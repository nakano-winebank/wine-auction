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会員数</c:v>
                </c:pt>
              </c:strCache>
            </c:strRef>
          </c:tx>
          <c:spPr>
            <a:solidFill>
              <a:srgbClr val="6B1F32"/>
            </a:solidFill>
            <a:effectLst/>
          </c:spPr>
          <c:invertIfNegative val="0"/>
          <c:dLbls>
            <c:numFmt formatCode="#,##0" sourceLinked="0"/>
            <c:txPr>
              <a:bodyPr/>
              <a:lstStyle/>
              <a:p>
                <a:pPr>
                  <a:defRPr b="0" i="0" strike="noStrike" sz="1000" u="none">
                    <a:solidFill>
                      <a:srgbClr val="241A1E"/>
                    </a:solidFill>
                    <a:latin typeface="Yu Gothic"/>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200</c:v>
                </c:pt>
                <c:pt idx="1">
                  <c:v>500</c:v>
                </c:pt>
                <c:pt idx="2">
                  <c:v>1000</c:v>
                </c:pt>
              </c:numCache>
            </c:numRef>
          </c:val>
        </c:ser>
        <c:dLbls>
          <c:numFmt formatCode="#,##0" sourceLinked="0"/>
          <c:txPr>
            <a:bodyPr/>
            <a:lstStyle/>
            <a:p>
              <a:pPr>
                <a:defRPr b="0" i="0" strike="noStrike" sz="1000" u="none">
                  <a:solidFill>
                    <a:srgbClr val="241A1E"/>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66A"/>
                </a:solidFill>
                <a:latin typeface="Yu Gothic"/>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12700" cap="flat">
              <a:solidFill>
                <a:srgbClr val="EDE7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9498"/>
                </a:solidFill>
                <a:latin typeface="Yu Gothic"/>
              </a:defRPr>
            </a:pPr>
            <a:endParaRPr lang="en-US"/>
          </a:p>
        </c:txPr>
        <c:crossAx val="2094734554"/>
        <c:crosses val="autoZero"/>
        <c:crossBetween val="between"/>
        <c:majorUnit val="3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CLUB・購買・WineGO</c:v>
                </c:pt>
              </c:strCache>
            </c:strRef>
          </c:tx>
          <c:spPr>
            <a:solidFill>
              <a:srgbClr val="6B1F32"/>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70</c:v>
                </c:pt>
                <c:pt idx="1">
                  <c:v>175</c:v>
                </c:pt>
                <c:pt idx="2">
                  <c:v>350</c:v>
                </c:pt>
              </c:numCache>
            </c:numRef>
          </c:val>
        </c:ser>
        <c:ser>
          <c:idx val="1"/>
          <c:order val="1"/>
          <c:tx>
            <c:strRef>
              <c:f>Sheet1!$C$1</c:f>
              <c:strCache>
                <c:ptCount val="1"/>
                <c:pt idx="0">
                  <c:v>クラウドワインセラー</c:v>
                </c:pt>
              </c:strCache>
            </c:strRef>
          </c:tx>
          <c:spPr>
            <a:solidFill>
              <a:srgbClr val="9B5568"/>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
                </c:pt>
                <c:pt idx="1">
                  <c:v>400</c:v>
                </c:pt>
                <c:pt idx="2">
                  <c:v>450</c:v>
                </c:pt>
              </c:numCache>
            </c:numRef>
          </c:val>
        </c:ser>
        <c:ser>
          <c:idx val="2"/>
          <c:order val="2"/>
          <c:tx>
            <c:strRef>
              <c:f>Sheet1!$D$1</c:f>
              <c:strCache>
                <c:ptCount val="1"/>
                <c:pt idx="0">
                  <c:v>レストラン業態</c:v>
                </c:pt>
              </c:strCache>
            </c:strRef>
          </c:tx>
          <c:spPr>
            <a:solidFill>
              <a:srgbClr val="C2A15A"/>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
                </c:pt>
                <c:pt idx="1">
                  <c:v/>
                </c:pt>
                <c:pt idx="2">
                  <c:v>600</c:v>
                </c:pt>
              </c:numCache>
            </c:numRef>
          </c:val>
        </c:ser>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66A"/>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7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9498"/>
                </a:solidFill>
                <a:latin typeface="Yu Gothic"/>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E666A"/>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森ビル様向け業務提携提案。ヒルズワーカー・レジデンス居住者を対象に、WineBank CLUB／レジデンス購買連携／WineGO／クラウドワインセラー出店／ティエリー・マルクス業態／ワイン預りの6プログラムを提案する。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0E14"/>
          </a:solidFill>
          <a:ln/>
        </p:spPr>
      </p:sp>
      <p:sp>
        <p:nvSpPr>
          <p:cNvPr id="3" name="Shape 1"/>
          <p:cNvSpPr/>
          <p:nvPr/>
        </p:nvSpPr>
        <p:spPr>
          <a:xfrm>
            <a:off x="7589520" y="-2194560"/>
            <a:ext cx="7498080" cy="7498080"/>
          </a:xfrm>
          <a:prstGeom prst="ellipse">
            <a:avLst/>
          </a:prstGeom>
          <a:solidFill>
            <a:srgbClr val="45121F">
              <a:alpha val="55000"/>
            </a:srgbClr>
          </a:solidFill>
          <a:ln w="12700">
            <a:solidFill>
              <a:srgbClr val="333333"/>
            </a:solidFill>
            <a:prstDash val="solid"/>
          </a:ln>
        </p:spPr>
      </p:sp>
      <p:sp>
        <p:nvSpPr>
          <p:cNvPr id="4" name="Shape 2"/>
          <p:cNvSpPr/>
          <p:nvPr/>
        </p:nvSpPr>
        <p:spPr>
          <a:xfrm>
            <a:off x="9052560" y="2377440"/>
            <a:ext cx="4937760" cy="4937760"/>
          </a:xfrm>
          <a:prstGeom prst="ellipse">
            <a:avLst/>
          </a:prstGeom>
          <a:solidFill>
            <a:srgbClr val="6B1F32">
              <a:alpha val="38000"/>
            </a:srgbClr>
          </a:solidFill>
          <a:ln w="12700">
            <a:solidFill>
              <a:srgbClr val="333333"/>
            </a:solidFill>
            <a:prstDash val="solid"/>
          </a:ln>
        </p:spPr>
      </p:sp>
      <p:sp>
        <p:nvSpPr>
          <p:cNvPr id="5" name="Text 3"/>
          <p:cNvSpPr/>
          <p:nvPr/>
        </p:nvSpPr>
        <p:spPr>
          <a:xfrm>
            <a:off x="566928" y="1060704"/>
            <a:ext cx="7315200" cy="274320"/>
          </a:xfrm>
          <a:prstGeom prst="rect">
            <a:avLst/>
          </a:prstGeom>
          <a:noFill/>
          <a:ln/>
        </p:spPr>
        <p:txBody>
          <a:bodyPr wrap="square" lIns="0" tIns="0" rIns="0" bIns="0" rtlCol="0" anchor="ctr"/>
          <a:lstStyle/>
          <a:p>
            <a:pPr indent="0" marL="0">
              <a:buNone/>
            </a:pPr>
            <a:r>
              <a:rPr lang="en-US" sz="1200" b="1" spc="340" kern="0" dirty="0">
                <a:solidFill>
                  <a:srgbClr val="C2A15A"/>
                </a:solidFill>
                <a:latin typeface="Cambria" pitchFamily="34" charset="0"/>
                <a:ea typeface="Cambria" pitchFamily="34" charset="-122"/>
                <a:cs typeface="Cambria" pitchFamily="34" charset="-120"/>
              </a:rPr>
              <a:t>BUSINESS PARTNERSHIP PROPOSAL</a:t>
            </a:r>
            <a:endParaRPr lang="en-US" sz="1200" dirty="0"/>
          </a:p>
        </p:txBody>
      </p:sp>
      <p:sp>
        <p:nvSpPr>
          <p:cNvPr id="6" name="Text 4"/>
          <p:cNvSpPr/>
          <p:nvPr/>
        </p:nvSpPr>
        <p:spPr>
          <a:xfrm>
            <a:off x="566928" y="1463040"/>
            <a:ext cx="7315200" cy="365760"/>
          </a:xfrm>
          <a:prstGeom prst="rect">
            <a:avLst/>
          </a:prstGeom>
          <a:noFill/>
          <a:ln/>
        </p:spPr>
        <p:txBody>
          <a:bodyPr wrap="square" lIns="0" tIns="0" rIns="0" bIns="0" rtlCol="0" anchor="ctr"/>
          <a:lstStyle/>
          <a:p>
            <a:pPr indent="0" marL="0">
              <a:buNone/>
            </a:pPr>
            <a:r>
              <a:rPr lang="en-US" sz="1500" dirty="0">
                <a:solidFill>
                  <a:srgbClr val="E6D6AE"/>
                </a:solidFill>
                <a:latin typeface="Yu Gothic" pitchFamily="34" charset="0"/>
                <a:ea typeface="Yu Gothic" pitchFamily="34" charset="-122"/>
                <a:cs typeface="Yu Gothic" pitchFamily="34" charset="-120"/>
              </a:rPr>
              <a:t>森ビル株式会社 御中</a:t>
            </a:r>
            <a:endParaRPr lang="en-US" sz="1500" dirty="0"/>
          </a:p>
        </p:txBody>
      </p:sp>
      <p:sp>
        <p:nvSpPr>
          <p:cNvPr id="7" name="Text 5"/>
          <p:cNvSpPr/>
          <p:nvPr/>
        </p:nvSpPr>
        <p:spPr>
          <a:xfrm>
            <a:off x="566928" y="1993392"/>
            <a:ext cx="8595360" cy="777240"/>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ヒルズ経済圏 × 高級ワイン</a:t>
            </a:r>
            <a:endParaRPr lang="en-US" sz="4200" dirty="0"/>
          </a:p>
        </p:txBody>
      </p:sp>
      <p:sp>
        <p:nvSpPr>
          <p:cNvPr id="8" name="Text 6"/>
          <p:cNvSpPr/>
          <p:nvPr/>
        </p:nvSpPr>
        <p:spPr>
          <a:xfrm>
            <a:off x="566928" y="2798064"/>
            <a:ext cx="8595360" cy="566928"/>
          </a:xfrm>
          <a:prstGeom prst="rect">
            <a:avLst/>
          </a:prstGeom>
          <a:noFill/>
          <a:ln/>
        </p:spPr>
        <p:txBody>
          <a:bodyPr wrap="square" lIns="0" tIns="0" rIns="0" bIns="0" rtlCol="0" anchor="ctr"/>
          <a:lstStyle/>
          <a:p>
            <a:pPr indent="0" marL="0">
              <a:buNone/>
            </a:pPr>
            <a:r>
              <a:rPr lang="en-US" sz="2600" b="1" dirty="0">
                <a:solidFill>
                  <a:srgbClr val="C2A15A"/>
                </a:solidFill>
                <a:latin typeface="Yu Gothic" pitchFamily="34" charset="0"/>
                <a:ea typeface="Yu Gothic" pitchFamily="34" charset="-122"/>
                <a:cs typeface="Yu Gothic" pitchFamily="34" charset="-120"/>
              </a:rPr>
              <a:t>「世界一のセラーがある街」を、港区に。</a:t>
            </a:r>
            <a:endParaRPr lang="en-US" sz="2600" dirty="0"/>
          </a:p>
        </p:txBody>
      </p:sp>
      <p:sp>
        <p:nvSpPr>
          <p:cNvPr id="9" name="Text 7"/>
          <p:cNvSpPr/>
          <p:nvPr/>
        </p:nvSpPr>
        <p:spPr>
          <a:xfrm>
            <a:off x="566928" y="3474720"/>
            <a:ext cx="7498080" cy="731520"/>
          </a:xfrm>
          <a:prstGeom prst="rect">
            <a:avLst/>
          </a:prstGeom>
          <a:noFill/>
          <a:ln/>
        </p:spPr>
        <p:txBody>
          <a:bodyPr wrap="square" lIns="0" tIns="0" rIns="0" bIns="0" rtlCol="0" anchor="ctr"/>
          <a:lstStyle/>
          <a:p>
            <a:pPr indent="0" marL="0">
              <a:lnSpc>
                <a:spcPts val="2200"/>
              </a:lnSpc>
              <a:buNone/>
            </a:pPr>
            <a:r>
              <a:rPr lang="en-US" sz="1350" dirty="0">
                <a:solidFill>
                  <a:srgbClr val="CDBFC5"/>
                </a:solidFill>
                <a:latin typeface="Yu Gothic" pitchFamily="34" charset="0"/>
                <a:ea typeface="Yu Gothic" pitchFamily="34" charset="-122"/>
                <a:cs typeface="Yu Gothic" pitchFamily="34" charset="-120"/>
              </a:rPr>
              <a:t>主要ヒルズのワーカー・レジデンス居住者に向けた、</a:t>
            </a:r>
            <a:endParaRPr lang="en-US" sz="1350" dirty="0"/>
          </a:p>
          <a:p>
            <a:pPr indent="0" marL="0">
              <a:lnSpc>
                <a:spcPts val="2200"/>
              </a:lnSpc>
              <a:buNone/>
            </a:pPr>
            <a:r>
              <a:rPr lang="en-US" sz="1350" dirty="0">
                <a:solidFill>
                  <a:srgbClr val="CDBFC5"/>
                </a:solidFill>
                <a:latin typeface="Yu Gothic" pitchFamily="34" charset="0"/>
                <a:ea typeface="Yu Gothic" pitchFamily="34" charset="-122"/>
                <a:cs typeface="Yu Gothic" pitchFamily="34" charset="-120"/>
              </a:rPr>
              <a:t>ワイン・ライフスタイル基盤の共同構築に関するご提案</a:t>
            </a:r>
            <a:endParaRPr lang="en-US" sz="1350" dirty="0"/>
          </a:p>
        </p:txBody>
      </p:sp>
      <p:sp>
        <p:nvSpPr>
          <p:cNvPr id="10" name="Text 8"/>
          <p:cNvSpPr/>
          <p:nvPr/>
        </p:nvSpPr>
        <p:spPr>
          <a:xfrm>
            <a:off x="5669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55年</a:t>
            </a:r>
            <a:endParaRPr lang="en-US" sz="2700" dirty="0"/>
          </a:p>
        </p:txBody>
      </p:sp>
      <p:sp>
        <p:nvSpPr>
          <p:cNvPr id="11" name="Text 9"/>
          <p:cNvSpPr/>
          <p:nvPr/>
        </p:nvSpPr>
        <p:spPr>
          <a:xfrm>
            <a:off x="5669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酒販事業の仕入実績</a:t>
            </a:r>
            <a:endParaRPr lang="en-US" sz="950" dirty="0"/>
          </a:p>
        </p:txBody>
      </p:sp>
      <p:sp>
        <p:nvSpPr>
          <p:cNvPr id="12" name="Text 10"/>
          <p:cNvSpPr/>
          <p:nvPr/>
        </p:nvSpPr>
        <p:spPr>
          <a:xfrm>
            <a:off x="33101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30億円</a:t>
            </a:r>
            <a:endParaRPr lang="en-US" sz="2700" dirty="0"/>
          </a:p>
        </p:txBody>
      </p:sp>
      <p:sp>
        <p:nvSpPr>
          <p:cNvPr id="13" name="Text 11"/>
          <p:cNvSpPr/>
          <p:nvPr/>
        </p:nvSpPr>
        <p:spPr>
          <a:xfrm>
            <a:off x="33101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管理ワイン在庫（26年4月末）</a:t>
            </a:r>
            <a:endParaRPr lang="en-US" sz="950" dirty="0"/>
          </a:p>
        </p:txBody>
      </p:sp>
      <p:sp>
        <p:nvSpPr>
          <p:cNvPr id="14" name="Text 12"/>
          <p:cNvSpPr/>
          <p:nvPr/>
        </p:nvSpPr>
        <p:spPr>
          <a:xfrm>
            <a:off x="60533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7.2億円</a:t>
            </a:r>
            <a:endParaRPr lang="en-US" sz="2700" dirty="0"/>
          </a:p>
        </p:txBody>
      </p:sp>
      <p:sp>
        <p:nvSpPr>
          <p:cNvPr id="15" name="Text 13"/>
          <p:cNvSpPr/>
          <p:nvPr/>
        </p:nvSpPr>
        <p:spPr>
          <a:xfrm>
            <a:off x="60533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累計調達額</a:t>
            </a:r>
            <a:endParaRPr lang="en-US" sz="950" dirty="0"/>
          </a:p>
        </p:txBody>
      </p:sp>
      <p:sp>
        <p:nvSpPr>
          <p:cNvPr id="16" name="Text 14"/>
          <p:cNvSpPr/>
          <p:nvPr/>
        </p:nvSpPr>
        <p:spPr>
          <a:xfrm>
            <a:off x="87965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約4倍</a:t>
            </a:r>
            <a:endParaRPr lang="en-US" sz="2700" dirty="0"/>
          </a:p>
        </p:txBody>
      </p:sp>
      <p:sp>
        <p:nvSpPr>
          <p:cNvPr id="17" name="Text 15"/>
          <p:cNvSpPr/>
          <p:nvPr/>
        </p:nvSpPr>
        <p:spPr>
          <a:xfrm>
            <a:off x="87965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ワイン指数 20年上昇（Liv-ex 1000）</a:t>
            </a:r>
            <a:endParaRPr lang="en-US" sz="950" dirty="0"/>
          </a:p>
        </p:txBody>
      </p:sp>
      <p:sp>
        <p:nvSpPr>
          <p:cNvPr id="18" name="Text 16"/>
          <p:cNvSpPr/>
          <p:nvPr/>
        </p:nvSpPr>
        <p:spPr>
          <a:xfrm>
            <a:off x="566928" y="6053328"/>
            <a:ext cx="5486400" cy="274320"/>
          </a:xfrm>
          <a:prstGeom prst="rect">
            <a:avLst/>
          </a:prstGeom>
          <a:noFill/>
          <a:ln/>
        </p:spPr>
        <p:txBody>
          <a:bodyPr wrap="square" lIns="0" tIns="0" rIns="0" bIns="0" rtlCol="0" anchor="ctr"/>
          <a:lstStyle/>
          <a:p>
            <a:pPr indent="0" marL="0">
              <a:buNone/>
            </a:pPr>
            <a:r>
              <a:rPr lang="en-US" sz="1100" dirty="0">
                <a:solidFill>
                  <a:srgbClr val="9C8C93"/>
                </a:solidFill>
                <a:latin typeface="Yu Gothic" pitchFamily="34" charset="0"/>
                <a:ea typeface="Yu Gothic" pitchFamily="34" charset="-122"/>
                <a:cs typeface="Yu Gothic" pitchFamily="34" charset="-120"/>
              </a:rPr>
              <a:t>2026年8月　株式会社WineBank</a:t>
            </a:r>
            <a:endParaRPr lang="en-US" sz="1100" dirty="0"/>
          </a:p>
        </p:txBody>
      </p:sp>
      <p:sp>
        <p:nvSpPr>
          <p:cNvPr id="19" name="Text 17"/>
          <p:cNvSpPr/>
          <p:nvPr/>
        </p:nvSpPr>
        <p:spPr>
          <a:xfrm>
            <a:off x="8881567" y="6053328"/>
            <a:ext cx="2743200" cy="274320"/>
          </a:xfrm>
          <a:prstGeom prst="rect">
            <a:avLst/>
          </a:prstGeom>
          <a:noFill/>
          <a:ln/>
        </p:spPr>
        <p:txBody>
          <a:bodyPr wrap="square" lIns="0" tIns="0" rIns="0" bIns="0" rtlCol="0" anchor="ctr"/>
          <a:lstStyle/>
          <a:p>
            <a:pPr algn="r" indent="0" marL="0">
              <a:buNone/>
            </a:pPr>
            <a:r>
              <a:rPr lang="en-US" sz="950" spc="160" kern="0" dirty="0">
                <a:solidFill>
                  <a:srgbClr val="7A6771"/>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EXECUTIVE SUMMARY</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ご提案の骨子</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港区の主要ヒルズに、「買う・飲む・預ける・育てる」を一つに束ねたワイン基盤を共同で実装させていただきたく存じます。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55648"/>
            <a:ext cx="11057839" cy="859536"/>
          </a:xfrm>
          <a:prstGeom prst="roundRect">
            <a:avLst>
              <a:gd name="adj" fmla="val 9574"/>
            </a:avLst>
          </a:prstGeom>
          <a:solidFill>
            <a:srgbClr val="45121F"/>
          </a:solidFill>
          <a:ln w="12700">
            <a:solidFill>
              <a:srgbClr val="45121F"/>
            </a:solidFill>
            <a:prstDash val="solid"/>
          </a:ln>
        </p:spPr>
      </p:sp>
      <p:sp>
        <p:nvSpPr>
          <p:cNvPr id="9" name="Text 7"/>
          <p:cNvSpPr/>
          <p:nvPr/>
        </p:nvSpPr>
        <p:spPr>
          <a:xfrm>
            <a:off x="877824" y="1755648"/>
            <a:ext cx="10436047" cy="859536"/>
          </a:xfrm>
          <a:prstGeom prst="rect">
            <a:avLst/>
          </a:prstGeom>
          <a:noFill/>
          <a:ln/>
        </p:spPr>
        <p:txBody>
          <a:bodyPr wrap="square" lIns="0" tIns="0" rIns="0" bIns="0" rtlCol="0" anchor="ctr"/>
          <a:lstStyle/>
          <a:p>
            <a:pPr indent="0" marL="0">
              <a:lnSpc>
                <a:spcPts val="2100"/>
              </a:lnSpc>
              <a:buNone/>
            </a:pPr>
            <a:r>
              <a:rPr lang="en-US" sz="1400" b="1" dirty="0">
                <a:solidFill>
                  <a:srgbClr val="E6D6AE"/>
                </a:solidFill>
                <a:latin typeface="Yu Gothic" pitchFamily="34" charset="0"/>
                <a:ea typeface="Yu Gothic" pitchFamily="34" charset="-122"/>
                <a:cs typeface="Yu Gothic" pitchFamily="34" charset="-120"/>
              </a:rPr>
              <a:t>ヒルズは、日本で最も「高級ワインを最も必要とする人」が密集する街。しかし街の中に、正しい品質・正しい価格で即座に手に入る基盤は存在しません。</a:t>
            </a:r>
            <a:endParaRPr lang="en-US" sz="1400" dirty="0"/>
          </a:p>
        </p:txBody>
      </p:sp>
      <p:sp>
        <p:nvSpPr>
          <p:cNvPr id="10" name="Shape 8"/>
          <p:cNvSpPr/>
          <p:nvPr/>
        </p:nvSpPr>
        <p:spPr>
          <a:xfrm>
            <a:off x="566928"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1" name="Shape 9"/>
          <p:cNvSpPr/>
          <p:nvPr/>
        </p:nvSpPr>
        <p:spPr>
          <a:xfrm>
            <a:off x="841248" y="3108960"/>
            <a:ext cx="475488" cy="475488"/>
          </a:xfrm>
          <a:prstGeom prst="ellipse">
            <a:avLst/>
          </a:prstGeom>
          <a:solidFill>
            <a:srgbClr val="FFFFFF"/>
          </a:solidFill>
          <a:ln w="15875">
            <a:solidFill>
              <a:srgbClr val="C2A15A"/>
            </a:solidFill>
            <a:prstDash val="solid"/>
          </a:ln>
        </p:spPr>
      </p:sp>
      <p:sp>
        <p:nvSpPr>
          <p:cNvPr id="12" name="Text 10"/>
          <p:cNvSpPr/>
          <p:nvPr/>
        </p:nvSpPr>
        <p:spPr>
          <a:xfrm>
            <a:off x="841248"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01</a:t>
            </a:r>
            <a:endParaRPr lang="en-US" sz="1200" dirty="0"/>
          </a:p>
        </p:txBody>
      </p:sp>
      <p:sp>
        <p:nvSpPr>
          <p:cNvPr id="13" name="Text 11"/>
          <p:cNvSpPr/>
          <p:nvPr/>
        </p:nvSpPr>
        <p:spPr>
          <a:xfrm>
            <a:off x="841248"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何を</a:t>
            </a:r>
            <a:endParaRPr lang="en-US" sz="1500" dirty="0"/>
          </a:p>
        </p:txBody>
      </p:sp>
      <p:sp>
        <p:nvSpPr>
          <p:cNvPr id="14" name="Text 12"/>
          <p:cNvSpPr/>
          <p:nvPr/>
        </p:nvSpPr>
        <p:spPr>
          <a:xfrm>
            <a:off x="841248"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6つのプログラムを束ねた「Hills Wine Program」を共同組成</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会員 / 購買 / 配送 / 施設 / 飲食 / 保管を一気通貫</a:t>
            </a:r>
            <a:endParaRPr lang="en-US" sz="1050" dirty="0"/>
          </a:p>
        </p:txBody>
      </p:sp>
      <p:sp>
        <p:nvSpPr>
          <p:cNvPr id="15" name="Shape 13"/>
          <p:cNvSpPr/>
          <p:nvPr/>
        </p:nvSpPr>
        <p:spPr>
          <a:xfrm>
            <a:off x="3413684"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6" name="Shape 14"/>
          <p:cNvSpPr/>
          <p:nvPr/>
        </p:nvSpPr>
        <p:spPr>
          <a:xfrm>
            <a:off x="3688004" y="3108960"/>
            <a:ext cx="475488" cy="475488"/>
          </a:xfrm>
          <a:prstGeom prst="ellipse">
            <a:avLst/>
          </a:prstGeom>
          <a:solidFill>
            <a:srgbClr val="FFFFFF"/>
          </a:solidFill>
          <a:ln w="15875">
            <a:solidFill>
              <a:srgbClr val="C2A15A"/>
            </a:solidFill>
            <a:prstDash val="solid"/>
          </a:ln>
        </p:spPr>
      </p:sp>
      <p:sp>
        <p:nvSpPr>
          <p:cNvPr id="17" name="Text 15"/>
          <p:cNvSpPr/>
          <p:nvPr/>
        </p:nvSpPr>
        <p:spPr>
          <a:xfrm>
            <a:off x="3688004"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02</a:t>
            </a:r>
            <a:endParaRPr lang="en-US" sz="1200" dirty="0"/>
          </a:p>
        </p:txBody>
      </p:sp>
      <p:sp>
        <p:nvSpPr>
          <p:cNvPr id="18" name="Text 16"/>
          <p:cNvSpPr/>
          <p:nvPr/>
        </p:nvSpPr>
        <p:spPr>
          <a:xfrm>
            <a:off x="3688004"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誰に</a:t>
            </a:r>
            <a:endParaRPr lang="en-US" sz="1500" dirty="0"/>
          </a:p>
        </p:txBody>
      </p:sp>
      <p:sp>
        <p:nvSpPr>
          <p:cNvPr id="19" name="Text 17"/>
          <p:cNvSpPr/>
          <p:nvPr/>
        </p:nvSpPr>
        <p:spPr>
          <a:xfrm>
            <a:off x="3688004"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主要ヒルズのオフィスワーカー（法人接待・会食需要）</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ヒルズレジデンス居住者（自宅消費・コレクション・資産）</a:t>
            </a:r>
            <a:endParaRPr lang="en-US" sz="1050" dirty="0"/>
          </a:p>
        </p:txBody>
      </p:sp>
      <p:sp>
        <p:nvSpPr>
          <p:cNvPr id="20" name="Shape 18"/>
          <p:cNvSpPr/>
          <p:nvPr/>
        </p:nvSpPr>
        <p:spPr>
          <a:xfrm>
            <a:off x="6260440"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Shape 19"/>
          <p:cNvSpPr/>
          <p:nvPr/>
        </p:nvSpPr>
        <p:spPr>
          <a:xfrm>
            <a:off x="6534760" y="3108960"/>
            <a:ext cx="475488" cy="475488"/>
          </a:xfrm>
          <a:prstGeom prst="ellipse">
            <a:avLst/>
          </a:prstGeom>
          <a:solidFill>
            <a:srgbClr val="FFFFFF"/>
          </a:solidFill>
          <a:ln w="15875">
            <a:solidFill>
              <a:srgbClr val="C2A15A"/>
            </a:solidFill>
            <a:prstDash val="solid"/>
          </a:ln>
        </p:spPr>
      </p:sp>
      <p:sp>
        <p:nvSpPr>
          <p:cNvPr id="22" name="Text 20"/>
          <p:cNvSpPr/>
          <p:nvPr/>
        </p:nvSpPr>
        <p:spPr>
          <a:xfrm>
            <a:off x="6534760"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03</a:t>
            </a:r>
            <a:endParaRPr lang="en-US" sz="1200" dirty="0"/>
          </a:p>
        </p:txBody>
      </p:sp>
      <p:sp>
        <p:nvSpPr>
          <p:cNvPr id="23" name="Text 21"/>
          <p:cNvSpPr/>
          <p:nvPr/>
        </p:nvSpPr>
        <p:spPr>
          <a:xfrm>
            <a:off x="6534760"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森ビル様の便益</a:t>
            </a:r>
            <a:endParaRPr lang="en-US" sz="1500" dirty="0"/>
          </a:p>
        </p:txBody>
      </p:sp>
      <p:sp>
        <p:nvSpPr>
          <p:cNvPr id="24" name="Text 22"/>
          <p:cNvSpPr/>
          <p:nvPr/>
        </p:nvSpPr>
        <p:spPr>
          <a:xfrm>
            <a:off x="6534760"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テナント・居住者の付加価値と定着率</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商業区画の話題性と賃料・NOI向上余地</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レベニューシェアによる新規収益</a:t>
            </a:r>
            <a:endParaRPr lang="en-US" sz="1050" dirty="0"/>
          </a:p>
        </p:txBody>
      </p:sp>
      <p:sp>
        <p:nvSpPr>
          <p:cNvPr id="25" name="Shape 23"/>
          <p:cNvSpPr/>
          <p:nvPr/>
        </p:nvSpPr>
        <p:spPr>
          <a:xfrm>
            <a:off x="9107195"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6" name="Shape 24"/>
          <p:cNvSpPr/>
          <p:nvPr/>
        </p:nvSpPr>
        <p:spPr>
          <a:xfrm>
            <a:off x="9381515" y="3108960"/>
            <a:ext cx="475488" cy="475488"/>
          </a:xfrm>
          <a:prstGeom prst="ellipse">
            <a:avLst/>
          </a:prstGeom>
          <a:solidFill>
            <a:srgbClr val="FFFFFF"/>
          </a:solidFill>
          <a:ln w="15875">
            <a:solidFill>
              <a:srgbClr val="C2A15A"/>
            </a:solidFill>
            <a:prstDash val="solid"/>
          </a:ln>
        </p:spPr>
      </p:sp>
      <p:sp>
        <p:nvSpPr>
          <p:cNvPr id="27" name="Text 25"/>
          <p:cNvSpPr/>
          <p:nvPr/>
        </p:nvSpPr>
        <p:spPr>
          <a:xfrm>
            <a:off x="9381515"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04</a:t>
            </a:r>
            <a:endParaRPr lang="en-US" sz="1200" dirty="0"/>
          </a:p>
        </p:txBody>
      </p:sp>
      <p:sp>
        <p:nvSpPr>
          <p:cNvPr id="28" name="Text 26"/>
          <p:cNvSpPr/>
          <p:nvPr/>
        </p:nvSpPr>
        <p:spPr>
          <a:xfrm>
            <a:off x="9381515"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当社が持ち込むもの</a:t>
            </a:r>
            <a:endParaRPr lang="en-US" sz="1500" dirty="0"/>
          </a:p>
        </p:txBody>
      </p:sp>
      <p:sp>
        <p:nvSpPr>
          <p:cNvPr id="29" name="Text 27"/>
          <p:cNvSpPr/>
          <p:nvPr/>
        </p:nvSpPr>
        <p:spPr>
          <a:xfrm>
            <a:off x="9381515"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30億円の管理ワイン在庫と55年の仕入網</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グランメゾン運営／ティエリー・マルクス</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WineGO 定温ラストワンマイル網</a:t>
            </a:r>
            <a:endParaRPr lang="en-US" sz="1050" dirty="0"/>
          </a:p>
        </p:txBody>
      </p:sp>
      <p:sp>
        <p:nvSpPr>
          <p:cNvPr id="30" name="Text 28"/>
          <p:cNvSpPr/>
          <p:nvPr/>
        </p:nvSpPr>
        <p:spPr>
          <a:xfrm>
            <a:off x="566928" y="5632704"/>
            <a:ext cx="10058400" cy="274320"/>
          </a:xfrm>
          <a:prstGeom prst="rect">
            <a:avLst/>
          </a:prstGeom>
          <a:noFill/>
          <a:ln/>
        </p:spPr>
        <p:txBody>
          <a:bodyPr wrap="square" lIns="0" tIns="0" rIns="0" bIns="0" rtlCol="0" anchor="ctr"/>
          <a:lstStyle/>
          <a:p>
            <a:pPr indent="0" marL="0">
              <a:buNone/>
            </a:pPr>
            <a:r>
              <a:rPr lang="en-US" sz="950" dirty="0">
                <a:solidFill>
                  <a:srgbClr val="9A9498"/>
                </a:solidFill>
                <a:latin typeface="Yu Gothic" pitchFamily="34" charset="0"/>
                <a:ea typeface="Yu Gothic" pitchFamily="34" charset="-122"/>
                <a:cs typeface="Yu Gothic" pitchFamily="34" charset="-120"/>
              </a:rPr>
              <a:t>※ 各プログラムは単独でも成立し、段階的な導入が可能です（詳細は後掲の導入ロードマップをご参照ください）。</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WHY NOW</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なぜ、いま「街 × ワイン」なのか</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高級ワインは、消費財であると同時に、株式との相関が低い実物資産として富裕層のポートフォリオに定着しつつあります。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786384" y="1993392"/>
            <a:ext cx="2106092" cy="530352"/>
          </a:xfrm>
          <a:prstGeom prst="rect">
            <a:avLst/>
          </a:prstGeom>
          <a:noFill/>
          <a:ln/>
        </p:spPr>
        <p:txBody>
          <a:bodyPr wrap="square" lIns="0" tIns="0" rIns="0" bIns="0" rtlCol="0" anchor="ctr"/>
          <a:lstStyle/>
          <a:p>
            <a:pPr indent="0" marL="0">
              <a:buNone/>
            </a:pPr>
            <a:r>
              <a:rPr lang="en-US" sz="3000" b="1" dirty="0">
                <a:solidFill>
                  <a:srgbClr val="6B1F32"/>
                </a:solidFill>
                <a:latin typeface="Yu Gothic" pitchFamily="34" charset="0"/>
                <a:ea typeface="Yu Gothic" pitchFamily="34" charset="-122"/>
                <a:cs typeface="Yu Gothic" pitchFamily="34" charset="-120"/>
              </a:rPr>
              <a:t>1/4</a:t>
            </a:r>
            <a:endParaRPr lang="en-US" sz="3000" dirty="0"/>
          </a:p>
        </p:txBody>
      </p:sp>
      <p:sp>
        <p:nvSpPr>
          <p:cNvPr id="10" name="Text 8"/>
          <p:cNvSpPr/>
          <p:nvPr/>
        </p:nvSpPr>
        <p:spPr>
          <a:xfrm>
            <a:off x="786384"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世界の富裕層のうち</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ワインコレクターとされる割合</a:t>
            </a:r>
            <a:endParaRPr lang="en-US" sz="1000" dirty="0"/>
          </a:p>
        </p:txBody>
      </p:sp>
      <p:sp>
        <p:nvSpPr>
          <p:cNvPr id="11" name="Shape 9"/>
          <p:cNvSpPr/>
          <p:nvPr/>
        </p:nvSpPr>
        <p:spPr>
          <a:xfrm>
            <a:off x="3404540"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2" name="Text 10"/>
          <p:cNvSpPr/>
          <p:nvPr/>
        </p:nvSpPr>
        <p:spPr>
          <a:xfrm>
            <a:off x="3623996" y="1993392"/>
            <a:ext cx="2106092" cy="530352"/>
          </a:xfrm>
          <a:prstGeom prst="rect">
            <a:avLst/>
          </a:prstGeom>
          <a:noFill/>
          <a:ln/>
        </p:spPr>
        <p:txBody>
          <a:bodyPr wrap="square" lIns="0" tIns="0" rIns="0" bIns="0" rtlCol="0" anchor="ctr"/>
          <a:lstStyle/>
          <a:p>
            <a:pPr indent="0" marL="0">
              <a:buNone/>
            </a:pPr>
            <a:r>
              <a:rPr lang="en-US" sz="3000" b="1" dirty="0">
                <a:solidFill>
                  <a:srgbClr val="6B1F32"/>
                </a:solidFill>
                <a:latin typeface="Yu Gothic" pitchFamily="34" charset="0"/>
                <a:ea typeface="Yu Gothic" pitchFamily="34" charset="-122"/>
                <a:cs typeface="Yu Gothic" pitchFamily="34" charset="-120"/>
              </a:rPr>
              <a:t>約4倍</a:t>
            </a:r>
            <a:endParaRPr lang="en-US" sz="3000" dirty="0"/>
          </a:p>
        </p:txBody>
      </p:sp>
      <p:sp>
        <p:nvSpPr>
          <p:cNvPr id="13" name="Text 11"/>
          <p:cNvSpPr/>
          <p:nvPr/>
        </p:nvSpPr>
        <p:spPr>
          <a:xfrm>
            <a:off x="3623996"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Liv-ex Fine Wine 1000</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過去20年の指数上昇</a:t>
            </a:r>
            <a:endParaRPr lang="en-US" sz="1000" dirty="0"/>
          </a:p>
        </p:txBody>
      </p:sp>
      <p:sp>
        <p:nvSpPr>
          <p:cNvPr id="14" name="Shape 12"/>
          <p:cNvSpPr/>
          <p:nvPr/>
        </p:nvSpPr>
        <p:spPr>
          <a:xfrm>
            <a:off x="6242152"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6461608" y="1993392"/>
            <a:ext cx="2106092" cy="530352"/>
          </a:xfrm>
          <a:prstGeom prst="rect">
            <a:avLst/>
          </a:prstGeom>
          <a:noFill/>
          <a:ln/>
        </p:spPr>
        <p:txBody>
          <a:bodyPr wrap="square" lIns="0" tIns="0" rIns="0" bIns="0" rtlCol="0" anchor="ctr"/>
          <a:lstStyle/>
          <a:p>
            <a:pPr indent="0" marL="0">
              <a:buNone/>
            </a:pPr>
            <a:r>
              <a:rPr lang="en-US" sz="2200" b="1" dirty="0">
                <a:solidFill>
                  <a:srgbClr val="6B1F32"/>
                </a:solidFill>
                <a:latin typeface="Yu Gothic" pitchFamily="34" charset="0"/>
                <a:ea typeface="Yu Gothic" pitchFamily="34" charset="-122"/>
                <a:cs typeface="Yu Gothic" pitchFamily="34" charset="-120"/>
              </a:rPr>
              <a:t>約4,700億円</a:t>
            </a:r>
            <a:endParaRPr lang="en-US" sz="2200" dirty="0"/>
          </a:p>
        </p:txBody>
      </p:sp>
      <p:sp>
        <p:nvSpPr>
          <p:cNvPr id="16" name="Text 14"/>
          <p:cNvSpPr/>
          <p:nvPr/>
        </p:nvSpPr>
        <p:spPr>
          <a:xfrm>
            <a:off x="6461608"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国内ワイン市場規模</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（国内製造＋輸入・2022年実績）</a:t>
            </a:r>
            <a:endParaRPr lang="en-US" sz="1000" dirty="0"/>
          </a:p>
        </p:txBody>
      </p:sp>
      <p:sp>
        <p:nvSpPr>
          <p:cNvPr id="17" name="Shape 15"/>
          <p:cNvSpPr/>
          <p:nvPr/>
        </p:nvSpPr>
        <p:spPr>
          <a:xfrm>
            <a:off x="9079763"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6"/>
          <p:cNvSpPr/>
          <p:nvPr/>
        </p:nvSpPr>
        <p:spPr>
          <a:xfrm>
            <a:off x="9299219" y="1993392"/>
            <a:ext cx="2106092" cy="530352"/>
          </a:xfrm>
          <a:prstGeom prst="rect">
            <a:avLst/>
          </a:prstGeom>
          <a:noFill/>
          <a:ln/>
        </p:spPr>
        <p:txBody>
          <a:bodyPr wrap="square" lIns="0" tIns="0" rIns="0" bIns="0" rtlCol="0" anchor="ctr"/>
          <a:lstStyle/>
          <a:p>
            <a:pPr indent="0" marL="0">
              <a:buNone/>
            </a:pPr>
            <a:r>
              <a:rPr lang="en-US" sz="2700" b="1" dirty="0">
                <a:solidFill>
                  <a:srgbClr val="6B1F32"/>
                </a:solidFill>
                <a:latin typeface="Yu Gothic" pitchFamily="34" charset="0"/>
                <a:ea typeface="Yu Gothic" pitchFamily="34" charset="-122"/>
                <a:cs typeface="Yu Gothic" pitchFamily="34" charset="-120"/>
              </a:rPr>
              <a:t>+18.06%</a:t>
            </a:r>
            <a:endParaRPr lang="en-US" sz="2700" dirty="0"/>
          </a:p>
        </p:txBody>
      </p:sp>
      <p:sp>
        <p:nvSpPr>
          <p:cNvPr id="19" name="Text 17"/>
          <p:cNvSpPr/>
          <p:nvPr/>
        </p:nvSpPr>
        <p:spPr>
          <a:xfrm>
            <a:off x="9299219"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P1ファンド累計実績</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（2022.9〜2026.4・経費控除後）</a:t>
            </a:r>
            <a:endParaRPr lang="en-US" sz="1000" dirty="0"/>
          </a:p>
        </p:txBody>
      </p:sp>
      <p:sp>
        <p:nvSpPr>
          <p:cNvPr id="20" name="Shape 18"/>
          <p:cNvSpPr/>
          <p:nvPr/>
        </p:nvSpPr>
        <p:spPr>
          <a:xfrm>
            <a:off x="566928" y="3584448"/>
            <a:ext cx="5541264" cy="2011680"/>
          </a:xfrm>
          <a:prstGeom prst="roundRect">
            <a:avLst>
              <a:gd name="adj" fmla="val 409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Text 19"/>
          <p:cNvSpPr/>
          <p:nvPr/>
        </p:nvSpPr>
        <p:spPr>
          <a:xfrm>
            <a:off x="859536" y="3767328"/>
            <a:ext cx="4937760"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港区・ヒルズの現実</a:t>
            </a:r>
            <a:endParaRPr lang="en-US" sz="1500" dirty="0"/>
          </a:p>
        </p:txBody>
      </p:sp>
      <p:sp>
        <p:nvSpPr>
          <p:cNvPr id="22" name="Text 20"/>
          <p:cNvSpPr/>
          <p:nvPr/>
        </p:nvSpPr>
        <p:spPr>
          <a:xfrm>
            <a:off x="859536" y="4133088"/>
            <a:ext cx="4956048" cy="1316736"/>
          </a:xfrm>
          <a:prstGeom prst="rect">
            <a:avLst/>
          </a:prstGeom>
          <a:noFill/>
          <a:ln/>
        </p:spPr>
        <p:txBody>
          <a:bodyPr wrap="square" lIns="0" tIns="0" rIns="0" bIns="0" rtlCol="0" anchor="ctr"/>
          <a:lstStyle/>
          <a:p>
            <a:pPr marL="342900" indent="-342900">
              <a:lnSpc>
                <a:spcPts val="1600"/>
              </a:lnSpc>
              <a:spcAft>
                <a:spcPts val="500"/>
              </a:spcAft>
              <a:buSzPct val="100000"/>
              <a:buChar char="▪"/>
            </a:pPr>
            <a:r>
              <a:rPr lang="en-US" sz="1100" dirty="0">
                <a:solidFill>
                  <a:srgbClr val="241A1E"/>
                </a:solidFill>
                <a:latin typeface="Yu Gothic" pitchFamily="34" charset="0"/>
                <a:ea typeface="Yu Gothic" pitchFamily="34" charset="-122"/>
                <a:cs typeface="Yu Gothic" pitchFamily="34" charset="-120"/>
              </a:rPr>
              <a:t>接待・会食は日常業務。ワインは「格」を伝える最重要ツール</a:t>
            </a:r>
            <a:endParaRPr lang="en-US" sz="1100" dirty="0"/>
          </a:p>
          <a:p>
            <a:pPr marL="342900" indent="-342900">
              <a:lnSpc>
                <a:spcPts val="1600"/>
              </a:lnSpc>
              <a:spcAft>
                <a:spcPts val="500"/>
              </a:spcAft>
              <a:buSzPct val="100000"/>
              <a:buChar char="▪"/>
            </a:pPr>
            <a:r>
              <a:rPr lang="en-US" sz="1100" dirty="0">
                <a:solidFill>
                  <a:srgbClr val="241A1E"/>
                </a:solidFill>
                <a:latin typeface="Yu Gothic" pitchFamily="34" charset="0"/>
                <a:ea typeface="Yu Gothic" pitchFamily="34" charset="-122"/>
                <a:cs typeface="Yu Gothic" pitchFamily="34" charset="-120"/>
              </a:rPr>
              <a:t>レジデンス居住者は自宅セラーを持つが、補充・管理・目利きは自力</a:t>
            </a:r>
            <a:endParaRPr lang="en-US" sz="1100" dirty="0"/>
          </a:p>
          <a:p>
            <a:pPr marL="342900" indent="-342900">
              <a:lnSpc>
                <a:spcPts val="1600"/>
              </a:lnSpc>
              <a:spcAft>
                <a:spcPts val="500"/>
              </a:spcAft>
              <a:buSzPct val="100000"/>
              <a:buChar char="▪"/>
            </a:pPr>
            <a:r>
              <a:rPr lang="en-US" sz="1100" dirty="0">
                <a:solidFill>
                  <a:srgbClr val="241A1E"/>
                </a:solidFill>
                <a:latin typeface="Yu Gothic" pitchFamily="34" charset="0"/>
                <a:ea typeface="Yu Gothic" pitchFamily="34" charset="-122"/>
                <a:cs typeface="Yu Gothic" pitchFamily="34" charset="-120"/>
              </a:rPr>
              <a:t>海外からの居住者・来訪者ほど、ワインの質に対する評価眼が厳しい</a:t>
            </a:r>
            <a:endParaRPr lang="en-US" sz="1100" dirty="0"/>
          </a:p>
        </p:txBody>
      </p:sp>
      <p:sp>
        <p:nvSpPr>
          <p:cNvPr id="23" name="Shape 21"/>
          <p:cNvSpPr/>
          <p:nvPr/>
        </p:nvSpPr>
        <p:spPr>
          <a:xfrm>
            <a:off x="6437376" y="3584448"/>
            <a:ext cx="5541264" cy="2011680"/>
          </a:xfrm>
          <a:prstGeom prst="roundRect">
            <a:avLst>
              <a:gd name="adj" fmla="val 4091"/>
            </a:avLst>
          </a:prstGeom>
          <a:solidFill>
            <a:srgbClr val="45121F"/>
          </a:solidFill>
          <a:ln w="12700">
            <a:solidFill>
              <a:srgbClr val="45121F"/>
            </a:solidFill>
            <a:prstDash val="solid"/>
          </a:ln>
        </p:spPr>
      </p:sp>
      <p:sp>
        <p:nvSpPr>
          <p:cNvPr id="24" name="Text 22"/>
          <p:cNvSpPr/>
          <p:nvPr/>
        </p:nvSpPr>
        <p:spPr>
          <a:xfrm>
            <a:off x="6729984" y="3767328"/>
            <a:ext cx="4937760" cy="31089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いま街に足りないもの</a:t>
            </a:r>
            <a:endParaRPr lang="en-US" sz="1500" dirty="0"/>
          </a:p>
        </p:txBody>
      </p:sp>
      <p:sp>
        <p:nvSpPr>
          <p:cNvPr id="25" name="Text 23"/>
          <p:cNvSpPr/>
          <p:nvPr/>
        </p:nvSpPr>
        <p:spPr>
          <a:xfrm>
            <a:off x="6729984" y="4133088"/>
            <a:ext cx="4956048" cy="1316736"/>
          </a:xfrm>
          <a:prstGeom prst="rect">
            <a:avLst/>
          </a:prstGeom>
          <a:noFill/>
          <a:ln/>
        </p:spPr>
        <p:txBody>
          <a:bodyPr wrap="square" lIns="0" tIns="0" rIns="0" bIns="0" rtlCol="0" anchor="ctr"/>
          <a:lstStyle/>
          <a:p>
            <a:pPr marL="342900" indent="-342900">
              <a:lnSpc>
                <a:spcPts val="1600"/>
              </a:lnSpc>
              <a:spcAft>
                <a:spcPts val="500"/>
              </a:spcAft>
              <a:buSzPct val="100000"/>
              <a:buChar char="▪"/>
            </a:pPr>
            <a:r>
              <a:rPr lang="en-US" sz="1100" dirty="0">
                <a:solidFill>
                  <a:srgbClr val="E8DDE1"/>
                </a:solidFill>
                <a:latin typeface="Yu Gothic" pitchFamily="34" charset="0"/>
                <a:ea typeface="Yu Gothic" pitchFamily="34" charset="-122"/>
                <a:cs typeface="Yu Gothic" pitchFamily="34" charset="-120"/>
              </a:rPr>
              <a:t>正規品を、正しい価格（ネット最安値水準）で買える窓口</a:t>
            </a:r>
            <a:endParaRPr lang="en-US" sz="1100" dirty="0"/>
          </a:p>
          <a:p>
            <a:pPr marL="342900" indent="-342900">
              <a:lnSpc>
                <a:spcPts val="1600"/>
              </a:lnSpc>
              <a:spcAft>
                <a:spcPts val="500"/>
              </a:spcAft>
              <a:buSzPct val="100000"/>
              <a:buChar char="▪"/>
            </a:pPr>
            <a:r>
              <a:rPr lang="en-US" sz="1100" dirty="0">
                <a:solidFill>
                  <a:srgbClr val="E8DDE1"/>
                </a:solidFill>
                <a:latin typeface="Yu Gothic" pitchFamily="34" charset="0"/>
                <a:ea typeface="Yu Gothic" pitchFamily="34" charset="-122"/>
                <a:cs typeface="Yu Gothic" pitchFamily="34" charset="-120"/>
              </a:rPr>
              <a:t>「今夜必要」に応える、定温・即時のラストワンマイル</a:t>
            </a:r>
            <a:endParaRPr lang="en-US" sz="1100" dirty="0"/>
          </a:p>
          <a:p>
            <a:pPr marL="342900" indent="-342900">
              <a:lnSpc>
                <a:spcPts val="1600"/>
              </a:lnSpc>
              <a:spcAft>
                <a:spcPts val="500"/>
              </a:spcAft>
              <a:buSzPct val="100000"/>
              <a:buChar char="▪"/>
            </a:pPr>
            <a:r>
              <a:rPr lang="en-US" sz="1100" dirty="0">
                <a:solidFill>
                  <a:srgbClr val="E8DDE1"/>
                </a:solidFill>
                <a:latin typeface="Yu Gothic" pitchFamily="34" charset="0"/>
                <a:ea typeface="Yu Gothic" pitchFamily="34" charset="-122"/>
                <a:cs typeface="Yu Gothic" pitchFamily="34" charset="-120"/>
              </a:rPr>
              <a:t>所有ワインを預け、時価で把握し、いつでも出せる仕組み</a:t>
            </a:r>
            <a:endParaRPr lang="en-US" sz="1100" dirty="0"/>
          </a:p>
        </p:txBody>
      </p:sp>
      <p:sp>
        <p:nvSpPr>
          <p:cNvPr id="26" name="Text 24"/>
          <p:cNvSpPr/>
          <p:nvPr/>
        </p:nvSpPr>
        <p:spPr>
          <a:xfrm>
            <a:off x="566928" y="5760720"/>
            <a:ext cx="10972800" cy="274320"/>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出典：Liv-ex、キリンHD「2024年 日本のワイン市場」、当社P1ファンド運用実績。ワインの将来の運用成果を保証するものではありません。</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TARGET</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ターゲット：ヒルズワーカー と ヒルズレジデンス</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同じ「高級ワイン」でも、二つの層は求めるものが異なります。両方を一つの基盤で満たします。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3</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73936"/>
            <a:ext cx="5336896" cy="3895344"/>
          </a:xfrm>
          <a:prstGeom prst="roundRect">
            <a:avLst>
              <a:gd name="adj" fmla="val 211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566928" y="1773936"/>
            <a:ext cx="5336896" cy="786384"/>
          </a:xfrm>
          <a:prstGeom prst="roundRect">
            <a:avLst>
              <a:gd name="adj" fmla="val 10465"/>
            </a:avLst>
          </a:prstGeom>
          <a:solidFill>
            <a:srgbClr val="45121F"/>
          </a:solidFill>
          <a:ln w="12700">
            <a:solidFill>
              <a:srgbClr val="333333"/>
            </a:solidFill>
            <a:prstDash val="solid"/>
          </a:ln>
        </p:spPr>
      </p:sp>
      <p:sp>
        <p:nvSpPr>
          <p:cNvPr id="10" name="Text 8"/>
          <p:cNvSpPr/>
          <p:nvPr/>
        </p:nvSpPr>
        <p:spPr>
          <a:xfrm>
            <a:off x="877824" y="1847088"/>
            <a:ext cx="4715104" cy="36576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ヒルズワーカー</a:t>
            </a:r>
            <a:endParaRPr lang="en-US" sz="1900" dirty="0"/>
          </a:p>
        </p:txBody>
      </p:sp>
      <p:sp>
        <p:nvSpPr>
          <p:cNvPr id="11" name="Text 9"/>
          <p:cNvSpPr/>
          <p:nvPr/>
        </p:nvSpPr>
        <p:spPr>
          <a:xfrm>
            <a:off x="877824" y="2212848"/>
            <a:ext cx="4715104" cy="274320"/>
          </a:xfrm>
          <a:prstGeom prst="rect">
            <a:avLst/>
          </a:prstGeom>
          <a:noFill/>
          <a:ln/>
        </p:spPr>
        <p:txBody>
          <a:bodyPr wrap="square" lIns="0" tIns="0" rIns="0" bIns="0" rtlCol="0" anchor="ctr"/>
          <a:lstStyle/>
          <a:p>
            <a:pPr indent="0" marL="0">
              <a:buNone/>
            </a:pPr>
            <a:r>
              <a:rPr lang="en-US" sz="1000" dirty="0">
                <a:solidFill>
                  <a:srgbClr val="D9C9CF"/>
                </a:solidFill>
                <a:latin typeface="Yu Gothic" pitchFamily="34" charset="0"/>
                <a:ea typeface="Yu Gothic" pitchFamily="34" charset="-122"/>
                <a:cs typeface="Yu Gothic" pitchFamily="34" charset="-120"/>
              </a:rPr>
              <a:t>六本木・麻布台・虎ノ門・アークヒルズ等のオフィス就業者</a:t>
            </a:r>
            <a:endParaRPr lang="en-US" sz="1000" dirty="0"/>
          </a:p>
        </p:txBody>
      </p:sp>
      <p:sp>
        <p:nvSpPr>
          <p:cNvPr id="12" name="Text 10"/>
          <p:cNvSpPr/>
          <p:nvPr/>
        </p:nvSpPr>
        <p:spPr>
          <a:xfrm>
            <a:off x="877824" y="2761488"/>
            <a:ext cx="4715104" cy="256032"/>
          </a:xfrm>
          <a:prstGeom prst="rect">
            <a:avLst/>
          </a:prstGeom>
          <a:noFill/>
          <a:ln/>
        </p:spPr>
        <p:txBody>
          <a:bodyPr wrap="square" lIns="0" tIns="0" rIns="0" bIns="0" rtlCol="0" anchor="ctr"/>
          <a:lstStyle/>
          <a:p>
            <a:pPr indent="0" marL="0">
              <a:buNone/>
            </a:pPr>
            <a:r>
              <a:rPr lang="en-US" sz="1200" b="1" dirty="0">
                <a:solidFill>
                  <a:srgbClr val="6E666A"/>
                </a:solidFill>
                <a:latin typeface="Yu Gothic" pitchFamily="34" charset="0"/>
                <a:ea typeface="Yu Gothic" pitchFamily="34" charset="-122"/>
                <a:cs typeface="Yu Gothic" pitchFamily="34" charset="-120"/>
              </a:rPr>
              <a:t>いま抱えている課題</a:t>
            </a:r>
            <a:endParaRPr lang="en-US" sz="1200" dirty="0"/>
          </a:p>
        </p:txBody>
      </p:sp>
      <p:sp>
        <p:nvSpPr>
          <p:cNvPr id="13" name="Text 11"/>
          <p:cNvSpPr/>
          <p:nvPr/>
        </p:nvSpPr>
        <p:spPr>
          <a:xfrm>
            <a:off x="877824" y="3054096"/>
            <a:ext cx="4715104" cy="109728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接待でのワインは店内価格が市価の2〜3倍。経費が膨らむ</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急な会食に、店の在庫だけでは「格」に見合う一本が出せない</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自分で選ぶ自信がなく、結局いつも同じ銘柄になる</a:t>
            </a:r>
            <a:endParaRPr lang="en-US" sz="1080" dirty="0"/>
          </a:p>
        </p:txBody>
      </p:sp>
      <p:sp>
        <p:nvSpPr>
          <p:cNvPr id="14" name="Shape 12"/>
          <p:cNvSpPr/>
          <p:nvPr/>
        </p:nvSpPr>
        <p:spPr>
          <a:xfrm>
            <a:off x="877824" y="4224528"/>
            <a:ext cx="4715104" cy="0"/>
          </a:xfrm>
          <a:prstGeom prst="line">
            <a:avLst/>
          </a:prstGeom>
          <a:noFill/>
          <a:ln w="12700">
            <a:solidFill>
              <a:srgbClr val="EAE4E6"/>
            </a:solidFill>
            <a:prstDash val="solid"/>
          </a:ln>
        </p:spPr>
      </p:sp>
      <p:sp>
        <p:nvSpPr>
          <p:cNvPr id="15" name="Text 13"/>
          <p:cNvSpPr/>
          <p:nvPr/>
        </p:nvSpPr>
        <p:spPr>
          <a:xfrm>
            <a:off x="877824" y="4315968"/>
            <a:ext cx="4715104" cy="256032"/>
          </a:xfrm>
          <a:prstGeom prst="rect">
            <a:avLst/>
          </a:prstGeom>
          <a:noFill/>
          <a:ln/>
        </p:spPr>
        <p:txBody>
          <a:bodyPr wrap="square" lIns="0" tIns="0" rIns="0" bIns="0" rtlCol="0" anchor="ctr"/>
          <a:lstStyle/>
          <a:p>
            <a:pPr indent="0" marL="0">
              <a:buNone/>
            </a:pPr>
            <a:r>
              <a:rPr lang="en-US" sz="1200" b="1" dirty="0">
                <a:solidFill>
                  <a:srgbClr val="6B1F32"/>
                </a:solidFill>
                <a:latin typeface="Yu Gothic" pitchFamily="34" charset="0"/>
                <a:ea typeface="Yu Gothic" pitchFamily="34" charset="-122"/>
                <a:cs typeface="Yu Gothic" pitchFamily="34" charset="-120"/>
              </a:rPr>
              <a:t>Hills Wine Program の解</a:t>
            </a:r>
            <a:endParaRPr lang="en-US" sz="1200" dirty="0"/>
          </a:p>
        </p:txBody>
      </p:sp>
      <p:sp>
        <p:nvSpPr>
          <p:cNvPr id="16" name="Text 14"/>
          <p:cNvSpPr/>
          <p:nvPr/>
        </p:nvSpPr>
        <p:spPr>
          <a:xfrm>
            <a:off x="877824" y="4608576"/>
            <a:ext cx="4715104" cy="969264"/>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提携店へのコルケージ完全無料 ＋ 手ぶらBYO（WineGOが会場へ直送）</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ネット最安値水準での購入と、専属コンシェルジュによる銘柄選定</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グループ飲食店20%OFF・乾杯シャンパンサービス</a:t>
            </a:r>
            <a:endParaRPr lang="en-US" sz="1080" dirty="0"/>
          </a:p>
        </p:txBody>
      </p:sp>
      <p:sp>
        <p:nvSpPr>
          <p:cNvPr id="17" name="Shape 15"/>
          <p:cNvSpPr/>
          <p:nvPr/>
        </p:nvSpPr>
        <p:spPr>
          <a:xfrm>
            <a:off x="6287872" y="1773936"/>
            <a:ext cx="5336896" cy="3895344"/>
          </a:xfrm>
          <a:prstGeom prst="roundRect">
            <a:avLst>
              <a:gd name="adj" fmla="val 211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Shape 16"/>
          <p:cNvSpPr/>
          <p:nvPr/>
        </p:nvSpPr>
        <p:spPr>
          <a:xfrm>
            <a:off x="6287872" y="1773936"/>
            <a:ext cx="5336896" cy="786384"/>
          </a:xfrm>
          <a:prstGeom prst="roundRect">
            <a:avLst>
              <a:gd name="adj" fmla="val 10465"/>
            </a:avLst>
          </a:prstGeom>
          <a:solidFill>
            <a:srgbClr val="6B1F32"/>
          </a:solidFill>
          <a:ln w="12700">
            <a:solidFill>
              <a:srgbClr val="333333"/>
            </a:solidFill>
            <a:prstDash val="solid"/>
          </a:ln>
        </p:spPr>
      </p:sp>
      <p:sp>
        <p:nvSpPr>
          <p:cNvPr id="19" name="Text 17"/>
          <p:cNvSpPr/>
          <p:nvPr/>
        </p:nvSpPr>
        <p:spPr>
          <a:xfrm>
            <a:off x="6598768" y="1847088"/>
            <a:ext cx="4715104" cy="36576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ヒルズレジデンス居住者</a:t>
            </a:r>
            <a:endParaRPr lang="en-US" sz="1900" dirty="0"/>
          </a:p>
        </p:txBody>
      </p:sp>
      <p:sp>
        <p:nvSpPr>
          <p:cNvPr id="20" name="Text 18"/>
          <p:cNvSpPr/>
          <p:nvPr/>
        </p:nvSpPr>
        <p:spPr>
          <a:xfrm>
            <a:off x="6598768" y="2212848"/>
            <a:ext cx="4715104" cy="274320"/>
          </a:xfrm>
          <a:prstGeom prst="rect">
            <a:avLst/>
          </a:prstGeom>
          <a:noFill/>
          <a:ln/>
        </p:spPr>
        <p:txBody>
          <a:bodyPr wrap="square" lIns="0" tIns="0" rIns="0" bIns="0" rtlCol="0" anchor="ctr"/>
          <a:lstStyle/>
          <a:p>
            <a:pPr indent="0" marL="0">
              <a:buNone/>
            </a:pPr>
            <a:r>
              <a:rPr lang="en-US" sz="1000" dirty="0">
                <a:solidFill>
                  <a:srgbClr val="D9C9CF"/>
                </a:solidFill>
                <a:latin typeface="Yu Gothic" pitchFamily="34" charset="0"/>
                <a:ea typeface="Yu Gothic" pitchFamily="34" charset="-122"/>
                <a:cs typeface="Yu Gothic" pitchFamily="34" charset="-120"/>
              </a:rPr>
              <a:t>住宅棟・サービスアパートメントの居住者／ご家族</a:t>
            </a:r>
            <a:endParaRPr lang="en-US" sz="1000" dirty="0"/>
          </a:p>
        </p:txBody>
      </p:sp>
      <p:sp>
        <p:nvSpPr>
          <p:cNvPr id="21" name="Text 19"/>
          <p:cNvSpPr/>
          <p:nvPr/>
        </p:nvSpPr>
        <p:spPr>
          <a:xfrm>
            <a:off x="6598768" y="2761488"/>
            <a:ext cx="4715104" cy="256032"/>
          </a:xfrm>
          <a:prstGeom prst="rect">
            <a:avLst/>
          </a:prstGeom>
          <a:noFill/>
          <a:ln/>
        </p:spPr>
        <p:txBody>
          <a:bodyPr wrap="square" lIns="0" tIns="0" rIns="0" bIns="0" rtlCol="0" anchor="ctr"/>
          <a:lstStyle/>
          <a:p>
            <a:pPr indent="0" marL="0">
              <a:buNone/>
            </a:pPr>
            <a:r>
              <a:rPr lang="en-US" sz="1200" b="1" dirty="0">
                <a:solidFill>
                  <a:srgbClr val="6E666A"/>
                </a:solidFill>
                <a:latin typeface="Yu Gothic" pitchFamily="34" charset="0"/>
                <a:ea typeface="Yu Gothic" pitchFamily="34" charset="-122"/>
                <a:cs typeface="Yu Gothic" pitchFamily="34" charset="-120"/>
              </a:rPr>
              <a:t>いま抱えている課題</a:t>
            </a:r>
            <a:endParaRPr lang="en-US" sz="1200" dirty="0"/>
          </a:p>
        </p:txBody>
      </p:sp>
      <p:sp>
        <p:nvSpPr>
          <p:cNvPr id="22" name="Text 20"/>
          <p:cNvSpPr/>
          <p:nvPr/>
        </p:nvSpPr>
        <p:spPr>
          <a:xfrm>
            <a:off x="6598768" y="3054096"/>
            <a:ext cx="4715104" cy="109728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自宅セラーはすぐ満杯。良い年を買い増せず、保管環境も不安</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所有ワインの本数・時価・飲み頃を誰も把握していない</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並行品・二次流通品の真贋と来歴が確認できない</a:t>
            </a:r>
            <a:endParaRPr lang="en-US" sz="1080" dirty="0"/>
          </a:p>
        </p:txBody>
      </p:sp>
      <p:sp>
        <p:nvSpPr>
          <p:cNvPr id="23" name="Shape 21"/>
          <p:cNvSpPr/>
          <p:nvPr/>
        </p:nvSpPr>
        <p:spPr>
          <a:xfrm>
            <a:off x="6598768" y="4224528"/>
            <a:ext cx="4715104" cy="0"/>
          </a:xfrm>
          <a:prstGeom prst="line">
            <a:avLst/>
          </a:prstGeom>
          <a:noFill/>
          <a:ln w="12700">
            <a:solidFill>
              <a:srgbClr val="EAE4E6"/>
            </a:solidFill>
            <a:prstDash val="solid"/>
          </a:ln>
        </p:spPr>
      </p:sp>
      <p:sp>
        <p:nvSpPr>
          <p:cNvPr id="24" name="Text 22"/>
          <p:cNvSpPr/>
          <p:nvPr/>
        </p:nvSpPr>
        <p:spPr>
          <a:xfrm>
            <a:off x="6598768" y="4315968"/>
            <a:ext cx="4715104" cy="256032"/>
          </a:xfrm>
          <a:prstGeom prst="rect">
            <a:avLst/>
          </a:prstGeom>
          <a:noFill/>
          <a:ln/>
        </p:spPr>
        <p:txBody>
          <a:bodyPr wrap="square" lIns="0" tIns="0" rIns="0" bIns="0" rtlCol="0" anchor="ctr"/>
          <a:lstStyle/>
          <a:p>
            <a:pPr indent="0" marL="0">
              <a:buNone/>
            </a:pPr>
            <a:r>
              <a:rPr lang="en-US" sz="1200" b="1" dirty="0">
                <a:solidFill>
                  <a:srgbClr val="6B1F32"/>
                </a:solidFill>
                <a:latin typeface="Yu Gothic" pitchFamily="34" charset="0"/>
                <a:ea typeface="Yu Gothic" pitchFamily="34" charset="-122"/>
                <a:cs typeface="Yu Gothic" pitchFamily="34" charset="-120"/>
              </a:rPr>
              <a:t>Hills Wine Program の解</a:t>
            </a:r>
            <a:endParaRPr lang="en-US" sz="1200" dirty="0"/>
          </a:p>
        </p:txBody>
      </p:sp>
      <p:sp>
        <p:nvSpPr>
          <p:cNvPr id="25" name="Text 23"/>
          <p:cNvSpPr/>
          <p:nvPr/>
        </p:nvSpPr>
        <p:spPr>
          <a:xfrm>
            <a:off x="6598768" y="4608576"/>
            <a:ext cx="4715104" cy="969264"/>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全ボトル撮影・登録・時価評価のうえお預かり、いつでも出庫</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正規インポーター直の仕入と真贋保証・プロヴナンス管理</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記念年ヴィンテージ・ギフト・ホームパーティの一括手配</a:t>
            </a:r>
            <a:endParaRPr lang="en-US" sz="10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PARTNERSHIP OVERVIEW</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提携全体像：Hills Wine Program（6プログラム）</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ワーカー・レジデンス・商業区画のそれぞれに接点を持ち、一つの会員基盤で束ねます。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4</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92224"/>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822960" y="2084832"/>
            <a:ext cx="457200" cy="457200"/>
          </a:xfrm>
          <a:prstGeom prst="ellipse">
            <a:avLst/>
          </a:prstGeom>
          <a:solidFill>
            <a:srgbClr val="FFFFFF"/>
          </a:solidFill>
          <a:ln w="15875">
            <a:solidFill>
              <a:srgbClr val="C2A15A"/>
            </a:solidFill>
            <a:prstDash val="solid"/>
          </a:ln>
        </p:spPr>
      </p:sp>
      <p:sp>
        <p:nvSpPr>
          <p:cNvPr id="10" name="Text 8"/>
          <p:cNvSpPr/>
          <p:nvPr/>
        </p:nvSpPr>
        <p:spPr>
          <a:xfrm>
            <a:off x="822960" y="2084832"/>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01</a:t>
            </a:r>
            <a:endParaRPr lang="en-US" sz="1150" dirty="0"/>
          </a:p>
        </p:txBody>
      </p:sp>
      <p:sp>
        <p:nvSpPr>
          <p:cNvPr id="11" name="Text 9"/>
          <p:cNvSpPr/>
          <p:nvPr/>
        </p:nvSpPr>
        <p:spPr>
          <a:xfrm>
            <a:off x="1371600" y="1975104"/>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WineBank CLUB ヒルズ会員</a:t>
            </a:r>
            <a:endParaRPr lang="en-US" sz="1250" dirty="0"/>
          </a:p>
        </p:txBody>
      </p:sp>
      <p:sp>
        <p:nvSpPr>
          <p:cNvPr id="12" name="Text 10"/>
          <p:cNvSpPr/>
          <p:nvPr/>
        </p:nvSpPr>
        <p:spPr>
          <a:xfrm>
            <a:off x="822960" y="2688336"/>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テナント法人・居住者向けの特別会員枠。飲食20%OFF、コルケージ無料、月3回無料配送。</a:t>
            </a:r>
            <a:endParaRPr lang="en-US" sz="1020" dirty="0"/>
          </a:p>
        </p:txBody>
      </p:sp>
      <p:sp>
        <p:nvSpPr>
          <p:cNvPr id="13" name="Text 11"/>
          <p:cNvSpPr/>
          <p:nvPr/>
        </p:nvSpPr>
        <p:spPr>
          <a:xfrm>
            <a:off x="822960" y="3255264"/>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ワーカー／レジデンス</a:t>
            </a:r>
            <a:endParaRPr lang="en-US" sz="900" dirty="0"/>
          </a:p>
        </p:txBody>
      </p:sp>
      <p:sp>
        <p:nvSpPr>
          <p:cNvPr id="14" name="Shape 12"/>
          <p:cNvSpPr/>
          <p:nvPr/>
        </p:nvSpPr>
        <p:spPr>
          <a:xfrm>
            <a:off x="4356506" y="1792224"/>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Shape 13"/>
          <p:cNvSpPr/>
          <p:nvPr/>
        </p:nvSpPr>
        <p:spPr>
          <a:xfrm>
            <a:off x="4612538" y="2084832"/>
            <a:ext cx="457200" cy="457200"/>
          </a:xfrm>
          <a:prstGeom prst="ellipse">
            <a:avLst/>
          </a:prstGeom>
          <a:solidFill>
            <a:srgbClr val="FFFFFF"/>
          </a:solidFill>
          <a:ln w="15875">
            <a:solidFill>
              <a:srgbClr val="C2A15A"/>
            </a:solidFill>
            <a:prstDash val="solid"/>
          </a:ln>
        </p:spPr>
      </p:sp>
      <p:sp>
        <p:nvSpPr>
          <p:cNvPr id="16" name="Text 14"/>
          <p:cNvSpPr/>
          <p:nvPr/>
        </p:nvSpPr>
        <p:spPr>
          <a:xfrm>
            <a:off x="4612538" y="2084832"/>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02</a:t>
            </a:r>
            <a:endParaRPr lang="en-US" sz="1150" dirty="0"/>
          </a:p>
        </p:txBody>
      </p:sp>
      <p:sp>
        <p:nvSpPr>
          <p:cNvPr id="17" name="Text 15"/>
          <p:cNvSpPr/>
          <p:nvPr/>
        </p:nvSpPr>
        <p:spPr>
          <a:xfrm>
            <a:off x="5161178" y="1975104"/>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レジデンス・ワイン購買連携</a:t>
            </a:r>
            <a:endParaRPr lang="en-US" sz="1250" dirty="0"/>
          </a:p>
        </p:txBody>
      </p:sp>
      <p:sp>
        <p:nvSpPr>
          <p:cNvPr id="18" name="Text 16"/>
          <p:cNvSpPr/>
          <p:nvPr/>
        </p:nvSpPr>
        <p:spPr>
          <a:xfrm>
            <a:off x="4612538" y="2688336"/>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コンシェルジュ経由で正規品を直接ご購入。真贋保証と来歴管理を伴う「信用力のある窓口」。</a:t>
            </a:r>
            <a:endParaRPr lang="en-US" sz="1020" dirty="0"/>
          </a:p>
        </p:txBody>
      </p:sp>
      <p:sp>
        <p:nvSpPr>
          <p:cNvPr id="19" name="Text 17"/>
          <p:cNvSpPr/>
          <p:nvPr/>
        </p:nvSpPr>
        <p:spPr>
          <a:xfrm>
            <a:off x="4612538" y="3255264"/>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レジデンス</a:t>
            </a:r>
            <a:endParaRPr lang="en-US" sz="900" dirty="0"/>
          </a:p>
        </p:txBody>
      </p:sp>
      <p:sp>
        <p:nvSpPr>
          <p:cNvPr id="20" name="Shape 18"/>
          <p:cNvSpPr/>
          <p:nvPr/>
        </p:nvSpPr>
        <p:spPr>
          <a:xfrm>
            <a:off x="8146085" y="1792224"/>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Shape 19"/>
          <p:cNvSpPr/>
          <p:nvPr/>
        </p:nvSpPr>
        <p:spPr>
          <a:xfrm>
            <a:off x="8402117" y="2084832"/>
            <a:ext cx="457200" cy="457200"/>
          </a:xfrm>
          <a:prstGeom prst="ellipse">
            <a:avLst/>
          </a:prstGeom>
          <a:solidFill>
            <a:srgbClr val="FFFFFF"/>
          </a:solidFill>
          <a:ln w="15875">
            <a:solidFill>
              <a:srgbClr val="C2A15A"/>
            </a:solidFill>
            <a:prstDash val="solid"/>
          </a:ln>
        </p:spPr>
      </p:sp>
      <p:sp>
        <p:nvSpPr>
          <p:cNvPr id="22" name="Text 20"/>
          <p:cNvSpPr/>
          <p:nvPr/>
        </p:nvSpPr>
        <p:spPr>
          <a:xfrm>
            <a:off x="8402117" y="2084832"/>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03</a:t>
            </a:r>
            <a:endParaRPr lang="en-US" sz="1150" dirty="0"/>
          </a:p>
        </p:txBody>
      </p:sp>
      <p:sp>
        <p:nvSpPr>
          <p:cNvPr id="23" name="Text 21"/>
          <p:cNvSpPr/>
          <p:nvPr/>
        </p:nvSpPr>
        <p:spPr>
          <a:xfrm>
            <a:off x="8950757" y="1975104"/>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WineGO ヒルズ・デリバリー</a:t>
            </a:r>
            <a:endParaRPr lang="en-US" sz="1250" dirty="0"/>
          </a:p>
        </p:txBody>
      </p:sp>
      <p:sp>
        <p:nvSpPr>
          <p:cNvPr id="24" name="Text 22"/>
          <p:cNvSpPr/>
          <p:nvPr/>
        </p:nvSpPr>
        <p:spPr>
          <a:xfrm>
            <a:off x="8402117" y="2688336"/>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街区内ターミナルから定温で最短5分。利便性と価格を両立した即時配送網。</a:t>
            </a:r>
            <a:endParaRPr lang="en-US" sz="1020" dirty="0"/>
          </a:p>
        </p:txBody>
      </p:sp>
      <p:sp>
        <p:nvSpPr>
          <p:cNvPr id="25" name="Text 23"/>
          <p:cNvSpPr/>
          <p:nvPr/>
        </p:nvSpPr>
        <p:spPr>
          <a:xfrm>
            <a:off x="8402117" y="3255264"/>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ワーカー／レジデンス</a:t>
            </a:r>
            <a:endParaRPr lang="en-US" sz="900" dirty="0"/>
          </a:p>
        </p:txBody>
      </p:sp>
      <p:sp>
        <p:nvSpPr>
          <p:cNvPr id="26" name="Shape 24"/>
          <p:cNvSpPr/>
          <p:nvPr/>
        </p:nvSpPr>
        <p:spPr>
          <a:xfrm>
            <a:off x="566928" y="3822192"/>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7" name="Shape 25"/>
          <p:cNvSpPr/>
          <p:nvPr/>
        </p:nvSpPr>
        <p:spPr>
          <a:xfrm>
            <a:off x="822960" y="4114800"/>
            <a:ext cx="457200" cy="457200"/>
          </a:xfrm>
          <a:prstGeom prst="ellipse">
            <a:avLst/>
          </a:prstGeom>
          <a:solidFill>
            <a:srgbClr val="FFFFFF"/>
          </a:solidFill>
          <a:ln w="15875">
            <a:solidFill>
              <a:srgbClr val="C2A15A"/>
            </a:solidFill>
            <a:prstDash val="solid"/>
          </a:ln>
        </p:spPr>
      </p:sp>
      <p:sp>
        <p:nvSpPr>
          <p:cNvPr id="28" name="Text 26"/>
          <p:cNvSpPr/>
          <p:nvPr/>
        </p:nvSpPr>
        <p:spPr>
          <a:xfrm>
            <a:off x="822960" y="4114800"/>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04</a:t>
            </a:r>
            <a:endParaRPr lang="en-US" sz="1150" dirty="0"/>
          </a:p>
        </p:txBody>
      </p:sp>
      <p:sp>
        <p:nvSpPr>
          <p:cNvPr id="29" name="Text 27"/>
          <p:cNvSpPr/>
          <p:nvPr/>
        </p:nvSpPr>
        <p:spPr>
          <a:xfrm>
            <a:off x="1371600" y="4005072"/>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クラウドワインセラー出店</a:t>
            </a:r>
            <a:endParaRPr lang="en-US" sz="1250" dirty="0"/>
          </a:p>
        </p:txBody>
      </p:sp>
      <p:sp>
        <p:nvSpPr>
          <p:cNvPr id="30" name="Text 28"/>
          <p:cNvSpPr/>
          <p:nvPr/>
        </p:nvSpPr>
        <p:spPr>
          <a:xfrm>
            <a:off x="822960" y="4718304"/>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数千本規模のウォークインセラーを核とした、在庫共有型フードホールを商業区画に。</a:t>
            </a:r>
            <a:endParaRPr lang="en-US" sz="1020" dirty="0"/>
          </a:p>
        </p:txBody>
      </p:sp>
      <p:sp>
        <p:nvSpPr>
          <p:cNvPr id="31" name="Text 29"/>
          <p:cNvSpPr/>
          <p:nvPr/>
        </p:nvSpPr>
        <p:spPr>
          <a:xfrm>
            <a:off x="822960" y="5285232"/>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商業施設</a:t>
            </a:r>
            <a:endParaRPr lang="en-US" sz="900" dirty="0"/>
          </a:p>
        </p:txBody>
      </p:sp>
      <p:sp>
        <p:nvSpPr>
          <p:cNvPr id="32" name="Shape 30"/>
          <p:cNvSpPr/>
          <p:nvPr/>
        </p:nvSpPr>
        <p:spPr>
          <a:xfrm>
            <a:off x="4356506" y="3822192"/>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3" name="Shape 31"/>
          <p:cNvSpPr/>
          <p:nvPr/>
        </p:nvSpPr>
        <p:spPr>
          <a:xfrm>
            <a:off x="4612538" y="4114800"/>
            <a:ext cx="457200" cy="457200"/>
          </a:xfrm>
          <a:prstGeom prst="ellipse">
            <a:avLst/>
          </a:prstGeom>
          <a:solidFill>
            <a:srgbClr val="FFFFFF"/>
          </a:solidFill>
          <a:ln w="15875">
            <a:solidFill>
              <a:srgbClr val="C2A15A"/>
            </a:solidFill>
            <a:prstDash val="solid"/>
          </a:ln>
        </p:spPr>
      </p:sp>
      <p:sp>
        <p:nvSpPr>
          <p:cNvPr id="34" name="Text 32"/>
          <p:cNvSpPr/>
          <p:nvPr/>
        </p:nvSpPr>
        <p:spPr>
          <a:xfrm>
            <a:off x="4612538" y="4114800"/>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05</a:t>
            </a:r>
            <a:endParaRPr lang="en-US" sz="1150" dirty="0"/>
          </a:p>
        </p:txBody>
      </p:sp>
      <p:sp>
        <p:nvSpPr>
          <p:cNvPr id="35" name="Text 33"/>
          <p:cNvSpPr/>
          <p:nvPr/>
        </p:nvSpPr>
        <p:spPr>
          <a:xfrm>
            <a:off x="5161178" y="4005072"/>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ティエリー・マルクス業態出店</a:t>
            </a:r>
            <a:endParaRPr lang="en-US" sz="1250" dirty="0"/>
          </a:p>
        </p:txBody>
      </p:sp>
      <p:sp>
        <p:nvSpPr>
          <p:cNvPr id="36" name="Text 34"/>
          <p:cNvSpPr/>
          <p:nvPr/>
        </p:nvSpPr>
        <p:spPr>
          <a:xfrm>
            <a:off x="4612538" y="4718304"/>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ミシュラン累計7つ星シェフの日本再進出業態。街区の格とメディア露出を創出。</a:t>
            </a:r>
            <a:endParaRPr lang="en-US" sz="1020" dirty="0"/>
          </a:p>
        </p:txBody>
      </p:sp>
      <p:sp>
        <p:nvSpPr>
          <p:cNvPr id="37" name="Text 35"/>
          <p:cNvSpPr/>
          <p:nvPr/>
        </p:nvSpPr>
        <p:spPr>
          <a:xfrm>
            <a:off x="4612538" y="5285232"/>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商業施設</a:t>
            </a:r>
            <a:endParaRPr lang="en-US" sz="900" dirty="0"/>
          </a:p>
        </p:txBody>
      </p:sp>
      <p:sp>
        <p:nvSpPr>
          <p:cNvPr id="38" name="Shape 36"/>
          <p:cNvSpPr/>
          <p:nvPr/>
        </p:nvSpPr>
        <p:spPr>
          <a:xfrm>
            <a:off x="8146085" y="3822192"/>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9" name="Shape 37"/>
          <p:cNvSpPr/>
          <p:nvPr/>
        </p:nvSpPr>
        <p:spPr>
          <a:xfrm>
            <a:off x="8402117" y="4114800"/>
            <a:ext cx="457200" cy="457200"/>
          </a:xfrm>
          <a:prstGeom prst="ellipse">
            <a:avLst/>
          </a:prstGeom>
          <a:solidFill>
            <a:srgbClr val="FFFFFF"/>
          </a:solidFill>
          <a:ln w="15875">
            <a:solidFill>
              <a:srgbClr val="C2A15A"/>
            </a:solidFill>
            <a:prstDash val="solid"/>
          </a:ln>
        </p:spPr>
      </p:sp>
      <p:sp>
        <p:nvSpPr>
          <p:cNvPr id="40" name="Text 38"/>
          <p:cNvSpPr/>
          <p:nvPr/>
        </p:nvSpPr>
        <p:spPr>
          <a:xfrm>
            <a:off x="8402117" y="4114800"/>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06</a:t>
            </a:r>
            <a:endParaRPr lang="en-US" sz="1150" dirty="0"/>
          </a:p>
        </p:txBody>
      </p:sp>
      <p:sp>
        <p:nvSpPr>
          <p:cNvPr id="41" name="Text 39"/>
          <p:cNvSpPr/>
          <p:nvPr/>
        </p:nvSpPr>
        <p:spPr>
          <a:xfrm>
            <a:off x="8950757" y="4005072"/>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富裕層向けワイン預りサービス</a:t>
            </a:r>
            <a:endParaRPr lang="en-US" sz="1250" dirty="0"/>
          </a:p>
        </p:txBody>
      </p:sp>
      <p:sp>
        <p:nvSpPr>
          <p:cNvPr id="42" name="Text 40"/>
          <p:cNvSpPr/>
          <p:nvPr/>
        </p:nvSpPr>
        <p:spPr>
          <a:xfrm>
            <a:off x="8402117" y="4718304"/>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全ボトル撮影・登録・時価評価のうえ定温保管。動産保険と承継サポートまで。</a:t>
            </a:r>
            <a:endParaRPr lang="en-US" sz="1020" dirty="0"/>
          </a:p>
        </p:txBody>
      </p:sp>
      <p:sp>
        <p:nvSpPr>
          <p:cNvPr id="43" name="Text 41"/>
          <p:cNvSpPr/>
          <p:nvPr/>
        </p:nvSpPr>
        <p:spPr>
          <a:xfrm>
            <a:off x="8402117" y="5285232"/>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レジデンス</a:t>
            </a:r>
            <a:endParaRPr lang="en-US" sz="900" dirty="0"/>
          </a:p>
        </p:txBody>
      </p:sp>
      <p:sp>
        <p:nvSpPr>
          <p:cNvPr id="44" name="Text 42"/>
          <p:cNvSpPr/>
          <p:nvPr/>
        </p:nvSpPr>
        <p:spPr>
          <a:xfrm>
            <a:off x="566928" y="5797296"/>
            <a:ext cx="10972800" cy="274320"/>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6つは独立して導入可能ですが、①の会員基盤に接続することで顧客データ・単価・継続率が最大化されます。</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01</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WineBank CLUB ヒルズ会員プログラム</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既存のWineBank CLUBに「ヒルズ枠」を新設。テナント法人の福利厚生と、レジデンス居住者特典として提供します。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5</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73936"/>
            <a:ext cx="6784848" cy="3895344"/>
          </a:xfrm>
          <a:prstGeom prst="roundRect">
            <a:avLst>
              <a:gd name="adj" fmla="val 211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77824" y="1975104"/>
            <a:ext cx="6217920"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会員特典（ヒルズ枠・標準セット）</a:t>
            </a:r>
            <a:endParaRPr lang="en-US" sz="1600" dirty="0"/>
          </a:p>
        </p:txBody>
      </p:sp>
      <p:sp>
        <p:nvSpPr>
          <p:cNvPr id="10" name="Shape 8"/>
          <p:cNvSpPr/>
          <p:nvPr/>
        </p:nvSpPr>
        <p:spPr>
          <a:xfrm>
            <a:off x="896112" y="2423160"/>
            <a:ext cx="310896" cy="310896"/>
          </a:xfrm>
          <a:prstGeom prst="ellipse">
            <a:avLst/>
          </a:prstGeom>
          <a:solidFill>
            <a:srgbClr val="FFFFFF"/>
          </a:solidFill>
          <a:ln w="15875">
            <a:solidFill>
              <a:srgbClr val="C2A15A"/>
            </a:solidFill>
            <a:prstDash val="solid"/>
          </a:ln>
        </p:spPr>
      </p:sp>
      <p:sp>
        <p:nvSpPr>
          <p:cNvPr id="11" name="Text 9"/>
          <p:cNvSpPr/>
          <p:nvPr/>
        </p:nvSpPr>
        <p:spPr>
          <a:xfrm>
            <a:off x="896112" y="2423160"/>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12" name="Text 10"/>
          <p:cNvSpPr/>
          <p:nvPr/>
        </p:nvSpPr>
        <p:spPr>
          <a:xfrm>
            <a:off x="1335024" y="2395728"/>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グループ飲食店 20%OFF</a:t>
            </a:r>
            <a:endParaRPr lang="en-US" sz="1200" dirty="0"/>
          </a:p>
        </p:txBody>
      </p:sp>
      <p:sp>
        <p:nvSpPr>
          <p:cNvPr id="13" name="Text 11"/>
          <p:cNvSpPr/>
          <p:nvPr/>
        </p:nvSpPr>
        <p:spPr>
          <a:xfrm>
            <a:off x="1335024" y="2633472"/>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アピシウス、ティエリー・マルクス業態ほか。将来的に100店舗以上へ拡大予定。</a:t>
            </a:r>
            <a:endParaRPr lang="en-US" sz="950" dirty="0"/>
          </a:p>
        </p:txBody>
      </p:sp>
      <p:sp>
        <p:nvSpPr>
          <p:cNvPr id="14" name="Shape 12"/>
          <p:cNvSpPr/>
          <p:nvPr/>
        </p:nvSpPr>
        <p:spPr>
          <a:xfrm>
            <a:off x="896112" y="3044952"/>
            <a:ext cx="310896" cy="310896"/>
          </a:xfrm>
          <a:prstGeom prst="ellipse">
            <a:avLst/>
          </a:prstGeom>
          <a:solidFill>
            <a:srgbClr val="FFFFFF"/>
          </a:solidFill>
          <a:ln w="15875">
            <a:solidFill>
              <a:srgbClr val="C2A15A"/>
            </a:solidFill>
            <a:prstDash val="solid"/>
          </a:ln>
        </p:spPr>
      </p:sp>
      <p:sp>
        <p:nvSpPr>
          <p:cNvPr id="15" name="Text 13"/>
          <p:cNvSpPr/>
          <p:nvPr/>
        </p:nvSpPr>
        <p:spPr>
          <a:xfrm>
            <a:off x="896112" y="3044952"/>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16" name="Text 14"/>
          <p:cNvSpPr/>
          <p:nvPr/>
        </p:nvSpPr>
        <p:spPr>
          <a:xfrm>
            <a:off x="1335024" y="3017520"/>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コルケージ完全無料</a:t>
            </a:r>
            <a:endParaRPr lang="en-US" sz="1200" dirty="0"/>
          </a:p>
        </p:txBody>
      </p:sp>
      <p:sp>
        <p:nvSpPr>
          <p:cNvPr id="17" name="Text 15"/>
          <p:cNvSpPr/>
          <p:nvPr/>
        </p:nvSpPr>
        <p:spPr>
          <a:xfrm>
            <a:off x="1335024" y="3255264"/>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提携26店舗へのBYOで抜栓料・持込料ゼロ。重いボトルはWineGOが運ぶ「手ぶらBYO」。</a:t>
            </a:r>
            <a:endParaRPr lang="en-US" sz="950" dirty="0"/>
          </a:p>
        </p:txBody>
      </p:sp>
      <p:sp>
        <p:nvSpPr>
          <p:cNvPr id="18" name="Shape 16"/>
          <p:cNvSpPr/>
          <p:nvPr/>
        </p:nvSpPr>
        <p:spPr>
          <a:xfrm>
            <a:off x="896112" y="3666744"/>
            <a:ext cx="310896" cy="310896"/>
          </a:xfrm>
          <a:prstGeom prst="ellipse">
            <a:avLst/>
          </a:prstGeom>
          <a:solidFill>
            <a:srgbClr val="FFFFFF"/>
          </a:solidFill>
          <a:ln w="15875">
            <a:solidFill>
              <a:srgbClr val="C2A15A"/>
            </a:solidFill>
            <a:prstDash val="solid"/>
          </a:ln>
        </p:spPr>
      </p:sp>
      <p:sp>
        <p:nvSpPr>
          <p:cNvPr id="19" name="Text 17"/>
          <p:cNvSpPr/>
          <p:nvPr/>
        </p:nvSpPr>
        <p:spPr>
          <a:xfrm>
            <a:off x="896112" y="3666744"/>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20" name="Text 18"/>
          <p:cNvSpPr/>
          <p:nvPr/>
        </p:nvSpPr>
        <p:spPr>
          <a:xfrm>
            <a:off x="1335024" y="3639312"/>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ワイン配送 月3回無料</a:t>
            </a:r>
            <a:endParaRPr lang="en-US" sz="1200" dirty="0"/>
          </a:p>
        </p:txBody>
      </p:sp>
      <p:sp>
        <p:nvSpPr>
          <p:cNvPr id="21" name="Text 19"/>
          <p:cNvSpPr/>
          <p:nvPr/>
        </p:nvSpPr>
        <p:spPr>
          <a:xfrm>
            <a:off x="1335024" y="3877056"/>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自宅・会食先・贈答先へ。都心はWineGOで当日デリバリー。</a:t>
            </a:r>
            <a:endParaRPr lang="en-US" sz="950" dirty="0"/>
          </a:p>
        </p:txBody>
      </p:sp>
      <p:sp>
        <p:nvSpPr>
          <p:cNvPr id="22" name="Shape 20"/>
          <p:cNvSpPr/>
          <p:nvPr/>
        </p:nvSpPr>
        <p:spPr>
          <a:xfrm>
            <a:off x="896112" y="4288536"/>
            <a:ext cx="310896" cy="310896"/>
          </a:xfrm>
          <a:prstGeom prst="ellipse">
            <a:avLst/>
          </a:prstGeom>
          <a:solidFill>
            <a:srgbClr val="FFFFFF"/>
          </a:solidFill>
          <a:ln w="15875">
            <a:solidFill>
              <a:srgbClr val="C2A15A"/>
            </a:solidFill>
            <a:prstDash val="solid"/>
          </a:ln>
        </p:spPr>
      </p:sp>
      <p:sp>
        <p:nvSpPr>
          <p:cNvPr id="23" name="Text 21"/>
          <p:cNvSpPr/>
          <p:nvPr/>
        </p:nvSpPr>
        <p:spPr>
          <a:xfrm>
            <a:off x="896112" y="4288536"/>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24" name="Text 22"/>
          <p:cNvSpPr/>
          <p:nvPr/>
        </p:nvSpPr>
        <p:spPr>
          <a:xfrm>
            <a:off x="1335024" y="4261104"/>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ネット最安値水準で購入</a:t>
            </a:r>
            <a:endParaRPr lang="en-US" sz="1200" dirty="0"/>
          </a:p>
        </p:txBody>
      </p:sp>
      <p:sp>
        <p:nvSpPr>
          <p:cNvPr id="25" name="Text 23"/>
          <p:cNvSpPr/>
          <p:nvPr/>
        </p:nvSpPr>
        <p:spPr>
          <a:xfrm>
            <a:off x="1335024" y="4498848"/>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インポーター直の仕入力による特別価格（10〜20%OFF）。</a:t>
            </a:r>
            <a:endParaRPr lang="en-US" sz="950" dirty="0"/>
          </a:p>
        </p:txBody>
      </p:sp>
      <p:sp>
        <p:nvSpPr>
          <p:cNvPr id="26" name="Shape 24"/>
          <p:cNvSpPr/>
          <p:nvPr/>
        </p:nvSpPr>
        <p:spPr>
          <a:xfrm>
            <a:off x="896112" y="4910328"/>
            <a:ext cx="310896" cy="310896"/>
          </a:xfrm>
          <a:prstGeom prst="ellipse">
            <a:avLst/>
          </a:prstGeom>
          <a:solidFill>
            <a:srgbClr val="FFFFFF"/>
          </a:solidFill>
          <a:ln w="15875">
            <a:solidFill>
              <a:srgbClr val="C2A15A"/>
            </a:solidFill>
            <a:prstDash val="solid"/>
          </a:ln>
        </p:spPr>
      </p:sp>
      <p:sp>
        <p:nvSpPr>
          <p:cNvPr id="27" name="Text 25"/>
          <p:cNvSpPr/>
          <p:nvPr/>
        </p:nvSpPr>
        <p:spPr>
          <a:xfrm>
            <a:off x="896112" y="4910328"/>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28" name="Text 26"/>
          <p:cNvSpPr/>
          <p:nvPr/>
        </p:nvSpPr>
        <p:spPr>
          <a:xfrm>
            <a:off x="1335024" y="4882896"/>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ワイン100本お預かり</a:t>
            </a:r>
            <a:endParaRPr lang="en-US" sz="1200" dirty="0"/>
          </a:p>
        </p:txBody>
      </p:sp>
      <p:sp>
        <p:nvSpPr>
          <p:cNvPr id="29" name="Text 27"/>
          <p:cNvSpPr/>
          <p:nvPr/>
        </p:nvSpPr>
        <p:spPr>
          <a:xfrm>
            <a:off x="1335024" y="5120640"/>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ご自宅に眠るワインを引き取り、撮影・登録・時価査定のうえ保管。</a:t>
            </a:r>
            <a:endParaRPr lang="en-US" sz="950" dirty="0"/>
          </a:p>
        </p:txBody>
      </p:sp>
      <p:sp>
        <p:nvSpPr>
          <p:cNvPr id="30" name="Shape 28"/>
          <p:cNvSpPr/>
          <p:nvPr/>
        </p:nvSpPr>
        <p:spPr>
          <a:xfrm>
            <a:off x="7735824" y="1773936"/>
            <a:ext cx="3888943" cy="1700784"/>
          </a:xfrm>
          <a:prstGeom prst="roundRect">
            <a:avLst>
              <a:gd name="adj" fmla="val 4839"/>
            </a:avLst>
          </a:prstGeom>
          <a:solidFill>
            <a:srgbClr val="45121F"/>
          </a:solidFill>
          <a:ln w="12700">
            <a:solidFill>
              <a:srgbClr val="45121F"/>
            </a:solidFill>
            <a:prstDash val="solid"/>
          </a:ln>
        </p:spPr>
      </p:sp>
      <p:sp>
        <p:nvSpPr>
          <p:cNvPr id="31" name="Text 29"/>
          <p:cNvSpPr/>
          <p:nvPr/>
        </p:nvSpPr>
        <p:spPr>
          <a:xfrm>
            <a:off x="8028432" y="1920240"/>
            <a:ext cx="3303727" cy="292608"/>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森ビル様の便益</a:t>
            </a:r>
            <a:endParaRPr lang="en-US" sz="1500" dirty="0"/>
          </a:p>
        </p:txBody>
      </p:sp>
      <p:sp>
        <p:nvSpPr>
          <p:cNvPr id="32" name="Text 30"/>
          <p:cNvSpPr/>
          <p:nvPr/>
        </p:nvSpPr>
        <p:spPr>
          <a:xfrm>
            <a:off x="8028432" y="2249424"/>
            <a:ext cx="3303727" cy="1097280"/>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E8DDE1"/>
                </a:solidFill>
                <a:latin typeface="Yu Gothic" pitchFamily="34" charset="0"/>
                <a:ea typeface="Yu Gothic" pitchFamily="34" charset="-122"/>
                <a:cs typeface="Yu Gothic" pitchFamily="34" charset="-120"/>
              </a:rPr>
              <a:t>テナント法人への他にない福利厚生メニュー</a:t>
            </a:r>
            <a:endParaRPr lang="en-US" sz="1020" dirty="0"/>
          </a:p>
          <a:p>
            <a:pPr marL="342900" indent="-342900">
              <a:lnSpc>
                <a:spcPts val="1400"/>
              </a:lnSpc>
              <a:spcAft>
                <a:spcPts val="400"/>
              </a:spcAft>
              <a:buSzPct val="100000"/>
              <a:buChar char="▪"/>
            </a:pPr>
            <a:r>
              <a:rPr lang="en-US" sz="1020" dirty="0">
                <a:solidFill>
                  <a:srgbClr val="E8DDE1"/>
                </a:solidFill>
                <a:latin typeface="Yu Gothic" pitchFamily="34" charset="0"/>
                <a:ea typeface="Yu Gothic" pitchFamily="34" charset="-122"/>
                <a:cs typeface="Yu Gothic" pitchFamily="34" charset="-120"/>
              </a:rPr>
              <a:t>レジデンス契約時の付加価値・更新率向上</a:t>
            </a:r>
            <a:endParaRPr lang="en-US" sz="1020" dirty="0"/>
          </a:p>
          <a:p>
            <a:pPr marL="342900" indent="-342900">
              <a:lnSpc>
                <a:spcPts val="1400"/>
              </a:lnSpc>
              <a:spcAft>
                <a:spcPts val="400"/>
              </a:spcAft>
              <a:buSzPct val="100000"/>
              <a:buChar char="▪"/>
            </a:pPr>
            <a:r>
              <a:rPr lang="en-US" sz="1020" dirty="0">
                <a:solidFill>
                  <a:srgbClr val="E8DDE1"/>
                </a:solidFill>
                <a:latin typeface="Yu Gothic" pitchFamily="34" charset="0"/>
                <a:ea typeface="Yu Gothic" pitchFamily="34" charset="-122"/>
                <a:cs typeface="Yu Gothic" pitchFamily="34" charset="-120"/>
              </a:rPr>
              <a:t>Hills Club／アカデミーヒルズ等 既存会員組織との相互送客</a:t>
            </a:r>
            <a:endParaRPr lang="en-US" sz="1020" dirty="0"/>
          </a:p>
        </p:txBody>
      </p:sp>
      <p:sp>
        <p:nvSpPr>
          <p:cNvPr id="33" name="Shape 31"/>
          <p:cNvSpPr/>
          <p:nvPr/>
        </p:nvSpPr>
        <p:spPr>
          <a:xfrm>
            <a:off x="7735824" y="3621024"/>
            <a:ext cx="3888943" cy="2048256"/>
          </a:xfrm>
          <a:prstGeom prst="roundRect">
            <a:avLst>
              <a:gd name="adj" fmla="val 4018"/>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4" name="Text 32"/>
          <p:cNvSpPr/>
          <p:nvPr/>
        </p:nvSpPr>
        <p:spPr>
          <a:xfrm>
            <a:off x="8028432" y="3767328"/>
            <a:ext cx="3303727"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提供・課金イメージ</a:t>
            </a:r>
            <a:endParaRPr lang="en-US" sz="1500" dirty="0"/>
          </a:p>
        </p:txBody>
      </p:sp>
      <p:sp>
        <p:nvSpPr>
          <p:cNvPr id="35" name="Text 33"/>
          <p:cNvSpPr/>
          <p:nvPr/>
        </p:nvSpPr>
        <p:spPr>
          <a:xfrm>
            <a:off x="8028432" y="4114800"/>
            <a:ext cx="3303727" cy="1444752"/>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個人会員：年会費制（通常30万円／年、ヒルズ枠は特別設定）</a:t>
            </a:r>
            <a:endParaRPr lang="en-US" sz="1000" dirty="0"/>
          </a:p>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法人会員：テナント企業単位の包括契約（人数枠課金）</a:t>
            </a:r>
            <a:endParaRPr lang="en-US" sz="1000" dirty="0"/>
          </a:p>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森ビル様には会費のレベニューシェアをお支払い</a:t>
            </a:r>
            <a:endParaRPr lang="en-US" sz="1000" dirty="0"/>
          </a:p>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入会・本人確認・請求は当社が全て運用（森ビル様の実務負荷ゼロ）</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02</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レジデンス・ワイン購買連携</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「どこで買えば間違いないか」に、街として答えを持つ。エノテカに代表される専門店級の信用力を、レジデンスのサービス導線に組み込みます。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6</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04672"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正規ルート仕入</a:t>
            </a:r>
            <a:endParaRPr lang="en-US" sz="1300" dirty="0"/>
          </a:p>
        </p:txBody>
      </p:sp>
      <p:sp>
        <p:nvSpPr>
          <p:cNvPr id="10" name="Text 8"/>
          <p:cNvSpPr/>
          <p:nvPr/>
        </p:nvSpPr>
        <p:spPr>
          <a:xfrm>
            <a:off x="804672"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海外ドメーヌ・ネゴシアン・国内正規インポーターからの直接買付。並行品・二次流通品に依存しません。</a:t>
            </a:r>
            <a:endParaRPr lang="en-US" sz="1000" dirty="0"/>
          </a:p>
        </p:txBody>
      </p:sp>
      <p:sp>
        <p:nvSpPr>
          <p:cNvPr id="11" name="Shape 9"/>
          <p:cNvSpPr/>
          <p:nvPr/>
        </p:nvSpPr>
        <p:spPr>
          <a:xfrm>
            <a:off x="3399968"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2" name="Text 10"/>
          <p:cNvSpPr/>
          <p:nvPr/>
        </p:nvSpPr>
        <p:spPr>
          <a:xfrm>
            <a:off x="3637712"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真贋保証と来歴管理</a:t>
            </a:r>
            <a:endParaRPr lang="en-US" sz="1300" dirty="0"/>
          </a:p>
        </p:txBody>
      </p:sp>
      <p:sp>
        <p:nvSpPr>
          <p:cNvPr id="13" name="Text 11"/>
          <p:cNvSpPr/>
          <p:nvPr/>
        </p:nvSpPr>
        <p:spPr>
          <a:xfrm>
            <a:off x="3637712"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フランス国家ソムリエ資格保持者が選定。プロヴナンス（来歴）を全ボトルで管理。</a:t>
            </a:r>
            <a:endParaRPr lang="en-US" sz="1000" dirty="0"/>
          </a:p>
        </p:txBody>
      </p:sp>
      <p:sp>
        <p:nvSpPr>
          <p:cNvPr id="14" name="Shape 12"/>
          <p:cNvSpPr/>
          <p:nvPr/>
        </p:nvSpPr>
        <p:spPr>
          <a:xfrm>
            <a:off x="6233008"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6470752"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55年の割当力</a:t>
            </a:r>
            <a:endParaRPr lang="en-US" sz="1300" dirty="0"/>
          </a:p>
        </p:txBody>
      </p:sp>
      <p:sp>
        <p:nvSpPr>
          <p:cNvPr id="16" name="Text 14"/>
          <p:cNvSpPr/>
          <p:nvPr/>
        </p:nvSpPr>
        <p:spPr>
          <a:xfrm>
            <a:off x="6470752"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市場に出る前に押さえられるトップキュヴェの優先割当枠を確保。</a:t>
            </a:r>
            <a:endParaRPr lang="en-US" sz="1000" dirty="0"/>
          </a:p>
        </p:txBody>
      </p:sp>
      <p:sp>
        <p:nvSpPr>
          <p:cNvPr id="17" name="Shape 15"/>
          <p:cNvSpPr/>
          <p:nvPr/>
        </p:nvSpPr>
        <p:spPr>
          <a:xfrm>
            <a:off x="9066047"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6"/>
          <p:cNvSpPr/>
          <p:nvPr/>
        </p:nvSpPr>
        <p:spPr>
          <a:xfrm>
            <a:off x="9303791"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適正価格</a:t>
            </a:r>
            <a:endParaRPr lang="en-US" sz="1300" dirty="0"/>
          </a:p>
        </p:txBody>
      </p:sp>
      <p:sp>
        <p:nvSpPr>
          <p:cNvPr id="19" name="Text 17"/>
          <p:cNvSpPr/>
          <p:nvPr/>
        </p:nvSpPr>
        <p:spPr>
          <a:xfrm>
            <a:off x="9303791"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会員はネット最安値水準（10〜20%OFF）。店頭価格・レストラン価格との差が明確。</a:t>
            </a:r>
            <a:endParaRPr lang="en-US" sz="1000" dirty="0"/>
          </a:p>
        </p:txBody>
      </p:sp>
      <p:sp>
        <p:nvSpPr>
          <p:cNvPr id="20" name="Text 18"/>
          <p:cNvSpPr/>
          <p:nvPr/>
        </p:nvSpPr>
        <p:spPr>
          <a:xfrm>
            <a:off x="566928" y="3785616"/>
            <a:ext cx="4572000"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ご利用の流れ</a:t>
            </a:r>
            <a:endParaRPr lang="en-US" sz="1500" dirty="0"/>
          </a:p>
        </p:txBody>
      </p:sp>
      <p:sp>
        <p:nvSpPr>
          <p:cNvPr id="21" name="Shape 19"/>
          <p:cNvSpPr/>
          <p:nvPr/>
        </p:nvSpPr>
        <p:spPr>
          <a:xfrm>
            <a:off x="566928" y="4169664"/>
            <a:ext cx="2558720" cy="1426464"/>
          </a:xfrm>
          <a:prstGeom prst="roundRect">
            <a:avLst>
              <a:gd name="adj" fmla="val 57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2" name="Text 20"/>
          <p:cNvSpPr/>
          <p:nvPr/>
        </p:nvSpPr>
        <p:spPr>
          <a:xfrm>
            <a:off x="804672"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01</a:t>
            </a:r>
            <a:endParaRPr lang="en-US" sz="1200" dirty="0"/>
          </a:p>
        </p:txBody>
      </p:sp>
      <p:sp>
        <p:nvSpPr>
          <p:cNvPr id="23" name="Text 21"/>
          <p:cNvSpPr/>
          <p:nvPr/>
        </p:nvSpPr>
        <p:spPr>
          <a:xfrm>
            <a:off x="804672" y="4590288"/>
            <a:ext cx="2083232"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ご相談</a:t>
            </a:r>
            <a:endParaRPr lang="en-US" sz="1300" dirty="0"/>
          </a:p>
        </p:txBody>
      </p:sp>
      <p:sp>
        <p:nvSpPr>
          <p:cNvPr id="24" name="Text 22"/>
          <p:cNvSpPr/>
          <p:nvPr/>
        </p:nvSpPr>
        <p:spPr>
          <a:xfrm>
            <a:off x="804672"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コンシェルジュ／専用アプリから</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予算とシーンをお伝えいただく</a:t>
            </a:r>
            <a:endParaRPr lang="en-US" sz="950" dirty="0"/>
          </a:p>
        </p:txBody>
      </p:sp>
      <p:sp>
        <p:nvSpPr>
          <p:cNvPr id="25" name="Shape 23"/>
          <p:cNvSpPr/>
          <p:nvPr/>
        </p:nvSpPr>
        <p:spPr>
          <a:xfrm>
            <a:off x="3399968" y="4169664"/>
            <a:ext cx="2558720" cy="1426464"/>
          </a:xfrm>
          <a:prstGeom prst="roundRect">
            <a:avLst>
              <a:gd name="adj" fmla="val 57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6" name="Text 24"/>
          <p:cNvSpPr/>
          <p:nvPr/>
        </p:nvSpPr>
        <p:spPr>
          <a:xfrm>
            <a:off x="3637712"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02</a:t>
            </a:r>
            <a:endParaRPr lang="en-US" sz="1200" dirty="0"/>
          </a:p>
        </p:txBody>
      </p:sp>
      <p:sp>
        <p:nvSpPr>
          <p:cNvPr id="27" name="Text 25"/>
          <p:cNvSpPr/>
          <p:nvPr/>
        </p:nvSpPr>
        <p:spPr>
          <a:xfrm>
            <a:off x="3637712" y="4590288"/>
            <a:ext cx="2083232"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ご提案</a:t>
            </a:r>
            <a:endParaRPr lang="en-US" sz="1300" dirty="0"/>
          </a:p>
        </p:txBody>
      </p:sp>
      <p:sp>
        <p:nvSpPr>
          <p:cNvPr id="28" name="Text 26"/>
          <p:cNvSpPr/>
          <p:nvPr/>
        </p:nvSpPr>
        <p:spPr>
          <a:xfrm>
            <a:off x="3637712"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ソムリエが銘柄を選定。</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記念年ヴィンテージ・ギフトにも対応</a:t>
            </a:r>
            <a:endParaRPr lang="en-US" sz="950" dirty="0"/>
          </a:p>
        </p:txBody>
      </p:sp>
      <p:sp>
        <p:nvSpPr>
          <p:cNvPr id="29" name="Shape 27"/>
          <p:cNvSpPr/>
          <p:nvPr/>
        </p:nvSpPr>
        <p:spPr>
          <a:xfrm>
            <a:off x="6233008" y="4169664"/>
            <a:ext cx="2558720" cy="1426464"/>
          </a:xfrm>
          <a:prstGeom prst="roundRect">
            <a:avLst>
              <a:gd name="adj" fmla="val 57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0" name="Text 28"/>
          <p:cNvSpPr/>
          <p:nvPr/>
        </p:nvSpPr>
        <p:spPr>
          <a:xfrm>
            <a:off x="6470752"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03</a:t>
            </a:r>
            <a:endParaRPr lang="en-US" sz="1200" dirty="0"/>
          </a:p>
        </p:txBody>
      </p:sp>
      <p:sp>
        <p:nvSpPr>
          <p:cNvPr id="31" name="Text 29"/>
          <p:cNvSpPr/>
          <p:nvPr/>
        </p:nvSpPr>
        <p:spPr>
          <a:xfrm>
            <a:off x="6470752" y="4590288"/>
            <a:ext cx="2083232"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納品</a:t>
            </a:r>
            <a:endParaRPr lang="en-US" sz="1300" dirty="0"/>
          </a:p>
        </p:txBody>
      </p:sp>
      <p:sp>
        <p:nvSpPr>
          <p:cNvPr id="32" name="Text 30"/>
          <p:cNvSpPr/>
          <p:nvPr/>
        </p:nvSpPr>
        <p:spPr>
          <a:xfrm>
            <a:off x="6470752"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定温配送でご自宅セラーへ。</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贈答先への直送・のし対応も可</a:t>
            </a:r>
            <a:endParaRPr lang="en-US" sz="950" dirty="0"/>
          </a:p>
        </p:txBody>
      </p:sp>
      <p:sp>
        <p:nvSpPr>
          <p:cNvPr id="33" name="Shape 31"/>
          <p:cNvSpPr/>
          <p:nvPr/>
        </p:nvSpPr>
        <p:spPr>
          <a:xfrm>
            <a:off x="9066047" y="4169664"/>
            <a:ext cx="2558720" cy="1426464"/>
          </a:xfrm>
          <a:prstGeom prst="roundRect">
            <a:avLst>
              <a:gd name="adj" fmla="val 5769"/>
            </a:avLst>
          </a:prstGeom>
          <a:solidFill>
            <a:srgbClr val="45121F"/>
          </a:solidFill>
          <a:ln w="12700">
            <a:solidFill>
              <a:srgbClr val="45121F"/>
            </a:solidFill>
            <a:prstDash val="solid"/>
          </a:ln>
        </p:spPr>
      </p:sp>
      <p:sp>
        <p:nvSpPr>
          <p:cNvPr id="34" name="Text 32"/>
          <p:cNvSpPr/>
          <p:nvPr/>
        </p:nvSpPr>
        <p:spPr>
          <a:xfrm>
            <a:off x="9303791"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04</a:t>
            </a:r>
            <a:endParaRPr lang="en-US" sz="1200" dirty="0"/>
          </a:p>
        </p:txBody>
      </p:sp>
      <p:sp>
        <p:nvSpPr>
          <p:cNvPr id="35" name="Text 33"/>
          <p:cNvSpPr/>
          <p:nvPr/>
        </p:nvSpPr>
        <p:spPr>
          <a:xfrm>
            <a:off x="9303791" y="4590288"/>
            <a:ext cx="2083232" cy="27432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その後</a:t>
            </a:r>
            <a:endParaRPr lang="en-US" sz="1300" dirty="0"/>
          </a:p>
        </p:txBody>
      </p:sp>
      <p:sp>
        <p:nvSpPr>
          <p:cNvPr id="36" name="Text 34"/>
          <p:cNvSpPr/>
          <p:nvPr/>
        </p:nvSpPr>
        <p:spPr>
          <a:xfrm>
            <a:off x="9303791"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E8DDE1"/>
                </a:solidFill>
                <a:latin typeface="Yu Gothic" pitchFamily="34" charset="0"/>
                <a:ea typeface="Yu Gothic" pitchFamily="34" charset="-122"/>
                <a:cs typeface="Yu Gothic" pitchFamily="34" charset="-120"/>
              </a:rPr>
              <a:t>購入履歴と時価をクラウド管理。</a:t>
            </a:r>
            <a:endParaRPr lang="en-US" sz="950" dirty="0"/>
          </a:p>
          <a:p>
            <a:pPr indent="0" marL="0">
              <a:lnSpc>
                <a:spcPts val="1300"/>
              </a:lnSpc>
              <a:buNone/>
            </a:pPr>
            <a:r>
              <a:rPr lang="en-US" sz="950" dirty="0">
                <a:solidFill>
                  <a:srgbClr val="E8DDE1"/>
                </a:solidFill>
                <a:latin typeface="Yu Gothic" pitchFamily="34" charset="0"/>
                <a:ea typeface="Yu Gothic" pitchFamily="34" charset="-122"/>
                <a:cs typeface="Yu Gothic" pitchFamily="34" charset="-120"/>
              </a:rPr>
              <a:t>お預かり・買取・出庫まで一気通貫</a:t>
            </a:r>
            <a:endParaRPr lang="en-US" sz="950" dirty="0"/>
          </a:p>
        </p:txBody>
      </p:sp>
      <p:sp>
        <p:nvSpPr>
          <p:cNvPr id="37" name="Text 35"/>
          <p:cNvSpPr/>
          <p:nvPr/>
        </p:nvSpPr>
        <p:spPr>
          <a:xfrm>
            <a:off x="566928" y="5742432"/>
            <a:ext cx="10972800" cy="274320"/>
          </a:xfrm>
          <a:prstGeom prst="rect">
            <a:avLst/>
          </a:prstGeom>
          <a:noFill/>
          <a:ln/>
        </p:spPr>
        <p:txBody>
          <a:bodyPr wrap="square" lIns="0" tIns="0" rIns="0" bIns="0" rtlCol="0" anchor="ctr"/>
          <a:lstStyle/>
          <a:p>
            <a:pPr indent="0" marL="0">
              <a:buNone/>
            </a:pPr>
            <a:r>
              <a:rPr lang="en-US" sz="950" dirty="0">
                <a:solidFill>
                  <a:srgbClr val="9A9498"/>
                </a:solidFill>
                <a:latin typeface="Yu Gothic" pitchFamily="34" charset="0"/>
                <a:ea typeface="Yu Gothic" pitchFamily="34" charset="-122"/>
                <a:cs typeface="Yu Gothic" pitchFamily="34" charset="-120"/>
              </a:rPr>
              <a:t>森ビル様には、レジデンスのコンシェルジュ導線・入居者向け案内へのご掲載をお願いし、売上のレベニューシェアをお支払いします。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03</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WineGO ヒルズ・デリバリー</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「カクヤスの利便性と価格」を、高級ワインで。街区内のターミナルから、定温のまま最短5分でお届けします。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7</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47088"/>
            <a:ext cx="3127248"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22960" y="2029968"/>
            <a:ext cx="2615184" cy="292608"/>
          </a:xfrm>
          <a:prstGeom prst="rect">
            <a:avLst/>
          </a:prstGeom>
          <a:noFill/>
          <a:ln/>
        </p:spPr>
        <p:txBody>
          <a:bodyPr wrap="square" lIns="0" tIns="0" rIns="0" bIns="0" rtlCol="0" anchor="ctr"/>
          <a:lstStyle/>
          <a:p>
            <a:pPr indent="0" marL="0">
              <a:buNone/>
            </a:pPr>
            <a:r>
              <a:rPr lang="en-US" sz="1400" b="1" dirty="0">
                <a:solidFill>
                  <a:srgbClr val="6E666A"/>
                </a:solidFill>
                <a:latin typeface="Yu Gothic" pitchFamily="34" charset="0"/>
                <a:ea typeface="Yu Gothic" pitchFamily="34" charset="-122"/>
                <a:cs typeface="Yu Gothic" pitchFamily="34" charset="-120"/>
              </a:rPr>
              <a:t>一般的な酒類配送</a:t>
            </a:r>
            <a:endParaRPr lang="en-US" sz="1400" dirty="0"/>
          </a:p>
        </p:txBody>
      </p:sp>
      <p:sp>
        <p:nvSpPr>
          <p:cNvPr id="10" name="Text 8"/>
          <p:cNvSpPr/>
          <p:nvPr/>
        </p:nvSpPr>
        <p:spPr>
          <a:xfrm>
            <a:off x="822960" y="2377440"/>
            <a:ext cx="2615184" cy="109728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030" dirty="0">
                <a:solidFill>
                  <a:srgbClr val="241A1E"/>
                </a:solidFill>
                <a:latin typeface="Yu Gothic" pitchFamily="34" charset="0"/>
                <a:ea typeface="Yu Gothic" pitchFamily="34" charset="-122"/>
                <a:cs typeface="Yu Gothic" pitchFamily="34" charset="-120"/>
              </a:rPr>
              <a:t>最短60分〜／常温配送</a:t>
            </a:r>
            <a:endParaRPr lang="en-US" sz="1030" dirty="0"/>
          </a:p>
          <a:p>
            <a:pPr marL="342900" indent="-342900">
              <a:lnSpc>
                <a:spcPts val="1450"/>
              </a:lnSpc>
              <a:spcAft>
                <a:spcPts val="500"/>
              </a:spcAft>
              <a:buSzPct val="100000"/>
              <a:buChar char="▪"/>
            </a:pPr>
            <a:r>
              <a:rPr lang="en-US" sz="1030" dirty="0">
                <a:solidFill>
                  <a:srgbClr val="241A1E"/>
                </a:solidFill>
                <a:latin typeface="Yu Gothic" pitchFamily="34" charset="0"/>
                <a:ea typeface="Yu Gothic" pitchFamily="34" charset="-122"/>
                <a:cs typeface="Yu Gothic" pitchFamily="34" charset="-120"/>
              </a:rPr>
              <a:t>希少銘柄の取扱いなし</a:t>
            </a:r>
            <a:endParaRPr lang="en-US" sz="1030" dirty="0"/>
          </a:p>
          <a:p>
            <a:pPr marL="342900" indent="-342900">
              <a:lnSpc>
                <a:spcPts val="1450"/>
              </a:lnSpc>
              <a:spcAft>
                <a:spcPts val="500"/>
              </a:spcAft>
              <a:buSzPct val="100000"/>
              <a:buChar char="▪"/>
            </a:pPr>
            <a:r>
              <a:rPr lang="en-US" sz="1030" dirty="0">
                <a:solidFill>
                  <a:srgbClr val="241A1E"/>
                </a:solidFill>
                <a:latin typeface="Yu Gothic" pitchFamily="34" charset="0"/>
                <a:ea typeface="Yu Gothic" pitchFamily="34" charset="-122"/>
                <a:cs typeface="Yu Gothic" pitchFamily="34" charset="-120"/>
              </a:rPr>
              <a:t>夜間・突発の依頼に弱い</a:t>
            </a:r>
            <a:endParaRPr lang="en-US" sz="1030" dirty="0"/>
          </a:p>
        </p:txBody>
      </p:sp>
      <p:sp>
        <p:nvSpPr>
          <p:cNvPr id="11" name="Shape 9"/>
          <p:cNvSpPr/>
          <p:nvPr/>
        </p:nvSpPr>
        <p:spPr>
          <a:xfrm>
            <a:off x="3968496" y="1847088"/>
            <a:ext cx="3127248" cy="1810512"/>
          </a:xfrm>
          <a:prstGeom prst="roundRect">
            <a:avLst>
              <a:gd name="adj" fmla="val 4545"/>
            </a:avLst>
          </a:prstGeom>
          <a:solidFill>
            <a:srgbClr val="45121F"/>
          </a:solidFill>
          <a:ln w="12700">
            <a:solidFill>
              <a:srgbClr val="45121F"/>
            </a:solidFill>
            <a:prstDash val="solid"/>
          </a:ln>
        </p:spPr>
      </p:sp>
      <p:sp>
        <p:nvSpPr>
          <p:cNvPr id="12" name="Text 10"/>
          <p:cNvSpPr/>
          <p:nvPr/>
        </p:nvSpPr>
        <p:spPr>
          <a:xfrm>
            <a:off x="4224528" y="2029968"/>
            <a:ext cx="2615184" cy="292608"/>
          </a:xfrm>
          <a:prstGeom prst="rect">
            <a:avLst/>
          </a:prstGeom>
          <a:noFill/>
          <a:ln/>
        </p:spPr>
        <p:txBody>
          <a:bodyPr wrap="square" lIns="0" tIns="0" rIns="0" bIns="0" rtlCol="0" anchor="ctr"/>
          <a:lstStyle/>
          <a:p>
            <a:pPr indent="0" marL="0">
              <a:buNone/>
            </a:pPr>
            <a:r>
              <a:rPr lang="en-US" sz="1400" b="1" dirty="0">
                <a:solidFill>
                  <a:srgbClr val="C2A15A"/>
                </a:solidFill>
                <a:latin typeface="Yu Gothic" pitchFamily="34" charset="0"/>
                <a:ea typeface="Yu Gothic" pitchFamily="34" charset="-122"/>
                <a:cs typeface="Yu Gothic" pitchFamily="34" charset="-120"/>
              </a:rPr>
              <a:t>WineGO</a:t>
            </a:r>
            <a:endParaRPr lang="en-US" sz="1400" dirty="0"/>
          </a:p>
        </p:txBody>
      </p:sp>
      <p:sp>
        <p:nvSpPr>
          <p:cNvPr id="13" name="Text 11"/>
          <p:cNvSpPr/>
          <p:nvPr/>
        </p:nvSpPr>
        <p:spPr>
          <a:xfrm>
            <a:off x="4224528" y="2377440"/>
            <a:ext cx="2615184" cy="109728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030" dirty="0">
                <a:solidFill>
                  <a:srgbClr val="E8DDE1"/>
                </a:solidFill>
                <a:latin typeface="Yu Gothic" pitchFamily="34" charset="0"/>
                <a:ea typeface="Yu Gothic" pitchFamily="34" charset="-122"/>
                <a:cs typeface="Yu Gothic" pitchFamily="34" charset="-120"/>
              </a:rPr>
              <a:t>街区内ターミナルから最短5分</a:t>
            </a:r>
            <a:endParaRPr lang="en-US" sz="1030" dirty="0"/>
          </a:p>
          <a:p>
            <a:pPr marL="342900" indent="-342900">
              <a:lnSpc>
                <a:spcPts val="1450"/>
              </a:lnSpc>
              <a:spcAft>
                <a:spcPts val="500"/>
              </a:spcAft>
              <a:buSzPct val="100000"/>
              <a:buChar char="▪"/>
            </a:pPr>
            <a:r>
              <a:rPr lang="en-US" sz="1030" dirty="0">
                <a:solidFill>
                  <a:srgbClr val="E8DDE1"/>
                </a:solidFill>
                <a:latin typeface="Yu Gothic" pitchFamily="34" charset="0"/>
                <a:ea typeface="Yu Gothic" pitchFamily="34" charset="-122"/>
                <a:cs typeface="Yu Gothic" pitchFamily="34" charset="-120"/>
              </a:rPr>
              <a:t>10〜15℃の定温ラストワンマイル</a:t>
            </a:r>
            <a:endParaRPr lang="en-US" sz="1030" dirty="0"/>
          </a:p>
          <a:p>
            <a:pPr marL="342900" indent="-342900">
              <a:lnSpc>
                <a:spcPts val="1450"/>
              </a:lnSpc>
              <a:spcAft>
                <a:spcPts val="500"/>
              </a:spcAft>
              <a:buSzPct val="100000"/>
              <a:buChar char="▪"/>
            </a:pPr>
            <a:r>
              <a:rPr lang="en-US" sz="1030" dirty="0">
                <a:solidFill>
                  <a:srgbClr val="E8DDE1"/>
                </a:solidFill>
                <a:latin typeface="Yu Gothic" pitchFamily="34" charset="0"/>
                <a:ea typeface="Yu Gothic" pitchFamily="34" charset="-122"/>
                <a:cs typeface="Yu Gothic" pitchFamily="34" charset="-120"/>
              </a:rPr>
              <a:t>希少ヴィンテージ・超高級シャンパンを常時</a:t>
            </a:r>
            <a:endParaRPr lang="en-US" sz="1030" dirty="0"/>
          </a:p>
        </p:txBody>
      </p:sp>
      <p:sp>
        <p:nvSpPr>
          <p:cNvPr id="14" name="Shape 12"/>
          <p:cNvSpPr/>
          <p:nvPr/>
        </p:nvSpPr>
        <p:spPr>
          <a:xfrm>
            <a:off x="7370064" y="1847088"/>
            <a:ext cx="4254703" cy="3822192"/>
          </a:xfrm>
          <a:prstGeom prst="roundRect">
            <a:avLst>
              <a:gd name="adj" fmla="val 215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7680960" y="2029968"/>
            <a:ext cx="3632911" cy="292608"/>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ヒルズでの4つの使い方</a:t>
            </a:r>
            <a:endParaRPr lang="en-US" sz="1600" dirty="0"/>
          </a:p>
        </p:txBody>
      </p:sp>
      <p:sp>
        <p:nvSpPr>
          <p:cNvPr id="16" name="Shape 14"/>
          <p:cNvSpPr/>
          <p:nvPr/>
        </p:nvSpPr>
        <p:spPr>
          <a:xfrm>
            <a:off x="7699248" y="2487168"/>
            <a:ext cx="384048" cy="384048"/>
          </a:xfrm>
          <a:prstGeom prst="ellipse">
            <a:avLst/>
          </a:prstGeom>
          <a:solidFill>
            <a:srgbClr val="FFFFFF"/>
          </a:solidFill>
          <a:ln w="15875">
            <a:solidFill>
              <a:srgbClr val="C2A15A"/>
            </a:solidFill>
            <a:prstDash val="solid"/>
          </a:ln>
        </p:spPr>
      </p:sp>
      <p:sp>
        <p:nvSpPr>
          <p:cNvPr id="17" name="Text 15"/>
          <p:cNvSpPr/>
          <p:nvPr/>
        </p:nvSpPr>
        <p:spPr>
          <a:xfrm>
            <a:off x="7699248" y="2487168"/>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1</a:t>
            </a:r>
            <a:endParaRPr lang="en-US" sz="1100" dirty="0"/>
          </a:p>
        </p:txBody>
      </p:sp>
      <p:sp>
        <p:nvSpPr>
          <p:cNvPr id="18" name="Text 16"/>
          <p:cNvSpPr/>
          <p:nvPr/>
        </p:nvSpPr>
        <p:spPr>
          <a:xfrm>
            <a:off x="8211312" y="2450592"/>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自宅配送</a:t>
            </a:r>
            <a:endParaRPr lang="en-US" sz="1250" dirty="0"/>
          </a:p>
        </p:txBody>
      </p:sp>
      <p:sp>
        <p:nvSpPr>
          <p:cNvPr id="19" name="Text 17"/>
          <p:cNvSpPr/>
          <p:nvPr/>
        </p:nvSpPr>
        <p:spPr>
          <a:xfrm>
            <a:off x="8211312" y="2706624"/>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居住者がアプリで購入。配送員が定温のままセラーまで。4桁コードで受渡し。</a:t>
            </a:r>
            <a:endParaRPr lang="en-US" sz="980" dirty="0"/>
          </a:p>
        </p:txBody>
      </p:sp>
      <p:sp>
        <p:nvSpPr>
          <p:cNvPr id="20" name="Shape 18"/>
          <p:cNvSpPr/>
          <p:nvPr/>
        </p:nvSpPr>
        <p:spPr>
          <a:xfrm>
            <a:off x="7699248" y="3273552"/>
            <a:ext cx="384048" cy="384048"/>
          </a:xfrm>
          <a:prstGeom prst="ellipse">
            <a:avLst/>
          </a:prstGeom>
          <a:solidFill>
            <a:srgbClr val="FFFFFF"/>
          </a:solidFill>
          <a:ln w="15875">
            <a:solidFill>
              <a:srgbClr val="C2A15A"/>
            </a:solidFill>
            <a:prstDash val="solid"/>
          </a:ln>
        </p:spPr>
      </p:sp>
      <p:sp>
        <p:nvSpPr>
          <p:cNvPr id="21" name="Text 19"/>
          <p:cNvSpPr/>
          <p:nvPr/>
        </p:nvSpPr>
        <p:spPr>
          <a:xfrm>
            <a:off x="7699248" y="3273552"/>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2</a:t>
            </a:r>
            <a:endParaRPr lang="en-US" sz="1100" dirty="0"/>
          </a:p>
        </p:txBody>
      </p:sp>
      <p:sp>
        <p:nvSpPr>
          <p:cNvPr id="22" name="Text 20"/>
          <p:cNvSpPr/>
          <p:nvPr/>
        </p:nvSpPr>
        <p:spPr>
          <a:xfrm>
            <a:off x="8211312" y="3236976"/>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ターミナル受取</a:t>
            </a:r>
            <a:endParaRPr lang="en-US" sz="1250" dirty="0"/>
          </a:p>
        </p:txBody>
      </p:sp>
      <p:sp>
        <p:nvSpPr>
          <p:cNvPr id="23" name="Text 21"/>
          <p:cNvSpPr/>
          <p:nvPr/>
        </p:nvSpPr>
        <p:spPr>
          <a:xfrm>
            <a:off x="8211312" y="3493008"/>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街区内の提携店・拠点で好きな時間にピックアップ。帰宅動線で完結。</a:t>
            </a:r>
            <a:endParaRPr lang="en-US" sz="980" dirty="0"/>
          </a:p>
        </p:txBody>
      </p:sp>
      <p:sp>
        <p:nvSpPr>
          <p:cNvPr id="24" name="Shape 22"/>
          <p:cNvSpPr/>
          <p:nvPr/>
        </p:nvSpPr>
        <p:spPr>
          <a:xfrm>
            <a:off x="7699248" y="4059936"/>
            <a:ext cx="384048" cy="384048"/>
          </a:xfrm>
          <a:prstGeom prst="ellipse">
            <a:avLst/>
          </a:prstGeom>
          <a:solidFill>
            <a:srgbClr val="FFFFFF"/>
          </a:solidFill>
          <a:ln w="15875">
            <a:solidFill>
              <a:srgbClr val="C2A15A"/>
            </a:solidFill>
            <a:prstDash val="solid"/>
          </a:ln>
        </p:spPr>
      </p:sp>
      <p:sp>
        <p:nvSpPr>
          <p:cNvPr id="25" name="Text 23"/>
          <p:cNvSpPr/>
          <p:nvPr/>
        </p:nvSpPr>
        <p:spPr>
          <a:xfrm>
            <a:off x="7699248" y="4059936"/>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3</a:t>
            </a:r>
            <a:endParaRPr lang="en-US" sz="1100" dirty="0"/>
          </a:p>
        </p:txBody>
      </p:sp>
      <p:sp>
        <p:nvSpPr>
          <p:cNvPr id="26" name="Text 24"/>
          <p:cNvSpPr/>
          <p:nvPr/>
        </p:nvSpPr>
        <p:spPr>
          <a:xfrm>
            <a:off x="8211312" y="4023360"/>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会食先への事前配送</a:t>
            </a:r>
            <a:endParaRPr lang="en-US" sz="1250" dirty="0"/>
          </a:p>
        </p:txBody>
      </p:sp>
      <p:sp>
        <p:nvSpPr>
          <p:cNvPr id="27" name="Text 25"/>
          <p:cNvSpPr/>
          <p:nvPr/>
        </p:nvSpPr>
        <p:spPr>
          <a:xfrm>
            <a:off x="8211312" y="4279392"/>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提携レストランへ事前に届けておき、手ぶらで会食へ。コルケージは無料。</a:t>
            </a:r>
            <a:endParaRPr lang="en-US" sz="980" dirty="0"/>
          </a:p>
        </p:txBody>
      </p:sp>
      <p:sp>
        <p:nvSpPr>
          <p:cNvPr id="28" name="Shape 26"/>
          <p:cNvSpPr/>
          <p:nvPr/>
        </p:nvSpPr>
        <p:spPr>
          <a:xfrm>
            <a:off x="7699248" y="4846320"/>
            <a:ext cx="384048" cy="384048"/>
          </a:xfrm>
          <a:prstGeom prst="ellipse">
            <a:avLst/>
          </a:prstGeom>
          <a:solidFill>
            <a:srgbClr val="FFFFFF"/>
          </a:solidFill>
          <a:ln w="15875">
            <a:solidFill>
              <a:srgbClr val="C2A15A"/>
            </a:solidFill>
            <a:prstDash val="solid"/>
          </a:ln>
        </p:spPr>
      </p:sp>
      <p:sp>
        <p:nvSpPr>
          <p:cNvPr id="29" name="Text 27"/>
          <p:cNvSpPr/>
          <p:nvPr/>
        </p:nvSpPr>
        <p:spPr>
          <a:xfrm>
            <a:off x="7699248" y="4846320"/>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4</a:t>
            </a:r>
            <a:endParaRPr lang="en-US" sz="1100" dirty="0"/>
          </a:p>
        </p:txBody>
      </p:sp>
      <p:sp>
        <p:nvSpPr>
          <p:cNvPr id="30" name="Text 28"/>
          <p:cNvSpPr/>
          <p:nvPr/>
        </p:nvSpPr>
        <p:spPr>
          <a:xfrm>
            <a:off x="8211312" y="4809744"/>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会食中の追加オーダー</a:t>
            </a:r>
            <a:endParaRPr lang="en-US" sz="1250" dirty="0"/>
          </a:p>
        </p:txBody>
      </p:sp>
      <p:sp>
        <p:nvSpPr>
          <p:cNvPr id="31" name="Text 29"/>
          <p:cNvSpPr/>
          <p:nvPr/>
        </p:nvSpPr>
        <p:spPr>
          <a:xfrm>
            <a:off x="8211312" y="5065776"/>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「もう一本」に、席を立たずに応える。5〜10分で店へ到着。</a:t>
            </a:r>
            <a:endParaRPr lang="en-US" sz="980" dirty="0"/>
          </a:p>
        </p:txBody>
      </p:sp>
      <p:sp>
        <p:nvSpPr>
          <p:cNvPr id="32" name="Shape 30"/>
          <p:cNvSpPr/>
          <p:nvPr/>
        </p:nvSpPr>
        <p:spPr>
          <a:xfrm>
            <a:off x="566928" y="3858768"/>
            <a:ext cx="6528816" cy="1810512"/>
          </a:xfrm>
          <a:prstGeom prst="roundRect">
            <a:avLst>
              <a:gd name="adj" fmla="val 4545"/>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33" name="Text 31"/>
          <p:cNvSpPr/>
          <p:nvPr/>
        </p:nvSpPr>
        <p:spPr>
          <a:xfrm>
            <a:off x="822960" y="4041648"/>
            <a:ext cx="6035040"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森ビル様にお願いしたいこと</a:t>
            </a:r>
            <a:endParaRPr lang="en-US" sz="1400" dirty="0"/>
          </a:p>
        </p:txBody>
      </p:sp>
      <p:sp>
        <p:nvSpPr>
          <p:cNvPr id="34" name="Text 32"/>
          <p:cNvSpPr/>
          <p:nvPr/>
        </p:nvSpPr>
        <p:spPr>
          <a:xfrm>
            <a:off x="822960" y="4389120"/>
            <a:ext cx="6035040" cy="1133856"/>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50" dirty="0">
                <a:solidFill>
                  <a:srgbClr val="241A1E"/>
                </a:solidFill>
                <a:latin typeface="Yu Gothic" pitchFamily="34" charset="0"/>
                <a:ea typeface="Yu Gothic" pitchFamily="34" charset="-122"/>
                <a:cs typeface="Yu Gothic" pitchFamily="34" charset="-120"/>
              </a:rPr>
              <a:t>街区内バックヤード等に、小規模ターミナル（2〜5坪）のご提供</a:t>
            </a:r>
            <a:endParaRPr lang="en-US" sz="1050" dirty="0"/>
          </a:p>
          <a:p>
            <a:pPr marL="342900" indent="-342900">
              <a:lnSpc>
                <a:spcPts val="1500"/>
              </a:lnSpc>
              <a:spcAft>
                <a:spcPts val="500"/>
              </a:spcAft>
              <a:buSzPct val="100000"/>
              <a:buChar char="▪"/>
            </a:pPr>
            <a:r>
              <a:rPr lang="en-US" sz="1050" dirty="0">
                <a:solidFill>
                  <a:srgbClr val="241A1E"/>
                </a:solidFill>
                <a:latin typeface="Yu Gothic" pitchFamily="34" charset="0"/>
                <a:ea typeface="Yu Gothic" pitchFamily="34" charset="-122"/>
                <a:cs typeface="Yu Gothic" pitchFamily="34" charset="-120"/>
              </a:rPr>
              <a:t>配送員の館内動線・荷捌きに関する運用ご調整</a:t>
            </a:r>
            <a:endParaRPr lang="en-US" sz="1050" dirty="0"/>
          </a:p>
          <a:p>
            <a:pPr marL="342900" indent="-342900">
              <a:lnSpc>
                <a:spcPts val="1500"/>
              </a:lnSpc>
              <a:spcAft>
                <a:spcPts val="500"/>
              </a:spcAft>
              <a:buSzPct val="100000"/>
              <a:buChar char="▪"/>
            </a:pPr>
            <a:r>
              <a:rPr lang="en-US" sz="1050" dirty="0">
                <a:solidFill>
                  <a:srgbClr val="241A1E"/>
                </a:solidFill>
                <a:latin typeface="Yu Gothic" pitchFamily="34" charset="0"/>
                <a:ea typeface="Yu Gothic" pitchFamily="34" charset="-122"/>
                <a:cs typeface="Yu Gothic" pitchFamily="34" charset="-120"/>
              </a:rPr>
              <a:t>テナント飲食店へのご紹介（在庫リスクゼロの共有セラーとして提案）</a:t>
            </a:r>
            <a:endParaRPr lang="en-US" sz="1050" dirty="0"/>
          </a:p>
        </p:txBody>
      </p:sp>
      <p:sp>
        <p:nvSpPr>
          <p:cNvPr id="35" name="Text 33"/>
          <p:cNvSpPr/>
          <p:nvPr/>
        </p:nvSpPr>
        <p:spPr>
          <a:xfrm>
            <a:off x="566928" y="5779008"/>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 WineGOは飲食店向けの「クラウド型共有セラー」として設計。ヒルズ内テナント飲食店は在庫を持たずに希少銘柄を提供でき、CF改善にも直結します。</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04</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クラウドワインセラー出店（商業区画）</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『大型ウォークインワインセラーを目玉とした、セラー在庫共有型フードホール』。数千本のセラーを中央に据え、360度を専門飲食区画が囲みます。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8</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956816"/>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804672" y="2157984"/>
            <a:ext cx="438912" cy="438912"/>
          </a:xfrm>
          <a:prstGeom prst="ellipse">
            <a:avLst/>
          </a:prstGeom>
          <a:solidFill>
            <a:srgbClr val="FFFFFF"/>
          </a:solidFill>
          <a:ln w="15875">
            <a:solidFill>
              <a:srgbClr val="C2A15A"/>
            </a:solidFill>
            <a:prstDash val="solid"/>
          </a:ln>
        </p:spPr>
      </p:sp>
      <p:sp>
        <p:nvSpPr>
          <p:cNvPr id="10" name="Text 8"/>
          <p:cNvSpPr/>
          <p:nvPr/>
        </p:nvSpPr>
        <p:spPr>
          <a:xfrm>
            <a:off x="804672" y="2157984"/>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01</a:t>
            </a:r>
            <a:endParaRPr lang="en-US" sz="1100" dirty="0"/>
          </a:p>
        </p:txBody>
      </p:sp>
      <p:sp>
        <p:nvSpPr>
          <p:cNvPr id="11" name="Text 9"/>
          <p:cNvSpPr/>
          <p:nvPr/>
        </p:nvSpPr>
        <p:spPr>
          <a:xfrm>
            <a:off x="1335024" y="2176272"/>
            <a:ext cx="2478938" cy="402336"/>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360度の大型ウォークインセラー</a:t>
            </a:r>
            <a:endParaRPr lang="en-US" sz="1250" dirty="0"/>
          </a:p>
        </p:txBody>
      </p:sp>
      <p:sp>
        <p:nvSpPr>
          <p:cNvPr id="12" name="Text 10"/>
          <p:cNvSpPr/>
          <p:nvPr/>
        </p:nvSpPr>
        <p:spPr>
          <a:xfrm>
            <a:off x="804672" y="2706624"/>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数千本規模のセラーが全区画からの借景となり、他にない空間体験を生む。</a:t>
            </a:r>
            <a:endParaRPr lang="en-US" sz="1000" dirty="0"/>
          </a:p>
        </p:txBody>
      </p:sp>
      <p:sp>
        <p:nvSpPr>
          <p:cNvPr id="13" name="Shape 11"/>
          <p:cNvSpPr/>
          <p:nvPr/>
        </p:nvSpPr>
        <p:spPr>
          <a:xfrm>
            <a:off x="4344314" y="1956816"/>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4" name="Shape 12"/>
          <p:cNvSpPr/>
          <p:nvPr/>
        </p:nvSpPr>
        <p:spPr>
          <a:xfrm>
            <a:off x="4582058" y="2157984"/>
            <a:ext cx="438912" cy="438912"/>
          </a:xfrm>
          <a:prstGeom prst="ellipse">
            <a:avLst/>
          </a:prstGeom>
          <a:solidFill>
            <a:srgbClr val="FFFFFF"/>
          </a:solidFill>
          <a:ln w="15875">
            <a:solidFill>
              <a:srgbClr val="C2A15A"/>
            </a:solidFill>
            <a:prstDash val="solid"/>
          </a:ln>
        </p:spPr>
      </p:sp>
      <p:sp>
        <p:nvSpPr>
          <p:cNvPr id="15" name="Text 13"/>
          <p:cNvSpPr/>
          <p:nvPr/>
        </p:nvSpPr>
        <p:spPr>
          <a:xfrm>
            <a:off x="4582058" y="2157984"/>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16" name="Text 14"/>
          <p:cNvSpPr/>
          <p:nvPr/>
        </p:nvSpPr>
        <p:spPr>
          <a:xfrm>
            <a:off x="5112410" y="2176272"/>
            <a:ext cx="2478938" cy="402336"/>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在庫はセラーが持つ</a:t>
            </a:r>
            <a:endParaRPr lang="en-US" sz="1250" dirty="0"/>
          </a:p>
        </p:txBody>
      </p:sp>
      <p:sp>
        <p:nvSpPr>
          <p:cNvPr id="17" name="Text 15"/>
          <p:cNvSpPr/>
          <p:nvPr/>
        </p:nvSpPr>
        <p:spPr>
          <a:xfrm>
            <a:off x="4582058" y="2706624"/>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各店は在庫を抱えず、必要な分を卸値〜ネット最安値で即時購入。CFが劇的に改善。</a:t>
            </a:r>
            <a:endParaRPr lang="en-US" sz="1000" dirty="0"/>
          </a:p>
        </p:txBody>
      </p:sp>
      <p:sp>
        <p:nvSpPr>
          <p:cNvPr id="18" name="Shape 16"/>
          <p:cNvSpPr/>
          <p:nvPr/>
        </p:nvSpPr>
        <p:spPr>
          <a:xfrm>
            <a:off x="8121701" y="1956816"/>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9" name="Shape 17"/>
          <p:cNvSpPr/>
          <p:nvPr/>
        </p:nvSpPr>
        <p:spPr>
          <a:xfrm>
            <a:off x="8359445" y="2157984"/>
            <a:ext cx="438912" cy="438912"/>
          </a:xfrm>
          <a:prstGeom prst="ellipse">
            <a:avLst/>
          </a:prstGeom>
          <a:solidFill>
            <a:srgbClr val="FFFFFF"/>
          </a:solidFill>
          <a:ln w="15875">
            <a:solidFill>
              <a:srgbClr val="C2A15A"/>
            </a:solidFill>
            <a:prstDash val="solid"/>
          </a:ln>
        </p:spPr>
      </p:sp>
      <p:sp>
        <p:nvSpPr>
          <p:cNvPr id="20" name="Text 18"/>
          <p:cNvSpPr/>
          <p:nvPr/>
        </p:nvSpPr>
        <p:spPr>
          <a:xfrm>
            <a:off x="8359445" y="2157984"/>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21" name="Text 19"/>
          <p:cNvSpPr/>
          <p:nvPr/>
        </p:nvSpPr>
        <p:spPr>
          <a:xfrm>
            <a:off x="8889797" y="2176272"/>
            <a:ext cx="2478938" cy="402336"/>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回遊通路で施設全体へ</a:t>
            </a:r>
            <a:endParaRPr lang="en-US" sz="1250" dirty="0"/>
          </a:p>
        </p:txBody>
      </p:sp>
      <p:sp>
        <p:nvSpPr>
          <p:cNvPr id="22" name="Text 20"/>
          <p:cNvSpPr/>
          <p:nvPr/>
        </p:nvSpPr>
        <p:spPr>
          <a:xfrm>
            <a:off x="8359445" y="2706624"/>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セラーを囲む回遊動線が滞在時間を延ばし、隣接区画への送客を生む。</a:t>
            </a:r>
            <a:endParaRPr lang="en-US" sz="1000" dirty="0"/>
          </a:p>
        </p:txBody>
      </p:sp>
      <p:sp>
        <p:nvSpPr>
          <p:cNvPr id="23" name="Text 21"/>
          <p:cNvSpPr/>
          <p:nvPr/>
        </p:nvSpPr>
        <p:spPr>
          <a:xfrm>
            <a:off x="566928" y="3712464"/>
            <a:ext cx="4572000"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三者にとってのWin</a:t>
            </a:r>
            <a:endParaRPr lang="en-US" sz="1500" dirty="0"/>
          </a:p>
        </p:txBody>
      </p:sp>
      <p:sp>
        <p:nvSpPr>
          <p:cNvPr id="24" name="Shape 22"/>
          <p:cNvSpPr/>
          <p:nvPr/>
        </p:nvSpPr>
        <p:spPr>
          <a:xfrm>
            <a:off x="566928" y="4096512"/>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5" name="Text 23"/>
          <p:cNvSpPr/>
          <p:nvPr/>
        </p:nvSpPr>
        <p:spPr>
          <a:xfrm>
            <a:off x="822960" y="4242816"/>
            <a:ext cx="2991002"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出店者</a:t>
            </a:r>
            <a:endParaRPr lang="en-US" sz="1300" dirty="0"/>
          </a:p>
        </p:txBody>
      </p:sp>
      <p:sp>
        <p:nvSpPr>
          <p:cNvPr id="26" name="Text 24"/>
          <p:cNvSpPr/>
          <p:nvPr/>
        </p:nvSpPr>
        <p:spPr>
          <a:xfrm>
            <a:off x="822960" y="4553712"/>
            <a:ext cx="2991002"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卸値〜最安値で即時仕入</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店内在庫・セラー設備が不要</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大型セラーが自店の借景に</a:t>
            </a:r>
            <a:endParaRPr lang="en-US" sz="980" dirty="0"/>
          </a:p>
        </p:txBody>
      </p:sp>
      <p:sp>
        <p:nvSpPr>
          <p:cNvPr id="27" name="Shape 25"/>
          <p:cNvSpPr/>
          <p:nvPr/>
        </p:nvSpPr>
        <p:spPr>
          <a:xfrm>
            <a:off x="4344314" y="4096512"/>
            <a:ext cx="3503066" cy="1572768"/>
          </a:xfrm>
          <a:prstGeom prst="roundRect">
            <a:avLst>
              <a:gd name="adj" fmla="val 5233"/>
            </a:avLst>
          </a:prstGeom>
          <a:solidFill>
            <a:srgbClr val="45121F"/>
          </a:solidFill>
          <a:ln w="12700">
            <a:solidFill>
              <a:srgbClr val="45121F"/>
            </a:solidFill>
            <a:prstDash val="solid"/>
          </a:ln>
        </p:spPr>
      </p:sp>
      <p:sp>
        <p:nvSpPr>
          <p:cNvPr id="28" name="Text 26"/>
          <p:cNvSpPr/>
          <p:nvPr/>
        </p:nvSpPr>
        <p:spPr>
          <a:xfrm>
            <a:off x="4600346" y="4242816"/>
            <a:ext cx="2991002" cy="274320"/>
          </a:xfrm>
          <a:prstGeom prst="rect">
            <a:avLst/>
          </a:prstGeom>
          <a:noFill/>
          <a:ln/>
        </p:spPr>
        <p:txBody>
          <a:bodyPr wrap="square" lIns="0" tIns="0" rIns="0" bIns="0" rtlCol="0" anchor="ctr"/>
          <a:lstStyle/>
          <a:p>
            <a:pPr indent="0" marL="0">
              <a:buNone/>
            </a:pPr>
            <a:r>
              <a:rPr lang="en-US" sz="1300" b="1" dirty="0">
                <a:solidFill>
                  <a:srgbClr val="C2A15A"/>
                </a:solidFill>
                <a:latin typeface="Yu Gothic" pitchFamily="34" charset="0"/>
                <a:ea typeface="Yu Gothic" pitchFamily="34" charset="-122"/>
                <a:cs typeface="Yu Gothic" pitchFamily="34" charset="-120"/>
              </a:rPr>
              <a:t>商業施設（森ビル様）</a:t>
            </a:r>
            <a:endParaRPr lang="en-US" sz="1300" dirty="0"/>
          </a:p>
        </p:txBody>
      </p:sp>
      <p:sp>
        <p:nvSpPr>
          <p:cNvPr id="29" name="Text 27"/>
          <p:cNvSpPr/>
          <p:nvPr/>
        </p:nvSpPr>
        <p:spPr>
          <a:xfrm>
            <a:off x="4600346" y="4553712"/>
            <a:ext cx="2991002"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E8DDE1"/>
                </a:solidFill>
                <a:latin typeface="Yu Gothic" pitchFamily="34" charset="0"/>
                <a:ea typeface="Yu Gothic" pitchFamily="34" charset="-122"/>
                <a:cs typeface="Yu Gothic" pitchFamily="34" charset="-120"/>
              </a:rPr>
              <a:t>前例のない話題性と施設イメージ向上</a:t>
            </a:r>
            <a:endParaRPr lang="en-US" sz="980" dirty="0"/>
          </a:p>
          <a:p>
            <a:pPr marL="342900" indent="-342900">
              <a:lnSpc>
                <a:spcPts val="1350"/>
              </a:lnSpc>
              <a:spcAft>
                <a:spcPts val="300"/>
              </a:spcAft>
              <a:buSzPct val="100000"/>
              <a:buChar char="▪"/>
            </a:pPr>
            <a:r>
              <a:rPr lang="en-US" sz="980" dirty="0">
                <a:solidFill>
                  <a:srgbClr val="E8DDE1"/>
                </a:solidFill>
                <a:latin typeface="Yu Gothic" pitchFamily="34" charset="0"/>
                <a:ea typeface="Yu Gothic" pitchFamily="34" charset="-122"/>
                <a:cs typeface="Yu Gothic" pitchFamily="34" charset="-120"/>
              </a:rPr>
              <a:t>出店誘致が容易になり、賃料・保証金の引上げ余地</a:t>
            </a:r>
            <a:endParaRPr lang="en-US" sz="980" dirty="0"/>
          </a:p>
          <a:p>
            <a:pPr marL="342900" indent="-342900">
              <a:lnSpc>
                <a:spcPts val="1350"/>
              </a:lnSpc>
              <a:spcAft>
                <a:spcPts val="300"/>
              </a:spcAft>
              <a:buSzPct val="100000"/>
              <a:buChar char="▪"/>
            </a:pPr>
            <a:r>
              <a:rPr lang="en-US" sz="980" dirty="0">
                <a:solidFill>
                  <a:srgbClr val="E8DDE1"/>
                </a:solidFill>
                <a:latin typeface="Yu Gothic" pitchFamily="34" charset="0"/>
                <a:ea typeface="Yu Gothic" pitchFamily="34" charset="-122"/>
                <a:cs typeface="Yu Gothic" pitchFamily="34" charset="-120"/>
              </a:rPr>
              <a:t>施設全体・レジデンスへも卸値供給</a:t>
            </a:r>
            <a:endParaRPr lang="en-US" sz="980" dirty="0"/>
          </a:p>
        </p:txBody>
      </p:sp>
      <p:sp>
        <p:nvSpPr>
          <p:cNvPr id="30" name="Shape 28"/>
          <p:cNvSpPr/>
          <p:nvPr/>
        </p:nvSpPr>
        <p:spPr>
          <a:xfrm>
            <a:off x="8121701" y="4096512"/>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1" name="Text 29"/>
          <p:cNvSpPr/>
          <p:nvPr/>
        </p:nvSpPr>
        <p:spPr>
          <a:xfrm>
            <a:off x="8377733" y="4242816"/>
            <a:ext cx="2991002"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来館者・居住者</a:t>
            </a:r>
            <a:endParaRPr lang="en-US" sz="1300" dirty="0"/>
          </a:p>
        </p:txBody>
      </p:sp>
      <p:sp>
        <p:nvSpPr>
          <p:cNvPr id="32" name="Text 30"/>
          <p:cNvSpPr/>
          <p:nvPr/>
        </p:nvSpPr>
        <p:spPr>
          <a:xfrm>
            <a:off x="8377733" y="4553712"/>
            <a:ext cx="2991002"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数千本から選べる圧倒的な品揃え</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専門店価格でグラス・ボトルを楽しめる</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その場で購入し、自宅へ配送も可能</a:t>
            </a:r>
            <a:endParaRPr lang="en-US" sz="980" dirty="0"/>
          </a:p>
        </p:txBody>
      </p:sp>
      <p:sp>
        <p:nvSpPr>
          <p:cNvPr id="33" name="Text 31"/>
          <p:cNvSpPr/>
          <p:nvPr/>
        </p:nvSpPr>
        <p:spPr>
          <a:xfrm>
            <a:off x="566928" y="5797296"/>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想定規模：セラー約30坪 ＋ 飲食区画約100坪（日比谷ミッドタウン地下1階フードホール、虎ノ門横丁の客単価・区画割りを参照）。取扱いはワインに限らず酒類全般。</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05</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ティエリー・マルクス業態の出店</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ミシュラン累計7つ星・レジオン・ドヌール勲章受章のシェフによる日本再進出業態を、ヒルズの商業区画へ。</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9</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10512"/>
            <a:ext cx="5413248" cy="3858768"/>
          </a:xfrm>
          <a:prstGeom prst="roundRect">
            <a:avLst>
              <a:gd name="adj" fmla="val 2133"/>
            </a:avLst>
          </a:prstGeom>
          <a:solidFill>
            <a:srgbClr val="45121F"/>
          </a:solidFill>
          <a:ln w="12700">
            <a:solidFill>
              <a:srgbClr val="45121F"/>
            </a:solidFill>
            <a:prstDash val="solid"/>
          </a:ln>
        </p:spPr>
      </p:sp>
      <p:sp>
        <p:nvSpPr>
          <p:cNvPr id="9" name="Text 7"/>
          <p:cNvSpPr/>
          <p:nvPr/>
        </p:nvSpPr>
        <p:spPr>
          <a:xfrm>
            <a:off x="896112" y="2011680"/>
            <a:ext cx="4754880" cy="310896"/>
          </a:xfrm>
          <a:prstGeom prst="rect">
            <a:avLst/>
          </a:prstGeom>
          <a:noFill/>
          <a:ln/>
        </p:spPr>
        <p:txBody>
          <a:bodyPr wrap="square" lIns="0" tIns="0" rIns="0" bIns="0" rtlCol="0" anchor="ctr"/>
          <a:lstStyle/>
          <a:p>
            <a:pPr indent="0" marL="0">
              <a:buNone/>
            </a:pPr>
            <a:r>
              <a:rPr lang="en-US" sz="2000" b="1" spc="160" kern="0" dirty="0">
                <a:solidFill>
                  <a:srgbClr val="C2A15A"/>
                </a:solidFill>
                <a:latin typeface="Cambria" pitchFamily="34" charset="0"/>
                <a:ea typeface="Cambria" pitchFamily="34" charset="-122"/>
                <a:cs typeface="Cambria" pitchFamily="34" charset="-120"/>
              </a:rPr>
              <a:t>THIERRY MARX</a:t>
            </a:r>
            <a:endParaRPr lang="en-US" sz="2000" dirty="0"/>
          </a:p>
        </p:txBody>
      </p:sp>
      <p:sp>
        <p:nvSpPr>
          <p:cNvPr id="10" name="Text 8"/>
          <p:cNvSpPr/>
          <p:nvPr/>
        </p:nvSpPr>
        <p:spPr>
          <a:xfrm>
            <a:off x="896112" y="2359152"/>
            <a:ext cx="4754880" cy="274320"/>
          </a:xfrm>
          <a:prstGeom prst="rect">
            <a:avLst/>
          </a:prstGeom>
          <a:noFill/>
          <a:ln/>
        </p:spPr>
        <p:txBody>
          <a:bodyPr wrap="square" lIns="0" tIns="0" rIns="0" bIns="0" rtlCol="0" anchor="ctr"/>
          <a:lstStyle/>
          <a:p>
            <a:pPr indent="0" marL="0">
              <a:buNone/>
            </a:pPr>
            <a:r>
              <a:rPr lang="en-US" sz="1050" dirty="0">
                <a:solidFill>
                  <a:srgbClr val="CBBAC1"/>
                </a:solidFill>
                <a:latin typeface="Yu Gothic" pitchFamily="34" charset="0"/>
                <a:ea typeface="Yu Gothic" pitchFamily="34" charset="-122"/>
                <a:cs typeface="Yu Gothic" pitchFamily="34" charset="-120"/>
              </a:rPr>
              <a:t>ミシュラン星請負人。同世代のシェフの中でも最も注目を集める一人。</a:t>
            </a:r>
            <a:endParaRPr lang="en-US" sz="1050" dirty="0"/>
          </a:p>
        </p:txBody>
      </p:sp>
      <p:sp>
        <p:nvSpPr>
          <p:cNvPr id="11" name="Text 9"/>
          <p:cNvSpPr/>
          <p:nvPr/>
        </p:nvSpPr>
        <p:spPr>
          <a:xfrm>
            <a:off x="896112" y="2743200"/>
            <a:ext cx="475488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1999年 ルレ・エ・シャトー「コーディヤン・バージュ」でミシュラン2つ星</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2010年 マンダリン オリエンタル パリでミシュラン2つ星</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2006年 ゴー・エ・ミヨ シェフ・オブ・ザ・イヤー</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2013年 フランス レジオン・ドヌール勲章 受章</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2022年 ミシュランガイド 年間ベストメンター</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2023年 パリ8区サントノーレに「オノール」オープン</a:t>
            </a:r>
            <a:endParaRPr lang="en-US" sz="1020" dirty="0"/>
          </a:p>
        </p:txBody>
      </p:sp>
      <p:sp>
        <p:nvSpPr>
          <p:cNvPr id="12" name="Text 10"/>
          <p:cNvSpPr/>
          <p:nvPr/>
        </p:nvSpPr>
        <p:spPr>
          <a:xfrm>
            <a:off x="896112" y="4974336"/>
            <a:ext cx="4754880" cy="512064"/>
          </a:xfrm>
          <a:prstGeom prst="rect">
            <a:avLst/>
          </a:prstGeom>
          <a:noFill/>
          <a:ln/>
        </p:spPr>
        <p:txBody>
          <a:bodyPr wrap="square" lIns="0" tIns="0" rIns="0" bIns="0" rtlCol="0" anchor="ctr"/>
          <a:lstStyle/>
          <a:p>
            <a:pPr indent="0" marL="0">
              <a:lnSpc>
                <a:spcPts val="1500"/>
              </a:lnSpc>
              <a:buNone/>
            </a:pPr>
            <a:r>
              <a:rPr lang="en-US" sz="1050" b="1" dirty="0">
                <a:solidFill>
                  <a:srgbClr val="C2A15A"/>
                </a:solidFill>
                <a:latin typeface="Yu Gothic" pitchFamily="34" charset="0"/>
                <a:ea typeface="Yu Gothic" pitchFamily="34" charset="-122"/>
                <a:cs typeface="Yu Gothic" pitchFamily="34" charset="-120"/>
              </a:rPr>
              <a:t>大手TV局との連携により、開業時の露出を確保。国内外の富裕層・メディアを街区に呼び込みます。</a:t>
            </a:r>
            <a:endParaRPr lang="en-US" sz="1050" dirty="0"/>
          </a:p>
        </p:txBody>
      </p:sp>
      <p:sp>
        <p:nvSpPr>
          <p:cNvPr id="13" name="Text 11"/>
          <p:cNvSpPr/>
          <p:nvPr/>
        </p:nvSpPr>
        <p:spPr>
          <a:xfrm>
            <a:off x="6272784" y="1810512"/>
            <a:ext cx="5351983"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出店フォーマット（ご相談のたたき台）</a:t>
            </a:r>
            <a:endParaRPr lang="en-US" sz="1500" dirty="0"/>
          </a:p>
        </p:txBody>
      </p:sp>
      <p:sp>
        <p:nvSpPr>
          <p:cNvPr id="14" name="Shape 12"/>
          <p:cNvSpPr/>
          <p:nvPr/>
        </p:nvSpPr>
        <p:spPr>
          <a:xfrm>
            <a:off x="6272784" y="2212848"/>
            <a:ext cx="5351983" cy="676656"/>
          </a:xfrm>
          <a:prstGeom prst="roundRect">
            <a:avLst>
              <a:gd name="adj" fmla="val 1216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6528816" y="2286000"/>
            <a:ext cx="2011680" cy="256032"/>
          </a:xfrm>
          <a:prstGeom prst="rect">
            <a:avLst/>
          </a:prstGeom>
          <a:noFill/>
          <a:ln/>
        </p:spPr>
        <p:txBody>
          <a:bodyPr wrap="square" lIns="0" tIns="0" rIns="0" bIns="0" rtlCol="0" anchor="ctr"/>
          <a:lstStyle/>
          <a:p>
            <a:pPr indent="0" marL="0">
              <a:buNone/>
            </a:pPr>
            <a:r>
              <a:rPr lang="en-US" sz="1250" b="1" dirty="0">
                <a:solidFill>
                  <a:srgbClr val="6B1F32"/>
                </a:solidFill>
                <a:latin typeface="Yu Gothic" pitchFamily="34" charset="0"/>
                <a:ea typeface="Yu Gothic" pitchFamily="34" charset="-122"/>
                <a:cs typeface="Yu Gothic" pitchFamily="34" charset="-120"/>
              </a:rPr>
              <a:t>グランメゾン</a:t>
            </a:r>
            <a:endParaRPr lang="en-US" sz="1250" dirty="0"/>
          </a:p>
        </p:txBody>
      </p:sp>
      <p:sp>
        <p:nvSpPr>
          <p:cNvPr id="16" name="Text 14"/>
          <p:cNvSpPr/>
          <p:nvPr/>
        </p:nvSpPr>
        <p:spPr>
          <a:xfrm>
            <a:off x="6528816" y="2542032"/>
            <a:ext cx="4839919" cy="274320"/>
          </a:xfrm>
          <a:prstGeom prst="rect">
            <a:avLst/>
          </a:prstGeom>
          <a:noFill/>
          <a:ln/>
        </p:spPr>
        <p:txBody>
          <a:bodyPr wrap="square" lIns="0" tIns="0" rIns="0" bIns="0" rtlCol="0" anchor="ctr"/>
          <a:lstStyle/>
          <a:p>
            <a:pPr indent="0" marL="0">
              <a:buNone/>
            </a:pPr>
            <a:r>
              <a:rPr lang="en-US" sz="980" dirty="0">
                <a:solidFill>
                  <a:srgbClr val="6E666A"/>
                </a:solidFill>
                <a:latin typeface="Yu Gothic" pitchFamily="34" charset="0"/>
                <a:ea typeface="Yu Gothic" pitchFamily="34" charset="-122"/>
                <a:cs typeface="Yu Gothic" pitchFamily="34" charset="-120"/>
              </a:rPr>
              <a:t>40〜60席・客単価3〜5万円。街区のフラッグシップとして。</a:t>
            </a:r>
            <a:endParaRPr lang="en-US" sz="980" dirty="0"/>
          </a:p>
        </p:txBody>
      </p:sp>
      <p:sp>
        <p:nvSpPr>
          <p:cNvPr id="17" name="Shape 15"/>
          <p:cNvSpPr/>
          <p:nvPr/>
        </p:nvSpPr>
        <p:spPr>
          <a:xfrm>
            <a:off x="6272784" y="2999232"/>
            <a:ext cx="5351983" cy="676656"/>
          </a:xfrm>
          <a:prstGeom prst="roundRect">
            <a:avLst>
              <a:gd name="adj" fmla="val 1216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6"/>
          <p:cNvSpPr/>
          <p:nvPr/>
        </p:nvSpPr>
        <p:spPr>
          <a:xfrm>
            <a:off x="6528816" y="3072384"/>
            <a:ext cx="2011680" cy="256032"/>
          </a:xfrm>
          <a:prstGeom prst="rect">
            <a:avLst/>
          </a:prstGeom>
          <a:noFill/>
          <a:ln/>
        </p:spPr>
        <p:txBody>
          <a:bodyPr wrap="square" lIns="0" tIns="0" rIns="0" bIns="0" rtlCol="0" anchor="ctr"/>
          <a:lstStyle/>
          <a:p>
            <a:pPr indent="0" marL="0">
              <a:buNone/>
            </a:pPr>
            <a:r>
              <a:rPr lang="en-US" sz="1250" b="1" dirty="0">
                <a:solidFill>
                  <a:srgbClr val="6B1F32"/>
                </a:solidFill>
                <a:latin typeface="Yu Gothic" pitchFamily="34" charset="0"/>
                <a:ea typeface="Yu Gothic" pitchFamily="34" charset="-122"/>
                <a:cs typeface="Yu Gothic" pitchFamily="34" charset="-120"/>
              </a:rPr>
              <a:t>ブラッスリー／ビストロ</a:t>
            </a:r>
            <a:endParaRPr lang="en-US" sz="1250" dirty="0"/>
          </a:p>
        </p:txBody>
      </p:sp>
      <p:sp>
        <p:nvSpPr>
          <p:cNvPr id="19" name="Text 17"/>
          <p:cNvSpPr/>
          <p:nvPr/>
        </p:nvSpPr>
        <p:spPr>
          <a:xfrm>
            <a:off x="6528816" y="3328416"/>
            <a:ext cx="4839919" cy="274320"/>
          </a:xfrm>
          <a:prstGeom prst="rect">
            <a:avLst/>
          </a:prstGeom>
          <a:noFill/>
          <a:ln/>
        </p:spPr>
        <p:txBody>
          <a:bodyPr wrap="square" lIns="0" tIns="0" rIns="0" bIns="0" rtlCol="0" anchor="ctr"/>
          <a:lstStyle/>
          <a:p>
            <a:pPr indent="0" marL="0">
              <a:buNone/>
            </a:pPr>
            <a:r>
              <a:rPr lang="en-US" sz="980" dirty="0">
                <a:solidFill>
                  <a:srgbClr val="6E666A"/>
                </a:solidFill>
                <a:latin typeface="Yu Gothic" pitchFamily="34" charset="0"/>
                <a:ea typeface="Yu Gothic" pitchFamily="34" charset="-122"/>
                <a:cs typeface="Yu Gothic" pitchFamily="34" charset="-120"/>
              </a:rPr>
              <a:t>60〜90席・客単価1.5〜2万円。ワーカーの日常会食を取り込む。</a:t>
            </a:r>
            <a:endParaRPr lang="en-US" sz="980" dirty="0"/>
          </a:p>
        </p:txBody>
      </p:sp>
      <p:sp>
        <p:nvSpPr>
          <p:cNvPr id="20" name="Shape 18"/>
          <p:cNvSpPr/>
          <p:nvPr/>
        </p:nvSpPr>
        <p:spPr>
          <a:xfrm>
            <a:off x="6272784" y="3785616"/>
            <a:ext cx="5351983" cy="676656"/>
          </a:xfrm>
          <a:prstGeom prst="roundRect">
            <a:avLst>
              <a:gd name="adj" fmla="val 1216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Text 19"/>
          <p:cNvSpPr/>
          <p:nvPr/>
        </p:nvSpPr>
        <p:spPr>
          <a:xfrm>
            <a:off x="6528816" y="3858768"/>
            <a:ext cx="2011680" cy="256032"/>
          </a:xfrm>
          <a:prstGeom prst="rect">
            <a:avLst/>
          </a:prstGeom>
          <a:noFill/>
          <a:ln/>
        </p:spPr>
        <p:txBody>
          <a:bodyPr wrap="square" lIns="0" tIns="0" rIns="0" bIns="0" rtlCol="0" anchor="ctr"/>
          <a:lstStyle/>
          <a:p>
            <a:pPr indent="0" marL="0">
              <a:buNone/>
            </a:pPr>
            <a:r>
              <a:rPr lang="en-US" sz="1250" b="1" dirty="0">
                <a:solidFill>
                  <a:srgbClr val="6B1F32"/>
                </a:solidFill>
                <a:latin typeface="Yu Gothic" pitchFamily="34" charset="0"/>
                <a:ea typeface="Yu Gothic" pitchFamily="34" charset="-122"/>
                <a:cs typeface="Yu Gothic" pitchFamily="34" charset="-120"/>
              </a:rPr>
              <a:t>ベーカリー＆カフェ</a:t>
            </a:r>
            <a:endParaRPr lang="en-US" sz="1250" dirty="0"/>
          </a:p>
        </p:txBody>
      </p:sp>
      <p:sp>
        <p:nvSpPr>
          <p:cNvPr id="22" name="Text 20"/>
          <p:cNvSpPr/>
          <p:nvPr/>
        </p:nvSpPr>
        <p:spPr>
          <a:xfrm>
            <a:off x="6528816" y="4114800"/>
            <a:ext cx="4839919" cy="274320"/>
          </a:xfrm>
          <a:prstGeom prst="rect">
            <a:avLst/>
          </a:prstGeom>
          <a:noFill/>
          <a:ln/>
        </p:spPr>
        <p:txBody>
          <a:bodyPr wrap="square" lIns="0" tIns="0" rIns="0" bIns="0" rtlCol="0" anchor="ctr"/>
          <a:lstStyle/>
          <a:p>
            <a:pPr indent="0" marL="0">
              <a:buNone/>
            </a:pPr>
            <a:r>
              <a:rPr lang="en-US" sz="980" dirty="0">
                <a:solidFill>
                  <a:srgbClr val="6E666A"/>
                </a:solidFill>
                <a:latin typeface="Yu Gothic" pitchFamily="34" charset="0"/>
                <a:ea typeface="Yu Gothic" pitchFamily="34" charset="-122"/>
                <a:cs typeface="Yu Gothic" pitchFamily="34" charset="-120"/>
              </a:rPr>
              <a:t>20〜40坪。朝夕の生活動線を押さえ、居住者の日常接点に。</a:t>
            </a:r>
            <a:endParaRPr lang="en-US" sz="980" dirty="0"/>
          </a:p>
        </p:txBody>
      </p:sp>
      <p:sp>
        <p:nvSpPr>
          <p:cNvPr id="23" name="Shape 21"/>
          <p:cNvSpPr/>
          <p:nvPr/>
        </p:nvSpPr>
        <p:spPr>
          <a:xfrm>
            <a:off x="6272784" y="4626864"/>
            <a:ext cx="5351983" cy="1042416"/>
          </a:xfrm>
          <a:prstGeom prst="roundRect">
            <a:avLst>
              <a:gd name="adj" fmla="val 7895"/>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24" name="Text 22"/>
          <p:cNvSpPr/>
          <p:nvPr/>
        </p:nvSpPr>
        <p:spPr>
          <a:xfrm>
            <a:off x="6528816" y="4754880"/>
            <a:ext cx="4839919" cy="256032"/>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運営体制の裏付け</a:t>
            </a:r>
            <a:endParaRPr lang="en-US" sz="1250" dirty="0"/>
          </a:p>
        </p:txBody>
      </p:sp>
      <p:sp>
        <p:nvSpPr>
          <p:cNvPr id="25" name="Text 23"/>
          <p:cNvSpPr/>
          <p:nvPr/>
        </p:nvSpPr>
        <p:spPr>
          <a:xfrm>
            <a:off x="6528816" y="5029200"/>
            <a:ext cx="4839919" cy="548640"/>
          </a:xfrm>
          <a:prstGeom prst="rect">
            <a:avLst/>
          </a:prstGeom>
          <a:noFill/>
          <a:ln/>
        </p:spPr>
        <p:txBody>
          <a:bodyPr wrap="square" lIns="0" tIns="0" rIns="0" bIns="0" rtlCol="0" anchor="ctr"/>
          <a:lstStyle/>
          <a:p>
            <a:pPr indent="0" marL="0">
              <a:lnSpc>
                <a:spcPts val="1350"/>
              </a:lnSpc>
              <a:buNone/>
            </a:pPr>
            <a:r>
              <a:rPr lang="en-US" sz="980" dirty="0">
                <a:solidFill>
                  <a:srgbClr val="241A1E"/>
                </a:solidFill>
                <a:latin typeface="Yu Gothic" pitchFamily="34" charset="0"/>
                <a:ea typeface="Yu Gothic" pitchFamily="34" charset="-122"/>
                <a:cs typeface="Yu Gothic" pitchFamily="34" charset="-120"/>
              </a:rPr>
              <a:t>創業41年のグランメゾン「アピシウス」を2024年6月に100%株式取得。ミシュラン掲載、World of Fine Wine 3つ星を5年連続、食べログ4.26（2026年5月時点）。グランメゾンを実際に運営している事業者として出店いたします。</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06</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富裕層向け ワイン預りサービス</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ご自宅のセラーは、いずれ必ず満杯になります。街区の外にある「もう一つのセラー」を、居住者特典としてご提供します。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10</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786384" y="2048256"/>
            <a:ext cx="438912" cy="438912"/>
          </a:xfrm>
          <a:prstGeom prst="ellipse">
            <a:avLst/>
          </a:prstGeom>
          <a:solidFill>
            <a:srgbClr val="FFFFFF"/>
          </a:solidFill>
          <a:ln w="15875">
            <a:solidFill>
              <a:srgbClr val="C2A15A"/>
            </a:solidFill>
            <a:prstDash val="solid"/>
          </a:ln>
        </p:spPr>
      </p:sp>
      <p:sp>
        <p:nvSpPr>
          <p:cNvPr id="10" name="Text 8"/>
          <p:cNvSpPr/>
          <p:nvPr/>
        </p:nvSpPr>
        <p:spPr>
          <a:xfrm>
            <a:off x="786384"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01</a:t>
            </a:r>
            <a:endParaRPr lang="en-US" sz="1100" dirty="0"/>
          </a:p>
        </p:txBody>
      </p:sp>
      <p:sp>
        <p:nvSpPr>
          <p:cNvPr id="11" name="Text 9"/>
          <p:cNvSpPr/>
          <p:nvPr/>
        </p:nvSpPr>
        <p:spPr>
          <a:xfrm>
            <a:off x="786384"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お引き取り</a:t>
            </a:r>
            <a:endParaRPr lang="en-US" sz="1200" dirty="0"/>
          </a:p>
        </p:txBody>
      </p:sp>
      <p:sp>
        <p:nvSpPr>
          <p:cNvPr id="12" name="Text 10"/>
          <p:cNvSpPr/>
          <p:nvPr/>
        </p:nvSpPr>
        <p:spPr>
          <a:xfrm>
            <a:off x="786384"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現在の保管先・ご自宅へ伺い、全ボトルを回収。ヒルズ館内からの搬出も当社が対応。</a:t>
            </a:r>
            <a:endParaRPr lang="en-US" sz="960" dirty="0"/>
          </a:p>
        </p:txBody>
      </p:sp>
      <p:sp>
        <p:nvSpPr>
          <p:cNvPr id="13" name="Shape 11"/>
          <p:cNvSpPr/>
          <p:nvPr/>
        </p:nvSpPr>
        <p:spPr>
          <a:xfrm>
            <a:off x="2826045"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4" name="Shape 12"/>
          <p:cNvSpPr/>
          <p:nvPr/>
        </p:nvSpPr>
        <p:spPr>
          <a:xfrm>
            <a:off x="3045501" y="2048256"/>
            <a:ext cx="438912" cy="438912"/>
          </a:xfrm>
          <a:prstGeom prst="ellipse">
            <a:avLst/>
          </a:prstGeom>
          <a:solidFill>
            <a:srgbClr val="FFFFFF"/>
          </a:solidFill>
          <a:ln w="15875">
            <a:solidFill>
              <a:srgbClr val="C2A15A"/>
            </a:solidFill>
            <a:prstDash val="solid"/>
          </a:ln>
        </p:spPr>
      </p:sp>
      <p:sp>
        <p:nvSpPr>
          <p:cNvPr id="15" name="Text 13"/>
          <p:cNvSpPr/>
          <p:nvPr/>
        </p:nvSpPr>
        <p:spPr>
          <a:xfrm>
            <a:off x="3045501"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16" name="Text 14"/>
          <p:cNvSpPr/>
          <p:nvPr/>
        </p:nvSpPr>
        <p:spPr>
          <a:xfrm>
            <a:off x="3045501"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撮影・登録・時価算定</a:t>
            </a:r>
            <a:endParaRPr lang="en-US" sz="1200" dirty="0"/>
          </a:p>
        </p:txBody>
      </p:sp>
      <p:sp>
        <p:nvSpPr>
          <p:cNvPr id="17" name="Text 15"/>
          <p:cNvSpPr/>
          <p:nvPr/>
        </p:nvSpPr>
        <p:spPr>
          <a:xfrm>
            <a:off x="3045501"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全ボトルを撮影しリスト化。Liv-ex等を参照した時価をアプリでいつでも確認。</a:t>
            </a:r>
            <a:endParaRPr lang="en-US" sz="960" dirty="0"/>
          </a:p>
        </p:txBody>
      </p:sp>
      <p:sp>
        <p:nvSpPr>
          <p:cNvPr id="18" name="Shape 16"/>
          <p:cNvSpPr/>
          <p:nvPr/>
        </p:nvSpPr>
        <p:spPr>
          <a:xfrm>
            <a:off x="5085161"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9" name="Shape 17"/>
          <p:cNvSpPr/>
          <p:nvPr/>
        </p:nvSpPr>
        <p:spPr>
          <a:xfrm>
            <a:off x="5304617" y="2048256"/>
            <a:ext cx="438912" cy="438912"/>
          </a:xfrm>
          <a:prstGeom prst="ellipse">
            <a:avLst/>
          </a:prstGeom>
          <a:solidFill>
            <a:srgbClr val="FFFFFF"/>
          </a:solidFill>
          <a:ln w="15875">
            <a:solidFill>
              <a:srgbClr val="C2A15A"/>
            </a:solidFill>
            <a:prstDash val="solid"/>
          </a:ln>
        </p:spPr>
      </p:sp>
      <p:sp>
        <p:nvSpPr>
          <p:cNvPr id="20" name="Text 18"/>
          <p:cNvSpPr/>
          <p:nvPr/>
        </p:nvSpPr>
        <p:spPr>
          <a:xfrm>
            <a:off x="5304617"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21" name="Text 19"/>
          <p:cNvSpPr/>
          <p:nvPr/>
        </p:nvSpPr>
        <p:spPr>
          <a:xfrm>
            <a:off x="5304617"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定温保管</a:t>
            </a:r>
            <a:endParaRPr lang="en-US" sz="1200" dirty="0"/>
          </a:p>
        </p:txBody>
      </p:sp>
      <p:sp>
        <p:nvSpPr>
          <p:cNvPr id="22" name="Text 20"/>
          <p:cNvSpPr/>
          <p:nvPr/>
        </p:nvSpPr>
        <p:spPr>
          <a:xfrm>
            <a:off x="5304617"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14℃・湿度70%、24時間365日の温度監視。東日本大震災でも破損実績ゼロの専門倉庫。</a:t>
            </a:r>
            <a:endParaRPr lang="en-US" sz="960" dirty="0"/>
          </a:p>
        </p:txBody>
      </p:sp>
      <p:sp>
        <p:nvSpPr>
          <p:cNvPr id="23" name="Shape 21"/>
          <p:cNvSpPr/>
          <p:nvPr/>
        </p:nvSpPr>
        <p:spPr>
          <a:xfrm>
            <a:off x="7344278"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4" name="Shape 22"/>
          <p:cNvSpPr/>
          <p:nvPr/>
        </p:nvSpPr>
        <p:spPr>
          <a:xfrm>
            <a:off x="7563734" y="2048256"/>
            <a:ext cx="438912" cy="438912"/>
          </a:xfrm>
          <a:prstGeom prst="ellipse">
            <a:avLst/>
          </a:prstGeom>
          <a:solidFill>
            <a:srgbClr val="FFFFFF"/>
          </a:solidFill>
          <a:ln w="15875">
            <a:solidFill>
              <a:srgbClr val="C2A15A"/>
            </a:solidFill>
            <a:prstDash val="solid"/>
          </a:ln>
        </p:spPr>
      </p:sp>
      <p:sp>
        <p:nvSpPr>
          <p:cNvPr id="25" name="Text 23"/>
          <p:cNvSpPr/>
          <p:nvPr/>
        </p:nvSpPr>
        <p:spPr>
          <a:xfrm>
            <a:off x="7563734"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04</a:t>
            </a:r>
            <a:endParaRPr lang="en-US" sz="1100" dirty="0"/>
          </a:p>
        </p:txBody>
      </p:sp>
      <p:sp>
        <p:nvSpPr>
          <p:cNvPr id="26" name="Text 24"/>
          <p:cNvSpPr/>
          <p:nvPr/>
        </p:nvSpPr>
        <p:spPr>
          <a:xfrm>
            <a:off x="7563734"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出庫・ご配送</a:t>
            </a:r>
            <a:endParaRPr lang="en-US" sz="1200" dirty="0"/>
          </a:p>
        </p:txBody>
      </p:sp>
      <p:sp>
        <p:nvSpPr>
          <p:cNvPr id="27" name="Text 25"/>
          <p:cNvSpPr/>
          <p:nvPr/>
        </p:nvSpPr>
        <p:spPr>
          <a:xfrm>
            <a:off x="7563734"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回数無制限。ご自宅・会食先・贈答先へ。都心はWineGOで当日配送も可能。</a:t>
            </a:r>
            <a:endParaRPr lang="en-US" sz="960" dirty="0"/>
          </a:p>
        </p:txBody>
      </p:sp>
      <p:sp>
        <p:nvSpPr>
          <p:cNvPr id="28" name="Shape 26"/>
          <p:cNvSpPr/>
          <p:nvPr/>
        </p:nvSpPr>
        <p:spPr>
          <a:xfrm>
            <a:off x="9603395"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9" name="Shape 27"/>
          <p:cNvSpPr/>
          <p:nvPr/>
        </p:nvSpPr>
        <p:spPr>
          <a:xfrm>
            <a:off x="9822851" y="2048256"/>
            <a:ext cx="438912" cy="438912"/>
          </a:xfrm>
          <a:prstGeom prst="ellipse">
            <a:avLst/>
          </a:prstGeom>
          <a:solidFill>
            <a:srgbClr val="FFFFFF"/>
          </a:solidFill>
          <a:ln w="15875">
            <a:solidFill>
              <a:srgbClr val="C2A15A"/>
            </a:solidFill>
            <a:prstDash val="solid"/>
          </a:ln>
        </p:spPr>
      </p:sp>
      <p:sp>
        <p:nvSpPr>
          <p:cNvPr id="30" name="Text 28"/>
          <p:cNvSpPr/>
          <p:nvPr/>
        </p:nvSpPr>
        <p:spPr>
          <a:xfrm>
            <a:off x="9822851"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05</a:t>
            </a:r>
            <a:endParaRPr lang="en-US" sz="1100" dirty="0"/>
          </a:p>
        </p:txBody>
      </p:sp>
      <p:sp>
        <p:nvSpPr>
          <p:cNvPr id="31" name="Text 29"/>
          <p:cNvSpPr/>
          <p:nvPr/>
        </p:nvSpPr>
        <p:spPr>
          <a:xfrm>
            <a:off x="9822851"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売却・ご承継</a:t>
            </a:r>
            <a:endParaRPr lang="en-US" sz="1200" dirty="0"/>
          </a:p>
        </p:txBody>
      </p:sp>
      <p:sp>
        <p:nvSpPr>
          <p:cNvPr id="32" name="Text 30"/>
          <p:cNvSpPr/>
          <p:nvPr/>
        </p:nvSpPr>
        <p:spPr>
          <a:xfrm>
            <a:off x="9822851"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オークション・飲食店・愛好家への売却チャネル。相続・承継サポートも用意。</a:t>
            </a:r>
            <a:endParaRPr lang="en-US" sz="960" dirty="0"/>
          </a:p>
        </p:txBody>
      </p:sp>
      <p:sp>
        <p:nvSpPr>
          <p:cNvPr id="33" name="Shape 31"/>
          <p:cNvSpPr/>
          <p:nvPr/>
        </p:nvSpPr>
        <p:spPr>
          <a:xfrm>
            <a:off x="566928" y="4224528"/>
            <a:ext cx="5541264" cy="1444752"/>
          </a:xfrm>
          <a:prstGeom prst="roundRect">
            <a:avLst>
              <a:gd name="adj" fmla="val 5696"/>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4" name="Text 32"/>
          <p:cNvSpPr/>
          <p:nvPr/>
        </p:nvSpPr>
        <p:spPr>
          <a:xfrm>
            <a:off x="841248" y="4370832"/>
            <a:ext cx="4937760"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安心の担保</a:t>
            </a:r>
            <a:endParaRPr lang="en-US" sz="1400" dirty="0"/>
          </a:p>
        </p:txBody>
      </p:sp>
      <p:sp>
        <p:nvSpPr>
          <p:cNvPr id="35" name="Text 33"/>
          <p:cNvSpPr/>
          <p:nvPr/>
        </p:nvSpPr>
        <p:spPr>
          <a:xfrm>
            <a:off x="841248" y="4681728"/>
            <a:ext cx="4974336" cy="91440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20" dirty="0">
                <a:solidFill>
                  <a:srgbClr val="241A1E"/>
                </a:solidFill>
                <a:latin typeface="Yu Gothic" pitchFamily="34" charset="0"/>
                <a:ea typeface="Yu Gothic" pitchFamily="34" charset="-122"/>
                <a:cs typeface="Yu Gothic" pitchFamily="34" charset="-120"/>
              </a:rPr>
              <a:t>動産保険の付保（事業者責による破損は全額補償）</a:t>
            </a:r>
            <a:endParaRPr lang="en-US" sz="1020" dirty="0"/>
          </a:p>
          <a:p>
            <a:pPr marL="342900" indent="-342900">
              <a:lnSpc>
                <a:spcPts val="1400"/>
              </a:lnSpc>
              <a:spcAft>
                <a:spcPts val="300"/>
              </a:spcAft>
              <a:buSzPct val="100000"/>
              <a:buChar char="▪"/>
            </a:pPr>
            <a:r>
              <a:rPr lang="en-US" sz="1020" dirty="0">
                <a:solidFill>
                  <a:srgbClr val="241A1E"/>
                </a:solidFill>
                <a:latin typeface="Yu Gothic" pitchFamily="34" charset="0"/>
                <a:ea typeface="Yu Gothic" pitchFamily="34" charset="-122"/>
                <a:cs typeface="Yu Gothic" pitchFamily="34" charset="-120"/>
              </a:rPr>
              <a:t>正規ルート仕入と真贋保証、プロヴナンス管理</a:t>
            </a:r>
            <a:endParaRPr lang="en-US" sz="1020" dirty="0"/>
          </a:p>
          <a:p>
            <a:pPr marL="342900" indent="-342900">
              <a:lnSpc>
                <a:spcPts val="1400"/>
              </a:lnSpc>
              <a:spcAft>
                <a:spcPts val="300"/>
              </a:spcAft>
              <a:buSzPct val="100000"/>
              <a:buChar char="▪"/>
            </a:pPr>
            <a:r>
              <a:rPr lang="en-US" sz="1020" dirty="0">
                <a:solidFill>
                  <a:srgbClr val="241A1E"/>
                </a:solidFill>
                <a:latin typeface="Yu Gothic" pitchFamily="34" charset="0"/>
                <a:ea typeface="Yu Gothic" pitchFamily="34" charset="-122"/>
                <a:cs typeface="Yu Gothic" pitchFamily="34" charset="-120"/>
              </a:rPr>
              <a:t>セキュリティ・補助電源完備の専門倉庫（都内2か所）</a:t>
            </a:r>
            <a:endParaRPr lang="en-US" sz="1020" dirty="0"/>
          </a:p>
        </p:txBody>
      </p:sp>
      <p:sp>
        <p:nvSpPr>
          <p:cNvPr id="36" name="Shape 34"/>
          <p:cNvSpPr/>
          <p:nvPr/>
        </p:nvSpPr>
        <p:spPr>
          <a:xfrm>
            <a:off x="6437376" y="4224528"/>
            <a:ext cx="5541264" cy="1444752"/>
          </a:xfrm>
          <a:prstGeom prst="roundRect">
            <a:avLst>
              <a:gd name="adj" fmla="val 5696"/>
            </a:avLst>
          </a:prstGeom>
          <a:solidFill>
            <a:srgbClr val="45121F"/>
          </a:solidFill>
          <a:ln w="12700">
            <a:solidFill>
              <a:srgbClr val="45121F"/>
            </a:solidFill>
            <a:prstDash val="solid"/>
          </a:ln>
        </p:spPr>
      </p:sp>
      <p:sp>
        <p:nvSpPr>
          <p:cNvPr id="37" name="Text 35"/>
          <p:cNvSpPr/>
          <p:nvPr/>
        </p:nvSpPr>
        <p:spPr>
          <a:xfrm>
            <a:off x="6711696" y="4370832"/>
            <a:ext cx="4937760" cy="274320"/>
          </a:xfrm>
          <a:prstGeom prst="rect">
            <a:avLst/>
          </a:prstGeom>
          <a:noFill/>
          <a:ln/>
        </p:spPr>
        <p:txBody>
          <a:bodyPr wrap="square" lIns="0" tIns="0" rIns="0" bIns="0" rtlCol="0" anchor="ctr"/>
          <a:lstStyle/>
          <a:p>
            <a:pPr indent="0" marL="0">
              <a:buNone/>
            </a:pPr>
            <a:r>
              <a:rPr lang="en-US" sz="1400" b="1" dirty="0">
                <a:solidFill>
                  <a:srgbClr val="C2A15A"/>
                </a:solidFill>
                <a:latin typeface="Yu Gothic" pitchFamily="34" charset="0"/>
                <a:ea typeface="Yu Gothic" pitchFamily="34" charset="-122"/>
                <a:cs typeface="Yu Gothic" pitchFamily="34" charset="-120"/>
              </a:rPr>
              <a:t>レジデンス向けオプション</a:t>
            </a:r>
            <a:endParaRPr lang="en-US" sz="1400" dirty="0"/>
          </a:p>
        </p:txBody>
      </p:sp>
      <p:sp>
        <p:nvSpPr>
          <p:cNvPr id="38" name="Text 36"/>
          <p:cNvSpPr/>
          <p:nvPr/>
        </p:nvSpPr>
        <p:spPr>
          <a:xfrm>
            <a:off x="6711696" y="4681728"/>
            <a:ext cx="4974336" cy="91440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20" dirty="0">
                <a:solidFill>
                  <a:srgbClr val="E8DDE1"/>
                </a:solidFill>
                <a:latin typeface="Yu Gothic" pitchFamily="34" charset="0"/>
                <a:ea typeface="Yu Gothic" pitchFamily="34" charset="-122"/>
                <a:cs typeface="Yu Gothic" pitchFamily="34" charset="-120"/>
              </a:rPr>
              <a:t>居住者は100本まで保管料無料枠を付帯（101本目以降 月100円／本）</a:t>
            </a:r>
            <a:endParaRPr lang="en-US" sz="1020" dirty="0"/>
          </a:p>
          <a:p>
            <a:pPr marL="342900" indent="-342900">
              <a:lnSpc>
                <a:spcPts val="1400"/>
              </a:lnSpc>
              <a:spcAft>
                <a:spcPts val="300"/>
              </a:spcAft>
              <a:buSzPct val="100000"/>
              <a:buChar char="▪"/>
            </a:pPr>
            <a:r>
              <a:rPr lang="en-US" sz="1020" dirty="0">
                <a:solidFill>
                  <a:srgbClr val="E8DDE1"/>
                </a:solidFill>
                <a:latin typeface="Yu Gothic" pitchFamily="34" charset="0"/>
                <a:ea typeface="Yu Gothic" pitchFamily="34" charset="-122"/>
                <a:cs typeface="Yu Gothic" pitchFamily="34" charset="-120"/>
              </a:rPr>
              <a:t>住宅棟共用部に「プライベートセラー」を設置し、館内で受渡し</a:t>
            </a:r>
            <a:endParaRPr lang="en-US" sz="1020" dirty="0"/>
          </a:p>
          <a:p>
            <a:pPr marL="342900" indent="-342900">
              <a:lnSpc>
                <a:spcPts val="1400"/>
              </a:lnSpc>
              <a:spcAft>
                <a:spcPts val="300"/>
              </a:spcAft>
              <a:buSzPct val="100000"/>
              <a:buChar char="▪"/>
            </a:pPr>
            <a:r>
              <a:rPr lang="en-US" sz="1020" dirty="0">
                <a:solidFill>
                  <a:srgbClr val="E8DDE1"/>
                </a:solidFill>
                <a:latin typeface="Yu Gothic" pitchFamily="34" charset="0"/>
                <a:ea typeface="Yu Gothic" pitchFamily="34" charset="-122"/>
                <a:cs typeface="Yu Gothic" pitchFamily="34" charset="-120"/>
              </a:rPr>
              <a:t>ご入居・ご退去時の一括引取／一括納品にも対応</a:t>
            </a:r>
            <a:endParaRPr lang="en-US" sz="10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VALUE FOR MORI BUILDING</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森ビル様にとっての価値</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単発のテナント誘致ではなく、街区の「体験の質」と「収益源」を同時に増やすご提案です。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11</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28800"/>
            <a:ext cx="5373472" cy="1792224"/>
          </a:xfrm>
          <a:prstGeom prst="roundRect">
            <a:avLst>
              <a:gd name="adj" fmla="val 459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59536" y="2029968"/>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資産価値・NOI</a:t>
            </a:r>
            <a:endParaRPr lang="en-US" sz="1600" dirty="0"/>
          </a:p>
        </p:txBody>
      </p:sp>
      <p:sp>
        <p:nvSpPr>
          <p:cNvPr id="10" name="Text 8"/>
          <p:cNvSpPr/>
          <p:nvPr/>
        </p:nvSpPr>
        <p:spPr>
          <a:xfrm>
            <a:off x="859536" y="2395728"/>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他にない体験を持つ商業区画は、誘致力と賃料交渉力を高めます。セラー区画は出店者メリットが大きく、賃料・保証金の引上げ余地が生まれます。</a:t>
            </a:r>
            <a:endParaRPr lang="en-US" sz="1080" dirty="0"/>
          </a:p>
        </p:txBody>
      </p:sp>
      <p:sp>
        <p:nvSpPr>
          <p:cNvPr id="11" name="Text 9"/>
          <p:cNvSpPr/>
          <p:nvPr/>
        </p:nvSpPr>
        <p:spPr>
          <a:xfrm>
            <a:off x="859536" y="3200400"/>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主要KPI：商業区画の賃料単価／稼働率</a:t>
            </a:r>
            <a:endParaRPr lang="en-US" sz="980" dirty="0"/>
          </a:p>
        </p:txBody>
      </p:sp>
      <p:sp>
        <p:nvSpPr>
          <p:cNvPr id="12" name="Shape 10"/>
          <p:cNvSpPr/>
          <p:nvPr/>
        </p:nvSpPr>
        <p:spPr>
          <a:xfrm>
            <a:off x="6251296" y="1828800"/>
            <a:ext cx="5373472" cy="1792224"/>
          </a:xfrm>
          <a:prstGeom prst="roundRect">
            <a:avLst>
              <a:gd name="adj" fmla="val 459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11"/>
          <p:cNvSpPr/>
          <p:nvPr/>
        </p:nvSpPr>
        <p:spPr>
          <a:xfrm>
            <a:off x="6543904" y="2029968"/>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テナント・居住者満足</a:t>
            </a:r>
            <a:endParaRPr lang="en-US" sz="1600" dirty="0"/>
          </a:p>
        </p:txBody>
      </p:sp>
      <p:sp>
        <p:nvSpPr>
          <p:cNvPr id="14" name="Text 12"/>
          <p:cNvSpPr/>
          <p:nvPr/>
        </p:nvSpPr>
        <p:spPr>
          <a:xfrm>
            <a:off x="6543904" y="2395728"/>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接待コストの実質削減と、居住者の生活の質。数字で語れる福利厚生であり、更新・定着の理由になります。</a:t>
            </a:r>
            <a:endParaRPr lang="en-US" sz="1080" dirty="0"/>
          </a:p>
        </p:txBody>
      </p:sp>
      <p:sp>
        <p:nvSpPr>
          <p:cNvPr id="15" name="Text 13"/>
          <p:cNvSpPr/>
          <p:nvPr/>
        </p:nvSpPr>
        <p:spPr>
          <a:xfrm>
            <a:off x="6543904" y="3200400"/>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主要KPI：会員加入率／契約更新率</a:t>
            </a:r>
            <a:endParaRPr lang="en-US" sz="980" dirty="0"/>
          </a:p>
        </p:txBody>
      </p:sp>
      <p:sp>
        <p:nvSpPr>
          <p:cNvPr id="16" name="Shape 14"/>
          <p:cNvSpPr/>
          <p:nvPr/>
        </p:nvSpPr>
        <p:spPr>
          <a:xfrm>
            <a:off x="566928" y="3877056"/>
            <a:ext cx="5373472" cy="1792224"/>
          </a:xfrm>
          <a:prstGeom prst="roundRect">
            <a:avLst>
              <a:gd name="adj" fmla="val 4592"/>
            </a:avLst>
          </a:prstGeom>
          <a:solidFill>
            <a:srgbClr val="FFFFFF"/>
          </a:solidFill>
          <a:ln w="12700">
            <a:solidFill>
              <a:srgbClr val="EAE4E6"/>
            </a:solidFill>
            <a:prstDash val="solid"/>
          </a:ln>
        </p:spPr>
      </p:sp>
      <p:sp>
        <p:nvSpPr>
          <p:cNvPr id="17" name="Text 15"/>
          <p:cNvSpPr/>
          <p:nvPr/>
        </p:nvSpPr>
        <p:spPr>
          <a:xfrm>
            <a:off x="859536" y="4078224"/>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街のブランドと話題性</a:t>
            </a:r>
            <a:endParaRPr lang="en-US" sz="1600" dirty="0"/>
          </a:p>
        </p:txBody>
      </p:sp>
      <p:sp>
        <p:nvSpPr>
          <p:cNvPr id="18" name="Text 16"/>
          <p:cNvSpPr/>
          <p:nvPr/>
        </p:nvSpPr>
        <p:spPr>
          <a:xfrm>
            <a:off x="859536" y="4443984"/>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数千本のウォークインセラーとミシュランシェフ。国内外のメディア露出と、海外富裕層の来街動機をつくります。</a:t>
            </a:r>
            <a:endParaRPr lang="en-US" sz="1080" dirty="0"/>
          </a:p>
        </p:txBody>
      </p:sp>
      <p:sp>
        <p:nvSpPr>
          <p:cNvPr id="19" name="Text 17"/>
          <p:cNvSpPr/>
          <p:nvPr/>
        </p:nvSpPr>
        <p:spPr>
          <a:xfrm>
            <a:off x="859536" y="5248656"/>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主要KPI：メディア露出／来館者数</a:t>
            </a:r>
            <a:endParaRPr lang="en-US" sz="980" dirty="0"/>
          </a:p>
        </p:txBody>
      </p:sp>
      <p:sp>
        <p:nvSpPr>
          <p:cNvPr id="20" name="Shape 18"/>
          <p:cNvSpPr/>
          <p:nvPr/>
        </p:nvSpPr>
        <p:spPr>
          <a:xfrm>
            <a:off x="6251296" y="3877056"/>
            <a:ext cx="5373472" cy="1792224"/>
          </a:xfrm>
          <a:prstGeom prst="roundRect">
            <a:avLst>
              <a:gd name="adj" fmla="val 4592"/>
            </a:avLst>
          </a:prstGeom>
          <a:solidFill>
            <a:srgbClr val="FFFFFF"/>
          </a:solidFill>
          <a:ln w="12700">
            <a:solidFill>
              <a:srgbClr val="EAE4E6"/>
            </a:solidFill>
            <a:prstDash val="solid"/>
          </a:ln>
        </p:spPr>
      </p:sp>
      <p:sp>
        <p:nvSpPr>
          <p:cNvPr id="21" name="Text 19"/>
          <p:cNvSpPr/>
          <p:nvPr/>
        </p:nvSpPr>
        <p:spPr>
          <a:xfrm>
            <a:off x="6543904" y="4078224"/>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新規収益</a:t>
            </a:r>
            <a:endParaRPr lang="en-US" sz="1600" dirty="0"/>
          </a:p>
        </p:txBody>
      </p:sp>
      <p:sp>
        <p:nvSpPr>
          <p:cNvPr id="22" name="Text 20"/>
          <p:cNvSpPr/>
          <p:nvPr/>
        </p:nvSpPr>
        <p:spPr>
          <a:xfrm>
            <a:off x="6543904" y="4443984"/>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会費・売上のレベニューシェア、賃料＋歩合、送客手数料。森ビル様の追加投資を伴わない収益源です。</a:t>
            </a:r>
            <a:endParaRPr lang="en-US" sz="1080" dirty="0"/>
          </a:p>
        </p:txBody>
      </p:sp>
      <p:sp>
        <p:nvSpPr>
          <p:cNvPr id="23" name="Text 21"/>
          <p:cNvSpPr/>
          <p:nvPr/>
        </p:nvSpPr>
        <p:spPr>
          <a:xfrm>
            <a:off x="6543904" y="5248656"/>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主要KPI：レベニューシェア収入</a:t>
            </a:r>
            <a:endParaRPr lang="en-US" sz="980" dirty="0"/>
          </a:p>
        </p:txBody>
      </p:sp>
      <p:sp>
        <p:nvSpPr>
          <p:cNvPr id="24" name="Shape 22"/>
          <p:cNvSpPr/>
          <p:nvPr/>
        </p:nvSpPr>
        <p:spPr>
          <a:xfrm>
            <a:off x="566928" y="5650992"/>
            <a:ext cx="11057839" cy="0"/>
          </a:xfrm>
          <a:prstGeom prst="roundRect">
            <a:avLst>
              <a:gd name="adj" fmla="val Infinity"/>
            </a:avLst>
          </a:prstGeom>
          <a:solidFill>
            <a:srgbClr val="FFFFFF"/>
          </a:solidFill>
          <a:ln w="12700">
            <a:solidFill>
              <a:srgbClr val="FFFFFF"/>
            </a:solidFill>
            <a:prstDash val="solid"/>
          </a:ln>
        </p:spPr>
      </p:sp>
      <p:sp>
        <p:nvSpPr>
          <p:cNvPr id="25" name="Text 23"/>
          <p:cNvSpPr/>
          <p:nvPr/>
        </p:nvSpPr>
        <p:spPr>
          <a:xfrm>
            <a:off x="566928" y="5687568"/>
            <a:ext cx="10972800" cy="274320"/>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森ビル様に新たな設備投資・人員配置をお願いしない設計を基本とし、当社が運営・与信・在庫リスクを負担いたします。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SCHEME</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提携スキームと収益設計（たたき台）</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プログラムごとに役割と分配を切り分け、導入しやすいものから順に着手できる構成としています。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12</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92224"/>
          <a:ext cx="11057839" cy="914400"/>
        </p:xfrm>
        <a:graphic>
          <a:graphicData uri="http://schemas.openxmlformats.org/drawingml/2006/table">
            <a:tbl>
              <a:tblPr/>
              <a:tblGrid>
                <a:gridCol w="2212848"/>
                <a:gridCol w="1920240"/>
                <a:gridCol w="2395728"/>
                <a:gridCol w="2395728"/>
                <a:gridCol w="2130552"/>
              </a:tblGrid>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プログラム</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収益源</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森ビル様の関与</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当社の関与</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分配イメージ</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01 WineBank CLUB</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年会費・購入手数料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テナント・居住者への告知</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会員運用・請求・特典提供</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会費のレベニューシェア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02 レジデンス購買連携</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ワイン販売</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コンシェルジュ導線への組込み</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商品調達・与信・配送・CS</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売上に対する送客手数料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03 WineGO デリバリー</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ワイン販売・配送料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ターミナル区画（2〜5坪）</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在庫・配送員・システム一式</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区画賃料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04 クラウドワインセラー</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飲食売上・卸売上</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商業区画の割当</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セラー投資・運営・出店者募集</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05 ティエリー・マルクス業態</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飲食売上</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商業区画の割当・共同PR</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シェフ招聘・店舗運営一切</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06 ワイン預りサービス</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保管料・売却手数料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居住者への案内・受渡し協力</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引取・撮影・保管・保険・売却</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保管料のレベニューシェア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bl>
          </a:graphicData>
        </a:graphic>
      </p:graphicFrame>
      <p:sp>
        <p:nvSpPr>
          <p:cNvPr id="9" name="Shape 6"/>
          <p:cNvSpPr/>
          <p:nvPr/>
        </p:nvSpPr>
        <p:spPr>
          <a:xfrm>
            <a:off x="566928" y="1792224"/>
            <a:ext cx="11057839" cy="457200"/>
          </a:xfrm>
          <a:prstGeom prst="rect">
            <a:avLst/>
          </a:prstGeom>
          <a:solidFill>
            <a:srgbClr val="45121F"/>
          </a:solidFill>
          <a:ln w="12700">
            <a:solidFill>
              <a:srgbClr val="333333"/>
            </a:solidFill>
            <a:prstDash val="solid"/>
          </a:ln>
        </p:spPr>
      </p:sp>
      <p:sp>
        <p:nvSpPr>
          <p:cNvPr id="10" name="Text 7"/>
          <p:cNvSpPr/>
          <p:nvPr/>
        </p:nvSpPr>
        <p:spPr>
          <a:xfrm>
            <a:off x="676656" y="1792224"/>
            <a:ext cx="1993392"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プログラム</a:t>
            </a:r>
            <a:endParaRPr lang="en-US" sz="1000" dirty="0"/>
          </a:p>
        </p:txBody>
      </p:sp>
      <p:sp>
        <p:nvSpPr>
          <p:cNvPr id="11" name="Text 8"/>
          <p:cNvSpPr/>
          <p:nvPr/>
        </p:nvSpPr>
        <p:spPr>
          <a:xfrm>
            <a:off x="2889504" y="1792224"/>
            <a:ext cx="1700784"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収益源</a:t>
            </a:r>
            <a:endParaRPr lang="en-US" sz="1000" dirty="0"/>
          </a:p>
        </p:txBody>
      </p:sp>
      <p:sp>
        <p:nvSpPr>
          <p:cNvPr id="12" name="Text 9"/>
          <p:cNvSpPr/>
          <p:nvPr/>
        </p:nvSpPr>
        <p:spPr>
          <a:xfrm>
            <a:off x="4809744" y="1792224"/>
            <a:ext cx="2176272"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森ビル様の関与</a:t>
            </a:r>
            <a:endParaRPr lang="en-US" sz="1000" dirty="0"/>
          </a:p>
        </p:txBody>
      </p:sp>
      <p:sp>
        <p:nvSpPr>
          <p:cNvPr id="13" name="Text 10"/>
          <p:cNvSpPr/>
          <p:nvPr/>
        </p:nvSpPr>
        <p:spPr>
          <a:xfrm>
            <a:off x="7205472" y="1792224"/>
            <a:ext cx="2176272"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当社の関与</a:t>
            </a:r>
            <a:endParaRPr lang="en-US" sz="1000" dirty="0"/>
          </a:p>
        </p:txBody>
      </p:sp>
      <p:sp>
        <p:nvSpPr>
          <p:cNvPr id="14" name="Text 11"/>
          <p:cNvSpPr/>
          <p:nvPr/>
        </p:nvSpPr>
        <p:spPr>
          <a:xfrm>
            <a:off x="9601200" y="1792224"/>
            <a:ext cx="1911096"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分配イメージ</a:t>
            </a:r>
            <a:endParaRPr lang="en-US" sz="1000" dirty="0"/>
          </a:p>
        </p:txBody>
      </p:sp>
      <p:sp>
        <p:nvSpPr>
          <p:cNvPr id="15" name="Text 12"/>
          <p:cNvSpPr/>
          <p:nvPr/>
        </p:nvSpPr>
        <p:spPr>
          <a:xfrm>
            <a:off x="566928" y="5449824"/>
            <a:ext cx="10972800" cy="274320"/>
          </a:xfrm>
          <a:prstGeom prst="rect">
            <a:avLst/>
          </a:prstGeom>
          <a:noFill/>
          <a:ln/>
        </p:spPr>
        <p:txBody>
          <a:bodyPr wrap="square" lIns="0" tIns="0" rIns="0" bIns="0" rtlCol="0" anchor="ctr"/>
          <a:lstStyle/>
          <a:p>
            <a:pPr indent="0" marL="0">
              <a:buNone/>
            </a:pPr>
            <a:r>
              <a:rPr lang="en-US" sz="950" dirty="0">
                <a:solidFill>
                  <a:srgbClr val="9A9498"/>
                </a:solidFill>
                <a:latin typeface="Yu Gothic" pitchFamily="34" charset="0"/>
                <a:ea typeface="Yu Gothic" pitchFamily="34" charset="-122"/>
                <a:cs typeface="Yu Gothic" pitchFamily="34" charset="-120"/>
              </a:rPr>
              <a:t>※ 分配率・賃料条件は個別協議のうえ決定させていただきたく存じます。上表は議論の出発点としての整理です。</a:t>
            </a:r>
            <a:endParaRPr lang="en-US" sz="950" dirty="0"/>
          </a:p>
        </p:txBody>
      </p:sp>
      <p:sp>
        <p:nvSpPr>
          <p:cNvPr id="16" name="Text 13"/>
          <p:cNvSpPr/>
          <p:nvPr/>
        </p:nvSpPr>
        <p:spPr>
          <a:xfrm>
            <a:off x="566928" y="5797296"/>
            <a:ext cx="10972800" cy="310896"/>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段階導入の考え方：まずは①②③（設備投資ほぼ不要・3〜4か月で開始可能） → 効果検証のうえ ④⑤（区画を伴う出店） → ⑥は①と同時に付帯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SIZING</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事業規模イメージ（当社試算）</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森ビル様と共有すべき前提を明示したうえでの試算です。数値は今後のすり合わせで更新させていただきます。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13</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Text 6"/>
          <p:cNvSpPr/>
          <p:nvPr/>
        </p:nvSpPr>
        <p:spPr>
          <a:xfrm>
            <a:off x="566928" y="1828800"/>
            <a:ext cx="3657600"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会員数の想定（名）</a:t>
            </a:r>
            <a:endParaRPr lang="en-US" sz="1300" dirty="0"/>
          </a:p>
        </p:txBody>
      </p:sp>
      <p:graphicFrame>
        <p:nvGraphicFramePr>
          <p:cNvPr id="9" name="Chart 0" descr=""/>
          <p:cNvGraphicFramePr/>
          <p:nvPr/>
        </p:nvGraphicFramePr>
        <p:xfrm>
          <a:off x="475488" y="2139696"/>
          <a:ext cx="3749040" cy="26517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35424" y="1828800"/>
            <a:ext cx="4023360"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年間流通総額の想定（百万円）</a:t>
            </a:r>
            <a:endParaRPr lang="en-US" sz="1300" dirty="0"/>
          </a:p>
        </p:txBody>
      </p:sp>
      <p:graphicFrame>
        <p:nvGraphicFramePr>
          <p:cNvPr id="11" name="Chart 1" descr=""/>
          <p:cNvGraphicFramePr/>
          <p:nvPr/>
        </p:nvGraphicFramePr>
        <p:xfrm>
          <a:off x="4443984" y="2139696"/>
          <a:ext cx="3931920" cy="265176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668512" y="1828800"/>
            <a:ext cx="2956255" cy="3803904"/>
          </a:xfrm>
          <a:prstGeom prst="roundRect">
            <a:avLst>
              <a:gd name="adj" fmla="val 2784"/>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9"/>
          <p:cNvSpPr/>
          <p:nvPr/>
        </p:nvSpPr>
        <p:spPr>
          <a:xfrm>
            <a:off x="8942832" y="2011680"/>
            <a:ext cx="2407615" cy="274320"/>
          </a:xfrm>
          <a:prstGeom prst="rect">
            <a:avLst/>
          </a:prstGeom>
          <a:noFill/>
          <a:ln/>
        </p:spPr>
        <p:txBody>
          <a:bodyPr wrap="square" lIns="0" tIns="0" rIns="0" bIns="0" rtlCol="0" anchor="ctr"/>
          <a:lstStyle/>
          <a:p>
            <a:pPr indent="0" marL="0">
              <a:buNone/>
            </a:pPr>
            <a:r>
              <a:rPr lang="en-US" sz="1400" b="1" dirty="0">
                <a:solidFill>
                  <a:srgbClr val="45121F"/>
                </a:solidFill>
                <a:latin typeface="Yu Gothic" pitchFamily="34" charset="0"/>
                <a:ea typeface="Yu Gothic" pitchFamily="34" charset="-122"/>
                <a:cs typeface="Yu Gothic" pitchFamily="34" charset="-120"/>
              </a:rPr>
              <a:t>試算の前提</a:t>
            </a:r>
            <a:endParaRPr lang="en-US" sz="1400" dirty="0"/>
          </a:p>
        </p:txBody>
      </p:sp>
      <p:sp>
        <p:nvSpPr>
          <p:cNvPr id="14" name="Text 10"/>
          <p:cNvSpPr/>
          <p:nvPr/>
        </p:nvSpPr>
        <p:spPr>
          <a:xfrm>
            <a:off x="8942832" y="2359152"/>
            <a:ext cx="2407615" cy="3017520"/>
          </a:xfrm>
          <a:prstGeom prst="rect">
            <a:avLst/>
          </a:prstGeom>
          <a:noFill/>
          <a:ln/>
        </p:spPr>
        <p:txBody>
          <a:bodyPr wrap="square" lIns="0" tIns="0" rIns="0" bIns="0" rtlCol="0" anchor="ctr"/>
          <a:lstStyle/>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対象母集団：主要ヒルズのオフィスワーカーおよびレジデンス居住者（規模は森ビル様公表値をもとに要確認）</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会員転換率：Y1 0.2% → Y3 0.8% 程度を想定</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会員ARPU：年35万円（年会費＋ワイン購入＋配送）</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クラウドワインセラー：Y2開業、年商4.0〜4.5億円</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レストラン業態：Y3開業、年商6.0億円</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森ビル様配分：流通総額の概ね10%前後を想定（賃料・歩合・RS合算）</a:t>
            </a:r>
            <a:endParaRPr lang="en-US" sz="980" dirty="0"/>
          </a:p>
        </p:txBody>
      </p:sp>
      <p:sp>
        <p:nvSpPr>
          <p:cNvPr id="15" name="Shape 11"/>
          <p:cNvSpPr/>
          <p:nvPr/>
        </p:nvSpPr>
        <p:spPr>
          <a:xfrm>
            <a:off x="512064" y="4974336"/>
            <a:ext cx="2474976" cy="731520"/>
          </a:xfrm>
          <a:prstGeom prst="roundRect">
            <a:avLst>
              <a:gd name="adj" fmla="val 11250"/>
            </a:avLst>
          </a:prstGeom>
          <a:solidFill>
            <a:srgbClr val="45121F"/>
          </a:solidFill>
          <a:ln w="12700">
            <a:solidFill>
              <a:srgbClr val="45121F"/>
            </a:solidFill>
            <a:prstDash val="solid"/>
          </a:ln>
        </p:spPr>
      </p:sp>
      <p:sp>
        <p:nvSpPr>
          <p:cNvPr id="16" name="Text 12"/>
          <p:cNvSpPr/>
          <p:nvPr/>
        </p:nvSpPr>
        <p:spPr>
          <a:xfrm>
            <a:off x="713232" y="5047488"/>
            <a:ext cx="2072640" cy="329184"/>
          </a:xfrm>
          <a:prstGeom prst="rect">
            <a:avLst/>
          </a:prstGeom>
          <a:noFill/>
          <a:ln/>
        </p:spPr>
        <p:txBody>
          <a:bodyPr wrap="square" lIns="0" tIns="0" rIns="0" bIns="0" rtlCol="0" anchor="ctr"/>
          <a:lstStyle/>
          <a:p>
            <a:pPr indent="0" marL="0">
              <a:buNone/>
            </a:pPr>
            <a:r>
              <a:rPr lang="en-US" sz="1700" b="1" dirty="0">
                <a:solidFill>
                  <a:srgbClr val="C2A15A"/>
                </a:solidFill>
                <a:latin typeface="Yu Gothic" pitchFamily="34" charset="0"/>
                <a:ea typeface="Yu Gothic" pitchFamily="34" charset="-122"/>
                <a:cs typeface="Yu Gothic" pitchFamily="34" charset="-120"/>
              </a:rPr>
              <a:t>1,000名</a:t>
            </a:r>
            <a:endParaRPr lang="en-US" sz="1700" dirty="0"/>
          </a:p>
        </p:txBody>
      </p:sp>
      <p:sp>
        <p:nvSpPr>
          <p:cNvPr id="17" name="Text 13"/>
          <p:cNvSpPr/>
          <p:nvPr/>
        </p:nvSpPr>
        <p:spPr>
          <a:xfrm>
            <a:off x="713232" y="5394960"/>
            <a:ext cx="2072640" cy="237744"/>
          </a:xfrm>
          <a:prstGeom prst="rect">
            <a:avLst/>
          </a:prstGeom>
          <a:noFill/>
          <a:ln/>
        </p:spPr>
        <p:txBody>
          <a:bodyPr wrap="square" lIns="0" tIns="0" rIns="0" bIns="0" rtlCol="0" anchor="ctr"/>
          <a:lstStyle/>
          <a:p>
            <a:pPr indent="0" marL="0">
              <a:buNone/>
            </a:pPr>
            <a:r>
              <a:rPr lang="en-US" sz="880" dirty="0">
                <a:solidFill>
                  <a:srgbClr val="CBBAC1"/>
                </a:solidFill>
                <a:latin typeface="Yu Gothic" pitchFamily="34" charset="0"/>
                <a:ea typeface="Yu Gothic" pitchFamily="34" charset="-122"/>
                <a:cs typeface="Yu Gothic" pitchFamily="34" charset="-120"/>
              </a:rPr>
              <a:t>Year 3 会員数</a:t>
            </a:r>
            <a:endParaRPr lang="en-US" sz="880" dirty="0"/>
          </a:p>
        </p:txBody>
      </p:sp>
      <p:sp>
        <p:nvSpPr>
          <p:cNvPr id="18" name="Shape 14"/>
          <p:cNvSpPr/>
          <p:nvPr/>
        </p:nvSpPr>
        <p:spPr>
          <a:xfrm>
            <a:off x="3206496" y="4974336"/>
            <a:ext cx="2474976" cy="731520"/>
          </a:xfrm>
          <a:prstGeom prst="roundRect">
            <a:avLst>
              <a:gd name="adj" fmla="val 11250"/>
            </a:avLst>
          </a:prstGeom>
          <a:solidFill>
            <a:srgbClr val="45121F"/>
          </a:solidFill>
          <a:ln w="12700">
            <a:solidFill>
              <a:srgbClr val="45121F"/>
            </a:solidFill>
            <a:prstDash val="solid"/>
          </a:ln>
        </p:spPr>
      </p:sp>
      <p:sp>
        <p:nvSpPr>
          <p:cNvPr id="19" name="Text 15"/>
          <p:cNvSpPr/>
          <p:nvPr/>
        </p:nvSpPr>
        <p:spPr>
          <a:xfrm>
            <a:off x="3407664" y="5047488"/>
            <a:ext cx="2072640" cy="329184"/>
          </a:xfrm>
          <a:prstGeom prst="rect">
            <a:avLst/>
          </a:prstGeom>
          <a:noFill/>
          <a:ln/>
        </p:spPr>
        <p:txBody>
          <a:bodyPr wrap="square" lIns="0" tIns="0" rIns="0" bIns="0" rtlCol="0" anchor="ctr"/>
          <a:lstStyle/>
          <a:p>
            <a:pPr indent="0" marL="0">
              <a:buNone/>
            </a:pPr>
            <a:r>
              <a:rPr lang="en-US" sz="1700" b="1" dirty="0">
                <a:solidFill>
                  <a:srgbClr val="C2A15A"/>
                </a:solidFill>
                <a:latin typeface="Yu Gothic" pitchFamily="34" charset="0"/>
                <a:ea typeface="Yu Gothic" pitchFamily="34" charset="-122"/>
                <a:cs typeface="Yu Gothic" pitchFamily="34" charset="-120"/>
              </a:rPr>
              <a:t>14.0億円</a:t>
            </a:r>
            <a:endParaRPr lang="en-US" sz="1700" dirty="0"/>
          </a:p>
        </p:txBody>
      </p:sp>
      <p:sp>
        <p:nvSpPr>
          <p:cNvPr id="20" name="Text 16"/>
          <p:cNvSpPr/>
          <p:nvPr/>
        </p:nvSpPr>
        <p:spPr>
          <a:xfrm>
            <a:off x="3407664" y="5394960"/>
            <a:ext cx="2072640" cy="237744"/>
          </a:xfrm>
          <a:prstGeom prst="rect">
            <a:avLst/>
          </a:prstGeom>
          <a:noFill/>
          <a:ln/>
        </p:spPr>
        <p:txBody>
          <a:bodyPr wrap="square" lIns="0" tIns="0" rIns="0" bIns="0" rtlCol="0" anchor="ctr"/>
          <a:lstStyle/>
          <a:p>
            <a:pPr indent="0" marL="0">
              <a:buNone/>
            </a:pPr>
            <a:r>
              <a:rPr lang="en-US" sz="880" dirty="0">
                <a:solidFill>
                  <a:srgbClr val="CBBAC1"/>
                </a:solidFill>
                <a:latin typeface="Yu Gothic" pitchFamily="34" charset="0"/>
                <a:ea typeface="Yu Gothic" pitchFamily="34" charset="-122"/>
                <a:cs typeface="Yu Gothic" pitchFamily="34" charset="-120"/>
              </a:rPr>
              <a:t>Year 3 年間流通総額</a:t>
            </a:r>
            <a:endParaRPr lang="en-US" sz="880" dirty="0"/>
          </a:p>
        </p:txBody>
      </p:sp>
      <p:sp>
        <p:nvSpPr>
          <p:cNvPr id="21" name="Shape 17"/>
          <p:cNvSpPr/>
          <p:nvPr/>
        </p:nvSpPr>
        <p:spPr>
          <a:xfrm>
            <a:off x="5900928" y="4974336"/>
            <a:ext cx="2474976" cy="731520"/>
          </a:xfrm>
          <a:prstGeom prst="roundRect">
            <a:avLst>
              <a:gd name="adj" fmla="val 11250"/>
            </a:avLst>
          </a:prstGeom>
          <a:solidFill>
            <a:srgbClr val="45121F"/>
          </a:solidFill>
          <a:ln w="12700">
            <a:solidFill>
              <a:srgbClr val="45121F"/>
            </a:solidFill>
            <a:prstDash val="solid"/>
          </a:ln>
        </p:spPr>
      </p:sp>
      <p:sp>
        <p:nvSpPr>
          <p:cNvPr id="22" name="Text 18"/>
          <p:cNvSpPr/>
          <p:nvPr/>
        </p:nvSpPr>
        <p:spPr>
          <a:xfrm>
            <a:off x="6102096" y="5047488"/>
            <a:ext cx="2072640" cy="329184"/>
          </a:xfrm>
          <a:prstGeom prst="rect">
            <a:avLst/>
          </a:prstGeom>
          <a:noFill/>
          <a:ln/>
        </p:spPr>
        <p:txBody>
          <a:bodyPr wrap="square" lIns="0" tIns="0" rIns="0" bIns="0" rtlCol="0" anchor="ctr"/>
          <a:lstStyle/>
          <a:p>
            <a:pPr indent="0" marL="0">
              <a:buNone/>
            </a:pPr>
            <a:r>
              <a:rPr lang="en-US" sz="1700" b="1" dirty="0">
                <a:solidFill>
                  <a:srgbClr val="C2A15A"/>
                </a:solidFill>
                <a:latin typeface="Yu Gothic" pitchFamily="34" charset="0"/>
                <a:ea typeface="Yu Gothic" pitchFamily="34" charset="-122"/>
                <a:cs typeface="Yu Gothic" pitchFamily="34" charset="-120"/>
              </a:rPr>
              <a:t>約1.4億円</a:t>
            </a:r>
            <a:endParaRPr lang="en-US" sz="1700" dirty="0"/>
          </a:p>
        </p:txBody>
      </p:sp>
      <p:sp>
        <p:nvSpPr>
          <p:cNvPr id="23" name="Text 19"/>
          <p:cNvSpPr/>
          <p:nvPr/>
        </p:nvSpPr>
        <p:spPr>
          <a:xfrm>
            <a:off x="6102096" y="5394960"/>
            <a:ext cx="2072640" cy="237744"/>
          </a:xfrm>
          <a:prstGeom prst="rect">
            <a:avLst/>
          </a:prstGeom>
          <a:noFill/>
          <a:ln/>
        </p:spPr>
        <p:txBody>
          <a:bodyPr wrap="square" lIns="0" tIns="0" rIns="0" bIns="0" rtlCol="0" anchor="ctr"/>
          <a:lstStyle/>
          <a:p>
            <a:pPr indent="0" marL="0">
              <a:buNone/>
            </a:pPr>
            <a:r>
              <a:rPr lang="en-US" sz="880" dirty="0">
                <a:solidFill>
                  <a:srgbClr val="CBBAC1"/>
                </a:solidFill>
                <a:latin typeface="Yu Gothic" pitchFamily="34" charset="0"/>
                <a:ea typeface="Yu Gothic" pitchFamily="34" charset="-122"/>
                <a:cs typeface="Yu Gothic" pitchFamily="34" charset="-120"/>
              </a:rPr>
              <a:t>うち森ビル様配分（イメージ）</a:t>
            </a:r>
            <a:endParaRPr lang="en-US" sz="880" dirty="0"/>
          </a:p>
        </p:txBody>
      </p:sp>
      <p:sp>
        <p:nvSpPr>
          <p:cNvPr id="24" name="Text 20"/>
          <p:cNvSpPr/>
          <p:nvPr/>
        </p:nvSpPr>
        <p:spPr>
          <a:xfrm>
            <a:off x="566928" y="5888736"/>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 上記は当社による試算であり、確定的な見通しではありません。母集団・転換率は森ビル様のデータをいただいたうえで精緻化させていただきます。</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ROADMAP</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導入ロードマップ</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設備投資を伴わないプログラムから開始し、効果を確認しながら区画を伴う出店へ進みます。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14</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2011680"/>
            <a:ext cx="2558720" cy="3017520"/>
          </a:xfrm>
          <a:prstGeom prst="roundRect">
            <a:avLst>
              <a:gd name="adj" fmla="val 3216"/>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41248"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0</a:t>
            </a:r>
            <a:endParaRPr lang="en-US" sz="1100" dirty="0"/>
          </a:p>
        </p:txBody>
      </p:sp>
      <p:sp>
        <p:nvSpPr>
          <p:cNvPr id="10" name="Text 8"/>
          <p:cNvSpPr/>
          <p:nvPr/>
        </p:nvSpPr>
        <p:spPr>
          <a:xfrm>
            <a:off x="841248" y="2523744"/>
            <a:ext cx="2010080" cy="475488"/>
          </a:xfrm>
          <a:prstGeom prst="rect">
            <a:avLst/>
          </a:prstGeom>
          <a:noFill/>
          <a:ln/>
        </p:spPr>
        <p:txBody>
          <a:bodyPr wrap="square" lIns="0" tIns="0" rIns="0" bIns="0" rtlCol="0" anchor="ctr"/>
          <a:lstStyle/>
          <a:p>
            <a:pPr indent="0" marL="0">
              <a:buNone/>
            </a:pPr>
            <a:r>
              <a:rPr lang="en-US" sz="1700" b="1" dirty="0">
                <a:solidFill>
                  <a:srgbClr val="45121F"/>
                </a:solidFill>
                <a:latin typeface="Yu Gothic" pitchFamily="34" charset="0"/>
                <a:ea typeface="Yu Gothic" pitchFamily="34" charset="-122"/>
                <a:cs typeface="Yu Gothic" pitchFamily="34" charset="-120"/>
              </a:rPr>
              <a:t>実証</a:t>
            </a:r>
            <a:endParaRPr lang="en-US" sz="1700" dirty="0"/>
          </a:p>
        </p:txBody>
      </p:sp>
      <p:sp>
        <p:nvSpPr>
          <p:cNvPr id="11" name="Text 9"/>
          <p:cNvSpPr/>
          <p:nvPr/>
        </p:nvSpPr>
        <p:spPr>
          <a:xfrm>
            <a:off x="841248"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1棟でのPoC実施</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WineBank CLUB ヒルズ枠の限定募集</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WineGO 館内配送テスト</a:t>
            </a:r>
            <a:endParaRPr lang="en-US" sz="1050" dirty="0"/>
          </a:p>
        </p:txBody>
      </p:sp>
      <p:sp>
        <p:nvSpPr>
          <p:cNvPr id="12" name="Shape 10"/>
          <p:cNvSpPr/>
          <p:nvPr/>
        </p:nvSpPr>
        <p:spPr>
          <a:xfrm>
            <a:off x="3399968" y="2011680"/>
            <a:ext cx="2558720" cy="3017520"/>
          </a:xfrm>
          <a:prstGeom prst="roundRect">
            <a:avLst>
              <a:gd name="adj" fmla="val 3216"/>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11"/>
          <p:cNvSpPr/>
          <p:nvPr/>
        </p:nvSpPr>
        <p:spPr>
          <a:xfrm>
            <a:off x="3674288"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1</a:t>
            </a:r>
            <a:endParaRPr lang="en-US" sz="1100" dirty="0"/>
          </a:p>
        </p:txBody>
      </p:sp>
      <p:sp>
        <p:nvSpPr>
          <p:cNvPr id="14" name="Text 12"/>
          <p:cNvSpPr/>
          <p:nvPr/>
        </p:nvSpPr>
        <p:spPr>
          <a:xfrm>
            <a:off x="3674288" y="2523744"/>
            <a:ext cx="2010080" cy="475488"/>
          </a:xfrm>
          <a:prstGeom prst="rect">
            <a:avLst/>
          </a:prstGeom>
          <a:noFill/>
          <a:ln/>
        </p:spPr>
        <p:txBody>
          <a:bodyPr wrap="square" lIns="0" tIns="0" rIns="0" bIns="0" rtlCol="0" anchor="ctr"/>
          <a:lstStyle/>
          <a:p>
            <a:pPr indent="0" marL="0">
              <a:buNone/>
            </a:pPr>
            <a:r>
              <a:rPr lang="en-US" sz="1700" b="1" dirty="0">
                <a:solidFill>
                  <a:srgbClr val="45121F"/>
                </a:solidFill>
                <a:latin typeface="Yu Gothic" pitchFamily="34" charset="0"/>
                <a:ea typeface="Yu Gothic" pitchFamily="34" charset="-122"/>
                <a:cs typeface="Yu Gothic" pitchFamily="34" charset="-120"/>
              </a:rPr>
              <a:t>本格展開</a:t>
            </a:r>
            <a:endParaRPr lang="en-US" sz="1700" dirty="0"/>
          </a:p>
        </p:txBody>
      </p:sp>
      <p:sp>
        <p:nvSpPr>
          <p:cNvPr id="15" name="Text 13"/>
          <p:cNvSpPr/>
          <p:nvPr/>
        </p:nvSpPr>
        <p:spPr>
          <a:xfrm>
            <a:off x="3674288"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主要ヒルズへCLUB展開</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レジデンス購買連携の導線実装</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ワイン預りサービス付帯開始</a:t>
            </a:r>
            <a:endParaRPr lang="en-US" sz="1050" dirty="0"/>
          </a:p>
        </p:txBody>
      </p:sp>
      <p:sp>
        <p:nvSpPr>
          <p:cNvPr id="16" name="Shape 14"/>
          <p:cNvSpPr/>
          <p:nvPr/>
        </p:nvSpPr>
        <p:spPr>
          <a:xfrm>
            <a:off x="6233008" y="2011680"/>
            <a:ext cx="2558720" cy="3017520"/>
          </a:xfrm>
          <a:prstGeom prst="roundRect">
            <a:avLst>
              <a:gd name="adj" fmla="val 3216"/>
            </a:avLst>
          </a:prstGeom>
          <a:solidFill>
            <a:srgbClr val="45121F"/>
          </a:solidFill>
          <a:ln w="12700">
            <a:solidFill>
              <a:srgbClr val="45121F"/>
            </a:solidFill>
            <a:prstDash val="solid"/>
          </a:ln>
        </p:spPr>
      </p:sp>
      <p:sp>
        <p:nvSpPr>
          <p:cNvPr id="17" name="Text 15"/>
          <p:cNvSpPr/>
          <p:nvPr/>
        </p:nvSpPr>
        <p:spPr>
          <a:xfrm>
            <a:off x="6507328"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2</a:t>
            </a:r>
            <a:endParaRPr lang="en-US" sz="1100" dirty="0"/>
          </a:p>
        </p:txBody>
      </p:sp>
      <p:sp>
        <p:nvSpPr>
          <p:cNvPr id="18" name="Text 16"/>
          <p:cNvSpPr/>
          <p:nvPr/>
        </p:nvSpPr>
        <p:spPr>
          <a:xfrm>
            <a:off x="6507328" y="2523744"/>
            <a:ext cx="2010080" cy="475488"/>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区画出店</a:t>
            </a:r>
            <a:endParaRPr lang="en-US" sz="1700" dirty="0"/>
          </a:p>
        </p:txBody>
      </p:sp>
      <p:sp>
        <p:nvSpPr>
          <p:cNvPr id="19" name="Text 17"/>
          <p:cNvSpPr/>
          <p:nvPr/>
        </p:nvSpPr>
        <p:spPr>
          <a:xfrm>
            <a:off x="6507328"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クラウドワインセラー区画の設計・工事</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出店者募集とセラー在庫の構築</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施設内テナントへの卸売開始</a:t>
            </a:r>
            <a:endParaRPr lang="en-US" sz="1050" dirty="0"/>
          </a:p>
        </p:txBody>
      </p:sp>
      <p:sp>
        <p:nvSpPr>
          <p:cNvPr id="20" name="Shape 18"/>
          <p:cNvSpPr/>
          <p:nvPr/>
        </p:nvSpPr>
        <p:spPr>
          <a:xfrm>
            <a:off x="9066047" y="2011680"/>
            <a:ext cx="2558720" cy="3017520"/>
          </a:xfrm>
          <a:prstGeom prst="roundRect">
            <a:avLst>
              <a:gd name="adj" fmla="val 3216"/>
            </a:avLst>
          </a:prstGeom>
          <a:solidFill>
            <a:srgbClr val="45121F"/>
          </a:solidFill>
          <a:ln w="12700">
            <a:solidFill>
              <a:srgbClr val="45121F"/>
            </a:solidFill>
            <a:prstDash val="solid"/>
          </a:ln>
        </p:spPr>
      </p:sp>
      <p:sp>
        <p:nvSpPr>
          <p:cNvPr id="21" name="Text 19"/>
          <p:cNvSpPr/>
          <p:nvPr/>
        </p:nvSpPr>
        <p:spPr>
          <a:xfrm>
            <a:off x="9340367"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3</a:t>
            </a:r>
            <a:endParaRPr lang="en-US" sz="1100" dirty="0"/>
          </a:p>
        </p:txBody>
      </p:sp>
      <p:sp>
        <p:nvSpPr>
          <p:cNvPr id="22" name="Text 20"/>
          <p:cNvSpPr/>
          <p:nvPr/>
        </p:nvSpPr>
        <p:spPr>
          <a:xfrm>
            <a:off x="9340367" y="2523744"/>
            <a:ext cx="2010080" cy="475488"/>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街区の象徴へ</a:t>
            </a:r>
            <a:endParaRPr lang="en-US" sz="1700" dirty="0"/>
          </a:p>
        </p:txBody>
      </p:sp>
      <p:sp>
        <p:nvSpPr>
          <p:cNvPr id="23" name="Text 21"/>
          <p:cNvSpPr/>
          <p:nvPr/>
        </p:nvSpPr>
        <p:spPr>
          <a:xfrm>
            <a:off x="9340367"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ティエリー・マルクス業態の出店</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他ヒルズ・海外物件への横展開</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国内外富裕層向けプログラム化</a:t>
            </a:r>
            <a:endParaRPr lang="en-US" sz="1050" dirty="0"/>
          </a:p>
        </p:txBody>
      </p:sp>
      <p:sp>
        <p:nvSpPr>
          <p:cNvPr id="24" name="Text 22"/>
          <p:cNvSpPr/>
          <p:nvPr/>
        </p:nvSpPr>
        <p:spPr>
          <a:xfrm>
            <a:off x="566928"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0〜3か月</a:t>
            </a:r>
            <a:endParaRPr lang="en-US" sz="1000" dirty="0"/>
          </a:p>
        </p:txBody>
      </p:sp>
      <p:sp>
        <p:nvSpPr>
          <p:cNvPr id="25" name="Text 23"/>
          <p:cNvSpPr/>
          <p:nvPr/>
        </p:nvSpPr>
        <p:spPr>
          <a:xfrm>
            <a:off x="3399968"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3〜12か月</a:t>
            </a:r>
            <a:endParaRPr lang="en-US" sz="1000" dirty="0"/>
          </a:p>
        </p:txBody>
      </p:sp>
      <p:sp>
        <p:nvSpPr>
          <p:cNvPr id="26" name="Text 24"/>
          <p:cNvSpPr/>
          <p:nvPr/>
        </p:nvSpPr>
        <p:spPr>
          <a:xfrm>
            <a:off x="6233008"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12〜24か月</a:t>
            </a:r>
            <a:endParaRPr lang="en-US" sz="1000" dirty="0"/>
          </a:p>
        </p:txBody>
      </p:sp>
      <p:sp>
        <p:nvSpPr>
          <p:cNvPr id="27" name="Text 25"/>
          <p:cNvSpPr/>
          <p:nvPr/>
        </p:nvSpPr>
        <p:spPr>
          <a:xfrm>
            <a:off x="9066047"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24か月〜</a:t>
            </a:r>
            <a:endParaRPr lang="en-US" sz="1000" dirty="0"/>
          </a:p>
        </p:txBody>
      </p:sp>
      <p:sp>
        <p:nvSpPr>
          <p:cNvPr id="28" name="Text 26"/>
          <p:cNvSpPr/>
          <p:nvPr/>
        </p:nvSpPr>
        <p:spPr>
          <a:xfrm>
            <a:off x="566928" y="5614416"/>
            <a:ext cx="10972800" cy="310896"/>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最短ケースでは、ご合意から約3か月でPHASE 0を開始できます（酒販免許・保管倉庫・配送体制は当社既存アセットを使用するため）。</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FIRST STEP</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まずは1棟で。3か月のPoCをご提案します</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大きな意思決定の前に、小さく確かめる。費用は当社が負担いたします。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15</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28800"/>
            <a:ext cx="3291840" cy="3840480"/>
          </a:xfrm>
          <a:prstGeom prst="roundRect">
            <a:avLst>
              <a:gd name="adj" fmla="val 2500"/>
            </a:avLst>
          </a:prstGeom>
          <a:solidFill>
            <a:srgbClr val="45121F"/>
          </a:solidFill>
          <a:ln w="12700">
            <a:solidFill>
              <a:srgbClr val="45121F"/>
            </a:solidFill>
            <a:prstDash val="solid"/>
          </a:ln>
        </p:spPr>
      </p:sp>
      <p:sp>
        <p:nvSpPr>
          <p:cNvPr id="9" name="Text 7"/>
          <p:cNvSpPr/>
          <p:nvPr/>
        </p:nvSpPr>
        <p:spPr>
          <a:xfrm>
            <a:off x="859536" y="2029968"/>
            <a:ext cx="2743200" cy="274320"/>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PoC の概要</a:t>
            </a:r>
            <a:endParaRPr lang="en-US" sz="1500" dirty="0"/>
          </a:p>
        </p:txBody>
      </p:sp>
      <p:sp>
        <p:nvSpPr>
          <p:cNvPr id="10" name="Text 8"/>
          <p:cNvSpPr/>
          <p:nvPr/>
        </p:nvSpPr>
        <p:spPr>
          <a:xfrm>
            <a:off x="859536" y="2432304"/>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対象</a:t>
            </a:r>
            <a:endParaRPr lang="en-US" sz="1000" dirty="0"/>
          </a:p>
        </p:txBody>
      </p:sp>
      <p:sp>
        <p:nvSpPr>
          <p:cNvPr id="11" name="Text 9"/>
          <p:cNvSpPr/>
          <p:nvPr/>
        </p:nvSpPr>
        <p:spPr>
          <a:xfrm>
            <a:off x="859536" y="2670048"/>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麻布台ヒルズ または 六本木ヒルズ 1棟</a:t>
            </a:r>
            <a:endParaRPr lang="en-US" sz="1150" dirty="0"/>
          </a:p>
        </p:txBody>
      </p:sp>
      <p:sp>
        <p:nvSpPr>
          <p:cNvPr id="12" name="Text 10"/>
          <p:cNvSpPr/>
          <p:nvPr/>
        </p:nvSpPr>
        <p:spPr>
          <a:xfrm>
            <a:off x="859536" y="3218688"/>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期間</a:t>
            </a:r>
            <a:endParaRPr lang="en-US" sz="1000" dirty="0"/>
          </a:p>
        </p:txBody>
      </p:sp>
      <p:sp>
        <p:nvSpPr>
          <p:cNvPr id="13" name="Text 11"/>
          <p:cNvSpPr/>
          <p:nvPr/>
        </p:nvSpPr>
        <p:spPr>
          <a:xfrm>
            <a:off x="859536" y="3456432"/>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3か月</a:t>
            </a:r>
            <a:endParaRPr lang="en-US" sz="1150" dirty="0"/>
          </a:p>
        </p:txBody>
      </p:sp>
      <p:sp>
        <p:nvSpPr>
          <p:cNvPr id="14" name="Text 12"/>
          <p:cNvSpPr/>
          <p:nvPr/>
        </p:nvSpPr>
        <p:spPr>
          <a:xfrm>
            <a:off x="859536" y="4005072"/>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対象者</a:t>
            </a:r>
            <a:endParaRPr lang="en-US" sz="1000" dirty="0"/>
          </a:p>
        </p:txBody>
      </p:sp>
      <p:sp>
        <p:nvSpPr>
          <p:cNvPr id="15" name="Text 13"/>
          <p:cNvSpPr/>
          <p:nvPr/>
        </p:nvSpPr>
        <p:spPr>
          <a:xfrm>
            <a:off x="859536" y="4242816"/>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テナント法人 5〜10社／レジデンス居住者 50世帯程度</a:t>
            </a:r>
            <a:endParaRPr lang="en-US" sz="1150" dirty="0"/>
          </a:p>
        </p:txBody>
      </p:sp>
      <p:sp>
        <p:nvSpPr>
          <p:cNvPr id="16" name="Text 14"/>
          <p:cNvSpPr/>
          <p:nvPr/>
        </p:nvSpPr>
        <p:spPr>
          <a:xfrm>
            <a:off x="859536" y="4791456"/>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費用</a:t>
            </a:r>
            <a:endParaRPr lang="en-US" sz="1000" dirty="0"/>
          </a:p>
        </p:txBody>
      </p:sp>
      <p:sp>
        <p:nvSpPr>
          <p:cNvPr id="17" name="Text 15"/>
          <p:cNvSpPr/>
          <p:nvPr/>
        </p:nvSpPr>
        <p:spPr>
          <a:xfrm>
            <a:off x="859536" y="5029200"/>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当社全額負担（森ビル様のご負担なし）</a:t>
            </a:r>
            <a:endParaRPr lang="en-US" sz="1150" dirty="0"/>
          </a:p>
        </p:txBody>
      </p:sp>
      <p:sp>
        <p:nvSpPr>
          <p:cNvPr id="18" name="Text 16"/>
          <p:cNvSpPr/>
          <p:nvPr/>
        </p:nvSpPr>
        <p:spPr>
          <a:xfrm>
            <a:off x="4187952" y="1828800"/>
            <a:ext cx="4023360" cy="274320"/>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実施内容</a:t>
            </a:r>
            <a:endParaRPr lang="en-US" sz="1500" dirty="0"/>
          </a:p>
        </p:txBody>
      </p:sp>
      <p:sp>
        <p:nvSpPr>
          <p:cNvPr id="19" name="Shape 17"/>
          <p:cNvSpPr/>
          <p:nvPr/>
        </p:nvSpPr>
        <p:spPr>
          <a:xfrm>
            <a:off x="4187952" y="2212848"/>
            <a:ext cx="4023360" cy="1042416"/>
          </a:xfrm>
          <a:prstGeom prst="roundRect">
            <a:avLst>
              <a:gd name="adj" fmla="val 789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0" name="Shape 18"/>
          <p:cNvSpPr/>
          <p:nvPr/>
        </p:nvSpPr>
        <p:spPr>
          <a:xfrm>
            <a:off x="4407408" y="2395728"/>
            <a:ext cx="402336" cy="402336"/>
          </a:xfrm>
          <a:prstGeom prst="ellipse">
            <a:avLst/>
          </a:prstGeom>
          <a:solidFill>
            <a:srgbClr val="FFFFFF"/>
          </a:solidFill>
          <a:ln w="15875">
            <a:solidFill>
              <a:srgbClr val="C2A15A"/>
            </a:solidFill>
            <a:prstDash val="solid"/>
          </a:ln>
        </p:spPr>
      </p:sp>
      <p:sp>
        <p:nvSpPr>
          <p:cNvPr id="21" name="Text 19"/>
          <p:cNvSpPr/>
          <p:nvPr/>
        </p:nvSpPr>
        <p:spPr>
          <a:xfrm>
            <a:off x="4407408" y="2395728"/>
            <a:ext cx="402336" cy="402336"/>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01</a:t>
            </a:r>
            <a:endParaRPr lang="en-US" sz="1100" dirty="0"/>
          </a:p>
        </p:txBody>
      </p:sp>
      <p:sp>
        <p:nvSpPr>
          <p:cNvPr id="22" name="Text 20"/>
          <p:cNvSpPr/>
          <p:nvPr/>
        </p:nvSpPr>
        <p:spPr>
          <a:xfrm>
            <a:off x="4919472" y="2395728"/>
            <a:ext cx="3145536" cy="27432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CLUB ヒルズ枠の限定募集</a:t>
            </a:r>
            <a:endParaRPr lang="en-US" sz="1200" dirty="0"/>
          </a:p>
        </p:txBody>
      </p:sp>
      <p:sp>
        <p:nvSpPr>
          <p:cNvPr id="23" name="Text 21"/>
          <p:cNvSpPr/>
          <p:nvPr/>
        </p:nvSpPr>
        <p:spPr>
          <a:xfrm>
            <a:off x="4498848" y="2724912"/>
            <a:ext cx="3566160" cy="438912"/>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対象者へ会員権を無償付与し、飲食20%OFF・コルケージ無料・配送特典を実利用いただく。</a:t>
            </a:r>
            <a:endParaRPr lang="en-US" sz="960" dirty="0"/>
          </a:p>
        </p:txBody>
      </p:sp>
      <p:sp>
        <p:nvSpPr>
          <p:cNvPr id="24" name="Shape 22"/>
          <p:cNvSpPr/>
          <p:nvPr/>
        </p:nvSpPr>
        <p:spPr>
          <a:xfrm>
            <a:off x="4187952" y="3383280"/>
            <a:ext cx="4023360" cy="1042416"/>
          </a:xfrm>
          <a:prstGeom prst="roundRect">
            <a:avLst>
              <a:gd name="adj" fmla="val 789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5" name="Shape 23"/>
          <p:cNvSpPr/>
          <p:nvPr/>
        </p:nvSpPr>
        <p:spPr>
          <a:xfrm>
            <a:off x="4407408" y="3566160"/>
            <a:ext cx="402336" cy="402336"/>
          </a:xfrm>
          <a:prstGeom prst="ellipse">
            <a:avLst/>
          </a:prstGeom>
          <a:solidFill>
            <a:srgbClr val="FFFFFF"/>
          </a:solidFill>
          <a:ln w="15875">
            <a:solidFill>
              <a:srgbClr val="C2A15A"/>
            </a:solidFill>
            <a:prstDash val="solid"/>
          </a:ln>
        </p:spPr>
      </p:sp>
      <p:sp>
        <p:nvSpPr>
          <p:cNvPr id="26" name="Text 24"/>
          <p:cNvSpPr/>
          <p:nvPr/>
        </p:nvSpPr>
        <p:spPr>
          <a:xfrm>
            <a:off x="4407408" y="3566160"/>
            <a:ext cx="402336" cy="402336"/>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27" name="Text 25"/>
          <p:cNvSpPr/>
          <p:nvPr/>
        </p:nvSpPr>
        <p:spPr>
          <a:xfrm>
            <a:off x="4919472" y="3566160"/>
            <a:ext cx="3145536" cy="27432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館内デリバリーの実証</a:t>
            </a:r>
            <a:endParaRPr lang="en-US" sz="1200" dirty="0"/>
          </a:p>
        </p:txBody>
      </p:sp>
      <p:sp>
        <p:nvSpPr>
          <p:cNvPr id="28" name="Text 26"/>
          <p:cNvSpPr/>
          <p:nvPr/>
        </p:nvSpPr>
        <p:spPr>
          <a:xfrm>
            <a:off x="4498848" y="3895344"/>
            <a:ext cx="3566160" cy="438912"/>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バックヤードに仮設ターミナルを設置し、定温配送のリードタイムと運用負荷を計測。</a:t>
            </a:r>
            <a:endParaRPr lang="en-US" sz="960" dirty="0"/>
          </a:p>
        </p:txBody>
      </p:sp>
      <p:sp>
        <p:nvSpPr>
          <p:cNvPr id="29" name="Shape 27"/>
          <p:cNvSpPr/>
          <p:nvPr/>
        </p:nvSpPr>
        <p:spPr>
          <a:xfrm>
            <a:off x="4187952" y="4553712"/>
            <a:ext cx="4023360" cy="1042416"/>
          </a:xfrm>
          <a:prstGeom prst="roundRect">
            <a:avLst>
              <a:gd name="adj" fmla="val 789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0" name="Shape 28"/>
          <p:cNvSpPr/>
          <p:nvPr/>
        </p:nvSpPr>
        <p:spPr>
          <a:xfrm>
            <a:off x="4407408" y="4736592"/>
            <a:ext cx="402336" cy="402336"/>
          </a:xfrm>
          <a:prstGeom prst="ellipse">
            <a:avLst/>
          </a:prstGeom>
          <a:solidFill>
            <a:srgbClr val="FFFFFF"/>
          </a:solidFill>
          <a:ln w="15875">
            <a:solidFill>
              <a:srgbClr val="C2A15A"/>
            </a:solidFill>
            <a:prstDash val="solid"/>
          </a:ln>
        </p:spPr>
      </p:sp>
      <p:sp>
        <p:nvSpPr>
          <p:cNvPr id="31" name="Text 29"/>
          <p:cNvSpPr/>
          <p:nvPr/>
        </p:nvSpPr>
        <p:spPr>
          <a:xfrm>
            <a:off x="4407408" y="4736592"/>
            <a:ext cx="402336" cy="402336"/>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32" name="Text 30"/>
          <p:cNvSpPr/>
          <p:nvPr/>
        </p:nvSpPr>
        <p:spPr>
          <a:xfrm>
            <a:off x="4919472" y="4736592"/>
            <a:ext cx="3145536" cy="27432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ワイン預りの受付</a:t>
            </a:r>
            <a:endParaRPr lang="en-US" sz="1200" dirty="0"/>
          </a:p>
        </p:txBody>
      </p:sp>
      <p:sp>
        <p:nvSpPr>
          <p:cNvPr id="33" name="Text 31"/>
          <p:cNvSpPr/>
          <p:nvPr/>
        </p:nvSpPr>
        <p:spPr>
          <a:xfrm>
            <a:off x="4498848" y="5065776"/>
            <a:ext cx="3566160" cy="438912"/>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居住者のご自宅ワインをお引き取りし、撮影・登録・時価評価までを実施。</a:t>
            </a:r>
            <a:endParaRPr lang="en-US" sz="960" dirty="0"/>
          </a:p>
        </p:txBody>
      </p:sp>
      <p:sp>
        <p:nvSpPr>
          <p:cNvPr id="34" name="Shape 32"/>
          <p:cNvSpPr/>
          <p:nvPr/>
        </p:nvSpPr>
        <p:spPr>
          <a:xfrm>
            <a:off x="8540496" y="1828800"/>
            <a:ext cx="3084271" cy="1847088"/>
          </a:xfrm>
          <a:prstGeom prst="roundRect">
            <a:avLst>
              <a:gd name="adj" fmla="val 445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5" name="Text 33"/>
          <p:cNvSpPr/>
          <p:nvPr/>
        </p:nvSpPr>
        <p:spPr>
          <a:xfrm>
            <a:off x="8814816" y="1993392"/>
            <a:ext cx="2535631"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成功基準（案）</a:t>
            </a:r>
            <a:endParaRPr lang="en-US" sz="1400" dirty="0"/>
          </a:p>
        </p:txBody>
      </p:sp>
      <p:sp>
        <p:nvSpPr>
          <p:cNvPr id="36" name="Text 34"/>
          <p:cNvSpPr/>
          <p:nvPr/>
        </p:nvSpPr>
        <p:spPr>
          <a:xfrm>
            <a:off x="8814816" y="2322576"/>
            <a:ext cx="2535631" cy="1243584"/>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対象者の会員継続意向 60%以上</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1会員あたり月1回以上の特典利用</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館内配送の平均リードタイム10分以内</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重大な運用インシデント ゼロ</a:t>
            </a:r>
            <a:endParaRPr lang="en-US" sz="1020" dirty="0"/>
          </a:p>
        </p:txBody>
      </p:sp>
      <p:sp>
        <p:nvSpPr>
          <p:cNvPr id="37" name="Shape 35"/>
          <p:cNvSpPr/>
          <p:nvPr/>
        </p:nvSpPr>
        <p:spPr>
          <a:xfrm>
            <a:off x="8540496" y="3822192"/>
            <a:ext cx="3084271" cy="1847088"/>
          </a:xfrm>
          <a:prstGeom prst="roundRect">
            <a:avLst>
              <a:gd name="adj" fmla="val 4455"/>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38" name="Text 36"/>
          <p:cNvSpPr/>
          <p:nvPr/>
        </p:nvSpPr>
        <p:spPr>
          <a:xfrm>
            <a:off x="8814816" y="3986784"/>
            <a:ext cx="2535631"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お願いしたいご協力</a:t>
            </a:r>
            <a:endParaRPr lang="en-US" sz="1400" dirty="0"/>
          </a:p>
        </p:txBody>
      </p:sp>
      <p:sp>
        <p:nvSpPr>
          <p:cNvPr id="39" name="Text 37"/>
          <p:cNvSpPr/>
          <p:nvPr/>
        </p:nvSpPr>
        <p:spPr>
          <a:xfrm>
            <a:off x="8814816" y="4315968"/>
            <a:ext cx="2535631" cy="1243584"/>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対象テナント・居住者へのご案内</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仮設ターミナル用スペース（2〜3坪）</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館内動線・搬入に関する運用ご調整</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実施後の効果検証への同席</a:t>
            </a:r>
            <a:endParaRPr lang="en-US" sz="10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RISK &amp; COMPLIANCE</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品質・リスク管理とコンプライアンス</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高額かつ繊細な商材を街区で扱うにあたり、当社が負う責任と管理体制を明確にしています。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16</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10512"/>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22960" y="1956816"/>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偽造・真贋</a:t>
            </a:r>
            <a:endParaRPr lang="en-US" sz="1300" dirty="0"/>
          </a:p>
        </p:txBody>
      </p:sp>
      <p:sp>
        <p:nvSpPr>
          <p:cNvPr id="10" name="Text 8"/>
          <p:cNvSpPr/>
          <p:nvPr/>
        </p:nvSpPr>
        <p:spPr>
          <a:xfrm>
            <a:off x="2596896" y="1975104"/>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並行品・二次流通品に潜む真贋リスク</a:t>
            </a:r>
            <a:endParaRPr lang="en-US" sz="960" dirty="0"/>
          </a:p>
        </p:txBody>
      </p:sp>
      <p:sp>
        <p:nvSpPr>
          <p:cNvPr id="11" name="Text 9"/>
          <p:cNvSpPr/>
          <p:nvPr/>
        </p:nvSpPr>
        <p:spPr>
          <a:xfrm>
            <a:off x="822960" y="2286000"/>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国内外の正規取扱業者からのみ仕入れ。国家ソムリエ資格保持者による選定と、全ボトルのプロヴナンス管理。</a:t>
            </a:r>
            <a:endParaRPr lang="en-US" sz="1000" dirty="0"/>
          </a:p>
        </p:txBody>
      </p:sp>
      <p:sp>
        <p:nvSpPr>
          <p:cNvPr id="12" name="Shape 10"/>
          <p:cNvSpPr/>
          <p:nvPr/>
        </p:nvSpPr>
        <p:spPr>
          <a:xfrm>
            <a:off x="6242152" y="1810512"/>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11"/>
          <p:cNvSpPr/>
          <p:nvPr/>
        </p:nvSpPr>
        <p:spPr>
          <a:xfrm>
            <a:off x="6498184" y="1956816"/>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品質劣化</a:t>
            </a:r>
            <a:endParaRPr lang="en-US" sz="1300" dirty="0"/>
          </a:p>
        </p:txBody>
      </p:sp>
      <p:sp>
        <p:nvSpPr>
          <p:cNvPr id="14" name="Text 12"/>
          <p:cNvSpPr/>
          <p:nvPr/>
        </p:nvSpPr>
        <p:spPr>
          <a:xfrm>
            <a:off x="8272120" y="1975104"/>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輸送・保管中の温度変化による価値毀損</a:t>
            </a:r>
            <a:endParaRPr lang="en-US" sz="960" dirty="0"/>
          </a:p>
        </p:txBody>
      </p:sp>
      <p:sp>
        <p:nvSpPr>
          <p:cNvPr id="15" name="Text 13"/>
          <p:cNvSpPr/>
          <p:nvPr/>
        </p:nvSpPr>
        <p:spPr>
          <a:xfrm>
            <a:off x="6498184" y="2286000"/>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14℃・湿度70%での定温定湿保管、24時間365日の温度監視。配送も高級ワインに適した定温帯で実施。</a:t>
            </a:r>
            <a:endParaRPr lang="en-US" sz="1000" dirty="0"/>
          </a:p>
        </p:txBody>
      </p:sp>
      <p:sp>
        <p:nvSpPr>
          <p:cNvPr id="16" name="Shape 14"/>
          <p:cNvSpPr/>
          <p:nvPr/>
        </p:nvSpPr>
        <p:spPr>
          <a:xfrm>
            <a:off x="566928" y="3200400"/>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7" name="Text 15"/>
          <p:cNvSpPr/>
          <p:nvPr/>
        </p:nvSpPr>
        <p:spPr>
          <a:xfrm>
            <a:off x="822960" y="3346704"/>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破損・紛失</a:t>
            </a:r>
            <a:endParaRPr lang="en-US" sz="1300" dirty="0"/>
          </a:p>
        </p:txBody>
      </p:sp>
      <p:sp>
        <p:nvSpPr>
          <p:cNvPr id="18" name="Text 16"/>
          <p:cNvSpPr/>
          <p:nvPr/>
        </p:nvSpPr>
        <p:spPr>
          <a:xfrm>
            <a:off x="2596896" y="3364992"/>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保管中・配送中の事故</a:t>
            </a:r>
            <a:endParaRPr lang="en-US" sz="960" dirty="0"/>
          </a:p>
        </p:txBody>
      </p:sp>
      <p:sp>
        <p:nvSpPr>
          <p:cNvPr id="19" name="Text 17"/>
          <p:cNvSpPr/>
          <p:nvPr/>
        </p:nvSpPr>
        <p:spPr>
          <a:xfrm>
            <a:off x="822960" y="3675888"/>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動産保険を付保し、事業者責による破損は全額補償。委託倉庫は東日本大震災でも破損実績ゼロ、補助電源完備。</a:t>
            </a:r>
            <a:endParaRPr lang="en-US" sz="1000" dirty="0"/>
          </a:p>
        </p:txBody>
      </p:sp>
      <p:sp>
        <p:nvSpPr>
          <p:cNvPr id="20" name="Shape 18"/>
          <p:cNvSpPr/>
          <p:nvPr/>
        </p:nvSpPr>
        <p:spPr>
          <a:xfrm>
            <a:off x="6242152" y="3200400"/>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Text 19"/>
          <p:cNvSpPr/>
          <p:nvPr/>
        </p:nvSpPr>
        <p:spPr>
          <a:xfrm>
            <a:off x="6498184" y="3346704"/>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法令遵守</a:t>
            </a:r>
            <a:endParaRPr lang="en-US" sz="1300" dirty="0"/>
          </a:p>
        </p:txBody>
      </p:sp>
      <p:sp>
        <p:nvSpPr>
          <p:cNvPr id="22" name="Text 20"/>
          <p:cNvSpPr/>
          <p:nvPr/>
        </p:nvSpPr>
        <p:spPr>
          <a:xfrm>
            <a:off x="8272120" y="3364992"/>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酒類販売業免許、未成年者飲酒防止、景表法・薬機法的表示</a:t>
            </a:r>
            <a:endParaRPr lang="en-US" sz="960" dirty="0"/>
          </a:p>
        </p:txBody>
      </p:sp>
      <p:sp>
        <p:nvSpPr>
          <p:cNvPr id="23" name="Text 21"/>
          <p:cNvSpPr/>
          <p:nvPr/>
        </p:nvSpPr>
        <p:spPr>
          <a:xfrm>
            <a:off x="6498184" y="3675888"/>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当社が免許主体となり販売・配送を実施。年齢確認を配送時に徹底。広告表現は事前に法務レビューを実施。</a:t>
            </a:r>
            <a:endParaRPr lang="en-US" sz="1000" dirty="0"/>
          </a:p>
        </p:txBody>
      </p:sp>
      <p:sp>
        <p:nvSpPr>
          <p:cNvPr id="24" name="Shape 22"/>
          <p:cNvSpPr/>
          <p:nvPr/>
        </p:nvSpPr>
        <p:spPr>
          <a:xfrm>
            <a:off x="566928" y="4590288"/>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5" name="Text 23"/>
          <p:cNvSpPr/>
          <p:nvPr/>
        </p:nvSpPr>
        <p:spPr>
          <a:xfrm>
            <a:off x="822960" y="4736592"/>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資産性の表示</a:t>
            </a:r>
            <a:endParaRPr lang="en-US" sz="1300" dirty="0"/>
          </a:p>
        </p:txBody>
      </p:sp>
      <p:sp>
        <p:nvSpPr>
          <p:cNvPr id="26" name="Text 24"/>
          <p:cNvSpPr/>
          <p:nvPr/>
        </p:nvSpPr>
        <p:spPr>
          <a:xfrm>
            <a:off x="2596896" y="4754880"/>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「投資」としての訴求に伴う金商法・景表法リスク</a:t>
            </a:r>
            <a:endParaRPr lang="en-US" sz="960" dirty="0"/>
          </a:p>
        </p:txBody>
      </p:sp>
      <p:sp>
        <p:nvSpPr>
          <p:cNvPr id="27" name="Text 25"/>
          <p:cNvSpPr/>
          <p:nvPr/>
        </p:nvSpPr>
        <p:spPr>
          <a:xfrm>
            <a:off x="822960" y="5065776"/>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本提携は「使えるライフスタイル・サービス」として提供し、断定的な利回り訴求は行いません。</a:t>
            </a:r>
            <a:endParaRPr lang="en-US" sz="1000" dirty="0"/>
          </a:p>
        </p:txBody>
      </p:sp>
      <p:sp>
        <p:nvSpPr>
          <p:cNvPr id="28" name="Shape 26"/>
          <p:cNvSpPr/>
          <p:nvPr/>
        </p:nvSpPr>
        <p:spPr>
          <a:xfrm>
            <a:off x="6242152" y="4590288"/>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9" name="Text 27"/>
          <p:cNvSpPr/>
          <p:nvPr/>
        </p:nvSpPr>
        <p:spPr>
          <a:xfrm>
            <a:off x="6498184" y="4736592"/>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個人情報</a:t>
            </a:r>
            <a:endParaRPr lang="en-US" sz="1300" dirty="0"/>
          </a:p>
        </p:txBody>
      </p:sp>
      <p:sp>
        <p:nvSpPr>
          <p:cNvPr id="30" name="Text 28"/>
          <p:cNvSpPr/>
          <p:nvPr/>
        </p:nvSpPr>
        <p:spPr>
          <a:xfrm>
            <a:off x="8272120" y="4754880"/>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テナント・居住者情報の取扱い</a:t>
            </a:r>
            <a:endParaRPr lang="en-US" sz="960" dirty="0"/>
          </a:p>
        </p:txBody>
      </p:sp>
      <p:sp>
        <p:nvSpPr>
          <p:cNvPr id="31" name="Text 29"/>
          <p:cNvSpPr/>
          <p:nvPr/>
        </p:nvSpPr>
        <p:spPr>
          <a:xfrm>
            <a:off x="6498184" y="5065776"/>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会員情報は当社が管理主体となり、森ビル様からの個人情報のご提供を前提としない設計（申込は会員本人から直接）。</a:t>
            </a:r>
            <a:endParaRPr lang="en-US" sz="1000" dirty="0"/>
          </a:p>
        </p:txBody>
      </p:sp>
      <p:sp>
        <p:nvSpPr>
          <p:cNvPr id="32" name="Text 30"/>
          <p:cNvSpPr/>
          <p:nvPr/>
        </p:nvSpPr>
        <p:spPr>
          <a:xfrm>
            <a:off x="566928" y="5907024"/>
            <a:ext cx="10972800" cy="274320"/>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在庫・与信・配送・保管に関わるリスクは、原則としてすべて当社が保有します。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COMPANY</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会社概要と実績</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1970年創業の酒販事業を承継し、仕入・保管・小売・飲食・テクノロジーを垂直統合しています。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17</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92224"/>
            <a:ext cx="5760720" cy="2889504"/>
          </a:xfrm>
          <a:prstGeom prst="roundRect">
            <a:avLst>
              <a:gd name="adj" fmla="val 2848"/>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41248" y="1975104"/>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会社名</a:t>
            </a:r>
            <a:endParaRPr lang="en-US" sz="1000" dirty="0"/>
          </a:p>
        </p:txBody>
      </p:sp>
      <p:sp>
        <p:nvSpPr>
          <p:cNvPr id="10" name="Text 8"/>
          <p:cNvSpPr/>
          <p:nvPr/>
        </p:nvSpPr>
        <p:spPr>
          <a:xfrm>
            <a:off x="2084832" y="1975104"/>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株式会社WineBank</a:t>
            </a:r>
            <a:endParaRPr lang="en-US" sz="1000" dirty="0"/>
          </a:p>
        </p:txBody>
      </p:sp>
      <p:sp>
        <p:nvSpPr>
          <p:cNvPr id="11" name="Text 9"/>
          <p:cNvSpPr/>
          <p:nvPr/>
        </p:nvSpPr>
        <p:spPr>
          <a:xfrm>
            <a:off x="841248" y="2414016"/>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代表取締役</a:t>
            </a:r>
            <a:endParaRPr lang="en-US" sz="1000" dirty="0"/>
          </a:p>
        </p:txBody>
      </p:sp>
      <p:sp>
        <p:nvSpPr>
          <p:cNvPr id="12" name="Text 10"/>
          <p:cNvSpPr/>
          <p:nvPr/>
        </p:nvSpPr>
        <p:spPr>
          <a:xfrm>
            <a:off x="2084832" y="2414016"/>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中野 邦人（Nakano Kunihito）</a:t>
            </a:r>
            <a:endParaRPr lang="en-US" sz="1000" dirty="0"/>
          </a:p>
        </p:txBody>
      </p:sp>
      <p:sp>
        <p:nvSpPr>
          <p:cNvPr id="13" name="Text 11"/>
          <p:cNvSpPr/>
          <p:nvPr/>
        </p:nvSpPr>
        <p:spPr>
          <a:xfrm>
            <a:off x="841248" y="2852928"/>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資本金</a:t>
            </a:r>
            <a:endParaRPr lang="en-US" sz="1000" dirty="0"/>
          </a:p>
        </p:txBody>
      </p:sp>
      <p:sp>
        <p:nvSpPr>
          <p:cNvPr id="14" name="Text 12"/>
          <p:cNvSpPr/>
          <p:nvPr/>
        </p:nvSpPr>
        <p:spPr>
          <a:xfrm>
            <a:off x="2084832" y="2852928"/>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437,169千円（資本準備金含む）</a:t>
            </a:r>
            <a:endParaRPr lang="en-US" sz="1000" dirty="0"/>
          </a:p>
        </p:txBody>
      </p:sp>
      <p:sp>
        <p:nvSpPr>
          <p:cNvPr id="15" name="Text 13"/>
          <p:cNvSpPr/>
          <p:nvPr/>
        </p:nvSpPr>
        <p:spPr>
          <a:xfrm>
            <a:off x="841248" y="3291840"/>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本社</a:t>
            </a:r>
            <a:endParaRPr lang="en-US" sz="1000" dirty="0"/>
          </a:p>
        </p:txBody>
      </p:sp>
      <p:sp>
        <p:nvSpPr>
          <p:cNvPr id="16" name="Text 14"/>
          <p:cNvSpPr/>
          <p:nvPr/>
        </p:nvSpPr>
        <p:spPr>
          <a:xfrm>
            <a:off x="2084832" y="3291840"/>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東京都港区六本木4丁目12番8号 第6DMJビル 2階</a:t>
            </a:r>
            <a:endParaRPr lang="en-US" sz="1000" dirty="0"/>
          </a:p>
        </p:txBody>
      </p:sp>
      <p:sp>
        <p:nvSpPr>
          <p:cNvPr id="17" name="Text 15"/>
          <p:cNvSpPr/>
          <p:nvPr/>
        </p:nvSpPr>
        <p:spPr>
          <a:xfrm>
            <a:off x="841248" y="3730752"/>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創業</a:t>
            </a:r>
            <a:endParaRPr lang="en-US" sz="1000" dirty="0"/>
          </a:p>
        </p:txBody>
      </p:sp>
      <p:sp>
        <p:nvSpPr>
          <p:cNvPr id="18" name="Text 16"/>
          <p:cNvSpPr/>
          <p:nvPr/>
        </p:nvSpPr>
        <p:spPr>
          <a:xfrm>
            <a:off x="2084832" y="3730752"/>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1970年10月</a:t>
            </a:r>
            <a:endParaRPr lang="en-US" sz="1000" dirty="0"/>
          </a:p>
        </p:txBody>
      </p:sp>
      <p:sp>
        <p:nvSpPr>
          <p:cNvPr id="19" name="Text 17"/>
          <p:cNvSpPr/>
          <p:nvPr/>
        </p:nvSpPr>
        <p:spPr>
          <a:xfrm>
            <a:off x="841248" y="4169664"/>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事業概要</a:t>
            </a:r>
            <a:endParaRPr lang="en-US" sz="1000" dirty="0"/>
          </a:p>
        </p:txBody>
      </p:sp>
      <p:sp>
        <p:nvSpPr>
          <p:cNvPr id="20" name="Text 18"/>
          <p:cNvSpPr/>
          <p:nvPr/>
        </p:nvSpPr>
        <p:spPr>
          <a:xfrm>
            <a:off x="2084832" y="4169664"/>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ワインを中心とした酒類販売／食品・雑貨の販売／レストラン事業／WineTech事業</a:t>
            </a:r>
            <a:endParaRPr lang="en-US" sz="1000" dirty="0"/>
          </a:p>
        </p:txBody>
      </p:sp>
      <p:sp>
        <p:nvSpPr>
          <p:cNvPr id="21" name="Shape 19"/>
          <p:cNvSpPr/>
          <p:nvPr/>
        </p:nvSpPr>
        <p:spPr>
          <a:xfrm>
            <a:off x="6620256" y="1792224"/>
            <a:ext cx="2374240" cy="822960"/>
          </a:xfrm>
          <a:prstGeom prst="roundRect">
            <a:avLst>
              <a:gd name="adj" fmla="val 10000"/>
            </a:avLst>
          </a:prstGeom>
          <a:solidFill>
            <a:srgbClr val="45121F"/>
          </a:solidFill>
          <a:ln w="12700">
            <a:solidFill>
              <a:srgbClr val="45121F"/>
            </a:solidFill>
            <a:prstDash val="solid"/>
          </a:ln>
        </p:spPr>
      </p:sp>
      <p:sp>
        <p:nvSpPr>
          <p:cNvPr id="22" name="Text 20"/>
          <p:cNvSpPr/>
          <p:nvPr/>
        </p:nvSpPr>
        <p:spPr>
          <a:xfrm>
            <a:off x="6858000" y="1883664"/>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30億円</a:t>
            </a:r>
            <a:endParaRPr lang="en-US" sz="2100" dirty="0"/>
          </a:p>
        </p:txBody>
      </p:sp>
      <p:sp>
        <p:nvSpPr>
          <p:cNvPr id="23" name="Text 21"/>
          <p:cNvSpPr/>
          <p:nvPr/>
        </p:nvSpPr>
        <p:spPr>
          <a:xfrm>
            <a:off x="6858000" y="2267712"/>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管理ワイン在庫（2026年4月末）</a:t>
            </a:r>
            <a:endParaRPr lang="en-US" sz="900" dirty="0"/>
          </a:p>
        </p:txBody>
      </p:sp>
      <p:sp>
        <p:nvSpPr>
          <p:cNvPr id="24" name="Shape 22"/>
          <p:cNvSpPr/>
          <p:nvPr/>
        </p:nvSpPr>
        <p:spPr>
          <a:xfrm>
            <a:off x="9250528" y="1792224"/>
            <a:ext cx="2374240" cy="822960"/>
          </a:xfrm>
          <a:prstGeom prst="roundRect">
            <a:avLst>
              <a:gd name="adj" fmla="val 10000"/>
            </a:avLst>
          </a:prstGeom>
          <a:solidFill>
            <a:srgbClr val="45121F"/>
          </a:solidFill>
          <a:ln w="12700">
            <a:solidFill>
              <a:srgbClr val="45121F"/>
            </a:solidFill>
            <a:prstDash val="solid"/>
          </a:ln>
        </p:spPr>
      </p:sp>
      <p:sp>
        <p:nvSpPr>
          <p:cNvPr id="25" name="Text 23"/>
          <p:cNvSpPr/>
          <p:nvPr/>
        </p:nvSpPr>
        <p:spPr>
          <a:xfrm>
            <a:off x="9488272" y="1883664"/>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7.2億円</a:t>
            </a:r>
            <a:endParaRPr lang="en-US" sz="2100" dirty="0"/>
          </a:p>
        </p:txBody>
      </p:sp>
      <p:sp>
        <p:nvSpPr>
          <p:cNvPr id="26" name="Text 24"/>
          <p:cNvSpPr/>
          <p:nvPr/>
        </p:nvSpPr>
        <p:spPr>
          <a:xfrm>
            <a:off x="9488272" y="2267712"/>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累計調達額</a:t>
            </a:r>
            <a:endParaRPr lang="en-US" sz="900" dirty="0"/>
          </a:p>
        </p:txBody>
      </p:sp>
      <p:sp>
        <p:nvSpPr>
          <p:cNvPr id="27" name="Shape 25"/>
          <p:cNvSpPr/>
          <p:nvPr/>
        </p:nvSpPr>
        <p:spPr>
          <a:xfrm>
            <a:off x="6620256" y="2724912"/>
            <a:ext cx="2374240" cy="822960"/>
          </a:xfrm>
          <a:prstGeom prst="roundRect">
            <a:avLst>
              <a:gd name="adj" fmla="val 10000"/>
            </a:avLst>
          </a:prstGeom>
          <a:solidFill>
            <a:srgbClr val="45121F"/>
          </a:solidFill>
          <a:ln w="12700">
            <a:solidFill>
              <a:srgbClr val="45121F"/>
            </a:solidFill>
            <a:prstDash val="solid"/>
          </a:ln>
        </p:spPr>
      </p:sp>
      <p:sp>
        <p:nvSpPr>
          <p:cNvPr id="28" name="Text 26"/>
          <p:cNvSpPr/>
          <p:nvPr/>
        </p:nvSpPr>
        <p:spPr>
          <a:xfrm>
            <a:off x="6858000" y="2816352"/>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55年</a:t>
            </a:r>
            <a:endParaRPr lang="en-US" sz="2100" dirty="0"/>
          </a:p>
        </p:txBody>
      </p:sp>
      <p:sp>
        <p:nvSpPr>
          <p:cNvPr id="29" name="Text 27"/>
          <p:cNvSpPr/>
          <p:nvPr/>
        </p:nvSpPr>
        <p:spPr>
          <a:xfrm>
            <a:off x="6858000" y="3200400"/>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酒販事業の実績</a:t>
            </a:r>
            <a:endParaRPr lang="en-US" sz="900" dirty="0"/>
          </a:p>
        </p:txBody>
      </p:sp>
      <p:sp>
        <p:nvSpPr>
          <p:cNvPr id="30" name="Shape 28"/>
          <p:cNvSpPr/>
          <p:nvPr/>
        </p:nvSpPr>
        <p:spPr>
          <a:xfrm>
            <a:off x="9250528" y="2724912"/>
            <a:ext cx="2374240" cy="822960"/>
          </a:xfrm>
          <a:prstGeom prst="roundRect">
            <a:avLst>
              <a:gd name="adj" fmla="val 10000"/>
            </a:avLst>
          </a:prstGeom>
          <a:solidFill>
            <a:srgbClr val="45121F"/>
          </a:solidFill>
          <a:ln w="12700">
            <a:solidFill>
              <a:srgbClr val="45121F"/>
            </a:solidFill>
            <a:prstDash val="solid"/>
          </a:ln>
        </p:spPr>
      </p:sp>
      <p:sp>
        <p:nvSpPr>
          <p:cNvPr id="31" name="Text 29"/>
          <p:cNvSpPr/>
          <p:nvPr/>
        </p:nvSpPr>
        <p:spPr>
          <a:xfrm>
            <a:off x="9488272" y="2816352"/>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+18.06%</a:t>
            </a:r>
            <a:endParaRPr lang="en-US" sz="2100" dirty="0"/>
          </a:p>
        </p:txBody>
      </p:sp>
      <p:sp>
        <p:nvSpPr>
          <p:cNvPr id="32" name="Text 30"/>
          <p:cNvSpPr/>
          <p:nvPr/>
        </p:nvSpPr>
        <p:spPr>
          <a:xfrm>
            <a:off x="9488272" y="3200400"/>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P1ファンド累計（2022.9〜2026.4）</a:t>
            </a:r>
            <a:endParaRPr lang="en-US" sz="900" dirty="0"/>
          </a:p>
        </p:txBody>
      </p:sp>
      <p:sp>
        <p:nvSpPr>
          <p:cNvPr id="33" name="Shape 31"/>
          <p:cNvSpPr/>
          <p:nvPr/>
        </p:nvSpPr>
        <p:spPr>
          <a:xfrm>
            <a:off x="6620256" y="3712464"/>
            <a:ext cx="5004511" cy="969264"/>
          </a:xfrm>
          <a:prstGeom prst="roundRect">
            <a:avLst>
              <a:gd name="adj" fmla="val 8491"/>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34" name="Text 32"/>
          <p:cNvSpPr/>
          <p:nvPr/>
        </p:nvSpPr>
        <p:spPr>
          <a:xfrm>
            <a:off x="6876288" y="3840480"/>
            <a:ext cx="4492447" cy="256032"/>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株主・主要提携先</a:t>
            </a:r>
            <a:endParaRPr lang="en-US" sz="1250" dirty="0"/>
          </a:p>
        </p:txBody>
      </p:sp>
      <p:sp>
        <p:nvSpPr>
          <p:cNvPr id="35" name="Text 33"/>
          <p:cNvSpPr/>
          <p:nvPr/>
        </p:nvSpPr>
        <p:spPr>
          <a:xfrm>
            <a:off x="6876288" y="4114800"/>
            <a:ext cx="4492447" cy="475488"/>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東証プライム上場企業2社（うちマネーフォワードグループ）、超富裕層向けファミリーオフィス、独立系最大手の倉庫会社ほか。SBIとの提携により世界初のワインST（セキュリティトークン）を組成。</a:t>
            </a:r>
            <a:endParaRPr lang="en-US" sz="960" dirty="0"/>
          </a:p>
        </p:txBody>
      </p:sp>
      <p:sp>
        <p:nvSpPr>
          <p:cNvPr id="36" name="Shape 34"/>
          <p:cNvSpPr/>
          <p:nvPr/>
        </p:nvSpPr>
        <p:spPr>
          <a:xfrm>
            <a:off x="566928" y="4828032"/>
            <a:ext cx="11057839" cy="841248"/>
          </a:xfrm>
          <a:prstGeom prst="roundRect">
            <a:avLst>
              <a:gd name="adj" fmla="val 978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7" name="Text 35"/>
          <p:cNvSpPr/>
          <p:nvPr/>
        </p:nvSpPr>
        <p:spPr>
          <a:xfrm>
            <a:off x="804672"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アピシウス</a:t>
            </a:r>
            <a:endParaRPr lang="en-US" sz="1150" dirty="0"/>
          </a:p>
        </p:txBody>
      </p:sp>
      <p:sp>
        <p:nvSpPr>
          <p:cNvPr id="38" name="Text 36"/>
          <p:cNvSpPr/>
          <p:nvPr/>
        </p:nvSpPr>
        <p:spPr>
          <a:xfrm>
            <a:off x="804672"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創業41年のグランメゾンを100%取得</a:t>
            </a:r>
            <a:endParaRPr lang="en-US" sz="880" dirty="0"/>
          </a:p>
        </p:txBody>
      </p:sp>
      <p:sp>
        <p:nvSpPr>
          <p:cNvPr id="39" name="Text 37"/>
          <p:cNvSpPr/>
          <p:nvPr/>
        </p:nvSpPr>
        <p:spPr>
          <a:xfrm>
            <a:off x="2921142"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ティエリー・マルクス</a:t>
            </a:r>
            <a:endParaRPr lang="en-US" sz="1150" dirty="0"/>
          </a:p>
        </p:txBody>
      </p:sp>
      <p:sp>
        <p:nvSpPr>
          <p:cNvPr id="40" name="Text 38"/>
          <p:cNvSpPr/>
          <p:nvPr/>
        </p:nvSpPr>
        <p:spPr>
          <a:xfrm>
            <a:off x="2921142"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ミシュラン累計7つ星シェフとの提携</a:t>
            </a:r>
            <a:endParaRPr lang="en-US" sz="880" dirty="0"/>
          </a:p>
        </p:txBody>
      </p:sp>
      <p:sp>
        <p:nvSpPr>
          <p:cNvPr id="41" name="Text 39"/>
          <p:cNvSpPr/>
          <p:nvPr/>
        </p:nvSpPr>
        <p:spPr>
          <a:xfrm>
            <a:off x="5037612"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WineGO</a:t>
            </a:r>
            <a:endParaRPr lang="en-US" sz="1150" dirty="0"/>
          </a:p>
        </p:txBody>
      </p:sp>
      <p:sp>
        <p:nvSpPr>
          <p:cNvPr id="42" name="Text 40"/>
          <p:cNvSpPr/>
          <p:nvPr/>
        </p:nvSpPr>
        <p:spPr>
          <a:xfrm>
            <a:off x="5037612"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定温ラストワンマイル配送網</a:t>
            </a:r>
            <a:endParaRPr lang="en-US" sz="880" dirty="0"/>
          </a:p>
        </p:txBody>
      </p:sp>
      <p:sp>
        <p:nvSpPr>
          <p:cNvPr id="43" name="Text 41"/>
          <p:cNvSpPr/>
          <p:nvPr/>
        </p:nvSpPr>
        <p:spPr>
          <a:xfrm>
            <a:off x="7154083"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WineBank CLUB</a:t>
            </a:r>
            <a:endParaRPr lang="en-US" sz="1150" dirty="0"/>
          </a:p>
        </p:txBody>
      </p:sp>
      <p:sp>
        <p:nvSpPr>
          <p:cNvPr id="44" name="Text 42"/>
          <p:cNvSpPr/>
          <p:nvPr/>
        </p:nvSpPr>
        <p:spPr>
          <a:xfrm>
            <a:off x="7154083"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会員制ワインサロン事業</a:t>
            </a:r>
            <a:endParaRPr lang="en-US" sz="880" dirty="0"/>
          </a:p>
        </p:txBody>
      </p:sp>
      <p:sp>
        <p:nvSpPr>
          <p:cNvPr id="45" name="Text 43"/>
          <p:cNvSpPr/>
          <p:nvPr/>
        </p:nvSpPr>
        <p:spPr>
          <a:xfrm>
            <a:off x="9270553"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WineTech</a:t>
            </a:r>
            <a:endParaRPr lang="en-US" sz="1150" dirty="0"/>
          </a:p>
        </p:txBody>
      </p:sp>
      <p:sp>
        <p:nvSpPr>
          <p:cNvPr id="46" name="Text 44"/>
          <p:cNvSpPr/>
          <p:nvPr/>
        </p:nvSpPr>
        <p:spPr>
          <a:xfrm>
            <a:off x="9270553"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クラウド管理・マーケットプレイス・ファンド</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2377440" y="2743200"/>
            <a:ext cx="7315200" cy="7315200"/>
          </a:xfrm>
          <a:prstGeom prst="ellipse">
            <a:avLst/>
          </a:prstGeom>
          <a:solidFill>
            <a:srgbClr val="45121F">
              <a:alpha val="48000"/>
            </a:srgbClr>
          </a:solidFill>
          <a:ln w="12700">
            <a:solidFill>
              <a:srgbClr val="333333"/>
            </a:solidFill>
            <a:prstDash val="solid"/>
          </a:ln>
        </p:spPr>
      </p:sp>
      <p:sp>
        <p:nvSpPr>
          <p:cNvPr id="3" name="Shape 1"/>
          <p:cNvSpPr/>
          <p:nvPr/>
        </p:nvSpPr>
        <p:spPr>
          <a:xfrm>
            <a:off x="8778240" y="-1828800"/>
            <a:ext cx="6035040" cy="6035040"/>
          </a:xfrm>
          <a:prstGeom prst="ellipse">
            <a:avLst/>
          </a:prstGeom>
          <a:solidFill>
            <a:srgbClr val="6B1F32">
              <a:alpha val="34000"/>
            </a:srgbClr>
          </a:solidFill>
          <a:ln w="12700">
            <a:solidFill>
              <a:srgbClr val="333333"/>
            </a:solidFill>
            <a:prstDash val="solid"/>
          </a:ln>
        </p:spPr>
      </p:sp>
      <p:sp>
        <p:nvSpPr>
          <p:cNvPr id="4" name="Text 2"/>
          <p:cNvSpPr/>
          <p:nvPr/>
        </p:nvSpPr>
        <p:spPr>
          <a:xfrm>
            <a:off x="566928" y="822960"/>
            <a:ext cx="5486400" cy="274320"/>
          </a:xfrm>
          <a:prstGeom prst="rect">
            <a:avLst/>
          </a:prstGeom>
          <a:noFill/>
          <a:ln/>
        </p:spPr>
        <p:txBody>
          <a:bodyPr wrap="square" lIns="0" tIns="0" rIns="0" bIns="0" rtlCol="0" anchor="ctr"/>
          <a:lstStyle/>
          <a:p>
            <a:pPr indent="0" marL="0">
              <a:buNone/>
            </a:pPr>
            <a:r>
              <a:rPr lang="en-US" sz="1200" b="1" spc="320" kern="0" dirty="0">
                <a:solidFill>
                  <a:srgbClr val="C2A15A"/>
                </a:solidFill>
                <a:latin typeface="Cambria" pitchFamily="34" charset="0"/>
                <a:ea typeface="Cambria" pitchFamily="34" charset="-122"/>
                <a:cs typeface="Cambria" pitchFamily="34" charset="-120"/>
              </a:rPr>
              <a:t>CLOSING</a:t>
            </a:r>
            <a:endParaRPr lang="en-US" sz="1200" dirty="0"/>
          </a:p>
        </p:txBody>
      </p:sp>
      <p:sp>
        <p:nvSpPr>
          <p:cNvPr id="5" name="Text 3"/>
          <p:cNvSpPr/>
          <p:nvPr/>
        </p:nvSpPr>
        <p:spPr>
          <a:xfrm>
            <a:off x="566928" y="1188720"/>
            <a:ext cx="9144000" cy="713232"/>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ヒルズに、世界一のセラーを。</a:t>
            </a:r>
            <a:endParaRPr lang="en-US" sz="3600" dirty="0"/>
          </a:p>
        </p:txBody>
      </p:sp>
      <p:sp>
        <p:nvSpPr>
          <p:cNvPr id="6" name="Text 4"/>
          <p:cNvSpPr/>
          <p:nvPr/>
        </p:nvSpPr>
        <p:spPr>
          <a:xfrm>
            <a:off x="566928" y="1975104"/>
            <a:ext cx="8778240" cy="731520"/>
          </a:xfrm>
          <a:prstGeom prst="rect">
            <a:avLst/>
          </a:prstGeom>
          <a:noFill/>
          <a:ln/>
        </p:spPr>
        <p:txBody>
          <a:bodyPr wrap="square" lIns="0" tIns="0" rIns="0" bIns="0" rtlCol="0" anchor="ctr"/>
          <a:lstStyle/>
          <a:p>
            <a:pPr indent="0" marL="0">
              <a:lnSpc>
                <a:spcPts val="2400"/>
              </a:lnSpc>
              <a:buNone/>
            </a:pPr>
            <a:r>
              <a:rPr lang="en-US" sz="1400" dirty="0">
                <a:solidFill>
                  <a:srgbClr val="CDBFC5"/>
                </a:solidFill>
                <a:latin typeface="Yu Gothic" pitchFamily="34" charset="0"/>
                <a:ea typeface="Yu Gothic" pitchFamily="34" charset="-122"/>
                <a:cs typeface="Yu Gothic" pitchFamily="34" charset="-120"/>
              </a:rPr>
              <a:t>富裕層とハイスペック人材が最も密度高く集まる街に、彼らが本当に欲しいものを置く。</a:t>
            </a:r>
            <a:endParaRPr lang="en-US" sz="1400" dirty="0"/>
          </a:p>
          <a:p>
            <a:pPr indent="0" marL="0">
              <a:lnSpc>
                <a:spcPts val="2400"/>
              </a:lnSpc>
              <a:buNone/>
            </a:pPr>
            <a:r>
              <a:rPr lang="en-US" sz="1400" dirty="0">
                <a:solidFill>
                  <a:srgbClr val="CDBFC5"/>
                </a:solidFill>
                <a:latin typeface="Yu Gothic" pitchFamily="34" charset="0"/>
                <a:ea typeface="Yu Gothic" pitchFamily="34" charset="-122"/>
                <a:cs typeface="Yu Gothic" pitchFamily="34" charset="-120"/>
              </a:rPr>
              <a:t>私たちは在庫も、仕入網も、シェフも、配送網も、すでに持っています。</a:t>
            </a:r>
            <a:endParaRPr lang="en-US" sz="1400" dirty="0"/>
          </a:p>
        </p:txBody>
      </p:sp>
      <p:sp>
        <p:nvSpPr>
          <p:cNvPr id="7" name="Shape 5"/>
          <p:cNvSpPr/>
          <p:nvPr/>
        </p:nvSpPr>
        <p:spPr>
          <a:xfrm>
            <a:off x="566928" y="3017520"/>
            <a:ext cx="3478682" cy="1773936"/>
          </a:xfrm>
          <a:prstGeom prst="roundRect">
            <a:avLst>
              <a:gd name="adj" fmla="val 4639"/>
            </a:avLst>
          </a:prstGeom>
          <a:solidFill>
            <a:srgbClr val="2A141D"/>
          </a:solidFill>
          <a:ln w="12700">
            <a:solidFill>
              <a:srgbClr val="45303A"/>
            </a:solidFill>
            <a:prstDash val="solid"/>
          </a:ln>
        </p:spPr>
      </p:sp>
      <p:sp>
        <p:nvSpPr>
          <p:cNvPr id="8" name="Shape 6"/>
          <p:cNvSpPr/>
          <p:nvPr/>
        </p:nvSpPr>
        <p:spPr>
          <a:xfrm>
            <a:off x="841248" y="3255264"/>
            <a:ext cx="438912" cy="438912"/>
          </a:xfrm>
          <a:prstGeom prst="ellipse">
            <a:avLst/>
          </a:prstGeom>
          <a:solidFill>
            <a:srgbClr val="2A141D"/>
          </a:solidFill>
          <a:ln w="15875">
            <a:solidFill>
              <a:srgbClr val="C2A15A"/>
            </a:solidFill>
            <a:prstDash val="solid"/>
          </a:ln>
        </p:spPr>
      </p:sp>
      <p:sp>
        <p:nvSpPr>
          <p:cNvPr id="9" name="Text 7"/>
          <p:cNvSpPr/>
          <p:nvPr/>
        </p:nvSpPr>
        <p:spPr>
          <a:xfrm>
            <a:off x="841248" y="3255264"/>
            <a:ext cx="438912" cy="438912"/>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389888" y="3273552"/>
            <a:ext cx="2399690" cy="40233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すぐ始められる</a:t>
            </a:r>
            <a:endParaRPr lang="en-US" sz="1500" dirty="0"/>
          </a:p>
        </p:txBody>
      </p:sp>
      <p:sp>
        <p:nvSpPr>
          <p:cNvPr id="11" name="Text 9"/>
          <p:cNvSpPr/>
          <p:nvPr/>
        </p:nvSpPr>
        <p:spPr>
          <a:xfrm>
            <a:off x="841248" y="3840480"/>
            <a:ext cx="2930042" cy="786384"/>
          </a:xfrm>
          <a:prstGeom prst="rect">
            <a:avLst/>
          </a:prstGeom>
          <a:noFill/>
          <a:ln/>
        </p:spPr>
        <p:txBody>
          <a:bodyPr wrap="square" lIns="0" tIns="0" rIns="0" bIns="0" rtlCol="0" anchor="ctr"/>
          <a:lstStyle/>
          <a:p>
            <a:pPr indent="0" marL="0">
              <a:lnSpc>
                <a:spcPts val="1450"/>
              </a:lnSpc>
              <a:buNone/>
            </a:pPr>
            <a:r>
              <a:rPr lang="en-US" sz="1050" dirty="0">
                <a:solidFill>
                  <a:srgbClr val="CDBFC5"/>
                </a:solidFill>
                <a:latin typeface="Yu Gothic" pitchFamily="34" charset="0"/>
                <a:ea typeface="Yu Gothic" pitchFamily="34" charset="-122"/>
                <a:cs typeface="Yu Gothic" pitchFamily="34" charset="-120"/>
              </a:rPr>
              <a:t>酒販免許・保管倉庫・配送体制・在庫は稼働中。新設が必要なものはほとんどありません。</a:t>
            </a:r>
            <a:endParaRPr lang="en-US" sz="1050" dirty="0"/>
          </a:p>
        </p:txBody>
      </p:sp>
      <p:sp>
        <p:nvSpPr>
          <p:cNvPr id="12" name="Shape 10"/>
          <p:cNvSpPr/>
          <p:nvPr/>
        </p:nvSpPr>
        <p:spPr>
          <a:xfrm>
            <a:off x="4356506" y="3017520"/>
            <a:ext cx="3478682" cy="1773936"/>
          </a:xfrm>
          <a:prstGeom prst="roundRect">
            <a:avLst>
              <a:gd name="adj" fmla="val 4639"/>
            </a:avLst>
          </a:prstGeom>
          <a:solidFill>
            <a:srgbClr val="2A141D"/>
          </a:solidFill>
          <a:ln w="12700">
            <a:solidFill>
              <a:srgbClr val="45303A"/>
            </a:solidFill>
            <a:prstDash val="solid"/>
          </a:ln>
        </p:spPr>
      </p:sp>
      <p:sp>
        <p:nvSpPr>
          <p:cNvPr id="13" name="Shape 11"/>
          <p:cNvSpPr/>
          <p:nvPr/>
        </p:nvSpPr>
        <p:spPr>
          <a:xfrm>
            <a:off x="4630826" y="3255264"/>
            <a:ext cx="438912" cy="438912"/>
          </a:xfrm>
          <a:prstGeom prst="ellipse">
            <a:avLst/>
          </a:prstGeom>
          <a:solidFill>
            <a:srgbClr val="2A141D"/>
          </a:solidFill>
          <a:ln w="15875">
            <a:solidFill>
              <a:srgbClr val="C2A15A"/>
            </a:solidFill>
            <a:prstDash val="solid"/>
          </a:ln>
        </p:spPr>
      </p:sp>
      <p:sp>
        <p:nvSpPr>
          <p:cNvPr id="14" name="Text 12"/>
          <p:cNvSpPr/>
          <p:nvPr/>
        </p:nvSpPr>
        <p:spPr>
          <a:xfrm>
            <a:off x="4630826" y="3255264"/>
            <a:ext cx="438912" cy="438912"/>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179466" y="3273552"/>
            <a:ext cx="2399690" cy="40233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森ビル様の負担が小さい</a:t>
            </a:r>
            <a:endParaRPr lang="en-US" sz="1500" dirty="0"/>
          </a:p>
        </p:txBody>
      </p:sp>
      <p:sp>
        <p:nvSpPr>
          <p:cNvPr id="16" name="Text 14"/>
          <p:cNvSpPr/>
          <p:nvPr/>
        </p:nvSpPr>
        <p:spPr>
          <a:xfrm>
            <a:off x="4630826" y="3840480"/>
            <a:ext cx="2930042" cy="786384"/>
          </a:xfrm>
          <a:prstGeom prst="rect">
            <a:avLst/>
          </a:prstGeom>
          <a:noFill/>
          <a:ln/>
        </p:spPr>
        <p:txBody>
          <a:bodyPr wrap="square" lIns="0" tIns="0" rIns="0" bIns="0" rtlCol="0" anchor="ctr"/>
          <a:lstStyle/>
          <a:p>
            <a:pPr indent="0" marL="0">
              <a:lnSpc>
                <a:spcPts val="1450"/>
              </a:lnSpc>
              <a:buNone/>
            </a:pPr>
            <a:r>
              <a:rPr lang="en-US" sz="1050" dirty="0">
                <a:solidFill>
                  <a:srgbClr val="CDBFC5"/>
                </a:solidFill>
                <a:latin typeface="Yu Gothic" pitchFamily="34" charset="0"/>
                <a:ea typeface="Yu Gothic" pitchFamily="34" charset="-122"/>
                <a:cs typeface="Yu Gothic" pitchFamily="34" charset="-120"/>
              </a:rPr>
              <a:t>設備投資・人員配置を前提としない設計。在庫・与信・運営リスクは当社が保有します。</a:t>
            </a:r>
            <a:endParaRPr lang="en-US" sz="1050" dirty="0"/>
          </a:p>
        </p:txBody>
      </p:sp>
      <p:sp>
        <p:nvSpPr>
          <p:cNvPr id="17" name="Shape 15"/>
          <p:cNvSpPr/>
          <p:nvPr/>
        </p:nvSpPr>
        <p:spPr>
          <a:xfrm>
            <a:off x="8146085" y="3017520"/>
            <a:ext cx="3478682" cy="1773936"/>
          </a:xfrm>
          <a:prstGeom prst="roundRect">
            <a:avLst>
              <a:gd name="adj" fmla="val 4639"/>
            </a:avLst>
          </a:prstGeom>
          <a:solidFill>
            <a:srgbClr val="2A141D"/>
          </a:solidFill>
          <a:ln w="12700">
            <a:solidFill>
              <a:srgbClr val="45303A"/>
            </a:solidFill>
            <a:prstDash val="solid"/>
          </a:ln>
        </p:spPr>
      </p:sp>
      <p:sp>
        <p:nvSpPr>
          <p:cNvPr id="18" name="Shape 16"/>
          <p:cNvSpPr/>
          <p:nvPr/>
        </p:nvSpPr>
        <p:spPr>
          <a:xfrm>
            <a:off x="8420405" y="3255264"/>
            <a:ext cx="438912" cy="438912"/>
          </a:xfrm>
          <a:prstGeom prst="ellipse">
            <a:avLst/>
          </a:prstGeom>
          <a:solidFill>
            <a:srgbClr val="2A141D"/>
          </a:solidFill>
          <a:ln w="15875">
            <a:solidFill>
              <a:srgbClr val="C2A15A"/>
            </a:solidFill>
            <a:prstDash val="solid"/>
          </a:ln>
        </p:spPr>
      </p:sp>
      <p:sp>
        <p:nvSpPr>
          <p:cNvPr id="19" name="Text 17"/>
          <p:cNvSpPr/>
          <p:nvPr/>
        </p:nvSpPr>
        <p:spPr>
          <a:xfrm>
            <a:off x="8420405" y="3255264"/>
            <a:ext cx="438912" cy="438912"/>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969045" y="3273552"/>
            <a:ext cx="2399690" cy="40233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街の格に直結する</a:t>
            </a:r>
            <a:endParaRPr lang="en-US" sz="1500" dirty="0"/>
          </a:p>
        </p:txBody>
      </p:sp>
      <p:sp>
        <p:nvSpPr>
          <p:cNvPr id="21" name="Text 19"/>
          <p:cNvSpPr/>
          <p:nvPr/>
        </p:nvSpPr>
        <p:spPr>
          <a:xfrm>
            <a:off x="8420405" y="3840480"/>
            <a:ext cx="2930042" cy="786384"/>
          </a:xfrm>
          <a:prstGeom prst="rect">
            <a:avLst/>
          </a:prstGeom>
          <a:noFill/>
          <a:ln/>
        </p:spPr>
        <p:txBody>
          <a:bodyPr wrap="square" lIns="0" tIns="0" rIns="0" bIns="0" rtlCol="0" anchor="ctr"/>
          <a:lstStyle/>
          <a:p>
            <a:pPr indent="0" marL="0">
              <a:lnSpc>
                <a:spcPts val="1450"/>
              </a:lnSpc>
              <a:buNone/>
            </a:pPr>
            <a:r>
              <a:rPr lang="en-US" sz="1050" dirty="0">
                <a:solidFill>
                  <a:srgbClr val="CDBFC5"/>
                </a:solidFill>
                <a:latin typeface="Yu Gothic" pitchFamily="34" charset="0"/>
                <a:ea typeface="Yu Gothic" pitchFamily="34" charset="-122"/>
                <a:cs typeface="Yu Gothic" pitchFamily="34" charset="-120"/>
              </a:rPr>
              <a:t>ミシュランシェフと数千本のセラー。テナント誘致にも、海外富裕層の来街動機にもなります。</a:t>
            </a:r>
            <a:endParaRPr lang="en-US" sz="1050" dirty="0"/>
          </a:p>
        </p:txBody>
      </p:sp>
      <p:sp>
        <p:nvSpPr>
          <p:cNvPr id="22" name="Text 20"/>
          <p:cNvSpPr/>
          <p:nvPr/>
        </p:nvSpPr>
        <p:spPr>
          <a:xfrm>
            <a:off x="566928" y="5047488"/>
            <a:ext cx="2743200" cy="274320"/>
          </a:xfrm>
          <a:prstGeom prst="rect">
            <a:avLst/>
          </a:prstGeom>
          <a:noFill/>
          <a:ln/>
        </p:spPr>
        <p:txBody>
          <a:bodyPr wrap="square" lIns="0" tIns="0" rIns="0" bIns="0" rtlCol="0" anchor="ctr"/>
          <a:lstStyle/>
          <a:p>
            <a:pPr indent="0" marL="0">
              <a:buNone/>
            </a:pPr>
            <a:r>
              <a:rPr lang="en-US" sz="1300" b="1" dirty="0">
                <a:solidFill>
                  <a:srgbClr val="C2A15A"/>
                </a:solidFill>
                <a:latin typeface="Yu Gothic" pitchFamily="34" charset="0"/>
                <a:ea typeface="Yu Gothic" pitchFamily="34" charset="-122"/>
                <a:cs typeface="Yu Gothic" pitchFamily="34" charset="-120"/>
              </a:rPr>
              <a:t>次のステップ</a:t>
            </a:r>
            <a:endParaRPr lang="en-US" sz="1300" dirty="0"/>
          </a:p>
        </p:txBody>
      </p:sp>
      <p:sp>
        <p:nvSpPr>
          <p:cNvPr id="23" name="Text 21"/>
          <p:cNvSpPr/>
          <p:nvPr/>
        </p:nvSpPr>
        <p:spPr>
          <a:xfrm>
            <a:off x="566928" y="5340096"/>
            <a:ext cx="10424160" cy="310896"/>
          </a:xfrm>
          <a:prstGeom prst="rect">
            <a:avLst/>
          </a:prstGeom>
          <a:noFill/>
          <a:ln/>
        </p:spPr>
        <p:txBody>
          <a:bodyPr wrap="square" lIns="0" tIns="0" rIns="0" bIns="0" rtlCol="0" anchor="ctr"/>
          <a:lstStyle/>
          <a:p>
            <a:pPr indent="0" marL="0">
              <a:buNone/>
            </a:pPr>
            <a:r>
              <a:rPr lang="en-US" sz="1200" dirty="0">
                <a:solidFill>
                  <a:srgbClr val="FFFFFF"/>
                </a:solidFill>
                <a:latin typeface="Yu Gothic" pitchFamily="34" charset="0"/>
                <a:ea typeface="Yu Gothic" pitchFamily="34" charset="-122"/>
                <a:cs typeface="Yu Gothic" pitchFamily="34" charset="-120"/>
              </a:rPr>
              <a:t>① 本提案のご説明とディスカッション　→　② 対象街区・対象プログラムの絞り込み　→　③ PoC条件の合意（目安：ご合意から3か月で開始）</a:t>
            </a:r>
            <a:endParaRPr lang="en-US" sz="1200" dirty="0"/>
          </a:p>
        </p:txBody>
      </p:sp>
      <p:sp>
        <p:nvSpPr>
          <p:cNvPr id="24" name="Text 22"/>
          <p:cNvSpPr/>
          <p:nvPr/>
        </p:nvSpPr>
        <p:spPr>
          <a:xfrm>
            <a:off x="566928" y="5961888"/>
            <a:ext cx="8229600" cy="274320"/>
          </a:xfrm>
          <a:prstGeom prst="rect">
            <a:avLst/>
          </a:prstGeom>
          <a:noFill/>
          <a:ln/>
        </p:spPr>
        <p:txBody>
          <a:bodyPr wrap="square" lIns="0" tIns="0" rIns="0" bIns="0" rtlCol="0" anchor="ctr"/>
          <a:lstStyle/>
          <a:p>
            <a:pPr indent="0" marL="0">
              <a:buNone/>
            </a:pPr>
            <a:r>
              <a:rPr lang="en-US" sz="1000" dirty="0">
                <a:solidFill>
                  <a:srgbClr val="9C8C93"/>
                </a:solidFill>
                <a:latin typeface="Yu Gothic" pitchFamily="34" charset="0"/>
                <a:ea typeface="Yu Gothic" pitchFamily="34" charset="-122"/>
                <a:cs typeface="Yu Gothic" pitchFamily="34" charset="-120"/>
              </a:rPr>
              <a:t>株式会社WineBank　東京都港区六本木4-12-8 第6DMJビル2階　TEL 03-6416-9370</a:t>
            </a:r>
            <a:endParaRPr lang="en-US" sz="1000" dirty="0"/>
          </a:p>
        </p:txBody>
      </p:sp>
      <p:sp>
        <p:nvSpPr>
          <p:cNvPr id="25" name="Text 2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6A5560"/>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26" name="Text 2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6A5560"/>
                </a:solidFill>
                <a:latin typeface="Cambria" pitchFamily="34" charset="0"/>
                <a:ea typeface="Cambria" pitchFamily="34" charset="-122"/>
                <a:cs typeface="Cambria" pitchFamily="34" charset="-120"/>
              </a:rPr>
              <a:t>18</a:t>
            </a:r>
            <a:endParaRPr lang="en-US" sz="900" dirty="0"/>
          </a:p>
        </p:txBody>
      </p:sp>
      <p:sp>
        <p:nvSpPr>
          <p:cNvPr id="27" name="Text 2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5A4750"/>
                </a:solidFill>
                <a:latin typeface="Cambria" pitchFamily="34" charset="0"/>
                <a:ea typeface="Cambria" pitchFamily="34" charset="-122"/>
                <a:cs typeface="Cambria" pitchFamily="34" charset="-120"/>
              </a:rPr>
              <a:t>CONFIDENTIAL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A</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参考：資産としての高級ワイン</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P1ファンドの実運用における騰落率実績（2022年運用開始 → 2026年4月末時点の比較）。</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19</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847088"/>
          <a:ext cx="8321040" cy="914400"/>
        </p:xfrm>
        <a:graphic>
          <a:graphicData uri="http://schemas.openxmlformats.org/drawingml/2006/table">
            <a:tbl>
              <a:tblPr/>
              <a:tblGrid>
                <a:gridCol w="1737360"/>
                <a:gridCol w="4206240"/>
                <a:gridCol w="1188720"/>
                <a:gridCol w="1188720"/>
              </a:tblGrid>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地域</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銘柄</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時価</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上昇率</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ブルゴーニュ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2011 Michel Lafarge Volnay 1er Cru Rouge</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¥36,800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+242.42%</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ブルゴーニュ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2015 Faiveley Latricieres Chambertin Grand Cru</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¥74,800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+240.85%</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ブルゴーニュ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2016 Jean Grivot Clos de Vougeot Grand Cru</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¥80,080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+213.39%</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ボルドー</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2004 Chateau Margaux</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¥239,400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+227.27%</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ボルドー</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2007 Chateau Pichon Longueville Comtesse de Lalande</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¥66,000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+212.91%</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シャンパーニュ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1998 Krug Brut</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¥164,801</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+95.35%</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アメリカ</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2019 Screaming Eagle Oakville Cabernet Sauvignon</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¥877,800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+86.67%</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bl>
          </a:graphicData>
        </a:graphic>
      </p:graphicFrame>
      <p:sp>
        <p:nvSpPr>
          <p:cNvPr id="9" name="Shape 6"/>
          <p:cNvSpPr/>
          <p:nvPr/>
        </p:nvSpPr>
        <p:spPr>
          <a:xfrm>
            <a:off x="566928" y="1847088"/>
            <a:ext cx="8321040" cy="384048"/>
          </a:xfrm>
          <a:prstGeom prst="rect">
            <a:avLst/>
          </a:prstGeom>
          <a:solidFill>
            <a:srgbClr val="45121F"/>
          </a:solidFill>
          <a:ln w="12700">
            <a:solidFill>
              <a:srgbClr val="333333"/>
            </a:solidFill>
            <a:prstDash val="solid"/>
          </a:ln>
        </p:spPr>
      </p:sp>
      <p:sp>
        <p:nvSpPr>
          <p:cNvPr id="10" name="Text 7"/>
          <p:cNvSpPr/>
          <p:nvPr/>
        </p:nvSpPr>
        <p:spPr>
          <a:xfrm>
            <a:off x="676656" y="1847088"/>
            <a:ext cx="151790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地域</a:t>
            </a:r>
            <a:endParaRPr lang="en-US" sz="1000" dirty="0"/>
          </a:p>
        </p:txBody>
      </p:sp>
      <p:sp>
        <p:nvSpPr>
          <p:cNvPr id="11" name="Text 8"/>
          <p:cNvSpPr/>
          <p:nvPr/>
        </p:nvSpPr>
        <p:spPr>
          <a:xfrm>
            <a:off x="2414016" y="1847088"/>
            <a:ext cx="398678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銘柄</a:t>
            </a:r>
            <a:endParaRPr lang="en-US" sz="1000" dirty="0"/>
          </a:p>
        </p:txBody>
      </p:sp>
      <p:sp>
        <p:nvSpPr>
          <p:cNvPr id="12" name="Text 9"/>
          <p:cNvSpPr/>
          <p:nvPr/>
        </p:nvSpPr>
        <p:spPr>
          <a:xfrm>
            <a:off x="6620256" y="1847088"/>
            <a:ext cx="96926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時価</a:t>
            </a:r>
            <a:endParaRPr lang="en-US" sz="1000" dirty="0"/>
          </a:p>
        </p:txBody>
      </p:sp>
      <p:sp>
        <p:nvSpPr>
          <p:cNvPr id="13" name="Text 10"/>
          <p:cNvSpPr/>
          <p:nvPr/>
        </p:nvSpPr>
        <p:spPr>
          <a:xfrm>
            <a:off x="7808976" y="1847088"/>
            <a:ext cx="96926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上昇率</a:t>
            </a:r>
            <a:endParaRPr lang="en-US" sz="1000" dirty="0"/>
          </a:p>
        </p:txBody>
      </p:sp>
      <p:sp>
        <p:nvSpPr>
          <p:cNvPr id="14" name="Shape 11"/>
          <p:cNvSpPr/>
          <p:nvPr/>
        </p:nvSpPr>
        <p:spPr>
          <a:xfrm>
            <a:off x="9180576" y="1847088"/>
            <a:ext cx="2444191" cy="1335024"/>
          </a:xfrm>
          <a:prstGeom prst="roundRect">
            <a:avLst>
              <a:gd name="adj" fmla="val 6164"/>
            </a:avLst>
          </a:prstGeom>
          <a:solidFill>
            <a:srgbClr val="45121F"/>
          </a:solidFill>
          <a:ln w="12700">
            <a:solidFill>
              <a:srgbClr val="45121F"/>
            </a:solidFill>
            <a:prstDash val="solid"/>
          </a:ln>
        </p:spPr>
      </p:sp>
      <p:sp>
        <p:nvSpPr>
          <p:cNvPr id="15" name="Text 12"/>
          <p:cNvSpPr/>
          <p:nvPr/>
        </p:nvSpPr>
        <p:spPr>
          <a:xfrm>
            <a:off x="9418320" y="2029968"/>
            <a:ext cx="1968703" cy="475488"/>
          </a:xfrm>
          <a:prstGeom prst="rect">
            <a:avLst/>
          </a:prstGeom>
          <a:noFill/>
          <a:ln/>
        </p:spPr>
        <p:txBody>
          <a:bodyPr wrap="square" lIns="0" tIns="0" rIns="0" bIns="0" rtlCol="0" anchor="ctr"/>
          <a:lstStyle/>
          <a:p>
            <a:pPr indent="0" marL="0">
              <a:buNone/>
            </a:pPr>
            <a:r>
              <a:rPr lang="en-US" sz="2800" b="1" dirty="0">
                <a:solidFill>
                  <a:srgbClr val="C2A15A"/>
                </a:solidFill>
                <a:latin typeface="Yu Gothic" pitchFamily="34" charset="0"/>
                <a:ea typeface="Yu Gothic" pitchFamily="34" charset="-122"/>
                <a:cs typeface="Yu Gothic" pitchFamily="34" charset="-120"/>
              </a:rPr>
              <a:t>+18.06%</a:t>
            </a:r>
            <a:endParaRPr lang="en-US" sz="2800" dirty="0"/>
          </a:p>
        </p:txBody>
      </p:sp>
      <p:sp>
        <p:nvSpPr>
          <p:cNvPr id="16" name="Text 13"/>
          <p:cNvSpPr/>
          <p:nvPr/>
        </p:nvSpPr>
        <p:spPr>
          <a:xfrm>
            <a:off x="9418320" y="2542032"/>
            <a:ext cx="1968703" cy="512064"/>
          </a:xfrm>
          <a:prstGeom prst="rect">
            <a:avLst/>
          </a:prstGeom>
          <a:noFill/>
          <a:ln/>
        </p:spPr>
        <p:txBody>
          <a:bodyPr wrap="square" lIns="0" tIns="0" rIns="0" bIns="0" rtlCol="0" anchor="ctr"/>
          <a:lstStyle/>
          <a:p>
            <a:pPr indent="0" marL="0">
              <a:lnSpc>
                <a:spcPts val="1300"/>
              </a:lnSpc>
              <a:buNone/>
            </a:pPr>
            <a:r>
              <a:rPr lang="en-US" sz="950" dirty="0">
                <a:solidFill>
                  <a:srgbClr val="CBBAC1"/>
                </a:solidFill>
                <a:latin typeface="Yu Gothic" pitchFamily="34" charset="0"/>
                <a:ea typeface="Yu Gothic" pitchFamily="34" charset="-122"/>
                <a:cs typeface="Yu Gothic" pitchFamily="34" charset="-120"/>
              </a:rPr>
              <a:t>P1ファンド累計パフォーマンス</a:t>
            </a:r>
            <a:endParaRPr lang="en-US" sz="950" dirty="0"/>
          </a:p>
          <a:p>
            <a:pPr indent="0" marL="0">
              <a:lnSpc>
                <a:spcPts val="1300"/>
              </a:lnSpc>
              <a:buNone/>
            </a:pPr>
            <a:r>
              <a:rPr lang="en-US" sz="950" dirty="0">
                <a:solidFill>
                  <a:srgbClr val="CBBAC1"/>
                </a:solidFill>
                <a:latin typeface="Yu Gothic" pitchFamily="34" charset="0"/>
                <a:ea typeface="Yu Gothic" pitchFamily="34" charset="-122"/>
                <a:cs typeface="Yu Gothic" pitchFamily="34" charset="-120"/>
              </a:rPr>
              <a:t>（2022年9月〜2026年4月・経費控除後）</a:t>
            </a:r>
            <a:endParaRPr lang="en-US" sz="950" dirty="0"/>
          </a:p>
        </p:txBody>
      </p:sp>
      <p:sp>
        <p:nvSpPr>
          <p:cNvPr id="17" name="Shape 14"/>
          <p:cNvSpPr/>
          <p:nvPr/>
        </p:nvSpPr>
        <p:spPr>
          <a:xfrm>
            <a:off x="9180576" y="3310128"/>
            <a:ext cx="2444191" cy="1335024"/>
          </a:xfrm>
          <a:prstGeom prst="roundRect">
            <a:avLst>
              <a:gd name="adj" fmla="val 6164"/>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5"/>
          <p:cNvSpPr/>
          <p:nvPr/>
        </p:nvSpPr>
        <p:spPr>
          <a:xfrm>
            <a:off x="9418320" y="3493008"/>
            <a:ext cx="1968703" cy="475488"/>
          </a:xfrm>
          <a:prstGeom prst="rect">
            <a:avLst/>
          </a:prstGeom>
          <a:noFill/>
          <a:ln/>
        </p:spPr>
        <p:txBody>
          <a:bodyPr wrap="square" lIns="0" tIns="0" rIns="0" bIns="0" rtlCol="0" anchor="ctr"/>
          <a:lstStyle/>
          <a:p>
            <a:pPr indent="0" marL="0">
              <a:buNone/>
            </a:pPr>
            <a:r>
              <a:rPr lang="en-US" sz="2800" b="1" dirty="0">
                <a:solidFill>
                  <a:srgbClr val="6B1F32"/>
                </a:solidFill>
                <a:latin typeface="Yu Gothic" pitchFamily="34" charset="0"/>
                <a:ea typeface="Yu Gothic" pitchFamily="34" charset="-122"/>
                <a:cs typeface="Yu Gothic" pitchFamily="34" charset="-120"/>
              </a:rPr>
              <a:t>約4倍</a:t>
            </a:r>
            <a:endParaRPr lang="en-US" sz="2800" dirty="0"/>
          </a:p>
        </p:txBody>
      </p:sp>
      <p:sp>
        <p:nvSpPr>
          <p:cNvPr id="19" name="Text 16"/>
          <p:cNvSpPr/>
          <p:nvPr/>
        </p:nvSpPr>
        <p:spPr>
          <a:xfrm>
            <a:off x="9418320" y="4005072"/>
            <a:ext cx="1968703" cy="51206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Liv-ex Fine Wine 1000</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過去20年の指数上昇（年率約7%）</a:t>
            </a:r>
            <a:endParaRPr lang="en-US" sz="950" dirty="0"/>
          </a:p>
        </p:txBody>
      </p:sp>
      <p:sp>
        <p:nvSpPr>
          <p:cNvPr id="20" name="Text 17"/>
          <p:cNvSpPr/>
          <p:nvPr/>
        </p:nvSpPr>
        <p:spPr>
          <a:xfrm>
            <a:off x="566928" y="5138928"/>
            <a:ext cx="10972800" cy="457200"/>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保有構成：ボルドー 52.8% / ブルゴーニュ 38.3% / カリフォルニア 5.6% / シャンパーニュ 1.8% / イタリア 1.3% ほか。長期熟成後に需要が高まる2010年〜近年ヴィンテージを中心に構成。</a:t>
            </a:r>
            <a:endParaRPr lang="en-US" sz="1000" dirty="0"/>
          </a:p>
        </p:txBody>
      </p:sp>
      <p:sp>
        <p:nvSpPr>
          <p:cNvPr id="21" name="Text 18"/>
          <p:cNvSpPr/>
          <p:nvPr/>
        </p:nvSpPr>
        <p:spPr>
          <a:xfrm>
            <a:off x="566928" y="5705856"/>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出典：WineBank P1ファンド運用実績、Liv-ex。過去の実績であり、将来の運用成果を保証するものではありません。</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B</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参考：WineBank CLUB 会員特典の価値</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通常会員の年会費30万円に対し、提供サービスは46.4万円相当。ヒルズ枠ではこれを基準に条件を設計します。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20</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8046720" cy="914400"/>
        </p:xfrm>
        <a:graphic>
          <a:graphicData uri="http://schemas.openxmlformats.org/drawingml/2006/table">
            <a:tbl>
              <a:tblPr/>
              <a:tblGrid>
                <a:gridCol w="2615184"/>
                <a:gridCol w="3986784"/>
                <a:gridCol w="1444752"/>
              </a:tblGrid>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サービス</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内容</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相当額</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初回引取・入庫・撮影・時価算定</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現在の保管先・ご自宅へ伺い、全ボトルを撮影・登録</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100,000円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ワイン保管（100本まで）</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定温14℃・湿度70%の専門倉庫でお預かり</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120,000円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WineBank Standard 会員資格</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グループ飲食店20%OFF、優先割当ほか</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100,000円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出庫・ご配送</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回数無制限・無料（持込・贈答・ご自宅）</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54,000円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コルケージ無料</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提携26店舗へのBYO。抜栓料・持込料ゼロ</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60,000円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資産保全</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動産保険の付保および真贋保証</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30,000円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合計</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464,000円相当</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bl>
          </a:graphicData>
        </a:graphic>
      </p:graphicFrame>
      <p:sp>
        <p:nvSpPr>
          <p:cNvPr id="9" name="Shape 6"/>
          <p:cNvSpPr/>
          <p:nvPr/>
        </p:nvSpPr>
        <p:spPr>
          <a:xfrm>
            <a:off x="566928" y="1883664"/>
            <a:ext cx="8046720" cy="420624"/>
          </a:xfrm>
          <a:prstGeom prst="rect">
            <a:avLst/>
          </a:prstGeom>
          <a:solidFill>
            <a:srgbClr val="45121F"/>
          </a:solidFill>
          <a:ln w="12700">
            <a:solidFill>
              <a:srgbClr val="333333"/>
            </a:solidFill>
            <a:prstDash val="solid"/>
          </a:ln>
        </p:spPr>
      </p:sp>
      <p:sp>
        <p:nvSpPr>
          <p:cNvPr id="10" name="Text 7"/>
          <p:cNvSpPr/>
          <p:nvPr/>
        </p:nvSpPr>
        <p:spPr>
          <a:xfrm>
            <a:off x="676656" y="1883664"/>
            <a:ext cx="2395728" cy="420624"/>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サービス</a:t>
            </a:r>
            <a:endParaRPr lang="en-US" sz="980" dirty="0"/>
          </a:p>
        </p:txBody>
      </p:sp>
      <p:sp>
        <p:nvSpPr>
          <p:cNvPr id="11" name="Text 8"/>
          <p:cNvSpPr/>
          <p:nvPr/>
        </p:nvSpPr>
        <p:spPr>
          <a:xfrm>
            <a:off x="3291840" y="1883664"/>
            <a:ext cx="3767328" cy="420624"/>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内容</a:t>
            </a:r>
            <a:endParaRPr lang="en-US" sz="980" dirty="0"/>
          </a:p>
        </p:txBody>
      </p:sp>
      <p:sp>
        <p:nvSpPr>
          <p:cNvPr id="12" name="Text 9"/>
          <p:cNvSpPr/>
          <p:nvPr/>
        </p:nvSpPr>
        <p:spPr>
          <a:xfrm>
            <a:off x="7278624" y="1883664"/>
            <a:ext cx="1225296" cy="420624"/>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相当額</a:t>
            </a:r>
            <a:endParaRPr lang="en-US" sz="980" dirty="0"/>
          </a:p>
        </p:txBody>
      </p:sp>
      <p:sp>
        <p:nvSpPr>
          <p:cNvPr id="13" name="Text 10"/>
          <p:cNvSpPr/>
          <p:nvPr/>
        </p:nvSpPr>
        <p:spPr>
          <a:xfrm>
            <a:off x="566928" y="5358384"/>
            <a:ext cx="8046720" cy="457200"/>
          </a:xfrm>
          <a:prstGeom prst="rect">
            <a:avLst/>
          </a:prstGeom>
          <a:noFill/>
          <a:ln/>
        </p:spPr>
        <p:txBody>
          <a:bodyPr wrap="square" lIns="0" tIns="0" rIns="0" bIns="0" rtlCol="0" anchor="ctr"/>
          <a:lstStyle/>
          <a:p>
            <a:pPr indent="0" marL="0">
              <a:lnSpc>
                <a:spcPts val="1300"/>
              </a:lnSpc>
              <a:buNone/>
            </a:pPr>
            <a:r>
              <a:rPr lang="en-US" sz="920" dirty="0">
                <a:solidFill>
                  <a:srgbClr val="6E666A"/>
                </a:solidFill>
                <a:latin typeface="Yu Gothic" pitchFamily="34" charset="0"/>
                <a:ea typeface="Yu Gothic" pitchFamily="34" charset="-122"/>
                <a:cs typeface="Yu Gothic" pitchFamily="34" charset="-120"/>
              </a:rPr>
              <a:t>別途申し受けるもの：ワイン売却時の手数料10%／相続・ご承継サポート（別途お見積り）／当日エクスプレス配送 5,000円・回／101本目以降の保管料 月100円・本</a:t>
            </a:r>
            <a:endParaRPr lang="en-US" sz="920" dirty="0"/>
          </a:p>
        </p:txBody>
      </p:sp>
      <p:sp>
        <p:nvSpPr>
          <p:cNvPr id="14" name="Shape 11"/>
          <p:cNvSpPr/>
          <p:nvPr/>
        </p:nvSpPr>
        <p:spPr>
          <a:xfrm>
            <a:off x="8924544" y="1883664"/>
            <a:ext cx="2700223" cy="3035808"/>
          </a:xfrm>
          <a:prstGeom prst="roundRect">
            <a:avLst>
              <a:gd name="adj" fmla="val 3048"/>
            </a:avLst>
          </a:prstGeom>
          <a:solidFill>
            <a:srgbClr val="45121F"/>
          </a:solidFill>
          <a:ln w="12700">
            <a:solidFill>
              <a:srgbClr val="45121F"/>
            </a:solidFill>
            <a:prstDash val="solid"/>
          </a:ln>
        </p:spPr>
      </p:sp>
      <p:sp>
        <p:nvSpPr>
          <p:cNvPr id="15" name="Text 12"/>
          <p:cNvSpPr/>
          <p:nvPr/>
        </p:nvSpPr>
        <p:spPr>
          <a:xfrm>
            <a:off x="9180576" y="2066544"/>
            <a:ext cx="2188159" cy="329184"/>
          </a:xfrm>
          <a:prstGeom prst="rect">
            <a:avLst/>
          </a:prstGeom>
          <a:noFill/>
          <a:ln/>
        </p:spPr>
        <p:txBody>
          <a:bodyPr wrap="square" lIns="0" tIns="0" rIns="0" bIns="0" rtlCol="0" anchor="ctr"/>
          <a:lstStyle/>
          <a:p>
            <a:pPr indent="0" marL="0">
              <a:buNone/>
            </a:pPr>
            <a:r>
              <a:rPr lang="en-US" sz="1400" b="1" dirty="0">
                <a:solidFill>
                  <a:srgbClr val="C2A15A"/>
                </a:solidFill>
                <a:latin typeface="Yu Gothic" pitchFamily="34" charset="0"/>
                <a:ea typeface="Yu Gothic" pitchFamily="34" charset="-122"/>
                <a:cs typeface="Yu Gothic" pitchFamily="34" charset="-120"/>
              </a:rPr>
              <a:t>接待費の実質削減効果</a:t>
            </a:r>
            <a:endParaRPr lang="en-US" sz="1400" dirty="0"/>
          </a:p>
        </p:txBody>
      </p:sp>
      <p:sp>
        <p:nvSpPr>
          <p:cNvPr id="16" name="Text 13"/>
          <p:cNvSpPr/>
          <p:nvPr/>
        </p:nvSpPr>
        <p:spPr>
          <a:xfrm>
            <a:off x="9180576" y="2487168"/>
            <a:ext cx="2188159" cy="1005840"/>
          </a:xfrm>
          <a:prstGeom prst="rect">
            <a:avLst/>
          </a:prstGeom>
          <a:noFill/>
          <a:ln/>
        </p:spPr>
        <p:txBody>
          <a:bodyPr wrap="square" lIns="0" tIns="0" rIns="0" bIns="0" rtlCol="0" anchor="ctr"/>
          <a:lstStyle/>
          <a:p>
            <a:pPr indent="0" marL="0">
              <a:lnSpc>
                <a:spcPts val="1500"/>
              </a:lnSpc>
              <a:buNone/>
            </a:pPr>
            <a:r>
              <a:rPr lang="en-US" sz="1000" dirty="0">
                <a:solidFill>
                  <a:srgbClr val="CBBAC1"/>
                </a:solidFill>
                <a:latin typeface="Yu Gothic" pitchFamily="34" charset="0"/>
                <a:ea typeface="Yu Gothic" pitchFamily="34" charset="-122"/>
                <a:cs typeface="Yu Gothic" pitchFamily="34" charset="-120"/>
              </a:rPr>
              <a:t>店内価格は市価の2〜3倍。BYO無料とネット最安値仕入により、年間接待費600万円規模の利用で約200万円の削減余地が生まれます。</a:t>
            </a:r>
            <a:endParaRPr lang="en-US" sz="1000" dirty="0"/>
          </a:p>
        </p:txBody>
      </p:sp>
      <p:sp>
        <p:nvSpPr>
          <p:cNvPr id="17" name="Text 14"/>
          <p:cNvSpPr/>
          <p:nvPr/>
        </p:nvSpPr>
        <p:spPr>
          <a:xfrm>
            <a:off x="9180576" y="3584448"/>
            <a:ext cx="2188159" cy="603504"/>
          </a:xfrm>
          <a:prstGeom prst="rect">
            <a:avLst/>
          </a:prstGeom>
          <a:noFill/>
          <a:ln/>
        </p:spPr>
        <p:txBody>
          <a:bodyPr wrap="square" lIns="0" tIns="0" rIns="0" bIns="0" rtlCol="0" anchor="ctr"/>
          <a:lstStyle/>
          <a:p>
            <a:pPr indent="0" marL="0">
              <a:lnSpc>
                <a:spcPts val="1600"/>
              </a:lnSpc>
              <a:buNone/>
            </a:pPr>
            <a:r>
              <a:rPr lang="en-US" sz="1050" b="1" dirty="0">
                <a:solidFill>
                  <a:srgbClr val="E6D6AE"/>
                </a:solidFill>
                <a:latin typeface="Yu Gothic" pitchFamily="34" charset="0"/>
                <a:ea typeface="Yu Gothic" pitchFamily="34" charset="-122"/>
                <a:cs typeface="Yu Gothic" pitchFamily="34" charset="-120"/>
              </a:rPr>
              <a:t>会員特典46.4万円相当 ＋ 接待費削減 約200万円</a:t>
            </a:r>
            <a:endParaRPr lang="en-US" sz="1050" dirty="0"/>
          </a:p>
          <a:p>
            <a:pPr indent="0" marL="0">
              <a:lnSpc>
                <a:spcPts val="1600"/>
              </a:lnSpc>
              <a:buNone/>
            </a:pPr>
            <a:r>
              <a:rPr lang="en-US" sz="1050" b="1" dirty="0">
                <a:solidFill>
                  <a:srgbClr val="E6D6AE"/>
                </a:solidFill>
                <a:latin typeface="Yu Gothic" pitchFamily="34" charset="0"/>
                <a:ea typeface="Yu Gothic" pitchFamily="34" charset="-122"/>
                <a:cs typeface="Yu Gothic" pitchFamily="34" charset="-120"/>
              </a:rPr>
              <a:t>＝ 年会費を大きく上回る実利</a:t>
            </a:r>
            <a:endParaRPr lang="en-US" sz="1050" dirty="0"/>
          </a:p>
        </p:txBody>
      </p:sp>
      <p:sp>
        <p:nvSpPr>
          <p:cNvPr id="18" name="Text 15"/>
          <p:cNvSpPr/>
          <p:nvPr/>
        </p:nvSpPr>
        <p:spPr>
          <a:xfrm>
            <a:off x="9180576" y="4297680"/>
            <a:ext cx="2188159" cy="512064"/>
          </a:xfrm>
          <a:prstGeom prst="rect">
            <a:avLst/>
          </a:prstGeom>
          <a:noFill/>
          <a:ln/>
        </p:spPr>
        <p:txBody>
          <a:bodyPr wrap="square" lIns="0" tIns="0" rIns="0" bIns="0" rtlCol="0" anchor="ctr"/>
          <a:lstStyle/>
          <a:p>
            <a:pPr indent="0" marL="0">
              <a:lnSpc>
                <a:spcPts val="1400"/>
              </a:lnSpc>
              <a:buNone/>
            </a:pPr>
            <a:r>
              <a:rPr lang="en-US" sz="980" dirty="0">
                <a:solidFill>
                  <a:srgbClr val="CBBAC1"/>
                </a:solidFill>
                <a:latin typeface="Yu Gothic" pitchFamily="34" charset="0"/>
                <a:ea typeface="Yu Gothic" pitchFamily="34" charset="-122"/>
                <a:cs typeface="Yu Gothic" pitchFamily="34" charset="-120"/>
              </a:rPr>
              <a:t>「持っているだけで得」が、法人会員への最初の一言になります。</a:t>
            </a:r>
            <a:endParaRPr lang="en-US" sz="9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森ビル株式会社 業務提携ご提案</dc:title>
  <dc:subject>PptxGenJS Presentation</dc:subject>
  <dc:creator>株式会社WineBank</dc:creator>
  <cp:lastModifiedBy>株式会社WineBank</cp:lastModifiedBy>
  <cp:revision>1</cp:revision>
  <dcterms:created xsi:type="dcterms:W3CDTF">2026-08-10T02:13:47Z</dcterms:created>
  <dcterms:modified xsi:type="dcterms:W3CDTF">2026-08-10T02:13:47Z</dcterms:modified>
</cp:coreProperties>
</file>