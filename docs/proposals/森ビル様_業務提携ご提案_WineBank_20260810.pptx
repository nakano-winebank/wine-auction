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導入店舗数</c:v>
                </c:pt>
              </c:strCache>
            </c:strRef>
          </c:tx>
          <c:spPr>
            <a:solidFill>
              <a:srgbClr val="C68A65"/>
            </a:solidFill>
            <a:effectLst/>
          </c:spPr>
          <c:invertIfNegative val="0"/>
          <c:dLbls>
            <c:numFmt formatCode="#,##0" sourceLinked="0"/>
            <c:txPr>
              <a:bodyPr/>
              <a:lstStyle/>
              <a:p>
                <a:pPr>
                  <a:defRPr b="0" i="0" strike="noStrike" sz="1000" u="none">
                    <a:solidFill>
                      <a:srgbClr val="1A1A1A"/>
                    </a:solidFill>
                    <a:latin typeface="Yu Gothic"/>
                  </a:defRPr>
                </a:pPr>
              </a:p>
            </c:txPr>
            <c:showLegendKey val="0"/>
            <c:showVal val="1"/>
            <c:showCatName val="0"/>
            <c:showSerName val="0"/>
            <c:showPercent val="0"/>
            <c:showBubbleSize val="0"/>
            <c:showLeaderLines val="0"/>
          </c:dLbls>
          <c:cat>
            <c:multiLvlStrRef>
              <c:f>Sheet1!$A$2:$A$4</c:f>
              <c:multiLvlStrCache>
                <c:ptCount val="3"/>
                <c:lvl>
                  <c:pt idx="0">
                    <c:v>Year 1</c:v>
                  </c:pt>
                  <c:pt idx="1">
                    <c:v>Year 2</c:v>
                  </c:pt>
                  <c:pt idx="2">
                    <c:v>Year 3</c:v>
                  </c:pt>
                </c:lvl>
              </c:multiLvlStrCache>
            </c:multiLvlStrRef>
          </c:cat>
          <c:val>
            <c:numRef>
              <c:f>Sheet1!$B$2:$B$4</c:f>
              <c:numCache>
                <c:formatCode>General</c:formatCode>
                <c:ptCount val="3"/>
                <c:pt idx="0">
                  <c:v>8</c:v>
                </c:pt>
                <c:pt idx="1">
                  <c:v>20</c:v>
                </c:pt>
                <c:pt idx="2">
                  <c:v>35</c:v>
                </c:pt>
              </c:numCache>
            </c:numRef>
          </c:val>
        </c:ser>
        <c:dLbls>
          <c:numFmt formatCode="#,##0" sourceLinked="0"/>
          <c:txPr>
            <a:bodyPr/>
            <a:lstStyle/>
            <a:p>
              <a:pPr>
                <a:defRPr b="0" i="0" strike="noStrike" sz="1000" u="none">
                  <a:solidFill>
                    <a:srgbClr val="1A1A1A"/>
                  </a:solidFill>
                  <a:latin typeface="Yu Gothic"/>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7378"/>
                </a:solidFill>
                <a:latin typeface="Yu Gothic"/>
              </a:defRPr>
            </a:pPr>
            <a:endParaRPr lang="en-US"/>
          </a:p>
        </c:txPr>
        <c:crossAx val="2094734552"/>
        <c:crosses val="autoZero"/>
        <c:auto val="1"/>
        <c:lblAlgn val="ctr"/>
        <c:noMultiLvlLbl val="1"/>
      </c:catAx>
      <c:valAx>
        <c:axId val="2094734552"/>
        <c:scaling>
          <c:orientation val="minMax"/>
          <c:max val="40"/>
          <c:min val="0"/>
        </c:scaling>
        <c:delete val="0"/>
        <c:axPos val="l"/>
        <c:majorGridlines>
          <c:spPr>
            <a:ln w="12700" cap="flat">
              <a:solidFill>
                <a:srgbClr val="EDEE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A6ABAF"/>
                </a:solidFill>
                <a:latin typeface="Yu Gothic"/>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Cloud Wine Cave・WineGO・CLUB</c:v>
                </c:pt>
              </c:strCache>
            </c:strRef>
          </c:tx>
          <c:spPr>
            <a:solidFill>
              <a:srgbClr val="C68A65"/>
            </a:solidFill>
            <a:effectLst/>
          </c:spPr>
          <c:invertIfNegative val="0"/>
          <c:dLbls>
            <c:numFmt formatCode="#,##0" sourceLinked="0"/>
            <c:txPr>
              <a:bodyPr/>
              <a:lstStyle/>
              <a:p>
                <a:pPr>
                  <a:defRPr b="0" i="0" strike="noStrike" sz="900" u="none">
                    <a:solidFill>
                      <a:srgbClr val="FFFFFF"/>
                    </a:solidFill>
                    <a:latin typeface="Yu Gothic"/>
                  </a:defRPr>
                </a:pPr>
              </a:p>
            </c:txPr>
            <c:dLblPos val="ctr"/>
            <c:showLegendKey val="0"/>
            <c:showVal val="1"/>
            <c:showCatName val="0"/>
            <c:showSerName val="0"/>
            <c:showPercent val="0"/>
            <c:showBubbleSize val="0"/>
            <c:showLeaderLines val="0"/>
          </c:dLbls>
          <c:cat>
            <c:multiLvlStrRef>
              <c:f>Sheet1!$A$2:$A$4</c:f>
              <c:multiLvlStrCache>
                <c:ptCount val="3"/>
                <c:lvl>
                  <c:pt idx="0">
                    <c:v>Year 1</c:v>
                  </c:pt>
                  <c:pt idx="1">
                    <c:v>Year 2</c:v>
                  </c:pt>
                  <c:pt idx="2">
                    <c:v>Year 3</c:v>
                  </c:pt>
                </c:lvl>
              </c:multiLvlStrCache>
            </c:multiLvlStrRef>
          </c:cat>
          <c:val>
            <c:numRef>
              <c:f>Sheet1!$B$2:$B$4</c:f>
              <c:numCache>
                <c:formatCode>General</c:formatCode>
                <c:ptCount val="3"/>
                <c:pt idx="0">
                  <c:v>90</c:v>
                </c:pt>
                <c:pt idx="1">
                  <c:v>240</c:v>
                </c:pt>
                <c:pt idx="2">
                  <c:v>430</c:v>
                </c:pt>
              </c:numCache>
            </c:numRef>
          </c:val>
        </c:ser>
        <c:ser>
          <c:idx val="1"/>
          <c:order val="1"/>
          <c:tx>
            <c:strRef>
              <c:f>Sheet1!$C$1</c:f>
              <c:strCache>
                <c:ptCount val="1"/>
                <c:pt idx="0">
                  <c:v>クラウドワインセラー</c:v>
                </c:pt>
              </c:strCache>
            </c:strRef>
          </c:tx>
          <c:spPr>
            <a:solidFill>
              <a:srgbClr val="2F3941"/>
            </a:solidFill>
            <a:effectLst/>
          </c:spPr>
          <c:invertIfNegative val="0"/>
          <c:dLbls>
            <c:numFmt formatCode="#,##0" sourceLinked="0"/>
            <c:txPr>
              <a:bodyPr/>
              <a:lstStyle/>
              <a:p>
                <a:pPr>
                  <a:defRPr b="0" i="0" strike="noStrike" sz="900" u="none">
                    <a:solidFill>
                      <a:srgbClr val="FFFFFF"/>
                    </a:solidFill>
                    <a:latin typeface="Yu Gothic"/>
                  </a:defRPr>
                </a:pPr>
              </a:p>
            </c:txPr>
            <c:dLblPos val="ctr"/>
            <c:showLegendKey val="0"/>
            <c:showVal val="1"/>
            <c:showCatName val="0"/>
            <c:showSerName val="0"/>
            <c:showPercent val="0"/>
            <c:showBubbleSize val="0"/>
            <c:showLeaderLines val="0"/>
          </c:dLbls>
          <c:cat>
            <c:multiLvlStrRef>
              <c:f>Sheet1!$A$2:$A$4</c:f>
              <c:multiLvlStrCache>
                <c:ptCount val="3"/>
                <c:lvl>
                  <c:pt idx="0">
                    <c:v>Year 1</c:v>
                  </c:pt>
                  <c:pt idx="1">
                    <c:v>Year 2</c:v>
                  </c:pt>
                  <c:pt idx="2">
                    <c:v>Year 3</c:v>
                  </c:pt>
                </c:lvl>
              </c:multiLvlStrCache>
            </c:multiLvlStrRef>
          </c:cat>
          <c:val>
            <c:numRef>
              <c:f>Sheet1!$C$2:$C$4</c:f>
              <c:numCache>
                <c:formatCode>General</c:formatCode>
                <c:ptCount val="3"/>
                <c:pt idx="0">
                  <c:v/>
                </c:pt>
                <c:pt idx="1">
                  <c:v>400</c:v>
                </c:pt>
                <c:pt idx="2">
                  <c:v>450</c:v>
                </c:pt>
              </c:numCache>
            </c:numRef>
          </c:val>
        </c:ser>
        <c:ser>
          <c:idx val="2"/>
          <c:order val="2"/>
          <c:tx>
            <c:strRef>
              <c:f>Sheet1!$D$1</c:f>
              <c:strCache>
                <c:ptCount val="1"/>
                <c:pt idx="0">
                  <c:v>レストラン業態</c:v>
                </c:pt>
              </c:strCache>
            </c:strRef>
          </c:tx>
          <c:spPr>
            <a:solidFill>
              <a:srgbClr val="9AA1A6"/>
            </a:solidFill>
            <a:effectLst/>
          </c:spPr>
          <c:invertIfNegative val="0"/>
          <c:dLbls>
            <c:numFmt formatCode="#,##0" sourceLinked="0"/>
            <c:txPr>
              <a:bodyPr/>
              <a:lstStyle/>
              <a:p>
                <a:pPr>
                  <a:defRPr b="0" i="0" strike="noStrike" sz="900" u="none">
                    <a:solidFill>
                      <a:srgbClr val="FFFFFF"/>
                    </a:solidFill>
                    <a:latin typeface="Yu Gothic"/>
                  </a:defRPr>
                </a:pPr>
              </a:p>
            </c:txPr>
            <c:dLblPos val="ctr"/>
            <c:showLegendKey val="0"/>
            <c:showVal val="1"/>
            <c:showCatName val="0"/>
            <c:showSerName val="0"/>
            <c:showPercent val="0"/>
            <c:showBubbleSize val="0"/>
            <c:showLeaderLines val="0"/>
          </c:dLbls>
          <c:cat>
            <c:multiLvlStrRef>
              <c:f>Sheet1!$A$2:$A$4</c:f>
              <c:multiLvlStrCache>
                <c:ptCount val="3"/>
                <c:lvl>
                  <c:pt idx="0">
                    <c:v>Year 1</c:v>
                  </c:pt>
                  <c:pt idx="1">
                    <c:v>Year 2</c:v>
                  </c:pt>
                  <c:pt idx="2">
                    <c:v>Year 3</c:v>
                  </c:pt>
                </c:lvl>
              </c:multiLvlStrCache>
            </c:multiLvlStrRef>
          </c:cat>
          <c:val>
            <c:numRef>
              <c:f>Sheet1!$D$2:$D$4</c:f>
              <c:numCache>
                <c:formatCode>General</c:formatCode>
                <c:ptCount val="3"/>
                <c:pt idx="0">
                  <c:v/>
                </c:pt>
                <c:pt idx="1">
                  <c:v/>
                </c:pt>
                <c:pt idx="2">
                  <c:v>600</c:v>
                </c:pt>
              </c:numCache>
            </c:numRef>
          </c:val>
        </c:ser>
        <c:dLbls>
          <c:numFmt formatCode="#,##0" sourceLinked="0"/>
          <c:txPr>
            <a:bodyPr/>
            <a:lstStyle/>
            <a:p>
              <a:pPr>
                <a:defRPr b="0" i="0" strike="noStrike" sz="900" u="none">
                  <a:solidFill>
                    <a:srgbClr val="FFFFFF"/>
                  </a:solidFill>
                  <a:latin typeface="Yu Gothic"/>
                </a:defRPr>
              </a:pPr>
            </a:p>
          </c:txPr>
          <c:dLblPos val="ctr"/>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7378"/>
                </a:solidFill>
                <a:latin typeface="Yu Gothic"/>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DEE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A6ABAF"/>
                </a:solidFill>
                <a:latin typeface="Yu Gothic"/>
              </a:defRPr>
            </a:pPr>
            <a:endParaRPr lang="en-US"/>
          </a:p>
        </c:txPr>
        <c:crossAx val="2094734554"/>
        <c:crosses val="autoZero"/>
        <c:crossBetween val="between"/>
      </c:valAx>
      <c:spPr>
        <a:noFill/>
        <a:ln>
          <a:noFill/>
        </a:ln>
        <a:effectLst/>
      </c:spPr>
    </c:plotArea>
    <c:legend>
      <c:legendPos val="b"/>
      <c:overlay val="0"/>
      <c:txPr>
        <a:bodyPr/>
        <a:lstStyle/>
        <a:p>
          <a:pPr>
            <a:defRPr sz="850">
              <a:solidFill>
                <a:srgbClr val="6E7378"/>
              </a:solidFill>
              <a:latin typeface="Yu Gothic"/>
              <a:cs typeface="Yu Gothic"/>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森ビル様向け業務提携提案。Cloud Wine Cave（クラウド型共有セラー）を核に、ヒルズのテナント飲食店・ワーカー・レジデンス居住者を一つのワイン在庫で結ぶ。投資商品の訴求は行わない。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2" Type="http://schemas.openxmlformats.org/officeDocument/2006/relationships/chart" Target="/ppt/charts/chart1.xml"/><Relationship Id="rId3" Type="http://schemas.openxmlformats.org/officeDocument/2006/relationships/chart" Target="/ppt/charts/chart2.xml"/><Relationship Id="rId1" Type="http://schemas.openxmlformats.org/officeDocument/2006/relationships/image" Target="../media/image-21-1.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e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e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e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e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e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923983" y="402336"/>
            <a:ext cx="1700784" cy="339242"/>
          </a:xfrm>
          <a:prstGeom prst="rect">
            <a:avLst/>
          </a:prstGeom>
        </p:spPr>
      </p:pic>
      <p:sp>
        <p:nvSpPr>
          <p:cNvPr id="3" name="Text 0"/>
          <p:cNvSpPr/>
          <p:nvPr/>
        </p:nvSpPr>
        <p:spPr>
          <a:xfrm>
            <a:off x="566928" y="1883664"/>
            <a:ext cx="8229600" cy="310896"/>
          </a:xfrm>
          <a:prstGeom prst="rect">
            <a:avLst/>
          </a:prstGeom>
          <a:noFill/>
          <a:ln/>
        </p:spPr>
        <p:txBody>
          <a:bodyPr wrap="square" lIns="0" tIns="0" rIns="0" bIns="0" rtlCol="0" anchor="ctr"/>
          <a:lstStyle/>
          <a:p>
            <a:pPr indent="0" marL="0">
              <a:buNone/>
            </a:pPr>
            <a:r>
              <a:rPr lang="en-US" sz="1300" dirty="0">
                <a:solidFill>
                  <a:srgbClr val="6E7378"/>
                </a:solidFill>
                <a:latin typeface="Yu Gothic" pitchFamily="34" charset="0"/>
                <a:ea typeface="Yu Gothic" pitchFamily="34" charset="-122"/>
                <a:cs typeface="Yu Gothic" pitchFamily="34" charset="-120"/>
              </a:rPr>
              <a:t>すべての人にファインワインを</a:t>
            </a:r>
            <a:endParaRPr lang="en-US" sz="1300" dirty="0"/>
          </a:p>
        </p:txBody>
      </p:sp>
      <p:sp>
        <p:nvSpPr>
          <p:cNvPr id="4" name="Text 1"/>
          <p:cNvSpPr/>
          <p:nvPr/>
        </p:nvSpPr>
        <p:spPr>
          <a:xfrm>
            <a:off x="566928" y="2249424"/>
            <a:ext cx="8229600" cy="310896"/>
          </a:xfrm>
          <a:prstGeom prst="rect">
            <a:avLst/>
          </a:prstGeom>
          <a:noFill/>
          <a:ln/>
        </p:spPr>
        <p:txBody>
          <a:bodyPr wrap="square" lIns="0" tIns="0" rIns="0" bIns="0" rtlCol="0" anchor="ctr"/>
          <a:lstStyle/>
          <a:p>
            <a:pPr indent="0" marL="0">
              <a:buNone/>
            </a:pPr>
            <a:r>
              <a:rPr lang="en-US" sz="1350" b="1" dirty="0">
                <a:solidFill>
                  <a:srgbClr val="C68A65"/>
                </a:solidFill>
                <a:latin typeface="Yu Gothic" pitchFamily="34" charset="0"/>
                <a:ea typeface="Yu Gothic" pitchFamily="34" charset="-122"/>
                <a:cs typeface="Yu Gothic" pitchFamily="34" charset="-120"/>
              </a:rPr>
              <a:t>森ビル株式会社 御中</a:t>
            </a:r>
            <a:endParaRPr lang="en-US" sz="1350" dirty="0"/>
          </a:p>
        </p:txBody>
      </p:sp>
      <p:sp>
        <p:nvSpPr>
          <p:cNvPr id="5" name="Text 2"/>
          <p:cNvSpPr/>
          <p:nvPr/>
        </p:nvSpPr>
        <p:spPr>
          <a:xfrm>
            <a:off x="566928" y="2688336"/>
            <a:ext cx="10058400" cy="694944"/>
          </a:xfrm>
          <a:prstGeom prst="rect">
            <a:avLst/>
          </a:prstGeom>
          <a:noFill/>
          <a:ln/>
        </p:spPr>
        <p:txBody>
          <a:bodyPr wrap="square" lIns="0" tIns="0" rIns="0" bIns="0" rtlCol="0" anchor="ctr"/>
          <a:lstStyle/>
          <a:p>
            <a:pPr indent="0" marL="0">
              <a:buNone/>
            </a:pPr>
            <a:r>
              <a:rPr lang="en-US" sz="3600" b="1" dirty="0">
                <a:solidFill>
                  <a:srgbClr val="1A1A1A"/>
                </a:solidFill>
                <a:latin typeface="Yu Gothic" pitchFamily="34" charset="0"/>
                <a:ea typeface="Yu Gothic" pitchFamily="34" charset="-122"/>
                <a:cs typeface="Yu Gothic" pitchFamily="34" charset="-120"/>
              </a:rPr>
              <a:t>ヒルズ経済圏 × ファインワイン</a:t>
            </a:r>
            <a:endParaRPr lang="en-US" sz="3600" dirty="0"/>
          </a:p>
        </p:txBody>
      </p:sp>
      <p:sp>
        <p:nvSpPr>
          <p:cNvPr id="6" name="Shape 3"/>
          <p:cNvSpPr/>
          <p:nvPr/>
        </p:nvSpPr>
        <p:spPr>
          <a:xfrm>
            <a:off x="566928" y="3529584"/>
            <a:ext cx="1188720" cy="41148"/>
          </a:xfrm>
          <a:prstGeom prst="rect">
            <a:avLst/>
          </a:prstGeom>
          <a:solidFill>
            <a:srgbClr val="C68A65"/>
          </a:solidFill>
          <a:ln w="12700">
            <a:solidFill>
              <a:srgbClr val="333333"/>
            </a:solidFill>
            <a:prstDash val="solid"/>
          </a:ln>
        </p:spPr>
      </p:sp>
      <p:sp>
        <p:nvSpPr>
          <p:cNvPr id="7" name="Text 4"/>
          <p:cNvSpPr/>
          <p:nvPr/>
        </p:nvSpPr>
        <p:spPr>
          <a:xfrm>
            <a:off x="566928" y="3749040"/>
            <a:ext cx="8595360" cy="694944"/>
          </a:xfrm>
          <a:prstGeom prst="rect">
            <a:avLst/>
          </a:prstGeom>
          <a:noFill/>
          <a:ln/>
        </p:spPr>
        <p:txBody>
          <a:bodyPr wrap="square" lIns="0" tIns="0" rIns="0" bIns="0" rtlCol="0" anchor="ctr"/>
          <a:lstStyle/>
          <a:p>
            <a:pPr indent="0" marL="0">
              <a:lnSpc>
                <a:spcPts val="2200"/>
              </a:lnSpc>
              <a:buNone/>
            </a:pPr>
            <a:r>
              <a:rPr lang="en-US" sz="1300" dirty="0">
                <a:solidFill>
                  <a:srgbClr val="44494D"/>
                </a:solidFill>
                <a:latin typeface="Yu Gothic" pitchFamily="34" charset="0"/>
                <a:ea typeface="Yu Gothic" pitchFamily="34" charset="-122"/>
                <a:cs typeface="Yu Gothic" pitchFamily="34" charset="-120"/>
              </a:rPr>
              <a:t>Cloud Wine Cave を核とした、ワーカー・レジデンス・テナント飲食店向け</a:t>
            </a:r>
            <a:endParaRPr lang="en-US" sz="1300" dirty="0"/>
          </a:p>
          <a:p>
            <a:pPr indent="0" marL="0">
              <a:lnSpc>
                <a:spcPts val="2200"/>
              </a:lnSpc>
              <a:buNone/>
            </a:pPr>
            <a:r>
              <a:rPr lang="en-US" sz="1300" dirty="0">
                <a:solidFill>
                  <a:srgbClr val="44494D"/>
                </a:solidFill>
                <a:latin typeface="Yu Gothic" pitchFamily="34" charset="0"/>
                <a:ea typeface="Yu Gothic" pitchFamily="34" charset="-122"/>
                <a:cs typeface="Yu Gothic" pitchFamily="34" charset="-120"/>
              </a:rPr>
              <a:t>ワインインフラの共同構築に関するご提案</a:t>
            </a:r>
            <a:endParaRPr lang="en-US" sz="1300" dirty="0"/>
          </a:p>
        </p:txBody>
      </p:sp>
      <p:sp>
        <p:nvSpPr>
          <p:cNvPr id="8" name="Text 5"/>
          <p:cNvSpPr/>
          <p:nvPr/>
        </p:nvSpPr>
        <p:spPr>
          <a:xfrm>
            <a:off x="566928" y="4956048"/>
            <a:ext cx="2468880" cy="457200"/>
          </a:xfrm>
          <a:prstGeom prst="rect">
            <a:avLst/>
          </a:prstGeom>
          <a:noFill/>
          <a:ln/>
        </p:spPr>
        <p:txBody>
          <a:bodyPr wrap="square" lIns="0" tIns="0" rIns="0" bIns="0" rtlCol="0" anchor="ctr"/>
          <a:lstStyle/>
          <a:p>
            <a:pPr indent="0" marL="0">
              <a:buNone/>
            </a:pPr>
            <a:r>
              <a:rPr lang="en-US" sz="2600" b="1" dirty="0">
                <a:solidFill>
                  <a:srgbClr val="C68A65"/>
                </a:solidFill>
                <a:latin typeface="Yu Gothic" pitchFamily="34" charset="0"/>
                <a:ea typeface="Yu Gothic" pitchFamily="34" charset="-122"/>
                <a:cs typeface="Yu Gothic" pitchFamily="34" charset="-120"/>
              </a:rPr>
              <a:t>55年</a:t>
            </a:r>
            <a:endParaRPr lang="en-US" sz="2600" dirty="0"/>
          </a:p>
        </p:txBody>
      </p:sp>
      <p:sp>
        <p:nvSpPr>
          <p:cNvPr id="9" name="Text 6"/>
          <p:cNvSpPr/>
          <p:nvPr/>
        </p:nvSpPr>
        <p:spPr>
          <a:xfrm>
            <a:off x="566928" y="5431536"/>
            <a:ext cx="2468880" cy="256032"/>
          </a:xfrm>
          <a:prstGeom prst="rect">
            <a:avLst/>
          </a:prstGeom>
          <a:noFill/>
          <a:ln/>
        </p:spPr>
        <p:txBody>
          <a:bodyPr wrap="square" lIns="0" tIns="0" rIns="0" bIns="0" rtlCol="0" anchor="ctr"/>
          <a:lstStyle/>
          <a:p>
            <a:pPr indent="0" marL="0">
              <a:buNone/>
            </a:pPr>
            <a:r>
              <a:rPr lang="en-US" sz="950" dirty="0">
                <a:solidFill>
                  <a:srgbClr val="6E7378"/>
                </a:solidFill>
                <a:latin typeface="Yu Gothic" pitchFamily="34" charset="0"/>
                <a:ea typeface="Yu Gothic" pitchFamily="34" charset="-122"/>
                <a:cs typeface="Yu Gothic" pitchFamily="34" charset="-120"/>
              </a:rPr>
              <a:t>酒販事業の実績</a:t>
            </a:r>
            <a:endParaRPr lang="en-US" sz="950" dirty="0"/>
          </a:p>
        </p:txBody>
      </p:sp>
      <p:sp>
        <p:nvSpPr>
          <p:cNvPr id="10" name="Text 7"/>
          <p:cNvSpPr/>
          <p:nvPr/>
        </p:nvSpPr>
        <p:spPr>
          <a:xfrm>
            <a:off x="3236976" y="4956048"/>
            <a:ext cx="2468880" cy="457200"/>
          </a:xfrm>
          <a:prstGeom prst="rect">
            <a:avLst/>
          </a:prstGeom>
          <a:noFill/>
          <a:ln/>
        </p:spPr>
        <p:txBody>
          <a:bodyPr wrap="square" lIns="0" tIns="0" rIns="0" bIns="0" rtlCol="0" anchor="ctr"/>
          <a:lstStyle/>
          <a:p>
            <a:pPr indent="0" marL="0">
              <a:buNone/>
            </a:pPr>
            <a:r>
              <a:rPr lang="en-US" sz="2600" b="1" dirty="0">
                <a:solidFill>
                  <a:srgbClr val="C68A65"/>
                </a:solidFill>
                <a:latin typeface="Yu Gothic" pitchFamily="34" charset="0"/>
                <a:ea typeface="Yu Gothic" pitchFamily="34" charset="-122"/>
                <a:cs typeface="Yu Gothic" pitchFamily="34" charset="-120"/>
              </a:rPr>
              <a:t>30億円</a:t>
            </a:r>
            <a:endParaRPr lang="en-US" sz="2600" dirty="0"/>
          </a:p>
        </p:txBody>
      </p:sp>
      <p:sp>
        <p:nvSpPr>
          <p:cNvPr id="11" name="Text 8"/>
          <p:cNvSpPr/>
          <p:nvPr/>
        </p:nvSpPr>
        <p:spPr>
          <a:xfrm>
            <a:off x="3236976" y="5431536"/>
            <a:ext cx="2468880" cy="256032"/>
          </a:xfrm>
          <a:prstGeom prst="rect">
            <a:avLst/>
          </a:prstGeom>
          <a:noFill/>
          <a:ln/>
        </p:spPr>
        <p:txBody>
          <a:bodyPr wrap="square" lIns="0" tIns="0" rIns="0" bIns="0" rtlCol="0" anchor="ctr"/>
          <a:lstStyle/>
          <a:p>
            <a:pPr indent="0" marL="0">
              <a:buNone/>
            </a:pPr>
            <a:r>
              <a:rPr lang="en-US" sz="950" dirty="0">
                <a:solidFill>
                  <a:srgbClr val="6E7378"/>
                </a:solidFill>
                <a:latin typeface="Yu Gothic" pitchFamily="34" charset="0"/>
                <a:ea typeface="Yu Gothic" pitchFamily="34" charset="-122"/>
                <a:cs typeface="Yu Gothic" pitchFamily="34" charset="-120"/>
              </a:rPr>
              <a:t>管理ワイン在庫</a:t>
            </a:r>
            <a:endParaRPr lang="en-US" sz="950" dirty="0"/>
          </a:p>
        </p:txBody>
      </p:sp>
      <p:sp>
        <p:nvSpPr>
          <p:cNvPr id="12" name="Text 9"/>
          <p:cNvSpPr/>
          <p:nvPr/>
        </p:nvSpPr>
        <p:spPr>
          <a:xfrm>
            <a:off x="5907024" y="4956048"/>
            <a:ext cx="2468880" cy="457200"/>
          </a:xfrm>
          <a:prstGeom prst="rect">
            <a:avLst/>
          </a:prstGeom>
          <a:noFill/>
          <a:ln/>
        </p:spPr>
        <p:txBody>
          <a:bodyPr wrap="square" lIns="0" tIns="0" rIns="0" bIns="0" rtlCol="0" anchor="ctr"/>
          <a:lstStyle/>
          <a:p>
            <a:pPr indent="0" marL="0">
              <a:buNone/>
            </a:pPr>
            <a:r>
              <a:rPr lang="en-US" sz="2600" b="1" dirty="0">
                <a:solidFill>
                  <a:srgbClr val="C68A65"/>
                </a:solidFill>
                <a:latin typeface="Yu Gothic" pitchFamily="34" charset="0"/>
                <a:ea typeface="Yu Gothic" pitchFamily="34" charset="-122"/>
                <a:cs typeface="Yu Gothic" pitchFamily="34" charset="-120"/>
              </a:rPr>
              <a:t>50万本</a:t>
            </a:r>
            <a:endParaRPr lang="en-US" sz="2600" dirty="0"/>
          </a:p>
        </p:txBody>
      </p:sp>
      <p:sp>
        <p:nvSpPr>
          <p:cNvPr id="13" name="Text 10"/>
          <p:cNvSpPr/>
          <p:nvPr/>
        </p:nvSpPr>
        <p:spPr>
          <a:xfrm>
            <a:off x="5907024" y="5431536"/>
            <a:ext cx="2468880" cy="256032"/>
          </a:xfrm>
          <a:prstGeom prst="rect">
            <a:avLst/>
          </a:prstGeom>
          <a:noFill/>
          <a:ln/>
        </p:spPr>
        <p:txBody>
          <a:bodyPr wrap="square" lIns="0" tIns="0" rIns="0" bIns="0" rtlCol="0" anchor="ctr"/>
          <a:lstStyle/>
          <a:p>
            <a:pPr indent="0" marL="0">
              <a:buNone/>
            </a:pPr>
            <a:r>
              <a:rPr lang="en-US" sz="950" dirty="0">
                <a:solidFill>
                  <a:srgbClr val="6E7378"/>
                </a:solidFill>
                <a:latin typeface="Yu Gothic" pitchFamily="34" charset="0"/>
                <a:ea typeface="Yu Gothic" pitchFamily="34" charset="-122"/>
                <a:cs typeface="Yu Gothic" pitchFamily="34" charset="-120"/>
              </a:rPr>
              <a:t>アクセスできる在庫</a:t>
            </a:r>
            <a:endParaRPr lang="en-US" sz="950" dirty="0"/>
          </a:p>
        </p:txBody>
      </p:sp>
      <p:sp>
        <p:nvSpPr>
          <p:cNvPr id="14" name="Text 11"/>
          <p:cNvSpPr/>
          <p:nvPr/>
        </p:nvSpPr>
        <p:spPr>
          <a:xfrm>
            <a:off x="8577072" y="4956048"/>
            <a:ext cx="2468880" cy="457200"/>
          </a:xfrm>
          <a:prstGeom prst="rect">
            <a:avLst/>
          </a:prstGeom>
          <a:noFill/>
          <a:ln/>
        </p:spPr>
        <p:txBody>
          <a:bodyPr wrap="square" lIns="0" tIns="0" rIns="0" bIns="0" rtlCol="0" anchor="ctr"/>
          <a:lstStyle/>
          <a:p>
            <a:pPr indent="0" marL="0">
              <a:buNone/>
            </a:pPr>
            <a:r>
              <a:rPr lang="en-US" sz="2600" b="1" dirty="0">
                <a:solidFill>
                  <a:srgbClr val="C68A65"/>
                </a:solidFill>
                <a:latin typeface="Yu Gothic" pitchFamily="34" charset="0"/>
                <a:ea typeface="Yu Gothic" pitchFamily="34" charset="-122"/>
                <a:cs typeface="Yu Gothic" pitchFamily="34" charset="-120"/>
              </a:rPr>
              <a:t>約半額</a:t>
            </a:r>
            <a:endParaRPr lang="en-US" sz="2600" dirty="0"/>
          </a:p>
        </p:txBody>
      </p:sp>
      <p:sp>
        <p:nvSpPr>
          <p:cNvPr id="15" name="Text 12"/>
          <p:cNvSpPr/>
          <p:nvPr/>
        </p:nvSpPr>
        <p:spPr>
          <a:xfrm>
            <a:off x="8577072" y="5431536"/>
            <a:ext cx="2468880" cy="256032"/>
          </a:xfrm>
          <a:prstGeom prst="rect">
            <a:avLst/>
          </a:prstGeom>
          <a:noFill/>
          <a:ln/>
        </p:spPr>
        <p:txBody>
          <a:bodyPr wrap="square" lIns="0" tIns="0" rIns="0" bIns="0" rtlCol="0" anchor="ctr"/>
          <a:lstStyle/>
          <a:p>
            <a:pPr indent="0" marL="0">
              <a:buNone/>
            </a:pPr>
            <a:r>
              <a:rPr lang="en-US" sz="950" dirty="0">
                <a:solidFill>
                  <a:srgbClr val="6E7378"/>
                </a:solidFill>
                <a:latin typeface="Yu Gothic" pitchFamily="34" charset="0"/>
                <a:ea typeface="Yu Gothic" pitchFamily="34" charset="-122"/>
                <a:cs typeface="Yu Gothic" pitchFamily="34" charset="-120"/>
              </a:rPr>
              <a:t>レストランでのワイン価格</a:t>
            </a:r>
            <a:endParaRPr lang="en-US" sz="950" dirty="0"/>
          </a:p>
        </p:txBody>
      </p:sp>
      <p:sp>
        <p:nvSpPr>
          <p:cNvPr id="16" name="Text 13"/>
          <p:cNvSpPr/>
          <p:nvPr/>
        </p:nvSpPr>
        <p:spPr>
          <a:xfrm>
            <a:off x="566928" y="5998464"/>
            <a:ext cx="5486400" cy="256032"/>
          </a:xfrm>
          <a:prstGeom prst="rect">
            <a:avLst/>
          </a:prstGeom>
          <a:noFill/>
          <a:ln/>
        </p:spPr>
        <p:txBody>
          <a:bodyPr wrap="square" lIns="0" tIns="0" rIns="0" bIns="0" rtlCol="0" anchor="ctr"/>
          <a:lstStyle/>
          <a:p>
            <a:pPr indent="0" marL="0">
              <a:buNone/>
            </a:pPr>
            <a:r>
              <a:rPr lang="en-US" sz="1050" dirty="0">
                <a:solidFill>
                  <a:srgbClr val="6E7378"/>
                </a:solidFill>
                <a:latin typeface="Yu Gothic" pitchFamily="34" charset="0"/>
                <a:ea typeface="Yu Gothic" pitchFamily="34" charset="-122"/>
                <a:cs typeface="Yu Gothic" pitchFamily="34" charset="-120"/>
              </a:rPr>
              <a:t>2026年8月　株式会社WineBank</a:t>
            </a:r>
            <a:endParaRPr lang="en-US" sz="1050" dirty="0"/>
          </a:p>
        </p:txBody>
      </p:sp>
      <p:sp>
        <p:nvSpPr>
          <p:cNvPr id="17" name="Text 14"/>
          <p:cNvSpPr/>
          <p:nvPr/>
        </p:nvSpPr>
        <p:spPr>
          <a:xfrm>
            <a:off x="8881567" y="5998464"/>
            <a:ext cx="2743200" cy="256032"/>
          </a:xfrm>
          <a:prstGeom prst="rect">
            <a:avLst/>
          </a:prstGeom>
          <a:noFill/>
          <a:ln/>
        </p:spPr>
        <p:txBody>
          <a:bodyPr wrap="square" lIns="0" tIns="0" rIns="0" bIns="0" rtlCol="0" anchor="ctr"/>
          <a:lstStyle/>
          <a:p>
            <a:pPr algn="r" indent="0" marL="0">
              <a:buNone/>
            </a:pPr>
            <a:r>
              <a:rPr lang="en-US" sz="900" spc="140" kern="0" dirty="0">
                <a:solidFill>
                  <a:srgbClr val="A6ABAF"/>
                </a:solidFill>
                <a:latin typeface="Calibri" pitchFamily="34" charset="0"/>
                <a:ea typeface="Calibri" pitchFamily="34" charset="-122"/>
                <a:cs typeface="Calibri" pitchFamily="34" charset="-120"/>
              </a:rPr>
              <a:t>CONFIDENTIAL</a:t>
            </a:r>
            <a:endParaRPr lang="en-US" sz="900" dirty="0"/>
          </a:p>
        </p:txBody>
      </p:sp>
      <p:sp>
        <p:nvSpPr>
          <p:cNvPr id="18" name="Shape 15"/>
          <p:cNvSpPr/>
          <p:nvPr/>
        </p:nvSpPr>
        <p:spPr>
          <a:xfrm>
            <a:off x="0" y="6583680"/>
            <a:ext cx="12191695" cy="274320"/>
          </a:xfrm>
          <a:prstGeom prst="rect">
            <a:avLst/>
          </a:prstGeom>
          <a:solidFill>
            <a:srgbClr val="2F3941"/>
          </a:solidFill>
          <a:ln w="12700">
            <a:solidFill>
              <a:srgbClr val="333333"/>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381183" y="292608"/>
            <a:ext cx="1243584" cy="247802"/>
          </a:xfrm>
          <a:prstGeom prst="rect">
            <a:avLst/>
          </a:prstGeom>
        </p:spPr>
      </p:pic>
      <p:sp>
        <p:nvSpPr>
          <p:cNvPr id="3" name="Shape 0"/>
          <p:cNvSpPr/>
          <p:nvPr/>
        </p:nvSpPr>
        <p:spPr>
          <a:xfrm>
            <a:off x="566928" y="292608"/>
            <a:ext cx="868680" cy="237744"/>
          </a:xfrm>
          <a:prstGeom prst="roundRect">
            <a:avLst>
              <a:gd name="adj" fmla="val 11538"/>
            </a:avLst>
          </a:prstGeom>
          <a:solidFill>
            <a:srgbClr val="C68A65"/>
          </a:solidFill>
          <a:ln w="12700">
            <a:solidFill>
              <a:srgbClr val="333333"/>
            </a:solidFill>
            <a:prstDash val="solid"/>
          </a:ln>
        </p:spPr>
      </p:sp>
      <p:sp>
        <p:nvSpPr>
          <p:cNvPr id="4" name="Text 1"/>
          <p:cNvSpPr/>
          <p:nvPr/>
        </p:nvSpPr>
        <p:spPr>
          <a:xfrm>
            <a:off x="566928" y="292608"/>
            <a:ext cx="86868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Yu Gothic" pitchFamily="34" charset="0"/>
                <a:ea typeface="Yu Gothic" pitchFamily="34" charset="-122"/>
                <a:cs typeface="Yu Gothic" pitchFamily="34" charset="-120"/>
              </a:rPr>
              <a:t>SUMMARY</a:t>
            </a:r>
            <a:endParaRPr lang="en-US" sz="850" dirty="0"/>
          </a:p>
        </p:txBody>
      </p:sp>
      <p:sp>
        <p:nvSpPr>
          <p:cNvPr id="5" name="Text 2"/>
          <p:cNvSpPr/>
          <p:nvPr/>
        </p:nvSpPr>
        <p:spPr>
          <a:xfrm>
            <a:off x="566928" y="585216"/>
            <a:ext cx="9509760" cy="420624"/>
          </a:xfrm>
          <a:prstGeom prst="rect">
            <a:avLst/>
          </a:prstGeom>
          <a:noFill/>
          <a:ln/>
        </p:spPr>
        <p:txBody>
          <a:bodyPr wrap="square" lIns="0" tIns="0" rIns="0" bIns="0" rtlCol="0" anchor="ctr"/>
          <a:lstStyle/>
          <a:p>
            <a:pPr indent="0" marL="0">
              <a:buNone/>
            </a:pPr>
            <a:r>
              <a:rPr lang="en-US" sz="2300" b="1" dirty="0">
                <a:solidFill>
                  <a:srgbClr val="1A1A1A"/>
                </a:solidFill>
                <a:latin typeface="Yu Gothic" pitchFamily="34" charset="0"/>
                <a:ea typeface="Yu Gothic" pitchFamily="34" charset="-122"/>
                <a:cs typeface="Yu Gothic" pitchFamily="34" charset="-120"/>
              </a:rPr>
              <a:t>ご提案の骨子</a:t>
            </a:r>
            <a:endParaRPr lang="en-US" sz="2300" dirty="0"/>
          </a:p>
        </p:txBody>
      </p:sp>
      <p:sp>
        <p:nvSpPr>
          <p:cNvPr id="6" name="Text 3"/>
          <p:cNvSpPr/>
          <p:nvPr/>
        </p:nvSpPr>
        <p:spPr>
          <a:xfrm>
            <a:off x="566928" y="1024128"/>
            <a:ext cx="11057839" cy="310896"/>
          </a:xfrm>
          <a:prstGeom prst="rect">
            <a:avLst/>
          </a:prstGeom>
          <a:noFill/>
          <a:ln/>
        </p:spPr>
        <p:txBody>
          <a:bodyPr wrap="square" lIns="0" tIns="0" rIns="0" bIns="0" rtlCol="0" anchor="ctr"/>
          <a:lstStyle/>
          <a:p>
            <a:pPr indent="0" marL="0">
              <a:lnSpc>
                <a:spcPts val="1700"/>
              </a:lnSpc>
              <a:buNone/>
            </a:pPr>
            <a:r>
              <a:rPr lang="en-US" sz="1150" dirty="0">
                <a:solidFill>
                  <a:srgbClr val="6E7378"/>
                </a:solidFill>
                <a:latin typeface="Yu Gothic" pitchFamily="34" charset="0"/>
                <a:ea typeface="Yu Gothic" pitchFamily="34" charset="-122"/>
                <a:cs typeface="Yu Gothic" pitchFamily="34" charset="-120"/>
              </a:rPr>
              <a:t>ヒルズには「良いワインを必要とする人」が三層で密集しています。三層の課題は、一つの在庫で同時に解けます。</a:t>
            </a:r>
            <a:endParaRPr lang="en-US" sz="1150" dirty="0"/>
          </a:p>
        </p:txBody>
      </p:sp>
      <p:sp>
        <p:nvSpPr>
          <p:cNvPr id="7" name="Shape 4"/>
          <p:cNvSpPr/>
          <p:nvPr/>
        </p:nvSpPr>
        <p:spPr>
          <a:xfrm>
            <a:off x="0" y="6583680"/>
            <a:ext cx="12191695" cy="274320"/>
          </a:xfrm>
          <a:prstGeom prst="rect">
            <a:avLst/>
          </a:prstGeom>
          <a:solidFill>
            <a:srgbClr val="2F3941"/>
          </a:solidFill>
          <a:ln w="12700">
            <a:solidFill>
              <a:srgbClr val="333333"/>
            </a:solidFill>
            <a:prstDash val="solid"/>
          </a:ln>
        </p:spPr>
      </p:sp>
      <p:sp>
        <p:nvSpPr>
          <p:cNvPr id="8" name="Text 5"/>
          <p:cNvSpPr/>
          <p:nvPr/>
        </p:nvSpPr>
        <p:spPr>
          <a:xfrm>
            <a:off x="10893247" y="6272784"/>
            <a:ext cx="731520" cy="256032"/>
          </a:xfrm>
          <a:prstGeom prst="rect">
            <a:avLst/>
          </a:prstGeom>
          <a:noFill/>
          <a:ln/>
        </p:spPr>
        <p:txBody>
          <a:bodyPr wrap="square" lIns="0" tIns="0" rIns="0" bIns="0" rtlCol="0" anchor="ctr"/>
          <a:lstStyle/>
          <a:p>
            <a:pPr algn="r" indent="0" marL="0">
              <a:buNone/>
            </a:pPr>
            <a:r>
              <a:rPr lang="en-US" sz="1000" dirty="0">
                <a:solidFill>
                  <a:srgbClr val="A6ABAF"/>
                </a:solidFill>
                <a:latin typeface="Calibri" pitchFamily="34" charset="0"/>
                <a:ea typeface="Calibri" pitchFamily="34" charset="-122"/>
                <a:cs typeface="Calibri" pitchFamily="34" charset="-120"/>
              </a:rPr>
              <a:t>1</a:t>
            </a:r>
            <a:endParaRPr lang="en-US" sz="1000" dirty="0"/>
          </a:p>
        </p:txBody>
      </p:sp>
      <p:sp>
        <p:nvSpPr>
          <p:cNvPr id="9" name="Text 6"/>
          <p:cNvSpPr/>
          <p:nvPr/>
        </p:nvSpPr>
        <p:spPr>
          <a:xfrm>
            <a:off x="566928" y="6272784"/>
            <a:ext cx="2926080" cy="256032"/>
          </a:xfrm>
          <a:prstGeom prst="rect">
            <a:avLst/>
          </a:prstGeom>
          <a:noFill/>
          <a:ln/>
        </p:spPr>
        <p:txBody>
          <a:bodyPr wrap="square" lIns="0" tIns="0" rIns="0" bIns="0" rtlCol="0" anchor="ctr"/>
          <a:lstStyle/>
          <a:p>
            <a:pPr indent="0" marL="0">
              <a:buNone/>
            </a:pPr>
            <a:r>
              <a:rPr lang="en-US" sz="850" spc="120" kern="0" dirty="0">
                <a:solidFill>
                  <a:srgbClr val="C7CACC"/>
                </a:solidFill>
                <a:latin typeface="Calibri" pitchFamily="34" charset="0"/>
                <a:ea typeface="Calibri" pitchFamily="34" charset="-122"/>
                <a:cs typeface="Calibri" pitchFamily="34" charset="-120"/>
              </a:rPr>
              <a:t>CONFIDENTIAL</a:t>
            </a:r>
            <a:endParaRPr lang="en-US" sz="850" dirty="0"/>
          </a:p>
        </p:txBody>
      </p:sp>
      <p:sp>
        <p:nvSpPr>
          <p:cNvPr id="10" name="Shape 7"/>
          <p:cNvSpPr/>
          <p:nvPr/>
        </p:nvSpPr>
        <p:spPr>
          <a:xfrm>
            <a:off x="566928" y="1463040"/>
            <a:ext cx="11057839" cy="475488"/>
          </a:xfrm>
          <a:prstGeom prst="rect">
            <a:avLst/>
          </a:prstGeom>
          <a:solidFill>
            <a:srgbClr val="2F3941"/>
          </a:solidFill>
          <a:ln w="12700">
            <a:solidFill>
              <a:srgbClr val="333333"/>
            </a:solidFill>
            <a:prstDash val="solid"/>
          </a:ln>
        </p:spPr>
      </p:sp>
      <p:sp>
        <p:nvSpPr>
          <p:cNvPr id="11" name="Text 8"/>
          <p:cNvSpPr/>
          <p:nvPr/>
        </p:nvSpPr>
        <p:spPr>
          <a:xfrm>
            <a:off x="566928" y="1463040"/>
            <a:ext cx="11057839"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その一つの在庫が、Cloud Wine Cave（クラウド型共有セラー）です。</a:t>
            </a:r>
            <a:endParaRPr lang="en-US" sz="1400" dirty="0"/>
          </a:p>
        </p:txBody>
      </p:sp>
      <p:sp>
        <p:nvSpPr>
          <p:cNvPr id="12" name="Shape 9"/>
          <p:cNvSpPr/>
          <p:nvPr/>
        </p:nvSpPr>
        <p:spPr>
          <a:xfrm>
            <a:off x="566928" y="2157984"/>
            <a:ext cx="2558720" cy="2615184"/>
          </a:xfrm>
          <a:prstGeom prst="roundRect">
            <a:avLst>
              <a:gd name="adj" fmla="val 1787"/>
            </a:avLst>
          </a:prstGeom>
          <a:solidFill>
            <a:srgbClr val="F6F6F6"/>
          </a:solidFill>
          <a:ln w="12700">
            <a:solidFill>
              <a:srgbClr val="333333"/>
            </a:solidFill>
            <a:prstDash val="solid"/>
          </a:ln>
        </p:spPr>
      </p:sp>
      <p:sp>
        <p:nvSpPr>
          <p:cNvPr id="13" name="Shape 10"/>
          <p:cNvSpPr/>
          <p:nvPr/>
        </p:nvSpPr>
        <p:spPr>
          <a:xfrm>
            <a:off x="822960" y="2432304"/>
            <a:ext cx="310896" cy="32004"/>
          </a:xfrm>
          <a:prstGeom prst="rect">
            <a:avLst/>
          </a:prstGeom>
          <a:solidFill>
            <a:srgbClr val="C68A65"/>
          </a:solidFill>
          <a:ln w="12700">
            <a:solidFill>
              <a:srgbClr val="333333"/>
            </a:solidFill>
            <a:prstDash val="solid"/>
          </a:ln>
        </p:spPr>
      </p:sp>
      <p:sp>
        <p:nvSpPr>
          <p:cNvPr id="14" name="Text 11"/>
          <p:cNvSpPr/>
          <p:nvPr/>
        </p:nvSpPr>
        <p:spPr>
          <a:xfrm>
            <a:off x="822960" y="2615184"/>
            <a:ext cx="2046656" cy="292608"/>
          </a:xfrm>
          <a:prstGeom prst="rect">
            <a:avLst/>
          </a:prstGeom>
          <a:noFill/>
          <a:ln/>
        </p:spPr>
        <p:txBody>
          <a:bodyPr wrap="square" lIns="0" tIns="0" rIns="0" bIns="0" rtlCol="0" anchor="ctr"/>
          <a:lstStyle/>
          <a:p>
            <a:pPr indent="0" marL="0">
              <a:buNone/>
            </a:pPr>
            <a:r>
              <a:rPr lang="en-US" sz="1500" b="1" dirty="0">
                <a:solidFill>
                  <a:srgbClr val="1A1A1A"/>
                </a:solidFill>
                <a:latin typeface="Yu Gothic" pitchFamily="34" charset="0"/>
                <a:ea typeface="Yu Gothic" pitchFamily="34" charset="-122"/>
                <a:cs typeface="Yu Gothic" pitchFamily="34" charset="-120"/>
              </a:rPr>
              <a:t>何を</a:t>
            </a:r>
            <a:endParaRPr lang="en-US" sz="1500" dirty="0"/>
          </a:p>
        </p:txBody>
      </p:sp>
      <p:sp>
        <p:nvSpPr>
          <p:cNvPr id="15" name="Text 12"/>
          <p:cNvSpPr/>
          <p:nvPr/>
        </p:nvSpPr>
        <p:spPr>
          <a:xfrm>
            <a:off x="822960" y="2999232"/>
            <a:ext cx="2046656" cy="1645920"/>
          </a:xfrm>
          <a:prstGeom prst="rect">
            <a:avLst/>
          </a:prstGeom>
          <a:noFill/>
          <a:ln/>
        </p:spPr>
        <p:txBody>
          <a:bodyPr wrap="square" lIns="0" tIns="0" rIns="0" bIns="0" rtlCol="0" anchor="ctr"/>
          <a:lstStyle/>
          <a:p>
            <a:pPr marL="342900" indent="-342900">
              <a:lnSpc>
                <a:spcPts val="1450"/>
              </a:lnSpc>
              <a:spcAft>
                <a:spcPts val="600"/>
              </a:spcAft>
              <a:buSzPct val="100000"/>
              <a:buChar char="▪"/>
            </a:pPr>
            <a:r>
              <a:rPr lang="en-US" sz="1020" dirty="0">
                <a:solidFill>
                  <a:srgbClr val="1A1A1A"/>
                </a:solidFill>
                <a:latin typeface="Yu Gothic" pitchFamily="34" charset="0"/>
                <a:ea typeface="Yu Gothic" pitchFamily="34" charset="-122"/>
                <a:cs typeface="Yu Gothic" pitchFamily="34" charset="-120"/>
              </a:rPr>
              <a:t>Cloud Wine Caveを核とした6つのプログラムを共同組成</a:t>
            </a:r>
            <a:endParaRPr lang="en-US" sz="1020" dirty="0"/>
          </a:p>
          <a:p>
            <a:pPr marL="342900" indent="-342900">
              <a:lnSpc>
                <a:spcPts val="1450"/>
              </a:lnSpc>
              <a:spcAft>
                <a:spcPts val="600"/>
              </a:spcAft>
              <a:buSzPct val="100000"/>
              <a:buChar char="▪"/>
            </a:pPr>
            <a:r>
              <a:rPr lang="en-US" sz="1020" dirty="0">
                <a:solidFill>
                  <a:srgbClr val="1A1A1A"/>
                </a:solidFill>
                <a:latin typeface="Yu Gothic" pitchFamily="34" charset="0"/>
                <a:ea typeface="Yu Gothic" pitchFamily="34" charset="-122"/>
                <a:cs typeface="Yu Gothic" pitchFamily="34" charset="-120"/>
              </a:rPr>
              <a:t>在庫は当社が保有。利用者は使った分だけ支払う</a:t>
            </a:r>
            <a:endParaRPr lang="en-US" sz="1020" dirty="0"/>
          </a:p>
        </p:txBody>
      </p:sp>
      <p:sp>
        <p:nvSpPr>
          <p:cNvPr id="16" name="Shape 13"/>
          <p:cNvSpPr/>
          <p:nvPr/>
        </p:nvSpPr>
        <p:spPr>
          <a:xfrm>
            <a:off x="3399968" y="2157984"/>
            <a:ext cx="2558720" cy="2615184"/>
          </a:xfrm>
          <a:prstGeom prst="roundRect">
            <a:avLst>
              <a:gd name="adj" fmla="val 1787"/>
            </a:avLst>
          </a:prstGeom>
          <a:solidFill>
            <a:srgbClr val="F6F6F6"/>
          </a:solidFill>
          <a:ln w="12700">
            <a:solidFill>
              <a:srgbClr val="333333"/>
            </a:solidFill>
            <a:prstDash val="solid"/>
          </a:ln>
        </p:spPr>
      </p:sp>
      <p:sp>
        <p:nvSpPr>
          <p:cNvPr id="17" name="Shape 14"/>
          <p:cNvSpPr/>
          <p:nvPr/>
        </p:nvSpPr>
        <p:spPr>
          <a:xfrm>
            <a:off x="3656000" y="2432304"/>
            <a:ext cx="310896" cy="32004"/>
          </a:xfrm>
          <a:prstGeom prst="rect">
            <a:avLst/>
          </a:prstGeom>
          <a:solidFill>
            <a:srgbClr val="C68A65"/>
          </a:solidFill>
          <a:ln w="12700">
            <a:solidFill>
              <a:srgbClr val="333333"/>
            </a:solidFill>
            <a:prstDash val="solid"/>
          </a:ln>
        </p:spPr>
      </p:sp>
      <p:sp>
        <p:nvSpPr>
          <p:cNvPr id="18" name="Text 15"/>
          <p:cNvSpPr/>
          <p:nvPr/>
        </p:nvSpPr>
        <p:spPr>
          <a:xfrm>
            <a:off x="3656000" y="2615184"/>
            <a:ext cx="2046656" cy="292608"/>
          </a:xfrm>
          <a:prstGeom prst="rect">
            <a:avLst/>
          </a:prstGeom>
          <a:noFill/>
          <a:ln/>
        </p:spPr>
        <p:txBody>
          <a:bodyPr wrap="square" lIns="0" tIns="0" rIns="0" bIns="0" rtlCol="0" anchor="ctr"/>
          <a:lstStyle/>
          <a:p>
            <a:pPr indent="0" marL="0">
              <a:buNone/>
            </a:pPr>
            <a:r>
              <a:rPr lang="en-US" sz="1500" b="1" dirty="0">
                <a:solidFill>
                  <a:srgbClr val="1A1A1A"/>
                </a:solidFill>
                <a:latin typeface="Yu Gothic" pitchFamily="34" charset="0"/>
                <a:ea typeface="Yu Gothic" pitchFamily="34" charset="-122"/>
                <a:cs typeface="Yu Gothic" pitchFamily="34" charset="-120"/>
              </a:rPr>
              <a:t>誰に</a:t>
            </a:r>
            <a:endParaRPr lang="en-US" sz="1500" dirty="0"/>
          </a:p>
        </p:txBody>
      </p:sp>
      <p:sp>
        <p:nvSpPr>
          <p:cNvPr id="19" name="Text 16"/>
          <p:cNvSpPr/>
          <p:nvPr/>
        </p:nvSpPr>
        <p:spPr>
          <a:xfrm>
            <a:off x="3656000" y="2999232"/>
            <a:ext cx="2046656" cy="1645920"/>
          </a:xfrm>
          <a:prstGeom prst="rect">
            <a:avLst/>
          </a:prstGeom>
          <a:noFill/>
          <a:ln/>
        </p:spPr>
        <p:txBody>
          <a:bodyPr wrap="square" lIns="0" tIns="0" rIns="0" bIns="0" rtlCol="0" anchor="ctr"/>
          <a:lstStyle/>
          <a:p>
            <a:pPr marL="342900" indent="-342900">
              <a:lnSpc>
                <a:spcPts val="1450"/>
              </a:lnSpc>
              <a:spcAft>
                <a:spcPts val="600"/>
              </a:spcAft>
              <a:buSzPct val="100000"/>
              <a:buChar char="▪"/>
            </a:pPr>
            <a:r>
              <a:rPr lang="en-US" sz="1020" dirty="0">
                <a:solidFill>
                  <a:srgbClr val="1A1A1A"/>
                </a:solidFill>
                <a:latin typeface="Yu Gothic" pitchFamily="34" charset="0"/>
                <a:ea typeface="Yu Gothic" pitchFamily="34" charset="-122"/>
                <a:cs typeface="Yu Gothic" pitchFamily="34" charset="-120"/>
              </a:rPr>
              <a:t>ヒルズのテナント飲食店（在庫リスクからの解放）</a:t>
            </a:r>
            <a:endParaRPr lang="en-US" sz="1020" dirty="0"/>
          </a:p>
          <a:p>
            <a:pPr marL="342900" indent="-342900">
              <a:lnSpc>
                <a:spcPts val="1450"/>
              </a:lnSpc>
              <a:spcAft>
                <a:spcPts val="600"/>
              </a:spcAft>
              <a:buSzPct val="100000"/>
              <a:buChar char="▪"/>
            </a:pPr>
            <a:r>
              <a:rPr lang="en-US" sz="1020" dirty="0">
                <a:solidFill>
                  <a:srgbClr val="1A1A1A"/>
                </a:solidFill>
                <a:latin typeface="Yu Gothic" pitchFamily="34" charset="0"/>
                <a:ea typeface="Yu Gothic" pitchFamily="34" charset="-122"/>
                <a:cs typeface="Yu Gothic" pitchFamily="34" charset="-120"/>
              </a:rPr>
              <a:t>ヒルズワーカー（接待・会食）</a:t>
            </a:r>
            <a:endParaRPr lang="en-US" sz="1020" dirty="0"/>
          </a:p>
          <a:p>
            <a:pPr marL="342900" indent="-342900">
              <a:lnSpc>
                <a:spcPts val="1450"/>
              </a:lnSpc>
              <a:spcAft>
                <a:spcPts val="600"/>
              </a:spcAft>
              <a:buSzPct val="100000"/>
              <a:buChar char="▪"/>
            </a:pPr>
            <a:r>
              <a:rPr lang="en-US" sz="1020" dirty="0">
                <a:solidFill>
                  <a:srgbClr val="1A1A1A"/>
                </a:solidFill>
                <a:latin typeface="Yu Gothic" pitchFamily="34" charset="0"/>
                <a:ea typeface="Yu Gothic" pitchFamily="34" charset="-122"/>
                <a:cs typeface="Yu Gothic" pitchFamily="34" charset="-120"/>
              </a:rPr>
              <a:t>レジデンス居住者（自宅消費・贈答）</a:t>
            </a:r>
            <a:endParaRPr lang="en-US" sz="1020" dirty="0"/>
          </a:p>
        </p:txBody>
      </p:sp>
      <p:sp>
        <p:nvSpPr>
          <p:cNvPr id="20" name="Shape 17"/>
          <p:cNvSpPr/>
          <p:nvPr/>
        </p:nvSpPr>
        <p:spPr>
          <a:xfrm>
            <a:off x="6233008" y="2157984"/>
            <a:ext cx="2558720" cy="2615184"/>
          </a:xfrm>
          <a:prstGeom prst="roundRect">
            <a:avLst>
              <a:gd name="adj" fmla="val 1787"/>
            </a:avLst>
          </a:prstGeom>
          <a:solidFill>
            <a:srgbClr val="F6F6F6"/>
          </a:solidFill>
          <a:ln w="12700">
            <a:solidFill>
              <a:srgbClr val="333333"/>
            </a:solidFill>
            <a:prstDash val="solid"/>
          </a:ln>
        </p:spPr>
      </p:sp>
      <p:sp>
        <p:nvSpPr>
          <p:cNvPr id="21" name="Shape 18"/>
          <p:cNvSpPr/>
          <p:nvPr/>
        </p:nvSpPr>
        <p:spPr>
          <a:xfrm>
            <a:off x="6489040" y="2432304"/>
            <a:ext cx="310896" cy="32004"/>
          </a:xfrm>
          <a:prstGeom prst="rect">
            <a:avLst/>
          </a:prstGeom>
          <a:solidFill>
            <a:srgbClr val="C68A65"/>
          </a:solidFill>
          <a:ln w="12700">
            <a:solidFill>
              <a:srgbClr val="333333"/>
            </a:solidFill>
            <a:prstDash val="solid"/>
          </a:ln>
        </p:spPr>
      </p:sp>
      <p:sp>
        <p:nvSpPr>
          <p:cNvPr id="22" name="Text 19"/>
          <p:cNvSpPr/>
          <p:nvPr/>
        </p:nvSpPr>
        <p:spPr>
          <a:xfrm>
            <a:off x="6489040" y="2615184"/>
            <a:ext cx="2046656" cy="292608"/>
          </a:xfrm>
          <a:prstGeom prst="rect">
            <a:avLst/>
          </a:prstGeom>
          <a:noFill/>
          <a:ln/>
        </p:spPr>
        <p:txBody>
          <a:bodyPr wrap="square" lIns="0" tIns="0" rIns="0" bIns="0" rtlCol="0" anchor="ctr"/>
          <a:lstStyle/>
          <a:p>
            <a:pPr indent="0" marL="0">
              <a:buNone/>
            </a:pPr>
            <a:r>
              <a:rPr lang="en-US" sz="1500" b="1" dirty="0">
                <a:solidFill>
                  <a:srgbClr val="1A1A1A"/>
                </a:solidFill>
                <a:latin typeface="Yu Gothic" pitchFamily="34" charset="0"/>
                <a:ea typeface="Yu Gothic" pitchFamily="34" charset="-122"/>
                <a:cs typeface="Yu Gothic" pitchFamily="34" charset="-120"/>
              </a:rPr>
              <a:t>森ビル様の便益</a:t>
            </a:r>
            <a:endParaRPr lang="en-US" sz="1500" dirty="0"/>
          </a:p>
        </p:txBody>
      </p:sp>
      <p:sp>
        <p:nvSpPr>
          <p:cNvPr id="23" name="Text 20"/>
          <p:cNvSpPr/>
          <p:nvPr/>
        </p:nvSpPr>
        <p:spPr>
          <a:xfrm>
            <a:off x="6489040" y="2999232"/>
            <a:ext cx="2046656" cy="1645920"/>
          </a:xfrm>
          <a:prstGeom prst="rect">
            <a:avLst/>
          </a:prstGeom>
          <a:noFill/>
          <a:ln/>
        </p:spPr>
        <p:txBody>
          <a:bodyPr wrap="square" lIns="0" tIns="0" rIns="0" bIns="0" rtlCol="0" anchor="ctr"/>
          <a:lstStyle/>
          <a:p>
            <a:pPr marL="342900" indent="-342900">
              <a:lnSpc>
                <a:spcPts val="1450"/>
              </a:lnSpc>
              <a:spcAft>
                <a:spcPts val="600"/>
              </a:spcAft>
              <a:buSzPct val="100000"/>
              <a:buChar char="▪"/>
            </a:pPr>
            <a:r>
              <a:rPr lang="en-US" sz="1020" dirty="0">
                <a:solidFill>
                  <a:srgbClr val="1A1A1A"/>
                </a:solidFill>
                <a:latin typeface="Yu Gothic" pitchFamily="34" charset="0"/>
                <a:ea typeface="Yu Gothic" pitchFamily="34" charset="-122"/>
                <a:cs typeface="Yu Gothic" pitchFamily="34" charset="-120"/>
              </a:rPr>
              <a:t>テナント飲食店の在庫負担軽減と収益性改善</a:t>
            </a:r>
            <a:endParaRPr lang="en-US" sz="1020" dirty="0"/>
          </a:p>
          <a:p>
            <a:pPr marL="342900" indent="-342900">
              <a:lnSpc>
                <a:spcPts val="1450"/>
              </a:lnSpc>
              <a:spcAft>
                <a:spcPts val="600"/>
              </a:spcAft>
              <a:buSzPct val="100000"/>
              <a:buChar char="▪"/>
            </a:pPr>
            <a:r>
              <a:rPr lang="en-US" sz="1020" dirty="0">
                <a:solidFill>
                  <a:srgbClr val="1A1A1A"/>
                </a:solidFill>
                <a:latin typeface="Yu Gothic" pitchFamily="34" charset="0"/>
                <a:ea typeface="Yu Gothic" pitchFamily="34" charset="-122"/>
                <a:cs typeface="Yu Gothic" pitchFamily="34" charset="-120"/>
              </a:rPr>
              <a:t>居住者・ワーカーの満足度と定着</a:t>
            </a:r>
            <a:endParaRPr lang="en-US" sz="1020" dirty="0"/>
          </a:p>
          <a:p>
            <a:pPr marL="342900" indent="-342900">
              <a:lnSpc>
                <a:spcPts val="1450"/>
              </a:lnSpc>
              <a:spcAft>
                <a:spcPts val="600"/>
              </a:spcAft>
              <a:buSzPct val="100000"/>
              <a:buChar char="▪"/>
            </a:pPr>
            <a:r>
              <a:rPr lang="en-US" sz="1020" dirty="0">
                <a:solidFill>
                  <a:srgbClr val="1A1A1A"/>
                </a:solidFill>
                <a:latin typeface="Yu Gothic" pitchFamily="34" charset="0"/>
                <a:ea typeface="Yu Gothic" pitchFamily="34" charset="-122"/>
                <a:cs typeface="Yu Gothic" pitchFamily="34" charset="-120"/>
              </a:rPr>
              <a:t>商業区画の話題性、レベニューシェア収入</a:t>
            </a:r>
            <a:endParaRPr lang="en-US" sz="1020" dirty="0"/>
          </a:p>
        </p:txBody>
      </p:sp>
      <p:sp>
        <p:nvSpPr>
          <p:cNvPr id="24" name="Shape 21"/>
          <p:cNvSpPr/>
          <p:nvPr/>
        </p:nvSpPr>
        <p:spPr>
          <a:xfrm>
            <a:off x="9066047" y="2157984"/>
            <a:ext cx="2558720" cy="2615184"/>
          </a:xfrm>
          <a:prstGeom prst="roundRect">
            <a:avLst>
              <a:gd name="adj" fmla="val 1787"/>
            </a:avLst>
          </a:prstGeom>
          <a:solidFill>
            <a:srgbClr val="F6F6F6"/>
          </a:solidFill>
          <a:ln w="12700">
            <a:solidFill>
              <a:srgbClr val="333333"/>
            </a:solidFill>
            <a:prstDash val="solid"/>
          </a:ln>
        </p:spPr>
      </p:sp>
      <p:sp>
        <p:nvSpPr>
          <p:cNvPr id="25" name="Shape 22"/>
          <p:cNvSpPr/>
          <p:nvPr/>
        </p:nvSpPr>
        <p:spPr>
          <a:xfrm>
            <a:off x="9322079" y="2432304"/>
            <a:ext cx="310896" cy="32004"/>
          </a:xfrm>
          <a:prstGeom prst="rect">
            <a:avLst/>
          </a:prstGeom>
          <a:solidFill>
            <a:srgbClr val="C68A65"/>
          </a:solidFill>
          <a:ln w="12700">
            <a:solidFill>
              <a:srgbClr val="333333"/>
            </a:solidFill>
            <a:prstDash val="solid"/>
          </a:ln>
        </p:spPr>
      </p:sp>
      <p:sp>
        <p:nvSpPr>
          <p:cNvPr id="26" name="Text 23"/>
          <p:cNvSpPr/>
          <p:nvPr/>
        </p:nvSpPr>
        <p:spPr>
          <a:xfrm>
            <a:off x="9322079" y="2615184"/>
            <a:ext cx="2046656" cy="292608"/>
          </a:xfrm>
          <a:prstGeom prst="rect">
            <a:avLst/>
          </a:prstGeom>
          <a:noFill/>
          <a:ln/>
        </p:spPr>
        <p:txBody>
          <a:bodyPr wrap="square" lIns="0" tIns="0" rIns="0" bIns="0" rtlCol="0" anchor="ctr"/>
          <a:lstStyle/>
          <a:p>
            <a:pPr indent="0" marL="0">
              <a:buNone/>
            </a:pPr>
            <a:r>
              <a:rPr lang="en-US" sz="1500" b="1" dirty="0">
                <a:solidFill>
                  <a:srgbClr val="1A1A1A"/>
                </a:solidFill>
                <a:latin typeface="Yu Gothic" pitchFamily="34" charset="0"/>
                <a:ea typeface="Yu Gothic" pitchFamily="34" charset="-122"/>
                <a:cs typeface="Yu Gothic" pitchFamily="34" charset="-120"/>
              </a:rPr>
              <a:t>当社が持ち込むもの</a:t>
            </a:r>
            <a:endParaRPr lang="en-US" sz="1500" dirty="0"/>
          </a:p>
        </p:txBody>
      </p:sp>
      <p:sp>
        <p:nvSpPr>
          <p:cNvPr id="27" name="Text 24"/>
          <p:cNvSpPr/>
          <p:nvPr/>
        </p:nvSpPr>
        <p:spPr>
          <a:xfrm>
            <a:off x="9322079" y="2999232"/>
            <a:ext cx="2046656" cy="1645920"/>
          </a:xfrm>
          <a:prstGeom prst="rect">
            <a:avLst/>
          </a:prstGeom>
          <a:noFill/>
          <a:ln/>
        </p:spPr>
        <p:txBody>
          <a:bodyPr wrap="square" lIns="0" tIns="0" rIns="0" bIns="0" rtlCol="0" anchor="ctr"/>
          <a:lstStyle/>
          <a:p>
            <a:pPr marL="342900" indent="-342900">
              <a:lnSpc>
                <a:spcPts val="1450"/>
              </a:lnSpc>
              <a:spcAft>
                <a:spcPts val="600"/>
              </a:spcAft>
              <a:buSzPct val="100000"/>
              <a:buChar char="▪"/>
            </a:pPr>
            <a:r>
              <a:rPr lang="en-US" sz="1020" dirty="0">
                <a:solidFill>
                  <a:srgbClr val="1A1A1A"/>
                </a:solidFill>
                <a:latin typeface="Yu Gothic" pitchFamily="34" charset="0"/>
                <a:ea typeface="Yu Gothic" pitchFamily="34" charset="-122"/>
                <a:cs typeface="Yu Gothic" pitchFamily="34" charset="-120"/>
              </a:rPr>
              <a:t>55年の仕入網と30億円の管理在庫</a:t>
            </a:r>
            <a:endParaRPr lang="en-US" sz="1020" dirty="0"/>
          </a:p>
          <a:p>
            <a:pPr marL="342900" indent="-342900">
              <a:lnSpc>
                <a:spcPts val="1450"/>
              </a:lnSpc>
              <a:spcAft>
                <a:spcPts val="600"/>
              </a:spcAft>
              <a:buSzPct val="100000"/>
              <a:buChar char="▪"/>
            </a:pPr>
            <a:r>
              <a:rPr lang="en-US" sz="1020" dirty="0">
                <a:solidFill>
                  <a:srgbClr val="1A1A1A"/>
                </a:solidFill>
                <a:latin typeface="Yu Gothic" pitchFamily="34" charset="0"/>
                <a:ea typeface="Yu Gothic" pitchFamily="34" charset="-122"/>
                <a:cs typeface="Yu Gothic" pitchFamily="34" charset="-120"/>
              </a:rPr>
              <a:t>定温ラストワンマイル配送網 WineGO</a:t>
            </a:r>
            <a:endParaRPr lang="en-US" sz="1020" dirty="0"/>
          </a:p>
          <a:p>
            <a:pPr marL="342900" indent="-342900">
              <a:lnSpc>
                <a:spcPts val="1450"/>
              </a:lnSpc>
              <a:spcAft>
                <a:spcPts val="600"/>
              </a:spcAft>
              <a:buSzPct val="100000"/>
              <a:buChar char="▪"/>
            </a:pPr>
            <a:r>
              <a:rPr lang="en-US" sz="1020" dirty="0">
                <a:solidFill>
                  <a:srgbClr val="1A1A1A"/>
                </a:solidFill>
                <a:latin typeface="Yu Gothic" pitchFamily="34" charset="0"/>
                <a:ea typeface="Yu Gothic" pitchFamily="34" charset="-122"/>
                <a:cs typeface="Yu Gothic" pitchFamily="34" charset="-120"/>
              </a:rPr>
              <a:t>グランメゾン運営とティエリー・マルクス</a:t>
            </a:r>
            <a:endParaRPr lang="en-US" sz="1020" dirty="0"/>
          </a:p>
        </p:txBody>
      </p:sp>
      <p:sp>
        <p:nvSpPr>
          <p:cNvPr id="28" name="Text 25"/>
          <p:cNvSpPr/>
          <p:nvPr/>
        </p:nvSpPr>
        <p:spPr>
          <a:xfrm>
            <a:off x="566928" y="4992624"/>
            <a:ext cx="10972800" cy="292608"/>
          </a:xfrm>
          <a:prstGeom prst="rect">
            <a:avLst/>
          </a:prstGeom>
          <a:noFill/>
          <a:ln/>
        </p:spPr>
        <p:txBody>
          <a:bodyPr wrap="square" lIns="0" tIns="0" rIns="0" bIns="0" rtlCol="0" anchor="ctr"/>
          <a:lstStyle/>
          <a:p>
            <a:pPr indent="0" marL="0">
              <a:buNone/>
            </a:pPr>
            <a:r>
              <a:rPr lang="en-US" sz="1100" b="1" dirty="0">
                <a:solidFill>
                  <a:srgbClr val="A06D4C"/>
                </a:solidFill>
                <a:latin typeface="Yu Gothic" pitchFamily="34" charset="0"/>
                <a:ea typeface="Yu Gothic" pitchFamily="34" charset="-122"/>
                <a:cs typeface="Yu Gothic" pitchFamily="34" charset="-120"/>
              </a:rPr>
              <a:t>各プログラムは単独でも成立します。まずは設備投資を伴わないCloud Wine Cave／WineGO／CLUBから、3か月のPoCでご検証いただくご提案です。</a:t>
            </a:r>
            <a:endParaRPr lang="en-US" sz="1100" dirty="0"/>
          </a:p>
        </p:txBody>
      </p:sp>
      <p:sp>
        <p:nvSpPr>
          <p:cNvPr id="29" name="Text 26"/>
          <p:cNvSpPr/>
          <p:nvPr/>
        </p:nvSpPr>
        <p:spPr>
          <a:xfrm>
            <a:off x="566928" y="5358384"/>
            <a:ext cx="10972800" cy="256032"/>
          </a:xfrm>
          <a:prstGeom prst="rect">
            <a:avLst/>
          </a:prstGeom>
          <a:noFill/>
          <a:ln/>
        </p:spPr>
        <p:txBody>
          <a:bodyPr wrap="square" lIns="0" tIns="0" rIns="0" bIns="0" rtlCol="0" anchor="ctr"/>
          <a:lstStyle/>
          <a:p>
            <a:pPr indent="0" marL="0">
              <a:buNone/>
            </a:pPr>
            <a:r>
              <a:rPr lang="en-US" sz="900" dirty="0">
                <a:solidFill>
                  <a:srgbClr val="A6ABAF"/>
                </a:solidFill>
                <a:latin typeface="Yu Gothic" pitchFamily="34" charset="0"/>
                <a:ea typeface="Yu Gothic" pitchFamily="34" charset="-122"/>
                <a:cs typeface="Yu Gothic" pitchFamily="34" charset="-120"/>
              </a:rPr>
              <a:t>※ 本ご提案は「使えるサービス」としてのご提案であり、投資商品・利回りのご案内ではありません。</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381183" y="292608"/>
            <a:ext cx="1243584" cy="247802"/>
          </a:xfrm>
          <a:prstGeom prst="rect">
            <a:avLst/>
          </a:prstGeom>
        </p:spPr>
      </p:pic>
      <p:sp>
        <p:nvSpPr>
          <p:cNvPr id="3" name="Shape 0"/>
          <p:cNvSpPr/>
          <p:nvPr/>
        </p:nvSpPr>
        <p:spPr>
          <a:xfrm>
            <a:off x="566928" y="292608"/>
            <a:ext cx="1033272" cy="237744"/>
          </a:xfrm>
          <a:prstGeom prst="roundRect">
            <a:avLst>
              <a:gd name="adj" fmla="val 11538"/>
            </a:avLst>
          </a:prstGeom>
          <a:solidFill>
            <a:srgbClr val="C68A65"/>
          </a:solidFill>
          <a:ln w="12700">
            <a:solidFill>
              <a:srgbClr val="333333"/>
            </a:solidFill>
            <a:prstDash val="solid"/>
          </a:ln>
        </p:spPr>
      </p:sp>
      <p:sp>
        <p:nvSpPr>
          <p:cNvPr id="4" name="Text 1"/>
          <p:cNvSpPr/>
          <p:nvPr/>
        </p:nvSpPr>
        <p:spPr>
          <a:xfrm>
            <a:off x="566928" y="292608"/>
            <a:ext cx="1033272"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Yu Gothic" pitchFamily="34" charset="0"/>
                <a:ea typeface="Yu Gothic" pitchFamily="34" charset="-122"/>
                <a:cs typeface="Yu Gothic" pitchFamily="34" charset="-120"/>
              </a:rPr>
              <a:t>WHY HILLS</a:t>
            </a:r>
            <a:endParaRPr lang="en-US" sz="850" dirty="0"/>
          </a:p>
        </p:txBody>
      </p:sp>
      <p:sp>
        <p:nvSpPr>
          <p:cNvPr id="5" name="Text 2"/>
          <p:cNvSpPr/>
          <p:nvPr/>
        </p:nvSpPr>
        <p:spPr>
          <a:xfrm>
            <a:off x="566928" y="585216"/>
            <a:ext cx="9509760" cy="420624"/>
          </a:xfrm>
          <a:prstGeom prst="rect">
            <a:avLst/>
          </a:prstGeom>
          <a:noFill/>
          <a:ln/>
        </p:spPr>
        <p:txBody>
          <a:bodyPr wrap="square" lIns="0" tIns="0" rIns="0" bIns="0" rtlCol="0" anchor="ctr"/>
          <a:lstStyle/>
          <a:p>
            <a:pPr indent="0" marL="0">
              <a:buNone/>
            </a:pPr>
            <a:r>
              <a:rPr lang="en-US" sz="2300" b="1" dirty="0">
                <a:solidFill>
                  <a:srgbClr val="1A1A1A"/>
                </a:solidFill>
                <a:latin typeface="Yu Gothic" pitchFamily="34" charset="0"/>
                <a:ea typeface="Yu Gothic" pitchFamily="34" charset="-122"/>
                <a:cs typeface="Yu Gothic" pitchFamily="34" charset="-120"/>
              </a:rPr>
              <a:t>ヒルズには、ワインを必要とする人が三層で密集している</a:t>
            </a:r>
            <a:endParaRPr lang="en-US" sz="2300" dirty="0"/>
          </a:p>
        </p:txBody>
      </p:sp>
      <p:sp>
        <p:nvSpPr>
          <p:cNvPr id="6" name="Text 3"/>
          <p:cNvSpPr/>
          <p:nvPr/>
        </p:nvSpPr>
        <p:spPr>
          <a:xfrm>
            <a:off x="566928" y="1024128"/>
            <a:ext cx="11057839" cy="310896"/>
          </a:xfrm>
          <a:prstGeom prst="rect">
            <a:avLst/>
          </a:prstGeom>
          <a:noFill/>
          <a:ln/>
        </p:spPr>
        <p:txBody>
          <a:bodyPr wrap="square" lIns="0" tIns="0" rIns="0" bIns="0" rtlCol="0" anchor="ctr"/>
          <a:lstStyle/>
          <a:p>
            <a:pPr indent="0" marL="0">
              <a:lnSpc>
                <a:spcPts val="1700"/>
              </a:lnSpc>
              <a:buNone/>
            </a:pPr>
            <a:r>
              <a:rPr lang="en-US" sz="1150" dirty="0">
                <a:solidFill>
                  <a:srgbClr val="6E7378"/>
                </a:solidFill>
                <a:latin typeface="Yu Gothic" pitchFamily="34" charset="0"/>
                <a:ea typeface="Yu Gothic" pitchFamily="34" charset="-122"/>
                <a:cs typeface="Yu Gothic" pitchFamily="34" charset="-120"/>
              </a:rPr>
              <a:t>そしてこの三層は、互いに別々の相手ではありません。同じ街で、同じ夜に、同じ一本を必要としています。</a:t>
            </a:r>
            <a:endParaRPr lang="en-US" sz="1150" dirty="0"/>
          </a:p>
        </p:txBody>
      </p:sp>
      <p:sp>
        <p:nvSpPr>
          <p:cNvPr id="7" name="Shape 4"/>
          <p:cNvSpPr/>
          <p:nvPr/>
        </p:nvSpPr>
        <p:spPr>
          <a:xfrm>
            <a:off x="0" y="6583680"/>
            <a:ext cx="12191695" cy="274320"/>
          </a:xfrm>
          <a:prstGeom prst="rect">
            <a:avLst/>
          </a:prstGeom>
          <a:solidFill>
            <a:srgbClr val="2F3941"/>
          </a:solidFill>
          <a:ln w="12700">
            <a:solidFill>
              <a:srgbClr val="333333"/>
            </a:solidFill>
            <a:prstDash val="solid"/>
          </a:ln>
        </p:spPr>
      </p:sp>
      <p:sp>
        <p:nvSpPr>
          <p:cNvPr id="8" name="Text 5"/>
          <p:cNvSpPr/>
          <p:nvPr/>
        </p:nvSpPr>
        <p:spPr>
          <a:xfrm>
            <a:off x="10893247" y="6272784"/>
            <a:ext cx="731520" cy="256032"/>
          </a:xfrm>
          <a:prstGeom prst="rect">
            <a:avLst/>
          </a:prstGeom>
          <a:noFill/>
          <a:ln/>
        </p:spPr>
        <p:txBody>
          <a:bodyPr wrap="square" lIns="0" tIns="0" rIns="0" bIns="0" rtlCol="0" anchor="ctr"/>
          <a:lstStyle/>
          <a:p>
            <a:pPr algn="r" indent="0" marL="0">
              <a:buNone/>
            </a:pPr>
            <a:r>
              <a:rPr lang="en-US" sz="1000" dirty="0">
                <a:solidFill>
                  <a:srgbClr val="A6ABAF"/>
                </a:solidFill>
                <a:latin typeface="Calibri" pitchFamily="34" charset="0"/>
                <a:ea typeface="Calibri" pitchFamily="34" charset="-122"/>
                <a:cs typeface="Calibri" pitchFamily="34" charset="-120"/>
              </a:rPr>
              <a:t>2</a:t>
            </a:r>
            <a:endParaRPr lang="en-US" sz="1000" dirty="0"/>
          </a:p>
        </p:txBody>
      </p:sp>
      <p:sp>
        <p:nvSpPr>
          <p:cNvPr id="9" name="Text 6"/>
          <p:cNvSpPr/>
          <p:nvPr/>
        </p:nvSpPr>
        <p:spPr>
          <a:xfrm>
            <a:off x="566928" y="6272784"/>
            <a:ext cx="2926080" cy="256032"/>
          </a:xfrm>
          <a:prstGeom prst="rect">
            <a:avLst/>
          </a:prstGeom>
          <a:noFill/>
          <a:ln/>
        </p:spPr>
        <p:txBody>
          <a:bodyPr wrap="square" lIns="0" tIns="0" rIns="0" bIns="0" rtlCol="0" anchor="ctr"/>
          <a:lstStyle/>
          <a:p>
            <a:pPr indent="0" marL="0">
              <a:buNone/>
            </a:pPr>
            <a:r>
              <a:rPr lang="en-US" sz="850" spc="120" kern="0" dirty="0">
                <a:solidFill>
                  <a:srgbClr val="C7CACC"/>
                </a:solidFill>
                <a:latin typeface="Calibri" pitchFamily="34" charset="0"/>
                <a:ea typeface="Calibri" pitchFamily="34" charset="-122"/>
                <a:cs typeface="Calibri" pitchFamily="34" charset="-120"/>
              </a:rPr>
              <a:t>CONFIDENTIAL</a:t>
            </a:r>
            <a:endParaRPr lang="en-US" sz="850" dirty="0"/>
          </a:p>
        </p:txBody>
      </p:sp>
      <p:sp>
        <p:nvSpPr>
          <p:cNvPr id="10" name="Shape 7"/>
          <p:cNvSpPr/>
          <p:nvPr/>
        </p:nvSpPr>
        <p:spPr>
          <a:xfrm>
            <a:off x="566928" y="1481328"/>
            <a:ext cx="3490874" cy="2651760"/>
          </a:xfrm>
          <a:prstGeom prst="roundRect">
            <a:avLst>
              <a:gd name="adj" fmla="val 1724"/>
            </a:avLst>
          </a:prstGeom>
          <a:solidFill>
            <a:srgbClr val="F6F6F6"/>
          </a:solidFill>
          <a:ln w="12700">
            <a:solidFill>
              <a:srgbClr val="333333"/>
            </a:solidFill>
            <a:prstDash val="solid"/>
          </a:ln>
        </p:spPr>
      </p:sp>
      <p:sp>
        <p:nvSpPr>
          <p:cNvPr id="11" name="Shape 8"/>
          <p:cNvSpPr/>
          <p:nvPr/>
        </p:nvSpPr>
        <p:spPr>
          <a:xfrm>
            <a:off x="822960" y="1700784"/>
            <a:ext cx="310896" cy="32004"/>
          </a:xfrm>
          <a:prstGeom prst="rect">
            <a:avLst/>
          </a:prstGeom>
          <a:solidFill>
            <a:srgbClr val="C68A65"/>
          </a:solidFill>
          <a:ln w="12700">
            <a:solidFill>
              <a:srgbClr val="333333"/>
            </a:solidFill>
            <a:prstDash val="solid"/>
          </a:ln>
        </p:spPr>
      </p:sp>
      <p:sp>
        <p:nvSpPr>
          <p:cNvPr id="12" name="Text 9"/>
          <p:cNvSpPr/>
          <p:nvPr/>
        </p:nvSpPr>
        <p:spPr>
          <a:xfrm>
            <a:off x="822960" y="1847088"/>
            <a:ext cx="2978810" cy="310896"/>
          </a:xfrm>
          <a:prstGeom prst="rect">
            <a:avLst/>
          </a:prstGeom>
          <a:noFill/>
          <a:ln/>
        </p:spPr>
        <p:txBody>
          <a:bodyPr wrap="square" lIns="0" tIns="0" rIns="0" bIns="0" rtlCol="0" anchor="ctr"/>
          <a:lstStyle/>
          <a:p>
            <a:pPr indent="0" marL="0">
              <a:buNone/>
            </a:pPr>
            <a:r>
              <a:rPr lang="en-US" sz="1700" b="1" dirty="0">
                <a:solidFill>
                  <a:srgbClr val="1A1A1A"/>
                </a:solidFill>
                <a:latin typeface="Yu Gothic" pitchFamily="34" charset="0"/>
                <a:ea typeface="Yu Gothic" pitchFamily="34" charset="-122"/>
                <a:cs typeface="Yu Gothic" pitchFamily="34" charset="-120"/>
              </a:rPr>
              <a:t>テナント飲食店</a:t>
            </a:r>
            <a:endParaRPr lang="en-US" sz="1700" dirty="0"/>
          </a:p>
        </p:txBody>
      </p:sp>
      <p:sp>
        <p:nvSpPr>
          <p:cNvPr id="13" name="Text 10"/>
          <p:cNvSpPr/>
          <p:nvPr/>
        </p:nvSpPr>
        <p:spPr>
          <a:xfrm>
            <a:off x="822960" y="2176272"/>
            <a:ext cx="2978810" cy="256032"/>
          </a:xfrm>
          <a:prstGeom prst="rect">
            <a:avLst/>
          </a:prstGeom>
          <a:noFill/>
          <a:ln/>
        </p:spPr>
        <p:txBody>
          <a:bodyPr wrap="square" lIns="0" tIns="0" rIns="0" bIns="0" rtlCol="0" anchor="ctr"/>
          <a:lstStyle/>
          <a:p>
            <a:pPr indent="0" marL="0">
              <a:buNone/>
            </a:pPr>
            <a:r>
              <a:rPr lang="en-US" sz="950" dirty="0">
                <a:solidFill>
                  <a:srgbClr val="6E7378"/>
                </a:solidFill>
                <a:latin typeface="Yu Gothic" pitchFamily="34" charset="0"/>
                <a:ea typeface="Yu Gothic" pitchFamily="34" charset="-122"/>
                <a:cs typeface="Yu Gothic" pitchFamily="34" charset="-120"/>
              </a:rPr>
              <a:t>ヒルズ内の高級店・グランメゾン</a:t>
            </a:r>
            <a:endParaRPr lang="en-US" sz="950" dirty="0"/>
          </a:p>
        </p:txBody>
      </p:sp>
      <p:sp>
        <p:nvSpPr>
          <p:cNvPr id="14" name="Text 11"/>
          <p:cNvSpPr/>
          <p:nvPr/>
        </p:nvSpPr>
        <p:spPr>
          <a:xfrm>
            <a:off x="822960" y="2542032"/>
            <a:ext cx="2978810" cy="237744"/>
          </a:xfrm>
          <a:prstGeom prst="rect">
            <a:avLst/>
          </a:prstGeom>
          <a:noFill/>
          <a:ln/>
        </p:spPr>
        <p:txBody>
          <a:bodyPr wrap="square" lIns="0" tIns="0" rIns="0" bIns="0" rtlCol="0" anchor="ctr"/>
          <a:lstStyle/>
          <a:p>
            <a:pPr indent="0" marL="0">
              <a:buNone/>
            </a:pPr>
            <a:r>
              <a:rPr lang="en-US" sz="1050" b="1" dirty="0">
                <a:solidFill>
                  <a:srgbClr val="A06D4C"/>
                </a:solidFill>
                <a:latin typeface="Yu Gothic" pitchFamily="34" charset="0"/>
                <a:ea typeface="Yu Gothic" pitchFamily="34" charset="-122"/>
                <a:cs typeface="Yu Gothic" pitchFamily="34" charset="-120"/>
              </a:rPr>
              <a:t>いま抱えている課題</a:t>
            </a:r>
            <a:endParaRPr lang="en-US" sz="1050" dirty="0"/>
          </a:p>
        </p:txBody>
      </p:sp>
      <p:sp>
        <p:nvSpPr>
          <p:cNvPr id="15" name="Text 12"/>
          <p:cNvSpPr/>
          <p:nvPr/>
        </p:nvSpPr>
        <p:spPr>
          <a:xfrm>
            <a:off x="822960" y="2816352"/>
            <a:ext cx="2978810" cy="1170432"/>
          </a:xfrm>
          <a:prstGeom prst="rect">
            <a:avLst/>
          </a:prstGeom>
          <a:noFill/>
          <a:ln/>
        </p:spPr>
        <p:txBody>
          <a:bodyPr wrap="square" lIns="0" tIns="0" rIns="0" bIns="0" rtlCol="0" anchor="ctr"/>
          <a:lstStyle/>
          <a:p>
            <a:pPr marL="342900" indent="-342900">
              <a:lnSpc>
                <a:spcPts val="1500"/>
              </a:lnSpc>
              <a:spcAft>
                <a:spcPts val="600"/>
              </a:spcAft>
              <a:buSzPct val="100000"/>
              <a:buChar char="▪"/>
            </a:pPr>
            <a:r>
              <a:rPr lang="en-US" sz="1030" dirty="0">
                <a:solidFill>
                  <a:srgbClr val="1A1A1A"/>
                </a:solidFill>
                <a:latin typeface="Yu Gothic" pitchFamily="34" charset="0"/>
                <a:ea typeface="Yu Gothic" pitchFamily="34" charset="-122"/>
                <a:cs typeface="Yu Gothic" pitchFamily="34" charset="-120"/>
              </a:rPr>
              <a:t>高額ワインの在庫が資金を拘束する</a:t>
            </a:r>
            <a:endParaRPr lang="en-US" sz="1030" dirty="0"/>
          </a:p>
          <a:p>
            <a:pPr marL="342900" indent="-342900">
              <a:lnSpc>
                <a:spcPts val="1500"/>
              </a:lnSpc>
              <a:spcAft>
                <a:spcPts val="600"/>
              </a:spcAft>
              <a:buSzPct val="100000"/>
              <a:buChar char="▪"/>
            </a:pPr>
            <a:r>
              <a:rPr lang="en-US" sz="1030" dirty="0">
                <a:solidFill>
                  <a:srgbClr val="1A1A1A"/>
                </a:solidFill>
                <a:latin typeface="Yu Gothic" pitchFamily="34" charset="0"/>
                <a:ea typeface="Yu Gothic" pitchFamily="34" charset="-122"/>
                <a:cs typeface="Yu Gothic" pitchFamily="34" charset="-120"/>
              </a:rPr>
              <a:t>セラー設備への投資と保管スペースの限界</a:t>
            </a:r>
            <a:endParaRPr lang="en-US" sz="1030" dirty="0"/>
          </a:p>
          <a:p>
            <a:pPr marL="342900" indent="-342900">
              <a:lnSpc>
                <a:spcPts val="1500"/>
              </a:lnSpc>
              <a:spcAft>
                <a:spcPts val="600"/>
              </a:spcAft>
              <a:buSzPct val="100000"/>
              <a:buChar char="▪"/>
            </a:pPr>
            <a:r>
              <a:rPr lang="en-US" sz="1030" dirty="0">
                <a:solidFill>
                  <a:srgbClr val="1A1A1A"/>
                </a:solidFill>
                <a:latin typeface="Yu Gothic" pitchFamily="34" charset="0"/>
                <a:ea typeface="Yu Gothic" pitchFamily="34" charset="-122"/>
                <a:cs typeface="Yu Gothic" pitchFamily="34" charset="-120"/>
              </a:rPr>
              <a:t>富裕層客の突発的な注文に応えられない</a:t>
            </a:r>
            <a:endParaRPr lang="en-US" sz="1030" dirty="0"/>
          </a:p>
        </p:txBody>
      </p:sp>
      <p:sp>
        <p:nvSpPr>
          <p:cNvPr id="16" name="Shape 13"/>
          <p:cNvSpPr/>
          <p:nvPr/>
        </p:nvSpPr>
        <p:spPr>
          <a:xfrm>
            <a:off x="4350410" y="1481328"/>
            <a:ext cx="3490874" cy="2651760"/>
          </a:xfrm>
          <a:prstGeom prst="roundRect">
            <a:avLst>
              <a:gd name="adj" fmla="val 1724"/>
            </a:avLst>
          </a:prstGeom>
          <a:solidFill>
            <a:srgbClr val="F6F6F6"/>
          </a:solidFill>
          <a:ln w="12700">
            <a:solidFill>
              <a:srgbClr val="333333"/>
            </a:solidFill>
            <a:prstDash val="solid"/>
          </a:ln>
        </p:spPr>
      </p:sp>
      <p:sp>
        <p:nvSpPr>
          <p:cNvPr id="17" name="Shape 14"/>
          <p:cNvSpPr/>
          <p:nvPr/>
        </p:nvSpPr>
        <p:spPr>
          <a:xfrm>
            <a:off x="4606442" y="1700784"/>
            <a:ext cx="310896" cy="32004"/>
          </a:xfrm>
          <a:prstGeom prst="rect">
            <a:avLst/>
          </a:prstGeom>
          <a:solidFill>
            <a:srgbClr val="C68A65"/>
          </a:solidFill>
          <a:ln w="12700">
            <a:solidFill>
              <a:srgbClr val="333333"/>
            </a:solidFill>
            <a:prstDash val="solid"/>
          </a:ln>
        </p:spPr>
      </p:sp>
      <p:sp>
        <p:nvSpPr>
          <p:cNvPr id="18" name="Text 15"/>
          <p:cNvSpPr/>
          <p:nvPr/>
        </p:nvSpPr>
        <p:spPr>
          <a:xfrm>
            <a:off x="4606442" y="1847088"/>
            <a:ext cx="2978810" cy="310896"/>
          </a:xfrm>
          <a:prstGeom prst="rect">
            <a:avLst/>
          </a:prstGeom>
          <a:noFill/>
          <a:ln/>
        </p:spPr>
        <p:txBody>
          <a:bodyPr wrap="square" lIns="0" tIns="0" rIns="0" bIns="0" rtlCol="0" anchor="ctr"/>
          <a:lstStyle/>
          <a:p>
            <a:pPr indent="0" marL="0">
              <a:buNone/>
            </a:pPr>
            <a:r>
              <a:rPr lang="en-US" sz="1700" b="1" dirty="0">
                <a:solidFill>
                  <a:srgbClr val="1A1A1A"/>
                </a:solidFill>
                <a:latin typeface="Yu Gothic" pitchFamily="34" charset="0"/>
                <a:ea typeface="Yu Gothic" pitchFamily="34" charset="-122"/>
                <a:cs typeface="Yu Gothic" pitchFamily="34" charset="-120"/>
              </a:rPr>
              <a:t>ヒルズワーカー</a:t>
            </a:r>
            <a:endParaRPr lang="en-US" sz="1700" dirty="0"/>
          </a:p>
        </p:txBody>
      </p:sp>
      <p:sp>
        <p:nvSpPr>
          <p:cNvPr id="19" name="Text 16"/>
          <p:cNvSpPr/>
          <p:nvPr/>
        </p:nvSpPr>
        <p:spPr>
          <a:xfrm>
            <a:off x="4606442" y="2176272"/>
            <a:ext cx="2978810" cy="256032"/>
          </a:xfrm>
          <a:prstGeom prst="rect">
            <a:avLst/>
          </a:prstGeom>
          <a:noFill/>
          <a:ln/>
        </p:spPr>
        <p:txBody>
          <a:bodyPr wrap="square" lIns="0" tIns="0" rIns="0" bIns="0" rtlCol="0" anchor="ctr"/>
          <a:lstStyle/>
          <a:p>
            <a:pPr indent="0" marL="0">
              <a:buNone/>
            </a:pPr>
            <a:r>
              <a:rPr lang="en-US" sz="950" dirty="0">
                <a:solidFill>
                  <a:srgbClr val="6E7378"/>
                </a:solidFill>
                <a:latin typeface="Yu Gothic" pitchFamily="34" charset="0"/>
                <a:ea typeface="Yu Gothic" pitchFamily="34" charset="-122"/>
                <a:cs typeface="Yu Gothic" pitchFamily="34" charset="-120"/>
              </a:rPr>
              <a:t>オフィス就業者・法人接待</a:t>
            </a:r>
            <a:endParaRPr lang="en-US" sz="950" dirty="0"/>
          </a:p>
        </p:txBody>
      </p:sp>
      <p:sp>
        <p:nvSpPr>
          <p:cNvPr id="20" name="Text 17"/>
          <p:cNvSpPr/>
          <p:nvPr/>
        </p:nvSpPr>
        <p:spPr>
          <a:xfrm>
            <a:off x="4606442" y="2542032"/>
            <a:ext cx="2978810" cy="237744"/>
          </a:xfrm>
          <a:prstGeom prst="rect">
            <a:avLst/>
          </a:prstGeom>
          <a:noFill/>
          <a:ln/>
        </p:spPr>
        <p:txBody>
          <a:bodyPr wrap="square" lIns="0" tIns="0" rIns="0" bIns="0" rtlCol="0" anchor="ctr"/>
          <a:lstStyle/>
          <a:p>
            <a:pPr indent="0" marL="0">
              <a:buNone/>
            </a:pPr>
            <a:r>
              <a:rPr lang="en-US" sz="1050" b="1" dirty="0">
                <a:solidFill>
                  <a:srgbClr val="A06D4C"/>
                </a:solidFill>
                <a:latin typeface="Yu Gothic" pitchFamily="34" charset="0"/>
                <a:ea typeface="Yu Gothic" pitchFamily="34" charset="-122"/>
                <a:cs typeface="Yu Gothic" pitchFamily="34" charset="-120"/>
              </a:rPr>
              <a:t>いま抱えている課題</a:t>
            </a:r>
            <a:endParaRPr lang="en-US" sz="1050" dirty="0"/>
          </a:p>
        </p:txBody>
      </p:sp>
      <p:sp>
        <p:nvSpPr>
          <p:cNvPr id="21" name="Text 18"/>
          <p:cNvSpPr/>
          <p:nvPr/>
        </p:nvSpPr>
        <p:spPr>
          <a:xfrm>
            <a:off x="4606442" y="2816352"/>
            <a:ext cx="2978810" cy="1170432"/>
          </a:xfrm>
          <a:prstGeom prst="rect">
            <a:avLst/>
          </a:prstGeom>
          <a:noFill/>
          <a:ln/>
        </p:spPr>
        <p:txBody>
          <a:bodyPr wrap="square" lIns="0" tIns="0" rIns="0" bIns="0" rtlCol="0" anchor="ctr"/>
          <a:lstStyle/>
          <a:p>
            <a:pPr marL="342900" indent="-342900">
              <a:lnSpc>
                <a:spcPts val="1500"/>
              </a:lnSpc>
              <a:spcAft>
                <a:spcPts val="600"/>
              </a:spcAft>
              <a:buSzPct val="100000"/>
              <a:buChar char="▪"/>
            </a:pPr>
            <a:r>
              <a:rPr lang="en-US" sz="1030" dirty="0">
                <a:solidFill>
                  <a:srgbClr val="1A1A1A"/>
                </a:solidFill>
                <a:latin typeface="Yu Gothic" pitchFamily="34" charset="0"/>
                <a:ea typeface="Yu Gothic" pitchFamily="34" charset="-122"/>
                <a:cs typeface="Yu Gothic" pitchFamily="34" charset="-120"/>
              </a:rPr>
              <a:t>店内価格は市価の2〜3倍。接待費が膨らむ</a:t>
            </a:r>
            <a:endParaRPr lang="en-US" sz="1030" dirty="0"/>
          </a:p>
          <a:p>
            <a:pPr marL="342900" indent="-342900">
              <a:lnSpc>
                <a:spcPts val="1500"/>
              </a:lnSpc>
              <a:spcAft>
                <a:spcPts val="600"/>
              </a:spcAft>
              <a:buSzPct val="100000"/>
              <a:buChar char="▪"/>
            </a:pPr>
            <a:r>
              <a:rPr lang="en-US" sz="1030" dirty="0">
                <a:solidFill>
                  <a:srgbClr val="1A1A1A"/>
                </a:solidFill>
                <a:latin typeface="Yu Gothic" pitchFamily="34" charset="0"/>
                <a:ea typeface="Yu Gothic" pitchFamily="34" charset="-122"/>
                <a:cs typeface="Yu Gothic" pitchFamily="34" charset="-120"/>
              </a:rPr>
              <a:t>急な会食に「格」に見合う一本が出せない</a:t>
            </a:r>
            <a:endParaRPr lang="en-US" sz="1030" dirty="0"/>
          </a:p>
          <a:p>
            <a:pPr marL="342900" indent="-342900">
              <a:lnSpc>
                <a:spcPts val="1500"/>
              </a:lnSpc>
              <a:spcAft>
                <a:spcPts val="600"/>
              </a:spcAft>
              <a:buSzPct val="100000"/>
              <a:buChar char="▪"/>
            </a:pPr>
            <a:r>
              <a:rPr lang="en-US" sz="1030" dirty="0">
                <a:solidFill>
                  <a:srgbClr val="1A1A1A"/>
                </a:solidFill>
                <a:latin typeface="Yu Gothic" pitchFamily="34" charset="0"/>
                <a:ea typeface="Yu Gothic" pitchFamily="34" charset="-122"/>
                <a:cs typeface="Yu Gothic" pitchFamily="34" charset="-120"/>
              </a:rPr>
              <a:t>自分で選ぶ自信がなく、いつも同じ銘柄になる</a:t>
            </a:r>
            <a:endParaRPr lang="en-US" sz="1030" dirty="0"/>
          </a:p>
        </p:txBody>
      </p:sp>
      <p:sp>
        <p:nvSpPr>
          <p:cNvPr id="22" name="Shape 19"/>
          <p:cNvSpPr/>
          <p:nvPr/>
        </p:nvSpPr>
        <p:spPr>
          <a:xfrm>
            <a:off x="8133893" y="1481328"/>
            <a:ext cx="3490874" cy="2651760"/>
          </a:xfrm>
          <a:prstGeom prst="roundRect">
            <a:avLst>
              <a:gd name="adj" fmla="val 1724"/>
            </a:avLst>
          </a:prstGeom>
          <a:solidFill>
            <a:srgbClr val="F6F6F6"/>
          </a:solidFill>
          <a:ln w="12700">
            <a:solidFill>
              <a:srgbClr val="333333"/>
            </a:solidFill>
            <a:prstDash val="solid"/>
          </a:ln>
        </p:spPr>
      </p:sp>
      <p:sp>
        <p:nvSpPr>
          <p:cNvPr id="23" name="Shape 20"/>
          <p:cNvSpPr/>
          <p:nvPr/>
        </p:nvSpPr>
        <p:spPr>
          <a:xfrm>
            <a:off x="8389925" y="1700784"/>
            <a:ext cx="310896" cy="32004"/>
          </a:xfrm>
          <a:prstGeom prst="rect">
            <a:avLst/>
          </a:prstGeom>
          <a:solidFill>
            <a:srgbClr val="C68A65"/>
          </a:solidFill>
          <a:ln w="12700">
            <a:solidFill>
              <a:srgbClr val="333333"/>
            </a:solidFill>
            <a:prstDash val="solid"/>
          </a:ln>
        </p:spPr>
      </p:sp>
      <p:sp>
        <p:nvSpPr>
          <p:cNvPr id="24" name="Text 21"/>
          <p:cNvSpPr/>
          <p:nvPr/>
        </p:nvSpPr>
        <p:spPr>
          <a:xfrm>
            <a:off x="8389925" y="1847088"/>
            <a:ext cx="2978810" cy="310896"/>
          </a:xfrm>
          <a:prstGeom prst="rect">
            <a:avLst/>
          </a:prstGeom>
          <a:noFill/>
          <a:ln/>
        </p:spPr>
        <p:txBody>
          <a:bodyPr wrap="square" lIns="0" tIns="0" rIns="0" bIns="0" rtlCol="0" anchor="ctr"/>
          <a:lstStyle/>
          <a:p>
            <a:pPr indent="0" marL="0">
              <a:buNone/>
            </a:pPr>
            <a:r>
              <a:rPr lang="en-US" sz="1700" b="1" dirty="0">
                <a:solidFill>
                  <a:srgbClr val="1A1A1A"/>
                </a:solidFill>
                <a:latin typeface="Yu Gothic" pitchFamily="34" charset="0"/>
                <a:ea typeface="Yu Gothic" pitchFamily="34" charset="-122"/>
                <a:cs typeface="Yu Gothic" pitchFamily="34" charset="-120"/>
              </a:rPr>
              <a:t>レジデンス居住者</a:t>
            </a:r>
            <a:endParaRPr lang="en-US" sz="1700" dirty="0"/>
          </a:p>
        </p:txBody>
      </p:sp>
      <p:sp>
        <p:nvSpPr>
          <p:cNvPr id="25" name="Text 22"/>
          <p:cNvSpPr/>
          <p:nvPr/>
        </p:nvSpPr>
        <p:spPr>
          <a:xfrm>
            <a:off x="8389925" y="2176272"/>
            <a:ext cx="2978810" cy="256032"/>
          </a:xfrm>
          <a:prstGeom prst="rect">
            <a:avLst/>
          </a:prstGeom>
          <a:noFill/>
          <a:ln/>
        </p:spPr>
        <p:txBody>
          <a:bodyPr wrap="square" lIns="0" tIns="0" rIns="0" bIns="0" rtlCol="0" anchor="ctr"/>
          <a:lstStyle/>
          <a:p>
            <a:pPr indent="0" marL="0">
              <a:buNone/>
            </a:pPr>
            <a:r>
              <a:rPr lang="en-US" sz="950" dirty="0">
                <a:solidFill>
                  <a:srgbClr val="6E7378"/>
                </a:solidFill>
                <a:latin typeface="Yu Gothic" pitchFamily="34" charset="0"/>
                <a:ea typeface="Yu Gothic" pitchFamily="34" charset="-122"/>
                <a:cs typeface="Yu Gothic" pitchFamily="34" charset="-120"/>
              </a:rPr>
              <a:t>住宅棟・サービスアパートメント</a:t>
            </a:r>
            <a:endParaRPr lang="en-US" sz="950" dirty="0"/>
          </a:p>
        </p:txBody>
      </p:sp>
      <p:sp>
        <p:nvSpPr>
          <p:cNvPr id="26" name="Text 23"/>
          <p:cNvSpPr/>
          <p:nvPr/>
        </p:nvSpPr>
        <p:spPr>
          <a:xfrm>
            <a:off x="8389925" y="2542032"/>
            <a:ext cx="2978810" cy="237744"/>
          </a:xfrm>
          <a:prstGeom prst="rect">
            <a:avLst/>
          </a:prstGeom>
          <a:noFill/>
          <a:ln/>
        </p:spPr>
        <p:txBody>
          <a:bodyPr wrap="square" lIns="0" tIns="0" rIns="0" bIns="0" rtlCol="0" anchor="ctr"/>
          <a:lstStyle/>
          <a:p>
            <a:pPr indent="0" marL="0">
              <a:buNone/>
            </a:pPr>
            <a:r>
              <a:rPr lang="en-US" sz="1050" b="1" dirty="0">
                <a:solidFill>
                  <a:srgbClr val="A06D4C"/>
                </a:solidFill>
                <a:latin typeface="Yu Gothic" pitchFamily="34" charset="0"/>
                <a:ea typeface="Yu Gothic" pitchFamily="34" charset="-122"/>
                <a:cs typeface="Yu Gothic" pitchFamily="34" charset="-120"/>
              </a:rPr>
              <a:t>いま抱えている課題</a:t>
            </a:r>
            <a:endParaRPr lang="en-US" sz="1050" dirty="0"/>
          </a:p>
        </p:txBody>
      </p:sp>
      <p:sp>
        <p:nvSpPr>
          <p:cNvPr id="27" name="Text 24"/>
          <p:cNvSpPr/>
          <p:nvPr/>
        </p:nvSpPr>
        <p:spPr>
          <a:xfrm>
            <a:off x="8389925" y="2816352"/>
            <a:ext cx="2978810" cy="1170432"/>
          </a:xfrm>
          <a:prstGeom prst="rect">
            <a:avLst/>
          </a:prstGeom>
          <a:noFill/>
          <a:ln/>
        </p:spPr>
        <p:txBody>
          <a:bodyPr wrap="square" lIns="0" tIns="0" rIns="0" bIns="0" rtlCol="0" anchor="ctr"/>
          <a:lstStyle/>
          <a:p>
            <a:pPr marL="342900" indent="-342900">
              <a:lnSpc>
                <a:spcPts val="1500"/>
              </a:lnSpc>
              <a:spcAft>
                <a:spcPts val="600"/>
              </a:spcAft>
              <a:buSzPct val="100000"/>
              <a:buChar char="▪"/>
            </a:pPr>
            <a:r>
              <a:rPr lang="en-US" sz="1030" dirty="0">
                <a:solidFill>
                  <a:srgbClr val="1A1A1A"/>
                </a:solidFill>
                <a:latin typeface="Yu Gothic" pitchFamily="34" charset="0"/>
                <a:ea typeface="Yu Gothic" pitchFamily="34" charset="-122"/>
                <a:cs typeface="Yu Gothic" pitchFamily="34" charset="-120"/>
              </a:rPr>
              <a:t>自宅セラーはすぐ満杯。保管環境も不安</a:t>
            </a:r>
            <a:endParaRPr lang="en-US" sz="1030" dirty="0"/>
          </a:p>
          <a:p>
            <a:pPr marL="342900" indent="-342900">
              <a:lnSpc>
                <a:spcPts val="1500"/>
              </a:lnSpc>
              <a:spcAft>
                <a:spcPts val="600"/>
              </a:spcAft>
              <a:buSzPct val="100000"/>
              <a:buChar char="▪"/>
            </a:pPr>
            <a:r>
              <a:rPr lang="en-US" sz="1030" dirty="0">
                <a:solidFill>
                  <a:srgbClr val="1A1A1A"/>
                </a:solidFill>
                <a:latin typeface="Yu Gothic" pitchFamily="34" charset="0"/>
                <a:ea typeface="Yu Gothic" pitchFamily="34" charset="-122"/>
                <a:cs typeface="Yu Gothic" pitchFamily="34" charset="-120"/>
              </a:rPr>
              <a:t>どこで買えば間違いないかが分からない</a:t>
            </a:r>
            <a:endParaRPr lang="en-US" sz="1030" dirty="0"/>
          </a:p>
          <a:p>
            <a:pPr marL="342900" indent="-342900">
              <a:lnSpc>
                <a:spcPts val="1500"/>
              </a:lnSpc>
              <a:spcAft>
                <a:spcPts val="600"/>
              </a:spcAft>
              <a:buSzPct val="100000"/>
              <a:buChar char="▪"/>
            </a:pPr>
            <a:r>
              <a:rPr lang="en-US" sz="1030" dirty="0">
                <a:solidFill>
                  <a:srgbClr val="1A1A1A"/>
                </a:solidFill>
                <a:latin typeface="Yu Gothic" pitchFamily="34" charset="0"/>
                <a:ea typeface="Yu Gothic" pitchFamily="34" charset="-122"/>
                <a:cs typeface="Yu Gothic" pitchFamily="34" charset="-120"/>
              </a:rPr>
              <a:t>並行品・二次流通品の真贋と来歴が読めない</a:t>
            </a:r>
            <a:endParaRPr lang="en-US" sz="1030" dirty="0"/>
          </a:p>
        </p:txBody>
      </p:sp>
      <p:sp>
        <p:nvSpPr>
          <p:cNvPr id="28" name="Shape 25"/>
          <p:cNvSpPr/>
          <p:nvPr/>
        </p:nvSpPr>
        <p:spPr>
          <a:xfrm>
            <a:off x="566928" y="4334256"/>
            <a:ext cx="11057839" cy="475488"/>
          </a:xfrm>
          <a:prstGeom prst="rect">
            <a:avLst/>
          </a:prstGeom>
          <a:solidFill>
            <a:srgbClr val="2F3941"/>
          </a:solidFill>
          <a:ln w="12700">
            <a:solidFill>
              <a:srgbClr val="333333"/>
            </a:solidFill>
            <a:prstDash val="solid"/>
          </a:ln>
        </p:spPr>
      </p:sp>
      <p:sp>
        <p:nvSpPr>
          <p:cNvPr id="29" name="Text 26"/>
          <p:cNvSpPr/>
          <p:nvPr/>
        </p:nvSpPr>
        <p:spPr>
          <a:xfrm>
            <a:off x="566928" y="4334256"/>
            <a:ext cx="11057839"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一つの在庫を三層で共有すれば、在庫負担も、価格も、突発対応も、同時に解決できる。</a:t>
            </a:r>
            <a:endParaRPr lang="en-US" sz="1400" dirty="0"/>
          </a:p>
        </p:txBody>
      </p:sp>
      <p:sp>
        <p:nvSpPr>
          <p:cNvPr id="30" name="Text 27"/>
          <p:cNvSpPr/>
          <p:nvPr/>
        </p:nvSpPr>
        <p:spPr>
          <a:xfrm>
            <a:off x="566928" y="4992624"/>
            <a:ext cx="3490874" cy="274320"/>
          </a:xfrm>
          <a:prstGeom prst="rect">
            <a:avLst/>
          </a:prstGeom>
          <a:noFill/>
          <a:ln/>
        </p:spPr>
        <p:txBody>
          <a:bodyPr wrap="square" lIns="0" tIns="0" rIns="0" bIns="0" rtlCol="0" anchor="ctr"/>
          <a:lstStyle/>
          <a:p>
            <a:pPr indent="0" marL="0">
              <a:buNone/>
            </a:pPr>
            <a:r>
              <a:rPr lang="en-US" sz="1300" b="1" dirty="0">
                <a:solidFill>
                  <a:srgbClr val="1A1A1A"/>
                </a:solidFill>
                <a:latin typeface="Yu Gothic" pitchFamily="34" charset="0"/>
                <a:ea typeface="Yu Gothic" pitchFamily="34" charset="-122"/>
                <a:cs typeface="Yu Gothic" pitchFamily="34" charset="-120"/>
              </a:rPr>
              <a:t>飲食店は在庫を持たない</a:t>
            </a:r>
            <a:endParaRPr lang="en-US" sz="1300" dirty="0"/>
          </a:p>
        </p:txBody>
      </p:sp>
      <p:sp>
        <p:nvSpPr>
          <p:cNvPr id="31" name="Text 28"/>
          <p:cNvSpPr/>
          <p:nvPr/>
        </p:nvSpPr>
        <p:spPr>
          <a:xfrm>
            <a:off x="566928" y="5285232"/>
            <a:ext cx="3490874" cy="457200"/>
          </a:xfrm>
          <a:prstGeom prst="rect">
            <a:avLst/>
          </a:prstGeom>
          <a:noFill/>
          <a:ln/>
        </p:spPr>
        <p:txBody>
          <a:bodyPr wrap="square" lIns="0" tIns="0" rIns="0" bIns="0" rtlCol="0" anchor="ctr"/>
          <a:lstStyle/>
          <a:p>
            <a:pPr indent="0" marL="0">
              <a:lnSpc>
                <a:spcPts val="1400"/>
              </a:lnSpc>
              <a:buNone/>
            </a:pPr>
            <a:r>
              <a:rPr lang="en-US" sz="1000" dirty="0">
                <a:solidFill>
                  <a:srgbClr val="6E7378"/>
                </a:solidFill>
                <a:latin typeface="Yu Gothic" pitchFamily="34" charset="0"/>
                <a:ea typeface="Yu Gothic" pitchFamily="34" charset="-122"/>
                <a:cs typeface="Yu Gothic" pitchFamily="34" charset="-120"/>
              </a:rPr>
              <a:t>必要な分だけ卸値で引き出す。資金は寝かせない。</a:t>
            </a:r>
            <a:endParaRPr lang="en-US" sz="1000" dirty="0"/>
          </a:p>
        </p:txBody>
      </p:sp>
      <p:sp>
        <p:nvSpPr>
          <p:cNvPr id="32" name="Text 29"/>
          <p:cNvSpPr/>
          <p:nvPr/>
        </p:nvSpPr>
        <p:spPr>
          <a:xfrm>
            <a:off x="4350410" y="4992624"/>
            <a:ext cx="3490874" cy="274320"/>
          </a:xfrm>
          <a:prstGeom prst="rect">
            <a:avLst/>
          </a:prstGeom>
          <a:noFill/>
          <a:ln/>
        </p:spPr>
        <p:txBody>
          <a:bodyPr wrap="square" lIns="0" tIns="0" rIns="0" bIns="0" rtlCol="0" anchor="ctr"/>
          <a:lstStyle/>
          <a:p>
            <a:pPr indent="0" marL="0">
              <a:buNone/>
            </a:pPr>
            <a:r>
              <a:rPr lang="en-US" sz="1300" b="1" dirty="0">
                <a:solidFill>
                  <a:srgbClr val="1A1A1A"/>
                </a:solidFill>
                <a:latin typeface="Yu Gothic" pitchFamily="34" charset="0"/>
                <a:ea typeface="Yu Gothic" pitchFamily="34" charset="-122"/>
                <a:cs typeface="Yu Gothic" pitchFamily="34" charset="-120"/>
              </a:rPr>
              <a:t>ワーカーは手ぶらで会食へ</a:t>
            </a:r>
            <a:endParaRPr lang="en-US" sz="1300" dirty="0"/>
          </a:p>
        </p:txBody>
      </p:sp>
      <p:sp>
        <p:nvSpPr>
          <p:cNvPr id="33" name="Text 30"/>
          <p:cNvSpPr/>
          <p:nvPr/>
        </p:nvSpPr>
        <p:spPr>
          <a:xfrm>
            <a:off x="4350410" y="5285232"/>
            <a:ext cx="3490874" cy="457200"/>
          </a:xfrm>
          <a:prstGeom prst="rect">
            <a:avLst/>
          </a:prstGeom>
          <a:noFill/>
          <a:ln/>
        </p:spPr>
        <p:txBody>
          <a:bodyPr wrap="square" lIns="0" tIns="0" rIns="0" bIns="0" rtlCol="0" anchor="ctr"/>
          <a:lstStyle/>
          <a:p>
            <a:pPr indent="0" marL="0">
              <a:lnSpc>
                <a:spcPts val="1400"/>
              </a:lnSpc>
              <a:buNone/>
            </a:pPr>
            <a:r>
              <a:rPr lang="en-US" sz="1000" dirty="0">
                <a:solidFill>
                  <a:srgbClr val="6E7378"/>
                </a:solidFill>
                <a:latin typeface="Yu Gothic" pitchFamily="34" charset="0"/>
                <a:ea typeface="Yu Gothic" pitchFamily="34" charset="-122"/>
                <a:cs typeface="Yu Gothic" pitchFamily="34" charset="-120"/>
              </a:rPr>
              <a:t>提携店へ事前配送、コルケージ無料。店内価格から解放。</a:t>
            </a:r>
            <a:endParaRPr lang="en-US" sz="1000" dirty="0"/>
          </a:p>
        </p:txBody>
      </p:sp>
      <p:sp>
        <p:nvSpPr>
          <p:cNvPr id="34" name="Text 31"/>
          <p:cNvSpPr/>
          <p:nvPr/>
        </p:nvSpPr>
        <p:spPr>
          <a:xfrm>
            <a:off x="8133893" y="4992624"/>
            <a:ext cx="3490874" cy="274320"/>
          </a:xfrm>
          <a:prstGeom prst="rect">
            <a:avLst/>
          </a:prstGeom>
          <a:noFill/>
          <a:ln/>
        </p:spPr>
        <p:txBody>
          <a:bodyPr wrap="square" lIns="0" tIns="0" rIns="0" bIns="0" rtlCol="0" anchor="ctr"/>
          <a:lstStyle/>
          <a:p>
            <a:pPr indent="0" marL="0">
              <a:buNone/>
            </a:pPr>
            <a:r>
              <a:rPr lang="en-US" sz="1300" b="1" dirty="0">
                <a:solidFill>
                  <a:srgbClr val="1A1A1A"/>
                </a:solidFill>
                <a:latin typeface="Yu Gothic" pitchFamily="34" charset="0"/>
                <a:ea typeface="Yu Gothic" pitchFamily="34" charset="-122"/>
                <a:cs typeface="Yu Gothic" pitchFamily="34" charset="-120"/>
              </a:rPr>
              <a:t>居住者は迷わず買える</a:t>
            </a:r>
            <a:endParaRPr lang="en-US" sz="1300" dirty="0"/>
          </a:p>
        </p:txBody>
      </p:sp>
      <p:sp>
        <p:nvSpPr>
          <p:cNvPr id="35" name="Text 32"/>
          <p:cNvSpPr/>
          <p:nvPr/>
        </p:nvSpPr>
        <p:spPr>
          <a:xfrm>
            <a:off x="8133893" y="5285232"/>
            <a:ext cx="3490874" cy="457200"/>
          </a:xfrm>
          <a:prstGeom prst="rect">
            <a:avLst/>
          </a:prstGeom>
          <a:noFill/>
          <a:ln/>
        </p:spPr>
        <p:txBody>
          <a:bodyPr wrap="square" lIns="0" tIns="0" rIns="0" bIns="0" rtlCol="0" anchor="ctr"/>
          <a:lstStyle/>
          <a:p>
            <a:pPr indent="0" marL="0">
              <a:lnSpc>
                <a:spcPts val="1400"/>
              </a:lnSpc>
              <a:buNone/>
            </a:pPr>
            <a:r>
              <a:rPr lang="en-US" sz="1000" dirty="0">
                <a:solidFill>
                  <a:srgbClr val="6E7378"/>
                </a:solidFill>
                <a:latin typeface="Yu Gothic" pitchFamily="34" charset="0"/>
                <a:ea typeface="Yu Gothic" pitchFamily="34" charset="-122"/>
                <a:cs typeface="Yu Gothic" pitchFamily="34" charset="-120"/>
              </a:rPr>
              <a:t>正規ルートの一本を、コンシェルジュ経由で自宅セラーへ。</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381183" y="292608"/>
            <a:ext cx="1243584" cy="247802"/>
          </a:xfrm>
          <a:prstGeom prst="rect">
            <a:avLst/>
          </a:prstGeom>
        </p:spPr>
      </p:pic>
      <p:sp>
        <p:nvSpPr>
          <p:cNvPr id="3" name="Shape 0"/>
          <p:cNvSpPr/>
          <p:nvPr/>
        </p:nvSpPr>
        <p:spPr>
          <a:xfrm>
            <a:off x="566928" y="292608"/>
            <a:ext cx="950976" cy="237744"/>
          </a:xfrm>
          <a:prstGeom prst="roundRect">
            <a:avLst>
              <a:gd name="adj" fmla="val 11538"/>
            </a:avLst>
          </a:prstGeom>
          <a:solidFill>
            <a:srgbClr val="C68A65"/>
          </a:solidFill>
          <a:ln w="12700">
            <a:solidFill>
              <a:srgbClr val="333333"/>
            </a:solidFill>
            <a:prstDash val="solid"/>
          </a:ln>
        </p:spPr>
      </p:sp>
      <p:sp>
        <p:nvSpPr>
          <p:cNvPr id="4" name="Text 1"/>
          <p:cNvSpPr/>
          <p:nvPr/>
        </p:nvSpPr>
        <p:spPr>
          <a:xfrm>
            <a:off x="566928" y="292608"/>
            <a:ext cx="950976"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Yu Gothic" pitchFamily="34" charset="0"/>
                <a:ea typeface="Yu Gothic" pitchFamily="34" charset="-122"/>
                <a:cs typeface="Yu Gothic" pitchFamily="34" charset="-120"/>
              </a:rPr>
              <a:t>OVERVIEW</a:t>
            </a:r>
            <a:endParaRPr lang="en-US" sz="850" dirty="0"/>
          </a:p>
        </p:txBody>
      </p:sp>
      <p:sp>
        <p:nvSpPr>
          <p:cNvPr id="5" name="Text 2"/>
          <p:cNvSpPr/>
          <p:nvPr/>
        </p:nvSpPr>
        <p:spPr>
          <a:xfrm>
            <a:off x="566928" y="585216"/>
            <a:ext cx="9509760" cy="420624"/>
          </a:xfrm>
          <a:prstGeom prst="rect">
            <a:avLst/>
          </a:prstGeom>
          <a:noFill/>
          <a:ln/>
        </p:spPr>
        <p:txBody>
          <a:bodyPr wrap="square" lIns="0" tIns="0" rIns="0" bIns="0" rtlCol="0" anchor="ctr"/>
          <a:lstStyle/>
          <a:p>
            <a:pPr indent="0" marL="0">
              <a:buNone/>
            </a:pPr>
            <a:r>
              <a:rPr lang="en-US" sz="2300" b="1" dirty="0">
                <a:solidFill>
                  <a:srgbClr val="1A1A1A"/>
                </a:solidFill>
                <a:latin typeface="Yu Gothic" pitchFamily="34" charset="0"/>
                <a:ea typeface="Yu Gothic" pitchFamily="34" charset="-122"/>
                <a:cs typeface="Yu Gothic" pitchFamily="34" charset="-120"/>
              </a:rPr>
              <a:t>提携全体像：Hills Wine Program（6プログラム）</a:t>
            </a:r>
            <a:endParaRPr lang="en-US" sz="2300" dirty="0"/>
          </a:p>
        </p:txBody>
      </p:sp>
      <p:sp>
        <p:nvSpPr>
          <p:cNvPr id="6" name="Text 3"/>
          <p:cNvSpPr/>
          <p:nvPr/>
        </p:nvSpPr>
        <p:spPr>
          <a:xfrm>
            <a:off x="566928" y="1024128"/>
            <a:ext cx="11057839" cy="310896"/>
          </a:xfrm>
          <a:prstGeom prst="rect">
            <a:avLst/>
          </a:prstGeom>
          <a:noFill/>
          <a:ln/>
        </p:spPr>
        <p:txBody>
          <a:bodyPr wrap="square" lIns="0" tIns="0" rIns="0" bIns="0" rtlCol="0" anchor="ctr"/>
          <a:lstStyle/>
          <a:p>
            <a:pPr indent="0" marL="0">
              <a:lnSpc>
                <a:spcPts val="1700"/>
              </a:lnSpc>
              <a:buNone/>
            </a:pPr>
            <a:r>
              <a:rPr lang="en-US" sz="1150" dirty="0">
                <a:solidFill>
                  <a:srgbClr val="6E7378"/>
                </a:solidFill>
                <a:latin typeface="Yu Gothic" pitchFamily="34" charset="0"/>
                <a:ea typeface="Yu Gothic" pitchFamily="34" charset="-122"/>
                <a:cs typeface="Yu Gothic" pitchFamily="34" charset="-120"/>
              </a:rPr>
              <a:t>①が土台です。②〜⑥は①の在庫と配送網の上に載ることで、それぞれ単独より強く働きます。</a:t>
            </a:r>
            <a:endParaRPr lang="en-US" sz="1150" dirty="0"/>
          </a:p>
        </p:txBody>
      </p:sp>
      <p:sp>
        <p:nvSpPr>
          <p:cNvPr id="7" name="Shape 4"/>
          <p:cNvSpPr/>
          <p:nvPr/>
        </p:nvSpPr>
        <p:spPr>
          <a:xfrm>
            <a:off x="0" y="6583680"/>
            <a:ext cx="12191695" cy="274320"/>
          </a:xfrm>
          <a:prstGeom prst="rect">
            <a:avLst/>
          </a:prstGeom>
          <a:solidFill>
            <a:srgbClr val="2F3941"/>
          </a:solidFill>
          <a:ln w="12700">
            <a:solidFill>
              <a:srgbClr val="333333"/>
            </a:solidFill>
            <a:prstDash val="solid"/>
          </a:ln>
        </p:spPr>
      </p:sp>
      <p:sp>
        <p:nvSpPr>
          <p:cNvPr id="8" name="Text 5"/>
          <p:cNvSpPr/>
          <p:nvPr/>
        </p:nvSpPr>
        <p:spPr>
          <a:xfrm>
            <a:off x="10893247" y="6272784"/>
            <a:ext cx="731520" cy="256032"/>
          </a:xfrm>
          <a:prstGeom prst="rect">
            <a:avLst/>
          </a:prstGeom>
          <a:noFill/>
          <a:ln/>
        </p:spPr>
        <p:txBody>
          <a:bodyPr wrap="square" lIns="0" tIns="0" rIns="0" bIns="0" rtlCol="0" anchor="ctr"/>
          <a:lstStyle/>
          <a:p>
            <a:pPr algn="r" indent="0" marL="0">
              <a:buNone/>
            </a:pPr>
            <a:r>
              <a:rPr lang="en-US" sz="1000" dirty="0">
                <a:solidFill>
                  <a:srgbClr val="A6ABAF"/>
                </a:solidFill>
                <a:latin typeface="Calibri" pitchFamily="34" charset="0"/>
                <a:ea typeface="Calibri" pitchFamily="34" charset="-122"/>
                <a:cs typeface="Calibri" pitchFamily="34" charset="-120"/>
              </a:rPr>
              <a:t>3</a:t>
            </a:r>
            <a:endParaRPr lang="en-US" sz="1000" dirty="0"/>
          </a:p>
        </p:txBody>
      </p:sp>
      <p:sp>
        <p:nvSpPr>
          <p:cNvPr id="9" name="Text 6"/>
          <p:cNvSpPr/>
          <p:nvPr/>
        </p:nvSpPr>
        <p:spPr>
          <a:xfrm>
            <a:off x="566928" y="6272784"/>
            <a:ext cx="2926080" cy="256032"/>
          </a:xfrm>
          <a:prstGeom prst="rect">
            <a:avLst/>
          </a:prstGeom>
          <a:noFill/>
          <a:ln/>
        </p:spPr>
        <p:txBody>
          <a:bodyPr wrap="square" lIns="0" tIns="0" rIns="0" bIns="0" rtlCol="0" anchor="ctr"/>
          <a:lstStyle/>
          <a:p>
            <a:pPr indent="0" marL="0">
              <a:buNone/>
            </a:pPr>
            <a:r>
              <a:rPr lang="en-US" sz="850" spc="120" kern="0" dirty="0">
                <a:solidFill>
                  <a:srgbClr val="C7CACC"/>
                </a:solidFill>
                <a:latin typeface="Calibri" pitchFamily="34" charset="0"/>
                <a:ea typeface="Calibri" pitchFamily="34" charset="-122"/>
                <a:cs typeface="Calibri" pitchFamily="34" charset="-120"/>
              </a:rPr>
              <a:t>CONFIDENTIAL</a:t>
            </a:r>
            <a:endParaRPr lang="en-US" sz="850" dirty="0"/>
          </a:p>
        </p:txBody>
      </p:sp>
      <p:sp>
        <p:nvSpPr>
          <p:cNvPr id="10" name="Shape 7"/>
          <p:cNvSpPr/>
          <p:nvPr/>
        </p:nvSpPr>
        <p:spPr>
          <a:xfrm>
            <a:off x="566928" y="1463040"/>
            <a:ext cx="3503066" cy="1737360"/>
          </a:xfrm>
          <a:prstGeom prst="roundRect">
            <a:avLst>
              <a:gd name="adj" fmla="val 2632"/>
            </a:avLst>
          </a:prstGeom>
          <a:solidFill>
            <a:srgbClr val="2F3941"/>
          </a:solidFill>
          <a:ln w="12700">
            <a:solidFill>
              <a:srgbClr val="333333"/>
            </a:solidFill>
            <a:prstDash val="solid"/>
          </a:ln>
        </p:spPr>
      </p:sp>
      <p:sp>
        <p:nvSpPr>
          <p:cNvPr id="11" name="Shape 8"/>
          <p:cNvSpPr/>
          <p:nvPr/>
        </p:nvSpPr>
        <p:spPr>
          <a:xfrm>
            <a:off x="822960" y="1737360"/>
            <a:ext cx="420624" cy="420624"/>
          </a:xfrm>
          <a:prstGeom prst="ellipse">
            <a:avLst/>
          </a:prstGeom>
          <a:solidFill>
            <a:srgbClr val="C68A65"/>
          </a:solidFill>
          <a:ln w="12700">
            <a:solidFill>
              <a:srgbClr val="333333"/>
            </a:solidFill>
            <a:prstDash val="solid"/>
          </a:ln>
        </p:spPr>
      </p:sp>
      <p:sp>
        <p:nvSpPr>
          <p:cNvPr id="12" name="Text 9"/>
          <p:cNvSpPr/>
          <p:nvPr/>
        </p:nvSpPr>
        <p:spPr>
          <a:xfrm>
            <a:off x="822960" y="1737360"/>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13" name="Text 10"/>
          <p:cNvSpPr/>
          <p:nvPr/>
        </p:nvSpPr>
        <p:spPr>
          <a:xfrm>
            <a:off x="1353312" y="1645920"/>
            <a:ext cx="2460650" cy="603504"/>
          </a:xfrm>
          <a:prstGeom prst="rect">
            <a:avLst/>
          </a:prstGeom>
          <a:noFill/>
          <a:ln/>
        </p:spPr>
        <p:txBody>
          <a:bodyPr wrap="square" lIns="0" tIns="0" rIns="0" bIns="0" rtlCol="0" anchor="ctr"/>
          <a:lstStyle/>
          <a:p>
            <a:pPr indent="0" marL="0">
              <a:buNone/>
            </a:pPr>
            <a:r>
              <a:rPr lang="en-US" sz="1300" b="1" dirty="0">
                <a:solidFill>
                  <a:srgbClr val="FFFFFF"/>
                </a:solidFill>
                <a:latin typeface="Yu Gothic" pitchFamily="34" charset="0"/>
                <a:ea typeface="Yu Gothic" pitchFamily="34" charset="-122"/>
                <a:cs typeface="Yu Gothic" pitchFamily="34" charset="-120"/>
              </a:rPr>
              <a:t>Cloud Wine Cave</a:t>
            </a:r>
            <a:endParaRPr lang="en-US" sz="1300" dirty="0"/>
          </a:p>
        </p:txBody>
      </p:sp>
      <p:sp>
        <p:nvSpPr>
          <p:cNvPr id="14" name="Text 11"/>
          <p:cNvSpPr/>
          <p:nvPr/>
        </p:nvSpPr>
        <p:spPr>
          <a:xfrm>
            <a:off x="822960" y="2322576"/>
            <a:ext cx="2991002" cy="548640"/>
          </a:xfrm>
          <a:prstGeom prst="rect">
            <a:avLst/>
          </a:prstGeom>
          <a:noFill/>
          <a:ln/>
        </p:spPr>
        <p:txBody>
          <a:bodyPr wrap="square" lIns="0" tIns="0" rIns="0" bIns="0" rtlCol="0" anchor="ctr"/>
          <a:lstStyle/>
          <a:p>
            <a:pPr indent="0" marL="0">
              <a:lnSpc>
                <a:spcPts val="1400"/>
              </a:lnSpc>
              <a:buNone/>
            </a:pPr>
            <a:r>
              <a:rPr lang="en-US" sz="1000" dirty="0">
                <a:solidFill>
                  <a:srgbClr val="DDE1E4"/>
                </a:solidFill>
                <a:latin typeface="Yu Gothic" pitchFamily="34" charset="0"/>
                <a:ea typeface="Yu Gothic" pitchFamily="34" charset="-122"/>
                <a:cs typeface="Yu Gothic" pitchFamily="34" charset="-120"/>
              </a:rPr>
              <a:t>当社の管理在庫を「自分のセラー」として使う。共有セラー型・置きワイン型・レジデンス向けの3形態。</a:t>
            </a:r>
            <a:endParaRPr lang="en-US" sz="1000" dirty="0"/>
          </a:p>
        </p:txBody>
      </p:sp>
      <p:sp>
        <p:nvSpPr>
          <p:cNvPr id="15" name="Text 12"/>
          <p:cNvSpPr/>
          <p:nvPr/>
        </p:nvSpPr>
        <p:spPr>
          <a:xfrm>
            <a:off x="822960" y="2871216"/>
            <a:ext cx="2991002" cy="237744"/>
          </a:xfrm>
          <a:prstGeom prst="rect">
            <a:avLst/>
          </a:prstGeom>
          <a:noFill/>
          <a:ln/>
        </p:spPr>
        <p:txBody>
          <a:bodyPr wrap="square" lIns="0" tIns="0" rIns="0" bIns="0" rtlCol="0" anchor="ctr"/>
          <a:lstStyle/>
          <a:p>
            <a:pPr indent="0" marL="0">
              <a:buNone/>
            </a:pPr>
            <a:r>
              <a:rPr lang="en-US" sz="880" b="1" dirty="0">
                <a:solidFill>
                  <a:srgbClr val="EFDCCE"/>
                </a:solidFill>
                <a:latin typeface="Yu Gothic" pitchFamily="34" charset="0"/>
                <a:ea typeface="Yu Gothic" pitchFamily="34" charset="-122"/>
                <a:cs typeface="Yu Gothic" pitchFamily="34" charset="-120"/>
              </a:rPr>
              <a:t>飲食店／レジデンス</a:t>
            </a:r>
            <a:endParaRPr lang="en-US" sz="880" dirty="0"/>
          </a:p>
        </p:txBody>
      </p:sp>
      <p:sp>
        <p:nvSpPr>
          <p:cNvPr id="16" name="Shape 13"/>
          <p:cNvSpPr/>
          <p:nvPr/>
        </p:nvSpPr>
        <p:spPr>
          <a:xfrm>
            <a:off x="4344314" y="1463040"/>
            <a:ext cx="3503066" cy="1737360"/>
          </a:xfrm>
          <a:prstGeom prst="roundRect">
            <a:avLst>
              <a:gd name="adj" fmla="val 2632"/>
            </a:avLst>
          </a:prstGeom>
          <a:solidFill>
            <a:srgbClr val="F6F6F6"/>
          </a:solidFill>
          <a:ln w="12700">
            <a:solidFill>
              <a:srgbClr val="333333"/>
            </a:solidFill>
            <a:prstDash val="solid"/>
          </a:ln>
        </p:spPr>
      </p:sp>
      <p:sp>
        <p:nvSpPr>
          <p:cNvPr id="17" name="Shape 14"/>
          <p:cNvSpPr/>
          <p:nvPr/>
        </p:nvSpPr>
        <p:spPr>
          <a:xfrm>
            <a:off x="4600346" y="1737360"/>
            <a:ext cx="420624" cy="420624"/>
          </a:xfrm>
          <a:prstGeom prst="ellipse">
            <a:avLst/>
          </a:prstGeom>
          <a:solidFill>
            <a:srgbClr val="C68A65"/>
          </a:solidFill>
          <a:ln w="12700">
            <a:solidFill>
              <a:srgbClr val="333333"/>
            </a:solidFill>
            <a:prstDash val="solid"/>
          </a:ln>
        </p:spPr>
      </p:sp>
      <p:sp>
        <p:nvSpPr>
          <p:cNvPr id="18" name="Text 15"/>
          <p:cNvSpPr/>
          <p:nvPr/>
        </p:nvSpPr>
        <p:spPr>
          <a:xfrm>
            <a:off x="4600346" y="1737360"/>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19" name="Text 16"/>
          <p:cNvSpPr/>
          <p:nvPr/>
        </p:nvSpPr>
        <p:spPr>
          <a:xfrm>
            <a:off x="5130698" y="1645920"/>
            <a:ext cx="2460650" cy="603504"/>
          </a:xfrm>
          <a:prstGeom prst="rect">
            <a:avLst/>
          </a:prstGeom>
          <a:noFill/>
          <a:ln/>
        </p:spPr>
        <p:txBody>
          <a:bodyPr wrap="square" lIns="0" tIns="0" rIns="0" bIns="0" rtlCol="0" anchor="ctr"/>
          <a:lstStyle/>
          <a:p>
            <a:pPr indent="0" marL="0">
              <a:buNone/>
            </a:pPr>
            <a:r>
              <a:rPr lang="en-US" sz="1300" b="1" dirty="0">
                <a:solidFill>
                  <a:srgbClr val="1A1A1A"/>
                </a:solidFill>
                <a:latin typeface="Yu Gothic" pitchFamily="34" charset="0"/>
                <a:ea typeface="Yu Gothic" pitchFamily="34" charset="-122"/>
                <a:cs typeface="Yu Gothic" pitchFamily="34" charset="-120"/>
              </a:rPr>
              <a:t>WineGO ヒルズ・デリバリー</a:t>
            </a:r>
            <a:endParaRPr lang="en-US" sz="1300" dirty="0"/>
          </a:p>
        </p:txBody>
      </p:sp>
      <p:sp>
        <p:nvSpPr>
          <p:cNvPr id="20" name="Text 17"/>
          <p:cNvSpPr/>
          <p:nvPr/>
        </p:nvSpPr>
        <p:spPr>
          <a:xfrm>
            <a:off x="4600346" y="2322576"/>
            <a:ext cx="2991002" cy="548640"/>
          </a:xfrm>
          <a:prstGeom prst="rect">
            <a:avLst/>
          </a:prstGeom>
          <a:noFill/>
          <a:ln/>
        </p:spPr>
        <p:txBody>
          <a:bodyPr wrap="square" lIns="0" tIns="0" rIns="0" bIns="0" rtlCol="0" anchor="ctr"/>
          <a:lstStyle/>
          <a:p>
            <a:pPr indent="0" marL="0">
              <a:lnSpc>
                <a:spcPts val="1400"/>
              </a:lnSpc>
              <a:buNone/>
            </a:pPr>
            <a:r>
              <a:rPr lang="en-US" sz="1000" dirty="0">
                <a:solidFill>
                  <a:srgbClr val="1A1A1A"/>
                </a:solidFill>
                <a:latin typeface="Yu Gothic" pitchFamily="34" charset="0"/>
                <a:ea typeface="Yu Gothic" pitchFamily="34" charset="-122"/>
                <a:cs typeface="Yu Gothic" pitchFamily="34" charset="-120"/>
              </a:rPr>
              <a:t>街区内ターミナルから定温のまま最短5分。Cloud Wine Caveを成立させる配送網。</a:t>
            </a:r>
            <a:endParaRPr lang="en-US" sz="1000" dirty="0"/>
          </a:p>
        </p:txBody>
      </p:sp>
      <p:sp>
        <p:nvSpPr>
          <p:cNvPr id="21" name="Text 18"/>
          <p:cNvSpPr/>
          <p:nvPr/>
        </p:nvSpPr>
        <p:spPr>
          <a:xfrm>
            <a:off x="4600346" y="2871216"/>
            <a:ext cx="2991002" cy="237744"/>
          </a:xfrm>
          <a:prstGeom prst="rect">
            <a:avLst/>
          </a:prstGeom>
          <a:noFill/>
          <a:ln/>
        </p:spPr>
        <p:txBody>
          <a:bodyPr wrap="square" lIns="0" tIns="0" rIns="0" bIns="0" rtlCol="0" anchor="ctr"/>
          <a:lstStyle/>
          <a:p>
            <a:pPr indent="0" marL="0">
              <a:buNone/>
            </a:pPr>
            <a:r>
              <a:rPr lang="en-US" sz="880" b="1" dirty="0">
                <a:solidFill>
                  <a:srgbClr val="A06D4C"/>
                </a:solidFill>
                <a:latin typeface="Yu Gothic" pitchFamily="34" charset="0"/>
                <a:ea typeface="Yu Gothic" pitchFamily="34" charset="-122"/>
                <a:cs typeface="Yu Gothic" pitchFamily="34" charset="-120"/>
              </a:rPr>
              <a:t>飲食店／ワーカー／レジデンス</a:t>
            </a:r>
            <a:endParaRPr lang="en-US" sz="880" dirty="0"/>
          </a:p>
        </p:txBody>
      </p:sp>
      <p:sp>
        <p:nvSpPr>
          <p:cNvPr id="22" name="Shape 19"/>
          <p:cNvSpPr/>
          <p:nvPr/>
        </p:nvSpPr>
        <p:spPr>
          <a:xfrm>
            <a:off x="8121701" y="1463040"/>
            <a:ext cx="3503066" cy="1737360"/>
          </a:xfrm>
          <a:prstGeom prst="roundRect">
            <a:avLst>
              <a:gd name="adj" fmla="val 2632"/>
            </a:avLst>
          </a:prstGeom>
          <a:solidFill>
            <a:srgbClr val="F6F6F6"/>
          </a:solidFill>
          <a:ln w="12700">
            <a:solidFill>
              <a:srgbClr val="333333"/>
            </a:solidFill>
            <a:prstDash val="solid"/>
          </a:ln>
        </p:spPr>
      </p:sp>
      <p:sp>
        <p:nvSpPr>
          <p:cNvPr id="23" name="Shape 20"/>
          <p:cNvSpPr/>
          <p:nvPr/>
        </p:nvSpPr>
        <p:spPr>
          <a:xfrm>
            <a:off x="8377733" y="1737360"/>
            <a:ext cx="420624" cy="420624"/>
          </a:xfrm>
          <a:prstGeom prst="ellipse">
            <a:avLst/>
          </a:prstGeom>
          <a:solidFill>
            <a:srgbClr val="C68A65"/>
          </a:solidFill>
          <a:ln w="12700">
            <a:solidFill>
              <a:srgbClr val="333333"/>
            </a:solidFill>
            <a:prstDash val="solid"/>
          </a:ln>
        </p:spPr>
      </p:sp>
      <p:sp>
        <p:nvSpPr>
          <p:cNvPr id="24" name="Text 21"/>
          <p:cNvSpPr/>
          <p:nvPr/>
        </p:nvSpPr>
        <p:spPr>
          <a:xfrm>
            <a:off x="8377733" y="1737360"/>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25" name="Text 22"/>
          <p:cNvSpPr/>
          <p:nvPr/>
        </p:nvSpPr>
        <p:spPr>
          <a:xfrm>
            <a:off x="8908085" y="1645920"/>
            <a:ext cx="2460650" cy="603504"/>
          </a:xfrm>
          <a:prstGeom prst="rect">
            <a:avLst/>
          </a:prstGeom>
          <a:noFill/>
          <a:ln/>
        </p:spPr>
        <p:txBody>
          <a:bodyPr wrap="square" lIns="0" tIns="0" rIns="0" bIns="0" rtlCol="0" anchor="ctr"/>
          <a:lstStyle/>
          <a:p>
            <a:pPr indent="0" marL="0">
              <a:buNone/>
            </a:pPr>
            <a:r>
              <a:rPr lang="en-US" sz="1300" b="1" dirty="0">
                <a:solidFill>
                  <a:srgbClr val="1A1A1A"/>
                </a:solidFill>
                <a:latin typeface="Yu Gothic" pitchFamily="34" charset="0"/>
                <a:ea typeface="Yu Gothic" pitchFamily="34" charset="-122"/>
                <a:cs typeface="Yu Gothic" pitchFamily="34" charset="-120"/>
              </a:rPr>
              <a:t>WineBank CLUB ヒルズ会員</a:t>
            </a:r>
            <a:endParaRPr lang="en-US" sz="1300" dirty="0"/>
          </a:p>
        </p:txBody>
      </p:sp>
      <p:sp>
        <p:nvSpPr>
          <p:cNvPr id="26" name="Text 23"/>
          <p:cNvSpPr/>
          <p:nvPr/>
        </p:nvSpPr>
        <p:spPr>
          <a:xfrm>
            <a:off x="8377733" y="2322576"/>
            <a:ext cx="2991002" cy="548640"/>
          </a:xfrm>
          <a:prstGeom prst="rect">
            <a:avLst/>
          </a:prstGeom>
          <a:noFill/>
          <a:ln/>
        </p:spPr>
        <p:txBody>
          <a:bodyPr wrap="square" lIns="0" tIns="0" rIns="0" bIns="0" rtlCol="0" anchor="ctr"/>
          <a:lstStyle/>
          <a:p>
            <a:pPr indent="0" marL="0">
              <a:lnSpc>
                <a:spcPts val="1400"/>
              </a:lnSpc>
              <a:buNone/>
            </a:pPr>
            <a:r>
              <a:rPr lang="en-US" sz="1000" dirty="0">
                <a:solidFill>
                  <a:srgbClr val="1A1A1A"/>
                </a:solidFill>
                <a:latin typeface="Yu Gothic" pitchFamily="34" charset="0"/>
                <a:ea typeface="Yu Gothic" pitchFamily="34" charset="-122"/>
                <a:cs typeface="Yu Gothic" pitchFamily="34" charset="-120"/>
              </a:rPr>
              <a:t>レストランでワインが仕入原価相当。通常プランに加えヒルズ向けのオーダーメイド版をご提案。</a:t>
            </a:r>
            <a:endParaRPr lang="en-US" sz="1000" dirty="0"/>
          </a:p>
        </p:txBody>
      </p:sp>
      <p:sp>
        <p:nvSpPr>
          <p:cNvPr id="27" name="Text 24"/>
          <p:cNvSpPr/>
          <p:nvPr/>
        </p:nvSpPr>
        <p:spPr>
          <a:xfrm>
            <a:off x="8377733" y="2871216"/>
            <a:ext cx="2991002" cy="237744"/>
          </a:xfrm>
          <a:prstGeom prst="rect">
            <a:avLst/>
          </a:prstGeom>
          <a:noFill/>
          <a:ln/>
        </p:spPr>
        <p:txBody>
          <a:bodyPr wrap="square" lIns="0" tIns="0" rIns="0" bIns="0" rtlCol="0" anchor="ctr"/>
          <a:lstStyle/>
          <a:p>
            <a:pPr indent="0" marL="0">
              <a:buNone/>
            </a:pPr>
            <a:r>
              <a:rPr lang="en-US" sz="880" b="1" dirty="0">
                <a:solidFill>
                  <a:srgbClr val="A06D4C"/>
                </a:solidFill>
                <a:latin typeface="Yu Gothic" pitchFamily="34" charset="0"/>
                <a:ea typeface="Yu Gothic" pitchFamily="34" charset="-122"/>
                <a:cs typeface="Yu Gothic" pitchFamily="34" charset="-120"/>
              </a:rPr>
              <a:t>ワーカー／レジデンス</a:t>
            </a:r>
            <a:endParaRPr lang="en-US" sz="880" dirty="0"/>
          </a:p>
        </p:txBody>
      </p:sp>
      <p:sp>
        <p:nvSpPr>
          <p:cNvPr id="28" name="Shape 25"/>
          <p:cNvSpPr/>
          <p:nvPr/>
        </p:nvSpPr>
        <p:spPr>
          <a:xfrm>
            <a:off x="566928" y="3438144"/>
            <a:ext cx="3503066" cy="1737360"/>
          </a:xfrm>
          <a:prstGeom prst="roundRect">
            <a:avLst>
              <a:gd name="adj" fmla="val 2632"/>
            </a:avLst>
          </a:prstGeom>
          <a:solidFill>
            <a:srgbClr val="F6F6F6"/>
          </a:solidFill>
          <a:ln w="12700">
            <a:solidFill>
              <a:srgbClr val="333333"/>
            </a:solidFill>
            <a:prstDash val="solid"/>
          </a:ln>
        </p:spPr>
      </p:sp>
      <p:sp>
        <p:nvSpPr>
          <p:cNvPr id="29" name="Shape 26"/>
          <p:cNvSpPr/>
          <p:nvPr/>
        </p:nvSpPr>
        <p:spPr>
          <a:xfrm>
            <a:off x="822960" y="3712464"/>
            <a:ext cx="420624" cy="420624"/>
          </a:xfrm>
          <a:prstGeom prst="ellipse">
            <a:avLst/>
          </a:prstGeom>
          <a:solidFill>
            <a:srgbClr val="C68A65"/>
          </a:solidFill>
          <a:ln w="12700">
            <a:solidFill>
              <a:srgbClr val="333333"/>
            </a:solidFill>
            <a:prstDash val="solid"/>
          </a:ln>
        </p:spPr>
      </p:sp>
      <p:sp>
        <p:nvSpPr>
          <p:cNvPr id="30" name="Text 27"/>
          <p:cNvSpPr/>
          <p:nvPr/>
        </p:nvSpPr>
        <p:spPr>
          <a:xfrm>
            <a:off x="822960" y="3712464"/>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31" name="Text 28"/>
          <p:cNvSpPr/>
          <p:nvPr/>
        </p:nvSpPr>
        <p:spPr>
          <a:xfrm>
            <a:off x="1353312" y="3621024"/>
            <a:ext cx="2460650" cy="603504"/>
          </a:xfrm>
          <a:prstGeom prst="rect">
            <a:avLst/>
          </a:prstGeom>
          <a:noFill/>
          <a:ln/>
        </p:spPr>
        <p:txBody>
          <a:bodyPr wrap="square" lIns="0" tIns="0" rIns="0" bIns="0" rtlCol="0" anchor="ctr"/>
          <a:lstStyle/>
          <a:p>
            <a:pPr indent="0" marL="0">
              <a:buNone/>
            </a:pPr>
            <a:r>
              <a:rPr lang="en-US" sz="1300" b="1" dirty="0">
                <a:solidFill>
                  <a:srgbClr val="1A1A1A"/>
                </a:solidFill>
                <a:latin typeface="Yu Gothic" pitchFamily="34" charset="0"/>
                <a:ea typeface="Yu Gothic" pitchFamily="34" charset="-122"/>
                <a:cs typeface="Yu Gothic" pitchFamily="34" charset="-120"/>
              </a:rPr>
              <a:t>クラウドワインセラー出店</a:t>
            </a:r>
            <a:endParaRPr lang="en-US" sz="1300" dirty="0"/>
          </a:p>
        </p:txBody>
      </p:sp>
      <p:sp>
        <p:nvSpPr>
          <p:cNvPr id="32" name="Text 29"/>
          <p:cNvSpPr/>
          <p:nvPr/>
        </p:nvSpPr>
        <p:spPr>
          <a:xfrm>
            <a:off x="822960" y="4297680"/>
            <a:ext cx="2991002" cy="548640"/>
          </a:xfrm>
          <a:prstGeom prst="rect">
            <a:avLst/>
          </a:prstGeom>
          <a:noFill/>
          <a:ln/>
        </p:spPr>
        <p:txBody>
          <a:bodyPr wrap="square" lIns="0" tIns="0" rIns="0" bIns="0" rtlCol="0" anchor="ctr"/>
          <a:lstStyle/>
          <a:p>
            <a:pPr indent="0" marL="0">
              <a:lnSpc>
                <a:spcPts val="1400"/>
              </a:lnSpc>
              <a:buNone/>
            </a:pPr>
            <a:r>
              <a:rPr lang="en-US" sz="1000" dirty="0">
                <a:solidFill>
                  <a:srgbClr val="1A1A1A"/>
                </a:solidFill>
                <a:latin typeface="Yu Gothic" pitchFamily="34" charset="0"/>
                <a:ea typeface="Yu Gothic" pitchFamily="34" charset="-122"/>
                <a:cs typeface="Yu Gothic" pitchFamily="34" charset="-120"/>
              </a:rPr>
              <a:t>数千本のウォークインセラーを核とした、在庫共有型フードホールを商業区画に。</a:t>
            </a:r>
            <a:endParaRPr lang="en-US" sz="1000" dirty="0"/>
          </a:p>
        </p:txBody>
      </p:sp>
      <p:sp>
        <p:nvSpPr>
          <p:cNvPr id="33" name="Text 30"/>
          <p:cNvSpPr/>
          <p:nvPr/>
        </p:nvSpPr>
        <p:spPr>
          <a:xfrm>
            <a:off x="822960" y="4846320"/>
            <a:ext cx="2991002" cy="237744"/>
          </a:xfrm>
          <a:prstGeom prst="rect">
            <a:avLst/>
          </a:prstGeom>
          <a:noFill/>
          <a:ln/>
        </p:spPr>
        <p:txBody>
          <a:bodyPr wrap="square" lIns="0" tIns="0" rIns="0" bIns="0" rtlCol="0" anchor="ctr"/>
          <a:lstStyle/>
          <a:p>
            <a:pPr indent="0" marL="0">
              <a:buNone/>
            </a:pPr>
            <a:r>
              <a:rPr lang="en-US" sz="880" b="1" dirty="0">
                <a:solidFill>
                  <a:srgbClr val="A06D4C"/>
                </a:solidFill>
                <a:latin typeface="Yu Gothic" pitchFamily="34" charset="0"/>
                <a:ea typeface="Yu Gothic" pitchFamily="34" charset="-122"/>
                <a:cs typeface="Yu Gothic" pitchFamily="34" charset="-120"/>
              </a:rPr>
              <a:t>商業施設</a:t>
            </a:r>
            <a:endParaRPr lang="en-US" sz="880" dirty="0"/>
          </a:p>
        </p:txBody>
      </p:sp>
      <p:sp>
        <p:nvSpPr>
          <p:cNvPr id="34" name="Shape 31"/>
          <p:cNvSpPr/>
          <p:nvPr/>
        </p:nvSpPr>
        <p:spPr>
          <a:xfrm>
            <a:off x="4344314" y="3438144"/>
            <a:ext cx="3503066" cy="1737360"/>
          </a:xfrm>
          <a:prstGeom prst="roundRect">
            <a:avLst>
              <a:gd name="adj" fmla="val 2632"/>
            </a:avLst>
          </a:prstGeom>
          <a:solidFill>
            <a:srgbClr val="F6F6F6"/>
          </a:solidFill>
          <a:ln w="12700">
            <a:solidFill>
              <a:srgbClr val="333333"/>
            </a:solidFill>
            <a:prstDash val="solid"/>
          </a:ln>
        </p:spPr>
      </p:sp>
      <p:sp>
        <p:nvSpPr>
          <p:cNvPr id="35" name="Shape 32"/>
          <p:cNvSpPr/>
          <p:nvPr/>
        </p:nvSpPr>
        <p:spPr>
          <a:xfrm>
            <a:off x="4600346" y="3712464"/>
            <a:ext cx="420624" cy="420624"/>
          </a:xfrm>
          <a:prstGeom prst="ellipse">
            <a:avLst/>
          </a:prstGeom>
          <a:solidFill>
            <a:srgbClr val="C68A65"/>
          </a:solidFill>
          <a:ln w="12700">
            <a:solidFill>
              <a:srgbClr val="333333"/>
            </a:solidFill>
            <a:prstDash val="solid"/>
          </a:ln>
        </p:spPr>
      </p:sp>
      <p:sp>
        <p:nvSpPr>
          <p:cNvPr id="36" name="Text 33"/>
          <p:cNvSpPr/>
          <p:nvPr/>
        </p:nvSpPr>
        <p:spPr>
          <a:xfrm>
            <a:off x="4600346" y="3712464"/>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05</a:t>
            </a:r>
            <a:endParaRPr lang="en-US" sz="1100" dirty="0"/>
          </a:p>
        </p:txBody>
      </p:sp>
      <p:sp>
        <p:nvSpPr>
          <p:cNvPr id="37" name="Text 34"/>
          <p:cNvSpPr/>
          <p:nvPr/>
        </p:nvSpPr>
        <p:spPr>
          <a:xfrm>
            <a:off x="5130698" y="3621024"/>
            <a:ext cx="2460650" cy="603504"/>
          </a:xfrm>
          <a:prstGeom prst="rect">
            <a:avLst/>
          </a:prstGeom>
          <a:noFill/>
          <a:ln/>
        </p:spPr>
        <p:txBody>
          <a:bodyPr wrap="square" lIns="0" tIns="0" rIns="0" bIns="0" rtlCol="0" anchor="ctr"/>
          <a:lstStyle/>
          <a:p>
            <a:pPr indent="0" marL="0">
              <a:buNone/>
            </a:pPr>
            <a:r>
              <a:rPr lang="en-US" sz="1300" b="1" dirty="0">
                <a:solidFill>
                  <a:srgbClr val="1A1A1A"/>
                </a:solidFill>
                <a:latin typeface="Yu Gothic" pitchFamily="34" charset="0"/>
                <a:ea typeface="Yu Gothic" pitchFamily="34" charset="-122"/>
                <a:cs typeface="Yu Gothic" pitchFamily="34" charset="-120"/>
              </a:rPr>
              <a:t>ティエリー・マルクス業態出店</a:t>
            </a:r>
            <a:endParaRPr lang="en-US" sz="1300" dirty="0"/>
          </a:p>
        </p:txBody>
      </p:sp>
      <p:sp>
        <p:nvSpPr>
          <p:cNvPr id="38" name="Text 35"/>
          <p:cNvSpPr/>
          <p:nvPr/>
        </p:nvSpPr>
        <p:spPr>
          <a:xfrm>
            <a:off x="4600346" y="4297680"/>
            <a:ext cx="2991002" cy="548640"/>
          </a:xfrm>
          <a:prstGeom prst="rect">
            <a:avLst/>
          </a:prstGeom>
          <a:noFill/>
          <a:ln/>
        </p:spPr>
        <p:txBody>
          <a:bodyPr wrap="square" lIns="0" tIns="0" rIns="0" bIns="0" rtlCol="0" anchor="ctr"/>
          <a:lstStyle/>
          <a:p>
            <a:pPr indent="0" marL="0">
              <a:lnSpc>
                <a:spcPts val="1400"/>
              </a:lnSpc>
              <a:buNone/>
            </a:pPr>
            <a:r>
              <a:rPr lang="en-US" sz="1000" dirty="0">
                <a:solidFill>
                  <a:srgbClr val="1A1A1A"/>
                </a:solidFill>
                <a:latin typeface="Yu Gothic" pitchFamily="34" charset="0"/>
                <a:ea typeface="Yu Gothic" pitchFamily="34" charset="-122"/>
                <a:cs typeface="Yu Gothic" pitchFamily="34" charset="-120"/>
              </a:rPr>
              <a:t>ミシュラン累計7つ星シェフの日本再進出業態。街区の格とメディア露出を創出。</a:t>
            </a:r>
            <a:endParaRPr lang="en-US" sz="1000" dirty="0"/>
          </a:p>
        </p:txBody>
      </p:sp>
      <p:sp>
        <p:nvSpPr>
          <p:cNvPr id="39" name="Text 36"/>
          <p:cNvSpPr/>
          <p:nvPr/>
        </p:nvSpPr>
        <p:spPr>
          <a:xfrm>
            <a:off x="4600346" y="4846320"/>
            <a:ext cx="2991002" cy="237744"/>
          </a:xfrm>
          <a:prstGeom prst="rect">
            <a:avLst/>
          </a:prstGeom>
          <a:noFill/>
          <a:ln/>
        </p:spPr>
        <p:txBody>
          <a:bodyPr wrap="square" lIns="0" tIns="0" rIns="0" bIns="0" rtlCol="0" anchor="ctr"/>
          <a:lstStyle/>
          <a:p>
            <a:pPr indent="0" marL="0">
              <a:buNone/>
            </a:pPr>
            <a:r>
              <a:rPr lang="en-US" sz="880" b="1" dirty="0">
                <a:solidFill>
                  <a:srgbClr val="A06D4C"/>
                </a:solidFill>
                <a:latin typeface="Yu Gothic" pitchFamily="34" charset="0"/>
                <a:ea typeface="Yu Gothic" pitchFamily="34" charset="-122"/>
                <a:cs typeface="Yu Gothic" pitchFamily="34" charset="-120"/>
              </a:rPr>
              <a:t>商業施設</a:t>
            </a:r>
            <a:endParaRPr lang="en-US" sz="880" dirty="0"/>
          </a:p>
        </p:txBody>
      </p:sp>
      <p:sp>
        <p:nvSpPr>
          <p:cNvPr id="40" name="Shape 37"/>
          <p:cNvSpPr/>
          <p:nvPr/>
        </p:nvSpPr>
        <p:spPr>
          <a:xfrm>
            <a:off x="8121701" y="3438144"/>
            <a:ext cx="3503066" cy="1737360"/>
          </a:xfrm>
          <a:prstGeom prst="roundRect">
            <a:avLst>
              <a:gd name="adj" fmla="val 2632"/>
            </a:avLst>
          </a:prstGeom>
          <a:solidFill>
            <a:srgbClr val="F6F6F6"/>
          </a:solidFill>
          <a:ln w="12700">
            <a:solidFill>
              <a:srgbClr val="333333"/>
            </a:solidFill>
            <a:prstDash val="solid"/>
          </a:ln>
        </p:spPr>
      </p:sp>
      <p:sp>
        <p:nvSpPr>
          <p:cNvPr id="41" name="Shape 38"/>
          <p:cNvSpPr/>
          <p:nvPr/>
        </p:nvSpPr>
        <p:spPr>
          <a:xfrm>
            <a:off x="8377733" y="3712464"/>
            <a:ext cx="420624" cy="420624"/>
          </a:xfrm>
          <a:prstGeom prst="ellipse">
            <a:avLst/>
          </a:prstGeom>
          <a:solidFill>
            <a:srgbClr val="C68A65"/>
          </a:solidFill>
          <a:ln w="12700">
            <a:solidFill>
              <a:srgbClr val="333333"/>
            </a:solidFill>
            <a:prstDash val="solid"/>
          </a:ln>
        </p:spPr>
      </p:sp>
      <p:sp>
        <p:nvSpPr>
          <p:cNvPr id="42" name="Text 39"/>
          <p:cNvSpPr/>
          <p:nvPr/>
        </p:nvSpPr>
        <p:spPr>
          <a:xfrm>
            <a:off x="8377733" y="3712464"/>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06</a:t>
            </a:r>
            <a:endParaRPr lang="en-US" sz="1100" dirty="0"/>
          </a:p>
        </p:txBody>
      </p:sp>
      <p:sp>
        <p:nvSpPr>
          <p:cNvPr id="43" name="Text 40"/>
          <p:cNvSpPr/>
          <p:nvPr/>
        </p:nvSpPr>
        <p:spPr>
          <a:xfrm>
            <a:off x="8908085" y="3621024"/>
            <a:ext cx="2460650" cy="603504"/>
          </a:xfrm>
          <a:prstGeom prst="rect">
            <a:avLst/>
          </a:prstGeom>
          <a:noFill/>
          <a:ln/>
        </p:spPr>
        <p:txBody>
          <a:bodyPr wrap="square" lIns="0" tIns="0" rIns="0" bIns="0" rtlCol="0" anchor="ctr"/>
          <a:lstStyle/>
          <a:p>
            <a:pPr indent="0" marL="0">
              <a:buNone/>
            </a:pPr>
            <a:r>
              <a:rPr lang="en-US" sz="1300" b="1" dirty="0">
                <a:solidFill>
                  <a:srgbClr val="1A1A1A"/>
                </a:solidFill>
                <a:latin typeface="Yu Gothic" pitchFamily="34" charset="0"/>
                <a:ea typeface="Yu Gothic" pitchFamily="34" charset="-122"/>
                <a:cs typeface="Yu Gothic" pitchFamily="34" charset="-120"/>
              </a:rPr>
              <a:t>ワイン預りサービス</a:t>
            </a:r>
            <a:endParaRPr lang="en-US" sz="1300" dirty="0"/>
          </a:p>
        </p:txBody>
      </p:sp>
      <p:sp>
        <p:nvSpPr>
          <p:cNvPr id="44" name="Text 41"/>
          <p:cNvSpPr/>
          <p:nvPr/>
        </p:nvSpPr>
        <p:spPr>
          <a:xfrm>
            <a:off x="8377733" y="4297680"/>
            <a:ext cx="2991002" cy="548640"/>
          </a:xfrm>
          <a:prstGeom prst="rect">
            <a:avLst/>
          </a:prstGeom>
          <a:noFill/>
          <a:ln/>
        </p:spPr>
        <p:txBody>
          <a:bodyPr wrap="square" lIns="0" tIns="0" rIns="0" bIns="0" rtlCol="0" anchor="ctr"/>
          <a:lstStyle/>
          <a:p>
            <a:pPr indent="0" marL="0">
              <a:lnSpc>
                <a:spcPts val="1400"/>
              </a:lnSpc>
              <a:buNone/>
            </a:pPr>
            <a:r>
              <a:rPr lang="en-US" sz="1000" dirty="0">
                <a:solidFill>
                  <a:srgbClr val="1A1A1A"/>
                </a:solidFill>
                <a:latin typeface="Yu Gothic" pitchFamily="34" charset="0"/>
                <a:ea typeface="Yu Gothic" pitchFamily="34" charset="-122"/>
                <a:cs typeface="Yu Gothic" pitchFamily="34" charset="-120"/>
              </a:rPr>
              <a:t>居住者のご自宅ワインをお預かりし、一覧化して定温保管。必要なときに出庫。</a:t>
            </a:r>
            <a:endParaRPr lang="en-US" sz="1000" dirty="0"/>
          </a:p>
        </p:txBody>
      </p:sp>
      <p:sp>
        <p:nvSpPr>
          <p:cNvPr id="45" name="Text 42"/>
          <p:cNvSpPr/>
          <p:nvPr/>
        </p:nvSpPr>
        <p:spPr>
          <a:xfrm>
            <a:off x="8377733" y="4846320"/>
            <a:ext cx="2991002" cy="237744"/>
          </a:xfrm>
          <a:prstGeom prst="rect">
            <a:avLst/>
          </a:prstGeom>
          <a:noFill/>
          <a:ln/>
        </p:spPr>
        <p:txBody>
          <a:bodyPr wrap="square" lIns="0" tIns="0" rIns="0" bIns="0" rtlCol="0" anchor="ctr"/>
          <a:lstStyle/>
          <a:p>
            <a:pPr indent="0" marL="0">
              <a:buNone/>
            </a:pPr>
            <a:r>
              <a:rPr lang="en-US" sz="880" b="1" dirty="0">
                <a:solidFill>
                  <a:srgbClr val="A06D4C"/>
                </a:solidFill>
                <a:latin typeface="Yu Gothic" pitchFamily="34" charset="0"/>
                <a:ea typeface="Yu Gothic" pitchFamily="34" charset="-122"/>
                <a:cs typeface="Yu Gothic" pitchFamily="34" charset="-120"/>
              </a:rPr>
              <a:t>レジデンス</a:t>
            </a:r>
            <a:endParaRPr lang="en-US" sz="880" dirty="0"/>
          </a:p>
        </p:txBody>
      </p:sp>
      <p:sp>
        <p:nvSpPr>
          <p:cNvPr id="46" name="Text 43"/>
          <p:cNvSpPr/>
          <p:nvPr/>
        </p:nvSpPr>
        <p:spPr>
          <a:xfrm>
            <a:off x="566928" y="5358384"/>
            <a:ext cx="10972800" cy="292608"/>
          </a:xfrm>
          <a:prstGeom prst="rect">
            <a:avLst/>
          </a:prstGeom>
          <a:noFill/>
          <a:ln/>
        </p:spPr>
        <p:txBody>
          <a:bodyPr wrap="square" lIns="0" tIns="0" rIns="0" bIns="0" rtlCol="0" anchor="ctr"/>
          <a:lstStyle/>
          <a:p>
            <a:pPr indent="0" marL="0">
              <a:buNone/>
            </a:pPr>
            <a:r>
              <a:rPr lang="en-US" sz="1100" b="1" dirty="0">
                <a:solidFill>
                  <a:srgbClr val="A06D4C"/>
                </a:solidFill>
                <a:latin typeface="Yu Gothic" pitchFamily="34" charset="0"/>
                <a:ea typeface="Yu Gothic" pitchFamily="34" charset="-122"/>
                <a:cs typeface="Yu Gothic" pitchFamily="34" charset="-120"/>
              </a:rPr>
              <a:t>段階導入：①②③（設備投資ほぼ不要・3〜4か月で開始可能） → 効果検証のうえ ④⑤（区画を伴う出店）。⑥は③と同時に付帯。</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381183" y="292608"/>
            <a:ext cx="1243584" cy="247802"/>
          </a:xfrm>
          <a:prstGeom prst="rect">
            <a:avLst/>
          </a:prstGeom>
        </p:spPr>
      </p:pic>
      <p:sp>
        <p:nvSpPr>
          <p:cNvPr id="3" name="Shape 0"/>
          <p:cNvSpPr/>
          <p:nvPr/>
        </p:nvSpPr>
        <p:spPr>
          <a:xfrm>
            <a:off x="566928" y="292608"/>
            <a:ext cx="1115568" cy="237744"/>
          </a:xfrm>
          <a:prstGeom prst="roundRect">
            <a:avLst>
              <a:gd name="adj" fmla="val 11538"/>
            </a:avLst>
          </a:prstGeom>
          <a:solidFill>
            <a:srgbClr val="C68A65"/>
          </a:solidFill>
          <a:ln w="12700">
            <a:solidFill>
              <a:srgbClr val="333333"/>
            </a:solidFill>
            <a:prstDash val="solid"/>
          </a:ln>
        </p:spPr>
      </p:sp>
      <p:sp>
        <p:nvSpPr>
          <p:cNvPr id="4" name="Text 1"/>
          <p:cNvSpPr/>
          <p:nvPr/>
        </p:nvSpPr>
        <p:spPr>
          <a:xfrm>
            <a:off x="566928" y="292608"/>
            <a:ext cx="1115568"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Yu Gothic" pitchFamily="34" charset="0"/>
                <a:ea typeface="Yu Gothic" pitchFamily="34" charset="-122"/>
                <a:cs typeface="Yu Gothic" pitchFamily="34" charset="-120"/>
              </a:rPr>
              <a:t>PROGRAM 01</a:t>
            </a:r>
            <a:endParaRPr lang="en-US" sz="850" dirty="0"/>
          </a:p>
        </p:txBody>
      </p:sp>
      <p:sp>
        <p:nvSpPr>
          <p:cNvPr id="5" name="Text 2"/>
          <p:cNvSpPr/>
          <p:nvPr/>
        </p:nvSpPr>
        <p:spPr>
          <a:xfrm>
            <a:off x="566928" y="585216"/>
            <a:ext cx="9509760" cy="420624"/>
          </a:xfrm>
          <a:prstGeom prst="rect">
            <a:avLst/>
          </a:prstGeom>
          <a:noFill/>
          <a:ln/>
        </p:spPr>
        <p:txBody>
          <a:bodyPr wrap="square" lIns="0" tIns="0" rIns="0" bIns="0" rtlCol="0" anchor="ctr"/>
          <a:lstStyle/>
          <a:p>
            <a:pPr indent="0" marL="0">
              <a:buNone/>
            </a:pPr>
            <a:r>
              <a:rPr lang="en-US" sz="2300" b="1" dirty="0">
                <a:solidFill>
                  <a:srgbClr val="1A1A1A"/>
                </a:solidFill>
                <a:latin typeface="Yu Gothic" pitchFamily="34" charset="0"/>
                <a:ea typeface="Yu Gothic" pitchFamily="34" charset="-122"/>
                <a:cs typeface="Yu Gothic" pitchFamily="34" charset="-120"/>
              </a:rPr>
              <a:t>Cloud Wine Cave とは</a:t>
            </a:r>
            <a:endParaRPr lang="en-US" sz="2300" dirty="0"/>
          </a:p>
        </p:txBody>
      </p:sp>
      <p:sp>
        <p:nvSpPr>
          <p:cNvPr id="6" name="Text 3"/>
          <p:cNvSpPr/>
          <p:nvPr/>
        </p:nvSpPr>
        <p:spPr>
          <a:xfrm>
            <a:off x="566928" y="1024128"/>
            <a:ext cx="11057839" cy="310896"/>
          </a:xfrm>
          <a:prstGeom prst="rect">
            <a:avLst/>
          </a:prstGeom>
          <a:noFill/>
          <a:ln/>
        </p:spPr>
        <p:txBody>
          <a:bodyPr wrap="square" lIns="0" tIns="0" rIns="0" bIns="0" rtlCol="0" anchor="ctr"/>
          <a:lstStyle/>
          <a:p>
            <a:pPr indent="0" marL="0">
              <a:lnSpc>
                <a:spcPts val="1700"/>
              </a:lnSpc>
              <a:buNone/>
            </a:pPr>
            <a:r>
              <a:rPr lang="en-US" sz="1150" dirty="0">
                <a:solidFill>
                  <a:srgbClr val="6E7378"/>
                </a:solidFill>
                <a:latin typeface="Yu Gothic" pitchFamily="34" charset="0"/>
                <a:ea typeface="Yu Gothic" pitchFamily="34" charset="-122"/>
                <a:cs typeface="Yu Gothic" pitchFamily="34" charset="-120"/>
              </a:rPr>
              <a:t>当社が保有・管理する数万本のワイン在庫を、クラウド上の「自分のセラー」として使っていただく仕組みです。</a:t>
            </a:r>
            <a:endParaRPr lang="en-US" sz="1150" dirty="0"/>
          </a:p>
        </p:txBody>
      </p:sp>
      <p:sp>
        <p:nvSpPr>
          <p:cNvPr id="7" name="Shape 4"/>
          <p:cNvSpPr/>
          <p:nvPr/>
        </p:nvSpPr>
        <p:spPr>
          <a:xfrm>
            <a:off x="0" y="6583680"/>
            <a:ext cx="12191695" cy="274320"/>
          </a:xfrm>
          <a:prstGeom prst="rect">
            <a:avLst/>
          </a:prstGeom>
          <a:solidFill>
            <a:srgbClr val="2F3941"/>
          </a:solidFill>
          <a:ln w="12700">
            <a:solidFill>
              <a:srgbClr val="333333"/>
            </a:solidFill>
            <a:prstDash val="solid"/>
          </a:ln>
        </p:spPr>
      </p:sp>
      <p:sp>
        <p:nvSpPr>
          <p:cNvPr id="8" name="Text 5"/>
          <p:cNvSpPr/>
          <p:nvPr/>
        </p:nvSpPr>
        <p:spPr>
          <a:xfrm>
            <a:off x="10893247" y="6272784"/>
            <a:ext cx="731520" cy="256032"/>
          </a:xfrm>
          <a:prstGeom prst="rect">
            <a:avLst/>
          </a:prstGeom>
          <a:noFill/>
          <a:ln/>
        </p:spPr>
        <p:txBody>
          <a:bodyPr wrap="square" lIns="0" tIns="0" rIns="0" bIns="0" rtlCol="0" anchor="ctr"/>
          <a:lstStyle/>
          <a:p>
            <a:pPr algn="r" indent="0" marL="0">
              <a:buNone/>
            </a:pPr>
            <a:r>
              <a:rPr lang="en-US" sz="1000" dirty="0">
                <a:solidFill>
                  <a:srgbClr val="A6ABAF"/>
                </a:solidFill>
                <a:latin typeface="Calibri" pitchFamily="34" charset="0"/>
                <a:ea typeface="Calibri" pitchFamily="34" charset="-122"/>
                <a:cs typeface="Calibri" pitchFamily="34" charset="-120"/>
              </a:rPr>
              <a:t>4</a:t>
            </a:r>
            <a:endParaRPr lang="en-US" sz="1000" dirty="0"/>
          </a:p>
        </p:txBody>
      </p:sp>
      <p:sp>
        <p:nvSpPr>
          <p:cNvPr id="9" name="Text 6"/>
          <p:cNvSpPr/>
          <p:nvPr/>
        </p:nvSpPr>
        <p:spPr>
          <a:xfrm>
            <a:off x="566928" y="6272784"/>
            <a:ext cx="2926080" cy="256032"/>
          </a:xfrm>
          <a:prstGeom prst="rect">
            <a:avLst/>
          </a:prstGeom>
          <a:noFill/>
          <a:ln/>
        </p:spPr>
        <p:txBody>
          <a:bodyPr wrap="square" lIns="0" tIns="0" rIns="0" bIns="0" rtlCol="0" anchor="ctr"/>
          <a:lstStyle/>
          <a:p>
            <a:pPr indent="0" marL="0">
              <a:buNone/>
            </a:pPr>
            <a:r>
              <a:rPr lang="en-US" sz="850" spc="120" kern="0" dirty="0">
                <a:solidFill>
                  <a:srgbClr val="C7CACC"/>
                </a:solidFill>
                <a:latin typeface="Calibri" pitchFamily="34" charset="0"/>
                <a:ea typeface="Calibri" pitchFamily="34" charset="-122"/>
                <a:cs typeface="Calibri" pitchFamily="34" charset="-120"/>
              </a:rPr>
              <a:t>CONFIDENTIAL</a:t>
            </a:r>
            <a:endParaRPr lang="en-US" sz="850" dirty="0"/>
          </a:p>
        </p:txBody>
      </p:sp>
      <p:sp>
        <p:nvSpPr>
          <p:cNvPr id="10" name="Shape 7"/>
          <p:cNvSpPr/>
          <p:nvPr/>
        </p:nvSpPr>
        <p:spPr>
          <a:xfrm>
            <a:off x="566928" y="1444752"/>
            <a:ext cx="2572436" cy="1005840"/>
          </a:xfrm>
          <a:prstGeom prst="roundRect">
            <a:avLst>
              <a:gd name="adj" fmla="val 4545"/>
            </a:avLst>
          </a:prstGeom>
          <a:solidFill>
            <a:srgbClr val="F6F6F6"/>
          </a:solidFill>
          <a:ln w="12700">
            <a:solidFill>
              <a:srgbClr val="333333"/>
            </a:solidFill>
            <a:prstDash val="solid"/>
          </a:ln>
        </p:spPr>
      </p:sp>
      <p:sp>
        <p:nvSpPr>
          <p:cNvPr id="11" name="Text 8"/>
          <p:cNvSpPr/>
          <p:nvPr/>
        </p:nvSpPr>
        <p:spPr>
          <a:xfrm>
            <a:off x="786384" y="1554480"/>
            <a:ext cx="2133524" cy="402336"/>
          </a:xfrm>
          <a:prstGeom prst="rect">
            <a:avLst/>
          </a:prstGeom>
          <a:noFill/>
          <a:ln/>
        </p:spPr>
        <p:txBody>
          <a:bodyPr wrap="square" lIns="0" tIns="0" rIns="0" bIns="0" rtlCol="0" anchor="ctr"/>
          <a:lstStyle/>
          <a:p>
            <a:pPr indent="0" marL="0">
              <a:buNone/>
            </a:pPr>
            <a:r>
              <a:rPr lang="en-US" sz="2200" b="1" dirty="0">
                <a:solidFill>
                  <a:srgbClr val="C68A65"/>
                </a:solidFill>
                <a:latin typeface="Yu Gothic" pitchFamily="34" charset="0"/>
                <a:ea typeface="Yu Gothic" pitchFamily="34" charset="-122"/>
                <a:cs typeface="Yu Gothic" pitchFamily="34" charset="-120"/>
              </a:rPr>
              <a:t>30億円</a:t>
            </a:r>
            <a:endParaRPr lang="en-US" sz="2200" dirty="0"/>
          </a:p>
        </p:txBody>
      </p:sp>
      <p:sp>
        <p:nvSpPr>
          <p:cNvPr id="12" name="Text 9"/>
          <p:cNvSpPr/>
          <p:nvPr/>
        </p:nvSpPr>
        <p:spPr>
          <a:xfrm>
            <a:off x="786384" y="1993392"/>
            <a:ext cx="2133524" cy="274320"/>
          </a:xfrm>
          <a:prstGeom prst="rect">
            <a:avLst/>
          </a:prstGeom>
          <a:noFill/>
          <a:ln/>
        </p:spPr>
        <p:txBody>
          <a:bodyPr wrap="square" lIns="0" tIns="0" rIns="0" bIns="0" rtlCol="0" anchor="ctr"/>
          <a:lstStyle/>
          <a:p>
            <a:pPr indent="0" marL="0">
              <a:buNone/>
            </a:pPr>
            <a:r>
              <a:rPr lang="en-US" sz="950" dirty="0">
                <a:solidFill>
                  <a:srgbClr val="6E7378"/>
                </a:solidFill>
                <a:latin typeface="Yu Gothic" pitchFamily="34" charset="0"/>
                <a:ea typeface="Yu Gothic" pitchFamily="34" charset="-122"/>
                <a:cs typeface="Yu Gothic" pitchFamily="34" charset="-120"/>
              </a:rPr>
              <a:t>当社の管理ワイン在庫</a:t>
            </a:r>
            <a:endParaRPr lang="en-US" sz="950" dirty="0"/>
          </a:p>
        </p:txBody>
      </p:sp>
      <p:sp>
        <p:nvSpPr>
          <p:cNvPr id="13" name="Shape 10"/>
          <p:cNvSpPr/>
          <p:nvPr/>
        </p:nvSpPr>
        <p:spPr>
          <a:xfrm>
            <a:off x="3395396" y="1444752"/>
            <a:ext cx="2572436" cy="1005840"/>
          </a:xfrm>
          <a:prstGeom prst="roundRect">
            <a:avLst>
              <a:gd name="adj" fmla="val 4545"/>
            </a:avLst>
          </a:prstGeom>
          <a:solidFill>
            <a:srgbClr val="F6F6F6"/>
          </a:solidFill>
          <a:ln w="12700">
            <a:solidFill>
              <a:srgbClr val="333333"/>
            </a:solidFill>
            <a:prstDash val="solid"/>
          </a:ln>
        </p:spPr>
      </p:sp>
      <p:sp>
        <p:nvSpPr>
          <p:cNvPr id="14" name="Text 11"/>
          <p:cNvSpPr/>
          <p:nvPr/>
        </p:nvSpPr>
        <p:spPr>
          <a:xfrm>
            <a:off x="3614852" y="1554480"/>
            <a:ext cx="2133524" cy="402336"/>
          </a:xfrm>
          <a:prstGeom prst="rect">
            <a:avLst/>
          </a:prstGeom>
          <a:noFill/>
          <a:ln/>
        </p:spPr>
        <p:txBody>
          <a:bodyPr wrap="square" lIns="0" tIns="0" rIns="0" bIns="0" rtlCol="0" anchor="ctr"/>
          <a:lstStyle/>
          <a:p>
            <a:pPr indent="0" marL="0">
              <a:buNone/>
            </a:pPr>
            <a:r>
              <a:rPr lang="en-US" sz="2200" b="1" dirty="0">
                <a:solidFill>
                  <a:srgbClr val="C68A65"/>
                </a:solidFill>
                <a:latin typeface="Yu Gothic" pitchFamily="34" charset="0"/>
                <a:ea typeface="Yu Gothic" pitchFamily="34" charset="-122"/>
                <a:cs typeface="Yu Gothic" pitchFamily="34" charset="-120"/>
              </a:rPr>
              <a:t>50万本</a:t>
            </a:r>
            <a:endParaRPr lang="en-US" sz="2200" dirty="0"/>
          </a:p>
        </p:txBody>
      </p:sp>
      <p:sp>
        <p:nvSpPr>
          <p:cNvPr id="15" name="Text 12"/>
          <p:cNvSpPr/>
          <p:nvPr/>
        </p:nvSpPr>
        <p:spPr>
          <a:xfrm>
            <a:off x="3614852" y="1993392"/>
            <a:ext cx="2133524" cy="274320"/>
          </a:xfrm>
          <a:prstGeom prst="rect">
            <a:avLst/>
          </a:prstGeom>
          <a:noFill/>
          <a:ln/>
        </p:spPr>
        <p:txBody>
          <a:bodyPr wrap="square" lIns="0" tIns="0" rIns="0" bIns="0" rtlCol="0" anchor="ctr"/>
          <a:lstStyle/>
          <a:p>
            <a:pPr indent="0" marL="0">
              <a:buNone/>
            </a:pPr>
            <a:r>
              <a:rPr lang="en-US" sz="950" dirty="0">
                <a:solidFill>
                  <a:srgbClr val="6E7378"/>
                </a:solidFill>
                <a:latin typeface="Yu Gothic" pitchFamily="34" charset="0"/>
                <a:ea typeface="Yu Gothic" pitchFamily="34" charset="-122"/>
                <a:cs typeface="Yu Gothic" pitchFamily="34" charset="-120"/>
              </a:rPr>
              <a:t>アクセスできる在庫本数</a:t>
            </a:r>
            <a:endParaRPr lang="en-US" sz="950" dirty="0"/>
          </a:p>
        </p:txBody>
      </p:sp>
      <p:sp>
        <p:nvSpPr>
          <p:cNvPr id="16" name="Shape 13"/>
          <p:cNvSpPr/>
          <p:nvPr/>
        </p:nvSpPr>
        <p:spPr>
          <a:xfrm>
            <a:off x="6223864" y="1444752"/>
            <a:ext cx="2572436" cy="1005840"/>
          </a:xfrm>
          <a:prstGeom prst="roundRect">
            <a:avLst>
              <a:gd name="adj" fmla="val 4545"/>
            </a:avLst>
          </a:prstGeom>
          <a:solidFill>
            <a:srgbClr val="F6F6F6"/>
          </a:solidFill>
          <a:ln w="12700">
            <a:solidFill>
              <a:srgbClr val="333333"/>
            </a:solidFill>
            <a:prstDash val="solid"/>
          </a:ln>
        </p:spPr>
      </p:sp>
      <p:sp>
        <p:nvSpPr>
          <p:cNvPr id="17" name="Text 14"/>
          <p:cNvSpPr/>
          <p:nvPr/>
        </p:nvSpPr>
        <p:spPr>
          <a:xfrm>
            <a:off x="6443320" y="1554480"/>
            <a:ext cx="2133524" cy="402336"/>
          </a:xfrm>
          <a:prstGeom prst="rect">
            <a:avLst/>
          </a:prstGeom>
          <a:noFill/>
          <a:ln/>
        </p:spPr>
        <p:txBody>
          <a:bodyPr wrap="square" lIns="0" tIns="0" rIns="0" bIns="0" rtlCol="0" anchor="ctr"/>
          <a:lstStyle/>
          <a:p>
            <a:pPr indent="0" marL="0">
              <a:buNone/>
            </a:pPr>
            <a:r>
              <a:rPr lang="en-US" sz="2200" b="1" dirty="0">
                <a:solidFill>
                  <a:srgbClr val="C68A65"/>
                </a:solidFill>
                <a:latin typeface="Yu Gothic" pitchFamily="34" charset="0"/>
                <a:ea typeface="Yu Gothic" pitchFamily="34" charset="-122"/>
                <a:cs typeface="Yu Gothic" pitchFamily="34" charset="-120"/>
              </a:rPr>
              <a:t>最短翌日</a:t>
            </a:r>
            <a:endParaRPr lang="en-US" sz="2200" dirty="0"/>
          </a:p>
        </p:txBody>
      </p:sp>
      <p:sp>
        <p:nvSpPr>
          <p:cNvPr id="18" name="Text 15"/>
          <p:cNvSpPr/>
          <p:nvPr/>
        </p:nvSpPr>
        <p:spPr>
          <a:xfrm>
            <a:off x="6443320" y="1993392"/>
            <a:ext cx="2133524" cy="274320"/>
          </a:xfrm>
          <a:prstGeom prst="rect">
            <a:avLst/>
          </a:prstGeom>
          <a:noFill/>
          <a:ln/>
        </p:spPr>
        <p:txBody>
          <a:bodyPr wrap="square" lIns="0" tIns="0" rIns="0" bIns="0" rtlCol="0" anchor="ctr"/>
          <a:lstStyle/>
          <a:p>
            <a:pPr indent="0" marL="0">
              <a:buNone/>
            </a:pPr>
            <a:r>
              <a:rPr lang="en-US" sz="950" dirty="0">
                <a:solidFill>
                  <a:srgbClr val="6E7378"/>
                </a:solidFill>
                <a:latin typeface="Yu Gothic" pitchFamily="34" charset="0"/>
                <a:ea typeface="Yu Gothic" pitchFamily="34" charset="-122"/>
                <a:cs typeface="Yu Gothic" pitchFamily="34" charset="-120"/>
              </a:rPr>
              <a:t>前日午前中のご注文で翌日着</a:t>
            </a:r>
            <a:endParaRPr lang="en-US" sz="950" dirty="0"/>
          </a:p>
        </p:txBody>
      </p:sp>
      <p:sp>
        <p:nvSpPr>
          <p:cNvPr id="19" name="Shape 16"/>
          <p:cNvSpPr/>
          <p:nvPr/>
        </p:nvSpPr>
        <p:spPr>
          <a:xfrm>
            <a:off x="9052331" y="1444752"/>
            <a:ext cx="2572436" cy="1005840"/>
          </a:xfrm>
          <a:prstGeom prst="roundRect">
            <a:avLst>
              <a:gd name="adj" fmla="val 4545"/>
            </a:avLst>
          </a:prstGeom>
          <a:solidFill>
            <a:srgbClr val="F6F6F6"/>
          </a:solidFill>
          <a:ln w="12700">
            <a:solidFill>
              <a:srgbClr val="333333"/>
            </a:solidFill>
            <a:prstDash val="solid"/>
          </a:ln>
        </p:spPr>
      </p:sp>
      <p:sp>
        <p:nvSpPr>
          <p:cNvPr id="20" name="Text 17"/>
          <p:cNvSpPr/>
          <p:nvPr/>
        </p:nvSpPr>
        <p:spPr>
          <a:xfrm>
            <a:off x="9271787" y="1554480"/>
            <a:ext cx="2133524" cy="402336"/>
          </a:xfrm>
          <a:prstGeom prst="rect">
            <a:avLst/>
          </a:prstGeom>
          <a:noFill/>
          <a:ln/>
        </p:spPr>
        <p:txBody>
          <a:bodyPr wrap="square" lIns="0" tIns="0" rIns="0" bIns="0" rtlCol="0" anchor="ctr"/>
          <a:lstStyle/>
          <a:p>
            <a:pPr indent="0" marL="0">
              <a:buNone/>
            </a:pPr>
            <a:r>
              <a:rPr lang="en-US" sz="2200" b="1" dirty="0">
                <a:solidFill>
                  <a:srgbClr val="C68A65"/>
                </a:solidFill>
                <a:latin typeface="Yu Gothic" pitchFamily="34" charset="0"/>
                <a:ea typeface="Yu Gothic" pitchFamily="34" charset="-122"/>
                <a:cs typeface="Yu Gothic" pitchFamily="34" charset="-120"/>
              </a:rPr>
              <a:t>0円</a:t>
            </a:r>
            <a:endParaRPr lang="en-US" sz="2200" dirty="0"/>
          </a:p>
        </p:txBody>
      </p:sp>
      <p:sp>
        <p:nvSpPr>
          <p:cNvPr id="21" name="Text 18"/>
          <p:cNvSpPr/>
          <p:nvPr/>
        </p:nvSpPr>
        <p:spPr>
          <a:xfrm>
            <a:off x="9271787" y="1993392"/>
            <a:ext cx="2133524" cy="274320"/>
          </a:xfrm>
          <a:prstGeom prst="rect">
            <a:avLst/>
          </a:prstGeom>
          <a:noFill/>
          <a:ln/>
        </p:spPr>
        <p:txBody>
          <a:bodyPr wrap="square" lIns="0" tIns="0" rIns="0" bIns="0" rtlCol="0" anchor="ctr"/>
          <a:lstStyle/>
          <a:p>
            <a:pPr indent="0" marL="0">
              <a:buNone/>
            </a:pPr>
            <a:r>
              <a:rPr lang="en-US" sz="950" dirty="0">
                <a:solidFill>
                  <a:srgbClr val="6E7378"/>
                </a:solidFill>
                <a:latin typeface="Yu Gothic" pitchFamily="34" charset="0"/>
                <a:ea typeface="Yu Gothic" pitchFamily="34" charset="-122"/>
                <a:cs typeface="Yu Gothic" pitchFamily="34" charset="-120"/>
              </a:rPr>
              <a:t>利用者が抱える在庫金額</a:t>
            </a:r>
            <a:endParaRPr lang="en-US" sz="950" dirty="0"/>
          </a:p>
        </p:txBody>
      </p:sp>
      <p:sp>
        <p:nvSpPr>
          <p:cNvPr id="22" name="Text 19"/>
          <p:cNvSpPr/>
          <p:nvPr/>
        </p:nvSpPr>
        <p:spPr>
          <a:xfrm>
            <a:off x="566928" y="2688336"/>
            <a:ext cx="2743200" cy="274320"/>
          </a:xfrm>
          <a:prstGeom prst="rect">
            <a:avLst/>
          </a:prstGeom>
          <a:noFill/>
          <a:ln/>
        </p:spPr>
        <p:txBody>
          <a:bodyPr wrap="square" lIns="0" tIns="0" rIns="0" bIns="0" rtlCol="0" anchor="ctr"/>
          <a:lstStyle/>
          <a:p>
            <a:pPr indent="0" marL="0">
              <a:buNone/>
            </a:pPr>
            <a:r>
              <a:rPr lang="en-US" sz="1400" b="1" dirty="0">
                <a:solidFill>
                  <a:srgbClr val="1A1A1A"/>
                </a:solidFill>
                <a:latin typeface="Yu Gothic" pitchFamily="34" charset="0"/>
                <a:ea typeface="Yu Gothic" pitchFamily="34" charset="-122"/>
                <a:cs typeface="Yu Gothic" pitchFamily="34" charset="-120"/>
              </a:rPr>
              <a:t>仕組み</a:t>
            </a:r>
            <a:endParaRPr lang="en-US" sz="1400" dirty="0"/>
          </a:p>
        </p:txBody>
      </p:sp>
      <p:sp>
        <p:nvSpPr>
          <p:cNvPr id="23" name="Shape 20"/>
          <p:cNvSpPr/>
          <p:nvPr/>
        </p:nvSpPr>
        <p:spPr>
          <a:xfrm>
            <a:off x="566928" y="3017520"/>
            <a:ext cx="2448992" cy="1572768"/>
          </a:xfrm>
          <a:prstGeom prst="roundRect">
            <a:avLst>
              <a:gd name="adj" fmla="val 2907"/>
            </a:avLst>
          </a:prstGeom>
          <a:solidFill>
            <a:srgbClr val="F6F6F6"/>
          </a:solidFill>
          <a:ln w="12700">
            <a:solidFill>
              <a:srgbClr val="333333"/>
            </a:solidFill>
            <a:prstDash val="solid"/>
          </a:ln>
        </p:spPr>
      </p:sp>
      <p:sp>
        <p:nvSpPr>
          <p:cNvPr id="24" name="Shape 21"/>
          <p:cNvSpPr/>
          <p:nvPr/>
        </p:nvSpPr>
        <p:spPr>
          <a:xfrm>
            <a:off x="804672" y="3218688"/>
            <a:ext cx="402336" cy="402336"/>
          </a:xfrm>
          <a:prstGeom prst="ellipse">
            <a:avLst/>
          </a:prstGeom>
          <a:solidFill>
            <a:srgbClr val="C68A65"/>
          </a:solidFill>
          <a:ln w="12700">
            <a:solidFill>
              <a:srgbClr val="333333"/>
            </a:solidFill>
            <a:prstDash val="solid"/>
          </a:ln>
        </p:spPr>
      </p:sp>
      <p:sp>
        <p:nvSpPr>
          <p:cNvPr id="25" name="Text 22"/>
          <p:cNvSpPr/>
          <p:nvPr/>
        </p:nvSpPr>
        <p:spPr>
          <a:xfrm>
            <a:off x="804672" y="3218688"/>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26" name="Text 23"/>
          <p:cNvSpPr/>
          <p:nvPr/>
        </p:nvSpPr>
        <p:spPr>
          <a:xfrm>
            <a:off x="804672" y="3694176"/>
            <a:ext cx="1973504" cy="274320"/>
          </a:xfrm>
          <a:prstGeom prst="rect">
            <a:avLst/>
          </a:prstGeom>
          <a:noFill/>
          <a:ln/>
        </p:spPr>
        <p:txBody>
          <a:bodyPr wrap="square" lIns="0" tIns="0" rIns="0" bIns="0" rtlCol="0" anchor="ctr"/>
          <a:lstStyle/>
          <a:p>
            <a:pPr indent="0" marL="0">
              <a:buNone/>
            </a:pPr>
            <a:r>
              <a:rPr lang="en-US" sz="1300" b="1" dirty="0">
                <a:solidFill>
                  <a:srgbClr val="1A1A1A"/>
                </a:solidFill>
                <a:latin typeface="Yu Gothic" pitchFamily="34" charset="0"/>
                <a:ea typeface="Yu Gothic" pitchFamily="34" charset="-122"/>
                <a:cs typeface="Yu Gothic" pitchFamily="34" charset="-120"/>
              </a:rPr>
              <a:t>リストから選ぶ</a:t>
            </a:r>
            <a:endParaRPr lang="en-US" sz="1300" dirty="0"/>
          </a:p>
        </p:txBody>
      </p:sp>
      <p:sp>
        <p:nvSpPr>
          <p:cNvPr id="27" name="Text 24"/>
          <p:cNvSpPr/>
          <p:nvPr/>
        </p:nvSpPr>
        <p:spPr>
          <a:xfrm>
            <a:off x="804672" y="3986784"/>
            <a:ext cx="1973504" cy="530352"/>
          </a:xfrm>
          <a:prstGeom prst="rect">
            <a:avLst/>
          </a:prstGeom>
          <a:noFill/>
          <a:ln/>
        </p:spPr>
        <p:txBody>
          <a:bodyPr wrap="square" lIns="0" tIns="0" rIns="0" bIns="0" rtlCol="0" anchor="ctr"/>
          <a:lstStyle/>
          <a:p>
            <a:pPr indent="0" marL="0">
              <a:lnSpc>
                <a:spcPts val="1350"/>
              </a:lnSpc>
              <a:buNone/>
            </a:pPr>
            <a:r>
              <a:rPr lang="en-US" sz="960" dirty="0">
                <a:solidFill>
                  <a:srgbClr val="6E7378"/>
                </a:solidFill>
                <a:latin typeface="Yu Gothic" pitchFamily="34" charset="0"/>
                <a:ea typeface="Yu Gothic" pitchFamily="34" charset="-122"/>
                <a:cs typeface="Yu Gothic" pitchFamily="34" charset="-120"/>
              </a:rPr>
              <a:t>専用アプリ／Webから数万本の在庫を検索。銘柄・ヴィンテージ・価格が一覧で見える。</a:t>
            </a:r>
            <a:endParaRPr lang="en-US" sz="960" dirty="0"/>
          </a:p>
        </p:txBody>
      </p:sp>
      <p:sp>
        <p:nvSpPr>
          <p:cNvPr id="28" name="Shape 25"/>
          <p:cNvSpPr/>
          <p:nvPr/>
        </p:nvSpPr>
        <p:spPr>
          <a:xfrm rot="5400000">
            <a:off x="3107360" y="3712464"/>
            <a:ext cx="237744" cy="219456"/>
          </a:xfrm>
          <a:prstGeom prst="triangle">
            <a:avLst/>
          </a:prstGeom>
          <a:solidFill>
            <a:srgbClr val="C68A65"/>
          </a:solidFill>
          <a:ln w="12700">
            <a:solidFill>
              <a:srgbClr val="333333"/>
            </a:solidFill>
            <a:prstDash val="solid"/>
          </a:ln>
        </p:spPr>
      </p:sp>
      <p:sp>
        <p:nvSpPr>
          <p:cNvPr id="29" name="Shape 26"/>
          <p:cNvSpPr/>
          <p:nvPr/>
        </p:nvSpPr>
        <p:spPr>
          <a:xfrm>
            <a:off x="3436544" y="3017520"/>
            <a:ext cx="2448992" cy="1572768"/>
          </a:xfrm>
          <a:prstGeom prst="roundRect">
            <a:avLst>
              <a:gd name="adj" fmla="val 2907"/>
            </a:avLst>
          </a:prstGeom>
          <a:solidFill>
            <a:srgbClr val="F6F6F6"/>
          </a:solidFill>
          <a:ln w="12700">
            <a:solidFill>
              <a:srgbClr val="333333"/>
            </a:solidFill>
            <a:prstDash val="solid"/>
          </a:ln>
        </p:spPr>
      </p:sp>
      <p:sp>
        <p:nvSpPr>
          <p:cNvPr id="30" name="Shape 27"/>
          <p:cNvSpPr/>
          <p:nvPr/>
        </p:nvSpPr>
        <p:spPr>
          <a:xfrm>
            <a:off x="3674288" y="3218688"/>
            <a:ext cx="402336" cy="402336"/>
          </a:xfrm>
          <a:prstGeom prst="ellipse">
            <a:avLst/>
          </a:prstGeom>
          <a:solidFill>
            <a:srgbClr val="C68A65"/>
          </a:solidFill>
          <a:ln w="12700">
            <a:solidFill>
              <a:srgbClr val="333333"/>
            </a:solidFill>
            <a:prstDash val="solid"/>
          </a:ln>
        </p:spPr>
      </p:sp>
      <p:sp>
        <p:nvSpPr>
          <p:cNvPr id="31" name="Text 28"/>
          <p:cNvSpPr/>
          <p:nvPr/>
        </p:nvSpPr>
        <p:spPr>
          <a:xfrm>
            <a:off x="3674288" y="3218688"/>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32" name="Text 29"/>
          <p:cNvSpPr/>
          <p:nvPr/>
        </p:nvSpPr>
        <p:spPr>
          <a:xfrm>
            <a:off x="3674288" y="3694176"/>
            <a:ext cx="1973504" cy="274320"/>
          </a:xfrm>
          <a:prstGeom prst="rect">
            <a:avLst/>
          </a:prstGeom>
          <a:noFill/>
          <a:ln/>
        </p:spPr>
        <p:txBody>
          <a:bodyPr wrap="square" lIns="0" tIns="0" rIns="0" bIns="0" rtlCol="0" anchor="ctr"/>
          <a:lstStyle/>
          <a:p>
            <a:pPr indent="0" marL="0">
              <a:buNone/>
            </a:pPr>
            <a:r>
              <a:rPr lang="en-US" sz="1300" b="1" dirty="0">
                <a:solidFill>
                  <a:srgbClr val="1A1A1A"/>
                </a:solidFill>
                <a:latin typeface="Yu Gothic" pitchFamily="34" charset="0"/>
                <a:ea typeface="Yu Gothic" pitchFamily="34" charset="-122"/>
                <a:cs typeface="Yu Gothic" pitchFamily="34" charset="-120"/>
              </a:rPr>
              <a:t>注文する</a:t>
            </a:r>
            <a:endParaRPr lang="en-US" sz="1300" dirty="0"/>
          </a:p>
        </p:txBody>
      </p:sp>
      <p:sp>
        <p:nvSpPr>
          <p:cNvPr id="33" name="Text 30"/>
          <p:cNvSpPr/>
          <p:nvPr/>
        </p:nvSpPr>
        <p:spPr>
          <a:xfrm>
            <a:off x="3674288" y="3986784"/>
            <a:ext cx="1973504" cy="530352"/>
          </a:xfrm>
          <a:prstGeom prst="rect">
            <a:avLst/>
          </a:prstGeom>
          <a:noFill/>
          <a:ln/>
        </p:spPr>
        <p:txBody>
          <a:bodyPr wrap="square" lIns="0" tIns="0" rIns="0" bIns="0" rtlCol="0" anchor="ctr"/>
          <a:lstStyle/>
          <a:p>
            <a:pPr indent="0" marL="0">
              <a:lnSpc>
                <a:spcPts val="1350"/>
              </a:lnSpc>
              <a:buNone/>
            </a:pPr>
            <a:r>
              <a:rPr lang="en-US" sz="960" dirty="0">
                <a:solidFill>
                  <a:srgbClr val="6E7378"/>
                </a:solidFill>
                <a:latin typeface="Yu Gothic" pitchFamily="34" charset="0"/>
                <a:ea typeface="Yu Gothic" pitchFamily="34" charset="-122"/>
                <a:cs typeface="Yu Gothic" pitchFamily="34" charset="-120"/>
              </a:rPr>
              <a:t>在庫は当社が保有。発注の瞬間まで、利用者側に資金負担も保管責任も発生しない。</a:t>
            </a:r>
            <a:endParaRPr lang="en-US" sz="960" dirty="0"/>
          </a:p>
        </p:txBody>
      </p:sp>
      <p:sp>
        <p:nvSpPr>
          <p:cNvPr id="34" name="Shape 31"/>
          <p:cNvSpPr/>
          <p:nvPr/>
        </p:nvSpPr>
        <p:spPr>
          <a:xfrm rot="5400000">
            <a:off x="5976976" y="3712464"/>
            <a:ext cx="237744" cy="219456"/>
          </a:xfrm>
          <a:prstGeom prst="triangle">
            <a:avLst/>
          </a:prstGeom>
          <a:solidFill>
            <a:srgbClr val="C68A65"/>
          </a:solidFill>
          <a:ln w="12700">
            <a:solidFill>
              <a:srgbClr val="333333"/>
            </a:solidFill>
            <a:prstDash val="solid"/>
          </a:ln>
        </p:spPr>
      </p:sp>
      <p:sp>
        <p:nvSpPr>
          <p:cNvPr id="35" name="Shape 32"/>
          <p:cNvSpPr/>
          <p:nvPr/>
        </p:nvSpPr>
        <p:spPr>
          <a:xfrm>
            <a:off x="6306160" y="3017520"/>
            <a:ext cx="2448992" cy="1572768"/>
          </a:xfrm>
          <a:prstGeom prst="roundRect">
            <a:avLst>
              <a:gd name="adj" fmla="val 2907"/>
            </a:avLst>
          </a:prstGeom>
          <a:solidFill>
            <a:srgbClr val="F6F6F6"/>
          </a:solidFill>
          <a:ln w="12700">
            <a:solidFill>
              <a:srgbClr val="333333"/>
            </a:solidFill>
            <a:prstDash val="solid"/>
          </a:ln>
        </p:spPr>
      </p:sp>
      <p:sp>
        <p:nvSpPr>
          <p:cNvPr id="36" name="Shape 33"/>
          <p:cNvSpPr/>
          <p:nvPr/>
        </p:nvSpPr>
        <p:spPr>
          <a:xfrm>
            <a:off x="6543904" y="3218688"/>
            <a:ext cx="402336" cy="402336"/>
          </a:xfrm>
          <a:prstGeom prst="ellipse">
            <a:avLst/>
          </a:prstGeom>
          <a:solidFill>
            <a:srgbClr val="C68A65"/>
          </a:solidFill>
          <a:ln w="12700">
            <a:solidFill>
              <a:srgbClr val="333333"/>
            </a:solidFill>
            <a:prstDash val="solid"/>
          </a:ln>
        </p:spPr>
      </p:sp>
      <p:sp>
        <p:nvSpPr>
          <p:cNvPr id="37" name="Text 34"/>
          <p:cNvSpPr/>
          <p:nvPr/>
        </p:nvSpPr>
        <p:spPr>
          <a:xfrm>
            <a:off x="6543904" y="3218688"/>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38" name="Text 35"/>
          <p:cNvSpPr/>
          <p:nvPr/>
        </p:nvSpPr>
        <p:spPr>
          <a:xfrm>
            <a:off x="6543904" y="3694176"/>
            <a:ext cx="1973504" cy="274320"/>
          </a:xfrm>
          <a:prstGeom prst="rect">
            <a:avLst/>
          </a:prstGeom>
          <a:noFill/>
          <a:ln/>
        </p:spPr>
        <p:txBody>
          <a:bodyPr wrap="square" lIns="0" tIns="0" rIns="0" bIns="0" rtlCol="0" anchor="ctr"/>
          <a:lstStyle/>
          <a:p>
            <a:pPr indent="0" marL="0">
              <a:buNone/>
            </a:pPr>
            <a:r>
              <a:rPr lang="en-US" sz="1300" b="1" dirty="0">
                <a:solidFill>
                  <a:srgbClr val="1A1A1A"/>
                </a:solidFill>
                <a:latin typeface="Yu Gothic" pitchFamily="34" charset="0"/>
                <a:ea typeface="Yu Gothic" pitchFamily="34" charset="-122"/>
                <a:cs typeface="Yu Gothic" pitchFamily="34" charset="-120"/>
              </a:rPr>
              <a:t>定温で届く</a:t>
            </a:r>
            <a:endParaRPr lang="en-US" sz="1300" dirty="0"/>
          </a:p>
        </p:txBody>
      </p:sp>
      <p:sp>
        <p:nvSpPr>
          <p:cNvPr id="39" name="Text 36"/>
          <p:cNvSpPr/>
          <p:nvPr/>
        </p:nvSpPr>
        <p:spPr>
          <a:xfrm>
            <a:off x="6543904" y="3986784"/>
            <a:ext cx="1973504" cy="530352"/>
          </a:xfrm>
          <a:prstGeom prst="rect">
            <a:avLst/>
          </a:prstGeom>
          <a:noFill/>
          <a:ln/>
        </p:spPr>
        <p:txBody>
          <a:bodyPr wrap="square" lIns="0" tIns="0" rIns="0" bIns="0" rtlCol="0" anchor="ctr"/>
          <a:lstStyle/>
          <a:p>
            <a:pPr indent="0" marL="0">
              <a:lnSpc>
                <a:spcPts val="1350"/>
              </a:lnSpc>
              <a:buNone/>
            </a:pPr>
            <a:r>
              <a:rPr lang="en-US" sz="960" dirty="0">
                <a:solidFill>
                  <a:srgbClr val="6E7378"/>
                </a:solidFill>
                <a:latin typeface="Yu Gothic" pitchFamily="34" charset="0"/>
                <a:ea typeface="Yu Gothic" pitchFamily="34" charset="-122"/>
                <a:cs typeface="Yu Gothic" pitchFamily="34" charset="-120"/>
              </a:rPr>
              <a:t>10〜15℃を保ったままお届け。館内ストレージ開設後は即日・最短5分。</a:t>
            </a:r>
            <a:endParaRPr lang="en-US" sz="960" dirty="0"/>
          </a:p>
        </p:txBody>
      </p:sp>
      <p:sp>
        <p:nvSpPr>
          <p:cNvPr id="40" name="Shape 37"/>
          <p:cNvSpPr/>
          <p:nvPr/>
        </p:nvSpPr>
        <p:spPr>
          <a:xfrm rot="5400000">
            <a:off x="8846591" y="3712464"/>
            <a:ext cx="237744" cy="219456"/>
          </a:xfrm>
          <a:prstGeom prst="triangle">
            <a:avLst/>
          </a:prstGeom>
          <a:solidFill>
            <a:srgbClr val="C68A65"/>
          </a:solidFill>
          <a:ln w="12700">
            <a:solidFill>
              <a:srgbClr val="333333"/>
            </a:solidFill>
            <a:prstDash val="solid"/>
          </a:ln>
        </p:spPr>
      </p:sp>
      <p:sp>
        <p:nvSpPr>
          <p:cNvPr id="41" name="Shape 38"/>
          <p:cNvSpPr/>
          <p:nvPr/>
        </p:nvSpPr>
        <p:spPr>
          <a:xfrm>
            <a:off x="9175775" y="3017520"/>
            <a:ext cx="2448992" cy="1572768"/>
          </a:xfrm>
          <a:prstGeom prst="roundRect">
            <a:avLst>
              <a:gd name="adj" fmla="val 2907"/>
            </a:avLst>
          </a:prstGeom>
          <a:solidFill>
            <a:srgbClr val="F6F6F6"/>
          </a:solidFill>
          <a:ln w="12700">
            <a:solidFill>
              <a:srgbClr val="333333"/>
            </a:solidFill>
            <a:prstDash val="solid"/>
          </a:ln>
        </p:spPr>
      </p:sp>
      <p:sp>
        <p:nvSpPr>
          <p:cNvPr id="42" name="Shape 39"/>
          <p:cNvSpPr/>
          <p:nvPr/>
        </p:nvSpPr>
        <p:spPr>
          <a:xfrm>
            <a:off x="9413519" y="3218688"/>
            <a:ext cx="402336" cy="402336"/>
          </a:xfrm>
          <a:prstGeom prst="ellipse">
            <a:avLst/>
          </a:prstGeom>
          <a:solidFill>
            <a:srgbClr val="C68A65"/>
          </a:solidFill>
          <a:ln w="12700">
            <a:solidFill>
              <a:srgbClr val="333333"/>
            </a:solidFill>
            <a:prstDash val="solid"/>
          </a:ln>
        </p:spPr>
      </p:sp>
      <p:sp>
        <p:nvSpPr>
          <p:cNvPr id="43" name="Text 40"/>
          <p:cNvSpPr/>
          <p:nvPr/>
        </p:nvSpPr>
        <p:spPr>
          <a:xfrm>
            <a:off x="9413519" y="3218688"/>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44" name="Text 41"/>
          <p:cNvSpPr/>
          <p:nvPr/>
        </p:nvSpPr>
        <p:spPr>
          <a:xfrm>
            <a:off x="9413519" y="3694176"/>
            <a:ext cx="1973504" cy="274320"/>
          </a:xfrm>
          <a:prstGeom prst="rect">
            <a:avLst/>
          </a:prstGeom>
          <a:noFill/>
          <a:ln/>
        </p:spPr>
        <p:txBody>
          <a:bodyPr wrap="square" lIns="0" tIns="0" rIns="0" bIns="0" rtlCol="0" anchor="ctr"/>
          <a:lstStyle/>
          <a:p>
            <a:pPr indent="0" marL="0">
              <a:buNone/>
            </a:pPr>
            <a:r>
              <a:rPr lang="en-US" sz="1300" b="1" dirty="0">
                <a:solidFill>
                  <a:srgbClr val="1A1A1A"/>
                </a:solidFill>
                <a:latin typeface="Yu Gothic" pitchFamily="34" charset="0"/>
                <a:ea typeface="Yu Gothic" pitchFamily="34" charset="-122"/>
                <a:cs typeface="Yu Gothic" pitchFamily="34" charset="-120"/>
              </a:rPr>
              <a:t>使った分だけ支払う</a:t>
            </a:r>
            <a:endParaRPr lang="en-US" sz="1300" dirty="0"/>
          </a:p>
        </p:txBody>
      </p:sp>
      <p:sp>
        <p:nvSpPr>
          <p:cNvPr id="45" name="Text 42"/>
          <p:cNvSpPr/>
          <p:nvPr/>
        </p:nvSpPr>
        <p:spPr>
          <a:xfrm>
            <a:off x="9413519" y="3986784"/>
            <a:ext cx="1973504" cy="530352"/>
          </a:xfrm>
          <a:prstGeom prst="rect">
            <a:avLst/>
          </a:prstGeom>
          <a:noFill/>
          <a:ln/>
        </p:spPr>
        <p:txBody>
          <a:bodyPr wrap="square" lIns="0" tIns="0" rIns="0" bIns="0" rtlCol="0" anchor="ctr"/>
          <a:lstStyle/>
          <a:p>
            <a:pPr indent="0" marL="0">
              <a:lnSpc>
                <a:spcPts val="1350"/>
              </a:lnSpc>
              <a:buNone/>
            </a:pPr>
            <a:r>
              <a:rPr lang="en-US" sz="960" dirty="0">
                <a:solidFill>
                  <a:srgbClr val="6E7378"/>
                </a:solidFill>
                <a:latin typeface="Yu Gothic" pitchFamily="34" charset="0"/>
                <a:ea typeface="Yu Gothic" pitchFamily="34" charset="-122"/>
                <a:cs typeface="Yu Gothic" pitchFamily="34" charset="-120"/>
              </a:rPr>
              <a:t>月締め請求。売れ残りリスクも、セラー設備への投資も不要。</a:t>
            </a:r>
            <a:endParaRPr lang="en-US" sz="960" dirty="0"/>
          </a:p>
        </p:txBody>
      </p:sp>
      <p:sp>
        <p:nvSpPr>
          <p:cNvPr id="46" name="Shape 43"/>
          <p:cNvSpPr/>
          <p:nvPr/>
        </p:nvSpPr>
        <p:spPr>
          <a:xfrm>
            <a:off x="566928" y="4773168"/>
            <a:ext cx="11057839" cy="841248"/>
          </a:xfrm>
          <a:prstGeom prst="roundRect">
            <a:avLst>
              <a:gd name="adj" fmla="val 5435"/>
            </a:avLst>
          </a:prstGeom>
          <a:solidFill>
            <a:srgbClr val="F6F6F6"/>
          </a:solidFill>
          <a:ln w="12700">
            <a:solidFill>
              <a:srgbClr val="333333"/>
            </a:solidFill>
            <a:prstDash val="solid"/>
          </a:ln>
        </p:spPr>
      </p:sp>
      <p:sp>
        <p:nvSpPr>
          <p:cNvPr id="47" name="Text 44"/>
          <p:cNvSpPr/>
          <p:nvPr/>
        </p:nvSpPr>
        <p:spPr>
          <a:xfrm>
            <a:off x="877824" y="4882896"/>
            <a:ext cx="4480560" cy="274320"/>
          </a:xfrm>
          <a:prstGeom prst="rect">
            <a:avLst/>
          </a:prstGeom>
          <a:noFill/>
          <a:ln/>
        </p:spPr>
        <p:txBody>
          <a:bodyPr wrap="square" lIns="0" tIns="0" rIns="0" bIns="0" rtlCol="0" anchor="ctr"/>
          <a:lstStyle/>
          <a:p>
            <a:pPr indent="0" marL="0">
              <a:buNone/>
            </a:pPr>
            <a:r>
              <a:rPr lang="en-US" sz="1300" b="1" dirty="0">
                <a:solidFill>
                  <a:srgbClr val="1A1A1A"/>
                </a:solidFill>
                <a:latin typeface="Yu Gothic" pitchFamily="34" charset="0"/>
                <a:ea typeface="Yu Gothic" pitchFamily="34" charset="-122"/>
                <a:cs typeface="Yu Gothic" pitchFamily="34" charset="-120"/>
              </a:rPr>
              <a:t>スピードは、在庫をどこに置くかで決まります。</a:t>
            </a:r>
            <a:endParaRPr lang="en-US" sz="1300" dirty="0"/>
          </a:p>
        </p:txBody>
      </p:sp>
      <p:sp>
        <p:nvSpPr>
          <p:cNvPr id="48" name="Text 45"/>
          <p:cNvSpPr/>
          <p:nvPr/>
        </p:nvSpPr>
        <p:spPr>
          <a:xfrm>
            <a:off x="877824" y="5157216"/>
            <a:ext cx="10698480" cy="402336"/>
          </a:xfrm>
          <a:prstGeom prst="rect">
            <a:avLst/>
          </a:prstGeom>
          <a:noFill/>
          <a:ln/>
        </p:spPr>
        <p:txBody>
          <a:bodyPr wrap="square" lIns="0" tIns="0" rIns="0" bIns="0" rtlCol="0" anchor="ctr"/>
          <a:lstStyle/>
          <a:p>
            <a:pPr indent="0" marL="0">
              <a:lnSpc>
                <a:spcPts val="1400"/>
              </a:lnSpc>
              <a:buNone/>
            </a:pPr>
            <a:r>
              <a:rPr lang="en-US" sz="1020" dirty="0">
                <a:solidFill>
                  <a:srgbClr val="6E7378"/>
                </a:solidFill>
                <a:latin typeface="Yu Gothic" pitchFamily="34" charset="0"/>
                <a:ea typeface="Yu Gothic" pitchFamily="34" charset="-122"/>
                <a:cs typeface="Yu Gothic" pitchFamily="34" charset="-120"/>
              </a:rPr>
              <a:t>現状は当社倉庫からの配送のため、前日午前中のご注文で翌日着が基本です。館内にワインストレージをご用意いただければ、同じ仕組みが即日・最短5分になります。この一点が、高級店にとっての価値を大きく変えます（詳細は後掲のご相談事項）。</a:t>
            </a:r>
            <a:endParaRPr lang="en-US" sz="10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381183" y="292608"/>
            <a:ext cx="1243584" cy="247802"/>
          </a:xfrm>
          <a:prstGeom prst="rect">
            <a:avLst/>
          </a:prstGeom>
        </p:spPr>
      </p:pic>
      <p:sp>
        <p:nvSpPr>
          <p:cNvPr id="3" name="Shape 0"/>
          <p:cNvSpPr/>
          <p:nvPr/>
        </p:nvSpPr>
        <p:spPr>
          <a:xfrm>
            <a:off x="566928" y="292608"/>
            <a:ext cx="1280160" cy="237744"/>
          </a:xfrm>
          <a:prstGeom prst="roundRect">
            <a:avLst>
              <a:gd name="adj" fmla="val 11538"/>
            </a:avLst>
          </a:prstGeom>
          <a:solidFill>
            <a:srgbClr val="C68A65"/>
          </a:solidFill>
          <a:ln w="12700">
            <a:solidFill>
              <a:srgbClr val="333333"/>
            </a:solidFill>
            <a:prstDash val="solid"/>
          </a:ln>
        </p:spPr>
      </p:sp>
      <p:sp>
        <p:nvSpPr>
          <p:cNvPr id="4" name="Text 1"/>
          <p:cNvSpPr/>
          <p:nvPr/>
        </p:nvSpPr>
        <p:spPr>
          <a:xfrm>
            <a:off x="566928" y="292608"/>
            <a:ext cx="128016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Yu Gothic" pitchFamily="34" charset="0"/>
                <a:ea typeface="Yu Gothic" pitchFamily="34" charset="-122"/>
                <a:cs typeface="Yu Gothic" pitchFamily="34" charset="-120"/>
              </a:rPr>
              <a:t>PROGRAM 01-A</a:t>
            </a:r>
            <a:endParaRPr lang="en-US" sz="850" dirty="0"/>
          </a:p>
        </p:txBody>
      </p:sp>
      <p:sp>
        <p:nvSpPr>
          <p:cNvPr id="5" name="Text 2"/>
          <p:cNvSpPr/>
          <p:nvPr/>
        </p:nvSpPr>
        <p:spPr>
          <a:xfrm>
            <a:off x="566928" y="585216"/>
            <a:ext cx="9509760" cy="420624"/>
          </a:xfrm>
          <a:prstGeom prst="rect">
            <a:avLst/>
          </a:prstGeom>
          <a:noFill/>
          <a:ln/>
        </p:spPr>
        <p:txBody>
          <a:bodyPr wrap="square" lIns="0" tIns="0" rIns="0" bIns="0" rtlCol="0" anchor="ctr"/>
          <a:lstStyle/>
          <a:p>
            <a:pPr indent="0" marL="0">
              <a:buNone/>
            </a:pPr>
            <a:r>
              <a:rPr lang="en-US" sz="2300" b="1" dirty="0">
                <a:solidFill>
                  <a:srgbClr val="1A1A1A"/>
                </a:solidFill>
                <a:latin typeface="Yu Gothic" pitchFamily="34" charset="0"/>
                <a:ea typeface="Yu Gothic" pitchFamily="34" charset="-122"/>
                <a:cs typeface="Yu Gothic" pitchFamily="34" charset="-120"/>
              </a:rPr>
              <a:t>Cloud Wine Cave for テナント飲食店</a:t>
            </a:r>
            <a:endParaRPr lang="en-US" sz="2300" dirty="0"/>
          </a:p>
        </p:txBody>
      </p:sp>
      <p:sp>
        <p:nvSpPr>
          <p:cNvPr id="6" name="Text 3"/>
          <p:cNvSpPr/>
          <p:nvPr/>
        </p:nvSpPr>
        <p:spPr>
          <a:xfrm>
            <a:off x="566928" y="1024128"/>
            <a:ext cx="11057839" cy="310896"/>
          </a:xfrm>
          <a:prstGeom prst="rect">
            <a:avLst/>
          </a:prstGeom>
          <a:noFill/>
          <a:ln/>
        </p:spPr>
        <p:txBody>
          <a:bodyPr wrap="square" lIns="0" tIns="0" rIns="0" bIns="0" rtlCol="0" anchor="ctr"/>
          <a:lstStyle/>
          <a:p>
            <a:pPr indent="0" marL="0">
              <a:lnSpc>
                <a:spcPts val="1700"/>
              </a:lnSpc>
              <a:buNone/>
            </a:pPr>
            <a:r>
              <a:rPr lang="en-US" sz="1150" dirty="0">
                <a:solidFill>
                  <a:srgbClr val="6E7378"/>
                </a:solidFill>
                <a:latin typeface="Yu Gothic" pitchFamily="34" charset="0"/>
                <a:ea typeface="Yu Gothic" pitchFamily="34" charset="-122"/>
                <a:cs typeface="Yu Gothic" pitchFamily="34" charset="-120"/>
              </a:rPr>
              <a:t>高級店ほど、ワイン在庫は重い。その重さを、店から街へ移します。</a:t>
            </a:r>
            <a:endParaRPr lang="en-US" sz="1150" dirty="0"/>
          </a:p>
        </p:txBody>
      </p:sp>
      <p:sp>
        <p:nvSpPr>
          <p:cNvPr id="7" name="Shape 4"/>
          <p:cNvSpPr/>
          <p:nvPr/>
        </p:nvSpPr>
        <p:spPr>
          <a:xfrm>
            <a:off x="0" y="6583680"/>
            <a:ext cx="12191695" cy="274320"/>
          </a:xfrm>
          <a:prstGeom prst="rect">
            <a:avLst/>
          </a:prstGeom>
          <a:solidFill>
            <a:srgbClr val="2F3941"/>
          </a:solidFill>
          <a:ln w="12700">
            <a:solidFill>
              <a:srgbClr val="333333"/>
            </a:solidFill>
            <a:prstDash val="solid"/>
          </a:ln>
        </p:spPr>
      </p:sp>
      <p:sp>
        <p:nvSpPr>
          <p:cNvPr id="8" name="Text 5"/>
          <p:cNvSpPr/>
          <p:nvPr/>
        </p:nvSpPr>
        <p:spPr>
          <a:xfrm>
            <a:off x="10893247" y="6272784"/>
            <a:ext cx="731520" cy="256032"/>
          </a:xfrm>
          <a:prstGeom prst="rect">
            <a:avLst/>
          </a:prstGeom>
          <a:noFill/>
          <a:ln/>
        </p:spPr>
        <p:txBody>
          <a:bodyPr wrap="square" lIns="0" tIns="0" rIns="0" bIns="0" rtlCol="0" anchor="ctr"/>
          <a:lstStyle/>
          <a:p>
            <a:pPr algn="r" indent="0" marL="0">
              <a:buNone/>
            </a:pPr>
            <a:r>
              <a:rPr lang="en-US" sz="1000" dirty="0">
                <a:solidFill>
                  <a:srgbClr val="A6ABAF"/>
                </a:solidFill>
                <a:latin typeface="Calibri" pitchFamily="34" charset="0"/>
                <a:ea typeface="Calibri" pitchFamily="34" charset="-122"/>
                <a:cs typeface="Calibri" pitchFamily="34" charset="-120"/>
              </a:rPr>
              <a:t>5</a:t>
            </a:r>
            <a:endParaRPr lang="en-US" sz="1000" dirty="0"/>
          </a:p>
        </p:txBody>
      </p:sp>
      <p:sp>
        <p:nvSpPr>
          <p:cNvPr id="9" name="Text 6"/>
          <p:cNvSpPr/>
          <p:nvPr/>
        </p:nvSpPr>
        <p:spPr>
          <a:xfrm>
            <a:off x="566928" y="6272784"/>
            <a:ext cx="2926080" cy="256032"/>
          </a:xfrm>
          <a:prstGeom prst="rect">
            <a:avLst/>
          </a:prstGeom>
          <a:noFill/>
          <a:ln/>
        </p:spPr>
        <p:txBody>
          <a:bodyPr wrap="square" lIns="0" tIns="0" rIns="0" bIns="0" rtlCol="0" anchor="ctr"/>
          <a:lstStyle/>
          <a:p>
            <a:pPr indent="0" marL="0">
              <a:buNone/>
            </a:pPr>
            <a:r>
              <a:rPr lang="en-US" sz="850" spc="120" kern="0" dirty="0">
                <a:solidFill>
                  <a:srgbClr val="C7CACC"/>
                </a:solidFill>
                <a:latin typeface="Calibri" pitchFamily="34" charset="0"/>
                <a:ea typeface="Calibri" pitchFamily="34" charset="-122"/>
                <a:cs typeface="Calibri" pitchFamily="34" charset="-120"/>
              </a:rPr>
              <a:t>CONFIDENTIAL</a:t>
            </a:r>
            <a:endParaRPr lang="en-US" sz="850" dirty="0"/>
          </a:p>
        </p:txBody>
      </p:sp>
      <p:sp>
        <p:nvSpPr>
          <p:cNvPr id="10" name="Shape 7"/>
          <p:cNvSpPr/>
          <p:nvPr/>
        </p:nvSpPr>
        <p:spPr>
          <a:xfrm>
            <a:off x="566928" y="1463040"/>
            <a:ext cx="5373472" cy="3127248"/>
          </a:xfrm>
          <a:prstGeom prst="roundRect">
            <a:avLst>
              <a:gd name="adj" fmla="val 1462"/>
            </a:avLst>
          </a:prstGeom>
          <a:solidFill>
            <a:srgbClr val="F6F6F6"/>
          </a:solidFill>
          <a:ln w="12700">
            <a:solidFill>
              <a:srgbClr val="333333"/>
            </a:solidFill>
            <a:prstDash val="solid"/>
          </a:ln>
        </p:spPr>
      </p:sp>
      <p:sp>
        <p:nvSpPr>
          <p:cNvPr id="11" name="Text 8"/>
          <p:cNvSpPr/>
          <p:nvPr/>
        </p:nvSpPr>
        <p:spPr>
          <a:xfrm>
            <a:off x="859536" y="1627632"/>
            <a:ext cx="4788256" cy="310896"/>
          </a:xfrm>
          <a:prstGeom prst="rect">
            <a:avLst/>
          </a:prstGeom>
          <a:noFill/>
          <a:ln/>
        </p:spPr>
        <p:txBody>
          <a:bodyPr wrap="square" lIns="0" tIns="0" rIns="0" bIns="0" rtlCol="0" anchor="ctr"/>
          <a:lstStyle/>
          <a:p>
            <a:pPr indent="0" marL="0">
              <a:buNone/>
            </a:pPr>
            <a:r>
              <a:rPr lang="en-US" sz="1500" b="1" dirty="0">
                <a:solidFill>
                  <a:srgbClr val="6E7378"/>
                </a:solidFill>
                <a:latin typeface="Yu Gothic" pitchFamily="34" charset="0"/>
                <a:ea typeface="Yu Gothic" pitchFamily="34" charset="-122"/>
                <a:cs typeface="Yu Gothic" pitchFamily="34" charset="-120"/>
              </a:rPr>
              <a:t>いまの高級店のワイン在庫</a:t>
            </a:r>
            <a:endParaRPr lang="en-US" sz="1500" dirty="0"/>
          </a:p>
        </p:txBody>
      </p:sp>
      <p:sp>
        <p:nvSpPr>
          <p:cNvPr id="12" name="Text 9"/>
          <p:cNvSpPr/>
          <p:nvPr/>
        </p:nvSpPr>
        <p:spPr>
          <a:xfrm>
            <a:off x="859536" y="2084832"/>
            <a:ext cx="822960" cy="274320"/>
          </a:xfrm>
          <a:prstGeom prst="rect">
            <a:avLst/>
          </a:prstGeom>
          <a:noFill/>
          <a:ln/>
        </p:spPr>
        <p:txBody>
          <a:bodyPr wrap="square" lIns="0" tIns="0" rIns="0" bIns="0" rtlCol="0" anchor="ctr"/>
          <a:lstStyle/>
          <a:p>
            <a:pPr indent="0" marL="0">
              <a:buNone/>
            </a:pPr>
            <a:r>
              <a:rPr lang="en-US" sz="1000" b="1" dirty="0">
                <a:solidFill>
                  <a:srgbClr val="A06D4C"/>
                </a:solidFill>
                <a:latin typeface="Yu Gothic" pitchFamily="34" charset="0"/>
                <a:ea typeface="Yu Gothic" pitchFamily="34" charset="-122"/>
                <a:cs typeface="Yu Gothic" pitchFamily="34" charset="-120"/>
              </a:rPr>
              <a:t>資金</a:t>
            </a:r>
            <a:endParaRPr lang="en-US" sz="1000" dirty="0"/>
          </a:p>
        </p:txBody>
      </p:sp>
      <p:sp>
        <p:nvSpPr>
          <p:cNvPr id="13" name="Text 10"/>
          <p:cNvSpPr/>
          <p:nvPr/>
        </p:nvSpPr>
        <p:spPr>
          <a:xfrm>
            <a:off x="1737360" y="2084832"/>
            <a:ext cx="3910432" cy="310896"/>
          </a:xfrm>
          <a:prstGeom prst="rect">
            <a:avLst/>
          </a:prstGeom>
          <a:noFill/>
          <a:ln/>
        </p:spPr>
        <p:txBody>
          <a:bodyPr wrap="square" lIns="0" tIns="0" rIns="0" bIns="0" rtlCol="0" anchor="ctr"/>
          <a:lstStyle/>
          <a:p>
            <a:pPr indent="0" marL="0">
              <a:lnSpc>
                <a:spcPts val="1350"/>
              </a:lnSpc>
              <a:buNone/>
            </a:pPr>
            <a:r>
              <a:rPr lang="en-US" sz="1020" dirty="0">
                <a:solidFill>
                  <a:srgbClr val="1A1A1A"/>
                </a:solidFill>
                <a:latin typeface="Yu Gothic" pitchFamily="34" charset="0"/>
                <a:ea typeface="Yu Gothic" pitchFamily="34" charset="-122"/>
                <a:cs typeface="Yu Gothic" pitchFamily="34" charset="-120"/>
              </a:rPr>
              <a:t>常時30本（平均3万円）で約90万円が寝る</a:t>
            </a:r>
            <a:endParaRPr lang="en-US" sz="1020" dirty="0"/>
          </a:p>
        </p:txBody>
      </p:sp>
      <p:sp>
        <p:nvSpPr>
          <p:cNvPr id="14" name="Text 11"/>
          <p:cNvSpPr/>
          <p:nvPr/>
        </p:nvSpPr>
        <p:spPr>
          <a:xfrm>
            <a:off x="859536" y="2578608"/>
            <a:ext cx="822960" cy="274320"/>
          </a:xfrm>
          <a:prstGeom prst="rect">
            <a:avLst/>
          </a:prstGeom>
          <a:noFill/>
          <a:ln/>
        </p:spPr>
        <p:txBody>
          <a:bodyPr wrap="square" lIns="0" tIns="0" rIns="0" bIns="0" rtlCol="0" anchor="ctr"/>
          <a:lstStyle/>
          <a:p>
            <a:pPr indent="0" marL="0">
              <a:buNone/>
            </a:pPr>
            <a:r>
              <a:rPr lang="en-US" sz="1000" b="1" dirty="0">
                <a:solidFill>
                  <a:srgbClr val="A06D4C"/>
                </a:solidFill>
                <a:latin typeface="Yu Gothic" pitchFamily="34" charset="0"/>
                <a:ea typeface="Yu Gothic" pitchFamily="34" charset="-122"/>
                <a:cs typeface="Yu Gothic" pitchFamily="34" charset="-120"/>
              </a:rPr>
              <a:t>設備</a:t>
            </a:r>
            <a:endParaRPr lang="en-US" sz="1000" dirty="0"/>
          </a:p>
        </p:txBody>
      </p:sp>
      <p:sp>
        <p:nvSpPr>
          <p:cNvPr id="15" name="Text 12"/>
          <p:cNvSpPr/>
          <p:nvPr/>
        </p:nvSpPr>
        <p:spPr>
          <a:xfrm>
            <a:off x="1737360" y="2578608"/>
            <a:ext cx="3910432" cy="310896"/>
          </a:xfrm>
          <a:prstGeom prst="rect">
            <a:avLst/>
          </a:prstGeom>
          <a:noFill/>
          <a:ln/>
        </p:spPr>
        <p:txBody>
          <a:bodyPr wrap="square" lIns="0" tIns="0" rIns="0" bIns="0" rtlCol="0" anchor="ctr"/>
          <a:lstStyle/>
          <a:p>
            <a:pPr indent="0" marL="0">
              <a:lnSpc>
                <a:spcPts val="1350"/>
              </a:lnSpc>
              <a:buNone/>
            </a:pPr>
            <a:r>
              <a:rPr lang="en-US" sz="1020" dirty="0">
                <a:solidFill>
                  <a:srgbClr val="1A1A1A"/>
                </a:solidFill>
                <a:latin typeface="Yu Gothic" pitchFamily="34" charset="0"/>
                <a:ea typeface="Yu Gothic" pitchFamily="34" charset="-122"/>
                <a:cs typeface="Yu Gothic" pitchFamily="34" charset="-120"/>
              </a:rPr>
              <a:t>セラー設備の投資と保管スペースの確保</a:t>
            </a:r>
            <a:endParaRPr lang="en-US" sz="1020" dirty="0"/>
          </a:p>
        </p:txBody>
      </p:sp>
      <p:sp>
        <p:nvSpPr>
          <p:cNvPr id="16" name="Text 13"/>
          <p:cNvSpPr/>
          <p:nvPr/>
        </p:nvSpPr>
        <p:spPr>
          <a:xfrm>
            <a:off x="859536" y="3072384"/>
            <a:ext cx="822960" cy="274320"/>
          </a:xfrm>
          <a:prstGeom prst="rect">
            <a:avLst/>
          </a:prstGeom>
          <a:noFill/>
          <a:ln/>
        </p:spPr>
        <p:txBody>
          <a:bodyPr wrap="square" lIns="0" tIns="0" rIns="0" bIns="0" rtlCol="0" anchor="ctr"/>
          <a:lstStyle/>
          <a:p>
            <a:pPr indent="0" marL="0">
              <a:buNone/>
            </a:pPr>
            <a:r>
              <a:rPr lang="en-US" sz="1000" b="1" dirty="0">
                <a:solidFill>
                  <a:srgbClr val="A06D4C"/>
                </a:solidFill>
                <a:latin typeface="Yu Gothic" pitchFamily="34" charset="0"/>
                <a:ea typeface="Yu Gothic" pitchFamily="34" charset="-122"/>
                <a:cs typeface="Yu Gothic" pitchFamily="34" charset="-120"/>
              </a:rPr>
              <a:t>リスク</a:t>
            </a:r>
            <a:endParaRPr lang="en-US" sz="1000" dirty="0"/>
          </a:p>
        </p:txBody>
      </p:sp>
      <p:sp>
        <p:nvSpPr>
          <p:cNvPr id="17" name="Text 14"/>
          <p:cNvSpPr/>
          <p:nvPr/>
        </p:nvSpPr>
        <p:spPr>
          <a:xfrm>
            <a:off x="1737360" y="3072384"/>
            <a:ext cx="3910432" cy="310896"/>
          </a:xfrm>
          <a:prstGeom prst="rect">
            <a:avLst/>
          </a:prstGeom>
          <a:noFill/>
          <a:ln/>
        </p:spPr>
        <p:txBody>
          <a:bodyPr wrap="square" lIns="0" tIns="0" rIns="0" bIns="0" rtlCol="0" anchor="ctr"/>
          <a:lstStyle/>
          <a:p>
            <a:pPr indent="0" marL="0">
              <a:lnSpc>
                <a:spcPts val="1350"/>
              </a:lnSpc>
              <a:buNone/>
            </a:pPr>
            <a:r>
              <a:rPr lang="en-US" sz="1020" dirty="0">
                <a:solidFill>
                  <a:srgbClr val="1A1A1A"/>
                </a:solidFill>
                <a:latin typeface="Yu Gothic" pitchFamily="34" charset="0"/>
                <a:ea typeface="Yu Gothic" pitchFamily="34" charset="-122"/>
                <a:cs typeface="Yu Gothic" pitchFamily="34" charset="-120"/>
              </a:rPr>
              <a:t>売れ残り・破損・劣化はすべて店の負担</a:t>
            </a:r>
            <a:endParaRPr lang="en-US" sz="1020" dirty="0"/>
          </a:p>
        </p:txBody>
      </p:sp>
      <p:sp>
        <p:nvSpPr>
          <p:cNvPr id="18" name="Text 15"/>
          <p:cNvSpPr/>
          <p:nvPr/>
        </p:nvSpPr>
        <p:spPr>
          <a:xfrm>
            <a:off x="859536" y="3566160"/>
            <a:ext cx="822960" cy="274320"/>
          </a:xfrm>
          <a:prstGeom prst="rect">
            <a:avLst/>
          </a:prstGeom>
          <a:noFill/>
          <a:ln/>
        </p:spPr>
        <p:txBody>
          <a:bodyPr wrap="square" lIns="0" tIns="0" rIns="0" bIns="0" rtlCol="0" anchor="ctr"/>
          <a:lstStyle/>
          <a:p>
            <a:pPr indent="0" marL="0">
              <a:buNone/>
            </a:pPr>
            <a:r>
              <a:rPr lang="en-US" sz="1000" b="1" dirty="0">
                <a:solidFill>
                  <a:srgbClr val="A06D4C"/>
                </a:solidFill>
                <a:latin typeface="Yu Gothic" pitchFamily="34" charset="0"/>
                <a:ea typeface="Yu Gothic" pitchFamily="34" charset="-122"/>
                <a:cs typeface="Yu Gothic" pitchFamily="34" charset="-120"/>
              </a:rPr>
              <a:t>品揃え</a:t>
            </a:r>
            <a:endParaRPr lang="en-US" sz="1000" dirty="0"/>
          </a:p>
        </p:txBody>
      </p:sp>
      <p:sp>
        <p:nvSpPr>
          <p:cNvPr id="19" name="Text 16"/>
          <p:cNvSpPr/>
          <p:nvPr/>
        </p:nvSpPr>
        <p:spPr>
          <a:xfrm>
            <a:off x="1737360" y="3566160"/>
            <a:ext cx="3910432" cy="310896"/>
          </a:xfrm>
          <a:prstGeom prst="rect">
            <a:avLst/>
          </a:prstGeom>
          <a:noFill/>
          <a:ln/>
        </p:spPr>
        <p:txBody>
          <a:bodyPr wrap="square" lIns="0" tIns="0" rIns="0" bIns="0" rtlCol="0" anchor="ctr"/>
          <a:lstStyle/>
          <a:p>
            <a:pPr indent="0" marL="0">
              <a:lnSpc>
                <a:spcPts val="1350"/>
              </a:lnSpc>
              <a:buNone/>
            </a:pPr>
            <a:r>
              <a:rPr lang="en-US" sz="1020" dirty="0">
                <a:solidFill>
                  <a:srgbClr val="1A1A1A"/>
                </a:solidFill>
                <a:latin typeface="Yu Gothic" pitchFamily="34" charset="0"/>
                <a:ea typeface="Yu Gothic" pitchFamily="34" charset="-122"/>
                <a:cs typeface="Yu Gothic" pitchFamily="34" charset="-120"/>
              </a:rPr>
              <a:t>資金の範囲でしかリストを組めない</a:t>
            </a:r>
            <a:endParaRPr lang="en-US" sz="1020" dirty="0"/>
          </a:p>
        </p:txBody>
      </p:sp>
      <p:sp>
        <p:nvSpPr>
          <p:cNvPr id="20" name="Text 17"/>
          <p:cNvSpPr/>
          <p:nvPr/>
        </p:nvSpPr>
        <p:spPr>
          <a:xfrm>
            <a:off x="859536" y="4059936"/>
            <a:ext cx="822960" cy="274320"/>
          </a:xfrm>
          <a:prstGeom prst="rect">
            <a:avLst/>
          </a:prstGeom>
          <a:noFill/>
          <a:ln/>
        </p:spPr>
        <p:txBody>
          <a:bodyPr wrap="square" lIns="0" tIns="0" rIns="0" bIns="0" rtlCol="0" anchor="ctr"/>
          <a:lstStyle/>
          <a:p>
            <a:pPr indent="0" marL="0">
              <a:buNone/>
            </a:pPr>
            <a:r>
              <a:rPr lang="en-US" sz="1000" b="1" dirty="0">
                <a:solidFill>
                  <a:srgbClr val="A06D4C"/>
                </a:solidFill>
                <a:latin typeface="Yu Gothic" pitchFamily="34" charset="0"/>
                <a:ea typeface="Yu Gothic" pitchFamily="34" charset="-122"/>
                <a:cs typeface="Yu Gothic" pitchFamily="34" charset="-120"/>
              </a:rPr>
              <a:t>突発対応</a:t>
            </a:r>
            <a:endParaRPr lang="en-US" sz="1000" dirty="0"/>
          </a:p>
        </p:txBody>
      </p:sp>
      <p:sp>
        <p:nvSpPr>
          <p:cNvPr id="21" name="Text 18"/>
          <p:cNvSpPr/>
          <p:nvPr/>
        </p:nvSpPr>
        <p:spPr>
          <a:xfrm>
            <a:off x="1737360" y="4059936"/>
            <a:ext cx="3910432" cy="310896"/>
          </a:xfrm>
          <a:prstGeom prst="rect">
            <a:avLst/>
          </a:prstGeom>
          <a:noFill/>
          <a:ln/>
        </p:spPr>
        <p:txBody>
          <a:bodyPr wrap="square" lIns="0" tIns="0" rIns="0" bIns="0" rtlCol="0" anchor="ctr"/>
          <a:lstStyle/>
          <a:p>
            <a:pPr indent="0" marL="0">
              <a:lnSpc>
                <a:spcPts val="1350"/>
              </a:lnSpc>
              <a:buNone/>
            </a:pPr>
            <a:r>
              <a:rPr lang="en-US" sz="1020" dirty="0">
                <a:solidFill>
                  <a:srgbClr val="1A1A1A"/>
                </a:solidFill>
                <a:latin typeface="Yu Gothic" pitchFamily="34" charset="0"/>
                <a:ea typeface="Yu Gothic" pitchFamily="34" charset="-122"/>
                <a:cs typeface="Yu Gothic" pitchFamily="34" charset="-120"/>
              </a:rPr>
              <a:t>在庫にない一本は、その場では出せない</a:t>
            </a:r>
            <a:endParaRPr lang="en-US" sz="1020" dirty="0"/>
          </a:p>
        </p:txBody>
      </p:sp>
      <p:sp>
        <p:nvSpPr>
          <p:cNvPr id="22" name="Shape 19"/>
          <p:cNvSpPr/>
          <p:nvPr/>
        </p:nvSpPr>
        <p:spPr>
          <a:xfrm>
            <a:off x="6251296" y="1463040"/>
            <a:ext cx="5373472" cy="3127248"/>
          </a:xfrm>
          <a:prstGeom prst="roundRect">
            <a:avLst>
              <a:gd name="adj" fmla="val 1462"/>
            </a:avLst>
          </a:prstGeom>
          <a:solidFill>
            <a:srgbClr val="2F3941"/>
          </a:solidFill>
          <a:ln w="12700">
            <a:solidFill>
              <a:srgbClr val="333333"/>
            </a:solidFill>
            <a:prstDash val="solid"/>
          </a:ln>
        </p:spPr>
      </p:sp>
      <p:sp>
        <p:nvSpPr>
          <p:cNvPr id="23" name="Text 20"/>
          <p:cNvSpPr/>
          <p:nvPr/>
        </p:nvSpPr>
        <p:spPr>
          <a:xfrm>
            <a:off x="6543904" y="1627632"/>
            <a:ext cx="4788256" cy="310896"/>
          </a:xfrm>
          <a:prstGeom prst="rect">
            <a:avLst/>
          </a:prstGeom>
          <a:noFill/>
          <a:ln/>
        </p:spPr>
        <p:txBody>
          <a:bodyPr wrap="square" lIns="0" tIns="0" rIns="0" bIns="0" rtlCol="0" anchor="ctr"/>
          <a:lstStyle/>
          <a:p>
            <a:pPr indent="0" marL="0">
              <a:buNone/>
            </a:pPr>
            <a:r>
              <a:rPr lang="en-US" sz="1500" b="1" dirty="0">
                <a:solidFill>
                  <a:srgbClr val="EFDCCE"/>
                </a:solidFill>
                <a:latin typeface="Yu Gothic" pitchFamily="34" charset="0"/>
                <a:ea typeface="Yu Gothic" pitchFamily="34" charset="-122"/>
                <a:cs typeface="Yu Gothic" pitchFamily="34" charset="-120"/>
              </a:rPr>
              <a:t>Cloud Wine Cave 導入後</a:t>
            </a:r>
            <a:endParaRPr lang="en-US" sz="1500" dirty="0"/>
          </a:p>
        </p:txBody>
      </p:sp>
      <p:sp>
        <p:nvSpPr>
          <p:cNvPr id="24" name="Text 21"/>
          <p:cNvSpPr/>
          <p:nvPr/>
        </p:nvSpPr>
        <p:spPr>
          <a:xfrm>
            <a:off x="6543904" y="2084832"/>
            <a:ext cx="822960" cy="274320"/>
          </a:xfrm>
          <a:prstGeom prst="rect">
            <a:avLst/>
          </a:prstGeom>
          <a:noFill/>
          <a:ln/>
        </p:spPr>
        <p:txBody>
          <a:bodyPr wrap="square" lIns="0" tIns="0" rIns="0" bIns="0" rtlCol="0" anchor="ctr"/>
          <a:lstStyle/>
          <a:p>
            <a:pPr indent="0" marL="0">
              <a:buNone/>
            </a:pPr>
            <a:r>
              <a:rPr lang="en-US" sz="1000" b="1" dirty="0">
                <a:solidFill>
                  <a:srgbClr val="C68A65"/>
                </a:solidFill>
                <a:latin typeface="Yu Gothic" pitchFamily="34" charset="0"/>
                <a:ea typeface="Yu Gothic" pitchFamily="34" charset="-122"/>
                <a:cs typeface="Yu Gothic" pitchFamily="34" charset="-120"/>
              </a:rPr>
              <a:t>資金</a:t>
            </a:r>
            <a:endParaRPr lang="en-US" sz="1000" dirty="0"/>
          </a:p>
        </p:txBody>
      </p:sp>
      <p:sp>
        <p:nvSpPr>
          <p:cNvPr id="25" name="Text 22"/>
          <p:cNvSpPr/>
          <p:nvPr/>
        </p:nvSpPr>
        <p:spPr>
          <a:xfrm>
            <a:off x="7421728" y="2084832"/>
            <a:ext cx="3910432" cy="310896"/>
          </a:xfrm>
          <a:prstGeom prst="rect">
            <a:avLst/>
          </a:prstGeom>
          <a:noFill/>
          <a:ln/>
        </p:spPr>
        <p:txBody>
          <a:bodyPr wrap="square" lIns="0" tIns="0" rIns="0" bIns="0" rtlCol="0" anchor="ctr"/>
          <a:lstStyle/>
          <a:p>
            <a:pPr indent="0" marL="0">
              <a:lnSpc>
                <a:spcPts val="1350"/>
              </a:lnSpc>
              <a:buNone/>
            </a:pPr>
            <a:r>
              <a:rPr lang="en-US" sz="1020" dirty="0">
                <a:solidFill>
                  <a:srgbClr val="E3E6E8"/>
                </a:solidFill>
                <a:latin typeface="Yu Gothic" pitchFamily="34" charset="0"/>
                <a:ea typeface="Yu Gothic" pitchFamily="34" charset="-122"/>
                <a:cs typeface="Yu Gothic" pitchFamily="34" charset="-120"/>
              </a:rPr>
              <a:t>在庫金額 0円。使った分だけ月締めで支払う</a:t>
            </a:r>
            <a:endParaRPr lang="en-US" sz="1020" dirty="0"/>
          </a:p>
        </p:txBody>
      </p:sp>
      <p:sp>
        <p:nvSpPr>
          <p:cNvPr id="26" name="Text 23"/>
          <p:cNvSpPr/>
          <p:nvPr/>
        </p:nvSpPr>
        <p:spPr>
          <a:xfrm>
            <a:off x="6543904" y="2578608"/>
            <a:ext cx="822960" cy="274320"/>
          </a:xfrm>
          <a:prstGeom prst="rect">
            <a:avLst/>
          </a:prstGeom>
          <a:noFill/>
          <a:ln/>
        </p:spPr>
        <p:txBody>
          <a:bodyPr wrap="square" lIns="0" tIns="0" rIns="0" bIns="0" rtlCol="0" anchor="ctr"/>
          <a:lstStyle/>
          <a:p>
            <a:pPr indent="0" marL="0">
              <a:buNone/>
            </a:pPr>
            <a:r>
              <a:rPr lang="en-US" sz="1000" b="1" dirty="0">
                <a:solidFill>
                  <a:srgbClr val="C68A65"/>
                </a:solidFill>
                <a:latin typeface="Yu Gothic" pitchFamily="34" charset="0"/>
                <a:ea typeface="Yu Gothic" pitchFamily="34" charset="-122"/>
                <a:cs typeface="Yu Gothic" pitchFamily="34" charset="-120"/>
              </a:rPr>
              <a:t>設備</a:t>
            </a:r>
            <a:endParaRPr lang="en-US" sz="1000" dirty="0"/>
          </a:p>
        </p:txBody>
      </p:sp>
      <p:sp>
        <p:nvSpPr>
          <p:cNvPr id="27" name="Text 24"/>
          <p:cNvSpPr/>
          <p:nvPr/>
        </p:nvSpPr>
        <p:spPr>
          <a:xfrm>
            <a:off x="7421728" y="2578608"/>
            <a:ext cx="3910432" cy="310896"/>
          </a:xfrm>
          <a:prstGeom prst="rect">
            <a:avLst/>
          </a:prstGeom>
          <a:noFill/>
          <a:ln/>
        </p:spPr>
        <p:txBody>
          <a:bodyPr wrap="square" lIns="0" tIns="0" rIns="0" bIns="0" rtlCol="0" anchor="ctr"/>
          <a:lstStyle/>
          <a:p>
            <a:pPr indent="0" marL="0">
              <a:lnSpc>
                <a:spcPts val="1350"/>
              </a:lnSpc>
              <a:buNone/>
            </a:pPr>
            <a:r>
              <a:rPr lang="en-US" sz="1020" dirty="0">
                <a:solidFill>
                  <a:srgbClr val="E3E6E8"/>
                </a:solidFill>
                <a:latin typeface="Yu Gothic" pitchFamily="34" charset="0"/>
                <a:ea typeface="Yu Gothic" pitchFamily="34" charset="-122"/>
                <a:cs typeface="Yu Gothic" pitchFamily="34" charset="-120"/>
              </a:rPr>
              <a:t>セラー投資は不要。街区内ターミナルが担う</a:t>
            </a:r>
            <a:endParaRPr lang="en-US" sz="1020" dirty="0"/>
          </a:p>
        </p:txBody>
      </p:sp>
      <p:sp>
        <p:nvSpPr>
          <p:cNvPr id="28" name="Text 25"/>
          <p:cNvSpPr/>
          <p:nvPr/>
        </p:nvSpPr>
        <p:spPr>
          <a:xfrm>
            <a:off x="6543904" y="3072384"/>
            <a:ext cx="822960" cy="274320"/>
          </a:xfrm>
          <a:prstGeom prst="rect">
            <a:avLst/>
          </a:prstGeom>
          <a:noFill/>
          <a:ln/>
        </p:spPr>
        <p:txBody>
          <a:bodyPr wrap="square" lIns="0" tIns="0" rIns="0" bIns="0" rtlCol="0" anchor="ctr"/>
          <a:lstStyle/>
          <a:p>
            <a:pPr indent="0" marL="0">
              <a:buNone/>
            </a:pPr>
            <a:r>
              <a:rPr lang="en-US" sz="1000" b="1" dirty="0">
                <a:solidFill>
                  <a:srgbClr val="C68A65"/>
                </a:solidFill>
                <a:latin typeface="Yu Gothic" pitchFamily="34" charset="0"/>
                <a:ea typeface="Yu Gothic" pitchFamily="34" charset="-122"/>
                <a:cs typeface="Yu Gothic" pitchFamily="34" charset="-120"/>
              </a:rPr>
              <a:t>リスク</a:t>
            </a:r>
            <a:endParaRPr lang="en-US" sz="1000" dirty="0"/>
          </a:p>
        </p:txBody>
      </p:sp>
      <p:sp>
        <p:nvSpPr>
          <p:cNvPr id="29" name="Text 26"/>
          <p:cNvSpPr/>
          <p:nvPr/>
        </p:nvSpPr>
        <p:spPr>
          <a:xfrm>
            <a:off x="7421728" y="3072384"/>
            <a:ext cx="3910432" cy="310896"/>
          </a:xfrm>
          <a:prstGeom prst="rect">
            <a:avLst/>
          </a:prstGeom>
          <a:noFill/>
          <a:ln/>
        </p:spPr>
        <p:txBody>
          <a:bodyPr wrap="square" lIns="0" tIns="0" rIns="0" bIns="0" rtlCol="0" anchor="ctr"/>
          <a:lstStyle/>
          <a:p>
            <a:pPr indent="0" marL="0">
              <a:lnSpc>
                <a:spcPts val="1350"/>
              </a:lnSpc>
              <a:buNone/>
            </a:pPr>
            <a:r>
              <a:rPr lang="en-US" sz="1020" dirty="0">
                <a:solidFill>
                  <a:srgbClr val="E3E6E8"/>
                </a:solidFill>
                <a:latin typeface="Yu Gothic" pitchFamily="34" charset="0"/>
                <a:ea typeface="Yu Gothic" pitchFamily="34" charset="-122"/>
                <a:cs typeface="Yu Gothic" pitchFamily="34" charset="-120"/>
              </a:rPr>
              <a:t>保管・劣化・破損のリスクは当社が保有</a:t>
            </a:r>
            <a:endParaRPr lang="en-US" sz="1020" dirty="0"/>
          </a:p>
        </p:txBody>
      </p:sp>
      <p:sp>
        <p:nvSpPr>
          <p:cNvPr id="30" name="Text 27"/>
          <p:cNvSpPr/>
          <p:nvPr/>
        </p:nvSpPr>
        <p:spPr>
          <a:xfrm>
            <a:off x="6543904" y="3566160"/>
            <a:ext cx="822960" cy="274320"/>
          </a:xfrm>
          <a:prstGeom prst="rect">
            <a:avLst/>
          </a:prstGeom>
          <a:noFill/>
          <a:ln/>
        </p:spPr>
        <p:txBody>
          <a:bodyPr wrap="square" lIns="0" tIns="0" rIns="0" bIns="0" rtlCol="0" anchor="ctr"/>
          <a:lstStyle/>
          <a:p>
            <a:pPr indent="0" marL="0">
              <a:buNone/>
            </a:pPr>
            <a:r>
              <a:rPr lang="en-US" sz="1000" b="1" dirty="0">
                <a:solidFill>
                  <a:srgbClr val="C68A65"/>
                </a:solidFill>
                <a:latin typeface="Yu Gothic" pitchFamily="34" charset="0"/>
                <a:ea typeface="Yu Gothic" pitchFamily="34" charset="-122"/>
                <a:cs typeface="Yu Gothic" pitchFamily="34" charset="-120"/>
              </a:rPr>
              <a:t>品揃え</a:t>
            </a:r>
            <a:endParaRPr lang="en-US" sz="1000" dirty="0"/>
          </a:p>
        </p:txBody>
      </p:sp>
      <p:sp>
        <p:nvSpPr>
          <p:cNvPr id="31" name="Text 28"/>
          <p:cNvSpPr/>
          <p:nvPr/>
        </p:nvSpPr>
        <p:spPr>
          <a:xfrm>
            <a:off x="7421728" y="3566160"/>
            <a:ext cx="3910432" cy="310896"/>
          </a:xfrm>
          <a:prstGeom prst="rect">
            <a:avLst/>
          </a:prstGeom>
          <a:noFill/>
          <a:ln/>
        </p:spPr>
        <p:txBody>
          <a:bodyPr wrap="square" lIns="0" tIns="0" rIns="0" bIns="0" rtlCol="0" anchor="ctr"/>
          <a:lstStyle/>
          <a:p>
            <a:pPr indent="0" marL="0">
              <a:lnSpc>
                <a:spcPts val="1350"/>
              </a:lnSpc>
              <a:buNone/>
            </a:pPr>
            <a:r>
              <a:rPr lang="en-US" sz="1020" dirty="0">
                <a:solidFill>
                  <a:srgbClr val="E3E6E8"/>
                </a:solidFill>
                <a:latin typeface="Yu Gothic" pitchFamily="34" charset="0"/>
                <a:ea typeface="Yu Gothic" pitchFamily="34" charset="-122"/>
                <a:cs typeface="Yu Gothic" pitchFamily="34" charset="-120"/>
              </a:rPr>
              <a:t>数万本のリストがそのまま自店のリストに</a:t>
            </a:r>
            <a:endParaRPr lang="en-US" sz="1020" dirty="0"/>
          </a:p>
        </p:txBody>
      </p:sp>
      <p:sp>
        <p:nvSpPr>
          <p:cNvPr id="32" name="Text 29"/>
          <p:cNvSpPr/>
          <p:nvPr/>
        </p:nvSpPr>
        <p:spPr>
          <a:xfrm>
            <a:off x="6543904" y="4059936"/>
            <a:ext cx="822960" cy="274320"/>
          </a:xfrm>
          <a:prstGeom prst="rect">
            <a:avLst/>
          </a:prstGeom>
          <a:noFill/>
          <a:ln/>
        </p:spPr>
        <p:txBody>
          <a:bodyPr wrap="square" lIns="0" tIns="0" rIns="0" bIns="0" rtlCol="0" anchor="ctr"/>
          <a:lstStyle/>
          <a:p>
            <a:pPr indent="0" marL="0">
              <a:buNone/>
            </a:pPr>
            <a:r>
              <a:rPr lang="en-US" sz="1000" b="1" dirty="0">
                <a:solidFill>
                  <a:srgbClr val="C68A65"/>
                </a:solidFill>
                <a:latin typeface="Yu Gothic" pitchFamily="34" charset="0"/>
                <a:ea typeface="Yu Gothic" pitchFamily="34" charset="-122"/>
                <a:cs typeface="Yu Gothic" pitchFamily="34" charset="-120"/>
              </a:rPr>
              <a:t>突発対応</a:t>
            </a:r>
            <a:endParaRPr lang="en-US" sz="1000" dirty="0"/>
          </a:p>
        </p:txBody>
      </p:sp>
      <p:sp>
        <p:nvSpPr>
          <p:cNvPr id="33" name="Text 30"/>
          <p:cNvSpPr/>
          <p:nvPr/>
        </p:nvSpPr>
        <p:spPr>
          <a:xfrm>
            <a:off x="7421728" y="4059936"/>
            <a:ext cx="3910432" cy="310896"/>
          </a:xfrm>
          <a:prstGeom prst="rect">
            <a:avLst/>
          </a:prstGeom>
          <a:noFill/>
          <a:ln/>
        </p:spPr>
        <p:txBody>
          <a:bodyPr wrap="square" lIns="0" tIns="0" rIns="0" bIns="0" rtlCol="0" anchor="ctr"/>
          <a:lstStyle/>
          <a:p>
            <a:pPr indent="0" marL="0">
              <a:lnSpc>
                <a:spcPts val="1350"/>
              </a:lnSpc>
              <a:buNone/>
            </a:pPr>
            <a:r>
              <a:rPr lang="en-US" sz="1020" dirty="0">
                <a:solidFill>
                  <a:srgbClr val="E3E6E8"/>
                </a:solidFill>
                <a:latin typeface="Yu Gothic" pitchFamily="34" charset="0"/>
                <a:ea typeface="Yu Gothic" pitchFamily="34" charset="-122"/>
                <a:cs typeface="Yu Gothic" pitchFamily="34" charset="-120"/>
              </a:rPr>
              <a:t>前日午前中の注文で翌日着。館内ストレージ開設後は最短5分</a:t>
            </a:r>
            <a:endParaRPr lang="en-US" sz="1020" dirty="0"/>
          </a:p>
        </p:txBody>
      </p:sp>
      <p:sp>
        <p:nvSpPr>
          <p:cNvPr id="34" name="Text 31"/>
          <p:cNvSpPr/>
          <p:nvPr/>
        </p:nvSpPr>
        <p:spPr>
          <a:xfrm>
            <a:off x="566928" y="4773168"/>
            <a:ext cx="3657600" cy="274320"/>
          </a:xfrm>
          <a:prstGeom prst="rect">
            <a:avLst/>
          </a:prstGeom>
          <a:noFill/>
          <a:ln/>
        </p:spPr>
        <p:txBody>
          <a:bodyPr wrap="square" lIns="0" tIns="0" rIns="0" bIns="0" rtlCol="0" anchor="ctr"/>
          <a:lstStyle/>
          <a:p>
            <a:pPr indent="0" marL="0">
              <a:buNone/>
            </a:pPr>
            <a:r>
              <a:rPr lang="en-US" sz="1400" b="1" dirty="0">
                <a:solidFill>
                  <a:srgbClr val="1A1A1A"/>
                </a:solidFill>
                <a:latin typeface="Yu Gothic" pitchFamily="34" charset="0"/>
                <a:ea typeface="Yu Gothic" pitchFamily="34" charset="-122"/>
                <a:cs typeface="Yu Gothic" pitchFamily="34" charset="-120"/>
              </a:rPr>
              <a:t>価格の考え方</a:t>
            </a:r>
            <a:endParaRPr lang="en-US" sz="1400" dirty="0"/>
          </a:p>
        </p:txBody>
      </p:sp>
      <p:sp>
        <p:nvSpPr>
          <p:cNvPr id="35" name="Shape 32"/>
          <p:cNvSpPr/>
          <p:nvPr/>
        </p:nvSpPr>
        <p:spPr>
          <a:xfrm>
            <a:off x="566928" y="5102352"/>
            <a:ext cx="3503066" cy="969264"/>
          </a:xfrm>
          <a:prstGeom prst="roundRect">
            <a:avLst>
              <a:gd name="adj" fmla="val 4717"/>
            </a:avLst>
          </a:prstGeom>
          <a:solidFill>
            <a:srgbClr val="FFFFFF"/>
          </a:solidFill>
          <a:ln w="12700">
            <a:solidFill>
              <a:srgbClr val="DDE0E2"/>
            </a:solidFill>
            <a:prstDash val="solid"/>
          </a:ln>
        </p:spPr>
      </p:sp>
      <p:sp>
        <p:nvSpPr>
          <p:cNvPr id="36" name="Text 33"/>
          <p:cNvSpPr/>
          <p:nvPr/>
        </p:nvSpPr>
        <p:spPr>
          <a:xfrm>
            <a:off x="804672" y="5193792"/>
            <a:ext cx="3027578" cy="219456"/>
          </a:xfrm>
          <a:prstGeom prst="rect">
            <a:avLst/>
          </a:prstGeom>
          <a:noFill/>
          <a:ln/>
        </p:spPr>
        <p:txBody>
          <a:bodyPr wrap="square" lIns="0" tIns="0" rIns="0" bIns="0" rtlCol="0" anchor="ctr"/>
          <a:lstStyle/>
          <a:p>
            <a:pPr indent="0" marL="0">
              <a:buNone/>
            </a:pPr>
            <a:r>
              <a:rPr lang="en-US" sz="950" dirty="0">
                <a:solidFill>
                  <a:srgbClr val="6E7378"/>
                </a:solidFill>
                <a:latin typeface="Yu Gothic" pitchFamily="34" charset="0"/>
                <a:ea typeface="Yu Gothic" pitchFamily="34" charset="-122"/>
                <a:cs typeface="Yu Gothic" pitchFamily="34" charset="-120"/>
              </a:rPr>
              <a:t>テナント飲食店向け</a:t>
            </a:r>
            <a:endParaRPr lang="en-US" sz="950" dirty="0"/>
          </a:p>
        </p:txBody>
      </p:sp>
      <p:sp>
        <p:nvSpPr>
          <p:cNvPr id="37" name="Text 34"/>
          <p:cNvSpPr/>
          <p:nvPr/>
        </p:nvSpPr>
        <p:spPr>
          <a:xfrm>
            <a:off x="804672" y="5413248"/>
            <a:ext cx="2011680" cy="274320"/>
          </a:xfrm>
          <a:prstGeom prst="rect">
            <a:avLst/>
          </a:prstGeom>
          <a:noFill/>
          <a:ln/>
        </p:spPr>
        <p:txBody>
          <a:bodyPr wrap="square" lIns="0" tIns="0" rIns="0" bIns="0" rtlCol="0" anchor="ctr"/>
          <a:lstStyle/>
          <a:p>
            <a:pPr indent="0" marL="0">
              <a:buNone/>
            </a:pPr>
            <a:r>
              <a:rPr lang="en-US" sz="1500" b="1" dirty="0">
                <a:solidFill>
                  <a:srgbClr val="C68A65"/>
                </a:solidFill>
                <a:latin typeface="Yu Gothic" pitchFamily="34" charset="0"/>
                <a:ea typeface="Yu Gothic" pitchFamily="34" charset="-122"/>
                <a:cs typeface="Yu Gothic" pitchFamily="34" charset="-120"/>
              </a:rPr>
              <a:t>卸値</a:t>
            </a:r>
            <a:endParaRPr lang="en-US" sz="1500" dirty="0"/>
          </a:p>
        </p:txBody>
      </p:sp>
      <p:sp>
        <p:nvSpPr>
          <p:cNvPr id="38" name="Text 35"/>
          <p:cNvSpPr/>
          <p:nvPr/>
        </p:nvSpPr>
        <p:spPr>
          <a:xfrm>
            <a:off x="804672" y="5687568"/>
            <a:ext cx="3027578" cy="310896"/>
          </a:xfrm>
          <a:prstGeom prst="rect">
            <a:avLst/>
          </a:prstGeom>
          <a:noFill/>
          <a:ln/>
        </p:spPr>
        <p:txBody>
          <a:bodyPr wrap="square" lIns="0" tIns="0" rIns="0" bIns="0" rtlCol="0" anchor="ctr"/>
          <a:lstStyle/>
          <a:p>
            <a:pPr indent="0" marL="0">
              <a:lnSpc>
                <a:spcPts val="1200"/>
              </a:lnSpc>
              <a:buNone/>
            </a:pPr>
            <a:r>
              <a:rPr lang="en-US" sz="880" dirty="0">
                <a:solidFill>
                  <a:srgbClr val="6E7378"/>
                </a:solidFill>
                <a:latin typeface="Yu Gothic" pitchFamily="34" charset="0"/>
                <a:ea typeface="Yu Gothic" pitchFamily="34" charset="-122"/>
                <a:cs typeface="Yu Gothic" pitchFamily="34" charset="-120"/>
              </a:rPr>
              <a:t>インポーター直の仕入水準。一般の酒販ルートより明確に低い価格帯。</a:t>
            </a:r>
            <a:endParaRPr lang="en-US" sz="880" dirty="0"/>
          </a:p>
        </p:txBody>
      </p:sp>
      <p:sp>
        <p:nvSpPr>
          <p:cNvPr id="39" name="Shape 36"/>
          <p:cNvSpPr/>
          <p:nvPr/>
        </p:nvSpPr>
        <p:spPr>
          <a:xfrm>
            <a:off x="4344314" y="5102352"/>
            <a:ext cx="3503066" cy="969264"/>
          </a:xfrm>
          <a:prstGeom prst="roundRect">
            <a:avLst>
              <a:gd name="adj" fmla="val 4717"/>
            </a:avLst>
          </a:prstGeom>
          <a:solidFill>
            <a:srgbClr val="FFFFFF"/>
          </a:solidFill>
          <a:ln w="12700">
            <a:solidFill>
              <a:srgbClr val="DDE0E2"/>
            </a:solidFill>
            <a:prstDash val="solid"/>
          </a:ln>
        </p:spPr>
      </p:sp>
      <p:sp>
        <p:nvSpPr>
          <p:cNvPr id="40" name="Text 37"/>
          <p:cNvSpPr/>
          <p:nvPr/>
        </p:nvSpPr>
        <p:spPr>
          <a:xfrm>
            <a:off x="4582058" y="5193792"/>
            <a:ext cx="3027578" cy="219456"/>
          </a:xfrm>
          <a:prstGeom prst="rect">
            <a:avLst/>
          </a:prstGeom>
          <a:noFill/>
          <a:ln/>
        </p:spPr>
        <p:txBody>
          <a:bodyPr wrap="square" lIns="0" tIns="0" rIns="0" bIns="0" rtlCol="0" anchor="ctr"/>
          <a:lstStyle/>
          <a:p>
            <a:pPr indent="0" marL="0">
              <a:buNone/>
            </a:pPr>
            <a:r>
              <a:rPr lang="en-US" sz="950" dirty="0">
                <a:solidFill>
                  <a:srgbClr val="6E7378"/>
                </a:solidFill>
                <a:latin typeface="Yu Gothic" pitchFamily="34" charset="0"/>
                <a:ea typeface="Yu Gothic" pitchFamily="34" charset="-122"/>
                <a:cs typeface="Yu Gothic" pitchFamily="34" charset="-120"/>
              </a:rPr>
              <a:t>森ビル様の便益</a:t>
            </a:r>
            <a:endParaRPr lang="en-US" sz="950" dirty="0"/>
          </a:p>
        </p:txBody>
      </p:sp>
      <p:sp>
        <p:nvSpPr>
          <p:cNvPr id="41" name="Text 38"/>
          <p:cNvSpPr/>
          <p:nvPr/>
        </p:nvSpPr>
        <p:spPr>
          <a:xfrm>
            <a:off x="4582058" y="5413248"/>
            <a:ext cx="2011680" cy="274320"/>
          </a:xfrm>
          <a:prstGeom prst="rect">
            <a:avLst/>
          </a:prstGeom>
          <a:noFill/>
          <a:ln/>
        </p:spPr>
        <p:txBody>
          <a:bodyPr wrap="square" lIns="0" tIns="0" rIns="0" bIns="0" rtlCol="0" anchor="ctr"/>
          <a:lstStyle/>
          <a:p>
            <a:pPr indent="0" marL="0">
              <a:buNone/>
            </a:pPr>
            <a:r>
              <a:rPr lang="en-US" sz="1500" b="1" dirty="0">
                <a:solidFill>
                  <a:srgbClr val="C68A65"/>
                </a:solidFill>
                <a:latin typeface="Yu Gothic" pitchFamily="34" charset="0"/>
                <a:ea typeface="Yu Gothic" pitchFamily="34" charset="-122"/>
                <a:cs typeface="Yu Gothic" pitchFamily="34" charset="-120"/>
              </a:rPr>
              <a:t>テナント収益性</a:t>
            </a:r>
            <a:endParaRPr lang="en-US" sz="1500" dirty="0"/>
          </a:p>
        </p:txBody>
      </p:sp>
      <p:sp>
        <p:nvSpPr>
          <p:cNvPr id="42" name="Text 39"/>
          <p:cNvSpPr/>
          <p:nvPr/>
        </p:nvSpPr>
        <p:spPr>
          <a:xfrm>
            <a:off x="4582058" y="5687568"/>
            <a:ext cx="3027578" cy="310896"/>
          </a:xfrm>
          <a:prstGeom prst="rect">
            <a:avLst/>
          </a:prstGeom>
          <a:noFill/>
          <a:ln/>
        </p:spPr>
        <p:txBody>
          <a:bodyPr wrap="square" lIns="0" tIns="0" rIns="0" bIns="0" rtlCol="0" anchor="ctr"/>
          <a:lstStyle/>
          <a:p>
            <a:pPr indent="0" marL="0">
              <a:lnSpc>
                <a:spcPts val="1200"/>
              </a:lnSpc>
              <a:buNone/>
            </a:pPr>
            <a:r>
              <a:rPr lang="en-US" sz="880" dirty="0">
                <a:solidFill>
                  <a:srgbClr val="6E7378"/>
                </a:solidFill>
                <a:latin typeface="Yu Gothic" pitchFamily="34" charset="0"/>
                <a:ea typeface="Yu Gothic" pitchFamily="34" charset="-122"/>
                <a:cs typeface="Yu Gothic" pitchFamily="34" charset="-120"/>
              </a:rPr>
              <a:t>ワイン原価と在庫負担が下がり、店の利益率と賃料負担力が上がる。</a:t>
            </a:r>
            <a:endParaRPr lang="en-US" sz="880" dirty="0"/>
          </a:p>
        </p:txBody>
      </p:sp>
      <p:sp>
        <p:nvSpPr>
          <p:cNvPr id="43" name="Shape 40"/>
          <p:cNvSpPr/>
          <p:nvPr/>
        </p:nvSpPr>
        <p:spPr>
          <a:xfrm>
            <a:off x="8121701" y="5102352"/>
            <a:ext cx="3503066" cy="969264"/>
          </a:xfrm>
          <a:prstGeom prst="roundRect">
            <a:avLst>
              <a:gd name="adj" fmla="val 4717"/>
            </a:avLst>
          </a:prstGeom>
          <a:solidFill>
            <a:srgbClr val="FFFFFF"/>
          </a:solidFill>
          <a:ln w="12700">
            <a:solidFill>
              <a:srgbClr val="DDE0E2"/>
            </a:solidFill>
            <a:prstDash val="solid"/>
          </a:ln>
        </p:spPr>
      </p:sp>
      <p:sp>
        <p:nvSpPr>
          <p:cNvPr id="44" name="Text 41"/>
          <p:cNvSpPr/>
          <p:nvPr/>
        </p:nvSpPr>
        <p:spPr>
          <a:xfrm>
            <a:off x="8359445" y="5193792"/>
            <a:ext cx="3027578" cy="219456"/>
          </a:xfrm>
          <a:prstGeom prst="rect">
            <a:avLst/>
          </a:prstGeom>
          <a:noFill/>
          <a:ln/>
        </p:spPr>
        <p:txBody>
          <a:bodyPr wrap="square" lIns="0" tIns="0" rIns="0" bIns="0" rtlCol="0" anchor="ctr"/>
          <a:lstStyle/>
          <a:p>
            <a:pPr indent="0" marL="0">
              <a:buNone/>
            </a:pPr>
            <a:r>
              <a:rPr lang="en-US" sz="950" dirty="0">
                <a:solidFill>
                  <a:srgbClr val="6E7378"/>
                </a:solidFill>
                <a:latin typeface="Yu Gothic" pitchFamily="34" charset="0"/>
                <a:ea typeface="Yu Gothic" pitchFamily="34" charset="-122"/>
                <a:cs typeface="Yu Gothic" pitchFamily="34" charset="-120"/>
              </a:rPr>
              <a:t>導入コスト</a:t>
            </a:r>
            <a:endParaRPr lang="en-US" sz="950" dirty="0"/>
          </a:p>
        </p:txBody>
      </p:sp>
      <p:sp>
        <p:nvSpPr>
          <p:cNvPr id="45" name="Text 42"/>
          <p:cNvSpPr/>
          <p:nvPr/>
        </p:nvSpPr>
        <p:spPr>
          <a:xfrm>
            <a:off x="8359445" y="5413248"/>
            <a:ext cx="2011680" cy="274320"/>
          </a:xfrm>
          <a:prstGeom prst="rect">
            <a:avLst/>
          </a:prstGeom>
          <a:noFill/>
          <a:ln/>
        </p:spPr>
        <p:txBody>
          <a:bodyPr wrap="square" lIns="0" tIns="0" rIns="0" bIns="0" rtlCol="0" anchor="ctr"/>
          <a:lstStyle/>
          <a:p>
            <a:pPr indent="0" marL="0">
              <a:buNone/>
            </a:pPr>
            <a:r>
              <a:rPr lang="en-US" sz="1500" b="1" dirty="0">
                <a:solidFill>
                  <a:srgbClr val="C68A65"/>
                </a:solidFill>
                <a:latin typeface="Yu Gothic" pitchFamily="34" charset="0"/>
                <a:ea typeface="Yu Gothic" pitchFamily="34" charset="-122"/>
                <a:cs typeface="Yu Gothic" pitchFamily="34" charset="-120"/>
              </a:rPr>
              <a:t>0円</a:t>
            </a:r>
            <a:endParaRPr lang="en-US" sz="1500" dirty="0"/>
          </a:p>
        </p:txBody>
      </p:sp>
      <p:sp>
        <p:nvSpPr>
          <p:cNvPr id="46" name="Text 43"/>
          <p:cNvSpPr/>
          <p:nvPr/>
        </p:nvSpPr>
        <p:spPr>
          <a:xfrm>
            <a:off x="8359445" y="5687568"/>
            <a:ext cx="3027578" cy="310896"/>
          </a:xfrm>
          <a:prstGeom prst="rect">
            <a:avLst/>
          </a:prstGeom>
          <a:noFill/>
          <a:ln/>
        </p:spPr>
        <p:txBody>
          <a:bodyPr wrap="square" lIns="0" tIns="0" rIns="0" bIns="0" rtlCol="0" anchor="ctr"/>
          <a:lstStyle/>
          <a:p>
            <a:pPr indent="0" marL="0">
              <a:lnSpc>
                <a:spcPts val="1200"/>
              </a:lnSpc>
              <a:buNone/>
            </a:pPr>
            <a:r>
              <a:rPr lang="en-US" sz="880" dirty="0">
                <a:solidFill>
                  <a:srgbClr val="6E7378"/>
                </a:solidFill>
                <a:latin typeface="Yu Gothic" pitchFamily="34" charset="0"/>
                <a:ea typeface="Yu Gothic" pitchFamily="34" charset="-122"/>
                <a:cs typeface="Yu Gothic" pitchFamily="34" charset="-120"/>
              </a:rPr>
              <a:t>初期費用・月額固定費なし。使った分の商品代のみ。</a:t>
            </a:r>
            <a:endParaRPr lang="en-US" sz="8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381183" y="292608"/>
            <a:ext cx="1243584" cy="247802"/>
          </a:xfrm>
          <a:prstGeom prst="rect">
            <a:avLst/>
          </a:prstGeom>
        </p:spPr>
      </p:pic>
      <p:sp>
        <p:nvSpPr>
          <p:cNvPr id="3" name="Shape 0"/>
          <p:cNvSpPr/>
          <p:nvPr/>
        </p:nvSpPr>
        <p:spPr>
          <a:xfrm>
            <a:off x="566928" y="292608"/>
            <a:ext cx="1280160" cy="237744"/>
          </a:xfrm>
          <a:prstGeom prst="roundRect">
            <a:avLst>
              <a:gd name="adj" fmla="val 11538"/>
            </a:avLst>
          </a:prstGeom>
          <a:solidFill>
            <a:srgbClr val="C68A65"/>
          </a:solidFill>
          <a:ln w="12700">
            <a:solidFill>
              <a:srgbClr val="333333"/>
            </a:solidFill>
            <a:prstDash val="solid"/>
          </a:ln>
        </p:spPr>
      </p:sp>
      <p:sp>
        <p:nvSpPr>
          <p:cNvPr id="4" name="Text 1"/>
          <p:cNvSpPr/>
          <p:nvPr/>
        </p:nvSpPr>
        <p:spPr>
          <a:xfrm>
            <a:off x="566928" y="292608"/>
            <a:ext cx="128016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Yu Gothic" pitchFamily="34" charset="0"/>
                <a:ea typeface="Yu Gothic" pitchFamily="34" charset="-122"/>
                <a:cs typeface="Yu Gothic" pitchFamily="34" charset="-120"/>
              </a:rPr>
              <a:t>PROGRAM 01-B</a:t>
            </a:r>
            <a:endParaRPr lang="en-US" sz="850" dirty="0"/>
          </a:p>
        </p:txBody>
      </p:sp>
      <p:sp>
        <p:nvSpPr>
          <p:cNvPr id="5" name="Text 2"/>
          <p:cNvSpPr/>
          <p:nvPr/>
        </p:nvSpPr>
        <p:spPr>
          <a:xfrm>
            <a:off x="566928" y="585216"/>
            <a:ext cx="9509760" cy="420624"/>
          </a:xfrm>
          <a:prstGeom prst="rect">
            <a:avLst/>
          </a:prstGeom>
          <a:noFill/>
          <a:ln/>
        </p:spPr>
        <p:txBody>
          <a:bodyPr wrap="square" lIns="0" tIns="0" rIns="0" bIns="0" rtlCol="0" anchor="ctr"/>
          <a:lstStyle/>
          <a:p>
            <a:pPr indent="0" marL="0">
              <a:buNone/>
            </a:pPr>
            <a:r>
              <a:rPr lang="en-US" sz="2300" b="1" dirty="0">
                <a:solidFill>
                  <a:srgbClr val="1A1A1A"/>
                </a:solidFill>
                <a:latin typeface="Yu Gothic" pitchFamily="34" charset="0"/>
                <a:ea typeface="Yu Gothic" pitchFamily="34" charset="-122"/>
                <a:cs typeface="Yu Gothic" pitchFamily="34" charset="-120"/>
              </a:rPr>
              <a:t>置きワイン ─ 売れた分だけ、お支払いいただく</a:t>
            </a:r>
            <a:endParaRPr lang="en-US" sz="2300" dirty="0"/>
          </a:p>
        </p:txBody>
      </p:sp>
      <p:sp>
        <p:nvSpPr>
          <p:cNvPr id="6" name="Text 3"/>
          <p:cNvSpPr/>
          <p:nvPr/>
        </p:nvSpPr>
        <p:spPr>
          <a:xfrm>
            <a:off x="566928" y="1024128"/>
            <a:ext cx="11057839" cy="310896"/>
          </a:xfrm>
          <a:prstGeom prst="rect">
            <a:avLst/>
          </a:prstGeom>
          <a:noFill/>
          <a:ln/>
        </p:spPr>
        <p:txBody>
          <a:bodyPr wrap="square" lIns="0" tIns="0" rIns="0" bIns="0" rtlCol="0" anchor="ctr"/>
          <a:lstStyle/>
          <a:p>
            <a:pPr indent="0" marL="0">
              <a:lnSpc>
                <a:spcPts val="1700"/>
              </a:lnSpc>
              <a:buNone/>
            </a:pPr>
            <a:r>
              <a:rPr lang="en-US" sz="1150" dirty="0">
                <a:solidFill>
                  <a:srgbClr val="6E7378"/>
                </a:solidFill>
                <a:latin typeface="Yu Gothic" pitchFamily="34" charset="0"/>
                <a:ea typeface="Yu Gothic" pitchFamily="34" charset="-122"/>
                <a:cs typeface="Yu Gothic" pitchFamily="34" charset="-120"/>
              </a:rPr>
              <a:t>ワインの月商が見込める店には、在庫を店内に置きます。所有権は当社のまま、売れた本数だけを月締めでご請求します。</a:t>
            </a:r>
            <a:endParaRPr lang="en-US" sz="1150" dirty="0"/>
          </a:p>
        </p:txBody>
      </p:sp>
      <p:sp>
        <p:nvSpPr>
          <p:cNvPr id="7" name="Shape 4"/>
          <p:cNvSpPr/>
          <p:nvPr/>
        </p:nvSpPr>
        <p:spPr>
          <a:xfrm>
            <a:off x="0" y="6583680"/>
            <a:ext cx="12191695" cy="274320"/>
          </a:xfrm>
          <a:prstGeom prst="rect">
            <a:avLst/>
          </a:prstGeom>
          <a:solidFill>
            <a:srgbClr val="2F3941"/>
          </a:solidFill>
          <a:ln w="12700">
            <a:solidFill>
              <a:srgbClr val="333333"/>
            </a:solidFill>
            <a:prstDash val="solid"/>
          </a:ln>
        </p:spPr>
      </p:sp>
      <p:sp>
        <p:nvSpPr>
          <p:cNvPr id="8" name="Text 5"/>
          <p:cNvSpPr/>
          <p:nvPr/>
        </p:nvSpPr>
        <p:spPr>
          <a:xfrm>
            <a:off x="10893247" y="6272784"/>
            <a:ext cx="731520" cy="256032"/>
          </a:xfrm>
          <a:prstGeom prst="rect">
            <a:avLst/>
          </a:prstGeom>
          <a:noFill/>
          <a:ln/>
        </p:spPr>
        <p:txBody>
          <a:bodyPr wrap="square" lIns="0" tIns="0" rIns="0" bIns="0" rtlCol="0" anchor="ctr"/>
          <a:lstStyle/>
          <a:p>
            <a:pPr algn="r" indent="0" marL="0">
              <a:buNone/>
            </a:pPr>
            <a:r>
              <a:rPr lang="en-US" sz="1000" dirty="0">
                <a:solidFill>
                  <a:srgbClr val="A6ABAF"/>
                </a:solidFill>
                <a:latin typeface="Calibri" pitchFamily="34" charset="0"/>
                <a:ea typeface="Calibri" pitchFamily="34" charset="-122"/>
                <a:cs typeface="Calibri" pitchFamily="34" charset="-120"/>
              </a:rPr>
              <a:t>6</a:t>
            </a:r>
            <a:endParaRPr lang="en-US" sz="1000" dirty="0"/>
          </a:p>
        </p:txBody>
      </p:sp>
      <p:sp>
        <p:nvSpPr>
          <p:cNvPr id="9" name="Text 6"/>
          <p:cNvSpPr/>
          <p:nvPr/>
        </p:nvSpPr>
        <p:spPr>
          <a:xfrm>
            <a:off x="566928" y="6272784"/>
            <a:ext cx="2926080" cy="256032"/>
          </a:xfrm>
          <a:prstGeom prst="rect">
            <a:avLst/>
          </a:prstGeom>
          <a:noFill/>
          <a:ln/>
        </p:spPr>
        <p:txBody>
          <a:bodyPr wrap="square" lIns="0" tIns="0" rIns="0" bIns="0" rtlCol="0" anchor="ctr"/>
          <a:lstStyle/>
          <a:p>
            <a:pPr indent="0" marL="0">
              <a:buNone/>
            </a:pPr>
            <a:r>
              <a:rPr lang="en-US" sz="850" spc="120" kern="0" dirty="0">
                <a:solidFill>
                  <a:srgbClr val="C7CACC"/>
                </a:solidFill>
                <a:latin typeface="Calibri" pitchFamily="34" charset="0"/>
                <a:ea typeface="Calibri" pitchFamily="34" charset="-122"/>
                <a:cs typeface="Calibri" pitchFamily="34" charset="-120"/>
              </a:rPr>
              <a:t>CONFIDENTIAL</a:t>
            </a:r>
            <a:endParaRPr lang="en-US" sz="850" dirty="0"/>
          </a:p>
        </p:txBody>
      </p:sp>
      <p:sp>
        <p:nvSpPr>
          <p:cNvPr id="10" name="Text 7"/>
          <p:cNvSpPr/>
          <p:nvPr/>
        </p:nvSpPr>
        <p:spPr>
          <a:xfrm>
            <a:off x="566928" y="1463040"/>
            <a:ext cx="3657600" cy="274320"/>
          </a:xfrm>
          <a:prstGeom prst="rect">
            <a:avLst/>
          </a:prstGeom>
          <a:noFill/>
          <a:ln/>
        </p:spPr>
        <p:txBody>
          <a:bodyPr wrap="square" lIns="0" tIns="0" rIns="0" bIns="0" rtlCol="0" anchor="ctr"/>
          <a:lstStyle/>
          <a:p>
            <a:pPr indent="0" marL="0">
              <a:buNone/>
            </a:pPr>
            <a:r>
              <a:rPr lang="en-US" sz="1400" b="1" dirty="0">
                <a:solidFill>
                  <a:srgbClr val="1A1A1A"/>
                </a:solidFill>
                <a:latin typeface="Yu Gothic" pitchFamily="34" charset="0"/>
                <a:ea typeface="Yu Gothic" pitchFamily="34" charset="-122"/>
                <a:cs typeface="Yu Gothic" pitchFamily="34" charset="-120"/>
              </a:rPr>
              <a:t>仕組み</a:t>
            </a:r>
            <a:endParaRPr lang="en-US" sz="1400" dirty="0"/>
          </a:p>
        </p:txBody>
      </p:sp>
      <p:sp>
        <p:nvSpPr>
          <p:cNvPr id="11" name="Shape 8"/>
          <p:cNvSpPr/>
          <p:nvPr/>
        </p:nvSpPr>
        <p:spPr>
          <a:xfrm>
            <a:off x="566928" y="1920240"/>
            <a:ext cx="201168" cy="32004"/>
          </a:xfrm>
          <a:prstGeom prst="rect">
            <a:avLst/>
          </a:prstGeom>
          <a:solidFill>
            <a:srgbClr val="C68A65"/>
          </a:solidFill>
          <a:ln w="12700">
            <a:solidFill>
              <a:srgbClr val="333333"/>
            </a:solidFill>
            <a:prstDash val="solid"/>
          </a:ln>
        </p:spPr>
      </p:sp>
      <p:sp>
        <p:nvSpPr>
          <p:cNvPr id="12" name="Text 9"/>
          <p:cNvSpPr/>
          <p:nvPr/>
        </p:nvSpPr>
        <p:spPr>
          <a:xfrm>
            <a:off x="914400" y="1828800"/>
            <a:ext cx="5577840" cy="256032"/>
          </a:xfrm>
          <a:prstGeom prst="rect">
            <a:avLst/>
          </a:prstGeom>
          <a:noFill/>
          <a:ln/>
        </p:spPr>
        <p:txBody>
          <a:bodyPr wrap="square" lIns="0" tIns="0" rIns="0" bIns="0" rtlCol="0" anchor="ctr"/>
          <a:lstStyle/>
          <a:p>
            <a:pPr indent="0" marL="0">
              <a:buNone/>
            </a:pPr>
            <a:r>
              <a:rPr lang="en-US" sz="1250" b="1" dirty="0">
                <a:solidFill>
                  <a:srgbClr val="1A1A1A"/>
                </a:solidFill>
                <a:latin typeface="Yu Gothic" pitchFamily="34" charset="0"/>
                <a:ea typeface="Yu Gothic" pitchFamily="34" charset="-122"/>
                <a:cs typeface="Yu Gothic" pitchFamily="34" charset="-120"/>
              </a:rPr>
              <a:t>当社が銘柄を選定し、店内セラーへ預託</a:t>
            </a:r>
            <a:endParaRPr lang="en-US" sz="1250" dirty="0"/>
          </a:p>
        </p:txBody>
      </p:sp>
      <p:sp>
        <p:nvSpPr>
          <p:cNvPr id="13" name="Text 10"/>
          <p:cNvSpPr/>
          <p:nvPr/>
        </p:nvSpPr>
        <p:spPr>
          <a:xfrm>
            <a:off x="914400" y="2103120"/>
            <a:ext cx="5577840" cy="402336"/>
          </a:xfrm>
          <a:prstGeom prst="rect">
            <a:avLst/>
          </a:prstGeom>
          <a:noFill/>
          <a:ln/>
        </p:spPr>
        <p:txBody>
          <a:bodyPr wrap="square" lIns="0" tIns="0" rIns="0" bIns="0" rtlCol="0" anchor="ctr"/>
          <a:lstStyle/>
          <a:p>
            <a:pPr indent="0" marL="0">
              <a:lnSpc>
                <a:spcPts val="1400"/>
              </a:lnSpc>
              <a:buNone/>
            </a:pPr>
            <a:r>
              <a:rPr lang="en-US" sz="1000" dirty="0">
                <a:solidFill>
                  <a:srgbClr val="6E7378"/>
                </a:solidFill>
                <a:latin typeface="Yu Gothic" pitchFamily="34" charset="0"/>
                <a:ea typeface="Yu Gothic" pitchFamily="34" charset="-122"/>
                <a:cs typeface="Yu Gothic" pitchFamily="34" charset="-120"/>
              </a:rPr>
              <a:t>所有権は当社。店は仕入計上をせず、リストに載せて販売するだけ。</a:t>
            </a:r>
            <a:endParaRPr lang="en-US" sz="1000" dirty="0"/>
          </a:p>
        </p:txBody>
      </p:sp>
      <p:sp>
        <p:nvSpPr>
          <p:cNvPr id="14" name="Shape 11"/>
          <p:cNvSpPr/>
          <p:nvPr/>
        </p:nvSpPr>
        <p:spPr>
          <a:xfrm>
            <a:off x="566928" y="2706624"/>
            <a:ext cx="201168" cy="32004"/>
          </a:xfrm>
          <a:prstGeom prst="rect">
            <a:avLst/>
          </a:prstGeom>
          <a:solidFill>
            <a:srgbClr val="C68A65"/>
          </a:solidFill>
          <a:ln w="12700">
            <a:solidFill>
              <a:srgbClr val="333333"/>
            </a:solidFill>
            <a:prstDash val="solid"/>
          </a:ln>
        </p:spPr>
      </p:sp>
      <p:sp>
        <p:nvSpPr>
          <p:cNvPr id="15" name="Text 12"/>
          <p:cNvSpPr/>
          <p:nvPr/>
        </p:nvSpPr>
        <p:spPr>
          <a:xfrm>
            <a:off x="914400" y="2615184"/>
            <a:ext cx="5577840" cy="256032"/>
          </a:xfrm>
          <a:prstGeom prst="rect">
            <a:avLst/>
          </a:prstGeom>
          <a:noFill/>
          <a:ln/>
        </p:spPr>
        <p:txBody>
          <a:bodyPr wrap="square" lIns="0" tIns="0" rIns="0" bIns="0" rtlCol="0" anchor="ctr"/>
          <a:lstStyle/>
          <a:p>
            <a:pPr indent="0" marL="0">
              <a:buNone/>
            </a:pPr>
            <a:r>
              <a:rPr lang="en-US" sz="1250" b="1" dirty="0">
                <a:solidFill>
                  <a:srgbClr val="1A1A1A"/>
                </a:solidFill>
                <a:latin typeface="Yu Gothic" pitchFamily="34" charset="0"/>
                <a:ea typeface="Yu Gothic" pitchFamily="34" charset="-122"/>
                <a:cs typeface="Yu Gothic" pitchFamily="34" charset="-120"/>
              </a:rPr>
              <a:t>売れた本数のみ、月締めでご請求</a:t>
            </a:r>
            <a:endParaRPr lang="en-US" sz="1250" dirty="0"/>
          </a:p>
        </p:txBody>
      </p:sp>
      <p:sp>
        <p:nvSpPr>
          <p:cNvPr id="16" name="Text 13"/>
          <p:cNvSpPr/>
          <p:nvPr/>
        </p:nvSpPr>
        <p:spPr>
          <a:xfrm>
            <a:off x="914400" y="2889504"/>
            <a:ext cx="5577840" cy="402336"/>
          </a:xfrm>
          <a:prstGeom prst="rect">
            <a:avLst/>
          </a:prstGeom>
          <a:noFill/>
          <a:ln/>
        </p:spPr>
        <p:txBody>
          <a:bodyPr wrap="square" lIns="0" tIns="0" rIns="0" bIns="0" rtlCol="0" anchor="ctr"/>
          <a:lstStyle/>
          <a:p>
            <a:pPr indent="0" marL="0">
              <a:lnSpc>
                <a:spcPts val="1400"/>
              </a:lnSpc>
              <a:buNone/>
            </a:pPr>
            <a:r>
              <a:rPr lang="en-US" sz="1000" dirty="0">
                <a:solidFill>
                  <a:srgbClr val="6E7378"/>
                </a:solidFill>
                <a:latin typeface="Yu Gothic" pitchFamily="34" charset="0"/>
                <a:ea typeface="Yu Gothic" pitchFamily="34" charset="-122"/>
                <a:cs typeface="Yu Gothic" pitchFamily="34" charset="-120"/>
              </a:rPr>
              <a:t>キャッシュアウトは売れた後。仕入時点の資金拘束が発生しません。</a:t>
            </a:r>
            <a:endParaRPr lang="en-US" sz="1000" dirty="0"/>
          </a:p>
        </p:txBody>
      </p:sp>
      <p:sp>
        <p:nvSpPr>
          <p:cNvPr id="17" name="Shape 14"/>
          <p:cNvSpPr/>
          <p:nvPr/>
        </p:nvSpPr>
        <p:spPr>
          <a:xfrm>
            <a:off x="566928" y="3493008"/>
            <a:ext cx="201168" cy="32004"/>
          </a:xfrm>
          <a:prstGeom prst="rect">
            <a:avLst/>
          </a:prstGeom>
          <a:solidFill>
            <a:srgbClr val="C68A65"/>
          </a:solidFill>
          <a:ln w="12700">
            <a:solidFill>
              <a:srgbClr val="333333"/>
            </a:solidFill>
            <a:prstDash val="solid"/>
          </a:ln>
        </p:spPr>
      </p:sp>
      <p:sp>
        <p:nvSpPr>
          <p:cNvPr id="18" name="Text 15"/>
          <p:cNvSpPr/>
          <p:nvPr/>
        </p:nvSpPr>
        <p:spPr>
          <a:xfrm>
            <a:off x="914400" y="3401568"/>
            <a:ext cx="5577840" cy="256032"/>
          </a:xfrm>
          <a:prstGeom prst="rect">
            <a:avLst/>
          </a:prstGeom>
          <a:noFill/>
          <a:ln/>
        </p:spPr>
        <p:txBody>
          <a:bodyPr wrap="square" lIns="0" tIns="0" rIns="0" bIns="0" rtlCol="0" anchor="ctr"/>
          <a:lstStyle/>
          <a:p>
            <a:pPr indent="0" marL="0">
              <a:buNone/>
            </a:pPr>
            <a:r>
              <a:rPr lang="en-US" sz="1250" b="1" dirty="0">
                <a:solidFill>
                  <a:srgbClr val="1A1A1A"/>
                </a:solidFill>
                <a:latin typeface="Yu Gothic" pitchFamily="34" charset="0"/>
                <a:ea typeface="Yu Gothic" pitchFamily="34" charset="-122"/>
                <a:cs typeface="Yu Gothic" pitchFamily="34" charset="-120"/>
              </a:rPr>
              <a:t>売れ残り・劣化・破損は当社負担</a:t>
            </a:r>
            <a:endParaRPr lang="en-US" sz="1250" dirty="0"/>
          </a:p>
        </p:txBody>
      </p:sp>
      <p:sp>
        <p:nvSpPr>
          <p:cNvPr id="19" name="Text 16"/>
          <p:cNvSpPr/>
          <p:nvPr/>
        </p:nvSpPr>
        <p:spPr>
          <a:xfrm>
            <a:off x="914400" y="3675888"/>
            <a:ext cx="5577840" cy="402336"/>
          </a:xfrm>
          <a:prstGeom prst="rect">
            <a:avLst/>
          </a:prstGeom>
          <a:noFill/>
          <a:ln/>
        </p:spPr>
        <p:txBody>
          <a:bodyPr wrap="square" lIns="0" tIns="0" rIns="0" bIns="0" rtlCol="0" anchor="ctr"/>
          <a:lstStyle/>
          <a:p>
            <a:pPr indent="0" marL="0">
              <a:lnSpc>
                <a:spcPts val="1400"/>
              </a:lnSpc>
              <a:buNone/>
            </a:pPr>
            <a:r>
              <a:rPr lang="en-US" sz="1000" dirty="0">
                <a:solidFill>
                  <a:srgbClr val="6E7378"/>
                </a:solidFill>
                <a:latin typeface="Yu Gothic" pitchFamily="34" charset="0"/>
                <a:ea typeface="Yu Gothic" pitchFamily="34" charset="-122"/>
                <a:cs typeface="Yu Gothic" pitchFamily="34" charset="-120"/>
              </a:rPr>
              <a:t>動かない銘柄は当社が回収し、入れ替えます。店に損失は残りません。</a:t>
            </a:r>
            <a:endParaRPr lang="en-US" sz="1000" dirty="0"/>
          </a:p>
        </p:txBody>
      </p:sp>
      <p:sp>
        <p:nvSpPr>
          <p:cNvPr id="20" name="Shape 17"/>
          <p:cNvSpPr/>
          <p:nvPr/>
        </p:nvSpPr>
        <p:spPr>
          <a:xfrm>
            <a:off x="566928" y="4279392"/>
            <a:ext cx="201168" cy="32004"/>
          </a:xfrm>
          <a:prstGeom prst="rect">
            <a:avLst/>
          </a:prstGeom>
          <a:solidFill>
            <a:srgbClr val="C68A65"/>
          </a:solidFill>
          <a:ln w="12700">
            <a:solidFill>
              <a:srgbClr val="333333"/>
            </a:solidFill>
            <a:prstDash val="solid"/>
          </a:ln>
        </p:spPr>
      </p:sp>
      <p:sp>
        <p:nvSpPr>
          <p:cNvPr id="21" name="Text 18"/>
          <p:cNvSpPr/>
          <p:nvPr/>
        </p:nvSpPr>
        <p:spPr>
          <a:xfrm>
            <a:off x="914400" y="4187952"/>
            <a:ext cx="5577840" cy="256032"/>
          </a:xfrm>
          <a:prstGeom prst="rect">
            <a:avLst/>
          </a:prstGeom>
          <a:noFill/>
          <a:ln/>
        </p:spPr>
        <p:txBody>
          <a:bodyPr wrap="square" lIns="0" tIns="0" rIns="0" bIns="0" rtlCol="0" anchor="ctr"/>
          <a:lstStyle/>
          <a:p>
            <a:pPr indent="0" marL="0">
              <a:buNone/>
            </a:pPr>
            <a:r>
              <a:rPr lang="en-US" sz="1250" b="1" dirty="0">
                <a:solidFill>
                  <a:srgbClr val="1A1A1A"/>
                </a:solidFill>
                <a:latin typeface="Yu Gothic" pitchFamily="34" charset="0"/>
                <a:ea typeface="Yu Gothic" pitchFamily="34" charset="-122"/>
                <a:cs typeface="Yu Gothic" pitchFamily="34" charset="-120"/>
              </a:rPr>
              <a:t>定期的に構成を見直す</a:t>
            </a:r>
            <a:endParaRPr lang="en-US" sz="1250" dirty="0"/>
          </a:p>
        </p:txBody>
      </p:sp>
      <p:sp>
        <p:nvSpPr>
          <p:cNvPr id="22" name="Text 19"/>
          <p:cNvSpPr/>
          <p:nvPr/>
        </p:nvSpPr>
        <p:spPr>
          <a:xfrm>
            <a:off x="914400" y="4462272"/>
            <a:ext cx="5577840" cy="402336"/>
          </a:xfrm>
          <a:prstGeom prst="rect">
            <a:avLst/>
          </a:prstGeom>
          <a:noFill/>
          <a:ln/>
        </p:spPr>
        <p:txBody>
          <a:bodyPr wrap="square" lIns="0" tIns="0" rIns="0" bIns="0" rtlCol="0" anchor="ctr"/>
          <a:lstStyle/>
          <a:p>
            <a:pPr indent="0" marL="0">
              <a:lnSpc>
                <a:spcPts val="1400"/>
              </a:lnSpc>
              <a:buNone/>
            </a:pPr>
            <a:r>
              <a:rPr lang="en-US" sz="1000" dirty="0">
                <a:solidFill>
                  <a:srgbClr val="6E7378"/>
                </a:solidFill>
                <a:latin typeface="Yu Gothic" pitchFamily="34" charset="0"/>
                <a:ea typeface="Yu Gothic" pitchFamily="34" charset="-122"/>
                <a:cs typeface="Yu Gothic" pitchFamily="34" charset="-120"/>
              </a:rPr>
              <a:t>客層と販売実績を見て、価格帯と銘柄を組み替えていきます。</a:t>
            </a:r>
            <a:endParaRPr lang="en-US" sz="1000" dirty="0"/>
          </a:p>
        </p:txBody>
      </p:sp>
      <p:sp>
        <p:nvSpPr>
          <p:cNvPr id="23" name="Shape 20"/>
          <p:cNvSpPr/>
          <p:nvPr/>
        </p:nvSpPr>
        <p:spPr>
          <a:xfrm>
            <a:off x="566928" y="5029200"/>
            <a:ext cx="5925312" cy="1097280"/>
          </a:xfrm>
          <a:prstGeom prst="roundRect">
            <a:avLst>
              <a:gd name="adj" fmla="val 4167"/>
            </a:avLst>
          </a:prstGeom>
          <a:solidFill>
            <a:srgbClr val="F6F6F6"/>
          </a:solidFill>
          <a:ln w="12700">
            <a:solidFill>
              <a:srgbClr val="333333"/>
            </a:solidFill>
            <a:prstDash val="solid"/>
          </a:ln>
        </p:spPr>
      </p:sp>
      <p:sp>
        <p:nvSpPr>
          <p:cNvPr id="24" name="Text 21"/>
          <p:cNvSpPr/>
          <p:nvPr/>
        </p:nvSpPr>
        <p:spPr>
          <a:xfrm>
            <a:off x="841248" y="5138928"/>
            <a:ext cx="5486400" cy="237744"/>
          </a:xfrm>
          <a:prstGeom prst="rect">
            <a:avLst/>
          </a:prstGeom>
          <a:noFill/>
          <a:ln/>
        </p:spPr>
        <p:txBody>
          <a:bodyPr wrap="square" lIns="0" tIns="0" rIns="0" bIns="0" rtlCol="0" anchor="ctr"/>
          <a:lstStyle/>
          <a:p>
            <a:pPr indent="0" marL="0">
              <a:buNone/>
            </a:pPr>
            <a:r>
              <a:rPr lang="en-US" sz="1250" b="1" dirty="0">
                <a:solidFill>
                  <a:srgbClr val="A06D4C"/>
                </a:solidFill>
                <a:latin typeface="Yu Gothic" pitchFamily="34" charset="0"/>
                <a:ea typeface="Yu Gothic" pitchFamily="34" charset="-122"/>
                <a:cs typeface="Yu Gothic" pitchFamily="34" charset="-120"/>
              </a:rPr>
              <a:t>対象と条件</a:t>
            </a:r>
            <a:endParaRPr lang="en-US" sz="1250" dirty="0"/>
          </a:p>
        </p:txBody>
      </p:sp>
      <p:sp>
        <p:nvSpPr>
          <p:cNvPr id="25" name="Text 22"/>
          <p:cNvSpPr/>
          <p:nvPr/>
        </p:nvSpPr>
        <p:spPr>
          <a:xfrm>
            <a:off x="841248" y="5394960"/>
            <a:ext cx="5394960" cy="621792"/>
          </a:xfrm>
          <a:prstGeom prst="rect">
            <a:avLst/>
          </a:prstGeom>
          <a:noFill/>
          <a:ln/>
        </p:spPr>
        <p:txBody>
          <a:bodyPr wrap="square" lIns="0" tIns="0" rIns="0" bIns="0" rtlCol="0" anchor="ctr"/>
          <a:lstStyle/>
          <a:p>
            <a:pPr indent="0" marL="0">
              <a:lnSpc>
                <a:spcPts val="1350"/>
              </a:lnSpc>
              <a:buNone/>
            </a:pPr>
            <a:r>
              <a:rPr lang="en-US" sz="980" dirty="0">
                <a:solidFill>
                  <a:srgbClr val="1A1A1A"/>
                </a:solidFill>
                <a:latin typeface="Yu Gothic" pitchFamily="34" charset="0"/>
                <a:ea typeface="Yu Gothic" pitchFamily="34" charset="-122"/>
                <a:cs typeface="Yu Gothic" pitchFamily="34" charset="-120"/>
              </a:rPr>
              <a:t>ワインの月商が一定以上ある店を優先します。とくに海外からの富裕層が多く入る店は、高単価銘柄の回転が読めるため相性が良いと考えています。与信は売上入金を担保とする形（口座振替・売上債権譲渡等）でご相談させてください。</a:t>
            </a:r>
            <a:endParaRPr lang="en-US" sz="980" dirty="0"/>
          </a:p>
        </p:txBody>
      </p:sp>
      <p:sp>
        <p:nvSpPr>
          <p:cNvPr id="26" name="Shape 23"/>
          <p:cNvSpPr/>
          <p:nvPr/>
        </p:nvSpPr>
        <p:spPr>
          <a:xfrm>
            <a:off x="6803136" y="1463040"/>
            <a:ext cx="4821631" cy="2212848"/>
          </a:xfrm>
          <a:prstGeom prst="roundRect">
            <a:avLst>
              <a:gd name="adj" fmla="val 2066"/>
            </a:avLst>
          </a:prstGeom>
          <a:solidFill>
            <a:srgbClr val="2F3941"/>
          </a:solidFill>
          <a:ln w="12700">
            <a:solidFill>
              <a:srgbClr val="333333"/>
            </a:solidFill>
            <a:prstDash val="solid"/>
          </a:ln>
        </p:spPr>
      </p:sp>
      <p:sp>
        <p:nvSpPr>
          <p:cNvPr id="27" name="Text 24"/>
          <p:cNvSpPr/>
          <p:nvPr/>
        </p:nvSpPr>
        <p:spPr>
          <a:xfrm>
            <a:off x="7095744" y="1627632"/>
            <a:ext cx="4236415" cy="274320"/>
          </a:xfrm>
          <a:prstGeom prst="rect">
            <a:avLst/>
          </a:prstGeom>
          <a:noFill/>
          <a:ln/>
        </p:spPr>
        <p:txBody>
          <a:bodyPr wrap="square" lIns="0" tIns="0" rIns="0" bIns="0" rtlCol="0" anchor="ctr"/>
          <a:lstStyle/>
          <a:p>
            <a:pPr indent="0" marL="0">
              <a:buNone/>
            </a:pPr>
            <a:r>
              <a:rPr lang="en-US" sz="1500" b="1" dirty="0">
                <a:solidFill>
                  <a:srgbClr val="EFDCCE"/>
                </a:solidFill>
                <a:latin typeface="Yu Gothic" pitchFamily="34" charset="0"/>
                <a:ea typeface="Yu Gothic" pitchFamily="34" charset="-122"/>
                <a:cs typeface="Yu Gothic" pitchFamily="34" charset="-120"/>
              </a:rPr>
              <a:t>店にとって、何が変わるか</a:t>
            </a:r>
            <a:endParaRPr lang="en-US" sz="1500" dirty="0"/>
          </a:p>
        </p:txBody>
      </p:sp>
      <p:sp>
        <p:nvSpPr>
          <p:cNvPr id="28" name="Text 25"/>
          <p:cNvSpPr/>
          <p:nvPr/>
        </p:nvSpPr>
        <p:spPr>
          <a:xfrm>
            <a:off x="7095744" y="1975104"/>
            <a:ext cx="4236415" cy="1554480"/>
          </a:xfrm>
          <a:prstGeom prst="rect">
            <a:avLst/>
          </a:prstGeom>
          <a:noFill/>
          <a:ln/>
        </p:spPr>
        <p:txBody>
          <a:bodyPr wrap="square" lIns="0" tIns="0" rIns="0" bIns="0" rtlCol="0" anchor="ctr"/>
          <a:lstStyle/>
          <a:p>
            <a:pPr marL="342900" indent="-342900">
              <a:lnSpc>
                <a:spcPts val="1500"/>
              </a:lnSpc>
              <a:spcAft>
                <a:spcPts val="600"/>
              </a:spcAft>
              <a:buSzPct val="100000"/>
              <a:buChar char="▪"/>
            </a:pPr>
            <a:r>
              <a:rPr lang="en-US" sz="1020" dirty="0">
                <a:solidFill>
                  <a:srgbClr val="E3E6E8"/>
                </a:solidFill>
                <a:latin typeface="Yu Gothic" pitchFamily="34" charset="0"/>
                <a:ea typeface="Yu Gothic" pitchFamily="34" charset="-122"/>
                <a:cs typeface="Yu Gothic" pitchFamily="34" charset="-120"/>
              </a:rPr>
              <a:t>自己資金では置けない価格帯を、リストに載せられる</a:t>
            </a:r>
            <a:endParaRPr lang="en-US" sz="1020" dirty="0"/>
          </a:p>
          <a:p>
            <a:pPr marL="342900" indent="-342900">
              <a:lnSpc>
                <a:spcPts val="1500"/>
              </a:lnSpc>
              <a:spcAft>
                <a:spcPts val="600"/>
              </a:spcAft>
              <a:buSzPct val="100000"/>
              <a:buChar char="▪"/>
            </a:pPr>
            <a:r>
              <a:rPr lang="en-US" sz="1020" dirty="0">
                <a:solidFill>
                  <a:srgbClr val="E3E6E8"/>
                </a:solidFill>
                <a:latin typeface="Yu Gothic" pitchFamily="34" charset="0"/>
                <a:ea typeface="Yu Gothic" pitchFamily="34" charset="-122"/>
                <a:cs typeface="Yu Gothic" pitchFamily="34" charset="-120"/>
              </a:rPr>
              <a:t>在庫を持つのは当社。店の在庫回転率は悪化しない</a:t>
            </a:r>
            <a:endParaRPr lang="en-US" sz="1020" dirty="0"/>
          </a:p>
          <a:p>
            <a:pPr marL="342900" indent="-342900">
              <a:lnSpc>
                <a:spcPts val="1500"/>
              </a:lnSpc>
              <a:spcAft>
                <a:spcPts val="600"/>
              </a:spcAft>
              <a:buSzPct val="100000"/>
              <a:buChar char="▪"/>
            </a:pPr>
            <a:r>
              <a:rPr lang="en-US" sz="1020" dirty="0">
                <a:solidFill>
                  <a:srgbClr val="E3E6E8"/>
                </a:solidFill>
                <a:latin typeface="Yu Gothic" pitchFamily="34" charset="0"/>
                <a:ea typeface="Yu Gothic" pitchFamily="34" charset="-122"/>
                <a:cs typeface="Yu Gothic" pitchFamily="34" charset="-120"/>
              </a:rPr>
              <a:t>品揃えの厚みが、そのまま客単価に効く</a:t>
            </a:r>
            <a:endParaRPr lang="en-US" sz="1020" dirty="0"/>
          </a:p>
          <a:p>
            <a:pPr marL="342900" indent="-342900">
              <a:lnSpc>
                <a:spcPts val="1500"/>
              </a:lnSpc>
              <a:spcAft>
                <a:spcPts val="600"/>
              </a:spcAft>
              <a:buSzPct val="100000"/>
              <a:buChar char="▪"/>
            </a:pPr>
            <a:r>
              <a:rPr lang="en-US" sz="1020" dirty="0">
                <a:solidFill>
                  <a:srgbClr val="E3E6E8"/>
                </a:solidFill>
                <a:latin typeface="Yu Gothic" pitchFamily="34" charset="0"/>
                <a:ea typeface="Yu Gothic" pitchFamily="34" charset="-122"/>
                <a:cs typeface="Yu Gothic" pitchFamily="34" charset="-120"/>
              </a:rPr>
              <a:t>セラーの空きスペースを当社在庫で埋められる</a:t>
            </a:r>
            <a:endParaRPr lang="en-US" sz="1020" dirty="0"/>
          </a:p>
        </p:txBody>
      </p:sp>
      <p:sp>
        <p:nvSpPr>
          <p:cNvPr id="29" name="Shape 26"/>
          <p:cNvSpPr/>
          <p:nvPr/>
        </p:nvSpPr>
        <p:spPr>
          <a:xfrm>
            <a:off x="6803136" y="3840480"/>
            <a:ext cx="4821631" cy="1207008"/>
          </a:xfrm>
          <a:prstGeom prst="roundRect">
            <a:avLst>
              <a:gd name="adj" fmla="val 3788"/>
            </a:avLst>
          </a:prstGeom>
          <a:solidFill>
            <a:srgbClr val="FFFFFF"/>
          </a:solidFill>
          <a:ln w="12700">
            <a:solidFill>
              <a:srgbClr val="DDE0E2"/>
            </a:solidFill>
            <a:prstDash val="solid"/>
          </a:ln>
        </p:spPr>
      </p:sp>
      <p:sp>
        <p:nvSpPr>
          <p:cNvPr id="30" name="Text 27"/>
          <p:cNvSpPr/>
          <p:nvPr/>
        </p:nvSpPr>
        <p:spPr>
          <a:xfrm>
            <a:off x="7077456" y="3968496"/>
            <a:ext cx="4272991" cy="256032"/>
          </a:xfrm>
          <a:prstGeom prst="rect">
            <a:avLst/>
          </a:prstGeom>
          <a:noFill/>
          <a:ln/>
        </p:spPr>
        <p:txBody>
          <a:bodyPr wrap="square" lIns="0" tIns="0" rIns="0" bIns="0" rtlCol="0" anchor="ctr"/>
          <a:lstStyle/>
          <a:p>
            <a:pPr indent="0" marL="0">
              <a:buNone/>
            </a:pPr>
            <a:r>
              <a:rPr lang="en-US" sz="1250" b="1" dirty="0">
                <a:solidFill>
                  <a:srgbClr val="A06D4C"/>
                </a:solidFill>
                <a:latin typeface="Yu Gothic" pitchFamily="34" charset="0"/>
                <a:ea typeface="Yu Gothic" pitchFamily="34" charset="-122"/>
                <a:cs typeface="Yu Gothic" pitchFamily="34" charset="-120"/>
              </a:rPr>
              <a:t>森ビル様の便益</a:t>
            </a:r>
            <a:endParaRPr lang="en-US" sz="1250" dirty="0"/>
          </a:p>
        </p:txBody>
      </p:sp>
      <p:sp>
        <p:nvSpPr>
          <p:cNvPr id="31" name="Text 28"/>
          <p:cNvSpPr/>
          <p:nvPr/>
        </p:nvSpPr>
        <p:spPr>
          <a:xfrm>
            <a:off x="7077456" y="4242816"/>
            <a:ext cx="4272991" cy="621792"/>
          </a:xfrm>
          <a:prstGeom prst="rect">
            <a:avLst/>
          </a:prstGeom>
          <a:noFill/>
          <a:ln/>
        </p:spPr>
        <p:txBody>
          <a:bodyPr wrap="square" lIns="0" tIns="0" rIns="0" bIns="0" rtlCol="0" anchor="ctr"/>
          <a:lstStyle/>
          <a:p>
            <a:pPr indent="0" marL="0">
              <a:lnSpc>
                <a:spcPts val="1350"/>
              </a:lnSpc>
              <a:buNone/>
            </a:pPr>
            <a:r>
              <a:rPr lang="en-US" sz="980" dirty="0">
                <a:solidFill>
                  <a:srgbClr val="1A1A1A"/>
                </a:solidFill>
                <a:latin typeface="Yu Gothic" pitchFamily="34" charset="0"/>
                <a:ea typeface="Yu Gothic" pitchFamily="34" charset="-122"/>
                <a:cs typeface="Yu Gothic" pitchFamily="34" charset="-120"/>
              </a:rPr>
              <a:t>テナント飲食店の客単価と収益性が上がります。大きなセラーを持たない店でも高級ワインを扱えるため、区画の使い方の選択肢が広がります。</a:t>
            </a:r>
            <a:endParaRPr lang="en-US" sz="980" dirty="0"/>
          </a:p>
        </p:txBody>
      </p:sp>
      <p:sp>
        <p:nvSpPr>
          <p:cNvPr id="32" name="Shape 29"/>
          <p:cNvSpPr/>
          <p:nvPr/>
        </p:nvSpPr>
        <p:spPr>
          <a:xfrm>
            <a:off x="6803136" y="5212080"/>
            <a:ext cx="4821631" cy="914400"/>
          </a:xfrm>
          <a:prstGeom prst="roundRect">
            <a:avLst>
              <a:gd name="adj" fmla="val 5000"/>
            </a:avLst>
          </a:prstGeom>
          <a:solidFill>
            <a:srgbClr val="F6F6F6"/>
          </a:solidFill>
          <a:ln w="12700">
            <a:solidFill>
              <a:srgbClr val="333333"/>
            </a:solidFill>
            <a:prstDash val="solid"/>
          </a:ln>
        </p:spPr>
      </p:sp>
      <p:sp>
        <p:nvSpPr>
          <p:cNvPr id="33" name="Text 30"/>
          <p:cNvSpPr/>
          <p:nvPr/>
        </p:nvSpPr>
        <p:spPr>
          <a:xfrm>
            <a:off x="7077456" y="5321808"/>
            <a:ext cx="4272991" cy="237744"/>
          </a:xfrm>
          <a:prstGeom prst="rect">
            <a:avLst/>
          </a:prstGeom>
          <a:noFill/>
          <a:ln/>
        </p:spPr>
        <p:txBody>
          <a:bodyPr wrap="square" lIns="0" tIns="0" rIns="0" bIns="0" rtlCol="0" anchor="ctr"/>
          <a:lstStyle/>
          <a:p>
            <a:pPr indent="0" marL="0">
              <a:buNone/>
            </a:pPr>
            <a:r>
              <a:rPr lang="en-US" sz="1150" b="1" dirty="0">
                <a:solidFill>
                  <a:srgbClr val="1A1A1A"/>
                </a:solidFill>
                <a:latin typeface="Yu Gothic" pitchFamily="34" charset="0"/>
                <a:ea typeface="Yu Gothic" pitchFamily="34" charset="-122"/>
                <a:cs typeface="Yu Gothic" pitchFamily="34" charset="-120"/>
              </a:rPr>
              <a:t>共有セラー型との併用</a:t>
            </a:r>
            <a:endParaRPr lang="en-US" sz="1150" dirty="0"/>
          </a:p>
        </p:txBody>
      </p:sp>
      <p:sp>
        <p:nvSpPr>
          <p:cNvPr id="34" name="Text 31"/>
          <p:cNvSpPr/>
          <p:nvPr/>
        </p:nvSpPr>
        <p:spPr>
          <a:xfrm>
            <a:off x="7077456" y="5559552"/>
            <a:ext cx="4272991" cy="475488"/>
          </a:xfrm>
          <a:prstGeom prst="rect">
            <a:avLst/>
          </a:prstGeom>
          <a:noFill/>
          <a:ln/>
        </p:spPr>
        <p:txBody>
          <a:bodyPr wrap="square" lIns="0" tIns="0" rIns="0" bIns="0" rtlCol="0" anchor="ctr"/>
          <a:lstStyle/>
          <a:p>
            <a:pPr indent="0" marL="0">
              <a:lnSpc>
                <a:spcPts val="1300"/>
              </a:lnSpc>
              <a:buNone/>
            </a:pPr>
            <a:r>
              <a:rPr lang="en-US" sz="960" dirty="0">
                <a:solidFill>
                  <a:srgbClr val="6E7378"/>
                </a:solidFill>
                <a:latin typeface="Yu Gothic" pitchFamily="34" charset="0"/>
                <a:ea typeface="Yu Gothic" pitchFamily="34" charset="-122"/>
                <a:cs typeface="Yu Gothic" pitchFamily="34" charset="-120"/>
              </a:rPr>
              <a:t>定番は置きワインで店に置き、突発の一本はCloud Wine Caveから引く。この二段構えが実務上いちばん機能します。</a:t>
            </a:r>
            <a:endParaRPr lang="en-US" sz="96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381183" y="292608"/>
            <a:ext cx="1243584" cy="247802"/>
          </a:xfrm>
          <a:prstGeom prst="rect">
            <a:avLst/>
          </a:prstGeom>
        </p:spPr>
      </p:pic>
      <p:sp>
        <p:nvSpPr>
          <p:cNvPr id="3" name="Shape 0"/>
          <p:cNvSpPr/>
          <p:nvPr/>
        </p:nvSpPr>
        <p:spPr>
          <a:xfrm>
            <a:off x="566928" y="292608"/>
            <a:ext cx="1280160" cy="237744"/>
          </a:xfrm>
          <a:prstGeom prst="roundRect">
            <a:avLst>
              <a:gd name="adj" fmla="val 11538"/>
            </a:avLst>
          </a:prstGeom>
          <a:solidFill>
            <a:srgbClr val="C68A65"/>
          </a:solidFill>
          <a:ln w="12700">
            <a:solidFill>
              <a:srgbClr val="333333"/>
            </a:solidFill>
            <a:prstDash val="solid"/>
          </a:ln>
        </p:spPr>
      </p:sp>
      <p:sp>
        <p:nvSpPr>
          <p:cNvPr id="4" name="Text 1"/>
          <p:cNvSpPr/>
          <p:nvPr/>
        </p:nvSpPr>
        <p:spPr>
          <a:xfrm>
            <a:off x="566928" y="292608"/>
            <a:ext cx="128016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Yu Gothic" pitchFamily="34" charset="0"/>
                <a:ea typeface="Yu Gothic" pitchFamily="34" charset="-122"/>
                <a:cs typeface="Yu Gothic" pitchFamily="34" charset="-120"/>
              </a:rPr>
              <a:t>PROGRAM 01-C</a:t>
            </a:r>
            <a:endParaRPr lang="en-US" sz="850" dirty="0"/>
          </a:p>
        </p:txBody>
      </p:sp>
      <p:sp>
        <p:nvSpPr>
          <p:cNvPr id="5" name="Text 2"/>
          <p:cNvSpPr/>
          <p:nvPr/>
        </p:nvSpPr>
        <p:spPr>
          <a:xfrm>
            <a:off x="566928" y="585216"/>
            <a:ext cx="9509760" cy="420624"/>
          </a:xfrm>
          <a:prstGeom prst="rect">
            <a:avLst/>
          </a:prstGeom>
          <a:noFill/>
          <a:ln/>
        </p:spPr>
        <p:txBody>
          <a:bodyPr wrap="square" lIns="0" tIns="0" rIns="0" bIns="0" rtlCol="0" anchor="ctr"/>
          <a:lstStyle/>
          <a:p>
            <a:pPr indent="0" marL="0">
              <a:buNone/>
            </a:pPr>
            <a:r>
              <a:rPr lang="en-US" sz="2300" b="1" dirty="0">
                <a:solidFill>
                  <a:srgbClr val="1A1A1A"/>
                </a:solidFill>
                <a:latin typeface="Yu Gothic" pitchFamily="34" charset="0"/>
                <a:ea typeface="Yu Gothic" pitchFamily="34" charset="-122"/>
                <a:cs typeface="Yu Gothic" pitchFamily="34" charset="-120"/>
              </a:rPr>
              <a:t>Cloud Wine Cave for レジデンス居住者</a:t>
            </a:r>
            <a:endParaRPr lang="en-US" sz="2300" dirty="0"/>
          </a:p>
        </p:txBody>
      </p:sp>
      <p:sp>
        <p:nvSpPr>
          <p:cNvPr id="6" name="Text 3"/>
          <p:cNvSpPr/>
          <p:nvPr/>
        </p:nvSpPr>
        <p:spPr>
          <a:xfrm>
            <a:off x="566928" y="1024128"/>
            <a:ext cx="11057839" cy="310896"/>
          </a:xfrm>
          <a:prstGeom prst="rect">
            <a:avLst/>
          </a:prstGeom>
          <a:noFill/>
          <a:ln/>
        </p:spPr>
        <p:txBody>
          <a:bodyPr wrap="square" lIns="0" tIns="0" rIns="0" bIns="0" rtlCol="0" anchor="ctr"/>
          <a:lstStyle/>
          <a:p>
            <a:pPr indent="0" marL="0">
              <a:lnSpc>
                <a:spcPts val="1700"/>
              </a:lnSpc>
              <a:buNone/>
            </a:pPr>
            <a:r>
              <a:rPr lang="en-US" sz="1150" dirty="0">
                <a:solidFill>
                  <a:srgbClr val="6E7378"/>
                </a:solidFill>
                <a:latin typeface="Yu Gothic" pitchFamily="34" charset="0"/>
                <a:ea typeface="Yu Gothic" pitchFamily="34" charset="-122"/>
                <a:cs typeface="Yu Gothic" pitchFamily="34" charset="-120"/>
              </a:rPr>
              <a:t>同じ在庫をヒルズレジデンス居住者にも開放するご提案です。価格は飲食店向け卸値の1.1倍を想定。開放の是非は森ビル様とご相談させてください。</a:t>
            </a:r>
            <a:endParaRPr lang="en-US" sz="1150" dirty="0"/>
          </a:p>
        </p:txBody>
      </p:sp>
      <p:sp>
        <p:nvSpPr>
          <p:cNvPr id="7" name="Shape 4"/>
          <p:cNvSpPr/>
          <p:nvPr/>
        </p:nvSpPr>
        <p:spPr>
          <a:xfrm>
            <a:off x="0" y="6583680"/>
            <a:ext cx="12191695" cy="274320"/>
          </a:xfrm>
          <a:prstGeom prst="rect">
            <a:avLst/>
          </a:prstGeom>
          <a:solidFill>
            <a:srgbClr val="2F3941"/>
          </a:solidFill>
          <a:ln w="12700">
            <a:solidFill>
              <a:srgbClr val="333333"/>
            </a:solidFill>
            <a:prstDash val="solid"/>
          </a:ln>
        </p:spPr>
      </p:sp>
      <p:sp>
        <p:nvSpPr>
          <p:cNvPr id="8" name="Text 5"/>
          <p:cNvSpPr/>
          <p:nvPr/>
        </p:nvSpPr>
        <p:spPr>
          <a:xfrm>
            <a:off x="10893247" y="6272784"/>
            <a:ext cx="731520" cy="256032"/>
          </a:xfrm>
          <a:prstGeom prst="rect">
            <a:avLst/>
          </a:prstGeom>
          <a:noFill/>
          <a:ln/>
        </p:spPr>
        <p:txBody>
          <a:bodyPr wrap="square" lIns="0" tIns="0" rIns="0" bIns="0" rtlCol="0" anchor="ctr"/>
          <a:lstStyle/>
          <a:p>
            <a:pPr algn="r" indent="0" marL="0">
              <a:buNone/>
            </a:pPr>
            <a:r>
              <a:rPr lang="en-US" sz="1000" dirty="0">
                <a:solidFill>
                  <a:srgbClr val="A6ABAF"/>
                </a:solidFill>
                <a:latin typeface="Calibri" pitchFamily="34" charset="0"/>
                <a:ea typeface="Calibri" pitchFamily="34" charset="-122"/>
                <a:cs typeface="Calibri" pitchFamily="34" charset="-120"/>
              </a:rPr>
              <a:t>7</a:t>
            </a:r>
            <a:endParaRPr lang="en-US" sz="1000" dirty="0"/>
          </a:p>
        </p:txBody>
      </p:sp>
      <p:sp>
        <p:nvSpPr>
          <p:cNvPr id="9" name="Text 6"/>
          <p:cNvSpPr/>
          <p:nvPr/>
        </p:nvSpPr>
        <p:spPr>
          <a:xfrm>
            <a:off x="566928" y="6272784"/>
            <a:ext cx="2926080" cy="256032"/>
          </a:xfrm>
          <a:prstGeom prst="rect">
            <a:avLst/>
          </a:prstGeom>
          <a:noFill/>
          <a:ln/>
        </p:spPr>
        <p:txBody>
          <a:bodyPr wrap="square" lIns="0" tIns="0" rIns="0" bIns="0" rtlCol="0" anchor="ctr"/>
          <a:lstStyle/>
          <a:p>
            <a:pPr indent="0" marL="0">
              <a:buNone/>
            </a:pPr>
            <a:r>
              <a:rPr lang="en-US" sz="850" spc="120" kern="0" dirty="0">
                <a:solidFill>
                  <a:srgbClr val="C7CACC"/>
                </a:solidFill>
                <a:latin typeface="Calibri" pitchFamily="34" charset="0"/>
                <a:ea typeface="Calibri" pitchFamily="34" charset="-122"/>
                <a:cs typeface="Calibri" pitchFamily="34" charset="-120"/>
              </a:rPr>
              <a:t>CONFIDENTIAL</a:t>
            </a:r>
            <a:endParaRPr lang="en-US" sz="850" dirty="0"/>
          </a:p>
        </p:txBody>
      </p:sp>
      <p:sp>
        <p:nvSpPr>
          <p:cNvPr id="10" name="Shape 7"/>
          <p:cNvSpPr/>
          <p:nvPr/>
        </p:nvSpPr>
        <p:spPr>
          <a:xfrm>
            <a:off x="566928" y="1463040"/>
            <a:ext cx="5577840" cy="2139696"/>
          </a:xfrm>
          <a:prstGeom prst="roundRect">
            <a:avLst>
              <a:gd name="adj" fmla="val 2137"/>
            </a:avLst>
          </a:prstGeom>
          <a:solidFill>
            <a:srgbClr val="2F3941"/>
          </a:solidFill>
          <a:ln w="12700">
            <a:solidFill>
              <a:srgbClr val="333333"/>
            </a:solidFill>
            <a:prstDash val="solid"/>
          </a:ln>
        </p:spPr>
      </p:sp>
      <p:sp>
        <p:nvSpPr>
          <p:cNvPr id="11" name="Text 8"/>
          <p:cNvSpPr/>
          <p:nvPr/>
        </p:nvSpPr>
        <p:spPr>
          <a:xfrm>
            <a:off x="877824" y="1645920"/>
            <a:ext cx="4937760" cy="329184"/>
          </a:xfrm>
          <a:prstGeom prst="rect">
            <a:avLst/>
          </a:prstGeom>
          <a:noFill/>
          <a:ln/>
        </p:spPr>
        <p:txBody>
          <a:bodyPr wrap="square" lIns="0" tIns="0" rIns="0" bIns="0" rtlCol="0" anchor="ctr"/>
          <a:lstStyle/>
          <a:p>
            <a:pPr indent="0" marL="0">
              <a:buNone/>
            </a:pPr>
            <a:r>
              <a:rPr lang="en-US" sz="1700" b="1" dirty="0">
                <a:solidFill>
                  <a:srgbClr val="EFDCCE"/>
                </a:solidFill>
                <a:latin typeface="Yu Gothic" pitchFamily="34" charset="0"/>
                <a:ea typeface="Yu Gothic" pitchFamily="34" charset="-122"/>
                <a:cs typeface="Yu Gothic" pitchFamily="34" charset="-120"/>
              </a:rPr>
              <a:t>価格設計：卸値 × 1.1〜1.3</a:t>
            </a:r>
            <a:endParaRPr lang="en-US" sz="1700" dirty="0"/>
          </a:p>
        </p:txBody>
      </p:sp>
      <p:sp>
        <p:nvSpPr>
          <p:cNvPr id="12" name="Text 9"/>
          <p:cNvSpPr/>
          <p:nvPr/>
        </p:nvSpPr>
        <p:spPr>
          <a:xfrm>
            <a:off x="877824" y="2048256"/>
            <a:ext cx="4956048" cy="566928"/>
          </a:xfrm>
          <a:prstGeom prst="rect">
            <a:avLst/>
          </a:prstGeom>
          <a:noFill/>
          <a:ln/>
        </p:spPr>
        <p:txBody>
          <a:bodyPr wrap="square" lIns="0" tIns="0" rIns="0" bIns="0" rtlCol="0" anchor="ctr"/>
          <a:lstStyle/>
          <a:p>
            <a:pPr indent="0" marL="0">
              <a:lnSpc>
                <a:spcPts val="1500"/>
              </a:lnSpc>
              <a:buNone/>
            </a:pPr>
            <a:r>
              <a:rPr lang="en-US" sz="1050" dirty="0">
                <a:solidFill>
                  <a:srgbClr val="DDE1E4"/>
                </a:solidFill>
                <a:latin typeface="Yu Gothic" pitchFamily="34" charset="0"/>
                <a:ea typeface="Yu Gothic" pitchFamily="34" charset="-122"/>
                <a:cs typeface="Yu Gothic" pitchFamily="34" charset="-120"/>
              </a:rPr>
              <a:t>テナント飲食店向けの卸値に対し、居住者向けは1.1〜1.3倍。飲食店の仕入価格を必ず下回らせない設計とすることで、テナントとの価格逆転を防ぎます。</a:t>
            </a:r>
            <a:endParaRPr lang="en-US" sz="1050" dirty="0"/>
          </a:p>
        </p:txBody>
      </p:sp>
      <p:sp>
        <p:nvSpPr>
          <p:cNvPr id="13" name="Text 10"/>
          <p:cNvSpPr/>
          <p:nvPr/>
        </p:nvSpPr>
        <p:spPr>
          <a:xfrm>
            <a:off x="877824" y="2706624"/>
            <a:ext cx="2468880" cy="201168"/>
          </a:xfrm>
          <a:prstGeom prst="rect">
            <a:avLst/>
          </a:prstGeom>
          <a:noFill/>
          <a:ln/>
        </p:spPr>
        <p:txBody>
          <a:bodyPr wrap="square" lIns="0" tIns="0" rIns="0" bIns="0" rtlCol="0" anchor="ctr"/>
          <a:lstStyle/>
          <a:p>
            <a:pPr indent="0" marL="0">
              <a:buNone/>
            </a:pPr>
            <a:r>
              <a:rPr lang="en-US" sz="960" dirty="0">
                <a:solidFill>
                  <a:srgbClr val="B9BEC2"/>
                </a:solidFill>
                <a:latin typeface="Yu Gothic" pitchFamily="34" charset="0"/>
                <a:ea typeface="Yu Gothic" pitchFamily="34" charset="-122"/>
                <a:cs typeface="Yu Gothic" pitchFamily="34" charset="-120"/>
              </a:rPr>
              <a:t>テナント飲食店</a:t>
            </a:r>
            <a:endParaRPr lang="en-US" sz="960" dirty="0"/>
          </a:p>
        </p:txBody>
      </p:sp>
      <p:sp>
        <p:nvSpPr>
          <p:cNvPr id="14" name="Text 11"/>
          <p:cNvSpPr/>
          <p:nvPr/>
        </p:nvSpPr>
        <p:spPr>
          <a:xfrm>
            <a:off x="3401568" y="2706624"/>
            <a:ext cx="2432304" cy="201168"/>
          </a:xfrm>
          <a:prstGeom prst="rect">
            <a:avLst/>
          </a:prstGeom>
          <a:noFill/>
          <a:ln/>
        </p:spPr>
        <p:txBody>
          <a:bodyPr wrap="square" lIns="0" tIns="0" rIns="0" bIns="0" rtlCol="0" anchor="ctr"/>
          <a:lstStyle/>
          <a:p>
            <a:pPr indent="0" marL="0">
              <a:buNone/>
            </a:pPr>
            <a:r>
              <a:rPr lang="en-US" sz="960" b="1" dirty="0">
                <a:solidFill>
                  <a:srgbClr val="FFFFFF"/>
                </a:solidFill>
                <a:latin typeface="Yu Gothic" pitchFamily="34" charset="0"/>
                <a:ea typeface="Yu Gothic" pitchFamily="34" charset="-122"/>
                <a:cs typeface="Yu Gothic" pitchFamily="34" charset="-120"/>
              </a:rPr>
              <a:t>卸値</a:t>
            </a:r>
            <a:endParaRPr lang="en-US" sz="960" dirty="0"/>
          </a:p>
        </p:txBody>
      </p:sp>
      <p:sp>
        <p:nvSpPr>
          <p:cNvPr id="15" name="Text 12"/>
          <p:cNvSpPr/>
          <p:nvPr/>
        </p:nvSpPr>
        <p:spPr>
          <a:xfrm>
            <a:off x="877824" y="2926080"/>
            <a:ext cx="2468880" cy="201168"/>
          </a:xfrm>
          <a:prstGeom prst="rect">
            <a:avLst/>
          </a:prstGeom>
          <a:noFill/>
          <a:ln/>
        </p:spPr>
        <p:txBody>
          <a:bodyPr wrap="square" lIns="0" tIns="0" rIns="0" bIns="0" rtlCol="0" anchor="ctr"/>
          <a:lstStyle/>
          <a:p>
            <a:pPr indent="0" marL="0">
              <a:buNone/>
            </a:pPr>
            <a:r>
              <a:rPr lang="en-US" sz="960" dirty="0">
                <a:solidFill>
                  <a:srgbClr val="B9BEC2"/>
                </a:solidFill>
                <a:latin typeface="Yu Gothic" pitchFamily="34" charset="0"/>
                <a:ea typeface="Yu Gothic" pitchFamily="34" charset="-122"/>
                <a:cs typeface="Yu Gothic" pitchFamily="34" charset="-120"/>
              </a:rPr>
              <a:t>レジデンス居住者</a:t>
            </a:r>
            <a:endParaRPr lang="en-US" sz="960" dirty="0"/>
          </a:p>
        </p:txBody>
      </p:sp>
      <p:sp>
        <p:nvSpPr>
          <p:cNvPr id="16" name="Text 13"/>
          <p:cNvSpPr/>
          <p:nvPr/>
        </p:nvSpPr>
        <p:spPr>
          <a:xfrm>
            <a:off x="3401568" y="2926080"/>
            <a:ext cx="2432304" cy="201168"/>
          </a:xfrm>
          <a:prstGeom prst="rect">
            <a:avLst/>
          </a:prstGeom>
          <a:noFill/>
          <a:ln/>
        </p:spPr>
        <p:txBody>
          <a:bodyPr wrap="square" lIns="0" tIns="0" rIns="0" bIns="0" rtlCol="0" anchor="ctr"/>
          <a:lstStyle/>
          <a:p>
            <a:pPr indent="0" marL="0">
              <a:buNone/>
            </a:pPr>
            <a:r>
              <a:rPr lang="en-US" sz="960" b="1" dirty="0">
                <a:solidFill>
                  <a:srgbClr val="C68A65"/>
                </a:solidFill>
                <a:latin typeface="Yu Gothic" pitchFamily="34" charset="0"/>
                <a:ea typeface="Yu Gothic" pitchFamily="34" charset="-122"/>
                <a:cs typeface="Yu Gothic" pitchFamily="34" charset="-120"/>
              </a:rPr>
              <a:t>卸値 × 1.1〜1.3</a:t>
            </a:r>
            <a:endParaRPr lang="en-US" sz="960" dirty="0"/>
          </a:p>
        </p:txBody>
      </p:sp>
      <p:sp>
        <p:nvSpPr>
          <p:cNvPr id="17" name="Text 14"/>
          <p:cNvSpPr/>
          <p:nvPr/>
        </p:nvSpPr>
        <p:spPr>
          <a:xfrm>
            <a:off x="877824" y="3145536"/>
            <a:ext cx="2468880" cy="201168"/>
          </a:xfrm>
          <a:prstGeom prst="rect">
            <a:avLst/>
          </a:prstGeom>
          <a:noFill/>
          <a:ln/>
        </p:spPr>
        <p:txBody>
          <a:bodyPr wrap="square" lIns="0" tIns="0" rIns="0" bIns="0" rtlCol="0" anchor="ctr"/>
          <a:lstStyle/>
          <a:p>
            <a:pPr indent="0" marL="0">
              <a:buNone/>
            </a:pPr>
            <a:r>
              <a:rPr lang="en-US" sz="960" dirty="0">
                <a:solidFill>
                  <a:srgbClr val="B9BEC2"/>
                </a:solidFill>
                <a:latin typeface="Yu Gothic" pitchFamily="34" charset="0"/>
                <a:ea typeface="Yu Gothic" pitchFamily="34" charset="-122"/>
                <a:cs typeface="Yu Gothic" pitchFamily="34" charset="-120"/>
              </a:rPr>
              <a:t>一般のネット最安値</a:t>
            </a:r>
            <a:endParaRPr lang="en-US" sz="960" dirty="0"/>
          </a:p>
        </p:txBody>
      </p:sp>
      <p:sp>
        <p:nvSpPr>
          <p:cNvPr id="18" name="Text 15"/>
          <p:cNvSpPr/>
          <p:nvPr/>
        </p:nvSpPr>
        <p:spPr>
          <a:xfrm>
            <a:off x="3401568" y="3145536"/>
            <a:ext cx="2432304" cy="201168"/>
          </a:xfrm>
          <a:prstGeom prst="rect">
            <a:avLst/>
          </a:prstGeom>
          <a:noFill/>
          <a:ln/>
        </p:spPr>
        <p:txBody>
          <a:bodyPr wrap="square" lIns="0" tIns="0" rIns="0" bIns="0" rtlCol="0" anchor="ctr"/>
          <a:lstStyle/>
          <a:p>
            <a:pPr indent="0" marL="0">
              <a:buNone/>
            </a:pPr>
            <a:r>
              <a:rPr lang="en-US" sz="960" b="1" dirty="0">
                <a:solidFill>
                  <a:srgbClr val="FFFFFF"/>
                </a:solidFill>
                <a:latin typeface="Yu Gothic" pitchFamily="34" charset="0"/>
                <a:ea typeface="Yu Gothic" pitchFamily="34" charset="-122"/>
                <a:cs typeface="Yu Gothic" pitchFamily="34" charset="-120"/>
              </a:rPr>
              <a:t>これを下回る水準</a:t>
            </a:r>
            <a:endParaRPr lang="en-US" sz="960" dirty="0"/>
          </a:p>
        </p:txBody>
      </p:sp>
      <p:sp>
        <p:nvSpPr>
          <p:cNvPr id="19" name="Text 16"/>
          <p:cNvSpPr/>
          <p:nvPr/>
        </p:nvSpPr>
        <p:spPr>
          <a:xfrm>
            <a:off x="877824" y="3364992"/>
            <a:ext cx="2468880" cy="201168"/>
          </a:xfrm>
          <a:prstGeom prst="rect">
            <a:avLst/>
          </a:prstGeom>
          <a:noFill/>
          <a:ln/>
        </p:spPr>
        <p:txBody>
          <a:bodyPr wrap="square" lIns="0" tIns="0" rIns="0" bIns="0" rtlCol="0" anchor="ctr"/>
          <a:lstStyle/>
          <a:p>
            <a:pPr indent="0" marL="0">
              <a:buNone/>
            </a:pPr>
            <a:r>
              <a:rPr lang="en-US" sz="960" dirty="0">
                <a:solidFill>
                  <a:srgbClr val="B9BEC2"/>
                </a:solidFill>
                <a:latin typeface="Yu Gothic" pitchFamily="34" charset="0"/>
                <a:ea typeface="Yu Gothic" pitchFamily="34" charset="-122"/>
                <a:cs typeface="Yu Gothic" pitchFamily="34" charset="-120"/>
              </a:rPr>
              <a:t>レストラン店頭価格</a:t>
            </a:r>
            <a:endParaRPr lang="en-US" sz="960" dirty="0"/>
          </a:p>
        </p:txBody>
      </p:sp>
      <p:sp>
        <p:nvSpPr>
          <p:cNvPr id="20" name="Text 17"/>
          <p:cNvSpPr/>
          <p:nvPr/>
        </p:nvSpPr>
        <p:spPr>
          <a:xfrm>
            <a:off x="3401568" y="3364992"/>
            <a:ext cx="2432304" cy="201168"/>
          </a:xfrm>
          <a:prstGeom prst="rect">
            <a:avLst/>
          </a:prstGeom>
          <a:noFill/>
          <a:ln/>
        </p:spPr>
        <p:txBody>
          <a:bodyPr wrap="square" lIns="0" tIns="0" rIns="0" bIns="0" rtlCol="0" anchor="ctr"/>
          <a:lstStyle/>
          <a:p>
            <a:pPr indent="0" marL="0">
              <a:buNone/>
            </a:pPr>
            <a:r>
              <a:rPr lang="en-US" sz="960" b="1" dirty="0">
                <a:solidFill>
                  <a:srgbClr val="FFFFFF"/>
                </a:solidFill>
                <a:latin typeface="Yu Gothic" pitchFamily="34" charset="0"/>
                <a:ea typeface="Yu Gothic" pitchFamily="34" charset="-122"/>
                <a:cs typeface="Yu Gothic" pitchFamily="34" charset="-120"/>
              </a:rPr>
              <a:t>市価の2〜3倍</a:t>
            </a:r>
            <a:endParaRPr lang="en-US" sz="960" dirty="0"/>
          </a:p>
        </p:txBody>
      </p:sp>
      <p:sp>
        <p:nvSpPr>
          <p:cNvPr id="21" name="Shape 18"/>
          <p:cNvSpPr/>
          <p:nvPr/>
        </p:nvSpPr>
        <p:spPr>
          <a:xfrm>
            <a:off x="6455664" y="1463040"/>
            <a:ext cx="5169103" cy="1005840"/>
          </a:xfrm>
          <a:prstGeom prst="roundRect">
            <a:avLst>
              <a:gd name="adj" fmla="val 4545"/>
            </a:avLst>
          </a:prstGeom>
          <a:solidFill>
            <a:srgbClr val="F6F6F6"/>
          </a:solidFill>
          <a:ln w="12700">
            <a:solidFill>
              <a:srgbClr val="333333"/>
            </a:solidFill>
            <a:prstDash val="solid"/>
          </a:ln>
        </p:spPr>
      </p:sp>
      <p:sp>
        <p:nvSpPr>
          <p:cNvPr id="22" name="Text 19"/>
          <p:cNvSpPr/>
          <p:nvPr/>
        </p:nvSpPr>
        <p:spPr>
          <a:xfrm>
            <a:off x="6729984" y="1554480"/>
            <a:ext cx="4620463" cy="237744"/>
          </a:xfrm>
          <a:prstGeom prst="rect">
            <a:avLst/>
          </a:prstGeom>
          <a:noFill/>
          <a:ln/>
        </p:spPr>
        <p:txBody>
          <a:bodyPr wrap="square" lIns="0" tIns="0" rIns="0" bIns="0" rtlCol="0" anchor="ctr"/>
          <a:lstStyle/>
          <a:p>
            <a:pPr indent="0" marL="0">
              <a:buNone/>
            </a:pPr>
            <a:r>
              <a:rPr lang="en-US" sz="1250" b="1" dirty="0">
                <a:solidFill>
                  <a:srgbClr val="1A1A1A"/>
                </a:solidFill>
                <a:latin typeface="Yu Gothic" pitchFamily="34" charset="0"/>
                <a:ea typeface="Yu Gothic" pitchFamily="34" charset="-122"/>
                <a:cs typeface="Yu Gothic" pitchFamily="34" charset="-120"/>
              </a:rPr>
              <a:t>開放するメリット</a:t>
            </a:r>
            <a:endParaRPr lang="en-US" sz="1250" dirty="0"/>
          </a:p>
        </p:txBody>
      </p:sp>
      <p:sp>
        <p:nvSpPr>
          <p:cNvPr id="23" name="Text 20"/>
          <p:cNvSpPr/>
          <p:nvPr/>
        </p:nvSpPr>
        <p:spPr>
          <a:xfrm>
            <a:off x="6729984" y="1810512"/>
            <a:ext cx="4620463" cy="566928"/>
          </a:xfrm>
          <a:prstGeom prst="rect">
            <a:avLst/>
          </a:prstGeom>
          <a:noFill/>
          <a:ln/>
        </p:spPr>
        <p:txBody>
          <a:bodyPr wrap="square" lIns="0" tIns="0" rIns="0" bIns="0" rtlCol="0" anchor="ctr"/>
          <a:lstStyle/>
          <a:p>
            <a:pPr indent="0" marL="0">
              <a:lnSpc>
                <a:spcPts val="1400"/>
              </a:lnSpc>
              <a:buNone/>
            </a:pPr>
            <a:r>
              <a:rPr lang="en-US" sz="1000" dirty="0">
                <a:solidFill>
                  <a:srgbClr val="1A1A1A"/>
                </a:solidFill>
                <a:latin typeface="Yu Gothic" pitchFamily="34" charset="0"/>
                <a:ea typeface="Yu Gothic" pitchFamily="34" charset="-122"/>
                <a:cs typeface="Yu Gothic" pitchFamily="34" charset="-120"/>
              </a:rPr>
              <a:t>居住者は市中よりはるかに有利な価格で正規品を購入でき、レジデンスの付加価値が明確になる。単価・頻度ともに高く、街区内の流通額を押し上げる。</a:t>
            </a:r>
            <a:endParaRPr lang="en-US" sz="1000" dirty="0"/>
          </a:p>
        </p:txBody>
      </p:sp>
      <p:sp>
        <p:nvSpPr>
          <p:cNvPr id="24" name="Shape 21"/>
          <p:cNvSpPr/>
          <p:nvPr/>
        </p:nvSpPr>
        <p:spPr>
          <a:xfrm>
            <a:off x="6455664" y="2596896"/>
            <a:ext cx="5169103" cy="1005840"/>
          </a:xfrm>
          <a:prstGeom prst="roundRect">
            <a:avLst>
              <a:gd name="adj" fmla="val 4545"/>
            </a:avLst>
          </a:prstGeom>
          <a:solidFill>
            <a:srgbClr val="FFFFFF"/>
          </a:solidFill>
          <a:ln w="12700">
            <a:solidFill>
              <a:srgbClr val="C68A65"/>
            </a:solidFill>
            <a:prstDash val="solid"/>
          </a:ln>
        </p:spPr>
      </p:sp>
      <p:sp>
        <p:nvSpPr>
          <p:cNvPr id="25" name="Text 22"/>
          <p:cNvSpPr/>
          <p:nvPr/>
        </p:nvSpPr>
        <p:spPr>
          <a:xfrm>
            <a:off x="6729984" y="2688336"/>
            <a:ext cx="4620463" cy="237744"/>
          </a:xfrm>
          <a:prstGeom prst="rect">
            <a:avLst/>
          </a:prstGeom>
          <a:noFill/>
          <a:ln/>
        </p:spPr>
        <p:txBody>
          <a:bodyPr wrap="square" lIns="0" tIns="0" rIns="0" bIns="0" rtlCol="0" anchor="ctr"/>
          <a:lstStyle/>
          <a:p>
            <a:pPr indent="0" marL="0">
              <a:buNone/>
            </a:pPr>
            <a:r>
              <a:rPr lang="en-US" sz="1250" b="1" dirty="0">
                <a:solidFill>
                  <a:srgbClr val="A06D4C"/>
                </a:solidFill>
                <a:latin typeface="Yu Gothic" pitchFamily="34" charset="0"/>
                <a:ea typeface="Yu Gothic" pitchFamily="34" charset="-122"/>
                <a:cs typeface="Yu Gothic" pitchFamily="34" charset="-120"/>
              </a:rPr>
              <a:t>留意すべき点</a:t>
            </a:r>
            <a:endParaRPr lang="en-US" sz="1250" dirty="0"/>
          </a:p>
        </p:txBody>
      </p:sp>
      <p:sp>
        <p:nvSpPr>
          <p:cNvPr id="26" name="Text 23"/>
          <p:cNvSpPr/>
          <p:nvPr/>
        </p:nvSpPr>
        <p:spPr>
          <a:xfrm>
            <a:off x="6729984" y="2944368"/>
            <a:ext cx="4620463" cy="566928"/>
          </a:xfrm>
          <a:prstGeom prst="rect">
            <a:avLst/>
          </a:prstGeom>
          <a:noFill/>
          <a:ln/>
        </p:spPr>
        <p:txBody>
          <a:bodyPr wrap="square" lIns="0" tIns="0" rIns="0" bIns="0" rtlCol="0" anchor="ctr"/>
          <a:lstStyle/>
          <a:p>
            <a:pPr indent="0" marL="0">
              <a:lnSpc>
                <a:spcPts val="1400"/>
              </a:lnSpc>
              <a:buNone/>
            </a:pPr>
            <a:r>
              <a:rPr lang="en-US" sz="1000" dirty="0">
                <a:solidFill>
                  <a:srgbClr val="1A1A1A"/>
                </a:solidFill>
                <a:latin typeface="Yu Gothic" pitchFamily="34" charset="0"/>
                <a:ea typeface="Yu Gothic" pitchFamily="34" charset="-122"/>
                <a:cs typeface="Yu Gothic" pitchFamily="34" charset="-120"/>
              </a:rPr>
              <a:t>テナント飲食店から見た「客が安く買えてしまう」感覚への配慮。および一般消費者向け販売としての数量・提供方法の設計。</a:t>
            </a:r>
            <a:endParaRPr lang="en-US" sz="1000" dirty="0"/>
          </a:p>
        </p:txBody>
      </p:sp>
      <p:sp>
        <p:nvSpPr>
          <p:cNvPr id="27" name="Shape 24"/>
          <p:cNvSpPr/>
          <p:nvPr/>
        </p:nvSpPr>
        <p:spPr>
          <a:xfrm>
            <a:off x="566928" y="3803904"/>
            <a:ext cx="11057839" cy="475488"/>
          </a:xfrm>
          <a:prstGeom prst="rect">
            <a:avLst/>
          </a:prstGeom>
          <a:solidFill>
            <a:srgbClr val="2F3941"/>
          </a:solidFill>
          <a:ln w="12700">
            <a:solidFill>
              <a:srgbClr val="333333"/>
            </a:solidFill>
            <a:prstDash val="solid"/>
          </a:ln>
        </p:spPr>
      </p:sp>
      <p:sp>
        <p:nvSpPr>
          <p:cNvPr id="28" name="Text 25"/>
          <p:cNvSpPr/>
          <p:nvPr/>
        </p:nvSpPr>
        <p:spPr>
          <a:xfrm>
            <a:off x="566928" y="3803904"/>
            <a:ext cx="11057839"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当社のご提案：まずはWineBank CLUB会員となった居住者に限定して開放し、テナントへの影響を検証したうえで拡大する。</a:t>
            </a:r>
            <a:endParaRPr lang="en-US" sz="1300" dirty="0"/>
          </a:p>
        </p:txBody>
      </p:sp>
      <p:sp>
        <p:nvSpPr>
          <p:cNvPr id="29" name="Text 26"/>
          <p:cNvSpPr/>
          <p:nvPr/>
        </p:nvSpPr>
        <p:spPr>
          <a:xfrm>
            <a:off x="566928" y="4517136"/>
            <a:ext cx="3657600" cy="274320"/>
          </a:xfrm>
          <a:prstGeom prst="rect">
            <a:avLst/>
          </a:prstGeom>
          <a:noFill/>
          <a:ln/>
        </p:spPr>
        <p:txBody>
          <a:bodyPr wrap="square" lIns="0" tIns="0" rIns="0" bIns="0" rtlCol="0" anchor="ctr"/>
          <a:lstStyle/>
          <a:p>
            <a:pPr indent="0" marL="0">
              <a:buNone/>
            </a:pPr>
            <a:r>
              <a:rPr lang="en-US" sz="1400" b="1" dirty="0">
                <a:solidFill>
                  <a:srgbClr val="1A1A1A"/>
                </a:solidFill>
                <a:latin typeface="Yu Gothic" pitchFamily="34" charset="0"/>
                <a:ea typeface="Yu Gothic" pitchFamily="34" charset="-122"/>
                <a:cs typeface="Yu Gothic" pitchFamily="34" charset="-120"/>
              </a:rPr>
              <a:t>段階開放の設計（案）</a:t>
            </a:r>
            <a:endParaRPr lang="en-US" sz="1400" dirty="0"/>
          </a:p>
        </p:txBody>
      </p:sp>
      <p:sp>
        <p:nvSpPr>
          <p:cNvPr id="30" name="Shape 27"/>
          <p:cNvSpPr/>
          <p:nvPr/>
        </p:nvSpPr>
        <p:spPr>
          <a:xfrm>
            <a:off x="566928" y="4846320"/>
            <a:ext cx="3503066" cy="1243584"/>
          </a:xfrm>
          <a:prstGeom prst="roundRect">
            <a:avLst>
              <a:gd name="adj" fmla="val 3676"/>
            </a:avLst>
          </a:prstGeom>
          <a:solidFill>
            <a:srgbClr val="F6F6F6"/>
          </a:solidFill>
          <a:ln w="12700">
            <a:solidFill>
              <a:srgbClr val="333333"/>
            </a:solidFill>
            <a:prstDash val="solid"/>
          </a:ln>
        </p:spPr>
      </p:sp>
      <p:sp>
        <p:nvSpPr>
          <p:cNvPr id="31" name="Text 28"/>
          <p:cNvSpPr/>
          <p:nvPr/>
        </p:nvSpPr>
        <p:spPr>
          <a:xfrm>
            <a:off x="822960" y="4956048"/>
            <a:ext cx="2991002" cy="219456"/>
          </a:xfrm>
          <a:prstGeom prst="rect">
            <a:avLst/>
          </a:prstGeom>
          <a:noFill/>
          <a:ln/>
        </p:spPr>
        <p:txBody>
          <a:bodyPr wrap="square" lIns="0" tIns="0" rIns="0" bIns="0" rtlCol="0" anchor="ctr"/>
          <a:lstStyle/>
          <a:p>
            <a:pPr indent="0" marL="0">
              <a:buNone/>
            </a:pPr>
            <a:r>
              <a:rPr lang="en-US" sz="1000" b="1" spc="120" kern="0" dirty="0">
                <a:solidFill>
                  <a:srgbClr val="C68A65"/>
                </a:solidFill>
                <a:latin typeface="Calibri" pitchFamily="34" charset="0"/>
                <a:ea typeface="Calibri" pitchFamily="34" charset="-122"/>
                <a:cs typeface="Calibri" pitchFamily="34" charset="-120"/>
              </a:rPr>
              <a:t>STEP 1</a:t>
            </a:r>
            <a:endParaRPr lang="en-US" sz="1000" dirty="0"/>
          </a:p>
        </p:txBody>
      </p:sp>
      <p:sp>
        <p:nvSpPr>
          <p:cNvPr id="32" name="Text 29"/>
          <p:cNvSpPr/>
          <p:nvPr/>
        </p:nvSpPr>
        <p:spPr>
          <a:xfrm>
            <a:off x="822960" y="5193792"/>
            <a:ext cx="2991002" cy="256032"/>
          </a:xfrm>
          <a:prstGeom prst="rect">
            <a:avLst/>
          </a:prstGeom>
          <a:noFill/>
          <a:ln/>
        </p:spPr>
        <p:txBody>
          <a:bodyPr wrap="square" lIns="0" tIns="0" rIns="0" bIns="0" rtlCol="0" anchor="ctr"/>
          <a:lstStyle/>
          <a:p>
            <a:pPr indent="0" marL="0">
              <a:buNone/>
            </a:pPr>
            <a:r>
              <a:rPr lang="en-US" sz="1300" b="1" dirty="0">
                <a:solidFill>
                  <a:srgbClr val="1A1A1A"/>
                </a:solidFill>
                <a:latin typeface="Yu Gothic" pitchFamily="34" charset="0"/>
                <a:ea typeface="Yu Gothic" pitchFamily="34" charset="-122"/>
                <a:cs typeface="Yu Gothic" pitchFamily="34" charset="-120"/>
              </a:rPr>
              <a:t>CLUB会員限定</a:t>
            </a:r>
            <a:endParaRPr lang="en-US" sz="1300" dirty="0"/>
          </a:p>
        </p:txBody>
      </p:sp>
      <p:sp>
        <p:nvSpPr>
          <p:cNvPr id="33" name="Text 30"/>
          <p:cNvSpPr/>
          <p:nvPr/>
        </p:nvSpPr>
        <p:spPr>
          <a:xfrm>
            <a:off x="822960" y="5468112"/>
            <a:ext cx="2991002" cy="512064"/>
          </a:xfrm>
          <a:prstGeom prst="rect">
            <a:avLst/>
          </a:prstGeom>
          <a:noFill/>
          <a:ln/>
        </p:spPr>
        <p:txBody>
          <a:bodyPr wrap="square" lIns="0" tIns="0" rIns="0" bIns="0" rtlCol="0" anchor="ctr"/>
          <a:lstStyle/>
          <a:p>
            <a:pPr indent="0" marL="0">
              <a:lnSpc>
                <a:spcPts val="1300"/>
              </a:lnSpc>
              <a:buNone/>
            </a:pPr>
            <a:r>
              <a:rPr lang="en-US" sz="940" dirty="0">
                <a:solidFill>
                  <a:srgbClr val="6E7378"/>
                </a:solidFill>
                <a:latin typeface="Yu Gothic" pitchFamily="34" charset="0"/>
                <a:ea typeface="Yu Gothic" pitchFamily="34" charset="-122"/>
                <a:cs typeface="Yu Gothic" pitchFamily="34" charset="-120"/>
              </a:rPr>
              <a:t>会員となった居住者のみ。コンシェルジュ経由の注文に限定し、数量上限を設ける。</a:t>
            </a:r>
            <a:endParaRPr lang="en-US" sz="940" dirty="0"/>
          </a:p>
        </p:txBody>
      </p:sp>
      <p:sp>
        <p:nvSpPr>
          <p:cNvPr id="34" name="Shape 31"/>
          <p:cNvSpPr/>
          <p:nvPr/>
        </p:nvSpPr>
        <p:spPr>
          <a:xfrm>
            <a:off x="4344314" y="4846320"/>
            <a:ext cx="3503066" cy="1243584"/>
          </a:xfrm>
          <a:prstGeom prst="roundRect">
            <a:avLst>
              <a:gd name="adj" fmla="val 3676"/>
            </a:avLst>
          </a:prstGeom>
          <a:solidFill>
            <a:srgbClr val="F6F6F6"/>
          </a:solidFill>
          <a:ln w="12700">
            <a:solidFill>
              <a:srgbClr val="333333"/>
            </a:solidFill>
            <a:prstDash val="solid"/>
          </a:ln>
        </p:spPr>
      </p:sp>
      <p:sp>
        <p:nvSpPr>
          <p:cNvPr id="35" name="Text 32"/>
          <p:cNvSpPr/>
          <p:nvPr/>
        </p:nvSpPr>
        <p:spPr>
          <a:xfrm>
            <a:off x="4600346" y="4956048"/>
            <a:ext cx="2991002" cy="219456"/>
          </a:xfrm>
          <a:prstGeom prst="rect">
            <a:avLst/>
          </a:prstGeom>
          <a:noFill/>
          <a:ln/>
        </p:spPr>
        <p:txBody>
          <a:bodyPr wrap="square" lIns="0" tIns="0" rIns="0" bIns="0" rtlCol="0" anchor="ctr"/>
          <a:lstStyle/>
          <a:p>
            <a:pPr indent="0" marL="0">
              <a:buNone/>
            </a:pPr>
            <a:r>
              <a:rPr lang="en-US" sz="1000" b="1" spc="120" kern="0" dirty="0">
                <a:solidFill>
                  <a:srgbClr val="C68A65"/>
                </a:solidFill>
                <a:latin typeface="Calibri" pitchFamily="34" charset="0"/>
                <a:ea typeface="Calibri" pitchFamily="34" charset="-122"/>
                <a:cs typeface="Calibri" pitchFamily="34" charset="-120"/>
              </a:rPr>
              <a:t>STEP 2</a:t>
            </a:r>
            <a:endParaRPr lang="en-US" sz="1000" dirty="0"/>
          </a:p>
        </p:txBody>
      </p:sp>
      <p:sp>
        <p:nvSpPr>
          <p:cNvPr id="36" name="Text 33"/>
          <p:cNvSpPr/>
          <p:nvPr/>
        </p:nvSpPr>
        <p:spPr>
          <a:xfrm>
            <a:off x="4600346" y="5193792"/>
            <a:ext cx="2991002" cy="256032"/>
          </a:xfrm>
          <a:prstGeom prst="rect">
            <a:avLst/>
          </a:prstGeom>
          <a:noFill/>
          <a:ln/>
        </p:spPr>
        <p:txBody>
          <a:bodyPr wrap="square" lIns="0" tIns="0" rIns="0" bIns="0" rtlCol="0" anchor="ctr"/>
          <a:lstStyle/>
          <a:p>
            <a:pPr indent="0" marL="0">
              <a:buNone/>
            </a:pPr>
            <a:r>
              <a:rPr lang="en-US" sz="1300" b="1" dirty="0">
                <a:solidFill>
                  <a:srgbClr val="1A1A1A"/>
                </a:solidFill>
                <a:latin typeface="Yu Gothic" pitchFamily="34" charset="0"/>
                <a:ea typeface="Yu Gothic" pitchFamily="34" charset="-122"/>
                <a:cs typeface="Yu Gothic" pitchFamily="34" charset="-120"/>
              </a:rPr>
              <a:t>全居住者へ</a:t>
            </a:r>
            <a:endParaRPr lang="en-US" sz="1300" dirty="0"/>
          </a:p>
        </p:txBody>
      </p:sp>
      <p:sp>
        <p:nvSpPr>
          <p:cNvPr id="37" name="Text 34"/>
          <p:cNvSpPr/>
          <p:nvPr/>
        </p:nvSpPr>
        <p:spPr>
          <a:xfrm>
            <a:off x="4600346" y="5468112"/>
            <a:ext cx="2991002" cy="512064"/>
          </a:xfrm>
          <a:prstGeom prst="rect">
            <a:avLst/>
          </a:prstGeom>
          <a:noFill/>
          <a:ln/>
        </p:spPr>
        <p:txBody>
          <a:bodyPr wrap="square" lIns="0" tIns="0" rIns="0" bIns="0" rtlCol="0" anchor="ctr"/>
          <a:lstStyle/>
          <a:p>
            <a:pPr indent="0" marL="0">
              <a:lnSpc>
                <a:spcPts val="1300"/>
              </a:lnSpc>
              <a:buNone/>
            </a:pPr>
            <a:r>
              <a:rPr lang="en-US" sz="940" dirty="0">
                <a:solidFill>
                  <a:srgbClr val="6E7378"/>
                </a:solidFill>
                <a:latin typeface="Yu Gothic" pitchFamily="34" charset="0"/>
                <a:ea typeface="Yu Gothic" pitchFamily="34" charset="-122"/>
                <a:cs typeface="Yu Gothic" pitchFamily="34" charset="-120"/>
              </a:rPr>
              <a:t>テナント飲食店への影響を検証したうえで、レジデンス全体へ案内を拡大。</a:t>
            </a:r>
            <a:endParaRPr lang="en-US" sz="940" dirty="0"/>
          </a:p>
        </p:txBody>
      </p:sp>
      <p:sp>
        <p:nvSpPr>
          <p:cNvPr id="38" name="Shape 35"/>
          <p:cNvSpPr/>
          <p:nvPr/>
        </p:nvSpPr>
        <p:spPr>
          <a:xfrm>
            <a:off x="8121701" y="4846320"/>
            <a:ext cx="3503066" cy="1243584"/>
          </a:xfrm>
          <a:prstGeom prst="roundRect">
            <a:avLst>
              <a:gd name="adj" fmla="val 3676"/>
            </a:avLst>
          </a:prstGeom>
          <a:solidFill>
            <a:srgbClr val="F6F6F6"/>
          </a:solidFill>
          <a:ln w="12700">
            <a:solidFill>
              <a:srgbClr val="333333"/>
            </a:solidFill>
            <a:prstDash val="solid"/>
          </a:ln>
        </p:spPr>
      </p:sp>
      <p:sp>
        <p:nvSpPr>
          <p:cNvPr id="39" name="Text 36"/>
          <p:cNvSpPr/>
          <p:nvPr/>
        </p:nvSpPr>
        <p:spPr>
          <a:xfrm>
            <a:off x="8377733" y="4956048"/>
            <a:ext cx="2991002" cy="219456"/>
          </a:xfrm>
          <a:prstGeom prst="rect">
            <a:avLst/>
          </a:prstGeom>
          <a:noFill/>
          <a:ln/>
        </p:spPr>
        <p:txBody>
          <a:bodyPr wrap="square" lIns="0" tIns="0" rIns="0" bIns="0" rtlCol="0" anchor="ctr"/>
          <a:lstStyle/>
          <a:p>
            <a:pPr indent="0" marL="0">
              <a:buNone/>
            </a:pPr>
            <a:r>
              <a:rPr lang="en-US" sz="1000" b="1" spc="120" kern="0" dirty="0">
                <a:solidFill>
                  <a:srgbClr val="C68A65"/>
                </a:solidFill>
                <a:latin typeface="Calibri" pitchFamily="34" charset="0"/>
                <a:ea typeface="Calibri" pitchFamily="34" charset="-122"/>
                <a:cs typeface="Calibri" pitchFamily="34" charset="-120"/>
              </a:rPr>
              <a:t>STEP 3</a:t>
            </a:r>
            <a:endParaRPr lang="en-US" sz="1000" dirty="0"/>
          </a:p>
        </p:txBody>
      </p:sp>
      <p:sp>
        <p:nvSpPr>
          <p:cNvPr id="40" name="Text 37"/>
          <p:cNvSpPr/>
          <p:nvPr/>
        </p:nvSpPr>
        <p:spPr>
          <a:xfrm>
            <a:off x="8377733" y="5193792"/>
            <a:ext cx="2991002" cy="256032"/>
          </a:xfrm>
          <a:prstGeom prst="rect">
            <a:avLst/>
          </a:prstGeom>
          <a:noFill/>
          <a:ln/>
        </p:spPr>
        <p:txBody>
          <a:bodyPr wrap="square" lIns="0" tIns="0" rIns="0" bIns="0" rtlCol="0" anchor="ctr"/>
          <a:lstStyle/>
          <a:p>
            <a:pPr indent="0" marL="0">
              <a:buNone/>
            </a:pPr>
            <a:r>
              <a:rPr lang="en-US" sz="1300" b="1" dirty="0">
                <a:solidFill>
                  <a:srgbClr val="1A1A1A"/>
                </a:solidFill>
                <a:latin typeface="Yu Gothic" pitchFamily="34" charset="0"/>
                <a:ea typeface="Yu Gothic" pitchFamily="34" charset="-122"/>
                <a:cs typeface="Yu Gothic" pitchFamily="34" charset="-120"/>
              </a:rPr>
              <a:t>贈答・催事へ</a:t>
            </a:r>
            <a:endParaRPr lang="en-US" sz="1300" dirty="0"/>
          </a:p>
        </p:txBody>
      </p:sp>
      <p:sp>
        <p:nvSpPr>
          <p:cNvPr id="41" name="Text 38"/>
          <p:cNvSpPr/>
          <p:nvPr/>
        </p:nvSpPr>
        <p:spPr>
          <a:xfrm>
            <a:off x="8377733" y="5468112"/>
            <a:ext cx="2991002" cy="512064"/>
          </a:xfrm>
          <a:prstGeom prst="rect">
            <a:avLst/>
          </a:prstGeom>
          <a:noFill/>
          <a:ln/>
        </p:spPr>
        <p:txBody>
          <a:bodyPr wrap="square" lIns="0" tIns="0" rIns="0" bIns="0" rtlCol="0" anchor="ctr"/>
          <a:lstStyle/>
          <a:p>
            <a:pPr indent="0" marL="0">
              <a:lnSpc>
                <a:spcPts val="1300"/>
              </a:lnSpc>
              <a:buNone/>
            </a:pPr>
            <a:r>
              <a:rPr lang="en-US" sz="940" dirty="0">
                <a:solidFill>
                  <a:srgbClr val="6E7378"/>
                </a:solidFill>
                <a:latin typeface="Yu Gothic" pitchFamily="34" charset="0"/>
                <a:ea typeface="Yu Gothic" pitchFamily="34" charset="-122"/>
                <a:cs typeface="Yu Gothic" pitchFamily="34" charset="-120"/>
              </a:rPr>
              <a:t>お中元・お歳暮、ホームパーティ、館内イベント向けの一括手配まで拡張。</a:t>
            </a:r>
            <a:endParaRPr lang="en-US" sz="94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381183" y="292608"/>
            <a:ext cx="1243584" cy="247802"/>
          </a:xfrm>
          <a:prstGeom prst="rect">
            <a:avLst/>
          </a:prstGeom>
        </p:spPr>
      </p:pic>
      <p:sp>
        <p:nvSpPr>
          <p:cNvPr id="3" name="Shape 0"/>
          <p:cNvSpPr/>
          <p:nvPr/>
        </p:nvSpPr>
        <p:spPr>
          <a:xfrm>
            <a:off x="566928" y="292608"/>
            <a:ext cx="1115568" cy="237744"/>
          </a:xfrm>
          <a:prstGeom prst="roundRect">
            <a:avLst>
              <a:gd name="adj" fmla="val 11538"/>
            </a:avLst>
          </a:prstGeom>
          <a:solidFill>
            <a:srgbClr val="C68A65"/>
          </a:solidFill>
          <a:ln w="12700">
            <a:solidFill>
              <a:srgbClr val="333333"/>
            </a:solidFill>
            <a:prstDash val="solid"/>
          </a:ln>
        </p:spPr>
      </p:sp>
      <p:sp>
        <p:nvSpPr>
          <p:cNvPr id="4" name="Text 1"/>
          <p:cNvSpPr/>
          <p:nvPr/>
        </p:nvSpPr>
        <p:spPr>
          <a:xfrm>
            <a:off x="566928" y="292608"/>
            <a:ext cx="1115568"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Yu Gothic" pitchFamily="34" charset="0"/>
                <a:ea typeface="Yu Gothic" pitchFamily="34" charset="-122"/>
                <a:cs typeface="Yu Gothic" pitchFamily="34" charset="-120"/>
              </a:rPr>
              <a:t>PROGRAM 02</a:t>
            </a:r>
            <a:endParaRPr lang="en-US" sz="850" dirty="0"/>
          </a:p>
        </p:txBody>
      </p:sp>
      <p:sp>
        <p:nvSpPr>
          <p:cNvPr id="5" name="Text 2"/>
          <p:cNvSpPr/>
          <p:nvPr/>
        </p:nvSpPr>
        <p:spPr>
          <a:xfrm>
            <a:off x="566928" y="585216"/>
            <a:ext cx="9509760" cy="420624"/>
          </a:xfrm>
          <a:prstGeom prst="rect">
            <a:avLst/>
          </a:prstGeom>
          <a:noFill/>
          <a:ln/>
        </p:spPr>
        <p:txBody>
          <a:bodyPr wrap="square" lIns="0" tIns="0" rIns="0" bIns="0" rtlCol="0" anchor="ctr"/>
          <a:lstStyle/>
          <a:p>
            <a:pPr indent="0" marL="0">
              <a:buNone/>
            </a:pPr>
            <a:r>
              <a:rPr lang="en-US" sz="2300" b="1" dirty="0">
                <a:solidFill>
                  <a:srgbClr val="1A1A1A"/>
                </a:solidFill>
                <a:latin typeface="Yu Gothic" pitchFamily="34" charset="0"/>
                <a:ea typeface="Yu Gothic" pitchFamily="34" charset="-122"/>
                <a:cs typeface="Yu Gothic" pitchFamily="34" charset="-120"/>
              </a:rPr>
              <a:t>WineGO ヒルズ・デリバリー</a:t>
            </a:r>
            <a:endParaRPr lang="en-US" sz="2300" dirty="0"/>
          </a:p>
        </p:txBody>
      </p:sp>
      <p:sp>
        <p:nvSpPr>
          <p:cNvPr id="6" name="Text 3"/>
          <p:cNvSpPr/>
          <p:nvPr/>
        </p:nvSpPr>
        <p:spPr>
          <a:xfrm>
            <a:off x="566928" y="1024128"/>
            <a:ext cx="11057839" cy="310896"/>
          </a:xfrm>
          <a:prstGeom prst="rect">
            <a:avLst/>
          </a:prstGeom>
          <a:noFill/>
          <a:ln/>
        </p:spPr>
        <p:txBody>
          <a:bodyPr wrap="square" lIns="0" tIns="0" rIns="0" bIns="0" rtlCol="0" anchor="ctr"/>
          <a:lstStyle/>
          <a:p>
            <a:pPr indent="0" marL="0">
              <a:lnSpc>
                <a:spcPts val="1700"/>
              </a:lnSpc>
              <a:buNone/>
            </a:pPr>
            <a:r>
              <a:rPr lang="en-US" sz="1150" dirty="0">
                <a:solidFill>
                  <a:srgbClr val="6E7378"/>
                </a:solidFill>
                <a:latin typeface="Yu Gothic" pitchFamily="34" charset="0"/>
                <a:ea typeface="Yu Gothic" pitchFamily="34" charset="-122"/>
                <a:cs typeface="Yu Gothic" pitchFamily="34" charset="-120"/>
              </a:rPr>
              <a:t>Cloud Wine Caveを成立させるのは、街区内の定温ラストワンマイルです。「今すぐ」に応えられなければ、共有セラーは機能しません。</a:t>
            </a:r>
            <a:endParaRPr lang="en-US" sz="1150" dirty="0"/>
          </a:p>
        </p:txBody>
      </p:sp>
      <p:sp>
        <p:nvSpPr>
          <p:cNvPr id="7" name="Shape 4"/>
          <p:cNvSpPr/>
          <p:nvPr/>
        </p:nvSpPr>
        <p:spPr>
          <a:xfrm>
            <a:off x="0" y="6583680"/>
            <a:ext cx="12191695" cy="274320"/>
          </a:xfrm>
          <a:prstGeom prst="rect">
            <a:avLst/>
          </a:prstGeom>
          <a:solidFill>
            <a:srgbClr val="2F3941"/>
          </a:solidFill>
          <a:ln w="12700">
            <a:solidFill>
              <a:srgbClr val="333333"/>
            </a:solidFill>
            <a:prstDash val="solid"/>
          </a:ln>
        </p:spPr>
      </p:sp>
      <p:sp>
        <p:nvSpPr>
          <p:cNvPr id="8" name="Text 5"/>
          <p:cNvSpPr/>
          <p:nvPr/>
        </p:nvSpPr>
        <p:spPr>
          <a:xfrm>
            <a:off x="10893247" y="6272784"/>
            <a:ext cx="731520" cy="256032"/>
          </a:xfrm>
          <a:prstGeom prst="rect">
            <a:avLst/>
          </a:prstGeom>
          <a:noFill/>
          <a:ln/>
        </p:spPr>
        <p:txBody>
          <a:bodyPr wrap="square" lIns="0" tIns="0" rIns="0" bIns="0" rtlCol="0" anchor="ctr"/>
          <a:lstStyle/>
          <a:p>
            <a:pPr algn="r" indent="0" marL="0">
              <a:buNone/>
            </a:pPr>
            <a:r>
              <a:rPr lang="en-US" sz="1000" dirty="0">
                <a:solidFill>
                  <a:srgbClr val="A6ABAF"/>
                </a:solidFill>
                <a:latin typeface="Calibri" pitchFamily="34" charset="0"/>
                <a:ea typeface="Calibri" pitchFamily="34" charset="-122"/>
                <a:cs typeface="Calibri" pitchFamily="34" charset="-120"/>
              </a:rPr>
              <a:t>8</a:t>
            </a:r>
            <a:endParaRPr lang="en-US" sz="1000" dirty="0"/>
          </a:p>
        </p:txBody>
      </p:sp>
      <p:sp>
        <p:nvSpPr>
          <p:cNvPr id="9" name="Text 6"/>
          <p:cNvSpPr/>
          <p:nvPr/>
        </p:nvSpPr>
        <p:spPr>
          <a:xfrm>
            <a:off x="566928" y="6272784"/>
            <a:ext cx="2926080" cy="256032"/>
          </a:xfrm>
          <a:prstGeom prst="rect">
            <a:avLst/>
          </a:prstGeom>
          <a:noFill/>
          <a:ln/>
        </p:spPr>
        <p:txBody>
          <a:bodyPr wrap="square" lIns="0" tIns="0" rIns="0" bIns="0" rtlCol="0" anchor="ctr"/>
          <a:lstStyle/>
          <a:p>
            <a:pPr indent="0" marL="0">
              <a:buNone/>
            </a:pPr>
            <a:r>
              <a:rPr lang="en-US" sz="850" spc="120" kern="0" dirty="0">
                <a:solidFill>
                  <a:srgbClr val="C7CACC"/>
                </a:solidFill>
                <a:latin typeface="Calibri" pitchFamily="34" charset="0"/>
                <a:ea typeface="Calibri" pitchFamily="34" charset="-122"/>
                <a:cs typeface="Calibri" pitchFamily="34" charset="-120"/>
              </a:rPr>
              <a:t>CONFIDENTIAL</a:t>
            </a:r>
            <a:endParaRPr lang="en-US" sz="850" dirty="0"/>
          </a:p>
        </p:txBody>
      </p:sp>
      <p:sp>
        <p:nvSpPr>
          <p:cNvPr id="10" name="Shape 7"/>
          <p:cNvSpPr/>
          <p:nvPr/>
        </p:nvSpPr>
        <p:spPr>
          <a:xfrm>
            <a:off x="566928" y="1463040"/>
            <a:ext cx="3108960" cy="1755648"/>
          </a:xfrm>
          <a:prstGeom prst="roundRect">
            <a:avLst>
              <a:gd name="adj" fmla="val 2604"/>
            </a:avLst>
          </a:prstGeom>
          <a:solidFill>
            <a:srgbClr val="F6F6F6"/>
          </a:solidFill>
          <a:ln w="12700">
            <a:solidFill>
              <a:srgbClr val="333333"/>
            </a:solidFill>
            <a:prstDash val="solid"/>
          </a:ln>
        </p:spPr>
      </p:sp>
      <p:sp>
        <p:nvSpPr>
          <p:cNvPr id="11" name="Text 8"/>
          <p:cNvSpPr/>
          <p:nvPr/>
        </p:nvSpPr>
        <p:spPr>
          <a:xfrm>
            <a:off x="822960" y="1609344"/>
            <a:ext cx="2596896" cy="274320"/>
          </a:xfrm>
          <a:prstGeom prst="rect">
            <a:avLst/>
          </a:prstGeom>
          <a:noFill/>
          <a:ln/>
        </p:spPr>
        <p:txBody>
          <a:bodyPr wrap="square" lIns="0" tIns="0" rIns="0" bIns="0" rtlCol="0" anchor="ctr"/>
          <a:lstStyle/>
          <a:p>
            <a:pPr indent="0" marL="0">
              <a:buNone/>
            </a:pPr>
            <a:r>
              <a:rPr lang="en-US" sz="1400" b="1" dirty="0">
                <a:solidFill>
                  <a:srgbClr val="6E7378"/>
                </a:solidFill>
                <a:latin typeface="Yu Gothic" pitchFamily="34" charset="0"/>
                <a:ea typeface="Yu Gothic" pitchFamily="34" charset="-122"/>
                <a:cs typeface="Yu Gothic" pitchFamily="34" charset="-120"/>
              </a:rPr>
              <a:t>一般的な酒類配送</a:t>
            </a:r>
            <a:endParaRPr lang="en-US" sz="1400" dirty="0"/>
          </a:p>
        </p:txBody>
      </p:sp>
      <p:sp>
        <p:nvSpPr>
          <p:cNvPr id="12" name="Text 9"/>
          <p:cNvSpPr/>
          <p:nvPr/>
        </p:nvSpPr>
        <p:spPr>
          <a:xfrm>
            <a:off x="822960" y="1956816"/>
            <a:ext cx="2596896" cy="1097280"/>
          </a:xfrm>
          <a:prstGeom prst="rect">
            <a:avLst/>
          </a:prstGeom>
          <a:noFill/>
          <a:ln/>
        </p:spPr>
        <p:txBody>
          <a:bodyPr wrap="square" lIns="0" tIns="0" rIns="0" bIns="0" rtlCol="0" anchor="ctr"/>
          <a:lstStyle/>
          <a:p>
            <a:pPr marL="342900" indent="-342900">
              <a:lnSpc>
                <a:spcPts val="1450"/>
              </a:lnSpc>
              <a:spcAft>
                <a:spcPts val="500"/>
              </a:spcAft>
              <a:buSzPct val="100000"/>
              <a:buChar char="▪"/>
            </a:pPr>
            <a:r>
              <a:rPr lang="en-US" sz="1020" dirty="0">
                <a:solidFill>
                  <a:srgbClr val="1A1A1A"/>
                </a:solidFill>
                <a:latin typeface="Yu Gothic" pitchFamily="34" charset="0"/>
                <a:ea typeface="Yu Gothic" pitchFamily="34" charset="-122"/>
                <a:cs typeface="Yu Gothic" pitchFamily="34" charset="-120"/>
              </a:rPr>
              <a:t>最短60分〜／常温配送</a:t>
            </a:r>
            <a:endParaRPr lang="en-US" sz="1020" dirty="0"/>
          </a:p>
          <a:p>
            <a:pPr marL="342900" indent="-342900">
              <a:lnSpc>
                <a:spcPts val="1450"/>
              </a:lnSpc>
              <a:spcAft>
                <a:spcPts val="500"/>
              </a:spcAft>
              <a:buSzPct val="100000"/>
              <a:buChar char="▪"/>
            </a:pPr>
            <a:r>
              <a:rPr lang="en-US" sz="1020" dirty="0">
                <a:solidFill>
                  <a:srgbClr val="1A1A1A"/>
                </a:solidFill>
                <a:latin typeface="Yu Gothic" pitchFamily="34" charset="0"/>
                <a:ea typeface="Yu Gothic" pitchFamily="34" charset="-122"/>
                <a:cs typeface="Yu Gothic" pitchFamily="34" charset="-120"/>
              </a:rPr>
              <a:t>希少銘柄の取扱いなし</a:t>
            </a:r>
            <a:endParaRPr lang="en-US" sz="1020" dirty="0"/>
          </a:p>
          <a:p>
            <a:pPr marL="342900" indent="-342900">
              <a:lnSpc>
                <a:spcPts val="1450"/>
              </a:lnSpc>
              <a:spcAft>
                <a:spcPts val="500"/>
              </a:spcAft>
              <a:buSzPct val="100000"/>
              <a:buChar char="▪"/>
            </a:pPr>
            <a:r>
              <a:rPr lang="en-US" sz="1020" dirty="0">
                <a:solidFill>
                  <a:srgbClr val="1A1A1A"/>
                </a:solidFill>
                <a:latin typeface="Yu Gothic" pitchFamily="34" charset="0"/>
                <a:ea typeface="Yu Gothic" pitchFamily="34" charset="-122"/>
                <a:cs typeface="Yu Gothic" pitchFamily="34" charset="-120"/>
              </a:rPr>
              <a:t>夜間・突発の依頼に弱い</a:t>
            </a:r>
            <a:endParaRPr lang="en-US" sz="1020" dirty="0"/>
          </a:p>
        </p:txBody>
      </p:sp>
      <p:sp>
        <p:nvSpPr>
          <p:cNvPr id="13" name="Shape 10"/>
          <p:cNvSpPr/>
          <p:nvPr/>
        </p:nvSpPr>
        <p:spPr>
          <a:xfrm>
            <a:off x="3950208" y="1463040"/>
            <a:ext cx="3108960" cy="1755648"/>
          </a:xfrm>
          <a:prstGeom prst="roundRect">
            <a:avLst>
              <a:gd name="adj" fmla="val 2604"/>
            </a:avLst>
          </a:prstGeom>
          <a:solidFill>
            <a:srgbClr val="2F3941"/>
          </a:solidFill>
          <a:ln w="12700">
            <a:solidFill>
              <a:srgbClr val="333333"/>
            </a:solidFill>
            <a:prstDash val="solid"/>
          </a:ln>
        </p:spPr>
      </p:sp>
      <p:sp>
        <p:nvSpPr>
          <p:cNvPr id="14" name="Text 11"/>
          <p:cNvSpPr/>
          <p:nvPr/>
        </p:nvSpPr>
        <p:spPr>
          <a:xfrm>
            <a:off x="4206240" y="1609344"/>
            <a:ext cx="2596896" cy="274320"/>
          </a:xfrm>
          <a:prstGeom prst="rect">
            <a:avLst/>
          </a:prstGeom>
          <a:noFill/>
          <a:ln/>
        </p:spPr>
        <p:txBody>
          <a:bodyPr wrap="square" lIns="0" tIns="0" rIns="0" bIns="0" rtlCol="0" anchor="ctr"/>
          <a:lstStyle/>
          <a:p>
            <a:pPr indent="0" marL="0">
              <a:buNone/>
            </a:pPr>
            <a:r>
              <a:rPr lang="en-US" sz="1400" b="1" dirty="0">
                <a:solidFill>
                  <a:srgbClr val="EFDCCE"/>
                </a:solidFill>
                <a:latin typeface="Yu Gothic" pitchFamily="34" charset="0"/>
                <a:ea typeface="Yu Gothic" pitchFamily="34" charset="-122"/>
                <a:cs typeface="Yu Gothic" pitchFamily="34" charset="-120"/>
              </a:rPr>
              <a:t>WineGO</a:t>
            </a:r>
            <a:endParaRPr lang="en-US" sz="1400" dirty="0"/>
          </a:p>
        </p:txBody>
      </p:sp>
      <p:sp>
        <p:nvSpPr>
          <p:cNvPr id="15" name="Text 12"/>
          <p:cNvSpPr/>
          <p:nvPr/>
        </p:nvSpPr>
        <p:spPr>
          <a:xfrm>
            <a:off x="4206240" y="1956816"/>
            <a:ext cx="2596896" cy="1097280"/>
          </a:xfrm>
          <a:prstGeom prst="rect">
            <a:avLst/>
          </a:prstGeom>
          <a:noFill/>
          <a:ln/>
        </p:spPr>
        <p:txBody>
          <a:bodyPr wrap="square" lIns="0" tIns="0" rIns="0" bIns="0" rtlCol="0" anchor="ctr"/>
          <a:lstStyle/>
          <a:p>
            <a:pPr marL="342900" indent="-342900">
              <a:lnSpc>
                <a:spcPts val="1450"/>
              </a:lnSpc>
              <a:spcAft>
                <a:spcPts val="500"/>
              </a:spcAft>
              <a:buSzPct val="100000"/>
              <a:buChar char="▪"/>
            </a:pPr>
            <a:r>
              <a:rPr lang="en-US" sz="1020" dirty="0">
                <a:solidFill>
                  <a:srgbClr val="E3E6E8"/>
                </a:solidFill>
                <a:latin typeface="Yu Gothic" pitchFamily="34" charset="0"/>
                <a:ea typeface="Yu Gothic" pitchFamily="34" charset="-122"/>
                <a:cs typeface="Yu Gothic" pitchFamily="34" charset="-120"/>
              </a:rPr>
              <a:t>街区内ターミナルから最短5分</a:t>
            </a:r>
            <a:endParaRPr lang="en-US" sz="1020" dirty="0"/>
          </a:p>
          <a:p>
            <a:pPr marL="342900" indent="-342900">
              <a:lnSpc>
                <a:spcPts val="1450"/>
              </a:lnSpc>
              <a:spcAft>
                <a:spcPts val="500"/>
              </a:spcAft>
              <a:buSzPct val="100000"/>
              <a:buChar char="▪"/>
            </a:pPr>
            <a:r>
              <a:rPr lang="en-US" sz="1020" dirty="0">
                <a:solidFill>
                  <a:srgbClr val="E3E6E8"/>
                </a:solidFill>
                <a:latin typeface="Yu Gothic" pitchFamily="34" charset="0"/>
                <a:ea typeface="Yu Gothic" pitchFamily="34" charset="-122"/>
                <a:cs typeface="Yu Gothic" pitchFamily="34" charset="-120"/>
              </a:rPr>
              <a:t>10〜15℃の定温ラストワンマイル</a:t>
            </a:r>
            <a:endParaRPr lang="en-US" sz="1020" dirty="0"/>
          </a:p>
          <a:p>
            <a:pPr marL="342900" indent="-342900">
              <a:lnSpc>
                <a:spcPts val="1450"/>
              </a:lnSpc>
              <a:spcAft>
                <a:spcPts val="500"/>
              </a:spcAft>
              <a:buSzPct val="100000"/>
              <a:buChar char="▪"/>
            </a:pPr>
            <a:r>
              <a:rPr lang="en-US" sz="1020" dirty="0">
                <a:solidFill>
                  <a:srgbClr val="E3E6E8"/>
                </a:solidFill>
                <a:latin typeface="Yu Gothic" pitchFamily="34" charset="0"/>
                <a:ea typeface="Yu Gothic" pitchFamily="34" charset="-122"/>
                <a:cs typeface="Yu Gothic" pitchFamily="34" charset="-120"/>
              </a:rPr>
              <a:t>希少ヴィンテージ・高級シャンパンを常時</a:t>
            </a:r>
            <a:endParaRPr lang="en-US" sz="1020" dirty="0"/>
          </a:p>
        </p:txBody>
      </p:sp>
      <p:sp>
        <p:nvSpPr>
          <p:cNvPr id="16" name="Shape 13"/>
          <p:cNvSpPr/>
          <p:nvPr/>
        </p:nvSpPr>
        <p:spPr>
          <a:xfrm>
            <a:off x="7333488" y="1463040"/>
            <a:ext cx="4291279" cy="3785616"/>
          </a:xfrm>
          <a:prstGeom prst="roundRect">
            <a:avLst>
              <a:gd name="adj" fmla="val 1208"/>
            </a:avLst>
          </a:prstGeom>
          <a:solidFill>
            <a:srgbClr val="F6F6F6"/>
          </a:solidFill>
          <a:ln w="12700">
            <a:solidFill>
              <a:srgbClr val="333333"/>
            </a:solidFill>
            <a:prstDash val="solid"/>
          </a:ln>
        </p:spPr>
      </p:sp>
      <p:sp>
        <p:nvSpPr>
          <p:cNvPr id="17" name="Text 14"/>
          <p:cNvSpPr/>
          <p:nvPr/>
        </p:nvSpPr>
        <p:spPr>
          <a:xfrm>
            <a:off x="7626096" y="1627632"/>
            <a:ext cx="3706063" cy="274320"/>
          </a:xfrm>
          <a:prstGeom prst="rect">
            <a:avLst/>
          </a:prstGeom>
          <a:noFill/>
          <a:ln/>
        </p:spPr>
        <p:txBody>
          <a:bodyPr wrap="square" lIns="0" tIns="0" rIns="0" bIns="0" rtlCol="0" anchor="ctr"/>
          <a:lstStyle/>
          <a:p>
            <a:pPr indent="0" marL="0">
              <a:buNone/>
            </a:pPr>
            <a:r>
              <a:rPr lang="en-US" sz="1500" b="1" dirty="0">
                <a:solidFill>
                  <a:srgbClr val="1A1A1A"/>
                </a:solidFill>
                <a:latin typeface="Yu Gothic" pitchFamily="34" charset="0"/>
                <a:ea typeface="Yu Gothic" pitchFamily="34" charset="-122"/>
                <a:cs typeface="Yu Gothic" pitchFamily="34" charset="-120"/>
              </a:rPr>
              <a:t>ヒルズでの4つの使い方</a:t>
            </a:r>
            <a:endParaRPr lang="en-US" sz="1500" dirty="0"/>
          </a:p>
        </p:txBody>
      </p:sp>
      <p:sp>
        <p:nvSpPr>
          <p:cNvPr id="18" name="Shape 15"/>
          <p:cNvSpPr/>
          <p:nvPr/>
        </p:nvSpPr>
        <p:spPr>
          <a:xfrm>
            <a:off x="7644384" y="2066544"/>
            <a:ext cx="365760" cy="365760"/>
          </a:xfrm>
          <a:prstGeom prst="ellipse">
            <a:avLst/>
          </a:prstGeom>
          <a:solidFill>
            <a:srgbClr val="C68A65"/>
          </a:solidFill>
          <a:ln w="12700">
            <a:solidFill>
              <a:srgbClr val="333333"/>
            </a:solidFill>
            <a:prstDash val="solid"/>
          </a:ln>
        </p:spPr>
      </p:sp>
      <p:sp>
        <p:nvSpPr>
          <p:cNvPr id="19" name="Text 16"/>
          <p:cNvSpPr/>
          <p:nvPr/>
        </p:nvSpPr>
        <p:spPr>
          <a:xfrm>
            <a:off x="7644384" y="2066544"/>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0" name="Text 17"/>
          <p:cNvSpPr/>
          <p:nvPr/>
        </p:nvSpPr>
        <p:spPr>
          <a:xfrm>
            <a:off x="8119872" y="2048256"/>
            <a:ext cx="3212287" cy="237744"/>
          </a:xfrm>
          <a:prstGeom prst="rect">
            <a:avLst/>
          </a:prstGeom>
          <a:noFill/>
          <a:ln/>
        </p:spPr>
        <p:txBody>
          <a:bodyPr wrap="square" lIns="0" tIns="0" rIns="0" bIns="0" rtlCol="0" anchor="ctr"/>
          <a:lstStyle/>
          <a:p>
            <a:pPr indent="0" marL="0">
              <a:buNone/>
            </a:pPr>
            <a:r>
              <a:rPr lang="en-US" sz="1250" b="1" dirty="0">
                <a:solidFill>
                  <a:srgbClr val="1A1A1A"/>
                </a:solidFill>
                <a:latin typeface="Yu Gothic" pitchFamily="34" charset="0"/>
                <a:ea typeface="Yu Gothic" pitchFamily="34" charset="-122"/>
                <a:cs typeface="Yu Gothic" pitchFamily="34" charset="-120"/>
              </a:rPr>
              <a:t>店舗への即時補充</a:t>
            </a:r>
            <a:endParaRPr lang="en-US" sz="1250" dirty="0"/>
          </a:p>
        </p:txBody>
      </p:sp>
      <p:sp>
        <p:nvSpPr>
          <p:cNvPr id="21" name="Text 18"/>
          <p:cNvSpPr/>
          <p:nvPr/>
        </p:nvSpPr>
        <p:spPr>
          <a:xfrm>
            <a:off x="8119872" y="2286000"/>
            <a:ext cx="3212287" cy="420624"/>
          </a:xfrm>
          <a:prstGeom prst="rect">
            <a:avLst/>
          </a:prstGeom>
          <a:noFill/>
          <a:ln/>
        </p:spPr>
        <p:txBody>
          <a:bodyPr wrap="square" lIns="0" tIns="0" rIns="0" bIns="0" rtlCol="0" anchor="ctr"/>
          <a:lstStyle/>
          <a:p>
            <a:pPr indent="0" marL="0">
              <a:lnSpc>
                <a:spcPts val="1300"/>
              </a:lnSpc>
              <a:buNone/>
            </a:pPr>
            <a:r>
              <a:rPr lang="en-US" sz="960" dirty="0">
                <a:solidFill>
                  <a:srgbClr val="6E7378"/>
                </a:solidFill>
                <a:latin typeface="Yu Gothic" pitchFamily="34" charset="0"/>
                <a:ea typeface="Yu Gothic" pitchFamily="34" charset="-122"/>
                <a:cs typeface="Yu Gothic" pitchFamily="34" charset="-120"/>
              </a:rPr>
              <a:t>テナント飲食店がCloud Wine Caveから発注。最短5分で厨房へ。</a:t>
            </a:r>
            <a:endParaRPr lang="en-US" sz="960" dirty="0"/>
          </a:p>
        </p:txBody>
      </p:sp>
      <p:sp>
        <p:nvSpPr>
          <p:cNvPr id="22" name="Shape 19"/>
          <p:cNvSpPr/>
          <p:nvPr/>
        </p:nvSpPr>
        <p:spPr>
          <a:xfrm>
            <a:off x="7644384" y="2834640"/>
            <a:ext cx="365760" cy="365760"/>
          </a:xfrm>
          <a:prstGeom prst="ellipse">
            <a:avLst/>
          </a:prstGeom>
          <a:solidFill>
            <a:srgbClr val="C68A65"/>
          </a:solidFill>
          <a:ln w="12700">
            <a:solidFill>
              <a:srgbClr val="333333"/>
            </a:solidFill>
            <a:prstDash val="solid"/>
          </a:ln>
        </p:spPr>
      </p:sp>
      <p:sp>
        <p:nvSpPr>
          <p:cNvPr id="23" name="Text 20"/>
          <p:cNvSpPr/>
          <p:nvPr/>
        </p:nvSpPr>
        <p:spPr>
          <a:xfrm>
            <a:off x="7644384" y="2834640"/>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4" name="Text 21"/>
          <p:cNvSpPr/>
          <p:nvPr/>
        </p:nvSpPr>
        <p:spPr>
          <a:xfrm>
            <a:off x="8119872" y="2816352"/>
            <a:ext cx="3212287" cy="237744"/>
          </a:xfrm>
          <a:prstGeom prst="rect">
            <a:avLst/>
          </a:prstGeom>
          <a:noFill/>
          <a:ln/>
        </p:spPr>
        <p:txBody>
          <a:bodyPr wrap="square" lIns="0" tIns="0" rIns="0" bIns="0" rtlCol="0" anchor="ctr"/>
          <a:lstStyle/>
          <a:p>
            <a:pPr indent="0" marL="0">
              <a:buNone/>
            </a:pPr>
            <a:r>
              <a:rPr lang="en-US" sz="1250" b="1" dirty="0">
                <a:solidFill>
                  <a:srgbClr val="1A1A1A"/>
                </a:solidFill>
                <a:latin typeface="Yu Gothic" pitchFamily="34" charset="0"/>
                <a:ea typeface="Yu Gothic" pitchFamily="34" charset="-122"/>
                <a:cs typeface="Yu Gothic" pitchFamily="34" charset="-120"/>
              </a:rPr>
              <a:t>会食先への事前配送</a:t>
            </a:r>
            <a:endParaRPr lang="en-US" sz="1250" dirty="0"/>
          </a:p>
        </p:txBody>
      </p:sp>
      <p:sp>
        <p:nvSpPr>
          <p:cNvPr id="25" name="Text 22"/>
          <p:cNvSpPr/>
          <p:nvPr/>
        </p:nvSpPr>
        <p:spPr>
          <a:xfrm>
            <a:off x="8119872" y="3054096"/>
            <a:ext cx="3212287" cy="420624"/>
          </a:xfrm>
          <a:prstGeom prst="rect">
            <a:avLst/>
          </a:prstGeom>
          <a:noFill/>
          <a:ln/>
        </p:spPr>
        <p:txBody>
          <a:bodyPr wrap="square" lIns="0" tIns="0" rIns="0" bIns="0" rtlCol="0" anchor="ctr"/>
          <a:lstStyle/>
          <a:p>
            <a:pPr indent="0" marL="0">
              <a:lnSpc>
                <a:spcPts val="1300"/>
              </a:lnSpc>
              <a:buNone/>
            </a:pPr>
            <a:r>
              <a:rPr lang="en-US" sz="960" dirty="0">
                <a:solidFill>
                  <a:srgbClr val="6E7378"/>
                </a:solidFill>
                <a:latin typeface="Yu Gothic" pitchFamily="34" charset="0"/>
                <a:ea typeface="Yu Gothic" pitchFamily="34" charset="-122"/>
                <a:cs typeface="Yu Gothic" pitchFamily="34" charset="-120"/>
              </a:rPr>
              <a:t>提携レストランへ事前に届けておき、手ぶらで会食へ。コルケージ無料。</a:t>
            </a:r>
            <a:endParaRPr lang="en-US" sz="960" dirty="0"/>
          </a:p>
        </p:txBody>
      </p:sp>
      <p:sp>
        <p:nvSpPr>
          <p:cNvPr id="26" name="Shape 23"/>
          <p:cNvSpPr/>
          <p:nvPr/>
        </p:nvSpPr>
        <p:spPr>
          <a:xfrm>
            <a:off x="7644384" y="3602736"/>
            <a:ext cx="365760" cy="365760"/>
          </a:xfrm>
          <a:prstGeom prst="ellipse">
            <a:avLst/>
          </a:prstGeom>
          <a:solidFill>
            <a:srgbClr val="C68A65"/>
          </a:solidFill>
          <a:ln w="12700">
            <a:solidFill>
              <a:srgbClr val="333333"/>
            </a:solidFill>
            <a:prstDash val="solid"/>
          </a:ln>
        </p:spPr>
      </p:sp>
      <p:sp>
        <p:nvSpPr>
          <p:cNvPr id="27" name="Text 24"/>
          <p:cNvSpPr/>
          <p:nvPr/>
        </p:nvSpPr>
        <p:spPr>
          <a:xfrm>
            <a:off x="7644384" y="3602736"/>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8" name="Text 25"/>
          <p:cNvSpPr/>
          <p:nvPr/>
        </p:nvSpPr>
        <p:spPr>
          <a:xfrm>
            <a:off x="8119872" y="3584448"/>
            <a:ext cx="3212287" cy="237744"/>
          </a:xfrm>
          <a:prstGeom prst="rect">
            <a:avLst/>
          </a:prstGeom>
          <a:noFill/>
          <a:ln/>
        </p:spPr>
        <p:txBody>
          <a:bodyPr wrap="square" lIns="0" tIns="0" rIns="0" bIns="0" rtlCol="0" anchor="ctr"/>
          <a:lstStyle/>
          <a:p>
            <a:pPr indent="0" marL="0">
              <a:buNone/>
            </a:pPr>
            <a:r>
              <a:rPr lang="en-US" sz="1250" b="1" dirty="0">
                <a:solidFill>
                  <a:srgbClr val="1A1A1A"/>
                </a:solidFill>
                <a:latin typeface="Yu Gothic" pitchFamily="34" charset="0"/>
                <a:ea typeface="Yu Gothic" pitchFamily="34" charset="-122"/>
                <a:cs typeface="Yu Gothic" pitchFamily="34" charset="-120"/>
              </a:rPr>
              <a:t>自宅配送</a:t>
            </a:r>
            <a:endParaRPr lang="en-US" sz="1250" dirty="0"/>
          </a:p>
        </p:txBody>
      </p:sp>
      <p:sp>
        <p:nvSpPr>
          <p:cNvPr id="29" name="Text 26"/>
          <p:cNvSpPr/>
          <p:nvPr/>
        </p:nvSpPr>
        <p:spPr>
          <a:xfrm>
            <a:off x="8119872" y="3822192"/>
            <a:ext cx="3212287" cy="420624"/>
          </a:xfrm>
          <a:prstGeom prst="rect">
            <a:avLst/>
          </a:prstGeom>
          <a:noFill/>
          <a:ln/>
        </p:spPr>
        <p:txBody>
          <a:bodyPr wrap="square" lIns="0" tIns="0" rIns="0" bIns="0" rtlCol="0" anchor="ctr"/>
          <a:lstStyle/>
          <a:p>
            <a:pPr indent="0" marL="0">
              <a:lnSpc>
                <a:spcPts val="1300"/>
              </a:lnSpc>
              <a:buNone/>
            </a:pPr>
            <a:r>
              <a:rPr lang="en-US" sz="960" dirty="0">
                <a:solidFill>
                  <a:srgbClr val="6E7378"/>
                </a:solidFill>
                <a:latin typeface="Yu Gothic" pitchFamily="34" charset="0"/>
                <a:ea typeface="Yu Gothic" pitchFamily="34" charset="-122"/>
                <a:cs typeface="Yu Gothic" pitchFamily="34" charset="-120"/>
              </a:rPr>
              <a:t>居住者がアプリで購入。定温のまま自宅セラーへ。4桁コードで受渡し。</a:t>
            </a:r>
            <a:endParaRPr lang="en-US" sz="960" dirty="0"/>
          </a:p>
        </p:txBody>
      </p:sp>
      <p:sp>
        <p:nvSpPr>
          <p:cNvPr id="30" name="Shape 27"/>
          <p:cNvSpPr/>
          <p:nvPr/>
        </p:nvSpPr>
        <p:spPr>
          <a:xfrm>
            <a:off x="7644384" y="4370832"/>
            <a:ext cx="365760" cy="365760"/>
          </a:xfrm>
          <a:prstGeom prst="ellipse">
            <a:avLst/>
          </a:prstGeom>
          <a:solidFill>
            <a:srgbClr val="C68A65"/>
          </a:solidFill>
          <a:ln w="12700">
            <a:solidFill>
              <a:srgbClr val="333333"/>
            </a:solidFill>
            <a:prstDash val="solid"/>
          </a:ln>
        </p:spPr>
      </p:sp>
      <p:sp>
        <p:nvSpPr>
          <p:cNvPr id="31" name="Text 28"/>
          <p:cNvSpPr/>
          <p:nvPr/>
        </p:nvSpPr>
        <p:spPr>
          <a:xfrm>
            <a:off x="7644384" y="4370832"/>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2" name="Text 29"/>
          <p:cNvSpPr/>
          <p:nvPr/>
        </p:nvSpPr>
        <p:spPr>
          <a:xfrm>
            <a:off x="8119872" y="4352544"/>
            <a:ext cx="3212287" cy="237744"/>
          </a:xfrm>
          <a:prstGeom prst="rect">
            <a:avLst/>
          </a:prstGeom>
          <a:noFill/>
          <a:ln/>
        </p:spPr>
        <p:txBody>
          <a:bodyPr wrap="square" lIns="0" tIns="0" rIns="0" bIns="0" rtlCol="0" anchor="ctr"/>
          <a:lstStyle/>
          <a:p>
            <a:pPr indent="0" marL="0">
              <a:buNone/>
            </a:pPr>
            <a:r>
              <a:rPr lang="en-US" sz="1250" b="1" dirty="0">
                <a:solidFill>
                  <a:srgbClr val="1A1A1A"/>
                </a:solidFill>
                <a:latin typeface="Yu Gothic" pitchFamily="34" charset="0"/>
                <a:ea typeface="Yu Gothic" pitchFamily="34" charset="-122"/>
                <a:cs typeface="Yu Gothic" pitchFamily="34" charset="-120"/>
              </a:rPr>
              <a:t>ターミナル受取</a:t>
            </a:r>
            <a:endParaRPr lang="en-US" sz="1250" dirty="0"/>
          </a:p>
        </p:txBody>
      </p:sp>
      <p:sp>
        <p:nvSpPr>
          <p:cNvPr id="33" name="Text 30"/>
          <p:cNvSpPr/>
          <p:nvPr/>
        </p:nvSpPr>
        <p:spPr>
          <a:xfrm>
            <a:off x="8119872" y="4590288"/>
            <a:ext cx="3212287" cy="420624"/>
          </a:xfrm>
          <a:prstGeom prst="rect">
            <a:avLst/>
          </a:prstGeom>
          <a:noFill/>
          <a:ln/>
        </p:spPr>
        <p:txBody>
          <a:bodyPr wrap="square" lIns="0" tIns="0" rIns="0" bIns="0" rtlCol="0" anchor="ctr"/>
          <a:lstStyle/>
          <a:p>
            <a:pPr indent="0" marL="0">
              <a:lnSpc>
                <a:spcPts val="1300"/>
              </a:lnSpc>
              <a:buNone/>
            </a:pPr>
            <a:r>
              <a:rPr lang="en-US" sz="960" dirty="0">
                <a:solidFill>
                  <a:srgbClr val="6E7378"/>
                </a:solidFill>
                <a:latin typeface="Yu Gothic" pitchFamily="34" charset="0"/>
                <a:ea typeface="Yu Gothic" pitchFamily="34" charset="-122"/>
                <a:cs typeface="Yu Gothic" pitchFamily="34" charset="-120"/>
              </a:rPr>
              <a:t>街区内の拠点で好きな時間にピックアップ。帰宅動線で完結。</a:t>
            </a:r>
            <a:endParaRPr lang="en-US" sz="960" dirty="0"/>
          </a:p>
        </p:txBody>
      </p:sp>
      <p:sp>
        <p:nvSpPr>
          <p:cNvPr id="34" name="Shape 31"/>
          <p:cNvSpPr/>
          <p:nvPr/>
        </p:nvSpPr>
        <p:spPr>
          <a:xfrm>
            <a:off x="566928" y="3419856"/>
            <a:ext cx="6492240" cy="1828800"/>
          </a:xfrm>
          <a:prstGeom prst="roundRect">
            <a:avLst>
              <a:gd name="adj" fmla="val 2500"/>
            </a:avLst>
          </a:prstGeom>
          <a:solidFill>
            <a:srgbClr val="FFFFFF"/>
          </a:solidFill>
          <a:ln w="12700">
            <a:solidFill>
              <a:srgbClr val="DDE0E2"/>
            </a:solidFill>
            <a:prstDash val="solid"/>
          </a:ln>
        </p:spPr>
      </p:sp>
      <p:sp>
        <p:nvSpPr>
          <p:cNvPr id="35" name="Text 32"/>
          <p:cNvSpPr/>
          <p:nvPr/>
        </p:nvSpPr>
        <p:spPr>
          <a:xfrm>
            <a:off x="841248" y="3566160"/>
            <a:ext cx="6035040" cy="256032"/>
          </a:xfrm>
          <a:prstGeom prst="rect">
            <a:avLst/>
          </a:prstGeom>
          <a:noFill/>
          <a:ln/>
        </p:spPr>
        <p:txBody>
          <a:bodyPr wrap="square" lIns="0" tIns="0" rIns="0" bIns="0" rtlCol="0" anchor="ctr"/>
          <a:lstStyle/>
          <a:p>
            <a:pPr indent="0" marL="0">
              <a:buNone/>
            </a:pPr>
            <a:r>
              <a:rPr lang="en-US" sz="1400" b="1" dirty="0">
                <a:solidFill>
                  <a:srgbClr val="A06D4C"/>
                </a:solidFill>
                <a:latin typeface="Yu Gothic" pitchFamily="34" charset="0"/>
                <a:ea typeface="Yu Gothic" pitchFamily="34" charset="-122"/>
                <a:cs typeface="Yu Gothic" pitchFamily="34" charset="-120"/>
              </a:rPr>
              <a:t>森ビル様にお願いしたいこと</a:t>
            </a:r>
            <a:endParaRPr lang="en-US" sz="1400" dirty="0"/>
          </a:p>
        </p:txBody>
      </p:sp>
      <p:sp>
        <p:nvSpPr>
          <p:cNvPr id="36" name="Text 33"/>
          <p:cNvSpPr/>
          <p:nvPr/>
        </p:nvSpPr>
        <p:spPr>
          <a:xfrm>
            <a:off x="841248" y="3895344"/>
            <a:ext cx="6035040" cy="1152144"/>
          </a:xfrm>
          <a:prstGeom prst="rect">
            <a:avLst/>
          </a:prstGeom>
          <a:noFill/>
          <a:ln/>
        </p:spPr>
        <p:txBody>
          <a:bodyPr wrap="square" lIns="0" tIns="0" rIns="0" bIns="0" rtlCol="0" anchor="ctr"/>
          <a:lstStyle/>
          <a:p>
            <a:pPr marL="342900" indent="-342900">
              <a:lnSpc>
                <a:spcPts val="1500"/>
              </a:lnSpc>
              <a:spcAft>
                <a:spcPts val="500"/>
              </a:spcAft>
              <a:buSzPct val="100000"/>
              <a:buChar char="▪"/>
            </a:pPr>
            <a:r>
              <a:rPr lang="en-US" sz="1050" dirty="0">
                <a:solidFill>
                  <a:srgbClr val="1A1A1A"/>
                </a:solidFill>
                <a:latin typeface="Yu Gothic" pitchFamily="34" charset="0"/>
                <a:ea typeface="Yu Gothic" pitchFamily="34" charset="-122"/>
                <a:cs typeface="Yu Gothic" pitchFamily="34" charset="-120"/>
              </a:rPr>
              <a:t>街区内バックヤード等に、小規模ターミナル（2〜5坪）のご提供</a:t>
            </a:r>
            <a:endParaRPr lang="en-US" sz="1050" dirty="0"/>
          </a:p>
          <a:p>
            <a:pPr marL="342900" indent="-342900">
              <a:lnSpc>
                <a:spcPts val="1500"/>
              </a:lnSpc>
              <a:spcAft>
                <a:spcPts val="500"/>
              </a:spcAft>
              <a:buSzPct val="100000"/>
              <a:buChar char="▪"/>
            </a:pPr>
            <a:r>
              <a:rPr lang="en-US" sz="1050" dirty="0">
                <a:solidFill>
                  <a:srgbClr val="1A1A1A"/>
                </a:solidFill>
                <a:latin typeface="Yu Gothic" pitchFamily="34" charset="0"/>
                <a:ea typeface="Yu Gothic" pitchFamily="34" charset="-122"/>
                <a:cs typeface="Yu Gothic" pitchFamily="34" charset="-120"/>
              </a:rPr>
              <a:t>配送員の館内動線・荷捌きに関する運用ご調整</a:t>
            </a:r>
            <a:endParaRPr lang="en-US" sz="1050" dirty="0"/>
          </a:p>
          <a:p>
            <a:pPr marL="342900" indent="-342900">
              <a:lnSpc>
                <a:spcPts val="1500"/>
              </a:lnSpc>
              <a:spcAft>
                <a:spcPts val="500"/>
              </a:spcAft>
              <a:buSzPct val="100000"/>
              <a:buChar char="▪"/>
            </a:pPr>
            <a:r>
              <a:rPr lang="en-US" sz="1050" dirty="0">
                <a:solidFill>
                  <a:srgbClr val="1A1A1A"/>
                </a:solidFill>
                <a:latin typeface="Yu Gothic" pitchFamily="34" charset="0"/>
                <a:ea typeface="Yu Gothic" pitchFamily="34" charset="-122"/>
                <a:cs typeface="Yu Gothic" pitchFamily="34" charset="-120"/>
              </a:rPr>
              <a:t>テナント飲食店へのご紹介（在庫リスクゼロの共有セラーとして）</a:t>
            </a:r>
            <a:endParaRPr lang="en-US" sz="1050" dirty="0"/>
          </a:p>
        </p:txBody>
      </p:sp>
      <p:sp>
        <p:nvSpPr>
          <p:cNvPr id="37" name="Text 34"/>
          <p:cNvSpPr/>
          <p:nvPr/>
        </p:nvSpPr>
        <p:spPr>
          <a:xfrm>
            <a:off x="566928" y="5413248"/>
            <a:ext cx="10972800" cy="274320"/>
          </a:xfrm>
          <a:prstGeom prst="rect">
            <a:avLst/>
          </a:prstGeom>
          <a:noFill/>
          <a:ln/>
        </p:spPr>
        <p:txBody>
          <a:bodyPr wrap="square" lIns="0" tIns="0" rIns="0" bIns="0" rtlCol="0" anchor="ctr"/>
          <a:lstStyle/>
          <a:p>
            <a:pPr indent="0" marL="0">
              <a:buNone/>
            </a:pPr>
            <a:r>
              <a:rPr lang="en-US" sz="1000" dirty="0">
                <a:solidFill>
                  <a:srgbClr val="6E7378"/>
                </a:solidFill>
                <a:latin typeface="Yu Gothic" pitchFamily="34" charset="0"/>
                <a:ea typeface="Yu Gothic" pitchFamily="34" charset="-122"/>
                <a:cs typeface="Yu Gothic" pitchFamily="34" charset="-120"/>
              </a:rPr>
              <a:t>ターミナルは定温設備を備えた小規模スペースです。ヒルズ内に1拠点あれば、街区全体をカバーできます。</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381183" y="292608"/>
            <a:ext cx="1243584" cy="247802"/>
          </a:xfrm>
          <a:prstGeom prst="rect">
            <a:avLst/>
          </a:prstGeom>
        </p:spPr>
      </p:pic>
      <p:sp>
        <p:nvSpPr>
          <p:cNvPr id="3" name="Shape 0"/>
          <p:cNvSpPr/>
          <p:nvPr/>
        </p:nvSpPr>
        <p:spPr>
          <a:xfrm>
            <a:off x="566928" y="292608"/>
            <a:ext cx="1280160" cy="237744"/>
          </a:xfrm>
          <a:prstGeom prst="roundRect">
            <a:avLst>
              <a:gd name="adj" fmla="val 11538"/>
            </a:avLst>
          </a:prstGeom>
          <a:solidFill>
            <a:srgbClr val="C68A65"/>
          </a:solidFill>
          <a:ln w="12700">
            <a:solidFill>
              <a:srgbClr val="333333"/>
            </a:solidFill>
            <a:prstDash val="solid"/>
          </a:ln>
        </p:spPr>
      </p:sp>
      <p:sp>
        <p:nvSpPr>
          <p:cNvPr id="4" name="Text 1"/>
          <p:cNvSpPr/>
          <p:nvPr/>
        </p:nvSpPr>
        <p:spPr>
          <a:xfrm>
            <a:off x="566928" y="292608"/>
            <a:ext cx="128016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Yu Gothic" pitchFamily="34" charset="0"/>
                <a:ea typeface="Yu Gothic" pitchFamily="34" charset="-122"/>
                <a:cs typeface="Yu Gothic" pitchFamily="34" charset="-120"/>
              </a:rPr>
              <a:t>PROGRAM 03-A</a:t>
            </a:r>
            <a:endParaRPr lang="en-US" sz="850" dirty="0"/>
          </a:p>
        </p:txBody>
      </p:sp>
      <p:sp>
        <p:nvSpPr>
          <p:cNvPr id="5" name="Text 2"/>
          <p:cNvSpPr/>
          <p:nvPr/>
        </p:nvSpPr>
        <p:spPr>
          <a:xfrm>
            <a:off x="566928" y="585216"/>
            <a:ext cx="9509760" cy="420624"/>
          </a:xfrm>
          <a:prstGeom prst="rect">
            <a:avLst/>
          </a:prstGeom>
          <a:noFill/>
          <a:ln/>
        </p:spPr>
        <p:txBody>
          <a:bodyPr wrap="square" lIns="0" tIns="0" rIns="0" bIns="0" rtlCol="0" anchor="ctr"/>
          <a:lstStyle/>
          <a:p>
            <a:pPr indent="0" marL="0">
              <a:buNone/>
            </a:pPr>
            <a:r>
              <a:rPr lang="en-US" sz="2300" b="1" dirty="0">
                <a:solidFill>
                  <a:srgbClr val="1A1A1A"/>
                </a:solidFill>
                <a:latin typeface="Yu Gothic" pitchFamily="34" charset="0"/>
                <a:ea typeface="Yu Gothic" pitchFamily="34" charset="-122"/>
                <a:cs typeface="Yu Gothic" pitchFamily="34" charset="-120"/>
              </a:rPr>
              <a:t>WineBank CLUB（通常）</a:t>
            </a:r>
            <a:endParaRPr lang="en-US" sz="2300" dirty="0"/>
          </a:p>
        </p:txBody>
      </p:sp>
      <p:sp>
        <p:nvSpPr>
          <p:cNvPr id="6" name="Text 3"/>
          <p:cNvSpPr/>
          <p:nvPr/>
        </p:nvSpPr>
        <p:spPr>
          <a:xfrm>
            <a:off x="566928" y="1024128"/>
            <a:ext cx="11057839" cy="310896"/>
          </a:xfrm>
          <a:prstGeom prst="rect">
            <a:avLst/>
          </a:prstGeom>
          <a:noFill/>
          <a:ln/>
        </p:spPr>
        <p:txBody>
          <a:bodyPr wrap="square" lIns="0" tIns="0" rIns="0" bIns="0" rtlCol="0" anchor="ctr"/>
          <a:lstStyle/>
          <a:p>
            <a:pPr indent="0" marL="0">
              <a:lnSpc>
                <a:spcPts val="1700"/>
              </a:lnSpc>
              <a:buNone/>
            </a:pPr>
            <a:r>
              <a:rPr lang="en-US" sz="1150" dirty="0">
                <a:solidFill>
                  <a:srgbClr val="6E7378"/>
                </a:solidFill>
                <a:latin typeface="Yu Gothic" pitchFamily="34" charset="0"/>
                <a:ea typeface="Yu Gothic" pitchFamily="34" charset="-122"/>
                <a:cs typeface="Yu Gothic" pitchFamily="34" charset="-120"/>
              </a:rPr>
              <a:t>2025年7月に開始した月額会員制サービスです（旧：Fine Wine Collection）。レストランでワインを飲食店仕入れ原価相当で楽しめる点が中核です。</a:t>
            </a:r>
            <a:endParaRPr lang="en-US" sz="1150" dirty="0"/>
          </a:p>
        </p:txBody>
      </p:sp>
      <p:sp>
        <p:nvSpPr>
          <p:cNvPr id="7" name="Shape 4"/>
          <p:cNvSpPr/>
          <p:nvPr/>
        </p:nvSpPr>
        <p:spPr>
          <a:xfrm>
            <a:off x="0" y="6583680"/>
            <a:ext cx="12191695" cy="274320"/>
          </a:xfrm>
          <a:prstGeom prst="rect">
            <a:avLst/>
          </a:prstGeom>
          <a:solidFill>
            <a:srgbClr val="2F3941"/>
          </a:solidFill>
          <a:ln w="12700">
            <a:solidFill>
              <a:srgbClr val="333333"/>
            </a:solidFill>
            <a:prstDash val="solid"/>
          </a:ln>
        </p:spPr>
      </p:sp>
      <p:sp>
        <p:nvSpPr>
          <p:cNvPr id="8" name="Text 5"/>
          <p:cNvSpPr/>
          <p:nvPr/>
        </p:nvSpPr>
        <p:spPr>
          <a:xfrm>
            <a:off x="10893247" y="6272784"/>
            <a:ext cx="731520" cy="256032"/>
          </a:xfrm>
          <a:prstGeom prst="rect">
            <a:avLst/>
          </a:prstGeom>
          <a:noFill/>
          <a:ln/>
        </p:spPr>
        <p:txBody>
          <a:bodyPr wrap="square" lIns="0" tIns="0" rIns="0" bIns="0" rtlCol="0" anchor="ctr"/>
          <a:lstStyle/>
          <a:p>
            <a:pPr algn="r" indent="0" marL="0">
              <a:buNone/>
            </a:pPr>
            <a:r>
              <a:rPr lang="en-US" sz="1000" dirty="0">
                <a:solidFill>
                  <a:srgbClr val="A6ABAF"/>
                </a:solidFill>
                <a:latin typeface="Calibri" pitchFamily="34" charset="0"/>
                <a:ea typeface="Calibri" pitchFamily="34" charset="-122"/>
                <a:cs typeface="Calibri" pitchFamily="34" charset="-120"/>
              </a:rPr>
              <a:t>9</a:t>
            </a:r>
            <a:endParaRPr lang="en-US" sz="1000" dirty="0"/>
          </a:p>
        </p:txBody>
      </p:sp>
      <p:sp>
        <p:nvSpPr>
          <p:cNvPr id="9" name="Text 6"/>
          <p:cNvSpPr/>
          <p:nvPr/>
        </p:nvSpPr>
        <p:spPr>
          <a:xfrm>
            <a:off x="566928" y="6272784"/>
            <a:ext cx="2926080" cy="256032"/>
          </a:xfrm>
          <a:prstGeom prst="rect">
            <a:avLst/>
          </a:prstGeom>
          <a:noFill/>
          <a:ln/>
        </p:spPr>
        <p:txBody>
          <a:bodyPr wrap="square" lIns="0" tIns="0" rIns="0" bIns="0" rtlCol="0" anchor="ctr"/>
          <a:lstStyle/>
          <a:p>
            <a:pPr indent="0" marL="0">
              <a:buNone/>
            </a:pPr>
            <a:r>
              <a:rPr lang="en-US" sz="850" spc="120" kern="0" dirty="0">
                <a:solidFill>
                  <a:srgbClr val="C7CACC"/>
                </a:solidFill>
                <a:latin typeface="Calibri" pitchFamily="34" charset="0"/>
                <a:ea typeface="Calibri" pitchFamily="34" charset="-122"/>
                <a:cs typeface="Calibri" pitchFamily="34" charset="-120"/>
              </a:rPr>
              <a:t>CONFIDENTIAL</a:t>
            </a:r>
            <a:endParaRPr lang="en-US" sz="850" dirty="0"/>
          </a:p>
        </p:txBody>
      </p:sp>
      <p:sp>
        <p:nvSpPr>
          <p:cNvPr id="10" name="Shape 7"/>
          <p:cNvSpPr/>
          <p:nvPr/>
        </p:nvSpPr>
        <p:spPr>
          <a:xfrm>
            <a:off x="566928" y="1463040"/>
            <a:ext cx="6729984" cy="3785616"/>
          </a:xfrm>
          <a:prstGeom prst="roundRect">
            <a:avLst>
              <a:gd name="adj" fmla="val 1208"/>
            </a:avLst>
          </a:prstGeom>
          <a:solidFill>
            <a:srgbClr val="F6F6F6"/>
          </a:solidFill>
          <a:ln w="12700">
            <a:solidFill>
              <a:srgbClr val="333333"/>
            </a:solidFill>
            <a:prstDash val="solid"/>
          </a:ln>
        </p:spPr>
      </p:sp>
      <p:sp>
        <p:nvSpPr>
          <p:cNvPr id="11" name="Text 8"/>
          <p:cNvSpPr/>
          <p:nvPr/>
        </p:nvSpPr>
        <p:spPr>
          <a:xfrm>
            <a:off x="877824" y="1645920"/>
            <a:ext cx="6217920" cy="292608"/>
          </a:xfrm>
          <a:prstGeom prst="rect">
            <a:avLst/>
          </a:prstGeom>
          <a:noFill/>
          <a:ln/>
        </p:spPr>
        <p:txBody>
          <a:bodyPr wrap="square" lIns="0" tIns="0" rIns="0" bIns="0" rtlCol="0" anchor="ctr"/>
          <a:lstStyle/>
          <a:p>
            <a:pPr indent="0" marL="0">
              <a:buNone/>
            </a:pPr>
            <a:r>
              <a:rPr lang="en-US" sz="1600" b="1" dirty="0">
                <a:solidFill>
                  <a:srgbClr val="1A1A1A"/>
                </a:solidFill>
                <a:latin typeface="Yu Gothic" pitchFamily="34" charset="0"/>
                <a:ea typeface="Yu Gothic" pitchFamily="34" charset="-122"/>
                <a:cs typeface="Yu Gothic" pitchFamily="34" charset="-120"/>
              </a:rPr>
              <a:t>現行の会員特典</a:t>
            </a:r>
            <a:endParaRPr lang="en-US" sz="1600" dirty="0"/>
          </a:p>
        </p:txBody>
      </p:sp>
      <p:sp>
        <p:nvSpPr>
          <p:cNvPr id="12" name="Shape 9"/>
          <p:cNvSpPr/>
          <p:nvPr/>
        </p:nvSpPr>
        <p:spPr>
          <a:xfrm>
            <a:off x="896112" y="2103120"/>
            <a:ext cx="274320" cy="274320"/>
          </a:xfrm>
          <a:prstGeom prst="ellipse">
            <a:avLst/>
          </a:prstGeom>
          <a:solidFill>
            <a:srgbClr val="C68A65"/>
          </a:solidFill>
          <a:ln w="12700">
            <a:solidFill>
              <a:srgbClr val="333333"/>
            </a:solidFill>
            <a:prstDash val="solid"/>
          </a:ln>
        </p:spPr>
      </p:sp>
      <p:sp>
        <p:nvSpPr>
          <p:cNvPr id="13" name="Text 10"/>
          <p:cNvSpPr/>
          <p:nvPr/>
        </p:nvSpPr>
        <p:spPr>
          <a:xfrm>
            <a:off x="896112" y="210312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4" name="Text 11"/>
          <p:cNvSpPr/>
          <p:nvPr/>
        </p:nvSpPr>
        <p:spPr>
          <a:xfrm>
            <a:off x="1298448" y="2066544"/>
            <a:ext cx="5852160" cy="237744"/>
          </a:xfrm>
          <a:prstGeom prst="rect">
            <a:avLst/>
          </a:prstGeom>
          <a:noFill/>
          <a:ln/>
        </p:spPr>
        <p:txBody>
          <a:bodyPr wrap="square" lIns="0" tIns="0" rIns="0" bIns="0" rtlCol="0" anchor="ctr"/>
          <a:lstStyle/>
          <a:p>
            <a:pPr indent="0" marL="0">
              <a:buNone/>
            </a:pPr>
            <a:r>
              <a:rPr lang="en-US" sz="1200" b="1" dirty="0">
                <a:solidFill>
                  <a:srgbClr val="1A1A1A"/>
                </a:solidFill>
                <a:latin typeface="Yu Gothic" pitchFamily="34" charset="0"/>
                <a:ea typeface="Yu Gothic" pitchFamily="34" charset="-122"/>
                <a:cs typeface="Yu Gothic" pitchFamily="34" charset="-120"/>
              </a:rPr>
              <a:t>レストランでワインが約半額</a:t>
            </a:r>
            <a:endParaRPr lang="en-US" sz="1200" dirty="0"/>
          </a:p>
        </p:txBody>
      </p:sp>
      <p:sp>
        <p:nvSpPr>
          <p:cNvPr id="15" name="Text 12"/>
          <p:cNvSpPr/>
          <p:nvPr/>
        </p:nvSpPr>
        <p:spPr>
          <a:xfrm>
            <a:off x="1298448" y="2304288"/>
            <a:ext cx="5852160" cy="310896"/>
          </a:xfrm>
          <a:prstGeom prst="rect">
            <a:avLst/>
          </a:prstGeom>
          <a:noFill/>
          <a:ln/>
        </p:spPr>
        <p:txBody>
          <a:bodyPr wrap="square" lIns="0" tIns="0" rIns="0" bIns="0" rtlCol="0" anchor="ctr"/>
          <a:lstStyle/>
          <a:p>
            <a:pPr indent="0" marL="0">
              <a:lnSpc>
                <a:spcPts val="1300"/>
              </a:lnSpc>
              <a:buNone/>
            </a:pPr>
            <a:r>
              <a:rPr lang="en-US" sz="940" dirty="0">
                <a:solidFill>
                  <a:srgbClr val="6E7378"/>
                </a:solidFill>
                <a:latin typeface="Yu Gothic" pitchFamily="34" charset="0"/>
                <a:ea typeface="Yu Gothic" pitchFamily="34" charset="-122"/>
                <a:cs typeface="Yu Gothic" pitchFamily="34" charset="-120"/>
              </a:rPr>
              <a:t>飲食店の仕入れ原価相当でご提供。一般の飲食店は卸原価の2〜3倍が通例です。</a:t>
            </a:r>
            <a:endParaRPr lang="en-US" sz="940" dirty="0"/>
          </a:p>
        </p:txBody>
      </p:sp>
      <p:sp>
        <p:nvSpPr>
          <p:cNvPr id="16" name="Shape 13"/>
          <p:cNvSpPr/>
          <p:nvPr/>
        </p:nvSpPr>
        <p:spPr>
          <a:xfrm>
            <a:off x="896112" y="2706624"/>
            <a:ext cx="274320" cy="274320"/>
          </a:xfrm>
          <a:prstGeom prst="ellipse">
            <a:avLst/>
          </a:prstGeom>
          <a:solidFill>
            <a:srgbClr val="C68A65"/>
          </a:solidFill>
          <a:ln w="12700">
            <a:solidFill>
              <a:srgbClr val="333333"/>
            </a:solidFill>
            <a:prstDash val="solid"/>
          </a:ln>
        </p:spPr>
      </p:sp>
      <p:sp>
        <p:nvSpPr>
          <p:cNvPr id="17" name="Text 14"/>
          <p:cNvSpPr/>
          <p:nvPr/>
        </p:nvSpPr>
        <p:spPr>
          <a:xfrm>
            <a:off x="896112" y="270662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8" name="Text 15"/>
          <p:cNvSpPr/>
          <p:nvPr/>
        </p:nvSpPr>
        <p:spPr>
          <a:xfrm>
            <a:off x="1298448" y="2670048"/>
            <a:ext cx="5852160" cy="237744"/>
          </a:xfrm>
          <a:prstGeom prst="rect">
            <a:avLst/>
          </a:prstGeom>
          <a:noFill/>
          <a:ln/>
        </p:spPr>
        <p:txBody>
          <a:bodyPr wrap="square" lIns="0" tIns="0" rIns="0" bIns="0" rtlCol="0" anchor="ctr"/>
          <a:lstStyle/>
          <a:p>
            <a:pPr indent="0" marL="0">
              <a:buNone/>
            </a:pPr>
            <a:r>
              <a:rPr lang="en-US" sz="1200" b="1" dirty="0">
                <a:solidFill>
                  <a:srgbClr val="1A1A1A"/>
                </a:solidFill>
                <a:latin typeface="Yu Gothic" pitchFamily="34" charset="0"/>
                <a:ea typeface="Yu Gothic" pitchFamily="34" charset="-122"/>
                <a:cs typeface="Yu Gothic" pitchFamily="34" charset="-120"/>
              </a:rPr>
              <a:t>コルケージ完全無料</a:t>
            </a:r>
            <a:endParaRPr lang="en-US" sz="1200" dirty="0"/>
          </a:p>
        </p:txBody>
      </p:sp>
      <p:sp>
        <p:nvSpPr>
          <p:cNvPr id="19" name="Text 16"/>
          <p:cNvSpPr/>
          <p:nvPr/>
        </p:nvSpPr>
        <p:spPr>
          <a:xfrm>
            <a:off x="1298448" y="2907792"/>
            <a:ext cx="5852160" cy="310896"/>
          </a:xfrm>
          <a:prstGeom prst="rect">
            <a:avLst/>
          </a:prstGeom>
          <a:noFill/>
          <a:ln/>
        </p:spPr>
        <p:txBody>
          <a:bodyPr wrap="square" lIns="0" tIns="0" rIns="0" bIns="0" rtlCol="0" anchor="ctr"/>
          <a:lstStyle/>
          <a:p>
            <a:pPr indent="0" marL="0">
              <a:lnSpc>
                <a:spcPts val="1300"/>
              </a:lnSpc>
              <a:buNone/>
            </a:pPr>
            <a:r>
              <a:rPr lang="en-US" sz="940" dirty="0">
                <a:solidFill>
                  <a:srgbClr val="6E7378"/>
                </a:solidFill>
                <a:latin typeface="Yu Gothic" pitchFamily="34" charset="0"/>
                <a:ea typeface="Yu Gothic" pitchFamily="34" charset="-122"/>
                <a:cs typeface="Yu Gothic" pitchFamily="34" charset="-120"/>
              </a:rPr>
              <a:t>提携店へのBYOで抜栓料・持込料ゼロ。WineGOで購入した場合は最短5分で「手ぶらBYO」。</a:t>
            </a:r>
            <a:endParaRPr lang="en-US" sz="940" dirty="0"/>
          </a:p>
        </p:txBody>
      </p:sp>
      <p:sp>
        <p:nvSpPr>
          <p:cNvPr id="20" name="Shape 17"/>
          <p:cNvSpPr/>
          <p:nvPr/>
        </p:nvSpPr>
        <p:spPr>
          <a:xfrm>
            <a:off x="896112" y="3310128"/>
            <a:ext cx="274320" cy="274320"/>
          </a:xfrm>
          <a:prstGeom prst="ellipse">
            <a:avLst/>
          </a:prstGeom>
          <a:solidFill>
            <a:srgbClr val="C68A65"/>
          </a:solidFill>
          <a:ln w="12700">
            <a:solidFill>
              <a:srgbClr val="333333"/>
            </a:solidFill>
            <a:prstDash val="solid"/>
          </a:ln>
        </p:spPr>
      </p:sp>
      <p:sp>
        <p:nvSpPr>
          <p:cNvPr id="21" name="Text 18"/>
          <p:cNvSpPr/>
          <p:nvPr/>
        </p:nvSpPr>
        <p:spPr>
          <a:xfrm>
            <a:off x="896112" y="331012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2" name="Text 19"/>
          <p:cNvSpPr/>
          <p:nvPr/>
        </p:nvSpPr>
        <p:spPr>
          <a:xfrm>
            <a:off x="1298448" y="3273552"/>
            <a:ext cx="5852160" cy="237744"/>
          </a:xfrm>
          <a:prstGeom prst="rect">
            <a:avLst/>
          </a:prstGeom>
          <a:noFill/>
          <a:ln/>
        </p:spPr>
        <p:txBody>
          <a:bodyPr wrap="square" lIns="0" tIns="0" rIns="0" bIns="0" rtlCol="0" anchor="ctr"/>
          <a:lstStyle/>
          <a:p>
            <a:pPr indent="0" marL="0">
              <a:buNone/>
            </a:pPr>
            <a:r>
              <a:rPr lang="en-US" sz="1200" b="1" dirty="0">
                <a:solidFill>
                  <a:srgbClr val="1A1A1A"/>
                </a:solidFill>
                <a:latin typeface="Yu Gothic" pitchFamily="34" charset="0"/>
                <a:ea typeface="Yu Gothic" pitchFamily="34" charset="-122"/>
                <a:cs typeface="Yu Gothic" pitchFamily="34" charset="-120"/>
              </a:rPr>
              <a:t>同伴者も同じ特典</a:t>
            </a:r>
            <a:endParaRPr lang="en-US" sz="1200" dirty="0"/>
          </a:p>
        </p:txBody>
      </p:sp>
      <p:sp>
        <p:nvSpPr>
          <p:cNvPr id="23" name="Text 20"/>
          <p:cNvSpPr/>
          <p:nvPr/>
        </p:nvSpPr>
        <p:spPr>
          <a:xfrm>
            <a:off x="1298448" y="3511296"/>
            <a:ext cx="5852160" cy="310896"/>
          </a:xfrm>
          <a:prstGeom prst="rect">
            <a:avLst/>
          </a:prstGeom>
          <a:noFill/>
          <a:ln/>
        </p:spPr>
        <p:txBody>
          <a:bodyPr wrap="square" lIns="0" tIns="0" rIns="0" bIns="0" rtlCol="0" anchor="ctr"/>
          <a:lstStyle/>
          <a:p>
            <a:pPr indent="0" marL="0">
              <a:lnSpc>
                <a:spcPts val="1300"/>
              </a:lnSpc>
              <a:buNone/>
            </a:pPr>
            <a:r>
              <a:rPr lang="en-US" sz="940" dirty="0">
                <a:solidFill>
                  <a:srgbClr val="6E7378"/>
                </a:solidFill>
                <a:latin typeface="Yu Gothic" pitchFamily="34" charset="0"/>
                <a:ea typeface="Yu Gothic" pitchFamily="34" charset="-122"/>
                <a:cs typeface="Yu Gothic" pitchFamily="34" charset="-120"/>
              </a:rPr>
              <a:t>会員ご本人だけでなく、同席の方も同じ価格でお楽しみいただけます。</a:t>
            </a:r>
            <a:endParaRPr lang="en-US" sz="940" dirty="0"/>
          </a:p>
        </p:txBody>
      </p:sp>
      <p:sp>
        <p:nvSpPr>
          <p:cNvPr id="24" name="Shape 21"/>
          <p:cNvSpPr/>
          <p:nvPr/>
        </p:nvSpPr>
        <p:spPr>
          <a:xfrm>
            <a:off x="896112" y="3913632"/>
            <a:ext cx="274320" cy="274320"/>
          </a:xfrm>
          <a:prstGeom prst="ellipse">
            <a:avLst/>
          </a:prstGeom>
          <a:solidFill>
            <a:srgbClr val="C68A65"/>
          </a:solidFill>
          <a:ln w="12700">
            <a:solidFill>
              <a:srgbClr val="333333"/>
            </a:solidFill>
            <a:prstDash val="solid"/>
          </a:ln>
        </p:spPr>
      </p:sp>
      <p:sp>
        <p:nvSpPr>
          <p:cNvPr id="25" name="Text 22"/>
          <p:cNvSpPr/>
          <p:nvPr/>
        </p:nvSpPr>
        <p:spPr>
          <a:xfrm>
            <a:off x="896112" y="391363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6" name="Text 23"/>
          <p:cNvSpPr/>
          <p:nvPr/>
        </p:nvSpPr>
        <p:spPr>
          <a:xfrm>
            <a:off x="1298448" y="3877056"/>
            <a:ext cx="5852160" cy="237744"/>
          </a:xfrm>
          <a:prstGeom prst="rect">
            <a:avLst/>
          </a:prstGeom>
          <a:noFill/>
          <a:ln/>
        </p:spPr>
        <p:txBody>
          <a:bodyPr wrap="square" lIns="0" tIns="0" rIns="0" bIns="0" rtlCol="0" anchor="ctr"/>
          <a:lstStyle/>
          <a:p>
            <a:pPr indent="0" marL="0">
              <a:buNone/>
            </a:pPr>
            <a:r>
              <a:rPr lang="en-US" sz="1200" b="1" dirty="0">
                <a:solidFill>
                  <a:srgbClr val="1A1A1A"/>
                </a:solidFill>
                <a:latin typeface="Yu Gothic" pitchFamily="34" charset="0"/>
                <a:ea typeface="Yu Gothic" pitchFamily="34" charset="-122"/>
                <a:cs typeface="Yu Gothic" pitchFamily="34" charset="-120"/>
              </a:rPr>
              <a:t>ワイン配送 月1〜2回無料</a:t>
            </a:r>
            <a:endParaRPr lang="en-US" sz="1200" dirty="0"/>
          </a:p>
        </p:txBody>
      </p:sp>
      <p:sp>
        <p:nvSpPr>
          <p:cNvPr id="27" name="Text 24"/>
          <p:cNvSpPr/>
          <p:nvPr/>
        </p:nvSpPr>
        <p:spPr>
          <a:xfrm>
            <a:off x="1298448" y="4114800"/>
            <a:ext cx="5852160" cy="310896"/>
          </a:xfrm>
          <a:prstGeom prst="rect">
            <a:avLst/>
          </a:prstGeom>
          <a:noFill/>
          <a:ln/>
        </p:spPr>
        <p:txBody>
          <a:bodyPr wrap="square" lIns="0" tIns="0" rIns="0" bIns="0" rtlCol="0" anchor="ctr"/>
          <a:lstStyle/>
          <a:p>
            <a:pPr indent="0" marL="0">
              <a:lnSpc>
                <a:spcPts val="1300"/>
              </a:lnSpc>
              <a:buNone/>
            </a:pPr>
            <a:r>
              <a:rPr lang="en-US" sz="940" dirty="0">
                <a:solidFill>
                  <a:srgbClr val="6E7378"/>
                </a:solidFill>
                <a:latin typeface="Yu Gothic" pitchFamily="34" charset="0"/>
                <a:ea typeface="Yu Gothic" pitchFamily="34" charset="-122"/>
                <a:cs typeface="Yu Gothic" pitchFamily="34" charset="-120"/>
              </a:rPr>
              <a:t>自宅・会食先・贈答先へ。都心はWineGOで当日デリバリー。</a:t>
            </a:r>
            <a:endParaRPr lang="en-US" sz="940" dirty="0"/>
          </a:p>
        </p:txBody>
      </p:sp>
      <p:sp>
        <p:nvSpPr>
          <p:cNvPr id="28" name="Shape 25"/>
          <p:cNvSpPr/>
          <p:nvPr/>
        </p:nvSpPr>
        <p:spPr>
          <a:xfrm>
            <a:off x="896112" y="4517136"/>
            <a:ext cx="274320" cy="274320"/>
          </a:xfrm>
          <a:prstGeom prst="ellipse">
            <a:avLst/>
          </a:prstGeom>
          <a:solidFill>
            <a:srgbClr val="C68A65"/>
          </a:solidFill>
          <a:ln w="12700">
            <a:solidFill>
              <a:srgbClr val="333333"/>
            </a:solidFill>
            <a:prstDash val="solid"/>
          </a:ln>
        </p:spPr>
      </p:sp>
      <p:sp>
        <p:nvSpPr>
          <p:cNvPr id="29" name="Text 26"/>
          <p:cNvSpPr/>
          <p:nvPr/>
        </p:nvSpPr>
        <p:spPr>
          <a:xfrm>
            <a:off x="896112" y="451713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30" name="Text 27"/>
          <p:cNvSpPr/>
          <p:nvPr/>
        </p:nvSpPr>
        <p:spPr>
          <a:xfrm>
            <a:off x="1298448" y="4480560"/>
            <a:ext cx="5852160" cy="237744"/>
          </a:xfrm>
          <a:prstGeom prst="rect">
            <a:avLst/>
          </a:prstGeom>
          <a:noFill/>
          <a:ln/>
        </p:spPr>
        <p:txBody>
          <a:bodyPr wrap="square" lIns="0" tIns="0" rIns="0" bIns="0" rtlCol="0" anchor="ctr"/>
          <a:lstStyle/>
          <a:p>
            <a:pPr indent="0" marL="0">
              <a:buNone/>
            </a:pPr>
            <a:r>
              <a:rPr lang="en-US" sz="1200" b="1" dirty="0">
                <a:solidFill>
                  <a:srgbClr val="1A1A1A"/>
                </a:solidFill>
                <a:latin typeface="Yu Gothic" pitchFamily="34" charset="0"/>
                <a:ea typeface="Yu Gothic" pitchFamily="34" charset="-122"/>
                <a:cs typeface="Yu Gothic" pitchFamily="34" charset="-120"/>
              </a:rPr>
              <a:t>ネット最安値水準でのワイン購入</a:t>
            </a:r>
            <a:endParaRPr lang="en-US" sz="1200" dirty="0"/>
          </a:p>
        </p:txBody>
      </p:sp>
      <p:sp>
        <p:nvSpPr>
          <p:cNvPr id="31" name="Text 28"/>
          <p:cNvSpPr/>
          <p:nvPr/>
        </p:nvSpPr>
        <p:spPr>
          <a:xfrm>
            <a:off x="1298448" y="4718304"/>
            <a:ext cx="5852160" cy="310896"/>
          </a:xfrm>
          <a:prstGeom prst="rect">
            <a:avLst/>
          </a:prstGeom>
          <a:noFill/>
          <a:ln/>
        </p:spPr>
        <p:txBody>
          <a:bodyPr wrap="square" lIns="0" tIns="0" rIns="0" bIns="0" rtlCol="0" anchor="ctr"/>
          <a:lstStyle/>
          <a:p>
            <a:pPr indent="0" marL="0">
              <a:lnSpc>
                <a:spcPts val="1300"/>
              </a:lnSpc>
              <a:buNone/>
            </a:pPr>
            <a:r>
              <a:rPr lang="en-US" sz="940" dirty="0">
                <a:solidFill>
                  <a:srgbClr val="6E7378"/>
                </a:solidFill>
                <a:latin typeface="Yu Gothic" pitchFamily="34" charset="0"/>
                <a:ea typeface="Yu Gothic" pitchFamily="34" charset="-122"/>
                <a:cs typeface="Yu Gothic" pitchFamily="34" charset="-120"/>
              </a:rPr>
              <a:t>インポーター直の仕入力による特別価格。会員プランに応じて設定。</a:t>
            </a:r>
            <a:endParaRPr lang="en-US" sz="940" dirty="0"/>
          </a:p>
        </p:txBody>
      </p:sp>
      <p:sp>
        <p:nvSpPr>
          <p:cNvPr id="32" name="Shape 29"/>
          <p:cNvSpPr/>
          <p:nvPr/>
        </p:nvSpPr>
        <p:spPr>
          <a:xfrm>
            <a:off x="7607808" y="1463040"/>
            <a:ext cx="4016959" cy="1700784"/>
          </a:xfrm>
          <a:prstGeom prst="roundRect">
            <a:avLst>
              <a:gd name="adj" fmla="val 2688"/>
            </a:avLst>
          </a:prstGeom>
          <a:solidFill>
            <a:srgbClr val="F6F6F6"/>
          </a:solidFill>
          <a:ln w="12700">
            <a:solidFill>
              <a:srgbClr val="333333"/>
            </a:solidFill>
            <a:prstDash val="solid"/>
          </a:ln>
        </p:spPr>
      </p:sp>
      <p:sp>
        <p:nvSpPr>
          <p:cNvPr id="33" name="Text 30"/>
          <p:cNvSpPr/>
          <p:nvPr/>
        </p:nvSpPr>
        <p:spPr>
          <a:xfrm>
            <a:off x="7900416" y="1609344"/>
            <a:ext cx="3431743" cy="274320"/>
          </a:xfrm>
          <a:prstGeom prst="rect">
            <a:avLst/>
          </a:prstGeom>
          <a:noFill/>
          <a:ln/>
        </p:spPr>
        <p:txBody>
          <a:bodyPr wrap="square" lIns="0" tIns="0" rIns="0" bIns="0" rtlCol="0" anchor="ctr"/>
          <a:lstStyle/>
          <a:p>
            <a:pPr indent="0" marL="0">
              <a:buNone/>
            </a:pPr>
            <a:r>
              <a:rPr lang="en-US" sz="1500" b="1" dirty="0">
                <a:solidFill>
                  <a:srgbClr val="1A1A1A"/>
                </a:solidFill>
                <a:latin typeface="Yu Gothic" pitchFamily="34" charset="0"/>
                <a:ea typeface="Yu Gothic" pitchFamily="34" charset="-122"/>
                <a:cs typeface="Yu Gothic" pitchFamily="34" charset="-120"/>
              </a:rPr>
              <a:t>会費と運用</a:t>
            </a:r>
            <a:endParaRPr lang="en-US" sz="1500" dirty="0"/>
          </a:p>
        </p:txBody>
      </p:sp>
      <p:sp>
        <p:nvSpPr>
          <p:cNvPr id="34" name="Text 31"/>
          <p:cNvSpPr/>
          <p:nvPr/>
        </p:nvSpPr>
        <p:spPr>
          <a:xfrm>
            <a:off x="7900416" y="1938528"/>
            <a:ext cx="3431743" cy="1097280"/>
          </a:xfrm>
          <a:prstGeom prst="rect">
            <a:avLst/>
          </a:prstGeom>
          <a:noFill/>
          <a:ln/>
        </p:spPr>
        <p:txBody>
          <a:bodyPr wrap="square" lIns="0" tIns="0" rIns="0" bIns="0" rtlCol="0" anchor="ctr"/>
          <a:lstStyle/>
          <a:p>
            <a:pPr marL="342900" indent="-342900">
              <a:lnSpc>
                <a:spcPts val="1400"/>
              </a:lnSpc>
              <a:spcAft>
                <a:spcPts val="400"/>
              </a:spcAft>
              <a:buSzPct val="100000"/>
              <a:buChar char="▪"/>
            </a:pPr>
            <a:r>
              <a:rPr lang="en-US" sz="1020" dirty="0">
                <a:solidFill>
                  <a:srgbClr val="1A1A1A"/>
                </a:solidFill>
                <a:latin typeface="Yu Gothic" pitchFamily="34" charset="0"/>
                <a:ea typeface="Yu Gothic" pitchFamily="34" charset="-122"/>
                <a:cs typeface="Yu Gothic" pitchFamily="34" charset="-120"/>
              </a:rPr>
              <a:t>個人会員：月会費 8,800円〜（プランにより特典が異なります）</a:t>
            </a:r>
            <a:endParaRPr lang="en-US" sz="1020" dirty="0"/>
          </a:p>
          <a:p>
            <a:pPr marL="342900" indent="-342900">
              <a:lnSpc>
                <a:spcPts val="1400"/>
              </a:lnSpc>
              <a:spcAft>
                <a:spcPts val="400"/>
              </a:spcAft>
              <a:buSzPct val="100000"/>
              <a:buChar char="▪"/>
            </a:pPr>
            <a:r>
              <a:rPr lang="en-US" sz="1020" dirty="0">
                <a:solidFill>
                  <a:srgbClr val="1A1A1A"/>
                </a:solidFill>
                <a:latin typeface="Yu Gothic" pitchFamily="34" charset="0"/>
                <a:ea typeface="Yu Gothic" pitchFamily="34" charset="-122"/>
                <a:cs typeface="Yu Gothic" pitchFamily="34" charset="-120"/>
              </a:rPr>
              <a:t>入会・本人確認・請求はすべて当社が運用</a:t>
            </a:r>
            <a:endParaRPr lang="en-US" sz="1020" dirty="0"/>
          </a:p>
          <a:p>
            <a:pPr marL="342900" indent="-342900">
              <a:lnSpc>
                <a:spcPts val="1400"/>
              </a:lnSpc>
              <a:spcAft>
                <a:spcPts val="400"/>
              </a:spcAft>
              <a:buSzPct val="100000"/>
              <a:buChar char="▪"/>
            </a:pPr>
            <a:r>
              <a:rPr lang="en-US" sz="1020" dirty="0">
                <a:solidFill>
                  <a:srgbClr val="1A1A1A"/>
                </a:solidFill>
                <a:latin typeface="Yu Gothic" pitchFamily="34" charset="0"/>
                <a:ea typeface="Yu Gothic" pitchFamily="34" charset="-122"/>
                <a:cs typeface="Yu Gothic" pitchFamily="34" charset="-120"/>
              </a:rPr>
              <a:t>会員数は千人規模への拡大を計画</a:t>
            </a:r>
            <a:endParaRPr lang="en-US" sz="1020" dirty="0"/>
          </a:p>
        </p:txBody>
      </p:sp>
      <p:sp>
        <p:nvSpPr>
          <p:cNvPr id="35" name="Shape 32"/>
          <p:cNvSpPr/>
          <p:nvPr/>
        </p:nvSpPr>
        <p:spPr>
          <a:xfrm>
            <a:off x="7607808" y="3310128"/>
            <a:ext cx="4016959" cy="1938528"/>
          </a:xfrm>
          <a:prstGeom prst="roundRect">
            <a:avLst>
              <a:gd name="adj" fmla="val 2358"/>
            </a:avLst>
          </a:prstGeom>
          <a:solidFill>
            <a:srgbClr val="2F3941"/>
          </a:solidFill>
          <a:ln w="12700">
            <a:solidFill>
              <a:srgbClr val="333333"/>
            </a:solidFill>
            <a:prstDash val="solid"/>
          </a:ln>
        </p:spPr>
      </p:sp>
      <p:sp>
        <p:nvSpPr>
          <p:cNvPr id="36" name="Text 33"/>
          <p:cNvSpPr/>
          <p:nvPr/>
        </p:nvSpPr>
        <p:spPr>
          <a:xfrm>
            <a:off x="7900416" y="3456432"/>
            <a:ext cx="3431743" cy="274320"/>
          </a:xfrm>
          <a:prstGeom prst="rect">
            <a:avLst/>
          </a:prstGeom>
          <a:noFill/>
          <a:ln/>
        </p:spPr>
        <p:txBody>
          <a:bodyPr wrap="square" lIns="0" tIns="0" rIns="0" bIns="0" rtlCol="0" anchor="ctr"/>
          <a:lstStyle/>
          <a:p>
            <a:pPr indent="0" marL="0">
              <a:buNone/>
            </a:pPr>
            <a:r>
              <a:rPr lang="en-US" sz="1400" b="1" dirty="0">
                <a:solidFill>
                  <a:srgbClr val="EFDCCE"/>
                </a:solidFill>
                <a:latin typeface="Yu Gothic" pitchFamily="34" charset="0"/>
                <a:ea typeface="Yu Gothic" pitchFamily="34" charset="-122"/>
                <a:cs typeface="Yu Gothic" pitchFamily="34" charset="-120"/>
              </a:rPr>
              <a:t>ワイン100本のお預かりについて</a:t>
            </a:r>
            <a:endParaRPr lang="en-US" sz="1400" dirty="0"/>
          </a:p>
        </p:txBody>
      </p:sp>
      <p:sp>
        <p:nvSpPr>
          <p:cNvPr id="37" name="Text 34"/>
          <p:cNvSpPr/>
          <p:nvPr/>
        </p:nvSpPr>
        <p:spPr>
          <a:xfrm>
            <a:off x="7900416" y="3767328"/>
            <a:ext cx="3431743" cy="1371600"/>
          </a:xfrm>
          <a:prstGeom prst="rect">
            <a:avLst/>
          </a:prstGeom>
          <a:noFill/>
          <a:ln/>
        </p:spPr>
        <p:txBody>
          <a:bodyPr wrap="square" lIns="0" tIns="0" rIns="0" bIns="0" rtlCol="0" anchor="ctr"/>
          <a:lstStyle/>
          <a:p>
            <a:pPr indent="0" marL="0">
              <a:lnSpc>
                <a:spcPts val="1400"/>
              </a:lnSpc>
              <a:buNone/>
            </a:pPr>
            <a:r>
              <a:rPr lang="en-US" sz="980" dirty="0">
                <a:solidFill>
                  <a:srgbClr val="DDE1E4"/>
                </a:solidFill>
                <a:latin typeface="Yu Gothic" pitchFamily="34" charset="0"/>
                <a:ea typeface="Yu Gothic" pitchFamily="34" charset="-122"/>
                <a:cs typeface="Yu Gothic" pitchFamily="34" charset="-120"/>
              </a:rPr>
              <a:t>ご自宅ワインのお預かりは、CLUBの標準特典ではありません。別プランとしてご案内しているもので、本ご提案では Program 06「ワイン預りサービス」として切り出しています。混同を避けるため、ここでは含めていません。</a:t>
            </a:r>
            <a:endParaRPr lang="en-US" sz="980" dirty="0"/>
          </a:p>
        </p:txBody>
      </p:sp>
      <p:sp>
        <p:nvSpPr>
          <p:cNvPr id="38" name="Text 35"/>
          <p:cNvSpPr/>
          <p:nvPr/>
        </p:nvSpPr>
        <p:spPr>
          <a:xfrm>
            <a:off x="566928" y="5394960"/>
            <a:ext cx="10972800" cy="256032"/>
          </a:xfrm>
          <a:prstGeom prst="rect">
            <a:avLst/>
          </a:prstGeom>
          <a:noFill/>
          <a:ln/>
        </p:spPr>
        <p:txBody>
          <a:bodyPr wrap="square" lIns="0" tIns="0" rIns="0" bIns="0" rtlCol="0" anchor="ctr"/>
          <a:lstStyle/>
          <a:p>
            <a:pPr indent="0" marL="0">
              <a:buNone/>
            </a:pPr>
            <a:r>
              <a:rPr lang="en-US" sz="1000" b="1" dirty="0">
                <a:solidFill>
                  <a:srgbClr val="A06D4C"/>
                </a:solidFill>
                <a:latin typeface="Yu Gothic" pitchFamily="34" charset="0"/>
                <a:ea typeface="Yu Gothic" pitchFamily="34" charset="-122"/>
                <a:cs typeface="Yu Gothic" pitchFamily="34" charset="-120"/>
              </a:rPr>
              <a:t>ヒルズ向けには、この通常プランをそのまま提供せず、次ページのとおりオーダーメイドさせていただきたく存じます。</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381183" y="292608"/>
            <a:ext cx="1243584" cy="247802"/>
          </a:xfrm>
          <a:prstGeom prst="rect">
            <a:avLst/>
          </a:prstGeom>
        </p:spPr>
      </p:pic>
      <p:sp>
        <p:nvSpPr>
          <p:cNvPr id="3" name="Shape 0"/>
          <p:cNvSpPr/>
          <p:nvPr/>
        </p:nvSpPr>
        <p:spPr>
          <a:xfrm>
            <a:off x="566928" y="292608"/>
            <a:ext cx="1280160" cy="237744"/>
          </a:xfrm>
          <a:prstGeom prst="roundRect">
            <a:avLst>
              <a:gd name="adj" fmla="val 11538"/>
            </a:avLst>
          </a:prstGeom>
          <a:solidFill>
            <a:srgbClr val="C68A65"/>
          </a:solidFill>
          <a:ln w="12700">
            <a:solidFill>
              <a:srgbClr val="333333"/>
            </a:solidFill>
            <a:prstDash val="solid"/>
          </a:ln>
        </p:spPr>
      </p:sp>
      <p:sp>
        <p:nvSpPr>
          <p:cNvPr id="4" name="Text 1"/>
          <p:cNvSpPr/>
          <p:nvPr/>
        </p:nvSpPr>
        <p:spPr>
          <a:xfrm>
            <a:off x="566928" y="292608"/>
            <a:ext cx="128016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Yu Gothic" pitchFamily="34" charset="0"/>
                <a:ea typeface="Yu Gothic" pitchFamily="34" charset="-122"/>
                <a:cs typeface="Yu Gothic" pitchFamily="34" charset="-120"/>
              </a:rPr>
              <a:t>PROGRAM 03-B</a:t>
            </a:r>
            <a:endParaRPr lang="en-US" sz="850" dirty="0"/>
          </a:p>
        </p:txBody>
      </p:sp>
      <p:sp>
        <p:nvSpPr>
          <p:cNvPr id="5" name="Text 2"/>
          <p:cNvSpPr/>
          <p:nvPr/>
        </p:nvSpPr>
        <p:spPr>
          <a:xfrm>
            <a:off x="566928" y="585216"/>
            <a:ext cx="9509760" cy="420624"/>
          </a:xfrm>
          <a:prstGeom prst="rect">
            <a:avLst/>
          </a:prstGeom>
          <a:noFill/>
          <a:ln/>
        </p:spPr>
        <p:txBody>
          <a:bodyPr wrap="square" lIns="0" tIns="0" rIns="0" bIns="0" rtlCol="0" anchor="ctr"/>
          <a:lstStyle/>
          <a:p>
            <a:pPr indent="0" marL="0">
              <a:buNone/>
            </a:pPr>
            <a:r>
              <a:rPr lang="en-US" sz="2300" b="1" dirty="0">
                <a:solidFill>
                  <a:srgbClr val="1A1A1A"/>
                </a:solidFill>
                <a:latin typeface="Yu Gothic" pitchFamily="34" charset="0"/>
                <a:ea typeface="Yu Gothic" pitchFamily="34" charset="-122"/>
                <a:cs typeface="Yu Gothic" pitchFamily="34" charset="-120"/>
              </a:rPr>
              <a:t>Hills WineBank CLUB ─ ヒルズ向けのオーダーメイド</a:t>
            </a:r>
            <a:endParaRPr lang="en-US" sz="2300" dirty="0"/>
          </a:p>
        </p:txBody>
      </p:sp>
      <p:sp>
        <p:nvSpPr>
          <p:cNvPr id="6" name="Text 3"/>
          <p:cNvSpPr/>
          <p:nvPr/>
        </p:nvSpPr>
        <p:spPr>
          <a:xfrm>
            <a:off x="566928" y="1024128"/>
            <a:ext cx="11057839" cy="310896"/>
          </a:xfrm>
          <a:prstGeom prst="rect">
            <a:avLst/>
          </a:prstGeom>
          <a:noFill/>
          <a:ln/>
        </p:spPr>
        <p:txBody>
          <a:bodyPr wrap="square" lIns="0" tIns="0" rIns="0" bIns="0" rtlCol="0" anchor="ctr"/>
          <a:lstStyle/>
          <a:p>
            <a:pPr indent="0" marL="0">
              <a:lnSpc>
                <a:spcPts val="1700"/>
              </a:lnSpc>
              <a:buNone/>
            </a:pPr>
            <a:r>
              <a:rPr lang="en-US" sz="1150" dirty="0">
                <a:solidFill>
                  <a:srgbClr val="6E7378"/>
                </a:solidFill>
                <a:latin typeface="Yu Gothic" pitchFamily="34" charset="0"/>
                <a:ea typeface="Yu Gothic" pitchFamily="34" charset="-122"/>
                <a:cs typeface="Yu Gothic" pitchFamily="34" charset="-120"/>
              </a:rPr>
              <a:t>通常のCLUBをそのまま持ち込むのではなく、館内で完結する特典に組み替えます。名称・ブランディングは森ビル様とご相談させてください。</a:t>
            </a:r>
            <a:endParaRPr lang="en-US" sz="1150" dirty="0"/>
          </a:p>
        </p:txBody>
      </p:sp>
      <p:sp>
        <p:nvSpPr>
          <p:cNvPr id="7" name="Shape 4"/>
          <p:cNvSpPr/>
          <p:nvPr/>
        </p:nvSpPr>
        <p:spPr>
          <a:xfrm>
            <a:off x="0" y="6583680"/>
            <a:ext cx="12191695" cy="274320"/>
          </a:xfrm>
          <a:prstGeom prst="rect">
            <a:avLst/>
          </a:prstGeom>
          <a:solidFill>
            <a:srgbClr val="2F3941"/>
          </a:solidFill>
          <a:ln w="12700">
            <a:solidFill>
              <a:srgbClr val="333333"/>
            </a:solidFill>
            <a:prstDash val="solid"/>
          </a:ln>
        </p:spPr>
      </p:sp>
      <p:sp>
        <p:nvSpPr>
          <p:cNvPr id="8" name="Text 5"/>
          <p:cNvSpPr/>
          <p:nvPr/>
        </p:nvSpPr>
        <p:spPr>
          <a:xfrm>
            <a:off x="10893247" y="6272784"/>
            <a:ext cx="731520" cy="256032"/>
          </a:xfrm>
          <a:prstGeom prst="rect">
            <a:avLst/>
          </a:prstGeom>
          <a:noFill/>
          <a:ln/>
        </p:spPr>
        <p:txBody>
          <a:bodyPr wrap="square" lIns="0" tIns="0" rIns="0" bIns="0" rtlCol="0" anchor="ctr"/>
          <a:lstStyle/>
          <a:p>
            <a:pPr algn="r" indent="0" marL="0">
              <a:buNone/>
            </a:pPr>
            <a:r>
              <a:rPr lang="en-US" sz="1000" dirty="0">
                <a:solidFill>
                  <a:srgbClr val="A6ABAF"/>
                </a:solidFill>
                <a:latin typeface="Calibri" pitchFamily="34" charset="0"/>
                <a:ea typeface="Calibri" pitchFamily="34" charset="-122"/>
                <a:cs typeface="Calibri" pitchFamily="34" charset="-120"/>
              </a:rPr>
              <a:t>10</a:t>
            </a:r>
            <a:endParaRPr lang="en-US" sz="1000" dirty="0"/>
          </a:p>
        </p:txBody>
      </p:sp>
      <p:sp>
        <p:nvSpPr>
          <p:cNvPr id="9" name="Text 6"/>
          <p:cNvSpPr/>
          <p:nvPr/>
        </p:nvSpPr>
        <p:spPr>
          <a:xfrm>
            <a:off x="566928" y="6272784"/>
            <a:ext cx="2926080" cy="256032"/>
          </a:xfrm>
          <a:prstGeom prst="rect">
            <a:avLst/>
          </a:prstGeom>
          <a:noFill/>
          <a:ln/>
        </p:spPr>
        <p:txBody>
          <a:bodyPr wrap="square" lIns="0" tIns="0" rIns="0" bIns="0" rtlCol="0" anchor="ctr"/>
          <a:lstStyle/>
          <a:p>
            <a:pPr indent="0" marL="0">
              <a:buNone/>
            </a:pPr>
            <a:r>
              <a:rPr lang="en-US" sz="850" spc="120" kern="0" dirty="0">
                <a:solidFill>
                  <a:srgbClr val="C7CACC"/>
                </a:solidFill>
                <a:latin typeface="Calibri" pitchFamily="34" charset="0"/>
                <a:ea typeface="Calibri" pitchFamily="34" charset="-122"/>
                <a:cs typeface="Calibri" pitchFamily="34" charset="-120"/>
              </a:rPr>
              <a:t>CONFIDENTIAL</a:t>
            </a:r>
            <a:endParaRPr lang="en-US" sz="8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66928" y="1463040"/>
          <a:ext cx="7351776" cy="914400"/>
        </p:xfrm>
        <a:graphic>
          <a:graphicData uri="http://schemas.openxmlformats.org/drawingml/2006/table">
            <a:tbl>
              <a:tblPr/>
              <a:tblGrid>
                <a:gridCol w="1335024"/>
                <a:gridCol w="2615184"/>
                <a:gridCol w="3401568"/>
              </a:tblGrid>
              <a:tr h="420624">
                <a:tc>
                  <a:txBody>
                    <a:bodyPr/>
                    <a:lstStyle/>
                    <a:p>
                      <a:pPr indent="0" marL="0">
                        <a:buNone/>
                      </a:pPr>
                      <a:r>
                        <a:rPr lang="en-US" sz="960" dirty="0">
                          <a:solidFill>
                            <a:srgbClr val="1A1A1A"/>
                          </a:solidFill>
                          <a:latin typeface="Yu Gothic" pitchFamily="34" charset="0"/>
                          <a:ea typeface="Yu Gothic" pitchFamily="34" charset="-122"/>
                          <a:cs typeface="Yu Gothic" pitchFamily="34" charset="-120"/>
                        </a:rPr>
                        <a:t>項目</a:t>
                      </a:r>
                      <a:endParaRPr lang="en-US" sz="96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60" dirty="0">
                          <a:solidFill>
                            <a:srgbClr val="1A1A1A"/>
                          </a:solidFill>
                          <a:latin typeface="Yu Gothic" pitchFamily="34" charset="0"/>
                          <a:ea typeface="Yu Gothic" pitchFamily="34" charset="-122"/>
                          <a:cs typeface="Yu Gothic" pitchFamily="34" charset="-120"/>
                        </a:rPr>
                        <a:t>通常の WineBank CLUB</a:t>
                      </a:r>
                      <a:endParaRPr lang="en-US" sz="96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60" dirty="0">
                          <a:solidFill>
                            <a:srgbClr val="1A1A1A"/>
                          </a:solidFill>
                          <a:latin typeface="Yu Gothic" pitchFamily="34" charset="0"/>
                          <a:ea typeface="Yu Gothic" pitchFamily="34" charset="-122"/>
                          <a:cs typeface="Yu Gothic" pitchFamily="34" charset="-120"/>
                        </a:rPr>
                        <a:t>Hills WineBank CLUB（ご提案）</a:t>
                      </a:r>
                      <a:endParaRPr lang="en-US" sz="96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r>
              <a:tr h="420624">
                <a:tc>
                  <a:txBody>
                    <a:bodyPr/>
                    <a:lstStyle/>
                    <a:p>
                      <a:pPr indent="0" marL="0">
                        <a:buNone/>
                      </a:pPr>
                      <a:r>
                        <a:rPr lang="en-US" sz="960" dirty="0">
                          <a:solidFill>
                            <a:srgbClr val="1A1A1A"/>
                          </a:solidFill>
                          <a:latin typeface="Yu Gothic" pitchFamily="34" charset="0"/>
                          <a:ea typeface="Yu Gothic" pitchFamily="34" charset="-122"/>
                          <a:cs typeface="Yu Gothic" pitchFamily="34" charset="-120"/>
                        </a:rPr>
                        <a:t>対象</a:t>
                      </a:r>
                      <a:endParaRPr lang="en-US" sz="96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60" dirty="0">
                          <a:solidFill>
                            <a:srgbClr val="1A1A1A"/>
                          </a:solidFill>
                          <a:latin typeface="Yu Gothic" pitchFamily="34" charset="0"/>
                          <a:ea typeface="Yu Gothic" pitchFamily="34" charset="-122"/>
                          <a:cs typeface="Yu Gothic" pitchFamily="34" charset="-120"/>
                        </a:rPr>
                        <a:t>一般個人</a:t>
                      </a:r>
                      <a:endParaRPr lang="en-US" sz="96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60" dirty="0">
                          <a:solidFill>
                            <a:srgbClr val="1A1A1A"/>
                          </a:solidFill>
                          <a:latin typeface="Yu Gothic" pitchFamily="34" charset="0"/>
                          <a:ea typeface="Yu Gothic" pitchFamily="34" charset="-122"/>
                          <a:cs typeface="Yu Gothic" pitchFamily="34" charset="-120"/>
                        </a:rPr>
                        <a:t>ヒルズのテナント法人・レジデンス居住者</a:t>
                      </a:r>
                      <a:endParaRPr lang="en-US" sz="96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r>
              <a:tr h="420624">
                <a:tc>
                  <a:txBody>
                    <a:bodyPr/>
                    <a:lstStyle/>
                    <a:p>
                      <a:pPr indent="0" marL="0">
                        <a:buNone/>
                      </a:pPr>
                      <a:r>
                        <a:rPr lang="en-US" sz="960" dirty="0">
                          <a:solidFill>
                            <a:srgbClr val="1A1A1A"/>
                          </a:solidFill>
                          <a:latin typeface="Yu Gothic" pitchFamily="34" charset="0"/>
                          <a:ea typeface="Yu Gothic" pitchFamily="34" charset="-122"/>
                          <a:cs typeface="Yu Gothic" pitchFamily="34" charset="-120"/>
                        </a:rPr>
                        <a:t>会費</a:t>
                      </a:r>
                      <a:endParaRPr lang="en-US" sz="96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60" dirty="0">
                          <a:solidFill>
                            <a:srgbClr val="1A1A1A"/>
                          </a:solidFill>
                          <a:latin typeface="Yu Gothic" pitchFamily="34" charset="0"/>
                          <a:ea typeface="Yu Gothic" pitchFamily="34" charset="-122"/>
                          <a:cs typeface="Yu Gothic" pitchFamily="34" charset="-120"/>
                        </a:rPr>
                        <a:t>月会費 8,800円〜</a:t>
                      </a:r>
                      <a:endParaRPr lang="en-US" sz="96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60" dirty="0">
                          <a:solidFill>
                            <a:srgbClr val="1A1A1A"/>
                          </a:solidFill>
                          <a:latin typeface="Yu Gothic" pitchFamily="34" charset="0"/>
                          <a:ea typeface="Yu Gothic" pitchFamily="34" charset="-122"/>
                          <a:cs typeface="Yu Gothic" pitchFamily="34" charset="-120"/>
                        </a:rPr>
                        <a:t>ヒルズ枠として特別設定。法人は人数枠課金</a:t>
                      </a:r>
                      <a:endParaRPr lang="en-US" sz="96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r>
              <a:tr h="420624">
                <a:tc>
                  <a:txBody>
                    <a:bodyPr/>
                    <a:lstStyle/>
                    <a:p>
                      <a:pPr indent="0" marL="0">
                        <a:buNone/>
                      </a:pPr>
                      <a:r>
                        <a:rPr lang="en-US" sz="960" dirty="0">
                          <a:solidFill>
                            <a:srgbClr val="1A1A1A"/>
                          </a:solidFill>
                          <a:latin typeface="Yu Gothic" pitchFamily="34" charset="0"/>
                          <a:ea typeface="Yu Gothic" pitchFamily="34" charset="-122"/>
                          <a:cs typeface="Yu Gothic" pitchFamily="34" charset="-120"/>
                        </a:rPr>
                        <a:t>レストラン</a:t>
                      </a:r>
                      <a:endParaRPr lang="en-US" sz="96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60" dirty="0">
                          <a:solidFill>
                            <a:srgbClr val="1A1A1A"/>
                          </a:solidFill>
                          <a:latin typeface="Yu Gothic" pitchFamily="34" charset="0"/>
                          <a:ea typeface="Yu Gothic" pitchFamily="34" charset="-122"/>
                          <a:cs typeface="Yu Gothic" pitchFamily="34" charset="-120"/>
                        </a:rPr>
                        <a:t>ワインが仕入原価相当（約半額）</a:t>
                      </a:r>
                      <a:endParaRPr lang="en-US" sz="96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60" dirty="0">
                          <a:solidFill>
                            <a:srgbClr val="1A1A1A"/>
                          </a:solidFill>
                          <a:latin typeface="Yu Gothic" pitchFamily="34" charset="0"/>
                          <a:ea typeface="Yu Gothic" pitchFamily="34" charset="-122"/>
                          <a:cs typeface="Yu Gothic" pitchFamily="34" charset="-120"/>
                        </a:rPr>
                        <a:t>館内の対象店を追加。同伴者も同特典</a:t>
                      </a:r>
                      <a:endParaRPr lang="en-US" sz="96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r>
              <a:tr h="420624">
                <a:tc>
                  <a:txBody>
                    <a:bodyPr/>
                    <a:lstStyle/>
                    <a:p>
                      <a:pPr indent="0" marL="0">
                        <a:buNone/>
                      </a:pPr>
                      <a:r>
                        <a:rPr lang="en-US" sz="960" dirty="0">
                          <a:solidFill>
                            <a:srgbClr val="1A1A1A"/>
                          </a:solidFill>
                          <a:latin typeface="Yu Gothic" pitchFamily="34" charset="0"/>
                          <a:ea typeface="Yu Gothic" pitchFamily="34" charset="-122"/>
                          <a:cs typeface="Yu Gothic" pitchFamily="34" charset="-120"/>
                        </a:rPr>
                        <a:t>コルケージ</a:t>
                      </a:r>
                      <a:endParaRPr lang="en-US" sz="96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60" dirty="0">
                          <a:solidFill>
                            <a:srgbClr val="1A1A1A"/>
                          </a:solidFill>
                          <a:latin typeface="Yu Gothic" pitchFamily="34" charset="0"/>
                          <a:ea typeface="Yu Gothic" pitchFamily="34" charset="-122"/>
                          <a:cs typeface="Yu Gothic" pitchFamily="34" charset="-120"/>
                        </a:rPr>
                        <a:t>提携店へのBYO無料</a:t>
                      </a:r>
                      <a:endParaRPr lang="en-US" sz="96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60" dirty="0">
                          <a:solidFill>
                            <a:srgbClr val="1A1A1A"/>
                          </a:solidFill>
                          <a:latin typeface="Yu Gothic" pitchFamily="34" charset="0"/>
                          <a:ea typeface="Yu Gothic" pitchFamily="34" charset="-122"/>
                          <a:cs typeface="Yu Gothic" pitchFamily="34" charset="-120"/>
                        </a:rPr>
                        <a:t>館内対象店を追加。会食先への事前配送込み</a:t>
                      </a:r>
                      <a:endParaRPr lang="en-US" sz="96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r>
              <a:tr h="420624">
                <a:tc>
                  <a:txBody>
                    <a:bodyPr/>
                    <a:lstStyle/>
                    <a:p>
                      <a:pPr indent="0" marL="0">
                        <a:buNone/>
                      </a:pPr>
                      <a:r>
                        <a:rPr lang="en-US" sz="960" dirty="0">
                          <a:solidFill>
                            <a:srgbClr val="1A1A1A"/>
                          </a:solidFill>
                          <a:latin typeface="Yu Gothic" pitchFamily="34" charset="0"/>
                          <a:ea typeface="Yu Gothic" pitchFamily="34" charset="-122"/>
                          <a:cs typeface="Yu Gothic" pitchFamily="34" charset="-120"/>
                        </a:rPr>
                        <a:t>配送</a:t>
                      </a:r>
                      <a:endParaRPr lang="en-US" sz="96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60" dirty="0">
                          <a:solidFill>
                            <a:srgbClr val="1A1A1A"/>
                          </a:solidFill>
                          <a:latin typeface="Yu Gothic" pitchFamily="34" charset="0"/>
                          <a:ea typeface="Yu Gothic" pitchFamily="34" charset="-122"/>
                          <a:cs typeface="Yu Gothic" pitchFamily="34" charset="-120"/>
                        </a:rPr>
                        <a:t>月1〜2回無料</a:t>
                      </a:r>
                      <a:endParaRPr lang="en-US" sz="96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60" dirty="0">
                          <a:solidFill>
                            <a:srgbClr val="1A1A1A"/>
                          </a:solidFill>
                          <a:latin typeface="Yu Gothic" pitchFamily="34" charset="0"/>
                          <a:ea typeface="Yu Gothic" pitchFamily="34" charset="-122"/>
                          <a:cs typeface="Yu Gothic" pitchFamily="34" charset="-120"/>
                        </a:rPr>
                        <a:t>館内ストレージ開設後は即日・回数を拡大</a:t>
                      </a:r>
                      <a:endParaRPr lang="en-US" sz="96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r>
              <a:tr h="420624">
                <a:tc>
                  <a:txBody>
                    <a:bodyPr/>
                    <a:lstStyle/>
                    <a:p>
                      <a:pPr indent="0" marL="0">
                        <a:buNone/>
                      </a:pPr>
                      <a:r>
                        <a:rPr lang="en-US" sz="960" dirty="0">
                          <a:solidFill>
                            <a:srgbClr val="1A1A1A"/>
                          </a:solidFill>
                          <a:latin typeface="Yu Gothic" pitchFamily="34" charset="0"/>
                          <a:ea typeface="Yu Gothic" pitchFamily="34" charset="-122"/>
                          <a:cs typeface="Yu Gothic" pitchFamily="34" charset="-120"/>
                        </a:rPr>
                        <a:t>ワイン購入</a:t>
                      </a:r>
                      <a:endParaRPr lang="en-US" sz="96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60" dirty="0">
                          <a:solidFill>
                            <a:srgbClr val="1A1A1A"/>
                          </a:solidFill>
                          <a:latin typeface="Yu Gothic" pitchFamily="34" charset="0"/>
                          <a:ea typeface="Yu Gothic" pitchFamily="34" charset="-122"/>
                          <a:cs typeface="Yu Gothic" pitchFamily="34" charset="-120"/>
                        </a:rPr>
                        <a:t>ネット最安値水準</a:t>
                      </a:r>
                      <a:endParaRPr lang="en-US" sz="96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60" dirty="0">
                          <a:solidFill>
                            <a:srgbClr val="1A1A1A"/>
                          </a:solidFill>
                          <a:latin typeface="Yu Gothic" pitchFamily="34" charset="0"/>
                          <a:ea typeface="Yu Gothic" pitchFamily="34" charset="-122"/>
                          <a:cs typeface="Yu Gothic" pitchFamily="34" charset="-120"/>
                        </a:rPr>
                        <a:t>Cloud Wine Cave を卸値×1.1〜1.3で利用</a:t>
                      </a:r>
                      <a:endParaRPr lang="en-US" sz="96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r>
              <a:tr h="420624">
                <a:tc>
                  <a:txBody>
                    <a:bodyPr/>
                    <a:lstStyle/>
                    <a:p>
                      <a:pPr indent="0" marL="0">
                        <a:buNone/>
                      </a:pPr>
                      <a:r>
                        <a:rPr lang="en-US" sz="960" dirty="0">
                          <a:solidFill>
                            <a:srgbClr val="1A1A1A"/>
                          </a:solidFill>
                          <a:latin typeface="Yu Gothic" pitchFamily="34" charset="0"/>
                          <a:ea typeface="Yu Gothic" pitchFamily="34" charset="-122"/>
                          <a:cs typeface="Yu Gothic" pitchFamily="34" charset="-120"/>
                        </a:rPr>
                        <a:t>受渡し</a:t>
                      </a:r>
                      <a:endParaRPr lang="en-US" sz="96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60" dirty="0">
                          <a:solidFill>
                            <a:srgbClr val="1A1A1A"/>
                          </a:solidFill>
                          <a:latin typeface="Yu Gothic" pitchFamily="34" charset="0"/>
                          <a:ea typeface="Yu Gothic" pitchFamily="34" charset="-122"/>
                          <a:cs typeface="Yu Gothic" pitchFamily="34" charset="-120"/>
                        </a:rPr>
                        <a:t>自宅・会食先へ配送</a:t>
                      </a:r>
                      <a:endParaRPr lang="en-US" sz="96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60" dirty="0">
                          <a:solidFill>
                            <a:srgbClr val="1A1A1A"/>
                          </a:solidFill>
                          <a:latin typeface="Yu Gothic" pitchFamily="34" charset="0"/>
                          <a:ea typeface="Yu Gothic" pitchFamily="34" charset="-122"/>
                          <a:cs typeface="Yu Gothic" pitchFamily="34" charset="-120"/>
                        </a:rPr>
                        <a:t>住宅棟共用部のプライベートセラーで受渡し</a:t>
                      </a:r>
                      <a:endParaRPr lang="en-US" sz="96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r>
              <a:tr h="420624">
                <a:tc>
                  <a:txBody>
                    <a:bodyPr/>
                    <a:lstStyle/>
                    <a:p>
                      <a:pPr indent="0" marL="0">
                        <a:buNone/>
                      </a:pPr>
                      <a:r>
                        <a:rPr lang="en-US" sz="960" dirty="0">
                          <a:solidFill>
                            <a:srgbClr val="1A1A1A"/>
                          </a:solidFill>
                          <a:latin typeface="Yu Gothic" pitchFamily="34" charset="0"/>
                          <a:ea typeface="Yu Gothic" pitchFamily="34" charset="-122"/>
                          <a:cs typeface="Yu Gothic" pitchFamily="34" charset="-120"/>
                        </a:rPr>
                        <a:t>入会窓口</a:t>
                      </a:r>
                      <a:endParaRPr lang="en-US" sz="96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60" dirty="0">
                          <a:solidFill>
                            <a:srgbClr val="1A1A1A"/>
                          </a:solidFill>
                          <a:latin typeface="Yu Gothic" pitchFamily="34" charset="0"/>
                          <a:ea typeface="Yu Gothic" pitchFamily="34" charset="-122"/>
                          <a:cs typeface="Yu Gothic" pitchFamily="34" charset="-120"/>
                        </a:rPr>
                        <a:t>当社EC・会員紹介</a:t>
                      </a:r>
                      <a:endParaRPr lang="en-US" sz="96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60" dirty="0">
                          <a:solidFill>
                            <a:srgbClr val="1A1A1A"/>
                          </a:solidFill>
                          <a:latin typeface="Yu Gothic" pitchFamily="34" charset="0"/>
                          <a:ea typeface="Yu Gothic" pitchFamily="34" charset="-122"/>
                          <a:cs typeface="Yu Gothic" pitchFamily="34" charset="-120"/>
                        </a:rPr>
                        <a:t>レジデンスコンシェルジュ／テナント総務経由</a:t>
                      </a:r>
                      <a:endParaRPr lang="en-US" sz="96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r>
            </a:tbl>
          </a:graphicData>
        </a:graphic>
      </p:graphicFrame>
      <p:sp>
        <p:nvSpPr>
          <p:cNvPr id="11" name="Shape 7"/>
          <p:cNvSpPr/>
          <p:nvPr/>
        </p:nvSpPr>
        <p:spPr>
          <a:xfrm>
            <a:off x="566928" y="1463040"/>
            <a:ext cx="7351776" cy="420624"/>
          </a:xfrm>
          <a:prstGeom prst="rect">
            <a:avLst/>
          </a:prstGeom>
          <a:solidFill>
            <a:srgbClr val="2F3941"/>
          </a:solidFill>
          <a:ln w="12700">
            <a:solidFill>
              <a:srgbClr val="333333"/>
            </a:solidFill>
            <a:prstDash val="solid"/>
          </a:ln>
        </p:spPr>
      </p:sp>
      <p:sp>
        <p:nvSpPr>
          <p:cNvPr id="12" name="Text 8"/>
          <p:cNvSpPr/>
          <p:nvPr/>
        </p:nvSpPr>
        <p:spPr>
          <a:xfrm>
            <a:off x="676656" y="1463040"/>
            <a:ext cx="1115568" cy="420624"/>
          </a:xfrm>
          <a:prstGeom prst="rect">
            <a:avLst/>
          </a:prstGeom>
          <a:noFill/>
          <a:ln/>
        </p:spPr>
        <p:txBody>
          <a:bodyPr wrap="square" lIns="0" tIns="0" rIns="0" bIns="0" rtlCol="0" anchor="ctr"/>
          <a:lstStyle/>
          <a:p>
            <a:pPr indent="0" marL="0">
              <a:buNone/>
            </a:pPr>
            <a:r>
              <a:rPr lang="en-US" sz="960" b="1" dirty="0">
                <a:solidFill>
                  <a:srgbClr val="EFDCCE"/>
                </a:solidFill>
                <a:latin typeface="Yu Gothic" pitchFamily="34" charset="0"/>
                <a:ea typeface="Yu Gothic" pitchFamily="34" charset="-122"/>
                <a:cs typeface="Yu Gothic" pitchFamily="34" charset="-120"/>
              </a:rPr>
              <a:t>項目</a:t>
            </a:r>
            <a:endParaRPr lang="en-US" sz="960" dirty="0"/>
          </a:p>
        </p:txBody>
      </p:sp>
      <p:sp>
        <p:nvSpPr>
          <p:cNvPr id="13" name="Text 9"/>
          <p:cNvSpPr/>
          <p:nvPr/>
        </p:nvSpPr>
        <p:spPr>
          <a:xfrm>
            <a:off x="2011680" y="1463040"/>
            <a:ext cx="2395728" cy="420624"/>
          </a:xfrm>
          <a:prstGeom prst="rect">
            <a:avLst/>
          </a:prstGeom>
          <a:noFill/>
          <a:ln/>
        </p:spPr>
        <p:txBody>
          <a:bodyPr wrap="square" lIns="0" tIns="0" rIns="0" bIns="0" rtlCol="0" anchor="ctr"/>
          <a:lstStyle/>
          <a:p>
            <a:pPr indent="0" marL="0">
              <a:buNone/>
            </a:pPr>
            <a:r>
              <a:rPr lang="en-US" sz="960" b="1" dirty="0">
                <a:solidFill>
                  <a:srgbClr val="EFDCCE"/>
                </a:solidFill>
                <a:latin typeface="Yu Gothic" pitchFamily="34" charset="0"/>
                <a:ea typeface="Yu Gothic" pitchFamily="34" charset="-122"/>
                <a:cs typeface="Yu Gothic" pitchFamily="34" charset="-120"/>
              </a:rPr>
              <a:t>通常の WineBank CLUB</a:t>
            </a:r>
            <a:endParaRPr lang="en-US" sz="960" dirty="0"/>
          </a:p>
        </p:txBody>
      </p:sp>
      <p:sp>
        <p:nvSpPr>
          <p:cNvPr id="14" name="Text 10"/>
          <p:cNvSpPr/>
          <p:nvPr/>
        </p:nvSpPr>
        <p:spPr>
          <a:xfrm>
            <a:off x="4626864" y="1463040"/>
            <a:ext cx="3182112" cy="420624"/>
          </a:xfrm>
          <a:prstGeom prst="rect">
            <a:avLst/>
          </a:prstGeom>
          <a:noFill/>
          <a:ln/>
        </p:spPr>
        <p:txBody>
          <a:bodyPr wrap="square" lIns="0" tIns="0" rIns="0" bIns="0" rtlCol="0" anchor="ctr"/>
          <a:lstStyle/>
          <a:p>
            <a:pPr indent="0" marL="0">
              <a:buNone/>
            </a:pPr>
            <a:r>
              <a:rPr lang="en-US" sz="960" b="1" dirty="0">
                <a:solidFill>
                  <a:srgbClr val="EFDCCE"/>
                </a:solidFill>
                <a:latin typeface="Yu Gothic" pitchFamily="34" charset="0"/>
                <a:ea typeface="Yu Gothic" pitchFamily="34" charset="-122"/>
                <a:cs typeface="Yu Gothic" pitchFamily="34" charset="-120"/>
              </a:rPr>
              <a:t>Hills WineBank CLUB（ご提案）</a:t>
            </a:r>
            <a:endParaRPr lang="en-US" sz="960" dirty="0"/>
          </a:p>
        </p:txBody>
      </p:sp>
      <p:sp>
        <p:nvSpPr>
          <p:cNvPr id="15" name="Shape 11"/>
          <p:cNvSpPr/>
          <p:nvPr/>
        </p:nvSpPr>
        <p:spPr>
          <a:xfrm>
            <a:off x="8229600" y="1463040"/>
            <a:ext cx="3395167" cy="1883664"/>
          </a:xfrm>
          <a:prstGeom prst="roundRect">
            <a:avLst>
              <a:gd name="adj" fmla="val 2427"/>
            </a:avLst>
          </a:prstGeom>
          <a:solidFill>
            <a:srgbClr val="F6F6F6"/>
          </a:solidFill>
          <a:ln w="12700">
            <a:solidFill>
              <a:srgbClr val="333333"/>
            </a:solidFill>
            <a:prstDash val="solid"/>
          </a:ln>
        </p:spPr>
      </p:sp>
      <p:sp>
        <p:nvSpPr>
          <p:cNvPr id="16" name="Text 12"/>
          <p:cNvSpPr/>
          <p:nvPr/>
        </p:nvSpPr>
        <p:spPr>
          <a:xfrm>
            <a:off x="8503920" y="1591056"/>
            <a:ext cx="2846527" cy="256032"/>
          </a:xfrm>
          <a:prstGeom prst="rect">
            <a:avLst/>
          </a:prstGeom>
          <a:noFill/>
          <a:ln/>
        </p:spPr>
        <p:txBody>
          <a:bodyPr wrap="square" lIns="0" tIns="0" rIns="0" bIns="0" rtlCol="0" anchor="ctr"/>
          <a:lstStyle/>
          <a:p>
            <a:pPr indent="0" marL="0">
              <a:buNone/>
            </a:pPr>
            <a:r>
              <a:rPr lang="en-US" sz="1300" b="1" dirty="0">
                <a:solidFill>
                  <a:srgbClr val="1A1A1A"/>
                </a:solidFill>
                <a:latin typeface="Yu Gothic" pitchFamily="34" charset="0"/>
                <a:ea typeface="Yu Gothic" pitchFamily="34" charset="-122"/>
                <a:cs typeface="Yu Gothic" pitchFamily="34" charset="-120"/>
              </a:rPr>
              <a:t>オーダーメイドの考え方</a:t>
            </a:r>
            <a:endParaRPr lang="en-US" sz="1300" dirty="0"/>
          </a:p>
        </p:txBody>
      </p:sp>
      <p:sp>
        <p:nvSpPr>
          <p:cNvPr id="17" name="Text 13"/>
          <p:cNvSpPr/>
          <p:nvPr/>
        </p:nvSpPr>
        <p:spPr>
          <a:xfrm>
            <a:off x="8503920" y="1883664"/>
            <a:ext cx="2846527" cy="1371600"/>
          </a:xfrm>
          <a:prstGeom prst="rect">
            <a:avLst/>
          </a:prstGeom>
          <a:noFill/>
          <a:ln/>
        </p:spPr>
        <p:txBody>
          <a:bodyPr wrap="square" lIns="0" tIns="0" rIns="0" bIns="0" rtlCol="0" anchor="ctr"/>
          <a:lstStyle/>
          <a:p>
            <a:pPr marL="342900" indent="-342900">
              <a:lnSpc>
                <a:spcPts val="1350"/>
              </a:lnSpc>
              <a:spcAft>
                <a:spcPts val="600"/>
              </a:spcAft>
              <a:buSzPct val="100000"/>
              <a:buChar char="▪"/>
            </a:pPr>
            <a:r>
              <a:rPr lang="en-US" sz="980" dirty="0">
                <a:solidFill>
                  <a:srgbClr val="1A1A1A"/>
                </a:solidFill>
                <a:latin typeface="Yu Gothic" pitchFamily="34" charset="0"/>
                <a:ea typeface="Yu Gothic" pitchFamily="34" charset="-122"/>
                <a:cs typeface="Yu Gothic" pitchFamily="34" charset="-120"/>
              </a:rPr>
              <a:t>Hills Club・アカデミーヒルズ等の既存会員組織と機能が重複しない設計にする</a:t>
            </a:r>
            <a:endParaRPr lang="en-US" sz="980" dirty="0"/>
          </a:p>
          <a:p>
            <a:pPr marL="342900" indent="-342900">
              <a:lnSpc>
                <a:spcPts val="1350"/>
              </a:lnSpc>
              <a:spcAft>
                <a:spcPts val="600"/>
              </a:spcAft>
              <a:buSzPct val="100000"/>
              <a:buChar char="▪"/>
            </a:pPr>
            <a:r>
              <a:rPr lang="en-US" sz="980" dirty="0">
                <a:solidFill>
                  <a:srgbClr val="1A1A1A"/>
                </a:solidFill>
                <a:latin typeface="Yu Gothic" pitchFamily="34" charset="0"/>
                <a:ea typeface="Yu Gothic" pitchFamily="34" charset="-122"/>
                <a:cs typeface="Yu Gothic" pitchFamily="34" charset="-120"/>
              </a:rPr>
              <a:t>特典は「館内で完結するもの」を優先する</a:t>
            </a:r>
            <a:endParaRPr lang="en-US" sz="980" dirty="0"/>
          </a:p>
          <a:p>
            <a:pPr marL="342900" indent="-342900">
              <a:lnSpc>
                <a:spcPts val="1350"/>
              </a:lnSpc>
              <a:spcAft>
                <a:spcPts val="600"/>
              </a:spcAft>
              <a:buSzPct val="100000"/>
              <a:buChar char="▪"/>
            </a:pPr>
            <a:r>
              <a:rPr lang="en-US" sz="980" dirty="0">
                <a:solidFill>
                  <a:srgbClr val="1A1A1A"/>
                </a:solidFill>
                <a:latin typeface="Yu Gothic" pitchFamily="34" charset="0"/>
                <a:ea typeface="Yu Gothic" pitchFamily="34" charset="-122"/>
                <a:cs typeface="Yu Gothic" pitchFamily="34" charset="-120"/>
              </a:rPr>
              <a:t>テナント法人は総務経由の一括契約とし、個人手続きを増やさない</a:t>
            </a:r>
            <a:endParaRPr lang="en-US" sz="980" dirty="0"/>
          </a:p>
        </p:txBody>
      </p:sp>
      <p:sp>
        <p:nvSpPr>
          <p:cNvPr id="18" name="Shape 14"/>
          <p:cNvSpPr/>
          <p:nvPr/>
        </p:nvSpPr>
        <p:spPr>
          <a:xfrm>
            <a:off x="8229600" y="3511296"/>
            <a:ext cx="3395167" cy="1572768"/>
          </a:xfrm>
          <a:prstGeom prst="roundRect">
            <a:avLst>
              <a:gd name="adj" fmla="val 2907"/>
            </a:avLst>
          </a:prstGeom>
          <a:solidFill>
            <a:srgbClr val="2F3941"/>
          </a:solidFill>
          <a:ln w="12700">
            <a:solidFill>
              <a:srgbClr val="333333"/>
            </a:solidFill>
            <a:prstDash val="solid"/>
          </a:ln>
        </p:spPr>
      </p:sp>
      <p:sp>
        <p:nvSpPr>
          <p:cNvPr id="19" name="Text 15"/>
          <p:cNvSpPr/>
          <p:nvPr/>
        </p:nvSpPr>
        <p:spPr>
          <a:xfrm>
            <a:off x="8503920" y="3639312"/>
            <a:ext cx="2846527" cy="256032"/>
          </a:xfrm>
          <a:prstGeom prst="rect">
            <a:avLst/>
          </a:prstGeom>
          <a:noFill/>
          <a:ln/>
        </p:spPr>
        <p:txBody>
          <a:bodyPr wrap="square" lIns="0" tIns="0" rIns="0" bIns="0" rtlCol="0" anchor="ctr"/>
          <a:lstStyle/>
          <a:p>
            <a:pPr indent="0" marL="0">
              <a:buNone/>
            </a:pPr>
            <a:r>
              <a:rPr lang="en-US" sz="1300" b="1" dirty="0">
                <a:solidFill>
                  <a:srgbClr val="EFDCCE"/>
                </a:solidFill>
                <a:latin typeface="Yu Gothic" pitchFamily="34" charset="0"/>
                <a:ea typeface="Yu Gothic" pitchFamily="34" charset="-122"/>
                <a:cs typeface="Yu Gothic" pitchFamily="34" charset="-120"/>
              </a:rPr>
              <a:t>通常CLUBとの切り分け</a:t>
            </a:r>
            <a:endParaRPr lang="en-US" sz="1300" dirty="0"/>
          </a:p>
        </p:txBody>
      </p:sp>
      <p:sp>
        <p:nvSpPr>
          <p:cNvPr id="20" name="Text 16"/>
          <p:cNvSpPr/>
          <p:nvPr/>
        </p:nvSpPr>
        <p:spPr>
          <a:xfrm>
            <a:off x="8503920" y="3931920"/>
            <a:ext cx="2846527" cy="969264"/>
          </a:xfrm>
          <a:prstGeom prst="rect">
            <a:avLst/>
          </a:prstGeom>
          <a:noFill/>
          <a:ln/>
        </p:spPr>
        <p:txBody>
          <a:bodyPr wrap="square" lIns="0" tIns="0" rIns="0" bIns="0" rtlCol="0" anchor="ctr"/>
          <a:lstStyle/>
          <a:p>
            <a:pPr indent="0" marL="0">
              <a:lnSpc>
                <a:spcPts val="1400"/>
              </a:lnSpc>
              <a:buNone/>
            </a:pPr>
            <a:r>
              <a:rPr lang="en-US" sz="980" dirty="0">
                <a:solidFill>
                  <a:srgbClr val="DDE1E4"/>
                </a:solidFill>
                <a:latin typeface="Yu Gothic" pitchFamily="34" charset="0"/>
                <a:ea typeface="Yu Gothic" pitchFamily="34" charset="-122"/>
                <a:cs typeface="Yu Gothic" pitchFamily="34" charset="-120"/>
              </a:rPr>
              <a:t>ワイン100本のお預かりは、CLUBの標準特典ではなく Program 06「ワイン預りサービス」として切り出しています。混同を避けるため、Hills版では預り枠の有無・本数・料金を個別に設計します。</a:t>
            </a:r>
            <a:endParaRPr lang="en-US" sz="980" dirty="0"/>
          </a:p>
        </p:txBody>
      </p:sp>
      <p:sp>
        <p:nvSpPr>
          <p:cNvPr id="21" name="Text 17"/>
          <p:cNvSpPr/>
          <p:nvPr/>
        </p:nvSpPr>
        <p:spPr>
          <a:xfrm>
            <a:off x="566928" y="5358384"/>
            <a:ext cx="10972800" cy="274320"/>
          </a:xfrm>
          <a:prstGeom prst="rect">
            <a:avLst/>
          </a:prstGeom>
          <a:noFill/>
          <a:ln/>
        </p:spPr>
        <p:txBody>
          <a:bodyPr wrap="square" lIns="0" tIns="0" rIns="0" bIns="0" rtlCol="0" anchor="ctr"/>
          <a:lstStyle/>
          <a:p>
            <a:pPr indent="0" marL="0">
              <a:buNone/>
            </a:pPr>
            <a:r>
              <a:rPr lang="en-US" sz="960" dirty="0">
                <a:solidFill>
                  <a:srgbClr val="6E7378"/>
                </a:solidFill>
                <a:latin typeface="Yu Gothic" pitchFamily="34" charset="0"/>
                <a:ea typeface="Yu Gothic" pitchFamily="34" charset="-122"/>
                <a:cs typeface="Yu Gothic" pitchFamily="34" charset="-120"/>
              </a:rPr>
              <a:t>会費・特典水準は、対象人数と館内対象店の範囲が決まった段階で確定させていただきます。特典の相当額の考え方は Appendix に記載しています。</a:t>
            </a:r>
            <a:endParaRPr lang="en-US" sz="96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381183" y="292608"/>
            <a:ext cx="1243584" cy="247802"/>
          </a:xfrm>
          <a:prstGeom prst="rect">
            <a:avLst/>
          </a:prstGeom>
        </p:spPr>
      </p:pic>
      <p:sp>
        <p:nvSpPr>
          <p:cNvPr id="3" name="Shape 0"/>
          <p:cNvSpPr/>
          <p:nvPr/>
        </p:nvSpPr>
        <p:spPr>
          <a:xfrm>
            <a:off x="566928" y="292608"/>
            <a:ext cx="1115568" cy="237744"/>
          </a:xfrm>
          <a:prstGeom prst="roundRect">
            <a:avLst>
              <a:gd name="adj" fmla="val 11538"/>
            </a:avLst>
          </a:prstGeom>
          <a:solidFill>
            <a:srgbClr val="C68A65"/>
          </a:solidFill>
          <a:ln w="12700">
            <a:solidFill>
              <a:srgbClr val="333333"/>
            </a:solidFill>
            <a:prstDash val="solid"/>
          </a:ln>
        </p:spPr>
      </p:sp>
      <p:sp>
        <p:nvSpPr>
          <p:cNvPr id="4" name="Text 1"/>
          <p:cNvSpPr/>
          <p:nvPr/>
        </p:nvSpPr>
        <p:spPr>
          <a:xfrm>
            <a:off x="566928" y="292608"/>
            <a:ext cx="1115568"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Yu Gothic" pitchFamily="34" charset="0"/>
                <a:ea typeface="Yu Gothic" pitchFamily="34" charset="-122"/>
                <a:cs typeface="Yu Gothic" pitchFamily="34" charset="-120"/>
              </a:rPr>
              <a:t>PROGRAM 04</a:t>
            </a:r>
            <a:endParaRPr lang="en-US" sz="850" dirty="0"/>
          </a:p>
        </p:txBody>
      </p:sp>
      <p:sp>
        <p:nvSpPr>
          <p:cNvPr id="5" name="Text 2"/>
          <p:cNvSpPr/>
          <p:nvPr/>
        </p:nvSpPr>
        <p:spPr>
          <a:xfrm>
            <a:off x="566928" y="585216"/>
            <a:ext cx="9509760" cy="420624"/>
          </a:xfrm>
          <a:prstGeom prst="rect">
            <a:avLst/>
          </a:prstGeom>
          <a:noFill/>
          <a:ln/>
        </p:spPr>
        <p:txBody>
          <a:bodyPr wrap="square" lIns="0" tIns="0" rIns="0" bIns="0" rtlCol="0" anchor="ctr"/>
          <a:lstStyle/>
          <a:p>
            <a:pPr indent="0" marL="0">
              <a:buNone/>
            </a:pPr>
            <a:r>
              <a:rPr lang="en-US" sz="2300" b="1" dirty="0">
                <a:solidFill>
                  <a:srgbClr val="1A1A1A"/>
                </a:solidFill>
                <a:latin typeface="Yu Gothic" pitchFamily="34" charset="0"/>
                <a:ea typeface="Yu Gothic" pitchFamily="34" charset="-122"/>
                <a:cs typeface="Yu Gothic" pitchFamily="34" charset="-120"/>
              </a:rPr>
              <a:t>クラウドワインセラー出店（商業区画）</a:t>
            </a:r>
            <a:endParaRPr lang="en-US" sz="2300" dirty="0"/>
          </a:p>
        </p:txBody>
      </p:sp>
      <p:sp>
        <p:nvSpPr>
          <p:cNvPr id="6" name="Text 3"/>
          <p:cNvSpPr/>
          <p:nvPr/>
        </p:nvSpPr>
        <p:spPr>
          <a:xfrm>
            <a:off x="566928" y="1024128"/>
            <a:ext cx="11057839" cy="310896"/>
          </a:xfrm>
          <a:prstGeom prst="rect">
            <a:avLst/>
          </a:prstGeom>
          <a:noFill/>
          <a:ln/>
        </p:spPr>
        <p:txBody>
          <a:bodyPr wrap="square" lIns="0" tIns="0" rIns="0" bIns="0" rtlCol="0" anchor="ctr"/>
          <a:lstStyle/>
          <a:p>
            <a:pPr indent="0" marL="0">
              <a:lnSpc>
                <a:spcPts val="1700"/>
              </a:lnSpc>
              <a:buNone/>
            </a:pPr>
            <a:r>
              <a:rPr lang="en-US" sz="1150" dirty="0">
                <a:solidFill>
                  <a:srgbClr val="6E7378"/>
                </a:solidFill>
                <a:latin typeface="Yu Gothic" pitchFamily="34" charset="0"/>
                <a:ea typeface="Yu Gothic" pitchFamily="34" charset="-122"/>
                <a:cs typeface="Yu Gothic" pitchFamily="34" charset="-120"/>
              </a:rPr>
              <a:t>『大型ウォークインワインセラーを目玉とした、セラー在庫共有型フードホール』。Cloud Wine Caveを、街の風景として可視化します。</a:t>
            </a:r>
            <a:endParaRPr lang="en-US" sz="1150" dirty="0"/>
          </a:p>
        </p:txBody>
      </p:sp>
      <p:sp>
        <p:nvSpPr>
          <p:cNvPr id="7" name="Shape 4"/>
          <p:cNvSpPr/>
          <p:nvPr/>
        </p:nvSpPr>
        <p:spPr>
          <a:xfrm>
            <a:off x="0" y="6583680"/>
            <a:ext cx="12191695" cy="274320"/>
          </a:xfrm>
          <a:prstGeom prst="rect">
            <a:avLst/>
          </a:prstGeom>
          <a:solidFill>
            <a:srgbClr val="2F3941"/>
          </a:solidFill>
          <a:ln w="12700">
            <a:solidFill>
              <a:srgbClr val="333333"/>
            </a:solidFill>
            <a:prstDash val="solid"/>
          </a:ln>
        </p:spPr>
      </p:sp>
      <p:sp>
        <p:nvSpPr>
          <p:cNvPr id="8" name="Text 5"/>
          <p:cNvSpPr/>
          <p:nvPr/>
        </p:nvSpPr>
        <p:spPr>
          <a:xfrm>
            <a:off x="10893247" y="6272784"/>
            <a:ext cx="731520" cy="256032"/>
          </a:xfrm>
          <a:prstGeom prst="rect">
            <a:avLst/>
          </a:prstGeom>
          <a:noFill/>
          <a:ln/>
        </p:spPr>
        <p:txBody>
          <a:bodyPr wrap="square" lIns="0" tIns="0" rIns="0" bIns="0" rtlCol="0" anchor="ctr"/>
          <a:lstStyle/>
          <a:p>
            <a:pPr algn="r" indent="0" marL="0">
              <a:buNone/>
            </a:pPr>
            <a:r>
              <a:rPr lang="en-US" sz="1000" dirty="0">
                <a:solidFill>
                  <a:srgbClr val="A6ABAF"/>
                </a:solidFill>
                <a:latin typeface="Calibri" pitchFamily="34" charset="0"/>
                <a:ea typeface="Calibri" pitchFamily="34" charset="-122"/>
                <a:cs typeface="Calibri" pitchFamily="34" charset="-120"/>
              </a:rPr>
              <a:t>11</a:t>
            </a:r>
            <a:endParaRPr lang="en-US" sz="1000" dirty="0"/>
          </a:p>
        </p:txBody>
      </p:sp>
      <p:sp>
        <p:nvSpPr>
          <p:cNvPr id="9" name="Text 6"/>
          <p:cNvSpPr/>
          <p:nvPr/>
        </p:nvSpPr>
        <p:spPr>
          <a:xfrm>
            <a:off x="566928" y="6272784"/>
            <a:ext cx="2926080" cy="256032"/>
          </a:xfrm>
          <a:prstGeom prst="rect">
            <a:avLst/>
          </a:prstGeom>
          <a:noFill/>
          <a:ln/>
        </p:spPr>
        <p:txBody>
          <a:bodyPr wrap="square" lIns="0" tIns="0" rIns="0" bIns="0" rtlCol="0" anchor="ctr"/>
          <a:lstStyle/>
          <a:p>
            <a:pPr indent="0" marL="0">
              <a:buNone/>
            </a:pPr>
            <a:r>
              <a:rPr lang="en-US" sz="850" spc="120" kern="0" dirty="0">
                <a:solidFill>
                  <a:srgbClr val="C7CACC"/>
                </a:solidFill>
                <a:latin typeface="Calibri" pitchFamily="34" charset="0"/>
                <a:ea typeface="Calibri" pitchFamily="34" charset="-122"/>
                <a:cs typeface="Calibri" pitchFamily="34" charset="-120"/>
              </a:rPr>
              <a:t>CONFIDENTIAL</a:t>
            </a:r>
            <a:endParaRPr lang="en-US" sz="850" dirty="0"/>
          </a:p>
        </p:txBody>
      </p:sp>
      <p:sp>
        <p:nvSpPr>
          <p:cNvPr id="10" name="Shape 7"/>
          <p:cNvSpPr/>
          <p:nvPr/>
        </p:nvSpPr>
        <p:spPr>
          <a:xfrm>
            <a:off x="566928" y="1481328"/>
            <a:ext cx="3503066" cy="1591056"/>
          </a:xfrm>
          <a:prstGeom prst="roundRect">
            <a:avLst>
              <a:gd name="adj" fmla="val 2874"/>
            </a:avLst>
          </a:prstGeom>
          <a:solidFill>
            <a:srgbClr val="F6F6F6"/>
          </a:solidFill>
          <a:ln w="12700">
            <a:solidFill>
              <a:srgbClr val="333333"/>
            </a:solidFill>
            <a:prstDash val="solid"/>
          </a:ln>
        </p:spPr>
      </p:sp>
      <p:sp>
        <p:nvSpPr>
          <p:cNvPr id="11" name="Shape 8"/>
          <p:cNvSpPr/>
          <p:nvPr/>
        </p:nvSpPr>
        <p:spPr>
          <a:xfrm>
            <a:off x="804672" y="1682496"/>
            <a:ext cx="402336" cy="402336"/>
          </a:xfrm>
          <a:prstGeom prst="ellipse">
            <a:avLst/>
          </a:prstGeom>
          <a:solidFill>
            <a:srgbClr val="C68A65"/>
          </a:solidFill>
          <a:ln w="12700">
            <a:solidFill>
              <a:srgbClr val="333333"/>
            </a:solidFill>
            <a:prstDash val="solid"/>
          </a:ln>
        </p:spPr>
      </p:sp>
      <p:sp>
        <p:nvSpPr>
          <p:cNvPr id="12" name="Text 9"/>
          <p:cNvSpPr/>
          <p:nvPr/>
        </p:nvSpPr>
        <p:spPr>
          <a:xfrm>
            <a:off x="804672" y="1682496"/>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13" name="Text 10"/>
          <p:cNvSpPr/>
          <p:nvPr/>
        </p:nvSpPr>
        <p:spPr>
          <a:xfrm>
            <a:off x="1298448" y="1645920"/>
            <a:ext cx="2533802" cy="475488"/>
          </a:xfrm>
          <a:prstGeom prst="rect">
            <a:avLst/>
          </a:prstGeom>
          <a:noFill/>
          <a:ln/>
        </p:spPr>
        <p:txBody>
          <a:bodyPr wrap="square" lIns="0" tIns="0" rIns="0" bIns="0" rtlCol="0" anchor="ctr"/>
          <a:lstStyle/>
          <a:p>
            <a:pPr indent="0" marL="0">
              <a:buNone/>
            </a:pPr>
            <a:r>
              <a:rPr lang="en-US" sz="1250" b="1" dirty="0">
                <a:solidFill>
                  <a:srgbClr val="1A1A1A"/>
                </a:solidFill>
                <a:latin typeface="Yu Gothic" pitchFamily="34" charset="0"/>
                <a:ea typeface="Yu Gothic" pitchFamily="34" charset="-122"/>
                <a:cs typeface="Yu Gothic" pitchFamily="34" charset="-120"/>
              </a:rPr>
              <a:t>360度の大型ウォークインセラー</a:t>
            </a:r>
            <a:endParaRPr lang="en-US" sz="1250" dirty="0"/>
          </a:p>
        </p:txBody>
      </p:sp>
      <p:sp>
        <p:nvSpPr>
          <p:cNvPr id="14" name="Text 11"/>
          <p:cNvSpPr/>
          <p:nvPr/>
        </p:nvSpPr>
        <p:spPr>
          <a:xfrm>
            <a:off x="804672" y="2231136"/>
            <a:ext cx="3027578" cy="658368"/>
          </a:xfrm>
          <a:prstGeom prst="rect">
            <a:avLst/>
          </a:prstGeom>
          <a:noFill/>
          <a:ln/>
        </p:spPr>
        <p:txBody>
          <a:bodyPr wrap="square" lIns="0" tIns="0" rIns="0" bIns="0" rtlCol="0" anchor="ctr"/>
          <a:lstStyle/>
          <a:p>
            <a:pPr indent="0" marL="0">
              <a:lnSpc>
                <a:spcPts val="1400"/>
              </a:lnSpc>
              <a:buNone/>
            </a:pPr>
            <a:r>
              <a:rPr lang="en-US" sz="1000" dirty="0">
                <a:solidFill>
                  <a:srgbClr val="1A1A1A"/>
                </a:solidFill>
                <a:latin typeface="Yu Gothic" pitchFamily="34" charset="0"/>
                <a:ea typeface="Yu Gothic" pitchFamily="34" charset="-122"/>
                <a:cs typeface="Yu Gothic" pitchFamily="34" charset="-120"/>
              </a:rPr>
              <a:t>数千本規模のセラーが全区画からの借景となり、他にない空間体験を生む。</a:t>
            </a:r>
            <a:endParaRPr lang="en-US" sz="1000" dirty="0"/>
          </a:p>
        </p:txBody>
      </p:sp>
      <p:sp>
        <p:nvSpPr>
          <p:cNvPr id="15" name="Shape 12"/>
          <p:cNvSpPr/>
          <p:nvPr/>
        </p:nvSpPr>
        <p:spPr>
          <a:xfrm>
            <a:off x="4344314" y="1481328"/>
            <a:ext cx="3503066" cy="1591056"/>
          </a:xfrm>
          <a:prstGeom prst="roundRect">
            <a:avLst>
              <a:gd name="adj" fmla="val 2874"/>
            </a:avLst>
          </a:prstGeom>
          <a:solidFill>
            <a:srgbClr val="F6F6F6"/>
          </a:solidFill>
          <a:ln w="12700">
            <a:solidFill>
              <a:srgbClr val="333333"/>
            </a:solidFill>
            <a:prstDash val="solid"/>
          </a:ln>
        </p:spPr>
      </p:sp>
      <p:sp>
        <p:nvSpPr>
          <p:cNvPr id="16" name="Shape 13"/>
          <p:cNvSpPr/>
          <p:nvPr/>
        </p:nvSpPr>
        <p:spPr>
          <a:xfrm>
            <a:off x="4582058" y="1682496"/>
            <a:ext cx="402336" cy="402336"/>
          </a:xfrm>
          <a:prstGeom prst="ellipse">
            <a:avLst/>
          </a:prstGeom>
          <a:solidFill>
            <a:srgbClr val="C68A65"/>
          </a:solidFill>
          <a:ln w="12700">
            <a:solidFill>
              <a:srgbClr val="333333"/>
            </a:solidFill>
            <a:prstDash val="solid"/>
          </a:ln>
        </p:spPr>
      </p:sp>
      <p:sp>
        <p:nvSpPr>
          <p:cNvPr id="17" name="Text 14"/>
          <p:cNvSpPr/>
          <p:nvPr/>
        </p:nvSpPr>
        <p:spPr>
          <a:xfrm>
            <a:off x="4582058" y="1682496"/>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18" name="Text 15"/>
          <p:cNvSpPr/>
          <p:nvPr/>
        </p:nvSpPr>
        <p:spPr>
          <a:xfrm>
            <a:off x="5075834" y="1645920"/>
            <a:ext cx="2533802" cy="475488"/>
          </a:xfrm>
          <a:prstGeom prst="rect">
            <a:avLst/>
          </a:prstGeom>
          <a:noFill/>
          <a:ln/>
        </p:spPr>
        <p:txBody>
          <a:bodyPr wrap="square" lIns="0" tIns="0" rIns="0" bIns="0" rtlCol="0" anchor="ctr"/>
          <a:lstStyle/>
          <a:p>
            <a:pPr indent="0" marL="0">
              <a:buNone/>
            </a:pPr>
            <a:r>
              <a:rPr lang="en-US" sz="1250" b="1" dirty="0">
                <a:solidFill>
                  <a:srgbClr val="1A1A1A"/>
                </a:solidFill>
                <a:latin typeface="Yu Gothic" pitchFamily="34" charset="0"/>
                <a:ea typeface="Yu Gothic" pitchFamily="34" charset="-122"/>
                <a:cs typeface="Yu Gothic" pitchFamily="34" charset="-120"/>
              </a:rPr>
              <a:t>在庫はセラーが持つ</a:t>
            </a:r>
            <a:endParaRPr lang="en-US" sz="1250" dirty="0"/>
          </a:p>
        </p:txBody>
      </p:sp>
      <p:sp>
        <p:nvSpPr>
          <p:cNvPr id="19" name="Text 16"/>
          <p:cNvSpPr/>
          <p:nvPr/>
        </p:nvSpPr>
        <p:spPr>
          <a:xfrm>
            <a:off x="4582058" y="2231136"/>
            <a:ext cx="3027578" cy="658368"/>
          </a:xfrm>
          <a:prstGeom prst="rect">
            <a:avLst/>
          </a:prstGeom>
          <a:noFill/>
          <a:ln/>
        </p:spPr>
        <p:txBody>
          <a:bodyPr wrap="square" lIns="0" tIns="0" rIns="0" bIns="0" rtlCol="0" anchor="ctr"/>
          <a:lstStyle/>
          <a:p>
            <a:pPr indent="0" marL="0">
              <a:lnSpc>
                <a:spcPts val="1400"/>
              </a:lnSpc>
              <a:buNone/>
            </a:pPr>
            <a:r>
              <a:rPr lang="en-US" sz="1000" dirty="0">
                <a:solidFill>
                  <a:srgbClr val="1A1A1A"/>
                </a:solidFill>
                <a:latin typeface="Yu Gothic" pitchFamily="34" charset="0"/>
                <a:ea typeface="Yu Gothic" pitchFamily="34" charset="-122"/>
                <a:cs typeface="Yu Gothic" pitchFamily="34" charset="-120"/>
              </a:rPr>
              <a:t>各店は在庫を抱えず、必要な分を卸値〜ネット最安値で即時購入。CFが劇的に改善。</a:t>
            </a:r>
            <a:endParaRPr lang="en-US" sz="1000" dirty="0"/>
          </a:p>
        </p:txBody>
      </p:sp>
      <p:sp>
        <p:nvSpPr>
          <p:cNvPr id="20" name="Shape 17"/>
          <p:cNvSpPr/>
          <p:nvPr/>
        </p:nvSpPr>
        <p:spPr>
          <a:xfrm>
            <a:off x="8121701" y="1481328"/>
            <a:ext cx="3503066" cy="1591056"/>
          </a:xfrm>
          <a:prstGeom prst="roundRect">
            <a:avLst>
              <a:gd name="adj" fmla="val 2874"/>
            </a:avLst>
          </a:prstGeom>
          <a:solidFill>
            <a:srgbClr val="F6F6F6"/>
          </a:solidFill>
          <a:ln w="12700">
            <a:solidFill>
              <a:srgbClr val="333333"/>
            </a:solidFill>
            <a:prstDash val="solid"/>
          </a:ln>
        </p:spPr>
      </p:sp>
      <p:sp>
        <p:nvSpPr>
          <p:cNvPr id="21" name="Shape 18"/>
          <p:cNvSpPr/>
          <p:nvPr/>
        </p:nvSpPr>
        <p:spPr>
          <a:xfrm>
            <a:off x="8359445" y="1682496"/>
            <a:ext cx="402336" cy="402336"/>
          </a:xfrm>
          <a:prstGeom prst="ellipse">
            <a:avLst/>
          </a:prstGeom>
          <a:solidFill>
            <a:srgbClr val="C68A65"/>
          </a:solidFill>
          <a:ln w="12700">
            <a:solidFill>
              <a:srgbClr val="333333"/>
            </a:solidFill>
            <a:prstDash val="solid"/>
          </a:ln>
        </p:spPr>
      </p:sp>
      <p:sp>
        <p:nvSpPr>
          <p:cNvPr id="22" name="Text 19"/>
          <p:cNvSpPr/>
          <p:nvPr/>
        </p:nvSpPr>
        <p:spPr>
          <a:xfrm>
            <a:off x="8359445" y="1682496"/>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23" name="Text 20"/>
          <p:cNvSpPr/>
          <p:nvPr/>
        </p:nvSpPr>
        <p:spPr>
          <a:xfrm>
            <a:off x="8853221" y="1645920"/>
            <a:ext cx="2533802" cy="475488"/>
          </a:xfrm>
          <a:prstGeom prst="rect">
            <a:avLst/>
          </a:prstGeom>
          <a:noFill/>
          <a:ln/>
        </p:spPr>
        <p:txBody>
          <a:bodyPr wrap="square" lIns="0" tIns="0" rIns="0" bIns="0" rtlCol="0" anchor="ctr"/>
          <a:lstStyle/>
          <a:p>
            <a:pPr indent="0" marL="0">
              <a:buNone/>
            </a:pPr>
            <a:r>
              <a:rPr lang="en-US" sz="1250" b="1" dirty="0">
                <a:solidFill>
                  <a:srgbClr val="1A1A1A"/>
                </a:solidFill>
                <a:latin typeface="Yu Gothic" pitchFamily="34" charset="0"/>
                <a:ea typeface="Yu Gothic" pitchFamily="34" charset="-122"/>
                <a:cs typeface="Yu Gothic" pitchFamily="34" charset="-120"/>
              </a:rPr>
              <a:t>回遊通路で施設全体へ</a:t>
            </a:r>
            <a:endParaRPr lang="en-US" sz="1250" dirty="0"/>
          </a:p>
        </p:txBody>
      </p:sp>
      <p:sp>
        <p:nvSpPr>
          <p:cNvPr id="24" name="Text 21"/>
          <p:cNvSpPr/>
          <p:nvPr/>
        </p:nvSpPr>
        <p:spPr>
          <a:xfrm>
            <a:off x="8359445" y="2231136"/>
            <a:ext cx="3027578" cy="658368"/>
          </a:xfrm>
          <a:prstGeom prst="rect">
            <a:avLst/>
          </a:prstGeom>
          <a:noFill/>
          <a:ln/>
        </p:spPr>
        <p:txBody>
          <a:bodyPr wrap="square" lIns="0" tIns="0" rIns="0" bIns="0" rtlCol="0" anchor="ctr"/>
          <a:lstStyle/>
          <a:p>
            <a:pPr indent="0" marL="0">
              <a:lnSpc>
                <a:spcPts val="1400"/>
              </a:lnSpc>
              <a:buNone/>
            </a:pPr>
            <a:r>
              <a:rPr lang="en-US" sz="1000" dirty="0">
                <a:solidFill>
                  <a:srgbClr val="1A1A1A"/>
                </a:solidFill>
                <a:latin typeface="Yu Gothic" pitchFamily="34" charset="0"/>
                <a:ea typeface="Yu Gothic" pitchFamily="34" charset="-122"/>
                <a:cs typeface="Yu Gothic" pitchFamily="34" charset="-120"/>
              </a:rPr>
              <a:t>セラーを囲む回遊動線が滞在時間を延ばし、隣接区画への送客を生む。</a:t>
            </a:r>
            <a:endParaRPr lang="en-US" sz="1000" dirty="0"/>
          </a:p>
        </p:txBody>
      </p:sp>
      <p:sp>
        <p:nvSpPr>
          <p:cNvPr id="25" name="Text 22"/>
          <p:cNvSpPr/>
          <p:nvPr/>
        </p:nvSpPr>
        <p:spPr>
          <a:xfrm>
            <a:off x="566928" y="3255264"/>
            <a:ext cx="4572000" cy="274320"/>
          </a:xfrm>
          <a:prstGeom prst="rect">
            <a:avLst/>
          </a:prstGeom>
          <a:noFill/>
          <a:ln/>
        </p:spPr>
        <p:txBody>
          <a:bodyPr wrap="square" lIns="0" tIns="0" rIns="0" bIns="0" rtlCol="0" anchor="ctr"/>
          <a:lstStyle/>
          <a:p>
            <a:pPr indent="0" marL="0">
              <a:buNone/>
            </a:pPr>
            <a:r>
              <a:rPr lang="en-US" sz="1400" b="1" dirty="0">
                <a:solidFill>
                  <a:srgbClr val="1A1A1A"/>
                </a:solidFill>
                <a:latin typeface="Yu Gothic" pitchFamily="34" charset="0"/>
                <a:ea typeface="Yu Gothic" pitchFamily="34" charset="-122"/>
                <a:cs typeface="Yu Gothic" pitchFamily="34" charset="-120"/>
              </a:rPr>
              <a:t>三者にとってのWin</a:t>
            </a:r>
            <a:endParaRPr lang="en-US" sz="1400" dirty="0"/>
          </a:p>
        </p:txBody>
      </p:sp>
      <p:sp>
        <p:nvSpPr>
          <p:cNvPr id="26" name="Shape 23"/>
          <p:cNvSpPr/>
          <p:nvPr/>
        </p:nvSpPr>
        <p:spPr>
          <a:xfrm>
            <a:off x="566928" y="3602736"/>
            <a:ext cx="3503066" cy="1645920"/>
          </a:xfrm>
          <a:prstGeom prst="roundRect">
            <a:avLst>
              <a:gd name="adj" fmla="val 2778"/>
            </a:avLst>
          </a:prstGeom>
          <a:solidFill>
            <a:srgbClr val="F6F6F6"/>
          </a:solidFill>
          <a:ln w="12700">
            <a:solidFill>
              <a:srgbClr val="333333"/>
            </a:solidFill>
            <a:prstDash val="solid"/>
          </a:ln>
        </p:spPr>
      </p:sp>
      <p:sp>
        <p:nvSpPr>
          <p:cNvPr id="27" name="Text 24"/>
          <p:cNvSpPr/>
          <p:nvPr/>
        </p:nvSpPr>
        <p:spPr>
          <a:xfrm>
            <a:off x="822960" y="3749040"/>
            <a:ext cx="2991002" cy="274320"/>
          </a:xfrm>
          <a:prstGeom prst="rect">
            <a:avLst/>
          </a:prstGeom>
          <a:noFill/>
          <a:ln/>
        </p:spPr>
        <p:txBody>
          <a:bodyPr wrap="square" lIns="0" tIns="0" rIns="0" bIns="0" rtlCol="0" anchor="ctr"/>
          <a:lstStyle/>
          <a:p>
            <a:pPr indent="0" marL="0">
              <a:buNone/>
            </a:pPr>
            <a:r>
              <a:rPr lang="en-US" sz="1300" b="1" dirty="0">
                <a:solidFill>
                  <a:srgbClr val="A06D4C"/>
                </a:solidFill>
                <a:latin typeface="Yu Gothic" pitchFamily="34" charset="0"/>
                <a:ea typeface="Yu Gothic" pitchFamily="34" charset="-122"/>
                <a:cs typeface="Yu Gothic" pitchFamily="34" charset="-120"/>
              </a:rPr>
              <a:t>出店者</a:t>
            </a:r>
            <a:endParaRPr lang="en-US" sz="1300" dirty="0"/>
          </a:p>
        </p:txBody>
      </p:sp>
      <p:sp>
        <p:nvSpPr>
          <p:cNvPr id="28" name="Text 25"/>
          <p:cNvSpPr/>
          <p:nvPr/>
        </p:nvSpPr>
        <p:spPr>
          <a:xfrm>
            <a:off x="822960" y="4078224"/>
            <a:ext cx="2991002" cy="1078992"/>
          </a:xfrm>
          <a:prstGeom prst="rect">
            <a:avLst/>
          </a:prstGeom>
          <a:noFill/>
          <a:ln/>
        </p:spPr>
        <p:txBody>
          <a:bodyPr wrap="square" lIns="0" tIns="0" rIns="0" bIns="0" rtlCol="0" anchor="ctr"/>
          <a:lstStyle/>
          <a:p>
            <a:pPr marL="342900" indent="-342900">
              <a:lnSpc>
                <a:spcPts val="1350"/>
              </a:lnSpc>
              <a:spcAft>
                <a:spcPts val="300"/>
              </a:spcAft>
              <a:buSzPct val="100000"/>
              <a:buChar char="▪"/>
            </a:pPr>
            <a:r>
              <a:rPr lang="en-US" sz="980" dirty="0">
                <a:solidFill>
                  <a:srgbClr val="1A1A1A"/>
                </a:solidFill>
                <a:latin typeface="Yu Gothic" pitchFamily="34" charset="0"/>
                <a:ea typeface="Yu Gothic" pitchFamily="34" charset="-122"/>
                <a:cs typeface="Yu Gothic" pitchFamily="34" charset="-120"/>
              </a:rPr>
              <a:t>卸値〜最安値で即時仕入</a:t>
            </a:r>
            <a:endParaRPr lang="en-US" sz="980" dirty="0"/>
          </a:p>
          <a:p>
            <a:pPr marL="342900" indent="-342900">
              <a:lnSpc>
                <a:spcPts val="1350"/>
              </a:lnSpc>
              <a:spcAft>
                <a:spcPts val="300"/>
              </a:spcAft>
              <a:buSzPct val="100000"/>
              <a:buChar char="▪"/>
            </a:pPr>
            <a:r>
              <a:rPr lang="en-US" sz="980" dirty="0">
                <a:solidFill>
                  <a:srgbClr val="1A1A1A"/>
                </a:solidFill>
                <a:latin typeface="Yu Gothic" pitchFamily="34" charset="0"/>
                <a:ea typeface="Yu Gothic" pitchFamily="34" charset="-122"/>
                <a:cs typeface="Yu Gothic" pitchFamily="34" charset="-120"/>
              </a:rPr>
              <a:t>店内在庫・セラー設備が不要</a:t>
            </a:r>
            <a:endParaRPr lang="en-US" sz="980" dirty="0"/>
          </a:p>
          <a:p>
            <a:pPr marL="342900" indent="-342900">
              <a:lnSpc>
                <a:spcPts val="1350"/>
              </a:lnSpc>
              <a:spcAft>
                <a:spcPts val="300"/>
              </a:spcAft>
              <a:buSzPct val="100000"/>
              <a:buChar char="▪"/>
            </a:pPr>
            <a:r>
              <a:rPr lang="en-US" sz="980" dirty="0">
                <a:solidFill>
                  <a:srgbClr val="1A1A1A"/>
                </a:solidFill>
                <a:latin typeface="Yu Gothic" pitchFamily="34" charset="0"/>
                <a:ea typeface="Yu Gothic" pitchFamily="34" charset="-122"/>
                <a:cs typeface="Yu Gothic" pitchFamily="34" charset="-120"/>
              </a:rPr>
              <a:t>大型セラーが自店の借景に</a:t>
            </a:r>
            <a:endParaRPr lang="en-US" sz="980" dirty="0"/>
          </a:p>
        </p:txBody>
      </p:sp>
      <p:sp>
        <p:nvSpPr>
          <p:cNvPr id="29" name="Shape 26"/>
          <p:cNvSpPr/>
          <p:nvPr/>
        </p:nvSpPr>
        <p:spPr>
          <a:xfrm>
            <a:off x="4344314" y="3602736"/>
            <a:ext cx="3503066" cy="1645920"/>
          </a:xfrm>
          <a:prstGeom prst="roundRect">
            <a:avLst>
              <a:gd name="adj" fmla="val 2778"/>
            </a:avLst>
          </a:prstGeom>
          <a:solidFill>
            <a:srgbClr val="2F3941"/>
          </a:solidFill>
          <a:ln w="12700">
            <a:solidFill>
              <a:srgbClr val="333333"/>
            </a:solidFill>
            <a:prstDash val="solid"/>
          </a:ln>
        </p:spPr>
      </p:sp>
      <p:sp>
        <p:nvSpPr>
          <p:cNvPr id="30" name="Text 27"/>
          <p:cNvSpPr/>
          <p:nvPr/>
        </p:nvSpPr>
        <p:spPr>
          <a:xfrm>
            <a:off x="4600346" y="3749040"/>
            <a:ext cx="2991002" cy="274320"/>
          </a:xfrm>
          <a:prstGeom prst="rect">
            <a:avLst/>
          </a:prstGeom>
          <a:noFill/>
          <a:ln/>
        </p:spPr>
        <p:txBody>
          <a:bodyPr wrap="square" lIns="0" tIns="0" rIns="0" bIns="0" rtlCol="0" anchor="ctr"/>
          <a:lstStyle/>
          <a:p>
            <a:pPr indent="0" marL="0">
              <a:buNone/>
            </a:pPr>
            <a:r>
              <a:rPr lang="en-US" sz="1300" b="1" dirty="0">
                <a:solidFill>
                  <a:srgbClr val="EFDCCE"/>
                </a:solidFill>
                <a:latin typeface="Yu Gothic" pitchFamily="34" charset="0"/>
                <a:ea typeface="Yu Gothic" pitchFamily="34" charset="-122"/>
                <a:cs typeface="Yu Gothic" pitchFamily="34" charset="-120"/>
              </a:rPr>
              <a:t>商業施設（森ビル様）</a:t>
            </a:r>
            <a:endParaRPr lang="en-US" sz="1300" dirty="0"/>
          </a:p>
        </p:txBody>
      </p:sp>
      <p:sp>
        <p:nvSpPr>
          <p:cNvPr id="31" name="Text 28"/>
          <p:cNvSpPr/>
          <p:nvPr/>
        </p:nvSpPr>
        <p:spPr>
          <a:xfrm>
            <a:off x="4600346" y="4078224"/>
            <a:ext cx="2991002" cy="1078992"/>
          </a:xfrm>
          <a:prstGeom prst="rect">
            <a:avLst/>
          </a:prstGeom>
          <a:noFill/>
          <a:ln/>
        </p:spPr>
        <p:txBody>
          <a:bodyPr wrap="square" lIns="0" tIns="0" rIns="0" bIns="0" rtlCol="0" anchor="ctr"/>
          <a:lstStyle/>
          <a:p>
            <a:pPr marL="342900" indent="-342900">
              <a:lnSpc>
                <a:spcPts val="1350"/>
              </a:lnSpc>
              <a:spcAft>
                <a:spcPts val="300"/>
              </a:spcAft>
              <a:buSzPct val="100000"/>
              <a:buChar char="▪"/>
            </a:pPr>
            <a:r>
              <a:rPr lang="en-US" sz="980" dirty="0">
                <a:solidFill>
                  <a:srgbClr val="E3E6E8"/>
                </a:solidFill>
                <a:latin typeface="Yu Gothic" pitchFamily="34" charset="0"/>
                <a:ea typeface="Yu Gothic" pitchFamily="34" charset="-122"/>
                <a:cs typeface="Yu Gothic" pitchFamily="34" charset="-120"/>
              </a:rPr>
              <a:t>前例のない話題性と施設イメージ向上</a:t>
            </a:r>
            <a:endParaRPr lang="en-US" sz="980" dirty="0"/>
          </a:p>
          <a:p>
            <a:pPr marL="342900" indent="-342900">
              <a:lnSpc>
                <a:spcPts val="1350"/>
              </a:lnSpc>
              <a:spcAft>
                <a:spcPts val="300"/>
              </a:spcAft>
              <a:buSzPct val="100000"/>
              <a:buChar char="▪"/>
            </a:pPr>
            <a:r>
              <a:rPr lang="en-US" sz="980" dirty="0">
                <a:solidFill>
                  <a:srgbClr val="E3E6E8"/>
                </a:solidFill>
                <a:latin typeface="Yu Gothic" pitchFamily="34" charset="0"/>
                <a:ea typeface="Yu Gothic" pitchFamily="34" charset="-122"/>
                <a:cs typeface="Yu Gothic" pitchFamily="34" charset="-120"/>
              </a:rPr>
              <a:t>出店誘致が容易になり、賃料・保証金の引上げ余地</a:t>
            </a:r>
            <a:endParaRPr lang="en-US" sz="980" dirty="0"/>
          </a:p>
          <a:p>
            <a:pPr marL="342900" indent="-342900">
              <a:lnSpc>
                <a:spcPts val="1350"/>
              </a:lnSpc>
              <a:spcAft>
                <a:spcPts val="300"/>
              </a:spcAft>
              <a:buSzPct val="100000"/>
              <a:buChar char="▪"/>
            </a:pPr>
            <a:r>
              <a:rPr lang="en-US" sz="980" dirty="0">
                <a:solidFill>
                  <a:srgbClr val="E3E6E8"/>
                </a:solidFill>
                <a:latin typeface="Yu Gothic" pitchFamily="34" charset="0"/>
                <a:ea typeface="Yu Gothic" pitchFamily="34" charset="-122"/>
                <a:cs typeface="Yu Gothic" pitchFamily="34" charset="-120"/>
              </a:rPr>
              <a:t>施設全体・レジデンスへも卸値供給</a:t>
            </a:r>
            <a:endParaRPr lang="en-US" sz="980" dirty="0"/>
          </a:p>
        </p:txBody>
      </p:sp>
      <p:sp>
        <p:nvSpPr>
          <p:cNvPr id="32" name="Shape 29"/>
          <p:cNvSpPr/>
          <p:nvPr/>
        </p:nvSpPr>
        <p:spPr>
          <a:xfrm>
            <a:off x="8121701" y="3602736"/>
            <a:ext cx="3503066" cy="1645920"/>
          </a:xfrm>
          <a:prstGeom prst="roundRect">
            <a:avLst>
              <a:gd name="adj" fmla="val 2778"/>
            </a:avLst>
          </a:prstGeom>
          <a:solidFill>
            <a:srgbClr val="F6F6F6"/>
          </a:solidFill>
          <a:ln w="12700">
            <a:solidFill>
              <a:srgbClr val="333333"/>
            </a:solidFill>
            <a:prstDash val="solid"/>
          </a:ln>
        </p:spPr>
      </p:sp>
      <p:sp>
        <p:nvSpPr>
          <p:cNvPr id="33" name="Text 30"/>
          <p:cNvSpPr/>
          <p:nvPr/>
        </p:nvSpPr>
        <p:spPr>
          <a:xfrm>
            <a:off x="8377733" y="3749040"/>
            <a:ext cx="2991002" cy="274320"/>
          </a:xfrm>
          <a:prstGeom prst="rect">
            <a:avLst/>
          </a:prstGeom>
          <a:noFill/>
          <a:ln/>
        </p:spPr>
        <p:txBody>
          <a:bodyPr wrap="square" lIns="0" tIns="0" rIns="0" bIns="0" rtlCol="0" anchor="ctr"/>
          <a:lstStyle/>
          <a:p>
            <a:pPr indent="0" marL="0">
              <a:buNone/>
            </a:pPr>
            <a:r>
              <a:rPr lang="en-US" sz="1300" b="1" dirty="0">
                <a:solidFill>
                  <a:srgbClr val="A06D4C"/>
                </a:solidFill>
                <a:latin typeface="Yu Gothic" pitchFamily="34" charset="0"/>
                <a:ea typeface="Yu Gothic" pitchFamily="34" charset="-122"/>
                <a:cs typeface="Yu Gothic" pitchFamily="34" charset="-120"/>
              </a:rPr>
              <a:t>来館者・居住者</a:t>
            </a:r>
            <a:endParaRPr lang="en-US" sz="1300" dirty="0"/>
          </a:p>
        </p:txBody>
      </p:sp>
      <p:sp>
        <p:nvSpPr>
          <p:cNvPr id="34" name="Text 31"/>
          <p:cNvSpPr/>
          <p:nvPr/>
        </p:nvSpPr>
        <p:spPr>
          <a:xfrm>
            <a:off x="8377733" y="4078224"/>
            <a:ext cx="2991002" cy="1078992"/>
          </a:xfrm>
          <a:prstGeom prst="rect">
            <a:avLst/>
          </a:prstGeom>
          <a:noFill/>
          <a:ln/>
        </p:spPr>
        <p:txBody>
          <a:bodyPr wrap="square" lIns="0" tIns="0" rIns="0" bIns="0" rtlCol="0" anchor="ctr"/>
          <a:lstStyle/>
          <a:p>
            <a:pPr marL="342900" indent="-342900">
              <a:lnSpc>
                <a:spcPts val="1350"/>
              </a:lnSpc>
              <a:spcAft>
                <a:spcPts val="300"/>
              </a:spcAft>
              <a:buSzPct val="100000"/>
              <a:buChar char="▪"/>
            </a:pPr>
            <a:r>
              <a:rPr lang="en-US" sz="980" dirty="0">
                <a:solidFill>
                  <a:srgbClr val="1A1A1A"/>
                </a:solidFill>
                <a:latin typeface="Yu Gothic" pitchFamily="34" charset="0"/>
                <a:ea typeface="Yu Gothic" pitchFamily="34" charset="-122"/>
                <a:cs typeface="Yu Gothic" pitchFamily="34" charset="-120"/>
              </a:rPr>
              <a:t>数千本から選べる圧倒的な品揃え</a:t>
            </a:r>
            <a:endParaRPr lang="en-US" sz="980" dirty="0"/>
          </a:p>
          <a:p>
            <a:pPr marL="342900" indent="-342900">
              <a:lnSpc>
                <a:spcPts val="1350"/>
              </a:lnSpc>
              <a:spcAft>
                <a:spcPts val="300"/>
              </a:spcAft>
              <a:buSzPct val="100000"/>
              <a:buChar char="▪"/>
            </a:pPr>
            <a:r>
              <a:rPr lang="en-US" sz="980" dirty="0">
                <a:solidFill>
                  <a:srgbClr val="1A1A1A"/>
                </a:solidFill>
                <a:latin typeface="Yu Gothic" pitchFamily="34" charset="0"/>
                <a:ea typeface="Yu Gothic" pitchFamily="34" charset="-122"/>
                <a:cs typeface="Yu Gothic" pitchFamily="34" charset="-120"/>
              </a:rPr>
              <a:t>専門店価格でグラス・ボトルを楽しめる</a:t>
            </a:r>
            <a:endParaRPr lang="en-US" sz="980" dirty="0"/>
          </a:p>
          <a:p>
            <a:pPr marL="342900" indent="-342900">
              <a:lnSpc>
                <a:spcPts val="1350"/>
              </a:lnSpc>
              <a:spcAft>
                <a:spcPts val="300"/>
              </a:spcAft>
              <a:buSzPct val="100000"/>
              <a:buChar char="▪"/>
            </a:pPr>
            <a:r>
              <a:rPr lang="en-US" sz="980" dirty="0">
                <a:solidFill>
                  <a:srgbClr val="1A1A1A"/>
                </a:solidFill>
                <a:latin typeface="Yu Gothic" pitchFamily="34" charset="0"/>
                <a:ea typeface="Yu Gothic" pitchFamily="34" charset="-122"/>
                <a:cs typeface="Yu Gothic" pitchFamily="34" charset="-120"/>
              </a:rPr>
              <a:t>その場で購入し、自宅へ配送も可能</a:t>
            </a:r>
            <a:endParaRPr lang="en-US" sz="980" dirty="0"/>
          </a:p>
        </p:txBody>
      </p:sp>
      <p:sp>
        <p:nvSpPr>
          <p:cNvPr id="35" name="Text 32"/>
          <p:cNvSpPr/>
          <p:nvPr/>
        </p:nvSpPr>
        <p:spPr>
          <a:xfrm>
            <a:off x="566928" y="5394960"/>
            <a:ext cx="10972800" cy="274320"/>
          </a:xfrm>
          <a:prstGeom prst="rect">
            <a:avLst/>
          </a:prstGeom>
          <a:noFill/>
          <a:ln/>
        </p:spPr>
        <p:txBody>
          <a:bodyPr wrap="square" lIns="0" tIns="0" rIns="0" bIns="0" rtlCol="0" anchor="ctr"/>
          <a:lstStyle/>
          <a:p>
            <a:pPr indent="0" marL="0">
              <a:buNone/>
            </a:pPr>
            <a:r>
              <a:rPr lang="en-US" sz="880" dirty="0">
                <a:solidFill>
                  <a:srgbClr val="A6ABAF"/>
                </a:solidFill>
                <a:latin typeface="Yu Gothic" pitchFamily="34" charset="0"/>
                <a:ea typeface="Yu Gothic" pitchFamily="34" charset="-122"/>
                <a:cs typeface="Yu Gothic" pitchFamily="34" charset="-120"/>
              </a:rPr>
              <a:t>想定規模：セラー約30坪 ＋ 飲食区画約100坪（日比谷ミッドタウン地下1階フードホール、虎ノ門横丁の客単価・区画割りを参照）。取扱いはワインに限らず酒類全般。</a:t>
            </a:r>
            <a:endParaRPr lang="en-US" sz="88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381183" y="292608"/>
            <a:ext cx="1243584" cy="247802"/>
          </a:xfrm>
          <a:prstGeom prst="rect">
            <a:avLst/>
          </a:prstGeom>
        </p:spPr>
      </p:pic>
      <p:sp>
        <p:nvSpPr>
          <p:cNvPr id="3" name="Shape 0"/>
          <p:cNvSpPr/>
          <p:nvPr/>
        </p:nvSpPr>
        <p:spPr>
          <a:xfrm>
            <a:off x="566928" y="292608"/>
            <a:ext cx="1115568" cy="237744"/>
          </a:xfrm>
          <a:prstGeom prst="roundRect">
            <a:avLst>
              <a:gd name="adj" fmla="val 11538"/>
            </a:avLst>
          </a:prstGeom>
          <a:solidFill>
            <a:srgbClr val="C68A65"/>
          </a:solidFill>
          <a:ln w="12700">
            <a:solidFill>
              <a:srgbClr val="333333"/>
            </a:solidFill>
            <a:prstDash val="solid"/>
          </a:ln>
        </p:spPr>
      </p:sp>
      <p:sp>
        <p:nvSpPr>
          <p:cNvPr id="4" name="Text 1"/>
          <p:cNvSpPr/>
          <p:nvPr/>
        </p:nvSpPr>
        <p:spPr>
          <a:xfrm>
            <a:off x="566928" y="292608"/>
            <a:ext cx="1115568"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Yu Gothic" pitchFamily="34" charset="0"/>
                <a:ea typeface="Yu Gothic" pitchFamily="34" charset="-122"/>
                <a:cs typeface="Yu Gothic" pitchFamily="34" charset="-120"/>
              </a:rPr>
              <a:t>PROGRAM 05</a:t>
            </a:r>
            <a:endParaRPr lang="en-US" sz="850" dirty="0"/>
          </a:p>
        </p:txBody>
      </p:sp>
      <p:sp>
        <p:nvSpPr>
          <p:cNvPr id="5" name="Text 2"/>
          <p:cNvSpPr/>
          <p:nvPr/>
        </p:nvSpPr>
        <p:spPr>
          <a:xfrm>
            <a:off x="566928" y="585216"/>
            <a:ext cx="9509760" cy="420624"/>
          </a:xfrm>
          <a:prstGeom prst="rect">
            <a:avLst/>
          </a:prstGeom>
          <a:noFill/>
          <a:ln/>
        </p:spPr>
        <p:txBody>
          <a:bodyPr wrap="square" lIns="0" tIns="0" rIns="0" bIns="0" rtlCol="0" anchor="ctr"/>
          <a:lstStyle/>
          <a:p>
            <a:pPr indent="0" marL="0">
              <a:buNone/>
            </a:pPr>
            <a:r>
              <a:rPr lang="en-US" sz="2300" b="1" dirty="0">
                <a:solidFill>
                  <a:srgbClr val="1A1A1A"/>
                </a:solidFill>
                <a:latin typeface="Yu Gothic" pitchFamily="34" charset="0"/>
                <a:ea typeface="Yu Gothic" pitchFamily="34" charset="-122"/>
                <a:cs typeface="Yu Gothic" pitchFamily="34" charset="-120"/>
              </a:rPr>
              <a:t>ティエリー・マルクス業態の出店</a:t>
            </a:r>
            <a:endParaRPr lang="en-US" sz="2300" dirty="0"/>
          </a:p>
        </p:txBody>
      </p:sp>
      <p:sp>
        <p:nvSpPr>
          <p:cNvPr id="6" name="Text 3"/>
          <p:cNvSpPr/>
          <p:nvPr/>
        </p:nvSpPr>
        <p:spPr>
          <a:xfrm>
            <a:off x="566928" y="1024128"/>
            <a:ext cx="11057839" cy="310896"/>
          </a:xfrm>
          <a:prstGeom prst="rect">
            <a:avLst/>
          </a:prstGeom>
          <a:noFill/>
          <a:ln/>
        </p:spPr>
        <p:txBody>
          <a:bodyPr wrap="square" lIns="0" tIns="0" rIns="0" bIns="0" rtlCol="0" anchor="ctr"/>
          <a:lstStyle/>
          <a:p>
            <a:pPr indent="0" marL="0">
              <a:lnSpc>
                <a:spcPts val="1700"/>
              </a:lnSpc>
              <a:buNone/>
            </a:pPr>
            <a:r>
              <a:rPr lang="en-US" sz="1150" dirty="0">
                <a:solidFill>
                  <a:srgbClr val="6E7378"/>
                </a:solidFill>
                <a:latin typeface="Yu Gothic" pitchFamily="34" charset="0"/>
                <a:ea typeface="Yu Gothic" pitchFamily="34" charset="-122"/>
                <a:cs typeface="Yu Gothic" pitchFamily="34" charset="-120"/>
              </a:rPr>
              <a:t>ミシュラン累計7つ星・レジオン・ドヌール勲章受章のシェフによる日本再進出業態を、ヒルズの商業区画へ。</a:t>
            </a:r>
            <a:endParaRPr lang="en-US" sz="1150" dirty="0"/>
          </a:p>
        </p:txBody>
      </p:sp>
      <p:sp>
        <p:nvSpPr>
          <p:cNvPr id="7" name="Shape 4"/>
          <p:cNvSpPr/>
          <p:nvPr/>
        </p:nvSpPr>
        <p:spPr>
          <a:xfrm>
            <a:off x="0" y="6583680"/>
            <a:ext cx="12191695" cy="274320"/>
          </a:xfrm>
          <a:prstGeom prst="rect">
            <a:avLst/>
          </a:prstGeom>
          <a:solidFill>
            <a:srgbClr val="2F3941"/>
          </a:solidFill>
          <a:ln w="12700">
            <a:solidFill>
              <a:srgbClr val="333333"/>
            </a:solidFill>
            <a:prstDash val="solid"/>
          </a:ln>
        </p:spPr>
      </p:sp>
      <p:sp>
        <p:nvSpPr>
          <p:cNvPr id="8" name="Text 5"/>
          <p:cNvSpPr/>
          <p:nvPr/>
        </p:nvSpPr>
        <p:spPr>
          <a:xfrm>
            <a:off x="10893247" y="6272784"/>
            <a:ext cx="731520" cy="256032"/>
          </a:xfrm>
          <a:prstGeom prst="rect">
            <a:avLst/>
          </a:prstGeom>
          <a:noFill/>
          <a:ln/>
        </p:spPr>
        <p:txBody>
          <a:bodyPr wrap="square" lIns="0" tIns="0" rIns="0" bIns="0" rtlCol="0" anchor="ctr"/>
          <a:lstStyle/>
          <a:p>
            <a:pPr algn="r" indent="0" marL="0">
              <a:buNone/>
            </a:pPr>
            <a:r>
              <a:rPr lang="en-US" sz="1000" dirty="0">
                <a:solidFill>
                  <a:srgbClr val="A6ABAF"/>
                </a:solidFill>
                <a:latin typeface="Calibri" pitchFamily="34" charset="0"/>
                <a:ea typeface="Calibri" pitchFamily="34" charset="-122"/>
                <a:cs typeface="Calibri" pitchFamily="34" charset="-120"/>
              </a:rPr>
              <a:t>12</a:t>
            </a:r>
            <a:endParaRPr lang="en-US" sz="1000" dirty="0"/>
          </a:p>
        </p:txBody>
      </p:sp>
      <p:sp>
        <p:nvSpPr>
          <p:cNvPr id="9" name="Text 6"/>
          <p:cNvSpPr/>
          <p:nvPr/>
        </p:nvSpPr>
        <p:spPr>
          <a:xfrm>
            <a:off x="566928" y="6272784"/>
            <a:ext cx="2926080" cy="256032"/>
          </a:xfrm>
          <a:prstGeom prst="rect">
            <a:avLst/>
          </a:prstGeom>
          <a:noFill/>
          <a:ln/>
        </p:spPr>
        <p:txBody>
          <a:bodyPr wrap="square" lIns="0" tIns="0" rIns="0" bIns="0" rtlCol="0" anchor="ctr"/>
          <a:lstStyle/>
          <a:p>
            <a:pPr indent="0" marL="0">
              <a:buNone/>
            </a:pPr>
            <a:r>
              <a:rPr lang="en-US" sz="850" spc="120" kern="0" dirty="0">
                <a:solidFill>
                  <a:srgbClr val="C7CACC"/>
                </a:solidFill>
                <a:latin typeface="Calibri" pitchFamily="34" charset="0"/>
                <a:ea typeface="Calibri" pitchFamily="34" charset="-122"/>
                <a:cs typeface="Calibri" pitchFamily="34" charset="-120"/>
              </a:rPr>
              <a:t>CONFIDENTIAL</a:t>
            </a:r>
            <a:endParaRPr lang="en-US" sz="850" dirty="0"/>
          </a:p>
        </p:txBody>
      </p:sp>
      <p:sp>
        <p:nvSpPr>
          <p:cNvPr id="10" name="Shape 7"/>
          <p:cNvSpPr/>
          <p:nvPr/>
        </p:nvSpPr>
        <p:spPr>
          <a:xfrm>
            <a:off x="566928" y="1463040"/>
            <a:ext cx="5413248" cy="4133088"/>
          </a:xfrm>
          <a:prstGeom prst="roundRect">
            <a:avLst>
              <a:gd name="adj" fmla="val 1106"/>
            </a:avLst>
          </a:prstGeom>
          <a:solidFill>
            <a:srgbClr val="2F3941"/>
          </a:solidFill>
          <a:ln w="12700">
            <a:solidFill>
              <a:srgbClr val="333333"/>
            </a:solidFill>
            <a:prstDash val="solid"/>
          </a:ln>
        </p:spPr>
      </p:sp>
      <p:sp>
        <p:nvSpPr>
          <p:cNvPr id="11" name="Text 8"/>
          <p:cNvSpPr/>
          <p:nvPr/>
        </p:nvSpPr>
        <p:spPr>
          <a:xfrm>
            <a:off x="896112" y="1645920"/>
            <a:ext cx="4754880" cy="329184"/>
          </a:xfrm>
          <a:prstGeom prst="rect">
            <a:avLst/>
          </a:prstGeom>
          <a:noFill/>
          <a:ln/>
        </p:spPr>
        <p:txBody>
          <a:bodyPr wrap="square" lIns="0" tIns="0" rIns="0" bIns="0" rtlCol="0" anchor="ctr"/>
          <a:lstStyle/>
          <a:p>
            <a:pPr indent="0" marL="0">
              <a:buNone/>
            </a:pPr>
            <a:r>
              <a:rPr lang="en-US" sz="2000" b="1" spc="180" kern="0" dirty="0">
                <a:solidFill>
                  <a:srgbClr val="EFDCCE"/>
                </a:solidFill>
                <a:latin typeface="Calibri" pitchFamily="34" charset="0"/>
                <a:ea typeface="Calibri" pitchFamily="34" charset="-122"/>
                <a:cs typeface="Calibri" pitchFamily="34" charset="-120"/>
              </a:rPr>
              <a:t>THIERRY MARX</a:t>
            </a:r>
            <a:endParaRPr lang="en-US" sz="2000" dirty="0"/>
          </a:p>
        </p:txBody>
      </p:sp>
      <p:sp>
        <p:nvSpPr>
          <p:cNvPr id="12" name="Text 9"/>
          <p:cNvSpPr/>
          <p:nvPr/>
        </p:nvSpPr>
        <p:spPr>
          <a:xfrm>
            <a:off x="896112" y="1993392"/>
            <a:ext cx="4754880" cy="274320"/>
          </a:xfrm>
          <a:prstGeom prst="rect">
            <a:avLst/>
          </a:prstGeom>
          <a:noFill/>
          <a:ln/>
        </p:spPr>
        <p:txBody>
          <a:bodyPr wrap="square" lIns="0" tIns="0" rIns="0" bIns="0" rtlCol="0" anchor="ctr"/>
          <a:lstStyle/>
          <a:p>
            <a:pPr indent="0" marL="0">
              <a:buNone/>
            </a:pPr>
            <a:r>
              <a:rPr lang="en-US" sz="1050" dirty="0">
                <a:solidFill>
                  <a:srgbClr val="B9BEC2"/>
                </a:solidFill>
                <a:latin typeface="Yu Gothic" pitchFamily="34" charset="0"/>
                <a:ea typeface="Yu Gothic" pitchFamily="34" charset="-122"/>
                <a:cs typeface="Yu Gothic" pitchFamily="34" charset="-120"/>
              </a:rPr>
              <a:t>ミシュラン星請負人。同世代のシェフの中でも最も注目を集める一人。</a:t>
            </a:r>
            <a:endParaRPr lang="en-US" sz="1050" dirty="0"/>
          </a:p>
        </p:txBody>
      </p:sp>
      <p:sp>
        <p:nvSpPr>
          <p:cNvPr id="13" name="Text 10"/>
          <p:cNvSpPr/>
          <p:nvPr/>
        </p:nvSpPr>
        <p:spPr>
          <a:xfrm>
            <a:off x="896112" y="2395728"/>
            <a:ext cx="4754880" cy="2304288"/>
          </a:xfrm>
          <a:prstGeom prst="rect">
            <a:avLst/>
          </a:prstGeom>
          <a:noFill/>
          <a:ln/>
        </p:spPr>
        <p:txBody>
          <a:bodyPr wrap="square" lIns="0" tIns="0" rIns="0" bIns="0" rtlCol="0" anchor="ctr"/>
          <a:lstStyle/>
          <a:p>
            <a:pPr marL="342900" indent="-342900">
              <a:lnSpc>
                <a:spcPts val="1700"/>
              </a:lnSpc>
              <a:spcAft>
                <a:spcPts val="900"/>
              </a:spcAft>
              <a:buSzPct val="100000"/>
              <a:buChar char="▪"/>
            </a:pPr>
            <a:r>
              <a:rPr lang="en-US" sz="1020" dirty="0">
                <a:solidFill>
                  <a:srgbClr val="E3E6E8"/>
                </a:solidFill>
                <a:latin typeface="Yu Gothic" pitchFamily="34" charset="0"/>
                <a:ea typeface="Yu Gothic" pitchFamily="34" charset="-122"/>
                <a:cs typeface="Yu Gothic" pitchFamily="34" charset="-120"/>
              </a:rPr>
              <a:t>1999年 ルレ・エ・シャトー「コーディヤン・バージュ」でミシュラン2つ星</a:t>
            </a:r>
            <a:endParaRPr lang="en-US" sz="1020" dirty="0"/>
          </a:p>
          <a:p>
            <a:pPr marL="342900" indent="-342900">
              <a:lnSpc>
                <a:spcPts val="1700"/>
              </a:lnSpc>
              <a:spcAft>
                <a:spcPts val="900"/>
              </a:spcAft>
              <a:buSzPct val="100000"/>
              <a:buChar char="▪"/>
            </a:pPr>
            <a:r>
              <a:rPr lang="en-US" sz="1020" dirty="0">
                <a:solidFill>
                  <a:srgbClr val="E3E6E8"/>
                </a:solidFill>
                <a:latin typeface="Yu Gothic" pitchFamily="34" charset="0"/>
                <a:ea typeface="Yu Gothic" pitchFamily="34" charset="-122"/>
                <a:cs typeface="Yu Gothic" pitchFamily="34" charset="-120"/>
              </a:rPr>
              <a:t>2010年 マンダリン オリエンタル パリでミシュラン2つ星</a:t>
            </a:r>
            <a:endParaRPr lang="en-US" sz="1020" dirty="0"/>
          </a:p>
          <a:p>
            <a:pPr marL="342900" indent="-342900">
              <a:lnSpc>
                <a:spcPts val="1700"/>
              </a:lnSpc>
              <a:spcAft>
                <a:spcPts val="900"/>
              </a:spcAft>
              <a:buSzPct val="100000"/>
              <a:buChar char="▪"/>
            </a:pPr>
            <a:r>
              <a:rPr lang="en-US" sz="1020" dirty="0">
                <a:solidFill>
                  <a:srgbClr val="E3E6E8"/>
                </a:solidFill>
                <a:latin typeface="Yu Gothic" pitchFamily="34" charset="0"/>
                <a:ea typeface="Yu Gothic" pitchFamily="34" charset="-122"/>
                <a:cs typeface="Yu Gothic" pitchFamily="34" charset="-120"/>
              </a:rPr>
              <a:t>2006年 ゴー・エ・ミヨ シェフ・オブ・ザ・イヤー</a:t>
            </a:r>
            <a:endParaRPr lang="en-US" sz="1020" dirty="0"/>
          </a:p>
          <a:p>
            <a:pPr marL="342900" indent="-342900">
              <a:lnSpc>
                <a:spcPts val="1700"/>
              </a:lnSpc>
              <a:spcAft>
                <a:spcPts val="900"/>
              </a:spcAft>
              <a:buSzPct val="100000"/>
              <a:buChar char="▪"/>
            </a:pPr>
            <a:r>
              <a:rPr lang="en-US" sz="1020" dirty="0">
                <a:solidFill>
                  <a:srgbClr val="E3E6E8"/>
                </a:solidFill>
                <a:latin typeface="Yu Gothic" pitchFamily="34" charset="0"/>
                <a:ea typeface="Yu Gothic" pitchFamily="34" charset="-122"/>
                <a:cs typeface="Yu Gothic" pitchFamily="34" charset="-120"/>
              </a:rPr>
              <a:t>2013年 フランス レジオン・ドヌール勲章 受章</a:t>
            </a:r>
            <a:endParaRPr lang="en-US" sz="1020" dirty="0"/>
          </a:p>
          <a:p>
            <a:pPr marL="342900" indent="-342900">
              <a:lnSpc>
                <a:spcPts val="1700"/>
              </a:lnSpc>
              <a:spcAft>
                <a:spcPts val="900"/>
              </a:spcAft>
              <a:buSzPct val="100000"/>
              <a:buChar char="▪"/>
            </a:pPr>
            <a:r>
              <a:rPr lang="en-US" sz="1020" dirty="0">
                <a:solidFill>
                  <a:srgbClr val="E3E6E8"/>
                </a:solidFill>
                <a:latin typeface="Yu Gothic" pitchFamily="34" charset="0"/>
                <a:ea typeface="Yu Gothic" pitchFamily="34" charset="-122"/>
                <a:cs typeface="Yu Gothic" pitchFamily="34" charset="-120"/>
              </a:rPr>
              <a:t>2022年 ミシュランガイド 年間ベストメンター</a:t>
            </a:r>
            <a:endParaRPr lang="en-US" sz="1020" dirty="0"/>
          </a:p>
          <a:p>
            <a:pPr marL="342900" indent="-342900">
              <a:lnSpc>
                <a:spcPts val="1700"/>
              </a:lnSpc>
              <a:spcAft>
                <a:spcPts val="900"/>
              </a:spcAft>
              <a:buSzPct val="100000"/>
              <a:buChar char="▪"/>
            </a:pPr>
            <a:r>
              <a:rPr lang="en-US" sz="1020" dirty="0">
                <a:solidFill>
                  <a:srgbClr val="E3E6E8"/>
                </a:solidFill>
                <a:latin typeface="Yu Gothic" pitchFamily="34" charset="0"/>
                <a:ea typeface="Yu Gothic" pitchFamily="34" charset="-122"/>
                <a:cs typeface="Yu Gothic" pitchFamily="34" charset="-120"/>
              </a:rPr>
              <a:t>2023年 パリ8区サントノーレに「オノール」オープン</a:t>
            </a:r>
            <a:endParaRPr lang="en-US" sz="1020" dirty="0"/>
          </a:p>
        </p:txBody>
      </p:sp>
      <p:sp>
        <p:nvSpPr>
          <p:cNvPr id="14" name="Text 11"/>
          <p:cNvSpPr/>
          <p:nvPr/>
        </p:nvSpPr>
        <p:spPr>
          <a:xfrm>
            <a:off x="896112" y="4864608"/>
            <a:ext cx="4754880" cy="512064"/>
          </a:xfrm>
          <a:prstGeom prst="rect">
            <a:avLst/>
          </a:prstGeom>
          <a:noFill/>
          <a:ln/>
        </p:spPr>
        <p:txBody>
          <a:bodyPr wrap="square" lIns="0" tIns="0" rIns="0" bIns="0" rtlCol="0" anchor="ctr"/>
          <a:lstStyle/>
          <a:p>
            <a:pPr indent="0" marL="0">
              <a:lnSpc>
                <a:spcPts val="1500"/>
              </a:lnSpc>
              <a:buNone/>
            </a:pPr>
            <a:r>
              <a:rPr lang="en-US" sz="1050" b="1" dirty="0">
                <a:solidFill>
                  <a:srgbClr val="C68A65"/>
                </a:solidFill>
                <a:latin typeface="Yu Gothic" pitchFamily="34" charset="0"/>
                <a:ea typeface="Yu Gothic" pitchFamily="34" charset="-122"/>
                <a:cs typeface="Yu Gothic" pitchFamily="34" charset="-120"/>
              </a:rPr>
              <a:t>大手TV局との連携により、開業時の露出を確保。国内外の富裕層・メディアを街区に呼び込みます。</a:t>
            </a:r>
            <a:endParaRPr lang="en-US" sz="1050" dirty="0"/>
          </a:p>
        </p:txBody>
      </p:sp>
      <p:sp>
        <p:nvSpPr>
          <p:cNvPr id="15" name="Text 12"/>
          <p:cNvSpPr/>
          <p:nvPr/>
        </p:nvSpPr>
        <p:spPr>
          <a:xfrm>
            <a:off x="6272784" y="1463040"/>
            <a:ext cx="5351983" cy="274320"/>
          </a:xfrm>
          <a:prstGeom prst="rect">
            <a:avLst/>
          </a:prstGeom>
          <a:noFill/>
          <a:ln/>
        </p:spPr>
        <p:txBody>
          <a:bodyPr wrap="square" lIns="0" tIns="0" rIns="0" bIns="0" rtlCol="0" anchor="ctr"/>
          <a:lstStyle/>
          <a:p>
            <a:pPr indent="0" marL="0">
              <a:buNone/>
            </a:pPr>
            <a:r>
              <a:rPr lang="en-US" sz="1500" b="1" dirty="0">
                <a:solidFill>
                  <a:srgbClr val="1A1A1A"/>
                </a:solidFill>
                <a:latin typeface="Yu Gothic" pitchFamily="34" charset="0"/>
                <a:ea typeface="Yu Gothic" pitchFamily="34" charset="-122"/>
                <a:cs typeface="Yu Gothic" pitchFamily="34" charset="-120"/>
              </a:rPr>
              <a:t>出店フォーマット（ご相談のたたき台）</a:t>
            </a:r>
            <a:endParaRPr lang="en-US" sz="1500" dirty="0"/>
          </a:p>
        </p:txBody>
      </p:sp>
      <p:sp>
        <p:nvSpPr>
          <p:cNvPr id="16" name="Shape 13"/>
          <p:cNvSpPr/>
          <p:nvPr/>
        </p:nvSpPr>
        <p:spPr>
          <a:xfrm>
            <a:off x="6272784" y="1883664"/>
            <a:ext cx="5351983" cy="731520"/>
          </a:xfrm>
          <a:prstGeom prst="roundRect">
            <a:avLst>
              <a:gd name="adj" fmla="val 6250"/>
            </a:avLst>
          </a:prstGeom>
          <a:solidFill>
            <a:srgbClr val="F6F6F6"/>
          </a:solidFill>
          <a:ln w="12700">
            <a:solidFill>
              <a:srgbClr val="333333"/>
            </a:solidFill>
            <a:prstDash val="solid"/>
          </a:ln>
        </p:spPr>
      </p:sp>
      <p:sp>
        <p:nvSpPr>
          <p:cNvPr id="17" name="Text 14"/>
          <p:cNvSpPr/>
          <p:nvPr/>
        </p:nvSpPr>
        <p:spPr>
          <a:xfrm>
            <a:off x="6528816" y="1956816"/>
            <a:ext cx="2194560" cy="256032"/>
          </a:xfrm>
          <a:prstGeom prst="rect">
            <a:avLst/>
          </a:prstGeom>
          <a:noFill/>
          <a:ln/>
        </p:spPr>
        <p:txBody>
          <a:bodyPr wrap="square" lIns="0" tIns="0" rIns="0" bIns="0" rtlCol="0" anchor="ctr"/>
          <a:lstStyle/>
          <a:p>
            <a:pPr indent="0" marL="0">
              <a:buNone/>
            </a:pPr>
            <a:r>
              <a:rPr lang="en-US" sz="1250" b="1" dirty="0">
                <a:solidFill>
                  <a:srgbClr val="A06D4C"/>
                </a:solidFill>
                <a:latin typeface="Yu Gothic" pitchFamily="34" charset="0"/>
                <a:ea typeface="Yu Gothic" pitchFamily="34" charset="-122"/>
                <a:cs typeface="Yu Gothic" pitchFamily="34" charset="-120"/>
              </a:rPr>
              <a:t>グランメゾン</a:t>
            </a:r>
            <a:endParaRPr lang="en-US" sz="1250" dirty="0"/>
          </a:p>
        </p:txBody>
      </p:sp>
      <p:sp>
        <p:nvSpPr>
          <p:cNvPr id="18" name="Text 15"/>
          <p:cNvSpPr/>
          <p:nvPr/>
        </p:nvSpPr>
        <p:spPr>
          <a:xfrm>
            <a:off x="6528816" y="2212848"/>
            <a:ext cx="4839919" cy="274320"/>
          </a:xfrm>
          <a:prstGeom prst="rect">
            <a:avLst/>
          </a:prstGeom>
          <a:noFill/>
          <a:ln/>
        </p:spPr>
        <p:txBody>
          <a:bodyPr wrap="square" lIns="0" tIns="0" rIns="0" bIns="0" rtlCol="0" anchor="ctr"/>
          <a:lstStyle/>
          <a:p>
            <a:pPr indent="0" marL="0">
              <a:buNone/>
            </a:pPr>
            <a:r>
              <a:rPr lang="en-US" sz="980" dirty="0">
                <a:solidFill>
                  <a:srgbClr val="6E7378"/>
                </a:solidFill>
                <a:latin typeface="Yu Gothic" pitchFamily="34" charset="0"/>
                <a:ea typeface="Yu Gothic" pitchFamily="34" charset="-122"/>
                <a:cs typeface="Yu Gothic" pitchFamily="34" charset="-120"/>
              </a:rPr>
              <a:t>40〜60席・客単価3〜5万円。街区のフラッグシップとして。</a:t>
            </a:r>
            <a:endParaRPr lang="en-US" sz="980" dirty="0"/>
          </a:p>
        </p:txBody>
      </p:sp>
      <p:sp>
        <p:nvSpPr>
          <p:cNvPr id="19" name="Shape 16"/>
          <p:cNvSpPr/>
          <p:nvPr/>
        </p:nvSpPr>
        <p:spPr>
          <a:xfrm>
            <a:off x="6272784" y="2743200"/>
            <a:ext cx="5351983" cy="731520"/>
          </a:xfrm>
          <a:prstGeom prst="roundRect">
            <a:avLst>
              <a:gd name="adj" fmla="val 6250"/>
            </a:avLst>
          </a:prstGeom>
          <a:solidFill>
            <a:srgbClr val="F6F6F6"/>
          </a:solidFill>
          <a:ln w="12700">
            <a:solidFill>
              <a:srgbClr val="333333"/>
            </a:solidFill>
            <a:prstDash val="solid"/>
          </a:ln>
        </p:spPr>
      </p:sp>
      <p:sp>
        <p:nvSpPr>
          <p:cNvPr id="20" name="Text 17"/>
          <p:cNvSpPr/>
          <p:nvPr/>
        </p:nvSpPr>
        <p:spPr>
          <a:xfrm>
            <a:off x="6528816" y="2816352"/>
            <a:ext cx="2194560" cy="256032"/>
          </a:xfrm>
          <a:prstGeom prst="rect">
            <a:avLst/>
          </a:prstGeom>
          <a:noFill/>
          <a:ln/>
        </p:spPr>
        <p:txBody>
          <a:bodyPr wrap="square" lIns="0" tIns="0" rIns="0" bIns="0" rtlCol="0" anchor="ctr"/>
          <a:lstStyle/>
          <a:p>
            <a:pPr indent="0" marL="0">
              <a:buNone/>
            </a:pPr>
            <a:r>
              <a:rPr lang="en-US" sz="1250" b="1" dirty="0">
                <a:solidFill>
                  <a:srgbClr val="A06D4C"/>
                </a:solidFill>
                <a:latin typeface="Yu Gothic" pitchFamily="34" charset="0"/>
                <a:ea typeface="Yu Gothic" pitchFamily="34" charset="-122"/>
                <a:cs typeface="Yu Gothic" pitchFamily="34" charset="-120"/>
              </a:rPr>
              <a:t>ブラッスリー／ビストロ</a:t>
            </a:r>
            <a:endParaRPr lang="en-US" sz="1250" dirty="0"/>
          </a:p>
        </p:txBody>
      </p:sp>
      <p:sp>
        <p:nvSpPr>
          <p:cNvPr id="21" name="Text 18"/>
          <p:cNvSpPr/>
          <p:nvPr/>
        </p:nvSpPr>
        <p:spPr>
          <a:xfrm>
            <a:off x="6528816" y="3072384"/>
            <a:ext cx="4839919" cy="274320"/>
          </a:xfrm>
          <a:prstGeom prst="rect">
            <a:avLst/>
          </a:prstGeom>
          <a:noFill/>
          <a:ln/>
        </p:spPr>
        <p:txBody>
          <a:bodyPr wrap="square" lIns="0" tIns="0" rIns="0" bIns="0" rtlCol="0" anchor="ctr"/>
          <a:lstStyle/>
          <a:p>
            <a:pPr indent="0" marL="0">
              <a:buNone/>
            </a:pPr>
            <a:r>
              <a:rPr lang="en-US" sz="980" dirty="0">
                <a:solidFill>
                  <a:srgbClr val="6E7378"/>
                </a:solidFill>
                <a:latin typeface="Yu Gothic" pitchFamily="34" charset="0"/>
                <a:ea typeface="Yu Gothic" pitchFamily="34" charset="-122"/>
                <a:cs typeface="Yu Gothic" pitchFamily="34" charset="-120"/>
              </a:rPr>
              <a:t>60〜90席・客単価1.5〜2万円。ワーカーの日常会食を取り込む。</a:t>
            </a:r>
            <a:endParaRPr lang="en-US" sz="980" dirty="0"/>
          </a:p>
        </p:txBody>
      </p:sp>
      <p:sp>
        <p:nvSpPr>
          <p:cNvPr id="22" name="Shape 19"/>
          <p:cNvSpPr/>
          <p:nvPr/>
        </p:nvSpPr>
        <p:spPr>
          <a:xfrm>
            <a:off x="6272784" y="3602736"/>
            <a:ext cx="5351983" cy="731520"/>
          </a:xfrm>
          <a:prstGeom prst="roundRect">
            <a:avLst>
              <a:gd name="adj" fmla="val 6250"/>
            </a:avLst>
          </a:prstGeom>
          <a:solidFill>
            <a:srgbClr val="F6F6F6"/>
          </a:solidFill>
          <a:ln w="12700">
            <a:solidFill>
              <a:srgbClr val="333333"/>
            </a:solidFill>
            <a:prstDash val="solid"/>
          </a:ln>
        </p:spPr>
      </p:sp>
      <p:sp>
        <p:nvSpPr>
          <p:cNvPr id="23" name="Text 20"/>
          <p:cNvSpPr/>
          <p:nvPr/>
        </p:nvSpPr>
        <p:spPr>
          <a:xfrm>
            <a:off x="6528816" y="3675888"/>
            <a:ext cx="2194560" cy="256032"/>
          </a:xfrm>
          <a:prstGeom prst="rect">
            <a:avLst/>
          </a:prstGeom>
          <a:noFill/>
          <a:ln/>
        </p:spPr>
        <p:txBody>
          <a:bodyPr wrap="square" lIns="0" tIns="0" rIns="0" bIns="0" rtlCol="0" anchor="ctr"/>
          <a:lstStyle/>
          <a:p>
            <a:pPr indent="0" marL="0">
              <a:buNone/>
            </a:pPr>
            <a:r>
              <a:rPr lang="en-US" sz="1250" b="1" dirty="0">
                <a:solidFill>
                  <a:srgbClr val="A06D4C"/>
                </a:solidFill>
                <a:latin typeface="Yu Gothic" pitchFamily="34" charset="0"/>
                <a:ea typeface="Yu Gothic" pitchFamily="34" charset="-122"/>
                <a:cs typeface="Yu Gothic" pitchFamily="34" charset="-120"/>
              </a:rPr>
              <a:t>ベーカリー＆カフェ</a:t>
            </a:r>
            <a:endParaRPr lang="en-US" sz="1250" dirty="0"/>
          </a:p>
        </p:txBody>
      </p:sp>
      <p:sp>
        <p:nvSpPr>
          <p:cNvPr id="24" name="Text 21"/>
          <p:cNvSpPr/>
          <p:nvPr/>
        </p:nvSpPr>
        <p:spPr>
          <a:xfrm>
            <a:off x="6528816" y="3931920"/>
            <a:ext cx="4839919" cy="274320"/>
          </a:xfrm>
          <a:prstGeom prst="rect">
            <a:avLst/>
          </a:prstGeom>
          <a:noFill/>
          <a:ln/>
        </p:spPr>
        <p:txBody>
          <a:bodyPr wrap="square" lIns="0" tIns="0" rIns="0" bIns="0" rtlCol="0" anchor="ctr"/>
          <a:lstStyle/>
          <a:p>
            <a:pPr indent="0" marL="0">
              <a:buNone/>
            </a:pPr>
            <a:r>
              <a:rPr lang="en-US" sz="980" dirty="0">
                <a:solidFill>
                  <a:srgbClr val="6E7378"/>
                </a:solidFill>
                <a:latin typeface="Yu Gothic" pitchFamily="34" charset="0"/>
                <a:ea typeface="Yu Gothic" pitchFamily="34" charset="-122"/>
                <a:cs typeface="Yu Gothic" pitchFamily="34" charset="-120"/>
              </a:rPr>
              <a:t>20〜40坪。朝夕の生活動線を押さえ、居住者の日常接点に。</a:t>
            </a:r>
            <a:endParaRPr lang="en-US" sz="980" dirty="0"/>
          </a:p>
        </p:txBody>
      </p:sp>
      <p:sp>
        <p:nvSpPr>
          <p:cNvPr id="25" name="Shape 22"/>
          <p:cNvSpPr/>
          <p:nvPr/>
        </p:nvSpPr>
        <p:spPr>
          <a:xfrm>
            <a:off x="6272784" y="4498848"/>
            <a:ext cx="5351983" cy="1097280"/>
          </a:xfrm>
          <a:prstGeom prst="roundRect">
            <a:avLst>
              <a:gd name="adj" fmla="val 4167"/>
            </a:avLst>
          </a:prstGeom>
          <a:solidFill>
            <a:srgbClr val="FFFFFF"/>
          </a:solidFill>
          <a:ln w="12700">
            <a:solidFill>
              <a:srgbClr val="DDE0E2"/>
            </a:solidFill>
            <a:prstDash val="solid"/>
          </a:ln>
        </p:spPr>
      </p:sp>
      <p:sp>
        <p:nvSpPr>
          <p:cNvPr id="26" name="Text 23"/>
          <p:cNvSpPr/>
          <p:nvPr/>
        </p:nvSpPr>
        <p:spPr>
          <a:xfrm>
            <a:off x="6528816" y="4626864"/>
            <a:ext cx="4839919" cy="256032"/>
          </a:xfrm>
          <a:prstGeom prst="rect">
            <a:avLst/>
          </a:prstGeom>
          <a:noFill/>
          <a:ln/>
        </p:spPr>
        <p:txBody>
          <a:bodyPr wrap="square" lIns="0" tIns="0" rIns="0" bIns="0" rtlCol="0" anchor="ctr"/>
          <a:lstStyle/>
          <a:p>
            <a:pPr indent="0" marL="0">
              <a:buNone/>
            </a:pPr>
            <a:r>
              <a:rPr lang="en-US" sz="1250" b="1" dirty="0">
                <a:solidFill>
                  <a:srgbClr val="1A1A1A"/>
                </a:solidFill>
                <a:latin typeface="Yu Gothic" pitchFamily="34" charset="0"/>
                <a:ea typeface="Yu Gothic" pitchFamily="34" charset="-122"/>
                <a:cs typeface="Yu Gothic" pitchFamily="34" charset="-120"/>
              </a:rPr>
              <a:t>運営体制の裏付け</a:t>
            </a:r>
            <a:endParaRPr lang="en-US" sz="1250" dirty="0"/>
          </a:p>
        </p:txBody>
      </p:sp>
      <p:sp>
        <p:nvSpPr>
          <p:cNvPr id="27" name="Text 24"/>
          <p:cNvSpPr/>
          <p:nvPr/>
        </p:nvSpPr>
        <p:spPr>
          <a:xfrm>
            <a:off x="6528816" y="4901184"/>
            <a:ext cx="4839919" cy="566928"/>
          </a:xfrm>
          <a:prstGeom prst="rect">
            <a:avLst/>
          </a:prstGeom>
          <a:noFill/>
          <a:ln/>
        </p:spPr>
        <p:txBody>
          <a:bodyPr wrap="square" lIns="0" tIns="0" rIns="0" bIns="0" rtlCol="0" anchor="ctr"/>
          <a:lstStyle/>
          <a:p>
            <a:pPr indent="0" marL="0">
              <a:lnSpc>
                <a:spcPts val="1350"/>
              </a:lnSpc>
              <a:buNone/>
            </a:pPr>
            <a:r>
              <a:rPr lang="en-US" sz="960" dirty="0">
                <a:solidFill>
                  <a:srgbClr val="1A1A1A"/>
                </a:solidFill>
                <a:latin typeface="Yu Gothic" pitchFamily="34" charset="0"/>
                <a:ea typeface="Yu Gothic" pitchFamily="34" charset="-122"/>
                <a:cs typeface="Yu Gothic" pitchFamily="34" charset="-120"/>
              </a:rPr>
              <a:t>創業41年のグランメゾン「アピシウス」を2024年6月に100%株式取得。ミシュラン掲載、World of Fine Wine 3つ星を5年連続。グランメゾンを実際に運営している事業者として出店いたします。</a:t>
            </a:r>
            <a:endParaRPr lang="en-US" sz="96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381183" y="292608"/>
            <a:ext cx="1243584" cy="247802"/>
          </a:xfrm>
          <a:prstGeom prst="rect">
            <a:avLst/>
          </a:prstGeom>
        </p:spPr>
      </p:pic>
      <p:sp>
        <p:nvSpPr>
          <p:cNvPr id="3" name="Shape 0"/>
          <p:cNvSpPr/>
          <p:nvPr/>
        </p:nvSpPr>
        <p:spPr>
          <a:xfrm>
            <a:off x="566928" y="292608"/>
            <a:ext cx="1115568" cy="237744"/>
          </a:xfrm>
          <a:prstGeom prst="roundRect">
            <a:avLst>
              <a:gd name="adj" fmla="val 11538"/>
            </a:avLst>
          </a:prstGeom>
          <a:solidFill>
            <a:srgbClr val="C68A65"/>
          </a:solidFill>
          <a:ln w="12700">
            <a:solidFill>
              <a:srgbClr val="333333"/>
            </a:solidFill>
            <a:prstDash val="solid"/>
          </a:ln>
        </p:spPr>
      </p:sp>
      <p:sp>
        <p:nvSpPr>
          <p:cNvPr id="4" name="Text 1"/>
          <p:cNvSpPr/>
          <p:nvPr/>
        </p:nvSpPr>
        <p:spPr>
          <a:xfrm>
            <a:off x="566928" y="292608"/>
            <a:ext cx="1115568"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Yu Gothic" pitchFamily="34" charset="0"/>
                <a:ea typeface="Yu Gothic" pitchFamily="34" charset="-122"/>
                <a:cs typeface="Yu Gothic" pitchFamily="34" charset="-120"/>
              </a:rPr>
              <a:t>PROGRAM 06</a:t>
            </a:r>
            <a:endParaRPr lang="en-US" sz="850" dirty="0"/>
          </a:p>
        </p:txBody>
      </p:sp>
      <p:sp>
        <p:nvSpPr>
          <p:cNvPr id="5" name="Text 2"/>
          <p:cNvSpPr/>
          <p:nvPr/>
        </p:nvSpPr>
        <p:spPr>
          <a:xfrm>
            <a:off x="566928" y="585216"/>
            <a:ext cx="9509760" cy="420624"/>
          </a:xfrm>
          <a:prstGeom prst="rect">
            <a:avLst/>
          </a:prstGeom>
          <a:noFill/>
          <a:ln/>
        </p:spPr>
        <p:txBody>
          <a:bodyPr wrap="square" lIns="0" tIns="0" rIns="0" bIns="0" rtlCol="0" anchor="ctr"/>
          <a:lstStyle/>
          <a:p>
            <a:pPr indent="0" marL="0">
              <a:buNone/>
            </a:pPr>
            <a:r>
              <a:rPr lang="en-US" sz="2300" b="1" dirty="0">
                <a:solidFill>
                  <a:srgbClr val="1A1A1A"/>
                </a:solidFill>
                <a:latin typeface="Yu Gothic" pitchFamily="34" charset="0"/>
                <a:ea typeface="Yu Gothic" pitchFamily="34" charset="-122"/>
                <a:cs typeface="Yu Gothic" pitchFamily="34" charset="-120"/>
              </a:rPr>
              <a:t>居住者向け ワイン預りサービス（預り料要検討）</a:t>
            </a:r>
            <a:endParaRPr lang="en-US" sz="2300" dirty="0"/>
          </a:p>
        </p:txBody>
      </p:sp>
      <p:sp>
        <p:nvSpPr>
          <p:cNvPr id="6" name="Text 3"/>
          <p:cNvSpPr/>
          <p:nvPr/>
        </p:nvSpPr>
        <p:spPr>
          <a:xfrm>
            <a:off x="566928" y="1024128"/>
            <a:ext cx="11057839" cy="310896"/>
          </a:xfrm>
          <a:prstGeom prst="rect">
            <a:avLst/>
          </a:prstGeom>
          <a:noFill/>
          <a:ln/>
        </p:spPr>
        <p:txBody>
          <a:bodyPr wrap="square" lIns="0" tIns="0" rIns="0" bIns="0" rtlCol="0" anchor="ctr"/>
          <a:lstStyle/>
          <a:p>
            <a:pPr indent="0" marL="0">
              <a:lnSpc>
                <a:spcPts val="1700"/>
              </a:lnSpc>
              <a:buNone/>
            </a:pPr>
            <a:r>
              <a:rPr lang="en-US" sz="1150" dirty="0">
                <a:solidFill>
                  <a:srgbClr val="6E7378"/>
                </a:solidFill>
                <a:latin typeface="Yu Gothic" pitchFamily="34" charset="0"/>
                <a:ea typeface="Yu Gothic" pitchFamily="34" charset="-122"/>
                <a:cs typeface="Yu Gothic" pitchFamily="34" charset="-120"/>
              </a:rPr>
              <a:t>Cloud Wine Caveの逆方向のサービスです。ご自宅のセラーは、いずれ必ず満杯になります。</a:t>
            </a:r>
            <a:endParaRPr lang="en-US" sz="1150" dirty="0"/>
          </a:p>
        </p:txBody>
      </p:sp>
      <p:sp>
        <p:nvSpPr>
          <p:cNvPr id="7" name="Shape 4"/>
          <p:cNvSpPr/>
          <p:nvPr/>
        </p:nvSpPr>
        <p:spPr>
          <a:xfrm>
            <a:off x="0" y="6583680"/>
            <a:ext cx="12191695" cy="274320"/>
          </a:xfrm>
          <a:prstGeom prst="rect">
            <a:avLst/>
          </a:prstGeom>
          <a:solidFill>
            <a:srgbClr val="2F3941"/>
          </a:solidFill>
          <a:ln w="12700">
            <a:solidFill>
              <a:srgbClr val="333333"/>
            </a:solidFill>
            <a:prstDash val="solid"/>
          </a:ln>
        </p:spPr>
      </p:sp>
      <p:sp>
        <p:nvSpPr>
          <p:cNvPr id="8" name="Text 5"/>
          <p:cNvSpPr/>
          <p:nvPr/>
        </p:nvSpPr>
        <p:spPr>
          <a:xfrm>
            <a:off x="10893247" y="6272784"/>
            <a:ext cx="731520" cy="256032"/>
          </a:xfrm>
          <a:prstGeom prst="rect">
            <a:avLst/>
          </a:prstGeom>
          <a:noFill/>
          <a:ln/>
        </p:spPr>
        <p:txBody>
          <a:bodyPr wrap="square" lIns="0" tIns="0" rIns="0" bIns="0" rtlCol="0" anchor="ctr"/>
          <a:lstStyle/>
          <a:p>
            <a:pPr algn="r" indent="0" marL="0">
              <a:buNone/>
            </a:pPr>
            <a:r>
              <a:rPr lang="en-US" sz="1000" dirty="0">
                <a:solidFill>
                  <a:srgbClr val="A6ABAF"/>
                </a:solidFill>
                <a:latin typeface="Calibri" pitchFamily="34" charset="0"/>
                <a:ea typeface="Calibri" pitchFamily="34" charset="-122"/>
                <a:cs typeface="Calibri" pitchFamily="34" charset="-120"/>
              </a:rPr>
              <a:t>13</a:t>
            </a:r>
            <a:endParaRPr lang="en-US" sz="1000" dirty="0"/>
          </a:p>
        </p:txBody>
      </p:sp>
      <p:sp>
        <p:nvSpPr>
          <p:cNvPr id="9" name="Text 6"/>
          <p:cNvSpPr/>
          <p:nvPr/>
        </p:nvSpPr>
        <p:spPr>
          <a:xfrm>
            <a:off x="566928" y="6272784"/>
            <a:ext cx="2926080" cy="256032"/>
          </a:xfrm>
          <a:prstGeom prst="rect">
            <a:avLst/>
          </a:prstGeom>
          <a:noFill/>
          <a:ln/>
        </p:spPr>
        <p:txBody>
          <a:bodyPr wrap="square" lIns="0" tIns="0" rIns="0" bIns="0" rtlCol="0" anchor="ctr"/>
          <a:lstStyle/>
          <a:p>
            <a:pPr indent="0" marL="0">
              <a:buNone/>
            </a:pPr>
            <a:r>
              <a:rPr lang="en-US" sz="850" spc="120" kern="0" dirty="0">
                <a:solidFill>
                  <a:srgbClr val="C7CACC"/>
                </a:solidFill>
                <a:latin typeface="Calibri" pitchFamily="34" charset="0"/>
                <a:ea typeface="Calibri" pitchFamily="34" charset="-122"/>
                <a:cs typeface="Calibri" pitchFamily="34" charset="-120"/>
              </a:rPr>
              <a:t>CONFIDENTIAL</a:t>
            </a:r>
            <a:endParaRPr lang="en-US" sz="850" dirty="0"/>
          </a:p>
        </p:txBody>
      </p:sp>
      <p:sp>
        <p:nvSpPr>
          <p:cNvPr id="10" name="Shape 7"/>
          <p:cNvSpPr/>
          <p:nvPr/>
        </p:nvSpPr>
        <p:spPr>
          <a:xfrm>
            <a:off x="566928" y="1481328"/>
            <a:ext cx="2545004" cy="2103120"/>
          </a:xfrm>
          <a:prstGeom prst="roundRect">
            <a:avLst>
              <a:gd name="adj" fmla="val 2174"/>
            </a:avLst>
          </a:prstGeom>
          <a:solidFill>
            <a:srgbClr val="F6F6F6"/>
          </a:solidFill>
          <a:ln w="12700">
            <a:solidFill>
              <a:srgbClr val="333333"/>
            </a:solidFill>
            <a:prstDash val="solid"/>
          </a:ln>
        </p:spPr>
      </p:sp>
      <p:sp>
        <p:nvSpPr>
          <p:cNvPr id="11" name="Shape 8"/>
          <p:cNvSpPr/>
          <p:nvPr/>
        </p:nvSpPr>
        <p:spPr>
          <a:xfrm>
            <a:off x="822960" y="1682496"/>
            <a:ext cx="420624" cy="420624"/>
          </a:xfrm>
          <a:prstGeom prst="ellipse">
            <a:avLst/>
          </a:prstGeom>
          <a:solidFill>
            <a:srgbClr val="C68A65"/>
          </a:solidFill>
          <a:ln w="12700">
            <a:solidFill>
              <a:srgbClr val="333333"/>
            </a:solidFill>
            <a:prstDash val="solid"/>
          </a:ln>
        </p:spPr>
      </p:sp>
      <p:sp>
        <p:nvSpPr>
          <p:cNvPr id="12" name="Text 9"/>
          <p:cNvSpPr/>
          <p:nvPr/>
        </p:nvSpPr>
        <p:spPr>
          <a:xfrm>
            <a:off x="822960" y="1682496"/>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13" name="Text 10"/>
          <p:cNvSpPr/>
          <p:nvPr/>
        </p:nvSpPr>
        <p:spPr>
          <a:xfrm>
            <a:off x="822960" y="2212848"/>
            <a:ext cx="2032940" cy="310896"/>
          </a:xfrm>
          <a:prstGeom prst="rect">
            <a:avLst/>
          </a:prstGeom>
          <a:noFill/>
          <a:ln/>
        </p:spPr>
        <p:txBody>
          <a:bodyPr wrap="square" lIns="0" tIns="0" rIns="0" bIns="0" rtlCol="0" anchor="ctr"/>
          <a:lstStyle/>
          <a:p>
            <a:pPr indent="0" marL="0">
              <a:buNone/>
            </a:pPr>
            <a:r>
              <a:rPr lang="en-US" sz="1300" b="1" dirty="0">
                <a:solidFill>
                  <a:srgbClr val="1A1A1A"/>
                </a:solidFill>
                <a:latin typeface="Yu Gothic" pitchFamily="34" charset="0"/>
                <a:ea typeface="Yu Gothic" pitchFamily="34" charset="-122"/>
                <a:cs typeface="Yu Gothic" pitchFamily="34" charset="-120"/>
              </a:rPr>
              <a:t>お引き取り</a:t>
            </a:r>
            <a:endParaRPr lang="en-US" sz="1300" dirty="0"/>
          </a:p>
        </p:txBody>
      </p:sp>
      <p:sp>
        <p:nvSpPr>
          <p:cNvPr id="14" name="Text 11"/>
          <p:cNvSpPr/>
          <p:nvPr/>
        </p:nvSpPr>
        <p:spPr>
          <a:xfrm>
            <a:off x="822960" y="2578608"/>
            <a:ext cx="2032940" cy="859536"/>
          </a:xfrm>
          <a:prstGeom prst="rect">
            <a:avLst/>
          </a:prstGeom>
          <a:noFill/>
          <a:ln/>
        </p:spPr>
        <p:txBody>
          <a:bodyPr wrap="square" lIns="0" tIns="0" rIns="0" bIns="0" rtlCol="0" anchor="ctr"/>
          <a:lstStyle/>
          <a:p>
            <a:pPr indent="0" marL="0">
              <a:lnSpc>
                <a:spcPts val="1350"/>
              </a:lnSpc>
              <a:buNone/>
            </a:pPr>
            <a:r>
              <a:rPr lang="en-US" sz="980" dirty="0">
                <a:solidFill>
                  <a:srgbClr val="1A1A1A"/>
                </a:solidFill>
                <a:latin typeface="Yu Gothic" pitchFamily="34" charset="0"/>
                <a:ea typeface="Yu Gothic" pitchFamily="34" charset="-122"/>
                <a:cs typeface="Yu Gothic" pitchFamily="34" charset="-120"/>
              </a:rPr>
              <a:t>現在の保管先・ご自宅へ伺い、全ボトルを回収。ヒルズ館内からの搬出も当社が対応。</a:t>
            </a:r>
            <a:endParaRPr lang="en-US" sz="980" dirty="0"/>
          </a:p>
        </p:txBody>
      </p:sp>
      <p:sp>
        <p:nvSpPr>
          <p:cNvPr id="15" name="Shape 12"/>
          <p:cNvSpPr/>
          <p:nvPr/>
        </p:nvSpPr>
        <p:spPr>
          <a:xfrm>
            <a:off x="3404540" y="1481328"/>
            <a:ext cx="2545004" cy="2103120"/>
          </a:xfrm>
          <a:prstGeom prst="roundRect">
            <a:avLst>
              <a:gd name="adj" fmla="val 2174"/>
            </a:avLst>
          </a:prstGeom>
          <a:solidFill>
            <a:srgbClr val="F6F6F6"/>
          </a:solidFill>
          <a:ln w="12700">
            <a:solidFill>
              <a:srgbClr val="333333"/>
            </a:solidFill>
            <a:prstDash val="solid"/>
          </a:ln>
        </p:spPr>
      </p:sp>
      <p:sp>
        <p:nvSpPr>
          <p:cNvPr id="16" name="Shape 13"/>
          <p:cNvSpPr/>
          <p:nvPr/>
        </p:nvSpPr>
        <p:spPr>
          <a:xfrm>
            <a:off x="3660572" y="1682496"/>
            <a:ext cx="420624" cy="420624"/>
          </a:xfrm>
          <a:prstGeom prst="ellipse">
            <a:avLst/>
          </a:prstGeom>
          <a:solidFill>
            <a:srgbClr val="C68A65"/>
          </a:solidFill>
          <a:ln w="12700">
            <a:solidFill>
              <a:srgbClr val="333333"/>
            </a:solidFill>
            <a:prstDash val="solid"/>
          </a:ln>
        </p:spPr>
      </p:sp>
      <p:sp>
        <p:nvSpPr>
          <p:cNvPr id="17" name="Text 14"/>
          <p:cNvSpPr/>
          <p:nvPr/>
        </p:nvSpPr>
        <p:spPr>
          <a:xfrm>
            <a:off x="3660572" y="1682496"/>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18" name="Text 15"/>
          <p:cNvSpPr/>
          <p:nvPr/>
        </p:nvSpPr>
        <p:spPr>
          <a:xfrm>
            <a:off x="3660572" y="2212848"/>
            <a:ext cx="2032940" cy="310896"/>
          </a:xfrm>
          <a:prstGeom prst="rect">
            <a:avLst/>
          </a:prstGeom>
          <a:noFill/>
          <a:ln/>
        </p:spPr>
        <p:txBody>
          <a:bodyPr wrap="square" lIns="0" tIns="0" rIns="0" bIns="0" rtlCol="0" anchor="ctr"/>
          <a:lstStyle/>
          <a:p>
            <a:pPr indent="0" marL="0">
              <a:buNone/>
            </a:pPr>
            <a:r>
              <a:rPr lang="en-US" sz="1300" b="1" dirty="0">
                <a:solidFill>
                  <a:srgbClr val="1A1A1A"/>
                </a:solidFill>
                <a:latin typeface="Yu Gothic" pitchFamily="34" charset="0"/>
                <a:ea typeface="Yu Gothic" pitchFamily="34" charset="-122"/>
                <a:cs typeface="Yu Gothic" pitchFamily="34" charset="-120"/>
              </a:rPr>
              <a:t>撮影・登録・一覧化</a:t>
            </a:r>
            <a:endParaRPr lang="en-US" sz="1300" dirty="0"/>
          </a:p>
        </p:txBody>
      </p:sp>
      <p:sp>
        <p:nvSpPr>
          <p:cNvPr id="19" name="Text 16"/>
          <p:cNvSpPr/>
          <p:nvPr/>
        </p:nvSpPr>
        <p:spPr>
          <a:xfrm>
            <a:off x="3660572" y="2578608"/>
            <a:ext cx="2032940" cy="859536"/>
          </a:xfrm>
          <a:prstGeom prst="rect">
            <a:avLst/>
          </a:prstGeom>
          <a:noFill/>
          <a:ln/>
        </p:spPr>
        <p:txBody>
          <a:bodyPr wrap="square" lIns="0" tIns="0" rIns="0" bIns="0" rtlCol="0" anchor="ctr"/>
          <a:lstStyle/>
          <a:p>
            <a:pPr indent="0" marL="0">
              <a:lnSpc>
                <a:spcPts val="1350"/>
              </a:lnSpc>
              <a:buNone/>
            </a:pPr>
            <a:r>
              <a:rPr lang="en-US" sz="980" dirty="0">
                <a:solidFill>
                  <a:srgbClr val="1A1A1A"/>
                </a:solidFill>
                <a:latin typeface="Yu Gothic" pitchFamily="34" charset="0"/>
                <a:ea typeface="Yu Gothic" pitchFamily="34" charset="-122"/>
                <a:cs typeface="Yu Gothic" pitchFamily="34" charset="-120"/>
              </a:rPr>
              <a:t>全ボトルを撮影しリスト化。何を何本持っているかが、アプリでいつでも分かる。</a:t>
            </a:r>
            <a:endParaRPr lang="en-US" sz="980" dirty="0"/>
          </a:p>
        </p:txBody>
      </p:sp>
      <p:sp>
        <p:nvSpPr>
          <p:cNvPr id="20" name="Shape 17"/>
          <p:cNvSpPr/>
          <p:nvPr/>
        </p:nvSpPr>
        <p:spPr>
          <a:xfrm>
            <a:off x="6242152" y="1481328"/>
            <a:ext cx="2545004" cy="2103120"/>
          </a:xfrm>
          <a:prstGeom prst="roundRect">
            <a:avLst>
              <a:gd name="adj" fmla="val 2174"/>
            </a:avLst>
          </a:prstGeom>
          <a:solidFill>
            <a:srgbClr val="F6F6F6"/>
          </a:solidFill>
          <a:ln w="12700">
            <a:solidFill>
              <a:srgbClr val="333333"/>
            </a:solidFill>
            <a:prstDash val="solid"/>
          </a:ln>
        </p:spPr>
      </p:sp>
      <p:sp>
        <p:nvSpPr>
          <p:cNvPr id="21" name="Shape 18"/>
          <p:cNvSpPr/>
          <p:nvPr/>
        </p:nvSpPr>
        <p:spPr>
          <a:xfrm>
            <a:off x="6498184" y="1682496"/>
            <a:ext cx="420624" cy="420624"/>
          </a:xfrm>
          <a:prstGeom prst="ellipse">
            <a:avLst/>
          </a:prstGeom>
          <a:solidFill>
            <a:srgbClr val="C68A65"/>
          </a:solidFill>
          <a:ln w="12700">
            <a:solidFill>
              <a:srgbClr val="333333"/>
            </a:solidFill>
            <a:prstDash val="solid"/>
          </a:ln>
        </p:spPr>
      </p:sp>
      <p:sp>
        <p:nvSpPr>
          <p:cNvPr id="22" name="Text 19"/>
          <p:cNvSpPr/>
          <p:nvPr/>
        </p:nvSpPr>
        <p:spPr>
          <a:xfrm>
            <a:off x="6498184" y="1682496"/>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23" name="Text 20"/>
          <p:cNvSpPr/>
          <p:nvPr/>
        </p:nvSpPr>
        <p:spPr>
          <a:xfrm>
            <a:off x="6498184" y="2212848"/>
            <a:ext cx="2032940" cy="310896"/>
          </a:xfrm>
          <a:prstGeom prst="rect">
            <a:avLst/>
          </a:prstGeom>
          <a:noFill/>
          <a:ln/>
        </p:spPr>
        <p:txBody>
          <a:bodyPr wrap="square" lIns="0" tIns="0" rIns="0" bIns="0" rtlCol="0" anchor="ctr"/>
          <a:lstStyle/>
          <a:p>
            <a:pPr indent="0" marL="0">
              <a:buNone/>
            </a:pPr>
            <a:r>
              <a:rPr lang="en-US" sz="1300" b="1" dirty="0">
                <a:solidFill>
                  <a:srgbClr val="1A1A1A"/>
                </a:solidFill>
                <a:latin typeface="Yu Gothic" pitchFamily="34" charset="0"/>
                <a:ea typeface="Yu Gothic" pitchFamily="34" charset="-122"/>
                <a:cs typeface="Yu Gothic" pitchFamily="34" charset="-120"/>
              </a:rPr>
              <a:t>定温保管</a:t>
            </a:r>
            <a:endParaRPr lang="en-US" sz="1300" dirty="0"/>
          </a:p>
        </p:txBody>
      </p:sp>
      <p:sp>
        <p:nvSpPr>
          <p:cNvPr id="24" name="Text 21"/>
          <p:cNvSpPr/>
          <p:nvPr/>
        </p:nvSpPr>
        <p:spPr>
          <a:xfrm>
            <a:off x="6498184" y="2578608"/>
            <a:ext cx="2032940" cy="859536"/>
          </a:xfrm>
          <a:prstGeom prst="rect">
            <a:avLst/>
          </a:prstGeom>
          <a:noFill/>
          <a:ln/>
        </p:spPr>
        <p:txBody>
          <a:bodyPr wrap="square" lIns="0" tIns="0" rIns="0" bIns="0" rtlCol="0" anchor="ctr"/>
          <a:lstStyle/>
          <a:p>
            <a:pPr indent="0" marL="0">
              <a:lnSpc>
                <a:spcPts val="1350"/>
              </a:lnSpc>
              <a:buNone/>
            </a:pPr>
            <a:r>
              <a:rPr lang="en-US" sz="980" dirty="0">
                <a:solidFill>
                  <a:srgbClr val="1A1A1A"/>
                </a:solidFill>
                <a:latin typeface="Yu Gothic" pitchFamily="34" charset="0"/>
                <a:ea typeface="Yu Gothic" pitchFamily="34" charset="-122"/>
                <a:cs typeface="Yu Gothic" pitchFamily="34" charset="-120"/>
              </a:rPr>
              <a:t>14℃・湿度70%、24時間365日の温度監視。東日本大震災でも破損実績ゼロの専門倉庫。</a:t>
            </a:r>
            <a:endParaRPr lang="en-US" sz="980" dirty="0"/>
          </a:p>
        </p:txBody>
      </p:sp>
      <p:sp>
        <p:nvSpPr>
          <p:cNvPr id="25" name="Shape 22"/>
          <p:cNvSpPr/>
          <p:nvPr/>
        </p:nvSpPr>
        <p:spPr>
          <a:xfrm>
            <a:off x="9079763" y="1481328"/>
            <a:ext cx="2545004" cy="2103120"/>
          </a:xfrm>
          <a:prstGeom prst="roundRect">
            <a:avLst>
              <a:gd name="adj" fmla="val 2174"/>
            </a:avLst>
          </a:prstGeom>
          <a:solidFill>
            <a:srgbClr val="F6F6F6"/>
          </a:solidFill>
          <a:ln w="12700">
            <a:solidFill>
              <a:srgbClr val="333333"/>
            </a:solidFill>
            <a:prstDash val="solid"/>
          </a:ln>
        </p:spPr>
      </p:sp>
      <p:sp>
        <p:nvSpPr>
          <p:cNvPr id="26" name="Shape 23"/>
          <p:cNvSpPr/>
          <p:nvPr/>
        </p:nvSpPr>
        <p:spPr>
          <a:xfrm>
            <a:off x="9335795" y="1682496"/>
            <a:ext cx="420624" cy="420624"/>
          </a:xfrm>
          <a:prstGeom prst="ellipse">
            <a:avLst/>
          </a:prstGeom>
          <a:solidFill>
            <a:srgbClr val="C68A65"/>
          </a:solidFill>
          <a:ln w="12700">
            <a:solidFill>
              <a:srgbClr val="333333"/>
            </a:solidFill>
            <a:prstDash val="solid"/>
          </a:ln>
        </p:spPr>
      </p:sp>
      <p:sp>
        <p:nvSpPr>
          <p:cNvPr id="27" name="Text 24"/>
          <p:cNvSpPr/>
          <p:nvPr/>
        </p:nvSpPr>
        <p:spPr>
          <a:xfrm>
            <a:off x="9335795" y="1682496"/>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28" name="Text 25"/>
          <p:cNvSpPr/>
          <p:nvPr/>
        </p:nvSpPr>
        <p:spPr>
          <a:xfrm>
            <a:off x="9335795" y="2212848"/>
            <a:ext cx="2032940" cy="310896"/>
          </a:xfrm>
          <a:prstGeom prst="rect">
            <a:avLst/>
          </a:prstGeom>
          <a:noFill/>
          <a:ln/>
        </p:spPr>
        <p:txBody>
          <a:bodyPr wrap="square" lIns="0" tIns="0" rIns="0" bIns="0" rtlCol="0" anchor="ctr"/>
          <a:lstStyle/>
          <a:p>
            <a:pPr indent="0" marL="0">
              <a:buNone/>
            </a:pPr>
            <a:r>
              <a:rPr lang="en-US" sz="1300" b="1" dirty="0">
                <a:solidFill>
                  <a:srgbClr val="1A1A1A"/>
                </a:solidFill>
                <a:latin typeface="Yu Gothic" pitchFamily="34" charset="0"/>
                <a:ea typeface="Yu Gothic" pitchFamily="34" charset="-122"/>
                <a:cs typeface="Yu Gothic" pitchFamily="34" charset="-120"/>
              </a:rPr>
              <a:t>出庫・ご配送</a:t>
            </a:r>
            <a:endParaRPr lang="en-US" sz="1300" dirty="0"/>
          </a:p>
        </p:txBody>
      </p:sp>
      <p:sp>
        <p:nvSpPr>
          <p:cNvPr id="29" name="Text 26"/>
          <p:cNvSpPr/>
          <p:nvPr/>
        </p:nvSpPr>
        <p:spPr>
          <a:xfrm>
            <a:off x="9335795" y="2578608"/>
            <a:ext cx="2032940" cy="859536"/>
          </a:xfrm>
          <a:prstGeom prst="rect">
            <a:avLst/>
          </a:prstGeom>
          <a:noFill/>
          <a:ln/>
        </p:spPr>
        <p:txBody>
          <a:bodyPr wrap="square" lIns="0" tIns="0" rIns="0" bIns="0" rtlCol="0" anchor="ctr"/>
          <a:lstStyle/>
          <a:p>
            <a:pPr indent="0" marL="0">
              <a:lnSpc>
                <a:spcPts val="1350"/>
              </a:lnSpc>
              <a:buNone/>
            </a:pPr>
            <a:r>
              <a:rPr lang="en-US" sz="980" dirty="0">
                <a:solidFill>
                  <a:srgbClr val="1A1A1A"/>
                </a:solidFill>
                <a:latin typeface="Yu Gothic" pitchFamily="34" charset="0"/>
                <a:ea typeface="Yu Gothic" pitchFamily="34" charset="-122"/>
                <a:cs typeface="Yu Gothic" pitchFamily="34" charset="-120"/>
              </a:rPr>
              <a:t>回数無制限。ご自宅・会食先・贈答先へ。都心はWineGOで当日配送も可能。</a:t>
            </a:r>
            <a:endParaRPr lang="en-US" sz="980" dirty="0"/>
          </a:p>
        </p:txBody>
      </p:sp>
      <p:sp>
        <p:nvSpPr>
          <p:cNvPr id="30" name="Shape 27"/>
          <p:cNvSpPr/>
          <p:nvPr/>
        </p:nvSpPr>
        <p:spPr>
          <a:xfrm>
            <a:off x="566928" y="3785616"/>
            <a:ext cx="5541264" cy="1481328"/>
          </a:xfrm>
          <a:prstGeom prst="roundRect">
            <a:avLst>
              <a:gd name="adj" fmla="val 3086"/>
            </a:avLst>
          </a:prstGeom>
          <a:solidFill>
            <a:srgbClr val="F6F6F6"/>
          </a:solidFill>
          <a:ln w="12700">
            <a:solidFill>
              <a:srgbClr val="333333"/>
            </a:solidFill>
            <a:prstDash val="solid"/>
          </a:ln>
        </p:spPr>
      </p:sp>
      <p:sp>
        <p:nvSpPr>
          <p:cNvPr id="31" name="Text 28"/>
          <p:cNvSpPr/>
          <p:nvPr/>
        </p:nvSpPr>
        <p:spPr>
          <a:xfrm>
            <a:off x="841248" y="3931920"/>
            <a:ext cx="4937760" cy="274320"/>
          </a:xfrm>
          <a:prstGeom prst="rect">
            <a:avLst/>
          </a:prstGeom>
          <a:noFill/>
          <a:ln/>
        </p:spPr>
        <p:txBody>
          <a:bodyPr wrap="square" lIns="0" tIns="0" rIns="0" bIns="0" rtlCol="0" anchor="ctr"/>
          <a:lstStyle/>
          <a:p>
            <a:pPr indent="0" marL="0">
              <a:buNone/>
            </a:pPr>
            <a:r>
              <a:rPr lang="en-US" sz="1400" b="1" dirty="0">
                <a:solidFill>
                  <a:srgbClr val="A06D4C"/>
                </a:solidFill>
                <a:latin typeface="Yu Gothic" pitchFamily="34" charset="0"/>
                <a:ea typeface="Yu Gothic" pitchFamily="34" charset="-122"/>
                <a:cs typeface="Yu Gothic" pitchFamily="34" charset="-120"/>
              </a:rPr>
              <a:t>安心の担保</a:t>
            </a:r>
            <a:endParaRPr lang="en-US" sz="1400" dirty="0"/>
          </a:p>
        </p:txBody>
      </p:sp>
      <p:sp>
        <p:nvSpPr>
          <p:cNvPr id="32" name="Text 29"/>
          <p:cNvSpPr/>
          <p:nvPr/>
        </p:nvSpPr>
        <p:spPr>
          <a:xfrm>
            <a:off x="841248" y="4261104"/>
            <a:ext cx="4974336" cy="932688"/>
          </a:xfrm>
          <a:prstGeom prst="rect">
            <a:avLst/>
          </a:prstGeom>
          <a:noFill/>
          <a:ln/>
        </p:spPr>
        <p:txBody>
          <a:bodyPr wrap="square" lIns="0" tIns="0" rIns="0" bIns="0" rtlCol="0" anchor="ctr"/>
          <a:lstStyle/>
          <a:p>
            <a:pPr marL="342900" indent="-342900">
              <a:lnSpc>
                <a:spcPts val="1400"/>
              </a:lnSpc>
              <a:spcAft>
                <a:spcPts val="300"/>
              </a:spcAft>
              <a:buSzPct val="100000"/>
              <a:buChar char="▪"/>
            </a:pPr>
            <a:r>
              <a:rPr lang="en-US" sz="1020" dirty="0">
                <a:solidFill>
                  <a:srgbClr val="1A1A1A"/>
                </a:solidFill>
                <a:latin typeface="Yu Gothic" pitchFamily="34" charset="0"/>
                <a:ea typeface="Yu Gothic" pitchFamily="34" charset="-122"/>
                <a:cs typeface="Yu Gothic" pitchFamily="34" charset="-120"/>
              </a:rPr>
              <a:t>動産保険の付保（事業者責による破損は全額補償）</a:t>
            </a:r>
            <a:endParaRPr lang="en-US" sz="1020" dirty="0"/>
          </a:p>
          <a:p>
            <a:pPr marL="342900" indent="-342900">
              <a:lnSpc>
                <a:spcPts val="1400"/>
              </a:lnSpc>
              <a:spcAft>
                <a:spcPts val="300"/>
              </a:spcAft>
              <a:buSzPct val="100000"/>
              <a:buChar char="▪"/>
            </a:pPr>
            <a:r>
              <a:rPr lang="en-US" sz="1020" dirty="0">
                <a:solidFill>
                  <a:srgbClr val="1A1A1A"/>
                </a:solidFill>
                <a:latin typeface="Yu Gothic" pitchFamily="34" charset="0"/>
                <a:ea typeface="Yu Gothic" pitchFamily="34" charset="-122"/>
                <a:cs typeface="Yu Gothic" pitchFamily="34" charset="-120"/>
              </a:rPr>
              <a:t>正規ルート仕入と真贋保証、プロヴナンス管理</a:t>
            </a:r>
            <a:endParaRPr lang="en-US" sz="1020" dirty="0"/>
          </a:p>
          <a:p>
            <a:pPr marL="342900" indent="-342900">
              <a:lnSpc>
                <a:spcPts val="1400"/>
              </a:lnSpc>
              <a:spcAft>
                <a:spcPts val="300"/>
              </a:spcAft>
              <a:buSzPct val="100000"/>
              <a:buChar char="▪"/>
            </a:pPr>
            <a:r>
              <a:rPr lang="en-US" sz="1020" dirty="0">
                <a:solidFill>
                  <a:srgbClr val="1A1A1A"/>
                </a:solidFill>
                <a:latin typeface="Yu Gothic" pitchFamily="34" charset="0"/>
                <a:ea typeface="Yu Gothic" pitchFamily="34" charset="-122"/>
                <a:cs typeface="Yu Gothic" pitchFamily="34" charset="-120"/>
              </a:rPr>
              <a:t>セキュリティ・補助電源完備の専門倉庫（都内2か所）</a:t>
            </a:r>
            <a:endParaRPr lang="en-US" sz="1020" dirty="0"/>
          </a:p>
        </p:txBody>
      </p:sp>
      <p:sp>
        <p:nvSpPr>
          <p:cNvPr id="33" name="Shape 30"/>
          <p:cNvSpPr/>
          <p:nvPr/>
        </p:nvSpPr>
        <p:spPr>
          <a:xfrm>
            <a:off x="6437376" y="3785616"/>
            <a:ext cx="5541264" cy="1481328"/>
          </a:xfrm>
          <a:prstGeom prst="roundRect">
            <a:avLst>
              <a:gd name="adj" fmla="val 3086"/>
            </a:avLst>
          </a:prstGeom>
          <a:solidFill>
            <a:srgbClr val="2F3941"/>
          </a:solidFill>
          <a:ln w="12700">
            <a:solidFill>
              <a:srgbClr val="333333"/>
            </a:solidFill>
            <a:prstDash val="solid"/>
          </a:ln>
        </p:spPr>
      </p:sp>
      <p:sp>
        <p:nvSpPr>
          <p:cNvPr id="34" name="Text 31"/>
          <p:cNvSpPr/>
          <p:nvPr/>
        </p:nvSpPr>
        <p:spPr>
          <a:xfrm>
            <a:off x="6711696" y="3931920"/>
            <a:ext cx="4937760" cy="274320"/>
          </a:xfrm>
          <a:prstGeom prst="rect">
            <a:avLst/>
          </a:prstGeom>
          <a:noFill/>
          <a:ln/>
        </p:spPr>
        <p:txBody>
          <a:bodyPr wrap="square" lIns="0" tIns="0" rIns="0" bIns="0" rtlCol="0" anchor="ctr"/>
          <a:lstStyle/>
          <a:p>
            <a:pPr indent="0" marL="0">
              <a:buNone/>
            </a:pPr>
            <a:r>
              <a:rPr lang="en-US" sz="1400" b="1" dirty="0">
                <a:solidFill>
                  <a:srgbClr val="EFDCCE"/>
                </a:solidFill>
                <a:latin typeface="Yu Gothic" pitchFamily="34" charset="0"/>
                <a:ea typeface="Yu Gothic" pitchFamily="34" charset="-122"/>
                <a:cs typeface="Yu Gothic" pitchFamily="34" charset="-120"/>
              </a:rPr>
              <a:t>レジデンス向けオプション</a:t>
            </a:r>
            <a:endParaRPr lang="en-US" sz="1400" dirty="0"/>
          </a:p>
        </p:txBody>
      </p:sp>
      <p:sp>
        <p:nvSpPr>
          <p:cNvPr id="35" name="Text 32"/>
          <p:cNvSpPr/>
          <p:nvPr/>
        </p:nvSpPr>
        <p:spPr>
          <a:xfrm>
            <a:off x="6711696" y="4261104"/>
            <a:ext cx="4974336" cy="932688"/>
          </a:xfrm>
          <a:prstGeom prst="rect">
            <a:avLst/>
          </a:prstGeom>
          <a:noFill/>
          <a:ln/>
        </p:spPr>
        <p:txBody>
          <a:bodyPr wrap="square" lIns="0" tIns="0" rIns="0" bIns="0" rtlCol="0" anchor="ctr"/>
          <a:lstStyle/>
          <a:p>
            <a:pPr marL="342900" indent="-342900">
              <a:lnSpc>
                <a:spcPts val="1400"/>
              </a:lnSpc>
              <a:spcAft>
                <a:spcPts val="300"/>
              </a:spcAft>
              <a:buSzPct val="100000"/>
              <a:buChar char="▪"/>
            </a:pPr>
            <a:r>
              <a:rPr lang="en-US" sz="1020" dirty="0">
                <a:solidFill>
                  <a:srgbClr val="E3E6E8"/>
                </a:solidFill>
                <a:latin typeface="Yu Gothic" pitchFamily="34" charset="0"/>
                <a:ea typeface="Yu Gothic" pitchFamily="34" charset="-122"/>
                <a:cs typeface="Yu Gothic" pitchFamily="34" charset="-120"/>
              </a:rPr>
              <a:t>居住者は100本まで保管料無料枠を付帯（101本目以降 月100円／本）</a:t>
            </a:r>
            <a:endParaRPr lang="en-US" sz="1020" dirty="0"/>
          </a:p>
          <a:p>
            <a:pPr marL="342900" indent="-342900">
              <a:lnSpc>
                <a:spcPts val="1400"/>
              </a:lnSpc>
              <a:spcAft>
                <a:spcPts val="300"/>
              </a:spcAft>
              <a:buSzPct val="100000"/>
              <a:buChar char="▪"/>
            </a:pPr>
            <a:r>
              <a:rPr lang="en-US" sz="1020" dirty="0">
                <a:solidFill>
                  <a:srgbClr val="E3E6E8"/>
                </a:solidFill>
                <a:latin typeface="Yu Gothic" pitchFamily="34" charset="0"/>
                <a:ea typeface="Yu Gothic" pitchFamily="34" charset="-122"/>
                <a:cs typeface="Yu Gothic" pitchFamily="34" charset="-120"/>
              </a:rPr>
              <a:t>住宅棟共用部に「プライベートセラー」を設置し、館内で受渡し</a:t>
            </a:r>
            <a:endParaRPr lang="en-US" sz="1020" dirty="0"/>
          </a:p>
          <a:p>
            <a:pPr marL="342900" indent="-342900">
              <a:lnSpc>
                <a:spcPts val="1400"/>
              </a:lnSpc>
              <a:spcAft>
                <a:spcPts val="300"/>
              </a:spcAft>
              <a:buSzPct val="100000"/>
              <a:buChar char="▪"/>
            </a:pPr>
            <a:r>
              <a:rPr lang="en-US" sz="1020" dirty="0">
                <a:solidFill>
                  <a:srgbClr val="E3E6E8"/>
                </a:solidFill>
                <a:latin typeface="Yu Gothic" pitchFamily="34" charset="0"/>
                <a:ea typeface="Yu Gothic" pitchFamily="34" charset="-122"/>
                <a:cs typeface="Yu Gothic" pitchFamily="34" charset="-120"/>
              </a:rPr>
              <a:t>ご入居・ご退去時の一括引取／一括納品にも対応</a:t>
            </a:r>
            <a:endParaRPr lang="en-US" sz="1020" dirty="0"/>
          </a:p>
        </p:txBody>
      </p:sp>
      <p:sp>
        <p:nvSpPr>
          <p:cNvPr id="36" name="Text 33"/>
          <p:cNvSpPr/>
          <p:nvPr/>
        </p:nvSpPr>
        <p:spPr>
          <a:xfrm>
            <a:off x="566928" y="5413248"/>
            <a:ext cx="10972800" cy="274320"/>
          </a:xfrm>
          <a:prstGeom prst="rect">
            <a:avLst/>
          </a:prstGeom>
          <a:noFill/>
          <a:ln/>
        </p:spPr>
        <p:txBody>
          <a:bodyPr wrap="square" lIns="0" tIns="0" rIns="0" bIns="0" rtlCol="0" anchor="ctr"/>
          <a:lstStyle/>
          <a:p>
            <a:pPr indent="0" marL="0">
              <a:buNone/>
            </a:pPr>
            <a:r>
              <a:rPr lang="en-US" sz="1000" dirty="0">
                <a:solidFill>
                  <a:srgbClr val="6E7378"/>
                </a:solidFill>
                <a:latin typeface="Yu Gothic" pitchFamily="34" charset="0"/>
                <a:ea typeface="Yu Gothic" pitchFamily="34" charset="-122"/>
                <a:cs typeface="Yu Gothic" pitchFamily="34" charset="-120"/>
              </a:rPr>
              <a:t>預けたワインはCloud Wine Caveの画面から一元で確認でき、当社の在庫と同じ操作で出庫できます。</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381183" y="292608"/>
            <a:ext cx="1243584" cy="247802"/>
          </a:xfrm>
          <a:prstGeom prst="rect">
            <a:avLst/>
          </a:prstGeom>
        </p:spPr>
      </p:pic>
      <p:sp>
        <p:nvSpPr>
          <p:cNvPr id="3" name="Shape 0"/>
          <p:cNvSpPr/>
          <p:nvPr/>
        </p:nvSpPr>
        <p:spPr>
          <a:xfrm>
            <a:off x="566928" y="292608"/>
            <a:ext cx="1197864" cy="237744"/>
          </a:xfrm>
          <a:prstGeom prst="roundRect">
            <a:avLst>
              <a:gd name="adj" fmla="val 11538"/>
            </a:avLst>
          </a:prstGeom>
          <a:solidFill>
            <a:srgbClr val="C68A65"/>
          </a:solidFill>
          <a:ln w="12700">
            <a:solidFill>
              <a:srgbClr val="333333"/>
            </a:solidFill>
            <a:prstDash val="solid"/>
          </a:ln>
        </p:spPr>
      </p:sp>
      <p:sp>
        <p:nvSpPr>
          <p:cNvPr id="4" name="Text 1"/>
          <p:cNvSpPr/>
          <p:nvPr/>
        </p:nvSpPr>
        <p:spPr>
          <a:xfrm>
            <a:off x="566928" y="292608"/>
            <a:ext cx="1197864"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Yu Gothic" pitchFamily="34" charset="0"/>
                <a:ea typeface="Yu Gothic" pitchFamily="34" charset="-122"/>
                <a:cs typeface="Yu Gothic" pitchFamily="34" charset="-120"/>
              </a:rPr>
              <a:t>POSITIONING</a:t>
            </a:r>
            <a:endParaRPr lang="en-US" sz="850" dirty="0"/>
          </a:p>
        </p:txBody>
      </p:sp>
      <p:sp>
        <p:nvSpPr>
          <p:cNvPr id="5" name="Text 2"/>
          <p:cNvSpPr/>
          <p:nvPr/>
        </p:nvSpPr>
        <p:spPr>
          <a:xfrm>
            <a:off x="566928" y="585216"/>
            <a:ext cx="9509760" cy="420624"/>
          </a:xfrm>
          <a:prstGeom prst="rect">
            <a:avLst/>
          </a:prstGeom>
          <a:noFill/>
          <a:ln/>
        </p:spPr>
        <p:txBody>
          <a:bodyPr wrap="square" lIns="0" tIns="0" rIns="0" bIns="0" rtlCol="0" anchor="ctr"/>
          <a:lstStyle/>
          <a:p>
            <a:pPr indent="0" marL="0">
              <a:buNone/>
            </a:pPr>
            <a:r>
              <a:rPr lang="en-US" sz="2300" b="1" dirty="0">
                <a:solidFill>
                  <a:srgbClr val="1A1A1A"/>
                </a:solidFill>
                <a:latin typeface="Yu Gothic" pitchFamily="34" charset="0"/>
                <a:ea typeface="Yu Gothic" pitchFamily="34" charset="-122"/>
                <a:cs typeface="Yu Gothic" pitchFamily="34" charset="-120"/>
              </a:rPr>
              <a:t>「日常で使える」ことが、この提案のすべてです</a:t>
            </a:r>
            <a:endParaRPr lang="en-US" sz="2300" dirty="0"/>
          </a:p>
        </p:txBody>
      </p:sp>
      <p:sp>
        <p:nvSpPr>
          <p:cNvPr id="6" name="Text 3"/>
          <p:cNvSpPr/>
          <p:nvPr/>
        </p:nvSpPr>
        <p:spPr>
          <a:xfrm>
            <a:off x="566928" y="1024128"/>
            <a:ext cx="11057839" cy="310896"/>
          </a:xfrm>
          <a:prstGeom prst="rect">
            <a:avLst/>
          </a:prstGeom>
          <a:noFill/>
          <a:ln/>
        </p:spPr>
        <p:txBody>
          <a:bodyPr wrap="square" lIns="0" tIns="0" rIns="0" bIns="0" rtlCol="0" anchor="ctr"/>
          <a:lstStyle/>
          <a:p>
            <a:pPr indent="0" marL="0">
              <a:lnSpc>
                <a:spcPts val="1700"/>
              </a:lnSpc>
              <a:buNone/>
            </a:pPr>
            <a:r>
              <a:rPr lang="en-US" sz="1150" dirty="0">
                <a:solidFill>
                  <a:srgbClr val="6E7378"/>
                </a:solidFill>
                <a:latin typeface="Yu Gothic" pitchFamily="34" charset="0"/>
                <a:ea typeface="Yu Gothic" pitchFamily="34" charset="-122"/>
                <a:cs typeface="Yu Gothic" pitchFamily="34" charset="-120"/>
              </a:rPr>
              <a:t>NOT A HOTELが別荘を「投資」と言わずに売り切ったように、私たちも会員権を「使えるもの」として提案します。</a:t>
            </a:r>
            <a:endParaRPr lang="en-US" sz="1150" dirty="0"/>
          </a:p>
        </p:txBody>
      </p:sp>
      <p:sp>
        <p:nvSpPr>
          <p:cNvPr id="7" name="Shape 4"/>
          <p:cNvSpPr/>
          <p:nvPr/>
        </p:nvSpPr>
        <p:spPr>
          <a:xfrm>
            <a:off x="0" y="6583680"/>
            <a:ext cx="12191695" cy="274320"/>
          </a:xfrm>
          <a:prstGeom prst="rect">
            <a:avLst/>
          </a:prstGeom>
          <a:solidFill>
            <a:srgbClr val="2F3941"/>
          </a:solidFill>
          <a:ln w="12700">
            <a:solidFill>
              <a:srgbClr val="333333"/>
            </a:solidFill>
            <a:prstDash val="solid"/>
          </a:ln>
        </p:spPr>
      </p:sp>
      <p:sp>
        <p:nvSpPr>
          <p:cNvPr id="8" name="Text 5"/>
          <p:cNvSpPr/>
          <p:nvPr/>
        </p:nvSpPr>
        <p:spPr>
          <a:xfrm>
            <a:off x="10893247" y="6272784"/>
            <a:ext cx="731520" cy="256032"/>
          </a:xfrm>
          <a:prstGeom prst="rect">
            <a:avLst/>
          </a:prstGeom>
          <a:noFill/>
          <a:ln/>
        </p:spPr>
        <p:txBody>
          <a:bodyPr wrap="square" lIns="0" tIns="0" rIns="0" bIns="0" rtlCol="0" anchor="ctr"/>
          <a:lstStyle/>
          <a:p>
            <a:pPr algn="r" indent="0" marL="0">
              <a:buNone/>
            </a:pPr>
            <a:r>
              <a:rPr lang="en-US" sz="1000" dirty="0">
                <a:solidFill>
                  <a:srgbClr val="A6ABAF"/>
                </a:solidFill>
                <a:latin typeface="Calibri" pitchFamily="34" charset="0"/>
                <a:ea typeface="Calibri" pitchFamily="34" charset="-122"/>
                <a:cs typeface="Calibri" pitchFamily="34" charset="-120"/>
              </a:rPr>
              <a:t>14</a:t>
            </a:r>
            <a:endParaRPr lang="en-US" sz="1000" dirty="0"/>
          </a:p>
        </p:txBody>
      </p:sp>
      <p:sp>
        <p:nvSpPr>
          <p:cNvPr id="9" name="Text 6"/>
          <p:cNvSpPr/>
          <p:nvPr/>
        </p:nvSpPr>
        <p:spPr>
          <a:xfrm>
            <a:off x="566928" y="6272784"/>
            <a:ext cx="2926080" cy="256032"/>
          </a:xfrm>
          <a:prstGeom prst="rect">
            <a:avLst/>
          </a:prstGeom>
          <a:noFill/>
          <a:ln/>
        </p:spPr>
        <p:txBody>
          <a:bodyPr wrap="square" lIns="0" tIns="0" rIns="0" bIns="0" rtlCol="0" anchor="ctr"/>
          <a:lstStyle/>
          <a:p>
            <a:pPr indent="0" marL="0">
              <a:buNone/>
            </a:pPr>
            <a:r>
              <a:rPr lang="en-US" sz="850" spc="120" kern="0" dirty="0">
                <a:solidFill>
                  <a:srgbClr val="C7CACC"/>
                </a:solidFill>
                <a:latin typeface="Calibri" pitchFamily="34" charset="0"/>
                <a:ea typeface="Calibri" pitchFamily="34" charset="-122"/>
                <a:cs typeface="Calibri" pitchFamily="34" charset="-120"/>
              </a:rPr>
              <a:t>CONFIDENTIAL</a:t>
            </a:r>
            <a:endParaRPr lang="en-US" sz="850" dirty="0"/>
          </a:p>
        </p:txBody>
      </p:sp>
      <p:sp>
        <p:nvSpPr>
          <p:cNvPr id="10" name="Shape 7"/>
          <p:cNvSpPr/>
          <p:nvPr/>
        </p:nvSpPr>
        <p:spPr>
          <a:xfrm>
            <a:off x="566928" y="1517904"/>
            <a:ext cx="6035040" cy="3749040"/>
          </a:xfrm>
          <a:prstGeom prst="rect">
            <a:avLst/>
          </a:prstGeom>
          <a:solidFill>
            <a:srgbClr val="F6F6F6"/>
          </a:solidFill>
          <a:ln w="12700">
            <a:solidFill>
              <a:srgbClr val="333333"/>
            </a:solidFill>
            <a:prstDash val="solid"/>
          </a:ln>
        </p:spPr>
      </p:sp>
      <p:sp>
        <p:nvSpPr>
          <p:cNvPr id="11" name="Shape 8"/>
          <p:cNvSpPr/>
          <p:nvPr/>
        </p:nvSpPr>
        <p:spPr>
          <a:xfrm>
            <a:off x="566928" y="3392424"/>
            <a:ext cx="6035040" cy="0"/>
          </a:xfrm>
          <a:prstGeom prst="line">
            <a:avLst/>
          </a:prstGeom>
          <a:noFill/>
          <a:ln w="12700">
            <a:solidFill>
              <a:srgbClr val="CDD1D4"/>
            </a:solidFill>
            <a:prstDash val="solid"/>
          </a:ln>
        </p:spPr>
      </p:sp>
      <p:sp>
        <p:nvSpPr>
          <p:cNvPr id="12" name="Shape 9"/>
          <p:cNvSpPr/>
          <p:nvPr/>
        </p:nvSpPr>
        <p:spPr>
          <a:xfrm>
            <a:off x="3584448" y="1517904"/>
            <a:ext cx="0" cy="3749040"/>
          </a:xfrm>
          <a:prstGeom prst="line">
            <a:avLst/>
          </a:prstGeom>
          <a:noFill/>
          <a:ln w="12700">
            <a:solidFill>
              <a:srgbClr val="CDD1D4"/>
            </a:solidFill>
            <a:prstDash val="solid"/>
          </a:ln>
        </p:spPr>
      </p:sp>
      <p:sp>
        <p:nvSpPr>
          <p:cNvPr id="13" name="Text 10"/>
          <p:cNvSpPr/>
          <p:nvPr/>
        </p:nvSpPr>
        <p:spPr>
          <a:xfrm>
            <a:off x="694944" y="1627632"/>
            <a:ext cx="2560320" cy="219456"/>
          </a:xfrm>
          <a:prstGeom prst="rect">
            <a:avLst/>
          </a:prstGeom>
          <a:noFill/>
          <a:ln/>
        </p:spPr>
        <p:txBody>
          <a:bodyPr wrap="square" lIns="0" tIns="0" rIns="0" bIns="0" rtlCol="0" anchor="ctr"/>
          <a:lstStyle/>
          <a:p>
            <a:pPr indent="0" marL="0">
              <a:buNone/>
            </a:pPr>
            <a:r>
              <a:rPr lang="en-US" sz="950" dirty="0">
                <a:solidFill>
                  <a:srgbClr val="A6ABAF"/>
                </a:solidFill>
                <a:latin typeface="Yu Gothic" pitchFamily="34" charset="0"/>
                <a:ea typeface="Yu Gothic" pitchFamily="34" charset="-122"/>
                <a:cs typeface="Yu Gothic" pitchFamily="34" charset="-120"/>
              </a:rPr>
              <a:t>非日常（年に数回）</a:t>
            </a:r>
            <a:endParaRPr lang="en-US" sz="950" dirty="0"/>
          </a:p>
        </p:txBody>
      </p:sp>
      <p:sp>
        <p:nvSpPr>
          <p:cNvPr id="14" name="Text 11"/>
          <p:cNvSpPr/>
          <p:nvPr/>
        </p:nvSpPr>
        <p:spPr>
          <a:xfrm>
            <a:off x="3712464" y="1627632"/>
            <a:ext cx="2560320" cy="219456"/>
          </a:xfrm>
          <a:prstGeom prst="rect">
            <a:avLst/>
          </a:prstGeom>
          <a:noFill/>
          <a:ln/>
        </p:spPr>
        <p:txBody>
          <a:bodyPr wrap="square" lIns="0" tIns="0" rIns="0" bIns="0" rtlCol="0" anchor="ctr"/>
          <a:lstStyle/>
          <a:p>
            <a:pPr indent="0" marL="0">
              <a:buNone/>
            </a:pPr>
            <a:r>
              <a:rPr lang="en-US" sz="950" dirty="0">
                <a:solidFill>
                  <a:srgbClr val="A6ABAF"/>
                </a:solidFill>
                <a:latin typeface="Yu Gothic" pitchFamily="34" charset="0"/>
                <a:ea typeface="Yu Gothic" pitchFamily="34" charset="-122"/>
                <a:cs typeface="Yu Gothic" pitchFamily="34" charset="-120"/>
              </a:rPr>
              <a:t>日常（毎週）</a:t>
            </a:r>
            <a:endParaRPr lang="en-US" sz="950" dirty="0"/>
          </a:p>
        </p:txBody>
      </p:sp>
      <p:sp>
        <p:nvSpPr>
          <p:cNvPr id="15" name="Text 12"/>
          <p:cNvSpPr/>
          <p:nvPr/>
        </p:nvSpPr>
        <p:spPr>
          <a:xfrm>
            <a:off x="694944" y="4956048"/>
            <a:ext cx="2560320" cy="219456"/>
          </a:xfrm>
          <a:prstGeom prst="rect">
            <a:avLst/>
          </a:prstGeom>
          <a:noFill/>
          <a:ln/>
        </p:spPr>
        <p:txBody>
          <a:bodyPr wrap="square" lIns="0" tIns="0" rIns="0" bIns="0" rtlCol="0" anchor="ctr"/>
          <a:lstStyle/>
          <a:p>
            <a:pPr indent="0" marL="0">
              <a:buNone/>
            </a:pPr>
            <a:r>
              <a:rPr lang="en-US" sz="950" dirty="0">
                <a:solidFill>
                  <a:srgbClr val="A6ABAF"/>
                </a:solidFill>
                <a:latin typeface="Yu Gothic" pitchFamily="34" charset="0"/>
                <a:ea typeface="Yu Gothic" pitchFamily="34" charset="-122"/>
                <a:cs typeface="Yu Gothic" pitchFamily="34" charset="-120"/>
              </a:rPr>
              <a:t>使うと、消える</a:t>
            </a:r>
            <a:endParaRPr lang="en-US" sz="950" dirty="0"/>
          </a:p>
        </p:txBody>
      </p:sp>
      <p:sp>
        <p:nvSpPr>
          <p:cNvPr id="16" name="Text 13"/>
          <p:cNvSpPr/>
          <p:nvPr/>
        </p:nvSpPr>
        <p:spPr>
          <a:xfrm>
            <a:off x="694944" y="1920240"/>
            <a:ext cx="2743200" cy="219456"/>
          </a:xfrm>
          <a:prstGeom prst="rect">
            <a:avLst/>
          </a:prstGeom>
          <a:noFill/>
          <a:ln/>
        </p:spPr>
        <p:txBody>
          <a:bodyPr wrap="square" lIns="0" tIns="0" rIns="0" bIns="0" rtlCol="0" anchor="ctr"/>
          <a:lstStyle/>
          <a:p>
            <a:pPr indent="0" marL="0">
              <a:buNone/>
            </a:pPr>
            <a:r>
              <a:rPr lang="en-US" sz="950" dirty="0">
                <a:solidFill>
                  <a:srgbClr val="A6ABAF"/>
                </a:solidFill>
                <a:latin typeface="Yu Gothic" pitchFamily="34" charset="0"/>
                <a:ea typeface="Yu Gothic" pitchFamily="34" charset="-122"/>
                <a:cs typeface="Yu Gothic" pitchFamily="34" charset="-120"/>
              </a:rPr>
              <a:t>使わなければ、手元に残る</a:t>
            </a:r>
            <a:endParaRPr lang="en-US" sz="950" dirty="0"/>
          </a:p>
        </p:txBody>
      </p:sp>
      <p:sp>
        <p:nvSpPr>
          <p:cNvPr id="17" name="Shape 14"/>
          <p:cNvSpPr/>
          <p:nvPr/>
        </p:nvSpPr>
        <p:spPr>
          <a:xfrm>
            <a:off x="1572768" y="2450592"/>
            <a:ext cx="1155802" cy="310896"/>
          </a:xfrm>
          <a:prstGeom prst="roundRect">
            <a:avLst>
              <a:gd name="adj" fmla="val 14706"/>
            </a:avLst>
          </a:prstGeom>
          <a:solidFill>
            <a:srgbClr val="FFFFFF"/>
          </a:solidFill>
          <a:ln w="12700">
            <a:solidFill>
              <a:srgbClr val="CDD1D4"/>
            </a:solidFill>
            <a:prstDash val="solid"/>
          </a:ln>
        </p:spPr>
      </p:sp>
      <p:sp>
        <p:nvSpPr>
          <p:cNvPr id="18" name="Text 15"/>
          <p:cNvSpPr/>
          <p:nvPr/>
        </p:nvSpPr>
        <p:spPr>
          <a:xfrm>
            <a:off x="1572768" y="2450592"/>
            <a:ext cx="1155802" cy="310896"/>
          </a:xfrm>
          <a:prstGeom prst="rect">
            <a:avLst/>
          </a:prstGeom>
          <a:noFill/>
          <a:ln/>
        </p:spPr>
        <p:txBody>
          <a:bodyPr wrap="square" lIns="0" tIns="0" rIns="0" bIns="0" rtlCol="0" anchor="ctr"/>
          <a:lstStyle/>
          <a:p>
            <a:pPr algn="ctr" indent="0" marL="0">
              <a:buNone/>
            </a:pPr>
            <a:r>
              <a:rPr lang="en-US" sz="950" dirty="0">
                <a:solidFill>
                  <a:srgbClr val="6E7378"/>
                </a:solidFill>
                <a:latin typeface="Yu Gothic" pitchFamily="34" charset="0"/>
                <a:ea typeface="Yu Gothic" pitchFamily="34" charset="-122"/>
                <a:cs typeface="Yu Gothic" pitchFamily="34" charset="-120"/>
              </a:rPr>
              <a:t>高級時計・アート</a:t>
            </a:r>
            <a:endParaRPr lang="en-US" sz="950" dirty="0"/>
          </a:p>
        </p:txBody>
      </p:sp>
      <p:sp>
        <p:nvSpPr>
          <p:cNvPr id="19" name="Shape 16"/>
          <p:cNvSpPr/>
          <p:nvPr/>
        </p:nvSpPr>
        <p:spPr>
          <a:xfrm>
            <a:off x="1572768" y="2999232"/>
            <a:ext cx="875995" cy="310896"/>
          </a:xfrm>
          <a:prstGeom prst="roundRect">
            <a:avLst>
              <a:gd name="adj" fmla="val 14706"/>
            </a:avLst>
          </a:prstGeom>
          <a:solidFill>
            <a:srgbClr val="FFFFFF"/>
          </a:solidFill>
          <a:ln w="12700">
            <a:solidFill>
              <a:srgbClr val="CDD1D4"/>
            </a:solidFill>
            <a:prstDash val="solid"/>
          </a:ln>
        </p:spPr>
      </p:sp>
      <p:sp>
        <p:nvSpPr>
          <p:cNvPr id="20" name="Text 17"/>
          <p:cNvSpPr/>
          <p:nvPr/>
        </p:nvSpPr>
        <p:spPr>
          <a:xfrm>
            <a:off x="1572768" y="2999232"/>
            <a:ext cx="875995" cy="310896"/>
          </a:xfrm>
          <a:prstGeom prst="rect">
            <a:avLst/>
          </a:prstGeom>
          <a:noFill/>
          <a:ln/>
        </p:spPr>
        <p:txBody>
          <a:bodyPr wrap="square" lIns="0" tIns="0" rIns="0" bIns="0" rtlCol="0" anchor="ctr"/>
          <a:lstStyle/>
          <a:p>
            <a:pPr algn="ctr" indent="0" marL="0">
              <a:buNone/>
            </a:pPr>
            <a:r>
              <a:rPr lang="en-US" sz="950" dirty="0">
                <a:solidFill>
                  <a:srgbClr val="6E7378"/>
                </a:solidFill>
                <a:latin typeface="Yu Gothic" pitchFamily="34" charset="0"/>
                <a:ea typeface="Yu Gothic" pitchFamily="34" charset="-122"/>
                <a:cs typeface="Yu Gothic" pitchFamily="34" charset="-120"/>
              </a:rPr>
              <a:t>NOT A HOTEL</a:t>
            </a:r>
            <a:endParaRPr lang="en-US" sz="950" dirty="0"/>
          </a:p>
        </p:txBody>
      </p:sp>
      <p:sp>
        <p:nvSpPr>
          <p:cNvPr id="21" name="Shape 18"/>
          <p:cNvSpPr/>
          <p:nvPr/>
        </p:nvSpPr>
        <p:spPr>
          <a:xfrm>
            <a:off x="1389888" y="4133088"/>
            <a:ext cx="1479499" cy="310896"/>
          </a:xfrm>
          <a:prstGeom prst="roundRect">
            <a:avLst>
              <a:gd name="adj" fmla="val 14706"/>
            </a:avLst>
          </a:prstGeom>
          <a:solidFill>
            <a:srgbClr val="FFFFFF"/>
          </a:solidFill>
          <a:ln w="12700">
            <a:solidFill>
              <a:srgbClr val="CDD1D4"/>
            </a:solidFill>
            <a:prstDash val="solid"/>
          </a:ln>
        </p:spPr>
      </p:sp>
      <p:sp>
        <p:nvSpPr>
          <p:cNvPr id="22" name="Text 19"/>
          <p:cNvSpPr/>
          <p:nvPr/>
        </p:nvSpPr>
        <p:spPr>
          <a:xfrm>
            <a:off x="1389888" y="4133088"/>
            <a:ext cx="1479499" cy="310896"/>
          </a:xfrm>
          <a:prstGeom prst="rect">
            <a:avLst/>
          </a:prstGeom>
          <a:noFill/>
          <a:ln/>
        </p:spPr>
        <p:txBody>
          <a:bodyPr wrap="square" lIns="0" tIns="0" rIns="0" bIns="0" rtlCol="0" anchor="ctr"/>
          <a:lstStyle/>
          <a:p>
            <a:pPr algn="ctr" indent="0" marL="0">
              <a:buNone/>
            </a:pPr>
            <a:r>
              <a:rPr lang="en-US" sz="950" dirty="0">
                <a:solidFill>
                  <a:srgbClr val="6E7378"/>
                </a:solidFill>
                <a:latin typeface="Yu Gothic" pitchFamily="34" charset="0"/>
                <a:ea typeface="Yu Gothic" pitchFamily="34" charset="-122"/>
                <a:cs typeface="Yu Gothic" pitchFamily="34" charset="-120"/>
              </a:rPr>
              <a:t>リゾート・ゴルフ会員権</a:t>
            </a:r>
            <a:endParaRPr lang="en-US" sz="950" dirty="0"/>
          </a:p>
        </p:txBody>
      </p:sp>
      <p:sp>
        <p:nvSpPr>
          <p:cNvPr id="23" name="Shape 20"/>
          <p:cNvSpPr/>
          <p:nvPr/>
        </p:nvSpPr>
        <p:spPr>
          <a:xfrm>
            <a:off x="4041648" y="4352544"/>
            <a:ext cx="1479499" cy="310896"/>
          </a:xfrm>
          <a:prstGeom prst="roundRect">
            <a:avLst>
              <a:gd name="adj" fmla="val 14706"/>
            </a:avLst>
          </a:prstGeom>
          <a:solidFill>
            <a:srgbClr val="FFFFFF"/>
          </a:solidFill>
          <a:ln w="12700">
            <a:solidFill>
              <a:srgbClr val="CDD1D4"/>
            </a:solidFill>
            <a:prstDash val="solid"/>
          </a:ln>
        </p:spPr>
      </p:sp>
      <p:sp>
        <p:nvSpPr>
          <p:cNvPr id="24" name="Text 21"/>
          <p:cNvSpPr/>
          <p:nvPr/>
        </p:nvSpPr>
        <p:spPr>
          <a:xfrm>
            <a:off x="4041648" y="4352544"/>
            <a:ext cx="1479499" cy="310896"/>
          </a:xfrm>
          <a:prstGeom prst="rect">
            <a:avLst/>
          </a:prstGeom>
          <a:noFill/>
          <a:ln/>
        </p:spPr>
        <p:txBody>
          <a:bodyPr wrap="square" lIns="0" tIns="0" rIns="0" bIns="0" rtlCol="0" anchor="ctr"/>
          <a:lstStyle/>
          <a:p>
            <a:pPr algn="ctr" indent="0" marL="0">
              <a:buNone/>
            </a:pPr>
            <a:r>
              <a:rPr lang="en-US" sz="950" dirty="0">
                <a:solidFill>
                  <a:srgbClr val="6E7378"/>
                </a:solidFill>
                <a:latin typeface="Yu Gothic" pitchFamily="34" charset="0"/>
                <a:ea typeface="Yu Gothic" pitchFamily="34" charset="-122"/>
                <a:cs typeface="Yu Gothic" pitchFamily="34" charset="-120"/>
              </a:rPr>
              <a:t>レストラン接待（現状）</a:t>
            </a:r>
            <a:endParaRPr lang="en-US" sz="950" dirty="0"/>
          </a:p>
        </p:txBody>
      </p:sp>
      <p:sp>
        <p:nvSpPr>
          <p:cNvPr id="25" name="Shape 22"/>
          <p:cNvSpPr/>
          <p:nvPr/>
        </p:nvSpPr>
        <p:spPr>
          <a:xfrm>
            <a:off x="4005072" y="2615184"/>
            <a:ext cx="2468880" cy="566928"/>
          </a:xfrm>
          <a:prstGeom prst="roundRect">
            <a:avLst>
              <a:gd name="adj" fmla="val 8065"/>
            </a:avLst>
          </a:prstGeom>
          <a:solidFill>
            <a:srgbClr val="2F3941"/>
          </a:solidFill>
          <a:ln w="12700">
            <a:solidFill>
              <a:srgbClr val="333333"/>
            </a:solidFill>
            <a:prstDash val="solid"/>
          </a:ln>
        </p:spPr>
      </p:sp>
      <p:sp>
        <p:nvSpPr>
          <p:cNvPr id="26" name="Text 23"/>
          <p:cNvSpPr/>
          <p:nvPr/>
        </p:nvSpPr>
        <p:spPr>
          <a:xfrm>
            <a:off x="4005072" y="2615184"/>
            <a:ext cx="2468880" cy="566928"/>
          </a:xfrm>
          <a:prstGeom prst="rect">
            <a:avLst/>
          </a:prstGeom>
          <a:noFill/>
          <a:ln/>
        </p:spPr>
        <p:txBody>
          <a:bodyPr wrap="square" lIns="0" tIns="0" rIns="0" bIns="0" rtlCol="0" anchor="ctr"/>
          <a:lstStyle/>
          <a:p>
            <a:pPr algn="ctr" indent="0" marL="0">
              <a:lnSpc>
                <a:spcPts val="1500"/>
              </a:lnSpc>
              <a:buNone/>
            </a:pPr>
            <a:r>
              <a:rPr lang="en-US" sz="1200" b="1" dirty="0">
                <a:solidFill>
                  <a:srgbClr val="EFDCCE"/>
                </a:solidFill>
                <a:latin typeface="Yu Gothic" pitchFamily="34" charset="0"/>
                <a:ea typeface="Yu Gothic" pitchFamily="34" charset="-122"/>
                <a:cs typeface="Yu Gothic" pitchFamily="34" charset="-120"/>
              </a:rPr>
              <a:t>WineBank</a:t>
            </a:r>
            <a:endParaRPr lang="en-US" sz="1200" dirty="0"/>
          </a:p>
          <a:p>
            <a:pPr algn="ctr" indent="0" marL="0">
              <a:lnSpc>
                <a:spcPts val="1500"/>
              </a:lnSpc>
              <a:buNone/>
            </a:pPr>
            <a:r>
              <a:rPr lang="en-US" sz="1200" b="1" dirty="0">
                <a:solidFill>
                  <a:srgbClr val="EFDCCE"/>
                </a:solidFill>
                <a:latin typeface="Yu Gothic" pitchFamily="34" charset="0"/>
                <a:ea typeface="Yu Gothic" pitchFamily="34" charset="-122"/>
                <a:cs typeface="Yu Gothic" pitchFamily="34" charset="-120"/>
              </a:rPr>
              <a:t>ヒルズ会員</a:t>
            </a:r>
            <a:endParaRPr lang="en-US" sz="1200" dirty="0"/>
          </a:p>
        </p:txBody>
      </p:sp>
      <p:sp>
        <p:nvSpPr>
          <p:cNvPr id="27" name="Shape 24"/>
          <p:cNvSpPr/>
          <p:nvPr/>
        </p:nvSpPr>
        <p:spPr>
          <a:xfrm>
            <a:off x="7022592" y="1517904"/>
            <a:ext cx="4602175" cy="1152144"/>
          </a:xfrm>
          <a:prstGeom prst="roundRect">
            <a:avLst>
              <a:gd name="adj" fmla="val 3968"/>
            </a:avLst>
          </a:prstGeom>
          <a:solidFill>
            <a:srgbClr val="2F3941"/>
          </a:solidFill>
          <a:ln w="12700">
            <a:solidFill>
              <a:srgbClr val="333333"/>
            </a:solidFill>
            <a:prstDash val="solid"/>
          </a:ln>
        </p:spPr>
      </p:sp>
      <p:sp>
        <p:nvSpPr>
          <p:cNvPr id="28" name="Shape 25"/>
          <p:cNvSpPr/>
          <p:nvPr/>
        </p:nvSpPr>
        <p:spPr>
          <a:xfrm>
            <a:off x="7278624" y="1719072"/>
            <a:ext cx="402336" cy="402336"/>
          </a:xfrm>
          <a:prstGeom prst="ellipse">
            <a:avLst/>
          </a:prstGeom>
          <a:solidFill>
            <a:srgbClr val="C68A65"/>
          </a:solidFill>
          <a:ln w="12700">
            <a:solidFill>
              <a:srgbClr val="333333"/>
            </a:solidFill>
            <a:prstDash val="solid"/>
          </a:ln>
        </p:spPr>
      </p:sp>
      <p:sp>
        <p:nvSpPr>
          <p:cNvPr id="29" name="Text 26"/>
          <p:cNvSpPr/>
          <p:nvPr/>
        </p:nvSpPr>
        <p:spPr>
          <a:xfrm>
            <a:off x="7278624" y="1719072"/>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30" name="Text 27"/>
          <p:cNvSpPr/>
          <p:nvPr/>
        </p:nvSpPr>
        <p:spPr>
          <a:xfrm>
            <a:off x="7790688" y="1700784"/>
            <a:ext cx="3578047" cy="420624"/>
          </a:xfrm>
          <a:prstGeom prst="rect">
            <a:avLst/>
          </a:prstGeom>
          <a:noFill/>
          <a:ln/>
        </p:spPr>
        <p:txBody>
          <a:bodyPr wrap="square" lIns="0" tIns="0" rIns="0" bIns="0" rtlCol="0" anchor="ctr"/>
          <a:lstStyle/>
          <a:p>
            <a:pPr indent="0" marL="0">
              <a:buNone/>
            </a:pPr>
            <a:r>
              <a:rPr lang="en-US" sz="1300" b="1" dirty="0">
                <a:solidFill>
                  <a:srgbClr val="EFDCCE"/>
                </a:solidFill>
                <a:latin typeface="Yu Gothic" pitchFamily="34" charset="0"/>
                <a:ea typeface="Yu Gothic" pitchFamily="34" charset="-122"/>
                <a:cs typeface="Yu Gothic" pitchFamily="34" charset="-120"/>
              </a:rPr>
              <a:t>会食のたびに、得をする</a:t>
            </a:r>
            <a:endParaRPr lang="en-US" sz="1300" dirty="0"/>
          </a:p>
        </p:txBody>
      </p:sp>
      <p:sp>
        <p:nvSpPr>
          <p:cNvPr id="31" name="Text 28"/>
          <p:cNvSpPr/>
          <p:nvPr/>
        </p:nvSpPr>
        <p:spPr>
          <a:xfrm>
            <a:off x="7278624" y="2176272"/>
            <a:ext cx="4090111" cy="420624"/>
          </a:xfrm>
          <a:prstGeom prst="rect">
            <a:avLst/>
          </a:prstGeom>
          <a:noFill/>
          <a:ln/>
        </p:spPr>
        <p:txBody>
          <a:bodyPr wrap="square" lIns="0" tIns="0" rIns="0" bIns="0" rtlCol="0" anchor="ctr"/>
          <a:lstStyle/>
          <a:p>
            <a:pPr indent="0" marL="0">
              <a:lnSpc>
                <a:spcPts val="1350"/>
              </a:lnSpc>
              <a:buNone/>
            </a:pPr>
            <a:r>
              <a:rPr lang="en-US" sz="980" dirty="0">
                <a:solidFill>
                  <a:srgbClr val="E3E6E8"/>
                </a:solidFill>
                <a:latin typeface="Yu Gothic" pitchFamily="34" charset="0"/>
                <a:ea typeface="Yu Gothic" pitchFamily="34" charset="-122"/>
                <a:cs typeface="Yu Gothic" pitchFamily="34" charset="-120"/>
              </a:rPr>
              <a:t>コルケージ無料と仕入原価相当での提供。卸原価の2〜3倍を払う店内価格から解放されます。</a:t>
            </a:r>
            <a:endParaRPr lang="en-US" sz="980" dirty="0"/>
          </a:p>
        </p:txBody>
      </p:sp>
      <p:sp>
        <p:nvSpPr>
          <p:cNvPr id="32" name="Shape 29"/>
          <p:cNvSpPr/>
          <p:nvPr/>
        </p:nvSpPr>
        <p:spPr>
          <a:xfrm>
            <a:off x="7022592" y="2816352"/>
            <a:ext cx="4602175" cy="1152144"/>
          </a:xfrm>
          <a:prstGeom prst="roundRect">
            <a:avLst>
              <a:gd name="adj" fmla="val 3968"/>
            </a:avLst>
          </a:prstGeom>
          <a:solidFill>
            <a:srgbClr val="F6F6F6"/>
          </a:solidFill>
          <a:ln w="12700">
            <a:solidFill>
              <a:srgbClr val="333333"/>
            </a:solidFill>
            <a:prstDash val="solid"/>
          </a:ln>
        </p:spPr>
      </p:sp>
      <p:sp>
        <p:nvSpPr>
          <p:cNvPr id="33" name="Shape 30"/>
          <p:cNvSpPr/>
          <p:nvPr/>
        </p:nvSpPr>
        <p:spPr>
          <a:xfrm>
            <a:off x="7278624" y="3017520"/>
            <a:ext cx="402336" cy="402336"/>
          </a:xfrm>
          <a:prstGeom prst="ellipse">
            <a:avLst/>
          </a:prstGeom>
          <a:solidFill>
            <a:srgbClr val="C68A65"/>
          </a:solidFill>
          <a:ln w="12700">
            <a:solidFill>
              <a:srgbClr val="333333"/>
            </a:solidFill>
            <a:prstDash val="solid"/>
          </a:ln>
        </p:spPr>
      </p:sp>
      <p:sp>
        <p:nvSpPr>
          <p:cNvPr id="34" name="Text 31"/>
          <p:cNvSpPr/>
          <p:nvPr/>
        </p:nvSpPr>
        <p:spPr>
          <a:xfrm>
            <a:off x="7278624" y="301752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35" name="Text 32"/>
          <p:cNvSpPr/>
          <p:nvPr/>
        </p:nvSpPr>
        <p:spPr>
          <a:xfrm>
            <a:off x="7790688" y="2999232"/>
            <a:ext cx="3578047" cy="420624"/>
          </a:xfrm>
          <a:prstGeom prst="rect">
            <a:avLst/>
          </a:prstGeom>
          <a:noFill/>
          <a:ln/>
        </p:spPr>
        <p:txBody>
          <a:bodyPr wrap="square" lIns="0" tIns="0" rIns="0" bIns="0" rtlCol="0" anchor="ctr"/>
          <a:lstStyle/>
          <a:p>
            <a:pPr indent="0" marL="0">
              <a:buNone/>
            </a:pPr>
            <a:r>
              <a:rPr lang="en-US" sz="1300" b="1" dirty="0">
                <a:solidFill>
                  <a:srgbClr val="1A1A1A"/>
                </a:solidFill>
                <a:latin typeface="Yu Gothic" pitchFamily="34" charset="0"/>
                <a:ea typeface="Yu Gothic" pitchFamily="34" charset="-122"/>
                <a:cs typeface="Yu Gothic" pitchFamily="34" charset="-120"/>
              </a:rPr>
              <a:t>飲まなければ、手元に残る</a:t>
            </a:r>
            <a:endParaRPr lang="en-US" sz="1300" dirty="0"/>
          </a:p>
        </p:txBody>
      </p:sp>
      <p:sp>
        <p:nvSpPr>
          <p:cNvPr id="36" name="Text 33"/>
          <p:cNvSpPr/>
          <p:nvPr/>
        </p:nvSpPr>
        <p:spPr>
          <a:xfrm>
            <a:off x="7278624" y="3474720"/>
            <a:ext cx="4090111" cy="420624"/>
          </a:xfrm>
          <a:prstGeom prst="rect">
            <a:avLst/>
          </a:prstGeom>
          <a:noFill/>
          <a:ln/>
        </p:spPr>
        <p:txBody>
          <a:bodyPr wrap="square" lIns="0" tIns="0" rIns="0" bIns="0" rtlCol="0" anchor="ctr"/>
          <a:lstStyle/>
          <a:p>
            <a:pPr indent="0" marL="0">
              <a:lnSpc>
                <a:spcPts val="1350"/>
              </a:lnSpc>
              <a:buNone/>
            </a:pPr>
            <a:r>
              <a:rPr lang="en-US" sz="980" dirty="0">
                <a:solidFill>
                  <a:srgbClr val="6E7378"/>
                </a:solidFill>
                <a:latin typeface="Yu Gothic" pitchFamily="34" charset="0"/>
                <a:ea typeface="Yu Gothic" pitchFamily="34" charset="-122"/>
                <a:cs typeface="Yu Gothic" pitchFamily="34" charset="-120"/>
              </a:rPr>
              <a:t>使わなかった分は現物のワインとして定温倉庫に残り、いつでも出庫・贈答できます。</a:t>
            </a:r>
            <a:endParaRPr lang="en-US" sz="980" dirty="0"/>
          </a:p>
        </p:txBody>
      </p:sp>
      <p:sp>
        <p:nvSpPr>
          <p:cNvPr id="37" name="Shape 34"/>
          <p:cNvSpPr/>
          <p:nvPr/>
        </p:nvSpPr>
        <p:spPr>
          <a:xfrm>
            <a:off x="7022592" y="4114800"/>
            <a:ext cx="4602175" cy="1152144"/>
          </a:xfrm>
          <a:prstGeom prst="roundRect">
            <a:avLst>
              <a:gd name="adj" fmla="val 3968"/>
            </a:avLst>
          </a:prstGeom>
          <a:solidFill>
            <a:srgbClr val="F6F6F6"/>
          </a:solidFill>
          <a:ln w="12700">
            <a:solidFill>
              <a:srgbClr val="333333"/>
            </a:solidFill>
            <a:prstDash val="solid"/>
          </a:ln>
        </p:spPr>
      </p:sp>
      <p:sp>
        <p:nvSpPr>
          <p:cNvPr id="38" name="Shape 35"/>
          <p:cNvSpPr/>
          <p:nvPr/>
        </p:nvSpPr>
        <p:spPr>
          <a:xfrm>
            <a:off x="7278624" y="4315968"/>
            <a:ext cx="402336" cy="402336"/>
          </a:xfrm>
          <a:prstGeom prst="ellipse">
            <a:avLst/>
          </a:prstGeom>
          <a:solidFill>
            <a:srgbClr val="C68A65"/>
          </a:solidFill>
          <a:ln w="12700">
            <a:solidFill>
              <a:srgbClr val="333333"/>
            </a:solidFill>
            <a:prstDash val="solid"/>
          </a:ln>
        </p:spPr>
      </p:sp>
      <p:sp>
        <p:nvSpPr>
          <p:cNvPr id="39" name="Text 36"/>
          <p:cNvSpPr/>
          <p:nvPr/>
        </p:nvSpPr>
        <p:spPr>
          <a:xfrm>
            <a:off x="7278624" y="4315968"/>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40" name="Text 37"/>
          <p:cNvSpPr/>
          <p:nvPr/>
        </p:nvSpPr>
        <p:spPr>
          <a:xfrm>
            <a:off x="7790688" y="4297680"/>
            <a:ext cx="3578047" cy="420624"/>
          </a:xfrm>
          <a:prstGeom prst="rect">
            <a:avLst/>
          </a:prstGeom>
          <a:noFill/>
          <a:ln/>
        </p:spPr>
        <p:txBody>
          <a:bodyPr wrap="square" lIns="0" tIns="0" rIns="0" bIns="0" rtlCol="0" anchor="ctr"/>
          <a:lstStyle/>
          <a:p>
            <a:pPr indent="0" marL="0">
              <a:buNone/>
            </a:pPr>
            <a:r>
              <a:rPr lang="en-US" sz="1300" b="1" dirty="0">
                <a:solidFill>
                  <a:srgbClr val="1A1A1A"/>
                </a:solidFill>
                <a:latin typeface="Yu Gothic" pitchFamily="34" charset="0"/>
                <a:ea typeface="Yu Gothic" pitchFamily="34" charset="-122"/>
                <a:cs typeface="Yu Gothic" pitchFamily="34" charset="-120"/>
              </a:rPr>
              <a:t>世界観が先、価格が後</a:t>
            </a:r>
            <a:endParaRPr lang="en-US" sz="1300" dirty="0"/>
          </a:p>
        </p:txBody>
      </p:sp>
      <p:sp>
        <p:nvSpPr>
          <p:cNvPr id="41" name="Text 38"/>
          <p:cNvSpPr/>
          <p:nvPr/>
        </p:nvSpPr>
        <p:spPr>
          <a:xfrm>
            <a:off x="7278624" y="4773168"/>
            <a:ext cx="4090111" cy="420624"/>
          </a:xfrm>
          <a:prstGeom prst="rect">
            <a:avLst/>
          </a:prstGeom>
          <a:noFill/>
          <a:ln/>
        </p:spPr>
        <p:txBody>
          <a:bodyPr wrap="square" lIns="0" tIns="0" rIns="0" bIns="0" rtlCol="0" anchor="ctr"/>
          <a:lstStyle/>
          <a:p>
            <a:pPr indent="0" marL="0">
              <a:lnSpc>
                <a:spcPts val="1350"/>
              </a:lnSpc>
              <a:buNone/>
            </a:pPr>
            <a:r>
              <a:rPr lang="en-US" sz="980" dirty="0">
                <a:solidFill>
                  <a:srgbClr val="6E7378"/>
                </a:solidFill>
                <a:latin typeface="Yu Gothic" pitchFamily="34" charset="0"/>
                <a:ea typeface="Yu Gothic" pitchFamily="34" charset="-122"/>
                <a:cs typeface="Yu Gothic" pitchFamily="34" charset="-120"/>
              </a:rPr>
              <a:t>セラーと名店の体験を先に見ていただく。会員権は、その体験への入口として提示します。</a:t>
            </a:r>
            <a:endParaRPr lang="en-US" sz="980" dirty="0"/>
          </a:p>
        </p:txBody>
      </p:sp>
      <p:sp>
        <p:nvSpPr>
          <p:cNvPr id="42" name="Text 39"/>
          <p:cNvSpPr/>
          <p:nvPr/>
        </p:nvSpPr>
        <p:spPr>
          <a:xfrm>
            <a:off x="7022592" y="5431536"/>
            <a:ext cx="4602175" cy="256032"/>
          </a:xfrm>
          <a:prstGeom prst="rect">
            <a:avLst/>
          </a:prstGeom>
          <a:noFill/>
          <a:ln/>
        </p:spPr>
        <p:txBody>
          <a:bodyPr wrap="square" lIns="0" tIns="0" rIns="0" bIns="0" rtlCol="0" anchor="ctr"/>
          <a:lstStyle/>
          <a:p>
            <a:pPr indent="0" marL="0">
              <a:buNone/>
            </a:pPr>
            <a:r>
              <a:rPr lang="en-US" sz="860" dirty="0">
                <a:solidFill>
                  <a:srgbClr val="A6ABAF"/>
                </a:solidFill>
                <a:latin typeface="Yu Gothic" pitchFamily="34" charset="0"/>
                <a:ea typeface="Yu Gothic" pitchFamily="34" charset="-122"/>
                <a:cs typeface="Yu Gothic" pitchFamily="34" charset="-120"/>
              </a:rPr>
              <a:t>※ NOT A HOTELの事例は同社公表資料に基づく当社整理です。</a:t>
            </a:r>
            <a:endParaRPr lang="en-US" sz="86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381183" y="292608"/>
            <a:ext cx="1243584" cy="247802"/>
          </a:xfrm>
          <a:prstGeom prst="rect">
            <a:avLst/>
          </a:prstGeom>
        </p:spPr>
      </p:pic>
      <p:sp>
        <p:nvSpPr>
          <p:cNvPr id="3" name="Shape 0"/>
          <p:cNvSpPr/>
          <p:nvPr/>
        </p:nvSpPr>
        <p:spPr>
          <a:xfrm>
            <a:off x="566928" y="292608"/>
            <a:ext cx="704088" cy="237744"/>
          </a:xfrm>
          <a:prstGeom prst="roundRect">
            <a:avLst>
              <a:gd name="adj" fmla="val 11538"/>
            </a:avLst>
          </a:prstGeom>
          <a:solidFill>
            <a:srgbClr val="C68A65"/>
          </a:solidFill>
          <a:ln w="12700">
            <a:solidFill>
              <a:srgbClr val="333333"/>
            </a:solidFill>
            <a:prstDash val="solid"/>
          </a:ln>
        </p:spPr>
      </p:sp>
      <p:sp>
        <p:nvSpPr>
          <p:cNvPr id="4" name="Text 1"/>
          <p:cNvSpPr/>
          <p:nvPr/>
        </p:nvSpPr>
        <p:spPr>
          <a:xfrm>
            <a:off x="566928" y="292608"/>
            <a:ext cx="704088"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Yu Gothic" pitchFamily="34" charset="0"/>
                <a:ea typeface="Yu Gothic" pitchFamily="34" charset="-122"/>
                <a:cs typeface="Yu Gothic" pitchFamily="34" charset="-120"/>
              </a:rPr>
              <a:t>VALUE</a:t>
            </a:r>
            <a:endParaRPr lang="en-US" sz="850" dirty="0"/>
          </a:p>
        </p:txBody>
      </p:sp>
      <p:sp>
        <p:nvSpPr>
          <p:cNvPr id="5" name="Text 2"/>
          <p:cNvSpPr/>
          <p:nvPr/>
        </p:nvSpPr>
        <p:spPr>
          <a:xfrm>
            <a:off x="566928" y="585216"/>
            <a:ext cx="9509760" cy="420624"/>
          </a:xfrm>
          <a:prstGeom prst="rect">
            <a:avLst/>
          </a:prstGeom>
          <a:noFill/>
          <a:ln/>
        </p:spPr>
        <p:txBody>
          <a:bodyPr wrap="square" lIns="0" tIns="0" rIns="0" bIns="0" rtlCol="0" anchor="ctr"/>
          <a:lstStyle/>
          <a:p>
            <a:pPr indent="0" marL="0">
              <a:buNone/>
            </a:pPr>
            <a:r>
              <a:rPr lang="en-US" sz="2300" b="1" dirty="0">
                <a:solidFill>
                  <a:srgbClr val="1A1A1A"/>
                </a:solidFill>
                <a:latin typeface="Yu Gothic" pitchFamily="34" charset="0"/>
                <a:ea typeface="Yu Gothic" pitchFamily="34" charset="-122"/>
                <a:cs typeface="Yu Gothic" pitchFamily="34" charset="-120"/>
              </a:rPr>
              <a:t>森ビル様にとっての価値</a:t>
            </a:r>
            <a:endParaRPr lang="en-US" sz="2300" dirty="0"/>
          </a:p>
        </p:txBody>
      </p:sp>
      <p:sp>
        <p:nvSpPr>
          <p:cNvPr id="6" name="Text 3"/>
          <p:cNvSpPr/>
          <p:nvPr/>
        </p:nvSpPr>
        <p:spPr>
          <a:xfrm>
            <a:off x="566928" y="1024128"/>
            <a:ext cx="11057839" cy="310896"/>
          </a:xfrm>
          <a:prstGeom prst="rect">
            <a:avLst/>
          </a:prstGeom>
          <a:noFill/>
          <a:ln/>
        </p:spPr>
        <p:txBody>
          <a:bodyPr wrap="square" lIns="0" tIns="0" rIns="0" bIns="0" rtlCol="0" anchor="ctr"/>
          <a:lstStyle/>
          <a:p>
            <a:pPr indent="0" marL="0">
              <a:lnSpc>
                <a:spcPts val="1700"/>
              </a:lnSpc>
              <a:buNone/>
            </a:pPr>
            <a:r>
              <a:rPr lang="en-US" sz="1150" dirty="0">
                <a:solidFill>
                  <a:srgbClr val="6E7378"/>
                </a:solidFill>
                <a:latin typeface="Yu Gothic" pitchFamily="34" charset="0"/>
                <a:ea typeface="Yu Gothic" pitchFamily="34" charset="-122"/>
                <a:cs typeface="Yu Gothic" pitchFamily="34" charset="-120"/>
              </a:rPr>
              <a:t>単発のテナント誘致ではなく、街区の「体験の質」と「収益源」を同時に増やすご提案です。</a:t>
            </a:r>
            <a:endParaRPr lang="en-US" sz="1150" dirty="0"/>
          </a:p>
        </p:txBody>
      </p:sp>
      <p:sp>
        <p:nvSpPr>
          <p:cNvPr id="7" name="Shape 4"/>
          <p:cNvSpPr/>
          <p:nvPr/>
        </p:nvSpPr>
        <p:spPr>
          <a:xfrm>
            <a:off x="0" y="6583680"/>
            <a:ext cx="12191695" cy="274320"/>
          </a:xfrm>
          <a:prstGeom prst="rect">
            <a:avLst/>
          </a:prstGeom>
          <a:solidFill>
            <a:srgbClr val="2F3941"/>
          </a:solidFill>
          <a:ln w="12700">
            <a:solidFill>
              <a:srgbClr val="333333"/>
            </a:solidFill>
            <a:prstDash val="solid"/>
          </a:ln>
        </p:spPr>
      </p:sp>
      <p:sp>
        <p:nvSpPr>
          <p:cNvPr id="8" name="Text 5"/>
          <p:cNvSpPr/>
          <p:nvPr/>
        </p:nvSpPr>
        <p:spPr>
          <a:xfrm>
            <a:off x="10893247" y="6272784"/>
            <a:ext cx="731520" cy="256032"/>
          </a:xfrm>
          <a:prstGeom prst="rect">
            <a:avLst/>
          </a:prstGeom>
          <a:noFill/>
          <a:ln/>
        </p:spPr>
        <p:txBody>
          <a:bodyPr wrap="square" lIns="0" tIns="0" rIns="0" bIns="0" rtlCol="0" anchor="ctr"/>
          <a:lstStyle/>
          <a:p>
            <a:pPr algn="r" indent="0" marL="0">
              <a:buNone/>
            </a:pPr>
            <a:r>
              <a:rPr lang="en-US" sz="1000" dirty="0">
                <a:solidFill>
                  <a:srgbClr val="A6ABAF"/>
                </a:solidFill>
                <a:latin typeface="Calibri" pitchFamily="34" charset="0"/>
                <a:ea typeface="Calibri" pitchFamily="34" charset="-122"/>
                <a:cs typeface="Calibri" pitchFamily="34" charset="-120"/>
              </a:rPr>
              <a:t>15</a:t>
            </a:r>
            <a:endParaRPr lang="en-US" sz="1000" dirty="0"/>
          </a:p>
        </p:txBody>
      </p:sp>
      <p:sp>
        <p:nvSpPr>
          <p:cNvPr id="9" name="Text 6"/>
          <p:cNvSpPr/>
          <p:nvPr/>
        </p:nvSpPr>
        <p:spPr>
          <a:xfrm>
            <a:off x="566928" y="6272784"/>
            <a:ext cx="2926080" cy="256032"/>
          </a:xfrm>
          <a:prstGeom prst="rect">
            <a:avLst/>
          </a:prstGeom>
          <a:noFill/>
          <a:ln/>
        </p:spPr>
        <p:txBody>
          <a:bodyPr wrap="square" lIns="0" tIns="0" rIns="0" bIns="0" rtlCol="0" anchor="ctr"/>
          <a:lstStyle/>
          <a:p>
            <a:pPr indent="0" marL="0">
              <a:buNone/>
            </a:pPr>
            <a:r>
              <a:rPr lang="en-US" sz="850" spc="120" kern="0" dirty="0">
                <a:solidFill>
                  <a:srgbClr val="C7CACC"/>
                </a:solidFill>
                <a:latin typeface="Calibri" pitchFamily="34" charset="0"/>
                <a:ea typeface="Calibri" pitchFamily="34" charset="-122"/>
                <a:cs typeface="Calibri" pitchFamily="34" charset="-120"/>
              </a:rPr>
              <a:t>CONFIDENTIAL</a:t>
            </a:r>
            <a:endParaRPr lang="en-US" sz="850" dirty="0"/>
          </a:p>
        </p:txBody>
      </p:sp>
      <p:sp>
        <p:nvSpPr>
          <p:cNvPr id="10" name="Shape 7"/>
          <p:cNvSpPr/>
          <p:nvPr/>
        </p:nvSpPr>
        <p:spPr>
          <a:xfrm>
            <a:off x="566928" y="1463040"/>
            <a:ext cx="5382616" cy="1719072"/>
          </a:xfrm>
          <a:prstGeom prst="roundRect">
            <a:avLst>
              <a:gd name="adj" fmla="val 2660"/>
            </a:avLst>
          </a:prstGeom>
          <a:solidFill>
            <a:srgbClr val="F6F6F6"/>
          </a:solidFill>
          <a:ln w="12700">
            <a:solidFill>
              <a:srgbClr val="333333"/>
            </a:solidFill>
            <a:prstDash val="solid"/>
          </a:ln>
        </p:spPr>
      </p:sp>
      <p:sp>
        <p:nvSpPr>
          <p:cNvPr id="11" name="Text 8"/>
          <p:cNvSpPr/>
          <p:nvPr/>
        </p:nvSpPr>
        <p:spPr>
          <a:xfrm>
            <a:off x="859536" y="1645920"/>
            <a:ext cx="4797400" cy="292608"/>
          </a:xfrm>
          <a:prstGeom prst="rect">
            <a:avLst/>
          </a:prstGeom>
          <a:noFill/>
          <a:ln/>
        </p:spPr>
        <p:txBody>
          <a:bodyPr wrap="square" lIns="0" tIns="0" rIns="0" bIns="0" rtlCol="0" anchor="ctr"/>
          <a:lstStyle/>
          <a:p>
            <a:pPr indent="0" marL="0">
              <a:buNone/>
            </a:pPr>
            <a:r>
              <a:rPr lang="en-US" sz="1600" b="1" dirty="0">
                <a:solidFill>
                  <a:srgbClr val="1A1A1A"/>
                </a:solidFill>
                <a:latin typeface="Yu Gothic" pitchFamily="34" charset="0"/>
                <a:ea typeface="Yu Gothic" pitchFamily="34" charset="-122"/>
                <a:cs typeface="Yu Gothic" pitchFamily="34" charset="-120"/>
              </a:rPr>
              <a:t>テナント飲食店の収益性</a:t>
            </a:r>
            <a:endParaRPr lang="en-US" sz="1600" dirty="0"/>
          </a:p>
        </p:txBody>
      </p:sp>
      <p:sp>
        <p:nvSpPr>
          <p:cNvPr id="12" name="Text 9"/>
          <p:cNvSpPr/>
          <p:nvPr/>
        </p:nvSpPr>
        <p:spPr>
          <a:xfrm>
            <a:off x="859536" y="1993392"/>
            <a:ext cx="4797400" cy="713232"/>
          </a:xfrm>
          <a:prstGeom prst="rect">
            <a:avLst/>
          </a:prstGeom>
          <a:noFill/>
          <a:ln/>
        </p:spPr>
        <p:txBody>
          <a:bodyPr wrap="square" lIns="0" tIns="0" rIns="0" bIns="0" rtlCol="0" anchor="ctr"/>
          <a:lstStyle/>
          <a:p>
            <a:pPr indent="0" marL="0">
              <a:lnSpc>
                <a:spcPts val="1500"/>
              </a:lnSpc>
              <a:buNone/>
            </a:pPr>
            <a:r>
              <a:rPr lang="en-US" sz="1060" dirty="0">
                <a:solidFill>
                  <a:srgbClr val="1A1A1A"/>
                </a:solidFill>
                <a:latin typeface="Yu Gothic" pitchFamily="34" charset="0"/>
                <a:ea typeface="Yu Gothic" pitchFamily="34" charset="-122"/>
                <a:cs typeface="Yu Gothic" pitchFamily="34" charset="-120"/>
              </a:rPr>
              <a:t>ワイン在庫の資金拘束とセラー投資が消え、原価が下がります。店の利益率が上がることは、賃料負担力に直結します。</a:t>
            </a:r>
            <a:endParaRPr lang="en-US" sz="1060" dirty="0"/>
          </a:p>
        </p:txBody>
      </p:sp>
      <p:sp>
        <p:nvSpPr>
          <p:cNvPr id="13" name="Text 10"/>
          <p:cNvSpPr/>
          <p:nvPr/>
        </p:nvSpPr>
        <p:spPr>
          <a:xfrm>
            <a:off x="859536" y="2779776"/>
            <a:ext cx="4797400" cy="256032"/>
          </a:xfrm>
          <a:prstGeom prst="rect">
            <a:avLst/>
          </a:prstGeom>
          <a:noFill/>
          <a:ln/>
        </p:spPr>
        <p:txBody>
          <a:bodyPr wrap="square" lIns="0" tIns="0" rIns="0" bIns="0" rtlCol="0" anchor="ctr"/>
          <a:lstStyle/>
          <a:p>
            <a:pPr indent="0" marL="0">
              <a:buNone/>
            </a:pPr>
            <a:r>
              <a:rPr lang="en-US" sz="960" b="1" dirty="0">
                <a:solidFill>
                  <a:srgbClr val="A06D4C"/>
                </a:solidFill>
                <a:latin typeface="Yu Gothic" pitchFamily="34" charset="0"/>
                <a:ea typeface="Yu Gothic" pitchFamily="34" charset="-122"/>
                <a:cs typeface="Yu Gothic" pitchFamily="34" charset="-120"/>
              </a:rPr>
              <a:t>主要KPI：テナント売上／退店率</a:t>
            </a:r>
            <a:endParaRPr lang="en-US" sz="960" dirty="0"/>
          </a:p>
        </p:txBody>
      </p:sp>
      <p:sp>
        <p:nvSpPr>
          <p:cNvPr id="14" name="Shape 11"/>
          <p:cNvSpPr/>
          <p:nvPr/>
        </p:nvSpPr>
        <p:spPr>
          <a:xfrm>
            <a:off x="6242152" y="1463040"/>
            <a:ext cx="5382616" cy="1719072"/>
          </a:xfrm>
          <a:prstGeom prst="roundRect">
            <a:avLst>
              <a:gd name="adj" fmla="val 2660"/>
            </a:avLst>
          </a:prstGeom>
          <a:solidFill>
            <a:srgbClr val="F6F6F6"/>
          </a:solidFill>
          <a:ln w="12700">
            <a:solidFill>
              <a:srgbClr val="333333"/>
            </a:solidFill>
            <a:prstDash val="solid"/>
          </a:ln>
        </p:spPr>
      </p:sp>
      <p:sp>
        <p:nvSpPr>
          <p:cNvPr id="15" name="Text 12"/>
          <p:cNvSpPr/>
          <p:nvPr/>
        </p:nvSpPr>
        <p:spPr>
          <a:xfrm>
            <a:off x="6534760" y="1645920"/>
            <a:ext cx="4797400" cy="292608"/>
          </a:xfrm>
          <a:prstGeom prst="rect">
            <a:avLst/>
          </a:prstGeom>
          <a:noFill/>
          <a:ln/>
        </p:spPr>
        <p:txBody>
          <a:bodyPr wrap="square" lIns="0" tIns="0" rIns="0" bIns="0" rtlCol="0" anchor="ctr"/>
          <a:lstStyle/>
          <a:p>
            <a:pPr indent="0" marL="0">
              <a:buNone/>
            </a:pPr>
            <a:r>
              <a:rPr lang="en-US" sz="1600" b="1" dirty="0">
                <a:solidFill>
                  <a:srgbClr val="1A1A1A"/>
                </a:solidFill>
                <a:latin typeface="Yu Gothic" pitchFamily="34" charset="0"/>
                <a:ea typeface="Yu Gothic" pitchFamily="34" charset="-122"/>
                <a:cs typeface="Yu Gothic" pitchFamily="34" charset="-120"/>
              </a:rPr>
              <a:t>ワーカー・居住者の満足</a:t>
            </a:r>
            <a:endParaRPr lang="en-US" sz="1600" dirty="0"/>
          </a:p>
        </p:txBody>
      </p:sp>
      <p:sp>
        <p:nvSpPr>
          <p:cNvPr id="16" name="Text 13"/>
          <p:cNvSpPr/>
          <p:nvPr/>
        </p:nvSpPr>
        <p:spPr>
          <a:xfrm>
            <a:off x="6534760" y="1993392"/>
            <a:ext cx="4797400" cy="713232"/>
          </a:xfrm>
          <a:prstGeom prst="rect">
            <a:avLst/>
          </a:prstGeom>
          <a:noFill/>
          <a:ln/>
        </p:spPr>
        <p:txBody>
          <a:bodyPr wrap="square" lIns="0" tIns="0" rIns="0" bIns="0" rtlCol="0" anchor="ctr"/>
          <a:lstStyle/>
          <a:p>
            <a:pPr indent="0" marL="0">
              <a:lnSpc>
                <a:spcPts val="1500"/>
              </a:lnSpc>
              <a:buNone/>
            </a:pPr>
            <a:r>
              <a:rPr lang="en-US" sz="1060" dirty="0">
                <a:solidFill>
                  <a:srgbClr val="1A1A1A"/>
                </a:solidFill>
                <a:latin typeface="Yu Gothic" pitchFamily="34" charset="0"/>
                <a:ea typeface="Yu Gothic" pitchFamily="34" charset="-122"/>
                <a:cs typeface="Yu Gothic" pitchFamily="34" charset="-120"/>
              </a:rPr>
              <a:t>接待コストの実質削減と、居住者の生活の質。数字で語れる福利厚生であり、更新・定着の理由になります。</a:t>
            </a:r>
            <a:endParaRPr lang="en-US" sz="1060" dirty="0"/>
          </a:p>
        </p:txBody>
      </p:sp>
      <p:sp>
        <p:nvSpPr>
          <p:cNvPr id="17" name="Text 14"/>
          <p:cNvSpPr/>
          <p:nvPr/>
        </p:nvSpPr>
        <p:spPr>
          <a:xfrm>
            <a:off x="6534760" y="2779776"/>
            <a:ext cx="4797400" cy="256032"/>
          </a:xfrm>
          <a:prstGeom prst="rect">
            <a:avLst/>
          </a:prstGeom>
          <a:noFill/>
          <a:ln/>
        </p:spPr>
        <p:txBody>
          <a:bodyPr wrap="square" lIns="0" tIns="0" rIns="0" bIns="0" rtlCol="0" anchor="ctr"/>
          <a:lstStyle/>
          <a:p>
            <a:pPr indent="0" marL="0">
              <a:buNone/>
            </a:pPr>
            <a:r>
              <a:rPr lang="en-US" sz="960" b="1" dirty="0">
                <a:solidFill>
                  <a:srgbClr val="A06D4C"/>
                </a:solidFill>
                <a:latin typeface="Yu Gothic" pitchFamily="34" charset="0"/>
                <a:ea typeface="Yu Gothic" pitchFamily="34" charset="-122"/>
                <a:cs typeface="Yu Gothic" pitchFamily="34" charset="-120"/>
              </a:rPr>
              <a:t>主要KPI：会員加入率／契約更新率</a:t>
            </a:r>
            <a:endParaRPr lang="en-US" sz="960" dirty="0"/>
          </a:p>
        </p:txBody>
      </p:sp>
      <p:sp>
        <p:nvSpPr>
          <p:cNvPr id="18" name="Shape 15"/>
          <p:cNvSpPr/>
          <p:nvPr/>
        </p:nvSpPr>
        <p:spPr>
          <a:xfrm>
            <a:off x="566928" y="3419856"/>
            <a:ext cx="5382616" cy="1719072"/>
          </a:xfrm>
          <a:prstGeom prst="roundRect">
            <a:avLst>
              <a:gd name="adj" fmla="val 2660"/>
            </a:avLst>
          </a:prstGeom>
          <a:solidFill>
            <a:srgbClr val="FFFFFF"/>
          </a:solidFill>
          <a:ln w="12700">
            <a:solidFill>
              <a:srgbClr val="DDE0E2"/>
            </a:solidFill>
            <a:prstDash val="solid"/>
          </a:ln>
        </p:spPr>
      </p:sp>
      <p:sp>
        <p:nvSpPr>
          <p:cNvPr id="19" name="Text 16"/>
          <p:cNvSpPr/>
          <p:nvPr/>
        </p:nvSpPr>
        <p:spPr>
          <a:xfrm>
            <a:off x="859536" y="3602736"/>
            <a:ext cx="4797400" cy="292608"/>
          </a:xfrm>
          <a:prstGeom prst="rect">
            <a:avLst/>
          </a:prstGeom>
          <a:noFill/>
          <a:ln/>
        </p:spPr>
        <p:txBody>
          <a:bodyPr wrap="square" lIns="0" tIns="0" rIns="0" bIns="0" rtlCol="0" anchor="ctr"/>
          <a:lstStyle/>
          <a:p>
            <a:pPr indent="0" marL="0">
              <a:buNone/>
            </a:pPr>
            <a:r>
              <a:rPr lang="en-US" sz="1600" b="1" dirty="0">
                <a:solidFill>
                  <a:srgbClr val="1A1A1A"/>
                </a:solidFill>
                <a:latin typeface="Yu Gothic" pitchFamily="34" charset="0"/>
                <a:ea typeface="Yu Gothic" pitchFamily="34" charset="-122"/>
                <a:cs typeface="Yu Gothic" pitchFamily="34" charset="-120"/>
              </a:rPr>
              <a:t>街のブランドと話題性</a:t>
            </a:r>
            <a:endParaRPr lang="en-US" sz="1600" dirty="0"/>
          </a:p>
        </p:txBody>
      </p:sp>
      <p:sp>
        <p:nvSpPr>
          <p:cNvPr id="20" name="Text 17"/>
          <p:cNvSpPr/>
          <p:nvPr/>
        </p:nvSpPr>
        <p:spPr>
          <a:xfrm>
            <a:off x="859536" y="3950208"/>
            <a:ext cx="4797400" cy="713232"/>
          </a:xfrm>
          <a:prstGeom prst="rect">
            <a:avLst/>
          </a:prstGeom>
          <a:noFill/>
          <a:ln/>
        </p:spPr>
        <p:txBody>
          <a:bodyPr wrap="square" lIns="0" tIns="0" rIns="0" bIns="0" rtlCol="0" anchor="ctr"/>
          <a:lstStyle/>
          <a:p>
            <a:pPr indent="0" marL="0">
              <a:lnSpc>
                <a:spcPts val="1500"/>
              </a:lnSpc>
              <a:buNone/>
            </a:pPr>
            <a:r>
              <a:rPr lang="en-US" sz="1060" dirty="0">
                <a:solidFill>
                  <a:srgbClr val="1A1A1A"/>
                </a:solidFill>
                <a:latin typeface="Yu Gothic" pitchFamily="34" charset="0"/>
                <a:ea typeface="Yu Gothic" pitchFamily="34" charset="-122"/>
                <a:cs typeface="Yu Gothic" pitchFamily="34" charset="-120"/>
              </a:rPr>
              <a:t>数千本のウォークインセラーとミシュランシェフ。国内外のメディア露出と、海外富裕層の来街動機をつくります。</a:t>
            </a:r>
            <a:endParaRPr lang="en-US" sz="1060" dirty="0"/>
          </a:p>
        </p:txBody>
      </p:sp>
      <p:sp>
        <p:nvSpPr>
          <p:cNvPr id="21" name="Text 18"/>
          <p:cNvSpPr/>
          <p:nvPr/>
        </p:nvSpPr>
        <p:spPr>
          <a:xfrm>
            <a:off x="859536" y="4736592"/>
            <a:ext cx="4797400" cy="256032"/>
          </a:xfrm>
          <a:prstGeom prst="rect">
            <a:avLst/>
          </a:prstGeom>
          <a:noFill/>
          <a:ln/>
        </p:spPr>
        <p:txBody>
          <a:bodyPr wrap="square" lIns="0" tIns="0" rIns="0" bIns="0" rtlCol="0" anchor="ctr"/>
          <a:lstStyle/>
          <a:p>
            <a:pPr indent="0" marL="0">
              <a:buNone/>
            </a:pPr>
            <a:r>
              <a:rPr lang="en-US" sz="960" b="1" dirty="0">
                <a:solidFill>
                  <a:srgbClr val="A06D4C"/>
                </a:solidFill>
                <a:latin typeface="Yu Gothic" pitchFamily="34" charset="0"/>
                <a:ea typeface="Yu Gothic" pitchFamily="34" charset="-122"/>
                <a:cs typeface="Yu Gothic" pitchFamily="34" charset="-120"/>
              </a:rPr>
              <a:t>主要KPI：メディア露出／来館者数</a:t>
            </a:r>
            <a:endParaRPr lang="en-US" sz="960" dirty="0"/>
          </a:p>
        </p:txBody>
      </p:sp>
      <p:sp>
        <p:nvSpPr>
          <p:cNvPr id="22" name="Shape 19"/>
          <p:cNvSpPr/>
          <p:nvPr/>
        </p:nvSpPr>
        <p:spPr>
          <a:xfrm>
            <a:off x="6242152" y="3419856"/>
            <a:ext cx="5382616" cy="1719072"/>
          </a:xfrm>
          <a:prstGeom prst="roundRect">
            <a:avLst>
              <a:gd name="adj" fmla="val 2660"/>
            </a:avLst>
          </a:prstGeom>
          <a:solidFill>
            <a:srgbClr val="FFFFFF"/>
          </a:solidFill>
          <a:ln w="12700">
            <a:solidFill>
              <a:srgbClr val="DDE0E2"/>
            </a:solidFill>
            <a:prstDash val="solid"/>
          </a:ln>
        </p:spPr>
      </p:sp>
      <p:sp>
        <p:nvSpPr>
          <p:cNvPr id="23" name="Text 20"/>
          <p:cNvSpPr/>
          <p:nvPr/>
        </p:nvSpPr>
        <p:spPr>
          <a:xfrm>
            <a:off x="6534760" y="3602736"/>
            <a:ext cx="4797400" cy="292608"/>
          </a:xfrm>
          <a:prstGeom prst="rect">
            <a:avLst/>
          </a:prstGeom>
          <a:noFill/>
          <a:ln/>
        </p:spPr>
        <p:txBody>
          <a:bodyPr wrap="square" lIns="0" tIns="0" rIns="0" bIns="0" rtlCol="0" anchor="ctr"/>
          <a:lstStyle/>
          <a:p>
            <a:pPr indent="0" marL="0">
              <a:buNone/>
            </a:pPr>
            <a:r>
              <a:rPr lang="en-US" sz="1600" b="1" dirty="0">
                <a:solidFill>
                  <a:srgbClr val="1A1A1A"/>
                </a:solidFill>
                <a:latin typeface="Yu Gothic" pitchFamily="34" charset="0"/>
                <a:ea typeface="Yu Gothic" pitchFamily="34" charset="-122"/>
                <a:cs typeface="Yu Gothic" pitchFamily="34" charset="-120"/>
              </a:rPr>
              <a:t>新規収益</a:t>
            </a:r>
            <a:endParaRPr lang="en-US" sz="1600" dirty="0"/>
          </a:p>
        </p:txBody>
      </p:sp>
      <p:sp>
        <p:nvSpPr>
          <p:cNvPr id="24" name="Text 21"/>
          <p:cNvSpPr/>
          <p:nvPr/>
        </p:nvSpPr>
        <p:spPr>
          <a:xfrm>
            <a:off x="6534760" y="3950208"/>
            <a:ext cx="4797400" cy="713232"/>
          </a:xfrm>
          <a:prstGeom prst="rect">
            <a:avLst/>
          </a:prstGeom>
          <a:noFill/>
          <a:ln/>
        </p:spPr>
        <p:txBody>
          <a:bodyPr wrap="square" lIns="0" tIns="0" rIns="0" bIns="0" rtlCol="0" anchor="ctr"/>
          <a:lstStyle/>
          <a:p>
            <a:pPr indent="0" marL="0">
              <a:lnSpc>
                <a:spcPts val="1500"/>
              </a:lnSpc>
              <a:buNone/>
            </a:pPr>
            <a:r>
              <a:rPr lang="en-US" sz="1060" dirty="0">
                <a:solidFill>
                  <a:srgbClr val="1A1A1A"/>
                </a:solidFill>
                <a:latin typeface="Yu Gothic" pitchFamily="34" charset="0"/>
                <a:ea typeface="Yu Gothic" pitchFamily="34" charset="-122"/>
                <a:cs typeface="Yu Gothic" pitchFamily="34" charset="-120"/>
              </a:rPr>
              <a:t>会費・売上のレベニューシェア、賃料＋歩合、送客手数料。森ビル様の追加投資を伴わない収益源です。</a:t>
            </a:r>
            <a:endParaRPr lang="en-US" sz="1060" dirty="0"/>
          </a:p>
        </p:txBody>
      </p:sp>
      <p:sp>
        <p:nvSpPr>
          <p:cNvPr id="25" name="Text 22"/>
          <p:cNvSpPr/>
          <p:nvPr/>
        </p:nvSpPr>
        <p:spPr>
          <a:xfrm>
            <a:off x="6534760" y="4736592"/>
            <a:ext cx="4797400" cy="256032"/>
          </a:xfrm>
          <a:prstGeom prst="rect">
            <a:avLst/>
          </a:prstGeom>
          <a:noFill/>
          <a:ln/>
        </p:spPr>
        <p:txBody>
          <a:bodyPr wrap="square" lIns="0" tIns="0" rIns="0" bIns="0" rtlCol="0" anchor="ctr"/>
          <a:lstStyle/>
          <a:p>
            <a:pPr indent="0" marL="0">
              <a:buNone/>
            </a:pPr>
            <a:r>
              <a:rPr lang="en-US" sz="960" b="1" dirty="0">
                <a:solidFill>
                  <a:srgbClr val="A06D4C"/>
                </a:solidFill>
                <a:latin typeface="Yu Gothic" pitchFamily="34" charset="0"/>
                <a:ea typeface="Yu Gothic" pitchFamily="34" charset="-122"/>
                <a:cs typeface="Yu Gothic" pitchFamily="34" charset="-120"/>
              </a:rPr>
              <a:t>主要KPI：レベニューシェア収入</a:t>
            </a:r>
            <a:endParaRPr lang="en-US" sz="960" dirty="0"/>
          </a:p>
        </p:txBody>
      </p:sp>
      <p:sp>
        <p:nvSpPr>
          <p:cNvPr id="26" name="Shape 23"/>
          <p:cNvSpPr/>
          <p:nvPr/>
        </p:nvSpPr>
        <p:spPr>
          <a:xfrm>
            <a:off x="566928" y="5193792"/>
            <a:ext cx="11057839" cy="457200"/>
          </a:xfrm>
          <a:prstGeom prst="rect">
            <a:avLst/>
          </a:prstGeom>
          <a:solidFill>
            <a:srgbClr val="2F3941"/>
          </a:solidFill>
          <a:ln w="12700">
            <a:solidFill>
              <a:srgbClr val="333333"/>
            </a:solidFill>
            <a:prstDash val="solid"/>
          </a:ln>
        </p:spPr>
      </p:sp>
      <p:sp>
        <p:nvSpPr>
          <p:cNvPr id="27" name="Text 24"/>
          <p:cNvSpPr/>
          <p:nvPr/>
        </p:nvSpPr>
        <p:spPr>
          <a:xfrm>
            <a:off x="566928" y="5193792"/>
            <a:ext cx="11057839"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森ビル様に新たな設備投資・人員配置をお願いしない設計。運営・与信・在庫リスクは当社が保有します。</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381183" y="292608"/>
            <a:ext cx="1243584" cy="247802"/>
          </a:xfrm>
          <a:prstGeom prst="rect">
            <a:avLst/>
          </a:prstGeom>
        </p:spPr>
      </p:pic>
      <p:sp>
        <p:nvSpPr>
          <p:cNvPr id="3" name="Shape 0"/>
          <p:cNvSpPr/>
          <p:nvPr/>
        </p:nvSpPr>
        <p:spPr>
          <a:xfrm>
            <a:off x="566928" y="292608"/>
            <a:ext cx="868680" cy="237744"/>
          </a:xfrm>
          <a:prstGeom prst="roundRect">
            <a:avLst>
              <a:gd name="adj" fmla="val 11538"/>
            </a:avLst>
          </a:prstGeom>
          <a:solidFill>
            <a:srgbClr val="C68A65"/>
          </a:solidFill>
          <a:ln w="12700">
            <a:solidFill>
              <a:srgbClr val="333333"/>
            </a:solidFill>
            <a:prstDash val="solid"/>
          </a:ln>
        </p:spPr>
      </p:sp>
      <p:sp>
        <p:nvSpPr>
          <p:cNvPr id="4" name="Text 1"/>
          <p:cNvSpPr/>
          <p:nvPr/>
        </p:nvSpPr>
        <p:spPr>
          <a:xfrm>
            <a:off x="566928" y="292608"/>
            <a:ext cx="86868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Yu Gothic" pitchFamily="34" charset="0"/>
                <a:ea typeface="Yu Gothic" pitchFamily="34" charset="-122"/>
                <a:cs typeface="Yu Gothic" pitchFamily="34" charset="-120"/>
              </a:rPr>
              <a:t>REQUEST</a:t>
            </a:r>
            <a:endParaRPr lang="en-US" sz="850" dirty="0"/>
          </a:p>
        </p:txBody>
      </p:sp>
      <p:sp>
        <p:nvSpPr>
          <p:cNvPr id="5" name="Text 2"/>
          <p:cNvSpPr/>
          <p:nvPr/>
        </p:nvSpPr>
        <p:spPr>
          <a:xfrm>
            <a:off x="566928" y="585216"/>
            <a:ext cx="9509760" cy="420624"/>
          </a:xfrm>
          <a:prstGeom prst="rect">
            <a:avLst/>
          </a:prstGeom>
          <a:noFill/>
          <a:ln/>
        </p:spPr>
        <p:txBody>
          <a:bodyPr wrap="square" lIns="0" tIns="0" rIns="0" bIns="0" rtlCol="0" anchor="ctr"/>
          <a:lstStyle/>
          <a:p>
            <a:pPr indent="0" marL="0">
              <a:buNone/>
            </a:pPr>
            <a:r>
              <a:rPr lang="en-US" sz="2300" b="1" dirty="0">
                <a:solidFill>
                  <a:srgbClr val="1A1A1A"/>
                </a:solidFill>
                <a:latin typeface="Yu Gothic" pitchFamily="34" charset="0"/>
                <a:ea typeface="Yu Gothic" pitchFamily="34" charset="-122"/>
                <a:cs typeface="Yu Gothic" pitchFamily="34" charset="-120"/>
              </a:rPr>
              <a:t>森ビル様へご相談させていただきたいこと</a:t>
            </a:r>
            <a:endParaRPr lang="en-US" sz="2300" dirty="0"/>
          </a:p>
        </p:txBody>
      </p:sp>
      <p:sp>
        <p:nvSpPr>
          <p:cNvPr id="6" name="Text 3"/>
          <p:cNvSpPr/>
          <p:nvPr/>
        </p:nvSpPr>
        <p:spPr>
          <a:xfrm>
            <a:off x="566928" y="1024128"/>
            <a:ext cx="11057839" cy="310896"/>
          </a:xfrm>
          <a:prstGeom prst="rect">
            <a:avLst/>
          </a:prstGeom>
          <a:noFill/>
          <a:ln/>
        </p:spPr>
        <p:txBody>
          <a:bodyPr wrap="square" lIns="0" tIns="0" rIns="0" bIns="0" rtlCol="0" anchor="ctr"/>
          <a:lstStyle/>
          <a:p>
            <a:pPr indent="0" marL="0">
              <a:lnSpc>
                <a:spcPts val="1700"/>
              </a:lnSpc>
              <a:buNone/>
            </a:pPr>
            <a:r>
              <a:rPr lang="en-US" sz="1150" dirty="0">
                <a:solidFill>
                  <a:srgbClr val="6E7378"/>
                </a:solidFill>
                <a:latin typeface="Yu Gothic" pitchFamily="34" charset="0"/>
                <a:ea typeface="Yu Gothic" pitchFamily="34" charset="-122"/>
                <a:cs typeface="Yu Gothic" pitchFamily="34" charset="-120"/>
              </a:rPr>
              <a:t>当社が負担するものと、森ビル様にお願いしたいものを整理しました。①がこのご提案の成否を決めます。</a:t>
            </a:r>
            <a:endParaRPr lang="en-US" sz="1150" dirty="0"/>
          </a:p>
        </p:txBody>
      </p:sp>
      <p:sp>
        <p:nvSpPr>
          <p:cNvPr id="7" name="Shape 4"/>
          <p:cNvSpPr/>
          <p:nvPr/>
        </p:nvSpPr>
        <p:spPr>
          <a:xfrm>
            <a:off x="0" y="6583680"/>
            <a:ext cx="12191695" cy="274320"/>
          </a:xfrm>
          <a:prstGeom prst="rect">
            <a:avLst/>
          </a:prstGeom>
          <a:solidFill>
            <a:srgbClr val="2F3941"/>
          </a:solidFill>
          <a:ln w="12700">
            <a:solidFill>
              <a:srgbClr val="333333"/>
            </a:solidFill>
            <a:prstDash val="solid"/>
          </a:ln>
        </p:spPr>
      </p:sp>
      <p:sp>
        <p:nvSpPr>
          <p:cNvPr id="8" name="Text 5"/>
          <p:cNvSpPr/>
          <p:nvPr/>
        </p:nvSpPr>
        <p:spPr>
          <a:xfrm>
            <a:off x="10893247" y="6272784"/>
            <a:ext cx="731520" cy="256032"/>
          </a:xfrm>
          <a:prstGeom prst="rect">
            <a:avLst/>
          </a:prstGeom>
          <a:noFill/>
          <a:ln/>
        </p:spPr>
        <p:txBody>
          <a:bodyPr wrap="square" lIns="0" tIns="0" rIns="0" bIns="0" rtlCol="0" anchor="ctr"/>
          <a:lstStyle/>
          <a:p>
            <a:pPr algn="r" indent="0" marL="0">
              <a:buNone/>
            </a:pPr>
            <a:r>
              <a:rPr lang="en-US" sz="1000" dirty="0">
                <a:solidFill>
                  <a:srgbClr val="A6ABAF"/>
                </a:solidFill>
                <a:latin typeface="Calibri" pitchFamily="34" charset="0"/>
                <a:ea typeface="Calibri" pitchFamily="34" charset="-122"/>
                <a:cs typeface="Calibri" pitchFamily="34" charset="-120"/>
              </a:rPr>
              <a:t>16</a:t>
            </a:r>
            <a:endParaRPr lang="en-US" sz="1000" dirty="0"/>
          </a:p>
        </p:txBody>
      </p:sp>
      <p:sp>
        <p:nvSpPr>
          <p:cNvPr id="9" name="Text 6"/>
          <p:cNvSpPr/>
          <p:nvPr/>
        </p:nvSpPr>
        <p:spPr>
          <a:xfrm>
            <a:off x="566928" y="6272784"/>
            <a:ext cx="2926080" cy="256032"/>
          </a:xfrm>
          <a:prstGeom prst="rect">
            <a:avLst/>
          </a:prstGeom>
          <a:noFill/>
          <a:ln/>
        </p:spPr>
        <p:txBody>
          <a:bodyPr wrap="square" lIns="0" tIns="0" rIns="0" bIns="0" rtlCol="0" anchor="ctr"/>
          <a:lstStyle/>
          <a:p>
            <a:pPr indent="0" marL="0">
              <a:buNone/>
            </a:pPr>
            <a:r>
              <a:rPr lang="en-US" sz="850" spc="120" kern="0" dirty="0">
                <a:solidFill>
                  <a:srgbClr val="C7CACC"/>
                </a:solidFill>
                <a:latin typeface="Calibri" pitchFamily="34" charset="0"/>
                <a:ea typeface="Calibri" pitchFamily="34" charset="-122"/>
                <a:cs typeface="Calibri" pitchFamily="34" charset="-120"/>
              </a:rPr>
              <a:t>CONFIDENTIAL</a:t>
            </a:r>
            <a:endParaRPr lang="en-US" sz="850" dirty="0"/>
          </a:p>
        </p:txBody>
      </p:sp>
      <p:sp>
        <p:nvSpPr>
          <p:cNvPr id="10" name="Shape 7"/>
          <p:cNvSpPr/>
          <p:nvPr/>
        </p:nvSpPr>
        <p:spPr>
          <a:xfrm>
            <a:off x="566928" y="1463040"/>
            <a:ext cx="5400904" cy="2048256"/>
          </a:xfrm>
          <a:prstGeom prst="roundRect">
            <a:avLst>
              <a:gd name="adj" fmla="val 2232"/>
            </a:avLst>
          </a:prstGeom>
          <a:solidFill>
            <a:srgbClr val="2F3941"/>
          </a:solidFill>
          <a:ln w="12700">
            <a:solidFill>
              <a:srgbClr val="333333"/>
            </a:solidFill>
            <a:prstDash val="solid"/>
          </a:ln>
        </p:spPr>
      </p:sp>
      <p:sp>
        <p:nvSpPr>
          <p:cNvPr id="11" name="Text 8"/>
          <p:cNvSpPr/>
          <p:nvPr/>
        </p:nvSpPr>
        <p:spPr>
          <a:xfrm>
            <a:off x="841248" y="1645920"/>
            <a:ext cx="548640" cy="256032"/>
          </a:xfrm>
          <a:prstGeom prst="rect">
            <a:avLst/>
          </a:prstGeom>
          <a:noFill/>
          <a:ln/>
        </p:spPr>
        <p:txBody>
          <a:bodyPr wrap="square" lIns="0" tIns="0" rIns="0" bIns="0" rtlCol="0" anchor="ctr"/>
          <a:lstStyle/>
          <a:p>
            <a:pPr indent="0" marL="0">
              <a:buNone/>
            </a:pPr>
            <a:r>
              <a:rPr lang="en-US" sz="1200" b="1" dirty="0">
                <a:solidFill>
                  <a:srgbClr val="C68A65"/>
                </a:solidFill>
                <a:latin typeface="Calibri" pitchFamily="34" charset="0"/>
                <a:ea typeface="Calibri" pitchFamily="34" charset="-122"/>
                <a:cs typeface="Calibri" pitchFamily="34" charset="-120"/>
              </a:rPr>
              <a:t>01</a:t>
            </a:r>
            <a:endParaRPr lang="en-US" sz="1200" dirty="0"/>
          </a:p>
        </p:txBody>
      </p:sp>
      <p:sp>
        <p:nvSpPr>
          <p:cNvPr id="12" name="Text 9"/>
          <p:cNvSpPr/>
          <p:nvPr/>
        </p:nvSpPr>
        <p:spPr>
          <a:xfrm>
            <a:off x="1353312" y="1627632"/>
            <a:ext cx="3572104" cy="292608"/>
          </a:xfrm>
          <a:prstGeom prst="rect">
            <a:avLst/>
          </a:prstGeom>
          <a:noFill/>
          <a:ln/>
        </p:spPr>
        <p:txBody>
          <a:bodyPr wrap="square" lIns="0" tIns="0" rIns="0" bIns="0" rtlCol="0" anchor="ctr"/>
          <a:lstStyle/>
          <a:p>
            <a:pPr indent="0" marL="0">
              <a:buNone/>
            </a:pPr>
            <a:r>
              <a:rPr lang="en-US" sz="1500" b="1" dirty="0">
                <a:solidFill>
                  <a:srgbClr val="FFFFFF"/>
                </a:solidFill>
                <a:latin typeface="Yu Gothic" pitchFamily="34" charset="0"/>
                <a:ea typeface="Yu Gothic" pitchFamily="34" charset="-122"/>
                <a:cs typeface="Yu Gothic" pitchFamily="34" charset="-120"/>
              </a:rPr>
              <a:t>館内ワインストレージのご提供</a:t>
            </a:r>
            <a:endParaRPr lang="en-US" sz="1500" dirty="0"/>
          </a:p>
        </p:txBody>
      </p:sp>
      <p:sp>
        <p:nvSpPr>
          <p:cNvPr id="13" name="Shape 10"/>
          <p:cNvSpPr/>
          <p:nvPr/>
        </p:nvSpPr>
        <p:spPr>
          <a:xfrm>
            <a:off x="4998568" y="1627632"/>
            <a:ext cx="731520" cy="256032"/>
          </a:xfrm>
          <a:prstGeom prst="roundRect">
            <a:avLst>
              <a:gd name="adj" fmla="val 10714"/>
            </a:avLst>
          </a:prstGeom>
          <a:solidFill>
            <a:srgbClr val="C68A65"/>
          </a:solidFill>
          <a:ln w="12700">
            <a:solidFill>
              <a:srgbClr val="333333"/>
            </a:solidFill>
            <a:prstDash val="solid"/>
          </a:ln>
        </p:spPr>
      </p:sp>
      <p:sp>
        <p:nvSpPr>
          <p:cNvPr id="14" name="Text 11"/>
          <p:cNvSpPr/>
          <p:nvPr/>
        </p:nvSpPr>
        <p:spPr>
          <a:xfrm>
            <a:off x="4998568" y="1627632"/>
            <a:ext cx="731520"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Yu Gothic" pitchFamily="34" charset="0"/>
                <a:ea typeface="Yu Gothic" pitchFamily="34" charset="-122"/>
                <a:cs typeface="Yu Gothic" pitchFamily="34" charset="-120"/>
              </a:rPr>
              <a:t>最重要</a:t>
            </a:r>
            <a:endParaRPr lang="en-US" sz="850" dirty="0"/>
          </a:p>
        </p:txBody>
      </p:sp>
      <p:sp>
        <p:nvSpPr>
          <p:cNvPr id="15" name="Text 12"/>
          <p:cNvSpPr/>
          <p:nvPr/>
        </p:nvSpPr>
        <p:spPr>
          <a:xfrm>
            <a:off x="841248" y="2029968"/>
            <a:ext cx="4852264" cy="219456"/>
          </a:xfrm>
          <a:prstGeom prst="rect">
            <a:avLst/>
          </a:prstGeom>
          <a:noFill/>
          <a:ln/>
        </p:spPr>
        <p:txBody>
          <a:bodyPr wrap="square" lIns="0" tIns="0" rIns="0" bIns="0" rtlCol="0" anchor="ctr"/>
          <a:lstStyle/>
          <a:p>
            <a:pPr indent="0" marL="0">
              <a:buNone/>
            </a:pPr>
            <a:r>
              <a:rPr lang="en-US" sz="920" b="1" dirty="0">
                <a:solidFill>
                  <a:srgbClr val="C68A65"/>
                </a:solidFill>
                <a:latin typeface="Yu Gothic" pitchFamily="34" charset="0"/>
                <a:ea typeface="Yu Gothic" pitchFamily="34" charset="-122"/>
                <a:cs typeface="Yu Gothic" pitchFamily="34" charset="-120"/>
              </a:rPr>
              <a:t>お願いしたいこと</a:t>
            </a:r>
            <a:endParaRPr lang="en-US" sz="920" dirty="0"/>
          </a:p>
        </p:txBody>
      </p:sp>
      <p:sp>
        <p:nvSpPr>
          <p:cNvPr id="16" name="Text 13"/>
          <p:cNvSpPr/>
          <p:nvPr/>
        </p:nvSpPr>
        <p:spPr>
          <a:xfrm>
            <a:off x="841248" y="2249424"/>
            <a:ext cx="4852264" cy="438912"/>
          </a:xfrm>
          <a:prstGeom prst="rect">
            <a:avLst/>
          </a:prstGeom>
          <a:noFill/>
          <a:ln/>
        </p:spPr>
        <p:txBody>
          <a:bodyPr wrap="square" lIns="0" tIns="0" rIns="0" bIns="0" rtlCol="0" anchor="ctr"/>
          <a:lstStyle/>
          <a:p>
            <a:pPr indent="0" marL="0">
              <a:lnSpc>
                <a:spcPts val="1400"/>
              </a:lnSpc>
              <a:buNone/>
            </a:pPr>
            <a:r>
              <a:rPr lang="en-US" sz="1020" dirty="0">
                <a:solidFill>
                  <a:srgbClr val="FFFFFF"/>
                </a:solidFill>
                <a:latin typeface="Yu Gothic" pitchFamily="34" charset="0"/>
                <a:ea typeface="Yu Gothic" pitchFamily="34" charset="-122"/>
                <a:cs typeface="Yu Gothic" pitchFamily="34" charset="-120"/>
              </a:rPr>
              <a:t>街区内に定温のワイン保管スペース（15〜30坪）をご用意いただきたく存じます。</a:t>
            </a:r>
            <a:endParaRPr lang="en-US" sz="1020" dirty="0"/>
          </a:p>
        </p:txBody>
      </p:sp>
      <p:sp>
        <p:nvSpPr>
          <p:cNvPr id="17" name="Text 14"/>
          <p:cNvSpPr/>
          <p:nvPr/>
        </p:nvSpPr>
        <p:spPr>
          <a:xfrm>
            <a:off x="841248" y="2743200"/>
            <a:ext cx="4852264" cy="219456"/>
          </a:xfrm>
          <a:prstGeom prst="rect">
            <a:avLst/>
          </a:prstGeom>
          <a:noFill/>
          <a:ln/>
        </p:spPr>
        <p:txBody>
          <a:bodyPr wrap="square" lIns="0" tIns="0" rIns="0" bIns="0" rtlCol="0" anchor="ctr"/>
          <a:lstStyle/>
          <a:p>
            <a:pPr indent="0" marL="0">
              <a:buNone/>
            </a:pPr>
            <a:r>
              <a:rPr lang="en-US" sz="920" b="1" dirty="0">
                <a:solidFill>
                  <a:srgbClr val="C68A65"/>
                </a:solidFill>
                <a:latin typeface="Yu Gothic" pitchFamily="34" charset="0"/>
                <a:ea typeface="Yu Gothic" pitchFamily="34" charset="-122"/>
                <a:cs typeface="Yu Gothic" pitchFamily="34" charset="-120"/>
              </a:rPr>
              <a:t>当社が負担するもの</a:t>
            </a:r>
            <a:endParaRPr lang="en-US" sz="920" dirty="0"/>
          </a:p>
        </p:txBody>
      </p:sp>
      <p:sp>
        <p:nvSpPr>
          <p:cNvPr id="18" name="Text 15"/>
          <p:cNvSpPr/>
          <p:nvPr/>
        </p:nvSpPr>
        <p:spPr>
          <a:xfrm>
            <a:off x="841248" y="2962656"/>
            <a:ext cx="4852264" cy="475488"/>
          </a:xfrm>
          <a:prstGeom prst="rect">
            <a:avLst/>
          </a:prstGeom>
          <a:noFill/>
          <a:ln/>
        </p:spPr>
        <p:txBody>
          <a:bodyPr wrap="square" lIns="0" tIns="0" rIns="0" bIns="0" rtlCol="0" anchor="ctr"/>
          <a:lstStyle/>
          <a:p>
            <a:pPr indent="0" marL="0">
              <a:lnSpc>
                <a:spcPts val="1350"/>
              </a:lnSpc>
              <a:buNone/>
            </a:pPr>
            <a:r>
              <a:rPr lang="en-US" sz="980" dirty="0">
                <a:solidFill>
                  <a:srgbClr val="DDE1E4"/>
                </a:solidFill>
                <a:latin typeface="Yu Gothic" pitchFamily="34" charset="0"/>
                <a:ea typeface="Yu Gothic" pitchFamily="34" charset="-122"/>
                <a:cs typeface="Yu Gothic" pitchFamily="34" charset="-120"/>
              </a:rPr>
              <a:t>定温設備・什器・在庫（数千〜1万本）・常駐スタッフ・運営はすべて当社が負担します。在庫リスクも当社が保有します。</a:t>
            </a:r>
            <a:endParaRPr lang="en-US" sz="980" dirty="0"/>
          </a:p>
        </p:txBody>
      </p:sp>
      <p:sp>
        <p:nvSpPr>
          <p:cNvPr id="19" name="Shape 16"/>
          <p:cNvSpPr/>
          <p:nvPr/>
        </p:nvSpPr>
        <p:spPr>
          <a:xfrm>
            <a:off x="6223864" y="1463040"/>
            <a:ext cx="5400904" cy="2048256"/>
          </a:xfrm>
          <a:prstGeom prst="roundRect">
            <a:avLst>
              <a:gd name="adj" fmla="val 2232"/>
            </a:avLst>
          </a:prstGeom>
          <a:solidFill>
            <a:srgbClr val="F6F6F6"/>
          </a:solidFill>
          <a:ln w="12700">
            <a:solidFill>
              <a:srgbClr val="333333"/>
            </a:solidFill>
            <a:prstDash val="solid"/>
          </a:ln>
        </p:spPr>
      </p:sp>
      <p:sp>
        <p:nvSpPr>
          <p:cNvPr id="20" name="Text 17"/>
          <p:cNvSpPr/>
          <p:nvPr/>
        </p:nvSpPr>
        <p:spPr>
          <a:xfrm>
            <a:off x="6498184" y="1645920"/>
            <a:ext cx="548640" cy="256032"/>
          </a:xfrm>
          <a:prstGeom prst="rect">
            <a:avLst/>
          </a:prstGeom>
          <a:noFill/>
          <a:ln/>
        </p:spPr>
        <p:txBody>
          <a:bodyPr wrap="square" lIns="0" tIns="0" rIns="0" bIns="0" rtlCol="0" anchor="ctr"/>
          <a:lstStyle/>
          <a:p>
            <a:pPr indent="0" marL="0">
              <a:buNone/>
            </a:pPr>
            <a:r>
              <a:rPr lang="en-US" sz="1200" b="1" dirty="0">
                <a:solidFill>
                  <a:srgbClr val="C68A65"/>
                </a:solidFill>
                <a:latin typeface="Calibri" pitchFamily="34" charset="0"/>
                <a:ea typeface="Calibri" pitchFamily="34" charset="-122"/>
                <a:cs typeface="Calibri" pitchFamily="34" charset="-120"/>
              </a:rPr>
              <a:t>02</a:t>
            </a:r>
            <a:endParaRPr lang="en-US" sz="1200" dirty="0"/>
          </a:p>
        </p:txBody>
      </p:sp>
      <p:sp>
        <p:nvSpPr>
          <p:cNvPr id="21" name="Text 18"/>
          <p:cNvSpPr/>
          <p:nvPr/>
        </p:nvSpPr>
        <p:spPr>
          <a:xfrm>
            <a:off x="7010248" y="1627632"/>
            <a:ext cx="3572104" cy="292608"/>
          </a:xfrm>
          <a:prstGeom prst="rect">
            <a:avLst/>
          </a:prstGeom>
          <a:noFill/>
          <a:ln/>
        </p:spPr>
        <p:txBody>
          <a:bodyPr wrap="square" lIns="0" tIns="0" rIns="0" bIns="0" rtlCol="0" anchor="ctr"/>
          <a:lstStyle/>
          <a:p>
            <a:pPr indent="0" marL="0">
              <a:buNone/>
            </a:pPr>
            <a:r>
              <a:rPr lang="en-US" sz="1500" b="1" dirty="0">
                <a:solidFill>
                  <a:srgbClr val="1A1A1A"/>
                </a:solidFill>
                <a:latin typeface="Yu Gothic" pitchFamily="34" charset="0"/>
                <a:ea typeface="Yu Gothic" pitchFamily="34" charset="-122"/>
                <a:cs typeface="Yu Gothic" pitchFamily="34" charset="-120"/>
              </a:rPr>
              <a:t>テナント飲食店へのご紹介</a:t>
            </a:r>
            <a:endParaRPr lang="en-US" sz="1500" dirty="0"/>
          </a:p>
        </p:txBody>
      </p:sp>
      <p:sp>
        <p:nvSpPr>
          <p:cNvPr id="22" name="Text 19"/>
          <p:cNvSpPr/>
          <p:nvPr/>
        </p:nvSpPr>
        <p:spPr>
          <a:xfrm>
            <a:off x="6498184" y="2029968"/>
            <a:ext cx="4852264" cy="219456"/>
          </a:xfrm>
          <a:prstGeom prst="rect">
            <a:avLst/>
          </a:prstGeom>
          <a:noFill/>
          <a:ln/>
        </p:spPr>
        <p:txBody>
          <a:bodyPr wrap="square" lIns="0" tIns="0" rIns="0" bIns="0" rtlCol="0" anchor="ctr"/>
          <a:lstStyle/>
          <a:p>
            <a:pPr indent="0" marL="0">
              <a:buNone/>
            </a:pPr>
            <a:r>
              <a:rPr lang="en-US" sz="920" b="1" dirty="0">
                <a:solidFill>
                  <a:srgbClr val="A06D4C"/>
                </a:solidFill>
                <a:latin typeface="Yu Gothic" pitchFamily="34" charset="0"/>
                <a:ea typeface="Yu Gothic" pitchFamily="34" charset="-122"/>
                <a:cs typeface="Yu Gothic" pitchFamily="34" charset="-120"/>
              </a:rPr>
              <a:t>お願いしたいこと</a:t>
            </a:r>
            <a:endParaRPr lang="en-US" sz="920" dirty="0"/>
          </a:p>
        </p:txBody>
      </p:sp>
      <p:sp>
        <p:nvSpPr>
          <p:cNvPr id="23" name="Text 20"/>
          <p:cNvSpPr/>
          <p:nvPr/>
        </p:nvSpPr>
        <p:spPr>
          <a:xfrm>
            <a:off x="6498184" y="2249424"/>
            <a:ext cx="4852264" cy="438912"/>
          </a:xfrm>
          <a:prstGeom prst="rect">
            <a:avLst/>
          </a:prstGeom>
          <a:noFill/>
          <a:ln/>
        </p:spPr>
        <p:txBody>
          <a:bodyPr wrap="square" lIns="0" tIns="0" rIns="0" bIns="0" rtlCol="0" anchor="ctr"/>
          <a:lstStyle/>
          <a:p>
            <a:pPr indent="0" marL="0">
              <a:lnSpc>
                <a:spcPts val="1400"/>
              </a:lnSpc>
              <a:buNone/>
            </a:pPr>
            <a:r>
              <a:rPr lang="en-US" sz="1020" dirty="0">
                <a:solidFill>
                  <a:srgbClr val="1A1A1A"/>
                </a:solidFill>
                <a:latin typeface="Yu Gothic" pitchFamily="34" charset="0"/>
                <a:ea typeface="Yu Gothic" pitchFamily="34" charset="-122"/>
                <a:cs typeface="Yu Gothic" pitchFamily="34" charset="-120"/>
              </a:rPr>
              <a:t>Cloud Wine Cave と置きワインの導入について、対象店へのお取り次ぎをお願いしたく存じます。</a:t>
            </a:r>
            <a:endParaRPr lang="en-US" sz="1020" dirty="0"/>
          </a:p>
        </p:txBody>
      </p:sp>
      <p:sp>
        <p:nvSpPr>
          <p:cNvPr id="24" name="Text 21"/>
          <p:cNvSpPr/>
          <p:nvPr/>
        </p:nvSpPr>
        <p:spPr>
          <a:xfrm>
            <a:off x="6498184" y="2743200"/>
            <a:ext cx="4852264" cy="219456"/>
          </a:xfrm>
          <a:prstGeom prst="rect">
            <a:avLst/>
          </a:prstGeom>
          <a:noFill/>
          <a:ln/>
        </p:spPr>
        <p:txBody>
          <a:bodyPr wrap="square" lIns="0" tIns="0" rIns="0" bIns="0" rtlCol="0" anchor="ctr"/>
          <a:lstStyle/>
          <a:p>
            <a:pPr indent="0" marL="0">
              <a:buNone/>
            </a:pPr>
            <a:r>
              <a:rPr lang="en-US" sz="920" b="1" dirty="0">
                <a:solidFill>
                  <a:srgbClr val="A06D4C"/>
                </a:solidFill>
                <a:latin typeface="Yu Gothic" pitchFamily="34" charset="0"/>
                <a:ea typeface="Yu Gothic" pitchFamily="34" charset="-122"/>
                <a:cs typeface="Yu Gothic" pitchFamily="34" charset="-120"/>
              </a:rPr>
              <a:t>当社が負担するもの</a:t>
            </a:r>
            <a:endParaRPr lang="en-US" sz="920" dirty="0"/>
          </a:p>
        </p:txBody>
      </p:sp>
      <p:sp>
        <p:nvSpPr>
          <p:cNvPr id="25" name="Text 22"/>
          <p:cNvSpPr/>
          <p:nvPr/>
        </p:nvSpPr>
        <p:spPr>
          <a:xfrm>
            <a:off x="6498184" y="2962656"/>
            <a:ext cx="4852264" cy="475488"/>
          </a:xfrm>
          <a:prstGeom prst="rect">
            <a:avLst/>
          </a:prstGeom>
          <a:noFill/>
          <a:ln/>
        </p:spPr>
        <p:txBody>
          <a:bodyPr wrap="square" lIns="0" tIns="0" rIns="0" bIns="0" rtlCol="0" anchor="ctr"/>
          <a:lstStyle/>
          <a:p>
            <a:pPr indent="0" marL="0">
              <a:lnSpc>
                <a:spcPts val="1350"/>
              </a:lnSpc>
              <a:buNone/>
            </a:pPr>
            <a:r>
              <a:rPr lang="en-US" sz="980" dirty="0">
                <a:solidFill>
                  <a:srgbClr val="6E7378"/>
                </a:solidFill>
                <a:latin typeface="Yu Gothic" pitchFamily="34" charset="0"/>
                <a:ea typeface="Yu Gothic" pitchFamily="34" charset="-122"/>
                <a:cs typeface="Yu Gothic" pitchFamily="34" charset="-120"/>
              </a:rPr>
              <a:t>提案・与信審査・導入運用・アフターは当社が行います。森ビル様に営業の実務は発生しません。</a:t>
            </a:r>
            <a:endParaRPr lang="en-US" sz="980" dirty="0"/>
          </a:p>
        </p:txBody>
      </p:sp>
      <p:sp>
        <p:nvSpPr>
          <p:cNvPr id="26" name="Shape 23"/>
          <p:cNvSpPr/>
          <p:nvPr/>
        </p:nvSpPr>
        <p:spPr>
          <a:xfrm>
            <a:off x="566928" y="3730752"/>
            <a:ext cx="5400904" cy="2048256"/>
          </a:xfrm>
          <a:prstGeom prst="roundRect">
            <a:avLst>
              <a:gd name="adj" fmla="val 2232"/>
            </a:avLst>
          </a:prstGeom>
          <a:solidFill>
            <a:srgbClr val="F6F6F6"/>
          </a:solidFill>
          <a:ln w="12700">
            <a:solidFill>
              <a:srgbClr val="333333"/>
            </a:solidFill>
            <a:prstDash val="solid"/>
          </a:ln>
        </p:spPr>
      </p:sp>
      <p:sp>
        <p:nvSpPr>
          <p:cNvPr id="27" name="Text 24"/>
          <p:cNvSpPr/>
          <p:nvPr/>
        </p:nvSpPr>
        <p:spPr>
          <a:xfrm>
            <a:off x="841248" y="3913632"/>
            <a:ext cx="548640" cy="256032"/>
          </a:xfrm>
          <a:prstGeom prst="rect">
            <a:avLst/>
          </a:prstGeom>
          <a:noFill/>
          <a:ln/>
        </p:spPr>
        <p:txBody>
          <a:bodyPr wrap="square" lIns="0" tIns="0" rIns="0" bIns="0" rtlCol="0" anchor="ctr"/>
          <a:lstStyle/>
          <a:p>
            <a:pPr indent="0" marL="0">
              <a:buNone/>
            </a:pPr>
            <a:r>
              <a:rPr lang="en-US" sz="1200" b="1" dirty="0">
                <a:solidFill>
                  <a:srgbClr val="C68A65"/>
                </a:solidFill>
                <a:latin typeface="Calibri" pitchFamily="34" charset="0"/>
                <a:ea typeface="Calibri" pitchFamily="34" charset="-122"/>
                <a:cs typeface="Calibri" pitchFamily="34" charset="-120"/>
              </a:rPr>
              <a:t>03</a:t>
            </a:r>
            <a:endParaRPr lang="en-US" sz="1200" dirty="0"/>
          </a:p>
        </p:txBody>
      </p:sp>
      <p:sp>
        <p:nvSpPr>
          <p:cNvPr id="28" name="Text 25"/>
          <p:cNvSpPr/>
          <p:nvPr/>
        </p:nvSpPr>
        <p:spPr>
          <a:xfrm>
            <a:off x="1353312" y="3895344"/>
            <a:ext cx="3572104" cy="292608"/>
          </a:xfrm>
          <a:prstGeom prst="rect">
            <a:avLst/>
          </a:prstGeom>
          <a:noFill/>
          <a:ln/>
        </p:spPr>
        <p:txBody>
          <a:bodyPr wrap="square" lIns="0" tIns="0" rIns="0" bIns="0" rtlCol="0" anchor="ctr"/>
          <a:lstStyle/>
          <a:p>
            <a:pPr indent="0" marL="0">
              <a:buNone/>
            </a:pPr>
            <a:r>
              <a:rPr lang="en-US" sz="1500" b="1" dirty="0">
                <a:solidFill>
                  <a:srgbClr val="1A1A1A"/>
                </a:solidFill>
                <a:latin typeface="Yu Gothic" pitchFamily="34" charset="0"/>
                <a:ea typeface="Yu Gothic" pitchFamily="34" charset="-122"/>
                <a:cs typeface="Yu Gothic" pitchFamily="34" charset="-120"/>
              </a:rPr>
              <a:t>館内動線・搬入の運用ご調整</a:t>
            </a:r>
            <a:endParaRPr lang="en-US" sz="1500" dirty="0"/>
          </a:p>
        </p:txBody>
      </p:sp>
      <p:sp>
        <p:nvSpPr>
          <p:cNvPr id="29" name="Text 26"/>
          <p:cNvSpPr/>
          <p:nvPr/>
        </p:nvSpPr>
        <p:spPr>
          <a:xfrm>
            <a:off x="841248" y="4297680"/>
            <a:ext cx="4852264" cy="219456"/>
          </a:xfrm>
          <a:prstGeom prst="rect">
            <a:avLst/>
          </a:prstGeom>
          <a:noFill/>
          <a:ln/>
        </p:spPr>
        <p:txBody>
          <a:bodyPr wrap="square" lIns="0" tIns="0" rIns="0" bIns="0" rtlCol="0" anchor="ctr"/>
          <a:lstStyle/>
          <a:p>
            <a:pPr indent="0" marL="0">
              <a:buNone/>
            </a:pPr>
            <a:r>
              <a:rPr lang="en-US" sz="920" b="1" dirty="0">
                <a:solidFill>
                  <a:srgbClr val="A06D4C"/>
                </a:solidFill>
                <a:latin typeface="Yu Gothic" pitchFamily="34" charset="0"/>
                <a:ea typeface="Yu Gothic" pitchFamily="34" charset="-122"/>
                <a:cs typeface="Yu Gothic" pitchFamily="34" charset="-120"/>
              </a:rPr>
              <a:t>お願いしたいこと</a:t>
            </a:r>
            <a:endParaRPr lang="en-US" sz="920" dirty="0"/>
          </a:p>
        </p:txBody>
      </p:sp>
      <p:sp>
        <p:nvSpPr>
          <p:cNvPr id="30" name="Text 27"/>
          <p:cNvSpPr/>
          <p:nvPr/>
        </p:nvSpPr>
        <p:spPr>
          <a:xfrm>
            <a:off x="841248" y="4517136"/>
            <a:ext cx="4852264" cy="438912"/>
          </a:xfrm>
          <a:prstGeom prst="rect">
            <a:avLst/>
          </a:prstGeom>
          <a:noFill/>
          <a:ln/>
        </p:spPr>
        <p:txBody>
          <a:bodyPr wrap="square" lIns="0" tIns="0" rIns="0" bIns="0" rtlCol="0" anchor="ctr"/>
          <a:lstStyle/>
          <a:p>
            <a:pPr indent="0" marL="0">
              <a:lnSpc>
                <a:spcPts val="1400"/>
              </a:lnSpc>
              <a:buNone/>
            </a:pPr>
            <a:r>
              <a:rPr lang="en-US" sz="1020" dirty="0">
                <a:solidFill>
                  <a:srgbClr val="1A1A1A"/>
                </a:solidFill>
                <a:latin typeface="Yu Gothic" pitchFamily="34" charset="0"/>
                <a:ea typeface="Yu Gothic" pitchFamily="34" charset="-122"/>
                <a:cs typeface="Yu Gothic" pitchFamily="34" charset="-120"/>
              </a:rPr>
              <a:t>配送スタッフの館内動線、荷捌き場の使用、夜間帯の出入りについてご調整をお願いします。</a:t>
            </a:r>
            <a:endParaRPr lang="en-US" sz="1020" dirty="0"/>
          </a:p>
        </p:txBody>
      </p:sp>
      <p:sp>
        <p:nvSpPr>
          <p:cNvPr id="31" name="Text 28"/>
          <p:cNvSpPr/>
          <p:nvPr/>
        </p:nvSpPr>
        <p:spPr>
          <a:xfrm>
            <a:off x="841248" y="5010912"/>
            <a:ext cx="4852264" cy="219456"/>
          </a:xfrm>
          <a:prstGeom prst="rect">
            <a:avLst/>
          </a:prstGeom>
          <a:noFill/>
          <a:ln/>
        </p:spPr>
        <p:txBody>
          <a:bodyPr wrap="square" lIns="0" tIns="0" rIns="0" bIns="0" rtlCol="0" anchor="ctr"/>
          <a:lstStyle/>
          <a:p>
            <a:pPr indent="0" marL="0">
              <a:buNone/>
            </a:pPr>
            <a:r>
              <a:rPr lang="en-US" sz="920" b="1" dirty="0">
                <a:solidFill>
                  <a:srgbClr val="A06D4C"/>
                </a:solidFill>
                <a:latin typeface="Yu Gothic" pitchFamily="34" charset="0"/>
                <a:ea typeface="Yu Gothic" pitchFamily="34" charset="-122"/>
                <a:cs typeface="Yu Gothic" pitchFamily="34" charset="-120"/>
              </a:rPr>
              <a:t>当社が負担するもの</a:t>
            </a:r>
            <a:endParaRPr lang="en-US" sz="920" dirty="0"/>
          </a:p>
        </p:txBody>
      </p:sp>
      <p:sp>
        <p:nvSpPr>
          <p:cNvPr id="32" name="Text 29"/>
          <p:cNvSpPr/>
          <p:nvPr/>
        </p:nvSpPr>
        <p:spPr>
          <a:xfrm>
            <a:off x="841248" y="5230368"/>
            <a:ext cx="4852264" cy="475488"/>
          </a:xfrm>
          <a:prstGeom prst="rect">
            <a:avLst/>
          </a:prstGeom>
          <a:noFill/>
          <a:ln/>
        </p:spPr>
        <p:txBody>
          <a:bodyPr wrap="square" lIns="0" tIns="0" rIns="0" bIns="0" rtlCol="0" anchor="ctr"/>
          <a:lstStyle/>
          <a:p>
            <a:pPr indent="0" marL="0">
              <a:lnSpc>
                <a:spcPts val="1350"/>
              </a:lnSpc>
              <a:buNone/>
            </a:pPr>
            <a:r>
              <a:rPr lang="en-US" sz="980" dirty="0">
                <a:solidFill>
                  <a:srgbClr val="6E7378"/>
                </a:solidFill>
                <a:latin typeface="Yu Gothic" pitchFamily="34" charset="0"/>
                <a:ea typeface="Yu Gothic" pitchFamily="34" charset="-122"/>
                <a:cs typeface="Yu Gothic" pitchFamily="34" charset="-120"/>
              </a:rPr>
              <a:t>車両・スタッフ・保険・温度管理はすべて当社側で手配します。</a:t>
            </a:r>
            <a:endParaRPr lang="en-US" sz="980" dirty="0"/>
          </a:p>
        </p:txBody>
      </p:sp>
      <p:sp>
        <p:nvSpPr>
          <p:cNvPr id="33" name="Shape 30"/>
          <p:cNvSpPr/>
          <p:nvPr/>
        </p:nvSpPr>
        <p:spPr>
          <a:xfrm>
            <a:off x="6223864" y="3730752"/>
            <a:ext cx="5400904" cy="2048256"/>
          </a:xfrm>
          <a:prstGeom prst="roundRect">
            <a:avLst>
              <a:gd name="adj" fmla="val 2232"/>
            </a:avLst>
          </a:prstGeom>
          <a:solidFill>
            <a:srgbClr val="F6F6F6"/>
          </a:solidFill>
          <a:ln w="12700">
            <a:solidFill>
              <a:srgbClr val="333333"/>
            </a:solidFill>
            <a:prstDash val="solid"/>
          </a:ln>
        </p:spPr>
      </p:sp>
      <p:sp>
        <p:nvSpPr>
          <p:cNvPr id="34" name="Text 31"/>
          <p:cNvSpPr/>
          <p:nvPr/>
        </p:nvSpPr>
        <p:spPr>
          <a:xfrm>
            <a:off x="6498184" y="3913632"/>
            <a:ext cx="548640" cy="256032"/>
          </a:xfrm>
          <a:prstGeom prst="rect">
            <a:avLst/>
          </a:prstGeom>
          <a:noFill/>
          <a:ln/>
        </p:spPr>
        <p:txBody>
          <a:bodyPr wrap="square" lIns="0" tIns="0" rIns="0" bIns="0" rtlCol="0" anchor="ctr"/>
          <a:lstStyle/>
          <a:p>
            <a:pPr indent="0" marL="0">
              <a:buNone/>
            </a:pPr>
            <a:r>
              <a:rPr lang="en-US" sz="1200" b="1" dirty="0">
                <a:solidFill>
                  <a:srgbClr val="C68A65"/>
                </a:solidFill>
                <a:latin typeface="Calibri" pitchFamily="34" charset="0"/>
                <a:ea typeface="Calibri" pitchFamily="34" charset="-122"/>
                <a:cs typeface="Calibri" pitchFamily="34" charset="-120"/>
              </a:rPr>
              <a:t>04</a:t>
            </a:r>
            <a:endParaRPr lang="en-US" sz="1200" dirty="0"/>
          </a:p>
        </p:txBody>
      </p:sp>
      <p:sp>
        <p:nvSpPr>
          <p:cNvPr id="35" name="Text 32"/>
          <p:cNvSpPr/>
          <p:nvPr/>
        </p:nvSpPr>
        <p:spPr>
          <a:xfrm>
            <a:off x="7010248" y="3895344"/>
            <a:ext cx="3572104" cy="292608"/>
          </a:xfrm>
          <a:prstGeom prst="rect">
            <a:avLst/>
          </a:prstGeom>
          <a:noFill/>
          <a:ln/>
        </p:spPr>
        <p:txBody>
          <a:bodyPr wrap="square" lIns="0" tIns="0" rIns="0" bIns="0" rtlCol="0" anchor="ctr"/>
          <a:lstStyle/>
          <a:p>
            <a:pPr indent="0" marL="0">
              <a:buNone/>
            </a:pPr>
            <a:r>
              <a:rPr lang="en-US" sz="1500" b="1" dirty="0">
                <a:solidFill>
                  <a:srgbClr val="1A1A1A"/>
                </a:solidFill>
                <a:latin typeface="Yu Gothic" pitchFamily="34" charset="0"/>
                <a:ea typeface="Yu Gothic" pitchFamily="34" charset="-122"/>
                <a:cs typeface="Yu Gothic" pitchFamily="34" charset="-120"/>
              </a:rPr>
              <a:t>居住者・テナント法人へのご案内</a:t>
            </a:r>
            <a:endParaRPr lang="en-US" sz="1500" dirty="0"/>
          </a:p>
        </p:txBody>
      </p:sp>
      <p:sp>
        <p:nvSpPr>
          <p:cNvPr id="36" name="Text 33"/>
          <p:cNvSpPr/>
          <p:nvPr/>
        </p:nvSpPr>
        <p:spPr>
          <a:xfrm>
            <a:off x="6498184" y="4297680"/>
            <a:ext cx="4852264" cy="219456"/>
          </a:xfrm>
          <a:prstGeom prst="rect">
            <a:avLst/>
          </a:prstGeom>
          <a:noFill/>
          <a:ln/>
        </p:spPr>
        <p:txBody>
          <a:bodyPr wrap="square" lIns="0" tIns="0" rIns="0" bIns="0" rtlCol="0" anchor="ctr"/>
          <a:lstStyle/>
          <a:p>
            <a:pPr indent="0" marL="0">
              <a:buNone/>
            </a:pPr>
            <a:r>
              <a:rPr lang="en-US" sz="920" b="1" dirty="0">
                <a:solidFill>
                  <a:srgbClr val="A06D4C"/>
                </a:solidFill>
                <a:latin typeface="Yu Gothic" pitchFamily="34" charset="0"/>
                <a:ea typeface="Yu Gothic" pitchFamily="34" charset="-122"/>
                <a:cs typeface="Yu Gothic" pitchFamily="34" charset="-120"/>
              </a:rPr>
              <a:t>お願いしたいこと</a:t>
            </a:r>
            <a:endParaRPr lang="en-US" sz="920" dirty="0"/>
          </a:p>
        </p:txBody>
      </p:sp>
      <p:sp>
        <p:nvSpPr>
          <p:cNvPr id="37" name="Text 34"/>
          <p:cNvSpPr/>
          <p:nvPr/>
        </p:nvSpPr>
        <p:spPr>
          <a:xfrm>
            <a:off x="6498184" y="4517136"/>
            <a:ext cx="4852264" cy="438912"/>
          </a:xfrm>
          <a:prstGeom prst="rect">
            <a:avLst/>
          </a:prstGeom>
          <a:noFill/>
          <a:ln/>
        </p:spPr>
        <p:txBody>
          <a:bodyPr wrap="square" lIns="0" tIns="0" rIns="0" bIns="0" rtlCol="0" anchor="ctr"/>
          <a:lstStyle/>
          <a:p>
            <a:pPr indent="0" marL="0">
              <a:lnSpc>
                <a:spcPts val="1400"/>
              </a:lnSpc>
              <a:buNone/>
            </a:pPr>
            <a:r>
              <a:rPr lang="en-US" sz="1020" dirty="0">
                <a:solidFill>
                  <a:srgbClr val="1A1A1A"/>
                </a:solidFill>
                <a:latin typeface="Yu Gothic" pitchFamily="34" charset="0"/>
                <a:ea typeface="Yu Gothic" pitchFamily="34" charset="-122"/>
                <a:cs typeface="Yu Gothic" pitchFamily="34" charset="-120"/>
              </a:rPr>
              <a:t>レジデンスコンシェルジュおよびテナント総務経由での告知導線をお願いしたく存じます。</a:t>
            </a:r>
            <a:endParaRPr lang="en-US" sz="1020" dirty="0"/>
          </a:p>
        </p:txBody>
      </p:sp>
      <p:sp>
        <p:nvSpPr>
          <p:cNvPr id="38" name="Text 35"/>
          <p:cNvSpPr/>
          <p:nvPr/>
        </p:nvSpPr>
        <p:spPr>
          <a:xfrm>
            <a:off x="6498184" y="5010912"/>
            <a:ext cx="4852264" cy="219456"/>
          </a:xfrm>
          <a:prstGeom prst="rect">
            <a:avLst/>
          </a:prstGeom>
          <a:noFill/>
          <a:ln/>
        </p:spPr>
        <p:txBody>
          <a:bodyPr wrap="square" lIns="0" tIns="0" rIns="0" bIns="0" rtlCol="0" anchor="ctr"/>
          <a:lstStyle/>
          <a:p>
            <a:pPr indent="0" marL="0">
              <a:buNone/>
            </a:pPr>
            <a:r>
              <a:rPr lang="en-US" sz="920" b="1" dirty="0">
                <a:solidFill>
                  <a:srgbClr val="A06D4C"/>
                </a:solidFill>
                <a:latin typeface="Yu Gothic" pitchFamily="34" charset="0"/>
                <a:ea typeface="Yu Gothic" pitchFamily="34" charset="-122"/>
                <a:cs typeface="Yu Gothic" pitchFamily="34" charset="-120"/>
              </a:rPr>
              <a:t>当社が負担するもの</a:t>
            </a:r>
            <a:endParaRPr lang="en-US" sz="920" dirty="0"/>
          </a:p>
        </p:txBody>
      </p:sp>
      <p:sp>
        <p:nvSpPr>
          <p:cNvPr id="39" name="Text 36"/>
          <p:cNvSpPr/>
          <p:nvPr/>
        </p:nvSpPr>
        <p:spPr>
          <a:xfrm>
            <a:off x="6498184" y="5230368"/>
            <a:ext cx="4852264" cy="475488"/>
          </a:xfrm>
          <a:prstGeom prst="rect">
            <a:avLst/>
          </a:prstGeom>
          <a:noFill/>
          <a:ln/>
        </p:spPr>
        <p:txBody>
          <a:bodyPr wrap="square" lIns="0" tIns="0" rIns="0" bIns="0" rtlCol="0" anchor="ctr"/>
          <a:lstStyle/>
          <a:p>
            <a:pPr indent="0" marL="0">
              <a:lnSpc>
                <a:spcPts val="1350"/>
              </a:lnSpc>
              <a:buNone/>
            </a:pPr>
            <a:r>
              <a:rPr lang="en-US" sz="980" dirty="0">
                <a:solidFill>
                  <a:srgbClr val="6E7378"/>
                </a:solidFill>
                <a:latin typeface="Yu Gothic" pitchFamily="34" charset="0"/>
                <a:ea typeface="Yu Gothic" pitchFamily="34" charset="-122"/>
                <a:cs typeface="Yu Gothic" pitchFamily="34" charset="-120"/>
              </a:rPr>
              <a:t>入会受付・本人確認・請求・問い合わせ対応は当社が一括で運用します。</a:t>
            </a:r>
            <a:endParaRPr lang="en-US" sz="980" dirty="0"/>
          </a:p>
        </p:txBody>
      </p:sp>
      <p:sp>
        <p:nvSpPr>
          <p:cNvPr id="40" name="Text 37"/>
          <p:cNvSpPr/>
          <p:nvPr/>
        </p:nvSpPr>
        <p:spPr>
          <a:xfrm>
            <a:off x="566928" y="5870448"/>
            <a:ext cx="10972800" cy="274320"/>
          </a:xfrm>
          <a:prstGeom prst="rect">
            <a:avLst/>
          </a:prstGeom>
          <a:noFill/>
          <a:ln/>
        </p:spPr>
        <p:txBody>
          <a:bodyPr wrap="square" lIns="0" tIns="0" rIns="0" bIns="0" rtlCol="0" anchor="ctr"/>
          <a:lstStyle/>
          <a:p>
            <a:pPr indent="0" marL="0">
              <a:buNone/>
            </a:pPr>
            <a:r>
              <a:rPr lang="en-US" sz="1000" dirty="0">
                <a:solidFill>
                  <a:srgbClr val="6E7378"/>
                </a:solidFill>
                <a:latin typeface="Yu Gothic" pitchFamily="34" charset="0"/>
                <a:ea typeface="Yu Gothic" pitchFamily="34" charset="-122"/>
                <a:cs typeface="Yu Gothic" pitchFamily="34" charset="-120"/>
              </a:rPr>
              <a:t>①以外は、既存の館内オペレーションの中でご対応いただける範囲を想定しています。①については次ページで経済性を整理しました。</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381183" y="292608"/>
            <a:ext cx="1243584" cy="247802"/>
          </a:xfrm>
          <a:prstGeom prst="rect">
            <a:avLst/>
          </a:prstGeom>
        </p:spPr>
      </p:pic>
      <p:sp>
        <p:nvSpPr>
          <p:cNvPr id="3" name="Shape 0"/>
          <p:cNvSpPr/>
          <p:nvPr/>
        </p:nvSpPr>
        <p:spPr>
          <a:xfrm>
            <a:off x="566928" y="292608"/>
            <a:ext cx="1115568" cy="237744"/>
          </a:xfrm>
          <a:prstGeom prst="roundRect">
            <a:avLst>
              <a:gd name="adj" fmla="val 11538"/>
            </a:avLst>
          </a:prstGeom>
          <a:solidFill>
            <a:srgbClr val="C68A65"/>
          </a:solidFill>
          <a:ln w="12700">
            <a:solidFill>
              <a:srgbClr val="333333"/>
            </a:solidFill>
            <a:prstDash val="solid"/>
          </a:ln>
        </p:spPr>
      </p:sp>
      <p:sp>
        <p:nvSpPr>
          <p:cNvPr id="4" name="Text 1"/>
          <p:cNvSpPr/>
          <p:nvPr/>
        </p:nvSpPr>
        <p:spPr>
          <a:xfrm>
            <a:off x="566928" y="292608"/>
            <a:ext cx="1115568"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Yu Gothic" pitchFamily="34" charset="0"/>
                <a:ea typeface="Yu Gothic" pitchFamily="34" charset="-122"/>
                <a:cs typeface="Yu Gothic" pitchFamily="34" charset="-120"/>
              </a:rPr>
              <a:t>REQUEST 01</a:t>
            </a:r>
            <a:endParaRPr lang="en-US" sz="850" dirty="0"/>
          </a:p>
        </p:txBody>
      </p:sp>
      <p:sp>
        <p:nvSpPr>
          <p:cNvPr id="5" name="Text 2"/>
          <p:cNvSpPr/>
          <p:nvPr/>
        </p:nvSpPr>
        <p:spPr>
          <a:xfrm>
            <a:off x="566928" y="585216"/>
            <a:ext cx="9509760" cy="420624"/>
          </a:xfrm>
          <a:prstGeom prst="rect">
            <a:avLst/>
          </a:prstGeom>
          <a:noFill/>
          <a:ln/>
        </p:spPr>
        <p:txBody>
          <a:bodyPr wrap="square" lIns="0" tIns="0" rIns="0" bIns="0" rtlCol="0" anchor="ctr"/>
          <a:lstStyle/>
          <a:p>
            <a:pPr indent="0" marL="0">
              <a:buNone/>
            </a:pPr>
            <a:r>
              <a:rPr lang="en-US" sz="2300" b="1" dirty="0">
                <a:solidFill>
                  <a:srgbClr val="1A1A1A"/>
                </a:solidFill>
                <a:latin typeface="Yu Gothic" pitchFamily="34" charset="0"/>
                <a:ea typeface="Yu Gothic" pitchFamily="34" charset="-122"/>
                <a:cs typeface="Yu Gothic" pitchFamily="34" charset="-120"/>
              </a:rPr>
              <a:t>館内ワインストレージの共同開設をご相談させてください</a:t>
            </a:r>
            <a:endParaRPr lang="en-US" sz="2300" dirty="0"/>
          </a:p>
        </p:txBody>
      </p:sp>
      <p:sp>
        <p:nvSpPr>
          <p:cNvPr id="6" name="Text 3"/>
          <p:cNvSpPr/>
          <p:nvPr/>
        </p:nvSpPr>
        <p:spPr>
          <a:xfrm>
            <a:off x="566928" y="1024128"/>
            <a:ext cx="11057839" cy="310896"/>
          </a:xfrm>
          <a:prstGeom prst="rect">
            <a:avLst/>
          </a:prstGeom>
          <a:noFill/>
          <a:ln/>
        </p:spPr>
        <p:txBody>
          <a:bodyPr wrap="square" lIns="0" tIns="0" rIns="0" bIns="0" rtlCol="0" anchor="ctr"/>
          <a:lstStyle/>
          <a:p>
            <a:pPr indent="0" marL="0">
              <a:lnSpc>
                <a:spcPts val="1700"/>
              </a:lnSpc>
              <a:buNone/>
            </a:pPr>
            <a:r>
              <a:rPr lang="en-US" sz="1150" dirty="0">
                <a:solidFill>
                  <a:srgbClr val="6E7378"/>
                </a:solidFill>
                <a:latin typeface="Yu Gothic" pitchFamily="34" charset="0"/>
                <a:ea typeface="Yu Gothic" pitchFamily="34" charset="-122"/>
                <a:cs typeface="Yu Gothic" pitchFamily="34" charset="-120"/>
              </a:rPr>
              <a:t>場所を森ビル様に、在庫と運営を当社に。この分担が、館内の飲食テナントとレジデンスの体験を一段変えます。</a:t>
            </a:r>
            <a:endParaRPr lang="en-US" sz="1150" dirty="0"/>
          </a:p>
        </p:txBody>
      </p:sp>
      <p:sp>
        <p:nvSpPr>
          <p:cNvPr id="7" name="Shape 4"/>
          <p:cNvSpPr/>
          <p:nvPr/>
        </p:nvSpPr>
        <p:spPr>
          <a:xfrm>
            <a:off x="0" y="6583680"/>
            <a:ext cx="12191695" cy="274320"/>
          </a:xfrm>
          <a:prstGeom prst="rect">
            <a:avLst/>
          </a:prstGeom>
          <a:solidFill>
            <a:srgbClr val="2F3941"/>
          </a:solidFill>
          <a:ln w="12700">
            <a:solidFill>
              <a:srgbClr val="333333"/>
            </a:solidFill>
            <a:prstDash val="solid"/>
          </a:ln>
        </p:spPr>
      </p:sp>
      <p:sp>
        <p:nvSpPr>
          <p:cNvPr id="8" name="Text 5"/>
          <p:cNvSpPr/>
          <p:nvPr/>
        </p:nvSpPr>
        <p:spPr>
          <a:xfrm>
            <a:off x="10893247" y="6272784"/>
            <a:ext cx="731520" cy="256032"/>
          </a:xfrm>
          <a:prstGeom prst="rect">
            <a:avLst/>
          </a:prstGeom>
          <a:noFill/>
          <a:ln/>
        </p:spPr>
        <p:txBody>
          <a:bodyPr wrap="square" lIns="0" tIns="0" rIns="0" bIns="0" rtlCol="0" anchor="ctr"/>
          <a:lstStyle/>
          <a:p>
            <a:pPr algn="r" indent="0" marL="0">
              <a:buNone/>
            </a:pPr>
            <a:r>
              <a:rPr lang="en-US" sz="1000" dirty="0">
                <a:solidFill>
                  <a:srgbClr val="A6ABAF"/>
                </a:solidFill>
                <a:latin typeface="Calibri" pitchFamily="34" charset="0"/>
                <a:ea typeface="Calibri" pitchFamily="34" charset="-122"/>
                <a:cs typeface="Calibri" pitchFamily="34" charset="-120"/>
              </a:rPr>
              <a:t>17</a:t>
            </a:r>
            <a:endParaRPr lang="en-US" sz="1000" dirty="0"/>
          </a:p>
        </p:txBody>
      </p:sp>
      <p:sp>
        <p:nvSpPr>
          <p:cNvPr id="9" name="Text 6"/>
          <p:cNvSpPr/>
          <p:nvPr/>
        </p:nvSpPr>
        <p:spPr>
          <a:xfrm>
            <a:off x="566928" y="6272784"/>
            <a:ext cx="2926080" cy="256032"/>
          </a:xfrm>
          <a:prstGeom prst="rect">
            <a:avLst/>
          </a:prstGeom>
          <a:noFill/>
          <a:ln/>
        </p:spPr>
        <p:txBody>
          <a:bodyPr wrap="square" lIns="0" tIns="0" rIns="0" bIns="0" rtlCol="0" anchor="ctr"/>
          <a:lstStyle/>
          <a:p>
            <a:pPr indent="0" marL="0">
              <a:buNone/>
            </a:pPr>
            <a:r>
              <a:rPr lang="en-US" sz="850" spc="120" kern="0" dirty="0">
                <a:solidFill>
                  <a:srgbClr val="C7CACC"/>
                </a:solidFill>
                <a:latin typeface="Calibri" pitchFamily="34" charset="0"/>
                <a:ea typeface="Calibri" pitchFamily="34" charset="-122"/>
                <a:cs typeface="Calibri" pitchFamily="34" charset="-120"/>
              </a:rPr>
              <a:t>CONFIDENTIAL</a:t>
            </a:r>
            <a:endParaRPr lang="en-US" sz="850" dirty="0"/>
          </a:p>
        </p:txBody>
      </p:sp>
      <p:sp>
        <p:nvSpPr>
          <p:cNvPr id="10" name="Shape 7"/>
          <p:cNvSpPr/>
          <p:nvPr/>
        </p:nvSpPr>
        <p:spPr>
          <a:xfrm>
            <a:off x="566928" y="1444752"/>
            <a:ext cx="2834640" cy="859536"/>
          </a:xfrm>
          <a:prstGeom prst="roundRect">
            <a:avLst>
              <a:gd name="adj" fmla="val 5319"/>
            </a:avLst>
          </a:prstGeom>
          <a:solidFill>
            <a:srgbClr val="F6F6F6"/>
          </a:solidFill>
          <a:ln w="12700">
            <a:solidFill>
              <a:srgbClr val="333333"/>
            </a:solidFill>
            <a:prstDash val="solid"/>
          </a:ln>
        </p:spPr>
      </p:sp>
      <p:sp>
        <p:nvSpPr>
          <p:cNvPr id="11" name="Text 8"/>
          <p:cNvSpPr/>
          <p:nvPr/>
        </p:nvSpPr>
        <p:spPr>
          <a:xfrm>
            <a:off x="804672" y="1517904"/>
            <a:ext cx="2359152" cy="237744"/>
          </a:xfrm>
          <a:prstGeom prst="rect">
            <a:avLst/>
          </a:prstGeom>
          <a:noFill/>
          <a:ln/>
        </p:spPr>
        <p:txBody>
          <a:bodyPr wrap="square" lIns="0" tIns="0" rIns="0" bIns="0" rtlCol="0" anchor="ctr"/>
          <a:lstStyle/>
          <a:p>
            <a:pPr indent="0" marL="0">
              <a:buNone/>
            </a:pPr>
            <a:r>
              <a:rPr lang="en-US" sz="940" dirty="0">
                <a:solidFill>
                  <a:srgbClr val="6E7378"/>
                </a:solidFill>
                <a:latin typeface="Yu Gothic" pitchFamily="34" charset="0"/>
                <a:ea typeface="Yu Gothic" pitchFamily="34" charset="-122"/>
                <a:cs typeface="Yu Gothic" pitchFamily="34" charset="-120"/>
              </a:rPr>
              <a:t>現状（当社倉庫からの配送）</a:t>
            </a:r>
            <a:endParaRPr lang="en-US" sz="940" dirty="0"/>
          </a:p>
        </p:txBody>
      </p:sp>
      <p:sp>
        <p:nvSpPr>
          <p:cNvPr id="12" name="Text 9"/>
          <p:cNvSpPr/>
          <p:nvPr/>
        </p:nvSpPr>
        <p:spPr>
          <a:xfrm>
            <a:off x="804672" y="1773936"/>
            <a:ext cx="2359152" cy="402336"/>
          </a:xfrm>
          <a:prstGeom prst="rect">
            <a:avLst/>
          </a:prstGeom>
          <a:noFill/>
          <a:ln/>
        </p:spPr>
        <p:txBody>
          <a:bodyPr wrap="square" lIns="0" tIns="0" rIns="0" bIns="0" rtlCol="0" anchor="ctr"/>
          <a:lstStyle/>
          <a:p>
            <a:pPr indent="0" marL="0">
              <a:buNone/>
            </a:pPr>
            <a:r>
              <a:rPr lang="en-US" sz="1300" b="1" dirty="0">
                <a:solidFill>
                  <a:srgbClr val="1A1A1A"/>
                </a:solidFill>
                <a:latin typeface="Yu Gothic" pitchFamily="34" charset="0"/>
                <a:ea typeface="Yu Gothic" pitchFamily="34" charset="-122"/>
                <a:cs typeface="Yu Gothic" pitchFamily="34" charset="-120"/>
              </a:rPr>
              <a:t>前日午前中のご注文で 翌日着</a:t>
            </a:r>
            <a:endParaRPr lang="en-US" sz="1300" dirty="0"/>
          </a:p>
        </p:txBody>
      </p:sp>
      <p:sp>
        <p:nvSpPr>
          <p:cNvPr id="13" name="Shape 10"/>
          <p:cNvSpPr/>
          <p:nvPr/>
        </p:nvSpPr>
        <p:spPr>
          <a:xfrm>
            <a:off x="3584448" y="1444752"/>
            <a:ext cx="2834640" cy="859536"/>
          </a:xfrm>
          <a:prstGeom prst="roundRect">
            <a:avLst>
              <a:gd name="adj" fmla="val 5319"/>
            </a:avLst>
          </a:prstGeom>
          <a:solidFill>
            <a:srgbClr val="2F3941"/>
          </a:solidFill>
          <a:ln w="12700">
            <a:solidFill>
              <a:srgbClr val="333333"/>
            </a:solidFill>
            <a:prstDash val="solid"/>
          </a:ln>
        </p:spPr>
      </p:sp>
      <p:sp>
        <p:nvSpPr>
          <p:cNvPr id="14" name="Text 11"/>
          <p:cNvSpPr/>
          <p:nvPr/>
        </p:nvSpPr>
        <p:spPr>
          <a:xfrm>
            <a:off x="3822192" y="1517904"/>
            <a:ext cx="2359152" cy="237744"/>
          </a:xfrm>
          <a:prstGeom prst="rect">
            <a:avLst/>
          </a:prstGeom>
          <a:noFill/>
          <a:ln/>
        </p:spPr>
        <p:txBody>
          <a:bodyPr wrap="square" lIns="0" tIns="0" rIns="0" bIns="0" rtlCol="0" anchor="ctr"/>
          <a:lstStyle/>
          <a:p>
            <a:pPr indent="0" marL="0">
              <a:buNone/>
            </a:pPr>
            <a:r>
              <a:rPr lang="en-US" sz="940" dirty="0">
                <a:solidFill>
                  <a:srgbClr val="EFDCCE"/>
                </a:solidFill>
                <a:latin typeface="Yu Gothic" pitchFamily="34" charset="0"/>
                <a:ea typeface="Yu Gothic" pitchFamily="34" charset="-122"/>
                <a:cs typeface="Yu Gothic" pitchFamily="34" charset="-120"/>
              </a:rPr>
              <a:t>館内ストレージ開設後</a:t>
            </a:r>
            <a:endParaRPr lang="en-US" sz="940" dirty="0"/>
          </a:p>
        </p:txBody>
      </p:sp>
      <p:sp>
        <p:nvSpPr>
          <p:cNvPr id="15" name="Text 12"/>
          <p:cNvSpPr/>
          <p:nvPr/>
        </p:nvSpPr>
        <p:spPr>
          <a:xfrm>
            <a:off x="3822192" y="1773936"/>
            <a:ext cx="2359152" cy="402336"/>
          </a:xfrm>
          <a:prstGeom prst="rect">
            <a:avLst/>
          </a:prstGeom>
          <a:noFill/>
          <a:ln/>
        </p:spPr>
        <p:txBody>
          <a:bodyPr wrap="square" lIns="0" tIns="0" rIns="0" bIns="0" rtlCol="0" anchor="ctr"/>
          <a:lstStyle/>
          <a:p>
            <a:pPr indent="0" marL="0">
              <a:buNone/>
            </a:pPr>
            <a:r>
              <a:rPr lang="en-US" sz="1700" b="1" dirty="0">
                <a:solidFill>
                  <a:srgbClr val="FFFFFF"/>
                </a:solidFill>
                <a:latin typeface="Yu Gothic" pitchFamily="34" charset="0"/>
                <a:ea typeface="Yu Gothic" pitchFamily="34" charset="-122"/>
                <a:cs typeface="Yu Gothic" pitchFamily="34" charset="-120"/>
              </a:rPr>
              <a:t>即日・最短5分</a:t>
            </a:r>
            <a:endParaRPr lang="en-US" sz="1700" dirty="0"/>
          </a:p>
        </p:txBody>
      </p:sp>
      <p:sp>
        <p:nvSpPr>
          <p:cNvPr id="16" name="Text 13"/>
          <p:cNvSpPr/>
          <p:nvPr/>
        </p:nvSpPr>
        <p:spPr>
          <a:xfrm>
            <a:off x="6876288" y="1444752"/>
            <a:ext cx="4754880" cy="859536"/>
          </a:xfrm>
          <a:prstGeom prst="rect">
            <a:avLst/>
          </a:prstGeom>
          <a:noFill/>
          <a:ln/>
        </p:spPr>
        <p:txBody>
          <a:bodyPr wrap="square" lIns="0" tIns="0" rIns="0" bIns="0" rtlCol="0" anchor="ctr"/>
          <a:lstStyle/>
          <a:p>
            <a:pPr indent="0" marL="0">
              <a:lnSpc>
                <a:spcPts val="1700"/>
              </a:lnSpc>
              <a:buNone/>
            </a:pPr>
            <a:r>
              <a:rPr lang="en-US" sz="1150" b="1" dirty="0">
                <a:solidFill>
                  <a:srgbClr val="A06D4C"/>
                </a:solidFill>
                <a:latin typeface="Yu Gothic" pitchFamily="34" charset="0"/>
                <a:ea typeface="Yu Gothic" pitchFamily="34" charset="-122"/>
                <a:cs typeface="Yu Gothic" pitchFamily="34" charset="-120"/>
              </a:rPr>
              <a:t>「今夜あと一本」に応えられるかどうかが、高級店にとっての価値の分かれ目になります。</a:t>
            </a:r>
            <a:endParaRPr lang="en-US" sz="1150" dirty="0"/>
          </a:p>
        </p:txBody>
      </p:sp>
      <p:sp>
        <p:nvSpPr>
          <p:cNvPr id="17" name="Text 14"/>
          <p:cNvSpPr/>
          <p:nvPr/>
        </p:nvSpPr>
        <p:spPr>
          <a:xfrm>
            <a:off x="566928" y="2487168"/>
            <a:ext cx="4572000" cy="274320"/>
          </a:xfrm>
          <a:prstGeom prst="rect">
            <a:avLst/>
          </a:prstGeom>
          <a:noFill/>
          <a:ln/>
        </p:spPr>
        <p:txBody>
          <a:bodyPr wrap="square" lIns="0" tIns="0" rIns="0" bIns="0" rtlCol="0" anchor="ctr"/>
          <a:lstStyle/>
          <a:p>
            <a:pPr indent="0" marL="0">
              <a:buNone/>
            </a:pPr>
            <a:r>
              <a:rPr lang="en-US" sz="1400" b="1" dirty="0">
                <a:solidFill>
                  <a:srgbClr val="1A1A1A"/>
                </a:solidFill>
                <a:latin typeface="Yu Gothic" pitchFamily="34" charset="0"/>
                <a:ea typeface="Yu Gothic" pitchFamily="34" charset="-122"/>
                <a:cs typeface="Yu Gothic" pitchFamily="34" charset="-120"/>
              </a:rPr>
              <a:t>投資が回収される循環</a:t>
            </a:r>
            <a:endParaRPr lang="en-US" sz="1400" dirty="0"/>
          </a:p>
        </p:txBody>
      </p:sp>
      <p:sp>
        <p:nvSpPr>
          <p:cNvPr id="18" name="Text 15"/>
          <p:cNvSpPr/>
          <p:nvPr/>
        </p:nvSpPr>
        <p:spPr>
          <a:xfrm>
            <a:off x="566928" y="2834640"/>
            <a:ext cx="274320" cy="237744"/>
          </a:xfrm>
          <a:prstGeom prst="rect">
            <a:avLst/>
          </a:prstGeom>
          <a:noFill/>
          <a:ln/>
        </p:spPr>
        <p:txBody>
          <a:bodyPr wrap="square" lIns="0" tIns="0" rIns="0" bIns="0" rtlCol="0" anchor="ctr"/>
          <a:lstStyle/>
          <a:p>
            <a:pPr indent="0" marL="0">
              <a:buNone/>
            </a:pPr>
            <a:r>
              <a:rPr lang="en-US" sz="1050" b="1" dirty="0">
                <a:solidFill>
                  <a:srgbClr val="C68A65"/>
                </a:solidFill>
                <a:latin typeface="Calibri" pitchFamily="34" charset="0"/>
                <a:ea typeface="Calibri" pitchFamily="34" charset="-122"/>
                <a:cs typeface="Calibri" pitchFamily="34" charset="-120"/>
              </a:rPr>
              <a:t>1</a:t>
            </a:r>
            <a:endParaRPr lang="en-US" sz="1050" dirty="0"/>
          </a:p>
        </p:txBody>
      </p:sp>
      <p:sp>
        <p:nvSpPr>
          <p:cNvPr id="19" name="Text 16"/>
          <p:cNvSpPr/>
          <p:nvPr/>
        </p:nvSpPr>
        <p:spPr>
          <a:xfrm>
            <a:off x="877824" y="2834640"/>
            <a:ext cx="1481328" cy="237744"/>
          </a:xfrm>
          <a:prstGeom prst="rect">
            <a:avLst/>
          </a:prstGeom>
          <a:noFill/>
          <a:ln/>
        </p:spPr>
        <p:txBody>
          <a:bodyPr wrap="square" lIns="0" tIns="0" rIns="0" bIns="0" rtlCol="0" anchor="ctr"/>
          <a:lstStyle/>
          <a:p>
            <a:pPr indent="0" marL="0">
              <a:buNone/>
            </a:pPr>
            <a:r>
              <a:rPr lang="en-US" sz="1000" b="1" dirty="0">
                <a:solidFill>
                  <a:srgbClr val="1A1A1A"/>
                </a:solidFill>
                <a:latin typeface="Yu Gothic" pitchFamily="34" charset="0"/>
                <a:ea typeface="Yu Gothic" pitchFamily="34" charset="-122"/>
                <a:cs typeface="Yu Gothic" pitchFamily="34" charset="-120"/>
              </a:rPr>
              <a:t>飲食店</a:t>
            </a:r>
            <a:endParaRPr lang="en-US" sz="1000" dirty="0"/>
          </a:p>
        </p:txBody>
      </p:sp>
      <p:sp>
        <p:nvSpPr>
          <p:cNvPr id="20" name="Text 17"/>
          <p:cNvSpPr/>
          <p:nvPr/>
        </p:nvSpPr>
        <p:spPr>
          <a:xfrm>
            <a:off x="2395728" y="2834640"/>
            <a:ext cx="4133088" cy="402336"/>
          </a:xfrm>
          <a:prstGeom prst="rect">
            <a:avLst/>
          </a:prstGeom>
          <a:noFill/>
          <a:ln/>
        </p:spPr>
        <p:txBody>
          <a:bodyPr wrap="square" lIns="0" tIns="0" rIns="0" bIns="0" rtlCol="0" anchor="ctr"/>
          <a:lstStyle/>
          <a:p>
            <a:pPr indent="0" marL="0">
              <a:lnSpc>
                <a:spcPts val="1350"/>
              </a:lnSpc>
              <a:buNone/>
            </a:pPr>
            <a:r>
              <a:rPr lang="en-US" sz="980" dirty="0">
                <a:solidFill>
                  <a:srgbClr val="6E7378"/>
                </a:solidFill>
                <a:latin typeface="Yu Gothic" pitchFamily="34" charset="0"/>
                <a:ea typeface="Yu Gothic" pitchFamily="34" charset="-122"/>
                <a:cs typeface="Yu Gothic" pitchFamily="34" charset="-120"/>
              </a:rPr>
              <a:t>店内のワインセラーを縮小できる。高級店では一般に3〜8坪を占めています。</a:t>
            </a:r>
            <a:endParaRPr lang="en-US" sz="980" dirty="0"/>
          </a:p>
        </p:txBody>
      </p:sp>
      <p:sp>
        <p:nvSpPr>
          <p:cNvPr id="21" name="Text 18"/>
          <p:cNvSpPr/>
          <p:nvPr/>
        </p:nvSpPr>
        <p:spPr>
          <a:xfrm>
            <a:off x="566928" y="3319272"/>
            <a:ext cx="274320" cy="237744"/>
          </a:xfrm>
          <a:prstGeom prst="rect">
            <a:avLst/>
          </a:prstGeom>
          <a:noFill/>
          <a:ln/>
        </p:spPr>
        <p:txBody>
          <a:bodyPr wrap="square" lIns="0" tIns="0" rIns="0" bIns="0" rtlCol="0" anchor="ctr"/>
          <a:lstStyle/>
          <a:p>
            <a:pPr indent="0" marL="0">
              <a:buNone/>
            </a:pPr>
            <a:r>
              <a:rPr lang="en-US" sz="1050" b="1" dirty="0">
                <a:solidFill>
                  <a:srgbClr val="C68A65"/>
                </a:solidFill>
                <a:latin typeface="Calibri" pitchFamily="34" charset="0"/>
                <a:ea typeface="Calibri" pitchFamily="34" charset="-122"/>
                <a:cs typeface="Calibri" pitchFamily="34" charset="-120"/>
              </a:rPr>
              <a:t>2</a:t>
            </a:r>
            <a:endParaRPr lang="en-US" sz="1050" dirty="0"/>
          </a:p>
        </p:txBody>
      </p:sp>
      <p:sp>
        <p:nvSpPr>
          <p:cNvPr id="22" name="Text 19"/>
          <p:cNvSpPr/>
          <p:nvPr/>
        </p:nvSpPr>
        <p:spPr>
          <a:xfrm>
            <a:off x="877824" y="3319272"/>
            <a:ext cx="1481328" cy="237744"/>
          </a:xfrm>
          <a:prstGeom prst="rect">
            <a:avLst/>
          </a:prstGeom>
          <a:noFill/>
          <a:ln/>
        </p:spPr>
        <p:txBody>
          <a:bodyPr wrap="square" lIns="0" tIns="0" rIns="0" bIns="0" rtlCol="0" anchor="ctr"/>
          <a:lstStyle/>
          <a:p>
            <a:pPr indent="0" marL="0">
              <a:buNone/>
            </a:pPr>
            <a:r>
              <a:rPr lang="en-US" sz="1000" b="1" dirty="0">
                <a:solidFill>
                  <a:srgbClr val="1A1A1A"/>
                </a:solidFill>
                <a:latin typeface="Yu Gothic" pitchFamily="34" charset="0"/>
                <a:ea typeface="Yu Gothic" pitchFamily="34" charset="-122"/>
                <a:cs typeface="Yu Gothic" pitchFamily="34" charset="-120"/>
              </a:rPr>
              <a:t>飲食店</a:t>
            </a:r>
            <a:endParaRPr lang="en-US" sz="1000" dirty="0"/>
          </a:p>
        </p:txBody>
      </p:sp>
      <p:sp>
        <p:nvSpPr>
          <p:cNvPr id="23" name="Text 20"/>
          <p:cNvSpPr/>
          <p:nvPr/>
        </p:nvSpPr>
        <p:spPr>
          <a:xfrm>
            <a:off x="2395728" y="3319272"/>
            <a:ext cx="4133088" cy="402336"/>
          </a:xfrm>
          <a:prstGeom prst="rect">
            <a:avLst/>
          </a:prstGeom>
          <a:noFill/>
          <a:ln/>
        </p:spPr>
        <p:txBody>
          <a:bodyPr wrap="square" lIns="0" tIns="0" rIns="0" bIns="0" rtlCol="0" anchor="ctr"/>
          <a:lstStyle/>
          <a:p>
            <a:pPr indent="0" marL="0">
              <a:lnSpc>
                <a:spcPts val="1350"/>
              </a:lnSpc>
              <a:buNone/>
            </a:pPr>
            <a:r>
              <a:rPr lang="en-US" sz="980" dirty="0">
                <a:solidFill>
                  <a:srgbClr val="6E7378"/>
                </a:solidFill>
                <a:latin typeface="Yu Gothic" pitchFamily="34" charset="0"/>
                <a:ea typeface="Yu Gothic" pitchFamily="34" charset="-122"/>
                <a:cs typeface="Yu Gothic" pitchFamily="34" charset="-120"/>
              </a:rPr>
              <a:t>空いた面積を客席や厨房に転用し、売上を伸ばせる。</a:t>
            </a:r>
            <a:endParaRPr lang="en-US" sz="980" dirty="0"/>
          </a:p>
        </p:txBody>
      </p:sp>
      <p:sp>
        <p:nvSpPr>
          <p:cNvPr id="24" name="Text 21"/>
          <p:cNvSpPr/>
          <p:nvPr/>
        </p:nvSpPr>
        <p:spPr>
          <a:xfrm>
            <a:off x="566928" y="3803904"/>
            <a:ext cx="274320" cy="237744"/>
          </a:xfrm>
          <a:prstGeom prst="rect">
            <a:avLst/>
          </a:prstGeom>
          <a:noFill/>
          <a:ln/>
        </p:spPr>
        <p:txBody>
          <a:bodyPr wrap="square" lIns="0" tIns="0" rIns="0" bIns="0" rtlCol="0" anchor="ctr"/>
          <a:lstStyle/>
          <a:p>
            <a:pPr indent="0" marL="0">
              <a:buNone/>
            </a:pPr>
            <a:r>
              <a:rPr lang="en-US" sz="1050" b="1" dirty="0">
                <a:solidFill>
                  <a:srgbClr val="C68A65"/>
                </a:solidFill>
                <a:latin typeface="Calibri" pitchFamily="34" charset="0"/>
                <a:ea typeface="Calibri" pitchFamily="34" charset="-122"/>
                <a:cs typeface="Calibri" pitchFamily="34" charset="-120"/>
              </a:rPr>
              <a:t>3</a:t>
            </a:r>
            <a:endParaRPr lang="en-US" sz="1050" dirty="0"/>
          </a:p>
        </p:txBody>
      </p:sp>
      <p:sp>
        <p:nvSpPr>
          <p:cNvPr id="25" name="Text 22"/>
          <p:cNvSpPr/>
          <p:nvPr/>
        </p:nvSpPr>
        <p:spPr>
          <a:xfrm>
            <a:off x="877824" y="3803904"/>
            <a:ext cx="1481328" cy="237744"/>
          </a:xfrm>
          <a:prstGeom prst="rect">
            <a:avLst/>
          </a:prstGeom>
          <a:noFill/>
          <a:ln/>
        </p:spPr>
        <p:txBody>
          <a:bodyPr wrap="square" lIns="0" tIns="0" rIns="0" bIns="0" rtlCol="0" anchor="ctr"/>
          <a:lstStyle/>
          <a:p>
            <a:pPr indent="0" marL="0">
              <a:buNone/>
            </a:pPr>
            <a:r>
              <a:rPr lang="en-US" sz="1000" b="1" dirty="0">
                <a:solidFill>
                  <a:srgbClr val="1A1A1A"/>
                </a:solidFill>
                <a:latin typeface="Yu Gothic" pitchFamily="34" charset="0"/>
                <a:ea typeface="Yu Gothic" pitchFamily="34" charset="-122"/>
                <a:cs typeface="Yu Gothic" pitchFamily="34" charset="-120"/>
              </a:rPr>
              <a:t>飲食店 → 森ビル様</a:t>
            </a:r>
            <a:endParaRPr lang="en-US" sz="1000" dirty="0"/>
          </a:p>
        </p:txBody>
      </p:sp>
      <p:sp>
        <p:nvSpPr>
          <p:cNvPr id="26" name="Text 23"/>
          <p:cNvSpPr/>
          <p:nvPr/>
        </p:nvSpPr>
        <p:spPr>
          <a:xfrm>
            <a:off x="2395728" y="3803904"/>
            <a:ext cx="4133088" cy="402336"/>
          </a:xfrm>
          <a:prstGeom prst="rect">
            <a:avLst/>
          </a:prstGeom>
          <a:noFill/>
          <a:ln/>
        </p:spPr>
        <p:txBody>
          <a:bodyPr wrap="square" lIns="0" tIns="0" rIns="0" bIns="0" rtlCol="0" anchor="ctr"/>
          <a:lstStyle/>
          <a:p>
            <a:pPr indent="0" marL="0">
              <a:lnSpc>
                <a:spcPts val="1350"/>
              </a:lnSpc>
              <a:buNone/>
            </a:pPr>
            <a:r>
              <a:rPr lang="en-US" sz="980" dirty="0">
                <a:solidFill>
                  <a:srgbClr val="6E7378"/>
                </a:solidFill>
                <a:latin typeface="Yu Gothic" pitchFamily="34" charset="0"/>
                <a:ea typeface="Yu Gothic" pitchFamily="34" charset="-122"/>
                <a:cs typeface="Yu Gothic" pitchFamily="34" charset="-120"/>
              </a:rPr>
              <a:t>その対価として、館内ストレージの利用料をお支払いいただく。</a:t>
            </a:r>
            <a:endParaRPr lang="en-US" sz="980" dirty="0"/>
          </a:p>
        </p:txBody>
      </p:sp>
      <p:sp>
        <p:nvSpPr>
          <p:cNvPr id="27" name="Text 24"/>
          <p:cNvSpPr/>
          <p:nvPr/>
        </p:nvSpPr>
        <p:spPr>
          <a:xfrm>
            <a:off x="566928" y="4288536"/>
            <a:ext cx="274320" cy="237744"/>
          </a:xfrm>
          <a:prstGeom prst="rect">
            <a:avLst/>
          </a:prstGeom>
          <a:noFill/>
          <a:ln/>
        </p:spPr>
        <p:txBody>
          <a:bodyPr wrap="square" lIns="0" tIns="0" rIns="0" bIns="0" rtlCol="0" anchor="ctr"/>
          <a:lstStyle/>
          <a:p>
            <a:pPr indent="0" marL="0">
              <a:buNone/>
            </a:pPr>
            <a:r>
              <a:rPr lang="en-US" sz="1050" b="1" dirty="0">
                <a:solidFill>
                  <a:srgbClr val="C68A65"/>
                </a:solidFill>
                <a:latin typeface="Calibri" pitchFamily="34" charset="0"/>
                <a:ea typeface="Calibri" pitchFamily="34" charset="-122"/>
                <a:cs typeface="Calibri" pitchFamily="34" charset="-120"/>
              </a:rPr>
              <a:t>4</a:t>
            </a:r>
            <a:endParaRPr lang="en-US" sz="1050" dirty="0"/>
          </a:p>
        </p:txBody>
      </p:sp>
      <p:sp>
        <p:nvSpPr>
          <p:cNvPr id="28" name="Text 25"/>
          <p:cNvSpPr/>
          <p:nvPr/>
        </p:nvSpPr>
        <p:spPr>
          <a:xfrm>
            <a:off x="877824" y="4288536"/>
            <a:ext cx="1481328" cy="237744"/>
          </a:xfrm>
          <a:prstGeom prst="rect">
            <a:avLst/>
          </a:prstGeom>
          <a:noFill/>
          <a:ln/>
        </p:spPr>
        <p:txBody>
          <a:bodyPr wrap="square" lIns="0" tIns="0" rIns="0" bIns="0" rtlCol="0" anchor="ctr"/>
          <a:lstStyle/>
          <a:p>
            <a:pPr indent="0" marL="0">
              <a:buNone/>
            </a:pPr>
            <a:r>
              <a:rPr lang="en-US" sz="1000" b="1" dirty="0">
                <a:solidFill>
                  <a:srgbClr val="1A1A1A"/>
                </a:solidFill>
                <a:latin typeface="Yu Gothic" pitchFamily="34" charset="0"/>
                <a:ea typeface="Yu Gothic" pitchFamily="34" charset="-122"/>
                <a:cs typeface="Yu Gothic" pitchFamily="34" charset="-120"/>
              </a:rPr>
              <a:t>森ビル様</a:t>
            </a:r>
            <a:endParaRPr lang="en-US" sz="1000" dirty="0"/>
          </a:p>
        </p:txBody>
      </p:sp>
      <p:sp>
        <p:nvSpPr>
          <p:cNvPr id="29" name="Text 26"/>
          <p:cNvSpPr/>
          <p:nvPr/>
        </p:nvSpPr>
        <p:spPr>
          <a:xfrm>
            <a:off x="2395728" y="4288536"/>
            <a:ext cx="4133088" cy="402336"/>
          </a:xfrm>
          <a:prstGeom prst="rect">
            <a:avLst/>
          </a:prstGeom>
          <a:noFill/>
          <a:ln/>
        </p:spPr>
        <p:txBody>
          <a:bodyPr wrap="square" lIns="0" tIns="0" rIns="0" bIns="0" rtlCol="0" anchor="ctr"/>
          <a:lstStyle/>
          <a:p>
            <a:pPr indent="0" marL="0">
              <a:lnSpc>
                <a:spcPts val="1350"/>
              </a:lnSpc>
              <a:buNone/>
            </a:pPr>
            <a:r>
              <a:rPr lang="en-US" sz="980" dirty="0">
                <a:solidFill>
                  <a:srgbClr val="6E7378"/>
                </a:solidFill>
                <a:latin typeface="Yu Gothic" pitchFamily="34" charset="0"/>
                <a:ea typeface="Yu Gothic" pitchFamily="34" charset="-122"/>
                <a:cs typeface="Yu Gothic" pitchFamily="34" charset="-120"/>
              </a:rPr>
              <a:t>区画から利用料収入が立ち、開設費の回収見通しが持てる。</a:t>
            </a:r>
            <a:endParaRPr lang="en-US" sz="980" dirty="0"/>
          </a:p>
        </p:txBody>
      </p:sp>
      <p:sp>
        <p:nvSpPr>
          <p:cNvPr id="30" name="Text 27"/>
          <p:cNvSpPr/>
          <p:nvPr/>
        </p:nvSpPr>
        <p:spPr>
          <a:xfrm>
            <a:off x="566928" y="4773168"/>
            <a:ext cx="274320" cy="237744"/>
          </a:xfrm>
          <a:prstGeom prst="rect">
            <a:avLst/>
          </a:prstGeom>
          <a:noFill/>
          <a:ln/>
        </p:spPr>
        <p:txBody>
          <a:bodyPr wrap="square" lIns="0" tIns="0" rIns="0" bIns="0" rtlCol="0" anchor="ctr"/>
          <a:lstStyle/>
          <a:p>
            <a:pPr indent="0" marL="0">
              <a:buNone/>
            </a:pPr>
            <a:r>
              <a:rPr lang="en-US" sz="1050" b="1" dirty="0">
                <a:solidFill>
                  <a:srgbClr val="C68A65"/>
                </a:solidFill>
                <a:latin typeface="Calibri" pitchFamily="34" charset="0"/>
                <a:ea typeface="Calibri" pitchFamily="34" charset="-122"/>
                <a:cs typeface="Calibri" pitchFamily="34" charset="-120"/>
              </a:rPr>
              <a:t>5</a:t>
            </a:r>
            <a:endParaRPr lang="en-US" sz="1050" dirty="0"/>
          </a:p>
        </p:txBody>
      </p:sp>
      <p:sp>
        <p:nvSpPr>
          <p:cNvPr id="31" name="Text 28"/>
          <p:cNvSpPr/>
          <p:nvPr/>
        </p:nvSpPr>
        <p:spPr>
          <a:xfrm>
            <a:off x="877824" y="4773168"/>
            <a:ext cx="1481328" cy="237744"/>
          </a:xfrm>
          <a:prstGeom prst="rect">
            <a:avLst/>
          </a:prstGeom>
          <a:noFill/>
          <a:ln/>
        </p:spPr>
        <p:txBody>
          <a:bodyPr wrap="square" lIns="0" tIns="0" rIns="0" bIns="0" rtlCol="0" anchor="ctr"/>
          <a:lstStyle/>
          <a:p>
            <a:pPr indent="0" marL="0">
              <a:buNone/>
            </a:pPr>
            <a:r>
              <a:rPr lang="en-US" sz="1000" b="1" dirty="0">
                <a:solidFill>
                  <a:srgbClr val="1A1A1A"/>
                </a:solidFill>
                <a:latin typeface="Yu Gothic" pitchFamily="34" charset="0"/>
                <a:ea typeface="Yu Gothic" pitchFamily="34" charset="-122"/>
                <a:cs typeface="Yu Gothic" pitchFamily="34" charset="-120"/>
              </a:rPr>
              <a:t>当社</a:t>
            </a:r>
            <a:endParaRPr lang="en-US" sz="1000" dirty="0"/>
          </a:p>
        </p:txBody>
      </p:sp>
      <p:sp>
        <p:nvSpPr>
          <p:cNvPr id="32" name="Text 29"/>
          <p:cNvSpPr/>
          <p:nvPr/>
        </p:nvSpPr>
        <p:spPr>
          <a:xfrm>
            <a:off x="2395728" y="4773168"/>
            <a:ext cx="4133088" cy="402336"/>
          </a:xfrm>
          <a:prstGeom prst="rect">
            <a:avLst/>
          </a:prstGeom>
          <a:noFill/>
          <a:ln/>
        </p:spPr>
        <p:txBody>
          <a:bodyPr wrap="square" lIns="0" tIns="0" rIns="0" bIns="0" rtlCol="0" anchor="ctr"/>
          <a:lstStyle/>
          <a:p>
            <a:pPr indent="0" marL="0">
              <a:lnSpc>
                <a:spcPts val="1350"/>
              </a:lnSpc>
              <a:buNone/>
            </a:pPr>
            <a:r>
              <a:rPr lang="en-US" sz="980" dirty="0">
                <a:solidFill>
                  <a:srgbClr val="6E7378"/>
                </a:solidFill>
                <a:latin typeface="Yu Gothic" pitchFamily="34" charset="0"/>
                <a:ea typeface="Yu Gothic" pitchFamily="34" charset="-122"/>
                <a:cs typeface="Yu Gothic" pitchFamily="34" charset="-120"/>
              </a:rPr>
              <a:t>在庫と配送スタッフを常駐させ、館内へ即日で届ける。</a:t>
            </a:r>
            <a:endParaRPr lang="en-US" sz="980" dirty="0"/>
          </a:p>
        </p:txBody>
      </p:sp>
      <p:sp>
        <p:nvSpPr>
          <p:cNvPr id="33" name="Text 30"/>
          <p:cNvSpPr/>
          <p:nvPr/>
        </p:nvSpPr>
        <p:spPr>
          <a:xfrm>
            <a:off x="566928" y="5257800"/>
            <a:ext cx="274320" cy="237744"/>
          </a:xfrm>
          <a:prstGeom prst="rect">
            <a:avLst/>
          </a:prstGeom>
          <a:noFill/>
          <a:ln/>
        </p:spPr>
        <p:txBody>
          <a:bodyPr wrap="square" lIns="0" tIns="0" rIns="0" bIns="0" rtlCol="0" anchor="ctr"/>
          <a:lstStyle/>
          <a:p>
            <a:pPr indent="0" marL="0">
              <a:buNone/>
            </a:pPr>
            <a:r>
              <a:rPr lang="en-US" sz="1050" b="1" dirty="0">
                <a:solidFill>
                  <a:srgbClr val="C68A65"/>
                </a:solidFill>
                <a:latin typeface="Calibri" pitchFamily="34" charset="0"/>
                <a:ea typeface="Calibri" pitchFamily="34" charset="-122"/>
                <a:cs typeface="Calibri" pitchFamily="34" charset="-120"/>
              </a:rPr>
              <a:t>6</a:t>
            </a:r>
            <a:endParaRPr lang="en-US" sz="1050" dirty="0"/>
          </a:p>
        </p:txBody>
      </p:sp>
      <p:sp>
        <p:nvSpPr>
          <p:cNvPr id="34" name="Text 31"/>
          <p:cNvSpPr/>
          <p:nvPr/>
        </p:nvSpPr>
        <p:spPr>
          <a:xfrm>
            <a:off x="877824" y="5257800"/>
            <a:ext cx="1481328" cy="237744"/>
          </a:xfrm>
          <a:prstGeom prst="rect">
            <a:avLst/>
          </a:prstGeom>
          <a:noFill/>
          <a:ln/>
        </p:spPr>
        <p:txBody>
          <a:bodyPr wrap="square" lIns="0" tIns="0" rIns="0" bIns="0" rtlCol="0" anchor="ctr"/>
          <a:lstStyle/>
          <a:p>
            <a:pPr indent="0" marL="0">
              <a:buNone/>
            </a:pPr>
            <a:r>
              <a:rPr lang="en-US" sz="1000" b="1" dirty="0">
                <a:solidFill>
                  <a:srgbClr val="1A1A1A"/>
                </a:solidFill>
                <a:latin typeface="Yu Gothic" pitchFamily="34" charset="0"/>
                <a:ea typeface="Yu Gothic" pitchFamily="34" charset="-122"/>
                <a:cs typeface="Yu Gothic" pitchFamily="34" charset="-120"/>
              </a:rPr>
              <a:t>飲食店</a:t>
            </a:r>
            <a:endParaRPr lang="en-US" sz="1000" dirty="0"/>
          </a:p>
        </p:txBody>
      </p:sp>
      <p:sp>
        <p:nvSpPr>
          <p:cNvPr id="35" name="Text 32"/>
          <p:cNvSpPr/>
          <p:nvPr/>
        </p:nvSpPr>
        <p:spPr>
          <a:xfrm>
            <a:off x="2395728" y="5257800"/>
            <a:ext cx="4133088" cy="402336"/>
          </a:xfrm>
          <a:prstGeom prst="rect">
            <a:avLst/>
          </a:prstGeom>
          <a:noFill/>
          <a:ln/>
        </p:spPr>
        <p:txBody>
          <a:bodyPr wrap="square" lIns="0" tIns="0" rIns="0" bIns="0" rtlCol="0" anchor="ctr"/>
          <a:lstStyle/>
          <a:p>
            <a:pPr indent="0" marL="0">
              <a:lnSpc>
                <a:spcPts val="1350"/>
              </a:lnSpc>
              <a:buNone/>
            </a:pPr>
            <a:r>
              <a:rPr lang="en-US" sz="980" dirty="0">
                <a:solidFill>
                  <a:srgbClr val="6E7378"/>
                </a:solidFill>
                <a:latin typeface="Yu Gothic" pitchFamily="34" charset="0"/>
                <a:ea typeface="Yu Gothic" pitchFamily="34" charset="-122"/>
                <a:cs typeface="Yu Gothic" pitchFamily="34" charset="-120"/>
              </a:rPr>
              <a:t>在庫を持たないまま品揃えが厚くなり、客単価が上がる。</a:t>
            </a:r>
            <a:endParaRPr lang="en-US" sz="980" dirty="0"/>
          </a:p>
        </p:txBody>
      </p:sp>
      <p:sp>
        <p:nvSpPr>
          <p:cNvPr id="36" name="Shape 33"/>
          <p:cNvSpPr/>
          <p:nvPr/>
        </p:nvSpPr>
        <p:spPr>
          <a:xfrm>
            <a:off x="6876288" y="2487168"/>
            <a:ext cx="4748479" cy="2084832"/>
          </a:xfrm>
          <a:prstGeom prst="roundRect">
            <a:avLst>
              <a:gd name="adj" fmla="val 2193"/>
            </a:avLst>
          </a:prstGeom>
          <a:solidFill>
            <a:srgbClr val="F6F6F6"/>
          </a:solidFill>
          <a:ln w="12700">
            <a:solidFill>
              <a:srgbClr val="333333"/>
            </a:solidFill>
            <a:prstDash val="solid"/>
          </a:ln>
        </p:spPr>
      </p:sp>
      <p:sp>
        <p:nvSpPr>
          <p:cNvPr id="37" name="Text 34"/>
          <p:cNvSpPr/>
          <p:nvPr/>
        </p:nvSpPr>
        <p:spPr>
          <a:xfrm>
            <a:off x="7150608" y="2615184"/>
            <a:ext cx="4199839" cy="256032"/>
          </a:xfrm>
          <a:prstGeom prst="rect">
            <a:avLst/>
          </a:prstGeom>
          <a:noFill/>
          <a:ln/>
        </p:spPr>
        <p:txBody>
          <a:bodyPr wrap="square" lIns="0" tIns="0" rIns="0" bIns="0" rtlCol="0" anchor="ctr"/>
          <a:lstStyle/>
          <a:p>
            <a:pPr indent="0" marL="0">
              <a:buNone/>
            </a:pPr>
            <a:r>
              <a:rPr lang="en-US" sz="1300" b="1" dirty="0">
                <a:solidFill>
                  <a:srgbClr val="1A1A1A"/>
                </a:solidFill>
                <a:latin typeface="Yu Gothic" pitchFamily="34" charset="0"/>
                <a:ea typeface="Yu Gothic" pitchFamily="34" charset="-122"/>
                <a:cs typeface="Yu Gothic" pitchFamily="34" charset="-120"/>
              </a:rPr>
              <a:t>負担の切り分け</a:t>
            </a:r>
            <a:endParaRPr lang="en-US" sz="1300" dirty="0"/>
          </a:p>
        </p:txBody>
      </p:sp>
      <p:sp>
        <p:nvSpPr>
          <p:cNvPr id="38" name="Text 35"/>
          <p:cNvSpPr/>
          <p:nvPr/>
        </p:nvSpPr>
        <p:spPr>
          <a:xfrm>
            <a:off x="7150608" y="2944368"/>
            <a:ext cx="2926080" cy="256032"/>
          </a:xfrm>
          <a:prstGeom prst="rect">
            <a:avLst/>
          </a:prstGeom>
          <a:noFill/>
          <a:ln/>
        </p:spPr>
        <p:txBody>
          <a:bodyPr wrap="square" lIns="0" tIns="0" rIns="0" bIns="0" rtlCol="0" anchor="ctr"/>
          <a:lstStyle/>
          <a:p>
            <a:pPr indent="0" marL="0">
              <a:buNone/>
            </a:pPr>
            <a:r>
              <a:rPr lang="en-US" sz="980" dirty="0">
                <a:solidFill>
                  <a:srgbClr val="1A1A1A"/>
                </a:solidFill>
                <a:latin typeface="Yu Gothic" pitchFamily="34" charset="0"/>
                <a:ea typeface="Yu Gothic" pitchFamily="34" charset="-122"/>
                <a:cs typeface="Yu Gothic" pitchFamily="34" charset="-120"/>
              </a:rPr>
              <a:t>場所（15〜30坪）</a:t>
            </a:r>
            <a:endParaRPr lang="en-US" sz="980" dirty="0"/>
          </a:p>
        </p:txBody>
      </p:sp>
      <p:sp>
        <p:nvSpPr>
          <p:cNvPr id="39" name="Text 36"/>
          <p:cNvSpPr/>
          <p:nvPr/>
        </p:nvSpPr>
        <p:spPr>
          <a:xfrm>
            <a:off x="10131552" y="2944368"/>
            <a:ext cx="1188720" cy="256032"/>
          </a:xfrm>
          <a:prstGeom prst="rect">
            <a:avLst/>
          </a:prstGeom>
          <a:noFill/>
          <a:ln/>
        </p:spPr>
        <p:txBody>
          <a:bodyPr wrap="square" lIns="0" tIns="0" rIns="0" bIns="0" rtlCol="0" anchor="ctr"/>
          <a:lstStyle/>
          <a:p>
            <a:pPr indent="0" marL="0">
              <a:buNone/>
            </a:pPr>
            <a:r>
              <a:rPr lang="en-US" sz="980" b="1" dirty="0">
                <a:solidFill>
                  <a:srgbClr val="A06D4C"/>
                </a:solidFill>
                <a:latin typeface="Yu Gothic" pitchFamily="34" charset="0"/>
                <a:ea typeface="Yu Gothic" pitchFamily="34" charset="-122"/>
                <a:cs typeface="Yu Gothic" pitchFamily="34" charset="-120"/>
              </a:rPr>
              <a:t>森ビル様</a:t>
            </a:r>
            <a:endParaRPr lang="en-US" sz="980" dirty="0"/>
          </a:p>
        </p:txBody>
      </p:sp>
      <p:sp>
        <p:nvSpPr>
          <p:cNvPr id="40" name="Shape 37"/>
          <p:cNvSpPr/>
          <p:nvPr/>
        </p:nvSpPr>
        <p:spPr>
          <a:xfrm>
            <a:off x="7150608" y="3227832"/>
            <a:ext cx="4199839" cy="0"/>
          </a:xfrm>
          <a:prstGeom prst="line">
            <a:avLst/>
          </a:prstGeom>
          <a:noFill/>
          <a:ln w="12700">
            <a:solidFill>
              <a:srgbClr val="E4E6E8"/>
            </a:solidFill>
            <a:prstDash val="solid"/>
          </a:ln>
        </p:spPr>
      </p:sp>
      <p:sp>
        <p:nvSpPr>
          <p:cNvPr id="41" name="Text 38"/>
          <p:cNvSpPr/>
          <p:nvPr/>
        </p:nvSpPr>
        <p:spPr>
          <a:xfrm>
            <a:off x="7150608" y="3255264"/>
            <a:ext cx="2926080" cy="256032"/>
          </a:xfrm>
          <a:prstGeom prst="rect">
            <a:avLst/>
          </a:prstGeom>
          <a:noFill/>
          <a:ln/>
        </p:spPr>
        <p:txBody>
          <a:bodyPr wrap="square" lIns="0" tIns="0" rIns="0" bIns="0" rtlCol="0" anchor="ctr"/>
          <a:lstStyle/>
          <a:p>
            <a:pPr indent="0" marL="0">
              <a:buNone/>
            </a:pPr>
            <a:r>
              <a:rPr lang="en-US" sz="980" dirty="0">
                <a:solidFill>
                  <a:srgbClr val="1A1A1A"/>
                </a:solidFill>
                <a:latin typeface="Yu Gothic" pitchFamily="34" charset="0"/>
                <a:ea typeface="Yu Gothic" pitchFamily="34" charset="-122"/>
                <a:cs typeface="Yu Gothic" pitchFamily="34" charset="-120"/>
              </a:rPr>
              <a:t>定温設備・什器</a:t>
            </a:r>
            <a:endParaRPr lang="en-US" sz="980" dirty="0"/>
          </a:p>
        </p:txBody>
      </p:sp>
      <p:sp>
        <p:nvSpPr>
          <p:cNvPr id="42" name="Text 39"/>
          <p:cNvSpPr/>
          <p:nvPr/>
        </p:nvSpPr>
        <p:spPr>
          <a:xfrm>
            <a:off x="10131552" y="3255264"/>
            <a:ext cx="1188720" cy="256032"/>
          </a:xfrm>
          <a:prstGeom prst="rect">
            <a:avLst/>
          </a:prstGeom>
          <a:noFill/>
          <a:ln/>
        </p:spPr>
        <p:txBody>
          <a:bodyPr wrap="square" lIns="0" tIns="0" rIns="0" bIns="0" rtlCol="0" anchor="ctr"/>
          <a:lstStyle/>
          <a:p>
            <a:pPr indent="0" marL="0">
              <a:buNone/>
            </a:pPr>
            <a:r>
              <a:rPr lang="en-US" sz="980" b="1" dirty="0">
                <a:solidFill>
                  <a:srgbClr val="6E7378"/>
                </a:solidFill>
                <a:latin typeface="Yu Gothic" pitchFamily="34" charset="0"/>
                <a:ea typeface="Yu Gothic" pitchFamily="34" charset="-122"/>
                <a:cs typeface="Yu Gothic" pitchFamily="34" charset="-120"/>
              </a:rPr>
              <a:t>当社</a:t>
            </a:r>
            <a:endParaRPr lang="en-US" sz="980" dirty="0"/>
          </a:p>
        </p:txBody>
      </p:sp>
      <p:sp>
        <p:nvSpPr>
          <p:cNvPr id="43" name="Shape 40"/>
          <p:cNvSpPr/>
          <p:nvPr/>
        </p:nvSpPr>
        <p:spPr>
          <a:xfrm>
            <a:off x="7150608" y="3538728"/>
            <a:ext cx="4199839" cy="0"/>
          </a:xfrm>
          <a:prstGeom prst="line">
            <a:avLst/>
          </a:prstGeom>
          <a:noFill/>
          <a:ln w="12700">
            <a:solidFill>
              <a:srgbClr val="E4E6E8"/>
            </a:solidFill>
            <a:prstDash val="solid"/>
          </a:ln>
        </p:spPr>
      </p:sp>
      <p:sp>
        <p:nvSpPr>
          <p:cNvPr id="44" name="Text 41"/>
          <p:cNvSpPr/>
          <p:nvPr/>
        </p:nvSpPr>
        <p:spPr>
          <a:xfrm>
            <a:off x="7150608" y="3566160"/>
            <a:ext cx="2926080" cy="256032"/>
          </a:xfrm>
          <a:prstGeom prst="rect">
            <a:avLst/>
          </a:prstGeom>
          <a:noFill/>
          <a:ln/>
        </p:spPr>
        <p:txBody>
          <a:bodyPr wrap="square" lIns="0" tIns="0" rIns="0" bIns="0" rtlCol="0" anchor="ctr"/>
          <a:lstStyle/>
          <a:p>
            <a:pPr indent="0" marL="0">
              <a:buNone/>
            </a:pPr>
            <a:r>
              <a:rPr lang="en-US" sz="980" dirty="0">
                <a:solidFill>
                  <a:srgbClr val="1A1A1A"/>
                </a:solidFill>
                <a:latin typeface="Yu Gothic" pitchFamily="34" charset="0"/>
                <a:ea typeface="Yu Gothic" pitchFamily="34" charset="-122"/>
                <a:cs typeface="Yu Gothic" pitchFamily="34" charset="-120"/>
              </a:rPr>
              <a:t>ワイン在庫（数千〜1万本）</a:t>
            </a:r>
            <a:endParaRPr lang="en-US" sz="980" dirty="0"/>
          </a:p>
        </p:txBody>
      </p:sp>
      <p:sp>
        <p:nvSpPr>
          <p:cNvPr id="45" name="Text 42"/>
          <p:cNvSpPr/>
          <p:nvPr/>
        </p:nvSpPr>
        <p:spPr>
          <a:xfrm>
            <a:off x="10131552" y="3566160"/>
            <a:ext cx="1188720" cy="256032"/>
          </a:xfrm>
          <a:prstGeom prst="rect">
            <a:avLst/>
          </a:prstGeom>
          <a:noFill/>
          <a:ln/>
        </p:spPr>
        <p:txBody>
          <a:bodyPr wrap="square" lIns="0" tIns="0" rIns="0" bIns="0" rtlCol="0" anchor="ctr"/>
          <a:lstStyle/>
          <a:p>
            <a:pPr indent="0" marL="0">
              <a:buNone/>
            </a:pPr>
            <a:r>
              <a:rPr lang="en-US" sz="980" b="1" dirty="0">
                <a:solidFill>
                  <a:srgbClr val="6E7378"/>
                </a:solidFill>
                <a:latin typeface="Yu Gothic" pitchFamily="34" charset="0"/>
                <a:ea typeface="Yu Gothic" pitchFamily="34" charset="-122"/>
                <a:cs typeface="Yu Gothic" pitchFamily="34" charset="-120"/>
              </a:rPr>
              <a:t>当社</a:t>
            </a:r>
            <a:endParaRPr lang="en-US" sz="980" dirty="0"/>
          </a:p>
        </p:txBody>
      </p:sp>
      <p:sp>
        <p:nvSpPr>
          <p:cNvPr id="46" name="Shape 43"/>
          <p:cNvSpPr/>
          <p:nvPr/>
        </p:nvSpPr>
        <p:spPr>
          <a:xfrm>
            <a:off x="7150608" y="3849624"/>
            <a:ext cx="4199839" cy="0"/>
          </a:xfrm>
          <a:prstGeom prst="line">
            <a:avLst/>
          </a:prstGeom>
          <a:noFill/>
          <a:ln w="12700">
            <a:solidFill>
              <a:srgbClr val="E4E6E8"/>
            </a:solidFill>
            <a:prstDash val="solid"/>
          </a:ln>
        </p:spPr>
      </p:sp>
      <p:sp>
        <p:nvSpPr>
          <p:cNvPr id="47" name="Text 44"/>
          <p:cNvSpPr/>
          <p:nvPr/>
        </p:nvSpPr>
        <p:spPr>
          <a:xfrm>
            <a:off x="7150608" y="3877056"/>
            <a:ext cx="2926080" cy="256032"/>
          </a:xfrm>
          <a:prstGeom prst="rect">
            <a:avLst/>
          </a:prstGeom>
          <a:noFill/>
          <a:ln/>
        </p:spPr>
        <p:txBody>
          <a:bodyPr wrap="square" lIns="0" tIns="0" rIns="0" bIns="0" rtlCol="0" anchor="ctr"/>
          <a:lstStyle/>
          <a:p>
            <a:pPr indent="0" marL="0">
              <a:buNone/>
            </a:pPr>
            <a:r>
              <a:rPr lang="en-US" sz="980" dirty="0">
                <a:solidFill>
                  <a:srgbClr val="1A1A1A"/>
                </a:solidFill>
                <a:latin typeface="Yu Gothic" pitchFamily="34" charset="0"/>
                <a:ea typeface="Yu Gothic" pitchFamily="34" charset="-122"/>
                <a:cs typeface="Yu Gothic" pitchFamily="34" charset="-120"/>
              </a:rPr>
              <a:t>常駐スタッフ・配送</a:t>
            </a:r>
            <a:endParaRPr lang="en-US" sz="980" dirty="0"/>
          </a:p>
        </p:txBody>
      </p:sp>
      <p:sp>
        <p:nvSpPr>
          <p:cNvPr id="48" name="Text 45"/>
          <p:cNvSpPr/>
          <p:nvPr/>
        </p:nvSpPr>
        <p:spPr>
          <a:xfrm>
            <a:off x="10131552" y="3877056"/>
            <a:ext cx="1188720" cy="256032"/>
          </a:xfrm>
          <a:prstGeom prst="rect">
            <a:avLst/>
          </a:prstGeom>
          <a:noFill/>
          <a:ln/>
        </p:spPr>
        <p:txBody>
          <a:bodyPr wrap="square" lIns="0" tIns="0" rIns="0" bIns="0" rtlCol="0" anchor="ctr"/>
          <a:lstStyle/>
          <a:p>
            <a:pPr indent="0" marL="0">
              <a:buNone/>
            </a:pPr>
            <a:r>
              <a:rPr lang="en-US" sz="980" b="1" dirty="0">
                <a:solidFill>
                  <a:srgbClr val="6E7378"/>
                </a:solidFill>
                <a:latin typeface="Yu Gothic" pitchFamily="34" charset="0"/>
                <a:ea typeface="Yu Gothic" pitchFamily="34" charset="-122"/>
                <a:cs typeface="Yu Gothic" pitchFamily="34" charset="-120"/>
              </a:rPr>
              <a:t>当社</a:t>
            </a:r>
            <a:endParaRPr lang="en-US" sz="980" dirty="0"/>
          </a:p>
        </p:txBody>
      </p:sp>
      <p:sp>
        <p:nvSpPr>
          <p:cNvPr id="49" name="Shape 46"/>
          <p:cNvSpPr/>
          <p:nvPr/>
        </p:nvSpPr>
        <p:spPr>
          <a:xfrm>
            <a:off x="7150608" y="4160520"/>
            <a:ext cx="4199839" cy="0"/>
          </a:xfrm>
          <a:prstGeom prst="line">
            <a:avLst/>
          </a:prstGeom>
          <a:noFill/>
          <a:ln w="12700">
            <a:solidFill>
              <a:srgbClr val="E4E6E8"/>
            </a:solidFill>
            <a:prstDash val="solid"/>
          </a:ln>
        </p:spPr>
      </p:sp>
      <p:sp>
        <p:nvSpPr>
          <p:cNvPr id="50" name="Text 47"/>
          <p:cNvSpPr/>
          <p:nvPr/>
        </p:nvSpPr>
        <p:spPr>
          <a:xfrm>
            <a:off x="7150608" y="4187952"/>
            <a:ext cx="2926080" cy="256032"/>
          </a:xfrm>
          <a:prstGeom prst="rect">
            <a:avLst/>
          </a:prstGeom>
          <a:noFill/>
          <a:ln/>
        </p:spPr>
        <p:txBody>
          <a:bodyPr wrap="square" lIns="0" tIns="0" rIns="0" bIns="0" rtlCol="0" anchor="ctr"/>
          <a:lstStyle/>
          <a:p>
            <a:pPr indent="0" marL="0">
              <a:buNone/>
            </a:pPr>
            <a:r>
              <a:rPr lang="en-US" sz="980" dirty="0">
                <a:solidFill>
                  <a:srgbClr val="1A1A1A"/>
                </a:solidFill>
                <a:latin typeface="Yu Gothic" pitchFamily="34" charset="0"/>
                <a:ea typeface="Yu Gothic" pitchFamily="34" charset="-122"/>
                <a:cs typeface="Yu Gothic" pitchFamily="34" charset="-120"/>
              </a:rPr>
              <a:t>在庫リスク・劣化・破損</a:t>
            </a:r>
            <a:endParaRPr lang="en-US" sz="980" dirty="0"/>
          </a:p>
        </p:txBody>
      </p:sp>
      <p:sp>
        <p:nvSpPr>
          <p:cNvPr id="51" name="Text 48"/>
          <p:cNvSpPr/>
          <p:nvPr/>
        </p:nvSpPr>
        <p:spPr>
          <a:xfrm>
            <a:off x="10131552" y="4187952"/>
            <a:ext cx="1188720" cy="256032"/>
          </a:xfrm>
          <a:prstGeom prst="rect">
            <a:avLst/>
          </a:prstGeom>
          <a:noFill/>
          <a:ln/>
        </p:spPr>
        <p:txBody>
          <a:bodyPr wrap="square" lIns="0" tIns="0" rIns="0" bIns="0" rtlCol="0" anchor="ctr"/>
          <a:lstStyle/>
          <a:p>
            <a:pPr indent="0" marL="0">
              <a:buNone/>
            </a:pPr>
            <a:r>
              <a:rPr lang="en-US" sz="980" b="1" dirty="0">
                <a:solidFill>
                  <a:srgbClr val="6E7378"/>
                </a:solidFill>
                <a:latin typeface="Yu Gothic" pitchFamily="34" charset="0"/>
                <a:ea typeface="Yu Gothic" pitchFamily="34" charset="-122"/>
                <a:cs typeface="Yu Gothic" pitchFamily="34" charset="-120"/>
              </a:rPr>
              <a:t>当社</a:t>
            </a:r>
            <a:endParaRPr lang="en-US" sz="980" dirty="0"/>
          </a:p>
        </p:txBody>
      </p:sp>
      <p:sp>
        <p:nvSpPr>
          <p:cNvPr id="52" name="Shape 49"/>
          <p:cNvSpPr/>
          <p:nvPr/>
        </p:nvSpPr>
        <p:spPr>
          <a:xfrm>
            <a:off x="6876288" y="4736592"/>
            <a:ext cx="4748479" cy="1389888"/>
          </a:xfrm>
          <a:prstGeom prst="roundRect">
            <a:avLst>
              <a:gd name="adj" fmla="val 3289"/>
            </a:avLst>
          </a:prstGeom>
          <a:solidFill>
            <a:srgbClr val="2F3941"/>
          </a:solidFill>
          <a:ln w="12700">
            <a:solidFill>
              <a:srgbClr val="333333"/>
            </a:solidFill>
            <a:prstDash val="solid"/>
          </a:ln>
        </p:spPr>
      </p:sp>
      <p:sp>
        <p:nvSpPr>
          <p:cNvPr id="53" name="Text 50"/>
          <p:cNvSpPr/>
          <p:nvPr/>
        </p:nvSpPr>
        <p:spPr>
          <a:xfrm>
            <a:off x="7150608" y="4864608"/>
            <a:ext cx="4199839" cy="256032"/>
          </a:xfrm>
          <a:prstGeom prst="rect">
            <a:avLst/>
          </a:prstGeom>
          <a:noFill/>
          <a:ln/>
        </p:spPr>
        <p:txBody>
          <a:bodyPr wrap="square" lIns="0" tIns="0" rIns="0" bIns="0" rtlCol="0" anchor="ctr"/>
          <a:lstStyle/>
          <a:p>
            <a:pPr indent="0" marL="0">
              <a:buNone/>
            </a:pPr>
            <a:r>
              <a:rPr lang="en-US" sz="1250" b="1" dirty="0">
                <a:solidFill>
                  <a:srgbClr val="EFDCCE"/>
                </a:solidFill>
                <a:latin typeface="Yu Gothic" pitchFamily="34" charset="0"/>
                <a:ea typeface="Yu Gothic" pitchFamily="34" charset="-122"/>
                <a:cs typeface="Yu Gothic" pitchFamily="34" charset="-120"/>
              </a:rPr>
              <a:t>テナント利用が想定に届かない場合</a:t>
            </a:r>
            <a:endParaRPr lang="en-US" sz="1250" dirty="0"/>
          </a:p>
        </p:txBody>
      </p:sp>
      <p:sp>
        <p:nvSpPr>
          <p:cNvPr id="54" name="Text 51"/>
          <p:cNvSpPr/>
          <p:nvPr/>
        </p:nvSpPr>
        <p:spPr>
          <a:xfrm>
            <a:off x="7150608" y="5138928"/>
            <a:ext cx="4199839" cy="859536"/>
          </a:xfrm>
          <a:prstGeom prst="rect">
            <a:avLst/>
          </a:prstGeom>
          <a:noFill/>
          <a:ln/>
        </p:spPr>
        <p:txBody>
          <a:bodyPr wrap="square" lIns="0" tIns="0" rIns="0" bIns="0" rtlCol="0" anchor="ctr"/>
          <a:lstStyle/>
          <a:p>
            <a:pPr indent="0" marL="0">
              <a:lnSpc>
                <a:spcPts val="1400"/>
              </a:lnSpc>
              <a:buNone/>
            </a:pPr>
            <a:r>
              <a:rPr lang="en-US" sz="980" dirty="0">
                <a:solidFill>
                  <a:srgbClr val="DDE1E4"/>
                </a:solidFill>
                <a:latin typeface="Yu Gothic" pitchFamily="34" charset="0"/>
                <a:ea typeface="Yu Gothic" pitchFamily="34" charset="-122"/>
                <a:cs typeface="Yu Gothic" pitchFamily="34" charset="-120"/>
              </a:rPr>
              <a:t>当社が全量を活用します。レジデンス居住者向けの供給、館外への配送、EC出荷に転用できるため、稼働率のリスクは当社が引き取る形でご相談させてください。</a:t>
            </a:r>
            <a:endParaRPr lang="en-US" sz="980" dirty="0"/>
          </a:p>
        </p:txBody>
      </p:sp>
      <p:sp>
        <p:nvSpPr>
          <p:cNvPr id="55" name="Text 52"/>
          <p:cNvSpPr/>
          <p:nvPr/>
        </p:nvSpPr>
        <p:spPr>
          <a:xfrm>
            <a:off x="566928" y="5870448"/>
            <a:ext cx="6035040" cy="402336"/>
          </a:xfrm>
          <a:prstGeom prst="rect">
            <a:avLst/>
          </a:prstGeom>
          <a:noFill/>
          <a:ln/>
        </p:spPr>
        <p:txBody>
          <a:bodyPr wrap="square" lIns="0" tIns="0" rIns="0" bIns="0" rtlCol="0" anchor="ctr"/>
          <a:lstStyle/>
          <a:p>
            <a:pPr indent="0" marL="0">
              <a:lnSpc>
                <a:spcPts val="1200"/>
              </a:lnSpc>
              <a:buNone/>
            </a:pPr>
            <a:r>
              <a:rPr lang="en-US" sz="860" dirty="0">
                <a:solidFill>
                  <a:srgbClr val="A6ABAF"/>
                </a:solidFill>
                <a:latin typeface="Yu Gothic" pitchFamily="34" charset="0"/>
                <a:ea typeface="Yu Gothic" pitchFamily="34" charset="-122"/>
                <a:cs typeface="Yu Gothic" pitchFamily="34" charset="-120"/>
              </a:rPr>
              <a:t>※ セラー面積・席数の数値は一般的な高級飲食店を前提とした当社の目安です。実際の利用料水準・区画条件は個別にご相談させてください。</a:t>
            </a:r>
            <a:endParaRPr lang="en-US" sz="86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381183" y="292608"/>
            <a:ext cx="1243584" cy="247802"/>
          </a:xfrm>
          <a:prstGeom prst="rect">
            <a:avLst/>
          </a:prstGeom>
        </p:spPr>
      </p:pic>
      <p:sp>
        <p:nvSpPr>
          <p:cNvPr id="3" name="Shape 0"/>
          <p:cNvSpPr/>
          <p:nvPr/>
        </p:nvSpPr>
        <p:spPr>
          <a:xfrm>
            <a:off x="566928" y="292608"/>
            <a:ext cx="1280160" cy="237744"/>
          </a:xfrm>
          <a:prstGeom prst="roundRect">
            <a:avLst>
              <a:gd name="adj" fmla="val 11538"/>
            </a:avLst>
          </a:prstGeom>
          <a:solidFill>
            <a:srgbClr val="C68A65"/>
          </a:solidFill>
          <a:ln w="12700">
            <a:solidFill>
              <a:srgbClr val="333333"/>
            </a:solidFill>
            <a:prstDash val="solid"/>
          </a:ln>
        </p:spPr>
      </p:sp>
      <p:sp>
        <p:nvSpPr>
          <p:cNvPr id="4" name="Text 1"/>
          <p:cNvSpPr/>
          <p:nvPr/>
        </p:nvSpPr>
        <p:spPr>
          <a:xfrm>
            <a:off x="566928" y="292608"/>
            <a:ext cx="128016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Yu Gothic" pitchFamily="34" charset="0"/>
                <a:ea typeface="Yu Gothic" pitchFamily="34" charset="-122"/>
                <a:cs typeface="Yu Gothic" pitchFamily="34" charset="-120"/>
              </a:rPr>
              <a:t>WHY WINEBANK</a:t>
            </a:r>
            <a:endParaRPr lang="en-US" sz="850" dirty="0"/>
          </a:p>
        </p:txBody>
      </p:sp>
      <p:sp>
        <p:nvSpPr>
          <p:cNvPr id="5" name="Text 2"/>
          <p:cNvSpPr/>
          <p:nvPr/>
        </p:nvSpPr>
        <p:spPr>
          <a:xfrm>
            <a:off x="566928" y="585216"/>
            <a:ext cx="9509760" cy="420624"/>
          </a:xfrm>
          <a:prstGeom prst="rect">
            <a:avLst/>
          </a:prstGeom>
          <a:noFill/>
          <a:ln/>
        </p:spPr>
        <p:txBody>
          <a:bodyPr wrap="square" lIns="0" tIns="0" rIns="0" bIns="0" rtlCol="0" anchor="ctr"/>
          <a:lstStyle/>
          <a:p>
            <a:pPr indent="0" marL="0">
              <a:buNone/>
            </a:pPr>
            <a:r>
              <a:rPr lang="en-US" sz="2300" b="1" dirty="0">
                <a:solidFill>
                  <a:srgbClr val="1A1A1A"/>
                </a:solidFill>
                <a:latin typeface="Yu Gothic" pitchFamily="34" charset="0"/>
                <a:ea typeface="Yu Gothic" pitchFamily="34" charset="-122"/>
                <a:cs typeface="Yu Gothic" pitchFamily="34" charset="-120"/>
              </a:rPr>
              <a:t>ワインを供給するだけの相手なら、他にもいます</a:t>
            </a:r>
            <a:endParaRPr lang="en-US" sz="2300" dirty="0"/>
          </a:p>
        </p:txBody>
      </p:sp>
      <p:sp>
        <p:nvSpPr>
          <p:cNvPr id="6" name="Text 3"/>
          <p:cNvSpPr/>
          <p:nvPr/>
        </p:nvSpPr>
        <p:spPr>
          <a:xfrm>
            <a:off x="566928" y="1024128"/>
            <a:ext cx="11057839" cy="310896"/>
          </a:xfrm>
          <a:prstGeom prst="rect">
            <a:avLst/>
          </a:prstGeom>
          <a:noFill/>
          <a:ln/>
        </p:spPr>
        <p:txBody>
          <a:bodyPr wrap="square" lIns="0" tIns="0" rIns="0" bIns="0" rtlCol="0" anchor="ctr"/>
          <a:lstStyle/>
          <a:p>
            <a:pPr indent="0" marL="0">
              <a:lnSpc>
                <a:spcPts val="1700"/>
              </a:lnSpc>
              <a:buNone/>
            </a:pPr>
            <a:r>
              <a:rPr lang="en-US" sz="1150" dirty="0">
                <a:solidFill>
                  <a:srgbClr val="6E7378"/>
                </a:solidFill>
                <a:latin typeface="Yu Gothic" pitchFamily="34" charset="0"/>
                <a:ea typeface="Yu Gothic" pitchFamily="34" charset="-122"/>
                <a:cs typeface="Yu Gothic" pitchFamily="34" charset="-120"/>
              </a:rPr>
              <a:t>在庫を並べるだけなら専門小売でも足ります。街区の中で回すには、配送・会員・飲食・保管まで自社で持っている必要があります。</a:t>
            </a:r>
            <a:endParaRPr lang="en-US" sz="1150" dirty="0"/>
          </a:p>
        </p:txBody>
      </p:sp>
      <p:sp>
        <p:nvSpPr>
          <p:cNvPr id="7" name="Shape 4"/>
          <p:cNvSpPr/>
          <p:nvPr/>
        </p:nvSpPr>
        <p:spPr>
          <a:xfrm>
            <a:off x="0" y="6583680"/>
            <a:ext cx="12191695" cy="274320"/>
          </a:xfrm>
          <a:prstGeom prst="rect">
            <a:avLst/>
          </a:prstGeom>
          <a:solidFill>
            <a:srgbClr val="2F3941"/>
          </a:solidFill>
          <a:ln w="12700">
            <a:solidFill>
              <a:srgbClr val="333333"/>
            </a:solidFill>
            <a:prstDash val="solid"/>
          </a:ln>
        </p:spPr>
      </p:sp>
      <p:sp>
        <p:nvSpPr>
          <p:cNvPr id="8" name="Text 5"/>
          <p:cNvSpPr/>
          <p:nvPr/>
        </p:nvSpPr>
        <p:spPr>
          <a:xfrm>
            <a:off x="10893247" y="6272784"/>
            <a:ext cx="731520" cy="256032"/>
          </a:xfrm>
          <a:prstGeom prst="rect">
            <a:avLst/>
          </a:prstGeom>
          <a:noFill/>
          <a:ln/>
        </p:spPr>
        <p:txBody>
          <a:bodyPr wrap="square" lIns="0" tIns="0" rIns="0" bIns="0" rtlCol="0" anchor="ctr"/>
          <a:lstStyle/>
          <a:p>
            <a:pPr algn="r" indent="0" marL="0">
              <a:buNone/>
            </a:pPr>
            <a:r>
              <a:rPr lang="en-US" sz="1000" dirty="0">
                <a:solidFill>
                  <a:srgbClr val="A6ABAF"/>
                </a:solidFill>
                <a:latin typeface="Calibri" pitchFamily="34" charset="0"/>
                <a:ea typeface="Calibri" pitchFamily="34" charset="-122"/>
                <a:cs typeface="Calibri" pitchFamily="34" charset="-120"/>
              </a:rPr>
              <a:t>18</a:t>
            </a:r>
            <a:endParaRPr lang="en-US" sz="1000" dirty="0"/>
          </a:p>
        </p:txBody>
      </p:sp>
      <p:sp>
        <p:nvSpPr>
          <p:cNvPr id="9" name="Text 6"/>
          <p:cNvSpPr/>
          <p:nvPr/>
        </p:nvSpPr>
        <p:spPr>
          <a:xfrm>
            <a:off x="566928" y="6272784"/>
            <a:ext cx="2926080" cy="256032"/>
          </a:xfrm>
          <a:prstGeom prst="rect">
            <a:avLst/>
          </a:prstGeom>
          <a:noFill/>
          <a:ln/>
        </p:spPr>
        <p:txBody>
          <a:bodyPr wrap="square" lIns="0" tIns="0" rIns="0" bIns="0" rtlCol="0" anchor="ctr"/>
          <a:lstStyle/>
          <a:p>
            <a:pPr indent="0" marL="0">
              <a:buNone/>
            </a:pPr>
            <a:r>
              <a:rPr lang="en-US" sz="850" spc="120" kern="0" dirty="0">
                <a:solidFill>
                  <a:srgbClr val="C7CACC"/>
                </a:solidFill>
                <a:latin typeface="Calibri" pitchFamily="34" charset="0"/>
                <a:ea typeface="Calibri" pitchFamily="34" charset="-122"/>
                <a:cs typeface="Calibri" pitchFamily="34" charset="-120"/>
              </a:rPr>
              <a:t>CONFIDENTIAL</a:t>
            </a:r>
            <a:endParaRPr lang="en-US" sz="8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66928" y="1517904"/>
          <a:ext cx="7882128" cy="914400"/>
        </p:xfrm>
        <a:graphic>
          <a:graphicData uri="http://schemas.openxmlformats.org/drawingml/2006/table">
            <a:tbl>
              <a:tblPr/>
              <a:tblGrid>
                <a:gridCol w="2432304"/>
                <a:gridCol w="2377440"/>
                <a:gridCol w="3072384"/>
              </a:tblGrid>
              <a:tr h="420624">
                <a:tc>
                  <a:txBody>
                    <a:bodyPr/>
                    <a:lstStyle/>
                    <a:p>
                      <a:pPr indent="0" marL="0">
                        <a:buNone/>
                      </a:pPr>
                      <a:endParaRPr lang="en-US" sz="98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80" dirty="0">
                          <a:solidFill>
                            <a:srgbClr val="1A1A1A"/>
                          </a:solidFill>
                          <a:latin typeface="Yu Gothic" pitchFamily="34" charset="0"/>
                          <a:ea typeface="Yu Gothic" pitchFamily="34" charset="-122"/>
                          <a:cs typeface="Yu Gothic" pitchFamily="34" charset="-120"/>
                        </a:rPr>
                        <a:t>ワイン専門小売・インポーター</a:t>
                      </a:r>
                      <a:endParaRPr lang="en-US" sz="98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80" dirty="0">
                          <a:solidFill>
                            <a:srgbClr val="1A1A1A"/>
                          </a:solidFill>
                          <a:latin typeface="Yu Gothic" pitchFamily="34" charset="0"/>
                          <a:ea typeface="Yu Gothic" pitchFamily="34" charset="-122"/>
                          <a:cs typeface="Yu Gothic" pitchFamily="34" charset="-120"/>
                        </a:rPr>
                        <a:t>WineBank</a:t>
                      </a:r>
                      <a:endParaRPr lang="en-US" sz="98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r>
              <a:tr h="420624">
                <a:tc>
                  <a:txBody>
                    <a:bodyPr/>
                    <a:lstStyle/>
                    <a:p>
                      <a:pPr indent="0" marL="0">
                        <a:buNone/>
                      </a:pPr>
                      <a:r>
                        <a:rPr lang="en-US" sz="980" dirty="0">
                          <a:solidFill>
                            <a:srgbClr val="1A1A1A"/>
                          </a:solidFill>
                          <a:latin typeface="Yu Gothic" pitchFamily="34" charset="0"/>
                          <a:ea typeface="Yu Gothic" pitchFamily="34" charset="-122"/>
                          <a:cs typeface="Yu Gothic" pitchFamily="34" charset="-120"/>
                        </a:rPr>
                        <a:t>正規品の在庫供給</a:t>
                      </a:r>
                      <a:endParaRPr lang="en-US" sz="98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80" dirty="0">
                          <a:solidFill>
                            <a:srgbClr val="1A1A1A"/>
                          </a:solidFill>
                          <a:latin typeface="Yu Gothic" pitchFamily="34" charset="0"/>
                          <a:ea typeface="Yu Gothic" pitchFamily="34" charset="-122"/>
                          <a:cs typeface="Yu Gothic" pitchFamily="34" charset="-120"/>
                        </a:rPr>
                        <a:t>可能</a:t>
                      </a:r>
                      <a:endParaRPr lang="en-US" sz="98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80" dirty="0">
                          <a:solidFill>
                            <a:srgbClr val="1A1A1A"/>
                          </a:solidFill>
                          <a:latin typeface="Yu Gothic" pitchFamily="34" charset="0"/>
                          <a:ea typeface="Yu Gothic" pitchFamily="34" charset="-122"/>
                          <a:cs typeface="Yu Gothic" pitchFamily="34" charset="-120"/>
                        </a:rPr>
                        <a:t>可能（管理在庫30億円・50万本）</a:t>
                      </a:r>
                      <a:endParaRPr lang="en-US" sz="98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r>
              <a:tr h="420624">
                <a:tc>
                  <a:txBody>
                    <a:bodyPr/>
                    <a:lstStyle/>
                    <a:p>
                      <a:pPr indent="0" marL="0">
                        <a:buNone/>
                      </a:pPr>
                      <a:r>
                        <a:rPr lang="en-US" sz="980" dirty="0">
                          <a:solidFill>
                            <a:srgbClr val="1A1A1A"/>
                          </a:solidFill>
                          <a:latin typeface="Yu Gothic" pitchFamily="34" charset="0"/>
                          <a:ea typeface="Yu Gothic" pitchFamily="34" charset="-122"/>
                          <a:cs typeface="Yu Gothic" pitchFamily="34" charset="-120"/>
                        </a:rPr>
                        <a:t>街区内への即日・即時配送</a:t>
                      </a:r>
                      <a:endParaRPr lang="en-US" sz="98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80" dirty="0">
                          <a:solidFill>
                            <a:srgbClr val="1A1A1A"/>
                          </a:solidFill>
                          <a:latin typeface="Yu Gothic" pitchFamily="34" charset="0"/>
                          <a:ea typeface="Yu Gothic" pitchFamily="34" charset="-122"/>
                          <a:cs typeface="Yu Gothic" pitchFamily="34" charset="-120"/>
                        </a:rPr>
                        <a:t>対応していない</a:t>
                      </a:r>
                      <a:endParaRPr lang="en-US" sz="98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80" dirty="0">
                          <a:solidFill>
                            <a:srgbClr val="1A1A1A"/>
                          </a:solidFill>
                          <a:latin typeface="Yu Gothic" pitchFamily="34" charset="0"/>
                          <a:ea typeface="Yu Gothic" pitchFamily="34" charset="-122"/>
                          <a:cs typeface="Yu Gothic" pitchFamily="34" charset="-120"/>
                        </a:rPr>
                        <a:t>WineGO により自社で実施</a:t>
                      </a:r>
                      <a:endParaRPr lang="en-US" sz="98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r>
              <a:tr h="420624">
                <a:tc>
                  <a:txBody>
                    <a:bodyPr/>
                    <a:lstStyle/>
                    <a:p>
                      <a:pPr indent="0" marL="0">
                        <a:buNone/>
                      </a:pPr>
                      <a:r>
                        <a:rPr lang="en-US" sz="980" dirty="0">
                          <a:solidFill>
                            <a:srgbClr val="1A1A1A"/>
                          </a:solidFill>
                          <a:latin typeface="Yu Gothic" pitchFamily="34" charset="0"/>
                          <a:ea typeface="Yu Gothic" pitchFamily="34" charset="-122"/>
                          <a:cs typeface="Yu Gothic" pitchFamily="34" charset="-120"/>
                        </a:rPr>
                        <a:t>在庫リスクの引受（消化仕入）</a:t>
                      </a:r>
                      <a:endParaRPr lang="en-US" sz="98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80" dirty="0">
                          <a:solidFill>
                            <a:srgbClr val="1A1A1A"/>
                          </a:solidFill>
                          <a:latin typeface="Yu Gothic" pitchFamily="34" charset="0"/>
                          <a:ea typeface="Yu Gothic" pitchFamily="34" charset="-122"/>
                          <a:cs typeface="Yu Gothic" pitchFamily="34" charset="-120"/>
                        </a:rPr>
                        <a:t>限定的</a:t>
                      </a:r>
                      <a:endParaRPr lang="en-US" sz="98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80" dirty="0">
                          <a:solidFill>
                            <a:srgbClr val="1A1A1A"/>
                          </a:solidFill>
                          <a:latin typeface="Yu Gothic" pitchFamily="34" charset="0"/>
                          <a:ea typeface="Yu Gothic" pitchFamily="34" charset="-122"/>
                          <a:cs typeface="Yu Gothic" pitchFamily="34" charset="-120"/>
                        </a:rPr>
                        <a:t>置きワインとして標準で提供</a:t>
                      </a:r>
                      <a:endParaRPr lang="en-US" sz="98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r>
              <a:tr h="420624">
                <a:tc>
                  <a:txBody>
                    <a:bodyPr/>
                    <a:lstStyle/>
                    <a:p>
                      <a:pPr indent="0" marL="0">
                        <a:buNone/>
                      </a:pPr>
                      <a:r>
                        <a:rPr lang="en-US" sz="980" dirty="0">
                          <a:solidFill>
                            <a:srgbClr val="1A1A1A"/>
                          </a:solidFill>
                          <a:latin typeface="Yu Gothic" pitchFamily="34" charset="0"/>
                          <a:ea typeface="Yu Gothic" pitchFamily="34" charset="-122"/>
                          <a:cs typeface="Yu Gothic" pitchFamily="34" charset="-120"/>
                        </a:rPr>
                        <a:t>会員基盤・課金の運用</a:t>
                      </a:r>
                      <a:endParaRPr lang="en-US" sz="98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80" dirty="0">
                          <a:solidFill>
                            <a:srgbClr val="1A1A1A"/>
                          </a:solidFill>
                          <a:latin typeface="Yu Gothic" pitchFamily="34" charset="0"/>
                          <a:ea typeface="Yu Gothic" pitchFamily="34" charset="-122"/>
                          <a:cs typeface="Yu Gothic" pitchFamily="34" charset="-120"/>
                        </a:rPr>
                        <a:t>小売の会員制度まで</a:t>
                      </a:r>
                      <a:endParaRPr lang="en-US" sz="98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80" dirty="0">
                          <a:solidFill>
                            <a:srgbClr val="1A1A1A"/>
                          </a:solidFill>
                          <a:latin typeface="Yu Gothic" pitchFamily="34" charset="0"/>
                          <a:ea typeface="Yu Gothic" pitchFamily="34" charset="-122"/>
                          <a:cs typeface="Yu Gothic" pitchFamily="34" charset="-120"/>
                        </a:rPr>
                        <a:t>CLUB として会費・特典・請求を運用</a:t>
                      </a:r>
                      <a:endParaRPr lang="en-US" sz="98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r>
              <a:tr h="420624">
                <a:tc>
                  <a:txBody>
                    <a:bodyPr/>
                    <a:lstStyle/>
                    <a:p>
                      <a:pPr indent="0" marL="0">
                        <a:buNone/>
                      </a:pPr>
                      <a:r>
                        <a:rPr lang="en-US" sz="980" dirty="0">
                          <a:solidFill>
                            <a:srgbClr val="1A1A1A"/>
                          </a:solidFill>
                          <a:latin typeface="Yu Gothic" pitchFamily="34" charset="0"/>
                          <a:ea typeface="Yu Gothic" pitchFamily="34" charset="-122"/>
                          <a:cs typeface="Yu Gothic" pitchFamily="34" charset="-120"/>
                        </a:rPr>
                        <a:t>レストランの運営</a:t>
                      </a:r>
                      <a:endParaRPr lang="en-US" sz="98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80" dirty="0">
                          <a:solidFill>
                            <a:srgbClr val="1A1A1A"/>
                          </a:solidFill>
                          <a:latin typeface="Yu Gothic" pitchFamily="34" charset="0"/>
                          <a:ea typeface="Yu Gothic" pitchFamily="34" charset="-122"/>
                          <a:cs typeface="Yu Gothic" pitchFamily="34" charset="-120"/>
                        </a:rPr>
                        <a:t>行っていない</a:t>
                      </a:r>
                      <a:endParaRPr lang="en-US" sz="98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80" dirty="0">
                          <a:solidFill>
                            <a:srgbClr val="1A1A1A"/>
                          </a:solidFill>
                          <a:latin typeface="Yu Gothic" pitchFamily="34" charset="0"/>
                          <a:ea typeface="Yu Gothic" pitchFamily="34" charset="-122"/>
                          <a:cs typeface="Yu Gothic" pitchFamily="34" charset="-120"/>
                        </a:rPr>
                        <a:t>グランメゾンを自社で運営</a:t>
                      </a:r>
                      <a:endParaRPr lang="en-US" sz="98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r>
              <a:tr h="420624">
                <a:tc>
                  <a:txBody>
                    <a:bodyPr/>
                    <a:lstStyle/>
                    <a:p>
                      <a:pPr indent="0" marL="0">
                        <a:buNone/>
                      </a:pPr>
                      <a:r>
                        <a:rPr lang="en-US" sz="980" dirty="0">
                          <a:solidFill>
                            <a:srgbClr val="1A1A1A"/>
                          </a:solidFill>
                          <a:latin typeface="Yu Gothic" pitchFamily="34" charset="0"/>
                          <a:ea typeface="Yu Gothic" pitchFamily="34" charset="-122"/>
                          <a:cs typeface="Yu Gothic" pitchFamily="34" charset="-120"/>
                        </a:rPr>
                        <a:t>シェフの招致</a:t>
                      </a:r>
                      <a:endParaRPr lang="en-US" sz="98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80" dirty="0">
                          <a:solidFill>
                            <a:srgbClr val="1A1A1A"/>
                          </a:solidFill>
                          <a:latin typeface="Yu Gothic" pitchFamily="34" charset="0"/>
                          <a:ea typeface="Yu Gothic" pitchFamily="34" charset="-122"/>
                          <a:cs typeface="Yu Gothic" pitchFamily="34" charset="-120"/>
                        </a:rPr>
                        <a:t>行っていない</a:t>
                      </a:r>
                      <a:endParaRPr lang="en-US" sz="98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80" dirty="0">
                          <a:solidFill>
                            <a:srgbClr val="1A1A1A"/>
                          </a:solidFill>
                          <a:latin typeface="Yu Gothic" pitchFamily="34" charset="0"/>
                          <a:ea typeface="Yu Gothic" pitchFamily="34" charset="-122"/>
                          <a:cs typeface="Yu Gothic" pitchFamily="34" charset="-120"/>
                        </a:rPr>
                        <a:t>ティエリー・マルクス業態を出店可能</a:t>
                      </a:r>
                      <a:endParaRPr lang="en-US" sz="98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r>
              <a:tr h="420624">
                <a:tc>
                  <a:txBody>
                    <a:bodyPr/>
                    <a:lstStyle/>
                    <a:p>
                      <a:pPr indent="0" marL="0">
                        <a:buNone/>
                      </a:pPr>
                      <a:r>
                        <a:rPr lang="en-US" sz="980" dirty="0">
                          <a:solidFill>
                            <a:srgbClr val="1A1A1A"/>
                          </a:solidFill>
                          <a:latin typeface="Yu Gothic" pitchFamily="34" charset="0"/>
                          <a:ea typeface="Yu Gothic" pitchFamily="34" charset="-122"/>
                          <a:cs typeface="Yu Gothic" pitchFamily="34" charset="-120"/>
                        </a:rPr>
                        <a:t>ワインの預り・保管</a:t>
                      </a:r>
                      <a:endParaRPr lang="en-US" sz="98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80" dirty="0">
                          <a:solidFill>
                            <a:srgbClr val="1A1A1A"/>
                          </a:solidFill>
                          <a:latin typeface="Yu Gothic" pitchFamily="34" charset="0"/>
                          <a:ea typeface="Yu Gothic" pitchFamily="34" charset="-122"/>
                          <a:cs typeface="Yu Gothic" pitchFamily="34" charset="-120"/>
                        </a:rPr>
                        <a:t>行っていない</a:t>
                      </a:r>
                      <a:endParaRPr lang="en-US" sz="98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80" dirty="0">
                          <a:solidFill>
                            <a:srgbClr val="1A1A1A"/>
                          </a:solidFill>
                          <a:latin typeface="Yu Gothic" pitchFamily="34" charset="0"/>
                          <a:ea typeface="Yu Gothic" pitchFamily="34" charset="-122"/>
                          <a:cs typeface="Yu Gothic" pitchFamily="34" charset="-120"/>
                        </a:rPr>
                        <a:t>都内2か所・動産保険付きで受託</a:t>
                      </a:r>
                      <a:endParaRPr lang="en-US" sz="98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r>
              <a:tr h="420624">
                <a:tc>
                  <a:txBody>
                    <a:bodyPr/>
                    <a:lstStyle/>
                    <a:p>
                      <a:pPr indent="0" marL="0">
                        <a:buNone/>
                      </a:pPr>
                      <a:r>
                        <a:rPr lang="en-US" sz="980" dirty="0">
                          <a:solidFill>
                            <a:srgbClr val="1A1A1A"/>
                          </a:solidFill>
                          <a:latin typeface="Yu Gothic" pitchFamily="34" charset="0"/>
                          <a:ea typeface="Yu Gothic" pitchFamily="34" charset="-122"/>
                          <a:cs typeface="Yu Gothic" pitchFamily="34" charset="-120"/>
                        </a:rPr>
                        <a:t>商業区画の企画</a:t>
                      </a:r>
                      <a:endParaRPr lang="en-US" sz="98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80" dirty="0">
                          <a:solidFill>
                            <a:srgbClr val="1A1A1A"/>
                          </a:solidFill>
                          <a:latin typeface="Yu Gothic" pitchFamily="34" charset="0"/>
                          <a:ea typeface="Yu Gothic" pitchFamily="34" charset="-122"/>
                          <a:cs typeface="Yu Gothic" pitchFamily="34" charset="-120"/>
                        </a:rPr>
                        <a:t>テナント出店まで</a:t>
                      </a:r>
                      <a:endParaRPr lang="en-US" sz="98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80" dirty="0">
                          <a:solidFill>
                            <a:srgbClr val="1A1A1A"/>
                          </a:solidFill>
                          <a:latin typeface="Yu Gothic" pitchFamily="34" charset="0"/>
                          <a:ea typeface="Yu Gothic" pitchFamily="34" charset="-122"/>
                          <a:cs typeface="Yu Gothic" pitchFamily="34" charset="-120"/>
                        </a:rPr>
                        <a:t>セラー在庫共有型フードホールを企画・運営</a:t>
                      </a:r>
                      <a:endParaRPr lang="en-US" sz="98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r>
            </a:tbl>
          </a:graphicData>
        </a:graphic>
      </p:graphicFrame>
      <p:sp>
        <p:nvSpPr>
          <p:cNvPr id="11" name="Shape 7"/>
          <p:cNvSpPr/>
          <p:nvPr/>
        </p:nvSpPr>
        <p:spPr>
          <a:xfrm>
            <a:off x="566928" y="1517904"/>
            <a:ext cx="7882128" cy="420624"/>
          </a:xfrm>
          <a:prstGeom prst="rect">
            <a:avLst/>
          </a:prstGeom>
          <a:solidFill>
            <a:srgbClr val="2F3941"/>
          </a:solidFill>
          <a:ln w="12700">
            <a:solidFill>
              <a:srgbClr val="333333"/>
            </a:solidFill>
            <a:prstDash val="solid"/>
          </a:ln>
        </p:spPr>
      </p:sp>
      <p:sp>
        <p:nvSpPr>
          <p:cNvPr id="12" name="Text 8"/>
          <p:cNvSpPr/>
          <p:nvPr/>
        </p:nvSpPr>
        <p:spPr>
          <a:xfrm>
            <a:off x="676656" y="1517904"/>
            <a:ext cx="2212848" cy="420624"/>
          </a:xfrm>
          <a:prstGeom prst="rect">
            <a:avLst/>
          </a:prstGeom>
          <a:noFill/>
          <a:ln/>
        </p:spPr>
        <p:txBody>
          <a:bodyPr wrap="square" lIns="0" tIns="0" rIns="0" bIns="0" rtlCol="0" anchor="ctr"/>
          <a:lstStyle/>
          <a:p>
            <a:pPr indent="0" marL="0">
              <a:buNone/>
            </a:pPr>
            <a:endParaRPr lang="en-US" sz="980" dirty="0"/>
          </a:p>
        </p:txBody>
      </p:sp>
      <p:sp>
        <p:nvSpPr>
          <p:cNvPr id="13" name="Text 9"/>
          <p:cNvSpPr/>
          <p:nvPr/>
        </p:nvSpPr>
        <p:spPr>
          <a:xfrm>
            <a:off x="3108960" y="1517904"/>
            <a:ext cx="2157984" cy="420624"/>
          </a:xfrm>
          <a:prstGeom prst="rect">
            <a:avLst/>
          </a:prstGeom>
          <a:noFill/>
          <a:ln/>
        </p:spPr>
        <p:txBody>
          <a:bodyPr wrap="square" lIns="0" tIns="0" rIns="0" bIns="0" rtlCol="0" anchor="ctr"/>
          <a:lstStyle/>
          <a:p>
            <a:pPr indent="0" marL="0">
              <a:buNone/>
            </a:pPr>
            <a:r>
              <a:rPr lang="en-US" sz="980" b="1" dirty="0">
                <a:solidFill>
                  <a:srgbClr val="EFDCCE"/>
                </a:solidFill>
                <a:latin typeface="Yu Gothic" pitchFamily="34" charset="0"/>
                <a:ea typeface="Yu Gothic" pitchFamily="34" charset="-122"/>
                <a:cs typeface="Yu Gothic" pitchFamily="34" charset="-120"/>
              </a:rPr>
              <a:t>ワイン専門小売・インポーター</a:t>
            </a:r>
            <a:endParaRPr lang="en-US" sz="980" dirty="0"/>
          </a:p>
        </p:txBody>
      </p:sp>
      <p:sp>
        <p:nvSpPr>
          <p:cNvPr id="14" name="Text 10"/>
          <p:cNvSpPr/>
          <p:nvPr/>
        </p:nvSpPr>
        <p:spPr>
          <a:xfrm>
            <a:off x="5486400" y="1517904"/>
            <a:ext cx="2852928" cy="420624"/>
          </a:xfrm>
          <a:prstGeom prst="rect">
            <a:avLst/>
          </a:prstGeom>
          <a:noFill/>
          <a:ln/>
        </p:spPr>
        <p:txBody>
          <a:bodyPr wrap="square" lIns="0" tIns="0" rIns="0" bIns="0" rtlCol="0" anchor="ctr"/>
          <a:lstStyle/>
          <a:p>
            <a:pPr indent="0" marL="0">
              <a:buNone/>
            </a:pPr>
            <a:r>
              <a:rPr lang="en-US" sz="980" b="1" dirty="0">
                <a:solidFill>
                  <a:srgbClr val="EFDCCE"/>
                </a:solidFill>
                <a:latin typeface="Yu Gothic" pitchFamily="34" charset="0"/>
                <a:ea typeface="Yu Gothic" pitchFamily="34" charset="-122"/>
                <a:cs typeface="Yu Gothic" pitchFamily="34" charset="-120"/>
              </a:rPr>
              <a:t>WineBank</a:t>
            </a:r>
            <a:endParaRPr lang="en-US" sz="980" dirty="0"/>
          </a:p>
        </p:txBody>
      </p:sp>
      <p:sp>
        <p:nvSpPr>
          <p:cNvPr id="15" name="Shape 11"/>
          <p:cNvSpPr/>
          <p:nvPr/>
        </p:nvSpPr>
        <p:spPr>
          <a:xfrm>
            <a:off x="8759952" y="1517904"/>
            <a:ext cx="2864815" cy="2103120"/>
          </a:xfrm>
          <a:prstGeom prst="roundRect">
            <a:avLst>
              <a:gd name="adj" fmla="val 2174"/>
            </a:avLst>
          </a:prstGeom>
          <a:solidFill>
            <a:srgbClr val="2F3941"/>
          </a:solidFill>
          <a:ln w="12700">
            <a:solidFill>
              <a:srgbClr val="333333"/>
            </a:solidFill>
            <a:prstDash val="solid"/>
          </a:ln>
        </p:spPr>
      </p:sp>
      <p:sp>
        <p:nvSpPr>
          <p:cNvPr id="16" name="Text 12"/>
          <p:cNvSpPr/>
          <p:nvPr/>
        </p:nvSpPr>
        <p:spPr>
          <a:xfrm>
            <a:off x="9034272" y="1664208"/>
            <a:ext cx="2316175" cy="256032"/>
          </a:xfrm>
          <a:prstGeom prst="rect">
            <a:avLst/>
          </a:prstGeom>
          <a:noFill/>
          <a:ln/>
        </p:spPr>
        <p:txBody>
          <a:bodyPr wrap="square" lIns="0" tIns="0" rIns="0" bIns="0" rtlCol="0" anchor="ctr"/>
          <a:lstStyle/>
          <a:p>
            <a:pPr indent="0" marL="0">
              <a:buNone/>
            </a:pPr>
            <a:r>
              <a:rPr lang="en-US" sz="1300" b="1" dirty="0">
                <a:solidFill>
                  <a:srgbClr val="EFDCCE"/>
                </a:solidFill>
                <a:latin typeface="Yu Gothic" pitchFamily="34" charset="0"/>
                <a:ea typeface="Yu Gothic" pitchFamily="34" charset="-122"/>
                <a:cs typeface="Yu Gothic" pitchFamily="34" charset="-120"/>
              </a:rPr>
              <a:t>この一枚で申し上げたいこと</a:t>
            </a:r>
            <a:endParaRPr lang="en-US" sz="1300" dirty="0"/>
          </a:p>
        </p:txBody>
      </p:sp>
      <p:sp>
        <p:nvSpPr>
          <p:cNvPr id="17" name="Text 13"/>
          <p:cNvSpPr/>
          <p:nvPr/>
        </p:nvSpPr>
        <p:spPr>
          <a:xfrm>
            <a:off x="9034272" y="1956816"/>
            <a:ext cx="2316175" cy="1554480"/>
          </a:xfrm>
          <a:prstGeom prst="rect">
            <a:avLst/>
          </a:prstGeom>
          <a:noFill/>
          <a:ln/>
        </p:spPr>
        <p:txBody>
          <a:bodyPr wrap="square" lIns="0" tIns="0" rIns="0" bIns="0" rtlCol="0" anchor="ctr"/>
          <a:lstStyle/>
          <a:p>
            <a:pPr indent="0" marL="0">
              <a:lnSpc>
                <a:spcPts val="1450"/>
              </a:lnSpc>
              <a:buNone/>
            </a:pPr>
            <a:r>
              <a:rPr lang="en-US" sz="1000" dirty="0">
                <a:solidFill>
                  <a:srgbClr val="DDE1E4"/>
                </a:solidFill>
                <a:latin typeface="Yu Gothic" pitchFamily="34" charset="0"/>
                <a:ea typeface="Yu Gothic" pitchFamily="34" charset="-122"/>
                <a:cs typeface="Yu Gothic" pitchFamily="34" charset="-120"/>
              </a:rPr>
              <a:t>館内ストレージをご用意いただいた先で、そこに置いた在庫を「動かす」手段を持っているかどうかが差になります。当社は配送・会員・飲食・保管を自社で持っているため、置いた在庫が滞留しません。</a:t>
            </a:r>
            <a:endParaRPr lang="en-US" sz="1000" dirty="0"/>
          </a:p>
        </p:txBody>
      </p:sp>
      <p:sp>
        <p:nvSpPr>
          <p:cNvPr id="18" name="Shape 14"/>
          <p:cNvSpPr/>
          <p:nvPr/>
        </p:nvSpPr>
        <p:spPr>
          <a:xfrm>
            <a:off x="8759952" y="3749040"/>
            <a:ext cx="2864815" cy="1975104"/>
          </a:xfrm>
          <a:prstGeom prst="roundRect">
            <a:avLst>
              <a:gd name="adj" fmla="val 2315"/>
            </a:avLst>
          </a:prstGeom>
          <a:solidFill>
            <a:srgbClr val="F6F6F6"/>
          </a:solidFill>
          <a:ln w="12700">
            <a:solidFill>
              <a:srgbClr val="333333"/>
            </a:solidFill>
            <a:prstDash val="solid"/>
          </a:ln>
        </p:spPr>
      </p:sp>
      <p:sp>
        <p:nvSpPr>
          <p:cNvPr id="19" name="Text 15"/>
          <p:cNvSpPr/>
          <p:nvPr/>
        </p:nvSpPr>
        <p:spPr>
          <a:xfrm>
            <a:off x="9034272" y="3877056"/>
            <a:ext cx="2316175" cy="256032"/>
          </a:xfrm>
          <a:prstGeom prst="rect">
            <a:avLst/>
          </a:prstGeom>
          <a:noFill/>
          <a:ln/>
        </p:spPr>
        <p:txBody>
          <a:bodyPr wrap="square" lIns="0" tIns="0" rIns="0" bIns="0" rtlCol="0" anchor="ctr"/>
          <a:lstStyle/>
          <a:p>
            <a:pPr indent="0" marL="0">
              <a:buNone/>
            </a:pPr>
            <a:r>
              <a:rPr lang="en-US" sz="1300" b="1" dirty="0">
                <a:solidFill>
                  <a:srgbClr val="1A1A1A"/>
                </a:solidFill>
                <a:latin typeface="Yu Gothic" pitchFamily="34" charset="0"/>
                <a:ea typeface="Yu Gothic" pitchFamily="34" charset="-122"/>
                <a:cs typeface="Yu Gothic" pitchFamily="34" charset="-120"/>
              </a:rPr>
              <a:t>自社で持っているもの</a:t>
            </a:r>
            <a:endParaRPr lang="en-US" sz="1300" dirty="0"/>
          </a:p>
        </p:txBody>
      </p:sp>
      <p:sp>
        <p:nvSpPr>
          <p:cNvPr id="20" name="Text 16"/>
          <p:cNvSpPr/>
          <p:nvPr/>
        </p:nvSpPr>
        <p:spPr>
          <a:xfrm>
            <a:off x="9034272" y="4187952"/>
            <a:ext cx="2316175" cy="1444752"/>
          </a:xfrm>
          <a:prstGeom prst="rect">
            <a:avLst/>
          </a:prstGeom>
          <a:noFill/>
          <a:ln/>
        </p:spPr>
        <p:txBody>
          <a:bodyPr wrap="square" lIns="0" tIns="0" rIns="0" bIns="0" rtlCol="0" anchor="ctr"/>
          <a:lstStyle/>
          <a:p>
            <a:pPr marL="342900" indent="-342900">
              <a:lnSpc>
                <a:spcPts val="1300"/>
              </a:lnSpc>
              <a:spcAft>
                <a:spcPts val="300"/>
              </a:spcAft>
              <a:buSzPct val="100000"/>
              <a:buChar char="▪"/>
            </a:pPr>
            <a:r>
              <a:rPr lang="en-US" sz="940" dirty="0">
                <a:solidFill>
                  <a:srgbClr val="1A1A1A"/>
                </a:solidFill>
                <a:latin typeface="Yu Gothic" pitchFamily="34" charset="0"/>
                <a:ea typeface="Yu Gothic" pitchFamily="34" charset="-122"/>
                <a:cs typeface="Yu Gothic" pitchFamily="34" charset="-120"/>
              </a:rPr>
              <a:t>仕入：55年の酒販実績と輸出入免許</a:t>
            </a:r>
            <a:endParaRPr lang="en-US" sz="940" dirty="0"/>
          </a:p>
          <a:p>
            <a:pPr marL="342900" indent="-342900">
              <a:lnSpc>
                <a:spcPts val="1300"/>
              </a:lnSpc>
              <a:spcAft>
                <a:spcPts val="300"/>
              </a:spcAft>
              <a:buSzPct val="100000"/>
              <a:buChar char="▪"/>
            </a:pPr>
            <a:r>
              <a:rPr lang="en-US" sz="940" dirty="0">
                <a:solidFill>
                  <a:srgbClr val="1A1A1A"/>
                </a:solidFill>
                <a:latin typeface="Yu Gothic" pitchFamily="34" charset="0"/>
                <a:ea typeface="Yu Gothic" pitchFamily="34" charset="-122"/>
                <a:cs typeface="Yu Gothic" pitchFamily="34" charset="-120"/>
              </a:rPr>
              <a:t>保管：都内2か所の定温倉庫</a:t>
            </a:r>
            <a:endParaRPr lang="en-US" sz="940" dirty="0"/>
          </a:p>
          <a:p>
            <a:pPr marL="342900" indent="-342900">
              <a:lnSpc>
                <a:spcPts val="1300"/>
              </a:lnSpc>
              <a:spcAft>
                <a:spcPts val="300"/>
              </a:spcAft>
              <a:buSzPct val="100000"/>
              <a:buChar char="▪"/>
            </a:pPr>
            <a:r>
              <a:rPr lang="en-US" sz="940" dirty="0">
                <a:solidFill>
                  <a:srgbClr val="1A1A1A"/>
                </a:solidFill>
                <a:latin typeface="Yu Gothic" pitchFamily="34" charset="0"/>
                <a:ea typeface="Yu Gothic" pitchFamily="34" charset="-122"/>
                <a:cs typeface="Yu Gothic" pitchFamily="34" charset="-120"/>
              </a:rPr>
              <a:t>配送：WineGO の定温ラストワンマイル</a:t>
            </a:r>
            <a:endParaRPr lang="en-US" sz="940" dirty="0"/>
          </a:p>
          <a:p>
            <a:pPr marL="342900" indent="-342900">
              <a:lnSpc>
                <a:spcPts val="1300"/>
              </a:lnSpc>
              <a:spcAft>
                <a:spcPts val="300"/>
              </a:spcAft>
              <a:buSzPct val="100000"/>
              <a:buChar char="▪"/>
            </a:pPr>
            <a:r>
              <a:rPr lang="en-US" sz="940" dirty="0">
                <a:solidFill>
                  <a:srgbClr val="1A1A1A"/>
                </a:solidFill>
                <a:latin typeface="Yu Gothic" pitchFamily="34" charset="0"/>
                <a:ea typeface="Yu Gothic" pitchFamily="34" charset="-122"/>
                <a:cs typeface="Yu Gothic" pitchFamily="34" charset="-120"/>
              </a:rPr>
              <a:t>販売：EC・卸・会員制サロン</a:t>
            </a:r>
            <a:endParaRPr lang="en-US" sz="940" dirty="0"/>
          </a:p>
          <a:p>
            <a:pPr marL="342900" indent="-342900">
              <a:lnSpc>
                <a:spcPts val="1300"/>
              </a:lnSpc>
              <a:spcAft>
                <a:spcPts val="300"/>
              </a:spcAft>
              <a:buSzPct val="100000"/>
              <a:buChar char="▪"/>
            </a:pPr>
            <a:r>
              <a:rPr lang="en-US" sz="940" dirty="0">
                <a:solidFill>
                  <a:srgbClr val="1A1A1A"/>
                </a:solidFill>
                <a:latin typeface="Yu Gothic" pitchFamily="34" charset="0"/>
                <a:ea typeface="Yu Gothic" pitchFamily="34" charset="-122"/>
                <a:cs typeface="Yu Gothic" pitchFamily="34" charset="-120"/>
              </a:rPr>
              <a:t>飲食：グランメゾンの運営</a:t>
            </a:r>
            <a:endParaRPr lang="en-US" sz="940" dirty="0"/>
          </a:p>
        </p:txBody>
      </p:sp>
      <p:sp>
        <p:nvSpPr>
          <p:cNvPr id="21" name="Text 17"/>
          <p:cNvSpPr/>
          <p:nvPr/>
        </p:nvSpPr>
        <p:spPr>
          <a:xfrm>
            <a:off x="566928" y="5888736"/>
            <a:ext cx="7882128" cy="274320"/>
          </a:xfrm>
          <a:prstGeom prst="rect">
            <a:avLst/>
          </a:prstGeom>
          <a:noFill/>
          <a:ln/>
        </p:spPr>
        <p:txBody>
          <a:bodyPr wrap="square" lIns="0" tIns="0" rIns="0" bIns="0" rtlCol="0" anchor="ctr"/>
          <a:lstStyle/>
          <a:p>
            <a:pPr indent="0" marL="0">
              <a:buNone/>
            </a:pPr>
            <a:r>
              <a:rPr lang="en-US" sz="860" dirty="0">
                <a:solidFill>
                  <a:srgbClr val="A6ABAF"/>
                </a:solidFill>
                <a:latin typeface="Yu Gothic" pitchFamily="34" charset="0"/>
                <a:ea typeface="Yu Gothic" pitchFamily="34" charset="-122"/>
                <a:cs typeface="Yu Gothic" pitchFamily="34" charset="-120"/>
              </a:rPr>
              <a:t>※ 比較欄は一般的な高級ワイン専門小売・インポーターの事業範囲についての当社の理解です。特定の企業を指すものではありません。</a:t>
            </a:r>
            <a:endParaRPr lang="en-US" sz="86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381183" y="292608"/>
            <a:ext cx="1243584" cy="247802"/>
          </a:xfrm>
          <a:prstGeom prst="rect">
            <a:avLst/>
          </a:prstGeom>
        </p:spPr>
      </p:pic>
      <p:sp>
        <p:nvSpPr>
          <p:cNvPr id="3" name="Shape 0"/>
          <p:cNvSpPr/>
          <p:nvPr/>
        </p:nvSpPr>
        <p:spPr>
          <a:xfrm>
            <a:off x="566928" y="292608"/>
            <a:ext cx="786384" cy="237744"/>
          </a:xfrm>
          <a:prstGeom prst="roundRect">
            <a:avLst>
              <a:gd name="adj" fmla="val 11538"/>
            </a:avLst>
          </a:prstGeom>
          <a:solidFill>
            <a:srgbClr val="C68A65"/>
          </a:solidFill>
          <a:ln w="12700">
            <a:solidFill>
              <a:srgbClr val="333333"/>
            </a:solidFill>
            <a:prstDash val="solid"/>
          </a:ln>
        </p:spPr>
      </p:sp>
      <p:sp>
        <p:nvSpPr>
          <p:cNvPr id="4" name="Text 1"/>
          <p:cNvSpPr/>
          <p:nvPr/>
        </p:nvSpPr>
        <p:spPr>
          <a:xfrm>
            <a:off x="566928" y="292608"/>
            <a:ext cx="786384"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Yu Gothic" pitchFamily="34" charset="0"/>
                <a:ea typeface="Yu Gothic" pitchFamily="34" charset="-122"/>
                <a:cs typeface="Yu Gothic" pitchFamily="34" charset="-120"/>
              </a:rPr>
              <a:t>SCHEME</a:t>
            </a:r>
            <a:endParaRPr lang="en-US" sz="850" dirty="0"/>
          </a:p>
        </p:txBody>
      </p:sp>
      <p:sp>
        <p:nvSpPr>
          <p:cNvPr id="5" name="Text 2"/>
          <p:cNvSpPr/>
          <p:nvPr/>
        </p:nvSpPr>
        <p:spPr>
          <a:xfrm>
            <a:off x="566928" y="585216"/>
            <a:ext cx="9509760" cy="420624"/>
          </a:xfrm>
          <a:prstGeom prst="rect">
            <a:avLst/>
          </a:prstGeom>
          <a:noFill/>
          <a:ln/>
        </p:spPr>
        <p:txBody>
          <a:bodyPr wrap="square" lIns="0" tIns="0" rIns="0" bIns="0" rtlCol="0" anchor="ctr"/>
          <a:lstStyle/>
          <a:p>
            <a:pPr indent="0" marL="0">
              <a:buNone/>
            </a:pPr>
            <a:r>
              <a:rPr lang="en-US" sz="2300" b="1" dirty="0">
                <a:solidFill>
                  <a:srgbClr val="1A1A1A"/>
                </a:solidFill>
                <a:latin typeface="Yu Gothic" pitchFamily="34" charset="0"/>
                <a:ea typeface="Yu Gothic" pitchFamily="34" charset="-122"/>
                <a:cs typeface="Yu Gothic" pitchFamily="34" charset="-120"/>
              </a:rPr>
              <a:t>提携スキームと収益設計（たたき台）</a:t>
            </a:r>
            <a:endParaRPr lang="en-US" sz="2300" dirty="0"/>
          </a:p>
        </p:txBody>
      </p:sp>
      <p:sp>
        <p:nvSpPr>
          <p:cNvPr id="6" name="Text 3"/>
          <p:cNvSpPr/>
          <p:nvPr/>
        </p:nvSpPr>
        <p:spPr>
          <a:xfrm>
            <a:off x="566928" y="1024128"/>
            <a:ext cx="11057839" cy="310896"/>
          </a:xfrm>
          <a:prstGeom prst="rect">
            <a:avLst/>
          </a:prstGeom>
          <a:noFill/>
          <a:ln/>
        </p:spPr>
        <p:txBody>
          <a:bodyPr wrap="square" lIns="0" tIns="0" rIns="0" bIns="0" rtlCol="0" anchor="ctr"/>
          <a:lstStyle/>
          <a:p>
            <a:pPr indent="0" marL="0">
              <a:lnSpc>
                <a:spcPts val="1700"/>
              </a:lnSpc>
              <a:buNone/>
            </a:pPr>
            <a:r>
              <a:rPr lang="en-US" sz="1150" dirty="0">
                <a:solidFill>
                  <a:srgbClr val="6E7378"/>
                </a:solidFill>
                <a:latin typeface="Yu Gothic" pitchFamily="34" charset="0"/>
                <a:ea typeface="Yu Gothic" pitchFamily="34" charset="-122"/>
                <a:cs typeface="Yu Gothic" pitchFamily="34" charset="-120"/>
              </a:rPr>
              <a:t>プログラムごとに役割と分配を切り分け、導入しやすいものから順に着手できる構成としています。</a:t>
            </a:r>
            <a:endParaRPr lang="en-US" sz="1150" dirty="0"/>
          </a:p>
        </p:txBody>
      </p:sp>
      <p:sp>
        <p:nvSpPr>
          <p:cNvPr id="7" name="Shape 4"/>
          <p:cNvSpPr/>
          <p:nvPr/>
        </p:nvSpPr>
        <p:spPr>
          <a:xfrm>
            <a:off x="0" y="6583680"/>
            <a:ext cx="12191695" cy="274320"/>
          </a:xfrm>
          <a:prstGeom prst="rect">
            <a:avLst/>
          </a:prstGeom>
          <a:solidFill>
            <a:srgbClr val="2F3941"/>
          </a:solidFill>
          <a:ln w="12700">
            <a:solidFill>
              <a:srgbClr val="333333"/>
            </a:solidFill>
            <a:prstDash val="solid"/>
          </a:ln>
        </p:spPr>
      </p:sp>
      <p:sp>
        <p:nvSpPr>
          <p:cNvPr id="8" name="Text 5"/>
          <p:cNvSpPr/>
          <p:nvPr/>
        </p:nvSpPr>
        <p:spPr>
          <a:xfrm>
            <a:off x="10893247" y="6272784"/>
            <a:ext cx="731520" cy="256032"/>
          </a:xfrm>
          <a:prstGeom prst="rect">
            <a:avLst/>
          </a:prstGeom>
          <a:noFill/>
          <a:ln/>
        </p:spPr>
        <p:txBody>
          <a:bodyPr wrap="square" lIns="0" tIns="0" rIns="0" bIns="0" rtlCol="0" anchor="ctr"/>
          <a:lstStyle/>
          <a:p>
            <a:pPr algn="r" indent="0" marL="0">
              <a:buNone/>
            </a:pPr>
            <a:r>
              <a:rPr lang="en-US" sz="1000" dirty="0">
                <a:solidFill>
                  <a:srgbClr val="A6ABAF"/>
                </a:solidFill>
                <a:latin typeface="Calibri" pitchFamily="34" charset="0"/>
                <a:ea typeface="Calibri" pitchFamily="34" charset="-122"/>
                <a:cs typeface="Calibri" pitchFamily="34" charset="-120"/>
              </a:rPr>
              <a:t>19</a:t>
            </a:r>
            <a:endParaRPr lang="en-US" sz="1000" dirty="0"/>
          </a:p>
        </p:txBody>
      </p:sp>
      <p:sp>
        <p:nvSpPr>
          <p:cNvPr id="9" name="Text 6"/>
          <p:cNvSpPr/>
          <p:nvPr/>
        </p:nvSpPr>
        <p:spPr>
          <a:xfrm>
            <a:off x="566928" y="6272784"/>
            <a:ext cx="2926080" cy="256032"/>
          </a:xfrm>
          <a:prstGeom prst="rect">
            <a:avLst/>
          </a:prstGeom>
          <a:noFill/>
          <a:ln/>
        </p:spPr>
        <p:txBody>
          <a:bodyPr wrap="square" lIns="0" tIns="0" rIns="0" bIns="0" rtlCol="0" anchor="ctr"/>
          <a:lstStyle/>
          <a:p>
            <a:pPr indent="0" marL="0">
              <a:buNone/>
            </a:pPr>
            <a:r>
              <a:rPr lang="en-US" sz="850" spc="120" kern="0" dirty="0">
                <a:solidFill>
                  <a:srgbClr val="C7CACC"/>
                </a:solidFill>
                <a:latin typeface="Calibri" pitchFamily="34" charset="0"/>
                <a:ea typeface="Calibri" pitchFamily="34" charset="-122"/>
                <a:cs typeface="Calibri" pitchFamily="34" charset="-120"/>
              </a:rPr>
              <a:t>CONFIDENTIAL</a:t>
            </a:r>
            <a:endParaRPr lang="en-US" sz="8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66928" y="1463040"/>
          <a:ext cx="11055096" cy="914400"/>
        </p:xfrm>
        <a:graphic>
          <a:graphicData uri="http://schemas.openxmlformats.org/drawingml/2006/table">
            <a:tbl>
              <a:tblPr/>
              <a:tblGrid>
                <a:gridCol w="2249424"/>
                <a:gridCol w="1920240"/>
                <a:gridCol w="2377440"/>
                <a:gridCol w="2377440"/>
                <a:gridCol w="2130552"/>
              </a:tblGrid>
              <a:tr h="493776">
                <a:tc>
                  <a:txBody>
                    <a:bodyPr/>
                    <a:lstStyle/>
                    <a:p>
                      <a:pPr indent="0" marL="0">
                        <a:buNone/>
                      </a:pPr>
                      <a:r>
                        <a:rPr lang="en-US" sz="950" dirty="0">
                          <a:solidFill>
                            <a:srgbClr val="1A1A1A"/>
                          </a:solidFill>
                          <a:latin typeface="Yu Gothic" pitchFamily="34" charset="0"/>
                          <a:ea typeface="Yu Gothic" pitchFamily="34" charset="-122"/>
                          <a:cs typeface="Yu Gothic" pitchFamily="34" charset="-120"/>
                        </a:rPr>
                        <a:t>プログラム</a:t>
                      </a:r>
                      <a:endParaRPr lang="en-US" sz="95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50" dirty="0">
                          <a:solidFill>
                            <a:srgbClr val="1A1A1A"/>
                          </a:solidFill>
                          <a:latin typeface="Yu Gothic" pitchFamily="34" charset="0"/>
                          <a:ea typeface="Yu Gothic" pitchFamily="34" charset="-122"/>
                          <a:cs typeface="Yu Gothic" pitchFamily="34" charset="-120"/>
                        </a:rPr>
                        <a:t>収益源</a:t>
                      </a:r>
                      <a:endParaRPr lang="en-US" sz="95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50" dirty="0">
                          <a:solidFill>
                            <a:srgbClr val="1A1A1A"/>
                          </a:solidFill>
                          <a:latin typeface="Yu Gothic" pitchFamily="34" charset="0"/>
                          <a:ea typeface="Yu Gothic" pitchFamily="34" charset="-122"/>
                          <a:cs typeface="Yu Gothic" pitchFamily="34" charset="-120"/>
                        </a:rPr>
                        <a:t>森ビル様の関与</a:t>
                      </a:r>
                      <a:endParaRPr lang="en-US" sz="95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50" dirty="0">
                          <a:solidFill>
                            <a:srgbClr val="1A1A1A"/>
                          </a:solidFill>
                          <a:latin typeface="Yu Gothic" pitchFamily="34" charset="0"/>
                          <a:ea typeface="Yu Gothic" pitchFamily="34" charset="-122"/>
                          <a:cs typeface="Yu Gothic" pitchFamily="34" charset="-120"/>
                        </a:rPr>
                        <a:t>当社の関与</a:t>
                      </a:r>
                      <a:endParaRPr lang="en-US" sz="95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50" dirty="0">
                          <a:solidFill>
                            <a:srgbClr val="1A1A1A"/>
                          </a:solidFill>
                          <a:latin typeface="Yu Gothic" pitchFamily="34" charset="0"/>
                          <a:ea typeface="Yu Gothic" pitchFamily="34" charset="-122"/>
                          <a:cs typeface="Yu Gothic" pitchFamily="34" charset="-120"/>
                        </a:rPr>
                        <a:t>分配イメージ</a:t>
                      </a:r>
                      <a:endParaRPr lang="en-US" sz="95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r>
              <a:tr h="493776">
                <a:tc>
                  <a:txBody>
                    <a:bodyPr/>
                    <a:lstStyle/>
                    <a:p>
                      <a:pPr indent="0" marL="0">
                        <a:buNone/>
                      </a:pPr>
                      <a:r>
                        <a:rPr lang="en-US" sz="950" dirty="0">
                          <a:solidFill>
                            <a:srgbClr val="1A1A1A"/>
                          </a:solidFill>
                          <a:latin typeface="Yu Gothic" pitchFamily="34" charset="0"/>
                          <a:ea typeface="Yu Gothic" pitchFamily="34" charset="-122"/>
                          <a:cs typeface="Yu Gothic" pitchFamily="34" charset="-120"/>
                        </a:rPr>
                        <a:t>01 Cloud Wine Cave</a:t>
                      </a:r>
                      <a:endParaRPr lang="en-US" sz="95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50" dirty="0">
                          <a:solidFill>
                            <a:srgbClr val="1A1A1A"/>
                          </a:solidFill>
                          <a:latin typeface="Yu Gothic" pitchFamily="34" charset="0"/>
                          <a:ea typeface="Yu Gothic" pitchFamily="34" charset="-122"/>
                          <a:cs typeface="Yu Gothic" pitchFamily="34" charset="-120"/>
                        </a:rPr>
                        <a:t>ワイン卸売上</a:t>
                      </a:r>
                      <a:endParaRPr lang="en-US" sz="95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50" dirty="0">
                          <a:solidFill>
                            <a:srgbClr val="1A1A1A"/>
                          </a:solidFill>
                          <a:latin typeface="Yu Gothic" pitchFamily="34" charset="0"/>
                          <a:ea typeface="Yu Gothic" pitchFamily="34" charset="-122"/>
                          <a:cs typeface="Yu Gothic" pitchFamily="34" charset="-120"/>
                        </a:rPr>
                        <a:t>テナント飲食店・居住者へのご紹介</a:t>
                      </a:r>
                      <a:endParaRPr lang="en-US" sz="95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50" dirty="0">
                          <a:solidFill>
                            <a:srgbClr val="1A1A1A"/>
                          </a:solidFill>
                          <a:latin typeface="Yu Gothic" pitchFamily="34" charset="0"/>
                          <a:ea typeface="Yu Gothic" pitchFamily="34" charset="-122"/>
                          <a:cs typeface="Yu Gothic" pitchFamily="34" charset="-120"/>
                        </a:rPr>
                        <a:t>在庫保有・与信・システム・CS</a:t>
                      </a:r>
                      <a:endParaRPr lang="en-US" sz="95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50" dirty="0">
                          <a:solidFill>
                            <a:srgbClr val="1A1A1A"/>
                          </a:solidFill>
                          <a:latin typeface="Yu Gothic" pitchFamily="34" charset="0"/>
                          <a:ea typeface="Yu Gothic" pitchFamily="34" charset="-122"/>
                          <a:cs typeface="Yu Gothic" pitchFamily="34" charset="-120"/>
                        </a:rPr>
                        <a:t>流通額に対するレベニューシェア</a:t>
                      </a:r>
                      <a:endParaRPr lang="en-US" sz="95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r>
              <a:tr h="493776">
                <a:tc>
                  <a:txBody>
                    <a:bodyPr/>
                    <a:lstStyle/>
                    <a:p>
                      <a:pPr indent="0" marL="0">
                        <a:buNone/>
                      </a:pPr>
                      <a:r>
                        <a:rPr lang="en-US" sz="950" dirty="0">
                          <a:solidFill>
                            <a:srgbClr val="1A1A1A"/>
                          </a:solidFill>
                          <a:latin typeface="Yu Gothic" pitchFamily="34" charset="0"/>
                          <a:ea typeface="Yu Gothic" pitchFamily="34" charset="-122"/>
                          <a:cs typeface="Yu Gothic" pitchFamily="34" charset="-120"/>
                        </a:rPr>
                        <a:t>02 WineGO デリバリー</a:t>
                      </a:r>
                      <a:endParaRPr lang="en-US" sz="95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50" dirty="0">
                          <a:solidFill>
                            <a:srgbClr val="1A1A1A"/>
                          </a:solidFill>
                          <a:latin typeface="Yu Gothic" pitchFamily="34" charset="0"/>
                          <a:ea typeface="Yu Gothic" pitchFamily="34" charset="-122"/>
                          <a:cs typeface="Yu Gothic" pitchFamily="34" charset="-120"/>
                        </a:rPr>
                        <a:t>配送料・ワイン販売</a:t>
                      </a:r>
                      <a:endParaRPr lang="en-US" sz="95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50" dirty="0">
                          <a:solidFill>
                            <a:srgbClr val="1A1A1A"/>
                          </a:solidFill>
                          <a:latin typeface="Yu Gothic" pitchFamily="34" charset="0"/>
                          <a:ea typeface="Yu Gothic" pitchFamily="34" charset="-122"/>
                          <a:cs typeface="Yu Gothic" pitchFamily="34" charset="-120"/>
                        </a:rPr>
                        <a:t>ターミナル区画（2〜5坪）</a:t>
                      </a:r>
                      <a:endParaRPr lang="en-US" sz="95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50" dirty="0">
                          <a:solidFill>
                            <a:srgbClr val="1A1A1A"/>
                          </a:solidFill>
                          <a:latin typeface="Yu Gothic" pitchFamily="34" charset="0"/>
                          <a:ea typeface="Yu Gothic" pitchFamily="34" charset="-122"/>
                          <a:cs typeface="Yu Gothic" pitchFamily="34" charset="-120"/>
                        </a:rPr>
                        <a:t>在庫・配送員・システム一式</a:t>
                      </a:r>
                      <a:endParaRPr lang="en-US" sz="95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50" dirty="0">
                          <a:solidFill>
                            <a:srgbClr val="1A1A1A"/>
                          </a:solidFill>
                          <a:latin typeface="Yu Gothic" pitchFamily="34" charset="0"/>
                          <a:ea typeface="Yu Gothic" pitchFamily="34" charset="-122"/>
                          <a:cs typeface="Yu Gothic" pitchFamily="34" charset="-120"/>
                        </a:rPr>
                        <a:t>区画賃料 ＋ 売上歩合</a:t>
                      </a:r>
                      <a:endParaRPr lang="en-US" sz="95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r>
              <a:tr h="493776">
                <a:tc>
                  <a:txBody>
                    <a:bodyPr/>
                    <a:lstStyle/>
                    <a:p>
                      <a:pPr indent="0" marL="0">
                        <a:buNone/>
                      </a:pPr>
                      <a:r>
                        <a:rPr lang="en-US" sz="950" dirty="0">
                          <a:solidFill>
                            <a:srgbClr val="1A1A1A"/>
                          </a:solidFill>
                          <a:latin typeface="Yu Gothic" pitchFamily="34" charset="0"/>
                          <a:ea typeface="Yu Gothic" pitchFamily="34" charset="-122"/>
                          <a:cs typeface="Yu Gothic" pitchFamily="34" charset="-120"/>
                        </a:rPr>
                        <a:t>03 WineBank CLUB</a:t>
                      </a:r>
                      <a:endParaRPr lang="en-US" sz="95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50" dirty="0">
                          <a:solidFill>
                            <a:srgbClr val="1A1A1A"/>
                          </a:solidFill>
                          <a:latin typeface="Yu Gothic" pitchFamily="34" charset="0"/>
                          <a:ea typeface="Yu Gothic" pitchFamily="34" charset="-122"/>
                          <a:cs typeface="Yu Gothic" pitchFamily="34" charset="-120"/>
                        </a:rPr>
                        <a:t>年会費・購入手数料</a:t>
                      </a:r>
                      <a:endParaRPr lang="en-US" sz="95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50" dirty="0">
                          <a:solidFill>
                            <a:srgbClr val="1A1A1A"/>
                          </a:solidFill>
                          <a:latin typeface="Yu Gothic" pitchFamily="34" charset="0"/>
                          <a:ea typeface="Yu Gothic" pitchFamily="34" charset="-122"/>
                          <a:cs typeface="Yu Gothic" pitchFamily="34" charset="-120"/>
                        </a:rPr>
                        <a:t>テナント・居住者への告知</a:t>
                      </a:r>
                      <a:endParaRPr lang="en-US" sz="95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50" dirty="0">
                          <a:solidFill>
                            <a:srgbClr val="1A1A1A"/>
                          </a:solidFill>
                          <a:latin typeface="Yu Gothic" pitchFamily="34" charset="0"/>
                          <a:ea typeface="Yu Gothic" pitchFamily="34" charset="-122"/>
                          <a:cs typeface="Yu Gothic" pitchFamily="34" charset="-120"/>
                        </a:rPr>
                        <a:t>会員運用・請求・特典提供</a:t>
                      </a:r>
                      <a:endParaRPr lang="en-US" sz="95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50" dirty="0">
                          <a:solidFill>
                            <a:srgbClr val="1A1A1A"/>
                          </a:solidFill>
                          <a:latin typeface="Yu Gothic" pitchFamily="34" charset="0"/>
                          <a:ea typeface="Yu Gothic" pitchFamily="34" charset="-122"/>
                          <a:cs typeface="Yu Gothic" pitchFamily="34" charset="-120"/>
                        </a:rPr>
                        <a:t>会費のレベニューシェア</a:t>
                      </a:r>
                      <a:endParaRPr lang="en-US" sz="95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r>
              <a:tr h="493776">
                <a:tc>
                  <a:txBody>
                    <a:bodyPr/>
                    <a:lstStyle/>
                    <a:p>
                      <a:pPr indent="0" marL="0">
                        <a:buNone/>
                      </a:pPr>
                      <a:r>
                        <a:rPr lang="en-US" sz="950" dirty="0">
                          <a:solidFill>
                            <a:srgbClr val="1A1A1A"/>
                          </a:solidFill>
                          <a:latin typeface="Yu Gothic" pitchFamily="34" charset="0"/>
                          <a:ea typeface="Yu Gothic" pitchFamily="34" charset="-122"/>
                          <a:cs typeface="Yu Gothic" pitchFamily="34" charset="-120"/>
                        </a:rPr>
                        <a:t>04 クラウドワインセラー</a:t>
                      </a:r>
                      <a:endParaRPr lang="en-US" sz="95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50" dirty="0">
                          <a:solidFill>
                            <a:srgbClr val="1A1A1A"/>
                          </a:solidFill>
                          <a:latin typeface="Yu Gothic" pitchFamily="34" charset="0"/>
                          <a:ea typeface="Yu Gothic" pitchFamily="34" charset="-122"/>
                          <a:cs typeface="Yu Gothic" pitchFamily="34" charset="-120"/>
                        </a:rPr>
                        <a:t>飲食売上・卸売上</a:t>
                      </a:r>
                      <a:endParaRPr lang="en-US" sz="95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50" dirty="0">
                          <a:solidFill>
                            <a:srgbClr val="1A1A1A"/>
                          </a:solidFill>
                          <a:latin typeface="Yu Gothic" pitchFamily="34" charset="0"/>
                          <a:ea typeface="Yu Gothic" pitchFamily="34" charset="-122"/>
                          <a:cs typeface="Yu Gothic" pitchFamily="34" charset="-120"/>
                        </a:rPr>
                        <a:t>商業区画の割当</a:t>
                      </a:r>
                      <a:endParaRPr lang="en-US" sz="95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50" dirty="0">
                          <a:solidFill>
                            <a:srgbClr val="1A1A1A"/>
                          </a:solidFill>
                          <a:latin typeface="Yu Gothic" pitchFamily="34" charset="0"/>
                          <a:ea typeface="Yu Gothic" pitchFamily="34" charset="-122"/>
                          <a:cs typeface="Yu Gothic" pitchFamily="34" charset="-120"/>
                        </a:rPr>
                        <a:t>セラー投資・運営・出店者募集</a:t>
                      </a:r>
                      <a:endParaRPr lang="en-US" sz="95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50" dirty="0">
                          <a:solidFill>
                            <a:srgbClr val="1A1A1A"/>
                          </a:solidFill>
                          <a:latin typeface="Yu Gothic" pitchFamily="34" charset="0"/>
                          <a:ea typeface="Yu Gothic" pitchFamily="34" charset="-122"/>
                          <a:cs typeface="Yu Gothic" pitchFamily="34" charset="-120"/>
                        </a:rPr>
                        <a:t>賃料 ＋ 売上歩合</a:t>
                      </a:r>
                      <a:endParaRPr lang="en-US" sz="95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r>
              <a:tr h="493776">
                <a:tc>
                  <a:txBody>
                    <a:bodyPr/>
                    <a:lstStyle/>
                    <a:p>
                      <a:pPr indent="0" marL="0">
                        <a:buNone/>
                      </a:pPr>
                      <a:r>
                        <a:rPr lang="en-US" sz="950" dirty="0">
                          <a:solidFill>
                            <a:srgbClr val="1A1A1A"/>
                          </a:solidFill>
                          <a:latin typeface="Yu Gothic" pitchFamily="34" charset="0"/>
                          <a:ea typeface="Yu Gothic" pitchFamily="34" charset="-122"/>
                          <a:cs typeface="Yu Gothic" pitchFamily="34" charset="-120"/>
                        </a:rPr>
                        <a:t>05 ティエリー・マルクス業態</a:t>
                      </a:r>
                      <a:endParaRPr lang="en-US" sz="95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50" dirty="0">
                          <a:solidFill>
                            <a:srgbClr val="1A1A1A"/>
                          </a:solidFill>
                          <a:latin typeface="Yu Gothic" pitchFamily="34" charset="0"/>
                          <a:ea typeface="Yu Gothic" pitchFamily="34" charset="-122"/>
                          <a:cs typeface="Yu Gothic" pitchFamily="34" charset="-120"/>
                        </a:rPr>
                        <a:t>飲食売上</a:t>
                      </a:r>
                      <a:endParaRPr lang="en-US" sz="95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50" dirty="0">
                          <a:solidFill>
                            <a:srgbClr val="1A1A1A"/>
                          </a:solidFill>
                          <a:latin typeface="Yu Gothic" pitchFamily="34" charset="0"/>
                          <a:ea typeface="Yu Gothic" pitchFamily="34" charset="-122"/>
                          <a:cs typeface="Yu Gothic" pitchFamily="34" charset="-120"/>
                        </a:rPr>
                        <a:t>商業区画の割当・共同PR</a:t>
                      </a:r>
                      <a:endParaRPr lang="en-US" sz="95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50" dirty="0">
                          <a:solidFill>
                            <a:srgbClr val="1A1A1A"/>
                          </a:solidFill>
                          <a:latin typeface="Yu Gothic" pitchFamily="34" charset="0"/>
                          <a:ea typeface="Yu Gothic" pitchFamily="34" charset="-122"/>
                          <a:cs typeface="Yu Gothic" pitchFamily="34" charset="-120"/>
                        </a:rPr>
                        <a:t>シェフ招聘・店舗運営一切</a:t>
                      </a:r>
                      <a:endParaRPr lang="en-US" sz="95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50" dirty="0">
                          <a:solidFill>
                            <a:srgbClr val="1A1A1A"/>
                          </a:solidFill>
                          <a:latin typeface="Yu Gothic" pitchFamily="34" charset="0"/>
                          <a:ea typeface="Yu Gothic" pitchFamily="34" charset="-122"/>
                          <a:cs typeface="Yu Gothic" pitchFamily="34" charset="-120"/>
                        </a:rPr>
                        <a:t>賃料 ＋ 売上歩合</a:t>
                      </a:r>
                      <a:endParaRPr lang="en-US" sz="95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r>
              <a:tr h="493776">
                <a:tc>
                  <a:txBody>
                    <a:bodyPr/>
                    <a:lstStyle/>
                    <a:p>
                      <a:pPr indent="0" marL="0">
                        <a:buNone/>
                      </a:pPr>
                      <a:r>
                        <a:rPr lang="en-US" sz="950" dirty="0">
                          <a:solidFill>
                            <a:srgbClr val="1A1A1A"/>
                          </a:solidFill>
                          <a:latin typeface="Yu Gothic" pitchFamily="34" charset="0"/>
                          <a:ea typeface="Yu Gothic" pitchFamily="34" charset="-122"/>
                          <a:cs typeface="Yu Gothic" pitchFamily="34" charset="-120"/>
                        </a:rPr>
                        <a:t>06 ワイン預りサービス</a:t>
                      </a:r>
                      <a:endParaRPr lang="en-US" sz="95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50" dirty="0">
                          <a:solidFill>
                            <a:srgbClr val="1A1A1A"/>
                          </a:solidFill>
                          <a:latin typeface="Yu Gothic" pitchFamily="34" charset="0"/>
                          <a:ea typeface="Yu Gothic" pitchFamily="34" charset="-122"/>
                          <a:cs typeface="Yu Gothic" pitchFamily="34" charset="-120"/>
                        </a:rPr>
                        <a:t>保管料・出庫料</a:t>
                      </a:r>
                      <a:endParaRPr lang="en-US" sz="95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50" dirty="0">
                          <a:solidFill>
                            <a:srgbClr val="1A1A1A"/>
                          </a:solidFill>
                          <a:latin typeface="Yu Gothic" pitchFamily="34" charset="0"/>
                          <a:ea typeface="Yu Gothic" pitchFamily="34" charset="-122"/>
                          <a:cs typeface="Yu Gothic" pitchFamily="34" charset="-120"/>
                        </a:rPr>
                        <a:t>居住者への案内・受渡し協力</a:t>
                      </a:r>
                      <a:endParaRPr lang="en-US" sz="95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50" dirty="0">
                          <a:solidFill>
                            <a:srgbClr val="1A1A1A"/>
                          </a:solidFill>
                          <a:latin typeface="Yu Gothic" pitchFamily="34" charset="0"/>
                          <a:ea typeface="Yu Gothic" pitchFamily="34" charset="-122"/>
                          <a:cs typeface="Yu Gothic" pitchFamily="34" charset="-120"/>
                        </a:rPr>
                        <a:t>引取・撮影・保管・保険</a:t>
                      </a:r>
                      <a:endParaRPr lang="en-US" sz="95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50" dirty="0">
                          <a:solidFill>
                            <a:srgbClr val="1A1A1A"/>
                          </a:solidFill>
                          <a:latin typeface="Yu Gothic" pitchFamily="34" charset="0"/>
                          <a:ea typeface="Yu Gothic" pitchFamily="34" charset="-122"/>
                          <a:cs typeface="Yu Gothic" pitchFamily="34" charset="-120"/>
                        </a:rPr>
                        <a:t>保管料のレベニューシェア</a:t>
                      </a:r>
                      <a:endParaRPr lang="en-US" sz="95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r>
            </a:tbl>
          </a:graphicData>
        </a:graphic>
      </p:graphicFrame>
      <p:sp>
        <p:nvSpPr>
          <p:cNvPr id="11" name="Shape 7"/>
          <p:cNvSpPr/>
          <p:nvPr/>
        </p:nvSpPr>
        <p:spPr>
          <a:xfrm>
            <a:off x="566928" y="1463040"/>
            <a:ext cx="11055096" cy="438912"/>
          </a:xfrm>
          <a:prstGeom prst="rect">
            <a:avLst/>
          </a:prstGeom>
          <a:solidFill>
            <a:srgbClr val="2F3941"/>
          </a:solidFill>
          <a:ln w="12700">
            <a:solidFill>
              <a:srgbClr val="333333"/>
            </a:solidFill>
            <a:prstDash val="solid"/>
          </a:ln>
        </p:spPr>
      </p:sp>
      <p:sp>
        <p:nvSpPr>
          <p:cNvPr id="12" name="Text 8"/>
          <p:cNvSpPr/>
          <p:nvPr/>
        </p:nvSpPr>
        <p:spPr>
          <a:xfrm>
            <a:off x="676656" y="1463040"/>
            <a:ext cx="2029968" cy="438912"/>
          </a:xfrm>
          <a:prstGeom prst="rect">
            <a:avLst/>
          </a:prstGeom>
          <a:noFill/>
          <a:ln/>
        </p:spPr>
        <p:txBody>
          <a:bodyPr wrap="square" lIns="0" tIns="0" rIns="0" bIns="0" rtlCol="0" anchor="ctr"/>
          <a:lstStyle/>
          <a:p>
            <a:pPr indent="0" marL="0">
              <a:buNone/>
            </a:pPr>
            <a:r>
              <a:rPr lang="en-US" sz="1000" b="1" dirty="0">
                <a:solidFill>
                  <a:srgbClr val="EFDCCE"/>
                </a:solidFill>
                <a:latin typeface="Yu Gothic" pitchFamily="34" charset="0"/>
                <a:ea typeface="Yu Gothic" pitchFamily="34" charset="-122"/>
                <a:cs typeface="Yu Gothic" pitchFamily="34" charset="-120"/>
              </a:rPr>
              <a:t>プログラム</a:t>
            </a:r>
            <a:endParaRPr lang="en-US" sz="1000" dirty="0"/>
          </a:p>
        </p:txBody>
      </p:sp>
      <p:sp>
        <p:nvSpPr>
          <p:cNvPr id="13" name="Text 9"/>
          <p:cNvSpPr/>
          <p:nvPr/>
        </p:nvSpPr>
        <p:spPr>
          <a:xfrm>
            <a:off x="2926080" y="1463040"/>
            <a:ext cx="1700784" cy="438912"/>
          </a:xfrm>
          <a:prstGeom prst="rect">
            <a:avLst/>
          </a:prstGeom>
          <a:noFill/>
          <a:ln/>
        </p:spPr>
        <p:txBody>
          <a:bodyPr wrap="square" lIns="0" tIns="0" rIns="0" bIns="0" rtlCol="0" anchor="ctr"/>
          <a:lstStyle/>
          <a:p>
            <a:pPr indent="0" marL="0">
              <a:buNone/>
            </a:pPr>
            <a:r>
              <a:rPr lang="en-US" sz="1000" b="1" dirty="0">
                <a:solidFill>
                  <a:srgbClr val="EFDCCE"/>
                </a:solidFill>
                <a:latin typeface="Yu Gothic" pitchFamily="34" charset="0"/>
                <a:ea typeface="Yu Gothic" pitchFamily="34" charset="-122"/>
                <a:cs typeface="Yu Gothic" pitchFamily="34" charset="-120"/>
              </a:rPr>
              <a:t>収益源</a:t>
            </a:r>
            <a:endParaRPr lang="en-US" sz="1000" dirty="0"/>
          </a:p>
        </p:txBody>
      </p:sp>
      <p:sp>
        <p:nvSpPr>
          <p:cNvPr id="14" name="Text 10"/>
          <p:cNvSpPr/>
          <p:nvPr/>
        </p:nvSpPr>
        <p:spPr>
          <a:xfrm>
            <a:off x="4846320" y="1463040"/>
            <a:ext cx="2157984" cy="438912"/>
          </a:xfrm>
          <a:prstGeom prst="rect">
            <a:avLst/>
          </a:prstGeom>
          <a:noFill/>
          <a:ln/>
        </p:spPr>
        <p:txBody>
          <a:bodyPr wrap="square" lIns="0" tIns="0" rIns="0" bIns="0" rtlCol="0" anchor="ctr"/>
          <a:lstStyle/>
          <a:p>
            <a:pPr indent="0" marL="0">
              <a:buNone/>
            </a:pPr>
            <a:r>
              <a:rPr lang="en-US" sz="1000" b="1" dirty="0">
                <a:solidFill>
                  <a:srgbClr val="EFDCCE"/>
                </a:solidFill>
                <a:latin typeface="Yu Gothic" pitchFamily="34" charset="0"/>
                <a:ea typeface="Yu Gothic" pitchFamily="34" charset="-122"/>
                <a:cs typeface="Yu Gothic" pitchFamily="34" charset="-120"/>
              </a:rPr>
              <a:t>森ビル様の関与</a:t>
            </a:r>
            <a:endParaRPr lang="en-US" sz="1000" dirty="0"/>
          </a:p>
        </p:txBody>
      </p:sp>
      <p:sp>
        <p:nvSpPr>
          <p:cNvPr id="15" name="Text 11"/>
          <p:cNvSpPr/>
          <p:nvPr/>
        </p:nvSpPr>
        <p:spPr>
          <a:xfrm>
            <a:off x="7223760" y="1463040"/>
            <a:ext cx="2157984" cy="438912"/>
          </a:xfrm>
          <a:prstGeom prst="rect">
            <a:avLst/>
          </a:prstGeom>
          <a:noFill/>
          <a:ln/>
        </p:spPr>
        <p:txBody>
          <a:bodyPr wrap="square" lIns="0" tIns="0" rIns="0" bIns="0" rtlCol="0" anchor="ctr"/>
          <a:lstStyle/>
          <a:p>
            <a:pPr indent="0" marL="0">
              <a:buNone/>
            </a:pPr>
            <a:r>
              <a:rPr lang="en-US" sz="1000" b="1" dirty="0">
                <a:solidFill>
                  <a:srgbClr val="EFDCCE"/>
                </a:solidFill>
                <a:latin typeface="Yu Gothic" pitchFamily="34" charset="0"/>
                <a:ea typeface="Yu Gothic" pitchFamily="34" charset="-122"/>
                <a:cs typeface="Yu Gothic" pitchFamily="34" charset="-120"/>
              </a:rPr>
              <a:t>当社の関与</a:t>
            </a:r>
            <a:endParaRPr lang="en-US" sz="1000" dirty="0"/>
          </a:p>
        </p:txBody>
      </p:sp>
      <p:sp>
        <p:nvSpPr>
          <p:cNvPr id="16" name="Text 12"/>
          <p:cNvSpPr/>
          <p:nvPr/>
        </p:nvSpPr>
        <p:spPr>
          <a:xfrm>
            <a:off x="9601200" y="1463040"/>
            <a:ext cx="1911096" cy="438912"/>
          </a:xfrm>
          <a:prstGeom prst="rect">
            <a:avLst/>
          </a:prstGeom>
          <a:noFill/>
          <a:ln/>
        </p:spPr>
        <p:txBody>
          <a:bodyPr wrap="square" lIns="0" tIns="0" rIns="0" bIns="0" rtlCol="0" anchor="ctr"/>
          <a:lstStyle/>
          <a:p>
            <a:pPr indent="0" marL="0">
              <a:buNone/>
            </a:pPr>
            <a:r>
              <a:rPr lang="en-US" sz="1000" b="1" dirty="0">
                <a:solidFill>
                  <a:srgbClr val="EFDCCE"/>
                </a:solidFill>
                <a:latin typeface="Yu Gothic" pitchFamily="34" charset="0"/>
                <a:ea typeface="Yu Gothic" pitchFamily="34" charset="-122"/>
                <a:cs typeface="Yu Gothic" pitchFamily="34" charset="-120"/>
              </a:rPr>
              <a:t>分配イメージ</a:t>
            </a:r>
            <a:endParaRPr lang="en-US" sz="1000" dirty="0"/>
          </a:p>
        </p:txBody>
      </p:sp>
      <p:sp>
        <p:nvSpPr>
          <p:cNvPr id="17" name="Text 13"/>
          <p:cNvSpPr/>
          <p:nvPr/>
        </p:nvSpPr>
        <p:spPr>
          <a:xfrm>
            <a:off x="566928" y="4974336"/>
            <a:ext cx="10972800" cy="256032"/>
          </a:xfrm>
          <a:prstGeom prst="rect">
            <a:avLst/>
          </a:prstGeom>
          <a:noFill/>
          <a:ln/>
        </p:spPr>
        <p:txBody>
          <a:bodyPr wrap="square" lIns="0" tIns="0" rIns="0" bIns="0" rtlCol="0" anchor="ctr"/>
          <a:lstStyle/>
          <a:p>
            <a:pPr indent="0" marL="0">
              <a:buNone/>
            </a:pPr>
            <a:r>
              <a:rPr lang="en-US" sz="940" dirty="0">
                <a:solidFill>
                  <a:srgbClr val="A6ABAF"/>
                </a:solidFill>
                <a:latin typeface="Yu Gothic" pitchFamily="34" charset="0"/>
                <a:ea typeface="Yu Gothic" pitchFamily="34" charset="-122"/>
                <a:cs typeface="Yu Gothic" pitchFamily="34" charset="-120"/>
              </a:rPr>
              <a:t>※ 分配率・賃料条件は個別協議のうえ決定させていただきたく存じます。上表は議論の出発点としての整理です。</a:t>
            </a:r>
            <a:endParaRPr lang="en-US" sz="940" dirty="0"/>
          </a:p>
        </p:txBody>
      </p:sp>
      <p:sp>
        <p:nvSpPr>
          <p:cNvPr id="18" name="Text 14"/>
          <p:cNvSpPr/>
          <p:nvPr/>
        </p:nvSpPr>
        <p:spPr>
          <a:xfrm>
            <a:off x="566928" y="5321808"/>
            <a:ext cx="10972800" cy="292608"/>
          </a:xfrm>
          <a:prstGeom prst="rect">
            <a:avLst/>
          </a:prstGeom>
          <a:noFill/>
          <a:ln/>
        </p:spPr>
        <p:txBody>
          <a:bodyPr wrap="square" lIns="0" tIns="0" rIns="0" bIns="0" rtlCol="0" anchor="ctr"/>
          <a:lstStyle/>
          <a:p>
            <a:pPr indent="0" marL="0">
              <a:buNone/>
            </a:pPr>
            <a:r>
              <a:rPr lang="en-US" sz="1080" b="1" dirty="0">
                <a:solidFill>
                  <a:srgbClr val="A06D4C"/>
                </a:solidFill>
                <a:latin typeface="Yu Gothic" pitchFamily="34" charset="0"/>
                <a:ea typeface="Yu Gothic" pitchFamily="34" charset="-122"/>
                <a:cs typeface="Yu Gothic" pitchFamily="34" charset="-120"/>
              </a:rPr>
              <a:t>段階導入の考え方：まずは①②③（設備投資ほぼ不要・3〜4か月で開始可能） → 効果検証のうえ ④⑤（区画を伴う出店） → ⑥は③と同時に付帯</a:t>
            </a:r>
            <a:endParaRPr lang="en-US" sz="108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381183" y="292608"/>
            <a:ext cx="1243584" cy="247802"/>
          </a:xfrm>
          <a:prstGeom prst="rect">
            <a:avLst/>
          </a:prstGeom>
        </p:spPr>
      </p:pic>
      <p:sp>
        <p:nvSpPr>
          <p:cNvPr id="3" name="Shape 0"/>
          <p:cNvSpPr/>
          <p:nvPr/>
        </p:nvSpPr>
        <p:spPr>
          <a:xfrm>
            <a:off x="566928" y="292608"/>
            <a:ext cx="786384" cy="237744"/>
          </a:xfrm>
          <a:prstGeom prst="roundRect">
            <a:avLst>
              <a:gd name="adj" fmla="val 11538"/>
            </a:avLst>
          </a:prstGeom>
          <a:solidFill>
            <a:srgbClr val="C68A65"/>
          </a:solidFill>
          <a:ln w="12700">
            <a:solidFill>
              <a:srgbClr val="333333"/>
            </a:solidFill>
            <a:prstDash val="solid"/>
          </a:ln>
        </p:spPr>
      </p:sp>
      <p:sp>
        <p:nvSpPr>
          <p:cNvPr id="4" name="Text 1"/>
          <p:cNvSpPr/>
          <p:nvPr/>
        </p:nvSpPr>
        <p:spPr>
          <a:xfrm>
            <a:off x="566928" y="292608"/>
            <a:ext cx="786384"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Yu Gothic" pitchFamily="34" charset="0"/>
                <a:ea typeface="Yu Gothic" pitchFamily="34" charset="-122"/>
                <a:cs typeface="Yu Gothic" pitchFamily="34" charset="-120"/>
              </a:rPr>
              <a:t>SIZING</a:t>
            </a:r>
            <a:endParaRPr lang="en-US" sz="850" dirty="0"/>
          </a:p>
        </p:txBody>
      </p:sp>
      <p:sp>
        <p:nvSpPr>
          <p:cNvPr id="5" name="Text 2"/>
          <p:cNvSpPr/>
          <p:nvPr/>
        </p:nvSpPr>
        <p:spPr>
          <a:xfrm>
            <a:off x="566928" y="585216"/>
            <a:ext cx="9509760" cy="420624"/>
          </a:xfrm>
          <a:prstGeom prst="rect">
            <a:avLst/>
          </a:prstGeom>
          <a:noFill/>
          <a:ln/>
        </p:spPr>
        <p:txBody>
          <a:bodyPr wrap="square" lIns="0" tIns="0" rIns="0" bIns="0" rtlCol="0" anchor="ctr"/>
          <a:lstStyle/>
          <a:p>
            <a:pPr indent="0" marL="0">
              <a:buNone/>
            </a:pPr>
            <a:r>
              <a:rPr lang="en-US" sz="2300" b="1" dirty="0">
                <a:solidFill>
                  <a:srgbClr val="1A1A1A"/>
                </a:solidFill>
                <a:latin typeface="Yu Gothic" pitchFamily="34" charset="0"/>
                <a:ea typeface="Yu Gothic" pitchFamily="34" charset="-122"/>
                <a:cs typeface="Yu Gothic" pitchFamily="34" charset="-120"/>
              </a:rPr>
              <a:t>事業規模イメージ（当社試算）</a:t>
            </a:r>
            <a:endParaRPr lang="en-US" sz="2300" dirty="0"/>
          </a:p>
        </p:txBody>
      </p:sp>
      <p:sp>
        <p:nvSpPr>
          <p:cNvPr id="6" name="Text 3"/>
          <p:cNvSpPr/>
          <p:nvPr/>
        </p:nvSpPr>
        <p:spPr>
          <a:xfrm>
            <a:off x="566928" y="1024128"/>
            <a:ext cx="11057839" cy="310896"/>
          </a:xfrm>
          <a:prstGeom prst="rect">
            <a:avLst/>
          </a:prstGeom>
          <a:noFill/>
          <a:ln/>
        </p:spPr>
        <p:txBody>
          <a:bodyPr wrap="square" lIns="0" tIns="0" rIns="0" bIns="0" rtlCol="0" anchor="ctr"/>
          <a:lstStyle/>
          <a:p>
            <a:pPr indent="0" marL="0">
              <a:lnSpc>
                <a:spcPts val="1700"/>
              </a:lnSpc>
              <a:buNone/>
            </a:pPr>
            <a:r>
              <a:rPr lang="en-US" sz="1150" dirty="0">
                <a:solidFill>
                  <a:srgbClr val="6E7378"/>
                </a:solidFill>
                <a:latin typeface="Yu Gothic" pitchFamily="34" charset="0"/>
                <a:ea typeface="Yu Gothic" pitchFamily="34" charset="-122"/>
                <a:cs typeface="Yu Gothic" pitchFamily="34" charset="-120"/>
              </a:rPr>
              <a:t>森ビル様と共有すべき前提を明示したうえでの試算です。数値は今後のすり合わせで更新させていただきます。</a:t>
            </a:r>
            <a:endParaRPr lang="en-US" sz="1150" dirty="0"/>
          </a:p>
        </p:txBody>
      </p:sp>
      <p:sp>
        <p:nvSpPr>
          <p:cNvPr id="7" name="Shape 4"/>
          <p:cNvSpPr/>
          <p:nvPr/>
        </p:nvSpPr>
        <p:spPr>
          <a:xfrm>
            <a:off x="0" y="6583680"/>
            <a:ext cx="12191695" cy="274320"/>
          </a:xfrm>
          <a:prstGeom prst="rect">
            <a:avLst/>
          </a:prstGeom>
          <a:solidFill>
            <a:srgbClr val="2F3941"/>
          </a:solidFill>
          <a:ln w="12700">
            <a:solidFill>
              <a:srgbClr val="333333"/>
            </a:solidFill>
            <a:prstDash val="solid"/>
          </a:ln>
        </p:spPr>
      </p:sp>
      <p:sp>
        <p:nvSpPr>
          <p:cNvPr id="8" name="Text 5"/>
          <p:cNvSpPr/>
          <p:nvPr/>
        </p:nvSpPr>
        <p:spPr>
          <a:xfrm>
            <a:off x="10893247" y="6272784"/>
            <a:ext cx="731520" cy="256032"/>
          </a:xfrm>
          <a:prstGeom prst="rect">
            <a:avLst/>
          </a:prstGeom>
          <a:noFill/>
          <a:ln/>
        </p:spPr>
        <p:txBody>
          <a:bodyPr wrap="square" lIns="0" tIns="0" rIns="0" bIns="0" rtlCol="0" anchor="ctr"/>
          <a:lstStyle/>
          <a:p>
            <a:pPr algn="r" indent="0" marL="0">
              <a:buNone/>
            </a:pPr>
            <a:r>
              <a:rPr lang="en-US" sz="1000" dirty="0">
                <a:solidFill>
                  <a:srgbClr val="A6ABAF"/>
                </a:solidFill>
                <a:latin typeface="Calibri" pitchFamily="34" charset="0"/>
                <a:ea typeface="Calibri" pitchFamily="34" charset="-122"/>
                <a:cs typeface="Calibri" pitchFamily="34" charset="-120"/>
              </a:rPr>
              <a:t>20</a:t>
            </a:r>
            <a:endParaRPr lang="en-US" sz="1000" dirty="0"/>
          </a:p>
        </p:txBody>
      </p:sp>
      <p:sp>
        <p:nvSpPr>
          <p:cNvPr id="9" name="Text 6"/>
          <p:cNvSpPr/>
          <p:nvPr/>
        </p:nvSpPr>
        <p:spPr>
          <a:xfrm>
            <a:off x="566928" y="6272784"/>
            <a:ext cx="2926080" cy="256032"/>
          </a:xfrm>
          <a:prstGeom prst="rect">
            <a:avLst/>
          </a:prstGeom>
          <a:noFill/>
          <a:ln/>
        </p:spPr>
        <p:txBody>
          <a:bodyPr wrap="square" lIns="0" tIns="0" rIns="0" bIns="0" rtlCol="0" anchor="ctr"/>
          <a:lstStyle/>
          <a:p>
            <a:pPr indent="0" marL="0">
              <a:buNone/>
            </a:pPr>
            <a:r>
              <a:rPr lang="en-US" sz="850" spc="120" kern="0" dirty="0">
                <a:solidFill>
                  <a:srgbClr val="C7CACC"/>
                </a:solidFill>
                <a:latin typeface="Calibri" pitchFamily="34" charset="0"/>
                <a:ea typeface="Calibri" pitchFamily="34" charset="-122"/>
                <a:cs typeface="Calibri" pitchFamily="34" charset="-120"/>
              </a:rPr>
              <a:t>CONFIDENTIAL</a:t>
            </a:r>
            <a:endParaRPr lang="en-US" sz="850" dirty="0"/>
          </a:p>
        </p:txBody>
      </p:sp>
      <p:sp>
        <p:nvSpPr>
          <p:cNvPr id="10" name="Text 7"/>
          <p:cNvSpPr/>
          <p:nvPr/>
        </p:nvSpPr>
        <p:spPr>
          <a:xfrm>
            <a:off x="566928" y="1463040"/>
            <a:ext cx="3840480" cy="274320"/>
          </a:xfrm>
          <a:prstGeom prst="rect">
            <a:avLst/>
          </a:prstGeom>
          <a:noFill/>
          <a:ln/>
        </p:spPr>
        <p:txBody>
          <a:bodyPr wrap="square" lIns="0" tIns="0" rIns="0" bIns="0" rtlCol="0" anchor="ctr"/>
          <a:lstStyle/>
          <a:p>
            <a:pPr indent="0" marL="0">
              <a:buNone/>
            </a:pPr>
            <a:r>
              <a:rPr lang="en-US" sz="1300" b="1" dirty="0">
                <a:solidFill>
                  <a:srgbClr val="1A1A1A"/>
                </a:solidFill>
                <a:latin typeface="Yu Gothic" pitchFamily="34" charset="0"/>
                <a:ea typeface="Yu Gothic" pitchFamily="34" charset="-122"/>
                <a:cs typeface="Yu Gothic" pitchFamily="34" charset="-120"/>
              </a:rPr>
              <a:t>Cloud Wine Cave 導入店舗数（店）</a:t>
            </a:r>
            <a:endParaRPr lang="en-US" sz="1300" dirty="0"/>
          </a:p>
        </p:txBody>
      </p:sp>
      <p:graphicFrame>
        <p:nvGraphicFramePr>
          <p:cNvPr id="11" name="Chart 0" descr=""/>
          <p:cNvGraphicFramePr/>
          <p:nvPr/>
        </p:nvGraphicFramePr>
        <p:xfrm>
          <a:off x="475488" y="1773936"/>
          <a:ext cx="3749040" cy="2560320"/>
        </p:xfrm>
        <a:graphic xmlns:a="http://schemas.openxmlformats.org/drawingml/2006/main">
          <a:graphicData uri="http://schemas.openxmlformats.org/drawingml/2006/chart">
            <c:chart xmlns:c="http://schemas.openxmlformats.org/drawingml/2006/chart" r:id="rId2"/>
          </a:graphicData>
        </a:graphic>
      </p:graphicFrame>
      <p:sp>
        <p:nvSpPr>
          <p:cNvPr id="12" name="Text 8"/>
          <p:cNvSpPr/>
          <p:nvPr/>
        </p:nvSpPr>
        <p:spPr>
          <a:xfrm>
            <a:off x="4535424" y="1463040"/>
            <a:ext cx="4023360" cy="274320"/>
          </a:xfrm>
          <a:prstGeom prst="rect">
            <a:avLst/>
          </a:prstGeom>
          <a:noFill/>
          <a:ln/>
        </p:spPr>
        <p:txBody>
          <a:bodyPr wrap="square" lIns="0" tIns="0" rIns="0" bIns="0" rtlCol="0" anchor="ctr"/>
          <a:lstStyle/>
          <a:p>
            <a:pPr indent="0" marL="0">
              <a:buNone/>
            </a:pPr>
            <a:r>
              <a:rPr lang="en-US" sz="1300" b="1" dirty="0">
                <a:solidFill>
                  <a:srgbClr val="1A1A1A"/>
                </a:solidFill>
                <a:latin typeface="Yu Gothic" pitchFamily="34" charset="0"/>
                <a:ea typeface="Yu Gothic" pitchFamily="34" charset="-122"/>
                <a:cs typeface="Yu Gothic" pitchFamily="34" charset="-120"/>
              </a:rPr>
              <a:t>年間流通総額の想定（百万円）</a:t>
            </a:r>
            <a:endParaRPr lang="en-US" sz="1300" dirty="0"/>
          </a:p>
        </p:txBody>
      </p:sp>
      <p:graphicFrame>
        <p:nvGraphicFramePr>
          <p:cNvPr id="13" name="Chart 1" descr=""/>
          <p:cNvGraphicFramePr/>
          <p:nvPr/>
        </p:nvGraphicFramePr>
        <p:xfrm>
          <a:off x="4443984" y="1773936"/>
          <a:ext cx="3931920" cy="2560320"/>
        </p:xfrm>
        <a:graphic xmlns:a="http://schemas.openxmlformats.org/drawingml/2006/main">
          <a:graphicData uri="http://schemas.openxmlformats.org/drawingml/2006/chart">
            <c:chart xmlns:c="http://schemas.openxmlformats.org/drawingml/2006/chart" r:id="rId3"/>
          </a:graphicData>
        </a:graphic>
      </p:graphicFrame>
      <p:sp>
        <p:nvSpPr>
          <p:cNvPr id="14" name="Shape 9"/>
          <p:cNvSpPr/>
          <p:nvPr/>
        </p:nvSpPr>
        <p:spPr>
          <a:xfrm>
            <a:off x="8668512" y="1463040"/>
            <a:ext cx="2956255" cy="3749040"/>
          </a:xfrm>
          <a:prstGeom prst="roundRect">
            <a:avLst>
              <a:gd name="adj" fmla="val 1547"/>
            </a:avLst>
          </a:prstGeom>
          <a:solidFill>
            <a:srgbClr val="F6F6F6"/>
          </a:solidFill>
          <a:ln w="12700">
            <a:solidFill>
              <a:srgbClr val="333333"/>
            </a:solidFill>
            <a:prstDash val="solid"/>
          </a:ln>
        </p:spPr>
      </p:sp>
      <p:sp>
        <p:nvSpPr>
          <p:cNvPr id="15" name="Text 10"/>
          <p:cNvSpPr/>
          <p:nvPr/>
        </p:nvSpPr>
        <p:spPr>
          <a:xfrm>
            <a:off x="8942832" y="1627632"/>
            <a:ext cx="2407615" cy="274320"/>
          </a:xfrm>
          <a:prstGeom prst="rect">
            <a:avLst/>
          </a:prstGeom>
          <a:noFill/>
          <a:ln/>
        </p:spPr>
        <p:txBody>
          <a:bodyPr wrap="square" lIns="0" tIns="0" rIns="0" bIns="0" rtlCol="0" anchor="ctr"/>
          <a:lstStyle/>
          <a:p>
            <a:pPr indent="0" marL="0">
              <a:buNone/>
            </a:pPr>
            <a:r>
              <a:rPr lang="en-US" sz="1400" b="1" dirty="0">
                <a:solidFill>
                  <a:srgbClr val="1A1A1A"/>
                </a:solidFill>
                <a:latin typeface="Yu Gothic" pitchFamily="34" charset="0"/>
                <a:ea typeface="Yu Gothic" pitchFamily="34" charset="-122"/>
                <a:cs typeface="Yu Gothic" pitchFamily="34" charset="-120"/>
              </a:rPr>
              <a:t>試算の前提</a:t>
            </a:r>
            <a:endParaRPr lang="en-US" sz="1400" dirty="0"/>
          </a:p>
        </p:txBody>
      </p:sp>
      <p:sp>
        <p:nvSpPr>
          <p:cNvPr id="16" name="Text 11"/>
          <p:cNvSpPr/>
          <p:nvPr/>
        </p:nvSpPr>
        <p:spPr>
          <a:xfrm>
            <a:off x="8942832" y="1975104"/>
            <a:ext cx="2407615" cy="2999232"/>
          </a:xfrm>
          <a:prstGeom prst="rect">
            <a:avLst/>
          </a:prstGeom>
          <a:noFill/>
          <a:ln/>
        </p:spPr>
        <p:txBody>
          <a:bodyPr wrap="square" lIns="0" tIns="0" rIns="0" bIns="0" rtlCol="0" anchor="ctr"/>
          <a:lstStyle/>
          <a:p>
            <a:pPr marL="342900" indent="-342900">
              <a:lnSpc>
                <a:spcPts val="1350"/>
              </a:lnSpc>
              <a:spcAft>
                <a:spcPts val="600"/>
              </a:spcAft>
              <a:buSzPct val="100000"/>
              <a:buChar char="▪"/>
            </a:pPr>
            <a:r>
              <a:rPr lang="en-US" sz="960" dirty="0">
                <a:solidFill>
                  <a:srgbClr val="1A1A1A"/>
                </a:solidFill>
                <a:latin typeface="Yu Gothic" pitchFamily="34" charset="0"/>
                <a:ea typeface="Yu Gothic" pitchFamily="34" charset="-122"/>
                <a:cs typeface="Yu Gothic" pitchFamily="34" charset="-120"/>
              </a:rPr>
              <a:t>対象：主要ヒルズのテナント飲食店、オフィスワーカー、レジデンス居住者（規模は森ビル様公表値をもとに要確認）</a:t>
            </a:r>
            <a:endParaRPr lang="en-US" sz="960" dirty="0"/>
          </a:p>
          <a:p>
            <a:pPr marL="342900" indent="-342900">
              <a:lnSpc>
                <a:spcPts val="1350"/>
              </a:lnSpc>
              <a:spcAft>
                <a:spcPts val="600"/>
              </a:spcAft>
              <a:buSzPct val="100000"/>
              <a:buChar char="▪"/>
            </a:pPr>
            <a:r>
              <a:rPr lang="en-US" sz="960" dirty="0">
                <a:solidFill>
                  <a:srgbClr val="1A1A1A"/>
                </a:solidFill>
                <a:latin typeface="Yu Gothic" pitchFamily="34" charset="0"/>
                <a:ea typeface="Yu Gothic" pitchFamily="34" charset="-122"/>
                <a:cs typeface="Yu Gothic" pitchFamily="34" charset="-120"/>
              </a:rPr>
              <a:t>Cloud Wine Cave：1店あたり月商 80〜120万円を想定</a:t>
            </a:r>
            <a:endParaRPr lang="en-US" sz="960" dirty="0"/>
          </a:p>
          <a:p>
            <a:pPr marL="342900" indent="-342900">
              <a:lnSpc>
                <a:spcPts val="1350"/>
              </a:lnSpc>
              <a:spcAft>
                <a:spcPts val="600"/>
              </a:spcAft>
              <a:buSzPct val="100000"/>
              <a:buChar char="▪"/>
            </a:pPr>
            <a:r>
              <a:rPr lang="en-US" sz="960" dirty="0">
                <a:solidFill>
                  <a:srgbClr val="1A1A1A"/>
                </a:solidFill>
                <a:latin typeface="Yu Gothic" pitchFamily="34" charset="0"/>
                <a:ea typeface="Yu Gothic" pitchFamily="34" charset="-122"/>
                <a:cs typeface="Yu Gothic" pitchFamily="34" charset="-120"/>
              </a:rPr>
              <a:t>CLUB会員：Y1 200名 → Y3 1,000名、ARPU 年35万円</a:t>
            </a:r>
            <a:endParaRPr lang="en-US" sz="960" dirty="0"/>
          </a:p>
          <a:p>
            <a:pPr marL="342900" indent="-342900">
              <a:lnSpc>
                <a:spcPts val="1350"/>
              </a:lnSpc>
              <a:spcAft>
                <a:spcPts val="600"/>
              </a:spcAft>
              <a:buSzPct val="100000"/>
              <a:buChar char="▪"/>
            </a:pPr>
            <a:r>
              <a:rPr lang="en-US" sz="960" dirty="0">
                <a:solidFill>
                  <a:srgbClr val="1A1A1A"/>
                </a:solidFill>
                <a:latin typeface="Yu Gothic" pitchFamily="34" charset="0"/>
                <a:ea typeface="Yu Gothic" pitchFamily="34" charset="-122"/>
                <a:cs typeface="Yu Gothic" pitchFamily="34" charset="-120"/>
              </a:rPr>
              <a:t>クラウドワインセラー：Y2開業、年商4.0〜4.5億円</a:t>
            </a:r>
            <a:endParaRPr lang="en-US" sz="960" dirty="0"/>
          </a:p>
          <a:p>
            <a:pPr marL="342900" indent="-342900">
              <a:lnSpc>
                <a:spcPts val="1350"/>
              </a:lnSpc>
              <a:spcAft>
                <a:spcPts val="600"/>
              </a:spcAft>
              <a:buSzPct val="100000"/>
              <a:buChar char="▪"/>
            </a:pPr>
            <a:r>
              <a:rPr lang="en-US" sz="960" dirty="0">
                <a:solidFill>
                  <a:srgbClr val="1A1A1A"/>
                </a:solidFill>
                <a:latin typeface="Yu Gothic" pitchFamily="34" charset="0"/>
                <a:ea typeface="Yu Gothic" pitchFamily="34" charset="-122"/>
                <a:cs typeface="Yu Gothic" pitchFamily="34" charset="-120"/>
              </a:rPr>
              <a:t>レストラン業態：Y3開業、年商6.0億円</a:t>
            </a:r>
            <a:endParaRPr lang="en-US" sz="960" dirty="0"/>
          </a:p>
          <a:p>
            <a:pPr marL="342900" indent="-342900">
              <a:lnSpc>
                <a:spcPts val="1350"/>
              </a:lnSpc>
              <a:spcAft>
                <a:spcPts val="600"/>
              </a:spcAft>
              <a:buSzPct val="100000"/>
              <a:buChar char="▪"/>
            </a:pPr>
            <a:r>
              <a:rPr lang="en-US" sz="960" dirty="0">
                <a:solidFill>
                  <a:srgbClr val="1A1A1A"/>
                </a:solidFill>
                <a:latin typeface="Yu Gothic" pitchFamily="34" charset="0"/>
                <a:ea typeface="Yu Gothic" pitchFamily="34" charset="-122"/>
                <a:cs typeface="Yu Gothic" pitchFamily="34" charset="-120"/>
              </a:rPr>
              <a:t>森ビル様配分：流通総額の概ね10%前後（賃料・歩合・RS合算）</a:t>
            </a:r>
            <a:endParaRPr lang="en-US" sz="960" dirty="0"/>
          </a:p>
        </p:txBody>
      </p:sp>
      <p:sp>
        <p:nvSpPr>
          <p:cNvPr id="17" name="Shape 12"/>
          <p:cNvSpPr/>
          <p:nvPr/>
        </p:nvSpPr>
        <p:spPr>
          <a:xfrm>
            <a:off x="512064" y="4590288"/>
            <a:ext cx="2474976" cy="713232"/>
          </a:xfrm>
          <a:prstGeom prst="roundRect">
            <a:avLst>
              <a:gd name="adj" fmla="val 6410"/>
            </a:avLst>
          </a:prstGeom>
          <a:solidFill>
            <a:srgbClr val="2F3941"/>
          </a:solidFill>
          <a:ln w="12700">
            <a:solidFill>
              <a:srgbClr val="333333"/>
            </a:solidFill>
            <a:prstDash val="solid"/>
          </a:ln>
        </p:spPr>
      </p:sp>
      <p:sp>
        <p:nvSpPr>
          <p:cNvPr id="18" name="Text 13"/>
          <p:cNvSpPr/>
          <p:nvPr/>
        </p:nvSpPr>
        <p:spPr>
          <a:xfrm>
            <a:off x="713232" y="4663440"/>
            <a:ext cx="2072640" cy="310896"/>
          </a:xfrm>
          <a:prstGeom prst="rect">
            <a:avLst/>
          </a:prstGeom>
          <a:noFill/>
          <a:ln/>
        </p:spPr>
        <p:txBody>
          <a:bodyPr wrap="square" lIns="0" tIns="0" rIns="0" bIns="0" rtlCol="0" anchor="ctr"/>
          <a:lstStyle/>
          <a:p>
            <a:pPr indent="0" marL="0">
              <a:buNone/>
            </a:pPr>
            <a:r>
              <a:rPr lang="en-US" sz="1600" b="1" dirty="0">
                <a:solidFill>
                  <a:srgbClr val="EFDCCE"/>
                </a:solidFill>
                <a:latin typeface="Yu Gothic" pitchFamily="34" charset="0"/>
                <a:ea typeface="Yu Gothic" pitchFamily="34" charset="-122"/>
                <a:cs typeface="Yu Gothic" pitchFamily="34" charset="-120"/>
              </a:rPr>
              <a:t>35店</a:t>
            </a:r>
            <a:endParaRPr lang="en-US" sz="1600" dirty="0"/>
          </a:p>
        </p:txBody>
      </p:sp>
      <p:sp>
        <p:nvSpPr>
          <p:cNvPr id="19" name="Text 14"/>
          <p:cNvSpPr/>
          <p:nvPr/>
        </p:nvSpPr>
        <p:spPr>
          <a:xfrm>
            <a:off x="713232" y="4992624"/>
            <a:ext cx="2072640" cy="237744"/>
          </a:xfrm>
          <a:prstGeom prst="rect">
            <a:avLst/>
          </a:prstGeom>
          <a:noFill/>
          <a:ln/>
        </p:spPr>
        <p:txBody>
          <a:bodyPr wrap="square" lIns="0" tIns="0" rIns="0" bIns="0" rtlCol="0" anchor="ctr"/>
          <a:lstStyle/>
          <a:p>
            <a:pPr indent="0" marL="0">
              <a:buNone/>
            </a:pPr>
            <a:r>
              <a:rPr lang="en-US" sz="860" dirty="0">
                <a:solidFill>
                  <a:srgbClr val="B9BEC2"/>
                </a:solidFill>
                <a:latin typeface="Yu Gothic" pitchFamily="34" charset="0"/>
                <a:ea typeface="Yu Gothic" pitchFamily="34" charset="-122"/>
                <a:cs typeface="Yu Gothic" pitchFamily="34" charset="-120"/>
              </a:rPr>
              <a:t>Year 3 導入店舗数</a:t>
            </a:r>
            <a:endParaRPr lang="en-US" sz="860" dirty="0"/>
          </a:p>
        </p:txBody>
      </p:sp>
      <p:sp>
        <p:nvSpPr>
          <p:cNvPr id="20" name="Shape 15"/>
          <p:cNvSpPr/>
          <p:nvPr/>
        </p:nvSpPr>
        <p:spPr>
          <a:xfrm>
            <a:off x="3206496" y="4590288"/>
            <a:ext cx="2474976" cy="713232"/>
          </a:xfrm>
          <a:prstGeom prst="roundRect">
            <a:avLst>
              <a:gd name="adj" fmla="val 6410"/>
            </a:avLst>
          </a:prstGeom>
          <a:solidFill>
            <a:srgbClr val="2F3941"/>
          </a:solidFill>
          <a:ln w="12700">
            <a:solidFill>
              <a:srgbClr val="333333"/>
            </a:solidFill>
            <a:prstDash val="solid"/>
          </a:ln>
        </p:spPr>
      </p:sp>
      <p:sp>
        <p:nvSpPr>
          <p:cNvPr id="21" name="Text 16"/>
          <p:cNvSpPr/>
          <p:nvPr/>
        </p:nvSpPr>
        <p:spPr>
          <a:xfrm>
            <a:off x="3407664" y="4663440"/>
            <a:ext cx="2072640" cy="310896"/>
          </a:xfrm>
          <a:prstGeom prst="rect">
            <a:avLst/>
          </a:prstGeom>
          <a:noFill/>
          <a:ln/>
        </p:spPr>
        <p:txBody>
          <a:bodyPr wrap="square" lIns="0" tIns="0" rIns="0" bIns="0" rtlCol="0" anchor="ctr"/>
          <a:lstStyle/>
          <a:p>
            <a:pPr indent="0" marL="0">
              <a:buNone/>
            </a:pPr>
            <a:r>
              <a:rPr lang="en-US" sz="1600" b="1" dirty="0">
                <a:solidFill>
                  <a:srgbClr val="EFDCCE"/>
                </a:solidFill>
                <a:latin typeface="Yu Gothic" pitchFamily="34" charset="0"/>
                <a:ea typeface="Yu Gothic" pitchFamily="34" charset="-122"/>
                <a:cs typeface="Yu Gothic" pitchFamily="34" charset="-120"/>
              </a:rPr>
              <a:t>14.8億円</a:t>
            </a:r>
            <a:endParaRPr lang="en-US" sz="1600" dirty="0"/>
          </a:p>
        </p:txBody>
      </p:sp>
      <p:sp>
        <p:nvSpPr>
          <p:cNvPr id="22" name="Text 17"/>
          <p:cNvSpPr/>
          <p:nvPr/>
        </p:nvSpPr>
        <p:spPr>
          <a:xfrm>
            <a:off x="3407664" y="4992624"/>
            <a:ext cx="2072640" cy="237744"/>
          </a:xfrm>
          <a:prstGeom prst="rect">
            <a:avLst/>
          </a:prstGeom>
          <a:noFill/>
          <a:ln/>
        </p:spPr>
        <p:txBody>
          <a:bodyPr wrap="square" lIns="0" tIns="0" rIns="0" bIns="0" rtlCol="0" anchor="ctr"/>
          <a:lstStyle/>
          <a:p>
            <a:pPr indent="0" marL="0">
              <a:buNone/>
            </a:pPr>
            <a:r>
              <a:rPr lang="en-US" sz="860" dirty="0">
                <a:solidFill>
                  <a:srgbClr val="B9BEC2"/>
                </a:solidFill>
                <a:latin typeface="Yu Gothic" pitchFamily="34" charset="0"/>
                <a:ea typeface="Yu Gothic" pitchFamily="34" charset="-122"/>
                <a:cs typeface="Yu Gothic" pitchFamily="34" charset="-120"/>
              </a:rPr>
              <a:t>Year 3 年間流通総額</a:t>
            </a:r>
            <a:endParaRPr lang="en-US" sz="860" dirty="0"/>
          </a:p>
        </p:txBody>
      </p:sp>
      <p:sp>
        <p:nvSpPr>
          <p:cNvPr id="23" name="Shape 18"/>
          <p:cNvSpPr/>
          <p:nvPr/>
        </p:nvSpPr>
        <p:spPr>
          <a:xfrm>
            <a:off x="5900928" y="4590288"/>
            <a:ext cx="2474976" cy="713232"/>
          </a:xfrm>
          <a:prstGeom prst="roundRect">
            <a:avLst>
              <a:gd name="adj" fmla="val 6410"/>
            </a:avLst>
          </a:prstGeom>
          <a:solidFill>
            <a:srgbClr val="2F3941"/>
          </a:solidFill>
          <a:ln w="12700">
            <a:solidFill>
              <a:srgbClr val="333333"/>
            </a:solidFill>
            <a:prstDash val="solid"/>
          </a:ln>
        </p:spPr>
      </p:sp>
      <p:sp>
        <p:nvSpPr>
          <p:cNvPr id="24" name="Text 19"/>
          <p:cNvSpPr/>
          <p:nvPr/>
        </p:nvSpPr>
        <p:spPr>
          <a:xfrm>
            <a:off x="6102096" y="4663440"/>
            <a:ext cx="2072640" cy="310896"/>
          </a:xfrm>
          <a:prstGeom prst="rect">
            <a:avLst/>
          </a:prstGeom>
          <a:noFill/>
          <a:ln/>
        </p:spPr>
        <p:txBody>
          <a:bodyPr wrap="square" lIns="0" tIns="0" rIns="0" bIns="0" rtlCol="0" anchor="ctr"/>
          <a:lstStyle/>
          <a:p>
            <a:pPr indent="0" marL="0">
              <a:buNone/>
            </a:pPr>
            <a:r>
              <a:rPr lang="en-US" sz="1600" b="1" dirty="0">
                <a:solidFill>
                  <a:srgbClr val="EFDCCE"/>
                </a:solidFill>
                <a:latin typeface="Yu Gothic" pitchFamily="34" charset="0"/>
                <a:ea typeface="Yu Gothic" pitchFamily="34" charset="-122"/>
                <a:cs typeface="Yu Gothic" pitchFamily="34" charset="-120"/>
              </a:rPr>
              <a:t>約1.5億円</a:t>
            </a:r>
            <a:endParaRPr lang="en-US" sz="1600" dirty="0"/>
          </a:p>
        </p:txBody>
      </p:sp>
      <p:sp>
        <p:nvSpPr>
          <p:cNvPr id="25" name="Text 20"/>
          <p:cNvSpPr/>
          <p:nvPr/>
        </p:nvSpPr>
        <p:spPr>
          <a:xfrm>
            <a:off x="6102096" y="4992624"/>
            <a:ext cx="2072640" cy="237744"/>
          </a:xfrm>
          <a:prstGeom prst="rect">
            <a:avLst/>
          </a:prstGeom>
          <a:noFill/>
          <a:ln/>
        </p:spPr>
        <p:txBody>
          <a:bodyPr wrap="square" lIns="0" tIns="0" rIns="0" bIns="0" rtlCol="0" anchor="ctr"/>
          <a:lstStyle/>
          <a:p>
            <a:pPr indent="0" marL="0">
              <a:buNone/>
            </a:pPr>
            <a:r>
              <a:rPr lang="en-US" sz="860" dirty="0">
                <a:solidFill>
                  <a:srgbClr val="B9BEC2"/>
                </a:solidFill>
                <a:latin typeface="Yu Gothic" pitchFamily="34" charset="0"/>
                <a:ea typeface="Yu Gothic" pitchFamily="34" charset="-122"/>
                <a:cs typeface="Yu Gothic" pitchFamily="34" charset="-120"/>
              </a:rPr>
              <a:t>うち森ビル様配分（イメージ）</a:t>
            </a:r>
            <a:endParaRPr lang="en-US" sz="860" dirty="0"/>
          </a:p>
        </p:txBody>
      </p:sp>
      <p:sp>
        <p:nvSpPr>
          <p:cNvPr id="26" name="Text 21"/>
          <p:cNvSpPr/>
          <p:nvPr/>
        </p:nvSpPr>
        <p:spPr>
          <a:xfrm>
            <a:off x="566928" y="5431536"/>
            <a:ext cx="10972800" cy="256032"/>
          </a:xfrm>
          <a:prstGeom prst="rect">
            <a:avLst/>
          </a:prstGeom>
          <a:noFill/>
          <a:ln/>
        </p:spPr>
        <p:txBody>
          <a:bodyPr wrap="square" lIns="0" tIns="0" rIns="0" bIns="0" rtlCol="0" anchor="ctr"/>
          <a:lstStyle/>
          <a:p>
            <a:pPr indent="0" marL="0">
              <a:buNone/>
            </a:pPr>
            <a:r>
              <a:rPr lang="en-US" sz="880" dirty="0">
                <a:solidFill>
                  <a:srgbClr val="A6ABAF"/>
                </a:solidFill>
                <a:latin typeface="Yu Gothic" pitchFamily="34" charset="0"/>
                <a:ea typeface="Yu Gothic" pitchFamily="34" charset="-122"/>
                <a:cs typeface="Yu Gothic" pitchFamily="34" charset="-120"/>
              </a:rPr>
              <a:t>※ 上記は当社による試算であり、確定的な見通しではありません。母集団・転換率は森ビル様のデータをいただいたうえで精緻化させていただきます。</a:t>
            </a:r>
            <a:endParaRPr lang="en-US" sz="88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381183" y="292608"/>
            <a:ext cx="1243584" cy="247802"/>
          </a:xfrm>
          <a:prstGeom prst="rect">
            <a:avLst/>
          </a:prstGeom>
        </p:spPr>
      </p:pic>
      <p:sp>
        <p:nvSpPr>
          <p:cNvPr id="3" name="Shape 0"/>
          <p:cNvSpPr/>
          <p:nvPr/>
        </p:nvSpPr>
        <p:spPr>
          <a:xfrm>
            <a:off x="566928" y="292608"/>
            <a:ext cx="868680" cy="237744"/>
          </a:xfrm>
          <a:prstGeom prst="roundRect">
            <a:avLst>
              <a:gd name="adj" fmla="val 11538"/>
            </a:avLst>
          </a:prstGeom>
          <a:solidFill>
            <a:srgbClr val="C68A65"/>
          </a:solidFill>
          <a:ln w="12700">
            <a:solidFill>
              <a:srgbClr val="333333"/>
            </a:solidFill>
            <a:prstDash val="solid"/>
          </a:ln>
        </p:spPr>
      </p:sp>
      <p:sp>
        <p:nvSpPr>
          <p:cNvPr id="4" name="Text 1"/>
          <p:cNvSpPr/>
          <p:nvPr/>
        </p:nvSpPr>
        <p:spPr>
          <a:xfrm>
            <a:off x="566928" y="292608"/>
            <a:ext cx="86868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Yu Gothic" pitchFamily="34" charset="0"/>
                <a:ea typeface="Yu Gothic" pitchFamily="34" charset="-122"/>
                <a:cs typeface="Yu Gothic" pitchFamily="34" charset="-120"/>
              </a:rPr>
              <a:t>ROADMAP</a:t>
            </a:r>
            <a:endParaRPr lang="en-US" sz="850" dirty="0"/>
          </a:p>
        </p:txBody>
      </p:sp>
      <p:sp>
        <p:nvSpPr>
          <p:cNvPr id="5" name="Text 2"/>
          <p:cNvSpPr/>
          <p:nvPr/>
        </p:nvSpPr>
        <p:spPr>
          <a:xfrm>
            <a:off x="566928" y="585216"/>
            <a:ext cx="9509760" cy="420624"/>
          </a:xfrm>
          <a:prstGeom prst="rect">
            <a:avLst/>
          </a:prstGeom>
          <a:noFill/>
          <a:ln/>
        </p:spPr>
        <p:txBody>
          <a:bodyPr wrap="square" lIns="0" tIns="0" rIns="0" bIns="0" rtlCol="0" anchor="ctr"/>
          <a:lstStyle/>
          <a:p>
            <a:pPr indent="0" marL="0">
              <a:buNone/>
            </a:pPr>
            <a:r>
              <a:rPr lang="en-US" sz="2300" b="1" dirty="0">
                <a:solidFill>
                  <a:srgbClr val="1A1A1A"/>
                </a:solidFill>
                <a:latin typeface="Yu Gothic" pitchFamily="34" charset="0"/>
                <a:ea typeface="Yu Gothic" pitchFamily="34" charset="-122"/>
                <a:cs typeface="Yu Gothic" pitchFamily="34" charset="-120"/>
              </a:rPr>
              <a:t>導入ロードマップ</a:t>
            </a:r>
            <a:endParaRPr lang="en-US" sz="2300" dirty="0"/>
          </a:p>
        </p:txBody>
      </p:sp>
      <p:sp>
        <p:nvSpPr>
          <p:cNvPr id="6" name="Text 3"/>
          <p:cNvSpPr/>
          <p:nvPr/>
        </p:nvSpPr>
        <p:spPr>
          <a:xfrm>
            <a:off x="566928" y="1024128"/>
            <a:ext cx="11057839" cy="310896"/>
          </a:xfrm>
          <a:prstGeom prst="rect">
            <a:avLst/>
          </a:prstGeom>
          <a:noFill/>
          <a:ln/>
        </p:spPr>
        <p:txBody>
          <a:bodyPr wrap="square" lIns="0" tIns="0" rIns="0" bIns="0" rtlCol="0" anchor="ctr"/>
          <a:lstStyle/>
          <a:p>
            <a:pPr indent="0" marL="0">
              <a:lnSpc>
                <a:spcPts val="1700"/>
              </a:lnSpc>
              <a:buNone/>
            </a:pPr>
            <a:r>
              <a:rPr lang="en-US" sz="1150" dirty="0">
                <a:solidFill>
                  <a:srgbClr val="6E7378"/>
                </a:solidFill>
                <a:latin typeface="Yu Gothic" pitchFamily="34" charset="0"/>
                <a:ea typeface="Yu Gothic" pitchFamily="34" charset="-122"/>
                <a:cs typeface="Yu Gothic" pitchFamily="34" charset="-120"/>
              </a:rPr>
              <a:t>設備投資を伴わないプログラムから開始し、効果を確認しながら区画を伴う出店へ進みます。</a:t>
            </a:r>
            <a:endParaRPr lang="en-US" sz="1150" dirty="0"/>
          </a:p>
        </p:txBody>
      </p:sp>
      <p:sp>
        <p:nvSpPr>
          <p:cNvPr id="7" name="Shape 4"/>
          <p:cNvSpPr/>
          <p:nvPr/>
        </p:nvSpPr>
        <p:spPr>
          <a:xfrm>
            <a:off x="0" y="6583680"/>
            <a:ext cx="12191695" cy="274320"/>
          </a:xfrm>
          <a:prstGeom prst="rect">
            <a:avLst/>
          </a:prstGeom>
          <a:solidFill>
            <a:srgbClr val="2F3941"/>
          </a:solidFill>
          <a:ln w="12700">
            <a:solidFill>
              <a:srgbClr val="333333"/>
            </a:solidFill>
            <a:prstDash val="solid"/>
          </a:ln>
        </p:spPr>
      </p:sp>
      <p:sp>
        <p:nvSpPr>
          <p:cNvPr id="8" name="Text 5"/>
          <p:cNvSpPr/>
          <p:nvPr/>
        </p:nvSpPr>
        <p:spPr>
          <a:xfrm>
            <a:off x="10893247" y="6272784"/>
            <a:ext cx="731520" cy="256032"/>
          </a:xfrm>
          <a:prstGeom prst="rect">
            <a:avLst/>
          </a:prstGeom>
          <a:noFill/>
          <a:ln/>
        </p:spPr>
        <p:txBody>
          <a:bodyPr wrap="square" lIns="0" tIns="0" rIns="0" bIns="0" rtlCol="0" anchor="ctr"/>
          <a:lstStyle/>
          <a:p>
            <a:pPr algn="r" indent="0" marL="0">
              <a:buNone/>
            </a:pPr>
            <a:r>
              <a:rPr lang="en-US" sz="1000" dirty="0">
                <a:solidFill>
                  <a:srgbClr val="A6ABAF"/>
                </a:solidFill>
                <a:latin typeface="Calibri" pitchFamily="34" charset="0"/>
                <a:ea typeface="Calibri" pitchFamily="34" charset="-122"/>
                <a:cs typeface="Calibri" pitchFamily="34" charset="-120"/>
              </a:rPr>
              <a:t>21</a:t>
            </a:r>
            <a:endParaRPr lang="en-US" sz="1000" dirty="0"/>
          </a:p>
        </p:txBody>
      </p:sp>
      <p:sp>
        <p:nvSpPr>
          <p:cNvPr id="9" name="Text 6"/>
          <p:cNvSpPr/>
          <p:nvPr/>
        </p:nvSpPr>
        <p:spPr>
          <a:xfrm>
            <a:off x="566928" y="6272784"/>
            <a:ext cx="2926080" cy="256032"/>
          </a:xfrm>
          <a:prstGeom prst="rect">
            <a:avLst/>
          </a:prstGeom>
          <a:noFill/>
          <a:ln/>
        </p:spPr>
        <p:txBody>
          <a:bodyPr wrap="square" lIns="0" tIns="0" rIns="0" bIns="0" rtlCol="0" anchor="ctr"/>
          <a:lstStyle/>
          <a:p>
            <a:pPr indent="0" marL="0">
              <a:buNone/>
            </a:pPr>
            <a:r>
              <a:rPr lang="en-US" sz="850" spc="120" kern="0" dirty="0">
                <a:solidFill>
                  <a:srgbClr val="C7CACC"/>
                </a:solidFill>
                <a:latin typeface="Calibri" pitchFamily="34" charset="0"/>
                <a:ea typeface="Calibri" pitchFamily="34" charset="-122"/>
                <a:cs typeface="Calibri" pitchFamily="34" charset="-120"/>
              </a:rPr>
              <a:t>CONFIDENTIAL</a:t>
            </a:r>
            <a:endParaRPr lang="en-US" sz="850" dirty="0"/>
          </a:p>
        </p:txBody>
      </p:sp>
      <p:sp>
        <p:nvSpPr>
          <p:cNvPr id="10" name="Shape 7"/>
          <p:cNvSpPr/>
          <p:nvPr/>
        </p:nvSpPr>
        <p:spPr>
          <a:xfrm>
            <a:off x="566928" y="1536192"/>
            <a:ext cx="2558720" cy="3072384"/>
          </a:xfrm>
          <a:prstGeom prst="roundRect">
            <a:avLst>
              <a:gd name="adj" fmla="val 1787"/>
            </a:avLst>
          </a:prstGeom>
          <a:solidFill>
            <a:srgbClr val="F6F6F6"/>
          </a:solidFill>
          <a:ln w="12700">
            <a:solidFill>
              <a:srgbClr val="333333"/>
            </a:solidFill>
            <a:prstDash val="solid"/>
          </a:ln>
        </p:spPr>
      </p:sp>
      <p:sp>
        <p:nvSpPr>
          <p:cNvPr id="11" name="Text 8"/>
          <p:cNvSpPr/>
          <p:nvPr/>
        </p:nvSpPr>
        <p:spPr>
          <a:xfrm>
            <a:off x="841248" y="1755648"/>
            <a:ext cx="2010080" cy="237744"/>
          </a:xfrm>
          <a:prstGeom prst="rect">
            <a:avLst/>
          </a:prstGeom>
          <a:noFill/>
          <a:ln/>
        </p:spPr>
        <p:txBody>
          <a:bodyPr wrap="square" lIns="0" tIns="0" rIns="0" bIns="0" rtlCol="0" anchor="ctr"/>
          <a:lstStyle/>
          <a:p>
            <a:pPr indent="0" marL="0">
              <a:buNone/>
            </a:pPr>
            <a:r>
              <a:rPr lang="en-US" sz="1100" b="1" spc="200" kern="0" dirty="0">
                <a:solidFill>
                  <a:srgbClr val="C68A65"/>
                </a:solidFill>
                <a:latin typeface="Calibri" pitchFamily="34" charset="0"/>
                <a:ea typeface="Calibri" pitchFamily="34" charset="-122"/>
                <a:cs typeface="Calibri" pitchFamily="34" charset="-120"/>
              </a:rPr>
              <a:t>PHASE 0</a:t>
            </a:r>
            <a:endParaRPr lang="en-US" sz="1100" dirty="0"/>
          </a:p>
        </p:txBody>
      </p:sp>
      <p:sp>
        <p:nvSpPr>
          <p:cNvPr id="12" name="Text 9"/>
          <p:cNvSpPr/>
          <p:nvPr/>
        </p:nvSpPr>
        <p:spPr>
          <a:xfrm>
            <a:off x="841248" y="2048256"/>
            <a:ext cx="2010080" cy="438912"/>
          </a:xfrm>
          <a:prstGeom prst="rect">
            <a:avLst/>
          </a:prstGeom>
          <a:noFill/>
          <a:ln/>
        </p:spPr>
        <p:txBody>
          <a:bodyPr wrap="square" lIns="0" tIns="0" rIns="0" bIns="0" rtlCol="0" anchor="ctr"/>
          <a:lstStyle/>
          <a:p>
            <a:pPr indent="0" marL="0">
              <a:buNone/>
            </a:pPr>
            <a:r>
              <a:rPr lang="en-US" sz="1800" b="1" dirty="0">
                <a:solidFill>
                  <a:srgbClr val="1A1A1A"/>
                </a:solidFill>
                <a:latin typeface="Yu Gothic" pitchFamily="34" charset="0"/>
                <a:ea typeface="Yu Gothic" pitchFamily="34" charset="-122"/>
                <a:cs typeface="Yu Gothic" pitchFamily="34" charset="-120"/>
              </a:rPr>
              <a:t>実証</a:t>
            </a:r>
            <a:endParaRPr lang="en-US" sz="1800" dirty="0"/>
          </a:p>
        </p:txBody>
      </p:sp>
      <p:sp>
        <p:nvSpPr>
          <p:cNvPr id="13" name="Text 10"/>
          <p:cNvSpPr/>
          <p:nvPr/>
        </p:nvSpPr>
        <p:spPr>
          <a:xfrm>
            <a:off x="841248" y="2615184"/>
            <a:ext cx="2010080" cy="1737360"/>
          </a:xfrm>
          <a:prstGeom prst="rect">
            <a:avLst/>
          </a:prstGeom>
          <a:noFill/>
          <a:ln/>
        </p:spPr>
        <p:txBody>
          <a:bodyPr wrap="square" lIns="0" tIns="0" rIns="0" bIns="0" rtlCol="0" anchor="ctr"/>
          <a:lstStyle/>
          <a:p>
            <a:pPr marL="342900" indent="-342900">
              <a:lnSpc>
                <a:spcPts val="1600"/>
              </a:lnSpc>
              <a:spcAft>
                <a:spcPts val="900"/>
              </a:spcAft>
              <a:buSzPct val="100000"/>
              <a:buChar char="▪"/>
            </a:pPr>
            <a:r>
              <a:rPr lang="en-US" sz="1040" dirty="0">
                <a:solidFill>
                  <a:srgbClr val="1A1A1A"/>
                </a:solidFill>
                <a:latin typeface="Yu Gothic" pitchFamily="34" charset="0"/>
                <a:ea typeface="Yu Gothic" pitchFamily="34" charset="-122"/>
                <a:cs typeface="Yu Gothic" pitchFamily="34" charset="-120"/>
              </a:rPr>
              <a:t>1棟でのPoC実施</a:t>
            </a:r>
            <a:endParaRPr lang="en-US" sz="1040" dirty="0"/>
          </a:p>
          <a:p>
            <a:pPr marL="342900" indent="-342900">
              <a:lnSpc>
                <a:spcPts val="1600"/>
              </a:lnSpc>
              <a:spcAft>
                <a:spcPts val="900"/>
              </a:spcAft>
              <a:buSzPct val="100000"/>
              <a:buChar char="▪"/>
            </a:pPr>
            <a:r>
              <a:rPr lang="en-US" sz="1040" dirty="0">
                <a:solidFill>
                  <a:srgbClr val="1A1A1A"/>
                </a:solidFill>
                <a:latin typeface="Yu Gothic" pitchFamily="34" charset="0"/>
                <a:ea typeface="Yu Gothic" pitchFamily="34" charset="-122"/>
                <a:cs typeface="Yu Gothic" pitchFamily="34" charset="-120"/>
              </a:rPr>
              <a:t>テナント飲食店5店でCloud Wine Cave試験導入</a:t>
            </a:r>
            <a:endParaRPr lang="en-US" sz="1040" dirty="0"/>
          </a:p>
          <a:p>
            <a:pPr marL="342900" indent="-342900">
              <a:lnSpc>
                <a:spcPts val="1600"/>
              </a:lnSpc>
              <a:spcAft>
                <a:spcPts val="900"/>
              </a:spcAft>
              <a:buSzPct val="100000"/>
              <a:buChar char="▪"/>
            </a:pPr>
            <a:r>
              <a:rPr lang="en-US" sz="1040" dirty="0">
                <a:solidFill>
                  <a:srgbClr val="1A1A1A"/>
                </a:solidFill>
                <a:latin typeface="Yu Gothic" pitchFamily="34" charset="0"/>
                <a:ea typeface="Yu Gothic" pitchFamily="34" charset="-122"/>
                <a:cs typeface="Yu Gothic" pitchFamily="34" charset="-120"/>
              </a:rPr>
              <a:t>WineGO 館内配送テスト</a:t>
            </a:r>
            <a:endParaRPr lang="en-US" sz="1040" dirty="0"/>
          </a:p>
        </p:txBody>
      </p:sp>
      <p:sp>
        <p:nvSpPr>
          <p:cNvPr id="14" name="Shape 11"/>
          <p:cNvSpPr/>
          <p:nvPr/>
        </p:nvSpPr>
        <p:spPr>
          <a:xfrm>
            <a:off x="3399968" y="1536192"/>
            <a:ext cx="2558720" cy="3072384"/>
          </a:xfrm>
          <a:prstGeom prst="roundRect">
            <a:avLst>
              <a:gd name="adj" fmla="val 1787"/>
            </a:avLst>
          </a:prstGeom>
          <a:solidFill>
            <a:srgbClr val="F6F6F6"/>
          </a:solidFill>
          <a:ln w="12700">
            <a:solidFill>
              <a:srgbClr val="333333"/>
            </a:solidFill>
            <a:prstDash val="solid"/>
          </a:ln>
        </p:spPr>
      </p:sp>
      <p:sp>
        <p:nvSpPr>
          <p:cNvPr id="15" name="Text 12"/>
          <p:cNvSpPr/>
          <p:nvPr/>
        </p:nvSpPr>
        <p:spPr>
          <a:xfrm>
            <a:off x="3674288" y="1755648"/>
            <a:ext cx="2010080" cy="237744"/>
          </a:xfrm>
          <a:prstGeom prst="rect">
            <a:avLst/>
          </a:prstGeom>
          <a:noFill/>
          <a:ln/>
        </p:spPr>
        <p:txBody>
          <a:bodyPr wrap="square" lIns="0" tIns="0" rIns="0" bIns="0" rtlCol="0" anchor="ctr"/>
          <a:lstStyle/>
          <a:p>
            <a:pPr indent="0" marL="0">
              <a:buNone/>
            </a:pPr>
            <a:r>
              <a:rPr lang="en-US" sz="1100" b="1" spc="200" kern="0" dirty="0">
                <a:solidFill>
                  <a:srgbClr val="C68A65"/>
                </a:solidFill>
                <a:latin typeface="Calibri" pitchFamily="34" charset="0"/>
                <a:ea typeface="Calibri" pitchFamily="34" charset="-122"/>
                <a:cs typeface="Calibri" pitchFamily="34" charset="-120"/>
              </a:rPr>
              <a:t>PHASE 1</a:t>
            </a:r>
            <a:endParaRPr lang="en-US" sz="1100" dirty="0"/>
          </a:p>
        </p:txBody>
      </p:sp>
      <p:sp>
        <p:nvSpPr>
          <p:cNvPr id="16" name="Text 13"/>
          <p:cNvSpPr/>
          <p:nvPr/>
        </p:nvSpPr>
        <p:spPr>
          <a:xfrm>
            <a:off x="3674288" y="2048256"/>
            <a:ext cx="2010080" cy="438912"/>
          </a:xfrm>
          <a:prstGeom prst="rect">
            <a:avLst/>
          </a:prstGeom>
          <a:noFill/>
          <a:ln/>
        </p:spPr>
        <p:txBody>
          <a:bodyPr wrap="square" lIns="0" tIns="0" rIns="0" bIns="0" rtlCol="0" anchor="ctr"/>
          <a:lstStyle/>
          <a:p>
            <a:pPr indent="0" marL="0">
              <a:buNone/>
            </a:pPr>
            <a:r>
              <a:rPr lang="en-US" sz="1800" b="1" dirty="0">
                <a:solidFill>
                  <a:srgbClr val="1A1A1A"/>
                </a:solidFill>
                <a:latin typeface="Yu Gothic" pitchFamily="34" charset="0"/>
                <a:ea typeface="Yu Gothic" pitchFamily="34" charset="-122"/>
                <a:cs typeface="Yu Gothic" pitchFamily="34" charset="-120"/>
              </a:rPr>
              <a:t>本格展開</a:t>
            </a:r>
            <a:endParaRPr lang="en-US" sz="1800" dirty="0"/>
          </a:p>
        </p:txBody>
      </p:sp>
      <p:sp>
        <p:nvSpPr>
          <p:cNvPr id="17" name="Text 14"/>
          <p:cNvSpPr/>
          <p:nvPr/>
        </p:nvSpPr>
        <p:spPr>
          <a:xfrm>
            <a:off x="3674288" y="2615184"/>
            <a:ext cx="2010080" cy="1737360"/>
          </a:xfrm>
          <a:prstGeom prst="rect">
            <a:avLst/>
          </a:prstGeom>
          <a:noFill/>
          <a:ln/>
        </p:spPr>
        <p:txBody>
          <a:bodyPr wrap="square" lIns="0" tIns="0" rIns="0" bIns="0" rtlCol="0" anchor="ctr"/>
          <a:lstStyle/>
          <a:p>
            <a:pPr marL="342900" indent="-342900">
              <a:lnSpc>
                <a:spcPts val="1600"/>
              </a:lnSpc>
              <a:spcAft>
                <a:spcPts val="900"/>
              </a:spcAft>
              <a:buSzPct val="100000"/>
              <a:buChar char="▪"/>
            </a:pPr>
            <a:r>
              <a:rPr lang="en-US" sz="1040" dirty="0">
                <a:solidFill>
                  <a:srgbClr val="1A1A1A"/>
                </a:solidFill>
                <a:latin typeface="Yu Gothic" pitchFamily="34" charset="0"/>
                <a:ea typeface="Yu Gothic" pitchFamily="34" charset="-122"/>
                <a:cs typeface="Yu Gothic" pitchFamily="34" charset="-120"/>
              </a:rPr>
              <a:t>主要ヒルズへCloud Wine Cave展開</a:t>
            </a:r>
            <a:endParaRPr lang="en-US" sz="1040" dirty="0"/>
          </a:p>
          <a:p>
            <a:pPr marL="342900" indent="-342900">
              <a:lnSpc>
                <a:spcPts val="1600"/>
              </a:lnSpc>
              <a:spcAft>
                <a:spcPts val="900"/>
              </a:spcAft>
              <a:buSzPct val="100000"/>
              <a:buChar char="▪"/>
            </a:pPr>
            <a:r>
              <a:rPr lang="en-US" sz="1040" dirty="0">
                <a:solidFill>
                  <a:srgbClr val="1A1A1A"/>
                </a:solidFill>
                <a:latin typeface="Yu Gothic" pitchFamily="34" charset="0"/>
                <a:ea typeface="Yu Gothic" pitchFamily="34" charset="-122"/>
                <a:cs typeface="Yu Gothic" pitchFamily="34" charset="-120"/>
              </a:rPr>
              <a:t>CLUBヒルズ枠の募集開始</a:t>
            </a:r>
            <a:endParaRPr lang="en-US" sz="1040" dirty="0"/>
          </a:p>
          <a:p>
            <a:pPr marL="342900" indent="-342900">
              <a:lnSpc>
                <a:spcPts val="1600"/>
              </a:lnSpc>
              <a:spcAft>
                <a:spcPts val="900"/>
              </a:spcAft>
              <a:buSzPct val="100000"/>
              <a:buChar char="▪"/>
            </a:pPr>
            <a:r>
              <a:rPr lang="en-US" sz="1040" dirty="0">
                <a:solidFill>
                  <a:srgbClr val="1A1A1A"/>
                </a:solidFill>
                <a:latin typeface="Yu Gothic" pitchFamily="34" charset="0"/>
                <a:ea typeface="Yu Gothic" pitchFamily="34" charset="-122"/>
                <a:cs typeface="Yu Gothic" pitchFamily="34" charset="-120"/>
              </a:rPr>
              <a:t>レジデンス開放の是非を判断</a:t>
            </a:r>
            <a:endParaRPr lang="en-US" sz="1040" dirty="0"/>
          </a:p>
        </p:txBody>
      </p:sp>
      <p:sp>
        <p:nvSpPr>
          <p:cNvPr id="18" name="Shape 15"/>
          <p:cNvSpPr/>
          <p:nvPr/>
        </p:nvSpPr>
        <p:spPr>
          <a:xfrm>
            <a:off x="6233008" y="1536192"/>
            <a:ext cx="2558720" cy="3072384"/>
          </a:xfrm>
          <a:prstGeom prst="roundRect">
            <a:avLst>
              <a:gd name="adj" fmla="val 1787"/>
            </a:avLst>
          </a:prstGeom>
          <a:solidFill>
            <a:srgbClr val="2F3941"/>
          </a:solidFill>
          <a:ln w="12700">
            <a:solidFill>
              <a:srgbClr val="333333"/>
            </a:solidFill>
            <a:prstDash val="solid"/>
          </a:ln>
        </p:spPr>
      </p:sp>
      <p:sp>
        <p:nvSpPr>
          <p:cNvPr id="19" name="Text 16"/>
          <p:cNvSpPr/>
          <p:nvPr/>
        </p:nvSpPr>
        <p:spPr>
          <a:xfrm>
            <a:off x="6507328" y="1755648"/>
            <a:ext cx="2010080" cy="237744"/>
          </a:xfrm>
          <a:prstGeom prst="rect">
            <a:avLst/>
          </a:prstGeom>
          <a:noFill/>
          <a:ln/>
        </p:spPr>
        <p:txBody>
          <a:bodyPr wrap="square" lIns="0" tIns="0" rIns="0" bIns="0" rtlCol="0" anchor="ctr"/>
          <a:lstStyle/>
          <a:p>
            <a:pPr indent="0" marL="0">
              <a:buNone/>
            </a:pPr>
            <a:r>
              <a:rPr lang="en-US" sz="1100" b="1" spc="200" kern="0" dirty="0">
                <a:solidFill>
                  <a:srgbClr val="C68A65"/>
                </a:solidFill>
                <a:latin typeface="Calibri" pitchFamily="34" charset="0"/>
                <a:ea typeface="Calibri" pitchFamily="34" charset="-122"/>
                <a:cs typeface="Calibri" pitchFamily="34" charset="-120"/>
              </a:rPr>
              <a:t>PHASE 2</a:t>
            </a:r>
            <a:endParaRPr lang="en-US" sz="1100" dirty="0"/>
          </a:p>
        </p:txBody>
      </p:sp>
      <p:sp>
        <p:nvSpPr>
          <p:cNvPr id="20" name="Text 17"/>
          <p:cNvSpPr/>
          <p:nvPr/>
        </p:nvSpPr>
        <p:spPr>
          <a:xfrm>
            <a:off x="6507328" y="2048256"/>
            <a:ext cx="2010080" cy="438912"/>
          </a:xfrm>
          <a:prstGeom prst="rect">
            <a:avLst/>
          </a:prstGeom>
          <a:noFill/>
          <a:ln/>
        </p:spPr>
        <p:txBody>
          <a:bodyPr wrap="square" lIns="0" tIns="0" rIns="0" bIns="0"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区画出店</a:t>
            </a:r>
            <a:endParaRPr lang="en-US" sz="1800" dirty="0"/>
          </a:p>
        </p:txBody>
      </p:sp>
      <p:sp>
        <p:nvSpPr>
          <p:cNvPr id="21" name="Text 18"/>
          <p:cNvSpPr/>
          <p:nvPr/>
        </p:nvSpPr>
        <p:spPr>
          <a:xfrm>
            <a:off x="6507328" y="2615184"/>
            <a:ext cx="2010080" cy="1737360"/>
          </a:xfrm>
          <a:prstGeom prst="rect">
            <a:avLst/>
          </a:prstGeom>
          <a:noFill/>
          <a:ln/>
        </p:spPr>
        <p:txBody>
          <a:bodyPr wrap="square" lIns="0" tIns="0" rIns="0" bIns="0" rtlCol="0" anchor="ctr"/>
          <a:lstStyle/>
          <a:p>
            <a:pPr marL="342900" indent="-342900">
              <a:lnSpc>
                <a:spcPts val="1600"/>
              </a:lnSpc>
              <a:spcAft>
                <a:spcPts val="900"/>
              </a:spcAft>
              <a:buSzPct val="100000"/>
              <a:buChar char="▪"/>
            </a:pPr>
            <a:r>
              <a:rPr lang="en-US" sz="1040" dirty="0">
                <a:solidFill>
                  <a:srgbClr val="E3E6E8"/>
                </a:solidFill>
                <a:latin typeface="Yu Gothic" pitchFamily="34" charset="0"/>
                <a:ea typeface="Yu Gothic" pitchFamily="34" charset="-122"/>
                <a:cs typeface="Yu Gothic" pitchFamily="34" charset="-120"/>
              </a:rPr>
              <a:t>クラウドワインセラー区画の設計・工事</a:t>
            </a:r>
            <a:endParaRPr lang="en-US" sz="1040" dirty="0"/>
          </a:p>
          <a:p>
            <a:pPr marL="342900" indent="-342900">
              <a:lnSpc>
                <a:spcPts val="1600"/>
              </a:lnSpc>
              <a:spcAft>
                <a:spcPts val="900"/>
              </a:spcAft>
              <a:buSzPct val="100000"/>
              <a:buChar char="▪"/>
            </a:pPr>
            <a:r>
              <a:rPr lang="en-US" sz="1040" dirty="0">
                <a:solidFill>
                  <a:srgbClr val="E3E6E8"/>
                </a:solidFill>
                <a:latin typeface="Yu Gothic" pitchFamily="34" charset="0"/>
                <a:ea typeface="Yu Gothic" pitchFamily="34" charset="-122"/>
                <a:cs typeface="Yu Gothic" pitchFamily="34" charset="-120"/>
              </a:rPr>
              <a:t>出店者募集とセラー在庫の構築</a:t>
            </a:r>
            <a:endParaRPr lang="en-US" sz="1040" dirty="0"/>
          </a:p>
          <a:p>
            <a:pPr marL="342900" indent="-342900">
              <a:lnSpc>
                <a:spcPts val="1600"/>
              </a:lnSpc>
              <a:spcAft>
                <a:spcPts val="900"/>
              </a:spcAft>
              <a:buSzPct val="100000"/>
              <a:buChar char="▪"/>
            </a:pPr>
            <a:r>
              <a:rPr lang="en-US" sz="1040" dirty="0">
                <a:solidFill>
                  <a:srgbClr val="E3E6E8"/>
                </a:solidFill>
                <a:latin typeface="Yu Gothic" pitchFamily="34" charset="0"/>
                <a:ea typeface="Yu Gothic" pitchFamily="34" charset="-122"/>
                <a:cs typeface="Yu Gothic" pitchFamily="34" charset="-120"/>
              </a:rPr>
              <a:t>施設内テナントへの卸売拡大</a:t>
            </a:r>
            <a:endParaRPr lang="en-US" sz="1040" dirty="0"/>
          </a:p>
        </p:txBody>
      </p:sp>
      <p:sp>
        <p:nvSpPr>
          <p:cNvPr id="22" name="Shape 19"/>
          <p:cNvSpPr/>
          <p:nvPr/>
        </p:nvSpPr>
        <p:spPr>
          <a:xfrm>
            <a:off x="9066047" y="1536192"/>
            <a:ext cx="2558720" cy="3072384"/>
          </a:xfrm>
          <a:prstGeom prst="roundRect">
            <a:avLst>
              <a:gd name="adj" fmla="val 1787"/>
            </a:avLst>
          </a:prstGeom>
          <a:solidFill>
            <a:srgbClr val="2F3941"/>
          </a:solidFill>
          <a:ln w="12700">
            <a:solidFill>
              <a:srgbClr val="333333"/>
            </a:solidFill>
            <a:prstDash val="solid"/>
          </a:ln>
        </p:spPr>
      </p:sp>
      <p:sp>
        <p:nvSpPr>
          <p:cNvPr id="23" name="Text 20"/>
          <p:cNvSpPr/>
          <p:nvPr/>
        </p:nvSpPr>
        <p:spPr>
          <a:xfrm>
            <a:off x="9340367" y="1755648"/>
            <a:ext cx="2010080" cy="237744"/>
          </a:xfrm>
          <a:prstGeom prst="rect">
            <a:avLst/>
          </a:prstGeom>
          <a:noFill/>
          <a:ln/>
        </p:spPr>
        <p:txBody>
          <a:bodyPr wrap="square" lIns="0" tIns="0" rIns="0" bIns="0" rtlCol="0" anchor="ctr"/>
          <a:lstStyle/>
          <a:p>
            <a:pPr indent="0" marL="0">
              <a:buNone/>
            </a:pPr>
            <a:r>
              <a:rPr lang="en-US" sz="1100" b="1" spc="200" kern="0" dirty="0">
                <a:solidFill>
                  <a:srgbClr val="C68A65"/>
                </a:solidFill>
                <a:latin typeface="Calibri" pitchFamily="34" charset="0"/>
                <a:ea typeface="Calibri" pitchFamily="34" charset="-122"/>
                <a:cs typeface="Calibri" pitchFamily="34" charset="-120"/>
              </a:rPr>
              <a:t>PHASE 3</a:t>
            </a:r>
            <a:endParaRPr lang="en-US" sz="1100" dirty="0"/>
          </a:p>
        </p:txBody>
      </p:sp>
      <p:sp>
        <p:nvSpPr>
          <p:cNvPr id="24" name="Text 21"/>
          <p:cNvSpPr/>
          <p:nvPr/>
        </p:nvSpPr>
        <p:spPr>
          <a:xfrm>
            <a:off x="9340367" y="2048256"/>
            <a:ext cx="2010080" cy="438912"/>
          </a:xfrm>
          <a:prstGeom prst="rect">
            <a:avLst/>
          </a:prstGeom>
          <a:noFill/>
          <a:ln/>
        </p:spPr>
        <p:txBody>
          <a:bodyPr wrap="square" lIns="0" tIns="0" rIns="0" bIns="0"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街区の象徴へ</a:t>
            </a:r>
            <a:endParaRPr lang="en-US" sz="1800" dirty="0"/>
          </a:p>
        </p:txBody>
      </p:sp>
      <p:sp>
        <p:nvSpPr>
          <p:cNvPr id="25" name="Text 22"/>
          <p:cNvSpPr/>
          <p:nvPr/>
        </p:nvSpPr>
        <p:spPr>
          <a:xfrm>
            <a:off x="9340367" y="2615184"/>
            <a:ext cx="2010080" cy="1737360"/>
          </a:xfrm>
          <a:prstGeom prst="rect">
            <a:avLst/>
          </a:prstGeom>
          <a:noFill/>
          <a:ln/>
        </p:spPr>
        <p:txBody>
          <a:bodyPr wrap="square" lIns="0" tIns="0" rIns="0" bIns="0" rtlCol="0" anchor="ctr"/>
          <a:lstStyle/>
          <a:p>
            <a:pPr marL="342900" indent="-342900">
              <a:lnSpc>
                <a:spcPts val="1600"/>
              </a:lnSpc>
              <a:spcAft>
                <a:spcPts val="900"/>
              </a:spcAft>
              <a:buSzPct val="100000"/>
              <a:buChar char="▪"/>
            </a:pPr>
            <a:r>
              <a:rPr lang="en-US" sz="1040" dirty="0">
                <a:solidFill>
                  <a:srgbClr val="E3E6E8"/>
                </a:solidFill>
                <a:latin typeface="Yu Gothic" pitchFamily="34" charset="0"/>
                <a:ea typeface="Yu Gothic" pitchFamily="34" charset="-122"/>
                <a:cs typeface="Yu Gothic" pitchFamily="34" charset="-120"/>
              </a:rPr>
              <a:t>ティエリー・マルクス業態の出店</a:t>
            </a:r>
            <a:endParaRPr lang="en-US" sz="1040" dirty="0"/>
          </a:p>
          <a:p>
            <a:pPr marL="342900" indent="-342900">
              <a:lnSpc>
                <a:spcPts val="1600"/>
              </a:lnSpc>
              <a:spcAft>
                <a:spcPts val="900"/>
              </a:spcAft>
              <a:buSzPct val="100000"/>
              <a:buChar char="▪"/>
            </a:pPr>
            <a:r>
              <a:rPr lang="en-US" sz="1040" dirty="0">
                <a:solidFill>
                  <a:srgbClr val="E3E6E8"/>
                </a:solidFill>
                <a:latin typeface="Yu Gothic" pitchFamily="34" charset="0"/>
                <a:ea typeface="Yu Gothic" pitchFamily="34" charset="-122"/>
                <a:cs typeface="Yu Gothic" pitchFamily="34" charset="-120"/>
              </a:rPr>
              <a:t>他ヒルズ・海外物件への横展開</a:t>
            </a:r>
            <a:endParaRPr lang="en-US" sz="1040" dirty="0"/>
          </a:p>
          <a:p>
            <a:pPr marL="342900" indent="-342900">
              <a:lnSpc>
                <a:spcPts val="1600"/>
              </a:lnSpc>
              <a:spcAft>
                <a:spcPts val="900"/>
              </a:spcAft>
              <a:buSzPct val="100000"/>
              <a:buChar char="▪"/>
            </a:pPr>
            <a:r>
              <a:rPr lang="en-US" sz="1040" dirty="0">
                <a:solidFill>
                  <a:srgbClr val="E3E6E8"/>
                </a:solidFill>
                <a:latin typeface="Yu Gothic" pitchFamily="34" charset="0"/>
                <a:ea typeface="Yu Gothic" pitchFamily="34" charset="-122"/>
                <a:cs typeface="Yu Gothic" pitchFamily="34" charset="-120"/>
              </a:rPr>
              <a:t>国内外富裕層向けプログラム化</a:t>
            </a:r>
            <a:endParaRPr lang="en-US" sz="1040" dirty="0"/>
          </a:p>
        </p:txBody>
      </p:sp>
      <p:sp>
        <p:nvSpPr>
          <p:cNvPr id="26" name="Text 23"/>
          <p:cNvSpPr/>
          <p:nvPr/>
        </p:nvSpPr>
        <p:spPr>
          <a:xfrm>
            <a:off x="566928" y="4718304"/>
            <a:ext cx="2558720" cy="256032"/>
          </a:xfrm>
          <a:prstGeom prst="rect">
            <a:avLst/>
          </a:prstGeom>
          <a:noFill/>
          <a:ln/>
        </p:spPr>
        <p:txBody>
          <a:bodyPr wrap="square" lIns="0" tIns="0" rIns="0" bIns="0" rtlCol="0" anchor="ctr"/>
          <a:lstStyle/>
          <a:p>
            <a:pPr algn="ctr" indent="0" marL="0">
              <a:buNone/>
            </a:pPr>
            <a:r>
              <a:rPr lang="en-US" sz="1000" b="1" dirty="0">
                <a:solidFill>
                  <a:srgbClr val="6E7378"/>
                </a:solidFill>
                <a:latin typeface="Yu Gothic" pitchFamily="34" charset="0"/>
                <a:ea typeface="Yu Gothic" pitchFamily="34" charset="-122"/>
                <a:cs typeface="Yu Gothic" pitchFamily="34" charset="-120"/>
              </a:rPr>
              <a:t>0〜3か月</a:t>
            </a:r>
            <a:endParaRPr lang="en-US" sz="1000" dirty="0"/>
          </a:p>
        </p:txBody>
      </p:sp>
      <p:sp>
        <p:nvSpPr>
          <p:cNvPr id="27" name="Text 24"/>
          <p:cNvSpPr/>
          <p:nvPr/>
        </p:nvSpPr>
        <p:spPr>
          <a:xfrm>
            <a:off x="3399968" y="4718304"/>
            <a:ext cx="2558720" cy="256032"/>
          </a:xfrm>
          <a:prstGeom prst="rect">
            <a:avLst/>
          </a:prstGeom>
          <a:noFill/>
          <a:ln/>
        </p:spPr>
        <p:txBody>
          <a:bodyPr wrap="square" lIns="0" tIns="0" rIns="0" bIns="0" rtlCol="0" anchor="ctr"/>
          <a:lstStyle/>
          <a:p>
            <a:pPr algn="ctr" indent="0" marL="0">
              <a:buNone/>
            </a:pPr>
            <a:r>
              <a:rPr lang="en-US" sz="1000" b="1" dirty="0">
                <a:solidFill>
                  <a:srgbClr val="6E7378"/>
                </a:solidFill>
                <a:latin typeface="Yu Gothic" pitchFamily="34" charset="0"/>
                <a:ea typeface="Yu Gothic" pitchFamily="34" charset="-122"/>
                <a:cs typeface="Yu Gothic" pitchFamily="34" charset="-120"/>
              </a:rPr>
              <a:t>3〜12か月</a:t>
            </a:r>
            <a:endParaRPr lang="en-US" sz="1000" dirty="0"/>
          </a:p>
        </p:txBody>
      </p:sp>
      <p:sp>
        <p:nvSpPr>
          <p:cNvPr id="28" name="Text 25"/>
          <p:cNvSpPr/>
          <p:nvPr/>
        </p:nvSpPr>
        <p:spPr>
          <a:xfrm>
            <a:off x="6233008" y="4718304"/>
            <a:ext cx="2558720" cy="256032"/>
          </a:xfrm>
          <a:prstGeom prst="rect">
            <a:avLst/>
          </a:prstGeom>
          <a:noFill/>
          <a:ln/>
        </p:spPr>
        <p:txBody>
          <a:bodyPr wrap="square" lIns="0" tIns="0" rIns="0" bIns="0" rtlCol="0" anchor="ctr"/>
          <a:lstStyle/>
          <a:p>
            <a:pPr algn="ctr" indent="0" marL="0">
              <a:buNone/>
            </a:pPr>
            <a:r>
              <a:rPr lang="en-US" sz="1000" b="1" dirty="0">
                <a:solidFill>
                  <a:srgbClr val="6E7378"/>
                </a:solidFill>
                <a:latin typeface="Yu Gothic" pitchFamily="34" charset="0"/>
                <a:ea typeface="Yu Gothic" pitchFamily="34" charset="-122"/>
                <a:cs typeface="Yu Gothic" pitchFamily="34" charset="-120"/>
              </a:rPr>
              <a:t>12〜24か月</a:t>
            </a:r>
            <a:endParaRPr lang="en-US" sz="1000" dirty="0"/>
          </a:p>
        </p:txBody>
      </p:sp>
      <p:sp>
        <p:nvSpPr>
          <p:cNvPr id="29" name="Text 26"/>
          <p:cNvSpPr/>
          <p:nvPr/>
        </p:nvSpPr>
        <p:spPr>
          <a:xfrm>
            <a:off x="9066047" y="4718304"/>
            <a:ext cx="2558720" cy="256032"/>
          </a:xfrm>
          <a:prstGeom prst="rect">
            <a:avLst/>
          </a:prstGeom>
          <a:noFill/>
          <a:ln/>
        </p:spPr>
        <p:txBody>
          <a:bodyPr wrap="square" lIns="0" tIns="0" rIns="0" bIns="0" rtlCol="0" anchor="ctr"/>
          <a:lstStyle/>
          <a:p>
            <a:pPr algn="ctr" indent="0" marL="0">
              <a:buNone/>
            </a:pPr>
            <a:r>
              <a:rPr lang="en-US" sz="1000" b="1" dirty="0">
                <a:solidFill>
                  <a:srgbClr val="6E7378"/>
                </a:solidFill>
                <a:latin typeface="Yu Gothic" pitchFamily="34" charset="0"/>
                <a:ea typeface="Yu Gothic" pitchFamily="34" charset="-122"/>
                <a:cs typeface="Yu Gothic" pitchFamily="34" charset="-120"/>
              </a:rPr>
              <a:t>24か月〜</a:t>
            </a:r>
            <a:endParaRPr lang="en-US" sz="1000" dirty="0"/>
          </a:p>
        </p:txBody>
      </p:sp>
      <p:sp>
        <p:nvSpPr>
          <p:cNvPr id="30" name="Text 27"/>
          <p:cNvSpPr/>
          <p:nvPr/>
        </p:nvSpPr>
        <p:spPr>
          <a:xfrm>
            <a:off x="566928" y="5230368"/>
            <a:ext cx="10972800" cy="292608"/>
          </a:xfrm>
          <a:prstGeom prst="rect">
            <a:avLst/>
          </a:prstGeom>
          <a:noFill/>
          <a:ln/>
        </p:spPr>
        <p:txBody>
          <a:bodyPr wrap="square" lIns="0" tIns="0" rIns="0" bIns="0" rtlCol="0" anchor="ctr"/>
          <a:lstStyle/>
          <a:p>
            <a:pPr indent="0" marL="0">
              <a:buNone/>
            </a:pPr>
            <a:r>
              <a:rPr lang="en-US" sz="1080" b="1" dirty="0">
                <a:solidFill>
                  <a:srgbClr val="A06D4C"/>
                </a:solidFill>
                <a:latin typeface="Yu Gothic" pitchFamily="34" charset="0"/>
                <a:ea typeface="Yu Gothic" pitchFamily="34" charset="-122"/>
                <a:cs typeface="Yu Gothic" pitchFamily="34" charset="-120"/>
              </a:rPr>
              <a:t>最短ケースでは、ご合意から約3か月でPHASE 0を開始できます（酒販免許・保管倉庫・配送体制・在庫は当社既存アセットを使用するため）。</a:t>
            </a:r>
            <a:endParaRPr lang="en-US" sz="108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381183" y="292608"/>
            <a:ext cx="1243584" cy="247802"/>
          </a:xfrm>
          <a:prstGeom prst="rect">
            <a:avLst/>
          </a:prstGeom>
        </p:spPr>
      </p:pic>
      <p:sp>
        <p:nvSpPr>
          <p:cNvPr id="3" name="Shape 0"/>
          <p:cNvSpPr/>
          <p:nvPr/>
        </p:nvSpPr>
        <p:spPr>
          <a:xfrm>
            <a:off x="566928" y="292608"/>
            <a:ext cx="1115568" cy="237744"/>
          </a:xfrm>
          <a:prstGeom prst="roundRect">
            <a:avLst>
              <a:gd name="adj" fmla="val 11538"/>
            </a:avLst>
          </a:prstGeom>
          <a:solidFill>
            <a:srgbClr val="C68A65"/>
          </a:solidFill>
          <a:ln w="12700">
            <a:solidFill>
              <a:srgbClr val="333333"/>
            </a:solidFill>
            <a:prstDash val="solid"/>
          </a:ln>
        </p:spPr>
      </p:sp>
      <p:sp>
        <p:nvSpPr>
          <p:cNvPr id="4" name="Text 1"/>
          <p:cNvSpPr/>
          <p:nvPr/>
        </p:nvSpPr>
        <p:spPr>
          <a:xfrm>
            <a:off x="566928" y="292608"/>
            <a:ext cx="1115568"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Yu Gothic" pitchFamily="34" charset="0"/>
                <a:ea typeface="Yu Gothic" pitchFamily="34" charset="-122"/>
                <a:cs typeface="Yu Gothic" pitchFamily="34" charset="-120"/>
              </a:rPr>
              <a:t>FIRST STEP</a:t>
            </a:r>
            <a:endParaRPr lang="en-US" sz="850" dirty="0"/>
          </a:p>
        </p:txBody>
      </p:sp>
      <p:sp>
        <p:nvSpPr>
          <p:cNvPr id="5" name="Text 2"/>
          <p:cNvSpPr/>
          <p:nvPr/>
        </p:nvSpPr>
        <p:spPr>
          <a:xfrm>
            <a:off x="566928" y="585216"/>
            <a:ext cx="9509760" cy="420624"/>
          </a:xfrm>
          <a:prstGeom prst="rect">
            <a:avLst/>
          </a:prstGeom>
          <a:noFill/>
          <a:ln/>
        </p:spPr>
        <p:txBody>
          <a:bodyPr wrap="square" lIns="0" tIns="0" rIns="0" bIns="0" rtlCol="0" anchor="ctr"/>
          <a:lstStyle/>
          <a:p>
            <a:pPr indent="0" marL="0">
              <a:buNone/>
            </a:pPr>
            <a:r>
              <a:rPr lang="en-US" sz="2300" b="1" dirty="0">
                <a:solidFill>
                  <a:srgbClr val="1A1A1A"/>
                </a:solidFill>
                <a:latin typeface="Yu Gothic" pitchFamily="34" charset="0"/>
                <a:ea typeface="Yu Gothic" pitchFamily="34" charset="-122"/>
                <a:cs typeface="Yu Gothic" pitchFamily="34" charset="-120"/>
              </a:rPr>
              <a:t>まずは1棟で。3か月のPoCをご提案します</a:t>
            </a:r>
            <a:endParaRPr lang="en-US" sz="2300" dirty="0"/>
          </a:p>
        </p:txBody>
      </p:sp>
      <p:sp>
        <p:nvSpPr>
          <p:cNvPr id="6" name="Text 3"/>
          <p:cNvSpPr/>
          <p:nvPr/>
        </p:nvSpPr>
        <p:spPr>
          <a:xfrm>
            <a:off x="566928" y="1024128"/>
            <a:ext cx="11057839" cy="310896"/>
          </a:xfrm>
          <a:prstGeom prst="rect">
            <a:avLst/>
          </a:prstGeom>
          <a:noFill/>
          <a:ln/>
        </p:spPr>
        <p:txBody>
          <a:bodyPr wrap="square" lIns="0" tIns="0" rIns="0" bIns="0" rtlCol="0" anchor="ctr"/>
          <a:lstStyle/>
          <a:p>
            <a:pPr indent="0" marL="0">
              <a:lnSpc>
                <a:spcPts val="1700"/>
              </a:lnSpc>
              <a:buNone/>
            </a:pPr>
            <a:r>
              <a:rPr lang="en-US" sz="1150" dirty="0">
                <a:solidFill>
                  <a:srgbClr val="6E7378"/>
                </a:solidFill>
                <a:latin typeface="Yu Gothic" pitchFamily="34" charset="0"/>
                <a:ea typeface="Yu Gothic" pitchFamily="34" charset="-122"/>
                <a:cs typeface="Yu Gothic" pitchFamily="34" charset="-120"/>
              </a:rPr>
              <a:t>大きな意思決定の前に、小さく確かめる。費用は当社が負担いたします。</a:t>
            </a:r>
            <a:endParaRPr lang="en-US" sz="1150" dirty="0"/>
          </a:p>
        </p:txBody>
      </p:sp>
      <p:sp>
        <p:nvSpPr>
          <p:cNvPr id="7" name="Shape 4"/>
          <p:cNvSpPr/>
          <p:nvPr/>
        </p:nvSpPr>
        <p:spPr>
          <a:xfrm>
            <a:off x="0" y="6583680"/>
            <a:ext cx="12191695" cy="274320"/>
          </a:xfrm>
          <a:prstGeom prst="rect">
            <a:avLst/>
          </a:prstGeom>
          <a:solidFill>
            <a:srgbClr val="2F3941"/>
          </a:solidFill>
          <a:ln w="12700">
            <a:solidFill>
              <a:srgbClr val="333333"/>
            </a:solidFill>
            <a:prstDash val="solid"/>
          </a:ln>
        </p:spPr>
      </p:sp>
      <p:sp>
        <p:nvSpPr>
          <p:cNvPr id="8" name="Text 5"/>
          <p:cNvSpPr/>
          <p:nvPr/>
        </p:nvSpPr>
        <p:spPr>
          <a:xfrm>
            <a:off x="10893247" y="6272784"/>
            <a:ext cx="731520" cy="256032"/>
          </a:xfrm>
          <a:prstGeom prst="rect">
            <a:avLst/>
          </a:prstGeom>
          <a:noFill/>
          <a:ln/>
        </p:spPr>
        <p:txBody>
          <a:bodyPr wrap="square" lIns="0" tIns="0" rIns="0" bIns="0" rtlCol="0" anchor="ctr"/>
          <a:lstStyle/>
          <a:p>
            <a:pPr algn="r" indent="0" marL="0">
              <a:buNone/>
            </a:pPr>
            <a:r>
              <a:rPr lang="en-US" sz="1000" dirty="0">
                <a:solidFill>
                  <a:srgbClr val="A6ABAF"/>
                </a:solidFill>
                <a:latin typeface="Calibri" pitchFamily="34" charset="0"/>
                <a:ea typeface="Calibri" pitchFamily="34" charset="-122"/>
                <a:cs typeface="Calibri" pitchFamily="34" charset="-120"/>
              </a:rPr>
              <a:t>22</a:t>
            </a:r>
            <a:endParaRPr lang="en-US" sz="1000" dirty="0"/>
          </a:p>
        </p:txBody>
      </p:sp>
      <p:sp>
        <p:nvSpPr>
          <p:cNvPr id="9" name="Text 6"/>
          <p:cNvSpPr/>
          <p:nvPr/>
        </p:nvSpPr>
        <p:spPr>
          <a:xfrm>
            <a:off x="566928" y="6272784"/>
            <a:ext cx="2926080" cy="256032"/>
          </a:xfrm>
          <a:prstGeom prst="rect">
            <a:avLst/>
          </a:prstGeom>
          <a:noFill/>
          <a:ln/>
        </p:spPr>
        <p:txBody>
          <a:bodyPr wrap="square" lIns="0" tIns="0" rIns="0" bIns="0" rtlCol="0" anchor="ctr"/>
          <a:lstStyle/>
          <a:p>
            <a:pPr indent="0" marL="0">
              <a:buNone/>
            </a:pPr>
            <a:r>
              <a:rPr lang="en-US" sz="850" spc="120" kern="0" dirty="0">
                <a:solidFill>
                  <a:srgbClr val="C7CACC"/>
                </a:solidFill>
                <a:latin typeface="Calibri" pitchFamily="34" charset="0"/>
                <a:ea typeface="Calibri" pitchFamily="34" charset="-122"/>
                <a:cs typeface="Calibri" pitchFamily="34" charset="-120"/>
              </a:rPr>
              <a:t>CONFIDENTIAL</a:t>
            </a:r>
            <a:endParaRPr lang="en-US" sz="850" dirty="0"/>
          </a:p>
        </p:txBody>
      </p:sp>
      <p:sp>
        <p:nvSpPr>
          <p:cNvPr id="10" name="Shape 7"/>
          <p:cNvSpPr/>
          <p:nvPr/>
        </p:nvSpPr>
        <p:spPr>
          <a:xfrm>
            <a:off x="566928" y="1481328"/>
            <a:ext cx="3273552" cy="3877056"/>
          </a:xfrm>
          <a:prstGeom prst="roundRect">
            <a:avLst>
              <a:gd name="adj" fmla="val 1397"/>
            </a:avLst>
          </a:prstGeom>
          <a:solidFill>
            <a:srgbClr val="2F3941"/>
          </a:solidFill>
          <a:ln w="12700">
            <a:solidFill>
              <a:srgbClr val="333333"/>
            </a:solidFill>
            <a:prstDash val="solid"/>
          </a:ln>
        </p:spPr>
      </p:sp>
      <p:sp>
        <p:nvSpPr>
          <p:cNvPr id="11" name="Text 8"/>
          <p:cNvSpPr/>
          <p:nvPr/>
        </p:nvSpPr>
        <p:spPr>
          <a:xfrm>
            <a:off x="859536" y="1645920"/>
            <a:ext cx="2743200" cy="274320"/>
          </a:xfrm>
          <a:prstGeom prst="rect">
            <a:avLst/>
          </a:prstGeom>
          <a:noFill/>
          <a:ln/>
        </p:spPr>
        <p:txBody>
          <a:bodyPr wrap="square" lIns="0" tIns="0" rIns="0" bIns="0" rtlCol="0" anchor="ctr"/>
          <a:lstStyle/>
          <a:p>
            <a:pPr indent="0" marL="0">
              <a:buNone/>
            </a:pPr>
            <a:r>
              <a:rPr lang="en-US" sz="1500" b="1" dirty="0">
                <a:solidFill>
                  <a:srgbClr val="EFDCCE"/>
                </a:solidFill>
                <a:latin typeface="Yu Gothic" pitchFamily="34" charset="0"/>
                <a:ea typeface="Yu Gothic" pitchFamily="34" charset="-122"/>
                <a:cs typeface="Yu Gothic" pitchFamily="34" charset="-120"/>
              </a:rPr>
              <a:t>PoC の概要</a:t>
            </a:r>
            <a:endParaRPr lang="en-US" sz="1500" dirty="0"/>
          </a:p>
        </p:txBody>
      </p:sp>
      <p:sp>
        <p:nvSpPr>
          <p:cNvPr id="12" name="Text 9"/>
          <p:cNvSpPr/>
          <p:nvPr/>
        </p:nvSpPr>
        <p:spPr>
          <a:xfrm>
            <a:off x="859536" y="2066544"/>
            <a:ext cx="2743200" cy="219456"/>
          </a:xfrm>
          <a:prstGeom prst="rect">
            <a:avLst/>
          </a:prstGeom>
          <a:noFill/>
          <a:ln/>
        </p:spPr>
        <p:txBody>
          <a:bodyPr wrap="square" lIns="0" tIns="0" rIns="0" bIns="0" rtlCol="0" anchor="ctr"/>
          <a:lstStyle/>
          <a:p>
            <a:pPr indent="0" marL="0">
              <a:buNone/>
            </a:pPr>
            <a:r>
              <a:rPr lang="en-US" sz="960" b="1" dirty="0">
                <a:solidFill>
                  <a:srgbClr val="C68A65"/>
                </a:solidFill>
                <a:latin typeface="Yu Gothic" pitchFamily="34" charset="0"/>
                <a:ea typeface="Yu Gothic" pitchFamily="34" charset="-122"/>
                <a:cs typeface="Yu Gothic" pitchFamily="34" charset="-120"/>
              </a:rPr>
              <a:t>対象</a:t>
            </a:r>
            <a:endParaRPr lang="en-US" sz="960" dirty="0"/>
          </a:p>
        </p:txBody>
      </p:sp>
      <p:sp>
        <p:nvSpPr>
          <p:cNvPr id="13" name="Text 10"/>
          <p:cNvSpPr/>
          <p:nvPr/>
        </p:nvSpPr>
        <p:spPr>
          <a:xfrm>
            <a:off x="859536" y="2286000"/>
            <a:ext cx="2743200" cy="493776"/>
          </a:xfrm>
          <a:prstGeom prst="rect">
            <a:avLst/>
          </a:prstGeom>
          <a:noFill/>
          <a:ln/>
        </p:spPr>
        <p:txBody>
          <a:bodyPr wrap="square" lIns="0" tIns="0" rIns="0" bIns="0" rtlCol="0" anchor="ctr"/>
          <a:lstStyle/>
          <a:p>
            <a:pPr indent="0" marL="0">
              <a:lnSpc>
                <a:spcPts val="1500"/>
              </a:lnSpc>
              <a:buNone/>
            </a:pPr>
            <a:r>
              <a:rPr lang="en-US" sz="1150" dirty="0">
                <a:solidFill>
                  <a:srgbClr val="FFFFFF"/>
                </a:solidFill>
                <a:latin typeface="Yu Gothic" pitchFamily="34" charset="0"/>
                <a:ea typeface="Yu Gothic" pitchFamily="34" charset="-122"/>
                <a:cs typeface="Yu Gothic" pitchFamily="34" charset="-120"/>
              </a:rPr>
              <a:t>麻布台ヒルズ または 六本木ヒルズ 1棟</a:t>
            </a:r>
            <a:endParaRPr lang="en-US" sz="1150" dirty="0"/>
          </a:p>
        </p:txBody>
      </p:sp>
      <p:sp>
        <p:nvSpPr>
          <p:cNvPr id="14" name="Text 11"/>
          <p:cNvSpPr/>
          <p:nvPr/>
        </p:nvSpPr>
        <p:spPr>
          <a:xfrm>
            <a:off x="859536" y="2871216"/>
            <a:ext cx="2743200" cy="219456"/>
          </a:xfrm>
          <a:prstGeom prst="rect">
            <a:avLst/>
          </a:prstGeom>
          <a:noFill/>
          <a:ln/>
        </p:spPr>
        <p:txBody>
          <a:bodyPr wrap="square" lIns="0" tIns="0" rIns="0" bIns="0" rtlCol="0" anchor="ctr"/>
          <a:lstStyle/>
          <a:p>
            <a:pPr indent="0" marL="0">
              <a:buNone/>
            </a:pPr>
            <a:r>
              <a:rPr lang="en-US" sz="960" b="1" dirty="0">
                <a:solidFill>
                  <a:srgbClr val="C68A65"/>
                </a:solidFill>
                <a:latin typeface="Yu Gothic" pitchFamily="34" charset="0"/>
                <a:ea typeface="Yu Gothic" pitchFamily="34" charset="-122"/>
                <a:cs typeface="Yu Gothic" pitchFamily="34" charset="-120"/>
              </a:rPr>
              <a:t>期間</a:t>
            </a:r>
            <a:endParaRPr lang="en-US" sz="960" dirty="0"/>
          </a:p>
        </p:txBody>
      </p:sp>
      <p:sp>
        <p:nvSpPr>
          <p:cNvPr id="15" name="Text 12"/>
          <p:cNvSpPr/>
          <p:nvPr/>
        </p:nvSpPr>
        <p:spPr>
          <a:xfrm>
            <a:off x="859536" y="3090672"/>
            <a:ext cx="2743200" cy="493776"/>
          </a:xfrm>
          <a:prstGeom prst="rect">
            <a:avLst/>
          </a:prstGeom>
          <a:noFill/>
          <a:ln/>
        </p:spPr>
        <p:txBody>
          <a:bodyPr wrap="square" lIns="0" tIns="0" rIns="0" bIns="0" rtlCol="0" anchor="ctr"/>
          <a:lstStyle/>
          <a:p>
            <a:pPr indent="0" marL="0">
              <a:lnSpc>
                <a:spcPts val="1500"/>
              </a:lnSpc>
              <a:buNone/>
            </a:pPr>
            <a:r>
              <a:rPr lang="en-US" sz="1150" dirty="0">
                <a:solidFill>
                  <a:srgbClr val="FFFFFF"/>
                </a:solidFill>
                <a:latin typeface="Yu Gothic" pitchFamily="34" charset="0"/>
                <a:ea typeface="Yu Gothic" pitchFamily="34" charset="-122"/>
                <a:cs typeface="Yu Gothic" pitchFamily="34" charset="-120"/>
              </a:rPr>
              <a:t>3か月</a:t>
            </a:r>
            <a:endParaRPr lang="en-US" sz="1150" dirty="0"/>
          </a:p>
        </p:txBody>
      </p:sp>
      <p:sp>
        <p:nvSpPr>
          <p:cNvPr id="16" name="Text 13"/>
          <p:cNvSpPr/>
          <p:nvPr/>
        </p:nvSpPr>
        <p:spPr>
          <a:xfrm>
            <a:off x="859536" y="3675888"/>
            <a:ext cx="2743200" cy="219456"/>
          </a:xfrm>
          <a:prstGeom prst="rect">
            <a:avLst/>
          </a:prstGeom>
          <a:noFill/>
          <a:ln/>
        </p:spPr>
        <p:txBody>
          <a:bodyPr wrap="square" lIns="0" tIns="0" rIns="0" bIns="0" rtlCol="0" anchor="ctr"/>
          <a:lstStyle/>
          <a:p>
            <a:pPr indent="0" marL="0">
              <a:buNone/>
            </a:pPr>
            <a:r>
              <a:rPr lang="en-US" sz="960" b="1" dirty="0">
                <a:solidFill>
                  <a:srgbClr val="C68A65"/>
                </a:solidFill>
                <a:latin typeface="Yu Gothic" pitchFamily="34" charset="0"/>
                <a:ea typeface="Yu Gothic" pitchFamily="34" charset="-122"/>
                <a:cs typeface="Yu Gothic" pitchFamily="34" charset="-120"/>
              </a:rPr>
              <a:t>対象者</a:t>
            </a:r>
            <a:endParaRPr lang="en-US" sz="960" dirty="0"/>
          </a:p>
        </p:txBody>
      </p:sp>
      <p:sp>
        <p:nvSpPr>
          <p:cNvPr id="17" name="Text 14"/>
          <p:cNvSpPr/>
          <p:nvPr/>
        </p:nvSpPr>
        <p:spPr>
          <a:xfrm>
            <a:off x="859536" y="3895344"/>
            <a:ext cx="2743200" cy="493776"/>
          </a:xfrm>
          <a:prstGeom prst="rect">
            <a:avLst/>
          </a:prstGeom>
          <a:noFill/>
          <a:ln/>
        </p:spPr>
        <p:txBody>
          <a:bodyPr wrap="square" lIns="0" tIns="0" rIns="0" bIns="0" rtlCol="0" anchor="ctr"/>
          <a:lstStyle/>
          <a:p>
            <a:pPr indent="0" marL="0">
              <a:lnSpc>
                <a:spcPts val="1500"/>
              </a:lnSpc>
              <a:buNone/>
            </a:pPr>
            <a:r>
              <a:rPr lang="en-US" sz="1150" dirty="0">
                <a:solidFill>
                  <a:srgbClr val="FFFFFF"/>
                </a:solidFill>
                <a:latin typeface="Yu Gothic" pitchFamily="34" charset="0"/>
                <a:ea typeface="Yu Gothic" pitchFamily="34" charset="-122"/>
                <a:cs typeface="Yu Gothic" pitchFamily="34" charset="-120"/>
              </a:rPr>
              <a:t>テナント飲食店5店／レジデンス居住者50世帯程度</a:t>
            </a:r>
            <a:endParaRPr lang="en-US" sz="1150" dirty="0"/>
          </a:p>
        </p:txBody>
      </p:sp>
      <p:sp>
        <p:nvSpPr>
          <p:cNvPr id="18" name="Text 15"/>
          <p:cNvSpPr/>
          <p:nvPr/>
        </p:nvSpPr>
        <p:spPr>
          <a:xfrm>
            <a:off x="859536" y="4480560"/>
            <a:ext cx="2743200" cy="219456"/>
          </a:xfrm>
          <a:prstGeom prst="rect">
            <a:avLst/>
          </a:prstGeom>
          <a:noFill/>
          <a:ln/>
        </p:spPr>
        <p:txBody>
          <a:bodyPr wrap="square" lIns="0" tIns="0" rIns="0" bIns="0" rtlCol="0" anchor="ctr"/>
          <a:lstStyle/>
          <a:p>
            <a:pPr indent="0" marL="0">
              <a:buNone/>
            </a:pPr>
            <a:r>
              <a:rPr lang="en-US" sz="960" b="1" dirty="0">
                <a:solidFill>
                  <a:srgbClr val="C68A65"/>
                </a:solidFill>
                <a:latin typeface="Yu Gothic" pitchFamily="34" charset="0"/>
                <a:ea typeface="Yu Gothic" pitchFamily="34" charset="-122"/>
                <a:cs typeface="Yu Gothic" pitchFamily="34" charset="-120"/>
              </a:rPr>
              <a:t>費用</a:t>
            </a:r>
            <a:endParaRPr lang="en-US" sz="960" dirty="0"/>
          </a:p>
        </p:txBody>
      </p:sp>
      <p:sp>
        <p:nvSpPr>
          <p:cNvPr id="19" name="Text 16"/>
          <p:cNvSpPr/>
          <p:nvPr/>
        </p:nvSpPr>
        <p:spPr>
          <a:xfrm>
            <a:off x="859536" y="4700016"/>
            <a:ext cx="2743200" cy="493776"/>
          </a:xfrm>
          <a:prstGeom prst="rect">
            <a:avLst/>
          </a:prstGeom>
          <a:noFill/>
          <a:ln/>
        </p:spPr>
        <p:txBody>
          <a:bodyPr wrap="square" lIns="0" tIns="0" rIns="0" bIns="0" rtlCol="0" anchor="ctr"/>
          <a:lstStyle/>
          <a:p>
            <a:pPr indent="0" marL="0">
              <a:lnSpc>
                <a:spcPts val="1500"/>
              </a:lnSpc>
              <a:buNone/>
            </a:pPr>
            <a:r>
              <a:rPr lang="en-US" sz="1150" dirty="0">
                <a:solidFill>
                  <a:srgbClr val="FFFFFF"/>
                </a:solidFill>
                <a:latin typeface="Yu Gothic" pitchFamily="34" charset="0"/>
                <a:ea typeface="Yu Gothic" pitchFamily="34" charset="-122"/>
                <a:cs typeface="Yu Gothic" pitchFamily="34" charset="-120"/>
              </a:rPr>
              <a:t>当社全額負担（森ビル様のご負担なし）</a:t>
            </a:r>
            <a:endParaRPr lang="en-US" sz="1150" dirty="0"/>
          </a:p>
        </p:txBody>
      </p:sp>
      <p:sp>
        <p:nvSpPr>
          <p:cNvPr id="20" name="Text 17"/>
          <p:cNvSpPr/>
          <p:nvPr/>
        </p:nvSpPr>
        <p:spPr>
          <a:xfrm>
            <a:off x="4169664" y="1481328"/>
            <a:ext cx="4023360" cy="274320"/>
          </a:xfrm>
          <a:prstGeom prst="rect">
            <a:avLst/>
          </a:prstGeom>
          <a:noFill/>
          <a:ln/>
        </p:spPr>
        <p:txBody>
          <a:bodyPr wrap="square" lIns="0" tIns="0" rIns="0" bIns="0" rtlCol="0" anchor="ctr"/>
          <a:lstStyle/>
          <a:p>
            <a:pPr indent="0" marL="0">
              <a:buNone/>
            </a:pPr>
            <a:r>
              <a:rPr lang="en-US" sz="1500" b="1" dirty="0">
                <a:solidFill>
                  <a:srgbClr val="1A1A1A"/>
                </a:solidFill>
                <a:latin typeface="Yu Gothic" pitchFamily="34" charset="0"/>
                <a:ea typeface="Yu Gothic" pitchFamily="34" charset="-122"/>
                <a:cs typeface="Yu Gothic" pitchFamily="34" charset="-120"/>
              </a:rPr>
              <a:t>実施内容</a:t>
            </a:r>
            <a:endParaRPr lang="en-US" sz="1500" dirty="0"/>
          </a:p>
        </p:txBody>
      </p:sp>
      <p:sp>
        <p:nvSpPr>
          <p:cNvPr id="21" name="Shape 18"/>
          <p:cNvSpPr/>
          <p:nvPr/>
        </p:nvSpPr>
        <p:spPr>
          <a:xfrm>
            <a:off x="4169664" y="1865376"/>
            <a:ext cx="4005072" cy="1060704"/>
          </a:xfrm>
          <a:prstGeom prst="roundRect">
            <a:avLst>
              <a:gd name="adj" fmla="val 4310"/>
            </a:avLst>
          </a:prstGeom>
          <a:solidFill>
            <a:srgbClr val="F6F6F6"/>
          </a:solidFill>
          <a:ln w="12700">
            <a:solidFill>
              <a:srgbClr val="333333"/>
            </a:solidFill>
            <a:prstDash val="solid"/>
          </a:ln>
        </p:spPr>
      </p:sp>
      <p:sp>
        <p:nvSpPr>
          <p:cNvPr id="22" name="Shape 19"/>
          <p:cNvSpPr/>
          <p:nvPr/>
        </p:nvSpPr>
        <p:spPr>
          <a:xfrm>
            <a:off x="4389120" y="2048256"/>
            <a:ext cx="384048" cy="384048"/>
          </a:xfrm>
          <a:prstGeom prst="ellipse">
            <a:avLst/>
          </a:prstGeom>
          <a:solidFill>
            <a:srgbClr val="C68A65"/>
          </a:solidFill>
          <a:ln w="12700">
            <a:solidFill>
              <a:srgbClr val="333333"/>
            </a:solidFill>
            <a:prstDash val="solid"/>
          </a:ln>
        </p:spPr>
      </p:sp>
      <p:sp>
        <p:nvSpPr>
          <p:cNvPr id="23" name="Text 20"/>
          <p:cNvSpPr/>
          <p:nvPr/>
        </p:nvSpPr>
        <p:spPr>
          <a:xfrm>
            <a:off x="4389120" y="2048256"/>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01</a:t>
            </a:r>
            <a:endParaRPr lang="en-US" sz="1000" dirty="0"/>
          </a:p>
        </p:txBody>
      </p:sp>
      <p:sp>
        <p:nvSpPr>
          <p:cNvPr id="24" name="Text 21"/>
          <p:cNvSpPr/>
          <p:nvPr/>
        </p:nvSpPr>
        <p:spPr>
          <a:xfrm>
            <a:off x="4882896" y="2048256"/>
            <a:ext cx="3145536" cy="274320"/>
          </a:xfrm>
          <a:prstGeom prst="rect">
            <a:avLst/>
          </a:prstGeom>
          <a:noFill/>
          <a:ln/>
        </p:spPr>
        <p:txBody>
          <a:bodyPr wrap="square" lIns="0" tIns="0" rIns="0" bIns="0" rtlCol="0" anchor="ctr"/>
          <a:lstStyle/>
          <a:p>
            <a:pPr indent="0" marL="0">
              <a:buNone/>
            </a:pPr>
            <a:r>
              <a:rPr lang="en-US" sz="1150" b="1" dirty="0">
                <a:solidFill>
                  <a:srgbClr val="1A1A1A"/>
                </a:solidFill>
                <a:latin typeface="Yu Gothic" pitchFamily="34" charset="0"/>
                <a:ea typeface="Yu Gothic" pitchFamily="34" charset="-122"/>
                <a:cs typeface="Yu Gothic" pitchFamily="34" charset="-120"/>
              </a:rPr>
              <a:t>Cloud Wine Cave の試験導入</a:t>
            </a:r>
            <a:endParaRPr lang="en-US" sz="1150" dirty="0"/>
          </a:p>
        </p:txBody>
      </p:sp>
      <p:sp>
        <p:nvSpPr>
          <p:cNvPr id="25" name="Text 22"/>
          <p:cNvSpPr/>
          <p:nvPr/>
        </p:nvSpPr>
        <p:spPr>
          <a:xfrm>
            <a:off x="4425696" y="2395728"/>
            <a:ext cx="3566160" cy="457200"/>
          </a:xfrm>
          <a:prstGeom prst="rect">
            <a:avLst/>
          </a:prstGeom>
          <a:noFill/>
          <a:ln/>
        </p:spPr>
        <p:txBody>
          <a:bodyPr wrap="square" lIns="0" tIns="0" rIns="0" bIns="0" rtlCol="0" anchor="ctr"/>
          <a:lstStyle/>
          <a:p>
            <a:pPr indent="0" marL="0">
              <a:lnSpc>
                <a:spcPts val="1300"/>
              </a:lnSpc>
              <a:buNone/>
            </a:pPr>
            <a:r>
              <a:rPr lang="en-US" sz="940" dirty="0">
                <a:solidFill>
                  <a:srgbClr val="6E7378"/>
                </a:solidFill>
                <a:latin typeface="Yu Gothic" pitchFamily="34" charset="0"/>
                <a:ea typeface="Yu Gothic" pitchFamily="34" charset="-122"/>
                <a:cs typeface="Yu Gothic" pitchFamily="34" charset="-120"/>
              </a:rPr>
              <a:t>テナント飲食店5店にリストとアプリを提供。発注から着荷までの実運用を検証。</a:t>
            </a:r>
            <a:endParaRPr lang="en-US" sz="940" dirty="0"/>
          </a:p>
        </p:txBody>
      </p:sp>
      <p:sp>
        <p:nvSpPr>
          <p:cNvPr id="26" name="Shape 23"/>
          <p:cNvSpPr/>
          <p:nvPr/>
        </p:nvSpPr>
        <p:spPr>
          <a:xfrm>
            <a:off x="4169664" y="3054096"/>
            <a:ext cx="4005072" cy="1060704"/>
          </a:xfrm>
          <a:prstGeom prst="roundRect">
            <a:avLst>
              <a:gd name="adj" fmla="val 4310"/>
            </a:avLst>
          </a:prstGeom>
          <a:solidFill>
            <a:srgbClr val="F6F6F6"/>
          </a:solidFill>
          <a:ln w="12700">
            <a:solidFill>
              <a:srgbClr val="333333"/>
            </a:solidFill>
            <a:prstDash val="solid"/>
          </a:ln>
        </p:spPr>
      </p:sp>
      <p:sp>
        <p:nvSpPr>
          <p:cNvPr id="27" name="Shape 24"/>
          <p:cNvSpPr/>
          <p:nvPr/>
        </p:nvSpPr>
        <p:spPr>
          <a:xfrm>
            <a:off x="4389120" y="3236976"/>
            <a:ext cx="384048" cy="384048"/>
          </a:xfrm>
          <a:prstGeom prst="ellipse">
            <a:avLst/>
          </a:prstGeom>
          <a:solidFill>
            <a:srgbClr val="C68A65"/>
          </a:solidFill>
          <a:ln w="12700">
            <a:solidFill>
              <a:srgbClr val="333333"/>
            </a:solidFill>
            <a:prstDash val="solid"/>
          </a:ln>
        </p:spPr>
      </p:sp>
      <p:sp>
        <p:nvSpPr>
          <p:cNvPr id="28" name="Text 25"/>
          <p:cNvSpPr/>
          <p:nvPr/>
        </p:nvSpPr>
        <p:spPr>
          <a:xfrm>
            <a:off x="4389120" y="3236976"/>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02</a:t>
            </a:r>
            <a:endParaRPr lang="en-US" sz="1000" dirty="0"/>
          </a:p>
        </p:txBody>
      </p:sp>
      <p:sp>
        <p:nvSpPr>
          <p:cNvPr id="29" name="Text 26"/>
          <p:cNvSpPr/>
          <p:nvPr/>
        </p:nvSpPr>
        <p:spPr>
          <a:xfrm>
            <a:off x="4882896" y="3236976"/>
            <a:ext cx="3145536" cy="274320"/>
          </a:xfrm>
          <a:prstGeom prst="rect">
            <a:avLst/>
          </a:prstGeom>
          <a:noFill/>
          <a:ln/>
        </p:spPr>
        <p:txBody>
          <a:bodyPr wrap="square" lIns="0" tIns="0" rIns="0" bIns="0" rtlCol="0" anchor="ctr"/>
          <a:lstStyle/>
          <a:p>
            <a:pPr indent="0" marL="0">
              <a:buNone/>
            </a:pPr>
            <a:r>
              <a:rPr lang="en-US" sz="1150" b="1" dirty="0">
                <a:solidFill>
                  <a:srgbClr val="1A1A1A"/>
                </a:solidFill>
                <a:latin typeface="Yu Gothic" pitchFamily="34" charset="0"/>
                <a:ea typeface="Yu Gothic" pitchFamily="34" charset="-122"/>
                <a:cs typeface="Yu Gothic" pitchFamily="34" charset="-120"/>
              </a:rPr>
              <a:t>館内デリバリーの実証</a:t>
            </a:r>
            <a:endParaRPr lang="en-US" sz="1150" dirty="0"/>
          </a:p>
        </p:txBody>
      </p:sp>
      <p:sp>
        <p:nvSpPr>
          <p:cNvPr id="30" name="Text 27"/>
          <p:cNvSpPr/>
          <p:nvPr/>
        </p:nvSpPr>
        <p:spPr>
          <a:xfrm>
            <a:off x="4425696" y="3584448"/>
            <a:ext cx="3566160" cy="457200"/>
          </a:xfrm>
          <a:prstGeom prst="rect">
            <a:avLst/>
          </a:prstGeom>
          <a:noFill/>
          <a:ln/>
        </p:spPr>
        <p:txBody>
          <a:bodyPr wrap="square" lIns="0" tIns="0" rIns="0" bIns="0" rtlCol="0" anchor="ctr"/>
          <a:lstStyle/>
          <a:p>
            <a:pPr indent="0" marL="0">
              <a:lnSpc>
                <a:spcPts val="1300"/>
              </a:lnSpc>
              <a:buNone/>
            </a:pPr>
            <a:r>
              <a:rPr lang="en-US" sz="940" dirty="0">
                <a:solidFill>
                  <a:srgbClr val="6E7378"/>
                </a:solidFill>
                <a:latin typeface="Yu Gothic" pitchFamily="34" charset="0"/>
                <a:ea typeface="Yu Gothic" pitchFamily="34" charset="-122"/>
                <a:cs typeface="Yu Gothic" pitchFamily="34" charset="-120"/>
              </a:rPr>
              <a:t>バックヤードに仮設ターミナルを設置し、定温配送のリードタイムと運用負荷を計測。</a:t>
            </a:r>
            <a:endParaRPr lang="en-US" sz="940" dirty="0"/>
          </a:p>
        </p:txBody>
      </p:sp>
      <p:sp>
        <p:nvSpPr>
          <p:cNvPr id="31" name="Shape 28"/>
          <p:cNvSpPr/>
          <p:nvPr/>
        </p:nvSpPr>
        <p:spPr>
          <a:xfrm>
            <a:off x="4169664" y="4242816"/>
            <a:ext cx="4005072" cy="1060704"/>
          </a:xfrm>
          <a:prstGeom prst="roundRect">
            <a:avLst>
              <a:gd name="adj" fmla="val 4310"/>
            </a:avLst>
          </a:prstGeom>
          <a:solidFill>
            <a:srgbClr val="F6F6F6"/>
          </a:solidFill>
          <a:ln w="12700">
            <a:solidFill>
              <a:srgbClr val="333333"/>
            </a:solidFill>
            <a:prstDash val="solid"/>
          </a:ln>
        </p:spPr>
      </p:sp>
      <p:sp>
        <p:nvSpPr>
          <p:cNvPr id="32" name="Shape 29"/>
          <p:cNvSpPr/>
          <p:nvPr/>
        </p:nvSpPr>
        <p:spPr>
          <a:xfrm>
            <a:off x="4389120" y="4425696"/>
            <a:ext cx="384048" cy="384048"/>
          </a:xfrm>
          <a:prstGeom prst="ellipse">
            <a:avLst/>
          </a:prstGeom>
          <a:solidFill>
            <a:srgbClr val="C68A65"/>
          </a:solidFill>
          <a:ln w="12700">
            <a:solidFill>
              <a:srgbClr val="333333"/>
            </a:solidFill>
            <a:prstDash val="solid"/>
          </a:ln>
        </p:spPr>
      </p:sp>
      <p:sp>
        <p:nvSpPr>
          <p:cNvPr id="33" name="Text 30"/>
          <p:cNvSpPr/>
          <p:nvPr/>
        </p:nvSpPr>
        <p:spPr>
          <a:xfrm>
            <a:off x="4389120" y="4425696"/>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03</a:t>
            </a:r>
            <a:endParaRPr lang="en-US" sz="1000" dirty="0"/>
          </a:p>
        </p:txBody>
      </p:sp>
      <p:sp>
        <p:nvSpPr>
          <p:cNvPr id="34" name="Text 31"/>
          <p:cNvSpPr/>
          <p:nvPr/>
        </p:nvSpPr>
        <p:spPr>
          <a:xfrm>
            <a:off x="4882896" y="4425696"/>
            <a:ext cx="3145536" cy="274320"/>
          </a:xfrm>
          <a:prstGeom prst="rect">
            <a:avLst/>
          </a:prstGeom>
          <a:noFill/>
          <a:ln/>
        </p:spPr>
        <p:txBody>
          <a:bodyPr wrap="square" lIns="0" tIns="0" rIns="0" bIns="0" rtlCol="0" anchor="ctr"/>
          <a:lstStyle/>
          <a:p>
            <a:pPr indent="0" marL="0">
              <a:buNone/>
            </a:pPr>
            <a:r>
              <a:rPr lang="en-US" sz="1150" b="1" dirty="0">
                <a:solidFill>
                  <a:srgbClr val="1A1A1A"/>
                </a:solidFill>
                <a:latin typeface="Yu Gothic" pitchFamily="34" charset="0"/>
                <a:ea typeface="Yu Gothic" pitchFamily="34" charset="-122"/>
                <a:cs typeface="Yu Gothic" pitchFamily="34" charset="-120"/>
              </a:rPr>
              <a:t>居住者向け先行案内</a:t>
            </a:r>
            <a:endParaRPr lang="en-US" sz="1150" dirty="0"/>
          </a:p>
        </p:txBody>
      </p:sp>
      <p:sp>
        <p:nvSpPr>
          <p:cNvPr id="35" name="Text 32"/>
          <p:cNvSpPr/>
          <p:nvPr/>
        </p:nvSpPr>
        <p:spPr>
          <a:xfrm>
            <a:off x="4425696" y="4773168"/>
            <a:ext cx="3566160" cy="457200"/>
          </a:xfrm>
          <a:prstGeom prst="rect">
            <a:avLst/>
          </a:prstGeom>
          <a:noFill/>
          <a:ln/>
        </p:spPr>
        <p:txBody>
          <a:bodyPr wrap="square" lIns="0" tIns="0" rIns="0" bIns="0" rtlCol="0" anchor="ctr"/>
          <a:lstStyle/>
          <a:p>
            <a:pPr indent="0" marL="0">
              <a:lnSpc>
                <a:spcPts val="1300"/>
              </a:lnSpc>
              <a:buNone/>
            </a:pPr>
            <a:r>
              <a:rPr lang="en-US" sz="940" dirty="0">
                <a:solidFill>
                  <a:srgbClr val="6E7378"/>
                </a:solidFill>
                <a:latin typeface="Yu Gothic" pitchFamily="34" charset="0"/>
                <a:ea typeface="Yu Gothic" pitchFamily="34" charset="-122"/>
                <a:cs typeface="Yu Gothic" pitchFamily="34" charset="-120"/>
              </a:rPr>
              <a:t>CLUB会員となった居住者に卸値×1.1〜1.3で開放し、需要と単価を確認。</a:t>
            </a:r>
            <a:endParaRPr lang="en-US" sz="940" dirty="0"/>
          </a:p>
        </p:txBody>
      </p:sp>
      <p:sp>
        <p:nvSpPr>
          <p:cNvPr id="36" name="Shape 33"/>
          <p:cNvSpPr/>
          <p:nvPr/>
        </p:nvSpPr>
        <p:spPr>
          <a:xfrm>
            <a:off x="8503920" y="1481328"/>
            <a:ext cx="3120847" cy="1865376"/>
          </a:xfrm>
          <a:prstGeom prst="roundRect">
            <a:avLst>
              <a:gd name="adj" fmla="val 2451"/>
            </a:avLst>
          </a:prstGeom>
          <a:solidFill>
            <a:srgbClr val="F6F6F6"/>
          </a:solidFill>
          <a:ln w="12700">
            <a:solidFill>
              <a:srgbClr val="333333"/>
            </a:solidFill>
            <a:prstDash val="solid"/>
          </a:ln>
        </p:spPr>
      </p:sp>
      <p:sp>
        <p:nvSpPr>
          <p:cNvPr id="37" name="Text 34"/>
          <p:cNvSpPr/>
          <p:nvPr/>
        </p:nvSpPr>
        <p:spPr>
          <a:xfrm>
            <a:off x="8778240" y="1627632"/>
            <a:ext cx="2572207" cy="256032"/>
          </a:xfrm>
          <a:prstGeom prst="rect">
            <a:avLst/>
          </a:prstGeom>
          <a:noFill/>
          <a:ln/>
        </p:spPr>
        <p:txBody>
          <a:bodyPr wrap="square" lIns="0" tIns="0" rIns="0" bIns="0" rtlCol="0" anchor="ctr"/>
          <a:lstStyle/>
          <a:p>
            <a:pPr indent="0" marL="0">
              <a:buNone/>
            </a:pPr>
            <a:r>
              <a:rPr lang="en-US" sz="1400" b="1" dirty="0">
                <a:solidFill>
                  <a:srgbClr val="A06D4C"/>
                </a:solidFill>
                <a:latin typeface="Yu Gothic" pitchFamily="34" charset="0"/>
                <a:ea typeface="Yu Gothic" pitchFamily="34" charset="-122"/>
                <a:cs typeface="Yu Gothic" pitchFamily="34" charset="-120"/>
              </a:rPr>
              <a:t>成功基準（案）</a:t>
            </a:r>
            <a:endParaRPr lang="en-US" sz="1400" dirty="0"/>
          </a:p>
        </p:txBody>
      </p:sp>
      <p:sp>
        <p:nvSpPr>
          <p:cNvPr id="38" name="Text 35"/>
          <p:cNvSpPr/>
          <p:nvPr/>
        </p:nvSpPr>
        <p:spPr>
          <a:xfrm>
            <a:off x="8778240" y="1956816"/>
            <a:ext cx="2572207" cy="1261872"/>
          </a:xfrm>
          <a:prstGeom prst="rect">
            <a:avLst/>
          </a:prstGeom>
          <a:noFill/>
          <a:ln/>
        </p:spPr>
        <p:txBody>
          <a:bodyPr wrap="square" lIns="0" tIns="0" rIns="0" bIns="0" rtlCol="0" anchor="ctr"/>
          <a:lstStyle/>
          <a:p>
            <a:pPr marL="342900" indent="-342900">
              <a:lnSpc>
                <a:spcPts val="1400"/>
              </a:lnSpc>
              <a:spcAft>
                <a:spcPts val="400"/>
              </a:spcAft>
              <a:buSzPct val="100000"/>
              <a:buChar char="▪"/>
            </a:pPr>
            <a:r>
              <a:rPr lang="en-US" sz="1000" dirty="0">
                <a:solidFill>
                  <a:srgbClr val="1A1A1A"/>
                </a:solidFill>
                <a:latin typeface="Yu Gothic" pitchFamily="34" charset="0"/>
                <a:ea typeface="Yu Gothic" pitchFamily="34" charset="-122"/>
                <a:cs typeface="Yu Gothic" pitchFamily="34" charset="-120"/>
              </a:rPr>
              <a:t>導入店の継続利用意向 80%以上</a:t>
            </a:r>
            <a:endParaRPr lang="en-US" sz="1000" dirty="0"/>
          </a:p>
          <a:p>
            <a:pPr marL="342900" indent="-342900">
              <a:lnSpc>
                <a:spcPts val="1400"/>
              </a:lnSpc>
              <a:spcAft>
                <a:spcPts val="400"/>
              </a:spcAft>
              <a:buSzPct val="100000"/>
              <a:buChar char="▪"/>
            </a:pPr>
            <a:r>
              <a:rPr lang="en-US" sz="1000" dirty="0">
                <a:solidFill>
                  <a:srgbClr val="1A1A1A"/>
                </a:solidFill>
                <a:latin typeface="Yu Gothic" pitchFamily="34" charset="0"/>
                <a:ea typeface="Yu Gothic" pitchFamily="34" charset="-122"/>
                <a:cs typeface="Yu Gothic" pitchFamily="34" charset="-120"/>
              </a:rPr>
              <a:t>1店あたり月10本以上の発注</a:t>
            </a:r>
            <a:endParaRPr lang="en-US" sz="1000" dirty="0"/>
          </a:p>
          <a:p>
            <a:pPr marL="342900" indent="-342900">
              <a:lnSpc>
                <a:spcPts val="1400"/>
              </a:lnSpc>
              <a:spcAft>
                <a:spcPts val="400"/>
              </a:spcAft>
              <a:buSzPct val="100000"/>
              <a:buChar char="▪"/>
            </a:pPr>
            <a:r>
              <a:rPr lang="en-US" sz="1000" dirty="0">
                <a:solidFill>
                  <a:srgbClr val="1A1A1A"/>
                </a:solidFill>
                <a:latin typeface="Yu Gothic" pitchFamily="34" charset="0"/>
                <a:ea typeface="Yu Gothic" pitchFamily="34" charset="-122"/>
                <a:cs typeface="Yu Gothic" pitchFamily="34" charset="-120"/>
              </a:rPr>
              <a:t>館内配送の平均リードタイム10分以内</a:t>
            </a:r>
            <a:endParaRPr lang="en-US" sz="1000" dirty="0"/>
          </a:p>
          <a:p>
            <a:pPr marL="342900" indent="-342900">
              <a:lnSpc>
                <a:spcPts val="1400"/>
              </a:lnSpc>
              <a:spcAft>
                <a:spcPts val="400"/>
              </a:spcAft>
              <a:buSzPct val="100000"/>
              <a:buChar char="▪"/>
            </a:pPr>
            <a:r>
              <a:rPr lang="en-US" sz="1000" dirty="0">
                <a:solidFill>
                  <a:srgbClr val="1A1A1A"/>
                </a:solidFill>
                <a:latin typeface="Yu Gothic" pitchFamily="34" charset="0"/>
                <a:ea typeface="Yu Gothic" pitchFamily="34" charset="-122"/>
                <a:cs typeface="Yu Gothic" pitchFamily="34" charset="-120"/>
              </a:rPr>
              <a:t>重大な運用インシデント ゼロ</a:t>
            </a:r>
            <a:endParaRPr lang="en-US" sz="1000" dirty="0"/>
          </a:p>
        </p:txBody>
      </p:sp>
      <p:sp>
        <p:nvSpPr>
          <p:cNvPr id="39" name="Shape 36"/>
          <p:cNvSpPr/>
          <p:nvPr/>
        </p:nvSpPr>
        <p:spPr>
          <a:xfrm>
            <a:off x="8503920" y="3493008"/>
            <a:ext cx="3120847" cy="1865376"/>
          </a:xfrm>
          <a:prstGeom prst="roundRect">
            <a:avLst>
              <a:gd name="adj" fmla="val 2451"/>
            </a:avLst>
          </a:prstGeom>
          <a:solidFill>
            <a:srgbClr val="FFFFFF"/>
          </a:solidFill>
          <a:ln w="12700">
            <a:solidFill>
              <a:srgbClr val="DDE0E2"/>
            </a:solidFill>
            <a:prstDash val="solid"/>
          </a:ln>
        </p:spPr>
      </p:sp>
      <p:sp>
        <p:nvSpPr>
          <p:cNvPr id="40" name="Text 37"/>
          <p:cNvSpPr/>
          <p:nvPr/>
        </p:nvSpPr>
        <p:spPr>
          <a:xfrm>
            <a:off x="8778240" y="3639312"/>
            <a:ext cx="2572207" cy="256032"/>
          </a:xfrm>
          <a:prstGeom prst="rect">
            <a:avLst/>
          </a:prstGeom>
          <a:noFill/>
          <a:ln/>
        </p:spPr>
        <p:txBody>
          <a:bodyPr wrap="square" lIns="0" tIns="0" rIns="0" bIns="0" rtlCol="0" anchor="ctr"/>
          <a:lstStyle/>
          <a:p>
            <a:pPr indent="0" marL="0">
              <a:buNone/>
            </a:pPr>
            <a:r>
              <a:rPr lang="en-US" sz="1400" b="1" dirty="0">
                <a:solidFill>
                  <a:srgbClr val="A06D4C"/>
                </a:solidFill>
                <a:latin typeface="Yu Gothic" pitchFamily="34" charset="0"/>
                <a:ea typeface="Yu Gothic" pitchFamily="34" charset="-122"/>
                <a:cs typeface="Yu Gothic" pitchFamily="34" charset="-120"/>
              </a:rPr>
              <a:t>お願いしたいご協力</a:t>
            </a:r>
            <a:endParaRPr lang="en-US" sz="1400" dirty="0"/>
          </a:p>
        </p:txBody>
      </p:sp>
      <p:sp>
        <p:nvSpPr>
          <p:cNvPr id="41" name="Text 38"/>
          <p:cNvSpPr/>
          <p:nvPr/>
        </p:nvSpPr>
        <p:spPr>
          <a:xfrm>
            <a:off x="8778240" y="3968496"/>
            <a:ext cx="2572207" cy="1261872"/>
          </a:xfrm>
          <a:prstGeom prst="rect">
            <a:avLst/>
          </a:prstGeom>
          <a:noFill/>
          <a:ln/>
        </p:spPr>
        <p:txBody>
          <a:bodyPr wrap="square" lIns="0" tIns="0" rIns="0" bIns="0" rtlCol="0" anchor="ctr"/>
          <a:lstStyle/>
          <a:p>
            <a:pPr marL="342900" indent="-342900">
              <a:lnSpc>
                <a:spcPts val="1400"/>
              </a:lnSpc>
              <a:spcAft>
                <a:spcPts val="400"/>
              </a:spcAft>
              <a:buSzPct val="100000"/>
              <a:buChar char="▪"/>
            </a:pPr>
            <a:r>
              <a:rPr lang="en-US" sz="1000" dirty="0">
                <a:solidFill>
                  <a:srgbClr val="1A1A1A"/>
                </a:solidFill>
                <a:latin typeface="Yu Gothic" pitchFamily="34" charset="0"/>
                <a:ea typeface="Yu Gothic" pitchFamily="34" charset="-122"/>
                <a:cs typeface="Yu Gothic" pitchFamily="34" charset="-120"/>
              </a:rPr>
              <a:t>対象テナント・居住者へのご案内</a:t>
            </a:r>
            <a:endParaRPr lang="en-US" sz="1000" dirty="0"/>
          </a:p>
          <a:p>
            <a:pPr marL="342900" indent="-342900">
              <a:lnSpc>
                <a:spcPts val="1400"/>
              </a:lnSpc>
              <a:spcAft>
                <a:spcPts val="400"/>
              </a:spcAft>
              <a:buSzPct val="100000"/>
              <a:buChar char="▪"/>
            </a:pPr>
            <a:r>
              <a:rPr lang="en-US" sz="1000" dirty="0">
                <a:solidFill>
                  <a:srgbClr val="1A1A1A"/>
                </a:solidFill>
                <a:latin typeface="Yu Gothic" pitchFamily="34" charset="0"/>
                <a:ea typeface="Yu Gothic" pitchFamily="34" charset="-122"/>
                <a:cs typeface="Yu Gothic" pitchFamily="34" charset="-120"/>
              </a:rPr>
              <a:t>仮設ターミナル用スペース（2〜3坪）</a:t>
            </a:r>
            <a:endParaRPr lang="en-US" sz="1000" dirty="0"/>
          </a:p>
          <a:p>
            <a:pPr marL="342900" indent="-342900">
              <a:lnSpc>
                <a:spcPts val="1400"/>
              </a:lnSpc>
              <a:spcAft>
                <a:spcPts val="400"/>
              </a:spcAft>
              <a:buSzPct val="100000"/>
              <a:buChar char="▪"/>
            </a:pPr>
            <a:r>
              <a:rPr lang="en-US" sz="1000" dirty="0">
                <a:solidFill>
                  <a:srgbClr val="1A1A1A"/>
                </a:solidFill>
                <a:latin typeface="Yu Gothic" pitchFamily="34" charset="0"/>
                <a:ea typeface="Yu Gothic" pitchFamily="34" charset="-122"/>
                <a:cs typeface="Yu Gothic" pitchFamily="34" charset="-120"/>
              </a:rPr>
              <a:t>館内動線・搬入に関する運用ご調整</a:t>
            </a:r>
            <a:endParaRPr lang="en-US" sz="1000" dirty="0"/>
          </a:p>
          <a:p>
            <a:pPr marL="342900" indent="-342900">
              <a:lnSpc>
                <a:spcPts val="1400"/>
              </a:lnSpc>
              <a:spcAft>
                <a:spcPts val="400"/>
              </a:spcAft>
              <a:buSzPct val="100000"/>
              <a:buChar char="▪"/>
            </a:pPr>
            <a:r>
              <a:rPr lang="en-US" sz="1000" dirty="0">
                <a:solidFill>
                  <a:srgbClr val="1A1A1A"/>
                </a:solidFill>
                <a:latin typeface="Yu Gothic" pitchFamily="34" charset="0"/>
                <a:ea typeface="Yu Gothic" pitchFamily="34" charset="-122"/>
                <a:cs typeface="Yu Gothic" pitchFamily="34" charset="-120"/>
              </a:rPr>
              <a:t>実施後の効果検証への同席</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381183" y="292608"/>
            <a:ext cx="1243584" cy="247802"/>
          </a:xfrm>
          <a:prstGeom prst="rect">
            <a:avLst/>
          </a:prstGeom>
        </p:spPr>
      </p:pic>
      <p:sp>
        <p:nvSpPr>
          <p:cNvPr id="3" name="Shape 0"/>
          <p:cNvSpPr/>
          <p:nvPr/>
        </p:nvSpPr>
        <p:spPr>
          <a:xfrm>
            <a:off x="566928" y="292608"/>
            <a:ext cx="621792" cy="237744"/>
          </a:xfrm>
          <a:prstGeom prst="roundRect">
            <a:avLst>
              <a:gd name="adj" fmla="val 11538"/>
            </a:avLst>
          </a:prstGeom>
          <a:solidFill>
            <a:srgbClr val="C68A65"/>
          </a:solidFill>
          <a:ln w="12700">
            <a:solidFill>
              <a:srgbClr val="333333"/>
            </a:solidFill>
            <a:prstDash val="solid"/>
          </a:ln>
        </p:spPr>
      </p:sp>
      <p:sp>
        <p:nvSpPr>
          <p:cNvPr id="4" name="Text 1"/>
          <p:cNvSpPr/>
          <p:nvPr/>
        </p:nvSpPr>
        <p:spPr>
          <a:xfrm>
            <a:off x="566928" y="292608"/>
            <a:ext cx="621792"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Yu Gothic" pitchFamily="34" charset="0"/>
                <a:ea typeface="Yu Gothic" pitchFamily="34" charset="-122"/>
                <a:cs typeface="Yu Gothic" pitchFamily="34" charset="-120"/>
              </a:rPr>
              <a:t>RISK</a:t>
            </a:r>
            <a:endParaRPr lang="en-US" sz="850" dirty="0"/>
          </a:p>
        </p:txBody>
      </p:sp>
      <p:sp>
        <p:nvSpPr>
          <p:cNvPr id="5" name="Text 2"/>
          <p:cNvSpPr/>
          <p:nvPr/>
        </p:nvSpPr>
        <p:spPr>
          <a:xfrm>
            <a:off x="566928" y="585216"/>
            <a:ext cx="9509760" cy="420624"/>
          </a:xfrm>
          <a:prstGeom prst="rect">
            <a:avLst/>
          </a:prstGeom>
          <a:noFill/>
          <a:ln/>
        </p:spPr>
        <p:txBody>
          <a:bodyPr wrap="square" lIns="0" tIns="0" rIns="0" bIns="0" rtlCol="0" anchor="ctr"/>
          <a:lstStyle/>
          <a:p>
            <a:pPr indent="0" marL="0">
              <a:buNone/>
            </a:pPr>
            <a:r>
              <a:rPr lang="en-US" sz="2300" b="1" dirty="0">
                <a:solidFill>
                  <a:srgbClr val="1A1A1A"/>
                </a:solidFill>
                <a:latin typeface="Yu Gothic" pitchFamily="34" charset="0"/>
                <a:ea typeface="Yu Gothic" pitchFamily="34" charset="-122"/>
                <a:cs typeface="Yu Gothic" pitchFamily="34" charset="-120"/>
              </a:rPr>
              <a:t>品質・リスク管理とコンプライアンス</a:t>
            </a:r>
            <a:endParaRPr lang="en-US" sz="2300" dirty="0"/>
          </a:p>
        </p:txBody>
      </p:sp>
      <p:sp>
        <p:nvSpPr>
          <p:cNvPr id="6" name="Text 3"/>
          <p:cNvSpPr/>
          <p:nvPr/>
        </p:nvSpPr>
        <p:spPr>
          <a:xfrm>
            <a:off x="566928" y="1024128"/>
            <a:ext cx="11057839" cy="310896"/>
          </a:xfrm>
          <a:prstGeom prst="rect">
            <a:avLst/>
          </a:prstGeom>
          <a:noFill/>
          <a:ln/>
        </p:spPr>
        <p:txBody>
          <a:bodyPr wrap="square" lIns="0" tIns="0" rIns="0" bIns="0" rtlCol="0" anchor="ctr"/>
          <a:lstStyle/>
          <a:p>
            <a:pPr indent="0" marL="0">
              <a:lnSpc>
                <a:spcPts val="1700"/>
              </a:lnSpc>
              <a:buNone/>
            </a:pPr>
            <a:r>
              <a:rPr lang="en-US" sz="1150" dirty="0">
                <a:solidFill>
                  <a:srgbClr val="6E7378"/>
                </a:solidFill>
                <a:latin typeface="Yu Gothic" pitchFamily="34" charset="0"/>
                <a:ea typeface="Yu Gothic" pitchFamily="34" charset="-122"/>
                <a:cs typeface="Yu Gothic" pitchFamily="34" charset="-120"/>
              </a:rPr>
              <a:t>高額かつ繊細な商材を街区で扱うにあたり、当社が負う責任と管理体制を明確にしています。</a:t>
            </a:r>
            <a:endParaRPr lang="en-US" sz="1150" dirty="0"/>
          </a:p>
        </p:txBody>
      </p:sp>
      <p:sp>
        <p:nvSpPr>
          <p:cNvPr id="7" name="Shape 4"/>
          <p:cNvSpPr/>
          <p:nvPr/>
        </p:nvSpPr>
        <p:spPr>
          <a:xfrm>
            <a:off x="0" y="6583680"/>
            <a:ext cx="12191695" cy="274320"/>
          </a:xfrm>
          <a:prstGeom prst="rect">
            <a:avLst/>
          </a:prstGeom>
          <a:solidFill>
            <a:srgbClr val="2F3941"/>
          </a:solidFill>
          <a:ln w="12700">
            <a:solidFill>
              <a:srgbClr val="333333"/>
            </a:solidFill>
            <a:prstDash val="solid"/>
          </a:ln>
        </p:spPr>
      </p:sp>
      <p:sp>
        <p:nvSpPr>
          <p:cNvPr id="8" name="Text 5"/>
          <p:cNvSpPr/>
          <p:nvPr/>
        </p:nvSpPr>
        <p:spPr>
          <a:xfrm>
            <a:off x="10893247" y="6272784"/>
            <a:ext cx="731520" cy="256032"/>
          </a:xfrm>
          <a:prstGeom prst="rect">
            <a:avLst/>
          </a:prstGeom>
          <a:noFill/>
          <a:ln/>
        </p:spPr>
        <p:txBody>
          <a:bodyPr wrap="square" lIns="0" tIns="0" rIns="0" bIns="0" rtlCol="0" anchor="ctr"/>
          <a:lstStyle/>
          <a:p>
            <a:pPr algn="r" indent="0" marL="0">
              <a:buNone/>
            </a:pPr>
            <a:r>
              <a:rPr lang="en-US" sz="1000" dirty="0">
                <a:solidFill>
                  <a:srgbClr val="A6ABAF"/>
                </a:solidFill>
                <a:latin typeface="Calibri" pitchFamily="34" charset="0"/>
                <a:ea typeface="Calibri" pitchFamily="34" charset="-122"/>
                <a:cs typeface="Calibri" pitchFamily="34" charset="-120"/>
              </a:rPr>
              <a:t>23</a:t>
            </a:r>
            <a:endParaRPr lang="en-US" sz="1000" dirty="0"/>
          </a:p>
        </p:txBody>
      </p:sp>
      <p:sp>
        <p:nvSpPr>
          <p:cNvPr id="9" name="Text 6"/>
          <p:cNvSpPr/>
          <p:nvPr/>
        </p:nvSpPr>
        <p:spPr>
          <a:xfrm>
            <a:off x="566928" y="6272784"/>
            <a:ext cx="2926080" cy="256032"/>
          </a:xfrm>
          <a:prstGeom prst="rect">
            <a:avLst/>
          </a:prstGeom>
          <a:noFill/>
          <a:ln/>
        </p:spPr>
        <p:txBody>
          <a:bodyPr wrap="square" lIns="0" tIns="0" rIns="0" bIns="0" rtlCol="0" anchor="ctr"/>
          <a:lstStyle/>
          <a:p>
            <a:pPr indent="0" marL="0">
              <a:buNone/>
            </a:pPr>
            <a:r>
              <a:rPr lang="en-US" sz="850" spc="120" kern="0" dirty="0">
                <a:solidFill>
                  <a:srgbClr val="C7CACC"/>
                </a:solidFill>
                <a:latin typeface="Calibri" pitchFamily="34" charset="0"/>
                <a:ea typeface="Calibri" pitchFamily="34" charset="-122"/>
                <a:cs typeface="Calibri" pitchFamily="34" charset="-120"/>
              </a:rPr>
              <a:t>CONFIDENTIAL</a:t>
            </a:r>
            <a:endParaRPr lang="en-US" sz="850" dirty="0"/>
          </a:p>
        </p:txBody>
      </p:sp>
      <p:sp>
        <p:nvSpPr>
          <p:cNvPr id="10" name="Shape 7"/>
          <p:cNvSpPr/>
          <p:nvPr/>
        </p:nvSpPr>
        <p:spPr>
          <a:xfrm>
            <a:off x="566928" y="1463040"/>
            <a:ext cx="5391760" cy="1170432"/>
          </a:xfrm>
          <a:prstGeom prst="roundRect">
            <a:avLst>
              <a:gd name="adj" fmla="val 3906"/>
            </a:avLst>
          </a:prstGeom>
          <a:solidFill>
            <a:srgbClr val="F6F6F6"/>
          </a:solidFill>
          <a:ln w="12700">
            <a:solidFill>
              <a:srgbClr val="333333"/>
            </a:solidFill>
            <a:prstDash val="solid"/>
          </a:ln>
        </p:spPr>
      </p:sp>
      <p:sp>
        <p:nvSpPr>
          <p:cNvPr id="11" name="Text 8"/>
          <p:cNvSpPr/>
          <p:nvPr/>
        </p:nvSpPr>
        <p:spPr>
          <a:xfrm>
            <a:off x="822960" y="1609344"/>
            <a:ext cx="1737360" cy="256032"/>
          </a:xfrm>
          <a:prstGeom prst="rect">
            <a:avLst/>
          </a:prstGeom>
          <a:noFill/>
          <a:ln/>
        </p:spPr>
        <p:txBody>
          <a:bodyPr wrap="square" lIns="0" tIns="0" rIns="0" bIns="0" rtlCol="0" anchor="ctr"/>
          <a:lstStyle/>
          <a:p>
            <a:pPr indent="0" marL="0">
              <a:buNone/>
            </a:pPr>
            <a:r>
              <a:rPr lang="en-US" sz="1300" b="1" dirty="0">
                <a:solidFill>
                  <a:srgbClr val="A06D4C"/>
                </a:solidFill>
                <a:latin typeface="Yu Gothic" pitchFamily="34" charset="0"/>
                <a:ea typeface="Yu Gothic" pitchFamily="34" charset="-122"/>
                <a:cs typeface="Yu Gothic" pitchFamily="34" charset="-120"/>
              </a:rPr>
              <a:t>偽造・真贋</a:t>
            </a:r>
            <a:endParaRPr lang="en-US" sz="1300" dirty="0"/>
          </a:p>
        </p:txBody>
      </p:sp>
      <p:sp>
        <p:nvSpPr>
          <p:cNvPr id="12" name="Text 9"/>
          <p:cNvSpPr/>
          <p:nvPr/>
        </p:nvSpPr>
        <p:spPr>
          <a:xfrm>
            <a:off x="2596896" y="1627632"/>
            <a:ext cx="3105760" cy="237744"/>
          </a:xfrm>
          <a:prstGeom prst="rect">
            <a:avLst/>
          </a:prstGeom>
          <a:noFill/>
          <a:ln/>
        </p:spPr>
        <p:txBody>
          <a:bodyPr wrap="square" lIns="0" tIns="0" rIns="0" bIns="0" rtlCol="0" anchor="ctr"/>
          <a:lstStyle/>
          <a:p>
            <a:pPr indent="0" marL="0">
              <a:buNone/>
            </a:pPr>
            <a:r>
              <a:rPr lang="en-US" sz="940" dirty="0">
                <a:solidFill>
                  <a:srgbClr val="6E7378"/>
                </a:solidFill>
                <a:latin typeface="Yu Gothic" pitchFamily="34" charset="0"/>
                <a:ea typeface="Yu Gothic" pitchFamily="34" charset="-122"/>
                <a:cs typeface="Yu Gothic" pitchFamily="34" charset="-120"/>
              </a:rPr>
              <a:t>並行品・二次流通品に潜む真贋リスク</a:t>
            </a:r>
            <a:endParaRPr lang="en-US" sz="940" dirty="0"/>
          </a:p>
        </p:txBody>
      </p:sp>
      <p:sp>
        <p:nvSpPr>
          <p:cNvPr id="13" name="Text 10"/>
          <p:cNvSpPr/>
          <p:nvPr/>
        </p:nvSpPr>
        <p:spPr>
          <a:xfrm>
            <a:off x="822960" y="1938528"/>
            <a:ext cx="4879696" cy="585216"/>
          </a:xfrm>
          <a:prstGeom prst="rect">
            <a:avLst/>
          </a:prstGeom>
          <a:noFill/>
          <a:ln/>
        </p:spPr>
        <p:txBody>
          <a:bodyPr wrap="square" lIns="0" tIns="0" rIns="0" bIns="0" rtlCol="0" anchor="ctr"/>
          <a:lstStyle/>
          <a:p>
            <a:pPr indent="0" marL="0">
              <a:lnSpc>
                <a:spcPts val="1350"/>
              </a:lnSpc>
              <a:buNone/>
            </a:pPr>
            <a:r>
              <a:rPr lang="en-US" sz="980" dirty="0">
                <a:solidFill>
                  <a:srgbClr val="1A1A1A"/>
                </a:solidFill>
                <a:latin typeface="Yu Gothic" pitchFamily="34" charset="0"/>
                <a:ea typeface="Yu Gothic" pitchFamily="34" charset="-122"/>
                <a:cs typeface="Yu Gothic" pitchFamily="34" charset="-120"/>
              </a:rPr>
              <a:t>国内外の正規取扱業者からのみ仕入れ。国家ソムリエ資格保持者による選定と、全ボトルのプロヴナンス管理。</a:t>
            </a:r>
            <a:endParaRPr lang="en-US" sz="980" dirty="0"/>
          </a:p>
        </p:txBody>
      </p:sp>
      <p:sp>
        <p:nvSpPr>
          <p:cNvPr id="14" name="Shape 11"/>
          <p:cNvSpPr/>
          <p:nvPr/>
        </p:nvSpPr>
        <p:spPr>
          <a:xfrm>
            <a:off x="6233008" y="1463040"/>
            <a:ext cx="5391760" cy="1170432"/>
          </a:xfrm>
          <a:prstGeom prst="roundRect">
            <a:avLst>
              <a:gd name="adj" fmla="val 3906"/>
            </a:avLst>
          </a:prstGeom>
          <a:solidFill>
            <a:srgbClr val="F6F6F6"/>
          </a:solidFill>
          <a:ln w="12700">
            <a:solidFill>
              <a:srgbClr val="333333"/>
            </a:solidFill>
            <a:prstDash val="solid"/>
          </a:ln>
        </p:spPr>
      </p:sp>
      <p:sp>
        <p:nvSpPr>
          <p:cNvPr id="15" name="Text 12"/>
          <p:cNvSpPr/>
          <p:nvPr/>
        </p:nvSpPr>
        <p:spPr>
          <a:xfrm>
            <a:off x="6489040" y="1609344"/>
            <a:ext cx="1737360" cy="256032"/>
          </a:xfrm>
          <a:prstGeom prst="rect">
            <a:avLst/>
          </a:prstGeom>
          <a:noFill/>
          <a:ln/>
        </p:spPr>
        <p:txBody>
          <a:bodyPr wrap="square" lIns="0" tIns="0" rIns="0" bIns="0" rtlCol="0" anchor="ctr"/>
          <a:lstStyle/>
          <a:p>
            <a:pPr indent="0" marL="0">
              <a:buNone/>
            </a:pPr>
            <a:r>
              <a:rPr lang="en-US" sz="1300" b="1" dirty="0">
                <a:solidFill>
                  <a:srgbClr val="A06D4C"/>
                </a:solidFill>
                <a:latin typeface="Yu Gothic" pitchFamily="34" charset="0"/>
                <a:ea typeface="Yu Gothic" pitchFamily="34" charset="-122"/>
                <a:cs typeface="Yu Gothic" pitchFamily="34" charset="-120"/>
              </a:rPr>
              <a:t>品質劣化</a:t>
            </a:r>
            <a:endParaRPr lang="en-US" sz="1300" dirty="0"/>
          </a:p>
        </p:txBody>
      </p:sp>
      <p:sp>
        <p:nvSpPr>
          <p:cNvPr id="16" name="Text 13"/>
          <p:cNvSpPr/>
          <p:nvPr/>
        </p:nvSpPr>
        <p:spPr>
          <a:xfrm>
            <a:off x="8262976" y="1627632"/>
            <a:ext cx="3105760" cy="237744"/>
          </a:xfrm>
          <a:prstGeom prst="rect">
            <a:avLst/>
          </a:prstGeom>
          <a:noFill/>
          <a:ln/>
        </p:spPr>
        <p:txBody>
          <a:bodyPr wrap="square" lIns="0" tIns="0" rIns="0" bIns="0" rtlCol="0" anchor="ctr"/>
          <a:lstStyle/>
          <a:p>
            <a:pPr indent="0" marL="0">
              <a:buNone/>
            </a:pPr>
            <a:r>
              <a:rPr lang="en-US" sz="940" dirty="0">
                <a:solidFill>
                  <a:srgbClr val="6E7378"/>
                </a:solidFill>
                <a:latin typeface="Yu Gothic" pitchFamily="34" charset="0"/>
                <a:ea typeface="Yu Gothic" pitchFamily="34" charset="-122"/>
                <a:cs typeface="Yu Gothic" pitchFamily="34" charset="-120"/>
              </a:rPr>
              <a:t>輸送・保管中の温度変化による品質毀損</a:t>
            </a:r>
            <a:endParaRPr lang="en-US" sz="940" dirty="0"/>
          </a:p>
        </p:txBody>
      </p:sp>
      <p:sp>
        <p:nvSpPr>
          <p:cNvPr id="17" name="Text 14"/>
          <p:cNvSpPr/>
          <p:nvPr/>
        </p:nvSpPr>
        <p:spPr>
          <a:xfrm>
            <a:off x="6489040" y="1938528"/>
            <a:ext cx="4879696" cy="585216"/>
          </a:xfrm>
          <a:prstGeom prst="rect">
            <a:avLst/>
          </a:prstGeom>
          <a:noFill/>
          <a:ln/>
        </p:spPr>
        <p:txBody>
          <a:bodyPr wrap="square" lIns="0" tIns="0" rIns="0" bIns="0" rtlCol="0" anchor="ctr"/>
          <a:lstStyle/>
          <a:p>
            <a:pPr indent="0" marL="0">
              <a:lnSpc>
                <a:spcPts val="1350"/>
              </a:lnSpc>
              <a:buNone/>
            </a:pPr>
            <a:r>
              <a:rPr lang="en-US" sz="980" dirty="0">
                <a:solidFill>
                  <a:srgbClr val="1A1A1A"/>
                </a:solidFill>
                <a:latin typeface="Yu Gothic" pitchFamily="34" charset="0"/>
                <a:ea typeface="Yu Gothic" pitchFamily="34" charset="-122"/>
                <a:cs typeface="Yu Gothic" pitchFamily="34" charset="-120"/>
              </a:rPr>
              <a:t>14℃・湿度70%での定温定湿保管、24時間365日の温度監視。配送も高級ワインに適した定温帯で実施。</a:t>
            </a:r>
            <a:endParaRPr lang="en-US" sz="980" dirty="0"/>
          </a:p>
        </p:txBody>
      </p:sp>
      <p:sp>
        <p:nvSpPr>
          <p:cNvPr id="18" name="Shape 15"/>
          <p:cNvSpPr/>
          <p:nvPr/>
        </p:nvSpPr>
        <p:spPr>
          <a:xfrm>
            <a:off x="566928" y="2834640"/>
            <a:ext cx="5391760" cy="1170432"/>
          </a:xfrm>
          <a:prstGeom prst="roundRect">
            <a:avLst>
              <a:gd name="adj" fmla="val 3906"/>
            </a:avLst>
          </a:prstGeom>
          <a:solidFill>
            <a:srgbClr val="F6F6F6"/>
          </a:solidFill>
          <a:ln w="12700">
            <a:solidFill>
              <a:srgbClr val="333333"/>
            </a:solidFill>
            <a:prstDash val="solid"/>
          </a:ln>
        </p:spPr>
      </p:sp>
      <p:sp>
        <p:nvSpPr>
          <p:cNvPr id="19" name="Text 16"/>
          <p:cNvSpPr/>
          <p:nvPr/>
        </p:nvSpPr>
        <p:spPr>
          <a:xfrm>
            <a:off x="822960" y="2980944"/>
            <a:ext cx="1737360" cy="256032"/>
          </a:xfrm>
          <a:prstGeom prst="rect">
            <a:avLst/>
          </a:prstGeom>
          <a:noFill/>
          <a:ln/>
        </p:spPr>
        <p:txBody>
          <a:bodyPr wrap="square" lIns="0" tIns="0" rIns="0" bIns="0" rtlCol="0" anchor="ctr"/>
          <a:lstStyle/>
          <a:p>
            <a:pPr indent="0" marL="0">
              <a:buNone/>
            </a:pPr>
            <a:r>
              <a:rPr lang="en-US" sz="1300" b="1" dirty="0">
                <a:solidFill>
                  <a:srgbClr val="A06D4C"/>
                </a:solidFill>
                <a:latin typeface="Yu Gothic" pitchFamily="34" charset="0"/>
                <a:ea typeface="Yu Gothic" pitchFamily="34" charset="-122"/>
                <a:cs typeface="Yu Gothic" pitchFamily="34" charset="-120"/>
              </a:rPr>
              <a:t>破損・紛失</a:t>
            </a:r>
            <a:endParaRPr lang="en-US" sz="1300" dirty="0"/>
          </a:p>
        </p:txBody>
      </p:sp>
      <p:sp>
        <p:nvSpPr>
          <p:cNvPr id="20" name="Text 17"/>
          <p:cNvSpPr/>
          <p:nvPr/>
        </p:nvSpPr>
        <p:spPr>
          <a:xfrm>
            <a:off x="2596896" y="2999232"/>
            <a:ext cx="3105760" cy="237744"/>
          </a:xfrm>
          <a:prstGeom prst="rect">
            <a:avLst/>
          </a:prstGeom>
          <a:noFill/>
          <a:ln/>
        </p:spPr>
        <p:txBody>
          <a:bodyPr wrap="square" lIns="0" tIns="0" rIns="0" bIns="0" rtlCol="0" anchor="ctr"/>
          <a:lstStyle/>
          <a:p>
            <a:pPr indent="0" marL="0">
              <a:buNone/>
            </a:pPr>
            <a:r>
              <a:rPr lang="en-US" sz="940" dirty="0">
                <a:solidFill>
                  <a:srgbClr val="6E7378"/>
                </a:solidFill>
                <a:latin typeface="Yu Gothic" pitchFamily="34" charset="0"/>
                <a:ea typeface="Yu Gothic" pitchFamily="34" charset="-122"/>
                <a:cs typeface="Yu Gothic" pitchFamily="34" charset="-120"/>
              </a:rPr>
              <a:t>保管中・配送中の事故</a:t>
            </a:r>
            <a:endParaRPr lang="en-US" sz="940" dirty="0"/>
          </a:p>
        </p:txBody>
      </p:sp>
      <p:sp>
        <p:nvSpPr>
          <p:cNvPr id="21" name="Text 18"/>
          <p:cNvSpPr/>
          <p:nvPr/>
        </p:nvSpPr>
        <p:spPr>
          <a:xfrm>
            <a:off x="822960" y="3310128"/>
            <a:ext cx="4879696" cy="585216"/>
          </a:xfrm>
          <a:prstGeom prst="rect">
            <a:avLst/>
          </a:prstGeom>
          <a:noFill/>
          <a:ln/>
        </p:spPr>
        <p:txBody>
          <a:bodyPr wrap="square" lIns="0" tIns="0" rIns="0" bIns="0" rtlCol="0" anchor="ctr"/>
          <a:lstStyle/>
          <a:p>
            <a:pPr indent="0" marL="0">
              <a:lnSpc>
                <a:spcPts val="1350"/>
              </a:lnSpc>
              <a:buNone/>
            </a:pPr>
            <a:r>
              <a:rPr lang="en-US" sz="980" dirty="0">
                <a:solidFill>
                  <a:srgbClr val="1A1A1A"/>
                </a:solidFill>
                <a:latin typeface="Yu Gothic" pitchFamily="34" charset="0"/>
                <a:ea typeface="Yu Gothic" pitchFamily="34" charset="-122"/>
                <a:cs typeface="Yu Gothic" pitchFamily="34" charset="-120"/>
              </a:rPr>
              <a:t>動産保険を付保し、事業者責による破損は全額補償。委託倉庫は東日本大震災でも破損実績ゼロ、補助電源完備。</a:t>
            </a:r>
            <a:endParaRPr lang="en-US" sz="980" dirty="0"/>
          </a:p>
        </p:txBody>
      </p:sp>
      <p:sp>
        <p:nvSpPr>
          <p:cNvPr id="22" name="Shape 19"/>
          <p:cNvSpPr/>
          <p:nvPr/>
        </p:nvSpPr>
        <p:spPr>
          <a:xfrm>
            <a:off x="6233008" y="2834640"/>
            <a:ext cx="5391760" cy="1170432"/>
          </a:xfrm>
          <a:prstGeom prst="roundRect">
            <a:avLst>
              <a:gd name="adj" fmla="val 3906"/>
            </a:avLst>
          </a:prstGeom>
          <a:solidFill>
            <a:srgbClr val="F6F6F6"/>
          </a:solidFill>
          <a:ln w="12700">
            <a:solidFill>
              <a:srgbClr val="333333"/>
            </a:solidFill>
            <a:prstDash val="solid"/>
          </a:ln>
        </p:spPr>
      </p:sp>
      <p:sp>
        <p:nvSpPr>
          <p:cNvPr id="23" name="Text 20"/>
          <p:cNvSpPr/>
          <p:nvPr/>
        </p:nvSpPr>
        <p:spPr>
          <a:xfrm>
            <a:off x="6489040" y="2980944"/>
            <a:ext cx="1737360" cy="256032"/>
          </a:xfrm>
          <a:prstGeom prst="rect">
            <a:avLst/>
          </a:prstGeom>
          <a:noFill/>
          <a:ln/>
        </p:spPr>
        <p:txBody>
          <a:bodyPr wrap="square" lIns="0" tIns="0" rIns="0" bIns="0" rtlCol="0" anchor="ctr"/>
          <a:lstStyle/>
          <a:p>
            <a:pPr indent="0" marL="0">
              <a:buNone/>
            </a:pPr>
            <a:r>
              <a:rPr lang="en-US" sz="1300" b="1" dirty="0">
                <a:solidFill>
                  <a:srgbClr val="A06D4C"/>
                </a:solidFill>
                <a:latin typeface="Yu Gothic" pitchFamily="34" charset="0"/>
                <a:ea typeface="Yu Gothic" pitchFamily="34" charset="-122"/>
                <a:cs typeface="Yu Gothic" pitchFamily="34" charset="-120"/>
              </a:rPr>
              <a:t>法令遵守</a:t>
            </a:r>
            <a:endParaRPr lang="en-US" sz="1300" dirty="0"/>
          </a:p>
        </p:txBody>
      </p:sp>
      <p:sp>
        <p:nvSpPr>
          <p:cNvPr id="24" name="Text 21"/>
          <p:cNvSpPr/>
          <p:nvPr/>
        </p:nvSpPr>
        <p:spPr>
          <a:xfrm>
            <a:off x="8262976" y="2999232"/>
            <a:ext cx="3105760" cy="237744"/>
          </a:xfrm>
          <a:prstGeom prst="rect">
            <a:avLst/>
          </a:prstGeom>
          <a:noFill/>
          <a:ln/>
        </p:spPr>
        <p:txBody>
          <a:bodyPr wrap="square" lIns="0" tIns="0" rIns="0" bIns="0" rtlCol="0" anchor="ctr"/>
          <a:lstStyle/>
          <a:p>
            <a:pPr indent="0" marL="0">
              <a:buNone/>
            </a:pPr>
            <a:r>
              <a:rPr lang="en-US" sz="940" dirty="0">
                <a:solidFill>
                  <a:srgbClr val="6E7378"/>
                </a:solidFill>
                <a:latin typeface="Yu Gothic" pitchFamily="34" charset="0"/>
                <a:ea typeface="Yu Gothic" pitchFamily="34" charset="-122"/>
                <a:cs typeface="Yu Gothic" pitchFamily="34" charset="-120"/>
              </a:rPr>
              <a:t>酒類販売業免許、未成年者飲酒防止</a:t>
            </a:r>
            <a:endParaRPr lang="en-US" sz="940" dirty="0"/>
          </a:p>
        </p:txBody>
      </p:sp>
      <p:sp>
        <p:nvSpPr>
          <p:cNvPr id="25" name="Text 22"/>
          <p:cNvSpPr/>
          <p:nvPr/>
        </p:nvSpPr>
        <p:spPr>
          <a:xfrm>
            <a:off x="6489040" y="3310128"/>
            <a:ext cx="4879696" cy="585216"/>
          </a:xfrm>
          <a:prstGeom prst="rect">
            <a:avLst/>
          </a:prstGeom>
          <a:noFill/>
          <a:ln/>
        </p:spPr>
        <p:txBody>
          <a:bodyPr wrap="square" lIns="0" tIns="0" rIns="0" bIns="0" rtlCol="0" anchor="ctr"/>
          <a:lstStyle/>
          <a:p>
            <a:pPr indent="0" marL="0">
              <a:lnSpc>
                <a:spcPts val="1350"/>
              </a:lnSpc>
              <a:buNone/>
            </a:pPr>
            <a:r>
              <a:rPr lang="en-US" sz="980" dirty="0">
                <a:solidFill>
                  <a:srgbClr val="1A1A1A"/>
                </a:solidFill>
                <a:latin typeface="Yu Gothic" pitchFamily="34" charset="0"/>
                <a:ea typeface="Yu Gothic" pitchFamily="34" charset="-122"/>
                <a:cs typeface="Yu Gothic" pitchFamily="34" charset="-120"/>
              </a:rPr>
              <a:t>当社が免許主体となり販売・配送を実施。年齢確認を配送時に徹底。広告表現は事前に法務レビューを実施。</a:t>
            </a:r>
            <a:endParaRPr lang="en-US" sz="980" dirty="0"/>
          </a:p>
        </p:txBody>
      </p:sp>
      <p:sp>
        <p:nvSpPr>
          <p:cNvPr id="26" name="Shape 23"/>
          <p:cNvSpPr/>
          <p:nvPr/>
        </p:nvSpPr>
        <p:spPr>
          <a:xfrm>
            <a:off x="566928" y="4206240"/>
            <a:ext cx="5391760" cy="1170432"/>
          </a:xfrm>
          <a:prstGeom prst="roundRect">
            <a:avLst>
              <a:gd name="adj" fmla="val 3906"/>
            </a:avLst>
          </a:prstGeom>
          <a:solidFill>
            <a:srgbClr val="F6F6F6"/>
          </a:solidFill>
          <a:ln w="12700">
            <a:solidFill>
              <a:srgbClr val="333333"/>
            </a:solidFill>
            <a:prstDash val="solid"/>
          </a:ln>
        </p:spPr>
      </p:sp>
      <p:sp>
        <p:nvSpPr>
          <p:cNvPr id="27" name="Text 24"/>
          <p:cNvSpPr/>
          <p:nvPr/>
        </p:nvSpPr>
        <p:spPr>
          <a:xfrm>
            <a:off x="822960" y="4352544"/>
            <a:ext cx="1737360" cy="256032"/>
          </a:xfrm>
          <a:prstGeom prst="rect">
            <a:avLst/>
          </a:prstGeom>
          <a:noFill/>
          <a:ln/>
        </p:spPr>
        <p:txBody>
          <a:bodyPr wrap="square" lIns="0" tIns="0" rIns="0" bIns="0" rtlCol="0" anchor="ctr"/>
          <a:lstStyle/>
          <a:p>
            <a:pPr indent="0" marL="0">
              <a:buNone/>
            </a:pPr>
            <a:r>
              <a:rPr lang="en-US" sz="1300" b="1" dirty="0">
                <a:solidFill>
                  <a:srgbClr val="A06D4C"/>
                </a:solidFill>
                <a:latin typeface="Yu Gothic" pitchFamily="34" charset="0"/>
                <a:ea typeface="Yu Gothic" pitchFamily="34" charset="-122"/>
                <a:cs typeface="Yu Gothic" pitchFamily="34" charset="-120"/>
              </a:rPr>
              <a:t>テナント配慮</a:t>
            </a:r>
            <a:endParaRPr lang="en-US" sz="1300" dirty="0"/>
          </a:p>
        </p:txBody>
      </p:sp>
      <p:sp>
        <p:nvSpPr>
          <p:cNvPr id="28" name="Text 25"/>
          <p:cNvSpPr/>
          <p:nvPr/>
        </p:nvSpPr>
        <p:spPr>
          <a:xfrm>
            <a:off x="2596896" y="4370832"/>
            <a:ext cx="3105760" cy="237744"/>
          </a:xfrm>
          <a:prstGeom prst="rect">
            <a:avLst/>
          </a:prstGeom>
          <a:noFill/>
          <a:ln/>
        </p:spPr>
        <p:txBody>
          <a:bodyPr wrap="square" lIns="0" tIns="0" rIns="0" bIns="0" rtlCol="0" anchor="ctr"/>
          <a:lstStyle/>
          <a:p>
            <a:pPr indent="0" marL="0">
              <a:buNone/>
            </a:pPr>
            <a:r>
              <a:rPr lang="en-US" sz="940" dirty="0">
                <a:solidFill>
                  <a:srgbClr val="6E7378"/>
                </a:solidFill>
                <a:latin typeface="Yu Gothic" pitchFamily="34" charset="0"/>
                <a:ea typeface="Yu Gothic" pitchFamily="34" charset="-122"/>
                <a:cs typeface="Yu Gothic" pitchFamily="34" charset="-120"/>
              </a:rPr>
              <a:t>居住者向け開放による価格関係の影響</a:t>
            </a:r>
            <a:endParaRPr lang="en-US" sz="940" dirty="0"/>
          </a:p>
        </p:txBody>
      </p:sp>
      <p:sp>
        <p:nvSpPr>
          <p:cNvPr id="29" name="Text 26"/>
          <p:cNvSpPr/>
          <p:nvPr/>
        </p:nvSpPr>
        <p:spPr>
          <a:xfrm>
            <a:off x="822960" y="4681728"/>
            <a:ext cx="4879696" cy="585216"/>
          </a:xfrm>
          <a:prstGeom prst="rect">
            <a:avLst/>
          </a:prstGeom>
          <a:noFill/>
          <a:ln/>
        </p:spPr>
        <p:txBody>
          <a:bodyPr wrap="square" lIns="0" tIns="0" rIns="0" bIns="0" rtlCol="0" anchor="ctr"/>
          <a:lstStyle/>
          <a:p>
            <a:pPr indent="0" marL="0">
              <a:lnSpc>
                <a:spcPts val="1350"/>
              </a:lnSpc>
              <a:buNone/>
            </a:pPr>
            <a:r>
              <a:rPr lang="en-US" sz="980" dirty="0">
                <a:solidFill>
                  <a:srgbClr val="1A1A1A"/>
                </a:solidFill>
                <a:latin typeface="Yu Gothic" pitchFamily="34" charset="0"/>
                <a:ea typeface="Yu Gothic" pitchFamily="34" charset="-122"/>
                <a:cs typeface="Yu Gothic" pitchFamily="34" charset="-120"/>
              </a:rPr>
              <a:t>居住者価格は飲食店向け卸値を下回らせない設計。段階開放とし、影響を検証しながら拡大します。</a:t>
            </a:r>
            <a:endParaRPr lang="en-US" sz="980" dirty="0"/>
          </a:p>
        </p:txBody>
      </p:sp>
      <p:sp>
        <p:nvSpPr>
          <p:cNvPr id="30" name="Shape 27"/>
          <p:cNvSpPr/>
          <p:nvPr/>
        </p:nvSpPr>
        <p:spPr>
          <a:xfrm>
            <a:off x="6233008" y="4206240"/>
            <a:ext cx="5391760" cy="1170432"/>
          </a:xfrm>
          <a:prstGeom prst="roundRect">
            <a:avLst>
              <a:gd name="adj" fmla="val 3906"/>
            </a:avLst>
          </a:prstGeom>
          <a:solidFill>
            <a:srgbClr val="F6F6F6"/>
          </a:solidFill>
          <a:ln w="12700">
            <a:solidFill>
              <a:srgbClr val="333333"/>
            </a:solidFill>
            <a:prstDash val="solid"/>
          </a:ln>
        </p:spPr>
      </p:sp>
      <p:sp>
        <p:nvSpPr>
          <p:cNvPr id="31" name="Text 28"/>
          <p:cNvSpPr/>
          <p:nvPr/>
        </p:nvSpPr>
        <p:spPr>
          <a:xfrm>
            <a:off x="6489040" y="4352544"/>
            <a:ext cx="1737360" cy="256032"/>
          </a:xfrm>
          <a:prstGeom prst="rect">
            <a:avLst/>
          </a:prstGeom>
          <a:noFill/>
          <a:ln/>
        </p:spPr>
        <p:txBody>
          <a:bodyPr wrap="square" lIns="0" tIns="0" rIns="0" bIns="0" rtlCol="0" anchor="ctr"/>
          <a:lstStyle/>
          <a:p>
            <a:pPr indent="0" marL="0">
              <a:buNone/>
            </a:pPr>
            <a:r>
              <a:rPr lang="en-US" sz="1300" b="1" dirty="0">
                <a:solidFill>
                  <a:srgbClr val="A06D4C"/>
                </a:solidFill>
                <a:latin typeface="Yu Gothic" pitchFamily="34" charset="0"/>
                <a:ea typeface="Yu Gothic" pitchFamily="34" charset="-122"/>
                <a:cs typeface="Yu Gothic" pitchFamily="34" charset="-120"/>
              </a:rPr>
              <a:t>個人情報</a:t>
            </a:r>
            <a:endParaRPr lang="en-US" sz="1300" dirty="0"/>
          </a:p>
        </p:txBody>
      </p:sp>
      <p:sp>
        <p:nvSpPr>
          <p:cNvPr id="32" name="Text 29"/>
          <p:cNvSpPr/>
          <p:nvPr/>
        </p:nvSpPr>
        <p:spPr>
          <a:xfrm>
            <a:off x="8262976" y="4370832"/>
            <a:ext cx="3105760" cy="237744"/>
          </a:xfrm>
          <a:prstGeom prst="rect">
            <a:avLst/>
          </a:prstGeom>
          <a:noFill/>
          <a:ln/>
        </p:spPr>
        <p:txBody>
          <a:bodyPr wrap="square" lIns="0" tIns="0" rIns="0" bIns="0" rtlCol="0" anchor="ctr"/>
          <a:lstStyle/>
          <a:p>
            <a:pPr indent="0" marL="0">
              <a:buNone/>
            </a:pPr>
            <a:r>
              <a:rPr lang="en-US" sz="940" dirty="0">
                <a:solidFill>
                  <a:srgbClr val="6E7378"/>
                </a:solidFill>
                <a:latin typeface="Yu Gothic" pitchFamily="34" charset="0"/>
                <a:ea typeface="Yu Gothic" pitchFamily="34" charset="-122"/>
                <a:cs typeface="Yu Gothic" pitchFamily="34" charset="-120"/>
              </a:rPr>
              <a:t>テナント・居住者情報の取扱い</a:t>
            </a:r>
            <a:endParaRPr lang="en-US" sz="940" dirty="0"/>
          </a:p>
        </p:txBody>
      </p:sp>
      <p:sp>
        <p:nvSpPr>
          <p:cNvPr id="33" name="Text 30"/>
          <p:cNvSpPr/>
          <p:nvPr/>
        </p:nvSpPr>
        <p:spPr>
          <a:xfrm>
            <a:off x="6489040" y="4681728"/>
            <a:ext cx="4879696" cy="585216"/>
          </a:xfrm>
          <a:prstGeom prst="rect">
            <a:avLst/>
          </a:prstGeom>
          <a:noFill/>
          <a:ln/>
        </p:spPr>
        <p:txBody>
          <a:bodyPr wrap="square" lIns="0" tIns="0" rIns="0" bIns="0" rtlCol="0" anchor="ctr"/>
          <a:lstStyle/>
          <a:p>
            <a:pPr indent="0" marL="0">
              <a:lnSpc>
                <a:spcPts val="1350"/>
              </a:lnSpc>
              <a:buNone/>
            </a:pPr>
            <a:r>
              <a:rPr lang="en-US" sz="980" dirty="0">
                <a:solidFill>
                  <a:srgbClr val="1A1A1A"/>
                </a:solidFill>
                <a:latin typeface="Yu Gothic" pitchFamily="34" charset="0"/>
                <a:ea typeface="Yu Gothic" pitchFamily="34" charset="-122"/>
                <a:cs typeface="Yu Gothic" pitchFamily="34" charset="-120"/>
              </a:rPr>
              <a:t>会員情報は当社が管理主体となり、森ビル様からの個人情報のご提供を前提としない設計（申込は本人から直接）。</a:t>
            </a:r>
            <a:endParaRPr lang="en-US" sz="980" dirty="0"/>
          </a:p>
        </p:txBody>
      </p:sp>
      <p:sp>
        <p:nvSpPr>
          <p:cNvPr id="34" name="Text 31"/>
          <p:cNvSpPr/>
          <p:nvPr/>
        </p:nvSpPr>
        <p:spPr>
          <a:xfrm>
            <a:off x="566928" y="5577840"/>
            <a:ext cx="10972800" cy="274320"/>
          </a:xfrm>
          <a:prstGeom prst="rect">
            <a:avLst/>
          </a:prstGeom>
          <a:noFill/>
          <a:ln/>
        </p:spPr>
        <p:txBody>
          <a:bodyPr wrap="square" lIns="0" tIns="0" rIns="0" bIns="0" rtlCol="0" anchor="ctr"/>
          <a:lstStyle/>
          <a:p>
            <a:pPr indent="0" marL="0">
              <a:buNone/>
            </a:pPr>
            <a:r>
              <a:rPr lang="en-US" sz="1080" b="1" dirty="0">
                <a:solidFill>
                  <a:srgbClr val="A06D4C"/>
                </a:solidFill>
                <a:latin typeface="Yu Gothic" pitchFamily="34" charset="0"/>
                <a:ea typeface="Yu Gothic" pitchFamily="34" charset="-122"/>
                <a:cs typeface="Yu Gothic" pitchFamily="34" charset="-120"/>
              </a:rPr>
              <a:t>在庫・与信・配送・保管に関わるリスクは、原則としてすべて当社が保有します。</a:t>
            </a:r>
            <a:endParaRPr lang="en-US" sz="108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381183" y="292608"/>
            <a:ext cx="1243584" cy="247802"/>
          </a:xfrm>
          <a:prstGeom prst="rect">
            <a:avLst/>
          </a:prstGeom>
        </p:spPr>
      </p:pic>
      <p:sp>
        <p:nvSpPr>
          <p:cNvPr id="3" name="Text 0"/>
          <p:cNvSpPr/>
          <p:nvPr/>
        </p:nvSpPr>
        <p:spPr>
          <a:xfrm>
            <a:off x="566928" y="1097280"/>
            <a:ext cx="10058400" cy="694944"/>
          </a:xfrm>
          <a:prstGeom prst="rect">
            <a:avLst/>
          </a:prstGeom>
          <a:noFill/>
          <a:ln/>
        </p:spPr>
        <p:txBody>
          <a:bodyPr wrap="square" lIns="0" tIns="0" rIns="0" bIns="0" rtlCol="0" anchor="ctr"/>
          <a:lstStyle/>
          <a:p>
            <a:pPr indent="0" marL="0">
              <a:buNone/>
            </a:pPr>
            <a:r>
              <a:rPr lang="en-US" sz="3400" b="1" dirty="0">
                <a:solidFill>
                  <a:srgbClr val="1A1A1A"/>
                </a:solidFill>
                <a:latin typeface="Yu Gothic" pitchFamily="34" charset="0"/>
                <a:ea typeface="Yu Gothic" pitchFamily="34" charset="-122"/>
                <a:cs typeface="Yu Gothic" pitchFamily="34" charset="-120"/>
              </a:rPr>
              <a:t>ヒルズに、街の共有セラーを。</a:t>
            </a:r>
            <a:endParaRPr lang="en-US" sz="3400" dirty="0"/>
          </a:p>
        </p:txBody>
      </p:sp>
      <p:sp>
        <p:nvSpPr>
          <p:cNvPr id="4" name="Shape 1"/>
          <p:cNvSpPr/>
          <p:nvPr/>
        </p:nvSpPr>
        <p:spPr>
          <a:xfrm>
            <a:off x="566928" y="1938528"/>
            <a:ext cx="1188720" cy="41148"/>
          </a:xfrm>
          <a:prstGeom prst="rect">
            <a:avLst/>
          </a:prstGeom>
          <a:solidFill>
            <a:srgbClr val="C68A65"/>
          </a:solidFill>
          <a:ln w="12700">
            <a:solidFill>
              <a:srgbClr val="333333"/>
            </a:solidFill>
            <a:prstDash val="solid"/>
          </a:ln>
        </p:spPr>
      </p:sp>
      <p:sp>
        <p:nvSpPr>
          <p:cNvPr id="5" name="Text 2"/>
          <p:cNvSpPr/>
          <p:nvPr/>
        </p:nvSpPr>
        <p:spPr>
          <a:xfrm>
            <a:off x="566928" y="2139696"/>
            <a:ext cx="8778240" cy="731520"/>
          </a:xfrm>
          <a:prstGeom prst="rect">
            <a:avLst/>
          </a:prstGeom>
          <a:noFill/>
          <a:ln/>
        </p:spPr>
        <p:txBody>
          <a:bodyPr wrap="square" lIns="0" tIns="0" rIns="0" bIns="0" rtlCol="0" anchor="ctr"/>
          <a:lstStyle/>
          <a:p>
            <a:pPr indent="0" marL="0">
              <a:lnSpc>
                <a:spcPts val="2400"/>
              </a:lnSpc>
              <a:buNone/>
            </a:pPr>
            <a:r>
              <a:rPr lang="en-US" sz="1350" dirty="0">
                <a:solidFill>
                  <a:srgbClr val="44494D"/>
                </a:solidFill>
                <a:latin typeface="Yu Gothic" pitchFamily="34" charset="0"/>
                <a:ea typeface="Yu Gothic" pitchFamily="34" charset="-122"/>
                <a:cs typeface="Yu Gothic" pitchFamily="34" charset="-120"/>
              </a:rPr>
              <a:t>ワインを必要とする人が最も密度高く集まる街に、その在庫を置く。</a:t>
            </a:r>
            <a:endParaRPr lang="en-US" sz="1350" dirty="0"/>
          </a:p>
          <a:p>
            <a:pPr indent="0" marL="0">
              <a:lnSpc>
                <a:spcPts val="2400"/>
              </a:lnSpc>
              <a:buNone/>
            </a:pPr>
            <a:r>
              <a:rPr lang="en-US" sz="1350" dirty="0">
                <a:solidFill>
                  <a:srgbClr val="44494D"/>
                </a:solidFill>
                <a:latin typeface="Yu Gothic" pitchFamily="34" charset="0"/>
                <a:ea typeface="Yu Gothic" pitchFamily="34" charset="-122"/>
                <a:cs typeface="Yu Gothic" pitchFamily="34" charset="-120"/>
              </a:rPr>
              <a:t>私たちは在庫も、仕入網も、シェフも、配送網も、すでに持っています。</a:t>
            </a:r>
            <a:endParaRPr lang="en-US" sz="1350" dirty="0"/>
          </a:p>
        </p:txBody>
      </p:sp>
      <p:sp>
        <p:nvSpPr>
          <p:cNvPr id="6" name="Shape 3"/>
          <p:cNvSpPr/>
          <p:nvPr/>
        </p:nvSpPr>
        <p:spPr>
          <a:xfrm>
            <a:off x="566928" y="3200400"/>
            <a:ext cx="3490874" cy="1700784"/>
          </a:xfrm>
          <a:prstGeom prst="roundRect">
            <a:avLst>
              <a:gd name="adj" fmla="val 2688"/>
            </a:avLst>
          </a:prstGeom>
          <a:solidFill>
            <a:srgbClr val="F6F6F6"/>
          </a:solidFill>
          <a:ln w="12700">
            <a:solidFill>
              <a:srgbClr val="333333"/>
            </a:solidFill>
            <a:prstDash val="solid"/>
          </a:ln>
        </p:spPr>
      </p:sp>
      <p:sp>
        <p:nvSpPr>
          <p:cNvPr id="7" name="Shape 4"/>
          <p:cNvSpPr/>
          <p:nvPr/>
        </p:nvSpPr>
        <p:spPr>
          <a:xfrm>
            <a:off x="841248" y="3419856"/>
            <a:ext cx="420624" cy="420624"/>
          </a:xfrm>
          <a:prstGeom prst="ellipse">
            <a:avLst/>
          </a:prstGeom>
          <a:solidFill>
            <a:srgbClr val="C68A65"/>
          </a:solidFill>
          <a:ln w="12700">
            <a:solidFill>
              <a:srgbClr val="333333"/>
            </a:solidFill>
            <a:prstDash val="solid"/>
          </a:ln>
        </p:spPr>
      </p:sp>
      <p:sp>
        <p:nvSpPr>
          <p:cNvPr id="8" name="Text 5"/>
          <p:cNvSpPr/>
          <p:nvPr/>
        </p:nvSpPr>
        <p:spPr>
          <a:xfrm>
            <a:off x="841248" y="3419856"/>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9" name="Text 6"/>
          <p:cNvSpPr/>
          <p:nvPr/>
        </p:nvSpPr>
        <p:spPr>
          <a:xfrm>
            <a:off x="1371600" y="3401568"/>
            <a:ext cx="2430170" cy="438912"/>
          </a:xfrm>
          <a:prstGeom prst="rect">
            <a:avLst/>
          </a:prstGeom>
          <a:noFill/>
          <a:ln/>
        </p:spPr>
        <p:txBody>
          <a:bodyPr wrap="square" lIns="0" tIns="0" rIns="0" bIns="0" rtlCol="0" anchor="ctr"/>
          <a:lstStyle/>
          <a:p>
            <a:pPr indent="0" marL="0">
              <a:buNone/>
            </a:pPr>
            <a:r>
              <a:rPr lang="en-US" sz="1500" b="1" dirty="0">
                <a:solidFill>
                  <a:srgbClr val="1A1A1A"/>
                </a:solidFill>
                <a:latin typeface="Yu Gothic" pitchFamily="34" charset="0"/>
                <a:ea typeface="Yu Gothic" pitchFamily="34" charset="-122"/>
                <a:cs typeface="Yu Gothic" pitchFamily="34" charset="-120"/>
              </a:rPr>
              <a:t>すぐ始められる</a:t>
            </a:r>
            <a:endParaRPr lang="en-US" sz="1500" dirty="0"/>
          </a:p>
        </p:txBody>
      </p:sp>
      <p:sp>
        <p:nvSpPr>
          <p:cNvPr id="10" name="Text 7"/>
          <p:cNvSpPr/>
          <p:nvPr/>
        </p:nvSpPr>
        <p:spPr>
          <a:xfrm>
            <a:off x="841248" y="3968496"/>
            <a:ext cx="2942234" cy="786384"/>
          </a:xfrm>
          <a:prstGeom prst="rect">
            <a:avLst/>
          </a:prstGeom>
          <a:noFill/>
          <a:ln/>
        </p:spPr>
        <p:txBody>
          <a:bodyPr wrap="square" lIns="0" tIns="0" rIns="0" bIns="0" rtlCol="0" anchor="ctr"/>
          <a:lstStyle/>
          <a:p>
            <a:pPr indent="0" marL="0">
              <a:lnSpc>
                <a:spcPts val="1450"/>
              </a:lnSpc>
              <a:buNone/>
            </a:pPr>
            <a:r>
              <a:rPr lang="en-US" sz="1040" dirty="0">
                <a:solidFill>
                  <a:srgbClr val="6E7378"/>
                </a:solidFill>
                <a:latin typeface="Yu Gothic" pitchFamily="34" charset="0"/>
                <a:ea typeface="Yu Gothic" pitchFamily="34" charset="-122"/>
                <a:cs typeface="Yu Gothic" pitchFamily="34" charset="-120"/>
              </a:rPr>
              <a:t>酒販免許・保管倉庫・配送体制・在庫は稼働中。新設が必要なものはほとんどありません。</a:t>
            </a:r>
            <a:endParaRPr lang="en-US" sz="1040" dirty="0"/>
          </a:p>
        </p:txBody>
      </p:sp>
      <p:sp>
        <p:nvSpPr>
          <p:cNvPr id="11" name="Shape 8"/>
          <p:cNvSpPr/>
          <p:nvPr/>
        </p:nvSpPr>
        <p:spPr>
          <a:xfrm>
            <a:off x="4350410" y="3200400"/>
            <a:ext cx="3490874" cy="1700784"/>
          </a:xfrm>
          <a:prstGeom prst="roundRect">
            <a:avLst>
              <a:gd name="adj" fmla="val 2688"/>
            </a:avLst>
          </a:prstGeom>
          <a:solidFill>
            <a:srgbClr val="2F3941"/>
          </a:solidFill>
          <a:ln w="12700">
            <a:solidFill>
              <a:srgbClr val="333333"/>
            </a:solidFill>
            <a:prstDash val="solid"/>
          </a:ln>
        </p:spPr>
      </p:sp>
      <p:sp>
        <p:nvSpPr>
          <p:cNvPr id="12" name="Shape 9"/>
          <p:cNvSpPr/>
          <p:nvPr/>
        </p:nvSpPr>
        <p:spPr>
          <a:xfrm>
            <a:off x="4624730" y="3419856"/>
            <a:ext cx="420624" cy="420624"/>
          </a:xfrm>
          <a:prstGeom prst="ellipse">
            <a:avLst/>
          </a:prstGeom>
          <a:solidFill>
            <a:srgbClr val="C68A65"/>
          </a:solidFill>
          <a:ln w="12700">
            <a:solidFill>
              <a:srgbClr val="333333"/>
            </a:solidFill>
            <a:prstDash val="solid"/>
          </a:ln>
        </p:spPr>
      </p:sp>
      <p:sp>
        <p:nvSpPr>
          <p:cNvPr id="13" name="Text 10"/>
          <p:cNvSpPr/>
          <p:nvPr/>
        </p:nvSpPr>
        <p:spPr>
          <a:xfrm>
            <a:off x="4624730" y="3419856"/>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14" name="Text 11"/>
          <p:cNvSpPr/>
          <p:nvPr/>
        </p:nvSpPr>
        <p:spPr>
          <a:xfrm>
            <a:off x="5155082" y="3401568"/>
            <a:ext cx="2430170" cy="438912"/>
          </a:xfrm>
          <a:prstGeom prst="rect">
            <a:avLst/>
          </a:prstGeom>
          <a:noFill/>
          <a:ln/>
        </p:spPr>
        <p:txBody>
          <a:bodyPr wrap="square" lIns="0" tIns="0" rIns="0" bIns="0" rtlCol="0" anchor="ctr"/>
          <a:lstStyle/>
          <a:p>
            <a:pPr indent="0" marL="0">
              <a:buNone/>
            </a:pPr>
            <a:r>
              <a:rPr lang="en-US" sz="1500" b="1" dirty="0">
                <a:solidFill>
                  <a:srgbClr val="EFDCCE"/>
                </a:solidFill>
                <a:latin typeface="Yu Gothic" pitchFamily="34" charset="0"/>
                <a:ea typeface="Yu Gothic" pitchFamily="34" charset="-122"/>
                <a:cs typeface="Yu Gothic" pitchFamily="34" charset="-120"/>
              </a:rPr>
              <a:t>森ビル様の負担が小さい</a:t>
            </a:r>
            <a:endParaRPr lang="en-US" sz="1500" dirty="0"/>
          </a:p>
        </p:txBody>
      </p:sp>
      <p:sp>
        <p:nvSpPr>
          <p:cNvPr id="15" name="Text 12"/>
          <p:cNvSpPr/>
          <p:nvPr/>
        </p:nvSpPr>
        <p:spPr>
          <a:xfrm>
            <a:off x="4624730" y="3968496"/>
            <a:ext cx="2942234" cy="786384"/>
          </a:xfrm>
          <a:prstGeom prst="rect">
            <a:avLst/>
          </a:prstGeom>
          <a:noFill/>
          <a:ln/>
        </p:spPr>
        <p:txBody>
          <a:bodyPr wrap="square" lIns="0" tIns="0" rIns="0" bIns="0" rtlCol="0" anchor="ctr"/>
          <a:lstStyle/>
          <a:p>
            <a:pPr indent="0" marL="0">
              <a:lnSpc>
                <a:spcPts val="1450"/>
              </a:lnSpc>
              <a:buNone/>
            </a:pPr>
            <a:r>
              <a:rPr lang="en-US" sz="1040" dirty="0">
                <a:solidFill>
                  <a:srgbClr val="E3E6E8"/>
                </a:solidFill>
                <a:latin typeface="Yu Gothic" pitchFamily="34" charset="0"/>
                <a:ea typeface="Yu Gothic" pitchFamily="34" charset="-122"/>
                <a:cs typeface="Yu Gothic" pitchFamily="34" charset="-120"/>
              </a:rPr>
              <a:t>設備投資・人員配置を前提としない設計。在庫・与信・運営リスクは当社が保有します。</a:t>
            </a:r>
            <a:endParaRPr lang="en-US" sz="1040" dirty="0"/>
          </a:p>
        </p:txBody>
      </p:sp>
      <p:sp>
        <p:nvSpPr>
          <p:cNvPr id="16" name="Shape 13"/>
          <p:cNvSpPr/>
          <p:nvPr/>
        </p:nvSpPr>
        <p:spPr>
          <a:xfrm>
            <a:off x="8133893" y="3200400"/>
            <a:ext cx="3490874" cy="1700784"/>
          </a:xfrm>
          <a:prstGeom prst="roundRect">
            <a:avLst>
              <a:gd name="adj" fmla="val 2688"/>
            </a:avLst>
          </a:prstGeom>
          <a:solidFill>
            <a:srgbClr val="F6F6F6"/>
          </a:solidFill>
          <a:ln w="12700">
            <a:solidFill>
              <a:srgbClr val="333333"/>
            </a:solidFill>
            <a:prstDash val="solid"/>
          </a:ln>
        </p:spPr>
      </p:sp>
      <p:sp>
        <p:nvSpPr>
          <p:cNvPr id="17" name="Shape 14"/>
          <p:cNvSpPr/>
          <p:nvPr/>
        </p:nvSpPr>
        <p:spPr>
          <a:xfrm>
            <a:off x="8408213" y="3419856"/>
            <a:ext cx="420624" cy="420624"/>
          </a:xfrm>
          <a:prstGeom prst="ellipse">
            <a:avLst/>
          </a:prstGeom>
          <a:solidFill>
            <a:srgbClr val="C68A65"/>
          </a:solidFill>
          <a:ln w="12700">
            <a:solidFill>
              <a:srgbClr val="333333"/>
            </a:solidFill>
            <a:prstDash val="solid"/>
          </a:ln>
        </p:spPr>
      </p:sp>
      <p:sp>
        <p:nvSpPr>
          <p:cNvPr id="18" name="Text 15"/>
          <p:cNvSpPr/>
          <p:nvPr/>
        </p:nvSpPr>
        <p:spPr>
          <a:xfrm>
            <a:off x="8408213" y="3419856"/>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19" name="Text 16"/>
          <p:cNvSpPr/>
          <p:nvPr/>
        </p:nvSpPr>
        <p:spPr>
          <a:xfrm>
            <a:off x="8938565" y="3401568"/>
            <a:ext cx="2430170" cy="438912"/>
          </a:xfrm>
          <a:prstGeom prst="rect">
            <a:avLst/>
          </a:prstGeom>
          <a:noFill/>
          <a:ln/>
        </p:spPr>
        <p:txBody>
          <a:bodyPr wrap="square" lIns="0" tIns="0" rIns="0" bIns="0" rtlCol="0" anchor="ctr"/>
          <a:lstStyle/>
          <a:p>
            <a:pPr indent="0" marL="0">
              <a:buNone/>
            </a:pPr>
            <a:r>
              <a:rPr lang="en-US" sz="1500" b="1" dirty="0">
                <a:solidFill>
                  <a:srgbClr val="1A1A1A"/>
                </a:solidFill>
                <a:latin typeface="Yu Gothic" pitchFamily="34" charset="0"/>
                <a:ea typeface="Yu Gothic" pitchFamily="34" charset="-122"/>
                <a:cs typeface="Yu Gothic" pitchFamily="34" charset="-120"/>
              </a:rPr>
              <a:t>テナントの利益になる</a:t>
            </a:r>
            <a:endParaRPr lang="en-US" sz="1500" dirty="0"/>
          </a:p>
        </p:txBody>
      </p:sp>
      <p:sp>
        <p:nvSpPr>
          <p:cNvPr id="20" name="Text 17"/>
          <p:cNvSpPr/>
          <p:nvPr/>
        </p:nvSpPr>
        <p:spPr>
          <a:xfrm>
            <a:off x="8408213" y="3968496"/>
            <a:ext cx="2942234" cy="786384"/>
          </a:xfrm>
          <a:prstGeom prst="rect">
            <a:avLst/>
          </a:prstGeom>
          <a:noFill/>
          <a:ln/>
        </p:spPr>
        <p:txBody>
          <a:bodyPr wrap="square" lIns="0" tIns="0" rIns="0" bIns="0" rtlCol="0" anchor="ctr"/>
          <a:lstStyle/>
          <a:p>
            <a:pPr indent="0" marL="0">
              <a:lnSpc>
                <a:spcPts val="1450"/>
              </a:lnSpc>
              <a:buNone/>
            </a:pPr>
            <a:r>
              <a:rPr lang="en-US" sz="1040" dirty="0">
                <a:solidFill>
                  <a:srgbClr val="6E7378"/>
                </a:solidFill>
                <a:latin typeface="Yu Gothic" pitchFamily="34" charset="0"/>
                <a:ea typeface="Yu Gothic" pitchFamily="34" charset="-122"/>
                <a:cs typeface="Yu Gothic" pitchFamily="34" charset="-120"/>
              </a:rPr>
              <a:t>在庫負担とワイン原価が下がる提案は、テナント飲食店にとって断る理由がありません。</a:t>
            </a:r>
            <a:endParaRPr lang="en-US" sz="1040" dirty="0"/>
          </a:p>
        </p:txBody>
      </p:sp>
      <p:sp>
        <p:nvSpPr>
          <p:cNvPr id="21" name="Text 18"/>
          <p:cNvSpPr/>
          <p:nvPr/>
        </p:nvSpPr>
        <p:spPr>
          <a:xfrm>
            <a:off x="566928" y="5138928"/>
            <a:ext cx="2743200" cy="256032"/>
          </a:xfrm>
          <a:prstGeom prst="rect">
            <a:avLst/>
          </a:prstGeom>
          <a:noFill/>
          <a:ln/>
        </p:spPr>
        <p:txBody>
          <a:bodyPr wrap="square" lIns="0" tIns="0" rIns="0" bIns="0" rtlCol="0" anchor="ctr"/>
          <a:lstStyle/>
          <a:p>
            <a:pPr indent="0" marL="0">
              <a:buNone/>
            </a:pPr>
            <a:r>
              <a:rPr lang="en-US" sz="1250" b="1" dirty="0">
                <a:solidFill>
                  <a:srgbClr val="A06D4C"/>
                </a:solidFill>
                <a:latin typeface="Yu Gothic" pitchFamily="34" charset="0"/>
                <a:ea typeface="Yu Gothic" pitchFamily="34" charset="-122"/>
                <a:cs typeface="Yu Gothic" pitchFamily="34" charset="-120"/>
              </a:rPr>
              <a:t>次のステップ</a:t>
            </a:r>
            <a:endParaRPr lang="en-US" sz="1250" dirty="0"/>
          </a:p>
        </p:txBody>
      </p:sp>
      <p:sp>
        <p:nvSpPr>
          <p:cNvPr id="22" name="Text 19"/>
          <p:cNvSpPr/>
          <p:nvPr/>
        </p:nvSpPr>
        <p:spPr>
          <a:xfrm>
            <a:off x="566928" y="5431536"/>
            <a:ext cx="10607040" cy="292608"/>
          </a:xfrm>
          <a:prstGeom prst="rect">
            <a:avLst/>
          </a:prstGeom>
          <a:noFill/>
          <a:ln/>
        </p:spPr>
        <p:txBody>
          <a:bodyPr wrap="square" lIns="0" tIns="0" rIns="0" bIns="0" rtlCol="0" anchor="ctr"/>
          <a:lstStyle/>
          <a:p>
            <a:pPr indent="0" marL="0">
              <a:buNone/>
            </a:pPr>
            <a:r>
              <a:rPr lang="en-US" sz="1150" dirty="0">
                <a:solidFill>
                  <a:srgbClr val="1A1A1A"/>
                </a:solidFill>
                <a:latin typeface="Yu Gothic" pitchFamily="34" charset="0"/>
                <a:ea typeface="Yu Gothic" pitchFamily="34" charset="-122"/>
                <a:cs typeface="Yu Gothic" pitchFamily="34" charset="-120"/>
              </a:rPr>
              <a:t>① 本提案のご説明とディスカッション　→　② 対象街区・対象プログラムの絞り込み　→　③ PoC条件の合意（目安：ご合意から3か月で開始）</a:t>
            </a:r>
            <a:endParaRPr lang="en-US" sz="1150" dirty="0"/>
          </a:p>
        </p:txBody>
      </p:sp>
      <p:sp>
        <p:nvSpPr>
          <p:cNvPr id="23" name="Text 20"/>
          <p:cNvSpPr/>
          <p:nvPr/>
        </p:nvSpPr>
        <p:spPr>
          <a:xfrm>
            <a:off x="566928" y="5961888"/>
            <a:ext cx="8229600" cy="256032"/>
          </a:xfrm>
          <a:prstGeom prst="rect">
            <a:avLst/>
          </a:prstGeom>
          <a:noFill/>
          <a:ln/>
        </p:spPr>
        <p:txBody>
          <a:bodyPr wrap="square" lIns="0" tIns="0" rIns="0" bIns="0" rtlCol="0" anchor="ctr"/>
          <a:lstStyle/>
          <a:p>
            <a:pPr indent="0" marL="0">
              <a:buNone/>
            </a:pPr>
            <a:r>
              <a:rPr lang="en-US" sz="1000" dirty="0">
                <a:solidFill>
                  <a:srgbClr val="6E7378"/>
                </a:solidFill>
                <a:latin typeface="Yu Gothic" pitchFamily="34" charset="0"/>
                <a:ea typeface="Yu Gothic" pitchFamily="34" charset="-122"/>
                <a:cs typeface="Yu Gothic" pitchFamily="34" charset="-120"/>
              </a:rPr>
              <a:t>株式会社WineBank　東京都港区六本木4-12-8 第6DMJビル2階　TEL 03-6416-9370</a:t>
            </a:r>
            <a:endParaRPr lang="en-US" sz="1000" dirty="0"/>
          </a:p>
        </p:txBody>
      </p:sp>
      <p:sp>
        <p:nvSpPr>
          <p:cNvPr id="24" name="Shape 21"/>
          <p:cNvSpPr/>
          <p:nvPr/>
        </p:nvSpPr>
        <p:spPr>
          <a:xfrm>
            <a:off x="0" y="6583680"/>
            <a:ext cx="12191695" cy="274320"/>
          </a:xfrm>
          <a:prstGeom prst="rect">
            <a:avLst/>
          </a:prstGeom>
          <a:solidFill>
            <a:srgbClr val="2F3941"/>
          </a:solidFill>
          <a:ln w="12700">
            <a:solidFill>
              <a:srgbClr val="333333"/>
            </a:solidFill>
            <a:prstDash val="solid"/>
          </a:ln>
        </p:spPr>
      </p:sp>
      <p:sp>
        <p:nvSpPr>
          <p:cNvPr id="25" name="Text 22"/>
          <p:cNvSpPr/>
          <p:nvPr/>
        </p:nvSpPr>
        <p:spPr>
          <a:xfrm>
            <a:off x="10893247" y="6272784"/>
            <a:ext cx="731520" cy="256032"/>
          </a:xfrm>
          <a:prstGeom prst="rect">
            <a:avLst/>
          </a:prstGeom>
          <a:noFill/>
          <a:ln/>
        </p:spPr>
        <p:txBody>
          <a:bodyPr wrap="square" lIns="0" tIns="0" rIns="0" bIns="0" rtlCol="0" anchor="ctr"/>
          <a:lstStyle/>
          <a:p>
            <a:pPr algn="r" indent="0" marL="0">
              <a:buNone/>
            </a:pPr>
            <a:r>
              <a:rPr lang="en-US" sz="1000" dirty="0">
                <a:solidFill>
                  <a:srgbClr val="A6ABAF"/>
                </a:solidFill>
                <a:latin typeface="Calibri" pitchFamily="34" charset="0"/>
                <a:ea typeface="Calibri" pitchFamily="34" charset="-122"/>
                <a:cs typeface="Calibri" pitchFamily="34" charset="-120"/>
              </a:rPr>
              <a:t>24</a:t>
            </a:r>
            <a:endParaRPr lang="en-US" sz="1000" dirty="0"/>
          </a:p>
        </p:txBody>
      </p:sp>
      <p:sp>
        <p:nvSpPr>
          <p:cNvPr id="26" name="Text 23"/>
          <p:cNvSpPr/>
          <p:nvPr/>
        </p:nvSpPr>
        <p:spPr>
          <a:xfrm>
            <a:off x="566928" y="6272784"/>
            <a:ext cx="2926080" cy="256032"/>
          </a:xfrm>
          <a:prstGeom prst="rect">
            <a:avLst/>
          </a:prstGeom>
          <a:noFill/>
          <a:ln/>
        </p:spPr>
        <p:txBody>
          <a:bodyPr wrap="square" lIns="0" tIns="0" rIns="0" bIns="0" rtlCol="0" anchor="ctr"/>
          <a:lstStyle/>
          <a:p>
            <a:pPr indent="0" marL="0">
              <a:buNone/>
            </a:pPr>
            <a:r>
              <a:rPr lang="en-US" sz="850" spc="120" kern="0" dirty="0">
                <a:solidFill>
                  <a:srgbClr val="C7CACC"/>
                </a:solidFill>
                <a:latin typeface="Calibri" pitchFamily="34" charset="0"/>
                <a:ea typeface="Calibri" pitchFamily="34" charset="-122"/>
                <a:cs typeface="Calibri" pitchFamily="34" charset="-120"/>
              </a:rPr>
              <a:t>CONFIDENTIAL</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381183" y="292608"/>
            <a:ext cx="1243584" cy="247802"/>
          </a:xfrm>
          <a:prstGeom prst="rect">
            <a:avLst/>
          </a:prstGeom>
        </p:spPr>
      </p:pic>
      <p:sp>
        <p:nvSpPr>
          <p:cNvPr id="3" name="Shape 0"/>
          <p:cNvSpPr/>
          <p:nvPr/>
        </p:nvSpPr>
        <p:spPr>
          <a:xfrm>
            <a:off x="566928" y="292608"/>
            <a:ext cx="1115568" cy="237744"/>
          </a:xfrm>
          <a:prstGeom prst="roundRect">
            <a:avLst>
              <a:gd name="adj" fmla="val 11538"/>
            </a:avLst>
          </a:prstGeom>
          <a:solidFill>
            <a:srgbClr val="C68A65"/>
          </a:solidFill>
          <a:ln w="12700">
            <a:solidFill>
              <a:srgbClr val="333333"/>
            </a:solidFill>
            <a:prstDash val="solid"/>
          </a:ln>
        </p:spPr>
      </p:sp>
      <p:sp>
        <p:nvSpPr>
          <p:cNvPr id="4" name="Text 1"/>
          <p:cNvSpPr/>
          <p:nvPr/>
        </p:nvSpPr>
        <p:spPr>
          <a:xfrm>
            <a:off x="566928" y="292608"/>
            <a:ext cx="1115568"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Yu Gothic" pitchFamily="34" charset="0"/>
                <a:ea typeface="Yu Gothic" pitchFamily="34" charset="-122"/>
                <a:cs typeface="Yu Gothic" pitchFamily="34" charset="-120"/>
              </a:rPr>
              <a:t>THE FUTURE</a:t>
            </a:r>
            <a:endParaRPr lang="en-US" sz="850" dirty="0"/>
          </a:p>
        </p:txBody>
      </p:sp>
      <p:sp>
        <p:nvSpPr>
          <p:cNvPr id="5" name="Text 2"/>
          <p:cNvSpPr/>
          <p:nvPr/>
        </p:nvSpPr>
        <p:spPr>
          <a:xfrm>
            <a:off x="566928" y="585216"/>
            <a:ext cx="9509760" cy="420624"/>
          </a:xfrm>
          <a:prstGeom prst="rect">
            <a:avLst/>
          </a:prstGeom>
          <a:noFill/>
          <a:ln/>
        </p:spPr>
        <p:txBody>
          <a:bodyPr wrap="square" lIns="0" tIns="0" rIns="0" bIns="0" rtlCol="0" anchor="ctr"/>
          <a:lstStyle/>
          <a:p>
            <a:pPr indent="0" marL="0">
              <a:buNone/>
            </a:pPr>
            <a:r>
              <a:rPr lang="en-US" sz="2300" b="1" dirty="0">
                <a:solidFill>
                  <a:srgbClr val="1A1A1A"/>
                </a:solidFill>
                <a:latin typeface="Yu Gothic" pitchFamily="34" charset="0"/>
                <a:ea typeface="Yu Gothic" pitchFamily="34" charset="-122"/>
                <a:cs typeface="Yu Gothic" pitchFamily="34" charset="-120"/>
              </a:rPr>
              <a:t>2030年のヒルズ ─ ワインが巡る街</a:t>
            </a:r>
            <a:endParaRPr lang="en-US" sz="2300" dirty="0"/>
          </a:p>
        </p:txBody>
      </p:sp>
      <p:sp>
        <p:nvSpPr>
          <p:cNvPr id="6" name="Text 3"/>
          <p:cNvSpPr/>
          <p:nvPr/>
        </p:nvSpPr>
        <p:spPr>
          <a:xfrm>
            <a:off x="566928" y="1024128"/>
            <a:ext cx="11057839" cy="310896"/>
          </a:xfrm>
          <a:prstGeom prst="rect">
            <a:avLst/>
          </a:prstGeom>
          <a:noFill/>
          <a:ln/>
        </p:spPr>
        <p:txBody>
          <a:bodyPr wrap="square" lIns="0" tIns="0" rIns="0" bIns="0" rtlCol="0" anchor="ctr"/>
          <a:lstStyle/>
          <a:p>
            <a:pPr indent="0" marL="0">
              <a:lnSpc>
                <a:spcPts val="1700"/>
              </a:lnSpc>
              <a:buNone/>
            </a:pPr>
            <a:r>
              <a:rPr lang="en-US" sz="1150" dirty="0">
                <a:solidFill>
                  <a:srgbClr val="6E7378"/>
                </a:solidFill>
                <a:latin typeface="Yu Gothic" pitchFamily="34" charset="0"/>
                <a:ea typeface="Yu Gothic" pitchFamily="34" charset="-122"/>
                <a:cs typeface="Yu Gothic" pitchFamily="34" charset="-120"/>
              </a:rPr>
              <a:t>いまは各店がそれぞれ在庫を抱え、居住者は街の外で買い、ワーカーは店内価格を払っています。それが、こうなります。</a:t>
            </a:r>
            <a:endParaRPr lang="en-US" sz="1150" dirty="0"/>
          </a:p>
        </p:txBody>
      </p:sp>
      <p:sp>
        <p:nvSpPr>
          <p:cNvPr id="7" name="Shape 4"/>
          <p:cNvSpPr/>
          <p:nvPr/>
        </p:nvSpPr>
        <p:spPr>
          <a:xfrm>
            <a:off x="0" y="6583680"/>
            <a:ext cx="12191695" cy="274320"/>
          </a:xfrm>
          <a:prstGeom prst="rect">
            <a:avLst/>
          </a:prstGeom>
          <a:solidFill>
            <a:srgbClr val="2F3941"/>
          </a:solidFill>
          <a:ln w="12700">
            <a:solidFill>
              <a:srgbClr val="333333"/>
            </a:solidFill>
            <a:prstDash val="solid"/>
          </a:ln>
        </p:spPr>
      </p:sp>
      <p:sp>
        <p:nvSpPr>
          <p:cNvPr id="8" name="Text 5"/>
          <p:cNvSpPr/>
          <p:nvPr/>
        </p:nvSpPr>
        <p:spPr>
          <a:xfrm>
            <a:off x="10893247" y="6272784"/>
            <a:ext cx="731520" cy="256032"/>
          </a:xfrm>
          <a:prstGeom prst="rect">
            <a:avLst/>
          </a:prstGeom>
          <a:noFill/>
          <a:ln/>
        </p:spPr>
        <p:txBody>
          <a:bodyPr wrap="square" lIns="0" tIns="0" rIns="0" bIns="0" rtlCol="0" anchor="ctr"/>
          <a:lstStyle/>
          <a:p>
            <a:pPr algn="r" indent="0" marL="0">
              <a:buNone/>
            </a:pPr>
            <a:r>
              <a:rPr lang="en-US" sz="1000" dirty="0">
                <a:solidFill>
                  <a:srgbClr val="A6ABAF"/>
                </a:solidFill>
                <a:latin typeface="Calibri" pitchFamily="34" charset="0"/>
                <a:ea typeface="Calibri" pitchFamily="34" charset="-122"/>
                <a:cs typeface="Calibri" pitchFamily="34" charset="-120"/>
              </a:rPr>
              <a:t>25</a:t>
            </a:r>
            <a:endParaRPr lang="en-US" sz="1000" dirty="0"/>
          </a:p>
        </p:txBody>
      </p:sp>
      <p:sp>
        <p:nvSpPr>
          <p:cNvPr id="9" name="Text 6"/>
          <p:cNvSpPr/>
          <p:nvPr/>
        </p:nvSpPr>
        <p:spPr>
          <a:xfrm>
            <a:off x="566928" y="6272784"/>
            <a:ext cx="2926080" cy="256032"/>
          </a:xfrm>
          <a:prstGeom prst="rect">
            <a:avLst/>
          </a:prstGeom>
          <a:noFill/>
          <a:ln/>
        </p:spPr>
        <p:txBody>
          <a:bodyPr wrap="square" lIns="0" tIns="0" rIns="0" bIns="0" rtlCol="0" anchor="ctr"/>
          <a:lstStyle/>
          <a:p>
            <a:pPr indent="0" marL="0">
              <a:buNone/>
            </a:pPr>
            <a:r>
              <a:rPr lang="en-US" sz="850" spc="120" kern="0" dirty="0">
                <a:solidFill>
                  <a:srgbClr val="C7CACC"/>
                </a:solidFill>
                <a:latin typeface="Calibri" pitchFamily="34" charset="0"/>
                <a:ea typeface="Calibri" pitchFamily="34" charset="-122"/>
                <a:cs typeface="Calibri" pitchFamily="34" charset="-120"/>
              </a:rPr>
              <a:t>CONFIDENTIAL</a:t>
            </a:r>
            <a:endParaRPr lang="en-US" sz="850" dirty="0"/>
          </a:p>
        </p:txBody>
      </p:sp>
      <p:sp>
        <p:nvSpPr>
          <p:cNvPr id="10" name="Shape 7"/>
          <p:cNvSpPr/>
          <p:nvPr/>
        </p:nvSpPr>
        <p:spPr>
          <a:xfrm>
            <a:off x="3749040" y="2633472"/>
            <a:ext cx="694944" cy="329184"/>
          </a:xfrm>
          <a:prstGeom prst="line">
            <a:avLst/>
          </a:prstGeom>
          <a:noFill/>
          <a:ln w="19050">
            <a:solidFill>
              <a:srgbClr val="C68A65"/>
            </a:solidFill>
            <a:prstDash val="solid"/>
          </a:ln>
        </p:spPr>
      </p:sp>
      <p:sp>
        <p:nvSpPr>
          <p:cNvPr id="11" name="Shape 8"/>
          <p:cNvSpPr/>
          <p:nvPr/>
        </p:nvSpPr>
        <p:spPr>
          <a:xfrm flipV="1">
            <a:off x="7735824" y="2633472"/>
            <a:ext cx="694944" cy="329184"/>
          </a:xfrm>
          <a:prstGeom prst="line">
            <a:avLst/>
          </a:prstGeom>
          <a:noFill/>
          <a:ln w="19050">
            <a:solidFill>
              <a:srgbClr val="C68A65"/>
            </a:solidFill>
            <a:prstDash val="solid"/>
          </a:ln>
        </p:spPr>
      </p:sp>
      <p:sp>
        <p:nvSpPr>
          <p:cNvPr id="12" name="Shape 9"/>
          <p:cNvSpPr/>
          <p:nvPr/>
        </p:nvSpPr>
        <p:spPr>
          <a:xfrm flipV="1">
            <a:off x="3749040" y="4114800"/>
            <a:ext cx="694944" cy="329184"/>
          </a:xfrm>
          <a:prstGeom prst="line">
            <a:avLst/>
          </a:prstGeom>
          <a:noFill/>
          <a:ln w="19050">
            <a:solidFill>
              <a:srgbClr val="C68A65"/>
            </a:solidFill>
            <a:prstDash val="solid"/>
          </a:ln>
        </p:spPr>
      </p:sp>
      <p:sp>
        <p:nvSpPr>
          <p:cNvPr id="13" name="Shape 10"/>
          <p:cNvSpPr/>
          <p:nvPr/>
        </p:nvSpPr>
        <p:spPr>
          <a:xfrm>
            <a:off x="7735824" y="4114800"/>
            <a:ext cx="694944" cy="329184"/>
          </a:xfrm>
          <a:prstGeom prst="line">
            <a:avLst/>
          </a:prstGeom>
          <a:noFill/>
          <a:ln w="19050">
            <a:solidFill>
              <a:srgbClr val="C68A65"/>
            </a:solidFill>
            <a:prstDash val="solid"/>
          </a:ln>
        </p:spPr>
      </p:sp>
      <p:sp>
        <p:nvSpPr>
          <p:cNvPr id="14" name="Shape 11"/>
          <p:cNvSpPr/>
          <p:nvPr/>
        </p:nvSpPr>
        <p:spPr>
          <a:xfrm>
            <a:off x="4443984" y="2962656"/>
            <a:ext cx="3291840" cy="1152144"/>
          </a:xfrm>
          <a:prstGeom prst="roundRect">
            <a:avLst>
              <a:gd name="adj" fmla="val 3968"/>
            </a:avLst>
          </a:prstGeom>
          <a:solidFill>
            <a:srgbClr val="2F3941"/>
          </a:solidFill>
          <a:ln w="12700">
            <a:solidFill>
              <a:srgbClr val="333333"/>
            </a:solidFill>
            <a:prstDash val="solid"/>
          </a:ln>
        </p:spPr>
      </p:sp>
      <p:sp>
        <p:nvSpPr>
          <p:cNvPr id="15" name="Text 12"/>
          <p:cNvSpPr/>
          <p:nvPr/>
        </p:nvSpPr>
        <p:spPr>
          <a:xfrm>
            <a:off x="4443984" y="3090672"/>
            <a:ext cx="3291840" cy="219456"/>
          </a:xfrm>
          <a:prstGeom prst="rect">
            <a:avLst/>
          </a:prstGeom>
          <a:noFill/>
          <a:ln/>
        </p:spPr>
        <p:txBody>
          <a:bodyPr wrap="square" lIns="0" tIns="0" rIns="0" bIns="0" rtlCol="0" anchor="ctr"/>
          <a:lstStyle/>
          <a:p>
            <a:pPr algn="ctr" indent="0" marL="0">
              <a:buNone/>
            </a:pPr>
            <a:r>
              <a:rPr lang="en-US" sz="950" b="1" dirty="0">
                <a:solidFill>
                  <a:srgbClr val="C68A65"/>
                </a:solidFill>
                <a:latin typeface="Yu Gothic" pitchFamily="34" charset="0"/>
                <a:ea typeface="Yu Gothic" pitchFamily="34" charset="-122"/>
                <a:cs typeface="Yu Gothic" pitchFamily="34" charset="-120"/>
              </a:rPr>
              <a:t>街に、在庫はひとつだけ</a:t>
            </a:r>
            <a:endParaRPr lang="en-US" sz="950" dirty="0"/>
          </a:p>
        </p:txBody>
      </p:sp>
      <p:sp>
        <p:nvSpPr>
          <p:cNvPr id="16" name="Text 13"/>
          <p:cNvSpPr/>
          <p:nvPr/>
        </p:nvSpPr>
        <p:spPr>
          <a:xfrm>
            <a:off x="4443984" y="3328416"/>
            <a:ext cx="3291840"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Yu Gothic" pitchFamily="34" charset="0"/>
                <a:ea typeface="Yu Gothic" pitchFamily="34" charset="-122"/>
                <a:cs typeface="Yu Gothic" pitchFamily="34" charset="-120"/>
              </a:rPr>
              <a:t>館内ワインストレージ ＋ WineGO</a:t>
            </a:r>
            <a:endParaRPr lang="en-US" sz="1500" dirty="0"/>
          </a:p>
        </p:txBody>
      </p:sp>
      <p:sp>
        <p:nvSpPr>
          <p:cNvPr id="17" name="Text 14"/>
          <p:cNvSpPr/>
          <p:nvPr/>
        </p:nvSpPr>
        <p:spPr>
          <a:xfrm>
            <a:off x="4663440" y="3657600"/>
            <a:ext cx="2852928" cy="365760"/>
          </a:xfrm>
          <a:prstGeom prst="rect">
            <a:avLst/>
          </a:prstGeom>
          <a:noFill/>
          <a:ln/>
        </p:spPr>
        <p:txBody>
          <a:bodyPr wrap="square" lIns="0" tIns="0" rIns="0" bIns="0" rtlCol="0" anchor="ctr"/>
          <a:lstStyle/>
          <a:p>
            <a:pPr algn="ctr" indent="0" marL="0">
              <a:lnSpc>
                <a:spcPts val="1250"/>
              </a:lnSpc>
              <a:buNone/>
            </a:pPr>
            <a:r>
              <a:rPr lang="en-US" sz="920" dirty="0">
                <a:solidFill>
                  <a:srgbClr val="B9BEC2"/>
                </a:solidFill>
                <a:latin typeface="Yu Gothic" pitchFamily="34" charset="0"/>
                <a:ea typeface="Yu Gothic" pitchFamily="34" charset="-122"/>
                <a:cs typeface="Yu Gothic" pitchFamily="34" charset="-120"/>
              </a:rPr>
              <a:t>数千〜1万本を街区内に常備し、定温のまま即日・最短5分で動く。</a:t>
            </a:r>
            <a:endParaRPr lang="en-US" sz="920" dirty="0"/>
          </a:p>
        </p:txBody>
      </p:sp>
      <p:sp>
        <p:nvSpPr>
          <p:cNvPr id="18" name="Shape 15"/>
          <p:cNvSpPr/>
          <p:nvPr/>
        </p:nvSpPr>
        <p:spPr>
          <a:xfrm>
            <a:off x="731520" y="1536192"/>
            <a:ext cx="3017520" cy="1097280"/>
          </a:xfrm>
          <a:prstGeom prst="roundRect">
            <a:avLst>
              <a:gd name="adj" fmla="val 4167"/>
            </a:avLst>
          </a:prstGeom>
          <a:solidFill>
            <a:srgbClr val="F6F6F6"/>
          </a:solidFill>
          <a:ln w="12700">
            <a:solidFill>
              <a:srgbClr val="333333"/>
            </a:solidFill>
            <a:prstDash val="solid"/>
          </a:ln>
        </p:spPr>
      </p:sp>
      <p:sp>
        <p:nvSpPr>
          <p:cNvPr id="19" name="Text 16"/>
          <p:cNvSpPr/>
          <p:nvPr/>
        </p:nvSpPr>
        <p:spPr>
          <a:xfrm>
            <a:off x="969264" y="1664208"/>
            <a:ext cx="2542032" cy="201168"/>
          </a:xfrm>
          <a:prstGeom prst="rect">
            <a:avLst/>
          </a:prstGeom>
          <a:noFill/>
          <a:ln/>
        </p:spPr>
        <p:txBody>
          <a:bodyPr wrap="square" lIns="0" tIns="0" rIns="0" bIns="0" rtlCol="0" anchor="ctr"/>
          <a:lstStyle/>
          <a:p>
            <a:pPr indent="0" marL="0">
              <a:buNone/>
            </a:pPr>
            <a:r>
              <a:rPr lang="en-US" sz="900" b="1" dirty="0">
                <a:solidFill>
                  <a:srgbClr val="A06D4C"/>
                </a:solidFill>
                <a:latin typeface="Yu Gothic" pitchFamily="34" charset="0"/>
                <a:ea typeface="Yu Gothic" pitchFamily="34" charset="-122"/>
                <a:cs typeface="Yu Gothic" pitchFamily="34" charset="-120"/>
              </a:rPr>
              <a:t>レジデンス居住者</a:t>
            </a:r>
            <a:endParaRPr lang="en-US" sz="900" dirty="0"/>
          </a:p>
        </p:txBody>
      </p:sp>
      <p:sp>
        <p:nvSpPr>
          <p:cNvPr id="20" name="Text 17"/>
          <p:cNvSpPr/>
          <p:nvPr/>
        </p:nvSpPr>
        <p:spPr>
          <a:xfrm>
            <a:off x="969264" y="1883664"/>
            <a:ext cx="2542032" cy="274320"/>
          </a:xfrm>
          <a:prstGeom prst="rect">
            <a:avLst/>
          </a:prstGeom>
          <a:noFill/>
          <a:ln/>
        </p:spPr>
        <p:txBody>
          <a:bodyPr wrap="square" lIns="0" tIns="0" rIns="0" bIns="0" rtlCol="0" anchor="ctr"/>
          <a:lstStyle/>
          <a:p>
            <a:pPr indent="0" marL="0">
              <a:buNone/>
            </a:pPr>
            <a:r>
              <a:rPr lang="en-US" sz="1250" b="1" dirty="0">
                <a:solidFill>
                  <a:srgbClr val="1A1A1A"/>
                </a:solidFill>
                <a:latin typeface="Yu Gothic" pitchFamily="34" charset="0"/>
                <a:ea typeface="Yu Gothic" pitchFamily="34" charset="-122"/>
                <a:cs typeface="Yu Gothic" pitchFamily="34" charset="-120"/>
              </a:rPr>
              <a:t>自宅のセラーが、街の中にある</a:t>
            </a:r>
            <a:endParaRPr lang="en-US" sz="1250" dirty="0"/>
          </a:p>
        </p:txBody>
      </p:sp>
      <p:sp>
        <p:nvSpPr>
          <p:cNvPr id="21" name="Text 18"/>
          <p:cNvSpPr/>
          <p:nvPr/>
        </p:nvSpPr>
        <p:spPr>
          <a:xfrm>
            <a:off x="969264" y="2176272"/>
            <a:ext cx="2542032" cy="384048"/>
          </a:xfrm>
          <a:prstGeom prst="rect">
            <a:avLst/>
          </a:prstGeom>
          <a:noFill/>
          <a:ln/>
        </p:spPr>
        <p:txBody>
          <a:bodyPr wrap="square" lIns="0" tIns="0" rIns="0" bIns="0" rtlCol="0" anchor="ctr"/>
          <a:lstStyle/>
          <a:p>
            <a:pPr indent="0" marL="0">
              <a:lnSpc>
                <a:spcPts val="1250"/>
              </a:lnSpc>
              <a:buNone/>
            </a:pPr>
            <a:r>
              <a:rPr lang="en-US" sz="900" dirty="0">
                <a:solidFill>
                  <a:srgbClr val="6E7378"/>
                </a:solidFill>
                <a:latin typeface="Yu Gothic" pitchFamily="34" charset="0"/>
                <a:ea typeface="Yu Gothic" pitchFamily="34" charset="-122"/>
                <a:cs typeface="Yu Gothic" pitchFamily="34" charset="-120"/>
              </a:rPr>
              <a:t>買う・預ける・出すが一つの画面で完結。飲みたい夜に、飲みたい一本が届く。</a:t>
            </a:r>
            <a:endParaRPr lang="en-US" sz="900" dirty="0"/>
          </a:p>
        </p:txBody>
      </p:sp>
      <p:sp>
        <p:nvSpPr>
          <p:cNvPr id="22" name="Shape 19"/>
          <p:cNvSpPr/>
          <p:nvPr/>
        </p:nvSpPr>
        <p:spPr>
          <a:xfrm>
            <a:off x="8430768" y="1536192"/>
            <a:ext cx="3017520" cy="1097280"/>
          </a:xfrm>
          <a:prstGeom prst="roundRect">
            <a:avLst>
              <a:gd name="adj" fmla="val 4167"/>
            </a:avLst>
          </a:prstGeom>
          <a:solidFill>
            <a:srgbClr val="F6F6F6"/>
          </a:solidFill>
          <a:ln w="12700">
            <a:solidFill>
              <a:srgbClr val="333333"/>
            </a:solidFill>
            <a:prstDash val="solid"/>
          </a:ln>
        </p:spPr>
      </p:sp>
      <p:sp>
        <p:nvSpPr>
          <p:cNvPr id="23" name="Text 20"/>
          <p:cNvSpPr/>
          <p:nvPr/>
        </p:nvSpPr>
        <p:spPr>
          <a:xfrm>
            <a:off x="8668512" y="1664208"/>
            <a:ext cx="2542032" cy="201168"/>
          </a:xfrm>
          <a:prstGeom prst="rect">
            <a:avLst/>
          </a:prstGeom>
          <a:noFill/>
          <a:ln/>
        </p:spPr>
        <p:txBody>
          <a:bodyPr wrap="square" lIns="0" tIns="0" rIns="0" bIns="0" rtlCol="0" anchor="ctr"/>
          <a:lstStyle/>
          <a:p>
            <a:pPr indent="0" marL="0">
              <a:buNone/>
            </a:pPr>
            <a:r>
              <a:rPr lang="en-US" sz="900" b="1" dirty="0">
                <a:solidFill>
                  <a:srgbClr val="A06D4C"/>
                </a:solidFill>
                <a:latin typeface="Yu Gothic" pitchFamily="34" charset="0"/>
                <a:ea typeface="Yu Gothic" pitchFamily="34" charset="-122"/>
                <a:cs typeface="Yu Gothic" pitchFamily="34" charset="-120"/>
              </a:rPr>
              <a:t>商業区画</a:t>
            </a:r>
            <a:endParaRPr lang="en-US" sz="900" dirty="0"/>
          </a:p>
        </p:txBody>
      </p:sp>
      <p:sp>
        <p:nvSpPr>
          <p:cNvPr id="24" name="Text 21"/>
          <p:cNvSpPr/>
          <p:nvPr/>
        </p:nvSpPr>
        <p:spPr>
          <a:xfrm>
            <a:off x="8668512" y="1883664"/>
            <a:ext cx="2542032" cy="274320"/>
          </a:xfrm>
          <a:prstGeom prst="rect">
            <a:avLst/>
          </a:prstGeom>
          <a:noFill/>
          <a:ln/>
        </p:spPr>
        <p:txBody>
          <a:bodyPr wrap="square" lIns="0" tIns="0" rIns="0" bIns="0" rtlCol="0" anchor="ctr"/>
          <a:lstStyle/>
          <a:p>
            <a:pPr indent="0" marL="0">
              <a:buNone/>
            </a:pPr>
            <a:r>
              <a:rPr lang="en-US" sz="1250" b="1" dirty="0">
                <a:solidFill>
                  <a:srgbClr val="1A1A1A"/>
                </a:solidFill>
                <a:latin typeface="Yu Gothic" pitchFamily="34" charset="0"/>
                <a:ea typeface="Yu Gothic" pitchFamily="34" charset="-122"/>
                <a:cs typeface="Yu Gothic" pitchFamily="34" charset="-120"/>
              </a:rPr>
              <a:t>街の目的地になる</a:t>
            </a:r>
            <a:endParaRPr lang="en-US" sz="1250" dirty="0"/>
          </a:p>
        </p:txBody>
      </p:sp>
      <p:sp>
        <p:nvSpPr>
          <p:cNvPr id="25" name="Text 22"/>
          <p:cNvSpPr/>
          <p:nvPr/>
        </p:nvSpPr>
        <p:spPr>
          <a:xfrm>
            <a:off x="8668512" y="2176272"/>
            <a:ext cx="2542032" cy="384048"/>
          </a:xfrm>
          <a:prstGeom prst="rect">
            <a:avLst/>
          </a:prstGeom>
          <a:noFill/>
          <a:ln/>
        </p:spPr>
        <p:txBody>
          <a:bodyPr wrap="square" lIns="0" tIns="0" rIns="0" bIns="0" rtlCol="0" anchor="ctr"/>
          <a:lstStyle/>
          <a:p>
            <a:pPr indent="0" marL="0">
              <a:lnSpc>
                <a:spcPts val="1250"/>
              </a:lnSpc>
              <a:buNone/>
            </a:pPr>
            <a:r>
              <a:rPr lang="en-US" sz="900" dirty="0">
                <a:solidFill>
                  <a:srgbClr val="6E7378"/>
                </a:solidFill>
                <a:latin typeface="Yu Gothic" pitchFamily="34" charset="0"/>
                <a:ea typeface="Yu Gothic" pitchFamily="34" charset="-122"/>
                <a:cs typeface="Yu Gothic" pitchFamily="34" charset="-120"/>
              </a:rPr>
              <a:t>数千本のウォークインセラーとミシュランシェフ。ワインを目的に人が集まる場所へ。</a:t>
            </a:r>
            <a:endParaRPr lang="en-US" sz="900" dirty="0"/>
          </a:p>
        </p:txBody>
      </p:sp>
      <p:sp>
        <p:nvSpPr>
          <p:cNvPr id="26" name="Shape 23"/>
          <p:cNvSpPr/>
          <p:nvPr/>
        </p:nvSpPr>
        <p:spPr>
          <a:xfrm>
            <a:off x="731520" y="4443984"/>
            <a:ext cx="3017520" cy="1097280"/>
          </a:xfrm>
          <a:prstGeom prst="roundRect">
            <a:avLst>
              <a:gd name="adj" fmla="val 4167"/>
            </a:avLst>
          </a:prstGeom>
          <a:solidFill>
            <a:srgbClr val="F6F6F6"/>
          </a:solidFill>
          <a:ln w="12700">
            <a:solidFill>
              <a:srgbClr val="333333"/>
            </a:solidFill>
            <a:prstDash val="solid"/>
          </a:ln>
        </p:spPr>
      </p:sp>
      <p:sp>
        <p:nvSpPr>
          <p:cNvPr id="27" name="Text 24"/>
          <p:cNvSpPr/>
          <p:nvPr/>
        </p:nvSpPr>
        <p:spPr>
          <a:xfrm>
            <a:off x="969264" y="4572000"/>
            <a:ext cx="2542032" cy="201168"/>
          </a:xfrm>
          <a:prstGeom prst="rect">
            <a:avLst/>
          </a:prstGeom>
          <a:noFill/>
          <a:ln/>
        </p:spPr>
        <p:txBody>
          <a:bodyPr wrap="square" lIns="0" tIns="0" rIns="0" bIns="0" rtlCol="0" anchor="ctr"/>
          <a:lstStyle/>
          <a:p>
            <a:pPr indent="0" marL="0">
              <a:buNone/>
            </a:pPr>
            <a:r>
              <a:rPr lang="en-US" sz="900" b="1" dirty="0">
                <a:solidFill>
                  <a:srgbClr val="A06D4C"/>
                </a:solidFill>
                <a:latin typeface="Yu Gothic" pitchFamily="34" charset="0"/>
                <a:ea typeface="Yu Gothic" pitchFamily="34" charset="-122"/>
                <a:cs typeface="Yu Gothic" pitchFamily="34" charset="-120"/>
              </a:rPr>
              <a:t>テナント飲食店</a:t>
            </a:r>
            <a:endParaRPr lang="en-US" sz="900" dirty="0"/>
          </a:p>
        </p:txBody>
      </p:sp>
      <p:sp>
        <p:nvSpPr>
          <p:cNvPr id="28" name="Text 25"/>
          <p:cNvSpPr/>
          <p:nvPr/>
        </p:nvSpPr>
        <p:spPr>
          <a:xfrm>
            <a:off x="969264" y="4791456"/>
            <a:ext cx="2542032" cy="274320"/>
          </a:xfrm>
          <a:prstGeom prst="rect">
            <a:avLst/>
          </a:prstGeom>
          <a:noFill/>
          <a:ln/>
        </p:spPr>
        <p:txBody>
          <a:bodyPr wrap="square" lIns="0" tIns="0" rIns="0" bIns="0" rtlCol="0" anchor="ctr"/>
          <a:lstStyle/>
          <a:p>
            <a:pPr indent="0" marL="0">
              <a:buNone/>
            </a:pPr>
            <a:r>
              <a:rPr lang="en-US" sz="1250" b="1" dirty="0">
                <a:solidFill>
                  <a:srgbClr val="1A1A1A"/>
                </a:solidFill>
                <a:latin typeface="Yu Gothic" pitchFamily="34" charset="0"/>
                <a:ea typeface="Yu Gothic" pitchFamily="34" charset="-122"/>
                <a:cs typeface="Yu Gothic" pitchFamily="34" charset="-120"/>
              </a:rPr>
              <a:t>在庫ゼロで、世界水準のリスト</a:t>
            </a:r>
            <a:endParaRPr lang="en-US" sz="1250" dirty="0"/>
          </a:p>
        </p:txBody>
      </p:sp>
      <p:sp>
        <p:nvSpPr>
          <p:cNvPr id="29" name="Text 26"/>
          <p:cNvSpPr/>
          <p:nvPr/>
        </p:nvSpPr>
        <p:spPr>
          <a:xfrm>
            <a:off x="969264" y="5084064"/>
            <a:ext cx="2542032" cy="384048"/>
          </a:xfrm>
          <a:prstGeom prst="rect">
            <a:avLst/>
          </a:prstGeom>
          <a:noFill/>
          <a:ln/>
        </p:spPr>
        <p:txBody>
          <a:bodyPr wrap="square" lIns="0" tIns="0" rIns="0" bIns="0" rtlCol="0" anchor="ctr"/>
          <a:lstStyle/>
          <a:p>
            <a:pPr indent="0" marL="0">
              <a:lnSpc>
                <a:spcPts val="1250"/>
              </a:lnSpc>
              <a:buNone/>
            </a:pPr>
            <a:r>
              <a:rPr lang="en-US" sz="900" dirty="0">
                <a:solidFill>
                  <a:srgbClr val="6E7378"/>
                </a:solidFill>
                <a:latin typeface="Yu Gothic" pitchFamily="34" charset="0"/>
                <a:ea typeface="Yu Gothic" pitchFamily="34" charset="-122"/>
                <a:cs typeface="Yu Gothic" pitchFamily="34" charset="-120"/>
              </a:rPr>
              <a:t>ワイン在庫は0円。セラーは小さく、客席は広く。それでも品揃えは数万本。</a:t>
            </a:r>
            <a:endParaRPr lang="en-US" sz="900" dirty="0"/>
          </a:p>
        </p:txBody>
      </p:sp>
      <p:sp>
        <p:nvSpPr>
          <p:cNvPr id="30" name="Shape 27"/>
          <p:cNvSpPr/>
          <p:nvPr/>
        </p:nvSpPr>
        <p:spPr>
          <a:xfrm>
            <a:off x="8430768" y="4443984"/>
            <a:ext cx="3017520" cy="1097280"/>
          </a:xfrm>
          <a:prstGeom prst="roundRect">
            <a:avLst>
              <a:gd name="adj" fmla="val 4167"/>
            </a:avLst>
          </a:prstGeom>
          <a:solidFill>
            <a:srgbClr val="F6F6F6"/>
          </a:solidFill>
          <a:ln w="12700">
            <a:solidFill>
              <a:srgbClr val="333333"/>
            </a:solidFill>
            <a:prstDash val="solid"/>
          </a:ln>
        </p:spPr>
      </p:sp>
      <p:sp>
        <p:nvSpPr>
          <p:cNvPr id="31" name="Text 28"/>
          <p:cNvSpPr/>
          <p:nvPr/>
        </p:nvSpPr>
        <p:spPr>
          <a:xfrm>
            <a:off x="8668512" y="4572000"/>
            <a:ext cx="2542032" cy="201168"/>
          </a:xfrm>
          <a:prstGeom prst="rect">
            <a:avLst/>
          </a:prstGeom>
          <a:noFill/>
          <a:ln/>
        </p:spPr>
        <p:txBody>
          <a:bodyPr wrap="square" lIns="0" tIns="0" rIns="0" bIns="0" rtlCol="0" anchor="ctr"/>
          <a:lstStyle/>
          <a:p>
            <a:pPr indent="0" marL="0">
              <a:buNone/>
            </a:pPr>
            <a:r>
              <a:rPr lang="en-US" sz="900" b="1" dirty="0">
                <a:solidFill>
                  <a:srgbClr val="A06D4C"/>
                </a:solidFill>
                <a:latin typeface="Yu Gothic" pitchFamily="34" charset="0"/>
                <a:ea typeface="Yu Gothic" pitchFamily="34" charset="-122"/>
                <a:cs typeface="Yu Gothic" pitchFamily="34" charset="-120"/>
              </a:rPr>
              <a:t>ヒルズワーカー</a:t>
            </a:r>
            <a:endParaRPr lang="en-US" sz="900" dirty="0"/>
          </a:p>
        </p:txBody>
      </p:sp>
      <p:sp>
        <p:nvSpPr>
          <p:cNvPr id="32" name="Text 29"/>
          <p:cNvSpPr/>
          <p:nvPr/>
        </p:nvSpPr>
        <p:spPr>
          <a:xfrm>
            <a:off x="8668512" y="4791456"/>
            <a:ext cx="2542032" cy="274320"/>
          </a:xfrm>
          <a:prstGeom prst="rect">
            <a:avLst/>
          </a:prstGeom>
          <a:noFill/>
          <a:ln/>
        </p:spPr>
        <p:txBody>
          <a:bodyPr wrap="square" lIns="0" tIns="0" rIns="0" bIns="0" rtlCol="0" anchor="ctr"/>
          <a:lstStyle/>
          <a:p>
            <a:pPr indent="0" marL="0">
              <a:buNone/>
            </a:pPr>
            <a:r>
              <a:rPr lang="en-US" sz="1250" b="1" dirty="0">
                <a:solidFill>
                  <a:srgbClr val="1A1A1A"/>
                </a:solidFill>
                <a:latin typeface="Yu Gothic" pitchFamily="34" charset="0"/>
                <a:ea typeface="Yu Gothic" pitchFamily="34" charset="-122"/>
                <a:cs typeface="Yu Gothic" pitchFamily="34" charset="-120"/>
              </a:rPr>
              <a:t>手ぶらで、会食へ</a:t>
            </a:r>
            <a:endParaRPr lang="en-US" sz="1250" dirty="0"/>
          </a:p>
        </p:txBody>
      </p:sp>
      <p:sp>
        <p:nvSpPr>
          <p:cNvPr id="33" name="Text 30"/>
          <p:cNvSpPr/>
          <p:nvPr/>
        </p:nvSpPr>
        <p:spPr>
          <a:xfrm>
            <a:off x="8668512" y="5084064"/>
            <a:ext cx="2542032" cy="384048"/>
          </a:xfrm>
          <a:prstGeom prst="rect">
            <a:avLst/>
          </a:prstGeom>
          <a:noFill/>
          <a:ln/>
        </p:spPr>
        <p:txBody>
          <a:bodyPr wrap="square" lIns="0" tIns="0" rIns="0" bIns="0" rtlCol="0" anchor="ctr"/>
          <a:lstStyle/>
          <a:p>
            <a:pPr indent="0" marL="0">
              <a:lnSpc>
                <a:spcPts val="1250"/>
              </a:lnSpc>
              <a:buNone/>
            </a:pPr>
            <a:r>
              <a:rPr lang="en-US" sz="900" dirty="0">
                <a:solidFill>
                  <a:srgbClr val="6E7378"/>
                </a:solidFill>
                <a:latin typeface="Yu Gothic" pitchFamily="34" charset="0"/>
                <a:ea typeface="Yu Gothic" pitchFamily="34" charset="-122"/>
                <a:cs typeface="Yu Gothic" pitchFamily="34" charset="-120"/>
              </a:rPr>
              <a:t>仕入原価相当のワインをコルケージなしで。接待の質は上がり、費用は下がる。</a:t>
            </a:r>
            <a:endParaRPr lang="en-US" sz="900" dirty="0"/>
          </a:p>
        </p:txBody>
      </p:sp>
      <p:sp>
        <p:nvSpPr>
          <p:cNvPr id="34" name="Text 31"/>
          <p:cNvSpPr/>
          <p:nvPr/>
        </p:nvSpPr>
        <p:spPr>
          <a:xfrm>
            <a:off x="731520" y="3054096"/>
            <a:ext cx="2834640" cy="640080"/>
          </a:xfrm>
          <a:prstGeom prst="rect">
            <a:avLst/>
          </a:prstGeom>
          <a:noFill/>
          <a:ln/>
        </p:spPr>
        <p:txBody>
          <a:bodyPr wrap="square" lIns="0" tIns="0" rIns="0" bIns="0" rtlCol="0" anchor="ctr"/>
          <a:lstStyle/>
          <a:p>
            <a:pPr indent="0" marL="0">
              <a:lnSpc>
                <a:spcPts val="1500"/>
              </a:lnSpc>
              <a:buNone/>
            </a:pPr>
            <a:r>
              <a:rPr lang="en-US" sz="1020" dirty="0">
                <a:solidFill>
                  <a:srgbClr val="6E7378"/>
                </a:solidFill>
                <a:latin typeface="Yu Gothic" pitchFamily="34" charset="0"/>
                <a:ea typeface="Yu Gothic" pitchFamily="34" charset="-122"/>
                <a:cs typeface="Yu Gothic" pitchFamily="34" charset="-120"/>
              </a:rPr>
              <a:t>各店が抱えていた在庫が、</a:t>
            </a:r>
            <a:endParaRPr lang="en-US" sz="1020" dirty="0"/>
          </a:p>
          <a:p>
            <a:pPr indent="0" marL="0">
              <a:lnSpc>
                <a:spcPts val="1500"/>
              </a:lnSpc>
              <a:buNone/>
            </a:pPr>
            <a:r>
              <a:rPr lang="en-US" sz="1020" dirty="0">
                <a:solidFill>
                  <a:srgbClr val="6E7378"/>
                </a:solidFill>
                <a:latin typeface="Yu Gothic" pitchFamily="34" charset="0"/>
                <a:ea typeface="Yu Gothic" pitchFamily="34" charset="-122"/>
                <a:cs typeface="Yu Gothic" pitchFamily="34" charset="-120"/>
              </a:rPr>
              <a:t>街のひとつのセラーに集まる。</a:t>
            </a:r>
            <a:endParaRPr lang="en-US" sz="1020" dirty="0"/>
          </a:p>
        </p:txBody>
      </p:sp>
      <p:sp>
        <p:nvSpPr>
          <p:cNvPr id="35" name="Text 32"/>
          <p:cNvSpPr/>
          <p:nvPr/>
        </p:nvSpPr>
        <p:spPr>
          <a:xfrm>
            <a:off x="8613648" y="3054096"/>
            <a:ext cx="2834640" cy="640080"/>
          </a:xfrm>
          <a:prstGeom prst="rect">
            <a:avLst/>
          </a:prstGeom>
          <a:noFill/>
          <a:ln/>
        </p:spPr>
        <p:txBody>
          <a:bodyPr wrap="square" lIns="0" tIns="0" rIns="0" bIns="0" rtlCol="0" anchor="ctr"/>
          <a:lstStyle/>
          <a:p>
            <a:pPr algn="r" indent="0" marL="0">
              <a:lnSpc>
                <a:spcPts val="1500"/>
              </a:lnSpc>
              <a:buNone/>
            </a:pPr>
            <a:r>
              <a:rPr lang="en-US" sz="1020" dirty="0">
                <a:solidFill>
                  <a:srgbClr val="6E7378"/>
                </a:solidFill>
                <a:latin typeface="Yu Gothic" pitchFamily="34" charset="0"/>
                <a:ea typeface="Yu Gothic" pitchFamily="34" charset="-122"/>
                <a:cs typeface="Yu Gothic" pitchFamily="34" charset="-120"/>
              </a:rPr>
              <a:t>そのセラーから、</a:t>
            </a:r>
            <a:endParaRPr lang="en-US" sz="1020" dirty="0"/>
          </a:p>
          <a:p>
            <a:pPr algn="r" indent="0" marL="0">
              <a:lnSpc>
                <a:spcPts val="1500"/>
              </a:lnSpc>
              <a:buNone/>
            </a:pPr>
            <a:r>
              <a:rPr lang="en-US" sz="1020" dirty="0">
                <a:solidFill>
                  <a:srgbClr val="6E7378"/>
                </a:solidFill>
                <a:latin typeface="Yu Gothic" pitchFamily="34" charset="0"/>
                <a:ea typeface="Yu Gothic" pitchFamily="34" charset="-122"/>
                <a:cs typeface="Yu Gothic" pitchFamily="34" charset="-120"/>
              </a:rPr>
              <a:t>街のあらゆる場所へワインが動く。</a:t>
            </a:r>
            <a:endParaRPr lang="en-US" sz="1020" dirty="0"/>
          </a:p>
        </p:txBody>
      </p:sp>
      <p:sp>
        <p:nvSpPr>
          <p:cNvPr id="36" name="Shape 33"/>
          <p:cNvSpPr/>
          <p:nvPr/>
        </p:nvSpPr>
        <p:spPr>
          <a:xfrm>
            <a:off x="566928" y="5705856"/>
            <a:ext cx="11057839" cy="475488"/>
          </a:xfrm>
          <a:prstGeom prst="rect">
            <a:avLst/>
          </a:prstGeom>
          <a:solidFill>
            <a:srgbClr val="2F3941"/>
          </a:solidFill>
          <a:ln w="12700">
            <a:solidFill>
              <a:srgbClr val="333333"/>
            </a:solidFill>
            <a:prstDash val="solid"/>
          </a:ln>
        </p:spPr>
      </p:sp>
      <p:sp>
        <p:nvSpPr>
          <p:cNvPr id="37" name="Text 34"/>
          <p:cNvSpPr/>
          <p:nvPr/>
        </p:nvSpPr>
        <p:spPr>
          <a:xfrm>
            <a:off x="566928" y="5705856"/>
            <a:ext cx="11057839" cy="475488"/>
          </a:xfrm>
          <a:prstGeom prst="rect">
            <a:avLst/>
          </a:prstGeom>
          <a:noFill/>
          <a:ln/>
        </p:spPr>
        <p:txBody>
          <a:bodyPr wrap="square" lIns="0" tIns="0" rIns="0" bIns="0" rtlCol="0" anchor="ctr"/>
          <a:lstStyle/>
          <a:p>
            <a:pPr algn="ctr" indent="0" marL="0">
              <a:buNone/>
            </a:pPr>
            <a:r>
              <a:rPr lang="en-US" sz="1500" b="1" dirty="0">
                <a:solidFill>
                  <a:srgbClr val="EFDCCE"/>
                </a:solidFill>
                <a:latin typeface="Yu Gothic" pitchFamily="34" charset="0"/>
                <a:ea typeface="Yu Gothic" pitchFamily="34" charset="-122"/>
                <a:cs typeface="Yu Gothic" pitchFamily="34" charset="-120"/>
              </a:rPr>
              <a:t>他の街には真似のできない「ワインが巡る街」を、ヒルズに。</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381183" y="292608"/>
            <a:ext cx="1243584" cy="247802"/>
          </a:xfrm>
          <a:prstGeom prst="rect">
            <a:avLst/>
          </a:prstGeom>
        </p:spPr>
      </p:pic>
      <p:sp>
        <p:nvSpPr>
          <p:cNvPr id="3" name="Text 0"/>
          <p:cNvSpPr/>
          <p:nvPr/>
        </p:nvSpPr>
        <p:spPr>
          <a:xfrm>
            <a:off x="0" y="2798064"/>
            <a:ext cx="12191695" cy="548640"/>
          </a:xfrm>
          <a:prstGeom prst="rect">
            <a:avLst/>
          </a:prstGeom>
          <a:noFill/>
          <a:ln/>
        </p:spPr>
        <p:txBody>
          <a:bodyPr wrap="square" lIns="0" tIns="0" rIns="0" bIns="0" rtlCol="0" anchor="ctr"/>
          <a:lstStyle/>
          <a:p>
            <a:pPr algn="ctr" indent="0" marL="0">
              <a:buNone/>
            </a:pPr>
            <a:r>
              <a:rPr lang="en-US" sz="3000" b="1" spc="240" kern="0" dirty="0">
                <a:solidFill>
                  <a:srgbClr val="1A1A1A"/>
                </a:solidFill>
                <a:latin typeface="Calibri" pitchFamily="34" charset="0"/>
                <a:ea typeface="Calibri" pitchFamily="34" charset="-122"/>
                <a:cs typeface="Calibri" pitchFamily="34" charset="-120"/>
              </a:rPr>
              <a:t>APPENDIX</a:t>
            </a:r>
            <a:endParaRPr lang="en-US" sz="3000" dirty="0"/>
          </a:p>
        </p:txBody>
      </p:sp>
      <p:sp>
        <p:nvSpPr>
          <p:cNvPr id="4" name="Shape 1"/>
          <p:cNvSpPr/>
          <p:nvPr/>
        </p:nvSpPr>
        <p:spPr>
          <a:xfrm>
            <a:off x="5730088" y="3438144"/>
            <a:ext cx="731520" cy="32004"/>
          </a:xfrm>
          <a:prstGeom prst="rect">
            <a:avLst/>
          </a:prstGeom>
          <a:solidFill>
            <a:srgbClr val="C68A65"/>
          </a:solidFill>
          <a:ln w="12700">
            <a:solidFill>
              <a:srgbClr val="333333"/>
            </a:solidFill>
            <a:prstDash val="solid"/>
          </a:ln>
        </p:spPr>
      </p:sp>
      <p:sp>
        <p:nvSpPr>
          <p:cNvPr id="5" name="Text 2"/>
          <p:cNvSpPr/>
          <p:nvPr/>
        </p:nvSpPr>
        <p:spPr>
          <a:xfrm>
            <a:off x="0" y="3602736"/>
            <a:ext cx="12191695" cy="274320"/>
          </a:xfrm>
          <a:prstGeom prst="rect">
            <a:avLst/>
          </a:prstGeom>
          <a:noFill/>
          <a:ln/>
        </p:spPr>
        <p:txBody>
          <a:bodyPr wrap="square" lIns="0" tIns="0" rIns="0" bIns="0" rtlCol="0" anchor="ctr"/>
          <a:lstStyle/>
          <a:p>
            <a:pPr algn="ctr" indent="0" marL="0">
              <a:buNone/>
            </a:pPr>
            <a:r>
              <a:rPr lang="en-US" sz="1100" dirty="0">
                <a:solidFill>
                  <a:srgbClr val="6E7378"/>
                </a:solidFill>
                <a:latin typeface="Yu Gothic" pitchFamily="34" charset="0"/>
                <a:ea typeface="Yu Gothic" pitchFamily="34" charset="-122"/>
                <a:cs typeface="Yu Gothic" pitchFamily="34" charset="-120"/>
              </a:rPr>
              <a:t>会社紹介（2026年6月）より抜粋</a:t>
            </a:r>
            <a:endParaRPr lang="en-US" sz="1100" dirty="0"/>
          </a:p>
        </p:txBody>
      </p:sp>
      <p:sp>
        <p:nvSpPr>
          <p:cNvPr id="6" name="Shape 3"/>
          <p:cNvSpPr/>
          <p:nvPr/>
        </p:nvSpPr>
        <p:spPr>
          <a:xfrm>
            <a:off x="0" y="6583680"/>
            <a:ext cx="12191695" cy="274320"/>
          </a:xfrm>
          <a:prstGeom prst="rect">
            <a:avLst/>
          </a:prstGeom>
          <a:solidFill>
            <a:srgbClr val="2F3941"/>
          </a:solidFill>
          <a:ln w="12700">
            <a:solidFill>
              <a:srgbClr val="333333"/>
            </a:solidFill>
            <a:prstDash val="solid"/>
          </a:ln>
        </p:spPr>
      </p:sp>
      <p:sp>
        <p:nvSpPr>
          <p:cNvPr id="7" name="Text 4"/>
          <p:cNvSpPr/>
          <p:nvPr/>
        </p:nvSpPr>
        <p:spPr>
          <a:xfrm>
            <a:off x="10893247" y="6272784"/>
            <a:ext cx="731520" cy="256032"/>
          </a:xfrm>
          <a:prstGeom prst="rect">
            <a:avLst/>
          </a:prstGeom>
          <a:noFill/>
          <a:ln/>
        </p:spPr>
        <p:txBody>
          <a:bodyPr wrap="square" lIns="0" tIns="0" rIns="0" bIns="0" rtlCol="0" anchor="ctr"/>
          <a:lstStyle/>
          <a:p>
            <a:pPr algn="r" indent="0" marL="0">
              <a:buNone/>
            </a:pPr>
            <a:r>
              <a:rPr lang="en-US" sz="1000" dirty="0">
                <a:solidFill>
                  <a:srgbClr val="A6ABAF"/>
                </a:solidFill>
                <a:latin typeface="Calibri" pitchFamily="34" charset="0"/>
                <a:ea typeface="Calibri" pitchFamily="34" charset="-122"/>
                <a:cs typeface="Calibri" pitchFamily="34" charset="-120"/>
              </a:rPr>
              <a:t>26</a:t>
            </a:r>
            <a:endParaRPr lang="en-US" sz="1000" dirty="0"/>
          </a:p>
        </p:txBody>
      </p:sp>
      <p:sp>
        <p:nvSpPr>
          <p:cNvPr id="8" name="Text 5"/>
          <p:cNvSpPr/>
          <p:nvPr/>
        </p:nvSpPr>
        <p:spPr>
          <a:xfrm>
            <a:off x="566928" y="6272784"/>
            <a:ext cx="2926080" cy="256032"/>
          </a:xfrm>
          <a:prstGeom prst="rect">
            <a:avLst/>
          </a:prstGeom>
          <a:noFill/>
          <a:ln/>
        </p:spPr>
        <p:txBody>
          <a:bodyPr wrap="square" lIns="0" tIns="0" rIns="0" bIns="0" rtlCol="0" anchor="ctr"/>
          <a:lstStyle/>
          <a:p>
            <a:pPr indent="0" marL="0">
              <a:buNone/>
            </a:pPr>
            <a:r>
              <a:rPr lang="en-US" sz="850" spc="120" kern="0" dirty="0">
                <a:solidFill>
                  <a:srgbClr val="C7CACC"/>
                </a:solidFill>
                <a:latin typeface="Calibri" pitchFamily="34" charset="0"/>
                <a:ea typeface="Calibri" pitchFamily="34" charset="-122"/>
                <a:cs typeface="Calibri" pitchFamily="34" charset="-120"/>
              </a:rPr>
              <a:t>CONFIDENTIAL</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381183" y="292608"/>
            <a:ext cx="1243584" cy="247802"/>
          </a:xfrm>
          <a:prstGeom prst="rect">
            <a:avLst/>
          </a:prstGeom>
        </p:spPr>
      </p:pic>
      <p:sp>
        <p:nvSpPr>
          <p:cNvPr id="3" name="Shape 0"/>
          <p:cNvSpPr/>
          <p:nvPr/>
        </p:nvSpPr>
        <p:spPr>
          <a:xfrm>
            <a:off x="566928" y="292608"/>
            <a:ext cx="950976" cy="237744"/>
          </a:xfrm>
          <a:prstGeom prst="roundRect">
            <a:avLst>
              <a:gd name="adj" fmla="val 11538"/>
            </a:avLst>
          </a:prstGeom>
          <a:solidFill>
            <a:srgbClr val="C68A65"/>
          </a:solidFill>
          <a:ln w="12700">
            <a:solidFill>
              <a:srgbClr val="333333"/>
            </a:solidFill>
            <a:prstDash val="solid"/>
          </a:ln>
        </p:spPr>
      </p:sp>
      <p:sp>
        <p:nvSpPr>
          <p:cNvPr id="4" name="Text 1"/>
          <p:cNvSpPr/>
          <p:nvPr/>
        </p:nvSpPr>
        <p:spPr>
          <a:xfrm>
            <a:off x="566928" y="292608"/>
            <a:ext cx="950976"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Yu Gothic" pitchFamily="34" charset="0"/>
                <a:ea typeface="Yu Gothic" pitchFamily="34" charset="-122"/>
                <a:cs typeface="Yu Gothic" pitchFamily="34" charset="-120"/>
              </a:rPr>
              <a:t>APPENDIX</a:t>
            </a:r>
            <a:endParaRPr lang="en-US" sz="850" dirty="0"/>
          </a:p>
        </p:txBody>
      </p:sp>
      <p:sp>
        <p:nvSpPr>
          <p:cNvPr id="5" name="Text 2"/>
          <p:cNvSpPr/>
          <p:nvPr/>
        </p:nvSpPr>
        <p:spPr>
          <a:xfrm>
            <a:off x="566928" y="585216"/>
            <a:ext cx="9509760" cy="420624"/>
          </a:xfrm>
          <a:prstGeom prst="rect">
            <a:avLst/>
          </a:prstGeom>
          <a:noFill/>
          <a:ln/>
        </p:spPr>
        <p:txBody>
          <a:bodyPr wrap="square" lIns="0" tIns="0" rIns="0" bIns="0" rtlCol="0" anchor="ctr"/>
          <a:lstStyle/>
          <a:p>
            <a:pPr indent="0" marL="0">
              <a:buNone/>
            </a:pPr>
            <a:r>
              <a:rPr lang="en-US" sz="2300" b="1" dirty="0">
                <a:solidFill>
                  <a:srgbClr val="1A1A1A"/>
                </a:solidFill>
                <a:latin typeface="Yu Gothic" pitchFamily="34" charset="0"/>
                <a:ea typeface="Yu Gothic" pitchFamily="34" charset="-122"/>
                <a:cs typeface="Yu Gothic" pitchFamily="34" charset="-120"/>
              </a:rPr>
              <a:t>なぜ、Cloud Wine Cave の価格が成立するのか</a:t>
            </a:r>
            <a:endParaRPr lang="en-US" sz="2300" dirty="0"/>
          </a:p>
        </p:txBody>
      </p:sp>
      <p:sp>
        <p:nvSpPr>
          <p:cNvPr id="6" name="Text 3"/>
          <p:cNvSpPr/>
          <p:nvPr/>
        </p:nvSpPr>
        <p:spPr>
          <a:xfrm>
            <a:off x="566928" y="1024128"/>
            <a:ext cx="11057839" cy="310896"/>
          </a:xfrm>
          <a:prstGeom prst="rect">
            <a:avLst/>
          </a:prstGeom>
          <a:noFill/>
          <a:ln/>
        </p:spPr>
        <p:txBody>
          <a:bodyPr wrap="square" lIns="0" tIns="0" rIns="0" bIns="0" rtlCol="0" anchor="ctr"/>
          <a:lstStyle/>
          <a:p>
            <a:pPr indent="0" marL="0">
              <a:lnSpc>
                <a:spcPts val="1700"/>
              </a:lnSpc>
              <a:buNone/>
            </a:pPr>
            <a:r>
              <a:rPr lang="en-US" sz="1150" dirty="0">
                <a:solidFill>
                  <a:srgbClr val="6E7378"/>
                </a:solidFill>
                <a:latin typeface="Yu Gothic" pitchFamily="34" charset="0"/>
                <a:ea typeface="Yu Gothic" pitchFamily="34" charset="-122"/>
                <a:cs typeface="Yu Gothic" pitchFamily="34" charset="-120"/>
              </a:rPr>
              <a:t>ワイン流通は、生産者から消費者までに何段もの中間マージンが積み上がります。当社は最上流に立っています。</a:t>
            </a:r>
            <a:endParaRPr lang="en-US" sz="1150" dirty="0"/>
          </a:p>
        </p:txBody>
      </p:sp>
      <p:sp>
        <p:nvSpPr>
          <p:cNvPr id="7" name="Shape 4"/>
          <p:cNvSpPr/>
          <p:nvPr/>
        </p:nvSpPr>
        <p:spPr>
          <a:xfrm>
            <a:off x="0" y="6583680"/>
            <a:ext cx="12191695" cy="274320"/>
          </a:xfrm>
          <a:prstGeom prst="rect">
            <a:avLst/>
          </a:prstGeom>
          <a:solidFill>
            <a:srgbClr val="2F3941"/>
          </a:solidFill>
          <a:ln w="12700">
            <a:solidFill>
              <a:srgbClr val="333333"/>
            </a:solidFill>
            <a:prstDash val="solid"/>
          </a:ln>
        </p:spPr>
      </p:sp>
      <p:sp>
        <p:nvSpPr>
          <p:cNvPr id="8" name="Text 5"/>
          <p:cNvSpPr/>
          <p:nvPr/>
        </p:nvSpPr>
        <p:spPr>
          <a:xfrm>
            <a:off x="10893247" y="6272784"/>
            <a:ext cx="731520" cy="256032"/>
          </a:xfrm>
          <a:prstGeom prst="rect">
            <a:avLst/>
          </a:prstGeom>
          <a:noFill/>
          <a:ln/>
        </p:spPr>
        <p:txBody>
          <a:bodyPr wrap="square" lIns="0" tIns="0" rIns="0" bIns="0" rtlCol="0" anchor="ctr"/>
          <a:lstStyle/>
          <a:p>
            <a:pPr algn="r" indent="0" marL="0">
              <a:buNone/>
            </a:pPr>
            <a:r>
              <a:rPr lang="en-US" sz="1000" dirty="0">
                <a:solidFill>
                  <a:srgbClr val="A6ABAF"/>
                </a:solidFill>
                <a:latin typeface="Calibri" pitchFamily="34" charset="0"/>
                <a:ea typeface="Calibri" pitchFamily="34" charset="-122"/>
                <a:cs typeface="Calibri" pitchFamily="34" charset="-120"/>
              </a:rPr>
              <a:t>32</a:t>
            </a:r>
            <a:endParaRPr lang="en-US" sz="1000" dirty="0"/>
          </a:p>
        </p:txBody>
      </p:sp>
      <p:sp>
        <p:nvSpPr>
          <p:cNvPr id="9" name="Text 6"/>
          <p:cNvSpPr/>
          <p:nvPr/>
        </p:nvSpPr>
        <p:spPr>
          <a:xfrm>
            <a:off x="566928" y="6272784"/>
            <a:ext cx="2926080" cy="256032"/>
          </a:xfrm>
          <a:prstGeom prst="rect">
            <a:avLst/>
          </a:prstGeom>
          <a:noFill/>
          <a:ln/>
        </p:spPr>
        <p:txBody>
          <a:bodyPr wrap="square" lIns="0" tIns="0" rIns="0" bIns="0" rtlCol="0" anchor="ctr"/>
          <a:lstStyle/>
          <a:p>
            <a:pPr indent="0" marL="0">
              <a:buNone/>
            </a:pPr>
            <a:r>
              <a:rPr lang="en-US" sz="850" spc="120" kern="0" dirty="0">
                <a:solidFill>
                  <a:srgbClr val="C7CACC"/>
                </a:solidFill>
                <a:latin typeface="Calibri" pitchFamily="34" charset="0"/>
                <a:ea typeface="Calibri" pitchFamily="34" charset="-122"/>
                <a:cs typeface="Calibri" pitchFamily="34" charset="-120"/>
              </a:rPr>
              <a:t>CONFIDENTIAL</a:t>
            </a:r>
            <a:endParaRPr lang="en-US" sz="850" dirty="0"/>
          </a:p>
        </p:txBody>
      </p:sp>
      <p:sp>
        <p:nvSpPr>
          <p:cNvPr id="10" name="Shape 7"/>
          <p:cNvSpPr/>
          <p:nvPr/>
        </p:nvSpPr>
        <p:spPr>
          <a:xfrm>
            <a:off x="566928" y="1481328"/>
            <a:ext cx="6583680" cy="1170432"/>
          </a:xfrm>
          <a:prstGeom prst="roundRect">
            <a:avLst>
              <a:gd name="adj" fmla="val 3906"/>
            </a:avLst>
          </a:prstGeom>
          <a:solidFill>
            <a:srgbClr val="F6F6F6"/>
          </a:solidFill>
          <a:ln w="12700">
            <a:solidFill>
              <a:srgbClr val="333333"/>
            </a:solidFill>
            <a:prstDash val="solid"/>
          </a:ln>
        </p:spPr>
      </p:sp>
      <p:sp>
        <p:nvSpPr>
          <p:cNvPr id="11" name="Text 8"/>
          <p:cNvSpPr/>
          <p:nvPr/>
        </p:nvSpPr>
        <p:spPr>
          <a:xfrm>
            <a:off x="841248" y="1609344"/>
            <a:ext cx="6035040" cy="256032"/>
          </a:xfrm>
          <a:prstGeom prst="rect">
            <a:avLst/>
          </a:prstGeom>
          <a:noFill/>
          <a:ln/>
        </p:spPr>
        <p:txBody>
          <a:bodyPr wrap="square" lIns="0" tIns="0" rIns="0" bIns="0" rtlCol="0" anchor="ctr"/>
          <a:lstStyle/>
          <a:p>
            <a:pPr indent="0" marL="0">
              <a:buNone/>
            </a:pPr>
            <a:r>
              <a:rPr lang="en-US" sz="1300" b="1" dirty="0">
                <a:solidFill>
                  <a:srgbClr val="1A1A1A"/>
                </a:solidFill>
                <a:latin typeface="Yu Gothic" pitchFamily="34" charset="0"/>
                <a:ea typeface="Yu Gothic" pitchFamily="34" charset="-122"/>
                <a:cs typeface="Yu Gothic" pitchFamily="34" charset="-120"/>
              </a:rPr>
              <a:t>最上流に立てる理由</a:t>
            </a:r>
            <a:endParaRPr lang="en-US" sz="1300" dirty="0"/>
          </a:p>
        </p:txBody>
      </p:sp>
      <p:sp>
        <p:nvSpPr>
          <p:cNvPr id="12" name="Text 9"/>
          <p:cNvSpPr/>
          <p:nvPr/>
        </p:nvSpPr>
        <p:spPr>
          <a:xfrm>
            <a:off x="841248" y="1920240"/>
            <a:ext cx="6035040" cy="640080"/>
          </a:xfrm>
          <a:prstGeom prst="rect">
            <a:avLst/>
          </a:prstGeom>
          <a:noFill/>
          <a:ln/>
        </p:spPr>
        <p:txBody>
          <a:bodyPr wrap="square" lIns="0" tIns="0" rIns="0" bIns="0" rtlCol="0" anchor="ctr"/>
          <a:lstStyle/>
          <a:p>
            <a:pPr marL="342900" indent="-342900">
              <a:lnSpc>
                <a:spcPts val="1300"/>
              </a:lnSpc>
              <a:spcAft>
                <a:spcPts val="200"/>
              </a:spcAft>
              <a:buSzPct val="100000"/>
              <a:buChar char="▪"/>
            </a:pPr>
            <a:r>
              <a:rPr lang="en-US" sz="980" dirty="0">
                <a:solidFill>
                  <a:srgbClr val="1A1A1A"/>
                </a:solidFill>
                <a:latin typeface="Yu Gothic" pitchFamily="34" charset="0"/>
                <a:ea typeface="Yu Gothic" pitchFamily="34" charset="-122"/>
                <a:cs typeface="Yu Gothic" pitchFamily="34" charset="-120"/>
              </a:rPr>
              <a:t>創業55年の酒販業実績による、生産者・インポーターとの信頼とパイプ</a:t>
            </a:r>
            <a:endParaRPr lang="en-US" sz="980" dirty="0"/>
          </a:p>
          <a:p>
            <a:pPr marL="342900" indent="-342900">
              <a:lnSpc>
                <a:spcPts val="1300"/>
              </a:lnSpc>
              <a:spcAft>
                <a:spcPts val="200"/>
              </a:spcAft>
              <a:buSzPct val="100000"/>
              <a:buChar char="▪"/>
            </a:pPr>
            <a:r>
              <a:rPr lang="en-US" sz="980" dirty="0">
                <a:solidFill>
                  <a:srgbClr val="1A1A1A"/>
                </a:solidFill>
                <a:latin typeface="Yu Gothic" pitchFamily="34" charset="0"/>
                <a:ea typeface="Yu Gothic" pitchFamily="34" charset="-122"/>
                <a:cs typeface="Yu Gothic" pitchFamily="34" charset="-120"/>
              </a:rPr>
              <a:t>国内大手インポーターとの直接取引による特価・正規品仕入</a:t>
            </a:r>
            <a:endParaRPr lang="en-US" sz="980" dirty="0"/>
          </a:p>
          <a:p>
            <a:pPr marL="342900" indent="-342900">
              <a:lnSpc>
                <a:spcPts val="1300"/>
              </a:lnSpc>
              <a:spcAft>
                <a:spcPts val="200"/>
              </a:spcAft>
              <a:buSzPct val="100000"/>
              <a:buChar char="▪"/>
            </a:pPr>
            <a:r>
              <a:rPr lang="en-US" sz="980" dirty="0">
                <a:solidFill>
                  <a:srgbClr val="1A1A1A"/>
                </a:solidFill>
                <a:latin typeface="Yu Gothic" pitchFamily="34" charset="0"/>
                <a:ea typeface="Yu Gothic" pitchFamily="34" charset="-122"/>
                <a:cs typeface="Yu Gothic" pitchFamily="34" charset="-120"/>
              </a:rPr>
              <a:t>海外輸出入ライセンスを活かした独自の仕入ネットワークと情報収集</a:t>
            </a:r>
            <a:endParaRPr lang="en-US" sz="980" dirty="0"/>
          </a:p>
        </p:txBody>
      </p:sp>
      <p:sp>
        <p:nvSpPr>
          <p:cNvPr id="13" name="Shape 10"/>
          <p:cNvSpPr/>
          <p:nvPr/>
        </p:nvSpPr>
        <p:spPr>
          <a:xfrm>
            <a:off x="984352" y="4315968"/>
            <a:ext cx="10222992" cy="0"/>
          </a:xfrm>
          <a:prstGeom prst="line">
            <a:avLst/>
          </a:prstGeom>
          <a:noFill/>
          <a:ln w="12700">
            <a:solidFill>
              <a:srgbClr val="DDE0E2"/>
            </a:solidFill>
            <a:prstDash val="solid"/>
          </a:ln>
        </p:spPr>
      </p:sp>
      <p:sp>
        <p:nvSpPr>
          <p:cNvPr id="14" name="Shape 11"/>
          <p:cNvSpPr/>
          <p:nvPr/>
        </p:nvSpPr>
        <p:spPr>
          <a:xfrm>
            <a:off x="1258672" y="4042867"/>
            <a:ext cx="1481328" cy="273101"/>
          </a:xfrm>
          <a:prstGeom prst="rect">
            <a:avLst/>
          </a:prstGeom>
          <a:solidFill>
            <a:srgbClr val="C68A65"/>
          </a:solidFill>
          <a:ln w="12700">
            <a:solidFill>
              <a:srgbClr val="333333"/>
            </a:solidFill>
            <a:prstDash val="solid"/>
          </a:ln>
        </p:spPr>
      </p:sp>
      <p:sp>
        <p:nvSpPr>
          <p:cNvPr id="15" name="Text 12"/>
          <p:cNvSpPr/>
          <p:nvPr/>
        </p:nvSpPr>
        <p:spPr>
          <a:xfrm>
            <a:off x="1258672" y="3695395"/>
            <a:ext cx="1481328" cy="292608"/>
          </a:xfrm>
          <a:prstGeom prst="rect">
            <a:avLst/>
          </a:prstGeom>
          <a:noFill/>
          <a:ln/>
        </p:spPr>
        <p:txBody>
          <a:bodyPr wrap="square" lIns="0" tIns="0" rIns="0" bIns="0" rtlCol="0" anchor="ctr"/>
          <a:lstStyle/>
          <a:p>
            <a:pPr algn="ctr" indent="0" marL="0">
              <a:buNone/>
            </a:pPr>
            <a:r>
              <a:rPr lang="en-US" sz="1500" b="1" dirty="0">
                <a:solidFill>
                  <a:srgbClr val="A06D4C"/>
                </a:solidFill>
                <a:latin typeface="Yu Gothic" pitchFamily="34" charset="0"/>
                <a:ea typeface="Yu Gothic" pitchFamily="34" charset="-122"/>
                <a:cs typeface="Yu Gothic" pitchFamily="34" charset="-120"/>
              </a:rPr>
              <a:t>40</a:t>
            </a:r>
            <a:endParaRPr lang="en-US" sz="1500" dirty="0"/>
          </a:p>
        </p:txBody>
      </p:sp>
      <p:sp>
        <p:nvSpPr>
          <p:cNvPr id="16" name="Text 13"/>
          <p:cNvSpPr/>
          <p:nvPr/>
        </p:nvSpPr>
        <p:spPr>
          <a:xfrm>
            <a:off x="1258672" y="4407408"/>
            <a:ext cx="1481328" cy="457200"/>
          </a:xfrm>
          <a:prstGeom prst="rect">
            <a:avLst/>
          </a:prstGeom>
          <a:noFill/>
          <a:ln/>
        </p:spPr>
        <p:txBody>
          <a:bodyPr wrap="square" lIns="0" tIns="0" rIns="0" bIns="0" rtlCol="0" anchor="ctr"/>
          <a:lstStyle/>
          <a:p>
            <a:pPr algn="ctr" indent="0" marL="0">
              <a:lnSpc>
                <a:spcPts val="1350"/>
              </a:lnSpc>
              <a:buNone/>
            </a:pPr>
            <a:r>
              <a:rPr lang="en-US" sz="1000" dirty="0">
                <a:solidFill>
                  <a:srgbClr val="6E7378"/>
                </a:solidFill>
                <a:latin typeface="Yu Gothic" pitchFamily="34" charset="0"/>
                <a:ea typeface="Yu Gothic" pitchFamily="34" charset="-122"/>
                <a:cs typeface="Yu Gothic" pitchFamily="34" charset="-120"/>
              </a:rPr>
              <a:t>インポーター</a:t>
            </a:r>
            <a:endParaRPr lang="en-US" sz="1000" dirty="0"/>
          </a:p>
          <a:p>
            <a:pPr algn="ctr" indent="0" marL="0">
              <a:lnSpc>
                <a:spcPts val="1350"/>
              </a:lnSpc>
              <a:buNone/>
            </a:pPr>
            <a:r>
              <a:rPr lang="en-US" sz="1000" dirty="0">
                <a:solidFill>
                  <a:srgbClr val="6E7378"/>
                </a:solidFill>
                <a:latin typeface="Yu Gothic" pitchFamily="34" charset="0"/>
                <a:ea typeface="Yu Gothic" pitchFamily="34" charset="-122"/>
                <a:cs typeface="Yu Gothic" pitchFamily="34" charset="-120"/>
              </a:rPr>
              <a:t>仕入価格</a:t>
            </a:r>
            <a:endParaRPr lang="en-US" sz="1000" dirty="0"/>
          </a:p>
        </p:txBody>
      </p:sp>
      <p:sp>
        <p:nvSpPr>
          <p:cNvPr id="17" name="Text 14"/>
          <p:cNvSpPr/>
          <p:nvPr/>
        </p:nvSpPr>
        <p:spPr>
          <a:xfrm>
            <a:off x="1075792" y="3366211"/>
            <a:ext cx="1847088" cy="274320"/>
          </a:xfrm>
          <a:prstGeom prst="rect">
            <a:avLst/>
          </a:prstGeom>
          <a:noFill/>
          <a:ln/>
        </p:spPr>
        <p:txBody>
          <a:bodyPr wrap="square" lIns="0" tIns="0" rIns="0" bIns="0" rtlCol="0" anchor="ctr"/>
          <a:lstStyle/>
          <a:p>
            <a:pPr algn="ctr" indent="0" marL="0">
              <a:buNone/>
            </a:pPr>
            <a:r>
              <a:rPr lang="en-US" sz="1100" b="1" dirty="0">
                <a:solidFill>
                  <a:srgbClr val="A06D4C"/>
                </a:solidFill>
                <a:latin typeface="Yu Gothic" pitchFamily="34" charset="0"/>
                <a:ea typeface="Yu Gothic" pitchFamily="34" charset="-122"/>
                <a:cs typeface="Yu Gothic" pitchFamily="34" charset="-120"/>
              </a:rPr>
              <a:t>WineBank はここ</a:t>
            </a:r>
            <a:endParaRPr lang="en-US" sz="1100" dirty="0"/>
          </a:p>
        </p:txBody>
      </p:sp>
      <p:sp>
        <p:nvSpPr>
          <p:cNvPr id="18" name="Shape 15"/>
          <p:cNvSpPr/>
          <p:nvPr/>
        </p:nvSpPr>
        <p:spPr>
          <a:xfrm>
            <a:off x="3306928" y="3906317"/>
            <a:ext cx="1481328" cy="409651"/>
          </a:xfrm>
          <a:prstGeom prst="rect">
            <a:avLst/>
          </a:prstGeom>
          <a:solidFill>
            <a:srgbClr val="9AA1A6"/>
          </a:solidFill>
          <a:ln w="12700">
            <a:solidFill>
              <a:srgbClr val="333333"/>
            </a:solidFill>
            <a:prstDash val="solid"/>
          </a:ln>
        </p:spPr>
      </p:sp>
      <p:sp>
        <p:nvSpPr>
          <p:cNvPr id="19" name="Text 16"/>
          <p:cNvSpPr/>
          <p:nvPr/>
        </p:nvSpPr>
        <p:spPr>
          <a:xfrm>
            <a:off x="3306928" y="3558845"/>
            <a:ext cx="1481328" cy="292608"/>
          </a:xfrm>
          <a:prstGeom prst="rect">
            <a:avLst/>
          </a:prstGeom>
          <a:noFill/>
          <a:ln/>
        </p:spPr>
        <p:txBody>
          <a:bodyPr wrap="square" lIns="0" tIns="0" rIns="0" bIns="0" rtlCol="0" anchor="ctr"/>
          <a:lstStyle/>
          <a:p>
            <a:pPr algn="ctr" indent="0" marL="0">
              <a:buNone/>
            </a:pPr>
            <a:r>
              <a:rPr lang="en-US" sz="1500" b="1" dirty="0">
                <a:solidFill>
                  <a:srgbClr val="1A1A1A"/>
                </a:solidFill>
                <a:latin typeface="Yu Gothic" pitchFamily="34" charset="0"/>
                <a:ea typeface="Yu Gothic" pitchFamily="34" charset="-122"/>
                <a:cs typeface="Yu Gothic" pitchFamily="34" charset="-120"/>
              </a:rPr>
              <a:t>60</a:t>
            </a:r>
            <a:endParaRPr lang="en-US" sz="1500" dirty="0"/>
          </a:p>
        </p:txBody>
      </p:sp>
      <p:sp>
        <p:nvSpPr>
          <p:cNvPr id="20" name="Text 17"/>
          <p:cNvSpPr/>
          <p:nvPr/>
        </p:nvSpPr>
        <p:spPr>
          <a:xfrm>
            <a:off x="3306928" y="4407408"/>
            <a:ext cx="1481328" cy="457200"/>
          </a:xfrm>
          <a:prstGeom prst="rect">
            <a:avLst/>
          </a:prstGeom>
          <a:noFill/>
          <a:ln/>
        </p:spPr>
        <p:txBody>
          <a:bodyPr wrap="square" lIns="0" tIns="0" rIns="0" bIns="0" rtlCol="0" anchor="ctr"/>
          <a:lstStyle/>
          <a:p>
            <a:pPr algn="ctr" indent="0" marL="0">
              <a:lnSpc>
                <a:spcPts val="1350"/>
              </a:lnSpc>
              <a:buNone/>
            </a:pPr>
            <a:r>
              <a:rPr lang="en-US" sz="1000" dirty="0">
                <a:solidFill>
                  <a:srgbClr val="6E7378"/>
                </a:solidFill>
                <a:latin typeface="Yu Gothic" pitchFamily="34" charset="0"/>
                <a:ea typeface="Yu Gothic" pitchFamily="34" charset="-122"/>
                <a:cs typeface="Yu Gothic" pitchFamily="34" charset="-120"/>
              </a:rPr>
              <a:t>酒販店①</a:t>
            </a:r>
            <a:endParaRPr lang="en-US" sz="1000" dirty="0"/>
          </a:p>
          <a:p>
            <a:pPr algn="ctr" indent="0" marL="0">
              <a:lnSpc>
                <a:spcPts val="1350"/>
              </a:lnSpc>
              <a:buNone/>
            </a:pPr>
            <a:r>
              <a:rPr lang="en-US" sz="1000" dirty="0">
                <a:solidFill>
                  <a:srgbClr val="6E7378"/>
                </a:solidFill>
                <a:latin typeface="Yu Gothic" pitchFamily="34" charset="0"/>
                <a:ea typeface="Yu Gothic" pitchFamily="34" charset="-122"/>
                <a:cs typeface="Yu Gothic" pitchFamily="34" charset="-120"/>
              </a:rPr>
              <a:t>仕入価格</a:t>
            </a:r>
            <a:endParaRPr lang="en-US" sz="1000" dirty="0"/>
          </a:p>
        </p:txBody>
      </p:sp>
      <p:sp>
        <p:nvSpPr>
          <p:cNvPr id="21" name="Shape 18"/>
          <p:cNvSpPr/>
          <p:nvPr/>
        </p:nvSpPr>
        <p:spPr>
          <a:xfrm>
            <a:off x="5355184" y="3838042"/>
            <a:ext cx="1481328" cy="477926"/>
          </a:xfrm>
          <a:prstGeom prst="rect">
            <a:avLst/>
          </a:prstGeom>
          <a:solidFill>
            <a:srgbClr val="9AA1A6"/>
          </a:solidFill>
          <a:ln w="12700">
            <a:solidFill>
              <a:srgbClr val="333333"/>
            </a:solidFill>
            <a:prstDash val="solid"/>
          </a:ln>
        </p:spPr>
      </p:sp>
      <p:sp>
        <p:nvSpPr>
          <p:cNvPr id="22" name="Text 19"/>
          <p:cNvSpPr/>
          <p:nvPr/>
        </p:nvSpPr>
        <p:spPr>
          <a:xfrm>
            <a:off x="5355184" y="3490570"/>
            <a:ext cx="1481328" cy="292608"/>
          </a:xfrm>
          <a:prstGeom prst="rect">
            <a:avLst/>
          </a:prstGeom>
          <a:noFill/>
          <a:ln/>
        </p:spPr>
        <p:txBody>
          <a:bodyPr wrap="square" lIns="0" tIns="0" rIns="0" bIns="0" rtlCol="0" anchor="ctr"/>
          <a:lstStyle/>
          <a:p>
            <a:pPr algn="ctr" indent="0" marL="0">
              <a:buNone/>
            </a:pPr>
            <a:r>
              <a:rPr lang="en-US" sz="1500" b="1" dirty="0">
                <a:solidFill>
                  <a:srgbClr val="1A1A1A"/>
                </a:solidFill>
                <a:latin typeface="Yu Gothic" pitchFamily="34" charset="0"/>
                <a:ea typeface="Yu Gothic" pitchFamily="34" charset="-122"/>
                <a:cs typeface="Yu Gothic" pitchFamily="34" charset="-120"/>
              </a:rPr>
              <a:t>70</a:t>
            </a:r>
            <a:endParaRPr lang="en-US" sz="1500" dirty="0"/>
          </a:p>
        </p:txBody>
      </p:sp>
      <p:sp>
        <p:nvSpPr>
          <p:cNvPr id="23" name="Text 20"/>
          <p:cNvSpPr/>
          <p:nvPr/>
        </p:nvSpPr>
        <p:spPr>
          <a:xfrm>
            <a:off x="5355184" y="4407408"/>
            <a:ext cx="1481328" cy="457200"/>
          </a:xfrm>
          <a:prstGeom prst="rect">
            <a:avLst/>
          </a:prstGeom>
          <a:noFill/>
          <a:ln/>
        </p:spPr>
        <p:txBody>
          <a:bodyPr wrap="square" lIns="0" tIns="0" rIns="0" bIns="0" rtlCol="0" anchor="ctr"/>
          <a:lstStyle/>
          <a:p>
            <a:pPr algn="ctr" indent="0" marL="0">
              <a:lnSpc>
                <a:spcPts val="1350"/>
              </a:lnSpc>
              <a:buNone/>
            </a:pPr>
            <a:r>
              <a:rPr lang="en-US" sz="1000" dirty="0">
                <a:solidFill>
                  <a:srgbClr val="6E7378"/>
                </a:solidFill>
                <a:latin typeface="Yu Gothic" pitchFamily="34" charset="0"/>
                <a:ea typeface="Yu Gothic" pitchFamily="34" charset="-122"/>
                <a:cs typeface="Yu Gothic" pitchFamily="34" charset="-120"/>
              </a:rPr>
              <a:t>酒販店②</a:t>
            </a:r>
            <a:endParaRPr lang="en-US" sz="1000" dirty="0"/>
          </a:p>
          <a:p>
            <a:pPr algn="ctr" indent="0" marL="0">
              <a:lnSpc>
                <a:spcPts val="1350"/>
              </a:lnSpc>
              <a:buNone/>
            </a:pPr>
            <a:r>
              <a:rPr lang="en-US" sz="1000" dirty="0">
                <a:solidFill>
                  <a:srgbClr val="6E7378"/>
                </a:solidFill>
                <a:latin typeface="Yu Gothic" pitchFamily="34" charset="0"/>
                <a:ea typeface="Yu Gothic" pitchFamily="34" charset="-122"/>
                <a:cs typeface="Yu Gothic" pitchFamily="34" charset="-120"/>
              </a:rPr>
              <a:t>仕入価格</a:t>
            </a:r>
            <a:endParaRPr lang="en-US" sz="1000" dirty="0"/>
          </a:p>
        </p:txBody>
      </p:sp>
      <p:sp>
        <p:nvSpPr>
          <p:cNvPr id="24" name="Shape 21"/>
          <p:cNvSpPr/>
          <p:nvPr/>
        </p:nvSpPr>
        <p:spPr>
          <a:xfrm>
            <a:off x="7403440" y="3633216"/>
            <a:ext cx="1481328" cy="682752"/>
          </a:xfrm>
          <a:prstGeom prst="rect">
            <a:avLst/>
          </a:prstGeom>
          <a:solidFill>
            <a:srgbClr val="9AA1A6"/>
          </a:solidFill>
          <a:ln w="12700">
            <a:solidFill>
              <a:srgbClr val="333333"/>
            </a:solidFill>
            <a:prstDash val="solid"/>
          </a:ln>
        </p:spPr>
      </p:sp>
      <p:sp>
        <p:nvSpPr>
          <p:cNvPr id="25" name="Text 22"/>
          <p:cNvSpPr/>
          <p:nvPr/>
        </p:nvSpPr>
        <p:spPr>
          <a:xfrm>
            <a:off x="7403440" y="3285744"/>
            <a:ext cx="1481328" cy="292608"/>
          </a:xfrm>
          <a:prstGeom prst="rect">
            <a:avLst/>
          </a:prstGeom>
          <a:noFill/>
          <a:ln/>
        </p:spPr>
        <p:txBody>
          <a:bodyPr wrap="square" lIns="0" tIns="0" rIns="0" bIns="0" rtlCol="0" anchor="ctr"/>
          <a:lstStyle/>
          <a:p>
            <a:pPr algn="ctr" indent="0" marL="0">
              <a:buNone/>
            </a:pPr>
            <a:r>
              <a:rPr lang="en-US" sz="1500" b="1" dirty="0">
                <a:solidFill>
                  <a:srgbClr val="1A1A1A"/>
                </a:solidFill>
                <a:latin typeface="Yu Gothic" pitchFamily="34" charset="0"/>
                <a:ea typeface="Yu Gothic" pitchFamily="34" charset="-122"/>
                <a:cs typeface="Yu Gothic" pitchFamily="34" charset="-120"/>
              </a:rPr>
              <a:t>80〜100</a:t>
            </a:r>
            <a:endParaRPr lang="en-US" sz="1500" dirty="0"/>
          </a:p>
        </p:txBody>
      </p:sp>
      <p:sp>
        <p:nvSpPr>
          <p:cNvPr id="26" name="Text 23"/>
          <p:cNvSpPr/>
          <p:nvPr/>
        </p:nvSpPr>
        <p:spPr>
          <a:xfrm>
            <a:off x="7403440" y="4407408"/>
            <a:ext cx="1481328" cy="457200"/>
          </a:xfrm>
          <a:prstGeom prst="rect">
            <a:avLst/>
          </a:prstGeom>
          <a:noFill/>
          <a:ln/>
        </p:spPr>
        <p:txBody>
          <a:bodyPr wrap="square" lIns="0" tIns="0" rIns="0" bIns="0" rtlCol="0" anchor="ctr"/>
          <a:lstStyle/>
          <a:p>
            <a:pPr algn="ctr" indent="0" marL="0">
              <a:lnSpc>
                <a:spcPts val="1350"/>
              </a:lnSpc>
              <a:buNone/>
            </a:pPr>
            <a:r>
              <a:rPr lang="en-US" sz="1000" dirty="0">
                <a:solidFill>
                  <a:srgbClr val="6E7378"/>
                </a:solidFill>
                <a:latin typeface="Yu Gothic" pitchFamily="34" charset="0"/>
                <a:ea typeface="Yu Gothic" pitchFamily="34" charset="-122"/>
                <a:cs typeface="Yu Gothic" pitchFamily="34" charset="-120"/>
              </a:rPr>
              <a:t>一般消費者</a:t>
            </a:r>
            <a:endParaRPr lang="en-US" sz="1000" dirty="0"/>
          </a:p>
          <a:p>
            <a:pPr algn="ctr" indent="0" marL="0">
              <a:lnSpc>
                <a:spcPts val="1350"/>
              </a:lnSpc>
              <a:buNone/>
            </a:pPr>
            <a:r>
              <a:rPr lang="en-US" sz="1000" dirty="0">
                <a:solidFill>
                  <a:srgbClr val="6E7378"/>
                </a:solidFill>
                <a:latin typeface="Yu Gothic" pitchFamily="34" charset="0"/>
                <a:ea typeface="Yu Gothic" pitchFamily="34" charset="-122"/>
                <a:cs typeface="Yu Gothic" pitchFamily="34" charset="-120"/>
              </a:rPr>
              <a:t>購入価格</a:t>
            </a:r>
            <a:endParaRPr lang="en-US" sz="1000" dirty="0"/>
          </a:p>
        </p:txBody>
      </p:sp>
      <p:sp>
        <p:nvSpPr>
          <p:cNvPr id="27" name="Shape 24"/>
          <p:cNvSpPr/>
          <p:nvPr/>
        </p:nvSpPr>
        <p:spPr>
          <a:xfrm>
            <a:off x="9451696" y="2267712"/>
            <a:ext cx="1481328" cy="1024128"/>
          </a:xfrm>
          <a:prstGeom prst="rect">
            <a:avLst/>
          </a:prstGeom>
          <a:solidFill>
            <a:srgbClr val="2F3941">
              <a:alpha val="45000"/>
            </a:srgbClr>
          </a:solidFill>
          <a:ln w="12700">
            <a:solidFill>
              <a:srgbClr val="333333"/>
            </a:solidFill>
            <a:prstDash val="solid"/>
          </a:ln>
        </p:spPr>
      </p:sp>
      <p:sp>
        <p:nvSpPr>
          <p:cNvPr id="28" name="Shape 25"/>
          <p:cNvSpPr/>
          <p:nvPr/>
        </p:nvSpPr>
        <p:spPr>
          <a:xfrm>
            <a:off x="9451696" y="3291840"/>
            <a:ext cx="1481328" cy="1024128"/>
          </a:xfrm>
          <a:prstGeom prst="rect">
            <a:avLst/>
          </a:prstGeom>
          <a:solidFill>
            <a:srgbClr val="2F3941"/>
          </a:solidFill>
          <a:ln w="12700">
            <a:solidFill>
              <a:srgbClr val="333333"/>
            </a:solidFill>
            <a:prstDash val="solid"/>
          </a:ln>
        </p:spPr>
      </p:sp>
      <p:sp>
        <p:nvSpPr>
          <p:cNvPr id="29" name="Text 26"/>
          <p:cNvSpPr/>
          <p:nvPr/>
        </p:nvSpPr>
        <p:spPr>
          <a:xfrm>
            <a:off x="9451696" y="1920240"/>
            <a:ext cx="1481328" cy="292608"/>
          </a:xfrm>
          <a:prstGeom prst="rect">
            <a:avLst/>
          </a:prstGeom>
          <a:noFill/>
          <a:ln/>
        </p:spPr>
        <p:txBody>
          <a:bodyPr wrap="square" lIns="0" tIns="0" rIns="0" bIns="0" rtlCol="0" anchor="ctr"/>
          <a:lstStyle/>
          <a:p>
            <a:pPr algn="ctr" indent="0" marL="0">
              <a:buNone/>
            </a:pPr>
            <a:r>
              <a:rPr lang="en-US" sz="1500" b="1" dirty="0">
                <a:solidFill>
                  <a:srgbClr val="1A1A1A"/>
                </a:solidFill>
                <a:latin typeface="Yu Gothic" pitchFamily="34" charset="0"/>
                <a:ea typeface="Yu Gothic" pitchFamily="34" charset="-122"/>
                <a:cs typeface="Yu Gothic" pitchFamily="34" charset="-120"/>
              </a:rPr>
              <a:t>150〜300</a:t>
            </a:r>
            <a:endParaRPr lang="en-US" sz="1500" dirty="0"/>
          </a:p>
        </p:txBody>
      </p:sp>
      <p:sp>
        <p:nvSpPr>
          <p:cNvPr id="30" name="Text 27"/>
          <p:cNvSpPr/>
          <p:nvPr/>
        </p:nvSpPr>
        <p:spPr>
          <a:xfrm>
            <a:off x="9451696" y="4407408"/>
            <a:ext cx="1481328" cy="457200"/>
          </a:xfrm>
          <a:prstGeom prst="rect">
            <a:avLst/>
          </a:prstGeom>
          <a:noFill/>
          <a:ln/>
        </p:spPr>
        <p:txBody>
          <a:bodyPr wrap="square" lIns="0" tIns="0" rIns="0" bIns="0" rtlCol="0" anchor="ctr"/>
          <a:lstStyle/>
          <a:p>
            <a:pPr algn="ctr" indent="0" marL="0">
              <a:lnSpc>
                <a:spcPts val="1350"/>
              </a:lnSpc>
              <a:buNone/>
            </a:pPr>
            <a:r>
              <a:rPr lang="en-US" sz="1000" dirty="0">
                <a:solidFill>
                  <a:srgbClr val="6E7378"/>
                </a:solidFill>
                <a:latin typeface="Yu Gothic" pitchFamily="34" charset="0"/>
                <a:ea typeface="Yu Gothic" pitchFamily="34" charset="-122"/>
                <a:cs typeface="Yu Gothic" pitchFamily="34" charset="-120"/>
              </a:rPr>
              <a:t>レストラン</a:t>
            </a:r>
            <a:endParaRPr lang="en-US" sz="1000" dirty="0"/>
          </a:p>
          <a:p>
            <a:pPr algn="ctr" indent="0" marL="0">
              <a:lnSpc>
                <a:spcPts val="1350"/>
              </a:lnSpc>
              <a:buNone/>
            </a:pPr>
            <a:r>
              <a:rPr lang="en-US" sz="1000" dirty="0">
                <a:solidFill>
                  <a:srgbClr val="6E7378"/>
                </a:solidFill>
                <a:latin typeface="Yu Gothic" pitchFamily="34" charset="0"/>
                <a:ea typeface="Yu Gothic" pitchFamily="34" charset="-122"/>
                <a:cs typeface="Yu Gothic" pitchFamily="34" charset="-120"/>
              </a:rPr>
              <a:t>店頭価格</a:t>
            </a:r>
            <a:endParaRPr lang="en-US" sz="1000" dirty="0"/>
          </a:p>
        </p:txBody>
      </p:sp>
      <p:sp>
        <p:nvSpPr>
          <p:cNvPr id="31" name="Shape 28"/>
          <p:cNvSpPr/>
          <p:nvPr/>
        </p:nvSpPr>
        <p:spPr>
          <a:xfrm>
            <a:off x="566928" y="4992624"/>
            <a:ext cx="11057839" cy="932688"/>
          </a:xfrm>
          <a:prstGeom prst="roundRect">
            <a:avLst>
              <a:gd name="adj" fmla="val 4902"/>
            </a:avLst>
          </a:prstGeom>
          <a:solidFill>
            <a:srgbClr val="2F3941"/>
          </a:solidFill>
          <a:ln w="12700">
            <a:solidFill>
              <a:srgbClr val="333333"/>
            </a:solidFill>
            <a:prstDash val="solid"/>
          </a:ln>
        </p:spPr>
      </p:sp>
      <p:sp>
        <p:nvSpPr>
          <p:cNvPr id="32" name="Text 29"/>
          <p:cNvSpPr/>
          <p:nvPr/>
        </p:nvSpPr>
        <p:spPr>
          <a:xfrm>
            <a:off x="877824" y="4992624"/>
            <a:ext cx="4023360" cy="932688"/>
          </a:xfrm>
          <a:prstGeom prst="rect">
            <a:avLst/>
          </a:prstGeom>
          <a:noFill/>
          <a:ln/>
        </p:spPr>
        <p:txBody>
          <a:bodyPr wrap="square" lIns="0" tIns="0" rIns="0" bIns="0" rtlCol="0" anchor="ctr"/>
          <a:lstStyle/>
          <a:p>
            <a:pPr indent="0" marL="0">
              <a:lnSpc>
                <a:spcPts val="2100"/>
              </a:lnSpc>
              <a:buNone/>
            </a:pPr>
            <a:r>
              <a:rPr lang="en-US" sz="1500" b="1" dirty="0">
                <a:solidFill>
                  <a:srgbClr val="EFDCCE"/>
                </a:solidFill>
                <a:latin typeface="Yu Gothic" pitchFamily="34" charset="0"/>
                <a:ea typeface="Yu Gothic" pitchFamily="34" charset="-122"/>
                <a:cs typeface="Yu Gothic" pitchFamily="34" charset="-120"/>
              </a:rPr>
              <a:t>レストラン店頭価格の</a:t>
            </a:r>
            <a:endParaRPr lang="en-US" sz="1500" dirty="0"/>
          </a:p>
          <a:p>
            <a:pPr indent="0" marL="0">
              <a:lnSpc>
                <a:spcPts val="2100"/>
              </a:lnSpc>
              <a:buNone/>
            </a:pPr>
            <a:r>
              <a:rPr lang="en-US" sz="1500" b="1" dirty="0">
                <a:solidFill>
                  <a:srgbClr val="EFDCCE"/>
                </a:solidFill>
                <a:latin typeface="Yu Gothic" pitchFamily="34" charset="0"/>
                <a:ea typeface="Yu Gothic" pitchFamily="34" charset="-122"/>
                <a:cs typeface="Yu Gothic" pitchFamily="34" charset="-120"/>
              </a:rPr>
              <a:t>1/4〜1/7 の水準で仕入れる。</a:t>
            </a:r>
            <a:endParaRPr lang="en-US" sz="1500" dirty="0"/>
          </a:p>
        </p:txBody>
      </p:sp>
      <p:sp>
        <p:nvSpPr>
          <p:cNvPr id="33" name="Text 30"/>
          <p:cNvSpPr/>
          <p:nvPr/>
        </p:nvSpPr>
        <p:spPr>
          <a:xfrm>
            <a:off x="5230368" y="5138928"/>
            <a:ext cx="2121408" cy="256032"/>
          </a:xfrm>
          <a:prstGeom prst="rect">
            <a:avLst/>
          </a:prstGeom>
          <a:noFill/>
          <a:ln/>
        </p:spPr>
        <p:txBody>
          <a:bodyPr wrap="square" lIns="0" tIns="0" rIns="0" bIns="0" rtlCol="0" anchor="ctr"/>
          <a:lstStyle/>
          <a:p>
            <a:pPr indent="0" marL="0">
              <a:buNone/>
            </a:pPr>
            <a:r>
              <a:rPr lang="en-US" sz="1050" b="1" dirty="0">
                <a:solidFill>
                  <a:srgbClr val="FFFFFF"/>
                </a:solidFill>
                <a:latin typeface="Yu Gothic" pitchFamily="34" charset="0"/>
                <a:ea typeface="Yu Gothic" pitchFamily="34" charset="-122"/>
                <a:cs typeface="Yu Gothic" pitchFamily="34" charset="-120"/>
              </a:rPr>
              <a:t>飲食店は卸値で仕入れられる</a:t>
            </a:r>
            <a:endParaRPr lang="en-US" sz="1050" dirty="0"/>
          </a:p>
        </p:txBody>
      </p:sp>
      <p:sp>
        <p:nvSpPr>
          <p:cNvPr id="34" name="Text 31"/>
          <p:cNvSpPr/>
          <p:nvPr/>
        </p:nvSpPr>
        <p:spPr>
          <a:xfrm>
            <a:off x="5230368" y="5413248"/>
            <a:ext cx="2121408" cy="438912"/>
          </a:xfrm>
          <a:prstGeom prst="rect">
            <a:avLst/>
          </a:prstGeom>
          <a:noFill/>
          <a:ln/>
        </p:spPr>
        <p:txBody>
          <a:bodyPr wrap="square" lIns="0" tIns="0" rIns="0" bIns="0" rtlCol="0" anchor="ctr"/>
          <a:lstStyle/>
          <a:p>
            <a:pPr indent="0" marL="0">
              <a:lnSpc>
                <a:spcPts val="1250"/>
              </a:lnSpc>
              <a:buNone/>
            </a:pPr>
            <a:r>
              <a:rPr lang="en-US" sz="900" dirty="0">
                <a:solidFill>
                  <a:srgbClr val="B9BEC2"/>
                </a:solidFill>
                <a:latin typeface="Yu Gothic" pitchFamily="34" charset="0"/>
                <a:ea typeface="Yu Gothic" pitchFamily="34" charset="-122"/>
                <a:cs typeface="Yu Gothic" pitchFamily="34" charset="-120"/>
              </a:rPr>
              <a:t>在庫を持たずに、店内価格の</a:t>
            </a:r>
            <a:endParaRPr lang="en-US" sz="900" dirty="0"/>
          </a:p>
          <a:p>
            <a:pPr indent="0" marL="0">
              <a:lnSpc>
                <a:spcPts val="1250"/>
              </a:lnSpc>
              <a:buNone/>
            </a:pPr>
            <a:r>
              <a:rPr lang="en-US" sz="900" dirty="0">
                <a:solidFill>
                  <a:srgbClr val="B9BEC2"/>
                </a:solidFill>
                <a:latin typeface="Yu Gothic" pitchFamily="34" charset="0"/>
                <a:ea typeface="Yu Gothic" pitchFamily="34" charset="-122"/>
                <a:cs typeface="Yu Gothic" pitchFamily="34" charset="-120"/>
              </a:rPr>
              <a:t>数分の一で調達できる</a:t>
            </a:r>
            <a:endParaRPr lang="en-US" sz="900" dirty="0"/>
          </a:p>
        </p:txBody>
      </p:sp>
      <p:sp>
        <p:nvSpPr>
          <p:cNvPr id="35" name="Text 32"/>
          <p:cNvSpPr/>
          <p:nvPr/>
        </p:nvSpPr>
        <p:spPr>
          <a:xfrm>
            <a:off x="7443216" y="5138928"/>
            <a:ext cx="2121408" cy="256032"/>
          </a:xfrm>
          <a:prstGeom prst="rect">
            <a:avLst/>
          </a:prstGeom>
          <a:noFill/>
          <a:ln/>
        </p:spPr>
        <p:txBody>
          <a:bodyPr wrap="square" lIns="0" tIns="0" rIns="0" bIns="0" rtlCol="0" anchor="ctr"/>
          <a:lstStyle/>
          <a:p>
            <a:pPr indent="0" marL="0">
              <a:buNone/>
            </a:pPr>
            <a:r>
              <a:rPr lang="en-US" sz="1050" b="1" dirty="0">
                <a:solidFill>
                  <a:srgbClr val="FFFFFF"/>
                </a:solidFill>
                <a:latin typeface="Yu Gothic" pitchFamily="34" charset="0"/>
                <a:ea typeface="Yu Gothic" pitchFamily="34" charset="-122"/>
                <a:cs typeface="Yu Gothic" pitchFamily="34" charset="-120"/>
              </a:rPr>
              <a:t>居住者にも余力を渡せる</a:t>
            </a:r>
            <a:endParaRPr lang="en-US" sz="1050" dirty="0"/>
          </a:p>
        </p:txBody>
      </p:sp>
      <p:sp>
        <p:nvSpPr>
          <p:cNvPr id="36" name="Text 33"/>
          <p:cNvSpPr/>
          <p:nvPr/>
        </p:nvSpPr>
        <p:spPr>
          <a:xfrm>
            <a:off x="7443216" y="5413248"/>
            <a:ext cx="2121408" cy="438912"/>
          </a:xfrm>
          <a:prstGeom prst="rect">
            <a:avLst/>
          </a:prstGeom>
          <a:noFill/>
          <a:ln/>
        </p:spPr>
        <p:txBody>
          <a:bodyPr wrap="square" lIns="0" tIns="0" rIns="0" bIns="0" rtlCol="0" anchor="ctr"/>
          <a:lstStyle/>
          <a:p>
            <a:pPr indent="0" marL="0">
              <a:lnSpc>
                <a:spcPts val="1250"/>
              </a:lnSpc>
              <a:buNone/>
            </a:pPr>
            <a:r>
              <a:rPr lang="en-US" sz="900" dirty="0">
                <a:solidFill>
                  <a:srgbClr val="B9BEC2"/>
                </a:solidFill>
                <a:latin typeface="Yu Gothic" pitchFamily="34" charset="0"/>
                <a:ea typeface="Yu Gothic" pitchFamily="34" charset="-122"/>
                <a:cs typeface="Yu Gothic" pitchFamily="34" charset="-120"/>
              </a:rPr>
              <a:t>卸値×1.1でも、市中の</a:t>
            </a:r>
            <a:endParaRPr lang="en-US" sz="900" dirty="0"/>
          </a:p>
          <a:p>
            <a:pPr indent="0" marL="0">
              <a:lnSpc>
                <a:spcPts val="1250"/>
              </a:lnSpc>
              <a:buNone/>
            </a:pPr>
            <a:r>
              <a:rPr lang="en-US" sz="900" dirty="0">
                <a:solidFill>
                  <a:srgbClr val="B9BEC2"/>
                </a:solidFill>
                <a:latin typeface="Yu Gothic" pitchFamily="34" charset="0"/>
                <a:ea typeface="Yu Gothic" pitchFamily="34" charset="-122"/>
                <a:cs typeface="Yu Gothic" pitchFamily="34" charset="-120"/>
              </a:rPr>
              <a:t>どの価格帯より有利</a:t>
            </a:r>
            <a:endParaRPr lang="en-US" sz="900" dirty="0"/>
          </a:p>
        </p:txBody>
      </p:sp>
      <p:sp>
        <p:nvSpPr>
          <p:cNvPr id="37" name="Text 34"/>
          <p:cNvSpPr/>
          <p:nvPr/>
        </p:nvSpPr>
        <p:spPr>
          <a:xfrm>
            <a:off x="9656064" y="5138928"/>
            <a:ext cx="2121408" cy="256032"/>
          </a:xfrm>
          <a:prstGeom prst="rect">
            <a:avLst/>
          </a:prstGeom>
          <a:noFill/>
          <a:ln/>
        </p:spPr>
        <p:txBody>
          <a:bodyPr wrap="square" lIns="0" tIns="0" rIns="0" bIns="0" rtlCol="0" anchor="ctr"/>
          <a:lstStyle/>
          <a:p>
            <a:pPr indent="0" marL="0">
              <a:buNone/>
            </a:pPr>
            <a:r>
              <a:rPr lang="en-US" sz="1050" b="1" dirty="0">
                <a:solidFill>
                  <a:srgbClr val="FFFFFF"/>
                </a:solidFill>
                <a:latin typeface="Yu Gothic" pitchFamily="34" charset="0"/>
                <a:ea typeface="Yu Gothic" pitchFamily="34" charset="-122"/>
                <a:cs typeface="Yu Gothic" pitchFamily="34" charset="-120"/>
              </a:rPr>
              <a:t>新規参入は追随できない</a:t>
            </a:r>
            <a:endParaRPr lang="en-US" sz="1050" dirty="0"/>
          </a:p>
        </p:txBody>
      </p:sp>
      <p:sp>
        <p:nvSpPr>
          <p:cNvPr id="38" name="Text 35"/>
          <p:cNvSpPr/>
          <p:nvPr/>
        </p:nvSpPr>
        <p:spPr>
          <a:xfrm>
            <a:off x="9656064" y="5413248"/>
            <a:ext cx="2121408" cy="438912"/>
          </a:xfrm>
          <a:prstGeom prst="rect">
            <a:avLst/>
          </a:prstGeom>
          <a:noFill/>
          <a:ln/>
        </p:spPr>
        <p:txBody>
          <a:bodyPr wrap="square" lIns="0" tIns="0" rIns="0" bIns="0" rtlCol="0" anchor="ctr"/>
          <a:lstStyle/>
          <a:p>
            <a:pPr indent="0" marL="0">
              <a:lnSpc>
                <a:spcPts val="1250"/>
              </a:lnSpc>
              <a:buNone/>
            </a:pPr>
            <a:r>
              <a:rPr lang="en-US" sz="900" dirty="0">
                <a:solidFill>
                  <a:srgbClr val="B9BEC2"/>
                </a:solidFill>
                <a:latin typeface="Yu Gothic" pitchFamily="34" charset="0"/>
                <a:ea typeface="Yu Gothic" pitchFamily="34" charset="-122"/>
                <a:cs typeface="Yu Gothic" pitchFamily="34" charset="-120"/>
              </a:rPr>
              <a:t>参入業者は「70」の</a:t>
            </a:r>
            <a:endParaRPr lang="en-US" sz="900" dirty="0"/>
          </a:p>
          <a:p>
            <a:pPr indent="0" marL="0">
              <a:lnSpc>
                <a:spcPts val="1250"/>
              </a:lnSpc>
              <a:buNone/>
            </a:pPr>
            <a:r>
              <a:rPr lang="en-US" sz="900" dirty="0">
                <a:solidFill>
                  <a:srgbClr val="B9BEC2"/>
                </a:solidFill>
                <a:latin typeface="Yu Gothic" pitchFamily="34" charset="0"/>
                <a:ea typeface="Yu Gothic" pitchFamily="34" charset="-122"/>
                <a:cs typeface="Yu Gothic" pitchFamily="34" charset="-120"/>
              </a:rPr>
              <a:t>水準からしか始まらない</a:t>
            </a:r>
            <a:endParaRPr lang="en-US" sz="900" dirty="0"/>
          </a:p>
        </p:txBody>
      </p:sp>
      <p:sp>
        <p:nvSpPr>
          <p:cNvPr id="39" name="Text 36"/>
          <p:cNvSpPr/>
          <p:nvPr/>
        </p:nvSpPr>
        <p:spPr>
          <a:xfrm>
            <a:off x="566928" y="6035040"/>
            <a:ext cx="10972800" cy="256032"/>
          </a:xfrm>
          <a:prstGeom prst="rect">
            <a:avLst/>
          </a:prstGeom>
          <a:noFill/>
          <a:ln/>
        </p:spPr>
        <p:txBody>
          <a:bodyPr wrap="square" lIns="0" tIns="0" rIns="0" bIns="0" rtlCol="0" anchor="ctr"/>
          <a:lstStyle/>
          <a:p>
            <a:pPr indent="0" marL="0">
              <a:buNone/>
            </a:pPr>
            <a:r>
              <a:rPr lang="en-US" sz="880" dirty="0">
                <a:solidFill>
                  <a:srgbClr val="A6ABAF"/>
                </a:solidFill>
                <a:latin typeface="Yu Gothic" pitchFamily="34" charset="0"/>
                <a:ea typeface="Yu Gothic" pitchFamily="34" charset="-122"/>
                <a:cs typeface="Yu Gothic" pitchFamily="34" charset="-120"/>
              </a:rPr>
              <a:t>※ 希望小売価格を100とした相対指数。ネット最安値／並行輸入価格は概ね80の水準。出典：当社資料。</a:t>
            </a:r>
            <a:endParaRPr lang="en-US" sz="88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381183" y="292608"/>
            <a:ext cx="1243584" cy="247802"/>
          </a:xfrm>
          <a:prstGeom prst="rect">
            <a:avLst/>
          </a:prstGeom>
        </p:spPr>
      </p:pic>
      <p:sp>
        <p:nvSpPr>
          <p:cNvPr id="3" name="Shape 0"/>
          <p:cNvSpPr/>
          <p:nvPr/>
        </p:nvSpPr>
        <p:spPr>
          <a:xfrm>
            <a:off x="566928" y="292608"/>
            <a:ext cx="950976" cy="237744"/>
          </a:xfrm>
          <a:prstGeom prst="roundRect">
            <a:avLst>
              <a:gd name="adj" fmla="val 11538"/>
            </a:avLst>
          </a:prstGeom>
          <a:solidFill>
            <a:srgbClr val="C68A65"/>
          </a:solidFill>
          <a:ln w="12700">
            <a:solidFill>
              <a:srgbClr val="333333"/>
            </a:solidFill>
            <a:prstDash val="solid"/>
          </a:ln>
        </p:spPr>
      </p:sp>
      <p:sp>
        <p:nvSpPr>
          <p:cNvPr id="4" name="Text 1"/>
          <p:cNvSpPr/>
          <p:nvPr/>
        </p:nvSpPr>
        <p:spPr>
          <a:xfrm>
            <a:off x="566928" y="292608"/>
            <a:ext cx="950976"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Yu Gothic" pitchFamily="34" charset="0"/>
                <a:ea typeface="Yu Gothic" pitchFamily="34" charset="-122"/>
                <a:cs typeface="Yu Gothic" pitchFamily="34" charset="-120"/>
              </a:rPr>
              <a:t>APPENDIX</a:t>
            </a:r>
            <a:endParaRPr lang="en-US" sz="850" dirty="0"/>
          </a:p>
        </p:txBody>
      </p:sp>
      <p:sp>
        <p:nvSpPr>
          <p:cNvPr id="5" name="Text 2"/>
          <p:cNvSpPr/>
          <p:nvPr/>
        </p:nvSpPr>
        <p:spPr>
          <a:xfrm>
            <a:off x="566928" y="585216"/>
            <a:ext cx="9509760" cy="420624"/>
          </a:xfrm>
          <a:prstGeom prst="rect">
            <a:avLst/>
          </a:prstGeom>
          <a:noFill/>
          <a:ln/>
        </p:spPr>
        <p:txBody>
          <a:bodyPr wrap="square" lIns="0" tIns="0" rIns="0" bIns="0" rtlCol="0" anchor="ctr"/>
          <a:lstStyle/>
          <a:p>
            <a:pPr indent="0" marL="0">
              <a:buNone/>
            </a:pPr>
            <a:r>
              <a:rPr lang="en-US" sz="2300" b="1" dirty="0">
                <a:solidFill>
                  <a:srgbClr val="1A1A1A"/>
                </a:solidFill>
                <a:latin typeface="Yu Gothic" pitchFamily="34" charset="0"/>
                <a:ea typeface="Yu Gothic" pitchFamily="34" charset="-122"/>
                <a:cs typeface="Yu Gothic" pitchFamily="34" charset="-120"/>
              </a:rPr>
              <a:t>リニューアル版 WineBank CLUB 会員特典の内訳（想定）</a:t>
            </a:r>
            <a:endParaRPr lang="en-US" sz="2300" dirty="0"/>
          </a:p>
        </p:txBody>
      </p:sp>
      <p:sp>
        <p:nvSpPr>
          <p:cNvPr id="6" name="Text 3"/>
          <p:cNvSpPr/>
          <p:nvPr/>
        </p:nvSpPr>
        <p:spPr>
          <a:xfrm>
            <a:off x="566928" y="1024128"/>
            <a:ext cx="11057839" cy="310896"/>
          </a:xfrm>
          <a:prstGeom prst="rect">
            <a:avLst/>
          </a:prstGeom>
          <a:noFill/>
          <a:ln/>
        </p:spPr>
        <p:txBody>
          <a:bodyPr wrap="square" lIns="0" tIns="0" rIns="0" bIns="0" rtlCol="0" anchor="ctr"/>
          <a:lstStyle/>
          <a:p>
            <a:pPr indent="0" marL="0">
              <a:lnSpc>
                <a:spcPts val="1700"/>
              </a:lnSpc>
              <a:buNone/>
            </a:pPr>
            <a:r>
              <a:rPr lang="en-US" sz="1150" dirty="0">
                <a:solidFill>
                  <a:srgbClr val="6E7378"/>
                </a:solidFill>
                <a:latin typeface="Yu Gothic" pitchFamily="34" charset="0"/>
                <a:ea typeface="Yu Gothic" pitchFamily="34" charset="-122"/>
                <a:cs typeface="Yu Gothic" pitchFamily="34" charset="-120"/>
              </a:rPr>
              <a:t>現行は月会費8,800円〜のプラン制です。下表はワイン預り100本を含む上位プランを想定した提供価値の内訳で、ヒルズ枠を設計する際の基準としてご参照ください。</a:t>
            </a:r>
            <a:endParaRPr lang="en-US" sz="1150" dirty="0"/>
          </a:p>
        </p:txBody>
      </p:sp>
      <p:sp>
        <p:nvSpPr>
          <p:cNvPr id="7" name="Shape 4"/>
          <p:cNvSpPr/>
          <p:nvPr/>
        </p:nvSpPr>
        <p:spPr>
          <a:xfrm>
            <a:off x="0" y="6583680"/>
            <a:ext cx="12191695" cy="274320"/>
          </a:xfrm>
          <a:prstGeom prst="rect">
            <a:avLst/>
          </a:prstGeom>
          <a:solidFill>
            <a:srgbClr val="2F3941"/>
          </a:solidFill>
          <a:ln w="12700">
            <a:solidFill>
              <a:srgbClr val="333333"/>
            </a:solidFill>
            <a:prstDash val="solid"/>
          </a:ln>
        </p:spPr>
      </p:sp>
      <p:sp>
        <p:nvSpPr>
          <p:cNvPr id="8" name="Text 5"/>
          <p:cNvSpPr/>
          <p:nvPr/>
        </p:nvSpPr>
        <p:spPr>
          <a:xfrm>
            <a:off x="10893247" y="6272784"/>
            <a:ext cx="731520" cy="256032"/>
          </a:xfrm>
          <a:prstGeom prst="rect">
            <a:avLst/>
          </a:prstGeom>
          <a:noFill/>
          <a:ln/>
        </p:spPr>
        <p:txBody>
          <a:bodyPr wrap="square" lIns="0" tIns="0" rIns="0" bIns="0" rtlCol="0" anchor="ctr"/>
          <a:lstStyle/>
          <a:p>
            <a:pPr algn="r" indent="0" marL="0">
              <a:buNone/>
            </a:pPr>
            <a:r>
              <a:rPr lang="en-US" sz="1000" dirty="0">
                <a:solidFill>
                  <a:srgbClr val="A6ABAF"/>
                </a:solidFill>
                <a:latin typeface="Calibri" pitchFamily="34" charset="0"/>
                <a:ea typeface="Calibri" pitchFamily="34" charset="-122"/>
                <a:cs typeface="Calibri" pitchFamily="34" charset="-120"/>
              </a:rPr>
              <a:t>33</a:t>
            </a:r>
            <a:endParaRPr lang="en-US" sz="1000" dirty="0"/>
          </a:p>
        </p:txBody>
      </p:sp>
      <p:sp>
        <p:nvSpPr>
          <p:cNvPr id="9" name="Text 6"/>
          <p:cNvSpPr/>
          <p:nvPr/>
        </p:nvSpPr>
        <p:spPr>
          <a:xfrm>
            <a:off x="566928" y="6272784"/>
            <a:ext cx="2926080" cy="256032"/>
          </a:xfrm>
          <a:prstGeom prst="rect">
            <a:avLst/>
          </a:prstGeom>
          <a:noFill/>
          <a:ln/>
        </p:spPr>
        <p:txBody>
          <a:bodyPr wrap="square" lIns="0" tIns="0" rIns="0" bIns="0" rtlCol="0" anchor="ctr"/>
          <a:lstStyle/>
          <a:p>
            <a:pPr indent="0" marL="0">
              <a:buNone/>
            </a:pPr>
            <a:r>
              <a:rPr lang="en-US" sz="850" spc="120" kern="0" dirty="0">
                <a:solidFill>
                  <a:srgbClr val="C7CACC"/>
                </a:solidFill>
                <a:latin typeface="Calibri" pitchFamily="34" charset="0"/>
                <a:ea typeface="Calibri" pitchFamily="34" charset="-122"/>
                <a:cs typeface="Calibri" pitchFamily="34" charset="-120"/>
              </a:rPr>
              <a:t>CONFIDENTIAL</a:t>
            </a:r>
            <a:endParaRPr lang="en-US" sz="85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66928" y="1481328"/>
          <a:ext cx="8046720" cy="914400"/>
        </p:xfrm>
        <a:graphic>
          <a:graphicData uri="http://schemas.openxmlformats.org/drawingml/2006/table">
            <a:tbl>
              <a:tblPr/>
              <a:tblGrid>
                <a:gridCol w="2615184"/>
                <a:gridCol w="3986784"/>
                <a:gridCol w="1444752"/>
              </a:tblGrid>
              <a:tr h="420624">
                <a:tc>
                  <a:txBody>
                    <a:bodyPr/>
                    <a:lstStyle/>
                    <a:p>
                      <a:pPr indent="0" marL="0">
                        <a:buNone/>
                      </a:pPr>
                      <a:r>
                        <a:rPr lang="en-US" sz="980" dirty="0">
                          <a:solidFill>
                            <a:srgbClr val="1A1A1A"/>
                          </a:solidFill>
                          <a:latin typeface="Yu Gothic" pitchFamily="34" charset="0"/>
                          <a:ea typeface="Yu Gothic" pitchFamily="34" charset="-122"/>
                          <a:cs typeface="Yu Gothic" pitchFamily="34" charset="-120"/>
                        </a:rPr>
                        <a:t>サービス</a:t>
                      </a:r>
                      <a:endParaRPr lang="en-US" sz="98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80" dirty="0">
                          <a:solidFill>
                            <a:srgbClr val="1A1A1A"/>
                          </a:solidFill>
                          <a:latin typeface="Yu Gothic" pitchFamily="34" charset="0"/>
                          <a:ea typeface="Yu Gothic" pitchFamily="34" charset="-122"/>
                          <a:cs typeface="Yu Gothic" pitchFamily="34" charset="-120"/>
                        </a:rPr>
                        <a:t>内容</a:t>
                      </a:r>
                      <a:endParaRPr lang="en-US" sz="98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80" dirty="0">
                          <a:solidFill>
                            <a:srgbClr val="1A1A1A"/>
                          </a:solidFill>
                          <a:latin typeface="Yu Gothic" pitchFamily="34" charset="0"/>
                          <a:ea typeface="Yu Gothic" pitchFamily="34" charset="-122"/>
                          <a:cs typeface="Yu Gothic" pitchFamily="34" charset="-120"/>
                        </a:rPr>
                        <a:t>相当額</a:t>
                      </a:r>
                      <a:endParaRPr lang="en-US" sz="98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r>
              <a:tr h="420624">
                <a:tc>
                  <a:txBody>
                    <a:bodyPr/>
                    <a:lstStyle/>
                    <a:p>
                      <a:pPr indent="0" marL="0">
                        <a:buNone/>
                      </a:pPr>
                      <a:r>
                        <a:rPr lang="en-US" sz="980" dirty="0">
                          <a:solidFill>
                            <a:srgbClr val="1A1A1A"/>
                          </a:solidFill>
                          <a:latin typeface="Yu Gothic" pitchFamily="34" charset="0"/>
                          <a:ea typeface="Yu Gothic" pitchFamily="34" charset="-122"/>
                          <a:cs typeface="Yu Gothic" pitchFamily="34" charset="-120"/>
                        </a:rPr>
                        <a:t>初回引取・入庫・撮影・登録</a:t>
                      </a:r>
                      <a:endParaRPr lang="en-US" sz="98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80" dirty="0">
                          <a:solidFill>
                            <a:srgbClr val="1A1A1A"/>
                          </a:solidFill>
                          <a:latin typeface="Yu Gothic" pitchFamily="34" charset="0"/>
                          <a:ea typeface="Yu Gothic" pitchFamily="34" charset="-122"/>
                          <a:cs typeface="Yu Gothic" pitchFamily="34" charset="-120"/>
                        </a:rPr>
                        <a:t>現在の保管先・ご自宅へ伺い、全ボトルを撮影・登録</a:t>
                      </a:r>
                      <a:endParaRPr lang="en-US" sz="98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80" dirty="0">
                          <a:solidFill>
                            <a:srgbClr val="1A1A1A"/>
                          </a:solidFill>
                          <a:latin typeface="Yu Gothic" pitchFamily="34" charset="0"/>
                          <a:ea typeface="Yu Gothic" pitchFamily="34" charset="-122"/>
                          <a:cs typeface="Yu Gothic" pitchFamily="34" charset="-120"/>
                        </a:rPr>
                        <a:t>100,000円</a:t>
                      </a:r>
                      <a:endParaRPr lang="en-US" sz="98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r>
              <a:tr h="420624">
                <a:tc>
                  <a:txBody>
                    <a:bodyPr/>
                    <a:lstStyle/>
                    <a:p>
                      <a:pPr indent="0" marL="0">
                        <a:buNone/>
                      </a:pPr>
                      <a:r>
                        <a:rPr lang="en-US" sz="980" dirty="0">
                          <a:solidFill>
                            <a:srgbClr val="1A1A1A"/>
                          </a:solidFill>
                          <a:latin typeface="Yu Gothic" pitchFamily="34" charset="0"/>
                          <a:ea typeface="Yu Gothic" pitchFamily="34" charset="-122"/>
                          <a:cs typeface="Yu Gothic" pitchFamily="34" charset="-120"/>
                        </a:rPr>
                        <a:t>ワイン保管（100本まで）</a:t>
                      </a:r>
                      <a:endParaRPr lang="en-US" sz="98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80" dirty="0">
                          <a:solidFill>
                            <a:srgbClr val="1A1A1A"/>
                          </a:solidFill>
                          <a:latin typeface="Yu Gothic" pitchFamily="34" charset="0"/>
                          <a:ea typeface="Yu Gothic" pitchFamily="34" charset="-122"/>
                          <a:cs typeface="Yu Gothic" pitchFamily="34" charset="-120"/>
                        </a:rPr>
                        <a:t>定温14℃・湿度70%の専門倉庫でお預かり</a:t>
                      </a:r>
                      <a:endParaRPr lang="en-US" sz="98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80" dirty="0">
                          <a:solidFill>
                            <a:srgbClr val="1A1A1A"/>
                          </a:solidFill>
                          <a:latin typeface="Yu Gothic" pitchFamily="34" charset="0"/>
                          <a:ea typeface="Yu Gothic" pitchFamily="34" charset="-122"/>
                          <a:cs typeface="Yu Gothic" pitchFamily="34" charset="-120"/>
                        </a:rPr>
                        <a:t>120,000円</a:t>
                      </a:r>
                      <a:endParaRPr lang="en-US" sz="98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r>
              <a:tr h="420624">
                <a:tc>
                  <a:txBody>
                    <a:bodyPr/>
                    <a:lstStyle/>
                    <a:p>
                      <a:pPr indent="0" marL="0">
                        <a:buNone/>
                      </a:pPr>
                      <a:r>
                        <a:rPr lang="en-US" sz="980" dirty="0">
                          <a:solidFill>
                            <a:srgbClr val="1A1A1A"/>
                          </a:solidFill>
                          <a:latin typeface="Yu Gothic" pitchFamily="34" charset="0"/>
                          <a:ea typeface="Yu Gothic" pitchFamily="34" charset="-122"/>
                          <a:cs typeface="Yu Gothic" pitchFamily="34" charset="-120"/>
                        </a:rPr>
                        <a:t>会員資格（レストラン特典）</a:t>
                      </a:r>
                      <a:endParaRPr lang="en-US" sz="98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80" dirty="0">
                          <a:solidFill>
                            <a:srgbClr val="1A1A1A"/>
                          </a:solidFill>
                          <a:latin typeface="Yu Gothic" pitchFamily="34" charset="0"/>
                          <a:ea typeface="Yu Gothic" pitchFamily="34" charset="-122"/>
                          <a:cs typeface="Yu Gothic" pitchFamily="34" charset="-120"/>
                        </a:rPr>
                        <a:t>ワインが仕入原価相当。同伴者も同特典</a:t>
                      </a:r>
                      <a:endParaRPr lang="en-US" sz="98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80" dirty="0">
                          <a:solidFill>
                            <a:srgbClr val="1A1A1A"/>
                          </a:solidFill>
                          <a:latin typeface="Yu Gothic" pitchFamily="34" charset="0"/>
                          <a:ea typeface="Yu Gothic" pitchFamily="34" charset="-122"/>
                          <a:cs typeface="Yu Gothic" pitchFamily="34" charset="-120"/>
                        </a:rPr>
                        <a:t>100,000円</a:t>
                      </a:r>
                      <a:endParaRPr lang="en-US" sz="98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r>
              <a:tr h="420624">
                <a:tc>
                  <a:txBody>
                    <a:bodyPr/>
                    <a:lstStyle/>
                    <a:p>
                      <a:pPr indent="0" marL="0">
                        <a:buNone/>
                      </a:pPr>
                      <a:r>
                        <a:rPr lang="en-US" sz="980" dirty="0">
                          <a:solidFill>
                            <a:srgbClr val="1A1A1A"/>
                          </a:solidFill>
                          <a:latin typeface="Yu Gothic" pitchFamily="34" charset="0"/>
                          <a:ea typeface="Yu Gothic" pitchFamily="34" charset="-122"/>
                          <a:cs typeface="Yu Gothic" pitchFamily="34" charset="-120"/>
                        </a:rPr>
                        <a:t>出庫・ご配送</a:t>
                      </a:r>
                      <a:endParaRPr lang="en-US" sz="98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80" dirty="0">
                          <a:solidFill>
                            <a:srgbClr val="1A1A1A"/>
                          </a:solidFill>
                          <a:latin typeface="Yu Gothic" pitchFamily="34" charset="0"/>
                          <a:ea typeface="Yu Gothic" pitchFamily="34" charset="-122"/>
                          <a:cs typeface="Yu Gothic" pitchFamily="34" charset="-120"/>
                        </a:rPr>
                        <a:t>回数無制限・無料（持込・贈答・ご自宅）</a:t>
                      </a:r>
                      <a:endParaRPr lang="en-US" sz="98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80" dirty="0">
                          <a:solidFill>
                            <a:srgbClr val="1A1A1A"/>
                          </a:solidFill>
                          <a:latin typeface="Yu Gothic" pitchFamily="34" charset="0"/>
                          <a:ea typeface="Yu Gothic" pitchFamily="34" charset="-122"/>
                          <a:cs typeface="Yu Gothic" pitchFamily="34" charset="-120"/>
                        </a:rPr>
                        <a:t>54,000円</a:t>
                      </a:r>
                      <a:endParaRPr lang="en-US" sz="98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r>
              <a:tr h="420624">
                <a:tc>
                  <a:txBody>
                    <a:bodyPr/>
                    <a:lstStyle/>
                    <a:p>
                      <a:pPr indent="0" marL="0">
                        <a:buNone/>
                      </a:pPr>
                      <a:r>
                        <a:rPr lang="en-US" sz="980" dirty="0">
                          <a:solidFill>
                            <a:srgbClr val="1A1A1A"/>
                          </a:solidFill>
                          <a:latin typeface="Yu Gothic" pitchFamily="34" charset="0"/>
                          <a:ea typeface="Yu Gothic" pitchFamily="34" charset="-122"/>
                          <a:cs typeface="Yu Gothic" pitchFamily="34" charset="-120"/>
                        </a:rPr>
                        <a:t>コルケージ無料</a:t>
                      </a:r>
                      <a:endParaRPr lang="en-US" sz="98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80" dirty="0">
                          <a:solidFill>
                            <a:srgbClr val="1A1A1A"/>
                          </a:solidFill>
                          <a:latin typeface="Yu Gothic" pitchFamily="34" charset="0"/>
                          <a:ea typeface="Yu Gothic" pitchFamily="34" charset="-122"/>
                          <a:cs typeface="Yu Gothic" pitchFamily="34" charset="-120"/>
                        </a:rPr>
                        <a:t>提携店へのBYO。抜栓料・持込料ゼロ</a:t>
                      </a:r>
                      <a:endParaRPr lang="en-US" sz="98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80" dirty="0">
                          <a:solidFill>
                            <a:srgbClr val="1A1A1A"/>
                          </a:solidFill>
                          <a:latin typeface="Yu Gothic" pitchFamily="34" charset="0"/>
                          <a:ea typeface="Yu Gothic" pitchFamily="34" charset="-122"/>
                          <a:cs typeface="Yu Gothic" pitchFamily="34" charset="-120"/>
                        </a:rPr>
                        <a:t>60,000円</a:t>
                      </a:r>
                      <a:endParaRPr lang="en-US" sz="98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r>
              <a:tr h="420624">
                <a:tc>
                  <a:txBody>
                    <a:bodyPr/>
                    <a:lstStyle/>
                    <a:p>
                      <a:pPr indent="0" marL="0">
                        <a:buNone/>
                      </a:pPr>
                      <a:r>
                        <a:rPr lang="en-US" sz="980" dirty="0">
                          <a:solidFill>
                            <a:srgbClr val="1A1A1A"/>
                          </a:solidFill>
                          <a:latin typeface="Yu Gothic" pitchFamily="34" charset="0"/>
                          <a:ea typeface="Yu Gothic" pitchFamily="34" charset="-122"/>
                          <a:cs typeface="Yu Gothic" pitchFamily="34" charset="-120"/>
                        </a:rPr>
                        <a:t>保険・真贋保証</a:t>
                      </a:r>
                      <a:endParaRPr lang="en-US" sz="98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80" dirty="0">
                          <a:solidFill>
                            <a:srgbClr val="1A1A1A"/>
                          </a:solidFill>
                          <a:latin typeface="Yu Gothic" pitchFamily="34" charset="0"/>
                          <a:ea typeface="Yu Gothic" pitchFamily="34" charset="-122"/>
                          <a:cs typeface="Yu Gothic" pitchFamily="34" charset="-120"/>
                        </a:rPr>
                        <a:t>動産保険の付保および真贋保証</a:t>
                      </a:r>
                      <a:endParaRPr lang="en-US" sz="98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80" dirty="0">
                          <a:solidFill>
                            <a:srgbClr val="1A1A1A"/>
                          </a:solidFill>
                          <a:latin typeface="Yu Gothic" pitchFamily="34" charset="0"/>
                          <a:ea typeface="Yu Gothic" pitchFamily="34" charset="-122"/>
                          <a:cs typeface="Yu Gothic" pitchFamily="34" charset="-120"/>
                        </a:rPr>
                        <a:t>30,000円</a:t>
                      </a:r>
                      <a:endParaRPr lang="en-US" sz="98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r>
              <a:tr h="420624">
                <a:tc>
                  <a:txBody>
                    <a:bodyPr/>
                    <a:lstStyle/>
                    <a:p>
                      <a:pPr indent="0" marL="0">
                        <a:buNone/>
                      </a:pPr>
                      <a:r>
                        <a:rPr lang="en-US" sz="980" dirty="0">
                          <a:solidFill>
                            <a:srgbClr val="1A1A1A"/>
                          </a:solidFill>
                          <a:latin typeface="Yu Gothic" pitchFamily="34" charset="0"/>
                          <a:ea typeface="Yu Gothic" pitchFamily="34" charset="-122"/>
                          <a:cs typeface="Yu Gothic" pitchFamily="34" charset="-120"/>
                        </a:rPr>
                        <a:t>合計</a:t>
                      </a:r>
                      <a:endParaRPr lang="en-US" sz="98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endParaRPr lang="en-US" sz="98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c>
                  <a:txBody>
                    <a:bodyPr/>
                    <a:lstStyle/>
                    <a:p>
                      <a:pPr indent="0" marL="0">
                        <a:buNone/>
                      </a:pPr>
                      <a:r>
                        <a:rPr lang="en-US" sz="980" dirty="0">
                          <a:solidFill>
                            <a:srgbClr val="1A1A1A"/>
                          </a:solidFill>
                          <a:latin typeface="Yu Gothic" pitchFamily="34" charset="0"/>
                          <a:ea typeface="Yu Gothic" pitchFamily="34" charset="-122"/>
                          <a:cs typeface="Yu Gothic" pitchFamily="34" charset="-120"/>
                        </a:rPr>
                        <a:t>464,000円相当</a:t>
                      </a:r>
                      <a:endParaRPr lang="en-US" sz="980" dirty="0">
                        <a:latin typeface="Yu Gothic" charset="0"/>
                        <a:ea typeface="Yu Gothic" charset="0"/>
                        <a:cs typeface="Yu Gothic" charset="0"/>
                      </a:endParaRPr>
                    </a:p>
                  </a:txBody>
                  <a:tcPr marL="91440" marR="91440" marT="45720" marB="45720" anchor="ctr">
                    <a:lnL w="9525" cap="flat" cmpd="sng" algn="ctr">
                      <a:solidFill>
                        <a:srgbClr val="DDE0E2"/>
                      </a:solidFill>
                      <a:prstDash val="solid"/>
                      <a:round/>
                      <a:headEnd type="none" w="med" len="med"/>
                      <a:tailEnd type="none" w="med" len="med"/>
                    </a:lnL>
                    <a:lnR w="9525" cap="flat" cmpd="sng" algn="ctr">
                      <a:solidFill>
                        <a:srgbClr val="DDE0E2"/>
                      </a:solidFill>
                      <a:prstDash val="solid"/>
                      <a:round/>
                      <a:headEnd type="none" w="med" len="med"/>
                      <a:tailEnd type="none" w="med" len="med"/>
                    </a:lnR>
                    <a:lnT w="9525" cap="flat" cmpd="sng" algn="ctr">
                      <a:solidFill>
                        <a:srgbClr val="DDE0E2"/>
                      </a:solidFill>
                      <a:prstDash val="solid"/>
                      <a:round/>
                      <a:headEnd type="none" w="med" len="med"/>
                      <a:tailEnd type="none" w="med" len="med"/>
                    </a:lnT>
                    <a:lnB w="9525" cap="flat" cmpd="sng" algn="ctr">
                      <a:solidFill>
                        <a:srgbClr val="DDE0E2"/>
                      </a:solidFill>
                      <a:prstDash val="solid"/>
                      <a:round/>
                      <a:headEnd type="none" w="med" len="med"/>
                      <a:tailEnd type="none" w="med" len="med"/>
                    </a:lnB>
                  </a:tcPr>
                </a:tc>
              </a:tr>
            </a:tbl>
          </a:graphicData>
        </a:graphic>
      </p:graphicFrame>
      <p:sp>
        <p:nvSpPr>
          <p:cNvPr id="11" name="Shape 7"/>
          <p:cNvSpPr/>
          <p:nvPr/>
        </p:nvSpPr>
        <p:spPr>
          <a:xfrm>
            <a:off x="566928" y="1481328"/>
            <a:ext cx="8046720" cy="420624"/>
          </a:xfrm>
          <a:prstGeom prst="rect">
            <a:avLst/>
          </a:prstGeom>
          <a:solidFill>
            <a:srgbClr val="2F3941"/>
          </a:solidFill>
          <a:ln w="12700">
            <a:solidFill>
              <a:srgbClr val="333333"/>
            </a:solidFill>
            <a:prstDash val="solid"/>
          </a:ln>
        </p:spPr>
      </p:sp>
      <p:sp>
        <p:nvSpPr>
          <p:cNvPr id="12" name="Text 8"/>
          <p:cNvSpPr/>
          <p:nvPr/>
        </p:nvSpPr>
        <p:spPr>
          <a:xfrm>
            <a:off x="676656" y="1481328"/>
            <a:ext cx="2395728" cy="420624"/>
          </a:xfrm>
          <a:prstGeom prst="rect">
            <a:avLst/>
          </a:prstGeom>
          <a:noFill/>
          <a:ln/>
        </p:spPr>
        <p:txBody>
          <a:bodyPr wrap="square" lIns="0" tIns="0" rIns="0" bIns="0" rtlCol="0" anchor="ctr"/>
          <a:lstStyle/>
          <a:p>
            <a:pPr indent="0" marL="0">
              <a:buNone/>
            </a:pPr>
            <a:r>
              <a:rPr lang="en-US" sz="980" b="1" dirty="0">
                <a:solidFill>
                  <a:srgbClr val="EFDCCE"/>
                </a:solidFill>
                <a:latin typeface="Yu Gothic" pitchFamily="34" charset="0"/>
                <a:ea typeface="Yu Gothic" pitchFamily="34" charset="-122"/>
                <a:cs typeface="Yu Gothic" pitchFamily="34" charset="-120"/>
              </a:rPr>
              <a:t>サービス</a:t>
            </a:r>
            <a:endParaRPr lang="en-US" sz="980" dirty="0"/>
          </a:p>
        </p:txBody>
      </p:sp>
      <p:sp>
        <p:nvSpPr>
          <p:cNvPr id="13" name="Text 9"/>
          <p:cNvSpPr/>
          <p:nvPr/>
        </p:nvSpPr>
        <p:spPr>
          <a:xfrm>
            <a:off x="3291840" y="1481328"/>
            <a:ext cx="3767328" cy="420624"/>
          </a:xfrm>
          <a:prstGeom prst="rect">
            <a:avLst/>
          </a:prstGeom>
          <a:noFill/>
          <a:ln/>
        </p:spPr>
        <p:txBody>
          <a:bodyPr wrap="square" lIns="0" tIns="0" rIns="0" bIns="0" rtlCol="0" anchor="ctr"/>
          <a:lstStyle/>
          <a:p>
            <a:pPr indent="0" marL="0">
              <a:buNone/>
            </a:pPr>
            <a:r>
              <a:rPr lang="en-US" sz="980" b="1" dirty="0">
                <a:solidFill>
                  <a:srgbClr val="EFDCCE"/>
                </a:solidFill>
                <a:latin typeface="Yu Gothic" pitchFamily="34" charset="0"/>
                <a:ea typeface="Yu Gothic" pitchFamily="34" charset="-122"/>
                <a:cs typeface="Yu Gothic" pitchFamily="34" charset="-120"/>
              </a:rPr>
              <a:t>内容</a:t>
            </a:r>
            <a:endParaRPr lang="en-US" sz="980" dirty="0"/>
          </a:p>
        </p:txBody>
      </p:sp>
      <p:sp>
        <p:nvSpPr>
          <p:cNvPr id="14" name="Text 10"/>
          <p:cNvSpPr/>
          <p:nvPr/>
        </p:nvSpPr>
        <p:spPr>
          <a:xfrm>
            <a:off x="7278624" y="1481328"/>
            <a:ext cx="1225296" cy="420624"/>
          </a:xfrm>
          <a:prstGeom prst="rect">
            <a:avLst/>
          </a:prstGeom>
          <a:noFill/>
          <a:ln/>
        </p:spPr>
        <p:txBody>
          <a:bodyPr wrap="square" lIns="0" tIns="0" rIns="0" bIns="0" rtlCol="0" anchor="ctr"/>
          <a:lstStyle/>
          <a:p>
            <a:pPr indent="0" marL="0">
              <a:buNone/>
            </a:pPr>
            <a:r>
              <a:rPr lang="en-US" sz="980" b="1" dirty="0">
                <a:solidFill>
                  <a:srgbClr val="EFDCCE"/>
                </a:solidFill>
                <a:latin typeface="Yu Gothic" pitchFamily="34" charset="0"/>
                <a:ea typeface="Yu Gothic" pitchFamily="34" charset="-122"/>
                <a:cs typeface="Yu Gothic" pitchFamily="34" charset="-120"/>
              </a:rPr>
              <a:t>相当額</a:t>
            </a:r>
            <a:endParaRPr lang="en-US" sz="980" dirty="0"/>
          </a:p>
        </p:txBody>
      </p:sp>
      <p:sp>
        <p:nvSpPr>
          <p:cNvPr id="15" name="Text 11"/>
          <p:cNvSpPr/>
          <p:nvPr/>
        </p:nvSpPr>
        <p:spPr>
          <a:xfrm>
            <a:off x="566928" y="4956048"/>
            <a:ext cx="8046720" cy="457200"/>
          </a:xfrm>
          <a:prstGeom prst="rect">
            <a:avLst/>
          </a:prstGeom>
          <a:noFill/>
          <a:ln/>
        </p:spPr>
        <p:txBody>
          <a:bodyPr wrap="square" lIns="0" tIns="0" rIns="0" bIns="0" rtlCol="0" anchor="ctr"/>
          <a:lstStyle/>
          <a:p>
            <a:pPr indent="0" marL="0">
              <a:lnSpc>
                <a:spcPts val="1300"/>
              </a:lnSpc>
              <a:buNone/>
            </a:pPr>
            <a:r>
              <a:rPr lang="en-US" sz="920" dirty="0">
                <a:solidFill>
                  <a:srgbClr val="6E7378"/>
                </a:solidFill>
                <a:latin typeface="Yu Gothic" pitchFamily="34" charset="0"/>
                <a:ea typeface="Yu Gothic" pitchFamily="34" charset="-122"/>
                <a:cs typeface="Yu Gothic" pitchFamily="34" charset="-120"/>
              </a:rPr>
              <a:t>別途申し受けるもの：相続・ご承継サポート（別途お見積り）／当日エクスプレス配送 5,000円・回／101本目以降の保管料 月100円・本</a:t>
            </a:r>
            <a:endParaRPr lang="en-US" sz="920" dirty="0"/>
          </a:p>
        </p:txBody>
      </p:sp>
      <p:sp>
        <p:nvSpPr>
          <p:cNvPr id="16" name="Shape 12"/>
          <p:cNvSpPr/>
          <p:nvPr/>
        </p:nvSpPr>
        <p:spPr>
          <a:xfrm>
            <a:off x="8924544" y="1481328"/>
            <a:ext cx="2700223" cy="3035808"/>
          </a:xfrm>
          <a:prstGeom prst="roundRect">
            <a:avLst>
              <a:gd name="adj" fmla="val 1693"/>
            </a:avLst>
          </a:prstGeom>
          <a:solidFill>
            <a:srgbClr val="2F3941"/>
          </a:solidFill>
          <a:ln w="12700">
            <a:solidFill>
              <a:srgbClr val="333333"/>
            </a:solidFill>
            <a:prstDash val="solid"/>
          </a:ln>
        </p:spPr>
      </p:sp>
      <p:sp>
        <p:nvSpPr>
          <p:cNvPr id="17" name="Text 13"/>
          <p:cNvSpPr/>
          <p:nvPr/>
        </p:nvSpPr>
        <p:spPr>
          <a:xfrm>
            <a:off x="9180576" y="1645920"/>
            <a:ext cx="2188159" cy="310896"/>
          </a:xfrm>
          <a:prstGeom prst="rect">
            <a:avLst/>
          </a:prstGeom>
          <a:noFill/>
          <a:ln/>
        </p:spPr>
        <p:txBody>
          <a:bodyPr wrap="square" lIns="0" tIns="0" rIns="0" bIns="0" rtlCol="0" anchor="ctr"/>
          <a:lstStyle/>
          <a:p>
            <a:pPr indent="0" marL="0">
              <a:buNone/>
            </a:pPr>
            <a:r>
              <a:rPr lang="en-US" sz="1400" b="1" dirty="0">
                <a:solidFill>
                  <a:srgbClr val="EFDCCE"/>
                </a:solidFill>
                <a:latin typeface="Yu Gothic" pitchFamily="34" charset="0"/>
                <a:ea typeface="Yu Gothic" pitchFamily="34" charset="-122"/>
                <a:cs typeface="Yu Gothic" pitchFamily="34" charset="-120"/>
              </a:rPr>
              <a:t>接待費の実質削減効果</a:t>
            </a:r>
            <a:endParaRPr lang="en-US" sz="1400" dirty="0"/>
          </a:p>
        </p:txBody>
      </p:sp>
      <p:sp>
        <p:nvSpPr>
          <p:cNvPr id="18" name="Text 14"/>
          <p:cNvSpPr/>
          <p:nvPr/>
        </p:nvSpPr>
        <p:spPr>
          <a:xfrm>
            <a:off x="9180576" y="2048256"/>
            <a:ext cx="2188159" cy="969264"/>
          </a:xfrm>
          <a:prstGeom prst="rect">
            <a:avLst/>
          </a:prstGeom>
          <a:noFill/>
          <a:ln/>
        </p:spPr>
        <p:txBody>
          <a:bodyPr wrap="square" lIns="0" tIns="0" rIns="0" bIns="0" rtlCol="0" anchor="ctr"/>
          <a:lstStyle/>
          <a:p>
            <a:pPr indent="0" marL="0">
              <a:lnSpc>
                <a:spcPts val="1500"/>
              </a:lnSpc>
              <a:buNone/>
            </a:pPr>
            <a:r>
              <a:rPr lang="en-US" sz="1000" dirty="0">
                <a:solidFill>
                  <a:srgbClr val="DDE1E4"/>
                </a:solidFill>
                <a:latin typeface="Yu Gothic" pitchFamily="34" charset="0"/>
                <a:ea typeface="Yu Gothic" pitchFamily="34" charset="-122"/>
                <a:cs typeface="Yu Gothic" pitchFamily="34" charset="-120"/>
              </a:rPr>
              <a:t>一般の飲食店はワインを卸原価の2〜3倍で提供しています。仕入原価相当での提供とBYO無料により、年間接待費600万円規模のご利用で約200万円の削減余地が生まれます。</a:t>
            </a:r>
            <a:endParaRPr lang="en-US" sz="1000" dirty="0"/>
          </a:p>
        </p:txBody>
      </p:sp>
      <p:sp>
        <p:nvSpPr>
          <p:cNvPr id="19" name="Text 15"/>
          <p:cNvSpPr/>
          <p:nvPr/>
        </p:nvSpPr>
        <p:spPr>
          <a:xfrm>
            <a:off x="9180576" y="3127248"/>
            <a:ext cx="2188159" cy="603504"/>
          </a:xfrm>
          <a:prstGeom prst="rect">
            <a:avLst/>
          </a:prstGeom>
          <a:noFill/>
          <a:ln/>
        </p:spPr>
        <p:txBody>
          <a:bodyPr wrap="square" lIns="0" tIns="0" rIns="0" bIns="0" rtlCol="0" anchor="ctr"/>
          <a:lstStyle/>
          <a:p>
            <a:pPr indent="0" marL="0">
              <a:lnSpc>
                <a:spcPts val="1600"/>
              </a:lnSpc>
              <a:buNone/>
            </a:pPr>
            <a:r>
              <a:rPr lang="en-US" sz="1050" b="1" dirty="0">
                <a:solidFill>
                  <a:srgbClr val="C68A65"/>
                </a:solidFill>
                <a:latin typeface="Yu Gothic" pitchFamily="34" charset="0"/>
                <a:ea typeface="Yu Gothic" pitchFamily="34" charset="-122"/>
                <a:cs typeface="Yu Gothic" pitchFamily="34" charset="-120"/>
              </a:rPr>
              <a:t>特典46.4万円相当 ＋ 接待費削減 約200万円</a:t>
            </a:r>
            <a:endParaRPr lang="en-US" sz="1050" dirty="0"/>
          </a:p>
          <a:p>
            <a:pPr indent="0" marL="0">
              <a:lnSpc>
                <a:spcPts val="1600"/>
              </a:lnSpc>
              <a:buNone/>
            </a:pPr>
            <a:r>
              <a:rPr lang="en-US" sz="1050" b="1" dirty="0">
                <a:solidFill>
                  <a:srgbClr val="C68A65"/>
                </a:solidFill>
                <a:latin typeface="Yu Gothic" pitchFamily="34" charset="0"/>
                <a:ea typeface="Yu Gothic" pitchFamily="34" charset="-122"/>
                <a:cs typeface="Yu Gothic" pitchFamily="34" charset="-120"/>
              </a:rPr>
              <a:t>＝ 会費を大きく上回る実利</a:t>
            </a:r>
            <a:endParaRPr lang="en-US" sz="1050" dirty="0"/>
          </a:p>
        </p:txBody>
      </p:sp>
      <p:sp>
        <p:nvSpPr>
          <p:cNvPr id="20" name="Text 16"/>
          <p:cNvSpPr/>
          <p:nvPr/>
        </p:nvSpPr>
        <p:spPr>
          <a:xfrm>
            <a:off x="9180576" y="3840480"/>
            <a:ext cx="2188159" cy="512064"/>
          </a:xfrm>
          <a:prstGeom prst="rect">
            <a:avLst/>
          </a:prstGeom>
          <a:noFill/>
          <a:ln/>
        </p:spPr>
        <p:txBody>
          <a:bodyPr wrap="square" lIns="0" tIns="0" rIns="0" bIns="0" rtlCol="0" anchor="ctr"/>
          <a:lstStyle/>
          <a:p>
            <a:pPr indent="0" marL="0">
              <a:lnSpc>
                <a:spcPts val="1400"/>
              </a:lnSpc>
              <a:buNone/>
            </a:pPr>
            <a:r>
              <a:rPr lang="en-US" sz="980" dirty="0">
                <a:solidFill>
                  <a:srgbClr val="B9BEC2"/>
                </a:solidFill>
                <a:latin typeface="Yu Gothic" pitchFamily="34" charset="0"/>
                <a:ea typeface="Yu Gothic" pitchFamily="34" charset="-122"/>
                <a:cs typeface="Yu Gothic" pitchFamily="34" charset="-120"/>
              </a:rPr>
              <a:t>「持っているだけで得」が、法人会員への最初の一言になります。</a:t>
            </a:r>
            <a:endParaRPr lang="en-US" sz="9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株式会社WineBank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森ビル株式会社 業務提携ご提案</dc:title>
  <dc:subject>PptxGenJS Presentation</dc:subject>
  <dc:creator>株式会社WineBank</dc:creator>
  <cp:lastModifiedBy>株式会社WineBank</cp:lastModifiedBy>
  <cp:revision>1</cp:revision>
  <dcterms:created xsi:type="dcterms:W3CDTF">2026-08-10T07:57:38Z</dcterms:created>
  <dcterms:modified xsi:type="dcterms:W3CDTF">2026-08-10T07:57:38Z</dcterms:modified>
</cp:coreProperties>
</file>