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charts/chart1.xml" ContentType="application/vnd.openxmlformats-officedocument.drawingml.chart+xml"/>
  <Override PartName="/ppt/charts/chart2.xml" ContentType="application/vnd.openxmlformats-officedocument.drawingml.chart+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charts/chart3.xml" ContentType="application/vnd.openxmlformats-officedocument.drawingml.chart+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Lst>
  <p:notesMasterIdLst>
    <p:notesMasterId r:id="rId2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notesMaster" Target="notesMasters/notesMaster1.xml"/><Relationship Id="rId26" Type="http://schemas.openxmlformats.org/officeDocument/2006/relationships/presProps" Target="presProps.xml"/><Relationship Id="rId27" Type="http://schemas.openxmlformats.org/officeDocument/2006/relationships/viewProps" Target="viewProps.xml"/><Relationship Id="rId28" Type="http://schemas.openxmlformats.org/officeDocument/2006/relationships/theme" Target="theme/theme1.xml"/><Relationship Id="rId29"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100" b="1" i="0" u="none" strike="noStrike">
                <a:solidFill>
                  <a:srgbClr val="EFEBE3"/>
                </a:solidFill>
                <a:latin typeface="Yu Gothic"/>
              </a:defRPr>
            </a:pPr>
            <a:r>
              <a:rPr sz="1100" b="1" i="0" u="none" strike="noStrike">
                <a:solidFill>
                  <a:srgbClr val="EFEBE3"/>
                </a:solidFill>
                <a:latin typeface="Yu Gothic"/>
              </a:rPr>
              <a:t>投資家利回り（定常年間・％）</a:t>
            </a:r>
          </a:p>
        </c:rich>
      </c:tx>
      <c:layout/>
      <c:overlay val="0"/>
    </c:title>
    <c:autoTitleDeleted val="0"/>
    <c:plotArea>
      <c:layout/>
      <c:barChart>
        <c:barDir val="col"/>
        <c:grouping val="clustered"/>
        <c:varyColors val="0"/>
        <c:ser>
          <c:idx val="0"/>
          <c:order val="0"/>
          <c:tx>
            <c:strRef>
              <c:f>Sheet1!$B$1</c:f>
              <c:strCache>
                <c:ptCount val="1"/>
                <c:pt idx="0">
                  <c:v>投資家利回り</c:v>
                </c:pt>
              </c:strCache>
            </c:strRef>
          </c:tx>
          <c:spPr>
            <a:solidFill>
              <a:srgbClr val="A78450"/>
            </a:solidFill>
            <a:effectLst/>
          </c:spPr>
          <c:invertIfNegative val="0"/>
          <c:dLbls>
            <c:numFmt formatCode="0.0&quot;%&quot;" sourceLinked="0"/>
            <c:txPr>
              <a:bodyPr/>
              <a:lstStyle/>
              <a:p>
                <a:pPr>
                  <a:defRPr b="0" i="0" strike="noStrike" sz="950" u="none">
                    <a:solidFill>
                      <a:srgbClr val="EFEBE3"/>
                    </a:solidFill>
                    <a:latin typeface="Cambria"/>
                  </a:defRPr>
                </a:pPr>
              </a:p>
            </c:txPr>
            <c:showLegendKey val="0"/>
            <c:showVal val="1"/>
            <c:showCatName val="0"/>
            <c:showSerName val="0"/>
            <c:showPercent val="0"/>
            <c:showBubbleSize val="0"/>
            <c:showLeaderLines val="0"/>
          </c:dLbls>
          <c:cat>
            <c:multiLvlStrRef>
              <c:f>Sheet1!$A$2:$A$5</c:f>
              <c:multiLvlStrCache>
                <c:ptCount val="4"/>
                <c:lvl>
                  <c:pt idx="0">
                    <c:v>9ヶ月</c:v>
                  </c:pt>
                  <c:pt idx="1">
                    <c:v>12ヶ月</c:v>
                  </c:pt>
                  <c:pt idx="2">
                    <c:v>15ヶ月</c:v>
                  </c:pt>
                  <c:pt idx="3">
                    <c:v>18ヶ月</c:v>
                  </c:pt>
                </c:lvl>
              </c:multiLvlStrCache>
            </c:multiLvlStrRef>
          </c:cat>
          <c:val>
            <c:numRef>
              <c:f>Sheet1!$B$2:$B$5</c:f>
              <c:numCache>
                <c:formatCode>General</c:formatCode>
                <c:ptCount val="4"/>
                <c:pt idx="0">
                  <c:v>27.1</c:v>
                </c:pt>
                <c:pt idx="1">
                  <c:v>21</c:v>
                </c:pt>
                <c:pt idx="2">
                  <c:v>17.3</c:v>
                </c:pt>
                <c:pt idx="3">
                  <c:v>14.9</c:v>
                </c:pt>
              </c:numCache>
            </c:numRef>
          </c:val>
        </c:ser>
        <c:dLbls>
          <c:numFmt formatCode="0.0&quot;%&quot;" sourceLinked="0"/>
          <c:txPr>
            <a:bodyPr/>
            <a:lstStyle/>
            <a:p>
              <a:pPr>
                <a:defRPr b="0" i="0" strike="noStrike" sz="950" u="none">
                  <a:solidFill>
                    <a:srgbClr val="EFEBE3"/>
                  </a:solidFill>
                  <a:latin typeface="Cambria"/>
                </a:defRPr>
              </a:pPr>
            </a:p>
          </c:txPr>
          <c:showLegendKey val="0"/>
          <c:showVal val="1"/>
          <c:showCatName val="0"/>
          <c:showSerName val="0"/>
          <c:showPercent val="0"/>
          <c:showBubbleSize val="0"/>
          <c:showLeaderLines val="0"/>
        </c:dLbls>
        <c:gapWidth val="55"/>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900" b="0" i="0" u="none" strike="noStrike">
                <a:solidFill>
                  <a:srgbClr val="9A938A"/>
                </a:solidFill>
                <a:latin typeface="Yu Gothic"/>
              </a:defRPr>
            </a:pPr>
            <a:endParaRPr lang="en-US"/>
          </a:p>
        </c:txPr>
        <c:crossAx val="2094734552"/>
        <c:crosses val="autoZero"/>
        <c:auto val="1"/>
        <c:lblAlgn val="ctr"/>
        <c:noMultiLvlLbl val="1"/>
      </c:catAx>
      <c:valAx>
        <c:axId val="2094734552"/>
        <c:scaling>
          <c:orientation val="minMax"/>
          <c:max val="32"/>
          <c:min val="0"/>
        </c:scaling>
        <c:delete val="0"/>
        <c:axPos val="l"/>
        <c:majorGridlines>
          <c:spPr>
            <a:ln w="7620" cap="flat">
              <a:solidFill>
                <a:srgbClr val="232019"/>
              </a:solidFill>
              <a:prstDash val="solid"/>
              <a:round/>
            </a:ln>
          </c:spPr>
        </c:majorGridlines>
        <c:numFmt formatCode="General" sourceLinked="0"/>
        <c:majorTickMark val="out"/>
        <c:minorTickMark val="none"/>
        <c:tickLblPos val="nextTo"/>
        <c:spPr>
          <a:ln w="12700" cap="flat">
            <a:noFill/>
            <a:prstDash val="solid"/>
            <a:round/>
          </a:ln>
        </c:spPr>
        <c:txPr>
          <a:bodyPr/>
          <a:lstStyle/>
          <a:p>
            <a:pPr>
              <a:defRPr sz="850" b="0" i="0" u="none" strike="noStrike">
                <a:solidFill>
                  <a:srgbClr val="6E675E"/>
                </a:solidFill>
                <a:latin typeface="Cambria"/>
              </a:defRPr>
            </a:pPr>
            <a:endParaRPr lang="en-US"/>
          </a:p>
        </c:txPr>
        <c:crossAx val="2094734554"/>
        <c:crosses val="autoZero"/>
        <c:crossBetween val="between"/>
      </c:valAx>
      <c:spPr>
        <a:solidFill>
          <a:srgbClr val="171614"/>
        </a:solidFill>
        <a:ln>
          <a:noFill/>
        </a:ln>
        <a:effectLst/>
      </c:spPr>
    </c:plotArea>
    <c:plotVisOnly val="1"/>
    <c:dispBlanksAs val="span"/>
  </c:chart>
  <c:spPr>
    <a:solidFill>
      <a:srgbClr val="171614"/>
    </a:solid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100" b="1" i="0" u="none" strike="noStrike">
                <a:solidFill>
                  <a:srgbClr val="EFEBE3"/>
                </a:solidFill>
                <a:latin typeface="Yu Gothic"/>
              </a:defRPr>
            </a:pPr>
            <a:r>
              <a:rPr sz="1100" b="1" i="0" u="none" strike="noStrike">
                <a:solidFill>
                  <a:srgbClr val="EFEBE3"/>
                </a:solidFill>
                <a:latin typeface="Yu Gothic"/>
              </a:rPr>
              <a:t>投資家 年平均利回り（5年通算・％）</a:t>
            </a:r>
          </a:p>
        </c:rich>
      </c:tx>
      <c:layout/>
      <c:overlay val="0"/>
    </c:title>
    <c:autoTitleDeleted val="0"/>
    <c:plotArea>
      <c:layout/>
      <c:barChart>
        <c:barDir val="col"/>
        <c:grouping val="clustered"/>
        <c:varyColors val="0"/>
        <c:ser>
          <c:idx val="0"/>
          <c:order val="0"/>
          <c:tx>
            <c:strRef>
              <c:f>Sheet1!$B$1</c:f>
              <c:strCache>
                <c:ptCount val="1"/>
                <c:pt idx="0">
                  <c:v>投資家 年平均利回り</c:v>
                </c:pt>
              </c:strCache>
            </c:strRef>
          </c:tx>
          <c:spPr>
            <a:solidFill>
              <a:srgbClr val="6E5730"/>
            </a:solidFill>
            <a:effectLst/>
          </c:spPr>
          <c:invertIfNegative val="0"/>
          <c:dLbls>
            <c:numFmt formatCode="0.0&quot;%&quot;" sourceLinked="0"/>
            <c:txPr>
              <a:bodyPr/>
              <a:lstStyle/>
              <a:p>
                <a:pPr>
                  <a:defRPr b="0" i="0" strike="noStrike" sz="950" u="none">
                    <a:solidFill>
                      <a:srgbClr val="EFEBE3"/>
                    </a:solidFill>
                    <a:latin typeface="Cambria"/>
                  </a:defRPr>
                </a:pPr>
              </a:p>
            </c:txPr>
            <c:showLegendKey val="0"/>
            <c:showVal val="1"/>
            <c:showCatName val="0"/>
            <c:showSerName val="0"/>
            <c:showPercent val="0"/>
            <c:showBubbleSize val="0"/>
            <c:showLeaderLines val="0"/>
          </c:dLbls>
          <c:cat>
            <c:multiLvlStrRef>
              <c:f>Sheet1!$A$2:$A$5</c:f>
              <c:multiLvlStrCache>
                <c:ptCount val="4"/>
                <c:lvl>
                  <c:pt idx="0">
                    <c:v>9ヶ月</c:v>
                  </c:pt>
                  <c:pt idx="1">
                    <c:v>12ヶ月</c:v>
                  </c:pt>
                  <c:pt idx="2">
                    <c:v>15ヶ月</c:v>
                  </c:pt>
                  <c:pt idx="3">
                    <c:v>18ヶ月</c:v>
                  </c:pt>
                </c:lvl>
              </c:multiLvlStrCache>
            </c:multiLvlStrRef>
          </c:cat>
          <c:val>
            <c:numRef>
              <c:f>Sheet1!$B$2:$B$5</c:f>
              <c:numCache>
                <c:formatCode>General</c:formatCode>
                <c:ptCount val="4"/>
                <c:pt idx="0">
                  <c:v>24.3</c:v>
                </c:pt>
                <c:pt idx="1">
                  <c:v>16.7</c:v>
                </c:pt>
                <c:pt idx="2">
                  <c:v>12.9</c:v>
                </c:pt>
                <c:pt idx="3">
                  <c:v>13.3</c:v>
                </c:pt>
              </c:numCache>
            </c:numRef>
          </c:val>
        </c:ser>
        <c:dLbls>
          <c:numFmt formatCode="0.0&quot;%&quot;" sourceLinked="0"/>
          <c:txPr>
            <a:bodyPr/>
            <a:lstStyle/>
            <a:p>
              <a:pPr>
                <a:defRPr b="0" i="0" strike="noStrike" sz="950" u="none">
                  <a:solidFill>
                    <a:srgbClr val="EFEBE3"/>
                  </a:solidFill>
                  <a:latin typeface="Cambria"/>
                </a:defRPr>
              </a:pPr>
            </a:p>
          </c:txPr>
          <c:showLegendKey val="0"/>
          <c:showVal val="1"/>
          <c:showCatName val="0"/>
          <c:showSerName val="0"/>
          <c:showPercent val="0"/>
          <c:showBubbleSize val="0"/>
          <c:showLeaderLines val="0"/>
        </c:dLbls>
        <c:gapWidth val="55"/>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900" b="0" i="0" u="none" strike="noStrike">
                <a:solidFill>
                  <a:srgbClr val="9A938A"/>
                </a:solidFill>
                <a:latin typeface="Yu Gothic"/>
              </a:defRPr>
            </a:pPr>
            <a:endParaRPr lang="en-US"/>
          </a:p>
        </c:txPr>
        <c:crossAx val="2094734552"/>
        <c:crosses val="autoZero"/>
        <c:auto val="1"/>
        <c:lblAlgn val="ctr"/>
        <c:noMultiLvlLbl val="1"/>
      </c:catAx>
      <c:valAx>
        <c:axId val="2094734552"/>
        <c:scaling>
          <c:orientation val="minMax"/>
          <c:max val="29"/>
          <c:min val="0"/>
        </c:scaling>
        <c:delete val="0"/>
        <c:axPos val="l"/>
        <c:majorGridlines>
          <c:spPr>
            <a:ln w="7620" cap="flat">
              <a:solidFill>
                <a:srgbClr val="232019"/>
              </a:solidFill>
              <a:prstDash val="solid"/>
              <a:round/>
            </a:ln>
          </c:spPr>
        </c:majorGridlines>
        <c:numFmt formatCode="General" sourceLinked="0"/>
        <c:majorTickMark val="out"/>
        <c:minorTickMark val="none"/>
        <c:tickLblPos val="nextTo"/>
        <c:spPr>
          <a:ln w="12700" cap="flat">
            <a:noFill/>
            <a:prstDash val="solid"/>
            <a:round/>
          </a:ln>
        </c:spPr>
        <c:txPr>
          <a:bodyPr/>
          <a:lstStyle/>
          <a:p>
            <a:pPr>
              <a:defRPr sz="850" b="0" i="0" u="none" strike="noStrike">
                <a:solidFill>
                  <a:srgbClr val="6E675E"/>
                </a:solidFill>
                <a:latin typeface="Cambria"/>
              </a:defRPr>
            </a:pPr>
            <a:endParaRPr lang="en-US"/>
          </a:p>
        </c:txPr>
        <c:crossAx val="2094734554"/>
        <c:crosses val="autoZero"/>
        <c:crossBetween val="between"/>
      </c:valAx>
      <c:spPr>
        <a:solidFill>
          <a:srgbClr val="171614"/>
        </a:solidFill>
        <a:ln>
          <a:noFill/>
        </a:ln>
        <a:effectLst/>
      </c:spPr>
    </c:plotArea>
    <c:plotVisOnly val="1"/>
    <c:dispBlanksAs val="span"/>
  </c:chart>
  <c:spPr>
    <a:solidFill>
      <a:srgbClr val="171614"/>
    </a:solid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100" b="1" i="0" u="none" strike="noStrike">
                <a:solidFill>
                  <a:srgbClr val="EFEBE3"/>
                </a:solidFill>
                <a:latin typeface="Yu Gothic"/>
              </a:defRPr>
            </a:pPr>
            <a:r>
              <a:rPr sz="1100" b="1" i="0" u="none" strike="noStrike">
                <a:solidFill>
                  <a:srgbClr val="EFEBE3"/>
                </a:solidFill>
                <a:latin typeface="Yu Gothic"/>
              </a:rPr>
              <a:t>在庫回転期間別 投資家利回り（％）</a:t>
            </a:r>
          </a:p>
        </c:rich>
      </c:tx>
      <c:layout/>
      <c:overlay val="0"/>
    </c:title>
    <c:autoTitleDeleted val="0"/>
    <c:plotArea>
      <c:layout/>
      <c:barChart>
        <c:barDir val="col"/>
        <c:grouping val="clustered"/>
        <c:varyColors val="0"/>
        <c:ser>
          <c:idx val="0"/>
          <c:order val="0"/>
          <c:tx>
            <c:strRef>
              <c:f>Sheet1!$B$1</c:f>
              <c:strCache>
                <c:ptCount val="1"/>
                <c:pt idx="0">
                  <c:v>ポジティブ</c:v>
                </c:pt>
              </c:strCache>
            </c:strRef>
          </c:tx>
          <c:spPr>
            <a:solidFill>
              <a:srgbClr val="C9A96E"/>
            </a:solidFill>
            <a:effectLst/>
          </c:spPr>
          <c:invertIfNegative val="0"/>
          <c:dLbls>
            <c:numFmt formatCode="0.0&quot;%&quot;" sourceLinked="0"/>
            <c:txPr>
              <a:bodyPr/>
              <a:lstStyle/>
              <a:p>
                <a:pPr>
                  <a:defRPr b="0" i="0" strike="noStrike" sz="950" u="none">
                    <a:solidFill>
                      <a:srgbClr val="EFEBE3"/>
                    </a:solidFill>
                    <a:latin typeface="Cambria"/>
                  </a:defRPr>
                </a:pPr>
              </a:p>
            </c:txPr>
            <c:showLegendKey val="0"/>
            <c:showVal val="1"/>
            <c:showCatName val="0"/>
            <c:showSerName val="0"/>
            <c:showPercent val="0"/>
            <c:showBubbleSize val="0"/>
            <c:showLeaderLines val="0"/>
          </c:dLbls>
          <c:cat>
            <c:multiLvlStrRef>
              <c:f>Sheet1!$A$2:$A$5</c:f>
              <c:multiLvlStrCache>
                <c:ptCount val="4"/>
                <c:lvl>
                  <c:pt idx="0">
                    <c:v>9ヶ月</c:v>
                  </c:pt>
                  <c:pt idx="1">
                    <c:v>12ヶ月</c:v>
                  </c:pt>
                  <c:pt idx="2">
                    <c:v>15ヶ月</c:v>
                  </c:pt>
                  <c:pt idx="3">
                    <c:v>18ヶ月</c:v>
                  </c:pt>
                </c:lvl>
              </c:multiLvlStrCache>
            </c:multiLvlStrRef>
          </c:cat>
          <c:val>
            <c:numRef>
              <c:f>Sheet1!$B$2:$B$5</c:f>
              <c:numCache>
                <c:formatCode>General</c:formatCode>
                <c:ptCount val="4"/>
                <c:pt idx="0">
                  <c:v>51.3</c:v>
                </c:pt>
                <c:pt idx="1">
                  <c:v>39.4</c:v>
                </c:pt>
                <c:pt idx="2">
                  <c:v>32.2</c:v>
                </c:pt>
                <c:pt idx="3">
                  <c:v>27.5</c:v>
                </c:pt>
              </c:numCache>
            </c:numRef>
          </c:val>
        </c:ser>
        <c:ser>
          <c:idx val="1"/>
          <c:order val="1"/>
          <c:tx>
            <c:strRef>
              <c:f>Sheet1!$C$1</c:f>
              <c:strCache>
                <c:ptCount val="1"/>
                <c:pt idx="0">
                  <c:v>ニュートラル（主線）</c:v>
                </c:pt>
              </c:strCache>
            </c:strRef>
          </c:tx>
          <c:spPr>
            <a:solidFill>
              <a:srgbClr val="A78450"/>
            </a:solidFill>
            <a:effectLst/>
          </c:spPr>
          <c:invertIfNegative val="0"/>
          <c:dLbls>
            <c:numFmt formatCode="0.0&quot;%&quot;" sourceLinked="0"/>
            <c:txPr>
              <a:bodyPr/>
              <a:lstStyle/>
              <a:p>
                <a:pPr>
                  <a:defRPr b="0" i="0" strike="noStrike" sz="950" u="none">
                    <a:solidFill>
                      <a:srgbClr val="EFEBE3"/>
                    </a:solidFill>
                    <a:latin typeface="Cambria"/>
                  </a:defRPr>
                </a:pPr>
              </a:p>
            </c:txPr>
            <c:showLegendKey val="0"/>
            <c:showVal val="1"/>
            <c:showCatName val="0"/>
            <c:showSerName val="0"/>
            <c:showPercent val="0"/>
            <c:showBubbleSize val="0"/>
            <c:showLeaderLines val="0"/>
          </c:dLbls>
          <c:cat>
            <c:multiLvlStrRef>
              <c:f>Sheet1!$A$2:$A$5</c:f>
              <c:multiLvlStrCache>
                <c:ptCount val="4"/>
                <c:lvl>
                  <c:pt idx="0">
                    <c:v>9ヶ月</c:v>
                  </c:pt>
                  <c:pt idx="1">
                    <c:v>12ヶ月</c:v>
                  </c:pt>
                  <c:pt idx="2">
                    <c:v>15ヶ月</c:v>
                  </c:pt>
                  <c:pt idx="3">
                    <c:v>18ヶ月</c:v>
                  </c:pt>
                </c:lvl>
              </c:multiLvlStrCache>
            </c:multiLvlStrRef>
          </c:cat>
          <c:val>
            <c:numRef>
              <c:f>Sheet1!$C$2:$C$5</c:f>
              <c:numCache>
                <c:formatCode>General</c:formatCode>
                <c:ptCount val="4"/>
                <c:pt idx="0">
                  <c:v>27.1</c:v>
                </c:pt>
                <c:pt idx="1">
                  <c:v>21</c:v>
                </c:pt>
                <c:pt idx="2">
                  <c:v>17.3</c:v>
                </c:pt>
                <c:pt idx="3">
                  <c:v>14.9</c:v>
                </c:pt>
              </c:numCache>
            </c:numRef>
          </c:val>
        </c:ser>
        <c:ser>
          <c:idx val="2"/>
          <c:order val="2"/>
          <c:tx>
            <c:strRef>
              <c:f>Sheet1!$D$1</c:f>
              <c:strCache>
                <c:ptCount val="1"/>
                <c:pt idx="0">
                  <c:v>ネガティブ</c:v>
                </c:pt>
              </c:strCache>
            </c:strRef>
          </c:tx>
          <c:spPr>
            <a:solidFill>
              <a:srgbClr val="6E5730"/>
            </a:solidFill>
            <a:effectLst/>
          </c:spPr>
          <c:invertIfNegative val="0"/>
          <c:dLbls>
            <c:numFmt formatCode="0.0&quot;%&quot;" sourceLinked="0"/>
            <c:txPr>
              <a:bodyPr/>
              <a:lstStyle/>
              <a:p>
                <a:pPr>
                  <a:defRPr b="0" i="0" strike="noStrike" sz="950" u="none">
                    <a:solidFill>
                      <a:srgbClr val="EFEBE3"/>
                    </a:solidFill>
                    <a:latin typeface="Cambria"/>
                  </a:defRPr>
                </a:pPr>
              </a:p>
            </c:txPr>
            <c:showLegendKey val="0"/>
            <c:showVal val="1"/>
            <c:showCatName val="0"/>
            <c:showSerName val="0"/>
            <c:showPercent val="0"/>
            <c:showBubbleSize val="0"/>
            <c:showLeaderLines val="0"/>
          </c:dLbls>
          <c:cat>
            <c:multiLvlStrRef>
              <c:f>Sheet1!$A$2:$A$5</c:f>
              <c:multiLvlStrCache>
                <c:ptCount val="4"/>
                <c:lvl>
                  <c:pt idx="0">
                    <c:v>9ヶ月</c:v>
                  </c:pt>
                  <c:pt idx="1">
                    <c:v>12ヶ月</c:v>
                  </c:pt>
                  <c:pt idx="2">
                    <c:v>15ヶ月</c:v>
                  </c:pt>
                  <c:pt idx="3">
                    <c:v>18ヶ月</c:v>
                  </c:pt>
                </c:lvl>
              </c:multiLvlStrCache>
            </c:multiLvlStrRef>
          </c:cat>
          <c:val>
            <c:numRef>
              <c:f>Sheet1!$D$2:$D$5</c:f>
              <c:numCache>
                <c:formatCode>General</c:formatCode>
                <c:ptCount val="4"/>
                <c:pt idx="0">
                  <c:v>18.8</c:v>
                </c:pt>
                <c:pt idx="1">
                  <c:v>13.7</c:v>
                </c:pt>
                <c:pt idx="2">
                  <c:v>10.7</c:v>
                </c:pt>
                <c:pt idx="3">
                  <c:v>8.7</c:v>
                </c:pt>
              </c:numCache>
            </c:numRef>
          </c:val>
        </c:ser>
        <c:dLbls>
          <c:numFmt formatCode="0.0&quot;%&quot;" sourceLinked="0"/>
          <c:txPr>
            <a:bodyPr/>
            <a:lstStyle/>
            <a:p>
              <a:pPr>
                <a:defRPr b="0" i="0" strike="noStrike" sz="950" u="none">
                  <a:solidFill>
                    <a:srgbClr val="EFEBE3"/>
                  </a:solidFill>
                  <a:latin typeface="Cambria"/>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900" b="0" i="0" u="none" strike="noStrike">
                <a:solidFill>
                  <a:srgbClr val="9A938A"/>
                </a:solidFill>
                <a:latin typeface="Yu Gothic"/>
              </a:defRPr>
            </a:pPr>
            <a:endParaRPr lang="en-US"/>
          </a:p>
        </c:txPr>
        <c:crossAx val="2094734552"/>
        <c:crosses val="autoZero"/>
        <c:auto val="1"/>
        <c:lblAlgn val="ctr"/>
        <c:noMultiLvlLbl val="1"/>
      </c:catAx>
      <c:valAx>
        <c:axId val="2094734552"/>
        <c:scaling>
          <c:orientation val="minMax"/>
          <c:max val="56"/>
          <c:min val="0"/>
        </c:scaling>
        <c:delete val="0"/>
        <c:axPos val="l"/>
        <c:majorGridlines>
          <c:spPr>
            <a:ln w="7620" cap="flat">
              <a:solidFill>
                <a:srgbClr val="232019"/>
              </a:solidFill>
              <a:prstDash val="solid"/>
              <a:round/>
            </a:ln>
          </c:spPr>
        </c:majorGridlines>
        <c:numFmt formatCode="General" sourceLinked="0"/>
        <c:majorTickMark val="out"/>
        <c:minorTickMark val="none"/>
        <c:tickLblPos val="nextTo"/>
        <c:spPr>
          <a:ln w="12700" cap="flat">
            <a:noFill/>
            <a:prstDash val="solid"/>
            <a:round/>
          </a:ln>
        </c:spPr>
        <c:txPr>
          <a:bodyPr/>
          <a:lstStyle/>
          <a:p>
            <a:pPr>
              <a:defRPr sz="850" b="0" i="0" u="none" strike="noStrike">
                <a:solidFill>
                  <a:srgbClr val="6E675E"/>
                </a:solidFill>
                <a:latin typeface="Cambria"/>
              </a:defRPr>
            </a:pPr>
            <a:endParaRPr lang="en-US"/>
          </a:p>
        </c:txPr>
        <c:crossAx val="2094734554"/>
        <c:crosses val="autoZero"/>
        <c:crossBetween val="between"/>
      </c:valAx>
      <c:spPr>
        <a:solidFill>
          <a:srgbClr val="171614"/>
        </a:solidFill>
        <a:ln>
          <a:noFill/>
        </a:ln>
        <a:effectLst/>
      </c:spPr>
    </c:plotArea>
    <c:legend>
      <c:legendPos val="b"/>
      <c:overlay val="0"/>
      <c:txPr>
        <a:bodyPr/>
        <a:lstStyle/>
        <a:p>
          <a:pPr>
            <a:defRPr sz="950">
              <a:solidFill>
                <a:srgbClr val="9A938A"/>
              </a:solidFill>
              <a:latin typeface="Yu Gothic"/>
              <a:cs typeface="Yu Gothic"/>
            </a:defRPr>
          </a:pPr>
          <a:endParaRPr lang="en-US"/>
        </a:p>
      </c:txPr>
    </c:legend>
    <c:plotVisOnly val="1"/>
    <c:dispBlanksAs val="span"/>
  </c:chart>
  <c:spPr>
    <a:solidFill>
      <a:srgbClr val="171614"/>
    </a:solid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5億円・運用期間5年のワインファンド組成提案。実物ワインの流通価格差を収益源とする現物裏付け型。</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倉持案。デットなし・エクイティ5億のみ。主線21.0%、5年通算16.7%。利回りは山本案と同率。</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倉持案。デットなし・エクイティ5億。投資家利回りは山本案と同率21.0%だが、5億拠出ベースでは倉持案21.0%に対し山本案14.2%。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回転12ヶ月＝年間7.48億円。組入銘柄の選定が最大の手段。重複銘柄はプロラタ＋SPC優先。</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免許事業者であるWineBankが売買当事者。SPCは所有者として損益を受ける。</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免許・口座・割当の3つの壁があるため、WineBankが当事者となる。1%は独立企業間価格の最小値。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会社紹介資料17ページの流通価格構造を採用。値上がり年6%を保有期間ぶん売値に乗せる。</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チャネル別の手取り比較。B2C 71.04 &gt; B2B 69.30。ただし回転を作るにはB2Bが必要。</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粗利率30.0%と投下原価利益率47.3%は分母が違うだけ。利回りの源泉は後者。</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保管料は業務用パレット保管の水準。ロスは保険でカバーするため未計上。</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主線は回転12ヶ月で21.0%。20%の分岐点は回転12.7ヶ月で余裕は0.7ヶ月。</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回転期間が一次的にリターンを決める。5年満期により18ヶ月回転でも3回転可能。</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値上がり効果は約+4.0ptで一定。これがないと主線でも17.0%で20%を割る。</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値引きは割に合わない。チャネル増加が本筋。</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3シナリオ比較。</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20%の分岐点は回転12.7ヶ月。主線12ヶ月からの余裕は0.7ヶ月。回転12ヶ月は必要条件。</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プロラタが原則。割り切れない部分でSPC優先。価格同一＋補填条項が金額面の担保。</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高岡先生の指摘事項をそのまま条項化。AUPは50万円でSPC費用に計上済み。</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免許・商流リスクと移転価格リスクを含む8項目。</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運用期間5年・3年ロックアップ・年度解約。報告は四半期。</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免許・税務の確定を第2ステップに置く。</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意義は5点。先方基準20%に対しては回転10.4ヶ月が分岐点。</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chart" Target="/ppt/charts/chart2.xml"/><Relationship Id="rId3" Type="http://schemas.openxmlformats.org/officeDocument/2006/relationships/slideLayout" Target="../slideLayouts/slideLayout1.xml"/><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C0C0C"/>
        </a:solidFill>
      </p:bgPr>
    </p:bg>
    <p:spTree>
      <p:nvGrpSpPr>
        <p:cNvPr id="1" name=""/>
        <p:cNvGrpSpPr/>
        <p:nvPr/>
      </p:nvGrpSpPr>
      <p:grpSpPr>
        <a:xfrm>
          <a:off x="0" y="0"/>
          <a:ext cx="0" cy="0"/>
          <a:chOff x="0" y="0"/>
          <a:chExt cx="0" cy="0"/>
        </a:xfrm>
      </p:grpSpPr>
      <p:sp>
        <p:nvSpPr>
          <p:cNvPr id="2" name="Shape 0"/>
          <p:cNvSpPr/>
          <p:nvPr/>
        </p:nvSpPr>
        <p:spPr>
          <a:xfrm>
            <a:off x="7818120" y="-868680"/>
            <a:ext cx="5577840" cy="5577840"/>
          </a:xfrm>
          <a:prstGeom prst="ellipse">
            <a:avLst/>
          </a:prstGeom>
          <a:solidFill>
            <a:srgbClr val="0C0C0C"/>
          </a:solidFill>
          <a:ln w="13970">
            <a:solidFill>
              <a:srgbClr val="1E1A15"/>
            </a:solidFill>
            <a:prstDash val="solid"/>
          </a:ln>
        </p:spPr>
      </p:sp>
      <p:sp>
        <p:nvSpPr>
          <p:cNvPr id="3" name="Shape 1"/>
          <p:cNvSpPr/>
          <p:nvPr/>
        </p:nvSpPr>
        <p:spPr>
          <a:xfrm>
            <a:off x="8732520" y="45720"/>
            <a:ext cx="3749040" cy="3749040"/>
          </a:xfrm>
          <a:prstGeom prst="ellipse">
            <a:avLst/>
          </a:prstGeom>
          <a:solidFill>
            <a:srgbClr val="0C0C0C"/>
          </a:solidFill>
          <a:ln w="11430">
            <a:solidFill>
              <a:srgbClr val="6E5730"/>
            </a:solidFill>
            <a:prstDash val="solid"/>
          </a:ln>
        </p:spPr>
      </p:sp>
      <p:sp>
        <p:nvSpPr>
          <p:cNvPr id="4" name="Shape 2"/>
          <p:cNvSpPr/>
          <p:nvPr/>
        </p:nvSpPr>
        <p:spPr>
          <a:xfrm>
            <a:off x="10287000" y="1600200"/>
            <a:ext cx="640080" cy="640080"/>
          </a:xfrm>
          <a:prstGeom prst="ellipse">
            <a:avLst/>
          </a:prstGeom>
          <a:solidFill>
            <a:srgbClr val="A78450"/>
          </a:solidFill>
          <a:ln w="12700">
            <a:solidFill>
              <a:srgbClr val="A78450"/>
            </a:solidFill>
            <a:prstDash val="solid"/>
          </a:ln>
        </p:spPr>
      </p:sp>
      <p:sp>
        <p:nvSpPr>
          <p:cNvPr id="5" name="Text 3"/>
          <p:cNvSpPr/>
          <p:nvPr/>
        </p:nvSpPr>
        <p:spPr>
          <a:xfrm>
            <a:off x="658368" y="566928"/>
            <a:ext cx="5486400" cy="274320"/>
          </a:xfrm>
          <a:prstGeom prst="rect">
            <a:avLst/>
          </a:prstGeom>
          <a:noFill/>
          <a:ln/>
        </p:spPr>
        <p:txBody>
          <a:bodyPr wrap="square" lIns="0" tIns="0" rIns="0" bIns="0" rtlCol="0" anchor="ctr"/>
          <a:lstStyle/>
          <a:p>
            <a:pPr indent="0" marL="0">
              <a:buNone/>
            </a:pPr>
            <a:r>
              <a:rPr lang="en-US" sz="1300" b="1" spc="550" kern="0" dirty="0">
                <a:solidFill>
                  <a:srgbClr val="EFEBE3"/>
                </a:solidFill>
                <a:latin typeface="Cambria" pitchFamily="34" charset="0"/>
                <a:ea typeface="Cambria" pitchFamily="34" charset="-122"/>
                <a:cs typeface="Cambria" pitchFamily="34" charset="-120"/>
              </a:rPr>
              <a:t>WINEBANK</a:t>
            </a:r>
            <a:endParaRPr lang="en-US" sz="1300" dirty="0"/>
          </a:p>
        </p:txBody>
      </p:sp>
      <p:sp>
        <p:nvSpPr>
          <p:cNvPr id="6" name="Shape 4"/>
          <p:cNvSpPr/>
          <p:nvPr/>
        </p:nvSpPr>
        <p:spPr>
          <a:xfrm>
            <a:off x="658368" y="1700784"/>
            <a:ext cx="3017520" cy="329184"/>
          </a:xfrm>
          <a:prstGeom prst="roundRect">
            <a:avLst>
              <a:gd name="adj" fmla="val 11111"/>
            </a:avLst>
          </a:prstGeom>
          <a:solidFill>
            <a:srgbClr val="1F1D19"/>
          </a:solidFill>
          <a:ln w="12700">
            <a:solidFill>
              <a:srgbClr val="6E5730"/>
            </a:solidFill>
            <a:prstDash val="solid"/>
          </a:ln>
        </p:spPr>
      </p:sp>
      <p:sp>
        <p:nvSpPr>
          <p:cNvPr id="7" name="Text 5"/>
          <p:cNvSpPr/>
          <p:nvPr/>
        </p:nvSpPr>
        <p:spPr>
          <a:xfrm>
            <a:off x="658368" y="1700784"/>
            <a:ext cx="3017520" cy="329184"/>
          </a:xfrm>
          <a:prstGeom prst="rect">
            <a:avLst/>
          </a:prstGeom>
          <a:noFill/>
          <a:ln/>
        </p:spPr>
        <p:txBody>
          <a:bodyPr wrap="square" lIns="0" tIns="0" rIns="0" bIns="0" rtlCol="0" anchor="ctr"/>
          <a:lstStyle/>
          <a:p>
            <a:pPr algn="ctr" indent="0" marL="0">
              <a:buNone/>
            </a:pPr>
            <a:r>
              <a:rPr lang="en-US" sz="1100" b="1" spc="120" kern="0" dirty="0">
                <a:solidFill>
                  <a:srgbClr val="C9A96E"/>
                </a:solidFill>
                <a:latin typeface="Yu Gothic" pitchFamily="34" charset="0"/>
                <a:ea typeface="Yu Gothic" pitchFamily="34" charset="-122"/>
                <a:cs typeface="Yu Gothic" pitchFamily="34" charset="-120"/>
              </a:rPr>
              <a:t>倉持案｜エクイティ5億円のみ</a:t>
            </a:r>
            <a:endParaRPr lang="en-US" sz="1100" dirty="0"/>
          </a:p>
        </p:txBody>
      </p:sp>
      <p:sp>
        <p:nvSpPr>
          <p:cNvPr id="8" name="Text 6"/>
          <p:cNvSpPr/>
          <p:nvPr/>
        </p:nvSpPr>
        <p:spPr>
          <a:xfrm>
            <a:off x="658368" y="2212848"/>
            <a:ext cx="7680960" cy="256032"/>
          </a:xfrm>
          <a:prstGeom prst="rect">
            <a:avLst/>
          </a:prstGeom>
          <a:noFill/>
          <a:ln/>
        </p:spPr>
        <p:txBody>
          <a:bodyPr wrap="square" lIns="0" tIns="0" rIns="0" bIns="0" rtlCol="0" anchor="ctr"/>
          <a:lstStyle/>
          <a:p>
            <a:pPr indent="0" marL="0">
              <a:buNone/>
            </a:pPr>
            <a:r>
              <a:rPr lang="en-US" sz="1100" b="1" spc="360" kern="0" dirty="0">
                <a:solidFill>
                  <a:srgbClr val="A78450"/>
                </a:solidFill>
                <a:latin typeface="Cambria" pitchFamily="34" charset="0"/>
                <a:ea typeface="Cambria" pitchFamily="34" charset="-122"/>
                <a:cs typeface="Cambria" pitchFamily="34" charset="-120"/>
              </a:rPr>
              <a:t>WINE FUND ｜ SPC PROPOSAL</a:t>
            </a:r>
            <a:endParaRPr lang="en-US" sz="1100" dirty="0"/>
          </a:p>
        </p:txBody>
      </p:sp>
      <p:sp>
        <p:nvSpPr>
          <p:cNvPr id="9" name="Text 7"/>
          <p:cNvSpPr/>
          <p:nvPr/>
        </p:nvSpPr>
        <p:spPr>
          <a:xfrm>
            <a:off x="658368" y="2560320"/>
            <a:ext cx="7863840" cy="713232"/>
          </a:xfrm>
          <a:prstGeom prst="rect">
            <a:avLst/>
          </a:prstGeom>
          <a:noFill/>
          <a:ln/>
        </p:spPr>
        <p:txBody>
          <a:bodyPr wrap="square" lIns="0" tIns="0" rIns="0" bIns="0" rtlCol="0" anchor="ctr"/>
          <a:lstStyle/>
          <a:p>
            <a:pPr indent="0" marL="0">
              <a:buNone/>
            </a:pPr>
            <a:r>
              <a:rPr lang="en-US" sz="4100" b="1" dirty="0">
                <a:solidFill>
                  <a:srgbClr val="EFEBE3"/>
                </a:solidFill>
                <a:latin typeface="Yu Mincho" pitchFamily="34" charset="0"/>
                <a:ea typeface="Yu Mincho" pitchFamily="34" charset="-122"/>
                <a:cs typeface="Yu Mincho" pitchFamily="34" charset="-120"/>
              </a:rPr>
              <a:t>ワインファンド（SPC）</a:t>
            </a:r>
            <a:endParaRPr lang="en-US" sz="4100" dirty="0"/>
          </a:p>
        </p:txBody>
      </p:sp>
      <p:sp>
        <p:nvSpPr>
          <p:cNvPr id="10" name="Text 8"/>
          <p:cNvSpPr/>
          <p:nvPr/>
        </p:nvSpPr>
        <p:spPr>
          <a:xfrm>
            <a:off x="658368" y="3255264"/>
            <a:ext cx="7863840" cy="713232"/>
          </a:xfrm>
          <a:prstGeom prst="rect">
            <a:avLst/>
          </a:prstGeom>
          <a:noFill/>
          <a:ln/>
        </p:spPr>
        <p:txBody>
          <a:bodyPr wrap="square" lIns="0" tIns="0" rIns="0" bIns="0" rtlCol="0" anchor="ctr"/>
          <a:lstStyle/>
          <a:p>
            <a:pPr indent="0" marL="0">
              <a:buNone/>
            </a:pPr>
            <a:r>
              <a:rPr lang="en-US" sz="4100" b="1" dirty="0">
                <a:solidFill>
                  <a:srgbClr val="C9A96E"/>
                </a:solidFill>
                <a:latin typeface="Yu Mincho" pitchFamily="34" charset="0"/>
                <a:ea typeface="Yu Mincho" pitchFamily="34" charset="-122"/>
                <a:cs typeface="Yu Mincho" pitchFamily="34" charset="-120"/>
              </a:rPr>
              <a:t>組成のご提案</a:t>
            </a:r>
            <a:endParaRPr lang="en-US" sz="4100" dirty="0"/>
          </a:p>
        </p:txBody>
      </p:sp>
      <p:sp>
        <p:nvSpPr>
          <p:cNvPr id="11" name="Text 9"/>
          <p:cNvSpPr/>
          <p:nvPr/>
        </p:nvSpPr>
        <p:spPr>
          <a:xfrm>
            <a:off x="658368" y="4133088"/>
            <a:ext cx="8229600" cy="274320"/>
          </a:xfrm>
          <a:prstGeom prst="rect">
            <a:avLst/>
          </a:prstGeom>
          <a:noFill/>
          <a:ln/>
        </p:spPr>
        <p:txBody>
          <a:bodyPr wrap="square" lIns="0" tIns="0" rIns="0" bIns="0" rtlCol="0" anchor="ctr"/>
          <a:lstStyle/>
          <a:p>
            <a:pPr indent="0" marL="0">
              <a:buNone/>
            </a:pPr>
            <a:r>
              <a:rPr lang="en-US" sz="1250" dirty="0">
                <a:solidFill>
                  <a:srgbClr val="9A938A"/>
                </a:solidFill>
                <a:latin typeface="Yu Gothic" pitchFamily="34" charset="0"/>
                <a:ea typeface="Yu Gothic" pitchFamily="34" charset="-122"/>
                <a:cs typeface="Yu Gothic" pitchFamily="34" charset="-120"/>
              </a:rPr>
              <a:t>総額 5億円（エクイティのみ・デットなし）／ 運用期間5年 ／ 半期分配</a:t>
            </a:r>
            <a:endParaRPr lang="en-US" sz="1250" dirty="0"/>
          </a:p>
        </p:txBody>
      </p:sp>
      <p:sp>
        <p:nvSpPr>
          <p:cNvPr id="12" name="Text 10"/>
          <p:cNvSpPr/>
          <p:nvPr/>
        </p:nvSpPr>
        <p:spPr>
          <a:xfrm>
            <a:off x="658368" y="4443984"/>
            <a:ext cx="8229600" cy="274320"/>
          </a:xfrm>
          <a:prstGeom prst="rect">
            <a:avLst/>
          </a:prstGeom>
          <a:noFill/>
          <a:ln/>
        </p:spPr>
        <p:txBody>
          <a:bodyPr wrap="square" lIns="0" tIns="0" rIns="0" bIns="0" rtlCol="0" anchor="ctr"/>
          <a:lstStyle/>
          <a:p>
            <a:pPr indent="0" marL="0">
              <a:buNone/>
            </a:pPr>
            <a:r>
              <a:rPr lang="en-US" sz="1050" dirty="0">
                <a:solidFill>
                  <a:srgbClr val="6E675E"/>
                </a:solidFill>
                <a:latin typeface="Yu Gothic" pitchFamily="34" charset="0"/>
                <a:ea typeface="Yu Gothic" pitchFamily="34" charset="-122"/>
                <a:cs typeface="Yu Gothic" pitchFamily="34" charset="-120"/>
              </a:rPr>
              <a:t>2026年8月</a:t>
            </a:r>
            <a:endParaRPr lang="en-US" sz="1050" dirty="0"/>
          </a:p>
        </p:txBody>
      </p:sp>
      <p:sp>
        <p:nvSpPr>
          <p:cNvPr id="13" name="Text 11"/>
          <p:cNvSpPr/>
          <p:nvPr/>
        </p:nvSpPr>
        <p:spPr>
          <a:xfrm>
            <a:off x="658368" y="5687568"/>
            <a:ext cx="5486400" cy="292608"/>
          </a:xfrm>
          <a:prstGeom prst="rect">
            <a:avLst/>
          </a:prstGeom>
          <a:noFill/>
          <a:ln/>
        </p:spPr>
        <p:txBody>
          <a:bodyPr wrap="square" lIns="0" tIns="0" rIns="0" bIns="0" rtlCol="0" anchor="ctr"/>
          <a:lstStyle/>
          <a:p>
            <a:pPr indent="0" marL="0">
              <a:buNone/>
            </a:pPr>
            <a:r>
              <a:rPr lang="en-US" sz="1500" b="1" dirty="0">
                <a:solidFill>
                  <a:srgbClr val="EFEBE3"/>
                </a:solidFill>
                <a:latin typeface="Yu Mincho" pitchFamily="34" charset="0"/>
                <a:ea typeface="Yu Mincho" pitchFamily="34" charset="-122"/>
                <a:cs typeface="Yu Mincho" pitchFamily="34" charset="-120"/>
              </a:rPr>
              <a:t>株式会社WineBank</a:t>
            </a:r>
            <a:endParaRPr lang="en-US" sz="1500" dirty="0"/>
          </a:p>
        </p:txBody>
      </p:sp>
      <p:sp>
        <p:nvSpPr>
          <p:cNvPr id="14" name="Text 12"/>
          <p:cNvSpPr/>
          <p:nvPr/>
        </p:nvSpPr>
        <p:spPr>
          <a:xfrm>
            <a:off x="658368" y="6016752"/>
            <a:ext cx="7315200" cy="256032"/>
          </a:xfrm>
          <a:prstGeom prst="rect">
            <a:avLst/>
          </a:prstGeom>
          <a:noFill/>
          <a:ln/>
        </p:spPr>
        <p:txBody>
          <a:bodyPr wrap="square" lIns="0" tIns="0" rIns="0" bIns="0" rtlCol="0" anchor="ctr"/>
          <a:lstStyle/>
          <a:p>
            <a:pPr indent="0" marL="0">
              <a:buNone/>
            </a:pPr>
            <a:r>
              <a:rPr lang="en-US" sz="950" dirty="0">
                <a:solidFill>
                  <a:srgbClr val="6E675E"/>
                </a:solidFill>
                <a:latin typeface="Yu Gothic" pitchFamily="34" charset="0"/>
                <a:ea typeface="Yu Gothic" pitchFamily="34" charset="-122"/>
                <a:cs typeface="Yu Gothic" pitchFamily="34" charset="-120"/>
              </a:rPr>
              <a:t>東京都港区六本木4-12-8 第6DMJビル 2階　／　創業 1970年</a:t>
            </a:r>
            <a:endParaRPr lang="en-US" sz="950" dirty="0"/>
          </a:p>
        </p:txBody>
      </p:sp>
      <p:sp>
        <p:nvSpPr>
          <p:cNvPr id="15" name="Text 13"/>
          <p:cNvSpPr/>
          <p:nvPr/>
        </p:nvSpPr>
        <p:spPr>
          <a:xfrm>
            <a:off x="8790127" y="6016752"/>
            <a:ext cx="2743200" cy="256032"/>
          </a:xfrm>
          <a:prstGeom prst="rect">
            <a:avLst/>
          </a:prstGeom>
          <a:noFill/>
          <a:ln/>
        </p:spPr>
        <p:txBody>
          <a:bodyPr wrap="square" lIns="0" tIns="0" rIns="0" bIns="0" rtlCol="0" anchor="ctr"/>
          <a:lstStyle/>
          <a:p>
            <a:pPr algn="r" indent="0" marL="0">
              <a:buNone/>
            </a:pPr>
            <a:r>
              <a:rPr lang="en-US" sz="950" b="1" spc="260" kern="0" dirty="0">
                <a:solidFill>
                  <a:srgbClr val="6E5730"/>
                </a:solidFill>
                <a:latin typeface="Cambria" pitchFamily="34" charset="0"/>
                <a:ea typeface="Cambria" pitchFamily="34" charset="-122"/>
                <a:cs typeface="Cambria" pitchFamily="34" charset="-120"/>
              </a:rPr>
              <a:t>CONFIDENTIAL</a:t>
            </a:r>
            <a:endParaRPr lang="en-US" sz="9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C0C0C"/>
        </a:solidFill>
      </p:bgPr>
    </p:bg>
    <p:spTree>
      <p:nvGrpSpPr>
        <p:cNvPr id="1" name=""/>
        <p:cNvGrpSpPr/>
        <p:nvPr/>
      </p:nvGrpSpPr>
      <p:grpSpPr>
        <a:xfrm>
          <a:off x="0" y="0"/>
          <a:ext cx="0" cy="0"/>
          <a:chOff x="0" y="0"/>
          <a:chExt cx="0" cy="0"/>
        </a:xfrm>
      </p:grpSpPr>
      <p:sp>
        <p:nvSpPr>
          <p:cNvPr id="2" name="Text 0"/>
          <p:cNvSpPr/>
          <p:nvPr/>
        </p:nvSpPr>
        <p:spPr>
          <a:xfrm>
            <a:off x="658368" y="384048"/>
            <a:ext cx="10874959" cy="219456"/>
          </a:xfrm>
          <a:prstGeom prst="rect">
            <a:avLst/>
          </a:prstGeom>
          <a:noFill/>
          <a:ln/>
        </p:spPr>
        <p:txBody>
          <a:bodyPr wrap="square" lIns="0" tIns="0" rIns="0" bIns="0" rtlCol="0" anchor="ctr"/>
          <a:lstStyle/>
          <a:p>
            <a:pPr indent="0" marL="0">
              <a:buNone/>
            </a:pPr>
            <a:r>
              <a:rPr lang="en-US" sz="1050" b="1" spc="340" kern="0" dirty="0">
                <a:solidFill>
                  <a:srgbClr val="A78450"/>
                </a:solidFill>
                <a:latin typeface="Cambria" pitchFamily="34" charset="0"/>
                <a:ea typeface="Cambria" pitchFamily="34" charset="-122"/>
                <a:cs typeface="Cambria" pitchFamily="34" charset="-120"/>
              </a:rPr>
              <a:t>EXECUTIVE SUMMARY</a:t>
            </a:r>
            <a:endParaRPr lang="en-US" sz="1050" dirty="0"/>
          </a:p>
        </p:txBody>
      </p:sp>
      <p:sp>
        <p:nvSpPr>
          <p:cNvPr id="3" name="Text 1"/>
          <p:cNvSpPr/>
          <p:nvPr/>
        </p:nvSpPr>
        <p:spPr>
          <a:xfrm>
            <a:off x="658368" y="640080"/>
            <a:ext cx="10874959" cy="548640"/>
          </a:xfrm>
          <a:prstGeom prst="rect">
            <a:avLst/>
          </a:prstGeom>
          <a:noFill/>
          <a:ln/>
        </p:spPr>
        <p:txBody>
          <a:bodyPr wrap="square" lIns="0" tIns="0" rIns="0" bIns="0" rtlCol="0" anchor="ctr"/>
          <a:lstStyle/>
          <a:p>
            <a:pPr indent="0" marL="0">
              <a:buNone/>
            </a:pPr>
            <a:r>
              <a:rPr lang="en-US" sz="2700" b="1" dirty="0">
                <a:solidFill>
                  <a:srgbClr val="EFEBE3"/>
                </a:solidFill>
                <a:latin typeface="Yu Mincho" pitchFamily="34" charset="0"/>
                <a:ea typeface="Yu Mincho" pitchFamily="34" charset="-122"/>
                <a:cs typeface="Yu Mincho" pitchFamily="34" charset="-120"/>
              </a:rPr>
              <a:t>本ファンドの骨子</a:t>
            </a:r>
            <a:endParaRPr lang="en-US" sz="2700" dirty="0"/>
          </a:p>
        </p:txBody>
      </p:sp>
      <p:sp>
        <p:nvSpPr>
          <p:cNvPr id="4" name="Text 2"/>
          <p:cNvSpPr/>
          <p:nvPr/>
        </p:nvSpPr>
        <p:spPr>
          <a:xfrm>
            <a:off x="658368" y="1216152"/>
            <a:ext cx="10874959" cy="310896"/>
          </a:xfrm>
          <a:prstGeom prst="rect">
            <a:avLst/>
          </a:prstGeom>
          <a:noFill/>
          <a:ln/>
        </p:spPr>
        <p:txBody>
          <a:bodyPr wrap="square" lIns="0" tIns="0" rIns="0" bIns="0" rtlCol="0" anchor="ctr"/>
          <a:lstStyle/>
          <a:p>
            <a:pPr indent="0" marL="0">
              <a:buNone/>
            </a:pPr>
            <a:r>
              <a:rPr lang="en-US" sz="1150" dirty="0">
                <a:solidFill>
                  <a:srgbClr val="9A938A"/>
                </a:solidFill>
                <a:latin typeface="Yu Gothic" pitchFamily="34" charset="0"/>
                <a:ea typeface="Yu Gothic" pitchFamily="34" charset="-122"/>
                <a:cs typeface="Yu Gothic" pitchFamily="34" charset="-120"/>
              </a:rPr>
              <a:t>実物ワインの流通価格差を収益源とする、現物裏付け型の短期回転ファンド。</a:t>
            </a:r>
            <a:endParaRPr lang="en-US" sz="1150" dirty="0"/>
          </a:p>
        </p:txBody>
      </p:sp>
      <p:sp>
        <p:nvSpPr>
          <p:cNvPr id="5" name="Text 3"/>
          <p:cNvSpPr/>
          <p:nvPr/>
        </p:nvSpPr>
        <p:spPr>
          <a:xfrm>
            <a:off x="658368" y="6437376"/>
            <a:ext cx="5029200" cy="219456"/>
          </a:xfrm>
          <a:prstGeom prst="rect">
            <a:avLst/>
          </a:prstGeom>
          <a:noFill/>
          <a:ln/>
        </p:spPr>
        <p:txBody>
          <a:bodyPr wrap="square" lIns="0" tIns="0" rIns="0" bIns="0" rtlCol="0" anchor="ctr"/>
          <a:lstStyle/>
          <a:p>
            <a:pPr indent="0" marL="0">
              <a:buNone/>
            </a:pPr>
            <a:r>
              <a:rPr lang="en-US" sz="850" dirty="0">
                <a:solidFill>
                  <a:srgbClr val="6E675E"/>
                </a:solidFill>
                <a:latin typeface="Yu Gothic" pitchFamily="34" charset="0"/>
                <a:ea typeface="Yu Gothic" pitchFamily="34" charset="-122"/>
                <a:cs typeface="Yu Gothic" pitchFamily="34" charset="-120"/>
              </a:rPr>
              <a:t>CONFIDENTIAL ｜ 株式会社WineBank</a:t>
            </a:r>
            <a:endParaRPr lang="en-US" sz="850" dirty="0"/>
          </a:p>
        </p:txBody>
      </p:sp>
      <p:sp>
        <p:nvSpPr>
          <p:cNvPr id="6" name="Text 4"/>
          <p:cNvSpPr/>
          <p:nvPr/>
        </p:nvSpPr>
        <p:spPr>
          <a:xfrm>
            <a:off x="10618927" y="6437376"/>
            <a:ext cx="914400" cy="219456"/>
          </a:xfrm>
          <a:prstGeom prst="rect">
            <a:avLst/>
          </a:prstGeom>
          <a:noFill/>
          <a:ln/>
        </p:spPr>
        <p:txBody>
          <a:bodyPr wrap="square" lIns="0" tIns="0" rIns="0" bIns="0" rtlCol="0" anchor="ctr"/>
          <a:lstStyle/>
          <a:p>
            <a:pPr algn="r" indent="0" marL="0">
              <a:buNone/>
            </a:pPr>
            <a:r>
              <a:rPr lang="en-US" sz="950" spc="150" kern="0" dirty="0">
                <a:solidFill>
                  <a:srgbClr val="6E5730"/>
                </a:solidFill>
                <a:latin typeface="Cambria" pitchFamily="34" charset="0"/>
                <a:ea typeface="Cambria" pitchFamily="34" charset="-122"/>
                <a:cs typeface="Cambria" pitchFamily="34" charset="-120"/>
              </a:rPr>
              <a:t>01</a:t>
            </a:r>
            <a:endParaRPr lang="en-US" sz="950" dirty="0"/>
          </a:p>
        </p:txBody>
      </p:sp>
      <p:sp>
        <p:nvSpPr>
          <p:cNvPr id="7" name="Shape 5"/>
          <p:cNvSpPr/>
          <p:nvPr/>
        </p:nvSpPr>
        <p:spPr>
          <a:xfrm>
            <a:off x="658368" y="1664208"/>
            <a:ext cx="2513000" cy="1481328"/>
          </a:xfrm>
          <a:prstGeom prst="roundRect">
            <a:avLst>
              <a:gd name="adj" fmla="val 2778"/>
            </a:avLst>
          </a:prstGeom>
          <a:solidFill>
            <a:srgbClr val="171614"/>
          </a:solidFill>
          <a:ln w="9525">
            <a:solidFill>
              <a:srgbClr val="2E2A24"/>
            </a:solidFill>
            <a:prstDash val="solid"/>
          </a:ln>
        </p:spPr>
      </p:sp>
      <p:sp>
        <p:nvSpPr>
          <p:cNvPr id="8" name="Text 6"/>
          <p:cNvSpPr/>
          <p:nvPr/>
        </p:nvSpPr>
        <p:spPr>
          <a:xfrm>
            <a:off x="896112" y="1847088"/>
            <a:ext cx="2037512" cy="566928"/>
          </a:xfrm>
          <a:prstGeom prst="rect">
            <a:avLst/>
          </a:prstGeom>
          <a:noFill/>
          <a:ln/>
        </p:spPr>
        <p:txBody>
          <a:bodyPr wrap="square" lIns="0" tIns="0" rIns="0" bIns="0" rtlCol="0" anchor="ctr"/>
          <a:lstStyle/>
          <a:p>
            <a:pPr indent="0" marL="0">
              <a:buNone/>
            </a:pPr>
            <a:r>
              <a:rPr lang="en-US" sz="3400" b="1" dirty="0">
                <a:solidFill>
                  <a:srgbClr val="C9A96E"/>
                </a:solidFill>
                <a:latin typeface="Cambria" pitchFamily="34" charset="0"/>
                <a:ea typeface="Cambria" pitchFamily="34" charset="-122"/>
                <a:cs typeface="Cambria" pitchFamily="34" charset="-120"/>
              </a:rPr>
              <a:t>5</a:t>
            </a:r>
            <a:pPr indent="0" marL="0">
              <a:buNone/>
            </a:pPr>
            <a:r>
              <a:rPr lang="en-US" sz="1250" b="1" dirty="0">
                <a:solidFill>
                  <a:srgbClr val="C9A96E"/>
                </a:solidFill>
                <a:latin typeface="Yu Gothic" pitchFamily="34" charset="0"/>
                <a:ea typeface="Yu Gothic" pitchFamily="34" charset="-122"/>
                <a:cs typeface="Yu Gothic" pitchFamily="34" charset="-120"/>
              </a:rPr>
              <a:t> 億円</a:t>
            </a:r>
            <a:endParaRPr lang="en-US" sz="3400" dirty="0"/>
          </a:p>
        </p:txBody>
      </p:sp>
      <p:sp>
        <p:nvSpPr>
          <p:cNvPr id="9" name="Text 7"/>
          <p:cNvSpPr/>
          <p:nvPr/>
        </p:nvSpPr>
        <p:spPr>
          <a:xfrm>
            <a:off x="896112" y="2432304"/>
            <a:ext cx="2037512" cy="237744"/>
          </a:xfrm>
          <a:prstGeom prst="rect">
            <a:avLst/>
          </a:prstGeom>
          <a:noFill/>
          <a:ln/>
        </p:spPr>
        <p:txBody>
          <a:bodyPr wrap="square" lIns="0" tIns="0" rIns="0" bIns="0" rtlCol="0" anchor="ctr"/>
          <a:lstStyle/>
          <a:p>
            <a:pPr indent="0" marL="0">
              <a:buNone/>
            </a:pPr>
            <a:r>
              <a:rPr lang="en-US" sz="1100" b="1" dirty="0">
                <a:solidFill>
                  <a:srgbClr val="EFEBE3"/>
                </a:solidFill>
                <a:latin typeface="Yu Gothic" pitchFamily="34" charset="0"/>
                <a:ea typeface="Yu Gothic" pitchFamily="34" charset="-122"/>
                <a:cs typeface="Yu Gothic" pitchFamily="34" charset="-120"/>
              </a:rPr>
              <a:t>投資家エクイティ</a:t>
            </a:r>
            <a:endParaRPr lang="en-US" sz="1100" dirty="0"/>
          </a:p>
        </p:txBody>
      </p:sp>
      <p:sp>
        <p:nvSpPr>
          <p:cNvPr id="10" name="Text 8"/>
          <p:cNvSpPr/>
          <p:nvPr/>
        </p:nvSpPr>
        <p:spPr>
          <a:xfrm>
            <a:off x="896112" y="2660904"/>
            <a:ext cx="2037512" cy="384048"/>
          </a:xfrm>
          <a:prstGeom prst="rect">
            <a:avLst/>
          </a:prstGeom>
          <a:noFill/>
          <a:ln/>
        </p:spPr>
        <p:txBody>
          <a:bodyPr wrap="square" lIns="0" tIns="0" rIns="0" bIns="0" rtlCol="0" anchor="ctr"/>
          <a:lstStyle/>
          <a:p>
            <a:pPr indent="0" marL="0">
              <a:lnSpc>
                <a:spcPct val="115000"/>
              </a:lnSpc>
              <a:buNone/>
            </a:pPr>
            <a:r>
              <a:rPr lang="en-US" sz="900" dirty="0">
                <a:solidFill>
                  <a:srgbClr val="9A938A"/>
                </a:solidFill>
                <a:latin typeface="Yu Gothic" pitchFamily="34" charset="0"/>
                <a:ea typeface="Yu Gothic" pitchFamily="34" charset="-122"/>
                <a:cs typeface="Yu Gothic" pitchFamily="34" charset="-120"/>
              </a:rPr>
              <a:t>総額5億円をすべて匿名組合出資で構成（デットなし）／運用期間5年</a:t>
            </a:r>
            <a:endParaRPr lang="en-US" sz="900" dirty="0"/>
          </a:p>
        </p:txBody>
      </p:sp>
      <p:sp>
        <p:nvSpPr>
          <p:cNvPr id="11" name="Shape 9"/>
          <p:cNvSpPr/>
          <p:nvPr/>
        </p:nvSpPr>
        <p:spPr>
          <a:xfrm>
            <a:off x="3445688" y="1664208"/>
            <a:ext cx="2513000" cy="1481328"/>
          </a:xfrm>
          <a:prstGeom prst="roundRect">
            <a:avLst>
              <a:gd name="adj" fmla="val 2778"/>
            </a:avLst>
          </a:prstGeom>
          <a:solidFill>
            <a:srgbClr val="171614"/>
          </a:solidFill>
          <a:ln w="9525">
            <a:solidFill>
              <a:srgbClr val="2E2A24"/>
            </a:solidFill>
            <a:prstDash val="solid"/>
          </a:ln>
        </p:spPr>
      </p:sp>
      <p:sp>
        <p:nvSpPr>
          <p:cNvPr id="12" name="Text 10"/>
          <p:cNvSpPr/>
          <p:nvPr/>
        </p:nvSpPr>
        <p:spPr>
          <a:xfrm>
            <a:off x="3683432" y="1847088"/>
            <a:ext cx="2037512" cy="566928"/>
          </a:xfrm>
          <a:prstGeom prst="rect">
            <a:avLst/>
          </a:prstGeom>
          <a:noFill/>
          <a:ln/>
        </p:spPr>
        <p:txBody>
          <a:bodyPr wrap="square" lIns="0" tIns="0" rIns="0" bIns="0" rtlCol="0" anchor="ctr"/>
          <a:lstStyle/>
          <a:p>
            <a:pPr indent="0" marL="0">
              <a:buNone/>
            </a:pPr>
            <a:r>
              <a:rPr lang="en-US" sz="3400" b="1" dirty="0">
                <a:solidFill>
                  <a:srgbClr val="C9A96E"/>
                </a:solidFill>
                <a:latin typeface="Cambria" pitchFamily="34" charset="0"/>
                <a:ea typeface="Cambria" pitchFamily="34" charset="-122"/>
                <a:cs typeface="Cambria" pitchFamily="34" charset="-120"/>
              </a:rPr>
              <a:t>12</a:t>
            </a:r>
            <a:pPr indent="0" marL="0">
              <a:buNone/>
            </a:pPr>
            <a:r>
              <a:rPr lang="en-US" sz="1250" b="1" dirty="0">
                <a:solidFill>
                  <a:srgbClr val="C9A96E"/>
                </a:solidFill>
                <a:latin typeface="Yu Gothic" pitchFamily="34" charset="0"/>
                <a:ea typeface="Yu Gothic" pitchFamily="34" charset="-122"/>
                <a:cs typeface="Yu Gothic" pitchFamily="34" charset="-120"/>
              </a:rPr>
              <a:t> ヶ月</a:t>
            </a:r>
            <a:endParaRPr lang="en-US" sz="3400" dirty="0"/>
          </a:p>
        </p:txBody>
      </p:sp>
      <p:sp>
        <p:nvSpPr>
          <p:cNvPr id="13" name="Text 11"/>
          <p:cNvSpPr/>
          <p:nvPr/>
        </p:nvSpPr>
        <p:spPr>
          <a:xfrm>
            <a:off x="3683432" y="2432304"/>
            <a:ext cx="2037512" cy="237744"/>
          </a:xfrm>
          <a:prstGeom prst="rect">
            <a:avLst/>
          </a:prstGeom>
          <a:noFill/>
          <a:ln/>
        </p:spPr>
        <p:txBody>
          <a:bodyPr wrap="square" lIns="0" tIns="0" rIns="0" bIns="0" rtlCol="0" anchor="ctr"/>
          <a:lstStyle/>
          <a:p>
            <a:pPr indent="0" marL="0">
              <a:buNone/>
            </a:pPr>
            <a:r>
              <a:rPr lang="en-US" sz="1100" b="1" dirty="0">
                <a:solidFill>
                  <a:srgbClr val="EFEBE3"/>
                </a:solidFill>
                <a:latin typeface="Yu Gothic" pitchFamily="34" charset="0"/>
                <a:ea typeface="Yu Gothic" pitchFamily="34" charset="-122"/>
                <a:cs typeface="Yu Gothic" pitchFamily="34" charset="-120"/>
              </a:rPr>
              <a:t>在庫回転期間（主線）</a:t>
            </a:r>
            <a:endParaRPr lang="en-US" sz="1100" dirty="0"/>
          </a:p>
        </p:txBody>
      </p:sp>
      <p:sp>
        <p:nvSpPr>
          <p:cNvPr id="14" name="Text 12"/>
          <p:cNvSpPr/>
          <p:nvPr/>
        </p:nvSpPr>
        <p:spPr>
          <a:xfrm>
            <a:off x="3683432" y="2660904"/>
            <a:ext cx="2037512" cy="384048"/>
          </a:xfrm>
          <a:prstGeom prst="rect">
            <a:avLst/>
          </a:prstGeom>
          <a:noFill/>
          <a:ln/>
        </p:spPr>
        <p:txBody>
          <a:bodyPr wrap="square" lIns="0" tIns="0" rIns="0" bIns="0" rtlCol="0" anchor="ctr"/>
          <a:lstStyle/>
          <a:p>
            <a:pPr indent="0" marL="0">
              <a:lnSpc>
                <a:spcPct val="115000"/>
              </a:lnSpc>
              <a:buNone/>
            </a:pPr>
            <a:r>
              <a:rPr lang="en-US" sz="900" dirty="0">
                <a:solidFill>
                  <a:srgbClr val="9A938A"/>
                </a:solidFill>
                <a:latin typeface="Yu Gothic" pitchFamily="34" charset="0"/>
                <a:ea typeface="Yu Gothic" pitchFamily="34" charset="-122"/>
                <a:cs typeface="Yu Gothic" pitchFamily="34" charset="-120"/>
              </a:rPr>
              <a:t>最短9ヶ月、延びても15〜18ヶ月を想定レンジとする</a:t>
            </a:r>
            <a:endParaRPr lang="en-US" sz="900" dirty="0"/>
          </a:p>
        </p:txBody>
      </p:sp>
      <p:sp>
        <p:nvSpPr>
          <p:cNvPr id="15" name="Shape 13"/>
          <p:cNvSpPr/>
          <p:nvPr/>
        </p:nvSpPr>
        <p:spPr>
          <a:xfrm>
            <a:off x="6233008" y="1664208"/>
            <a:ext cx="2513000" cy="1481328"/>
          </a:xfrm>
          <a:prstGeom prst="roundRect">
            <a:avLst>
              <a:gd name="adj" fmla="val 2778"/>
            </a:avLst>
          </a:prstGeom>
          <a:solidFill>
            <a:srgbClr val="171614"/>
          </a:solidFill>
          <a:ln w="9525">
            <a:solidFill>
              <a:srgbClr val="2E2A24"/>
            </a:solidFill>
            <a:prstDash val="solid"/>
          </a:ln>
        </p:spPr>
      </p:sp>
      <p:sp>
        <p:nvSpPr>
          <p:cNvPr id="16" name="Text 14"/>
          <p:cNvSpPr/>
          <p:nvPr/>
        </p:nvSpPr>
        <p:spPr>
          <a:xfrm>
            <a:off x="6470752" y="1847088"/>
            <a:ext cx="2037512" cy="566928"/>
          </a:xfrm>
          <a:prstGeom prst="rect">
            <a:avLst/>
          </a:prstGeom>
          <a:noFill/>
          <a:ln/>
        </p:spPr>
        <p:txBody>
          <a:bodyPr wrap="square" lIns="0" tIns="0" rIns="0" bIns="0" rtlCol="0" anchor="ctr"/>
          <a:lstStyle/>
          <a:p>
            <a:pPr indent="0" marL="0">
              <a:buNone/>
            </a:pPr>
            <a:r>
              <a:rPr lang="en-US" sz="3400" b="1" dirty="0">
                <a:solidFill>
                  <a:srgbClr val="C9A96E"/>
                </a:solidFill>
                <a:latin typeface="Cambria" pitchFamily="34" charset="0"/>
                <a:ea typeface="Cambria" pitchFamily="34" charset="-122"/>
                <a:cs typeface="Cambria" pitchFamily="34" charset="-120"/>
              </a:rPr>
              <a:t>21.0</a:t>
            </a:r>
            <a:pPr indent="0" marL="0">
              <a:buNone/>
            </a:pPr>
            <a:r>
              <a:rPr lang="en-US" sz="1250" b="1" dirty="0">
                <a:solidFill>
                  <a:srgbClr val="C9A96E"/>
                </a:solidFill>
                <a:latin typeface="Yu Gothic" pitchFamily="34" charset="0"/>
                <a:ea typeface="Yu Gothic" pitchFamily="34" charset="-122"/>
                <a:cs typeface="Yu Gothic" pitchFamily="34" charset="-120"/>
              </a:rPr>
              <a:t> %</a:t>
            </a:r>
            <a:endParaRPr lang="en-US" sz="3400" dirty="0"/>
          </a:p>
        </p:txBody>
      </p:sp>
      <p:sp>
        <p:nvSpPr>
          <p:cNvPr id="17" name="Text 15"/>
          <p:cNvSpPr/>
          <p:nvPr/>
        </p:nvSpPr>
        <p:spPr>
          <a:xfrm>
            <a:off x="6470752" y="2432304"/>
            <a:ext cx="2037512" cy="237744"/>
          </a:xfrm>
          <a:prstGeom prst="rect">
            <a:avLst/>
          </a:prstGeom>
          <a:noFill/>
          <a:ln/>
        </p:spPr>
        <p:txBody>
          <a:bodyPr wrap="square" lIns="0" tIns="0" rIns="0" bIns="0" rtlCol="0" anchor="ctr"/>
          <a:lstStyle/>
          <a:p>
            <a:pPr indent="0" marL="0">
              <a:buNone/>
            </a:pPr>
            <a:r>
              <a:rPr lang="en-US" sz="1100" b="1" dirty="0">
                <a:solidFill>
                  <a:srgbClr val="EFEBE3"/>
                </a:solidFill>
                <a:latin typeface="Yu Gothic" pitchFamily="34" charset="0"/>
                <a:ea typeface="Yu Gothic" pitchFamily="34" charset="-122"/>
                <a:cs typeface="Yu Gothic" pitchFamily="34" charset="-120"/>
              </a:rPr>
              <a:t>投資家利回り（定常年間）</a:t>
            </a:r>
            <a:endParaRPr lang="en-US" sz="1100" dirty="0"/>
          </a:p>
        </p:txBody>
      </p:sp>
      <p:sp>
        <p:nvSpPr>
          <p:cNvPr id="18" name="Text 16"/>
          <p:cNvSpPr/>
          <p:nvPr/>
        </p:nvSpPr>
        <p:spPr>
          <a:xfrm>
            <a:off x="6470752" y="2660904"/>
            <a:ext cx="2037512" cy="384048"/>
          </a:xfrm>
          <a:prstGeom prst="rect">
            <a:avLst/>
          </a:prstGeom>
          <a:noFill/>
          <a:ln/>
        </p:spPr>
        <p:txBody>
          <a:bodyPr wrap="square" lIns="0" tIns="0" rIns="0" bIns="0" rtlCol="0" anchor="ctr"/>
          <a:lstStyle/>
          <a:p>
            <a:pPr indent="0" marL="0">
              <a:lnSpc>
                <a:spcPct val="115000"/>
              </a:lnSpc>
              <a:buNone/>
            </a:pPr>
            <a:r>
              <a:rPr lang="en-US" sz="900" dirty="0">
                <a:solidFill>
                  <a:srgbClr val="9A938A"/>
                </a:solidFill>
                <a:latin typeface="Yu Gothic" pitchFamily="34" charset="0"/>
                <a:ea typeface="Yu Gothic" pitchFamily="34" charset="-122"/>
                <a:cs typeface="Yu Gothic" pitchFamily="34" charset="-120"/>
              </a:rPr>
              <a:t>出資5億円に対する取分。SPC税前利益の50%を受領</a:t>
            </a:r>
            <a:endParaRPr lang="en-US" sz="900" dirty="0"/>
          </a:p>
        </p:txBody>
      </p:sp>
      <p:sp>
        <p:nvSpPr>
          <p:cNvPr id="19" name="Shape 17"/>
          <p:cNvSpPr/>
          <p:nvPr/>
        </p:nvSpPr>
        <p:spPr>
          <a:xfrm>
            <a:off x="9020327" y="1664208"/>
            <a:ext cx="2513000" cy="1481328"/>
          </a:xfrm>
          <a:prstGeom prst="roundRect">
            <a:avLst>
              <a:gd name="adj" fmla="val 2778"/>
            </a:avLst>
          </a:prstGeom>
          <a:solidFill>
            <a:srgbClr val="1F1D19"/>
          </a:solidFill>
          <a:ln w="9525">
            <a:solidFill>
              <a:srgbClr val="6E5730"/>
            </a:solidFill>
            <a:prstDash val="solid"/>
          </a:ln>
        </p:spPr>
      </p:sp>
      <p:sp>
        <p:nvSpPr>
          <p:cNvPr id="20" name="Text 18"/>
          <p:cNvSpPr/>
          <p:nvPr/>
        </p:nvSpPr>
        <p:spPr>
          <a:xfrm>
            <a:off x="9258071" y="1847088"/>
            <a:ext cx="2037512" cy="566928"/>
          </a:xfrm>
          <a:prstGeom prst="rect">
            <a:avLst/>
          </a:prstGeom>
          <a:noFill/>
          <a:ln/>
        </p:spPr>
        <p:txBody>
          <a:bodyPr wrap="square" lIns="0" tIns="0" rIns="0" bIns="0" rtlCol="0" anchor="ctr"/>
          <a:lstStyle/>
          <a:p>
            <a:pPr indent="0" marL="0">
              <a:buNone/>
            </a:pPr>
            <a:r>
              <a:rPr lang="en-US" sz="3000" b="1" dirty="0">
                <a:solidFill>
                  <a:srgbClr val="C9A96E"/>
                </a:solidFill>
                <a:latin typeface="Cambria" pitchFamily="34" charset="0"/>
                <a:ea typeface="Cambria" pitchFamily="34" charset="-122"/>
                <a:cs typeface="Cambria" pitchFamily="34" charset="-120"/>
              </a:rPr>
              <a:t>16.7</a:t>
            </a:r>
            <a:pPr indent="0" marL="0">
              <a:buNone/>
            </a:pPr>
            <a:r>
              <a:rPr lang="en-US" sz="1250" b="1" dirty="0">
                <a:solidFill>
                  <a:srgbClr val="C9A96E"/>
                </a:solidFill>
                <a:latin typeface="Yu Gothic" pitchFamily="34" charset="0"/>
                <a:ea typeface="Yu Gothic" pitchFamily="34" charset="-122"/>
                <a:cs typeface="Yu Gothic" pitchFamily="34" charset="-120"/>
              </a:rPr>
              <a:t> %</a:t>
            </a:r>
            <a:endParaRPr lang="en-US" sz="3000" dirty="0"/>
          </a:p>
        </p:txBody>
      </p:sp>
      <p:sp>
        <p:nvSpPr>
          <p:cNvPr id="21" name="Text 19"/>
          <p:cNvSpPr/>
          <p:nvPr/>
        </p:nvSpPr>
        <p:spPr>
          <a:xfrm>
            <a:off x="9258071" y="2432304"/>
            <a:ext cx="2037512" cy="237744"/>
          </a:xfrm>
          <a:prstGeom prst="rect">
            <a:avLst/>
          </a:prstGeom>
          <a:noFill/>
          <a:ln/>
        </p:spPr>
        <p:txBody>
          <a:bodyPr wrap="square" lIns="0" tIns="0" rIns="0" bIns="0" rtlCol="0" anchor="ctr"/>
          <a:lstStyle/>
          <a:p>
            <a:pPr indent="0" marL="0">
              <a:buNone/>
            </a:pPr>
            <a:r>
              <a:rPr lang="en-US" sz="1100" b="1" dirty="0">
                <a:solidFill>
                  <a:srgbClr val="EFEBE3"/>
                </a:solidFill>
                <a:latin typeface="Yu Gothic" pitchFamily="34" charset="0"/>
                <a:ea typeface="Yu Gothic" pitchFamily="34" charset="-122"/>
                <a:cs typeface="Yu Gothic" pitchFamily="34" charset="-120"/>
              </a:rPr>
              <a:t>年平均利回り（5年通算）</a:t>
            </a:r>
            <a:endParaRPr lang="en-US" sz="1100" dirty="0"/>
          </a:p>
        </p:txBody>
      </p:sp>
      <p:sp>
        <p:nvSpPr>
          <p:cNvPr id="22" name="Text 20"/>
          <p:cNvSpPr/>
          <p:nvPr/>
        </p:nvSpPr>
        <p:spPr>
          <a:xfrm>
            <a:off x="9258071" y="2660904"/>
            <a:ext cx="2037512" cy="384048"/>
          </a:xfrm>
          <a:prstGeom prst="rect">
            <a:avLst/>
          </a:prstGeom>
          <a:noFill/>
          <a:ln/>
        </p:spPr>
        <p:txBody>
          <a:bodyPr wrap="square" lIns="0" tIns="0" rIns="0" bIns="0" rtlCol="0" anchor="ctr"/>
          <a:lstStyle/>
          <a:p>
            <a:pPr indent="0" marL="0">
              <a:lnSpc>
                <a:spcPct val="115000"/>
              </a:lnSpc>
              <a:buNone/>
            </a:pPr>
            <a:r>
              <a:rPr lang="en-US" sz="900" dirty="0">
                <a:solidFill>
                  <a:srgbClr val="9A938A"/>
                </a:solidFill>
                <a:latin typeface="Yu Gothic" pitchFamily="34" charset="0"/>
                <a:ea typeface="Yu Gothic" pitchFamily="34" charset="-122"/>
                <a:cs typeface="Yu Gothic" pitchFamily="34" charset="-120"/>
              </a:rPr>
              <a:t>在庫回転12ヶ月／累計分配額÷出資5億円÷5年</a:t>
            </a:r>
            <a:endParaRPr lang="en-US" sz="900" dirty="0"/>
          </a:p>
        </p:txBody>
      </p:sp>
      <p:sp>
        <p:nvSpPr>
          <p:cNvPr id="23" name="Shape 21"/>
          <p:cNvSpPr/>
          <p:nvPr/>
        </p:nvSpPr>
        <p:spPr>
          <a:xfrm>
            <a:off x="658368" y="3419856"/>
            <a:ext cx="274320" cy="274320"/>
          </a:xfrm>
          <a:prstGeom prst="ellipse">
            <a:avLst/>
          </a:prstGeom>
          <a:solidFill>
            <a:srgbClr val="0C0C0C"/>
          </a:solidFill>
          <a:ln w="11430">
            <a:solidFill>
              <a:srgbClr val="A78450"/>
            </a:solidFill>
            <a:prstDash val="solid"/>
          </a:ln>
        </p:spPr>
      </p:sp>
      <p:sp>
        <p:nvSpPr>
          <p:cNvPr id="24" name="Text 22"/>
          <p:cNvSpPr/>
          <p:nvPr/>
        </p:nvSpPr>
        <p:spPr>
          <a:xfrm>
            <a:off x="658368" y="3419856"/>
            <a:ext cx="274320" cy="274320"/>
          </a:xfrm>
          <a:prstGeom prst="rect">
            <a:avLst/>
          </a:prstGeom>
          <a:noFill/>
          <a:ln/>
        </p:spPr>
        <p:txBody>
          <a:bodyPr wrap="square" lIns="0" tIns="0" rIns="0" bIns="0" rtlCol="0" anchor="ctr"/>
          <a:lstStyle/>
          <a:p>
            <a:pPr algn="ctr" indent="0" marL="0">
              <a:buNone/>
            </a:pPr>
            <a:r>
              <a:rPr lang="en-US" sz="850" b="1" dirty="0">
                <a:solidFill>
                  <a:srgbClr val="C9A96E"/>
                </a:solidFill>
                <a:latin typeface="Cambria" pitchFamily="34" charset="0"/>
                <a:ea typeface="Cambria" pitchFamily="34" charset="-122"/>
                <a:cs typeface="Cambria" pitchFamily="34" charset="-120"/>
              </a:rPr>
              <a:t>01</a:t>
            </a:r>
            <a:endParaRPr lang="en-US" sz="850" dirty="0"/>
          </a:p>
        </p:txBody>
      </p:sp>
      <p:sp>
        <p:nvSpPr>
          <p:cNvPr id="25" name="Text 23"/>
          <p:cNvSpPr/>
          <p:nvPr/>
        </p:nvSpPr>
        <p:spPr>
          <a:xfrm>
            <a:off x="1078992" y="3383280"/>
            <a:ext cx="10454335" cy="237744"/>
          </a:xfrm>
          <a:prstGeom prst="rect">
            <a:avLst/>
          </a:prstGeom>
          <a:noFill/>
          <a:ln/>
        </p:spPr>
        <p:txBody>
          <a:bodyPr wrap="square" lIns="0" tIns="0" rIns="0" bIns="0" rtlCol="0" anchor="ctr"/>
          <a:lstStyle/>
          <a:p>
            <a:pPr indent="0" marL="0">
              <a:buNone/>
            </a:pPr>
            <a:r>
              <a:rPr lang="en-US" sz="1200" b="1" dirty="0">
                <a:solidFill>
                  <a:srgbClr val="EFEBE3"/>
                </a:solidFill>
                <a:latin typeface="Yu Gothic" pitchFamily="34" charset="0"/>
                <a:ea typeface="Yu Gothic" pitchFamily="34" charset="-122"/>
                <a:cs typeface="Yu Gothic" pitchFamily="34" charset="-120"/>
              </a:rPr>
              <a:t>在庫回転12ヶ月で売り切る。組入銘柄の選定と配分ルールで実現する。</a:t>
            </a:r>
            <a:endParaRPr lang="en-US" sz="1200" dirty="0"/>
          </a:p>
        </p:txBody>
      </p:sp>
      <p:sp>
        <p:nvSpPr>
          <p:cNvPr id="26" name="Text 24"/>
          <p:cNvSpPr/>
          <p:nvPr/>
        </p:nvSpPr>
        <p:spPr>
          <a:xfrm>
            <a:off x="1078992" y="3621024"/>
            <a:ext cx="10454335" cy="274320"/>
          </a:xfrm>
          <a:prstGeom prst="rect">
            <a:avLst/>
          </a:prstGeom>
          <a:noFill/>
          <a:ln/>
        </p:spPr>
        <p:txBody>
          <a:bodyPr wrap="square" lIns="0" tIns="0" rIns="0" bIns="0" rtlCol="0" anchor="ctr"/>
          <a:lstStyle/>
          <a:p>
            <a:pPr indent="0" marL="0">
              <a:buNone/>
            </a:pPr>
            <a:r>
              <a:rPr lang="en-US" sz="1000" dirty="0">
                <a:solidFill>
                  <a:srgbClr val="9A938A"/>
                </a:solidFill>
                <a:latin typeface="Yu Gothic" pitchFamily="34" charset="0"/>
                <a:ea typeface="Yu Gothic" pitchFamily="34" charset="-122"/>
                <a:cs typeface="Yu Gothic" pitchFamily="34" charset="-120"/>
              </a:rPr>
              <a:t>流動性の高い銘柄をSPCに組み入れ、WineBank自己勘定在庫と重複する銘柄は在庫比率でプロラタ配分する。判断を要する場合はSPC在庫を優先する。最短9ヶ月、延びても15〜18ヶ月を想定レンジとする。</a:t>
            </a:r>
            <a:endParaRPr lang="en-US" sz="1000" dirty="0"/>
          </a:p>
        </p:txBody>
      </p:sp>
      <p:sp>
        <p:nvSpPr>
          <p:cNvPr id="27" name="Shape 25"/>
          <p:cNvSpPr/>
          <p:nvPr/>
        </p:nvSpPr>
        <p:spPr>
          <a:xfrm>
            <a:off x="658368" y="4041648"/>
            <a:ext cx="274320" cy="274320"/>
          </a:xfrm>
          <a:prstGeom prst="ellipse">
            <a:avLst/>
          </a:prstGeom>
          <a:solidFill>
            <a:srgbClr val="0C0C0C"/>
          </a:solidFill>
          <a:ln w="11430">
            <a:solidFill>
              <a:srgbClr val="A78450"/>
            </a:solidFill>
            <a:prstDash val="solid"/>
          </a:ln>
        </p:spPr>
      </p:sp>
      <p:sp>
        <p:nvSpPr>
          <p:cNvPr id="28" name="Text 26"/>
          <p:cNvSpPr/>
          <p:nvPr/>
        </p:nvSpPr>
        <p:spPr>
          <a:xfrm>
            <a:off x="658368" y="4041648"/>
            <a:ext cx="274320" cy="274320"/>
          </a:xfrm>
          <a:prstGeom prst="rect">
            <a:avLst/>
          </a:prstGeom>
          <a:noFill/>
          <a:ln/>
        </p:spPr>
        <p:txBody>
          <a:bodyPr wrap="square" lIns="0" tIns="0" rIns="0" bIns="0" rtlCol="0" anchor="ctr"/>
          <a:lstStyle/>
          <a:p>
            <a:pPr algn="ctr" indent="0" marL="0">
              <a:buNone/>
            </a:pPr>
            <a:r>
              <a:rPr lang="en-US" sz="850" b="1" dirty="0">
                <a:solidFill>
                  <a:srgbClr val="C9A96E"/>
                </a:solidFill>
                <a:latin typeface="Cambria" pitchFamily="34" charset="0"/>
                <a:ea typeface="Cambria" pitchFamily="34" charset="-122"/>
                <a:cs typeface="Cambria" pitchFamily="34" charset="-120"/>
              </a:rPr>
              <a:t>02</a:t>
            </a:r>
            <a:endParaRPr lang="en-US" sz="850" dirty="0"/>
          </a:p>
        </p:txBody>
      </p:sp>
      <p:sp>
        <p:nvSpPr>
          <p:cNvPr id="29" name="Text 27"/>
          <p:cNvSpPr/>
          <p:nvPr/>
        </p:nvSpPr>
        <p:spPr>
          <a:xfrm>
            <a:off x="1078992" y="4005072"/>
            <a:ext cx="10454335" cy="237744"/>
          </a:xfrm>
          <a:prstGeom prst="rect">
            <a:avLst/>
          </a:prstGeom>
          <a:noFill/>
          <a:ln/>
        </p:spPr>
        <p:txBody>
          <a:bodyPr wrap="square" lIns="0" tIns="0" rIns="0" bIns="0" rtlCol="0" anchor="ctr"/>
          <a:lstStyle/>
          <a:p>
            <a:pPr indent="0" marL="0">
              <a:buNone/>
            </a:pPr>
            <a:r>
              <a:rPr lang="en-US" sz="1200" b="1" dirty="0">
                <a:solidFill>
                  <a:srgbClr val="EFEBE3"/>
                </a:solidFill>
                <a:latin typeface="Yu Gothic" pitchFamily="34" charset="0"/>
                <a:ea typeface="Yu Gothic" pitchFamily="34" charset="-122"/>
                <a:cs typeface="Yu Gothic" pitchFamily="34" charset="-120"/>
              </a:rPr>
              <a:t>収益は「流通価格差」と「ワインの値上がり」の二階建て。</a:t>
            </a:r>
            <a:endParaRPr lang="en-US" sz="1200" dirty="0"/>
          </a:p>
        </p:txBody>
      </p:sp>
      <p:sp>
        <p:nvSpPr>
          <p:cNvPr id="30" name="Text 28"/>
          <p:cNvSpPr/>
          <p:nvPr/>
        </p:nvSpPr>
        <p:spPr>
          <a:xfrm>
            <a:off x="1078992" y="4242816"/>
            <a:ext cx="10454335" cy="274320"/>
          </a:xfrm>
          <a:prstGeom prst="rect">
            <a:avLst/>
          </a:prstGeom>
          <a:noFill/>
          <a:ln/>
        </p:spPr>
        <p:txBody>
          <a:bodyPr wrap="square" lIns="0" tIns="0" rIns="0" bIns="0" rtlCol="0" anchor="ctr"/>
          <a:lstStyle/>
          <a:p>
            <a:pPr indent="0" marL="0">
              <a:buNone/>
            </a:pPr>
            <a:r>
              <a:rPr lang="en-US" sz="1000" dirty="0">
                <a:solidFill>
                  <a:srgbClr val="9A938A"/>
                </a:solidFill>
                <a:latin typeface="Yu Gothic" pitchFamily="34" charset="0"/>
                <a:ea typeface="Yu Gothic" pitchFamily="34" charset="-122"/>
                <a:cs typeface="Yu Gothic" pitchFamily="34" charset="-120"/>
              </a:rPr>
              <a:t>同一商品の流通段階間の価格差（フロー）に加え、保有期間中の価格上昇年6%（ストック）が乗る。値上がり分は保有期間によらず利回りを底上げする。</a:t>
            </a:r>
            <a:endParaRPr lang="en-US" sz="1000" dirty="0"/>
          </a:p>
        </p:txBody>
      </p:sp>
      <p:sp>
        <p:nvSpPr>
          <p:cNvPr id="31" name="Shape 29"/>
          <p:cNvSpPr/>
          <p:nvPr/>
        </p:nvSpPr>
        <p:spPr>
          <a:xfrm>
            <a:off x="658368" y="4663440"/>
            <a:ext cx="274320" cy="274320"/>
          </a:xfrm>
          <a:prstGeom prst="ellipse">
            <a:avLst/>
          </a:prstGeom>
          <a:solidFill>
            <a:srgbClr val="0C0C0C"/>
          </a:solidFill>
          <a:ln w="11430">
            <a:solidFill>
              <a:srgbClr val="A78450"/>
            </a:solidFill>
            <a:prstDash val="solid"/>
          </a:ln>
        </p:spPr>
      </p:sp>
      <p:sp>
        <p:nvSpPr>
          <p:cNvPr id="32" name="Text 30"/>
          <p:cNvSpPr/>
          <p:nvPr/>
        </p:nvSpPr>
        <p:spPr>
          <a:xfrm>
            <a:off x="658368" y="4663440"/>
            <a:ext cx="274320" cy="274320"/>
          </a:xfrm>
          <a:prstGeom prst="rect">
            <a:avLst/>
          </a:prstGeom>
          <a:noFill/>
          <a:ln/>
        </p:spPr>
        <p:txBody>
          <a:bodyPr wrap="square" lIns="0" tIns="0" rIns="0" bIns="0" rtlCol="0" anchor="ctr"/>
          <a:lstStyle/>
          <a:p>
            <a:pPr algn="ctr" indent="0" marL="0">
              <a:buNone/>
            </a:pPr>
            <a:r>
              <a:rPr lang="en-US" sz="850" b="1" dirty="0">
                <a:solidFill>
                  <a:srgbClr val="C9A96E"/>
                </a:solidFill>
                <a:latin typeface="Cambria" pitchFamily="34" charset="0"/>
                <a:ea typeface="Cambria" pitchFamily="34" charset="-122"/>
                <a:cs typeface="Cambria" pitchFamily="34" charset="-120"/>
              </a:rPr>
              <a:t>03</a:t>
            </a:r>
            <a:endParaRPr lang="en-US" sz="850" dirty="0"/>
          </a:p>
        </p:txBody>
      </p:sp>
      <p:sp>
        <p:nvSpPr>
          <p:cNvPr id="33" name="Text 31"/>
          <p:cNvSpPr/>
          <p:nvPr/>
        </p:nvSpPr>
        <p:spPr>
          <a:xfrm>
            <a:off x="1078992" y="4626864"/>
            <a:ext cx="10454335" cy="237744"/>
          </a:xfrm>
          <a:prstGeom prst="rect">
            <a:avLst/>
          </a:prstGeom>
          <a:noFill/>
          <a:ln/>
        </p:spPr>
        <p:txBody>
          <a:bodyPr wrap="square" lIns="0" tIns="0" rIns="0" bIns="0" rtlCol="0" anchor="ctr"/>
          <a:lstStyle/>
          <a:p>
            <a:pPr indent="0" marL="0">
              <a:buNone/>
            </a:pPr>
            <a:r>
              <a:rPr lang="en-US" sz="1200" b="1" dirty="0">
                <a:solidFill>
                  <a:srgbClr val="EFEBE3"/>
                </a:solidFill>
                <a:latin typeface="Yu Gothic" pitchFamily="34" charset="0"/>
                <a:ea typeface="Yu Gothic" pitchFamily="34" charset="-122"/>
                <a:cs typeface="Yu Gothic" pitchFamily="34" charset="-120"/>
              </a:rPr>
              <a:t>報酬体系は従来どおり。投資家が得た利益をWineBankと折半する成功報酬型。</a:t>
            </a:r>
            <a:endParaRPr lang="en-US" sz="1200" dirty="0"/>
          </a:p>
        </p:txBody>
      </p:sp>
      <p:sp>
        <p:nvSpPr>
          <p:cNvPr id="34" name="Text 32"/>
          <p:cNvSpPr/>
          <p:nvPr/>
        </p:nvSpPr>
        <p:spPr>
          <a:xfrm>
            <a:off x="1078992" y="4864608"/>
            <a:ext cx="10454335" cy="274320"/>
          </a:xfrm>
          <a:prstGeom prst="rect">
            <a:avLst/>
          </a:prstGeom>
          <a:noFill/>
          <a:ln/>
        </p:spPr>
        <p:txBody>
          <a:bodyPr wrap="square" lIns="0" tIns="0" rIns="0" bIns="0" rtlCol="0" anchor="ctr"/>
          <a:lstStyle/>
          <a:p>
            <a:pPr indent="0" marL="0">
              <a:buNone/>
            </a:pPr>
            <a:r>
              <a:rPr lang="en-US" sz="1000" dirty="0">
                <a:solidFill>
                  <a:srgbClr val="9A938A"/>
                </a:solidFill>
                <a:latin typeface="Yu Gothic" pitchFamily="34" charset="0"/>
                <a:ea typeface="Yu Gothic" pitchFamily="34" charset="-122"/>
                <a:cs typeface="Yu Gothic" pitchFamily="34" charset="-120"/>
              </a:rPr>
              <a:t>総額5億円がすべて投資家の出資であるため、SPC税前利益の全額が投資家に帰属し、これを投資家とWineBankで折半する。期中の管理報酬（残高比例フィー）は課さない。</a:t>
            </a:r>
            <a:endParaRPr lang="en-US" sz="1000" dirty="0"/>
          </a:p>
        </p:txBody>
      </p:sp>
      <p:sp>
        <p:nvSpPr>
          <p:cNvPr id="35" name="Shape 33"/>
          <p:cNvSpPr/>
          <p:nvPr/>
        </p:nvSpPr>
        <p:spPr>
          <a:xfrm>
            <a:off x="658368" y="5285232"/>
            <a:ext cx="274320" cy="274320"/>
          </a:xfrm>
          <a:prstGeom prst="ellipse">
            <a:avLst/>
          </a:prstGeom>
          <a:solidFill>
            <a:srgbClr val="0C0C0C"/>
          </a:solidFill>
          <a:ln w="11430">
            <a:solidFill>
              <a:srgbClr val="A78450"/>
            </a:solidFill>
            <a:prstDash val="solid"/>
          </a:ln>
        </p:spPr>
      </p:sp>
      <p:sp>
        <p:nvSpPr>
          <p:cNvPr id="36" name="Text 34"/>
          <p:cNvSpPr/>
          <p:nvPr/>
        </p:nvSpPr>
        <p:spPr>
          <a:xfrm>
            <a:off x="658368" y="5285232"/>
            <a:ext cx="274320" cy="274320"/>
          </a:xfrm>
          <a:prstGeom prst="rect">
            <a:avLst/>
          </a:prstGeom>
          <a:noFill/>
          <a:ln/>
        </p:spPr>
        <p:txBody>
          <a:bodyPr wrap="square" lIns="0" tIns="0" rIns="0" bIns="0" rtlCol="0" anchor="ctr"/>
          <a:lstStyle/>
          <a:p>
            <a:pPr algn="ctr" indent="0" marL="0">
              <a:buNone/>
            </a:pPr>
            <a:r>
              <a:rPr lang="en-US" sz="850" b="1" dirty="0">
                <a:solidFill>
                  <a:srgbClr val="C9A96E"/>
                </a:solidFill>
                <a:latin typeface="Cambria" pitchFamily="34" charset="0"/>
                <a:ea typeface="Cambria" pitchFamily="34" charset="-122"/>
                <a:cs typeface="Cambria" pitchFamily="34" charset="-120"/>
              </a:rPr>
              <a:t>04</a:t>
            </a:r>
            <a:endParaRPr lang="en-US" sz="850" dirty="0"/>
          </a:p>
        </p:txBody>
      </p:sp>
      <p:sp>
        <p:nvSpPr>
          <p:cNvPr id="37" name="Text 35"/>
          <p:cNvSpPr/>
          <p:nvPr/>
        </p:nvSpPr>
        <p:spPr>
          <a:xfrm>
            <a:off x="1078992" y="5248656"/>
            <a:ext cx="10454335" cy="237744"/>
          </a:xfrm>
          <a:prstGeom prst="rect">
            <a:avLst/>
          </a:prstGeom>
          <a:noFill/>
          <a:ln/>
        </p:spPr>
        <p:txBody>
          <a:bodyPr wrap="square" lIns="0" tIns="0" rIns="0" bIns="0" rtlCol="0" anchor="ctr"/>
          <a:lstStyle/>
          <a:p>
            <a:pPr indent="0" marL="0">
              <a:buNone/>
            </a:pPr>
            <a:r>
              <a:rPr lang="en-US" sz="1200" b="1" dirty="0">
                <a:solidFill>
                  <a:srgbClr val="EFEBE3"/>
                </a:solidFill>
                <a:latin typeface="Yu Gothic" pitchFamily="34" charset="0"/>
                <a:ea typeface="Yu Gothic" pitchFamily="34" charset="-122"/>
                <a:cs typeface="Yu Gothic" pitchFamily="34" charset="-120"/>
              </a:rPr>
              <a:t>費用は削っていない。監査・法務まで積んだうえでの数字。</a:t>
            </a:r>
            <a:endParaRPr lang="en-US" sz="1200" dirty="0"/>
          </a:p>
        </p:txBody>
      </p:sp>
      <p:sp>
        <p:nvSpPr>
          <p:cNvPr id="38" name="Text 36"/>
          <p:cNvSpPr/>
          <p:nvPr/>
        </p:nvSpPr>
        <p:spPr>
          <a:xfrm>
            <a:off x="1078992" y="5486400"/>
            <a:ext cx="10454335" cy="274320"/>
          </a:xfrm>
          <a:prstGeom prst="rect">
            <a:avLst/>
          </a:prstGeom>
          <a:noFill/>
          <a:ln/>
        </p:spPr>
        <p:txBody>
          <a:bodyPr wrap="square" lIns="0" tIns="0" rIns="0" bIns="0" rtlCol="0" anchor="ctr"/>
          <a:lstStyle/>
          <a:p>
            <a:pPr indent="0" marL="0">
              <a:buNone/>
            </a:pPr>
            <a:r>
              <a:rPr lang="en-US" sz="1000" dirty="0">
                <a:solidFill>
                  <a:srgbClr val="9A938A"/>
                </a:solidFill>
                <a:latin typeface="Yu Gothic" pitchFamily="34" charset="0"/>
                <a:ea typeface="Yu Gothic" pitchFamily="34" charset="-122"/>
                <a:cs typeface="Yu Gothic" pitchFamily="34" charset="-120"/>
              </a:rPr>
              <a:t>AUP50万円・予備費50万円を含むSPC固定費660万円、変動販売費、保管・保険をすべて計上済み。利回りを作るために費用を圧縮してはいない。</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C0C0C"/>
        </a:solidFill>
      </p:bgPr>
    </p:bg>
    <p:spTree>
      <p:nvGrpSpPr>
        <p:cNvPr id="1" name=""/>
        <p:cNvGrpSpPr/>
        <p:nvPr/>
      </p:nvGrpSpPr>
      <p:grpSpPr>
        <a:xfrm>
          <a:off x="0" y="0"/>
          <a:ext cx="0" cy="0"/>
          <a:chOff x="0" y="0"/>
          <a:chExt cx="0" cy="0"/>
        </a:xfrm>
      </p:grpSpPr>
      <p:sp>
        <p:nvSpPr>
          <p:cNvPr id="2" name="Text 0"/>
          <p:cNvSpPr/>
          <p:nvPr/>
        </p:nvSpPr>
        <p:spPr>
          <a:xfrm>
            <a:off x="658368" y="384048"/>
            <a:ext cx="10874959" cy="219456"/>
          </a:xfrm>
          <a:prstGeom prst="rect">
            <a:avLst/>
          </a:prstGeom>
          <a:noFill/>
          <a:ln/>
        </p:spPr>
        <p:txBody>
          <a:bodyPr wrap="square" lIns="0" tIns="0" rIns="0" bIns="0" rtlCol="0" anchor="ctr"/>
          <a:lstStyle/>
          <a:p>
            <a:pPr indent="0" marL="0">
              <a:buNone/>
            </a:pPr>
            <a:r>
              <a:rPr lang="en-US" sz="1050" b="1" spc="340" kern="0" dirty="0">
                <a:solidFill>
                  <a:srgbClr val="A78450"/>
                </a:solidFill>
                <a:latin typeface="Cambria" pitchFamily="34" charset="0"/>
                <a:ea typeface="Cambria" pitchFamily="34" charset="-122"/>
                <a:cs typeface="Cambria" pitchFamily="34" charset="-120"/>
              </a:rPr>
              <a:t>CAPITAL STRUCTURE</a:t>
            </a:r>
            <a:endParaRPr lang="en-US" sz="1050" dirty="0"/>
          </a:p>
        </p:txBody>
      </p:sp>
      <p:sp>
        <p:nvSpPr>
          <p:cNvPr id="3" name="Text 1"/>
          <p:cNvSpPr/>
          <p:nvPr/>
        </p:nvSpPr>
        <p:spPr>
          <a:xfrm>
            <a:off x="658368" y="640080"/>
            <a:ext cx="10874959" cy="548640"/>
          </a:xfrm>
          <a:prstGeom prst="rect">
            <a:avLst/>
          </a:prstGeom>
          <a:noFill/>
          <a:ln/>
        </p:spPr>
        <p:txBody>
          <a:bodyPr wrap="square" lIns="0" tIns="0" rIns="0" bIns="0" rtlCol="0" anchor="ctr"/>
          <a:lstStyle/>
          <a:p>
            <a:pPr indent="0" marL="0">
              <a:buNone/>
            </a:pPr>
            <a:r>
              <a:rPr lang="en-US" sz="2700" b="1" dirty="0">
                <a:solidFill>
                  <a:srgbClr val="EFEBE3"/>
                </a:solidFill>
                <a:latin typeface="Yu Mincho" pitchFamily="34" charset="0"/>
                <a:ea typeface="Yu Mincho" pitchFamily="34" charset="-122"/>
                <a:cs typeface="Yu Mincho" pitchFamily="34" charset="-120"/>
              </a:rPr>
              <a:t>資本構成とリターンの配分</a:t>
            </a:r>
            <a:endParaRPr lang="en-US" sz="2700" dirty="0"/>
          </a:p>
        </p:txBody>
      </p:sp>
      <p:sp>
        <p:nvSpPr>
          <p:cNvPr id="4" name="Text 2"/>
          <p:cNvSpPr/>
          <p:nvPr/>
        </p:nvSpPr>
        <p:spPr>
          <a:xfrm>
            <a:off x="658368" y="1216152"/>
            <a:ext cx="10874959" cy="310896"/>
          </a:xfrm>
          <a:prstGeom prst="rect">
            <a:avLst/>
          </a:prstGeom>
          <a:noFill/>
          <a:ln/>
        </p:spPr>
        <p:txBody>
          <a:bodyPr wrap="square" lIns="0" tIns="0" rIns="0" bIns="0" rtlCol="0" anchor="ctr"/>
          <a:lstStyle/>
          <a:p>
            <a:pPr indent="0" marL="0">
              <a:buNone/>
            </a:pPr>
            <a:r>
              <a:rPr lang="en-US" sz="1150" dirty="0">
                <a:solidFill>
                  <a:srgbClr val="9A938A"/>
                </a:solidFill>
                <a:latin typeface="Yu Gothic" pitchFamily="34" charset="0"/>
                <a:ea typeface="Yu Gothic" pitchFamily="34" charset="-122"/>
                <a:cs typeface="Yu Gothic" pitchFamily="34" charset="-120"/>
              </a:rPr>
              <a:t>総額5億円をすべて匿名組合出資で構成する。借入を用いないため、SPC税前利益の全額が投資家に帰属し、これを投資家とWineBankで折半する。</a:t>
            </a:r>
            <a:endParaRPr lang="en-US" sz="1150" dirty="0"/>
          </a:p>
        </p:txBody>
      </p:sp>
      <p:sp>
        <p:nvSpPr>
          <p:cNvPr id="5" name="Text 3"/>
          <p:cNvSpPr/>
          <p:nvPr/>
        </p:nvSpPr>
        <p:spPr>
          <a:xfrm>
            <a:off x="658368" y="6437376"/>
            <a:ext cx="5029200" cy="219456"/>
          </a:xfrm>
          <a:prstGeom prst="rect">
            <a:avLst/>
          </a:prstGeom>
          <a:noFill/>
          <a:ln/>
        </p:spPr>
        <p:txBody>
          <a:bodyPr wrap="square" lIns="0" tIns="0" rIns="0" bIns="0" rtlCol="0" anchor="ctr"/>
          <a:lstStyle/>
          <a:p>
            <a:pPr indent="0" marL="0">
              <a:buNone/>
            </a:pPr>
            <a:r>
              <a:rPr lang="en-US" sz="850" dirty="0">
                <a:solidFill>
                  <a:srgbClr val="6E675E"/>
                </a:solidFill>
                <a:latin typeface="Yu Gothic" pitchFamily="34" charset="0"/>
                <a:ea typeface="Yu Gothic" pitchFamily="34" charset="-122"/>
                <a:cs typeface="Yu Gothic" pitchFamily="34" charset="-120"/>
              </a:rPr>
              <a:t>CONFIDENTIAL ｜ 株式会社WineBank</a:t>
            </a:r>
            <a:endParaRPr lang="en-US" sz="850" dirty="0"/>
          </a:p>
        </p:txBody>
      </p:sp>
      <p:sp>
        <p:nvSpPr>
          <p:cNvPr id="6" name="Text 4"/>
          <p:cNvSpPr/>
          <p:nvPr/>
        </p:nvSpPr>
        <p:spPr>
          <a:xfrm>
            <a:off x="10618927" y="6437376"/>
            <a:ext cx="914400" cy="219456"/>
          </a:xfrm>
          <a:prstGeom prst="rect">
            <a:avLst/>
          </a:prstGeom>
          <a:noFill/>
          <a:ln/>
        </p:spPr>
        <p:txBody>
          <a:bodyPr wrap="square" lIns="0" tIns="0" rIns="0" bIns="0" rtlCol="0" anchor="ctr"/>
          <a:lstStyle/>
          <a:p>
            <a:pPr algn="r" indent="0" marL="0">
              <a:buNone/>
            </a:pPr>
            <a:r>
              <a:rPr lang="en-US" sz="950" spc="150" kern="0" dirty="0">
                <a:solidFill>
                  <a:srgbClr val="6E5730"/>
                </a:solidFill>
                <a:latin typeface="Cambria" pitchFamily="34" charset="0"/>
                <a:ea typeface="Cambria" pitchFamily="34" charset="-122"/>
                <a:cs typeface="Cambria" pitchFamily="34" charset="-120"/>
              </a:rPr>
              <a:t>02</a:t>
            </a:r>
            <a:endParaRPr lang="en-US" sz="950" dirty="0"/>
          </a:p>
        </p:txBody>
      </p:sp>
      <p:sp>
        <p:nvSpPr>
          <p:cNvPr id="7" name="Shape 5"/>
          <p:cNvSpPr/>
          <p:nvPr/>
        </p:nvSpPr>
        <p:spPr>
          <a:xfrm>
            <a:off x="658368" y="1627632"/>
            <a:ext cx="5300320" cy="1572768"/>
          </a:xfrm>
          <a:prstGeom prst="roundRect">
            <a:avLst>
              <a:gd name="adj" fmla="val 2616"/>
            </a:avLst>
          </a:prstGeom>
          <a:solidFill>
            <a:srgbClr val="1F1D19"/>
          </a:solidFill>
          <a:ln w="9525">
            <a:solidFill>
              <a:srgbClr val="6E5730"/>
            </a:solidFill>
            <a:prstDash val="solid"/>
          </a:ln>
        </p:spPr>
      </p:sp>
      <p:sp>
        <p:nvSpPr>
          <p:cNvPr id="8" name="Text 6"/>
          <p:cNvSpPr/>
          <p:nvPr/>
        </p:nvSpPr>
        <p:spPr>
          <a:xfrm>
            <a:off x="896112" y="1755648"/>
            <a:ext cx="4824832" cy="237744"/>
          </a:xfrm>
          <a:prstGeom prst="rect">
            <a:avLst/>
          </a:prstGeom>
          <a:noFill/>
          <a:ln/>
        </p:spPr>
        <p:txBody>
          <a:bodyPr wrap="square" lIns="0" tIns="0" rIns="0" bIns="0" rtlCol="0" anchor="ctr"/>
          <a:lstStyle/>
          <a:p>
            <a:pPr indent="0" marL="0">
              <a:buNone/>
            </a:pPr>
            <a:r>
              <a:rPr lang="en-US" sz="1150" b="1" dirty="0">
                <a:solidFill>
                  <a:srgbClr val="C9A96E"/>
                </a:solidFill>
                <a:latin typeface="Yu Gothic" pitchFamily="34" charset="0"/>
                <a:ea typeface="Yu Gothic" pitchFamily="34" charset="-122"/>
                <a:cs typeface="Yu Gothic" pitchFamily="34" charset="-120"/>
              </a:rPr>
              <a:t>出資｜投資家</a:t>
            </a:r>
            <a:endParaRPr lang="en-US" sz="1150" dirty="0"/>
          </a:p>
        </p:txBody>
      </p:sp>
      <p:sp>
        <p:nvSpPr>
          <p:cNvPr id="9" name="Text 7"/>
          <p:cNvSpPr/>
          <p:nvPr/>
        </p:nvSpPr>
        <p:spPr>
          <a:xfrm>
            <a:off x="896112" y="1993392"/>
            <a:ext cx="4824832" cy="402336"/>
          </a:xfrm>
          <a:prstGeom prst="rect">
            <a:avLst/>
          </a:prstGeom>
          <a:noFill/>
          <a:ln/>
        </p:spPr>
        <p:txBody>
          <a:bodyPr wrap="square" lIns="0" tIns="0" rIns="0" bIns="0" rtlCol="0" anchor="ctr"/>
          <a:lstStyle/>
          <a:p>
            <a:pPr indent="0" marL="0">
              <a:buNone/>
            </a:pPr>
            <a:r>
              <a:rPr lang="en-US" sz="2800" b="1" dirty="0">
                <a:solidFill>
                  <a:srgbClr val="C9A96E"/>
                </a:solidFill>
                <a:latin typeface="Cambria" pitchFamily="34" charset="0"/>
                <a:ea typeface="Cambria" pitchFamily="34" charset="-122"/>
                <a:cs typeface="Cambria" pitchFamily="34" charset="-120"/>
              </a:rPr>
              <a:t>5.0</a:t>
            </a:r>
            <a:pPr indent="0" marL="0">
              <a:buNone/>
            </a:pPr>
            <a:r>
              <a:rPr lang="en-US" sz="1200" b="1" dirty="0">
                <a:solidFill>
                  <a:srgbClr val="C9A96E"/>
                </a:solidFill>
                <a:latin typeface="Yu Gothic" pitchFamily="34" charset="0"/>
                <a:ea typeface="Yu Gothic" pitchFamily="34" charset="-122"/>
                <a:cs typeface="Yu Gothic" pitchFamily="34" charset="-120"/>
              </a:rPr>
              <a:t> 億円</a:t>
            </a:r>
            <a:endParaRPr lang="en-US" sz="2800" dirty="0"/>
          </a:p>
        </p:txBody>
      </p:sp>
      <p:sp>
        <p:nvSpPr>
          <p:cNvPr id="10" name="Text 8"/>
          <p:cNvSpPr/>
          <p:nvPr/>
        </p:nvSpPr>
        <p:spPr>
          <a:xfrm>
            <a:off x="896112" y="2414016"/>
            <a:ext cx="4824832" cy="219456"/>
          </a:xfrm>
          <a:prstGeom prst="rect">
            <a:avLst/>
          </a:prstGeom>
          <a:noFill/>
          <a:ln/>
        </p:spPr>
        <p:txBody>
          <a:bodyPr wrap="square" lIns="0" tIns="0" rIns="0" bIns="0" rtlCol="0" anchor="ctr"/>
          <a:lstStyle/>
          <a:p>
            <a:pPr indent="0" marL="0">
              <a:buNone/>
            </a:pPr>
            <a:r>
              <a:rPr lang="en-US" sz="1050" b="1" dirty="0">
                <a:solidFill>
                  <a:srgbClr val="EFEBE3"/>
                </a:solidFill>
                <a:latin typeface="Yu Gothic" pitchFamily="34" charset="0"/>
                <a:ea typeface="Yu Gothic" pitchFamily="34" charset="-122"/>
                <a:cs typeface="Yu Gothic" pitchFamily="34" charset="-120"/>
              </a:rPr>
              <a:t>SPC税前利益の50%</a:t>
            </a:r>
            <a:endParaRPr lang="en-US" sz="1050" dirty="0"/>
          </a:p>
        </p:txBody>
      </p:sp>
      <p:sp>
        <p:nvSpPr>
          <p:cNvPr id="11" name="Text 9"/>
          <p:cNvSpPr/>
          <p:nvPr/>
        </p:nvSpPr>
        <p:spPr>
          <a:xfrm>
            <a:off x="896112" y="2633472"/>
            <a:ext cx="4824832" cy="548640"/>
          </a:xfrm>
          <a:prstGeom prst="rect">
            <a:avLst/>
          </a:prstGeom>
          <a:noFill/>
          <a:ln/>
        </p:spPr>
        <p:txBody>
          <a:bodyPr wrap="square" lIns="0" tIns="0" rIns="0" bIns="0" rtlCol="0" anchor="ctr"/>
          <a:lstStyle/>
          <a:p>
            <a:pPr indent="0" marL="0">
              <a:lnSpc>
                <a:spcPct val="120000"/>
              </a:lnSpc>
              <a:buNone/>
            </a:pPr>
            <a:r>
              <a:rPr lang="en-US" sz="900" dirty="0">
                <a:solidFill>
                  <a:srgbClr val="9A938A"/>
                </a:solidFill>
                <a:latin typeface="Yu Gothic" pitchFamily="34" charset="0"/>
                <a:ea typeface="Yu Gothic" pitchFamily="34" charset="-122"/>
                <a:cs typeface="Yu Gothic" pitchFamily="34" charset="-120"/>
              </a:rPr>
              <a:t>・匿名組合出資（デットなし）</a:t>
            </a:r>
            <a:endParaRPr lang="en-US" sz="900" dirty="0"/>
          </a:p>
          <a:p>
            <a:pPr indent="0" marL="0">
              <a:lnSpc>
                <a:spcPct val="120000"/>
              </a:lnSpc>
              <a:buNone/>
            </a:pPr>
            <a:r>
              <a:rPr lang="en-US" sz="900" dirty="0">
                <a:solidFill>
                  <a:srgbClr val="9A938A"/>
                </a:solidFill>
                <a:latin typeface="Yu Gothic" pitchFamily="34" charset="0"/>
                <a:ea typeface="Yu Gothic" pitchFamily="34" charset="-122"/>
                <a:cs typeface="Yu Gothic" pitchFamily="34" charset="-120"/>
              </a:rPr>
              <a:t>・満期に元本償還</a:t>
            </a:r>
            <a:endParaRPr lang="en-US" sz="900" dirty="0"/>
          </a:p>
          <a:p>
            <a:pPr indent="0" marL="0">
              <a:lnSpc>
                <a:spcPct val="120000"/>
              </a:lnSpc>
              <a:buNone/>
            </a:pPr>
            <a:r>
              <a:rPr lang="en-US" sz="900" dirty="0">
                <a:solidFill>
                  <a:srgbClr val="9A938A"/>
                </a:solidFill>
                <a:latin typeface="Yu Gothic" pitchFamily="34" charset="0"/>
                <a:ea typeface="Yu Gothic" pitchFamily="34" charset="-122"/>
                <a:cs typeface="Yu Gothic" pitchFamily="34" charset="-120"/>
              </a:rPr>
              <a:t>・半期ごとに分配</a:t>
            </a:r>
            <a:endParaRPr lang="en-US" sz="900" dirty="0"/>
          </a:p>
        </p:txBody>
      </p:sp>
      <p:sp>
        <p:nvSpPr>
          <p:cNvPr id="12" name="Shape 10"/>
          <p:cNvSpPr/>
          <p:nvPr/>
        </p:nvSpPr>
        <p:spPr>
          <a:xfrm>
            <a:off x="6233008" y="1627632"/>
            <a:ext cx="5300320" cy="1572768"/>
          </a:xfrm>
          <a:prstGeom prst="roundRect">
            <a:avLst>
              <a:gd name="adj" fmla="val 2616"/>
            </a:avLst>
          </a:prstGeom>
          <a:solidFill>
            <a:srgbClr val="171614"/>
          </a:solidFill>
          <a:ln w="9525">
            <a:solidFill>
              <a:srgbClr val="2E2A24"/>
            </a:solidFill>
            <a:prstDash val="solid"/>
          </a:ln>
        </p:spPr>
      </p:sp>
      <p:sp>
        <p:nvSpPr>
          <p:cNvPr id="13" name="Text 11"/>
          <p:cNvSpPr/>
          <p:nvPr/>
        </p:nvSpPr>
        <p:spPr>
          <a:xfrm>
            <a:off x="6470752" y="1755648"/>
            <a:ext cx="4824832" cy="237744"/>
          </a:xfrm>
          <a:prstGeom prst="rect">
            <a:avLst/>
          </a:prstGeom>
          <a:noFill/>
          <a:ln/>
        </p:spPr>
        <p:txBody>
          <a:bodyPr wrap="square" lIns="0" tIns="0" rIns="0" bIns="0" rtlCol="0" anchor="ctr"/>
          <a:lstStyle/>
          <a:p>
            <a:pPr indent="0" marL="0">
              <a:buNone/>
            </a:pPr>
            <a:r>
              <a:rPr lang="en-US" sz="1150" b="1" dirty="0">
                <a:solidFill>
                  <a:srgbClr val="EFEBE3"/>
                </a:solidFill>
                <a:latin typeface="Yu Gothic" pitchFamily="34" charset="0"/>
                <a:ea typeface="Yu Gothic" pitchFamily="34" charset="-122"/>
                <a:cs typeface="Yu Gothic" pitchFamily="34" charset="-120"/>
              </a:rPr>
              <a:t>GP｜WineBank</a:t>
            </a:r>
            <a:endParaRPr lang="en-US" sz="1150" dirty="0"/>
          </a:p>
        </p:txBody>
      </p:sp>
      <p:sp>
        <p:nvSpPr>
          <p:cNvPr id="14" name="Text 12"/>
          <p:cNvSpPr/>
          <p:nvPr/>
        </p:nvSpPr>
        <p:spPr>
          <a:xfrm>
            <a:off x="6470752" y="1993392"/>
            <a:ext cx="4824832" cy="402336"/>
          </a:xfrm>
          <a:prstGeom prst="rect">
            <a:avLst/>
          </a:prstGeom>
          <a:noFill/>
          <a:ln/>
        </p:spPr>
        <p:txBody>
          <a:bodyPr wrap="square" lIns="0" tIns="0" rIns="0" bIns="0" rtlCol="0" anchor="ctr"/>
          <a:lstStyle/>
          <a:p>
            <a:pPr indent="0" marL="0">
              <a:buNone/>
            </a:pPr>
            <a:r>
              <a:rPr lang="en-US" sz="2800" b="1" dirty="0">
                <a:solidFill>
                  <a:srgbClr val="C9A96E"/>
                </a:solidFill>
                <a:latin typeface="Cambria" pitchFamily="34" charset="0"/>
                <a:ea typeface="Cambria" pitchFamily="34" charset="-122"/>
                <a:cs typeface="Cambria" pitchFamily="34" charset="-120"/>
              </a:rPr>
              <a:t>105</a:t>
            </a:r>
            <a:pPr indent="0" marL="0">
              <a:buNone/>
            </a:pPr>
            <a:r>
              <a:rPr lang="en-US" sz="1200" b="1" dirty="0">
                <a:solidFill>
                  <a:srgbClr val="C9A96E"/>
                </a:solidFill>
                <a:latin typeface="Yu Gothic" pitchFamily="34" charset="0"/>
                <a:ea typeface="Yu Gothic" pitchFamily="34" charset="-122"/>
                <a:cs typeface="Yu Gothic" pitchFamily="34" charset="-120"/>
              </a:rPr>
              <a:t> 百万円</a:t>
            </a:r>
            <a:endParaRPr lang="en-US" sz="2800" dirty="0"/>
          </a:p>
        </p:txBody>
      </p:sp>
      <p:sp>
        <p:nvSpPr>
          <p:cNvPr id="15" name="Text 13"/>
          <p:cNvSpPr/>
          <p:nvPr/>
        </p:nvSpPr>
        <p:spPr>
          <a:xfrm>
            <a:off x="6470752" y="2414016"/>
            <a:ext cx="4824832" cy="219456"/>
          </a:xfrm>
          <a:prstGeom prst="rect">
            <a:avLst/>
          </a:prstGeom>
          <a:noFill/>
          <a:ln/>
        </p:spPr>
        <p:txBody>
          <a:bodyPr wrap="square" lIns="0" tIns="0" rIns="0" bIns="0" rtlCol="0" anchor="ctr"/>
          <a:lstStyle/>
          <a:p>
            <a:pPr indent="0" marL="0">
              <a:buNone/>
            </a:pPr>
            <a:r>
              <a:rPr lang="en-US" sz="1050" b="1" dirty="0">
                <a:solidFill>
                  <a:srgbClr val="EFEBE3"/>
                </a:solidFill>
                <a:latin typeface="Yu Gothic" pitchFamily="34" charset="0"/>
                <a:ea typeface="Yu Gothic" pitchFamily="34" charset="-122"/>
                <a:cs typeface="Yu Gothic" pitchFamily="34" charset="-120"/>
              </a:rPr>
              <a:t>成功報酬＝SPC税前利益の50%</a:t>
            </a:r>
            <a:endParaRPr lang="en-US" sz="1050" dirty="0"/>
          </a:p>
        </p:txBody>
      </p:sp>
      <p:sp>
        <p:nvSpPr>
          <p:cNvPr id="16" name="Text 14"/>
          <p:cNvSpPr/>
          <p:nvPr/>
        </p:nvSpPr>
        <p:spPr>
          <a:xfrm>
            <a:off x="6470752" y="2633472"/>
            <a:ext cx="4824832" cy="548640"/>
          </a:xfrm>
          <a:prstGeom prst="rect">
            <a:avLst/>
          </a:prstGeom>
          <a:noFill/>
          <a:ln/>
        </p:spPr>
        <p:txBody>
          <a:bodyPr wrap="square" lIns="0" tIns="0" rIns="0" bIns="0" rtlCol="0" anchor="ctr"/>
          <a:lstStyle/>
          <a:p>
            <a:pPr indent="0" marL="0">
              <a:lnSpc>
                <a:spcPct val="120000"/>
              </a:lnSpc>
              <a:buNone/>
            </a:pPr>
            <a:r>
              <a:rPr lang="en-US" sz="900" dirty="0">
                <a:solidFill>
                  <a:srgbClr val="9A938A"/>
                </a:solidFill>
                <a:latin typeface="Yu Gothic" pitchFamily="34" charset="0"/>
                <a:ea typeface="Yu Gothic" pitchFamily="34" charset="-122"/>
                <a:cs typeface="Yu Gothic" pitchFamily="34" charset="-120"/>
              </a:rPr>
              <a:t>・現金拠出はなし</a:t>
            </a:r>
            <a:endParaRPr lang="en-US" sz="900" dirty="0"/>
          </a:p>
          <a:p>
            <a:pPr indent="0" marL="0">
              <a:lnSpc>
                <a:spcPct val="120000"/>
              </a:lnSpc>
              <a:buNone/>
            </a:pPr>
            <a:r>
              <a:rPr lang="en-US" sz="900" dirty="0">
                <a:solidFill>
                  <a:srgbClr val="9A938A"/>
                </a:solidFill>
                <a:latin typeface="Yu Gothic" pitchFamily="34" charset="0"/>
                <a:ea typeface="Yu Gothic" pitchFamily="34" charset="-122"/>
                <a:cs typeface="Yu Gothic" pitchFamily="34" charset="-120"/>
              </a:rPr>
              <a:t>・調達・保管・販売の実務を担当</a:t>
            </a:r>
            <a:endParaRPr lang="en-US" sz="900" dirty="0"/>
          </a:p>
          <a:p>
            <a:pPr indent="0" marL="0">
              <a:lnSpc>
                <a:spcPct val="120000"/>
              </a:lnSpc>
              <a:buNone/>
            </a:pPr>
            <a:r>
              <a:rPr lang="en-US" sz="900" dirty="0">
                <a:solidFill>
                  <a:srgbClr val="9A938A"/>
                </a:solidFill>
                <a:latin typeface="Yu Gothic" pitchFamily="34" charset="0"/>
                <a:ea typeface="Yu Gothic" pitchFamily="34" charset="-122"/>
                <a:cs typeface="Yu Gothic" pitchFamily="34" charset="-120"/>
              </a:rPr>
              <a:t>・期中の管理報酬は課さない</a:t>
            </a:r>
            <a:endParaRPr lang="en-US" sz="9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658368" y="3291840"/>
          <a:ext cx="10874959" cy="914400"/>
        </p:xfrm>
        <a:graphic>
          <a:graphicData uri="http://schemas.openxmlformats.org/drawingml/2006/table">
            <a:tbl>
              <a:tblPr/>
              <a:tblGrid>
                <a:gridCol w="2377440"/>
                <a:gridCol w="1737360"/>
                <a:gridCol w="6757416"/>
              </a:tblGrid>
              <a:tr h="274320">
                <a:tc>
                  <a:txBody>
                    <a:bodyPr/>
                    <a:lstStyle/>
                    <a:p>
                      <a:pPr algn="ctr" indent="0" marL="0">
                        <a:buNone/>
                      </a:pPr>
                      <a:r>
                        <a:rPr lang="en-US" sz="950" b="1" dirty="0">
                          <a:solidFill>
                            <a:srgbClr val="C9A96E"/>
                          </a:solidFill>
                          <a:latin typeface="Yu Gothic" pitchFamily="34" charset="0"/>
                          <a:ea typeface="Yu Gothic" pitchFamily="34" charset="-122"/>
                          <a:cs typeface="Yu Gothic" pitchFamily="34" charset="-120"/>
                        </a:rPr>
                        <a:t>項目</a:t>
                      </a:r>
                      <a:endParaRPr lang="en-US" sz="9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231F1A"/>
                    </a:solidFill>
                  </a:tcPr>
                </a:tc>
                <a:tc>
                  <a:txBody>
                    <a:bodyPr/>
                    <a:lstStyle/>
                    <a:p>
                      <a:pPr algn="ctr" indent="0" marL="0">
                        <a:buNone/>
                      </a:pPr>
                      <a:r>
                        <a:rPr lang="en-US" sz="950" b="1" dirty="0">
                          <a:solidFill>
                            <a:srgbClr val="C9A96E"/>
                          </a:solidFill>
                          <a:latin typeface="Yu Gothic" pitchFamily="34" charset="0"/>
                          <a:ea typeface="Yu Gothic" pitchFamily="34" charset="-122"/>
                          <a:cs typeface="Yu Gothic" pitchFamily="34" charset="-120"/>
                        </a:rPr>
                        <a:t>金額</a:t>
                      </a:r>
                      <a:endParaRPr lang="en-US" sz="9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231F1A"/>
                    </a:solidFill>
                  </a:tcPr>
                </a:tc>
                <a:tc>
                  <a:txBody>
                    <a:bodyPr/>
                    <a:lstStyle/>
                    <a:p>
                      <a:pPr algn="ctr" indent="0" marL="0">
                        <a:buNone/>
                      </a:pPr>
                      <a:r>
                        <a:rPr lang="en-US" sz="950" b="1" dirty="0">
                          <a:solidFill>
                            <a:srgbClr val="C9A96E"/>
                          </a:solidFill>
                          <a:latin typeface="Yu Gothic" pitchFamily="34" charset="0"/>
                          <a:ea typeface="Yu Gothic" pitchFamily="34" charset="-122"/>
                          <a:cs typeface="Yu Gothic" pitchFamily="34" charset="-120"/>
                        </a:rPr>
                        <a:t>内容</a:t>
                      </a:r>
                      <a:endParaRPr lang="en-US" sz="9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231F1A"/>
                    </a:solidFill>
                  </a:tcPr>
                </a:tc>
              </a:tr>
              <a:tr h="274320">
                <a:tc>
                  <a:txBody>
                    <a:bodyPr/>
                    <a:lstStyle/>
                    <a:p>
                      <a:pPr algn="ctr" indent="0" marL="0">
                        <a:buNone/>
                      </a:pPr>
                      <a:r>
                        <a:rPr lang="en-US" sz="850" dirty="0">
                          <a:solidFill>
                            <a:srgbClr val="EFEBE3"/>
                          </a:solidFill>
                          <a:latin typeface="Yu Gothic" pitchFamily="34" charset="0"/>
                          <a:ea typeface="Yu Gothic" pitchFamily="34" charset="-122"/>
                          <a:cs typeface="Yu Gothic" pitchFamily="34" charset="-120"/>
                        </a:rPr>
                        <a:t>年間税前利益（SPC）</a:t>
                      </a:r>
                      <a:endParaRPr lang="en-US" sz="8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850" b="1" dirty="0">
                          <a:solidFill>
                            <a:srgbClr val="EFEBE3"/>
                          </a:solidFill>
                          <a:latin typeface="Yu Gothic" pitchFamily="34" charset="0"/>
                          <a:ea typeface="Yu Gothic" pitchFamily="34" charset="-122"/>
                          <a:cs typeface="Yu Gothic" pitchFamily="34" charset="-120"/>
                        </a:rPr>
                        <a:t>2.10億円</a:t>
                      </a:r>
                      <a:endParaRPr lang="en-US" sz="8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l" indent="0" marL="0">
                        <a:buNone/>
                      </a:pPr>
                      <a:r>
                        <a:rPr lang="en-US" sz="850" dirty="0">
                          <a:solidFill>
                            <a:srgbClr val="EFEBE3"/>
                          </a:solidFill>
                          <a:latin typeface="Yu Gothic" pitchFamily="34" charset="0"/>
                          <a:ea typeface="Yu Gothic" pitchFamily="34" charset="-122"/>
                          <a:cs typeface="Yu Gothic" pitchFamily="34" charset="-120"/>
                        </a:rPr>
                        <a:t>在庫回転12ヶ月・年間売上7.48億円の主線ケース</a:t>
                      </a:r>
                      <a:endParaRPr lang="en-US" sz="8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r>
              <a:tr h="274320">
                <a:tc>
                  <a:txBody>
                    <a:bodyPr/>
                    <a:lstStyle/>
                    <a:p>
                      <a:pPr algn="ctr" indent="0" marL="0">
                        <a:buNone/>
                      </a:pPr>
                      <a:r>
                        <a:rPr lang="en-US" sz="850" dirty="0">
                          <a:solidFill>
                            <a:srgbClr val="EFEBE3"/>
                          </a:solidFill>
                          <a:latin typeface="Yu Gothic" pitchFamily="34" charset="0"/>
                          <a:ea typeface="Yu Gothic" pitchFamily="34" charset="-122"/>
                          <a:cs typeface="Yu Gothic" pitchFamily="34" charset="-120"/>
                        </a:rPr>
                        <a:t>├ 投資家</a:t>
                      </a:r>
                      <a:endParaRPr lang="en-US" sz="8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850" b="1" dirty="0">
                          <a:solidFill>
                            <a:srgbClr val="C9A96E"/>
                          </a:solidFill>
                          <a:latin typeface="Yu Gothic" pitchFamily="34" charset="0"/>
                          <a:ea typeface="Yu Gothic" pitchFamily="34" charset="-122"/>
                          <a:cs typeface="Yu Gothic" pitchFamily="34" charset="-120"/>
                        </a:rPr>
                        <a:t>105百万円</a:t>
                      </a:r>
                      <a:endParaRPr lang="en-US" sz="8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l" indent="0" marL="0">
                        <a:buNone/>
                      </a:pPr>
                      <a:r>
                        <a:rPr lang="en-US" sz="850" b="1" dirty="0">
                          <a:solidFill>
                            <a:srgbClr val="C9A96E"/>
                          </a:solidFill>
                          <a:latin typeface="Yu Gothic" pitchFamily="34" charset="0"/>
                          <a:ea typeface="Yu Gothic" pitchFamily="34" charset="-122"/>
                          <a:cs typeface="Yu Gothic" pitchFamily="34" charset="-120"/>
                        </a:rPr>
                        <a:t>出資5億円に対し 投資家利回り 21.0%</a:t>
                      </a:r>
                      <a:endParaRPr lang="en-US" sz="8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r>
              <a:tr h="274320">
                <a:tc>
                  <a:txBody>
                    <a:bodyPr/>
                    <a:lstStyle/>
                    <a:p>
                      <a:pPr algn="ctr" indent="0" marL="0">
                        <a:buNone/>
                      </a:pPr>
                      <a:r>
                        <a:rPr lang="en-US" sz="850" dirty="0">
                          <a:solidFill>
                            <a:srgbClr val="EFEBE3"/>
                          </a:solidFill>
                          <a:latin typeface="Yu Gothic" pitchFamily="34" charset="0"/>
                          <a:ea typeface="Yu Gothic" pitchFamily="34" charset="-122"/>
                          <a:cs typeface="Yu Gothic" pitchFamily="34" charset="-120"/>
                        </a:rPr>
                        <a:t>└ WineBank</a:t>
                      </a:r>
                      <a:endParaRPr lang="en-US" sz="8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850" dirty="0">
                          <a:solidFill>
                            <a:srgbClr val="EFEBE3"/>
                          </a:solidFill>
                          <a:latin typeface="Yu Gothic" pitchFamily="34" charset="0"/>
                          <a:ea typeface="Yu Gothic" pitchFamily="34" charset="-122"/>
                          <a:cs typeface="Yu Gothic" pitchFamily="34" charset="-120"/>
                        </a:rPr>
                        <a:t>105百万円</a:t>
                      </a:r>
                      <a:endParaRPr lang="en-US" sz="8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l" indent="0" marL="0">
                        <a:buNone/>
                      </a:pPr>
                      <a:r>
                        <a:rPr lang="en-US" sz="850" dirty="0">
                          <a:solidFill>
                            <a:srgbClr val="EFEBE3"/>
                          </a:solidFill>
                          <a:latin typeface="Yu Gothic" pitchFamily="34" charset="0"/>
                          <a:ea typeface="Yu Gothic" pitchFamily="34" charset="-122"/>
                          <a:cs typeface="Yu Gothic" pitchFamily="34" charset="-120"/>
                        </a:rPr>
                        <a:t>SPC税前利益の50%（成功報酬）。現金拠出はなく、実務の対価として受領する</a:t>
                      </a:r>
                      <a:endParaRPr lang="en-US" sz="8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r>
              <a:tr h="274320">
                <a:tc>
                  <a:txBody>
                    <a:bodyPr/>
                    <a:lstStyle/>
                    <a:p>
                      <a:pPr algn="ctr" indent="0" marL="0">
                        <a:buNone/>
                      </a:pPr>
                      <a:r>
                        <a:rPr lang="en-US" sz="850" dirty="0">
                          <a:solidFill>
                            <a:srgbClr val="EFEBE3"/>
                          </a:solidFill>
                          <a:latin typeface="Yu Gothic" pitchFamily="34" charset="0"/>
                          <a:ea typeface="Yu Gothic" pitchFamily="34" charset="-122"/>
                          <a:cs typeface="Yu Gothic" pitchFamily="34" charset="-120"/>
                        </a:rPr>
                        <a:t>借入・支払利息</a:t>
                      </a:r>
                      <a:endParaRPr lang="en-US" sz="8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850" dirty="0">
                          <a:solidFill>
                            <a:srgbClr val="EFEBE3"/>
                          </a:solidFill>
                          <a:latin typeface="Yu Gothic" pitchFamily="34" charset="0"/>
                          <a:ea typeface="Yu Gothic" pitchFamily="34" charset="-122"/>
                          <a:cs typeface="Yu Gothic" pitchFamily="34" charset="-120"/>
                        </a:rPr>
                        <a:t>なし</a:t>
                      </a:r>
                      <a:endParaRPr lang="en-US" sz="8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l" indent="0" marL="0">
                        <a:buNone/>
                      </a:pPr>
                      <a:r>
                        <a:rPr lang="en-US" sz="850" dirty="0">
                          <a:solidFill>
                            <a:srgbClr val="EFEBE3"/>
                          </a:solidFill>
                          <a:latin typeface="Yu Gothic" pitchFamily="34" charset="0"/>
                          <a:ea typeface="Yu Gothic" pitchFamily="34" charset="-122"/>
                          <a:cs typeface="Yu Gothic" pitchFamily="34" charset="-120"/>
                        </a:rPr>
                        <a:t>SPCは無借金。借入契約・保証・金利の税務処理といった論点が発生しない</a:t>
                      </a:r>
                      <a:endParaRPr lang="en-US" sz="8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r>
            </a:tbl>
          </a:graphicData>
        </a:graphic>
      </p:graphicFrame>
      <p:sp>
        <p:nvSpPr>
          <p:cNvPr id="18" name="Shape 15"/>
          <p:cNvSpPr/>
          <p:nvPr/>
        </p:nvSpPr>
        <p:spPr>
          <a:xfrm>
            <a:off x="658368" y="4718304"/>
            <a:ext cx="10874959" cy="1627632"/>
          </a:xfrm>
          <a:prstGeom prst="roundRect">
            <a:avLst>
              <a:gd name="adj" fmla="val 2528"/>
            </a:avLst>
          </a:prstGeom>
          <a:solidFill>
            <a:srgbClr val="1F1D19"/>
          </a:solidFill>
          <a:ln w="9525">
            <a:solidFill>
              <a:srgbClr val="6E5730"/>
            </a:solidFill>
            <a:prstDash val="solid"/>
          </a:ln>
        </p:spPr>
      </p:sp>
      <p:sp>
        <p:nvSpPr>
          <p:cNvPr id="19" name="Text 16"/>
          <p:cNvSpPr/>
          <p:nvPr/>
        </p:nvSpPr>
        <p:spPr>
          <a:xfrm>
            <a:off x="932688" y="4791456"/>
            <a:ext cx="8686800" cy="219456"/>
          </a:xfrm>
          <a:prstGeom prst="rect">
            <a:avLst/>
          </a:prstGeom>
          <a:noFill/>
          <a:ln/>
        </p:spPr>
        <p:txBody>
          <a:bodyPr wrap="square" lIns="0" tIns="0" rIns="0" bIns="0" rtlCol="0" anchor="ctr"/>
          <a:lstStyle/>
          <a:p>
            <a:pPr indent="0" marL="0">
              <a:buNone/>
            </a:pPr>
            <a:r>
              <a:rPr lang="en-US" sz="1100" b="1" dirty="0">
                <a:solidFill>
                  <a:srgbClr val="C9A96E"/>
                </a:solidFill>
                <a:latin typeface="Yu Gothic" pitchFamily="34" charset="0"/>
                <a:ea typeface="Yu Gothic" pitchFamily="34" charset="-122"/>
                <a:cs typeface="Yu Gothic" pitchFamily="34" charset="-120"/>
              </a:rPr>
              <a:t>山本案（デット2億＋エクイティ3億）との比較 ── 投資家利回りは両案とも21.0%で同じ</a:t>
            </a:r>
            <a:endParaRPr lang="en-US" sz="1100" dirty="0"/>
          </a:p>
        </p:txBody>
      </p:sp>
      <p:graphicFrame>
        <p:nvGraphicFramePr>
          <p:cNvPr id="7" name="Table 1"/>
          <p:cNvGraphicFramePr>
            <a:graphicFrameLocks noGrp="1"/>
          </p:cNvGraphicFramePr>
          <p:nvPr>
            <p:extLst>
              <p:ext uri="{D42A27DB-BD31-4B8C-83A1-F6EECF244321}">
                <p14:modId xmlns:p14="http://schemas.microsoft.com/office/powerpoint/2010/main" val="1579011935"/>
              </p:ext>
            </p:extLst>
          </p:nvPr>
        </p:nvGraphicFramePr>
        <p:xfrm>
          <a:off x="932688" y="5047488"/>
          <a:ext cx="10326319" cy="914400"/>
        </p:xfrm>
        <a:graphic>
          <a:graphicData uri="http://schemas.openxmlformats.org/drawingml/2006/table">
            <a:tbl>
              <a:tblPr/>
              <a:tblGrid>
                <a:gridCol w="3017520"/>
                <a:gridCol w="2468880"/>
                <a:gridCol w="4837176"/>
              </a:tblGrid>
              <a:tr h="192024">
                <a:tc>
                  <a:txBody>
                    <a:bodyPr/>
                    <a:lstStyle/>
                    <a:p>
                      <a:pPr algn="ctr" indent="0" marL="0">
                        <a:buNone/>
                      </a:pPr>
                      <a:r>
                        <a:rPr lang="en-US" sz="950" b="1" dirty="0">
                          <a:solidFill>
                            <a:srgbClr val="C9A96E"/>
                          </a:solidFill>
                          <a:latin typeface="Yu Gothic" pitchFamily="34" charset="0"/>
                          <a:ea typeface="Yu Gothic" pitchFamily="34" charset="-122"/>
                          <a:cs typeface="Yu Gothic" pitchFamily="34" charset="-120"/>
                        </a:rPr>
                        <a:t>回転12ヶ月・ニュートラル</a:t>
                      </a:r>
                      <a:endParaRPr lang="en-US" sz="9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231F1A"/>
                    </a:solidFill>
                  </a:tcPr>
                </a:tc>
                <a:tc>
                  <a:txBody>
                    <a:bodyPr/>
                    <a:lstStyle/>
                    <a:p>
                      <a:pPr algn="ctr" indent="0" marL="0">
                        <a:buNone/>
                      </a:pPr>
                      <a:r>
                        <a:rPr lang="en-US" sz="950" b="1" dirty="0">
                          <a:solidFill>
                            <a:srgbClr val="C9A96E"/>
                          </a:solidFill>
                          <a:latin typeface="Yu Gothic" pitchFamily="34" charset="0"/>
                          <a:ea typeface="Yu Gothic" pitchFamily="34" charset="-122"/>
                          <a:cs typeface="Yu Gothic" pitchFamily="34" charset="-120"/>
                        </a:rPr>
                        <a:t>倉持案（エクイティ5億）</a:t>
                      </a:r>
                      <a:endParaRPr lang="en-US" sz="9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231F1A"/>
                    </a:solidFill>
                  </a:tcPr>
                </a:tc>
                <a:tc>
                  <a:txBody>
                    <a:bodyPr/>
                    <a:lstStyle/>
                    <a:p>
                      <a:pPr algn="ctr" indent="0" marL="0">
                        <a:buNone/>
                      </a:pPr>
                      <a:r>
                        <a:rPr lang="en-US" sz="950" b="1" dirty="0">
                          <a:solidFill>
                            <a:srgbClr val="C9A96E"/>
                          </a:solidFill>
                          <a:latin typeface="Yu Gothic" pitchFamily="34" charset="0"/>
                          <a:ea typeface="Yu Gothic" pitchFamily="34" charset="-122"/>
                          <a:cs typeface="Yu Gothic" pitchFamily="34" charset="-120"/>
                        </a:rPr>
                        <a:t>山本案（デット2億＋エクイティ3億）</a:t>
                      </a:r>
                      <a:endParaRPr lang="en-US" sz="9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231F1A"/>
                    </a:solidFill>
                  </a:tcPr>
                </a:tc>
              </a:tr>
              <a:tr h="192024">
                <a:tc>
                  <a:txBody>
                    <a:bodyPr/>
                    <a:lstStyle/>
                    <a:p>
                      <a:pPr algn="ctr" indent="0" marL="0">
                        <a:buNone/>
                      </a:pPr>
                      <a:r>
                        <a:rPr lang="en-US" sz="800" dirty="0">
                          <a:solidFill>
                            <a:srgbClr val="EFEBE3"/>
                          </a:solidFill>
                          <a:latin typeface="Yu Gothic" pitchFamily="34" charset="0"/>
                          <a:ea typeface="Yu Gothic" pitchFamily="34" charset="-122"/>
                          <a:cs typeface="Yu Gothic" pitchFamily="34" charset="-120"/>
                        </a:rPr>
                        <a:t>投資家のリスク資本</a:t>
                      </a:r>
                      <a:endParaRPr lang="en-US" sz="8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800" dirty="0">
                          <a:solidFill>
                            <a:srgbClr val="EFEBE3"/>
                          </a:solidFill>
                          <a:latin typeface="Yu Gothic" pitchFamily="34" charset="0"/>
                          <a:ea typeface="Yu Gothic" pitchFamily="34" charset="-122"/>
                          <a:cs typeface="Yu Gothic" pitchFamily="34" charset="-120"/>
                        </a:rPr>
                        <a:t>5億円</a:t>
                      </a:r>
                      <a:endParaRPr lang="en-US" sz="8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800" dirty="0">
                          <a:solidFill>
                            <a:srgbClr val="EFEBE3"/>
                          </a:solidFill>
                          <a:latin typeface="Yu Gothic" pitchFamily="34" charset="0"/>
                          <a:ea typeface="Yu Gothic" pitchFamily="34" charset="-122"/>
                          <a:cs typeface="Yu Gothic" pitchFamily="34" charset="-120"/>
                        </a:rPr>
                        <a:t>3億円（別に貸付2億円）</a:t>
                      </a:r>
                      <a:endParaRPr lang="en-US" sz="8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r>
              <a:tr h="192024">
                <a:tc>
                  <a:txBody>
                    <a:bodyPr/>
                    <a:lstStyle/>
                    <a:p>
                      <a:pPr algn="ctr" indent="0" marL="0">
                        <a:buNone/>
                      </a:pPr>
                      <a:r>
                        <a:rPr lang="en-US" sz="800" dirty="0">
                          <a:solidFill>
                            <a:srgbClr val="EFEBE3"/>
                          </a:solidFill>
                          <a:latin typeface="Yu Gothic" pitchFamily="34" charset="0"/>
                          <a:ea typeface="Yu Gothic" pitchFamily="34" charset="-122"/>
                          <a:cs typeface="Yu Gothic" pitchFamily="34" charset="-120"/>
                        </a:rPr>
                        <a:t>投資家の年間受取</a:t>
                      </a:r>
                      <a:endParaRPr lang="en-US" sz="8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800" b="1" dirty="0">
                          <a:solidFill>
                            <a:srgbClr val="C9A96E"/>
                          </a:solidFill>
                          <a:latin typeface="Yu Gothic" pitchFamily="34" charset="0"/>
                          <a:ea typeface="Yu Gothic" pitchFamily="34" charset="-122"/>
                          <a:cs typeface="Yu Gothic" pitchFamily="34" charset="-120"/>
                        </a:rPr>
                        <a:t>105百万円</a:t>
                      </a:r>
                      <a:endParaRPr lang="en-US" sz="8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800" dirty="0">
                          <a:solidFill>
                            <a:srgbClr val="EFEBE3"/>
                          </a:solidFill>
                          <a:latin typeface="Yu Gothic" pitchFamily="34" charset="0"/>
                          <a:ea typeface="Yu Gothic" pitchFamily="34" charset="-122"/>
                          <a:cs typeface="Yu Gothic" pitchFamily="34" charset="-120"/>
                        </a:rPr>
                        <a:t>取分63百万円 ＋ 受取利息8百万円 ＝ 71百万円</a:t>
                      </a:r>
                      <a:endParaRPr lang="en-US" sz="8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r>
              <a:tr h="192024">
                <a:tc>
                  <a:txBody>
                    <a:bodyPr/>
                    <a:lstStyle/>
                    <a:p>
                      <a:pPr algn="ctr" indent="0" marL="0">
                        <a:buNone/>
                      </a:pPr>
                      <a:r>
                        <a:rPr lang="en-US" sz="800" dirty="0">
                          <a:solidFill>
                            <a:srgbClr val="EFEBE3"/>
                          </a:solidFill>
                          <a:latin typeface="Yu Gothic" pitchFamily="34" charset="0"/>
                          <a:ea typeface="Yu Gothic" pitchFamily="34" charset="-122"/>
                          <a:cs typeface="Yu Gothic" pitchFamily="34" charset="-120"/>
                        </a:rPr>
                        <a:t>投資家利回り（出資ベース）</a:t>
                      </a:r>
                      <a:endParaRPr lang="en-US" sz="8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800" b="1" dirty="0">
                          <a:solidFill>
                            <a:srgbClr val="C9A96E"/>
                          </a:solidFill>
                          <a:latin typeface="Yu Gothic" pitchFamily="34" charset="0"/>
                          <a:ea typeface="Yu Gothic" pitchFamily="34" charset="-122"/>
                          <a:cs typeface="Yu Gothic" pitchFamily="34" charset="-120"/>
                        </a:rPr>
                        <a:t>21.0%</a:t>
                      </a:r>
                      <a:endParaRPr lang="en-US" sz="8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800" b="1" dirty="0">
                          <a:solidFill>
                            <a:srgbClr val="C9A96E"/>
                          </a:solidFill>
                          <a:latin typeface="Yu Gothic" pitchFamily="34" charset="0"/>
                          <a:ea typeface="Yu Gothic" pitchFamily="34" charset="-122"/>
                          <a:cs typeface="Yu Gothic" pitchFamily="34" charset="-120"/>
                        </a:rPr>
                        <a:t>21.0%</a:t>
                      </a:r>
                      <a:endParaRPr lang="en-US" sz="8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r>
              <a:tr h="192024">
                <a:tc>
                  <a:txBody>
                    <a:bodyPr/>
                    <a:lstStyle/>
                    <a:p>
                      <a:pPr algn="ctr" indent="0" marL="0">
                        <a:buNone/>
                      </a:pPr>
                      <a:r>
                        <a:rPr lang="en-US" sz="800" dirty="0">
                          <a:solidFill>
                            <a:srgbClr val="EFEBE3"/>
                          </a:solidFill>
                          <a:latin typeface="Yu Gothic" pitchFamily="34" charset="0"/>
                          <a:ea typeface="Yu Gothic" pitchFamily="34" charset="-122"/>
                          <a:cs typeface="Yu Gothic" pitchFamily="34" charset="-120"/>
                        </a:rPr>
                        <a:t>投資家利回り（拠出5億ベース）</a:t>
                      </a:r>
                      <a:endParaRPr lang="en-US" sz="8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800" b="1" dirty="0">
                          <a:solidFill>
                            <a:srgbClr val="C9A96E"/>
                          </a:solidFill>
                          <a:latin typeface="Yu Gothic" pitchFamily="34" charset="0"/>
                          <a:ea typeface="Yu Gothic" pitchFamily="34" charset="-122"/>
                          <a:cs typeface="Yu Gothic" pitchFamily="34" charset="-120"/>
                        </a:rPr>
                        <a:t>21.0%</a:t>
                      </a:r>
                      <a:endParaRPr lang="en-US" sz="8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800" b="1" dirty="0">
                          <a:solidFill>
                            <a:srgbClr val="B4553F"/>
                          </a:solidFill>
                          <a:latin typeface="Yu Gothic" pitchFamily="34" charset="0"/>
                          <a:ea typeface="Yu Gothic" pitchFamily="34" charset="-122"/>
                          <a:cs typeface="Yu Gothic" pitchFamily="34" charset="-120"/>
                        </a:rPr>
                        <a:t>14.2%</a:t>
                      </a:r>
                      <a:endParaRPr lang="en-US" sz="8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r>
              <a:tr h="192024">
                <a:tc>
                  <a:txBody>
                    <a:bodyPr/>
                    <a:lstStyle/>
                    <a:p>
                      <a:pPr algn="ctr" indent="0" marL="0">
                        <a:buNone/>
                      </a:pPr>
                      <a:r>
                        <a:rPr lang="en-US" sz="800" dirty="0">
                          <a:solidFill>
                            <a:srgbClr val="EFEBE3"/>
                          </a:solidFill>
                          <a:latin typeface="Yu Gothic" pitchFamily="34" charset="0"/>
                          <a:ea typeface="Yu Gothic" pitchFamily="34" charset="-122"/>
                          <a:cs typeface="Yu Gothic" pitchFamily="34" charset="-120"/>
                        </a:rPr>
                        <a:t>WineBank取分</a:t>
                      </a:r>
                      <a:endParaRPr lang="en-US" sz="8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800" dirty="0">
                          <a:solidFill>
                            <a:srgbClr val="EFEBE3"/>
                          </a:solidFill>
                          <a:latin typeface="Yu Gothic" pitchFamily="34" charset="0"/>
                          <a:ea typeface="Yu Gothic" pitchFamily="34" charset="-122"/>
                          <a:cs typeface="Yu Gothic" pitchFamily="34" charset="-120"/>
                        </a:rPr>
                        <a:t>105百万円</a:t>
                      </a:r>
                      <a:endParaRPr lang="en-US" sz="8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800" dirty="0">
                          <a:solidFill>
                            <a:srgbClr val="EFEBE3"/>
                          </a:solidFill>
                          <a:latin typeface="Yu Gothic" pitchFamily="34" charset="0"/>
                          <a:ea typeface="Yu Gothic" pitchFamily="34" charset="-122"/>
                          <a:cs typeface="Yu Gothic" pitchFamily="34" charset="-120"/>
                        </a:rPr>
                        <a:t>139百万円（成功報酬63＋デット分76）</a:t>
                      </a:r>
                      <a:endParaRPr lang="en-US" sz="8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r>
            </a:tbl>
          </a:graphicData>
        </a:graphic>
      </p:graphicFrame>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C0C0C"/>
        </a:solidFill>
      </p:bgPr>
    </p:bg>
    <p:spTree>
      <p:nvGrpSpPr>
        <p:cNvPr id="1" name=""/>
        <p:cNvGrpSpPr/>
        <p:nvPr/>
      </p:nvGrpSpPr>
      <p:grpSpPr>
        <a:xfrm>
          <a:off x="0" y="0"/>
          <a:ext cx="0" cy="0"/>
          <a:chOff x="0" y="0"/>
          <a:chExt cx="0" cy="0"/>
        </a:xfrm>
      </p:grpSpPr>
      <p:sp>
        <p:nvSpPr>
          <p:cNvPr id="2" name="Text 0"/>
          <p:cNvSpPr/>
          <p:nvPr/>
        </p:nvSpPr>
        <p:spPr>
          <a:xfrm>
            <a:off x="658368" y="384048"/>
            <a:ext cx="10874959" cy="219456"/>
          </a:xfrm>
          <a:prstGeom prst="rect">
            <a:avLst/>
          </a:prstGeom>
          <a:noFill/>
          <a:ln/>
        </p:spPr>
        <p:txBody>
          <a:bodyPr wrap="square" lIns="0" tIns="0" rIns="0" bIns="0" rtlCol="0" anchor="ctr"/>
          <a:lstStyle/>
          <a:p>
            <a:pPr indent="0" marL="0">
              <a:buNone/>
            </a:pPr>
            <a:r>
              <a:rPr lang="en-US" sz="1050" b="1" spc="340" kern="0" dirty="0">
                <a:solidFill>
                  <a:srgbClr val="A78450"/>
                </a:solidFill>
                <a:latin typeface="Cambria" pitchFamily="34" charset="0"/>
                <a:ea typeface="Cambria" pitchFamily="34" charset="-122"/>
                <a:cs typeface="Cambria" pitchFamily="34" charset="-120"/>
              </a:rPr>
              <a:t>SALES PLAN</a:t>
            </a:r>
            <a:endParaRPr lang="en-US" sz="1050" dirty="0"/>
          </a:p>
        </p:txBody>
      </p:sp>
      <p:sp>
        <p:nvSpPr>
          <p:cNvPr id="3" name="Text 1"/>
          <p:cNvSpPr/>
          <p:nvPr/>
        </p:nvSpPr>
        <p:spPr>
          <a:xfrm>
            <a:off x="658368" y="640080"/>
            <a:ext cx="10874959" cy="548640"/>
          </a:xfrm>
          <a:prstGeom prst="rect">
            <a:avLst/>
          </a:prstGeom>
          <a:noFill/>
          <a:ln/>
        </p:spPr>
        <p:txBody>
          <a:bodyPr wrap="square" lIns="0" tIns="0" rIns="0" bIns="0" rtlCol="0" anchor="ctr"/>
          <a:lstStyle/>
          <a:p>
            <a:pPr indent="0" marL="0">
              <a:buNone/>
            </a:pPr>
            <a:r>
              <a:rPr lang="en-US" sz="2700" b="1" dirty="0">
                <a:solidFill>
                  <a:srgbClr val="EFEBE3"/>
                </a:solidFill>
                <a:latin typeface="Yu Mincho" pitchFamily="34" charset="0"/>
                <a:ea typeface="Yu Mincho" pitchFamily="34" charset="-122"/>
                <a:cs typeface="Yu Mincho" pitchFamily="34" charset="-120"/>
              </a:rPr>
              <a:t>在庫回転12ヶ月をどう実現するか</a:t>
            </a:r>
            <a:endParaRPr lang="en-US" sz="2700" dirty="0"/>
          </a:p>
        </p:txBody>
      </p:sp>
      <p:sp>
        <p:nvSpPr>
          <p:cNvPr id="4" name="Text 2"/>
          <p:cNvSpPr/>
          <p:nvPr/>
        </p:nvSpPr>
        <p:spPr>
          <a:xfrm>
            <a:off x="658368" y="1216152"/>
            <a:ext cx="10874959" cy="310896"/>
          </a:xfrm>
          <a:prstGeom prst="rect">
            <a:avLst/>
          </a:prstGeom>
          <a:noFill/>
          <a:ln/>
        </p:spPr>
        <p:txBody>
          <a:bodyPr wrap="square" lIns="0" tIns="0" rIns="0" bIns="0" rtlCol="0" anchor="ctr"/>
          <a:lstStyle/>
          <a:p>
            <a:pPr indent="0" marL="0">
              <a:buNone/>
            </a:pPr>
            <a:r>
              <a:rPr lang="en-US" sz="1150" dirty="0">
                <a:solidFill>
                  <a:srgbClr val="9A938A"/>
                </a:solidFill>
                <a:latin typeface="Yu Gothic" pitchFamily="34" charset="0"/>
                <a:ea typeface="Yu Gothic" pitchFamily="34" charset="-122"/>
                <a:cs typeface="Yu Gothic" pitchFamily="34" charset="-120"/>
              </a:rPr>
              <a:t>回転12ヶ月には年間7.5億円の販売が必要となる。組入銘柄の選定を主たる手段とし、配分ルールと販路拡大で補う。</a:t>
            </a:r>
            <a:endParaRPr lang="en-US" sz="1150" dirty="0"/>
          </a:p>
        </p:txBody>
      </p:sp>
      <p:sp>
        <p:nvSpPr>
          <p:cNvPr id="5" name="Text 3"/>
          <p:cNvSpPr/>
          <p:nvPr/>
        </p:nvSpPr>
        <p:spPr>
          <a:xfrm>
            <a:off x="658368" y="6437376"/>
            <a:ext cx="5029200" cy="219456"/>
          </a:xfrm>
          <a:prstGeom prst="rect">
            <a:avLst/>
          </a:prstGeom>
          <a:noFill/>
          <a:ln/>
        </p:spPr>
        <p:txBody>
          <a:bodyPr wrap="square" lIns="0" tIns="0" rIns="0" bIns="0" rtlCol="0" anchor="ctr"/>
          <a:lstStyle/>
          <a:p>
            <a:pPr indent="0" marL="0">
              <a:buNone/>
            </a:pPr>
            <a:r>
              <a:rPr lang="en-US" sz="850" dirty="0">
                <a:solidFill>
                  <a:srgbClr val="6E675E"/>
                </a:solidFill>
                <a:latin typeface="Yu Gothic" pitchFamily="34" charset="0"/>
                <a:ea typeface="Yu Gothic" pitchFamily="34" charset="-122"/>
                <a:cs typeface="Yu Gothic" pitchFamily="34" charset="-120"/>
              </a:rPr>
              <a:t>CONFIDENTIAL ｜ 株式会社WineBank</a:t>
            </a:r>
            <a:endParaRPr lang="en-US" sz="850" dirty="0"/>
          </a:p>
        </p:txBody>
      </p:sp>
      <p:sp>
        <p:nvSpPr>
          <p:cNvPr id="6" name="Text 4"/>
          <p:cNvSpPr/>
          <p:nvPr/>
        </p:nvSpPr>
        <p:spPr>
          <a:xfrm>
            <a:off x="10618927" y="6437376"/>
            <a:ext cx="914400" cy="219456"/>
          </a:xfrm>
          <a:prstGeom prst="rect">
            <a:avLst/>
          </a:prstGeom>
          <a:noFill/>
          <a:ln/>
        </p:spPr>
        <p:txBody>
          <a:bodyPr wrap="square" lIns="0" tIns="0" rIns="0" bIns="0" rtlCol="0" anchor="ctr"/>
          <a:lstStyle/>
          <a:p>
            <a:pPr algn="r" indent="0" marL="0">
              <a:buNone/>
            </a:pPr>
            <a:r>
              <a:rPr lang="en-US" sz="950" spc="150" kern="0" dirty="0">
                <a:solidFill>
                  <a:srgbClr val="6E5730"/>
                </a:solidFill>
                <a:latin typeface="Cambria" pitchFamily="34" charset="0"/>
                <a:ea typeface="Cambria" pitchFamily="34" charset="-122"/>
                <a:cs typeface="Cambria" pitchFamily="34" charset="-120"/>
              </a:rPr>
              <a:t>03</a:t>
            </a:r>
            <a:endParaRPr lang="en-US" sz="95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658368" y="1645920"/>
          <a:ext cx="10874959" cy="914400"/>
        </p:xfrm>
        <a:graphic>
          <a:graphicData uri="http://schemas.openxmlformats.org/drawingml/2006/table">
            <a:tbl>
              <a:tblPr/>
              <a:tblGrid>
                <a:gridCol w="1591056"/>
                <a:gridCol w="1572768"/>
                <a:gridCol w="1316736"/>
                <a:gridCol w="1481328"/>
                <a:gridCol w="1298448"/>
                <a:gridCol w="1572768"/>
                <a:gridCol w="2039112"/>
              </a:tblGrid>
              <a:tr h="384048">
                <a:tc>
                  <a:txBody>
                    <a:bodyPr/>
                    <a:lstStyle/>
                    <a:p>
                      <a:pPr algn="ctr" indent="0" marL="0">
                        <a:buNone/>
                      </a:pPr>
                      <a:r>
                        <a:rPr lang="en-US" sz="950" b="1" dirty="0">
                          <a:solidFill>
                            <a:srgbClr val="C9A96E"/>
                          </a:solidFill>
                          <a:latin typeface="Yu Gothic" pitchFamily="34" charset="0"/>
                          <a:ea typeface="Yu Gothic" pitchFamily="34" charset="-122"/>
                          <a:cs typeface="Yu Gothic" pitchFamily="34" charset="-120"/>
                        </a:rPr>
                        <a:t>在庫回転期間</a:t>
                      </a:r>
                      <a:endParaRPr lang="en-US" sz="9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231F1A"/>
                    </a:solidFill>
                  </a:tcPr>
                </a:tc>
                <a:tc>
                  <a:txBody>
                    <a:bodyPr/>
                    <a:lstStyle/>
                    <a:p>
                      <a:pPr algn="ctr" indent="0" marL="0">
                        <a:buNone/>
                      </a:pPr>
                      <a:r>
                        <a:rPr lang="en-US" sz="950" b="1" dirty="0">
                          <a:solidFill>
                            <a:srgbClr val="C9A96E"/>
                          </a:solidFill>
                          <a:latin typeface="Yu Gothic" pitchFamily="34" charset="0"/>
                          <a:ea typeface="Yu Gothic" pitchFamily="34" charset="-122"/>
                          <a:cs typeface="Yu Gothic" pitchFamily="34" charset="-120"/>
                        </a:rPr>
                        <a:t>必要な年間販売額</a:t>
                      </a:r>
                      <a:endParaRPr lang="en-US" sz="9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231F1A"/>
                    </a:solidFill>
                  </a:tcPr>
                </a:tc>
                <a:tc>
                  <a:txBody>
                    <a:bodyPr/>
                    <a:lstStyle/>
                    <a:p>
                      <a:pPr algn="ctr" indent="0" marL="0">
                        <a:buNone/>
                      </a:pPr>
                      <a:r>
                        <a:rPr lang="en-US" sz="950" b="1" dirty="0">
                          <a:solidFill>
                            <a:srgbClr val="C9A96E"/>
                          </a:solidFill>
                          <a:latin typeface="Yu Gothic" pitchFamily="34" charset="0"/>
                          <a:ea typeface="Yu Gothic" pitchFamily="34" charset="-122"/>
                          <a:cs typeface="Yu Gothic" pitchFamily="34" charset="-120"/>
                        </a:rPr>
                        <a:t>年間税前利益</a:t>
                      </a:r>
                      <a:endParaRPr lang="en-US" sz="9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231F1A"/>
                    </a:solidFill>
                  </a:tcPr>
                </a:tc>
                <a:tc>
                  <a:txBody>
                    <a:bodyPr/>
                    <a:lstStyle/>
                    <a:p>
                      <a:pPr algn="ctr" indent="0" marL="0">
                        <a:buNone/>
                      </a:pPr>
                      <a:r>
                        <a:rPr lang="en-US" sz="950" b="1" dirty="0">
                          <a:solidFill>
                            <a:srgbClr val="C9A96E"/>
                          </a:solidFill>
                          <a:latin typeface="Yu Gothic" pitchFamily="34" charset="0"/>
                          <a:ea typeface="Yu Gothic" pitchFamily="34" charset="-122"/>
                          <a:cs typeface="Yu Gothic" pitchFamily="34" charset="-120"/>
                        </a:rPr>
                        <a:t>投資家取分</a:t>
                      </a:r>
                      <a:endParaRPr lang="en-US" sz="9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231F1A"/>
                    </a:solidFill>
                  </a:tcPr>
                </a:tc>
                <a:tc>
                  <a:txBody>
                    <a:bodyPr/>
                    <a:lstStyle/>
                    <a:p>
                      <a:pPr algn="ctr" indent="0" marL="0">
                        <a:buNone/>
                      </a:pPr>
                      <a:r>
                        <a:rPr lang="en-US" sz="950" b="1" dirty="0">
                          <a:solidFill>
                            <a:srgbClr val="C9A96E"/>
                          </a:solidFill>
                          <a:latin typeface="Yu Gothic" pitchFamily="34" charset="0"/>
                          <a:ea typeface="Yu Gothic" pitchFamily="34" charset="-122"/>
                          <a:cs typeface="Yu Gothic" pitchFamily="34" charset="-120"/>
                        </a:rPr>
                        <a:t>投資家利回り</a:t>
                      </a:r>
                      <a:endParaRPr lang="en-US" sz="9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231F1A"/>
                    </a:solidFill>
                  </a:tcPr>
                </a:tc>
                <a:tc>
                  <a:txBody>
                    <a:bodyPr/>
                    <a:lstStyle/>
                    <a:p>
                      <a:pPr algn="ctr" indent="0" marL="0">
                        <a:buNone/>
                      </a:pPr>
                      <a:r>
                        <a:rPr lang="en-US" sz="950" b="1" dirty="0">
                          <a:solidFill>
                            <a:srgbClr val="C9A96E"/>
                          </a:solidFill>
                          <a:latin typeface="Yu Gothic" pitchFamily="34" charset="0"/>
                          <a:ea typeface="Yu Gothic" pitchFamily="34" charset="-122"/>
                          <a:cs typeface="Yu Gothic" pitchFamily="34" charset="-120"/>
                        </a:rPr>
                        <a:t>WineBank取分</a:t>
                      </a:r>
                      <a:endParaRPr lang="en-US" sz="9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231F1A"/>
                    </a:solidFill>
                  </a:tcPr>
                </a:tc>
                <a:tc>
                  <a:txBody>
                    <a:bodyPr/>
                    <a:lstStyle/>
                    <a:p>
                      <a:pPr algn="ctr" indent="0" marL="0">
                        <a:buNone/>
                      </a:pPr>
                      <a:r>
                        <a:rPr lang="en-US" sz="950" b="1" dirty="0">
                          <a:solidFill>
                            <a:srgbClr val="C9A96E"/>
                          </a:solidFill>
                          <a:latin typeface="Yu Gothic" pitchFamily="34" charset="0"/>
                          <a:ea typeface="Yu Gothic" pitchFamily="34" charset="-122"/>
                          <a:cs typeface="Yu Gothic" pitchFamily="34" charset="-120"/>
                        </a:rPr>
                        <a:t>位置づけ</a:t>
                      </a:r>
                      <a:endParaRPr lang="en-US" sz="9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231F1A"/>
                    </a:solidFill>
                  </a:tcPr>
                </a:tc>
              </a:tr>
              <a:tr h="384048">
                <a:tc>
                  <a:txBody>
                    <a:bodyPr/>
                    <a:lstStyle/>
                    <a:p>
                      <a:pPr algn="ctr" indent="0" marL="0">
                        <a:buNone/>
                      </a:pPr>
                      <a:r>
                        <a:rPr lang="en-US" sz="1000" dirty="0">
                          <a:solidFill>
                            <a:srgbClr val="EFEBE3"/>
                          </a:solidFill>
                          <a:latin typeface="Yu Gothic" pitchFamily="34" charset="0"/>
                          <a:ea typeface="Yu Gothic" pitchFamily="34" charset="-122"/>
                          <a:cs typeface="Yu Gothic" pitchFamily="34" charset="-120"/>
                        </a:rPr>
                        <a:t>9ヶ月（最短）</a:t>
                      </a:r>
                      <a:endParaRPr lang="en-US" sz="10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1000" dirty="0">
                          <a:solidFill>
                            <a:srgbClr val="EFEBE3"/>
                          </a:solidFill>
                          <a:latin typeface="Yu Gothic" pitchFamily="34" charset="0"/>
                          <a:ea typeface="Yu Gothic" pitchFamily="34" charset="-122"/>
                          <a:cs typeface="Yu Gothic" pitchFamily="34" charset="-120"/>
                        </a:rPr>
                        <a:t>9.83億円</a:t>
                      </a:r>
                      <a:endParaRPr lang="en-US" sz="10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1000" dirty="0">
                          <a:solidFill>
                            <a:srgbClr val="EFEBE3"/>
                          </a:solidFill>
                          <a:latin typeface="Yu Gothic" pitchFamily="34" charset="0"/>
                          <a:ea typeface="Yu Gothic" pitchFamily="34" charset="-122"/>
                          <a:cs typeface="Yu Gothic" pitchFamily="34" charset="-120"/>
                        </a:rPr>
                        <a:t>2.71億円</a:t>
                      </a:r>
                      <a:endParaRPr lang="en-US" sz="10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1000" dirty="0">
                          <a:solidFill>
                            <a:srgbClr val="EFEBE3"/>
                          </a:solidFill>
                          <a:latin typeface="Yu Gothic" pitchFamily="34" charset="0"/>
                          <a:ea typeface="Yu Gothic" pitchFamily="34" charset="-122"/>
                          <a:cs typeface="Yu Gothic" pitchFamily="34" charset="-120"/>
                        </a:rPr>
                        <a:t>136百万円</a:t>
                      </a:r>
                      <a:endParaRPr lang="en-US" sz="10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1000" b="1" dirty="0">
                          <a:solidFill>
                            <a:srgbClr val="C9A96E"/>
                          </a:solidFill>
                          <a:latin typeface="Yu Gothic" pitchFamily="34" charset="0"/>
                          <a:ea typeface="Yu Gothic" pitchFamily="34" charset="-122"/>
                          <a:cs typeface="Yu Gothic" pitchFamily="34" charset="-120"/>
                        </a:rPr>
                        <a:t>27.1%</a:t>
                      </a:r>
                      <a:endParaRPr lang="en-US" sz="10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1000" dirty="0">
                          <a:solidFill>
                            <a:srgbClr val="EFEBE3"/>
                          </a:solidFill>
                          <a:latin typeface="Yu Gothic" pitchFamily="34" charset="0"/>
                          <a:ea typeface="Yu Gothic" pitchFamily="34" charset="-122"/>
                          <a:cs typeface="Yu Gothic" pitchFamily="34" charset="-120"/>
                        </a:rPr>
                        <a:t>136百万円</a:t>
                      </a:r>
                      <a:endParaRPr lang="en-US" sz="10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l" indent="0" marL="0">
                        <a:buNone/>
                      </a:pPr>
                      <a:r>
                        <a:rPr lang="en-US" sz="1000" dirty="0">
                          <a:solidFill>
                            <a:srgbClr val="EFEBE3"/>
                          </a:solidFill>
                          <a:latin typeface="Yu Gothic" pitchFamily="34" charset="0"/>
                          <a:ea typeface="Yu Gothic" pitchFamily="34" charset="-122"/>
                          <a:cs typeface="Yu Gothic" pitchFamily="34" charset="-120"/>
                        </a:rPr>
                        <a:t>販路拡大が実現した場合の上限</a:t>
                      </a:r>
                      <a:endParaRPr lang="en-US" sz="10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r>
              <a:tr h="384048">
                <a:tc>
                  <a:txBody>
                    <a:bodyPr/>
                    <a:lstStyle/>
                    <a:p>
                      <a:pPr algn="ctr" indent="0" marL="0">
                        <a:buNone/>
                      </a:pPr>
                      <a:r>
                        <a:rPr lang="en-US" sz="1000" b="1" dirty="0">
                          <a:solidFill>
                            <a:srgbClr val="C9A96E"/>
                          </a:solidFill>
                          <a:latin typeface="Yu Gothic" pitchFamily="34" charset="0"/>
                          <a:ea typeface="Yu Gothic" pitchFamily="34" charset="-122"/>
                          <a:cs typeface="Yu Gothic" pitchFamily="34" charset="-120"/>
                        </a:rPr>
                        <a:t>12ヶ月（主線）</a:t>
                      </a:r>
                      <a:endParaRPr lang="en-US" sz="10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1000" b="1" dirty="0">
                          <a:solidFill>
                            <a:srgbClr val="C9A96E"/>
                          </a:solidFill>
                          <a:latin typeface="Yu Gothic" pitchFamily="34" charset="0"/>
                          <a:ea typeface="Yu Gothic" pitchFamily="34" charset="-122"/>
                          <a:cs typeface="Yu Gothic" pitchFamily="34" charset="-120"/>
                        </a:rPr>
                        <a:t>7.48億円</a:t>
                      </a:r>
                      <a:endParaRPr lang="en-US" sz="10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1000" dirty="0">
                          <a:solidFill>
                            <a:srgbClr val="EFEBE3"/>
                          </a:solidFill>
                          <a:latin typeface="Yu Gothic" pitchFamily="34" charset="0"/>
                          <a:ea typeface="Yu Gothic" pitchFamily="34" charset="-122"/>
                          <a:cs typeface="Yu Gothic" pitchFamily="34" charset="-120"/>
                        </a:rPr>
                        <a:t>2.10億円</a:t>
                      </a:r>
                      <a:endParaRPr lang="en-US" sz="10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1000" dirty="0">
                          <a:solidFill>
                            <a:srgbClr val="EFEBE3"/>
                          </a:solidFill>
                          <a:latin typeface="Yu Gothic" pitchFamily="34" charset="0"/>
                          <a:ea typeface="Yu Gothic" pitchFamily="34" charset="-122"/>
                          <a:cs typeface="Yu Gothic" pitchFamily="34" charset="-120"/>
                        </a:rPr>
                        <a:t>105百万円</a:t>
                      </a:r>
                      <a:endParaRPr lang="en-US" sz="10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1000" b="1" dirty="0">
                          <a:solidFill>
                            <a:srgbClr val="C9A96E"/>
                          </a:solidFill>
                          <a:latin typeface="Yu Gothic" pitchFamily="34" charset="0"/>
                          <a:ea typeface="Yu Gothic" pitchFamily="34" charset="-122"/>
                          <a:cs typeface="Yu Gothic" pitchFamily="34" charset="-120"/>
                        </a:rPr>
                        <a:t>21.0%</a:t>
                      </a:r>
                      <a:endParaRPr lang="en-US" sz="10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1000" dirty="0">
                          <a:solidFill>
                            <a:srgbClr val="EFEBE3"/>
                          </a:solidFill>
                          <a:latin typeface="Yu Gothic" pitchFamily="34" charset="0"/>
                          <a:ea typeface="Yu Gothic" pitchFamily="34" charset="-122"/>
                          <a:cs typeface="Yu Gothic" pitchFamily="34" charset="-120"/>
                        </a:rPr>
                        <a:t>105百万円</a:t>
                      </a:r>
                      <a:endParaRPr lang="en-US" sz="10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l" indent="0" marL="0">
                        <a:buNone/>
                      </a:pPr>
                      <a:r>
                        <a:rPr lang="en-US" sz="1000" dirty="0">
                          <a:solidFill>
                            <a:srgbClr val="C9A96E"/>
                          </a:solidFill>
                          <a:latin typeface="Yu Gothic" pitchFamily="34" charset="0"/>
                          <a:ea typeface="Yu Gothic" pitchFamily="34" charset="-122"/>
                          <a:cs typeface="Yu Gothic" pitchFamily="34" charset="-120"/>
                        </a:rPr>
                        <a:t>貴社基準20%を満たす水準</a:t>
                      </a:r>
                      <a:endParaRPr lang="en-US" sz="10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r>
              <a:tr h="384048">
                <a:tc>
                  <a:txBody>
                    <a:bodyPr/>
                    <a:lstStyle/>
                    <a:p>
                      <a:pPr algn="ctr" indent="0" marL="0">
                        <a:buNone/>
                      </a:pPr>
                      <a:r>
                        <a:rPr lang="en-US" sz="1000" dirty="0">
                          <a:solidFill>
                            <a:srgbClr val="EFEBE3"/>
                          </a:solidFill>
                          <a:latin typeface="Yu Gothic" pitchFamily="34" charset="0"/>
                          <a:ea typeface="Yu Gothic" pitchFamily="34" charset="-122"/>
                          <a:cs typeface="Yu Gothic" pitchFamily="34" charset="-120"/>
                        </a:rPr>
                        <a:t>15ヶ月</a:t>
                      </a:r>
                      <a:endParaRPr lang="en-US" sz="10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1000" dirty="0">
                          <a:solidFill>
                            <a:srgbClr val="EFEBE3"/>
                          </a:solidFill>
                          <a:latin typeface="Yu Gothic" pitchFamily="34" charset="0"/>
                          <a:ea typeface="Yu Gothic" pitchFamily="34" charset="-122"/>
                          <a:cs typeface="Yu Gothic" pitchFamily="34" charset="-120"/>
                        </a:rPr>
                        <a:t>6.07億円</a:t>
                      </a:r>
                      <a:endParaRPr lang="en-US" sz="10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1000" dirty="0">
                          <a:solidFill>
                            <a:srgbClr val="EFEBE3"/>
                          </a:solidFill>
                          <a:latin typeface="Yu Gothic" pitchFamily="34" charset="0"/>
                          <a:ea typeface="Yu Gothic" pitchFamily="34" charset="-122"/>
                          <a:cs typeface="Yu Gothic" pitchFamily="34" charset="-120"/>
                        </a:rPr>
                        <a:t>1.73億円</a:t>
                      </a:r>
                      <a:endParaRPr lang="en-US" sz="10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1000" dirty="0">
                          <a:solidFill>
                            <a:srgbClr val="EFEBE3"/>
                          </a:solidFill>
                          <a:latin typeface="Yu Gothic" pitchFamily="34" charset="0"/>
                          <a:ea typeface="Yu Gothic" pitchFamily="34" charset="-122"/>
                          <a:cs typeface="Yu Gothic" pitchFamily="34" charset="-120"/>
                        </a:rPr>
                        <a:t>87百万円</a:t>
                      </a:r>
                      <a:endParaRPr lang="en-US" sz="10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1000" b="1" dirty="0">
                          <a:solidFill>
                            <a:srgbClr val="B4553F"/>
                          </a:solidFill>
                          <a:latin typeface="Yu Gothic" pitchFamily="34" charset="0"/>
                          <a:ea typeface="Yu Gothic" pitchFamily="34" charset="-122"/>
                          <a:cs typeface="Yu Gothic" pitchFamily="34" charset="-120"/>
                        </a:rPr>
                        <a:t>17.3%</a:t>
                      </a:r>
                      <a:endParaRPr lang="en-US" sz="10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1000" dirty="0">
                          <a:solidFill>
                            <a:srgbClr val="EFEBE3"/>
                          </a:solidFill>
                          <a:latin typeface="Yu Gothic" pitchFamily="34" charset="0"/>
                          <a:ea typeface="Yu Gothic" pitchFamily="34" charset="-122"/>
                          <a:cs typeface="Yu Gothic" pitchFamily="34" charset="-120"/>
                        </a:rPr>
                        <a:t>87百万円</a:t>
                      </a:r>
                      <a:endParaRPr lang="en-US" sz="10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l" indent="0" marL="0">
                        <a:buNone/>
                      </a:pPr>
                      <a:r>
                        <a:rPr lang="en-US" sz="1000" dirty="0">
                          <a:solidFill>
                            <a:srgbClr val="B4553F"/>
                          </a:solidFill>
                          <a:latin typeface="Yu Gothic" pitchFamily="34" charset="0"/>
                          <a:ea typeface="Yu Gothic" pitchFamily="34" charset="-122"/>
                          <a:cs typeface="Yu Gothic" pitchFamily="34" charset="-120"/>
                        </a:rPr>
                        <a:t>20%を下回る</a:t>
                      </a:r>
                      <a:endParaRPr lang="en-US" sz="10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r>
              <a:tr h="384048">
                <a:tc>
                  <a:txBody>
                    <a:bodyPr/>
                    <a:lstStyle/>
                    <a:p>
                      <a:pPr algn="ctr" indent="0" marL="0">
                        <a:buNone/>
                      </a:pPr>
                      <a:r>
                        <a:rPr lang="en-US" sz="1000" dirty="0">
                          <a:solidFill>
                            <a:srgbClr val="EFEBE3"/>
                          </a:solidFill>
                          <a:latin typeface="Yu Gothic" pitchFamily="34" charset="0"/>
                          <a:ea typeface="Yu Gothic" pitchFamily="34" charset="-122"/>
                          <a:cs typeface="Yu Gothic" pitchFamily="34" charset="-120"/>
                        </a:rPr>
                        <a:t>18ヶ月</a:t>
                      </a:r>
                      <a:endParaRPr lang="en-US" sz="10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1000" dirty="0">
                          <a:solidFill>
                            <a:srgbClr val="EFEBE3"/>
                          </a:solidFill>
                          <a:latin typeface="Yu Gothic" pitchFamily="34" charset="0"/>
                          <a:ea typeface="Yu Gothic" pitchFamily="34" charset="-122"/>
                          <a:cs typeface="Yu Gothic" pitchFamily="34" charset="-120"/>
                        </a:rPr>
                        <a:t>5.13億円</a:t>
                      </a:r>
                      <a:endParaRPr lang="en-US" sz="10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1000" dirty="0">
                          <a:solidFill>
                            <a:srgbClr val="EFEBE3"/>
                          </a:solidFill>
                          <a:latin typeface="Yu Gothic" pitchFamily="34" charset="0"/>
                          <a:ea typeface="Yu Gothic" pitchFamily="34" charset="-122"/>
                          <a:cs typeface="Yu Gothic" pitchFamily="34" charset="-120"/>
                        </a:rPr>
                        <a:t>1.49億円</a:t>
                      </a:r>
                      <a:endParaRPr lang="en-US" sz="10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1000" dirty="0">
                          <a:solidFill>
                            <a:srgbClr val="EFEBE3"/>
                          </a:solidFill>
                          <a:latin typeface="Yu Gothic" pitchFamily="34" charset="0"/>
                          <a:ea typeface="Yu Gothic" pitchFamily="34" charset="-122"/>
                          <a:cs typeface="Yu Gothic" pitchFamily="34" charset="-120"/>
                        </a:rPr>
                        <a:t>74百万円</a:t>
                      </a:r>
                      <a:endParaRPr lang="en-US" sz="10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1000" b="1" dirty="0">
                          <a:solidFill>
                            <a:srgbClr val="B4553F"/>
                          </a:solidFill>
                          <a:latin typeface="Yu Gothic" pitchFamily="34" charset="0"/>
                          <a:ea typeface="Yu Gothic" pitchFamily="34" charset="-122"/>
                          <a:cs typeface="Yu Gothic" pitchFamily="34" charset="-120"/>
                        </a:rPr>
                        <a:t>14.9%</a:t>
                      </a:r>
                      <a:endParaRPr lang="en-US" sz="10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1000" dirty="0">
                          <a:solidFill>
                            <a:srgbClr val="EFEBE3"/>
                          </a:solidFill>
                          <a:latin typeface="Yu Gothic" pitchFamily="34" charset="0"/>
                          <a:ea typeface="Yu Gothic" pitchFamily="34" charset="-122"/>
                          <a:cs typeface="Yu Gothic" pitchFamily="34" charset="-120"/>
                        </a:rPr>
                        <a:t>74百万円</a:t>
                      </a:r>
                      <a:endParaRPr lang="en-US" sz="10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l" indent="0" marL="0">
                        <a:buNone/>
                      </a:pPr>
                      <a:r>
                        <a:rPr lang="en-US" sz="1000" dirty="0">
                          <a:solidFill>
                            <a:srgbClr val="B4553F"/>
                          </a:solidFill>
                          <a:latin typeface="Yu Gothic" pitchFamily="34" charset="0"/>
                          <a:ea typeface="Yu Gothic" pitchFamily="34" charset="-122"/>
                          <a:cs typeface="Yu Gothic" pitchFamily="34" charset="-120"/>
                        </a:rPr>
                        <a:t>20%を下回る</a:t>
                      </a:r>
                      <a:endParaRPr lang="en-US" sz="10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r>
            </a:tbl>
          </a:graphicData>
        </a:graphic>
      </p:graphicFrame>
      <p:sp>
        <p:nvSpPr>
          <p:cNvPr id="8" name="Shape 5"/>
          <p:cNvSpPr/>
          <p:nvPr/>
        </p:nvSpPr>
        <p:spPr>
          <a:xfrm>
            <a:off x="658368" y="3749040"/>
            <a:ext cx="3454298" cy="1847088"/>
          </a:xfrm>
          <a:prstGeom prst="roundRect">
            <a:avLst>
              <a:gd name="adj" fmla="val 2228"/>
            </a:avLst>
          </a:prstGeom>
          <a:solidFill>
            <a:srgbClr val="1F1D19"/>
          </a:solidFill>
          <a:ln w="9525">
            <a:solidFill>
              <a:srgbClr val="6E5730"/>
            </a:solidFill>
            <a:prstDash val="solid"/>
          </a:ln>
        </p:spPr>
      </p:sp>
      <p:sp>
        <p:nvSpPr>
          <p:cNvPr id="9" name="Text 6"/>
          <p:cNvSpPr/>
          <p:nvPr/>
        </p:nvSpPr>
        <p:spPr>
          <a:xfrm>
            <a:off x="896112" y="3913632"/>
            <a:ext cx="2978810" cy="237744"/>
          </a:xfrm>
          <a:prstGeom prst="rect">
            <a:avLst/>
          </a:prstGeom>
          <a:noFill/>
          <a:ln/>
        </p:spPr>
        <p:txBody>
          <a:bodyPr wrap="square" lIns="0" tIns="0" rIns="0" bIns="0" rtlCol="0" anchor="ctr"/>
          <a:lstStyle/>
          <a:p>
            <a:pPr indent="0" marL="0">
              <a:buNone/>
            </a:pPr>
            <a:r>
              <a:rPr lang="en-US" sz="1100" b="1" dirty="0">
                <a:solidFill>
                  <a:srgbClr val="C9A96E"/>
                </a:solidFill>
                <a:latin typeface="Yu Gothic" pitchFamily="34" charset="0"/>
                <a:ea typeface="Yu Gothic" pitchFamily="34" charset="-122"/>
                <a:cs typeface="Yu Gothic" pitchFamily="34" charset="-120"/>
              </a:rPr>
              <a:t>第一の手段</a:t>
            </a:r>
            <a:endParaRPr lang="en-US" sz="1100" dirty="0"/>
          </a:p>
        </p:txBody>
      </p:sp>
      <p:sp>
        <p:nvSpPr>
          <p:cNvPr id="10" name="Text 7"/>
          <p:cNvSpPr/>
          <p:nvPr/>
        </p:nvSpPr>
        <p:spPr>
          <a:xfrm>
            <a:off x="896112" y="4187952"/>
            <a:ext cx="2978810" cy="365760"/>
          </a:xfrm>
          <a:prstGeom prst="rect">
            <a:avLst/>
          </a:prstGeom>
          <a:noFill/>
          <a:ln/>
        </p:spPr>
        <p:txBody>
          <a:bodyPr wrap="square" lIns="0" tIns="0" rIns="0" bIns="0" rtlCol="0" anchor="ctr"/>
          <a:lstStyle/>
          <a:p>
            <a:pPr indent="0" marL="0">
              <a:buNone/>
            </a:pPr>
            <a:r>
              <a:rPr lang="en-US" sz="1700" b="1" dirty="0">
                <a:solidFill>
                  <a:srgbClr val="C9A96E"/>
                </a:solidFill>
                <a:latin typeface="Yu Gothic" pitchFamily="34" charset="0"/>
                <a:ea typeface="Yu Gothic" pitchFamily="34" charset="-122"/>
                <a:cs typeface="Yu Gothic" pitchFamily="34" charset="-120"/>
              </a:rPr>
              <a:t>組入銘柄の選定</a:t>
            </a:r>
            <a:endParaRPr lang="en-US" sz="1700" dirty="0"/>
          </a:p>
        </p:txBody>
      </p:sp>
      <p:sp>
        <p:nvSpPr>
          <p:cNvPr id="11" name="Text 8"/>
          <p:cNvSpPr/>
          <p:nvPr/>
        </p:nvSpPr>
        <p:spPr>
          <a:xfrm>
            <a:off x="896112" y="4608576"/>
            <a:ext cx="2978810" cy="896112"/>
          </a:xfrm>
          <a:prstGeom prst="rect">
            <a:avLst/>
          </a:prstGeom>
          <a:noFill/>
          <a:ln/>
        </p:spPr>
        <p:txBody>
          <a:bodyPr wrap="square" lIns="0" tIns="0" rIns="0" bIns="0" rtlCol="0" anchor="ctr"/>
          <a:lstStyle/>
          <a:p>
            <a:pPr indent="0" marL="0">
              <a:lnSpc>
                <a:spcPct val="124000"/>
              </a:lnSpc>
              <a:buNone/>
            </a:pPr>
            <a:r>
              <a:rPr lang="en-US" sz="900" dirty="0">
                <a:solidFill>
                  <a:srgbClr val="9A938A"/>
                </a:solidFill>
                <a:latin typeface="Yu Gothic" pitchFamily="34" charset="0"/>
                <a:ea typeface="Yu Gothic" pitchFamily="34" charset="-122"/>
                <a:cs typeface="Yu Gothic" pitchFamily="34" charset="-120"/>
              </a:rPr>
              <a:t>Liv-ex掲載の流動性上位銘柄など、回転の速い銘柄をSPCに組み入れる。何を持たせるかで回転期間の大半が決まるため、これが最も効く打ち手となる。</a:t>
            </a:r>
            <a:endParaRPr lang="en-US" sz="900" dirty="0"/>
          </a:p>
        </p:txBody>
      </p:sp>
      <p:sp>
        <p:nvSpPr>
          <p:cNvPr id="12" name="Shape 9"/>
          <p:cNvSpPr/>
          <p:nvPr/>
        </p:nvSpPr>
        <p:spPr>
          <a:xfrm>
            <a:off x="4368698" y="3749040"/>
            <a:ext cx="3454298" cy="1847088"/>
          </a:xfrm>
          <a:prstGeom prst="roundRect">
            <a:avLst>
              <a:gd name="adj" fmla="val 2228"/>
            </a:avLst>
          </a:prstGeom>
          <a:solidFill>
            <a:srgbClr val="171614"/>
          </a:solidFill>
          <a:ln w="9525">
            <a:solidFill>
              <a:srgbClr val="2E2A24"/>
            </a:solidFill>
            <a:prstDash val="solid"/>
          </a:ln>
        </p:spPr>
      </p:sp>
      <p:sp>
        <p:nvSpPr>
          <p:cNvPr id="13" name="Text 10"/>
          <p:cNvSpPr/>
          <p:nvPr/>
        </p:nvSpPr>
        <p:spPr>
          <a:xfrm>
            <a:off x="4606442" y="3913632"/>
            <a:ext cx="2978810" cy="237744"/>
          </a:xfrm>
          <a:prstGeom prst="rect">
            <a:avLst/>
          </a:prstGeom>
          <a:noFill/>
          <a:ln/>
        </p:spPr>
        <p:txBody>
          <a:bodyPr wrap="square" lIns="0" tIns="0" rIns="0" bIns="0" rtlCol="0" anchor="ctr"/>
          <a:lstStyle/>
          <a:p>
            <a:pPr indent="0" marL="0">
              <a:buNone/>
            </a:pPr>
            <a:r>
              <a:rPr lang="en-US" sz="1100" b="1" dirty="0">
                <a:solidFill>
                  <a:srgbClr val="EFEBE3"/>
                </a:solidFill>
                <a:latin typeface="Yu Gothic" pitchFamily="34" charset="0"/>
                <a:ea typeface="Yu Gothic" pitchFamily="34" charset="-122"/>
                <a:cs typeface="Yu Gothic" pitchFamily="34" charset="-120"/>
              </a:rPr>
              <a:t>第二の手段</a:t>
            </a:r>
            <a:endParaRPr lang="en-US" sz="1100" dirty="0"/>
          </a:p>
        </p:txBody>
      </p:sp>
      <p:sp>
        <p:nvSpPr>
          <p:cNvPr id="14" name="Text 11"/>
          <p:cNvSpPr/>
          <p:nvPr/>
        </p:nvSpPr>
        <p:spPr>
          <a:xfrm>
            <a:off x="4606442" y="4187952"/>
            <a:ext cx="2978810" cy="365760"/>
          </a:xfrm>
          <a:prstGeom prst="rect">
            <a:avLst/>
          </a:prstGeom>
          <a:noFill/>
          <a:ln/>
        </p:spPr>
        <p:txBody>
          <a:bodyPr wrap="square" lIns="0" tIns="0" rIns="0" bIns="0" rtlCol="0" anchor="ctr"/>
          <a:lstStyle/>
          <a:p>
            <a:pPr indent="0" marL="0">
              <a:buNone/>
            </a:pPr>
            <a:r>
              <a:rPr lang="en-US" sz="1700" b="1" dirty="0">
                <a:solidFill>
                  <a:srgbClr val="C9A96E"/>
                </a:solidFill>
                <a:latin typeface="Yu Gothic" pitchFamily="34" charset="0"/>
                <a:ea typeface="Yu Gothic" pitchFamily="34" charset="-122"/>
                <a:cs typeface="Yu Gothic" pitchFamily="34" charset="-120"/>
              </a:rPr>
              <a:t>配分ルール</a:t>
            </a:r>
            <a:endParaRPr lang="en-US" sz="1700" dirty="0"/>
          </a:p>
        </p:txBody>
      </p:sp>
      <p:sp>
        <p:nvSpPr>
          <p:cNvPr id="15" name="Text 12"/>
          <p:cNvSpPr/>
          <p:nvPr/>
        </p:nvSpPr>
        <p:spPr>
          <a:xfrm>
            <a:off x="4606442" y="4608576"/>
            <a:ext cx="2978810" cy="896112"/>
          </a:xfrm>
          <a:prstGeom prst="rect">
            <a:avLst/>
          </a:prstGeom>
          <a:noFill/>
          <a:ln/>
        </p:spPr>
        <p:txBody>
          <a:bodyPr wrap="square" lIns="0" tIns="0" rIns="0" bIns="0" rtlCol="0" anchor="ctr"/>
          <a:lstStyle/>
          <a:p>
            <a:pPr indent="0" marL="0">
              <a:lnSpc>
                <a:spcPct val="124000"/>
              </a:lnSpc>
              <a:buNone/>
            </a:pPr>
            <a:r>
              <a:rPr lang="en-US" sz="900" dirty="0">
                <a:solidFill>
                  <a:srgbClr val="9A938A"/>
                </a:solidFill>
                <a:latin typeface="Yu Gothic" pitchFamily="34" charset="0"/>
                <a:ea typeface="Yu Gothic" pitchFamily="34" charset="-122"/>
                <a:cs typeface="Yu Gothic" pitchFamily="34" charset="-120"/>
              </a:rPr>
              <a:t>自己勘定在庫と重複する銘柄は在庫比率でプロラタ配分し、判断を要する場合はSPC在庫を優先する。契約別紙として明文化する。</a:t>
            </a:r>
            <a:endParaRPr lang="en-US" sz="900" dirty="0"/>
          </a:p>
        </p:txBody>
      </p:sp>
      <p:sp>
        <p:nvSpPr>
          <p:cNvPr id="16" name="Shape 13"/>
          <p:cNvSpPr/>
          <p:nvPr/>
        </p:nvSpPr>
        <p:spPr>
          <a:xfrm>
            <a:off x="8079029" y="3749040"/>
            <a:ext cx="3454298" cy="1847088"/>
          </a:xfrm>
          <a:prstGeom prst="roundRect">
            <a:avLst>
              <a:gd name="adj" fmla="val 2228"/>
            </a:avLst>
          </a:prstGeom>
          <a:solidFill>
            <a:srgbClr val="171614"/>
          </a:solidFill>
          <a:ln w="9525">
            <a:solidFill>
              <a:srgbClr val="2E2A24"/>
            </a:solidFill>
            <a:prstDash val="solid"/>
          </a:ln>
        </p:spPr>
      </p:sp>
      <p:sp>
        <p:nvSpPr>
          <p:cNvPr id="17" name="Text 14"/>
          <p:cNvSpPr/>
          <p:nvPr/>
        </p:nvSpPr>
        <p:spPr>
          <a:xfrm>
            <a:off x="8316773" y="3913632"/>
            <a:ext cx="2978810" cy="237744"/>
          </a:xfrm>
          <a:prstGeom prst="rect">
            <a:avLst/>
          </a:prstGeom>
          <a:noFill/>
          <a:ln/>
        </p:spPr>
        <p:txBody>
          <a:bodyPr wrap="square" lIns="0" tIns="0" rIns="0" bIns="0" rtlCol="0" anchor="ctr"/>
          <a:lstStyle/>
          <a:p>
            <a:pPr indent="0" marL="0">
              <a:buNone/>
            </a:pPr>
            <a:r>
              <a:rPr lang="en-US" sz="1100" b="1" dirty="0">
                <a:solidFill>
                  <a:srgbClr val="EFEBE3"/>
                </a:solidFill>
                <a:latin typeface="Yu Gothic" pitchFamily="34" charset="0"/>
                <a:ea typeface="Yu Gothic" pitchFamily="34" charset="-122"/>
                <a:cs typeface="Yu Gothic" pitchFamily="34" charset="-120"/>
              </a:rPr>
              <a:t>第三の手段</a:t>
            </a:r>
            <a:endParaRPr lang="en-US" sz="1100" dirty="0"/>
          </a:p>
        </p:txBody>
      </p:sp>
      <p:sp>
        <p:nvSpPr>
          <p:cNvPr id="18" name="Text 15"/>
          <p:cNvSpPr/>
          <p:nvPr/>
        </p:nvSpPr>
        <p:spPr>
          <a:xfrm>
            <a:off x="8316773" y="4187952"/>
            <a:ext cx="2978810" cy="365760"/>
          </a:xfrm>
          <a:prstGeom prst="rect">
            <a:avLst/>
          </a:prstGeom>
          <a:noFill/>
          <a:ln/>
        </p:spPr>
        <p:txBody>
          <a:bodyPr wrap="square" lIns="0" tIns="0" rIns="0" bIns="0" rtlCol="0" anchor="ctr"/>
          <a:lstStyle/>
          <a:p>
            <a:pPr indent="0" marL="0">
              <a:buNone/>
            </a:pPr>
            <a:r>
              <a:rPr lang="en-US" sz="1700" b="1" dirty="0">
                <a:solidFill>
                  <a:srgbClr val="C9A96E"/>
                </a:solidFill>
                <a:latin typeface="Yu Gothic" pitchFamily="34" charset="0"/>
                <a:ea typeface="Yu Gothic" pitchFamily="34" charset="-122"/>
                <a:cs typeface="Yu Gothic" pitchFamily="34" charset="-120"/>
              </a:rPr>
              <a:t>販路の拡大</a:t>
            </a:r>
            <a:endParaRPr lang="en-US" sz="1700" dirty="0"/>
          </a:p>
        </p:txBody>
      </p:sp>
      <p:sp>
        <p:nvSpPr>
          <p:cNvPr id="19" name="Text 16"/>
          <p:cNvSpPr/>
          <p:nvPr/>
        </p:nvSpPr>
        <p:spPr>
          <a:xfrm>
            <a:off x="8316773" y="4608576"/>
            <a:ext cx="2978810" cy="896112"/>
          </a:xfrm>
          <a:prstGeom prst="rect">
            <a:avLst/>
          </a:prstGeom>
          <a:noFill/>
          <a:ln/>
        </p:spPr>
        <p:txBody>
          <a:bodyPr wrap="square" lIns="0" tIns="0" rIns="0" bIns="0" rtlCol="0" anchor="ctr"/>
          <a:lstStyle/>
          <a:p>
            <a:pPr indent="0" marL="0">
              <a:lnSpc>
                <a:spcPct val="124000"/>
              </a:lnSpc>
              <a:buNone/>
            </a:pPr>
            <a:r>
              <a:rPr lang="en-US" sz="900" dirty="0">
                <a:solidFill>
                  <a:srgbClr val="9A938A"/>
                </a:solidFill>
                <a:latin typeface="Yu Gothic" pitchFamily="34" charset="0"/>
                <a:ea typeface="Yu Gothic" pitchFamily="34" charset="-122"/>
                <a:cs typeface="Yu Gothic" pitchFamily="34" charset="-120"/>
              </a:rPr>
              <a:t>輸出入ライセンスを活かした海外販売、2026年9月開始のWineBank Auction、グループ飲食（アピシウス／ティエリーマルクス）。これらは出資金ではなくWineBank側の資本で手当てする。</a:t>
            </a:r>
            <a:endParaRPr lang="en-US" sz="900" dirty="0"/>
          </a:p>
        </p:txBody>
      </p:sp>
      <p:sp>
        <p:nvSpPr>
          <p:cNvPr id="20" name="Text 17"/>
          <p:cNvSpPr/>
          <p:nvPr/>
        </p:nvSpPr>
        <p:spPr>
          <a:xfrm>
            <a:off x="658368" y="5687568"/>
            <a:ext cx="10874959" cy="402336"/>
          </a:xfrm>
          <a:prstGeom prst="rect">
            <a:avLst/>
          </a:prstGeom>
          <a:noFill/>
          <a:ln/>
        </p:spPr>
        <p:txBody>
          <a:bodyPr wrap="square" lIns="0" tIns="0" rIns="0" bIns="0" rtlCol="0" anchor="ctr"/>
          <a:lstStyle/>
          <a:p>
            <a:pPr indent="0" marL="0">
              <a:lnSpc>
                <a:spcPct val="120000"/>
              </a:lnSpc>
              <a:buNone/>
            </a:pPr>
            <a:r>
              <a:rPr lang="en-US" sz="850" dirty="0">
                <a:solidFill>
                  <a:srgbClr val="6E675E"/>
                </a:solidFill>
                <a:latin typeface="Yu Gothic" pitchFamily="34" charset="0"/>
                <a:ea typeface="Yu Gothic" pitchFamily="34" charset="-122"/>
                <a:cs typeface="Yu Gothic" pitchFamily="34" charset="-120"/>
              </a:rPr>
              <a:t>※ 回転12ヶ月に必要な年間販売額7.48億円は、現状の販売実力（5〜7億円）の上限をやや上回る。銘柄の大半はSPCと自己勘定で重複しないため配分の判断自体が生じず、回転期間は「何を組み入れるか」でほぼ決まる。重複銘柄の取扱いは在庫配分の公平性の頁を参照。投資家利回りが20%を割り込むのは回転が12.7ヶ月を超えた場合であり、主線12ヶ月との余裕は0.7ヶ月しかない。回転12ヶ月の達成が貴社基準を満たすための必須条件となる。</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C0C0C"/>
        </a:solidFill>
      </p:bgPr>
    </p:bg>
    <p:spTree>
      <p:nvGrpSpPr>
        <p:cNvPr id="1" name=""/>
        <p:cNvGrpSpPr/>
        <p:nvPr/>
      </p:nvGrpSpPr>
      <p:grpSpPr>
        <a:xfrm>
          <a:off x="0" y="0"/>
          <a:ext cx="0" cy="0"/>
          <a:chOff x="0" y="0"/>
          <a:chExt cx="0" cy="0"/>
        </a:xfrm>
      </p:grpSpPr>
      <p:sp>
        <p:nvSpPr>
          <p:cNvPr id="2" name="Text 0"/>
          <p:cNvSpPr/>
          <p:nvPr/>
        </p:nvSpPr>
        <p:spPr>
          <a:xfrm>
            <a:off x="658368" y="384048"/>
            <a:ext cx="10874959" cy="219456"/>
          </a:xfrm>
          <a:prstGeom prst="rect">
            <a:avLst/>
          </a:prstGeom>
          <a:noFill/>
          <a:ln/>
        </p:spPr>
        <p:txBody>
          <a:bodyPr wrap="square" lIns="0" tIns="0" rIns="0" bIns="0" rtlCol="0" anchor="ctr"/>
          <a:lstStyle/>
          <a:p>
            <a:pPr indent="0" marL="0">
              <a:buNone/>
            </a:pPr>
            <a:r>
              <a:rPr lang="en-US" sz="1050" b="1" spc="340" kern="0" dirty="0">
                <a:solidFill>
                  <a:srgbClr val="A78450"/>
                </a:solidFill>
                <a:latin typeface="Cambria" pitchFamily="34" charset="0"/>
                <a:ea typeface="Cambria" pitchFamily="34" charset="-122"/>
                <a:cs typeface="Cambria" pitchFamily="34" charset="-120"/>
              </a:rPr>
              <a:t>STRUCTURE</a:t>
            </a:r>
            <a:endParaRPr lang="en-US" sz="1050" dirty="0"/>
          </a:p>
        </p:txBody>
      </p:sp>
      <p:sp>
        <p:nvSpPr>
          <p:cNvPr id="3" name="Text 1"/>
          <p:cNvSpPr/>
          <p:nvPr/>
        </p:nvSpPr>
        <p:spPr>
          <a:xfrm>
            <a:off x="658368" y="640080"/>
            <a:ext cx="10874959" cy="548640"/>
          </a:xfrm>
          <a:prstGeom prst="rect">
            <a:avLst/>
          </a:prstGeom>
          <a:noFill/>
          <a:ln/>
        </p:spPr>
        <p:txBody>
          <a:bodyPr wrap="square" lIns="0" tIns="0" rIns="0" bIns="0" rtlCol="0" anchor="ctr"/>
          <a:lstStyle/>
          <a:p>
            <a:pPr indent="0" marL="0">
              <a:buNone/>
            </a:pPr>
            <a:r>
              <a:rPr lang="en-US" sz="2700" b="1" dirty="0">
                <a:solidFill>
                  <a:srgbClr val="EFEBE3"/>
                </a:solidFill>
                <a:latin typeface="Yu Mincho" pitchFamily="34" charset="0"/>
                <a:ea typeface="Yu Mincho" pitchFamily="34" charset="-122"/>
                <a:cs typeface="Yu Mincho" pitchFamily="34" charset="-120"/>
              </a:rPr>
              <a:t>ファンドスキーム</a:t>
            </a:r>
            <a:endParaRPr lang="en-US" sz="2700" dirty="0"/>
          </a:p>
        </p:txBody>
      </p:sp>
      <p:sp>
        <p:nvSpPr>
          <p:cNvPr id="4" name="Text 2"/>
          <p:cNvSpPr/>
          <p:nvPr/>
        </p:nvSpPr>
        <p:spPr>
          <a:xfrm>
            <a:off x="658368" y="1216152"/>
            <a:ext cx="10874959" cy="310896"/>
          </a:xfrm>
          <a:prstGeom prst="rect">
            <a:avLst/>
          </a:prstGeom>
          <a:noFill/>
          <a:ln/>
        </p:spPr>
        <p:txBody>
          <a:bodyPr wrap="square" lIns="0" tIns="0" rIns="0" bIns="0" rtlCol="0" anchor="ctr"/>
          <a:lstStyle/>
          <a:p>
            <a:pPr indent="0" marL="0">
              <a:buNone/>
            </a:pPr>
            <a:r>
              <a:rPr lang="en-US" sz="1150" dirty="0">
                <a:solidFill>
                  <a:srgbClr val="9A938A"/>
                </a:solidFill>
                <a:latin typeface="Yu Gothic" pitchFamily="34" charset="0"/>
                <a:ea typeface="Yu Gothic" pitchFamily="34" charset="-122"/>
                <a:cs typeface="Yu Gothic" pitchFamily="34" charset="-120"/>
              </a:rPr>
              <a:t>WineBankが免許事業者として売買当事者となり、SPCは現物の所有者として損益を受ける。</a:t>
            </a:r>
            <a:endParaRPr lang="en-US" sz="1150" dirty="0"/>
          </a:p>
        </p:txBody>
      </p:sp>
      <p:sp>
        <p:nvSpPr>
          <p:cNvPr id="5" name="Text 3"/>
          <p:cNvSpPr/>
          <p:nvPr/>
        </p:nvSpPr>
        <p:spPr>
          <a:xfrm>
            <a:off x="658368" y="6437376"/>
            <a:ext cx="5029200" cy="219456"/>
          </a:xfrm>
          <a:prstGeom prst="rect">
            <a:avLst/>
          </a:prstGeom>
          <a:noFill/>
          <a:ln/>
        </p:spPr>
        <p:txBody>
          <a:bodyPr wrap="square" lIns="0" tIns="0" rIns="0" bIns="0" rtlCol="0" anchor="ctr"/>
          <a:lstStyle/>
          <a:p>
            <a:pPr indent="0" marL="0">
              <a:buNone/>
            </a:pPr>
            <a:r>
              <a:rPr lang="en-US" sz="850" dirty="0">
                <a:solidFill>
                  <a:srgbClr val="6E675E"/>
                </a:solidFill>
                <a:latin typeface="Yu Gothic" pitchFamily="34" charset="0"/>
                <a:ea typeface="Yu Gothic" pitchFamily="34" charset="-122"/>
                <a:cs typeface="Yu Gothic" pitchFamily="34" charset="-120"/>
              </a:rPr>
              <a:t>CONFIDENTIAL ｜ 株式会社WineBank</a:t>
            </a:r>
            <a:endParaRPr lang="en-US" sz="850" dirty="0"/>
          </a:p>
        </p:txBody>
      </p:sp>
      <p:sp>
        <p:nvSpPr>
          <p:cNvPr id="6" name="Text 4"/>
          <p:cNvSpPr/>
          <p:nvPr/>
        </p:nvSpPr>
        <p:spPr>
          <a:xfrm>
            <a:off x="10618927" y="6437376"/>
            <a:ext cx="914400" cy="219456"/>
          </a:xfrm>
          <a:prstGeom prst="rect">
            <a:avLst/>
          </a:prstGeom>
          <a:noFill/>
          <a:ln/>
        </p:spPr>
        <p:txBody>
          <a:bodyPr wrap="square" lIns="0" tIns="0" rIns="0" bIns="0" rtlCol="0" anchor="ctr"/>
          <a:lstStyle/>
          <a:p>
            <a:pPr algn="r" indent="0" marL="0">
              <a:buNone/>
            </a:pPr>
            <a:r>
              <a:rPr lang="en-US" sz="950" spc="150" kern="0" dirty="0">
                <a:solidFill>
                  <a:srgbClr val="6E5730"/>
                </a:solidFill>
                <a:latin typeface="Cambria" pitchFamily="34" charset="0"/>
                <a:ea typeface="Cambria" pitchFamily="34" charset="-122"/>
                <a:cs typeface="Cambria" pitchFamily="34" charset="-120"/>
              </a:rPr>
              <a:t>04</a:t>
            </a:r>
            <a:endParaRPr lang="en-US" sz="950" dirty="0"/>
          </a:p>
        </p:txBody>
      </p:sp>
      <p:sp>
        <p:nvSpPr>
          <p:cNvPr id="7" name="Shape 5"/>
          <p:cNvSpPr/>
          <p:nvPr/>
        </p:nvSpPr>
        <p:spPr>
          <a:xfrm>
            <a:off x="658368" y="1700784"/>
            <a:ext cx="3246120" cy="1188720"/>
          </a:xfrm>
          <a:prstGeom prst="roundRect">
            <a:avLst>
              <a:gd name="adj" fmla="val 3462"/>
            </a:avLst>
          </a:prstGeom>
          <a:solidFill>
            <a:srgbClr val="171614"/>
          </a:solidFill>
          <a:ln w="9525">
            <a:solidFill>
              <a:srgbClr val="2E2A24"/>
            </a:solidFill>
            <a:prstDash val="solid"/>
          </a:ln>
        </p:spPr>
      </p:sp>
      <p:sp>
        <p:nvSpPr>
          <p:cNvPr id="8" name="Text 6"/>
          <p:cNvSpPr/>
          <p:nvPr/>
        </p:nvSpPr>
        <p:spPr>
          <a:xfrm>
            <a:off x="877824" y="1920240"/>
            <a:ext cx="2807208" cy="256032"/>
          </a:xfrm>
          <a:prstGeom prst="rect">
            <a:avLst/>
          </a:prstGeom>
          <a:noFill/>
          <a:ln/>
        </p:spPr>
        <p:txBody>
          <a:bodyPr wrap="square" lIns="0" tIns="0" rIns="0" bIns="0" rtlCol="0" anchor="ctr"/>
          <a:lstStyle/>
          <a:p>
            <a:pPr indent="0" marL="0">
              <a:buNone/>
            </a:pPr>
            <a:r>
              <a:rPr lang="en-US" sz="1300" b="1" dirty="0">
                <a:solidFill>
                  <a:srgbClr val="EFEBE3"/>
                </a:solidFill>
                <a:latin typeface="Yu Gothic" pitchFamily="34" charset="0"/>
                <a:ea typeface="Yu Gothic" pitchFamily="34" charset="-122"/>
                <a:cs typeface="Yu Gothic" pitchFamily="34" charset="-120"/>
              </a:rPr>
              <a:t>投資家（資産管理会社）</a:t>
            </a:r>
            <a:endParaRPr lang="en-US" sz="1300" dirty="0"/>
          </a:p>
        </p:txBody>
      </p:sp>
      <p:sp>
        <p:nvSpPr>
          <p:cNvPr id="9" name="Text 7"/>
          <p:cNvSpPr/>
          <p:nvPr/>
        </p:nvSpPr>
        <p:spPr>
          <a:xfrm>
            <a:off x="877824" y="2231136"/>
            <a:ext cx="2807208" cy="237744"/>
          </a:xfrm>
          <a:prstGeom prst="rect">
            <a:avLst/>
          </a:prstGeom>
          <a:noFill/>
          <a:ln/>
        </p:spPr>
        <p:txBody>
          <a:bodyPr wrap="square" lIns="0" tIns="0" rIns="0" bIns="0" rtlCol="0" anchor="ctr"/>
          <a:lstStyle/>
          <a:p>
            <a:pPr indent="0" marL="0">
              <a:buNone/>
            </a:pPr>
            <a:r>
              <a:rPr lang="en-US" sz="1050" dirty="0">
                <a:solidFill>
                  <a:srgbClr val="C9A96E"/>
                </a:solidFill>
                <a:latin typeface="Yu Gothic" pitchFamily="34" charset="0"/>
                <a:ea typeface="Yu Gothic" pitchFamily="34" charset="-122"/>
                <a:cs typeface="Yu Gothic" pitchFamily="34" charset="-120"/>
              </a:rPr>
              <a:t>匿名組合出資　5億円（デットなし）</a:t>
            </a:r>
            <a:endParaRPr lang="en-US" sz="1050" dirty="0"/>
          </a:p>
        </p:txBody>
      </p:sp>
      <p:sp>
        <p:nvSpPr>
          <p:cNvPr id="10" name="Text 8"/>
          <p:cNvSpPr/>
          <p:nvPr/>
        </p:nvSpPr>
        <p:spPr>
          <a:xfrm>
            <a:off x="877824" y="2487168"/>
            <a:ext cx="2807208" cy="237744"/>
          </a:xfrm>
          <a:prstGeom prst="rect">
            <a:avLst/>
          </a:prstGeom>
          <a:noFill/>
          <a:ln/>
        </p:spPr>
        <p:txBody>
          <a:bodyPr wrap="square" lIns="0" tIns="0" rIns="0" bIns="0" rtlCol="0" anchor="ctr"/>
          <a:lstStyle/>
          <a:p>
            <a:pPr indent="0" marL="0">
              <a:buNone/>
            </a:pPr>
            <a:r>
              <a:rPr lang="en-US" sz="950" dirty="0">
                <a:solidFill>
                  <a:srgbClr val="9A938A"/>
                </a:solidFill>
                <a:latin typeface="Yu Gothic" pitchFamily="34" charset="0"/>
                <a:ea typeface="Yu Gothic" pitchFamily="34" charset="-122"/>
                <a:cs typeface="Yu Gothic" pitchFamily="34" charset="-120"/>
              </a:rPr>
              <a:t>投資家帰属利益の50%を半期ごとに受領</a:t>
            </a:r>
            <a:endParaRPr lang="en-US" sz="950" dirty="0"/>
          </a:p>
        </p:txBody>
      </p:sp>
      <p:sp>
        <p:nvSpPr>
          <p:cNvPr id="11" name="Shape 9"/>
          <p:cNvSpPr/>
          <p:nvPr/>
        </p:nvSpPr>
        <p:spPr>
          <a:xfrm>
            <a:off x="4472788" y="1700784"/>
            <a:ext cx="3246120" cy="1188720"/>
          </a:xfrm>
          <a:prstGeom prst="roundRect">
            <a:avLst>
              <a:gd name="adj" fmla="val 3462"/>
            </a:avLst>
          </a:prstGeom>
          <a:solidFill>
            <a:srgbClr val="1F1D19"/>
          </a:solidFill>
          <a:ln w="9525">
            <a:solidFill>
              <a:srgbClr val="6E5730"/>
            </a:solidFill>
            <a:prstDash val="solid"/>
          </a:ln>
        </p:spPr>
      </p:sp>
      <p:sp>
        <p:nvSpPr>
          <p:cNvPr id="12" name="Text 10"/>
          <p:cNvSpPr/>
          <p:nvPr/>
        </p:nvSpPr>
        <p:spPr>
          <a:xfrm>
            <a:off x="4692244" y="1920240"/>
            <a:ext cx="2807208" cy="256032"/>
          </a:xfrm>
          <a:prstGeom prst="rect">
            <a:avLst/>
          </a:prstGeom>
          <a:noFill/>
          <a:ln/>
        </p:spPr>
        <p:txBody>
          <a:bodyPr wrap="square" lIns="0" tIns="0" rIns="0" bIns="0" rtlCol="0" anchor="ctr"/>
          <a:lstStyle/>
          <a:p>
            <a:pPr indent="0" marL="0">
              <a:buNone/>
            </a:pPr>
            <a:r>
              <a:rPr lang="en-US" sz="1300" b="1" dirty="0">
                <a:solidFill>
                  <a:srgbClr val="C9A96E"/>
                </a:solidFill>
                <a:latin typeface="Yu Gothic" pitchFamily="34" charset="0"/>
                <a:ea typeface="Yu Gothic" pitchFamily="34" charset="-122"/>
                <a:cs typeface="Yu Gothic" pitchFamily="34" charset="-120"/>
              </a:rPr>
              <a:t>ワインファンドSPC</a:t>
            </a:r>
            <a:endParaRPr lang="en-US" sz="1300" dirty="0"/>
          </a:p>
        </p:txBody>
      </p:sp>
      <p:sp>
        <p:nvSpPr>
          <p:cNvPr id="13" name="Text 11"/>
          <p:cNvSpPr/>
          <p:nvPr/>
        </p:nvSpPr>
        <p:spPr>
          <a:xfrm>
            <a:off x="4692244" y="2231136"/>
            <a:ext cx="2807208" cy="237744"/>
          </a:xfrm>
          <a:prstGeom prst="rect">
            <a:avLst/>
          </a:prstGeom>
          <a:noFill/>
          <a:ln/>
        </p:spPr>
        <p:txBody>
          <a:bodyPr wrap="square" lIns="0" tIns="0" rIns="0" bIns="0" rtlCol="0" anchor="ctr"/>
          <a:lstStyle/>
          <a:p>
            <a:pPr indent="0" marL="0">
              <a:buNone/>
            </a:pPr>
            <a:r>
              <a:rPr lang="en-US" sz="1050" dirty="0">
                <a:solidFill>
                  <a:srgbClr val="EFEBE3"/>
                </a:solidFill>
                <a:latin typeface="Yu Gothic" pitchFamily="34" charset="0"/>
                <a:ea typeface="Yu Gothic" pitchFamily="34" charset="-122"/>
                <a:cs typeface="Yu Gothic" pitchFamily="34" charset="-120"/>
              </a:rPr>
              <a:t>合同会社＋匿名組合（GK-TK）</a:t>
            </a:r>
            <a:endParaRPr lang="en-US" sz="1050" dirty="0"/>
          </a:p>
        </p:txBody>
      </p:sp>
      <p:sp>
        <p:nvSpPr>
          <p:cNvPr id="14" name="Text 12"/>
          <p:cNvSpPr/>
          <p:nvPr/>
        </p:nvSpPr>
        <p:spPr>
          <a:xfrm>
            <a:off x="4692244" y="2487168"/>
            <a:ext cx="2807208" cy="237744"/>
          </a:xfrm>
          <a:prstGeom prst="rect">
            <a:avLst/>
          </a:prstGeom>
          <a:noFill/>
          <a:ln/>
        </p:spPr>
        <p:txBody>
          <a:bodyPr wrap="square" lIns="0" tIns="0" rIns="0" bIns="0" rtlCol="0" anchor="ctr"/>
          <a:lstStyle/>
          <a:p>
            <a:pPr indent="0" marL="0">
              <a:buNone/>
            </a:pPr>
            <a:r>
              <a:rPr lang="en-US" sz="950" dirty="0">
                <a:solidFill>
                  <a:srgbClr val="9A938A"/>
                </a:solidFill>
                <a:latin typeface="Yu Gothic" pitchFamily="34" charset="0"/>
                <a:ea typeface="Yu Gothic" pitchFamily="34" charset="-122"/>
                <a:cs typeface="Yu Gothic" pitchFamily="34" charset="-120"/>
              </a:rPr>
              <a:t>ワイン現物を所有・損益が帰属</a:t>
            </a:r>
            <a:endParaRPr lang="en-US" sz="950" dirty="0"/>
          </a:p>
        </p:txBody>
      </p:sp>
      <p:sp>
        <p:nvSpPr>
          <p:cNvPr id="15" name="Shape 13"/>
          <p:cNvSpPr/>
          <p:nvPr/>
        </p:nvSpPr>
        <p:spPr>
          <a:xfrm>
            <a:off x="8287207" y="1700784"/>
            <a:ext cx="3246120" cy="1188720"/>
          </a:xfrm>
          <a:prstGeom prst="roundRect">
            <a:avLst>
              <a:gd name="adj" fmla="val 3462"/>
            </a:avLst>
          </a:prstGeom>
          <a:solidFill>
            <a:srgbClr val="171614"/>
          </a:solidFill>
          <a:ln w="9525">
            <a:solidFill>
              <a:srgbClr val="2E2A24"/>
            </a:solidFill>
            <a:prstDash val="solid"/>
          </a:ln>
        </p:spPr>
      </p:sp>
      <p:sp>
        <p:nvSpPr>
          <p:cNvPr id="16" name="Text 14"/>
          <p:cNvSpPr/>
          <p:nvPr/>
        </p:nvSpPr>
        <p:spPr>
          <a:xfrm>
            <a:off x="8506663" y="1920240"/>
            <a:ext cx="2807208" cy="256032"/>
          </a:xfrm>
          <a:prstGeom prst="rect">
            <a:avLst/>
          </a:prstGeom>
          <a:noFill/>
          <a:ln/>
        </p:spPr>
        <p:txBody>
          <a:bodyPr wrap="square" lIns="0" tIns="0" rIns="0" bIns="0" rtlCol="0" anchor="ctr"/>
          <a:lstStyle/>
          <a:p>
            <a:pPr indent="0" marL="0">
              <a:buNone/>
            </a:pPr>
            <a:r>
              <a:rPr lang="en-US" sz="1300" b="1" dirty="0">
                <a:solidFill>
                  <a:srgbClr val="EFEBE3"/>
                </a:solidFill>
                <a:latin typeface="Yu Gothic" pitchFamily="34" charset="0"/>
                <a:ea typeface="Yu Gothic" pitchFamily="34" charset="-122"/>
                <a:cs typeface="Yu Gothic" pitchFamily="34" charset="-120"/>
              </a:rPr>
              <a:t>株式会社WineBank</a:t>
            </a:r>
            <a:endParaRPr lang="en-US" sz="1300" dirty="0"/>
          </a:p>
        </p:txBody>
      </p:sp>
      <p:sp>
        <p:nvSpPr>
          <p:cNvPr id="17" name="Text 15"/>
          <p:cNvSpPr/>
          <p:nvPr/>
        </p:nvSpPr>
        <p:spPr>
          <a:xfrm>
            <a:off x="8506663" y="2231136"/>
            <a:ext cx="2807208" cy="237744"/>
          </a:xfrm>
          <a:prstGeom prst="rect">
            <a:avLst/>
          </a:prstGeom>
          <a:noFill/>
          <a:ln/>
        </p:spPr>
        <p:txBody>
          <a:bodyPr wrap="square" lIns="0" tIns="0" rIns="0" bIns="0" rtlCol="0" anchor="ctr"/>
          <a:lstStyle/>
          <a:p>
            <a:pPr indent="0" marL="0">
              <a:buNone/>
            </a:pPr>
            <a:r>
              <a:rPr lang="en-US" sz="1050" dirty="0">
                <a:solidFill>
                  <a:srgbClr val="C9A96E"/>
                </a:solidFill>
                <a:latin typeface="Yu Gothic" pitchFamily="34" charset="0"/>
                <a:ea typeface="Yu Gothic" pitchFamily="34" charset="-122"/>
                <a:cs typeface="Yu Gothic" pitchFamily="34" charset="-120"/>
              </a:rPr>
              <a:t>酒類販売業免許・取引口座を保有</a:t>
            </a:r>
            <a:endParaRPr lang="en-US" sz="1050" dirty="0"/>
          </a:p>
        </p:txBody>
      </p:sp>
      <p:sp>
        <p:nvSpPr>
          <p:cNvPr id="18" name="Text 16"/>
          <p:cNvSpPr/>
          <p:nvPr/>
        </p:nvSpPr>
        <p:spPr>
          <a:xfrm>
            <a:off x="8506663" y="2487168"/>
            <a:ext cx="2807208" cy="237744"/>
          </a:xfrm>
          <a:prstGeom prst="rect">
            <a:avLst/>
          </a:prstGeom>
          <a:noFill/>
          <a:ln/>
        </p:spPr>
        <p:txBody>
          <a:bodyPr wrap="square" lIns="0" tIns="0" rIns="0" bIns="0" rtlCol="0" anchor="ctr"/>
          <a:lstStyle/>
          <a:p>
            <a:pPr indent="0" marL="0">
              <a:buNone/>
            </a:pPr>
            <a:r>
              <a:rPr lang="en-US" sz="950" dirty="0">
                <a:solidFill>
                  <a:srgbClr val="9A938A"/>
                </a:solidFill>
                <a:latin typeface="Yu Gothic" pitchFamily="34" charset="0"/>
                <a:ea typeface="Yu Gothic" pitchFamily="34" charset="-122"/>
                <a:cs typeface="Yu Gothic" pitchFamily="34" charset="-120"/>
              </a:rPr>
              <a:t>調達・譲渡・保管・販売を実行（GP）</a:t>
            </a:r>
            <a:endParaRPr lang="en-US" sz="950" dirty="0"/>
          </a:p>
        </p:txBody>
      </p:sp>
      <p:sp>
        <p:nvSpPr>
          <p:cNvPr id="19" name="Shape 17"/>
          <p:cNvSpPr/>
          <p:nvPr/>
        </p:nvSpPr>
        <p:spPr>
          <a:xfrm>
            <a:off x="3995928" y="2176272"/>
            <a:ext cx="385420" cy="237744"/>
          </a:xfrm>
          <a:prstGeom prst="rightArrow">
            <a:avLst/>
          </a:prstGeom>
          <a:solidFill>
            <a:srgbClr val="6E5730"/>
          </a:solidFill>
          <a:ln w="12700">
            <a:solidFill>
              <a:srgbClr val="6E5730"/>
            </a:solidFill>
            <a:prstDash val="solid"/>
          </a:ln>
        </p:spPr>
      </p:sp>
      <p:sp>
        <p:nvSpPr>
          <p:cNvPr id="20" name="Shape 18"/>
          <p:cNvSpPr/>
          <p:nvPr/>
        </p:nvSpPr>
        <p:spPr>
          <a:xfrm>
            <a:off x="7810348" y="2176272"/>
            <a:ext cx="385420" cy="237744"/>
          </a:xfrm>
          <a:prstGeom prst="leftArrow">
            <a:avLst/>
          </a:prstGeom>
          <a:solidFill>
            <a:srgbClr val="6E5730"/>
          </a:solidFill>
          <a:ln w="12700">
            <a:solidFill>
              <a:srgbClr val="6E5730"/>
            </a:solidFill>
            <a:prstDash val="solid"/>
          </a:ln>
        </p:spPr>
      </p:sp>
      <p:sp>
        <p:nvSpPr>
          <p:cNvPr id="21" name="Shape 19"/>
          <p:cNvSpPr/>
          <p:nvPr/>
        </p:nvSpPr>
        <p:spPr>
          <a:xfrm>
            <a:off x="658368" y="3291840"/>
            <a:ext cx="2526716" cy="1609344"/>
          </a:xfrm>
          <a:prstGeom prst="roundRect">
            <a:avLst>
              <a:gd name="adj" fmla="val 2557"/>
            </a:avLst>
          </a:prstGeom>
          <a:solidFill>
            <a:srgbClr val="171614"/>
          </a:solidFill>
          <a:ln w="9525">
            <a:solidFill>
              <a:srgbClr val="2E2A24"/>
            </a:solidFill>
            <a:prstDash val="solid"/>
          </a:ln>
        </p:spPr>
      </p:sp>
      <p:sp>
        <p:nvSpPr>
          <p:cNvPr id="22" name="Shape 20"/>
          <p:cNvSpPr/>
          <p:nvPr/>
        </p:nvSpPr>
        <p:spPr>
          <a:xfrm>
            <a:off x="877824" y="3493008"/>
            <a:ext cx="310896" cy="310896"/>
          </a:xfrm>
          <a:prstGeom prst="ellipse">
            <a:avLst/>
          </a:prstGeom>
          <a:solidFill>
            <a:srgbClr val="0C0C0C"/>
          </a:solidFill>
          <a:ln w="11430">
            <a:solidFill>
              <a:srgbClr val="A78450"/>
            </a:solidFill>
            <a:prstDash val="solid"/>
          </a:ln>
        </p:spPr>
      </p:sp>
      <p:sp>
        <p:nvSpPr>
          <p:cNvPr id="23" name="Text 21"/>
          <p:cNvSpPr/>
          <p:nvPr/>
        </p:nvSpPr>
        <p:spPr>
          <a:xfrm>
            <a:off x="877824" y="3493008"/>
            <a:ext cx="310896" cy="310896"/>
          </a:xfrm>
          <a:prstGeom prst="rect">
            <a:avLst/>
          </a:prstGeom>
          <a:noFill/>
          <a:ln/>
        </p:spPr>
        <p:txBody>
          <a:bodyPr wrap="square" lIns="0" tIns="0" rIns="0" bIns="0" rtlCol="0" anchor="ctr"/>
          <a:lstStyle/>
          <a:p>
            <a:pPr algn="ctr" indent="0" marL="0">
              <a:buNone/>
            </a:pPr>
            <a:r>
              <a:rPr lang="en-US" sz="1100" b="1" dirty="0">
                <a:solidFill>
                  <a:srgbClr val="C9A96E"/>
                </a:solidFill>
                <a:latin typeface="Cambria" pitchFamily="34" charset="0"/>
                <a:ea typeface="Cambria" pitchFamily="34" charset="-122"/>
                <a:cs typeface="Cambria" pitchFamily="34" charset="-120"/>
              </a:rPr>
              <a:t>01</a:t>
            </a:r>
            <a:endParaRPr lang="en-US" sz="1100" dirty="0"/>
          </a:p>
        </p:txBody>
      </p:sp>
      <p:sp>
        <p:nvSpPr>
          <p:cNvPr id="24" name="Text 22"/>
          <p:cNvSpPr/>
          <p:nvPr/>
        </p:nvSpPr>
        <p:spPr>
          <a:xfrm>
            <a:off x="1280160" y="3511296"/>
            <a:ext cx="1685468" cy="274320"/>
          </a:xfrm>
          <a:prstGeom prst="rect">
            <a:avLst/>
          </a:prstGeom>
          <a:noFill/>
          <a:ln/>
        </p:spPr>
        <p:txBody>
          <a:bodyPr wrap="square" lIns="0" tIns="0" rIns="0" bIns="0" rtlCol="0" anchor="ctr"/>
          <a:lstStyle/>
          <a:p>
            <a:pPr indent="0" marL="0">
              <a:buNone/>
            </a:pPr>
            <a:r>
              <a:rPr lang="en-US" sz="1200" b="1" dirty="0">
                <a:solidFill>
                  <a:srgbClr val="EFEBE3"/>
                </a:solidFill>
                <a:latin typeface="Yu Gothic" pitchFamily="34" charset="0"/>
                <a:ea typeface="Yu Gothic" pitchFamily="34" charset="-122"/>
                <a:cs typeface="Yu Gothic" pitchFamily="34" charset="-120"/>
              </a:rPr>
              <a:t>調達</a:t>
            </a:r>
            <a:endParaRPr lang="en-US" sz="1200" dirty="0"/>
          </a:p>
        </p:txBody>
      </p:sp>
      <p:sp>
        <p:nvSpPr>
          <p:cNvPr id="25" name="Text 23"/>
          <p:cNvSpPr/>
          <p:nvPr/>
        </p:nvSpPr>
        <p:spPr>
          <a:xfrm>
            <a:off x="877824" y="3931920"/>
            <a:ext cx="2087804" cy="603504"/>
          </a:xfrm>
          <a:prstGeom prst="rect">
            <a:avLst/>
          </a:prstGeom>
          <a:noFill/>
          <a:ln/>
        </p:spPr>
        <p:txBody>
          <a:bodyPr wrap="square" lIns="0" tIns="0" rIns="0" bIns="0" rtlCol="0" anchor="ctr"/>
          <a:lstStyle/>
          <a:p>
            <a:pPr indent="0" marL="0">
              <a:lnSpc>
                <a:spcPct val="120000"/>
              </a:lnSpc>
              <a:buNone/>
            </a:pPr>
            <a:r>
              <a:rPr lang="en-US" sz="950" dirty="0">
                <a:solidFill>
                  <a:srgbClr val="9A938A"/>
                </a:solidFill>
                <a:latin typeface="Yu Gothic" pitchFamily="34" charset="0"/>
                <a:ea typeface="Yu Gothic" pitchFamily="34" charset="-122"/>
                <a:cs typeface="Yu Gothic" pitchFamily="34" charset="-120"/>
              </a:rPr>
              <a:t>WineBankが自社の免許・取引口座でインポーター／酒販店から正規品を調達</a:t>
            </a:r>
            <a:endParaRPr lang="en-US" sz="950" dirty="0"/>
          </a:p>
        </p:txBody>
      </p:sp>
      <p:sp>
        <p:nvSpPr>
          <p:cNvPr id="26" name="Text 24"/>
          <p:cNvSpPr/>
          <p:nvPr/>
        </p:nvSpPr>
        <p:spPr>
          <a:xfrm>
            <a:off x="877824" y="4572000"/>
            <a:ext cx="2087804" cy="219456"/>
          </a:xfrm>
          <a:prstGeom prst="rect">
            <a:avLst/>
          </a:prstGeom>
          <a:noFill/>
          <a:ln/>
        </p:spPr>
        <p:txBody>
          <a:bodyPr wrap="square" lIns="0" tIns="0" rIns="0" bIns="0" rtlCol="0" anchor="ctr"/>
          <a:lstStyle/>
          <a:p>
            <a:pPr indent="0" marL="0">
              <a:buNone/>
            </a:pPr>
            <a:r>
              <a:rPr lang="en-US" sz="1000" b="1" dirty="0">
                <a:solidFill>
                  <a:srgbClr val="C9A96E"/>
                </a:solidFill>
                <a:latin typeface="Yu Gothic" pitchFamily="34" charset="0"/>
                <a:ea typeface="Yu Gothic" pitchFamily="34" charset="-122"/>
                <a:cs typeface="Yu Gothic" pitchFamily="34" charset="-120"/>
              </a:rPr>
              <a:t>定価比 40〜60</a:t>
            </a:r>
            <a:endParaRPr lang="en-US" sz="1000" dirty="0"/>
          </a:p>
        </p:txBody>
      </p:sp>
      <p:sp>
        <p:nvSpPr>
          <p:cNvPr id="27" name="Shape 25"/>
          <p:cNvSpPr/>
          <p:nvPr/>
        </p:nvSpPr>
        <p:spPr>
          <a:xfrm>
            <a:off x="3441116" y="3291840"/>
            <a:ext cx="2526716" cy="1609344"/>
          </a:xfrm>
          <a:prstGeom prst="roundRect">
            <a:avLst>
              <a:gd name="adj" fmla="val 2557"/>
            </a:avLst>
          </a:prstGeom>
          <a:solidFill>
            <a:srgbClr val="171614"/>
          </a:solidFill>
          <a:ln w="9525">
            <a:solidFill>
              <a:srgbClr val="2E2A24"/>
            </a:solidFill>
            <a:prstDash val="solid"/>
          </a:ln>
        </p:spPr>
      </p:sp>
      <p:sp>
        <p:nvSpPr>
          <p:cNvPr id="28" name="Shape 26"/>
          <p:cNvSpPr/>
          <p:nvPr/>
        </p:nvSpPr>
        <p:spPr>
          <a:xfrm>
            <a:off x="3660572" y="3493008"/>
            <a:ext cx="310896" cy="310896"/>
          </a:xfrm>
          <a:prstGeom prst="ellipse">
            <a:avLst/>
          </a:prstGeom>
          <a:solidFill>
            <a:srgbClr val="0C0C0C"/>
          </a:solidFill>
          <a:ln w="11430">
            <a:solidFill>
              <a:srgbClr val="A78450"/>
            </a:solidFill>
            <a:prstDash val="solid"/>
          </a:ln>
        </p:spPr>
      </p:sp>
      <p:sp>
        <p:nvSpPr>
          <p:cNvPr id="29" name="Text 27"/>
          <p:cNvSpPr/>
          <p:nvPr/>
        </p:nvSpPr>
        <p:spPr>
          <a:xfrm>
            <a:off x="3660572" y="3493008"/>
            <a:ext cx="310896" cy="310896"/>
          </a:xfrm>
          <a:prstGeom prst="rect">
            <a:avLst/>
          </a:prstGeom>
          <a:noFill/>
          <a:ln/>
        </p:spPr>
        <p:txBody>
          <a:bodyPr wrap="square" lIns="0" tIns="0" rIns="0" bIns="0" rtlCol="0" anchor="ctr"/>
          <a:lstStyle/>
          <a:p>
            <a:pPr algn="ctr" indent="0" marL="0">
              <a:buNone/>
            </a:pPr>
            <a:r>
              <a:rPr lang="en-US" sz="1100" b="1" dirty="0">
                <a:solidFill>
                  <a:srgbClr val="C9A96E"/>
                </a:solidFill>
                <a:latin typeface="Cambria" pitchFamily="34" charset="0"/>
                <a:ea typeface="Cambria" pitchFamily="34" charset="-122"/>
                <a:cs typeface="Cambria" pitchFamily="34" charset="-120"/>
              </a:rPr>
              <a:t>02</a:t>
            </a:r>
            <a:endParaRPr lang="en-US" sz="1100" dirty="0"/>
          </a:p>
        </p:txBody>
      </p:sp>
      <p:sp>
        <p:nvSpPr>
          <p:cNvPr id="30" name="Text 28"/>
          <p:cNvSpPr/>
          <p:nvPr/>
        </p:nvSpPr>
        <p:spPr>
          <a:xfrm>
            <a:off x="4062908" y="3511296"/>
            <a:ext cx="1685468" cy="274320"/>
          </a:xfrm>
          <a:prstGeom prst="rect">
            <a:avLst/>
          </a:prstGeom>
          <a:noFill/>
          <a:ln/>
        </p:spPr>
        <p:txBody>
          <a:bodyPr wrap="square" lIns="0" tIns="0" rIns="0" bIns="0" rtlCol="0" anchor="ctr"/>
          <a:lstStyle/>
          <a:p>
            <a:pPr indent="0" marL="0">
              <a:buNone/>
            </a:pPr>
            <a:r>
              <a:rPr lang="en-US" sz="1200" b="1" dirty="0">
                <a:solidFill>
                  <a:srgbClr val="EFEBE3"/>
                </a:solidFill>
                <a:latin typeface="Yu Gothic" pitchFamily="34" charset="0"/>
                <a:ea typeface="Yu Gothic" pitchFamily="34" charset="-122"/>
                <a:cs typeface="Yu Gothic" pitchFamily="34" charset="-120"/>
              </a:rPr>
              <a:t>譲渡</a:t>
            </a:r>
            <a:endParaRPr lang="en-US" sz="1200" dirty="0"/>
          </a:p>
        </p:txBody>
      </p:sp>
      <p:sp>
        <p:nvSpPr>
          <p:cNvPr id="31" name="Text 29"/>
          <p:cNvSpPr/>
          <p:nvPr/>
        </p:nvSpPr>
        <p:spPr>
          <a:xfrm>
            <a:off x="3660572" y="3931920"/>
            <a:ext cx="2087804" cy="603504"/>
          </a:xfrm>
          <a:prstGeom prst="rect">
            <a:avLst/>
          </a:prstGeom>
          <a:noFill/>
          <a:ln/>
        </p:spPr>
        <p:txBody>
          <a:bodyPr wrap="square" lIns="0" tIns="0" rIns="0" bIns="0" rtlCol="0" anchor="ctr"/>
          <a:lstStyle/>
          <a:p>
            <a:pPr indent="0" marL="0">
              <a:lnSpc>
                <a:spcPct val="120000"/>
              </a:lnSpc>
              <a:buNone/>
            </a:pPr>
            <a:r>
              <a:rPr lang="en-US" sz="950" dirty="0">
                <a:solidFill>
                  <a:srgbClr val="9A938A"/>
                </a:solidFill>
                <a:latin typeface="Yu Gothic" pitchFamily="34" charset="0"/>
                <a:ea typeface="Yu Gothic" pitchFamily="34" charset="-122"/>
                <a:cs typeface="Yu Gothic" pitchFamily="34" charset="-120"/>
              </a:rPr>
              <a:t>現物をSPCへ譲渡（酒類卸売）。独立企業間価格として1%を付加</a:t>
            </a:r>
            <a:endParaRPr lang="en-US" sz="950" dirty="0"/>
          </a:p>
        </p:txBody>
      </p:sp>
      <p:sp>
        <p:nvSpPr>
          <p:cNvPr id="32" name="Text 30"/>
          <p:cNvSpPr/>
          <p:nvPr/>
        </p:nvSpPr>
        <p:spPr>
          <a:xfrm>
            <a:off x="3660572" y="4572000"/>
            <a:ext cx="2087804" cy="219456"/>
          </a:xfrm>
          <a:prstGeom prst="rect">
            <a:avLst/>
          </a:prstGeom>
          <a:noFill/>
          <a:ln/>
        </p:spPr>
        <p:txBody>
          <a:bodyPr wrap="square" lIns="0" tIns="0" rIns="0" bIns="0" rtlCol="0" anchor="ctr"/>
          <a:lstStyle/>
          <a:p>
            <a:pPr indent="0" marL="0">
              <a:buNone/>
            </a:pPr>
            <a:r>
              <a:rPr lang="en-US" sz="1000" b="1" dirty="0">
                <a:solidFill>
                  <a:srgbClr val="C9A96E"/>
                </a:solidFill>
                <a:latin typeface="Yu Gothic" pitchFamily="34" charset="0"/>
                <a:ea typeface="Yu Gothic" pitchFamily="34" charset="-122"/>
                <a:cs typeface="Yu Gothic" pitchFamily="34" charset="-120"/>
              </a:rPr>
              <a:t>SPC取得原価 50.5</a:t>
            </a:r>
            <a:endParaRPr lang="en-US" sz="1000" dirty="0"/>
          </a:p>
        </p:txBody>
      </p:sp>
      <p:sp>
        <p:nvSpPr>
          <p:cNvPr id="33" name="Shape 31"/>
          <p:cNvSpPr/>
          <p:nvPr/>
        </p:nvSpPr>
        <p:spPr>
          <a:xfrm>
            <a:off x="6223864" y="3291840"/>
            <a:ext cx="2526716" cy="1609344"/>
          </a:xfrm>
          <a:prstGeom prst="roundRect">
            <a:avLst>
              <a:gd name="adj" fmla="val 2557"/>
            </a:avLst>
          </a:prstGeom>
          <a:solidFill>
            <a:srgbClr val="171614"/>
          </a:solidFill>
          <a:ln w="9525">
            <a:solidFill>
              <a:srgbClr val="2E2A24"/>
            </a:solidFill>
            <a:prstDash val="solid"/>
          </a:ln>
        </p:spPr>
      </p:sp>
      <p:sp>
        <p:nvSpPr>
          <p:cNvPr id="34" name="Shape 32"/>
          <p:cNvSpPr/>
          <p:nvPr/>
        </p:nvSpPr>
        <p:spPr>
          <a:xfrm>
            <a:off x="6443320" y="3493008"/>
            <a:ext cx="310896" cy="310896"/>
          </a:xfrm>
          <a:prstGeom prst="ellipse">
            <a:avLst/>
          </a:prstGeom>
          <a:solidFill>
            <a:srgbClr val="0C0C0C"/>
          </a:solidFill>
          <a:ln w="11430">
            <a:solidFill>
              <a:srgbClr val="A78450"/>
            </a:solidFill>
            <a:prstDash val="solid"/>
          </a:ln>
        </p:spPr>
      </p:sp>
      <p:sp>
        <p:nvSpPr>
          <p:cNvPr id="35" name="Text 33"/>
          <p:cNvSpPr/>
          <p:nvPr/>
        </p:nvSpPr>
        <p:spPr>
          <a:xfrm>
            <a:off x="6443320" y="3493008"/>
            <a:ext cx="310896" cy="310896"/>
          </a:xfrm>
          <a:prstGeom prst="rect">
            <a:avLst/>
          </a:prstGeom>
          <a:noFill/>
          <a:ln/>
        </p:spPr>
        <p:txBody>
          <a:bodyPr wrap="square" lIns="0" tIns="0" rIns="0" bIns="0" rtlCol="0" anchor="ctr"/>
          <a:lstStyle/>
          <a:p>
            <a:pPr algn="ctr" indent="0" marL="0">
              <a:buNone/>
            </a:pPr>
            <a:r>
              <a:rPr lang="en-US" sz="1100" b="1" dirty="0">
                <a:solidFill>
                  <a:srgbClr val="C9A96E"/>
                </a:solidFill>
                <a:latin typeface="Cambria" pitchFamily="34" charset="0"/>
                <a:ea typeface="Cambria" pitchFamily="34" charset="-122"/>
                <a:cs typeface="Cambria" pitchFamily="34" charset="-120"/>
              </a:rPr>
              <a:t>03</a:t>
            </a:r>
            <a:endParaRPr lang="en-US" sz="1100" dirty="0"/>
          </a:p>
        </p:txBody>
      </p:sp>
      <p:sp>
        <p:nvSpPr>
          <p:cNvPr id="36" name="Text 34"/>
          <p:cNvSpPr/>
          <p:nvPr/>
        </p:nvSpPr>
        <p:spPr>
          <a:xfrm>
            <a:off x="6845656" y="3511296"/>
            <a:ext cx="1685468" cy="274320"/>
          </a:xfrm>
          <a:prstGeom prst="rect">
            <a:avLst/>
          </a:prstGeom>
          <a:noFill/>
          <a:ln/>
        </p:spPr>
        <p:txBody>
          <a:bodyPr wrap="square" lIns="0" tIns="0" rIns="0" bIns="0" rtlCol="0" anchor="ctr"/>
          <a:lstStyle/>
          <a:p>
            <a:pPr indent="0" marL="0">
              <a:buNone/>
            </a:pPr>
            <a:r>
              <a:rPr lang="en-US" sz="1200" b="1" dirty="0">
                <a:solidFill>
                  <a:srgbClr val="EFEBE3"/>
                </a:solidFill>
                <a:latin typeface="Yu Gothic" pitchFamily="34" charset="0"/>
                <a:ea typeface="Yu Gothic" pitchFamily="34" charset="-122"/>
                <a:cs typeface="Yu Gothic" pitchFamily="34" charset="-120"/>
              </a:rPr>
              <a:t>保管・販売</a:t>
            </a:r>
            <a:endParaRPr lang="en-US" sz="1200" dirty="0"/>
          </a:p>
        </p:txBody>
      </p:sp>
      <p:sp>
        <p:nvSpPr>
          <p:cNvPr id="37" name="Text 35"/>
          <p:cNvSpPr/>
          <p:nvPr/>
        </p:nvSpPr>
        <p:spPr>
          <a:xfrm>
            <a:off x="6443320" y="3931920"/>
            <a:ext cx="2087804" cy="603504"/>
          </a:xfrm>
          <a:prstGeom prst="rect">
            <a:avLst/>
          </a:prstGeom>
          <a:noFill/>
          <a:ln/>
        </p:spPr>
        <p:txBody>
          <a:bodyPr wrap="square" lIns="0" tIns="0" rIns="0" bIns="0" rtlCol="0" anchor="ctr"/>
          <a:lstStyle/>
          <a:p>
            <a:pPr indent="0" marL="0">
              <a:lnSpc>
                <a:spcPct val="120000"/>
              </a:lnSpc>
              <a:buNone/>
            </a:pPr>
            <a:r>
              <a:rPr lang="en-US" sz="950" dirty="0">
                <a:solidFill>
                  <a:srgbClr val="9A938A"/>
                </a:solidFill>
                <a:latin typeface="Yu Gothic" pitchFamily="34" charset="0"/>
                <a:ea typeface="Yu Gothic" pitchFamily="34" charset="-122"/>
                <a:cs typeface="Yu Gothic" pitchFamily="34" charset="-120"/>
              </a:rPr>
              <a:t>定温倉庫で保管（全量付保）。B2B酒販店卸とB2C自社EC・オークションの2系統で販売</a:t>
            </a:r>
            <a:endParaRPr lang="en-US" sz="950" dirty="0"/>
          </a:p>
        </p:txBody>
      </p:sp>
      <p:sp>
        <p:nvSpPr>
          <p:cNvPr id="38" name="Text 36"/>
          <p:cNvSpPr/>
          <p:nvPr/>
        </p:nvSpPr>
        <p:spPr>
          <a:xfrm>
            <a:off x="6443320" y="4572000"/>
            <a:ext cx="2087804" cy="219456"/>
          </a:xfrm>
          <a:prstGeom prst="rect">
            <a:avLst/>
          </a:prstGeom>
          <a:noFill/>
          <a:ln/>
        </p:spPr>
        <p:txBody>
          <a:bodyPr wrap="square" lIns="0" tIns="0" rIns="0" bIns="0" rtlCol="0" anchor="ctr"/>
          <a:lstStyle/>
          <a:p>
            <a:pPr indent="0" marL="0">
              <a:buNone/>
            </a:pPr>
            <a:r>
              <a:rPr lang="en-US" sz="1000" b="1" dirty="0">
                <a:solidFill>
                  <a:srgbClr val="C9A96E"/>
                </a:solidFill>
                <a:latin typeface="Yu Gothic" pitchFamily="34" charset="0"/>
                <a:ea typeface="Yu Gothic" pitchFamily="34" charset="-122"/>
                <a:cs typeface="Yu Gothic" pitchFamily="34" charset="-120"/>
              </a:rPr>
              <a:t>定価比 70／80</a:t>
            </a:r>
            <a:endParaRPr lang="en-US" sz="1000" dirty="0"/>
          </a:p>
        </p:txBody>
      </p:sp>
      <p:sp>
        <p:nvSpPr>
          <p:cNvPr id="39" name="Shape 37"/>
          <p:cNvSpPr/>
          <p:nvPr/>
        </p:nvSpPr>
        <p:spPr>
          <a:xfrm>
            <a:off x="9006611" y="3291840"/>
            <a:ext cx="2526716" cy="1609344"/>
          </a:xfrm>
          <a:prstGeom prst="roundRect">
            <a:avLst>
              <a:gd name="adj" fmla="val 2557"/>
            </a:avLst>
          </a:prstGeom>
          <a:solidFill>
            <a:srgbClr val="171614"/>
          </a:solidFill>
          <a:ln w="9525">
            <a:solidFill>
              <a:srgbClr val="2E2A24"/>
            </a:solidFill>
            <a:prstDash val="solid"/>
          </a:ln>
        </p:spPr>
      </p:sp>
      <p:sp>
        <p:nvSpPr>
          <p:cNvPr id="40" name="Shape 38"/>
          <p:cNvSpPr/>
          <p:nvPr/>
        </p:nvSpPr>
        <p:spPr>
          <a:xfrm>
            <a:off x="9226067" y="3493008"/>
            <a:ext cx="310896" cy="310896"/>
          </a:xfrm>
          <a:prstGeom prst="ellipse">
            <a:avLst/>
          </a:prstGeom>
          <a:solidFill>
            <a:srgbClr val="0C0C0C"/>
          </a:solidFill>
          <a:ln w="11430">
            <a:solidFill>
              <a:srgbClr val="A78450"/>
            </a:solidFill>
            <a:prstDash val="solid"/>
          </a:ln>
        </p:spPr>
      </p:sp>
      <p:sp>
        <p:nvSpPr>
          <p:cNvPr id="41" name="Text 39"/>
          <p:cNvSpPr/>
          <p:nvPr/>
        </p:nvSpPr>
        <p:spPr>
          <a:xfrm>
            <a:off x="9226067" y="3493008"/>
            <a:ext cx="310896" cy="310896"/>
          </a:xfrm>
          <a:prstGeom prst="rect">
            <a:avLst/>
          </a:prstGeom>
          <a:noFill/>
          <a:ln/>
        </p:spPr>
        <p:txBody>
          <a:bodyPr wrap="square" lIns="0" tIns="0" rIns="0" bIns="0" rtlCol="0" anchor="ctr"/>
          <a:lstStyle/>
          <a:p>
            <a:pPr algn="ctr" indent="0" marL="0">
              <a:buNone/>
            </a:pPr>
            <a:r>
              <a:rPr lang="en-US" sz="1100" b="1" dirty="0">
                <a:solidFill>
                  <a:srgbClr val="C9A96E"/>
                </a:solidFill>
                <a:latin typeface="Cambria" pitchFamily="34" charset="0"/>
                <a:ea typeface="Cambria" pitchFamily="34" charset="-122"/>
                <a:cs typeface="Cambria" pitchFamily="34" charset="-120"/>
              </a:rPr>
              <a:t>04</a:t>
            </a:r>
            <a:endParaRPr lang="en-US" sz="1100" dirty="0"/>
          </a:p>
        </p:txBody>
      </p:sp>
      <p:sp>
        <p:nvSpPr>
          <p:cNvPr id="42" name="Text 40"/>
          <p:cNvSpPr/>
          <p:nvPr/>
        </p:nvSpPr>
        <p:spPr>
          <a:xfrm>
            <a:off x="9628403" y="3511296"/>
            <a:ext cx="1685468" cy="274320"/>
          </a:xfrm>
          <a:prstGeom prst="rect">
            <a:avLst/>
          </a:prstGeom>
          <a:noFill/>
          <a:ln/>
        </p:spPr>
        <p:txBody>
          <a:bodyPr wrap="square" lIns="0" tIns="0" rIns="0" bIns="0" rtlCol="0" anchor="ctr"/>
          <a:lstStyle/>
          <a:p>
            <a:pPr indent="0" marL="0">
              <a:buNone/>
            </a:pPr>
            <a:r>
              <a:rPr lang="en-US" sz="1200" b="1" dirty="0">
                <a:solidFill>
                  <a:srgbClr val="EFEBE3"/>
                </a:solidFill>
                <a:latin typeface="Yu Gothic" pitchFamily="34" charset="0"/>
                <a:ea typeface="Yu Gothic" pitchFamily="34" charset="-122"/>
                <a:cs typeface="Yu Gothic" pitchFamily="34" charset="-120"/>
              </a:rPr>
              <a:t>分配</a:t>
            </a:r>
            <a:endParaRPr lang="en-US" sz="1200" dirty="0"/>
          </a:p>
        </p:txBody>
      </p:sp>
      <p:sp>
        <p:nvSpPr>
          <p:cNvPr id="43" name="Text 41"/>
          <p:cNvSpPr/>
          <p:nvPr/>
        </p:nvSpPr>
        <p:spPr>
          <a:xfrm>
            <a:off x="9226067" y="3931920"/>
            <a:ext cx="2087804" cy="603504"/>
          </a:xfrm>
          <a:prstGeom prst="rect">
            <a:avLst/>
          </a:prstGeom>
          <a:noFill/>
          <a:ln/>
        </p:spPr>
        <p:txBody>
          <a:bodyPr wrap="square" lIns="0" tIns="0" rIns="0" bIns="0" rtlCol="0" anchor="ctr"/>
          <a:lstStyle/>
          <a:p>
            <a:pPr indent="0" marL="0">
              <a:lnSpc>
                <a:spcPct val="120000"/>
              </a:lnSpc>
              <a:buNone/>
            </a:pPr>
            <a:r>
              <a:rPr lang="en-US" sz="950" dirty="0">
                <a:solidFill>
                  <a:srgbClr val="9A938A"/>
                </a:solidFill>
                <a:latin typeface="Yu Gothic" pitchFamily="34" charset="0"/>
                <a:ea typeface="Yu Gothic" pitchFamily="34" charset="-122"/>
                <a:cs typeface="Yu Gothic" pitchFamily="34" charset="-120"/>
              </a:rPr>
              <a:t>SPCの税前利益を投資家とWineBankで折半し半期ごとに分配。元本はSPC内で継続運用</a:t>
            </a:r>
            <a:endParaRPr lang="en-US" sz="950" dirty="0"/>
          </a:p>
        </p:txBody>
      </p:sp>
      <p:sp>
        <p:nvSpPr>
          <p:cNvPr id="44" name="Text 42"/>
          <p:cNvSpPr/>
          <p:nvPr/>
        </p:nvSpPr>
        <p:spPr>
          <a:xfrm>
            <a:off x="9226067" y="4572000"/>
            <a:ext cx="2087804" cy="219456"/>
          </a:xfrm>
          <a:prstGeom prst="rect">
            <a:avLst/>
          </a:prstGeom>
          <a:noFill/>
          <a:ln/>
        </p:spPr>
        <p:txBody>
          <a:bodyPr wrap="square" lIns="0" tIns="0" rIns="0" bIns="0" rtlCol="0" anchor="ctr"/>
          <a:lstStyle/>
          <a:p>
            <a:pPr indent="0" marL="0">
              <a:buNone/>
            </a:pPr>
            <a:r>
              <a:rPr lang="en-US" sz="1000" b="1" dirty="0">
                <a:solidFill>
                  <a:srgbClr val="C9A96E"/>
                </a:solidFill>
                <a:latin typeface="Yu Gothic" pitchFamily="34" charset="0"/>
                <a:ea typeface="Yu Gothic" pitchFamily="34" charset="-122"/>
                <a:cs typeface="Yu Gothic" pitchFamily="34" charset="-120"/>
              </a:rPr>
              <a:t>投資家50：WB50</a:t>
            </a:r>
            <a:endParaRPr lang="en-US" sz="1000" dirty="0"/>
          </a:p>
        </p:txBody>
      </p:sp>
      <p:sp>
        <p:nvSpPr>
          <p:cNvPr id="45" name="Text 43"/>
          <p:cNvSpPr/>
          <p:nvPr/>
        </p:nvSpPr>
        <p:spPr>
          <a:xfrm>
            <a:off x="658368" y="5084064"/>
            <a:ext cx="10874959" cy="365760"/>
          </a:xfrm>
          <a:prstGeom prst="rect">
            <a:avLst/>
          </a:prstGeom>
          <a:noFill/>
          <a:ln/>
        </p:spPr>
        <p:txBody>
          <a:bodyPr wrap="square" lIns="0" tIns="0" rIns="0" bIns="0" rtlCol="0" anchor="ctr"/>
          <a:lstStyle/>
          <a:p>
            <a:pPr indent="0" marL="0">
              <a:lnSpc>
                <a:spcPct val="120000"/>
              </a:lnSpc>
              <a:buNone/>
            </a:pPr>
            <a:r>
              <a:rPr lang="en-US" sz="900" dirty="0">
                <a:solidFill>
                  <a:srgbClr val="6E675E"/>
                </a:solidFill>
                <a:latin typeface="Yu Gothic" pitchFamily="34" charset="0"/>
                <a:ea typeface="Yu Gothic" pitchFamily="34" charset="-122"/>
                <a:cs typeface="Yu Gothic" pitchFamily="34" charset="-120"/>
              </a:rPr>
              <a:t>※ ワイン現物はSPC名義で保有し、WineBankの債権者から倒産隔離する。WineBankはGPとして実行を担い、報酬は「譲渡時1%」と「投資家帰属利益を折半する成功報酬」に限定。残高比例の期中管理報酬は課さない。</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C0C0C"/>
        </a:solidFill>
      </p:bgPr>
    </p:bg>
    <p:spTree>
      <p:nvGrpSpPr>
        <p:cNvPr id="1" name=""/>
        <p:cNvGrpSpPr/>
        <p:nvPr/>
      </p:nvGrpSpPr>
      <p:grpSpPr>
        <a:xfrm>
          <a:off x="0" y="0"/>
          <a:ext cx="0" cy="0"/>
          <a:chOff x="0" y="0"/>
          <a:chExt cx="0" cy="0"/>
        </a:xfrm>
      </p:grpSpPr>
      <p:sp>
        <p:nvSpPr>
          <p:cNvPr id="2" name="Text 0"/>
          <p:cNvSpPr/>
          <p:nvPr/>
        </p:nvSpPr>
        <p:spPr>
          <a:xfrm>
            <a:off x="658368" y="384048"/>
            <a:ext cx="10874959" cy="219456"/>
          </a:xfrm>
          <a:prstGeom prst="rect">
            <a:avLst/>
          </a:prstGeom>
          <a:noFill/>
          <a:ln/>
        </p:spPr>
        <p:txBody>
          <a:bodyPr wrap="square" lIns="0" tIns="0" rIns="0" bIns="0" rtlCol="0" anchor="ctr"/>
          <a:lstStyle/>
          <a:p>
            <a:pPr indent="0" marL="0">
              <a:buNone/>
            </a:pPr>
            <a:r>
              <a:rPr lang="en-US" sz="1050" b="1" spc="340" kern="0" dirty="0">
                <a:solidFill>
                  <a:srgbClr val="A78450"/>
                </a:solidFill>
                <a:latin typeface="Cambria" pitchFamily="34" charset="0"/>
                <a:ea typeface="Cambria" pitchFamily="34" charset="-122"/>
                <a:cs typeface="Cambria" pitchFamily="34" charset="-120"/>
              </a:rPr>
              <a:t>REGULATORY &amp; TRADE PRACTICE</a:t>
            </a:r>
            <a:endParaRPr lang="en-US" sz="1050" dirty="0"/>
          </a:p>
        </p:txBody>
      </p:sp>
      <p:sp>
        <p:nvSpPr>
          <p:cNvPr id="3" name="Text 1"/>
          <p:cNvSpPr/>
          <p:nvPr/>
        </p:nvSpPr>
        <p:spPr>
          <a:xfrm>
            <a:off x="658368" y="640080"/>
            <a:ext cx="10874959" cy="548640"/>
          </a:xfrm>
          <a:prstGeom prst="rect">
            <a:avLst/>
          </a:prstGeom>
          <a:noFill/>
          <a:ln/>
        </p:spPr>
        <p:txBody>
          <a:bodyPr wrap="square" lIns="0" tIns="0" rIns="0" bIns="0" rtlCol="0" anchor="ctr"/>
          <a:lstStyle/>
          <a:p>
            <a:pPr indent="0" marL="0">
              <a:buNone/>
            </a:pPr>
            <a:r>
              <a:rPr lang="en-US" sz="2700" b="1" dirty="0">
                <a:solidFill>
                  <a:srgbClr val="EFEBE3"/>
                </a:solidFill>
                <a:latin typeface="Yu Mincho" pitchFamily="34" charset="0"/>
                <a:ea typeface="Yu Mincho" pitchFamily="34" charset="-122"/>
                <a:cs typeface="Yu Mincho" pitchFamily="34" charset="-120"/>
              </a:rPr>
              <a:t>なぜSPCが直接仕入・販売できないのか</a:t>
            </a:r>
            <a:endParaRPr lang="en-US" sz="2700" dirty="0"/>
          </a:p>
        </p:txBody>
      </p:sp>
      <p:sp>
        <p:nvSpPr>
          <p:cNvPr id="4" name="Text 2"/>
          <p:cNvSpPr/>
          <p:nvPr/>
        </p:nvSpPr>
        <p:spPr>
          <a:xfrm>
            <a:off x="658368" y="1216152"/>
            <a:ext cx="10874959" cy="310896"/>
          </a:xfrm>
          <a:prstGeom prst="rect">
            <a:avLst/>
          </a:prstGeom>
          <a:noFill/>
          <a:ln/>
        </p:spPr>
        <p:txBody>
          <a:bodyPr wrap="square" lIns="0" tIns="0" rIns="0" bIns="0" rtlCol="0" anchor="ctr"/>
          <a:lstStyle/>
          <a:p>
            <a:pPr indent="0" marL="0">
              <a:buNone/>
            </a:pPr>
            <a:r>
              <a:rPr lang="en-US" sz="1150" dirty="0">
                <a:solidFill>
                  <a:srgbClr val="9A938A"/>
                </a:solidFill>
                <a:latin typeface="Yu Gothic" pitchFamily="34" charset="0"/>
                <a:ea typeface="Yu Gothic" pitchFamily="34" charset="-122"/>
                <a:cs typeface="Yu Gothic" pitchFamily="34" charset="-120"/>
              </a:rPr>
              <a:t>酒類は免許業種であり、取引口座は法人単位で審査される。SPC単独では商流に乗れない。</a:t>
            </a:r>
            <a:endParaRPr lang="en-US" sz="1150" dirty="0"/>
          </a:p>
        </p:txBody>
      </p:sp>
      <p:sp>
        <p:nvSpPr>
          <p:cNvPr id="5" name="Text 3"/>
          <p:cNvSpPr/>
          <p:nvPr/>
        </p:nvSpPr>
        <p:spPr>
          <a:xfrm>
            <a:off x="658368" y="6437376"/>
            <a:ext cx="5029200" cy="219456"/>
          </a:xfrm>
          <a:prstGeom prst="rect">
            <a:avLst/>
          </a:prstGeom>
          <a:noFill/>
          <a:ln/>
        </p:spPr>
        <p:txBody>
          <a:bodyPr wrap="square" lIns="0" tIns="0" rIns="0" bIns="0" rtlCol="0" anchor="ctr"/>
          <a:lstStyle/>
          <a:p>
            <a:pPr indent="0" marL="0">
              <a:buNone/>
            </a:pPr>
            <a:r>
              <a:rPr lang="en-US" sz="850" dirty="0">
                <a:solidFill>
                  <a:srgbClr val="6E675E"/>
                </a:solidFill>
                <a:latin typeface="Yu Gothic" pitchFamily="34" charset="0"/>
                <a:ea typeface="Yu Gothic" pitchFamily="34" charset="-122"/>
                <a:cs typeface="Yu Gothic" pitchFamily="34" charset="-120"/>
              </a:rPr>
              <a:t>CONFIDENTIAL ｜ 株式会社WineBank</a:t>
            </a:r>
            <a:endParaRPr lang="en-US" sz="850" dirty="0"/>
          </a:p>
        </p:txBody>
      </p:sp>
      <p:sp>
        <p:nvSpPr>
          <p:cNvPr id="6" name="Text 4"/>
          <p:cNvSpPr/>
          <p:nvPr/>
        </p:nvSpPr>
        <p:spPr>
          <a:xfrm>
            <a:off x="10618927" y="6437376"/>
            <a:ext cx="914400" cy="219456"/>
          </a:xfrm>
          <a:prstGeom prst="rect">
            <a:avLst/>
          </a:prstGeom>
          <a:noFill/>
          <a:ln/>
        </p:spPr>
        <p:txBody>
          <a:bodyPr wrap="square" lIns="0" tIns="0" rIns="0" bIns="0" rtlCol="0" anchor="ctr"/>
          <a:lstStyle/>
          <a:p>
            <a:pPr algn="r" indent="0" marL="0">
              <a:buNone/>
            </a:pPr>
            <a:r>
              <a:rPr lang="en-US" sz="950" spc="150" kern="0" dirty="0">
                <a:solidFill>
                  <a:srgbClr val="6E5730"/>
                </a:solidFill>
                <a:latin typeface="Cambria" pitchFamily="34" charset="0"/>
                <a:ea typeface="Cambria" pitchFamily="34" charset="-122"/>
                <a:cs typeface="Cambria" pitchFamily="34" charset="-120"/>
              </a:rPr>
              <a:t>05</a:t>
            </a:r>
            <a:endParaRPr lang="en-US" sz="950" dirty="0"/>
          </a:p>
        </p:txBody>
      </p:sp>
      <p:sp>
        <p:nvSpPr>
          <p:cNvPr id="7" name="Shape 5"/>
          <p:cNvSpPr/>
          <p:nvPr/>
        </p:nvSpPr>
        <p:spPr>
          <a:xfrm>
            <a:off x="658368" y="1664208"/>
            <a:ext cx="3442106" cy="1975104"/>
          </a:xfrm>
          <a:prstGeom prst="roundRect">
            <a:avLst>
              <a:gd name="adj" fmla="val 2083"/>
            </a:avLst>
          </a:prstGeom>
          <a:solidFill>
            <a:srgbClr val="171614"/>
          </a:solidFill>
          <a:ln w="9525">
            <a:solidFill>
              <a:srgbClr val="2E2A24"/>
            </a:solidFill>
            <a:prstDash val="solid"/>
          </a:ln>
        </p:spPr>
      </p:sp>
      <p:sp>
        <p:nvSpPr>
          <p:cNvPr id="8" name="Shape 6"/>
          <p:cNvSpPr/>
          <p:nvPr/>
        </p:nvSpPr>
        <p:spPr>
          <a:xfrm>
            <a:off x="896112" y="1865376"/>
            <a:ext cx="310896" cy="310896"/>
          </a:xfrm>
          <a:prstGeom prst="ellipse">
            <a:avLst/>
          </a:prstGeom>
          <a:solidFill>
            <a:srgbClr val="0C0C0C"/>
          </a:solidFill>
          <a:ln w="11430">
            <a:solidFill>
              <a:srgbClr val="A78450"/>
            </a:solidFill>
            <a:prstDash val="solid"/>
          </a:ln>
        </p:spPr>
      </p:sp>
      <p:sp>
        <p:nvSpPr>
          <p:cNvPr id="9" name="Text 7"/>
          <p:cNvSpPr/>
          <p:nvPr/>
        </p:nvSpPr>
        <p:spPr>
          <a:xfrm>
            <a:off x="896112" y="1865376"/>
            <a:ext cx="310896" cy="310896"/>
          </a:xfrm>
          <a:prstGeom prst="rect">
            <a:avLst/>
          </a:prstGeom>
          <a:noFill/>
          <a:ln/>
        </p:spPr>
        <p:txBody>
          <a:bodyPr wrap="square" lIns="0" tIns="0" rIns="0" bIns="0" rtlCol="0" anchor="ctr"/>
          <a:lstStyle/>
          <a:p>
            <a:pPr algn="ctr" indent="0" marL="0">
              <a:buNone/>
            </a:pPr>
            <a:r>
              <a:rPr lang="en-US" sz="1100" b="1" dirty="0">
                <a:solidFill>
                  <a:srgbClr val="C9A96E"/>
                </a:solidFill>
                <a:latin typeface="Cambria" pitchFamily="34" charset="0"/>
                <a:ea typeface="Cambria" pitchFamily="34" charset="-122"/>
                <a:cs typeface="Cambria" pitchFamily="34" charset="-120"/>
              </a:rPr>
              <a:t>01</a:t>
            </a:r>
            <a:endParaRPr lang="en-US" sz="1100" dirty="0"/>
          </a:p>
        </p:txBody>
      </p:sp>
      <p:sp>
        <p:nvSpPr>
          <p:cNvPr id="10" name="Text 8"/>
          <p:cNvSpPr/>
          <p:nvPr/>
        </p:nvSpPr>
        <p:spPr>
          <a:xfrm>
            <a:off x="1298448" y="1883664"/>
            <a:ext cx="2564282" cy="274320"/>
          </a:xfrm>
          <a:prstGeom prst="rect">
            <a:avLst/>
          </a:prstGeom>
          <a:noFill/>
          <a:ln/>
        </p:spPr>
        <p:txBody>
          <a:bodyPr wrap="square" lIns="0" tIns="0" rIns="0" bIns="0" rtlCol="0" anchor="ctr"/>
          <a:lstStyle/>
          <a:p>
            <a:pPr indent="0" marL="0">
              <a:buNone/>
            </a:pPr>
            <a:r>
              <a:rPr lang="en-US" sz="1200" b="1" dirty="0">
                <a:solidFill>
                  <a:srgbClr val="EFEBE3"/>
                </a:solidFill>
                <a:latin typeface="Yu Gothic" pitchFamily="34" charset="0"/>
                <a:ea typeface="Yu Gothic" pitchFamily="34" charset="-122"/>
                <a:cs typeface="Yu Gothic" pitchFamily="34" charset="-120"/>
              </a:rPr>
              <a:t>酒類販売業免許</a:t>
            </a:r>
            <a:endParaRPr lang="en-US" sz="1200" dirty="0"/>
          </a:p>
        </p:txBody>
      </p:sp>
      <p:sp>
        <p:nvSpPr>
          <p:cNvPr id="11" name="Text 9"/>
          <p:cNvSpPr/>
          <p:nvPr/>
        </p:nvSpPr>
        <p:spPr>
          <a:xfrm>
            <a:off x="896112" y="2340864"/>
            <a:ext cx="2966618" cy="1207008"/>
          </a:xfrm>
          <a:prstGeom prst="rect">
            <a:avLst/>
          </a:prstGeom>
          <a:noFill/>
          <a:ln/>
        </p:spPr>
        <p:txBody>
          <a:bodyPr wrap="square" lIns="0" tIns="0" rIns="0" bIns="0" rtlCol="0" anchor="ctr"/>
          <a:lstStyle/>
          <a:p>
            <a:pPr indent="0" marL="0">
              <a:lnSpc>
                <a:spcPct val="124000"/>
              </a:lnSpc>
              <a:buNone/>
            </a:pPr>
            <a:r>
              <a:rPr lang="en-US" sz="950" dirty="0">
                <a:solidFill>
                  <a:srgbClr val="9A938A"/>
                </a:solidFill>
                <a:latin typeface="Yu Gothic" pitchFamily="34" charset="0"/>
                <a:ea typeface="Yu Gothic" pitchFamily="34" charset="-122"/>
                <a:cs typeface="Yu Gothic" pitchFamily="34" charset="-120"/>
              </a:rPr>
              <a:t>酒類の売買には販売場ごとの免許が必要。新設SPCが一般酒類小売業免許・酒類卸売業免許を取得するには、経営基礎要件（直近3事業年度の財務内容等）や需給調整要件の充足が求められ、設立直後の器としては実務上ハードルが高く、審査にも相応の期間を要する。</a:t>
            </a:r>
            <a:endParaRPr lang="en-US" sz="950" dirty="0"/>
          </a:p>
        </p:txBody>
      </p:sp>
      <p:sp>
        <p:nvSpPr>
          <p:cNvPr id="12" name="Shape 10"/>
          <p:cNvSpPr/>
          <p:nvPr/>
        </p:nvSpPr>
        <p:spPr>
          <a:xfrm>
            <a:off x="4374794" y="1664208"/>
            <a:ext cx="3442106" cy="1975104"/>
          </a:xfrm>
          <a:prstGeom prst="roundRect">
            <a:avLst>
              <a:gd name="adj" fmla="val 2083"/>
            </a:avLst>
          </a:prstGeom>
          <a:solidFill>
            <a:srgbClr val="171614"/>
          </a:solidFill>
          <a:ln w="9525">
            <a:solidFill>
              <a:srgbClr val="2E2A24"/>
            </a:solidFill>
            <a:prstDash val="solid"/>
          </a:ln>
        </p:spPr>
      </p:sp>
      <p:sp>
        <p:nvSpPr>
          <p:cNvPr id="13" name="Shape 11"/>
          <p:cNvSpPr/>
          <p:nvPr/>
        </p:nvSpPr>
        <p:spPr>
          <a:xfrm>
            <a:off x="4612538" y="1865376"/>
            <a:ext cx="310896" cy="310896"/>
          </a:xfrm>
          <a:prstGeom prst="ellipse">
            <a:avLst/>
          </a:prstGeom>
          <a:solidFill>
            <a:srgbClr val="0C0C0C"/>
          </a:solidFill>
          <a:ln w="11430">
            <a:solidFill>
              <a:srgbClr val="A78450"/>
            </a:solidFill>
            <a:prstDash val="solid"/>
          </a:ln>
        </p:spPr>
      </p:sp>
      <p:sp>
        <p:nvSpPr>
          <p:cNvPr id="14" name="Text 12"/>
          <p:cNvSpPr/>
          <p:nvPr/>
        </p:nvSpPr>
        <p:spPr>
          <a:xfrm>
            <a:off x="4612538" y="1865376"/>
            <a:ext cx="310896" cy="310896"/>
          </a:xfrm>
          <a:prstGeom prst="rect">
            <a:avLst/>
          </a:prstGeom>
          <a:noFill/>
          <a:ln/>
        </p:spPr>
        <p:txBody>
          <a:bodyPr wrap="square" lIns="0" tIns="0" rIns="0" bIns="0" rtlCol="0" anchor="ctr"/>
          <a:lstStyle/>
          <a:p>
            <a:pPr algn="ctr" indent="0" marL="0">
              <a:buNone/>
            </a:pPr>
            <a:r>
              <a:rPr lang="en-US" sz="1100" b="1" dirty="0">
                <a:solidFill>
                  <a:srgbClr val="C9A96E"/>
                </a:solidFill>
                <a:latin typeface="Cambria" pitchFamily="34" charset="0"/>
                <a:ea typeface="Cambria" pitchFamily="34" charset="-122"/>
                <a:cs typeface="Cambria" pitchFamily="34" charset="-120"/>
              </a:rPr>
              <a:t>02</a:t>
            </a:r>
            <a:endParaRPr lang="en-US" sz="1100" dirty="0"/>
          </a:p>
        </p:txBody>
      </p:sp>
      <p:sp>
        <p:nvSpPr>
          <p:cNvPr id="15" name="Text 13"/>
          <p:cNvSpPr/>
          <p:nvPr/>
        </p:nvSpPr>
        <p:spPr>
          <a:xfrm>
            <a:off x="5014874" y="1883664"/>
            <a:ext cx="2564282" cy="274320"/>
          </a:xfrm>
          <a:prstGeom prst="rect">
            <a:avLst/>
          </a:prstGeom>
          <a:noFill/>
          <a:ln/>
        </p:spPr>
        <p:txBody>
          <a:bodyPr wrap="square" lIns="0" tIns="0" rIns="0" bIns="0" rtlCol="0" anchor="ctr"/>
          <a:lstStyle/>
          <a:p>
            <a:pPr indent="0" marL="0">
              <a:buNone/>
            </a:pPr>
            <a:r>
              <a:rPr lang="en-US" sz="1200" b="1" dirty="0">
                <a:solidFill>
                  <a:srgbClr val="EFEBE3"/>
                </a:solidFill>
                <a:latin typeface="Yu Gothic" pitchFamily="34" charset="0"/>
                <a:ea typeface="Yu Gothic" pitchFamily="34" charset="-122"/>
                <a:cs typeface="Yu Gothic" pitchFamily="34" charset="-120"/>
              </a:rPr>
              <a:t>インポーターの取引基準</a:t>
            </a:r>
            <a:endParaRPr lang="en-US" sz="1200" dirty="0"/>
          </a:p>
        </p:txBody>
      </p:sp>
      <p:sp>
        <p:nvSpPr>
          <p:cNvPr id="16" name="Text 14"/>
          <p:cNvSpPr/>
          <p:nvPr/>
        </p:nvSpPr>
        <p:spPr>
          <a:xfrm>
            <a:off x="4612538" y="2340864"/>
            <a:ext cx="2966618" cy="1207008"/>
          </a:xfrm>
          <a:prstGeom prst="rect">
            <a:avLst/>
          </a:prstGeom>
          <a:noFill/>
          <a:ln/>
        </p:spPr>
        <p:txBody>
          <a:bodyPr wrap="square" lIns="0" tIns="0" rIns="0" bIns="0" rtlCol="0" anchor="ctr"/>
          <a:lstStyle/>
          <a:p>
            <a:pPr indent="0" marL="0">
              <a:lnSpc>
                <a:spcPct val="124000"/>
              </a:lnSpc>
              <a:buNone/>
            </a:pPr>
            <a:r>
              <a:rPr lang="en-US" sz="950" dirty="0">
                <a:solidFill>
                  <a:srgbClr val="9A938A"/>
                </a:solidFill>
                <a:latin typeface="Yu Gothic" pitchFamily="34" charset="0"/>
                <a:ea typeface="Yu Gothic" pitchFamily="34" charset="-122"/>
                <a:cs typeface="Yu Gothic" pitchFamily="34" charset="-120"/>
              </a:rPr>
              <a:t>大手インポーターは新規取引先に対し、与信・取引実績・年間取引量を審査したうえで口座を開設する。事業実体を持たないSPCでは口座開設に至らない。特価・正規割当は長年の取引関係に紐づいており、法人格が変われば引き継げない。</a:t>
            </a:r>
            <a:endParaRPr lang="en-US" sz="950" dirty="0"/>
          </a:p>
        </p:txBody>
      </p:sp>
      <p:sp>
        <p:nvSpPr>
          <p:cNvPr id="17" name="Shape 15"/>
          <p:cNvSpPr/>
          <p:nvPr/>
        </p:nvSpPr>
        <p:spPr>
          <a:xfrm>
            <a:off x="8091221" y="1664208"/>
            <a:ext cx="3442106" cy="1975104"/>
          </a:xfrm>
          <a:prstGeom prst="roundRect">
            <a:avLst>
              <a:gd name="adj" fmla="val 2083"/>
            </a:avLst>
          </a:prstGeom>
          <a:solidFill>
            <a:srgbClr val="171614"/>
          </a:solidFill>
          <a:ln w="9525">
            <a:solidFill>
              <a:srgbClr val="2E2A24"/>
            </a:solidFill>
            <a:prstDash val="solid"/>
          </a:ln>
        </p:spPr>
      </p:sp>
      <p:sp>
        <p:nvSpPr>
          <p:cNvPr id="18" name="Shape 16"/>
          <p:cNvSpPr/>
          <p:nvPr/>
        </p:nvSpPr>
        <p:spPr>
          <a:xfrm>
            <a:off x="8328965" y="1865376"/>
            <a:ext cx="310896" cy="310896"/>
          </a:xfrm>
          <a:prstGeom prst="ellipse">
            <a:avLst/>
          </a:prstGeom>
          <a:solidFill>
            <a:srgbClr val="0C0C0C"/>
          </a:solidFill>
          <a:ln w="11430">
            <a:solidFill>
              <a:srgbClr val="A78450"/>
            </a:solidFill>
            <a:prstDash val="solid"/>
          </a:ln>
        </p:spPr>
      </p:sp>
      <p:sp>
        <p:nvSpPr>
          <p:cNvPr id="19" name="Text 17"/>
          <p:cNvSpPr/>
          <p:nvPr/>
        </p:nvSpPr>
        <p:spPr>
          <a:xfrm>
            <a:off x="8328965" y="1865376"/>
            <a:ext cx="310896" cy="310896"/>
          </a:xfrm>
          <a:prstGeom prst="rect">
            <a:avLst/>
          </a:prstGeom>
          <a:noFill/>
          <a:ln/>
        </p:spPr>
        <p:txBody>
          <a:bodyPr wrap="square" lIns="0" tIns="0" rIns="0" bIns="0" rtlCol="0" anchor="ctr"/>
          <a:lstStyle/>
          <a:p>
            <a:pPr algn="ctr" indent="0" marL="0">
              <a:buNone/>
            </a:pPr>
            <a:r>
              <a:rPr lang="en-US" sz="1100" b="1" dirty="0">
                <a:solidFill>
                  <a:srgbClr val="C9A96E"/>
                </a:solidFill>
                <a:latin typeface="Cambria" pitchFamily="34" charset="0"/>
                <a:ea typeface="Cambria" pitchFamily="34" charset="-122"/>
                <a:cs typeface="Cambria" pitchFamily="34" charset="-120"/>
              </a:rPr>
              <a:t>03</a:t>
            </a:r>
            <a:endParaRPr lang="en-US" sz="1100" dirty="0"/>
          </a:p>
        </p:txBody>
      </p:sp>
      <p:sp>
        <p:nvSpPr>
          <p:cNvPr id="20" name="Text 18"/>
          <p:cNvSpPr/>
          <p:nvPr/>
        </p:nvSpPr>
        <p:spPr>
          <a:xfrm>
            <a:off x="8731301" y="1883664"/>
            <a:ext cx="2564282" cy="274320"/>
          </a:xfrm>
          <a:prstGeom prst="rect">
            <a:avLst/>
          </a:prstGeom>
          <a:noFill/>
          <a:ln/>
        </p:spPr>
        <p:txBody>
          <a:bodyPr wrap="square" lIns="0" tIns="0" rIns="0" bIns="0" rtlCol="0" anchor="ctr"/>
          <a:lstStyle/>
          <a:p>
            <a:pPr indent="0" marL="0">
              <a:buNone/>
            </a:pPr>
            <a:r>
              <a:rPr lang="en-US" sz="1200" b="1" dirty="0">
                <a:solidFill>
                  <a:srgbClr val="EFEBE3"/>
                </a:solidFill>
                <a:latin typeface="Yu Gothic" pitchFamily="34" charset="0"/>
                <a:ea typeface="Yu Gothic" pitchFamily="34" charset="-122"/>
                <a:cs typeface="Yu Gothic" pitchFamily="34" charset="-120"/>
              </a:rPr>
              <a:t>割当（アロケーション）の属人性</a:t>
            </a:r>
            <a:endParaRPr lang="en-US" sz="1200" dirty="0"/>
          </a:p>
        </p:txBody>
      </p:sp>
      <p:sp>
        <p:nvSpPr>
          <p:cNvPr id="21" name="Text 19"/>
          <p:cNvSpPr/>
          <p:nvPr/>
        </p:nvSpPr>
        <p:spPr>
          <a:xfrm>
            <a:off x="8328965" y="2340864"/>
            <a:ext cx="2966618" cy="1207008"/>
          </a:xfrm>
          <a:prstGeom prst="rect">
            <a:avLst/>
          </a:prstGeom>
          <a:noFill/>
          <a:ln/>
        </p:spPr>
        <p:txBody>
          <a:bodyPr wrap="square" lIns="0" tIns="0" rIns="0" bIns="0" rtlCol="0" anchor="ctr"/>
          <a:lstStyle/>
          <a:p>
            <a:pPr indent="0" marL="0">
              <a:lnSpc>
                <a:spcPct val="124000"/>
              </a:lnSpc>
              <a:buNone/>
            </a:pPr>
            <a:r>
              <a:rPr lang="en-US" sz="950" dirty="0">
                <a:solidFill>
                  <a:srgbClr val="9A938A"/>
                </a:solidFill>
                <a:latin typeface="Yu Gothic" pitchFamily="34" charset="0"/>
                <a:ea typeface="Yu Gothic" pitchFamily="34" charset="-122"/>
                <a:cs typeface="Yu Gothic" pitchFamily="34" charset="-120"/>
              </a:rPr>
              <a:t>希少銘柄の割当はWineBank名義に対して付与されるものであり、第三者へ譲り渡すことができない。創業55年の酒販実績と輸出入ライセンスに基づく調達力は、SPCへ移管できない無形資産である。</a:t>
            </a:r>
            <a:endParaRPr lang="en-US" sz="950" dirty="0"/>
          </a:p>
        </p:txBody>
      </p:sp>
      <p:sp>
        <p:nvSpPr>
          <p:cNvPr id="22" name="Shape 20"/>
          <p:cNvSpPr/>
          <p:nvPr/>
        </p:nvSpPr>
        <p:spPr>
          <a:xfrm>
            <a:off x="658368" y="3858768"/>
            <a:ext cx="10874959" cy="1554480"/>
          </a:xfrm>
          <a:prstGeom prst="roundRect">
            <a:avLst>
              <a:gd name="adj" fmla="val 2647"/>
            </a:avLst>
          </a:prstGeom>
          <a:solidFill>
            <a:srgbClr val="1F1D19"/>
          </a:solidFill>
          <a:ln w="9525">
            <a:solidFill>
              <a:srgbClr val="6E5730"/>
            </a:solidFill>
            <a:prstDash val="solid"/>
          </a:ln>
        </p:spPr>
      </p:sp>
      <p:sp>
        <p:nvSpPr>
          <p:cNvPr id="23" name="Text 21"/>
          <p:cNvSpPr/>
          <p:nvPr/>
        </p:nvSpPr>
        <p:spPr>
          <a:xfrm>
            <a:off x="932688" y="4023360"/>
            <a:ext cx="2743200" cy="256032"/>
          </a:xfrm>
          <a:prstGeom prst="rect">
            <a:avLst/>
          </a:prstGeom>
          <a:noFill/>
          <a:ln/>
        </p:spPr>
        <p:txBody>
          <a:bodyPr wrap="square" lIns="0" tIns="0" rIns="0" bIns="0" rtlCol="0" anchor="ctr"/>
          <a:lstStyle/>
          <a:p>
            <a:pPr indent="0" marL="0">
              <a:buNone/>
            </a:pPr>
            <a:r>
              <a:rPr lang="en-US" sz="1200" b="1" dirty="0">
                <a:solidFill>
                  <a:srgbClr val="C9A96E"/>
                </a:solidFill>
                <a:latin typeface="Yu Gothic" pitchFamily="34" charset="0"/>
                <a:ea typeface="Yu Gothic" pitchFamily="34" charset="-122"/>
                <a:cs typeface="Yu Gothic" pitchFamily="34" charset="-120"/>
              </a:rPr>
              <a:t>採用するスキーム</a:t>
            </a:r>
            <a:endParaRPr lang="en-US" sz="1200" dirty="0"/>
          </a:p>
        </p:txBody>
      </p:sp>
      <p:sp>
        <p:nvSpPr>
          <p:cNvPr id="24" name="Text 22"/>
          <p:cNvSpPr/>
          <p:nvPr/>
        </p:nvSpPr>
        <p:spPr>
          <a:xfrm>
            <a:off x="932688" y="4297680"/>
            <a:ext cx="10326319" cy="256032"/>
          </a:xfrm>
          <a:prstGeom prst="rect">
            <a:avLst/>
          </a:prstGeom>
          <a:noFill/>
          <a:ln/>
        </p:spPr>
        <p:txBody>
          <a:bodyPr wrap="square" lIns="0" tIns="0" rIns="0" bIns="0" rtlCol="0" anchor="ctr"/>
          <a:lstStyle/>
          <a:p>
            <a:pPr indent="0" marL="0">
              <a:buNone/>
            </a:pPr>
            <a:r>
              <a:rPr lang="en-US" sz="1250" b="1" dirty="0">
                <a:solidFill>
                  <a:srgbClr val="EFEBE3"/>
                </a:solidFill>
                <a:latin typeface="Yu Gothic" pitchFamily="34" charset="0"/>
                <a:ea typeface="Yu Gothic" pitchFamily="34" charset="-122"/>
                <a:cs typeface="Yu Gothic" pitchFamily="34" charset="-120"/>
              </a:rPr>
              <a:t>WineBankが免許事業者として仕入・販売の当事者となり、現物をSPCへ譲渡する。SPCは所有者として損益を受ける。</a:t>
            </a:r>
            <a:endParaRPr lang="en-US" sz="1250" dirty="0"/>
          </a:p>
        </p:txBody>
      </p:sp>
      <p:sp>
        <p:nvSpPr>
          <p:cNvPr id="25" name="Text 23"/>
          <p:cNvSpPr/>
          <p:nvPr/>
        </p:nvSpPr>
        <p:spPr>
          <a:xfrm>
            <a:off x="932688" y="4645152"/>
            <a:ext cx="5071720" cy="237744"/>
          </a:xfrm>
          <a:prstGeom prst="rect">
            <a:avLst/>
          </a:prstGeom>
          <a:noFill/>
          <a:ln/>
        </p:spPr>
        <p:txBody>
          <a:bodyPr wrap="square" lIns="0" tIns="0" rIns="0" bIns="0" rtlCol="0" anchor="ctr"/>
          <a:lstStyle/>
          <a:p>
            <a:pPr indent="0" marL="0">
              <a:buNone/>
            </a:pPr>
            <a:r>
              <a:rPr lang="en-US" sz="1050" b="1" dirty="0">
                <a:solidFill>
                  <a:srgbClr val="C9A96E"/>
                </a:solidFill>
                <a:latin typeface="Yu Gothic" pitchFamily="34" charset="0"/>
                <a:ea typeface="Yu Gothic" pitchFamily="34" charset="-122"/>
                <a:cs typeface="Yu Gothic" pitchFamily="34" charset="-120"/>
              </a:rPr>
              <a:t>譲渡価格を同額にできない理由</a:t>
            </a:r>
            <a:endParaRPr lang="en-US" sz="1050" dirty="0"/>
          </a:p>
        </p:txBody>
      </p:sp>
      <p:sp>
        <p:nvSpPr>
          <p:cNvPr id="26" name="Text 24"/>
          <p:cNvSpPr/>
          <p:nvPr/>
        </p:nvSpPr>
        <p:spPr>
          <a:xfrm>
            <a:off x="932688" y="4882896"/>
            <a:ext cx="5071720" cy="475488"/>
          </a:xfrm>
          <a:prstGeom prst="rect">
            <a:avLst/>
          </a:prstGeom>
          <a:noFill/>
          <a:ln/>
        </p:spPr>
        <p:txBody>
          <a:bodyPr wrap="square" lIns="0" tIns="0" rIns="0" bIns="0" rtlCol="0" anchor="ctr"/>
          <a:lstStyle/>
          <a:p>
            <a:pPr indent="0" marL="0">
              <a:lnSpc>
                <a:spcPct val="120000"/>
              </a:lnSpc>
              <a:buNone/>
            </a:pPr>
            <a:r>
              <a:rPr lang="en-US" sz="950" dirty="0">
                <a:solidFill>
                  <a:srgbClr val="9A938A"/>
                </a:solidFill>
                <a:latin typeface="Yu Gothic" pitchFamily="34" charset="0"/>
                <a:ea typeface="Yu Gothic" pitchFamily="34" charset="-122"/>
                <a:cs typeface="Yu Gothic" pitchFamily="34" charset="-120"/>
              </a:rPr>
              <a:t>WineBankは在庫リスク・与信・入出庫事務を負って調達する。同額譲渡では対価なき役務提供となり、税務上も寄附金認定・移転価格の論点を招く。独立企業間価格として最小限の1%を付加する。</a:t>
            </a:r>
            <a:endParaRPr lang="en-US" sz="950" dirty="0"/>
          </a:p>
        </p:txBody>
      </p:sp>
      <p:sp>
        <p:nvSpPr>
          <p:cNvPr id="27" name="Text 25"/>
          <p:cNvSpPr/>
          <p:nvPr/>
        </p:nvSpPr>
        <p:spPr>
          <a:xfrm>
            <a:off x="6187288" y="4645152"/>
            <a:ext cx="5071720" cy="237744"/>
          </a:xfrm>
          <a:prstGeom prst="rect">
            <a:avLst/>
          </a:prstGeom>
          <a:noFill/>
          <a:ln/>
        </p:spPr>
        <p:txBody>
          <a:bodyPr wrap="square" lIns="0" tIns="0" rIns="0" bIns="0" rtlCol="0" anchor="ctr"/>
          <a:lstStyle/>
          <a:p>
            <a:pPr indent="0" marL="0">
              <a:buNone/>
            </a:pPr>
            <a:r>
              <a:rPr lang="en-US" sz="1050" b="1" dirty="0">
                <a:solidFill>
                  <a:srgbClr val="C9A96E"/>
                </a:solidFill>
                <a:latin typeface="Yu Gothic" pitchFamily="34" charset="0"/>
                <a:ea typeface="Yu Gothic" pitchFamily="34" charset="-122"/>
                <a:cs typeface="Yu Gothic" pitchFamily="34" charset="-120"/>
              </a:rPr>
              <a:t>1%の金額イメージ</a:t>
            </a:r>
            <a:endParaRPr lang="en-US" sz="1050" dirty="0"/>
          </a:p>
        </p:txBody>
      </p:sp>
      <p:sp>
        <p:nvSpPr>
          <p:cNvPr id="28" name="Text 26"/>
          <p:cNvSpPr/>
          <p:nvPr/>
        </p:nvSpPr>
        <p:spPr>
          <a:xfrm>
            <a:off x="6187288" y="4882896"/>
            <a:ext cx="5071720" cy="475488"/>
          </a:xfrm>
          <a:prstGeom prst="rect">
            <a:avLst/>
          </a:prstGeom>
          <a:noFill/>
          <a:ln/>
        </p:spPr>
        <p:txBody>
          <a:bodyPr wrap="square" lIns="0" tIns="0" rIns="0" bIns="0" rtlCol="0" anchor="ctr"/>
          <a:lstStyle/>
          <a:p>
            <a:pPr indent="0" marL="0">
              <a:lnSpc>
                <a:spcPct val="120000"/>
              </a:lnSpc>
              <a:buNone/>
            </a:pPr>
            <a:r>
              <a:rPr lang="en-US" sz="950" dirty="0">
                <a:solidFill>
                  <a:srgbClr val="9A938A"/>
                </a:solidFill>
                <a:latin typeface="Yu Gothic" pitchFamily="34" charset="0"/>
                <a:ea typeface="Yu Gothic" pitchFamily="34" charset="-122"/>
                <a:cs typeface="Yu Gothic" pitchFamily="34" charset="-120"/>
              </a:rPr>
              <a:t>SPC払込5億円 → 実商品原価4.95億円 ＋ 譲渡マージン500万円。回転12ヶ月・稼働率95%の定常状態では、年間のSPC仕入4.75億円に対しWineBankの譲渡マージンは年約470万円となる。</a:t>
            </a:r>
            <a:endParaRPr lang="en-US" sz="950" dirty="0"/>
          </a:p>
        </p:txBody>
      </p:sp>
      <p:sp>
        <p:nvSpPr>
          <p:cNvPr id="29" name="Text 27"/>
          <p:cNvSpPr/>
          <p:nvPr/>
        </p:nvSpPr>
        <p:spPr>
          <a:xfrm>
            <a:off x="658368" y="5541264"/>
            <a:ext cx="10874959" cy="256032"/>
          </a:xfrm>
          <a:prstGeom prst="rect">
            <a:avLst/>
          </a:prstGeom>
          <a:noFill/>
          <a:ln/>
        </p:spPr>
        <p:txBody>
          <a:bodyPr wrap="square" lIns="0" tIns="0" rIns="0" bIns="0" rtlCol="0" anchor="ctr"/>
          <a:lstStyle/>
          <a:p>
            <a:pPr indent="0" marL="0">
              <a:buNone/>
            </a:pPr>
            <a:r>
              <a:rPr lang="en-US" sz="850" dirty="0">
                <a:solidFill>
                  <a:srgbClr val="6E675E"/>
                </a:solidFill>
                <a:latin typeface="Yu Gothic" pitchFamily="34" charset="0"/>
                <a:ea typeface="Yu Gothic" pitchFamily="34" charset="-122"/>
                <a:cs typeface="Yu Gothic" pitchFamily="34" charset="-120"/>
              </a:rPr>
              <a:t>※ SPC自体の免許要否および委託・売買形態の切り分けは、所轄税務署（酒類指導官）および顧問弁護士との確認事項として、契約書ドラフト作成前に確定させる。</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C0C0C"/>
        </a:solidFill>
      </p:bgPr>
    </p:bg>
    <p:spTree>
      <p:nvGrpSpPr>
        <p:cNvPr id="1" name=""/>
        <p:cNvGrpSpPr/>
        <p:nvPr/>
      </p:nvGrpSpPr>
      <p:grpSpPr>
        <a:xfrm>
          <a:off x="0" y="0"/>
          <a:ext cx="0" cy="0"/>
          <a:chOff x="0" y="0"/>
          <a:chExt cx="0" cy="0"/>
        </a:xfrm>
      </p:grpSpPr>
      <p:sp>
        <p:nvSpPr>
          <p:cNvPr id="2" name="Text 0"/>
          <p:cNvSpPr/>
          <p:nvPr/>
        </p:nvSpPr>
        <p:spPr>
          <a:xfrm>
            <a:off x="658368" y="384048"/>
            <a:ext cx="10874959" cy="219456"/>
          </a:xfrm>
          <a:prstGeom prst="rect">
            <a:avLst/>
          </a:prstGeom>
          <a:noFill/>
          <a:ln/>
        </p:spPr>
        <p:txBody>
          <a:bodyPr wrap="square" lIns="0" tIns="0" rIns="0" bIns="0" rtlCol="0" anchor="ctr"/>
          <a:lstStyle/>
          <a:p>
            <a:pPr indent="0" marL="0">
              <a:buNone/>
            </a:pPr>
            <a:r>
              <a:rPr lang="en-US" sz="1050" b="1" spc="340" kern="0" dirty="0">
                <a:solidFill>
                  <a:srgbClr val="A78450"/>
                </a:solidFill>
                <a:latin typeface="Cambria" pitchFamily="34" charset="0"/>
                <a:ea typeface="Cambria" pitchFamily="34" charset="-122"/>
                <a:cs typeface="Cambria" pitchFamily="34" charset="-120"/>
              </a:rPr>
              <a:t>SOURCE OF RETURN</a:t>
            </a:r>
            <a:endParaRPr lang="en-US" sz="1050" dirty="0"/>
          </a:p>
        </p:txBody>
      </p:sp>
      <p:sp>
        <p:nvSpPr>
          <p:cNvPr id="3" name="Text 1"/>
          <p:cNvSpPr/>
          <p:nvPr/>
        </p:nvSpPr>
        <p:spPr>
          <a:xfrm>
            <a:off x="658368" y="640080"/>
            <a:ext cx="10874959" cy="548640"/>
          </a:xfrm>
          <a:prstGeom prst="rect">
            <a:avLst/>
          </a:prstGeom>
          <a:noFill/>
          <a:ln/>
        </p:spPr>
        <p:txBody>
          <a:bodyPr wrap="square" lIns="0" tIns="0" rIns="0" bIns="0" rtlCol="0" anchor="ctr"/>
          <a:lstStyle/>
          <a:p>
            <a:pPr indent="0" marL="0">
              <a:buNone/>
            </a:pPr>
            <a:r>
              <a:rPr lang="en-US" sz="2700" b="1" dirty="0">
                <a:solidFill>
                  <a:srgbClr val="EFEBE3"/>
                </a:solidFill>
                <a:latin typeface="Yu Mincho" pitchFamily="34" charset="0"/>
                <a:ea typeface="Yu Mincho" pitchFamily="34" charset="-122"/>
                <a:cs typeface="Yu Mincho" pitchFamily="34" charset="-120"/>
              </a:rPr>
              <a:t>収益の源泉：ワイン流通の価格差</a:t>
            </a:r>
            <a:endParaRPr lang="en-US" sz="2700" dirty="0"/>
          </a:p>
        </p:txBody>
      </p:sp>
      <p:sp>
        <p:nvSpPr>
          <p:cNvPr id="4" name="Text 2"/>
          <p:cNvSpPr/>
          <p:nvPr/>
        </p:nvSpPr>
        <p:spPr>
          <a:xfrm>
            <a:off x="658368" y="1216152"/>
            <a:ext cx="10874959" cy="310896"/>
          </a:xfrm>
          <a:prstGeom prst="rect">
            <a:avLst/>
          </a:prstGeom>
          <a:noFill/>
          <a:ln/>
        </p:spPr>
        <p:txBody>
          <a:bodyPr wrap="square" lIns="0" tIns="0" rIns="0" bIns="0" rtlCol="0" anchor="ctr"/>
          <a:lstStyle/>
          <a:p>
            <a:pPr indent="0" marL="0">
              <a:buNone/>
            </a:pPr>
            <a:r>
              <a:rPr lang="en-US" sz="1150" dirty="0">
                <a:solidFill>
                  <a:srgbClr val="9A938A"/>
                </a:solidFill>
                <a:latin typeface="Yu Gothic" pitchFamily="34" charset="0"/>
                <a:ea typeface="Yu Gothic" pitchFamily="34" charset="-122"/>
                <a:cs typeface="Yu Gothic" pitchFamily="34" charset="-120"/>
              </a:rPr>
              <a:t>同一商品が流通段階ごとに異なる価格で存在する。この価格差＝粗利をファンドが取り込む。</a:t>
            </a:r>
            <a:endParaRPr lang="en-US" sz="1150" dirty="0"/>
          </a:p>
        </p:txBody>
      </p:sp>
      <p:sp>
        <p:nvSpPr>
          <p:cNvPr id="5" name="Text 3"/>
          <p:cNvSpPr/>
          <p:nvPr/>
        </p:nvSpPr>
        <p:spPr>
          <a:xfrm>
            <a:off x="658368" y="6437376"/>
            <a:ext cx="5029200" cy="219456"/>
          </a:xfrm>
          <a:prstGeom prst="rect">
            <a:avLst/>
          </a:prstGeom>
          <a:noFill/>
          <a:ln/>
        </p:spPr>
        <p:txBody>
          <a:bodyPr wrap="square" lIns="0" tIns="0" rIns="0" bIns="0" rtlCol="0" anchor="ctr"/>
          <a:lstStyle/>
          <a:p>
            <a:pPr indent="0" marL="0">
              <a:buNone/>
            </a:pPr>
            <a:r>
              <a:rPr lang="en-US" sz="850" dirty="0">
                <a:solidFill>
                  <a:srgbClr val="6E675E"/>
                </a:solidFill>
                <a:latin typeface="Yu Gothic" pitchFamily="34" charset="0"/>
                <a:ea typeface="Yu Gothic" pitchFamily="34" charset="-122"/>
                <a:cs typeface="Yu Gothic" pitchFamily="34" charset="-120"/>
              </a:rPr>
              <a:t>CONFIDENTIAL ｜ 株式会社WineBank</a:t>
            </a:r>
            <a:endParaRPr lang="en-US" sz="850" dirty="0"/>
          </a:p>
        </p:txBody>
      </p:sp>
      <p:sp>
        <p:nvSpPr>
          <p:cNvPr id="6" name="Text 4"/>
          <p:cNvSpPr/>
          <p:nvPr/>
        </p:nvSpPr>
        <p:spPr>
          <a:xfrm>
            <a:off x="10618927" y="6437376"/>
            <a:ext cx="914400" cy="219456"/>
          </a:xfrm>
          <a:prstGeom prst="rect">
            <a:avLst/>
          </a:prstGeom>
          <a:noFill/>
          <a:ln/>
        </p:spPr>
        <p:txBody>
          <a:bodyPr wrap="square" lIns="0" tIns="0" rIns="0" bIns="0" rtlCol="0" anchor="ctr"/>
          <a:lstStyle/>
          <a:p>
            <a:pPr algn="r" indent="0" marL="0">
              <a:buNone/>
            </a:pPr>
            <a:r>
              <a:rPr lang="en-US" sz="950" spc="150" kern="0" dirty="0">
                <a:solidFill>
                  <a:srgbClr val="6E5730"/>
                </a:solidFill>
                <a:latin typeface="Cambria" pitchFamily="34" charset="0"/>
                <a:ea typeface="Cambria" pitchFamily="34" charset="-122"/>
                <a:cs typeface="Cambria" pitchFamily="34" charset="-120"/>
              </a:rPr>
              <a:t>06</a:t>
            </a:r>
            <a:endParaRPr lang="en-US" sz="950" dirty="0"/>
          </a:p>
        </p:txBody>
      </p:sp>
      <p:sp>
        <p:nvSpPr>
          <p:cNvPr id="7" name="Shape 5"/>
          <p:cNvSpPr/>
          <p:nvPr/>
        </p:nvSpPr>
        <p:spPr>
          <a:xfrm>
            <a:off x="658368" y="1719072"/>
            <a:ext cx="1984797" cy="1700784"/>
          </a:xfrm>
          <a:prstGeom prst="roundRect">
            <a:avLst>
              <a:gd name="adj" fmla="val 2419"/>
            </a:avLst>
          </a:prstGeom>
          <a:solidFill>
            <a:srgbClr val="1F1D19"/>
          </a:solidFill>
          <a:ln w="9525">
            <a:solidFill>
              <a:srgbClr val="6E5730"/>
            </a:solidFill>
            <a:prstDash val="solid"/>
          </a:ln>
        </p:spPr>
      </p:sp>
      <p:sp>
        <p:nvSpPr>
          <p:cNvPr id="8" name="Text 6"/>
          <p:cNvSpPr/>
          <p:nvPr/>
        </p:nvSpPr>
        <p:spPr>
          <a:xfrm>
            <a:off x="841248" y="1883664"/>
            <a:ext cx="1619037" cy="237744"/>
          </a:xfrm>
          <a:prstGeom prst="rect">
            <a:avLst/>
          </a:prstGeom>
          <a:noFill/>
          <a:ln/>
        </p:spPr>
        <p:txBody>
          <a:bodyPr wrap="square" lIns="0" tIns="0" rIns="0" bIns="0" rtlCol="0" anchor="ctr"/>
          <a:lstStyle/>
          <a:p>
            <a:pPr indent="0" marL="0">
              <a:buNone/>
            </a:pPr>
            <a:r>
              <a:rPr lang="en-US" sz="1050" b="1" dirty="0">
                <a:solidFill>
                  <a:srgbClr val="EFEBE3"/>
                </a:solidFill>
                <a:latin typeface="Yu Gothic" pitchFamily="34" charset="0"/>
                <a:ea typeface="Yu Gothic" pitchFamily="34" charset="-122"/>
                <a:cs typeface="Yu Gothic" pitchFamily="34" charset="-120"/>
              </a:rPr>
              <a:t>インポーター仕入</a:t>
            </a:r>
            <a:endParaRPr lang="en-US" sz="1050" dirty="0"/>
          </a:p>
        </p:txBody>
      </p:sp>
      <p:sp>
        <p:nvSpPr>
          <p:cNvPr id="9" name="Text 7"/>
          <p:cNvSpPr/>
          <p:nvPr/>
        </p:nvSpPr>
        <p:spPr>
          <a:xfrm>
            <a:off x="841248" y="2212848"/>
            <a:ext cx="1619037" cy="694944"/>
          </a:xfrm>
          <a:prstGeom prst="rect">
            <a:avLst/>
          </a:prstGeom>
          <a:noFill/>
          <a:ln/>
        </p:spPr>
        <p:txBody>
          <a:bodyPr wrap="square" lIns="0" tIns="0" rIns="0" bIns="0" rtlCol="0" anchor="ctr"/>
          <a:lstStyle/>
          <a:p>
            <a:pPr indent="0" marL="0">
              <a:buNone/>
            </a:pPr>
            <a:r>
              <a:rPr lang="en-US" sz="4000" b="1" dirty="0">
                <a:solidFill>
                  <a:srgbClr val="C9A96E"/>
                </a:solidFill>
                <a:latin typeface="Cambria" pitchFamily="34" charset="0"/>
                <a:ea typeface="Cambria" pitchFamily="34" charset="-122"/>
                <a:cs typeface="Cambria" pitchFamily="34" charset="-120"/>
              </a:rPr>
              <a:t>40</a:t>
            </a:r>
            <a:endParaRPr lang="en-US" sz="4000" dirty="0"/>
          </a:p>
        </p:txBody>
      </p:sp>
      <p:sp>
        <p:nvSpPr>
          <p:cNvPr id="10" name="Text 8"/>
          <p:cNvSpPr/>
          <p:nvPr/>
        </p:nvSpPr>
        <p:spPr>
          <a:xfrm>
            <a:off x="841248" y="2999232"/>
            <a:ext cx="1619037" cy="237744"/>
          </a:xfrm>
          <a:prstGeom prst="rect">
            <a:avLst/>
          </a:prstGeom>
          <a:noFill/>
          <a:ln/>
        </p:spPr>
        <p:txBody>
          <a:bodyPr wrap="square" lIns="0" tIns="0" rIns="0" bIns="0" rtlCol="0" anchor="ctr"/>
          <a:lstStyle/>
          <a:p>
            <a:pPr indent="0" marL="0">
              <a:buNone/>
            </a:pPr>
            <a:r>
              <a:rPr lang="en-US" sz="950" dirty="0">
                <a:solidFill>
                  <a:srgbClr val="9A938A"/>
                </a:solidFill>
                <a:latin typeface="Yu Gothic" pitchFamily="34" charset="0"/>
                <a:ea typeface="Yu Gothic" pitchFamily="34" charset="-122"/>
                <a:cs typeface="Yu Gothic" pitchFamily="34" charset="-120"/>
              </a:rPr>
              <a:t>仕入①</a:t>
            </a:r>
            <a:endParaRPr lang="en-US" sz="950" dirty="0"/>
          </a:p>
        </p:txBody>
      </p:sp>
      <p:sp>
        <p:nvSpPr>
          <p:cNvPr id="11" name="Shape 9"/>
          <p:cNvSpPr/>
          <p:nvPr/>
        </p:nvSpPr>
        <p:spPr>
          <a:xfrm>
            <a:off x="2880909" y="1719072"/>
            <a:ext cx="1984797" cy="1700784"/>
          </a:xfrm>
          <a:prstGeom prst="roundRect">
            <a:avLst>
              <a:gd name="adj" fmla="val 2419"/>
            </a:avLst>
          </a:prstGeom>
          <a:solidFill>
            <a:srgbClr val="1F1D19"/>
          </a:solidFill>
          <a:ln w="9525">
            <a:solidFill>
              <a:srgbClr val="6E5730"/>
            </a:solidFill>
            <a:prstDash val="solid"/>
          </a:ln>
        </p:spPr>
      </p:sp>
      <p:sp>
        <p:nvSpPr>
          <p:cNvPr id="12" name="Text 10"/>
          <p:cNvSpPr/>
          <p:nvPr/>
        </p:nvSpPr>
        <p:spPr>
          <a:xfrm>
            <a:off x="3063789" y="1883664"/>
            <a:ext cx="1619037" cy="237744"/>
          </a:xfrm>
          <a:prstGeom prst="rect">
            <a:avLst/>
          </a:prstGeom>
          <a:noFill/>
          <a:ln/>
        </p:spPr>
        <p:txBody>
          <a:bodyPr wrap="square" lIns="0" tIns="0" rIns="0" bIns="0" rtlCol="0" anchor="ctr"/>
          <a:lstStyle/>
          <a:p>
            <a:pPr indent="0" marL="0">
              <a:buNone/>
            </a:pPr>
            <a:r>
              <a:rPr lang="en-US" sz="1050" b="1" dirty="0">
                <a:solidFill>
                  <a:srgbClr val="EFEBE3"/>
                </a:solidFill>
                <a:latin typeface="Yu Gothic" pitchFamily="34" charset="0"/>
                <a:ea typeface="Yu Gothic" pitchFamily="34" charset="-122"/>
                <a:cs typeface="Yu Gothic" pitchFamily="34" charset="-120"/>
              </a:rPr>
              <a:t>酒販店仕入</a:t>
            </a:r>
            <a:endParaRPr lang="en-US" sz="1050" dirty="0"/>
          </a:p>
        </p:txBody>
      </p:sp>
      <p:sp>
        <p:nvSpPr>
          <p:cNvPr id="13" name="Text 11"/>
          <p:cNvSpPr/>
          <p:nvPr/>
        </p:nvSpPr>
        <p:spPr>
          <a:xfrm>
            <a:off x="3063789" y="2212848"/>
            <a:ext cx="1619037" cy="694944"/>
          </a:xfrm>
          <a:prstGeom prst="rect">
            <a:avLst/>
          </a:prstGeom>
          <a:noFill/>
          <a:ln/>
        </p:spPr>
        <p:txBody>
          <a:bodyPr wrap="square" lIns="0" tIns="0" rIns="0" bIns="0" rtlCol="0" anchor="ctr"/>
          <a:lstStyle/>
          <a:p>
            <a:pPr indent="0" marL="0">
              <a:buNone/>
            </a:pPr>
            <a:r>
              <a:rPr lang="en-US" sz="4000" b="1" dirty="0">
                <a:solidFill>
                  <a:srgbClr val="C9A96E"/>
                </a:solidFill>
                <a:latin typeface="Cambria" pitchFamily="34" charset="0"/>
                <a:ea typeface="Cambria" pitchFamily="34" charset="-122"/>
                <a:cs typeface="Cambria" pitchFamily="34" charset="-120"/>
              </a:rPr>
              <a:t>60</a:t>
            </a:r>
            <a:endParaRPr lang="en-US" sz="4000" dirty="0"/>
          </a:p>
        </p:txBody>
      </p:sp>
      <p:sp>
        <p:nvSpPr>
          <p:cNvPr id="14" name="Text 12"/>
          <p:cNvSpPr/>
          <p:nvPr/>
        </p:nvSpPr>
        <p:spPr>
          <a:xfrm>
            <a:off x="3063789" y="2999232"/>
            <a:ext cx="1619037" cy="237744"/>
          </a:xfrm>
          <a:prstGeom prst="rect">
            <a:avLst/>
          </a:prstGeom>
          <a:noFill/>
          <a:ln/>
        </p:spPr>
        <p:txBody>
          <a:bodyPr wrap="square" lIns="0" tIns="0" rIns="0" bIns="0" rtlCol="0" anchor="ctr"/>
          <a:lstStyle/>
          <a:p>
            <a:pPr indent="0" marL="0">
              <a:buNone/>
            </a:pPr>
            <a:r>
              <a:rPr lang="en-US" sz="950" dirty="0">
                <a:solidFill>
                  <a:srgbClr val="9A938A"/>
                </a:solidFill>
                <a:latin typeface="Yu Gothic" pitchFamily="34" charset="0"/>
                <a:ea typeface="Yu Gothic" pitchFamily="34" charset="-122"/>
                <a:cs typeface="Yu Gothic" pitchFamily="34" charset="-120"/>
              </a:rPr>
              <a:t>仕入②</a:t>
            </a:r>
            <a:endParaRPr lang="en-US" sz="950" dirty="0"/>
          </a:p>
        </p:txBody>
      </p:sp>
      <p:sp>
        <p:nvSpPr>
          <p:cNvPr id="15" name="Shape 13"/>
          <p:cNvSpPr/>
          <p:nvPr/>
        </p:nvSpPr>
        <p:spPr>
          <a:xfrm>
            <a:off x="5103449" y="1719072"/>
            <a:ext cx="1984797" cy="1700784"/>
          </a:xfrm>
          <a:prstGeom prst="roundRect">
            <a:avLst>
              <a:gd name="adj" fmla="val 2419"/>
            </a:avLst>
          </a:prstGeom>
          <a:solidFill>
            <a:srgbClr val="1F1D19"/>
          </a:solidFill>
          <a:ln w="9525">
            <a:solidFill>
              <a:srgbClr val="A78450"/>
            </a:solidFill>
            <a:prstDash val="solid"/>
          </a:ln>
        </p:spPr>
      </p:sp>
      <p:sp>
        <p:nvSpPr>
          <p:cNvPr id="16" name="Text 14"/>
          <p:cNvSpPr/>
          <p:nvPr/>
        </p:nvSpPr>
        <p:spPr>
          <a:xfrm>
            <a:off x="5286329" y="1883664"/>
            <a:ext cx="1619037" cy="237744"/>
          </a:xfrm>
          <a:prstGeom prst="rect">
            <a:avLst/>
          </a:prstGeom>
          <a:noFill/>
          <a:ln/>
        </p:spPr>
        <p:txBody>
          <a:bodyPr wrap="square" lIns="0" tIns="0" rIns="0" bIns="0" rtlCol="0" anchor="ctr"/>
          <a:lstStyle/>
          <a:p>
            <a:pPr indent="0" marL="0">
              <a:buNone/>
            </a:pPr>
            <a:r>
              <a:rPr lang="en-US" sz="1050" b="1" dirty="0">
                <a:solidFill>
                  <a:srgbClr val="EFEBE3"/>
                </a:solidFill>
                <a:latin typeface="Yu Gothic" pitchFamily="34" charset="0"/>
                <a:ea typeface="Yu Gothic" pitchFamily="34" charset="-122"/>
                <a:cs typeface="Yu Gothic" pitchFamily="34" charset="-120"/>
              </a:rPr>
              <a:t>酒販店卸 売値</a:t>
            </a:r>
            <a:endParaRPr lang="en-US" sz="1050" dirty="0"/>
          </a:p>
        </p:txBody>
      </p:sp>
      <p:sp>
        <p:nvSpPr>
          <p:cNvPr id="17" name="Text 15"/>
          <p:cNvSpPr/>
          <p:nvPr/>
        </p:nvSpPr>
        <p:spPr>
          <a:xfrm>
            <a:off x="5286329" y="2212848"/>
            <a:ext cx="1619037" cy="694944"/>
          </a:xfrm>
          <a:prstGeom prst="rect">
            <a:avLst/>
          </a:prstGeom>
          <a:noFill/>
          <a:ln/>
        </p:spPr>
        <p:txBody>
          <a:bodyPr wrap="square" lIns="0" tIns="0" rIns="0" bIns="0" rtlCol="0" anchor="ctr"/>
          <a:lstStyle/>
          <a:p>
            <a:pPr indent="0" marL="0">
              <a:buNone/>
            </a:pPr>
            <a:r>
              <a:rPr lang="en-US" sz="4000" b="1" dirty="0">
                <a:solidFill>
                  <a:srgbClr val="C9A96E"/>
                </a:solidFill>
                <a:latin typeface="Cambria" pitchFamily="34" charset="0"/>
                <a:ea typeface="Cambria" pitchFamily="34" charset="-122"/>
                <a:cs typeface="Cambria" pitchFamily="34" charset="-120"/>
              </a:rPr>
              <a:t>70</a:t>
            </a:r>
            <a:endParaRPr lang="en-US" sz="4000" dirty="0"/>
          </a:p>
        </p:txBody>
      </p:sp>
      <p:sp>
        <p:nvSpPr>
          <p:cNvPr id="18" name="Text 16"/>
          <p:cNvSpPr/>
          <p:nvPr/>
        </p:nvSpPr>
        <p:spPr>
          <a:xfrm>
            <a:off x="5286329" y="2999232"/>
            <a:ext cx="1619037" cy="237744"/>
          </a:xfrm>
          <a:prstGeom prst="rect">
            <a:avLst/>
          </a:prstGeom>
          <a:noFill/>
          <a:ln/>
        </p:spPr>
        <p:txBody>
          <a:bodyPr wrap="square" lIns="0" tIns="0" rIns="0" bIns="0" rtlCol="0" anchor="ctr"/>
          <a:lstStyle/>
          <a:p>
            <a:pPr indent="0" marL="0">
              <a:buNone/>
            </a:pPr>
            <a:r>
              <a:rPr lang="en-US" sz="950" dirty="0">
                <a:solidFill>
                  <a:srgbClr val="9A938A"/>
                </a:solidFill>
                <a:latin typeface="Yu Gothic" pitchFamily="34" charset="0"/>
                <a:ea typeface="Yu Gothic" pitchFamily="34" charset="-122"/>
                <a:cs typeface="Yu Gothic" pitchFamily="34" charset="-120"/>
              </a:rPr>
              <a:t>売却① B2B</a:t>
            </a:r>
            <a:endParaRPr lang="en-US" sz="950" dirty="0"/>
          </a:p>
        </p:txBody>
      </p:sp>
      <p:sp>
        <p:nvSpPr>
          <p:cNvPr id="19" name="Shape 17"/>
          <p:cNvSpPr/>
          <p:nvPr/>
        </p:nvSpPr>
        <p:spPr>
          <a:xfrm>
            <a:off x="7325990" y="1719072"/>
            <a:ext cx="1984797" cy="1700784"/>
          </a:xfrm>
          <a:prstGeom prst="roundRect">
            <a:avLst>
              <a:gd name="adj" fmla="val 2419"/>
            </a:avLst>
          </a:prstGeom>
          <a:solidFill>
            <a:srgbClr val="1F1D19"/>
          </a:solidFill>
          <a:ln w="9525">
            <a:solidFill>
              <a:srgbClr val="A78450"/>
            </a:solidFill>
            <a:prstDash val="solid"/>
          </a:ln>
        </p:spPr>
      </p:sp>
      <p:sp>
        <p:nvSpPr>
          <p:cNvPr id="20" name="Text 18"/>
          <p:cNvSpPr/>
          <p:nvPr/>
        </p:nvSpPr>
        <p:spPr>
          <a:xfrm>
            <a:off x="7508870" y="1883664"/>
            <a:ext cx="1619037" cy="237744"/>
          </a:xfrm>
          <a:prstGeom prst="rect">
            <a:avLst/>
          </a:prstGeom>
          <a:noFill/>
          <a:ln/>
        </p:spPr>
        <p:txBody>
          <a:bodyPr wrap="square" lIns="0" tIns="0" rIns="0" bIns="0" rtlCol="0" anchor="ctr"/>
          <a:lstStyle/>
          <a:p>
            <a:pPr indent="0" marL="0">
              <a:buNone/>
            </a:pPr>
            <a:r>
              <a:rPr lang="en-US" sz="1050" b="1" dirty="0">
                <a:solidFill>
                  <a:srgbClr val="EFEBE3"/>
                </a:solidFill>
                <a:latin typeface="Yu Gothic" pitchFamily="34" charset="0"/>
                <a:ea typeface="Yu Gothic" pitchFamily="34" charset="-122"/>
                <a:cs typeface="Yu Gothic" pitchFamily="34" charset="-120"/>
              </a:rPr>
              <a:t>ネット最安 売値</a:t>
            </a:r>
            <a:endParaRPr lang="en-US" sz="1050" dirty="0"/>
          </a:p>
        </p:txBody>
      </p:sp>
      <p:sp>
        <p:nvSpPr>
          <p:cNvPr id="21" name="Text 19"/>
          <p:cNvSpPr/>
          <p:nvPr/>
        </p:nvSpPr>
        <p:spPr>
          <a:xfrm>
            <a:off x="7508870" y="2212848"/>
            <a:ext cx="1619037" cy="694944"/>
          </a:xfrm>
          <a:prstGeom prst="rect">
            <a:avLst/>
          </a:prstGeom>
          <a:noFill/>
          <a:ln/>
        </p:spPr>
        <p:txBody>
          <a:bodyPr wrap="square" lIns="0" tIns="0" rIns="0" bIns="0" rtlCol="0" anchor="ctr"/>
          <a:lstStyle/>
          <a:p>
            <a:pPr indent="0" marL="0">
              <a:buNone/>
            </a:pPr>
            <a:r>
              <a:rPr lang="en-US" sz="4000" b="1" dirty="0">
                <a:solidFill>
                  <a:srgbClr val="C9A96E"/>
                </a:solidFill>
                <a:latin typeface="Cambria" pitchFamily="34" charset="0"/>
                <a:ea typeface="Cambria" pitchFamily="34" charset="-122"/>
                <a:cs typeface="Cambria" pitchFamily="34" charset="-120"/>
              </a:rPr>
              <a:t>80</a:t>
            </a:r>
            <a:endParaRPr lang="en-US" sz="4000" dirty="0"/>
          </a:p>
        </p:txBody>
      </p:sp>
      <p:sp>
        <p:nvSpPr>
          <p:cNvPr id="22" name="Text 20"/>
          <p:cNvSpPr/>
          <p:nvPr/>
        </p:nvSpPr>
        <p:spPr>
          <a:xfrm>
            <a:off x="7508870" y="2999232"/>
            <a:ext cx="1619037" cy="237744"/>
          </a:xfrm>
          <a:prstGeom prst="rect">
            <a:avLst/>
          </a:prstGeom>
          <a:noFill/>
          <a:ln/>
        </p:spPr>
        <p:txBody>
          <a:bodyPr wrap="square" lIns="0" tIns="0" rIns="0" bIns="0" rtlCol="0" anchor="ctr"/>
          <a:lstStyle/>
          <a:p>
            <a:pPr indent="0" marL="0">
              <a:buNone/>
            </a:pPr>
            <a:r>
              <a:rPr lang="en-US" sz="950" dirty="0">
                <a:solidFill>
                  <a:srgbClr val="9A938A"/>
                </a:solidFill>
                <a:latin typeface="Yu Gothic" pitchFamily="34" charset="0"/>
                <a:ea typeface="Yu Gothic" pitchFamily="34" charset="-122"/>
                <a:cs typeface="Yu Gothic" pitchFamily="34" charset="-120"/>
              </a:rPr>
              <a:t>売却② B2C</a:t>
            </a:r>
            <a:endParaRPr lang="en-US" sz="950" dirty="0"/>
          </a:p>
        </p:txBody>
      </p:sp>
      <p:sp>
        <p:nvSpPr>
          <p:cNvPr id="23" name="Shape 21"/>
          <p:cNvSpPr/>
          <p:nvPr/>
        </p:nvSpPr>
        <p:spPr>
          <a:xfrm>
            <a:off x="9548531" y="1719072"/>
            <a:ext cx="1984797" cy="1700784"/>
          </a:xfrm>
          <a:prstGeom prst="roundRect">
            <a:avLst>
              <a:gd name="adj" fmla="val 2419"/>
            </a:avLst>
          </a:prstGeom>
          <a:solidFill>
            <a:srgbClr val="171614"/>
          </a:solidFill>
          <a:ln w="9525">
            <a:solidFill>
              <a:srgbClr val="2E2A24"/>
            </a:solidFill>
            <a:prstDash val="solid"/>
          </a:ln>
        </p:spPr>
      </p:sp>
      <p:sp>
        <p:nvSpPr>
          <p:cNvPr id="24" name="Text 22"/>
          <p:cNvSpPr/>
          <p:nvPr/>
        </p:nvSpPr>
        <p:spPr>
          <a:xfrm>
            <a:off x="9731411" y="1883664"/>
            <a:ext cx="1619037" cy="237744"/>
          </a:xfrm>
          <a:prstGeom prst="rect">
            <a:avLst/>
          </a:prstGeom>
          <a:noFill/>
          <a:ln/>
        </p:spPr>
        <p:txBody>
          <a:bodyPr wrap="square" lIns="0" tIns="0" rIns="0" bIns="0" rtlCol="0" anchor="ctr"/>
          <a:lstStyle/>
          <a:p>
            <a:pPr indent="0" marL="0">
              <a:buNone/>
            </a:pPr>
            <a:r>
              <a:rPr lang="en-US" sz="1050" b="1" dirty="0">
                <a:solidFill>
                  <a:srgbClr val="EFEBE3"/>
                </a:solidFill>
                <a:latin typeface="Yu Gothic" pitchFamily="34" charset="0"/>
                <a:ea typeface="Yu Gothic" pitchFamily="34" charset="-122"/>
                <a:cs typeface="Yu Gothic" pitchFamily="34" charset="-120"/>
              </a:rPr>
              <a:t>希望小売価格</a:t>
            </a:r>
            <a:endParaRPr lang="en-US" sz="1050" dirty="0"/>
          </a:p>
        </p:txBody>
      </p:sp>
      <p:sp>
        <p:nvSpPr>
          <p:cNvPr id="25" name="Text 23"/>
          <p:cNvSpPr/>
          <p:nvPr/>
        </p:nvSpPr>
        <p:spPr>
          <a:xfrm>
            <a:off x="9731411" y="2212848"/>
            <a:ext cx="1619037" cy="694944"/>
          </a:xfrm>
          <a:prstGeom prst="rect">
            <a:avLst/>
          </a:prstGeom>
          <a:noFill/>
          <a:ln/>
        </p:spPr>
        <p:txBody>
          <a:bodyPr wrap="square" lIns="0" tIns="0" rIns="0" bIns="0" rtlCol="0" anchor="ctr"/>
          <a:lstStyle/>
          <a:p>
            <a:pPr indent="0" marL="0">
              <a:buNone/>
            </a:pPr>
            <a:r>
              <a:rPr lang="en-US" sz="4000" b="1" dirty="0">
                <a:solidFill>
                  <a:srgbClr val="9A938A"/>
                </a:solidFill>
                <a:latin typeface="Cambria" pitchFamily="34" charset="0"/>
                <a:ea typeface="Cambria" pitchFamily="34" charset="-122"/>
                <a:cs typeface="Cambria" pitchFamily="34" charset="-120"/>
              </a:rPr>
              <a:t>100</a:t>
            </a:r>
            <a:endParaRPr lang="en-US" sz="4000" dirty="0"/>
          </a:p>
        </p:txBody>
      </p:sp>
      <p:sp>
        <p:nvSpPr>
          <p:cNvPr id="26" name="Text 24"/>
          <p:cNvSpPr/>
          <p:nvPr/>
        </p:nvSpPr>
        <p:spPr>
          <a:xfrm>
            <a:off x="9731411" y="2999232"/>
            <a:ext cx="1619037" cy="237744"/>
          </a:xfrm>
          <a:prstGeom prst="rect">
            <a:avLst/>
          </a:prstGeom>
          <a:noFill/>
          <a:ln/>
        </p:spPr>
        <p:txBody>
          <a:bodyPr wrap="square" lIns="0" tIns="0" rIns="0" bIns="0" rtlCol="0" anchor="ctr"/>
          <a:lstStyle/>
          <a:p>
            <a:pPr indent="0" marL="0">
              <a:buNone/>
            </a:pPr>
            <a:r>
              <a:rPr lang="en-US" sz="950" dirty="0">
                <a:solidFill>
                  <a:srgbClr val="9A938A"/>
                </a:solidFill>
                <a:latin typeface="Yu Gothic" pitchFamily="34" charset="0"/>
                <a:ea typeface="Yu Gothic" pitchFamily="34" charset="-122"/>
                <a:cs typeface="Yu Gothic" pitchFamily="34" charset="-120"/>
              </a:rPr>
              <a:t>消費者</a:t>
            </a:r>
            <a:endParaRPr lang="en-US" sz="950" dirty="0"/>
          </a:p>
        </p:txBody>
      </p:sp>
      <p:sp>
        <p:nvSpPr>
          <p:cNvPr id="27" name="Shape 25"/>
          <p:cNvSpPr/>
          <p:nvPr/>
        </p:nvSpPr>
        <p:spPr>
          <a:xfrm>
            <a:off x="658368" y="3675888"/>
            <a:ext cx="10874959" cy="1956816"/>
          </a:xfrm>
          <a:prstGeom prst="roundRect">
            <a:avLst>
              <a:gd name="adj" fmla="val 2103"/>
            </a:avLst>
          </a:prstGeom>
          <a:solidFill>
            <a:srgbClr val="1F1D19"/>
          </a:solidFill>
          <a:ln w="9525">
            <a:solidFill>
              <a:srgbClr val="6E5730"/>
            </a:solidFill>
            <a:prstDash val="solid"/>
          </a:ln>
        </p:spPr>
      </p:sp>
      <p:sp>
        <p:nvSpPr>
          <p:cNvPr id="28" name="Text 26"/>
          <p:cNvSpPr/>
          <p:nvPr/>
        </p:nvSpPr>
        <p:spPr>
          <a:xfrm>
            <a:off x="932688" y="3822192"/>
            <a:ext cx="5486400" cy="256032"/>
          </a:xfrm>
          <a:prstGeom prst="rect">
            <a:avLst/>
          </a:prstGeom>
          <a:noFill/>
          <a:ln/>
        </p:spPr>
        <p:txBody>
          <a:bodyPr wrap="square" lIns="0" tIns="0" rIns="0" bIns="0" rtlCol="0" anchor="ctr"/>
          <a:lstStyle/>
          <a:p>
            <a:pPr indent="0" marL="0">
              <a:buNone/>
            </a:pPr>
            <a:r>
              <a:rPr lang="en-US" sz="1200" b="1" dirty="0">
                <a:solidFill>
                  <a:srgbClr val="C9A96E"/>
                </a:solidFill>
                <a:latin typeface="Yu Gothic" pitchFamily="34" charset="0"/>
                <a:ea typeface="Yu Gothic" pitchFamily="34" charset="-122"/>
                <a:cs typeface="Yu Gothic" pitchFamily="34" charset="-120"/>
              </a:rPr>
              <a:t>主線（ニュートラル）の置き方　― 保有12ヶ月の場合</a:t>
            </a:r>
            <a:endParaRPr lang="en-US" sz="1200" dirty="0"/>
          </a:p>
        </p:txBody>
      </p:sp>
      <p:sp>
        <p:nvSpPr>
          <p:cNvPr id="29" name="Text 27"/>
          <p:cNvSpPr/>
          <p:nvPr/>
        </p:nvSpPr>
        <p:spPr>
          <a:xfrm>
            <a:off x="932688" y="4133088"/>
            <a:ext cx="3108960" cy="237744"/>
          </a:xfrm>
          <a:prstGeom prst="rect">
            <a:avLst/>
          </a:prstGeom>
          <a:noFill/>
          <a:ln/>
        </p:spPr>
        <p:txBody>
          <a:bodyPr wrap="square" lIns="0" tIns="0" rIns="0" bIns="0" rtlCol="0" anchor="ctr"/>
          <a:lstStyle/>
          <a:p>
            <a:pPr indent="0" marL="0">
              <a:buNone/>
            </a:pPr>
            <a:r>
              <a:rPr lang="en-US" sz="1050" b="1" dirty="0">
                <a:solidFill>
                  <a:srgbClr val="EFEBE3"/>
                </a:solidFill>
                <a:latin typeface="Yu Gothic" pitchFamily="34" charset="0"/>
                <a:ea typeface="Yu Gothic" pitchFamily="34" charset="-122"/>
                <a:cs typeface="Yu Gothic" pitchFamily="34" charset="-120"/>
              </a:rPr>
              <a:t>仕入ポートフォリオ</a:t>
            </a:r>
            <a:endParaRPr lang="en-US" sz="1050" dirty="0"/>
          </a:p>
        </p:txBody>
      </p:sp>
      <p:sp>
        <p:nvSpPr>
          <p:cNvPr id="30" name="Text 28"/>
          <p:cNvSpPr/>
          <p:nvPr/>
        </p:nvSpPr>
        <p:spPr>
          <a:xfrm>
            <a:off x="4133088" y="4133088"/>
            <a:ext cx="4572000" cy="237744"/>
          </a:xfrm>
          <a:prstGeom prst="rect">
            <a:avLst/>
          </a:prstGeom>
          <a:noFill/>
          <a:ln/>
        </p:spPr>
        <p:txBody>
          <a:bodyPr wrap="square" lIns="0" tIns="0" rIns="0" bIns="0" rtlCol="0" anchor="ctr"/>
          <a:lstStyle/>
          <a:p>
            <a:pPr indent="0" marL="0">
              <a:buNone/>
            </a:pPr>
            <a:r>
              <a:rPr lang="en-US" sz="1050" dirty="0">
                <a:solidFill>
                  <a:srgbClr val="9A938A"/>
                </a:solidFill>
                <a:latin typeface="Yu Gothic" pitchFamily="34" charset="0"/>
                <a:ea typeface="Yu Gothic" pitchFamily="34" charset="-122"/>
                <a:cs typeface="Yu Gothic" pitchFamily="34" charset="-120"/>
              </a:rPr>
              <a:t>インポーター40 ＋ 酒販店60 を半々</a:t>
            </a:r>
            <a:endParaRPr lang="en-US" sz="1050" dirty="0"/>
          </a:p>
        </p:txBody>
      </p:sp>
      <p:sp>
        <p:nvSpPr>
          <p:cNvPr id="31" name="Text 29"/>
          <p:cNvSpPr/>
          <p:nvPr/>
        </p:nvSpPr>
        <p:spPr>
          <a:xfrm>
            <a:off x="8796528" y="4133088"/>
            <a:ext cx="2462479" cy="237744"/>
          </a:xfrm>
          <a:prstGeom prst="rect">
            <a:avLst/>
          </a:prstGeom>
          <a:noFill/>
          <a:ln/>
        </p:spPr>
        <p:txBody>
          <a:bodyPr wrap="square" lIns="0" tIns="0" rIns="0" bIns="0" rtlCol="0" anchor="ctr"/>
          <a:lstStyle/>
          <a:p>
            <a:pPr algn="r" indent="0" marL="0">
              <a:buNone/>
            </a:pPr>
            <a:r>
              <a:rPr lang="en-US" sz="1050" b="1" dirty="0">
                <a:solidFill>
                  <a:srgbClr val="EFEBE3"/>
                </a:solidFill>
                <a:latin typeface="Yu Gothic" pitchFamily="34" charset="0"/>
                <a:ea typeface="Yu Gothic" pitchFamily="34" charset="-122"/>
                <a:cs typeface="Yu Gothic" pitchFamily="34" charset="-120"/>
              </a:rPr>
              <a:t>市中原価 50.00</a:t>
            </a:r>
            <a:endParaRPr lang="en-US" sz="1050" dirty="0"/>
          </a:p>
        </p:txBody>
      </p:sp>
      <p:sp>
        <p:nvSpPr>
          <p:cNvPr id="32" name="Text 30"/>
          <p:cNvSpPr/>
          <p:nvPr/>
        </p:nvSpPr>
        <p:spPr>
          <a:xfrm>
            <a:off x="932688" y="4389120"/>
            <a:ext cx="3108960" cy="237744"/>
          </a:xfrm>
          <a:prstGeom prst="rect">
            <a:avLst/>
          </a:prstGeom>
          <a:noFill/>
          <a:ln/>
        </p:spPr>
        <p:txBody>
          <a:bodyPr wrap="square" lIns="0" tIns="0" rIns="0" bIns="0" rtlCol="0" anchor="ctr"/>
          <a:lstStyle/>
          <a:p>
            <a:pPr indent="0" marL="0">
              <a:buNone/>
            </a:pPr>
            <a:r>
              <a:rPr lang="en-US" sz="1050" b="1" dirty="0">
                <a:solidFill>
                  <a:srgbClr val="EFEBE3"/>
                </a:solidFill>
                <a:latin typeface="Yu Gothic" pitchFamily="34" charset="0"/>
                <a:ea typeface="Yu Gothic" pitchFamily="34" charset="-122"/>
                <a:cs typeface="Yu Gothic" pitchFamily="34" charset="-120"/>
              </a:rPr>
              <a:t>現物譲渡（WineBank→SPC）</a:t>
            </a:r>
            <a:endParaRPr lang="en-US" sz="1050" dirty="0"/>
          </a:p>
        </p:txBody>
      </p:sp>
      <p:sp>
        <p:nvSpPr>
          <p:cNvPr id="33" name="Text 31"/>
          <p:cNvSpPr/>
          <p:nvPr/>
        </p:nvSpPr>
        <p:spPr>
          <a:xfrm>
            <a:off x="4133088" y="4389120"/>
            <a:ext cx="4572000" cy="237744"/>
          </a:xfrm>
          <a:prstGeom prst="rect">
            <a:avLst/>
          </a:prstGeom>
          <a:noFill/>
          <a:ln/>
        </p:spPr>
        <p:txBody>
          <a:bodyPr wrap="square" lIns="0" tIns="0" rIns="0" bIns="0" rtlCol="0" anchor="ctr"/>
          <a:lstStyle/>
          <a:p>
            <a:pPr indent="0" marL="0">
              <a:buNone/>
            </a:pPr>
            <a:r>
              <a:rPr lang="en-US" sz="1050" dirty="0">
                <a:solidFill>
                  <a:srgbClr val="9A938A"/>
                </a:solidFill>
                <a:latin typeface="Yu Gothic" pitchFamily="34" charset="0"/>
                <a:ea typeface="Yu Gothic" pitchFamily="34" charset="-122"/>
                <a:cs typeface="Yu Gothic" pitchFamily="34" charset="-120"/>
              </a:rPr>
              <a:t>独立企業間価格として1%を付加</a:t>
            </a:r>
            <a:endParaRPr lang="en-US" sz="1050" dirty="0"/>
          </a:p>
        </p:txBody>
      </p:sp>
      <p:sp>
        <p:nvSpPr>
          <p:cNvPr id="34" name="Text 32"/>
          <p:cNvSpPr/>
          <p:nvPr/>
        </p:nvSpPr>
        <p:spPr>
          <a:xfrm>
            <a:off x="8796528" y="4389120"/>
            <a:ext cx="2462479" cy="237744"/>
          </a:xfrm>
          <a:prstGeom prst="rect">
            <a:avLst/>
          </a:prstGeom>
          <a:noFill/>
          <a:ln/>
        </p:spPr>
        <p:txBody>
          <a:bodyPr wrap="square" lIns="0" tIns="0" rIns="0" bIns="0" rtlCol="0" anchor="ctr"/>
          <a:lstStyle/>
          <a:p>
            <a:pPr algn="r" indent="0" marL="0">
              <a:buNone/>
            </a:pPr>
            <a:r>
              <a:rPr lang="en-US" sz="1050" b="1" dirty="0">
                <a:solidFill>
                  <a:srgbClr val="EFEBE3"/>
                </a:solidFill>
                <a:latin typeface="Yu Gothic" pitchFamily="34" charset="0"/>
                <a:ea typeface="Yu Gothic" pitchFamily="34" charset="-122"/>
                <a:cs typeface="Yu Gothic" pitchFamily="34" charset="-120"/>
              </a:rPr>
              <a:t>SPC取得原価 50.50</a:t>
            </a:r>
            <a:endParaRPr lang="en-US" sz="1050" dirty="0"/>
          </a:p>
        </p:txBody>
      </p:sp>
      <p:sp>
        <p:nvSpPr>
          <p:cNvPr id="35" name="Text 33"/>
          <p:cNvSpPr/>
          <p:nvPr/>
        </p:nvSpPr>
        <p:spPr>
          <a:xfrm>
            <a:off x="932688" y="4645152"/>
            <a:ext cx="3108960" cy="237744"/>
          </a:xfrm>
          <a:prstGeom prst="rect">
            <a:avLst/>
          </a:prstGeom>
          <a:noFill/>
          <a:ln/>
        </p:spPr>
        <p:txBody>
          <a:bodyPr wrap="square" lIns="0" tIns="0" rIns="0" bIns="0" rtlCol="0" anchor="ctr"/>
          <a:lstStyle/>
          <a:p>
            <a:pPr indent="0" marL="0">
              <a:buNone/>
            </a:pPr>
            <a:r>
              <a:rPr lang="en-US" sz="1050" b="1" dirty="0">
                <a:solidFill>
                  <a:srgbClr val="EFEBE3"/>
                </a:solidFill>
                <a:latin typeface="Yu Gothic" pitchFamily="34" charset="0"/>
                <a:ea typeface="Yu Gothic" pitchFamily="34" charset="-122"/>
                <a:cs typeface="Yu Gothic" pitchFamily="34" charset="-120"/>
              </a:rPr>
              <a:t>売却ポートフォリオ</a:t>
            </a:r>
            <a:endParaRPr lang="en-US" sz="1050" dirty="0"/>
          </a:p>
        </p:txBody>
      </p:sp>
      <p:sp>
        <p:nvSpPr>
          <p:cNvPr id="36" name="Text 34"/>
          <p:cNvSpPr/>
          <p:nvPr/>
        </p:nvSpPr>
        <p:spPr>
          <a:xfrm>
            <a:off x="4133088" y="4645152"/>
            <a:ext cx="4572000" cy="237744"/>
          </a:xfrm>
          <a:prstGeom prst="rect">
            <a:avLst/>
          </a:prstGeom>
          <a:noFill/>
          <a:ln/>
        </p:spPr>
        <p:txBody>
          <a:bodyPr wrap="square" lIns="0" tIns="0" rIns="0" bIns="0" rtlCol="0" anchor="ctr"/>
          <a:lstStyle/>
          <a:p>
            <a:pPr indent="0" marL="0">
              <a:buNone/>
            </a:pPr>
            <a:r>
              <a:rPr lang="en-US" sz="1050" dirty="0">
                <a:solidFill>
                  <a:srgbClr val="9A938A"/>
                </a:solidFill>
                <a:latin typeface="Yu Gothic" pitchFamily="34" charset="0"/>
                <a:ea typeface="Yu Gothic" pitchFamily="34" charset="-122"/>
                <a:cs typeface="Yu Gothic" pitchFamily="34" charset="-120"/>
              </a:rPr>
              <a:t>酒販店卸70（B2B）＋ ネット最安80（B2C）を半々</a:t>
            </a:r>
            <a:endParaRPr lang="en-US" sz="1050" dirty="0"/>
          </a:p>
        </p:txBody>
      </p:sp>
      <p:sp>
        <p:nvSpPr>
          <p:cNvPr id="37" name="Text 35"/>
          <p:cNvSpPr/>
          <p:nvPr/>
        </p:nvSpPr>
        <p:spPr>
          <a:xfrm>
            <a:off x="8796528" y="4645152"/>
            <a:ext cx="2462479" cy="237744"/>
          </a:xfrm>
          <a:prstGeom prst="rect">
            <a:avLst/>
          </a:prstGeom>
          <a:noFill/>
          <a:ln/>
        </p:spPr>
        <p:txBody>
          <a:bodyPr wrap="square" lIns="0" tIns="0" rIns="0" bIns="0" rtlCol="0" anchor="ctr"/>
          <a:lstStyle/>
          <a:p>
            <a:pPr algn="r" indent="0" marL="0">
              <a:buNone/>
            </a:pPr>
            <a:r>
              <a:rPr lang="en-US" sz="1050" b="1" dirty="0">
                <a:solidFill>
                  <a:srgbClr val="EFEBE3"/>
                </a:solidFill>
                <a:latin typeface="Yu Gothic" pitchFamily="34" charset="0"/>
                <a:ea typeface="Yu Gothic" pitchFamily="34" charset="-122"/>
                <a:cs typeface="Yu Gothic" pitchFamily="34" charset="-120"/>
              </a:rPr>
              <a:t>取得時の売値 75.00</a:t>
            </a:r>
            <a:endParaRPr lang="en-US" sz="1050" dirty="0"/>
          </a:p>
        </p:txBody>
      </p:sp>
      <p:sp>
        <p:nvSpPr>
          <p:cNvPr id="38" name="Text 36"/>
          <p:cNvSpPr/>
          <p:nvPr/>
        </p:nvSpPr>
        <p:spPr>
          <a:xfrm>
            <a:off x="932688" y="4901184"/>
            <a:ext cx="3108960" cy="237744"/>
          </a:xfrm>
          <a:prstGeom prst="rect">
            <a:avLst/>
          </a:prstGeom>
          <a:noFill/>
          <a:ln/>
        </p:spPr>
        <p:txBody>
          <a:bodyPr wrap="square" lIns="0" tIns="0" rIns="0" bIns="0" rtlCol="0" anchor="ctr"/>
          <a:lstStyle/>
          <a:p>
            <a:pPr indent="0" marL="0">
              <a:buNone/>
            </a:pPr>
            <a:r>
              <a:rPr lang="en-US" sz="1050" b="1" dirty="0">
                <a:solidFill>
                  <a:srgbClr val="EFEBE3"/>
                </a:solidFill>
                <a:latin typeface="Yu Gothic" pitchFamily="34" charset="0"/>
                <a:ea typeface="Yu Gothic" pitchFamily="34" charset="-122"/>
                <a:cs typeface="Yu Gothic" pitchFamily="34" charset="-120"/>
              </a:rPr>
              <a:t>保有中の値上がり</a:t>
            </a:r>
            <a:endParaRPr lang="en-US" sz="1050" dirty="0"/>
          </a:p>
        </p:txBody>
      </p:sp>
      <p:sp>
        <p:nvSpPr>
          <p:cNvPr id="39" name="Text 37"/>
          <p:cNvSpPr/>
          <p:nvPr/>
        </p:nvSpPr>
        <p:spPr>
          <a:xfrm>
            <a:off x="4133088" y="4901184"/>
            <a:ext cx="4572000" cy="237744"/>
          </a:xfrm>
          <a:prstGeom prst="rect">
            <a:avLst/>
          </a:prstGeom>
          <a:noFill/>
          <a:ln/>
        </p:spPr>
        <p:txBody>
          <a:bodyPr wrap="square" lIns="0" tIns="0" rIns="0" bIns="0" rtlCol="0" anchor="ctr"/>
          <a:lstStyle/>
          <a:p>
            <a:pPr indent="0" marL="0">
              <a:buNone/>
            </a:pPr>
            <a:r>
              <a:rPr lang="en-US" sz="1050" dirty="0">
                <a:solidFill>
                  <a:srgbClr val="9A938A"/>
                </a:solidFill>
                <a:latin typeface="Yu Gothic" pitchFamily="34" charset="0"/>
                <a:ea typeface="Yu Gothic" pitchFamily="34" charset="-122"/>
                <a:cs typeface="Yu Gothic" pitchFamily="34" charset="-120"/>
              </a:rPr>
              <a:t>ワイン価格の年間上昇6%を12ヶ月保有</a:t>
            </a:r>
            <a:endParaRPr lang="en-US" sz="1050" dirty="0"/>
          </a:p>
        </p:txBody>
      </p:sp>
      <p:sp>
        <p:nvSpPr>
          <p:cNvPr id="40" name="Text 38"/>
          <p:cNvSpPr/>
          <p:nvPr/>
        </p:nvSpPr>
        <p:spPr>
          <a:xfrm>
            <a:off x="8796528" y="4901184"/>
            <a:ext cx="2462479" cy="237744"/>
          </a:xfrm>
          <a:prstGeom prst="rect">
            <a:avLst/>
          </a:prstGeom>
          <a:noFill/>
          <a:ln/>
        </p:spPr>
        <p:txBody>
          <a:bodyPr wrap="square" lIns="0" tIns="0" rIns="0" bIns="0" rtlCol="0" anchor="ctr"/>
          <a:lstStyle/>
          <a:p>
            <a:pPr algn="r" indent="0" marL="0">
              <a:buNone/>
            </a:pPr>
            <a:r>
              <a:rPr lang="en-US" sz="1050" b="1" dirty="0">
                <a:solidFill>
                  <a:srgbClr val="EFEBE3"/>
                </a:solidFill>
                <a:latin typeface="Yu Gothic" pitchFamily="34" charset="0"/>
                <a:ea typeface="Yu Gothic" pitchFamily="34" charset="-122"/>
                <a:cs typeface="Yu Gothic" pitchFamily="34" charset="-120"/>
              </a:rPr>
              <a:t>×1.060 → 売値 79.50</a:t>
            </a:r>
            <a:endParaRPr lang="en-US" sz="1050" dirty="0"/>
          </a:p>
        </p:txBody>
      </p:sp>
      <p:sp>
        <p:nvSpPr>
          <p:cNvPr id="41" name="Text 39"/>
          <p:cNvSpPr/>
          <p:nvPr/>
        </p:nvSpPr>
        <p:spPr>
          <a:xfrm>
            <a:off x="932688" y="5157216"/>
            <a:ext cx="3108960" cy="237744"/>
          </a:xfrm>
          <a:prstGeom prst="rect">
            <a:avLst/>
          </a:prstGeom>
          <a:noFill/>
          <a:ln/>
        </p:spPr>
        <p:txBody>
          <a:bodyPr wrap="square" lIns="0" tIns="0" rIns="0" bIns="0" rtlCol="0" anchor="ctr"/>
          <a:lstStyle/>
          <a:p>
            <a:pPr indent="0" marL="0">
              <a:buNone/>
            </a:pPr>
            <a:r>
              <a:rPr lang="en-US" sz="1050" b="1" dirty="0">
                <a:solidFill>
                  <a:srgbClr val="EFEBE3"/>
                </a:solidFill>
                <a:latin typeface="Yu Gothic" pitchFamily="34" charset="0"/>
                <a:ea typeface="Yu Gothic" pitchFamily="34" charset="-122"/>
                <a:cs typeface="Yu Gothic" pitchFamily="34" charset="-120"/>
              </a:rPr>
              <a:t>変動販売費</a:t>
            </a:r>
            <a:endParaRPr lang="en-US" sz="1050" dirty="0"/>
          </a:p>
        </p:txBody>
      </p:sp>
      <p:sp>
        <p:nvSpPr>
          <p:cNvPr id="42" name="Text 40"/>
          <p:cNvSpPr/>
          <p:nvPr/>
        </p:nvSpPr>
        <p:spPr>
          <a:xfrm>
            <a:off x="4133088" y="5157216"/>
            <a:ext cx="4572000" cy="237744"/>
          </a:xfrm>
          <a:prstGeom prst="rect">
            <a:avLst/>
          </a:prstGeom>
          <a:noFill/>
          <a:ln/>
        </p:spPr>
        <p:txBody>
          <a:bodyPr wrap="square" lIns="0" tIns="0" rIns="0" bIns="0" rtlCol="0" anchor="ctr"/>
          <a:lstStyle/>
          <a:p>
            <a:pPr indent="0" marL="0">
              <a:buNone/>
            </a:pPr>
            <a:r>
              <a:rPr lang="en-US" sz="1050" dirty="0">
                <a:solidFill>
                  <a:srgbClr val="9A938A"/>
                </a:solidFill>
                <a:latin typeface="Yu Gothic" pitchFamily="34" charset="0"/>
                <a:ea typeface="Yu Gothic" pitchFamily="34" charset="-122"/>
                <a:cs typeface="Yu Gothic" pitchFamily="34" charset="-120"/>
              </a:rPr>
              <a:t>B2B 1.0% ／ B2C 11.2% の加重平均 6.44%</a:t>
            </a:r>
            <a:endParaRPr lang="en-US" sz="1050" dirty="0"/>
          </a:p>
        </p:txBody>
      </p:sp>
      <p:sp>
        <p:nvSpPr>
          <p:cNvPr id="43" name="Text 41"/>
          <p:cNvSpPr/>
          <p:nvPr/>
        </p:nvSpPr>
        <p:spPr>
          <a:xfrm>
            <a:off x="8796528" y="5157216"/>
            <a:ext cx="2462479" cy="237744"/>
          </a:xfrm>
          <a:prstGeom prst="rect">
            <a:avLst/>
          </a:prstGeom>
          <a:noFill/>
          <a:ln/>
        </p:spPr>
        <p:txBody>
          <a:bodyPr wrap="square" lIns="0" tIns="0" rIns="0" bIns="0" rtlCol="0" anchor="ctr"/>
          <a:lstStyle/>
          <a:p>
            <a:pPr algn="r" indent="0" marL="0">
              <a:buNone/>
            </a:pPr>
            <a:r>
              <a:rPr lang="en-US" sz="1050" b="1" dirty="0">
                <a:solidFill>
                  <a:srgbClr val="EFEBE3"/>
                </a:solidFill>
                <a:latin typeface="Yu Gothic" pitchFamily="34" charset="0"/>
                <a:ea typeface="Yu Gothic" pitchFamily="34" charset="-122"/>
                <a:cs typeface="Yu Gothic" pitchFamily="34" charset="-120"/>
              </a:rPr>
              <a:t>▲ 5.12 → 手取り 74.38</a:t>
            </a:r>
            <a:endParaRPr lang="en-US" sz="1050" dirty="0"/>
          </a:p>
        </p:txBody>
      </p:sp>
      <p:sp>
        <p:nvSpPr>
          <p:cNvPr id="44" name="Text 42"/>
          <p:cNvSpPr/>
          <p:nvPr/>
        </p:nvSpPr>
        <p:spPr>
          <a:xfrm>
            <a:off x="932688" y="5413248"/>
            <a:ext cx="3108960" cy="237744"/>
          </a:xfrm>
          <a:prstGeom prst="rect">
            <a:avLst/>
          </a:prstGeom>
          <a:noFill/>
          <a:ln/>
        </p:spPr>
        <p:txBody>
          <a:bodyPr wrap="square" lIns="0" tIns="0" rIns="0" bIns="0" rtlCol="0" anchor="ctr"/>
          <a:lstStyle/>
          <a:p>
            <a:pPr indent="0" marL="0">
              <a:buNone/>
            </a:pPr>
            <a:r>
              <a:rPr lang="en-US" sz="1050" b="1" dirty="0">
                <a:solidFill>
                  <a:srgbClr val="EFEBE3"/>
                </a:solidFill>
                <a:latin typeface="Yu Gothic" pitchFamily="34" charset="0"/>
                <a:ea typeface="Yu Gothic" pitchFamily="34" charset="-122"/>
                <a:cs typeface="Yu Gothic" pitchFamily="34" charset="-120"/>
              </a:rPr>
              <a:t>単位粗利</a:t>
            </a:r>
            <a:endParaRPr lang="en-US" sz="1050" dirty="0"/>
          </a:p>
        </p:txBody>
      </p:sp>
      <p:sp>
        <p:nvSpPr>
          <p:cNvPr id="45" name="Text 43"/>
          <p:cNvSpPr/>
          <p:nvPr/>
        </p:nvSpPr>
        <p:spPr>
          <a:xfrm>
            <a:off x="4133088" y="5413248"/>
            <a:ext cx="4572000" cy="237744"/>
          </a:xfrm>
          <a:prstGeom prst="rect">
            <a:avLst/>
          </a:prstGeom>
          <a:noFill/>
          <a:ln/>
        </p:spPr>
        <p:txBody>
          <a:bodyPr wrap="square" lIns="0" tIns="0" rIns="0" bIns="0" rtlCol="0" anchor="ctr"/>
          <a:lstStyle/>
          <a:p>
            <a:pPr indent="0" marL="0">
              <a:buNone/>
            </a:pPr>
            <a:r>
              <a:rPr lang="en-US" sz="1050" dirty="0">
                <a:solidFill>
                  <a:srgbClr val="9A938A"/>
                </a:solidFill>
                <a:latin typeface="Yu Gothic" pitchFamily="34" charset="0"/>
                <a:ea typeface="Yu Gothic" pitchFamily="34" charset="-122"/>
                <a:cs typeface="Yu Gothic" pitchFamily="34" charset="-120"/>
              </a:rPr>
              <a:t>手取り74.38 − SPC取得原価50.50</a:t>
            </a:r>
            <a:endParaRPr lang="en-US" sz="1050" dirty="0"/>
          </a:p>
        </p:txBody>
      </p:sp>
      <p:sp>
        <p:nvSpPr>
          <p:cNvPr id="46" name="Text 44"/>
          <p:cNvSpPr/>
          <p:nvPr/>
        </p:nvSpPr>
        <p:spPr>
          <a:xfrm>
            <a:off x="8796528" y="5413248"/>
            <a:ext cx="2462479" cy="237744"/>
          </a:xfrm>
          <a:prstGeom prst="rect">
            <a:avLst/>
          </a:prstGeom>
          <a:noFill/>
          <a:ln/>
        </p:spPr>
        <p:txBody>
          <a:bodyPr wrap="square" lIns="0" tIns="0" rIns="0" bIns="0" rtlCol="0" anchor="ctr"/>
          <a:lstStyle/>
          <a:p>
            <a:pPr algn="r" indent="0" marL="0">
              <a:buNone/>
            </a:pPr>
            <a:r>
              <a:rPr lang="en-US" sz="1050" b="1" dirty="0">
                <a:solidFill>
                  <a:srgbClr val="C9A96E"/>
                </a:solidFill>
                <a:latin typeface="Yu Gothic" pitchFamily="34" charset="0"/>
                <a:ea typeface="Yu Gothic" pitchFamily="34" charset="-122"/>
                <a:cs typeface="Yu Gothic" pitchFamily="34" charset="-120"/>
              </a:rPr>
              <a:t>粗利 23.88（粗利率 30.0%）</a:t>
            </a:r>
            <a:endParaRPr lang="en-US" sz="1050" dirty="0"/>
          </a:p>
        </p:txBody>
      </p:sp>
      <p:sp>
        <p:nvSpPr>
          <p:cNvPr id="47" name="Text 45"/>
          <p:cNvSpPr/>
          <p:nvPr/>
        </p:nvSpPr>
        <p:spPr>
          <a:xfrm>
            <a:off x="658368" y="5724144"/>
            <a:ext cx="10874959" cy="256032"/>
          </a:xfrm>
          <a:prstGeom prst="rect">
            <a:avLst/>
          </a:prstGeom>
          <a:noFill/>
          <a:ln/>
        </p:spPr>
        <p:txBody>
          <a:bodyPr wrap="square" lIns="0" tIns="0" rIns="0" bIns="0" rtlCol="0" anchor="ctr"/>
          <a:lstStyle/>
          <a:p>
            <a:pPr indent="0" marL="0">
              <a:buNone/>
            </a:pPr>
            <a:r>
              <a:rPr lang="en-US" sz="900" dirty="0">
                <a:solidFill>
                  <a:srgbClr val="6E675E"/>
                </a:solidFill>
                <a:latin typeface="Yu Gothic" pitchFamily="34" charset="0"/>
                <a:ea typeface="Yu Gothic" pitchFamily="34" charset="-122"/>
                <a:cs typeface="Yu Gothic" pitchFamily="34" charset="-120"/>
              </a:rPr>
              <a:t>価格の上昇は流通段階全体（希望小売・ネット最安・卸値）が連動するため、取得原価は据え置きのまま売値だけが上がる。上昇率は会社資料のFine Wine年率10%に対し、保守的に6%を主線とする。</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C0C0C"/>
        </a:solidFill>
      </p:bgPr>
    </p:bg>
    <p:spTree>
      <p:nvGrpSpPr>
        <p:cNvPr id="1" name=""/>
        <p:cNvGrpSpPr/>
        <p:nvPr/>
      </p:nvGrpSpPr>
      <p:grpSpPr>
        <a:xfrm>
          <a:off x="0" y="0"/>
          <a:ext cx="0" cy="0"/>
          <a:chOff x="0" y="0"/>
          <a:chExt cx="0" cy="0"/>
        </a:xfrm>
      </p:grpSpPr>
      <p:sp>
        <p:nvSpPr>
          <p:cNvPr id="2" name="Text 0"/>
          <p:cNvSpPr/>
          <p:nvPr/>
        </p:nvSpPr>
        <p:spPr>
          <a:xfrm>
            <a:off x="658368" y="384048"/>
            <a:ext cx="10874959" cy="219456"/>
          </a:xfrm>
          <a:prstGeom prst="rect">
            <a:avLst/>
          </a:prstGeom>
          <a:noFill/>
          <a:ln/>
        </p:spPr>
        <p:txBody>
          <a:bodyPr wrap="square" lIns="0" tIns="0" rIns="0" bIns="0" rtlCol="0" anchor="ctr"/>
          <a:lstStyle/>
          <a:p>
            <a:pPr indent="0" marL="0">
              <a:buNone/>
            </a:pPr>
            <a:r>
              <a:rPr lang="en-US" sz="1050" b="1" spc="340" kern="0" dirty="0">
                <a:solidFill>
                  <a:srgbClr val="A78450"/>
                </a:solidFill>
                <a:latin typeface="Cambria" pitchFamily="34" charset="0"/>
                <a:ea typeface="Cambria" pitchFamily="34" charset="-122"/>
                <a:cs typeface="Cambria" pitchFamily="34" charset="-120"/>
              </a:rPr>
              <a:t>CHANNEL ECONOMICS</a:t>
            </a:r>
            <a:endParaRPr lang="en-US" sz="1050" dirty="0"/>
          </a:p>
        </p:txBody>
      </p:sp>
      <p:sp>
        <p:nvSpPr>
          <p:cNvPr id="3" name="Text 1"/>
          <p:cNvSpPr/>
          <p:nvPr/>
        </p:nvSpPr>
        <p:spPr>
          <a:xfrm>
            <a:off x="658368" y="640080"/>
            <a:ext cx="10874959" cy="548640"/>
          </a:xfrm>
          <a:prstGeom prst="rect">
            <a:avLst/>
          </a:prstGeom>
          <a:noFill/>
          <a:ln/>
        </p:spPr>
        <p:txBody>
          <a:bodyPr wrap="square" lIns="0" tIns="0" rIns="0" bIns="0" rtlCol="0" anchor="ctr"/>
          <a:lstStyle/>
          <a:p>
            <a:pPr indent="0" marL="0">
              <a:buNone/>
            </a:pPr>
            <a:r>
              <a:rPr lang="en-US" sz="2700" b="1" dirty="0">
                <a:solidFill>
                  <a:srgbClr val="EFEBE3"/>
                </a:solidFill>
                <a:latin typeface="Yu Mincho" pitchFamily="34" charset="0"/>
                <a:ea typeface="Yu Mincho" pitchFamily="34" charset="-122"/>
                <a:cs typeface="Yu Mincho" pitchFamily="34" charset="-120"/>
              </a:rPr>
              <a:t>販売チャネル別の手取り：B2B卸とB2Cネット販売</a:t>
            </a:r>
            <a:endParaRPr lang="en-US" sz="2700" dirty="0"/>
          </a:p>
        </p:txBody>
      </p:sp>
      <p:sp>
        <p:nvSpPr>
          <p:cNvPr id="4" name="Text 2"/>
          <p:cNvSpPr/>
          <p:nvPr/>
        </p:nvSpPr>
        <p:spPr>
          <a:xfrm>
            <a:off x="658368" y="1216152"/>
            <a:ext cx="10874959" cy="310896"/>
          </a:xfrm>
          <a:prstGeom prst="rect">
            <a:avLst/>
          </a:prstGeom>
          <a:noFill/>
          <a:ln/>
        </p:spPr>
        <p:txBody>
          <a:bodyPr wrap="square" lIns="0" tIns="0" rIns="0" bIns="0" rtlCol="0" anchor="ctr"/>
          <a:lstStyle/>
          <a:p>
            <a:pPr indent="0" marL="0">
              <a:buNone/>
            </a:pPr>
            <a:r>
              <a:rPr lang="en-US" sz="1150" dirty="0">
                <a:solidFill>
                  <a:srgbClr val="9A938A"/>
                </a:solidFill>
                <a:latin typeface="Yu Gothic" pitchFamily="34" charset="0"/>
                <a:ea typeface="Yu Gothic" pitchFamily="34" charset="-122"/>
                <a:cs typeface="Yu Gothic" pitchFamily="34" charset="-120"/>
              </a:rPr>
              <a:t>売値だけでは判断できない。手数料構造が全く異なるため、手取りベースで比較する。</a:t>
            </a:r>
            <a:endParaRPr lang="en-US" sz="1150" dirty="0"/>
          </a:p>
        </p:txBody>
      </p:sp>
      <p:sp>
        <p:nvSpPr>
          <p:cNvPr id="5" name="Text 3"/>
          <p:cNvSpPr/>
          <p:nvPr/>
        </p:nvSpPr>
        <p:spPr>
          <a:xfrm>
            <a:off x="658368" y="6437376"/>
            <a:ext cx="5029200" cy="219456"/>
          </a:xfrm>
          <a:prstGeom prst="rect">
            <a:avLst/>
          </a:prstGeom>
          <a:noFill/>
          <a:ln/>
        </p:spPr>
        <p:txBody>
          <a:bodyPr wrap="square" lIns="0" tIns="0" rIns="0" bIns="0" rtlCol="0" anchor="ctr"/>
          <a:lstStyle/>
          <a:p>
            <a:pPr indent="0" marL="0">
              <a:buNone/>
            </a:pPr>
            <a:r>
              <a:rPr lang="en-US" sz="850" dirty="0">
                <a:solidFill>
                  <a:srgbClr val="6E675E"/>
                </a:solidFill>
                <a:latin typeface="Yu Gothic" pitchFamily="34" charset="0"/>
                <a:ea typeface="Yu Gothic" pitchFamily="34" charset="-122"/>
                <a:cs typeface="Yu Gothic" pitchFamily="34" charset="-120"/>
              </a:rPr>
              <a:t>CONFIDENTIAL ｜ 株式会社WineBank</a:t>
            </a:r>
            <a:endParaRPr lang="en-US" sz="850" dirty="0"/>
          </a:p>
        </p:txBody>
      </p:sp>
      <p:sp>
        <p:nvSpPr>
          <p:cNvPr id="6" name="Text 4"/>
          <p:cNvSpPr/>
          <p:nvPr/>
        </p:nvSpPr>
        <p:spPr>
          <a:xfrm>
            <a:off x="10618927" y="6437376"/>
            <a:ext cx="914400" cy="219456"/>
          </a:xfrm>
          <a:prstGeom prst="rect">
            <a:avLst/>
          </a:prstGeom>
          <a:noFill/>
          <a:ln/>
        </p:spPr>
        <p:txBody>
          <a:bodyPr wrap="square" lIns="0" tIns="0" rIns="0" bIns="0" rtlCol="0" anchor="ctr"/>
          <a:lstStyle/>
          <a:p>
            <a:pPr algn="r" indent="0" marL="0">
              <a:buNone/>
            </a:pPr>
            <a:r>
              <a:rPr lang="en-US" sz="950" spc="150" kern="0" dirty="0">
                <a:solidFill>
                  <a:srgbClr val="6E5730"/>
                </a:solidFill>
                <a:latin typeface="Cambria" pitchFamily="34" charset="0"/>
                <a:ea typeface="Cambria" pitchFamily="34" charset="-122"/>
                <a:cs typeface="Cambria" pitchFamily="34" charset="-120"/>
              </a:rPr>
              <a:t>07</a:t>
            </a:r>
            <a:endParaRPr lang="en-US" sz="950" dirty="0"/>
          </a:p>
        </p:txBody>
      </p:sp>
      <p:sp>
        <p:nvSpPr>
          <p:cNvPr id="7" name="Shape 5"/>
          <p:cNvSpPr/>
          <p:nvPr/>
        </p:nvSpPr>
        <p:spPr>
          <a:xfrm>
            <a:off x="658368" y="1645920"/>
            <a:ext cx="5282032" cy="2962656"/>
          </a:xfrm>
          <a:prstGeom prst="roundRect">
            <a:avLst>
              <a:gd name="adj" fmla="val 1389"/>
            </a:avLst>
          </a:prstGeom>
          <a:solidFill>
            <a:srgbClr val="171614"/>
          </a:solidFill>
          <a:ln w="9525">
            <a:solidFill>
              <a:srgbClr val="2E2A24"/>
            </a:solidFill>
            <a:prstDash val="solid"/>
          </a:ln>
        </p:spPr>
      </p:sp>
      <p:sp>
        <p:nvSpPr>
          <p:cNvPr id="8" name="Text 6"/>
          <p:cNvSpPr/>
          <p:nvPr/>
        </p:nvSpPr>
        <p:spPr>
          <a:xfrm>
            <a:off x="914400" y="1810512"/>
            <a:ext cx="3544672" cy="274320"/>
          </a:xfrm>
          <a:prstGeom prst="rect">
            <a:avLst/>
          </a:prstGeom>
          <a:noFill/>
          <a:ln/>
        </p:spPr>
        <p:txBody>
          <a:bodyPr wrap="square" lIns="0" tIns="0" rIns="0" bIns="0" rtlCol="0" anchor="ctr"/>
          <a:lstStyle/>
          <a:p>
            <a:pPr indent="0" marL="0">
              <a:buNone/>
            </a:pPr>
            <a:r>
              <a:rPr lang="en-US" sz="1300" b="1" dirty="0">
                <a:solidFill>
                  <a:srgbClr val="EFEBE3"/>
                </a:solidFill>
                <a:latin typeface="Yu Gothic" pitchFamily="34" charset="0"/>
                <a:ea typeface="Yu Gothic" pitchFamily="34" charset="-122"/>
                <a:cs typeface="Yu Gothic" pitchFamily="34" charset="-120"/>
              </a:rPr>
              <a:t>B2B｜酒販店卸</a:t>
            </a:r>
            <a:endParaRPr lang="en-US" sz="1300" dirty="0"/>
          </a:p>
        </p:txBody>
      </p:sp>
      <p:sp>
        <p:nvSpPr>
          <p:cNvPr id="9" name="Text 7"/>
          <p:cNvSpPr/>
          <p:nvPr/>
        </p:nvSpPr>
        <p:spPr>
          <a:xfrm>
            <a:off x="4203040" y="1792224"/>
            <a:ext cx="1481328" cy="310896"/>
          </a:xfrm>
          <a:prstGeom prst="rect">
            <a:avLst/>
          </a:prstGeom>
          <a:noFill/>
          <a:ln/>
        </p:spPr>
        <p:txBody>
          <a:bodyPr wrap="square" lIns="0" tIns="0" rIns="0" bIns="0" rtlCol="0" anchor="ctr"/>
          <a:lstStyle/>
          <a:p>
            <a:pPr algn="r" indent="0" marL="0">
              <a:buNone/>
            </a:pPr>
            <a:r>
              <a:rPr lang="en-US" sz="1000" dirty="0">
                <a:solidFill>
                  <a:srgbClr val="9A938A"/>
                </a:solidFill>
                <a:latin typeface="Yu Gothic" pitchFamily="34" charset="0"/>
                <a:ea typeface="Yu Gothic" pitchFamily="34" charset="-122"/>
                <a:cs typeface="Yu Gothic" pitchFamily="34" charset="-120"/>
              </a:rPr>
              <a:t>売値 </a:t>
            </a:r>
            <a:pPr algn="r" indent="0" marL="0">
              <a:buNone/>
            </a:pPr>
            <a:r>
              <a:rPr lang="en-US" sz="2000" b="1" dirty="0">
                <a:solidFill>
                  <a:srgbClr val="EFEBE3"/>
                </a:solidFill>
                <a:latin typeface="Cambria" pitchFamily="34" charset="0"/>
                <a:ea typeface="Cambria" pitchFamily="34" charset="-122"/>
                <a:cs typeface="Cambria" pitchFamily="34" charset="-120"/>
              </a:rPr>
              <a:t>70.00</a:t>
            </a:r>
            <a:endParaRPr lang="en-US" sz="1000" dirty="0"/>
          </a:p>
        </p:txBody>
      </p:sp>
      <p:sp>
        <p:nvSpPr>
          <p:cNvPr id="10" name="Text 8"/>
          <p:cNvSpPr/>
          <p:nvPr/>
        </p:nvSpPr>
        <p:spPr>
          <a:xfrm>
            <a:off x="914400" y="2231136"/>
            <a:ext cx="4093312" cy="201168"/>
          </a:xfrm>
          <a:prstGeom prst="rect">
            <a:avLst/>
          </a:prstGeom>
          <a:noFill/>
          <a:ln/>
        </p:spPr>
        <p:txBody>
          <a:bodyPr wrap="square" lIns="0" tIns="0" rIns="0" bIns="0" rtlCol="0" anchor="ctr"/>
          <a:lstStyle/>
          <a:p>
            <a:pPr indent="0" marL="0">
              <a:buNone/>
            </a:pPr>
            <a:r>
              <a:rPr lang="en-US" sz="1000" b="1" dirty="0">
                <a:solidFill>
                  <a:srgbClr val="EFEBE3"/>
                </a:solidFill>
                <a:latin typeface="Yu Gothic" pitchFamily="34" charset="0"/>
                <a:ea typeface="Yu Gothic" pitchFamily="34" charset="-122"/>
                <a:cs typeface="Yu Gothic" pitchFamily="34" charset="-120"/>
              </a:rPr>
              <a:t>出庫・配送</a:t>
            </a:r>
            <a:endParaRPr lang="en-US" sz="1000" dirty="0"/>
          </a:p>
        </p:txBody>
      </p:sp>
      <p:sp>
        <p:nvSpPr>
          <p:cNvPr id="11" name="Text 9"/>
          <p:cNvSpPr/>
          <p:nvPr/>
        </p:nvSpPr>
        <p:spPr>
          <a:xfrm>
            <a:off x="5007712" y="2231136"/>
            <a:ext cx="676656" cy="201168"/>
          </a:xfrm>
          <a:prstGeom prst="rect">
            <a:avLst/>
          </a:prstGeom>
          <a:noFill/>
          <a:ln/>
        </p:spPr>
        <p:txBody>
          <a:bodyPr wrap="square" lIns="0" tIns="0" rIns="0" bIns="0" rtlCol="0" anchor="ctr"/>
          <a:lstStyle/>
          <a:p>
            <a:pPr algn="r" indent="0" marL="0">
              <a:buNone/>
            </a:pPr>
            <a:r>
              <a:rPr lang="en-US" sz="1100" b="1" dirty="0">
                <a:solidFill>
                  <a:srgbClr val="C9A96E"/>
                </a:solidFill>
                <a:latin typeface="Cambria" pitchFamily="34" charset="0"/>
                <a:ea typeface="Cambria" pitchFamily="34" charset="-122"/>
                <a:cs typeface="Cambria" pitchFamily="34" charset="-120"/>
              </a:rPr>
              <a:t>0.6%</a:t>
            </a:r>
            <a:endParaRPr lang="en-US" sz="1100" dirty="0"/>
          </a:p>
        </p:txBody>
      </p:sp>
      <p:sp>
        <p:nvSpPr>
          <p:cNvPr id="12" name="Text 10"/>
          <p:cNvSpPr/>
          <p:nvPr/>
        </p:nvSpPr>
        <p:spPr>
          <a:xfrm>
            <a:off x="914400" y="2423160"/>
            <a:ext cx="4769968" cy="292608"/>
          </a:xfrm>
          <a:prstGeom prst="rect">
            <a:avLst/>
          </a:prstGeom>
          <a:noFill/>
          <a:ln/>
        </p:spPr>
        <p:txBody>
          <a:bodyPr wrap="square" lIns="0" tIns="0" rIns="0" bIns="0" rtlCol="0" anchor="ctr"/>
          <a:lstStyle/>
          <a:p>
            <a:pPr indent="0" marL="0">
              <a:lnSpc>
                <a:spcPct val="115000"/>
              </a:lnSpc>
              <a:buNone/>
            </a:pPr>
            <a:r>
              <a:rPr lang="en-US" sz="850" dirty="0">
                <a:solidFill>
                  <a:srgbClr val="9A938A"/>
                </a:solidFill>
                <a:latin typeface="Yu Gothic" pitchFamily="34" charset="0"/>
                <a:ea typeface="Yu Gothic" pitchFamily="34" charset="-122"/>
                <a:cs typeface="Yu Gothic" pitchFamily="34" charset="-120"/>
              </a:rPr>
              <a:t>ケース／パレット単位出荷。1回あたりの出荷単位が大きい</a:t>
            </a:r>
            <a:endParaRPr lang="en-US" sz="850" dirty="0"/>
          </a:p>
        </p:txBody>
      </p:sp>
      <p:sp>
        <p:nvSpPr>
          <p:cNvPr id="13" name="Text 11"/>
          <p:cNvSpPr/>
          <p:nvPr/>
        </p:nvSpPr>
        <p:spPr>
          <a:xfrm>
            <a:off x="914400" y="2761488"/>
            <a:ext cx="4093312" cy="201168"/>
          </a:xfrm>
          <a:prstGeom prst="rect">
            <a:avLst/>
          </a:prstGeom>
          <a:noFill/>
          <a:ln/>
        </p:spPr>
        <p:txBody>
          <a:bodyPr wrap="square" lIns="0" tIns="0" rIns="0" bIns="0" rtlCol="0" anchor="ctr"/>
          <a:lstStyle/>
          <a:p>
            <a:pPr indent="0" marL="0">
              <a:buNone/>
            </a:pPr>
            <a:r>
              <a:rPr lang="en-US" sz="1000" b="1" dirty="0">
                <a:solidFill>
                  <a:srgbClr val="EFEBE3"/>
                </a:solidFill>
                <a:latin typeface="Yu Gothic" pitchFamily="34" charset="0"/>
                <a:ea typeface="Yu Gothic" pitchFamily="34" charset="-122"/>
                <a:cs typeface="Yu Gothic" pitchFamily="34" charset="-120"/>
              </a:rPr>
              <a:t>決済・与信</a:t>
            </a:r>
            <a:endParaRPr lang="en-US" sz="1000" dirty="0"/>
          </a:p>
        </p:txBody>
      </p:sp>
      <p:sp>
        <p:nvSpPr>
          <p:cNvPr id="14" name="Text 12"/>
          <p:cNvSpPr/>
          <p:nvPr/>
        </p:nvSpPr>
        <p:spPr>
          <a:xfrm>
            <a:off x="5007712" y="2761488"/>
            <a:ext cx="676656" cy="201168"/>
          </a:xfrm>
          <a:prstGeom prst="rect">
            <a:avLst/>
          </a:prstGeom>
          <a:noFill/>
          <a:ln/>
        </p:spPr>
        <p:txBody>
          <a:bodyPr wrap="square" lIns="0" tIns="0" rIns="0" bIns="0" rtlCol="0" anchor="ctr"/>
          <a:lstStyle/>
          <a:p>
            <a:pPr algn="r" indent="0" marL="0">
              <a:buNone/>
            </a:pPr>
            <a:r>
              <a:rPr lang="en-US" sz="1100" b="1" dirty="0">
                <a:solidFill>
                  <a:srgbClr val="C9A96E"/>
                </a:solidFill>
                <a:latin typeface="Cambria" pitchFamily="34" charset="0"/>
                <a:ea typeface="Cambria" pitchFamily="34" charset="-122"/>
                <a:cs typeface="Cambria" pitchFamily="34" charset="-120"/>
              </a:rPr>
              <a:t>0.4%</a:t>
            </a:r>
            <a:endParaRPr lang="en-US" sz="1100" dirty="0"/>
          </a:p>
        </p:txBody>
      </p:sp>
      <p:sp>
        <p:nvSpPr>
          <p:cNvPr id="15" name="Text 13"/>
          <p:cNvSpPr/>
          <p:nvPr/>
        </p:nvSpPr>
        <p:spPr>
          <a:xfrm>
            <a:off x="914400" y="2953512"/>
            <a:ext cx="4769968" cy="292608"/>
          </a:xfrm>
          <a:prstGeom prst="rect">
            <a:avLst/>
          </a:prstGeom>
          <a:noFill/>
          <a:ln/>
        </p:spPr>
        <p:txBody>
          <a:bodyPr wrap="square" lIns="0" tIns="0" rIns="0" bIns="0" rtlCol="0" anchor="ctr"/>
          <a:lstStyle/>
          <a:p>
            <a:pPr indent="0" marL="0">
              <a:lnSpc>
                <a:spcPct val="115000"/>
              </a:lnSpc>
              <a:buNone/>
            </a:pPr>
            <a:r>
              <a:rPr lang="en-US" sz="850" dirty="0">
                <a:solidFill>
                  <a:srgbClr val="9A938A"/>
                </a:solidFill>
                <a:latin typeface="Yu Gothic" pitchFamily="34" charset="0"/>
                <a:ea typeface="Yu Gothic" pitchFamily="34" charset="-122"/>
                <a:cs typeface="Yu Gothic" pitchFamily="34" charset="-120"/>
              </a:rPr>
              <a:t>掛売のため決済手数料なし。回収コストと貸倒引当</a:t>
            </a:r>
            <a:endParaRPr lang="en-US" sz="850" dirty="0"/>
          </a:p>
        </p:txBody>
      </p:sp>
      <p:sp>
        <p:nvSpPr>
          <p:cNvPr id="16" name="Text 14"/>
          <p:cNvSpPr/>
          <p:nvPr/>
        </p:nvSpPr>
        <p:spPr>
          <a:xfrm>
            <a:off x="914400" y="3913632"/>
            <a:ext cx="2377440" cy="219456"/>
          </a:xfrm>
          <a:prstGeom prst="rect">
            <a:avLst/>
          </a:prstGeom>
          <a:noFill/>
          <a:ln/>
        </p:spPr>
        <p:txBody>
          <a:bodyPr wrap="square" lIns="0" tIns="0" rIns="0" bIns="0" rtlCol="0" anchor="ctr"/>
          <a:lstStyle/>
          <a:p>
            <a:pPr indent="0" marL="0">
              <a:buNone/>
            </a:pPr>
            <a:r>
              <a:rPr lang="en-US" sz="1000" dirty="0">
                <a:solidFill>
                  <a:srgbClr val="9A938A"/>
                </a:solidFill>
                <a:latin typeface="Yu Gothic" pitchFamily="34" charset="0"/>
                <a:ea typeface="Yu Gothic" pitchFamily="34" charset="-122"/>
                <a:cs typeface="Yu Gothic" pitchFamily="34" charset="-120"/>
              </a:rPr>
              <a:t>変動販売費 合計</a:t>
            </a:r>
            <a:endParaRPr lang="en-US" sz="1000" dirty="0"/>
          </a:p>
        </p:txBody>
      </p:sp>
      <p:sp>
        <p:nvSpPr>
          <p:cNvPr id="17" name="Text 15"/>
          <p:cNvSpPr/>
          <p:nvPr/>
        </p:nvSpPr>
        <p:spPr>
          <a:xfrm>
            <a:off x="3928720" y="3913632"/>
            <a:ext cx="1755648" cy="219456"/>
          </a:xfrm>
          <a:prstGeom prst="rect">
            <a:avLst/>
          </a:prstGeom>
          <a:noFill/>
          <a:ln/>
        </p:spPr>
        <p:txBody>
          <a:bodyPr wrap="square" lIns="0" tIns="0" rIns="0" bIns="0" rtlCol="0" anchor="ctr"/>
          <a:lstStyle/>
          <a:p>
            <a:pPr algn="r" indent="0" marL="0">
              <a:buNone/>
            </a:pPr>
            <a:r>
              <a:rPr lang="en-US" sz="1050" b="1" dirty="0">
                <a:solidFill>
                  <a:srgbClr val="B4553F"/>
                </a:solidFill>
                <a:latin typeface="Yu Gothic" pitchFamily="34" charset="0"/>
                <a:ea typeface="Yu Gothic" pitchFamily="34" charset="-122"/>
                <a:cs typeface="Yu Gothic" pitchFamily="34" charset="-120"/>
              </a:rPr>
              <a:t>1.0%（▲0.70）</a:t>
            </a:r>
            <a:endParaRPr lang="en-US" sz="1050" dirty="0"/>
          </a:p>
        </p:txBody>
      </p:sp>
      <p:sp>
        <p:nvSpPr>
          <p:cNvPr id="18" name="Text 16"/>
          <p:cNvSpPr/>
          <p:nvPr/>
        </p:nvSpPr>
        <p:spPr>
          <a:xfrm>
            <a:off x="914400" y="4187952"/>
            <a:ext cx="2011680" cy="347472"/>
          </a:xfrm>
          <a:prstGeom prst="rect">
            <a:avLst/>
          </a:prstGeom>
          <a:noFill/>
          <a:ln/>
        </p:spPr>
        <p:txBody>
          <a:bodyPr wrap="square" lIns="0" tIns="0" rIns="0" bIns="0" rtlCol="0" anchor="ctr"/>
          <a:lstStyle/>
          <a:p>
            <a:pPr indent="0" marL="0">
              <a:buNone/>
            </a:pPr>
            <a:r>
              <a:rPr lang="en-US" sz="1100" b="1" dirty="0">
                <a:solidFill>
                  <a:srgbClr val="EFEBE3"/>
                </a:solidFill>
                <a:latin typeface="Yu Gothic" pitchFamily="34" charset="0"/>
                <a:ea typeface="Yu Gothic" pitchFamily="34" charset="-122"/>
                <a:cs typeface="Yu Gothic" pitchFamily="34" charset="-120"/>
              </a:rPr>
              <a:t>手取り</a:t>
            </a:r>
            <a:endParaRPr lang="en-US" sz="1100" dirty="0"/>
          </a:p>
        </p:txBody>
      </p:sp>
      <p:sp>
        <p:nvSpPr>
          <p:cNvPr id="19" name="Text 17"/>
          <p:cNvSpPr/>
          <p:nvPr/>
        </p:nvSpPr>
        <p:spPr>
          <a:xfrm>
            <a:off x="3928720" y="4169664"/>
            <a:ext cx="1755648" cy="384048"/>
          </a:xfrm>
          <a:prstGeom prst="rect">
            <a:avLst/>
          </a:prstGeom>
          <a:noFill/>
          <a:ln/>
        </p:spPr>
        <p:txBody>
          <a:bodyPr wrap="square" lIns="0" tIns="0" rIns="0" bIns="0" rtlCol="0" anchor="ctr"/>
          <a:lstStyle/>
          <a:p>
            <a:pPr algn="r" indent="0" marL="0">
              <a:buNone/>
            </a:pPr>
            <a:r>
              <a:rPr lang="en-US" sz="2500" b="1" dirty="0">
                <a:solidFill>
                  <a:srgbClr val="C9A96E"/>
                </a:solidFill>
                <a:latin typeface="Cambria" pitchFamily="34" charset="0"/>
                <a:ea typeface="Cambria" pitchFamily="34" charset="-122"/>
                <a:cs typeface="Cambria" pitchFamily="34" charset="-120"/>
              </a:rPr>
              <a:t>69.30</a:t>
            </a:r>
            <a:endParaRPr lang="en-US" sz="2500" dirty="0"/>
          </a:p>
        </p:txBody>
      </p:sp>
      <p:sp>
        <p:nvSpPr>
          <p:cNvPr id="20" name="Shape 18"/>
          <p:cNvSpPr/>
          <p:nvPr/>
        </p:nvSpPr>
        <p:spPr>
          <a:xfrm>
            <a:off x="6251296" y="1645920"/>
            <a:ext cx="5282032" cy="2962656"/>
          </a:xfrm>
          <a:prstGeom prst="roundRect">
            <a:avLst>
              <a:gd name="adj" fmla="val 1389"/>
            </a:avLst>
          </a:prstGeom>
          <a:solidFill>
            <a:srgbClr val="1F1D19"/>
          </a:solidFill>
          <a:ln w="9525">
            <a:solidFill>
              <a:srgbClr val="6E5730"/>
            </a:solidFill>
            <a:prstDash val="solid"/>
          </a:ln>
        </p:spPr>
      </p:sp>
      <p:sp>
        <p:nvSpPr>
          <p:cNvPr id="21" name="Text 19"/>
          <p:cNvSpPr/>
          <p:nvPr/>
        </p:nvSpPr>
        <p:spPr>
          <a:xfrm>
            <a:off x="6507328" y="1810512"/>
            <a:ext cx="3544672" cy="274320"/>
          </a:xfrm>
          <a:prstGeom prst="rect">
            <a:avLst/>
          </a:prstGeom>
          <a:noFill/>
          <a:ln/>
        </p:spPr>
        <p:txBody>
          <a:bodyPr wrap="square" lIns="0" tIns="0" rIns="0" bIns="0" rtlCol="0" anchor="ctr"/>
          <a:lstStyle/>
          <a:p>
            <a:pPr indent="0" marL="0">
              <a:buNone/>
            </a:pPr>
            <a:r>
              <a:rPr lang="en-US" sz="1300" b="1" dirty="0">
                <a:solidFill>
                  <a:srgbClr val="C9A96E"/>
                </a:solidFill>
                <a:latin typeface="Yu Gothic" pitchFamily="34" charset="0"/>
                <a:ea typeface="Yu Gothic" pitchFamily="34" charset="-122"/>
                <a:cs typeface="Yu Gothic" pitchFamily="34" charset="-120"/>
              </a:rPr>
              <a:t>B2C｜自社EC・オークション</a:t>
            </a:r>
            <a:endParaRPr lang="en-US" sz="1300" dirty="0"/>
          </a:p>
        </p:txBody>
      </p:sp>
      <p:sp>
        <p:nvSpPr>
          <p:cNvPr id="22" name="Text 20"/>
          <p:cNvSpPr/>
          <p:nvPr/>
        </p:nvSpPr>
        <p:spPr>
          <a:xfrm>
            <a:off x="9795967" y="1792224"/>
            <a:ext cx="1481328" cy="310896"/>
          </a:xfrm>
          <a:prstGeom prst="rect">
            <a:avLst/>
          </a:prstGeom>
          <a:noFill/>
          <a:ln/>
        </p:spPr>
        <p:txBody>
          <a:bodyPr wrap="square" lIns="0" tIns="0" rIns="0" bIns="0" rtlCol="0" anchor="ctr"/>
          <a:lstStyle/>
          <a:p>
            <a:pPr algn="r" indent="0" marL="0">
              <a:buNone/>
            </a:pPr>
            <a:r>
              <a:rPr lang="en-US" sz="1000" dirty="0">
                <a:solidFill>
                  <a:srgbClr val="9A938A"/>
                </a:solidFill>
                <a:latin typeface="Yu Gothic" pitchFamily="34" charset="0"/>
                <a:ea typeface="Yu Gothic" pitchFamily="34" charset="-122"/>
                <a:cs typeface="Yu Gothic" pitchFamily="34" charset="-120"/>
              </a:rPr>
              <a:t>売値 </a:t>
            </a:r>
            <a:pPr algn="r" indent="0" marL="0">
              <a:buNone/>
            </a:pPr>
            <a:r>
              <a:rPr lang="en-US" sz="2000" b="1" dirty="0">
                <a:solidFill>
                  <a:srgbClr val="EFEBE3"/>
                </a:solidFill>
                <a:latin typeface="Cambria" pitchFamily="34" charset="0"/>
                <a:ea typeface="Cambria" pitchFamily="34" charset="-122"/>
                <a:cs typeface="Cambria" pitchFamily="34" charset="-120"/>
              </a:rPr>
              <a:t>80.00</a:t>
            </a:r>
            <a:endParaRPr lang="en-US" sz="1000" dirty="0"/>
          </a:p>
        </p:txBody>
      </p:sp>
      <p:sp>
        <p:nvSpPr>
          <p:cNvPr id="23" name="Text 21"/>
          <p:cNvSpPr/>
          <p:nvPr/>
        </p:nvSpPr>
        <p:spPr>
          <a:xfrm>
            <a:off x="6507328" y="2231136"/>
            <a:ext cx="4093312" cy="201168"/>
          </a:xfrm>
          <a:prstGeom prst="rect">
            <a:avLst/>
          </a:prstGeom>
          <a:noFill/>
          <a:ln/>
        </p:spPr>
        <p:txBody>
          <a:bodyPr wrap="square" lIns="0" tIns="0" rIns="0" bIns="0" rtlCol="0" anchor="ctr"/>
          <a:lstStyle/>
          <a:p>
            <a:pPr indent="0" marL="0">
              <a:buNone/>
            </a:pPr>
            <a:r>
              <a:rPr lang="en-US" sz="1000" b="1" dirty="0">
                <a:solidFill>
                  <a:srgbClr val="EFEBE3"/>
                </a:solidFill>
                <a:latin typeface="Yu Gothic" pitchFamily="34" charset="0"/>
                <a:ea typeface="Yu Gothic" pitchFamily="34" charset="-122"/>
                <a:cs typeface="Yu Gothic" pitchFamily="34" charset="-120"/>
              </a:rPr>
              <a:t>モール・出品手数料</a:t>
            </a:r>
            <a:endParaRPr lang="en-US" sz="1000" dirty="0"/>
          </a:p>
        </p:txBody>
      </p:sp>
      <p:sp>
        <p:nvSpPr>
          <p:cNvPr id="24" name="Text 22"/>
          <p:cNvSpPr/>
          <p:nvPr/>
        </p:nvSpPr>
        <p:spPr>
          <a:xfrm>
            <a:off x="10600639" y="2231136"/>
            <a:ext cx="676656" cy="201168"/>
          </a:xfrm>
          <a:prstGeom prst="rect">
            <a:avLst/>
          </a:prstGeom>
          <a:noFill/>
          <a:ln/>
        </p:spPr>
        <p:txBody>
          <a:bodyPr wrap="square" lIns="0" tIns="0" rIns="0" bIns="0" rtlCol="0" anchor="ctr"/>
          <a:lstStyle/>
          <a:p>
            <a:pPr algn="r" indent="0" marL="0">
              <a:buNone/>
            </a:pPr>
            <a:r>
              <a:rPr lang="en-US" sz="1100" b="1" dirty="0">
                <a:solidFill>
                  <a:srgbClr val="C9A96E"/>
                </a:solidFill>
                <a:latin typeface="Cambria" pitchFamily="34" charset="0"/>
                <a:ea typeface="Cambria" pitchFamily="34" charset="-122"/>
                <a:cs typeface="Cambria" pitchFamily="34" charset="-120"/>
              </a:rPr>
              <a:t>5.5%</a:t>
            </a:r>
            <a:endParaRPr lang="en-US" sz="1100" dirty="0"/>
          </a:p>
        </p:txBody>
      </p:sp>
      <p:sp>
        <p:nvSpPr>
          <p:cNvPr id="25" name="Text 23"/>
          <p:cNvSpPr/>
          <p:nvPr/>
        </p:nvSpPr>
        <p:spPr>
          <a:xfrm>
            <a:off x="6507328" y="2423160"/>
            <a:ext cx="4769968" cy="292608"/>
          </a:xfrm>
          <a:prstGeom prst="rect">
            <a:avLst/>
          </a:prstGeom>
          <a:noFill/>
          <a:ln/>
        </p:spPr>
        <p:txBody>
          <a:bodyPr wrap="square" lIns="0" tIns="0" rIns="0" bIns="0" rtlCol="0" anchor="ctr"/>
          <a:lstStyle/>
          <a:p>
            <a:pPr indent="0" marL="0">
              <a:lnSpc>
                <a:spcPct val="115000"/>
              </a:lnSpc>
              <a:buNone/>
            </a:pPr>
            <a:r>
              <a:rPr lang="en-US" sz="850" dirty="0">
                <a:solidFill>
                  <a:srgbClr val="9A938A"/>
                </a:solidFill>
                <a:latin typeface="Yu Gothic" pitchFamily="34" charset="0"/>
                <a:ea typeface="Yu Gothic" pitchFamily="34" charset="-122"/>
                <a:cs typeface="Yu Gothic" pitchFamily="34" charset="-120"/>
              </a:rPr>
              <a:t>楽天／Yahoo／寺田Wine Market（10〜12%）と自社EC・自社オークション（0〜3%）の加重平均</a:t>
            </a:r>
            <a:endParaRPr lang="en-US" sz="850" dirty="0"/>
          </a:p>
        </p:txBody>
      </p:sp>
      <p:sp>
        <p:nvSpPr>
          <p:cNvPr id="26" name="Text 24"/>
          <p:cNvSpPr/>
          <p:nvPr/>
        </p:nvSpPr>
        <p:spPr>
          <a:xfrm>
            <a:off x="6507328" y="2761488"/>
            <a:ext cx="4093312" cy="201168"/>
          </a:xfrm>
          <a:prstGeom prst="rect">
            <a:avLst/>
          </a:prstGeom>
          <a:noFill/>
          <a:ln/>
        </p:spPr>
        <p:txBody>
          <a:bodyPr wrap="square" lIns="0" tIns="0" rIns="0" bIns="0" rtlCol="0" anchor="ctr"/>
          <a:lstStyle/>
          <a:p>
            <a:pPr indent="0" marL="0">
              <a:buNone/>
            </a:pPr>
            <a:r>
              <a:rPr lang="en-US" sz="1000" b="1" dirty="0">
                <a:solidFill>
                  <a:srgbClr val="EFEBE3"/>
                </a:solidFill>
                <a:latin typeface="Yu Gothic" pitchFamily="34" charset="0"/>
                <a:ea typeface="Yu Gothic" pitchFamily="34" charset="-122"/>
                <a:cs typeface="Yu Gothic" pitchFamily="34" charset="-120"/>
              </a:rPr>
              <a:t>カード決済手数料</a:t>
            </a:r>
            <a:endParaRPr lang="en-US" sz="1000" dirty="0"/>
          </a:p>
        </p:txBody>
      </p:sp>
      <p:sp>
        <p:nvSpPr>
          <p:cNvPr id="27" name="Text 25"/>
          <p:cNvSpPr/>
          <p:nvPr/>
        </p:nvSpPr>
        <p:spPr>
          <a:xfrm>
            <a:off x="10600639" y="2761488"/>
            <a:ext cx="676656" cy="201168"/>
          </a:xfrm>
          <a:prstGeom prst="rect">
            <a:avLst/>
          </a:prstGeom>
          <a:noFill/>
          <a:ln/>
        </p:spPr>
        <p:txBody>
          <a:bodyPr wrap="square" lIns="0" tIns="0" rIns="0" bIns="0" rtlCol="0" anchor="ctr"/>
          <a:lstStyle/>
          <a:p>
            <a:pPr algn="r" indent="0" marL="0">
              <a:buNone/>
            </a:pPr>
            <a:r>
              <a:rPr lang="en-US" sz="1100" b="1" dirty="0">
                <a:solidFill>
                  <a:srgbClr val="C9A96E"/>
                </a:solidFill>
                <a:latin typeface="Cambria" pitchFamily="34" charset="0"/>
                <a:ea typeface="Cambria" pitchFamily="34" charset="-122"/>
                <a:cs typeface="Cambria" pitchFamily="34" charset="-120"/>
              </a:rPr>
              <a:t>3.2%</a:t>
            </a:r>
            <a:endParaRPr lang="en-US" sz="1100" dirty="0"/>
          </a:p>
        </p:txBody>
      </p:sp>
      <p:sp>
        <p:nvSpPr>
          <p:cNvPr id="28" name="Text 26"/>
          <p:cNvSpPr/>
          <p:nvPr/>
        </p:nvSpPr>
        <p:spPr>
          <a:xfrm>
            <a:off x="6507328" y="2953512"/>
            <a:ext cx="4769968" cy="292608"/>
          </a:xfrm>
          <a:prstGeom prst="rect">
            <a:avLst/>
          </a:prstGeom>
          <a:noFill/>
          <a:ln/>
        </p:spPr>
        <p:txBody>
          <a:bodyPr wrap="square" lIns="0" tIns="0" rIns="0" bIns="0" rtlCol="0" anchor="ctr"/>
          <a:lstStyle/>
          <a:p>
            <a:pPr indent="0" marL="0">
              <a:lnSpc>
                <a:spcPct val="115000"/>
              </a:lnSpc>
              <a:buNone/>
            </a:pPr>
            <a:r>
              <a:rPr lang="en-US" sz="850" dirty="0">
                <a:solidFill>
                  <a:srgbClr val="9A938A"/>
                </a:solidFill>
                <a:latin typeface="Yu Gothic" pitchFamily="34" charset="0"/>
                <a:ea typeface="Yu Gothic" pitchFamily="34" charset="-122"/>
                <a:cs typeface="Yu Gothic" pitchFamily="34" charset="-120"/>
              </a:rPr>
              <a:t>クレジットカード決済</a:t>
            </a:r>
            <a:endParaRPr lang="en-US" sz="850" dirty="0"/>
          </a:p>
        </p:txBody>
      </p:sp>
      <p:sp>
        <p:nvSpPr>
          <p:cNvPr id="29" name="Text 27"/>
          <p:cNvSpPr/>
          <p:nvPr/>
        </p:nvSpPr>
        <p:spPr>
          <a:xfrm>
            <a:off x="6507328" y="3291840"/>
            <a:ext cx="4093312" cy="201168"/>
          </a:xfrm>
          <a:prstGeom prst="rect">
            <a:avLst/>
          </a:prstGeom>
          <a:noFill/>
          <a:ln/>
        </p:spPr>
        <p:txBody>
          <a:bodyPr wrap="square" lIns="0" tIns="0" rIns="0" bIns="0" rtlCol="0" anchor="ctr"/>
          <a:lstStyle/>
          <a:p>
            <a:pPr indent="0" marL="0">
              <a:buNone/>
            </a:pPr>
            <a:r>
              <a:rPr lang="en-US" sz="1000" b="1" dirty="0">
                <a:solidFill>
                  <a:srgbClr val="EFEBE3"/>
                </a:solidFill>
                <a:latin typeface="Yu Gothic" pitchFamily="34" charset="0"/>
                <a:ea typeface="Yu Gothic" pitchFamily="34" charset="-122"/>
                <a:cs typeface="Yu Gothic" pitchFamily="34" charset="-120"/>
              </a:rPr>
              <a:t>出庫・梱包・クール便</a:t>
            </a:r>
            <a:endParaRPr lang="en-US" sz="1000" dirty="0"/>
          </a:p>
        </p:txBody>
      </p:sp>
      <p:sp>
        <p:nvSpPr>
          <p:cNvPr id="30" name="Text 28"/>
          <p:cNvSpPr/>
          <p:nvPr/>
        </p:nvSpPr>
        <p:spPr>
          <a:xfrm>
            <a:off x="10600639" y="3291840"/>
            <a:ext cx="676656" cy="201168"/>
          </a:xfrm>
          <a:prstGeom prst="rect">
            <a:avLst/>
          </a:prstGeom>
          <a:noFill/>
          <a:ln/>
        </p:spPr>
        <p:txBody>
          <a:bodyPr wrap="square" lIns="0" tIns="0" rIns="0" bIns="0" rtlCol="0" anchor="ctr"/>
          <a:lstStyle/>
          <a:p>
            <a:pPr algn="r" indent="0" marL="0">
              <a:buNone/>
            </a:pPr>
            <a:r>
              <a:rPr lang="en-US" sz="1100" b="1" dirty="0">
                <a:solidFill>
                  <a:srgbClr val="C9A96E"/>
                </a:solidFill>
                <a:latin typeface="Cambria" pitchFamily="34" charset="0"/>
                <a:ea typeface="Cambria" pitchFamily="34" charset="-122"/>
                <a:cs typeface="Cambria" pitchFamily="34" charset="-120"/>
              </a:rPr>
              <a:t>2.5%</a:t>
            </a:r>
            <a:endParaRPr lang="en-US" sz="1100" dirty="0"/>
          </a:p>
        </p:txBody>
      </p:sp>
      <p:sp>
        <p:nvSpPr>
          <p:cNvPr id="31" name="Text 29"/>
          <p:cNvSpPr/>
          <p:nvPr/>
        </p:nvSpPr>
        <p:spPr>
          <a:xfrm>
            <a:off x="6507328" y="3483864"/>
            <a:ext cx="4769968" cy="292608"/>
          </a:xfrm>
          <a:prstGeom prst="rect">
            <a:avLst/>
          </a:prstGeom>
          <a:noFill/>
          <a:ln/>
        </p:spPr>
        <p:txBody>
          <a:bodyPr wrap="square" lIns="0" tIns="0" rIns="0" bIns="0" rtlCol="0" anchor="ctr"/>
          <a:lstStyle/>
          <a:p>
            <a:pPr indent="0" marL="0">
              <a:lnSpc>
                <a:spcPct val="115000"/>
              </a:lnSpc>
              <a:buNone/>
            </a:pPr>
            <a:r>
              <a:rPr lang="en-US" sz="850" dirty="0">
                <a:solidFill>
                  <a:srgbClr val="9A938A"/>
                </a:solidFill>
                <a:latin typeface="Yu Gothic" pitchFamily="34" charset="0"/>
                <a:ea typeface="Yu Gothic" pitchFamily="34" charset="-122"/>
                <a:cs typeface="Yu Gothic" pitchFamily="34" charset="-120"/>
              </a:rPr>
              <a:t>1口1,300円＋梱包資材。1口平均6万円想定</a:t>
            </a:r>
            <a:endParaRPr lang="en-US" sz="850" dirty="0"/>
          </a:p>
        </p:txBody>
      </p:sp>
      <p:sp>
        <p:nvSpPr>
          <p:cNvPr id="32" name="Text 30"/>
          <p:cNvSpPr/>
          <p:nvPr/>
        </p:nvSpPr>
        <p:spPr>
          <a:xfrm>
            <a:off x="6507328" y="3913632"/>
            <a:ext cx="2377440" cy="219456"/>
          </a:xfrm>
          <a:prstGeom prst="rect">
            <a:avLst/>
          </a:prstGeom>
          <a:noFill/>
          <a:ln/>
        </p:spPr>
        <p:txBody>
          <a:bodyPr wrap="square" lIns="0" tIns="0" rIns="0" bIns="0" rtlCol="0" anchor="ctr"/>
          <a:lstStyle/>
          <a:p>
            <a:pPr indent="0" marL="0">
              <a:buNone/>
            </a:pPr>
            <a:r>
              <a:rPr lang="en-US" sz="1000" dirty="0">
                <a:solidFill>
                  <a:srgbClr val="9A938A"/>
                </a:solidFill>
                <a:latin typeface="Yu Gothic" pitchFamily="34" charset="0"/>
                <a:ea typeface="Yu Gothic" pitchFamily="34" charset="-122"/>
                <a:cs typeface="Yu Gothic" pitchFamily="34" charset="-120"/>
              </a:rPr>
              <a:t>変動販売費 合計</a:t>
            </a:r>
            <a:endParaRPr lang="en-US" sz="1000" dirty="0"/>
          </a:p>
        </p:txBody>
      </p:sp>
      <p:sp>
        <p:nvSpPr>
          <p:cNvPr id="33" name="Text 31"/>
          <p:cNvSpPr/>
          <p:nvPr/>
        </p:nvSpPr>
        <p:spPr>
          <a:xfrm>
            <a:off x="9521647" y="3913632"/>
            <a:ext cx="1755648" cy="219456"/>
          </a:xfrm>
          <a:prstGeom prst="rect">
            <a:avLst/>
          </a:prstGeom>
          <a:noFill/>
          <a:ln/>
        </p:spPr>
        <p:txBody>
          <a:bodyPr wrap="square" lIns="0" tIns="0" rIns="0" bIns="0" rtlCol="0" anchor="ctr"/>
          <a:lstStyle/>
          <a:p>
            <a:pPr algn="r" indent="0" marL="0">
              <a:buNone/>
            </a:pPr>
            <a:r>
              <a:rPr lang="en-US" sz="1050" b="1" dirty="0">
                <a:solidFill>
                  <a:srgbClr val="B4553F"/>
                </a:solidFill>
                <a:latin typeface="Yu Gothic" pitchFamily="34" charset="0"/>
                <a:ea typeface="Yu Gothic" pitchFamily="34" charset="-122"/>
                <a:cs typeface="Yu Gothic" pitchFamily="34" charset="-120"/>
              </a:rPr>
              <a:t>11.2%（▲8.96）</a:t>
            </a:r>
            <a:endParaRPr lang="en-US" sz="1050" dirty="0"/>
          </a:p>
        </p:txBody>
      </p:sp>
      <p:sp>
        <p:nvSpPr>
          <p:cNvPr id="34" name="Text 32"/>
          <p:cNvSpPr/>
          <p:nvPr/>
        </p:nvSpPr>
        <p:spPr>
          <a:xfrm>
            <a:off x="6507328" y="4187952"/>
            <a:ext cx="2011680" cy="347472"/>
          </a:xfrm>
          <a:prstGeom prst="rect">
            <a:avLst/>
          </a:prstGeom>
          <a:noFill/>
          <a:ln/>
        </p:spPr>
        <p:txBody>
          <a:bodyPr wrap="square" lIns="0" tIns="0" rIns="0" bIns="0" rtlCol="0" anchor="ctr"/>
          <a:lstStyle/>
          <a:p>
            <a:pPr indent="0" marL="0">
              <a:buNone/>
            </a:pPr>
            <a:r>
              <a:rPr lang="en-US" sz="1100" b="1" dirty="0">
                <a:solidFill>
                  <a:srgbClr val="EFEBE3"/>
                </a:solidFill>
                <a:latin typeface="Yu Gothic" pitchFamily="34" charset="0"/>
                <a:ea typeface="Yu Gothic" pitchFamily="34" charset="-122"/>
                <a:cs typeface="Yu Gothic" pitchFamily="34" charset="-120"/>
              </a:rPr>
              <a:t>手取り</a:t>
            </a:r>
            <a:endParaRPr lang="en-US" sz="1100" dirty="0"/>
          </a:p>
        </p:txBody>
      </p:sp>
      <p:sp>
        <p:nvSpPr>
          <p:cNvPr id="35" name="Text 33"/>
          <p:cNvSpPr/>
          <p:nvPr/>
        </p:nvSpPr>
        <p:spPr>
          <a:xfrm>
            <a:off x="9521647" y="4169664"/>
            <a:ext cx="1755648" cy="384048"/>
          </a:xfrm>
          <a:prstGeom prst="rect">
            <a:avLst/>
          </a:prstGeom>
          <a:noFill/>
          <a:ln/>
        </p:spPr>
        <p:txBody>
          <a:bodyPr wrap="square" lIns="0" tIns="0" rIns="0" bIns="0" rtlCol="0" anchor="ctr"/>
          <a:lstStyle/>
          <a:p>
            <a:pPr algn="r" indent="0" marL="0">
              <a:buNone/>
            </a:pPr>
            <a:r>
              <a:rPr lang="en-US" sz="2500" b="1" dirty="0">
                <a:solidFill>
                  <a:srgbClr val="C9A96E"/>
                </a:solidFill>
                <a:latin typeface="Cambria" pitchFamily="34" charset="0"/>
                <a:ea typeface="Cambria" pitchFamily="34" charset="-122"/>
                <a:cs typeface="Cambria" pitchFamily="34" charset="-120"/>
              </a:rPr>
              <a:t>71.04</a:t>
            </a:r>
            <a:endParaRPr lang="en-US" sz="2500" dirty="0"/>
          </a:p>
        </p:txBody>
      </p:sp>
      <p:sp>
        <p:nvSpPr>
          <p:cNvPr id="36" name="Shape 34"/>
          <p:cNvSpPr/>
          <p:nvPr/>
        </p:nvSpPr>
        <p:spPr>
          <a:xfrm>
            <a:off x="658368" y="4791456"/>
            <a:ext cx="10874959" cy="914400"/>
          </a:xfrm>
          <a:prstGeom prst="roundRect">
            <a:avLst>
              <a:gd name="adj" fmla="val 4500"/>
            </a:avLst>
          </a:prstGeom>
          <a:solidFill>
            <a:srgbClr val="1F1D19"/>
          </a:solidFill>
          <a:ln w="9525">
            <a:solidFill>
              <a:srgbClr val="6E5730"/>
            </a:solidFill>
            <a:prstDash val="solid"/>
          </a:ln>
        </p:spPr>
      </p:sp>
      <p:sp>
        <p:nvSpPr>
          <p:cNvPr id="37" name="Text 35"/>
          <p:cNvSpPr/>
          <p:nvPr/>
        </p:nvSpPr>
        <p:spPr>
          <a:xfrm>
            <a:off x="932688" y="4901184"/>
            <a:ext cx="10326319" cy="694944"/>
          </a:xfrm>
          <a:prstGeom prst="rect">
            <a:avLst/>
          </a:prstGeom>
          <a:noFill/>
          <a:ln/>
        </p:spPr>
        <p:txBody>
          <a:bodyPr wrap="square" lIns="0" tIns="0" rIns="0" bIns="0" rtlCol="0" anchor="ctr"/>
          <a:lstStyle/>
          <a:p>
            <a:pPr indent="0" marL="0">
              <a:lnSpc>
                <a:spcPct val="122000"/>
              </a:lnSpc>
              <a:buNone/>
            </a:pPr>
            <a:r>
              <a:rPr lang="en-US" sz="1200" b="1" dirty="0">
                <a:solidFill>
                  <a:srgbClr val="C9A96E"/>
                </a:solidFill>
                <a:latin typeface="Yu Gothic" pitchFamily="34" charset="0"/>
                <a:ea typeface="Yu Gothic" pitchFamily="34" charset="-122"/>
                <a:cs typeface="Yu Gothic" pitchFamily="34" charset="-120"/>
              </a:rPr>
              <a:t>手数料が重くても、B2Cのほうが手取りは1.74ポイント高い。</a:t>
            </a:r>
            <a:pPr indent="0" marL="0">
              <a:lnSpc>
                <a:spcPct val="122000"/>
              </a:lnSpc>
              <a:buNone/>
            </a:pPr>
            <a:r>
              <a:rPr lang="en-US" sz="1000" dirty="0">
                <a:solidFill>
                  <a:srgbClr val="EFEBE3"/>
                </a:solidFill>
                <a:latin typeface="Yu Gothic" pitchFamily="34" charset="0"/>
                <a:ea typeface="Yu Gothic" pitchFamily="34" charset="-122"/>
                <a:cs typeface="Yu Gothic" pitchFamily="34" charset="-120"/>
              </a:rPr>
              <a:t>　B2Cは手数料率11.2%を負うが、売値が定価比80とB2Bの70を10ポイント上回るため、差引きで勝る。ただしB2Cは1本ずつの出荷となり販売量の上限が低いため、回転期間を確保するにはB2Bの卸売が不可欠となる。両者を半々で運用し、加重平均で売値75.00・変動販売費6.44%・手取り70.17を主線とする（いずれも取得時点の価格。保有中の値上がりは次頁以降で加算）。</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C0C0C"/>
        </a:solidFill>
      </p:bgPr>
    </p:bg>
    <p:spTree>
      <p:nvGrpSpPr>
        <p:cNvPr id="1" name=""/>
        <p:cNvGrpSpPr/>
        <p:nvPr/>
      </p:nvGrpSpPr>
      <p:grpSpPr>
        <a:xfrm>
          <a:off x="0" y="0"/>
          <a:ext cx="0" cy="0"/>
          <a:chOff x="0" y="0"/>
          <a:chExt cx="0" cy="0"/>
        </a:xfrm>
      </p:grpSpPr>
      <p:sp>
        <p:nvSpPr>
          <p:cNvPr id="2" name="Text 0"/>
          <p:cNvSpPr/>
          <p:nvPr/>
        </p:nvSpPr>
        <p:spPr>
          <a:xfrm>
            <a:off x="658368" y="384048"/>
            <a:ext cx="10874959" cy="219456"/>
          </a:xfrm>
          <a:prstGeom prst="rect">
            <a:avLst/>
          </a:prstGeom>
          <a:noFill/>
          <a:ln/>
        </p:spPr>
        <p:txBody>
          <a:bodyPr wrap="square" lIns="0" tIns="0" rIns="0" bIns="0" rtlCol="0" anchor="ctr"/>
          <a:lstStyle/>
          <a:p>
            <a:pPr indent="0" marL="0">
              <a:buNone/>
            </a:pPr>
            <a:r>
              <a:rPr lang="en-US" sz="1050" b="1" spc="340" kern="0" dirty="0">
                <a:solidFill>
                  <a:srgbClr val="A78450"/>
                </a:solidFill>
                <a:latin typeface="Cambria" pitchFamily="34" charset="0"/>
                <a:ea typeface="Cambria" pitchFamily="34" charset="-122"/>
                <a:cs typeface="Cambria" pitchFamily="34" charset="-120"/>
              </a:rPr>
              <a:t>UNIT ECONOMICS</a:t>
            </a:r>
            <a:endParaRPr lang="en-US" sz="1050" dirty="0"/>
          </a:p>
        </p:txBody>
      </p:sp>
      <p:sp>
        <p:nvSpPr>
          <p:cNvPr id="3" name="Text 1"/>
          <p:cNvSpPr/>
          <p:nvPr/>
        </p:nvSpPr>
        <p:spPr>
          <a:xfrm>
            <a:off x="658368" y="640080"/>
            <a:ext cx="10874959" cy="548640"/>
          </a:xfrm>
          <a:prstGeom prst="rect">
            <a:avLst/>
          </a:prstGeom>
          <a:noFill/>
          <a:ln/>
        </p:spPr>
        <p:txBody>
          <a:bodyPr wrap="square" lIns="0" tIns="0" rIns="0" bIns="0" rtlCol="0" anchor="ctr"/>
          <a:lstStyle/>
          <a:p>
            <a:pPr indent="0" marL="0">
              <a:buNone/>
            </a:pPr>
            <a:r>
              <a:rPr lang="en-US" sz="2700" b="1" dirty="0">
                <a:solidFill>
                  <a:srgbClr val="EFEBE3"/>
                </a:solidFill>
                <a:latin typeface="Yu Mincho" pitchFamily="34" charset="0"/>
                <a:ea typeface="Yu Mincho" pitchFamily="34" charset="-122"/>
                <a:cs typeface="Yu Mincho" pitchFamily="34" charset="-120"/>
              </a:rPr>
              <a:t>3シナリオの単位経済（保有12ヶ月・定価100あたり）</a:t>
            </a:r>
            <a:endParaRPr lang="en-US" sz="2700" dirty="0"/>
          </a:p>
        </p:txBody>
      </p:sp>
      <p:sp>
        <p:nvSpPr>
          <p:cNvPr id="4" name="Text 2"/>
          <p:cNvSpPr/>
          <p:nvPr/>
        </p:nvSpPr>
        <p:spPr>
          <a:xfrm>
            <a:off x="658368" y="1216152"/>
            <a:ext cx="10874959" cy="310896"/>
          </a:xfrm>
          <a:prstGeom prst="rect">
            <a:avLst/>
          </a:prstGeom>
          <a:noFill/>
          <a:ln/>
        </p:spPr>
        <p:txBody>
          <a:bodyPr wrap="square" lIns="0" tIns="0" rIns="0" bIns="0" rtlCol="0" anchor="ctr"/>
          <a:lstStyle/>
          <a:p>
            <a:pPr indent="0" marL="0">
              <a:buNone/>
            </a:pPr>
            <a:r>
              <a:rPr lang="en-US" sz="1150" dirty="0">
                <a:solidFill>
                  <a:srgbClr val="9A938A"/>
                </a:solidFill>
                <a:latin typeface="Yu Gothic" pitchFamily="34" charset="0"/>
                <a:ea typeface="Yu Gothic" pitchFamily="34" charset="-122"/>
                <a:cs typeface="Yu Gothic" pitchFamily="34" charset="-120"/>
              </a:rPr>
              <a:t>現物譲渡の1%と変動販売費を控除し、保有中の値上がりを売値に加算したうえでの粗利。</a:t>
            </a:r>
            <a:endParaRPr lang="en-US" sz="1150" dirty="0"/>
          </a:p>
        </p:txBody>
      </p:sp>
      <p:sp>
        <p:nvSpPr>
          <p:cNvPr id="5" name="Text 3"/>
          <p:cNvSpPr/>
          <p:nvPr/>
        </p:nvSpPr>
        <p:spPr>
          <a:xfrm>
            <a:off x="658368" y="6437376"/>
            <a:ext cx="5029200" cy="219456"/>
          </a:xfrm>
          <a:prstGeom prst="rect">
            <a:avLst/>
          </a:prstGeom>
          <a:noFill/>
          <a:ln/>
        </p:spPr>
        <p:txBody>
          <a:bodyPr wrap="square" lIns="0" tIns="0" rIns="0" bIns="0" rtlCol="0" anchor="ctr"/>
          <a:lstStyle/>
          <a:p>
            <a:pPr indent="0" marL="0">
              <a:buNone/>
            </a:pPr>
            <a:r>
              <a:rPr lang="en-US" sz="850" dirty="0">
                <a:solidFill>
                  <a:srgbClr val="6E675E"/>
                </a:solidFill>
                <a:latin typeface="Yu Gothic" pitchFamily="34" charset="0"/>
                <a:ea typeface="Yu Gothic" pitchFamily="34" charset="-122"/>
                <a:cs typeface="Yu Gothic" pitchFamily="34" charset="-120"/>
              </a:rPr>
              <a:t>CONFIDENTIAL ｜ 株式会社WineBank</a:t>
            </a:r>
            <a:endParaRPr lang="en-US" sz="850" dirty="0"/>
          </a:p>
        </p:txBody>
      </p:sp>
      <p:sp>
        <p:nvSpPr>
          <p:cNvPr id="6" name="Text 4"/>
          <p:cNvSpPr/>
          <p:nvPr/>
        </p:nvSpPr>
        <p:spPr>
          <a:xfrm>
            <a:off x="10618927" y="6437376"/>
            <a:ext cx="914400" cy="219456"/>
          </a:xfrm>
          <a:prstGeom prst="rect">
            <a:avLst/>
          </a:prstGeom>
          <a:noFill/>
          <a:ln/>
        </p:spPr>
        <p:txBody>
          <a:bodyPr wrap="square" lIns="0" tIns="0" rIns="0" bIns="0" rtlCol="0" anchor="ctr"/>
          <a:lstStyle/>
          <a:p>
            <a:pPr algn="r" indent="0" marL="0">
              <a:buNone/>
            </a:pPr>
            <a:r>
              <a:rPr lang="en-US" sz="950" spc="150" kern="0" dirty="0">
                <a:solidFill>
                  <a:srgbClr val="6E5730"/>
                </a:solidFill>
                <a:latin typeface="Cambria" pitchFamily="34" charset="0"/>
                <a:ea typeface="Cambria" pitchFamily="34" charset="-122"/>
                <a:cs typeface="Cambria" pitchFamily="34" charset="-120"/>
              </a:rPr>
              <a:t>08</a:t>
            </a:r>
            <a:endParaRPr lang="en-US" sz="950" dirty="0"/>
          </a:p>
        </p:txBody>
      </p:sp>
      <p:sp>
        <p:nvSpPr>
          <p:cNvPr id="7" name="Shape 5"/>
          <p:cNvSpPr/>
          <p:nvPr/>
        </p:nvSpPr>
        <p:spPr>
          <a:xfrm>
            <a:off x="658368" y="1627632"/>
            <a:ext cx="3429914" cy="3931920"/>
          </a:xfrm>
          <a:prstGeom prst="roundRect">
            <a:avLst>
              <a:gd name="adj" fmla="val 1200"/>
            </a:avLst>
          </a:prstGeom>
          <a:solidFill>
            <a:srgbClr val="171614"/>
          </a:solidFill>
          <a:ln w="9525">
            <a:solidFill>
              <a:srgbClr val="2E2A24"/>
            </a:solidFill>
            <a:prstDash val="solid"/>
          </a:ln>
        </p:spPr>
      </p:sp>
      <p:sp>
        <p:nvSpPr>
          <p:cNvPr id="8" name="Text 6"/>
          <p:cNvSpPr/>
          <p:nvPr/>
        </p:nvSpPr>
        <p:spPr>
          <a:xfrm>
            <a:off x="914400" y="1828800"/>
            <a:ext cx="2917850" cy="292608"/>
          </a:xfrm>
          <a:prstGeom prst="rect">
            <a:avLst/>
          </a:prstGeom>
          <a:noFill/>
          <a:ln/>
        </p:spPr>
        <p:txBody>
          <a:bodyPr wrap="square" lIns="0" tIns="0" rIns="0" bIns="0" rtlCol="0" anchor="ctr"/>
          <a:lstStyle/>
          <a:p>
            <a:pPr indent="0" marL="0">
              <a:buNone/>
            </a:pPr>
            <a:r>
              <a:rPr lang="en-US" sz="1300" b="1" dirty="0">
                <a:solidFill>
                  <a:srgbClr val="EFEBE3"/>
                </a:solidFill>
                <a:latin typeface="Yu Gothic" pitchFamily="34" charset="0"/>
                <a:ea typeface="Yu Gothic" pitchFamily="34" charset="-122"/>
                <a:cs typeface="Yu Gothic" pitchFamily="34" charset="-120"/>
              </a:rPr>
              <a:t>ネガティブ</a:t>
            </a:r>
            <a:endParaRPr lang="en-US" sz="1300" dirty="0"/>
          </a:p>
        </p:txBody>
      </p:sp>
      <p:sp>
        <p:nvSpPr>
          <p:cNvPr id="9" name="Text 7"/>
          <p:cNvSpPr/>
          <p:nvPr/>
        </p:nvSpPr>
        <p:spPr>
          <a:xfrm>
            <a:off x="914400" y="2231136"/>
            <a:ext cx="1966874" cy="237744"/>
          </a:xfrm>
          <a:prstGeom prst="rect">
            <a:avLst/>
          </a:prstGeom>
          <a:noFill/>
          <a:ln/>
        </p:spPr>
        <p:txBody>
          <a:bodyPr wrap="square" lIns="0" tIns="0" rIns="0" bIns="0" rtlCol="0" anchor="ctr"/>
          <a:lstStyle/>
          <a:p>
            <a:pPr indent="0" marL="0">
              <a:buNone/>
            </a:pPr>
            <a:r>
              <a:rPr lang="en-US" sz="950" dirty="0">
                <a:solidFill>
                  <a:srgbClr val="9A938A"/>
                </a:solidFill>
                <a:latin typeface="Yu Gothic" pitchFamily="34" charset="0"/>
                <a:ea typeface="Yu Gothic" pitchFamily="34" charset="-122"/>
                <a:cs typeface="Yu Gothic" pitchFamily="34" charset="-120"/>
              </a:rPr>
              <a:t>市中仕入原価</a:t>
            </a:r>
            <a:endParaRPr lang="en-US" sz="950" dirty="0"/>
          </a:p>
        </p:txBody>
      </p:sp>
      <p:sp>
        <p:nvSpPr>
          <p:cNvPr id="10" name="Text 8"/>
          <p:cNvSpPr/>
          <p:nvPr/>
        </p:nvSpPr>
        <p:spPr>
          <a:xfrm>
            <a:off x="2606954" y="2231136"/>
            <a:ext cx="1225296" cy="237744"/>
          </a:xfrm>
          <a:prstGeom prst="rect">
            <a:avLst/>
          </a:prstGeom>
          <a:noFill/>
          <a:ln/>
        </p:spPr>
        <p:txBody>
          <a:bodyPr wrap="square" lIns="0" tIns="0" rIns="0" bIns="0" rtlCol="0" anchor="ctr"/>
          <a:lstStyle/>
          <a:p>
            <a:pPr algn="r" indent="0" marL="0">
              <a:buNone/>
            </a:pPr>
            <a:r>
              <a:rPr lang="en-US" sz="1350" b="1" dirty="0">
                <a:solidFill>
                  <a:srgbClr val="EFEBE3"/>
                </a:solidFill>
                <a:latin typeface="Cambria" pitchFamily="34" charset="0"/>
                <a:ea typeface="Cambria" pitchFamily="34" charset="-122"/>
                <a:cs typeface="Cambria" pitchFamily="34" charset="-120"/>
              </a:rPr>
              <a:t>50.00</a:t>
            </a:r>
            <a:endParaRPr lang="en-US" sz="1350" dirty="0"/>
          </a:p>
        </p:txBody>
      </p:sp>
      <p:sp>
        <p:nvSpPr>
          <p:cNvPr id="11" name="Text 9"/>
          <p:cNvSpPr/>
          <p:nvPr/>
        </p:nvSpPr>
        <p:spPr>
          <a:xfrm>
            <a:off x="914400" y="2519172"/>
            <a:ext cx="1966874" cy="237744"/>
          </a:xfrm>
          <a:prstGeom prst="rect">
            <a:avLst/>
          </a:prstGeom>
          <a:noFill/>
          <a:ln/>
        </p:spPr>
        <p:txBody>
          <a:bodyPr wrap="square" lIns="0" tIns="0" rIns="0" bIns="0" rtlCol="0" anchor="ctr"/>
          <a:lstStyle/>
          <a:p>
            <a:pPr indent="0" marL="0">
              <a:buNone/>
            </a:pPr>
            <a:r>
              <a:rPr lang="en-US" sz="950" dirty="0">
                <a:solidFill>
                  <a:srgbClr val="9A938A"/>
                </a:solidFill>
                <a:latin typeface="Yu Gothic" pitchFamily="34" charset="0"/>
                <a:ea typeface="Yu Gothic" pitchFamily="34" charset="-122"/>
                <a:cs typeface="Yu Gothic" pitchFamily="34" charset="-120"/>
              </a:rPr>
              <a:t>SPC取得原価（＋1%）</a:t>
            </a:r>
            <a:endParaRPr lang="en-US" sz="950" dirty="0"/>
          </a:p>
        </p:txBody>
      </p:sp>
      <p:sp>
        <p:nvSpPr>
          <p:cNvPr id="12" name="Text 10"/>
          <p:cNvSpPr/>
          <p:nvPr/>
        </p:nvSpPr>
        <p:spPr>
          <a:xfrm>
            <a:off x="2606954" y="2519172"/>
            <a:ext cx="1225296" cy="237744"/>
          </a:xfrm>
          <a:prstGeom prst="rect">
            <a:avLst/>
          </a:prstGeom>
          <a:noFill/>
          <a:ln/>
        </p:spPr>
        <p:txBody>
          <a:bodyPr wrap="square" lIns="0" tIns="0" rIns="0" bIns="0" rtlCol="0" anchor="ctr"/>
          <a:lstStyle/>
          <a:p>
            <a:pPr algn="r" indent="0" marL="0">
              <a:buNone/>
            </a:pPr>
            <a:r>
              <a:rPr lang="en-US" sz="1350" b="1" dirty="0">
                <a:solidFill>
                  <a:srgbClr val="EFEBE3"/>
                </a:solidFill>
                <a:latin typeface="Cambria" pitchFamily="34" charset="0"/>
                <a:ea typeface="Cambria" pitchFamily="34" charset="-122"/>
                <a:cs typeface="Cambria" pitchFamily="34" charset="-120"/>
              </a:rPr>
              <a:t>50.50</a:t>
            </a:r>
            <a:endParaRPr lang="en-US" sz="1350" dirty="0"/>
          </a:p>
        </p:txBody>
      </p:sp>
      <p:sp>
        <p:nvSpPr>
          <p:cNvPr id="13" name="Text 11"/>
          <p:cNvSpPr/>
          <p:nvPr/>
        </p:nvSpPr>
        <p:spPr>
          <a:xfrm>
            <a:off x="914400" y="2807208"/>
            <a:ext cx="1966874" cy="237744"/>
          </a:xfrm>
          <a:prstGeom prst="rect">
            <a:avLst/>
          </a:prstGeom>
          <a:noFill/>
          <a:ln/>
        </p:spPr>
        <p:txBody>
          <a:bodyPr wrap="square" lIns="0" tIns="0" rIns="0" bIns="0" rtlCol="0" anchor="ctr"/>
          <a:lstStyle/>
          <a:p>
            <a:pPr indent="0" marL="0">
              <a:buNone/>
            </a:pPr>
            <a:r>
              <a:rPr lang="en-US" sz="950" dirty="0">
                <a:solidFill>
                  <a:srgbClr val="9A938A"/>
                </a:solidFill>
                <a:latin typeface="Yu Gothic" pitchFamily="34" charset="0"/>
                <a:ea typeface="Yu Gothic" pitchFamily="34" charset="-122"/>
                <a:cs typeface="Yu Gothic" pitchFamily="34" charset="-120"/>
              </a:rPr>
              <a:t>取得時の売値</a:t>
            </a:r>
            <a:endParaRPr lang="en-US" sz="950" dirty="0"/>
          </a:p>
        </p:txBody>
      </p:sp>
      <p:sp>
        <p:nvSpPr>
          <p:cNvPr id="14" name="Text 12"/>
          <p:cNvSpPr/>
          <p:nvPr/>
        </p:nvSpPr>
        <p:spPr>
          <a:xfrm>
            <a:off x="2606954" y="2807208"/>
            <a:ext cx="1225296" cy="237744"/>
          </a:xfrm>
          <a:prstGeom prst="rect">
            <a:avLst/>
          </a:prstGeom>
          <a:noFill/>
          <a:ln/>
        </p:spPr>
        <p:txBody>
          <a:bodyPr wrap="square" lIns="0" tIns="0" rIns="0" bIns="0" rtlCol="0" anchor="ctr"/>
          <a:lstStyle/>
          <a:p>
            <a:pPr algn="r" indent="0" marL="0">
              <a:buNone/>
            </a:pPr>
            <a:r>
              <a:rPr lang="en-US" sz="1350" b="1" dirty="0">
                <a:solidFill>
                  <a:srgbClr val="EFEBE3"/>
                </a:solidFill>
                <a:latin typeface="Cambria" pitchFamily="34" charset="0"/>
                <a:ea typeface="Cambria" pitchFamily="34" charset="-122"/>
                <a:cs typeface="Cambria" pitchFamily="34" charset="-120"/>
              </a:rPr>
              <a:t>71.25</a:t>
            </a:r>
            <a:endParaRPr lang="en-US" sz="1350" dirty="0"/>
          </a:p>
        </p:txBody>
      </p:sp>
      <p:sp>
        <p:nvSpPr>
          <p:cNvPr id="15" name="Text 13"/>
          <p:cNvSpPr/>
          <p:nvPr/>
        </p:nvSpPr>
        <p:spPr>
          <a:xfrm>
            <a:off x="914400" y="3095244"/>
            <a:ext cx="1966874" cy="237744"/>
          </a:xfrm>
          <a:prstGeom prst="rect">
            <a:avLst/>
          </a:prstGeom>
          <a:noFill/>
          <a:ln/>
        </p:spPr>
        <p:txBody>
          <a:bodyPr wrap="square" lIns="0" tIns="0" rIns="0" bIns="0" rtlCol="0" anchor="ctr"/>
          <a:lstStyle/>
          <a:p>
            <a:pPr indent="0" marL="0">
              <a:buNone/>
            </a:pPr>
            <a:r>
              <a:rPr lang="en-US" sz="950" dirty="0">
                <a:solidFill>
                  <a:srgbClr val="9A938A"/>
                </a:solidFill>
                <a:latin typeface="Yu Gothic" pitchFamily="34" charset="0"/>
                <a:ea typeface="Yu Gothic" pitchFamily="34" charset="-122"/>
                <a:cs typeface="Yu Gothic" pitchFamily="34" charset="-120"/>
              </a:rPr>
              <a:t>保有12ヶ月の上昇</a:t>
            </a:r>
            <a:endParaRPr lang="en-US" sz="950" dirty="0"/>
          </a:p>
        </p:txBody>
      </p:sp>
      <p:sp>
        <p:nvSpPr>
          <p:cNvPr id="16" name="Text 14"/>
          <p:cNvSpPr/>
          <p:nvPr/>
        </p:nvSpPr>
        <p:spPr>
          <a:xfrm>
            <a:off x="2606954" y="3095244"/>
            <a:ext cx="1225296" cy="237744"/>
          </a:xfrm>
          <a:prstGeom prst="rect">
            <a:avLst/>
          </a:prstGeom>
          <a:noFill/>
          <a:ln/>
        </p:spPr>
        <p:txBody>
          <a:bodyPr wrap="square" lIns="0" tIns="0" rIns="0" bIns="0" rtlCol="0" anchor="ctr"/>
          <a:lstStyle/>
          <a:p>
            <a:pPr algn="r" indent="0" marL="0">
              <a:buNone/>
            </a:pPr>
            <a:r>
              <a:rPr lang="en-US" sz="1250" b="1" dirty="0">
                <a:solidFill>
                  <a:srgbClr val="EFEBE3"/>
                </a:solidFill>
                <a:latin typeface="Cambria" pitchFamily="34" charset="0"/>
                <a:ea typeface="Cambria" pitchFamily="34" charset="-122"/>
                <a:cs typeface="Cambria" pitchFamily="34" charset="-120"/>
              </a:rPr>
              <a:t>×1.000</a:t>
            </a:r>
            <a:endParaRPr lang="en-US" sz="1250" dirty="0"/>
          </a:p>
        </p:txBody>
      </p:sp>
      <p:sp>
        <p:nvSpPr>
          <p:cNvPr id="17" name="Text 15"/>
          <p:cNvSpPr/>
          <p:nvPr/>
        </p:nvSpPr>
        <p:spPr>
          <a:xfrm>
            <a:off x="914400" y="3383280"/>
            <a:ext cx="1966874" cy="237744"/>
          </a:xfrm>
          <a:prstGeom prst="rect">
            <a:avLst/>
          </a:prstGeom>
          <a:noFill/>
          <a:ln/>
        </p:spPr>
        <p:txBody>
          <a:bodyPr wrap="square" lIns="0" tIns="0" rIns="0" bIns="0" rtlCol="0" anchor="ctr"/>
          <a:lstStyle/>
          <a:p>
            <a:pPr indent="0" marL="0">
              <a:buNone/>
            </a:pPr>
            <a:r>
              <a:rPr lang="en-US" sz="950" dirty="0">
                <a:solidFill>
                  <a:srgbClr val="9A938A"/>
                </a:solidFill>
                <a:latin typeface="Yu Gothic" pitchFamily="34" charset="0"/>
                <a:ea typeface="Yu Gothic" pitchFamily="34" charset="-122"/>
                <a:cs typeface="Yu Gothic" pitchFamily="34" charset="-120"/>
              </a:rPr>
              <a:t>売却時の売値</a:t>
            </a:r>
            <a:endParaRPr lang="en-US" sz="950" dirty="0"/>
          </a:p>
        </p:txBody>
      </p:sp>
      <p:sp>
        <p:nvSpPr>
          <p:cNvPr id="18" name="Text 16"/>
          <p:cNvSpPr/>
          <p:nvPr/>
        </p:nvSpPr>
        <p:spPr>
          <a:xfrm>
            <a:off x="2606954" y="3383280"/>
            <a:ext cx="1225296" cy="237744"/>
          </a:xfrm>
          <a:prstGeom prst="rect">
            <a:avLst/>
          </a:prstGeom>
          <a:noFill/>
          <a:ln/>
        </p:spPr>
        <p:txBody>
          <a:bodyPr wrap="square" lIns="0" tIns="0" rIns="0" bIns="0" rtlCol="0" anchor="ctr"/>
          <a:lstStyle/>
          <a:p>
            <a:pPr algn="r" indent="0" marL="0">
              <a:buNone/>
            </a:pPr>
            <a:r>
              <a:rPr lang="en-US" sz="1350" b="1" dirty="0">
                <a:solidFill>
                  <a:srgbClr val="EFEBE3"/>
                </a:solidFill>
                <a:latin typeface="Cambria" pitchFamily="34" charset="0"/>
                <a:ea typeface="Cambria" pitchFamily="34" charset="-122"/>
                <a:cs typeface="Cambria" pitchFamily="34" charset="-120"/>
              </a:rPr>
              <a:t>71.25</a:t>
            </a:r>
            <a:endParaRPr lang="en-US" sz="1350" dirty="0"/>
          </a:p>
        </p:txBody>
      </p:sp>
      <p:sp>
        <p:nvSpPr>
          <p:cNvPr id="19" name="Text 17"/>
          <p:cNvSpPr/>
          <p:nvPr/>
        </p:nvSpPr>
        <p:spPr>
          <a:xfrm>
            <a:off x="914400" y="3671316"/>
            <a:ext cx="1966874" cy="237744"/>
          </a:xfrm>
          <a:prstGeom prst="rect">
            <a:avLst/>
          </a:prstGeom>
          <a:noFill/>
          <a:ln/>
        </p:spPr>
        <p:txBody>
          <a:bodyPr wrap="square" lIns="0" tIns="0" rIns="0" bIns="0" rtlCol="0" anchor="ctr"/>
          <a:lstStyle/>
          <a:p>
            <a:pPr indent="0" marL="0">
              <a:buNone/>
            </a:pPr>
            <a:r>
              <a:rPr lang="en-US" sz="950" dirty="0">
                <a:solidFill>
                  <a:srgbClr val="9A938A"/>
                </a:solidFill>
                <a:latin typeface="Yu Gothic" pitchFamily="34" charset="0"/>
                <a:ea typeface="Yu Gothic" pitchFamily="34" charset="-122"/>
                <a:cs typeface="Yu Gothic" pitchFamily="34" charset="-120"/>
              </a:rPr>
              <a:t>変動販売費</a:t>
            </a:r>
            <a:endParaRPr lang="en-US" sz="950" dirty="0"/>
          </a:p>
        </p:txBody>
      </p:sp>
      <p:sp>
        <p:nvSpPr>
          <p:cNvPr id="20" name="Text 18"/>
          <p:cNvSpPr/>
          <p:nvPr/>
        </p:nvSpPr>
        <p:spPr>
          <a:xfrm>
            <a:off x="2606954" y="3671316"/>
            <a:ext cx="1225296" cy="237744"/>
          </a:xfrm>
          <a:prstGeom prst="rect">
            <a:avLst/>
          </a:prstGeom>
          <a:noFill/>
          <a:ln/>
        </p:spPr>
        <p:txBody>
          <a:bodyPr wrap="square" lIns="0" tIns="0" rIns="0" bIns="0" rtlCol="0" anchor="ctr"/>
          <a:lstStyle/>
          <a:p>
            <a:pPr algn="r" indent="0" marL="0">
              <a:buNone/>
            </a:pPr>
            <a:r>
              <a:rPr lang="en-US" sz="1350" b="1" dirty="0">
                <a:solidFill>
                  <a:srgbClr val="B4553F"/>
                </a:solidFill>
                <a:latin typeface="Cambria" pitchFamily="34" charset="0"/>
                <a:ea typeface="Cambria" pitchFamily="34" charset="-122"/>
                <a:cs typeface="Cambria" pitchFamily="34" charset="-120"/>
              </a:rPr>
              <a:t>▲ 4.59</a:t>
            </a:r>
            <a:endParaRPr lang="en-US" sz="1350" dirty="0"/>
          </a:p>
        </p:txBody>
      </p:sp>
      <p:sp>
        <p:nvSpPr>
          <p:cNvPr id="21" name="Text 19"/>
          <p:cNvSpPr/>
          <p:nvPr/>
        </p:nvSpPr>
        <p:spPr>
          <a:xfrm>
            <a:off x="914400" y="3959352"/>
            <a:ext cx="1966874" cy="237744"/>
          </a:xfrm>
          <a:prstGeom prst="rect">
            <a:avLst/>
          </a:prstGeom>
          <a:noFill/>
          <a:ln/>
        </p:spPr>
        <p:txBody>
          <a:bodyPr wrap="square" lIns="0" tIns="0" rIns="0" bIns="0" rtlCol="0" anchor="ctr"/>
          <a:lstStyle/>
          <a:p>
            <a:pPr indent="0" marL="0">
              <a:buNone/>
            </a:pPr>
            <a:r>
              <a:rPr lang="en-US" sz="950" dirty="0">
                <a:solidFill>
                  <a:srgbClr val="9A938A"/>
                </a:solidFill>
                <a:latin typeface="Yu Gothic" pitchFamily="34" charset="0"/>
                <a:ea typeface="Yu Gothic" pitchFamily="34" charset="-122"/>
                <a:cs typeface="Yu Gothic" pitchFamily="34" charset="-120"/>
              </a:rPr>
              <a:t>手取り</a:t>
            </a:r>
            <a:endParaRPr lang="en-US" sz="950" dirty="0"/>
          </a:p>
        </p:txBody>
      </p:sp>
      <p:sp>
        <p:nvSpPr>
          <p:cNvPr id="22" name="Text 20"/>
          <p:cNvSpPr/>
          <p:nvPr/>
        </p:nvSpPr>
        <p:spPr>
          <a:xfrm>
            <a:off x="2606954" y="3959352"/>
            <a:ext cx="1225296" cy="237744"/>
          </a:xfrm>
          <a:prstGeom prst="rect">
            <a:avLst/>
          </a:prstGeom>
          <a:noFill/>
          <a:ln/>
        </p:spPr>
        <p:txBody>
          <a:bodyPr wrap="square" lIns="0" tIns="0" rIns="0" bIns="0" rtlCol="0" anchor="ctr"/>
          <a:lstStyle/>
          <a:p>
            <a:pPr algn="r" indent="0" marL="0">
              <a:buNone/>
            </a:pPr>
            <a:r>
              <a:rPr lang="en-US" sz="1350" b="1" dirty="0">
                <a:solidFill>
                  <a:srgbClr val="EFEBE3"/>
                </a:solidFill>
                <a:latin typeface="Cambria" pitchFamily="34" charset="0"/>
                <a:ea typeface="Cambria" pitchFamily="34" charset="-122"/>
                <a:cs typeface="Cambria" pitchFamily="34" charset="-120"/>
              </a:rPr>
              <a:t>66.66</a:t>
            </a:r>
            <a:endParaRPr lang="en-US" sz="1350" dirty="0"/>
          </a:p>
        </p:txBody>
      </p:sp>
      <p:sp>
        <p:nvSpPr>
          <p:cNvPr id="23" name="Text 21"/>
          <p:cNvSpPr/>
          <p:nvPr/>
        </p:nvSpPr>
        <p:spPr>
          <a:xfrm>
            <a:off x="914400" y="4247388"/>
            <a:ext cx="1966874" cy="237744"/>
          </a:xfrm>
          <a:prstGeom prst="rect">
            <a:avLst/>
          </a:prstGeom>
          <a:noFill/>
          <a:ln/>
        </p:spPr>
        <p:txBody>
          <a:bodyPr wrap="square" lIns="0" tIns="0" rIns="0" bIns="0" rtlCol="0" anchor="ctr"/>
          <a:lstStyle/>
          <a:p>
            <a:pPr indent="0" marL="0">
              <a:buNone/>
            </a:pPr>
            <a:r>
              <a:rPr lang="en-US" sz="950" dirty="0">
                <a:solidFill>
                  <a:srgbClr val="9A938A"/>
                </a:solidFill>
                <a:latin typeface="Yu Gothic" pitchFamily="34" charset="0"/>
                <a:ea typeface="Yu Gothic" pitchFamily="34" charset="-122"/>
                <a:cs typeface="Yu Gothic" pitchFamily="34" charset="-120"/>
              </a:rPr>
              <a:t>単位粗利</a:t>
            </a:r>
            <a:endParaRPr lang="en-US" sz="950" dirty="0"/>
          </a:p>
        </p:txBody>
      </p:sp>
      <p:sp>
        <p:nvSpPr>
          <p:cNvPr id="24" name="Text 22"/>
          <p:cNvSpPr/>
          <p:nvPr/>
        </p:nvSpPr>
        <p:spPr>
          <a:xfrm>
            <a:off x="2606954" y="4247388"/>
            <a:ext cx="1225296" cy="237744"/>
          </a:xfrm>
          <a:prstGeom prst="rect">
            <a:avLst/>
          </a:prstGeom>
          <a:noFill/>
          <a:ln/>
        </p:spPr>
        <p:txBody>
          <a:bodyPr wrap="square" lIns="0" tIns="0" rIns="0" bIns="0" rtlCol="0" anchor="ctr"/>
          <a:lstStyle/>
          <a:p>
            <a:pPr algn="r" indent="0" marL="0">
              <a:buNone/>
            </a:pPr>
            <a:r>
              <a:rPr lang="en-US" sz="1350" b="1" dirty="0">
                <a:solidFill>
                  <a:srgbClr val="EFEBE3"/>
                </a:solidFill>
                <a:latin typeface="Cambria" pitchFamily="34" charset="0"/>
                <a:ea typeface="Cambria" pitchFamily="34" charset="-122"/>
                <a:cs typeface="Cambria" pitchFamily="34" charset="-120"/>
              </a:rPr>
              <a:t>16.16</a:t>
            </a:r>
            <a:endParaRPr lang="en-US" sz="1350" dirty="0"/>
          </a:p>
        </p:txBody>
      </p:sp>
      <p:sp>
        <p:nvSpPr>
          <p:cNvPr id="25" name="Text 23"/>
          <p:cNvSpPr/>
          <p:nvPr/>
        </p:nvSpPr>
        <p:spPr>
          <a:xfrm>
            <a:off x="914400" y="4535424"/>
            <a:ext cx="1966874" cy="237744"/>
          </a:xfrm>
          <a:prstGeom prst="rect">
            <a:avLst/>
          </a:prstGeom>
          <a:noFill/>
          <a:ln/>
        </p:spPr>
        <p:txBody>
          <a:bodyPr wrap="square" lIns="0" tIns="0" rIns="0" bIns="0" rtlCol="0" anchor="ctr"/>
          <a:lstStyle/>
          <a:p>
            <a:pPr indent="0" marL="0">
              <a:buNone/>
            </a:pPr>
            <a:r>
              <a:rPr lang="en-US" sz="950" dirty="0">
                <a:solidFill>
                  <a:srgbClr val="9A938A"/>
                </a:solidFill>
                <a:latin typeface="Yu Gothic" pitchFamily="34" charset="0"/>
                <a:ea typeface="Yu Gothic" pitchFamily="34" charset="-122"/>
                <a:cs typeface="Yu Gothic" pitchFamily="34" charset="-120"/>
              </a:rPr>
              <a:t>粗利率（売上比）</a:t>
            </a:r>
            <a:endParaRPr lang="en-US" sz="950" dirty="0"/>
          </a:p>
        </p:txBody>
      </p:sp>
      <p:sp>
        <p:nvSpPr>
          <p:cNvPr id="26" name="Text 24"/>
          <p:cNvSpPr/>
          <p:nvPr/>
        </p:nvSpPr>
        <p:spPr>
          <a:xfrm>
            <a:off x="2606954" y="4535424"/>
            <a:ext cx="1225296" cy="237744"/>
          </a:xfrm>
          <a:prstGeom prst="rect">
            <a:avLst/>
          </a:prstGeom>
          <a:noFill/>
          <a:ln/>
        </p:spPr>
        <p:txBody>
          <a:bodyPr wrap="square" lIns="0" tIns="0" rIns="0" bIns="0" rtlCol="0" anchor="ctr"/>
          <a:lstStyle/>
          <a:p>
            <a:pPr algn="r" indent="0" marL="0">
              <a:buNone/>
            </a:pPr>
            <a:r>
              <a:rPr lang="en-US" sz="1250" b="1" dirty="0">
                <a:solidFill>
                  <a:srgbClr val="EFEBE3"/>
                </a:solidFill>
                <a:latin typeface="Cambria" pitchFamily="34" charset="0"/>
                <a:ea typeface="Cambria" pitchFamily="34" charset="-122"/>
                <a:cs typeface="Cambria" pitchFamily="34" charset="-120"/>
              </a:rPr>
              <a:t>22.7%</a:t>
            </a:r>
            <a:endParaRPr lang="en-US" sz="1250" dirty="0"/>
          </a:p>
        </p:txBody>
      </p:sp>
      <p:sp>
        <p:nvSpPr>
          <p:cNvPr id="27" name="Text 25"/>
          <p:cNvSpPr/>
          <p:nvPr/>
        </p:nvSpPr>
        <p:spPr>
          <a:xfrm>
            <a:off x="914400" y="4823460"/>
            <a:ext cx="1966874" cy="237744"/>
          </a:xfrm>
          <a:prstGeom prst="rect">
            <a:avLst/>
          </a:prstGeom>
          <a:noFill/>
          <a:ln/>
        </p:spPr>
        <p:txBody>
          <a:bodyPr wrap="square" lIns="0" tIns="0" rIns="0" bIns="0" rtlCol="0" anchor="ctr"/>
          <a:lstStyle/>
          <a:p>
            <a:pPr indent="0" marL="0">
              <a:buNone/>
            </a:pPr>
            <a:r>
              <a:rPr lang="en-US" sz="950" dirty="0">
                <a:solidFill>
                  <a:srgbClr val="9A938A"/>
                </a:solidFill>
                <a:latin typeface="Yu Gothic" pitchFamily="34" charset="0"/>
                <a:ea typeface="Yu Gothic" pitchFamily="34" charset="-122"/>
                <a:cs typeface="Yu Gothic" pitchFamily="34" charset="-120"/>
              </a:rPr>
              <a:t>投下原価利益率</a:t>
            </a:r>
            <a:endParaRPr lang="en-US" sz="950" dirty="0"/>
          </a:p>
        </p:txBody>
      </p:sp>
      <p:sp>
        <p:nvSpPr>
          <p:cNvPr id="28" name="Text 26"/>
          <p:cNvSpPr/>
          <p:nvPr/>
        </p:nvSpPr>
        <p:spPr>
          <a:xfrm>
            <a:off x="2606954" y="4823460"/>
            <a:ext cx="1225296" cy="237744"/>
          </a:xfrm>
          <a:prstGeom prst="rect">
            <a:avLst/>
          </a:prstGeom>
          <a:noFill/>
          <a:ln/>
        </p:spPr>
        <p:txBody>
          <a:bodyPr wrap="square" lIns="0" tIns="0" rIns="0" bIns="0" rtlCol="0" anchor="ctr"/>
          <a:lstStyle/>
          <a:p>
            <a:pPr algn="r" indent="0" marL="0">
              <a:buNone/>
            </a:pPr>
            <a:r>
              <a:rPr lang="en-US" sz="1250" b="1" dirty="0">
                <a:solidFill>
                  <a:srgbClr val="EFEBE3"/>
                </a:solidFill>
                <a:latin typeface="Cambria" pitchFamily="34" charset="0"/>
                <a:ea typeface="Cambria" pitchFamily="34" charset="-122"/>
                <a:cs typeface="Cambria" pitchFamily="34" charset="-120"/>
              </a:rPr>
              <a:t>32.0%</a:t>
            </a:r>
            <a:endParaRPr lang="en-US" sz="1250" dirty="0"/>
          </a:p>
        </p:txBody>
      </p:sp>
      <p:sp>
        <p:nvSpPr>
          <p:cNvPr id="29" name="Text 27"/>
          <p:cNvSpPr/>
          <p:nvPr/>
        </p:nvSpPr>
        <p:spPr>
          <a:xfrm>
            <a:off x="914400" y="5084064"/>
            <a:ext cx="2917850" cy="365760"/>
          </a:xfrm>
          <a:prstGeom prst="rect">
            <a:avLst/>
          </a:prstGeom>
          <a:noFill/>
          <a:ln/>
        </p:spPr>
        <p:txBody>
          <a:bodyPr wrap="square" lIns="0" tIns="0" rIns="0" bIns="0" rtlCol="0" anchor="ctr"/>
          <a:lstStyle/>
          <a:p>
            <a:pPr indent="0" marL="0">
              <a:lnSpc>
                <a:spcPct val="120000"/>
              </a:lnSpc>
              <a:buNone/>
            </a:pPr>
            <a:r>
              <a:rPr lang="en-US" sz="900" dirty="0">
                <a:solidFill>
                  <a:srgbClr val="6E675E"/>
                </a:solidFill>
                <a:latin typeface="Yu Gothic" pitchFamily="34" charset="0"/>
                <a:ea typeface="Yu Gothic" pitchFamily="34" charset="-122"/>
                <a:cs typeface="Yu Gothic" pitchFamily="34" charset="-120"/>
              </a:rPr>
              <a:t>売値を5%値引き（B2B66.5／B2C76）かつ価格は横ばい</a:t>
            </a:r>
            <a:endParaRPr lang="en-US" sz="900" dirty="0"/>
          </a:p>
        </p:txBody>
      </p:sp>
      <p:sp>
        <p:nvSpPr>
          <p:cNvPr id="30" name="Shape 28"/>
          <p:cNvSpPr/>
          <p:nvPr/>
        </p:nvSpPr>
        <p:spPr>
          <a:xfrm>
            <a:off x="4380890" y="1627632"/>
            <a:ext cx="3429914" cy="3931920"/>
          </a:xfrm>
          <a:prstGeom prst="roundRect">
            <a:avLst>
              <a:gd name="adj" fmla="val 1200"/>
            </a:avLst>
          </a:prstGeom>
          <a:solidFill>
            <a:srgbClr val="1F1D19"/>
          </a:solidFill>
          <a:ln w="9525">
            <a:solidFill>
              <a:srgbClr val="6E5730"/>
            </a:solidFill>
            <a:prstDash val="solid"/>
          </a:ln>
        </p:spPr>
      </p:sp>
      <p:sp>
        <p:nvSpPr>
          <p:cNvPr id="31" name="Text 29"/>
          <p:cNvSpPr/>
          <p:nvPr/>
        </p:nvSpPr>
        <p:spPr>
          <a:xfrm>
            <a:off x="4636922" y="1828800"/>
            <a:ext cx="2917850" cy="292608"/>
          </a:xfrm>
          <a:prstGeom prst="rect">
            <a:avLst/>
          </a:prstGeom>
          <a:noFill/>
          <a:ln/>
        </p:spPr>
        <p:txBody>
          <a:bodyPr wrap="square" lIns="0" tIns="0" rIns="0" bIns="0" rtlCol="0" anchor="ctr"/>
          <a:lstStyle/>
          <a:p>
            <a:pPr indent="0" marL="0">
              <a:buNone/>
            </a:pPr>
            <a:r>
              <a:rPr lang="en-US" sz="1300" b="1" dirty="0">
                <a:solidFill>
                  <a:srgbClr val="C9A96E"/>
                </a:solidFill>
                <a:latin typeface="Yu Gothic" pitchFamily="34" charset="0"/>
                <a:ea typeface="Yu Gothic" pitchFamily="34" charset="-122"/>
                <a:cs typeface="Yu Gothic" pitchFamily="34" charset="-120"/>
              </a:rPr>
              <a:t>ニュートラル（主線）</a:t>
            </a:r>
            <a:endParaRPr lang="en-US" sz="1300" dirty="0"/>
          </a:p>
        </p:txBody>
      </p:sp>
      <p:sp>
        <p:nvSpPr>
          <p:cNvPr id="32" name="Text 30"/>
          <p:cNvSpPr/>
          <p:nvPr/>
        </p:nvSpPr>
        <p:spPr>
          <a:xfrm>
            <a:off x="4636922" y="2231136"/>
            <a:ext cx="1966874" cy="237744"/>
          </a:xfrm>
          <a:prstGeom prst="rect">
            <a:avLst/>
          </a:prstGeom>
          <a:noFill/>
          <a:ln/>
        </p:spPr>
        <p:txBody>
          <a:bodyPr wrap="square" lIns="0" tIns="0" rIns="0" bIns="0" rtlCol="0" anchor="ctr"/>
          <a:lstStyle/>
          <a:p>
            <a:pPr indent="0" marL="0">
              <a:buNone/>
            </a:pPr>
            <a:r>
              <a:rPr lang="en-US" sz="950" dirty="0">
                <a:solidFill>
                  <a:srgbClr val="9A938A"/>
                </a:solidFill>
                <a:latin typeface="Yu Gothic" pitchFamily="34" charset="0"/>
                <a:ea typeface="Yu Gothic" pitchFamily="34" charset="-122"/>
                <a:cs typeface="Yu Gothic" pitchFamily="34" charset="-120"/>
              </a:rPr>
              <a:t>市中仕入原価</a:t>
            </a:r>
            <a:endParaRPr lang="en-US" sz="950" dirty="0"/>
          </a:p>
        </p:txBody>
      </p:sp>
      <p:sp>
        <p:nvSpPr>
          <p:cNvPr id="33" name="Text 31"/>
          <p:cNvSpPr/>
          <p:nvPr/>
        </p:nvSpPr>
        <p:spPr>
          <a:xfrm>
            <a:off x="6329477" y="2231136"/>
            <a:ext cx="1225296" cy="237744"/>
          </a:xfrm>
          <a:prstGeom prst="rect">
            <a:avLst/>
          </a:prstGeom>
          <a:noFill/>
          <a:ln/>
        </p:spPr>
        <p:txBody>
          <a:bodyPr wrap="square" lIns="0" tIns="0" rIns="0" bIns="0" rtlCol="0" anchor="ctr"/>
          <a:lstStyle/>
          <a:p>
            <a:pPr algn="r" indent="0" marL="0">
              <a:buNone/>
            </a:pPr>
            <a:r>
              <a:rPr lang="en-US" sz="1350" b="1" dirty="0">
                <a:solidFill>
                  <a:srgbClr val="EFEBE3"/>
                </a:solidFill>
                <a:latin typeface="Cambria" pitchFamily="34" charset="0"/>
                <a:ea typeface="Cambria" pitchFamily="34" charset="-122"/>
                <a:cs typeface="Cambria" pitchFamily="34" charset="-120"/>
              </a:rPr>
              <a:t>50.00</a:t>
            </a:r>
            <a:endParaRPr lang="en-US" sz="1350" dirty="0"/>
          </a:p>
        </p:txBody>
      </p:sp>
      <p:sp>
        <p:nvSpPr>
          <p:cNvPr id="34" name="Text 32"/>
          <p:cNvSpPr/>
          <p:nvPr/>
        </p:nvSpPr>
        <p:spPr>
          <a:xfrm>
            <a:off x="4636922" y="2519172"/>
            <a:ext cx="1966874" cy="237744"/>
          </a:xfrm>
          <a:prstGeom prst="rect">
            <a:avLst/>
          </a:prstGeom>
          <a:noFill/>
          <a:ln/>
        </p:spPr>
        <p:txBody>
          <a:bodyPr wrap="square" lIns="0" tIns="0" rIns="0" bIns="0" rtlCol="0" anchor="ctr"/>
          <a:lstStyle/>
          <a:p>
            <a:pPr indent="0" marL="0">
              <a:buNone/>
            </a:pPr>
            <a:r>
              <a:rPr lang="en-US" sz="950" dirty="0">
                <a:solidFill>
                  <a:srgbClr val="9A938A"/>
                </a:solidFill>
                <a:latin typeface="Yu Gothic" pitchFamily="34" charset="0"/>
                <a:ea typeface="Yu Gothic" pitchFamily="34" charset="-122"/>
                <a:cs typeface="Yu Gothic" pitchFamily="34" charset="-120"/>
              </a:rPr>
              <a:t>SPC取得原価（＋1%）</a:t>
            </a:r>
            <a:endParaRPr lang="en-US" sz="950" dirty="0"/>
          </a:p>
        </p:txBody>
      </p:sp>
      <p:sp>
        <p:nvSpPr>
          <p:cNvPr id="35" name="Text 33"/>
          <p:cNvSpPr/>
          <p:nvPr/>
        </p:nvSpPr>
        <p:spPr>
          <a:xfrm>
            <a:off x="6329477" y="2519172"/>
            <a:ext cx="1225296" cy="237744"/>
          </a:xfrm>
          <a:prstGeom prst="rect">
            <a:avLst/>
          </a:prstGeom>
          <a:noFill/>
          <a:ln/>
        </p:spPr>
        <p:txBody>
          <a:bodyPr wrap="square" lIns="0" tIns="0" rIns="0" bIns="0" rtlCol="0" anchor="ctr"/>
          <a:lstStyle/>
          <a:p>
            <a:pPr algn="r" indent="0" marL="0">
              <a:buNone/>
            </a:pPr>
            <a:r>
              <a:rPr lang="en-US" sz="1350" b="1" dirty="0">
                <a:solidFill>
                  <a:srgbClr val="C9A96E"/>
                </a:solidFill>
                <a:latin typeface="Cambria" pitchFamily="34" charset="0"/>
                <a:ea typeface="Cambria" pitchFamily="34" charset="-122"/>
                <a:cs typeface="Cambria" pitchFamily="34" charset="-120"/>
              </a:rPr>
              <a:t>50.50</a:t>
            </a:r>
            <a:endParaRPr lang="en-US" sz="1350" dirty="0"/>
          </a:p>
        </p:txBody>
      </p:sp>
      <p:sp>
        <p:nvSpPr>
          <p:cNvPr id="36" name="Text 34"/>
          <p:cNvSpPr/>
          <p:nvPr/>
        </p:nvSpPr>
        <p:spPr>
          <a:xfrm>
            <a:off x="4636922" y="2807208"/>
            <a:ext cx="1966874" cy="237744"/>
          </a:xfrm>
          <a:prstGeom prst="rect">
            <a:avLst/>
          </a:prstGeom>
          <a:noFill/>
          <a:ln/>
        </p:spPr>
        <p:txBody>
          <a:bodyPr wrap="square" lIns="0" tIns="0" rIns="0" bIns="0" rtlCol="0" anchor="ctr"/>
          <a:lstStyle/>
          <a:p>
            <a:pPr indent="0" marL="0">
              <a:buNone/>
            </a:pPr>
            <a:r>
              <a:rPr lang="en-US" sz="950" dirty="0">
                <a:solidFill>
                  <a:srgbClr val="9A938A"/>
                </a:solidFill>
                <a:latin typeface="Yu Gothic" pitchFamily="34" charset="0"/>
                <a:ea typeface="Yu Gothic" pitchFamily="34" charset="-122"/>
                <a:cs typeface="Yu Gothic" pitchFamily="34" charset="-120"/>
              </a:rPr>
              <a:t>取得時の売値</a:t>
            </a:r>
            <a:endParaRPr lang="en-US" sz="950" dirty="0"/>
          </a:p>
        </p:txBody>
      </p:sp>
      <p:sp>
        <p:nvSpPr>
          <p:cNvPr id="37" name="Text 35"/>
          <p:cNvSpPr/>
          <p:nvPr/>
        </p:nvSpPr>
        <p:spPr>
          <a:xfrm>
            <a:off x="6329477" y="2807208"/>
            <a:ext cx="1225296" cy="237744"/>
          </a:xfrm>
          <a:prstGeom prst="rect">
            <a:avLst/>
          </a:prstGeom>
          <a:noFill/>
          <a:ln/>
        </p:spPr>
        <p:txBody>
          <a:bodyPr wrap="square" lIns="0" tIns="0" rIns="0" bIns="0" rtlCol="0" anchor="ctr"/>
          <a:lstStyle/>
          <a:p>
            <a:pPr algn="r" indent="0" marL="0">
              <a:buNone/>
            </a:pPr>
            <a:r>
              <a:rPr lang="en-US" sz="1350" b="1" dirty="0">
                <a:solidFill>
                  <a:srgbClr val="EFEBE3"/>
                </a:solidFill>
                <a:latin typeface="Cambria" pitchFamily="34" charset="0"/>
                <a:ea typeface="Cambria" pitchFamily="34" charset="-122"/>
                <a:cs typeface="Cambria" pitchFamily="34" charset="-120"/>
              </a:rPr>
              <a:t>75.00</a:t>
            </a:r>
            <a:endParaRPr lang="en-US" sz="1350" dirty="0"/>
          </a:p>
        </p:txBody>
      </p:sp>
      <p:sp>
        <p:nvSpPr>
          <p:cNvPr id="38" name="Text 36"/>
          <p:cNvSpPr/>
          <p:nvPr/>
        </p:nvSpPr>
        <p:spPr>
          <a:xfrm>
            <a:off x="4636922" y="3095244"/>
            <a:ext cx="1966874" cy="237744"/>
          </a:xfrm>
          <a:prstGeom prst="rect">
            <a:avLst/>
          </a:prstGeom>
          <a:noFill/>
          <a:ln/>
        </p:spPr>
        <p:txBody>
          <a:bodyPr wrap="square" lIns="0" tIns="0" rIns="0" bIns="0" rtlCol="0" anchor="ctr"/>
          <a:lstStyle/>
          <a:p>
            <a:pPr indent="0" marL="0">
              <a:buNone/>
            </a:pPr>
            <a:r>
              <a:rPr lang="en-US" sz="950" dirty="0">
                <a:solidFill>
                  <a:srgbClr val="9A938A"/>
                </a:solidFill>
                <a:latin typeface="Yu Gothic" pitchFamily="34" charset="0"/>
                <a:ea typeface="Yu Gothic" pitchFamily="34" charset="-122"/>
                <a:cs typeface="Yu Gothic" pitchFamily="34" charset="-120"/>
              </a:rPr>
              <a:t>保有12ヶ月の上昇</a:t>
            </a:r>
            <a:endParaRPr lang="en-US" sz="950" dirty="0"/>
          </a:p>
        </p:txBody>
      </p:sp>
      <p:sp>
        <p:nvSpPr>
          <p:cNvPr id="39" name="Text 37"/>
          <p:cNvSpPr/>
          <p:nvPr/>
        </p:nvSpPr>
        <p:spPr>
          <a:xfrm>
            <a:off x="6329477" y="3095244"/>
            <a:ext cx="1225296" cy="237744"/>
          </a:xfrm>
          <a:prstGeom prst="rect">
            <a:avLst/>
          </a:prstGeom>
          <a:noFill/>
          <a:ln/>
        </p:spPr>
        <p:txBody>
          <a:bodyPr wrap="square" lIns="0" tIns="0" rIns="0" bIns="0" rtlCol="0" anchor="ctr"/>
          <a:lstStyle/>
          <a:p>
            <a:pPr algn="r" indent="0" marL="0">
              <a:buNone/>
            </a:pPr>
            <a:r>
              <a:rPr lang="en-US" sz="1250" b="1" dirty="0">
                <a:solidFill>
                  <a:srgbClr val="C9A96E"/>
                </a:solidFill>
                <a:latin typeface="Cambria" pitchFamily="34" charset="0"/>
                <a:ea typeface="Cambria" pitchFamily="34" charset="-122"/>
                <a:cs typeface="Cambria" pitchFamily="34" charset="-120"/>
              </a:rPr>
              <a:t>×1.060</a:t>
            </a:r>
            <a:endParaRPr lang="en-US" sz="1250" dirty="0"/>
          </a:p>
        </p:txBody>
      </p:sp>
      <p:sp>
        <p:nvSpPr>
          <p:cNvPr id="40" name="Text 38"/>
          <p:cNvSpPr/>
          <p:nvPr/>
        </p:nvSpPr>
        <p:spPr>
          <a:xfrm>
            <a:off x="4636922" y="3383280"/>
            <a:ext cx="1966874" cy="237744"/>
          </a:xfrm>
          <a:prstGeom prst="rect">
            <a:avLst/>
          </a:prstGeom>
          <a:noFill/>
          <a:ln/>
        </p:spPr>
        <p:txBody>
          <a:bodyPr wrap="square" lIns="0" tIns="0" rIns="0" bIns="0" rtlCol="0" anchor="ctr"/>
          <a:lstStyle/>
          <a:p>
            <a:pPr indent="0" marL="0">
              <a:buNone/>
            </a:pPr>
            <a:r>
              <a:rPr lang="en-US" sz="950" dirty="0">
                <a:solidFill>
                  <a:srgbClr val="9A938A"/>
                </a:solidFill>
                <a:latin typeface="Yu Gothic" pitchFamily="34" charset="0"/>
                <a:ea typeface="Yu Gothic" pitchFamily="34" charset="-122"/>
                <a:cs typeface="Yu Gothic" pitchFamily="34" charset="-120"/>
              </a:rPr>
              <a:t>売却時の売値</a:t>
            </a:r>
            <a:endParaRPr lang="en-US" sz="950" dirty="0"/>
          </a:p>
        </p:txBody>
      </p:sp>
      <p:sp>
        <p:nvSpPr>
          <p:cNvPr id="41" name="Text 39"/>
          <p:cNvSpPr/>
          <p:nvPr/>
        </p:nvSpPr>
        <p:spPr>
          <a:xfrm>
            <a:off x="6329477" y="3383280"/>
            <a:ext cx="1225296" cy="237744"/>
          </a:xfrm>
          <a:prstGeom prst="rect">
            <a:avLst/>
          </a:prstGeom>
          <a:noFill/>
          <a:ln/>
        </p:spPr>
        <p:txBody>
          <a:bodyPr wrap="square" lIns="0" tIns="0" rIns="0" bIns="0" rtlCol="0" anchor="ctr"/>
          <a:lstStyle/>
          <a:p>
            <a:pPr algn="r" indent="0" marL="0">
              <a:buNone/>
            </a:pPr>
            <a:r>
              <a:rPr lang="en-US" sz="1350" b="1" dirty="0">
                <a:solidFill>
                  <a:srgbClr val="EFEBE3"/>
                </a:solidFill>
                <a:latin typeface="Cambria" pitchFamily="34" charset="0"/>
                <a:ea typeface="Cambria" pitchFamily="34" charset="-122"/>
                <a:cs typeface="Cambria" pitchFamily="34" charset="-120"/>
              </a:rPr>
              <a:t>79.50</a:t>
            </a:r>
            <a:endParaRPr lang="en-US" sz="1350" dirty="0"/>
          </a:p>
        </p:txBody>
      </p:sp>
      <p:sp>
        <p:nvSpPr>
          <p:cNvPr id="42" name="Text 40"/>
          <p:cNvSpPr/>
          <p:nvPr/>
        </p:nvSpPr>
        <p:spPr>
          <a:xfrm>
            <a:off x="4636922" y="3671316"/>
            <a:ext cx="1966874" cy="237744"/>
          </a:xfrm>
          <a:prstGeom prst="rect">
            <a:avLst/>
          </a:prstGeom>
          <a:noFill/>
          <a:ln/>
        </p:spPr>
        <p:txBody>
          <a:bodyPr wrap="square" lIns="0" tIns="0" rIns="0" bIns="0" rtlCol="0" anchor="ctr"/>
          <a:lstStyle/>
          <a:p>
            <a:pPr indent="0" marL="0">
              <a:buNone/>
            </a:pPr>
            <a:r>
              <a:rPr lang="en-US" sz="950" dirty="0">
                <a:solidFill>
                  <a:srgbClr val="9A938A"/>
                </a:solidFill>
                <a:latin typeface="Yu Gothic" pitchFamily="34" charset="0"/>
                <a:ea typeface="Yu Gothic" pitchFamily="34" charset="-122"/>
                <a:cs typeface="Yu Gothic" pitchFamily="34" charset="-120"/>
              </a:rPr>
              <a:t>変動販売費</a:t>
            </a:r>
            <a:endParaRPr lang="en-US" sz="950" dirty="0"/>
          </a:p>
        </p:txBody>
      </p:sp>
      <p:sp>
        <p:nvSpPr>
          <p:cNvPr id="43" name="Text 41"/>
          <p:cNvSpPr/>
          <p:nvPr/>
        </p:nvSpPr>
        <p:spPr>
          <a:xfrm>
            <a:off x="6329477" y="3671316"/>
            <a:ext cx="1225296" cy="237744"/>
          </a:xfrm>
          <a:prstGeom prst="rect">
            <a:avLst/>
          </a:prstGeom>
          <a:noFill/>
          <a:ln/>
        </p:spPr>
        <p:txBody>
          <a:bodyPr wrap="square" lIns="0" tIns="0" rIns="0" bIns="0" rtlCol="0" anchor="ctr"/>
          <a:lstStyle/>
          <a:p>
            <a:pPr algn="r" indent="0" marL="0">
              <a:buNone/>
            </a:pPr>
            <a:r>
              <a:rPr lang="en-US" sz="1350" b="1" dirty="0">
                <a:solidFill>
                  <a:srgbClr val="B4553F"/>
                </a:solidFill>
                <a:latin typeface="Cambria" pitchFamily="34" charset="0"/>
                <a:ea typeface="Cambria" pitchFamily="34" charset="-122"/>
                <a:cs typeface="Cambria" pitchFamily="34" charset="-120"/>
              </a:rPr>
              <a:t>▲ 5.12</a:t>
            </a:r>
            <a:endParaRPr lang="en-US" sz="1350" dirty="0"/>
          </a:p>
        </p:txBody>
      </p:sp>
      <p:sp>
        <p:nvSpPr>
          <p:cNvPr id="44" name="Text 42"/>
          <p:cNvSpPr/>
          <p:nvPr/>
        </p:nvSpPr>
        <p:spPr>
          <a:xfrm>
            <a:off x="4636922" y="3959352"/>
            <a:ext cx="1966874" cy="237744"/>
          </a:xfrm>
          <a:prstGeom prst="rect">
            <a:avLst/>
          </a:prstGeom>
          <a:noFill/>
          <a:ln/>
        </p:spPr>
        <p:txBody>
          <a:bodyPr wrap="square" lIns="0" tIns="0" rIns="0" bIns="0" rtlCol="0" anchor="ctr"/>
          <a:lstStyle/>
          <a:p>
            <a:pPr indent="0" marL="0">
              <a:buNone/>
            </a:pPr>
            <a:r>
              <a:rPr lang="en-US" sz="950" dirty="0">
                <a:solidFill>
                  <a:srgbClr val="9A938A"/>
                </a:solidFill>
                <a:latin typeface="Yu Gothic" pitchFamily="34" charset="0"/>
                <a:ea typeface="Yu Gothic" pitchFamily="34" charset="-122"/>
                <a:cs typeface="Yu Gothic" pitchFamily="34" charset="-120"/>
              </a:rPr>
              <a:t>手取り</a:t>
            </a:r>
            <a:endParaRPr lang="en-US" sz="950" dirty="0"/>
          </a:p>
        </p:txBody>
      </p:sp>
      <p:sp>
        <p:nvSpPr>
          <p:cNvPr id="45" name="Text 43"/>
          <p:cNvSpPr/>
          <p:nvPr/>
        </p:nvSpPr>
        <p:spPr>
          <a:xfrm>
            <a:off x="6329477" y="3959352"/>
            <a:ext cx="1225296" cy="237744"/>
          </a:xfrm>
          <a:prstGeom prst="rect">
            <a:avLst/>
          </a:prstGeom>
          <a:noFill/>
          <a:ln/>
        </p:spPr>
        <p:txBody>
          <a:bodyPr wrap="square" lIns="0" tIns="0" rIns="0" bIns="0" rtlCol="0" anchor="ctr"/>
          <a:lstStyle/>
          <a:p>
            <a:pPr algn="r" indent="0" marL="0">
              <a:buNone/>
            </a:pPr>
            <a:r>
              <a:rPr lang="en-US" sz="1350" b="1" dirty="0">
                <a:solidFill>
                  <a:srgbClr val="C9A96E"/>
                </a:solidFill>
                <a:latin typeface="Cambria" pitchFamily="34" charset="0"/>
                <a:ea typeface="Cambria" pitchFamily="34" charset="-122"/>
                <a:cs typeface="Cambria" pitchFamily="34" charset="-120"/>
              </a:rPr>
              <a:t>74.38</a:t>
            </a:r>
            <a:endParaRPr lang="en-US" sz="1350" dirty="0"/>
          </a:p>
        </p:txBody>
      </p:sp>
      <p:sp>
        <p:nvSpPr>
          <p:cNvPr id="46" name="Text 44"/>
          <p:cNvSpPr/>
          <p:nvPr/>
        </p:nvSpPr>
        <p:spPr>
          <a:xfrm>
            <a:off x="4636922" y="4247388"/>
            <a:ext cx="1966874" cy="237744"/>
          </a:xfrm>
          <a:prstGeom prst="rect">
            <a:avLst/>
          </a:prstGeom>
          <a:noFill/>
          <a:ln/>
        </p:spPr>
        <p:txBody>
          <a:bodyPr wrap="square" lIns="0" tIns="0" rIns="0" bIns="0" rtlCol="0" anchor="ctr"/>
          <a:lstStyle/>
          <a:p>
            <a:pPr indent="0" marL="0">
              <a:buNone/>
            </a:pPr>
            <a:r>
              <a:rPr lang="en-US" sz="950" dirty="0">
                <a:solidFill>
                  <a:srgbClr val="9A938A"/>
                </a:solidFill>
                <a:latin typeface="Yu Gothic" pitchFamily="34" charset="0"/>
                <a:ea typeface="Yu Gothic" pitchFamily="34" charset="-122"/>
                <a:cs typeface="Yu Gothic" pitchFamily="34" charset="-120"/>
              </a:rPr>
              <a:t>単位粗利</a:t>
            </a:r>
            <a:endParaRPr lang="en-US" sz="950" dirty="0"/>
          </a:p>
        </p:txBody>
      </p:sp>
      <p:sp>
        <p:nvSpPr>
          <p:cNvPr id="47" name="Text 45"/>
          <p:cNvSpPr/>
          <p:nvPr/>
        </p:nvSpPr>
        <p:spPr>
          <a:xfrm>
            <a:off x="6329477" y="4247388"/>
            <a:ext cx="1225296" cy="237744"/>
          </a:xfrm>
          <a:prstGeom prst="rect">
            <a:avLst/>
          </a:prstGeom>
          <a:noFill/>
          <a:ln/>
        </p:spPr>
        <p:txBody>
          <a:bodyPr wrap="square" lIns="0" tIns="0" rIns="0" bIns="0" rtlCol="0" anchor="ctr"/>
          <a:lstStyle/>
          <a:p>
            <a:pPr algn="r" indent="0" marL="0">
              <a:buNone/>
            </a:pPr>
            <a:r>
              <a:rPr lang="en-US" sz="1350" b="1" dirty="0">
                <a:solidFill>
                  <a:srgbClr val="C9A96E"/>
                </a:solidFill>
                <a:latin typeface="Cambria" pitchFamily="34" charset="0"/>
                <a:ea typeface="Cambria" pitchFamily="34" charset="-122"/>
                <a:cs typeface="Cambria" pitchFamily="34" charset="-120"/>
              </a:rPr>
              <a:t>23.88</a:t>
            </a:r>
            <a:endParaRPr lang="en-US" sz="1350" dirty="0"/>
          </a:p>
        </p:txBody>
      </p:sp>
      <p:sp>
        <p:nvSpPr>
          <p:cNvPr id="48" name="Text 46"/>
          <p:cNvSpPr/>
          <p:nvPr/>
        </p:nvSpPr>
        <p:spPr>
          <a:xfrm>
            <a:off x="4636922" y="4535424"/>
            <a:ext cx="1966874" cy="237744"/>
          </a:xfrm>
          <a:prstGeom prst="rect">
            <a:avLst/>
          </a:prstGeom>
          <a:noFill/>
          <a:ln/>
        </p:spPr>
        <p:txBody>
          <a:bodyPr wrap="square" lIns="0" tIns="0" rIns="0" bIns="0" rtlCol="0" anchor="ctr"/>
          <a:lstStyle/>
          <a:p>
            <a:pPr indent="0" marL="0">
              <a:buNone/>
            </a:pPr>
            <a:r>
              <a:rPr lang="en-US" sz="950" dirty="0">
                <a:solidFill>
                  <a:srgbClr val="9A938A"/>
                </a:solidFill>
                <a:latin typeface="Yu Gothic" pitchFamily="34" charset="0"/>
                <a:ea typeface="Yu Gothic" pitchFamily="34" charset="-122"/>
                <a:cs typeface="Yu Gothic" pitchFamily="34" charset="-120"/>
              </a:rPr>
              <a:t>粗利率（売上比）</a:t>
            </a:r>
            <a:endParaRPr lang="en-US" sz="950" dirty="0"/>
          </a:p>
        </p:txBody>
      </p:sp>
      <p:sp>
        <p:nvSpPr>
          <p:cNvPr id="49" name="Text 47"/>
          <p:cNvSpPr/>
          <p:nvPr/>
        </p:nvSpPr>
        <p:spPr>
          <a:xfrm>
            <a:off x="6329477" y="4535424"/>
            <a:ext cx="1225296" cy="237744"/>
          </a:xfrm>
          <a:prstGeom prst="rect">
            <a:avLst/>
          </a:prstGeom>
          <a:noFill/>
          <a:ln/>
        </p:spPr>
        <p:txBody>
          <a:bodyPr wrap="square" lIns="0" tIns="0" rIns="0" bIns="0" rtlCol="0" anchor="ctr"/>
          <a:lstStyle/>
          <a:p>
            <a:pPr algn="r" indent="0" marL="0">
              <a:buNone/>
            </a:pPr>
            <a:r>
              <a:rPr lang="en-US" sz="1250" b="1" dirty="0">
                <a:solidFill>
                  <a:srgbClr val="C9A96E"/>
                </a:solidFill>
                <a:latin typeface="Cambria" pitchFamily="34" charset="0"/>
                <a:ea typeface="Cambria" pitchFamily="34" charset="-122"/>
                <a:cs typeface="Cambria" pitchFamily="34" charset="-120"/>
              </a:rPr>
              <a:t>30.0%</a:t>
            </a:r>
            <a:endParaRPr lang="en-US" sz="1250" dirty="0"/>
          </a:p>
        </p:txBody>
      </p:sp>
      <p:sp>
        <p:nvSpPr>
          <p:cNvPr id="50" name="Text 48"/>
          <p:cNvSpPr/>
          <p:nvPr/>
        </p:nvSpPr>
        <p:spPr>
          <a:xfrm>
            <a:off x="4636922" y="4823460"/>
            <a:ext cx="1966874" cy="237744"/>
          </a:xfrm>
          <a:prstGeom prst="rect">
            <a:avLst/>
          </a:prstGeom>
          <a:noFill/>
          <a:ln/>
        </p:spPr>
        <p:txBody>
          <a:bodyPr wrap="square" lIns="0" tIns="0" rIns="0" bIns="0" rtlCol="0" anchor="ctr"/>
          <a:lstStyle/>
          <a:p>
            <a:pPr indent="0" marL="0">
              <a:buNone/>
            </a:pPr>
            <a:r>
              <a:rPr lang="en-US" sz="950" dirty="0">
                <a:solidFill>
                  <a:srgbClr val="9A938A"/>
                </a:solidFill>
                <a:latin typeface="Yu Gothic" pitchFamily="34" charset="0"/>
                <a:ea typeface="Yu Gothic" pitchFamily="34" charset="-122"/>
                <a:cs typeface="Yu Gothic" pitchFamily="34" charset="-120"/>
              </a:rPr>
              <a:t>投下原価利益率</a:t>
            </a:r>
            <a:endParaRPr lang="en-US" sz="950" dirty="0"/>
          </a:p>
        </p:txBody>
      </p:sp>
      <p:sp>
        <p:nvSpPr>
          <p:cNvPr id="51" name="Text 49"/>
          <p:cNvSpPr/>
          <p:nvPr/>
        </p:nvSpPr>
        <p:spPr>
          <a:xfrm>
            <a:off x="6329477" y="4823460"/>
            <a:ext cx="1225296" cy="237744"/>
          </a:xfrm>
          <a:prstGeom prst="rect">
            <a:avLst/>
          </a:prstGeom>
          <a:noFill/>
          <a:ln/>
        </p:spPr>
        <p:txBody>
          <a:bodyPr wrap="square" lIns="0" tIns="0" rIns="0" bIns="0" rtlCol="0" anchor="ctr"/>
          <a:lstStyle/>
          <a:p>
            <a:pPr algn="r" indent="0" marL="0">
              <a:buNone/>
            </a:pPr>
            <a:r>
              <a:rPr lang="en-US" sz="1250" b="1" dirty="0">
                <a:solidFill>
                  <a:srgbClr val="C9A96E"/>
                </a:solidFill>
                <a:latin typeface="Cambria" pitchFamily="34" charset="0"/>
                <a:ea typeface="Cambria" pitchFamily="34" charset="-122"/>
                <a:cs typeface="Cambria" pitchFamily="34" charset="-120"/>
              </a:rPr>
              <a:t>47.3%</a:t>
            </a:r>
            <a:endParaRPr lang="en-US" sz="1250" dirty="0"/>
          </a:p>
        </p:txBody>
      </p:sp>
      <p:sp>
        <p:nvSpPr>
          <p:cNvPr id="52" name="Text 50"/>
          <p:cNvSpPr/>
          <p:nvPr/>
        </p:nvSpPr>
        <p:spPr>
          <a:xfrm>
            <a:off x="4636922" y="5084064"/>
            <a:ext cx="2917850" cy="365760"/>
          </a:xfrm>
          <a:prstGeom prst="rect">
            <a:avLst/>
          </a:prstGeom>
          <a:noFill/>
          <a:ln/>
        </p:spPr>
        <p:txBody>
          <a:bodyPr wrap="square" lIns="0" tIns="0" rIns="0" bIns="0" rtlCol="0" anchor="ctr"/>
          <a:lstStyle/>
          <a:p>
            <a:pPr indent="0" marL="0">
              <a:lnSpc>
                <a:spcPct val="120000"/>
              </a:lnSpc>
              <a:buNone/>
            </a:pPr>
            <a:r>
              <a:rPr lang="en-US" sz="900" dirty="0">
                <a:solidFill>
                  <a:srgbClr val="6E675E"/>
                </a:solidFill>
                <a:latin typeface="Yu Gothic" pitchFamily="34" charset="0"/>
                <a:ea typeface="Yu Gothic" pitchFamily="34" charset="-122"/>
                <a:cs typeface="Yu Gothic" pitchFamily="34" charset="-120"/>
              </a:rPr>
              <a:t>仕入40/60の半々・売却はB2B70とB2C80の半々・年6%上昇</a:t>
            </a:r>
            <a:endParaRPr lang="en-US" sz="900" dirty="0"/>
          </a:p>
        </p:txBody>
      </p:sp>
      <p:sp>
        <p:nvSpPr>
          <p:cNvPr id="53" name="Shape 51"/>
          <p:cNvSpPr/>
          <p:nvPr/>
        </p:nvSpPr>
        <p:spPr>
          <a:xfrm>
            <a:off x="8103413" y="1627632"/>
            <a:ext cx="3429914" cy="3931920"/>
          </a:xfrm>
          <a:prstGeom prst="roundRect">
            <a:avLst>
              <a:gd name="adj" fmla="val 1200"/>
            </a:avLst>
          </a:prstGeom>
          <a:solidFill>
            <a:srgbClr val="171614"/>
          </a:solidFill>
          <a:ln w="9525">
            <a:solidFill>
              <a:srgbClr val="2E2A24"/>
            </a:solidFill>
            <a:prstDash val="solid"/>
          </a:ln>
        </p:spPr>
      </p:sp>
      <p:sp>
        <p:nvSpPr>
          <p:cNvPr id="54" name="Text 52"/>
          <p:cNvSpPr/>
          <p:nvPr/>
        </p:nvSpPr>
        <p:spPr>
          <a:xfrm>
            <a:off x="8359445" y="1828800"/>
            <a:ext cx="2917850" cy="292608"/>
          </a:xfrm>
          <a:prstGeom prst="rect">
            <a:avLst/>
          </a:prstGeom>
          <a:noFill/>
          <a:ln/>
        </p:spPr>
        <p:txBody>
          <a:bodyPr wrap="square" lIns="0" tIns="0" rIns="0" bIns="0" rtlCol="0" anchor="ctr"/>
          <a:lstStyle/>
          <a:p>
            <a:pPr indent="0" marL="0">
              <a:buNone/>
            </a:pPr>
            <a:r>
              <a:rPr lang="en-US" sz="1300" b="1" dirty="0">
                <a:solidFill>
                  <a:srgbClr val="EFEBE3"/>
                </a:solidFill>
                <a:latin typeface="Yu Gothic" pitchFamily="34" charset="0"/>
                <a:ea typeface="Yu Gothic" pitchFamily="34" charset="-122"/>
                <a:cs typeface="Yu Gothic" pitchFamily="34" charset="-120"/>
              </a:rPr>
              <a:t>ポジティブ</a:t>
            </a:r>
            <a:endParaRPr lang="en-US" sz="1300" dirty="0"/>
          </a:p>
        </p:txBody>
      </p:sp>
      <p:sp>
        <p:nvSpPr>
          <p:cNvPr id="55" name="Text 53"/>
          <p:cNvSpPr/>
          <p:nvPr/>
        </p:nvSpPr>
        <p:spPr>
          <a:xfrm>
            <a:off x="8359445" y="2231136"/>
            <a:ext cx="1966874" cy="237744"/>
          </a:xfrm>
          <a:prstGeom prst="rect">
            <a:avLst/>
          </a:prstGeom>
          <a:noFill/>
          <a:ln/>
        </p:spPr>
        <p:txBody>
          <a:bodyPr wrap="square" lIns="0" tIns="0" rIns="0" bIns="0" rtlCol="0" anchor="ctr"/>
          <a:lstStyle/>
          <a:p>
            <a:pPr indent="0" marL="0">
              <a:buNone/>
            </a:pPr>
            <a:r>
              <a:rPr lang="en-US" sz="950" dirty="0">
                <a:solidFill>
                  <a:srgbClr val="9A938A"/>
                </a:solidFill>
                <a:latin typeface="Yu Gothic" pitchFamily="34" charset="0"/>
                <a:ea typeface="Yu Gothic" pitchFamily="34" charset="-122"/>
                <a:cs typeface="Yu Gothic" pitchFamily="34" charset="-120"/>
              </a:rPr>
              <a:t>市中仕入原価</a:t>
            </a:r>
            <a:endParaRPr lang="en-US" sz="950" dirty="0"/>
          </a:p>
        </p:txBody>
      </p:sp>
      <p:sp>
        <p:nvSpPr>
          <p:cNvPr id="56" name="Text 54"/>
          <p:cNvSpPr/>
          <p:nvPr/>
        </p:nvSpPr>
        <p:spPr>
          <a:xfrm>
            <a:off x="10051999" y="2231136"/>
            <a:ext cx="1225296" cy="237744"/>
          </a:xfrm>
          <a:prstGeom prst="rect">
            <a:avLst/>
          </a:prstGeom>
          <a:noFill/>
          <a:ln/>
        </p:spPr>
        <p:txBody>
          <a:bodyPr wrap="square" lIns="0" tIns="0" rIns="0" bIns="0" rtlCol="0" anchor="ctr"/>
          <a:lstStyle/>
          <a:p>
            <a:pPr algn="r" indent="0" marL="0">
              <a:buNone/>
            </a:pPr>
            <a:r>
              <a:rPr lang="en-US" sz="1350" b="1" dirty="0">
                <a:solidFill>
                  <a:srgbClr val="EFEBE3"/>
                </a:solidFill>
                <a:latin typeface="Cambria" pitchFamily="34" charset="0"/>
                <a:ea typeface="Cambria" pitchFamily="34" charset="-122"/>
                <a:cs typeface="Cambria" pitchFamily="34" charset="-120"/>
              </a:rPr>
              <a:t>40.00</a:t>
            </a:r>
            <a:endParaRPr lang="en-US" sz="1350" dirty="0"/>
          </a:p>
        </p:txBody>
      </p:sp>
      <p:sp>
        <p:nvSpPr>
          <p:cNvPr id="57" name="Text 55"/>
          <p:cNvSpPr/>
          <p:nvPr/>
        </p:nvSpPr>
        <p:spPr>
          <a:xfrm>
            <a:off x="8359445" y="2519172"/>
            <a:ext cx="1966874" cy="237744"/>
          </a:xfrm>
          <a:prstGeom prst="rect">
            <a:avLst/>
          </a:prstGeom>
          <a:noFill/>
          <a:ln/>
        </p:spPr>
        <p:txBody>
          <a:bodyPr wrap="square" lIns="0" tIns="0" rIns="0" bIns="0" rtlCol="0" anchor="ctr"/>
          <a:lstStyle/>
          <a:p>
            <a:pPr indent="0" marL="0">
              <a:buNone/>
            </a:pPr>
            <a:r>
              <a:rPr lang="en-US" sz="950" dirty="0">
                <a:solidFill>
                  <a:srgbClr val="9A938A"/>
                </a:solidFill>
                <a:latin typeface="Yu Gothic" pitchFamily="34" charset="0"/>
                <a:ea typeface="Yu Gothic" pitchFamily="34" charset="-122"/>
                <a:cs typeface="Yu Gothic" pitchFamily="34" charset="-120"/>
              </a:rPr>
              <a:t>SPC取得原価（＋1%）</a:t>
            </a:r>
            <a:endParaRPr lang="en-US" sz="950" dirty="0"/>
          </a:p>
        </p:txBody>
      </p:sp>
      <p:sp>
        <p:nvSpPr>
          <p:cNvPr id="58" name="Text 56"/>
          <p:cNvSpPr/>
          <p:nvPr/>
        </p:nvSpPr>
        <p:spPr>
          <a:xfrm>
            <a:off x="10051999" y="2519172"/>
            <a:ext cx="1225296" cy="237744"/>
          </a:xfrm>
          <a:prstGeom prst="rect">
            <a:avLst/>
          </a:prstGeom>
          <a:noFill/>
          <a:ln/>
        </p:spPr>
        <p:txBody>
          <a:bodyPr wrap="square" lIns="0" tIns="0" rIns="0" bIns="0" rtlCol="0" anchor="ctr"/>
          <a:lstStyle/>
          <a:p>
            <a:pPr algn="r" indent="0" marL="0">
              <a:buNone/>
            </a:pPr>
            <a:r>
              <a:rPr lang="en-US" sz="1350" b="1" dirty="0">
                <a:solidFill>
                  <a:srgbClr val="EFEBE3"/>
                </a:solidFill>
                <a:latin typeface="Cambria" pitchFamily="34" charset="0"/>
                <a:ea typeface="Cambria" pitchFamily="34" charset="-122"/>
                <a:cs typeface="Cambria" pitchFamily="34" charset="-120"/>
              </a:rPr>
              <a:t>40.40</a:t>
            </a:r>
            <a:endParaRPr lang="en-US" sz="1350" dirty="0"/>
          </a:p>
        </p:txBody>
      </p:sp>
      <p:sp>
        <p:nvSpPr>
          <p:cNvPr id="59" name="Text 57"/>
          <p:cNvSpPr/>
          <p:nvPr/>
        </p:nvSpPr>
        <p:spPr>
          <a:xfrm>
            <a:off x="8359445" y="2807208"/>
            <a:ext cx="1966874" cy="237744"/>
          </a:xfrm>
          <a:prstGeom prst="rect">
            <a:avLst/>
          </a:prstGeom>
          <a:noFill/>
          <a:ln/>
        </p:spPr>
        <p:txBody>
          <a:bodyPr wrap="square" lIns="0" tIns="0" rIns="0" bIns="0" rtlCol="0" anchor="ctr"/>
          <a:lstStyle/>
          <a:p>
            <a:pPr indent="0" marL="0">
              <a:buNone/>
            </a:pPr>
            <a:r>
              <a:rPr lang="en-US" sz="950" dirty="0">
                <a:solidFill>
                  <a:srgbClr val="9A938A"/>
                </a:solidFill>
                <a:latin typeface="Yu Gothic" pitchFamily="34" charset="0"/>
                <a:ea typeface="Yu Gothic" pitchFamily="34" charset="-122"/>
                <a:cs typeface="Yu Gothic" pitchFamily="34" charset="-120"/>
              </a:rPr>
              <a:t>取得時の売値</a:t>
            </a:r>
            <a:endParaRPr lang="en-US" sz="950" dirty="0"/>
          </a:p>
        </p:txBody>
      </p:sp>
      <p:sp>
        <p:nvSpPr>
          <p:cNvPr id="60" name="Text 58"/>
          <p:cNvSpPr/>
          <p:nvPr/>
        </p:nvSpPr>
        <p:spPr>
          <a:xfrm>
            <a:off x="10051999" y="2807208"/>
            <a:ext cx="1225296" cy="237744"/>
          </a:xfrm>
          <a:prstGeom prst="rect">
            <a:avLst/>
          </a:prstGeom>
          <a:noFill/>
          <a:ln/>
        </p:spPr>
        <p:txBody>
          <a:bodyPr wrap="square" lIns="0" tIns="0" rIns="0" bIns="0" rtlCol="0" anchor="ctr"/>
          <a:lstStyle/>
          <a:p>
            <a:pPr algn="r" indent="0" marL="0">
              <a:buNone/>
            </a:pPr>
            <a:r>
              <a:rPr lang="en-US" sz="1350" b="1" dirty="0">
                <a:solidFill>
                  <a:srgbClr val="EFEBE3"/>
                </a:solidFill>
                <a:latin typeface="Cambria" pitchFamily="34" charset="0"/>
                <a:ea typeface="Cambria" pitchFamily="34" charset="-122"/>
                <a:cs typeface="Cambria" pitchFamily="34" charset="-120"/>
              </a:rPr>
              <a:t>80.00</a:t>
            </a:r>
            <a:endParaRPr lang="en-US" sz="1350" dirty="0"/>
          </a:p>
        </p:txBody>
      </p:sp>
      <p:sp>
        <p:nvSpPr>
          <p:cNvPr id="61" name="Text 59"/>
          <p:cNvSpPr/>
          <p:nvPr/>
        </p:nvSpPr>
        <p:spPr>
          <a:xfrm>
            <a:off x="8359445" y="3095244"/>
            <a:ext cx="1966874" cy="237744"/>
          </a:xfrm>
          <a:prstGeom prst="rect">
            <a:avLst/>
          </a:prstGeom>
          <a:noFill/>
          <a:ln/>
        </p:spPr>
        <p:txBody>
          <a:bodyPr wrap="square" lIns="0" tIns="0" rIns="0" bIns="0" rtlCol="0" anchor="ctr"/>
          <a:lstStyle/>
          <a:p>
            <a:pPr indent="0" marL="0">
              <a:buNone/>
            </a:pPr>
            <a:r>
              <a:rPr lang="en-US" sz="950" dirty="0">
                <a:solidFill>
                  <a:srgbClr val="9A938A"/>
                </a:solidFill>
                <a:latin typeface="Yu Gothic" pitchFamily="34" charset="0"/>
                <a:ea typeface="Yu Gothic" pitchFamily="34" charset="-122"/>
                <a:cs typeface="Yu Gothic" pitchFamily="34" charset="-120"/>
              </a:rPr>
              <a:t>保有12ヶ月の上昇</a:t>
            </a:r>
            <a:endParaRPr lang="en-US" sz="950" dirty="0"/>
          </a:p>
        </p:txBody>
      </p:sp>
      <p:sp>
        <p:nvSpPr>
          <p:cNvPr id="62" name="Text 60"/>
          <p:cNvSpPr/>
          <p:nvPr/>
        </p:nvSpPr>
        <p:spPr>
          <a:xfrm>
            <a:off x="10051999" y="3095244"/>
            <a:ext cx="1225296" cy="237744"/>
          </a:xfrm>
          <a:prstGeom prst="rect">
            <a:avLst/>
          </a:prstGeom>
          <a:noFill/>
          <a:ln/>
        </p:spPr>
        <p:txBody>
          <a:bodyPr wrap="square" lIns="0" tIns="0" rIns="0" bIns="0" rtlCol="0" anchor="ctr"/>
          <a:lstStyle/>
          <a:p>
            <a:pPr algn="r" indent="0" marL="0">
              <a:buNone/>
            </a:pPr>
            <a:r>
              <a:rPr lang="en-US" sz="1250" b="1" dirty="0">
                <a:solidFill>
                  <a:srgbClr val="EFEBE3"/>
                </a:solidFill>
                <a:latin typeface="Cambria" pitchFamily="34" charset="0"/>
                <a:ea typeface="Cambria" pitchFamily="34" charset="-122"/>
                <a:cs typeface="Cambria" pitchFamily="34" charset="-120"/>
              </a:rPr>
              <a:t>×1.060</a:t>
            </a:r>
            <a:endParaRPr lang="en-US" sz="1250" dirty="0"/>
          </a:p>
        </p:txBody>
      </p:sp>
      <p:sp>
        <p:nvSpPr>
          <p:cNvPr id="63" name="Text 61"/>
          <p:cNvSpPr/>
          <p:nvPr/>
        </p:nvSpPr>
        <p:spPr>
          <a:xfrm>
            <a:off x="8359445" y="3383280"/>
            <a:ext cx="1966874" cy="237744"/>
          </a:xfrm>
          <a:prstGeom prst="rect">
            <a:avLst/>
          </a:prstGeom>
          <a:noFill/>
          <a:ln/>
        </p:spPr>
        <p:txBody>
          <a:bodyPr wrap="square" lIns="0" tIns="0" rIns="0" bIns="0" rtlCol="0" anchor="ctr"/>
          <a:lstStyle/>
          <a:p>
            <a:pPr indent="0" marL="0">
              <a:buNone/>
            </a:pPr>
            <a:r>
              <a:rPr lang="en-US" sz="950" dirty="0">
                <a:solidFill>
                  <a:srgbClr val="9A938A"/>
                </a:solidFill>
                <a:latin typeface="Yu Gothic" pitchFamily="34" charset="0"/>
                <a:ea typeface="Yu Gothic" pitchFamily="34" charset="-122"/>
                <a:cs typeface="Yu Gothic" pitchFamily="34" charset="-120"/>
              </a:rPr>
              <a:t>売却時の売値</a:t>
            </a:r>
            <a:endParaRPr lang="en-US" sz="950" dirty="0"/>
          </a:p>
        </p:txBody>
      </p:sp>
      <p:sp>
        <p:nvSpPr>
          <p:cNvPr id="64" name="Text 62"/>
          <p:cNvSpPr/>
          <p:nvPr/>
        </p:nvSpPr>
        <p:spPr>
          <a:xfrm>
            <a:off x="10051999" y="3383280"/>
            <a:ext cx="1225296" cy="237744"/>
          </a:xfrm>
          <a:prstGeom prst="rect">
            <a:avLst/>
          </a:prstGeom>
          <a:noFill/>
          <a:ln/>
        </p:spPr>
        <p:txBody>
          <a:bodyPr wrap="square" lIns="0" tIns="0" rIns="0" bIns="0" rtlCol="0" anchor="ctr"/>
          <a:lstStyle/>
          <a:p>
            <a:pPr algn="r" indent="0" marL="0">
              <a:buNone/>
            </a:pPr>
            <a:r>
              <a:rPr lang="en-US" sz="1350" b="1" dirty="0">
                <a:solidFill>
                  <a:srgbClr val="EFEBE3"/>
                </a:solidFill>
                <a:latin typeface="Cambria" pitchFamily="34" charset="0"/>
                <a:ea typeface="Cambria" pitchFamily="34" charset="-122"/>
                <a:cs typeface="Cambria" pitchFamily="34" charset="-120"/>
              </a:rPr>
              <a:t>84.80</a:t>
            </a:r>
            <a:endParaRPr lang="en-US" sz="1350" dirty="0"/>
          </a:p>
        </p:txBody>
      </p:sp>
      <p:sp>
        <p:nvSpPr>
          <p:cNvPr id="65" name="Text 63"/>
          <p:cNvSpPr/>
          <p:nvPr/>
        </p:nvSpPr>
        <p:spPr>
          <a:xfrm>
            <a:off x="8359445" y="3671316"/>
            <a:ext cx="1966874" cy="237744"/>
          </a:xfrm>
          <a:prstGeom prst="rect">
            <a:avLst/>
          </a:prstGeom>
          <a:noFill/>
          <a:ln/>
        </p:spPr>
        <p:txBody>
          <a:bodyPr wrap="square" lIns="0" tIns="0" rIns="0" bIns="0" rtlCol="0" anchor="ctr"/>
          <a:lstStyle/>
          <a:p>
            <a:pPr indent="0" marL="0">
              <a:buNone/>
            </a:pPr>
            <a:r>
              <a:rPr lang="en-US" sz="950" dirty="0">
                <a:solidFill>
                  <a:srgbClr val="9A938A"/>
                </a:solidFill>
                <a:latin typeface="Yu Gothic" pitchFamily="34" charset="0"/>
                <a:ea typeface="Yu Gothic" pitchFamily="34" charset="-122"/>
                <a:cs typeface="Yu Gothic" pitchFamily="34" charset="-120"/>
              </a:rPr>
              <a:t>変動販売費</a:t>
            </a:r>
            <a:endParaRPr lang="en-US" sz="950" dirty="0"/>
          </a:p>
        </p:txBody>
      </p:sp>
      <p:sp>
        <p:nvSpPr>
          <p:cNvPr id="66" name="Text 64"/>
          <p:cNvSpPr/>
          <p:nvPr/>
        </p:nvSpPr>
        <p:spPr>
          <a:xfrm>
            <a:off x="10051999" y="3671316"/>
            <a:ext cx="1225296" cy="237744"/>
          </a:xfrm>
          <a:prstGeom prst="rect">
            <a:avLst/>
          </a:prstGeom>
          <a:noFill/>
          <a:ln/>
        </p:spPr>
        <p:txBody>
          <a:bodyPr wrap="square" lIns="0" tIns="0" rIns="0" bIns="0" rtlCol="0" anchor="ctr"/>
          <a:lstStyle/>
          <a:p>
            <a:pPr algn="r" indent="0" marL="0">
              <a:buNone/>
            </a:pPr>
            <a:r>
              <a:rPr lang="en-US" sz="1350" b="1" dirty="0">
                <a:solidFill>
                  <a:srgbClr val="B4553F"/>
                </a:solidFill>
                <a:latin typeface="Cambria" pitchFamily="34" charset="0"/>
                <a:ea typeface="Cambria" pitchFamily="34" charset="-122"/>
                <a:cs typeface="Cambria" pitchFamily="34" charset="-120"/>
              </a:rPr>
              <a:t>▲ 9.50</a:t>
            </a:r>
            <a:endParaRPr lang="en-US" sz="1350" dirty="0"/>
          </a:p>
        </p:txBody>
      </p:sp>
      <p:sp>
        <p:nvSpPr>
          <p:cNvPr id="67" name="Text 65"/>
          <p:cNvSpPr/>
          <p:nvPr/>
        </p:nvSpPr>
        <p:spPr>
          <a:xfrm>
            <a:off x="8359445" y="3959352"/>
            <a:ext cx="1966874" cy="237744"/>
          </a:xfrm>
          <a:prstGeom prst="rect">
            <a:avLst/>
          </a:prstGeom>
          <a:noFill/>
          <a:ln/>
        </p:spPr>
        <p:txBody>
          <a:bodyPr wrap="square" lIns="0" tIns="0" rIns="0" bIns="0" rtlCol="0" anchor="ctr"/>
          <a:lstStyle/>
          <a:p>
            <a:pPr indent="0" marL="0">
              <a:buNone/>
            </a:pPr>
            <a:r>
              <a:rPr lang="en-US" sz="950" dirty="0">
                <a:solidFill>
                  <a:srgbClr val="9A938A"/>
                </a:solidFill>
                <a:latin typeface="Yu Gothic" pitchFamily="34" charset="0"/>
                <a:ea typeface="Yu Gothic" pitchFamily="34" charset="-122"/>
                <a:cs typeface="Yu Gothic" pitchFamily="34" charset="-120"/>
              </a:rPr>
              <a:t>手取り</a:t>
            </a:r>
            <a:endParaRPr lang="en-US" sz="950" dirty="0"/>
          </a:p>
        </p:txBody>
      </p:sp>
      <p:sp>
        <p:nvSpPr>
          <p:cNvPr id="68" name="Text 66"/>
          <p:cNvSpPr/>
          <p:nvPr/>
        </p:nvSpPr>
        <p:spPr>
          <a:xfrm>
            <a:off x="10051999" y="3959352"/>
            <a:ext cx="1225296" cy="237744"/>
          </a:xfrm>
          <a:prstGeom prst="rect">
            <a:avLst/>
          </a:prstGeom>
          <a:noFill/>
          <a:ln/>
        </p:spPr>
        <p:txBody>
          <a:bodyPr wrap="square" lIns="0" tIns="0" rIns="0" bIns="0" rtlCol="0" anchor="ctr"/>
          <a:lstStyle/>
          <a:p>
            <a:pPr algn="r" indent="0" marL="0">
              <a:buNone/>
            </a:pPr>
            <a:r>
              <a:rPr lang="en-US" sz="1350" b="1" dirty="0">
                <a:solidFill>
                  <a:srgbClr val="EFEBE3"/>
                </a:solidFill>
                <a:latin typeface="Cambria" pitchFamily="34" charset="0"/>
                <a:ea typeface="Cambria" pitchFamily="34" charset="-122"/>
                <a:cs typeface="Cambria" pitchFamily="34" charset="-120"/>
              </a:rPr>
              <a:t>75.30</a:t>
            </a:r>
            <a:endParaRPr lang="en-US" sz="1350" dirty="0"/>
          </a:p>
        </p:txBody>
      </p:sp>
      <p:sp>
        <p:nvSpPr>
          <p:cNvPr id="69" name="Text 67"/>
          <p:cNvSpPr/>
          <p:nvPr/>
        </p:nvSpPr>
        <p:spPr>
          <a:xfrm>
            <a:off x="8359445" y="4247388"/>
            <a:ext cx="1966874" cy="237744"/>
          </a:xfrm>
          <a:prstGeom prst="rect">
            <a:avLst/>
          </a:prstGeom>
          <a:noFill/>
          <a:ln/>
        </p:spPr>
        <p:txBody>
          <a:bodyPr wrap="square" lIns="0" tIns="0" rIns="0" bIns="0" rtlCol="0" anchor="ctr"/>
          <a:lstStyle/>
          <a:p>
            <a:pPr indent="0" marL="0">
              <a:buNone/>
            </a:pPr>
            <a:r>
              <a:rPr lang="en-US" sz="950" dirty="0">
                <a:solidFill>
                  <a:srgbClr val="9A938A"/>
                </a:solidFill>
                <a:latin typeface="Yu Gothic" pitchFamily="34" charset="0"/>
                <a:ea typeface="Yu Gothic" pitchFamily="34" charset="-122"/>
                <a:cs typeface="Yu Gothic" pitchFamily="34" charset="-120"/>
              </a:rPr>
              <a:t>単位粗利</a:t>
            </a:r>
            <a:endParaRPr lang="en-US" sz="950" dirty="0"/>
          </a:p>
        </p:txBody>
      </p:sp>
      <p:sp>
        <p:nvSpPr>
          <p:cNvPr id="70" name="Text 68"/>
          <p:cNvSpPr/>
          <p:nvPr/>
        </p:nvSpPr>
        <p:spPr>
          <a:xfrm>
            <a:off x="10051999" y="4247388"/>
            <a:ext cx="1225296" cy="237744"/>
          </a:xfrm>
          <a:prstGeom prst="rect">
            <a:avLst/>
          </a:prstGeom>
          <a:noFill/>
          <a:ln/>
        </p:spPr>
        <p:txBody>
          <a:bodyPr wrap="square" lIns="0" tIns="0" rIns="0" bIns="0" rtlCol="0" anchor="ctr"/>
          <a:lstStyle/>
          <a:p>
            <a:pPr algn="r" indent="0" marL="0">
              <a:buNone/>
            </a:pPr>
            <a:r>
              <a:rPr lang="en-US" sz="1350" b="1" dirty="0">
                <a:solidFill>
                  <a:srgbClr val="EFEBE3"/>
                </a:solidFill>
                <a:latin typeface="Cambria" pitchFamily="34" charset="0"/>
                <a:ea typeface="Cambria" pitchFamily="34" charset="-122"/>
                <a:cs typeface="Cambria" pitchFamily="34" charset="-120"/>
              </a:rPr>
              <a:t>34.90</a:t>
            </a:r>
            <a:endParaRPr lang="en-US" sz="1350" dirty="0"/>
          </a:p>
        </p:txBody>
      </p:sp>
      <p:sp>
        <p:nvSpPr>
          <p:cNvPr id="71" name="Text 69"/>
          <p:cNvSpPr/>
          <p:nvPr/>
        </p:nvSpPr>
        <p:spPr>
          <a:xfrm>
            <a:off x="8359445" y="4535424"/>
            <a:ext cx="1966874" cy="237744"/>
          </a:xfrm>
          <a:prstGeom prst="rect">
            <a:avLst/>
          </a:prstGeom>
          <a:noFill/>
          <a:ln/>
        </p:spPr>
        <p:txBody>
          <a:bodyPr wrap="square" lIns="0" tIns="0" rIns="0" bIns="0" rtlCol="0" anchor="ctr"/>
          <a:lstStyle/>
          <a:p>
            <a:pPr indent="0" marL="0">
              <a:buNone/>
            </a:pPr>
            <a:r>
              <a:rPr lang="en-US" sz="950" dirty="0">
                <a:solidFill>
                  <a:srgbClr val="9A938A"/>
                </a:solidFill>
                <a:latin typeface="Yu Gothic" pitchFamily="34" charset="0"/>
                <a:ea typeface="Yu Gothic" pitchFamily="34" charset="-122"/>
                <a:cs typeface="Yu Gothic" pitchFamily="34" charset="-120"/>
              </a:rPr>
              <a:t>粗利率（売上比）</a:t>
            </a:r>
            <a:endParaRPr lang="en-US" sz="950" dirty="0"/>
          </a:p>
        </p:txBody>
      </p:sp>
      <p:sp>
        <p:nvSpPr>
          <p:cNvPr id="72" name="Text 70"/>
          <p:cNvSpPr/>
          <p:nvPr/>
        </p:nvSpPr>
        <p:spPr>
          <a:xfrm>
            <a:off x="10051999" y="4535424"/>
            <a:ext cx="1225296" cy="237744"/>
          </a:xfrm>
          <a:prstGeom prst="rect">
            <a:avLst/>
          </a:prstGeom>
          <a:noFill/>
          <a:ln/>
        </p:spPr>
        <p:txBody>
          <a:bodyPr wrap="square" lIns="0" tIns="0" rIns="0" bIns="0" rtlCol="0" anchor="ctr"/>
          <a:lstStyle/>
          <a:p>
            <a:pPr algn="r" indent="0" marL="0">
              <a:buNone/>
            </a:pPr>
            <a:r>
              <a:rPr lang="en-US" sz="1250" b="1" dirty="0">
                <a:solidFill>
                  <a:srgbClr val="EFEBE3"/>
                </a:solidFill>
                <a:latin typeface="Cambria" pitchFamily="34" charset="0"/>
                <a:ea typeface="Cambria" pitchFamily="34" charset="-122"/>
                <a:cs typeface="Cambria" pitchFamily="34" charset="-120"/>
              </a:rPr>
              <a:t>41.2%</a:t>
            </a:r>
            <a:endParaRPr lang="en-US" sz="1250" dirty="0"/>
          </a:p>
        </p:txBody>
      </p:sp>
      <p:sp>
        <p:nvSpPr>
          <p:cNvPr id="73" name="Text 71"/>
          <p:cNvSpPr/>
          <p:nvPr/>
        </p:nvSpPr>
        <p:spPr>
          <a:xfrm>
            <a:off x="8359445" y="4823460"/>
            <a:ext cx="1966874" cy="237744"/>
          </a:xfrm>
          <a:prstGeom prst="rect">
            <a:avLst/>
          </a:prstGeom>
          <a:noFill/>
          <a:ln/>
        </p:spPr>
        <p:txBody>
          <a:bodyPr wrap="square" lIns="0" tIns="0" rIns="0" bIns="0" rtlCol="0" anchor="ctr"/>
          <a:lstStyle/>
          <a:p>
            <a:pPr indent="0" marL="0">
              <a:buNone/>
            </a:pPr>
            <a:r>
              <a:rPr lang="en-US" sz="950" dirty="0">
                <a:solidFill>
                  <a:srgbClr val="9A938A"/>
                </a:solidFill>
                <a:latin typeface="Yu Gothic" pitchFamily="34" charset="0"/>
                <a:ea typeface="Yu Gothic" pitchFamily="34" charset="-122"/>
                <a:cs typeface="Yu Gothic" pitchFamily="34" charset="-120"/>
              </a:rPr>
              <a:t>投下原価利益率</a:t>
            </a:r>
            <a:endParaRPr lang="en-US" sz="950" dirty="0"/>
          </a:p>
        </p:txBody>
      </p:sp>
      <p:sp>
        <p:nvSpPr>
          <p:cNvPr id="74" name="Text 72"/>
          <p:cNvSpPr/>
          <p:nvPr/>
        </p:nvSpPr>
        <p:spPr>
          <a:xfrm>
            <a:off x="10051999" y="4823460"/>
            <a:ext cx="1225296" cy="237744"/>
          </a:xfrm>
          <a:prstGeom prst="rect">
            <a:avLst/>
          </a:prstGeom>
          <a:noFill/>
          <a:ln/>
        </p:spPr>
        <p:txBody>
          <a:bodyPr wrap="square" lIns="0" tIns="0" rIns="0" bIns="0" rtlCol="0" anchor="ctr"/>
          <a:lstStyle/>
          <a:p>
            <a:pPr algn="r" indent="0" marL="0">
              <a:buNone/>
            </a:pPr>
            <a:r>
              <a:rPr lang="en-US" sz="1250" b="1" dirty="0">
                <a:solidFill>
                  <a:srgbClr val="EFEBE3"/>
                </a:solidFill>
                <a:latin typeface="Cambria" pitchFamily="34" charset="0"/>
                <a:ea typeface="Cambria" pitchFamily="34" charset="-122"/>
                <a:cs typeface="Cambria" pitchFamily="34" charset="-120"/>
              </a:rPr>
              <a:t>86.4%</a:t>
            </a:r>
            <a:endParaRPr lang="en-US" sz="1250" dirty="0"/>
          </a:p>
        </p:txBody>
      </p:sp>
      <p:sp>
        <p:nvSpPr>
          <p:cNvPr id="75" name="Text 73"/>
          <p:cNvSpPr/>
          <p:nvPr/>
        </p:nvSpPr>
        <p:spPr>
          <a:xfrm>
            <a:off x="8359445" y="5084064"/>
            <a:ext cx="2917850" cy="365760"/>
          </a:xfrm>
          <a:prstGeom prst="rect">
            <a:avLst/>
          </a:prstGeom>
          <a:noFill/>
          <a:ln/>
        </p:spPr>
        <p:txBody>
          <a:bodyPr wrap="square" lIns="0" tIns="0" rIns="0" bIns="0" rtlCol="0" anchor="ctr"/>
          <a:lstStyle/>
          <a:p>
            <a:pPr indent="0" marL="0">
              <a:lnSpc>
                <a:spcPct val="120000"/>
              </a:lnSpc>
              <a:buNone/>
            </a:pPr>
            <a:r>
              <a:rPr lang="en-US" sz="900" dirty="0">
                <a:solidFill>
                  <a:srgbClr val="6E675E"/>
                </a:solidFill>
                <a:latin typeface="Yu Gothic" pitchFamily="34" charset="0"/>
                <a:ea typeface="Yu Gothic" pitchFamily="34" charset="-122"/>
                <a:cs typeface="Yu Gothic" pitchFamily="34" charset="-120"/>
              </a:rPr>
              <a:t>仕入はインポーター40のみ・売却はネット最安80のみ（B2C100%）</a:t>
            </a:r>
            <a:endParaRPr lang="en-US" sz="900" dirty="0"/>
          </a:p>
        </p:txBody>
      </p:sp>
      <p:sp>
        <p:nvSpPr>
          <p:cNvPr id="76" name="Text 74"/>
          <p:cNvSpPr/>
          <p:nvPr/>
        </p:nvSpPr>
        <p:spPr>
          <a:xfrm>
            <a:off x="658368" y="5687568"/>
            <a:ext cx="10874959" cy="365760"/>
          </a:xfrm>
          <a:prstGeom prst="rect">
            <a:avLst/>
          </a:prstGeom>
          <a:noFill/>
          <a:ln/>
        </p:spPr>
        <p:txBody>
          <a:bodyPr wrap="square" lIns="0" tIns="0" rIns="0" bIns="0" rtlCol="0" anchor="ctr"/>
          <a:lstStyle/>
          <a:p>
            <a:pPr indent="0" marL="0">
              <a:lnSpc>
                <a:spcPct val="120000"/>
              </a:lnSpc>
              <a:buNone/>
            </a:pPr>
            <a:r>
              <a:rPr lang="en-US" sz="850" dirty="0">
                <a:solidFill>
                  <a:srgbClr val="6E675E"/>
                </a:solidFill>
                <a:latin typeface="Yu Gothic" pitchFamily="34" charset="0"/>
                <a:ea typeface="Yu Gothic" pitchFamily="34" charset="-122"/>
                <a:cs typeface="Yu Gothic" pitchFamily="34" charset="-120"/>
              </a:rPr>
              <a:t>※ 粗利率（売上比）は単位粗利を売却時の売値で除したもの、投下原価利益率は投下資本であるSPC取得原価で除したもの。分母が異なるだけで同じ単位粗利を見ている。利回りの源泉となるのは後者であり、年1回転すれば投下資本が年47.3%増えることを意味する。</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C0C0C"/>
        </a:solidFill>
      </p:bgPr>
    </p:bg>
    <p:spTree>
      <p:nvGrpSpPr>
        <p:cNvPr id="1" name=""/>
        <p:cNvGrpSpPr/>
        <p:nvPr/>
      </p:nvGrpSpPr>
      <p:grpSpPr>
        <a:xfrm>
          <a:off x="0" y="0"/>
          <a:ext cx="0" cy="0"/>
          <a:chOff x="0" y="0"/>
          <a:chExt cx="0" cy="0"/>
        </a:xfrm>
      </p:grpSpPr>
      <p:sp>
        <p:nvSpPr>
          <p:cNvPr id="2" name="Text 0"/>
          <p:cNvSpPr/>
          <p:nvPr/>
        </p:nvSpPr>
        <p:spPr>
          <a:xfrm>
            <a:off x="658368" y="384048"/>
            <a:ext cx="10874959" cy="219456"/>
          </a:xfrm>
          <a:prstGeom prst="rect">
            <a:avLst/>
          </a:prstGeom>
          <a:noFill/>
          <a:ln/>
        </p:spPr>
        <p:txBody>
          <a:bodyPr wrap="square" lIns="0" tIns="0" rIns="0" bIns="0" rtlCol="0" anchor="ctr"/>
          <a:lstStyle/>
          <a:p>
            <a:pPr indent="0" marL="0">
              <a:buNone/>
            </a:pPr>
            <a:r>
              <a:rPr lang="en-US" sz="1050" b="1" spc="340" kern="0" dirty="0">
                <a:solidFill>
                  <a:srgbClr val="A78450"/>
                </a:solidFill>
                <a:latin typeface="Cambria" pitchFamily="34" charset="0"/>
                <a:ea typeface="Cambria" pitchFamily="34" charset="-122"/>
                <a:cs typeface="Cambria" pitchFamily="34" charset="-120"/>
              </a:rPr>
              <a:t>COST ASSUMPTIONS</a:t>
            </a:r>
            <a:endParaRPr lang="en-US" sz="1050" dirty="0"/>
          </a:p>
        </p:txBody>
      </p:sp>
      <p:sp>
        <p:nvSpPr>
          <p:cNvPr id="3" name="Text 1"/>
          <p:cNvSpPr/>
          <p:nvPr/>
        </p:nvSpPr>
        <p:spPr>
          <a:xfrm>
            <a:off x="658368" y="640080"/>
            <a:ext cx="10874959" cy="548640"/>
          </a:xfrm>
          <a:prstGeom prst="rect">
            <a:avLst/>
          </a:prstGeom>
          <a:noFill/>
          <a:ln/>
        </p:spPr>
        <p:txBody>
          <a:bodyPr wrap="square" lIns="0" tIns="0" rIns="0" bIns="0" rtlCol="0" anchor="ctr"/>
          <a:lstStyle/>
          <a:p>
            <a:pPr indent="0" marL="0">
              <a:buNone/>
            </a:pPr>
            <a:r>
              <a:rPr lang="en-US" sz="2700" b="1" dirty="0">
                <a:solidFill>
                  <a:srgbClr val="EFEBE3"/>
                </a:solidFill>
                <a:latin typeface="Yu Mincho" pitchFamily="34" charset="0"/>
                <a:ea typeface="Yu Mincho" pitchFamily="34" charset="-122"/>
                <a:cs typeface="Yu Mincho" pitchFamily="34" charset="-120"/>
              </a:rPr>
              <a:t>SPC費用の前提</a:t>
            </a:r>
            <a:endParaRPr lang="en-US" sz="2700" dirty="0"/>
          </a:p>
        </p:txBody>
      </p:sp>
      <p:sp>
        <p:nvSpPr>
          <p:cNvPr id="4" name="Text 2"/>
          <p:cNvSpPr/>
          <p:nvPr/>
        </p:nvSpPr>
        <p:spPr>
          <a:xfrm>
            <a:off x="658368" y="1216152"/>
            <a:ext cx="10874959" cy="310896"/>
          </a:xfrm>
          <a:prstGeom prst="rect">
            <a:avLst/>
          </a:prstGeom>
          <a:noFill/>
          <a:ln/>
        </p:spPr>
        <p:txBody>
          <a:bodyPr wrap="square" lIns="0" tIns="0" rIns="0" bIns="0" rtlCol="0" anchor="ctr"/>
          <a:lstStyle/>
          <a:p>
            <a:pPr indent="0" marL="0">
              <a:buNone/>
            </a:pPr>
            <a:r>
              <a:rPr lang="en-US" sz="1150" dirty="0">
                <a:solidFill>
                  <a:srgbClr val="9A938A"/>
                </a:solidFill>
                <a:latin typeface="Yu Gothic" pitchFamily="34" charset="0"/>
                <a:ea typeface="Yu Gothic" pitchFamily="34" charset="-122"/>
                <a:cs typeface="Yu Gothic" pitchFamily="34" charset="-120"/>
              </a:rPr>
              <a:t>共通費用とチャネル別の変動販売費に分けて計上。監査・法務まで含め、利回りを作るための圧縮は行っていない。</a:t>
            </a:r>
            <a:endParaRPr lang="en-US" sz="1150" dirty="0"/>
          </a:p>
        </p:txBody>
      </p:sp>
      <p:sp>
        <p:nvSpPr>
          <p:cNvPr id="5" name="Text 3"/>
          <p:cNvSpPr/>
          <p:nvPr/>
        </p:nvSpPr>
        <p:spPr>
          <a:xfrm>
            <a:off x="658368" y="6437376"/>
            <a:ext cx="5029200" cy="219456"/>
          </a:xfrm>
          <a:prstGeom prst="rect">
            <a:avLst/>
          </a:prstGeom>
          <a:noFill/>
          <a:ln/>
        </p:spPr>
        <p:txBody>
          <a:bodyPr wrap="square" lIns="0" tIns="0" rIns="0" bIns="0" rtlCol="0" anchor="ctr"/>
          <a:lstStyle/>
          <a:p>
            <a:pPr indent="0" marL="0">
              <a:buNone/>
            </a:pPr>
            <a:r>
              <a:rPr lang="en-US" sz="850" dirty="0">
                <a:solidFill>
                  <a:srgbClr val="6E675E"/>
                </a:solidFill>
                <a:latin typeface="Yu Gothic" pitchFamily="34" charset="0"/>
                <a:ea typeface="Yu Gothic" pitchFamily="34" charset="-122"/>
                <a:cs typeface="Yu Gothic" pitchFamily="34" charset="-120"/>
              </a:rPr>
              <a:t>CONFIDENTIAL ｜ 株式会社WineBank</a:t>
            </a:r>
            <a:endParaRPr lang="en-US" sz="850" dirty="0"/>
          </a:p>
        </p:txBody>
      </p:sp>
      <p:sp>
        <p:nvSpPr>
          <p:cNvPr id="6" name="Text 4"/>
          <p:cNvSpPr/>
          <p:nvPr/>
        </p:nvSpPr>
        <p:spPr>
          <a:xfrm>
            <a:off x="10618927" y="6437376"/>
            <a:ext cx="914400" cy="219456"/>
          </a:xfrm>
          <a:prstGeom prst="rect">
            <a:avLst/>
          </a:prstGeom>
          <a:noFill/>
          <a:ln/>
        </p:spPr>
        <p:txBody>
          <a:bodyPr wrap="square" lIns="0" tIns="0" rIns="0" bIns="0" rtlCol="0" anchor="ctr"/>
          <a:lstStyle/>
          <a:p>
            <a:pPr algn="r" indent="0" marL="0">
              <a:buNone/>
            </a:pPr>
            <a:r>
              <a:rPr lang="en-US" sz="950" spc="150" kern="0" dirty="0">
                <a:solidFill>
                  <a:srgbClr val="6E5730"/>
                </a:solidFill>
                <a:latin typeface="Cambria" pitchFamily="34" charset="0"/>
                <a:ea typeface="Cambria" pitchFamily="34" charset="-122"/>
                <a:cs typeface="Cambria" pitchFamily="34" charset="-120"/>
              </a:rPr>
              <a:t>09</a:t>
            </a:r>
            <a:endParaRPr lang="en-US" sz="950" dirty="0"/>
          </a:p>
        </p:txBody>
      </p:sp>
      <p:sp>
        <p:nvSpPr>
          <p:cNvPr id="7" name="Text 5"/>
          <p:cNvSpPr/>
          <p:nvPr/>
        </p:nvSpPr>
        <p:spPr>
          <a:xfrm>
            <a:off x="658368" y="1627632"/>
            <a:ext cx="2743200" cy="219456"/>
          </a:xfrm>
          <a:prstGeom prst="rect">
            <a:avLst/>
          </a:prstGeom>
          <a:noFill/>
          <a:ln/>
        </p:spPr>
        <p:txBody>
          <a:bodyPr wrap="square" lIns="0" tIns="0" rIns="0" bIns="0" rtlCol="0" anchor="ctr"/>
          <a:lstStyle/>
          <a:p>
            <a:pPr indent="0" marL="0">
              <a:buNone/>
            </a:pPr>
            <a:r>
              <a:rPr lang="en-US" sz="1100" b="1" dirty="0">
                <a:solidFill>
                  <a:srgbClr val="C9A96E"/>
                </a:solidFill>
                <a:latin typeface="Yu Gothic" pitchFamily="34" charset="0"/>
                <a:ea typeface="Yu Gothic" pitchFamily="34" charset="-122"/>
                <a:cs typeface="Yu Gothic" pitchFamily="34" charset="-120"/>
              </a:rPr>
              <a:t>共通費用</a:t>
            </a:r>
            <a:endParaRPr lang="en-US" sz="11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658368" y="1792224"/>
          <a:ext cx="10874959" cy="914400"/>
        </p:xfrm>
        <a:graphic>
          <a:graphicData uri="http://schemas.openxmlformats.org/drawingml/2006/table">
            <a:tbl>
              <a:tblPr/>
              <a:tblGrid>
                <a:gridCol w="2331720"/>
                <a:gridCol w="1965960"/>
                <a:gridCol w="6574536"/>
              </a:tblGrid>
              <a:tr h="278892">
                <a:tc>
                  <a:txBody>
                    <a:bodyPr/>
                    <a:lstStyle/>
                    <a:p>
                      <a:pPr algn="ctr" indent="0" marL="0">
                        <a:buNone/>
                      </a:pPr>
                      <a:r>
                        <a:rPr lang="en-US" sz="950" b="1" dirty="0">
                          <a:solidFill>
                            <a:srgbClr val="C9A96E"/>
                          </a:solidFill>
                          <a:latin typeface="Yu Gothic" pitchFamily="34" charset="0"/>
                          <a:ea typeface="Yu Gothic" pitchFamily="34" charset="-122"/>
                          <a:cs typeface="Yu Gothic" pitchFamily="34" charset="-120"/>
                        </a:rPr>
                        <a:t>費用項目</a:t>
                      </a:r>
                      <a:endParaRPr lang="en-US" sz="9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231F1A"/>
                    </a:solidFill>
                  </a:tcPr>
                </a:tc>
                <a:tc>
                  <a:txBody>
                    <a:bodyPr/>
                    <a:lstStyle/>
                    <a:p>
                      <a:pPr algn="ctr" indent="0" marL="0">
                        <a:buNone/>
                      </a:pPr>
                      <a:r>
                        <a:rPr lang="en-US" sz="950" b="1" dirty="0">
                          <a:solidFill>
                            <a:srgbClr val="C9A96E"/>
                          </a:solidFill>
                          <a:latin typeface="Yu Gothic" pitchFamily="34" charset="0"/>
                          <a:ea typeface="Yu Gothic" pitchFamily="34" charset="-122"/>
                          <a:cs typeface="Yu Gothic" pitchFamily="34" charset="-120"/>
                        </a:rPr>
                        <a:t>単価・料率</a:t>
                      </a:r>
                      <a:endParaRPr lang="en-US" sz="9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231F1A"/>
                    </a:solidFill>
                  </a:tcPr>
                </a:tc>
                <a:tc>
                  <a:txBody>
                    <a:bodyPr/>
                    <a:lstStyle/>
                    <a:p>
                      <a:pPr algn="ctr" indent="0" marL="0">
                        <a:buNone/>
                      </a:pPr>
                      <a:r>
                        <a:rPr lang="en-US" sz="950" b="1" dirty="0">
                          <a:solidFill>
                            <a:srgbClr val="C9A96E"/>
                          </a:solidFill>
                          <a:latin typeface="Yu Gothic" pitchFamily="34" charset="0"/>
                          <a:ea typeface="Yu Gothic" pitchFamily="34" charset="-122"/>
                          <a:cs typeface="Yu Gothic" pitchFamily="34" charset="-120"/>
                        </a:rPr>
                        <a:t>根拠・備考</a:t>
                      </a:r>
                      <a:endParaRPr lang="en-US" sz="9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231F1A"/>
                    </a:solidFill>
                  </a:tcPr>
                </a:tc>
              </a:tr>
              <a:tr h="278892">
                <a:tc>
                  <a:txBody>
                    <a:bodyPr/>
                    <a:lstStyle/>
                    <a:p>
                      <a:pPr algn="ctr" indent="0" marL="0">
                        <a:buNone/>
                      </a:pPr>
                      <a:r>
                        <a:rPr lang="en-US" sz="1000" dirty="0">
                          <a:solidFill>
                            <a:srgbClr val="EFEBE3"/>
                          </a:solidFill>
                          <a:latin typeface="Yu Gothic" pitchFamily="34" charset="0"/>
                          <a:ea typeface="Yu Gothic" pitchFamily="34" charset="-122"/>
                          <a:cs typeface="Yu Gothic" pitchFamily="34" charset="-120"/>
                        </a:rPr>
                        <a:t>保管（定温倉庫）</a:t>
                      </a:r>
                      <a:endParaRPr lang="en-US" sz="10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1000" dirty="0">
                          <a:solidFill>
                            <a:srgbClr val="EFEBE3"/>
                          </a:solidFill>
                          <a:latin typeface="Yu Gothic" pitchFamily="34" charset="0"/>
                          <a:ea typeface="Yu Gothic" pitchFamily="34" charset="-122"/>
                          <a:cs typeface="Yu Gothic" pitchFamily="34" charset="-120"/>
                        </a:rPr>
                        <a:t>年7,500円／ロット</a:t>
                      </a:r>
                      <a:endParaRPr lang="en-US" sz="10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l" indent="0" marL="0">
                        <a:buNone/>
                      </a:pPr>
                      <a:r>
                        <a:rPr lang="en-US" sz="1000" dirty="0">
                          <a:solidFill>
                            <a:srgbClr val="EFEBE3"/>
                          </a:solidFill>
                          <a:latin typeface="Yu Gothic" pitchFamily="34" charset="0"/>
                          <a:ea typeface="Yu Gothic" pitchFamily="34" charset="-122"/>
                          <a:cs typeface="Yu Gothic" pitchFamily="34" charset="-120"/>
                        </a:rPr>
                        <a:t>1ロット＝定価100万円相当（約40本）。月約16円／本で業務用パレット定温保管の一般水準</a:t>
                      </a:r>
                      <a:endParaRPr lang="en-US" sz="10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r>
              <a:tr h="278892">
                <a:tc>
                  <a:txBody>
                    <a:bodyPr/>
                    <a:lstStyle/>
                    <a:p>
                      <a:pPr algn="ctr" indent="0" marL="0">
                        <a:buNone/>
                      </a:pPr>
                      <a:r>
                        <a:rPr lang="en-US" sz="1000" dirty="0">
                          <a:solidFill>
                            <a:srgbClr val="EFEBE3"/>
                          </a:solidFill>
                          <a:latin typeface="Yu Gothic" pitchFamily="34" charset="0"/>
                          <a:ea typeface="Yu Gothic" pitchFamily="34" charset="-122"/>
                          <a:cs typeface="Yu Gothic" pitchFamily="34" charset="-120"/>
                        </a:rPr>
                        <a:t>動産総合保険</a:t>
                      </a:r>
                      <a:endParaRPr lang="en-US" sz="10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1000" dirty="0">
                          <a:solidFill>
                            <a:srgbClr val="EFEBE3"/>
                          </a:solidFill>
                          <a:latin typeface="Yu Gothic" pitchFamily="34" charset="0"/>
                          <a:ea typeface="Yu Gothic" pitchFamily="34" charset="-122"/>
                          <a:cs typeface="Yu Gothic" pitchFamily="34" charset="-120"/>
                        </a:rPr>
                        <a:t>平均在庫簿価の年0.15%</a:t>
                      </a:r>
                      <a:endParaRPr lang="en-US" sz="10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l" indent="0" marL="0">
                        <a:buNone/>
                      </a:pPr>
                      <a:r>
                        <a:rPr lang="en-US" sz="1000" dirty="0">
                          <a:solidFill>
                            <a:srgbClr val="EFEBE3"/>
                          </a:solidFill>
                          <a:latin typeface="Yu Gothic" pitchFamily="34" charset="0"/>
                          <a:ea typeface="Yu Gothic" pitchFamily="34" charset="-122"/>
                          <a:cs typeface="Yu Gothic" pitchFamily="34" charset="-120"/>
                        </a:rPr>
                        <a:t>火災・破損・盗難・輸送中事故を全量付保。滞留・破損ロスは保険でカバーするため別途計上しない</a:t>
                      </a:r>
                      <a:endParaRPr lang="en-US" sz="10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r>
              <a:tr h="278892">
                <a:tc>
                  <a:txBody>
                    <a:bodyPr/>
                    <a:lstStyle/>
                    <a:p>
                      <a:pPr algn="ctr" indent="0" marL="0">
                        <a:buNone/>
                      </a:pPr>
                      <a:r>
                        <a:rPr lang="en-US" sz="1000" dirty="0">
                          <a:solidFill>
                            <a:srgbClr val="EFEBE3"/>
                          </a:solidFill>
                          <a:latin typeface="Yu Gothic" pitchFamily="34" charset="0"/>
                          <a:ea typeface="Yu Gothic" pitchFamily="34" charset="-122"/>
                          <a:cs typeface="Yu Gothic" pitchFamily="34" charset="-120"/>
                        </a:rPr>
                        <a:t>入庫・検品</a:t>
                      </a:r>
                      <a:endParaRPr lang="en-US" sz="10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1000" dirty="0">
                          <a:solidFill>
                            <a:srgbClr val="EFEBE3"/>
                          </a:solidFill>
                          <a:latin typeface="Yu Gothic" pitchFamily="34" charset="0"/>
                          <a:ea typeface="Yu Gothic" pitchFamily="34" charset="-122"/>
                          <a:cs typeface="Yu Gothic" pitchFamily="34" charset="-120"/>
                        </a:rPr>
                        <a:t>320円／ロット</a:t>
                      </a:r>
                      <a:endParaRPr lang="en-US" sz="10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l" indent="0" marL="0">
                        <a:buNone/>
                      </a:pPr>
                      <a:r>
                        <a:rPr lang="en-US" sz="1000" dirty="0">
                          <a:solidFill>
                            <a:srgbClr val="EFEBE3"/>
                          </a:solidFill>
                          <a:latin typeface="Yu Gothic" pitchFamily="34" charset="0"/>
                          <a:ea typeface="Yu Gothic" pitchFamily="34" charset="-122"/>
                          <a:cs typeface="Yu Gothic" pitchFamily="34" charset="-120"/>
                        </a:rPr>
                        <a:t>入庫時の検品・棚入れ。出庫費用はチャネル別の変動販売費に含む</a:t>
                      </a:r>
                      <a:endParaRPr lang="en-US" sz="10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r>
              <a:tr h="278892">
                <a:tc>
                  <a:txBody>
                    <a:bodyPr/>
                    <a:lstStyle/>
                    <a:p>
                      <a:pPr algn="ctr" indent="0" marL="0">
                        <a:buNone/>
                      </a:pPr>
                      <a:r>
                        <a:rPr lang="en-US" sz="1000" dirty="0">
                          <a:solidFill>
                            <a:srgbClr val="EFEBE3"/>
                          </a:solidFill>
                          <a:latin typeface="Yu Gothic" pitchFamily="34" charset="0"/>
                          <a:ea typeface="Yu Gothic" pitchFamily="34" charset="-122"/>
                          <a:cs typeface="Yu Gothic" pitchFamily="34" charset="-120"/>
                        </a:rPr>
                        <a:t>SPC維持費</a:t>
                      </a:r>
                      <a:endParaRPr lang="en-US" sz="10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1000" dirty="0">
                          <a:solidFill>
                            <a:srgbClr val="EFEBE3"/>
                          </a:solidFill>
                          <a:latin typeface="Yu Gothic" pitchFamily="34" charset="0"/>
                          <a:ea typeface="Yu Gothic" pitchFamily="34" charset="-122"/>
                          <a:cs typeface="Yu Gothic" pitchFamily="34" charset="-120"/>
                        </a:rPr>
                        <a:t>年200万円（固定）</a:t>
                      </a:r>
                      <a:endParaRPr lang="en-US" sz="10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l" indent="0" marL="0">
                        <a:buNone/>
                      </a:pPr>
                      <a:r>
                        <a:rPr lang="en-US" sz="1000" dirty="0">
                          <a:solidFill>
                            <a:srgbClr val="EFEBE3"/>
                          </a:solidFill>
                          <a:latin typeface="Yu Gothic" pitchFamily="34" charset="0"/>
                          <a:ea typeface="Yu Gothic" pitchFamily="34" charset="-122"/>
                          <a:cs typeface="Yu Gothic" pitchFamily="34" charset="-120"/>
                        </a:rPr>
                        <a:t>税務・事務受託・法務</a:t>
                      </a:r>
                      <a:endParaRPr lang="en-US" sz="10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r>
              <a:tr h="278892">
                <a:tc>
                  <a:txBody>
                    <a:bodyPr/>
                    <a:lstStyle/>
                    <a:p>
                      <a:pPr algn="ctr" indent="0" marL="0">
                        <a:buNone/>
                      </a:pPr>
                      <a:r>
                        <a:rPr lang="en-US" sz="1000" dirty="0">
                          <a:solidFill>
                            <a:srgbClr val="EFEBE3"/>
                          </a:solidFill>
                          <a:latin typeface="Yu Gothic" pitchFamily="34" charset="0"/>
                          <a:ea typeface="Yu Gothic" pitchFamily="34" charset="-122"/>
                          <a:cs typeface="Yu Gothic" pitchFamily="34" charset="-120"/>
                        </a:rPr>
                        <a:t>SPC人件費</a:t>
                      </a:r>
                      <a:endParaRPr lang="en-US" sz="10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1000" dirty="0">
                          <a:solidFill>
                            <a:srgbClr val="EFEBE3"/>
                          </a:solidFill>
                          <a:latin typeface="Yu Gothic" pitchFamily="34" charset="0"/>
                          <a:ea typeface="Yu Gothic" pitchFamily="34" charset="-122"/>
                          <a:cs typeface="Yu Gothic" pitchFamily="34" charset="-120"/>
                        </a:rPr>
                        <a:t>年360万円（固定）</a:t>
                      </a:r>
                      <a:endParaRPr lang="en-US" sz="10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l" indent="0" marL="0">
                        <a:buNone/>
                      </a:pPr>
                      <a:r>
                        <a:rPr lang="en-US" sz="1000" dirty="0">
                          <a:solidFill>
                            <a:srgbClr val="EFEBE3"/>
                          </a:solidFill>
                          <a:latin typeface="Yu Gothic" pitchFamily="34" charset="0"/>
                          <a:ea typeface="Yu Gothic" pitchFamily="34" charset="-122"/>
                          <a:cs typeface="Yu Gothic" pitchFamily="34" charset="-120"/>
                        </a:rPr>
                        <a:t>SPC運営に係るWineBank側の実務人件費</a:t>
                      </a:r>
                      <a:endParaRPr lang="en-US" sz="10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r>
              <a:tr h="278892">
                <a:tc>
                  <a:txBody>
                    <a:bodyPr/>
                    <a:lstStyle/>
                    <a:p>
                      <a:pPr algn="ctr" indent="0" marL="0">
                        <a:buNone/>
                      </a:pPr>
                      <a:r>
                        <a:rPr lang="en-US" sz="1000" dirty="0">
                          <a:solidFill>
                            <a:srgbClr val="EFEBE3"/>
                          </a:solidFill>
                          <a:latin typeface="Yu Gothic" pitchFamily="34" charset="0"/>
                          <a:ea typeface="Yu Gothic" pitchFamily="34" charset="-122"/>
                          <a:cs typeface="Yu Gothic" pitchFamily="34" charset="-120"/>
                        </a:rPr>
                        <a:t>AUP（合意された手続）</a:t>
                      </a:r>
                      <a:endParaRPr lang="en-US" sz="10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1000" b="1" dirty="0">
                          <a:solidFill>
                            <a:srgbClr val="C9A96E"/>
                          </a:solidFill>
                          <a:latin typeface="Yu Gothic" pitchFamily="34" charset="0"/>
                          <a:ea typeface="Yu Gothic" pitchFamily="34" charset="-122"/>
                          <a:cs typeface="Yu Gothic" pitchFamily="34" charset="-120"/>
                        </a:rPr>
                        <a:t>年50万円（固定）</a:t>
                      </a:r>
                      <a:endParaRPr lang="en-US" sz="10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l" indent="0" marL="0">
                        <a:buNone/>
                      </a:pPr>
                      <a:r>
                        <a:rPr lang="en-US" sz="1000" dirty="0">
                          <a:solidFill>
                            <a:srgbClr val="EFEBE3"/>
                          </a:solidFill>
                          <a:latin typeface="Yu Gothic" pitchFamily="34" charset="0"/>
                          <a:ea typeface="Yu Gothic" pitchFamily="34" charset="-122"/>
                          <a:cs typeface="Yu Gothic" pitchFamily="34" charset="-120"/>
                        </a:rPr>
                        <a:t>公認会計士による合意された手続の実施と報告書の発行</a:t>
                      </a:r>
                      <a:endParaRPr lang="en-US" sz="10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r>
              <a:tr h="278892">
                <a:tc>
                  <a:txBody>
                    <a:bodyPr/>
                    <a:lstStyle/>
                    <a:p>
                      <a:pPr algn="ctr" indent="0" marL="0">
                        <a:buNone/>
                      </a:pPr>
                      <a:r>
                        <a:rPr lang="en-US" sz="1000" dirty="0">
                          <a:solidFill>
                            <a:srgbClr val="EFEBE3"/>
                          </a:solidFill>
                          <a:latin typeface="Yu Gothic" pitchFamily="34" charset="0"/>
                          <a:ea typeface="Yu Gothic" pitchFamily="34" charset="-122"/>
                          <a:cs typeface="Yu Gothic" pitchFamily="34" charset="-120"/>
                        </a:rPr>
                        <a:t>予備費</a:t>
                      </a:r>
                      <a:endParaRPr lang="en-US" sz="10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1000" b="1" dirty="0">
                          <a:solidFill>
                            <a:srgbClr val="C9A96E"/>
                          </a:solidFill>
                          <a:latin typeface="Yu Gothic" pitchFamily="34" charset="0"/>
                          <a:ea typeface="Yu Gothic" pitchFamily="34" charset="-122"/>
                          <a:cs typeface="Yu Gothic" pitchFamily="34" charset="-120"/>
                        </a:rPr>
                        <a:t>年50万円（固定）</a:t>
                      </a:r>
                      <a:endParaRPr lang="en-US" sz="10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l" indent="0" marL="0">
                        <a:buNone/>
                      </a:pPr>
                      <a:r>
                        <a:rPr lang="en-US" sz="1000" dirty="0">
                          <a:solidFill>
                            <a:srgbClr val="EFEBE3"/>
                          </a:solidFill>
                          <a:latin typeface="Yu Gothic" pitchFamily="34" charset="0"/>
                          <a:ea typeface="Yu Gothic" pitchFamily="34" charset="-122"/>
                          <a:cs typeface="Yu Gothic" pitchFamily="34" charset="-120"/>
                        </a:rPr>
                        <a:t>想定外の実費に充当。未使用分はSPCの利益に残る</a:t>
                      </a:r>
                      <a:endParaRPr lang="en-US" sz="10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r>
              <a:tr h="278892">
                <a:tc>
                  <a:txBody>
                    <a:bodyPr/>
                    <a:lstStyle/>
                    <a:p>
                      <a:pPr algn="ctr" indent="0" marL="0">
                        <a:buNone/>
                      </a:pPr>
                      <a:r>
                        <a:rPr lang="en-US" sz="1000" dirty="0">
                          <a:solidFill>
                            <a:srgbClr val="EFEBE3"/>
                          </a:solidFill>
                          <a:latin typeface="Yu Gothic" pitchFamily="34" charset="0"/>
                          <a:ea typeface="Yu Gothic" pitchFamily="34" charset="-122"/>
                          <a:cs typeface="Yu Gothic" pitchFamily="34" charset="-120"/>
                        </a:rPr>
                        <a:t>WineBank販売オペコスト</a:t>
                      </a:r>
                      <a:endParaRPr lang="en-US" sz="10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1000" dirty="0">
                          <a:solidFill>
                            <a:srgbClr val="EFEBE3"/>
                          </a:solidFill>
                          <a:latin typeface="Yu Gothic" pitchFamily="34" charset="0"/>
                          <a:ea typeface="Yu Gothic" pitchFamily="34" charset="-122"/>
                          <a:cs typeface="Yu Gothic" pitchFamily="34" charset="-120"/>
                        </a:rPr>
                        <a:t>SPC負担なし</a:t>
                      </a:r>
                      <a:endParaRPr lang="en-US" sz="10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l" indent="0" marL="0">
                        <a:buNone/>
                      </a:pPr>
                      <a:r>
                        <a:rPr lang="en-US" sz="1000" dirty="0">
                          <a:solidFill>
                            <a:srgbClr val="EFEBE3"/>
                          </a:solidFill>
                          <a:latin typeface="Yu Gothic" pitchFamily="34" charset="0"/>
                          <a:ea typeface="Yu Gothic" pitchFamily="34" charset="-122"/>
                          <a:cs typeface="Yu Gothic" pitchFamily="34" charset="-120"/>
                        </a:rPr>
                        <a:t>WineBankの成功報酬取分から負担。SPCに残高比例の期中管理報酬は課さない</a:t>
                      </a:r>
                      <a:endParaRPr lang="en-US" sz="10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r>
            </a:tbl>
          </a:graphicData>
        </a:graphic>
      </p:graphicFrame>
      <p:sp>
        <p:nvSpPr>
          <p:cNvPr id="9" name="Text 6"/>
          <p:cNvSpPr/>
          <p:nvPr/>
        </p:nvSpPr>
        <p:spPr>
          <a:xfrm>
            <a:off x="658368" y="4334256"/>
            <a:ext cx="4572000" cy="219456"/>
          </a:xfrm>
          <a:prstGeom prst="rect">
            <a:avLst/>
          </a:prstGeom>
          <a:noFill/>
          <a:ln/>
        </p:spPr>
        <p:txBody>
          <a:bodyPr wrap="square" lIns="0" tIns="0" rIns="0" bIns="0" rtlCol="0" anchor="ctr"/>
          <a:lstStyle/>
          <a:p>
            <a:pPr indent="0" marL="0">
              <a:buNone/>
            </a:pPr>
            <a:r>
              <a:rPr lang="en-US" sz="1100" b="1" dirty="0">
                <a:solidFill>
                  <a:srgbClr val="C9A96E"/>
                </a:solidFill>
                <a:latin typeface="Yu Gothic" pitchFamily="34" charset="0"/>
                <a:ea typeface="Yu Gothic" pitchFamily="34" charset="-122"/>
                <a:cs typeface="Yu Gothic" pitchFamily="34" charset="-120"/>
              </a:rPr>
              <a:t>チャネル別 変動販売費（売上比）</a:t>
            </a:r>
            <a:endParaRPr lang="en-US" sz="1100" dirty="0"/>
          </a:p>
        </p:txBody>
      </p:sp>
      <p:sp>
        <p:nvSpPr>
          <p:cNvPr id="10" name="Shape 7"/>
          <p:cNvSpPr/>
          <p:nvPr/>
        </p:nvSpPr>
        <p:spPr>
          <a:xfrm>
            <a:off x="658368" y="4572000"/>
            <a:ext cx="3442106" cy="1097280"/>
          </a:xfrm>
          <a:prstGeom prst="roundRect">
            <a:avLst>
              <a:gd name="adj" fmla="val 3750"/>
            </a:avLst>
          </a:prstGeom>
          <a:solidFill>
            <a:srgbClr val="171614"/>
          </a:solidFill>
          <a:ln w="9525">
            <a:solidFill>
              <a:srgbClr val="2E2A24"/>
            </a:solidFill>
            <a:prstDash val="solid"/>
          </a:ln>
        </p:spPr>
      </p:sp>
      <p:sp>
        <p:nvSpPr>
          <p:cNvPr id="11" name="Text 8"/>
          <p:cNvSpPr/>
          <p:nvPr/>
        </p:nvSpPr>
        <p:spPr>
          <a:xfrm>
            <a:off x="896112" y="4700016"/>
            <a:ext cx="2070506" cy="237744"/>
          </a:xfrm>
          <a:prstGeom prst="rect">
            <a:avLst/>
          </a:prstGeom>
          <a:noFill/>
          <a:ln/>
        </p:spPr>
        <p:txBody>
          <a:bodyPr wrap="square" lIns="0" tIns="0" rIns="0" bIns="0" rtlCol="0" anchor="ctr"/>
          <a:lstStyle/>
          <a:p>
            <a:pPr indent="0" marL="0">
              <a:buNone/>
            </a:pPr>
            <a:r>
              <a:rPr lang="en-US" sz="1100" b="1" dirty="0">
                <a:solidFill>
                  <a:srgbClr val="EFEBE3"/>
                </a:solidFill>
                <a:latin typeface="Yu Gothic" pitchFamily="34" charset="0"/>
                <a:ea typeface="Yu Gothic" pitchFamily="34" charset="-122"/>
                <a:cs typeface="Yu Gothic" pitchFamily="34" charset="-120"/>
              </a:rPr>
              <a:t>B2B｜酒販店卸</a:t>
            </a:r>
            <a:endParaRPr lang="en-US" sz="1100" dirty="0"/>
          </a:p>
        </p:txBody>
      </p:sp>
      <p:sp>
        <p:nvSpPr>
          <p:cNvPr id="12" name="Text 9"/>
          <p:cNvSpPr/>
          <p:nvPr/>
        </p:nvSpPr>
        <p:spPr>
          <a:xfrm>
            <a:off x="2783738" y="4663440"/>
            <a:ext cx="1078992" cy="310896"/>
          </a:xfrm>
          <a:prstGeom prst="rect">
            <a:avLst/>
          </a:prstGeom>
          <a:noFill/>
          <a:ln/>
        </p:spPr>
        <p:txBody>
          <a:bodyPr wrap="square" lIns="0" tIns="0" rIns="0" bIns="0" rtlCol="0" anchor="ctr"/>
          <a:lstStyle/>
          <a:p>
            <a:pPr algn="r" indent="0" marL="0">
              <a:buNone/>
            </a:pPr>
            <a:r>
              <a:rPr lang="en-US" sz="2100" b="1" dirty="0">
                <a:solidFill>
                  <a:srgbClr val="C9A96E"/>
                </a:solidFill>
                <a:latin typeface="Cambria" pitchFamily="34" charset="0"/>
                <a:ea typeface="Cambria" pitchFamily="34" charset="-122"/>
                <a:cs typeface="Cambria" pitchFamily="34" charset="-120"/>
              </a:rPr>
              <a:t>1.0</a:t>
            </a:r>
            <a:pPr algn="r" indent="0" marL="0">
              <a:buNone/>
            </a:pPr>
            <a:r>
              <a:rPr lang="en-US" sz="1100" b="1" dirty="0">
                <a:solidFill>
                  <a:srgbClr val="C9A96E"/>
                </a:solidFill>
                <a:latin typeface="Yu Gothic" pitchFamily="34" charset="0"/>
                <a:ea typeface="Yu Gothic" pitchFamily="34" charset="-122"/>
                <a:cs typeface="Yu Gothic" pitchFamily="34" charset="-120"/>
              </a:rPr>
              <a:t> %</a:t>
            </a:r>
            <a:endParaRPr lang="en-US" sz="2100" dirty="0"/>
          </a:p>
        </p:txBody>
      </p:sp>
      <p:sp>
        <p:nvSpPr>
          <p:cNvPr id="13" name="Text 10"/>
          <p:cNvSpPr/>
          <p:nvPr/>
        </p:nvSpPr>
        <p:spPr>
          <a:xfrm>
            <a:off x="896112" y="4992624"/>
            <a:ext cx="2966618" cy="566928"/>
          </a:xfrm>
          <a:prstGeom prst="rect">
            <a:avLst/>
          </a:prstGeom>
          <a:noFill/>
          <a:ln/>
        </p:spPr>
        <p:txBody>
          <a:bodyPr wrap="square" lIns="0" tIns="0" rIns="0" bIns="0" rtlCol="0" anchor="ctr"/>
          <a:lstStyle/>
          <a:p>
            <a:pPr indent="0" marL="0">
              <a:lnSpc>
                <a:spcPct val="120000"/>
              </a:lnSpc>
              <a:buNone/>
            </a:pPr>
            <a:r>
              <a:rPr lang="en-US" sz="900" dirty="0">
                <a:solidFill>
                  <a:srgbClr val="9A938A"/>
                </a:solidFill>
                <a:latin typeface="Yu Gothic" pitchFamily="34" charset="0"/>
                <a:ea typeface="Yu Gothic" pitchFamily="34" charset="-122"/>
                <a:cs typeface="Yu Gothic" pitchFamily="34" charset="-120"/>
              </a:rPr>
              <a:t>出庫・配送 0.6%　／　決済・与信（貸倒引当）0.4%</a:t>
            </a:r>
            <a:endParaRPr lang="en-US" sz="900" dirty="0"/>
          </a:p>
        </p:txBody>
      </p:sp>
      <p:sp>
        <p:nvSpPr>
          <p:cNvPr id="14" name="Shape 11"/>
          <p:cNvSpPr/>
          <p:nvPr/>
        </p:nvSpPr>
        <p:spPr>
          <a:xfrm>
            <a:off x="4374794" y="4572000"/>
            <a:ext cx="3442106" cy="1097280"/>
          </a:xfrm>
          <a:prstGeom prst="roundRect">
            <a:avLst>
              <a:gd name="adj" fmla="val 3750"/>
            </a:avLst>
          </a:prstGeom>
          <a:solidFill>
            <a:srgbClr val="171614"/>
          </a:solidFill>
          <a:ln w="9525">
            <a:solidFill>
              <a:srgbClr val="2E2A24"/>
            </a:solidFill>
            <a:prstDash val="solid"/>
          </a:ln>
        </p:spPr>
      </p:sp>
      <p:sp>
        <p:nvSpPr>
          <p:cNvPr id="15" name="Text 12"/>
          <p:cNvSpPr/>
          <p:nvPr/>
        </p:nvSpPr>
        <p:spPr>
          <a:xfrm>
            <a:off x="4612538" y="4700016"/>
            <a:ext cx="2070506" cy="237744"/>
          </a:xfrm>
          <a:prstGeom prst="rect">
            <a:avLst/>
          </a:prstGeom>
          <a:noFill/>
          <a:ln/>
        </p:spPr>
        <p:txBody>
          <a:bodyPr wrap="square" lIns="0" tIns="0" rIns="0" bIns="0" rtlCol="0" anchor="ctr"/>
          <a:lstStyle/>
          <a:p>
            <a:pPr indent="0" marL="0">
              <a:buNone/>
            </a:pPr>
            <a:r>
              <a:rPr lang="en-US" sz="1100" b="1" dirty="0">
                <a:solidFill>
                  <a:srgbClr val="EFEBE3"/>
                </a:solidFill>
                <a:latin typeface="Yu Gothic" pitchFamily="34" charset="0"/>
                <a:ea typeface="Yu Gothic" pitchFamily="34" charset="-122"/>
                <a:cs typeface="Yu Gothic" pitchFamily="34" charset="-120"/>
              </a:rPr>
              <a:t>B2C｜自社EC・オークション</a:t>
            </a:r>
            <a:endParaRPr lang="en-US" sz="1100" dirty="0"/>
          </a:p>
        </p:txBody>
      </p:sp>
      <p:sp>
        <p:nvSpPr>
          <p:cNvPr id="16" name="Text 13"/>
          <p:cNvSpPr/>
          <p:nvPr/>
        </p:nvSpPr>
        <p:spPr>
          <a:xfrm>
            <a:off x="6500165" y="4663440"/>
            <a:ext cx="1078992" cy="310896"/>
          </a:xfrm>
          <a:prstGeom prst="rect">
            <a:avLst/>
          </a:prstGeom>
          <a:noFill/>
          <a:ln/>
        </p:spPr>
        <p:txBody>
          <a:bodyPr wrap="square" lIns="0" tIns="0" rIns="0" bIns="0" rtlCol="0" anchor="ctr"/>
          <a:lstStyle/>
          <a:p>
            <a:pPr algn="r" indent="0" marL="0">
              <a:buNone/>
            </a:pPr>
            <a:r>
              <a:rPr lang="en-US" sz="2100" b="1" dirty="0">
                <a:solidFill>
                  <a:srgbClr val="C9A96E"/>
                </a:solidFill>
                <a:latin typeface="Cambria" pitchFamily="34" charset="0"/>
                <a:ea typeface="Cambria" pitchFamily="34" charset="-122"/>
                <a:cs typeface="Cambria" pitchFamily="34" charset="-120"/>
              </a:rPr>
              <a:t>11.2</a:t>
            </a:r>
            <a:pPr algn="r" indent="0" marL="0">
              <a:buNone/>
            </a:pPr>
            <a:r>
              <a:rPr lang="en-US" sz="1100" b="1" dirty="0">
                <a:solidFill>
                  <a:srgbClr val="C9A96E"/>
                </a:solidFill>
                <a:latin typeface="Yu Gothic" pitchFamily="34" charset="0"/>
                <a:ea typeface="Yu Gothic" pitchFamily="34" charset="-122"/>
                <a:cs typeface="Yu Gothic" pitchFamily="34" charset="-120"/>
              </a:rPr>
              <a:t> %</a:t>
            </a:r>
            <a:endParaRPr lang="en-US" sz="2100" dirty="0"/>
          </a:p>
        </p:txBody>
      </p:sp>
      <p:sp>
        <p:nvSpPr>
          <p:cNvPr id="17" name="Text 14"/>
          <p:cNvSpPr/>
          <p:nvPr/>
        </p:nvSpPr>
        <p:spPr>
          <a:xfrm>
            <a:off x="4612538" y="4992624"/>
            <a:ext cx="2966618" cy="566928"/>
          </a:xfrm>
          <a:prstGeom prst="rect">
            <a:avLst/>
          </a:prstGeom>
          <a:noFill/>
          <a:ln/>
        </p:spPr>
        <p:txBody>
          <a:bodyPr wrap="square" lIns="0" tIns="0" rIns="0" bIns="0" rtlCol="0" anchor="ctr"/>
          <a:lstStyle/>
          <a:p>
            <a:pPr indent="0" marL="0">
              <a:lnSpc>
                <a:spcPct val="120000"/>
              </a:lnSpc>
              <a:buNone/>
            </a:pPr>
            <a:r>
              <a:rPr lang="en-US" sz="900" dirty="0">
                <a:solidFill>
                  <a:srgbClr val="9A938A"/>
                </a:solidFill>
                <a:latin typeface="Yu Gothic" pitchFamily="34" charset="0"/>
                <a:ea typeface="Yu Gothic" pitchFamily="34" charset="-122"/>
                <a:cs typeface="Yu Gothic" pitchFamily="34" charset="-120"/>
              </a:rPr>
              <a:t>モール・出品手数料 5.5%　／　カード決済 3.2%　／　出庫・梱包・クール便 2.5%</a:t>
            </a:r>
            <a:endParaRPr lang="en-US" sz="900" dirty="0"/>
          </a:p>
        </p:txBody>
      </p:sp>
      <p:sp>
        <p:nvSpPr>
          <p:cNvPr id="18" name="Shape 15"/>
          <p:cNvSpPr/>
          <p:nvPr/>
        </p:nvSpPr>
        <p:spPr>
          <a:xfrm>
            <a:off x="8091221" y="4572000"/>
            <a:ext cx="3442106" cy="1097280"/>
          </a:xfrm>
          <a:prstGeom prst="roundRect">
            <a:avLst>
              <a:gd name="adj" fmla="val 3750"/>
            </a:avLst>
          </a:prstGeom>
          <a:solidFill>
            <a:srgbClr val="1F1D19"/>
          </a:solidFill>
          <a:ln w="9525">
            <a:solidFill>
              <a:srgbClr val="6E5730"/>
            </a:solidFill>
            <a:prstDash val="solid"/>
          </a:ln>
        </p:spPr>
      </p:sp>
      <p:sp>
        <p:nvSpPr>
          <p:cNvPr id="19" name="Text 16"/>
          <p:cNvSpPr/>
          <p:nvPr/>
        </p:nvSpPr>
        <p:spPr>
          <a:xfrm>
            <a:off x="8328965" y="4700016"/>
            <a:ext cx="2070506" cy="237744"/>
          </a:xfrm>
          <a:prstGeom prst="rect">
            <a:avLst/>
          </a:prstGeom>
          <a:noFill/>
          <a:ln/>
        </p:spPr>
        <p:txBody>
          <a:bodyPr wrap="square" lIns="0" tIns="0" rIns="0" bIns="0" rtlCol="0" anchor="ctr"/>
          <a:lstStyle/>
          <a:p>
            <a:pPr indent="0" marL="0">
              <a:buNone/>
            </a:pPr>
            <a:r>
              <a:rPr lang="en-US" sz="1100" b="1" dirty="0">
                <a:solidFill>
                  <a:srgbClr val="C9A96E"/>
                </a:solidFill>
                <a:latin typeface="Yu Gothic" pitchFamily="34" charset="0"/>
                <a:ea typeface="Yu Gothic" pitchFamily="34" charset="-122"/>
                <a:cs typeface="Yu Gothic" pitchFamily="34" charset="-120"/>
              </a:rPr>
              <a:t>加重平均（半々）</a:t>
            </a:r>
            <a:endParaRPr lang="en-US" sz="1100" dirty="0"/>
          </a:p>
        </p:txBody>
      </p:sp>
      <p:sp>
        <p:nvSpPr>
          <p:cNvPr id="20" name="Text 17"/>
          <p:cNvSpPr/>
          <p:nvPr/>
        </p:nvSpPr>
        <p:spPr>
          <a:xfrm>
            <a:off x="10216591" y="4663440"/>
            <a:ext cx="1078992" cy="310896"/>
          </a:xfrm>
          <a:prstGeom prst="rect">
            <a:avLst/>
          </a:prstGeom>
          <a:noFill/>
          <a:ln/>
        </p:spPr>
        <p:txBody>
          <a:bodyPr wrap="square" lIns="0" tIns="0" rIns="0" bIns="0" rtlCol="0" anchor="ctr"/>
          <a:lstStyle/>
          <a:p>
            <a:pPr algn="r" indent="0" marL="0">
              <a:buNone/>
            </a:pPr>
            <a:r>
              <a:rPr lang="en-US" sz="2100" b="1" dirty="0">
                <a:solidFill>
                  <a:srgbClr val="C9A96E"/>
                </a:solidFill>
                <a:latin typeface="Cambria" pitchFamily="34" charset="0"/>
                <a:ea typeface="Cambria" pitchFamily="34" charset="-122"/>
                <a:cs typeface="Cambria" pitchFamily="34" charset="-120"/>
              </a:rPr>
              <a:t>6.44</a:t>
            </a:r>
            <a:pPr algn="r" indent="0" marL="0">
              <a:buNone/>
            </a:pPr>
            <a:r>
              <a:rPr lang="en-US" sz="1100" b="1" dirty="0">
                <a:solidFill>
                  <a:srgbClr val="C9A96E"/>
                </a:solidFill>
                <a:latin typeface="Yu Gothic" pitchFamily="34" charset="0"/>
                <a:ea typeface="Yu Gothic" pitchFamily="34" charset="-122"/>
                <a:cs typeface="Yu Gothic" pitchFamily="34" charset="-120"/>
              </a:rPr>
              <a:t> %</a:t>
            </a:r>
            <a:endParaRPr lang="en-US" sz="2100" dirty="0"/>
          </a:p>
        </p:txBody>
      </p:sp>
      <p:sp>
        <p:nvSpPr>
          <p:cNvPr id="21" name="Text 18"/>
          <p:cNvSpPr/>
          <p:nvPr/>
        </p:nvSpPr>
        <p:spPr>
          <a:xfrm>
            <a:off x="8328965" y="4992624"/>
            <a:ext cx="2966618" cy="566928"/>
          </a:xfrm>
          <a:prstGeom prst="rect">
            <a:avLst/>
          </a:prstGeom>
          <a:noFill/>
          <a:ln/>
        </p:spPr>
        <p:txBody>
          <a:bodyPr wrap="square" lIns="0" tIns="0" rIns="0" bIns="0" rtlCol="0" anchor="ctr"/>
          <a:lstStyle/>
          <a:p>
            <a:pPr indent="0" marL="0">
              <a:lnSpc>
                <a:spcPct val="120000"/>
              </a:lnSpc>
              <a:buNone/>
            </a:pPr>
            <a:r>
              <a:rPr lang="en-US" sz="900" dirty="0">
                <a:solidFill>
                  <a:srgbClr val="9A938A"/>
                </a:solidFill>
                <a:latin typeface="Yu Gothic" pitchFamily="34" charset="0"/>
                <a:ea typeface="Yu Gothic" pitchFamily="34" charset="-122"/>
                <a:cs typeface="Yu Gothic" pitchFamily="34" charset="-120"/>
              </a:rPr>
              <a:t>売値ベースの加重平均　／　定価100あたり ▲4.83</a:t>
            </a:r>
            <a:endParaRPr lang="en-US" sz="900" dirty="0"/>
          </a:p>
        </p:txBody>
      </p:sp>
      <p:sp>
        <p:nvSpPr>
          <p:cNvPr id="22" name="Text 19"/>
          <p:cNvSpPr/>
          <p:nvPr/>
        </p:nvSpPr>
        <p:spPr>
          <a:xfrm>
            <a:off x="658368" y="5724144"/>
            <a:ext cx="10874959" cy="438912"/>
          </a:xfrm>
          <a:prstGeom prst="rect">
            <a:avLst/>
          </a:prstGeom>
          <a:noFill/>
          <a:ln/>
        </p:spPr>
        <p:txBody>
          <a:bodyPr wrap="square" lIns="0" tIns="0" rIns="0" bIns="0" rtlCol="0" anchor="ctr"/>
          <a:lstStyle/>
          <a:p>
            <a:pPr indent="0" marL="0">
              <a:lnSpc>
                <a:spcPct val="120000"/>
              </a:lnSpc>
              <a:buNone/>
            </a:pPr>
            <a:r>
              <a:rPr lang="en-US" sz="850" dirty="0">
                <a:solidFill>
                  <a:srgbClr val="6E675E"/>
                </a:solidFill>
                <a:latin typeface="Yu Gothic" pitchFamily="34" charset="0"/>
                <a:ea typeface="Yu Gothic" pitchFamily="34" charset="-122"/>
                <a:cs typeface="Yu Gothic" pitchFamily="34" charset="-120"/>
              </a:rPr>
              <a:t>※ 保管料は業務用パレット定温保管の水準（月10〜20円／本）。個人向けセラー預かり（月100〜150円／本）とは別の料金帯。主線（在庫回転12ヶ月・年間販売7.48億円）における年間SPC費用の合計は6,282万円で、内訳は変動販売費4,816万円・保管705万円・SPC固定費660万円・保険71万円・入庫30万円。その他の運用前提：総額の95%をワイン購入に充当（現金5%）／仕入展開6ヶ月／ローリング運用／利益は複利再投資せず半期分配／SPC税前利益を投資家とWineBankで折半／利回りは投資家の税引前ベース。</a:t>
            </a:r>
            <a:endParaRPr lang="en-US" sz="8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C0C0C"/>
        </a:solidFill>
      </p:bgPr>
    </p:bg>
    <p:spTree>
      <p:nvGrpSpPr>
        <p:cNvPr id="1" name=""/>
        <p:cNvGrpSpPr/>
        <p:nvPr/>
      </p:nvGrpSpPr>
      <p:grpSpPr>
        <a:xfrm>
          <a:off x="0" y="0"/>
          <a:ext cx="0" cy="0"/>
          <a:chOff x="0" y="0"/>
          <a:chExt cx="0" cy="0"/>
        </a:xfrm>
      </p:grpSpPr>
      <p:sp>
        <p:nvSpPr>
          <p:cNvPr id="2" name="Text 0"/>
          <p:cNvSpPr/>
          <p:nvPr/>
        </p:nvSpPr>
        <p:spPr>
          <a:xfrm>
            <a:off x="658368" y="384048"/>
            <a:ext cx="10874959" cy="219456"/>
          </a:xfrm>
          <a:prstGeom prst="rect">
            <a:avLst/>
          </a:prstGeom>
          <a:noFill/>
          <a:ln/>
        </p:spPr>
        <p:txBody>
          <a:bodyPr wrap="square" lIns="0" tIns="0" rIns="0" bIns="0" rtlCol="0" anchor="ctr"/>
          <a:lstStyle/>
          <a:p>
            <a:pPr indent="0" marL="0">
              <a:buNone/>
            </a:pPr>
            <a:r>
              <a:rPr lang="en-US" sz="1050" b="1" spc="340" kern="0" dirty="0">
                <a:solidFill>
                  <a:srgbClr val="A78450"/>
                </a:solidFill>
                <a:latin typeface="Cambria" pitchFamily="34" charset="0"/>
                <a:ea typeface="Cambria" pitchFamily="34" charset="-122"/>
                <a:cs typeface="Cambria" pitchFamily="34" charset="-120"/>
              </a:rPr>
              <a:t>BASE CASE ｜ 主線</a:t>
            </a:r>
            <a:endParaRPr lang="en-US" sz="1050" dirty="0"/>
          </a:p>
        </p:txBody>
      </p:sp>
      <p:sp>
        <p:nvSpPr>
          <p:cNvPr id="3" name="Text 1"/>
          <p:cNvSpPr/>
          <p:nvPr/>
        </p:nvSpPr>
        <p:spPr>
          <a:xfrm>
            <a:off x="658368" y="640080"/>
            <a:ext cx="10874959" cy="548640"/>
          </a:xfrm>
          <a:prstGeom prst="rect">
            <a:avLst/>
          </a:prstGeom>
          <a:noFill/>
          <a:ln/>
        </p:spPr>
        <p:txBody>
          <a:bodyPr wrap="square" lIns="0" tIns="0" rIns="0" bIns="0" rtlCol="0" anchor="ctr"/>
          <a:lstStyle/>
          <a:p>
            <a:pPr indent="0" marL="0">
              <a:buNone/>
            </a:pPr>
            <a:r>
              <a:rPr lang="en-US" sz="2700" b="1" dirty="0">
                <a:solidFill>
                  <a:srgbClr val="EFEBE3"/>
                </a:solidFill>
                <a:latin typeface="Yu Mincho" pitchFamily="34" charset="0"/>
                <a:ea typeface="Yu Mincho" pitchFamily="34" charset="-122"/>
                <a:cs typeface="Yu Mincho" pitchFamily="34" charset="-120"/>
              </a:rPr>
              <a:t>ニュートラル：在庫回転期間別シミュレーション</a:t>
            </a:r>
            <a:endParaRPr lang="en-US" sz="2700" dirty="0"/>
          </a:p>
        </p:txBody>
      </p:sp>
      <p:sp>
        <p:nvSpPr>
          <p:cNvPr id="4" name="Text 2"/>
          <p:cNvSpPr/>
          <p:nvPr/>
        </p:nvSpPr>
        <p:spPr>
          <a:xfrm>
            <a:off x="658368" y="1216152"/>
            <a:ext cx="10874959" cy="310896"/>
          </a:xfrm>
          <a:prstGeom prst="rect">
            <a:avLst/>
          </a:prstGeom>
          <a:noFill/>
          <a:ln/>
        </p:spPr>
        <p:txBody>
          <a:bodyPr wrap="square" lIns="0" tIns="0" rIns="0" bIns="0" rtlCol="0" anchor="ctr"/>
          <a:lstStyle/>
          <a:p>
            <a:pPr indent="0" marL="0">
              <a:buNone/>
            </a:pPr>
            <a:r>
              <a:rPr lang="en-US" sz="1150" dirty="0">
                <a:solidFill>
                  <a:srgbClr val="9A938A"/>
                </a:solidFill>
                <a:latin typeface="Yu Gothic" pitchFamily="34" charset="0"/>
                <a:ea typeface="Yu Gothic" pitchFamily="34" charset="-122"/>
                <a:cs typeface="Yu Gothic" pitchFamily="34" charset="-120"/>
              </a:rPr>
              <a:t>SPC取得原価50.5・ワイン価格上昇 年6%／総額5億円（すべてエクイティ）・SPC税前利益を折半・稼働率95%</a:t>
            </a:r>
            <a:endParaRPr lang="en-US" sz="1150" dirty="0"/>
          </a:p>
        </p:txBody>
      </p:sp>
      <p:sp>
        <p:nvSpPr>
          <p:cNvPr id="5" name="Text 3"/>
          <p:cNvSpPr/>
          <p:nvPr/>
        </p:nvSpPr>
        <p:spPr>
          <a:xfrm>
            <a:off x="658368" y="6437376"/>
            <a:ext cx="5029200" cy="219456"/>
          </a:xfrm>
          <a:prstGeom prst="rect">
            <a:avLst/>
          </a:prstGeom>
          <a:noFill/>
          <a:ln/>
        </p:spPr>
        <p:txBody>
          <a:bodyPr wrap="square" lIns="0" tIns="0" rIns="0" bIns="0" rtlCol="0" anchor="ctr"/>
          <a:lstStyle/>
          <a:p>
            <a:pPr indent="0" marL="0">
              <a:buNone/>
            </a:pPr>
            <a:r>
              <a:rPr lang="en-US" sz="850" dirty="0">
                <a:solidFill>
                  <a:srgbClr val="6E675E"/>
                </a:solidFill>
                <a:latin typeface="Yu Gothic" pitchFamily="34" charset="0"/>
                <a:ea typeface="Yu Gothic" pitchFamily="34" charset="-122"/>
                <a:cs typeface="Yu Gothic" pitchFamily="34" charset="-120"/>
              </a:rPr>
              <a:t>CONFIDENTIAL ｜ 株式会社WineBank</a:t>
            </a:r>
            <a:endParaRPr lang="en-US" sz="850" dirty="0"/>
          </a:p>
        </p:txBody>
      </p:sp>
      <p:sp>
        <p:nvSpPr>
          <p:cNvPr id="6" name="Text 4"/>
          <p:cNvSpPr/>
          <p:nvPr/>
        </p:nvSpPr>
        <p:spPr>
          <a:xfrm>
            <a:off x="10618927" y="6437376"/>
            <a:ext cx="914400" cy="219456"/>
          </a:xfrm>
          <a:prstGeom prst="rect">
            <a:avLst/>
          </a:prstGeom>
          <a:noFill/>
          <a:ln/>
        </p:spPr>
        <p:txBody>
          <a:bodyPr wrap="square" lIns="0" tIns="0" rIns="0" bIns="0" rtlCol="0" anchor="ctr"/>
          <a:lstStyle/>
          <a:p>
            <a:pPr algn="r" indent="0" marL="0">
              <a:buNone/>
            </a:pPr>
            <a:r>
              <a:rPr lang="en-US" sz="950" spc="150" kern="0" dirty="0">
                <a:solidFill>
                  <a:srgbClr val="6E5730"/>
                </a:solidFill>
                <a:latin typeface="Cambria" pitchFamily="34" charset="0"/>
                <a:ea typeface="Cambria" pitchFamily="34" charset="-122"/>
                <a:cs typeface="Cambria" pitchFamily="34" charset="-120"/>
              </a:rPr>
              <a:t>10</a:t>
            </a:r>
            <a:endParaRPr lang="en-US" sz="95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658368" y="1664208"/>
          <a:ext cx="10874959" cy="914400"/>
        </p:xfrm>
        <a:graphic>
          <a:graphicData uri="http://schemas.openxmlformats.org/drawingml/2006/table">
            <a:tbl>
              <a:tblPr/>
              <a:tblGrid>
                <a:gridCol w="1389888"/>
                <a:gridCol w="859536"/>
                <a:gridCol w="859536"/>
                <a:gridCol w="731520"/>
                <a:gridCol w="1042416"/>
                <a:gridCol w="1481328"/>
                <a:gridCol w="1417320"/>
                <a:gridCol w="1005840"/>
                <a:gridCol w="969264"/>
                <a:gridCol w="1115568"/>
              </a:tblGrid>
              <a:tr h="365760">
                <a:tc>
                  <a:txBody>
                    <a:bodyPr/>
                    <a:lstStyle/>
                    <a:p>
                      <a:pPr algn="ctr" indent="0" marL="0">
                        <a:buNone/>
                      </a:pPr>
                      <a:r>
                        <a:rPr lang="en-US" sz="950" b="1" dirty="0">
                          <a:solidFill>
                            <a:srgbClr val="C9A96E"/>
                          </a:solidFill>
                          <a:latin typeface="Yu Gothic" pitchFamily="34" charset="0"/>
                          <a:ea typeface="Yu Gothic" pitchFamily="34" charset="-122"/>
                          <a:cs typeface="Yu Gothic" pitchFamily="34" charset="-120"/>
                        </a:rPr>
                        <a:t>在庫回転期間</a:t>
                      </a:r>
                      <a:endParaRPr lang="en-US" sz="9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231F1A"/>
                    </a:solidFill>
                  </a:tcPr>
                </a:tc>
                <a:tc>
                  <a:txBody>
                    <a:bodyPr/>
                    <a:lstStyle/>
                    <a:p>
                      <a:pPr algn="ctr" indent="0" marL="0">
                        <a:buNone/>
                      </a:pPr>
                      <a:r>
                        <a:rPr lang="en-US" sz="950" b="1" dirty="0">
                          <a:solidFill>
                            <a:srgbClr val="C9A96E"/>
                          </a:solidFill>
                          <a:latin typeface="Yu Gothic" pitchFamily="34" charset="0"/>
                          <a:ea typeface="Yu Gothic" pitchFamily="34" charset="-122"/>
                          <a:cs typeface="Yu Gothic" pitchFamily="34" charset="-120"/>
                        </a:rPr>
                        <a:t>年間売上</a:t>
                      </a:r>
                      <a:endParaRPr lang="en-US" sz="9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231F1A"/>
                    </a:solidFill>
                  </a:tcPr>
                </a:tc>
                <a:tc>
                  <a:txBody>
                    <a:bodyPr/>
                    <a:lstStyle/>
                    <a:p>
                      <a:pPr algn="ctr" indent="0" marL="0">
                        <a:buNone/>
                      </a:pPr>
                      <a:r>
                        <a:rPr lang="en-US" sz="950" b="1" dirty="0">
                          <a:solidFill>
                            <a:srgbClr val="C9A96E"/>
                          </a:solidFill>
                          <a:latin typeface="Yu Gothic" pitchFamily="34" charset="0"/>
                          <a:ea typeface="Yu Gothic" pitchFamily="34" charset="-122"/>
                          <a:cs typeface="Yu Gothic" pitchFamily="34" charset="-120"/>
                        </a:rPr>
                        <a:t>年間粗利※</a:t>
                      </a:r>
                      <a:endParaRPr lang="en-US" sz="9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231F1A"/>
                    </a:solidFill>
                  </a:tcPr>
                </a:tc>
                <a:tc>
                  <a:txBody>
                    <a:bodyPr/>
                    <a:lstStyle/>
                    <a:p>
                      <a:pPr algn="ctr" indent="0" marL="0">
                        <a:buNone/>
                      </a:pPr>
                      <a:r>
                        <a:rPr lang="en-US" sz="950" b="1" dirty="0">
                          <a:solidFill>
                            <a:srgbClr val="C9A96E"/>
                          </a:solidFill>
                          <a:latin typeface="Yu Gothic" pitchFamily="34" charset="0"/>
                          <a:ea typeface="Yu Gothic" pitchFamily="34" charset="-122"/>
                          <a:cs typeface="Yu Gothic" pitchFamily="34" charset="-120"/>
                        </a:rPr>
                        <a:t>粗利率</a:t>
                      </a:r>
                      <a:endParaRPr lang="en-US" sz="9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231F1A"/>
                    </a:solidFill>
                  </a:tcPr>
                </a:tc>
                <a:tc>
                  <a:txBody>
                    <a:bodyPr/>
                    <a:lstStyle/>
                    <a:p>
                      <a:pPr algn="ctr" indent="0" marL="0">
                        <a:buNone/>
                      </a:pPr>
                      <a:r>
                        <a:rPr lang="en-US" sz="950" b="1" dirty="0">
                          <a:solidFill>
                            <a:srgbClr val="C9A96E"/>
                          </a:solidFill>
                          <a:latin typeface="Yu Gothic" pitchFamily="34" charset="0"/>
                          <a:ea typeface="Yu Gothic" pitchFamily="34" charset="-122"/>
                          <a:cs typeface="Yu Gothic" pitchFamily="34" charset="-120"/>
                        </a:rPr>
                        <a:t>年間税前利益</a:t>
                      </a:r>
                      <a:endParaRPr lang="en-US" sz="9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231F1A"/>
                    </a:solidFill>
                  </a:tcPr>
                </a:tc>
                <a:tc>
                  <a:txBody>
                    <a:bodyPr/>
                    <a:lstStyle/>
                    <a:p>
                      <a:pPr algn="ctr" indent="0" marL="0">
                        <a:buNone/>
                      </a:pPr>
                      <a:r>
                        <a:rPr lang="en-US" sz="950" b="1" dirty="0">
                          <a:solidFill>
                            <a:srgbClr val="C9A96E"/>
                          </a:solidFill>
                          <a:latin typeface="Yu Gothic" pitchFamily="34" charset="0"/>
                          <a:ea typeface="Yu Gothic" pitchFamily="34" charset="-122"/>
                          <a:cs typeface="Yu Gothic" pitchFamily="34" charset="-120"/>
                        </a:rPr>
                        <a:t>投資家取分（折半後）</a:t>
                      </a:r>
                      <a:endParaRPr lang="en-US" sz="9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231F1A"/>
                    </a:solidFill>
                  </a:tcPr>
                </a:tc>
                <a:tc>
                  <a:txBody>
                    <a:bodyPr/>
                    <a:lstStyle/>
                    <a:p>
                      <a:pPr algn="ctr" indent="0" marL="0">
                        <a:buNone/>
                      </a:pPr>
                      <a:r>
                        <a:rPr lang="en-US" sz="950" b="1" dirty="0">
                          <a:solidFill>
                            <a:srgbClr val="C9A96E"/>
                          </a:solidFill>
                          <a:latin typeface="Yu Gothic" pitchFamily="34" charset="0"/>
                          <a:ea typeface="Yu Gothic" pitchFamily="34" charset="-122"/>
                          <a:cs typeface="Yu Gothic" pitchFamily="34" charset="-120"/>
                        </a:rPr>
                        <a:t>WineBank取分</a:t>
                      </a:r>
                      <a:endParaRPr lang="en-US" sz="9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231F1A"/>
                    </a:solidFill>
                  </a:tcPr>
                </a:tc>
                <a:tc>
                  <a:txBody>
                    <a:bodyPr/>
                    <a:lstStyle/>
                    <a:p>
                      <a:pPr algn="ctr" indent="0" marL="0">
                        <a:buNone/>
                      </a:pPr>
                      <a:r>
                        <a:rPr lang="en-US" sz="950" b="1" dirty="0">
                          <a:solidFill>
                            <a:srgbClr val="C9A96E"/>
                          </a:solidFill>
                          <a:latin typeface="Yu Gothic" pitchFamily="34" charset="0"/>
                          <a:ea typeface="Yu Gothic" pitchFamily="34" charset="-122"/>
                          <a:cs typeface="Yu Gothic" pitchFamily="34" charset="-120"/>
                        </a:rPr>
                        <a:t>投資家利回り</a:t>
                      </a:r>
                      <a:endParaRPr lang="en-US" sz="9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231F1A"/>
                    </a:solidFill>
                  </a:tcPr>
                </a:tc>
                <a:tc>
                  <a:txBody>
                    <a:bodyPr/>
                    <a:lstStyle/>
                    <a:p>
                      <a:pPr algn="ctr" indent="0" marL="0">
                        <a:buNone/>
                      </a:pPr>
                      <a:r>
                        <a:rPr lang="en-US" sz="950" b="1" dirty="0">
                          <a:solidFill>
                            <a:srgbClr val="C9A96E"/>
                          </a:solidFill>
                          <a:latin typeface="Yu Gothic" pitchFamily="34" charset="0"/>
                          <a:ea typeface="Yu Gothic" pitchFamily="34" charset="-122"/>
                          <a:cs typeface="Yu Gothic" pitchFamily="34" charset="-120"/>
                        </a:rPr>
                        <a:t>5年累計分配</a:t>
                      </a:r>
                      <a:endParaRPr lang="en-US" sz="9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231F1A"/>
                    </a:solidFill>
                  </a:tcPr>
                </a:tc>
                <a:tc>
                  <a:txBody>
                    <a:bodyPr/>
                    <a:lstStyle/>
                    <a:p>
                      <a:pPr algn="ctr" indent="0" marL="0">
                        <a:buNone/>
                      </a:pPr>
                      <a:r>
                        <a:rPr lang="en-US" sz="950" b="1" dirty="0">
                          <a:solidFill>
                            <a:srgbClr val="C9A96E"/>
                          </a:solidFill>
                          <a:latin typeface="Yu Gothic" pitchFamily="34" charset="0"/>
                          <a:ea typeface="Yu Gothic" pitchFamily="34" charset="-122"/>
                          <a:cs typeface="Yu Gothic" pitchFamily="34" charset="-120"/>
                        </a:rPr>
                        <a:t>投資家 年平均利回り 5年通算</a:t>
                      </a:r>
                      <a:endParaRPr lang="en-US" sz="9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231F1A"/>
                    </a:solidFill>
                  </a:tcPr>
                </a:tc>
              </a:tr>
              <a:tr h="365760">
                <a:tc>
                  <a:txBody>
                    <a:bodyPr/>
                    <a:lstStyle/>
                    <a:p>
                      <a:pPr algn="ctr" indent="0" marL="0">
                        <a:buNone/>
                      </a:pPr>
                      <a:r>
                        <a:rPr lang="en-US" sz="1000" dirty="0">
                          <a:solidFill>
                            <a:srgbClr val="EFEBE3"/>
                          </a:solidFill>
                          <a:latin typeface="Yu Gothic" pitchFamily="34" charset="0"/>
                          <a:ea typeface="Yu Gothic" pitchFamily="34" charset="-122"/>
                          <a:cs typeface="Yu Gothic" pitchFamily="34" charset="-120"/>
                        </a:rPr>
                        <a:t>9ヶ月</a:t>
                      </a:r>
                      <a:endParaRPr lang="en-US" sz="10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1000" dirty="0">
                          <a:solidFill>
                            <a:srgbClr val="EFEBE3"/>
                          </a:solidFill>
                          <a:latin typeface="Yu Gothic" pitchFamily="34" charset="0"/>
                          <a:ea typeface="Yu Gothic" pitchFamily="34" charset="-122"/>
                          <a:cs typeface="Yu Gothic" pitchFamily="34" charset="-120"/>
                        </a:rPr>
                        <a:t>9.83億</a:t>
                      </a:r>
                      <a:endParaRPr lang="en-US" sz="10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1000" dirty="0">
                          <a:solidFill>
                            <a:srgbClr val="EFEBE3"/>
                          </a:solidFill>
                          <a:latin typeface="Yu Gothic" pitchFamily="34" charset="0"/>
                          <a:ea typeface="Yu Gothic" pitchFamily="34" charset="-122"/>
                          <a:cs typeface="Yu Gothic" pitchFamily="34" charset="-120"/>
                        </a:rPr>
                        <a:t>2.86億</a:t>
                      </a:r>
                      <a:endParaRPr lang="en-US" sz="10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1000" dirty="0">
                          <a:solidFill>
                            <a:srgbClr val="EFEBE3"/>
                          </a:solidFill>
                          <a:latin typeface="Yu Gothic" pitchFamily="34" charset="0"/>
                          <a:ea typeface="Yu Gothic" pitchFamily="34" charset="-122"/>
                          <a:cs typeface="Yu Gothic" pitchFamily="34" charset="-120"/>
                        </a:rPr>
                        <a:t>29.1%</a:t>
                      </a:r>
                      <a:endParaRPr lang="en-US" sz="10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1000" dirty="0">
                          <a:solidFill>
                            <a:srgbClr val="EFEBE3"/>
                          </a:solidFill>
                          <a:latin typeface="Yu Gothic" pitchFamily="34" charset="0"/>
                          <a:ea typeface="Yu Gothic" pitchFamily="34" charset="-122"/>
                          <a:cs typeface="Yu Gothic" pitchFamily="34" charset="-120"/>
                        </a:rPr>
                        <a:t>2.71億</a:t>
                      </a:r>
                      <a:endParaRPr lang="en-US" sz="10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1000" dirty="0">
                          <a:solidFill>
                            <a:srgbClr val="EFEBE3"/>
                          </a:solidFill>
                          <a:latin typeface="Yu Gothic" pitchFamily="34" charset="0"/>
                          <a:ea typeface="Yu Gothic" pitchFamily="34" charset="-122"/>
                          <a:cs typeface="Yu Gothic" pitchFamily="34" charset="-120"/>
                        </a:rPr>
                        <a:t>136百万</a:t>
                      </a:r>
                      <a:endParaRPr lang="en-US" sz="10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1000" dirty="0">
                          <a:solidFill>
                            <a:srgbClr val="EFEBE3"/>
                          </a:solidFill>
                          <a:latin typeface="Yu Gothic" pitchFamily="34" charset="0"/>
                          <a:ea typeface="Yu Gothic" pitchFamily="34" charset="-122"/>
                          <a:cs typeface="Yu Gothic" pitchFamily="34" charset="-120"/>
                        </a:rPr>
                        <a:t>136百万</a:t>
                      </a:r>
                      <a:endParaRPr lang="en-US" sz="10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1000" b="1" dirty="0">
                          <a:solidFill>
                            <a:srgbClr val="C9A96E"/>
                          </a:solidFill>
                          <a:latin typeface="Yu Gothic" pitchFamily="34" charset="0"/>
                          <a:ea typeface="Yu Gothic" pitchFamily="34" charset="-122"/>
                          <a:cs typeface="Yu Gothic" pitchFamily="34" charset="-120"/>
                        </a:rPr>
                        <a:t>27.1%</a:t>
                      </a:r>
                      <a:endParaRPr lang="en-US" sz="10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1000" dirty="0">
                          <a:solidFill>
                            <a:srgbClr val="EFEBE3"/>
                          </a:solidFill>
                          <a:latin typeface="Yu Gothic" pitchFamily="34" charset="0"/>
                          <a:ea typeface="Yu Gothic" pitchFamily="34" charset="-122"/>
                          <a:cs typeface="Yu Gothic" pitchFamily="34" charset="-120"/>
                        </a:rPr>
                        <a:t>609百万</a:t>
                      </a:r>
                      <a:endParaRPr lang="en-US" sz="10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1000" b="1" dirty="0">
                          <a:solidFill>
                            <a:srgbClr val="C9A96E"/>
                          </a:solidFill>
                          <a:latin typeface="Yu Gothic" pitchFamily="34" charset="0"/>
                          <a:ea typeface="Yu Gothic" pitchFamily="34" charset="-122"/>
                          <a:cs typeface="Yu Gothic" pitchFamily="34" charset="-120"/>
                        </a:rPr>
                        <a:t>24.3%</a:t>
                      </a:r>
                      <a:endParaRPr lang="en-US" sz="10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r>
              <a:tr h="365760">
                <a:tc>
                  <a:txBody>
                    <a:bodyPr/>
                    <a:lstStyle/>
                    <a:p>
                      <a:pPr algn="ctr" indent="0" marL="0">
                        <a:buNone/>
                      </a:pPr>
                      <a:r>
                        <a:rPr lang="en-US" sz="1000" b="1" dirty="0">
                          <a:solidFill>
                            <a:srgbClr val="C9A96E"/>
                          </a:solidFill>
                          <a:latin typeface="Yu Gothic" pitchFamily="34" charset="0"/>
                          <a:ea typeface="Yu Gothic" pitchFamily="34" charset="-122"/>
                          <a:cs typeface="Yu Gothic" pitchFamily="34" charset="-120"/>
                        </a:rPr>
                        <a:t>12ヶ月（主線）</a:t>
                      </a:r>
                      <a:endParaRPr lang="en-US" sz="10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1000" dirty="0">
                          <a:solidFill>
                            <a:srgbClr val="EFEBE3"/>
                          </a:solidFill>
                          <a:latin typeface="Yu Gothic" pitchFamily="34" charset="0"/>
                          <a:ea typeface="Yu Gothic" pitchFamily="34" charset="-122"/>
                          <a:cs typeface="Yu Gothic" pitchFamily="34" charset="-120"/>
                        </a:rPr>
                        <a:t>7.48億</a:t>
                      </a:r>
                      <a:endParaRPr lang="en-US" sz="10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1000" dirty="0">
                          <a:solidFill>
                            <a:srgbClr val="EFEBE3"/>
                          </a:solidFill>
                          <a:latin typeface="Yu Gothic" pitchFamily="34" charset="0"/>
                          <a:ea typeface="Yu Gothic" pitchFamily="34" charset="-122"/>
                          <a:cs typeface="Yu Gothic" pitchFamily="34" charset="-120"/>
                        </a:rPr>
                        <a:t>2.25億</a:t>
                      </a:r>
                      <a:endParaRPr lang="en-US" sz="10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1000" dirty="0">
                          <a:solidFill>
                            <a:srgbClr val="EFEBE3"/>
                          </a:solidFill>
                          <a:latin typeface="Yu Gothic" pitchFamily="34" charset="0"/>
                          <a:ea typeface="Yu Gothic" pitchFamily="34" charset="-122"/>
                          <a:cs typeface="Yu Gothic" pitchFamily="34" charset="-120"/>
                        </a:rPr>
                        <a:t>30.0%</a:t>
                      </a:r>
                      <a:endParaRPr lang="en-US" sz="10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1000" dirty="0">
                          <a:solidFill>
                            <a:srgbClr val="EFEBE3"/>
                          </a:solidFill>
                          <a:latin typeface="Yu Gothic" pitchFamily="34" charset="0"/>
                          <a:ea typeface="Yu Gothic" pitchFamily="34" charset="-122"/>
                          <a:cs typeface="Yu Gothic" pitchFamily="34" charset="-120"/>
                        </a:rPr>
                        <a:t>2.10億</a:t>
                      </a:r>
                      <a:endParaRPr lang="en-US" sz="10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1000" dirty="0">
                          <a:solidFill>
                            <a:srgbClr val="EFEBE3"/>
                          </a:solidFill>
                          <a:latin typeface="Yu Gothic" pitchFamily="34" charset="0"/>
                          <a:ea typeface="Yu Gothic" pitchFamily="34" charset="-122"/>
                          <a:cs typeface="Yu Gothic" pitchFamily="34" charset="-120"/>
                        </a:rPr>
                        <a:t>105百万</a:t>
                      </a:r>
                      <a:endParaRPr lang="en-US" sz="10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1000" dirty="0">
                          <a:solidFill>
                            <a:srgbClr val="EFEBE3"/>
                          </a:solidFill>
                          <a:latin typeface="Yu Gothic" pitchFamily="34" charset="0"/>
                          <a:ea typeface="Yu Gothic" pitchFamily="34" charset="-122"/>
                          <a:cs typeface="Yu Gothic" pitchFamily="34" charset="-120"/>
                        </a:rPr>
                        <a:t>105百万</a:t>
                      </a:r>
                      <a:endParaRPr lang="en-US" sz="10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1000" b="1" dirty="0">
                          <a:solidFill>
                            <a:srgbClr val="C9A96E"/>
                          </a:solidFill>
                          <a:latin typeface="Yu Gothic" pitchFamily="34" charset="0"/>
                          <a:ea typeface="Yu Gothic" pitchFamily="34" charset="-122"/>
                          <a:cs typeface="Yu Gothic" pitchFamily="34" charset="-120"/>
                        </a:rPr>
                        <a:t>21.0%</a:t>
                      </a:r>
                      <a:endParaRPr lang="en-US" sz="10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1000" dirty="0">
                          <a:solidFill>
                            <a:srgbClr val="EFEBE3"/>
                          </a:solidFill>
                          <a:latin typeface="Yu Gothic" pitchFamily="34" charset="0"/>
                          <a:ea typeface="Yu Gothic" pitchFamily="34" charset="-122"/>
                          <a:cs typeface="Yu Gothic" pitchFamily="34" charset="-120"/>
                        </a:rPr>
                        <a:t>418百万</a:t>
                      </a:r>
                      <a:endParaRPr lang="en-US" sz="10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1000" b="1" dirty="0">
                          <a:solidFill>
                            <a:srgbClr val="C9A96E"/>
                          </a:solidFill>
                          <a:latin typeface="Yu Gothic" pitchFamily="34" charset="0"/>
                          <a:ea typeface="Yu Gothic" pitchFamily="34" charset="-122"/>
                          <a:cs typeface="Yu Gothic" pitchFamily="34" charset="-120"/>
                        </a:rPr>
                        <a:t>16.7%</a:t>
                      </a:r>
                      <a:endParaRPr lang="en-US" sz="10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r>
              <a:tr h="365760">
                <a:tc>
                  <a:txBody>
                    <a:bodyPr/>
                    <a:lstStyle/>
                    <a:p>
                      <a:pPr algn="ctr" indent="0" marL="0">
                        <a:buNone/>
                      </a:pPr>
                      <a:r>
                        <a:rPr lang="en-US" sz="1000" dirty="0">
                          <a:solidFill>
                            <a:srgbClr val="EFEBE3"/>
                          </a:solidFill>
                          <a:latin typeface="Yu Gothic" pitchFamily="34" charset="0"/>
                          <a:ea typeface="Yu Gothic" pitchFamily="34" charset="-122"/>
                          <a:cs typeface="Yu Gothic" pitchFamily="34" charset="-120"/>
                        </a:rPr>
                        <a:t>15ヶ月</a:t>
                      </a:r>
                      <a:endParaRPr lang="en-US" sz="10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1000" dirty="0">
                          <a:solidFill>
                            <a:srgbClr val="EFEBE3"/>
                          </a:solidFill>
                          <a:latin typeface="Yu Gothic" pitchFamily="34" charset="0"/>
                          <a:ea typeface="Yu Gothic" pitchFamily="34" charset="-122"/>
                          <a:cs typeface="Yu Gothic" pitchFamily="34" charset="-120"/>
                        </a:rPr>
                        <a:t>6.07億</a:t>
                      </a:r>
                      <a:endParaRPr lang="en-US" sz="10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1000" dirty="0">
                          <a:solidFill>
                            <a:srgbClr val="EFEBE3"/>
                          </a:solidFill>
                          <a:latin typeface="Yu Gothic" pitchFamily="34" charset="0"/>
                          <a:ea typeface="Yu Gothic" pitchFamily="34" charset="-122"/>
                          <a:cs typeface="Yu Gothic" pitchFamily="34" charset="-120"/>
                        </a:rPr>
                        <a:t>1.88億</a:t>
                      </a:r>
                      <a:endParaRPr lang="en-US" sz="10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1000" dirty="0">
                          <a:solidFill>
                            <a:srgbClr val="EFEBE3"/>
                          </a:solidFill>
                          <a:latin typeface="Yu Gothic" pitchFamily="34" charset="0"/>
                          <a:ea typeface="Yu Gothic" pitchFamily="34" charset="-122"/>
                          <a:cs typeface="Yu Gothic" pitchFamily="34" charset="-120"/>
                        </a:rPr>
                        <a:t>31.0%</a:t>
                      </a:r>
                      <a:endParaRPr lang="en-US" sz="10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1000" dirty="0">
                          <a:solidFill>
                            <a:srgbClr val="EFEBE3"/>
                          </a:solidFill>
                          <a:latin typeface="Yu Gothic" pitchFamily="34" charset="0"/>
                          <a:ea typeface="Yu Gothic" pitchFamily="34" charset="-122"/>
                          <a:cs typeface="Yu Gothic" pitchFamily="34" charset="-120"/>
                        </a:rPr>
                        <a:t>1.73億</a:t>
                      </a:r>
                      <a:endParaRPr lang="en-US" sz="10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1000" dirty="0">
                          <a:solidFill>
                            <a:srgbClr val="EFEBE3"/>
                          </a:solidFill>
                          <a:latin typeface="Yu Gothic" pitchFamily="34" charset="0"/>
                          <a:ea typeface="Yu Gothic" pitchFamily="34" charset="-122"/>
                          <a:cs typeface="Yu Gothic" pitchFamily="34" charset="-120"/>
                        </a:rPr>
                        <a:t>87百万</a:t>
                      </a:r>
                      <a:endParaRPr lang="en-US" sz="10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1000" dirty="0">
                          <a:solidFill>
                            <a:srgbClr val="EFEBE3"/>
                          </a:solidFill>
                          <a:latin typeface="Yu Gothic" pitchFamily="34" charset="0"/>
                          <a:ea typeface="Yu Gothic" pitchFamily="34" charset="-122"/>
                          <a:cs typeface="Yu Gothic" pitchFamily="34" charset="-120"/>
                        </a:rPr>
                        <a:t>87百万</a:t>
                      </a:r>
                      <a:endParaRPr lang="en-US" sz="10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1000" b="1" dirty="0">
                          <a:solidFill>
                            <a:srgbClr val="B4553F"/>
                          </a:solidFill>
                          <a:latin typeface="Yu Gothic" pitchFamily="34" charset="0"/>
                          <a:ea typeface="Yu Gothic" pitchFamily="34" charset="-122"/>
                          <a:cs typeface="Yu Gothic" pitchFamily="34" charset="-120"/>
                        </a:rPr>
                        <a:t>17.3%</a:t>
                      </a:r>
                      <a:endParaRPr lang="en-US" sz="10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1000" dirty="0">
                          <a:solidFill>
                            <a:srgbClr val="EFEBE3"/>
                          </a:solidFill>
                          <a:latin typeface="Yu Gothic" pitchFamily="34" charset="0"/>
                          <a:ea typeface="Yu Gothic" pitchFamily="34" charset="-122"/>
                          <a:cs typeface="Yu Gothic" pitchFamily="34" charset="-120"/>
                        </a:rPr>
                        <a:t>322百万</a:t>
                      </a:r>
                      <a:endParaRPr lang="en-US" sz="10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1000" b="1" dirty="0">
                          <a:solidFill>
                            <a:srgbClr val="EFEBE3"/>
                          </a:solidFill>
                          <a:latin typeface="Yu Gothic" pitchFamily="34" charset="0"/>
                          <a:ea typeface="Yu Gothic" pitchFamily="34" charset="-122"/>
                          <a:cs typeface="Yu Gothic" pitchFamily="34" charset="-120"/>
                        </a:rPr>
                        <a:t>12.9%</a:t>
                      </a:r>
                      <a:endParaRPr lang="en-US" sz="10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r>
              <a:tr h="365760">
                <a:tc>
                  <a:txBody>
                    <a:bodyPr/>
                    <a:lstStyle/>
                    <a:p>
                      <a:pPr algn="ctr" indent="0" marL="0">
                        <a:buNone/>
                      </a:pPr>
                      <a:r>
                        <a:rPr lang="en-US" sz="1000" dirty="0">
                          <a:solidFill>
                            <a:srgbClr val="EFEBE3"/>
                          </a:solidFill>
                          <a:latin typeface="Yu Gothic" pitchFamily="34" charset="0"/>
                          <a:ea typeface="Yu Gothic" pitchFamily="34" charset="-122"/>
                          <a:cs typeface="Yu Gothic" pitchFamily="34" charset="-120"/>
                        </a:rPr>
                        <a:t>18ヶ月</a:t>
                      </a:r>
                      <a:endParaRPr lang="en-US" sz="10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1000" dirty="0">
                          <a:solidFill>
                            <a:srgbClr val="EFEBE3"/>
                          </a:solidFill>
                          <a:latin typeface="Yu Gothic" pitchFamily="34" charset="0"/>
                          <a:ea typeface="Yu Gothic" pitchFamily="34" charset="-122"/>
                          <a:cs typeface="Yu Gothic" pitchFamily="34" charset="-120"/>
                        </a:rPr>
                        <a:t>5.13億</a:t>
                      </a:r>
                      <a:endParaRPr lang="en-US" sz="10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1000" dirty="0">
                          <a:solidFill>
                            <a:srgbClr val="EFEBE3"/>
                          </a:solidFill>
                          <a:latin typeface="Yu Gothic" pitchFamily="34" charset="0"/>
                          <a:ea typeface="Yu Gothic" pitchFamily="34" charset="-122"/>
                          <a:cs typeface="Yu Gothic" pitchFamily="34" charset="-120"/>
                        </a:rPr>
                        <a:t>1.64億</a:t>
                      </a:r>
                      <a:endParaRPr lang="en-US" sz="10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1000" dirty="0">
                          <a:solidFill>
                            <a:srgbClr val="EFEBE3"/>
                          </a:solidFill>
                          <a:latin typeface="Yu Gothic" pitchFamily="34" charset="0"/>
                          <a:ea typeface="Yu Gothic" pitchFamily="34" charset="-122"/>
                          <a:cs typeface="Yu Gothic" pitchFamily="34" charset="-120"/>
                        </a:rPr>
                        <a:t>31.9%</a:t>
                      </a:r>
                      <a:endParaRPr lang="en-US" sz="10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1000" dirty="0">
                          <a:solidFill>
                            <a:srgbClr val="EFEBE3"/>
                          </a:solidFill>
                          <a:latin typeface="Yu Gothic" pitchFamily="34" charset="0"/>
                          <a:ea typeface="Yu Gothic" pitchFamily="34" charset="-122"/>
                          <a:cs typeface="Yu Gothic" pitchFamily="34" charset="-120"/>
                        </a:rPr>
                        <a:t>1.49億</a:t>
                      </a:r>
                      <a:endParaRPr lang="en-US" sz="10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1000" dirty="0">
                          <a:solidFill>
                            <a:srgbClr val="EFEBE3"/>
                          </a:solidFill>
                          <a:latin typeface="Yu Gothic" pitchFamily="34" charset="0"/>
                          <a:ea typeface="Yu Gothic" pitchFamily="34" charset="-122"/>
                          <a:cs typeface="Yu Gothic" pitchFamily="34" charset="-120"/>
                        </a:rPr>
                        <a:t>74百万</a:t>
                      </a:r>
                      <a:endParaRPr lang="en-US" sz="10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1000" dirty="0">
                          <a:solidFill>
                            <a:srgbClr val="EFEBE3"/>
                          </a:solidFill>
                          <a:latin typeface="Yu Gothic" pitchFamily="34" charset="0"/>
                          <a:ea typeface="Yu Gothic" pitchFamily="34" charset="-122"/>
                          <a:cs typeface="Yu Gothic" pitchFamily="34" charset="-120"/>
                        </a:rPr>
                        <a:t>74百万</a:t>
                      </a:r>
                      <a:endParaRPr lang="en-US" sz="10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1000" b="1" dirty="0">
                          <a:solidFill>
                            <a:srgbClr val="B4553F"/>
                          </a:solidFill>
                          <a:latin typeface="Yu Gothic" pitchFamily="34" charset="0"/>
                          <a:ea typeface="Yu Gothic" pitchFamily="34" charset="-122"/>
                          <a:cs typeface="Yu Gothic" pitchFamily="34" charset="-120"/>
                        </a:rPr>
                        <a:t>14.9%</a:t>
                      </a:r>
                      <a:endParaRPr lang="en-US" sz="10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1000" dirty="0">
                          <a:solidFill>
                            <a:srgbClr val="EFEBE3"/>
                          </a:solidFill>
                          <a:latin typeface="Yu Gothic" pitchFamily="34" charset="0"/>
                          <a:ea typeface="Yu Gothic" pitchFamily="34" charset="-122"/>
                          <a:cs typeface="Yu Gothic" pitchFamily="34" charset="-120"/>
                        </a:rPr>
                        <a:t>334百万</a:t>
                      </a:r>
                      <a:endParaRPr lang="en-US" sz="10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1000" b="1" dirty="0">
                          <a:solidFill>
                            <a:srgbClr val="EFEBE3"/>
                          </a:solidFill>
                          <a:latin typeface="Yu Gothic" pitchFamily="34" charset="0"/>
                          <a:ea typeface="Yu Gothic" pitchFamily="34" charset="-122"/>
                          <a:cs typeface="Yu Gothic" pitchFamily="34" charset="-120"/>
                        </a:rPr>
                        <a:t>13.3%</a:t>
                      </a:r>
                      <a:endParaRPr lang="en-US" sz="10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r>
            </a:tbl>
          </a:graphicData>
        </a:graphic>
      </p:graphicFrame>
      <p:sp>
        <p:nvSpPr>
          <p:cNvPr id="8" name="Shape 5"/>
          <p:cNvSpPr/>
          <p:nvPr/>
        </p:nvSpPr>
        <p:spPr>
          <a:xfrm>
            <a:off x="658368" y="3712464"/>
            <a:ext cx="5532120" cy="1810512"/>
          </a:xfrm>
          <a:prstGeom prst="roundRect">
            <a:avLst>
              <a:gd name="adj" fmla="val 2273"/>
            </a:avLst>
          </a:prstGeom>
          <a:solidFill>
            <a:srgbClr val="1F1D19"/>
          </a:solidFill>
          <a:ln w="9525">
            <a:solidFill>
              <a:srgbClr val="6E5730"/>
            </a:solidFill>
            <a:prstDash val="solid"/>
          </a:ln>
        </p:spPr>
      </p:sp>
      <p:sp>
        <p:nvSpPr>
          <p:cNvPr id="9" name="Text 6"/>
          <p:cNvSpPr/>
          <p:nvPr/>
        </p:nvSpPr>
        <p:spPr>
          <a:xfrm>
            <a:off x="914400" y="3840480"/>
            <a:ext cx="5029200" cy="237744"/>
          </a:xfrm>
          <a:prstGeom prst="rect">
            <a:avLst/>
          </a:prstGeom>
          <a:noFill/>
          <a:ln/>
        </p:spPr>
        <p:txBody>
          <a:bodyPr wrap="square" lIns="0" tIns="0" rIns="0" bIns="0" rtlCol="0" anchor="ctr"/>
          <a:lstStyle/>
          <a:p>
            <a:pPr indent="0" marL="0">
              <a:buNone/>
            </a:pPr>
            <a:r>
              <a:rPr lang="en-US" sz="1150" b="1" dirty="0">
                <a:solidFill>
                  <a:srgbClr val="C9A96E"/>
                </a:solidFill>
                <a:latin typeface="Yu Gothic" pitchFamily="34" charset="0"/>
                <a:ea typeface="Yu Gothic" pitchFamily="34" charset="-122"/>
                <a:cs typeface="Yu Gothic" pitchFamily="34" charset="-120"/>
              </a:rPr>
              <a:t>粗利率30.0%が投資家利回り21.0%になる理由</a:t>
            </a:r>
            <a:endParaRPr lang="en-US" sz="1150" dirty="0"/>
          </a:p>
        </p:txBody>
      </p:sp>
      <p:sp>
        <p:nvSpPr>
          <p:cNvPr id="10" name="Text 7"/>
          <p:cNvSpPr/>
          <p:nvPr/>
        </p:nvSpPr>
        <p:spPr>
          <a:xfrm>
            <a:off x="914400" y="4133088"/>
            <a:ext cx="1737360" cy="256032"/>
          </a:xfrm>
          <a:prstGeom prst="rect">
            <a:avLst/>
          </a:prstGeom>
          <a:noFill/>
          <a:ln/>
        </p:spPr>
        <p:txBody>
          <a:bodyPr wrap="square" lIns="0" tIns="0" rIns="0" bIns="0" rtlCol="0" anchor="ctr"/>
          <a:lstStyle/>
          <a:p>
            <a:pPr indent="0" marL="0">
              <a:buNone/>
            </a:pPr>
            <a:r>
              <a:rPr lang="en-US" sz="950" b="1" dirty="0">
                <a:solidFill>
                  <a:srgbClr val="EFEBE3"/>
                </a:solidFill>
                <a:latin typeface="Yu Gothic" pitchFamily="34" charset="0"/>
                <a:ea typeface="Yu Gothic" pitchFamily="34" charset="-122"/>
                <a:cs typeface="Yu Gothic" pitchFamily="34" charset="-120"/>
              </a:rPr>
              <a:t>定価100あたり</a:t>
            </a:r>
            <a:endParaRPr lang="en-US" sz="950" dirty="0"/>
          </a:p>
        </p:txBody>
      </p:sp>
      <p:sp>
        <p:nvSpPr>
          <p:cNvPr id="11" name="Text 8"/>
          <p:cNvSpPr/>
          <p:nvPr/>
        </p:nvSpPr>
        <p:spPr>
          <a:xfrm>
            <a:off x="2688336" y="4133088"/>
            <a:ext cx="3291840" cy="256032"/>
          </a:xfrm>
          <a:prstGeom prst="rect">
            <a:avLst/>
          </a:prstGeom>
          <a:noFill/>
          <a:ln/>
        </p:spPr>
        <p:txBody>
          <a:bodyPr wrap="square" lIns="0" tIns="0" rIns="0" bIns="0" rtlCol="0" anchor="ctr"/>
          <a:lstStyle/>
          <a:p>
            <a:pPr indent="0" marL="0">
              <a:lnSpc>
                <a:spcPct val="110000"/>
              </a:lnSpc>
              <a:buNone/>
            </a:pPr>
            <a:r>
              <a:rPr lang="en-US" sz="850" dirty="0">
                <a:solidFill>
                  <a:srgbClr val="9A938A"/>
                </a:solidFill>
                <a:latin typeface="Yu Gothic" pitchFamily="34" charset="0"/>
                <a:ea typeface="Yu Gothic" pitchFamily="34" charset="-122"/>
                <a:cs typeface="Yu Gothic" pitchFamily="34" charset="-120"/>
              </a:rPr>
              <a:t>原価50.50で仕入れ、手取り74.38で回収 → 単位粗利23.88</a:t>
            </a:r>
            <a:endParaRPr lang="en-US" sz="850" dirty="0"/>
          </a:p>
        </p:txBody>
      </p:sp>
      <p:sp>
        <p:nvSpPr>
          <p:cNvPr id="12" name="Text 9"/>
          <p:cNvSpPr/>
          <p:nvPr/>
        </p:nvSpPr>
        <p:spPr>
          <a:xfrm>
            <a:off x="914400" y="4407408"/>
            <a:ext cx="1737360" cy="256032"/>
          </a:xfrm>
          <a:prstGeom prst="rect">
            <a:avLst/>
          </a:prstGeom>
          <a:noFill/>
          <a:ln/>
        </p:spPr>
        <p:txBody>
          <a:bodyPr wrap="square" lIns="0" tIns="0" rIns="0" bIns="0" rtlCol="0" anchor="ctr"/>
          <a:lstStyle/>
          <a:p>
            <a:pPr indent="0" marL="0">
              <a:buNone/>
            </a:pPr>
            <a:r>
              <a:rPr lang="en-US" sz="950" b="1" dirty="0">
                <a:solidFill>
                  <a:srgbClr val="EFEBE3"/>
                </a:solidFill>
                <a:latin typeface="Yu Gothic" pitchFamily="34" charset="0"/>
                <a:ea typeface="Yu Gothic" pitchFamily="34" charset="-122"/>
                <a:cs typeface="Yu Gothic" pitchFamily="34" charset="-120"/>
              </a:rPr>
              <a:t>粗利率 30.0%</a:t>
            </a:r>
            <a:endParaRPr lang="en-US" sz="950" dirty="0"/>
          </a:p>
        </p:txBody>
      </p:sp>
      <p:sp>
        <p:nvSpPr>
          <p:cNvPr id="13" name="Text 10"/>
          <p:cNvSpPr/>
          <p:nvPr/>
        </p:nvSpPr>
        <p:spPr>
          <a:xfrm>
            <a:off x="2688336" y="4407408"/>
            <a:ext cx="3291840" cy="256032"/>
          </a:xfrm>
          <a:prstGeom prst="rect">
            <a:avLst/>
          </a:prstGeom>
          <a:noFill/>
          <a:ln/>
        </p:spPr>
        <p:txBody>
          <a:bodyPr wrap="square" lIns="0" tIns="0" rIns="0" bIns="0" rtlCol="0" anchor="ctr"/>
          <a:lstStyle/>
          <a:p>
            <a:pPr indent="0" marL="0">
              <a:lnSpc>
                <a:spcPct val="110000"/>
              </a:lnSpc>
              <a:buNone/>
            </a:pPr>
            <a:r>
              <a:rPr lang="en-US" sz="850" dirty="0">
                <a:solidFill>
                  <a:srgbClr val="9A938A"/>
                </a:solidFill>
                <a:latin typeface="Yu Gothic" pitchFamily="34" charset="0"/>
                <a:ea typeface="Yu Gothic" pitchFamily="34" charset="-122"/>
                <a:cs typeface="Yu Gothic" pitchFamily="34" charset="-120"/>
              </a:rPr>
              <a:t>分母は売却時の売値79.50</a:t>
            </a:r>
            <a:endParaRPr lang="en-US" sz="850" dirty="0"/>
          </a:p>
        </p:txBody>
      </p:sp>
      <p:sp>
        <p:nvSpPr>
          <p:cNvPr id="14" name="Text 11"/>
          <p:cNvSpPr/>
          <p:nvPr/>
        </p:nvSpPr>
        <p:spPr>
          <a:xfrm>
            <a:off x="914400" y="4681728"/>
            <a:ext cx="1737360" cy="256032"/>
          </a:xfrm>
          <a:prstGeom prst="rect">
            <a:avLst/>
          </a:prstGeom>
          <a:noFill/>
          <a:ln/>
        </p:spPr>
        <p:txBody>
          <a:bodyPr wrap="square" lIns="0" tIns="0" rIns="0" bIns="0" rtlCol="0" anchor="ctr"/>
          <a:lstStyle/>
          <a:p>
            <a:pPr indent="0" marL="0">
              <a:buNone/>
            </a:pPr>
            <a:r>
              <a:rPr lang="en-US" sz="950" b="1" dirty="0">
                <a:solidFill>
                  <a:srgbClr val="C9A96E"/>
                </a:solidFill>
                <a:latin typeface="Yu Gothic" pitchFamily="34" charset="0"/>
                <a:ea typeface="Yu Gothic" pitchFamily="34" charset="-122"/>
                <a:cs typeface="Yu Gothic" pitchFamily="34" charset="-120"/>
              </a:rPr>
              <a:t>投下原価利益率 47.3%</a:t>
            </a:r>
            <a:endParaRPr lang="en-US" sz="950" dirty="0"/>
          </a:p>
        </p:txBody>
      </p:sp>
      <p:sp>
        <p:nvSpPr>
          <p:cNvPr id="15" name="Text 12"/>
          <p:cNvSpPr/>
          <p:nvPr/>
        </p:nvSpPr>
        <p:spPr>
          <a:xfrm>
            <a:off x="2688336" y="4681728"/>
            <a:ext cx="3291840" cy="256032"/>
          </a:xfrm>
          <a:prstGeom prst="rect">
            <a:avLst/>
          </a:prstGeom>
          <a:noFill/>
          <a:ln/>
        </p:spPr>
        <p:txBody>
          <a:bodyPr wrap="square" lIns="0" tIns="0" rIns="0" bIns="0" rtlCol="0" anchor="ctr"/>
          <a:lstStyle/>
          <a:p>
            <a:pPr indent="0" marL="0">
              <a:lnSpc>
                <a:spcPct val="110000"/>
              </a:lnSpc>
              <a:buNone/>
            </a:pPr>
            <a:r>
              <a:rPr lang="en-US" sz="850" dirty="0">
                <a:solidFill>
                  <a:srgbClr val="9A938A"/>
                </a:solidFill>
                <a:latin typeface="Yu Gothic" pitchFamily="34" charset="0"/>
                <a:ea typeface="Yu Gothic" pitchFamily="34" charset="-122"/>
                <a:cs typeface="Yu Gothic" pitchFamily="34" charset="-120"/>
              </a:rPr>
              <a:t>分母は投下資本である取得原価50.50。年1回転なので資本が年47.3%増える</a:t>
            </a:r>
            <a:endParaRPr lang="en-US" sz="850" dirty="0"/>
          </a:p>
        </p:txBody>
      </p:sp>
      <p:sp>
        <p:nvSpPr>
          <p:cNvPr id="16" name="Text 13"/>
          <p:cNvSpPr/>
          <p:nvPr/>
        </p:nvSpPr>
        <p:spPr>
          <a:xfrm>
            <a:off x="914400" y="4956048"/>
            <a:ext cx="1737360" cy="256032"/>
          </a:xfrm>
          <a:prstGeom prst="rect">
            <a:avLst/>
          </a:prstGeom>
          <a:noFill/>
          <a:ln/>
        </p:spPr>
        <p:txBody>
          <a:bodyPr wrap="square" lIns="0" tIns="0" rIns="0" bIns="0" rtlCol="0" anchor="ctr"/>
          <a:lstStyle/>
          <a:p>
            <a:pPr indent="0" marL="0">
              <a:buNone/>
            </a:pPr>
            <a:r>
              <a:rPr lang="en-US" sz="950" b="1" dirty="0">
                <a:solidFill>
                  <a:srgbClr val="EFEBE3"/>
                </a:solidFill>
                <a:latin typeface="Yu Gothic" pitchFamily="34" charset="0"/>
                <a:ea typeface="Yu Gothic" pitchFamily="34" charset="-122"/>
                <a:cs typeface="Yu Gothic" pitchFamily="34" charset="-120"/>
              </a:rPr>
              <a:t>税前利益 2.10億円</a:t>
            </a:r>
            <a:endParaRPr lang="en-US" sz="950" dirty="0"/>
          </a:p>
        </p:txBody>
      </p:sp>
      <p:sp>
        <p:nvSpPr>
          <p:cNvPr id="17" name="Text 14"/>
          <p:cNvSpPr/>
          <p:nvPr/>
        </p:nvSpPr>
        <p:spPr>
          <a:xfrm>
            <a:off x="2688336" y="4956048"/>
            <a:ext cx="3291840" cy="256032"/>
          </a:xfrm>
          <a:prstGeom prst="rect">
            <a:avLst/>
          </a:prstGeom>
          <a:noFill/>
          <a:ln/>
        </p:spPr>
        <p:txBody>
          <a:bodyPr wrap="square" lIns="0" tIns="0" rIns="0" bIns="0" rtlCol="0" anchor="ctr"/>
          <a:lstStyle/>
          <a:p>
            <a:pPr indent="0" marL="0">
              <a:lnSpc>
                <a:spcPct val="110000"/>
              </a:lnSpc>
              <a:buNone/>
            </a:pPr>
            <a:r>
              <a:rPr lang="en-US" sz="850" dirty="0">
                <a:solidFill>
                  <a:srgbClr val="9A938A"/>
                </a:solidFill>
                <a:latin typeface="Yu Gothic" pitchFamily="34" charset="0"/>
                <a:ea typeface="Yu Gothic" pitchFamily="34" charset="-122"/>
                <a:cs typeface="Yu Gothic" pitchFamily="34" charset="-120"/>
              </a:rPr>
              <a:t>SPC費用（保管・保険・入庫・固定 約1,500万円）控除後の年間税前利益</a:t>
            </a:r>
            <a:endParaRPr lang="en-US" sz="850" dirty="0"/>
          </a:p>
        </p:txBody>
      </p:sp>
      <p:sp>
        <p:nvSpPr>
          <p:cNvPr id="18" name="Text 15"/>
          <p:cNvSpPr/>
          <p:nvPr/>
        </p:nvSpPr>
        <p:spPr>
          <a:xfrm>
            <a:off x="914400" y="5230368"/>
            <a:ext cx="1737360" cy="256032"/>
          </a:xfrm>
          <a:prstGeom prst="rect">
            <a:avLst/>
          </a:prstGeom>
          <a:noFill/>
          <a:ln/>
        </p:spPr>
        <p:txBody>
          <a:bodyPr wrap="square" lIns="0" tIns="0" rIns="0" bIns="0" rtlCol="0" anchor="ctr"/>
          <a:lstStyle/>
          <a:p>
            <a:pPr indent="0" marL="0">
              <a:buNone/>
            </a:pPr>
            <a:r>
              <a:rPr lang="en-US" sz="950" b="1" dirty="0">
                <a:solidFill>
                  <a:srgbClr val="C9A96E"/>
                </a:solidFill>
                <a:latin typeface="Yu Gothic" pitchFamily="34" charset="0"/>
                <a:ea typeface="Yu Gothic" pitchFamily="34" charset="-122"/>
                <a:cs typeface="Yu Gothic" pitchFamily="34" charset="-120"/>
              </a:rPr>
              <a:t>投資家利回り 21.0%</a:t>
            </a:r>
            <a:endParaRPr lang="en-US" sz="950" dirty="0"/>
          </a:p>
        </p:txBody>
      </p:sp>
      <p:sp>
        <p:nvSpPr>
          <p:cNvPr id="19" name="Text 16"/>
          <p:cNvSpPr/>
          <p:nvPr/>
        </p:nvSpPr>
        <p:spPr>
          <a:xfrm>
            <a:off x="2688336" y="5230368"/>
            <a:ext cx="3291840" cy="256032"/>
          </a:xfrm>
          <a:prstGeom prst="rect">
            <a:avLst/>
          </a:prstGeom>
          <a:noFill/>
          <a:ln/>
        </p:spPr>
        <p:txBody>
          <a:bodyPr wrap="square" lIns="0" tIns="0" rIns="0" bIns="0" rtlCol="0" anchor="ctr"/>
          <a:lstStyle/>
          <a:p>
            <a:pPr indent="0" marL="0">
              <a:lnSpc>
                <a:spcPct val="110000"/>
              </a:lnSpc>
              <a:buNone/>
            </a:pPr>
            <a:r>
              <a:rPr lang="en-US" sz="850" dirty="0">
                <a:solidFill>
                  <a:srgbClr val="9A938A"/>
                </a:solidFill>
                <a:latin typeface="Yu Gothic" pitchFamily="34" charset="0"/>
                <a:ea typeface="Yu Gothic" pitchFamily="34" charset="-122"/>
                <a:cs typeface="Yu Gothic" pitchFamily="34" charset="-120"/>
              </a:rPr>
              <a:t>税前利益2.10億円を折半した105百万円を、出資5億円で除したもの</a:t>
            </a:r>
            <a:endParaRPr lang="en-US" sz="850" dirty="0"/>
          </a:p>
        </p:txBody>
      </p:sp>
      <p:sp>
        <p:nvSpPr>
          <p:cNvPr id="20" name="Shape 17"/>
          <p:cNvSpPr/>
          <p:nvPr/>
        </p:nvSpPr>
        <p:spPr>
          <a:xfrm>
            <a:off x="6464808" y="3712464"/>
            <a:ext cx="5068519" cy="1810512"/>
          </a:xfrm>
          <a:prstGeom prst="roundRect">
            <a:avLst>
              <a:gd name="adj" fmla="val 2273"/>
            </a:avLst>
          </a:prstGeom>
          <a:solidFill>
            <a:srgbClr val="1F1D19"/>
          </a:solidFill>
          <a:ln w="9525">
            <a:solidFill>
              <a:srgbClr val="6E5730"/>
            </a:solidFill>
            <a:prstDash val="solid"/>
          </a:ln>
        </p:spPr>
      </p:sp>
      <p:sp>
        <p:nvSpPr>
          <p:cNvPr id="21" name="Text 18"/>
          <p:cNvSpPr/>
          <p:nvPr/>
        </p:nvSpPr>
        <p:spPr>
          <a:xfrm>
            <a:off x="6720840" y="3877056"/>
            <a:ext cx="3657600" cy="237744"/>
          </a:xfrm>
          <a:prstGeom prst="rect">
            <a:avLst/>
          </a:prstGeom>
          <a:noFill/>
          <a:ln/>
        </p:spPr>
        <p:txBody>
          <a:bodyPr wrap="square" lIns="0" tIns="0" rIns="0" bIns="0" rtlCol="0" anchor="ctr"/>
          <a:lstStyle/>
          <a:p>
            <a:pPr indent="0" marL="0">
              <a:buNone/>
            </a:pPr>
            <a:r>
              <a:rPr lang="en-US" sz="1200" b="1" dirty="0">
                <a:solidFill>
                  <a:srgbClr val="C9A96E"/>
                </a:solidFill>
                <a:latin typeface="Yu Gothic" pitchFamily="34" charset="0"/>
                <a:ea typeface="Yu Gothic" pitchFamily="34" charset="-122"/>
                <a:cs typeface="Yu Gothic" pitchFamily="34" charset="-120"/>
              </a:rPr>
              <a:t>想定レンジのご提示</a:t>
            </a:r>
            <a:endParaRPr lang="en-US" sz="1200" dirty="0"/>
          </a:p>
        </p:txBody>
      </p:sp>
      <p:sp>
        <p:nvSpPr>
          <p:cNvPr id="22" name="Text 19"/>
          <p:cNvSpPr/>
          <p:nvPr/>
        </p:nvSpPr>
        <p:spPr>
          <a:xfrm>
            <a:off x="6720840" y="4151376"/>
            <a:ext cx="4519879" cy="219456"/>
          </a:xfrm>
          <a:prstGeom prst="rect">
            <a:avLst/>
          </a:prstGeom>
          <a:noFill/>
          <a:ln/>
        </p:spPr>
        <p:txBody>
          <a:bodyPr wrap="square" lIns="0" tIns="0" rIns="0" bIns="0" rtlCol="0" anchor="ctr"/>
          <a:lstStyle/>
          <a:p>
            <a:pPr indent="0" marL="0">
              <a:buNone/>
            </a:pPr>
            <a:r>
              <a:rPr lang="en-US" sz="1050" dirty="0">
                <a:solidFill>
                  <a:srgbClr val="EFEBE3"/>
                </a:solidFill>
                <a:latin typeface="Yu Gothic" pitchFamily="34" charset="0"/>
                <a:ea typeface="Yu Gothic" pitchFamily="34" charset="-122"/>
                <a:cs typeface="Yu Gothic" pitchFamily="34" charset="-120"/>
              </a:rPr>
              <a:t>投資家利回り（定常年間・税引前）</a:t>
            </a:r>
            <a:endParaRPr lang="en-US" sz="1050" dirty="0"/>
          </a:p>
        </p:txBody>
      </p:sp>
      <p:sp>
        <p:nvSpPr>
          <p:cNvPr id="23" name="Text 20"/>
          <p:cNvSpPr/>
          <p:nvPr/>
        </p:nvSpPr>
        <p:spPr>
          <a:xfrm>
            <a:off x="6720840" y="4370832"/>
            <a:ext cx="4519879" cy="457200"/>
          </a:xfrm>
          <a:prstGeom prst="rect">
            <a:avLst/>
          </a:prstGeom>
          <a:noFill/>
          <a:ln/>
        </p:spPr>
        <p:txBody>
          <a:bodyPr wrap="square" lIns="0" tIns="0" rIns="0" bIns="0" rtlCol="0" anchor="ctr"/>
          <a:lstStyle/>
          <a:p>
            <a:pPr indent="0" marL="0">
              <a:buNone/>
            </a:pPr>
            <a:r>
              <a:rPr lang="en-US" sz="3000" b="1" dirty="0">
                <a:solidFill>
                  <a:srgbClr val="C9A96E"/>
                </a:solidFill>
                <a:latin typeface="Cambria" pitchFamily="34" charset="0"/>
                <a:ea typeface="Cambria" pitchFamily="34" charset="-122"/>
                <a:cs typeface="Cambria" pitchFamily="34" charset="-120"/>
              </a:rPr>
              <a:t>14.9 – 27.1</a:t>
            </a:r>
            <a:pPr indent="0" marL="0">
              <a:buNone/>
            </a:pPr>
            <a:r>
              <a:rPr lang="en-US" sz="1500" b="1" dirty="0">
                <a:solidFill>
                  <a:srgbClr val="C9A96E"/>
                </a:solidFill>
                <a:latin typeface="Yu Gothic" pitchFamily="34" charset="0"/>
                <a:ea typeface="Yu Gothic" pitchFamily="34" charset="-122"/>
                <a:cs typeface="Yu Gothic" pitchFamily="34" charset="-120"/>
              </a:rPr>
              <a:t> %</a:t>
            </a:r>
            <a:endParaRPr lang="en-US" sz="3000" dirty="0"/>
          </a:p>
        </p:txBody>
      </p:sp>
      <p:sp>
        <p:nvSpPr>
          <p:cNvPr id="24" name="Text 21"/>
          <p:cNvSpPr/>
          <p:nvPr/>
        </p:nvSpPr>
        <p:spPr>
          <a:xfrm>
            <a:off x="6720840" y="4882896"/>
            <a:ext cx="4519879" cy="530352"/>
          </a:xfrm>
          <a:prstGeom prst="rect">
            <a:avLst/>
          </a:prstGeom>
          <a:noFill/>
          <a:ln/>
        </p:spPr>
        <p:txBody>
          <a:bodyPr wrap="square" lIns="0" tIns="0" rIns="0" bIns="0" rtlCol="0" anchor="ctr"/>
          <a:lstStyle/>
          <a:p>
            <a:pPr indent="0" marL="0">
              <a:lnSpc>
                <a:spcPct val="120000"/>
              </a:lnSpc>
              <a:buNone/>
            </a:pPr>
            <a:r>
              <a:rPr lang="en-US" sz="1000" dirty="0">
                <a:solidFill>
                  <a:srgbClr val="9A938A"/>
                </a:solidFill>
                <a:latin typeface="Yu Gothic" pitchFamily="34" charset="0"/>
                <a:ea typeface="Yu Gothic" pitchFamily="34" charset="-122"/>
                <a:cs typeface="Yu Gothic" pitchFamily="34" charset="-120"/>
              </a:rPr>
              <a:t>主線の回転12ヶ月で21.0%と貴社基準20%を満たす。ただし20%の分岐点は回転12.7ヶ月であり、余裕は0.7ヶ月しかない。15ヶ月まで延びると17.3%となり基準を下回る。</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C0C0C"/>
        </a:solidFill>
      </p:bgPr>
    </p:bg>
    <p:spTree>
      <p:nvGrpSpPr>
        <p:cNvPr id="1" name=""/>
        <p:cNvGrpSpPr/>
        <p:nvPr/>
      </p:nvGrpSpPr>
      <p:grpSpPr>
        <a:xfrm>
          <a:off x="0" y="0"/>
          <a:ext cx="0" cy="0"/>
          <a:chOff x="0" y="0"/>
          <a:chExt cx="0" cy="0"/>
        </a:xfrm>
      </p:grpSpPr>
      <p:sp>
        <p:nvSpPr>
          <p:cNvPr id="2" name="Text 0"/>
          <p:cNvSpPr/>
          <p:nvPr/>
        </p:nvSpPr>
        <p:spPr>
          <a:xfrm>
            <a:off x="658368" y="384048"/>
            <a:ext cx="10874959" cy="219456"/>
          </a:xfrm>
          <a:prstGeom prst="rect">
            <a:avLst/>
          </a:prstGeom>
          <a:noFill/>
          <a:ln/>
        </p:spPr>
        <p:txBody>
          <a:bodyPr wrap="square" lIns="0" tIns="0" rIns="0" bIns="0" rtlCol="0" anchor="ctr"/>
          <a:lstStyle/>
          <a:p>
            <a:pPr indent="0" marL="0">
              <a:buNone/>
            </a:pPr>
            <a:r>
              <a:rPr lang="en-US" sz="1050" b="1" spc="340" kern="0" dirty="0">
                <a:solidFill>
                  <a:srgbClr val="A78450"/>
                </a:solidFill>
                <a:latin typeface="Cambria" pitchFamily="34" charset="0"/>
                <a:ea typeface="Cambria" pitchFamily="34" charset="-122"/>
                <a:cs typeface="Cambria" pitchFamily="34" charset="-120"/>
              </a:rPr>
              <a:t>BASE CASE ｜ 主線</a:t>
            </a:r>
            <a:endParaRPr lang="en-US" sz="1050" dirty="0"/>
          </a:p>
        </p:txBody>
      </p:sp>
      <p:sp>
        <p:nvSpPr>
          <p:cNvPr id="3" name="Text 1"/>
          <p:cNvSpPr/>
          <p:nvPr/>
        </p:nvSpPr>
        <p:spPr>
          <a:xfrm>
            <a:off x="658368" y="640080"/>
            <a:ext cx="10874959" cy="548640"/>
          </a:xfrm>
          <a:prstGeom prst="rect">
            <a:avLst/>
          </a:prstGeom>
          <a:noFill/>
          <a:ln/>
        </p:spPr>
        <p:txBody>
          <a:bodyPr wrap="square" lIns="0" tIns="0" rIns="0" bIns="0" rtlCol="0" anchor="ctr"/>
          <a:lstStyle/>
          <a:p>
            <a:pPr indent="0" marL="0">
              <a:buNone/>
            </a:pPr>
            <a:r>
              <a:rPr lang="en-US" sz="2700" b="1" dirty="0">
                <a:solidFill>
                  <a:srgbClr val="EFEBE3"/>
                </a:solidFill>
                <a:latin typeface="Yu Mincho" pitchFamily="34" charset="0"/>
                <a:ea typeface="Yu Mincho" pitchFamily="34" charset="-122"/>
                <a:cs typeface="Yu Mincho" pitchFamily="34" charset="-120"/>
              </a:rPr>
              <a:t>在庫回転期間と投資家リターンの関係</a:t>
            </a:r>
            <a:endParaRPr lang="en-US" sz="2700" dirty="0"/>
          </a:p>
        </p:txBody>
      </p:sp>
      <p:sp>
        <p:nvSpPr>
          <p:cNvPr id="4" name="Text 2"/>
          <p:cNvSpPr/>
          <p:nvPr/>
        </p:nvSpPr>
        <p:spPr>
          <a:xfrm>
            <a:off x="658368" y="1216152"/>
            <a:ext cx="10874959" cy="310896"/>
          </a:xfrm>
          <a:prstGeom prst="rect">
            <a:avLst/>
          </a:prstGeom>
          <a:noFill/>
          <a:ln/>
        </p:spPr>
        <p:txBody>
          <a:bodyPr wrap="square" lIns="0" tIns="0" rIns="0" bIns="0" rtlCol="0" anchor="ctr"/>
          <a:lstStyle/>
          <a:p>
            <a:pPr indent="0" marL="0">
              <a:buNone/>
            </a:pPr>
            <a:r>
              <a:rPr lang="en-US" sz="1150" dirty="0">
                <a:solidFill>
                  <a:srgbClr val="9A938A"/>
                </a:solidFill>
                <a:latin typeface="Yu Gothic" pitchFamily="34" charset="0"/>
                <a:ea typeface="Yu Gothic" pitchFamily="34" charset="-122"/>
                <a:cs typeface="Yu Gothic" pitchFamily="34" charset="-120"/>
              </a:rPr>
              <a:t>いずれも出資5億円に対する数値。20%の分岐点は回転12.7ヶ月であり、主線12ヶ月との余裕は小さい。</a:t>
            </a:r>
            <a:endParaRPr lang="en-US" sz="1150" dirty="0"/>
          </a:p>
        </p:txBody>
      </p:sp>
      <p:sp>
        <p:nvSpPr>
          <p:cNvPr id="5" name="Text 3"/>
          <p:cNvSpPr/>
          <p:nvPr/>
        </p:nvSpPr>
        <p:spPr>
          <a:xfrm>
            <a:off x="658368" y="6437376"/>
            <a:ext cx="5029200" cy="219456"/>
          </a:xfrm>
          <a:prstGeom prst="rect">
            <a:avLst/>
          </a:prstGeom>
          <a:noFill/>
          <a:ln/>
        </p:spPr>
        <p:txBody>
          <a:bodyPr wrap="square" lIns="0" tIns="0" rIns="0" bIns="0" rtlCol="0" anchor="ctr"/>
          <a:lstStyle/>
          <a:p>
            <a:pPr indent="0" marL="0">
              <a:buNone/>
            </a:pPr>
            <a:r>
              <a:rPr lang="en-US" sz="850" dirty="0">
                <a:solidFill>
                  <a:srgbClr val="6E675E"/>
                </a:solidFill>
                <a:latin typeface="Yu Gothic" pitchFamily="34" charset="0"/>
                <a:ea typeface="Yu Gothic" pitchFamily="34" charset="-122"/>
                <a:cs typeface="Yu Gothic" pitchFamily="34" charset="-120"/>
              </a:rPr>
              <a:t>CONFIDENTIAL ｜ 株式会社WineBank</a:t>
            </a:r>
            <a:endParaRPr lang="en-US" sz="850" dirty="0"/>
          </a:p>
        </p:txBody>
      </p:sp>
      <p:sp>
        <p:nvSpPr>
          <p:cNvPr id="6" name="Text 4"/>
          <p:cNvSpPr/>
          <p:nvPr/>
        </p:nvSpPr>
        <p:spPr>
          <a:xfrm>
            <a:off x="10618927" y="6437376"/>
            <a:ext cx="914400" cy="219456"/>
          </a:xfrm>
          <a:prstGeom prst="rect">
            <a:avLst/>
          </a:prstGeom>
          <a:noFill/>
          <a:ln/>
        </p:spPr>
        <p:txBody>
          <a:bodyPr wrap="square" lIns="0" tIns="0" rIns="0" bIns="0" rtlCol="0" anchor="ctr"/>
          <a:lstStyle/>
          <a:p>
            <a:pPr algn="r" indent="0" marL="0">
              <a:buNone/>
            </a:pPr>
            <a:r>
              <a:rPr lang="en-US" sz="950" spc="150" kern="0" dirty="0">
                <a:solidFill>
                  <a:srgbClr val="6E5730"/>
                </a:solidFill>
                <a:latin typeface="Cambria" pitchFamily="34" charset="0"/>
                <a:ea typeface="Cambria" pitchFamily="34" charset="-122"/>
                <a:cs typeface="Cambria" pitchFamily="34" charset="-120"/>
              </a:rPr>
              <a:t>11</a:t>
            </a:r>
            <a:endParaRPr lang="en-US" sz="950" dirty="0"/>
          </a:p>
        </p:txBody>
      </p:sp>
      <p:sp>
        <p:nvSpPr>
          <p:cNvPr id="7" name="Shape 5"/>
          <p:cNvSpPr/>
          <p:nvPr/>
        </p:nvSpPr>
        <p:spPr>
          <a:xfrm>
            <a:off x="658368" y="1645920"/>
            <a:ext cx="5291176" cy="2615184"/>
          </a:xfrm>
          <a:prstGeom prst="roundRect">
            <a:avLst>
              <a:gd name="adj" fmla="val 1573"/>
            </a:avLst>
          </a:prstGeom>
          <a:solidFill>
            <a:srgbClr val="171614"/>
          </a:solidFill>
          <a:ln w="9525">
            <a:solidFill>
              <a:srgbClr val="2E2A24"/>
            </a:solidFill>
            <a:prstDash val="solid"/>
          </a:ln>
        </p:spPr>
      </p:sp>
      <p:graphicFrame>
        <p:nvGraphicFramePr>
          <p:cNvPr id="8" name="Chart 0" descr=""/>
          <p:cNvGraphicFramePr/>
          <p:nvPr/>
        </p:nvGraphicFramePr>
        <p:xfrm>
          <a:off x="786384" y="1737360"/>
          <a:ext cx="5035144" cy="2432304"/>
        </p:xfrm>
        <a:graphic xmlns:a="http://schemas.openxmlformats.org/drawingml/2006/main">
          <a:graphicData uri="http://schemas.openxmlformats.org/drawingml/2006/chart">
            <c:chart xmlns:c="http://schemas.openxmlformats.org/drawingml/2006/chart" r:id="rId1"/>
          </a:graphicData>
        </a:graphic>
      </p:graphicFrame>
      <p:sp>
        <p:nvSpPr>
          <p:cNvPr id="9" name="Shape 6"/>
          <p:cNvSpPr/>
          <p:nvPr/>
        </p:nvSpPr>
        <p:spPr>
          <a:xfrm>
            <a:off x="6242152" y="1645920"/>
            <a:ext cx="5291176" cy="2615184"/>
          </a:xfrm>
          <a:prstGeom prst="roundRect">
            <a:avLst>
              <a:gd name="adj" fmla="val 1573"/>
            </a:avLst>
          </a:prstGeom>
          <a:solidFill>
            <a:srgbClr val="171614"/>
          </a:solidFill>
          <a:ln w="9525">
            <a:solidFill>
              <a:srgbClr val="2E2A24"/>
            </a:solidFill>
            <a:prstDash val="solid"/>
          </a:ln>
        </p:spPr>
      </p:sp>
      <p:graphicFrame>
        <p:nvGraphicFramePr>
          <p:cNvPr id="10" name="Chart 1" descr=""/>
          <p:cNvGraphicFramePr/>
          <p:nvPr/>
        </p:nvGraphicFramePr>
        <p:xfrm>
          <a:off x="6370168" y="1737360"/>
          <a:ext cx="5035144" cy="2432304"/>
        </p:xfrm>
        <a:graphic xmlns:a="http://schemas.openxmlformats.org/drawingml/2006/main">
          <a:graphicData uri="http://schemas.openxmlformats.org/drawingml/2006/chart">
            <c:chart xmlns:c="http://schemas.openxmlformats.org/drawingml/2006/chart" r:id="rId2"/>
          </a:graphicData>
        </a:graphic>
      </p:graphicFrame>
      <p:sp>
        <p:nvSpPr>
          <p:cNvPr id="11" name="Shape 7"/>
          <p:cNvSpPr/>
          <p:nvPr/>
        </p:nvSpPr>
        <p:spPr>
          <a:xfrm>
            <a:off x="658368" y="4443984"/>
            <a:ext cx="5300320" cy="1225296"/>
          </a:xfrm>
          <a:prstGeom prst="roundRect">
            <a:avLst>
              <a:gd name="adj" fmla="val 3358"/>
            </a:avLst>
          </a:prstGeom>
          <a:solidFill>
            <a:srgbClr val="1F1D19"/>
          </a:solidFill>
          <a:ln w="9525">
            <a:solidFill>
              <a:srgbClr val="6E5730"/>
            </a:solidFill>
            <a:prstDash val="solid"/>
          </a:ln>
        </p:spPr>
      </p:sp>
      <p:sp>
        <p:nvSpPr>
          <p:cNvPr id="12" name="Text 8"/>
          <p:cNvSpPr/>
          <p:nvPr/>
        </p:nvSpPr>
        <p:spPr>
          <a:xfrm>
            <a:off x="914400" y="4608576"/>
            <a:ext cx="4788256" cy="256032"/>
          </a:xfrm>
          <a:prstGeom prst="rect">
            <a:avLst/>
          </a:prstGeom>
          <a:noFill/>
          <a:ln/>
        </p:spPr>
        <p:txBody>
          <a:bodyPr wrap="square" lIns="0" tIns="0" rIns="0" bIns="0" rtlCol="0" anchor="ctr"/>
          <a:lstStyle/>
          <a:p>
            <a:pPr indent="0" marL="0">
              <a:buNone/>
            </a:pPr>
            <a:r>
              <a:rPr lang="en-US" sz="1200" b="1" dirty="0">
                <a:solidFill>
                  <a:srgbClr val="C9A96E"/>
                </a:solidFill>
                <a:latin typeface="Yu Gothic" pitchFamily="34" charset="0"/>
                <a:ea typeface="Yu Gothic" pitchFamily="34" charset="-122"/>
                <a:cs typeface="Yu Gothic" pitchFamily="34" charset="-120"/>
              </a:rPr>
              <a:t>回転12ヶ月が必須条件</a:t>
            </a:r>
            <a:endParaRPr lang="en-US" sz="1200" dirty="0"/>
          </a:p>
        </p:txBody>
      </p:sp>
      <p:sp>
        <p:nvSpPr>
          <p:cNvPr id="13" name="Text 9"/>
          <p:cNvSpPr/>
          <p:nvPr/>
        </p:nvSpPr>
        <p:spPr>
          <a:xfrm>
            <a:off x="914400" y="4901184"/>
            <a:ext cx="4788256" cy="621792"/>
          </a:xfrm>
          <a:prstGeom prst="rect">
            <a:avLst/>
          </a:prstGeom>
          <a:noFill/>
          <a:ln/>
        </p:spPr>
        <p:txBody>
          <a:bodyPr wrap="square" lIns="0" tIns="0" rIns="0" bIns="0" rtlCol="0" anchor="ctr"/>
          <a:lstStyle/>
          <a:p>
            <a:pPr indent="0" marL="0">
              <a:lnSpc>
                <a:spcPct val="120000"/>
              </a:lnSpc>
              <a:buNone/>
            </a:pPr>
            <a:r>
              <a:rPr lang="en-US" sz="1000" dirty="0">
                <a:solidFill>
                  <a:srgbClr val="9A938A"/>
                </a:solidFill>
                <a:latin typeface="Yu Gothic" pitchFamily="34" charset="0"/>
                <a:ea typeface="Yu Gothic" pitchFamily="34" charset="-122"/>
                <a:cs typeface="Yu Gothic" pitchFamily="34" charset="-120"/>
              </a:rPr>
              <a:t>20%の分岐点は回転12.7ヶ月。主線との余裕は0.7ヶ月しかなく、回転12ヶ月の達成が貴社基準を満たすための必須条件となる。</a:t>
            </a:r>
            <a:endParaRPr lang="en-US" sz="1000" dirty="0"/>
          </a:p>
        </p:txBody>
      </p:sp>
      <p:sp>
        <p:nvSpPr>
          <p:cNvPr id="14" name="Shape 10"/>
          <p:cNvSpPr/>
          <p:nvPr/>
        </p:nvSpPr>
        <p:spPr>
          <a:xfrm>
            <a:off x="6233008" y="4443984"/>
            <a:ext cx="5300320" cy="1225296"/>
          </a:xfrm>
          <a:prstGeom prst="roundRect">
            <a:avLst>
              <a:gd name="adj" fmla="val 3358"/>
            </a:avLst>
          </a:prstGeom>
          <a:solidFill>
            <a:srgbClr val="171614"/>
          </a:solidFill>
          <a:ln w="9525">
            <a:solidFill>
              <a:srgbClr val="2E2A24"/>
            </a:solidFill>
            <a:prstDash val="solid"/>
          </a:ln>
        </p:spPr>
      </p:sp>
      <p:sp>
        <p:nvSpPr>
          <p:cNvPr id="15" name="Text 11"/>
          <p:cNvSpPr/>
          <p:nvPr/>
        </p:nvSpPr>
        <p:spPr>
          <a:xfrm>
            <a:off x="6489040" y="4608576"/>
            <a:ext cx="4788256" cy="256032"/>
          </a:xfrm>
          <a:prstGeom prst="rect">
            <a:avLst/>
          </a:prstGeom>
          <a:noFill/>
          <a:ln/>
        </p:spPr>
        <p:txBody>
          <a:bodyPr wrap="square" lIns="0" tIns="0" rIns="0" bIns="0" rtlCol="0" anchor="ctr"/>
          <a:lstStyle/>
          <a:p>
            <a:pPr indent="0" marL="0">
              <a:buNone/>
            </a:pPr>
            <a:r>
              <a:rPr lang="en-US" sz="1200" b="1" dirty="0">
                <a:solidFill>
                  <a:srgbClr val="C9A96E"/>
                </a:solidFill>
                <a:latin typeface="Yu Gothic" pitchFamily="34" charset="0"/>
                <a:ea typeface="Yu Gothic" pitchFamily="34" charset="-122"/>
                <a:cs typeface="Yu Gothic" pitchFamily="34" charset="-120"/>
              </a:rPr>
              <a:t>値上がりが4ポイントを底上げする</a:t>
            </a:r>
            <a:endParaRPr lang="en-US" sz="1200" dirty="0"/>
          </a:p>
        </p:txBody>
      </p:sp>
      <p:sp>
        <p:nvSpPr>
          <p:cNvPr id="16" name="Text 12"/>
          <p:cNvSpPr/>
          <p:nvPr/>
        </p:nvSpPr>
        <p:spPr>
          <a:xfrm>
            <a:off x="6489040" y="4901184"/>
            <a:ext cx="4788256" cy="621792"/>
          </a:xfrm>
          <a:prstGeom prst="rect">
            <a:avLst/>
          </a:prstGeom>
          <a:noFill/>
          <a:ln/>
        </p:spPr>
        <p:txBody>
          <a:bodyPr wrap="square" lIns="0" tIns="0" rIns="0" bIns="0" rtlCol="0" anchor="ctr"/>
          <a:lstStyle/>
          <a:p>
            <a:pPr indent="0" marL="0">
              <a:lnSpc>
                <a:spcPct val="120000"/>
              </a:lnSpc>
              <a:buNone/>
            </a:pPr>
            <a:r>
              <a:rPr lang="en-US" sz="1000" dirty="0">
                <a:solidFill>
                  <a:srgbClr val="9A938A"/>
                </a:solidFill>
                <a:latin typeface="Yu Gothic" pitchFamily="34" charset="0"/>
                <a:ea typeface="Yu Gothic" pitchFamily="34" charset="-122"/>
                <a:cs typeface="Yu Gothic" pitchFamily="34" charset="-120"/>
              </a:rPr>
              <a:t>値上がりを織り込まない場合、主線でも17.0%にとどまり20%を割る。年6%の上昇が約4.0ポイントを底上げして21.0%に届かせている（次頁）。</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C0C0C"/>
        </a:solidFill>
      </p:bgPr>
    </p:bg>
    <p:spTree>
      <p:nvGrpSpPr>
        <p:cNvPr id="1" name=""/>
        <p:cNvGrpSpPr/>
        <p:nvPr/>
      </p:nvGrpSpPr>
      <p:grpSpPr>
        <a:xfrm>
          <a:off x="0" y="0"/>
          <a:ext cx="0" cy="0"/>
          <a:chOff x="0" y="0"/>
          <a:chExt cx="0" cy="0"/>
        </a:xfrm>
      </p:grpSpPr>
      <p:sp>
        <p:nvSpPr>
          <p:cNvPr id="2" name="Text 0"/>
          <p:cNvSpPr/>
          <p:nvPr/>
        </p:nvSpPr>
        <p:spPr>
          <a:xfrm>
            <a:off x="658368" y="384048"/>
            <a:ext cx="10874959" cy="219456"/>
          </a:xfrm>
          <a:prstGeom prst="rect">
            <a:avLst/>
          </a:prstGeom>
          <a:noFill/>
          <a:ln/>
        </p:spPr>
        <p:txBody>
          <a:bodyPr wrap="square" lIns="0" tIns="0" rIns="0" bIns="0" rtlCol="0" anchor="ctr"/>
          <a:lstStyle/>
          <a:p>
            <a:pPr indent="0" marL="0">
              <a:buNone/>
            </a:pPr>
            <a:r>
              <a:rPr lang="en-US" sz="1050" b="1" spc="340" kern="0" dirty="0">
                <a:solidFill>
                  <a:srgbClr val="A78450"/>
                </a:solidFill>
                <a:latin typeface="Cambria" pitchFamily="34" charset="0"/>
                <a:ea typeface="Cambria" pitchFamily="34" charset="-122"/>
                <a:cs typeface="Cambria" pitchFamily="34" charset="-120"/>
              </a:rPr>
              <a:t>PRICE APPRECIATION</a:t>
            </a:r>
            <a:endParaRPr lang="en-US" sz="1050" dirty="0"/>
          </a:p>
        </p:txBody>
      </p:sp>
      <p:sp>
        <p:nvSpPr>
          <p:cNvPr id="3" name="Text 1"/>
          <p:cNvSpPr/>
          <p:nvPr/>
        </p:nvSpPr>
        <p:spPr>
          <a:xfrm>
            <a:off x="658368" y="640080"/>
            <a:ext cx="10874959" cy="548640"/>
          </a:xfrm>
          <a:prstGeom prst="rect">
            <a:avLst/>
          </a:prstGeom>
          <a:noFill/>
          <a:ln/>
        </p:spPr>
        <p:txBody>
          <a:bodyPr wrap="square" lIns="0" tIns="0" rIns="0" bIns="0" rtlCol="0" anchor="ctr"/>
          <a:lstStyle/>
          <a:p>
            <a:pPr indent="0" marL="0">
              <a:buNone/>
            </a:pPr>
            <a:r>
              <a:rPr lang="en-US" sz="2700" b="1" dirty="0">
                <a:solidFill>
                  <a:srgbClr val="EFEBE3"/>
                </a:solidFill>
                <a:latin typeface="Yu Mincho" pitchFamily="34" charset="0"/>
                <a:ea typeface="Yu Mincho" pitchFamily="34" charset="-122"/>
                <a:cs typeface="Yu Mincho" pitchFamily="34" charset="-120"/>
              </a:rPr>
              <a:t>ワイン価格の上昇をどう織り込むか</a:t>
            </a:r>
            <a:endParaRPr lang="en-US" sz="2700" dirty="0"/>
          </a:p>
        </p:txBody>
      </p:sp>
      <p:sp>
        <p:nvSpPr>
          <p:cNvPr id="4" name="Text 2"/>
          <p:cNvSpPr/>
          <p:nvPr/>
        </p:nvSpPr>
        <p:spPr>
          <a:xfrm>
            <a:off x="658368" y="1216152"/>
            <a:ext cx="10874959" cy="310896"/>
          </a:xfrm>
          <a:prstGeom prst="rect">
            <a:avLst/>
          </a:prstGeom>
          <a:noFill/>
          <a:ln/>
        </p:spPr>
        <p:txBody>
          <a:bodyPr wrap="square" lIns="0" tIns="0" rIns="0" bIns="0" rtlCol="0" anchor="ctr"/>
          <a:lstStyle/>
          <a:p>
            <a:pPr indent="0" marL="0">
              <a:buNone/>
            </a:pPr>
            <a:r>
              <a:rPr lang="en-US" sz="1150" dirty="0">
                <a:solidFill>
                  <a:srgbClr val="9A938A"/>
                </a:solidFill>
                <a:latin typeface="Yu Gothic" pitchFamily="34" charset="0"/>
                <a:ea typeface="Yu Gothic" pitchFamily="34" charset="-122"/>
                <a:cs typeface="Yu Gothic" pitchFamily="34" charset="-120"/>
              </a:rPr>
              <a:t>回転が落ちれば利回りは下がるが、保有が延びれば売値は上がる。両者は別々の収益源として足し合わさる。</a:t>
            </a:r>
            <a:endParaRPr lang="en-US" sz="1150" dirty="0"/>
          </a:p>
        </p:txBody>
      </p:sp>
      <p:sp>
        <p:nvSpPr>
          <p:cNvPr id="5" name="Text 3"/>
          <p:cNvSpPr/>
          <p:nvPr/>
        </p:nvSpPr>
        <p:spPr>
          <a:xfrm>
            <a:off x="658368" y="6437376"/>
            <a:ext cx="5029200" cy="219456"/>
          </a:xfrm>
          <a:prstGeom prst="rect">
            <a:avLst/>
          </a:prstGeom>
          <a:noFill/>
          <a:ln/>
        </p:spPr>
        <p:txBody>
          <a:bodyPr wrap="square" lIns="0" tIns="0" rIns="0" bIns="0" rtlCol="0" anchor="ctr"/>
          <a:lstStyle/>
          <a:p>
            <a:pPr indent="0" marL="0">
              <a:buNone/>
            </a:pPr>
            <a:r>
              <a:rPr lang="en-US" sz="850" dirty="0">
                <a:solidFill>
                  <a:srgbClr val="6E675E"/>
                </a:solidFill>
                <a:latin typeface="Yu Gothic" pitchFamily="34" charset="0"/>
                <a:ea typeface="Yu Gothic" pitchFamily="34" charset="-122"/>
                <a:cs typeface="Yu Gothic" pitchFamily="34" charset="-120"/>
              </a:rPr>
              <a:t>CONFIDENTIAL ｜ 株式会社WineBank</a:t>
            </a:r>
            <a:endParaRPr lang="en-US" sz="850" dirty="0"/>
          </a:p>
        </p:txBody>
      </p:sp>
      <p:sp>
        <p:nvSpPr>
          <p:cNvPr id="6" name="Text 4"/>
          <p:cNvSpPr/>
          <p:nvPr/>
        </p:nvSpPr>
        <p:spPr>
          <a:xfrm>
            <a:off x="10618927" y="6437376"/>
            <a:ext cx="914400" cy="219456"/>
          </a:xfrm>
          <a:prstGeom prst="rect">
            <a:avLst/>
          </a:prstGeom>
          <a:noFill/>
          <a:ln/>
        </p:spPr>
        <p:txBody>
          <a:bodyPr wrap="square" lIns="0" tIns="0" rIns="0" bIns="0" rtlCol="0" anchor="ctr"/>
          <a:lstStyle/>
          <a:p>
            <a:pPr algn="r" indent="0" marL="0">
              <a:buNone/>
            </a:pPr>
            <a:r>
              <a:rPr lang="en-US" sz="950" spc="150" kern="0" dirty="0">
                <a:solidFill>
                  <a:srgbClr val="6E5730"/>
                </a:solidFill>
                <a:latin typeface="Cambria" pitchFamily="34" charset="0"/>
                <a:ea typeface="Cambria" pitchFamily="34" charset="-122"/>
                <a:cs typeface="Cambria" pitchFamily="34" charset="-120"/>
              </a:rPr>
              <a:t>12</a:t>
            </a:r>
            <a:endParaRPr lang="en-US" sz="950" dirty="0"/>
          </a:p>
        </p:txBody>
      </p:sp>
      <p:sp>
        <p:nvSpPr>
          <p:cNvPr id="7" name="Shape 5"/>
          <p:cNvSpPr/>
          <p:nvPr/>
        </p:nvSpPr>
        <p:spPr>
          <a:xfrm>
            <a:off x="658368" y="1664208"/>
            <a:ext cx="5291176" cy="1572768"/>
          </a:xfrm>
          <a:prstGeom prst="roundRect">
            <a:avLst>
              <a:gd name="adj" fmla="val 2616"/>
            </a:avLst>
          </a:prstGeom>
          <a:solidFill>
            <a:srgbClr val="171614"/>
          </a:solidFill>
          <a:ln w="9525">
            <a:solidFill>
              <a:srgbClr val="2E2A24"/>
            </a:solidFill>
            <a:prstDash val="solid"/>
          </a:ln>
        </p:spPr>
      </p:sp>
      <p:sp>
        <p:nvSpPr>
          <p:cNvPr id="8" name="Text 6"/>
          <p:cNvSpPr/>
          <p:nvPr/>
        </p:nvSpPr>
        <p:spPr>
          <a:xfrm>
            <a:off x="914400" y="1810512"/>
            <a:ext cx="2913736" cy="256032"/>
          </a:xfrm>
          <a:prstGeom prst="rect">
            <a:avLst/>
          </a:prstGeom>
          <a:noFill/>
          <a:ln/>
        </p:spPr>
        <p:txBody>
          <a:bodyPr wrap="square" lIns="0" tIns="0" rIns="0" bIns="0" rtlCol="0" anchor="ctr"/>
          <a:lstStyle/>
          <a:p>
            <a:pPr indent="0" marL="0">
              <a:buNone/>
            </a:pPr>
            <a:r>
              <a:rPr lang="en-US" sz="1250" b="1" dirty="0">
                <a:solidFill>
                  <a:srgbClr val="EFEBE3"/>
                </a:solidFill>
                <a:latin typeface="Yu Gothic" pitchFamily="34" charset="0"/>
                <a:ea typeface="Yu Gothic" pitchFamily="34" charset="-122"/>
                <a:cs typeface="Yu Gothic" pitchFamily="34" charset="-120"/>
              </a:rPr>
              <a:t>フロー｜流通価格差</a:t>
            </a:r>
            <a:endParaRPr lang="en-US" sz="1250" dirty="0"/>
          </a:p>
        </p:txBody>
      </p:sp>
      <p:sp>
        <p:nvSpPr>
          <p:cNvPr id="9" name="Text 7"/>
          <p:cNvSpPr/>
          <p:nvPr/>
        </p:nvSpPr>
        <p:spPr>
          <a:xfrm>
            <a:off x="3626968" y="1810512"/>
            <a:ext cx="2066544" cy="256032"/>
          </a:xfrm>
          <a:prstGeom prst="rect">
            <a:avLst/>
          </a:prstGeom>
          <a:noFill/>
          <a:ln/>
        </p:spPr>
        <p:txBody>
          <a:bodyPr wrap="square" lIns="0" tIns="0" rIns="0" bIns="0" rtlCol="0" anchor="ctr"/>
          <a:lstStyle/>
          <a:p>
            <a:pPr algn="r" indent="0" marL="0">
              <a:buNone/>
            </a:pPr>
            <a:r>
              <a:rPr lang="en-US" sz="950" dirty="0">
                <a:solidFill>
                  <a:srgbClr val="9A938A"/>
                </a:solidFill>
                <a:latin typeface="Yu Gothic" pitchFamily="34" charset="0"/>
                <a:ea typeface="Yu Gothic" pitchFamily="34" charset="-122"/>
                <a:cs typeface="Yu Gothic" pitchFamily="34" charset="-120"/>
              </a:rPr>
              <a:t>回転に対するリターン</a:t>
            </a:r>
            <a:endParaRPr lang="en-US" sz="950" dirty="0"/>
          </a:p>
        </p:txBody>
      </p:sp>
      <p:sp>
        <p:nvSpPr>
          <p:cNvPr id="10" name="Text 8"/>
          <p:cNvSpPr/>
          <p:nvPr/>
        </p:nvSpPr>
        <p:spPr>
          <a:xfrm>
            <a:off x="914400" y="2121408"/>
            <a:ext cx="4779112" cy="566928"/>
          </a:xfrm>
          <a:prstGeom prst="rect">
            <a:avLst/>
          </a:prstGeom>
          <a:noFill/>
          <a:ln/>
        </p:spPr>
        <p:txBody>
          <a:bodyPr wrap="square" lIns="0" tIns="0" rIns="0" bIns="0" rtlCol="0" anchor="ctr"/>
          <a:lstStyle/>
          <a:p>
            <a:pPr indent="0" marL="0">
              <a:lnSpc>
                <a:spcPct val="122000"/>
              </a:lnSpc>
              <a:buNone/>
            </a:pPr>
            <a:r>
              <a:rPr lang="en-US" sz="950" dirty="0">
                <a:solidFill>
                  <a:srgbClr val="9A938A"/>
                </a:solidFill>
                <a:latin typeface="Yu Gothic" pitchFamily="34" charset="0"/>
                <a:ea typeface="Yu Gothic" pitchFamily="34" charset="-122"/>
                <a:cs typeface="Yu Gothic" pitchFamily="34" charset="-120"/>
              </a:rPr>
              <a:t>40〜60で仕入れ、70〜80で売る。年に何回まわせるかに比例するため、回転期間が短いほど大きくなる。</a:t>
            </a:r>
            <a:endParaRPr lang="en-US" sz="950" dirty="0"/>
          </a:p>
        </p:txBody>
      </p:sp>
      <p:sp>
        <p:nvSpPr>
          <p:cNvPr id="11" name="Text 9"/>
          <p:cNvSpPr/>
          <p:nvPr/>
        </p:nvSpPr>
        <p:spPr>
          <a:xfrm>
            <a:off x="914400" y="2761488"/>
            <a:ext cx="4779112" cy="292608"/>
          </a:xfrm>
          <a:prstGeom prst="rect">
            <a:avLst/>
          </a:prstGeom>
          <a:noFill/>
          <a:ln/>
        </p:spPr>
        <p:txBody>
          <a:bodyPr wrap="square" lIns="0" tIns="0" rIns="0" bIns="0" rtlCol="0" anchor="ctr"/>
          <a:lstStyle/>
          <a:p>
            <a:pPr indent="0" marL="0">
              <a:buNone/>
            </a:pPr>
            <a:r>
              <a:rPr lang="en-US" sz="1300" b="1" dirty="0">
                <a:solidFill>
                  <a:srgbClr val="C9A96E"/>
                </a:solidFill>
                <a:latin typeface="Yu Gothic" pitchFamily="34" charset="0"/>
                <a:ea typeface="Yu Gothic" pitchFamily="34" charset="-122"/>
                <a:cs typeface="Yu Gothic" pitchFamily="34" charset="-120"/>
              </a:rPr>
              <a:t>主線（回転12ヶ月）で 17.0%</a:t>
            </a:r>
            <a:endParaRPr lang="en-US" sz="1300" dirty="0"/>
          </a:p>
        </p:txBody>
      </p:sp>
      <p:sp>
        <p:nvSpPr>
          <p:cNvPr id="12" name="Shape 10"/>
          <p:cNvSpPr/>
          <p:nvPr/>
        </p:nvSpPr>
        <p:spPr>
          <a:xfrm>
            <a:off x="6242152" y="1664208"/>
            <a:ext cx="5291176" cy="1572768"/>
          </a:xfrm>
          <a:prstGeom prst="roundRect">
            <a:avLst>
              <a:gd name="adj" fmla="val 2616"/>
            </a:avLst>
          </a:prstGeom>
          <a:solidFill>
            <a:srgbClr val="1F1D19"/>
          </a:solidFill>
          <a:ln w="9525">
            <a:solidFill>
              <a:srgbClr val="6E5730"/>
            </a:solidFill>
            <a:prstDash val="solid"/>
          </a:ln>
        </p:spPr>
      </p:sp>
      <p:sp>
        <p:nvSpPr>
          <p:cNvPr id="13" name="Text 11"/>
          <p:cNvSpPr/>
          <p:nvPr/>
        </p:nvSpPr>
        <p:spPr>
          <a:xfrm>
            <a:off x="6498184" y="1810512"/>
            <a:ext cx="2913736" cy="256032"/>
          </a:xfrm>
          <a:prstGeom prst="rect">
            <a:avLst/>
          </a:prstGeom>
          <a:noFill/>
          <a:ln/>
        </p:spPr>
        <p:txBody>
          <a:bodyPr wrap="square" lIns="0" tIns="0" rIns="0" bIns="0" rtlCol="0" anchor="ctr"/>
          <a:lstStyle/>
          <a:p>
            <a:pPr indent="0" marL="0">
              <a:buNone/>
            </a:pPr>
            <a:r>
              <a:rPr lang="en-US" sz="1250" b="1" dirty="0">
                <a:solidFill>
                  <a:srgbClr val="C9A96E"/>
                </a:solidFill>
                <a:latin typeface="Yu Gothic" pitchFamily="34" charset="0"/>
                <a:ea typeface="Yu Gothic" pitchFamily="34" charset="-122"/>
                <a:cs typeface="Yu Gothic" pitchFamily="34" charset="-120"/>
              </a:rPr>
              <a:t>ストック｜ワインの値上がり</a:t>
            </a:r>
            <a:endParaRPr lang="en-US" sz="1250" dirty="0"/>
          </a:p>
        </p:txBody>
      </p:sp>
      <p:sp>
        <p:nvSpPr>
          <p:cNvPr id="14" name="Text 12"/>
          <p:cNvSpPr/>
          <p:nvPr/>
        </p:nvSpPr>
        <p:spPr>
          <a:xfrm>
            <a:off x="9210751" y="1810512"/>
            <a:ext cx="2066544" cy="256032"/>
          </a:xfrm>
          <a:prstGeom prst="rect">
            <a:avLst/>
          </a:prstGeom>
          <a:noFill/>
          <a:ln/>
        </p:spPr>
        <p:txBody>
          <a:bodyPr wrap="square" lIns="0" tIns="0" rIns="0" bIns="0" rtlCol="0" anchor="ctr"/>
          <a:lstStyle/>
          <a:p>
            <a:pPr algn="r" indent="0" marL="0">
              <a:buNone/>
            </a:pPr>
            <a:r>
              <a:rPr lang="en-US" sz="950" dirty="0">
                <a:solidFill>
                  <a:srgbClr val="9A938A"/>
                </a:solidFill>
                <a:latin typeface="Yu Gothic" pitchFamily="34" charset="0"/>
                <a:ea typeface="Yu Gothic" pitchFamily="34" charset="-122"/>
                <a:cs typeface="Yu Gothic" pitchFamily="34" charset="-120"/>
              </a:rPr>
              <a:t>在庫に対するリターン</a:t>
            </a:r>
            <a:endParaRPr lang="en-US" sz="950" dirty="0"/>
          </a:p>
        </p:txBody>
      </p:sp>
      <p:sp>
        <p:nvSpPr>
          <p:cNvPr id="15" name="Text 13"/>
          <p:cNvSpPr/>
          <p:nvPr/>
        </p:nvSpPr>
        <p:spPr>
          <a:xfrm>
            <a:off x="6498184" y="2121408"/>
            <a:ext cx="4779112" cy="566928"/>
          </a:xfrm>
          <a:prstGeom prst="rect">
            <a:avLst/>
          </a:prstGeom>
          <a:noFill/>
          <a:ln/>
        </p:spPr>
        <p:txBody>
          <a:bodyPr wrap="square" lIns="0" tIns="0" rIns="0" bIns="0" rtlCol="0" anchor="ctr"/>
          <a:lstStyle/>
          <a:p>
            <a:pPr indent="0" marL="0">
              <a:lnSpc>
                <a:spcPct val="122000"/>
              </a:lnSpc>
              <a:buNone/>
            </a:pPr>
            <a:r>
              <a:rPr lang="en-US" sz="950" dirty="0">
                <a:solidFill>
                  <a:srgbClr val="9A938A"/>
                </a:solidFill>
                <a:latin typeface="Yu Gothic" pitchFamily="34" charset="0"/>
                <a:ea typeface="Yu Gothic" pitchFamily="34" charset="-122"/>
                <a:cs typeface="Yu Gothic" pitchFamily="34" charset="-120"/>
              </a:rPr>
              <a:t>保有している間、価格帯全体が年6%上昇する。在庫金額に対して発生するため、回転期間によらずほぼ一定になる。</a:t>
            </a:r>
            <a:endParaRPr lang="en-US" sz="950" dirty="0"/>
          </a:p>
        </p:txBody>
      </p:sp>
      <p:sp>
        <p:nvSpPr>
          <p:cNvPr id="16" name="Text 14"/>
          <p:cNvSpPr/>
          <p:nvPr/>
        </p:nvSpPr>
        <p:spPr>
          <a:xfrm>
            <a:off x="6498184" y="2761488"/>
            <a:ext cx="4779112" cy="292608"/>
          </a:xfrm>
          <a:prstGeom prst="rect">
            <a:avLst/>
          </a:prstGeom>
          <a:noFill/>
          <a:ln/>
        </p:spPr>
        <p:txBody>
          <a:bodyPr wrap="square" lIns="0" tIns="0" rIns="0" bIns="0" rtlCol="0" anchor="ctr"/>
          <a:lstStyle/>
          <a:p>
            <a:pPr indent="0" marL="0">
              <a:buNone/>
            </a:pPr>
            <a:r>
              <a:rPr lang="en-US" sz="1300" b="1" dirty="0">
                <a:solidFill>
                  <a:srgbClr val="C9A96E"/>
                </a:solidFill>
                <a:latin typeface="Yu Gothic" pitchFamily="34" charset="0"/>
                <a:ea typeface="Yu Gothic" pitchFamily="34" charset="-122"/>
                <a:cs typeface="Yu Gothic" pitchFamily="34" charset="-120"/>
              </a:rPr>
              <a:t>回転期間によらず 約 +4.0pt</a:t>
            </a:r>
            <a:endParaRPr lang="en-US" sz="130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658368" y="3346704"/>
          <a:ext cx="10874959" cy="914400"/>
        </p:xfrm>
        <a:graphic>
          <a:graphicData uri="http://schemas.openxmlformats.org/drawingml/2006/table">
            <a:tbl>
              <a:tblPr/>
              <a:tblGrid>
                <a:gridCol w="2057400"/>
                <a:gridCol w="1874520"/>
                <a:gridCol w="2788920"/>
                <a:gridCol w="2148840"/>
                <a:gridCol w="2002536"/>
              </a:tblGrid>
              <a:tr h="342900">
                <a:tc>
                  <a:txBody>
                    <a:bodyPr/>
                    <a:lstStyle/>
                    <a:p>
                      <a:pPr algn="ctr" indent="0" marL="0">
                        <a:buNone/>
                      </a:pPr>
                      <a:r>
                        <a:rPr lang="en-US" sz="950" b="1" dirty="0">
                          <a:solidFill>
                            <a:srgbClr val="C9A96E"/>
                          </a:solidFill>
                          <a:latin typeface="Yu Gothic" pitchFamily="34" charset="0"/>
                          <a:ea typeface="Yu Gothic" pitchFamily="34" charset="-122"/>
                          <a:cs typeface="Yu Gothic" pitchFamily="34" charset="-120"/>
                        </a:rPr>
                        <a:t>在庫回転期間</a:t>
                      </a:r>
                      <a:endParaRPr lang="en-US" sz="9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231F1A"/>
                    </a:solidFill>
                  </a:tcPr>
                </a:tc>
                <a:tc>
                  <a:txBody>
                    <a:bodyPr/>
                    <a:lstStyle/>
                    <a:p>
                      <a:pPr algn="ctr" indent="0" marL="0">
                        <a:buNone/>
                      </a:pPr>
                      <a:r>
                        <a:rPr lang="en-US" sz="950" b="1" dirty="0">
                          <a:solidFill>
                            <a:srgbClr val="C9A96E"/>
                          </a:solidFill>
                          <a:latin typeface="Yu Gothic" pitchFamily="34" charset="0"/>
                          <a:ea typeface="Yu Gothic" pitchFamily="34" charset="-122"/>
                          <a:cs typeface="Yu Gothic" pitchFamily="34" charset="-120"/>
                        </a:rPr>
                        <a:t>売値の上昇倍率</a:t>
                      </a:r>
                      <a:endParaRPr lang="en-US" sz="9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231F1A"/>
                    </a:solidFill>
                  </a:tcPr>
                </a:tc>
                <a:tc>
                  <a:txBody>
                    <a:bodyPr/>
                    <a:lstStyle/>
                    <a:p>
                      <a:pPr algn="ctr" indent="0" marL="0">
                        <a:buNone/>
                      </a:pPr>
                      <a:r>
                        <a:rPr lang="en-US" sz="950" b="1" dirty="0">
                          <a:solidFill>
                            <a:srgbClr val="C9A96E"/>
                          </a:solidFill>
                          <a:latin typeface="Yu Gothic" pitchFamily="34" charset="0"/>
                          <a:ea typeface="Yu Gothic" pitchFamily="34" charset="-122"/>
                          <a:cs typeface="Yu Gothic" pitchFamily="34" charset="-120"/>
                        </a:rPr>
                        <a:t>① 価格差による利回り（上昇0%）</a:t>
                      </a:r>
                      <a:endParaRPr lang="en-US" sz="9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231F1A"/>
                    </a:solidFill>
                  </a:tcPr>
                </a:tc>
                <a:tc>
                  <a:txBody>
                    <a:bodyPr/>
                    <a:lstStyle/>
                    <a:p>
                      <a:pPr algn="ctr" indent="0" marL="0">
                        <a:buNone/>
                      </a:pPr>
                      <a:r>
                        <a:rPr lang="en-US" sz="950" b="1" dirty="0">
                          <a:solidFill>
                            <a:srgbClr val="C9A96E"/>
                          </a:solidFill>
                          <a:latin typeface="Yu Gothic" pitchFamily="34" charset="0"/>
                          <a:ea typeface="Yu Gothic" pitchFamily="34" charset="-122"/>
                          <a:cs typeface="Yu Gothic" pitchFamily="34" charset="-120"/>
                        </a:rPr>
                        <a:t>② 値上がりによる上乗せ</a:t>
                      </a:r>
                      <a:endParaRPr lang="en-US" sz="9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231F1A"/>
                    </a:solidFill>
                  </a:tcPr>
                </a:tc>
                <a:tc>
                  <a:txBody>
                    <a:bodyPr/>
                    <a:lstStyle/>
                    <a:p>
                      <a:pPr algn="ctr" indent="0" marL="0">
                        <a:buNone/>
                      </a:pPr>
                      <a:r>
                        <a:rPr lang="en-US" sz="950" b="1" dirty="0">
                          <a:solidFill>
                            <a:srgbClr val="C9A96E"/>
                          </a:solidFill>
                          <a:latin typeface="Yu Gothic" pitchFamily="34" charset="0"/>
                          <a:ea typeface="Yu Gothic" pitchFamily="34" charset="-122"/>
                          <a:cs typeface="Yu Gothic" pitchFamily="34" charset="-120"/>
                        </a:rPr>
                        <a:t>投資家利回り（①＋②）</a:t>
                      </a:r>
                      <a:endParaRPr lang="en-US" sz="9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231F1A"/>
                    </a:solidFill>
                  </a:tcPr>
                </a:tc>
              </a:tr>
              <a:tr h="342900">
                <a:tc>
                  <a:txBody>
                    <a:bodyPr/>
                    <a:lstStyle/>
                    <a:p>
                      <a:pPr algn="ctr" indent="0" marL="0">
                        <a:buNone/>
                      </a:pPr>
                      <a:r>
                        <a:rPr lang="en-US" sz="1000" dirty="0">
                          <a:solidFill>
                            <a:srgbClr val="EFEBE3"/>
                          </a:solidFill>
                          <a:latin typeface="Yu Gothic" pitchFamily="34" charset="0"/>
                          <a:ea typeface="Yu Gothic" pitchFamily="34" charset="-122"/>
                          <a:cs typeface="Yu Gothic" pitchFamily="34" charset="-120"/>
                        </a:rPr>
                        <a:t>9ヶ月</a:t>
                      </a:r>
                      <a:endParaRPr lang="en-US" sz="10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1000" dirty="0">
                          <a:solidFill>
                            <a:srgbClr val="EFEBE3"/>
                          </a:solidFill>
                          <a:latin typeface="Yu Gothic" pitchFamily="34" charset="0"/>
                          <a:ea typeface="Yu Gothic" pitchFamily="34" charset="-122"/>
                          <a:cs typeface="Yu Gothic" pitchFamily="34" charset="-120"/>
                        </a:rPr>
                        <a:t>×1.045</a:t>
                      </a:r>
                      <a:endParaRPr lang="en-US" sz="10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1000" dirty="0">
                          <a:solidFill>
                            <a:srgbClr val="EFEBE3"/>
                          </a:solidFill>
                          <a:latin typeface="Yu Gothic" pitchFamily="34" charset="0"/>
                          <a:ea typeface="Yu Gothic" pitchFamily="34" charset="-122"/>
                          <a:cs typeface="Yu Gothic" pitchFamily="34" charset="-120"/>
                        </a:rPr>
                        <a:t>23.2%</a:t>
                      </a:r>
                      <a:endParaRPr lang="en-US" sz="10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1000" dirty="0">
                          <a:solidFill>
                            <a:srgbClr val="C9A96E"/>
                          </a:solidFill>
                          <a:latin typeface="Yu Gothic" pitchFamily="34" charset="0"/>
                          <a:ea typeface="Yu Gothic" pitchFamily="34" charset="-122"/>
                          <a:cs typeface="Yu Gothic" pitchFamily="34" charset="-120"/>
                        </a:rPr>
                        <a:t>＋3.9pt</a:t>
                      </a:r>
                      <a:endParaRPr lang="en-US" sz="10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1000" b="1" dirty="0">
                          <a:solidFill>
                            <a:srgbClr val="C9A96E"/>
                          </a:solidFill>
                          <a:latin typeface="Yu Gothic" pitchFamily="34" charset="0"/>
                          <a:ea typeface="Yu Gothic" pitchFamily="34" charset="-122"/>
                          <a:cs typeface="Yu Gothic" pitchFamily="34" charset="-120"/>
                        </a:rPr>
                        <a:t>27.1%</a:t>
                      </a:r>
                      <a:endParaRPr lang="en-US" sz="10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r>
              <a:tr h="342900">
                <a:tc>
                  <a:txBody>
                    <a:bodyPr/>
                    <a:lstStyle/>
                    <a:p>
                      <a:pPr algn="ctr" indent="0" marL="0">
                        <a:buNone/>
                      </a:pPr>
                      <a:r>
                        <a:rPr lang="en-US" sz="1000" b="1" dirty="0">
                          <a:solidFill>
                            <a:srgbClr val="C9A96E"/>
                          </a:solidFill>
                          <a:latin typeface="Yu Gothic" pitchFamily="34" charset="0"/>
                          <a:ea typeface="Yu Gothic" pitchFamily="34" charset="-122"/>
                          <a:cs typeface="Yu Gothic" pitchFamily="34" charset="-120"/>
                        </a:rPr>
                        <a:t>12ヶ月（主線）</a:t>
                      </a:r>
                      <a:endParaRPr lang="en-US" sz="10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1000" dirty="0">
                          <a:solidFill>
                            <a:srgbClr val="EFEBE3"/>
                          </a:solidFill>
                          <a:latin typeface="Yu Gothic" pitchFamily="34" charset="0"/>
                          <a:ea typeface="Yu Gothic" pitchFamily="34" charset="-122"/>
                          <a:cs typeface="Yu Gothic" pitchFamily="34" charset="-120"/>
                        </a:rPr>
                        <a:t>×1.060</a:t>
                      </a:r>
                      <a:endParaRPr lang="en-US" sz="10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1000" dirty="0">
                          <a:solidFill>
                            <a:srgbClr val="EFEBE3"/>
                          </a:solidFill>
                          <a:latin typeface="Yu Gothic" pitchFamily="34" charset="0"/>
                          <a:ea typeface="Yu Gothic" pitchFamily="34" charset="-122"/>
                          <a:cs typeface="Yu Gothic" pitchFamily="34" charset="-120"/>
                        </a:rPr>
                        <a:t>17.0%</a:t>
                      </a:r>
                      <a:endParaRPr lang="en-US" sz="10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1000" dirty="0">
                          <a:solidFill>
                            <a:srgbClr val="C9A96E"/>
                          </a:solidFill>
                          <a:latin typeface="Yu Gothic" pitchFamily="34" charset="0"/>
                          <a:ea typeface="Yu Gothic" pitchFamily="34" charset="-122"/>
                          <a:cs typeface="Yu Gothic" pitchFamily="34" charset="-120"/>
                        </a:rPr>
                        <a:t>＋4.0pt</a:t>
                      </a:r>
                      <a:endParaRPr lang="en-US" sz="10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1000" b="1" dirty="0">
                          <a:solidFill>
                            <a:srgbClr val="C9A96E"/>
                          </a:solidFill>
                          <a:latin typeface="Yu Gothic" pitchFamily="34" charset="0"/>
                          <a:ea typeface="Yu Gothic" pitchFamily="34" charset="-122"/>
                          <a:cs typeface="Yu Gothic" pitchFamily="34" charset="-120"/>
                        </a:rPr>
                        <a:t>21.0%</a:t>
                      </a:r>
                      <a:endParaRPr lang="en-US" sz="10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r>
              <a:tr h="342900">
                <a:tc>
                  <a:txBody>
                    <a:bodyPr/>
                    <a:lstStyle/>
                    <a:p>
                      <a:pPr algn="ctr" indent="0" marL="0">
                        <a:buNone/>
                      </a:pPr>
                      <a:r>
                        <a:rPr lang="en-US" sz="1000" dirty="0">
                          <a:solidFill>
                            <a:srgbClr val="EFEBE3"/>
                          </a:solidFill>
                          <a:latin typeface="Yu Gothic" pitchFamily="34" charset="0"/>
                          <a:ea typeface="Yu Gothic" pitchFamily="34" charset="-122"/>
                          <a:cs typeface="Yu Gothic" pitchFamily="34" charset="-120"/>
                        </a:rPr>
                        <a:t>15ヶ月</a:t>
                      </a:r>
                      <a:endParaRPr lang="en-US" sz="10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1000" dirty="0">
                          <a:solidFill>
                            <a:srgbClr val="EFEBE3"/>
                          </a:solidFill>
                          <a:latin typeface="Yu Gothic" pitchFamily="34" charset="0"/>
                          <a:ea typeface="Yu Gothic" pitchFamily="34" charset="-122"/>
                          <a:cs typeface="Yu Gothic" pitchFamily="34" charset="-120"/>
                        </a:rPr>
                        <a:t>×1.076</a:t>
                      </a:r>
                      <a:endParaRPr lang="en-US" sz="10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1000" dirty="0">
                          <a:solidFill>
                            <a:srgbClr val="EFEBE3"/>
                          </a:solidFill>
                          <a:latin typeface="Yu Gothic" pitchFamily="34" charset="0"/>
                          <a:ea typeface="Yu Gothic" pitchFamily="34" charset="-122"/>
                          <a:cs typeface="Yu Gothic" pitchFamily="34" charset="-120"/>
                        </a:rPr>
                        <a:t>13.3%</a:t>
                      </a:r>
                      <a:endParaRPr lang="en-US" sz="10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1000" dirty="0">
                          <a:solidFill>
                            <a:srgbClr val="C9A96E"/>
                          </a:solidFill>
                          <a:latin typeface="Yu Gothic" pitchFamily="34" charset="0"/>
                          <a:ea typeface="Yu Gothic" pitchFamily="34" charset="-122"/>
                          <a:cs typeface="Yu Gothic" pitchFamily="34" charset="-120"/>
                        </a:rPr>
                        <a:t>＋4.0pt</a:t>
                      </a:r>
                      <a:endParaRPr lang="en-US" sz="10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1000" b="1" dirty="0">
                          <a:solidFill>
                            <a:srgbClr val="EFEBE3"/>
                          </a:solidFill>
                          <a:latin typeface="Yu Gothic" pitchFamily="34" charset="0"/>
                          <a:ea typeface="Yu Gothic" pitchFamily="34" charset="-122"/>
                          <a:cs typeface="Yu Gothic" pitchFamily="34" charset="-120"/>
                        </a:rPr>
                        <a:t>17.3%</a:t>
                      </a:r>
                      <a:endParaRPr lang="en-US" sz="10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r>
              <a:tr h="342900">
                <a:tc>
                  <a:txBody>
                    <a:bodyPr/>
                    <a:lstStyle/>
                    <a:p>
                      <a:pPr algn="ctr" indent="0" marL="0">
                        <a:buNone/>
                      </a:pPr>
                      <a:r>
                        <a:rPr lang="en-US" sz="1000" dirty="0">
                          <a:solidFill>
                            <a:srgbClr val="EFEBE3"/>
                          </a:solidFill>
                          <a:latin typeface="Yu Gothic" pitchFamily="34" charset="0"/>
                          <a:ea typeface="Yu Gothic" pitchFamily="34" charset="-122"/>
                          <a:cs typeface="Yu Gothic" pitchFamily="34" charset="-120"/>
                        </a:rPr>
                        <a:t>18ヶ月</a:t>
                      </a:r>
                      <a:endParaRPr lang="en-US" sz="10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1000" dirty="0">
                          <a:solidFill>
                            <a:srgbClr val="EFEBE3"/>
                          </a:solidFill>
                          <a:latin typeface="Yu Gothic" pitchFamily="34" charset="0"/>
                          <a:ea typeface="Yu Gothic" pitchFamily="34" charset="-122"/>
                          <a:cs typeface="Yu Gothic" pitchFamily="34" charset="-120"/>
                        </a:rPr>
                        <a:t>×1.091</a:t>
                      </a:r>
                      <a:endParaRPr lang="en-US" sz="10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1000" dirty="0">
                          <a:solidFill>
                            <a:srgbClr val="EFEBE3"/>
                          </a:solidFill>
                          <a:latin typeface="Yu Gothic" pitchFamily="34" charset="0"/>
                          <a:ea typeface="Yu Gothic" pitchFamily="34" charset="-122"/>
                          <a:cs typeface="Yu Gothic" pitchFamily="34" charset="-120"/>
                        </a:rPr>
                        <a:t>10.9%</a:t>
                      </a:r>
                      <a:endParaRPr lang="en-US" sz="10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1000" dirty="0">
                          <a:solidFill>
                            <a:srgbClr val="C9A96E"/>
                          </a:solidFill>
                          <a:latin typeface="Yu Gothic" pitchFamily="34" charset="0"/>
                          <a:ea typeface="Yu Gothic" pitchFamily="34" charset="-122"/>
                          <a:cs typeface="Yu Gothic" pitchFamily="34" charset="-120"/>
                        </a:rPr>
                        <a:t>＋4.0pt</a:t>
                      </a:r>
                      <a:endParaRPr lang="en-US" sz="10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1000" b="1" dirty="0">
                          <a:solidFill>
                            <a:srgbClr val="EFEBE3"/>
                          </a:solidFill>
                          <a:latin typeface="Yu Gothic" pitchFamily="34" charset="0"/>
                          <a:ea typeface="Yu Gothic" pitchFamily="34" charset="-122"/>
                          <a:cs typeface="Yu Gothic" pitchFamily="34" charset="-120"/>
                        </a:rPr>
                        <a:t>14.9%</a:t>
                      </a:r>
                      <a:endParaRPr lang="en-US" sz="10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r>
            </a:tbl>
          </a:graphicData>
        </a:graphic>
      </p:graphicFrame>
      <p:sp>
        <p:nvSpPr>
          <p:cNvPr id="18" name="Shape 15"/>
          <p:cNvSpPr/>
          <p:nvPr/>
        </p:nvSpPr>
        <p:spPr>
          <a:xfrm>
            <a:off x="658368" y="5175504"/>
            <a:ext cx="5532120" cy="1024128"/>
          </a:xfrm>
          <a:prstGeom prst="roundRect">
            <a:avLst>
              <a:gd name="adj" fmla="val 4018"/>
            </a:avLst>
          </a:prstGeom>
          <a:solidFill>
            <a:srgbClr val="171614"/>
          </a:solidFill>
          <a:ln w="9525">
            <a:solidFill>
              <a:srgbClr val="2E2A24"/>
            </a:solidFill>
            <a:prstDash val="solid"/>
          </a:ln>
        </p:spPr>
      </p:sp>
      <p:sp>
        <p:nvSpPr>
          <p:cNvPr id="19" name="Text 16"/>
          <p:cNvSpPr/>
          <p:nvPr/>
        </p:nvSpPr>
        <p:spPr>
          <a:xfrm>
            <a:off x="896112" y="5276088"/>
            <a:ext cx="3840480" cy="219456"/>
          </a:xfrm>
          <a:prstGeom prst="rect">
            <a:avLst/>
          </a:prstGeom>
          <a:noFill/>
          <a:ln/>
        </p:spPr>
        <p:txBody>
          <a:bodyPr wrap="square" lIns="0" tIns="0" rIns="0" bIns="0" rtlCol="0" anchor="ctr"/>
          <a:lstStyle/>
          <a:p>
            <a:pPr indent="0" marL="0">
              <a:buNone/>
            </a:pPr>
            <a:r>
              <a:rPr lang="en-US" sz="1050" b="1" dirty="0">
                <a:solidFill>
                  <a:srgbClr val="C9A96E"/>
                </a:solidFill>
                <a:latin typeface="Yu Gothic" pitchFamily="34" charset="0"/>
                <a:ea typeface="Yu Gothic" pitchFamily="34" charset="-122"/>
                <a:cs typeface="Yu Gothic" pitchFamily="34" charset="-120"/>
              </a:rPr>
              <a:t>上昇率を変えた場合（主線）</a:t>
            </a:r>
            <a:endParaRPr lang="en-US" sz="1050" dirty="0"/>
          </a:p>
        </p:txBody>
      </p:sp>
      <p:sp>
        <p:nvSpPr>
          <p:cNvPr id="20" name="Text 17"/>
          <p:cNvSpPr/>
          <p:nvPr/>
        </p:nvSpPr>
        <p:spPr>
          <a:xfrm>
            <a:off x="896112" y="5513832"/>
            <a:ext cx="1627632" cy="201168"/>
          </a:xfrm>
          <a:prstGeom prst="rect">
            <a:avLst/>
          </a:prstGeom>
          <a:noFill/>
          <a:ln/>
        </p:spPr>
        <p:txBody>
          <a:bodyPr wrap="square" lIns="0" tIns="0" rIns="0" bIns="0" rtlCol="0" anchor="ctr"/>
          <a:lstStyle/>
          <a:p>
            <a:pPr indent="0" marL="0">
              <a:buNone/>
            </a:pPr>
            <a:r>
              <a:rPr lang="en-US" sz="900" dirty="0">
                <a:solidFill>
                  <a:srgbClr val="9A938A"/>
                </a:solidFill>
                <a:latin typeface="Yu Gothic" pitchFamily="34" charset="0"/>
                <a:ea typeface="Yu Gothic" pitchFamily="34" charset="-122"/>
                <a:cs typeface="Yu Gothic" pitchFamily="34" charset="-120"/>
              </a:rPr>
              <a:t>0%（横ばい）</a:t>
            </a:r>
            <a:endParaRPr lang="en-US" sz="900" dirty="0"/>
          </a:p>
        </p:txBody>
      </p:sp>
      <p:sp>
        <p:nvSpPr>
          <p:cNvPr id="21" name="Text 18"/>
          <p:cNvSpPr/>
          <p:nvPr/>
        </p:nvSpPr>
        <p:spPr>
          <a:xfrm>
            <a:off x="896112" y="5705856"/>
            <a:ext cx="1627632" cy="310896"/>
          </a:xfrm>
          <a:prstGeom prst="rect">
            <a:avLst/>
          </a:prstGeom>
          <a:noFill/>
          <a:ln/>
        </p:spPr>
        <p:txBody>
          <a:bodyPr wrap="square" lIns="0" tIns="0" rIns="0" bIns="0" rtlCol="0" anchor="ctr"/>
          <a:lstStyle/>
          <a:p>
            <a:pPr indent="0" marL="0">
              <a:buNone/>
            </a:pPr>
            <a:r>
              <a:rPr lang="en-US" sz="1900" b="1" dirty="0">
                <a:solidFill>
                  <a:srgbClr val="EFEBE3"/>
                </a:solidFill>
                <a:latin typeface="Cambria" pitchFamily="34" charset="0"/>
                <a:ea typeface="Cambria" pitchFamily="34" charset="-122"/>
                <a:cs typeface="Cambria" pitchFamily="34" charset="-120"/>
              </a:rPr>
              <a:t>17.0%</a:t>
            </a:r>
            <a:endParaRPr lang="en-US" sz="1900" dirty="0"/>
          </a:p>
        </p:txBody>
      </p:sp>
      <p:sp>
        <p:nvSpPr>
          <p:cNvPr id="22" name="Text 19"/>
          <p:cNvSpPr/>
          <p:nvPr/>
        </p:nvSpPr>
        <p:spPr>
          <a:xfrm>
            <a:off x="2596896" y="5513832"/>
            <a:ext cx="1627632" cy="201168"/>
          </a:xfrm>
          <a:prstGeom prst="rect">
            <a:avLst/>
          </a:prstGeom>
          <a:noFill/>
          <a:ln/>
        </p:spPr>
        <p:txBody>
          <a:bodyPr wrap="square" lIns="0" tIns="0" rIns="0" bIns="0" rtlCol="0" anchor="ctr"/>
          <a:lstStyle/>
          <a:p>
            <a:pPr indent="0" marL="0">
              <a:buNone/>
            </a:pPr>
            <a:r>
              <a:rPr lang="en-US" sz="900" dirty="0">
                <a:solidFill>
                  <a:srgbClr val="9A938A"/>
                </a:solidFill>
                <a:latin typeface="Yu Gothic" pitchFamily="34" charset="0"/>
                <a:ea typeface="Yu Gothic" pitchFamily="34" charset="-122"/>
                <a:cs typeface="Yu Gothic" pitchFamily="34" charset="-120"/>
              </a:rPr>
              <a:t>6%（主線）</a:t>
            </a:r>
            <a:endParaRPr lang="en-US" sz="900" dirty="0"/>
          </a:p>
        </p:txBody>
      </p:sp>
      <p:sp>
        <p:nvSpPr>
          <p:cNvPr id="23" name="Text 20"/>
          <p:cNvSpPr/>
          <p:nvPr/>
        </p:nvSpPr>
        <p:spPr>
          <a:xfrm>
            <a:off x="2596896" y="5705856"/>
            <a:ext cx="1627632" cy="310896"/>
          </a:xfrm>
          <a:prstGeom prst="rect">
            <a:avLst/>
          </a:prstGeom>
          <a:noFill/>
          <a:ln/>
        </p:spPr>
        <p:txBody>
          <a:bodyPr wrap="square" lIns="0" tIns="0" rIns="0" bIns="0" rtlCol="0" anchor="ctr"/>
          <a:lstStyle/>
          <a:p>
            <a:pPr indent="0" marL="0">
              <a:buNone/>
            </a:pPr>
            <a:r>
              <a:rPr lang="en-US" sz="1900" b="1" dirty="0">
                <a:solidFill>
                  <a:srgbClr val="C9A96E"/>
                </a:solidFill>
                <a:latin typeface="Cambria" pitchFamily="34" charset="0"/>
                <a:ea typeface="Cambria" pitchFamily="34" charset="-122"/>
                <a:cs typeface="Cambria" pitchFamily="34" charset="-120"/>
              </a:rPr>
              <a:t>21.0%</a:t>
            </a:r>
            <a:endParaRPr lang="en-US" sz="1900" dirty="0"/>
          </a:p>
        </p:txBody>
      </p:sp>
      <p:sp>
        <p:nvSpPr>
          <p:cNvPr id="24" name="Text 21"/>
          <p:cNvSpPr/>
          <p:nvPr/>
        </p:nvSpPr>
        <p:spPr>
          <a:xfrm>
            <a:off x="4297680" y="5513832"/>
            <a:ext cx="1627632" cy="201168"/>
          </a:xfrm>
          <a:prstGeom prst="rect">
            <a:avLst/>
          </a:prstGeom>
          <a:noFill/>
          <a:ln/>
        </p:spPr>
        <p:txBody>
          <a:bodyPr wrap="square" lIns="0" tIns="0" rIns="0" bIns="0" rtlCol="0" anchor="ctr"/>
          <a:lstStyle/>
          <a:p>
            <a:pPr indent="0" marL="0">
              <a:buNone/>
            </a:pPr>
            <a:r>
              <a:rPr lang="en-US" sz="900" dirty="0">
                <a:solidFill>
                  <a:srgbClr val="9A938A"/>
                </a:solidFill>
                <a:latin typeface="Yu Gothic" pitchFamily="34" charset="0"/>
                <a:ea typeface="Yu Gothic" pitchFamily="34" charset="-122"/>
                <a:cs typeface="Yu Gothic" pitchFamily="34" charset="-120"/>
              </a:rPr>
              <a:t>10%（会社資料水準）</a:t>
            </a:r>
            <a:endParaRPr lang="en-US" sz="900" dirty="0"/>
          </a:p>
        </p:txBody>
      </p:sp>
      <p:sp>
        <p:nvSpPr>
          <p:cNvPr id="25" name="Text 22"/>
          <p:cNvSpPr/>
          <p:nvPr/>
        </p:nvSpPr>
        <p:spPr>
          <a:xfrm>
            <a:off x="4297680" y="5705856"/>
            <a:ext cx="1627632" cy="310896"/>
          </a:xfrm>
          <a:prstGeom prst="rect">
            <a:avLst/>
          </a:prstGeom>
          <a:noFill/>
          <a:ln/>
        </p:spPr>
        <p:txBody>
          <a:bodyPr wrap="square" lIns="0" tIns="0" rIns="0" bIns="0" rtlCol="0" anchor="ctr"/>
          <a:lstStyle/>
          <a:p>
            <a:pPr indent="0" marL="0">
              <a:buNone/>
            </a:pPr>
            <a:r>
              <a:rPr lang="en-US" sz="1900" b="1" dirty="0">
                <a:solidFill>
                  <a:srgbClr val="EFEBE3"/>
                </a:solidFill>
                <a:latin typeface="Cambria" pitchFamily="34" charset="0"/>
                <a:ea typeface="Cambria" pitchFamily="34" charset="-122"/>
                <a:cs typeface="Cambria" pitchFamily="34" charset="-120"/>
              </a:rPr>
              <a:t>23.6%</a:t>
            </a:r>
            <a:endParaRPr lang="en-US" sz="1900" dirty="0"/>
          </a:p>
        </p:txBody>
      </p:sp>
      <p:sp>
        <p:nvSpPr>
          <p:cNvPr id="26" name="Shape 23"/>
          <p:cNvSpPr/>
          <p:nvPr/>
        </p:nvSpPr>
        <p:spPr>
          <a:xfrm>
            <a:off x="6464808" y="5175504"/>
            <a:ext cx="5068519" cy="1024128"/>
          </a:xfrm>
          <a:prstGeom prst="roundRect">
            <a:avLst>
              <a:gd name="adj" fmla="val 4018"/>
            </a:avLst>
          </a:prstGeom>
          <a:solidFill>
            <a:srgbClr val="1F1D19"/>
          </a:solidFill>
          <a:ln w="9525">
            <a:solidFill>
              <a:srgbClr val="6E5730"/>
            </a:solidFill>
            <a:prstDash val="solid"/>
          </a:ln>
        </p:spPr>
      </p:sp>
      <p:sp>
        <p:nvSpPr>
          <p:cNvPr id="27" name="Text 24"/>
          <p:cNvSpPr/>
          <p:nvPr/>
        </p:nvSpPr>
        <p:spPr>
          <a:xfrm>
            <a:off x="6702552" y="5276088"/>
            <a:ext cx="4572000" cy="219456"/>
          </a:xfrm>
          <a:prstGeom prst="rect">
            <a:avLst/>
          </a:prstGeom>
          <a:noFill/>
          <a:ln/>
        </p:spPr>
        <p:txBody>
          <a:bodyPr wrap="square" lIns="0" tIns="0" rIns="0" bIns="0" rtlCol="0" anchor="ctr"/>
          <a:lstStyle/>
          <a:p>
            <a:pPr indent="0" marL="0">
              <a:buNone/>
            </a:pPr>
            <a:r>
              <a:rPr lang="en-US" sz="1050" b="1" dirty="0">
                <a:solidFill>
                  <a:srgbClr val="C9A96E"/>
                </a:solidFill>
                <a:latin typeface="Yu Gothic" pitchFamily="34" charset="0"/>
                <a:ea typeface="Yu Gothic" pitchFamily="34" charset="-122"/>
                <a:cs typeface="Yu Gothic" pitchFamily="34" charset="-120"/>
              </a:rPr>
              <a:t>値上がりは「相殺」ではなく「底上げ」</a:t>
            </a:r>
            <a:endParaRPr lang="en-US" sz="1050" dirty="0"/>
          </a:p>
        </p:txBody>
      </p:sp>
      <p:sp>
        <p:nvSpPr>
          <p:cNvPr id="28" name="Text 25"/>
          <p:cNvSpPr/>
          <p:nvPr/>
        </p:nvSpPr>
        <p:spPr>
          <a:xfrm>
            <a:off x="6702552" y="5504688"/>
            <a:ext cx="4593031" cy="621792"/>
          </a:xfrm>
          <a:prstGeom prst="rect">
            <a:avLst/>
          </a:prstGeom>
          <a:noFill/>
          <a:ln/>
        </p:spPr>
        <p:txBody>
          <a:bodyPr wrap="square" lIns="0" tIns="0" rIns="0" bIns="0" rtlCol="0" anchor="ctr"/>
          <a:lstStyle/>
          <a:p>
            <a:pPr indent="0" marL="0">
              <a:lnSpc>
                <a:spcPct val="120000"/>
              </a:lnSpc>
              <a:buNone/>
            </a:pPr>
            <a:r>
              <a:rPr lang="en-US" sz="900" dirty="0">
                <a:solidFill>
                  <a:srgbClr val="9A938A"/>
                </a:solidFill>
                <a:latin typeface="Yu Gothic" pitchFamily="34" charset="0"/>
                <a:ea typeface="Yu Gothic" pitchFamily="34" charset="-122"/>
                <a:cs typeface="Yu Gothic" pitchFamily="34" charset="-120"/>
              </a:rPr>
              <a:t>値上がりは在庫金額に対して発生するため、年間の上乗せ幅は回転期間によらず約4.0ポイントで一定になる。回転が落ちた分をちょうど埋め合わせるわけではなく、どの回転期間でも一律に底上げする性質のもの。したがって回転期間の管理は引き続き最大の運用課題である。</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C0C0C"/>
        </a:solidFill>
      </p:bgPr>
    </p:bg>
    <p:spTree>
      <p:nvGrpSpPr>
        <p:cNvPr id="1" name=""/>
        <p:cNvGrpSpPr/>
        <p:nvPr/>
      </p:nvGrpSpPr>
      <p:grpSpPr>
        <a:xfrm>
          <a:off x="0" y="0"/>
          <a:ext cx="0" cy="0"/>
          <a:chOff x="0" y="0"/>
          <a:chExt cx="0" cy="0"/>
        </a:xfrm>
      </p:grpSpPr>
      <p:sp>
        <p:nvSpPr>
          <p:cNvPr id="2" name="Text 0"/>
          <p:cNvSpPr/>
          <p:nvPr/>
        </p:nvSpPr>
        <p:spPr>
          <a:xfrm>
            <a:off x="658368" y="384048"/>
            <a:ext cx="10874959" cy="219456"/>
          </a:xfrm>
          <a:prstGeom prst="rect">
            <a:avLst/>
          </a:prstGeom>
          <a:noFill/>
          <a:ln/>
        </p:spPr>
        <p:txBody>
          <a:bodyPr wrap="square" lIns="0" tIns="0" rIns="0" bIns="0" rtlCol="0" anchor="ctr"/>
          <a:lstStyle/>
          <a:p>
            <a:pPr indent="0" marL="0">
              <a:buNone/>
            </a:pPr>
            <a:r>
              <a:rPr lang="en-US" sz="1050" b="1" spc="340" kern="0" dirty="0">
                <a:solidFill>
                  <a:srgbClr val="A78450"/>
                </a:solidFill>
                <a:latin typeface="Cambria" pitchFamily="34" charset="0"/>
                <a:ea typeface="Cambria" pitchFamily="34" charset="-122"/>
                <a:cs typeface="Cambria" pitchFamily="34" charset="-120"/>
              </a:rPr>
              <a:t>UPSIDE / DOWNSIDE ｜ 副次</a:t>
            </a:r>
            <a:endParaRPr lang="en-US" sz="1050" dirty="0"/>
          </a:p>
        </p:txBody>
      </p:sp>
      <p:sp>
        <p:nvSpPr>
          <p:cNvPr id="3" name="Text 1"/>
          <p:cNvSpPr/>
          <p:nvPr/>
        </p:nvSpPr>
        <p:spPr>
          <a:xfrm>
            <a:off x="658368" y="640080"/>
            <a:ext cx="10874959" cy="548640"/>
          </a:xfrm>
          <a:prstGeom prst="rect">
            <a:avLst/>
          </a:prstGeom>
          <a:noFill/>
          <a:ln/>
        </p:spPr>
        <p:txBody>
          <a:bodyPr wrap="square" lIns="0" tIns="0" rIns="0" bIns="0" rtlCol="0" anchor="ctr"/>
          <a:lstStyle/>
          <a:p>
            <a:pPr indent="0" marL="0">
              <a:buNone/>
            </a:pPr>
            <a:r>
              <a:rPr lang="en-US" sz="2700" b="1" dirty="0">
                <a:solidFill>
                  <a:srgbClr val="EFEBE3"/>
                </a:solidFill>
                <a:latin typeface="Yu Mincho" pitchFamily="34" charset="0"/>
                <a:ea typeface="Yu Mincho" pitchFamily="34" charset="-122"/>
                <a:cs typeface="Yu Mincho" pitchFamily="34" charset="-120"/>
              </a:rPr>
              <a:t>上振れ余地と下振れリスク</a:t>
            </a:r>
            <a:endParaRPr lang="en-US" sz="2700" dirty="0"/>
          </a:p>
        </p:txBody>
      </p:sp>
      <p:sp>
        <p:nvSpPr>
          <p:cNvPr id="4" name="Text 2"/>
          <p:cNvSpPr/>
          <p:nvPr/>
        </p:nvSpPr>
        <p:spPr>
          <a:xfrm>
            <a:off x="658368" y="1216152"/>
            <a:ext cx="10874959" cy="310896"/>
          </a:xfrm>
          <a:prstGeom prst="rect">
            <a:avLst/>
          </a:prstGeom>
          <a:noFill/>
          <a:ln/>
        </p:spPr>
        <p:txBody>
          <a:bodyPr wrap="square" lIns="0" tIns="0" rIns="0" bIns="0" rtlCol="0" anchor="ctr"/>
          <a:lstStyle/>
          <a:p>
            <a:pPr indent="0" marL="0">
              <a:buNone/>
            </a:pPr>
            <a:r>
              <a:rPr lang="en-US" sz="1150" dirty="0">
                <a:solidFill>
                  <a:srgbClr val="9A938A"/>
                </a:solidFill>
                <a:latin typeface="Yu Gothic" pitchFamily="34" charset="0"/>
                <a:ea typeface="Yu Gothic" pitchFamily="34" charset="-122"/>
                <a:cs typeface="Yu Gothic" pitchFamily="34" charset="-120"/>
              </a:rPr>
              <a:t>いずれも在庫回転期間を横軸に置いている。必要年間売上を併記し、実現可能性が判断できるようにしている。</a:t>
            </a:r>
            <a:endParaRPr lang="en-US" sz="1150" dirty="0"/>
          </a:p>
        </p:txBody>
      </p:sp>
      <p:sp>
        <p:nvSpPr>
          <p:cNvPr id="5" name="Text 3"/>
          <p:cNvSpPr/>
          <p:nvPr/>
        </p:nvSpPr>
        <p:spPr>
          <a:xfrm>
            <a:off x="658368" y="6437376"/>
            <a:ext cx="5029200" cy="219456"/>
          </a:xfrm>
          <a:prstGeom prst="rect">
            <a:avLst/>
          </a:prstGeom>
          <a:noFill/>
          <a:ln/>
        </p:spPr>
        <p:txBody>
          <a:bodyPr wrap="square" lIns="0" tIns="0" rIns="0" bIns="0" rtlCol="0" anchor="ctr"/>
          <a:lstStyle/>
          <a:p>
            <a:pPr indent="0" marL="0">
              <a:buNone/>
            </a:pPr>
            <a:r>
              <a:rPr lang="en-US" sz="850" dirty="0">
                <a:solidFill>
                  <a:srgbClr val="6E675E"/>
                </a:solidFill>
                <a:latin typeface="Yu Gothic" pitchFamily="34" charset="0"/>
                <a:ea typeface="Yu Gothic" pitchFamily="34" charset="-122"/>
                <a:cs typeface="Yu Gothic" pitchFamily="34" charset="-120"/>
              </a:rPr>
              <a:t>CONFIDENTIAL ｜ 株式会社WineBank</a:t>
            </a:r>
            <a:endParaRPr lang="en-US" sz="850" dirty="0"/>
          </a:p>
        </p:txBody>
      </p:sp>
      <p:sp>
        <p:nvSpPr>
          <p:cNvPr id="6" name="Text 4"/>
          <p:cNvSpPr/>
          <p:nvPr/>
        </p:nvSpPr>
        <p:spPr>
          <a:xfrm>
            <a:off x="10618927" y="6437376"/>
            <a:ext cx="914400" cy="219456"/>
          </a:xfrm>
          <a:prstGeom prst="rect">
            <a:avLst/>
          </a:prstGeom>
          <a:noFill/>
          <a:ln/>
        </p:spPr>
        <p:txBody>
          <a:bodyPr wrap="square" lIns="0" tIns="0" rIns="0" bIns="0" rtlCol="0" anchor="ctr"/>
          <a:lstStyle/>
          <a:p>
            <a:pPr algn="r" indent="0" marL="0">
              <a:buNone/>
            </a:pPr>
            <a:r>
              <a:rPr lang="en-US" sz="950" spc="150" kern="0" dirty="0">
                <a:solidFill>
                  <a:srgbClr val="6E5730"/>
                </a:solidFill>
                <a:latin typeface="Cambria" pitchFamily="34" charset="0"/>
                <a:ea typeface="Cambria" pitchFamily="34" charset="-122"/>
                <a:cs typeface="Cambria" pitchFamily="34" charset="-120"/>
              </a:rPr>
              <a:t>13</a:t>
            </a:r>
            <a:endParaRPr lang="en-US" sz="950" dirty="0"/>
          </a:p>
        </p:txBody>
      </p:sp>
      <p:sp>
        <p:nvSpPr>
          <p:cNvPr id="7" name="Shape 5"/>
          <p:cNvSpPr/>
          <p:nvPr/>
        </p:nvSpPr>
        <p:spPr>
          <a:xfrm>
            <a:off x="658368" y="1645920"/>
            <a:ext cx="5300320" cy="2523744"/>
          </a:xfrm>
          <a:prstGeom prst="roundRect">
            <a:avLst>
              <a:gd name="adj" fmla="val 1630"/>
            </a:avLst>
          </a:prstGeom>
          <a:solidFill>
            <a:srgbClr val="1F1D19"/>
          </a:solidFill>
          <a:ln w="9525">
            <a:solidFill>
              <a:srgbClr val="6E5730"/>
            </a:solidFill>
            <a:prstDash val="solid"/>
          </a:ln>
        </p:spPr>
      </p:sp>
      <p:sp>
        <p:nvSpPr>
          <p:cNvPr id="8" name="Text 6"/>
          <p:cNvSpPr/>
          <p:nvPr/>
        </p:nvSpPr>
        <p:spPr>
          <a:xfrm>
            <a:off x="914400" y="1810512"/>
            <a:ext cx="4788256" cy="256032"/>
          </a:xfrm>
          <a:prstGeom prst="rect">
            <a:avLst/>
          </a:prstGeom>
          <a:noFill/>
          <a:ln/>
        </p:spPr>
        <p:txBody>
          <a:bodyPr wrap="square" lIns="0" tIns="0" rIns="0" bIns="0" rtlCol="0" anchor="ctr"/>
          <a:lstStyle/>
          <a:p>
            <a:pPr indent="0" marL="0">
              <a:buNone/>
            </a:pPr>
            <a:r>
              <a:rPr lang="en-US" sz="1150" b="1" dirty="0">
                <a:solidFill>
                  <a:srgbClr val="C9A96E"/>
                </a:solidFill>
                <a:latin typeface="Yu Gothic" pitchFamily="34" charset="0"/>
                <a:ea typeface="Yu Gothic" pitchFamily="34" charset="-122"/>
                <a:cs typeface="Yu Gothic" pitchFamily="34" charset="-120"/>
              </a:rPr>
              <a:t>ポジティブ｜取得原価40.4・B2C100%・上昇6%</a:t>
            </a:r>
            <a:endParaRPr lang="en-US" sz="1150" dirty="0"/>
          </a:p>
        </p:txBody>
      </p:sp>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914400" y="2121408"/>
          <a:ext cx="4782312" cy="914400"/>
        </p:xfrm>
        <a:graphic>
          <a:graphicData uri="http://schemas.openxmlformats.org/drawingml/2006/table">
            <a:tbl>
              <a:tblPr/>
              <a:tblGrid>
                <a:gridCol w="822960"/>
                <a:gridCol w="960120"/>
                <a:gridCol w="896112"/>
                <a:gridCol w="896112"/>
                <a:gridCol w="1207008"/>
              </a:tblGrid>
              <a:tr h="288036">
                <a:tc>
                  <a:txBody>
                    <a:bodyPr/>
                    <a:lstStyle/>
                    <a:p>
                      <a:pPr algn="ctr" indent="0" marL="0">
                        <a:buNone/>
                      </a:pPr>
                      <a:r>
                        <a:rPr lang="en-US" sz="950" b="1" dirty="0">
                          <a:solidFill>
                            <a:srgbClr val="C9A96E"/>
                          </a:solidFill>
                          <a:latin typeface="Yu Gothic" pitchFamily="34" charset="0"/>
                          <a:ea typeface="Yu Gothic" pitchFamily="34" charset="-122"/>
                          <a:cs typeface="Yu Gothic" pitchFamily="34" charset="-120"/>
                        </a:rPr>
                        <a:t>回転期間</a:t>
                      </a:r>
                      <a:endParaRPr lang="en-US" sz="9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231F1A"/>
                    </a:solidFill>
                  </a:tcPr>
                </a:tc>
                <a:tc>
                  <a:txBody>
                    <a:bodyPr/>
                    <a:lstStyle/>
                    <a:p>
                      <a:pPr algn="ctr" indent="0" marL="0">
                        <a:buNone/>
                      </a:pPr>
                      <a:r>
                        <a:rPr lang="en-US" sz="950" b="1" dirty="0">
                          <a:solidFill>
                            <a:srgbClr val="C9A96E"/>
                          </a:solidFill>
                          <a:latin typeface="Yu Gothic" pitchFamily="34" charset="0"/>
                          <a:ea typeface="Yu Gothic" pitchFamily="34" charset="-122"/>
                          <a:cs typeface="Yu Gothic" pitchFamily="34" charset="-120"/>
                        </a:rPr>
                        <a:t>必要年間売上</a:t>
                      </a:r>
                      <a:endParaRPr lang="en-US" sz="9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231F1A"/>
                    </a:solidFill>
                  </a:tcPr>
                </a:tc>
                <a:tc>
                  <a:txBody>
                    <a:bodyPr/>
                    <a:lstStyle/>
                    <a:p>
                      <a:pPr algn="ctr" indent="0" marL="0">
                        <a:buNone/>
                      </a:pPr>
                      <a:r>
                        <a:rPr lang="en-US" sz="950" b="1" dirty="0">
                          <a:solidFill>
                            <a:srgbClr val="C9A96E"/>
                          </a:solidFill>
                          <a:latin typeface="Yu Gothic" pitchFamily="34" charset="0"/>
                          <a:ea typeface="Yu Gothic" pitchFamily="34" charset="-122"/>
                          <a:cs typeface="Yu Gothic" pitchFamily="34" charset="-120"/>
                        </a:rPr>
                        <a:t>年間税前</a:t>
                      </a:r>
                      <a:endParaRPr lang="en-US" sz="9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231F1A"/>
                    </a:solidFill>
                  </a:tcPr>
                </a:tc>
                <a:tc>
                  <a:txBody>
                    <a:bodyPr/>
                    <a:lstStyle/>
                    <a:p>
                      <a:pPr algn="ctr" indent="0" marL="0">
                        <a:buNone/>
                      </a:pPr>
                      <a:r>
                        <a:rPr lang="en-US" sz="950" b="1" dirty="0">
                          <a:solidFill>
                            <a:srgbClr val="C9A96E"/>
                          </a:solidFill>
                          <a:latin typeface="Yu Gothic" pitchFamily="34" charset="0"/>
                          <a:ea typeface="Yu Gothic" pitchFamily="34" charset="-122"/>
                          <a:cs typeface="Yu Gothic" pitchFamily="34" charset="-120"/>
                        </a:rPr>
                        <a:t>投資家取分</a:t>
                      </a:r>
                      <a:endParaRPr lang="en-US" sz="9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231F1A"/>
                    </a:solidFill>
                  </a:tcPr>
                </a:tc>
                <a:tc>
                  <a:txBody>
                    <a:bodyPr/>
                    <a:lstStyle/>
                    <a:p>
                      <a:pPr algn="ctr" indent="0" marL="0">
                        <a:buNone/>
                      </a:pPr>
                      <a:r>
                        <a:rPr lang="en-US" sz="950" b="1" dirty="0">
                          <a:solidFill>
                            <a:srgbClr val="C9A96E"/>
                          </a:solidFill>
                          <a:latin typeface="Yu Gothic" pitchFamily="34" charset="0"/>
                          <a:ea typeface="Yu Gothic" pitchFamily="34" charset="-122"/>
                          <a:cs typeface="Yu Gothic" pitchFamily="34" charset="-120"/>
                        </a:rPr>
                        <a:t>投資家利回り</a:t>
                      </a:r>
                      <a:endParaRPr lang="en-US" sz="9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231F1A"/>
                    </a:solidFill>
                  </a:tcPr>
                </a:tc>
              </a:tr>
              <a:tr h="288036">
                <a:tc>
                  <a:txBody>
                    <a:bodyPr/>
                    <a:lstStyle/>
                    <a:p>
                      <a:pPr algn="ctr" indent="0" marL="0">
                        <a:buNone/>
                      </a:pPr>
                      <a:r>
                        <a:rPr lang="en-US" sz="950" dirty="0">
                          <a:solidFill>
                            <a:srgbClr val="EFEBE3"/>
                          </a:solidFill>
                          <a:latin typeface="Yu Gothic" pitchFamily="34" charset="0"/>
                          <a:ea typeface="Yu Gothic" pitchFamily="34" charset="-122"/>
                          <a:cs typeface="Yu Gothic" pitchFamily="34" charset="-120"/>
                        </a:rPr>
                        <a:t>9ヶ月</a:t>
                      </a:r>
                      <a:endParaRPr lang="en-US" sz="9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950" dirty="0">
                          <a:solidFill>
                            <a:srgbClr val="EFEBE3"/>
                          </a:solidFill>
                          <a:latin typeface="Yu Gothic" pitchFamily="34" charset="0"/>
                          <a:ea typeface="Yu Gothic" pitchFamily="34" charset="-122"/>
                          <a:cs typeface="Yu Gothic" pitchFamily="34" charset="-120"/>
                        </a:rPr>
                        <a:t>13.10億</a:t>
                      </a:r>
                      <a:endParaRPr lang="en-US" sz="9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950" dirty="0">
                          <a:solidFill>
                            <a:srgbClr val="EFEBE3"/>
                          </a:solidFill>
                          <a:latin typeface="Yu Gothic" pitchFamily="34" charset="0"/>
                          <a:ea typeface="Yu Gothic" pitchFamily="34" charset="-122"/>
                          <a:cs typeface="Yu Gothic" pitchFamily="34" charset="-120"/>
                        </a:rPr>
                        <a:t>5.13億</a:t>
                      </a:r>
                      <a:endParaRPr lang="en-US" sz="9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950" dirty="0">
                          <a:solidFill>
                            <a:srgbClr val="EFEBE3"/>
                          </a:solidFill>
                          <a:latin typeface="Yu Gothic" pitchFamily="34" charset="0"/>
                          <a:ea typeface="Yu Gothic" pitchFamily="34" charset="-122"/>
                          <a:cs typeface="Yu Gothic" pitchFamily="34" charset="-120"/>
                        </a:rPr>
                        <a:t>257百万</a:t>
                      </a:r>
                      <a:endParaRPr lang="en-US" sz="9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950" b="1" dirty="0">
                          <a:solidFill>
                            <a:srgbClr val="C9A96E"/>
                          </a:solidFill>
                          <a:latin typeface="Yu Gothic" pitchFamily="34" charset="0"/>
                          <a:ea typeface="Yu Gothic" pitchFamily="34" charset="-122"/>
                          <a:cs typeface="Yu Gothic" pitchFamily="34" charset="-120"/>
                        </a:rPr>
                        <a:t>51.3%</a:t>
                      </a:r>
                      <a:endParaRPr lang="en-US" sz="9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r>
              <a:tr h="288036">
                <a:tc>
                  <a:txBody>
                    <a:bodyPr/>
                    <a:lstStyle/>
                    <a:p>
                      <a:pPr algn="ctr" indent="0" marL="0">
                        <a:buNone/>
                      </a:pPr>
                      <a:r>
                        <a:rPr lang="en-US" sz="950" dirty="0">
                          <a:solidFill>
                            <a:srgbClr val="EFEBE3"/>
                          </a:solidFill>
                          <a:latin typeface="Yu Gothic" pitchFamily="34" charset="0"/>
                          <a:ea typeface="Yu Gothic" pitchFamily="34" charset="-122"/>
                          <a:cs typeface="Yu Gothic" pitchFamily="34" charset="-120"/>
                        </a:rPr>
                        <a:t>12ヶ月</a:t>
                      </a:r>
                      <a:endParaRPr lang="en-US" sz="9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950" dirty="0">
                          <a:solidFill>
                            <a:srgbClr val="EFEBE3"/>
                          </a:solidFill>
                          <a:latin typeface="Yu Gothic" pitchFamily="34" charset="0"/>
                          <a:ea typeface="Yu Gothic" pitchFamily="34" charset="-122"/>
                          <a:cs typeface="Yu Gothic" pitchFamily="34" charset="-120"/>
                        </a:rPr>
                        <a:t>9.97億</a:t>
                      </a:r>
                      <a:endParaRPr lang="en-US" sz="9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950" dirty="0">
                          <a:solidFill>
                            <a:srgbClr val="EFEBE3"/>
                          </a:solidFill>
                          <a:latin typeface="Yu Gothic" pitchFamily="34" charset="0"/>
                          <a:ea typeface="Yu Gothic" pitchFamily="34" charset="-122"/>
                          <a:cs typeface="Yu Gothic" pitchFamily="34" charset="-120"/>
                        </a:rPr>
                        <a:t>3.94億</a:t>
                      </a:r>
                      <a:endParaRPr lang="en-US" sz="9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950" dirty="0">
                          <a:solidFill>
                            <a:srgbClr val="EFEBE3"/>
                          </a:solidFill>
                          <a:latin typeface="Yu Gothic" pitchFamily="34" charset="0"/>
                          <a:ea typeface="Yu Gothic" pitchFamily="34" charset="-122"/>
                          <a:cs typeface="Yu Gothic" pitchFamily="34" charset="-120"/>
                        </a:rPr>
                        <a:t>197百万</a:t>
                      </a:r>
                      <a:endParaRPr lang="en-US" sz="9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950" b="1" dirty="0">
                          <a:solidFill>
                            <a:srgbClr val="C9A96E"/>
                          </a:solidFill>
                          <a:latin typeface="Yu Gothic" pitchFamily="34" charset="0"/>
                          <a:ea typeface="Yu Gothic" pitchFamily="34" charset="-122"/>
                          <a:cs typeface="Yu Gothic" pitchFamily="34" charset="-120"/>
                        </a:rPr>
                        <a:t>39.4%</a:t>
                      </a:r>
                      <a:endParaRPr lang="en-US" sz="9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r>
              <a:tr h="288036">
                <a:tc>
                  <a:txBody>
                    <a:bodyPr/>
                    <a:lstStyle/>
                    <a:p>
                      <a:pPr algn="ctr" indent="0" marL="0">
                        <a:buNone/>
                      </a:pPr>
                      <a:r>
                        <a:rPr lang="en-US" sz="950" dirty="0">
                          <a:solidFill>
                            <a:srgbClr val="EFEBE3"/>
                          </a:solidFill>
                          <a:latin typeface="Yu Gothic" pitchFamily="34" charset="0"/>
                          <a:ea typeface="Yu Gothic" pitchFamily="34" charset="-122"/>
                          <a:cs typeface="Yu Gothic" pitchFamily="34" charset="-120"/>
                        </a:rPr>
                        <a:t>15ヶ月</a:t>
                      </a:r>
                      <a:endParaRPr lang="en-US" sz="9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950" dirty="0">
                          <a:solidFill>
                            <a:srgbClr val="EFEBE3"/>
                          </a:solidFill>
                          <a:latin typeface="Yu Gothic" pitchFamily="34" charset="0"/>
                          <a:ea typeface="Yu Gothic" pitchFamily="34" charset="-122"/>
                          <a:cs typeface="Yu Gothic" pitchFamily="34" charset="-120"/>
                        </a:rPr>
                        <a:t>8.09億</a:t>
                      </a:r>
                      <a:endParaRPr lang="en-US" sz="9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950" dirty="0">
                          <a:solidFill>
                            <a:srgbClr val="EFEBE3"/>
                          </a:solidFill>
                          <a:latin typeface="Yu Gothic" pitchFamily="34" charset="0"/>
                          <a:ea typeface="Yu Gothic" pitchFamily="34" charset="-122"/>
                          <a:cs typeface="Yu Gothic" pitchFamily="34" charset="-120"/>
                        </a:rPr>
                        <a:t>3.22億</a:t>
                      </a:r>
                      <a:endParaRPr lang="en-US" sz="9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950" dirty="0">
                          <a:solidFill>
                            <a:srgbClr val="EFEBE3"/>
                          </a:solidFill>
                          <a:latin typeface="Yu Gothic" pitchFamily="34" charset="0"/>
                          <a:ea typeface="Yu Gothic" pitchFamily="34" charset="-122"/>
                          <a:cs typeface="Yu Gothic" pitchFamily="34" charset="-120"/>
                        </a:rPr>
                        <a:t>161百万</a:t>
                      </a:r>
                      <a:endParaRPr lang="en-US" sz="9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950" dirty="0">
                          <a:solidFill>
                            <a:srgbClr val="EFEBE3"/>
                          </a:solidFill>
                          <a:latin typeface="Yu Gothic" pitchFamily="34" charset="0"/>
                          <a:ea typeface="Yu Gothic" pitchFamily="34" charset="-122"/>
                          <a:cs typeface="Yu Gothic" pitchFamily="34" charset="-120"/>
                        </a:rPr>
                        <a:t>32.2%</a:t>
                      </a:r>
                      <a:endParaRPr lang="en-US" sz="9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r>
              <a:tr h="288036">
                <a:tc>
                  <a:txBody>
                    <a:bodyPr/>
                    <a:lstStyle/>
                    <a:p>
                      <a:pPr algn="ctr" indent="0" marL="0">
                        <a:buNone/>
                      </a:pPr>
                      <a:r>
                        <a:rPr lang="en-US" sz="950" dirty="0">
                          <a:solidFill>
                            <a:srgbClr val="EFEBE3"/>
                          </a:solidFill>
                          <a:latin typeface="Yu Gothic" pitchFamily="34" charset="0"/>
                          <a:ea typeface="Yu Gothic" pitchFamily="34" charset="-122"/>
                          <a:cs typeface="Yu Gothic" pitchFamily="34" charset="-120"/>
                        </a:rPr>
                        <a:t>18ヶ月</a:t>
                      </a:r>
                      <a:endParaRPr lang="en-US" sz="9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950" dirty="0">
                          <a:solidFill>
                            <a:srgbClr val="EFEBE3"/>
                          </a:solidFill>
                          <a:latin typeface="Yu Gothic" pitchFamily="34" charset="0"/>
                          <a:ea typeface="Yu Gothic" pitchFamily="34" charset="-122"/>
                          <a:cs typeface="Yu Gothic" pitchFamily="34" charset="-120"/>
                        </a:rPr>
                        <a:t>6.84億</a:t>
                      </a:r>
                      <a:endParaRPr lang="en-US" sz="9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950" dirty="0">
                          <a:solidFill>
                            <a:srgbClr val="EFEBE3"/>
                          </a:solidFill>
                          <a:latin typeface="Yu Gothic" pitchFamily="34" charset="0"/>
                          <a:ea typeface="Yu Gothic" pitchFamily="34" charset="-122"/>
                          <a:cs typeface="Yu Gothic" pitchFamily="34" charset="-120"/>
                        </a:rPr>
                        <a:t>2.75億</a:t>
                      </a:r>
                      <a:endParaRPr lang="en-US" sz="9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950" dirty="0">
                          <a:solidFill>
                            <a:srgbClr val="EFEBE3"/>
                          </a:solidFill>
                          <a:latin typeface="Yu Gothic" pitchFamily="34" charset="0"/>
                          <a:ea typeface="Yu Gothic" pitchFamily="34" charset="-122"/>
                          <a:cs typeface="Yu Gothic" pitchFamily="34" charset="-120"/>
                        </a:rPr>
                        <a:t>137百万</a:t>
                      </a:r>
                      <a:endParaRPr lang="en-US" sz="9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950" dirty="0">
                          <a:solidFill>
                            <a:srgbClr val="EFEBE3"/>
                          </a:solidFill>
                          <a:latin typeface="Yu Gothic" pitchFamily="34" charset="0"/>
                          <a:ea typeface="Yu Gothic" pitchFamily="34" charset="-122"/>
                          <a:cs typeface="Yu Gothic" pitchFamily="34" charset="-120"/>
                        </a:rPr>
                        <a:t>27.5%</a:t>
                      </a:r>
                      <a:endParaRPr lang="en-US" sz="9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r>
            </a:tbl>
          </a:graphicData>
        </a:graphic>
      </p:graphicFrame>
      <p:sp>
        <p:nvSpPr>
          <p:cNvPr id="10" name="Text 7"/>
          <p:cNvSpPr/>
          <p:nvPr/>
        </p:nvSpPr>
        <p:spPr>
          <a:xfrm>
            <a:off x="914400" y="3657600"/>
            <a:ext cx="4788256" cy="475488"/>
          </a:xfrm>
          <a:prstGeom prst="rect">
            <a:avLst/>
          </a:prstGeom>
          <a:noFill/>
          <a:ln/>
        </p:spPr>
        <p:txBody>
          <a:bodyPr wrap="square" lIns="0" tIns="0" rIns="0" bIns="0" rtlCol="0" anchor="ctr"/>
          <a:lstStyle/>
          <a:p>
            <a:pPr indent="0" marL="0">
              <a:lnSpc>
                <a:spcPct val="120000"/>
              </a:lnSpc>
              <a:buNone/>
            </a:pPr>
            <a:r>
              <a:rPr lang="en-US" sz="900" dirty="0">
                <a:solidFill>
                  <a:srgbClr val="9A938A"/>
                </a:solidFill>
                <a:latin typeface="Yu Gothic" pitchFamily="34" charset="0"/>
                <a:ea typeface="Yu Gothic" pitchFamily="34" charset="-122"/>
                <a:cs typeface="Yu Gothic" pitchFamily="34" charset="-120"/>
              </a:rPr>
              <a:t>インポーター直仕入の比率を引き上げ、販売をネット最安値帯に寄せることで到達。ただし回転12ヶ月でも年間10億円の販売を要するため、現状の販売実力では到達しない。上限の目安として示す。</a:t>
            </a:r>
            <a:endParaRPr lang="en-US" sz="900" dirty="0"/>
          </a:p>
        </p:txBody>
      </p:sp>
      <p:sp>
        <p:nvSpPr>
          <p:cNvPr id="11" name="Shape 8"/>
          <p:cNvSpPr/>
          <p:nvPr/>
        </p:nvSpPr>
        <p:spPr>
          <a:xfrm>
            <a:off x="6233008" y="1645920"/>
            <a:ext cx="5300320" cy="2523744"/>
          </a:xfrm>
          <a:prstGeom prst="roundRect">
            <a:avLst>
              <a:gd name="adj" fmla="val 1630"/>
            </a:avLst>
          </a:prstGeom>
          <a:solidFill>
            <a:srgbClr val="171614"/>
          </a:solidFill>
          <a:ln w="9525">
            <a:solidFill>
              <a:srgbClr val="2E2A24"/>
            </a:solidFill>
            <a:prstDash val="solid"/>
          </a:ln>
        </p:spPr>
      </p:sp>
      <p:sp>
        <p:nvSpPr>
          <p:cNvPr id="12" name="Text 9"/>
          <p:cNvSpPr/>
          <p:nvPr/>
        </p:nvSpPr>
        <p:spPr>
          <a:xfrm>
            <a:off x="6489040" y="1810512"/>
            <a:ext cx="4788256" cy="256032"/>
          </a:xfrm>
          <a:prstGeom prst="rect">
            <a:avLst/>
          </a:prstGeom>
          <a:noFill/>
          <a:ln/>
        </p:spPr>
        <p:txBody>
          <a:bodyPr wrap="square" lIns="0" tIns="0" rIns="0" bIns="0" rtlCol="0" anchor="ctr"/>
          <a:lstStyle/>
          <a:p>
            <a:pPr indent="0" marL="0">
              <a:buNone/>
            </a:pPr>
            <a:r>
              <a:rPr lang="en-US" sz="1150" b="1" dirty="0">
                <a:solidFill>
                  <a:srgbClr val="EFEBE3"/>
                </a:solidFill>
                <a:latin typeface="Yu Gothic" pitchFamily="34" charset="0"/>
                <a:ea typeface="Yu Gothic" pitchFamily="34" charset="-122"/>
                <a:cs typeface="Yu Gothic" pitchFamily="34" charset="-120"/>
              </a:rPr>
              <a:t>ネガティブ｜売値5%値引き ＋ 価格は横ばい（上昇0%）</a:t>
            </a:r>
            <a:endParaRPr lang="en-US" sz="1150" dirty="0"/>
          </a:p>
        </p:txBody>
      </p:sp>
      <p:graphicFrame>
        <p:nvGraphicFramePr>
          <p:cNvPr id="29" name="Table 1"/>
          <p:cNvGraphicFramePr>
            <a:graphicFrameLocks noGrp="1"/>
          </p:cNvGraphicFramePr>
          <p:nvPr>
            <p:extLst>
              <p:ext uri="{D42A27DB-BD31-4B8C-83A1-F6EECF244321}">
                <p14:modId xmlns:p14="http://schemas.microsoft.com/office/powerpoint/2010/main" val="1579011935"/>
              </p:ext>
            </p:extLst>
          </p:nvPr>
        </p:nvGraphicFramePr>
        <p:xfrm>
          <a:off x="6489040" y="2121408"/>
          <a:ext cx="4782312" cy="914400"/>
        </p:xfrm>
        <a:graphic>
          <a:graphicData uri="http://schemas.openxmlformats.org/drawingml/2006/table">
            <a:tbl>
              <a:tblPr/>
              <a:tblGrid>
                <a:gridCol w="822960"/>
                <a:gridCol w="960120"/>
                <a:gridCol w="896112"/>
                <a:gridCol w="896112"/>
                <a:gridCol w="1207008"/>
              </a:tblGrid>
              <a:tr h="288036">
                <a:tc>
                  <a:txBody>
                    <a:bodyPr/>
                    <a:lstStyle/>
                    <a:p>
                      <a:pPr algn="ctr" indent="0" marL="0">
                        <a:buNone/>
                      </a:pPr>
                      <a:r>
                        <a:rPr lang="en-US" sz="950" b="1" dirty="0">
                          <a:solidFill>
                            <a:srgbClr val="C9A96E"/>
                          </a:solidFill>
                          <a:latin typeface="Yu Gothic" pitchFamily="34" charset="0"/>
                          <a:ea typeface="Yu Gothic" pitchFamily="34" charset="-122"/>
                          <a:cs typeface="Yu Gothic" pitchFamily="34" charset="-120"/>
                        </a:rPr>
                        <a:t>回転期間</a:t>
                      </a:r>
                      <a:endParaRPr lang="en-US" sz="9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231F1A"/>
                    </a:solidFill>
                  </a:tcPr>
                </a:tc>
                <a:tc>
                  <a:txBody>
                    <a:bodyPr/>
                    <a:lstStyle/>
                    <a:p>
                      <a:pPr algn="ctr" indent="0" marL="0">
                        <a:buNone/>
                      </a:pPr>
                      <a:r>
                        <a:rPr lang="en-US" sz="950" b="1" dirty="0">
                          <a:solidFill>
                            <a:srgbClr val="C9A96E"/>
                          </a:solidFill>
                          <a:latin typeface="Yu Gothic" pitchFamily="34" charset="0"/>
                          <a:ea typeface="Yu Gothic" pitchFamily="34" charset="-122"/>
                          <a:cs typeface="Yu Gothic" pitchFamily="34" charset="-120"/>
                        </a:rPr>
                        <a:t>必要年間売上</a:t>
                      </a:r>
                      <a:endParaRPr lang="en-US" sz="9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231F1A"/>
                    </a:solidFill>
                  </a:tcPr>
                </a:tc>
                <a:tc>
                  <a:txBody>
                    <a:bodyPr/>
                    <a:lstStyle/>
                    <a:p>
                      <a:pPr algn="ctr" indent="0" marL="0">
                        <a:buNone/>
                      </a:pPr>
                      <a:r>
                        <a:rPr lang="en-US" sz="950" b="1" dirty="0">
                          <a:solidFill>
                            <a:srgbClr val="C9A96E"/>
                          </a:solidFill>
                          <a:latin typeface="Yu Gothic" pitchFamily="34" charset="0"/>
                          <a:ea typeface="Yu Gothic" pitchFamily="34" charset="-122"/>
                          <a:cs typeface="Yu Gothic" pitchFamily="34" charset="-120"/>
                        </a:rPr>
                        <a:t>年間税前</a:t>
                      </a:r>
                      <a:endParaRPr lang="en-US" sz="9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231F1A"/>
                    </a:solidFill>
                  </a:tcPr>
                </a:tc>
                <a:tc>
                  <a:txBody>
                    <a:bodyPr/>
                    <a:lstStyle/>
                    <a:p>
                      <a:pPr algn="ctr" indent="0" marL="0">
                        <a:buNone/>
                      </a:pPr>
                      <a:r>
                        <a:rPr lang="en-US" sz="950" b="1" dirty="0">
                          <a:solidFill>
                            <a:srgbClr val="C9A96E"/>
                          </a:solidFill>
                          <a:latin typeface="Yu Gothic" pitchFamily="34" charset="0"/>
                          <a:ea typeface="Yu Gothic" pitchFamily="34" charset="-122"/>
                          <a:cs typeface="Yu Gothic" pitchFamily="34" charset="-120"/>
                        </a:rPr>
                        <a:t>投資家取分</a:t>
                      </a:r>
                      <a:endParaRPr lang="en-US" sz="9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231F1A"/>
                    </a:solidFill>
                  </a:tcPr>
                </a:tc>
                <a:tc>
                  <a:txBody>
                    <a:bodyPr/>
                    <a:lstStyle/>
                    <a:p>
                      <a:pPr algn="ctr" indent="0" marL="0">
                        <a:buNone/>
                      </a:pPr>
                      <a:r>
                        <a:rPr lang="en-US" sz="950" b="1" dirty="0">
                          <a:solidFill>
                            <a:srgbClr val="C9A96E"/>
                          </a:solidFill>
                          <a:latin typeface="Yu Gothic" pitchFamily="34" charset="0"/>
                          <a:ea typeface="Yu Gothic" pitchFamily="34" charset="-122"/>
                          <a:cs typeface="Yu Gothic" pitchFamily="34" charset="-120"/>
                        </a:rPr>
                        <a:t>投資家利回り</a:t>
                      </a:r>
                      <a:endParaRPr lang="en-US" sz="9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231F1A"/>
                    </a:solidFill>
                  </a:tcPr>
                </a:tc>
              </a:tr>
              <a:tr h="288036">
                <a:tc>
                  <a:txBody>
                    <a:bodyPr/>
                    <a:lstStyle/>
                    <a:p>
                      <a:pPr algn="ctr" indent="0" marL="0">
                        <a:buNone/>
                      </a:pPr>
                      <a:r>
                        <a:rPr lang="en-US" sz="950" dirty="0">
                          <a:solidFill>
                            <a:srgbClr val="EFEBE3"/>
                          </a:solidFill>
                          <a:latin typeface="Yu Gothic" pitchFamily="34" charset="0"/>
                          <a:ea typeface="Yu Gothic" pitchFamily="34" charset="-122"/>
                          <a:cs typeface="Yu Gothic" pitchFamily="34" charset="-120"/>
                        </a:rPr>
                        <a:t>9ヶ月</a:t>
                      </a:r>
                      <a:endParaRPr lang="en-US" sz="9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950" dirty="0">
                          <a:solidFill>
                            <a:srgbClr val="EFEBE3"/>
                          </a:solidFill>
                          <a:latin typeface="Yu Gothic" pitchFamily="34" charset="0"/>
                          <a:ea typeface="Yu Gothic" pitchFamily="34" charset="-122"/>
                          <a:cs typeface="Yu Gothic" pitchFamily="34" charset="-120"/>
                        </a:rPr>
                        <a:t>8.94億</a:t>
                      </a:r>
                      <a:endParaRPr lang="en-US" sz="9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950" dirty="0">
                          <a:solidFill>
                            <a:srgbClr val="EFEBE3"/>
                          </a:solidFill>
                          <a:latin typeface="Yu Gothic" pitchFamily="34" charset="0"/>
                          <a:ea typeface="Yu Gothic" pitchFamily="34" charset="-122"/>
                          <a:cs typeface="Yu Gothic" pitchFamily="34" charset="-120"/>
                        </a:rPr>
                        <a:t>1.88億</a:t>
                      </a:r>
                      <a:endParaRPr lang="en-US" sz="9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950" dirty="0">
                          <a:solidFill>
                            <a:srgbClr val="EFEBE3"/>
                          </a:solidFill>
                          <a:latin typeface="Yu Gothic" pitchFamily="34" charset="0"/>
                          <a:ea typeface="Yu Gothic" pitchFamily="34" charset="-122"/>
                          <a:cs typeface="Yu Gothic" pitchFamily="34" charset="-120"/>
                        </a:rPr>
                        <a:t>94百万</a:t>
                      </a:r>
                      <a:endParaRPr lang="en-US" sz="9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950" b="1" dirty="0">
                          <a:solidFill>
                            <a:srgbClr val="B4553F"/>
                          </a:solidFill>
                          <a:latin typeface="Yu Gothic" pitchFamily="34" charset="0"/>
                          <a:ea typeface="Yu Gothic" pitchFamily="34" charset="-122"/>
                          <a:cs typeface="Yu Gothic" pitchFamily="34" charset="-120"/>
                        </a:rPr>
                        <a:t>18.8%</a:t>
                      </a:r>
                      <a:endParaRPr lang="en-US" sz="9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r>
              <a:tr h="288036">
                <a:tc>
                  <a:txBody>
                    <a:bodyPr/>
                    <a:lstStyle/>
                    <a:p>
                      <a:pPr algn="ctr" indent="0" marL="0">
                        <a:buNone/>
                      </a:pPr>
                      <a:r>
                        <a:rPr lang="en-US" sz="950" dirty="0">
                          <a:solidFill>
                            <a:srgbClr val="EFEBE3"/>
                          </a:solidFill>
                          <a:latin typeface="Yu Gothic" pitchFamily="34" charset="0"/>
                          <a:ea typeface="Yu Gothic" pitchFamily="34" charset="-122"/>
                          <a:cs typeface="Yu Gothic" pitchFamily="34" charset="-120"/>
                        </a:rPr>
                        <a:t>12ヶ月</a:t>
                      </a:r>
                      <a:endParaRPr lang="en-US" sz="9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950" dirty="0">
                          <a:solidFill>
                            <a:srgbClr val="EFEBE3"/>
                          </a:solidFill>
                          <a:latin typeface="Yu Gothic" pitchFamily="34" charset="0"/>
                          <a:ea typeface="Yu Gothic" pitchFamily="34" charset="-122"/>
                          <a:cs typeface="Yu Gothic" pitchFamily="34" charset="-120"/>
                        </a:rPr>
                        <a:t>6.70億</a:t>
                      </a:r>
                      <a:endParaRPr lang="en-US" sz="9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950" dirty="0">
                          <a:solidFill>
                            <a:srgbClr val="EFEBE3"/>
                          </a:solidFill>
                          <a:latin typeface="Yu Gothic" pitchFamily="34" charset="0"/>
                          <a:ea typeface="Yu Gothic" pitchFamily="34" charset="-122"/>
                          <a:cs typeface="Yu Gothic" pitchFamily="34" charset="-120"/>
                        </a:rPr>
                        <a:t>1.37億</a:t>
                      </a:r>
                      <a:endParaRPr lang="en-US" sz="9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950" dirty="0">
                          <a:solidFill>
                            <a:srgbClr val="EFEBE3"/>
                          </a:solidFill>
                          <a:latin typeface="Yu Gothic" pitchFamily="34" charset="0"/>
                          <a:ea typeface="Yu Gothic" pitchFamily="34" charset="-122"/>
                          <a:cs typeface="Yu Gothic" pitchFamily="34" charset="-120"/>
                        </a:rPr>
                        <a:t>69百万</a:t>
                      </a:r>
                      <a:endParaRPr lang="en-US" sz="9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950" b="1" dirty="0">
                          <a:solidFill>
                            <a:srgbClr val="B4553F"/>
                          </a:solidFill>
                          <a:latin typeface="Yu Gothic" pitchFamily="34" charset="0"/>
                          <a:ea typeface="Yu Gothic" pitchFamily="34" charset="-122"/>
                          <a:cs typeface="Yu Gothic" pitchFamily="34" charset="-120"/>
                        </a:rPr>
                        <a:t>13.7%</a:t>
                      </a:r>
                      <a:endParaRPr lang="en-US" sz="9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r>
              <a:tr h="288036">
                <a:tc>
                  <a:txBody>
                    <a:bodyPr/>
                    <a:lstStyle/>
                    <a:p>
                      <a:pPr algn="ctr" indent="0" marL="0">
                        <a:buNone/>
                      </a:pPr>
                      <a:r>
                        <a:rPr lang="en-US" sz="950" dirty="0">
                          <a:solidFill>
                            <a:srgbClr val="EFEBE3"/>
                          </a:solidFill>
                          <a:latin typeface="Yu Gothic" pitchFamily="34" charset="0"/>
                          <a:ea typeface="Yu Gothic" pitchFamily="34" charset="-122"/>
                          <a:cs typeface="Yu Gothic" pitchFamily="34" charset="-120"/>
                        </a:rPr>
                        <a:t>15ヶ月</a:t>
                      </a:r>
                      <a:endParaRPr lang="en-US" sz="9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950" dirty="0">
                          <a:solidFill>
                            <a:srgbClr val="EFEBE3"/>
                          </a:solidFill>
                          <a:latin typeface="Yu Gothic" pitchFamily="34" charset="0"/>
                          <a:ea typeface="Yu Gothic" pitchFamily="34" charset="-122"/>
                          <a:cs typeface="Yu Gothic" pitchFamily="34" charset="-120"/>
                        </a:rPr>
                        <a:t>5.36億</a:t>
                      </a:r>
                      <a:endParaRPr lang="en-US" sz="9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950" dirty="0">
                          <a:solidFill>
                            <a:srgbClr val="EFEBE3"/>
                          </a:solidFill>
                          <a:latin typeface="Yu Gothic" pitchFamily="34" charset="0"/>
                          <a:ea typeface="Yu Gothic" pitchFamily="34" charset="-122"/>
                          <a:cs typeface="Yu Gothic" pitchFamily="34" charset="-120"/>
                        </a:rPr>
                        <a:t>1.07億</a:t>
                      </a:r>
                      <a:endParaRPr lang="en-US" sz="9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950" dirty="0">
                          <a:solidFill>
                            <a:srgbClr val="EFEBE3"/>
                          </a:solidFill>
                          <a:latin typeface="Yu Gothic" pitchFamily="34" charset="0"/>
                          <a:ea typeface="Yu Gothic" pitchFamily="34" charset="-122"/>
                          <a:cs typeface="Yu Gothic" pitchFamily="34" charset="-120"/>
                        </a:rPr>
                        <a:t>54百万</a:t>
                      </a:r>
                      <a:endParaRPr lang="en-US" sz="9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950" dirty="0">
                          <a:solidFill>
                            <a:srgbClr val="B4553F"/>
                          </a:solidFill>
                          <a:latin typeface="Yu Gothic" pitchFamily="34" charset="0"/>
                          <a:ea typeface="Yu Gothic" pitchFamily="34" charset="-122"/>
                          <a:cs typeface="Yu Gothic" pitchFamily="34" charset="-120"/>
                        </a:rPr>
                        <a:t>10.7%</a:t>
                      </a:r>
                      <a:endParaRPr lang="en-US" sz="9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r>
              <a:tr h="288036">
                <a:tc>
                  <a:txBody>
                    <a:bodyPr/>
                    <a:lstStyle/>
                    <a:p>
                      <a:pPr algn="ctr" indent="0" marL="0">
                        <a:buNone/>
                      </a:pPr>
                      <a:r>
                        <a:rPr lang="en-US" sz="950" dirty="0">
                          <a:solidFill>
                            <a:srgbClr val="EFEBE3"/>
                          </a:solidFill>
                          <a:latin typeface="Yu Gothic" pitchFamily="34" charset="0"/>
                          <a:ea typeface="Yu Gothic" pitchFamily="34" charset="-122"/>
                          <a:cs typeface="Yu Gothic" pitchFamily="34" charset="-120"/>
                        </a:rPr>
                        <a:t>18ヶ月</a:t>
                      </a:r>
                      <a:endParaRPr lang="en-US" sz="9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950" dirty="0">
                          <a:solidFill>
                            <a:srgbClr val="EFEBE3"/>
                          </a:solidFill>
                          <a:latin typeface="Yu Gothic" pitchFamily="34" charset="0"/>
                          <a:ea typeface="Yu Gothic" pitchFamily="34" charset="-122"/>
                          <a:cs typeface="Yu Gothic" pitchFamily="34" charset="-120"/>
                        </a:rPr>
                        <a:t>4.47億</a:t>
                      </a:r>
                      <a:endParaRPr lang="en-US" sz="9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950" dirty="0">
                          <a:solidFill>
                            <a:srgbClr val="EFEBE3"/>
                          </a:solidFill>
                          <a:latin typeface="Yu Gothic" pitchFamily="34" charset="0"/>
                          <a:ea typeface="Yu Gothic" pitchFamily="34" charset="-122"/>
                          <a:cs typeface="Yu Gothic" pitchFamily="34" charset="-120"/>
                        </a:rPr>
                        <a:t>0.87億</a:t>
                      </a:r>
                      <a:endParaRPr lang="en-US" sz="9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950" dirty="0">
                          <a:solidFill>
                            <a:srgbClr val="EFEBE3"/>
                          </a:solidFill>
                          <a:latin typeface="Yu Gothic" pitchFamily="34" charset="0"/>
                          <a:ea typeface="Yu Gothic" pitchFamily="34" charset="-122"/>
                          <a:cs typeface="Yu Gothic" pitchFamily="34" charset="-120"/>
                        </a:rPr>
                        <a:t>43百万</a:t>
                      </a:r>
                      <a:endParaRPr lang="en-US" sz="9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950" dirty="0">
                          <a:solidFill>
                            <a:srgbClr val="B4553F"/>
                          </a:solidFill>
                          <a:latin typeface="Yu Gothic" pitchFamily="34" charset="0"/>
                          <a:ea typeface="Yu Gothic" pitchFamily="34" charset="-122"/>
                          <a:cs typeface="Yu Gothic" pitchFamily="34" charset="-120"/>
                        </a:rPr>
                        <a:t>8.7%</a:t>
                      </a:r>
                      <a:endParaRPr lang="en-US" sz="9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r>
            </a:tbl>
          </a:graphicData>
        </a:graphic>
      </p:graphicFrame>
      <p:sp>
        <p:nvSpPr>
          <p:cNvPr id="14" name="Text 10"/>
          <p:cNvSpPr/>
          <p:nvPr/>
        </p:nvSpPr>
        <p:spPr>
          <a:xfrm>
            <a:off x="6489040" y="3657600"/>
            <a:ext cx="4788256" cy="475488"/>
          </a:xfrm>
          <a:prstGeom prst="rect">
            <a:avLst/>
          </a:prstGeom>
          <a:noFill/>
          <a:ln/>
        </p:spPr>
        <p:txBody>
          <a:bodyPr wrap="square" lIns="0" tIns="0" rIns="0" bIns="0" rtlCol="0" anchor="ctr"/>
          <a:lstStyle/>
          <a:p>
            <a:pPr indent="0" marL="0">
              <a:lnSpc>
                <a:spcPct val="120000"/>
              </a:lnSpc>
              <a:buNone/>
            </a:pPr>
            <a:r>
              <a:rPr lang="en-US" sz="900" dirty="0">
                <a:solidFill>
                  <a:srgbClr val="9A938A"/>
                </a:solidFill>
                <a:latin typeface="Yu Gothic" pitchFamily="34" charset="0"/>
                <a:ea typeface="Yu Gothic" pitchFamily="34" charset="-122"/>
                <a:cs typeface="Yu Gothic" pitchFamily="34" charset="-120"/>
              </a:rPr>
              <a:t>値引き（▲3.5pt）と価格横ばい（▲4.0pt）が同時に起きた複合ケース。この複合下振れでは回転8.5ヶ月まで縮めないと20%に届かず、想定レンジでは20%を確保できない。値引きを禁じることが最優先の防衛線となる。</a:t>
            </a:r>
            <a:endParaRPr lang="en-US" sz="900" dirty="0"/>
          </a:p>
        </p:txBody>
      </p:sp>
      <p:sp>
        <p:nvSpPr>
          <p:cNvPr id="15" name="Shape 11"/>
          <p:cNvSpPr/>
          <p:nvPr/>
        </p:nvSpPr>
        <p:spPr>
          <a:xfrm>
            <a:off x="658368" y="4334256"/>
            <a:ext cx="10874959" cy="1298448"/>
          </a:xfrm>
          <a:prstGeom prst="roundRect">
            <a:avLst>
              <a:gd name="adj" fmla="val 3169"/>
            </a:avLst>
          </a:prstGeom>
          <a:solidFill>
            <a:srgbClr val="1F1D19"/>
          </a:solidFill>
          <a:ln w="9525">
            <a:solidFill>
              <a:srgbClr val="6E5730"/>
            </a:solidFill>
            <a:prstDash val="solid"/>
          </a:ln>
        </p:spPr>
      </p:sp>
      <p:sp>
        <p:nvSpPr>
          <p:cNvPr id="16" name="Text 12"/>
          <p:cNvSpPr/>
          <p:nvPr/>
        </p:nvSpPr>
        <p:spPr>
          <a:xfrm>
            <a:off x="932688" y="4498848"/>
            <a:ext cx="2743200" cy="256032"/>
          </a:xfrm>
          <a:prstGeom prst="rect">
            <a:avLst/>
          </a:prstGeom>
          <a:noFill/>
          <a:ln/>
        </p:spPr>
        <p:txBody>
          <a:bodyPr wrap="square" lIns="0" tIns="0" rIns="0" bIns="0" rtlCol="0" anchor="ctr"/>
          <a:lstStyle/>
          <a:p>
            <a:pPr indent="0" marL="0">
              <a:buNone/>
            </a:pPr>
            <a:r>
              <a:rPr lang="en-US" sz="1200" b="1" dirty="0">
                <a:solidFill>
                  <a:srgbClr val="C9A96E"/>
                </a:solidFill>
                <a:latin typeface="Yu Gothic" pitchFamily="34" charset="0"/>
                <a:ea typeface="Yu Gothic" pitchFamily="34" charset="-122"/>
                <a:cs typeface="Yu Gothic" pitchFamily="34" charset="-120"/>
              </a:rPr>
              <a:t>最重要の示唆</a:t>
            </a:r>
            <a:endParaRPr lang="en-US" sz="1200" dirty="0"/>
          </a:p>
        </p:txBody>
      </p:sp>
      <p:sp>
        <p:nvSpPr>
          <p:cNvPr id="17" name="Text 13"/>
          <p:cNvSpPr/>
          <p:nvPr/>
        </p:nvSpPr>
        <p:spPr>
          <a:xfrm>
            <a:off x="932688" y="4791456"/>
            <a:ext cx="10326319" cy="658368"/>
          </a:xfrm>
          <a:prstGeom prst="rect">
            <a:avLst/>
          </a:prstGeom>
          <a:noFill/>
          <a:ln/>
        </p:spPr>
        <p:txBody>
          <a:bodyPr wrap="square" lIns="0" tIns="0" rIns="0" bIns="0" rtlCol="0" anchor="ctr"/>
          <a:lstStyle/>
          <a:p>
            <a:pPr indent="0" marL="0">
              <a:lnSpc>
                <a:spcPct val="128000"/>
              </a:lnSpc>
              <a:buNone/>
            </a:pPr>
            <a:r>
              <a:rPr lang="en-US" sz="1150" dirty="0">
                <a:solidFill>
                  <a:srgbClr val="EFEBE3"/>
                </a:solidFill>
                <a:latin typeface="Yu Gothic" pitchFamily="34" charset="0"/>
                <a:ea typeface="Yu Gothic" pitchFamily="34" charset="-122"/>
                <a:cs typeface="Yu Gothic" pitchFamily="34" charset="-120"/>
              </a:rPr>
              <a:t>「回転を上げるために値引く」は割に合わない。売値5%の値引きは単位粗利を15%毀損し、失う投資家利回り3.5ポイントを取り戻すには回転を12ヶ月から約10ヶ月へ短縮する必要がある。価格を維持したまま販売チャネルを増やすことが本筋の改善手段であり、むしろ売れ残りは値上がりを取りにいく機会でもある。</a:t>
            </a:r>
            <a:endParaRPr lang="en-US" sz="11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C0C0C"/>
        </a:solidFill>
      </p:bgPr>
    </p:bg>
    <p:spTree>
      <p:nvGrpSpPr>
        <p:cNvPr id="1" name=""/>
        <p:cNvGrpSpPr/>
        <p:nvPr/>
      </p:nvGrpSpPr>
      <p:grpSpPr>
        <a:xfrm>
          <a:off x="0" y="0"/>
          <a:ext cx="0" cy="0"/>
          <a:chOff x="0" y="0"/>
          <a:chExt cx="0" cy="0"/>
        </a:xfrm>
      </p:grpSpPr>
      <p:sp>
        <p:nvSpPr>
          <p:cNvPr id="2" name="Text 0"/>
          <p:cNvSpPr/>
          <p:nvPr/>
        </p:nvSpPr>
        <p:spPr>
          <a:xfrm>
            <a:off x="658368" y="384048"/>
            <a:ext cx="10874959" cy="219456"/>
          </a:xfrm>
          <a:prstGeom prst="rect">
            <a:avLst/>
          </a:prstGeom>
          <a:noFill/>
          <a:ln/>
        </p:spPr>
        <p:txBody>
          <a:bodyPr wrap="square" lIns="0" tIns="0" rIns="0" bIns="0" rtlCol="0" anchor="ctr"/>
          <a:lstStyle/>
          <a:p>
            <a:pPr indent="0" marL="0">
              <a:buNone/>
            </a:pPr>
            <a:r>
              <a:rPr lang="en-US" sz="1050" b="1" spc="340" kern="0" dirty="0">
                <a:solidFill>
                  <a:srgbClr val="A78450"/>
                </a:solidFill>
                <a:latin typeface="Cambria" pitchFamily="34" charset="0"/>
                <a:ea typeface="Cambria" pitchFamily="34" charset="-122"/>
                <a:cs typeface="Cambria" pitchFamily="34" charset="-120"/>
              </a:rPr>
              <a:t>COMPARISON</a:t>
            </a:r>
            <a:endParaRPr lang="en-US" sz="1050" dirty="0"/>
          </a:p>
        </p:txBody>
      </p:sp>
      <p:sp>
        <p:nvSpPr>
          <p:cNvPr id="3" name="Text 1"/>
          <p:cNvSpPr/>
          <p:nvPr/>
        </p:nvSpPr>
        <p:spPr>
          <a:xfrm>
            <a:off x="658368" y="640080"/>
            <a:ext cx="10874959" cy="548640"/>
          </a:xfrm>
          <a:prstGeom prst="rect">
            <a:avLst/>
          </a:prstGeom>
          <a:noFill/>
          <a:ln/>
        </p:spPr>
        <p:txBody>
          <a:bodyPr wrap="square" lIns="0" tIns="0" rIns="0" bIns="0" rtlCol="0" anchor="ctr"/>
          <a:lstStyle/>
          <a:p>
            <a:pPr indent="0" marL="0">
              <a:buNone/>
            </a:pPr>
            <a:r>
              <a:rPr lang="en-US" sz="2700" b="1" dirty="0">
                <a:solidFill>
                  <a:srgbClr val="EFEBE3"/>
                </a:solidFill>
                <a:latin typeface="Yu Mincho" pitchFamily="34" charset="0"/>
                <a:ea typeface="Yu Mincho" pitchFamily="34" charset="-122"/>
                <a:cs typeface="Yu Mincho" pitchFamily="34" charset="-120"/>
              </a:rPr>
              <a:t>3シナリオ比較：投資家 定常年間利回り</a:t>
            </a:r>
            <a:endParaRPr lang="en-US" sz="2700" dirty="0"/>
          </a:p>
        </p:txBody>
      </p:sp>
      <p:sp>
        <p:nvSpPr>
          <p:cNvPr id="4" name="Text 2"/>
          <p:cNvSpPr/>
          <p:nvPr/>
        </p:nvSpPr>
        <p:spPr>
          <a:xfrm>
            <a:off x="658368" y="1216152"/>
            <a:ext cx="10874959" cy="310896"/>
          </a:xfrm>
          <a:prstGeom prst="rect">
            <a:avLst/>
          </a:prstGeom>
          <a:noFill/>
          <a:ln/>
        </p:spPr>
        <p:txBody>
          <a:bodyPr wrap="square" lIns="0" tIns="0" rIns="0" bIns="0" rtlCol="0" anchor="ctr"/>
          <a:lstStyle/>
          <a:p>
            <a:pPr indent="0" marL="0">
              <a:buNone/>
            </a:pPr>
            <a:r>
              <a:rPr lang="en-US" sz="1150" dirty="0">
                <a:solidFill>
                  <a:srgbClr val="9A938A"/>
                </a:solidFill>
                <a:latin typeface="Yu Gothic" pitchFamily="34" charset="0"/>
                <a:ea typeface="Yu Gothic" pitchFamily="34" charset="-122"/>
                <a:cs typeface="Yu Gothic" pitchFamily="34" charset="-120"/>
              </a:rPr>
              <a:t>出資5億円に対する投資家の年間実力値。SPC税前利益を投資家とWineBankで折半した後の金額ベース。</a:t>
            </a:r>
            <a:endParaRPr lang="en-US" sz="1150" dirty="0"/>
          </a:p>
        </p:txBody>
      </p:sp>
      <p:sp>
        <p:nvSpPr>
          <p:cNvPr id="5" name="Text 3"/>
          <p:cNvSpPr/>
          <p:nvPr/>
        </p:nvSpPr>
        <p:spPr>
          <a:xfrm>
            <a:off x="658368" y="6437376"/>
            <a:ext cx="5029200" cy="219456"/>
          </a:xfrm>
          <a:prstGeom prst="rect">
            <a:avLst/>
          </a:prstGeom>
          <a:noFill/>
          <a:ln/>
        </p:spPr>
        <p:txBody>
          <a:bodyPr wrap="square" lIns="0" tIns="0" rIns="0" bIns="0" rtlCol="0" anchor="ctr"/>
          <a:lstStyle/>
          <a:p>
            <a:pPr indent="0" marL="0">
              <a:buNone/>
            </a:pPr>
            <a:r>
              <a:rPr lang="en-US" sz="850" dirty="0">
                <a:solidFill>
                  <a:srgbClr val="6E675E"/>
                </a:solidFill>
                <a:latin typeface="Yu Gothic" pitchFamily="34" charset="0"/>
                <a:ea typeface="Yu Gothic" pitchFamily="34" charset="-122"/>
                <a:cs typeface="Yu Gothic" pitchFamily="34" charset="-120"/>
              </a:rPr>
              <a:t>CONFIDENTIAL ｜ 株式会社WineBank</a:t>
            </a:r>
            <a:endParaRPr lang="en-US" sz="850" dirty="0"/>
          </a:p>
        </p:txBody>
      </p:sp>
      <p:sp>
        <p:nvSpPr>
          <p:cNvPr id="6" name="Text 4"/>
          <p:cNvSpPr/>
          <p:nvPr/>
        </p:nvSpPr>
        <p:spPr>
          <a:xfrm>
            <a:off x="10618927" y="6437376"/>
            <a:ext cx="914400" cy="219456"/>
          </a:xfrm>
          <a:prstGeom prst="rect">
            <a:avLst/>
          </a:prstGeom>
          <a:noFill/>
          <a:ln/>
        </p:spPr>
        <p:txBody>
          <a:bodyPr wrap="square" lIns="0" tIns="0" rIns="0" bIns="0" rtlCol="0" anchor="ctr"/>
          <a:lstStyle/>
          <a:p>
            <a:pPr algn="r" indent="0" marL="0">
              <a:buNone/>
            </a:pPr>
            <a:r>
              <a:rPr lang="en-US" sz="950" spc="150" kern="0" dirty="0">
                <a:solidFill>
                  <a:srgbClr val="6E5730"/>
                </a:solidFill>
                <a:latin typeface="Cambria" pitchFamily="34" charset="0"/>
                <a:ea typeface="Cambria" pitchFamily="34" charset="-122"/>
                <a:cs typeface="Cambria" pitchFamily="34" charset="-120"/>
              </a:rPr>
              <a:t>14</a:t>
            </a:r>
            <a:endParaRPr lang="en-US" sz="950" dirty="0"/>
          </a:p>
        </p:txBody>
      </p:sp>
      <p:sp>
        <p:nvSpPr>
          <p:cNvPr id="7" name="Shape 5"/>
          <p:cNvSpPr/>
          <p:nvPr/>
        </p:nvSpPr>
        <p:spPr>
          <a:xfrm>
            <a:off x="658368" y="1645920"/>
            <a:ext cx="10874959" cy="2724912"/>
          </a:xfrm>
          <a:prstGeom prst="roundRect">
            <a:avLst>
              <a:gd name="adj" fmla="val 1510"/>
            </a:avLst>
          </a:prstGeom>
          <a:solidFill>
            <a:srgbClr val="171614"/>
          </a:solidFill>
          <a:ln w="9525">
            <a:solidFill>
              <a:srgbClr val="2E2A24"/>
            </a:solidFill>
            <a:prstDash val="solid"/>
          </a:ln>
        </p:spPr>
      </p:sp>
      <p:graphicFrame>
        <p:nvGraphicFramePr>
          <p:cNvPr id="8" name="Chart 0" descr=""/>
          <p:cNvGraphicFramePr/>
          <p:nvPr/>
        </p:nvGraphicFramePr>
        <p:xfrm>
          <a:off x="786384" y="1755648"/>
          <a:ext cx="10618927" cy="2505456"/>
        </p:xfrm>
        <a:graphic xmlns:a="http://schemas.openxmlformats.org/drawingml/2006/main">
          <a:graphicData uri="http://schemas.openxmlformats.org/drawingml/2006/chart">
            <c:chart xmlns:c="http://schemas.openxmlformats.org/drawingml/2006/chart" r:id="rId1"/>
          </a:graphicData>
        </a:graphic>
      </p:graphicFrame>
      <p:sp>
        <p:nvSpPr>
          <p:cNvPr id="9" name="Shape 6"/>
          <p:cNvSpPr/>
          <p:nvPr/>
        </p:nvSpPr>
        <p:spPr>
          <a:xfrm>
            <a:off x="658368" y="4535424"/>
            <a:ext cx="3454298" cy="1024128"/>
          </a:xfrm>
          <a:prstGeom prst="roundRect">
            <a:avLst>
              <a:gd name="adj" fmla="val 4018"/>
            </a:avLst>
          </a:prstGeom>
          <a:solidFill>
            <a:srgbClr val="1F1D19"/>
          </a:solidFill>
          <a:ln w="9525">
            <a:solidFill>
              <a:srgbClr val="6E5730"/>
            </a:solidFill>
            <a:prstDash val="solid"/>
          </a:ln>
        </p:spPr>
      </p:sp>
      <p:sp>
        <p:nvSpPr>
          <p:cNvPr id="10" name="Text 7"/>
          <p:cNvSpPr/>
          <p:nvPr/>
        </p:nvSpPr>
        <p:spPr>
          <a:xfrm>
            <a:off x="896112" y="4681728"/>
            <a:ext cx="2978810" cy="237744"/>
          </a:xfrm>
          <a:prstGeom prst="rect">
            <a:avLst/>
          </a:prstGeom>
          <a:noFill/>
          <a:ln/>
        </p:spPr>
        <p:txBody>
          <a:bodyPr wrap="square" lIns="0" tIns="0" rIns="0" bIns="0" rtlCol="0" anchor="ctr"/>
          <a:lstStyle/>
          <a:p>
            <a:pPr indent="0" marL="0">
              <a:buNone/>
            </a:pPr>
            <a:r>
              <a:rPr lang="en-US" sz="1150" b="1" dirty="0">
                <a:solidFill>
                  <a:srgbClr val="C9A96E"/>
                </a:solidFill>
                <a:latin typeface="Yu Gothic" pitchFamily="34" charset="0"/>
                <a:ea typeface="Yu Gothic" pitchFamily="34" charset="-122"/>
                <a:cs typeface="Yu Gothic" pitchFamily="34" charset="-120"/>
              </a:rPr>
              <a:t>主線の提示レンジ</a:t>
            </a:r>
            <a:endParaRPr lang="en-US" sz="1150" dirty="0"/>
          </a:p>
        </p:txBody>
      </p:sp>
      <p:sp>
        <p:nvSpPr>
          <p:cNvPr id="11" name="Text 8"/>
          <p:cNvSpPr/>
          <p:nvPr/>
        </p:nvSpPr>
        <p:spPr>
          <a:xfrm>
            <a:off x="896112" y="4956048"/>
            <a:ext cx="2978810" cy="493776"/>
          </a:xfrm>
          <a:prstGeom prst="rect">
            <a:avLst/>
          </a:prstGeom>
          <a:noFill/>
          <a:ln/>
        </p:spPr>
        <p:txBody>
          <a:bodyPr wrap="square" lIns="0" tIns="0" rIns="0" bIns="0" rtlCol="0" anchor="ctr"/>
          <a:lstStyle/>
          <a:p>
            <a:pPr indent="0" marL="0">
              <a:lnSpc>
                <a:spcPct val="120000"/>
              </a:lnSpc>
              <a:buNone/>
            </a:pPr>
            <a:r>
              <a:rPr lang="en-US" sz="950" dirty="0">
                <a:solidFill>
                  <a:srgbClr val="9A938A"/>
                </a:solidFill>
                <a:latin typeface="Yu Gothic" pitchFamily="34" charset="0"/>
                <a:ea typeface="Yu Gothic" pitchFamily="34" charset="-122"/>
                <a:cs typeface="Yu Gothic" pitchFamily="34" charset="-120"/>
              </a:rPr>
              <a:t>回転12ヶ月で投資家利回り21.0%（年105百万円）。想定レンジ9〜18ヶ月では14.9〜27.1%となり、20%を確保できるのは回転12.7ヶ月までとなる。</a:t>
            </a:r>
            <a:endParaRPr lang="en-US" sz="950" dirty="0"/>
          </a:p>
        </p:txBody>
      </p:sp>
      <p:sp>
        <p:nvSpPr>
          <p:cNvPr id="12" name="Shape 9"/>
          <p:cNvSpPr/>
          <p:nvPr/>
        </p:nvSpPr>
        <p:spPr>
          <a:xfrm>
            <a:off x="4368698" y="4535424"/>
            <a:ext cx="3454298" cy="1024128"/>
          </a:xfrm>
          <a:prstGeom prst="roundRect">
            <a:avLst>
              <a:gd name="adj" fmla="val 4018"/>
            </a:avLst>
          </a:prstGeom>
          <a:solidFill>
            <a:srgbClr val="171614"/>
          </a:solidFill>
          <a:ln w="9525">
            <a:solidFill>
              <a:srgbClr val="2E2A24"/>
            </a:solidFill>
            <a:prstDash val="solid"/>
          </a:ln>
        </p:spPr>
      </p:sp>
      <p:sp>
        <p:nvSpPr>
          <p:cNvPr id="13" name="Text 10"/>
          <p:cNvSpPr/>
          <p:nvPr/>
        </p:nvSpPr>
        <p:spPr>
          <a:xfrm>
            <a:off x="4606442" y="4681728"/>
            <a:ext cx="2978810" cy="237744"/>
          </a:xfrm>
          <a:prstGeom prst="rect">
            <a:avLst/>
          </a:prstGeom>
          <a:noFill/>
          <a:ln/>
        </p:spPr>
        <p:txBody>
          <a:bodyPr wrap="square" lIns="0" tIns="0" rIns="0" bIns="0" rtlCol="0" anchor="ctr"/>
          <a:lstStyle/>
          <a:p>
            <a:pPr indent="0" marL="0">
              <a:buNone/>
            </a:pPr>
            <a:r>
              <a:rPr lang="en-US" sz="1150" b="1" dirty="0">
                <a:solidFill>
                  <a:srgbClr val="EFEBE3"/>
                </a:solidFill>
                <a:latin typeface="Yu Gothic" pitchFamily="34" charset="0"/>
                <a:ea typeface="Yu Gothic" pitchFamily="34" charset="-122"/>
                <a:cs typeface="Yu Gothic" pitchFamily="34" charset="-120"/>
              </a:rPr>
              <a:t>上振れの条件</a:t>
            </a:r>
            <a:endParaRPr lang="en-US" sz="1150" dirty="0"/>
          </a:p>
        </p:txBody>
      </p:sp>
      <p:sp>
        <p:nvSpPr>
          <p:cNvPr id="14" name="Text 11"/>
          <p:cNvSpPr/>
          <p:nvPr/>
        </p:nvSpPr>
        <p:spPr>
          <a:xfrm>
            <a:off x="4606442" y="4956048"/>
            <a:ext cx="2978810" cy="493776"/>
          </a:xfrm>
          <a:prstGeom prst="rect">
            <a:avLst/>
          </a:prstGeom>
          <a:noFill/>
          <a:ln/>
        </p:spPr>
        <p:txBody>
          <a:bodyPr wrap="square" lIns="0" tIns="0" rIns="0" bIns="0" rtlCol="0" anchor="ctr"/>
          <a:lstStyle/>
          <a:p>
            <a:pPr indent="0" marL="0">
              <a:lnSpc>
                <a:spcPct val="120000"/>
              </a:lnSpc>
              <a:buNone/>
            </a:pPr>
            <a:r>
              <a:rPr lang="en-US" sz="950" dirty="0">
                <a:solidFill>
                  <a:srgbClr val="9A938A"/>
                </a:solidFill>
                <a:latin typeface="Yu Gothic" pitchFamily="34" charset="0"/>
                <a:ea typeface="Yu Gothic" pitchFamily="34" charset="-122"/>
                <a:cs typeface="Yu Gothic" pitchFamily="34" charset="-120"/>
              </a:rPr>
              <a:t>調達をインポーター直に寄せた場合の水準。ただし回転12ヶ月で年間10億円の販売を要するため、現状は到達しない。上限の目安。</a:t>
            </a:r>
            <a:endParaRPr lang="en-US" sz="950" dirty="0"/>
          </a:p>
        </p:txBody>
      </p:sp>
      <p:sp>
        <p:nvSpPr>
          <p:cNvPr id="15" name="Shape 12"/>
          <p:cNvSpPr/>
          <p:nvPr/>
        </p:nvSpPr>
        <p:spPr>
          <a:xfrm>
            <a:off x="8079029" y="4535424"/>
            <a:ext cx="3454298" cy="1024128"/>
          </a:xfrm>
          <a:prstGeom prst="roundRect">
            <a:avLst>
              <a:gd name="adj" fmla="val 4018"/>
            </a:avLst>
          </a:prstGeom>
          <a:solidFill>
            <a:srgbClr val="171614"/>
          </a:solidFill>
          <a:ln w="9525">
            <a:solidFill>
              <a:srgbClr val="2E2A24"/>
            </a:solidFill>
            <a:prstDash val="solid"/>
          </a:ln>
        </p:spPr>
      </p:sp>
      <p:sp>
        <p:nvSpPr>
          <p:cNvPr id="16" name="Text 13"/>
          <p:cNvSpPr/>
          <p:nvPr/>
        </p:nvSpPr>
        <p:spPr>
          <a:xfrm>
            <a:off x="8316773" y="4681728"/>
            <a:ext cx="2978810" cy="237744"/>
          </a:xfrm>
          <a:prstGeom prst="rect">
            <a:avLst/>
          </a:prstGeom>
          <a:noFill/>
          <a:ln/>
        </p:spPr>
        <p:txBody>
          <a:bodyPr wrap="square" lIns="0" tIns="0" rIns="0" bIns="0" rtlCol="0" anchor="ctr"/>
          <a:lstStyle/>
          <a:p>
            <a:pPr indent="0" marL="0">
              <a:buNone/>
            </a:pPr>
            <a:r>
              <a:rPr lang="en-US" sz="1150" b="1" dirty="0">
                <a:solidFill>
                  <a:srgbClr val="EFEBE3"/>
                </a:solidFill>
                <a:latin typeface="Yu Gothic" pitchFamily="34" charset="0"/>
                <a:ea typeface="Yu Gothic" pitchFamily="34" charset="-122"/>
                <a:cs typeface="Yu Gothic" pitchFamily="34" charset="-120"/>
              </a:rPr>
              <a:t>下振れの限界</a:t>
            </a:r>
            <a:endParaRPr lang="en-US" sz="1150" dirty="0"/>
          </a:p>
        </p:txBody>
      </p:sp>
      <p:sp>
        <p:nvSpPr>
          <p:cNvPr id="17" name="Text 14"/>
          <p:cNvSpPr/>
          <p:nvPr/>
        </p:nvSpPr>
        <p:spPr>
          <a:xfrm>
            <a:off x="8316773" y="4956048"/>
            <a:ext cx="2978810" cy="493776"/>
          </a:xfrm>
          <a:prstGeom prst="rect">
            <a:avLst/>
          </a:prstGeom>
          <a:noFill/>
          <a:ln/>
        </p:spPr>
        <p:txBody>
          <a:bodyPr wrap="square" lIns="0" tIns="0" rIns="0" bIns="0" rtlCol="0" anchor="ctr"/>
          <a:lstStyle/>
          <a:p>
            <a:pPr indent="0" marL="0">
              <a:lnSpc>
                <a:spcPct val="120000"/>
              </a:lnSpc>
              <a:buNone/>
            </a:pPr>
            <a:r>
              <a:rPr lang="en-US" sz="950" dirty="0">
                <a:solidFill>
                  <a:srgbClr val="9A938A"/>
                </a:solidFill>
                <a:latin typeface="Yu Gothic" pitchFamily="34" charset="0"/>
                <a:ea typeface="Yu Gothic" pitchFamily="34" charset="-122"/>
                <a:cs typeface="Yu Gothic" pitchFamily="34" charset="-120"/>
              </a:rPr>
              <a:t>値引き5%と価格横ばいが重なった場合、想定レンジ内では20%に届かない（分岐点は回転8.5ヶ月）。値引き販売の禁止が最優先の防衛線となる。</a:t>
            </a:r>
            <a:endParaRPr lang="en-US" sz="9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0C0C0C"/>
        </a:solidFill>
      </p:bgPr>
    </p:bg>
    <p:spTree>
      <p:nvGrpSpPr>
        <p:cNvPr id="1" name=""/>
        <p:cNvGrpSpPr/>
        <p:nvPr/>
      </p:nvGrpSpPr>
      <p:grpSpPr>
        <a:xfrm>
          <a:off x="0" y="0"/>
          <a:ext cx="0" cy="0"/>
          <a:chOff x="0" y="0"/>
          <a:chExt cx="0" cy="0"/>
        </a:xfrm>
      </p:grpSpPr>
      <p:sp>
        <p:nvSpPr>
          <p:cNvPr id="2" name="Text 0"/>
          <p:cNvSpPr/>
          <p:nvPr/>
        </p:nvSpPr>
        <p:spPr>
          <a:xfrm>
            <a:off x="658368" y="384048"/>
            <a:ext cx="10874959" cy="219456"/>
          </a:xfrm>
          <a:prstGeom prst="rect">
            <a:avLst/>
          </a:prstGeom>
          <a:noFill/>
          <a:ln/>
        </p:spPr>
        <p:txBody>
          <a:bodyPr wrap="square" lIns="0" tIns="0" rIns="0" bIns="0" rtlCol="0" anchor="ctr"/>
          <a:lstStyle/>
          <a:p>
            <a:pPr indent="0" marL="0">
              <a:buNone/>
            </a:pPr>
            <a:r>
              <a:rPr lang="en-US" sz="1050" b="1" spc="340" kern="0" dirty="0">
                <a:solidFill>
                  <a:srgbClr val="A78450"/>
                </a:solidFill>
                <a:latin typeface="Cambria" pitchFamily="34" charset="0"/>
                <a:ea typeface="Cambria" pitchFamily="34" charset="-122"/>
                <a:cs typeface="Cambria" pitchFamily="34" charset="-120"/>
              </a:rPr>
              <a:t>SENSITIVITY</a:t>
            </a:r>
            <a:endParaRPr lang="en-US" sz="1050" dirty="0"/>
          </a:p>
        </p:txBody>
      </p:sp>
      <p:sp>
        <p:nvSpPr>
          <p:cNvPr id="3" name="Text 1"/>
          <p:cNvSpPr/>
          <p:nvPr/>
        </p:nvSpPr>
        <p:spPr>
          <a:xfrm>
            <a:off x="658368" y="640080"/>
            <a:ext cx="10874959" cy="548640"/>
          </a:xfrm>
          <a:prstGeom prst="rect">
            <a:avLst/>
          </a:prstGeom>
          <a:noFill/>
          <a:ln/>
        </p:spPr>
        <p:txBody>
          <a:bodyPr wrap="square" lIns="0" tIns="0" rIns="0" bIns="0" rtlCol="0" anchor="ctr"/>
          <a:lstStyle/>
          <a:p>
            <a:pPr indent="0" marL="0">
              <a:buNone/>
            </a:pPr>
            <a:r>
              <a:rPr lang="en-US" sz="2700" b="1" dirty="0">
                <a:solidFill>
                  <a:srgbClr val="EFEBE3"/>
                </a:solidFill>
                <a:latin typeface="Yu Mincho" pitchFamily="34" charset="0"/>
                <a:ea typeface="Yu Mincho" pitchFamily="34" charset="-122"/>
                <a:cs typeface="Yu Mincho" pitchFamily="34" charset="-120"/>
              </a:rPr>
              <a:t>感応度：何が崩れると利回りがどう動くか</a:t>
            </a:r>
            <a:endParaRPr lang="en-US" sz="2700" dirty="0"/>
          </a:p>
        </p:txBody>
      </p:sp>
      <p:sp>
        <p:nvSpPr>
          <p:cNvPr id="4" name="Text 2"/>
          <p:cNvSpPr/>
          <p:nvPr/>
        </p:nvSpPr>
        <p:spPr>
          <a:xfrm>
            <a:off x="658368" y="1216152"/>
            <a:ext cx="10874959" cy="310896"/>
          </a:xfrm>
          <a:prstGeom prst="rect">
            <a:avLst/>
          </a:prstGeom>
          <a:noFill/>
          <a:ln/>
        </p:spPr>
        <p:txBody>
          <a:bodyPr wrap="square" lIns="0" tIns="0" rIns="0" bIns="0" rtlCol="0" anchor="ctr"/>
          <a:lstStyle/>
          <a:p>
            <a:pPr indent="0" marL="0">
              <a:buNone/>
            </a:pPr>
            <a:r>
              <a:rPr lang="en-US" sz="1150" dirty="0">
                <a:solidFill>
                  <a:srgbClr val="9A938A"/>
                </a:solidFill>
                <a:latin typeface="Yu Gothic" pitchFamily="34" charset="0"/>
                <a:ea typeface="Yu Gothic" pitchFamily="34" charset="-122"/>
                <a:cs typeface="Yu Gothic" pitchFamily="34" charset="-120"/>
              </a:rPr>
              <a:t>主線（在庫回転12ヶ月・投資家利回り21.0%）を基準とした、各変数の単独変動による影響。</a:t>
            </a:r>
            <a:endParaRPr lang="en-US" sz="1150" dirty="0"/>
          </a:p>
        </p:txBody>
      </p:sp>
      <p:sp>
        <p:nvSpPr>
          <p:cNvPr id="5" name="Text 3"/>
          <p:cNvSpPr/>
          <p:nvPr/>
        </p:nvSpPr>
        <p:spPr>
          <a:xfrm>
            <a:off x="658368" y="6437376"/>
            <a:ext cx="5029200" cy="219456"/>
          </a:xfrm>
          <a:prstGeom prst="rect">
            <a:avLst/>
          </a:prstGeom>
          <a:noFill/>
          <a:ln/>
        </p:spPr>
        <p:txBody>
          <a:bodyPr wrap="square" lIns="0" tIns="0" rIns="0" bIns="0" rtlCol="0" anchor="ctr"/>
          <a:lstStyle/>
          <a:p>
            <a:pPr indent="0" marL="0">
              <a:buNone/>
            </a:pPr>
            <a:r>
              <a:rPr lang="en-US" sz="850" dirty="0">
                <a:solidFill>
                  <a:srgbClr val="6E675E"/>
                </a:solidFill>
                <a:latin typeface="Yu Gothic" pitchFamily="34" charset="0"/>
                <a:ea typeface="Yu Gothic" pitchFamily="34" charset="-122"/>
                <a:cs typeface="Yu Gothic" pitchFamily="34" charset="-120"/>
              </a:rPr>
              <a:t>CONFIDENTIAL ｜ 株式会社WineBank</a:t>
            </a:r>
            <a:endParaRPr lang="en-US" sz="850" dirty="0"/>
          </a:p>
        </p:txBody>
      </p:sp>
      <p:sp>
        <p:nvSpPr>
          <p:cNvPr id="6" name="Text 4"/>
          <p:cNvSpPr/>
          <p:nvPr/>
        </p:nvSpPr>
        <p:spPr>
          <a:xfrm>
            <a:off x="10618927" y="6437376"/>
            <a:ext cx="914400" cy="219456"/>
          </a:xfrm>
          <a:prstGeom prst="rect">
            <a:avLst/>
          </a:prstGeom>
          <a:noFill/>
          <a:ln/>
        </p:spPr>
        <p:txBody>
          <a:bodyPr wrap="square" lIns="0" tIns="0" rIns="0" bIns="0" rtlCol="0" anchor="ctr"/>
          <a:lstStyle/>
          <a:p>
            <a:pPr algn="r" indent="0" marL="0">
              <a:buNone/>
            </a:pPr>
            <a:r>
              <a:rPr lang="en-US" sz="950" spc="150" kern="0" dirty="0">
                <a:solidFill>
                  <a:srgbClr val="6E5730"/>
                </a:solidFill>
                <a:latin typeface="Cambria" pitchFamily="34" charset="0"/>
                <a:ea typeface="Cambria" pitchFamily="34" charset="-122"/>
                <a:cs typeface="Cambria" pitchFamily="34" charset="-120"/>
              </a:rPr>
              <a:t>15</a:t>
            </a:r>
            <a:endParaRPr lang="en-US" sz="950" dirty="0"/>
          </a:p>
        </p:txBody>
      </p:sp>
      <p:graphicFrame>
        <p:nvGraphicFramePr>
          <p:cNvPr id="17" name="Table 0"/>
          <p:cNvGraphicFramePr>
            <a:graphicFrameLocks noGrp="1"/>
          </p:cNvGraphicFramePr>
          <p:nvPr>
            <p:extLst>
              <p:ext uri="{D42A27DB-BD31-4B8C-83A1-F6EECF244321}">
                <p14:modId xmlns:p14="http://schemas.microsoft.com/office/powerpoint/2010/main" val="1579011935"/>
              </p:ext>
            </p:extLst>
          </p:nvPr>
        </p:nvGraphicFramePr>
        <p:xfrm>
          <a:off x="658368" y="1645920"/>
          <a:ext cx="10874959" cy="914400"/>
        </p:xfrm>
        <a:graphic>
          <a:graphicData uri="http://schemas.openxmlformats.org/drawingml/2006/table">
            <a:tbl>
              <a:tblPr/>
              <a:tblGrid>
                <a:gridCol w="1792224"/>
                <a:gridCol w="2212848"/>
                <a:gridCol w="2359152"/>
                <a:gridCol w="877824"/>
                <a:gridCol w="3630168"/>
              </a:tblGrid>
              <a:tr h="356616">
                <a:tc>
                  <a:txBody>
                    <a:bodyPr/>
                    <a:lstStyle/>
                    <a:p>
                      <a:pPr algn="ctr" indent="0" marL="0">
                        <a:buNone/>
                      </a:pPr>
                      <a:r>
                        <a:rPr lang="en-US" sz="950" b="1" dirty="0">
                          <a:solidFill>
                            <a:srgbClr val="C9A96E"/>
                          </a:solidFill>
                          <a:latin typeface="Yu Gothic" pitchFamily="34" charset="0"/>
                          <a:ea typeface="Yu Gothic" pitchFamily="34" charset="-122"/>
                          <a:cs typeface="Yu Gothic" pitchFamily="34" charset="-120"/>
                        </a:rPr>
                        <a:t>変動要因</a:t>
                      </a:r>
                      <a:endParaRPr lang="en-US" sz="9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231F1A"/>
                    </a:solidFill>
                  </a:tcPr>
                </a:tc>
                <a:tc>
                  <a:txBody>
                    <a:bodyPr/>
                    <a:lstStyle/>
                    <a:p>
                      <a:pPr algn="ctr" indent="0" marL="0">
                        <a:buNone/>
                      </a:pPr>
                      <a:r>
                        <a:rPr lang="en-US" sz="950" b="1" dirty="0">
                          <a:solidFill>
                            <a:srgbClr val="C9A96E"/>
                          </a:solidFill>
                          <a:latin typeface="Yu Gothic" pitchFamily="34" charset="0"/>
                          <a:ea typeface="Yu Gothic" pitchFamily="34" charset="-122"/>
                          <a:cs typeface="Yu Gothic" pitchFamily="34" charset="-120"/>
                        </a:rPr>
                        <a:t>変動幅</a:t>
                      </a:r>
                      <a:endParaRPr lang="en-US" sz="9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231F1A"/>
                    </a:solidFill>
                  </a:tcPr>
                </a:tc>
                <a:tc>
                  <a:txBody>
                    <a:bodyPr/>
                    <a:lstStyle/>
                    <a:p>
                      <a:pPr algn="ctr" indent="0" marL="0">
                        <a:buNone/>
                      </a:pPr>
                      <a:r>
                        <a:rPr lang="en-US" sz="950" b="1" dirty="0">
                          <a:solidFill>
                            <a:srgbClr val="C9A96E"/>
                          </a:solidFill>
                          <a:latin typeface="Yu Gothic" pitchFamily="34" charset="0"/>
                          <a:ea typeface="Yu Gothic" pitchFamily="34" charset="-122"/>
                          <a:cs typeface="Yu Gothic" pitchFamily="34" charset="-120"/>
                        </a:rPr>
                        <a:t>投資家利回りへの影響</a:t>
                      </a:r>
                      <a:endParaRPr lang="en-US" sz="9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231F1A"/>
                    </a:solidFill>
                  </a:tcPr>
                </a:tc>
                <a:tc>
                  <a:txBody>
                    <a:bodyPr/>
                    <a:lstStyle/>
                    <a:p>
                      <a:pPr algn="ctr" indent="0" marL="0">
                        <a:buNone/>
                      </a:pPr>
                      <a:r>
                        <a:rPr lang="en-US" sz="950" b="1" dirty="0">
                          <a:solidFill>
                            <a:srgbClr val="C9A96E"/>
                          </a:solidFill>
                          <a:latin typeface="Yu Gothic" pitchFamily="34" charset="0"/>
                          <a:ea typeface="Yu Gothic" pitchFamily="34" charset="-122"/>
                          <a:cs typeface="Yu Gothic" pitchFamily="34" charset="-120"/>
                        </a:rPr>
                        <a:t>深刻度</a:t>
                      </a:r>
                      <a:endParaRPr lang="en-US" sz="9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231F1A"/>
                    </a:solidFill>
                  </a:tcPr>
                </a:tc>
                <a:tc>
                  <a:txBody>
                    <a:bodyPr/>
                    <a:lstStyle/>
                    <a:p>
                      <a:pPr algn="ctr" indent="0" marL="0">
                        <a:buNone/>
                      </a:pPr>
                      <a:r>
                        <a:rPr lang="en-US" sz="950" b="1" dirty="0">
                          <a:solidFill>
                            <a:srgbClr val="C9A96E"/>
                          </a:solidFill>
                          <a:latin typeface="Yu Gothic" pitchFamily="34" charset="0"/>
                          <a:ea typeface="Yu Gothic" pitchFamily="34" charset="-122"/>
                          <a:cs typeface="Yu Gothic" pitchFamily="34" charset="-120"/>
                        </a:rPr>
                        <a:t>対応方針</a:t>
                      </a:r>
                      <a:endParaRPr lang="en-US" sz="9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231F1A"/>
                    </a:solidFill>
                  </a:tcPr>
                </a:tc>
              </a:tr>
              <a:tr h="356616">
                <a:tc>
                  <a:txBody>
                    <a:bodyPr/>
                    <a:lstStyle/>
                    <a:p>
                      <a:pPr algn="ctr" indent="0" marL="0">
                        <a:buNone/>
                      </a:pPr>
                      <a:r>
                        <a:rPr lang="en-US" sz="1000" dirty="0">
                          <a:solidFill>
                            <a:srgbClr val="EFEBE3"/>
                          </a:solidFill>
                          <a:latin typeface="Yu Gothic" pitchFamily="34" charset="0"/>
                          <a:ea typeface="Yu Gothic" pitchFamily="34" charset="-122"/>
                          <a:cs typeface="Yu Gothic" pitchFamily="34" charset="-120"/>
                        </a:rPr>
                        <a:t>在庫回転期間</a:t>
                      </a:r>
                      <a:endParaRPr lang="en-US" sz="10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1000" dirty="0">
                          <a:solidFill>
                            <a:srgbClr val="EFEBE3"/>
                          </a:solidFill>
                          <a:latin typeface="Yu Gothic" pitchFamily="34" charset="0"/>
                          <a:ea typeface="Yu Gothic" pitchFamily="34" charset="-122"/>
                          <a:cs typeface="Yu Gothic" pitchFamily="34" charset="-120"/>
                        </a:rPr>
                        <a:t>12ヶ月 → 18ヶ月</a:t>
                      </a:r>
                      <a:endParaRPr lang="en-US" sz="10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1000" b="1" dirty="0">
                          <a:solidFill>
                            <a:srgbClr val="B4553F"/>
                          </a:solidFill>
                          <a:latin typeface="Yu Gothic" pitchFamily="34" charset="0"/>
                          <a:ea typeface="Yu Gothic" pitchFamily="34" charset="-122"/>
                          <a:cs typeface="Yu Gothic" pitchFamily="34" charset="-120"/>
                        </a:rPr>
                        <a:t>21.0% → 14.9%（▲6.1pt）</a:t>
                      </a:r>
                      <a:endParaRPr lang="en-US" sz="10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1000" b="1" dirty="0">
                          <a:solidFill>
                            <a:srgbClr val="B4553F"/>
                          </a:solidFill>
                          <a:latin typeface="Yu Gothic" pitchFamily="34" charset="0"/>
                          <a:ea typeface="Yu Gothic" pitchFamily="34" charset="-122"/>
                          <a:cs typeface="Yu Gothic" pitchFamily="34" charset="-120"/>
                        </a:rPr>
                        <a:t>最大</a:t>
                      </a:r>
                      <a:endParaRPr lang="en-US" sz="10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l" indent="0" marL="0">
                        <a:buNone/>
                      </a:pPr>
                      <a:r>
                        <a:rPr lang="en-US" sz="1000" dirty="0">
                          <a:solidFill>
                            <a:srgbClr val="EFEBE3"/>
                          </a:solidFill>
                          <a:latin typeface="Yu Gothic" pitchFamily="34" charset="0"/>
                          <a:ea typeface="Yu Gothic" pitchFamily="34" charset="-122"/>
                          <a:cs typeface="Yu Gothic" pitchFamily="34" charset="-120"/>
                        </a:rPr>
                        <a:t>組入銘柄の選定・販売チャネルの多重化</a:t>
                      </a:r>
                      <a:endParaRPr lang="en-US" sz="10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r>
              <a:tr h="356616">
                <a:tc>
                  <a:txBody>
                    <a:bodyPr/>
                    <a:lstStyle/>
                    <a:p>
                      <a:pPr algn="ctr" indent="0" marL="0">
                        <a:buNone/>
                      </a:pPr>
                      <a:r>
                        <a:rPr lang="en-US" sz="1000" dirty="0">
                          <a:solidFill>
                            <a:srgbClr val="EFEBE3"/>
                          </a:solidFill>
                          <a:latin typeface="Yu Gothic" pitchFamily="34" charset="0"/>
                          <a:ea typeface="Yu Gothic" pitchFamily="34" charset="-122"/>
                          <a:cs typeface="Yu Gothic" pitchFamily="34" charset="-120"/>
                        </a:rPr>
                        <a:t>ワイン価格上昇率</a:t>
                      </a:r>
                      <a:endParaRPr lang="en-US" sz="10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1000" dirty="0">
                          <a:solidFill>
                            <a:srgbClr val="EFEBE3"/>
                          </a:solidFill>
                          <a:latin typeface="Yu Gothic" pitchFamily="34" charset="0"/>
                          <a:ea typeface="Yu Gothic" pitchFamily="34" charset="-122"/>
                          <a:cs typeface="Yu Gothic" pitchFamily="34" charset="-120"/>
                        </a:rPr>
                        <a:t>年6% → 0%（横ばい）</a:t>
                      </a:r>
                      <a:endParaRPr lang="en-US" sz="10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1000" dirty="0">
                          <a:solidFill>
                            <a:srgbClr val="B4553F"/>
                          </a:solidFill>
                          <a:latin typeface="Yu Gothic" pitchFamily="34" charset="0"/>
                          <a:ea typeface="Yu Gothic" pitchFamily="34" charset="-122"/>
                          <a:cs typeface="Yu Gothic" pitchFamily="34" charset="-120"/>
                        </a:rPr>
                        <a:t>21.0% → 17.0%（▲4.0pt）</a:t>
                      </a:r>
                      <a:endParaRPr lang="en-US" sz="10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1000" dirty="0">
                          <a:solidFill>
                            <a:srgbClr val="B4553F"/>
                          </a:solidFill>
                          <a:latin typeface="Yu Gothic" pitchFamily="34" charset="0"/>
                          <a:ea typeface="Yu Gothic" pitchFamily="34" charset="-122"/>
                          <a:cs typeface="Yu Gothic" pitchFamily="34" charset="-120"/>
                        </a:rPr>
                        <a:t>大</a:t>
                      </a:r>
                      <a:endParaRPr lang="en-US" sz="10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l" indent="0" marL="0">
                        <a:buNone/>
                      </a:pPr>
                      <a:r>
                        <a:rPr lang="en-US" sz="1000" dirty="0">
                          <a:solidFill>
                            <a:srgbClr val="EFEBE3"/>
                          </a:solidFill>
                          <a:latin typeface="Yu Gothic" pitchFamily="34" charset="0"/>
                          <a:ea typeface="Yu Gothic" pitchFamily="34" charset="-122"/>
                          <a:cs typeface="Yu Gothic" pitchFamily="34" charset="-120"/>
                        </a:rPr>
                        <a:t>回転期間を短縮し、価格差収益の比重を高める</a:t>
                      </a:r>
                      <a:endParaRPr lang="en-US" sz="10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r>
              <a:tr h="356616">
                <a:tc>
                  <a:txBody>
                    <a:bodyPr/>
                    <a:lstStyle/>
                    <a:p>
                      <a:pPr algn="ctr" indent="0" marL="0">
                        <a:buNone/>
                      </a:pPr>
                      <a:r>
                        <a:rPr lang="en-US" sz="1000" dirty="0">
                          <a:solidFill>
                            <a:srgbClr val="EFEBE3"/>
                          </a:solidFill>
                          <a:latin typeface="Yu Gothic" pitchFamily="34" charset="0"/>
                          <a:ea typeface="Yu Gothic" pitchFamily="34" charset="-122"/>
                          <a:cs typeface="Yu Gothic" pitchFamily="34" charset="-120"/>
                        </a:rPr>
                        <a:t>売却価格</a:t>
                      </a:r>
                      <a:endParaRPr lang="en-US" sz="10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1000" dirty="0">
                          <a:solidFill>
                            <a:srgbClr val="EFEBE3"/>
                          </a:solidFill>
                          <a:latin typeface="Yu Gothic" pitchFamily="34" charset="0"/>
                          <a:ea typeface="Yu Gothic" pitchFamily="34" charset="-122"/>
                          <a:cs typeface="Yu Gothic" pitchFamily="34" charset="-120"/>
                        </a:rPr>
                        <a:t>売値 ▲5%（70/80→66.5/76）</a:t>
                      </a:r>
                      <a:endParaRPr lang="en-US" sz="10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1000" dirty="0">
                          <a:solidFill>
                            <a:srgbClr val="B4553F"/>
                          </a:solidFill>
                          <a:latin typeface="Yu Gothic" pitchFamily="34" charset="0"/>
                          <a:ea typeface="Yu Gothic" pitchFamily="34" charset="-122"/>
                          <a:cs typeface="Yu Gothic" pitchFamily="34" charset="-120"/>
                        </a:rPr>
                        <a:t>21.0% → 17.5%（▲3.5pt）</a:t>
                      </a:r>
                      <a:endParaRPr lang="en-US" sz="10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1000" dirty="0">
                          <a:solidFill>
                            <a:srgbClr val="EFEBE3"/>
                          </a:solidFill>
                          <a:latin typeface="Yu Gothic" pitchFamily="34" charset="0"/>
                          <a:ea typeface="Yu Gothic" pitchFamily="34" charset="-122"/>
                          <a:cs typeface="Yu Gothic" pitchFamily="34" charset="-120"/>
                        </a:rPr>
                        <a:t>大</a:t>
                      </a:r>
                      <a:endParaRPr lang="en-US" sz="10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l" indent="0" marL="0">
                        <a:buNone/>
                      </a:pPr>
                      <a:r>
                        <a:rPr lang="en-US" sz="1000" dirty="0">
                          <a:solidFill>
                            <a:srgbClr val="EFEBE3"/>
                          </a:solidFill>
                          <a:latin typeface="Yu Gothic" pitchFamily="34" charset="0"/>
                          <a:ea typeface="Yu Gothic" pitchFamily="34" charset="-122"/>
                          <a:cs typeface="Yu Gothic" pitchFamily="34" charset="-120"/>
                        </a:rPr>
                        <a:t>値引き販売を禁じ、価格維持を運用ルール化</a:t>
                      </a:r>
                      <a:endParaRPr lang="en-US" sz="10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r>
              <a:tr h="356616">
                <a:tc>
                  <a:txBody>
                    <a:bodyPr/>
                    <a:lstStyle/>
                    <a:p>
                      <a:pPr algn="ctr" indent="0" marL="0">
                        <a:buNone/>
                      </a:pPr>
                      <a:r>
                        <a:rPr lang="en-US" sz="1000" dirty="0">
                          <a:solidFill>
                            <a:srgbClr val="EFEBE3"/>
                          </a:solidFill>
                          <a:latin typeface="Yu Gothic" pitchFamily="34" charset="0"/>
                          <a:ea typeface="Yu Gothic" pitchFamily="34" charset="-122"/>
                          <a:cs typeface="Yu Gothic" pitchFamily="34" charset="-120"/>
                        </a:rPr>
                        <a:t>稼働率</a:t>
                      </a:r>
                      <a:endParaRPr lang="en-US" sz="10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1000" dirty="0">
                          <a:solidFill>
                            <a:srgbClr val="EFEBE3"/>
                          </a:solidFill>
                          <a:latin typeface="Yu Gothic" pitchFamily="34" charset="0"/>
                          <a:ea typeface="Yu Gothic" pitchFamily="34" charset="-122"/>
                          <a:cs typeface="Yu Gothic" pitchFamily="34" charset="-120"/>
                        </a:rPr>
                        <a:t>95% → 85%</a:t>
                      </a:r>
                      <a:endParaRPr lang="en-US" sz="10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1000" dirty="0">
                          <a:solidFill>
                            <a:srgbClr val="B4553F"/>
                          </a:solidFill>
                          <a:latin typeface="Yu Gothic" pitchFamily="34" charset="0"/>
                          <a:ea typeface="Yu Gothic" pitchFamily="34" charset="-122"/>
                          <a:cs typeface="Yu Gothic" pitchFamily="34" charset="-120"/>
                        </a:rPr>
                        <a:t>21.0% → 18.7%（▲2.3pt）</a:t>
                      </a:r>
                      <a:endParaRPr lang="en-US" sz="10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1000" dirty="0">
                          <a:solidFill>
                            <a:srgbClr val="EFEBE3"/>
                          </a:solidFill>
                          <a:latin typeface="Yu Gothic" pitchFamily="34" charset="0"/>
                          <a:ea typeface="Yu Gothic" pitchFamily="34" charset="-122"/>
                          <a:cs typeface="Yu Gothic" pitchFamily="34" charset="-120"/>
                        </a:rPr>
                        <a:t>中</a:t>
                      </a:r>
                      <a:endParaRPr lang="en-US" sz="10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l" indent="0" marL="0">
                        <a:buNone/>
                      </a:pPr>
                      <a:r>
                        <a:rPr lang="en-US" sz="1000" dirty="0">
                          <a:solidFill>
                            <a:srgbClr val="EFEBE3"/>
                          </a:solidFill>
                          <a:latin typeface="Yu Gothic" pitchFamily="34" charset="0"/>
                          <a:ea typeface="Yu Gothic" pitchFamily="34" charset="-122"/>
                          <a:cs typeface="Yu Gothic" pitchFamily="34" charset="-120"/>
                        </a:rPr>
                        <a:t>3年経過後の解約に備えた現金比率の設計と表裏</a:t>
                      </a:r>
                      <a:endParaRPr lang="en-US" sz="10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r>
              <a:tr h="356616">
                <a:tc>
                  <a:txBody>
                    <a:bodyPr/>
                    <a:lstStyle/>
                    <a:p>
                      <a:pPr algn="ctr" indent="0" marL="0">
                        <a:buNone/>
                      </a:pPr>
                      <a:r>
                        <a:rPr lang="en-US" sz="1000" dirty="0">
                          <a:solidFill>
                            <a:srgbClr val="EFEBE3"/>
                          </a:solidFill>
                          <a:latin typeface="Yu Gothic" pitchFamily="34" charset="0"/>
                          <a:ea typeface="Yu Gothic" pitchFamily="34" charset="-122"/>
                          <a:cs typeface="Yu Gothic" pitchFamily="34" charset="-120"/>
                        </a:rPr>
                        <a:t>B2Cのモール手数料</a:t>
                      </a:r>
                      <a:endParaRPr lang="en-US" sz="10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1000" dirty="0">
                          <a:solidFill>
                            <a:srgbClr val="EFEBE3"/>
                          </a:solidFill>
                          <a:latin typeface="Yu Gothic" pitchFamily="34" charset="0"/>
                          <a:ea typeface="Yu Gothic" pitchFamily="34" charset="-122"/>
                          <a:cs typeface="Yu Gothic" pitchFamily="34" charset="-120"/>
                        </a:rPr>
                        <a:t>5.5% → 8.0%</a:t>
                      </a:r>
                      <a:endParaRPr lang="en-US" sz="10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1000" dirty="0">
                          <a:solidFill>
                            <a:srgbClr val="9A938A"/>
                          </a:solidFill>
                          <a:latin typeface="Yu Gothic" pitchFamily="34" charset="0"/>
                          <a:ea typeface="Yu Gothic" pitchFamily="34" charset="-122"/>
                          <a:cs typeface="Yu Gothic" pitchFamily="34" charset="-120"/>
                        </a:rPr>
                        <a:t>21.0% → 20.0%（▲1.0pt）</a:t>
                      </a:r>
                      <a:endParaRPr lang="en-US" sz="10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1000" dirty="0">
                          <a:solidFill>
                            <a:srgbClr val="EFEBE3"/>
                          </a:solidFill>
                          <a:latin typeface="Yu Gothic" pitchFamily="34" charset="0"/>
                          <a:ea typeface="Yu Gothic" pitchFamily="34" charset="-122"/>
                          <a:cs typeface="Yu Gothic" pitchFamily="34" charset="-120"/>
                        </a:rPr>
                        <a:t>小</a:t>
                      </a:r>
                      <a:endParaRPr lang="en-US" sz="10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l" indent="0" marL="0">
                        <a:buNone/>
                      </a:pPr>
                      <a:r>
                        <a:rPr lang="en-US" sz="1000" dirty="0">
                          <a:solidFill>
                            <a:srgbClr val="EFEBE3"/>
                          </a:solidFill>
                          <a:latin typeface="Yu Gothic" pitchFamily="34" charset="0"/>
                          <a:ea typeface="Yu Gothic" pitchFamily="34" charset="-122"/>
                          <a:cs typeface="Yu Gothic" pitchFamily="34" charset="-120"/>
                        </a:rPr>
                        <a:t>自社EC・自社オークションの構成比を引き上げる</a:t>
                      </a:r>
                      <a:endParaRPr lang="en-US" sz="10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r>
              <a:tr h="356616">
                <a:tc>
                  <a:txBody>
                    <a:bodyPr/>
                    <a:lstStyle/>
                    <a:p>
                      <a:pPr algn="ctr" indent="0" marL="0">
                        <a:buNone/>
                      </a:pPr>
                      <a:r>
                        <a:rPr lang="en-US" sz="1000" dirty="0">
                          <a:solidFill>
                            <a:srgbClr val="EFEBE3"/>
                          </a:solidFill>
                          <a:latin typeface="Yu Gothic" pitchFamily="34" charset="0"/>
                          <a:ea typeface="Yu Gothic" pitchFamily="34" charset="-122"/>
                          <a:cs typeface="Yu Gothic" pitchFamily="34" charset="-120"/>
                        </a:rPr>
                        <a:t>ワイン価格上昇率</a:t>
                      </a:r>
                      <a:endParaRPr lang="en-US" sz="10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1000" dirty="0">
                          <a:solidFill>
                            <a:srgbClr val="EFEBE3"/>
                          </a:solidFill>
                          <a:latin typeface="Yu Gothic" pitchFamily="34" charset="0"/>
                          <a:ea typeface="Yu Gothic" pitchFamily="34" charset="-122"/>
                          <a:cs typeface="Yu Gothic" pitchFamily="34" charset="-120"/>
                        </a:rPr>
                        <a:t>年6% → 10%（会社資料水準）</a:t>
                      </a:r>
                      <a:endParaRPr lang="en-US" sz="10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1000" dirty="0">
                          <a:solidFill>
                            <a:srgbClr val="C9A96E"/>
                          </a:solidFill>
                          <a:latin typeface="Yu Gothic" pitchFamily="34" charset="0"/>
                          <a:ea typeface="Yu Gothic" pitchFamily="34" charset="-122"/>
                          <a:cs typeface="Yu Gothic" pitchFamily="34" charset="-120"/>
                        </a:rPr>
                        <a:t>21.0% → 23.6%（＋2.6pt）</a:t>
                      </a:r>
                      <a:endParaRPr lang="en-US" sz="10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1000" dirty="0">
                          <a:solidFill>
                            <a:srgbClr val="C9A96E"/>
                          </a:solidFill>
                          <a:latin typeface="Yu Gothic" pitchFamily="34" charset="0"/>
                          <a:ea typeface="Yu Gothic" pitchFamily="34" charset="-122"/>
                          <a:cs typeface="Yu Gothic" pitchFamily="34" charset="-120"/>
                        </a:rPr>
                        <a:t>上振れ</a:t>
                      </a:r>
                      <a:endParaRPr lang="en-US" sz="10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l" indent="0" marL="0">
                        <a:buNone/>
                      </a:pPr>
                      <a:r>
                        <a:rPr lang="en-US" sz="1000" dirty="0">
                          <a:solidFill>
                            <a:srgbClr val="EFEBE3"/>
                          </a:solidFill>
                          <a:latin typeface="Yu Gothic" pitchFamily="34" charset="0"/>
                          <a:ea typeface="Yu Gothic" pitchFamily="34" charset="-122"/>
                          <a:cs typeface="Yu Gothic" pitchFamily="34" charset="-120"/>
                        </a:rPr>
                        <a:t>Liv-ex連動銘柄の構成比を高める</a:t>
                      </a:r>
                      <a:endParaRPr lang="en-US" sz="10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r>
              <a:tr h="356616">
                <a:tc>
                  <a:txBody>
                    <a:bodyPr/>
                    <a:lstStyle/>
                    <a:p>
                      <a:pPr algn="ctr" indent="0" marL="0">
                        <a:buNone/>
                      </a:pPr>
                      <a:r>
                        <a:rPr lang="en-US" sz="1000" dirty="0">
                          <a:solidFill>
                            <a:srgbClr val="EFEBE3"/>
                          </a:solidFill>
                          <a:latin typeface="Yu Gothic" pitchFamily="34" charset="0"/>
                          <a:ea typeface="Yu Gothic" pitchFamily="34" charset="-122"/>
                          <a:cs typeface="Yu Gothic" pitchFamily="34" charset="-120"/>
                        </a:rPr>
                        <a:t>調達構成</a:t>
                      </a:r>
                      <a:endParaRPr lang="en-US" sz="10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1000" dirty="0">
                          <a:solidFill>
                            <a:srgbClr val="EFEBE3"/>
                          </a:solidFill>
                          <a:latin typeface="Yu Gothic" pitchFamily="34" charset="0"/>
                          <a:ea typeface="Yu Gothic" pitchFamily="34" charset="-122"/>
                          <a:cs typeface="Yu Gothic" pitchFamily="34" charset="-120"/>
                        </a:rPr>
                        <a:t>定価比 50 → 45</a:t>
                      </a:r>
                      <a:endParaRPr lang="en-US" sz="10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1000" b="1" dirty="0">
                          <a:solidFill>
                            <a:srgbClr val="C9A96E"/>
                          </a:solidFill>
                          <a:latin typeface="Yu Gothic" pitchFamily="34" charset="0"/>
                          <a:ea typeface="Yu Gothic" pitchFamily="34" charset="-122"/>
                          <a:cs typeface="Yu Gothic" pitchFamily="34" charset="-120"/>
                        </a:rPr>
                        <a:t>21.0% → 28.7%（＋7.7pt）</a:t>
                      </a:r>
                      <a:endParaRPr lang="en-US" sz="10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1000" b="1" dirty="0">
                          <a:solidFill>
                            <a:srgbClr val="C9A96E"/>
                          </a:solidFill>
                          <a:latin typeface="Yu Gothic" pitchFamily="34" charset="0"/>
                          <a:ea typeface="Yu Gothic" pitchFamily="34" charset="-122"/>
                          <a:cs typeface="Yu Gothic" pitchFamily="34" charset="-120"/>
                        </a:rPr>
                        <a:t>上振れ</a:t>
                      </a:r>
                      <a:endParaRPr lang="en-US" sz="10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l" indent="0" marL="0">
                        <a:buNone/>
                      </a:pPr>
                      <a:r>
                        <a:rPr lang="en-US" sz="1000" dirty="0">
                          <a:solidFill>
                            <a:srgbClr val="EFEBE3"/>
                          </a:solidFill>
                          <a:latin typeface="Yu Gothic" pitchFamily="34" charset="0"/>
                          <a:ea typeface="Yu Gothic" pitchFamily="34" charset="-122"/>
                          <a:cs typeface="Yu Gothic" pitchFamily="34" charset="-120"/>
                        </a:rPr>
                        <a:t>インポーター直取引比率の引き上げが最大の改善策</a:t>
                      </a:r>
                      <a:endParaRPr lang="en-US" sz="10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r>
            </a:tbl>
          </a:graphicData>
        </a:graphic>
      </p:graphicFrame>
      <p:sp>
        <p:nvSpPr>
          <p:cNvPr id="8" name="Shape 5"/>
          <p:cNvSpPr/>
          <p:nvPr/>
        </p:nvSpPr>
        <p:spPr>
          <a:xfrm>
            <a:off x="658368" y="4700016"/>
            <a:ext cx="10874959" cy="1005840"/>
          </a:xfrm>
          <a:prstGeom prst="roundRect">
            <a:avLst>
              <a:gd name="adj" fmla="val 4091"/>
            </a:avLst>
          </a:prstGeom>
          <a:solidFill>
            <a:srgbClr val="1F1D19"/>
          </a:solidFill>
          <a:ln w="9525">
            <a:solidFill>
              <a:srgbClr val="6E5730"/>
            </a:solidFill>
            <a:prstDash val="solid"/>
          </a:ln>
        </p:spPr>
      </p:sp>
      <p:sp>
        <p:nvSpPr>
          <p:cNvPr id="9" name="Text 6"/>
          <p:cNvSpPr/>
          <p:nvPr/>
        </p:nvSpPr>
        <p:spPr>
          <a:xfrm>
            <a:off x="932688" y="4809744"/>
            <a:ext cx="10326319" cy="786384"/>
          </a:xfrm>
          <a:prstGeom prst="rect">
            <a:avLst/>
          </a:prstGeom>
          <a:noFill/>
          <a:ln/>
        </p:spPr>
        <p:txBody>
          <a:bodyPr wrap="square" lIns="0" tIns="0" rIns="0" bIns="0" rtlCol="0" anchor="ctr"/>
          <a:lstStyle/>
          <a:p>
            <a:pPr indent="0" marL="0">
              <a:lnSpc>
                <a:spcPct val="124000"/>
              </a:lnSpc>
              <a:buNone/>
            </a:pPr>
            <a:r>
              <a:rPr lang="en-US" sz="1100" dirty="0">
                <a:solidFill>
                  <a:srgbClr val="EFEBE3"/>
                </a:solidFill>
                <a:latin typeface="Yu Gothic" pitchFamily="34" charset="0"/>
                <a:ea typeface="Yu Gothic" pitchFamily="34" charset="-122"/>
                <a:cs typeface="Yu Gothic" pitchFamily="34" charset="-120"/>
              </a:rPr>
              <a:t>結論：20%の分岐点は回転12.7ヶ月（ニュートラル前提）であり、主線12ヶ月からの余裕は0.7ヶ月しかない。回転12ヶ月の達成は「上振れ条件」ではなく必要条件であり、ここが本ファンド最大の管理項目となる。回転が15ヶ月へ延びれば17.3%、18ヶ月なら14.9%まで低下する。したがって組入銘柄は流動性上位に絞り込み、B2B卸とB2Cを併走させて販売量を確保する設計とする。なお、インポーターの仕入価格が上昇する局面では希望小売価格も連動して上昇するため、定価比の構造は維持され、利回りへの影響は生じない。</a:t>
            </a:r>
            <a:endParaRPr lang="en-US" sz="11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0C0C0C"/>
        </a:solidFill>
      </p:bgPr>
    </p:bg>
    <p:spTree>
      <p:nvGrpSpPr>
        <p:cNvPr id="1" name=""/>
        <p:cNvGrpSpPr/>
        <p:nvPr/>
      </p:nvGrpSpPr>
      <p:grpSpPr>
        <a:xfrm>
          <a:off x="0" y="0"/>
          <a:ext cx="0" cy="0"/>
          <a:chOff x="0" y="0"/>
          <a:chExt cx="0" cy="0"/>
        </a:xfrm>
      </p:grpSpPr>
      <p:sp>
        <p:nvSpPr>
          <p:cNvPr id="2" name="Text 0"/>
          <p:cNvSpPr/>
          <p:nvPr/>
        </p:nvSpPr>
        <p:spPr>
          <a:xfrm>
            <a:off x="658368" y="384048"/>
            <a:ext cx="10874959" cy="219456"/>
          </a:xfrm>
          <a:prstGeom prst="rect">
            <a:avLst/>
          </a:prstGeom>
          <a:noFill/>
          <a:ln/>
        </p:spPr>
        <p:txBody>
          <a:bodyPr wrap="square" lIns="0" tIns="0" rIns="0" bIns="0" rtlCol="0" anchor="ctr"/>
          <a:lstStyle/>
          <a:p>
            <a:pPr indent="0" marL="0">
              <a:buNone/>
            </a:pPr>
            <a:r>
              <a:rPr lang="en-US" sz="1050" b="1" spc="340" kern="0" dirty="0">
                <a:solidFill>
                  <a:srgbClr val="A78450"/>
                </a:solidFill>
                <a:latin typeface="Cambria" pitchFamily="34" charset="0"/>
                <a:ea typeface="Cambria" pitchFamily="34" charset="-122"/>
                <a:cs typeface="Cambria" pitchFamily="34" charset="-120"/>
              </a:rPr>
              <a:t>FAIR ALLOCATION</a:t>
            </a:r>
            <a:endParaRPr lang="en-US" sz="1050" dirty="0"/>
          </a:p>
        </p:txBody>
      </p:sp>
      <p:sp>
        <p:nvSpPr>
          <p:cNvPr id="3" name="Text 1"/>
          <p:cNvSpPr/>
          <p:nvPr/>
        </p:nvSpPr>
        <p:spPr>
          <a:xfrm>
            <a:off x="658368" y="640080"/>
            <a:ext cx="10874959" cy="548640"/>
          </a:xfrm>
          <a:prstGeom prst="rect">
            <a:avLst/>
          </a:prstGeom>
          <a:noFill/>
          <a:ln/>
        </p:spPr>
        <p:txBody>
          <a:bodyPr wrap="square" lIns="0" tIns="0" rIns="0" bIns="0" rtlCol="0" anchor="ctr"/>
          <a:lstStyle/>
          <a:p>
            <a:pPr indent="0" marL="0">
              <a:buNone/>
            </a:pPr>
            <a:r>
              <a:rPr lang="en-US" sz="2700" b="1" dirty="0">
                <a:solidFill>
                  <a:srgbClr val="EFEBE3"/>
                </a:solidFill>
                <a:latin typeface="Yu Mincho" pitchFamily="34" charset="0"/>
                <a:ea typeface="Yu Mincho" pitchFamily="34" charset="-122"/>
                <a:cs typeface="Yu Mincho" pitchFamily="34" charset="-120"/>
              </a:rPr>
              <a:t>WineBank在庫との公平性をどう担保するか</a:t>
            </a:r>
            <a:endParaRPr lang="en-US" sz="2700" dirty="0"/>
          </a:p>
        </p:txBody>
      </p:sp>
      <p:sp>
        <p:nvSpPr>
          <p:cNvPr id="4" name="Text 2"/>
          <p:cNvSpPr/>
          <p:nvPr/>
        </p:nvSpPr>
        <p:spPr>
          <a:xfrm>
            <a:off x="658368" y="1216152"/>
            <a:ext cx="10874959" cy="310896"/>
          </a:xfrm>
          <a:prstGeom prst="rect">
            <a:avLst/>
          </a:prstGeom>
          <a:noFill/>
          <a:ln/>
        </p:spPr>
        <p:txBody>
          <a:bodyPr wrap="square" lIns="0" tIns="0" rIns="0" bIns="0" rtlCol="0" anchor="ctr"/>
          <a:lstStyle/>
          <a:p>
            <a:pPr indent="0" marL="0">
              <a:buNone/>
            </a:pPr>
            <a:r>
              <a:rPr lang="en-US" sz="1150" dirty="0">
                <a:solidFill>
                  <a:srgbClr val="9A938A"/>
                </a:solidFill>
                <a:latin typeface="Yu Gothic" pitchFamily="34" charset="0"/>
                <a:ea typeface="Yu Gothic" pitchFamily="34" charset="-122"/>
                <a:cs typeface="Yu Gothic" pitchFamily="34" charset="-120"/>
              </a:rPr>
              <a:t>調達・保管・販売のすべてをWineBankが担うため配分に構造的な利益相反が生じる。在庫比率によるプロラタ配分を原則とする。</a:t>
            </a:r>
            <a:endParaRPr lang="en-US" sz="1150" dirty="0"/>
          </a:p>
        </p:txBody>
      </p:sp>
      <p:sp>
        <p:nvSpPr>
          <p:cNvPr id="5" name="Text 3"/>
          <p:cNvSpPr/>
          <p:nvPr/>
        </p:nvSpPr>
        <p:spPr>
          <a:xfrm>
            <a:off x="658368" y="6437376"/>
            <a:ext cx="5029200" cy="219456"/>
          </a:xfrm>
          <a:prstGeom prst="rect">
            <a:avLst/>
          </a:prstGeom>
          <a:noFill/>
          <a:ln/>
        </p:spPr>
        <p:txBody>
          <a:bodyPr wrap="square" lIns="0" tIns="0" rIns="0" bIns="0" rtlCol="0" anchor="ctr"/>
          <a:lstStyle/>
          <a:p>
            <a:pPr indent="0" marL="0">
              <a:buNone/>
            </a:pPr>
            <a:r>
              <a:rPr lang="en-US" sz="850" dirty="0">
                <a:solidFill>
                  <a:srgbClr val="6E675E"/>
                </a:solidFill>
                <a:latin typeface="Yu Gothic" pitchFamily="34" charset="0"/>
                <a:ea typeface="Yu Gothic" pitchFamily="34" charset="-122"/>
                <a:cs typeface="Yu Gothic" pitchFamily="34" charset="-120"/>
              </a:rPr>
              <a:t>CONFIDENTIAL ｜ 株式会社WineBank</a:t>
            </a:r>
            <a:endParaRPr lang="en-US" sz="850" dirty="0"/>
          </a:p>
        </p:txBody>
      </p:sp>
      <p:sp>
        <p:nvSpPr>
          <p:cNvPr id="6" name="Text 4"/>
          <p:cNvSpPr/>
          <p:nvPr/>
        </p:nvSpPr>
        <p:spPr>
          <a:xfrm>
            <a:off x="10618927" y="6437376"/>
            <a:ext cx="914400" cy="219456"/>
          </a:xfrm>
          <a:prstGeom prst="rect">
            <a:avLst/>
          </a:prstGeom>
          <a:noFill/>
          <a:ln/>
        </p:spPr>
        <p:txBody>
          <a:bodyPr wrap="square" lIns="0" tIns="0" rIns="0" bIns="0" rtlCol="0" anchor="ctr"/>
          <a:lstStyle/>
          <a:p>
            <a:pPr algn="r" indent="0" marL="0">
              <a:buNone/>
            </a:pPr>
            <a:r>
              <a:rPr lang="en-US" sz="950" spc="150" kern="0" dirty="0">
                <a:solidFill>
                  <a:srgbClr val="6E5730"/>
                </a:solidFill>
                <a:latin typeface="Cambria" pitchFamily="34" charset="0"/>
                <a:ea typeface="Cambria" pitchFamily="34" charset="-122"/>
                <a:cs typeface="Cambria" pitchFamily="34" charset="-120"/>
              </a:rPr>
              <a:t>16</a:t>
            </a:r>
            <a:endParaRPr lang="en-US" sz="950" dirty="0"/>
          </a:p>
        </p:txBody>
      </p:sp>
      <p:sp>
        <p:nvSpPr>
          <p:cNvPr id="7" name="Shape 5"/>
          <p:cNvSpPr/>
          <p:nvPr/>
        </p:nvSpPr>
        <p:spPr>
          <a:xfrm>
            <a:off x="658368" y="1627632"/>
            <a:ext cx="3454298" cy="2011680"/>
          </a:xfrm>
          <a:prstGeom prst="roundRect">
            <a:avLst>
              <a:gd name="adj" fmla="val 2045"/>
            </a:avLst>
          </a:prstGeom>
          <a:solidFill>
            <a:srgbClr val="1F1D19"/>
          </a:solidFill>
          <a:ln w="9525">
            <a:solidFill>
              <a:srgbClr val="6E5730"/>
            </a:solidFill>
            <a:prstDash val="solid"/>
          </a:ln>
        </p:spPr>
      </p:sp>
      <p:sp>
        <p:nvSpPr>
          <p:cNvPr id="8" name="Shape 6"/>
          <p:cNvSpPr/>
          <p:nvPr/>
        </p:nvSpPr>
        <p:spPr>
          <a:xfrm>
            <a:off x="896112" y="1810512"/>
            <a:ext cx="310896" cy="310896"/>
          </a:xfrm>
          <a:prstGeom prst="ellipse">
            <a:avLst/>
          </a:prstGeom>
          <a:solidFill>
            <a:srgbClr val="0C0C0C"/>
          </a:solidFill>
          <a:ln w="11430">
            <a:solidFill>
              <a:srgbClr val="A78450"/>
            </a:solidFill>
            <a:prstDash val="solid"/>
          </a:ln>
        </p:spPr>
      </p:sp>
      <p:sp>
        <p:nvSpPr>
          <p:cNvPr id="9" name="Text 7"/>
          <p:cNvSpPr/>
          <p:nvPr/>
        </p:nvSpPr>
        <p:spPr>
          <a:xfrm>
            <a:off x="896112" y="1810512"/>
            <a:ext cx="310896" cy="310896"/>
          </a:xfrm>
          <a:prstGeom prst="rect">
            <a:avLst/>
          </a:prstGeom>
          <a:noFill/>
          <a:ln/>
        </p:spPr>
        <p:txBody>
          <a:bodyPr wrap="square" lIns="0" tIns="0" rIns="0" bIns="0" rtlCol="0" anchor="ctr"/>
          <a:lstStyle/>
          <a:p>
            <a:pPr algn="ctr" indent="0" marL="0">
              <a:buNone/>
            </a:pPr>
            <a:r>
              <a:rPr lang="en-US" sz="1100" b="1" dirty="0">
                <a:solidFill>
                  <a:srgbClr val="C9A96E"/>
                </a:solidFill>
                <a:latin typeface="Cambria" pitchFamily="34" charset="0"/>
                <a:ea typeface="Cambria" pitchFamily="34" charset="-122"/>
                <a:cs typeface="Cambria" pitchFamily="34" charset="-120"/>
              </a:rPr>
              <a:t>01</a:t>
            </a:r>
            <a:endParaRPr lang="en-US" sz="1100" dirty="0"/>
          </a:p>
        </p:txBody>
      </p:sp>
      <p:sp>
        <p:nvSpPr>
          <p:cNvPr id="10" name="Text 8"/>
          <p:cNvSpPr/>
          <p:nvPr/>
        </p:nvSpPr>
        <p:spPr>
          <a:xfrm>
            <a:off x="1298448" y="1828800"/>
            <a:ext cx="2576474" cy="274320"/>
          </a:xfrm>
          <a:prstGeom prst="rect">
            <a:avLst/>
          </a:prstGeom>
          <a:noFill/>
          <a:ln/>
        </p:spPr>
        <p:txBody>
          <a:bodyPr wrap="square" lIns="0" tIns="0" rIns="0" bIns="0" rtlCol="0" anchor="ctr"/>
          <a:lstStyle/>
          <a:p>
            <a:pPr indent="0" marL="0">
              <a:buNone/>
            </a:pPr>
            <a:r>
              <a:rPr lang="en-US" sz="1150" b="1" dirty="0">
                <a:solidFill>
                  <a:srgbClr val="C9A96E"/>
                </a:solidFill>
                <a:latin typeface="Yu Gothic" pitchFamily="34" charset="0"/>
                <a:ea typeface="Yu Gothic" pitchFamily="34" charset="-122"/>
                <a:cs typeface="Yu Gothic" pitchFamily="34" charset="-120"/>
              </a:rPr>
              <a:t>プロラタ配分を原則とする</a:t>
            </a:r>
            <a:endParaRPr lang="en-US" sz="1150" dirty="0"/>
          </a:p>
        </p:txBody>
      </p:sp>
      <p:sp>
        <p:nvSpPr>
          <p:cNvPr id="11" name="Text 9"/>
          <p:cNvSpPr/>
          <p:nvPr/>
        </p:nvSpPr>
        <p:spPr>
          <a:xfrm>
            <a:off x="896112" y="2267712"/>
            <a:ext cx="2978810" cy="1298448"/>
          </a:xfrm>
          <a:prstGeom prst="rect">
            <a:avLst/>
          </a:prstGeom>
          <a:noFill/>
          <a:ln/>
        </p:spPr>
        <p:txBody>
          <a:bodyPr wrap="square" lIns="0" tIns="0" rIns="0" bIns="0" rtlCol="0" anchor="ctr"/>
          <a:lstStyle/>
          <a:p>
            <a:pPr indent="0" marL="0">
              <a:lnSpc>
                <a:spcPct val="122000"/>
              </a:lnSpc>
              <a:buNone/>
            </a:pPr>
            <a:r>
              <a:rPr lang="en-US" sz="900" dirty="0">
                <a:solidFill>
                  <a:srgbClr val="9A938A"/>
                </a:solidFill>
                <a:latin typeface="Yu Gothic" pitchFamily="34" charset="0"/>
                <a:ea typeface="Yu Gothic" pitchFamily="34" charset="-122"/>
                <a:cs typeface="Yu Gothic" pitchFamily="34" charset="-120"/>
              </a:rPr>
              <a:t>同一銘柄が両者にある場合、売却を在庫数量の比率に応じて配分する。個々の売却は分割できないため、累計の配分比率が在庫比率に一致するよう配分台帳で管理し、乖離の大きい側から出庫する。人の裁量を介さない機械的な運用とする。</a:t>
            </a:r>
            <a:endParaRPr lang="en-US" sz="900" dirty="0"/>
          </a:p>
        </p:txBody>
      </p:sp>
      <p:sp>
        <p:nvSpPr>
          <p:cNvPr id="12" name="Shape 10"/>
          <p:cNvSpPr/>
          <p:nvPr/>
        </p:nvSpPr>
        <p:spPr>
          <a:xfrm>
            <a:off x="4368698" y="1627632"/>
            <a:ext cx="3454298" cy="2011680"/>
          </a:xfrm>
          <a:prstGeom prst="roundRect">
            <a:avLst>
              <a:gd name="adj" fmla="val 2045"/>
            </a:avLst>
          </a:prstGeom>
          <a:solidFill>
            <a:srgbClr val="171614"/>
          </a:solidFill>
          <a:ln w="9525">
            <a:solidFill>
              <a:srgbClr val="2E2A24"/>
            </a:solidFill>
            <a:prstDash val="solid"/>
          </a:ln>
        </p:spPr>
      </p:sp>
      <p:sp>
        <p:nvSpPr>
          <p:cNvPr id="13" name="Shape 11"/>
          <p:cNvSpPr/>
          <p:nvPr/>
        </p:nvSpPr>
        <p:spPr>
          <a:xfrm>
            <a:off x="4606442" y="1810512"/>
            <a:ext cx="310896" cy="310896"/>
          </a:xfrm>
          <a:prstGeom prst="ellipse">
            <a:avLst/>
          </a:prstGeom>
          <a:solidFill>
            <a:srgbClr val="0C0C0C"/>
          </a:solidFill>
          <a:ln w="11430">
            <a:solidFill>
              <a:srgbClr val="A78450"/>
            </a:solidFill>
            <a:prstDash val="solid"/>
          </a:ln>
        </p:spPr>
      </p:sp>
      <p:sp>
        <p:nvSpPr>
          <p:cNvPr id="14" name="Text 12"/>
          <p:cNvSpPr/>
          <p:nvPr/>
        </p:nvSpPr>
        <p:spPr>
          <a:xfrm>
            <a:off x="4606442" y="1810512"/>
            <a:ext cx="310896" cy="310896"/>
          </a:xfrm>
          <a:prstGeom prst="rect">
            <a:avLst/>
          </a:prstGeom>
          <a:noFill/>
          <a:ln/>
        </p:spPr>
        <p:txBody>
          <a:bodyPr wrap="square" lIns="0" tIns="0" rIns="0" bIns="0" rtlCol="0" anchor="ctr"/>
          <a:lstStyle/>
          <a:p>
            <a:pPr algn="ctr" indent="0" marL="0">
              <a:buNone/>
            </a:pPr>
            <a:r>
              <a:rPr lang="en-US" sz="1100" b="1" dirty="0">
                <a:solidFill>
                  <a:srgbClr val="C9A96E"/>
                </a:solidFill>
                <a:latin typeface="Cambria" pitchFamily="34" charset="0"/>
                <a:ea typeface="Cambria" pitchFamily="34" charset="-122"/>
                <a:cs typeface="Cambria" pitchFamily="34" charset="-120"/>
              </a:rPr>
              <a:t>02</a:t>
            </a:r>
            <a:endParaRPr lang="en-US" sz="1100" dirty="0"/>
          </a:p>
        </p:txBody>
      </p:sp>
      <p:sp>
        <p:nvSpPr>
          <p:cNvPr id="15" name="Text 13"/>
          <p:cNvSpPr/>
          <p:nvPr/>
        </p:nvSpPr>
        <p:spPr>
          <a:xfrm>
            <a:off x="5008778" y="1828800"/>
            <a:ext cx="2576474" cy="274320"/>
          </a:xfrm>
          <a:prstGeom prst="rect">
            <a:avLst/>
          </a:prstGeom>
          <a:noFill/>
          <a:ln/>
        </p:spPr>
        <p:txBody>
          <a:bodyPr wrap="square" lIns="0" tIns="0" rIns="0" bIns="0" rtlCol="0" anchor="ctr"/>
          <a:lstStyle/>
          <a:p>
            <a:pPr indent="0" marL="0">
              <a:buNone/>
            </a:pPr>
            <a:r>
              <a:rPr lang="en-US" sz="1150" b="1" dirty="0">
                <a:solidFill>
                  <a:srgbClr val="EFEBE3"/>
                </a:solidFill>
                <a:latin typeface="Yu Gothic" pitchFamily="34" charset="0"/>
                <a:ea typeface="Yu Gothic" pitchFamily="34" charset="-122"/>
                <a:cs typeface="Yu Gothic" pitchFamily="34" charset="-120"/>
              </a:rPr>
              <a:t>判断を要する場合はSPC優先</a:t>
            </a:r>
            <a:endParaRPr lang="en-US" sz="1150" dirty="0"/>
          </a:p>
        </p:txBody>
      </p:sp>
      <p:sp>
        <p:nvSpPr>
          <p:cNvPr id="16" name="Text 14"/>
          <p:cNvSpPr/>
          <p:nvPr/>
        </p:nvSpPr>
        <p:spPr>
          <a:xfrm>
            <a:off x="4606442" y="2267712"/>
            <a:ext cx="2978810" cy="1298448"/>
          </a:xfrm>
          <a:prstGeom prst="rect">
            <a:avLst/>
          </a:prstGeom>
          <a:noFill/>
          <a:ln/>
        </p:spPr>
        <p:txBody>
          <a:bodyPr wrap="square" lIns="0" tIns="0" rIns="0" bIns="0" rtlCol="0" anchor="ctr"/>
          <a:lstStyle/>
          <a:p>
            <a:pPr indent="0" marL="0">
              <a:lnSpc>
                <a:spcPct val="122000"/>
              </a:lnSpc>
              <a:buNone/>
            </a:pPr>
            <a:r>
              <a:rPr lang="en-US" sz="900" dirty="0">
                <a:solidFill>
                  <a:srgbClr val="9A938A"/>
                </a:solidFill>
                <a:latin typeface="Yu Gothic" pitchFamily="34" charset="0"/>
                <a:ea typeface="Yu Gothic" pitchFamily="34" charset="-122"/>
                <a:cs typeface="Yu Gothic" pitchFamily="34" charset="-120"/>
              </a:rPr>
              <a:t>乖離が同等である場合や、ロット単位の売却などプロラタで割り切れない場合は、SPC在庫を優先して売却する。四半期末の乖離が許容幅を超えた場合は翌四半期に是正する。</a:t>
            </a:r>
            <a:endParaRPr lang="en-US" sz="900" dirty="0"/>
          </a:p>
        </p:txBody>
      </p:sp>
      <p:sp>
        <p:nvSpPr>
          <p:cNvPr id="17" name="Shape 15"/>
          <p:cNvSpPr/>
          <p:nvPr/>
        </p:nvSpPr>
        <p:spPr>
          <a:xfrm>
            <a:off x="8079029" y="1627632"/>
            <a:ext cx="3454298" cy="2011680"/>
          </a:xfrm>
          <a:prstGeom prst="roundRect">
            <a:avLst>
              <a:gd name="adj" fmla="val 2045"/>
            </a:avLst>
          </a:prstGeom>
          <a:solidFill>
            <a:srgbClr val="171614"/>
          </a:solidFill>
          <a:ln w="9525">
            <a:solidFill>
              <a:srgbClr val="2E2A24"/>
            </a:solidFill>
            <a:prstDash val="solid"/>
          </a:ln>
        </p:spPr>
      </p:sp>
      <p:sp>
        <p:nvSpPr>
          <p:cNvPr id="18" name="Shape 16"/>
          <p:cNvSpPr/>
          <p:nvPr/>
        </p:nvSpPr>
        <p:spPr>
          <a:xfrm>
            <a:off x="8316773" y="1810512"/>
            <a:ext cx="310896" cy="310896"/>
          </a:xfrm>
          <a:prstGeom prst="ellipse">
            <a:avLst/>
          </a:prstGeom>
          <a:solidFill>
            <a:srgbClr val="0C0C0C"/>
          </a:solidFill>
          <a:ln w="11430">
            <a:solidFill>
              <a:srgbClr val="A78450"/>
            </a:solidFill>
            <a:prstDash val="solid"/>
          </a:ln>
        </p:spPr>
      </p:sp>
      <p:sp>
        <p:nvSpPr>
          <p:cNvPr id="19" name="Text 17"/>
          <p:cNvSpPr/>
          <p:nvPr/>
        </p:nvSpPr>
        <p:spPr>
          <a:xfrm>
            <a:off x="8316773" y="1810512"/>
            <a:ext cx="310896" cy="310896"/>
          </a:xfrm>
          <a:prstGeom prst="rect">
            <a:avLst/>
          </a:prstGeom>
          <a:noFill/>
          <a:ln/>
        </p:spPr>
        <p:txBody>
          <a:bodyPr wrap="square" lIns="0" tIns="0" rIns="0" bIns="0" rtlCol="0" anchor="ctr"/>
          <a:lstStyle/>
          <a:p>
            <a:pPr algn="ctr" indent="0" marL="0">
              <a:buNone/>
            </a:pPr>
            <a:r>
              <a:rPr lang="en-US" sz="1100" b="1" dirty="0">
                <a:solidFill>
                  <a:srgbClr val="C9A96E"/>
                </a:solidFill>
                <a:latin typeface="Cambria" pitchFamily="34" charset="0"/>
                <a:ea typeface="Cambria" pitchFamily="34" charset="-122"/>
                <a:cs typeface="Cambria" pitchFamily="34" charset="-120"/>
              </a:rPr>
              <a:t>03</a:t>
            </a:r>
            <a:endParaRPr lang="en-US" sz="1100" dirty="0"/>
          </a:p>
        </p:txBody>
      </p:sp>
      <p:sp>
        <p:nvSpPr>
          <p:cNvPr id="20" name="Text 18"/>
          <p:cNvSpPr/>
          <p:nvPr/>
        </p:nvSpPr>
        <p:spPr>
          <a:xfrm>
            <a:off x="8719109" y="1828800"/>
            <a:ext cx="2576474" cy="274320"/>
          </a:xfrm>
          <a:prstGeom prst="rect">
            <a:avLst/>
          </a:prstGeom>
          <a:noFill/>
          <a:ln/>
        </p:spPr>
        <p:txBody>
          <a:bodyPr wrap="square" lIns="0" tIns="0" rIns="0" bIns="0" rtlCol="0" anchor="ctr"/>
          <a:lstStyle/>
          <a:p>
            <a:pPr indent="0" marL="0">
              <a:buNone/>
            </a:pPr>
            <a:r>
              <a:rPr lang="en-US" sz="1150" b="1" dirty="0">
                <a:solidFill>
                  <a:srgbClr val="EFEBE3"/>
                </a:solidFill>
                <a:latin typeface="Yu Gothic" pitchFamily="34" charset="0"/>
                <a:ea typeface="Yu Gothic" pitchFamily="34" charset="-122"/>
                <a:cs typeface="Yu Gothic" pitchFamily="34" charset="-120"/>
              </a:rPr>
              <a:t>価格同一ルールと補填条項</a:t>
            </a:r>
            <a:endParaRPr lang="en-US" sz="1150" dirty="0"/>
          </a:p>
        </p:txBody>
      </p:sp>
      <p:sp>
        <p:nvSpPr>
          <p:cNvPr id="21" name="Text 19"/>
          <p:cNvSpPr/>
          <p:nvPr/>
        </p:nvSpPr>
        <p:spPr>
          <a:xfrm>
            <a:off x="8316773" y="2267712"/>
            <a:ext cx="2978810" cy="1298448"/>
          </a:xfrm>
          <a:prstGeom prst="rect">
            <a:avLst/>
          </a:prstGeom>
          <a:noFill/>
          <a:ln/>
        </p:spPr>
        <p:txBody>
          <a:bodyPr wrap="square" lIns="0" tIns="0" rIns="0" bIns="0" rtlCol="0" anchor="ctr"/>
          <a:lstStyle/>
          <a:p>
            <a:pPr indent="0" marL="0">
              <a:lnSpc>
                <a:spcPct val="122000"/>
              </a:lnSpc>
              <a:buNone/>
            </a:pPr>
            <a:r>
              <a:rPr lang="en-US" sz="900" dirty="0">
                <a:solidFill>
                  <a:srgbClr val="9A938A"/>
                </a:solidFill>
                <a:latin typeface="Yu Gothic" pitchFamily="34" charset="0"/>
                <a:ea typeface="Yu Gothic" pitchFamily="34" charset="-122"/>
                <a:cs typeface="Yu Gothic" pitchFamily="34" charset="-120"/>
              </a:rPr>
              <a:t>同一SKU・同一四半期の実現単価は、SPCがWineBank自己勘定を下回らないものとする。下回った場合は差額×SPC数量をWineBankがSPCへ現金で補填する。運用が崩れても投資家が金額で守られる仕組みとする。</a:t>
            </a:r>
            <a:endParaRPr lang="en-US" sz="900" dirty="0"/>
          </a:p>
        </p:txBody>
      </p:sp>
      <p:graphicFrame>
        <p:nvGraphicFramePr>
          <p:cNvPr id="18" name="Table 0"/>
          <p:cNvGraphicFramePr>
            <a:graphicFrameLocks noGrp="1"/>
          </p:cNvGraphicFramePr>
          <p:nvPr>
            <p:extLst>
              <p:ext uri="{D42A27DB-BD31-4B8C-83A1-F6EECF244321}">
                <p14:modId xmlns:p14="http://schemas.microsoft.com/office/powerpoint/2010/main" val="1579011935"/>
              </p:ext>
            </p:extLst>
          </p:nvPr>
        </p:nvGraphicFramePr>
        <p:xfrm>
          <a:off x="658368" y="3749040"/>
          <a:ext cx="10874959" cy="914400"/>
        </p:xfrm>
        <a:graphic>
          <a:graphicData uri="http://schemas.openxmlformats.org/drawingml/2006/table">
            <a:tbl>
              <a:tblPr/>
              <a:tblGrid>
                <a:gridCol w="2377440"/>
                <a:gridCol w="8494776"/>
              </a:tblGrid>
              <a:tr h="297180">
                <a:tc>
                  <a:txBody>
                    <a:bodyPr/>
                    <a:lstStyle/>
                    <a:p>
                      <a:pPr algn="ctr" indent="0" marL="0">
                        <a:buNone/>
                      </a:pPr>
                      <a:r>
                        <a:rPr lang="en-US" sz="950" b="1" dirty="0">
                          <a:solidFill>
                            <a:srgbClr val="C9A96E"/>
                          </a:solidFill>
                          <a:latin typeface="Yu Gothic" pitchFamily="34" charset="0"/>
                          <a:ea typeface="Yu Gothic" pitchFamily="34" charset="-122"/>
                          <a:cs typeface="Yu Gothic" pitchFamily="34" charset="-120"/>
                        </a:rPr>
                        <a:t>担保の手段</a:t>
                      </a:r>
                      <a:endParaRPr lang="en-US" sz="9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231F1A"/>
                    </a:solidFill>
                  </a:tcPr>
                </a:tc>
                <a:tc>
                  <a:txBody>
                    <a:bodyPr/>
                    <a:lstStyle/>
                    <a:p>
                      <a:pPr algn="ctr" indent="0" marL="0">
                        <a:buNone/>
                      </a:pPr>
                      <a:r>
                        <a:rPr lang="en-US" sz="950" b="1" dirty="0">
                          <a:solidFill>
                            <a:srgbClr val="C9A96E"/>
                          </a:solidFill>
                          <a:latin typeface="Yu Gothic" pitchFamily="34" charset="0"/>
                          <a:ea typeface="Yu Gothic" pitchFamily="34" charset="-122"/>
                          <a:cs typeface="Yu Gothic" pitchFamily="34" charset="-120"/>
                        </a:rPr>
                        <a:t>内容</a:t>
                      </a:r>
                      <a:endParaRPr lang="en-US" sz="9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231F1A"/>
                    </a:solidFill>
                  </a:tcPr>
                </a:tc>
              </a:tr>
              <a:tr h="297180">
                <a:tc>
                  <a:txBody>
                    <a:bodyPr/>
                    <a:lstStyle/>
                    <a:p>
                      <a:pPr algn="ctr" indent="0" marL="0">
                        <a:buNone/>
                      </a:pPr>
                      <a:r>
                        <a:rPr lang="en-US" sz="1000" dirty="0">
                          <a:solidFill>
                            <a:srgbClr val="EFEBE3"/>
                          </a:solidFill>
                          <a:latin typeface="Yu Gothic" pitchFamily="34" charset="0"/>
                          <a:ea typeface="Yu Gothic" pitchFamily="34" charset="-122"/>
                          <a:cs typeface="Yu Gothic" pitchFamily="34" charset="-120"/>
                        </a:rPr>
                        <a:t>組入銘柄の選定</a:t>
                      </a:r>
                      <a:endParaRPr lang="en-US" sz="10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l" indent="0" marL="0">
                        <a:buNone/>
                      </a:pPr>
                      <a:r>
                        <a:rPr lang="en-US" sz="1000" dirty="0">
                          <a:solidFill>
                            <a:srgbClr val="EFEBE3"/>
                          </a:solidFill>
                          <a:latin typeface="Yu Gothic" pitchFamily="34" charset="0"/>
                          <a:ea typeface="Yu Gothic" pitchFamily="34" charset="-122"/>
                          <a:cs typeface="Yu Gothic" pitchFamily="34" charset="-120"/>
                        </a:rPr>
                        <a:t>Liv-ex掲載の流動性上位銘柄をSPCに組み入れ、可能な限り自己勘定在庫と重複させない。重複しない銘柄では配分の判断自体が生じない</a:t>
                      </a:r>
                      <a:endParaRPr lang="en-US" sz="10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r>
              <a:tr h="297180">
                <a:tc>
                  <a:txBody>
                    <a:bodyPr/>
                    <a:lstStyle/>
                    <a:p>
                      <a:pPr algn="ctr" indent="0" marL="0">
                        <a:buNone/>
                      </a:pPr>
                      <a:r>
                        <a:rPr lang="en-US" sz="1000" dirty="0">
                          <a:solidFill>
                            <a:srgbClr val="EFEBE3"/>
                          </a:solidFill>
                          <a:latin typeface="Yu Gothic" pitchFamily="34" charset="0"/>
                          <a:ea typeface="Yu Gothic" pitchFamily="34" charset="-122"/>
                          <a:cs typeface="Yu Gothic" pitchFamily="34" charset="-120"/>
                        </a:rPr>
                        <a:t>取得時の按分</a:t>
                      </a:r>
                      <a:endParaRPr lang="en-US" sz="10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l" indent="0" marL="0">
                        <a:buNone/>
                      </a:pPr>
                      <a:r>
                        <a:rPr lang="en-US" sz="1000" dirty="0">
                          <a:solidFill>
                            <a:srgbClr val="EFEBE3"/>
                          </a:solidFill>
                          <a:latin typeface="Yu Gothic" pitchFamily="34" charset="0"/>
                          <a:ea typeface="Yu Gothic" pitchFamily="34" charset="-122"/>
                          <a:cs typeface="Yu Gothic" pitchFamily="34" charset="-120"/>
                        </a:rPr>
                        <a:t>同一SKUを複数ロット取得する場合は、SPCとWineBank自己勘定の在庫比率に応じて按分して割り当てる</a:t>
                      </a:r>
                      <a:endParaRPr lang="en-US" sz="10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r>
              <a:tr h="297180">
                <a:tc>
                  <a:txBody>
                    <a:bodyPr/>
                    <a:lstStyle/>
                    <a:p>
                      <a:pPr algn="ctr" indent="0" marL="0">
                        <a:buNone/>
                      </a:pPr>
                      <a:r>
                        <a:rPr lang="en-US" sz="1000" dirty="0">
                          <a:solidFill>
                            <a:srgbClr val="EFEBE3"/>
                          </a:solidFill>
                          <a:latin typeface="Yu Gothic" pitchFamily="34" charset="0"/>
                          <a:ea typeface="Yu Gothic" pitchFamily="34" charset="-122"/>
                          <a:cs typeface="Yu Gothic" pitchFamily="34" charset="-120"/>
                        </a:rPr>
                        <a:t>配分台帳</a:t>
                      </a:r>
                      <a:endParaRPr lang="en-US" sz="10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l" indent="0" marL="0">
                        <a:buNone/>
                      </a:pPr>
                      <a:r>
                        <a:rPr lang="en-US" sz="1000" dirty="0">
                          <a:solidFill>
                            <a:srgbClr val="EFEBE3"/>
                          </a:solidFill>
                          <a:latin typeface="Yu Gothic" pitchFamily="34" charset="0"/>
                          <a:ea typeface="Yu Gothic" pitchFamily="34" charset="-122"/>
                          <a:cs typeface="Yu Gothic" pitchFamily="34" charset="-120"/>
                        </a:rPr>
                        <a:t>SKU別に期首在庫・取得・売却・期末在庫を両建てで記録し、累計配分比率と在庫比率の乖離を四半期ごとに投資家へ開示する</a:t>
                      </a:r>
                      <a:endParaRPr lang="en-US" sz="10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r>
              <a:tr h="297180">
                <a:tc>
                  <a:txBody>
                    <a:bodyPr/>
                    <a:lstStyle/>
                    <a:p>
                      <a:pPr algn="ctr" indent="0" marL="0">
                        <a:buNone/>
                      </a:pPr>
                      <a:r>
                        <a:rPr lang="en-US" sz="1000" dirty="0">
                          <a:solidFill>
                            <a:srgbClr val="EFEBE3"/>
                          </a:solidFill>
                          <a:latin typeface="Yu Gothic" pitchFamily="34" charset="0"/>
                          <a:ea typeface="Yu Gothic" pitchFamily="34" charset="-122"/>
                          <a:cs typeface="Yu Gothic" pitchFamily="34" charset="-120"/>
                        </a:rPr>
                        <a:t>システムによる自動割当</a:t>
                      </a:r>
                      <a:endParaRPr lang="en-US" sz="10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l" indent="0" marL="0">
                        <a:buNone/>
                      </a:pPr>
                      <a:r>
                        <a:rPr lang="en-US" sz="1000" dirty="0">
                          <a:solidFill>
                            <a:srgbClr val="EFEBE3"/>
                          </a:solidFill>
                          <a:latin typeface="Yu Gothic" pitchFamily="34" charset="0"/>
                          <a:ea typeface="Yu Gothic" pitchFamily="34" charset="-122"/>
                          <a:cs typeface="Yu Gothic" pitchFamily="34" charset="-120"/>
                        </a:rPr>
                        <a:t>出庫指示はシステム側で自動割当とし、担当者が出所を選択できない設計とする。変更は理由の記録を必須とする</a:t>
                      </a:r>
                      <a:endParaRPr lang="en-US" sz="10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r>
              <a:tr h="297180">
                <a:tc>
                  <a:txBody>
                    <a:bodyPr/>
                    <a:lstStyle/>
                    <a:p>
                      <a:pPr algn="ctr" indent="0" marL="0">
                        <a:buNone/>
                      </a:pPr>
                      <a:r>
                        <a:rPr lang="en-US" sz="1000" dirty="0">
                          <a:solidFill>
                            <a:srgbClr val="EFEBE3"/>
                          </a:solidFill>
                          <a:latin typeface="Yu Gothic" pitchFamily="34" charset="0"/>
                          <a:ea typeface="Yu Gothic" pitchFamily="34" charset="-122"/>
                          <a:cs typeface="Yu Gothic" pitchFamily="34" charset="-120"/>
                        </a:rPr>
                        <a:t>倉庫内の分別保管</a:t>
                      </a:r>
                      <a:endParaRPr lang="en-US" sz="10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l" indent="0" marL="0">
                        <a:buNone/>
                      </a:pPr>
                      <a:r>
                        <a:rPr lang="en-US" sz="1000" dirty="0">
                          <a:solidFill>
                            <a:srgbClr val="EFEBE3"/>
                          </a:solidFill>
                          <a:latin typeface="Yu Gothic" pitchFamily="34" charset="0"/>
                          <a:ea typeface="Yu Gothic" pitchFamily="34" charset="-122"/>
                          <a:cs typeface="Yu Gothic" pitchFamily="34" charset="-120"/>
                        </a:rPr>
                        <a:t>SPC名義の在庫は別ロケーション・別ラベルで管理し、現物の特定可能性を確保する。四半期ごとに第三者棚卸を実施する</a:t>
                      </a:r>
                      <a:endParaRPr lang="en-US" sz="10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r>
              <a:tr h="297180">
                <a:tc>
                  <a:txBody>
                    <a:bodyPr/>
                    <a:lstStyle/>
                    <a:p>
                      <a:pPr algn="ctr" indent="0" marL="0">
                        <a:buNone/>
                      </a:pPr>
                      <a:r>
                        <a:rPr lang="en-US" sz="1000" dirty="0">
                          <a:solidFill>
                            <a:srgbClr val="EFEBE3"/>
                          </a:solidFill>
                          <a:latin typeface="Yu Gothic" pitchFamily="34" charset="0"/>
                          <a:ea typeface="Yu Gothic" pitchFamily="34" charset="-122"/>
                          <a:cs typeface="Yu Gothic" pitchFamily="34" charset="-120"/>
                        </a:rPr>
                        <a:t>独立第三者による検証</a:t>
                      </a:r>
                      <a:endParaRPr lang="en-US" sz="10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l" indent="0" marL="0">
                        <a:buNone/>
                      </a:pPr>
                      <a:r>
                        <a:rPr lang="en-US" sz="1000" dirty="0">
                          <a:solidFill>
                            <a:srgbClr val="EFEBE3"/>
                          </a:solidFill>
                          <a:latin typeface="Yu Gothic" pitchFamily="34" charset="0"/>
                          <a:ea typeface="Yu Gothic" pitchFamily="34" charset="-122"/>
                          <a:cs typeface="Yu Gothic" pitchFamily="34" charset="-120"/>
                        </a:rPr>
                        <a:t>AUPの対象に配分ルールの遵守状況を含め、公認会計士による年次の検証を受ける</a:t>
                      </a:r>
                      <a:endParaRPr lang="en-US" sz="10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r>
            </a:tbl>
          </a:graphicData>
        </a:graphic>
      </p:graphicFrame>
      <p:sp>
        <p:nvSpPr>
          <p:cNvPr id="23" name="Text 20"/>
          <p:cNvSpPr/>
          <p:nvPr/>
        </p:nvSpPr>
        <p:spPr>
          <a:xfrm>
            <a:off x="658368" y="5815584"/>
            <a:ext cx="10874959" cy="329184"/>
          </a:xfrm>
          <a:prstGeom prst="rect">
            <a:avLst/>
          </a:prstGeom>
          <a:noFill/>
          <a:ln/>
        </p:spPr>
        <p:txBody>
          <a:bodyPr wrap="square" lIns="0" tIns="0" rIns="0" bIns="0" rtlCol="0" anchor="ctr"/>
          <a:lstStyle/>
          <a:p>
            <a:pPr indent="0" marL="0">
              <a:lnSpc>
                <a:spcPct val="118000"/>
              </a:lnSpc>
              <a:buNone/>
            </a:pPr>
            <a:r>
              <a:rPr lang="en-US" sz="800" dirty="0">
                <a:solidFill>
                  <a:srgbClr val="6E675E"/>
                </a:solidFill>
                <a:latin typeface="Yu Gothic" pitchFamily="34" charset="0"/>
                <a:ea typeface="Yu Gothic" pitchFamily="34" charset="-122"/>
                <a:cs typeface="Yu Gothic" pitchFamily="34" charset="-120"/>
              </a:rPr>
              <a:t>※ SPC在庫を完売するまで自己勘定在庫を売らないという運用は、商品構成が銘柄ごとに異なるため実務上成立しない。したがってプロラタ配分を原則とし、プロラタで決まらない部分についてSPCを優先する設計とした。回転期間は主として「何を組み入れるか」で決まるため、組成時の銘柄選定が最大の担保となる。</a:t>
            </a:r>
            <a:endParaRPr lang="en-US" sz="8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0C0C0C"/>
        </a:solidFill>
      </p:bgPr>
    </p:bg>
    <p:spTree>
      <p:nvGrpSpPr>
        <p:cNvPr id="1" name=""/>
        <p:cNvGrpSpPr/>
        <p:nvPr/>
      </p:nvGrpSpPr>
      <p:grpSpPr>
        <a:xfrm>
          <a:off x="0" y="0"/>
          <a:ext cx="0" cy="0"/>
          <a:chOff x="0" y="0"/>
          <a:chExt cx="0" cy="0"/>
        </a:xfrm>
      </p:grpSpPr>
      <p:sp>
        <p:nvSpPr>
          <p:cNvPr id="2" name="Text 0"/>
          <p:cNvSpPr/>
          <p:nvPr/>
        </p:nvSpPr>
        <p:spPr>
          <a:xfrm>
            <a:off x="658368" y="384048"/>
            <a:ext cx="10874959" cy="219456"/>
          </a:xfrm>
          <a:prstGeom prst="rect">
            <a:avLst/>
          </a:prstGeom>
          <a:noFill/>
          <a:ln/>
        </p:spPr>
        <p:txBody>
          <a:bodyPr wrap="square" lIns="0" tIns="0" rIns="0" bIns="0" rtlCol="0" anchor="ctr"/>
          <a:lstStyle/>
          <a:p>
            <a:pPr indent="0" marL="0">
              <a:buNone/>
            </a:pPr>
            <a:r>
              <a:rPr lang="en-US" sz="1050" b="1" spc="340" kern="0" dirty="0">
                <a:solidFill>
                  <a:srgbClr val="A78450"/>
                </a:solidFill>
                <a:latin typeface="Cambria" pitchFamily="34" charset="0"/>
                <a:ea typeface="Cambria" pitchFamily="34" charset="-122"/>
                <a:cs typeface="Cambria" pitchFamily="34" charset="-120"/>
              </a:rPr>
              <a:t>GOVERNANCE</a:t>
            </a:r>
            <a:endParaRPr lang="en-US" sz="1050" dirty="0"/>
          </a:p>
        </p:txBody>
      </p:sp>
      <p:sp>
        <p:nvSpPr>
          <p:cNvPr id="3" name="Text 1"/>
          <p:cNvSpPr/>
          <p:nvPr/>
        </p:nvSpPr>
        <p:spPr>
          <a:xfrm>
            <a:off x="658368" y="640080"/>
            <a:ext cx="10874959" cy="548640"/>
          </a:xfrm>
          <a:prstGeom prst="rect">
            <a:avLst/>
          </a:prstGeom>
          <a:noFill/>
          <a:ln/>
        </p:spPr>
        <p:txBody>
          <a:bodyPr wrap="square" lIns="0" tIns="0" rIns="0" bIns="0" rtlCol="0" anchor="ctr"/>
          <a:lstStyle/>
          <a:p>
            <a:pPr indent="0" marL="0">
              <a:buNone/>
            </a:pPr>
            <a:r>
              <a:rPr lang="en-US" sz="2700" b="1" dirty="0">
                <a:solidFill>
                  <a:srgbClr val="EFEBE3"/>
                </a:solidFill>
                <a:latin typeface="Yu Mincho" pitchFamily="34" charset="0"/>
                <a:ea typeface="Yu Mincho" pitchFamily="34" charset="-122"/>
                <a:cs typeface="Yu Mincho" pitchFamily="34" charset="-120"/>
              </a:rPr>
              <a:t>情報開示・報告と利益相反の管理</a:t>
            </a:r>
            <a:endParaRPr lang="en-US" sz="2700" dirty="0"/>
          </a:p>
        </p:txBody>
      </p:sp>
      <p:sp>
        <p:nvSpPr>
          <p:cNvPr id="4" name="Text 2"/>
          <p:cNvSpPr/>
          <p:nvPr/>
        </p:nvSpPr>
        <p:spPr>
          <a:xfrm>
            <a:off x="658368" y="1216152"/>
            <a:ext cx="10874959" cy="310896"/>
          </a:xfrm>
          <a:prstGeom prst="rect">
            <a:avLst/>
          </a:prstGeom>
          <a:noFill/>
          <a:ln/>
        </p:spPr>
        <p:txBody>
          <a:bodyPr wrap="square" lIns="0" tIns="0" rIns="0" bIns="0" rtlCol="0" anchor="ctr"/>
          <a:lstStyle/>
          <a:p>
            <a:pPr indent="0" marL="0">
              <a:buNone/>
            </a:pPr>
            <a:r>
              <a:rPr lang="en-US" sz="1150" dirty="0">
                <a:solidFill>
                  <a:srgbClr val="9A938A"/>
                </a:solidFill>
                <a:latin typeface="Yu Gothic" pitchFamily="34" charset="0"/>
                <a:ea typeface="Yu Gothic" pitchFamily="34" charset="-122"/>
                <a:cs typeface="Yu Gothic" pitchFamily="34" charset="-120"/>
              </a:rPr>
              <a:t>運営者への依存度が高いスキームであるため、開示義務と利益相反管理を契約上で具体的に定める。</a:t>
            </a:r>
            <a:endParaRPr lang="en-US" sz="1150" dirty="0"/>
          </a:p>
        </p:txBody>
      </p:sp>
      <p:sp>
        <p:nvSpPr>
          <p:cNvPr id="5" name="Text 3"/>
          <p:cNvSpPr/>
          <p:nvPr/>
        </p:nvSpPr>
        <p:spPr>
          <a:xfrm>
            <a:off x="658368" y="6437376"/>
            <a:ext cx="5029200" cy="219456"/>
          </a:xfrm>
          <a:prstGeom prst="rect">
            <a:avLst/>
          </a:prstGeom>
          <a:noFill/>
          <a:ln/>
        </p:spPr>
        <p:txBody>
          <a:bodyPr wrap="square" lIns="0" tIns="0" rIns="0" bIns="0" rtlCol="0" anchor="ctr"/>
          <a:lstStyle/>
          <a:p>
            <a:pPr indent="0" marL="0">
              <a:buNone/>
            </a:pPr>
            <a:r>
              <a:rPr lang="en-US" sz="850" dirty="0">
                <a:solidFill>
                  <a:srgbClr val="6E675E"/>
                </a:solidFill>
                <a:latin typeface="Yu Gothic" pitchFamily="34" charset="0"/>
                <a:ea typeface="Yu Gothic" pitchFamily="34" charset="-122"/>
                <a:cs typeface="Yu Gothic" pitchFamily="34" charset="-120"/>
              </a:rPr>
              <a:t>CONFIDENTIAL ｜ 株式会社WineBank</a:t>
            </a:r>
            <a:endParaRPr lang="en-US" sz="850" dirty="0"/>
          </a:p>
        </p:txBody>
      </p:sp>
      <p:sp>
        <p:nvSpPr>
          <p:cNvPr id="6" name="Text 4"/>
          <p:cNvSpPr/>
          <p:nvPr/>
        </p:nvSpPr>
        <p:spPr>
          <a:xfrm>
            <a:off x="10618927" y="6437376"/>
            <a:ext cx="914400" cy="219456"/>
          </a:xfrm>
          <a:prstGeom prst="rect">
            <a:avLst/>
          </a:prstGeom>
          <a:noFill/>
          <a:ln/>
        </p:spPr>
        <p:txBody>
          <a:bodyPr wrap="square" lIns="0" tIns="0" rIns="0" bIns="0" rtlCol="0" anchor="ctr"/>
          <a:lstStyle/>
          <a:p>
            <a:pPr algn="r" indent="0" marL="0">
              <a:buNone/>
            </a:pPr>
            <a:r>
              <a:rPr lang="en-US" sz="950" spc="150" kern="0" dirty="0">
                <a:solidFill>
                  <a:srgbClr val="6E5730"/>
                </a:solidFill>
                <a:latin typeface="Cambria" pitchFamily="34" charset="0"/>
                <a:ea typeface="Cambria" pitchFamily="34" charset="-122"/>
                <a:cs typeface="Cambria" pitchFamily="34" charset="-120"/>
              </a:rPr>
              <a:t>17</a:t>
            </a:r>
            <a:endParaRPr lang="en-US" sz="950" dirty="0"/>
          </a:p>
        </p:txBody>
      </p:sp>
      <p:sp>
        <p:nvSpPr>
          <p:cNvPr id="7" name="Shape 5"/>
          <p:cNvSpPr/>
          <p:nvPr/>
        </p:nvSpPr>
        <p:spPr>
          <a:xfrm>
            <a:off x="658368" y="1627632"/>
            <a:ext cx="5300320" cy="3163824"/>
          </a:xfrm>
          <a:prstGeom prst="roundRect">
            <a:avLst>
              <a:gd name="adj" fmla="val 1301"/>
            </a:avLst>
          </a:prstGeom>
          <a:solidFill>
            <a:srgbClr val="171614"/>
          </a:solidFill>
          <a:ln w="9525">
            <a:solidFill>
              <a:srgbClr val="2E2A24"/>
            </a:solidFill>
            <a:prstDash val="solid"/>
          </a:ln>
        </p:spPr>
      </p:sp>
      <p:sp>
        <p:nvSpPr>
          <p:cNvPr id="8" name="Text 6"/>
          <p:cNvSpPr/>
          <p:nvPr/>
        </p:nvSpPr>
        <p:spPr>
          <a:xfrm>
            <a:off x="914400" y="1792224"/>
            <a:ext cx="4788256" cy="256032"/>
          </a:xfrm>
          <a:prstGeom prst="rect">
            <a:avLst/>
          </a:prstGeom>
          <a:noFill/>
          <a:ln/>
        </p:spPr>
        <p:txBody>
          <a:bodyPr wrap="square" lIns="0" tIns="0" rIns="0" bIns="0" rtlCol="0" anchor="ctr"/>
          <a:lstStyle/>
          <a:p>
            <a:pPr indent="0" marL="0">
              <a:buNone/>
            </a:pPr>
            <a:r>
              <a:rPr lang="en-US" sz="1250" b="1" dirty="0">
                <a:solidFill>
                  <a:srgbClr val="C9A96E"/>
                </a:solidFill>
                <a:latin typeface="Yu Gothic" pitchFamily="34" charset="0"/>
                <a:ea typeface="Yu Gothic" pitchFamily="34" charset="-122"/>
                <a:cs typeface="Yu Gothic" pitchFamily="34" charset="-120"/>
              </a:rPr>
              <a:t>契約上の報告・開示義務</a:t>
            </a:r>
            <a:endParaRPr lang="en-US" sz="1250" dirty="0"/>
          </a:p>
        </p:txBody>
      </p:sp>
      <p:sp>
        <p:nvSpPr>
          <p:cNvPr id="9" name="Shape 7"/>
          <p:cNvSpPr/>
          <p:nvPr/>
        </p:nvSpPr>
        <p:spPr>
          <a:xfrm>
            <a:off x="932688" y="2199132"/>
            <a:ext cx="128016" cy="128016"/>
          </a:xfrm>
          <a:prstGeom prst="ellipse">
            <a:avLst/>
          </a:prstGeom>
          <a:solidFill>
            <a:srgbClr val="A78450"/>
          </a:solidFill>
          <a:ln w="11430">
            <a:solidFill>
              <a:srgbClr val="A78450"/>
            </a:solidFill>
            <a:prstDash val="solid"/>
          </a:ln>
        </p:spPr>
      </p:sp>
      <p:sp>
        <p:nvSpPr>
          <p:cNvPr id="10" name="Text 8"/>
          <p:cNvSpPr/>
          <p:nvPr/>
        </p:nvSpPr>
        <p:spPr>
          <a:xfrm>
            <a:off x="932688" y="2199132"/>
            <a:ext cx="128016" cy="128016"/>
          </a:xfrm>
          <a:prstGeom prst="rect">
            <a:avLst/>
          </a:prstGeom>
          <a:noFill/>
          <a:ln/>
        </p:spPr>
        <p:txBody>
          <a:bodyPr wrap="square" lIns="0" tIns="0" rIns="0" bIns="0" rtlCol="0" anchor="ctr"/>
          <a:lstStyle/>
          <a:p>
            <a:pPr algn="ctr" indent="0" marL="0">
              <a:buNone/>
            </a:pPr>
            <a:endParaRPr lang="en-US" sz="1100" dirty="0"/>
          </a:p>
        </p:txBody>
      </p:sp>
      <p:sp>
        <p:nvSpPr>
          <p:cNvPr id="11" name="Text 9"/>
          <p:cNvSpPr/>
          <p:nvPr/>
        </p:nvSpPr>
        <p:spPr>
          <a:xfrm>
            <a:off x="1152144" y="2121408"/>
            <a:ext cx="4532224" cy="292608"/>
          </a:xfrm>
          <a:prstGeom prst="rect">
            <a:avLst/>
          </a:prstGeom>
          <a:noFill/>
          <a:ln/>
        </p:spPr>
        <p:txBody>
          <a:bodyPr wrap="square" lIns="0" tIns="0" rIns="0" bIns="0" rtlCol="0" anchor="ctr"/>
          <a:lstStyle/>
          <a:p>
            <a:pPr indent="0" marL="0">
              <a:lnSpc>
                <a:spcPct val="115000"/>
              </a:lnSpc>
              <a:buNone/>
            </a:pPr>
            <a:r>
              <a:rPr lang="en-US" sz="950" dirty="0">
                <a:solidFill>
                  <a:srgbClr val="9A938A"/>
                </a:solidFill>
                <a:latin typeface="Yu Gothic" pitchFamily="34" charset="0"/>
                <a:ea typeface="Yu Gothic" pitchFamily="34" charset="-122"/>
                <a:cs typeface="Yu Gothic" pitchFamily="34" charset="-120"/>
              </a:rPr>
              <a:t>四半期ごとの損益、資金収支および事業進捗</a:t>
            </a:r>
            <a:endParaRPr lang="en-US" sz="950" dirty="0"/>
          </a:p>
        </p:txBody>
      </p:sp>
      <p:sp>
        <p:nvSpPr>
          <p:cNvPr id="12" name="Shape 10"/>
          <p:cNvSpPr/>
          <p:nvPr/>
        </p:nvSpPr>
        <p:spPr>
          <a:xfrm>
            <a:off x="932688" y="2528316"/>
            <a:ext cx="128016" cy="128016"/>
          </a:xfrm>
          <a:prstGeom prst="ellipse">
            <a:avLst/>
          </a:prstGeom>
          <a:solidFill>
            <a:srgbClr val="A78450"/>
          </a:solidFill>
          <a:ln w="11430">
            <a:solidFill>
              <a:srgbClr val="A78450"/>
            </a:solidFill>
            <a:prstDash val="solid"/>
          </a:ln>
        </p:spPr>
      </p:sp>
      <p:sp>
        <p:nvSpPr>
          <p:cNvPr id="13" name="Text 11"/>
          <p:cNvSpPr/>
          <p:nvPr/>
        </p:nvSpPr>
        <p:spPr>
          <a:xfrm>
            <a:off x="932688" y="2528316"/>
            <a:ext cx="128016" cy="128016"/>
          </a:xfrm>
          <a:prstGeom prst="rect">
            <a:avLst/>
          </a:prstGeom>
          <a:noFill/>
          <a:ln/>
        </p:spPr>
        <p:txBody>
          <a:bodyPr wrap="square" lIns="0" tIns="0" rIns="0" bIns="0" rtlCol="0" anchor="ctr"/>
          <a:lstStyle/>
          <a:p>
            <a:pPr algn="ctr" indent="0" marL="0">
              <a:buNone/>
            </a:pPr>
            <a:endParaRPr lang="en-US" sz="1100" dirty="0"/>
          </a:p>
        </p:txBody>
      </p:sp>
      <p:sp>
        <p:nvSpPr>
          <p:cNvPr id="14" name="Text 12"/>
          <p:cNvSpPr/>
          <p:nvPr/>
        </p:nvSpPr>
        <p:spPr>
          <a:xfrm>
            <a:off x="1152144" y="2450592"/>
            <a:ext cx="4532224" cy="292608"/>
          </a:xfrm>
          <a:prstGeom prst="rect">
            <a:avLst/>
          </a:prstGeom>
          <a:noFill/>
          <a:ln/>
        </p:spPr>
        <p:txBody>
          <a:bodyPr wrap="square" lIns="0" tIns="0" rIns="0" bIns="0" rtlCol="0" anchor="ctr"/>
          <a:lstStyle/>
          <a:p>
            <a:pPr indent="0" marL="0">
              <a:lnSpc>
                <a:spcPct val="115000"/>
              </a:lnSpc>
              <a:buNone/>
            </a:pPr>
            <a:r>
              <a:rPr lang="en-US" sz="950" dirty="0">
                <a:solidFill>
                  <a:srgbClr val="9A938A"/>
                </a:solidFill>
                <a:latin typeface="Yu Gothic" pitchFamily="34" charset="0"/>
                <a:ea typeface="Yu Gothic" pitchFamily="34" charset="-122"/>
                <a:cs typeface="Yu Gothic" pitchFamily="34" charset="-120"/>
              </a:rPr>
              <a:t>仕入数量・仕入単価・販売数量・販売単価・在庫数量</a:t>
            </a:r>
            <a:endParaRPr lang="en-US" sz="950" dirty="0"/>
          </a:p>
        </p:txBody>
      </p:sp>
      <p:sp>
        <p:nvSpPr>
          <p:cNvPr id="15" name="Shape 13"/>
          <p:cNvSpPr/>
          <p:nvPr/>
        </p:nvSpPr>
        <p:spPr>
          <a:xfrm>
            <a:off x="932688" y="2857500"/>
            <a:ext cx="128016" cy="128016"/>
          </a:xfrm>
          <a:prstGeom prst="ellipse">
            <a:avLst/>
          </a:prstGeom>
          <a:solidFill>
            <a:srgbClr val="A78450"/>
          </a:solidFill>
          <a:ln w="11430">
            <a:solidFill>
              <a:srgbClr val="A78450"/>
            </a:solidFill>
            <a:prstDash val="solid"/>
          </a:ln>
        </p:spPr>
      </p:sp>
      <p:sp>
        <p:nvSpPr>
          <p:cNvPr id="16" name="Text 14"/>
          <p:cNvSpPr/>
          <p:nvPr/>
        </p:nvSpPr>
        <p:spPr>
          <a:xfrm>
            <a:off x="932688" y="2857500"/>
            <a:ext cx="128016" cy="128016"/>
          </a:xfrm>
          <a:prstGeom prst="rect">
            <a:avLst/>
          </a:prstGeom>
          <a:noFill/>
          <a:ln/>
        </p:spPr>
        <p:txBody>
          <a:bodyPr wrap="square" lIns="0" tIns="0" rIns="0" bIns="0" rtlCol="0" anchor="ctr"/>
          <a:lstStyle/>
          <a:p>
            <a:pPr algn="ctr" indent="0" marL="0">
              <a:buNone/>
            </a:pPr>
            <a:endParaRPr lang="en-US" sz="1100" dirty="0"/>
          </a:p>
        </p:txBody>
      </p:sp>
      <p:sp>
        <p:nvSpPr>
          <p:cNvPr id="17" name="Text 15"/>
          <p:cNvSpPr/>
          <p:nvPr/>
        </p:nvSpPr>
        <p:spPr>
          <a:xfrm>
            <a:off x="1152144" y="2779776"/>
            <a:ext cx="4532224" cy="292608"/>
          </a:xfrm>
          <a:prstGeom prst="rect">
            <a:avLst/>
          </a:prstGeom>
          <a:noFill/>
          <a:ln/>
        </p:spPr>
        <p:txBody>
          <a:bodyPr wrap="square" lIns="0" tIns="0" rIns="0" bIns="0" rtlCol="0" anchor="ctr"/>
          <a:lstStyle/>
          <a:p>
            <a:pPr indent="0" marL="0">
              <a:lnSpc>
                <a:spcPct val="115000"/>
              </a:lnSpc>
              <a:buNone/>
            </a:pPr>
            <a:r>
              <a:rPr lang="en-US" sz="950" dirty="0">
                <a:solidFill>
                  <a:srgbClr val="9A938A"/>
                </a:solidFill>
                <a:latin typeface="Yu Gothic" pitchFamily="34" charset="0"/>
                <a:ea typeface="Yu Gothic" pitchFamily="34" charset="-122"/>
                <a:cs typeface="Yu Gothic" pitchFamily="34" charset="-120"/>
              </a:rPr>
              <a:t>資金使途、銀行口座残高および主要な支払内容</a:t>
            </a:r>
            <a:endParaRPr lang="en-US" sz="950" dirty="0"/>
          </a:p>
        </p:txBody>
      </p:sp>
      <p:sp>
        <p:nvSpPr>
          <p:cNvPr id="18" name="Shape 16"/>
          <p:cNvSpPr/>
          <p:nvPr/>
        </p:nvSpPr>
        <p:spPr>
          <a:xfrm>
            <a:off x="932688" y="3186684"/>
            <a:ext cx="128016" cy="128016"/>
          </a:xfrm>
          <a:prstGeom prst="ellipse">
            <a:avLst/>
          </a:prstGeom>
          <a:solidFill>
            <a:srgbClr val="A78450"/>
          </a:solidFill>
          <a:ln w="11430">
            <a:solidFill>
              <a:srgbClr val="A78450"/>
            </a:solidFill>
            <a:prstDash val="solid"/>
          </a:ln>
        </p:spPr>
      </p:sp>
      <p:sp>
        <p:nvSpPr>
          <p:cNvPr id="19" name="Text 17"/>
          <p:cNvSpPr/>
          <p:nvPr/>
        </p:nvSpPr>
        <p:spPr>
          <a:xfrm>
            <a:off x="932688" y="3186684"/>
            <a:ext cx="128016" cy="128016"/>
          </a:xfrm>
          <a:prstGeom prst="rect">
            <a:avLst/>
          </a:prstGeom>
          <a:noFill/>
          <a:ln/>
        </p:spPr>
        <p:txBody>
          <a:bodyPr wrap="square" lIns="0" tIns="0" rIns="0" bIns="0" rtlCol="0" anchor="ctr"/>
          <a:lstStyle/>
          <a:p>
            <a:pPr algn="ctr" indent="0" marL="0">
              <a:buNone/>
            </a:pPr>
            <a:endParaRPr lang="en-US" sz="1100" dirty="0"/>
          </a:p>
        </p:txBody>
      </p:sp>
      <p:sp>
        <p:nvSpPr>
          <p:cNvPr id="20" name="Text 18"/>
          <p:cNvSpPr/>
          <p:nvPr/>
        </p:nvSpPr>
        <p:spPr>
          <a:xfrm>
            <a:off x="1152144" y="3108960"/>
            <a:ext cx="4532224" cy="292608"/>
          </a:xfrm>
          <a:prstGeom prst="rect">
            <a:avLst/>
          </a:prstGeom>
          <a:noFill/>
          <a:ln/>
        </p:spPr>
        <p:txBody>
          <a:bodyPr wrap="square" lIns="0" tIns="0" rIns="0" bIns="0" rtlCol="0" anchor="ctr"/>
          <a:lstStyle/>
          <a:p>
            <a:pPr indent="0" marL="0">
              <a:lnSpc>
                <a:spcPct val="115000"/>
              </a:lnSpc>
              <a:buNone/>
            </a:pPr>
            <a:r>
              <a:rPr lang="en-US" sz="950" dirty="0">
                <a:solidFill>
                  <a:srgbClr val="9A938A"/>
                </a:solidFill>
                <a:latin typeface="Yu Gothic" pitchFamily="34" charset="0"/>
                <a:ea typeface="Yu Gothic" pitchFamily="34" charset="-122"/>
                <a:cs typeface="Yu Gothic" pitchFamily="34" charset="-120"/>
              </a:rPr>
              <a:t>関連当事者取引・利益相反取引の内容、金額、取引条件</a:t>
            </a:r>
            <a:endParaRPr lang="en-US" sz="950" dirty="0"/>
          </a:p>
        </p:txBody>
      </p:sp>
      <p:sp>
        <p:nvSpPr>
          <p:cNvPr id="21" name="Shape 19"/>
          <p:cNvSpPr/>
          <p:nvPr/>
        </p:nvSpPr>
        <p:spPr>
          <a:xfrm>
            <a:off x="932688" y="3515868"/>
            <a:ext cx="128016" cy="128016"/>
          </a:xfrm>
          <a:prstGeom prst="ellipse">
            <a:avLst/>
          </a:prstGeom>
          <a:solidFill>
            <a:srgbClr val="A78450"/>
          </a:solidFill>
          <a:ln w="11430">
            <a:solidFill>
              <a:srgbClr val="A78450"/>
            </a:solidFill>
            <a:prstDash val="solid"/>
          </a:ln>
        </p:spPr>
      </p:sp>
      <p:sp>
        <p:nvSpPr>
          <p:cNvPr id="22" name="Text 20"/>
          <p:cNvSpPr/>
          <p:nvPr/>
        </p:nvSpPr>
        <p:spPr>
          <a:xfrm>
            <a:off x="932688" y="3515868"/>
            <a:ext cx="128016" cy="128016"/>
          </a:xfrm>
          <a:prstGeom prst="rect">
            <a:avLst/>
          </a:prstGeom>
          <a:noFill/>
          <a:ln/>
        </p:spPr>
        <p:txBody>
          <a:bodyPr wrap="square" lIns="0" tIns="0" rIns="0" bIns="0" rtlCol="0" anchor="ctr"/>
          <a:lstStyle/>
          <a:p>
            <a:pPr algn="ctr" indent="0" marL="0">
              <a:buNone/>
            </a:pPr>
            <a:endParaRPr lang="en-US" sz="1100" dirty="0"/>
          </a:p>
        </p:txBody>
      </p:sp>
      <p:sp>
        <p:nvSpPr>
          <p:cNvPr id="23" name="Text 21"/>
          <p:cNvSpPr/>
          <p:nvPr/>
        </p:nvSpPr>
        <p:spPr>
          <a:xfrm>
            <a:off x="1152144" y="3438144"/>
            <a:ext cx="4532224" cy="292608"/>
          </a:xfrm>
          <a:prstGeom prst="rect">
            <a:avLst/>
          </a:prstGeom>
          <a:noFill/>
          <a:ln/>
        </p:spPr>
        <p:txBody>
          <a:bodyPr wrap="square" lIns="0" tIns="0" rIns="0" bIns="0" rtlCol="0" anchor="ctr"/>
          <a:lstStyle/>
          <a:p>
            <a:pPr indent="0" marL="0">
              <a:lnSpc>
                <a:spcPct val="115000"/>
              </a:lnSpc>
              <a:buNone/>
            </a:pPr>
            <a:r>
              <a:rPr lang="en-US" sz="950" dirty="0">
                <a:solidFill>
                  <a:srgbClr val="9A938A"/>
                </a:solidFill>
                <a:latin typeface="Yu Gothic" pitchFamily="34" charset="0"/>
                <a:ea typeface="Yu Gothic" pitchFamily="34" charset="-122"/>
                <a:cs typeface="Yu Gothic" pitchFamily="34" charset="-120"/>
              </a:rPr>
              <a:t>一定金額以上の取引、借入れ、追加投資、契約変更の事前承認</a:t>
            </a:r>
            <a:endParaRPr lang="en-US" sz="950" dirty="0"/>
          </a:p>
        </p:txBody>
      </p:sp>
      <p:sp>
        <p:nvSpPr>
          <p:cNvPr id="24" name="Shape 22"/>
          <p:cNvSpPr/>
          <p:nvPr/>
        </p:nvSpPr>
        <p:spPr>
          <a:xfrm>
            <a:off x="932688" y="3845052"/>
            <a:ext cx="128016" cy="128016"/>
          </a:xfrm>
          <a:prstGeom prst="ellipse">
            <a:avLst/>
          </a:prstGeom>
          <a:solidFill>
            <a:srgbClr val="A78450"/>
          </a:solidFill>
          <a:ln w="11430">
            <a:solidFill>
              <a:srgbClr val="A78450"/>
            </a:solidFill>
            <a:prstDash val="solid"/>
          </a:ln>
        </p:spPr>
      </p:sp>
      <p:sp>
        <p:nvSpPr>
          <p:cNvPr id="25" name="Text 23"/>
          <p:cNvSpPr/>
          <p:nvPr/>
        </p:nvSpPr>
        <p:spPr>
          <a:xfrm>
            <a:off x="932688" y="3845052"/>
            <a:ext cx="128016" cy="128016"/>
          </a:xfrm>
          <a:prstGeom prst="rect">
            <a:avLst/>
          </a:prstGeom>
          <a:noFill/>
          <a:ln/>
        </p:spPr>
        <p:txBody>
          <a:bodyPr wrap="square" lIns="0" tIns="0" rIns="0" bIns="0" rtlCol="0" anchor="ctr"/>
          <a:lstStyle/>
          <a:p>
            <a:pPr algn="ctr" indent="0" marL="0">
              <a:buNone/>
            </a:pPr>
            <a:endParaRPr lang="en-US" sz="1100" dirty="0"/>
          </a:p>
        </p:txBody>
      </p:sp>
      <p:sp>
        <p:nvSpPr>
          <p:cNvPr id="26" name="Text 24"/>
          <p:cNvSpPr/>
          <p:nvPr/>
        </p:nvSpPr>
        <p:spPr>
          <a:xfrm>
            <a:off x="1152144" y="3767328"/>
            <a:ext cx="4532224" cy="292608"/>
          </a:xfrm>
          <a:prstGeom prst="rect">
            <a:avLst/>
          </a:prstGeom>
          <a:noFill/>
          <a:ln/>
        </p:spPr>
        <p:txBody>
          <a:bodyPr wrap="square" lIns="0" tIns="0" rIns="0" bIns="0" rtlCol="0" anchor="ctr"/>
          <a:lstStyle/>
          <a:p>
            <a:pPr indent="0" marL="0">
              <a:lnSpc>
                <a:spcPct val="115000"/>
              </a:lnSpc>
              <a:buNone/>
            </a:pPr>
            <a:r>
              <a:rPr lang="en-US" sz="950" dirty="0">
                <a:solidFill>
                  <a:srgbClr val="9A938A"/>
                </a:solidFill>
                <a:latin typeface="Yu Gothic" pitchFamily="34" charset="0"/>
                <a:ea typeface="Yu Gothic" pitchFamily="34" charset="-122"/>
                <a:cs typeface="Yu Gothic" pitchFamily="34" charset="-120"/>
              </a:rPr>
              <a:t>会計帳簿・請求書・契約書・銀行取引記録の閲覧および調査権</a:t>
            </a:r>
            <a:endParaRPr lang="en-US" sz="950" dirty="0"/>
          </a:p>
        </p:txBody>
      </p:sp>
      <p:sp>
        <p:nvSpPr>
          <p:cNvPr id="27" name="Shape 25"/>
          <p:cNvSpPr/>
          <p:nvPr/>
        </p:nvSpPr>
        <p:spPr>
          <a:xfrm>
            <a:off x="932688" y="4174236"/>
            <a:ext cx="128016" cy="128016"/>
          </a:xfrm>
          <a:prstGeom prst="ellipse">
            <a:avLst/>
          </a:prstGeom>
          <a:solidFill>
            <a:srgbClr val="A78450"/>
          </a:solidFill>
          <a:ln w="11430">
            <a:solidFill>
              <a:srgbClr val="A78450"/>
            </a:solidFill>
            <a:prstDash val="solid"/>
          </a:ln>
        </p:spPr>
      </p:sp>
      <p:sp>
        <p:nvSpPr>
          <p:cNvPr id="28" name="Text 26"/>
          <p:cNvSpPr/>
          <p:nvPr/>
        </p:nvSpPr>
        <p:spPr>
          <a:xfrm>
            <a:off x="932688" y="4174236"/>
            <a:ext cx="128016" cy="128016"/>
          </a:xfrm>
          <a:prstGeom prst="rect">
            <a:avLst/>
          </a:prstGeom>
          <a:noFill/>
          <a:ln/>
        </p:spPr>
        <p:txBody>
          <a:bodyPr wrap="square" lIns="0" tIns="0" rIns="0" bIns="0" rtlCol="0" anchor="ctr"/>
          <a:lstStyle/>
          <a:p>
            <a:pPr algn="ctr" indent="0" marL="0">
              <a:buNone/>
            </a:pPr>
            <a:endParaRPr lang="en-US" sz="1100" dirty="0"/>
          </a:p>
        </p:txBody>
      </p:sp>
      <p:sp>
        <p:nvSpPr>
          <p:cNvPr id="29" name="Text 27"/>
          <p:cNvSpPr/>
          <p:nvPr/>
        </p:nvSpPr>
        <p:spPr>
          <a:xfrm>
            <a:off x="1152144" y="4096512"/>
            <a:ext cx="4532224" cy="292608"/>
          </a:xfrm>
          <a:prstGeom prst="rect">
            <a:avLst/>
          </a:prstGeom>
          <a:noFill/>
          <a:ln/>
        </p:spPr>
        <p:txBody>
          <a:bodyPr wrap="square" lIns="0" tIns="0" rIns="0" bIns="0" rtlCol="0" anchor="ctr"/>
          <a:lstStyle/>
          <a:p>
            <a:pPr indent="0" marL="0">
              <a:lnSpc>
                <a:spcPct val="115000"/>
              </a:lnSpc>
              <a:buNone/>
            </a:pPr>
            <a:r>
              <a:rPr lang="en-US" sz="950" dirty="0">
                <a:solidFill>
                  <a:srgbClr val="9A938A"/>
                </a:solidFill>
                <a:latin typeface="Yu Gothic" pitchFamily="34" charset="0"/>
                <a:ea typeface="Yu Gothic" pitchFamily="34" charset="-122"/>
                <a:cs typeface="Yu Gothic" pitchFamily="34" charset="-120"/>
              </a:rPr>
              <a:t>重大な計画変更、損失発生、不正または法令違反時の速やかな報告</a:t>
            </a:r>
            <a:endParaRPr lang="en-US" sz="950" dirty="0"/>
          </a:p>
        </p:txBody>
      </p:sp>
      <p:sp>
        <p:nvSpPr>
          <p:cNvPr id="30" name="Shape 28"/>
          <p:cNvSpPr/>
          <p:nvPr/>
        </p:nvSpPr>
        <p:spPr>
          <a:xfrm>
            <a:off x="6233008" y="1627632"/>
            <a:ext cx="5300320" cy="3163824"/>
          </a:xfrm>
          <a:prstGeom prst="roundRect">
            <a:avLst>
              <a:gd name="adj" fmla="val 1301"/>
            </a:avLst>
          </a:prstGeom>
          <a:solidFill>
            <a:srgbClr val="1F1D19"/>
          </a:solidFill>
          <a:ln w="9525">
            <a:solidFill>
              <a:srgbClr val="6E5730"/>
            </a:solidFill>
            <a:prstDash val="solid"/>
          </a:ln>
        </p:spPr>
      </p:sp>
      <p:sp>
        <p:nvSpPr>
          <p:cNvPr id="31" name="Text 29"/>
          <p:cNvSpPr/>
          <p:nvPr/>
        </p:nvSpPr>
        <p:spPr>
          <a:xfrm>
            <a:off x="6489040" y="1792224"/>
            <a:ext cx="4788256" cy="256032"/>
          </a:xfrm>
          <a:prstGeom prst="rect">
            <a:avLst/>
          </a:prstGeom>
          <a:noFill/>
          <a:ln/>
        </p:spPr>
        <p:txBody>
          <a:bodyPr wrap="square" lIns="0" tIns="0" rIns="0" bIns="0" rtlCol="0" anchor="ctr"/>
          <a:lstStyle/>
          <a:p>
            <a:pPr indent="0" marL="0">
              <a:buNone/>
            </a:pPr>
            <a:r>
              <a:rPr lang="en-US" sz="1250" b="1" dirty="0">
                <a:solidFill>
                  <a:srgbClr val="C9A96E"/>
                </a:solidFill>
                <a:latin typeface="Yu Gothic" pitchFamily="34" charset="0"/>
                <a:ea typeface="Yu Gothic" pitchFamily="34" charset="-122"/>
                <a:cs typeface="Yu Gothic" pitchFamily="34" charset="-120"/>
              </a:rPr>
              <a:t>利益相反の管理</a:t>
            </a:r>
            <a:endParaRPr lang="en-US" sz="1250" dirty="0"/>
          </a:p>
        </p:txBody>
      </p:sp>
      <p:sp>
        <p:nvSpPr>
          <p:cNvPr id="32" name="Text 30"/>
          <p:cNvSpPr/>
          <p:nvPr/>
        </p:nvSpPr>
        <p:spPr>
          <a:xfrm>
            <a:off x="6489040" y="2157984"/>
            <a:ext cx="4788256" cy="219456"/>
          </a:xfrm>
          <a:prstGeom prst="rect">
            <a:avLst/>
          </a:prstGeom>
          <a:noFill/>
          <a:ln/>
        </p:spPr>
        <p:txBody>
          <a:bodyPr wrap="square" lIns="0" tIns="0" rIns="0" bIns="0" rtlCol="0" anchor="ctr"/>
          <a:lstStyle/>
          <a:p>
            <a:pPr indent="0" marL="0">
              <a:buNone/>
            </a:pPr>
            <a:r>
              <a:rPr lang="en-US" sz="1050" b="1" dirty="0">
                <a:solidFill>
                  <a:srgbClr val="EFEBE3"/>
                </a:solidFill>
                <a:latin typeface="Yu Gothic" pitchFamily="34" charset="0"/>
                <a:ea typeface="Yu Gothic" pitchFamily="34" charset="-122"/>
                <a:cs typeface="Yu Gothic" pitchFamily="34" charset="-120"/>
              </a:rPr>
              <a:t>独立企業間価格の原則</a:t>
            </a:r>
            <a:endParaRPr lang="en-US" sz="1050" dirty="0"/>
          </a:p>
        </p:txBody>
      </p:sp>
      <p:sp>
        <p:nvSpPr>
          <p:cNvPr id="33" name="Text 31"/>
          <p:cNvSpPr/>
          <p:nvPr/>
        </p:nvSpPr>
        <p:spPr>
          <a:xfrm>
            <a:off x="6489040" y="2377440"/>
            <a:ext cx="4788256" cy="384048"/>
          </a:xfrm>
          <a:prstGeom prst="rect">
            <a:avLst/>
          </a:prstGeom>
          <a:noFill/>
          <a:ln/>
        </p:spPr>
        <p:txBody>
          <a:bodyPr wrap="square" lIns="0" tIns="0" rIns="0" bIns="0" rtlCol="0" anchor="ctr"/>
          <a:lstStyle/>
          <a:p>
            <a:pPr indent="0" marL="0">
              <a:lnSpc>
                <a:spcPct val="120000"/>
              </a:lnSpc>
              <a:buNone/>
            </a:pPr>
            <a:r>
              <a:rPr lang="en-US" sz="900" dirty="0">
                <a:solidFill>
                  <a:srgbClr val="9A938A"/>
                </a:solidFill>
                <a:latin typeface="Yu Gothic" pitchFamily="34" charset="0"/>
                <a:ea typeface="Yu Gothic" pitchFamily="34" charset="-122"/>
                <a:cs typeface="Yu Gothic" pitchFamily="34" charset="-120"/>
              </a:rPr>
              <a:t>運営者およびその関係会社との取引は、第三者との取引条件と同等の条件によるものとする。</a:t>
            </a:r>
            <a:endParaRPr lang="en-US" sz="900" dirty="0"/>
          </a:p>
        </p:txBody>
      </p:sp>
      <p:sp>
        <p:nvSpPr>
          <p:cNvPr id="34" name="Text 32"/>
          <p:cNvSpPr/>
          <p:nvPr/>
        </p:nvSpPr>
        <p:spPr>
          <a:xfrm>
            <a:off x="6489040" y="2816352"/>
            <a:ext cx="4788256" cy="219456"/>
          </a:xfrm>
          <a:prstGeom prst="rect">
            <a:avLst/>
          </a:prstGeom>
          <a:noFill/>
          <a:ln/>
        </p:spPr>
        <p:txBody>
          <a:bodyPr wrap="square" lIns="0" tIns="0" rIns="0" bIns="0" rtlCol="0" anchor="ctr"/>
          <a:lstStyle/>
          <a:p>
            <a:pPr indent="0" marL="0">
              <a:buNone/>
            </a:pPr>
            <a:r>
              <a:rPr lang="en-US" sz="1050" b="1" dirty="0">
                <a:solidFill>
                  <a:srgbClr val="EFEBE3"/>
                </a:solidFill>
                <a:latin typeface="Yu Gothic" pitchFamily="34" charset="0"/>
                <a:ea typeface="Yu Gothic" pitchFamily="34" charset="-122"/>
                <a:cs typeface="Yu Gothic" pitchFamily="34" charset="-120"/>
              </a:rPr>
              <a:t>価格根拠の文書化</a:t>
            </a:r>
            <a:endParaRPr lang="en-US" sz="1050" dirty="0"/>
          </a:p>
        </p:txBody>
      </p:sp>
      <p:sp>
        <p:nvSpPr>
          <p:cNvPr id="35" name="Text 33"/>
          <p:cNvSpPr/>
          <p:nvPr/>
        </p:nvSpPr>
        <p:spPr>
          <a:xfrm>
            <a:off x="6489040" y="3035808"/>
            <a:ext cx="4788256" cy="384048"/>
          </a:xfrm>
          <a:prstGeom prst="rect">
            <a:avLst/>
          </a:prstGeom>
          <a:noFill/>
          <a:ln/>
        </p:spPr>
        <p:txBody>
          <a:bodyPr wrap="square" lIns="0" tIns="0" rIns="0" bIns="0" rtlCol="0" anchor="ctr"/>
          <a:lstStyle/>
          <a:p>
            <a:pPr indent="0" marL="0">
              <a:lnSpc>
                <a:spcPct val="120000"/>
              </a:lnSpc>
              <a:buNone/>
            </a:pPr>
            <a:r>
              <a:rPr lang="en-US" sz="900" dirty="0">
                <a:solidFill>
                  <a:srgbClr val="9A938A"/>
                </a:solidFill>
                <a:latin typeface="Yu Gothic" pitchFamily="34" charset="0"/>
                <a:ea typeface="Yu Gothic" pitchFamily="34" charset="-122"/>
                <a:cs typeface="Yu Gothic" pitchFamily="34" charset="-120"/>
              </a:rPr>
              <a:t>現物譲渡の1%を含め、価格および条件の合理性を客観的資料により説明できる状態を維持する。</a:t>
            </a:r>
            <a:endParaRPr lang="en-US" sz="900" dirty="0"/>
          </a:p>
        </p:txBody>
      </p:sp>
      <p:sp>
        <p:nvSpPr>
          <p:cNvPr id="36" name="Text 34"/>
          <p:cNvSpPr/>
          <p:nvPr/>
        </p:nvSpPr>
        <p:spPr>
          <a:xfrm>
            <a:off x="6489040" y="3474720"/>
            <a:ext cx="4788256" cy="219456"/>
          </a:xfrm>
          <a:prstGeom prst="rect">
            <a:avLst/>
          </a:prstGeom>
          <a:noFill/>
          <a:ln/>
        </p:spPr>
        <p:txBody>
          <a:bodyPr wrap="square" lIns="0" tIns="0" rIns="0" bIns="0" rtlCol="0" anchor="ctr"/>
          <a:lstStyle/>
          <a:p>
            <a:pPr indent="0" marL="0">
              <a:buNone/>
            </a:pPr>
            <a:r>
              <a:rPr lang="en-US" sz="1050" b="1" dirty="0">
                <a:solidFill>
                  <a:srgbClr val="EFEBE3"/>
                </a:solidFill>
                <a:latin typeface="Yu Gothic" pitchFamily="34" charset="0"/>
                <a:ea typeface="Yu Gothic" pitchFamily="34" charset="-122"/>
                <a:cs typeface="Yu Gothic" pitchFamily="34" charset="-120"/>
              </a:rPr>
              <a:t>重要な関連当事者取引の事前承認</a:t>
            </a:r>
            <a:endParaRPr lang="en-US" sz="1050" dirty="0"/>
          </a:p>
        </p:txBody>
      </p:sp>
      <p:sp>
        <p:nvSpPr>
          <p:cNvPr id="37" name="Text 35"/>
          <p:cNvSpPr/>
          <p:nvPr/>
        </p:nvSpPr>
        <p:spPr>
          <a:xfrm>
            <a:off x="6489040" y="3694176"/>
            <a:ext cx="4788256" cy="384048"/>
          </a:xfrm>
          <a:prstGeom prst="rect">
            <a:avLst/>
          </a:prstGeom>
          <a:noFill/>
          <a:ln/>
        </p:spPr>
        <p:txBody>
          <a:bodyPr wrap="square" lIns="0" tIns="0" rIns="0" bIns="0" rtlCol="0" anchor="ctr"/>
          <a:lstStyle/>
          <a:p>
            <a:pPr indent="0" marL="0">
              <a:lnSpc>
                <a:spcPct val="120000"/>
              </a:lnSpc>
              <a:buNone/>
            </a:pPr>
            <a:r>
              <a:rPr lang="en-US" sz="900" dirty="0">
                <a:solidFill>
                  <a:srgbClr val="9A938A"/>
                </a:solidFill>
                <a:latin typeface="Yu Gothic" pitchFamily="34" charset="0"/>
                <a:ea typeface="Yu Gothic" pitchFamily="34" charset="-122"/>
                <a:cs typeface="Yu Gothic" pitchFamily="34" charset="-120"/>
              </a:rPr>
              <a:t>一定金額以上の取引については、投資家または独立した第三者の事前承認を要する。</a:t>
            </a:r>
            <a:endParaRPr lang="en-US" sz="900" dirty="0"/>
          </a:p>
        </p:txBody>
      </p:sp>
      <p:sp>
        <p:nvSpPr>
          <p:cNvPr id="38" name="Text 36"/>
          <p:cNvSpPr/>
          <p:nvPr/>
        </p:nvSpPr>
        <p:spPr>
          <a:xfrm>
            <a:off x="6489040" y="4133088"/>
            <a:ext cx="4788256" cy="219456"/>
          </a:xfrm>
          <a:prstGeom prst="rect">
            <a:avLst/>
          </a:prstGeom>
          <a:noFill/>
          <a:ln/>
        </p:spPr>
        <p:txBody>
          <a:bodyPr wrap="square" lIns="0" tIns="0" rIns="0" bIns="0" rtlCol="0" anchor="ctr"/>
          <a:lstStyle/>
          <a:p>
            <a:pPr indent="0" marL="0">
              <a:buNone/>
            </a:pPr>
            <a:r>
              <a:rPr lang="en-US" sz="1050" b="1" dirty="0">
                <a:solidFill>
                  <a:srgbClr val="EFEBE3"/>
                </a:solidFill>
                <a:latin typeface="Yu Gothic" pitchFamily="34" charset="0"/>
                <a:ea typeface="Yu Gothic" pitchFamily="34" charset="-122"/>
                <a:cs typeface="Yu Gothic" pitchFamily="34" charset="-120"/>
              </a:rPr>
              <a:t>在庫配分ルールの遵守</a:t>
            </a:r>
            <a:endParaRPr lang="en-US" sz="1050" dirty="0"/>
          </a:p>
        </p:txBody>
      </p:sp>
      <p:sp>
        <p:nvSpPr>
          <p:cNvPr id="39" name="Text 37"/>
          <p:cNvSpPr/>
          <p:nvPr/>
        </p:nvSpPr>
        <p:spPr>
          <a:xfrm>
            <a:off x="6489040" y="4352544"/>
            <a:ext cx="4788256" cy="384048"/>
          </a:xfrm>
          <a:prstGeom prst="rect">
            <a:avLst/>
          </a:prstGeom>
          <a:noFill/>
          <a:ln/>
        </p:spPr>
        <p:txBody>
          <a:bodyPr wrap="square" lIns="0" tIns="0" rIns="0" bIns="0" rtlCol="0" anchor="ctr"/>
          <a:lstStyle/>
          <a:p>
            <a:pPr indent="0" marL="0">
              <a:lnSpc>
                <a:spcPct val="120000"/>
              </a:lnSpc>
              <a:buNone/>
            </a:pPr>
            <a:r>
              <a:rPr lang="en-US" sz="900" dirty="0">
                <a:solidFill>
                  <a:srgbClr val="9A938A"/>
                </a:solidFill>
                <a:latin typeface="Yu Gothic" pitchFamily="34" charset="0"/>
                <a:ea typeface="Yu Gothic" pitchFamily="34" charset="-122"/>
                <a:cs typeface="Yu Gothic" pitchFamily="34" charset="-120"/>
              </a:rPr>
              <a:t>前頁の配分方針を契約別紙として明文化し、逸脱時の是正・補填手続を定める。</a:t>
            </a:r>
            <a:endParaRPr lang="en-US" sz="900" dirty="0"/>
          </a:p>
        </p:txBody>
      </p:sp>
      <p:sp>
        <p:nvSpPr>
          <p:cNvPr id="40" name="Shape 38"/>
          <p:cNvSpPr/>
          <p:nvPr/>
        </p:nvSpPr>
        <p:spPr>
          <a:xfrm>
            <a:off x="658368" y="4974336"/>
            <a:ext cx="3454298" cy="1133856"/>
          </a:xfrm>
          <a:prstGeom prst="roundRect">
            <a:avLst>
              <a:gd name="adj" fmla="val 3629"/>
            </a:avLst>
          </a:prstGeom>
          <a:solidFill>
            <a:srgbClr val="171614"/>
          </a:solidFill>
          <a:ln w="9525">
            <a:solidFill>
              <a:srgbClr val="2E2A24"/>
            </a:solidFill>
            <a:prstDash val="solid"/>
          </a:ln>
        </p:spPr>
      </p:sp>
      <p:sp>
        <p:nvSpPr>
          <p:cNvPr id="41" name="Text 39"/>
          <p:cNvSpPr/>
          <p:nvPr/>
        </p:nvSpPr>
        <p:spPr>
          <a:xfrm>
            <a:off x="896112" y="5084064"/>
            <a:ext cx="2978810" cy="201168"/>
          </a:xfrm>
          <a:prstGeom prst="rect">
            <a:avLst/>
          </a:prstGeom>
          <a:noFill/>
          <a:ln/>
        </p:spPr>
        <p:txBody>
          <a:bodyPr wrap="square" lIns="0" tIns="0" rIns="0" bIns="0" rtlCol="0" anchor="ctr"/>
          <a:lstStyle/>
          <a:p>
            <a:pPr indent="0" marL="0">
              <a:buNone/>
            </a:pPr>
            <a:r>
              <a:rPr lang="en-US" sz="950" dirty="0">
                <a:solidFill>
                  <a:srgbClr val="9A938A"/>
                </a:solidFill>
                <a:latin typeface="Yu Gothic" pitchFamily="34" charset="0"/>
                <a:ea typeface="Yu Gothic" pitchFamily="34" charset="-122"/>
                <a:cs typeface="Yu Gothic" pitchFamily="34" charset="-120"/>
              </a:rPr>
              <a:t>ファンド形態</a:t>
            </a:r>
            <a:endParaRPr lang="en-US" sz="950" dirty="0"/>
          </a:p>
        </p:txBody>
      </p:sp>
      <p:sp>
        <p:nvSpPr>
          <p:cNvPr id="42" name="Text 40"/>
          <p:cNvSpPr/>
          <p:nvPr/>
        </p:nvSpPr>
        <p:spPr>
          <a:xfrm>
            <a:off x="896112" y="5285232"/>
            <a:ext cx="2978810" cy="256032"/>
          </a:xfrm>
          <a:prstGeom prst="rect">
            <a:avLst/>
          </a:prstGeom>
          <a:noFill/>
          <a:ln/>
        </p:spPr>
        <p:txBody>
          <a:bodyPr wrap="square" lIns="0" tIns="0" rIns="0" bIns="0" rtlCol="0" anchor="ctr"/>
          <a:lstStyle/>
          <a:p>
            <a:pPr indent="0" marL="0">
              <a:buNone/>
            </a:pPr>
            <a:r>
              <a:rPr lang="en-US" sz="1200" b="1" dirty="0">
                <a:solidFill>
                  <a:srgbClr val="C9A96E"/>
                </a:solidFill>
                <a:latin typeface="Yu Gothic" pitchFamily="34" charset="0"/>
                <a:ea typeface="Yu Gothic" pitchFamily="34" charset="-122"/>
                <a:cs typeface="Yu Gothic" pitchFamily="34" charset="-120"/>
              </a:rPr>
              <a:t>適格機関投資家等特例業務</a:t>
            </a:r>
            <a:endParaRPr lang="en-US" sz="1200" dirty="0"/>
          </a:p>
        </p:txBody>
      </p:sp>
      <p:sp>
        <p:nvSpPr>
          <p:cNvPr id="43" name="Text 41"/>
          <p:cNvSpPr/>
          <p:nvPr/>
        </p:nvSpPr>
        <p:spPr>
          <a:xfrm>
            <a:off x="896112" y="5559552"/>
            <a:ext cx="2978810" cy="493776"/>
          </a:xfrm>
          <a:prstGeom prst="rect">
            <a:avLst/>
          </a:prstGeom>
          <a:noFill/>
          <a:ln/>
        </p:spPr>
        <p:txBody>
          <a:bodyPr wrap="square" lIns="0" tIns="0" rIns="0" bIns="0" rtlCol="0" anchor="ctr"/>
          <a:lstStyle/>
          <a:p>
            <a:pPr indent="0" marL="0">
              <a:lnSpc>
                <a:spcPct val="118000"/>
              </a:lnSpc>
              <a:buNone/>
            </a:pPr>
            <a:r>
              <a:rPr lang="en-US" sz="850" dirty="0">
                <a:solidFill>
                  <a:srgbClr val="9A938A"/>
                </a:solidFill>
                <a:latin typeface="Yu Gothic" pitchFamily="34" charset="0"/>
                <a:ea typeface="Yu Gothic" pitchFamily="34" charset="-122"/>
                <a:cs typeface="Yu Gothic" pitchFamily="34" charset="-120"/>
              </a:rPr>
              <a:t>第1号ファンド（合同会社WineBank P1）で届出の実績がある。適格機関投資家1名以上の確保を組成条件とする。</a:t>
            </a:r>
            <a:endParaRPr lang="en-US" sz="850" dirty="0"/>
          </a:p>
        </p:txBody>
      </p:sp>
      <p:sp>
        <p:nvSpPr>
          <p:cNvPr id="44" name="Shape 42"/>
          <p:cNvSpPr/>
          <p:nvPr/>
        </p:nvSpPr>
        <p:spPr>
          <a:xfrm>
            <a:off x="4368698" y="4974336"/>
            <a:ext cx="3454298" cy="1133856"/>
          </a:xfrm>
          <a:prstGeom prst="roundRect">
            <a:avLst>
              <a:gd name="adj" fmla="val 3629"/>
            </a:avLst>
          </a:prstGeom>
          <a:solidFill>
            <a:srgbClr val="171614"/>
          </a:solidFill>
          <a:ln w="9525">
            <a:solidFill>
              <a:srgbClr val="2E2A24"/>
            </a:solidFill>
            <a:prstDash val="solid"/>
          </a:ln>
        </p:spPr>
      </p:sp>
      <p:sp>
        <p:nvSpPr>
          <p:cNvPr id="45" name="Text 43"/>
          <p:cNvSpPr/>
          <p:nvPr/>
        </p:nvSpPr>
        <p:spPr>
          <a:xfrm>
            <a:off x="4606442" y="5084064"/>
            <a:ext cx="2978810" cy="201168"/>
          </a:xfrm>
          <a:prstGeom prst="rect">
            <a:avLst/>
          </a:prstGeom>
          <a:noFill/>
          <a:ln/>
        </p:spPr>
        <p:txBody>
          <a:bodyPr wrap="square" lIns="0" tIns="0" rIns="0" bIns="0" rtlCol="0" anchor="ctr"/>
          <a:lstStyle/>
          <a:p>
            <a:pPr indent="0" marL="0">
              <a:buNone/>
            </a:pPr>
            <a:r>
              <a:rPr lang="en-US" sz="950" dirty="0">
                <a:solidFill>
                  <a:srgbClr val="9A938A"/>
                </a:solidFill>
                <a:latin typeface="Yu Gothic" pitchFamily="34" charset="0"/>
                <a:ea typeface="Yu Gothic" pitchFamily="34" charset="-122"/>
                <a:cs typeface="Yu Gothic" pitchFamily="34" charset="-120"/>
              </a:rPr>
              <a:t>外部検証</a:t>
            </a:r>
            <a:endParaRPr lang="en-US" sz="950" dirty="0"/>
          </a:p>
        </p:txBody>
      </p:sp>
      <p:sp>
        <p:nvSpPr>
          <p:cNvPr id="46" name="Text 44"/>
          <p:cNvSpPr/>
          <p:nvPr/>
        </p:nvSpPr>
        <p:spPr>
          <a:xfrm>
            <a:off x="4606442" y="5285232"/>
            <a:ext cx="2978810" cy="256032"/>
          </a:xfrm>
          <a:prstGeom prst="rect">
            <a:avLst/>
          </a:prstGeom>
          <a:noFill/>
          <a:ln/>
        </p:spPr>
        <p:txBody>
          <a:bodyPr wrap="square" lIns="0" tIns="0" rIns="0" bIns="0" rtlCol="0" anchor="ctr"/>
          <a:lstStyle/>
          <a:p>
            <a:pPr indent="0" marL="0">
              <a:buNone/>
            </a:pPr>
            <a:r>
              <a:rPr lang="en-US" sz="1200" b="1" dirty="0">
                <a:solidFill>
                  <a:srgbClr val="C9A96E"/>
                </a:solidFill>
                <a:latin typeface="Yu Gothic" pitchFamily="34" charset="0"/>
                <a:ea typeface="Yu Gothic" pitchFamily="34" charset="-122"/>
                <a:cs typeface="Yu Gothic" pitchFamily="34" charset="-120"/>
              </a:rPr>
              <a:t>AUP（合意された手続）</a:t>
            </a:r>
            <a:endParaRPr lang="en-US" sz="1200" dirty="0"/>
          </a:p>
        </p:txBody>
      </p:sp>
      <p:sp>
        <p:nvSpPr>
          <p:cNvPr id="47" name="Text 45"/>
          <p:cNvSpPr/>
          <p:nvPr/>
        </p:nvSpPr>
        <p:spPr>
          <a:xfrm>
            <a:off x="4606442" y="5559552"/>
            <a:ext cx="2978810" cy="493776"/>
          </a:xfrm>
          <a:prstGeom prst="rect">
            <a:avLst/>
          </a:prstGeom>
          <a:noFill/>
          <a:ln/>
        </p:spPr>
        <p:txBody>
          <a:bodyPr wrap="square" lIns="0" tIns="0" rIns="0" bIns="0" rtlCol="0" anchor="ctr"/>
          <a:lstStyle/>
          <a:p>
            <a:pPr indent="0" marL="0">
              <a:lnSpc>
                <a:spcPct val="118000"/>
              </a:lnSpc>
              <a:buNone/>
            </a:pPr>
            <a:r>
              <a:rPr lang="en-US" sz="850" dirty="0">
                <a:solidFill>
                  <a:srgbClr val="9A938A"/>
                </a:solidFill>
                <a:latin typeface="Yu Gothic" pitchFamily="34" charset="0"/>
                <a:ea typeface="Yu Gothic" pitchFamily="34" charset="-122"/>
                <a:cs typeface="Yu Gothic" pitchFamily="34" charset="-120"/>
              </a:rPr>
              <a:t>財務諸表監査ではなく、目的を限定した合意された手続を採用。年50万円をSPC費用に計上済み。将来的な監査への移行も可能とする。</a:t>
            </a:r>
            <a:endParaRPr lang="en-US" sz="850" dirty="0"/>
          </a:p>
        </p:txBody>
      </p:sp>
      <p:sp>
        <p:nvSpPr>
          <p:cNvPr id="48" name="Shape 46"/>
          <p:cNvSpPr/>
          <p:nvPr/>
        </p:nvSpPr>
        <p:spPr>
          <a:xfrm>
            <a:off x="8079029" y="4974336"/>
            <a:ext cx="3454298" cy="1133856"/>
          </a:xfrm>
          <a:prstGeom prst="roundRect">
            <a:avLst>
              <a:gd name="adj" fmla="val 3629"/>
            </a:avLst>
          </a:prstGeom>
          <a:solidFill>
            <a:srgbClr val="171614"/>
          </a:solidFill>
          <a:ln w="9525">
            <a:solidFill>
              <a:srgbClr val="2E2A24"/>
            </a:solidFill>
            <a:prstDash val="solid"/>
          </a:ln>
        </p:spPr>
      </p:sp>
      <p:sp>
        <p:nvSpPr>
          <p:cNvPr id="49" name="Text 47"/>
          <p:cNvSpPr/>
          <p:nvPr/>
        </p:nvSpPr>
        <p:spPr>
          <a:xfrm>
            <a:off x="8316773" y="5084064"/>
            <a:ext cx="2978810" cy="201168"/>
          </a:xfrm>
          <a:prstGeom prst="rect">
            <a:avLst/>
          </a:prstGeom>
          <a:noFill/>
          <a:ln/>
        </p:spPr>
        <p:txBody>
          <a:bodyPr wrap="square" lIns="0" tIns="0" rIns="0" bIns="0" rtlCol="0" anchor="ctr"/>
          <a:lstStyle/>
          <a:p>
            <a:pPr indent="0" marL="0">
              <a:buNone/>
            </a:pPr>
            <a:r>
              <a:rPr lang="en-US" sz="950" dirty="0">
                <a:solidFill>
                  <a:srgbClr val="9A938A"/>
                </a:solidFill>
                <a:latin typeface="Yu Gothic" pitchFamily="34" charset="0"/>
                <a:ea typeface="Yu Gothic" pitchFamily="34" charset="-122"/>
                <a:cs typeface="Yu Gothic" pitchFamily="34" charset="-120"/>
              </a:rPr>
              <a:t>報告頻度</a:t>
            </a:r>
            <a:endParaRPr lang="en-US" sz="950" dirty="0"/>
          </a:p>
        </p:txBody>
      </p:sp>
      <p:sp>
        <p:nvSpPr>
          <p:cNvPr id="50" name="Text 48"/>
          <p:cNvSpPr/>
          <p:nvPr/>
        </p:nvSpPr>
        <p:spPr>
          <a:xfrm>
            <a:off x="8316773" y="5285232"/>
            <a:ext cx="2978810" cy="256032"/>
          </a:xfrm>
          <a:prstGeom prst="rect">
            <a:avLst/>
          </a:prstGeom>
          <a:noFill/>
          <a:ln/>
        </p:spPr>
        <p:txBody>
          <a:bodyPr wrap="square" lIns="0" tIns="0" rIns="0" bIns="0" rtlCol="0" anchor="ctr"/>
          <a:lstStyle/>
          <a:p>
            <a:pPr indent="0" marL="0">
              <a:buNone/>
            </a:pPr>
            <a:r>
              <a:rPr lang="en-US" sz="1200" b="1" dirty="0">
                <a:solidFill>
                  <a:srgbClr val="C9A96E"/>
                </a:solidFill>
                <a:latin typeface="Yu Gothic" pitchFamily="34" charset="0"/>
                <a:ea typeface="Yu Gothic" pitchFamily="34" charset="-122"/>
                <a:cs typeface="Yu Gothic" pitchFamily="34" charset="-120"/>
              </a:rPr>
              <a:t>四半期</a:t>
            </a:r>
            <a:endParaRPr lang="en-US" sz="1200" dirty="0"/>
          </a:p>
        </p:txBody>
      </p:sp>
      <p:sp>
        <p:nvSpPr>
          <p:cNvPr id="51" name="Text 49"/>
          <p:cNvSpPr/>
          <p:nvPr/>
        </p:nvSpPr>
        <p:spPr>
          <a:xfrm>
            <a:off x="8316773" y="5559552"/>
            <a:ext cx="2978810" cy="493776"/>
          </a:xfrm>
          <a:prstGeom prst="rect">
            <a:avLst/>
          </a:prstGeom>
          <a:noFill/>
          <a:ln/>
        </p:spPr>
        <p:txBody>
          <a:bodyPr wrap="square" lIns="0" tIns="0" rIns="0" bIns="0" rtlCol="0" anchor="ctr"/>
          <a:lstStyle/>
          <a:p>
            <a:pPr indent="0" marL="0">
              <a:lnSpc>
                <a:spcPct val="118000"/>
              </a:lnSpc>
              <a:buNone/>
            </a:pPr>
            <a:r>
              <a:rPr lang="en-US" sz="850" dirty="0">
                <a:solidFill>
                  <a:srgbClr val="9A938A"/>
                </a:solidFill>
                <a:latin typeface="Yu Gothic" pitchFamily="34" charset="0"/>
                <a:ea typeface="Yu Gothic" pitchFamily="34" charset="-122"/>
                <a:cs typeface="Yu Gothic" pitchFamily="34" charset="-120"/>
              </a:rPr>
              <a:t>在庫明細・簿価・売上・試算表を四半期ごとに開示。年次で決算を報告する。</a:t>
            </a:r>
            <a:endParaRPr lang="en-US" sz="8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0C0C0C"/>
        </a:solidFill>
      </p:bgPr>
    </p:bg>
    <p:spTree>
      <p:nvGrpSpPr>
        <p:cNvPr id="1" name=""/>
        <p:cNvGrpSpPr/>
        <p:nvPr/>
      </p:nvGrpSpPr>
      <p:grpSpPr>
        <a:xfrm>
          <a:off x="0" y="0"/>
          <a:ext cx="0" cy="0"/>
          <a:chOff x="0" y="0"/>
          <a:chExt cx="0" cy="0"/>
        </a:xfrm>
      </p:grpSpPr>
      <p:sp>
        <p:nvSpPr>
          <p:cNvPr id="2" name="Text 0"/>
          <p:cNvSpPr/>
          <p:nvPr/>
        </p:nvSpPr>
        <p:spPr>
          <a:xfrm>
            <a:off x="658368" y="384048"/>
            <a:ext cx="10874959" cy="219456"/>
          </a:xfrm>
          <a:prstGeom prst="rect">
            <a:avLst/>
          </a:prstGeom>
          <a:noFill/>
          <a:ln/>
        </p:spPr>
        <p:txBody>
          <a:bodyPr wrap="square" lIns="0" tIns="0" rIns="0" bIns="0" rtlCol="0" anchor="ctr"/>
          <a:lstStyle/>
          <a:p>
            <a:pPr indent="0" marL="0">
              <a:buNone/>
            </a:pPr>
            <a:r>
              <a:rPr lang="en-US" sz="1050" b="1" spc="340" kern="0" dirty="0">
                <a:solidFill>
                  <a:srgbClr val="A78450"/>
                </a:solidFill>
                <a:latin typeface="Cambria" pitchFamily="34" charset="0"/>
                <a:ea typeface="Cambria" pitchFamily="34" charset="-122"/>
                <a:cs typeface="Cambria" pitchFamily="34" charset="-120"/>
              </a:rPr>
              <a:t>RISK</a:t>
            </a:r>
            <a:endParaRPr lang="en-US" sz="1050" dirty="0"/>
          </a:p>
        </p:txBody>
      </p:sp>
      <p:sp>
        <p:nvSpPr>
          <p:cNvPr id="3" name="Text 1"/>
          <p:cNvSpPr/>
          <p:nvPr/>
        </p:nvSpPr>
        <p:spPr>
          <a:xfrm>
            <a:off x="658368" y="640080"/>
            <a:ext cx="10874959" cy="548640"/>
          </a:xfrm>
          <a:prstGeom prst="rect">
            <a:avLst/>
          </a:prstGeom>
          <a:noFill/>
          <a:ln/>
        </p:spPr>
        <p:txBody>
          <a:bodyPr wrap="square" lIns="0" tIns="0" rIns="0" bIns="0" rtlCol="0" anchor="ctr"/>
          <a:lstStyle/>
          <a:p>
            <a:pPr indent="0" marL="0">
              <a:buNone/>
            </a:pPr>
            <a:r>
              <a:rPr lang="en-US" sz="2700" b="1" dirty="0">
                <a:solidFill>
                  <a:srgbClr val="EFEBE3"/>
                </a:solidFill>
                <a:latin typeface="Yu Mincho" pitchFamily="34" charset="0"/>
                <a:ea typeface="Yu Mincho" pitchFamily="34" charset="-122"/>
                <a:cs typeface="Yu Mincho" pitchFamily="34" charset="-120"/>
              </a:rPr>
              <a:t>想定されるリスクと対応策</a:t>
            </a:r>
            <a:endParaRPr lang="en-US" sz="2700" dirty="0"/>
          </a:p>
        </p:txBody>
      </p:sp>
      <p:sp>
        <p:nvSpPr>
          <p:cNvPr id="4" name="Text 2"/>
          <p:cNvSpPr/>
          <p:nvPr/>
        </p:nvSpPr>
        <p:spPr>
          <a:xfrm>
            <a:off x="658368" y="6437376"/>
            <a:ext cx="5029200" cy="219456"/>
          </a:xfrm>
          <a:prstGeom prst="rect">
            <a:avLst/>
          </a:prstGeom>
          <a:noFill/>
          <a:ln/>
        </p:spPr>
        <p:txBody>
          <a:bodyPr wrap="square" lIns="0" tIns="0" rIns="0" bIns="0" rtlCol="0" anchor="ctr"/>
          <a:lstStyle/>
          <a:p>
            <a:pPr indent="0" marL="0">
              <a:buNone/>
            </a:pPr>
            <a:r>
              <a:rPr lang="en-US" sz="850" dirty="0">
                <a:solidFill>
                  <a:srgbClr val="6E675E"/>
                </a:solidFill>
                <a:latin typeface="Yu Gothic" pitchFamily="34" charset="0"/>
                <a:ea typeface="Yu Gothic" pitchFamily="34" charset="-122"/>
                <a:cs typeface="Yu Gothic" pitchFamily="34" charset="-120"/>
              </a:rPr>
              <a:t>CONFIDENTIAL ｜ 株式会社WineBank</a:t>
            </a:r>
            <a:endParaRPr lang="en-US" sz="850" dirty="0"/>
          </a:p>
        </p:txBody>
      </p:sp>
      <p:sp>
        <p:nvSpPr>
          <p:cNvPr id="5" name="Text 3"/>
          <p:cNvSpPr/>
          <p:nvPr/>
        </p:nvSpPr>
        <p:spPr>
          <a:xfrm>
            <a:off x="10618927" y="6437376"/>
            <a:ext cx="914400" cy="219456"/>
          </a:xfrm>
          <a:prstGeom prst="rect">
            <a:avLst/>
          </a:prstGeom>
          <a:noFill/>
          <a:ln/>
        </p:spPr>
        <p:txBody>
          <a:bodyPr wrap="square" lIns="0" tIns="0" rIns="0" bIns="0" rtlCol="0" anchor="ctr"/>
          <a:lstStyle/>
          <a:p>
            <a:pPr algn="r" indent="0" marL="0">
              <a:buNone/>
            </a:pPr>
            <a:r>
              <a:rPr lang="en-US" sz="950" spc="150" kern="0" dirty="0">
                <a:solidFill>
                  <a:srgbClr val="6E5730"/>
                </a:solidFill>
                <a:latin typeface="Cambria" pitchFamily="34" charset="0"/>
                <a:ea typeface="Cambria" pitchFamily="34" charset="-122"/>
                <a:cs typeface="Cambria" pitchFamily="34" charset="-120"/>
              </a:rPr>
              <a:t>18</a:t>
            </a:r>
            <a:endParaRPr lang="en-US" sz="950" dirty="0"/>
          </a:p>
        </p:txBody>
      </p:sp>
      <p:sp>
        <p:nvSpPr>
          <p:cNvPr id="6" name="Shape 4"/>
          <p:cNvSpPr/>
          <p:nvPr/>
        </p:nvSpPr>
        <p:spPr>
          <a:xfrm>
            <a:off x="658368" y="1554480"/>
            <a:ext cx="2526716" cy="1920240"/>
          </a:xfrm>
          <a:prstGeom prst="roundRect">
            <a:avLst>
              <a:gd name="adj" fmla="val 2143"/>
            </a:avLst>
          </a:prstGeom>
          <a:solidFill>
            <a:srgbClr val="171614"/>
          </a:solidFill>
          <a:ln w="9525">
            <a:solidFill>
              <a:srgbClr val="2E2A24"/>
            </a:solidFill>
            <a:prstDash val="solid"/>
          </a:ln>
        </p:spPr>
      </p:sp>
      <p:sp>
        <p:nvSpPr>
          <p:cNvPr id="7" name="Text 5"/>
          <p:cNvSpPr/>
          <p:nvPr/>
        </p:nvSpPr>
        <p:spPr>
          <a:xfrm>
            <a:off x="896112" y="1755648"/>
            <a:ext cx="2051228" cy="256032"/>
          </a:xfrm>
          <a:prstGeom prst="rect">
            <a:avLst/>
          </a:prstGeom>
          <a:noFill/>
          <a:ln/>
        </p:spPr>
        <p:txBody>
          <a:bodyPr wrap="square" lIns="0" tIns="0" rIns="0" bIns="0" rtlCol="0" anchor="ctr"/>
          <a:lstStyle/>
          <a:p>
            <a:pPr indent="0" marL="0">
              <a:buNone/>
            </a:pPr>
            <a:r>
              <a:rPr lang="en-US" sz="1200" b="1" dirty="0">
                <a:solidFill>
                  <a:srgbClr val="EFEBE3"/>
                </a:solidFill>
                <a:latin typeface="Yu Gothic" pitchFamily="34" charset="0"/>
                <a:ea typeface="Yu Gothic" pitchFamily="34" charset="-122"/>
                <a:cs typeface="Yu Gothic" pitchFamily="34" charset="-120"/>
              </a:rPr>
              <a:t>在庫リスク</a:t>
            </a:r>
            <a:endParaRPr lang="en-US" sz="1200" dirty="0"/>
          </a:p>
        </p:txBody>
      </p:sp>
      <p:sp>
        <p:nvSpPr>
          <p:cNvPr id="8" name="Text 6"/>
          <p:cNvSpPr/>
          <p:nvPr/>
        </p:nvSpPr>
        <p:spPr>
          <a:xfrm>
            <a:off x="896112" y="2048256"/>
            <a:ext cx="2051228" cy="384048"/>
          </a:xfrm>
          <a:prstGeom prst="rect">
            <a:avLst/>
          </a:prstGeom>
          <a:noFill/>
          <a:ln/>
        </p:spPr>
        <p:txBody>
          <a:bodyPr wrap="square" lIns="0" tIns="0" rIns="0" bIns="0" rtlCol="0" anchor="ctr"/>
          <a:lstStyle/>
          <a:p>
            <a:pPr indent="0" marL="0">
              <a:lnSpc>
                <a:spcPct val="115000"/>
              </a:lnSpc>
              <a:buNone/>
            </a:pPr>
            <a:r>
              <a:rPr lang="en-US" sz="950" dirty="0">
                <a:solidFill>
                  <a:srgbClr val="C9A96E"/>
                </a:solidFill>
                <a:latin typeface="Yu Gothic" pitchFamily="34" charset="0"/>
                <a:ea typeface="Yu Gothic" pitchFamily="34" charset="-122"/>
                <a:cs typeface="Yu Gothic" pitchFamily="34" charset="-120"/>
              </a:rPr>
              <a:t>想定価格で売り切れず滞留する</a:t>
            </a:r>
            <a:endParaRPr lang="en-US" sz="950" dirty="0"/>
          </a:p>
        </p:txBody>
      </p:sp>
      <p:sp>
        <p:nvSpPr>
          <p:cNvPr id="9" name="Text 7"/>
          <p:cNvSpPr/>
          <p:nvPr/>
        </p:nvSpPr>
        <p:spPr>
          <a:xfrm>
            <a:off x="896112" y="2487168"/>
            <a:ext cx="2051228" cy="841248"/>
          </a:xfrm>
          <a:prstGeom prst="rect">
            <a:avLst/>
          </a:prstGeom>
          <a:noFill/>
          <a:ln/>
        </p:spPr>
        <p:txBody>
          <a:bodyPr wrap="square" lIns="0" tIns="0" rIns="0" bIns="0" rtlCol="0" anchor="ctr"/>
          <a:lstStyle/>
          <a:p>
            <a:pPr indent="0" marL="0">
              <a:lnSpc>
                <a:spcPct val="124000"/>
              </a:lnSpc>
              <a:buNone/>
            </a:pPr>
            <a:r>
              <a:rPr lang="en-US" sz="950" dirty="0">
                <a:solidFill>
                  <a:srgbClr val="9A938A"/>
                </a:solidFill>
                <a:latin typeface="Yu Gothic" pitchFamily="34" charset="0"/>
                <a:ea typeface="Yu Gothic" pitchFamily="34" charset="-122"/>
                <a:cs typeface="Yu Gothic" pitchFamily="34" charset="-120"/>
              </a:rPr>
              <a:t>銘柄をLiv-ex掲載の流通量の多い銘柄に限定。四半期ごとに滞留在庫を洗い出し、簿価見直しを実施。滞留は値上がりを取る期間でもある。</a:t>
            </a:r>
            <a:endParaRPr lang="en-US" sz="950" dirty="0"/>
          </a:p>
        </p:txBody>
      </p:sp>
      <p:sp>
        <p:nvSpPr>
          <p:cNvPr id="10" name="Shape 8"/>
          <p:cNvSpPr/>
          <p:nvPr/>
        </p:nvSpPr>
        <p:spPr>
          <a:xfrm>
            <a:off x="3441116" y="1554480"/>
            <a:ext cx="2526716" cy="1920240"/>
          </a:xfrm>
          <a:prstGeom prst="roundRect">
            <a:avLst>
              <a:gd name="adj" fmla="val 2143"/>
            </a:avLst>
          </a:prstGeom>
          <a:solidFill>
            <a:srgbClr val="171614"/>
          </a:solidFill>
          <a:ln w="9525">
            <a:solidFill>
              <a:srgbClr val="2E2A24"/>
            </a:solidFill>
            <a:prstDash val="solid"/>
          </a:ln>
        </p:spPr>
      </p:sp>
      <p:sp>
        <p:nvSpPr>
          <p:cNvPr id="11" name="Text 9"/>
          <p:cNvSpPr/>
          <p:nvPr/>
        </p:nvSpPr>
        <p:spPr>
          <a:xfrm>
            <a:off x="3678860" y="1755648"/>
            <a:ext cx="2051228" cy="256032"/>
          </a:xfrm>
          <a:prstGeom prst="rect">
            <a:avLst/>
          </a:prstGeom>
          <a:noFill/>
          <a:ln/>
        </p:spPr>
        <p:txBody>
          <a:bodyPr wrap="square" lIns="0" tIns="0" rIns="0" bIns="0" rtlCol="0" anchor="ctr"/>
          <a:lstStyle/>
          <a:p>
            <a:pPr indent="0" marL="0">
              <a:buNone/>
            </a:pPr>
            <a:r>
              <a:rPr lang="en-US" sz="1200" b="1" dirty="0">
                <a:solidFill>
                  <a:srgbClr val="EFEBE3"/>
                </a:solidFill>
                <a:latin typeface="Yu Gothic" pitchFamily="34" charset="0"/>
                <a:ea typeface="Yu Gothic" pitchFamily="34" charset="-122"/>
                <a:cs typeface="Yu Gothic" pitchFamily="34" charset="-120"/>
              </a:rPr>
              <a:t>価格変動リスク</a:t>
            </a:r>
            <a:endParaRPr lang="en-US" sz="1200" dirty="0"/>
          </a:p>
        </p:txBody>
      </p:sp>
      <p:sp>
        <p:nvSpPr>
          <p:cNvPr id="12" name="Text 10"/>
          <p:cNvSpPr/>
          <p:nvPr/>
        </p:nvSpPr>
        <p:spPr>
          <a:xfrm>
            <a:off x="3678860" y="2048256"/>
            <a:ext cx="2051228" cy="384048"/>
          </a:xfrm>
          <a:prstGeom prst="rect">
            <a:avLst/>
          </a:prstGeom>
          <a:noFill/>
          <a:ln/>
        </p:spPr>
        <p:txBody>
          <a:bodyPr wrap="square" lIns="0" tIns="0" rIns="0" bIns="0" rtlCol="0" anchor="ctr"/>
          <a:lstStyle/>
          <a:p>
            <a:pPr indent="0" marL="0">
              <a:lnSpc>
                <a:spcPct val="115000"/>
              </a:lnSpc>
              <a:buNone/>
            </a:pPr>
            <a:r>
              <a:rPr lang="en-US" sz="950" dirty="0">
                <a:solidFill>
                  <a:srgbClr val="C9A96E"/>
                </a:solidFill>
                <a:latin typeface="Yu Gothic" pitchFamily="34" charset="0"/>
                <a:ea typeface="Yu Gothic" pitchFamily="34" charset="-122"/>
                <a:cs typeface="Yu Gothic" pitchFamily="34" charset="-120"/>
              </a:rPr>
              <a:t>Fine Wine市況の下落・停滞</a:t>
            </a:r>
            <a:endParaRPr lang="en-US" sz="950" dirty="0"/>
          </a:p>
        </p:txBody>
      </p:sp>
      <p:sp>
        <p:nvSpPr>
          <p:cNvPr id="13" name="Text 11"/>
          <p:cNvSpPr/>
          <p:nvPr/>
        </p:nvSpPr>
        <p:spPr>
          <a:xfrm>
            <a:off x="3678860" y="2487168"/>
            <a:ext cx="2051228" cy="841248"/>
          </a:xfrm>
          <a:prstGeom prst="rect">
            <a:avLst/>
          </a:prstGeom>
          <a:noFill/>
          <a:ln/>
        </p:spPr>
        <p:txBody>
          <a:bodyPr wrap="square" lIns="0" tIns="0" rIns="0" bIns="0" rtlCol="0" anchor="ctr"/>
          <a:lstStyle/>
          <a:p>
            <a:pPr indent="0" marL="0">
              <a:lnSpc>
                <a:spcPct val="124000"/>
              </a:lnSpc>
              <a:buNone/>
            </a:pPr>
            <a:r>
              <a:rPr lang="en-US" sz="950" dirty="0">
                <a:solidFill>
                  <a:srgbClr val="9A938A"/>
                </a:solidFill>
                <a:latin typeface="Yu Gothic" pitchFamily="34" charset="0"/>
                <a:ea typeface="Yu Gothic" pitchFamily="34" charset="-122"/>
                <a:cs typeface="Yu Gothic" pitchFamily="34" charset="-120"/>
              </a:rPr>
              <a:t>主線は年6%上昇を織り込むが、横ばい（0%）でも投資家利回り17.0%を確保できる。会社資料の年率10%に対し保守的な前提。</a:t>
            </a:r>
            <a:endParaRPr lang="en-US" sz="950" dirty="0"/>
          </a:p>
        </p:txBody>
      </p:sp>
      <p:sp>
        <p:nvSpPr>
          <p:cNvPr id="14" name="Shape 12"/>
          <p:cNvSpPr/>
          <p:nvPr/>
        </p:nvSpPr>
        <p:spPr>
          <a:xfrm>
            <a:off x="6223864" y="1554480"/>
            <a:ext cx="2526716" cy="1920240"/>
          </a:xfrm>
          <a:prstGeom prst="roundRect">
            <a:avLst>
              <a:gd name="adj" fmla="val 2143"/>
            </a:avLst>
          </a:prstGeom>
          <a:solidFill>
            <a:srgbClr val="171614"/>
          </a:solidFill>
          <a:ln w="9525">
            <a:solidFill>
              <a:srgbClr val="2E2A24"/>
            </a:solidFill>
            <a:prstDash val="solid"/>
          </a:ln>
        </p:spPr>
      </p:sp>
      <p:sp>
        <p:nvSpPr>
          <p:cNvPr id="15" name="Text 13"/>
          <p:cNvSpPr/>
          <p:nvPr/>
        </p:nvSpPr>
        <p:spPr>
          <a:xfrm>
            <a:off x="6461608" y="1755648"/>
            <a:ext cx="2051228" cy="256032"/>
          </a:xfrm>
          <a:prstGeom prst="rect">
            <a:avLst/>
          </a:prstGeom>
          <a:noFill/>
          <a:ln/>
        </p:spPr>
        <p:txBody>
          <a:bodyPr wrap="square" lIns="0" tIns="0" rIns="0" bIns="0" rtlCol="0" anchor="ctr"/>
          <a:lstStyle/>
          <a:p>
            <a:pPr indent="0" marL="0">
              <a:buNone/>
            </a:pPr>
            <a:r>
              <a:rPr lang="en-US" sz="1200" b="1" dirty="0">
                <a:solidFill>
                  <a:srgbClr val="EFEBE3"/>
                </a:solidFill>
                <a:latin typeface="Yu Gothic" pitchFamily="34" charset="0"/>
                <a:ea typeface="Yu Gothic" pitchFamily="34" charset="-122"/>
                <a:cs typeface="Yu Gothic" pitchFamily="34" charset="-120"/>
              </a:rPr>
              <a:t>流動性リスク</a:t>
            </a:r>
            <a:endParaRPr lang="en-US" sz="1200" dirty="0"/>
          </a:p>
        </p:txBody>
      </p:sp>
      <p:sp>
        <p:nvSpPr>
          <p:cNvPr id="16" name="Text 14"/>
          <p:cNvSpPr/>
          <p:nvPr/>
        </p:nvSpPr>
        <p:spPr>
          <a:xfrm>
            <a:off x="6461608" y="2048256"/>
            <a:ext cx="2051228" cy="384048"/>
          </a:xfrm>
          <a:prstGeom prst="rect">
            <a:avLst/>
          </a:prstGeom>
          <a:noFill/>
          <a:ln/>
        </p:spPr>
        <p:txBody>
          <a:bodyPr wrap="square" lIns="0" tIns="0" rIns="0" bIns="0" rtlCol="0" anchor="ctr"/>
          <a:lstStyle/>
          <a:p>
            <a:pPr indent="0" marL="0">
              <a:lnSpc>
                <a:spcPct val="115000"/>
              </a:lnSpc>
              <a:buNone/>
            </a:pPr>
            <a:r>
              <a:rPr lang="en-US" sz="950" dirty="0">
                <a:solidFill>
                  <a:srgbClr val="C9A96E"/>
                </a:solidFill>
                <a:latin typeface="Yu Gothic" pitchFamily="34" charset="0"/>
                <a:ea typeface="Yu Gothic" pitchFamily="34" charset="-122"/>
                <a:cs typeface="Yu Gothic" pitchFamily="34" charset="-120"/>
              </a:rPr>
              <a:t>現物のため即時換金できない</a:t>
            </a:r>
            <a:endParaRPr lang="en-US" sz="950" dirty="0"/>
          </a:p>
        </p:txBody>
      </p:sp>
      <p:sp>
        <p:nvSpPr>
          <p:cNvPr id="17" name="Text 15"/>
          <p:cNvSpPr/>
          <p:nvPr/>
        </p:nvSpPr>
        <p:spPr>
          <a:xfrm>
            <a:off x="6461608" y="2487168"/>
            <a:ext cx="2051228" cy="841248"/>
          </a:xfrm>
          <a:prstGeom prst="rect">
            <a:avLst/>
          </a:prstGeom>
          <a:noFill/>
          <a:ln/>
        </p:spPr>
        <p:txBody>
          <a:bodyPr wrap="square" lIns="0" tIns="0" rIns="0" bIns="0" rtlCol="0" anchor="ctr"/>
          <a:lstStyle/>
          <a:p>
            <a:pPr indent="0" marL="0">
              <a:lnSpc>
                <a:spcPct val="124000"/>
              </a:lnSpc>
              <a:buNone/>
            </a:pPr>
            <a:r>
              <a:rPr lang="en-US" sz="950" dirty="0">
                <a:solidFill>
                  <a:srgbClr val="9A938A"/>
                </a:solidFill>
                <a:latin typeface="Yu Gothic" pitchFamily="34" charset="0"/>
                <a:ea typeface="Yu Gothic" pitchFamily="34" charset="-122"/>
                <a:cs typeface="Yu Gothic" pitchFamily="34" charset="-120"/>
              </a:rPr>
              <a:t>当初3年間はロックアップ。4年目以降は年度ごとの解約日に対応し、解約枠に応じて現金比率を引き上げる。</a:t>
            </a:r>
            <a:endParaRPr lang="en-US" sz="950" dirty="0"/>
          </a:p>
        </p:txBody>
      </p:sp>
      <p:sp>
        <p:nvSpPr>
          <p:cNvPr id="18" name="Shape 16"/>
          <p:cNvSpPr/>
          <p:nvPr/>
        </p:nvSpPr>
        <p:spPr>
          <a:xfrm>
            <a:off x="9006611" y="1554480"/>
            <a:ext cx="2526716" cy="1920240"/>
          </a:xfrm>
          <a:prstGeom prst="roundRect">
            <a:avLst>
              <a:gd name="adj" fmla="val 2143"/>
            </a:avLst>
          </a:prstGeom>
          <a:solidFill>
            <a:srgbClr val="171614"/>
          </a:solidFill>
          <a:ln w="9525">
            <a:solidFill>
              <a:srgbClr val="2E2A24"/>
            </a:solidFill>
            <a:prstDash val="solid"/>
          </a:ln>
        </p:spPr>
      </p:sp>
      <p:sp>
        <p:nvSpPr>
          <p:cNvPr id="19" name="Text 17"/>
          <p:cNvSpPr/>
          <p:nvPr/>
        </p:nvSpPr>
        <p:spPr>
          <a:xfrm>
            <a:off x="9244355" y="1755648"/>
            <a:ext cx="2051228" cy="256032"/>
          </a:xfrm>
          <a:prstGeom prst="rect">
            <a:avLst/>
          </a:prstGeom>
          <a:noFill/>
          <a:ln/>
        </p:spPr>
        <p:txBody>
          <a:bodyPr wrap="square" lIns="0" tIns="0" rIns="0" bIns="0" rtlCol="0" anchor="ctr"/>
          <a:lstStyle/>
          <a:p>
            <a:pPr indent="0" marL="0">
              <a:buNone/>
            </a:pPr>
            <a:r>
              <a:rPr lang="en-US" sz="1200" b="1" dirty="0">
                <a:solidFill>
                  <a:srgbClr val="EFEBE3"/>
                </a:solidFill>
                <a:latin typeface="Yu Gothic" pitchFamily="34" charset="0"/>
                <a:ea typeface="Yu Gothic" pitchFamily="34" charset="-122"/>
                <a:cs typeface="Yu Gothic" pitchFamily="34" charset="-120"/>
              </a:rPr>
              <a:t>調達リスク</a:t>
            </a:r>
            <a:endParaRPr lang="en-US" sz="1200" dirty="0"/>
          </a:p>
        </p:txBody>
      </p:sp>
      <p:sp>
        <p:nvSpPr>
          <p:cNvPr id="20" name="Text 18"/>
          <p:cNvSpPr/>
          <p:nvPr/>
        </p:nvSpPr>
        <p:spPr>
          <a:xfrm>
            <a:off x="9244355" y="2048256"/>
            <a:ext cx="2051228" cy="384048"/>
          </a:xfrm>
          <a:prstGeom prst="rect">
            <a:avLst/>
          </a:prstGeom>
          <a:noFill/>
          <a:ln/>
        </p:spPr>
        <p:txBody>
          <a:bodyPr wrap="square" lIns="0" tIns="0" rIns="0" bIns="0" rtlCol="0" anchor="ctr"/>
          <a:lstStyle/>
          <a:p>
            <a:pPr indent="0" marL="0">
              <a:lnSpc>
                <a:spcPct val="115000"/>
              </a:lnSpc>
              <a:buNone/>
            </a:pPr>
            <a:r>
              <a:rPr lang="en-US" sz="950" dirty="0">
                <a:solidFill>
                  <a:srgbClr val="C9A96E"/>
                </a:solidFill>
                <a:latin typeface="Yu Gothic" pitchFamily="34" charset="0"/>
                <a:ea typeface="Yu Gothic" pitchFamily="34" charset="-122"/>
                <a:cs typeface="Yu Gothic" pitchFamily="34" charset="-120"/>
              </a:rPr>
              <a:t>想定価格・数量で仕入れられない</a:t>
            </a:r>
            <a:endParaRPr lang="en-US" sz="950" dirty="0"/>
          </a:p>
        </p:txBody>
      </p:sp>
      <p:sp>
        <p:nvSpPr>
          <p:cNvPr id="21" name="Text 19"/>
          <p:cNvSpPr/>
          <p:nvPr/>
        </p:nvSpPr>
        <p:spPr>
          <a:xfrm>
            <a:off x="9244355" y="2487168"/>
            <a:ext cx="2051228" cy="841248"/>
          </a:xfrm>
          <a:prstGeom prst="rect">
            <a:avLst/>
          </a:prstGeom>
          <a:noFill/>
          <a:ln/>
        </p:spPr>
        <p:txBody>
          <a:bodyPr wrap="square" lIns="0" tIns="0" rIns="0" bIns="0" rtlCol="0" anchor="ctr"/>
          <a:lstStyle/>
          <a:p>
            <a:pPr indent="0" marL="0">
              <a:lnSpc>
                <a:spcPct val="124000"/>
              </a:lnSpc>
              <a:buNone/>
            </a:pPr>
            <a:r>
              <a:rPr lang="en-US" sz="950" dirty="0">
                <a:solidFill>
                  <a:srgbClr val="9A938A"/>
                </a:solidFill>
                <a:latin typeface="Yu Gothic" pitchFamily="34" charset="0"/>
                <a:ea typeface="Yu Gothic" pitchFamily="34" charset="-122"/>
                <a:cs typeface="Yu Gothic" pitchFamily="34" charset="-120"/>
              </a:rPr>
              <a:t>インポーター・酒販店との年間調達枠を事前に締結。調達実績を四半期報告。</a:t>
            </a:r>
            <a:endParaRPr lang="en-US" sz="950" dirty="0"/>
          </a:p>
        </p:txBody>
      </p:sp>
      <p:sp>
        <p:nvSpPr>
          <p:cNvPr id="22" name="Shape 20"/>
          <p:cNvSpPr/>
          <p:nvPr/>
        </p:nvSpPr>
        <p:spPr>
          <a:xfrm>
            <a:off x="658368" y="3675888"/>
            <a:ext cx="2526716" cy="1920240"/>
          </a:xfrm>
          <a:prstGeom prst="roundRect">
            <a:avLst>
              <a:gd name="adj" fmla="val 2143"/>
            </a:avLst>
          </a:prstGeom>
          <a:solidFill>
            <a:srgbClr val="171614"/>
          </a:solidFill>
          <a:ln w="9525">
            <a:solidFill>
              <a:srgbClr val="2E2A24"/>
            </a:solidFill>
            <a:prstDash val="solid"/>
          </a:ln>
        </p:spPr>
      </p:sp>
      <p:sp>
        <p:nvSpPr>
          <p:cNvPr id="23" name="Text 21"/>
          <p:cNvSpPr/>
          <p:nvPr/>
        </p:nvSpPr>
        <p:spPr>
          <a:xfrm>
            <a:off x="896112" y="3877056"/>
            <a:ext cx="2051228" cy="256032"/>
          </a:xfrm>
          <a:prstGeom prst="rect">
            <a:avLst/>
          </a:prstGeom>
          <a:noFill/>
          <a:ln/>
        </p:spPr>
        <p:txBody>
          <a:bodyPr wrap="square" lIns="0" tIns="0" rIns="0" bIns="0" rtlCol="0" anchor="ctr"/>
          <a:lstStyle/>
          <a:p>
            <a:pPr indent="0" marL="0">
              <a:buNone/>
            </a:pPr>
            <a:r>
              <a:rPr lang="en-US" sz="1200" b="1" dirty="0">
                <a:solidFill>
                  <a:srgbClr val="EFEBE3"/>
                </a:solidFill>
                <a:latin typeface="Yu Gothic" pitchFamily="34" charset="0"/>
                <a:ea typeface="Yu Gothic" pitchFamily="34" charset="-122"/>
                <a:cs typeface="Yu Gothic" pitchFamily="34" charset="-120"/>
              </a:rPr>
              <a:t>オペレーションリスク</a:t>
            </a:r>
            <a:endParaRPr lang="en-US" sz="1200" dirty="0"/>
          </a:p>
        </p:txBody>
      </p:sp>
      <p:sp>
        <p:nvSpPr>
          <p:cNvPr id="24" name="Text 22"/>
          <p:cNvSpPr/>
          <p:nvPr/>
        </p:nvSpPr>
        <p:spPr>
          <a:xfrm>
            <a:off x="896112" y="4169664"/>
            <a:ext cx="2051228" cy="384048"/>
          </a:xfrm>
          <a:prstGeom prst="rect">
            <a:avLst/>
          </a:prstGeom>
          <a:noFill/>
          <a:ln/>
        </p:spPr>
        <p:txBody>
          <a:bodyPr wrap="square" lIns="0" tIns="0" rIns="0" bIns="0" rtlCol="0" anchor="ctr"/>
          <a:lstStyle/>
          <a:p>
            <a:pPr indent="0" marL="0">
              <a:lnSpc>
                <a:spcPct val="115000"/>
              </a:lnSpc>
              <a:buNone/>
            </a:pPr>
            <a:r>
              <a:rPr lang="en-US" sz="950" dirty="0">
                <a:solidFill>
                  <a:srgbClr val="C9A96E"/>
                </a:solidFill>
                <a:latin typeface="Yu Gothic" pitchFamily="34" charset="0"/>
                <a:ea typeface="Yu Gothic" pitchFamily="34" charset="-122"/>
                <a:cs typeface="Yu Gothic" pitchFamily="34" charset="-120"/>
              </a:rPr>
              <a:t>保管中の破損・劣化・盗難</a:t>
            </a:r>
            <a:endParaRPr lang="en-US" sz="950" dirty="0"/>
          </a:p>
        </p:txBody>
      </p:sp>
      <p:sp>
        <p:nvSpPr>
          <p:cNvPr id="25" name="Text 23"/>
          <p:cNvSpPr/>
          <p:nvPr/>
        </p:nvSpPr>
        <p:spPr>
          <a:xfrm>
            <a:off x="896112" y="4608576"/>
            <a:ext cx="2051228" cy="841248"/>
          </a:xfrm>
          <a:prstGeom prst="rect">
            <a:avLst/>
          </a:prstGeom>
          <a:noFill/>
          <a:ln/>
        </p:spPr>
        <p:txBody>
          <a:bodyPr wrap="square" lIns="0" tIns="0" rIns="0" bIns="0" rtlCol="0" anchor="ctr"/>
          <a:lstStyle/>
          <a:p>
            <a:pPr indent="0" marL="0">
              <a:lnSpc>
                <a:spcPct val="124000"/>
              </a:lnSpc>
              <a:buNone/>
            </a:pPr>
            <a:r>
              <a:rPr lang="en-US" sz="950" dirty="0">
                <a:solidFill>
                  <a:srgbClr val="9A938A"/>
                </a:solidFill>
                <a:latin typeface="Yu Gothic" pitchFamily="34" charset="0"/>
                <a:ea typeface="Yu Gothic" pitchFamily="34" charset="-122"/>
                <a:cs typeface="Yu Gothic" pitchFamily="34" charset="-120"/>
              </a:rPr>
              <a:t>定温倉庫での保管と動産総合保険による全量付保。ロスは保険でカバーする前提のため費用計上していない。倉庫在庫は四半期ごとに第三者棚卸。</a:t>
            </a:r>
            <a:endParaRPr lang="en-US" sz="950" dirty="0"/>
          </a:p>
        </p:txBody>
      </p:sp>
      <p:sp>
        <p:nvSpPr>
          <p:cNvPr id="26" name="Shape 24"/>
          <p:cNvSpPr/>
          <p:nvPr/>
        </p:nvSpPr>
        <p:spPr>
          <a:xfrm>
            <a:off x="3441116" y="3675888"/>
            <a:ext cx="2526716" cy="1920240"/>
          </a:xfrm>
          <a:prstGeom prst="roundRect">
            <a:avLst>
              <a:gd name="adj" fmla="val 2143"/>
            </a:avLst>
          </a:prstGeom>
          <a:solidFill>
            <a:srgbClr val="171614"/>
          </a:solidFill>
          <a:ln w="9525">
            <a:solidFill>
              <a:srgbClr val="2E2A24"/>
            </a:solidFill>
            <a:prstDash val="solid"/>
          </a:ln>
        </p:spPr>
      </p:sp>
      <p:sp>
        <p:nvSpPr>
          <p:cNvPr id="27" name="Text 25"/>
          <p:cNvSpPr/>
          <p:nvPr/>
        </p:nvSpPr>
        <p:spPr>
          <a:xfrm>
            <a:off x="3678860" y="3877056"/>
            <a:ext cx="2051228" cy="256032"/>
          </a:xfrm>
          <a:prstGeom prst="rect">
            <a:avLst/>
          </a:prstGeom>
          <a:noFill/>
          <a:ln/>
        </p:spPr>
        <p:txBody>
          <a:bodyPr wrap="square" lIns="0" tIns="0" rIns="0" bIns="0" rtlCol="0" anchor="ctr"/>
          <a:lstStyle/>
          <a:p>
            <a:pPr indent="0" marL="0">
              <a:buNone/>
            </a:pPr>
            <a:r>
              <a:rPr lang="en-US" sz="1200" b="1" dirty="0">
                <a:solidFill>
                  <a:srgbClr val="EFEBE3"/>
                </a:solidFill>
                <a:latin typeface="Yu Gothic" pitchFamily="34" charset="0"/>
                <a:ea typeface="Yu Gothic" pitchFamily="34" charset="-122"/>
                <a:cs typeface="Yu Gothic" pitchFamily="34" charset="-120"/>
              </a:rPr>
              <a:t>カウンターパーティリスク</a:t>
            </a:r>
            <a:endParaRPr lang="en-US" sz="1200" dirty="0"/>
          </a:p>
        </p:txBody>
      </p:sp>
      <p:sp>
        <p:nvSpPr>
          <p:cNvPr id="28" name="Text 26"/>
          <p:cNvSpPr/>
          <p:nvPr/>
        </p:nvSpPr>
        <p:spPr>
          <a:xfrm>
            <a:off x="3678860" y="4169664"/>
            <a:ext cx="2051228" cy="384048"/>
          </a:xfrm>
          <a:prstGeom prst="rect">
            <a:avLst/>
          </a:prstGeom>
          <a:noFill/>
          <a:ln/>
        </p:spPr>
        <p:txBody>
          <a:bodyPr wrap="square" lIns="0" tIns="0" rIns="0" bIns="0" rtlCol="0" anchor="ctr"/>
          <a:lstStyle/>
          <a:p>
            <a:pPr indent="0" marL="0">
              <a:lnSpc>
                <a:spcPct val="115000"/>
              </a:lnSpc>
              <a:buNone/>
            </a:pPr>
            <a:r>
              <a:rPr lang="en-US" sz="950" dirty="0">
                <a:solidFill>
                  <a:srgbClr val="C9A96E"/>
                </a:solidFill>
                <a:latin typeface="Yu Gothic" pitchFamily="34" charset="0"/>
                <a:ea typeface="Yu Gothic" pitchFamily="34" charset="-122"/>
                <a:cs typeface="Yu Gothic" pitchFamily="34" charset="-120"/>
              </a:rPr>
              <a:t>WineBankの信用・実行力</a:t>
            </a:r>
            <a:endParaRPr lang="en-US" sz="950" dirty="0"/>
          </a:p>
        </p:txBody>
      </p:sp>
      <p:sp>
        <p:nvSpPr>
          <p:cNvPr id="29" name="Text 27"/>
          <p:cNvSpPr/>
          <p:nvPr/>
        </p:nvSpPr>
        <p:spPr>
          <a:xfrm>
            <a:off x="3678860" y="4608576"/>
            <a:ext cx="2051228" cy="841248"/>
          </a:xfrm>
          <a:prstGeom prst="rect">
            <a:avLst/>
          </a:prstGeom>
          <a:noFill/>
          <a:ln/>
        </p:spPr>
        <p:txBody>
          <a:bodyPr wrap="square" lIns="0" tIns="0" rIns="0" bIns="0" rtlCol="0" anchor="ctr"/>
          <a:lstStyle/>
          <a:p>
            <a:pPr indent="0" marL="0">
              <a:lnSpc>
                <a:spcPct val="124000"/>
              </a:lnSpc>
              <a:buNone/>
            </a:pPr>
            <a:r>
              <a:rPr lang="en-US" sz="950" dirty="0">
                <a:solidFill>
                  <a:srgbClr val="9A938A"/>
                </a:solidFill>
                <a:latin typeface="Yu Gothic" pitchFamily="34" charset="0"/>
                <a:ea typeface="Yu Gothic" pitchFamily="34" charset="-122"/>
                <a:cs typeface="Yu Gothic" pitchFamily="34" charset="-120"/>
              </a:rPr>
              <a:t>SPCを倒産隔離。ワイン現物はSPC名義で保有し、WineBankの債権者から隔離する。</a:t>
            </a:r>
            <a:endParaRPr lang="en-US" sz="950" dirty="0"/>
          </a:p>
        </p:txBody>
      </p:sp>
      <p:sp>
        <p:nvSpPr>
          <p:cNvPr id="30" name="Shape 28"/>
          <p:cNvSpPr/>
          <p:nvPr/>
        </p:nvSpPr>
        <p:spPr>
          <a:xfrm>
            <a:off x="6223864" y="3675888"/>
            <a:ext cx="2526716" cy="1920240"/>
          </a:xfrm>
          <a:prstGeom prst="roundRect">
            <a:avLst>
              <a:gd name="adj" fmla="val 2143"/>
            </a:avLst>
          </a:prstGeom>
          <a:solidFill>
            <a:srgbClr val="171614"/>
          </a:solidFill>
          <a:ln w="9525">
            <a:solidFill>
              <a:srgbClr val="2E2A24"/>
            </a:solidFill>
            <a:prstDash val="solid"/>
          </a:ln>
        </p:spPr>
      </p:sp>
      <p:sp>
        <p:nvSpPr>
          <p:cNvPr id="31" name="Text 29"/>
          <p:cNvSpPr/>
          <p:nvPr/>
        </p:nvSpPr>
        <p:spPr>
          <a:xfrm>
            <a:off x="6461608" y="3877056"/>
            <a:ext cx="2051228" cy="256032"/>
          </a:xfrm>
          <a:prstGeom prst="rect">
            <a:avLst/>
          </a:prstGeom>
          <a:noFill/>
          <a:ln/>
        </p:spPr>
        <p:txBody>
          <a:bodyPr wrap="square" lIns="0" tIns="0" rIns="0" bIns="0" rtlCol="0" anchor="ctr"/>
          <a:lstStyle/>
          <a:p>
            <a:pPr indent="0" marL="0">
              <a:buNone/>
            </a:pPr>
            <a:r>
              <a:rPr lang="en-US" sz="1200" b="1" dirty="0">
                <a:solidFill>
                  <a:srgbClr val="EFEBE3"/>
                </a:solidFill>
                <a:latin typeface="Yu Gothic" pitchFamily="34" charset="0"/>
                <a:ea typeface="Yu Gothic" pitchFamily="34" charset="-122"/>
                <a:cs typeface="Yu Gothic" pitchFamily="34" charset="-120"/>
              </a:rPr>
              <a:t>免許・商流リスク</a:t>
            </a:r>
            <a:endParaRPr lang="en-US" sz="1200" dirty="0"/>
          </a:p>
        </p:txBody>
      </p:sp>
      <p:sp>
        <p:nvSpPr>
          <p:cNvPr id="32" name="Text 30"/>
          <p:cNvSpPr/>
          <p:nvPr/>
        </p:nvSpPr>
        <p:spPr>
          <a:xfrm>
            <a:off x="6461608" y="4169664"/>
            <a:ext cx="2051228" cy="384048"/>
          </a:xfrm>
          <a:prstGeom prst="rect">
            <a:avLst/>
          </a:prstGeom>
          <a:noFill/>
          <a:ln/>
        </p:spPr>
        <p:txBody>
          <a:bodyPr wrap="square" lIns="0" tIns="0" rIns="0" bIns="0" rtlCol="0" anchor="ctr"/>
          <a:lstStyle/>
          <a:p>
            <a:pPr indent="0" marL="0">
              <a:lnSpc>
                <a:spcPct val="115000"/>
              </a:lnSpc>
              <a:buNone/>
            </a:pPr>
            <a:r>
              <a:rPr lang="en-US" sz="950" dirty="0">
                <a:solidFill>
                  <a:srgbClr val="C9A96E"/>
                </a:solidFill>
                <a:latin typeface="Yu Gothic" pitchFamily="34" charset="0"/>
                <a:ea typeface="Yu Gothic" pitchFamily="34" charset="-122"/>
                <a:cs typeface="Yu Gothic" pitchFamily="34" charset="-120"/>
              </a:rPr>
              <a:t>免許事業者の変更・取引口座の喪失</a:t>
            </a:r>
            <a:endParaRPr lang="en-US" sz="950" dirty="0"/>
          </a:p>
        </p:txBody>
      </p:sp>
      <p:sp>
        <p:nvSpPr>
          <p:cNvPr id="33" name="Text 31"/>
          <p:cNvSpPr/>
          <p:nvPr/>
        </p:nvSpPr>
        <p:spPr>
          <a:xfrm>
            <a:off x="6461608" y="4608576"/>
            <a:ext cx="2051228" cy="841248"/>
          </a:xfrm>
          <a:prstGeom prst="rect">
            <a:avLst/>
          </a:prstGeom>
          <a:noFill/>
          <a:ln/>
        </p:spPr>
        <p:txBody>
          <a:bodyPr wrap="square" lIns="0" tIns="0" rIns="0" bIns="0" rtlCol="0" anchor="ctr"/>
          <a:lstStyle/>
          <a:p>
            <a:pPr indent="0" marL="0">
              <a:lnSpc>
                <a:spcPct val="124000"/>
              </a:lnSpc>
              <a:buNone/>
            </a:pPr>
            <a:r>
              <a:rPr lang="en-US" sz="950" dirty="0">
                <a:solidFill>
                  <a:srgbClr val="9A938A"/>
                </a:solidFill>
                <a:latin typeface="Yu Gothic" pitchFamily="34" charset="0"/>
                <a:ea typeface="Yu Gothic" pitchFamily="34" charset="-122"/>
                <a:cs typeface="Yu Gothic" pitchFamily="34" charset="-120"/>
              </a:rPr>
              <a:t>WineBankの免許維持を契約上の義務とし、免許喪失時は在庫を売却清算して早期償還する条項を置く。</a:t>
            </a:r>
            <a:endParaRPr lang="en-US" sz="950" dirty="0"/>
          </a:p>
        </p:txBody>
      </p:sp>
      <p:sp>
        <p:nvSpPr>
          <p:cNvPr id="34" name="Shape 32"/>
          <p:cNvSpPr/>
          <p:nvPr/>
        </p:nvSpPr>
        <p:spPr>
          <a:xfrm>
            <a:off x="9006611" y="3675888"/>
            <a:ext cx="2526716" cy="1920240"/>
          </a:xfrm>
          <a:prstGeom prst="roundRect">
            <a:avLst>
              <a:gd name="adj" fmla="val 2143"/>
            </a:avLst>
          </a:prstGeom>
          <a:solidFill>
            <a:srgbClr val="171614"/>
          </a:solidFill>
          <a:ln w="9525">
            <a:solidFill>
              <a:srgbClr val="2E2A24"/>
            </a:solidFill>
            <a:prstDash val="solid"/>
          </a:ln>
        </p:spPr>
      </p:sp>
      <p:sp>
        <p:nvSpPr>
          <p:cNvPr id="35" name="Text 33"/>
          <p:cNvSpPr/>
          <p:nvPr/>
        </p:nvSpPr>
        <p:spPr>
          <a:xfrm>
            <a:off x="9244355" y="3877056"/>
            <a:ext cx="2051228" cy="256032"/>
          </a:xfrm>
          <a:prstGeom prst="rect">
            <a:avLst/>
          </a:prstGeom>
          <a:noFill/>
          <a:ln/>
        </p:spPr>
        <p:txBody>
          <a:bodyPr wrap="square" lIns="0" tIns="0" rIns="0" bIns="0" rtlCol="0" anchor="ctr"/>
          <a:lstStyle/>
          <a:p>
            <a:pPr indent="0" marL="0">
              <a:buNone/>
            </a:pPr>
            <a:r>
              <a:rPr lang="en-US" sz="1200" b="1" dirty="0">
                <a:solidFill>
                  <a:srgbClr val="EFEBE3"/>
                </a:solidFill>
                <a:latin typeface="Yu Gothic" pitchFamily="34" charset="0"/>
                <a:ea typeface="Yu Gothic" pitchFamily="34" charset="-122"/>
                <a:cs typeface="Yu Gothic" pitchFamily="34" charset="-120"/>
              </a:rPr>
              <a:t>移転価格リスク</a:t>
            </a:r>
            <a:endParaRPr lang="en-US" sz="1200" dirty="0"/>
          </a:p>
        </p:txBody>
      </p:sp>
      <p:sp>
        <p:nvSpPr>
          <p:cNvPr id="36" name="Text 34"/>
          <p:cNvSpPr/>
          <p:nvPr/>
        </p:nvSpPr>
        <p:spPr>
          <a:xfrm>
            <a:off x="9244355" y="4169664"/>
            <a:ext cx="2051228" cy="384048"/>
          </a:xfrm>
          <a:prstGeom prst="rect">
            <a:avLst/>
          </a:prstGeom>
          <a:noFill/>
          <a:ln/>
        </p:spPr>
        <p:txBody>
          <a:bodyPr wrap="square" lIns="0" tIns="0" rIns="0" bIns="0" rtlCol="0" anchor="ctr"/>
          <a:lstStyle/>
          <a:p>
            <a:pPr indent="0" marL="0">
              <a:lnSpc>
                <a:spcPct val="115000"/>
              </a:lnSpc>
              <a:buNone/>
            </a:pPr>
            <a:r>
              <a:rPr lang="en-US" sz="950" dirty="0">
                <a:solidFill>
                  <a:srgbClr val="C9A96E"/>
                </a:solidFill>
                <a:latin typeface="Yu Gothic" pitchFamily="34" charset="0"/>
                <a:ea typeface="Yu Gothic" pitchFamily="34" charset="-122"/>
                <a:cs typeface="Yu Gothic" pitchFamily="34" charset="-120"/>
              </a:rPr>
              <a:t>譲渡1%の妥当性を否認される</a:t>
            </a:r>
            <a:endParaRPr lang="en-US" sz="950" dirty="0"/>
          </a:p>
        </p:txBody>
      </p:sp>
      <p:sp>
        <p:nvSpPr>
          <p:cNvPr id="37" name="Text 35"/>
          <p:cNvSpPr/>
          <p:nvPr/>
        </p:nvSpPr>
        <p:spPr>
          <a:xfrm>
            <a:off x="9244355" y="4608576"/>
            <a:ext cx="2051228" cy="841248"/>
          </a:xfrm>
          <a:prstGeom prst="rect">
            <a:avLst/>
          </a:prstGeom>
          <a:noFill/>
          <a:ln/>
        </p:spPr>
        <p:txBody>
          <a:bodyPr wrap="square" lIns="0" tIns="0" rIns="0" bIns="0" rtlCol="0" anchor="ctr"/>
          <a:lstStyle/>
          <a:p>
            <a:pPr indent="0" marL="0">
              <a:lnSpc>
                <a:spcPct val="124000"/>
              </a:lnSpc>
              <a:buNone/>
            </a:pPr>
            <a:r>
              <a:rPr lang="en-US" sz="950" dirty="0">
                <a:solidFill>
                  <a:srgbClr val="9A938A"/>
                </a:solidFill>
                <a:latin typeface="Yu Gothic" pitchFamily="34" charset="0"/>
                <a:ea typeface="Yu Gothic" pitchFamily="34" charset="-122"/>
                <a:cs typeface="Yu Gothic" pitchFamily="34" charset="-120"/>
              </a:rPr>
              <a:t>譲渡価格の算定根拠を文書化。第三者卸価格との比較資料を年次で整備し、税務調査に備える。</a:t>
            </a:r>
            <a:endParaRPr lang="en-US" sz="9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0C0C0C"/>
        </a:solidFill>
      </p:bgPr>
    </p:bg>
    <p:spTree>
      <p:nvGrpSpPr>
        <p:cNvPr id="1" name=""/>
        <p:cNvGrpSpPr/>
        <p:nvPr/>
      </p:nvGrpSpPr>
      <p:grpSpPr>
        <a:xfrm>
          <a:off x="0" y="0"/>
          <a:ext cx="0" cy="0"/>
          <a:chOff x="0" y="0"/>
          <a:chExt cx="0" cy="0"/>
        </a:xfrm>
      </p:grpSpPr>
      <p:sp>
        <p:nvSpPr>
          <p:cNvPr id="2" name="Text 0"/>
          <p:cNvSpPr/>
          <p:nvPr/>
        </p:nvSpPr>
        <p:spPr>
          <a:xfrm>
            <a:off x="658368" y="384048"/>
            <a:ext cx="10874959" cy="219456"/>
          </a:xfrm>
          <a:prstGeom prst="rect">
            <a:avLst/>
          </a:prstGeom>
          <a:noFill/>
          <a:ln/>
        </p:spPr>
        <p:txBody>
          <a:bodyPr wrap="square" lIns="0" tIns="0" rIns="0" bIns="0" rtlCol="0" anchor="ctr"/>
          <a:lstStyle/>
          <a:p>
            <a:pPr indent="0" marL="0">
              <a:buNone/>
            </a:pPr>
            <a:r>
              <a:rPr lang="en-US" sz="1050" b="1" spc="340" kern="0" dirty="0">
                <a:solidFill>
                  <a:srgbClr val="A78450"/>
                </a:solidFill>
                <a:latin typeface="Cambria" pitchFamily="34" charset="0"/>
                <a:ea typeface="Cambria" pitchFamily="34" charset="-122"/>
                <a:cs typeface="Cambria" pitchFamily="34" charset="-120"/>
              </a:rPr>
              <a:t>TERMS</a:t>
            </a:r>
            <a:endParaRPr lang="en-US" sz="1050" dirty="0"/>
          </a:p>
        </p:txBody>
      </p:sp>
      <p:sp>
        <p:nvSpPr>
          <p:cNvPr id="3" name="Text 1"/>
          <p:cNvSpPr/>
          <p:nvPr/>
        </p:nvSpPr>
        <p:spPr>
          <a:xfrm>
            <a:off x="658368" y="640080"/>
            <a:ext cx="10874959" cy="548640"/>
          </a:xfrm>
          <a:prstGeom prst="rect">
            <a:avLst/>
          </a:prstGeom>
          <a:noFill/>
          <a:ln/>
        </p:spPr>
        <p:txBody>
          <a:bodyPr wrap="square" lIns="0" tIns="0" rIns="0" bIns="0" rtlCol="0" anchor="ctr"/>
          <a:lstStyle/>
          <a:p>
            <a:pPr indent="0" marL="0">
              <a:buNone/>
            </a:pPr>
            <a:r>
              <a:rPr lang="en-US" sz="2700" b="1" dirty="0">
                <a:solidFill>
                  <a:srgbClr val="EFEBE3"/>
                </a:solidFill>
                <a:latin typeface="Yu Mincho" pitchFamily="34" charset="0"/>
                <a:ea typeface="Yu Mincho" pitchFamily="34" charset="-122"/>
                <a:cs typeface="Yu Mincho" pitchFamily="34" charset="-120"/>
              </a:rPr>
              <a:t>ファンド設計条件（ドラフト）</a:t>
            </a:r>
            <a:endParaRPr lang="en-US" sz="2700" dirty="0"/>
          </a:p>
        </p:txBody>
      </p:sp>
      <p:sp>
        <p:nvSpPr>
          <p:cNvPr id="4" name="Text 2"/>
          <p:cNvSpPr/>
          <p:nvPr/>
        </p:nvSpPr>
        <p:spPr>
          <a:xfrm>
            <a:off x="658368" y="1216152"/>
            <a:ext cx="10874959" cy="310896"/>
          </a:xfrm>
          <a:prstGeom prst="rect">
            <a:avLst/>
          </a:prstGeom>
          <a:noFill/>
          <a:ln/>
        </p:spPr>
        <p:txBody>
          <a:bodyPr wrap="square" lIns="0" tIns="0" rIns="0" bIns="0" rtlCol="0" anchor="ctr"/>
          <a:lstStyle/>
          <a:p>
            <a:pPr indent="0" marL="0">
              <a:buNone/>
            </a:pPr>
            <a:r>
              <a:rPr lang="en-US" sz="1150" dirty="0">
                <a:solidFill>
                  <a:srgbClr val="9A938A"/>
                </a:solidFill>
                <a:latin typeface="Yu Gothic" pitchFamily="34" charset="0"/>
                <a:ea typeface="Yu Gothic" pitchFamily="34" charset="-122"/>
                <a:cs typeface="Yu Gothic" pitchFamily="34" charset="-120"/>
              </a:rPr>
              <a:t>組成・資本構成（左）と、運用・費用・報告（右）に分けて記載する。</a:t>
            </a:r>
            <a:endParaRPr lang="en-US" sz="1150" dirty="0"/>
          </a:p>
        </p:txBody>
      </p:sp>
      <p:sp>
        <p:nvSpPr>
          <p:cNvPr id="5" name="Text 3"/>
          <p:cNvSpPr/>
          <p:nvPr/>
        </p:nvSpPr>
        <p:spPr>
          <a:xfrm>
            <a:off x="658368" y="6437376"/>
            <a:ext cx="5029200" cy="219456"/>
          </a:xfrm>
          <a:prstGeom prst="rect">
            <a:avLst/>
          </a:prstGeom>
          <a:noFill/>
          <a:ln/>
        </p:spPr>
        <p:txBody>
          <a:bodyPr wrap="square" lIns="0" tIns="0" rIns="0" bIns="0" rtlCol="0" anchor="ctr"/>
          <a:lstStyle/>
          <a:p>
            <a:pPr indent="0" marL="0">
              <a:buNone/>
            </a:pPr>
            <a:r>
              <a:rPr lang="en-US" sz="850" dirty="0">
                <a:solidFill>
                  <a:srgbClr val="6E675E"/>
                </a:solidFill>
                <a:latin typeface="Yu Gothic" pitchFamily="34" charset="0"/>
                <a:ea typeface="Yu Gothic" pitchFamily="34" charset="-122"/>
                <a:cs typeface="Yu Gothic" pitchFamily="34" charset="-120"/>
              </a:rPr>
              <a:t>CONFIDENTIAL ｜ 株式会社WineBank</a:t>
            </a:r>
            <a:endParaRPr lang="en-US" sz="850" dirty="0"/>
          </a:p>
        </p:txBody>
      </p:sp>
      <p:sp>
        <p:nvSpPr>
          <p:cNvPr id="6" name="Text 4"/>
          <p:cNvSpPr/>
          <p:nvPr/>
        </p:nvSpPr>
        <p:spPr>
          <a:xfrm>
            <a:off x="10618927" y="6437376"/>
            <a:ext cx="914400" cy="219456"/>
          </a:xfrm>
          <a:prstGeom prst="rect">
            <a:avLst/>
          </a:prstGeom>
          <a:noFill/>
          <a:ln/>
        </p:spPr>
        <p:txBody>
          <a:bodyPr wrap="square" lIns="0" tIns="0" rIns="0" bIns="0" rtlCol="0" anchor="ctr"/>
          <a:lstStyle/>
          <a:p>
            <a:pPr algn="r" indent="0" marL="0">
              <a:buNone/>
            </a:pPr>
            <a:r>
              <a:rPr lang="en-US" sz="950" spc="150" kern="0" dirty="0">
                <a:solidFill>
                  <a:srgbClr val="6E5730"/>
                </a:solidFill>
                <a:latin typeface="Cambria" pitchFamily="34" charset="0"/>
                <a:ea typeface="Cambria" pitchFamily="34" charset="-122"/>
                <a:cs typeface="Cambria" pitchFamily="34" charset="-120"/>
              </a:rPr>
              <a:t>19</a:t>
            </a:r>
            <a:endParaRPr lang="en-US" sz="950" dirty="0"/>
          </a:p>
        </p:txBody>
      </p:sp>
      <p:graphicFrame>
        <p:nvGraphicFramePr>
          <p:cNvPr id="21" name="Table 0"/>
          <p:cNvGraphicFramePr>
            <a:graphicFrameLocks noGrp="1"/>
          </p:cNvGraphicFramePr>
          <p:nvPr>
            <p:extLst>
              <p:ext uri="{D42A27DB-BD31-4B8C-83A1-F6EECF244321}">
                <p14:modId xmlns:p14="http://schemas.microsoft.com/office/powerpoint/2010/main" val="1579011935"/>
              </p:ext>
            </p:extLst>
          </p:nvPr>
        </p:nvGraphicFramePr>
        <p:xfrm>
          <a:off x="658368" y="1591056"/>
          <a:ext cx="5300320" cy="914400"/>
        </p:xfrm>
        <a:graphic>
          <a:graphicData uri="http://schemas.openxmlformats.org/drawingml/2006/table">
            <a:tbl>
              <a:tblPr/>
              <a:tblGrid>
                <a:gridCol w="1536192"/>
                <a:gridCol w="3764128"/>
              </a:tblGrid>
              <a:tr h="352044">
                <a:tc>
                  <a:txBody>
                    <a:bodyPr/>
                    <a:lstStyle/>
                    <a:p>
                      <a:pPr algn="ctr" indent="0" marL="0">
                        <a:buNone/>
                      </a:pPr>
                      <a:r>
                        <a:rPr lang="en-US" sz="950" b="1" dirty="0">
                          <a:solidFill>
                            <a:srgbClr val="C9A96E"/>
                          </a:solidFill>
                          <a:latin typeface="Yu Gothic" pitchFamily="34" charset="0"/>
                          <a:ea typeface="Yu Gothic" pitchFamily="34" charset="-122"/>
                          <a:cs typeface="Yu Gothic" pitchFamily="34" charset="-120"/>
                        </a:rPr>
                        <a:t>項目</a:t>
                      </a:r>
                      <a:endParaRPr lang="en-US" sz="9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231F1A"/>
                    </a:solidFill>
                  </a:tcPr>
                </a:tc>
                <a:tc>
                  <a:txBody>
                    <a:bodyPr/>
                    <a:lstStyle/>
                    <a:p>
                      <a:pPr algn="ctr" indent="0" marL="0">
                        <a:buNone/>
                      </a:pPr>
                      <a:r>
                        <a:rPr lang="en-US" sz="950" b="1" dirty="0">
                          <a:solidFill>
                            <a:srgbClr val="C9A96E"/>
                          </a:solidFill>
                          <a:latin typeface="Yu Gothic" pitchFamily="34" charset="0"/>
                          <a:ea typeface="Yu Gothic" pitchFamily="34" charset="-122"/>
                          <a:cs typeface="Yu Gothic" pitchFamily="34" charset="-120"/>
                        </a:rPr>
                        <a:t>内容</a:t>
                      </a:r>
                      <a:endParaRPr lang="en-US" sz="9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231F1A"/>
                    </a:solidFill>
                  </a:tcPr>
                </a:tc>
              </a:tr>
              <a:tr h="352044">
                <a:tc>
                  <a:txBody>
                    <a:bodyPr/>
                    <a:lstStyle/>
                    <a:p>
                      <a:pPr algn="ctr" indent="0" marL="0">
                        <a:buNone/>
                      </a:pPr>
                      <a:r>
                        <a:rPr lang="en-US" sz="850" dirty="0">
                          <a:solidFill>
                            <a:srgbClr val="EFEBE3"/>
                          </a:solidFill>
                          <a:latin typeface="Yu Gothic" pitchFamily="34" charset="0"/>
                          <a:ea typeface="Yu Gothic" pitchFamily="34" charset="-122"/>
                          <a:cs typeface="Yu Gothic" pitchFamily="34" charset="-120"/>
                        </a:rPr>
                        <a:t>組成形態</a:t>
                      </a:r>
                      <a:endParaRPr lang="en-US" sz="8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l" indent="0" marL="0">
                        <a:buNone/>
                      </a:pPr>
                      <a:r>
                        <a:rPr lang="en-US" sz="850" dirty="0">
                          <a:solidFill>
                            <a:srgbClr val="EFEBE3"/>
                          </a:solidFill>
                          <a:latin typeface="Yu Gothic" pitchFamily="34" charset="0"/>
                          <a:ea typeface="Yu Gothic" pitchFamily="34" charset="-122"/>
                          <a:cs typeface="Yu Gothic" pitchFamily="34" charset="-120"/>
                        </a:rPr>
                        <a:t>合同会社＋匿名組合（GK-TK）。SPCレベルでは非課税、投資家側で課税</a:t>
                      </a:r>
                      <a:endParaRPr lang="en-US" sz="8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r>
              <a:tr h="352044">
                <a:tc>
                  <a:txBody>
                    <a:bodyPr/>
                    <a:lstStyle/>
                    <a:p>
                      <a:pPr algn="ctr" indent="0" marL="0">
                        <a:buNone/>
                      </a:pPr>
                      <a:r>
                        <a:rPr lang="en-US" sz="850" dirty="0">
                          <a:solidFill>
                            <a:srgbClr val="EFEBE3"/>
                          </a:solidFill>
                          <a:latin typeface="Yu Gothic" pitchFamily="34" charset="0"/>
                          <a:ea typeface="Yu Gothic" pitchFamily="34" charset="-122"/>
                          <a:cs typeface="Yu Gothic" pitchFamily="34" charset="-120"/>
                        </a:rPr>
                        <a:t>ファンド形態</a:t>
                      </a:r>
                      <a:endParaRPr lang="en-US" sz="8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l" indent="0" marL="0">
                        <a:buNone/>
                      </a:pPr>
                      <a:r>
                        <a:rPr lang="en-US" sz="850" dirty="0">
                          <a:solidFill>
                            <a:srgbClr val="EFEBE3"/>
                          </a:solidFill>
                          <a:latin typeface="Yu Gothic" pitchFamily="34" charset="0"/>
                          <a:ea typeface="Yu Gothic" pitchFamily="34" charset="-122"/>
                          <a:cs typeface="Yu Gothic" pitchFamily="34" charset="-120"/>
                        </a:rPr>
                        <a:t>適格機関投資家等特例業務による私募。適格機関投資家1名以上の確保を組成条件とする</a:t>
                      </a:r>
                      <a:endParaRPr lang="en-US" sz="8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r>
              <a:tr h="352044">
                <a:tc>
                  <a:txBody>
                    <a:bodyPr/>
                    <a:lstStyle/>
                    <a:p>
                      <a:pPr algn="ctr" indent="0" marL="0">
                        <a:buNone/>
                      </a:pPr>
                      <a:r>
                        <a:rPr lang="en-US" sz="850" dirty="0">
                          <a:solidFill>
                            <a:srgbClr val="EFEBE3"/>
                          </a:solidFill>
                          <a:latin typeface="Yu Gothic" pitchFamily="34" charset="0"/>
                          <a:ea typeface="Yu Gothic" pitchFamily="34" charset="-122"/>
                          <a:cs typeface="Yu Gothic" pitchFamily="34" charset="-120"/>
                        </a:rPr>
                        <a:t>募集総額</a:t>
                      </a:r>
                      <a:endParaRPr lang="en-US" sz="8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l" indent="0" marL="0">
                        <a:buNone/>
                      </a:pPr>
                      <a:r>
                        <a:rPr lang="en-US" sz="850" b="1" dirty="0">
                          <a:solidFill>
                            <a:srgbClr val="C9A96E"/>
                          </a:solidFill>
                          <a:latin typeface="Yu Gothic" pitchFamily="34" charset="0"/>
                          <a:ea typeface="Yu Gothic" pitchFamily="34" charset="-122"/>
                          <a:cs typeface="Yu Gothic" pitchFamily="34" charset="-120"/>
                        </a:rPr>
                        <a:t>総額5億円（すべてエクイティ＝匿名組合出資。デットなし）</a:t>
                      </a:r>
                      <a:endParaRPr lang="en-US" sz="8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r>
              <a:tr h="352044">
                <a:tc>
                  <a:txBody>
                    <a:bodyPr/>
                    <a:lstStyle/>
                    <a:p>
                      <a:pPr algn="ctr" indent="0" marL="0">
                        <a:buNone/>
                      </a:pPr>
                      <a:r>
                        <a:rPr lang="en-US" sz="850" dirty="0">
                          <a:solidFill>
                            <a:srgbClr val="EFEBE3"/>
                          </a:solidFill>
                          <a:latin typeface="Yu Gothic" pitchFamily="34" charset="0"/>
                          <a:ea typeface="Yu Gothic" pitchFamily="34" charset="-122"/>
                          <a:cs typeface="Yu Gothic" pitchFamily="34" charset="-120"/>
                        </a:rPr>
                        <a:t>借入</a:t>
                      </a:r>
                      <a:endParaRPr lang="en-US" sz="8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l" indent="0" marL="0">
                        <a:buNone/>
                      </a:pPr>
                      <a:r>
                        <a:rPr lang="en-US" sz="850" dirty="0">
                          <a:solidFill>
                            <a:srgbClr val="EFEBE3"/>
                          </a:solidFill>
                          <a:latin typeface="Yu Gothic" pitchFamily="34" charset="0"/>
                          <a:ea typeface="Yu Gothic" pitchFamily="34" charset="-122"/>
                          <a:cs typeface="Yu Gothic" pitchFamily="34" charset="-120"/>
                        </a:rPr>
                        <a:t>なし。SPCは無借金で運営し、借入契約・保証・金利の論点が発生しない</a:t>
                      </a:r>
                      <a:endParaRPr lang="en-US" sz="8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r>
              <a:tr h="352044">
                <a:tc>
                  <a:txBody>
                    <a:bodyPr/>
                    <a:lstStyle/>
                    <a:p>
                      <a:pPr algn="ctr" indent="0" marL="0">
                        <a:buNone/>
                      </a:pPr>
                      <a:r>
                        <a:rPr lang="en-US" sz="850" dirty="0">
                          <a:solidFill>
                            <a:srgbClr val="EFEBE3"/>
                          </a:solidFill>
                          <a:latin typeface="Yu Gothic" pitchFamily="34" charset="0"/>
                          <a:ea typeface="Yu Gothic" pitchFamily="34" charset="-122"/>
                          <a:cs typeface="Yu Gothic" pitchFamily="34" charset="-120"/>
                        </a:rPr>
                        <a:t>損益の配分</a:t>
                      </a:r>
                      <a:endParaRPr lang="en-US" sz="8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l" indent="0" marL="0">
                        <a:buNone/>
                      </a:pPr>
                      <a:r>
                        <a:rPr lang="en-US" sz="850" b="1" dirty="0">
                          <a:solidFill>
                            <a:srgbClr val="C9A96E"/>
                          </a:solidFill>
                          <a:latin typeface="Yu Gothic" pitchFamily="34" charset="0"/>
                          <a:ea typeface="Yu Gothic" pitchFamily="34" charset="-122"/>
                          <a:cs typeface="Yu Gothic" pitchFamily="34" charset="-120"/>
                        </a:rPr>
                        <a:t>SPC税前利益を投資家とWineBankで折半（成功報酬）。期中の管理報酬は課さない</a:t>
                      </a:r>
                      <a:endParaRPr lang="en-US" sz="8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r>
              <a:tr h="352044">
                <a:tc>
                  <a:txBody>
                    <a:bodyPr/>
                    <a:lstStyle/>
                    <a:p>
                      <a:pPr algn="ctr" indent="0" marL="0">
                        <a:buNone/>
                      </a:pPr>
                      <a:r>
                        <a:rPr lang="en-US" sz="850" dirty="0">
                          <a:solidFill>
                            <a:srgbClr val="EFEBE3"/>
                          </a:solidFill>
                          <a:latin typeface="Yu Gothic" pitchFamily="34" charset="0"/>
                          <a:ea typeface="Yu Gothic" pitchFamily="34" charset="-122"/>
                          <a:cs typeface="Yu Gothic" pitchFamily="34" charset="-120"/>
                        </a:rPr>
                        <a:t>運用期間</a:t>
                      </a:r>
                      <a:endParaRPr lang="en-US" sz="8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l" indent="0" marL="0">
                        <a:buNone/>
                      </a:pPr>
                      <a:r>
                        <a:rPr lang="en-US" sz="850" dirty="0">
                          <a:solidFill>
                            <a:srgbClr val="EFEBE3"/>
                          </a:solidFill>
                          <a:latin typeface="Yu Gothic" pitchFamily="34" charset="0"/>
                          <a:ea typeface="Yu Gothic" pitchFamily="34" charset="-122"/>
                          <a:cs typeface="Yu Gothic" pitchFamily="34" charset="-120"/>
                        </a:rPr>
                        <a:t>5年。満期時に在庫を売却清算のうえ元本償還</a:t>
                      </a:r>
                      <a:endParaRPr lang="en-US" sz="8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r>
              <a:tr h="352044">
                <a:tc>
                  <a:txBody>
                    <a:bodyPr/>
                    <a:lstStyle/>
                    <a:p>
                      <a:pPr algn="ctr" indent="0" marL="0">
                        <a:buNone/>
                      </a:pPr>
                      <a:r>
                        <a:rPr lang="en-US" sz="850" dirty="0">
                          <a:solidFill>
                            <a:srgbClr val="EFEBE3"/>
                          </a:solidFill>
                          <a:latin typeface="Yu Gothic" pitchFamily="34" charset="0"/>
                          <a:ea typeface="Yu Gothic" pitchFamily="34" charset="-122"/>
                          <a:cs typeface="Yu Gothic" pitchFamily="34" charset="-120"/>
                        </a:rPr>
                        <a:t>中途解約</a:t>
                      </a:r>
                      <a:endParaRPr lang="en-US" sz="8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l" indent="0" marL="0">
                        <a:buNone/>
                      </a:pPr>
                      <a:r>
                        <a:rPr lang="en-US" sz="850" b="1" dirty="0">
                          <a:solidFill>
                            <a:srgbClr val="C9A96E"/>
                          </a:solidFill>
                          <a:latin typeface="Yu Gothic" pitchFamily="34" charset="0"/>
                          <a:ea typeface="Yu Gothic" pitchFamily="34" charset="-122"/>
                          <a:cs typeface="Yu Gothic" pitchFamily="34" charset="-120"/>
                        </a:rPr>
                        <a:t>3年経過後、年度ごとの解約日に申出可（90日前通知）。当初3年間はロックアップ</a:t>
                      </a:r>
                      <a:endParaRPr lang="en-US" sz="8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r>
              <a:tr h="352044">
                <a:tc>
                  <a:txBody>
                    <a:bodyPr/>
                    <a:lstStyle/>
                    <a:p>
                      <a:pPr algn="ctr" indent="0" marL="0">
                        <a:buNone/>
                      </a:pPr>
                      <a:r>
                        <a:rPr lang="en-US" sz="850" dirty="0">
                          <a:solidFill>
                            <a:srgbClr val="EFEBE3"/>
                          </a:solidFill>
                          <a:latin typeface="Yu Gothic" pitchFamily="34" charset="0"/>
                          <a:ea typeface="Yu Gothic" pitchFamily="34" charset="-122"/>
                          <a:cs typeface="Yu Gothic" pitchFamily="34" charset="-120"/>
                        </a:rPr>
                        <a:t>分配</a:t>
                      </a:r>
                      <a:endParaRPr lang="en-US" sz="8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l" indent="0" marL="0">
                        <a:buNone/>
                      </a:pPr>
                      <a:r>
                        <a:rPr lang="en-US" sz="850" dirty="0">
                          <a:solidFill>
                            <a:srgbClr val="EFEBE3"/>
                          </a:solidFill>
                          <a:latin typeface="Yu Gothic" pitchFamily="34" charset="0"/>
                          <a:ea typeface="Yu Gothic" pitchFamily="34" charset="-122"/>
                          <a:cs typeface="Yu Gothic" pitchFamily="34" charset="-120"/>
                        </a:rPr>
                        <a:t>半期ごと。元本はSPC内に留保し継続運用</a:t>
                      </a:r>
                      <a:endParaRPr lang="en-US" sz="8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r>
              <a:tr h="352044">
                <a:tc>
                  <a:txBody>
                    <a:bodyPr/>
                    <a:lstStyle/>
                    <a:p>
                      <a:pPr algn="ctr" indent="0" marL="0">
                        <a:buNone/>
                      </a:pPr>
                      <a:r>
                        <a:rPr lang="en-US" sz="850" dirty="0">
                          <a:solidFill>
                            <a:srgbClr val="EFEBE3"/>
                          </a:solidFill>
                          <a:latin typeface="Yu Gothic" pitchFamily="34" charset="0"/>
                          <a:ea typeface="Yu Gothic" pitchFamily="34" charset="-122"/>
                          <a:cs typeface="Yu Gothic" pitchFamily="34" charset="-120"/>
                        </a:rPr>
                        <a:t>元本の裏付け</a:t>
                      </a:r>
                      <a:endParaRPr lang="en-US" sz="8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l" indent="0" marL="0">
                        <a:buNone/>
                      </a:pPr>
                      <a:r>
                        <a:rPr lang="en-US" sz="850" dirty="0">
                          <a:solidFill>
                            <a:srgbClr val="EFEBE3"/>
                          </a:solidFill>
                          <a:latin typeface="Yu Gothic" pitchFamily="34" charset="0"/>
                          <a:ea typeface="Yu Gothic" pitchFamily="34" charset="-122"/>
                          <a:cs typeface="Yu Gothic" pitchFamily="34" charset="-120"/>
                        </a:rPr>
                        <a:t>SPC名義のワイン現物および現金。四半期ごとに在庫明細・簿価を報告</a:t>
                      </a:r>
                      <a:endParaRPr lang="en-US" sz="8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r>
            </a:tbl>
          </a:graphicData>
        </a:graphic>
      </p:graphicFrame>
      <p:graphicFrame>
        <p:nvGraphicFramePr>
          <p:cNvPr id="41" name="Table 1"/>
          <p:cNvGraphicFramePr>
            <a:graphicFrameLocks noGrp="1"/>
          </p:cNvGraphicFramePr>
          <p:nvPr>
            <p:extLst>
              <p:ext uri="{D42A27DB-BD31-4B8C-83A1-F6EECF244321}">
                <p14:modId xmlns:p14="http://schemas.microsoft.com/office/powerpoint/2010/main" val="1579011935"/>
              </p:ext>
            </p:extLst>
          </p:nvPr>
        </p:nvGraphicFramePr>
        <p:xfrm>
          <a:off x="6233008" y="1591056"/>
          <a:ext cx="5300320" cy="914400"/>
        </p:xfrm>
        <a:graphic>
          <a:graphicData uri="http://schemas.openxmlformats.org/drawingml/2006/table">
            <a:tbl>
              <a:tblPr/>
              <a:tblGrid>
                <a:gridCol w="1536192"/>
                <a:gridCol w="3764128"/>
              </a:tblGrid>
              <a:tr h="352044">
                <a:tc>
                  <a:txBody>
                    <a:bodyPr/>
                    <a:lstStyle/>
                    <a:p>
                      <a:pPr algn="ctr" indent="0" marL="0">
                        <a:buNone/>
                      </a:pPr>
                      <a:r>
                        <a:rPr lang="en-US" sz="950" b="1" dirty="0">
                          <a:solidFill>
                            <a:srgbClr val="C9A96E"/>
                          </a:solidFill>
                          <a:latin typeface="Yu Gothic" pitchFamily="34" charset="0"/>
                          <a:ea typeface="Yu Gothic" pitchFamily="34" charset="-122"/>
                          <a:cs typeface="Yu Gothic" pitchFamily="34" charset="-120"/>
                        </a:rPr>
                        <a:t>項目</a:t>
                      </a:r>
                      <a:endParaRPr lang="en-US" sz="9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231F1A"/>
                    </a:solidFill>
                  </a:tcPr>
                </a:tc>
                <a:tc>
                  <a:txBody>
                    <a:bodyPr/>
                    <a:lstStyle/>
                    <a:p>
                      <a:pPr algn="ctr" indent="0" marL="0">
                        <a:buNone/>
                      </a:pPr>
                      <a:r>
                        <a:rPr lang="en-US" sz="950" b="1" dirty="0">
                          <a:solidFill>
                            <a:srgbClr val="C9A96E"/>
                          </a:solidFill>
                          <a:latin typeface="Yu Gothic" pitchFamily="34" charset="0"/>
                          <a:ea typeface="Yu Gothic" pitchFamily="34" charset="-122"/>
                          <a:cs typeface="Yu Gothic" pitchFamily="34" charset="-120"/>
                        </a:rPr>
                        <a:t>内容</a:t>
                      </a:r>
                      <a:endParaRPr lang="en-US" sz="9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231F1A"/>
                    </a:solidFill>
                  </a:tcPr>
                </a:tc>
              </a:tr>
              <a:tr h="352044">
                <a:tc>
                  <a:txBody>
                    <a:bodyPr/>
                    <a:lstStyle/>
                    <a:p>
                      <a:pPr algn="ctr" indent="0" marL="0">
                        <a:buNone/>
                      </a:pPr>
                      <a:r>
                        <a:rPr lang="en-US" sz="850" dirty="0">
                          <a:solidFill>
                            <a:srgbClr val="EFEBE3"/>
                          </a:solidFill>
                          <a:latin typeface="Yu Gothic" pitchFamily="34" charset="0"/>
                          <a:ea typeface="Yu Gothic" pitchFamily="34" charset="-122"/>
                          <a:cs typeface="Yu Gothic" pitchFamily="34" charset="-120"/>
                        </a:rPr>
                        <a:t>現物の取得</a:t>
                      </a:r>
                      <a:endParaRPr lang="en-US" sz="8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l" indent="0" marL="0">
                        <a:buNone/>
                      </a:pPr>
                      <a:r>
                        <a:rPr lang="en-US" sz="850" dirty="0">
                          <a:solidFill>
                            <a:srgbClr val="EFEBE3"/>
                          </a:solidFill>
                          <a:latin typeface="Yu Gothic" pitchFamily="34" charset="0"/>
                          <a:ea typeface="Yu Gothic" pitchFamily="34" charset="-122"/>
                          <a:cs typeface="Yu Gothic" pitchFamily="34" charset="-120"/>
                        </a:rPr>
                        <a:t>WineBankが調達した現物をSPCへ譲渡（＋1%）。実商品原価4.95億＋譲渡マージン500万円</a:t>
                      </a:r>
                      <a:endParaRPr lang="en-US" sz="8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r>
              <a:tr h="352044">
                <a:tc>
                  <a:txBody>
                    <a:bodyPr/>
                    <a:lstStyle/>
                    <a:p>
                      <a:pPr algn="ctr" indent="0" marL="0">
                        <a:buNone/>
                      </a:pPr>
                      <a:r>
                        <a:rPr lang="en-US" sz="850" dirty="0">
                          <a:solidFill>
                            <a:srgbClr val="EFEBE3"/>
                          </a:solidFill>
                          <a:latin typeface="Yu Gothic" pitchFamily="34" charset="0"/>
                          <a:ea typeface="Yu Gothic" pitchFamily="34" charset="-122"/>
                          <a:cs typeface="Yu Gothic" pitchFamily="34" charset="-120"/>
                        </a:rPr>
                        <a:t>資金配分</a:t>
                      </a:r>
                      <a:endParaRPr lang="en-US" sz="8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l" indent="0" marL="0">
                        <a:buNone/>
                      </a:pPr>
                      <a:r>
                        <a:rPr lang="en-US" sz="850" b="1" dirty="0">
                          <a:solidFill>
                            <a:srgbClr val="C9A96E"/>
                          </a:solidFill>
                          <a:latin typeface="Yu Gothic" pitchFamily="34" charset="0"/>
                          <a:ea typeface="Yu Gothic" pitchFamily="34" charset="-122"/>
                          <a:cs typeface="Yu Gothic" pitchFamily="34" charset="-120"/>
                        </a:rPr>
                        <a:t>総額の95%をワイン購入、5%を現金保有</a:t>
                      </a:r>
                      <a:endParaRPr lang="en-US" sz="8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r>
              <a:tr h="352044">
                <a:tc>
                  <a:txBody>
                    <a:bodyPr/>
                    <a:lstStyle/>
                    <a:p>
                      <a:pPr algn="ctr" indent="0" marL="0">
                        <a:buNone/>
                      </a:pPr>
                      <a:r>
                        <a:rPr lang="en-US" sz="850" dirty="0">
                          <a:solidFill>
                            <a:srgbClr val="EFEBE3"/>
                          </a:solidFill>
                          <a:latin typeface="Yu Gothic" pitchFamily="34" charset="0"/>
                          <a:ea typeface="Yu Gothic" pitchFamily="34" charset="-122"/>
                          <a:cs typeface="Yu Gothic" pitchFamily="34" charset="-120"/>
                        </a:rPr>
                        <a:t>販売チャネル</a:t>
                      </a:r>
                      <a:endParaRPr lang="en-US" sz="8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l" indent="0" marL="0">
                        <a:buNone/>
                      </a:pPr>
                      <a:r>
                        <a:rPr lang="en-US" sz="850" dirty="0">
                          <a:solidFill>
                            <a:srgbClr val="EFEBE3"/>
                          </a:solidFill>
                          <a:latin typeface="Yu Gothic" pitchFamily="34" charset="0"/>
                          <a:ea typeface="Yu Gothic" pitchFamily="34" charset="-122"/>
                          <a:cs typeface="Yu Gothic" pitchFamily="34" charset="-120"/>
                        </a:rPr>
                        <a:t>酒販店卸（B2B）と自社EC・オークション（B2C）を半々</a:t>
                      </a:r>
                      <a:endParaRPr lang="en-US" sz="8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r>
              <a:tr h="352044">
                <a:tc>
                  <a:txBody>
                    <a:bodyPr/>
                    <a:lstStyle/>
                    <a:p>
                      <a:pPr algn="ctr" indent="0" marL="0">
                        <a:buNone/>
                      </a:pPr>
                      <a:r>
                        <a:rPr lang="en-US" sz="850" dirty="0">
                          <a:solidFill>
                            <a:srgbClr val="EFEBE3"/>
                          </a:solidFill>
                          <a:latin typeface="Yu Gothic" pitchFamily="34" charset="0"/>
                          <a:ea typeface="Yu Gothic" pitchFamily="34" charset="-122"/>
                          <a:cs typeface="Yu Gothic" pitchFamily="34" charset="-120"/>
                        </a:rPr>
                        <a:t>在庫回転目標</a:t>
                      </a:r>
                      <a:endParaRPr lang="en-US" sz="8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l" indent="0" marL="0">
                        <a:buNone/>
                      </a:pPr>
                      <a:r>
                        <a:rPr lang="en-US" sz="850" b="1" dirty="0">
                          <a:solidFill>
                            <a:srgbClr val="C9A96E"/>
                          </a:solidFill>
                          <a:latin typeface="Yu Gothic" pitchFamily="34" charset="0"/>
                          <a:ea typeface="Yu Gothic" pitchFamily="34" charset="-122"/>
                          <a:cs typeface="Yu Gothic" pitchFamily="34" charset="-120"/>
                        </a:rPr>
                        <a:t>12ヶ月。最短9ヶ月、延びても15〜18ヶ月を想定レンジとする</a:t>
                      </a:r>
                      <a:endParaRPr lang="en-US" sz="8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r>
              <a:tr h="352044">
                <a:tc>
                  <a:txBody>
                    <a:bodyPr/>
                    <a:lstStyle/>
                    <a:p>
                      <a:pPr algn="ctr" indent="0" marL="0">
                        <a:buNone/>
                      </a:pPr>
                      <a:r>
                        <a:rPr lang="en-US" sz="850" dirty="0">
                          <a:solidFill>
                            <a:srgbClr val="EFEBE3"/>
                          </a:solidFill>
                          <a:latin typeface="Yu Gothic" pitchFamily="34" charset="0"/>
                          <a:ea typeface="Yu Gothic" pitchFamily="34" charset="-122"/>
                          <a:cs typeface="Yu Gothic" pitchFamily="34" charset="-120"/>
                        </a:rPr>
                        <a:t>価格前提</a:t>
                      </a:r>
                      <a:endParaRPr lang="en-US" sz="8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l" indent="0" marL="0">
                        <a:buNone/>
                      </a:pPr>
                      <a:r>
                        <a:rPr lang="en-US" sz="850" dirty="0">
                          <a:solidFill>
                            <a:srgbClr val="EFEBE3"/>
                          </a:solidFill>
                          <a:latin typeface="Yu Gothic" pitchFamily="34" charset="0"/>
                          <a:ea typeface="Yu Gothic" pitchFamily="34" charset="-122"/>
                          <a:cs typeface="Yu Gothic" pitchFamily="34" charset="-120"/>
                        </a:rPr>
                        <a:t>ワイン価格の年間上昇6%。会社資料のFine Wine年率10%に対し保守的に設定</a:t>
                      </a:r>
                      <a:endParaRPr lang="en-US" sz="8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r>
              <a:tr h="352044">
                <a:tc>
                  <a:txBody>
                    <a:bodyPr/>
                    <a:lstStyle/>
                    <a:p>
                      <a:pPr algn="ctr" indent="0" marL="0">
                        <a:buNone/>
                      </a:pPr>
                      <a:r>
                        <a:rPr lang="en-US" sz="850" dirty="0">
                          <a:solidFill>
                            <a:srgbClr val="EFEBE3"/>
                          </a:solidFill>
                          <a:latin typeface="Yu Gothic" pitchFamily="34" charset="0"/>
                          <a:ea typeface="Yu Gothic" pitchFamily="34" charset="-122"/>
                          <a:cs typeface="Yu Gothic" pitchFamily="34" charset="-120"/>
                        </a:rPr>
                        <a:t>SPC負担費用</a:t>
                      </a:r>
                      <a:endParaRPr lang="en-US" sz="8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l" indent="0" marL="0">
                        <a:buNone/>
                      </a:pPr>
                      <a:r>
                        <a:rPr lang="en-US" sz="850" dirty="0">
                          <a:solidFill>
                            <a:srgbClr val="EFEBE3"/>
                          </a:solidFill>
                          <a:latin typeface="Yu Gothic" pitchFamily="34" charset="0"/>
                          <a:ea typeface="Yu Gothic" pitchFamily="34" charset="-122"/>
                          <a:cs typeface="Yu Gothic" pitchFamily="34" charset="-120"/>
                        </a:rPr>
                        <a:t>保管・保険・入庫・変動販売費／維持費200万・人件費360万・AUP50万・予備費50万</a:t>
                      </a:r>
                      <a:endParaRPr lang="en-US" sz="8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r>
              <a:tr h="352044">
                <a:tc>
                  <a:txBody>
                    <a:bodyPr/>
                    <a:lstStyle/>
                    <a:p>
                      <a:pPr algn="ctr" indent="0" marL="0">
                        <a:buNone/>
                      </a:pPr>
                      <a:r>
                        <a:rPr lang="en-US" sz="850" dirty="0">
                          <a:solidFill>
                            <a:srgbClr val="EFEBE3"/>
                          </a:solidFill>
                          <a:latin typeface="Yu Gothic" pitchFamily="34" charset="0"/>
                          <a:ea typeface="Yu Gothic" pitchFamily="34" charset="-122"/>
                          <a:cs typeface="Yu Gothic" pitchFamily="34" charset="-120"/>
                        </a:rPr>
                        <a:t>想定リターン</a:t>
                      </a:r>
                      <a:endParaRPr lang="en-US" sz="8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l" indent="0" marL="0">
                        <a:buNone/>
                      </a:pPr>
                      <a:r>
                        <a:rPr lang="en-US" sz="850" b="1" dirty="0">
                          <a:solidFill>
                            <a:srgbClr val="C9A96E"/>
                          </a:solidFill>
                          <a:latin typeface="Yu Gothic" pitchFamily="34" charset="0"/>
                          <a:ea typeface="Yu Gothic" pitchFamily="34" charset="-122"/>
                          <a:cs typeface="Yu Gothic" pitchFamily="34" charset="-120"/>
                        </a:rPr>
                        <a:t>投資家利回り21.0%＝年105百万円（回転12ヶ月）。5年通算の年平均は16.7%</a:t>
                      </a:r>
                      <a:endParaRPr lang="en-US" sz="8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r>
              <a:tr h="352044">
                <a:tc>
                  <a:txBody>
                    <a:bodyPr/>
                    <a:lstStyle/>
                    <a:p>
                      <a:pPr algn="ctr" indent="0" marL="0">
                        <a:buNone/>
                      </a:pPr>
                      <a:r>
                        <a:rPr lang="en-US" sz="850" dirty="0">
                          <a:solidFill>
                            <a:srgbClr val="EFEBE3"/>
                          </a:solidFill>
                          <a:latin typeface="Yu Gothic" pitchFamily="34" charset="0"/>
                          <a:ea typeface="Yu Gothic" pitchFamily="34" charset="-122"/>
                          <a:cs typeface="Yu Gothic" pitchFamily="34" charset="-120"/>
                        </a:rPr>
                        <a:t>報告</a:t>
                      </a:r>
                      <a:endParaRPr lang="en-US" sz="8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l" indent="0" marL="0">
                        <a:buNone/>
                      </a:pPr>
                      <a:r>
                        <a:rPr lang="en-US" sz="850" dirty="0">
                          <a:solidFill>
                            <a:srgbClr val="EFEBE3"/>
                          </a:solidFill>
                          <a:latin typeface="Yu Gothic" pitchFamily="34" charset="0"/>
                          <a:ea typeface="Yu Gothic" pitchFamily="34" charset="-122"/>
                          <a:cs typeface="Yu Gothic" pitchFamily="34" charset="-120"/>
                        </a:rPr>
                        <a:t>四半期：在庫明細・簿価・売上・試算表／年次：決算</a:t>
                      </a:r>
                      <a:endParaRPr lang="en-US" sz="8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r>
              <a:tr h="352044">
                <a:tc>
                  <a:txBody>
                    <a:bodyPr/>
                    <a:lstStyle/>
                    <a:p>
                      <a:pPr algn="ctr" indent="0" marL="0">
                        <a:buNone/>
                      </a:pPr>
                      <a:r>
                        <a:rPr lang="en-US" sz="850" dirty="0">
                          <a:solidFill>
                            <a:srgbClr val="EFEBE3"/>
                          </a:solidFill>
                          <a:latin typeface="Yu Gothic" pitchFamily="34" charset="0"/>
                          <a:ea typeface="Yu Gothic" pitchFamily="34" charset="-122"/>
                          <a:cs typeface="Yu Gothic" pitchFamily="34" charset="-120"/>
                        </a:rPr>
                        <a:t>外部検証</a:t>
                      </a:r>
                      <a:endParaRPr lang="en-US" sz="8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l" indent="0" marL="0">
                        <a:buNone/>
                      </a:pPr>
                      <a:r>
                        <a:rPr lang="en-US" sz="850" dirty="0">
                          <a:solidFill>
                            <a:srgbClr val="EFEBE3"/>
                          </a:solidFill>
                          <a:latin typeface="Yu Gothic" pitchFamily="34" charset="0"/>
                          <a:ea typeface="Yu Gothic" pitchFamily="34" charset="-122"/>
                          <a:cs typeface="Yu Gothic" pitchFamily="34" charset="-120"/>
                        </a:rPr>
                        <a:t>AUP（合意された手続）を年次で実施。配分ルールの遵守状況も対象に含める</a:t>
                      </a:r>
                      <a:endParaRPr lang="en-US" sz="8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r>
              <a:tr h="352044">
                <a:tc>
                  <a:txBody>
                    <a:bodyPr/>
                    <a:lstStyle/>
                    <a:p>
                      <a:pPr algn="ctr" indent="0" marL="0">
                        <a:buNone/>
                      </a:pPr>
                      <a:r>
                        <a:rPr lang="en-US" sz="850" dirty="0">
                          <a:solidFill>
                            <a:srgbClr val="EFEBE3"/>
                          </a:solidFill>
                          <a:latin typeface="Yu Gothic" pitchFamily="34" charset="0"/>
                          <a:ea typeface="Yu Gothic" pitchFamily="34" charset="-122"/>
                          <a:cs typeface="Yu Gothic" pitchFamily="34" charset="-120"/>
                        </a:rPr>
                        <a:t>在庫配分</a:t>
                      </a:r>
                      <a:endParaRPr lang="en-US" sz="8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l" indent="0" marL="0">
                        <a:buNone/>
                      </a:pPr>
                      <a:r>
                        <a:rPr lang="en-US" sz="850" b="1" dirty="0">
                          <a:solidFill>
                            <a:srgbClr val="C9A96E"/>
                          </a:solidFill>
                          <a:latin typeface="Yu Gothic" pitchFamily="34" charset="0"/>
                          <a:ea typeface="Yu Gothic" pitchFamily="34" charset="-122"/>
                          <a:cs typeface="Yu Gothic" pitchFamily="34" charset="-120"/>
                        </a:rPr>
                        <a:t>在庫比率によるプロラタ配分を原則とし、判断を要する場合はSPC在庫を優先する</a:t>
                      </a:r>
                      <a:endParaRPr lang="en-US" sz="8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r>
            </a:tbl>
          </a:graphicData>
        </a:graphic>
      </p:graphicFrame>
      <p:sp>
        <p:nvSpPr>
          <p:cNvPr id="9" name="Shape 5"/>
          <p:cNvSpPr/>
          <p:nvPr/>
        </p:nvSpPr>
        <p:spPr>
          <a:xfrm>
            <a:off x="658368" y="5541264"/>
            <a:ext cx="10874959" cy="768096"/>
          </a:xfrm>
          <a:prstGeom prst="roundRect">
            <a:avLst>
              <a:gd name="adj" fmla="val 5357"/>
            </a:avLst>
          </a:prstGeom>
          <a:solidFill>
            <a:srgbClr val="1F1D19"/>
          </a:solidFill>
          <a:ln w="9525">
            <a:solidFill>
              <a:srgbClr val="6E5730"/>
            </a:solidFill>
            <a:prstDash val="solid"/>
          </a:ln>
        </p:spPr>
      </p:sp>
      <p:sp>
        <p:nvSpPr>
          <p:cNvPr id="10" name="Text 6"/>
          <p:cNvSpPr/>
          <p:nvPr/>
        </p:nvSpPr>
        <p:spPr>
          <a:xfrm>
            <a:off x="932688" y="5632704"/>
            <a:ext cx="5486400" cy="219456"/>
          </a:xfrm>
          <a:prstGeom prst="rect">
            <a:avLst/>
          </a:prstGeom>
          <a:noFill/>
          <a:ln/>
        </p:spPr>
        <p:txBody>
          <a:bodyPr wrap="square" lIns="0" tIns="0" rIns="0" bIns="0" rtlCol="0" anchor="ctr"/>
          <a:lstStyle/>
          <a:p>
            <a:pPr indent="0" marL="0">
              <a:buNone/>
            </a:pPr>
            <a:r>
              <a:rPr lang="en-US" sz="1100" b="1" dirty="0">
                <a:solidFill>
                  <a:srgbClr val="C9A96E"/>
                </a:solidFill>
                <a:latin typeface="Yu Gothic" pitchFamily="34" charset="0"/>
                <a:ea typeface="Yu Gothic" pitchFamily="34" charset="-122"/>
                <a:cs typeface="Yu Gothic" pitchFamily="34" charset="-120"/>
              </a:rPr>
              <a:t>3年ロックアップが稼働率95%を可能にしている</a:t>
            </a:r>
            <a:endParaRPr lang="en-US" sz="1100" dirty="0"/>
          </a:p>
        </p:txBody>
      </p:sp>
      <p:sp>
        <p:nvSpPr>
          <p:cNvPr id="11" name="Text 7"/>
          <p:cNvSpPr/>
          <p:nvPr/>
        </p:nvSpPr>
        <p:spPr>
          <a:xfrm>
            <a:off x="932688" y="5852160"/>
            <a:ext cx="10326319" cy="384048"/>
          </a:xfrm>
          <a:prstGeom prst="rect">
            <a:avLst/>
          </a:prstGeom>
          <a:noFill/>
          <a:ln/>
        </p:spPr>
        <p:txBody>
          <a:bodyPr wrap="square" lIns="0" tIns="0" rIns="0" bIns="0" rtlCol="0" anchor="ctr"/>
          <a:lstStyle/>
          <a:p>
            <a:pPr indent="0" marL="0">
              <a:lnSpc>
                <a:spcPct val="116000"/>
              </a:lnSpc>
              <a:buNone/>
            </a:pPr>
            <a:r>
              <a:rPr lang="en-US" sz="900" dirty="0">
                <a:solidFill>
                  <a:srgbClr val="9A938A"/>
                </a:solidFill>
                <a:latin typeface="Yu Gothic" pitchFamily="34" charset="0"/>
                <a:ea typeface="Yu Gothic" pitchFamily="34" charset="-122"/>
                <a:cs typeface="Yu Gothic" pitchFamily="34" charset="-120"/>
              </a:rPr>
              <a:t>半期解約を前提とすると常時1〜3割を現金または即時換金可能な在庫で保有する必要があり、稼働率が下がって利回りも下がる（稼働率95%→85%で投資家利回りは21.0%→18.7%）。当初3年ロックアップ・4年目以降は年度ごとの解約という設計により、現金保有を5%に抑え、総額の95%をワインに充当できる。</a:t>
            </a:r>
            <a:endParaRPr lang="en-US" sz="9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0C0C0C"/>
        </a:solidFill>
      </p:bgPr>
    </p:bg>
    <p:spTree>
      <p:nvGrpSpPr>
        <p:cNvPr id="1" name=""/>
        <p:cNvGrpSpPr/>
        <p:nvPr/>
      </p:nvGrpSpPr>
      <p:grpSpPr>
        <a:xfrm>
          <a:off x="0" y="0"/>
          <a:ext cx="0" cy="0"/>
          <a:chOff x="0" y="0"/>
          <a:chExt cx="0" cy="0"/>
        </a:xfrm>
      </p:grpSpPr>
      <p:sp>
        <p:nvSpPr>
          <p:cNvPr id="2" name="Text 0"/>
          <p:cNvSpPr/>
          <p:nvPr/>
        </p:nvSpPr>
        <p:spPr>
          <a:xfrm>
            <a:off x="658368" y="384048"/>
            <a:ext cx="10874959" cy="219456"/>
          </a:xfrm>
          <a:prstGeom prst="rect">
            <a:avLst/>
          </a:prstGeom>
          <a:noFill/>
          <a:ln/>
        </p:spPr>
        <p:txBody>
          <a:bodyPr wrap="square" lIns="0" tIns="0" rIns="0" bIns="0" rtlCol="0" anchor="ctr"/>
          <a:lstStyle/>
          <a:p>
            <a:pPr indent="0" marL="0">
              <a:buNone/>
            </a:pPr>
            <a:r>
              <a:rPr lang="en-US" sz="1050" b="1" spc="340" kern="0" dirty="0">
                <a:solidFill>
                  <a:srgbClr val="A78450"/>
                </a:solidFill>
                <a:latin typeface="Cambria" pitchFamily="34" charset="0"/>
                <a:ea typeface="Cambria" pitchFamily="34" charset="-122"/>
                <a:cs typeface="Cambria" pitchFamily="34" charset="-120"/>
              </a:rPr>
              <a:t>NEXT STEPS</a:t>
            </a:r>
            <a:endParaRPr lang="en-US" sz="1050" dirty="0"/>
          </a:p>
        </p:txBody>
      </p:sp>
      <p:sp>
        <p:nvSpPr>
          <p:cNvPr id="3" name="Text 1"/>
          <p:cNvSpPr/>
          <p:nvPr/>
        </p:nvSpPr>
        <p:spPr>
          <a:xfrm>
            <a:off x="658368" y="640080"/>
            <a:ext cx="10874959" cy="548640"/>
          </a:xfrm>
          <a:prstGeom prst="rect">
            <a:avLst/>
          </a:prstGeom>
          <a:noFill/>
          <a:ln/>
        </p:spPr>
        <p:txBody>
          <a:bodyPr wrap="square" lIns="0" tIns="0" rIns="0" bIns="0" rtlCol="0" anchor="ctr"/>
          <a:lstStyle/>
          <a:p>
            <a:pPr indent="0" marL="0">
              <a:buNone/>
            </a:pPr>
            <a:r>
              <a:rPr lang="en-US" sz="2700" b="1" dirty="0">
                <a:solidFill>
                  <a:srgbClr val="EFEBE3"/>
                </a:solidFill>
                <a:latin typeface="Yu Mincho" pitchFamily="34" charset="0"/>
                <a:ea typeface="Yu Mincho" pitchFamily="34" charset="-122"/>
                <a:cs typeface="Yu Mincho" pitchFamily="34" charset="-120"/>
              </a:rPr>
              <a:t>今後の進め方</a:t>
            </a:r>
            <a:endParaRPr lang="en-US" sz="2700" dirty="0"/>
          </a:p>
        </p:txBody>
      </p:sp>
      <p:sp>
        <p:nvSpPr>
          <p:cNvPr id="4" name="Text 2"/>
          <p:cNvSpPr/>
          <p:nvPr/>
        </p:nvSpPr>
        <p:spPr>
          <a:xfrm>
            <a:off x="658368" y="6437376"/>
            <a:ext cx="5029200" cy="219456"/>
          </a:xfrm>
          <a:prstGeom prst="rect">
            <a:avLst/>
          </a:prstGeom>
          <a:noFill/>
          <a:ln/>
        </p:spPr>
        <p:txBody>
          <a:bodyPr wrap="square" lIns="0" tIns="0" rIns="0" bIns="0" rtlCol="0" anchor="ctr"/>
          <a:lstStyle/>
          <a:p>
            <a:pPr indent="0" marL="0">
              <a:buNone/>
            </a:pPr>
            <a:r>
              <a:rPr lang="en-US" sz="850" dirty="0">
                <a:solidFill>
                  <a:srgbClr val="6E675E"/>
                </a:solidFill>
                <a:latin typeface="Yu Gothic" pitchFamily="34" charset="0"/>
                <a:ea typeface="Yu Gothic" pitchFamily="34" charset="-122"/>
                <a:cs typeface="Yu Gothic" pitchFamily="34" charset="-120"/>
              </a:rPr>
              <a:t>CONFIDENTIAL ｜ 株式会社WineBank</a:t>
            </a:r>
            <a:endParaRPr lang="en-US" sz="850" dirty="0"/>
          </a:p>
        </p:txBody>
      </p:sp>
      <p:sp>
        <p:nvSpPr>
          <p:cNvPr id="5" name="Text 3"/>
          <p:cNvSpPr/>
          <p:nvPr/>
        </p:nvSpPr>
        <p:spPr>
          <a:xfrm>
            <a:off x="10618927" y="6437376"/>
            <a:ext cx="914400" cy="219456"/>
          </a:xfrm>
          <a:prstGeom prst="rect">
            <a:avLst/>
          </a:prstGeom>
          <a:noFill/>
          <a:ln/>
        </p:spPr>
        <p:txBody>
          <a:bodyPr wrap="square" lIns="0" tIns="0" rIns="0" bIns="0" rtlCol="0" anchor="ctr"/>
          <a:lstStyle/>
          <a:p>
            <a:pPr algn="r" indent="0" marL="0">
              <a:buNone/>
            </a:pPr>
            <a:r>
              <a:rPr lang="en-US" sz="950" spc="150" kern="0" dirty="0">
                <a:solidFill>
                  <a:srgbClr val="6E5730"/>
                </a:solidFill>
                <a:latin typeface="Cambria" pitchFamily="34" charset="0"/>
                <a:ea typeface="Cambria" pitchFamily="34" charset="-122"/>
                <a:cs typeface="Cambria" pitchFamily="34" charset="-120"/>
              </a:rPr>
              <a:t>20</a:t>
            </a:r>
            <a:endParaRPr lang="en-US" sz="950" dirty="0"/>
          </a:p>
        </p:txBody>
      </p:sp>
      <p:sp>
        <p:nvSpPr>
          <p:cNvPr id="6" name="Shape 4"/>
          <p:cNvSpPr/>
          <p:nvPr/>
        </p:nvSpPr>
        <p:spPr>
          <a:xfrm>
            <a:off x="658368" y="1572768"/>
            <a:ext cx="1999427" cy="2834640"/>
          </a:xfrm>
          <a:prstGeom prst="roundRect">
            <a:avLst>
              <a:gd name="adj" fmla="val 2058"/>
            </a:avLst>
          </a:prstGeom>
          <a:solidFill>
            <a:srgbClr val="171614"/>
          </a:solidFill>
          <a:ln w="9525">
            <a:solidFill>
              <a:srgbClr val="2E2A24"/>
            </a:solidFill>
            <a:prstDash val="solid"/>
          </a:ln>
        </p:spPr>
      </p:sp>
      <p:sp>
        <p:nvSpPr>
          <p:cNvPr id="7" name="Shape 5"/>
          <p:cNvSpPr/>
          <p:nvPr/>
        </p:nvSpPr>
        <p:spPr>
          <a:xfrm>
            <a:off x="877824" y="1792224"/>
            <a:ext cx="365760" cy="365760"/>
          </a:xfrm>
          <a:prstGeom prst="ellipse">
            <a:avLst/>
          </a:prstGeom>
          <a:solidFill>
            <a:srgbClr val="0C0C0C"/>
          </a:solidFill>
          <a:ln w="11430">
            <a:solidFill>
              <a:srgbClr val="A78450"/>
            </a:solidFill>
            <a:prstDash val="solid"/>
          </a:ln>
        </p:spPr>
      </p:sp>
      <p:sp>
        <p:nvSpPr>
          <p:cNvPr id="8" name="Text 6"/>
          <p:cNvSpPr/>
          <p:nvPr/>
        </p:nvSpPr>
        <p:spPr>
          <a:xfrm>
            <a:off x="877824" y="1792224"/>
            <a:ext cx="365760" cy="365760"/>
          </a:xfrm>
          <a:prstGeom prst="rect">
            <a:avLst/>
          </a:prstGeom>
          <a:noFill/>
          <a:ln/>
        </p:spPr>
        <p:txBody>
          <a:bodyPr wrap="square" lIns="0" tIns="0" rIns="0" bIns="0" rtlCol="0" anchor="ctr"/>
          <a:lstStyle/>
          <a:p>
            <a:pPr algn="ctr" indent="0" marL="0">
              <a:buNone/>
            </a:pPr>
            <a:r>
              <a:rPr lang="en-US" sz="1200" b="1" dirty="0">
                <a:solidFill>
                  <a:srgbClr val="C9A96E"/>
                </a:solidFill>
                <a:latin typeface="Cambria" pitchFamily="34" charset="0"/>
                <a:ea typeface="Cambria" pitchFamily="34" charset="-122"/>
                <a:cs typeface="Cambria" pitchFamily="34" charset="-120"/>
              </a:rPr>
              <a:t>01</a:t>
            </a:r>
            <a:endParaRPr lang="en-US" sz="1200" dirty="0"/>
          </a:p>
        </p:txBody>
      </p:sp>
      <p:sp>
        <p:nvSpPr>
          <p:cNvPr id="9" name="Text 7"/>
          <p:cNvSpPr/>
          <p:nvPr/>
        </p:nvSpPr>
        <p:spPr>
          <a:xfrm>
            <a:off x="877824" y="2304288"/>
            <a:ext cx="1560515" cy="566928"/>
          </a:xfrm>
          <a:prstGeom prst="rect">
            <a:avLst/>
          </a:prstGeom>
          <a:noFill/>
          <a:ln/>
        </p:spPr>
        <p:txBody>
          <a:bodyPr wrap="square" lIns="0" tIns="0" rIns="0" bIns="0" rtlCol="0" anchor="ctr"/>
          <a:lstStyle/>
          <a:p>
            <a:pPr indent="0" marL="0">
              <a:lnSpc>
                <a:spcPct val="115000"/>
              </a:lnSpc>
              <a:buNone/>
            </a:pPr>
            <a:r>
              <a:rPr lang="en-US" sz="1200" b="1" dirty="0">
                <a:solidFill>
                  <a:srgbClr val="EFEBE3"/>
                </a:solidFill>
                <a:latin typeface="Yu Gothic" pitchFamily="34" charset="0"/>
                <a:ea typeface="Yu Gothic" pitchFamily="34" charset="-122"/>
                <a:cs typeface="Yu Gothic" pitchFamily="34" charset="-120"/>
              </a:rPr>
              <a:t>前提条件のすり合わせ</a:t>
            </a:r>
            <a:endParaRPr lang="en-US" sz="1200" dirty="0"/>
          </a:p>
        </p:txBody>
      </p:sp>
      <p:sp>
        <p:nvSpPr>
          <p:cNvPr id="10" name="Text 8"/>
          <p:cNvSpPr/>
          <p:nvPr/>
        </p:nvSpPr>
        <p:spPr>
          <a:xfrm>
            <a:off x="877824" y="2926080"/>
            <a:ext cx="1560515" cy="1298448"/>
          </a:xfrm>
          <a:prstGeom prst="rect">
            <a:avLst/>
          </a:prstGeom>
          <a:noFill/>
          <a:ln/>
        </p:spPr>
        <p:txBody>
          <a:bodyPr wrap="square" lIns="0" tIns="0" rIns="0" bIns="0" rtlCol="0" anchor="ctr"/>
          <a:lstStyle/>
          <a:p>
            <a:pPr indent="0" marL="0">
              <a:lnSpc>
                <a:spcPct val="126000"/>
              </a:lnSpc>
              <a:buNone/>
            </a:pPr>
            <a:r>
              <a:rPr lang="en-US" sz="950" dirty="0">
                <a:solidFill>
                  <a:srgbClr val="9A938A"/>
                </a:solidFill>
                <a:latin typeface="Yu Gothic" pitchFamily="34" charset="0"/>
                <a:ea typeface="Yu Gothic" pitchFamily="34" charset="-122"/>
                <a:cs typeface="Yu Gothic" pitchFamily="34" charset="-120"/>
              </a:rPr>
              <a:t>想定回転期間・販売チャネル構成・解約条件・折半の定義（税前利益ベース）、および現物譲渡1%の水準についてご意見をいただく。</a:t>
            </a:r>
            <a:endParaRPr lang="en-US" sz="950" dirty="0"/>
          </a:p>
        </p:txBody>
      </p:sp>
      <p:sp>
        <p:nvSpPr>
          <p:cNvPr id="11" name="Shape 9"/>
          <p:cNvSpPr/>
          <p:nvPr/>
        </p:nvSpPr>
        <p:spPr>
          <a:xfrm>
            <a:off x="2877251" y="1572768"/>
            <a:ext cx="1999427" cy="2834640"/>
          </a:xfrm>
          <a:prstGeom prst="roundRect">
            <a:avLst>
              <a:gd name="adj" fmla="val 2058"/>
            </a:avLst>
          </a:prstGeom>
          <a:solidFill>
            <a:srgbClr val="1F1D19"/>
          </a:solidFill>
          <a:ln w="9525">
            <a:solidFill>
              <a:srgbClr val="6E5730"/>
            </a:solidFill>
            <a:prstDash val="solid"/>
          </a:ln>
        </p:spPr>
      </p:sp>
      <p:sp>
        <p:nvSpPr>
          <p:cNvPr id="12" name="Shape 10"/>
          <p:cNvSpPr/>
          <p:nvPr/>
        </p:nvSpPr>
        <p:spPr>
          <a:xfrm>
            <a:off x="3096707" y="1792224"/>
            <a:ext cx="365760" cy="365760"/>
          </a:xfrm>
          <a:prstGeom prst="ellipse">
            <a:avLst/>
          </a:prstGeom>
          <a:solidFill>
            <a:srgbClr val="0C0C0C"/>
          </a:solidFill>
          <a:ln w="11430">
            <a:solidFill>
              <a:srgbClr val="A78450"/>
            </a:solidFill>
            <a:prstDash val="solid"/>
          </a:ln>
        </p:spPr>
      </p:sp>
      <p:sp>
        <p:nvSpPr>
          <p:cNvPr id="13" name="Text 11"/>
          <p:cNvSpPr/>
          <p:nvPr/>
        </p:nvSpPr>
        <p:spPr>
          <a:xfrm>
            <a:off x="3096707" y="1792224"/>
            <a:ext cx="365760" cy="365760"/>
          </a:xfrm>
          <a:prstGeom prst="rect">
            <a:avLst/>
          </a:prstGeom>
          <a:noFill/>
          <a:ln/>
        </p:spPr>
        <p:txBody>
          <a:bodyPr wrap="square" lIns="0" tIns="0" rIns="0" bIns="0" rtlCol="0" anchor="ctr"/>
          <a:lstStyle/>
          <a:p>
            <a:pPr algn="ctr" indent="0" marL="0">
              <a:buNone/>
            </a:pPr>
            <a:r>
              <a:rPr lang="en-US" sz="1200" b="1" dirty="0">
                <a:solidFill>
                  <a:srgbClr val="C9A96E"/>
                </a:solidFill>
                <a:latin typeface="Cambria" pitchFamily="34" charset="0"/>
                <a:ea typeface="Cambria" pitchFamily="34" charset="-122"/>
                <a:cs typeface="Cambria" pitchFamily="34" charset="-120"/>
              </a:rPr>
              <a:t>02</a:t>
            </a:r>
            <a:endParaRPr lang="en-US" sz="1200" dirty="0"/>
          </a:p>
        </p:txBody>
      </p:sp>
      <p:sp>
        <p:nvSpPr>
          <p:cNvPr id="14" name="Text 12"/>
          <p:cNvSpPr/>
          <p:nvPr/>
        </p:nvSpPr>
        <p:spPr>
          <a:xfrm>
            <a:off x="3096707" y="2304288"/>
            <a:ext cx="1560515" cy="566928"/>
          </a:xfrm>
          <a:prstGeom prst="rect">
            <a:avLst/>
          </a:prstGeom>
          <a:noFill/>
          <a:ln/>
        </p:spPr>
        <p:txBody>
          <a:bodyPr wrap="square" lIns="0" tIns="0" rIns="0" bIns="0" rtlCol="0" anchor="ctr"/>
          <a:lstStyle/>
          <a:p>
            <a:pPr indent="0" marL="0">
              <a:lnSpc>
                <a:spcPct val="115000"/>
              </a:lnSpc>
              <a:buNone/>
            </a:pPr>
            <a:r>
              <a:rPr lang="en-US" sz="1200" b="1" dirty="0">
                <a:solidFill>
                  <a:srgbClr val="EFEBE3"/>
                </a:solidFill>
                <a:latin typeface="Yu Gothic" pitchFamily="34" charset="0"/>
                <a:ea typeface="Yu Gothic" pitchFamily="34" charset="-122"/>
                <a:cs typeface="Yu Gothic" pitchFamily="34" charset="-120"/>
              </a:rPr>
              <a:t>免許・税務の確定</a:t>
            </a:r>
            <a:endParaRPr lang="en-US" sz="1200" dirty="0"/>
          </a:p>
        </p:txBody>
      </p:sp>
      <p:sp>
        <p:nvSpPr>
          <p:cNvPr id="15" name="Text 13"/>
          <p:cNvSpPr/>
          <p:nvPr/>
        </p:nvSpPr>
        <p:spPr>
          <a:xfrm>
            <a:off x="3096707" y="2926080"/>
            <a:ext cx="1560515" cy="1298448"/>
          </a:xfrm>
          <a:prstGeom prst="rect">
            <a:avLst/>
          </a:prstGeom>
          <a:noFill/>
          <a:ln/>
        </p:spPr>
        <p:txBody>
          <a:bodyPr wrap="square" lIns="0" tIns="0" rIns="0" bIns="0" rtlCol="0" anchor="ctr"/>
          <a:lstStyle/>
          <a:p>
            <a:pPr indent="0" marL="0">
              <a:lnSpc>
                <a:spcPct val="126000"/>
              </a:lnSpc>
              <a:buNone/>
            </a:pPr>
            <a:r>
              <a:rPr lang="en-US" sz="950" dirty="0">
                <a:solidFill>
                  <a:srgbClr val="9A938A"/>
                </a:solidFill>
                <a:latin typeface="Yu Gothic" pitchFamily="34" charset="0"/>
                <a:ea typeface="Yu Gothic" pitchFamily="34" charset="-122"/>
                <a:cs typeface="Yu Gothic" pitchFamily="34" charset="-120"/>
              </a:rPr>
              <a:t>SPCの免許要否と売買形態を所轄税務署（酒類指導官）・顧問弁護士と確認。譲渡価格1%の算定根拠を文書化する。</a:t>
            </a:r>
            <a:endParaRPr lang="en-US" sz="950" dirty="0"/>
          </a:p>
        </p:txBody>
      </p:sp>
      <p:sp>
        <p:nvSpPr>
          <p:cNvPr id="16" name="Shape 14"/>
          <p:cNvSpPr/>
          <p:nvPr/>
        </p:nvSpPr>
        <p:spPr>
          <a:xfrm>
            <a:off x="5096134" y="1572768"/>
            <a:ext cx="1999427" cy="2834640"/>
          </a:xfrm>
          <a:prstGeom prst="roundRect">
            <a:avLst>
              <a:gd name="adj" fmla="val 2058"/>
            </a:avLst>
          </a:prstGeom>
          <a:solidFill>
            <a:srgbClr val="171614"/>
          </a:solidFill>
          <a:ln w="9525">
            <a:solidFill>
              <a:srgbClr val="2E2A24"/>
            </a:solidFill>
            <a:prstDash val="solid"/>
          </a:ln>
        </p:spPr>
      </p:sp>
      <p:sp>
        <p:nvSpPr>
          <p:cNvPr id="17" name="Shape 15"/>
          <p:cNvSpPr/>
          <p:nvPr/>
        </p:nvSpPr>
        <p:spPr>
          <a:xfrm>
            <a:off x="5315590" y="1792224"/>
            <a:ext cx="365760" cy="365760"/>
          </a:xfrm>
          <a:prstGeom prst="ellipse">
            <a:avLst/>
          </a:prstGeom>
          <a:solidFill>
            <a:srgbClr val="0C0C0C"/>
          </a:solidFill>
          <a:ln w="11430">
            <a:solidFill>
              <a:srgbClr val="A78450"/>
            </a:solidFill>
            <a:prstDash val="solid"/>
          </a:ln>
        </p:spPr>
      </p:sp>
      <p:sp>
        <p:nvSpPr>
          <p:cNvPr id="18" name="Text 16"/>
          <p:cNvSpPr/>
          <p:nvPr/>
        </p:nvSpPr>
        <p:spPr>
          <a:xfrm>
            <a:off x="5315590" y="1792224"/>
            <a:ext cx="365760" cy="365760"/>
          </a:xfrm>
          <a:prstGeom prst="rect">
            <a:avLst/>
          </a:prstGeom>
          <a:noFill/>
          <a:ln/>
        </p:spPr>
        <p:txBody>
          <a:bodyPr wrap="square" lIns="0" tIns="0" rIns="0" bIns="0" rtlCol="0" anchor="ctr"/>
          <a:lstStyle/>
          <a:p>
            <a:pPr algn="ctr" indent="0" marL="0">
              <a:buNone/>
            </a:pPr>
            <a:r>
              <a:rPr lang="en-US" sz="1200" b="1" dirty="0">
                <a:solidFill>
                  <a:srgbClr val="C9A96E"/>
                </a:solidFill>
                <a:latin typeface="Cambria" pitchFamily="34" charset="0"/>
                <a:ea typeface="Cambria" pitchFamily="34" charset="-122"/>
                <a:cs typeface="Cambria" pitchFamily="34" charset="-120"/>
              </a:rPr>
              <a:t>03</a:t>
            </a:r>
            <a:endParaRPr lang="en-US" sz="1200" dirty="0"/>
          </a:p>
        </p:txBody>
      </p:sp>
      <p:sp>
        <p:nvSpPr>
          <p:cNvPr id="19" name="Text 17"/>
          <p:cNvSpPr/>
          <p:nvPr/>
        </p:nvSpPr>
        <p:spPr>
          <a:xfrm>
            <a:off x="5315590" y="2304288"/>
            <a:ext cx="1560515" cy="566928"/>
          </a:xfrm>
          <a:prstGeom prst="rect">
            <a:avLst/>
          </a:prstGeom>
          <a:noFill/>
          <a:ln/>
        </p:spPr>
        <p:txBody>
          <a:bodyPr wrap="square" lIns="0" tIns="0" rIns="0" bIns="0" rtlCol="0" anchor="ctr"/>
          <a:lstStyle/>
          <a:p>
            <a:pPr indent="0" marL="0">
              <a:lnSpc>
                <a:spcPct val="115000"/>
              </a:lnSpc>
              <a:buNone/>
            </a:pPr>
            <a:r>
              <a:rPr lang="en-US" sz="1200" b="1" dirty="0">
                <a:solidFill>
                  <a:srgbClr val="EFEBE3"/>
                </a:solidFill>
                <a:latin typeface="Yu Gothic" pitchFamily="34" charset="0"/>
                <a:ea typeface="Yu Gothic" pitchFamily="34" charset="-122"/>
                <a:cs typeface="Yu Gothic" pitchFamily="34" charset="-120"/>
              </a:rPr>
              <a:t>調達枠の確保と実証</a:t>
            </a:r>
            <a:endParaRPr lang="en-US" sz="1200" dirty="0"/>
          </a:p>
        </p:txBody>
      </p:sp>
      <p:sp>
        <p:nvSpPr>
          <p:cNvPr id="20" name="Text 18"/>
          <p:cNvSpPr/>
          <p:nvPr/>
        </p:nvSpPr>
        <p:spPr>
          <a:xfrm>
            <a:off x="5315590" y="2926080"/>
            <a:ext cx="1560515" cy="1298448"/>
          </a:xfrm>
          <a:prstGeom prst="rect">
            <a:avLst/>
          </a:prstGeom>
          <a:noFill/>
          <a:ln/>
        </p:spPr>
        <p:txBody>
          <a:bodyPr wrap="square" lIns="0" tIns="0" rIns="0" bIns="0" rtlCol="0" anchor="ctr"/>
          <a:lstStyle/>
          <a:p>
            <a:pPr indent="0" marL="0">
              <a:lnSpc>
                <a:spcPct val="126000"/>
              </a:lnSpc>
              <a:buNone/>
            </a:pPr>
            <a:r>
              <a:rPr lang="en-US" sz="950" dirty="0">
                <a:solidFill>
                  <a:srgbClr val="9A938A"/>
                </a:solidFill>
                <a:latin typeface="Yu Gothic" pitchFamily="34" charset="0"/>
                <a:ea typeface="Yu Gothic" pitchFamily="34" charset="-122"/>
                <a:cs typeface="Yu Gothic" pitchFamily="34" charset="-120"/>
              </a:rPr>
              <a:t>インポーター・酒販店との年間調達枠を締結し、小規模ロットで回転期間とチャネル別手数料の実証を行う。</a:t>
            </a:r>
            <a:endParaRPr lang="en-US" sz="950" dirty="0"/>
          </a:p>
        </p:txBody>
      </p:sp>
      <p:sp>
        <p:nvSpPr>
          <p:cNvPr id="21" name="Shape 19"/>
          <p:cNvSpPr/>
          <p:nvPr/>
        </p:nvSpPr>
        <p:spPr>
          <a:xfrm>
            <a:off x="7315017" y="1572768"/>
            <a:ext cx="1999427" cy="2834640"/>
          </a:xfrm>
          <a:prstGeom prst="roundRect">
            <a:avLst>
              <a:gd name="adj" fmla="val 2058"/>
            </a:avLst>
          </a:prstGeom>
          <a:solidFill>
            <a:srgbClr val="171614"/>
          </a:solidFill>
          <a:ln w="9525">
            <a:solidFill>
              <a:srgbClr val="2E2A24"/>
            </a:solidFill>
            <a:prstDash val="solid"/>
          </a:ln>
        </p:spPr>
      </p:sp>
      <p:sp>
        <p:nvSpPr>
          <p:cNvPr id="22" name="Shape 20"/>
          <p:cNvSpPr/>
          <p:nvPr/>
        </p:nvSpPr>
        <p:spPr>
          <a:xfrm>
            <a:off x="7534473" y="1792224"/>
            <a:ext cx="365760" cy="365760"/>
          </a:xfrm>
          <a:prstGeom prst="ellipse">
            <a:avLst/>
          </a:prstGeom>
          <a:solidFill>
            <a:srgbClr val="0C0C0C"/>
          </a:solidFill>
          <a:ln w="11430">
            <a:solidFill>
              <a:srgbClr val="A78450"/>
            </a:solidFill>
            <a:prstDash val="solid"/>
          </a:ln>
        </p:spPr>
      </p:sp>
      <p:sp>
        <p:nvSpPr>
          <p:cNvPr id="23" name="Text 21"/>
          <p:cNvSpPr/>
          <p:nvPr/>
        </p:nvSpPr>
        <p:spPr>
          <a:xfrm>
            <a:off x="7534473" y="1792224"/>
            <a:ext cx="365760" cy="365760"/>
          </a:xfrm>
          <a:prstGeom prst="rect">
            <a:avLst/>
          </a:prstGeom>
          <a:noFill/>
          <a:ln/>
        </p:spPr>
        <p:txBody>
          <a:bodyPr wrap="square" lIns="0" tIns="0" rIns="0" bIns="0" rtlCol="0" anchor="ctr"/>
          <a:lstStyle/>
          <a:p>
            <a:pPr algn="ctr" indent="0" marL="0">
              <a:buNone/>
            </a:pPr>
            <a:r>
              <a:rPr lang="en-US" sz="1200" b="1" dirty="0">
                <a:solidFill>
                  <a:srgbClr val="C9A96E"/>
                </a:solidFill>
                <a:latin typeface="Cambria" pitchFamily="34" charset="0"/>
                <a:ea typeface="Cambria" pitchFamily="34" charset="-122"/>
                <a:cs typeface="Cambria" pitchFamily="34" charset="-120"/>
              </a:rPr>
              <a:t>04</a:t>
            </a:r>
            <a:endParaRPr lang="en-US" sz="1200" dirty="0"/>
          </a:p>
        </p:txBody>
      </p:sp>
      <p:sp>
        <p:nvSpPr>
          <p:cNvPr id="24" name="Text 22"/>
          <p:cNvSpPr/>
          <p:nvPr/>
        </p:nvSpPr>
        <p:spPr>
          <a:xfrm>
            <a:off x="7534473" y="2304288"/>
            <a:ext cx="1560515" cy="566928"/>
          </a:xfrm>
          <a:prstGeom prst="rect">
            <a:avLst/>
          </a:prstGeom>
          <a:noFill/>
          <a:ln/>
        </p:spPr>
        <p:txBody>
          <a:bodyPr wrap="square" lIns="0" tIns="0" rIns="0" bIns="0" rtlCol="0" anchor="ctr"/>
          <a:lstStyle/>
          <a:p>
            <a:pPr indent="0" marL="0">
              <a:lnSpc>
                <a:spcPct val="115000"/>
              </a:lnSpc>
              <a:buNone/>
            </a:pPr>
            <a:r>
              <a:rPr lang="en-US" sz="1200" b="1" dirty="0">
                <a:solidFill>
                  <a:srgbClr val="EFEBE3"/>
                </a:solidFill>
                <a:latin typeface="Yu Gothic" pitchFamily="34" charset="0"/>
                <a:ea typeface="Yu Gothic" pitchFamily="34" charset="-122"/>
                <a:cs typeface="Yu Gothic" pitchFamily="34" charset="-120"/>
              </a:rPr>
              <a:t>スキーム組成</a:t>
            </a:r>
            <a:endParaRPr lang="en-US" sz="1200" dirty="0"/>
          </a:p>
        </p:txBody>
      </p:sp>
      <p:sp>
        <p:nvSpPr>
          <p:cNvPr id="25" name="Text 23"/>
          <p:cNvSpPr/>
          <p:nvPr/>
        </p:nvSpPr>
        <p:spPr>
          <a:xfrm>
            <a:off x="7534473" y="2926080"/>
            <a:ext cx="1560515" cy="1298448"/>
          </a:xfrm>
          <a:prstGeom prst="rect">
            <a:avLst/>
          </a:prstGeom>
          <a:noFill/>
          <a:ln/>
        </p:spPr>
        <p:txBody>
          <a:bodyPr wrap="square" lIns="0" tIns="0" rIns="0" bIns="0" rtlCol="0" anchor="ctr"/>
          <a:lstStyle/>
          <a:p>
            <a:pPr indent="0" marL="0">
              <a:lnSpc>
                <a:spcPct val="126000"/>
              </a:lnSpc>
              <a:buNone/>
            </a:pPr>
            <a:r>
              <a:rPr lang="en-US" sz="950" dirty="0">
                <a:solidFill>
                  <a:srgbClr val="9A938A"/>
                </a:solidFill>
                <a:latin typeface="Yu Gothic" pitchFamily="34" charset="0"/>
                <a:ea typeface="Yu Gothic" pitchFamily="34" charset="-122"/>
                <a:cs typeface="Yu Gothic" pitchFamily="34" charset="-120"/>
              </a:rPr>
              <a:t>GK-TKの組成、契約書一式（匿名組合契約・業務委託契約・売買基本契約）の作成。5年満期・3年ロックアップを織り込む。</a:t>
            </a:r>
            <a:endParaRPr lang="en-US" sz="950" dirty="0"/>
          </a:p>
        </p:txBody>
      </p:sp>
      <p:sp>
        <p:nvSpPr>
          <p:cNvPr id="26" name="Shape 24"/>
          <p:cNvSpPr/>
          <p:nvPr/>
        </p:nvSpPr>
        <p:spPr>
          <a:xfrm>
            <a:off x="9533900" y="1572768"/>
            <a:ext cx="1999427" cy="2834640"/>
          </a:xfrm>
          <a:prstGeom prst="roundRect">
            <a:avLst>
              <a:gd name="adj" fmla="val 2058"/>
            </a:avLst>
          </a:prstGeom>
          <a:solidFill>
            <a:srgbClr val="171614"/>
          </a:solidFill>
          <a:ln w="9525">
            <a:solidFill>
              <a:srgbClr val="2E2A24"/>
            </a:solidFill>
            <a:prstDash val="solid"/>
          </a:ln>
        </p:spPr>
      </p:sp>
      <p:sp>
        <p:nvSpPr>
          <p:cNvPr id="27" name="Shape 25"/>
          <p:cNvSpPr/>
          <p:nvPr/>
        </p:nvSpPr>
        <p:spPr>
          <a:xfrm>
            <a:off x="9753356" y="1792224"/>
            <a:ext cx="365760" cy="365760"/>
          </a:xfrm>
          <a:prstGeom prst="ellipse">
            <a:avLst/>
          </a:prstGeom>
          <a:solidFill>
            <a:srgbClr val="0C0C0C"/>
          </a:solidFill>
          <a:ln w="11430">
            <a:solidFill>
              <a:srgbClr val="A78450"/>
            </a:solidFill>
            <a:prstDash val="solid"/>
          </a:ln>
        </p:spPr>
      </p:sp>
      <p:sp>
        <p:nvSpPr>
          <p:cNvPr id="28" name="Text 26"/>
          <p:cNvSpPr/>
          <p:nvPr/>
        </p:nvSpPr>
        <p:spPr>
          <a:xfrm>
            <a:off x="9753356" y="1792224"/>
            <a:ext cx="365760" cy="365760"/>
          </a:xfrm>
          <a:prstGeom prst="rect">
            <a:avLst/>
          </a:prstGeom>
          <a:noFill/>
          <a:ln/>
        </p:spPr>
        <p:txBody>
          <a:bodyPr wrap="square" lIns="0" tIns="0" rIns="0" bIns="0" rtlCol="0" anchor="ctr"/>
          <a:lstStyle/>
          <a:p>
            <a:pPr algn="ctr" indent="0" marL="0">
              <a:buNone/>
            </a:pPr>
            <a:r>
              <a:rPr lang="en-US" sz="1200" b="1" dirty="0">
                <a:solidFill>
                  <a:srgbClr val="C9A96E"/>
                </a:solidFill>
                <a:latin typeface="Cambria" pitchFamily="34" charset="0"/>
                <a:ea typeface="Cambria" pitchFamily="34" charset="-122"/>
                <a:cs typeface="Cambria" pitchFamily="34" charset="-120"/>
              </a:rPr>
              <a:t>05</a:t>
            </a:r>
            <a:endParaRPr lang="en-US" sz="1200" dirty="0"/>
          </a:p>
        </p:txBody>
      </p:sp>
      <p:sp>
        <p:nvSpPr>
          <p:cNvPr id="29" name="Text 27"/>
          <p:cNvSpPr/>
          <p:nvPr/>
        </p:nvSpPr>
        <p:spPr>
          <a:xfrm>
            <a:off x="9753356" y="2304288"/>
            <a:ext cx="1560515" cy="566928"/>
          </a:xfrm>
          <a:prstGeom prst="rect">
            <a:avLst/>
          </a:prstGeom>
          <a:noFill/>
          <a:ln/>
        </p:spPr>
        <p:txBody>
          <a:bodyPr wrap="square" lIns="0" tIns="0" rIns="0" bIns="0" rtlCol="0" anchor="ctr"/>
          <a:lstStyle/>
          <a:p>
            <a:pPr indent="0" marL="0">
              <a:lnSpc>
                <a:spcPct val="115000"/>
              </a:lnSpc>
              <a:buNone/>
            </a:pPr>
            <a:r>
              <a:rPr lang="en-US" sz="1200" b="1" dirty="0">
                <a:solidFill>
                  <a:srgbClr val="EFEBE3"/>
                </a:solidFill>
                <a:latin typeface="Yu Gothic" pitchFamily="34" charset="0"/>
                <a:ea typeface="Yu Gothic" pitchFamily="34" charset="-122"/>
                <a:cs typeface="Yu Gothic" pitchFamily="34" charset="-120"/>
              </a:rPr>
              <a:t>投資実行</a:t>
            </a:r>
            <a:endParaRPr lang="en-US" sz="1200" dirty="0"/>
          </a:p>
        </p:txBody>
      </p:sp>
      <p:sp>
        <p:nvSpPr>
          <p:cNvPr id="30" name="Text 28"/>
          <p:cNvSpPr/>
          <p:nvPr/>
        </p:nvSpPr>
        <p:spPr>
          <a:xfrm>
            <a:off x="9753356" y="2926080"/>
            <a:ext cx="1560515" cy="1298448"/>
          </a:xfrm>
          <a:prstGeom prst="rect">
            <a:avLst/>
          </a:prstGeom>
          <a:noFill/>
          <a:ln/>
        </p:spPr>
        <p:txBody>
          <a:bodyPr wrap="square" lIns="0" tIns="0" rIns="0" bIns="0" rtlCol="0" anchor="ctr"/>
          <a:lstStyle/>
          <a:p>
            <a:pPr indent="0" marL="0">
              <a:lnSpc>
                <a:spcPct val="126000"/>
              </a:lnSpc>
              <a:buNone/>
            </a:pPr>
            <a:r>
              <a:rPr lang="en-US" sz="950" dirty="0">
                <a:solidFill>
                  <a:srgbClr val="9A938A"/>
                </a:solidFill>
                <a:latin typeface="Yu Gothic" pitchFamily="34" charset="0"/>
                <a:ea typeface="Yu Gothic" pitchFamily="34" charset="-122"/>
                <a:cs typeface="Yu Gothic" pitchFamily="34" charset="-120"/>
              </a:rPr>
              <a:t>半期の受入日に合わせて着金、運用開始。四半期ごとに在庫明細・簿価・売上を報告する。</a:t>
            </a:r>
            <a:endParaRPr lang="en-US" sz="950" dirty="0"/>
          </a:p>
        </p:txBody>
      </p:sp>
      <p:sp>
        <p:nvSpPr>
          <p:cNvPr id="31" name="Shape 29"/>
          <p:cNvSpPr/>
          <p:nvPr/>
        </p:nvSpPr>
        <p:spPr>
          <a:xfrm>
            <a:off x="658368" y="4608576"/>
            <a:ext cx="10874959" cy="969264"/>
          </a:xfrm>
          <a:prstGeom prst="roundRect">
            <a:avLst>
              <a:gd name="adj" fmla="val 4245"/>
            </a:avLst>
          </a:prstGeom>
          <a:solidFill>
            <a:srgbClr val="171614"/>
          </a:solidFill>
          <a:ln w="9525">
            <a:solidFill>
              <a:srgbClr val="2E2A24"/>
            </a:solidFill>
            <a:prstDash val="solid"/>
          </a:ln>
        </p:spPr>
      </p:sp>
      <p:sp>
        <p:nvSpPr>
          <p:cNvPr id="32" name="Text 30"/>
          <p:cNvSpPr/>
          <p:nvPr/>
        </p:nvSpPr>
        <p:spPr>
          <a:xfrm>
            <a:off x="932688" y="4754880"/>
            <a:ext cx="10326319" cy="676656"/>
          </a:xfrm>
          <a:prstGeom prst="rect">
            <a:avLst/>
          </a:prstGeom>
          <a:noFill/>
          <a:ln/>
        </p:spPr>
        <p:txBody>
          <a:bodyPr wrap="square" lIns="0" tIns="0" rIns="0" bIns="0" rtlCol="0" anchor="ctr"/>
          <a:lstStyle/>
          <a:p>
            <a:pPr indent="0" marL="0">
              <a:lnSpc>
                <a:spcPct val="124000"/>
              </a:lnSpc>
              <a:buNone/>
            </a:pPr>
            <a:r>
              <a:rPr lang="en-US" sz="1000" dirty="0">
                <a:solidFill>
                  <a:srgbClr val="9A938A"/>
                </a:solidFill>
                <a:latin typeface="Yu Gothic" pitchFamily="34" charset="0"/>
                <a:ea typeface="Yu Gothic" pitchFamily="34" charset="-122"/>
                <a:cs typeface="Yu Gothic" pitchFamily="34" charset="-120"/>
              </a:rPr>
              <a:t>本資料の数値は一定の前提に基づく試算であり、将来の運用成果を保証するものではありません。最終的な条件は契約書に基づきます。免許・税務の取扱いは、所轄官庁および専門家の確認を経て確定します。</a:t>
            </a:r>
            <a:endParaRPr lang="en-US" sz="10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0C0C0C"/>
        </a:solidFill>
      </p:bgPr>
    </p:bg>
    <p:spTree>
      <p:nvGrpSpPr>
        <p:cNvPr id="1" name=""/>
        <p:cNvGrpSpPr/>
        <p:nvPr/>
      </p:nvGrpSpPr>
      <p:grpSpPr>
        <a:xfrm>
          <a:off x="0" y="0"/>
          <a:ext cx="0" cy="0"/>
          <a:chOff x="0" y="0"/>
          <a:chExt cx="0" cy="0"/>
        </a:xfrm>
      </p:grpSpPr>
      <p:sp>
        <p:nvSpPr>
          <p:cNvPr id="2" name="Text 0"/>
          <p:cNvSpPr/>
          <p:nvPr/>
        </p:nvSpPr>
        <p:spPr>
          <a:xfrm>
            <a:off x="658368" y="384048"/>
            <a:ext cx="10874959" cy="219456"/>
          </a:xfrm>
          <a:prstGeom prst="rect">
            <a:avLst/>
          </a:prstGeom>
          <a:noFill/>
          <a:ln/>
        </p:spPr>
        <p:txBody>
          <a:bodyPr wrap="square" lIns="0" tIns="0" rIns="0" bIns="0" rtlCol="0" anchor="ctr"/>
          <a:lstStyle/>
          <a:p>
            <a:pPr indent="0" marL="0">
              <a:buNone/>
            </a:pPr>
            <a:r>
              <a:rPr lang="en-US" sz="1050" b="1" spc="340" kern="0" dirty="0">
                <a:solidFill>
                  <a:srgbClr val="A78450"/>
                </a:solidFill>
                <a:latin typeface="Cambria" pitchFamily="34" charset="0"/>
                <a:ea typeface="Cambria" pitchFamily="34" charset="-122"/>
                <a:cs typeface="Cambria" pitchFamily="34" charset="-120"/>
              </a:rPr>
              <a:t>CONCLUSION</a:t>
            </a:r>
            <a:endParaRPr lang="en-US" sz="1050" dirty="0"/>
          </a:p>
        </p:txBody>
      </p:sp>
      <p:sp>
        <p:nvSpPr>
          <p:cNvPr id="3" name="Text 1"/>
          <p:cNvSpPr/>
          <p:nvPr/>
        </p:nvSpPr>
        <p:spPr>
          <a:xfrm>
            <a:off x="658368" y="640080"/>
            <a:ext cx="10874959" cy="548640"/>
          </a:xfrm>
          <a:prstGeom prst="rect">
            <a:avLst/>
          </a:prstGeom>
          <a:noFill/>
          <a:ln/>
        </p:spPr>
        <p:txBody>
          <a:bodyPr wrap="square" lIns="0" tIns="0" rIns="0" bIns="0" rtlCol="0" anchor="ctr"/>
          <a:lstStyle/>
          <a:p>
            <a:pPr indent="0" marL="0">
              <a:buNone/>
            </a:pPr>
            <a:r>
              <a:rPr lang="en-US" sz="2700" b="1" dirty="0">
                <a:solidFill>
                  <a:srgbClr val="EFEBE3"/>
                </a:solidFill>
                <a:latin typeface="Yu Mincho" pitchFamily="34" charset="0"/>
                <a:ea typeface="Yu Mincho" pitchFamily="34" charset="-122"/>
                <a:cs typeface="Yu Mincho" pitchFamily="34" charset="-120"/>
              </a:rPr>
              <a:t>まとめ：本ファンドに出資いただく意義</a:t>
            </a:r>
            <a:endParaRPr lang="en-US" sz="2700" dirty="0"/>
          </a:p>
        </p:txBody>
      </p:sp>
      <p:sp>
        <p:nvSpPr>
          <p:cNvPr id="4" name="Text 2"/>
          <p:cNvSpPr/>
          <p:nvPr/>
        </p:nvSpPr>
        <p:spPr>
          <a:xfrm>
            <a:off x="658368" y="6437376"/>
            <a:ext cx="5029200" cy="219456"/>
          </a:xfrm>
          <a:prstGeom prst="rect">
            <a:avLst/>
          </a:prstGeom>
          <a:noFill/>
          <a:ln/>
        </p:spPr>
        <p:txBody>
          <a:bodyPr wrap="square" lIns="0" tIns="0" rIns="0" bIns="0" rtlCol="0" anchor="ctr"/>
          <a:lstStyle/>
          <a:p>
            <a:pPr indent="0" marL="0">
              <a:buNone/>
            </a:pPr>
            <a:r>
              <a:rPr lang="en-US" sz="850" dirty="0">
                <a:solidFill>
                  <a:srgbClr val="6E675E"/>
                </a:solidFill>
                <a:latin typeface="Yu Gothic" pitchFamily="34" charset="0"/>
                <a:ea typeface="Yu Gothic" pitchFamily="34" charset="-122"/>
                <a:cs typeface="Yu Gothic" pitchFamily="34" charset="-120"/>
              </a:rPr>
              <a:t>CONFIDENTIAL ｜ 株式会社WineBank</a:t>
            </a:r>
            <a:endParaRPr lang="en-US" sz="850" dirty="0"/>
          </a:p>
        </p:txBody>
      </p:sp>
      <p:sp>
        <p:nvSpPr>
          <p:cNvPr id="5" name="Text 3"/>
          <p:cNvSpPr/>
          <p:nvPr/>
        </p:nvSpPr>
        <p:spPr>
          <a:xfrm>
            <a:off x="10618927" y="6437376"/>
            <a:ext cx="914400" cy="219456"/>
          </a:xfrm>
          <a:prstGeom prst="rect">
            <a:avLst/>
          </a:prstGeom>
          <a:noFill/>
          <a:ln/>
        </p:spPr>
        <p:txBody>
          <a:bodyPr wrap="square" lIns="0" tIns="0" rIns="0" bIns="0" rtlCol="0" anchor="ctr"/>
          <a:lstStyle/>
          <a:p>
            <a:pPr algn="r" indent="0" marL="0">
              <a:buNone/>
            </a:pPr>
            <a:r>
              <a:rPr lang="en-US" sz="950" spc="150" kern="0" dirty="0">
                <a:solidFill>
                  <a:srgbClr val="6E5730"/>
                </a:solidFill>
                <a:latin typeface="Cambria" pitchFamily="34" charset="0"/>
                <a:ea typeface="Cambria" pitchFamily="34" charset="-122"/>
                <a:cs typeface="Cambria" pitchFamily="34" charset="-120"/>
              </a:rPr>
              <a:t>21</a:t>
            </a:r>
            <a:endParaRPr lang="en-US" sz="950" dirty="0"/>
          </a:p>
        </p:txBody>
      </p:sp>
      <p:sp>
        <p:nvSpPr>
          <p:cNvPr id="6" name="Shape 4"/>
          <p:cNvSpPr/>
          <p:nvPr/>
        </p:nvSpPr>
        <p:spPr>
          <a:xfrm>
            <a:off x="658368" y="1572768"/>
            <a:ext cx="6537960" cy="749808"/>
          </a:xfrm>
          <a:prstGeom prst="roundRect">
            <a:avLst>
              <a:gd name="adj" fmla="val 5488"/>
            </a:avLst>
          </a:prstGeom>
          <a:solidFill>
            <a:srgbClr val="171614"/>
          </a:solidFill>
          <a:ln w="9525">
            <a:solidFill>
              <a:srgbClr val="2E2A24"/>
            </a:solidFill>
            <a:prstDash val="solid"/>
          </a:ln>
        </p:spPr>
      </p:sp>
      <p:sp>
        <p:nvSpPr>
          <p:cNvPr id="7" name="Shape 5"/>
          <p:cNvSpPr/>
          <p:nvPr/>
        </p:nvSpPr>
        <p:spPr>
          <a:xfrm>
            <a:off x="877824" y="1792224"/>
            <a:ext cx="310896" cy="310896"/>
          </a:xfrm>
          <a:prstGeom prst="ellipse">
            <a:avLst/>
          </a:prstGeom>
          <a:solidFill>
            <a:srgbClr val="0C0C0C"/>
          </a:solidFill>
          <a:ln w="11430">
            <a:solidFill>
              <a:srgbClr val="A78450"/>
            </a:solidFill>
            <a:prstDash val="solid"/>
          </a:ln>
        </p:spPr>
      </p:sp>
      <p:sp>
        <p:nvSpPr>
          <p:cNvPr id="8" name="Text 6"/>
          <p:cNvSpPr/>
          <p:nvPr/>
        </p:nvSpPr>
        <p:spPr>
          <a:xfrm>
            <a:off x="877824" y="1792224"/>
            <a:ext cx="310896" cy="310896"/>
          </a:xfrm>
          <a:prstGeom prst="rect">
            <a:avLst/>
          </a:prstGeom>
          <a:noFill/>
          <a:ln/>
        </p:spPr>
        <p:txBody>
          <a:bodyPr wrap="square" lIns="0" tIns="0" rIns="0" bIns="0" rtlCol="0" anchor="ctr"/>
          <a:lstStyle/>
          <a:p>
            <a:pPr algn="ctr" indent="0" marL="0">
              <a:buNone/>
            </a:pPr>
            <a:r>
              <a:rPr lang="en-US" sz="1100" b="1" dirty="0">
                <a:solidFill>
                  <a:srgbClr val="C9A96E"/>
                </a:solidFill>
                <a:latin typeface="Cambria" pitchFamily="34" charset="0"/>
                <a:ea typeface="Cambria" pitchFamily="34" charset="-122"/>
                <a:cs typeface="Cambria" pitchFamily="34" charset="-120"/>
              </a:rPr>
              <a:t>01</a:t>
            </a:r>
            <a:endParaRPr lang="en-US" sz="1100" dirty="0"/>
          </a:p>
        </p:txBody>
      </p:sp>
      <p:sp>
        <p:nvSpPr>
          <p:cNvPr id="9" name="Text 7"/>
          <p:cNvSpPr/>
          <p:nvPr/>
        </p:nvSpPr>
        <p:spPr>
          <a:xfrm>
            <a:off x="1280160" y="1682496"/>
            <a:ext cx="5678424" cy="237744"/>
          </a:xfrm>
          <a:prstGeom prst="rect">
            <a:avLst/>
          </a:prstGeom>
          <a:noFill/>
          <a:ln/>
        </p:spPr>
        <p:txBody>
          <a:bodyPr wrap="square" lIns="0" tIns="0" rIns="0" bIns="0" rtlCol="0" anchor="ctr"/>
          <a:lstStyle/>
          <a:p>
            <a:pPr indent="0" marL="0">
              <a:buNone/>
            </a:pPr>
            <a:r>
              <a:rPr lang="en-US" sz="1150" b="1" dirty="0">
                <a:solidFill>
                  <a:srgbClr val="EFEBE3"/>
                </a:solidFill>
                <a:latin typeface="Yu Gothic" pitchFamily="34" charset="0"/>
                <a:ea typeface="Yu Gothic" pitchFamily="34" charset="-122"/>
                <a:cs typeface="Yu Gothic" pitchFamily="34" charset="-120"/>
              </a:rPr>
              <a:t>現物が元本を裏付ける</a:t>
            </a:r>
            <a:endParaRPr lang="en-US" sz="1150" dirty="0"/>
          </a:p>
        </p:txBody>
      </p:sp>
      <p:sp>
        <p:nvSpPr>
          <p:cNvPr id="10" name="Text 8"/>
          <p:cNvSpPr/>
          <p:nvPr/>
        </p:nvSpPr>
        <p:spPr>
          <a:xfrm>
            <a:off x="1280160" y="1920240"/>
            <a:ext cx="5678424" cy="329184"/>
          </a:xfrm>
          <a:prstGeom prst="rect">
            <a:avLst/>
          </a:prstGeom>
          <a:noFill/>
          <a:ln/>
        </p:spPr>
        <p:txBody>
          <a:bodyPr wrap="square" lIns="0" tIns="0" rIns="0" bIns="0" rtlCol="0" anchor="ctr"/>
          <a:lstStyle/>
          <a:p>
            <a:pPr indent="0" marL="0">
              <a:lnSpc>
                <a:spcPct val="115000"/>
              </a:lnSpc>
              <a:buNone/>
            </a:pPr>
            <a:r>
              <a:rPr lang="en-US" sz="900" dirty="0">
                <a:solidFill>
                  <a:srgbClr val="9A938A"/>
                </a:solidFill>
                <a:latin typeface="Yu Gothic" pitchFamily="34" charset="0"/>
                <a:ea typeface="Yu Gothic" pitchFamily="34" charset="-122"/>
                <a:cs typeface="Yu Gothic" pitchFamily="34" charset="-120"/>
              </a:rPr>
              <a:t>出資金の95%が常にワイン現物として存在する。SPC名義で保有し倒産隔離。保有している限り値上がりも取り込める。</a:t>
            </a:r>
            <a:endParaRPr lang="en-US" sz="900" dirty="0"/>
          </a:p>
        </p:txBody>
      </p:sp>
      <p:sp>
        <p:nvSpPr>
          <p:cNvPr id="11" name="Shape 9"/>
          <p:cNvSpPr/>
          <p:nvPr/>
        </p:nvSpPr>
        <p:spPr>
          <a:xfrm>
            <a:off x="658368" y="2395728"/>
            <a:ext cx="6537960" cy="749808"/>
          </a:xfrm>
          <a:prstGeom prst="roundRect">
            <a:avLst>
              <a:gd name="adj" fmla="val 5488"/>
            </a:avLst>
          </a:prstGeom>
          <a:solidFill>
            <a:srgbClr val="171614"/>
          </a:solidFill>
          <a:ln w="9525">
            <a:solidFill>
              <a:srgbClr val="2E2A24"/>
            </a:solidFill>
            <a:prstDash val="solid"/>
          </a:ln>
        </p:spPr>
      </p:sp>
      <p:sp>
        <p:nvSpPr>
          <p:cNvPr id="12" name="Shape 10"/>
          <p:cNvSpPr/>
          <p:nvPr/>
        </p:nvSpPr>
        <p:spPr>
          <a:xfrm>
            <a:off x="877824" y="2615184"/>
            <a:ext cx="310896" cy="310896"/>
          </a:xfrm>
          <a:prstGeom prst="ellipse">
            <a:avLst/>
          </a:prstGeom>
          <a:solidFill>
            <a:srgbClr val="0C0C0C"/>
          </a:solidFill>
          <a:ln w="11430">
            <a:solidFill>
              <a:srgbClr val="A78450"/>
            </a:solidFill>
            <a:prstDash val="solid"/>
          </a:ln>
        </p:spPr>
      </p:sp>
      <p:sp>
        <p:nvSpPr>
          <p:cNvPr id="13" name="Text 11"/>
          <p:cNvSpPr/>
          <p:nvPr/>
        </p:nvSpPr>
        <p:spPr>
          <a:xfrm>
            <a:off x="877824" y="2615184"/>
            <a:ext cx="310896" cy="310896"/>
          </a:xfrm>
          <a:prstGeom prst="rect">
            <a:avLst/>
          </a:prstGeom>
          <a:noFill/>
          <a:ln/>
        </p:spPr>
        <p:txBody>
          <a:bodyPr wrap="square" lIns="0" tIns="0" rIns="0" bIns="0" rtlCol="0" anchor="ctr"/>
          <a:lstStyle/>
          <a:p>
            <a:pPr algn="ctr" indent="0" marL="0">
              <a:buNone/>
            </a:pPr>
            <a:r>
              <a:rPr lang="en-US" sz="1100" b="1" dirty="0">
                <a:solidFill>
                  <a:srgbClr val="C9A96E"/>
                </a:solidFill>
                <a:latin typeface="Cambria" pitchFamily="34" charset="0"/>
                <a:ea typeface="Cambria" pitchFamily="34" charset="-122"/>
                <a:cs typeface="Cambria" pitchFamily="34" charset="-120"/>
              </a:rPr>
              <a:t>02</a:t>
            </a:r>
            <a:endParaRPr lang="en-US" sz="1100" dirty="0"/>
          </a:p>
        </p:txBody>
      </p:sp>
      <p:sp>
        <p:nvSpPr>
          <p:cNvPr id="14" name="Text 12"/>
          <p:cNvSpPr/>
          <p:nvPr/>
        </p:nvSpPr>
        <p:spPr>
          <a:xfrm>
            <a:off x="1280160" y="2505456"/>
            <a:ext cx="5678424" cy="237744"/>
          </a:xfrm>
          <a:prstGeom prst="rect">
            <a:avLst/>
          </a:prstGeom>
          <a:noFill/>
          <a:ln/>
        </p:spPr>
        <p:txBody>
          <a:bodyPr wrap="square" lIns="0" tIns="0" rIns="0" bIns="0" rtlCol="0" anchor="ctr"/>
          <a:lstStyle/>
          <a:p>
            <a:pPr indent="0" marL="0">
              <a:buNone/>
            </a:pPr>
            <a:r>
              <a:rPr lang="en-US" sz="1150" b="1" dirty="0">
                <a:solidFill>
                  <a:srgbClr val="EFEBE3"/>
                </a:solidFill>
                <a:latin typeface="Yu Gothic" pitchFamily="34" charset="0"/>
                <a:ea typeface="Yu Gothic" pitchFamily="34" charset="-122"/>
                <a:cs typeface="Yu Gothic" pitchFamily="34" charset="-120"/>
              </a:rPr>
              <a:t>収益が二階建てで、片方が崩れても成立する</a:t>
            </a:r>
            <a:endParaRPr lang="en-US" sz="1150" dirty="0"/>
          </a:p>
        </p:txBody>
      </p:sp>
      <p:sp>
        <p:nvSpPr>
          <p:cNvPr id="15" name="Text 13"/>
          <p:cNvSpPr/>
          <p:nvPr/>
        </p:nvSpPr>
        <p:spPr>
          <a:xfrm>
            <a:off x="1280160" y="2743200"/>
            <a:ext cx="5678424" cy="329184"/>
          </a:xfrm>
          <a:prstGeom prst="rect">
            <a:avLst/>
          </a:prstGeom>
          <a:noFill/>
          <a:ln/>
        </p:spPr>
        <p:txBody>
          <a:bodyPr wrap="square" lIns="0" tIns="0" rIns="0" bIns="0" rtlCol="0" anchor="ctr"/>
          <a:lstStyle/>
          <a:p>
            <a:pPr indent="0" marL="0">
              <a:lnSpc>
                <a:spcPct val="115000"/>
              </a:lnSpc>
              <a:buNone/>
            </a:pPr>
            <a:r>
              <a:rPr lang="en-US" sz="900" dirty="0">
                <a:solidFill>
                  <a:srgbClr val="9A938A"/>
                </a:solidFill>
                <a:latin typeface="Yu Gothic" pitchFamily="34" charset="0"/>
                <a:ea typeface="Yu Gothic" pitchFamily="34" charset="-122"/>
                <a:cs typeface="Yu Gothic" pitchFamily="34" charset="-120"/>
              </a:rPr>
              <a:t>流通価格差（回転に対するリターン）とワインの値上がり（在庫に対するリターン）。価格が横ばいでも投資家利回り17.0%、回転が18ヶ月に延びても14.9%を確保する。</a:t>
            </a:r>
            <a:endParaRPr lang="en-US" sz="900" dirty="0"/>
          </a:p>
        </p:txBody>
      </p:sp>
      <p:sp>
        <p:nvSpPr>
          <p:cNvPr id="16" name="Shape 14"/>
          <p:cNvSpPr/>
          <p:nvPr/>
        </p:nvSpPr>
        <p:spPr>
          <a:xfrm>
            <a:off x="658368" y="3218688"/>
            <a:ext cx="6537960" cy="749808"/>
          </a:xfrm>
          <a:prstGeom prst="roundRect">
            <a:avLst>
              <a:gd name="adj" fmla="val 5488"/>
            </a:avLst>
          </a:prstGeom>
          <a:solidFill>
            <a:srgbClr val="171614"/>
          </a:solidFill>
          <a:ln w="9525">
            <a:solidFill>
              <a:srgbClr val="2E2A24"/>
            </a:solidFill>
            <a:prstDash val="solid"/>
          </a:ln>
        </p:spPr>
      </p:sp>
      <p:sp>
        <p:nvSpPr>
          <p:cNvPr id="17" name="Shape 15"/>
          <p:cNvSpPr/>
          <p:nvPr/>
        </p:nvSpPr>
        <p:spPr>
          <a:xfrm>
            <a:off x="877824" y="3438144"/>
            <a:ext cx="310896" cy="310896"/>
          </a:xfrm>
          <a:prstGeom prst="ellipse">
            <a:avLst/>
          </a:prstGeom>
          <a:solidFill>
            <a:srgbClr val="0C0C0C"/>
          </a:solidFill>
          <a:ln w="11430">
            <a:solidFill>
              <a:srgbClr val="A78450"/>
            </a:solidFill>
            <a:prstDash val="solid"/>
          </a:ln>
        </p:spPr>
      </p:sp>
      <p:sp>
        <p:nvSpPr>
          <p:cNvPr id="18" name="Text 16"/>
          <p:cNvSpPr/>
          <p:nvPr/>
        </p:nvSpPr>
        <p:spPr>
          <a:xfrm>
            <a:off x="877824" y="3438144"/>
            <a:ext cx="310896" cy="310896"/>
          </a:xfrm>
          <a:prstGeom prst="rect">
            <a:avLst/>
          </a:prstGeom>
          <a:noFill/>
          <a:ln/>
        </p:spPr>
        <p:txBody>
          <a:bodyPr wrap="square" lIns="0" tIns="0" rIns="0" bIns="0" rtlCol="0" anchor="ctr"/>
          <a:lstStyle/>
          <a:p>
            <a:pPr algn="ctr" indent="0" marL="0">
              <a:buNone/>
            </a:pPr>
            <a:r>
              <a:rPr lang="en-US" sz="1100" b="1" dirty="0">
                <a:solidFill>
                  <a:srgbClr val="C9A96E"/>
                </a:solidFill>
                <a:latin typeface="Cambria" pitchFamily="34" charset="0"/>
                <a:ea typeface="Cambria" pitchFamily="34" charset="-122"/>
                <a:cs typeface="Cambria" pitchFamily="34" charset="-120"/>
              </a:rPr>
              <a:t>03</a:t>
            </a:r>
            <a:endParaRPr lang="en-US" sz="1100" dirty="0"/>
          </a:p>
        </p:txBody>
      </p:sp>
      <p:sp>
        <p:nvSpPr>
          <p:cNvPr id="19" name="Text 17"/>
          <p:cNvSpPr/>
          <p:nvPr/>
        </p:nvSpPr>
        <p:spPr>
          <a:xfrm>
            <a:off x="1280160" y="3328416"/>
            <a:ext cx="5678424" cy="237744"/>
          </a:xfrm>
          <a:prstGeom prst="rect">
            <a:avLst/>
          </a:prstGeom>
          <a:noFill/>
          <a:ln/>
        </p:spPr>
        <p:txBody>
          <a:bodyPr wrap="square" lIns="0" tIns="0" rIns="0" bIns="0" rtlCol="0" anchor="ctr"/>
          <a:lstStyle/>
          <a:p>
            <a:pPr indent="0" marL="0">
              <a:buNone/>
            </a:pPr>
            <a:r>
              <a:rPr lang="en-US" sz="1150" b="1" dirty="0">
                <a:solidFill>
                  <a:srgbClr val="EFEBE3"/>
                </a:solidFill>
                <a:latin typeface="Yu Gothic" pitchFamily="34" charset="0"/>
                <a:ea typeface="Yu Gothic" pitchFamily="34" charset="-122"/>
                <a:cs typeface="Yu Gothic" pitchFamily="34" charset="-120"/>
              </a:rPr>
              <a:t>他社が再現できない調達力</a:t>
            </a:r>
            <a:endParaRPr lang="en-US" sz="1150" dirty="0"/>
          </a:p>
        </p:txBody>
      </p:sp>
      <p:sp>
        <p:nvSpPr>
          <p:cNvPr id="20" name="Text 18"/>
          <p:cNvSpPr/>
          <p:nvPr/>
        </p:nvSpPr>
        <p:spPr>
          <a:xfrm>
            <a:off x="1280160" y="3566160"/>
            <a:ext cx="5678424" cy="329184"/>
          </a:xfrm>
          <a:prstGeom prst="rect">
            <a:avLst/>
          </a:prstGeom>
          <a:noFill/>
          <a:ln/>
        </p:spPr>
        <p:txBody>
          <a:bodyPr wrap="square" lIns="0" tIns="0" rIns="0" bIns="0" rtlCol="0" anchor="ctr"/>
          <a:lstStyle/>
          <a:p>
            <a:pPr indent="0" marL="0">
              <a:lnSpc>
                <a:spcPct val="115000"/>
              </a:lnSpc>
              <a:buNone/>
            </a:pPr>
            <a:r>
              <a:rPr lang="en-US" sz="900" dirty="0">
                <a:solidFill>
                  <a:srgbClr val="9A938A"/>
                </a:solidFill>
                <a:latin typeface="Yu Gothic" pitchFamily="34" charset="0"/>
                <a:ea typeface="Yu Gothic" pitchFamily="34" charset="-122"/>
                <a:cs typeface="Yu Gothic" pitchFamily="34" charset="-120"/>
              </a:rPr>
              <a:t>創業55年の酒販免許、大手インポーターとの直接取引、輸出入ライセンス。新規参入業者が正規品を同じ価格で大量に仕入れることはできない。</a:t>
            </a:r>
            <a:endParaRPr lang="en-US" sz="900" dirty="0"/>
          </a:p>
        </p:txBody>
      </p:sp>
      <p:sp>
        <p:nvSpPr>
          <p:cNvPr id="21" name="Shape 19"/>
          <p:cNvSpPr/>
          <p:nvPr/>
        </p:nvSpPr>
        <p:spPr>
          <a:xfrm>
            <a:off x="658368" y="4041648"/>
            <a:ext cx="6537960" cy="749808"/>
          </a:xfrm>
          <a:prstGeom prst="roundRect">
            <a:avLst>
              <a:gd name="adj" fmla="val 5488"/>
            </a:avLst>
          </a:prstGeom>
          <a:solidFill>
            <a:srgbClr val="171614"/>
          </a:solidFill>
          <a:ln w="9525">
            <a:solidFill>
              <a:srgbClr val="2E2A24"/>
            </a:solidFill>
            <a:prstDash val="solid"/>
          </a:ln>
        </p:spPr>
      </p:sp>
      <p:sp>
        <p:nvSpPr>
          <p:cNvPr id="22" name="Shape 20"/>
          <p:cNvSpPr/>
          <p:nvPr/>
        </p:nvSpPr>
        <p:spPr>
          <a:xfrm>
            <a:off x="877824" y="4261104"/>
            <a:ext cx="310896" cy="310896"/>
          </a:xfrm>
          <a:prstGeom prst="ellipse">
            <a:avLst/>
          </a:prstGeom>
          <a:solidFill>
            <a:srgbClr val="0C0C0C"/>
          </a:solidFill>
          <a:ln w="11430">
            <a:solidFill>
              <a:srgbClr val="A78450"/>
            </a:solidFill>
            <a:prstDash val="solid"/>
          </a:ln>
        </p:spPr>
      </p:sp>
      <p:sp>
        <p:nvSpPr>
          <p:cNvPr id="23" name="Text 21"/>
          <p:cNvSpPr/>
          <p:nvPr/>
        </p:nvSpPr>
        <p:spPr>
          <a:xfrm>
            <a:off x="877824" y="4261104"/>
            <a:ext cx="310896" cy="310896"/>
          </a:xfrm>
          <a:prstGeom prst="rect">
            <a:avLst/>
          </a:prstGeom>
          <a:noFill/>
          <a:ln/>
        </p:spPr>
        <p:txBody>
          <a:bodyPr wrap="square" lIns="0" tIns="0" rIns="0" bIns="0" rtlCol="0" anchor="ctr"/>
          <a:lstStyle/>
          <a:p>
            <a:pPr algn="ctr" indent="0" marL="0">
              <a:buNone/>
            </a:pPr>
            <a:r>
              <a:rPr lang="en-US" sz="1100" b="1" dirty="0">
                <a:solidFill>
                  <a:srgbClr val="C9A96E"/>
                </a:solidFill>
                <a:latin typeface="Cambria" pitchFamily="34" charset="0"/>
                <a:ea typeface="Cambria" pitchFamily="34" charset="-122"/>
                <a:cs typeface="Cambria" pitchFamily="34" charset="-120"/>
              </a:rPr>
              <a:t>04</a:t>
            </a:r>
            <a:endParaRPr lang="en-US" sz="1100" dirty="0"/>
          </a:p>
        </p:txBody>
      </p:sp>
      <p:sp>
        <p:nvSpPr>
          <p:cNvPr id="24" name="Text 22"/>
          <p:cNvSpPr/>
          <p:nvPr/>
        </p:nvSpPr>
        <p:spPr>
          <a:xfrm>
            <a:off x="1280160" y="4151376"/>
            <a:ext cx="5678424" cy="237744"/>
          </a:xfrm>
          <a:prstGeom prst="rect">
            <a:avLst/>
          </a:prstGeom>
          <a:noFill/>
          <a:ln/>
        </p:spPr>
        <p:txBody>
          <a:bodyPr wrap="square" lIns="0" tIns="0" rIns="0" bIns="0" rtlCol="0" anchor="ctr"/>
          <a:lstStyle/>
          <a:p>
            <a:pPr indent="0" marL="0">
              <a:buNone/>
            </a:pPr>
            <a:r>
              <a:rPr lang="en-US" sz="1150" b="1" dirty="0">
                <a:solidFill>
                  <a:srgbClr val="EFEBE3"/>
                </a:solidFill>
                <a:latin typeface="Yu Gothic" pitchFamily="34" charset="0"/>
                <a:ea typeface="Yu Gothic" pitchFamily="34" charset="-122"/>
                <a:cs typeface="Yu Gothic" pitchFamily="34" charset="-120"/>
              </a:rPr>
              <a:t>出口をB2B・B2Cの両輪で持っている</a:t>
            </a:r>
            <a:endParaRPr lang="en-US" sz="1150" dirty="0"/>
          </a:p>
        </p:txBody>
      </p:sp>
      <p:sp>
        <p:nvSpPr>
          <p:cNvPr id="25" name="Text 23"/>
          <p:cNvSpPr/>
          <p:nvPr/>
        </p:nvSpPr>
        <p:spPr>
          <a:xfrm>
            <a:off x="1280160" y="4389120"/>
            <a:ext cx="5678424" cy="329184"/>
          </a:xfrm>
          <a:prstGeom prst="rect">
            <a:avLst/>
          </a:prstGeom>
          <a:noFill/>
          <a:ln/>
        </p:spPr>
        <p:txBody>
          <a:bodyPr wrap="square" lIns="0" tIns="0" rIns="0" bIns="0" rtlCol="0" anchor="ctr"/>
          <a:lstStyle/>
          <a:p>
            <a:pPr indent="0" marL="0">
              <a:lnSpc>
                <a:spcPct val="115000"/>
              </a:lnSpc>
              <a:buNone/>
            </a:pPr>
            <a:r>
              <a:rPr lang="en-US" sz="900" dirty="0">
                <a:solidFill>
                  <a:srgbClr val="9A938A"/>
                </a:solidFill>
                <a:latin typeface="Yu Gothic" pitchFamily="34" charset="0"/>
                <a:ea typeface="Yu Gothic" pitchFamily="34" charset="-122"/>
                <a:cs typeface="Yu Gothic" pitchFamily="34" charset="-120"/>
              </a:rPr>
              <a:t>酒販店卸（B2B）に加え、自社EC・オークション・CLUB会員・グループのアピシウス（B2C）。手取りの高いチャネルを選べる構造。</a:t>
            </a:r>
            <a:endParaRPr lang="en-US" sz="900" dirty="0"/>
          </a:p>
        </p:txBody>
      </p:sp>
      <p:sp>
        <p:nvSpPr>
          <p:cNvPr id="26" name="Shape 24"/>
          <p:cNvSpPr/>
          <p:nvPr/>
        </p:nvSpPr>
        <p:spPr>
          <a:xfrm>
            <a:off x="658368" y="4864608"/>
            <a:ext cx="6537960" cy="749808"/>
          </a:xfrm>
          <a:prstGeom prst="roundRect">
            <a:avLst>
              <a:gd name="adj" fmla="val 5488"/>
            </a:avLst>
          </a:prstGeom>
          <a:solidFill>
            <a:srgbClr val="1F1D19"/>
          </a:solidFill>
          <a:ln w="9525">
            <a:solidFill>
              <a:srgbClr val="6E5730"/>
            </a:solidFill>
            <a:prstDash val="solid"/>
          </a:ln>
        </p:spPr>
      </p:sp>
      <p:sp>
        <p:nvSpPr>
          <p:cNvPr id="27" name="Shape 25"/>
          <p:cNvSpPr/>
          <p:nvPr/>
        </p:nvSpPr>
        <p:spPr>
          <a:xfrm>
            <a:off x="877824" y="5084064"/>
            <a:ext cx="310896" cy="310896"/>
          </a:xfrm>
          <a:prstGeom prst="ellipse">
            <a:avLst/>
          </a:prstGeom>
          <a:solidFill>
            <a:srgbClr val="0C0C0C"/>
          </a:solidFill>
          <a:ln w="11430">
            <a:solidFill>
              <a:srgbClr val="A78450"/>
            </a:solidFill>
            <a:prstDash val="solid"/>
          </a:ln>
        </p:spPr>
      </p:sp>
      <p:sp>
        <p:nvSpPr>
          <p:cNvPr id="28" name="Text 26"/>
          <p:cNvSpPr/>
          <p:nvPr/>
        </p:nvSpPr>
        <p:spPr>
          <a:xfrm>
            <a:off x="877824" y="5084064"/>
            <a:ext cx="310896" cy="310896"/>
          </a:xfrm>
          <a:prstGeom prst="rect">
            <a:avLst/>
          </a:prstGeom>
          <a:noFill/>
          <a:ln/>
        </p:spPr>
        <p:txBody>
          <a:bodyPr wrap="square" lIns="0" tIns="0" rIns="0" bIns="0" rtlCol="0" anchor="ctr"/>
          <a:lstStyle/>
          <a:p>
            <a:pPr algn="ctr" indent="0" marL="0">
              <a:buNone/>
            </a:pPr>
            <a:r>
              <a:rPr lang="en-US" sz="1100" b="1" dirty="0">
                <a:solidFill>
                  <a:srgbClr val="C9A96E"/>
                </a:solidFill>
                <a:latin typeface="Cambria" pitchFamily="34" charset="0"/>
                <a:ea typeface="Cambria" pitchFamily="34" charset="-122"/>
                <a:cs typeface="Cambria" pitchFamily="34" charset="-120"/>
              </a:rPr>
              <a:t>05</a:t>
            </a:r>
            <a:endParaRPr lang="en-US" sz="1100" dirty="0"/>
          </a:p>
        </p:txBody>
      </p:sp>
      <p:sp>
        <p:nvSpPr>
          <p:cNvPr id="29" name="Text 27"/>
          <p:cNvSpPr/>
          <p:nvPr/>
        </p:nvSpPr>
        <p:spPr>
          <a:xfrm>
            <a:off x="1280160" y="4974336"/>
            <a:ext cx="5678424" cy="237744"/>
          </a:xfrm>
          <a:prstGeom prst="rect">
            <a:avLst/>
          </a:prstGeom>
          <a:noFill/>
          <a:ln/>
        </p:spPr>
        <p:txBody>
          <a:bodyPr wrap="square" lIns="0" tIns="0" rIns="0" bIns="0" rtlCol="0" anchor="ctr"/>
          <a:lstStyle/>
          <a:p>
            <a:pPr indent="0" marL="0">
              <a:buNone/>
            </a:pPr>
            <a:r>
              <a:rPr lang="en-US" sz="1150" b="1" dirty="0">
                <a:solidFill>
                  <a:srgbClr val="C9A96E"/>
                </a:solidFill>
                <a:latin typeface="Yu Gothic" pitchFamily="34" charset="0"/>
                <a:ea typeface="Yu Gothic" pitchFamily="34" charset="-122"/>
                <a:cs typeface="Yu Gothic" pitchFamily="34" charset="-120"/>
              </a:rPr>
              <a:t>運営者と利害が完全に一致している</a:t>
            </a:r>
            <a:endParaRPr lang="en-US" sz="1150" dirty="0"/>
          </a:p>
        </p:txBody>
      </p:sp>
      <p:sp>
        <p:nvSpPr>
          <p:cNvPr id="30" name="Text 28"/>
          <p:cNvSpPr/>
          <p:nvPr/>
        </p:nvSpPr>
        <p:spPr>
          <a:xfrm>
            <a:off x="1280160" y="5212080"/>
            <a:ext cx="5678424" cy="329184"/>
          </a:xfrm>
          <a:prstGeom prst="rect">
            <a:avLst/>
          </a:prstGeom>
          <a:noFill/>
          <a:ln/>
        </p:spPr>
        <p:txBody>
          <a:bodyPr wrap="square" lIns="0" tIns="0" rIns="0" bIns="0" rtlCol="0" anchor="ctr"/>
          <a:lstStyle/>
          <a:p>
            <a:pPr indent="0" marL="0">
              <a:lnSpc>
                <a:spcPct val="115000"/>
              </a:lnSpc>
              <a:buNone/>
            </a:pPr>
            <a:r>
              <a:rPr lang="en-US" sz="900" dirty="0">
                <a:solidFill>
                  <a:srgbClr val="9A938A"/>
                </a:solidFill>
                <a:latin typeface="Yu Gothic" pitchFamily="34" charset="0"/>
                <a:ea typeface="Yu Gothic" pitchFamily="34" charset="-122"/>
                <a:cs typeface="Yu Gothic" pitchFamily="34" charset="-120"/>
              </a:rPr>
              <a:t>報酬はSPC税前利益を折半する成功報酬に一本化。投資家の105百万円とWineBankの105百万円は完全に同額。投資家が儲からなければWineBankも儲からない。</a:t>
            </a:r>
            <a:endParaRPr lang="en-US" sz="900" dirty="0"/>
          </a:p>
        </p:txBody>
      </p:sp>
      <p:sp>
        <p:nvSpPr>
          <p:cNvPr id="31" name="Shape 29"/>
          <p:cNvSpPr/>
          <p:nvPr/>
        </p:nvSpPr>
        <p:spPr>
          <a:xfrm>
            <a:off x="7470648" y="1572768"/>
            <a:ext cx="4062679" cy="4041648"/>
          </a:xfrm>
          <a:prstGeom prst="roundRect">
            <a:avLst>
              <a:gd name="adj" fmla="val 1018"/>
            </a:avLst>
          </a:prstGeom>
          <a:solidFill>
            <a:srgbClr val="1F1D19"/>
          </a:solidFill>
          <a:ln w="9525">
            <a:solidFill>
              <a:srgbClr val="6E5730"/>
            </a:solidFill>
            <a:prstDash val="solid"/>
          </a:ln>
        </p:spPr>
      </p:sp>
      <p:sp>
        <p:nvSpPr>
          <p:cNvPr id="32" name="Text 30"/>
          <p:cNvSpPr/>
          <p:nvPr/>
        </p:nvSpPr>
        <p:spPr>
          <a:xfrm>
            <a:off x="7726680" y="1755648"/>
            <a:ext cx="3550615" cy="256032"/>
          </a:xfrm>
          <a:prstGeom prst="rect">
            <a:avLst/>
          </a:prstGeom>
          <a:noFill/>
          <a:ln/>
        </p:spPr>
        <p:txBody>
          <a:bodyPr wrap="square" lIns="0" tIns="0" rIns="0" bIns="0" rtlCol="0" anchor="ctr"/>
          <a:lstStyle/>
          <a:p>
            <a:pPr indent="0" marL="0">
              <a:buNone/>
            </a:pPr>
            <a:r>
              <a:rPr lang="en-US" sz="1250" b="1" dirty="0">
                <a:solidFill>
                  <a:srgbClr val="C9A96E"/>
                </a:solidFill>
                <a:latin typeface="Yu Gothic" pitchFamily="34" charset="0"/>
                <a:ea typeface="Yu Gothic" pitchFamily="34" charset="-122"/>
                <a:cs typeface="Yu Gothic" pitchFamily="34" charset="-120"/>
              </a:rPr>
              <a:t>貴社の投資基準との照合</a:t>
            </a:r>
            <a:endParaRPr lang="en-US" sz="1250" dirty="0"/>
          </a:p>
        </p:txBody>
      </p:sp>
      <p:sp>
        <p:nvSpPr>
          <p:cNvPr id="33" name="Shape 31"/>
          <p:cNvSpPr/>
          <p:nvPr/>
        </p:nvSpPr>
        <p:spPr>
          <a:xfrm>
            <a:off x="7726680" y="2180844"/>
            <a:ext cx="137160" cy="137160"/>
          </a:xfrm>
          <a:prstGeom prst="ellipse">
            <a:avLst/>
          </a:prstGeom>
          <a:solidFill>
            <a:srgbClr val="A78450"/>
          </a:solidFill>
          <a:ln w="11430">
            <a:solidFill>
              <a:srgbClr val="A78450"/>
            </a:solidFill>
            <a:prstDash val="solid"/>
          </a:ln>
        </p:spPr>
      </p:sp>
      <p:sp>
        <p:nvSpPr>
          <p:cNvPr id="34" name="Text 32"/>
          <p:cNvSpPr/>
          <p:nvPr/>
        </p:nvSpPr>
        <p:spPr>
          <a:xfrm>
            <a:off x="7726680" y="2180844"/>
            <a:ext cx="137160" cy="137160"/>
          </a:xfrm>
          <a:prstGeom prst="rect">
            <a:avLst/>
          </a:prstGeom>
          <a:noFill/>
          <a:ln/>
        </p:spPr>
        <p:txBody>
          <a:bodyPr wrap="square" lIns="0" tIns="0" rIns="0" bIns="0" rtlCol="0" anchor="ctr"/>
          <a:lstStyle/>
          <a:p>
            <a:pPr algn="ctr" indent="0" marL="0">
              <a:buNone/>
            </a:pPr>
            <a:endParaRPr lang="en-US" sz="1100" dirty="0"/>
          </a:p>
        </p:txBody>
      </p:sp>
      <p:sp>
        <p:nvSpPr>
          <p:cNvPr id="35" name="Text 33"/>
          <p:cNvSpPr/>
          <p:nvPr/>
        </p:nvSpPr>
        <p:spPr>
          <a:xfrm>
            <a:off x="7964424" y="2121408"/>
            <a:ext cx="3312871" cy="219456"/>
          </a:xfrm>
          <a:prstGeom prst="rect">
            <a:avLst/>
          </a:prstGeom>
          <a:noFill/>
          <a:ln/>
        </p:spPr>
        <p:txBody>
          <a:bodyPr wrap="square" lIns="0" tIns="0" rIns="0" bIns="0" rtlCol="0" anchor="ctr"/>
          <a:lstStyle/>
          <a:p>
            <a:pPr indent="0" marL="0">
              <a:buNone/>
            </a:pPr>
            <a:r>
              <a:rPr lang="en-US" sz="1050" b="1" dirty="0">
                <a:solidFill>
                  <a:srgbClr val="EFEBE3"/>
                </a:solidFill>
                <a:latin typeface="Yu Gothic" pitchFamily="34" charset="0"/>
                <a:ea typeface="Yu Gothic" pitchFamily="34" charset="-122"/>
                <a:cs typeface="Yu Gothic" pitchFamily="34" charset="-120"/>
              </a:rPr>
              <a:t>想定利回り20%（実績）に対して</a:t>
            </a:r>
            <a:endParaRPr lang="en-US" sz="1050" dirty="0"/>
          </a:p>
        </p:txBody>
      </p:sp>
      <p:sp>
        <p:nvSpPr>
          <p:cNvPr id="36" name="Text 34"/>
          <p:cNvSpPr/>
          <p:nvPr/>
        </p:nvSpPr>
        <p:spPr>
          <a:xfrm>
            <a:off x="7964424" y="2350008"/>
            <a:ext cx="3312871" cy="384048"/>
          </a:xfrm>
          <a:prstGeom prst="rect">
            <a:avLst/>
          </a:prstGeom>
          <a:noFill/>
          <a:ln/>
        </p:spPr>
        <p:txBody>
          <a:bodyPr wrap="square" lIns="0" tIns="0" rIns="0" bIns="0" rtlCol="0" anchor="ctr"/>
          <a:lstStyle/>
          <a:p>
            <a:pPr indent="0" marL="0">
              <a:lnSpc>
                <a:spcPct val="118000"/>
              </a:lnSpc>
              <a:buNone/>
            </a:pPr>
            <a:r>
              <a:rPr lang="en-US" sz="900" dirty="0">
                <a:solidFill>
                  <a:srgbClr val="9A938A"/>
                </a:solidFill>
                <a:latin typeface="Yu Gothic" pitchFamily="34" charset="0"/>
                <a:ea typeface="Yu Gothic" pitchFamily="34" charset="-122"/>
                <a:cs typeface="Yu Gothic" pitchFamily="34" charset="-120"/>
              </a:rPr>
              <a:t>投資家利回り21.0%＝年105百万円。20%の分岐点は回転12.7ヶ月で、余裕は0.7ヶ月しかない。</a:t>
            </a:r>
            <a:endParaRPr lang="en-US" sz="900" dirty="0"/>
          </a:p>
        </p:txBody>
      </p:sp>
      <p:sp>
        <p:nvSpPr>
          <p:cNvPr id="37" name="Text 35"/>
          <p:cNvSpPr/>
          <p:nvPr/>
        </p:nvSpPr>
        <p:spPr>
          <a:xfrm>
            <a:off x="7964424" y="2743200"/>
            <a:ext cx="3312871" cy="457200"/>
          </a:xfrm>
          <a:prstGeom prst="rect">
            <a:avLst/>
          </a:prstGeom>
          <a:noFill/>
          <a:ln/>
        </p:spPr>
        <p:txBody>
          <a:bodyPr wrap="square" lIns="0" tIns="0" rIns="0" bIns="0" rtlCol="0" anchor="ctr"/>
          <a:lstStyle/>
          <a:p>
            <a:pPr indent="0" marL="0">
              <a:lnSpc>
                <a:spcPct val="118000"/>
              </a:lnSpc>
              <a:buNone/>
            </a:pPr>
            <a:r>
              <a:rPr lang="en-US" sz="900" dirty="0">
                <a:solidFill>
                  <a:srgbClr val="C9A96E"/>
                </a:solidFill>
                <a:latin typeface="Yu Gothic" pitchFamily="34" charset="0"/>
                <a:ea typeface="Yu Gothic" pitchFamily="34" charset="-122"/>
                <a:cs typeface="Yu Gothic" pitchFamily="34" charset="-120"/>
              </a:rPr>
              <a:t>回転12ヶ月の達成が20%確保の必要条件となる。流動性上位の銘柄に絞って組み入れ、回転期間を運用KPIとして四半期報告する。</a:t>
            </a:r>
            <a:endParaRPr lang="en-US" sz="900" dirty="0"/>
          </a:p>
        </p:txBody>
      </p:sp>
      <p:sp>
        <p:nvSpPr>
          <p:cNvPr id="38" name="Shape 36"/>
          <p:cNvSpPr/>
          <p:nvPr/>
        </p:nvSpPr>
        <p:spPr>
          <a:xfrm>
            <a:off x="7726680" y="3369564"/>
            <a:ext cx="137160" cy="137160"/>
          </a:xfrm>
          <a:prstGeom prst="ellipse">
            <a:avLst/>
          </a:prstGeom>
          <a:solidFill>
            <a:srgbClr val="A78450"/>
          </a:solidFill>
          <a:ln w="11430">
            <a:solidFill>
              <a:srgbClr val="A78450"/>
            </a:solidFill>
            <a:prstDash val="solid"/>
          </a:ln>
        </p:spPr>
      </p:sp>
      <p:sp>
        <p:nvSpPr>
          <p:cNvPr id="39" name="Text 37"/>
          <p:cNvSpPr/>
          <p:nvPr/>
        </p:nvSpPr>
        <p:spPr>
          <a:xfrm>
            <a:off x="7726680" y="3369564"/>
            <a:ext cx="137160" cy="137160"/>
          </a:xfrm>
          <a:prstGeom prst="rect">
            <a:avLst/>
          </a:prstGeom>
          <a:noFill/>
          <a:ln/>
        </p:spPr>
        <p:txBody>
          <a:bodyPr wrap="square" lIns="0" tIns="0" rIns="0" bIns="0" rtlCol="0" anchor="ctr"/>
          <a:lstStyle/>
          <a:p>
            <a:pPr algn="ctr" indent="0" marL="0">
              <a:buNone/>
            </a:pPr>
            <a:endParaRPr lang="en-US" sz="1100" dirty="0"/>
          </a:p>
        </p:txBody>
      </p:sp>
      <p:sp>
        <p:nvSpPr>
          <p:cNvPr id="40" name="Text 38"/>
          <p:cNvSpPr/>
          <p:nvPr/>
        </p:nvSpPr>
        <p:spPr>
          <a:xfrm>
            <a:off x="7964424" y="3310128"/>
            <a:ext cx="3312871" cy="219456"/>
          </a:xfrm>
          <a:prstGeom prst="rect">
            <a:avLst/>
          </a:prstGeom>
          <a:noFill/>
          <a:ln/>
        </p:spPr>
        <p:txBody>
          <a:bodyPr wrap="square" lIns="0" tIns="0" rIns="0" bIns="0" rtlCol="0" anchor="ctr"/>
          <a:lstStyle/>
          <a:p>
            <a:pPr indent="0" marL="0">
              <a:buNone/>
            </a:pPr>
            <a:r>
              <a:rPr lang="en-US" sz="1050" b="1" dirty="0">
                <a:solidFill>
                  <a:srgbClr val="EFEBE3"/>
                </a:solidFill>
                <a:latin typeface="Yu Gothic" pitchFamily="34" charset="0"/>
                <a:ea typeface="Yu Gothic" pitchFamily="34" charset="-122"/>
                <a:cs typeface="Yu Gothic" pitchFamily="34" charset="-120"/>
              </a:rPr>
              <a:t>解約条件に対して</a:t>
            </a:r>
            <a:endParaRPr lang="en-US" sz="1050" dirty="0"/>
          </a:p>
        </p:txBody>
      </p:sp>
      <p:sp>
        <p:nvSpPr>
          <p:cNvPr id="41" name="Text 39"/>
          <p:cNvSpPr/>
          <p:nvPr/>
        </p:nvSpPr>
        <p:spPr>
          <a:xfrm>
            <a:off x="7964424" y="3538728"/>
            <a:ext cx="3312871" cy="384048"/>
          </a:xfrm>
          <a:prstGeom prst="rect">
            <a:avLst/>
          </a:prstGeom>
          <a:noFill/>
          <a:ln/>
        </p:spPr>
        <p:txBody>
          <a:bodyPr wrap="square" lIns="0" tIns="0" rIns="0" bIns="0" rtlCol="0" anchor="ctr"/>
          <a:lstStyle/>
          <a:p>
            <a:pPr indent="0" marL="0">
              <a:lnSpc>
                <a:spcPct val="118000"/>
              </a:lnSpc>
              <a:buNone/>
            </a:pPr>
            <a:r>
              <a:rPr lang="en-US" sz="900" dirty="0">
                <a:solidFill>
                  <a:srgbClr val="9A938A"/>
                </a:solidFill>
                <a:latin typeface="Yu Gothic" pitchFamily="34" charset="0"/>
                <a:ea typeface="Yu Gothic" pitchFamily="34" charset="-122"/>
                <a:cs typeface="Yu Gothic" pitchFamily="34" charset="-120"/>
              </a:rPr>
              <a:t>運用期間5年・当初3年ロックアップ・4年目以降は年度ごとの解約。</a:t>
            </a:r>
            <a:endParaRPr lang="en-US" sz="900" dirty="0"/>
          </a:p>
        </p:txBody>
      </p:sp>
      <p:sp>
        <p:nvSpPr>
          <p:cNvPr id="42" name="Text 40"/>
          <p:cNvSpPr/>
          <p:nvPr/>
        </p:nvSpPr>
        <p:spPr>
          <a:xfrm>
            <a:off x="7964424" y="3931920"/>
            <a:ext cx="3312871" cy="457200"/>
          </a:xfrm>
          <a:prstGeom prst="rect">
            <a:avLst/>
          </a:prstGeom>
          <a:noFill/>
          <a:ln/>
        </p:spPr>
        <p:txBody>
          <a:bodyPr wrap="square" lIns="0" tIns="0" rIns="0" bIns="0" rtlCol="0" anchor="ctr"/>
          <a:lstStyle/>
          <a:p>
            <a:pPr indent="0" marL="0">
              <a:lnSpc>
                <a:spcPct val="118000"/>
              </a:lnSpc>
              <a:buNone/>
            </a:pPr>
            <a:r>
              <a:rPr lang="en-US" sz="900" dirty="0">
                <a:solidFill>
                  <a:srgbClr val="C9A96E"/>
                </a:solidFill>
                <a:latin typeface="Yu Gothic" pitchFamily="34" charset="0"/>
                <a:ea typeface="Yu Gothic" pitchFamily="34" charset="-122"/>
                <a:cs typeface="Yu Gothic" pitchFamily="34" charset="-120"/>
              </a:rPr>
              <a:t>この設計により現金保有を5%に抑え、総額の95%をワインに充当できる。半期解約を前提とすると稼働率が下がり21.0%→18.7%に低下する。</a:t>
            </a:r>
            <a:endParaRPr lang="en-US" sz="900" dirty="0"/>
          </a:p>
        </p:txBody>
      </p:sp>
      <p:sp>
        <p:nvSpPr>
          <p:cNvPr id="43" name="Shape 41"/>
          <p:cNvSpPr/>
          <p:nvPr/>
        </p:nvSpPr>
        <p:spPr>
          <a:xfrm>
            <a:off x="7726680" y="4558284"/>
            <a:ext cx="137160" cy="137160"/>
          </a:xfrm>
          <a:prstGeom prst="ellipse">
            <a:avLst/>
          </a:prstGeom>
          <a:solidFill>
            <a:srgbClr val="A78450"/>
          </a:solidFill>
          <a:ln w="11430">
            <a:solidFill>
              <a:srgbClr val="A78450"/>
            </a:solidFill>
            <a:prstDash val="solid"/>
          </a:ln>
        </p:spPr>
      </p:sp>
      <p:sp>
        <p:nvSpPr>
          <p:cNvPr id="44" name="Text 42"/>
          <p:cNvSpPr/>
          <p:nvPr/>
        </p:nvSpPr>
        <p:spPr>
          <a:xfrm>
            <a:off x="7726680" y="4558284"/>
            <a:ext cx="137160" cy="137160"/>
          </a:xfrm>
          <a:prstGeom prst="rect">
            <a:avLst/>
          </a:prstGeom>
          <a:noFill/>
          <a:ln/>
        </p:spPr>
        <p:txBody>
          <a:bodyPr wrap="square" lIns="0" tIns="0" rIns="0" bIns="0" rtlCol="0" anchor="ctr"/>
          <a:lstStyle/>
          <a:p>
            <a:pPr algn="ctr" indent="0" marL="0">
              <a:buNone/>
            </a:pPr>
            <a:endParaRPr lang="en-US" sz="1100" dirty="0"/>
          </a:p>
        </p:txBody>
      </p:sp>
      <p:sp>
        <p:nvSpPr>
          <p:cNvPr id="45" name="Text 43"/>
          <p:cNvSpPr/>
          <p:nvPr/>
        </p:nvSpPr>
        <p:spPr>
          <a:xfrm>
            <a:off x="7964424" y="4498848"/>
            <a:ext cx="3312871" cy="219456"/>
          </a:xfrm>
          <a:prstGeom prst="rect">
            <a:avLst/>
          </a:prstGeom>
          <a:noFill/>
          <a:ln/>
        </p:spPr>
        <p:txBody>
          <a:bodyPr wrap="square" lIns="0" tIns="0" rIns="0" bIns="0" rtlCol="0" anchor="ctr"/>
          <a:lstStyle/>
          <a:p>
            <a:pPr indent="0" marL="0">
              <a:buNone/>
            </a:pPr>
            <a:r>
              <a:rPr lang="en-US" sz="1050" b="1" dirty="0">
                <a:solidFill>
                  <a:srgbClr val="EFEBE3"/>
                </a:solidFill>
                <a:latin typeface="Yu Gothic" pitchFamily="34" charset="0"/>
                <a:ea typeface="Yu Gothic" pitchFamily="34" charset="-122"/>
                <a:cs typeface="Yu Gothic" pitchFamily="34" charset="-120"/>
              </a:rPr>
              <a:t>リスク分散に対して</a:t>
            </a:r>
            <a:endParaRPr lang="en-US" sz="1050" dirty="0"/>
          </a:p>
        </p:txBody>
      </p:sp>
      <p:sp>
        <p:nvSpPr>
          <p:cNvPr id="46" name="Text 44"/>
          <p:cNvSpPr/>
          <p:nvPr/>
        </p:nvSpPr>
        <p:spPr>
          <a:xfrm>
            <a:off x="7964424" y="4727448"/>
            <a:ext cx="3312871" cy="384048"/>
          </a:xfrm>
          <a:prstGeom prst="rect">
            <a:avLst/>
          </a:prstGeom>
          <a:noFill/>
          <a:ln/>
        </p:spPr>
        <p:txBody>
          <a:bodyPr wrap="square" lIns="0" tIns="0" rIns="0" bIns="0" rtlCol="0" anchor="ctr"/>
          <a:lstStyle/>
          <a:p>
            <a:pPr indent="0" marL="0">
              <a:lnSpc>
                <a:spcPct val="118000"/>
              </a:lnSpc>
              <a:buNone/>
            </a:pPr>
            <a:r>
              <a:rPr lang="en-US" sz="900" dirty="0">
                <a:solidFill>
                  <a:srgbClr val="9A938A"/>
                </a:solidFill>
                <a:latin typeface="Yu Gothic" pitchFamily="34" charset="0"/>
                <a:ea typeface="Yu Gothic" pitchFamily="34" charset="-122"/>
                <a:cs typeface="Yu Gothic" pitchFamily="34" charset="-120"/>
              </a:rPr>
              <a:t>伝統的資産と相関の低い実物資産。既存30億円のポートフォリオに対し出資5億円は約17%。</a:t>
            </a:r>
            <a:endParaRPr lang="en-US" sz="900" dirty="0"/>
          </a:p>
        </p:txBody>
      </p:sp>
      <p:sp>
        <p:nvSpPr>
          <p:cNvPr id="47" name="Text 45"/>
          <p:cNvSpPr/>
          <p:nvPr/>
        </p:nvSpPr>
        <p:spPr>
          <a:xfrm>
            <a:off x="7964424" y="5120640"/>
            <a:ext cx="3312871" cy="457200"/>
          </a:xfrm>
          <a:prstGeom prst="rect">
            <a:avLst/>
          </a:prstGeom>
          <a:noFill/>
          <a:ln/>
        </p:spPr>
        <p:txBody>
          <a:bodyPr wrap="square" lIns="0" tIns="0" rIns="0" bIns="0" rtlCol="0" anchor="ctr"/>
          <a:lstStyle/>
          <a:p>
            <a:pPr indent="0" marL="0">
              <a:lnSpc>
                <a:spcPct val="118000"/>
              </a:lnSpc>
              <a:buNone/>
            </a:pPr>
            <a:r>
              <a:rPr lang="en-US" sz="900" dirty="0">
                <a:solidFill>
                  <a:srgbClr val="C9A96E"/>
                </a:solidFill>
                <a:latin typeface="Yu Gothic" pitchFamily="34" charset="0"/>
                <a:ea typeface="Yu Gothic" pitchFamily="34" charset="-122"/>
                <a:cs typeface="Yu Gothic" pitchFamily="34" charset="-120"/>
              </a:rPr>
              <a:t>単一銘柄ではなく約3.8万本・複数産地への分散となり、ポートフォリオ内での分散効果が働く。</a:t>
            </a:r>
            <a:endParaRPr lang="en-US" sz="900" dirty="0"/>
          </a:p>
        </p:txBody>
      </p:sp>
      <p:sp>
        <p:nvSpPr>
          <p:cNvPr id="48" name="Shape 46"/>
          <p:cNvSpPr/>
          <p:nvPr/>
        </p:nvSpPr>
        <p:spPr>
          <a:xfrm>
            <a:off x="658368" y="5724144"/>
            <a:ext cx="10874959" cy="566928"/>
          </a:xfrm>
          <a:prstGeom prst="roundRect">
            <a:avLst>
              <a:gd name="adj" fmla="val 7258"/>
            </a:avLst>
          </a:prstGeom>
          <a:solidFill>
            <a:srgbClr val="171614"/>
          </a:solidFill>
          <a:ln w="9525">
            <a:solidFill>
              <a:srgbClr val="2E2A24"/>
            </a:solidFill>
            <a:prstDash val="solid"/>
          </a:ln>
        </p:spPr>
      </p:sp>
      <p:sp>
        <p:nvSpPr>
          <p:cNvPr id="49" name="Text 47"/>
          <p:cNvSpPr/>
          <p:nvPr/>
        </p:nvSpPr>
        <p:spPr>
          <a:xfrm>
            <a:off x="932688" y="5815584"/>
            <a:ext cx="10326319" cy="384048"/>
          </a:xfrm>
          <a:prstGeom prst="rect">
            <a:avLst/>
          </a:prstGeom>
          <a:noFill/>
          <a:ln/>
        </p:spPr>
        <p:txBody>
          <a:bodyPr wrap="square" lIns="0" tIns="0" rIns="0" bIns="0" rtlCol="0" anchor="ctr"/>
          <a:lstStyle/>
          <a:p>
            <a:pPr indent="0" marL="0">
              <a:lnSpc>
                <a:spcPct val="120000"/>
              </a:lnSpc>
              <a:buNone/>
            </a:pPr>
            <a:r>
              <a:rPr lang="en-US" sz="1050" dirty="0">
                <a:solidFill>
                  <a:srgbClr val="EFEBE3"/>
                </a:solidFill>
                <a:latin typeface="Yu Gothic" pitchFamily="34" charset="0"/>
                <a:ea typeface="Yu Gothic" pitchFamily="34" charset="-122"/>
                <a:cs typeface="Yu Gothic" pitchFamily="34" charset="-120"/>
              </a:rPr>
              <a:t>ワインは飲めば消える嗜好品ではなく、正規流通の価格差という再現性のある収益源です。その価格差を取りに行く実務を、55年分の免許と取引関係で担うのがWineBankです。本ファンドは、値上がりを待つ投資ではなく、この実務そのものに出資いただくご提案です。</a:t>
            </a:r>
            <a:endParaRPr lang="en-US" sz="10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0C0C0C"/>
        </a:solidFill>
      </p:bgPr>
    </p:bg>
    <p:spTree>
      <p:nvGrpSpPr>
        <p:cNvPr id="1" name=""/>
        <p:cNvGrpSpPr/>
        <p:nvPr/>
      </p:nvGrpSpPr>
      <p:grpSpPr>
        <a:xfrm>
          <a:off x="0" y="0"/>
          <a:ext cx="0" cy="0"/>
          <a:chOff x="0" y="0"/>
          <a:chExt cx="0" cy="0"/>
        </a:xfrm>
      </p:grpSpPr>
      <p:sp>
        <p:nvSpPr>
          <p:cNvPr id="2" name="Shape 0"/>
          <p:cNvSpPr/>
          <p:nvPr/>
        </p:nvSpPr>
        <p:spPr>
          <a:xfrm>
            <a:off x="-1463040" y="1417320"/>
            <a:ext cx="4023360" cy="4023360"/>
          </a:xfrm>
          <a:prstGeom prst="ellipse">
            <a:avLst/>
          </a:prstGeom>
          <a:solidFill>
            <a:srgbClr val="0C0C0C"/>
          </a:solidFill>
          <a:ln w="13970">
            <a:solidFill>
              <a:srgbClr val="1E1A15"/>
            </a:solidFill>
            <a:prstDash val="solid"/>
          </a:ln>
        </p:spPr>
      </p:sp>
      <p:sp>
        <p:nvSpPr>
          <p:cNvPr id="3" name="Shape 1"/>
          <p:cNvSpPr/>
          <p:nvPr/>
        </p:nvSpPr>
        <p:spPr>
          <a:xfrm>
            <a:off x="9966960" y="-1188720"/>
            <a:ext cx="4023360" cy="4023360"/>
          </a:xfrm>
          <a:prstGeom prst="ellipse">
            <a:avLst/>
          </a:prstGeom>
          <a:solidFill>
            <a:srgbClr val="0C0C0C"/>
          </a:solidFill>
          <a:ln w="11430">
            <a:solidFill>
              <a:srgbClr val="6E5730"/>
            </a:solidFill>
            <a:prstDash val="solid"/>
          </a:ln>
        </p:spPr>
      </p:sp>
      <p:sp>
        <p:nvSpPr>
          <p:cNvPr id="4" name="Text 2"/>
          <p:cNvSpPr/>
          <p:nvPr/>
        </p:nvSpPr>
        <p:spPr>
          <a:xfrm>
            <a:off x="658368" y="2487168"/>
            <a:ext cx="10874959" cy="694944"/>
          </a:xfrm>
          <a:prstGeom prst="rect">
            <a:avLst/>
          </a:prstGeom>
          <a:noFill/>
          <a:ln/>
        </p:spPr>
        <p:txBody>
          <a:bodyPr wrap="square" lIns="0" tIns="0" rIns="0" bIns="0" rtlCol="0" anchor="ctr"/>
          <a:lstStyle/>
          <a:p>
            <a:pPr algn="ctr" indent="0" marL="0">
              <a:buNone/>
            </a:pPr>
            <a:r>
              <a:rPr lang="en-US" sz="3400" b="1" dirty="0">
                <a:solidFill>
                  <a:srgbClr val="EFEBE3"/>
                </a:solidFill>
                <a:latin typeface="Yu Mincho" pitchFamily="34" charset="0"/>
                <a:ea typeface="Yu Mincho" pitchFamily="34" charset="-122"/>
                <a:cs typeface="Yu Mincho" pitchFamily="34" charset="-120"/>
              </a:rPr>
              <a:t>すべての人にファインワインを</a:t>
            </a:r>
            <a:endParaRPr lang="en-US" sz="3400" dirty="0"/>
          </a:p>
        </p:txBody>
      </p:sp>
      <p:sp>
        <p:nvSpPr>
          <p:cNvPr id="5" name="Text 3"/>
          <p:cNvSpPr/>
          <p:nvPr/>
        </p:nvSpPr>
        <p:spPr>
          <a:xfrm>
            <a:off x="658368" y="3255264"/>
            <a:ext cx="10874959" cy="310896"/>
          </a:xfrm>
          <a:prstGeom prst="rect">
            <a:avLst/>
          </a:prstGeom>
          <a:noFill/>
          <a:ln/>
        </p:spPr>
        <p:txBody>
          <a:bodyPr wrap="square" lIns="0" tIns="0" rIns="0" bIns="0" rtlCol="0" anchor="ctr"/>
          <a:lstStyle/>
          <a:p>
            <a:pPr algn="ctr" indent="0" marL="0">
              <a:buNone/>
            </a:pPr>
            <a:r>
              <a:rPr lang="en-US" sz="1300" b="1" spc="450" kern="0" dirty="0">
                <a:solidFill>
                  <a:srgbClr val="A78450"/>
                </a:solidFill>
                <a:latin typeface="Cambria" pitchFamily="34" charset="0"/>
                <a:ea typeface="Cambria" pitchFamily="34" charset="-122"/>
                <a:cs typeface="Cambria" pitchFamily="34" charset="-120"/>
              </a:rPr>
              <a:t>Wine × Technology</a:t>
            </a:r>
            <a:endParaRPr lang="en-US" sz="1300" dirty="0"/>
          </a:p>
        </p:txBody>
      </p:sp>
      <p:sp>
        <p:nvSpPr>
          <p:cNvPr id="6" name="Text 4"/>
          <p:cNvSpPr/>
          <p:nvPr/>
        </p:nvSpPr>
        <p:spPr>
          <a:xfrm>
            <a:off x="658368" y="4133088"/>
            <a:ext cx="10874959" cy="310896"/>
          </a:xfrm>
          <a:prstGeom prst="rect">
            <a:avLst/>
          </a:prstGeom>
          <a:noFill/>
          <a:ln/>
        </p:spPr>
        <p:txBody>
          <a:bodyPr wrap="square" lIns="0" tIns="0" rIns="0" bIns="0" rtlCol="0" anchor="ctr"/>
          <a:lstStyle/>
          <a:p>
            <a:pPr algn="ctr" indent="0" marL="0">
              <a:buNone/>
            </a:pPr>
            <a:r>
              <a:rPr lang="en-US" sz="1500" b="1" dirty="0">
                <a:solidFill>
                  <a:srgbClr val="C9A96E"/>
                </a:solidFill>
                <a:latin typeface="Yu Mincho" pitchFamily="34" charset="0"/>
                <a:ea typeface="Yu Mincho" pitchFamily="34" charset="-122"/>
                <a:cs typeface="Yu Mincho" pitchFamily="34" charset="-120"/>
              </a:rPr>
              <a:t>株式会社WineBank</a:t>
            </a:r>
            <a:endParaRPr lang="en-US" sz="1500" dirty="0"/>
          </a:p>
        </p:txBody>
      </p:sp>
      <p:sp>
        <p:nvSpPr>
          <p:cNvPr id="7" name="Text 5"/>
          <p:cNvSpPr/>
          <p:nvPr/>
        </p:nvSpPr>
        <p:spPr>
          <a:xfrm>
            <a:off x="658368" y="4462272"/>
            <a:ext cx="10874959" cy="256032"/>
          </a:xfrm>
          <a:prstGeom prst="rect">
            <a:avLst/>
          </a:prstGeom>
          <a:noFill/>
          <a:ln/>
        </p:spPr>
        <p:txBody>
          <a:bodyPr wrap="square" lIns="0" tIns="0" rIns="0" bIns="0" rtlCol="0" anchor="ctr"/>
          <a:lstStyle/>
          <a:p>
            <a:pPr algn="ctr" indent="0" marL="0">
              <a:buNone/>
            </a:pPr>
            <a:r>
              <a:rPr lang="en-US" sz="950" dirty="0">
                <a:solidFill>
                  <a:srgbClr val="6E675E"/>
                </a:solidFill>
                <a:latin typeface="Yu Gothic" pitchFamily="34" charset="0"/>
                <a:ea typeface="Yu Gothic" pitchFamily="34" charset="-122"/>
                <a:cs typeface="Yu Gothic" pitchFamily="34" charset="-120"/>
              </a:rPr>
              <a:t>創業1970年　／　東京都港区六本木4-12-8 第6DMJビル 2階</a:t>
            </a:r>
            <a:endParaRPr lang="en-US" sz="950" dirty="0"/>
          </a:p>
        </p:txBody>
      </p:sp>
      <p:sp>
        <p:nvSpPr>
          <p:cNvPr id="8" name="Text 6"/>
          <p:cNvSpPr/>
          <p:nvPr/>
        </p:nvSpPr>
        <p:spPr>
          <a:xfrm>
            <a:off x="658368" y="6437376"/>
            <a:ext cx="5029200" cy="219456"/>
          </a:xfrm>
          <a:prstGeom prst="rect">
            <a:avLst/>
          </a:prstGeom>
          <a:noFill/>
          <a:ln/>
        </p:spPr>
        <p:txBody>
          <a:bodyPr wrap="square" lIns="0" tIns="0" rIns="0" bIns="0" rtlCol="0" anchor="ctr"/>
          <a:lstStyle/>
          <a:p>
            <a:pPr indent="0" marL="0">
              <a:buNone/>
            </a:pPr>
            <a:r>
              <a:rPr lang="en-US" sz="850" dirty="0">
                <a:solidFill>
                  <a:srgbClr val="6E675E"/>
                </a:solidFill>
                <a:latin typeface="Yu Gothic" pitchFamily="34" charset="0"/>
                <a:ea typeface="Yu Gothic" pitchFamily="34" charset="-122"/>
                <a:cs typeface="Yu Gothic" pitchFamily="34" charset="-120"/>
              </a:rPr>
              <a:t>CONFIDENTIAL ｜ 株式会社WineBank</a:t>
            </a:r>
            <a:endParaRPr lang="en-US" sz="850" dirty="0"/>
          </a:p>
        </p:txBody>
      </p:sp>
      <p:sp>
        <p:nvSpPr>
          <p:cNvPr id="9" name="Text 7"/>
          <p:cNvSpPr/>
          <p:nvPr/>
        </p:nvSpPr>
        <p:spPr>
          <a:xfrm>
            <a:off x="10618927" y="6437376"/>
            <a:ext cx="914400" cy="219456"/>
          </a:xfrm>
          <a:prstGeom prst="rect">
            <a:avLst/>
          </a:prstGeom>
          <a:noFill/>
          <a:ln/>
        </p:spPr>
        <p:txBody>
          <a:bodyPr wrap="square" lIns="0" tIns="0" rIns="0" bIns="0" rtlCol="0" anchor="ctr"/>
          <a:lstStyle/>
          <a:p>
            <a:pPr algn="r" indent="0" marL="0">
              <a:buNone/>
            </a:pPr>
            <a:r>
              <a:rPr lang="en-US" sz="950" spc="150" kern="0" dirty="0">
                <a:solidFill>
                  <a:srgbClr val="6E5730"/>
                </a:solidFill>
                <a:latin typeface="Cambria" pitchFamily="34" charset="0"/>
                <a:ea typeface="Cambria" pitchFamily="34" charset="-122"/>
                <a:cs typeface="Cambria" pitchFamily="34" charset="-120"/>
              </a:rPr>
              <a:t>22</a:t>
            </a:r>
            <a:endParaRPr lang="en-US" sz="9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23</Slides>
  <Notes>23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23</vt:i4>
      </vt:variant>
    </vt:vector>
  </HeadingPairs>
  <TitlesOfParts>
    <vt:vector size="2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vector>
  </TitlesOfParts>
  <Company>株式会社WineBank</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ワインファンド（SPC）組成のご提案</dc:title>
  <dc:subject>PptxGenJS Presentation</dc:subject>
  <dc:creator>株式会社WineBank</dc:creator>
  <cp:lastModifiedBy>株式会社WineBank</cp:lastModifiedBy>
  <cp:revision>1</cp:revision>
  <dcterms:created xsi:type="dcterms:W3CDTF">2026-08-16T06:08:56Z</dcterms:created>
  <dcterms:modified xsi:type="dcterms:W3CDTF">2026-08-16T06:08:56Z</dcterms:modified>
</cp:coreProperties>
</file>