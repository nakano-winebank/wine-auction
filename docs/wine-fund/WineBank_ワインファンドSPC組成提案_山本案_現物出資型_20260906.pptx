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投資家利回り（定常年間・％）</a:t>
            </a:r>
          </a:p>
        </c:rich>
      </c:tx>
      <c:layout/>
      <c:overlay val="0"/>
    </c:title>
    <c:autoTitleDeleted val="0"/>
    <c:plotArea>
      <c:layout/>
      <c:barChart>
        <c:barDir val="col"/>
        <c:grouping val="clustered"/>
        <c:varyColors val="0"/>
        <c:ser>
          <c:idx val="0"/>
          <c:order val="0"/>
          <c:tx>
            <c:strRef>
              <c:f>Sheet1!$B$1</c:f>
              <c:strCache>
                <c:ptCount val="1"/>
                <c:pt idx="0">
                  <c:v>投資家利回り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26.5</c:v>
                </c:pt>
                <c:pt idx="1">
                  <c:v>20.4</c:v>
                </c:pt>
                <c:pt idx="2">
                  <c:v>16.7</c:v>
                </c:pt>
                <c:pt idx="3">
                  <c:v>14.3</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 年平均利回り（5年通算・％）</a:t>
            </a:r>
          </a:p>
        </c:rich>
      </c:tx>
      <c:layout/>
      <c:overlay val="0"/>
    </c:title>
    <c:autoTitleDeleted val="0"/>
    <c:plotArea>
      <c:layout/>
      <c:barChart>
        <c:barDir val="col"/>
        <c:grouping val="clustered"/>
        <c:varyColors val="0"/>
        <c:ser>
          <c:idx val="0"/>
          <c:order val="0"/>
          <c:tx>
            <c:strRef>
              <c:f>Sheet1!$B$1</c:f>
              <c:strCache>
                <c:ptCount val="1"/>
                <c:pt idx="0">
                  <c:v>投資家 年平均利回り</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23.7</c:v>
                </c:pt>
                <c:pt idx="1">
                  <c:v>16</c:v>
                </c:pt>
                <c:pt idx="2">
                  <c:v>12.2</c:v>
                </c:pt>
                <c:pt idx="3">
                  <c:v>12.7</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9"/>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在庫回転期間別 投資家利回り（％）</a:t>
            </a:r>
          </a:p>
        </c:rich>
      </c:tx>
      <c:layout/>
      <c:overlay val="0"/>
    </c:title>
    <c:autoTitleDeleted val="0"/>
    <c:plotArea>
      <c:layout/>
      <c:barChart>
        <c:barDir val="col"/>
        <c:grouping val="clustered"/>
        <c:varyColors val="0"/>
        <c:ser>
          <c:idx val="0"/>
          <c:order val="0"/>
          <c:tx>
            <c:strRef>
              <c:f>Sheet1!$B$1</c:f>
              <c:strCache>
                <c:ptCount val="1"/>
                <c:pt idx="0">
                  <c:v>ポジティブ</c:v>
                </c:pt>
              </c:strCache>
            </c:strRef>
          </c:tx>
          <c:spPr>
            <a:solidFill>
              <a:srgbClr val="C9A96E"/>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50.7</c:v>
                </c:pt>
                <c:pt idx="1">
                  <c:v>38.7</c:v>
                </c:pt>
                <c:pt idx="2">
                  <c:v>31.6</c:v>
                </c:pt>
                <c:pt idx="3">
                  <c:v>26.8</c:v>
                </c:pt>
              </c:numCache>
            </c:numRef>
          </c:val>
        </c:ser>
        <c:ser>
          <c:idx val="1"/>
          <c:order val="1"/>
          <c:tx>
            <c:strRef>
              <c:f>Sheet1!$C$1</c:f>
              <c:strCache>
                <c:ptCount val="1"/>
                <c:pt idx="0">
                  <c:v>ニュートラル（主線）</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Sheet1!$C$2:$C$5</c:f>
              <c:numCache>
                <c:formatCode>General</c:formatCode>
                <c:ptCount val="4"/>
                <c:pt idx="0">
                  <c:v>26.5</c:v>
                </c:pt>
                <c:pt idx="1">
                  <c:v>20.4</c:v>
                </c:pt>
                <c:pt idx="2">
                  <c:v>16.7</c:v>
                </c:pt>
                <c:pt idx="3">
                  <c:v>14.3</c:v>
                </c:pt>
              </c:numCache>
            </c:numRef>
          </c:val>
        </c:ser>
        <c:ser>
          <c:idx val="2"/>
          <c:order val="2"/>
          <c:tx>
            <c:strRef>
              <c:f>Sheet1!$D$1</c:f>
              <c:strCache>
                <c:ptCount val="1"/>
                <c:pt idx="0">
                  <c:v>ネガティブ</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Sheet1!$D$2:$D$5</c:f>
              <c:numCache>
                <c:formatCode>General</c:formatCode>
                <c:ptCount val="4"/>
                <c:pt idx="0">
                  <c:v>18.2</c:v>
                </c:pt>
                <c:pt idx="1">
                  <c:v>13.1</c:v>
                </c:pt>
                <c:pt idx="2">
                  <c:v>10.1</c:v>
                </c:pt>
                <c:pt idx="3">
                  <c:v>8</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57"/>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legend>
      <c:legendPos val="b"/>
      <c:overlay val="0"/>
      <c:txPr>
        <a:bodyPr/>
        <a:lstStyle/>
        <a:p>
          <a:pPr>
            <a:defRPr sz="950">
              <a:solidFill>
                <a:srgbClr val="9A938A"/>
              </a:solidFill>
              <a:latin typeface="Yu Gothic"/>
              <a:cs typeface="Yu Gothic"/>
            </a:defRPr>
          </a:pPr>
          <a:endParaRPr lang="en-US"/>
        </a:p>
      </c:txPr>
    </c:legend>
    <c:plotVisOnly val="1"/>
    <c:dispBlanksAs val="span"/>
  </c:chart>
  <c:spPr>
    <a:solidFill>
      <a:srgbClr val="1716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WineBankが総額の60%を現物出資し、投資家と同じ持分で損益を負う構成。ファーストクローズ5億円、年度内にセカンドクローズ10億円。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主線は回転12ヶ月で投資家利回り20.4%、5年通算の年平均16.0%。想定レンジ9〜18ヶ月では14.3%〜26.5%。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投資家帰属分（40%）を折半。管理報酬2%の新設で20.4%。現物出資の評価方法は別途協議。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比率が同じなので利回りはほぼ同じ。問題は必要販売額が倍増すること。セカンドクローズは回転実績を見て判断する。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回転12ヶ月＝年間7.48億円。組入銘柄の選定が最大の手段。20%の分岐点は回転12.2ヶ月。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免許事業者であるWineBankが売買当事者。かつ総額60%の出資者として同じ損益を負う。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免許・口座・割当の3つの壁。現物出資分と現金出資分で取得ルートが分かれる点に注意。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会社紹介資料17ページの流通価格構造を採用。値上がり年6%を保有期間ぶん売値に乗せる。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チャネル別の手取り比較。B2C 71.04 &gt; B2B 69.30。ただし回転を作るにはB2Bが必要。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粗利率30.0%と投下原価利益率47.3%は分母が違うだけ。利回りの源泉は後者。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SPC人件費360万円を管理報酬（総額の年2%）に置き換えた点が前回からの変更。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主線は回転12ヶ月で20.4%。20%の分岐点は回転12.2ヶ月で余裕は0.2ヶ月。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回転期間が一次的にリターンを決める。管理報酬2%の分だけ前回より余裕が小さい。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値上がり効果は約＋4.0ptで一定。これがないと主線でも16.4%で20%を割る。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値引きは割に合わない。チャネル増加が本筋。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3シナリオ比較。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20%の分岐点は回転12.2ヶ月。管理報酬2%の分だけ前回より余裕が縮んでいる。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現物出資により相反は縮小するが、拠出銘柄の選定が新たな論点になる。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高岡先生の指摘事項を条項化。現物出資の評価を開示・相反管理の両方に追加した。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デットの廃止により保証・金利リスクは消え、代わりに現物出資の評価リスクが加わった。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運用期間5年・3年ロックアップ・年度解約。分配は年1回。報告は四半期。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現物出資の評価方法の確定を第2ステップに置く。セカンドクローズは回転実績を見て判断。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最大の訴求点は現物出資60%による利害の一致。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475488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475488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山本案｜WineBank現物出資60%＋投資家出資40%</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FUND ｜ SPC PROPOSAL</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ワインファンド（SPC）</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組成のご提案</a:t>
            </a:r>
            <a:endParaRPr lang="en-US" sz="4100" dirty="0"/>
          </a:p>
        </p:txBody>
      </p:sp>
      <p:sp>
        <p:nvSpPr>
          <p:cNvPr id="11" name="Text 9"/>
          <p:cNvSpPr/>
          <p:nvPr/>
        </p:nvSpPr>
        <p:spPr>
          <a:xfrm>
            <a:off x="658368" y="4133088"/>
            <a:ext cx="877824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ファーストクローズ 5億円 → 年度内セカンドクローズ 10億円 ／ 運用期間5年 ／ 年1回分配</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2026年9月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6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本ファンドの骨子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実物ワインの流通価格差を収益源とする、現物裏付け型の短期回転ファンド。WineBankが総額の60%を現物で出資し、投資家と同じ持分で損益を負う。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64208"/>
            <a:ext cx="2513000" cy="1481328"/>
          </a:xfrm>
          <a:prstGeom prst="roundRect">
            <a:avLst>
              <a:gd name="adj" fmla="val 2778"/>
            </a:avLst>
          </a:prstGeom>
          <a:solidFill>
            <a:srgbClr val="171614"/>
          </a:solidFill>
          <a:ln w="9525">
            <a:solidFill>
              <a:srgbClr val="2E2A24"/>
            </a:solidFill>
            <a:prstDash val="solid"/>
          </a:ln>
        </p:spPr>
      </p:sp>
      <p:sp>
        <p:nvSpPr>
          <p:cNvPr id="8" name="Text 6"/>
          <p:cNvSpPr/>
          <p:nvPr/>
        </p:nvSpPr>
        <p:spPr>
          <a:xfrm>
            <a:off x="89611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60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9" name="Text 7"/>
          <p:cNvSpPr/>
          <p:nvPr/>
        </p:nvSpPr>
        <p:spPr>
          <a:xfrm>
            <a:off x="89611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WineBankの現物出資比率</a:t>
            </a:r>
            <a:endParaRPr lang="en-US" sz="1100" dirty="0"/>
          </a:p>
        </p:txBody>
      </p:sp>
      <p:sp>
        <p:nvSpPr>
          <p:cNvPr id="10" name="Text 8"/>
          <p:cNvSpPr/>
          <p:nvPr/>
        </p:nvSpPr>
        <p:spPr>
          <a:xfrm>
            <a:off x="89611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ファーストクローズ総額5億円のうち現物3億円。現金拠出ではなく自己勘定在庫を拠出する</a:t>
            </a:r>
            <a:endParaRPr lang="en-US" sz="900" dirty="0"/>
          </a:p>
        </p:txBody>
      </p:sp>
      <p:sp>
        <p:nvSpPr>
          <p:cNvPr id="11" name="Shape 9"/>
          <p:cNvSpPr/>
          <p:nvPr/>
        </p:nvSpPr>
        <p:spPr>
          <a:xfrm>
            <a:off x="3445688" y="1664208"/>
            <a:ext cx="2513000" cy="1481328"/>
          </a:xfrm>
          <a:prstGeom prst="roundRect">
            <a:avLst>
              <a:gd name="adj" fmla="val 2778"/>
            </a:avLst>
          </a:prstGeom>
          <a:solidFill>
            <a:srgbClr val="171614"/>
          </a:solidFill>
          <a:ln w="9525">
            <a:solidFill>
              <a:srgbClr val="2E2A24"/>
            </a:solidFill>
            <a:prstDash val="solid"/>
          </a:ln>
        </p:spPr>
      </p:sp>
      <p:sp>
        <p:nvSpPr>
          <p:cNvPr id="12" name="Text 10"/>
          <p:cNvSpPr/>
          <p:nvPr/>
        </p:nvSpPr>
        <p:spPr>
          <a:xfrm>
            <a:off x="368343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2</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400" dirty="0"/>
          </a:p>
        </p:txBody>
      </p:sp>
      <p:sp>
        <p:nvSpPr>
          <p:cNvPr id="13" name="Text 11"/>
          <p:cNvSpPr/>
          <p:nvPr/>
        </p:nvSpPr>
        <p:spPr>
          <a:xfrm>
            <a:off x="368343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投資家出資（1stクローズ）</a:t>
            </a:r>
            <a:endParaRPr lang="en-US" sz="1100" dirty="0"/>
          </a:p>
        </p:txBody>
      </p:sp>
      <p:sp>
        <p:nvSpPr>
          <p:cNvPr id="14" name="Text 12"/>
          <p:cNvSpPr/>
          <p:nvPr/>
        </p:nvSpPr>
        <p:spPr>
          <a:xfrm>
            <a:off x="368343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1口5,000万円以上。年度内のセカンドクローズで投資家出資4億円・総額10億円へ</a:t>
            </a:r>
            <a:endParaRPr lang="en-US" sz="900" dirty="0"/>
          </a:p>
        </p:txBody>
      </p:sp>
      <p:sp>
        <p:nvSpPr>
          <p:cNvPr id="15" name="Shape 13"/>
          <p:cNvSpPr/>
          <p:nvPr/>
        </p:nvSpPr>
        <p:spPr>
          <a:xfrm>
            <a:off x="6233008" y="1664208"/>
            <a:ext cx="2513000" cy="1481328"/>
          </a:xfrm>
          <a:prstGeom prst="roundRect">
            <a:avLst>
              <a:gd name="adj" fmla="val 2778"/>
            </a:avLst>
          </a:prstGeom>
          <a:solidFill>
            <a:srgbClr val="171614"/>
          </a:solidFill>
          <a:ln w="9525">
            <a:solidFill>
              <a:srgbClr val="2E2A24"/>
            </a:solidFill>
            <a:prstDash val="solid"/>
          </a:ln>
        </p:spPr>
      </p:sp>
      <p:sp>
        <p:nvSpPr>
          <p:cNvPr id="16" name="Text 14"/>
          <p:cNvSpPr/>
          <p:nvPr/>
        </p:nvSpPr>
        <p:spPr>
          <a:xfrm>
            <a:off x="647075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12</a:t>
            </a:r>
            <a:pPr indent="0" marL="0">
              <a:buNone/>
            </a:pPr>
            <a:r>
              <a:rPr lang="en-US" sz="1250" b="1" dirty="0">
                <a:solidFill>
                  <a:srgbClr val="C9A96E"/>
                </a:solidFill>
                <a:latin typeface="Yu Gothic" pitchFamily="34" charset="0"/>
                <a:ea typeface="Yu Gothic" pitchFamily="34" charset="-122"/>
                <a:cs typeface="Yu Gothic" pitchFamily="34" charset="-120"/>
              </a:rPr>
              <a:t> ヶ月</a:t>
            </a:r>
            <a:endParaRPr lang="en-US" sz="3400" dirty="0"/>
          </a:p>
        </p:txBody>
      </p:sp>
      <p:sp>
        <p:nvSpPr>
          <p:cNvPr id="17" name="Text 15"/>
          <p:cNvSpPr/>
          <p:nvPr/>
        </p:nvSpPr>
        <p:spPr>
          <a:xfrm>
            <a:off x="647075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在庫回転期間（主線）</a:t>
            </a:r>
            <a:endParaRPr lang="en-US" sz="1100" dirty="0"/>
          </a:p>
        </p:txBody>
      </p:sp>
      <p:sp>
        <p:nvSpPr>
          <p:cNvPr id="18" name="Text 16"/>
          <p:cNvSpPr/>
          <p:nvPr/>
        </p:nvSpPr>
        <p:spPr>
          <a:xfrm>
            <a:off x="647075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最短9ヶ月、延びても15〜18ヶ月を想定レンジとする</a:t>
            </a:r>
            <a:endParaRPr lang="en-US" sz="900" dirty="0"/>
          </a:p>
        </p:txBody>
      </p:sp>
      <p:sp>
        <p:nvSpPr>
          <p:cNvPr id="19" name="Shape 17"/>
          <p:cNvSpPr/>
          <p:nvPr/>
        </p:nvSpPr>
        <p:spPr>
          <a:xfrm>
            <a:off x="9020327" y="1664208"/>
            <a:ext cx="2513000" cy="1481328"/>
          </a:xfrm>
          <a:prstGeom prst="roundRect">
            <a:avLst>
              <a:gd name="adj" fmla="val 2778"/>
            </a:avLst>
          </a:prstGeom>
          <a:solidFill>
            <a:srgbClr val="1F1D19"/>
          </a:solidFill>
          <a:ln w="9525">
            <a:solidFill>
              <a:srgbClr val="6E5730"/>
            </a:solidFill>
            <a:prstDash val="solid"/>
          </a:ln>
        </p:spPr>
      </p:sp>
      <p:sp>
        <p:nvSpPr>
          <p:cNvPr id="20" name="Text 18"/>
          <p:cNvSpPr/>
          <p:nvPr/>
        </p:nvSpPr>
        <p:spPr>
          <a:xfrm>
            <a:off x="9258071" y="1847088"/>
            <a:ext cx="2037512"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20.4</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1" name="Text 19"/>
          <p:cNvSpPr/>
          <p:nvPr/>
        </p:nvSpPr>
        <p:spPr>
          <a:xfrm>
            <a:off x="9258071"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投資家利回り（定常年間）</a:t>
            </a:r>
            <a:endParaRPr lang="en-US" sz="1100" dirty="0"/>
          </a:p>
        </p:txBody>
      </p:sp>
      <p:sp>
        <p:nvSpPr>
          <p:cNvPr id="22" name="Text 20"/>
          <p:cNvSpPr/>
          <p:nvPr/>
        </p:nvSpPr>
        <p:spPr>
          <a:xfrm>
            <a:off x="9258071"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出資2億円に対する取分。5年通算の年平均は16.0%</a:t>
            </a:r>
            <a:endParaRPr lang="en-US" sz="900" dirty="0"/>
          </a:p>
        </p:txBody>
      </p:sp>
      <p:sp>
        <p:nvSpPr>
          <p:cNvPr id="23" name="Shape 21"/>
          <p:cNvSpPr/>
          <p:nvPr/>
        </p:nvSpPr>
        <p:spPr>
          <a:xfrm>
            <a:off x="658368" y="3419856"/>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41985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01</a:t>
            </a:r>
            <a:endParaRPr lang="en-US" sz="850" dirty="0"/>
          </a:p>
        </p:txBody>
      </p:sp>
      <p:sp>
        <p:nvSpPr>
          <p:cNvPr id="25" name="Text 23"/>
          <p:cNvSpPr/>
          <p:nvPr/>
        </p:nvSpPr>
        <p:spPr>
          <a:xfrm>
            <a:off x="1078992" y="338328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WineBankが総額の60%を現物で出資し、同じ船に乗る。</a:t>
            </a:r>
            <a:endParaRPr lang="en-US" sz="1200" dirty="0"/>
          </a:p>
        </p:txBody>
      </p:sp>
      <p:sp>
        <p:nvSpPr>
          <p:cNvPr id="26" name="Text 24"/>
          <p:cNvSpPr/>
          <p:nvPr/>
        </p:nvSpPr>
        <p:spPr>
          <a:xfrm>
            <a:off x="1078992" y="362102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デットを廃し、WineBankが自己勘定のワイン現物3億円を出資する。現金の拠出ではないが、投資家と同じ持分として損益をそのまま負う。値付けで抜く動機は構造的に生じない。</a:t>
            </a:r>
            <a:endParaRPr lang="en-US" sz="950" dirty="0"/>
          </a:p>
        </p:txBody>
      </p:sp>
      <p:sp>
        <p:nvSpPr>
          <p:cNvPr id="27" name="Shape 25"/>
          <p:cNvSpPr/>
          <p:nvPr/>
        </p:nvSpPr>
        <p:spPr>
          <a:xfrm>
            <a:off x="658368" y="4059936"/>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5993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02</a:t>
            </a:r>
            <a:endParaRPr lang="en-US" sz="850" dirty="0"/>
          </a:p>
        </p:txBody>
      </p:sp>
      <p:sp>
        <p:nvSpPr>
          <p:cNvPr id="29" name="Text 27"/>
          <p:cNvSpPr/>
          <p:nvPr/>
        </p:nvSpPr>
        <p:spPr>
          <a:xfrm>
            <a:off x="1078992" y="402336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在庫回転12ヶ月で売り切る。組入銘柄の選定と配分ルールで実現する。</a:t>
            </a:r>
            <a:endParaRPr lang="en-US" sz="1200" dirty="0"/>
          </a:p>
        </p:txBody>
      </p:sp>
      <p:sp>
        <p:nvSpPr>
          <p:cNvPr id="30" name="Text 28"/>
          <p:cNvSpPr/>
          <p:nvPr/>
        </p:nvSpPr>
        <p:spPr>
          <a:xfrm>
            <a:off x="1078992" y="426110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流動性の高い銘柄をSPCに組み入れる。回転12ヶ月に必要な年間販売額は7.48億円。最短9ヶ月、延びても15〜18ヶ月を想定レンジとする。</a:t>
            </a:r>
            <a:endParaRPr lang="en-US" sz="950" dirty="0"/>
          </a:p>
        </p:txBody>
      </p:sp>
      <p:sp>
        <p:nvSpPr>
          <p:cNvPr id="31" name="Shape 29"/>
          <p:cNvSpPr/>
          <p:nvPr/>
        </p:nvSpPr>
        <p:spPr>
          <a:xfrm>
            <a:off x="658368" y="4700016"/>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70001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03</a:t>
            </a:r>
            <a:endParaRPr lang="en-US" sz="850" dirty="0"/>
          </a:p>
        </p:txBody>
      </p:sp>
      <p:sp>
        <p:nvSpPr>
          <p:cNvPr id="33" name="Text 31"/>
          <p:cNvSpPr/>
          <p:nvPr/>
        </p:nvSpPr>
        <p:spPr>
          <a:xfrm>
            <a:off x="1078992" y="466344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収益は「流通価格差」と「ワインの値上がり」の二階建て。</a:t>
            </a:r>
            <a:endParaRPr lang="en-US" sz="1200" dirty="0"/>
          </a:p>
        </p:txBody>
      </p:sp>
      <p:sp>
        <p:nvSpPr>
          <p:cNvPr id="34" name="Text 32"/>
          <p:cNvSpPr/>
          <p:nvPr/>
        </p:nvSpPr>
        <p:spPr>
          <a:xfrm>
            <a:off x="1078992" y="490118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同一商品の流通段階間の価格差（フロー）に加え、保有期間中の価格上昇年6%（ストック）が乗る。値上がり分は保有期間によらず利回りを底上げする。</a:t>
            </a:r>
            <a:endParaRPr lang="en-US" sz="950" dirty="0"/>
          </a:p>
        </p:txBody>
      </p:sp>
      <p:sp>
        <p:nvSpPr>
          <p:cNvPr id="35" name="Shape 33"/>
          <p:cNvSpPr/>
          <p:nvPr/>
        </p:nvSpPr>
        <p:spPr>
          <a:xfrm>
            <a:off x="658368" y="5340096"/>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34009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04</a:t>
            </a:r>
            <a:endParaRPr lang="en-US" sz="850" dirty="0"/>
          </a:p>
        </p:txBody>
      </p:sp>
      <p:sp>
        <p:nvSpPr>
          <p:cNvPr id="37" name="Text 35"/>
          <p:cNvSpPr/>
          <p:nvPr/>
        </p:nvSpPr>
        <p:spPr>
          <a:xfrm>
            <a:off x="1078992" y="530352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報酬は成功報酬（折半）と管理報酬年2%の二本立て。</a:t>
            </a:r>
            <a:endParaRPr lang="en-US" sz="1200" dirty="0"/>
          </a:p>
        </p:txBody>
      </p:sp>
      <p:sp>
        <p:nvSpPr>
          <p:cNvPr id="38" name="Text 36"/>
          <p:cNvSpPr/>
          <p:nvPr/>
        </p:nvSpPr>
        <p:spPr>
          <a:xfrm>
            <a:off x="1078992" y="554126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SPC税前利益のうち投資家出資分に帰属する分（40%）を投資家とWineBankで折半する。折半の定義は従来から変更していない。加えて総額の年2%（ファーストクローズで10百万円）を管理報酬として計上し、従来のSPC人件費360万円はこれに置き換える。</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CAPITAL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資本構成とリターンの配分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総額5億円をWineBankの現物出資3億円（60%）と投資家出資2億円（40%）で構成する。投資家に帰属する利益を折半する報酬体系は従来どおり。</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27632"/>
            <a:ext cx="3442106" cy="1700784"/>
          </a:xfrm>
          <a:prstGeom prst="roundRect">
            <a:avLst>
              <a:gd name="adj" fmla="val 2419"/>
            </a:avLst>
          </a:prstGeom>
          <a:solidFill>
            <a:srgbClr val="171614"/>
          </a:solidFill>
          <a:ln w="9525">
            <a:solidFill>
              <a:srgbClr val="2E2A24"/>
            </a:solidFill>
            <a:prstDash val="solid"/>
          </a:ln>
        </p:spPr>
      </p:sp>
      <p:sp>
        <p:nvSpPr>
          <p:cNvPr id="8" name="Text 6"/>
          <p:cNvSpPr/>
          <p:nvPr/>
        </p:nvSpPr>
        <p:spPr>
          <a:xfrm>
            <a:off x="896112"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現物出資｜WineBank</a:t>
            </a:r>
            <a:endParaRPr lang="en-US" sz="1150" dirty="0"/>
          </a:p>
        </p:txBody>
      </p:sp>
      <p:sp>
        <p:nvSpPr>
          <p:cNvPr id="9" name="Text 7"/>
          <p:cNvSpPr/>
          <p:nvPr/>
        </p:nvSpPr>
        <p:spPr>
          <a:xfrm>
            <a:off x="896112"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3.0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0" name="Text 8"/>
          <p:cNvSpPr/>
          <p:nvPr/>
        </p:nvSpPr>
        <p:spPr>
          <a:xfrm>
            <a:off x="896112" y="2487168"/>
            <a:ext cx="2966618" cy="219456"/>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総額の60%（ワイン現物）</a:t>
            </a:r>
            <a:endParaRPr lang="en-US" sz="1000" dirty="0"/>
          </a:p>
        </p:txBody>
      </p:sp>
      <p:sp>
        <p:nvSpPr>
          <p:cNvPr id="11" name="Text 9"/>
          <p:cNvSpPr/>
          <p:nvPr/>
        </p:nvSpPr>
        <p:spPr>
          <a:xfrm>
            <a:off x="896112"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・自己勘定のワイン現物を拠出</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・現金の拠出ではない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・投資家と同じ持分として損益を負う</a:t>
            </a:r>
            <a:endParaRPr lang="en-US" sz="900" dirty="0"/>
          </a:p>
        </p:txBody>
      </p:sp>
      <p:sp>
        <p:nvSpPr>
          <p:cNvPr id="12" name="Shape 10"/>
          <p:cNvSpPr/>
          <p:nvPr/>
        </p:nvSpPr>
        <p:spPr>
          <a:xfrm>
            <a:off x="4374794" y="1627632"/>
            <a:ext cx="3442106" cy="1700784"/>
          </a:xfrm>
          <a:prstGeom prst="roundRect">
            <a:avLst>
              <a:gd name="adj" fmla="val 2419"/>
            </a:avLst>
          </a:prstGeom>
          <a:solidFill>
            <a:srgbClr val="1F1D19"/>
          </a:solidFill>
          <a:ln w="9525">
            <a:solidFill>
              <a:srgbClr val="6E5730"/>
            </a:solidFill>
            <a:prstDash val="solid"/>
          </a:ln>
        </p:spPr>
      </p:sp>
      <p:sp>
        <p:nvSpPr>
          <p:cNvPr id="13" name="Text 11"/>
          <p:cNvSpPr/>
          <p:nvPr/>
        </p:nvSpPr>
        <p:spPr>
          <a:xfrm>
            <a:off x="4612538" y="1773936"/>
            <a:ext cx="2966618"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出資｜投資家</a:t>
            </a:r>
            <a:endParaRPr lang="en-US" sz="1150" dirty="0"/>
          </a:p>
        </p:txBody>
      </p:sp>
      <p:sp>
        <p:nvSpPr>
          <p:cNvPr id="14" name="Text 12"/>
          <p:cNvSpPr/>
          <p:nvPr/>
        </p:nvSpPr>
        <p:spPr>
          <a:xfrm>
            <a:off x="4612538"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2.0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5" name="Text 13"/>
          <p:cNvSpPr/>
          <p:nvPr/>
        </p:nvSpPr>
        <p:spPr>
          <a:xfrm>
            <a:off x="4612538" y="2487168"/>
            <a:ext cx="2966618" cy="219456"/>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投資家帰属利益の50%を受領</a:t>
            </a:r>
            <a:endParaRPr lang="en-US" sz="1000" dirty="0"/>
          </a:p>
        </p:txBody>
      </p:sp>
      <p:sp>
        <p:nvSpPr>
          <p:cNvPr id="16" name="Text 14"/>
          <p:cNvSpPr/>
          <p:nvPr/>
        </p:nvSpPr>
        <p:spPr>
          <a:xfrm>
            <a:off x="4612538"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・匿名組合出資（1口5,000万円以上）</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・満期に元本償還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・年1回分配（4年目以降は解約可）</a:t>
            </a:r>
            <a:endParaRPr lang="en-US" sz="900" dirty="0"/>
          </a:p>
        </p:txBody>
      </p:sp>
      <p:sp>
        <p:nvSpPr>
          <p:cNvPr id="17" name="Shape 15"/>
          <p:cNvSpPr/>
          <p:nvPr/>
        </p:nvSpPr>
        <p:spPr>
          <a:xfrm>
            <a:off x="8091221" y="1627632"/>
            <a:ext cx="3442106" cy="1700784"/>
          </a:xfrm>
          <a:prstGeom prst="roundRect">
            <a:avLst>
              <a:gd name="adj" fmla="val 2419"/>
            </a:avLst>
          </a:prstGeom>
          <a:solidFill>
            <a:srgbClr val="171614"/>
          </a:solidFill>
          <a:ln w="9525">
            <a:solidFill>
              <a:srgbClr val="2E2A24"/>
            </a:solidFill>
            <a:prstDash val="solid"/>
          </a:ln>
        </p:spPr>
      </p:sp>
      <p:sp>
        <p:nvSpPr>
          <p:cNvPr id="18" name="Text 16"/>
          <p:cNvSpPr/>
          <p:nvPr/>
        </p:nvSpPr>
        <p:spPr>
          <a:xfrm>
            <a:off x="8328965"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WineBank受取</a:t>
            </a:r>
            <a:endParaRPr lang="en-US" sz="1150" dirty="0"/>
          </a:p>
        </p:txBody>
      </p:sp>
      <p:sp>
        <p:nvSpPr>
          <p:cNvPr id="19" name="Text 17"/>
          <p:cNvSpPr/>
          <p:nvPr/>
        </p:nvSpPr>
        <p:spPr>
          <a:xfrm>
            <a:off x="8328965"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173</a:t>
            </a:r>
            <a:pPr indent="0" marL="0">
              <a:buNone/>
            </a:pPr>
            <a:r>
              <a:rPr lang="en-US" sz="1200" b="1" dirty="0">
                <a:solidFill>
                  <a:srgbClr val="C9A96E"/>
                </a:solidFill>
                <a:latin typeface="Yu Gothic" pitchFamily="34" charset="0"/>
                <a:ea typeface="Yu Gothic" pitchFamily="34" charset="-122"/>
                <a:cs typeface="Yu Gothic" pitchFamily="34" charset="-120"/>
              </a:rPr>
              <a:t> 百万円</a:t>
            </a:r>
            <a:endParaRPr lang="en-US" sz="2800" dirty="0"/>
          </a:p>
        </p:txBody>
      </p:sp>
      <p:sp>
        <p:nvSpPr>
          <p:cNvPr id="20" name="Text 18"/>
          <p:cNvSpPr/>
          <p:nvPr/>
        </p:nvSpPr>
        <p:spPr>
          <a:xfrm>
            <a:off x="8328965" y="2487168"/>
            <a:ext cx="2966618" cy="219456"/>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持分122＋成功報酬41＋管理報酬10（百万円）</a:t>
            </a:r>
            <a:endParaRPr lang="en-US" sz="1000" dirty="0"/>
          </a:p>
        </p:txBody>
      </p:sp>
      <p:sp>
        <p:nvSpPr>
          <p:cNvPr id="21" name="Text 19"/>
          <p:cNvSpPr/>
          <p:nvPr/>
        </p:nvSpPr>
        <p:spPr>
          <a:xfrm>
            <a:off x="8328965"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・現物出資分の持分利益を受領</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・成功報酬は投資家帰属利益の50%</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・管理報酬は総額の年2%</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419856"/>
          <a:ext cx="10874959" cy="914400"/>
        </p:xfrm>
        <a:graphic>
          <a:graphicData uri="http://schemas.openxmlformats.org/drawingml/2006/table">
            <a:tbl>
              <a:tblPr/>
              <a:tblGrid>
                <a:gridCol w="2487168"/>
                <a:gridCol w="1627632"/>
                <a:gridCol w="6757416"/>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2.04億円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在庫回転12ヶ月・年間売上7.48億円。管理報酬10百万円を費用計上した後の金額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投資家帰属分（40%）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81百万円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投資家出資2億円÷総額5億円＝40%。この分を投資家とWineBankで折半する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投資家</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41百万円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出資2億円に対し 投資家利回り 20.4%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WineBank</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41百万円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投資家帰属利益の50%（成功報酬）。定義は従来から変更していない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WineBank出資分帰属（60%）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122百万円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現物出資3億円に対する持分。出資者として損益をそのまま負う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管理報酬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10百万円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総額の年2%。従来のSPC人件費360万円に代えて計上。うち60%はWineBank自身の出資分に対応する自己負担分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Shape 20"/>
          <p:cNvSpPr/>
          <p:nvPr/>
        </p:nvSpPr>
        <p:spPr>
          <a:xfrm>
            <a:off x="658368" y="5504688"/>
            <a:ext cx="10874959" cy="859536"/>
          </a:xfrm>
          <a:prstGeom prst="roundRect">
            <a:avLst>
              <a:gd name="adj" fmla="val 4787"/>
            </a:avLst>
          </a:prstGeom>
          <a:solidFill>
            <a:srgbClr val="1F1D19"/>
          </a:solidFill>
          <a:ln w="9525">
            <a:solidFill>
              <a:srgbClr val="6E5730"/>
            </a:solidFill>
            <a:prstDash val="solid"/>
          </a:ln>
        </p:spPr>
      </p:sp>
      <p:sp>
        <p:nvSpPr>
          <p:cNvPr id="24" name="Text 21"/>
          <p:cNvSpPr/>
          <p:nvPr/>
        </p:nvSpPr>
        <p:spPr>
          <a:xfrm>
            <a:off x="932688" y="5577840"/>
            <a:ext cx="5120640" cy="201168"/>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前回資料（デット型）からの変更（回転12ヶ月）</a:t>
            </a:r>
            <a:endParaRPr lang="en-US" sz="1050" dirty="0"/>
          </a:p>
        </p:txBody>
      </p:sp>
      <p:sp>
        <p:nvSpPr>
          <p:cNvPr id="25" name="Text 22"/>
          <p:cNvSpPr/>
          <p:nvPr/>
        </p:nvSpPr>
        <p:spPr>
          <a:xfrm>
            <a:off x="932688" y="5797296"/>
            <a:ext cx="10326319"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① 前回：デット2億＋エクイティ3億・折半 </a:t>
            </a:r>
            <a:pPr indent="0" marL="0">
              <a:buNone/>
            </a:pPr>
            <a:r>
              <a:rPr lang="en-US" sz="1200" b="1" dirty="0">
                <a:solidFill>
                  <a:srgbClr val="EFEBE3"/>
                </a:solidFill>
                <a:latin typeface="Cambria" pitchFamily="34" charset="0"/>
                <a:ea typeface="Cambria" pitchFamily="34" charset="-122"/>
                <a:cs typeface="Cambria" pitchFamily="34" charset="-120"/>
              </a:rPr>
              <a:t>21.0%</a:t>
            </a:r>
            <a:pPr indent="0" marL="0">
              <a:buNone/>
            </a:pPr>
            <a:r>
              <a:rPr lang="en-US" sz="950" dirty="0">
                <a:solidFill>
                  <a:srgbClr val="9A938A"/>
                </a:solidFill>
                <a:latin typeface="Yu Gothic" pitchFamily="34" charset="0"/>
                <a:ea typeface="Yu Gothic" pitchFamily="34" charset="-122"/>
                <a:cs typeface="Yu Gothic" pitchFamily="34" charset="-120"/>
              </a:rPr>
              <a:t>　→　② デットを廃しWineBank現物出資60%へ </a:t>
            </a:r>
            <a:pPr indent="0" marL="0">
              <a:buNone/>
            </a:pPr>
            <a:r>
              <a:rPr lang="en-US" sz="1200" b="1" dirty="0">
                <a:solidFill>
                  <a:srgbClr val="EFEBE3"/>
                </a:solidFill>
                <a:latin typeface="Cambria" pitchFamily="34" charset="0"/>
                <a:ea typeface="Cambria" pitchFamily="34" charset="-122"/>
                <a:cs typeface="Cambria" pitchFamily="34" charset="-120"/>
              </a:rPr>
              <a:t>21.4%</a:t>
            </a:r>
            <a:pPr indent="0" marL="0">
              <a:buNone/>
            </a:pPr>
            <a:r>
              <a:rPr lang="en-US" sz="950" dirty="0">
                <a:solidFill>
                  <a:srgbClr val="9A938A"/>
                </a:solidFill>
                <a:latin typeface="Yu Gothic" pitchFamily="34" charset="0"/>
                <a:ea typeface="Yu Gothic" pitchFamily="34" charset="-122"/>
                <a:cs typeface="Yu Gothic" pitchFamily="34" charset="-120"/>
              </a:rPr>
              <a:t>　→　③ 管理報酬 年2% を新設 </a:t>
            </a:r>
            <a:pPr indent="0" marL="0">
              <a:buNone/>
            </a:pPr>
            <a:r>
              <a:rPr lang="en-US" sz="1200" b="1" dirty="0">
                <a:solidFill>
                  <a:srgbClr val="C9A96E"/>
                </a:solidFill>
                <a:latin typeface="Cambria" pitchFamily="34" charset="0"/>
                <a:ea typeface="Cambria" pitchFamily="34" charset="-122"/>
                <a:cs typeface="Cambria" pitchFamily="34" charset="-120"/>
              </a:rPr>
              <a:t>20.4%</a:t>
            </a:r>
            <a:endParaRPr lang="en-US" sz="950" dirty="0"/>
          </a:p>
        </p:txBody>
      </p:sp>
      <p:sp>
        <p:nvSpPr>
          <p:cNvPr id="26" name="Text 23"/>
          <p:cNvSpPr/>
          <p:nvPr/>
        </p:nvSpPr>
        <p:spPr>
          <a:xfrm>
            <a:off x="932688" y="6035040"/>
            <a:ext cx="10326319" cy="219456"/>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折半の定義は一貫して変更していない。投資家の取分＝SPC税前利益×出資比率40%×50%。管理報酬年2%の新設により投資家利回りは▲1.0pt低下し、20%の分岐点は回転12.7ヶ月から回転12.2ヶ月へ縮まる。現物出資するワインの評価方法は組成時の別途協議事項とし、本試算ではSPC取得原価を前回と同じ定価比50.50に置いている。</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STAGED CLOSING</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段階クローズ：5億円から始め、年度内に10億円へ</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同じ資本構成（WineBank現物出資60%＋投資家出資40%）のまま規模だけを拡大する。比率が同じため利回りはほぼ変わらない。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627632"/>
            <a:ext cx="5291176" cy="1810512"/>
          </a:xfrm>
          <a:prstGeom prst="roundRect">
            <a:avLst>
              <a:gd name="adj" fmla="val 2273"/>
            </a:avLst>
          </a:prstGeom>
          <a:solidFill>
            <a:srgbClr val="1F1D19"/>
          </a:solidFill>
          <a:ln w="9525">
            <a:solidFill>
              <a:srgbClr val="6E5730"/>
            </a:solidFill>
            <a:prstDash val="solid"/>
          </a:ln>
        </p:spPr>
      </p:sp>
      <p:sp>
        <p:nvSpPr>
          <p:cNvPr id="8" name="Text 6"/>
          <p:cNvSpPr/>
          <p:nvPr/>
        </p:nvSpPr>
        <p:spPr>
          <a:xfrm>
            <a:off x="914400" y="1773936"/>
            <a:ext cx="4779112" cy="201168"/>
          </a:xfrm>
          <a:prstGeom prst="rect">
            <a:avLst/>
          </a:prstGeom>
          <a:noFill/>
          <a:ln/>
        </p:spPr>
        <p:txBody>
          <a:bodyPr wrap="square" lIns="0" tIns="0" rIns="0" bIns="0" rtlCol="0" anchor="ctr"/>
          <a:lstStyle/>
          <a:p>
            <a:pPr indent="0" marL="0">
              <a:buNone/>
            </a:pPr>
            <a:r>
              <a:rPr lang="en-US" sz="950" b="1" spc="240" kern="0" dirty="0">
                <a:solidFill>
                  <a:srgbClr val="A78450"/>
                </a:solidFill>
                <a:latin typeface="Cambria" pitchFamily="34" charset="0"/>
                <a:ea typeface="Cambria" pitchFamily="34" charset="-122"/>
                <a:cs typeface="Cambria" pitchFamily="34" charset="-120"/>
              </a:rPr>
              <a:t>FIRST CLOSE</a:t>
            </a:r>
            <a:endParaRPr lang="en-US" sz="950" dirty="0"/>
          </a:p>
        </p:txBody>
      </p:sp>
      <p:sp>
        <p:nvSpPr>
          <p:cNvPr id="9" name="Text 7"/>
          <p:cNvSpPr/>
          <p:nvPr/>
        </p:nvSpPr>
        <p:spPr>
          <a:xfrm>
            <a:off x="914400" y="1975104"/>
            <a:ext cx="4779112"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ファーストクローズ</a:t>
            </a:r>
            <a:endParaRPr lang="en-US" sz="1250" dirty="0"/>
          </a:p>
        </p:txBody>
      </p:sp>
      <p:sp>
        <p:nvSpPr>
          <p:cNvPr id="10" name="Text 8"/>
          <p:cNvSpPr/>
          <p:nvPr/>
        </p:nvSpPr>
        <p:spPr>
          <a:xfrm>
            <a:off x="914400" y="2286000"/>
            <a:ext cx="4779112" cy="438912"/>
          </a:xfrm>
          <a:prstGeom prst="rect">
            <a:avLst/>
          </a:prstGeom>
          <a:noFill/>
          <a:ln/>
        </p:spPr>
        <p:txBody>
          <a:bodyPr wrap="square" lIns="0" tIns="0" rIns="0" bIns="0" rtlCol="0" anchor="ctr"/>
          <a:lstStyle/>
          <a:p>
            <a:pPr indent="0" marL="0">
              <a:buNone/>
            </a:pPr>
            <a:r>
              <a:rPr lang="en-US" sz="1100" dirty="0">
                <a:solidFill>
                  <a:srgbClr val="9A938A"/>
                </a:solidFill>
                <a:latin typeface="Yu Gothic" pitchFamily="34" charset="0"/>
                <a:ea typeface="Yu Gothic" pitchFamily="34" charset="-122"/>
                <a:cs typeface="Yu Gothic" pitchFamily="34" charset="-120"/>
              </a:rPr>
              <a:t>総額 </a:t>
            </a:r>
            <a:pPr indent="0" marL="0">
              <a:buNone/>
            </a:pPr>
            <a:r>
              <a:rPr lang="en-US" sz="2600" b="1" dirty="0">
                <a:solidFill>
                  <a:srgbClr val="C9A96E"/>
                </a:solidFill>
                <a:latin typeface="Cambria" pitchFamily="34" charset="0"/>
                <a:ea typeface="Cambria" pitchFamily="34" charset="-122"/>
                <a:cs typeface="Cambria" pitchFamily="34" charset="-120"/>
              </a:rPr>
              <a:t>5億円</a:t>
            </a:r>
            <a:pPr indent="0" marL="0">
              <a:buNone/>
            </a:pPr>
            <a:r>
              <a:rPr lang="en-US" sz="1100" dirty="0">
                <a:solidFill>
                  <a:srgbClr val="EFEBE3"/>
                </a:solidFill>
                <a:latin typeface="Yu Gothic" pitchFamily="34" charset="0"/>
                <a:ea typeface="Yu Gothic" pitchFamily="34" charset="-122"/>
                <a:cs typeface="Yu Gothic" pitchFamily="34" charset="-120"/>
              </a:rPr>
              <a:t>　＝　WineBank現物 3億円 ＋ 投資家 2億円</a:t>
            </a:r>
            <a:endParaRPr lang="en-US" sz="1100" dirty="0"/>
          </a:p>
        </p:txBody>
      </p:sp>
      <p:sp>
        <p:nvSpPr>
          <p:cNvPr id="11" name="Text 9"/>
          <p:cNvSpPr/>
          <p:nvPr/>
        </p:nvSpPr>
        <p:spPr>
          <a:xfrm>
            <a:off x="914400" y="2779776"/>
            <a:ext cx="4779112"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必要な年間販売額　7.48億円　／　投資家利回り　20.4%</a:t>
            </a:r>
            <a:endParaRPr lang="en-US" sz="1050" dirty="0"/>
          </a:p>
        </p:txBody>
      </p:sp>
      <p:sp>
        <p:nvSpPr>
          <p:cNvPr id="12" name="Text 10"/>
          <p:cNvSpPr/>
          <p:nvPr/>
        </p:nvSpPr>
        <p:spPr>
          <a:xfrm>
            <a:off x="914400" y="3035808"/>
            <a:ext cx="4779112" cy="310896"/>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まず5億円で組成し、回転12ヶ月の実績を作る</a:t>
            </a:r>
            <a:endParaRPr lang="en-US" sz="950" dirty="0"/>
          </a:p>
        </p:txBody>
      </p:sp>
      <p:sp>
        <p:nvSpPr>
          <p:cNvPr id="13" name="Shape 11"/>
          <p:cNvSpPr/>
          <p:nvPr/>
        </p:nvSpPr>
        <p:spPr>
          <a:xfrm>
            <a:off x="6242152" y="1627632"/>
            <a:ext cx="5291176" cy="1810512"/>
          </a:xfrm>
          <a:prstGeom prst="roundRect">
            <a:avLst>
              <a:gd name="adj" fmla="val 2273"/>
            </a:avLst>
          </a:prstGeom>
          <a:solidFill>
            <a:srgbClr val="171614"/>
          </a:solidFill>
          <a:ln w="9525">
            <a:solidFill>
              <a:srgbClr val="2E2A24"/>
            </a:solidFill>
            <a:prstDash val="solid"/>
          </a:ln>
        </p:spPr>
      </p:sp>
      <p:sp>
        <p:nvSpPr>
          <p:cNvPr id="14" name="Text 12"/>
          <p:cNvSpPr/>
          <p:nvPr/>
        </p:nvSpPr>
        <p:spPr>
          <a:xfrm>
            <a:off x="6498184" y="1773936"/>
            <a:ext cx="4779112" cy="201168"/>
          </a:xfrm>
          <a:prstGeom prst="rect">
            <a:avLst/>
          </a:prstGeom>
          <a:noFill/>
          <a:ln/>
        </p:spPr>
        <p:txBody>
          <a:bodyPr wrap="square" lIns="0" tIns="0" rIns="0" bIns="0" rtlCol="0" anchor="ctr"/>
          <a:lstStyle/>
          <a:p>
            <a:pPr indent="0" marL="0">
              <a:buNone/>
            </a:pPr>
            <a:r>
              <a:rPr lang="en-US" sz="950" b="1" spc="240" kern="0" dirty="0">
                <a:solidFill>
                  <a:srgbClr val="A78450"/>
                </a:solidFill>
                <a:latin typeface="Cambria" pitchFamily="34" charset="0"/>
                <a:ea typeface="Cambria" pitchFamily="34" charset="-122"/>
                <a:cs typeface="Cambria" pitchFamily="34" charset="-120"/>
              </a:rPr>
              <a:t>SECOND CLOSE</a:t>
            </a:r>
            <a:endParaRPr lang="en-US" sz="950" dirty="0"/>
          </a:p>
        </p:txBody>
      </p:sp>
      <p:sp>
        <p:nvSpPr>
          <p:cNvPr id="15" name="Text 13"/>
          <p:cNvSpPr/>
          <p:nvPr/>
        </p:nvSpPr>
        <p:spPr>
          <a:xfrm>
            <a:off x="6498184" y="1975104"/>
            <a:ext cx="4779112"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セカンドクローズ（年度内）</a:t>
            </a:r>
            <a:endParaRPr lang="en-US" sz="1250" dirty="0"/>
          </a:p>
        </p:txBody>
      </p:sp>
      <p:sp>
        <p:nvSpPr>
          <p:cNvPr id="16" name="Text 14"/>
          <p:cNvSpPr/>
          <p:nvPr/>
        </p:nvSpPr>
        <p:spPr>
          <a:xfrm>
            <a:off x="6498184" y="2286000"/>
            <a:ext cx="4779112" cy="438912"/>
          </a:xfrm>
          <a:prstGeom prst="rect">
            <a:avLst/>
          </a:prstGeom>
          <a:noFill/>
          <a:ln/>
        </p:spPr>
        <p:txBody>
          <a:bodyPr wrap="square" lIns="0" tIns="0" rIns="0" bIns="0" rtlCol="0" anchor="ctr"/>
          <a:lstStyle/>
          <a:p>
            <a:pPr indent="0" marL="0">
              <a:buNone/>
            </a:pPr>
            <a:r>
              <a:rPr lang="en-US" sz="1100" dirty="0">
                <a:solidFill>
                  <a:srgbClr val="9A938A"/>
                </a:solidFill>
                <a:latin typeface="Yu Gothic" pitchFamily="34" charset="0"/>
                <a:ea typeface="Yu Gothic" pitchFamily="34" charset="-122"/>
                <a:cs typeface="Yu Gothic" pitchFamily="34" charset="-120"/>
              </a:rPr>
              <a:t>総額 </a:t>
            </a:r>
            <a:pPr indent="0" marL="0">
              <a:buNone/>
            </a:pPr>
            <a:r>
              <a:rPr lang="en-US" sz="2600" b="1" dirty="0">
                <a:solidFill>
                  <a:srgbClr val="C9A96E"/>
                </a:solidFill>
                <a:latin typeface="Cambria" pitchFamily="34" charset="0"/>
                <a:ea typeface="Cambria" pitchFamily="34" charset="-122"/>
                <a:cs typeface="Cambria" pitchFamily="34" charset="-120"/>
              </a:rPr>
              <a:t>10億円</a:t>
            </a:r>
            <a:pPr indent="0" marL="0">
              <a:buNone/>
            </a:pPr>
            <a:r>
              <a:rPr lang="en-US" sz="1100" dirty="0">
                <a:solidFill>
                  <a:srgbClr val="EFEBE3"/>
                </a:solidFill>
                <a:latin typeface="Yu Gothic" pitchFamily="34" charset="0"/>
                <a:ea typeface="Yu Gothic" pitchFamily="34" charset="-122"/>
                <a:cs typeface="Yu Gothic" pitchFamily="34" charset="-120"/>
              </a:rPr>
              <a:t>　＝　WineBank現物 6億円 ＋ 投資家 4億円</a:t>
            </a:r>
            <a:endParaRPr lang="en-US" sz="1100" dirty="0"/>
          </a:p>
        </p:txBody>
      </p:sp>
      <p:sp>
        <p:nvSpPr>
          <p:cNvPr id="17" name="Text 15"/>
          <p:cNvSpPr/>
          <p:nvPr/>
        </p:nvSpPr>
        <p:spPr>
          <a:xfrm>
            <a:off x="6498184" y="2779776"/>
            <a:ext cx="4779112"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必要な年間販売額　14.96億円　／　投資家利回り　20.5%</a:t>
            </a:r>
            <a:endParaRPr lang="en-US" sz="1050" dirty="0"/>
          </a:p>
        </p:txBody>
      </p:sp>
      <p:sp>
        <p:nvSpPr>
          <p:cNvPr id="18" name="Text 16"/>
          <p:cNvSpPr/>
          <p:nvPr/>
        </p:nvSpPr>
        <p:spPr>
          <a:xfrm>
            <a:off x="6498184" y="3035808"/>
            <a:ext cx="4779112" cy="310896"/>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販売実力の拡大を確認したうえで倍増する</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3566160"/>
          <a:ext cx="10874959" cy="914400"/>
        </p:xfrm>
        <a:graphic>
          <a:graphicData uri="http://schemas.openxmlformats.org/drawingml/2006/table">
            <a:tbl>
              <a:tblPr/>
              <a:tblGrid>
                <a:gridCol w="2395728"/>
                <a:gridCol w="1920240"/>
                <a:gridCol w="1920240"/>
                <a:gridCol w="4636008"/>
              </a:tblGrid>
              <a:tr h="217627">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ファーストクローズ</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セカンドクローズ</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5億円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資本構成の比率は同一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WineBank現物出資（60%）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自己勘定のワイン現物を拠出</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投資家出資（40%）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1口5,000万円以上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必要な年間販売額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7.48億円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B4553F"/>
                          </a:solidFill>
                          <a:latin typeface="Yu Gothic" pitchFamily="34" charset="0"/>
                          <a:ea typeface="Yu Gothic" pitchFamily="34" charset="-122"/>
                          <a:cs typeface="Yu Gothic" pitchFamily="34" charset="-120"/>
                        </a:rPr>
                        <a:t>14.96億円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回転12ヶ月を実現するために必要な販売額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2.04億円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管理報酬控除後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投資家取分（折半後）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41百万円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82百万円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投資家帰属分の50%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投資家利回り（定常年間）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規模拡大で固定費が薄まりわずかに改善する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5年通算 年平均利回り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仕入展開6ヶ月の立ち上がりを含む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WineBank受取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173百万円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348百万円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持分＋成功報酬＋管理報酬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20%の分岐点</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回転12.2ヶ月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回転12.3ヶ月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これを超えると貴社基準を下回る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0" name="Shape 17"/>
          <p:cNvSpPr/>
          <p:nvPr/>
        </p:nvSpPr>
        <p:spPr>
          <a:xfrm>
            <a:off x="658368" y="5815584"/>
            <a:ext cx="10874959" cy="566928"/>
          </a:xfrm>
          <a:prstGeom prst="roundRect">
            <a:avLst>
              <a:gd name="adj" fmla="val 7258"/>
            </a:avLst>
          </a:prstGeom>
          <a:solidFill>
            <a:srgbClr val="1F1D19"/>
          </a:solidFill>
          <a:ln w="9525">
            <a:solidFill>
              <a:srgbClr val="6E5730"/>
            </a:solidFill>
            <a:prstDash val="solid"/>
          </a:ln>
        </p:spPr>
      </p:sp>
      <p:sp>
        <p:nvSpPr>
          <p:cNvPr id="21" name="Text 18"/>
          <p:cNvSpPr/>
          <p:nvPr/>
        </p:nvSpPr>
        <p:spPr>
          <a:xfrm>
            <a:off x="932688" y="5888736"/>
            <a:ext cx="10326319" cy="420624"/>
          </a:xfrm>
          <a:prstGeom prst="rect">
            <a:avLst/>
          </a:prstGeom>
          <a:noFill/>
          <a:ln/>
        </p:spPr>
        <p:txBody>
          <a:bodyPr wrap="square" lIns="0" tIns="0" rIns="0" bIns="0" rtlCol="0" anchor="ctr"/>
          <a:lstStyle/>
          <a:p>
            <a:pPr indent="0" marL="0">
              <a:lnSpc>
                <a:spcPct val="118000"/>
              </a:lnSpc>
              <a:buNone/>
            </a:pPr>
            <a:r>
              <a:rPr lang="en-US" sz="1000" b="1" dirty="0">
                <a:solidFill>
                  <a:srgbClr val="C9A96E"/>
                </a:solidFill>
                <a:latin typeface="Yu Gothic" pitchFamily="34" charset="0"/>
                <a:ea typeface="Yu Gothic" pitchFamily="34" charset="-122"/>
                <a:cs typeface="Yu Gothic" pitchFamily="34" charset="-120"/>
              </a:rPr>
              <a:t>セカンドクローズの判断基準：</a:t>
            </a:r>
            <a:pPr indent="0" marL="0">
              <a:lnSpc>
                <a:spcPct val="118000"/>
              </a:lnSpc>
              <a:buNone/>
            </a:pPr>
            <a:r>
              <a:rPr lang="en-US" sz="950" dirty="0">
                <a:solidFill>
                  <a:srgbClr val="EFEBE3"/>
                </a:solidFill>
                <a:latin typeface="Yu Gothic" pitchFamily="34" charset="0"/>
                <a:ea typeface="Yu Gothic" pitchFamily="34" charset="-122"/>
                <a:cs typeface="Yu Gothic" pitchFamily="34" charset="-120"/>
              </a:rPr>
              <a:t>規模を倍にすると必要な年間販売額も 7.48億円 → 14.96億円 と倍増する。これは現状の販売実力（年5〜7億円）の2倍を超える水準であり、規模拡大は販売実力の拡大とセットでなければ回転12ヶ月を維持できない。セカンドクローズはファーストクローズの回転実績を確認したうえで判断す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PLAN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在庫回転12ヶ月をどう実現するか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ファーストクローズでは回転12ヶ月に年間7.48億円の販売が必要となる。組入銘柄の選定を主たる手段とし、配分ルールと販路拡大で補う。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591056"/>
                <a:gridCol w="1572768"/>
                <a:gridCol w="1316736"/>
                <a:gridCol w="1481328"/>
                <a:gridCol w="1298448"/>
                <a:gridCol w="1572768"/>
                <a:gridCol w="2039112"/>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必要な年間販売額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WineBank受取</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位置づけ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9ヶ月（最短）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2.65億円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26.5%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222百万円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販路拡大が実現した場合の上限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7.48億円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2.04億円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41百万円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貴社基準20%を満たす水準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6.07億円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1.67億円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144百万円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124百万円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49040"/>
            <a:ext cx="3454298" cy="1847088"/>
          </a:xfrm>
          <a:prstGeom prst="roundRect">
            <a:avLst>
              <a:gd name="adj" fmla="val 2228"/>
            </a:avLst>
          </a:prstGeom>
          <a:solidFill>
            <a:srgbClr val="1F1D19"/>
          </a:solidFill>
          <a:ln w="9525">
            <a:solidFill>
              <a:srgbClr val="6E5730"/>
            </a:solidFill>
            <a:prstDash val="solid"/>
          </a:ln>
        </p:spPr>
      </p:sp>
      <p:sp>
        <p:nvSpPr>
          <p:cNvPr id="9" name="Text 6"/>
          <p:cNvSpPr/>
          <p:nvPr/>
        </p:nvSpPr>
        <p:spPr>
          <a:xfrm>
            <a:off x="896112" y="3913632"/>
            <a:ext cx="297881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第一の手段</a:t>
            </a:r>
            <a:endParaRPr lang="en-US" sz="1100" dirty="0"/>
          </a:p>
        </p:txBody>
      </p:sp>
      <p:sp>
        <p:nvSpPr>
          <p:cNvPr id="10" name="Text 7"/>
          <p:cNvSpPr/>
          <p:nvPr/>
        </p:nvSpPr>
        <p:spPr>
          <a:xfrm>
            <a:off x="89611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組入銘柄の選定</a:t>
            </a:r>
            <a:endParaRPr lang="en-US" sz="1700" dirty="0"/>
          </a:p>
        </p:txBody>
      </p:sp>
      <p:sp>
        <p:nvSpPr>
          <p:cNvPr id="11" name="Text 8"/>
          <p:cNvSpPr/>
          <p:nvPr/>
        </p:nvSpPr>
        <p:spPr>
          <a:xfrm>
            <a:off x="89611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Liv-ex掲載の流動性上位銘柄など、回転の速い銘柄をSPCに組み入れる。何を持たせるかで回転期間の大半が決まるため、これが最も効く打ち手となる。WineBankの現物出資分についても同じ基準で拠出銘柄を選定する。</a:t>
            </a:r>
            <a:endParaRPr lang="en-US" sz="900" dirty="0"/>
          </a:p>
        </p:txBody>
      </p:sp>
      <p:sp>
        <p:nvSpPr>
          <p:cNvPr id="12" name="Shape 9"/>
          <p:cNvSpPr/>
          <p:nvPr/>
        </p:nvSpPr>
        <p:spPr>
          <a:xfrm>
            <a:off x="4368698" y="3749040"/>
            <a:ext cx="3454298" cy="1847088"/>
          </a:xfrm>
          <a:prstGeom prst="roundRect">
            <a:avLst>
              <a:gd name="adj" fmla="val 2228"/>
            </a:avLst>
          </a:prstGeom>
          <a:solidFill>
            <a:srgbClr val="171614"/>
          </a:solidFill>
          <a:ln w="9525">
            <a:solidFill>
              <a:srgbClr val="2E2A24"/>
            </a:solidFill>
            <a:prstDash val="solid"/>
          </a:ln>
        </p:spPr>
      </p:sp>
      <p:sp>
        <p:nvSpPr>
          <p:cNvPr id="13" name="Text 10"/>
          <p:cNvSpPr/>
          <p:nvPr/>
        </p:nvSpPr>
        <p:spPr>
          <a:xfrm>
            <a:off x="4606442"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第二の手段</a:t>
            </a:r>
            <a:endParaRPr lang="en-US" sz="1100" dirty="0"/>
          </a:p>
        </p:txBody>
      </p:sp>
      <p:sp>
        <p:nvSpPr>
          <p:cNvPr id="14" name="Text 11"/>
          <p:cNvSpPr/>
          <p:nvPr/>
        </p:nvSpPr>
        <p:spPr>
          <a:xfrm>
            <a:off x="460644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配分ルール</a:t>
            </a:r>
            <a:endParaRPr lang="en-US" sz="1700" dirty="0"/>
          </a:p>
        </p:txBody>
      </p:sp>
      <p:sp>
        <p:nvSpPr>
          <p:cNvPr id="15" name="Text 12"/>
          <p:cNvSpPr/>
          <p:nvPr/>
        </p:nvSpPr>
        <p:spPr>
          <a:xfrm>
            <a:off x="460644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自己勘定在庫と重複する銘柄は在庫比率でプロラタ配分し、判断を要する場合はSPC在庫を優先する。契約別紙として明文化する。</a:t>
            </a:r>
            <a:endParaRPr lang="en-US" sz="900" dirty="0"/>
          </a:p>
        </p:txBody>
      </p:sp>
      <p:sp>
        <p:nvSpPr>
          <p:cNvPr id="16" name="Shape 13"/>
          <p:cNvSpPr/>
          <p:nvPr/>
        </p:nvSpPr>
        <p:spPr>
          <a:xfrm>
            <a:off x="8079029" y="3749040"/>
            <a:ext cx="3454298" cy="1847088"/>
          </a:xfrm>
          <a:prstGeom prst="roundRect">
            <a:avLst>
              <a:gd name="adj" fmla="val 2228"/>
            </a:avLst>
          </a:prstGeom>
          <a:solidFill>
            <a:srgbClr val="171614"/>
          </a:solidFill>
          <a:ln w="9525">
            <a:solidFill>
              <a:srgbClr val="2E2A24"/>
            </a:solidFill>
            <a:prstDash val="solid"/>
          </a:ln>
        </p:spPr>
      </p:sp>
      <p:sp>
        <p:nvSpPr>
          <p:cNvPr id="17" name="Text 14"/>
          <p:cNvSpPr/>
          <p:nvPr/>
        </p:nvSpPr>
        <p:spPr>
          <a:xfrm>
            <a:off x="8316773"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第三の手段</a:t>
            </a:r>
            <a:endParaRPr lang="en-US" sz="1100" dirty="0"/>
          </a:p>
        </p:txBody>
      </p:sp>
      <p:sp>
        <p:nvSpPr>
          <p:cNvPr id="18" name="Text 15"/>
          <p:cNvSpPr/>
          <p:nvPr/>
        </p:nvSpPr>
        <p:spPr>
          <a:xfrm>
            <a:off x="8316773"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販路の拡大</a:t>
            </a:r>
            <a:endParaRPr lang="en-US" sz="1700" dirty="0"/>
          </a:p>
        </p:txBody>
      </p:sp>
      <p:sp>
        <p:nvSpPr>
          <p:cNvPr id="19" name="Text 16"/>
          <p:cNvSpPr/>
          <p:nvPr/>
        </p:nvSpPr>
        <p:spPr>
          <a:xfrm>
            <a:off x="8316773"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輸出入ライセンスを活かした海外販売、2026年9月開始のWineBank Auction、グループ飲食（アピシウス／ティエリーマルクス）。これらは出資金ではなくWineBank側の資本で手当てする。</a:t>
            </a:r>
            <a:endParaRPr lang="en-US" sz="900" dirty="0"/>
          </a:p>
        </p:txBody>
      </p:sp>
      <p:sp>
        <p:nvSpPr>
          <p:cNvPr id="20" name="Text 17"/>
          <p:cNvSpPr/>
          <p:nvPr/>
        </p:nvSpPr>
        <p:spPr>
          <a:xfrm>
            <a:off x="658368" y="5687568"/>
            <a:ext cx="10874959" cy="402336"/>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回転12ヶ月に必要な年間販売額7.48億円は、現状の販売実力（5〜7億円）の上限をやや上回る。銘柄の大半はSPCと自己勘定で重複しないため配分の判断自体が生じず、回転期間は「何を組み入れるか」でほぼ決まる。重複銘柄の取扱いは在庫配分の公平性の頁を参照。投資家利回りが20%を割り込むのは回転が12.2ヶ月を超えた場合であり、主線12ヶ月との余裕は0.2ヶ月しかない。回転12ヶ月の達成が貴社基準を満たすための必須条件となる。</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ファンドスキーム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WineBankが免許事業者として売買当事者となり、SPCは現物の所有者として損益を受ける。WineBankは出資者でもある。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700784"/>
            <a:ext cx="3246120" cy="1188720"/>
          </a:xfrm>
          <a:prstGeom prst="roundRect">
            <a:avLst>
              <a:gd name="adj" fmla="val 3462"/>
            </a:avLst>
          </a:prstGeom>
          <a:solidFill>
            <a:srgbClr val="171614"/>
          </a:solidFill>
          <a:ln w="9525">
            <a:solidFill>
              <a:srgbClr val="2E2A24"/>
            </a:solidFill>
            <a:prstDash val="solid"/>
          </a:ln>
        </p:spPr>
      </p:sp>
      <p:sp>
        <p:nvSpPr>
          <p:cNvPr id="8" name="Text 6"/>
          <p:cNvSpPr/>
          <p:nvPr/>
        </p:nvSpPr>
        <p:spPr>
          <a:xfrm>
            <a:off x="877824"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投資家（資産管理会社ほか）</a:t>
            </a:r>
            <a:endParaRPr lang="en-US" sz="1300" dirty="0"/>
          </a:p>
        </p:txBody>
      </p:sp>
      <p:sp>
        <p:nvSpPr>
          <p:cNvPr id="9" name="Text 7"/>
          <p:cNvSpPr/>
          <p:nvPr/>
        </p:nvSpPr>
        <p:spPr>
          <a:xfrm>
            <a:off x="877824"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匿名組合出資（現金）　2億円</a:t>
            </a:r>
            <a:endParaRPr lang="en-US" sz="1050" dirty="0"/>
          </a:p>
        </p:txBody>
      </p:sp>
      <p:sp>
        <p:nvSpPr>
          <p:cNvPr id="10" name="Text 8"/>
          <p:cNvSpPr/>
          <p:nvPr/>
        </p:nvSpPr>
        <p:spPr>
          <a:xfrm>
            <a:off x="87782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投資家帰属利益の50%を年1回受領</a:t>
            </a:r>
            <a:endParaRPr lang="en-US" sz="950" dirty="0"/>
          </a:p>
        </p:txBody>
      </p:sp>
      <p:sp>
        <p:nvSpPr>
          <p:cNvPr id="11" name="Shape 9"/>
          <p:cNvSpPr/>
          <p:nvPr/>
        </p:nvSpPr>
        <p:spPr>
          <a:xfrm>
            <a:off x="4472788" y="1700784"/>
            <a:ext cx="3246120" cy="1188720"/>
          </a:xfrm>
          <a:prstGeom prst="roundRect">
            <a:avLst>
              <a:gd name="adj" fmla="val 3462"/>
            </a:avLst>
          </a:prstGeom>
          <a:solidFill>
            <a:srgbClr val="1F1D19"/>
          </a:solidFill>
          <a:ln w="9525">
            <a:solidFill>
              <a:srgbClr val="6E5730"/>
            </a:solidFill>
            <a:prstDash val="solid"/>
          </a:ln>
        </p:spPr>
      </p:sp>
      <p:sp>
        <p:nvSpPr>
          <p:cNvPr id="12" name="Text 10"/>
          <p:cNvSpPr/>
          <p:nvPr/>
        </p:nvSpPr>
        <p:spPr>
          <a:xfrm>
            <a:off x="4692244" y="1920240"/>
            <a:ext cx="2807208"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ワインファンドSPC</a:t>
            </a:r>
            <a:endParaRPr lang="en-US" sz="1300" dirty="0"/>
          </a:p>
        </p:txBody>
      </p:sp>
      <p:sp>
        <p:nvSpPr>
          <p:cNvPr id="13" name="Text 11"/>
          <p:cNvSpPr/>
          <p:nvPr/>
        </p:nvSpPr>
        <p:spPr>
          <a:xfrm>
            <a:off x="4692244" y="2231136"/>
            <a:ext cx="2807208" cy="237744"/>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合同会社＋匿名組合（GK-TK）</a:t>
            </a:r>
            <a:endParaRPr lang="en-US" sz="1050" dirty="0"/>
          </a:p>
        </p:txBody>
      </p:sp>
      <p:sp>
        <p:nvSpPr>
          <p:cNvPr id="14" name="Text 12"/>
          <p:cNvSpPr/>
          <p:nvPr/>
        </p:nvSpPr>
        <p:spPr>
          <a:xfrm>
            <a:off x="469224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ワイン現物を所有・損益が帰属</a:t>
            </a:r>
            <a:endParaRPr lang="en-US" sz="950" dirty="0"/>
          </a:p>
        </p:txBody>
      </p:sp>
      <p:sp>
        <p:nvSpPr>
          <p:cNvPr id="15" name="Shape 13"/>
          <p:cNvSpPr/>
          <p:nvPr/>
        </p:nvSpPr>
        <p:spPr>
          <a:xfrm>
            <a:off x="8287207" y="1700784"/>
            <a:ext cx="3246120" cy="1188720"/>
          </a:xfrm>
          <a:prstGeom prst="roundRect">
            <a:avLst>
              <a:gd name="adj" fmla="val 3462"/>
            </a:avLst>
          </a:prstGeom>
          <a:solidFill>
            <a:srgbClr val="171614"/>
          </a:solidFill>
          <a:ln w="9525">
            <a:solidFill>
              <a:srgbClr val="2E2A24"/>
            </a:solidFill>
            <a:prstDash val="solid"/>
          </a:ln>
        </p:spPr>
      </p:sp>
      <p:sp>
        <p:nvSpPr>
          <p:cNvPr id="16" name="Text 14"/>
          <p:cNvSpPr/>
          <p:nvPr/>
        </p:nvSpPr>
        <p:spPr>
          <a:xfrm>
            <a:off x="8506663"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株式会社WineBank</a:t>
            </a:r>
            <a:endParaRPr lang="en-US" sz="1300" dirty="0"/>
          </a:p>
        </p:txBody>
      </p:sp>
      <p:sp>
        <p:nvSpPr>
          <p:cNvPr id="17" name="Text 15"/>
          <p:cNvSpPr/>
          <p:nvPr/>
        </p:nvSpPr>
        <p:spPr>
          <a:xfrm>
            <a:off x="8506663"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現物出資（ワイン）　3億円　＋　GP実行</a:t>
            </a:r>
            <a:endParaRPr lang="en-US" sz="1050" dirty="0"/>
          </a:p>
        </p:txBody>
      </p:sp>
      <p:sp>
        <p:nvSpPr>
          <p:cNvPr id="18" name="Text 16"/>
          <p:cNvSpPr/>
          <p:nvPr/>
        </p:nvSpPr>
        <p:spPr>
          <a:xfrm>
            <a:off x="8506663"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酒類販売業免許・取引口座を保有</a:t>
            </a:r>
            <a:endParaRPr lang="en-US" sz="950" dirty="0"/>
          </a:p>
        </p:txBody>
      </p:sp>
      <p:sp>
        <p:nvSpPr>
          <p:cNvPr id="19" name="Shape 17"/>
          <p:cNvSpPr/>
          <p:nvPr/>
        </p:nvSpPr>
        <p:spPr>
          <a:xfrm>
            <a:off x="3995928" y="2176272"/>
            <a:ext cx="385420" cy="237744"/>
          </a:xfrm>
          <a:prstGeom prst="rightArrow">
            <a:avLst/>
          </a:prstGeom>
          <a:solidFill>
            <a:srgbClr val="6E5730"/>
          </a:solidFill>
          <a:ln w="12700">
            <a:solidFill>
              <a:srgbClr val="6E5730"/>
            </a:solidFill>
            <a:prstDash val="solid"/>
          </a:ln>
        </p:spPr>
      </p:sp>
      <p:sp>
        <p:nvSpPr>
          <p:cNvPr id="20" name="Shape 18"/>
          <p:cNvSpPr/>
          <p:nvPr/>
        </p:nvSpPr>
        <p:spPr>
          <a:xfrm>
            <a:off x="7810348" y="2176272"/>
            <a:ext cx="385420" cy="237744"/>
          </a:xfrm>
          <a:prstGeom prst="leftArrow">
            <a:avLst/>
          </a:prstGeom>
          <a:solidFill>
            <a:srgbClr val="A78450"/>
          </a:solidFill>
          <a:ln w="12700">
            <a:solidFill>
              <a:srgbClr val="A78450"/>
            </a:solidFill>
            <a:prstDash val="solid"/>
          </a:ln>
        </p:spPr>
      </p:sp>
      <p:sp>
        <p:nvSpPr>
          <p:cNvPr id="21" name="Shape 19"/>
          <p:cNvSpPr/>
          <p:nvPr/>
        </p:nvSpPr>
        <p:spPr>
          <a:xfrm>
            <a:off x="658368" y="3291840"/>
            <a:ext cx="2526716" cy="1609344"/>
          </a:xfrm>
          <a:prstGeom prst="roundRect">
            <a:avLst>
              <a:gd name="adj" fmla="val 2557"/>
            </a:avLst>
          </a:prstGeom>
          <a:solidFill>
            <a:srgbClr val="171614"/>
          </a:solidFill>
          <a:ln w="9525">
            <a:solidFill>
              <a:srgbClr val="2E2A24"/>
            </a:solidFill>
            <a:prstDash val="solid"/>
          </a:ln>
        </p:spPr>
      </p:sp>
      <p:sp>
        <p:nvSpPr>
          <p:cNvPr id="22" name="Shape 20"/>
          <p:cNvSpPr/>
          <p:nvPr/>
        </p:nvSpPr>
        <p:spPr>
          <a:xfrm>
            <a:off x="877824" y="3493008"/>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24" name="Text 22"/>
          <p:cNvSpPr/>
          <p:nvPr/>
        </p:nvSpPr>
        <p:spPr>
          <a:xfrm>
            <a:off x="1280160"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調達・拠出</a:t>
            </a:r>
            <a:endParaRPr lang="en-US" sz="1200" dirty="0"/>
          </a:p>
        </p:txBody>
      </p:sp>
      <p:sp>
        <p:nvSpPr>
          <p:cNvPr id="25" name="Text 23"/>
          <p:cNvSpPr/>
          <p:nvPr/>
        </p:nvSpPr>
        <p:spPr>
          <a:xfrm>
            <a:off x="877824"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WineBankが自社の免許・取引口座で調達した正規品のうち、総額の60%相当を現物出資としてSPCへ拠出する</a:t>
            </a:r>
            <a:endParaRPr lang="en-US" sz="950" dirty="0"/>
          </a:p>
        </p:txBody>
      </p:sp>
      <p:sp>
        <p:nvSpPr>
          <p:cNvPr id="26" name="Text 24"/>
          <p:cNvSpPr/>
          <p:nvPr/>
        </p:nvSpPr>
        <p:spPr>
          <a:xfrm>
            <a:off x="877824"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現物出資 3億円</a:t>
            </a:r>
            <a:endParaRPr lang="en-US" sz="1000" dirty="0"/>
          </a:p>
        </p:txBody>
      </p:sp>
      <p:sp>
        <p:nvSpPr>
          <p:cNvPr id="27" name="Shape 25"/>
          <p:cNvSpPr/>
          <p:nvPr/>
        </p:nvSpPr>
        <p:spPr>
          <a:xfrm>
            <a:off x="3441116" y="3291840"/>
            <a:ext cx="2526716" cy="1609344"/>
          </a:xfrm>
          <a:prstGeom prst="roundRect">
            <a:avLst>
              <a:gd name="adj" fmla="val 2557"/>
            </a:avLst>
          </a:prstGeom>
          <a:solidFill>
            <a:srgbClr val="171614"/>
          </a:solidFill>
          <a:ln w="9525">
            <a:solidFill>
              <a:srgbClr val="2E2A24"/>
            </a:solidFill>
            <a:prstDash val="solid"/>
          </a:ln>
        </p:spPr>
      </p:sp>
      <p:sp>
        <p:nvSpPr>
          <p:cNvPr id="28" name="Shape 26"/>
          <p:cNvSpPr/>
          <p:nvPr/>
        </p:nvSpPr>
        <p:spPr>
          <a:xfrm>
            <a:off x="3660572" y="3493008"/>
            <a:ext cx="310896" cy="310896"/>
          </a:xfrm>
          <a:prstGeom prst="ellipse">
            <a:avLst/>
          </a:prstGeom>
          <a:solidFill>
            <a:srgbClr val="0C0C0C"/>
          </a:solidFill>
          <a:ln w="11430">
            <a:solidFill>
              <a:srgbClr val="A78450"/>
            </a:solidFill>
            <a:prstDash val="solid"/>
          </a:ln>
        </p:spPr>
      </p:sp>
      <p:sp>
        <p:nvSpPr>
          <p:cNvPr id="29" name="Text 27"/>
          <p:cNvSpPr/>
          <p:nvPr/>
        </p:nvSpPr>
        <p:spPr>
          <a:xfrm>
            <a:off x="3660572"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30" name="Text 28"/>
          <p:cNvSpPr/>
          <p:nvPr/>
        </p:nvSpPr>
        <p:spPr>
          <a:xfrm>
            <a:off x="4062908"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取得</a:t>
            </a:r>
            <a:endParaRPr lang="en-US" sz="1200" dirty="0"/>
          </a:p>
        </p:txBody>
      </p:sp>
      <p:sp>
        <p:nvSpPr>
          <p:cNvPr id="31" name="Text 29"/>
          <p:cNvSpPr/>
          <p:nvPr/>
        </p:nvSpPr>
        <p:spPr>
          <a:xfrm>
            <a:off x="3660572"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投資家出資分（40%）は、WineBankが調達した現物をSPCへ譲渡（酒類卸売）して取得する</a:t>
            </a:r>
            <a:endParaRPr lang="en-US" sz="950" dirty="0"/>
          </a:p>
        </p:txBody>
      </p:sp>
      <p:sp>
        <p:nvSpPr>
          <p:cNvPr id="32" name="Text 30"/>
          <p:cNvSpPr/>
          <p:nvPr/>
        </p:nvSpPr>
        <p:spPr>
          <a:xfrm>
            <a:off x="3660572"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SPC取得原価 50.50</a:t>
            </a:r>
            <a:endParaRPr lang="en-US" sz="1000" dirty="0"/>
          </a:p>
        </p:txBody>
      </p:sp>
      <p:sp>
        <p:nvSpPr>
          <p:cNvPr id="33" name="Shape 31"/>
          <p:cNvSpPr/>
          <p:nvPr/>
        </p:nvSpPr>
        <p:spPr>
          <a:xfrm>
            <a:off x="6223864" y="3291840"/>
            <a:ext cx="2526716" cy="1609344"/>
          </a:xfrm>
          <a:prstGeom prst="roundRect">
            <a:avLst>
              <a:gd name="adj" fmla="val 2557"/>
            </a:avLst>
          </a:prstGeom>
          <a:solidFill>
            <a:srgbClr val="171614"/>
          </a:solidFill>
          <a:ln w="9525">
            <a:solidFill>
              <a:srgbClr val="2E2A24"/>
            </a:solidFill>
            <a:prstDash val="solid"/>
          </a:ln>
        </p:spPr>
      </p:sp>
      <p:sp>
        <p:nvSpPr>
          <p:cNvPr id="34" name="Shape 32"/>
          <p:cNvSpPr/>
          <p:nvPr/>
        </p:nvSpPr>
        <p:spPr>
          <a:xfrm>
            <a:off x="6443320" y="3493008"/>
            <a:ext cx="310896" cy="310896"/>
          </a:xfrm>
          <a:prstGeom prst="ellipse">
            <a:avLst/>
          </a:prstGeom>
          <a:solidFill>
            <a:srgbClr val="0C0C0C"/>
          </a:solidFill>
          <a:ln w="11430">
            <a:solidFill>
              <a:srgbClr val="A78450"/>
            </a:solidFill>
            <a:prstDash val="solid"/>
          </a:ln>
        </p:spPr>
      </p:sp>
      <p:sp>
        <p:nvSpPr>
          <p:cNvPr id="35" name="Text 33"/>
          <p:cNvSpPr/>
          <p:nvPr/>
        </p:nvSpPr>
        <p:spPr>
          <a:xfrm>
            <a:off x="6443320"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36" name="Text 34"/>
          <p:cNvSpPr/>
          <p:nvPr/>
        </p:nvSpPr>
        <p:spPr>
          <a:xfrm>
            <a:off x="6845656"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保管・販売</a:t>
            </a:r>
            <a:endParaRPr lang="en-US" sz="1200" dirty="0"/>
          </a:p>
        </p:txBody>
      </p:sp>
      <p:sp>
        <p:nvSpPr>
          <p:cNvPr id="37" name="Text 35"/>
          <p:cNvSpPr/>
          <p:nvPr/>
        </p:nvSpPr>
        <p:spPr>
          <a:xfrm>
            <a:off x="6443320"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定温倉庫で保管（全量付保）。B2B酒販店卸とB2C自社EC・オークションの2系統で販売</a:t>
            </a:r>
            <a:endParaRPr lang="en-US" sz="950" dirty="0"/>
          </a:p>
        </p:txBody>
      </p:sp>
      <p:sp>
        <p:nvSpPr>
          <p:cNvPr id="38" name="Text 36"/>
          <p:cNvSpPr/>
          <p:nvPr/>
        </p:nvSpPr>
        <p:spPr>
          <a:xfrm>
            <a:off x="6443320"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70／80</a:t>
            </a:r>
            <a:endParaRPr lang="en-US" sz="1000" dirty="0"/>
          </a:p>
        </p:txBody>
      </p:sp>
      <p:sp>
        <p:nvSpPr>
          <p:cNvPr id="39" name="Shape 37"/>
          <p:cNvSpPr/>
          <p:nvPr/>
        </p:nvSpPr>
        <p:spPr>
          <a:xfrm>
            <a:off x="9006611" y="3291840"/>
            <a:ext cx="2526716" cy="1609344"/>
          </a:xfrm>
          <a:prstGeom prst="roundRect">
            <a:avLst>
              <a:gd name="adj" fmla="val 2557"/>
            </a:avLst>
          </a:prstGeom>
          <a:solidFill>
            <a:srgbClr val="171614"/>
          </a:solidFill>
          <a:ln w="9525">
            <a:solidFill>
              <a:srgbClr val="2E2A24"/>
            </a:solidFill>
            <a:prstDash val="solid"/>
          </a:ln>
        </p:spPr>
      </p:sp>
      <p:sp>
        <p:nvSpPr>
          <p:cNvPr id="40" name="Shape 38"/>
          <p:cNvSpPr/>
          <p:nvPr/>
        </p:nvSpPr>
        <p:spPr>
          <a:xfrm>
            <a:off x="9226067" y="3493008"/>
            <a:ext cx="310896" cy="310896"/>
          </a:xfrm>
          <a:prstGeom prst="ellipse">
            <a:avLst/>
          </a:prstGeom>
          <a:solidFill>
            <a:srgbClr val="0C0C0C"/>
          </a:solidFill>
          <a:ln w="11430">
            <a:solidFill>
              <a:srgbClr val="A78450"/>
            </a:solidFill>
            <a:prstDash val="solid"/>
          </a:ln>
        </p:spPr>
      </p:sp>
      <p:sp>
        <p:nvSpPr>
          <p:cNvPr id="41" name="Text 39"/>
          <p:cNvSpPr/>
          <p:nvPr/>
        </p:nvSpPr>
        <p:spPr>
          <a:xfrm>
            <a:off x="9226067"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42" name="Text 40"/>
          <p:cNvSpPr/>
          <p:nvPr/>
        </p:nvSpPr>
        <p:spPr>
          <a:xfrm>
            <a:off x="9628403"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分配</a:t>
            </a:r>
            <a:endParaRPr lang="en-US" sz="1200" dirty="0"/>
          </a:p>
        </p:txBody>
      </p:sp>
      <p:sp>
        <p:nvSpPr>
          <p:cNvPr id="43" name="Text 41"/>
          <p:cNvSpPr/>
          <p:nvPr/>
        </p:nvSpPr>
        <p:spPr>
          <a:xfrm>
            <a:off x="9226067"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投資家出資分に帰属する40%を折半し年1回分配。WineBank出資分の60%は持分として帰属</a:t>
            </a:r>
            <a:endParaRPr lang="en-US" sz="950" dirty="0"/>
          </a:p>
        </p:txBody>
      </p:sp>
      <p:sp>
        <p:nvSpPr>
          <p:cNvPr id="44" name="Text 42"/>
          <p:cNvSpPr/>
          <p:nvPr/>
        </p:nvSpPr>
        <p:spPr>
          <a:xfrm>
            <a:off x="9226067"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投資家50：WB50</a:t>
            </a:r>
            <a:endParaRPr lang="en-US" sz="1000" dirty="0"/>
          </a:p>
        </p:txBody>
      </p:sp>
      <p:sp>
        <p:nvSpPr>
          <p:cNvPr id="45" name="Text 43"/>
          <p:cNvSpPr/>
          <p:nvPr/>
        </p:nvSpPr>
        <p:spPr>
          <a:xfrm>
            <a:off x="658368" y="5084064"/>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ワイン現物はSPC名義で保有し、WineBankの債権者から倒産隔離する。WineBankはGPとして実行を担うと同時に総額の60%の出資者でもあるため、SPCの損益をそのまま負う。報酬は「投資家帰属利益を折半する成功報酬」と「総額の年2%の管理報酬」に限定する。現物出資するワインの評価方法は組成時の別途協議事項とする。</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なぜSPCが直接仕入・販売できないのか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酒類は免許業種であり、取引口座は法人単位で審査される。SPC単独では商流に乗れない。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664208"/>
            <a:ext cx="3442106" cy="1975104"/>
          </a:xfrm>
          <a:prstGeom prst="roundRect">
            <a:avLst>
              <a:gd name="adj" fmla="val 2083"/>
            </a:avLst>
          </a:prstGeom>
          <a:solidFill>
            <a:srgbClr val="171614"/>
          </a:solidFill>
          <a:ln w="9525">
            <a:solidFill>
              <a:srgbClr val="2E2A24"/>
            </a:solidFill>
            <a:prstDash val="solid"/>
          </a:ln>
        </p:spPr>
      </p:sp>
      <p:sp>
        <p:nvSpPr>
          <p:cNvPr id="8" name="Shape 6"/>
          <p:cNvSpPr/>
          <p:nvPr/>
        </p:nvSpPr>
        <p:spPr>
          <a:xfrm>
            <a:off x="896112" y="1865376"/>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酒類販売業免許</a:t>
            </a:r>
            <a:endParaRPr lang="en-US" sz="1200" dirty="0"/>
          </a:p>
        </p:txBody>
      </p:sp>
      <p:sp>
        <p:nvSpPr>
          <p:cNvPr id="11" name="Text 9"/>
          <p:cNvSpPr/>
          <p:nvPr/>
        </p:nvSpPr>
        <p:spPr>
          <a:xfrm>
            <a:off x="896112"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酒類の売買には販売場ごとの免許が必要。新設SPCが一般酒類小売業免許・酒類卸売業免許を取得するには、経営基礎要件（直近3事業年度の財務内容等）や需給調整要件の充足が求められ、設立直後の器としては実務上ハードルが高く、審査にも相応の期間を要する。</a:t>
            </a:r>
            <a:endParaRPr lang="en-US" sz="950" dirty="0"/>
          </a:p>
        </p:txBody>
      </p:sp>
      <p:sp>
        <p:nvSpPr>
          <p:cNvPr id="12" name="Shape 10"/>
          <p:cNvSpPr/>
          <p:nvPr/>
        </p:nvSpPr>
        <p:spPr>
          <a:xfrm>
            <a:off x="4374794" y="1664208"/>
            <a:ext cx="3442106" cy="1975104"/>
          </a:xfrm>
          <a:prstGeom prst="roundRect">
            <a:avLst>
              <a:gd name="adj" fmla="val 2083"/>
            </a:avLst>
          </a:prstGeom>
          <a:solidFill>
            <a:srgbClr val="171614"/>
          </a:solidFill>
          <a:ln w="9525">
            <a:solidFill>
              <a:srgbClr val="2E2A24"/>
            </a:solidFill>
            <a:prstDash val="solid"/>
          </a:ln>
        </p:spPr>
      </p:sp>
      <p:sp>
        <p:nvSpPr>
          <p:cNvPr id="13" name="Shape 11"/>
          <p:cNvSpPr/>
          <p:nvPr/>
        </p:nvSpPr>
        <p:spPr>
          <a:xfrm>
            <a:off x="4612538" y="1865376"/>
            <a:ext cx="310896" cy="310896"/>
          </a:xfrm>
          <a:prstGeom prst="ellipse">
            <a:avLst/>
          </a:prstGeom>
          <a:solidFill>
            <a:srgbClr val="0C0C0C"/>
          </a:solidFill>
          <a:ln w="11430">
            <a:solidFill>
              <a:srgbClr val="A78450"/>
            </a:solidFill>
            <a:prstDash val="solid"/>
          </a:ln>
        </p:spPr>
      </p:sp>
      <p:sp>
        <p:nvSpPr>
          <p:cNvPr id="14" name="Text 12"/>
          <p:cNvSpPr/>
          <p:nvPr/>
        </p:nvSpPr>
        <p:spPr>
          <a:xfrm>
            <a:off x="4612538"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14874"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インポーターの取引基準</a:t>
            </a:r>
            <a:endParaRPr lang="en-US" sz="1200" dirty="0"/>
          </a:p>
        </p:txBody>
      </p:sp>
      <p:sp>
        <p:nvSpPr>
          <p:cNvPr id="16" name="Text 14"/>
          <p:cNvSpPr/>
          <p:nvPr/>
        </p:nvSpPr>
        <p:spPr>
          <a:xfrm>
            <a:off x="4612538"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したうえで口座を開設する。事業実体を持たないSPCでは口座開設に至らない。特価・正規割当は長年の取引関係に紐づいており、法人格が変われば引き継げない。</a:t>
            </a:r>
            <a:endParaRPr lang="en-US" sz="950" dirty="0"/>
          </a:p>
        </p:txBody>
      </p:sp>
      <p:sp>
        <p:nvSpPr>
          <p:cNvPr id="17" name="Shape 15"/>
          <p:cNvSpPr/>
          <p:nvPr/>
        </p:nvSpPr>
        <p:spPr>
          <a:xfrm>
            <a:off x="8091221" y="1664208"/>
            <a:ext cx="3442106" cy="1975104"/>
          </a:xfrm>
          <a:prstGeom prst="roundRect">
            <a:avLst>
              <a:gd name="adj" fmla="val 2083"/>
            </a:avLst>
          </a:prstGeom>
          <a:solidFill>
            <a:srgbClr val="171614"/>
          </a:solidFill>
          <a:ln w="9525">
            <a:solidFill>
              <a:srgbClr val="2E2A24"/>
            </a:solidFill>
            <a:prstDash val="solid"/>
          </a:ln>
        </p:spPr>
      </p:sp>
      <p:sp>
        <p:nvSpPr>
          <p:cNvPr id="18" name="Shape 16"/>
          <p:cNvSpPr/>
          <p:nvPr/>
        </p:nvSpPr>
        <p:spPr>
          <a:xfrm>
            <a:off x="8328965" y="1865376"/>
            <a:ext cx="310896" cy="310896"/>
          </a:xfrm>
          <a:prstGeom prst="ellipse">
            <a:avLst/>
          </a:prstGeom>
          <a:solidFill>
            <a:srgbClr val="0C0C0C"/>
          </a:solidFill>
          <a:ln w="11430">
            <a:solidFill>
              <a:srgbClr val="A78450"/>
            </a:solidFill>
            <a:prstDash val="solid"/>
          </a:ln>
        </p:spPr>
      </p:sp>
      <p:sp>
        <p:nvSpPr>
          <p:cNvPr id="19" name="Text 17"/>
          <p:cNvSpPr/>
          <p:nvPr/>
        </p:nvSpPr>
        <p:spPr>
          <a:xfrm>
            <a:off x="8328965"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31301"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割当（アロケーション）の属人性</a:t>
            </a:r>
            <a:endParaRPr lang="en-US" sz="1200" dirty="0"/>
          </a:p>
        </p:txBody>
      </p:sp>
      <p:sp>
        <p:nvSpPr>
          <p:cNvPr id="21" name="Text 19"/>
          <p:cNvSpPr/>
          <p:nvPr/>
        </p:nvSpPr>
        <p:spPr>
          <a:xfrm>
            <a:off x="8328965"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希少銘柄の割当はWineBank名義に対して付与されるものであり、第三者へ譲り渡すことができない。創業55年の酒販実績と輸出入ライセンスに基づく調達力は、SPCへ移管できない無形資産である。</a:t>
            </a:r>
            <a:endParaRPr lang="en-US" sz="950" dirty="0"/>
          </a:p>
        </p:txBody>
      </p:sp>
      <p:sp>
        <p:nvSpPr>
          <p:cNvPr id="22" name="Shape 20"/>
          <p:cNvSpPr/>
          <p:nvPr/>
        </p:nvSpPr>
        <p:spPr>
          <a:xfrm>
            <a:off x="658368" y="3858768"/>
            <a:ext cx="10874959" cy="1554480"/>
          </a:xfrm>
          <a:prstGeom prst="roundRect">
            <a:avLst>
              <a:gd name="adj" fmla="val 2647"/>
            </a:avLst>
          </a:prstGeom>
          <a:solidFill>
            <a:srgbClr val="1F1D19"/>
          </a:solidFill>
          <a:ln w="9525">
            <a:solidFill>
              <a:srgbClr val="6E5730"/>
            </a:solidFill>
            <a:prstDash val="solid"/>
          </a:ln>
        </p:spPr>
      </p:sp>
      <p:sp>
        <p:nvSpPr>
          <p:cNvPr id="23" name="Text 21"/>
          <p:cNvSpPr/>
          <p:nvPr/>
        </p:nvSpPr>
        <p:spPr>
          <a:xfrm>
            <a:off x="932688" y="402336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採用するスキーム</a:t>
            </a:r>
            <a:endParaRPr lang="en-US" sz="1200" dirty="0"/>
          </a:p>
        </p:txBody>
      </p:sp>
      <p:sp>
        <p:nvSpPr>
          <p:cNvPr id="24" name="Text 22"/>
          <p:cNvSpPr/>
          <p:nvPr/>
        </p:nvSpPr>
        <p:spPr>
          <a:xfrm>
            <a:off x="932688" y="4297680"/>
            <a:ext cx="10326319"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WineBankが免許事業者として仕入・販売の当事者となり、現物をSPCへ拠出・譲渡する。SPCは所有者として損益を受ける。</a:t>
            </a:r>
            <a:endParaRPr lang="en-US" sz="1250" dirty="0"/>
          </a:p>
        </p:txBody>
      </p:sp>
      <p:sp>
        <p:nvSpPr>
          <p:cNvPr id="25" name="Text 23"/>
          <p:cNvSpPr/>
          <p:nvPr/>
        </p:nvSpPr>
        <p:spPr>
          <a:xfrm>
            <a:off x="9326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WineBank出資分（60%）— 現物出資</a:t>
            </a:r>
            <a:endParaRPr lang="en-US" sz="1050" dirty="0"/>
          </a:p>
        </p:txBody>
      </p:sp>
      <p:sp>
        <p:nvSpPr>
          <p:cNvPr id="26" name="Text 24"/>
          <p:cNvSpPr/>
          <p:nvPr/>
        </p:nvSpPr>
        <p:spPr>
          <a:xfrm>
            <a:off x="932688" y="4882896"/>
            <a:ext cx="5071720" cy="512064"/>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自己勘定のワイン現物3億円相当をSPCへ現物出資する。評価方法（取得原価にどれだけ付加するか）は組成時の別途協議事項とし、第三者による評価と併せて確定させる。本試算ではSPC取得原価を定価比50.50に置いている。</a:t>
            </a:r>
            <a:endParaRPr lang="en-US" sz="900" dirty="0"/>
          </a:p>
        </p:txBody>
      </p:sp>
      <p:sp>
        <p:nvSpPr>
          <p:cNvPr id="27" name="Text 25"/>
          <p:cNvSpPr/>
          <p:nvPr/>
        </p:nvSpPr>
        <p:spPr>
          <a:xfrm>
            <a:off x="61872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投資家出資分（40%）— 現物譲渡＋1%</a:t>
            </a:r>
            <a:endParaRPr lang="en-US" sz="1050" dirty="0"/>
          </a:p>
        </p:txBody>
      </p:sp>
      <p:sp>
        <p:nvSpPr>
          <p:cNvPr id="28" name="Text 26"/>
          <p:cNvSpPr/>
          <p:nvPr/>
        </p:nvSpPr>
        <p:spPr>
          <a:xfrm>
            <a:off x="6187288" y="4882896"/>
            <a:ext cx="5071720" cy="512064"/>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投資家の現金出資2億円分は、WineBankが調達した現物をSPCへ譲渡して取得する。同額譲渡では対価なき役務提供となり寄附金認定・移転価格の論点を招くため、独立企業間価格として最小限の1%を付加する。</a:t>
            </a:r>
            <a:endParaRPr lang="en-US" sz="900" dirty="0"/>
          </a:p>
        </p:txBody>
      </p:sp>
      <p:sp>
        <p:nvSpPr>
          <p:cNvPr id="29" name="Text 27"/>
          <p:cNvSpPr/>
          <p:nvPr/>
        </p:nvSpPr>
        <p:spPr>
          <a:xfrm>
            <a:off x="658368" y="5541264"/>
            <a:ext cx="10874959" cy="256032"/>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SPC自体の免許要否、委託・売買形態の切り分け、および酒類の現物出資が免許・消費税・法人税上どう扱われるかは、所轄税務署（酒類指導官）および顧問弁護士・公認会計士との確認事項として、契約書ドラフト作成前に確定させる。</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同一商品が流通段階ごとに異なる価格で存在する。この価格差＝粗利をファンドが取り込む。</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719072"/>
            <a:ext cx="1984797" cy="1700784"/>
          </a:xfrm>
          <a:prstGeom prst="roundRect">
            <a:avLst>
              <a:gd name="adj" fmla="val 2419"/>
            </a:avLst>
          </a:prstGeom>
          <a:solidFill>
            <a:srgbClr val="1F1D19"/>
          </a:solidFill>
          <a:ln w="9525">
            <a:solidFill>
              <a:srgbClr val="6E5730"/>
            </a:solidFill>
            <a:prstDash val="solid"/>
          </a:ln>
        </p:spPr>
      </p:sp>
      <p:sp>
        <p:nvSpPr>
          <p:cNvPr id="8" name="Text 6"/>
          <p:cNvSpPr/>
          <p:nvPr/>
        </p:nvSpPr>
        <p:spPr>
          <a:xfrm>
            <a:off x="841248"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インポーター仕入</a:t>
            </a:r>
            <a:endParaRPr lang="en-US" sz="1050" dirty="0"/>
          </a:p>
        </p:txBody>
      </p:sp>
      <p:sp>
        <p:nvSpPr>
          <p:cNvPr id="9" name="Text 7"/>
          <p:cNvSpPr/>
          <p:nvPr/>
        </p:nvSpPr>
        <p:spPr>
          <a:xfrm>
            <a:off x="841248"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841248"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仕入①</a:t>
            </a:r>
            <a:endParaRPr lang="en-US" sz="950" dirty="0"/>
          </a:p>
        </p:txBody>
      </p:sp>
      <p:sp>
        <p:nvSpPr>
          <p:cNvPr id="11" name="Shape 9"/>
          <p:cNvSpPr/>
          <p:nvPr/>
        </p:nvSpPr>
        <p:spPr>
          <a:xfrm>
            <a:off x="2880909" y="1719072"/>
            <a:ext cx="1984797" cy="1700784"/>
          </a:xfrm>
          <a:prstGeom prst="roundRect">
            <a:avLst>
              <a:gd name="adj" fmla="val 2419"/>
            </a:avLst>
          </a:prstGeom>
          <a:solidFill>
            <a:srgbClr val="1F1D19"/>
          </a:solidFill>
          <a:ln w="9525">
            <a:solidFill>
              <a:srgbClr val="6E5730"/>
            </a:solidFill>
            <a:prstDash val="solid"/>
          </a:ln>
        </p:spPr>
      </p:sp>
      <p:sp>
        <p:nvSpPr>
          <p:cNvPr id="12" name="Text 10"/>
          <p:cNvSpPr/>
          <p:nvPr/>
        </p:nvSpPr>
        <p:spPr>
          <a:xfrm>
            <a:off x="306378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酒販店仕入</a:t>
            </a:r>
            <a:endParaRPr lang="en-US" sz="1050" dirty="0"/>
          </a:p>
        </p:txBody>
      </p:sp>
      <p:sp>
        <p:nvSpPr>
          <p:cNvPr id="13" name="Text 11"/>
          <p:cNvSpPr/>
          <p:nvPr/>
        </p:nvSpPr>
        <p:spPr>
          <a:xfrm>
            <a:off x="306378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60</a:t>
            </a:r>
            <a:endParaRPr lang="en-US" sz="4000" dirty="0"/>
          </a:p>
        </p:txBody>
      </p:sp>
      <p:sp>
        <p:nvSpPr>
          <p:cNvPr id="14" name="Text 12"/>
          <p:cNvSpPr/>
          <p:nvPr/>
        </p:nvSpPr>
        <p:spPr>
          <a:xfrm>
            <a:off x="306378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仕入②</a:t>
            </a:r>
            <a:endParaRPr lang="en-US" sz="950" dirty="0"/>
          </a:p>
        </p:txBody>
      </p:sp>
      <p:sp>
        <p:nvSpPr>
          <p:cNvPr id="15" name="Shape 13"/>
          <p:cNvSpPr/>
          <p:nvPr/>
        </p:nvSpPr>
        <p:spPr>
          <a:xfrm>
            <a:off x="5103449" y="1719072"/>
            <a:ext cx="1984797" cy="1700784"/>
          </a:xfrm>
          <a:prstGeom prst="roundRect">
            <a:avLst>
              <a:gd name="adj" fmla="val 2419"/>
            </a:avLst>
          </a:prstGeom>
          <a:solidFill>
            <a:srgbClr val="1F1D19"/>
          </a:solidFill>
          <a:ln w="9525">
            <a:solidFill>
              <a:srgbClr val="A78450"/>
            </a:solidFill>
            <a:prstDash val="solid"/>
          </a:ln>
        </p:spPr>
      </p:sp>
      <p:sp>
        <p:nvSpPr>
          <p:cNvPr id="16" name="Text 14"/>
          <p:cNvSpPr/>
          <p:nvPr/>
        </p:nvSpPr>
        <p:spPr>
          <a:xfrm>
            <a:off x="528632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酒販店卸 売値</a:t>
            </a:r>
            <a:endParaRPr lang="en-US" sz="1050" dirty="0"/>
          </a:p>
        </p:txBody>
      </p:sp>
      <p:sp>
        <p:nvSpPr>
          <p:cNvPr id="17" name="Text 15"/>
          <p:cNvSpPr/>
          <p:nvPr/>
        </p:nvSpPr>
        <p:spPr>
          <a:xfrm>
            <a:off x="528632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70</a:t>
            </a:r>
            <a:endParaRPr lang="en-US" sz="4000" dirty="0"/>
          </a:p>
        </p:txBody>
      </p:sp>
      <p:sp>
        <p:nvSpPr>
          <p:cNvPr id="18" name="Text 16"/>
          <p:cNvSpPr/>
          <p:nvPr/>
        </p:nvSpPr>
        <p:spPr>
          <a:xfrm>
            <a:off x="528632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売却① B2B</a:t>
            </a:r>
            <a:endParaRPr lang="en-US" sz="950" dirty="0"/>
          </a:p>
        </p:txBody>
      </p:sp>
      <p:sp>
        <p:nvSpPr>
          <p:cNvPr id="19" name="Shape 17"/>
          <p:cNvSpPr/>
          <p:nvPr/>
        </p:nvSpPr>
        <p:spPr>
          <a:xfrm>
            <a:off x="7325990" y="1719072"/>
            <a:ext cx="1984797" cy="1700784"/>
          </a:xfrm>
          <a:prstGeom prst="roundRect">
            <a:avLst>
              <a:gd name="adj" fmla="val 2419"/>
            </a:avLst>
          </a:prstGeom>
          <a:solidFill>
            <a:srgbClr val="1F1D19"/>
          </a:solidFill>
          <a:ln w="9525">
            <a:solidFill>
              <a:srgbClr val="A78450"/>
            </a:solidFill>
            <a:prstDash val="solid"/>
          </a:ln>
        </p:spPr>
      </p:sp>
      <p:sp>
        <p:nvSpPr>
          <p:cNvPr id="20" name="Text 18"/>
          <p:cNvSpPr/>
          <p:nvPr/>
        </p:nvSpPr>
        <p:spPr>
          <a:xfrm>
            <a:off x="7508870"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ネット最安 売値</a:t>
            </a:r>
            <a:endParaRPr lang="en-US" sz="1050" dirty="0"/>
          </a:p>
        </p:txBody>
      </p:sp>
      <p:sp>
        <p:nvSpPr>
          <p:cNvPr id="21" name="Text 19"/>
          <p:cNvSpPr/>
          <p:nvPr/>
        </p:nvSpPr>
        <p:spPr>
          <a:xfrm>
            <a:off x="7508870"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80</a:t>
            </a:r>
            <a:endParaRPr lang="en-US" sz="4000" dirty="0"/>
          </a:p>
        </p:txBody>
      </p:sp>
      <p:sp>
        <p:nvSpPr>
          <p:cNvPr id="22" name="Text 20"/>
          <p:cNvSpPr/>
          <p:nvPr/>
        </p:nvSpPr>
        <p:spPr>
          <a:xfrm>
            <a:off x="7508870"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売却② B2C</a:t>
            </a:r>
            <a:endParaRPr lang="en-US" sz="950" dirty="0"/>
          </a:p>
        </p:txBody>
      </p:sp>
      <p:sp>
        <p:nvSpPr>
          <p:cNvPr id="23" name="Shape 21"/>
          <p:cNvSpPr/>
          <p:nvPr/>
        </p:nvSpPr>
        <p:spPr>
          <a:xfrm>
            <a:off x="9548531" y="1719072"/>
            <a:ext cx="1984797" cy="1700784"/>
          </a:xfrm>
          <a:prstGeom prst="roundRect">
            <a:avLst>
              <a:gd name="adj" fmla="val 2419"/>
            </a:avLst>
          </a:prstGeom>
          <a:solidFill>
            <a:srgbClr val="171614"/>
          </a:solidFill>
          <a:ln w="9525">
            <a:solidFill>
              <a:srgbClr val="2E2A24"/>
            </a:solidFill>
            <a:prstDash val="solid"/>
          </a:ln>
        </p:spPr>
      </p:sp>
      <p:sp>
        <p:nvSpPr>
          <p:cNvPr id="24" name="Text 22"/>
          <p:cNvSpPr/>
          <p:nvPr/>
        </p:nvSpPr>
        <p:spPr>
          <a:xfrm>
            <a:off x="9731411"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希望小売価格</a:t>
            </a:r>
            <a:endParaRPr lang="en-US" sz="1050" dirty="0"/>
          </a:p>
        </p:txBody>
      </p:sp>
      <p:sp>
        <p:nvSpPr>
          <p:cNvPr id="25" name="Text 23"/>
          <p:cNvSpPr/>
          <p:nvPr/>
        </p:nvSpPr>
        <p:spPr>
          <a:xfrm>
            <a:off x="9731411" y="2212848"/>
            <a:ext cx="1619037" cy="694944"/>
          </a:xfrm>
          <a:prstGeom prst="rect">
            <a:avLst/>
          </a:prstGeom>
          <a:noFill/>
          <a:ln/>
        </p:spPr>
        <p:txBody>
          <a:bodyPr wrap="square" lIns="0" tIns="0" rIns="0" bIns="0" rtlCol="0" anchor="ctr"/>
          <a:lstStyle/>
          <a:p>
            <a:pPr indent="0" marL="0">
              <a:buNone/>
            </a:pPr>
            <a:r>
              <a:rPr lang="en-US" sz="4000" b="1" dirty="0">
                <a:solidFill>
                  <a:srgbClr val="9A938A"/>
                </a:solidFill>
                <a:latin typeface="Cambria" pitchFamily="34" charset="0"/>
                <a:ea typeface="Cambria" pitchFamily="34" charset="-122"/>
                <a:cs typeface="Cambria" pitchFamily="34" charset="-120"/>
              </a:rPr>
              <a:t>100</a:t>
            </a:r>
            <a:endParaRPr lang="en-US" sz="4000" dirty="0"/>
          </a:p>
        </p:txBody>
      </p:sp>
      <p:sp>
        <p:nvSpPr>
          <p:cNvPr id="26" name="Text 24"/>
          <p:cNvSpPr/>
          <p:nvPr/>
        </p:nvSpPr>
        <p:spPr>
          <a:xfrm>
            <a:off x="9731411"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消費者</a:t>
            </a:r>
            <a:endParaRPr lang="en-US" sz="950" dirty="0"/>
          </a:p>
        </p:txBody>
      </p:sp>
      <p:sp>
        <p:nvSpPr>
          <p:cNvPr id="27" name="Shape 25"/>
          <p:cNvSpPr/>
          <p:nvPr/>
        </p:nvSpPr>
        <p:spPr>
          <a:xfrm>
            <a:off x="658368" y="3675888"/>
            <a:ext cx="10874959" cy="1956816"/>
          </a:xfrm>
          <a:prstGeom prst="roundRect">
            <a:avLst>
              <a:gd name="adj" fmla="val 2103"/>
            </a:avLst>
          </a:prstGeom>
          <a:solidFill>
            <a:srgbClr val="1F1D19"/>
          </a:solidFill>
          <a:ln w="9525">
            <a:solidFill>
              <a:srgbClr val="6E5730"/>
            </a:solidFill>
            <a:prstDash val="solid"/>
          </a:ln>
        </p:spPr>
      </p:sp>
      <p:sp>
        <p:nvSpPr>
          <p:cNvPr id="28" name="Text 26"/>
          <p:cNvSpPr/>
          <p:nvPr/>
        </p:nvSpPr>
        <p:spPr>
          <a:xfrm>
            <a:off x="932688" y="3822192"/>
            <a:ext cx="54864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主線（ニュートラル）の置き方　― 保有12ヶ月の場合</a:t>
            </a:r>
            <a:endParaRPr lang="en-US" sz="1200" dirty="0"/>
          </a:p>
        </p:txBody>
      </p:sp>
      <p:sp>
        <p:nvSpPr>
          <p:cNvPr id="29" name="Text 27"/>
          <p:cNvSpPr/>
          <p:nvPr/>
        </p:nvSpPr>
        <p:spPr>
          <a:xfrm>
            <a:off x="932688" y="413308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仕入ポートフォリオ</a:t>
            </a:r>
            <a:endParaRPr lang="en-US" sz="1050" dirty="0"/>
          </a:p>
        </p:txBody>
      </p:sp>
      <p:sp>
        <p:nvSpPr>
          <p:cNvPr id="30" name="Text 28"/>
          <p:cNvSpPr/>
          <p:nvPr/>
        </p:nvSpPr>
        <p:spPr>
          <a:xfrm>
            <a:off x="4133088" y="4133088"/>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インポーター40 ＋ 酒販店60 を半々</a:t>
            </a:r>
            <a:endParaRPr lang="en-US" sz="1050" dirty="0"/>
          </a:p>
        </p:txBody>
      </p:sp>
      <p:sp>
        <p:nvSpPr>
          <p:cNvPr id="31" name="Text 29"/>
          <p:cNvSpPr/>
          <p:nvPr/>
        </p:nvSpPr>
        <p:spPr>
          <a:xfrm>
            <a:off x="8796528" y="4133088"/>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市中原価 50.00</a:t>
            </a:r>
            <a:endParaRPr lang="en-US" sz="1050" dirty="0"/>
          </a:p>
        </p:txBody>
      </p:sp>
      <p:sp>
        <p:nvSpPr>
          <p:cNvPr id="32" name="Text 30"/>
          <p:cNvSpPr/>
          <p:nvPr/>
        </p:nvSpPr>
        <p:spPr>
          <a:xfrm>
            <a:off x="932688" y="4389120"/>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SPCの取得</a:t>
            </a:r>
            <a:endParaRPr lang="en-US" sz="1050" dirty="0"/>
          </a:p>
        </p:txBody>
      </p:sp>
      <p:sp>
        <p:nvSpPr>
          <p:cNvPr id="33" name="Text 31"/>
          <p:cNvSpPr/>
          <p:nvPr/>
        </p:nvSpPr>
        <p:spPr>
          <a:xfrm>
            <a:off x="4133088" y="4389120"/>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現物出資（60%）と現物譲渡＋1%（40%）</a:t>
            </a:r>
            <a:endParaRPr lang="en-US" sz="1050" dirty="0"/>
          </a:p>
        </p:txBody>
      </p:sp>
      <p:sp>
        <p:nvSpPr>
          <p:cNvPr id="34" name="Text 32"/>
          <p:cNvSpPr/>
          <p:nvPr/>
        </p:nvSpPr>
        <p:spPr>
          <a:xfrm>
            <a:off x="8796528" y="4389120"/>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SPC取得原価 50.50</a:t>
            </a:r>
            <a:endParaRPr lang="en-US" sz="1050" dirty="0"/>
          </a:p>
        </p:txBody>
      </p:sp>
      <p:sp>
        <p:nvSpPr>
          <p:cNvPr id="35" name="Text 33"/>
          <p:cNvSpPr/>
          <p:nvPr/>
        </p:nvSpPr>
        <p:spPr>
          <a:xfrm>
            <a:off x="932688" y="4645152"/>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売却ポートフォリオ</a:t>
            </a:r>
            <a:endParaRPr lang="en-US" sz="1050" dirty="0"/>
          </a:p>
        </p:txBody>
      </p:sp>
      <p:sp>
        <p:nvSpPr>
          <p:cNvPr id="36" name="Text 34"/>
          <p:cNvSpPr/>
          <p:nvPr/>
        </p:nvSpPr>
        <p:spPr>
          <a:xfrm>
            <a:off x="4133088" y="4645152"/>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酒販店卸70（B2B）＋ ネット最安80（B2C）を半々</a:t>
            </a:r>
            <a:endParaRPr lang="en-US" sz="1050" dirty="0"/>
          </a:p>
        </p:txBody>
      </p:sp>
      <p:sp>
        <p:nvSpPr>
          <p:cNvPr id="37" name="Text 35"/>
          <p:cNvSpPr/>
          <p:nvPr/>
        </p:nvSpPr>
        <p:spPr>
          <a:xfrm>
            <a:off x="8796528" y="4645152"/>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取得時の売値 75.00</a:t>
            </a:r>
            <a:endParaRPr lang="en-US" sz="1050" dirty="0"/>
          </a:p>
        </p:txBody>
      </p:sp>
      <p:sp>
        <p:nvSpPr>
          <p:cNvPr id="38" name="Text 36"/>
          <p:cNvSpPr/>
          <p:nvPr/>
        </p:nvSpPr>
        <p:spPr>
          <a:xfrm>
            <a:off x="932688" y="4901184"/>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保有中の値上がり</a:t>
            </a:r>
            <a:endParaRPr lang="en-US" sz="1050" dirty="0"/>
          </a:p>
        </p:txBody>
      </p:sp>
      <p:sp>
        <p:nvSpPr>
          <p:cNvPr id="39" name="Text 37"/>
          <p:cNvSpPr/>
          <p:nvPr/>
        </p:nvSpPr>
        <p:spPr>
          <a:xfrm>
            <a:off x="4133088" y="4901184"/>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ワイン価格の年間上昇6%を12ヶ月保有</a:t>
            </a:r>
            <a:endParaRPr lang="en-US" sz="1050" dirty="0"/>
          </a:p>
        </p:txBody>
      </p:sp>
      <p:sp>
        <p:nvSpPr>
          <p:cNvPr id="40" name="Text 38"/>
          <p:cNvSpPr/>
          <p:nvPr/>
        </p:nvSpPr>
        <p:spPr>
          <a:xfrm>
            <a:off x="8796528" y="4901184"/>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×1.060 → 売値 79.50</a:t>
            </a:r>
            <a:endParaRPr lang="en-US" sz="1050" dirty="0"/>
          </a:p>
        </p:txBody>
      </p:sp>
      <p:sp>
        <p:nvSpPr>
          <p:cNvPr id="41" name="Text 39"/>
          <p:cNvSpPr/>
          <p:nvPr/>
        </p:nvSpPr>
        <p:spPr>
          <a:xfrm>
            <a:off x="932688" y="5157216"/>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変動販売費</a:t>
            </a:r>
            <a:endParaRPr lang="en-US" sz="1050" dirty="0"/>
          </a:p>
        </p:txBody>
      </p:sp>
      <p:sp>
        <p:nvSpPr>
          <p:cNvPr id="42" name="Text 40"/>
          <p:cNvSpPr/>
          <p:nvPr/>
        </p:nvSpPr>
        <p:spPr>
          <a:xfrm>
            <a:off x="4133088" y="5157216"/>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B2B 1.0% ／ B2C 11.2% の加重平均 6.44%</a:t>
            </a:r>
            <a:endParaRPr lang="en-US" sz="1050" dirty="0"/>
          </a:p>
        </p:txBody>
      </p:sp>
      <p:sp>
        <p:nvSpPr>
          <p:cNvPr id="43" name="Text 41"/>
          <p:cNvSpPr/>
          <p:nvPr/>
        </p:nvSpPr>
        <p:spPr>
          <a:xfrm>
            <a:off x="8796528" y="5157216"/>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 5.12 → 手取り 74.38</a:t>
            </a:r>
            <a:endParaRPr lang="en-US" sz="1050" dirty="0"/>
          </a:p>
        </p:txBody>
      </p:sp>
      <p:sp>
        <p:nvSpPr>
          <p:cNvPr id="44" name="Text 42"/>
          <p:cNvSpPr/>
          <p:nvPr/>
        </p:nvSpPr>
        <p:spPr>
          <a:xfrm>
            <a:off x="932688" y="541324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単位粗利</a:t>
            </a:r>
            <a:endParaRPr lang="en-US" sz="1050" dirty="0"/>
          </a:p>
        </p:txBody>
      </p:sp>
      <p:sp>
        <p:nvSpPr>
          <p:cNvPr id="45" name="Text 43"/>
          <p:cNvSpPr/>
          <p:nvPr/>
        </p:nvSpPr>
        <p:spPr>
          <a:xfrm>
            <a:off x="4133088" y="5413248"/>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手取り74.38 − SPC取得原価50.50</a:t>
            </a:r>
            <a:endParaRPr lang="en-US" sz="1050" dirty="0"/>
          </a:p>
        </p:txBody>
      </p:sp>
      <p:sp>
        <p:nvSpPr>
          <p:cNvPr id="46" name="Text 44"/>
          <p:cNvSpPr/>
          <p:nvPr/>
        </p:nvSpPr>
        <p:spPr>
          <a:xfrm>
            <a:off x="8796528" y="5413248"/>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粗利 23.88（粗利率 30.0%）</a:t>
            </a:r>
            <a:endParaRPr lang="en-US" sz="1050" dirty="0"/>
          </a:p>
        </p:txBody>
      </p:sp>
      <p:sp>
        <p:nvSpPr>
          <p:cNvPr id="47" name="Text 45"/>
          <p:cNvSpPr/>
          <p:nvPr/>
        </p:nvSpPr>
        <p:spPr>
          <a:xfrm>
            <a:off x="658368" y="5724144"/>
            <a:ext cx="10874959" cy="256032"/>
          </a:xfrm>
          <a:prstGeom prst="rect">
            <a:avLst/>
          </a:prstGeom>
          <a:noFill/>
          <a:ln/>
        </p:spPr>
        <p:txBody>
          <a:bodyPr wrap="square" lIns="0" tIns="0" rIns="0" bIns="0" rtlCol="0" anchor="ctr"/>
          <a:lstStyle/>
          <a:p>
            <a:pPr indent="0" marL="0">
              <a:buNone/>
            </a:pPr>
            <a:r>
              <a:rPr lang="en-US" sz="900" dirty="0">
                <a:solidFill>
                  <a:srgbClr val="6E675E"/>
                </a:solidFill>
                <a:latin typeface="Yu Gothic" pitchFamily="34" charset="0"/>
                <a:ea typeface="Yu Gothic" pitchFamily="34" charset="-122"/>
                <a:cs typeface="Yu Gothic" pitchFamily="34" charset="-120"/>
              </a:rPr>
              <a:t>価格の上昇は流通段階全体（希望小売・ネット最安・卸値）が連動するため、取得原価は据え置きのまま売値だけが上がる。上昇率は会社資料のFine Wine年率10%に対し、保守的に6%を主線とする。</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CHANNEL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販売チャネル別の手取り：B2B卸とB2Cネット販売</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売値だけでは判断できない。手数料構造が全く異なるため、手取りベースで比較する。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45920"/>
            <a:ext cx="5282032" cy="2962656"/>
          </a:xfrm>
          <a:prstGeom prst="roundRect">
            <a:avLst>
              <a:gd name="adj" fmla="val 1389"/>
            </a:avLst>
          </a:prstGeom>
          <a:solidFill>
            <a:srgbClr val="171614"/>
          </a:solidFill>
          <a:ln w="9525">
            <a:solidFill>
              <a:srgbClr val="2E2A24"/>
            </a:solidFill>
            <a:prstDash val="solid"/>
          </a:ln>
        </p:spPr>
      </p:sp>
      <p:sp>
        <p:nvSpPr>
          <p:cNvPr id="8" name="Text 6"/>
          <p:cNvSpPr/>
          <p:nvPr/>
        </p:nvSpPr>
        <p:spPr>
          <a:xfrm>
            <a:off x="914400" y="1810512"/>
            <a:ext cx="3544672"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B2B｜酒販店卸</a:t>
            </a:r>
            <a:endParaRPr lang="en-US" sz="1300" dirty="0"/>
          </a:p>
        </p:txBody>
      </p:sp>
      <p:sp>
        <p:nvSpPr>
          <p:cNvPr id="9" name="Text 7"/>
          <p:cNvSpPr/>
          <p:nvPr/>
        </p:nvSpPr>
        <p:spPr>
          <a:xfrm>
            <a:off x="4203040"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70.00</a:t>
            </a:r>
            <a:endParaRPr lang="en-US" sz="1000" dirty="0"/>
          </a:p>
        </p:txBody>
      </p:sp>
      <p:sp>
        <p:nvSpPr>
          <p:cNvPr id="10" name="Text 8"/>
          <p:cNvSpPr/>
          <p:nvPr/>
        </p:nvSpPr>
        <p:spPr>
          <a:xfrm>
            <a:off x="914400"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出庫・配送</a:t>
            </a:r>
            <a:endParaRPr lang="en-US" sz="1000" dirty="0"/>
          </a:p>
        </p:txBody>
      </p:sp>
      <p:sp>
        <p:nvSpPr>
          <p:cNvPr id="11" name="Text 9"/>
          <p:cNvSpPr/>
          <p:nvPr/>
        </p:nvSpPr>
        <p:spPr>
          <a:xfrm>
            <a:off x="5007712"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0.6%</a:t>
            </a:r>
            <a:endParaRPr lang="en-US" sz="1100" dirty="0"/>
          </a:p>
        </p:txBody>
      </p:sp>
      <p:sp>
        <p:nvSpPr>
          <p:cNvPr id="12" name="Text 10"/>
          <p:cNvSpPr/>
          <p:nvPr/>
        </p:nvSpPr>
        <p:spPr>
          <a:xfrm>
            <a:off x="914400"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ケース／パレット単位出荷。1回あたりの出荷単位が大きい</a:t>
            </a:r>
            <a:endParaRPr lang="en-US" sz="850" dirty="0"/>
          </a:p>
        </p:txBody>
      </p:sp>
      <p:sp>
        <p:nvSpPr>
          <p:cNvPr id="13" name="Text 11"/>
          <p:cNvSpPr/>
          <p:nvPr/>
        </p:nvSpPr>
        <p:spPr>
          <a:xfrm>
            <a:off x="914400"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決済・与信</a:t>
            </a:r>
            <a:endParaRPr lang="en-US" sz="1000" dirty="0"/>
          </a:p>
        </p:txBody>
      </p:sp>
      <p:sp>
        <p:nvSpPr>
          <p:cNvPr id="14" name="Text 12"/>
          <p:cNvSpPr/>
          <p:nvPr/>
        </p:nvSpPr>
        <p:spPr>
          <a:xfrm>
            <a:off x="5007712"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15" name="Text 13"/>
          <p:cNvSpPr/>
          <p:nvPr/>
        </p:nvSpPr>
        <p:spPr>
          <a:xfrm>
            <a:off x="914400"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掛売のため決済手数料なし。回収コストと貸倒引当</a:t>
            </a:r>
            <a:endParaRPr lang="en-US" sz="850" dirty="0"/>
          </a:p>
        </p:txBody>
      </p:sp>
      <p:sp>
        <p:nvSpPr>
          <p:cNvPr id="16" name="Text 14"/>
          <p:cNvSpPr/>
          <p:nvPr/>
        </p:nvSpPr>
        <p:spPr>
          <a:xfrm>
            <a:off x="914400"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17" name="Text 15"/>
          <p:cNvSpPr/>
          <p:nvPr/>
        </p:nvSpPr>
        <p:spPr>
          <a:xfrm>
            <a:off x="3928720"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1.0%（▲0.70）</a:t>
            </a:r>
            <a:endParaRPr lang="en-US" sz="1050" dirty="0"/>
          </a:p>
        </p:txBody>
      </p:sp>
      <p:sp>
        <p:nvSpPr>
          <p:cNvPr id="18" name="Text 16"/>
          <p:cNvSpPr/>
          <p:nvPr/>
        </p:nvSpPr>
        <p:spPr>
          <a:xfrm>
            <a:off x="914400"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19" name="Text 17"/>
          <p:cNvSpPr/>
          <p:nvPr/>
        </p:nvSpPr>
        <p:spPr>
          <a:xfrm>
            <a:off x="3928720"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69.30</a:t>
            </a:r>
            <a:endParaRPr lang="en-US" sz="2500" dirty="0"/>
          </a:p>
        </p:txBody>
      </p:sp>
      <p:sp>
        <p:nvSpPr>
          <p:cNvPr id="20" name="Shape 18"/>
          <p:cNvSpPr/>
          <p:nvPr/>
        </p:nvSpPr>
        <p:spPr>
          <a:xfrm>
            <a:off x="6251296" y="1645920"/>
            <a:ext cx="5282032" cy="2962656"/>
          </a:xfrm>
          <a:prstGeom prst="roundRect">
            <a:avLst>
              <a:gd name="adj" fmla="val 1389"/>
            </a:avLst>
          </a:prstGeom>
          <a:solidFill>
            <a:srgbClr val="1F1D19"/>
          </a:solidFill>
          <a:ln w="9525">
            <a:solidFill>
              <a:srgbClr val="6E5730"/>
            </a:solidFill>
            <a:prstDash val="solid"/>
          </a:ln>
        </p:spPr>
      </p:sp>
      <p:sp>
        <p:nvSpPr>
          <p:cNvPr id="21" name="Text 19"/>
          <p:cNvSpPr/>
          <p:nvPr/>
        </p:nvSpPr>
        <p:spPr>
          <a:xfrm>
            <a:off x="6507328" y="1810512"/>
            <a:ext cx="3544672" cy="274320"/>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B2C｜自社EC・オークション</a:t>
            </a:r>
            <a:endParaRPr lang="en-US" sz="1300" dirty="0"/>
          </a:p>
        </p:txBody>
      </p:sp>
      <p:sp>
        <p:nvSpPr>
          <p:cNvPr id="22" name="Text 20"/>
          <p:cNvSpPr/>
          <p:nvPr/>
        </p:nvSpPr>
        <p:spPr>
          <a:xfrm>
            <a:off x="9795967"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80.00</a:t>
            </a:r>
            <a:endParaRPr lang="en-US" sz="1000" dirty="0"/>
          </a:p>
        </p:txBody>
      </p:sp>
      <p:sp>
        <p:nvSpPr>
          <p:cNvPr id="23" name="Text 21"/>
          <p:cNvSpPr/>
          <p:nvPr/>
        </p:nvSpPr>
        <p:spPr>
          <a:xfrm>
            <a:off x="6507328"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モール・出品手数料</a:t>
            </a:r>
            <a:endParaRPr lang="en-US" sz="1000" dirty="0"/>
          </a:p>
        </p:txBody>
      </p:sp>
      <p:sp>
        <p:nvSpPr>
          <p:cNvPr id="24" name="Text 22"/>
          <p:cNvSpPr/>
          <p:nvPr/>
        </p:nvSpPr>
        <p:spPr>
          <a:xfrm>
            <a:off x="10600639"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5.5%</a:t>
            </a:r>
            <a:endParaRPr lang="en-US" sz="1100" dirty="0"/>
          </a:p>
        </p:txBody>
      </p:sp>
      <p:sp>
        <p:nvSpPr>
          <p:cNvPr id="25" name="Text 23"/>
          <p:cNvSpPr/>
          <p:nvPr/>
        </p:nvSpPr>
        <p:spPr>
          <a:xfrm>
            <a:off x="6507328"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楽天／Yahoo／寺田Wine Market（10〜12%）と自社EC・自社オークション（0〜3%）の加重平均</a:t>
            </a:r>
            <a:endParaRPr lang="en-US" sz="850" dirty="0"/>
          </a:p>
        </p:txBody>
      </p:sp>
      <p:sp>
        <p:nvSpPr>
          <p:cNvPr id="26" name="Text 24"/>
          <p:cNvSpPr/>
          <p:nvPr/>
        </p:nvSpPr>
        <p:spPr>
          <a:xfrm>
            <a:off x="6507328"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カード決済手数料</a:t>
            </a:r>
            <a:endParaRPr lang="en-US" sz="1000" dirty="0"/>
          </a:p>
        </p:txBody>
      </p:sp>
      <p:sp>
        <p:nvSpPr>
          <p:cNvPr id="27" name="Text 25"/>
          <p:cNvSpPr/>
          <p:nvPr/>
        </p:nvSpPr>
        <p:spPr>
          <a:xfrm>
            <a:off x="10600639"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3.2%</a:t>
            </a:r>
            <a:endParaRPr lang="en-US" sz="1100" dirty="0"/>
          </a:p>
        </p:txBody>
      </p:sp>
      <p:sp>
        <p:nvSpPr>
          <p:cNvPr id="28" name="Text 26"/>
          <p:cNvSpPr/>
          <p:nvPr/>
        </p:nvSpPr>
        <p:spPr>
          <a:xfrm>
            <a:off x="6507328"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クレジットカード決済</a:t>
            </a:r>
            <a:endParaRPr lang="en-US" sz="850" dirty="0"/>
          </a:p>
        </p:txBody>
      </p:sp>
      <p:sp>
        <p:nvSpPr>
          <p:cNvPr id="29" name="Text 27"/>
          <p:cNvSpPr/>
          <p:nvPr/>
        </p:nvSpPr>
        <p:spPr>
          <a:xfrm>
            <a:off x="6507328" y="3291840"/>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出庫・梱包・クール便</a:t>
            </a:r>
            <a:endParaRPr lang="en-US" sz="1000" dirty="0"/>
          </a:p>
        </p:txBody>
      </p:sp>
      <p:sp>
        <p:nvSpPr>
          <p:cNvPr id="30" name="Text 28"/>
          <p:cNvSpPr/>
          <p:nvPr/>
        </p:nvSpPr>
        <p:spPr>
          <a:xfrm>
            <a:off x="10600639" y="3291840"/>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2.5%</a:t>
            </a:r>
            <a:endParaRPr lang="en-US" sz="1100" dirty="0"/>
          </a:p>
        </p:txBody>
      </p:sp>
      <p:sp>
        <p:nvSpPr>
          <p:cNvPr id="31" name="Text 29"/>
          <p:cNvSpPr/>
          <p:nvPr/>
        </p:nvSpPr>
        <p:spPr>
          <a:xfrm>
            <a:off x="6507328" y="3483864"/>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1口1,300円＋梱包資材。1口平均6万円想定</a:t>
            </a:r>
            <a:endParaRPr lang="en-US" sz="850" dirty="0"/>
          </a:p>
        </p:txBody>
      </p:sp>
      <p:sp>
        <p:nvSpPr>
          <p:cNvPr id="32" name="Text 30"/>
          <p:cNvSpPr/>
          <p:nvPr/>
        </p:nvSpPr>
        <p:spPr>
          <a:xfrm>
            <a:off x="6507328"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33" name="Text 31"/>
          <p:cNvSpPr/>
          <p:nvPr/>
        </p:nvSpPr>
        <p:spPr>
          <a:xfrm>
            <a:off x="9521647"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11.2%（▲8.96）</a:t>
            </a:r>
            <a:endParaRPr lang="en-US" sz="1050" dirty="0"/>
          </a:p>
        </p:txBody>
      </p:sp>
      <p:sp>
        <p:nvSpPr>
          <p:cNvPr id="34" name="Text 32"/>
          <p:cNvSpPr/>
          <p:nvPr/>
        </p:nvSpPr>
        <p:spPr>
          <a:xfrm>
            <a:off x="6507328"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35" name="Text 33"/>
          <p:cNvSpPr/>
          <p:nvPr/>
        </p:nvSpPr>
        <p:spPr>
          <a:xfrm>
            <a:off x="9521647"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71.04</a:t>
            </a:r>
            <a:endParaRPr lang="en-US" sz="2500" dirty="0"/>
          </a:p>
        </p:txBody>
      </p:sp>
      <p:sp>
        <p:nvSpPr>
          <p:cNvPr id="36" name="Shape 34"/>
          <p:cNvSpPr/>
          <p:nvPr/>
        </p:nvSpPr>
        <p:spPr>
          <a:xfrm>
            <a:off x="658368" y="4791456"/>
            <a:ext cx="10874959" cy="914400"/>
          </a:xfrm>
          <a:prstGeom prst="roundRect">
            <a:avLst>
              <a:gd name="adj" fmla="val 4500"/>
            </a:avLst>
          </a:prstGeom>
          <a:solidFill>
            <a:srgbClr val="1F1D19"/>
          </a:solidFill>
          <a:ln w="9525">
            <a:solidFill>
              <a:srgbClr val="6E5730"/>
            </a:solidFill>
            <a:prstDash val="solid"/>
          </a:ln>
        </p:spPr>
      </p:sp>
      <p:sp>
        <p:nvSpPr>
          <p:cNvPr id="37" name="Text 35"/>
          <p:cNvSpPr/>
          <p:nvPr/>
        </p:nvSpPr>
        <p:spPr>
          <a:xfrm>
            <a:off x="932688" y="4901184"/>
            <a:ext cx="10326319" cy="694944"/>
          </a:xfrm>
          <a:prstGeom prst="rect">
            <a:avLst/>
          </a:prstGeom>
          <a:noFill/>
          <a:ln/>
        </p:spPr>
        <p:txBody>
          <a:bodyPr wrap="square" lIns="0" tIns="0" rIns="0" bIns="0" rtlCol="0" anchor="ctr"/>
          <a:lstStyle/>
          <a:p>
            <a:pPr indent="0" marL="0">
              <a:lnSpc>
                <a:spcPct val="122000"/>
              </a:lnSpc>
              <a:buNone/>
            </a:pPr>
            <a:r>
              <a:rPr lang="en-US" sz="1200" b="1" dirty="0">
                <a:solidFill>
                  <a:srgbClr val="C9A96E"/>
                </a:solidFill>
                <a:latin typeface="Yu Gothic" pitchFamily="34" charset="0"/>
                <a:ea typeface="Yu Gothic" pitchFamily="34" charset="-122"/>
                <a:cs typeface="Yu Gothic" pitchFamily="34" charset="-120"/>
              </a:rPr>
              <a:t>手数料が重くても、B2Cのほうが手取りは1.74ポイント高い。</a:t>
            </a:r>
            <a:pPr indent="0" marL="0">
              <a:lnSpc>
                <a:spcPct val="122000"/>
              </a:lnSpc>
              <a:buNone/>
            </a:pPr>
            <a:r>
              <a:rPr lang="en-US" sz="1000" dirty="0">
                <a:solidFill>
                  <a:srgbClr val="EFEBE3"/>
                </a:solidFill>
                <a:latin typeface="Yu Gothic" pitchFamily="34" charset="0"/>
                <a:ea typeface="Yu Gothic" pitchFamily="34" charset="-122"/>
                <a:cs typeface="Yu Gothic" pitchFamily="34" charset="-120"/>
              </a:rPr>
              <a:t>　B2Cは手数料率11.2%を負うが、売値が定価比80とB2Bの70を10ポイント上回るため、差引きで勝る。ただしB2Cは1本ずつの出荷となり販売量の上限が低いため、回転期間を確保するにはB2Bの卸売が不可欠となる。両者を半々で運用し、加重平均で売値75.00・変動販売費6.44%・手取り70.17を主線とする（いずれも取得時点の価格。保有中の値上がりは次頁以降で加算）。</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3シナリオの単位経済（保有12ヶ月・定価100あたり）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SPC取得原価と変動販売費を控除し、保有中の値上がりを売値に加算したうえでの粗利。</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sp>
        <p:nvSpPr>
          <p:cNvPr id="7" name="Shape 5"/>
          <p:cNvSpPr/>
          <p:nvPr/>
        </p:nvSpPr>
        <p:spPr>
          <a:xfrm>
            <a:off x="658368" y="1627632"/>
            <a:ext cx="3429914" cy="3931920"/>
          </a:xfrm>
          <a:prstGeom prst="roundRect">
            <a:avLst>
              <a:gd name="adj" fmla="val 1200"/>
            </a:avLst>
          </a:prstGeom>
          <a:solidFill>
            <a:srgbClr val="171614"/>
          </a:solidFill>
          <a:ln w="9525">
            <a:solidFill>
              <a:srgbClr val="2E2A24"/>
            </a:solidFill>
            <a:prstDash val="solid"/>
          </a:ln>
        </p:spPr>
      </p:sp>
      <p:sp>
        <p:nvSpPr>
          <p:cNvPr id="8" name="Text 6"/>
          <p:cNvSpPr/>
          <p:nvPr/>
        </p:nvSpPr>
        <p:spPr>
          <a:xfrm>
            <a:off x="914400"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ネガティブ</a:t>
            </a:r>
            <a:endParaRPr lang="en-US" sz="1300" dirty="0"/>
          </a:p>
        </p:txBody>
      </p:sp>
      <p:sp>
        <p:nvSpPr>
          <p:cNvPr id="9" name="Text 7"/>
          <p:cNvSpPr/>
          <p:nvPr/>
        </p:nvSpPr>
        <p:spPr>
          <a:xfrm>
            <a:off x="914400"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10" name="Text 8"/>
          <p:cNvSpPr/>
          <p:nvPr/>
        </p:nvSpPr>
        <p:spPr>
          <a:xfrm>
            <a:off x="2606954"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11" name="Text 9"/>
          <p:cNvSpPr/>
          <p:nvPr/>
        </p:nvSpPr>
        <p:spPr>
          <a:xfrm>
            <a:off x="914400"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a:t>
            </a:r>
            <a:endParaRPr lang="en-US" sz="950" dirty="0"/>
          </a:p>
        </p:txBody>
      </p:sp>
      <p:sp>
        <p:nvSpPr>
          <p:cNvPr id="12" name="Text 10"/>
          <p:cNvSpPr/>
          <p:nvPr/>
        </p:nvSpPr>
        <p:spPr>
          <a:xfrm>
            <a:off x="2606954"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50.50</a:t>
            </a:r>
            <a:endParaRPr lang="en-US" sz="1350" dirty="0"/>
          </a:p>
        </p:txBody>
      </p:sp>
      <p:sp>
        <p:nvSpPr>
          <p:cNvPr id="13" name="Text 11"/>
          <p:cNvSpPr/>
          <p:nvPr/>
        </p:nvSpPr>
        <p:spPr>
          <a:xfrm>
            <a:off x="914400"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14" name="Text 12"/>
          <p:cNvSpPr/>
          <p:nvPr/>
        </p:nvSpPr>
        <p:spPr>
          <a:xfrm>
            <a:off x="2606954"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71.25</a:t>
            </a:r>
            <a:endParaRPr lang="en-US" sz="1350" dirty="0"/>
          </a:p>
        </p:txBody>
      </p:sp>
      <p:sp>
        <p:nvSpPr>
          <p:cNvPr id="15" name="Text 13"/>
          <p:cNvSpPr/>
          <p:nvPr/>
        </p:nvSpPr>
        <p:spPr>
          <a:xfrm>
            <a:off x="914400"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16" name="Text 14"/>
          <p:cNvSpPr/>
          <p:nvPr/>
        </p:nvSpPr>
        <p:spPr>
          <a:xfrm>
            <a:off x="2606954"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×1.000</a:t>
            </a:r>
            <a:endParaRPr lang="en-US" sz="1250" dirty="0"/>
          </a:p>
        </p:txBody>
      </p:sp>
      <p:sp>
        <p:nvSpPr>
          <p:cNvPr id="17" name="Text 15"/>
          <p:cNvSpPr/>
          <p:nvPr/>
        </p:nvSpPr>
        <p:spPr>
          <a:xfrm>
            <a:off x="914400"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18" name="Text 16"/>
          <p:cNvSpPr/>
          <p:nvPr/>
        </p:nvSpPr>
        <p:spPr>
          <a:xfrm>
            <a:off x="2606954"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71.25</a:t>
            </a:r>
            <a:endParaRPr lang="en-US" sz="1350" dirty="0"/>
          </a:p>
        </p:txBody>
      </p:sp>
      <p:sp>
        <p:nvSpPr>
          <p:cNvPr id="19" name="Text 17"/>
          <p:cNvSpPr/>
          <p:nvPr/>
        </p:nvSpPr>
        <p:spPr>
          <a:xfrm>
            <a:off x="914400"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20" name="Text 18"/>
          <p:cNvSpPr/>
          <p:nvPr/>
        </p:nvSpPr>
        <p:spPr>
          <a:xfrm>
            <a:off x="2606954"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4.59</a:t>
            </a:r>
            <a:endParaRPr lang="en-US" sz="1350" dirty="0"/>
          </a:p>
        </p:txBody>
      </p:sp>
      <p:sp>
        <p:nvSpPr>
          <p:cNvPr id="21" name="Text 19"/>
          <p:cNvSpPr/>
          <p:nvPr/>
        </p:nvSpPr>
        <p:spPr>
          <a:xfrm>
            <a:off x="914400"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22" name="Text 20"/>
          <p:cNvSpPr/>
          <p:nvPr/>
        </p:nvSpPr>
        <p:spPr>
          <a:xfrm>
            <a:off x="2606954"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66.66</a:t>
            </a:r>
            <a:endParaRPr lang="en-US" sz="1350" dirty="0"/>
          </a:p>
        </p:txBody>
      </p:sp>
      <p:sp>
        <p:nvSpPr>
          <p:cNvPr id="23" name="Text 21"/>
          <p:cNvSpPr/>
          <p:nvPr/>
        </p:nvSpPr>
        <p:spPr>
          <a:xfrm>
            <a:off x="914400"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24" name="Text 22"/>
          <p:cNvSpPr/>
          <p:nvPr/>
        </p:nvSpPr>
        <p:spPr>
          <a:xfrm>
            <a:off x="2606954"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16.16</a:t>
            </a:r>
            <a:endParaRPr lang="en-US" sz="1350" dirty="0"/>
          </a:p>
        </p:txBody>
      </p:sp>
      <p:sp>
        <p:nvSpPr>
          <p:cNvPr id="25" name="Text 23"/>
          <p:cNvSpPr/>
          <p:nvPr/>
        </p:nvSpPr>
        <p:spPr>
          <a:xfrm>
            <a:off x="914400"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26" name="Text 24"/>
          <p:cNvSpPr/>
          <p:nvPr/>
        </p:nvSpPr>
        <p:spPr>
          <a:xfrm>
            <a:off x="2606954"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22.7%</a:t>
            </a:r>
            <a:endParaRPr lang="en-US" sz="1250" dirty="0"/>
          </a:p>
        </p:txBody>
      </p:sp>
      <p:sp>
        <p:nvSpPr>
          <p:cNvPr id="27" name="Text 25"/>
          <p:cNvSpPr/>
          <p:nvPr/>
        </p:nvSpPr>
        <p:spPr>
          <a:xfrm>
            <a:off x="914400"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28" name="Text 26"/>
          <p:cNvSpPr/>
          <p:nvPr/>
        </p:nvSpPr>
        <p:spPr>
          <a:xfrm>
            <a:off x="2606954"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32.0%</a:t>
            </a:r>
            <a:endParaRPr lang="en-US" sz="1250" dirty="0"/>
          </a:p>
        </p:txBody>
      </p:sp>
      <p:sp>
        <p:nvSpPr>
          <p:cNvPr id="29" name="Text 27"/>
          <p:cNvSpPr/>
          <p:nvPr/>
        </p:nvSpPr>
        <p:spPr>
          <a:xfrm>
            <a:off x="914400"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売値を5%値引き（B2B66.5／B2C76）かつ価格は横ばい</a:t>
            </a:r>
            <a:endParaRPr lang="en-US" sz="900" dirty="0"/>
          </a:p>
        </p:txBody>
      </p:sp>
      <p:sp>
        <p:nvSpPr>
          <p:cNvPr id="30" name="Shape 28"/>
          <p:cNvSpPr/>
          <p:nvPr/>
        </p:nvSpPr>
        <p:spPr>
          <a:xfrm>
            <a:off x="4380890" y="1627632"/>
            <a:ext cx="3429914" cy="3931920"/>
          </a:xfrm>
          <a:prstGeom prst="roundRect">
            <a:avLst>
              <a:gd name="adj" fmla="val 1200"/>
            </a:avLst>
          </a:prstGeom>
          <a:solidFill>
            <a:srgbClr val="1F1D19"/>
          </a:solidFill>
          <a:ln w="9525">
            <a:solidFill>
              <a:srgbClr val="6E5730"/>
            </a:solidFill>
            <a:prstDash val="solid"/>
          </a:ln>
        </p:spPr>
      </p:sp>
      <p:sp>
        <p:nvSpPr>
          <p:cNvPr id="31" name="Text 29"/>
          <p:cNvSpPr/>
          <p:nvPr/>
        </p:nvSpPr>
        <p:spPr>
          <a:xfrm>
            <a:off x="4636922" y="1828800"/>
            <a:ext cx="2917850"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ニュートラル（主線）</a:t>
            </a:r>
            <a:endParaRPr lang="en-US" sz="1300" dirty="0"/>
          </a:p>
        </p:txBody>
      </p:sp>
      <p:sp>
        <p:nvSpPr>
          <p:cNvPr id="32" name="Text 30"/>
          <p:cNvSpPr/>
          <p:nvPr/>
        </p:nvSpPr>
        <p:spPr>
          <a:xfrm>
            <a:off x="4636922"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33" name="Text 31"/>
          <p:cNvSpPr/>
          <p:nvPr/>
        </p:nvSpPr>
        <p:spPr>
          <a:xfrm>
            <a:off x="6329477"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34" name="Text 32"/>
          <p:cNvSpPr/>
          <p:nvPr/>
        </p:nvSpPr>
        <p:spPr>
          <a:xfrm>
            <a:off x="4636922"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a:t>
            </a:r>
            <a:endParaRPr lang="en-US" sz="950" dirty="0"/>
          </a:p>
        </p:txBody>
      </p:sp>
      <p:sp>
        <p:nvSpPr>
          <p:cNvPr id="35" name="Text 33"/>
          <p:cNvSpPr/>
          <p:nvPr/>
        </p:nvSpPr>
        <p:spPr>
          <a:xfrm>
            <a:off x="6329477" y="251917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50.50</a:t>
            </a:r>
            <a:endParaRPr lang="en-US" sz="1350" dirty="0"/>
          </a:p>
        </p:txBody>
      </p:sp>
      <p:sp>
        <p:nvSpPr>
          <p:cNvPr id="36" name="Text 34"/>
          <p:cNvSpPr/>
          <p:nvPr/>
        </p:nvSpPr>
        <p:spPr>
          <a:xfrm>
            <a:off x="4636922"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37" name="Text 35"/>
          <p:cNvSpPr/>
          <p:nvPr/>
        </p:nvSpPr>
        <p:spPr>
          <a:xfrm>
            <a:off x="6329477"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38" name="Text 36"/>
          <p:cNvSpPr/>
          <p:nvPr/>
        </p:nvSpPr>
        <p:spPr>
          <a:xfrm>
            <a:off x="4636922"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39" name="Text 37"/>
          <p:cNvSpPr/>
          <p:nvPr/>
        </p:nvSpPr>
        <p:spPr>
          <a:xfrm>
            <a:off x="6329477" y="309524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×1.060</a:t>
            </a:r>
            <a:endParaRPr lang="en-US" sz="1250" dirty="0"/>
          </a:p>
        </p:txBody>
      </p:sp>
      <p:sp>
        <p:nvSpPr>
          <p:cNvPr id="40" name="Text 38"/>
          <p:cNvSpPr/>
          <p:nvPr/>
        </p:nvSpPr>
        <p:spPr>
          <a:xfrm>
            <a:off x="4636922"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41" name="Text 39"/>
          <p:cNvSpPr/>
          <p:nvPr/>
        </p:nvSpPr>
        <p:spPr>
          <a:xfrm>
            <a:off x="6329477"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79.50</a:t>
            </a:r>
            <a:endParaRPr lang="en-US" sz="1350" dirty="0"/>
          </a:p>
        </p:txBody>
      </p:sp>
      <p:sp>
        <p:nvSpPr>
          <p:cNvPr id="42" name="Text 40"/>
          <p:cNvSpPr/>
          <p:nvPr/>
        </p:nvSpPr>
        <p:spPr>
          <a:xfrm>
            <a:off x="4636922"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43" name="Text 41"/>
          <p:cNvSpPr/>
          <p:nvPr/>
        </p:nvSpPr>
        <p:spPr>
          <a:xfrm>
            <a:off x="6329477"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5.12</a:t>
            </a:r>
            <a:endParaRPr lang="en-US" sz="1350" dirty="0"/>
          </a:p>
        </p:txBody>
      </p:sp>
      <p:sp>
        <p:nvSpPr>
          <p:cNvPr id="44" name="Text 42"/>
          <p:cNvSpPr/>
          <p:nvPr/>
        </p:nvSpPr>
        <p:spPr>
          <a:xfrm>
            <a:off x="4636922"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45" name="Text 43"/>
          <p:cNvSpPr/>
          <p:nvPr/>
        </p:nvSpPr>
        <p:spPr>
          <a:xfrm>
            <a:off x="6329477" y="395935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74.38</a:t>
            </a:r>
            <a:endParaRPr lang="en-US" sz="1350" dirty="0"/>
          </a:p>
        </p:txBody>
      </p:sp>
      <p:sp>
        <p:nvSpPr>
          <p:cNvPr id="46" name="Text 44"/>
          <p:cNvSpPr/>
          <p:nvPr/>
        </p:nvSpPr>
        <p:spPr>
          <a:xfrm>
            <a:off x="4636922"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47" name="Text 45"/>
          <p:cNvSpPr/>
          <p:nvPr/>
        </p:nvSpPr>
        <p:spPr>
          <a:xfrm>
            <a:off x="6329477" y="424738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23.88</a:t>
            </a:r>
            <a:endParaRPr lang="en-US" sz="1350" dirty="0"/>
          </a:p>
        </p:txBody>
      </p:sp>
      <p:sp>
        <p:nvSpPr>
          <p:cNvPr id="48" name="Text 46"/>
          <p:cNvSpPr/>
          <p:nvPr/>
        </p:nvSpPr>
        <p:spPr>
          <a:xfrm>
            <a:off x="4636922"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49" name="Text 47"/>
          <p:cNvSpPr/>
          <p:nvPr/>
        </p:nvSpPr>
        <p:spPr>
          <a:xfrm>
            <a:off x="6329477" y="453542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30.0%</a:t>
            </a:r>
            <a:endParaRPr lang="en-US" sz="1250" dirty="0"/>
          </a:p>
        </p:txBody>
      </p:sp>
      <p:sp>
        <p:nvSpPr>
          <p:cNvPr id="50" name="Text 48"/>
          <p:cNvSpPr/>
          <p:nvPr/>
        </p:nvSpPr>
        <p:spPr>
          <a:xfrm>
            <a:off x="4636922"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51" name="Text 49"/>
          <p:cNvSpPr/>
          <p:nvPr/>
        </p:nvSpPr>
        <p:spPr>
          <a:xfrm>
            <a:off x="6329477" y="4823460"/>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47.3%</a:t>
            </a:r>
            <a:endParaRPr lang="en-US" sz="1250" dirty="0"/>
          </a:p>
        </p:txBody>
      </p:sp>
      <p:sp>
        <p:nvSpPr>
          <p:cNvPr id="52" name="Text 50"/>
          <p:cNvSpPr/>
          <p:nvPr/>
        </p:nvSpPr>
        <p:spPr>
          <a:xfrm>
            <a:off x="4636922"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仕入40/60の半々・売却はB2B70とB2C80の半々・年6%上昇</a:t>
            </a:r>
            <a:endParaRPr lang="en-US" sz="900" dirty="0"/>
          </a:p>
        </p:txBody>
      </p:sp>
      <p:sp>
        <p:nvSpPr>
          <p:cNvPr id="53" name="Shape 51"/>
          <p:cNvSpPr/>
          <p:nvPr/>
        </p:nvSpPr>
        <p:spPr>
          <a:xfrm>
            <a:off x="8103413" y="1627632"/>
            <a:ext cx="3429914" cy="3931920"/>
          </a:xfrm>
          <a:prstGeom prst="roundRect">
            <a:avLst>
              <a:gd name="adj" fmla="val 1200"/>
            </a:avLst>
          </a:prstGeom>
          <a:solidFill>
            <a:srgbClr val="171614"/>
          </a:solidFill>
          <a:ln w="9525">
            <a:solidFill>
              <a:srgbClr val="2E2A24"/>
            </a:solidFill>
            <a:prstDash val="solid"/>
          </a:ln>
        </p:spPr>
      </p:sp>
      <p:sp>
        <p:nvSpPr>
          <p:cNvPr id="54" name="Text 52"/>
          <p:cNvSpPr/>
          <p:nvPr/>
        </p:nvSpPr>
        <p:spPr>
          <a:xfrm>
            <a:off x="8359445"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ポジティブ</a:t>
            </a:r>
            <a:endParaRPr lang="en-US" sz="1300" dirty="0"/>
          </a:p>
        </p:txBody>
      </p:sp>
      <p:sp>
        <p:nvSpPr>
          <p:cNvPr id="55" name="Text 53"/>
          <p:cNvSpPr/>
          <p:nvPr/>
        </p:nvSpPr>
        <p:spPr>
          <a:xfrm>
            <a:off x="8359445"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56" name="Text 54"/>
          <p:cNvSpPr/>
          <p:nvPr/>
        </p:nvSpPr>
        <p:spPr>
          <a:xfrm>
            <a:off x="10051999"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40.00</a:t>
            </a:r>
            <a:endParaRPr lang="en-US" sz="1350" dirty="0"/>
          </a:p>
        </p:txBody>
      </p:sp>
      <p:sp>
        <p:nvSpPr>
          <p:cNvPr id="57" name="Text 55"/>
          <p:cNvSpPr/>
          <p:nvPr/>
        </p:nvSpPr>
        <p:spPr>
          <a:xfrm>
            <a:off x="8359445"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a:t>
            </a:r>
            <a:endParaRPr lang="en-US" sz="950" dirty="0"/>
          </a:p>
        </p:txBody>
      </p:sp>
      <p:sp>
        <p:nvSpPr>
          <p:cNvPr id="58" name="Text 56"/>
          <p:cNvSpPr/>
          <p:nvPr/>
        </p:nvSpPr>
        <p:spPr>
          <a:xfrm>
            <a:off x="10051999"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40.40</a:t>
            </a:r>
            <a:endParaRPr lang="en-US" sz="1350" dirty="0"/>
          </a:p>
        </p:txBody>
      </p:sp>
      <p:sp>
        <p:nvSpPr>
          <p:cNvPr id="59" name="Text 57"/>
          <p:cNvSpPr/>
          <p:nvPr/>
        </p:nvSpPr>
        <p:spPr>
          <a:xfrm>
            <a:off x="8359445"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60" name="Text 58"/>
          <p:cNvSpPr/>
          <p:nvPr/>
        </p:nvSpPr>
        <p:spPr>
          <a:xfrm>
            <a:off x="10051999"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80.00</a:t>
            </a:r>
            <a:endParaRPr lang="en-US" sz="1350" dirty="0"/>
          </a:p>
        </p:txBody>
      </p:sp>
      <p:sp>
        <p:nvSpPr>
          <p:cNvPr id="61" name="Text 59"/>
          <p:cNvSpPr/>
          <p:nvPr/>
        </p:nvSpPr>
        <p:spPr>
          <a:xfrm>
            <a:off x="8359445"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62" name="Text 60"/>
          <p:cNvSpPr/>
          <p:nvPr/>
        </p:nvSpPr>
        <p:spPr>
          <a:xfrm>
            <a:off x="10051999"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×1.060</a:t>
            </a:r>
            <a:endParaRPr lang="en-US" sz="1250" dirty="0"/>
          </a:p>
        </p:txBody>
      </p:sp>
      <p:sp>
        <p:nvSpPr>
          <p:cNvPr id="63" name="Text 61"/>
          <p:cNvSpPr/>
          <p:nvPr/>
        </p:nvSpPr>
        <p:spPr>
          <a:xfrm>
            <a:off x="8359445"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64" name="Text 62"/>
          <p:cNvSpPr/>
          <p:nvPr/>
        </p:nvSpPr>
        <p:spPr>
          <a:xfrm>
            <a:off x="10051999"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84.80</a:t>
            </a:r>
            <a:endParaRPr lang="en-US" sz="1350" dirty="0"/>
          </a:p>
        </p:txBody>
      </p:sp>
      <p:sp>
        <p:nvSpPr>
          <p:cNvPr id="65" name="Text 63"/>
          <p:cNvSpPr/>
          <p:nvPr/>
        </p:nvSpPr>
        <p:spPr>
          <a:xfrm>
            <a:off x="8359445"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66" name="Text 64"/>
          <p:cNvSpPr/>
          <p:nvPr/>
        </p:nvSpPr>
        <p:spPr>
          <a:xfrm>
            <a:off x="10051999"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9.50</a:t>
            </a:r>
            <a:endParaRPr lang="en-US" sz="1350" dirty="0"/>
          </a:p>
        </p:txBody>
      </p:sp>
      <p:sp>
        <p:nvSpPr>
          <p:cNvPr id="67" name="Text 65"/>
          <p:cNvSpPr/>
          <p:nvPr/>
        </p:nvSpPr>
        <p:spPr>
          <a:xfrm>
            <a:off x="8359445"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68" name="Text 66"/>
          <p:cNvSpPr/>
          <p:nvPr/>
        </p:nvSpPr>
        <p:spPr>
          <a:xfrm>
            <a:off x="10051999"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75.30</a:t>
            </a:r>
            <a:endParaRPr lang="en-US" sz="1350" dirty="0"/>
          </a:p>
        </p:txBody>
      </p:sp>
      <p:sp>
        <p:nvSpPr>
          <p:cNvPr id="69" name="Text 67"/>
          <p:cNvSpPr/>
          <p:nvPr/>
        </p:nvSpPr>
        <p:spPr>
          <a:xfrm>
            <a:off x="8359445"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70" name="Text 68"/>
          <p:cNvSpPr/>
          <p:nvPr/>
        </p:nvSpPr>
        <p:spPr>
          <a:xfrm>
            <a:off x="10051999"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34.90</a:t>
            </a:r>
            <a:endParaRPr lang="en-US" sz="1350" dirty="0"/>
          </a:p>
        </p:txBody>
      </p:sp>
      <p:sp>
        <p:nvSpPr>
          <p:cNvPr id="71" name="Text 69"/>
          <p:cNvSpPr/>
          <p:nvPr/>
        </p:nvSpPr>
        <p:spPr>
          <a:xfrm>
            <a:off x="8359445"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72" name="Text 70"/>
          <p:cNvSpPr/>
          <p:nvPr/>
        </p:nvSpPr>
        <p:spPr>
          <a:xfrm>
            <a:off x="10051999"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41.2%</a:t>
            </a:r>
            <a:endParaRPr lang="en-US" sz="1250" dirty="0"/>
          </a:p>
        </p:txBody>
      </p:sp>
      <p:sp>
        <p:nvSpPr>
          <p:cNvPr id="73" name="Text 71"/>
          <p:cNvSpPr/>
          <p:nvPr/>
        </p:nvSpPr>
        <p:spPr>
          <a:xfrm>
            <a:off x="8359445"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74" name="Text 72"/>
          <p:cNvSpPr/>
          <p:nvPr/>
        </p:nvSpPr>
        <p:spPr>
          <a:xfrm>
            <a:off x="10051999"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86.4%</a:t>
            </a:r>
            <a:endParaRPr lang="en-US" sz="1250" dirty="0"/>
          </a:p>
        </p:txBody>
      </p:sp>
      <p:sp>
        <p:nvSpPr>
          <p:cNvPr id="75" name="Text 73"/>
          <p:cNvSpPr/>
          <p:nvPr/>
        </p:nvSpPr>
        <p:spPr>
          <a:xfrm>
            <a:off x="8359445"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仕入はインポーター40のみ・売却はネット最安80のみ（B2C100%）</a:t>
            </a:r>
            <a:endParaRPr lang="en-US" sz="900" dirty="0"/>
          </a:p>
        </p:txBody>
      </p:sp>
      <p:sp>
        <p:nvSpPr>
          <p:cNvPr id="76" name="Text 74"/>
          <p:cNvSpPr/>
          <p:nvPr/>
        </p:nvSpPr>
        <p:spPr>
          <a:xfrm>
            <a:off x="658368" y="5687568"/>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粗利率（売上比）は単位粗利を売却時の売値で除したもの、投下原価利益率は投下資本であるSPC取得原価で除したもの。分母が異なるだけで同じ単位粗利を見ている。利回りの源泉となるのは後者であり、年1回転すれば投下資本が年47.3%増えることを意味する。</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SPC費用の前提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共通費用とチャネル別の変動販売費に分けて計上。監査・法務まで含め、利回りを作るための圧縮は行っていない。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Text 5"/>
          <p:cNvSpPr/>
          <p:nvPr/>
        </p:nvSpPr>
        <p:spPr>
          <a:xfrm>
            <a:off x="658368" y="1627632"/>
            <a:ext cx="27432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共通費用</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792224"/>
          <a:ext cx="10874959" cy="914400"/>
        </p:xfrm>
        <a:graphic>
          <a:graphicData uri="http://schemas.openxmlformats.org/drawingml/2006/table">
            <a:tbl>
              <a:tblPr/>
              <a:tblGrid>
                <a:gridCol w="2331720"/>
                <a:gridCol w="1965960"/>
                <a:gridCol w="6574536"/>
              </a:tblGrid>
              <a:tr h="27889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保管（定温倉庫）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年7,500円／ロット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1ロット＝定価100万円相当（約40本）。月約16円／本で業務用パレット定温保管の一般水準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動産総合保険</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平均在庫簿価の年0.15%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火災・破損・盗難・輸送中事故を全量付保。滞留・破損ロスは保険でカバーするため別途計上しない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入庫・検品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入庫時の検品・棚入れ。出庫費用はチャネル別の変動販売費に含む</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SPC維持費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年200万円（固定）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税務・事務受託・法務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管理報酬</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総額の年2%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1stクローズで年1,000万円、2ndクローズで年2,000万円。従来のSPC人件費360万円に代えて計上</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AUP（合意された手続）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公認会計士による合意された手続の実施と報告書の発行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予備費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想定外の実費に充当。未使用分はSPCの利益に残る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WineBank販売オペコスト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SPC負担なし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WineBankの成功報酬・持分取分から負担する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4334256"/>
            <a:ext cx="45720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チャネル別 変動販売費（売上比）</a:t>
            </a:r>
            <a:endParaRPr lang="en-US" sz="1100" dirty="0"/>
          </a:p>
        </p:txBody>
      </p:sp>
      <p:sp>
        <p:nvSpPr>
          <p:cNvPr id="10" name="Shape 7"/>
          <p:cNvSpPr/>
          <p:nvPr/>
        </p:nvSpPr>
        <p:spPr>
          <a:xfrm>
            <a:off x="658368" y="4572000"/>
            <a:ext cx="3442106" cy="1097280"/>
          </a:xfrm>
          <a:prstGeom prst="roundRect">
            <a:avLst>
              <a:gd name="adj" fmla="val 3750"/>
            </a:avLst>
          </a:prstGeom>
          <a:solidFill>
            <a:srgbClr val="171614"/>
          </a:solidFill>
          <a:ln w="9525">
            <a:solidFill>
              <a:srgbClr val="2E2A24"/>
            </a:solidFill>
            <a:prstDash val="solid"/>
          </a:ln>
        </p:spPr>
      </p:sp>
      <p:sp>
        <p:nvSpPr>
          <p:cNvPr id="11" name="Text 8"/>
          <p:cNvSpPr/>
          <p:nvPr/>
        </p:nvSpPr>
        <p:spPr>
          <a:xfrm>
            <a:off x="896112"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B2B｜酒販店卸</a:t>
            </a:r>
            <a:endParaRPr lang="en-US" sz="1100" dirty="0"/>
          </a:p>
        </p:txBody>
      </p:sp>
      <p:sp>
        <p:nvSpPr>
          <p:cNvPr id="12" name="Text 9"/>
          <p:cNvSpPr/>
          <p:nvPr/>
        </p:nvSpPr>
        <p:spPr>
          <a:xfrm>
            <a:off x="2783738"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1.0</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3" name="Text 10"/>
          <p:cNvSpPr/>
          <p:nvPr/>
        </p:nvSpPr>
        <p:spPr>
          <a:xfrm>
            <a:off x="896112"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出庫・配送 0.6%　／　決済・与信（貸倒引当）0.4%</a:t>
            </a:r>
            <a:endParaRPr lang="en-US" sz="900" dirty="0"/>
          </a:p>
        </p:txBody>
      </p:sp>
      <p:sp>
        <p:nvSpPr>
          <p:cNvPr id="14" name="Shape 11"/>
          <p:cNvSpPr/>
          <p:nvPr/>
        </p:nvSpPr>
        <p:spPr>
          <a:xfrm>
            <a:off x="4374794" y="4572000"/>
            <a:ext cx="3442106" cy="1097280"/>
          </a:xfrm>
          <a:prstGeom prst="roundRect">
            <a:avLst>
              <a:gd name="adj" fmla="val 3750"/>
            </a:avLst>
          </a:prstGeom>
          <a:solidFill>
            <a:srgbClr val="171614"/>
          </a:solidFill>
          <a:ln w="9525">
            <a:solidFill>
              <a:srgbClr val="2E2A24"/>
            </a:solidFill>
            <a:prstDash val="solid"/>
          </a:ln>
        </p:spPr>
      </p:sp>
      <p:sp>
        <p:nvSpPr>
          <p:cNvPr id="15" name="Text 12"/>
          <p:cNvSpPr/>
          <p:nvPr/>
        </p:nvSpPr>
        <p:spPr>
          <a:xfrm>
            <a:off x="4612538"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B2C｜自社EC・オークション</a:t>
            </a:r>
            <a:endParaRPr lang="en-US" sz="1100" dirty="0"/>
          </a:p>
        </p:txBody>
      </p:sp>
      <p:sp>
        <p:nvSpPr>
          <p:cNvPr id="16" name="Text 13"/>
          <p:cNvSpPr/>
          <p:nvPr/>
        </p:nvSpPr>
        <p:spPr>
          <a:xfrm>
            <a:off x="6500165"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11.2</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7" name="Text 14"/>
          <p:cNvSpPr/>
          <p:nvPr/>
        </p:nvSpPr>
        <p:spPr>
          <a:xfrm>
            <a:off x="4612538"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モール・出品手数料 5.5%　／　カード決済 3.2%　／　出庫・梱包・クール便 2.5%</a:t>
            </a:r>
            <a:endParaRPr lang="en-US" sz="900" dirty="0"/>
          </a:p>
        </p:txBody>
      </p:sp>
      <p:sp>
        <p:nvSpPr>
          <p:cNvPr id="18" name="Shape 15"/>
          <p:cNvSpPr/>
          <p:nvPr/>
        </p:nvSpPr>
        <p:spPr>
          <a:xfrm>
            <a:off x="8091221" y="4572000"/>
            <a:ext cx="3442106" cy="1097280"/>
          </a:xfrm>
          <a:prstGeom prst="roundRect">
            <a:avLst>
              <a:gd name="adj" fmla="val 3750"/>
            </a:avLst>
          </a:prstGeom>
          <a:solidFill>
            <a:srgbClr val="1F1D19"/>
          </a:solidFill>
          <a:ln w="9525">
            <a:solidFill>
              <a:srgbClr val="6E5730"/>
            </a:solidFill>
            <a:prstDash val="solid"/>
          </a:ln>
        </p:spPr>
      </p:sp>
      <p:sp>
        <p:nvSpPr>
          <p:cNvPr id="19" name="Text 16"/>
          <p:cNvSpPr/>
          <p:nvPr/>
        </p:nvSpPr>
        <p:spPr>
          <a:xfrm>
            <a:off x="8328965" y="4700016"/>
            <a:ext cx="207050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加重平均（半々）</a:t>
            </a:r>
            <a:endParaRPr lang="en-US" sz="1100" dirty="0"/>
          </a:p>
        </p:txBody>
      </p:sp>
      <p:sp>
        <p:nvSpPr>
          <p:cNvPr id="20" name="Text 17"/>
          <p:cNvSpPr/>
          <p:nvPr/>
        </p:nvSpPr>
        <p:spPr>
          <a:xfrm>
            <a:off x="10216591"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6.44</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21" name="Text 18"/>
          <p:cNvSpPr/>
          <p:nvPr/>
        </p:nvSpPr>
        <p:spPr>
          <a:xfrm>
            <a:off x="8328965"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売値ベースの加重平均　／　定価100あたり ▲4.83</a:t>
            </a:r>
            <a:endParaRPr lang="en-US" sz="900" dirty="0"/>
          </a:p>
        </p:txBody>
      </p:sp>
      <p:sp>
        <p:nvSpPr>
          <p:cNvPr id="22" name="Text 19"/>
          <p:cNvSpPr/>
          <p:nvPr/>
        </p:nvSpPr>
        <p:spPr>
          <a:xfrm>
            <a:off x="658368" y="5724144"/>
            <a:ext cx="10874959" cy="438912"/>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保管料は業務用パレット定温保管の水準（月10〜20円／本）。個人向けセラー預かり（月100〜150円／本）とは別の料金帯。ファーストクローズの主線（在庫回転12ヶ月・年間販売7.48億円）における年間SPC費用の合計は6,922万円で、内訳は変動販売費4,816万円・保管705万円・固定費1,300万円（うち管理報酬1,000万円）・保険71万円・入庫30万円。その他の運用前提：総額の95%をワイン購入に充当（現金5%）／仕入展開6ヶ月／ローリング運用／利益は複利再投資せず年1回分配／税前利益のうち投資家出資分に帰属する40%を投資家とWineBankで折半／利回りは投資家の税引前ベース。</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ニュートラル：在庫回転期間別シミュレーション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SPC取得原価50.50・ワイン価格上昇 年6%／ファーストクローズ総額5億円（WineBank現物3億＋投資家2億）・投資家帰属利益を折半・稼働率95%</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389888"/>
                <a:gridCol w="859536"/>
                <a:gridCol w="859536"/>
                <a:gridCol w="731520"/>
                <a:gridCol w="1042416"/>
                <a:gridCol w="1481328"/>
                <a:gridCol w="1417320"/>
                <a:gridCol w="1005840"/>
                <a:gridCol w="969264"/>
                <a:gridCol w="1115568"/>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粗利率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投資家帰属分（40%）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投資家取分（折半後）</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5年累計分配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 年平均利回り 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2.86億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2.65億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26.5%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237百万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23.7%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2.04億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160百万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122百万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12.2%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1.64億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12.7%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532120" cy="1810512"/>
          </a:xfrm>
          <a:prstGeom prst="roundRect">
            <a:avLst>
              <a:gd name="adj" fmla="val 2273"/>
            </a:avLst>
          </a:prstGeom>
          <a:solidFill>
            <a:srgbClr val="1F1D19"/>
          </a:solidFill>
          <a:ln w="9525">
            <a:solidFill>
              <a:srgbClr val="6E5730"/>
            </a:solidFill>
            <a:prstDash val="solid"/>
          </a:ln>
        </p:spPr>
      </p:sp>
      <p:sp>
        <p:nvSpPr>
          <p:cNvPr id="9" name="Text 6"/>
          <p:cNvSpPr/>
          <p:nvPr/>
        </p:nvSpPr>
        <p:spPr>
          <a:xfrm>
            <a:off x="914400" y="3840480"/>
            <a:ext cx="502920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粗利率30.0%が投資家利回り20.4%になる理由</a:t>
            </a:r>
            <a:endParaRPr lang="en-US" sz="1150" dirty="0"/>
          </a:p>
        </p:txBody>
      </p:sp>
      <p:sp>
        <p:nvSpPr>
          <p:cNvPr id="10" name="Text 7"/>
          <p:cNvSpPr/>
          <p:nvPr/>
        </p:nvSpPr>
        <p:spPr>
          <a:xfrm>
            <a:off x="914400" y="413308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定価100あたり</a:t>
            </a:r>
            <a:endParaRPr lang="en-US" sz="950" dirty="0"/>
          </a:p>
        </p:txBody>
      </p:sp>
      <p:sp>
        <p:nvSpPr>
          <p:cNvPr id="11" name="Text 8"/>
          <p:cNvSpPr/>
          <p:nvPr/>
        </p:nvSpPr>
        <p:spPr>
          <a:xfrm>
            <a:off x="2688336" y="413308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原価50.50で仕入れ、手取り74.38で回収 → 単位粗利23.88</a:t>
            </a:r>
            <a:endParaRPr lang="en-US" sz="850" dirty="0"/>
          </a:p>
        </p:txBody>
      </p:sp>
      <p:sp>
        <p:nvSpPr>
          <p:cNvPr id="12" name="Text 9"/>
          <p:cNvSpPr/>
          <p:nvPr/>
        </p:nvSpPr>
        <p:spPr>
          <a:xfrm>
            <a:off x="914400" y="440740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粗利率 30.0%</a:t>
            </a:r>
            <a:endParaRPr lang="en-US" sz="950" dirty="0"/>
          </a:p>
        </p:txBody>
      </p:sp>
      <p:sp>
        <p:nvSpPr>
          <p:cNvPr id="13" name="Text 10"/>
          <p:cNvSpPr/>
          <p:nvPr/>
        </p:nvSpPr>
        <p:spPr>
          <a:xfrm>
            <a:off x="2688336" y="440740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分母は売却時の売値79.50</a:t>
            </a:r>
            <a:endParaRPr lang="en-US" sz="850" dirty="0"/>
          </a:p>
        </p:txBody>
      </p:sp>
      <p:sp>
        <p:nvSpPr>
          <p:cNvPr id="14" name="Text 11"/>
          <p:cNvSpPr/>
          <p:nvPr/>
        </p:nvSpPr>
        <p:spPr>
          <a:xfrm>
            <a:off x="914400" y="468172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投下原価利益率 47.3%</a:t>
            </a:r>
            <a:endParaRPr lang="en-US" sz="950" dirty="0"/>
          </a:p>
        </p:txBody>
      </p:sp>
      <p:sp>
        <p:nvSpPr>
          <p:cNvPr id="15" name="Text 12"/>
          <p:cNvSpPr/>
          <p:nvPr/>
        </p:nvSpPr>
        <p:spPr>
          <a:xfrm>
            <a:off x="2688336" y="468172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分母は投下資本である取得原価50.50。年1回転なので資本が年47.3%増える</a:t>
            </a:r>
            <a:endParaRPr lang="en-US" sz="850" dirty="0"/>
          </a:p>
        </p:txBody>
      </p:sp>
      <p:sp>
        <p:nvSpPr>
          <p:cNvPr id="16" name="Text 13"/>
          <p:cNvSpPr/>
          <p:nvPr/>
        </p:nvSpPr>
        <p:spPr>
          <a:xfrm>
            <a:off x="914400" y="495604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税前利益 2.04億円</a:t>
            </a:r>
            <a:endParaRPr lang="en-US" sz="950" dirty="0"/>
          </a:p>
        </p:txBody>
      </p:sp>
      <p:sp>
        <p:nvSpPr>
          <p:cNvPr id="17" name="Text 14"/>
          <p:cNvSpPr/>
          <p:nvPr/>
        </p:nvSpPr>
        <p:spPr>
          <a:xfrm>
            <a:off x="2688336" y="495604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SPC費用 計6,922万円を控除した後の年間税前利益</a:t>
            </a:r>
            <a:endParaRPr lang="en-US" sz="850" dirty="0"/>
          </a:p>
        </p:txBody>
      </p:sp>
      <p:sp>
        <p:nvSpPr>
          <p:cNvPr id="18" name="Text 15"/>
          <p:cNvSpPr/>
          <p:nvPr/>
        </p:nvSpPr>
        <p:spPr>
          <a:xfrm>
            <a:off x="914400" y="523036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投資家利回り 20.4%</a:t>
            </a:r>
            <a:endParaRPr lang="en-US" sz="950" dirty="0"/>
          </a:p>
        </p:txBody>
      </p:sp>
      <p:sp>
        <p:nvSpPr>
          <p:cNvPr id="19" name="Text 16"/>
          <p:cNvSpPr/>
          <p:nvPr/>
        </p:nvSpPr>
        <p:spPr>
          <a:xfrm>
            <a:off x="2688336" y="523036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帰属分81百万円を折半した41百万円 ÷ 出資2億円</a:t>
            </a:r>
            <a:endParaRPr lang="en-US" sz="850" dirty="0"/>
          </a:p>
        </p:txBody>
      </p:sp>
      <p:sp>
        <p:nvSpPr>
          <p:cNvPr id="20" name="Shape 17"/>
          <p:cNvSpPr/>
          <p:nvPr/>
        </p:nvSpPr>
        <p:spPr>
          <a:xfrm>
            <a:off x="6464808" y="3712464"/>
            <a:ext cx="5068519" cy="1810512"/>
          </a:xfrm>
          <a:prstGeom prst="roundRect">
            <a:avLst>
              <a:gd name="adj" fmla="val 2273"/>
            </a:avLst>
          </a:prstGeom>
          <a:solidFill>
            <a:srgbClr val="1F1D19"/>
          </a:solidFill>
          <a:ln w="9525">
            <a:solidFill>
              <a:srgbClr val="6E5730"/>
            </a:solidFill>
            <a:prstDash val="solid"/>
          </a:ln>
        </p:spPr>
      </p:sp>
      <p:sp>
        <p:nvSpPr>
          <p:cNvPr id="21" name="Text 18"/>
          <p:cNvSpPr/>
          <p:nvPr/>
        </p:nvSpPr>
        <p:spPr>
          <a:xfrm>
            <a:off x="6720840" y="3877056"/>
            <a:ext cx="36576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想定レンジのご提示</a:t>
            </a:r>
            <a:endParaRPr lang="en-US" sz="1200" dirty="0"/>
          </a:p>
        </p:txBody>
      </p:sp>
      <p:sp>
        <p:nvSpPr>
          <p:cNvPr id="22" name="Text 19"/>
          <p:cNvSpPr/>
          <p:nvPr/>
        </p:nvSpPr>
        <p:spPr>
          <a:xfrm>
            <a:off x="6720840" y="4151376"/>
            <a:ext cx="4519879" cy="219456"/>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投資家利回り（定常年間・税引前）</a:t>
            </a:r>
            <a:endParaRPr lang="en-US" sz="1050" dirty="0"/>
          </a:p>
        </p:txBody>
      </p:sp>
      <p:sp>
        <p:nvSpPr>
          <p:cNvPr id="23" name="Text 20"/>
          <p:cNvSpPr/>
          <p:nvPr/>
        </p:nvSpPr>
        <p:spPr>
          <a:xfrm>
            <a:off x="6720840" y="4370832"/>
            <a:ext cx="4519879" cy="457200"/>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14.3 – 26.5</a:t>
            </a:r>
            <a:pPr indent="0" marL="0">
              <a:buNone/>
            </a:pPr>
            <a:r>
              <a:rPr lang="en-US" sz="150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4" name="Text 21"/>
          <p:cNvSpPr/>
          <p:nvPr/>
        </p:nvSpPr>
        <p:spPr>
          <a:xfrm>
            <a:off x="6720840" y="4882896"/>
            <a:ext cx="4519879" cy="53035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主線の回転12ヶ月で20.4%と貴社基準20%を満たす。ただし20%の分岐点は回転12.2ヶ月であり、余裕は0.2ヶ月しかない。15ヶ月まで延びると16.7%となり基準を下回る。</a:t>
            </a:r>
            <a:endParaRPr lang="en-US" sz="1000" dirty="0"/>
          </a:p>
        </p:txBody>
      </p:sp>
      <p:sp>
        <p:nvSpPr>
          <p:cNvPr id="25" name="Text 22"/>
          <p:cNvSpPr/>
          <p:nvPr/>
        </p:nvSpPr>
        <p:spPr>
          <a:xfrm>
            <a:off x="658368" y="5614416"/>
            <a:ext cx="10874959" cy="201168"/>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年間粗利は変動販売費控除後。</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在庫回転期間と投資家リターンの関係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いずれも投資家出資2億円に対する数値。20%の分岐点は回転12.2ヶ月であり、主線12ヶ月との余裕は小さい。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8" name="Chart 0" descr=""/>
          <p:cNvGraphicFramePr/>
          <p:nvPr/>
        </p:nvGraphicFramePr>
        <p:xfrm>
          <a:off x="786384" y="1737360"/>
          <a:ext cx="5035144" cy="243230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42152"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10" name="Chart 1" descr=""/>
          <p:cNvGraphicFramePr/>
          <p:nvPr/>
        </p:nvGraphicFramePr>
        <p:xfrm>
          <a:off x="6370168" y="1737360"/>
          <a:ext cx="5035144" cy="2432304"/>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8368" y="4443984"/>
            <a:ext cx="5300320" cy="1225296"/>
          </a:xfrm>
          <a:prstGeom prst="roundRect">
            <a:avLst>
              <a:gd name="adj" fmla="val 3358"/>
            </a:avLst>
          </a:prstGeom>
          <a:solidFill>
            <a:srgbClr val="1F1D19"/>
          </a:solidFill>
          <a:ln w="9525">
            <a:solidFill>
              <a:srgbClr val="6E5730"/>
            </a:solidFill>
            <a:prstDash val="solid"/>
          </a:ln>
        </p:spPr>
      </p:sp>
      <p:sp>
        <p:nvSpPr>
          <p:cNvPr id="12" name="Text 8"/>
          <p:cNvSpPr/>
          <p:nvPr/>
        </p:nvSpPr>
        <p:spPr>
          <a:xfrm>
            <a:off x="91440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回転12ヶ月が必須条件</a:t>
            </a:r>
            <a:endParaRPr lang="en-US" sz="1200" dirty="0"/>
          </a:p>
        </p:txBody>
      </p:sp>
      <p:sp>
        <p:nvSpPr>
          <p:cNvPr id="13" name="Text 9"/>
          <p:cNvSpPr/>
          <p:nvPr/>
        </p:nvSpPr>
        <p:spPr>
          <a:xfrm>
            <a:off x="914400" y="4901184"/>
            <a:ext cx="4788256" cy="658368"/>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20%の分岐点は回転12.2ヶ月。主線との余裕は0.2ヶ月しかなく、回転12ヶ月の達成が貴社基準を満たすための必須条件となる。管理報酬2%を課す分、前回のデット型（余裕0.7ヶ月）より余裕は小さい。</a:t>
            </a:r>
            <a:endParaRPr lang="en-US" sz="950" dirty="0"/>
          </a:p>
        </p:txBody>
      </p:sp>
      <p:sp>
        <p:nvSpPr>
          <p:cNvPr id="14" name="Shape 10"/>
          <p:cNvSpPr/>
          <p:nvPr/>
        </p:nvSpPr>
        <p:spPr>
          <a:xfrm>
            <a:off x="6233008" y="4443984"/>
            <a:ext cx="5300320" cy="1225296"/>
          </a:xfrm>
          <a:prstGeom prst="roundRect">
            <a:avLst>
              <a:gd name="adj" fmla="val 3358"/>
            </a:avLst>
          </a:prstGeom>
          <a:solidFill>
            <a:srgbClr val="171614"/>
          </a:solidFill>
          <a:ln w="9525">
            <a:solidFill>
              <a:srgbClr val="2E2A24"/>
            </a:solidFill>
            <a:prstDash val="solid"/>
          </a:ln>
        </p:spPr>
      </p:sp>
      <p:sp>
        <p:nvSpPr>
          <p:cNvPr id="15" name="Text 11"/>
          <p:cNvSpPr/>
          <p:nvPr/>
        </p:nvSpPr>
        <p:spPr>
          <a:xfrm>
            <a:off x="648904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値上がりが4ポイントを底上げする</a:t>
            </a:r>
            <a:endParaRPr lang="en-US" sz="1200" dirty="0"/>
          </a:p>
        </p:txBody>
      </p:sp>
      <p:sp>
        <p:nvSpPr>
          <p:cNvPr id="16" name="Text 12"/>
          <p:cNvSpPr/>
          <p:nvPr/>
        </p:nvSpPr>
        <p:spPr>
          <a:xfrm>
            <a:off x="6489040" y="4901184"/>
            <a:ext cx="4788256" cy="658368"/>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値上がりを織り込まない場合、主線でも16.4%にとどまり20%を割る。年6%の上昇が約4.0ポイントを底上げして20.4%に届かせている（次頁）。</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PRICE APPRECIATION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ワイン価格の上昇をどう織り込むか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回転が落ちれば利回りは下がるが、保有が延びれば売値は上がる。両者は別々の収益源として足し合わさる。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64208"/>
            <a:ext cx="5291176" cy="1572768"/>
          </a:xfrm>
          <a:prstGeom prst="roundRect">
            <a:avLst>
              <a:gd name="adj" fmla="val 2616"/>
            </a:avLst>
          </a:prstGeom>
          <a:solidFill>
            <a:srgbClr val="171614"/>
          </a:solidFill>
          <a:ln w="9525">
            <a:solidFill>
              <a:srgbClr val="2E2A24"/>
            </a:solidFill>
            <a:prstDash val="solid"/>
          </a:ln>
        </p:spPr>
      </p:sp>
      <p:sp>
        <p:nvSpPr>
          <p:cNvPr id="8" name="Text 6"/>
          <p:cNvSpPr/>
          <p:nvPr/>
        </p:nvSpPr>
        <p:spPr>
          <a:xfrm>
            <a:off x="914400" y="1810512"/>
            <a:ext cx="2913736"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フロー｜流通価格差</a:t>
            </a:r>
            <a:endParaRPr lang="en-US" sz="1250" dirty="0"/>
          </a:p>
        </p:txBody>
      </p:sp>
      <p:sp>
        <p:nvSpPr>
          <p:cNvPr id="9" name="Text 7"/>
          <p:cNvSpPr/>
          <p:nvPr/>
        </p:nvSpPr>
        <p:spPr>
          <a:xfrm>
            <a:off x="3626968"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回転に対するリターン</a:t>
            </a:r>
            <a:endParaRPr lang="en-US" sz="950" dirty="0"/>
          </a:p>
        </p:txBody>
      </p:sp>
      <p:sp>
        <p:nvSpPr>
          <p:cNvPr id="10" name="Text 8"/>
          <p:cNvSpPr/>
          <p:nvPr/>
        </p:nvSpPr>
        <p:spPr>
          <a:xfrm>
            <a:off x="914400"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40〜60で仕入れ、70〜80で売る。年に何回まわせるかに比例するため、回転期間が短いほど大きくなる。</a:t>
            </a:r>
            <a:endParaRPr lang="en-US" sz="950" dirty="0"/>
          </a:p>
        </p:txBody>
      </p:sp>
      <p:sp>
        <p:nvSpPr>
          <p:cNvPr id="11" name="Text 9"/>
          <p:cNvSpPr/>
          <p:nvPr/>
        </p:nvSpPr>
        <p:spPr>
          <a:xfrm>
            <a:off x="914400"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主線（回転12ヶ月）で 16.4%</a:t>
            </a:r>
            <a:endParaRPr lang="en-US" sz="1300" dirty="0"/>
          </a:p>
        </p:txBody>
      </p:sp>
      <p:sp>
        <p:nvSpPr>
          <p:cNvPr id="12" name="Shape 10"/>
          <p:cNvSpPr/>
          <p:nvPr/>
        </p:nvSpPr>
        <p:spPr>
          <a:xfrm>
            <a:off x="6242152" y="1664208"/>
            <a:ext cx="5291176" cy="1572768"/>
          </a:xfrm>
          <a:prstGeom prst="roundRect">
            <a:avLst>
              <a:gd name="adj" fmla="val 2616"/>
            </a:avLst>
          </a:prstGeom>
          <a:solidFill>
            <a:srgbClr val="1F1D19"/>
          </a:solidFill>
          <a:ln w="9525">
            <a:solidFill>
              <a:srgbClr val="6E5730"/>
            </a:solidFill>
            <a:prstDash val="solid"/>
          </a:ln>
        </p:spPr>
      </p:sp>
      <p:sp>
        <p:nvSpPr>
          <p:cNvPr id="13" name="Text 11"/>
          <p:cNvSpPr/>
          <p:nvPr/>
        </p:nvSpPr>
        <p:spPr>
          <a:xfrm>
            <a:off x="6498184" y="1810512"/>
            <a:ext cx="291373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ストック｜ワインの値上がり</a:t>
            </a:r>
            <a:endParaRPr lang="en-US" sz="1250" dirty="0"/>
          </a:p>
        </p:txBody>
      </p:sp>
      <p:sp>
        <p:nvSpPr>
          <p:cNvPr id="14" name="Text 12"/>
          <p:cNvSpPr/>
          <p:nvPr/>
        </p:nvSpPr>
        <p:spPr>
          <a:xfrm>
            <a:off x="9210751"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在庫に対するリターン</a:t>
            </a:r>
            <a:endParaRPr lang="en-US" sz="950" dirty="0"/>
          </a:p>
        </p:txBody>
      </p:sp>
      <p:sp>
        <p:nvSpPr>
          <p:cNvPr id="15" name="Text 13"/>
          <p:cNvSpPr/>
          <p:nvPr/>
        </p:nvSpPr>
        <p:spPr>
          <a:xfrm>
            <a:off x="6498184"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保有している間、価格帯全体が年6%上昇する。在庫金額に対して発生するため、回転期間によらずほぼ一定になる。</a:t>
            </a:r>
            <a:endParaRPr lang="en-US" sz="950" dirty="0"/>
          </a:p>
        </p:txBody>
      </p:sp>
      <p:sp>
        <p:nvSpPr>
          <p:cNvPr id="16" name="Text 14"/>
          <p:cNvSpPr/>
          <p:nvPr/>
        </p:nvSpPr>
        <p:spPr>
          <a:xfrm>
            <a:off x="6498184"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回転期間によらず 約 ＋4.0pt</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3346704"/>
          <a:ext cx="10874959" cy="914400"/>
        </p:xfrm>
        <a:graphic>
          <a:graphicData uri="http://schemas.openxmlformats.org/drawingml/2006/table">
            <a:tbl>
              <a:tblPr/>
              <a:tblGrid>
                <a:gridCol w="2057400"/>
                <a:gridCol w="1874520"/>
                <a:gridCol w="2788920"/>
                <a:gridCol w="2148840"/>
                <a:gridCol w="2002536"/>
              </a:tblGrid>
              <a:tr h="34290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売値の上昇倍率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① 価格差による利回り（上昇0%）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② 値上がりによる上乗せ</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投資家利回り（①＋②）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＋3.9pt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26.5%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16.7%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14.3%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8" name="Shape 15"/>
          <p:cNvSpPr/>
          <p:nvPr/>
        </p:nvSpPr>
        <p:spPr>
          <a:xfrm>
            <a:off x="658368" y="5175504"/>
            <a:ext cx="5532120" cy="1024128"/>
          </a:xfrm>
          <a:prstGeom prst="roundRect">
            <a:avLst>
              <a:gd name="adj" fmla="val 4018"/>
            </a:avLst>
          </a:prstGeom>
          <a:solidFill>
            <a:srgbClr val="171614"/>
          </a:solidFill>
          <a:ln w="9525">
            <a:solidFill>
              <a:srgbClr val="2E2A24"/>
            </a:solidFill>
            <a:prstDash val="solid"/>
          </a:ln>
        </p:spPr>
      </p:sp>
      <p:sp>
        <p:nvSpPr>
          <p:cNvPr id="19" name="Text 16"/>
          <p:cNvSpPr/>
          <p:nvPr/>
        </p:nvSpPr>
        <p:spPr>
          <a:xfrm>
            <a:off x="896112" y="5276088"/>
            <a:ext cx="384048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上昇率を変えた場合（主線）</a:t>
            </a:r>
            <a:endParaRPr lang="en-US" sz="1050" dirty="0"/>
          </a:p>
        </p:txBody>
      </p:sp>
      <p:sp>
        <p:nvSpPr>
          <p:cNvPr id="20" name="Text 17"/>
          <p:cNvSpPr/>
          <p:nvPr/>
        </p:nvSpPr>
        <p:spPr>
          <a:xfrm>
            <a:off x="896112"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0%（横ばい）</a:t>
            </a:r>
            <a:endParaRPr lang="en-US" sz="900" dirty="0"/>
          </a:p>
        </p:txBody>
      </p:sp>
      <p:sp>
        <p:nvSpPr>
          <p:cNvPr id="21" name="Text 18"/>
          <p:cNvSpPr/>
          <p:nvPr/>
        </p:nvSpPr>
        <p:spPr>
          <a:xfrm>
            <a:off x="896112"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16.4%</a:t>
            </a:r>
            <a:endParaRPr lang="en-US" sz="1900" dirty="0"/>
          </a:p>
        </p:txBody>
      </p:sp>
      <p:sp>
        <p:nvSpPr>
          <p:cNvPr id="22" name="Text 19"/>
          <p:cNvSpPr/>
          <p:nvPr/>
        </p:nvSpPr>
        <p:spPr>
          <a:xfrm>
            <a:off x="2596896"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6%（主線）</a:t>
            </a:r>
            <a:endParaRPr lang="en-US" sz="900" dirty="0"/>
          </a:p>
        </p:txBody>
      </p:sp>
      <p:sp>
        <p:nvSpPr>
          <p:cNvPr id="23" name="Text 20"/>
          <p:cNvSpPr/>
          <p:nvPr/>
        </p:nvSpPr>
        <p:spPr>
          <a:xfrm>
            <a:off x="2596896" y="5705856"/>
            <a:ext cx="1627632"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20.4%</a:t>
            </a:r>
            <a:endParaRPr lang="en-US" sz="1900" dirty="0"/>
          </a:p>
        </p:txBody>
      </p:sp>
      <p:sp>
        <p:nvSpPr>
          <p:cNvPr id="24" name="Text 21"/>
          <p:cNvSpPr/>
          <p:nvPr/>
        </p:nvSpPr>
        <p:spPr>
          <a:xfrm>
            <a:off x="4297680"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10%（会社資料水準）</a:t>
            </a:r>
            <a:endParaRPr lang="en-US" sz="900" dirty="0"/>
          </a:p>
        </p:txBody>
      </p:sp>
      <p:sp>
        <p:nvSpPr>
          <p:cNvPr id="25" name="Text 22"/>
          <p:cNvSpPr/>
          <p:nvPr/>
        </p:nvSpPr>
        <p:spPr>
          <a:xfrm>
            <a:off x="4297680"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23.0%</a:t>
            </a:r>
            <a:endParaRPr lang="en-US" sz="1900" dirty="0"/>
          </a:p>
        </p:txBody>
      </p:sp>
      <p:sp>
        <p:nvSpPr>
          <p:cNvPr id="26" name="Shape 23"/>
          <p:cNvSpPr/>
          <p:nvPr/>
        </p:nvSpPr>
        <p:spPr>
          <a:xfrm>
            <a:off x="6464808" y="5175504"/>
            <a:ext cx="5068519" cy="1024128"/>
          </a:xfrm>
          <a:prstGeom prst="roundRect">
            <a:avLst>
              <a:gd name="adj" fmla="val 4018"/>
            </a:avLst>
          </a:prstGeom>
          <a:solidFill>
            <a:srgbClr val="1F1D19"/>
          </a:solidFill>
          <a:ln w="9525">
            <a:solidFill>
              <a:srgbClr val="6E5730"/>
            </a:solidFill>
            <a:prstDash val="solid"/>
          </a:ln>
        </p:spPr>
      </p:sp>
      <p:sp>
        <p:nvSpPr>
          <p:cNvPr id="27" name="Text 24"/>
          <p:cNvSpPr/>
          <p:nvPr/>
        </p:nvSpPr>
        <p:spPr>
          <a:xfrm>
            <a:off x="6702552" y="5276088"/>
            <a:ext cx="45720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値上がりは「相殺」ではなく「底上げ」</a:t>
            </a:r>
            <a:endParaRPr lang="en-US" sz="1050" dirty="0"/>
          </a:p>
        </p:txBody>
      </p:sp>
      <p:sp>
        <p:nvSpPr>
          <p:cNvPr id="28" name="Text 25"/>
          <p:cNvSpPr/>
          <p:nvPr/>
        </p:nvSpPr>
        <p:spPr>
          <a:xfrm>
            <a:off x="6702552" y="5504688"/>
            <a:ext cx="4593031" cy="62179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上がりは在庫金額に対して発生するため、年間の上乗せ幅は回転期間によらず約4.0ポイントで一定になる。回転が落ちた分をちょうど埋め合わせるわけではなく、どの回転期間でも一律に底上げする性質のもの。したがって回転期間の管理は引き続き最大の運用課題である。</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UPSIDE / DOWNSIDE ｜ 副次</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上振れ余地と下振れリスク</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いずれも在庫回転期間を横軸に置いている。必要年間売上を併記し、実現可能性が判断できるようにしている。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7" name="Shape 5"/>
          <p:cNvSpPr/>
          <p:nvPr/>
        </p:nvSpPr>
        <p:spPr>
          <a:xfrm>
            <a:off x="658368" y="1645920"/>
            <a:ext cx="5300320" cy="2523744"/>
          </a:xfrm>
          <a:prstGeom prst="roundRect">
            <a:avLst>
              <a:gd name="adj" fmla="val 1630"/>
            </a:avLst>
          </a:prstGeom>
          <a:solidFill>
            <a:srgbClr val="1F1D19"/>
          </a:solidFill>
          <a:ln w="9525">
            <a:solidFill>
              <a:srgbClr val="6E5730"/>
            </a:solidFill>
            <a:prstDash val="solid"/>
          </a:ln>
        </p:spPr>
      </p:sp>
      <p:sp>
        <p:nvSpPr>
          <p:cNvPr id="8" name="Text 6"/>
          <p:cNvSpPr/>
          <p:nvPr/>
        </p:nvSpPr>
        <p:spPr>
          <a:xfrm>
            <a:off x="914400" y="1810512"/>
            <a:ext cx="4788256"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ポジティブ｜取得原価40.40・B2C100%・上昇6%</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91440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13.10億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5.07億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101百万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50.7%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9.97億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3.87億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77百万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38.7%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8.09億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3.16億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63百万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C9A96E"/>
                          </a:solidFill>
                          <a:latin typeface="Yu Gothic" pitchFamily="34" charset="0"/>
                          <a:ea typeface="Yu Gothic" pitchFamily="34" charset="-122"/>
                          <a:cs typeface="Yu Gothic" pitchFamily="34" charset="-120"/>
                        </a:rPr>
                        <a:t>31.6%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6.84億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2.68億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54百万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C9A96E"/>
                          </a:solidFill>
                          <a:latin typeface="Yu Gothic" pitchFamily="34" charset="0"/>
                          <a:ea typeface="Yu Gothic" pitchFamily="34" charset="-122"/>
                          <a:cs typeface="Yu Gothic" pitchFamily="34" charset="-120"/>
                        </a:rPr>
                        <a:t>26.8%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インポーター直仕入の比率を引き上げ、販売をネット最安値帯に寄せることで到達。ただし回転12ヶ月でも年間9.97億円の販売を要するため、現状の販売実力では到達しない。上限の目安として示す。</a:t>
            </a:r>
            <a:endParaRPr lang="en-US" sz="900" dirty="0"/>
          </a:p>
        </p:txBody>
      </p:sp>
      <p:sp>
        <p:nvSpPr>
          <p:cNvPr id="11" name="Shape 8"/>
          <p:cNvSpPr/>
          <p:nvPr/>
        </p:nvSpPr>
        <p:spPr>
          <a:xfrm>
            <a:off x="6233008" y="1645920"/>
            <a:ext cx="5300320" cy="2523744"/>
          </a:xfrm>
          <a:prstGeom prst="roundRect">
            <a:avLst>
              <a:gd name="adj" fmla="val 1630"/>
            </a:avLst>
          </a:prstGeom>
          <a:solidFill>
            <a:srgbClr val="171614"/>
          </a:solidFill>
          <a:ln w="9525">
            <a:solidFill>
              <a:srgbClr val="2E2A24"/>
            </a:solidFill>
            <a:prstDash val="solid"/>
          </a:ln>
        </p:spPr>
      </p:sp>
      <p:sp>
        <p:nvSpPr>
          <p:cNvPr id="12" name="Text 9"/>
          <p:cNvSpPr/>
          <p:nvPr/>
        </p:nvSpPr>
        <p:spPr>
          <a:xfrm>
            <a:off x="6489040" y="1810512"/>
            <a:ext cx="4788256"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ネガティブ｜売値5%値引き ＋ 価格は横ばい（上昇0%）</a:t>
            </a:r>
            <a:endParaRPr lang="en-US" sz="11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48904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1.82億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36百万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B4553F"/>
                          </a:solidFill>
                          <a:latin typeface="Yu Gothic" pitchFamily="34" charset="0"/>
                          <a:ea typeface="Yu Gothic" pitchFamily="34" charset="-122"/>
                          <a:cs typeface="Yu Gothic" pitchFamily="34" charset="-120"/>
                        </a:rPr>
                        <a:t>18.2%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6.70億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26百万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B4553F"/>
                          </a:solidFill>
                          <a:latin typeface="Yu Gothic" pitchFamily="34" charset="0"/>
                          <a:ea typeface="Yu Gothic" pitchFamily="34" charset="-122"/>
                          <a:cs typeface="Yu Gothic" pitchFamily="34" charset="-120"/>
                        </a:rPr>
                        <a:t>13.1%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5.36億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20百万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10.1%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4.47億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0.80億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16百万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8.0%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引き（▲3.5pt）と価格横ばい（▲4.0pt）が同時に起きた複合ケース。この複合下振れでは回転8.2ヶ月まで縮めないと20%に届かず、想定レンジでは20%を確保できない。値引きを禁じることが最優先の防衛線となる。</a:t>
            </a:r>
            <a:endParaRPr lang="en-US" sz="900" dirty="0"/>
          </a:p>
        </p:txBody>
      </p:sp>
      <p:sp>
        <p:nvSpPr>
          <p:cNvPr id="15" name="Shape 11"/>
          <p:cNvSpPr/>
          <p:nvPr/>
        </p:nvSpPr>
        <p:spPr>
          <a:xfrm>
            <a:off x="658368" y="4334256"/>
            <a:ext cx="10874959" cy="1298448"/>
          </a:xfrm>
          <a:prstGeom prst="roundRect">
            <a:avLst>
              <a:gd name="adj" fmla="val 3169"/>
            </a:avLst>
          </a:prstGeom>
          <a:solidFill>
            <a:srgbClr val="1F1D19"/>
          </a:solidFill>
          <a:ln w="9525">
            <a:solidFill>
              <a:srgbClr val="6E5730"/>
            </a:solidFill>
            <a:prstDash val="solid"/>
          </a:ln>
        </p:spPr>
      </p:sp>
      <p:sp>
        <p:nvSpPr>
          <p:cNvPr id="16" name="Text 12"/>
          <p:cNvSpPr/>
          <p:nvPr/>
        </p:nvSpPr>
        <p:spPr>
          <a:xfrm>
            <a:off x="932688" y="4498848"/>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最重要の示唆</a:t>
            </a:r>
            <a:endParaRPr lang="en-US" sz="1200" dirty="0"/>
          </a:p>
        </p:txBody>
      </p:sp>
      <p:sp>
        <p:nvSpPr>
          <p:cNvPr id="17" name="Text 13"/>
          <p:cNvSpPr/>
          <p:nvPr/>
        </p:nvSpPr>
        <p:spPr>
          <a:xfrm>
            <a:off x="932688" y="4791456"/>
            <a:ext cx="10326319" cy="658368"/>
          </a:xfrm>
          <a:prstGeom prst="rect">
            <a:avLst/>
          </a:prstGeom>
          <a:noFill/>
          <a:ln/>
        </p:spPr>
        <p:txBody>
          <a:bodyPr wrap="square" lIns="0" tIns="0" rIns="0" bIns="0" rtlCol="0" anchor="ctr"/>
          <a:lstStyle/>
          <a:p>
            <a:pPr indent="0" marL="0">
              <a:lnSpc>
                <a:spcPct val="128000"/>
              </a:lnSpc>
              <a:buNone/>
            </a:pPr>
            <a:r>
              <a:rPr lang="en-US" sz="1150" dirty="0">
                <a:solidFill>
                  <a:srgbClr val="EFEBE3"/>
                </a:solidFill>
                <a:latin typeface="Yu Gothic" pitchFamily="34" charset="0"/>
                <a:ea typeface="Yu Gothic" pitchFamily="34" charset="-122"/>
                <a:cs typeface="Yu Gothic" pitchFamily="34" charset="-120"/>
              </a:rPr>
              <a:t>「回転を上げるために値引く」は割に合わない。売値5%の値引きは単位粗利を15%毀損し、失う投資家利回り3.5ポイントを取り戻すには回転を12ヶ月から約10ヶ月へ短縮する必要がある。価格を維持したまま販売チャネルを増やすことが本筋の改善手段であり、むしろ売れ残りは値上がりを取りにいく機会でもある。</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COMPARISON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3シナリオ比較：投資家 定常年間利回り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投資家出資2億円に対する年間実力値。SPC税前利益のうち投資家出資分に帰属する分（40%）を、投資家とWineBankで折半した後の金額ベース。</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sp>
        <p:nvSpPr>
          <p:cNvPr id="7" name="Shape 5"/>
          <p:cNvSpPr/>
          <p:nvPr/>
        </p:nvSpPr>
        <p:spPr>
          <a:xfrm>
            <a:off x="658368" y="1645920"/>
            <a:ext cx="10874959" cy="2724912"/>
          </a:xfrm>
          <a:prstGeom prst="roundRect">
            <a:avLst>
              <a:gd name="adj" fmla="val 1510"/>
            </a:avLst>
          </a:prstGeom>
          <a:solidFill>
            <a:srgbClr val="171614"/>
          </a:solidFill>
          <a:ln w="9525">
            <a:solidFill>
              <a:srgbClr val="2E2A24"/>
            </a:solidFill>
            <a:prstDash val="solid"/>
          </a:ln>
        </p:spPr>
      </p:sp>
      <p:graphicFrame>
        <p:nvGraphicFramePr>
          <p:cNvPr id="8" name="Chart 0" descr=""/>
          <p:cNvGraphicFramePr/>
          <p:nvPr/>
        </p:nvGraphicFramePr>
        <p:xfrm>
          <a:off x="786384" y="1755648"/>
          <a:ext cx="10618927" cy="2505456"/>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 y="4535424"/>
            <a:ext cx="3454298" cy="1024128"/>
          </a:xfrm>
          <a:prstGeom prst="roundRect">
            <a:avLst>
              <a:gd name="adj" fmla="val 4018"/>
            </a:avLst>
          </a:prstGeom>
          <a:solidFill>
            <a:srgbClr val="1F1D19"/>
          </a:solidFill>
          <a:ln w="9525">
            <a:solidFill>
              <a:srgbClr val="6E5730"/>
            </a:solidFill>
            <a:prstDash val="solid"/>
          </a:ln>
        </p:spPr>
      </p:sp>
      <p:sp>
        <p:nvSpPr>
          <p:cNvPr id="10" name="Text 7"/>
          <p:cNvSpPr/>
          <p:nvPr/>
        </p:nvSpPr>
        <p:spPr>
          <a:xfrm>
            <a:off x="896112" y="4681728"/>
            <a:ext cx="297881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主線の提示レンジ</a:t>
            </a:r>
            <a:endParaRPr lang="en-US" sz="1150" dirty="0"/>
          </a:p>
        </p:txBody>
      </p:sp>
      <p:sp>
        <p:nvSpPr>
          <p:cNvPr id="11" name="Text 8"/>
          <p:cNvSpPr/>
          <p:nvPr/>
        </p:nvSpPr>
        <p:spPr>
          <a:xfrm>
            <a:off x="89611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回転12ヶ月で投資家利回り20.4%。想定レンジ9〜18ヶ月では14.3%〜26.5%となり、20%を確保できるのは回転12.2ヶ月までとなる。</a:t>
            </a:r>
            <a:endParaRPr lang="en-US" sz="950" dirty="0"/>
          </a:p>
        </p:txBody>
      </p:sp>
      <p:sp>
        <p:nvSpPr>
          <p:cNvPr id="12" name="Shape 9"/>
          <p:cNvSpPr/>
          <p:nvPr/>
        </p:nvSpPr>
        <p:spPr>
          <a:xfrm>
            <a:off x="4368698" y="4535424"/>
            <a:ext cx="3454298" cy="1024128"/>
          </a:xfrm>
          <a:prstGeom prst="roundRect">
            <a:avLst>
              <a:gd name="adj" fmla="val 4018"/>
            </a:avLst>
          </a:prstGeom>
          <a:solidFill>
            <a:srgbClr val="171614"/>
          </a:solidFill>
          <a:ln w="9525">
            <a:solidFill>
              <a:srgbClr val="2E2A24"/>
            </a:solidFill>
            <a:prstDash val="solid"/>
          </a:ln>
        </p:spPr>
      </p:sp>
      <p:sp>
        <p:nvSpPr>
          <p:cNvPr id="13" name="Text 10"/>
          <p:cNvSpPr/>
          <p:nvPr/>
        </p:nvSpPr>
        <p:spPr>
          <a:xfrm>
            <a:off x="4606442"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上振れの条件</a:t>
            </a:r>
            <a:endParaRPr lang="en-US" sz="1150" dirty="0"/>
          </a:p>
        </p:txBody>
      </p:sp>
      <p:sp>
        <p:nvSpPr>
          <p:cNvPr id="14" name="Text 11"/>
          <p:cNvSpPr/>
          <p:nvPr/>
        </p:nvSpPr>
        <p:spPr>
          <a:xfrm>
            <a:off x="460644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調達をインポーター直に寄せた場合の水準。ただし回転12ヶ月で年間9.97億円の販売を要するため、現状は到達しない。上限の目安。</a:t>
            </a:r>
            <a:endParaRPr lang="en-US" sz="950" dirty="0"/>
          </a:p>
        </p:txBody>
      </p:sp>
      <p:sp>
        <p:nvSpPr>
          <p:cNvPr id="15" name="Shape 12"/>
          <p:cNvSpPr/>
          <p:nvPr/>
        </p:nvSpPr>
        <p:spPr>
          <a:xfrm>
            <a:off x="8079029" y="4535424"/>
            <a:ext cx="3454298" cy="1024128"/>
          </a:xfrm>
          <a:prstGeom prst="roundRect">
            <a:avLst>
              <a:gd name="adj" fmla="val 4018"/>
            </a:avLst>
          </a:prstGeom>
          <a:solidFill>
            <a:srgbClr val="171614"/>
          </a:solidFill>
          <a:ln w="9525">
            <a:solidFill>
              <a:srgbClr val="2E2A24"/>
            </a:solidFill>
            <a:prstDash val="solid"/>
          </a:ln>
        </p:spPr>
      </p:sp>
      <p:sp>
        <p:nvSpPr>
          <p:cNvPr id="16" name="Text 13"/>
          <p:cNvSpPr/>
          <p:nvPr/>
        </p:nvSpPr>
        <p:spPr>
          <a:xfrm>
            <a:off x="8316773"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下振れの限界</a:t>
            </a:r>
            <a:endParaRPr lang="en-US" sz="1150" dirty="0"/>
          </a:p>
        </p:txBody>
      </p:sp>
      <p:sp>
        <p:nvSpPr>
          <p:cNvPr id="17" name="Text 14"/>
          <p:cNvSpPr/>
          <p:nvPr/>
        </p:nvSpPr>
        <p:spPr>
          <a:xfrm>
            <a:off x="8316773"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値引き5%と価格横ばいが重なった場合、想定レンジ内では20%に届かない（分岐点は回転8.2ヶ月）。値引き販売の禁止が最優先の防衛線となる。</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主線（在庫回転12ヶ月・投資家利回り20.4%）を基準とした、各変数の単独変動による影響。</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792224"/>
                <a:gridCol w="2212848"/>
                <a:gridCol w="2359152"/>
                <a:gridCol w="877824"/>
                <a:gridCol w="3630168"/>
              </a:tblGrid>
              <a:tr h="35661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在庫回転期間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12ヶ月 → 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20.4% → 14.3%（▲6.1pt）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組入銘柄の選定・販売チャネルの多重化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0%（横ばい）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20.4% → 16.4%（▲4.0pt）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回転期間を短縮し、価格差収益の比重を高める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売却価格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売値 ▲5%（70/80→66.5/76）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20.4% → 16.9%（▲3.5pt）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値引き販売を禁じ、価格維持を運用ルール化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稼働率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95% → 85%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20.4% → 18.1%（▲2.3pt）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3年経過後の解約に備えた現金比率の設計と表裏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B2Cのモール手数料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5.5% → 8.0%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20.4% → 19.4%（▲1.0pt）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自社EC・自社オークションの構成比を引き上げる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10%（会社資料水準）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20.4% → 23.0%（＋2.6pt）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Liv-ex連動銘柄の構成比を高める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調達構成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定価比 50 → 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20.4% → 28.0%（＋7.7pt）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インポーター直取引比率の引き上げが最大の改善策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700016"/>
            <a:ext cx="10874959" cy="1005840"/>
          </a:xfrm>
          <a:prstGeom prst="roundRect">
            <a:avLst>
              <a:gd name="adj" fmla="val 4091"/>
            </a:avLst>
          </a:prstGeom>
          <a:solidFill>
            <a:srgbClr val="1F1D19"/>
          </a:solidFill>
          <a:ln w="9525">
            <a:solidFill>
              <a:srgbClr val="6E5730"/>
            </a:solidFill>
            <a:prstDash val="solid"/>
          </a:ln>
        </p:spPr>
      </p:sp>
      <p:sp>
        <p:nvSpPr>
          <p:cNvPr id="9" name="Text 6"/>
          <p:cNvSpPr/>
          <p:nvPr/>
        </p:nvSpPr>
        <p:spPr>
          <a:xfrm>
            <a:off x="932688" y="4809744"/>
            <a:ext cx="10326319" cy="786384"/>
          </a:xfrm>
          <a:prstGeom prst="rect">
            <a:avLst/>
          </a:prstGeom>
          <a:noFill/>
          <a:ln/>
        </p:spPr>
        <p:txBody>
          <a:bodyPr wrap="square" lIns="0" tIns="0" rIns="0" bIns="0" rtlCol="0" anchor="ctr"/>
          <a:lstStyle/>
          <a:p>
            <a:pPr indent="0" marL="0">
              <a:lnSpc>
                <a:spcPct val="122000"/>
              </a:lnSpc>
              <a:buNone/>
            </a:pPr>
            <a:r>
              <a:rPr lang="en-US" sz="1050" dirty="0">
                <a:solidFill>
                  <a:srgbClr val="EFEBE3"/>
                </a:solidFill>
                <a:latin typeface="Yu Gothic" pitchFamily="34" charset="0"/>
                <a:ea typeface="Yu Gothic" pitchFamily="34" charset="-122"/>
                <a:cs typeface="Yu Gothic" pitchFamily="34" charset="-120"/>
              </a:rPr>
              <a:t>結論：20%の分岐点は回転12.2ヶ月（ニュートラル前提）であり、主線12ヶ月からの余裕は0.2ヶ月しかない。管理報酬年2%を課すため、前回のデット型（分岐点12.7ヶ月・余裕0.7ヶ月）より余裕はさらに小さくなっている。回転12ヶ月の達成は「上振れ条件」ではなく必要条件であり、ここが本ファンド最大の管理項目となる。回転が15ヶ月へ延びれば16.7%、18ヶ月なら14.3%まで低下する。したがって組入銘柄は流動性上位に絞り込み、B2B卸とB2Cを併走させて販売量を確保する設計とする。</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FAIR ALLOCATION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WineBank在庫との公平性をどう担保するか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調達・保管・販売のすべてをWineBankが担うため配分に構造的な利益相反が生じる。在庫比率によるプロラタ配分を原則とする。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7" name="Shape 5"/>
          <p:cNvSpPr/>
          <p:nvPr/>
        </p:nvSpPr>
        <p:spPr>
          <a:xfrm>
            <a:off x="658368" y="1627632"/>
            <a:ext cx="3454298" cy="1847088"/>
          </a:xfrm>
          <a:prstGeom prst="roundRect">
            <a:avLst>
              <a:gd name="adj" fmla="val 2228"/>
            </a:avLst>
          </a:prstGeom>
          <a:solidFill>
            <a:srgbClr val="1F1D19"/>
          </a:solidFill>
          <a:ln w="9525">
            <a:solidFill>
              <a:srgbClr val="6E5730"/>
            </a:solidFill>
            <a:prstDash val="solid"/>
          </a:ln>
        </p:spPr>
      </p:sp>
      <p:sp>
        <p:nvSpPr>
          <p:cNvPr id="8" name="Shape 6"/>
          <p:cNvSpPr/>
          <p:nvPr/>
        </p:nvSpPr>
        <p:spPr>
          <a:xfrm>
            <a:off x="896112" y="1810512"/>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28800"/>
            <a:ext cx="2576474" cy="274320"/>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現物出資が相反そのものを縮小する</a:t>
            </a:r>
            <a:endParaRPr lang="en-US" sz="1100" dirty="0"/>
          </a:p>
        </p:txBody>
      </p:sp>
      <p:sp>
        <p:nvSpPr>
          <p:cNvPr id="11" name="Text 9"/>
          <p:cNvSpPr/>
          <p:nvPr/>
        </p:nvSpPr>
        <p:spPr>
          <a:xfrm>
            <a:off x="89611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WineBankが自己勘定在庫の相当部分（ファーストクローズで3億円相当）をSPCへ拠出するため、両者に同一銘柄が併存する場面自体が減る。加えてWineBankはSPCの持分60%を通じて損益を負うため、SPC在庫を後回しにする経済的動機が構造的に小さい。</a:t>
            </a:r>
            <a:endParaRPr lang="en-US" sz="900" dirty="0"/>
          </a:p>
        </p:txBody>
      </p:sp>
      <p:sp>
        <p:nvSpPr>
          <p:cNvPr id="12" name="Shape 10"/>
          <p:cNvSpPr/>
          <p:nvPr/>
        </p:nvSpPr>
        <p:spPr>
          <a:xfrm>
            <a:off x="4368698" y="1627632"/>
            <a:ext cx="3454298" cy="1847088"/>
          </a:xfrm>
          <a:prstGeom prst="roundRect">
            <a:avLst>
              <a:gd name="adj" fmla="val 2228"/>
            </a:avLst>
          </a:prstGeom>
          <a:solidFill>
            <a:srgbClr val="171614"/>
          </a:solidFill>
          <a:ln w="9525">
            <a:solidFill>
              <a:srgbClr val="2E2A24"/>
            </a:solidFill>
            <a:prstDash val="solid"/>
          </a:ln>
        </p:spPr>
      </p:sp>
      <p:sp>
        <p:nvSpPr>
          <p:cNvPr id="13" name="Shape 11"/>
          <p:cNvSpPr/>
          <p:nvPr/>
        </p:nvSpPr>
        <p:spPr>
          <a:xfrm>
            <a:off x="4606442" y="1810512"/>
            <a:ext cx="310896" cy="310896"/>
          </a:xfrm>
          <a:prstGeom prst="ellipse">
            <a:avLst/>
          </a:prstGeom>
          <a:solidFill>
            <a:srgbClr val="0C0C0C"/>
          </a:solidFill>
          <a:ln w="11430">
            <a:solidFill>
              <a:srgbClr val="A78450"/>
            </a:solidFill>
            <a:prstDash val="solid"/>
          </a:ln>
        </p:spPr>
      </p:sp>
      <p:sp>
        <p:nvSpPr>
          <p:cNvPr id="14" name="Text 12"/>
          <p:cNvSpPr/>
          <p:nvPr/>
        </p:nvSpPr>
        <p:spPr>
          <a:xfrm>
            <a:off x="460644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08778" y="1828800"/>
            <a:ext cx="2576474"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プロラタ配分を原則とする</a:t>
            </a:r>
            <a:endParaRPr lang="en-US" sz="1100" dirty="0"/>
          </a:p>
        </p:txBody>
      </p:sp>
      <p:sp>
        <p:nvSpPr>
          <p:cNvPr id="16" name="Text 14"/>
          <p:cNvSpPr/>
          <p:nvPr/>
        </p:nvSpPr>
        <p:spPr>
          <a:xfrm>
            <a:off x="460644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銘柄が両者にある場合、売却を在庫数量の比率に応じて配分する。個々の売却は分割できないため、累計の配分比率が在庫比率に一致するよう配分台帳で管理し、乖離の大きい側から出庫する。判断を要する場合はSPC在庫を優先する。</a:t>
            </a:r>
            <a:endParaRPr lang="en-US" sz="900" dirty="0"/>
          </a:p>
        </p:txBody>
      </p:sp>
      <p:sp>
        <p:nvSpPr>
          <p:cNvPr id="17" name="Shape 15"/>
          <p:cNvSpPr/>
          <p:nvPr/>
        </p:nvSpPr>
        <p:spPr>
          <a:xfrm>
            <a:off x="8079029" y="1627632"/>
            <a:ext cx="3454298" cy="1847088"/>
          </a:xfrm>
          <a:prstGeom prst="roundRect">
            <a:avLst>
              <a:gd name="adj" fmla="val 2228"/>
            </a:avLst>
          </a:prstGeom>
          <a:solidFill>
            <a:srgbClr val="171614"/>
          </a:solidFill>
          <a:ln w="9525">
            <a:solidFill>
              <a:srgbClr val="2E2A24"/>
            </a:solidFill>
            <a:prstDash val="solid"/>
          </a:ln>
        </p:spPr>
      </p:sp>
      <p:sp>
        <p:nvSpPr>
          <p:cNvPr id="18" name="Shape 16"/>
          <p:cNvSpPr/>
          <p:nvPr/>
        </p:nvSpPr>
        <p:spPr>
          <a:xfrm>
            <a:off x="8316773" y="1810512"/>
            <a:ext cx="310896" cy="310896"/>
          </a:xfrm>
          <a:prstGeom prst="ellipse">
            <a:avLst/>
          </a:prstGeom>
          <a:solidFill>
            <a:srgbClr val="0C0C0C"/>
          </a:solidFill>
          <a:ln w="11430">
            <a:solidFill>
              <a:srgbClr val="A78450"/>
            </a:solidFill>
            <a:prstDash val="solid"/>
          </a:ln>
        </p:spPr>
      </p:sp>
      <p:sp>
        <p:nvSpPr>
          <p:cNvPr id="19" name="Text 17"/>
          <p:cNvSpPr/>
          <p:nvPr/>
        </p:nvSpPr>
        <p:spPr>
          <a:xfrm>
            <a:off x="8316773"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19109" y="1828800"/>
            <a:ext cx="2576474"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価格同一ルールと補填条項</a:t>
            </a:r>
            <a:endParaRPr lang="en-US" sz="1100" dirty="0"/>
          </a:p>
        </p:txBody>
      </p:sp>
      <p:sp>
        <p:nvSpPr>
          <p:cNvPr id="21" name="Text 19"/>
          <p:cNvSpPr/>
          <p:nvPr/>
        </p:nvSpPr>
        <p:spPr>
          <a:xfrm>
            <a:off x="8316773"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同一SKU・同一四半期の実現単価は、SPCがWineBank自己勘定を下回らないものとする。下回った場合は差額×SPC数量をWineBankがSPCへ現金で補填する。運用が崩れても投資家が金額で守られる仕組みとする。</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 y="3602736"/>
          <a:ext cx="10874959" cy="914400"/>
        </p:xfrm>
        <a:graphic>
          <a:graphicData uri="http://schemas.openxmlformats.org/drawingml/2006/table">
            <a:tbl>
              <a:tblPr/>
              <a:tblGrid>
                <a:gridCol w="2377440"/>
                <a:gridCol w="8494776"/>
              </a:tblGrid>
              <a:tr h="26060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担保の手段</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拠出銘柄の選定ルール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現物出資する銘柄は流動性上位から選び、滞留在庫の受け皿としない。拠出銘柄リストは投資家の事前確認を要する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現物出資の評価</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評価方法は組成時に別途協議して確定し、第三者評価または客観的な価格資料で裏付ける。評価根拠は投資家へ開示する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取得時の按分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同一SKUを複数ロット取得する場合は、SPCとWineBank自己勘定の在庫比率に応じて按分して割り当てる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配分台帳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SKU別に期首在庫・取得・売却・期末在庫を両建てで記録し、累計配分比率と在庫比率の乖離を四半期ごとに投資家へ開示する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システムによる自動割当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出庫指示はシステム側で自動割当とし、担当者が出所を選択できない設計とする。変更は理由の記録を必須とする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倉庫内の分別保管</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SPC名義の在庫は別ロケーション・別ラベルで管理し、現物の特定可能性を確保する。四半期ごとに第三者棚卸を実施する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独立第三者による検証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AUPの対象に配分ルールおよび拠出銘柄選定の遵守状況を含め、公認会計士による年次の検証を受ける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797296"/>
            <a:ext cx="10874959" cy="329184"/>
          </a:xfrm>
          <a:prstGeom prst="rect">
            <a:avLst/>
          </a:prstGeom>
          <a:noFill/>
          <a:ln/>
        </p:spPr>
        <p:txBody>
          <a:bodyPr wrap="square" lIns="0" tIns="0" rIns="0" bIns="0" rtlCol="0" anchor="ctr"/>
          <a:lstStyle/>
          <a:p>
            <a:pPr indent="0" marL="0">
              <a:lnSpc>
                <a:spcPct val="118000"/>
              </a:lnSpc>
              <a:buNone/>
            </a:pPr>
            <a:r>
              <a:rPr lang="en-US" sz="800" dirty="0">
                <a:solidFill>
                  <a:srgbClr val="6E675E"/>
                </a:solidFill>
                <a:latin typeface="Yu Gothic" pitchFamily="34" charset="0"/>
                <a:ea typeface="Yu Gothic" pitchFamily="34" charset="-122"/>
                <a:cs typeface="Yu Gothic" pitchFamily="34" charset="-120"/>
              </a:rPr>
              <a:t>※ SPC在庫を完売するまで自己勘定在庫を売らないという運用は、商品構成が銘柄ごとに異なるため実務上成立しない。したがってプロラタ配分を原則とし、プロラタで決まらない部分についてSPCを優先する設計とした。現物出資型では「何を拠出するか」が「どちらを先に売るか」以上に重要な論点となるため、拠出銘柄の選定ルールを最大の担保として新たに置いている。</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GOVERNANCE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情報開示・報告と利益相反の管理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運営者への依存度が高いスキームであるため、開示義務と利益相反管理を契約上で具体的に定める。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
        <p:nvSpPr>
          <p:cNvPr id="7" name="Shape 5"/>
          <p:cNvSpPr/>
          <p:nvPr/>
        </p:nvSpPr>
        <p:spPr>
          <a:xfrm>
            <a:off x="658368" y="1627632"/>
            <a:ext cx="5300320" cy="3163824"/>
          </a:xfrm>
          <a:prstGeom prst="roundRect">
            <a:avLst>
              <a:gd name="adj" fmla="val 1301"/>
            </a:avLst>
          </a:prstGeom>
          <a:solidFill>
            <a:srgbClr val="171614"/>
          </a:solidFill>
          <a:ln w="9525">
            <a:solidFill>
              <a:srgbClr val="2E2A24"/>
            </a:solidFill>
            <a:prstDash val="solid"/>
          </a:ln>
        </p:spPr>
      </p:sp>
      <p:sp>
        <p:nvSpPr>
          <p:cNvPr id="8" name="Text 6"/>
          <p:cNvSpPr/>
          <p:nvPr/>
        </p:nvSpPr>
        <p:spPr>
          <a:xfrm>
            <a:off x="91440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契約上の報告・開示義務</a:t>
            </a:r>
            <a:endParaRPr lang="en-US" sz="1250" dirty="0"/>
          </a:p>
        </p:txBody>
      </p:sp>
      <p:sp>
        <p:nvSpPr>
          <p:cNvPr id="9" name="Shape 7"/>
          <p:cNvSpPr/>
          <p:nvPr/>
        </p:nvSpPr>
        <p:spPr>
          <a:xfrm>
            <a:off x="932688" y="2180844"/>
            <a:ext cx="128016" cy="128016"/>
          </a:xfrm>
          <a:prstGeom prst="ellipse">
            <a:avLst/>
          </a:prstGeom>
          <a:solidFill>
            <a:srgbClr val="A78450"/>
          </a:solidFill>
          <a:ln w="11430">
            <a:solidFill>
              <a:srgbClr val="A78450"/>
            </a:solidFill>
            <a:prstDash val="solid"/>
          </a:ln>
        </p:spPr>
      </p:sp>
      <p:sp>
        <p:nvSpPr>
          <p:cNvPr id="10" name="Text 8"/>
          <p:cNvSpPr/>
          <p:nvPr/>
        </p:nvSpPr>
        <p:spPr>
          <a:xfrm>
            <a:off x="932688" y="2180844"/>
            <a:ext cx="128016" cy="128016"/>
          </a:xfrm>
          <a:prstGeom prst="rect">
            <a:avLst/>
          </a:prstGeom>
          <a:noFill/>
          <a:ln/>
        </p:spPr>
        <p:txBody>
          <a:bodyPr wrap="square" lIns="0" tIns="0" rIns="0" bIns="0" rtlCol="0" anchor="ctr"/>
          <a:lstStyle/>
          <a:p>
            <a:pPr algn="ctr" indent="0" marL="0">
              <a:buNone/>
            </a:pPr>
            <a:endParaRPr lang="en-US" sz="1100" dirty="0"/>
          </a:p>
        </p:txBody>
      </p:sp>
      <p:sp>
        <p:nvSpPr>
          <p:cNvPr id="11" name="Text 9"/>
          <p:cNvSpPr/>
          <p:nvPr/>
        </p:nvSpPr>
        <p:spPr>
          <a:xfrm>
            <a:off x="1152144" y="210312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四半期ごとの損益、資金収支および事業進捗</a:t>
            </a:r>
            <a:endParaRPr lang="en-US" sz="950" dirty="0"/>
          </a:p>
        </p:txBody>
      </p:sp>
      <p:sp>
        <p:nvSpPr>
          <p:cNvPr id="12" name="Shape 10"/>
          <p:cNvSpPr/>
          <p:nvPr/>
        </p:nvSpPr>
        <p:spPr>
          <a:xfrm>
            <a:off x="932688" y="2496312"/>
            <a:ext cx="128016" cy="128016"/>
          </a:xfrm>
          <a:prstGeom prst="ellipse">
            <a:avLst/>
          </a:prstGeom>
          <a:solidFill>
            <a:srgbClr val="A78450"/>
          </a:solidFill>
          <a:ln w="11430">
            <a:solidFill>
              <a:srgbClr val="A78450"/>
            </a:solidFill>
            <a:prstDash val="solid"/>
          </a:ln>
        </p:spPr>
      </p:sp>
      <p:sp>
        <p:nvSpPr>
          <p:cNvPr id="13" name="Text 11"/>
          <p:cNvSpPr/>
          <p:nvPr/>
        </p:nvSpPr>
        <p:spPr>
          <a:xfrm>
            <a:off x="932688" y="2496312"/>
            <a:ext cx="128016" cy="128016"/>
          </a:xfrm>
          <a:prstGeom prst="rect">
            <a:avLst/>
          </a:prstGeom>
          <a:noFill/>
          <a:ln/>
        </p:spPr>
        <p:txBody>
          <a:bodyPr wrap="square" lIns="0" tIns="0" rIns="0" bIns="0" rtlCol="0" anchor="ctr"/>
          <a:lstStyle/>
          <a:p>
            <a:pPr algn="ctr" indent="0" marL="0">
              <a:buNone/>
            </a:pPr>
            <a:endParaRPr lang="en-US" sz="1100" dirty="0"/>
          </a:p>
        </p:txBody>
      </p:sp>
      <p:sp>
        <p:nvSpPr>
          <p:cNvPr id="14" name="Text 12"/>
          <p:cNvSpPr/>
          <p:nvPr/>
        </p:nvSpPr>
        <p:spPr>
          <a:xfrm>
            <a:off x="1152144" y="241858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仕入数量・仕入単価・販売数量・販売単価・在庫数量</a:t>
            </a:r>
            <a:endParaRPr lang="en-US" sz="950" dirty="0"/>
          </a:p>
        </p:txBody>
      </p:sp>
      <p:sp>
        <p:nvSpPr>
          <p:cNvPr id="15" name="Shape 13"/>
          <p:cNvSpPr/>
          <p:nvPr/>
        </p:nvSpPr>
        <p:spPr>
          <a:xfrm>
            <a:off x="932688" y="2811780"/>
            <a:ext cx="128016" cy="128016"/>
          </a:xfrm>
          <a:prstGeom prst="ellipse">
            <a:avLst/>
          </a:prstGeom>
          <a:solidFill>
            <a:srgbClr val="A78450"/>
          </a:solidFill>
          <a:ln w="11430">
            <a:solidFill>
              <a:srgbClr val="A78450"/>
            </a:solidFill>
            <a:prstDash val="solid"/>
          </a:ln>
        </p:spPr>
      </p:sp>
      <p:sp>
        <p:nvSpPr>
          <p:cNvPr id="16" name="Text 14"/>
          <p:cNvSpPr/>
          <p:nvPr/>
        </p:nvSpPr>
        <p:spPr>
          <a:xfrm>
            <a:off x="932688" y="2811780"/>
            <a:ext cx="128016" cy="128016"/>
          </a:xfrm>
          <a:prstGeom prst="rect">
            <a:avLst/>
          </a:prstGeom>
          <a:noFill/>
          <a:ln/>
        </p:spPr>
        <p:txBody>
          <a:bodyPr wrap="square" lIns="0" tIns="0" rIns="0" bIns="0" rtlCol="0" anchor="ctr"/>
          <a:lstStyle/>
          <a:p>
            <a:pPr algn="ctr" indent="0" marL="0">
              <a:buNone/>
            </a:pPr>
            <a:endParaRPr lang="en-US" sz="1100" dirty="0"/>
          </a:p>
        </p:txBody>
      </p:sp>
      <p:sp>
        <p:nvSpPr>
          <p:cNvPr id="17" name="Text 15"/>
          <p:cNvSpPr/>
          <p:nvPr/>
        </p:nvSpPr>
        <p:spPr>
          <a:xfrm>
            <a:off x="1152144" y="273405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現物出資した銘柄の明細、評価額およびその算定根拠</a:t>
            </a:r>
            <a:endParaRPr lang="en-US" sz="950" dirty="0"/>
          </a:p>
        </p:txBody>
      </p:sp>
      <p:sp>
        <p:nvSpPr>
          <p:cNvPr id="18" name="Shape 16"/>
          <p:cNvSpPr/>
          <p:nvPr/>
        </p:nvSpPr>
        <p:spPr>
          <a:xfrm>
            <a:off x="932688" y="3127248"/>
            <a:ext cx="128016" cy="128016"/>
          </a:xfrm>
          <a:prstGeom prst="ellipse">
            <a:avLst/>
          </a:prstGeom>
          <a:solidFill>
            <a:srgbClr val="A78450"/>
          </a:solidFill>
          <a:ln w="11430">
            <a:solidFill>
              <a:srgbClr val="A78450"/>
            </a:solidFill>
            <a:prstDash val="solid"/>
          </a:ln>
        </p:spPr>
      </p:sp>
      <p:sp>
        <p:nvSpPr>
          <p:cNvPr id="19" name="Text 17"/>
          <p:cNvSpPr/>
          <p:nvPr/>
        </p:nvSpPr>
        <p:spPr>
          <a:xfrm>
            <a:off x="932688" y="3127248"/>
            <a:ext cx="128016" cy="128016"/>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152144" y="3049524"/>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資金使途、銀行口座残高および主要な支払内容</a:t>
            </a:r>
            <a:endParaRPr lang="en-US" sz="950" dirty="0"/>
          </a:p>
        </p:txBody>
      </p:sp>
      <p:sp>
        <p:nvSpPr>
          <p:cNvPr id="21" name="Shape 19"/>
          <p:cNvSpPr/>
          <p:nvPr/>
        </p:nvSpPr>
        <p:spPr>
          <a:xfrm>
            <a:off x="932688" y="3442716"/>
            <a:ext cx="128016" cy="128016"/>
          </a:xfrm>
          <a:prstGeom prst="ellipse">
            <a:avLst/>
          </a:prstGeom>
          <a:solidFill>
            <a:srgbClr val="A78450"/>
          </a:solidFill>
          <a:ln w="11430">
            <a:solidFill>
              <a:srgbClr val="A78450"/>
            </a:solidFill>
            <a:prstDash val="solid"/>
          </a:ln>
        </p:spPr>
      </p:sp>
      <p:sp>
        <p:nvSpPr>
          <p:cNvPr id="22" name="Text 20"/>
          <p:cNvSpPr/>
          <p:nvPr/>
        </p:nvSpPr>
        <p:spPr>
          <a:xfrm>
            <a:off x="932688" y="3442716"/>
            <a:ext cx="128016" cy="128016"/>
          </a:xfrm>
          <a:prstGeom prst="rect">
            <a:avLst/>
          </a:prstGeom>
          <a:noFill/>
          <a:ln/>
        </p:spPr>
        <p:txBody>
          <a:bodyPr wrap="square" lIns="0" tIns="0" rIns="0" bIns="0" rtlCol="0" anchor="ctr"/>
          <a:lstStyle/>
          <a:p>
            <a:pPr algn="ctr" indent="0" marL="0">
              <a:buNone/>
            </a:pPr>
            <a:endParaRPr lang="en-US" sz="1100" dirty="0"/>
          </a:p>
        </p:txBody>
      </p:sp>
      <p:sp>
        <p:nvSpPr>
          <p:cNvPr id="23" name="Text 21"/>
          <p:cNvSpPr/>
          <p:nvPr/>
        </p:nvSpPr>
        <p:spPr>
          <a:xfrm>
            <a:off x="1152144" y="336499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関連当事者取引・利益相反取引の内容、金額、取引条件</a:t>
            </a:r>
            <a:endParaRPr lang="en-US" sz="950" dirty="0"/>
          </a:p>
        </p:txBody>
      </p:sp>
      <p:sp>
        <p:nvSpPr>
          <p:cNvPr id="24" name="Shape 22"/>
          <p:cNvSpPr/>
          <p:nvPr/>
        </p:nvSpPr>
        <p:spPr>
          <a:xfrm>
            <a:off x="932688" y="3758184"/>
            <a:ext cx="128016" cy="128016"/>
          </a:xfrm>
          <a:prstGeom prst="ellipse">
            <a:avLst/>
          </a:prstGeom>
          <a:solidFill>
            <a:srgbClr val="A78450"/>
          </a:solidFill>
          <a:ln w="11430">
            <a:solidFill>
              <a:srgbClr val="A78450"/>
            </a:solidFill>
            <a:prstDash val="solid"/>
          </a:ln>
        </p:spPr>
      </p:sp>
      <p:sp>
        <p:nvSpPr>
          <p:cNvPr id="25" name="Text 23"/>
          <p:cNvSpPr/>
          <p:nvPr/>
        </p:nvSpPr>
        <p:spPr>
          <a:xfrm>
            <a:off x="932688" y="3758184"/>
            <a:ext cx="128016" cy="128016"/>
          </a:xfrm>
          <a:prstGeom prst="rect">
            <a:avLst/>
          </a:prstGeom>
          <a:noFill/>
          <a:ln/>
        </p:spPr>
        <p:txBody>
          <a:bodyPr wrap="square" lIns="0" tIns="0" rIns="0" bIns="0" rtlCol="0" anchor="ctr"/>
          <a:lstStyle/>
          <a:p>
            <a:pPr algn="ctr" indent="0" marL="0">
              <a:buNone/>
            </a:pPr>
            <a:endParaRPr lang="en-US" sz="1100" dirty="0"/>
          </a:p>
        </p:txBody>
      </p:sp>
      <p:sp>
        <p:nvSpPr>
          <p:cNvPr id="26" name="Text 24"/>
          <p:cNvSpPr/>
          <p:nvPr/>
        </p:nvSpPr>
        <p:spPr>
          <a:xfrm>
            <a:off x="1152144" y="368046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一定金額以上の取引、借入れ、追加投資、契約変更の事前承認</a:t>
            </a:r>
            <a:endParaRPr lang="en-US" sz="950" dirty="0"/>
          </a:p>
        </p:txBody>
      </p:sp>
      <p:sp>
        <p:nvSpPr>
          <p:cNvPr id="27" name="Shape 25"/>
          <p:cNvSpPr/>
          <p:nvPr/>
        </p:nvSpPr>
        <p:spPr>
          <a:xfrm>
            <a:off x="932688" y="4073652"/>
            <a:ext cx="128016" cy="128016"/>
          </a:xfrm>
          <a:prstGeom prst="ellipse">
            <a:avLst/>
          </a:prstGeom>
          <a:solidFill>
            <a:srgbClr val="A78450"/>
          </a:solidFill>
          <a:ln w="11430">
            <a:solidFill>
              <a:srgbClr val="A78450"/>
            </a:solidFill>
            <a:prstDash val="solid"/>
          </a:ln>
        </p:spPr>
      </p:sp>
      <p:sp>
        <p:nvSpPr>
          <p:cNvPr id="28" name="Text 26"/>
          <p:cNvSpPr/>
          <p:nvPr/>
        </p:nvSpPr>
        <p:spPr>
          <a:xfrm>
            <a:off x="932688" y="4073652"/>
            <a:ext cx="128016" cy="128016"/>
          </a:xfrm>
          <a:prstGeom prst="rect">
            <a:avLst/>
          </a:prstGeom>
          <a:noFill/>
          <a:ln/>
        </p:spPr>
        <p:txBody>
          <a:bodyPr wrap="square" lIns="0" tIns="0" rIns="0" bIns="0" rtlCol="0" anchor="ctr"/>
          <a:lstStyle/>
          <a:p>
            <a:pPr algn="ctr" indent="0" marL="0">
              <a:buNone/>
            </a:pPr>
            <a:endParaRPr lang="en-US" sz="1100" dirty="0"/>
          </a:p>
        </p:txBody>
      </p:sp>
      <p:sp>
        <p:nvSpPr>
          <p:cNvPr id="29" name="Text 27"/>
          <p:cNvSpPr/>
          <p:nvPr/>
        </p:nvSpPr>
        <p:spPr>
          <a:xfrm>
            <a:off x="1152144" y="399592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会計帳簿・請求書・契約書・銀行取引記録の閲覧および調査権</a:t>
            </a:r>
            <a:endParaRPr lang="en-US" sz="950" dirty="0"/>
          </a:p>
        </p:txBody>
      </p:sp>
      <p:sp>
        <p:nvSpPr>
          <p:cNvPr id="30" name="Shape 28"/>
          <p:cNvSpPr/>
          <p:nvPr/>
        </p:nvSpPr>
        <p:spPr>
          <a:xfrm>
            <a:off x="932688" y="4389120"/>
            <a:ext cx="128016" cy="128016"/>
          </a:xfrm>
          <a:prstGeom prst="ellipse">
            <a:avLst/>
          </a:prstGeom>
          <a:solidFill>
            <a:srgbClr val="A78450"/>
          </a:solidFill>
          <a:ln w="11430">
            <a:solidFill>
              <a:srgbClr val="A78450"/>
            </a:solidFill>
            <a:prstDash val="solid"/>
          </a:ln>
        </p:spPr>
      </p:sp>
      <p:sp>
        <p:nvSpPr>
          <p:cNvPr id="31" name="Text 29"/>
          <p:cNvSpPr/>
          <p:nvPr/>
        </p:nvSpPr>
        <p:spPr>
          <a:xfrm>
            <a:off x="932688" y="4389120"/>
            <a:ext cx="128016" cy="128016"/>
          </a:xfrm>
          <a:prstGeom prst="rect">
            <a:avLst/>
          </a:prstGeom>
          <a:noFill/>
          <a:ln/>
        </p:spPr>
        <p:txBody>
          <a:bodyPr wrap="square" lIns="0" tIns="0" rIns="0" bIns="0" rtlCol="0" anchor="ctr"/>
          <a:lstStyle/>
          <a:p>
            <a:pPr algn="ctr" indent="0" marL="0">
              <a:buNone/>
            </a:pPr>
            <a:endParaRPr lang="en-US" sz="1100" dirty="0"/>
          </a:p>
        </p:txBody>
      </p:sp>
      <p:sp>
        <p:nvSpPr>
          <p:cNvPr id="32" name="Text 30"/>
          <p:cNvSpPr/>
          <p:nvPr/>
        </p:nvSpPr>
        <p:spPr>
          <a:xfrm>
            <a:off x="1152144" y="431139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重大な計画変更、損失発生、不正または法令違反時の速やかな報告</a:t>
            </a:r>
            <a:endParaRPr lang="en-US" sz="950" dirty="0"/>
          </a:p>
        </p:txBody>
      </p:sp>
      <p:sp>
        <p:nvSpPr>
          <p:cNvPr id="33" name="Shape 31"/>
          <p:cNvSpPr/>
          <p:nvPr/>
        </p:nvSpPr>
        <p:spPr>
          <a:xfrm>
            <a:off x="6233008" y="1627632"/>
            <a:ext cx="5300320" cy="3163824"/>
          </a:xfrm>
          <a:prstGeom prst="roundRect">
            <a:avLst>
              <a:gd name="adj" fmla="val 1301"/>
            </a:avLst>
          </a:prstGeom>
          <a:solidFill>
            <a:srgbClr val="1F1D19"/>
          </a:solidFill>
          <a:ln w="9525">
            <a:solidFill>
              <a:srgbClr val="6E5730"/>
            </a:solidFill>
            <a:prstDash val="solid"/>
          </a:ln>
        </p:spPr>
      </p:sp>
      <p:sp>
        <p:nvSpPr>
          <p:cNvPr id="34" name="Text 32"/>
          <p:cNvSpPr/>
          <p:nvPr/>
        </p:nvSpPr>
        <p:spPr>
          <a:xfrm>
            <a:off x="648904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利益相反の管理</a:t>
            </a:r>
            <a:endParaRPr lang="en-US" sz="1250" dirty="0"/>
          </a:p>
        </p:txBody>
      </p:sp>
      <p:sp>
        <p:nvSpPr>
          <p:cNvPr id="35" name="Text 33"/>
          <p:cNvSpPr/>
          <p:nvPr/>
        </p:nvSpPr>
        <p:spPr>
          <a:xfrm>
            <a:off x="6489040" y="2139696"/>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現物出資の評価</a:t>
            </a:r>
            <a:endParaRPr lang="en-US" sz="1050" dirty="0"/>
          </a:p>
        </p:txBody>
      </p:sp>
      <p:sp>
        <p:nvSpPr>
          <p:cNvPr id="36" name="Text 34"/>
          <p:cNvSpPr/>
          <p:nvPr/>
        </p:nvSpPr>
        <p:spPr>
          <a:xfrm>
            <a:off x="6489040" y="2359152"/>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拠出するワインの評価方法を契約上明記し、第三者評価または客観的な価格資料により裏付ける。評価額および拠出銘柄は投資家の事前確認を要する。</a:t>
            </a:r>
            <a:endParaRPr lang="en-US" sz="900" dirty="0"/>
          </a:p>
        </p:txBody>
      </p:sp>
      <p:sp>
        <p:nvSpPr>
          <p:cNvPr id="37" name="Text 35"/>
          <p:cNvSpPr/>
          <p:nvPr/>
        </p:nvSpPr>
        <p:spPr>
          <a:xfrm>
            <a:off x="6489040" y="2798064"/>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独立企業間価格の原則</a:t>
            </a:r>
            <a:endParaRPr lang="en-US" sz="1050" dirty="0"/>
          </a:p>
        </p:txBody>
      </p:sp>
      <p:sp>
        <p:nvSpPr>
          <p:cNvPr id="38" name="Text 36"/>
          <p:cNvSpPr/>
          <p:nvPr/>
        </p:nvSpPr>
        <p:spPr>
          <a:xfrm>
            <a:off x="6489040" y="3017520"/>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運営者およびその関係会社との取引は、第三者との取引条件と同等の条件によるものとする。現物譲渡の1%を含め、価格の合理性を客観的資料で説明できる状態を維持する。</a:t>
            </a:r>
            <a:endParaRPr lang="en-US" sz="900" dirty="0"/>
          </a:p>
        </p:txBody>
      </p:sp>
      <p:sp>
        <p:nvSpPr>
          <p:cNvPr id="39" name="Text 37"/>
          <p:cNvSpPr/>
          <p:nvPr/>
        </p:nvSpPr>
        <p:spPr>
          <a:xfrm>
            <a:off x="6489040" y="3456432"/>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重要な関連当事者取引の事前承認</a:t>
            </a:r>
            <a:endParaRPr lang="en-US" sz="1050" dirty="0"/>
          </a:p>
        </p:txBody>
      </p:sp>
      <p:sp>
        <p:nvSpPr>
          <p:cNvPr id="40" name="Text 38"/>
          <p:cNvSpPr/>
          <p:nvPr/>
        </p:nvSpPr>
        <p:spPr>
          <a:xfrm>
            <a:off x="6489040" y="3675888"/>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一定金額以上の取引については、投資家または独立した第三者の事前承認を要する。</a:t>
            </a:r>
            <a:endParaRPr lang="en-US" sz="900" dirty="0"/>
          </a:p>
        </p:txBody>
      </p:sp>
      <p:sp>
        <p:nvSpPr>
          <p:cNvPr id="41" name="Text 39"/>
          <p:cNvSpPr/>
          <p:nvPr/>
        </p:nvSpPr>
        <p:spPr>
          <a:xfrm>
            <a:off x="6489040" y="4114800"/>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在庫配分ルールの遵守</a:t>
            </a:r>
            <a:endParaRPr lang="en-US" sz="1050" dirty="0"/>
          </a:p>
        </p:txBody>
      </p:sp>
      <p:sp>
        <p:nvSpPr>
          <p:cNvPr id="42" name="Text 40"/>
          <p:cNvSpPr/>
          <p:nvPr/>
        </p:nvSpPr>
        <p:spPr>
          <a:xfrm>
            <a:off x="6489040" y="4334256"/>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前頁の配分方針および拠出銘柄選定ルールを契約別紙として明文化し、逸脱時の是正・補填手続を定める。</a:t>
            </a:r>
            <a:endParaRPr lang="en-US" sz="900" dirty="0"/>
          </a:p>
        </p:txBody>
      </p:sp>
      <p:sp>
        <p:nvSpPr>
          <p:cNvPr id="43" name="Shape 41"/>
          <p:cNvSpPr/>
          <p:nvPr/>
        </p:nvSpPr>
        <p:spPr>
          <a:xfrm>
            <a:off x="658368" y="4974336"/>
            <a:ext cx="3454298" cy="1133856"/>
          </a:xfrm>
          <a:prstGeom prst="roundRect">
            <a:avLst>
              <a:gd name="adj" fmla="val 3629"/>
            </a:avLst>
          </a:prstGeom>
          <a:solidFill>
            <a:srgbClr val="171614"/>
          </a:solidFill>
          <a:ln w="9525">
            <a:solidFill>
              <a:srgbClr val="2E2A24"/>
            </a:solidFill>
            <a:prstDash val="solid"/>
          </a:ln>
        </p:spPr>
      </p:sp>
      <p:sp>
        <p:nvSpPr>
          <p:cNvPr id="44" name="Text 42"/>
          <p:cNvSpPr/>
          <p:nvPr/>
        </p:nvSpPr>
        <p:spPr>
          <a:xfrm>
            <a:off x="89611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ファンド形態</a:t>
            </a:r>
            <a:endParaRPr lang="en-US" sz="950" dirty="0"/>
          </a:p>
        </p:txBody>
      </p:sp>
      <p:sp>
        <p:nvSpPr>
          <p:cNvPr id="45" name="Text 43"/>
          <p:cNvSpPr/>
          <p:nvPr/>
        </p:nvSpPr>
        <p:spPr>
          <a:xfrm>
            <a:off x="89611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適格機関投資家等特例業務</a:t>
            </a:r>
            <a:endParaRPr lang="en-US" sz="1200" dirty="0"/>
          </a:p>
        </p:txBody>
      </p:sp>
      <p:sp>
        <p:nvSpPr>
          <p:cNvPr id="46" name="Text 44"/>
          <p:cNvSpPr/>
          <p:nvPr/>
        </p:nvSpPr>
        <p:spPr>
          <a:xfrm>
            <a:off x="89611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第1号ファンド（合同会社WineBank P1）で届出の実績がある。適格機関投資家1名以上の確保を組成条件とする。</a:t>
            </a:r>
            <a:endParaRPr lang="en-US" sz="850" dirty="0"/>
          </a:p>
        </p:txBody>
      </p:sp>
      <p:sp>
        <p:nvSpPr>
          <p:cNvPr id="47" name="Shape 45"/>
          <p:cNvSpPr/>
          <p:nvPr/>
        </p:nvSpPr>
        <p:spPr>
          <a:xfrm>
            <a:off x="4368698" y="4974336"/>
            <a:ext cx="3454298" cy="1133856"/>
          </a:xfrm>
          <a:prstGeom prst="roundRect">
            <a:avLst>
              <a:gd name="adj" fmla="val 3629"/>
            </a:avLst>
          </a:prstGeom>
          <a:solidFill>
            <a:srgbClr val="171614"/>
          </a:solidFill>
          <a:ln w="9525">
            <a:solidFill>
              <a:srgbClr val="2E2A24"/>
            </a:solidFill>
            <a:prstDash val="solid"/>
          </a:ln>
        </p:spPr>
      </p:sp>
      <p:sp>
        <p:nvSpPr>
          <p:cNvPr id="48" name="Text 46"/>
          <p:cNvSpPr/>
          <p:nvPr/>
        </p:nvSpPr>
        <p:spPr>
          <a:xfrm>
            <a:off x="460644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外部検証</a:t>
            </a:r>
            <a:endParaRPr lang="en-US" sz="950" dirty="0"/>
          </a:p>
        </p:txBody>
      </p:sp>
      <p:sp>
        <p:nvSpPr>
          <p:cNvPr id="49" name="Text 47"/>
          <p:cNvSpPr/>
          <p:nvPr/>
        </p:nvSpPr>
        <p:spPr>
          <a:xfrm>
            <a:off x="460644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AUP（合意された手続）</a:t>
            </a:r>
            <a:endParaRPr lang="en-US" sz="1200" dirty="0"/>
          </a:p>
        </p:txBody>
      </p:sp>
      <p:sp>
        <p:nvSpPr>
          <p:cNvPr id="50" name="Text 48"/>
          <p:cNvSpPr/>
          <p:nvPr/>
        </p:nvSpPr>
        <p:spPr>
          <a:xfrm>
            <a:off x="460644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財務諸表監査ではなく、目的を限定した合意された手続を採用。年50万円をSPC費用に計上済み。現物出資の評価も検証対象に含める。</a:t>
            </a:r>
            <a:endParaRPr lang="en-US" sz="850" dirty="0"/>
          </a:p>
        </p:txBody>
      </p:sp>
      <p:sp>
        <p:nvSpPr>
          <p:cNvPr id="51" name="Shape 49"/>
          <p:cNvSpPr/>
          <p:nvPr/>
        </p:nvSpPr>
        <p:spPr>
          <a:xfrm>
            <a:off x="8079029" y="4974336"/>
            <a:ext cx="3454298" cy="1133856"/>
          </a:xfrm>
          <a:prstGeom prst="roundRect">
            <a:avLst>
              <a:gd name="adj" fmla="val 3629"/>
            </a:avLst>
          </a:prstGeom>
          <a:solidFill>
            <a:srgbClr val="171614"/>
          </a:solidFill>
          <a:ln w="9525">
            <a:solidFill>
              <a:srgbClr val="2E2A24"/>
            </a:solidFill>
            <a:prstDash val="solid"/>
          </a:ln>
        </p:spPr>
      </p:sp>
      <p:sp>
        <p:nvSpPr>
          <p:cNvPr id="52" name="Text 50"/>
          <p:cNvSpPr/>
          <p:nvPr/>
        </p:nvSpPr>
        <p:spPr>
          <a:xfrm>
            <a:off x="8316773"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報告頻度</a:t>
            </a:r>
            <a:endParaRPr lang="en-US" sz="950" dirty="0"/>
          </a:p>
        </p:txBody>
      </p:sp>
      <p:sp>
        <p:nvSpPr>
          <p:cNvPr id="53" name="Text 51"/>
          <p:cNvSpPr/>
          <p:nvPr/>
        </p:nvSpPr>
        <p:spPr>
          <a:xfrm>
            <a:off x="8316773"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四半期</a:t>
            </a:r>
            <a:endParaRPr lang="en-US" sz="1200" dirty="0"/>
          </a:p>
        </p:txBody>
      </p:sp>
      <p:sp>
        <p:nvSpPr>
          <p:cNvPr id="54" name="Text 52"/>
          <p:cNvSpPr/>
          <p:nvPr/>
        </p:nvSpPr>
        <p:spPr>
          <a:xfrm>
            <a:off x="8316773"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在庫明細・簿価・売上・試算表を四半期ごとに開示。年次で決算を報告する。</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19</a:t>
            </a:r>
            <a:endParaRPr lang="en-US" sz="950" dirty="0"/>
          </a:p>
        </p:txBody>
      </p:sp>
      <p:sp>
        <p:nvSpPr>
          <p:cNvPr id="6" name="Shape 4"/>
          <p:cNvSpPr/>
          <p:nvPr/>
        </p:nvSpPr>
        <p:spPr>
          <a:xfrm>
            <a:off x="658368" y="1554480"/>
            <a:ext cx="2526716" cy="1920240"/>
          </a:xfrm>
          <a:prstGeom prst="roundRect">
            <a:avLst>
              <a:gd name="adj" fmla="val 2143"/>
            </a:avLst>
          </a:prstGeom>
          <a:solidFill>
            <a:srgbClr val="171614"/>
          </a:solidFill>
          <a:ln w="9525">
            <a:solidFill>
              <a:srgbClr val="2E2A24"/>
            </a:solidFill>
            <a:prstDash val="solid"/>
          </a:ln>
        </p:spPr>
      </p:sp>
      <p:sp>
        <p:nvSpPr>
          <p:cNvPr id="7" name="Text 5"/>
          <p:cNvSpPr/>
          <p:nvPr/>
        </p:nvSpPr>
        <p:spPr>
          <a:xfrm>
            <a:off x="896112"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在庫リスク</a:t>
            </a:r>
            <a:endParaRPr lang="en-US" sz="1200" dirty="0"/>
          </a:p>
        </p:txBody>
      </p:sp>
      <p:sp>
        <p:nvSpPr>
          <p:cNvPr id="8" name="Text 6"/>
          <p:cNvSpPr/>
          <p:nvPr/>
        </p:nvSpPr>
        <p:spPr>
          <a:xfrm>
            <a:off x="896112"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想定価格で売り切れず滞留する</a:t>
            </a:r>
            <a:endParaRPr lang="en-US" sz="950" dirty="0"/>
          </a:p>
        </p:txBody>
      </p:sp>
      <p:sp>
        <p:nvSpPr>
          <p:cNvPr id="9" name="Text 7"/>
          <p:cNvSpPr/>
          <p:nvPr/>
        </p:nvSpPr>
        <p:spPr>
          <a:xfrm>
            <a:off x="896112"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銘柄をLiv-ex掲載の流通量の多い銘柄に限定。四半期ごとに滞留在庫を洗い出し、簿価見直しを実施。滞留は値上がりを取る期間でもある。</a:t>
            </a:r>
            <a:endParaRPr lang="en-US" sz="900" dirty="0"/>
          </a:p>
        </p:txBody>
      </p:sp>
      <p:sp>
        <p:nvSpPr>
          <p:cNvPr id="10" name="Shape 8"/>
          <p:cNvSpPr/>
          <p:nvPr/>
        </p:nvSpPr>
        <p:spPr>
          <a:xfrm>
            <a:off x="3441116" y="1554480"/>
            <a:ext cx="2526716" cy="1920240"/>
          </a:xfrm>
          <a:prstGeom prst="roundRect">
            <a:avLst>
              <a:gd name="adj" fmla="val 2143"/>
            </a:avLst>
          </a:prstGeom>
          <a:solidFill>
            <a:srgbClr val="171614"/>
          </a:solidFill>
          <a:ln w="9525">
            <a:solidFill>
              <a:srgbClr val="2E2A24"/>
            </a:solidFill>
            <a:prstDash val="solid"/>
          </a:ln>
        </p:spPr>
      </p:sp>
      <p:sp>
        <p:nvSpPr>
          <p:cNvPr id="11" name="Text 9"/>
          <p:cNvSpPr/>
          <p:nvPr/>
        </p:nvSpPr>
        <p:spPr>
          <a:xfrm>
            <a:off x="3678860"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価格変動リスク</a:t>
            </a:r>
            <a:endParaRPr lang="en-US" sz="1200" dirty="0"/>
          </a:p>
        </p:txBody>
      </p:sp>
      <p:sp>
        <p:nvSpPr>
          <p:cNvPr id="12" name="Text 10"/>
          <p:cNvSpPr/>
          <p:nvPr/>
        </p:nvSpPr>
        <p:spPr>
          <a:xfrm>
            <a:off x="3678860"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Fine Wine市況の下落・停滞</a:t>
            </a:r>
            <a:endParaRPr lang="en-US" sz="950" dirty="0"/>
          </a:p>
        </p:txBody>
      </p:sp>
      <p:sp>
        <p:nvSpPr>
          <p:cNvPr id="13" name="Text 11"/>
          <p:cNvSpPr/>
          <p:nvPr/>
        </p:nvSpPr>
        <p:spPr>
          <a:xfrm>
            <a:off x="3678860"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主線は年6%上昇を織り込むが、横ばい（0%）でも投資家利回り16.4%を確保できる。会社資料の年率10%に対し保守的な前提。</a:t>
            </a:r>
            <a:endParaRPr lang="en-US" sz="900" dirty="0"/>
          </a:p>
        </p:txBody>
      </p:sp>
      <p:sp>
        <p:nvSpPr>
          <p:cNvPr id="14" name="Shape 12"/>
          <p:cNvSpPr/>
          <p:nvPr/>
        </p:nvSpPr>
        <p:spPr>
          <a:xfrm>
            <a:off x="6223864" y="1554480"/>
            <a:ext cx="2526716" cy="1920240"/>
          </a:xfrm>
          <a:prstGeom prst="roundRect">
            <a:avLst>
              <a:gd name="adj" fmla="val 2143"/>
            </a:avLst>
          </a:prstGeom>
          <a:solidFill>
            <a:srgbClr val="171614"/>
          </a:solidFill>
          <a:ln w="9525">
            <a:solidFill>
              <a:srgbClr val="2E2A24"/>
            </a:solidFill>
            <a:prstDash val="solid"/>
          </a:ln>
        </p:spPr>
      </p:sp>
      <p:sp>
        <p:nvSpPr>
          <p:cNvPr id="15" name="Text 13"/>
          <p:cNvSpPr/>
          <p:nvPr/>
        </p:nvSpPr>
        <p:spPr>
          <a:xfrm>
            <a:off x="6461608"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流動性リスク</a:t>
            </a:r>
            <a:endParaRPr lang="en-US" sz="1200" dirty="0"/>
          </a:p>
        </p:txBody>
      </p:sp>
      <p:sp>
        <p:nvSpPr>
          <p:cNvPr id="16" name="Text 14"/>
          <p:cNvSpPr/>
          <p:nvPr/>
        </p:nvSpPr>
        <p:spPr>
          <a:xfrm>
            <a:off x="6461608"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現物のため即時換金できない</a:t>
            </a:r>
            <a:endParaRPr lang="en-US" sz="950" dirty="0"/>
          </a:p>
        </p:txBody>
      </p:sp>
      <p:sp>
        <p:nvSpPr>
          <p:cNvPr id="17" name="Text 15"/>
          <p:cNvSpPr/>
          <p:nvPr/>
        </p:nvSpPr>
        <p:spPr>
          <a:xfrm>
            <a:off x="6461608"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当初3年間はロックアップ。4年目以降は年度ごとの解約日に対応し、解約枠に応じて現金比率を引き上げる。</a:t>
            </a:r>
            <a:endParaRPr lang="en-US" sz="900" dirty="0"/>
          </a:p>
        </p:txBody>
      </p:sp>
      <p:sp>
        <p:nvSpPr>
          <p:cNvPr id="18" name="Shape 16"/>
          <p:cNvSpPr/>
          <p:nvPr/>
        </p:nvSpPr>
        <p:spPr>
          <a:xfrm>
            <a:off x="9006611" y="1554480"/>
            <a:ext cx="2526716" cy="1920240"/>
          </a:xfrm>
          <a:prstGeom prst="roundRect">
            <a:avLst>
              <a:gd name="adj" fmla="val 2143"/>
            </a:avLst>
          </a:prstGeom>
          <a:solidFill>
            <a:srgbClr val="171614"/>
          </a:solidFill>
          <a:ln w="9525">
            <a:solidFill>
              <a:srgbClr val="2E2A24"/>
            </a:solidFill>
            <a:prstDash val="solid"/>
          </a:ln>
        </p:spPr>
      </p:sp>
      <p:sp>
        <p:nvSpPr>
          <p:cNvPr id="19" name="Text 17"/>
          <p:cNvSpPr/>
          <p:nvPr/>
        </p:nvSpPr>
        <p:spPr>
          <a:xfrm>
            <a:off x="9244355"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調達リスク</a:t>
            </a:r>
            <a:endParaRPr lang="en-US" sz="1200" dirty="0"/>
          </a:p>
        </p:txBody>
      </p:sp>
      <p:sp>
        <p:nvSpPr>
          <p:cNvPr id="20" name="Text 18"/>
          <p:cNvSpPr/>
          <p:nvPr/>
        </p:nvSpPr>
        <p:spPr>
          <a:xfrm>
            <a:off x="9244355"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想定価格・数量で仕入れられない</a:t>
            </a:r>
            <a:endParaRPr lang="en-US" sz="950" dirty="0"/>
          </a:p>
        </p:txBody>
      </p:sp>
      <p:sp>
        <p:nvSpPr>
          <p:cNvPr id="21" name="Text 19"/>
          <p:cNvSpPr/>
          <p:nvPr/>
        </p:nvSpPr>
        <p:spPr>
          <a:xfrm>
            <a:off x="9244355"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インポーター・酒販店との年間調達枠を事前に締結。調達実績を四半期報告。</a:t>
            </a:r>
            <a:endParaRPr lang="en-US" sz="900" dirty="0"/>
          </a:p>
        </p:txBody>
      </p:sp>
      <p:sp>
        <p:nvSpPr>
          <p:cNvPr id="22" name="Shape 20"/>
          <p:cNvSpPr/>
          <p:nvPr/>
        </p:nvSpPr>
        <p:spPr>
          <a:xfrm>
            <a:off x="658368" y="3675888"/>
            <a:ext cx="2526716" cy="1920240"/>
          </a:xfrm>
          <a:prstGeom prst="roundRect">
            <a:avLst>
              <a:gd name="adj" fmla="val 2143"/>
            </a:avLst>
          </a:prstGeom>
          <a:solidFill>
            <a:srgbClr val="171614"/>
          </a:solidFill>
          <a:ln w="9525">
            <a:solidFill>
              <a:srgbClr val="2E2A24"/>
            </a:solidFill>
            <a:prstDash val="solid"/>
          </a:ln>
        </p:spPr>
      </p:sp>
      <p:sp>
        <p:nvSpPr>
          <p:cNvPr id="23" name="Text 21"/>
          <p:cNvSpPr/>
          <p:nvPr/>
        </p:nvSpPr>
        <p:spPr>
          <a:xfrm>
            <a:off x="896112"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オペレーションリスク</a:t>
            </a:r>
            <a:endParaRPr lang="en-US" sz="1200" dirty="0"/>
          </a:p>
        </p:txBody>
      </p:sp>
      <p:sp>
        <p:nvSpPr>
          <p:cNvPr id="24" name="Text 22"/>
          <p:cNvSpPr/>
          <p:nvPr/>
        </p:nvSpPr>
        <p:spPr>
          <a:xfrm>
            <a:off x="896112"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保管中の破損・劣化・盗難</a:t>
            </a:r>
            <a:endParaRPr lang="en-US" sz="950" dirty="0"/>
          </a:p>
        </p:txBody>
      </p:sp>
      <p:sp>
        <p:nvSpPr>
          <p:cNvPr id="25" name="Text 23"/>
          <p:cNvSpPr/>
          <p:nvPr/>
        </p:nvSpPr>
        <p:spPr>
          <a:xfrm>
            <a:off x="896112"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定温倉庫での保管と動産総合保険による全量付保。ロスは保険でカバーする前提のため費用計上していない。倉庫在庫は四半期ごとに第三者棚卸。</a:t>
            </a:r>
            <a:endParaRPr lang="en-US" sz="900" dirty="0"/>
          </a:p>
        </p:txBody>
      </p:sp>
      <p:sp>
        <p:nvSpPr>
          <p:cNvPr id="26" name="Shape 24"/>
          <p:cNvSpPr/>
          <p:nvPr/>
        </p:nvSpPr>
        <p:spPr>
          <a:xfrm>
            <a:off x="3441116" y="3675888"/>
            <a:ext cx="2526716" cy="1920240"/>
          </a:xfrm>
          <a:prstGeom prst="roundRect">
            <a:avLst>
              <a:gd name="adj" fmla="val 2143"/>
            </a:avLst>
          </a:prstGeom>
          <a:solidFill>
            <a:srgbClr val="171614"/>
          </a:solidFill>
          <a:ln w="9525">
            <a:solidFill>
              <a:srgbClr val="2E2A24"/>
            </a:solidFill>
            <a:prstDash val="solid"/>
          </a:ln>
        </p:spPr>
      </p:sp>
      <p:sp>
        <p:nvSpPr>
          <p:cNvPr id="27" name="Text 25"/>
          <p:cNvSpPr/>
          <p:nvPr/>
        </p:nvSpPr>
        <p:spPr>
          <a:xfrm>
            <a:off x="3678860"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カウンターパーティリスク</a:t>
            </a:r>
            <a:endParaRPr lang="en-US" sz="1200" dirty="0"/>
          </a:p>
        </p:txBody>
      </p:sp>
      <p:sp>
        <p:nvSpPr>
          <p:cNvPr id="28" name="Text 26"/>
          <p:cNvSpPr/>
          <p:nvPr/>
        </p:nvSpPr>
        <p:spPr>
          <a:xfrm>
            <a:off x="3678860"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WineBankの信用・実行力</a:t>
            </a:r>
            <a:endParaRPr lang="en-US" sz="950" dirty="0"/>
          </a:p>
        </p:txBody>
      </p:sp>
      <p:sp>
        <p:nvSpPr>
          <p:cNvPr id="29" name="Text 27"/>
          <p:cNvSpPr/>
          <p:nvPr/>
        </p:nvSpPr>
        <p:spPr>
          <a:xfrm>
            <a:off x="3678860"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SPCを倒産隔離。ワイン現物はSPC名義で保有しWineBankの債権者から隔離する。WineBankは総額の60%（3億円）を出資しており、投資家と損益をともにする。</a:t>
            </a:r>
            <a:endParaRPr lang="en-US" sz="900" dirty="0"/>
          </a:p>
        </p:txBody>
      </p:sp>
      <p:sp>
        <p:nvSpPr>
          <p:cNvPr id="30" name="Shape 28"/>
          <p:cNvSpPr/>
          <p:nvPr/>
        </p:nvSpPr>
        <p:spPr>
          <a:xfrm>
            <a:off x="6223864" y="3675888"/>
            <a:ext cx="2526716" cy="1920240"/>
          </a:xfrm>
          <a:prstGeom prst="roundRect">
            <a:avLst>
              <a:gd name="adj" fmla="val 2143"/>
            </a:avLst>
          </a:prstGeom>
          <a:solidFill>
            <a:srgbClr val="171614"/>
          </a:solidFill>
          <a:ln w="9525">
            <a:solidFill>
              <a:srgbClr val="2E2A24"/>
            </a:solidFill>
            <a:prstDash val="solid"/>
          </a:ln>
        </p:spPr>
      </p:sp>
      <p:sp>
        <p:nvSpPr>
          <p:cNvPr id="31" name="Text 29"/>
          <p:cNvSpPr/>
          <p:nvPr/>
        </p:nvSpPr>
        <p:spPr>
          <a:xfrm>
            <a:off x="6461608"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免許・商流リスク</a:t>
            </a:r>
            <a:endParaRPr lang="en-US" sz="1200" dirty="0"/>
          </a:p>
        </p:txBody>
      </p:sp>
      <p:sp>
        <p:nvSpPr>
          <p:cNvPr id="32" name="Text 30"/>
          <p:cNvSpPr/>
          <p:nvPr/>
        </p:nvSpPr>
        <p:spPr>
          <a:xfrm>
            <a:off x="6461608"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免許事業者の変更・取引口座の喪失</a:t>
            </a:r>
            <a:endParaRPr lang="en-US" sz="950" dirty="0"/>
          </a:p>
        </p:txBody>
      </p:sp>
      <p:sp>
        <p:nvSpPr>
          <p:cNvPr id="33" name="Text 31"/>
          <p:cNvSpPr/>
          <p:nvPr/>
        </p:nvSpPr>
        <p:spPr>
          <a:xfrm>
            <a:off x="6461608"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WineBankの免許維持を契約上の義務とし、免許喪失時は在庫を売却清算して早期償還する条項を置く。</a:t>
            </a:r>
            <a:endParaRPr lang="en-US" sz="900" dirty="0"/>
          </a:p>
        </p:txBody>
      </p:sp>
      <p:sp>
        <p:nvSpPr>
          <p:cNvPr id="34" name="Shape 32"/>
          <p:cNvSpPr/>
          <p:nvPr/>
        </p:nvSpPr>
        <p:spPr>
          <a:xfrm>
            <a:off x="9006611" y="3675888"/>
            <a:ext cx="2526716" cy="1920240"/>
          </a:xfrm>
          <a:prstGeom prst="roundRect">
            <a:avLst>
              <a:gd name="adj" fmla="val 2143"/>
            </a:avLst>
          </a:prstGeom>
          <a:solidFill>
            <a:srgbClr val="1F1D19"/>
          </a:solidFill>
          <a:ln w="9525">
            <a:solidFill>
              <a:srgbClr val="6E5730"/>
            </a:solidFill>
            <a:prstDash val="solid"/>
          </a:ln>
        </p:spPr>
      </p:sp>
      <p:sp>
        <p:nvSpPr>
          <p:cNvPr id="35" name="Text 33"/>
          <p:cNvSpPr/>
          <p:nvPr/>
        </p:nvSpPr>
        <p:spPr>
          <a:xfrm>
            <a:off x="9244355"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現物出資の評価リスク</a:t>
            </a:r>
            <a:endParaRPr lang="en-US" sz="1200" dirty="0"/>
          </a:p>
        </p:txBody>
      </p:sp>
      <p:sp>
        <p:nvSpPr>
          <p:cNvPr id="36" name="Text 34"/>
          <p:cNvSpPr/>
          <p:nvPr/>
        </p:nvSpPr>
        <p:spPr>
          <a:xfrm>
            <a:off x="9244355"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拠出価格の妥当性を否認される</a:t>
            </a:r>
            <a:endParaRPr lang="en-US" sz="950" dirty="0"/>
          </a:p>
        </p:txBody>
      </p:sp>
      <p:sp>
        <p:nvSpPr>
          <p:cNvPr id="37" name="Text 35"/>
          <p:cNvSpPr/>
          <p:nvPr/>
        </p:nvSpPr>
        <p:spPr>
          <a:xfrm>
            <a:off x="9244355"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評価方法を契約上明記し、第三者評価または客観的な価格資料で裏付ける。酒類の現物出資に係る免許・消費税・法人税上の取扱いは組成前に専門家と確定させる。</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ファンド設計条件（ドラフト）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組成・資本構成（左）と、運用・費用・報告（右）に分けて記載する。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20</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 y="1591056"/>
          <a:ext cx="5300320" cy="914400"/>
        </p:xfrm>
        <a:graphic>
          <a:graphicData uri="http://schemas.openxmlformats.org/drawingml/2006/table">
            <a:tbl>
              <a:tblPr/>
              <a:tblGrid>
                <a:gridCol w="1536192"/>
                <a:gridCol w="3764128"/>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組成形態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合同会社＋匿名組合（GK-TK）。SPCレベルでは非課税、投資家側で課税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ファンド形態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適格機関投資家等特例業務による私募。適格機関投資家1名以上の確保を組成条件とする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募集総額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ファーストクローズ5億円 → 年度内セカンドクローズ10億円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資本構成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WineBank現物出資60%（3億円）＋投資家出資40%（2億円）。1口5,000万円以上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損益の配分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投資家出資分に帰属する40%を投資家とWineBankで折半（成功報酬）。WineBank出資分の60%は持分として帰属</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運用期間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5年。満期時に在庫を売却清算のうえ元本償還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3年経過後、年度ごとの解約日に申出可（90日前通知）。当初3年間はロックアップ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分配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年1回。元本はSPC内に留保し継続運用（複利再投資は行わない）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33008" y="1591056"/>
          <a:ext cx="5300320" cy="914400"/>
        </p:xfrm>
        <a:graphic>
          <a:graphicData uri="http://schemas.openxmlformats.org/drawingml/2006/table">
            <a:tbl>
              <a:tblPr/>
              <a:tblGrid>
                <a:gridCol w="1536192"/>
                <a:gridCol w="3764128"/>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現物の取得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WineBank出資分は現物出資。投資家出資分はWineBankからSPCへ譲渡（＋1%）。評価方法は組成時に別途協議</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資金配分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総額の95%をワイン購入、5%を現金保有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酒販店卸（B2B）と自社EC・オークション（B2C）を半々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在庫回転目標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12ヶ月。最短9ヶ月、延びても15〜18ヶ月を想定レンジとする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SPC負担費用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保管・保険・入庫・変動販売費／維持費200万・管理報酬（総額の年2%）・AUP50万・予備費50万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投資家利回り20.4%（回転12ヶ月・定常年間）。5年通算の年平均は16.0%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報告・外部検証</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四半期：在庫明細・簿価・売上・試算表／年次：決算。AUPを年次実施</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在庫比率によるプロラタを原則とし、判断を要する場合はSPC在庫を優先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449824"/>
            <a:ext cx="10874959" cy="859536"/>
          </a:xfrm>
          <a:prstGeom prst="roundRect">
            <a:avLst>
              <a:gd name="adj" fmla="val 4787"/>
            </a:avLst>
          </a:prstGeom>
          <a:solidFill>
            <a:srgbClr val="1F1D19"/>
          </a:solidFill>
          <a:ln w="9525">
            <a:solidFill>
              <a:srgbClr val="6E5730"/>
            </a:solidFill>
            <a:prstDash val="solid"/>
          </a:ln>
        </p:spPr>
      </p:sp>
      <p:sp>
        <p:nvSpPr>
          <p:cNvPr id="10" name="Text 6"/>
          <p:cNvSpPr/>
          <p:nvPr/>
        </p:nvSpPr>
        <p:spPr>
          <a:xfrm>
            <a:off x="932688" y="5541264"/>
            <a:ext cx="54864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3年ロックアップが稼働率95%を可能にしている</a:t>
            </a:r>
            <a:endParaRPr lang="en-US" sz="1100" dirty="0"/>
          </a:p>
        </p:txBody>
      </p:sp>
      <p:sp>
        <p:nvSpPr>
          <p:cNvPr id="11" name="Text 7"/>
          <p:cNvSpPr/>
          <p:nvPr/>
        </p:nvSpPr>
        <p:spPr>
          <a:xfrm>
            <a:off x="932688" y="5779008"/>
            <a:ext cx="10326319" cy="438912"/>
          </a:xfrm>
          <a:prstGeom prst="rect">
            <a:avLst/>
          </a:prstGeom>
          <a:noFill/>
          <a:ln/>
        </p:spPr>
        <p:txBody>
          <a:bodyPr wrap="square" lIns="0" tIns="0" rIns="0" bIns="0" rtlCol="0" anchor="ctr"/>
          <a:lstStyle/>
          <a:p>
            <a:pPr indent="0" marL="0">
              <a:lnSpc>
                <a:spcPct val="116000"/>
              </a:lnSpc>
              <a:buNone/>
            </a:pPr>
            <a:r>
              <a:rPr lang="en-US" sz="900" dirty="0">
                <a:solidFill>
                  <a:srgbClr val="9A938A"/>
                </a:solidFill>
                <a:latin typeface="Yu Gothic" pitchFamily="34" charset="0"/>
                <a:ea typeface="Yu Gothic" pitchFamily="34" charset="-122"/>
                <a:cs typeface="Yu Gothic" pitchFamily="34" charset="-120"/>
              </a:rPr>
              <a:t>半期解約を前提とすると常時1〜3割を現金または即時換金可能な在庫で保有する必要があり、稼働率が下がって利回りも下がる（稼働率95%→85%で投資家利回りは20.4%→18.1%）。当初3年ロックアップ・4年目以降は年度ごとの解約という設計により、現金保有を5%に抑え、総額の95%をワインに充当できる。</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21</a:t>
            </a:r>
            <a:endParaRPr lang="en-US" sz="950" dirty="0"/>
          </a:p>
        </p:txBody>
      </p:sp>
      <p:sp>
        <p:nvSpPr>
          <p:cNvPr id="6" name="Shape 4"/>
          <p:cNvSpPr/>
          <p:nvPr/>
        </p:nvSpPr>
        <p:spPr>
          <a:xfrm>
            <a:off x="658368" y="1572768"/>
            <a:ext cx="1999427" cy="2834640"/>
          </a:xfrm>
          <a:prstGeom prst="roundRect">
            <a:avLst>
              <a:gd name="adj" fmla="val 2058"/>
            </a:avLst>
          </a:prstGeom>
          <a:solidFill>
            <a:srgbClr val="171614"/>
          </a:solidFill>
          <a:ln w="9525">
            <a:solidFill>
              <a:srgbClr val="2E2A24"/>
            </a:solidFill>
            <a:prstDash val="solid"/>
          </a:ln>
        </p:spPr>
      </p:sp>
      <p:sp>
        <p:nvSpPr>
          <p:cNvPr id="7" name="Shape 5"/>
          <p:cNvSpPr/>
          <p:nvPr/>
        </p:nvSpPr>
        <p:spPr>
          <a:xfrm>
            <a:off x="877824" y="1792224"/>
            <a:ext cx="365760" cy="365760"/>
          </a:xfrm>
          <a:prstGeom prst="ellipse">
            <a:avLst/>
          </a:prstGeom>
          <a:solidFill>
            <a:srgbClr val="0C0C0C"/>
          </a:solidFill>
          <a:ln w="11430">
            <a:solidFill>
              <a:srgbClr val="A78450"/>
            </a:solidFill>
            <a:prstDash val="solid"/>
          </a:ln>
        </p:spPr>
      </p:sp>
      <p:sp>
        <p:nvSpPr>
          <p:cNvPr id="8" name="Text 6"/>
          <p:cNvSpPr/>
          <p:nvPr/>
        </p:nvSpPr>
        <p:spPr>
          <a:xfrm>
            <a:off x="877824"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877824"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前提条件のすり合わせ</a:t>
            </a:r>
            <a:endParaRPr lang="en-US" sz="1200" dirty="0"/>
          </a:p>
        </p:txBody>
      </p:sp>
      <p:sp>
        <p:nvSpPr>
          <p:cNvPr id="10" name="Text 8"/>
          <p:cNvSpPr/>
          <p:nvPr/>
        </p:nvSpPr>
        <p:spPr>
          <a:xfrm>
            <a:off x="877824"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想定回転期間・販売チャネル構成・解約条件・折半の定義（税前利益ベース）、管理報酬2%の水準についてご意見をいただく。</a:t>
            </a:r>
            <a:endParaRPr lang="en-US" sz="950" dirty="0"/>
          </a:p>
        </p:txBody>
      </p:sp>
      <p:sp>
        <p:nvSpPr>
          <p:cNvPr id="11" name="Shape 9"/>
          <p:cNvSpPr/>
          <p:nvPr/>
        </p:nvSpPr>
        <p:spPr>
          <a:xfrm>
            <a:off x="2877251" y="1572768"/>
            <a:ext cx="1999427" cy="2834640"/>
          </a:xfrm>
          <a:prstGeom prst="roundRect">
            <a:avLst>
              <a:gd name="adj" fmla="val 2058"/>
            </a:avLst>
          </a:prstGeom>
          <a:solidFill>
            <a:srgbClr val="1F1D19"/>
          </a:solidFill>
          <a:ln w="9525">
            <a:solidFill>
              <a:srgbClr val="6E5730"/>
            </a:solidFill>
            <a:prstDash val="solid"/>
          </a:ln>
        </p:spPr>
      </p:sp>
      <p:sp>
        <p:nvSpPr>
          <p:cNvPr id="12" name="Shape 10"/>
          <p:cNvSpPr/>
          <p:nvPr/>
        </p:nvSpPr>
        <p:spPr>
          <a:xfrm>
            <a:off x="3096707" y="1792224"/>
            <a:ext cx="365760" cy="365760"/>
          </a:xfrm>
          <a:prstGeom prst="ellipse">
            <a:avLst/>
          </a:prstGeom>
          <a:solidFill>
            <a:srgbClr val="0C0C0C"/>
          </a:solidFill>
          <a:ln w="11430">
            <a:solidFill>
              <a:srgbClr val="A78450"/>
            </a:solidFill>
            <a:prstDash val="solid"/>
          </a:ln>
        </p:spPr>
      </p:sp>
      <p:sp>
        <p:nvSpPr>
          <p:cNvPr id="13" name="Text 11"/>
          <p:cNvSpPr/>
          <p:nvPr/>
        </p:nvSpPr>
        <p:spPr>
          <a:xfrm>
            <a:off x="3096707"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3096707"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現物出資の評価方法の確定</a:t>
            </a:r>
            <a:endParaRPr lang="en-US" sz="1200" dirty="0"/>
          </a:p>
        </p:txBody>
      </p:sp>
      <p:sp>
        <p:nvSpPr>
          <p:cNvPr id="15" name="Text 13"/>
          <p:cNvSpPr/>
          <p:nvPr/>
        </p:nvSpPr>
        <p:spPr>
          <a:xfrm>
            <a:off x="3096707"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WineBankが拠出するワインの評価方法と拠出銘柄の選定基準を確定する。第三者評価の要否、消費税・法人税上の取扱いを併せて確認する。</a:t>
            </a:r>
            <a:endParaRPr lang="en-US" sz="950" dirty="0"/>
          </a:p>
        </p:txBody>
      </p:sp>
      <p:sp>
        <p:nvSpPr>
          <p:cNvPr id="16" name="Shape 14"/>
          <p:cNvSpPr/>
          <p:nvPr/>
        </p:nvSpPr>
        <p:spPr>
          <a:xfrm>
            <a:off x="5096134" y="1572768"/>
            <a:ext cx="1999427" cy="2834640"/>
          </a:xfrm>
          <a:prstGeom prst="roundRect">
            <a:avLst>
              <a:gd name="adj" fmla="val 2058"/>
            </a:avLst>
          </a:prstGeom>
          <a:solidFill>
            <a:srgbClr val="171614"/>
          </a:solidFill>
          <a:ln w="9525">
            <a:solidFill>
              <a:srgbClr val="2E2A24"/>
            </a:solidFill>
            <a:prstDash val="solid"/>
          </a:ln>
        </p:spPr>
      </p:sp>
      <p:sp>
        <p:nvSpPr>
          <p:cNvPr id="17" name="Shape 15"/>
          <p:cNvSpPr/>
          <p:nvPr/>
        </p:nvSpPr>
        <p:spPr>
          <a:xfrm>
            <a:off x="5315590" y="1792224"/>
            <a:ext cx="365760" cy="365760"/>
          </a:xfrm>
          <a:prstGeom prst="ellipse">
            <a:avLst/>
          </a:prstGeom>
          <a:solidFill>
            <a:srgbClr val="0C0C0C"/>
          </a:solidFill>
          <a:ln w="11430">
            <a:solidFill>
              <a:srgbClr val="A78450"/>
            </a:solidFill>
            <a:prstDash val="solid"/>
          </a:ln>
        </p:spPr>
      </p:sp>
      <p:sp>
        <p:nvSpPr>
          <p:cNvPr id="18" name="Text 16"/>
          <p:cNvSpPr/>
          <p:nvPr/>
        </p:nvSpPr>
        <p:spPr>
          <a:xfrm>
            <a:off x="5315590"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5315590"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免許・税務の確定</a:t>
            </a:r>
            <a:endParaRPr lang="en-US" sz="1200" dirty="0"/>
          </a:p>
        </p:txBody>
      </p:sp>
      <p:sp>
        <p:nvSpPr>
          <p:cNvPr id="20" name="Text 18"/>
          <p:cNvSpPr/>
          <p:nvPr/>
        </p:nvSpPr>
        <p:spPr>
          <a:xfrm>
            <a:off x="5315590"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SPCの免許要否と売買形態、酒類の現物出資の取扱いを所轄税務署（酒類指導官）・顧問弁護士と確認。譲渡価格1%の算定根拠を文書化する。</a:t>
            </a:r>
            <a:endParaRPr lang="en-US" sz="950" dirty="0"/>
          </a:p>
        </p:txBody>
      </p:sp>
      <p:sp>
        <p:nvSpPr>
          <p:cNvPr id="21" name="Shape 19"/>
          <p:cNvSpPr/>
          <p:nvPr/>
        </p:nvSpPr>
        <p:spPr>
          <a:xfrm>
            <a:off x="7315017" y="1572768"/>
            <a:ext cx="1999427" cy="2834640"/>
          </a:xfrm>
          <a:prstGeom prst="roundRect">
            <a:avLst>
              <a:gd name="adj" fmla="val 2058"/>
            </a:avLst>
          </a:prstGeom>
          <a:solidFill>
            <a:srgbClr val="171614"/>
          </a:solidFill>
          <a:ln w="9525">
            <a:solidFill>
              <a:srgbClr val="2E2A24"/>
            </a:solidFill>
            <a:prstDash val="solid"/>
          </a:ln>
        </p:spPr>
      </p:sp>
      <p:sp>
        <p:nvSpPr>
          <p:cNvPr id="22" name="Shape 20"/>
          <p:cNvSpPr/>
          <p:nvPr/>
        </p:nvSpPr>
        <p:spPr>
          <a:xfrm>
            <a:off x="7534473" y="1792224"/>
            <a:ext cx="365760" cy="365760"/>
          </a:xfrm>
          <a:prstGeom prst="ellipse">
            <a:avLst/>
          </a:prstGeom>
          <a:solidFill>
            <a:srgbClr val="0C0C0C"/>
          </a:solidFill>
          <a:ln w="11430">
            <a:solidFill>
              <a:srgbClr val="A78450"/>
            </a:solidFill>
            <a:prstDash val="solid"/>
          </a:ln>
        </p:spPr>
      </p:sp>
      <p:sp>
        <p:nvSpPr>
          <p:cNvPr id="23" name="Text 21"/>
          <p:cNvSpPr/>
          <p:nvPr/>
        </p:nvSpPr>
        <p:spPr>
          <a:xfrm>
            <a:off x="7534473"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7534473"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調達枠の確保と実証</a:t>
            </a:r>
            <a:endParaRPr lang="en-US" sz="1200" dirty="0"/>
          </a:p>
        </p:txBody>
      </p:sp>
      <p:sp>
        <p:nvSpPr>
          <p:cNvPr id="25" name="Text 23"/>
          <p:cNvSpPr/>
          <p:nvPr/>
        </p:nvSpPr>
        <p:spPr>
          <a:xfrm>
            <a:off x="7534473"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インポーター・酒販店との年間調達枠を締結し、小規模ロットで回転期間とチャネル別手数料の実証を行う。</a:t>
            </a:r>
            <a:endParaRPr lang="en-US" sz="950" dirty="0"/>
          </a:p>
        </p:txBody>
      </p:sp>
      <p:sp>
        <p:nvSpPr>
          <p:cNvPr id="26" name="Shape 24"/>
          <p:cNvSpPr/>
          <p:nvPr/>
        </p:nvSpPr>
        <p:spPr>
          <a:xfrm>
            <a:off x="9533900" y="1572768"/>
            <a:ext cx="1999427" cy="2834640"/>
          </a:xfrm>
          <a:prstGeom prst="roundRect">
            <a:avLst>
              <a:gd name="adj" fmla="val 2058"/>
            </a:avLst>
          </a:prstGeom>
          <a:solidFill>
            <a:srgbClr val="171614"/>
          </a:solidFill>
          <a:ln w="9525">
            <a:solidFill>
              <a:srgbClr val="2E2A24"/>
            </a:solidFill>
            <a:prstDash val="solid"/>
          </a:ln>
        </p:spPr>
      </p:sp>
      <p:sp>
        <p:nvSpPr>
          <p:cNvPr id="27" name="Shape 25"/>
          <p:cNvSpPr/>
          <p:nvPr/>
        </p:nvSpPr>
        <p:spPr>
          <a:xfrm>
            <a:off x="9753356" y="1792224"/>
            <a:ext cx="365760" cy="365760"/>
          </a:xfrm>
          <a:prstGeom prst="ellipse">
            <a:avLst/>
          </a:prstGeom>
          <a:solidFill>
            <a:srgbClr val="0C0C0C"/>
          </a:solidFill>
          <a:ln w="11430">
            <a:solidFill>
              <a:srgbClr val="A78450"/>
            </a:solidFill>
            <a:prstDash val="solid"/>
          </a:ln>
        </p:spPr>
      </p:sp>
      <p:sp>
        <p:nvSpPr>
          <p:cNvPr id="28" name="Text 26"/>
          <p:cNvSpPr/>
          <p:nvPr/>
        </p:nvSpPr>
        <p:spPr>
          <a:xfrm>
            <a:off x="9753356"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9753356"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ファーストクローズと実証</a:t>
            </a:r>
            <a:endParaRPr lang="en-US" sz="1200" dirty="0"/>
          </a:p>
        </p:txBody>
      </p:sp>
      <p:sp>
        <p:nvSpPr>
          <p:cNvPr id="30" name="Text 28"/>
          <p:cNvSpPr/>
          <p:nvPr/>
        </p:nvSpPr>
        <p:spPr>
          <a:xfrm>
            <a:off x="9753356"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総額5億円で組成し運用開始。回転12ヶ月の実績を確認したうえで、年度内のセカンドクローズ（総額10億円）を判断する。</a:t>
            </a:r>
            <a:endParaRPr lang="en-US" sz="950" dirty="0"/>
          </a:p>
        </p:txBody>
      </p:sp>
      <p:sp>
        <p:nvSpPr>
          <p:cNvPr id="31" name="Shape 29"/>
          <p:cNvSpPr/>
          <p:nvPr/>
        </p:nvSpPr>
        <p:spPr>
          <a:xfrm>
            <a:off x="658368" y="4608576"/>
            <a:ext cx="10874959" cy="969264"/>
          </a:xfrm>
          <a:prstGeom prst="roundRect">
            <a:avLst>
              <a:gd name="adj" fmla="val 4245"/>
            </a:avLst>
          </a:prstGeom>
          <a:solidFill>
            <a:srgbClr val="171614"/>
          </a:solidFill>
          <a:ln w="9525">
            <a:solidFill>
              <a:srgbClr val="2E2A24"/>
            </a:solidFill>
            <a:prstDash val="solid"/>
          </a:ln>
        </p:spPr>
      </p:sp>
      <p:sp>
        <p:nvSpPr>
          <p:cNvPr id="32" name="Text 30"/>
          <p:cNvSpPr/>
          <p:nvPr/>
        </p:nvSpPr>
        <p:spPr>
          <a:xfrm>
            <a:off x="932688" y="4754880"/>
            <a:ext cx="10326319" cy="676656"/>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および現物出資の評価は、所轄官庁および専門家の確認を経て確定します。</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まとめ：本ファンドに出資いただく意義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22</a:t>
            </a:r>
            <a:endParaRPr lang="en-US" sz="950" dirty="0"/>
          </a:p>
        </p:txBody>
      </p:sp>
      <p:sp>
        <p:nvSpPr>
          <p:cNvPr id="6" name="Shape 4"/>
          <p:cNvSpPr/>
          <p:nvPr/>
        </p:nvSpPr>
        <p:spPr>
          <a:xfrm>
            <a:off x="658368" y="1572768"/>
            <a:ext cx="6537960" cy="749808"/>
          </a:xfrm>
          <a:prstGeom prst="roundRect">
            <a:avLst>
              <a:gd name="adj" fmla="val 5488"/>
            </a:avLst>
          </a:prstGeom>
          <a:solidFill>
            <a:srgbClr val="1F1D19"/>
          </a:solidFill>
          <a:ln w="9525">
            <a:solidFill>
              <a:srgbClr val="6E5730"/>
            </a:solidFill>
            <a:prstDash val="solid"/>
          </a:ln>
        </p:spPr>
      </p:sp>
      <p:sp>
        <p:nvSpPr>
          <p:cNvPr id="7" name="Shape 5"/>
          <p:cNvSpPr/>
          <p:nvPr/>
        </p:nvSpPr>
        <p:spPr>
          <a:xfrm>
            <a:off x="877824" y="1792224"/>
            <a:ext cx="310896" cy="310896"/>
          </a:xfrm>
          <a:prstGeom prst="ellipse">
            <a:avLst/>
          </a:prstGeom>
          <a:solidFill>
            <a:srgbClr val="0C0C0C"/>
          </a:solidFill>
          <a:ln w="11430">
            <a:solidFill>
              <a:srgbClr val="A78450"/>
            </a:solidFill>
            <a:prstDash val="solid"/>
          </a:ln>
        </p:spPr>
      </p:sp>
      <p:sp>
        <p:nvSpPr>
          <p:cNvPr id="8" name="Text 6"/>
          <p:cNvSpPr/>
          <p:nvPr/>
        </p:nvSpPr>
        <p:spPr>
          <a:xfrm>
            <a:off x="877824" y="179222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1280160" y="1664208"/>
            <a:ext cx="5678424"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運営者が同じ船に乗っている</a:t>
            </a:r>
            <a:endParaRPr lang="en-US" sz="1150" dirty="0"/>
          </a:p>
        </p:txBody>
      </p:sp>
      <p:sp>
        <p:nvSpPr>
          <p:cNvPr id="10" name="Text 8"/>
          <p:cNvSpPr/>
          <p:nvPr/>
        </p:nvSpPr>
        <p:spPr>
          <a:xfrm>
            <a:off x="1280160" y="190195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WineBankが総額の60%（ファーストクローズで3億円）をワイン現物で出資する。デットのような優先弁済も保証もなく、投資家と同じ持分として損益をそのまま負う。値付けや配分で抜く経済的動機が構造的に生じない。</a:t>
            </a:r>
            <a:endParaRPr lang="en-US" sz="850" dirty="0"/>
          </a:p>
        </p:txBody>
      </p:sp>
      <p:sp>
        <p:nvSpPr>
          <p:cNvPr id="11" name="Shape 9"/>
          <p:cNvSpPr/>
          <p:nvPr/>
        </p:nvSpPr>
        <p:spPr>
          <a:xfrm>
            <a:off x="658368" y="2395728"/>
            <a:ext cx="6537960" cy="749808"/>
          </a:xfrm>
          <a:prstGeom prst="roundRect">
            <a:avLst>
              <a:gd name="adj" fmla="val 5488"/>
            </a:avLst>
          </a:prstGeom>
          <a:solidFill>
            <a:srgbClr val="171614"/>
          </a:solidFill>
          <a:ln w="9525">
            <a:solidFill>
              <a:srgbClr val="2E2A24"/>
            </a:solidFill>
            <a:prstDash val="solid"/>
          </a:ln>
        </p:spPr>
      </p:sp>
      <p:sp>
        <p:nvSpPr>
          <p:cNvPr id="12" name="Shape 10"/>
          <p:cNvSpPr/>
          <p:nvPr/>
        </p:nvSpPr>
        <p:spPr>
          <a:xfrm>
            <a:off x="877824" y="2615184"/>
            <a:ext cx="310896" cy="310896"/>
          </a:xfrm>
          <a:prstGeom prst="ellipse">
            <a:avLst/>
          </a:prstGeom>
          <a:solidFill>
            <a:srgbClr val="0C0C0C"/>
          </a:solidFill>
          <a:ln w="11430">
            <a:solidFill>
              <a:srgbClr val="A78450"/>
            </a:solidFill>
            <a:prstDash val="solid"/>
          </a:ln>
        </p:spPr>
      </p:sp>
      <p:sp>
        <p:nvSpPr>
          <p:cNvPr id="13" name="Text 11"/>
          <p:cNvSpPr/>
          <p:nvPr/>
        </p:nvSpPr>
        <p:spPr>
          <a:xfrm>
            <a:off x="877824" y="261518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280160" y="248716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現物が元本を裏付ける</a:t>
            </a:r>
            <a:endParaRPr lang="en-US" sz="1150" dirty="0"/>
          </a:p>
        </p:txBody>
      </p:sp>
      <p:sp>
        <p:nvSpPr>
          <p:cNvPr id="15" name="Text 13"/>
          <p:cNvSpPr/>
          <p:nvPr/>
        </p:nvSpPr>
        <p:spPr>
          <a:xfrm>
            <a:off x="1280160" y="272491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出資金の95%が常にワイン現物として存在する。SPC名義で保有し倒産隔離。保有している限り値上がりも取り込める。</a:t>
            </a:r>
            <a:endParaRPr lang="en-US" sz="850" dirty="0"/>
          </a:p>
        </p:txBody>
      </p:sp>
      <p:sp>
        <p:nvSpPr>
          <p:cNvPr id="16" name="Shape 14"/>
          <p:cNvSpPr/>
          <p:nvPr/>
        </p:nvSpPr>
        <p:spPr>
          <a:xfrm>
            <a:off x="658368" y="3218688"/>
            <a:ext cx="6537960" cy="749808"/>
          </a:xfrm>
          <a:prstGeom prst="roundRect">
            <a:avLst>
              <a:gd name="adj" fmla="val 5488"/>
            </a:avLst>
          </a:prstGeom>
          <a:solidFill>
            <a:srgbClr val="171614"/>
          </a:solidFill>
          <a:ln w="9525">
            <a:solidFill>
              <a:srgbClr val="2E2A24"/>
            </a:solidFill>
            <a:prstDash val="solid"/>
          </a:ln>
        </p:spPr>
      </p:sp>
      <p:sp>
        <p:nvSpPr>
          <p:cNvPr id="17" name="Shape 15"/>
          <p:cNvSpPr/>
          <p:nvPr/>
        </p:nvSpPr>
        <p:spPr>
          <a:xfrm>
            <a:off x="877824" y="3438144"/>
            <a:ext cx="310896" cy="310896"/>
          </a:xfrm>
          <a:prstGeom prst="ellipse">
            <a:avLst/>
          </a:prstGeom>
          <a:solidFill>
            <a:srgbClr val="0C0C0C"/>
          </a:solidFill>
          <a:ln w="11430">
            <a:solidFill>
              <a:srgbClr val="A78450"/>
            </a:solidFill>
            <a:prstDash val="solid"/>
          </a:ln>
        </p:spPr>
      </p:sp>
      <p:sp>
        <p:nvSpPr>
          <p:cNvPr id="18" name="Text 16"/>
          <p:cNvSpPr/>
          <p:nvPr/>
        </p:nvSpPr>
        <p:spPr>
          <a:xfrm>
            <a:off x="877824" y="343814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19" name="Text 17"/>
          <p:cNvSpPr/>
          <p:nvPr/>
        </p:nvSpPr>
        <p:spPr>
          <a:xfrm>
            <a:off x="1280160" y="331012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収益が二階建てで、片方が崩れても成立する</a:t>
            </a:r>
            <a:endParaRPr lang="en-US" sz="1150" dirty="0"/>
          </a:p>
        </p:txBody>
      </p:sp>
      <p:sp>
        <p:nvSpPr>
          <p:cNvPr id="20" name="Text 18"/>
          <p:cNvSpPr/>
          <p:nvPr/>
        </p:nvSpPr>
        <p:spPr>
          <a:xfrm>
            <a:off x="1280160" y="354787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流通価格差（回転に対するリターン）とワインの値上がり（在庫に対するリターン）。価格が横ばいでも投資家利回り16.4%、回転が18ヶ月に延びても14.3%を確保する。</a:t>
            </a:r>
            <a:endParaRPr lang="en-US" sz="850" dirty="0"/>
          </a:p>
        </p:txBody>
      </p:sp>
      <p:sp>
        <p:nvSpPr>
          <p:cNvPr id="21" name="Shape 19"/>
          <p:cNvSpPr/>
          <p:nvPr/>
        </p:nvSpPr>
        <p:spPr>
          <a:xfrm>
            <a:off x="658368" y="4041648"/>
            <a:ext cx="6537960" cy="749808"/>
          </a:xfrm>
          <a:prstGeom prst="roundRect">
            <a:avLst>
              <a:gd name="adj" fmla="val 5488"/>
            </a:avLst>
          </a:prstGeom>
          <a:solidFill>
            <a:srgbClr val="171614"/>
          </a:solidFill>
          <a:ln w="9525">
            <a:solidFill>
              <a:srgbClr val="2E2A24"/>
            </a:solidFill>
            <a:prstDash val="solid"/>
          </a:ln>
        </p:spPr>
      </p:sp>
      <p:sp>
        <p:nvSpPr>
          <p:cNvPr id="22" name="Shape 20"/>
          <p:cNvSpPr/>
          <p:nvPr/>
        </p:nvSpPr>
        <p:spPr>
          <a:xfrm>
            <a:off x="877824" y="4261104"/>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426110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24" name="Text 22"/>
          <p:cNvSpPr/>
          <p:nvPr/>
        </p:nvSpPr>
        <p:spPr>
          <a:xfrm>
            <a:off x="1280160" y="413308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a:t>
            </a:r>
            <a:endParaRPr lang="en-US" sz="1150" dirty="0"/>
          </a:p>
        </p:txBody>
      </p:sp>
      <p:sp>
        <p:nvSpPr>
          <p:cNvPr id="25" name="Text 23"/>
          <p:cNvSpPr/>
          <p:nvPr/>
        </p:nvSpPr>
        <p:spPr>
          <a:xfrm>
            <a:off x="1280160" y="437083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創業55年の酒販免許、大手インポーターとの直接取引、輸出入ライセンス。新規参入業者が正規品を同じ価格で大量に仕入れることはできない。</a:t>
            </a:r>
            <a:endParaRPr lang="en-US" sz="850" dirty="0"/>
          </a:p>
        </p:txBody>
      </p:sp>
      <p:sp>
        <p:nvSpPr>
          <p:cNvPr id="26" name="Shape 24"/>
          <p:cNvSpPr/>
          <p:nvPr/>
        </p:nvSpPr>
        <p:spPr>
          <a:xfrm>
            <a:off x="658368" y="4864608"/>
            <a:ext cx="6537960" cy="749808"/>
          </a:xfrm>
          <a:prstGeom prst="roundRect">
            <a:avLst>
              <a:gd name="adj" fmla="val 5488"/>
            </a:avLst>
          </a:prstGeom>
          <a:solidFill>
            <a:srgbClr val="171614"/>
          </a:solidFill>
          <a:ln w="9525">
            <a:solidFill>
              <a:srgbClr val="2E2A24"/>
            </a:solidFill>
            <a:prstDash val="solid"/>
          </a:ln>
        </p:spPr>
      </p:sp>
      <p:sp>
        <p:nvSpPr>
          <p:cNvPr id="27" name="Shape 25"/>
          <p:cNvSpPr/>
          <p:nvPr/>
        </p:nvSpPr>
        <p:spPr>
          <a:xfrm>
            <a:off x="877824" y="5084064"/>
            <a:ext cx="310896" cy="310896"/>
          </a:xfrm>
          <a:prstGeom prst="ellipse">
            <a:avLst/>
          </a:prstGeom>
          <a:solidFill>
            <a:srgbClr val="0C0C0C"/>
          </a:solidFill>
          <a:ln w="11430">
            <a:solidFill>
              <a:srgbClr val="A78450"/>
            </a:solidFill>
            <a:prstDash val="solid"/>
          </a:ln>
        </p:spPr>
      </p:sp>
      <p:sp>
        <p:nvSpPr>
          <p:cNvPr id="28" name="Text 26"/>
          <p:cNvSpPr/>
          <p:nvPr/>
        </p:nvSpPr>
        <p:spPr>
          <a:xfrm>
            <a:off x="877824" y="508406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05</a:t>
            </a:r>
            <a:endParaRPr lang="en-US" sz="1100" dirty="0"/>
          </a:p>
        </p:txBody>
      </p:sp>
      <p:sp>
        <p:nvSpPr>
          <p:cNvPr id="29" name="Text 27"/>
          <p:cNvSpPr/>
          <p:nvPr/>
        </p:nvSpPr>
        <p:spPr>
          <a:xfrm>
            <a:off x="1280160" y="495604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出口をB2B・B2Cの両輪で持っている</a:t>
            </a:r>
            <a:endParaRPr lang="en-US" sz="1150" dirty="0"/>
          </a:p>
        </p:txBody>
      </p:sp>
      <p:sp>
        <p:nvSpPr>
          <p:cNvPr id="30" name="Text 28"/>
          <p:cNvSpPr/>
          <p:nvPr/>
        </p:nvSpPr>
        <p:spPr>
          <a:xfrm>
            <a:off x="1280160" y="519379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酒販店卸（B2B）に加え、自社EC・オークション・CLUB会員・グループのアピシウス（B2C）。手取りの高いチャネルを選べる構造。</a:t>
            </a:r>
            <a:endParaRPr lang="en-US" sz="850" dirty="0"/>
          </a:p>
        </p:txBody>
      </p:sp>
      <p:sp>
        <p:nvSpPr>
          <p:cNvPr id="31" name="Shape 29"/>
          <p:cNvSpPr/>
          <p:nvPr/>
        </p:nvSpPr>
        <p:spPr>
          <a:xfrm>
            <a:off x="7470648" y="1572768"/>
            <a:ext cx="4062679" cy="4041648"/>
          </a:xfrm>
          <a:prstGeom prst="roundRect">
            <a:avLst>
              <a:gd name="adj" fmla="val 1018"/>
            </a:avLst>
          </a:prstGeom>
          <a:solidFill>
            <a:srgbClr val="1F1D19"/>
          </a:solidFill>
          <a:ln w="9525">
            <a:solidFill>
              <a:srgbClr val="6E5730"/>
            </a:solidFill>
            <a:prstDash val="solid"/>
          </a:ln>
        </p:spPr>
      </p:sp>
      <p:sp>
        <p:nvSpPr>
          <p:cNvPr id="32" name="Text 30"/>
          <p:cNvSpPr/>
          <p:nvPr/>
        </p:nvSpPr>
        <p:spPr>
          <a:xfrm>
            <a:off x="7726680" y="1755648"/>
            <a:ext cx="3550615"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貴社の投資基準との照合</a:t>
            </a:r>
            <a:endParaRPr lang="en-US" sz="1250" dirty="0"/>
          </a:p>
        </p:txBody>
      </p:sp>
      <p:sp>
        <p:nvSpPr>
          <p:cNvPr id="33" name="Shape 31"/>
          <p:cNvSpPr/>
          <p:nvPr/>
        </p:nvSpPr>
        <p:spPr>
          <a:xfrm>
            <a:off x="7726680" y="2180844"/>
            <a:ext cx="137160" cy="137160"/>
          </a:xfrm>
          <a:prstGeom prst="ellipse">
            <a:avLst/>
          </a:prstGeom>
          <a:solidFill>
            <a:srgbClr val="A78450"/>
          </a:solidFill>
          <a:ln w="11430">
            <a:solidFill>
              <a:srgbClr val="A78450"/>
            </a:solidFill>
            <a:prstDash val="solid"/>
          </a:ln>
        </p:spPr>
      </p:sp>
      <p:sp>
        <p:nvSpPr>
          <p:cNvPr id="34" name="Text 32"/>
          <p:cNvSpPr/>
          <p:nvPr/>
        </p:nvSpPr>
        <p:spPr>
          <a:xfrm>
            <a:off x="7726680" y="2180844"/>
            <a:ext cx="137160" cy="137160"/>
          </a:xfrm>
          <a:prstGeom prst="rect">
            <a:avLst/>
          </a:prstGeom>
          <a:noFill/>
          <a:ln/>
        </p:spPr>
        <p:txBody>
          <a:bodyPr wrap="square" lIns="0" tIns="0" rIns="0" bIns="0" rtlCol="0" anchor="ctr"/>
          <a:lstStyle/>
          <a:p>
            <a:pPr algn="ctr" indent="0" marL="0">
              <a:buNone/>
            </a:pPr>
            <a:endParaRPr lang="en-US" sz="1100" dirty="0"/>
          </a:p>
        </p:txBody>
      </p:sp>
      <p:sp>
        <p:nvSpPr>
          <p:cNvPr id="35" name="Text 33"/>
          <p:cNvSpPr/>
          <p:nvPr/>
        </p:nvSpPr>
        <p:spPr>
          <a:xfrm>
            <a:off x="7964424" y="212140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想定利回り20%（実績）に対して</a:t>
            </a:r>
            <a:endParaRPr lang="en-US" sz="1050" dirty="0"/>
          </a:p>
        </p:txBody>
      </p:sp>
      <p:sp>
        <p:nvSpPr>
          <p:cNvPr id="36" name="Text 34"/>
          <p:cNvSpPr/>
          <p:nvPr/>
        </p:nvSpPr>
        <p:spPr>
          <a:xfrm>
            <a:off x="7964424" y="235000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在庫回転12ヶ月を主線とし、投資家利回り20.4%。20%の分岐点は回転12.2ヶ月であり、余裕は0.2ヶ月しかない。</a:t>
            </a:r>
            <a:endParaRPr lang="en-US" sz="900" dirty="0"/>
          </a:p>
        </p:txBody>
      </p:sp>
      <p:sp>
        <p:nvSpPr>
          <p:cNvPr id="37" name="Text 35"/>
          <p:cNvSpPr/>
          <p:nvPr/>
        </p:nvSpPr>
        <p:spPr>
          <a:xfrm>
            <a:off x="7964424" y="274320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回転12ヶ月の達成が20%確保の必要条件となる。流動性上位の銘柄に絞って組み入れ、回転期間を運用KPIとして四半期報告する。</a:t>
            </a:r>
            <a:endParaRPr lang="en-US" sz="900" dirty="0"/>
          </a:p>
        </p:txBody>
      </p:sp>
      <p:sp>
        <p:nvSpPr>
          <p:cNvPr id="38" name="Shape 36"/>
          <p:cNvSpPr/>
          <p:nvPr/>
        </p:nvSpPr>
        <p:spPr>
          <a:xfrm>
            <a:off x="7726680" y="3369564"/>
            <a:ext cx="137160" cy="137160"/>
          </a:xfrm>
          <a:prstGeom prst="ellipse">
            <a:avLst/>
          </a:prstGeom>
          <a:solidFill>
            <a:srgbClr val="A78450"/>
          </a:solidFill>
          <a:ln w="11430">
            <a:solidFill>
              <a:srgbClr val="A78450"/>
            </a:solidFill>
            <a:prstDash val="solid"/>
          </a:ln>
        </p:spPr>
      </p:sp>
      <p:sp>
        <p:nvSpPr>
          <p:cNvPr id="39" name="Text 37"/>
          <p:cNvSpPr/>
          <p:nvPr/>
        </p:nvSpPr>
        <p:spPr>
          <a:xfrm>
            <a:off x="7726680" y="3369564"/>
            <a:ext cx="137160" cy="137160"/>
          </a:xfrm>
          <a:prstGeom prst="rect">
            <a:avLst/>
          </a:prstGeom>
          <a:noFill/>
          <a:ln/>
        </p:spPr>
        <p:txBody>
          <a:bodyPr wrap="square" lIns="0" tIns="0" rIns="0" bIns="0" rtlCol="0" anchor="ctr"/>
          <a:lstStyle/>
          <a:p>
            <a:pPr algn="ctr" indent="0" marL="0">
              <a:buNone/>
            </a:pPr>
            <a:endParaRPr lang="en-US" sz="1100" dirty="0"/>
          </a:p>
        </p:txBody>
      </p:sp>
      <p:sp>
        <p:nvSpPr>
          <p:cNvPr id="40" name="Text 38"/>
          <p:cNvSpPr/>
          <p:nvPr/>
        </p:nvSpPr>
        <p:spPr>
          <a:xfrm>
            <a:off x="7964424" y="331012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解約条件に対して</a:t>
            </a:r>
            <a:endParaRPr lang="en-US" sz="1050" dirty="0"/>
          </a:p>
        </p:txBody>
      </p:sp>
      <p:sp>
        <p:nvSpPr>
          <p:cNvPr id="41" name="Text 39"/>
          <p:cNvSpPr/>
          <p:nvPr/>
        </p:nvSpPr>
        <p:spPr>
          <a:xfrm>
            <a:off x="7964424" y="353872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運用期間5年・当初3年ロックアップ・4年目以降は年度ごとの解約。分配は毎年1回。</a:t>
            </a:r>
            <a:endParaRPr lang="en-US" sz="900" dirty="0"/>
          </a:p>
        </p:txBody>
      </p:sp>
      <p:sp>
        <p:nvSpPr>
          <p:cNvPr id="42" name="Text 40"/>
          <p:cNvSpPr/>
          <p:nvPr/>
        </p:nvSpPr>
        <p:spPr>
          <a:xfrm>
            <a:off x="7964424" y="393192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この設計により現金保有を5%に抑え、総額の95%をワインに充当できる。半期解約を前提とすると稼働率が下がり20.4%→18.1%に低下する。</a:t>
            </a:r>
            <a:endParaRPr lang="en-US" sz="900" dirty="0"/>
          </a:p>
        </p:txBody>
      </p:sp>
      <p:sp>
        <p:nvSpPr>
          <p:cNvPr id="43" name="Shape 41"/>
          <p:cNvSpPr/>
          <p:nvPr/>
        </p:nvSpPr>
        <p:spPr>
          <a:xfrm>
            <a:off x="7726680" y="4558284"/>
            <a:ext cx="137160" cy="137160"/>
          </a:xfrm>
          <a:prstGeom prst="ellipse">
            <a:avLst/>
          </a:prstGeom>
          <a:solidFill>
            <a:srgbClr val="A78450"/>
          </a:solidFill>
          <a:ln w="11430">
            <a:solidFill>
              <a:srgbClr val="A78450"/>
            </a:solidFill>
            <a:prstDash val="solid"/>
          </a:ln>
        </p:spPr>
      </p:sp>
      <p:sp>
        <p:nvSpPr>
          <p:cNvPr id="44" name="Text 42"/>
          <p:cNvSpPr/>
          <p:nvPr/>
        </p:nvSpPr>
        <p:spPr>
          <a:xfrm>
            <a:off x="7726680" y="4558284"/>
            <a:ext cx="137160" cy="137160"/>
          </a:xfrm>
          <a:prstGeom prst="rect">
            <a:avLst/>
          </a:prstGeom>
          <a:noFill/>
          <a:ln/>
        </p:spPr>
        <p:txBody>
          <a:bodyPr wrap="square" lIns="0" tIns="0" rIns="0" bIns="0" rtlCol="0" anchor="ctr"/>
          <a:lstStyle/>
          <a:p>
            <a:pPr algn="ctr" indent="0" marL="0">
              <a:buNone/>
            </a:pPr>
            <a:endParaRPr lang="en-US" sz="1100" dirty="0"/>
          </a:p>
        </p:txBody>
      </p:sp>
      <p:sp>
        <p:nvSpPr>
          <p:cNvPr id="45" name="Text 43"/>
          <p:cNvSpPr/>
          <p:nvPr/>
        </p:nvSpPr>
        <p:spPr>
          <a:xfrm>
            <a:off x="7964424" y="449884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リスク分散に対して</a:t>
            </a:r>
            <a:endParaRPr lang="en-US" sz="1050" dirty="0"/>
          </a:p>
        </p:txBody>
      </p:sp>
      <p:sp>
        <p:nvSpPr>
          <p:cNvPr id="46" name="Text 44"/>
          <p:cNvSpPr/>
          <p:nvPr/>
        </p:nvSpPr>
        <p:spPr>
          <a:xfrm>
            <a:off x="7964424" y="472744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伝統的資産と相関の低い実物資産。既存30億円のポートフォリオに対し出資2億円は約7%。</a:t>
            </a:r>
            <a:endParaRPr lang="en-US" sz="900" dirty="0"/>
          </a:p>
        </p:txBody>
      </p:sp>
      <p:sp>
        <p:nvSpPr>
          <p:cNvPr id="47" name="Text 45"/>
          <p:cNvSpPr/>
          <p:nvPr/>
        </p:nvSpPr>
        <p:spPr>
          <a:xfrm>
            <a:off x="7964424" y="512064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単一銘柄ではなく複数産地・複数ヴィンテージへの分散となり、ポートフォリオ内での分散効果が働く。</a:t>
            </a:r>
            <a:endParaRPr lang="en-US" sz="900" dirty="0"/>
          </a:p>
        </p:txBody>
      </p:sp>
      <p:sp>
        <p:nvSpPr>
          <p:cNvPr id="48" name="Shape 46"/>
          <p:cNvSpPr/>
          <p:nvPr/>
        </p:nvSpPr>
        <p:spPr>
          <a:xfrm>
            <a:off x="658368" y="5724144"/>
            <a:ext cx="10874959" cy="566928"/>
          </a:xfrm>
          <a:prstGeom prst="roundRect">
            <a:avLst>
              <a:gd name="adj" fmla="val 7258"/>
            </a:avLst>
          </a:prstGeom>
          <a:solidFill>
            <a:srgbClr val="171614"/>
          </a:solidFill>
          <a:ln w="9525">
            <a:solidFill>
              <a:srgbClr val="2E2A24"/>
            </a:solidFill>
            <a:prstDash val="solid"/>
          </a:ln>
        </p:spPr>
      </p:sp>
      <p:sp>
        <p:nvSpPr>
          <p:cNvPr id="49" name="Text 47"/>
          <p:cNvSpPr/>
          <p:nvPr/>
        </p:nvSpPr>
        <p:spPr>
          <a:xfrm>
            <a:off x="932688" y="5815584"/>
            <a:ext cx="10326319" cy="384048"/>
          </a:xfrm>
          <a:prstGeom prst="rect">
            <a:avLst/>
          </a:prstGeom>
          <a:noFill/>
          <a:ln/>
        </p:spPr>
        <p:txBody>
          <a:bodyPr wrap="square" lIns="0" tIns="0" rIns="0" bIns="0" rtlCol="0" anchor="ctr"/>
          <a:lstStyle/>
          <a:p>
            <a:pPr indent="0" marL="0">
              <a:lnSpc>
                <a:spcPct val="120000"/>
              </a:lnSpc>
              <a:buNone/>
            </a:pPr>
            <a:r>
              <a:rPr lang="en-US" sz="1050" dirty="0">
                <a:solidFill>
                  <a:srgbClr val="EFEBE3"/>
                </a:solidFill>
                <a:latin typeface="Yu Gothic" pitchFamily="34" charset="0"/>
                <a:ea typeface="Yu Gothic" pitchFamily="34" charset="-122"/>
                <a:cs typeface="Yu Gothic" pitchFamily="34" charset="-120"/>
              </a:rPr>
              <a:t>ワインは飲めば消える嗜好品ではなく、正規流通の価格差という再現性のある収益源です。その価格差を取りに行く実務を、55年分の免許と取引関係で担うのがWineBankです。本ファンドは、その実務にWineBank自身も現物で出資し、同じ船に乗ったうえでご一緒いただくご提案です。</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1463040" y="1417320"/>
            <a:ext cx="4023360" cy="4023360"/>
          </a:xfrm>
          <a:prstGeom prst="ellipse">
            <a:avLst/>
          </a:prstGeom>
          <a:solidFill>
            <a:srgbClr val="0C0C0C"/>
          </a:solidFill>
          <a:ln w="13970">
            <a:solidFill>
              <a:srgbClr val="1E1A15"/>
            </a:solidFill>
            <a:prstDash val="solid"/>
          </a:ln>
        </p:spPr>
      </p:sp>
      <p:sp>
        <p:nvSpPr>
          <p:cNvPr id="3" name="Shape 1"/>
          <p:cNvSpPr/>
          <p:nvPr/>
        </p:nvSpPr>
        <p:spPr>
          <a:xfrm>
            <a:off x="9966960" y="-1188720"/>
            <a:ext cx="4023360" cy="4023360"/>
          </a:xfrm>
          <a:prstGeom prst="ellipse">
            <a:avLst/>
          </a:prstGeom>
          <a:solidFill>
            <a:srgbClr val="0C0C0C"/>
          </a:solidFill>
          <a:ln w="11430">
            <a:solidFill>
              <a:srgbClr val="6E5730"/>
            </a:solidFill>
            <a:prstDash val="solid"/>
          </a:ln>
        </p:spPr>
      </p:sp>
      <p:sp>
        <p:nvSpPr>
          <p:cNvPr id="4" name="Text 2"/>
          <p:cNvSpPr/>
          <p:nvPr/>
        </p:nvSpPr>
        <p:spPr>
          <a:xfrm>
            <a:off x="658368" y="2487168"/>
            <a:ext cx="10874959" cy="694944"/>
          </a:xfrm>
          <a:prstGeom prst="rect">
            <a:avLst/>
          </a:prstGeom>
          <a:noFill/>
          <a:ln/>
        </p:spPr>
        <p:txBody>
          <a:bodyPr wrap="square" lIns="0" tIns="0" rIns="0" bIns="0" rtlCol="0" anchor="ctr"/>
          <a:lstStyle/>
          <a:p>
            <a:pPr algn="ctr" indent="0" marL="0">
              <a:buNone/>
            </a:pPr>
            <a:r>
              <a:rPr lang="en-US" sz="3400" b="1" dirty="0">
                <a:solidFill>
                  <a:srgbClr val="EFEBE3"/>
                </a:solidFill>
                <a:latin typeface="Yu Mincho" pitchFamily="34" charset="0"/>
                <a:ea typeface="Yu Mincho" pitchFamily="34" charset="-122"/>
                <a:cs typeface="Yu Mincho" pitchFamily="34" charset="-120"/>
              </a:rPr>
              <a:t>すべての人にファインワインを</a:t>
            </a:r>
            <a:endParaRPr lang="en-US" sz="34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ワインファンド（SPC）組成のご提案</dc:title>
  <dc:subject>PptxGenJS Presentation</dc:subject>
  <dc:creator>株式会社WineBank</dc:creator>
  <cp:lastModifiedBy>株式会社WineBank</cp:lastModifiedBy>
  <cp:revision>1</cp:revision>
  <dcterms:created xsi:type="dcterms:W3CDTF">2026-09-06T09:06:16Z</dcterms:created>
  <dcterms:modified xsi:type="dcterms:W3CDTF">2026-09-06T09:06:16Z</dcterms:modified>
</cp:coreProperties>
</file>