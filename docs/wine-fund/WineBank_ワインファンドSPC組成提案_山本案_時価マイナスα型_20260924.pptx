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投資家利回り（定常年間・％）</a:t>
            </a:r>
          </a:p>
        </c:rich>
      </c:tx>
      <c:layout/>
      <c:overlay val="0"/>
    </c:title>
    <c:autoTitleDeleted val="0"/>
    <c:plotArea>
      <c:layout/>
      <c:barChart>
        <c:barDir val="col"/>
        <c:grouping val="clustered"/>
        <c:varyColors val="0"/>
        <c:ser>
          <c:idx val="0"/>
          <c:order val="0"/>
          <c:tx>
            <c:strRef>
              <c:f>Sheet1!$B$1</c:f>
              <c:strCache>
                <c:ptCount val="1"/>
                <c:pt idx="0">
                  <c:v>投資家利回り</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25.7</c:v>
                </c:pt>
                <c:pt idx="1">
                  <c:v>20</c:v>
                </c:pt>
                <c:pt idx="2">
                  <c:v>16.6</c:v>
                </c:pt>
                <c:pt idx="3">
                  <c:v>14.4</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31"/>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 年平均利回り（5年通算・％）</a:t>
            </a:r>
          </a:p>
        </c:rich>
      </c:tx>
      <c:layout/>
      <c:overlay val="0"/>
    </c:title>
    <c:autoTitleDeleted val="0"/>
    <c:plotArea>
      <c:layout/>
      <c:barChart>
        <c:barDir val="col"/>
        <c:grouping val="clustered"/>
        <c:varyColors val="0"/>
        <c:ser>
          <c:idx val="0"/>
          <c:order val="0"/>
          <c:tx>
            <c:strRef>
              <c:f>Sheet1!$B$1</c:f>
              <c:strCache>
                <c:ptCount val="1"/>
                <c:pt idx="0">
                  <c:v>投資家 年平均利回り</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22.9</c:v>
                </c:pt>
                <c:pt idx="1">
                  <c:v>15.5</c:v>
                </c:pt>
                <c:pt idx="2">
                  <c:v>11.8</c:v>
                </c:pt>
                <c:pt idx="3">
                  <c:v>12.7</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plotVisOnly val="1"/>
    <c:dispBlanksAs val="span"/>
  </c:chart>
  <c:spPr>
    <a:solidFill>
      <a:srgbClr val="171614"/>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在庫回転期間別 投資家利回り（％）</a:t>
            </a:r>
          </a:p>
        </c:rich>
      </c:tx>
      <c:layout/>
      <c:overlay val="0"/>
    </c:title>
    <c:autoTitleDeleted val="0"/>
    <c:plotArea>
      <c:layout/>
      <c:barChart>
        <c:barDir val="col"/>
        <c:grouping val="clustered"/>
        <c:varyColors val="0"/>
        <c:ser>
          <c:idx val="0"/>
          <c:order val="0"/>
          <c:tx>
            <c:strRef>
              <c:f>Sheet1!$B$1</c:f>
              <c:strCache>
                <c:ptCount val="1"/>
                <c:pt idx="0">
                  <c:v>ポジティブ（上昇10%）</c:v>
                </c:pt>
              </c:strCache>
            </c:strRef>
          </c:tx>
          <c:spPr>
            <a:solidFill>
              <a:srgbClr val="C9A96E"/>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Sheet1!$B$2:$B$5</c:f>
              <c:numCache>
                <c:formatCode>General</c:formatCode>
                <c:ptCount val="4"/>
                <c:pt idx="0">
                  <c:v>30.1</c:v>
                </c:pt>
                <c:pt idx="1">
                  <c:v>24.5</c:v>
                </c:pt>
                <c:pt idx="2">
                  <c:v>21.2</c:v>
                </c:pt>
                <c:pt idx="3">
                  <c:v>19</c:v>
                </c:pt>
              </c:numCache>
            </c:numRef>
          </c:val>
        </c:ser>
        <c:ser>
          <c:idx val="1"/>
          <c:order val="1"/>
          <c:tx>
            <c:strRef>
              <c:f>Sheet1!$C$1</c:f>
              <c:strCache>
                <c:ptCount val="1"/>
                <c:pt idx="0">
                  <c:v>ニュートラル（上昇6%・主線）</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Sheet1!$C$2:$C$5</c:f>
              <c:numCache>
                <c:formatCode>General</c:formatCode>
                <c:ptCount val="4"/>
                <c:pt idx="0">
                  <c:v>25.7</c:v>
                </c:pt>
                <c:pt idx="1">
                  <c:v>20</c:v>
                </c:pt>
                <c:pt idx="2">
                  <c:v>16.6</c:v>
                </c:pt>
                <c:pt idx="3">
                  <c:v>14.4</c:v>
                </c:pt>
              </c:numCache>
            </c:numRef>
          </c:val>
        </c:ser>
        <c:ser>
          <c:idx val="2"/>
          <c:order val="2"/>
          <c:tx>
            <c:strRef>
              <c:f>Sheet1!$D$1</c:f>
              <c:strCache>
                <c:ptCount val="1"/>
                <c:pt idx="0">
                  <c:v>ネガティブ（上昇0%）</c:v>
                </c:pt>
              </c:strCache>
            </c:strRef>
          </c:tx>
          <c:spPr>
            <a:solidFill>
              <a:srgbClr val="6E573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Sheet1!$A$2:$A$5</c:f>
              <c:multiLvlStrCache>
                <c:ptCount val="4"/>
                <c:lvl>
                  <c:pt idx="0">
                    <c:v>9ヶ月</c:v>
                  </c:pt>
                  <c:pt idx="1">
                    <c:v>12ヶ月</c:v>
                  </c:pt>
                  <c:pt idx="2">
                    <c:v>15ヶ月</c:v>
                  </c:pt>
                  <c:pt idx="3">
                    <c:v>18ヶ月</c:v>
                  </c:pt>
                </c:lvl>
              </c:multiLvlStrCache>
            </c:multiLvlStrRef>
          </c:cat>
          <c:val>
            <c:numRef>
              <c:f>Sheet1!$D$2:$D$5</c:f>
              <c:numCache>
                <c:formatCode>General</c:formatCode>
                <c:ptCount val="4"/>
                <c:pt idx="0">
                  <c:v>19</c:v>
                </c:pt>
                <c:pt idx="1">
                  <c:v>13.3</c:v>
                </c:pt>
                <c:pt idx="2">
                  <c:v>9.8</c:v>
                </c:pt>
                <c:pt idx="3">
                  <c:v>7.5</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34"/>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solidFill>
          <a:srgbClr val="171614"/>
        </a:solidFill>
        <a:ln>
          <a:noFill/>
        </a:ln>
        <a:effectLst/>
      </c:spPr>
    </c:plotArea>
    <c:legend>
      <c:legendPos val="b"/>
      <c:overlay val="0"/>
      <c:txPr>
        <a:bodyPr/>
        <a:lstStyle/>
        <a:p>
          <a:pPr>
            <a:defRPr sz="950">
              <a:solidFill>
                <a:srgbClr val="9A938A"/>
              </a:solidFill>
              <a:latin typeface="Yu Gothic"/>
              <a:cs typeface="Yu Gothic"/>
            </a:defRPr>
          </a:pPr>
          <a:endParaRPr lang="en-US"/>
        </a:p>
      </c:txPr>
    </c:legend>
    <c:plotVisOnly val="1"/>
    <c:dispBlanksAs val="span"/>
  </c:chart>
  <c:spPr>
    <a:solidFill>
      <a:srgbClr val="17161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WineBankは卸す時点で値入れし、出口では管理報酬以外を取らない。利益は出資比率どおり60:40で配分する。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主線は回転12ヶ月で投資家利回り20.0%、5年通算15.5%。折半は廃止し出資比率でプロラタ配分。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税前利益1.00億円を60:40で配分。投資家40百万円＝20.0%。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比率が同じなので利回りはほぼ同じ。セカンドクローズは回転実績を見て判断する。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回転12ヶ月＝年間6.36億円。20%の分岐点は回転12.0ヶ月で余裕なし。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WineBankの取り分は卸した時点で確定。出口は管理報酬のみ。分配は出資比率どおり。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免許・口座・割当の3つの壁。卸値の合理性と自己出資分の内部利益が論点。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時価75.00から20.8%控除して59.38で卸す。SPCの単位粗利は15.00。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B2C 71.04 &gt; B2B 69.30。両者の加重平均が時価75.00となる。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卸値が時価連動なので、仕入・売値の変動はSPCの粗利に効かない。効くのは値上がり率。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WineBankの値入れはSPC費用ではなく簿価に含まれる点に注意。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主線20.0%。20%の分岐点は回転12.0ヶ月。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回転が一次的にリターンを決める。必要販売額は前回より小さく、実力の範囲内。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値上がり効果は約＋6.7pt。これがないと主線でも13.3%。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効く変数は回転と値上がりの2つだけ。仕入・売値は遮断される。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3シナリオはワイン価格上昇率で定義し直した（仕入・売値は遮断されるため）。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効く変数は値上がりと回転の2つ。20%の分岐点は回転12.0ヶ月。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新スキームでは卸値そのものが最大の相反論点。αの固定と第三者検証が担保。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卸値の固定・時価の算定方法・自己出資分の内部利益が新たな相反論点。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卸値が時価連動になったことで、仕入リスクは遮断され、価格変動リスクの比重が上がった。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卸値ルールと報酬二本立てを条件表に明記した。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卸値ルールの確定を第2ステップに置く。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報酬の単純さと、仕入・売値からの遮断が新スキームの訴求点。WB受取の内訳は正直に開示する。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7818120" y="-868680"/>
            <a:ext cx="5577840" cy="5577840"/>
          </a:xfrm>
          <a:prstGeom prst="ellipse">
            <a:avLst/>
          </a:prstGeom>
          <a:solidFill>
            <a:srgbClr val="0C0C0C"/>
          </a:solidFill>
          <a:ln w="13970">
            <a:solidFill>
              <a:srgbClr val="1E1A15"/>
            </a:solidFill>
            <a:prstDash val="solid"/>
          </a:ln>
        </p:spPr>
      </p:sp>
      <p:sp>
        <p:nvSpPr>
          <p:cNvPr id="3" name="Shape 1"/>
          <p:cNvSpPr/>
          <p:nvPr/>
        </p:nvSpPr>
        <p:spPr>
          <a:xfrm>
            <a:off x="8732520" y="45720"/>
            <a:ext cx="3749040" cy="3749040"/>
          </a:xfrm>
          <a:prstGeom prst="ellipse">
            <a:avLst/>
          </a:prstGeom>
          <a:solidFill>
            <a:srgbClr val="0C0C0C"/>
          </a:solidFill>
          <a:ln w="11430">
            <a:solidFill>
              <a:srgbClr val="6E5730"/>
            </a:solidFill>
            <a:prstDash val="solid"/>
          </a:ln>
        </p:spPr>
      </p:sp>
      <p:sp>
        <p:nvSpPr>
          <p:cNvPr id="4" name="Shape 2"/>
          <p:cNvSpPr/>
          <p:nvPr/>
        </p:nvSpPr>
        <p:spPr>
          <a:xfrm>
            <a:off x="10287000" y="1600200"/>
            <a:ext cx="640080" cy="640080"/>
          </a:xfrm>
          <a:prstGeom prst="ellipse">
            <a:avLst/>
          </a:prstGeom>
          <a:solidFill>
            <a:srgbClr val="A78450"/>
          </a:solidFill>
          <a:ln w="12700">
            <a:solidFill>
              <a:srgbClr val="A78450"/>
            </a:solidFill>
            <a:prstDash val="solid"/>
          </a:ln>
        </p:spPr>
      </p:sp>
      <p:sp>
        <p:nvSpPr>
          <p:cNvPr id="5" name="Text 3"/>
          <p:cNvSpPr/>
          <p:nvPr/>
        </p:nvSpPr>
        <p:spPr>
          <a:xfrm>
            <a:off x="658368" y="566928"/>
            <a:ext cx="5486400" cy="274320"/>
          </a:xfrm>
          <a:prstGeom prst="rect">
            <a:avLst/>
          </a:prstGeom>
          <a:noFill/>
          <a:ln/>
        </p:spPr>
        <p:txBody>
          <a:bodyPr wrap="square" lIns="0" tIns="0" rIns="0" bIns="0" rtlCol="0" anchor="ctr"/>
          <a:lstStyle/>
          <a:p>
            <a:pPr indent="0" marL="0">
              <a:buNone/>
            </a:pPr>
            <a:r>
              <a:rPr lang="en-US" sz="1300" b="1" spc="550" kern="0" dirty="0">
                <a:solidFill>
                  <a:srgbClr val="EFEBE3"/>
                </a:solidFill>
                <a:latin typeface="Cambria" pitchFamily="34" charset="0"/>
                <a:ea typeface="Cambria" pitchFamily="34" charset="-122"/>
                <a:cs typeface="Cambria" pitchFamily="34" charset="-120"/>
              </a:rPr>
              <a:t>WINEBANK</a:t>
            </a:r>
            <a:endParaRPr lang="en-US" sz="1300" dirty="0"/>
          </a:p>
        </p:txBody>
      </p:sp>
      <p:sp>
        <p:nvSpPr>
          <p:cNvPr id="6" name="Shape 4"/>
          <p:cNvSpPr/>
          <p:nvPr/>
        </p:nvSpPr>
        <p:spPr>
          <a:xfrm>
            <a:off x="658368" y="1700784"/>
            <a:ext cx="5120640" cy="329184"/>
          </a:xfrm>
          <a:prstGeom prst="roundRect">
            <a:avLst>
              <a:gd name="adj" fmla="val 11111"/>
            </a:avLst>
          </a:prstGeom>
          <a:solidFill>
            <a:srgbClr val="1F1D19"/>
          </a:solidFill>
          <a:ln w="12700">
            <a:solidFill>
              <a:srgbClr val="6E5730"/>
            </a:solidFill>
            <a:prstDash val="solid"/>
          </a:ln>
        </p:spPr>
      </p:sp>
      <p:sp>
        <p:nvSpPr>
          <p:cNvPr id="7" name="Text 5"/>
          <p:cNvSpPr/>
          <p:nvPr/>
        </p:nvSpPr>
        <p:spPr>
          <a:xfrm>
            <a:off x="658368" y="1700784"/>
            <a:ext cx="5120640" cy="329184"/>
          </a:xfrm>
          <a:prstGeom prst="rect">
            <a:avLst/>
          </a:prstGeom>
          <a:noFill/>
          <a:ln/>
        </p:spPr>
        <p:txBody>
          <a:bodyPr wrap="square" lIns="0" tIns="0" rIns="0" bIns="0" rtlCol="0" anchor="ctr"/>
          <a:lstStyle/>
          <a:p>
            <a:pPr algn="ctr" indent="0" marL="0">
              <a:buNone/>
            </a:pPr>
            <a:r>
              <a:rPr lang="en-US" sz="1100" b="1" spc="120" kern="0" dirty="0">
                <a:solidFill>
                  <a:srgbClr val="C9A96E"/>
                </a:solidFill>
                <a:latin typeface="Yu Gothic" pitchFamily="34" charset="0"/>
                <a:ea typeface="Yu Gothic" pitchFamily="34" charset="-122"/>
                <a:cs typeface="Yu Gothic" pitchFamily="34" charset="-120"/>
              </a:rPr>
              <a:t>山本案｜出資比率でプロラタ配分・成功報酬なし</a:t>
            </a:r>
            <a:endParaRPr lang="en-US" sz="1100" dirty="0"/>
          </a:p>
        </p:txBody>
      </p:sp>
      <p:sp>
        <p:nvSpPr>
          <p:cNvPr id="8" name="Text 6"/>
          <p:cNvSpPr/>
          <p:nvPr/>
        </p:nvSpPr>
        <p:spPr>
          <a:xfrm>
            <a:off x="658368" y="2212848"/>
            <a:ext cx="7680960" cy="256032"/>
          </a:xfrm>
          <a:prstGeom prst="rect">
            <a:avLst/>
          </a:prstGeom>
          <a:noFill/>
          <a:ln/>
        </p:spPr>
        <p:txBody>
          <a:bodyPr wrap="square" lIns="0" tIns="0" rIns="0" bIns="0" rtlCol="0" anchor="ctr"/>
          <a:lstStyle/>
          <a:p>
            <a:pPr indent="0" marL="0">
              <a:buNone/>
            </a:pPr>
            <a:r>
              <a:rPr lang="en-US" sz="1100" b="1" spc="360" kern="0" dirty="0">
                <a:solidFill>
                  <a:srgbClr val="A78450"/>
                </a:solidFill>
                <a:latin typeface="Cambria" pitchFamily="34" charset="0"/>
                <a:ea typeface="Cambria" pitchFamily="34" charset="-122"/>
                <a:cs typeface="Cambria" pitchFamily="34" charset="-120"/>
              </a:rPr>
              <a:t>WINE FUND ｜ SPC PROPOSAL</a:t>
            </a:r>
            <a:endParaRPr lang="en-US" sz="1100" dirty="0"/>
          </a:p>
        </p:txBody>
      </p:sp>
      <p:sp>
        <p:nvSpPr>
          <p:cNvPr id="9" name="Text 7"/>
          <p:cNvSpPr/>
          <p:nvPr/>
        </p:nvSpPr>
        <p:spPr>
          <a:xfrm>
            <a:off x="658368" y="2560320"/>
            <a:ext cx="7863840" cy="713232"/>
          </a:xfrm>
          <a:prstGeom prst="rect">
            <a:avLst/>
          </a:prstGeom>
          <a:noFill/>
          <a:ln/>
        </p:spPr>
        <p:txBody>
          <a:bodyPr wrap="square" lIns="0" tIns="0" rIns="0" bIns="0" rtlCol="0" anchor="ctr"/>
          <a:lstStyle/>
          <a:p>
            <a:pPr indent="0" marL="0">
              <a:buNone/>
            </a:pPr>
            <a:r>
              <a:rPr lang="en-US" sz="4100" b="1" dirty="0">
                <a:solidFill>
                  <a:srgbClr val="EFEBE3"/>
                </a:solidFill>
                <a:latin typeface="Yu Mincho" pitchFamily="34" charset="0"/>
                <a:ea typeface="Yu Mincho" pitchFamily="34" charset="-122"/>
                <a:cs typeface="Yu Mincho" pitchFamily="34" charset="-120"/>
              </a:rPr>
              <a:t>ワインファンド（SPC）</a:t>
            </a:r>
            <a:endParaRPr lang="en-US" sz="4100" dirty="0"/>
          </a:p>
        </p:txBody>
      </p:sp>
      <p:sp>
        <p:nvSpPr>
          <p:cNvPr id="10" name="Text 8"/>
          <p:cNvSpPr/>
          <p:nvPr/>
        </p:nvSpPr>
        <p:spPr>
          <a:xfrm>
            <a:off x="658368" y="3255264"/>
            <a:ext cx="7863840" cy="713232"/>
          </a:xfrm>
          <a:prstGeom prst="rect">
            <a:avLst/>
          </a:prstGeom>
          <a:noFill/>
          <a:ln/>
        </p:spPr>
        <p:txBody>
          <a:bodyPr wrap="square" lIns="0" tIns="0" rIns="0" bIns="0" rtlCol="0" anchor="ctr"/>
          <a:lstStyle/>
          <a:p>
            <a:pPr indent="0" marL="0">
              <a:buNone/>
            </a:pPr>
            <a:r>
              <a:rPr lang="en-US" sz="4100" b="1" dirty="0">
                <a:solidFill>
                  <a:srgbClr val="C9A96E"/>
                </a:solidFill>
                <a:latin typeface="Yu Mincho" pitchFamily="34" charset="0"/>
                <a:ea typeface="Yu Mincho" pitchFamily="34" charset="-122"/>
                <a:cs typeface="Yu Mincho" pitchFamily="34" charset="-120"/>
              </a:rPr>
              <a:t>組成のご提案</a:t>
            </a:r>
            <a:endParaRPr lang="en-US" sz="4100" dirty="0"/>
          </a:p>
        </p:txBody>
      </p:sp>
      <p:sp>
        <p:nvSpPr>
          <p:cNvPr id="11" name="Text 9"/>
          <p:cNvSpPr/>
          <p:nvPr/>
        </p:nvSpPr>
        <p:spPr>
          <a:xfrm>
            <a:off x="658368" y="4133088"/>
            <a:ext cx="8778240" cy="274320"/>
          </a:xfrm>
          <a:prstGeom prst="rect">
            <a:avLst/>
          </a:prstGeom>
          <a:noFill/>
          <a:ln/>
        </p:spPr>
        <p:txBody>
          <a:bodyPr wrap="square" lIns="0" tIns="0" rIns="0" bIns="0" rtlCol="0" anchor="ctr"/>
          <a:lstStyle/>
          <a:p>
            <a:pPr indent="0" marL="0">
              <a:buNone/>
            </a:pPr>
            <a:r>
              <a:rPr lang="en-US" sz="1250" dirty="0">
                <a:solidFill>
                  <a:srgbClr val="9A938A"/>
                </a:solidFill>
                <a:latin typeface="Yu Gothic" pitchFamily="34" charset="0"/>
                <a:ea typeface="Yu Gothic" pitchFamily="34" charset="-122"/>
                <a:cs typeface="Yu Gothic" pitchFamily="34" charset="-120"/>
              </a:rPr>
              <a:t>ファーストクローズ 5億円 → 年度内セカンドクローズ 10億円 ／ 運用期間5年 ／ 年1回分配</a:t>
            </a:r>
            <a:endParaRPr lang="en-US" sz="1250" dirty="0"/>
          </a:p>
        </p:txBody>
      </p:sp>
      <p:sp>
        <p:nvSpPr>
          <p:cNvPr id="12" name="Text 10"/>
          <p:cNvSpPr/>
          <p:nvPr/>
        </p:nvSpPr>
        <p:spPr>
          <a:xfrm>
            <a:off x="658368" y="4443984"/>
            <a:ext cx="8229600" cy="274320"/>
          </a:xfrm>
          <a:prstGeom prst="rect">
            <a:avLst/>
          </a:prstGeom>
          <a:noFill/>
          <a:ln/>
        </p:spPr>
        <p:txBody>
          <a:bodyPr wrap="square" lIns="0" tIns="0" rIns="0" bIns="0" rtlCol="0" anchor="ctr"/>
          <a:lstStyle/>
          <a:p>
            <a:pPr indent="0" marL="0">
              <a:buNone/>
            </a:pPr>
            <a:r>
              <a:rPr lang="en-US" sz="1050" dirty="0">
                <a:solidFill>
                  <a:srgbClr val="6E675E"/>
                </a:solidFill>
                <a:latin typeface="Yu Gothic" pitchFamily="34" charset="0"/>
                <a:ea typeface="Yu Gothic" pitchFamily="34" charset="-122"/>
                <a:cs typeface="Yu Gothic" pitchFamily="34" charset="-120"/>
              </a:rPr>
              <a:t>2026年9月</a:t>
            </a:r>
            <a:endParaRPr lang="en-US" sz="1050" dirty="0"/>
          </a:p>
        </p:txBody>
      </p:sp>
      <p:sp>
        <p:nvSpPr>
          <p:cNvPr id="13" name="Text 11"/>
          <p:cNvSpPr/>
          <p:nvPr/>
        </p:nvSpPr>
        <p:spPr>
          <a:xfrm>
            <a:off x="658368" y="5687568"/>
            <a:ext cx="5486400" cy="292608"/>
          </a:xfrm>
          <a:prstGeom prst="rect">
            <a:avLst/>
          </a:prstGeom>
          <a:noFill/>
          <a:ln/>
        </p:spPr>
        <p:txBody>
          <a:bodyPr wrap="square" lIns="0" tIns="0" rIns="0" bIns="0" rtlCol="0" anchor="ctr"/>
          <a:lstStyle/>
          <a:p>
            <a:pPr indent="0" marL="0">
              <a:buNone/>
            </a:pPr>
            <a:r>
              <a:rPr lang="en-US" sz="1500" b="1" dirty="0">
                <a:solidFill>
                  <a:srgbClr val="EFEBE3"/>
                </a:solidFill>
                <a:latin typeface="Yu Mincho" pitchFamily="34" charset="0"/>
                <a:ea typeface="Yu Mincho" pitchFamily="34" charset="-122"/>
                <a:cs typeface="Yu Mincho" pitchFamily="34" charset="-120"/>
              </a:rPr>
              <a:t>株式会社WineBank</a:t>
            </a:r>
            <a:endParaRPr lang="en-US" sz="1500" dirty="0"/>
          </a:p>
        </p:txBody>
      </p:sp>
      <p:sp>
        <p:nvSpPr>
          <p:cNvPr id="14" name="Text 12"/>
          <p:cNvSpPr/>
          <p:nvPr/>
        </p:nvSpPr>
        <p:spPr>
          <a:xfrm>
            <a:off x="658368" y="6016752"/>
            <a:ext cx="7315200" cy="256032"/>
          </a:xfrm>
          <a:prstGeom prst="rect">
            <a:avLst/>
          </a:prstGeom>
          <a:noFill/>
          <a:ln/>
        </p:spPr>
        <p:txBody>
          <a:bodyPr wrap="square" lIns="0" tIns="0" rIns="0" bIns="0" rtlCol="0" anchor="ctr"/>
          <a:lstStyle/>
          <a:p>
            <a:pPr indent="0" marL="0">
              <a:buNone/>
            </a:pPr>
            <a:r>
              <a:rPr lang="en-US" sz="950" dirty="0">
                <a:solidFill>
                  <a:srgbClr val="6E675E"/>
                </a:solidFill>
                <a:latin typeface="Yu Gothic" pitchFamily="34" charset="0"/>
                <a:ea typeface="Yu Gothic" pitchFamily="34" charset="-122"/>
                <a:cs typeface="Yu Gothic" pitchFamily="34" charset="-120"/>
              </a:rPr>
              <a:t>東京都港区六本木4-12-8 第6DMJビル 2階　／　創業 1970年</a:t>
            </a:r>
            <a:endParaRPr lang="en-US" sz="950" dirty="0"/>
          </a:p>
        </p:txBody>
      </p:sp>
      <p:sp>
        <p:nvSpPr>
          <p:cNvPr id="15" name="Text 13"/>
          <p:cNvSpPr/>
          <p:nvPr/>
        </p:nvSpPr>
        <p:spPr>
          <a:xfrm>
            <a:off x="8790127" y="6016752"/>
            <a:ext cx="2743200" cy="256032"/>
          </a:xfrm>
          <a:prstGeom prst="rect">
            <a:avLst/>
          </a:prstGeom>
          <a:noFill/>
          <a:ln/>
        </p:spPr>
        <p:txBody>
          <a:bodyPr wrap="square" lIns="0" tIns="0" rIns="0" bIns="0" rtlCol="0" anchor="ctr"/>
          <a:lstStyle/>
          <a:p>
            <a:pPr algn="r" indent="0" marL="0">
              <a:buNone/>
            </a:pPr>
            <a:r>
              <a:rPr lang="en-US" sz="950" b="1" spc="260" kern="0" dirty="0">
                <a:solidFill>
                  <a:srgbClr val="6E5730"/>
                </a:solidFill>
                <a:latin typeface="Cambria" pitchFamily="34" charset="0"/>
                <a:ea typeface="Cambria" pitchFamily="34" charset="-122"/>
                <a:cs typeface="Cambria" pitchFamily="34" charset="-120"/>
              </a:rPr>
              <a:t>CONFIDENTIAL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EXECUTIVE SUMMARY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本ファンドの骨子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実物ワインの流通価格差を収益源とする、現物裏付け型の短期回転ファンド。WineBankは卸す時点で値入れし、出口では管理報酬以外を取らない。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01</a:t>
            </a:r>
            <a:endParaRPr lang="en-US" sz="950" dirty="0"/>
          </a:p>
        </p:txBody>
      </p:sp>
      <p:sp>
        <p:nvSpPr>
          <p:cNvPr id="7" name="Shape 5"/>
          <p:cNvSpPr/>
          <p:nvPr/>
        </p:nvSpPr>
        <p:spPr>
          <a:xfrm>
            <a:off x="658368" y="1664208"/>
            <a:ext cx="2513000" cy="1481328"/>
          </a:xfrm>
          <a:prstGeom prst="roundRect">
            <a:avLst>
              <a:gd name="adj" fmla="val 2778"/>
            </a:avLst>
          </a:prstGeom>
          <a:solidFill>
            <a:srgbClr val="171614"/>
          </a:solidFill>
          <a:ln w="9525">
            <a:solidFill>
              <a:srgbClr val="2E2A24"/>
            </a:solidFill>
            <a:prstDash val="solid"/>
          </a:ln>
        </p:spPr>
      </p:sp>
      <p:sp>
        <p:nvSpPr>
          <p:cNvPr id="8" name="Text 6"/>
          <p:cNvSpPr/>
          <p:nvPr/>
        </p:nvSpPr>
        <p:spPr>
          <a:xfrm>
            <a:off x="89611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20.8</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400" dirty="0"/>
          </a:p>
        </p:txBody>
      </p:sp>
      <p:sp>
        <p:nvSpPr>
          <p:cNvPr id="9" name="Text 7"/>
          <p:cNvSpPr/>
          <p:nvPr/>
        </p:nvSpPr>
        <p:spPr>
          <a:xfrm>
            <a:off x="89611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卸値の控除率 α</a:t>
            </a:r>
            <a:endParaRPr lang="en-US" sz="1100" dirty="0"/>
          </a:p>
        </p:txBody>
      </p:sp>
      <p:sp>
        <p:nvSpPr>
          <p:cNvPr id="10" name="Text 8"/>
          <p:cNvSpPr/>
          <p:nvPr/>
        </p:nvSpPr>
        <p:spPr>
          <a:xfrm>
            <a:off x="89611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時価（取得時の売値75.00）から控除してSPCへ卸す。SPC簿価は定価比59.38</a:t>
            </a:r>
            <a:endParaRPr lang="en-US" sz="900" dirty="0"/>
          </a:p>
        </p:txBody>
      </p:sp>
      <p:sp>
        <p:nvSpPr>
          <p:cNvPr id="11" name="Shape 9"/>
          <p:cNvSpPr/>
          <p:nvPr/>
        </p:nvSpPr>
        <p:spPr>
          <a:xfrm>
            <a:off x="3445688" y="1664208"/>
            <a:ext cx="2513000" cy="1481328"/>
          </a:xfrm>
          <a:prstGeom prst="roundRect">
            <a:avLst>
              <a:gd name="adj" fmla="val 2778"/>
            </a:avLst>
          </a:prstGeom>
          <a:solidFill>
            <a:srgbClr val="171614"/>
          </a:solidFill>
          <a:ln w="9525">
            <a:solidFill>
              <a:srgbClr val="2E2A24"/>
            </a:solidFill>
            <a:prstDash val="solid"/>
          </a:ln>
        </p:spPr>
      </p:sp>
      <p:sp>
        <p:nvSpPr>
          <p:cNvPr id="12" name="Text 10"/>
          <p:cNvSpPr/>
          <p:nvPr/>
        </p:nvSpPr>
        <p:spPr>
          <a:xfrm>
            <a:off x="3683432" y="1847088"/>
            <a:ext cx="2037512" cy="566928"/>
          </a:xfrm>
          <a:prstGeom prst="rect">
            <a:avLst/>
          </a:prstGeom>
          <a:noFill/>
          <a:ln/>
        </p:spPr>
        <p:txBody>
          <a:bodyPr wrap="square" lIns="0" tIns="0" rIns="0" bIns="0" rtlCol="0" anchor="ctr"/>
          <a:lstStyle/>
          <a:p>
            <a:pPr indent="0" marL="0">
              <a:buNone/>
            </a:pPr>
            <a:r>
              <a:rPr lang="en-US" sz="2600" b="1" dirty="0">
                <a:solidFill>
                  <a:srgbClr val="C9A96E"/>
                </a:solidFill>
                <a:latin typeface="Cambria" pitchFamily="34" charset="0"/>
                <a:ea typeface="Cambria" pitchFamily="34" charset="-122"/>
                <a:cs typeface="Cambria" pitchFamily="34" charset="-120"/>
              </a:rPr>
              <a:t>60 : 40</a:t>
            </a:r>
            <a:pPr indent="0" marL="0">
              <a:buNone/>
            </a:pPr>
            <a:endParaRPr lang="en-US" sz="2600" dirty="0"/>
          </a:p>
        </p:txBody>
      </p:sp>
      <p:sp>
        <p:nvSpPr>
          <p:cNvPr id="13" name="Text 11"/>
          <p:cNvSpPr/>
          <p:nvPr/>
        </p:nvSpPr>
        <p:spPr>
          <a:xfrm>
            <a:off x="368343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利益の配分（WB：投資家）</a:t>
            </a:r>
            <a:endParaRPr lang="en-US" sz="1100" dirty="0"/>
          </a:p>
        </p:txBody>
      </p:sp>
      <p:sp>
        <p:nvSpPr>
          <p:cNvPr id="14" name="Text 12"/>
          <p:cNvSpPr/>
          <p:nvPr/>
        </p:nvSpPr>
        <p:spPr>
          <a:xfrm>
            <a:off x="368343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出資比率どおりのプロラタ配分。成功報酬（折半）は取らない</a:t>
            </a:r>
            <a:endParaRPr lang="en-US" sz="900" dirty="0"/>
          </a:p>
        </p:txBody>
      </p:sp>
      <p:sp>
        <p:nvSpPr>
          <p:cNvPr id="15" name="Shape 13"/>
          <p:cNvSpPr/>
          <p:nvPr/>
        </p:nvSpPr>
        <p:spPr>
          <a:xfrm>
            <a:off x="6233008" y="1664208"/>
            <a:ext cx="2513000" cy="1481328"/>
          </a:xfrm>
          <a:prstGeom prst="roundRect">
            <a:avLst>
              <a:gd name="adj" fmla="val 2778"/>
            </a:avLst>
          </a:prstGeom>
          <a:solidFill>
            <a:srgbClr val="171614"/>
          </a:solidFill>
          <a:ln w="9525">
            <a:solidFill>
              <a:srgbClr val="2E2A24"/>
            </a:solidFill>
            <a:prstDash val="solid"/>
          </a:ln>
        </p:spPr>
      </p:sp>
      <p:sp>
        <p:nvSpPr>
          <p:cNvPr id="16" name="Text 14"/>
          <p:cNvSpPr/>
          <p:nvPr/>
        </p:nvSpPr>
        <p:spPr>
          <a:xfrm>
            <a:off x="6470752" y="1847088"/>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12</a:t>
            </a:r>
            <a:pPr indent="0" marL="0">
              <a:buNone/>
            </a:pPr>
            <a:r>
              <a:rPr lang="en-US" sz="1250" b="1" dirty="0">
                <a:solidFill>
                  <a:srgbClr val="C9A96E"/>
                </a:solidFill>
                <a:latin typeface="Yu Gothic" pitchFamily="34" charset="0"/>
                <a:ea typeface="Yu Gothic" pitchFamily="34" charset="-122"/>
                <a:cs typeface="Yu Gothic" pitchFamily="34" charset="-120"/>
              </a:rPr>
              <a:t> ヶ月</a:t>
            </a:r>
            <a:endParaRPr lang="en-US" sz="3400" dirty="0"/>
          </a:p>
        </p:txBody>
      </p:sp>
      <p:sp>
        <p:nvSpPr>
          <p:cNvPr id="17" name="Text 15"/>
          <p:cNvSpPr/>
          <p:nvPr/>
        </p:nvSpPr>
        <p:spPr>
          <a:xfrm>
            <a:off x="6470752"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在庫回転期間（主線）</a:t>
            </a:r>
            <a:endParaRPr lang="en-US" sz="1100" dirty="0"/>
          </a:p>
        </p:txBody>
      </p:sp>
      <p:sp>
        <p:nvSpPr>
          <p:cNvPr id="18" name="Text 16"/>
          <p:cNvSpPr/>
          <p:nvPr/>
        </p:nvSpPr>
        <p:spPr>
          <a:xfrm>
            <a:off x="6470752"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最短9ヶ月、延びても15〜18ヶ月を想定レンジとする</a:t>
            </a:r>
            <a:endParaRPr lang="en-US" sz="900" dirty="0"/>
          </a:p>
        </p:txBody>
      </p:sp>
      <p:sp>
        <p:nvSpPr>
          <p:cNvPr id="19" name="Shape 17"/>
          <p:cNvSpPr/>
          <p:nvPr/>
        </p:nvSpPr>
        <p:spPr>
          <a:xfrm>
            <a:off x="9020327" y="1664208"/>
            <a:ext cx="2513000" cy="1481328"/>
          </a:xfrm>
          <a:prstGeom prst="roundRect">
            <a:avLst>
              <a:gd name="adj" fmla="val 2778"/>
            </a:avLst>
          </a:prstGeom>
          <a:solidFill>
            <a:srgbClr val="1F1D19"/>
          </a:solidFill>
          <a:ln w="9525">
            <a:solidFill>
              <a:srgbClr val="6E5730"/>
            </a:solidFill>
            <a:prstDash val="solid"/>
          </a:ln>
        </p:spPr>
      </p:sp>
      <p:sp>
        <p:nvSpPr>
          <p:cNvPr id="20" name="Text 18"/>
          <p:cNvSpPr/>
          <p:nvPr/>
        </p:nvSpPr>
        <p:spPr>
          <a:xfrm>
            <a:off x="9258071" y="1847088"/>
            <a:ext cx="2037512" cy="566928"/>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20.0</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000" dirty="0"/>
          </a:p>
        </p:txBody>
      </p:sp>
      <p:sp>
        <p:nvSpPr>
          <p:cNvPr id="21" name="Text 19"/>
          <p:cNvSpPr/>
          <p:nvPr/>
        </p:nvSpPr>
        <p:spPr>
          <a:xfrm>
            <a:off x="9258071" y="2432304"/>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投資家利回り（定常年間）</a:t>
            </a:r>
            <a:endParaRPr lang="en-US" sz="1100" dirty="0"/>
          </a:p>
        </p:txBody>
      </p:sp>
      <p:sp>
        <p:nvSpPr>
          <p:cNvPr id="22" name="Text 20"/>
          <p:cNvSpPr/>
          <p:nvPr/>
        </p:nvSpPr>
        <p:spPr>
          <a:xfrm>
            <a:off x="9258071" y="2660904"/>
            <a:ext cx="2037512" cy="384048"/>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出資2億円に対する取分。5年通算の年平均は15.5%</a:t>
            </a:r>
            <a:endParaRPr lang="en-US" sz="900" dirty="0"/>
          </a:p>
        </p:txBody>
      </p:sp>
      <p:sp>
        <p:nvSpPr>
          <p:cNvPr id="23" name="Shape 21"/>
          <p:cNvSpPr/>
          <p:nvPr/>
        </p:nvSpPr>
        <p:spPr>
          <a:xfrm>
            <a:off x="658368" y="3419856"/>
            <a:ext cx="274320" cy="274320"/>
          </a:xfrm>
          <a:prstGeom prst="ellipse">
            <a:avLst/>
          </a:prstGeom>
          <a:solidFill>
            <a:srgbClr val="0C0C0C"/>
          </a:solidFill>
          <a:ln w="11430">
            <a:solidFill>
              <a:srgbClr val="A78450"/>
            </a:solidFill>
            <a:prstDash val="solid"/>
          </a:ln>
        </p:spPr>
      </p:sp>
      <p:sp>
        <p:nvSpPr>
          <p:cNvPr id="24" name="Text 22"/>
          <p:cNvSpPr/>
          <p:nvPr/>
        </p:nvSpPr>
        <p:spPr>
          <a:xfrm>
            <a:off x="658368" y="341985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01</a:t>
            </a:r>
            <a:endParaRPr lang="en-US" sz="850" dirty="0"/>
          </a:p>
        </p:txBody>
      </p:sp>
      <p:sp>
        <p:nvSpPr>
          <p:cNvPr id="25" name="Text 23"/>
          <p:cNvSpPr/>
          <p:nvPr/>
        </p:nvSpPr>
        <p:spPr>
          <a:xfrm>
            <a:off x="1078992" y="338328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WineBankの取り分は、SPCへ卸す時点の値入れに一本化する。</a:t>
            </a:r>
            <a:endParaRPr lang="en-US" sz="1200" dirty="0"/>
          </a:p>
        </p:txBody>
      </p:sp>
      <p:sp>
        <p:nvSpPr>
          <p:cNvPr id="26" name="Text 24"/>
          <p:cNvSpPr/>
          <p:nvPr/>
        </p:nvSpPr>
        <p:spPr>
          <a:xfrm>
            <a:off x="1078992" y="3621024"/>
            <a:ext cx="10454335" cy="310896"/>
          </a:xfrm>
          <a:prstGeom prst="rect">
            <a:avLst/>
          </a:prstGeom>
          <a:noFill/>
          <a:ln/>
        </p:spPr>
        <p:txBody>
          <a:bodyPr wrap="square" lIns="0" tIns="0" rIns="0" bIns="0" rtlCol="0" anchor="ctr"/>
          <a:lstStyle/>
          <a:p>
            <a:pPr indent="0" marL="0">
              <a:lnSpc>
                <a:spcPct val="112000"/>
              </a:lnSpc>
              <a:buNone/>
            </a:pPr>
            <a:r>
              <a:rPr lang="en-US" sz="950" dirty="0">
                <a:solidFill>
                  <a:srgbClr val="9A938A"/>
                </a:solidFill>
                <a:latin typeface="Yu Gothic" pitchFamily="34" charset="0"/>
                <a:ea typeface="Yu Gothic" pitchFamily="34" charset="-122"/>
                <a:cs typeface="Yu Gothic" pitchFamily="34" charset="-120"/>
              </a:rPr>
              <a:t>時価から20.8%を控除した定価比59.38でSPCへ卸し、その値入れ（年75百万円）を卸した時点で受け取る。売却時に取るのは管理報酬（総額の年2%）のみとする。</a:t>
            </a:r>
            <a:endParaRPr lang="en-US" sz="950" dirty="0"/>
          </a:p>
        </p:txBody>
      </p:sp>
      <p:sp>
        <p:nvSpPr>
          <p:cNvPr id="27" name="Shape 25"/>
          <p:cNvSpPr/>
          <p:nvPr/>
        </p:nvSpPr>
        <p:spPr>
          <a:xfrm>
            <a:off x="658368" y="4059936"/>
            <a:ext cx="274320" cy="274320"/>
          </a:xfrm>
          <a:prstGeom prst="ellipse">
            <a:avLst/>
          </a:prstGeom>
          <a:solidFill>
            <a:srgbClr val="0C0C0C"/>
          </a:solidFill>
          <a:ln w="11430">
            <a:solidFill>
              <a:srgbClr val="A78450"/>
            </a:solidFill>
            <a:prstDash val="solid"/>
          </a:ln>
        </p:spPr>
      </p:sp>
      <p:sp>
        <p:nvSpPr>
          <p:cNvPr id="28" name="Text 26"/>
          <p:cNvSpPr/>
          <p:nvPr/>
        </p:nvSpPr>
        <p:spPr>
          <a:xfrm>
            <a:off x="658368" y="405993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02</a:t>
            </a:r>
            <a:endParaRPr lang="en-US" sz="850" dirty="0"/>
          </a:p>
        </p:txBody>
      </p:sp>
      <p:sp>
        <p:nvSpPr>
          <p:cNvPr id="29" name="Text 27"/>
          <p:cNvSpPr/>
          <p:nvPr/>
        </p:nvSpPr>
        <p:spPr>
          <a:xfrm>
            <a:off x="1078992" y="402336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SPCの利益は出資比率どおり 60：40 で分ける。</a:t>
            </a:r>
            <a:endParaRPr lang="en-US" sz="1200" dirty="0"/>
          </a:p>
        </p:txBody>
      </p:sp>
      <p:sp>
        <p:nvSpPr>
          <p:cNvPr id="30" name="Text 28"/>
          <p:cNvSpPr/>
          <p:nvPr/>
        </p:nvSpPr>
        <p:spPr>
          <a:xfrm>
            <a:off x="1078992" y="4261104"/>
            <a:ext cx="10454335" cy="310896"/>
          </a:xfrm>
          <a:prstGeom prst="rect">
            <a:avLst/>
          </a:prstGeom>
          <a:noFill/>
          <a:ln/>
        </p:spPr>
        <p:txBody>
          <a:bodyPr wrap="square" lIns="0" tIns="0" rIns="0" bIns="0" rtlCol="0" anchor="ctr"/>
          <a:lstStyle/>
          <a:p>
            <a:pPr indent="0" marL="0">
              <a:lnSpc>
                <a:spcPct val="112000"/>
              </a:lnSpc>
              <a:buNone/>
            </a:pPr>
            <a:r>
              <a:rPr lang="en-US" sz="950" dirty="0">
                <a:solidFill>
                  <a:srgbClr val="9A938A"/>
                </a:solidFill>
                <a:latin typeface="Yu Gothic" pitchFamily="34" charset="0"/>
                <a:ea typeface="Yu Gothic" pitchFamily="34" charset="-122"/>
                <a:cs typeface="Yu Gothic" pitchFamily="34" charset="-120"/>
              </a:rPr>
              <a:t>成功報酬（折半）は廃止する。投資家の取分は「SPC税前利益 × 出資比率40%」であり、配分は出資比率だけで決まる。</a:t>
            </a:r>
            <a:endParaRPr lang="en-US" sz="950" dirty="0"/>
          </a:p>
        </p:txBody>
      </p:sp>
      <p:sp>
        <p:nvSpPr>
          <p:cNvPr id="31" name="Shape 29"/>
          <p:cNvSpPr/>
          <p:nvPr/>
        </p:nvSpPr>
        <p:spPr>
          <a:xfrm>
            <a:off x="658368" y="4700016"/>
            <a:ext cx="274320" cy="274320"/>
          </a:xfrm>
          <a:prstGeom prst="ellipse">
            <a:avLst/>
          </a:prstGeom>
          <a:solidFill>
            <a:srgbClr val="0C0C0C"/>
          </a:solidFill>
          <a:ln w="11430">
            <a:solidFill>
              <a:srgbClr val="A78450"/>
            </a:solidFill>
            <a:prstDash val="solid"/>
          </a:ln>
        </p:spPr>
      </p:sp>
      <p:sp>
        <p:nvSpPr>
          <p:cNvPr id="32" name="Text 30"/>
          <p:cNvSpPr/>
          <p:nvPr/>
        </p:nvSpPr>
        <p:spPr>
          <a:xfrm>
            <a:off x="658368" y="470001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03</a:t>
            </a:r>
            <a:endParaRPr lang="en-US" sz="850" dirty="0"/>
          </a:p>
        </p:txBody>
      </p:sp>
      <p:sp>
        <p:nvSpPr>
          <p:cNvPr id="33" name="Text 31"/>
          <p:cNvSpPr/>
          <p:nvPr/>
        </p:nvSpPr>
        <p:spPr>
          <a:xfrm>
            <a:off x="1078992" y="466344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投資家の利回りは、仕入価格と売値の変動から遮断される。</a:t>
            </a:r>
            <a:endParaRPr lang="en-US" sz="1200" dirty="0"/>
          </a:p>
        </p:txBody>
      </p:sp>
      <p:sp>
        <p:nvSpPr>
          <p:cNvPr id="34" name="Text 32"/>
          <p:cNvSpPr/>
          <p:nvPr/>
        </p:nvSpPr>
        <p:spPr>
          <a:xfrm>
            <a:off x="1078992" y="4901184"/>
            <a:ext cx="10454335" cy="310896"/>
          </a:xfrm>
          <a:prstGeom prst="rect">
            <a:avLst/>
          </a:prstGeom>
          <a:noFill/>
          <a:ln/>
        </p:spPr>
        <p:txBody>
          <a:bodyPr wrap="square" lIns="0" tIns="0" rIns="0" bIns="0" rtlCol="0" anchor="ctr"/>
          <a:lstStyle/>
          <a:p>
            <a:pPr indent="0" marL="0">
              <a:lnSpc>
                <a:spcPct val="112000"/>
              </a:lnSpc>
              <a:buNone/>
            </a:pPr>
            <a:r>
              <a:rPr lang="en-US" sz="950" dirty="0">
                <a:solidFill>
                  <a:srgbClr val="9A938A"/>
                </a:solidFill>
                <a:latin typeface="Yu Gothic" pitchFamily="34" charset="0"/>
                <a:ea typeface="Yu Gothic" pitchFamily="34" charset="-122"/>
                <a:cs typeface="Yu Gothic" pitchFamily="34" charset="-120"/>
              </a:rPr>
              <a:t>卸値が時価に連動するため、市中仕入が50→45に下がっても（＋0.0pt）、売値が5%下がっても（▲0.1pt）、投資家利回りはほとんど動かない。残る変動要因は在庫回転期間とワイン価格の上昇率になる。</a:t>
            </a:r>
            <a:endParaRPr lang="en-US" sz="950" dirty="0"/>
          </a:p>
        </p:txBody>
      </p:sp>
      <p:sp>
        <p:nvSpPr>
          <p:cNvPr id="35" name="Shape 33"/>
          <p:cNvSpPr/>
          <p:nvPr/>
        </p:nvSpPr>
        <p:spPr>
          <a:xfrm>
            <a:off x="658368" y="5340096"/>
            <a:ext cx="274320" cy="274320"/>
          </a:xfrm>
          <a:prstGeom prst="ellipse">
            <a:avLst/>
          </a:prstGeom>
          <a:solidFill>
            <a:srgbClr val="0C0C0C"/>
          </a:solidFill>
          <a:ln w="11430">
            <a:solidFill>
              <a:srgbClr val="A78450"/>
            </a:solidFill>
            <a:prstDash val="solid"/>
          </a:ln>
        </p:spPr>
      </p:sp>
      <p:sp>
        <p:nvSpPr>
          <p:cNvPr id="36" name="Text 34"/>
          <p:cNvSpPr/>
          <p:nvPr/>
        </p:nvSpPr>
        <p:spPr>
          <a:xfrm>
            <a:off x="658368" y="5340096"/>
            <a:ext cx="274320" cy="274320"/>
          </a:xfrm>
          <a:prstGeom prst="rect">
            <a:avLst/>
          </a:prstGeom>
          <a:noFill/>
          <a:ln/>
        </p:spPr>
        <p:txBody>
          <a:bodyPr wrap="square" lIns="0" tIns="0" rIns="0" bIns="0" rtlCol="0" anchor="ctr"/>
          <a:lstStyle/>
          <a:p>
            <a:pPr algn="ctr" indent="0" marL="0">
              <a:buNone/>
            </a:pPr>
            <a:r>
              <a:rPr lang="en-US" sz="850" b="1" dirty="0">
                <a:solidFill>
                  <a:srgbClr val="C9A96E"/>
                </a:solidFill>
                <a:latin typeface="Cambria" pitchFamily="34" charset="0"/>
                <a:ea typeface="Cambria" pitchFamily="34" charset="-122"/>
                <a:cs typeface="Cambria" pitchFamily="34" charset="-120"/>
              </a:rPr>
              <a:t>04</a:t>
            </a:r>
            <a:endParaRPr lang="en-US" sz="850" dirty="0"/>
          </a:p>
        </p:txBody>
      </p:sp>
      <p:sp>
        <p:nvSpPr>
          <p:cNvPr id="37" name="Text 35"/>
          <p:cNvSpPr/>
          <p:nvPr/>
        </p:nvSpPr>
        <p:spPr>
          <a:xfrm>
            <a:off x="1078992" y="5303520"/>
            <a:ext cx="10454335"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在庫回転12ヶ月で売り切る。組入銘柄の選定と配分ルールで実現する。</a:t>
            </a:r>
            <a:endParaRPr lang="en-US" sz="1200" dirty="0"/>
          </a:p>
        </p:txBody>
      </p:sp>
      <p:sp>
        <p:nvSpPr>
          <p:cNvPr id="38" name="Text 36"/>
          <p:cNvSpPr/>
          <p:nvPr/>
        </p:nvSpPr>
        <p:spPr>
          <a:xfrm>
            <a:off x="1078992" y="5541264"/>
            <a:ext cx="10454335" cy="310896"/>
          </a:xfrm>
          <a:prstGeom prst="rect">
            <a:avLst/>
          </a:prstGeom>
          <a:noFill/>
          <a:ln/>
        </p:spPr>
        <p:txBody>
          <a:bodyPr wrap="square" lIns="0" tIns="0" rIns="0" bIns="0" rtlCol="0" anchor="ctr"/>
          <a:lstStyle/>
          <a:p>
            <a:pPr indent="0" marL="0">
              <a:lnSpc>
                <a:spcPct val="112000"/>
              </a:lnSpc>
              <a:buNone/>
            </a:pPr>
            <a:r>
              <a:rPr lang="en-US" sz="950" dirty="0">
                <a:solidFill>
                  <a:srgbClr val="9A938A"/>
                </a:solidFill>
                <a:latin typeface="Yu Gothic" pitchFamily="34" charset="0"/>
                <a:ea typeface="Yu Gothic" pitchFamily="34" charset="-122"/>
                <a:cs typeface="Yu Gothic" pitchFamily="34" charset="-120"/>
              </a:rPr>
              <a:t>回転12ヶ月に必要な年間販売額は6.36億円。最短9ヶ月、延びても15〜18ヶ月を想定レンジとする。</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CAPITAL 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資本構成とリターンの配分</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総額5億円をWineBankの現物出資3億円（60%）と投資家出資2億円（40%）で構成し、SPCの利益を出資比率どおりに分ける。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02</a:t>
            </a:r>
            <a:endParaRPr lang="en-US" sz="950" dirty="0"/>
          </a:p>
        </p:txBody>
      </p:sp>
      <p:sp>
        <p:nvSpPr>
          <p:cNvPr id="7" name="Shape 5"/>
          <p:cNvSpPr/>
          <p:nvPr/>
        </p:nvSpPr>
        <p:spPr>
          <a:xfrm>
            <a:off x="658368" y="1627632"/>
            <a:ext cx="3442106" cy="1700784"/>
          </a:xfrm>
          <a:prstGeom prst="roundRect">
            <a:avLst>
              <a:gd name="adj" fmla="val 2419"/>
            </a:avLst>
          </a:prstGeom>
          <a:solidFill>
            <a:srgbClr val="171614"/>
          </a:solidFill>
          <a:ln w="9525">
            <a:solidFill>
              <a:srgbClr val="2E2A24"/>
            </a:solidFill>
            <a:prstDash val="solid"/>
          </a:ln>
        </p:spPr>
      </p:sp>
      <p:sp>
        <p:nvSpPr>
          <p:cNvPr id="8" name="Text 6"/>
          <p:cNvSpPr/>
          <p:nvPr/>
        </p:nvSpPr>
        <p:spPr>
          <a:xfrm>
            <a:off x="896112" y="1773936"/>
            <a:ext cx="2966618"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現物出資｜WineBank</a:t>
            </a:r>
            <a:endParaRPr lang="en-US" sz="1150" dirty="0"/>
          </a:p>
        </p:txBody>
      </p:sp>
      <p:sp>
        <p:nvSpPr>
          <p:cNvPr id="9" name="Text 7"/>
          <p:cNvSpPr/>
          <p:nvPr/>
        </p:nvSpPr>
        <p:spPr>
          <a:xfrm>
            <a:off x="896112" y="2029968"/>
            <a:ext cx="2966618" cy="420624"/>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3.0</a:t>
            </a:r>
            <a:pPr indent="0" marL="0">
              <a:buNone/>
            </a:pPr>
            <a:r>
              <a:rPr lang="en-US" sz="1200" b="1" dirty="0">
                <a:solidFill>
                  <a:srgbClr val="C9A96E"/>
                </a:solidFill>
                <a:latin typeface="Yu Gothic" pitchFamily="34" charset="0"/>
                <a:ea typeface="Yu Gothic" pitchFamily="34" charset="-122"/>
                <a:cs typeface="Yu Gothic" pitchFamily="34" charset="-120"/>
              </a:rPr>
              <a:t> 億円</a:t>
            </a:r>
            <a:endParaRPr lang="en-US" sz="2800" dirty="0"/>
          </a:p>
        </p:txBody>
      </p:sp>
      <p:sp>
        <p:nvSpPr>
          <p:cNvPr id="10" name="Text 8"/>
          <p:cNvSpPr/>
          <p:nvPr/>
        </p:nvSpPr>
        <p:spPr>
          <a:xfrm>
            <a:off x="896112" y="2487168"/>
            <a:ext cx="2966618"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総額の60%（ワイン現物）</a:t>
            </a:r>
            <a:endParaRPr lang="en-US" sz="950" dirty="0"/>
          </a:p>
        </p:txBody>
      </p:sp>
      <p:sp>
        <p:nvSpPr>
          <p:cNvPr id="11" name="Text 9"/>
          <p:cNvSpPr/>
          <p:nvPr/>
        </p:nvSpPr>
        <p:spPr>
          <a:xfrm>
            <a:off x="896112" y="2706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・自己勘定のワイン現物を拠出</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・現金の拠出ではない</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・利益は持分60%を受け取る</a:t>
            </a:r>
            <a:endParaRPr lang="en-US" sz="900" dirty="0"/>
          </a:p>
        </p:txBody>
      </p:sp>
      <p:sp>
        <p:nvSpPr>
          <p:cNvPr id="12" name="Shape 10"/>
          <p:cNvSpPr/>
          <p:nvPr/>
        </p:nvSpPr>
        <p:spPr>
          <a:xfrm>
            <a:off x="4374794" y="1627632"/>
            <a:ext cx="3442106" cy="1700784"/>
          </a:xfrm>
          <a:prstGeom prst="roundRect">
            <a:avLst>
              <a:gd name="adj" fmla="val 2419"/>
            </a:avLst>
          </a:prstGeom>
          <a:solidFill>
            <a:srgbClr val="1F1D19"/>
          </a:solidFill>
          <a:ln w="9525">
            <a:solidFill>
              <a:srgbClr val="6E5730"/>
            </a:solidFill>
            <a:prstDash val="solid"/>
          </a:ln>
        </p:spPr>
      </p:sp>
      <p:sp>
        <p:nvSpPr>
          <p:cNvPr id="13" name="Text 11"/>
          <p:cNvSpPr/>
          <p:nvPr/>
        </p:nvSpPr>
        <p:spPr>
          <a:xfrm>
            <a:off x="4612538" y="1773936"/>
            <a:ext cx="2966618"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出資｜投資家</a:t>
            </a:r>
            <a:endParaRPr lang="en-US" sz="1150" dirty="0"/>
          </a:p>
        </p:txBody>
      </p:sp>
      <p:sp>
        <p:nvSpPr>
          <p:cNvPr id="14" name="Text 12"/>
          <p:cNvSpPr/>
          <p:nvPr/>
        </p:nvSpPr>
        <p:spPr>
          <a:xfrm>
            <a:off x="4612538" y="2029968"/>
            <a:ext cx="2966618" cy="420624"/>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2.0</a:t>
            </a:r>
            <a:pPr indent="0" marL="0">
              <a:buNone/>
            </a:pPr>
            <a:r>
              <a:rPr lang="en-US" sz="1200" b="1" dirty="0">
                <a:solidFill>
                  <a:srgbClr val="C9A96E"/>
                </a:solidFill>
                <a:latin typeface="Yu Gothic" pitchFamily="34" charset="0"/>
                <a:ea typeface="Yu Gothic" pitchFamily="34" charset="-122"/>
                <a:cs typeface="Yu Gothic" pitchFamily="34" charset="-120"/>
              </a:rPr>
              <a:t> 億円</a:t>
            </a:r>
            <a:endParaRPr lang="en-US" sz="2800" dirty="0"/>
          </a:p>
        </p:txBody>
      </p:sp>
      <p:sp>
        <p:nvSpPr>
          <p:cNvPr id="15" name="Text 13"/>
          <p:cNvSpPr/>
          <p:nvPr/>
        </p:nvSpPr>
        <p:spPr>
          <a:xfrm>
            <a:off x="4612538" y="2487168"/>
            <a:ext cx="2966618"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SPC税前利益の40%を受領</a:t>
            </a:r>
            <a:endParaRPr lang="en-US" sz="950" dirty="0"/>
          </a:p>
        </p:txBody>
      </p:sp>
      <p:sp>
        <p:nvSpPr>
          <p:cNvPr id="16" name="Text 14"/>
          <p:cNvSpPr/>
          <p:nvPr/>
        </p:nvSpPr>
        <p:spPr>
          <a:xfrm>
            <a:off x="4612538" y="2706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・匿名組合出資（1口5,000万円以上）</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・満期に元本償還</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・年1回分配（4年目以降は解約可）</a:t>
            </a:r>
            <a:endParaRPr lang="en-US" sz="900" dirty="0"/>
          </a:p>
        </p:txBody>
      </p:sp>
      <p:sp>
        <p:nvSpPr>
          <p:cNvPr id="17" name="Shape 15"/>
          <p:cNvSpPr/>
          <p:nvPr/>
        </p:nvSpPr>
        <p:spPr>
          <a:xfrm>
            <a:off x="8091221" y="1627632"/>
            <a:ext cx="3442106" cy="1700784"/>
          </a:xfrm>
          <a:prstGeom prst="roundRect">
            <a:avLst>
              <a:gd name="adj" fmla="val 2419"/>
            </a:avLst>
          </a:prstGeom>
          <a:solidFill>
            <a:srgbClr val="171614"/>
          </a:solidFill>
          <a:ln w="9525">
            <a:solidFill>
              <a:srgbClr val="2E2A24"/>
            </a:solidFill>
            <a:prstDash val="solid"/>
          </a:ln>
        </p:spPr>
      </p:sp>
      <p:sp>
        <p:nvSpPr>
          <p:cNvPr id="18" name="Text 16"/>
          <p:cNvSpPr/>
          <p:nvPr/>
        </p:nvSpPr>
        <p:spPr>
          <a:xfrm>
            <a:off x="8328965" y="1773936"/>
            <a:ext cx="2966618"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WineBank受取</a:t>
            </a:r>
            <a:endParaRPr lang="en-US" sz="1150" dirty="0"/>
          </a:p>
        </p:txBody>
      </p:sp>
      <p:sp>
        <p:nvSpPr>
          <p:cNvPr id="19" name="Text 17"/>
          <p:cNvSpPr/>
          <p:nvPr/>
        </p:nvSpPr>
        <p:spPr>
          <a:xfrm>
            <a:off x="8328965" y="2029968"/>
            <a:ext cx="2966618" cy="420624"/>
          </a:xfrm>
          <a:prstGeom prst="rect">
            <a:avLst/>
          </a:prstGeom>
          <a:noFill/>
          <a:ln/>
        </p:spPr>
        <p:txBody>
          <a:bodyPr wrap="square" lIns="0" tIns="0" rIns="0" bIns="0" rtlCol="0" anchor="ctr"/>
          <a:lstStyle/>
          <a:p>
            <a:pPr indent="0" marL="0">
              <a:buNone/>
            </a:pPr>
            <a:r>
              <a:rPr lang="en-US" sz="2800" b="1" dirty="0">
                <a:solidFill>
                  <a:srgbClr val="C9A96E"/>
                </a:solidFill>
                <a:latin typeface="Cambria" pitchFamily="34" charset="0"/>
                <a:ea typeface="Cambria" pitchFamily="34" charset="-122"/>
                <a:cs typeface="Cambria" pitchFamily="34" charset="-120"/>
              </a:rPr>
              <a:t>145</a:t>
            </a:r>
            <a:pPr indent="0" marL="0">
              <a:buNone/>
            </a:pPr>
            <a:r>
              <a:rPr lang="en-US" sz="1200" b="1" dirty="0">
                <a:solidFill>
                  <a:srgbClr val="C9A96E"/>
                </a:solidFill>
                <a:latin typeface="Yu Gothic" pitchFamily="34" charset="0"/>
                <a:ea typeface="Yu Gothic" pitchFamily="34" charset="-122"/>
                <a:cs typeface="Yu Gothic" pitchFamily="34" charset="-120"/>
              </a:rPr>
              <a:t> 百万円</a:t>
            </a:r>
            <a:endParaRPr lang="en-US" sz="2800" dirty="0"/>
          </a:p>
        </p:txBody>
      </p:sp>
      <p:sp>
        <p:nvSpPr>
          <p:cNvPr id="20" name="Text 18"/>
          <p:cNvSpPr/>
          <p:nvPr/>
        </p:nvSpPr>
        <p:spPr>
          <a:xfrm>
            <a:off x="8328965" y="2487168"/>
            <a:ext cx="2966618"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持分60＋値入れ75＋管理報酬10（百万円）</a:t>
            </a:r>
            <a:endParaRPr lang="en-US" sz="950" dirty="0"/>
          </a:p>
        </p:txBody>
      </p:sp>
      <p:sp>
        <p:nvSpPr>
          <p:cNvPr id="21" name="Text 19"/>
          <p:cNvSpPr/>
          <p:nvPr/>
        </p:nvSpPr>
        <p:spPr>
          <a:xfrm>
            <a:off x="8328965" y="2706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・値入れは卸した時点で受領</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・出口の成功報酬はなし</a:t>
            </a:r>
            <a:endParaRPr lang="en-US" sz="900" dirty="0"/>
          </a:p>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・管理報酬は総額の年2%</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3419856"/>
          <a:ext cx="10874959" cy="914400"/>
        </p:xfrm>
        <a:graphic>
          <a:graphicData uri="http://schemas.openxmlformats.org/drawingml/2006/table">
            <a:tbl>
              <a:tblPr/>
              <a:tblGrid>
                <a:gridCol w="2798064"/>
                <a:gridCol w="1481328"/>
                <a:gridCol w="6592824"/>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金額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① WineBankの値入れ</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C9A96E"/>
                          </a:solidFill>
                          <a:latin typeface="Yu Gothic" pitchFamily="34" charset="0"/>
                          <a:ea typeface="Yu Gothic" pitchFamily="34" charset="-122"/>
                          <a:cs typeface="Yu Gothic" pitchFamily="34" charset="-120"/>
                        </a:rPr>
                        <a:t>75百万円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時価75.00から20.8%を控除した定価比59.38でSPCへ卸す。卸した時点で受領しSPCの費用には計上しない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② 年間税前利益（SPC）</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EFEBE3"/>
                          </a:solidFill>
                          <a:latin typeface="Yu Gothic" pitchFamily="34" charset="0"/>
                          <a:ea typeface="Yu Gothic" pitchFamily="34" charset="-122"/>
                          <a:cs typeface="Yu Gothic" pitchFamily="34" charset="-120"/>
                        </a:rPr>
                        <a:t>1.00億円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在庫回転12ヶ月・年間売上6.36億円。管理報酬10百万円を費用計上した後の金額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 投資家（出資比率40%）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40百万円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出資2億円に対し 投資家利回り 20.0%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　└ WineBank（出資比率60%）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60百万円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現物出資分に対する持分。成功報酬（折半）は取らない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③ 管理報酬</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10百万円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総額の年2%。売却時に取るのはこれのみ</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WineBank受取合計（①＋②の60%＋③）</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145百万円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現金の拠出はなく、ワイン現物の拠出と実務の遂行で受け取る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3" name="Shape 20"/>
          <p:cNvSpPr/>
          <p:nvPr/>
        </p:nvSpPr>
        <p:spPr>
          <a:xfrm>
            <a:off x="658368" y="5504688"/>
            <a:ext cx="10874959" cy="859536"/>
          </a:xfrm>
          <a:prstGeom prst="roundRect">
            <a:avLst>
              <a:gd name="adj" fmla="val 4787"/>
            </a:avLst>
          </a:prstGeom>
          <a:solidFill>
            <a:srgbClr val="1F1D19"/>
          </a:solidFill>
          <a:ln w="9525">
            <a:solidFill>
              <a:srgbClr val="6E5730"/>
            </a:solidFill>
            <a:prstDash val="solid"/>
          </a:ln>
        </p:spPr>
      </p:sp>
      <p:sp>
        <p:nvSpPr>
          <p:cNvPr id="24" name="Text 21"/>
          <p:cNvSpPr/>
          <p:nvPr/>
        </p:nvSpPr>
        <p:spPr>
          <a:xfrm>
            <a:off x="932688" y="5577840"/>
            <a:ext cx="5669280" cy="201168"/>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前回資料（原価卸＋折半）からの変更（回転12ヶ月）</a:t>
            </a:r>
            <a:endParaRPr lang="en-US" sz="1050" dirty="0"/>
          </a:p>
        </p:txBody>
      </p:sp>
      <p:sp>
        <p:nvSpPr>
          <p:cNvPr id="25" name="Text 22"/>
          <p:cNvSpPr/>
          <p:nvPr/>
        </p:nvSpPr>
        <p:spPr>
          <a:xfrm>
            <a:off x="932688" y="5797296"/>
            <a:ext cx="10326319"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① 前回：原価50.50で卸し出口で折半 </a:t>
            </a:r>
            <a:pPr indent="0" marL="0">
              <a:buNone/>
            </a:pPr>
            <a:r>
              <a:rPr lang="en-US" sz="1200" b="1" dirty="0">
                <a:solidFill>
                  <a:srgbClr val="EFEBE3"/>
                </a:solidFill>
                <a:latin typeface="Cambria" pitchFamily="34" charset="0"/>
                <a:ea typeface="Cambria" pitchFamily="34" charset="-122"/>
                <a:cs typeface="Cambria" pitchFamily="34" charset="-120"/>
              </a:rPr>
              <a:t>20.4%</a:t>
            </a:r>
            <a:pPr indent="0" marL="0">
              <a:buNone/>
            </a:pPr>
            <a:r>
              <a:rPr lang="en-US" sz="950" dirty="0">
                <a:solidFill>
                  <a:srgbClr val="9A938A"/>
                </a:solidFill>
                <a:latin typeface="Yu Gothic" pitchFamily="34" charset="0"/>
                <a:ea typeface="Yu Gothic" pitchFamily="34" charset="-122"/>
                <a:cs typeface="Yu Gothic" pitchFamily="34" charset="-120"/>
              </a:rPr>
              <a:t>　→　② 今回：時価▲20.8%＝59.38で卸し出口はプロラタ </a:t>
            </a:r>
            <a:pPr indent="0" marL="0">
              <a:buNone/>
            </a:pPr>
            <a:r>
              <a:rPr lang="en-US" sz="1200" b="1" dirty="0">
                <a:solidFill>
                  <a:srgbClr val="C9A96E"/>
                </a:solidFill>
                <a:latin typeface="Cambria" pitchFamily="34" charset="0"/>
                <a:ea typeface="Cambria" pitchFamily="34" charset="-122"/>
                <a:cs typeface="Cambria" pitchFamily="34" charset="-120"/>
              </a:rPr>
              <a:t>20.0%</a:t>
            </a:r>
            <a:endParaRPr lang="en-US" sz="950" dirty="0"/>
          </a:p>
        </p:txBody>
      </p:sp>
      <p:sp>
        <p:nvSpPr>
          <p:cNvPr id="26" name="Text 23"/>
          <p:cNvSpPr/>
          <p:nvPr/>
        </p:nvSpPr>
        <p:spPr>
          <a:xfrm>
            <a:off x="932688" y="6035040"/>
            <a:ext cx="10326319" cy="219456"/>
          </a:xfrm>
          <a:prstGeom prst="rect">
            <a:avLst/>
          </a:prstGeom>
          <a:noFill/>
          <a:ln/>
        </p:spPr>
        <p:txBody>
          <a:bodyPr wrap="square" lIns="0" tIns="0" rIns="0" bIns="0" rtlCol="0" anchor="ctr"/>
          <a:lstStyle/>
          <a:p>
            <a:pPr indent="0" marL="0">
              <a:buNone/>
            </a:pPr>
            <a:r>
              <a:rPr lang="en-US" sz="800" dirty="0">
                <a:solidFill>
                  <a:srgbClr val="6E675E"/>
                </a:solidFill>
                <a:latin typeface="Yu Gothic" pitchFamily="34" charset="0"/>
                <a:ea typeface="Yu Gothic" pitchFamily="34" charset="-122"/>
                <a:cs typeface="Yu Gothic" pitchFamily="34" charset="-120"/>
              </a:rPr>
              <a:t>※ 投資家の利回りはほぼ同水準を保ったまま、報酬体系が「出口の折半」から「卸す時点の値入れ」へ移る。折半の定義が不要になり、投資家の取分は「SPC税前利益×出資比率40%」だけで決まる。なおSPC簿価が50.50→59.38へ上がるため、同じ5億円で持てるワインは定価換算で約15%少なくなる。</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STAGED CLOSING</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段階クローズ：5億円から始め、年度内に10億円へ</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同じ資本構成（WineBank現物出資60%＋投資家出資40%）と同じ卸値ルールのまま、規模だけを拡大する。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03</a:t>
            </a:r>
            <a:endParaRPr lang="en-US" sz="950" dirty="0"/>
          </a:p>
        </p:txBody>
      </p:sp>
      <p:sp>
        <p:nvSpPr>
          <p:cNvPr id="7" name="Shape 5"/>
          <p:cNvSpPr/>
          <p:nvPr/>
        </p:nvSpPr>
        <p:spPr>
          <a:xfrm>
            <a:off x="658368" y="1627632"/>
            <a:ext cx="5291176" cy="1810512"/>
          </a:xfrm>
          <a:prstGeom prst="roundRect">
            <a:avLst>
              <a:gd name="adj" fmla="val 2273"/>
            </a:avLst>
          </a:prstGeom>
          <a:solidFill>
            <a:srgbClr val="1F1D19"/>
          </a:solidFill>
          <a:ln w="9525">
            <a:solidFill>
              <a:srgbClr val="6E5730"/>
            </a:solidFill>
            <a:prstDash val="solid"/>
          </a:ln>
        </p:spPr>
      </p:sp>
      <p:sp>
        <p:nvSpPr>
          <p:cNvPr id="8" name="Text 6"/>
          <p:cNvSpPr/>
          <p:nvPr/>
        </p:nvSpPr>
        <p:spPr>
          <a:xfrm>
            <a:off x="914400" y="1773936"/>
            <a:ext cx="4779112" cy="201168"/>
          </a:xfrm>
          <a:prstGeom prst="rect">
            <a:avLst/>
          </a:prstGeom>
          <a:noFill/>
          <a:ln/>
        </p:spPr>
        <p:txBody>
          <a:bodyPr wrap="square" lIns="0" tIns="0" rIns="0" bIns="0" rtlCol="0" anchor="ctr"/>
          <a:lstStyle/>
          <a:p>
            <a:pPr indent="0" marL="0">
              <a:buNone/>
            </a:pPr>
            <a:r>
              <a:rPr lang="en-US" sz="950" b="1" spc="240" kern="0" dirty="0">
                <a:solidFill>
                  <a:srgbClr val="A78450"/>
                </a:solidFill>
                <a:latin typeface="Cambria" pitchFamily="34" charset="0"/>
                <a:ea typeface="Cambria" pitchFamily="34" charset="-122"/>
                <a:cs typeface="Cambria" pitchFamily="34" charset="-120"/>
              </a:rPr>
              <a:t>FIRST CLOSE</a:t>
            </a:r>
            <a:endParaRPr lang="en-US" sz="950" dirty="0"/>
          </a:p>
        </p:txBody>
      </p:sp>
      <p:sp>
        <p:nvSpPr>
          <p:cNvPr id="9" name="Text 7"/>
          <p:cNvSpPr/>
          <p:nvPr/>
        </p:nvSpPr>
        <p:spPr>
          <a:xfrm>
            <a:off x="914400" y="1975104"/>
            <a:ext cx="4779112"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ファーストクローズ</a:t>
            </a:r>
            <a:endParaRPr lang="en-US" sz="1250" dirty="0"/>
          </a:p>
        </p:txBody>
      </p:sp>
      <p:sp>
        <p:nvSpPr>
          <p:cNvPr id="10" name="Text 8"/>
          <p:cNvSpPr/>
          <p:nvPr/>
        </p:nvSpPr>
        <p:spPr>
          <a:xfrm>
            <a:off x="914400" y="2286000"/>
            <a:ext cx="4779112" cy="438912"/>
          </a:xfrm>
          <a:prstGeom prst="rect">
            <a:avLst/>
          </a:prstGeom>
          <a:noFill/>
          <a:ln/>
        </p:spPr>
        <p:txBody>
          <a:bodyPr wrap="square" lIns="0" tIns="0" rIns="0" bIns="0" rtlCol="0" anchor="ctr"/>
          <a:lstStyle/>
          <a:p>
            <a:pPr indent="0" marL="0">
              <a:buNone/>
            </a:pPr>
            <a:r>
              <a:rPr lang="en-US" sz="1100" dirty="0">
                <a:solidFill>
                  <a:srgbClr val="9A938A"/>
                </a:solidFill>
                <a:latin typeface="Yu Gothic" pitchFamily="34" charset="0"/>
                <a:ea typeface="Yu Gothic" pitchFamily="34" charset="-122"/>
                <a:cs typeface="Yu Gothic" pitchFamily="34" charset="-120"/>
              </a:rPr>
              <a:t>総額 </a:t>
            </a:r>
            <a:pPr indent="0" marL="0">
              <a:buNone/>
            </a:pPr>
            <a:r>
              <a:rPr lang="en-US" sz="2600" b="1" dirty="0">
                <a:solidFill>
                  <a:srgbClr val="C9A96E"/>
                </a:solidFill>
                <a:latin typeface="Cambria" pitchFamily="34" charset="0"/>
                <a:ea typeface="Cambria" pitchFamily="34" charset="-122"/>
                <a:cs typeface="Cambria" pitchFamily="34" charset="-120"/>
              </a:rPr>
              <a:t>5億円</a:t>
            </a:r>
            <a:pPr indent="0" marL="0">
              <a:buNone/>
            </a:pPr>
            <a:r>
              <a:rPr lang="en-US" sz="1100" dirty="0">
                <a:solidFill>
                  <a:srgbClr val="EFEBE3"/>
                </a:solidFill>
                <a:latin typeface="Yu Gothic" pitchFamily="34" charset="0"/>
                <a:ea typeface="Yu Gothic" pitchFamily="34" charset="-122"/>
                <a:cs typeface="Yu Gothic" pitchFamily="34" charset="-120"/>
              </a:rPr>
              <a:t>　＝　WineBank現物 3億円 ＋ 投資家 2億円</a:t>
            </a:r>
            <a:endParaRPr lang="en-US" sz="1100" dirty="0"/>
          </a:p>
        </p:txBody>
      </p:sp>
      <p:sp>
        <p:nvSpPr>
          <p:cNvPr id="11" name="Text 9"/>
          <p:cNvSpPr/>
          <p:nvPr/>
        </p:nvSpPr>
        <p:spPr>
          <a:xfrm>
            <a:off x="914400" y="2779776"/>
            <a:ext cx="4779112"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必要な年間販売額　6.36億円　／　投資家利回り　20.0%</a:t>
            </a:r>
            <a:endParaRPr lang="en-US" sz="1050" dirty="0"/>
          </a:p>
        </p:txBody>
      </p:sp>
      <p:sp>
        <p:nvSpPr>
          <p:cNvPr id="12" name="Text 10"/>
          <p:cNvSpPr/>
          <p:nvPr/>
        </p:nvSpPr>
        <p:spPr>
          <a:xfrm>
            <a:off x="914400" y="3035808"/>
            <a:ext cx="4779112" cy="310896"/>
          </a:xfrm>
          <a:prstGeom prst="rect">
            <a:avLst/>
          </a:prstGeom>
          <a:noFill/>
          <a:ln/>
        </p:spPr>
        <p:txBody>
          <a:bodyPr wrap="square" lIns="0" tIns="0" rIns="0" bIns="0" rtlCol="0" anchor="ctr"/>
          <a:lstStyle/>
          <a:p>
            <a:pPr indent="0" marL="0">
              <a:lnSpc>
                <a:spcPct val="118000"/>
              </a:lnSpc>
              <a:buNone/>
            </a:pPr>
            <a:r>
              <a:rPr lang="en-US" sz="950" dirty="0">
                <a:solidFill>
                  <a:srgbClr val="9A938A"/>
                </a:solidFill>
                <a:latin typeface="Yu Gothic" pitchFamily="34" charset="0"/>
                <a:ea typeface="Yu Gothic" pitchFamily="34" charset="-122"/>
                <a:cs typeface="Yu Gothic" pitchFamily="34" charset="-120"/>
              </a:rPr>
              <a:t>まず5億円で組成し、回転12ヶ月の実績を作る</a:t>
            </a:r>
            <a:endParaRPr lang="en-US" sz="950" dirty="0"/>
          </a:p>
        </p:txBody>
      </p:sp>
      <p:sp>
        <p:nvSpPr>
          <p:cNvPr id="13" name="Shape 11"/>
          <p:cNvSpPr/>
          <p:nvPr/>
        </p:nvSpPr>
        <p:spPr>
          <a:xfrm>
            <a:off x="6242152" y="1627632"/>
            <a:ext cx="5291176" cy="1810512"/>
          </a:xfrm>
          <a:prstGeom prst="roundRect">
            <a:avLst>
              <a:gd name="adj" fmla="val 2273"/>
            </a:avLst>
          </a:prstGeom>
          <a:solidFill>
            <a:srgbClr val="171614"/>
          </a:solidFill>
          <a:ln w="9525">
            <a:solidFill>
              <a:srgbClr val="2E2A24"/>
            </a:solidFill>
            <a:prstDash val="solid"/>
          </a:ln>
        </p:spPr>
      </p:sp>
      <p:sp>
        <p:nvSpPr>
          <p:cNvPr id="14" name="Text 12"/>
          <p:cNvSpPr/>
          <p:nvPr/>
        </p:nvSpPr>
        <p:spPr>
          <a:xfrm>
            <a:off x="6498184" y="1773936"/>
            <a:ext cx="4779112" cy="201168"/>
          </a:xfrm>
          <a:prstGeom prst="rect">
            <a:avLst/>
          </a:prstGeom>
          <a:noFill/>
          <a:ln/>
        </p:spPr>
        <p:txBody>
          <a:bodyPr wrap="square" lIns="0" tIns="0" rIns="0" bIns="0" rtlCol="0" anchor="ctr"/>
          <a:lstStyle/>
          <a:p>
            <a:pPr indent="0" marL="0">
              <a:buNone/>
            </a:pPr>
            <a:r>
              <a:rPr lang="en-US" sz="950" b="1" spc="240" kern="0" dirty="0">
                <a:solidFill>
                  <a:srgbClr val="A78450"/>
                </a:solidFill>
                <a:latin typeface="Cambria" pitchFamily="34" charset="0"/>
                <a:ea typeface="Cambria" pitchFamily="34" charset="-122"/>
                <a:cs typeface="Cambria" pitchFamily="34" charset="-120"/>
              </a:rPr>
              <a:t>SECOND CLOSE</a:t>
            </a:r>
            <a:endParaRPr lang="en-US" sz="950" dirty="0"/>
          </a:p>
        </p:txBody>
      </p:sp>
      <p:sp>
        <p:nvSpPr>
          <p:cNvPr id="15" name="Text 13"/>
          <p:cNvSpPr/>
          <p:nvPr/>
        </p:nvSpPr>
        <p:spPr>
          <a:xfrm>
            <a:off x="6498184" y="1975104"/>
            <a:ext cx="4779112"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セカンドクローズ（年度内）</a:t>
            </a:r>
            <a:endParaRPr lang="en-US" sz="1250" dirty="0"/>
          </a:p>
        </p:txBody>
      </p:sp>
      <p:sp>
        <p:nvSpPr>
          <p:cNvPr id="16" name="Text 14"/>
          <p:cNvSpPr/>
          <p:nvPr/>
        </p:nvSpPr>
        <p:spPr>
          <a:xfrm>
            <a:off x="6498184" y="2286000"/>
            <a:ext cx="4779112" cy="438912"/>
          </a:xfrm>
          <a:prstGeom prst="rect">
            <a:avLst/>
          </a:prstGeom>
          <a:noFill/>
          <a:ln/>
        </p:spPr>
        <p:txBody>
          <a:bodyPr wrap="square" lIns="0" tIns="0" rIns="0" bIns="0" rtlCol="0" anchor="ctr"/>
          <a:lstStyle/>
          <a:p>
            <a:pPr indent="0" marL="0">
              <a:buNone/>
            </a:pPr>
            <a:r>
              <a:rPr lang="en-US" sz="1100" dirty="0">
                <a:solidFill>
                  <a:srgbClr val="9A938A"/>
                </a:solidFill>
                <a:latin typeface="Yu Gothic" pitchFamily="34" charset="0"/>
                <a:ea typeface="Yu Gothic" pitchFamily="34" charset="-122"/>
                <a:cs typeface="Yu Gothic" pitchFamily="34" charset="-120"/>
              </a:rPr>
              <a:t>総額 </a:t>
            </a:r>
            <a:pPr indent="0" marL="0">
              <a:buNone/>
            </a:pPr>
            <a:r>
              <a:rPr lang="en-US" sz="2600" b="1" dirty="0">
                <a:solidFill>
                  <a:srgbClr val="C9A96E"/>
                </a:solidFill>
                <a:latin typeface="Cambria" pitchFamily="34" charset="0"/>
                <a:ea typeface="Cambria" pitchFamily="34" charset="-122"/>
                <a:cs typeface="Cambria" pitchFamily="34" charset="-120"/>
              </a:rPr>
              <a:t>10億円</a:t>
            </a:r>
            <a:pPr indent="0" marL="0">
              <a:buNone/>
            </a:pPr>
            <a:r>
              <a:rPr lang="en-US" sz="1100" dirty="0">
                <a:solidFill>
                  <a:srgbClr val="EFEBE3"/>
                </a:solidFill>
                <a:latin typeface="Yu Gothic" pitchFamily="34" charset="0"/>
                <a:ea typeface="Yu Gothic" pitchFamily="34" charset="-122"/>
                <a:cs typeface="Yu Gothic" pitchFamily="34" charset="-120"/>
              </a:rPr>
              <a:t>　＝　WineBank現物 6億円 ＋ 投資家 4億円</a:t>
            </a:r>
            <a:endParaRPr lang="en-US" sz="1100" dirty="0"/>
          </a:p>
        </p:txBody>
      </p:sp>
      <p:sp>
        <p:nvSpPr>
          <p:cNvPr id="17" name="Text 15"/>
          <p:cNvSpPr/>
          <p:nvPr/>
        </p:nvSpPr>
        <p:spPr>
          <a:xfrm>
            <a:off x="6498184" y="2779776"/>
            <a:ext cx="4779112"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必要な年間販売額　12.72億円　／　投資家利回り　20.3%</a:t>
            </a:r>
            <a:endParaRPr lang="en-US" sz="1050" dirty="0"/>
          </a:p>
        </p:txBody>
      </p:sp>
      <p:sp>
        <p:nvSpPr>
          <p:cNvPr id="18" name="Text 16"/>
          <p:cNvSpPr/>
          <p:nvPr/>
        </p:nvSpPr>
        <p:spPr>
          <a:xfrm>
            <a:off x="6498184" y="3035808"/>
            <a:ext cx="4779112" cy="310896"/>
          </a:xfrm>
          <a:prstGeom prst="rect">
            <a:avLst/>
          </a:prstGeom>
          <a:noFill/>
          <a:ln/>
        </p:spPr>
        <p:txBody>
          <a:bodyPr wrap="square" lIns="0" tIns="0" rIns="0" bIns="0" rtlCol="0" anchor="ctr"/>
          <a:lstStyle/>
          <a:p>
            <a:pPr indent="0" marL="0">
              <a:lnSpc>
                <a:spcPct val="118000"/>
              </a:lnSpc>
              <a:buNone/>
            </a:pPr>
            <a:r>
              <a:rPr lang="en-US" sz="950" dirty="0">
                <a:solidFill>
                  <a:srgbClr val="9A938A"/>
                </a:solidFill>
                <a:latin typeface="Yu Gothic" pitchFamily="34" charset="0"/>
                <a:ea typeface="Yu Gothic" pitchFamily="34" charset="-122"/>
                <a:cs typeface="Yu Gothic" pitchFamily="34" charset="-120"/>
              </a:rPr>
              <a:t>販売実力の拡大を確認したうえで倍増する</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8368" y="3566160"/>
          <a:ext cx="10874959" cy="914400"/>
        </p:xfrm>
        <a:graphic>
          <a:graphicData uri="http://schemas.openxmlformats.org/drawingml/2006/table">
            <a:tbl>
              <a:tblPr/>
              <a:tblGrid>
                <a:gridCol w="2395728"/>
                <a:gridCol w="1920240"/>
                <a:gridCol w="1920240"/>
                <a:gridCol w="4636008"/>
              </a:tblGrid>
              <a:tr h="217627">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ファーストクローズ</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セカンドクローズ</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総額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5億円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資本構成の比率と卸値ルールは同一</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WineBank現物出資（60%）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3億円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6億円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自己勘定のワイン現物を拠出</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投資家出資（40%）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1口5,000万円以上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必要な年間販売額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C9A96E"/>
                          </a:solidFill>
                          <a:latin typeface="Yu Gothic" pitchFamily="34" charset="0"/>
                          <a:ea typeface="Yu Gothic" pitchFamily="34" charset="-122"/>
                          <a:cs typeface="Yu Gothic" pitchFamily="34" charset="-120"/>
                        </a:rPr>
                        <a:t>6.36億円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B4553F"/>
                          </a:solidFill>
                          <a:latin typeface="Yu Gothic" pitchFamily="34" charset="0"/>
                          <a:ea typeface="Yu Gothic" pitchFamily="34" charset="-122"/>
                          <a:cs typeface="Yu Gothic" pitchFamily="34" charset="-120"/>
                        </a:rPr>
                        <a:t>12.72億円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回転12ヶ月を実現するために必要な販売額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年間税前利益（SPC）</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1.00億円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2.03億円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管理報酬控除後</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投資家取分（出資比率40%）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40百万円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81百万円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プロラタ配分。成功報酬は控除しない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投資家利回り（定常年間）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20.0%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20.3%</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規模拡大で固定費が薄まりわずかに改善する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5年通算 年平均利回り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15.5%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15.8%</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仕入展開6ヶ月の立ち上がりを含む</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WineBank受取</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145百万円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292百万円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値入れ＋持分＋管理報酬</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17627">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20%の分岐点</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回転12.0ヶ月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回転12.2ヶ月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これを超えると貴社基準を下回る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0" name="Shape 17"/>
          <p:cNvSpPr/>
          <p:nvPr/>
        </p:nvSpPr>
        <p:spPr>
          <a:xfrm>
            <a:off x="658368" y="5815584"/>
            <a:ext cx="10874959" cy="566928"/>
          </a:xfrm>
          <a:prstGeom prst="roundRect">
            <a:avLst>
              <a:gd name="adj" fmla="val 7258"/>
            </a:avLst>
          </a:prstGeom>
          <a:solidFill>
            <a:srgbClr val="1F1D19"/>
          </a:solidFill>
          <a:ln w="9525">
            <a:solidFill>
              <a:srgbClr val="6E5730"/>
            </a:solidFill>
            <a:prstDash val="solid"/>
          </a:ln>
        </p:spPr>
      </p:sp>
      <p:sp>
        <p:nvSpPr>
          <p:cNvPr id="21" name="Text 18"/>
          <p:cNvSpPr/>
          <p:nvPr/>
        </p:nvSpPr>
        <p:spPr>
          <a:xfrm>
            <a:off x="932688" y="5888736"/>
            <a:ext cx="10326319" cy="420624"/>
          </a:xfrm>
          <a:prstGeom prst="rect">
            <a:avLst/>
          </a:prstGeom>
          <a:noFill/>
          <a:ln/>
        </p:spPr>
        <p:txBody>
          <a:bodyPr wrap="square" lIns="0" tIns="0" rIns="0" bIns="0" rtlCol="0" anchor="ctr"/>
          <a:lstStyle/>
          <a:p>
            <a:pPr indent="0" marL="0">
              <a:lnSpc>
                <a:spcPct val="118000"/>
              </a:lnSpc>
              <a:buNone/>
            </a:pPr>
            <a:r>
              <a:rPr lang="en-US" sz="1000" b="1" dirty="0">
                <a:solidFill>
                  <a:srgbClr val="C9A96E"/>
                </a:solidFill>
                <a:latin typeface="Yu Gothic" pitchFamily="34" charset="0"/>
                <a:ea typeface="Yu Gothic" pitchFamily="34" charset="-122"/>
                <a:cs typeface="Yu Gothic" pitchFamily="34" charset="-120"/>
              </a:rPr>
              <a:t>セカンドクローズの判断基準：</a:t>
            </a:r>
            <a:pPr indent="0" marL="0">
              <a:lnSpc>
                <a:spcPct val="118000"/>
              </a:lnSpc>
              <a:buNone/>
            </a:pPr>
            <a:r>
              <a:rPr lang="en-US" sz="950" dirty="0">
                <a:solidFill>
                  <a:srgbClr val="EFEBE3"/>
                </a:solidFill>
                <a:latin typeface="Yu Gothic" pitchFamily="34" charset="0"/>
                <a:ea typeface="Yu Gothic" pitchFamily="34" charset="-122"/>
                <a:cs typeface="Yu Gothic" pitchFamily="34" charset="-120"/>
              </a:rPr>
              <a:t>規模を倍にすると必要な年間販売額も 6.36億円 → 12.72億円 と倍増する。これは現状の販売実力（年5〜7億円）を大きく超える水準であり、規模拡大は販売実力の拡大とセットでなければ回転12ヶ月を維持できない。セカンドクローズはファーストクローズの回転実績を確認したうえで判断する。</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SALES PLAN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在庫回転12ヶ月をどう実現するか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ファーストクローズでは回転12ヶ月に年間6.36億円の販売が必要となる。組入銘柄の選定を主たる手段とし、配分ルールと販路拡大で補う。</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04</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 y="1645920"/>
          <a:ext cx="10874959" cy="914400"/>
        </p:xfrm>
        <a:graphic>
          <a:graphicData uri="http://schemas.openxmlformats.org/drawingml/2006/table">
            <a:tbl>
              <a:tblPr/>
              <a:tblGrid>
                <a:gridCol w="1591056"/>
                <a:gridCol w="1572768"/>
                <a:gridCol w="1316736"/>
                <a:gridCol w="1481328"/>
                <a:gridCol w="1298448"/>
                <a:gridCol w="1572768"/>
                <a:gridCol w="2039112"/>
              </a:tblGrid>
              <a:tr h="384048">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必要な年間販売額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WineBank受取</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位置づけ</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9ヶ月（最短）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8.36億円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1.28億円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51百万円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25.7%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187百万円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販路拡大が実現した場合の上限</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6.36億円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1.00億円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40百万円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20.0%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145百万円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貴社基準20%を満たす水準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5.16億円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0.83億円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33百万円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16.6%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120百万円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B4553F"/>
                          </a:solidFill>
                          <a:latin typeface="Yu Gothic" pitchFamily="34" charset="0"/>
                          <a:ea typeface="Yu Gothic" pitchFamily="34" charset="-122"/>
                          <a:cs typeface="Yu Gothic" pitchFamily="34" charset="-120"/>
                        </a:rPr>
                        <a:t>20%を下回る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84048">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4.37億円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0.72億円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29百万円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14.4%</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103百万円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B4553F"/>
                          </a:solidFill>
                          <a:latin typeface="Yu Gothic" pitchFamily="34" charset="0"/>
                          <a:ea typeface="Yu Gothic" pitchFamily="34" charset="-122"/>
                          <a:cs typeface="Yu Gothic" pitchFamily="34" charset="-120"/>
                        </a:rPr>
                        <a:t>20%を下回る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49040"/>
            <a:ext cx="3454298" cy="1847088"/>
          </a:xfrm>
          <a:prstGeom prst="roundRect">
            <a:avLst>
              <a:gd name="adj" fmla="val 2228"/>
            </a:avLst>
          </a:prstGeom>
          <a:solidFill>
            <a:srgbClr val="1F1D19"/>
          </a:solidFill>
          <a:ln w="9525">
            <a:solidFill>
              <a:srgbClr val="6E5730"/>
            </a:solidFill>
            <a:prstDash val="solid"/>
          </a:ln>
        </p:spPr>
      </p:sp>
      <p:sp>
        <p:nvSpPr>
          <p:cNvPr id="9" name="Text 6"/>
          <p:cNvSpPr/>
          <p:nvPr/>
        </p:nvSpPr>
        <p:spPr>
          <a:xfrm>
            <a:off x="896112" y="3913632"/>
            <a:ext cx="2978810"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第一の手段</a:t>
            </a:r>
            <a:endParaRPr lang="en-US" sz="1100" dirty="0"/>
          </a:p>
        </p:txBody>
      </p:sp>
      <p:sp>
        <p:nvSpPr>
          <p:cNvPr id="10" name="Text 7"/>
          <p:cNvSpPr/>
          <p:nvPr/>
        </p:nvSpPr>
        <p:spPr>
          <a:xfrm>
            <a:off x="896112"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組入銘柄の選定</a:t>
            </a:r>
            <a:endParaRPr lang="en-US" sz="1700" dirty="0"/>
          </a:p>
        </p:txBody>
      </p:sp>
      <p:sp>
        <p:nvSpPr>
          <p:cNvPr id="11" name="Text 8"/>
          <p:cNvSpPr/>
          <p:nvPr/>
        </p:nvSpPr>
        <p:spPr>
          <a:xfrm>
            <a:off x="896112"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Liv-ex掲載の流動性上位銘柄など、回転の速い銘柄をSPCに組み入れる。何を持たせるかで回転期間の大半が決まるため、これが最も効く打ち手となる。WineBankの現物出資分についても同じ基準で拠出銘柄を選定する。</a:t>
            </a:r>
            <a:endParaRPr lang="en-US" sz="900" dirty="0"/>
          </a:p>
        </p:txBody>
      </p:sp>
      <p:sp>
        <p:nvSpPr>
          <p:cNvPr id="12" name="Shape 9"/>
          <p:cNvSpPr/>
          <p:nvPr/>
        </p:nvSpPr>
        <p:spPr>
          <a:xfrm>
            <a:off x="4368698" y="3749040"/>
            <a:ext cx="3454298" cy="1847088"/>
          </a:xfrm>
          <a:prstGeom prst="roundRect">
            <a:avLst>
              <a:gd name="adj" fmla="val 2228"/>
            </a:avLst>
          </a:prstGeom>
          <a:solidFill>
            <a:srgbClr val="171614"/>
          </a:solidFill>
          <a:ln w="9525">
            <a:solidFill>
              <a:srgbClr val="2E2A24"/>
            </a:solidFill>
            <a:prstDash val="solid"/>
          </a:ln>
        </p:spPr>
      </p:sp>
      <p:sp>
        <p:nvSpPr>
          <p:cNvPr id="13" name="Text 10"/>
          <p:cNvSpPr/>
          <p:nvPr/>
        </p:nvSpPr>
        <p:spPr>
          <a:xfrm>
            <a:off x="4606442" y="3913632"/>
            <a:ext cx="2978810"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第二の手段</a:t>
            </a:r>
            <a:endParaRPr lang="en-US" sz="1100" dirty="0"/>
          </a:p>
        </p:txBody>
      </p:sp>
      <p:sp>
        <p:nvSpPr>
          <p:cNvPr id="14" name="Text 11"/>
          <p:cNvSpPr/>
          <p:nvPr/>
        </p:nvSpPr>
        <p:spPr>
          <a:xfrm>
            <a:off x="4606442"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配分ルール</a:t>
            </a:r>
            <a:endParaRPr lang="en-US" sz="1700" dirty="0"/>
          </a:p>
        </p:txBody>
      </p:sp>
      <p:sp>
        <p:nvSpPr>
          <p:cNvPr id="15" name="Text 12"/>
          <p:cNvSpPr/>
          <p:nvPr/>
        </p:nvSpPr>
        <p:spPr>
          <a:xfrm>
            <a:off x="4606442"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自己勘定在庫と重複する銘柄は在庫比率でプロラタ配分し、判断を要する場合はSPC在庫を優先する。契約別紙として明文化する。</a:t>
            </a:r>
            <a:endParaRPr lang="en-US" sz="900" dirty="0"/>
          </a:p>
        </p:txBody>
      </p:sp>
      <p:sp>
        <p:nvSpPr>
          <p:cNvPr id="16" name="Shape 13"/>
          <p:cNvSpPr/>
          <p:nvPr/>
        </p:nvSpPr>
        <p:spPr>
          <a:xfrm>
            <a:off x="8079029" y="3749040"/>
            <a:ext cx="3454298" cy="1847088"/>
          </a:xfrm>
          <a:prstGeom prst="roundRect">
            <a:avLst>
              <a:gd name="adj" fmla="val 2228"/>
            </a:avLst>
          </a:prstGeom>
          <a:solidFill>
            <a:srgbClr val="171614"/>
          </a:solidFill>
          <a:ln w="9525">
            <a:solidFill>
              <a:srgbClr val="2E2A24"/>
            </a:solidFill>
            <a:prstDash val="solid"/>
          </a:ln>
        </p:spPr>
      </p:sp>
      <p:sp>
        <p:nvSpPr>
          <p:cNvPr id="17" name="Text 14"/>
          <p:cNvSpPr/>
          <p:nvPr/>
        </p:nvSpPr>
        <p:spPr>
          <a:xfrm>
            <a:off x="8316773" y="3913632"/>
            <a:ext cx="2978810"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第三の手段</a:t>
            </a:r>
            <a:endParaRPr lang="en-US" sz="1100" dirty="0"/>
          </a:p>
        </p:txBody>
      </p:sp>
      <p:sp>
        <p:nvSpPr>
          <p:cNvPr id="18" name="Text 15"/>
          <p:cNvSpPr/>
          <p:nvPr/>
        </p:nvSpPr>
        <p:spPr>
          <a:xfrm>
            <a:off x="8316773" y="4187952"/>
            <a:ext cx="2978810" cy="365760"/>
          </a:xfrm>
          <a:prstGeom prst="rect">
            <a:avLst/>
          </a:prstGeom>
          <a:noFill/>
          <a:ln/>
        </p:spPr>
        <p:txBody>
          <a:bodyPr wrap="square" lIns="0" tIns="0" rIns="0" bIns="0" rtlCol="0" anchor="ctr"/>
          <a:lstStyle/>
          <a:p>
            <a:pPr indent="0" marL="0">
              <a:buNone/>
            </a:pPr>
            <a:r>
              <a:rPr lang="en-US" sz="1700" b="1" dirty="0">
                <a:solidFill>
                  <a:srgbClr val="C9A96E"/>
                </a:solidFill>
                <a:latin typeface="Yu Gothic" pitchFamily="34" charset="0"/>
                <a:ea typeface="Yu Gothic" pitchFamily="34" charset="-122"/>
                <a:cs typeface="Yu Gothic" pitchFamily="34" charset="-120"/>
              </a:rPr>
              <a:t>販路の拡大</a:t>
            </a:r>
            <a:endParaRPr lang="en-US" sz="1700" dirty="0"/>
          </a:p>
        </p:txBody>
      </p:sp>
      <p:sp>
        <p:nvSpPr>
          <p:cNvPr id="19" name="Text 16"/>
          <p:cNvSpPr/>
          <p:nvPr/>
        </p:nvSpPr>
        <p:spPr>
          <a:xfrm>
            <a:off x="8316773" y="4608576"/>
            <a:ext cx="2978810" cy="896112"/>
          </a:xfrm>
          <a:prstGeom prst="rect">
            <a:avLst/>
          </a:prstGeom>
          <a:noFill/>
          <a:ln/>
        </p:spPr>
        <p:txBody>
          <a:bodyPr wrap="square" lIns="0" tIns="0" rIns="0" bIns="0" rtlCol="0" anchor="ctr"/>
          <a:lstStyle/>
          <a:p>
            <a:pPr indent="0" marL="0">
              <a:lnSpc>
                <a:spcPct val="124000"/>
              </a:lnSpc>
              <a:buNone/>
            </a:pPr>
            <a:r>
              <a:rPr lang="en-US" sz="900" dirty="0">
                <a:solidFill>
                  <a:srgbClr val="9A938A"/>
                </a:solidFill>
                <a:latin typeface="Yu Gothic" pitchFamily="34" charset="0"/>
                <a:ea typeface="Yu Gothic" pitchFamily="34" charset="-122"/>
                <a:cs typeface="Yu Gothic" pitchFamily="34" charset="-120"/>
              </a:rPr>
              <a:t>輸出入ライセンスを活かした海外販売、2026年9月開始のWineBank Auction、グループ飲食（アピシウス／ティエリーマルクス）。これらは出資金ではなくWineBank側の資本で手当てする。</a:t>
            </a:r>
            <a:endParaRPr lang="en-US" sz="900" dirty="0"/>
          </a:p>
        </p:txBody>
      </p:sp>
      <p:sp>
        <p:nvSpPr>
          <p:cNvPr id="20" name="Text 17"/>
          <p:cNvSpPr/>
          <p:nvPr/>
        </p:nvSpPr>
        <p:spPr>
          <a:xfrm>
            <a:off x="658368" y="5687568"/>
            <a:ext cx="10874959" cy="402336"/>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回転12ヶ月に必要な年間販売額6.36億円は、現状の販売実力（年5〜7億円）の範囲内にある。銘柄の大半はSPCと自己勘定で重複しないため配分の判断自体が生じず、回転期間は「何を組み入れるか」でほぼ決まる。重複銘柄の取扱いは在庫配分の公平性の頁を参照。投資家利回りが20%を割り込むのは回転が12.0ヶ月を超えた場合であり、主線12ヶ月に余裕はない。回転12ヶ月の達成が貴社基準を満たすための必須条件となる。</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ファンドスキーム</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WineBankが免許事業者として売買当事者となり、SPCは現物の所有者として損益を受ける。WineBankは総額の60%の出資者でもある。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05</a:t>
            </a:r>
            <a:endParaRPr lang="en-US" sz="950" dirty="0"/>
          </a:p>
        </p:txBody>
      </p:sp>
      <p:sp>
        <p:nvSpPr>
          <p:cNvPr id="7" name="Shape 5"/>
          <p:cNvSpPr/>
          <p:nvPr/>
        </p:nvSpPr>
        <p:spPr>
          <a:xfrm>
            <a:off x="658368" y="1700784"/>
            <a:ext cx="3246120" cy="1188720"/>
          </a:xfrm>
          <a:prstGeom prst="roundRect">
            <a:avLst>
              <a:gd name="adj" fmla="val 3462"/>
            </a:avLst>
          </a:prstGeom>
          <a:solidFill>
            <a:srgbClr val="171614"/>
          </a:solidFill>
          <a:ln w="9525">
            <a:solidFill>
              <a:srgbClr val="2E2A24"/>
            </a:solidFill>
            <a:prstDash val="solid"/>
          </a:ln>
        </p:spPr>
      </p:sp>
      <p:sp>
        <p:nvSpPr>
          <p:cNvPr id="8" name="Text 6"/>
          <p:cNvSpPr/>
          <p:nvPr/>
        </p:nvSpPr>
        <p:spPr>
          <a:xfrm>
            <a:off x="877824" y="1920240"/>
            <a:ext cx="2807208"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投資家（資産管理会社ほか）</a:t>
            </a:r>
            <a:endParaRPr lang="en-US" sz="1300" dirty="0"/>
          </a:p>
        </p:txBody>
      </p:sp>
      <p:sp>
        <p:nvSpPr>
          <p:cNvPr id="9" name="Text 7"/>
          <p:cNvSpPr/>
          <p:nvPr/>
        </p:nvSpPr>
        <p:spPr>
          <a:xfrm>
            <a:off x="877824" y="2231136"/>
            <a:ext cx="2807208" cy="237744"/>
          </a:xfrm>
          <a:prstGeom prst="rect">
            <a:avLst/>
          </a:prstGeom>
          <a:noFill/>
          <a:ln/>
        </p:spPr>
        <p:txBody>
          <a:bodyPr wrap="square" lIns="0" tIns="0" rIns="0" bIns="0" rtlCol="0" anchor="ctr"/>
          <a:lstStyle/>
          <a:p>
            <a:pPr indent="0" marL="0">
              <a:buNone/>
            </a:pPr>
            <a:r>
              <a:rPr lang="en-US" sz="1050" dirty="0">
                <a:solidFill>
                  <a:srgbClr val="C9A96E"/>
                </a:solidFill>
                <a:latin typeface="Yu Gothic" pitchFamily="34" charset="0"/>
                <a:ea typeface="Yu Gothic" pitchFamily="34" charset="-122"/>
                <a:cs typeface="Yu Gothic" pitchFamily="34" charset="-120"/>
              </a:rPr>
              <a:t>匿名組合出資（現金）　2億円</a:t>
            </a:r>
            <a:endParaRPr lang="en-US" sz="1050" dirty="0"/>
          </a:p>
        </p:txBody>
      </p:sp>
      <p:sp>
        <p:nvSpPr>
          <p:cNvPr id="10" name="Text 8"/>
          <p:cNvSpPr/>
          <p:nvPr/>
        </p:nvSpPr>
        <p:spPr>
          <a:xfrm>
            <a:off x="877824"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SPC税前利益の40%を年1回受領</a:t>
            </a:r>
            <a:endParaRPr lang="en-US" sz="950" dirty="0"/>
          </a:p>
        </p:txBody>
      </p:sp>
      <p:sp>
        <p:nvSpPr>
          <p:cNvPr id="11" name="Shape 9"/>
          <p:cNvSpPr/>
          <p:nvPr/>
        </p:nvSpPr>
        <p:spPr>
          <a:xfrm>
            <a:off x="4472788" y="1700784"/>
            <a:ext cx="3246120" cy="1188720"/>
          </a:xfrm>
          <a:prstGeom prst="roundRect">
            <a:avLst>
              <a:gd name="adj" fmla="val 3462"/>
            </a:avLst>
          </a:prstGeom>
          <a:solidFill>
            <a:srgbClr val="1F1D19"/>
          </a:solidFill>
          <a:ln w="9525">
            <a:solidFill>
              <a:srgbClr val="6E5730"/>
            </a:solidFill>
            <a:prstDash val="solid"/>
          </a:ln>
        </p:spPr>
      </p:sp>
      <p:sp>
        <p:nvSpPr>
          <p:cNvPr id="12" name="Text 10"/>
          <p:cNvSpPr/>
          <p:nvPr/>
        </p:nvSpPr>
        <p:spPr>
          <a:xfrm>
            <a:off x="4692244" y="1920240"/>
            <a:ext cx="2807208" cy="256032"/>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ワインファンドSPC</a:t>
            </a:r>
            <a:endParaRPr lang="en-US" sz="1300" dirty="0"/>
          </a:p>
        </p:txBody>
      </p:sp>
      <p:sp>
        <p:nvSpPr>
          <p:cNvPr id="13" name="Text 11"/>
          <p:cNvSpPr/>
          <p:nvPr/>
        </p:nvSpPr>
        <p:spPr>
          <a:xfrm>
            <a:off x="4692244" y="2231136"/>
            <a:ext cx="2807208" cy="237744"/>
          </a:xfrm>
          <a:prstGeom prst="rect">
            <a:avLst/>
          </a:prstGeom>
          <a:noFill/>
          <a:ln/>
        </p:spPr>
        <p:txBody>
          <a:bodyPr wrap="square" lIns="0" tIns="0" rIns="0" bIns="0" rtlCol="0" anchor="ctr"/>
          <a:lstStyle/>
          <a:p>
            <a:pPr indent="0" marL="0">
              <a:buNone/>
            </a:pPr>
            <a:r>
              <a:rPr lang="en-US" sz="1050" dirty="0">
                <a:solidFill>
                  <a:srgbClr val="EFEBE3"/>
                </a:solidFill>
                <a:latin typeface="Yu Gothic" pitchFamily="34" charset="0"/>
                <a:ea typeface="Yu Gothic" pitchFamily="34" charset="-122"/>
                <a:cs typeface="Yu Gothic" pitchFamily="34" charset="-120"/>
              </a:rPr>
              <a:t>合同会社＋匿名組合（GK-TK）</a:t>
            </a:r>
            <a:endParaRPr lang="en-US" sz="1050" dirty="0"/>
          </a:p>
        </p:txBody>
      </p:sp>
      <p:sp>
        <p:nvSpPr>
          <p:cNvPr id="14" name="Text 12"/>
          <p:cNvSpPr/>
          <p:nvPr/>
        </p:nvSpPr>
        <p:spPr>
          <a:xfrm>
            <a:off x="4692244"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簿価 定価比 59.38 でワインを保有</a:t>
            </a:r>
            <a:endParaRPr lang="en-US" sz="950" dirty="0"/>
          </a:p>
        </p:txBody>
      </p:sp>
      <p:sp>
        <p:nvSpPr>
          <p:cNvPr id="15" name="Shape 13"/>
          <p:cNvSpPr/>
          <p:nvPr/>
        </p:nvSpPr>
        <p:spPr>
          <a:xfrm>
            <a:off x="8287207" y="1700784"/>
            <a:ext cx="3246120" cy="1188720"/>
          </a:xfrm>
          <a:prstGeom prst="roundRect">
            <a:avLst>
              <a:gd name="adj" fmla="val 3462"/>
            </a:avLst>
          </a:prstGeom>
          <a:solidFill>
            <a:srgbClr val="171614"/>
          </a:solidFill>
          <a:ln w="9525">
            <a:solidFill>
              <a:srgbClr val="2E2A24"/>
            </a:solidFill>
            <a:prstDash val="solid"/>
          </a:ln>
        </p:spPr>
      </p:sp>
      <p:sp>
        <p:nvSpPr>
          <p:cNvPr id="16" name="Text 14"/>
          <p:cNvSpPr/>
          <p:nvPr/>
        </p:nvSpPr>
        <p:spPr>
          <a:xfrm>
            <a:off x="8506663" y="1920240"/>
            <a:ext cx="2807208" cy="256032"/>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株式会社WineBank</a:t>
            </a:r>
            <a:endParaRPr lang="en-US" sz="1300" dirty="0"/>
          </a:p>
        </p:txBody>
      </p:sp>
      <p:sp>
        <p:nvSpPr>
          <p:cNvPr id="17" name="Text 15"/>
          <p:cNvSpPr/>
          <p:nvPr/>
        </p:nvSpPr>
        <p:spPr>
          <a:xfrm>
            <a:off x="8506663" y="2231136"/>
            <a:ext cx="2807208" cy="237744"/>
          </a:xfrm>
          <a:prstGeom prst="rect">
            <a:avLst/>
          </a:prstGeom>
          <a:noFill/>
          <a:ln/>
        </p:spPr>
        <p:txBody>
          <a:bodyPr wrap="square" lIns="0" tIns="0" rIns="0" bIns="0" rtlCol="0" anchor="ctr"/>
          <a:lstStyle/>
          <a:p>
            <a:pPr indent="0" marL="0">
              <a:buNone/>
            </a:pPr>
            <a:r>
              <a:rPr lang="en-US" sz="1050" dirty="0">
                <a:solidFill>
                  <a:srgbClr val="C9A96E"/>
                </a:solidFill>
                <a:latin typeface="Yu Gothic" pitchFamily="34" charset="0"/>
                <a:ea typeface="Yu Gothic" pitchFamily="34" charset="-122"/>
                <a:cs typeface="Yu Gothic" pitchFamily="34" charset="-120"/>
              </a:rPr>
              <a:t>現物出資 3億円　＋　GP実行</a:t>
            </a:r>
            <a:endParaRPr lang="en-US" sz="1050" dirty="0"/>
          </a:p>
        </p:txBody>
      </p:sp>
      <p:sp>
        <p:nvSpPr>
          <p:cNvPr id="18" name="Text 16"/>
          <p:cNvSpPr/>
          <p:nvPr/>
        </p:nvSpPr>
        <p:spPr>
          <a:xfrm>
            <a:off x="8506663" y="2487168"/>
            <a:ext cx="2807208"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酒類販売業免許・取引口座を保有</a:t>
            </a:r>
            <a:endParaRPr lang="en-US" sz="950" dirty="0"/>
          </a:p>
        </p:txBody>
      </p:sp>
      <p:sp>
        <p:nvSpPr>
          <p:cNvPr id="19" name="Shape 17"/>
          <p:cNvSpPr/>
          <p:nvPr/>
        </p:nvSpPr>
        <p:spPr>
          <a:xfrm>
            <a:off x="3995928" y="2176272"/>
            <a:ext cx="385420" cy="237744"/>
          </a:xfrm>
          <a:prstGeom prst="rightArrow">
            <a:avLst/>
          </a:prstGeom>
          <a:solidFill>
            <a:srgbClr val="6E5730"/>
          </a:solidFill>
          <a:ln w="12700">
            <a:solidFill>
              <a:srgbClr val="6E5730"/>
            </a:solidFill>
            <a:prstDash val="solid"/>
          </a:ln>
        </p:spPr>
      </p:sp>
      <p:sp>
        <p:nvSpPr>
          <p:cNvPr id="20" name="Shape 18"/>
          <p:cNvSpPr/>
          <p:nvPr/>
        </p:nvSpPr>
        <p:spPr>
          <a:xfrm>
            <a:off x="7810348" y="2176272"/>
            <a:ext cx="385420" cy="237744"/>
          </a:xfrm>
          <a:prstGeom prst="leftArrow">
            <a:avLst/>
          </a:prstGeom>
          <a:solidFill>
            <a:srgbClr val="A78450"/>
          </a:solidFill>
          <a:ln w="12700">
            <a:solidFill>
              <a:srgbClr val="A78450"/>
            </a:solidFill>
            <a:prstDash val="solid"/>
          </a:ln>
        </p:spPr>
      </p:sp>
      <p:sp>
        <p:nvSpPr>
          <p:cNvPr id="21" name="Shape 19"/>
          <p:cNvSpPr/>
          <p:nvPr/>
        </p:nvSpPr>
        <p:spPr>
          <a:xfrm>
            <a:off x="658368" y="3291840"/>
            <a:ext cx="2526716" cy="1609344"/>
          </a:xfrm>
          <a:prstGeom prst="roundRect">
            <a:avLst>
              <a:gd name="adj" fmla="val 2557"/>
            </a:avLst>
          </a:prstGeom>
          <a:solidFill>
            <a:srgbClr val="171614"/>
          </a:solidFill>
          <a:ln w="9525">
            <a:solidFill>
              <a:srgbClr val="2E2A24"/>
            </a:solidFill>
            <a:prstDash val="solid"/>
          </a:ln>
        </p:spPr>
      </p:sp>
      <p:sp>
        <p:nvSpPr>
          <p:cNvPr id="22" name="Shape 20"/>
          <p:cNvSpPr/>
          <p:nvPr/>
        </p:nvSpPr>
        <p:spPr>
          <a:xfrm>
            <a:off x="877824" y="3493008"/>
            <a:ext cx="310896" cy="310896"/>
          </a:xfrm>
          <a:prstGeom prst="ellipse">
            <a:avLst/>
          </a:prstGeom>
          <a:solidFill>
            <a:srgbClr val="0C0C0C"/>
          </a:solidFill>
          <a:ln w="11430">
            <a:solidFill>
              <a:srgbClr val="A78450"/>
            </a:solidFill>
            <a:prstDash val="solid"/>
          </a:ln>
        </p:spPr>
      </p:sp>
      <p:sp>
        <p:nvSpPr>
          <p:cNvPr id="23" name="Text 21"/>
          <p:cNvSpPr/>
          <p:nvPr/>
        </p:nvSpPr>
        <p:spPr>
          <a:xfrm>
            <a:off x="877824"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24" name="Text 22"/>
          <p:cNvSpPr/>
          <p:nvPr/>
        </p:nvSpPr>
        <p:spPr>
          <a:xfrm>
            <a:off x="1280160"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調達</a:t>
            </a:r>
            <a:endParaRPr lang="en-US" sz="1200" dirty="0"/>
          </a:p>
        </p:txBody>
      </p:sp>
      <p:sp>
        <p:nvSpPr>
          <p:cNvPr id="25" name="Text 23"/>
          <p:cNvSpPr/>
          <p:nvPr/>
        </p:nvSpPr>
        <p:spPr>
          <a:xfrm>
            <a:off x="877824"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WineBankが自社の免許・取引口座でインポーター／酒販店から正規品を調達する</a:t>
            </a:r>
            <a:endParaRPr lang="en-US" sz="950" dirty="0"/>
          </a:p>
        </p:txBody>
      </p:sp>
      <p:sp>
        <p:nvSpPr>
          <p:cNvPr id="26" name="Text 24"/>
          <p:cNvSpPr/>
          <p:nvPr/>
        </p:nvSpPr>
        <p:spPr>
          <a:xfrm>
            <a:off x="877824"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市中原価 50.00</a:t>
            </a:r>
            <a:endParaRPr lang="en-US" sz="1000" dirty="0"/>
          </a:p>
        </p:txBody>
      </p:sp>
      <p:sp>
        <p:nvSpPr>
          <p:cNvPr id="27" name="Shape 25"/>
          <p:cNvSpPr/>
          <p:nvPr/>
        </p:nvSpPr>
        <p:spPr>
          <a:xfrm>
            <a:off x="3441116" y="3291840"/>
            <a:ext cx="2526716" cy="1609344"/>
          </a:xfrm>
          <a:prstGeom prst="roundRect">
            <a:avLst>
              <a:gd name="adj" fmla="val 2557"/>
            </a:avLst>
          </a:prstGeom>
          <a:solidFill>
            <a:srgbClr val="1F1D19"/>
          </a:solidFill>
          <a:ln w="9525">
            <a:solidFill>
              <a:srgbClr val="6E5730"/>
            </a:solidFill>
            <a:prstDash val="solid"/>
          </a:ln>
        </p:spPr>
      </p:sp>
      <p:sp>
        <p:nvSpPr>
          <p:cNvPr id="28" name="Shape 26"/>
          <p:cNvSpPr/>
          <p:nvPr/>
        </p:nvSpPr>
        <p:spPr>
          <a:xfrm>
            <a:off x="3660572" y="3493008"/>
            <a:ext cx="310896" cy="310896"/>
          </a:xfrm>
          <a:prstGeom prst="ellipse">
            <a:avLst/>
          </a:prstGeom>
          <a:solidFill>
            <a:srgbClr val="0C0C0C"/>
          </a:solidFill>
          <a:ln w="11430">
            <a:solidFill>
              <a:srgbClr val="A78450"/>
            </a:solidFill>
            <a:prstDash val="solid"/>
          </a:ln>
        </p:spPr>
      </p:sp>
      <p:sp>
        <p:nvSpPr>
          <p:cNvPr id="29" name="Text 27"/>
          <p:cNvSpPr/>
          <p:nvPr/>
        </p:nvSpPr>
        <p:spPr>
          <a:xfrm>
            <a:off x="3660572"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30" name="Text 28"/>
          <p:cNvSpPr/>
          <p:nvPr/>
        </p:nvSpPr>
        <p:spPr>
          <a:xfrm>
            <a:off x="4062908"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卸し</a:t>
            </a:r>
            <a:endParaRPr lang="en-US" sz="1200" dirty="0"/>
          </a:p>
        </p:txBody>
      </p:sp>
      <p:sp>
        <p:nvSpPr>
          <p:cNvPr id="31" name="Text 29"/>
          <p:cNvSpPr/>
          <p:nvPr/>
        </p:nvSpPr>
        <p:spPr>
          <a:xfrm>
            <a:off x="3660572"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時価75.00から20.8%を控除した価格でSPCへ卸す。WineBankの取り分はここで確定する</a:t>
            </a:r>
            <a:endParaRPr lang="en-US" sz="950" dirty="0"/>
          </a:p>
        </p:txBody>
      </p:sp>
      <p:sp>
        <p:nvSpPr>
          <p:cNvPr id="32" name="Text 30"/>
          <p:cNvSpPr/>
          <p:nvPr/>
        </p:nvSpPr>
        <p:spPr>
          <a:xfrm>
            <a:off x="3660572"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SPC簿価 59.38</a:t>
            </a:r>
            <a:endParaRPr lang="en-US" sz="1000" dirty="0"/>
          </a:p>
        </p:txBody>
      </p:sp>
      <p:sp>
        <p:nvSpPr>
          <p:cNvPr id="33" name="Shape 31"/>
          <p:cNvSpPr/>
          <p:nvPr/>
        </p:nvSpPr>
        <p:spPr>
          <a:xfrm>
            <a:off x="6223864" y="3291840"/>
            <a:ext cx="2526716" cy="1609344"/>
          </a:xfrm>
          <a:prstGeom prst="roundRect">
            <a:avLst>
              <a:gd name="adj" fmla="val 2557"/>
            </a:avLst>
          </a:prstGeom>
          <a:solidFill>
            <a:srgbClr val="171614"/>
          </a:solidFill>
          <a:ln w="9525">
            <a:solidFill>
              <a:srgbClr val="2E2A24"/>
            </a:solidFill>
            <a:prstDash val="solid"/>
          </a:ln>
        </p:spPr>
      </p:sp>
      <p:sp>
        <p:nvSpPr>
          <p:cNvPr id="34" name="Shape 32"/>
          <p:cNvSpPr/>
          <p:nvPr/>
        </p:nvSpPr>
        <p:spPr>
          <a:xfrm>
            <a:off x="6443320" y="3493008"/>
            <a:ext cx="310896" cy="310896"/>
          </a:xfrm>
          <a:prstGeom prst="ellipse">
            <a:avLst/>
          </a:prstGeom>
          <a:solidFill>
            <a:srgbClr val="0C0C0C"/>
          </a:solidFill>
          <a:ln w="11430">
            <a:solidFill>
              <a:srgbClr val="A78450"/>
            </a:solidFill>
            <a:prstDash val="solid"/>
          </a:ln>
        </p:spPr>
      </p:sp>
      <p:sp>
        <p:nvSpPr>
          <p:cNvPr id="35" name="Text 33"/>
          <p:cNvSpPr/>
          <p:nvPr/>
        </p:nvSpPr>
        <p:spPr>
          <a:xfrm>
            <a:off x="6443320"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36" name="Text 34"/>
          <p:cNvSpPr/>
          <p:nvPr/>
        </p:nvSpPr>
        <p:spPr>
          <a:xfrm>
            <a:off x="6845656"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保管・販売</a:t>
            </a:r>
            <a:endParaRPr lang="en-US" sz="1200" dirty="0"/>
          </a:p>
        </p:txBody>
      </p:sp>
      <p:sp>
        <p:nvSpPr>
          <p:cNvPr id="37" name="Text 35"/>
          <p:cNvSpPr/>
          <p:nvPr/>
        </p:nvSpPr>
        <p:spPr>
          <a:xfrm>
            <a:off x="6443320"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定温倉庫で保管（全量付保）。B2B酒販店卸とB2C自社EC・オークションの2系統で販売</a:t>
            </a:r>
            <a:endParaRPr lang="en-US" sz="950" dirty="0"/>
          </a:p>
        </p:txBody>
      </p:sp>
      <p:sp>
        <p:nvSpPr>
          <p:cNvPr id="38" name="Text 36"/>
          <p:cNvSpPr/>
          <p:nvPr/>
        </p:nvSpPr>
        <p:spPr>
          <a:xfrm>
            <a:off x="6443320"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定価比 70／80</a:t>
            </a:r>
            <a:endParaRPr lang="en-US" sz="1000" dirty="0"/>
          </a:p>
        </p:txBody>
      </p:sp>
      <p:sp>
        <p:nvSpPr>
          <p:cNvPr id="39" name="Shape 37"/>
          <p:cNvSpPr/>
          <p:nvPr/>
        </p:nvSpPr>
        <p:spPr>
          <a:xfrm>
            <a:off x="9006611" y="3291840"/>
            <a:ext cx="2526716" cy="1609344"/>
          </a:xfrm>
          <a:prstGeom prst="roundRect">
            <a:avLst>
              <a:gd name="adj" fmla="val 2557"/>
            </a:avLst>
          </a:prstGeom>
          <a:solidFill>
            <a:srgbClr val="171614"/>
          </a:solidFill>
          <a:ln w="9525">
            <a:solidFill>
              <a:srgbClr val="2E2A24"/>
            </a:solidFill>
            <a:prstDash val="solid"/>
          </a:ln>
        </p:spPr>
      </p:sp>
      <p:sp>
        <p:nvSpPr>
          <p:cNvPr id="40" name="Shape 38"/>
          <p:cNvSpPr/>
          <p:nvPr/>
        </p:nvSpPr>
        <p:spPr>
          <a:xfrm>
            <a:off x="9226067" y="3493008"/>
            <a:ext cx="310896" cy="310896"/>
          </a:xfrm>
          <a:prstGeom prst="ellipse">
            <a:avLst/>
          </a:prstGeom>
          <a:solidFill>
            <a:srgbClr val="0C0C0C"/>
          </a:solidFill>
          <a:ln w="11430">
            <a:solidFill>
              <a:srgbClr val="A78450"/>
            </a:solidFill>
            <a:prstDash val="solid"/>
          </a:ln>
        </p:spPr>
      </p:sp>
      <p:sp>
        <p:nvSpPr>
          <p:cNvPr id="41" name="Text 39"/>
          <p:cNvSpPr/>
          <p:nvPr/>
        </p:nvSpPr>
        <p:spPr>
          <a:xfrm>
            <a:off x="9226067" y="3493008"/>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42" name="Text 40"/>
          <p:cNvSpPr/>
          <p:nvPr/>
        </p:nvSpPr>
        <p:spPr>
          <a:xfrm>
            <a:off x="9628403" y="3511296"/>
            <a:ext cx="1685468"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分配</a:t>
            </a:r>
            <a:endParaRPr lang="en-US" sz="1200" dirty="0"/>
          </a:p>
        </p:txBody>
      </p:sp>
      <p:sp>
        <p:nvSpPr>
          <p:cNvPr id="43" name="Text 41"/>
          <p:cNvSpPr/>
          <p:nvPr/>
        </p:nvSpPr>
        <p:spPr>
          <a:xfrm>
            <a:off x="9226067" y="3931920"/>
            <a:ext cx="2087804" cy="603504"/>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SPC税前利益を出資比率どおり60：40で配分し年1回分配。成功報酬は取らない</a:t>
            </a:r>
            <a:endParaRPr lang="en-US" sz="950" dirty="0"/>
          </a:p>
        </p:txBody>
      </p:sp>
      <p:sp>
        <p:nvSpPr>
          <p:cNvPr id="44" name="Text 42"/>
          <p:cNvSpPr/>
          <p:nvPr/>
        </p:nvSpPr>
        <p:spPr>
          <a:xfrm>
            <a:off x="9226067" y="4572000"/>
            <a:ext cx="2087804" cy="219456"/>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WB60：投資家40</a:t>
            </a:r>
            <a:endParaRPr lang="en-US" sz="1000" dirty="0"/>
          </a:p>
        </p:txBody>
      </p:sp>
      <p:sp>
        <p:nvSpPr>
          <p:cNvPr id="45" name="Text 43"/>
          <p:cNvSpPr/>
          <p:nvPr/>
        </p:nvSpPr>
        <p:spPr>
          <a:xfrm>
            <a:off x="658368" y="5084064"/>
            <a:ext cx="10874959"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 ワイン現物はSPC名義で保有し、WineBankの債権者から倒産隔離する。WineBankは総額の60%の出資者であると同時にGPとして実行を担う。報酬は「卸す時点の値入れ」と「総額の年2%の管理報酬」に限定し、出口の成功報酬は取らない。WineBankが現物出資する分についても同じ卸値（定価比59.38）で評価する。</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REGULATORY &amp; TRADE PRACTICE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なぜSPCが直接仕入・販売できないのか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酒類は免許業種であり、取引口座は法人単位で審査される。SPC単独では商流に乗れない。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06</a:t>
            </a:r>
            <a:endParaRPr lang="en-US" sz="950" dirty="0"/>
          </a:p>
        </p:txBody>
      </p:sp>
      <p:sp>
        <p:nvSpPr>
          <p:cNvPr id="7" name="Shape 5"/>
          <p:cNvSpPr/>
          <p:nvPr/>
        </p:nvSpPr>
        <p:spPr>
          <a:xfrm>
            <a:off x="658368" y="1664208"/>
            <a:ext cx="3442106" cy="1975104"/>
          </a:xfrm>
          <a:prstGeom prst="roundRect">
            <a:avLst>
              <a:gd name="adj" fmla="val 2083"/>
            </a:avLst>
          </a:prstGeom>
          <a:solidFill>
            <a:srgbClr val="171614"/>
          </a:solidFill>
          <a:ln w="9525">
            <a:solidFill>
              <a:srgbClr val="2E2A24"/>
            </a:solidFill>
            <a:prstDash val="solid"/>
          </a:ln>
        </p:spPr>
      </p:sp>
      <p:sp>
        <p:nvSpPr>
          <p:cNvPr id="8" name="Shape 6"/>
          <p:cNvSpPr/>
          <p:nvPr/>
        </p:nvSpPr>
        <p:spPr>
          <a:xfrm>
            <a:off x="896112" y="1865376"/>
            <a:ext cx="310896" cy="310896"/>
          </a:xfrm>
          <a:prstGeom prst="ellipse">
            <a:avLst/>
          </a:prstGeom>
          <a:solidFill>
            <a:srgbClr val="0C0C0C"/>
          </a:solidFill>
          <a:ln w="11430">
            <a:solidFill>
              <a:srgbClr val="A78450"/>
            </a:solidFill>
            <a:prstDash val="solid"/>
          </a:ln>
        </p:spPr>
      </p:sp>
      <p:sp>
        <p:nvSpPr>
          <p:cNvPr id="9" name="Text 7"/>
          <p:cNvSpPr/>
          <p:nvPr/>
        </p:nvSpPr>
        <p:spPr>
          <a:xfrm>
            <a:off x="896112"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10" name="Text 8"/>
          <p:cNvSpPr/>
          <p:nvPr/>
        </p:nvSpPr>
        <p:spPr>
          <a:xfrm>
            <a:off x="1298448"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酒類販売業免許</a:t>
            </a:r>
            <a:endParaRPr lang="en-US" sz="1200" dirty="0"/>
          </a:p>
        </p:txBody>
      </p:sp>
      <p:sp>
        <p:nvSpPr>
          <p:cNvPr id="11" name="Text 9"/>
          <p:cNvSpPr/>
          <p:nvPr/>
        </p:nvSpPr>
        <p:spPr>
          <a:xfrm>
            <a:off x="896112"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酒類の売買には販売場ごとの免許が必要。新設SPCが一般酒類小売業免許・酒類卸売業免許を取得するには、経営基礎要件（直近3事業年度の財務内容等）や需給調整要件の充足が求められ、設立直後の器としては実務上ハードルが高く、審査にも相応の期間を要する。</a:t>
            </a:r>
            <a:endParaRPr lang="en-US" sz="950" dirty="0"/>
          </a:p>
        </p:txBody>
      </p:sp>
      <p:sp>
        <p:nvSpPr>
          <p:cNvPr id="12" name="Shape 10"/>
          <p:cNvSpPr/>
          <p:nvPr/>
        </p:nvSpPr>
        <p:spPr>
          <a:xfrm>
            <a:off x="4374794" y="1664208"/>
            <a:ext cx="3442106" cy="1975104"/>
          </a:xfrm>
          <a:prstGeom prst="roundRect">
            <a:avLst>
              <a:gd name="adj" fmla="val 2083"/>
            </a:avLst>
          </a:prstGeom>
          <a:solidFill>
            <a:srgbClr val="171614"/>
          </a:solidFill>
          <a:ln w="9525">
            <a:solidFill>
              <a:srgbClr val="2E2A24"/>
            </a:solidFill>
            <a:prstDash val="solid"/>
          </a:ln>
        </p:spPr>
      </p:sp>
      <p:sp>
        <p:nvSpPr>
          <p:cNvPr id="13" name="Shape 11"/>
          <p:cNvSpPr/>
          <p:nvPr/>
        </p:nvSpPr>
        <p:spPr>
          <a:xfrm>
            <a:off x="4612538" y="1865376"/>
            <a:ext cx="310896" cy="310896"/>
          </a:xfrm>
          <a:prstGeom prst="ellipse">
            <a:avLst/>
          </a:prstGeom>
          <a:solidFill>
            <a:srgbClr val="0C0C0C"/>
          </a:solidFill>
          <a:ln w="11430">
            <a:solidFill>
              <a:srgbClr val="A78450"/>
            </a:solidFill>
            <a:prstDash val="solid"/>
          </a:ln>
        </p:spPr>
      </p:sp>
      <p:sp>
        <p:nvSpPr>
          <p:cNvPr id="14" name="Text 12"/>
          <p:cNvSpPr/>
          <p:nvPr/>
        </p:nvSpPr>
        <p:spPr>
          <a:xfrm>
            <a:off x="4612538"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5" name="Text 13"/>
          <p:cNvSpPr/>
          <p:nvPr/>
        </p:nvSpPr>
        <p:spPr>
          <a:xfrm>
            <a:off x="5014874"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インポーターの取引基準</a:t>
            </a:r>
            <a:endParaRPr lang="en-US" sz="1200" dirty="0"/>
          </a:p>
        </p:txBody>
      </p:sp>
      <p:sp>
        <p:nvSpPr>
          <p:cNvPr id="16" name="Text 14"/>
          <p:cNvSpPr/>
          <p:nvPr/>
        </p:nvSpPr>
        <p:spPr>
          <a:xfrm>
            <a:off x="4612538"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大手インポーターは新規取引先に対し、与信・取引実績・年間取引量を審査したうえで口座を開設する。事業実体を持たないSPCでは口座開設に至らない。特価・正規割当は長年の取引関係に紐づいており、法人格が変われば引き継げない。</a:t>
            </a:r>
            <a:endParaRPr lang="en-US" sz="950" dirty="0"/>
          </a:p>
        </p:txBody>
      </p:sp>
      <p:sp>
        <p:nvSpPr>
          <p:cNvPr id="17" name="Shape 15"/>
          <p:cNvSpPr/>
          <p:nvPr/>
        </p:nvSpPr>
        <p:spPr>
          <a:xfrm>
            <a:off x="8091221" y="1664208"/>
            <a:ext cx="3442106" cy="1975104"/>
          </a:xfrm>
          <a:prstGeom prst="roundRect">
            <a:avLst>
              <a:gd name="adj" fmla="val 2083"/>
            </a:avLst>
          </a:prstGeom>
          <a:solidFill>
            <a:srgbClr val="171614"/>
          </a:solidFill>
          <a:ln w="9525">
            <a:solidFill>
              <a:srgbClr val="2E2A24"/>
            </a:solidFill>
            <a:prstDash val="solid"/>
          </a:ln>
        </p:spPr>
      </p:sp>
      <p:sp>
        <p:nvSpPr>
          <p:cNvPr id="18" name="Shape 16"/>
          <p:cNvSpPr/>
          <p:nvPr/>
        </p:nvSpPr>
        <p:spPr>
          <a:xfrm>
            <a:off x="8328965" y="1865376"/>
            <a:ext cx="310896" cy="310896"/>
          </a:xfrm>
          <a:prstGeom prst="ellipse">
            <a:avLst/>
          </a:prstGeom>
          <a:solidFill>
            <a:srgbClr val="0C0C0C"/>
          </a:solidFill>
          <a:ln w="11430">
            <a:solidFill>
              <a:srgbClr val="A78450"/>
            </a:solidFill>
            <a:prstDash val="solid"/>
          </a:ln>
        </p:spPr>
      </p:sp>
      <p:sp>
        <p:nvSpPr>
          <p:cNvPr id="19" name="Text 17"/>
          <p:cNvSpPr/>
          <p:nvPr/>
        </p:nvSpPr>
        <p:spPr>
          <a:xfrm>
            <a:off x="8328965" y="1865376"/>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8731301" y="1883664"/>
            <a:ext cx="2564282" cy="274320"/>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割当（アロケーション）の属人性</a:t>
            </a:r>
            <a:endParaRPr lang="en-US" sz="1200" dirty="0"/>
          </a:p>
        </p:txBody>
      </p:sp>
      <p:sp>
        <p:nvSpPr>
          <p:cNvPr id="21" name="Text 19"/>
          <p:cNvSpPr/>
          <p:nvPr/>
        </p:nvSpPr>
        <p:spPr>
          <a:xfrm>
            <a:off x="8328965" y="2340864"/>
            <a:ext cx="2966618" cy="1207008"/>
          </a:xfrm>
          <a:prstGeom prst="rect">
            <a:avLst/>
          </a:prstGeom>
          <a:noFill/>
          <a:ln/>
        </p:spPr>
        <p:txBody>
          <a:bodyPr wrap="square" lIns="0" tIns="0" rIns="0" bIns="0" rtlCol="0" anchor="ctr"/>
          <a:lstStyle/>
          <a:p>
            <a:pPr indent="0" marL="0">
              <a:lnSpc>
                <a:spcPct val="124000"/>
              </a:lnSpc>
              <a:buNone/>
            </a:pPr>
            <a:r>
              <a:rPr lang="en-US" sz="950" dirty="0">
                <a:solidFill>
                  <a:srgbClr val="9A938A"/>
                </a:solidFill>
                <a:latin typeface="Yu Gothic" pitchFamily="34" charset="0"/>
                <a:ea typeface="Yu Gothic" pitchFamily="34" charset="-122"/>
                <a:cs typeface="Yu Gothic" pitchFamily="34" charset="-120"/>
              </a:rPr>
              <a:t>希少銘柄の割当はWineBank名義に対して付与されるものであり、第三者へ譲り渡すことができない。創業55年の酒販実績と輸出入ライセンスに基づく調達力は、SPCへ移管できない無形資産である。</a:t>
            </a:r>
            <a:endParaRPr lang="en-US" sz="950" dirty="0"/>
          </a:p>
        </p:txBody>
      </p:sp>
      <p:sp>
        <p:nvSpPr>
          <p:cNvPr id="22" name="Shape 20"/>
          <p:cNvSpPr/>
          <p:nvPr/>
        </p:nvSpPr>
        <p:spPr>
          <a:xfrm>
            <a:off x="658368" y="3858768"/>
            <a:ext cx="10874959" cy="1554480"/>
          </a:xfrm>
          <a:prstGeom prst="roundRect">
            <a:avLst>
              <a:gd name="adj" fmla="val 2647"/>
            </a:avLst>
          </a:prstGeom>
          <a:solidFill>
            <a:srgbClr val="1F1D19"/>
          </a:solidFill>
          <a:ln w="9525">
            <a:solidFill>
              <a:srgbClr val="6E5730"/>
            </a:solidFill>
            <a:prstDash val="solid"/>
          </a:ln>
        </p:spPr>
      </p:sp>
      <p:sp>
        <p:nvSpPr>
          <p:cNvPr id="23" name="Text 21"/>
          <p:cNvSpPr/>
          <p:nvPr/>
        </p:nvSpPr>
        <p:spPr>
          <a:xfrm>
            <a:off x="932688" y="4023360"/>
            <a:ext cx="27432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採用するスキーム</a:t>
            </a:r>
            <a:endParaRPr lang="en-US" sz="1200" dirty="0"/>
          </a:p>
        </p:txBody>
      </p:sp>
      <p:sp>
        <p:nvSpPr>
          <p:cNvPr id="24" name="Text 22"/>
          <p:cNvSpPr/>
          <p:nvPr/>
        </p:nvSpPr>
        <p:spPr>
          <a:xfrm>
            <a:off x="932688" y="4297680"/>
            <a:ext cx="10326319"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WineBankが免許事業者として仕入・販売の当事者となり、現物を時価−αでSPCへ卸す。SPCは所有者として損益を受ける。</a:t>
            </a:r>
            <a:endParaRPr lang="en-US" sz="1250" dirty="0"/>
          </a:p>
        </p:txBody>
      </p:sp>
      <p:sp>
        <p:nvSpPr>
          <p:cNvPr id="25" name="Text 23"/>
          <p:cNvSpPr/>
          <p:nvPr/>
        </p:nvSpPr>
        <p:spPr>
          <a:xfrm>
            <a:off x="932688" y="4645152"/>
            <a:ext cx="50717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卸値を独立企業間価格として説明できること</a:t>
            </a:r>
            <a:endParaRPr lang="en-US" sz="1050" dirty="0"/>
          </a:p>
        </p:txBody>
      </p:sp>
      <p:sp>
        <p:nvSpPr>
          <p:cNvPr id="26" name="Text 24"/>
          <p:cNvSpPr/>
          <p:nvPr/>
        </p:nvSpPr>
        <p:spPr>
          <a:xfrm>
            <a:off x="932688" y="4882896"/>
            <a:ext cx="5071720" cy="512064"/>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WineBankは在庫リスク・与信・入出庫事務を負って調達する。その対価として時価から20.8%を控除した定価比59.38で卸す。第三者卸価格との比較資料を年次で整備し、移転価格上の合理性を説明できる状態を維持する。</a:t>
            </a:r>
            <a:endParaRPr lang="en-US" sz="900" dirty="0"/>
          </a:p>
        </p:txBody>
      </p:sp>
      <p:sp>
        <p:nvSpPr>
          <p:cNvPr id="27" name="Text 25"/>
          <p:cNvSpPr/>
          <p:nvPr/>
        </p:nvSpPr>
        <p:spPr>
          <a:xfrm>
            <a:off x="6187288" y="4645152"/>
            <a:ext cx="50717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WineBank出資分も同じ価格で評価すること</a:t>
            </a:r>
            <a:endParaRPr lang="en-US" sz="1050" dirty="0"/>
          </a:p>
        </p:txBody>
      </p:sp>
      <p:sp>
        <p:nvSpPr>
          <p:cNvPr id="28" name="Text 26"/>
          <p:cNvSpPr/>
          <p:nvPr/>
        </p:nvSpPr>
        <p:spPr>
          <a:xfrm>
            <a:off x="6187288" y="4882896"/>
            <a:ext cx="5071720" cy="512064"/>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WineBankが現物出資する3億円分も、投資家出資分と同じ定価比59.38で評価する。出資分に対応する値入れは自己取引となるため、内部利益の取扱いを会計・税務の両面で確認のうえ確定させる。</a:t>
            </a:r>
            <a:endParaRPr lang="en-US" sz="900" dirty="0"/>
          </a:p>
        </p:txBody>
      </p:sp>
      <p:sp>
        <p:nvSpPr>
          <p:cNvPr id="29" name="Text 27"/>
          <p:cNvSpPr/>
          <p:nvPr/>
        </p:nvSpPr>
        <p:spPr>
          <a:xfrm>
            <a:off x="658368" y="5541264"/>
            <a:ext cx="10874959" cy="256032"/>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 SPC自体の免許要否、委託・売買形態の切り分け、および酒類の現物出資が免許・消費税・法人税上どう扱われるかは、所轄税務署（酒類指導官）および顧問弁護士・公認会計士との確認事項として、契約書ドラフト作成前に確定させる。</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SOURCE OF RETURN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収益の源泉と卸値の決め方</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同一商品が流通段階ごとに異なる価格で存在する。WineBankはその時価から α を控除してSPCへ卸し、SPCは残りの差と値上がりを取る。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07</a:t>
            </a:r>
            <a:endParaRPr lang="en-US" sz="950" dirty="0"/>
          </a:p>
        </p:txBody>
      </p:sp>
      <p:sp>
        <p:nvSpPr>
          <p:cNvPr id="7" name="Shape 5"/>
          <p:cNvSpPr/>
          <p:nvPr/>
        </p:nvSpPr>
        <p:spPr>
          <a:xfrm>
            <a:off x="658368" y="1664208"/>
            <a:ext cx="1984797" cy="1645920"/>
          </a:xfrm>
          <a:prstGeom prst="roundRect">
            <a:avLst>
              <a:gd name="adj" fmla="val 2500"/>
            </a:avLst>
          </a:prstGeom>
          <a:solidFill>
            <a:srgbClr val="171614"/>
          </a:solidFill>
          <a:ln w="9525">
            <a:solidFill>
              <a:srgbClr val="6E5730"/>
            </a:solidFill>
            <a:prstDash val="solid"/>
          </a:ln>
        </p:spPr>
      </p:sp>
      <p:sp>
        <p:nvSpPr>
          <p:cNvPr id="8" name="Text 6"/>
          <p:cNvSpPr/>
          <p:nvPr/>
        </p:nvSpPr>
        <p:spPr>
          <a:xfrm>
            <a:off x="822960" y="1810512"/>
            <a:ext cx="1655613" cy="237744"/>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インポーター仕入</a:t>
            </a:r>
            <a:endParaRPr lang="en-US" sz="1000" dirty="0"/>
          </a:p>
        </p:txBody>
      </p:sp>
      <p:sp>
        <p:nvSpPr>
          <p:cNvPr id="9" name="Text 7"/>
          <p:cNvSpPr/>
          <p:nvPr/>
        </p:nvSpPr>
        <p:spPr>
          <a:xfrm>
            <a:off x="822960" y="2121408"/>
            <a:ext cx="1655613" cy="658368"/>
          </a:xfrm>
          <a:prstGeom prst="rect">
            <a:avLst/>
          </a:prstGeom>
          <a:noFill/>
          <a:ln/>
        </p:spPr>
        <p:txBody>
          <a:bodyPr wrap="square" lIns="0" tIns="0" rIns="0" bIns="0" rtlCol="0" anchor="ctr"/>
          <a:lstStyle/>
          <a:p>
            <a:pPr indent="0" marL="0">
              <a:buNone/>
            </a:pPr>
            <a:r>
              <a:rPr lang="en-US" sz="3800" b="1" dirty="0">
                <a:solidFill>
                  <a:srgbClr val="C9A96E"/>
                </a:solidFill>
                <a:latin typeface="Cambria" pitchFamily="34" charset="0"/>
                <a:ea typeface="Cambria" pitchFamily="34" charset="-122"/>
                <a:cs typeface="Cambria" pitchFamily="34" charset="-120"/>
              </a:rPr>
              <a:t>40</a:t>
            </a:r>
            <a:endParaRPr lang="en-US" sz="3800" dirty="0"/>
          </a:p>
        </p:txBody>
      </p:sp>
      <p:sp>
        <p:nvSpPr>
          <p:cNvPr id="10" name="Text 8"/>
          <p:cNvSpPr/>
          <p:nvPr/>
        </p:nvSpPr>
        <p:spPr>
          <a:xfrm>
            <a:off x="822960" y="2871216"/>
            <a:ext cx="1655613"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仕入①</a:t>
            </a:r>
            <a:endParaRPr lang="en-US" sz="950" dirty="0"/>
          </a:p>
        </p:txBody>
      </p:sp>
      <p:sp>
        <p:nvSpPr>
          <p:cNvPr id="11" name="Shape 9"/>
          <p:cNvSpPr/>
          <p:nvPr/>
        </p:nvSpPr>
        <p:spPr>
          <a:xfrm>
            <a:off x="2880909" y="1664208"/>
            <a:ext cx="1984797" cy="1645920"/>
          </a:xfrm>
          <a:prstGeom prst="roundRect">
            <a:avLst>
              <a:gd name="adj" fmla="val 2500"/>
            </a:avLst>
          </a:prstGeom>
          <a:solidFill>
            <a:srgbClr val="171614"/>
          </a:solidFill>
          <a:ln w="9525">
            <a:solidFill>
              <a:srgbClr val="6E5730"/>
            </a:solidFill>
            <a:prstDash val="solid"/>
          </a:ln>
        </p:spPr>
      </p:sp>
      <p:sp>
        <p:nvSpPr>
          <p:cNvPr id="12" name="Text 10"/>
          <p:cNvSpPr/>
          <p:nvPr/>
        </p:nvSpPr>
        <p:spPr>
          <a:xfrm>
            <a:off x="3045501" y="1810512"/>
            <a:ext cx="1655613" cy="237744"/>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酒販店仕入</a:t>
            </a:r>
            <a:endParaRPr lang="en-US" sz="1000" dirty="0"/>
          </a:p>
        </p:txBody>
      </p:sp>
      <p:sp>
        <p:nvSpPr>
          <p:cNvPr id="13" name="Text 11"/>
          <p:cNvSpPr/>
          <p:nvPr/>
        </p:nvSpPr>
        <p:spPr>
          <a:xfrm>
            <a:off x="3045501" y="2121408"/>
            <a:ext cx="1655613" cy="658368"/>
          </a:xfrm>
          <a:prstGeom prst="rect">
            <a:avLst/>
          </a:prstGeom>
          <a:noFill/>
          <a:ln/>
        </p:spPr>
        <p:txBody>
          <a:bodyPr wrap="square" lIns="0" tIns="0" rIns="0" bIns="0" rtlCol="0" anchor="ctr"/>
          <a:lstStyle/>
          <a:p>
            <a:pPr indent="0" marL="0">
              <a:buNone/>
            </a:pPr>
            <a:r>
              <a:rPr lang="en-US" sz="3800" b="1" dirty="0">
                <a:solidFill>
                  <a:srgbClr val="C9A96E"/>
                </a:solidFill>
                <a:latin typeface="Cambria" pitchFamily="34" charset="0"/>
                <a:ea typeface="Cambria" pitchFamily="34" charset="-122"/>
                <a:cs typeface="Cambria" pitchFamily="34" charset="-120"/>
              </a:rPr>
              <a:t>60</a:t>
            </a:r>
            <a:endParaRPr lang="en-US" sz="3800" dirty="0"/>
          </a:p>
        </p:txBody>
      </p:sp>
      <p:sp>
        <p:nvSpPr>
          <p:cNvPr id="14" name="Text 12"/>
          <p:cNvSpPr/>
          <p:nvPr/>
        </p:nvSpPr>
        <p:spPr>
          <a:xfrm>
            <a:off x="3045501" y="2871216"/>
            <a:ext cx="1655613"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仕入②</a:t>
            </a:r>
            <a:endParaRPr lang="en-US" sz="950" dirty="0"/>
          </a:p>
        </p:txBody>
      </p:sp>
      <p:sp>
        <p:nvSpPr>
          <p:cNvPr id="15" name="Shape 13"/>
          <p:cNvSpPr/>
          <p:nvPr/>
        </p:nvSpPr>
        <p:spPr>
          <a:xfrm>
            <a:off x="5103449" y="1664208"/>
            <a:ext cx="1984797" cy="1645920"/>
          </a:xfrm>
          <a:prstGeom prst="roundRect">
            <a:avLst>
              <a:gd name="adj" fmla="val 2500"/>
            </a:avLst>
          </a:prstGeom>
          <a:solidFill>
            <a:srgbClr val="1F1D19"/>
          </a:solidFill>
          <a:ln w="9525">
            <a:solidFill>
              <a:srgbClr val="C9A96E"/>
            </a:solidFill>
            <a:prstDash val="solid"/>
          </a:ln>
        </p:spPr>
      </p:sp>
      <p:sp>
        <p:nvSpPr>
          <p:cNvPr id="16" name="Text 14"/>
          <p:cNvSpPr/>
          <p:nvPr/>
        </p:nvSpPr>
        <p:spPr>
          <a:xfrm>
            <a:off x="5268041" y="1810512"/>
            <a:ext cx="1655613" cy="237744"/>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SPC簿価（時価−α）</a:t>
            </a:r>
            <a:endParaRPr lang="en-US" sz="1000" dirty="0"/>
          </a:p>
        </p:txBody>
      </p:sp>
      <p:sp>
        <p:nvSpPr>
          <p:cNvPr id="17" name="Text 15"/>
          <p:cNvSpPr/>
          <p:nvPr/>
        </p:nvSpPr>
        <p:spPr>
          <a:xfrm>
            <a:off x="5268041" y="2121408"/>
            <a:ext cx="1655613" cy="65836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59.38</a:t>
            </a:r>
            <a:endParaRPr lang="en-US" sz="3400" dirty="0"/>
          </a:p>
        </p:txBody>
      </p:sp>
      <p:sp>
        <p:nvSpPr>
          <p:cNvPr id="18" name="Text 16"/>
          <p:cNvSpPr/>
          <p:nvPr/>
        </p:nvSpPr>
        <p:spPr>
          <a:xfrm>
            <a:off x="5268041" y="2871216"/>
            <a:ext cx="1655613"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SPCの取得</a:t>
            </a:r>
            <a:endParaRPr lang="en-US" sz="950" dirty="0"/>
          </a:p>
        </p:txBody>
      </p:sp>
      <p:sp>
        <p:nvSpPr>
          <p:cNvPr id="19" name="Shape 17"/>
          <p:cNvSpPr/>
          <p:nvPr/>
        </p:nvSpPr>
        <p:spPr>
          <a:xfrm>
            <a:off x="7325990" y="1664208"/>
            <a:ext cx="1984797" cy="1645920"/>
          </a:xfrm>
          <a:prstGeom prst="roundRect">
            <a:avLst>
              <a:gd name="adj" fmla="val 2500"/>
            </a:avLst>
          </a:prstGeom>
          <a:solidFill>
            <a:srgbClr val="171614"/>
          </a:solidFill>
          <a:ln w="9525">
            <a:solidFill>
              <a:srgbClr val="A78450"/>
            </a:solidFill>
            <a:prstDash val="solid"/>
          </a:ln>
        </p:spPr>
      </p:sp>
      <p:sp>
        <p:nvSpPr>
          <p:cNvPr id="20" name="Text 18"/>
          <p:cNvSpPr/>
          <p:nvPr/>
        </p:nvSpPr>
        <p:spPr>
          <a:xfrm>
            <a:off x="7490582" y="1810512"/>
            <a:ext cx="1655613" cy="237744"/>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酒販店卸 売値</a:t>
            </a:r>
            <a:endParaRPr lang="en-US" sz="1000" dirty="0"/>
          </a:p>
        </p:txBody>
      </p:sp>
      <p:sp>
        <p:nvSpPr>
          <p:cNvPr id="21" name="Text 19"/>
          <p:cNvSpPr/>
          <p:nvPr/>
        </p:nvSpPr>
        <p:spPr>
          <a:xfrm>
            <a:off x="7490582" y="2121408"/>
            <a:ext cx="1655613" cy="658368"/>
          </a:xfrm>
          <a:prstGeom prst="rect">
            <a:avLst/>
          </a:prstGeom>
          <a:noFill/>
          <a:ln/>
        </p:spPr>
        <p:txBody>
          <a:bodyPr wrap="square" lIns="0" tIns="0" rIns="0" bIns="0" rtlCol="0" anchor="ctr"/>
          <a:lstStyle/>
          <a:p>
            <a:pPr indent="0" marL="0">
              <a:buNone/>
            </a:pPr>
            <a:r>
              <a:rPr lang="en-US" sz="3800" b="1" dirty="0">
                <a:solidFill>
                  <a:srgbClr val="C9A96E"/>
                </a:solidFill>
                <a:latin typeface="Cambria" pitchFamily="34" charset="0"/>
                <a:ea typeface="Cambria" pitchFamily="34" charset="-122"/>
                <a:cs typeface="Cambria" pitchFamily="34" charset="-120"/>
              </a:rPr>
              <a:t>70</a:t>
            </a:r>
            <a:endParaRPr lang="en-US" sz="3800" dirty="0"/>
          </a:p>
        </p:txBody>
      </p:sp>
      <p:sp>
        <p:nvSpPr>
          <p:cNvPr id="22" name="Text 20"/>
          <p:cNvSpPr/>
          <p:nvPr/>
        </p:nvSpPr>
        <p:spPr>
          <a:xfrm>
            <a:off x="7490582" y="2871216"/>
            <a:ext cx="1655613"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売却① B2B</a:t>
            </a:r>
            <a:endParaRPr lang="en-US" sz="950" dirty="0"/>
          </a:p>
        </p:txBody>
      </p:sp>
      <p:sp>
        <p:nvSpPr>
          <p:cNvPr id="23" name="Shape 21"/>
          <p:cNvSpPr/>
          <p:nvPr/>
        </p:nvSpPr>
        <p:spPr>
          <a:xfrm>
            <a:off x="9548531" y="1664208"/>
            <a:ext cx="1984797" cy="1645920"/>
          </a:xfrm>
          <a:prstGeom prst="roundRect">
            <a:avLst>
              <a:gd name="adj" fmla="val 2500"/>
            </a:avLst>
          </a:prstGeom>
          <a:solidFill>
            <a:srgbClr val="171614"/>
          </a:solidFill>
          <a:ln w="9525">
            <a:solidFill>
              <a:srgbClr val="A78450"/>
            </a:solidFill>
            <a:prstDash val="solid"/>
          </a:ln>
        </p:spPr>
      </p:sp>
      <p:sp>
        <p:nvSpPr>
          <p:cNvPr id="24" name="Text 22"/>
          <p:cNvSpPr/>
          <p:nvPr/>
        </p:nvSpPr>
        <p:spPr>
          <a:xfrm>
            <a:off x="9713123" y="1810512"/>
            <a:ext cx="1655613" cy="237744"/>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ネット最安 売値</a:t>
            </a:r>
            <a:endParaRPr lang="en-US" sz="1000" dirty="0"/>
          </a:p>
        </p:txBody>
      </p:sp>
      <p:sp>
        <p:nvSpPr>
          <p:cNvPr id="25" name="Text 23"/>
          <p:cNvSpPr/>
          <p:nvPr/>
        </p:nvSpPr>
        <p:spPr>
          <a:xfrm>
            <a:off x="9713123" y="2121408"/>
            <a:ext cx="1655613" cy="658368"/>
          </a:xfrm>
          <a:prstGeom prst="rect">
            <a:avLst/>
          </a:prstGeom>
          <a:noFill/>
          <a:ln/>
        </p:spPr>
        <p:txBody>
          <a:bodyPr wrap="square" lIns="0" tIns="0" rIns="0" bIns="0" rtlCol="0" anchor="ctr"/>
          <a:lstStyle/>
          <a:p>
            <a:pPr indent="0" marL="0">
              <a:buNone/>
            </a:pPr>
            <a:r>
              <a:rPr lang="en-US" sz="3800" b="1" dirty="0">
                <a:solidFill>
                  <a:srgbClr val="C9A96E"/>
                </a:solidFill>
                <a:latin typeface="Cambria" pitchFamily="34" charset="0"/>
                <a:ea typeface="Cambria" pitchFamily="34" charset="-122"/>
                <a:cs typeface="Cambria" pitchFamily="34" charset="-120"/>
              </a:rPr>
              <a:t>80</a:t>
            </a:r>
            <a:endParaRPr lang="en-US" sz="3800" dirty="0"/>
          </a:p>
        </p:txBody>
      </p:sp>
      <p:sp>
        <p:nvSpPr>
          <p:cNvPr id="26" name="Text 24"/>
          <p:cNvSpPr/>
          <p:nvPr/>
        </p:nvSpPr>
        <p:spPr>
          <a:xfrm>
            <a:off x="9713123" y="2871216"/>
            <a:ext cx="1655613"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売却② B2C</a:t>
            </a:r>
            <a:endParaRPr lang="en-US" sz="950" dirty="0"/>
          </a:p>
        </p:txBody>
      </p:sp>
      <p:sp>
        <p:nvSpPr>
          <p:cNvPr id="27" name="Shape 25"/>
          <p:cNvSpPr/>
          <p:nvPr/>
        </p:nvSpPr>
        <p:spPr>
          <a:xfrm>
            <a:off x="658368" y="3566160"/>
            <a:ext cx="10874959" cy="2066544"/>
          </a:xfrm>
          <a:prstGeom prst="roundRect">
            <a:avLst>
              <a:gd name="adj" fmla="val 1991"/>
            </a:avLst>
          </a:prstGeom>
          <a:solidFill>
            <a:srgbClr val="1F1D19"/>
          </a:solidFill>
          <a:ln w="9525">
            <a:solidFill>
              <a:srgbClr val="6E5730"/>
            </a:solidFill>
            <a:prstDash val="solid"/>
          </a:ln>
        </p:spPr>
      </p:sp>
      <p:sp>
        <p:nvSpPr>
          <p:cNvPr id="28" name="Text 26"/>
          <p:cNvSpPr/>
          <p:nvPr/>
        </p:nvSpPr>
        <p:spPr>
          <a:xfrm>
            <a:off x="932688" y="3694176"/>
            <a:ext cx="64008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主線（ニュートラル）の置き方　― 保有12ヶ月・定価100あたり</a:t>
            </a:r>
            <a:endParaRPr lang="en-US" sz="1200" dirty="0"/>
          </a:p>
        </p:txBody>
      </p:sp>
      <p:sp>
        <p:nvSpPr>
          <p:cNvPr id="29" name="Text 27"/>
          <p:cNvSpPr/>
          <p:nvPr/>
        </p:nvSpPr>
        <p:spPr>
          <a:xfrm>
            <a:off x="932688" y="4005072"/>
            <a:ext cx="301752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仕入ポートフォリオ</a:t>
            </a:r>
            <a:endParaRPr lang="en-US" sz="1050" dirty="0"/>
          </a:p>
        </p:txBody>
      </p:sp>
      <p:sp>
        <p:nvSpPr>
          <p:cNvPr id="30" name="Text 28"/>
          <p:cNvSpPr/>
          <p:nvPr/>
        </p:nvSpPr>
        <p:spPr>
          <a:xfrm>
            <a:off x="4041648" y="4005072"/>
            <a:ext cx="466344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インポーター40 ＋ 酒販店60 を半々</a:t>
            </a:r>
            <a:endParaRPr lang="en-US" sz="1050" dirty="0"/>
          </a:p>
        </p:txBody>
      </p:sp>
      <p:sp>
        <p:nvSpPr>
          <p:cNvPr id="31" name="Text 29"/>
          <p:cNvSpPr/>
          <p:nvPr/>
        </p:nvSpPr>
        <p:spPr>
          <a:xfrm>
            <a:off x="8796528" y="4005072"/>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市中原価 50.00</a:t>
            </a:r>
            <a:endParaRPr lang="en-US" sz="1050" dirty="0"/>
          </a:p>
        </p:txBody>
      </p:sp>
      <p:sp>
        <p:nvSpPr>
          <p:cNvPr id="32" name="Text 30"/>
          <p:cNvSpPr/>
          <p:nvPr/>
        </p:nvSpPr>
        <p:spPr>
          <a:xfrm>
            <a:off x="932688" y="4270248"/>
            <a:ext cx="301752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時価（取得時点）</a:t>
            </a:r>
            <a:endParaRPr lang="en-US" sz="1050" dirty="0"/>
          </a:p>
        </p:txBody>
      </p:sp>
      <p:sp>
        <p:nvSpPr>
          <p:cNvPr id="33" name="Text 31"/>
          <p:cNvSpPr/>
          <p:nvPr/>
        </p:nvSpPr>
        <p:spPr>
          <a:xfrm>
            <a:off x="4041648" y="4270248"/>
            <a:ext cx="466344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酒販店卸70（B2B）＋ ネット最安80（B2C）の加重平均</a:t>
            </a:r>
            <a:endParaRPr lang="en-US" sz="1050" dirty="0"/>
          </a:p>
        </p:txBody>
      </p:sp>
      <p:sp>
        <p:nvSpPr>
          <p:cNvPr id="34" name="Text 32"/>
          <p:cNvSpPr/>
          <p:nvPr/>
        </p:nvSpPr>
        <p:spPr>
          <a:xfrm>
            <a:off x="8796528" y="4270248"/>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時価 75.00</a:t>
            </a:r>
            <a:endParaRPr lang="en-US" sz="1050" dirty="0"/>
          </a:p>
        </p:txBody>
      </p:sp>
      <p:sp>
        <p:nvSpPr>
          <p:cNvPr id="35" name="Text 33"/>
          <p:cNvSpPr/>
          <p:nvPr/>
        </p:nvSpPr>
        <p:spPr>
          <a:xfrm>
            <a:off x="932688" y="4535424"/>
            <a:ext cx="30175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WineBankの値入れ</a:t>
            </a:r>
            <a:endParaRPr lang="en-US" sz="1050" dirty="0"/>
          </a:p>
        </p:txBody>
      </p:sp>
      <p:sp>
        <p:nvSpPr>
          <p:cNvPr id="36" name="Text 34"/>
          <p:cNvSpPr/>
          <p:nvPr/>
        </p:nvSpPr>
        <p:spPr>
          <a:xfrm>
            <a:off x="4041648" y="4535424"/>
            <a:ext cx="466344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時価から α ＝ 20.8% を控除してSPCへ卸す</a:t>
            </a:r>
            <a:endParaRPr lang="en-US" sz="1050" dirty="0"/>
          </a:p>
        </p:txBody>
      </p:sp>
      <p:sp>
        <p:nvSpPr>
          <p:cNvPr id="37" name="Text 35"/>
          <p:cNvSpPr/>
          <p:nvPr/>
        </p:nvSpPr>
        <p:spPr>
          <a:xfrm>
            <a:off x="8796528" y="4535424"/>
            <a:ext cx="2462479" cy="237744"/>
          </a:xfrm>
          <a:prstGeom prst="rect">
            <a:avLst/>
          </a:prstGeom>
          <a:noFill/>
          <a:ln/>
        </p:spPr>
        <p:txBody>
          <a:bodyPr wrap="square" lIns="0" tIns="0" rIns="0" bIns="0" rtlCol="0" anchor="ctr"/>
          <a:lstStyle/>
          <a:p>
            <a:pPr algn="r" indent="0" marL="0">
              <a:buNone/>
            </a:pPr>
            <a:r>
              <a:rPr lang="en-US" sz="1050" b="1" dirty="0">
                <a:solidFill>
                  <a:srgbClr val="C9A96E"/>
                </a:solidFill>
                <a:latin typeface="Yu Gothic" pitchFamily="34" charset="0"/>
                <a:ea typeface="Yu Gothic" pitchFamily="34" charset="-122"/>
                <a:cs typeface="Yu Gothic" pitchFamily="34" charset="-120"/>
              </a:rPr>
              <a:t>SPC簿価 59.38</a:t>
            </a:r>
            <a:endParaRPr lang="en-US" sz="1050" dirty="0"/>
          </a:p>
        </p:txBody>
      </p:sp>
      <p:sp>
        <p:nvSpPr>
          <p:cNvPr id="38" name="Text 36"/>
          <p:cNvSpPr/>
          <p:nvPr/>
        </p:nvSpPr>
        <p:spPr>
          <a:xfrm>
            <a:off x="932688" y="4800600"/>
            <a:ext cx="301752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保有中の値上がり</a:t>
            </a:r>
            <a:endParaRPr lang="en-US" sz="1050" dirty="0"/>
          </a:p>
        </p:txBody>
      </p:sp>
      <p:sp>
        <p:nvSpPr>
          <p:cNvPr id="39" name="Text 37"/>
          <p:cNvSpPr/>
          <p:nvPr/>
        </p:nvSpPr>
        <p:spPr>
          <a:xfrm>
            <a:off x="4041648" y="4800600"/>
            <a:ext cx="466344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ワイン価格の年間上昇6%を12ヶ月保有</a:t>
            </a:r>
            <a:endParaRPr lang="en-US" sz="1050" dirty="0"/>
          </a:p>
        </p:txBody>
      </p:sp>
      <p:sp>
        <p:nvSpPr>
          <p:cNvPr id="40" name="Text 38"/>
          <p:cNvSpPr/>
          <p:nvPr/>
        </p:nvSpPr>
        <p:spPr>
          <a:xfrm>
            <a:off x="8796528" y="4800600"/>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×1.060 → 売値 79.50</a:t>
            </a:r>
            <a:endParaRPr lang="en-US" sz="1050" dirty="0"/>
          </a:p>
        </p:txBody>
      </p:sp>
      <p:sp>
        <p:nvSpPr>
          <p:cNvPr id="41" name="Text 39"/>
          <p:cNvSpPr/>
          <p:nvPr/>
        </p:nvSpPr>
        <p:spPr>
          <a:xfrm>
            <a:off x="932688" y="5065776"/>
            <a:ext cx="3017520" cy="237744"/>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変動販売費</a:t>
            </a:r>
            <a:endParaRPr lang="en-US" sz="1050" dirty="0"/>
          </a:p>
        </p:txBody>
      </p:sp>
      <p:sp>
        <p:nvSpPr>
          <p:cNvPr id="42" name="Text 40"/>
          <p:cNvSpPr/>
          <p:nvPr/>
        </p:nvSpPr>
        <p:spPr>
          <a:xfrm>
            <a:off x="4041648" y="5065776"/>
            <a:ext cx="466344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B2B 1.0% ／ B2C 11.2% の加重平均 6.44%</a:t>
            </a:r>
            <a:endParaRPr lang="en-US" sz="1050" dirty="0"/>
          </a:p>
        </p:txBody>
      </p:sp>
      <p:sp>
        <p:nvSpPr>
          <p:cNvPr id="43" name="Text 41"/>
          <p:cNvSpPr/>
          <p:nvPr/>
        </p:nvSpPr>
        <p:spPr>
          <a:xfrm>
            <a:off x="8796528" y="5065776"/>
            <a:ext cx="2462479" cy="237744"/>
          </a:xfrm>
          <a:prstGeom prst="rect">
            <a:avLst/>
          </a:prstGeom>
          <a:noFill/>
          <a:ln/>
        </p:spPr>
        <p:txBody>
          <a:bodyPr wrap="square" lIns="0" tIns="0" rIns="0" bIns="0" rtlCol="0" anchor="ctr"/>
          <a:lstStyle/>
          <a:p>
            <a:pPr algn="r" indent="0" marL="0">
              <a:buNone/>
            </a:pPr>
            <a:r>
              <a:rPr lang="en-US" sz="1050" b="1" dirty="0">
                <a:solidFill>
                  <a:srgbClr val="EFEBE3"/>
                </a:solidFill>
                <a:latin typeface="Yu Gothic" pitchFamily="34" charset="0"/>
                <a:ea typeface="Yu Gothic" pitchFamily="34" charset="-122"/>
                <a:cs typeface="Yu Gothic" pitchFamily="34" charset="-120"/>
              </a:rPr>
              <a:t>▲ 5.12 → 手取り 74.38</a:t>
            </a:r>
            <a:endParaRPr lang="en-US" sz="1050" dirty="0"/>
          </a:p>
        </p:txBody>
      </p:sp>
      <p:sp>
        <p:nvSpPr>
          <p:cNvPr id="44" name="Text 42"/>
          <p:cNvSpPr/>
          <p:nvPr/>
        </p:nvSpPr>
        <p:spPr>
          <a:xfrm>
            <a:off x="932688" y="5330952"/>
            <a:ext cx="3017520" cy="237744"/>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単位粗利（SPC）</a:t>
            </a:r>
            <a:endParaRPr lang="en-US" sz="1050" dirty="0"/>
          </a:p>
        </p:txBody>
      </p:sp>
      <p:sp>
        <p:nvSpPr>
          <p:cNvPr id="45" name="Text 43"/>
          <p:cNvSpPr/>
          <p:nvPr/>
        </p:nvSpPr>
        <p:spPr>
          <a:xfrm>
            <a:off x="4041648" y="5330952"/>
            <a:ext cx="4663440" cy="237744"/>
          </a:xfrm>
          <a:prstGeom prst="rect">
            <a:avLst/>
          </a:prstGeom>
          <a:noFill/>
          <a:ln/>
        </p:spPr>
        <p:txBody>
          <a:bodyPr wrap="square" lIns="0" tIns="0" rIns="0" bIns="0" rtlCol="0" anchor="ctr"/>
          <a:lstStyle/>
          <a:p>
            <a:pPr indent="0" marL="0">
              <a:buNone/>
            </a:pPr>
            <a:r>
              <a:rPr lang="en-US" sz="1050" dirty="0">
                <a:solidFill>
                  <a:srgbClr val="9A938A"/>
                </a:solidFill>
                <a:latin typeface="Yu Gothic" pitchFamily="34" charset="0"/>
                <a:ea typeface="Yu Gothic" pitchFamily="34" charset="-122"/>
                <a:cs typeface="Yu Gothic" pitchFamily="34" charset="-120"/>
              </a:rPr>
              <a:t>手取り74.38 − SPC簿価59.38</a:t>
            </a:r>
            <a:endParaRPr lang="en-US" sz="1050" dirty="0"/>
          </a:p>
        </p:txBody>
      </p:sp>
      <p:sp>
        <p:nvSpPr>
          <p:cNvPr id="46" name="Text 44"/>
          <p:cNvSpPr/>
          <p:nvPr/>
        </p:nvSpPr>
        <p:spPr>
          <a:xfrm>
            <a:off x="8796528" y="5330952"/>
            <a:ext cx="2462479" cy="237744"/>
          </a:xfrm>
          <a:prstGeom prst="rect">
            <a:avLst/>
          </a:prstGeom>
          <a:noFill/>
          <a:ln/>
        </p:spPr>
        <p:txBody>
          <a:bodyPr wrap="square" lIns="0" tIns="0" rIns="0" bIns="0" rtlCol="0" anchor="ctr"/>
          <a:lstStyle/>
          <a:p>
            <a:pPr algn="r" indent="0" marL="0">
              <a:buNone/>
            </a:pPr>
            <a:r>
              <a:rPr lang="en-US" sz="1050" b="1" dirty="0">
                <a:solidFill>
                  <a:srgbClr val="C9A96E"/>
                </a:solidFill>
                <a:latin typeface="Yu Gothic" pitchFamily="34" charset="0"/>
                <a:ea typeface="Yu Gothic" pitchFamily="34" charset="-122"/>
                <a:cs typeface="Yu Gothic" pitchFamily="34" charset="-120"/>
              </a:rPr>
              <a:t>粗利 15.00（粗利率 18.9%）</a:t>
            </a:r>
            <a:endParaRPr lang="en-US" sz="1050" dirty="0"/>
          </a:p>
        </p:txBody>
      </p:sp>
      <p:sp>
        <p:nvSpPr>
          <p:cNvPr id="47" name="Text 45"/>
          <p:cNvSpPr/>
          <p:nvPr/>
        </p:nvSpPr>
        <p:spPr>
          <a:xfrm>
            <a:off x="658368" y="5724144"/>
            <a:ext cx="10874959" cy="365760"/>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WineBankの値入れは 定価比 9.38（簿価比 15.8%）。卸した時点で確定し、SPCの費用には計上しない。卸値が時価に連動するため、仕入価格が動いても売値が動いても、SPCの粗利と投資家の利回りはほとんど変わらない構造になる。</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CHANNEL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販売チャネル別の手取り：B2B卸とB2Cネット販売</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売値だけでは判断できない。手数料構造が全く異なるため、手取りベースで比較する。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08</a:t>
            </a:r>
            <a:endParaRPr lang="en-US" sz="950" dirty="0"/>
          </a:p>
        </p:txBody>
      </p:sp>
      <p:sp>
        <p:nvSpPr>
          <p:cNvPr id="7" name="Shape 5"/>
          <p:cNvSpPr/>
          <p:nvPr/>
        </p:nvSpPr>
        <p:spPr>
          <a:xfrm>
            <a:off x="658368" y="1645920"/>
            <a:ext cx="5282032" cy="2962656"/>
          </a:xfrm>
          <a:prstGeom prst="roundRect">
            <a:avLst>
              <a:gd name="adj" fmla="val 1389"/>
            </a:avLst>
          </a:prstGeom>
          <a:solidFill>
            <a:srgbClr val="171614"/>
          </a:solidFill>
          <a:ln w="9525">
            <a:solidFill>
              <a:srgbClr val="2E2A24"/>
            </a:solidFill>
            <a:prstDash val="solid"/>
          </a:ln>
        </p:spPr>
      </p:sp>
      <p:sp>
        <p:nvSpPr>
          <p:cNvPr id="8" name="Text 6"/>
          <p:cNvSpPr/>
          <p:nvPr/>
        </p:nvSpPr>
        <p:spPr>
          <a:xfrm>
            <a:off x="914400" y="1810512"/>
            <a:ext cx="3544672" cy="274320"/>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B2B｜酒販店卸</a:t>
            </a:r>
            <a:endParaRPr lang="en-US" sz="1300" dirty="0"/>
          </a:p>
        </p:txBody>
      </p:sp>
      <p:sp>
        <p:nvSpPr>
          <p:cNvPr id="9" name="Text 7"/>
          <p:cNvSpPr/>
          <p:nvPr/>
        </p:nvSpPr>
        <p:spPr>
          <a:xfrm>
            <a:off x="4203040" y="1792224"/>
            <a:ext cx="1481328" cy="310896"/>
          </a:xfrm>
          <a:prstGeom prst="rect">
            <a:avLst/>
          </a:prstGeom>
          <a:noFill/>
          <a:ln/>
        </p:spPr>
        <p:txBody>
          <a:bodyPr wrap="square" lIns="0" tIns="0" rIns="0" bIns="0" rtlCol="0" anchor="ctr"/>
          <a:lstStyle/>
          <a:p>
            <a:pPr algn="r" indent="0" marL="0">
              <a:buNone/>
            </a:pPr>
            <a:r>
              <a:rPr lang="en-US" sz="1000" dirty="0">
                <a:solidFill>
                  <a:srgbClr val="9A938A"/>
                </a:solidFill>
                <a:latin typeface="Yu Gothic" pitchFamily="34" charset="0"/>
                <a:ea typeface="Yu Gothic" pitchFamily="34" charset="-122"/>
                <a:cs typeface="Yu Gothic" pitchFamily="34" charset="-120"/>
              </a:rPr>
              <a:t>売値 </a:t>
            </a:r>
            <a:pPr algn="r" indent="0" marL="0">
              <a:buNone/>
            </a:pPr>
            <a:r>
              <a:rPr lang="en-US" sz="2000" b="1" dirty="0">
                <a:solidFill>
                  <a:srgbClr val="EFEBE3"/>
                </a:solidFill>
                <a:latin typeface="Cambria" pitchFamily="34" charset="0"/>
                <a:ea typeface="Cambria" pitchFamily="34" charset="-122"/>
                <a:cs typeface="Cambria" pitchFamily="34" charset="-120"/>
              </a:rPr>
              <a:t>70.00</a:t>
            </a:r>
            <a:endParaRPr lang="en-US" sz="1000" dirty="0"/>
          </a:p>
        </p:txBody>
      </p:sp>
      <p:sp>
        <p:nvSpPr>
          <p:cNvPr id="10" name="Text 8"/>
          <p:cNvSpPr/>
          <p:nvPr/>
        </p:nvSpPr>
        <p:spPr>
          <a:xfrm>
            <a:off x="914400" y="2231136"/>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出庫・配送</a:t>
            </a:r>
            <a:endParaRPr lang="en-US" sz="1000" dirty="0"/>
          </a:p>
        </p:txBody>
      </p:sp>
      <p:sp>
        <p:nvSpPr>
          <p:cNvPr id="11" name="Text 9"/>
          <p:cNvSpPr/>
          <p:nvPr/>
        </p:nvSpPr>
        <p:spPr>
          <a:xfrm>
            <a:off x="5007712" y="2231136"/>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0.6%</a:t>
            </a:r>
            <a:endParaRPr lang="en-US" sz="1100" dirty="0"/>
          </a:p>
        </p:txBody>
      </p:sp>
      <p:sp>
        <p:nvSpPr>
          <p:cNvPr id="12" name="Text 10"/>
          <p:cNvSpPr/>
          <p:nvPr/>
        </p:nvSpPr>
        <p:spPr>
          <a:xfrm>
            <a:off x="914400" y="2423160"/>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ケース／パレット単位出荷。1回あたりの出荷単位が大きい</a:t>
            </a:r>
            <a:endParaRPr lang="en-US" sz="850" dirty="0"/>
          </a:p>
        </p:txBody>
      </p:sp>
      <p:sp>
        <p:nvSpPr>
          <p:cNvPr id="13" name="Text 11"/>
          <p:cNvSpPr/>
          <p:nvPr/>
        </p:nvSpPr>
        <p:spPr>
          <a:xfrm>
            <a:off x="914400" y="2761488"/>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決済・与信</a:t>
            </a:r>
            <a:endParaRPr lang="en-US" sz="1000" dirty="0"/>
          </a:p>
        </p:txBody>
      </p:sp>
      <p:sp>
        <p:nvSpPr>
          <p:cNvPr id="14" name="Text 12"/>
          <p:cNvSpPr/>
          <p:nvPr/>
        </p:nvSpPr>
        <p:spPr>
          <a:xfrm>
            <a:off x="5007712" y="2761488"/>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15" name="Text 13"/>
          <p:cNvSpPr/>
          <p:nvPr/>
        </p:nvSpPr>
        <p:spPr>
          <a:xfrm>
            <a:off x="914400" y="2953512"/>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掛売のため決済手数料なし。回収コストと貸倒引当</a:t>
            </a:r>
            <a:endParaRPr lang="en-US" sz="850" dirty="0"/>
          </a:p>
        </p:txBody>
      </p:sp>
      <p:sp>
        <p:nvSpPr>
          <p:cNvPr id="16" name="Text 14"/>
          <p:cNvSpPr/>
          <p:nvPr/>
        </p:nvSpPr>
        <p:spPr>
          <a:xfrm>
            <a:off x="914400" y="3913632"/>
            <a:ext cx="2377440" cy="219456"/>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変動販売費 合計</a:t>
            </a:r>
            <a:endParaRPr lang="en-US" sz="1000" dirty="0"/>
          </a:p>
        </p:txBody>
      </p:sp>
      <p:sp>
        <p:nvSpPr>
          <p:cNvPr id="17" name="Text 15"/>
          <p:cNvSpPr/>
          <p:nvPr/>
        </p:nvSpPr>
        <p:spPr>
          <a:xfrm>
            <a:off x="3928720" y="3913632"/>
            <a:ext cx="1755648" cy="219456"/>
          </a:xfrm>
          <a:prstGeom prst="rect">
            <a:avLst/>
          </a:prstGeom>
          <a:noFill/>
          <a:ln/>
        </p:spPr>
        <p:txBody>
          <a:bodyPr wrap="square" lIns="0" tIns="0" rIns="0" bIns="0" rtlCol="0" anchor="ctr"/>
          <a:lstStyle/>
          <a:p>
            <a:pPr algn="r" indent="0" marL="0">
              <a:buNone/>
            </a:pPr>
            <a:r>
              <a:rPr lang="en-US" sz="1050" b="1" dirty="0">
                <a:solidFill>
                  <a:srgbClr val="B4553F"/>
                </a:solidFill>
                <a:latin typeface="Yu Gothic" pitchFamily="34" charset="0"/>
                <a:ea typeface="Yu Gothic" pitchFamily="34" charset="-122"/>
                <a:cs typeface="Yu Gothic" pitchFamily="34" charset="-120"/>
              </a:rPr>
              <a:t>1.0%（▲0.70）</a:t>
            </a:r>
            <a:endParaRPr lang="en-US" sz="1050" dirty="0"/>
          </a:p>
        </p:txBody>
      </p:sp>
      <p:sp>
        <p:nvSpPr>
          <p:cNvPr id="18" name="Text 16"/>
          <p:cNvSpPr/>
          <p:nvPr/>
        </p:nvSpPr>
        <p:spPr>
          <a:xfrm>
            <a:off x="914400" y="4187952"/>
            <a:ext cx="2011680" cy="347472"/>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手取り</a:t>
            </a:r>
            <a:endParaRPr lang="en-US" sz="1100" dirty="0"/>
          </a:p>
        </p:txBody>
      </p:sp>
      <p:sp>
        <p:nvSpPr>
          <p:cNvPr id="19" name="Text 17"/>
          <p:cNvSpPr/>
          <p:nvPr/>
        </p:nvSpPr>
        <p:spPr>
          <a:xfrm>
            <a:off x="3928720" y="4169664"/>
            <a:ext cx="1755648" cy="384048"/>
          </a:xfrm>
          <a:prstGeom prst="rect">
            <a:avLst/>
          </a:prstGeom>
          <a:noFill/>
          <a:ln/>
        </p:spPr>
        <p:txBody>
          <a:bodyPr wrap="square" lIns="0" tIns="0" rIns="0" bIns="0" rtlCol="0" anchor="ctr"/>
          <a:lstStyle/>
          <a:p>
            <a:pPr algn="r" indent="0" marL="0">
              <a:buNone/>
            </a:pPr>
            <a:r>
              <a:rPr lang="en-US" sz="2500" b="1" dirty="0">
                <a:solidFill>
                  <a:srgbClr val="C9A96E"/>
                </a:solidFill>
                <a:latin typeface="Cambria" pitchFamily="34" charset="0"/>
                <a:ea typeface="Cambria" pitchFamily="34" charset="-122"/>
                <a:cs typeface="Cambria" pitchFamily="34" charset="-120"/>
              </a:rPr>
              <a:t>69.30</a:t>
            </a:r>
            <a:endParaRPr lang="en-US" sz="2500" dirty="0"/>
          </a:p>
        </p:txBody>
      </p:sp>
      <p:sp>
        <p:nvSpPr>
          <p:cNvPr id="20" name="Shape 18"/>
          <p:cNvSpPr/>
          <p:nvPr/>
        </p:nvSpPr>
        <p:spPr>
          <a:xfrm>
            <a:off x="6251296" y="1645920"/>
            <a:ext cx="5282032" cy="2962656"/>
          </a:xfrm>
          <a:prstGeom prst="roundRect">
            <a:avLst>
              <a:gd name="adj" fmla="val 1389"/>
            </a:avLst>
          </a:prstGeom>
          <a:solidFill>
            <a:srgbClr val="1F1D19"/>
          </a:solidFill>
          <a:ln w="9525">
            <a:solidFill>
              <a:srgbClr val="6E5730"/>
            </a:solidFill>
            <a:prstDash val="solid"/>
          </a:ln>
        </p:spPr>
      </p:sp>
      <p:sp>
        <p:nvSpPr>
          <p:cNvPr id="21" name="Text 19"/>
          <p:cNvSpPr/>
          <p:nvPr/>
        </p:nvSpPr>
        <p:spPr>
          <a:xfrm>
            <a:off x="6507328" y="1810512"/>
            <a:ext cx="3544672" cy="274320"/>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B2C｜自社EC・オークション</a:t>
            </a:r>
            <a:endParaRPr lang="en-US" sz="1300" dirty="0"/>
          </a:p>
        </p:txBody>
      </p:sp>
      <p:sp>
        <p:nvSpPr>
          <p:cNvPr id="22" name="Text 20"/>
          <p:cNvSpPr/>
          <p:nvPr/>
        </p:nvSpPr>
        <p:spPr>
          <a:xfrm>
            <a:off x="9795967" y="1792224"/>
            <a:ext cx="1481328" cy="310896"/>
          </a:xfrm>
          <a:prstGeom prst="rect">
            <a:avLst/>
          </a:prstGeom>
          <a:noFill/>
          <a:ln/>
        </p:spPr>
        <p:txBody>
          <a:bodyPr wrap="square" lIns="0" tIns="0" rIns="0" bIns="0" rtlCol="0" anchor="ctr"/>
          <a:lstStyle/>
          <a:p>
            <a:pPr algn="r" indent="0" marL="0">
              <a:buNone/>
            </a:pPr>
            <a:r>
              <a:rPr lang="en-US" sz="1000" dirty="0">
                <a:solidFill>
                  <a:srgbClr val="9A938A"/>
                </a:solidFill>
                <a:latin typeface="Yu Gothic" pitchFamily="34" charset="0"/>
                <a:ea typeface="Yu Gothic" pitchFamily="34" charset="-122"/>
                <a:cs typeface="Yu Gothic" pitchFamily="34" charset="-120"/>
              </a:rPr>
              <a:t>売値 </a:t>
            </a:r>
            <a:pPr algn="r" indent="0" marL="0">
              <a:buNone/>
            </a:pPr>
            <a:r>
              <a:rPr lang="en-US" sz="2000" b="1" dirty="0">
                <a:solidFill>
                  <a:srgbClr val="EFEBE3"/>
                </a:solidFill>
                <a:latin typeface="Cambria" pitchFamily="34" charset="0"/>
                <a:ea typeface="Cambria" pitchFamily="34" charset="-122"/>
                <a:cs typeface="Cambria" pitchFamily="34" charset="-120"/>
              </a:rPr>
              <a:t>80.00</a:t>
            </a:r>
            <a:endParaRPr lang="en-US" sz="1000" dirty="0"/>
          </a:p>
        </p:txBody>
      </p:sp>
      <p:sp>
        <p:nvSpPr>
          <p:cNvPr id="23" name="Text 21"/>
          <p:cNvSpPr/>
          <p:nvPr/>
        </p:nvSpPr>
        <p:spPr>
          <a:xfrm>
            <a:off x="6507328" y="2231136"/>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モール・出品手数料</a:t>
            </a:r>
            <a:endParaRPr lang="en-US" sz="1000" dirty="0"/>
          </a:p>
        </p:txBody>
      </p:sp>
      <p:sp>
        <p:nvSpPr>
          <p:cNvPr id="24" name="Text 22"/>
          <p:cNvSpPr/>
          <p:nvPr/>
        </p:nvSpPr>
        <p:spPr>
          <a:xfrm>
            <a:off x="10600639" y="2231136"/>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5.5%</a:t>
            </a:r>
            <a:endParaRPr lang="en-US" sz="1100" dirty="0"/>
          </a:p>
        </p:txBody>
      </p:sp>
      <p:sp>
        <p:nvSpPr>
          <p:cNvPr id="25" name="Text 23"/>
          <p:cNvSpPr/>
          <p:nvPr/>
        </p:nvSpPr>
        <p:spPr>
          <a:xfrm>
            <a:off x="6507328" y="2423160"/>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楽天／Yahoo／寺田Wine Market（10〜12%）と自社EC・自社オークション（0〜3%）の加重平均</a:t>
            </a:r>
            <a:endParaRPr lang="en-US" sz="850" dirty="0"/>
          </a:p>
        </p:txBody>
      </p:sp>
      <p:sp>
        <p:nvSpPr>
          <p:cNvPr id="26" name="Text 24"/>
          <p:cNvSpPr/>
          <p:nvPr/>
        </p:nvSpPr>
        <p:spPr>
          <a:xfrm>
            <a:off x="6507328" y="2761488"/>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カード決済手数料</a:t>
            </a:r>
            <a:endParaRPr lang="en-US" sz="1000" dirty="0"/>
          </a:p>
        </p:txBody>
      </p:sp>
      <p:sp>
        <p:nvSpPr>
          <p:cNvPr id="27" name="Text 25"/>
          <p:cNvSpPr/>
          <p:nvPr/>
        </p:nvSpPr>
        <p:spPr>
          <a:xfrm>
            <a:off x="10600639" y="2761488"/>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3.2%</a:t>
            </a:r>
            <a:endParaRPr lang="en-US" sz="1100" dirty="0"/>
          </a:p>
        </p:txBody>
      </p:sp>
      <p:sp>
        <p:nvSpPr>
          <p:cNvPr id="28" name="Text 26"/>
          <p:cNvSpPr/>
          <p:nvPr/>
        </p:nvSpPr>
        <p:spPr>
          <a:xfrm>
            <a:off x="6507328" y="2953512"/>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クレジットカード決済</a:t>
            </a:r>
            <a:endParaRPr lang="en-US" sz="850" dirty="0"/>
          </a:p>
        </p:txBody>
      </p:sp>
      <p:sp>
        <p:nvSpPr>
          <p:cNvPr id="29" name="Text 27"/>
          <p:cNvSpPr/>
          <p:nvPr/>
        </p:nvSpPr>
        <p:spPr>
          <a:xfrm>
            <a:off x="6507328" y="3291840"/>
            <a:ext cx="409331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出庫・梱包・クール便</a:t>
            </a:r>
            <a:endParaRPr lang="en-US" sz="1000" dirty="0"/>
          </a:p>
        </p:txBody>
      </p:sp>
      <p:sp>
        <p:nvSpPr>
          <p:cNvPr id="30" name="Text 28"/>
          <p:cNvSpPr/>
          <p:nvPr/>
        </p:nvSpPr>
        <p:spPr>
          <a:xfrm>
            <a:off x="10600639" y="3291840"/>
            <a:ext cx="676656" cy="201168"/>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2.5%</a:t>
            </a:r>
            <a:endParaRPr lang="en-US" sz="1100" dirty="0"/>
          </a:p>
        </p:txBody>
      </p:sp>
      <p:sp>
        <p:nvSpPr>
          <p:cNvPr id="31" name="Text 29"/>
          <p:cNvSpPr/>
          <p:nvPr/>
        </p:nvSpPr>
        <p:spPr>
          <a:xfrm>
            <a:off x="6507328" y="3483864"/>
            <a:ext cx="4769968" cy="292608"/>
          </a:xfrm>
          <a:prstGeom prst="rect">
            <a:avLst/>
          </a:prstGeom>
          <a:noFill/>
          <a:ln/>
        </p:spPr>
        <p:txBody>
          <a:bodyPr wrap="square" lIns="0" tIns="0" rIns="0" bIns="0" rtlCol="0" anchor="ctr"/>
          <a:lstStyle/>
          <a:p>
            <a:pPr indent="0" marL="0">
              <a:lnSpc>
                <a:spcPct val="115000"/>
              </a:lnSpc>
              <a:buNone/>
            </a:pPr>
            <a:r>
              <a:rPr lang="en-US" sz="850" dirty="0">
                <a:solidFill>
                  <a:srgbClr val="9A938A"/>
                </a:solidFill>
                <a:latin typeface="Yu Gothic" pitchFamily="34" charset="0"/>
                <a:ea typeface="Yu Gothic" pitchFamily="34" charset="-122"/>
                <a:cs typeface="Yu Gothic" pitchFamily="34" charset="-120"/>
              </a:rPr>
              <a:t>1口1,300円＋梱包資材。1口平均6万円想定</a:t>
            </a:r>
            <a:endParaRPr lang="en-US" sz="850" dirty="0"/>
          </a:p>
        </p:txBody>
      </p:sp>
      <p:sp>
        <p:nvSpPr>
          <p:cNvPr id="32" name="Text 30"/>
          <p:cNvSpPr/>
          <p:nvPr/>
        </p:nvSpPr>
        <p:spPr>
          <a:xfrm>
            <a:off x="6507328" y="3913632"/>
            <a:ext cx="2377440" cy="219456"/>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変動販売費 合計</a:t>
            </a:r>
            <a:endParaRPr lang="en-US" sz="1000" dirty="0"/>
          </a:p>
        </p:txBody>
      </p:sp>
      <p:sp>
        <p:nvSpPr>
          <p:cNvPr id="33" name="Text 31"/>
          <p:cNvSpPr/>
          <p:nvPr/>
        </p:nvSpPr>
        <p:spPr>
          <a:xfrm>
            <a:off x="9521647" y="3913632"/>
            <a:ext cx="1755648" cy="219456"/>
          </a:xfrm>
          <a:prstGeom prst="rect">
            <a:avLst/>
          </a:prstGeom>
          <a:noFill/>
          <a:ln/>
        </p:spPr>
        <p:txBody>
          <a:bodyPr wrap="square" lIns="0" tIns="0" rIns="0" bIns="0" rtlCol="0" anchor="ctr"/>
          <a:lstStyle/>
          <a:p>
            <a:pPr algn="r" indent="0" marL="0">
              <a:buNone/>
            </a:pPr>
            <a:r>
              <a:rPr lang="en-US" sz="1050" b="1" dirty="0">
                <a:solidFill>
                  <a:srgbClr val="B4553F"/>
                </a:solidFill>
                <a:latin typeface="Yu Gothic" pitchFamily="34" charset="0"/>
                <a:ea typeface="Yu Gothic" pitchFamily="34" charset="-122"/>
                <a:cs typeface="Yu Gothic" pitchFamily="34" charset="-120"/>
              </a:rPr>
              <a:t>11.2%（▲8.96）</a:t>
            </a:r>
            <a:endParaRPr lang="en-US" sz="1050" dirty="0"/>
          </a:p>
        </p:txBody>
      </p:sp>
      <p:sp>
        <p:nvSpPr>
          <p:cNvPr id="34" name="Text 32"/>
          <p:cNvSpPr/>
          <p:nvPr/>
        </p:nvSpPr>
        <p:spPr>
          <a:xfrm>
            <a:off x="6507328" y="4187952"/>
            <a:ext cx="2011680" cy="347472"/>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手取り</a:t>
            </a:r>
            <a:endParaRPr lang="en-US" sz="1100" dirty="0"/>
          </a:p>
        </p:txBody>
      </p:sp>
      <p:sp>
        <p:nvSpPr>
          <p:cNvPr id="35" name="Text 33"/>
          <p:cNvSpPr/>
          <p:nvPr/>
        </p:nvSpPr>
        <p:spPr>
          <a:xfrm>
            <a:off x="9521647" y="4169664"/>
            <a:ext cx="1755648" cy="384048"/>
          </a:xfrm>
          <a:prstGeom prst="rect">
            <a:avLst/>
          </a:prstGeom>
          <a:noFill/>
          <a:ln/>
        </p:spPr>
        <p:txBody>
          <a:bodyPr wrap="square" lIns="0" tIns="0" rIns="0" bIns="0" rtlCol="0" anchor="ctr"/>
          <a:lstStyle/>
          <a:p>
            <a:pPr algn="r" indent="0" marL="0">
              <a:buNone/>
            </a:pPr>
            <a:r>
              <a:rPr lang="en-US" sz="2500" b="1" dirty="0">
                <a:solidFill>
                  <a:srgbClr val="C9A96E"/>
                </a:solidFill>
                <a:latin typeface="Cambria" pitchFamily="34" charset="0"/>
                <a:ea typeface="Cambria" pitchFamily="34" charset="-122"/>
                <a:cs typeface="Cambria" pitchFamily="34" charset="-120"/>
              </a:rPr>
              <a:t>71.04</a:t>
            </a:r>
            <a:endParaRPr lang="en-US" sz="2500" dirty="0"/>
          </a:p>
        </p:txBody>
      </p:sp>
      <p:sp>
        <p:nvSpPr>
          <p:cNvPr id="36" name="Shape 34"/>
          <p:cNvSpPr/>
          <p:nvPr/>
        </p:nvSpPr>
        <p:spPr>
          <a:xfrm>
            <a:off x="658368" y="4791456"/>
            <a:ext cx="10874959" cy="914400"/>
          </a:xfrm>
          <a:prstGeom prst="roundRect">
            <a:avLst>
              <a:gd name="adj" fmla="val 4500"/>
            </a:avLst>
          </a:prstGeom>
          <a:solidFill>
            <a:srgbClr val="1F1D19"/>
          </a:solidFill>
          <a:ln w="9525">
            <a:solidFill>
              <a:srgbClr val="6E5730"/>
            </a:solidFill>
            <a:prstDash val="solid"/>
          </a:ln>
        </p:spPr>
      </p:sp>
      <p:sp>
        <p:nvSpPr>
          <p:cNvPr id="37" name="Text 35"/>
          <p:cNvSpPr/>
          <p:nvPr/>
        </p:nvSpPr>
        <p:spPr>
          <a:xfrm>
            <a:off x="932688" y="4901184"/>
            <a:ext cx="10326319" cy="694944"/>
          </a:xfrm>
          <a:prstGeom prst="rect">
            <a:avLst/>
          </a:prstGeom>
          <a:noFill/>
          <a:ln/>
        </p:spPr>
        <p:txBody>
          <a:bodyPr wrap="square" lIns="0" tIns="0" rIns="0" bIns="0" rtlCol="0" anchor="ctr"/>
          <a:lstStyle/>
          <a:p>
            <a:pPr indent="0" marL="0">
              <a:lnSpc>
                <a:spcPct val="122000"/>
              </a:lnSpc>
              <a:buNone/>
            </a:pPr>
            <a:r>
              <a:rPr lang="en-US" sz="1200" b="1" dirty="0">
                <a:solidFill>
                  <a:srgbClr val="C9A96E"/>
                </a:solidFill>
                <a:latin typeface="Yu Gothic" pitchFamily="34" charset="0"/>
                <a:ea typeface="Yu Gothic" pitchFamily="34" charset="-122"/>
                <a:cs typeface="Yu Gothic" pitchFamily="34" charset="-120"/>
              </a:rPr>
              <a:t>手数料が重くても、B2Cのほうが手取りは1.74ポイント高い。</a:t>
            </a:r>
            <a:pPr indent="0" marL="0">
              <a:lnSpc>
                <a:spcPct val="122000"/>
              </a:lnSpc>
              <a:buNone/>
            </a:pPr>
            <a:r>
              <a:rPr lang="en-US" sz="1000" dirty="0">
                <a:solidFill>
                  <a:srgbClr val="EFEBE3"/>
                </a:solidFill>
                <a:latin typeface="Yu Gothic" pitchFamily="34" charset="0"/>
                <a:ea typeface="Yu Gothic" pitchFamily="34" charset="-122"/>
                <a:cs typeface="Yu Gothic" pitchFamily="34" charset="-120"/>
              </a:rPr>
              <a:t>　B2Cは手数料率11.2%を負うが、売値が定価比80とB2Bの70を10ポイント上回るため、差引きで勝る。ただしB2Cは1本ずつの出荷となり販売量の上限が低いため、回転期間を確保するにはB2Bの卸売が不可欠となる。両者を半々で運用し、加重平均で時価75.00・変動販売費6.44%・手取り70.17を主線とする（いずれも取得時点の価格。保有中の値上がりは次頁以降で加算）。</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UNIT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ワイン価格上昇率別の単位経済（保有12ヶ月・定価100あたり）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SPC簿価は時価−αで固定される。したがってSPCの粗利を動かすのは、保有中にどれだけ値上がりするかである。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09</a:t>
            </a:r>
            <a:endParaRPr lang="en-US" sz="950" dirty="0"/>
          </a:p>
        </p:txBody>
      </p:sp>
      <p:sp>
        <p:nvSpPr>
          <p:cNvPr id="7" name="Shape 5"/>
          <p:cNvSpPr/>
          <p:nvPr/>
        </p:nvSpPr>
        <p:spPr>
          <a:xfrm>
            <a:off x="658368" y="1627632"/>
            <a:ext cx="3429914" cy="3931920"/>
          </a:xfrm>
          <a:prstGeom prst="roundRect">
            <a:avLst>
              <a:gd name="adj" fmla="val 1200"/>
            </a:avLst>
          </a:prstGeom>
          <a:solidFill>
            <a:srgbClr val="171614"/>
          </a:solidFill>
          <a:ln w="9525">
            <a:solidFill>
              <a:srgbClr val="2E2A24"/>
            </a:solidFill>
            <a:prstDash val="solid"/>
          </a:ln>
        </p:spPr>
      </p:sp>
      <p:sp>
        <p:nvSpPr>
          <p:cNvPr id="8" name="Text 6"/>
          <p:cNvSpPr/>
          <p:nvPr/>
        </p:nvSpPr>
        <p:spPr>
          <a:xfrm>
            <a:off x="914400" y="1828800"/>
            <a:ext cx="2917850" cy="292608"/>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ネガティブ</a:t>
            </a:r>
            <a:endParaRPr lang="en-US" sz="1300" dirty="0"/>
          </a:p>
        </p:txBody>
      </p:sp>
      <p:sp>
        <p:nvSpPr>
          <p:cNvPr id="9" name="Text 7"/>
          <p:cNvSpPr/>
          <p:nvPr/>
        </p:nvSpPr>
        <p:spPr>
          <a:xfrm>
            <a:off x="914400"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10" name="Text 8"/>
          <p:cNvSpPr/>
          <p:nvPr/>
        </p:nvSpPr>
        <p:spPr>
          <a:xfrm>
            <a:off x="2606954"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50.00</a:t>
            </a:r>
            <a:endParaRPr lang="en-US" sz="1350" dirty="0"/>
          </a:p>
        </p:txBody>
      </p:sp>
      <p:sp>
        <p:nvSpPr>
          <p:cNvPr id="11" name="Text 9"/>
          <p:cNvSpPr/>
          <p:nvPr/>
        </p:nvSpPr>
        <p:spPr>
          <a:xfrm>
            <a:off x="914400"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時価（取得時の売値）</a:t>
            </a:r>
            <a:endParaRPr lang="en-US" sz="950" dirty="0"/>
          </a:p>
        </p:txBody>
      </p:sp>
      <p:sp>
        <p:nvSpPr>
          <p:cNvPr id="12" name="Text 10"/>
          <p:cNvSpPr/>
          <p:nvPr/>
        </p:nvSpPr>
        <p:spPr>
          <a:xfrm>
            <a:off x="2606954" y="251917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75.00</a:t>
            </a:r>
            <a:endParaRPr lang="en-US" sz="1350" dirty="0"/>
          </a:p>
        </p:txBody>
      </p:sp>
      <p:sp>
        <p:nvSpPr>
          <p:cNvPr id="13" name="Text 11"/>
          <p:cNvSpPr/>
          <p:nvPr/>
        </p:nvSpPr>
        <p:spPr>
          <a:xfrm>
            <a:off x="914400"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SPC簿価（時価−α）</a:t>
            </a:r>
            <a:endParaRPr lang="en-US" sz="950" dirty="0"/>
          </a:p>
        </p:txBody>
      </p:sp>
      <p:sp>
        <p:nvSpPr>
          <p:cNvPr id="14" name="Text 12"/>
          <p:cNvSpPr/>
          <p:nvPr/>
        </p:nvSpPr>
        <p:spPr>
          <a:xfrm>
            <a:off x="2606954"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59.38</a:t>
            </a:r>
            <a:endParaRPr lang="en-US" sz="1350" dirty="0"/>
          </a:p>
        </p:txBody>
      </p:sp>
      <p:sp>
        <p:nvSpPr>
          <p:cNvPr id="15" name="Text 13"/>
          <p:cNvSpPr/>
          <p:nvPr/>
        </p:nvSpPr>
        <p:spPr>
          <a:xfrm>
            <a:off x="914400"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16" name="Text 14"/>
          <p:cNvSpPr/>
          <p:nvPr/>
        </p:nvSpPr>
        <p:spPr>
          <a:xfrm>
            <a:off x="2606954" y="309524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×1.000</a:t>
            </a:r>
            <a:endParaRPr lang="en-US" sz="1250" dirty="0"/>
          </a:p>
        </p:txBody>
      </p:sp>
      <p:sp>
        <p:nvSpPr>
          <p:cNvPr id="17" name="Text 15"/>
          <p:cNvSpPr/>
          <p:nvPr/>
        </p:nvSpPr>
        <p:spPr>
          <a:xfrm>
            <a:off x="914400"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18" name="Text 16"/>
          <p:cNvSpPr/>
          <p:nvPr/>
        </p:nvSpPr>
        <p:spPr>
          <a:xfrm>
            <a:off x="2606954"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75.00</a:t>
            </a:r>
            <a:endParaRPr lang="en-US" sz="1350" dirty="0"/>
          </a:p>
        </p:txBody>
      </p:sp>
      <p:sp>
        <p:nvSpPr>
          <p:cNvPr id="19" name="Text 17"/>
          <p:cNvSpPr/>
          <p:nvPr/>
        </p:nvSpPr>
        <p:spPr>
          <a:xfrm>
            <a:off x="914400"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20" name="Text 18"/>
          <p:cNvSpPr/>
          <p:nvPr/>
        </p:nvSpPr>
        <p:spPr>
          <a:xfrm>
            <a:off x="2606954"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4.83</a:t>
            </a:r>
            <a:endParaRPr lang="en-US" sz="1350" dirty="0"/>
          </a:p>
        </p:txBody>
      </p:sp>
      <p:sp>
        <p:nvSpPr>
          <p:cNvPr id="21" name="Text 19"/>
          <p:cNvSpPr/>
          <p:nvPr/>
        </p:nvSpPr>
        <p:spPr>
          <a:xfrm>
            <a:off x="914400"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22" name="Text 20"/>
          <p:cNvSpPr/>
          <p:nvPr/>
        </p:nvSpPr>
        <p:spPr>
          <a:xfrm>
            <a:off x="2606954" y="395935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70.17</a:t>
            </a:r>
            <a:endParaRPr lang="en-US" sz="1350" dirty="0"/>
          </a:p>
        </p:txBody>
      </p:sp>
      <p:sp>
        <p:nvSpPr>
          <p:cNvPr id="23" name="Text 21"/>
          <p:cNvSpPr/>
          <p:nvPr/>
        </p:nvSpPr>
        <p:spPr>
          <a:xfrm>
            <a:off x="914400"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24" name="Text 22"/>
          <p:cNvSpPr/>
          <p:nvPr/>
        </p:nvSpPr>
        <p:spPr>
          <a:xfrm>
            <a:off x="2606954" y="424738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10.79</a:t>
            </a:r>
            <a:endParaRPr lang="en-US" sz="1350" dirty="0"/>
          </a:p>
        </p:txBody>
      </p:sp>
      <p:sp>
        <p:nvSpPr>
          <p:cNvPr id="25" name="Text 23"/>
          <p:cNvSpPr/>
          <p:nvPr/>
        </p:nvSpPr>
        <p:spPr>
          <a:xfrm>
            <a:off x="914400"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26" name="Text 24"/>
          <p:cNvSpPr/>
          <p:nvPr/>
        </p:nvSpPr>
        <p:spPr>
          <a:xfrm>
            <a:off x="2606954" y="453542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14.4%</a:t>
            </a:r>
            <a:endParaRPr lang="en-US" sz="1250" dirty="0"/>
          </a:p>
        </p:txBody>
      </p:sp>
      <p:sp>
        <p:nvSpPr>
          <p:cNvPr id="27" name="Text 25"/>
          <p:cNvSpPr/>
          <p:nvPr/>
        </p:nvSpPr>
        <p:spPr>
          <a:xfrm>
            <a:off x="914400"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投下簿価利益率</a:t>
            </a:r>
            <a:endParaRPr lang="en-US" sz="950" dirty="0"/>
          </a:p>
        </p:txBody>
      </p:sp>
      <p:sp>
        <p:nvSpPr>
          <p:cNvPr id="28" name="Text 26"/>
          <p:cNvSpPr/>
          <p:nvPr/>
        </p:nvSpPr>
        <p:spPr>
          <a:xfrm>
            <a:off x="2606954" y="4823460"/>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18.2%</a:t>
            </a:r>
            <a:endParaRPr lang="en-US" sz="1250" dirty="0"/>
          </a:p>
        </p:txBody>
      </p:sp>
      <p:sp>
        <p:nvSpPr>
          <p:cNvPr id="29" name="Text 27"/>
          <p:cNvSpPr/>
          <p:nvPr/>
        </p:nvSpPr>
        <p:spPr>
          <a:xfrm>
            <a:off x="914400"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ワイン価格の年間上昇率 年0%（横ばい）</a:t>
            </a:r>
            <a:endParaRPr lang="en-US" sz="900" dirty="0"/>
          </a:p>
        </p:txBody>
      </p:sp>
      <p:sp>
        <p:nvSpPr>
          <p:cNvPr id="30" name="Shape 28"/>
          <p:cNvSpPr/>
          <p:nvPr/>
        </p:nvSpPr>
        <p:spPr>
          <a:xfrm>
            <a:off x="4380890" y="1627632"/>
            <a:ext cx="3429914" cy="3931920"/>
          </a:xfrm>
          <a:prstGeom prst="roundRect">
            <a:avLst>
              <a:gd name="adj" fmla="val 1200"/>
            </a:avLst>
          </a:prstGeom>
          <a:solidFill>
            <a:srgbClr val="1F1D19"/>
          </a:solidFill>
          <a:ln w="9525">
            <a:solidFill>
              <a:srgbClr val="6E5730"/>
            </a:solidFill>
            <a:prstDash val="solid"/>
          </a:ln>
        </p:spPr>
      </p:sp>
      <p:sp>
        <p:nvSpPr>
          <p:cNvPr id="31" name="Text 29"/>
          <p:cNvSpPr/>
          <p:nvPr/>
        </p:nvSpPr>
        <p:spPr>
          <a:xfrm>
            <a:off x="4636922" y="1828800"/>
            <a:ext cx="2917850"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ニュートラル（主線）</a:t>
            </a:r>
            <a:endParaRPr lang="en-US" sz="1300" dirty="0"/>
          </a:p>
        </p:txBody>
      </p:sp>
      <p:sp>
        <p:nvSpPr>
          <p:cNvPr id="32" name="Text 30"/>
          <p:cNvSpPr/>
          <p:nvPr/>
        </p:nvSpPr>
        <p:spPr>
          <a:xfrm>
            <a:off x="4636922"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33" name="Text 31"/>
          <p:cNvSpPr/>
          <p:nvPr/>
        </p:nvSpPr>
        <p:spPr>
          <a:xfrm>
            <a:off x="6329477"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50.00</a:t>
            </a:r>
            <a:endParaRPr lang="en-US" sz="1350" dirty="0"/>
          </a:p>
        </p:txBody>
      </p:sp>
      <p:sp>
        <p:nvSpPr>
          <p:cNvPr id="34" name="Text 32"/>
          <p:cNvSpPr/>
          <p:nvPr/>
        </p:nvSpPr>
        <p:spPr>
          <a:xfrm>
            <a:off x="4636922"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時価（取得時の売値）</a:t>
            </a:r>
            <a:endParaRPr lang="en-US" sz="950" dirty="0"/>
          </a:p>
        </p:txBody>
      </p:sp>
      <p:sp>
        <p:nvSpPr>
          <p:cNvPr id="35" name="Text 33"/>
          <p:cNvSpPr/>
          <p:nvPr/>
        </p:nvSpPr>
        <p:spPr>
          <a:xfrm>
            <a:off x="6329477" y="251917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75.00</a:t>
            </a:r>
            <a:endParaRPr lang="en-US" sz="1350" dirty="0"/>
          </a:p>
        </p:txBody>
      </p:sp>
      <p:sp>
        <p:nvSpPr>
          <p:cNvPr id="36" name="Text 34"/>
          <p:cNvSpPr/>
          <p:nvPr/>
        </p:nvSpPr>
        <p:spPr>
          <a:xfrm>
            <a:off x="4636922"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SPC簿価（時価−α）</a:t>
            </a:r>
            <a:endParaRPr lang="en-US" sz="950" dirty="0"/>
          </a:p>
        </p:txBody>
      </p:sp>
      <p:sp>
        <p:nvSpPr>
          <p:cNvPr id="37" name="Text 35"/>
          <p:cNvSpPr/>
          <p:nvPr/>
        </p:nvSpPr>
        <p:spPr>
          <a:xfrm>
            <a:off x="6329477" y="2807208"/>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59.38</a:t>
            </a:r>
            <a:endParaRPr lang="en-US" sz="1350" dirty="0"/>
          </a:p>
        </p:txBody>
      </p:sp>
      <p:sp>
        <p:nvSpPr>
          <p:cNvPr id="38" name="Text 36"/>
          <p:cNvSpPr/>
          <p:nvPr/>
        </p:nvSpPr>
        <p:spPr>
          <a:xfrm>
            <a:off x="4636922"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39" name="Text 37"/>
          <p:cNvSpPr/>
          <p:nvPr/>
        </p:nvSpPr>
        <p:spPr>
          <a:xfrm>
            <a:off x="6329477" y="3095244"/>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×1.060</a:t>
            </a:r>
            <a:endParaRPr lang="en-US" sz="1250" dirty="0"/>
          </a:p>
        </p:txBody>
      </p:sp>
      <p:sp>
        <p:nvSpPr>
          <p:cNvPr id="40" name="Text 38"/>
          <p:cNvSpPr/>
          <p:nvPr/>
        </p:nvSpPr>
        <p:spPr>
          <a:xfrm>
            <a:off x="4636922"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41" name="Text 39"/>
          <p:cNvSpPr/>
          <p:nvPr/>
        </p:nvSpPr>
        <p:spPr>
          <a:xfrm>
            <a:off x="6329477"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79.50</a:t>
            </a:r>
            <a:endParaRPr lang="en-US" sz="1350" dirty="0"/>
          </a:p>
        </p:txBody>
      </p:sp>
      <p:sp>
        <p:nvSpPr>
          <p:cNvPr id="42" name="Text 40"/>
          <p:cNvSpPr/>
          <p:nvPr/>
        </p:nvSpPr>
        <p:spPr>
          <a:xfrm>
            <a:off x="4636922"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43" name="Text 41"/>
          <p:cNvSpPr/>
          <p:nvPr/>
        </p:nvSpPr>
        <p:spPr>
          <a:xfrm>
            <a:off x="6329477"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5.12</a:t>
            </a:r>
            <a:endParaRPr lang="en-US" sz="1350" dirty="0"/>
          </a:p>
        </p:txBody>
      </p:sp>
      <p:sp>
        <p:nvSpPr>
          <p:cNvPr id="44" name="Text 42"/>
          <p:cNvSpPr/>
          <p:nvPr/>
        </p:nvSpPr>
        <p:spPr>
          <a:xfrm>
            <a:off x="4636922"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45" name="Text 43"/>
          <p:cNvSpPr/>
          <p:nvPr/>
        </p:nvSpPr>
        <p:spPr>
          <a:xfrm>
            <a:off x="6329477" y="3959352"/>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74.38</a:t>
            </a:r>
            <a:endParaRPr lang="en-US" sz="1350" dirty="0"/>
          </a:p>
        </p:txBody>
      </p:sp>
      <p:sp>
        <p:nvSpPr>
          <p:cNvPr id="46" name="Text 44"/>
          <p:cNvSpPr/>
          <p:nvPr/>
        </p:nvSpPr>
        <p:spPr>
          <a:xfrm>
            <a:off x="4636922"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47" name="Text 45"/>
          <p:cNvSpPr/>
          <p:nvPr/>
        </p:nvSpPr>
        <p:spPr>
          <a:xfrm>
            <a:off x="6329477" y="4247388"/>
            <a:ext cx="1225296" cy="237744"/>
          </a:xfrm>
          <a:prstGeom prst="rect">
            <a:avLst/>
          </a:prstGeom>
          <a:noFill/>
          <a:ln/>
        </p:spPr>
        <p:txBody>
          <a:bodyPr wrap="square" lIns="0" tIns="0" rIns="0" bIns="0" rtlCol="0" anchor="ctr"/>
          <a:lstStyle/>
          <a:p>
            <a:pPr algn="r" indent="0" marL="0">
              <a:buNone/>
            </a:pPr>
            <a:r>
              <a:rPr lang="en-US" sz="1350" b="1" dirty="0">
                <a:solidFill>
                  <a:srgbClr val="C9A96E"/>
                </a:solidFill>
                <a:latin typeface="Cambria" pitchFamily="34" charset="0"/>
                <a:ea typeface="Cambria" pitchFamily="34" charset="-122"/>
                <a:cs typeface="Cambria" pitchFamily="34" charset="-120"/>
              </a:rPr>
              <a:t>15.00</a:t>
            </a:r>
            <a:endParaRPr lang="en-US" sz="1350" dirty="0"/>
          </a:p>
        </p:txBody>
      </p:sp>
      <p:sp>
        <p:nvSpPr>
          <p:cNvPr id="48" name="Text 46"/>
          <p:cNvSpPr/>
          <p:nvPr/>
        </p:nvSpPr>
        <p:spPr>
          <a:xfrm>
            <a:off x="4636922"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49" name="Text 47"/>
          <p:cNvSpPr/>
          <p:nvPr/>
        </p:nvSpPr>
        <p:spPr>
          <a:xfrm>
            <a:off x="6329477" y="4535424"/>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18.9%</a:t>
            </a:r>
            <a:endParaRPr lang="en-US" sz="1250" dirty="0"/>
          </a:p>
        </p:txBody>
      </p:sp>
      <p:sp>
        <p:nvSpPr>
          <p:cNvPr id="50" name="Text 48"/>
          <p:cNvSpPr/>
          <p:nvPr/>
        </p:nvSpPr>
        <p:spPr>
          <a:xfrm>
            <a:off x="4636922"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投下簿価利益率</a:t>
            </a:r>
            <a:endParaRPr lang="en-US" sz="950" dirty="0"/>
          </a:p>
        </p:txBody>
      </p:sp>
      <p:sp>
        <p:nvSpPr>
          <p:cNvPr id="51" name="Text 49"/>
          <p:cNvSpPr/>
          <p:nvPr/>
        </p:nvSpPr>
        <p:spPr>
          <a:xfrm>
            <a:off x="6329477" y="4823460"/>
            <a:ext cx="1225296" cy="237744"/>
          </a:xfrm>
          <a:prstGeom prst="rect">
            <a:avLst/>
          </a:prstGeom>
          <a:noFill/>
          <a:ln/>
        </p:spPr>
        <p:txBody>
          <a:bodyPr wrap="square" lIns="0" tIns="0" rIns="0" bIns="0" rtlCol="0" anchor="ctr"/>
          <a:lstStyle/>
          <a:p>
            <a:pPr algn="r" indent="0" marL="0">
              <a:buNone/>
            </a:pPr>
            <a:r>
              <a:rPr lang="en-US" sz="1250" b="1" dirty="0">
                <a:solidFill>
                  <a:srgbClr val="C9A96E"/>
                </a:solidFill>
                <a:latin typeface="Cambria" pitchFamily="34" charset="0"/>
                <a:ea typeface="Cambria" pitchFamily="34" charset="-122"/>
                <a:cs typeface="Cambria" pitchFamily="34" charset="-120"/>
              </a:rPr>
              <a:t>25.3%</a:t>
            </a:r>
            <a:endParaRPr lang="en-US" sz="1250" dirty="0"/>
          </a:p>
        </p:txBody>
      </p:sp>
      <p:sp>
        <p:nvSpPr>
          <p:cNvPr id="52" name="Text 50"/>
          <p:cNvSpPr/>
          <p:nvPr/>
        </p:nvSpPr>
        <p:spPr>
          <a:xfrm>
            <a:off x="4636922"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ワイン価格の年間上昇率 年6%</a:t>
            </a:r>
            <a:endParaRPr lang="en-US" sz="900" dirty="0"/>
          </a:p>
        </p:txBody>
      </p:sp>
      <p:sp>
        <p:nvSpPr>
          <p:cNvPr id="53" name="Shape 51"/>
          <p:cNvSpPr/>
          <p:nvPr/>
        </p:nvSpPr>
        <p:spPr>
          <a:xfrm>
            <a:off x="8103413" y="1627632"/>
            <a:ext cx="3429914" cy="3931920"/>
          </a:xfrm>
          <a:prstGeom prst="roundRect">
            <a:avLst>
              <a:gd name="adj" fmla="val 1200"/>
            </a:avLst>
          </a:prstGeom>
          <a:solidFill>
            <a:srgbClr val="171614"/>
          </a:solidFill>
          <a:ln w="9525">
            <a:solidFill>
              <a:srgbClr val="2E2A24"/>
            </a:solidFill>
            <a:prstDash val="solid"/>
          </a:ln>
        </p:spPr>
      </p:sp>
      <p:sp>
        <p:nvSpPr>
          <p:cNvPr id="54" name="Text 52"/>
          <p:cNvSpPr/>
          <p:nvPr/>
        </p:nvSpPr>
        <p:spPr>
          <a:xfrm>
            <a:off x="8359445" y="1828800"/>
            <a:ext cx="2917850" cy="292608"/>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ポジティブ</a:t>
            </a:r>
            <a:endParaRPr lang="en-US" sz="1300" dirty="0"/>
          </a:p>
        </p:txBody>
      </p:sp>
      <p:sp>
        <p:nvSpPr>
          <p:cNvPr id="55" name="Text 53"/>
          <p:cNvSpPr/>
          <p:nvPr/>
        </p:nvSpPr>
        <p:spPr>
          <a:xfrm>
            <a:off x="8359445" y="223113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市中仕入原価</a:t>
            </a:r>
            <a:endParaRPr lang="en-US" sz="950" dirty="0"/>
          </a:p>
        </p:txBody>
      </p:sp>
      <p:sp>
        <p:nvSpPr>
          <p:cNvPr id="56" name="Text 54"/>
          <p:cNvSpPr/>
          <p:nvPr/>
        </p:nvSpPr>
        <p:spPr>
          <a:xfrm>
            <a:off x="10051999" y="2231136"/>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50.00</a:t>
            </a:r>
            <a:endParaRPr lang="en-US" sz="1350" dirty="0"/>
          </a:p>
        </p:txBody>
      </p:sp>
      <p:sp>
        <p:nvSpPr>
          <p:cNvPr id="57" name="Text 55"/>
          <p:cNvSpPr/>
          <p:nvPr/>
        </p:nvSpPr>
        <p:spPr>
          <a:xfrm>
            <a:off x="8359445" y="251917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時価（取得時の売値）</a:t>
            </a:r>
            <a:endParaRPr lang="en-US" sz="950" dirty="0"/>
          </a:p>
        </p:txBody>
      </p:sp>
      <p:sp>
        <p:nvSpPr>
          <p:cNvPr id="58" name="Text 56"/>
          <p:cNvSpPr/>
          <p:nvPr/>
        </p:nvSpPr>
        <p:spPr>
          <a:xfrm>
            <a:off x="10051999" y="251917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75.00</a:t>
            </a:r>
            <a:endParaRPr lang="en-US" sz="1350" dirty="0"/>
          </a:p>
        </p:txBody>
      </p:sp>
      <p:sp>
        <p:nvSpPr>
          <p:cNvPr id="59" name="Text 57"/>
          <p:cNvSpPr/>
          <p:nvPr/>
        </p:nvSpPr>
        <p:spPr>
          <a:xfrm>
            <a:off x="8359445" y="280720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SPC簿価（時価−α）</a:t>
            </a:r>
            <a:endParaRPr lang="en-US" sz="950" dirty="0"/>
          </a:p>
        </p:txBody>
      </p:sp>
      <p:sp>
        <p:nvSpPr>
          <p:cNvPr id="60" name="Text 58"/>
          <p:cNvSpPr/>
          <p:nvPr/>
        </p:nvSpPr>
        <p:spPr>
          <a:xfrm>
            <a:off x="10051999" y="280720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59.38</a:t>
            </a:r>
            <a:endParaRPr lang="en-US" sz="1350" dirty="0"/>
          </a:p>
        </p:txBody>
      </p:sp>
      <p:sp>
        <p:nvSpPr>
          <p:cNvPr id="61" name="Text 59"/>
          <p:cNvSpPr/>
          <p:nvPr/>
        </p:nvSpPr>
        <p:spPr>
          <a:xfrm>
            <a:off x="8359445" y="309524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62" name="Text 60"/>
          <p:cNvSpPr/>
          <p:nvPr/>
        </p:nvSpPr>
        <p:spPr>
          <a:xfrm>
            <a:off x="10051999" y="309524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×1.100</a:t>
            </a:r>
            <a:endParaRPr lang="en-US" sz="1250" dirty="0"/>
          </a:p>
        </p:txBody>
      </p:sp>
      <p:sp>
        <p:nvSpPr>
          <p:cNvPr id="63" name="Text 61"/>
          <p:cNvSpPr/>
          <p:nvPr/>
        </p:nvSpPr>
        <p:spPr>
          <a:xfrm>
            <a:off x="8359445" y="338328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64" name="Text 62"/>
          <p:cNvSpPr/>
          <p:nvPr/>
        </p:nvSpPr>
        <p:spPr>
          <a:xfrm>
            <a:off x="10051999" y="3383280"/>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82.50</a:t>
            </a:r>
            <a:endParaRPr lang="en-US" sz="1350" dirty="0"/>
          </a:p>
        </p:txBody>
      </p:sp>
      <p:sp>
        <p:nvSpPr>
          <p:cNvPr id="65" name="Text 63"/>
          <p:cNvSpPr/>
          <p:nvPr/>
        </p:nvSpPr>
        <p:spPr>
          <a:xfrm>
            <a:off x="8359445" y="3671316"/>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a:t>
            </a:r>
            <a:endParaRPr lang="en-US" sz="950" dirty="0"/>
          </a:p>
        </p:txBody>
      </p:sp>
      <p:sp>
        <p:nvSpPr>
          <p:cNvPr id="66" name="Text 64"/>
          <p:cNvSpPr/>
          <p:nvPr/>
        </p:nvSpPr>
        <p:spPr>
          <a:xfrm>
            <a:off x="10051999" y="3671316"/>
            <a:ext cx="1225296" cy="237744"/>
          </a:xfrm>
          <a:prstGeom prst="rect">
            <a:avLst/>
          </a:prstGeom>
          <a:noFill/>
          <a:ln/>
        </p:spPr>
        <p:txBody>
          <a:bodyPr wrap="square" lIns="0" tIns="0" rIns="0" bIns="0" rtlCol="0" anchor="ctr"/>
          <a:lstStyle/>
          <a:p>
            <a:pPr algn="r" indent="0" marL="0">
              <a:buNone/>
            </a:pPr>
            <a:r>
              <a:rPr lang="en-US" sz="1350" b="1" dirty="0">
                <a:solidFill>
                  <a:srgbClr val="B4553F"/>
                </a:solidFill>
                <a:latin typeface="Cambria" pitchFamily="34" charset="0"/>
                <a:ea typeface="Cambria" pitchFamily="34" charset="-122"/>
                <a:cs typeface="Cambria" pitchFamily="34" charset="-120"/>
              </a:rPr>
              <a:t>▲ 5.31</a:t>
            </a:r>
            <a:endParaRPr lang="en-US" sz="1350" dirty="0"/>
          </a:p>
        </p:txBody>
      </p:sp>
      <p:sp>
        <p:nvSpPr>
          <p:cNvPr id="67" name="Text 65"/>
          <p:cNvSpPr/>
          <p:nvPr/>
        </p:nvSpPr>
        <p:spPr>
          <a:xfrm>
            <a:off x="8359445" y="3959352"/>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68" name="Text 66"/>
          <p:cNvSpPr/>
          <p:nvPr/>
        </p:nvSpPr>
        <p:spPr>
          <a:xfrm>
            <a:off x="10051999" y="3959352"/>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77.19</a:t>
            </a:r>
            <a:endParaRPr lang="en-US" sz="1350" dirty="0"/>
          </a:p>
        </p:txBody>
      </p:sp>
      <p:sp>
        <p:nvSpPr>
          <p:cNvPr id="69" name="Text 67"/>
          <p:cNvSpPr/>
          <p:nvPr/>
        </p:nvSpPr>
        <p:spPr>
          <a:xfrm>
            <a:off x="8359445" y="4247388"/>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単位粗利</a:t>
            </a:r>
            <a:endParaRPr lang="en-US" sz="950" dirty="0"/>
          </a:p>
        </p:txBody>
      </p:sp>
      <p:sp>
        <p:nvSpPr>
          <p:cNvPr id="70" name="Text 68"/>
          <p:cNvSpPr/>
          <p:nvPr/>
        </p:nvSpPr>
        <p:spPr>
          <a:xfrm>
            <a:off x="10051999" y="4247388"/>
            <a:ext cx="1225296" cy="237744"/>
          </a:xfrm>
          <a:prstGeom prst="rect">
            <a:avLst/>
          </a:prstGeom>
          <a:noFill/>
          <a:ln/>
        </p:spPr>
        <p:txBody>
          <a:bodyPr wrap="square" lIns="0" tIns="0" rIns="0" bIns="0" rtlCol="0" anchor="ctr"/>
          <a:lstStyle/>
          <a:p>
            <a:pPr algn="r" indent="0" marL="0">
              <a:buNone/>
            </a:pPr>
            <a:r>
              <a:rPr lang="en-US" sz="1350" b="1" dirty="0">
                <a:solidFill>
                  <a:srgbClr val="EFEBE3"/>
                </a:solidFill>
                <a:latin typeface="Cambria" pitchFamily="34" charset="0"/>
                <a:ea typeface="Cambria" pitchFamily="34" charset="-122"/>
                <a:cs typeface="Cambria" pitchFamily="34" charset="-120"/>
              </a:rPr>
              <a:t>17.81</a:t>
            </a:r>
            <a:endParaRPr lang="en-US" sz="1350" dirty="0"/>
          </a:p>
        </p:txBody>
      </p:sp>
      <p:sp>
        <p:nvSpPr>
          <p:cNvPr id="71" name="Text 69"/>
          <p:cNvSpPr/>
          <p:nvPr/>
        </p:nvSpPr>
        <p:spPr>
          <a:xfrm>
            <a:off x="8359445" y="4535424"/>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粗利率（売上比）</a:t>
            </a:r>
            <a:endParaRPr lang="en-US" sz="950" dirty="0"/>
          </a:p>
        </p:txBody>
      </p:sp>
      <p:sp>
        <p:nvSpPr>
          <p:cNvPr id="72" name="Text 70"/>
          <p:cNvSpPr/>
          <p:nvPr/>
        </p:nvSpPr>
        <p:spPr>
          <a:xfrm>
            <a:off x="10051999" y="4535424"/>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21.6%</a:t>
            </a:r>
            <a:endParaRPr lang="en-US" sz="1250" dirty="0"/>
          </a:p>
        </p:txBody>
      </p:sp>
      <p:sp>
        <p:nvSpPr>
          <p:cNvPr id="73" name="Text 71"/>
          <p:cNvSpPr/>
          <p:nvPr/>
        </p:nvSpPr>
        <p:spPr>
          <a:xfrm>
            <a:off x="8359445" y="4823460"/>
            <a:ext cx="1966874" cy="237744"/>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投下簿価利益率</a:t>
            </a:r>
            <a:endParaRPr lang="en-US" sz="950" dirty="0"/>
          </a:p>
        </p:txBody>
      </p:sp>
      <p:sp>
        <p:nvSpPr>
          <p:cNvPr id="74" name="Text 72"/>
          <p:cNvSpPr/>
          <p:nvPr/>
        </p:nvSpPr>
        <p:spPr>
          <a:xfrm>
            <a:off x="10051999" y="4823460"/>
            <a:ext cx="1225296" cy="237744"/>
          </a:xfrm>
          <a:prstGeom prst="rect">
            <a:avLst/>
          </a:prstGeom>
          <a:noFill/>
          <a:ln/>
        </p:spPr>
        <p:txBody>
          <a:bodyPr wrap="square" lIns="0" tIns="0" rIns="0" bIns="0" rtlCol="0" anchor="ctr"/>
          <a:lstStyle/>
          <a:p>
            <a:pPr algn="r" indent="0" marL="0">
              <a:buNone/>
            </a:pPr>
            <a:r>
              <a:rPr lang="en-US" sz="1250" b="1" dirty="0">
                <a:solidFill>
                  <a:srgbClr val="EFEBE3"/>
                </a:solidFill>
                <a:latin typeface="Cambria" pitchFamily="34" charset="0"/>
                <a:ea typeface="Cambria" pitchFamily="34" charset="-122"/>
                <a:cs typeface="Cambria" pitchFamily="34" charset="-120"/>
              </a:rPr>
              <a:t>30.0%</a:t>
            </a:r>
            <a:endParaRPr lang="en-US" sz="1250" dirty="0"/>
          </a:p>
        </p:txBody>
      </p:sp>
      <p:sp>
        <p:nvSpPr>
          <p:cNvPr id="75" name="Text 73"/>
          <p:cNvSpPr/>
          <p:nvPr/>
        </p:nvSpPr>
        <p:spPr>
          <a:xfrm>
            <a:off x="8359445" y="5084064"/>
            <a:ext cx="2917850" cy="365760"/>
          </a:xfrm>
          <a:prstGeom prst="rect">
            <a:avLst/>
          </a:prstGeom>
          <a:noFill/>
          <a:ln/>
        </p:spPr>
        <p:txBody>
          <a:bodyPr wrap="square" lIns="0" tIns="0" rIns="0" bIns="0" rtlCol="0" anchor="ctr"/>
          <a:lstStyle/>
          <a:p>
            <a:pPr indent="0" marL="0">
              <a:lnSpc>
                <a:spcPct val="120000"/>
              </a:lnSpc>
              <a:buNone/>
            </a:pPr>
            <a:r>
              <a:rPr lang="en-US" sz="900" dirty="0">
                <a:solidFill>
                  <a:srgbClr val="6E675E"/>
                </a:solidFill>
                <a:latin typeface="Yu Gothic" pitchFamily="34" charset="0"/>
                <a:ea typeface="Yu Gothic" pitchFamily="34" charset="-122"/>
                <a:cs typeface="Yu Gothic" pitchFamily="34" charset="-120"/>
              </a:rPr>
              <a:t>ワイン価格の年間上昇率 年10%（会社資料水準）</a:t>
            </a:r>
            <a:endParaRPr lang="en-US" sz="900" dirty="0"/>
          </a:p>
        </p:txBody>
      </p:sp>
      <p:sp>
        <p:nvSpPr>
          <p:cNvPr id="76" name="Text 74"/>
          <p:cNvSpPr/>
          <p:nvPr/>
        </p:nvSpPr>
        <p:spPr>
          <a:xfrm>
            <a:off x="658368" y="5687568"/>
            <a:ext cx="10874959" cy="365760"/>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市中仕入原価・時価・SPC簿価は3案とも同じである。卸値が時価に連動して決まるため、仕入が安くなっても高くなっても、また売値が上下しても、SPCの簿価と時価の関係は変わらない。SPCの粗利を左右するのは保有中の値上がりのみとなり、年6%の主線で単位粗利15.00・投下簿価利益率25.3%となる。</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COST ASSUMPTIONS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SPC費用の前提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共通費用とチャネル別の変動販売費に分けて計上。監査・法務まで含め、利回りを作るための圧縮は行っていない。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10</a:t>
            </a:r>
            <a:endParaRPr lang="en-US" sz="950" dirty="0"/>
          </a:p>
        </p:txBody>
      </p:sp>
      <p:sp>
        <p:nvSpPr>
          <p:cNvPr id="7" name="Text 5"/>
          <p:cNvSpPr/>
          <p:nvPr/>
        </p:nvSpPr>
        <p:spPr>
          <a:xfrm>
            <a:off x="658368" y="1627632"/>
            <a:ext cx="27432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共通費用</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792224"/>
          <a:ext cx="10874959" cy="914400"/>
        </p:xfrm>
        <a:graphic>
          <a:graphicData uri="http://schemas.openxmlformats.org/drawingml/2006/table">
            <a:tbl>
              <a:tblPr/>
              <a:tblGrid>
                <a:gridCol w="2331720"/>
                <a:gridCol w="1965960"/>
                <a:gridCol w="6574536"/>
              </a:tblGrid>
              <a:tr h="27889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費用項目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単価・料率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根拠・備考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保管（定温倉庫）</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年7,500円／ロット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1ロット＝定価100万円相当（約40本）。月約16円／本で業務用パレット定温保管の一般水準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動産総合保険</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平均在庫簿価の年0.15%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火災・破損・盗難・輸送中事故を全量付保。滞留・破損ロスは保険でカバーするため別途計上しない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入庫・検品</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320円／ロット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入庫時の検品・棚入れ。出庫費用はチャネル別の変動販売費に含む</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SPC維持費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年200万円（固定）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税務・事務受託・法務</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管理報酬</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総額の年2%</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1stクローズで年1,000万円、2ndクローズで年2,000万円。売却時にWineBankが取るのはこれのみ</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AUP（合意された手続）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年50万円（固定）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公認会計士による合意された手続の実施と報告書の発行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予備費</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年50万円（固定）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想定外の実費に充当。未使用分はSPCの利益に残る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7889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WineBankの値入れ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SPC費用ではない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卸値（時価−α）に含まれ、SPCの簿価を構成する。費用として別途計上しない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Text 6"/>
          <p:cNvSpPr/>
          <p:nvPr/>
        </p:nvSpPr>
        <p:spPr>
          <a:xfrm>
            <a:off x="658368" y="4334256"/>
            <a:ext cx="45720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チャネル別 変動販売費（売上比）</a:t>
            </a:r>
            <a:endParaRPr lang="en-US" sz="1100" dirty="0"/>
          </a:p>
        </p:txBody>
      </p:sp>
      <p:sp>
        <p:nvSpPr>
          <p:cNvPr id="10" name="Shape 7"/>
          <p:cNvSpPr/>
          <p:nvPr/>
        </p:nvSpPr>
        <p:spPr>
          <a:xfrm>
            <a:off x="658368" y="4572000"/>
            <a:ext cx="3442106" cy="1097280"/>
          </a:xfrm>
          <a:prstGeom prst="roundRect">
            <a:avLst>
              <a:gd name="adj" fmla="val 3750"/>
            </a:avLst>
          </a:prstGeom>
          <a:solidFill>
            <a:srgbClr val="171614"/>
          </a:solidFill>
          <a:ln w="9525">
            <a:solidFill>
              <a:srgbClr val="2E2A24"/>
            </a:solidFill>
            <a:prstDash val="solid"/>
          </a:ln>
        </p:spPr>
      </p:sp>
      <p:sp>
        <p:nvSpPr>
          <p:cNvPr id="11" name="Text 8"/>
          <p:cNvSpPr/>
          <p:nvPr/>
        </p:nvSpPr>
        <p:spPr>
          <a:xfrm>
            <a:off x="896112" y="4700016"/>
            <a:ext cx="207050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B2B｜酒販店卸</a:t>
            </a:r>
            <a:endParaRPr lang="en-US" sz="1100" dirty="0"/>
          </a:p>
        </p:txBody>
      </p:sp>
      <p:sp>
        <p:nvSpPr>
          <p:cNvPr id="12" name="Text 9"/>
          <p:cNvSpPr/>
          <p:nvPr/>
        </p:nvSpPr>
        <p:spPr>
          <a:xfrm>
            <a:off x="2783738"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1.0</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13" name="Text 10"/>
          <p:cNvSpPr/>
          <p:nvPr/>
        </p:nvSpPr>
        <p:spPr>
          <a:xfrm>
            <a:off x="896112"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出庫・配送 0.6%　／　決済・与信（貸倒引当）0.4%</a:t>
            </a:r>
            <a:endParaRPr lang="en-US" sz="900" dirty="0"/>
          </a:p>
        </p:txBody>
      </p:sp>
      <p:sp>
        <p:nvSpPr>
          <p:cNvPr id="14" name="Shape 11"/>
          <p:cNvSpPr/>
          <p:nvPr/>
        </p:nvSpPr>
        <p:spPr>
          <a:xfrm>
            <a:off x="4374794" y="4572000"/>
            <a:ext cx="3442106" cy="1097280"/>
          </a:xfrm>
          <a:prstGeom prst="roundRect">
            <a:avLst>
              <a:gd name="adj" fmla="val 3750"/>
            </a:avLst>
          </a:prstGeom>
          <a:solidFill>
            <a:srgbClr val="171614"/>
          </a:solidFill>
          <a:ln w="9525">
            <a:solidFill>
              <a:srgbClr val="2E2A24"/>
            </a:solidFill>
            <a:prstDash val="solid"/>
          </a:ln>
        </p:spPr>
      </p:sp>
      <p:sp>
        <p:nvSpPr>
          <p:cNvPr id="15" name="Text 12"/>
          <p:cNvSpPr/>
          <p:nvPr/>
        </p:nvSpPr>
        <p:spPr>
          <a:xfrm>
            <a:off x="4612538" y="4700016"/>
            <a:ext cx="2070506"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B2C｜自社EC・オークション</a:t>
            </a:r>
            <a:endParaRPr lang="en-US" sz="1100" dirty="0"/>
          </a:p>
        </p:txBody>
      </p:sp>
      <p:sp>
        <p:nvSpPr>
          <p:cNvPr id="16" name="Text 13"/>
          <p:cNvSpPr/>
          <p:nvPr/>
        </p:nvSpPr>
        <p:spPr>
          <a:xfrm>
            <a:off x="6500165"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11.2</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17" name="Text 14"/>
          <p:cNvSpPr/>
          <p:nvPr/>
        </p:nvSpPr>
        <p:spPr>
          <a:xfrm>
            <a:off x="4612538"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モール・出品手数料 5.5%　／　カード決済 3.2%　／　出庫・梱包・クール便 2.5%</a:t>
            </a:r>
            <a:endParaRPr lang="en-US" sz="900" dirty="0"/>
          </a:p>
        </p:txBody>
      </p:sp>
      <p:sp>
        <p:nvSpPr>
          <p:cNvPr id="18" name="Shape 15"/>
          <p:cNvSpPr/>
          <p:nvPr/>
        </p:nvSpPr>
        <p:spPr>
          <a:xfrm>
            <a:off x="8091221" y="4572000"/>
            <a:ext cx="3442106" cy="1097280"/>
          </a:xfrm>
          <a:prstGeom prst="roundRect">
            <a:avLst>
              <a:gd name="adj" fmla="val 3750"/>
            </a:avLst>
          </a:prstGeom>
          <a:solidFill>
            <a:srgbClr val="1F1D19"/>
          </a:solidFill>
          <a:ln w="9525">
            <a:solidFill>
              <a:srgbClr val="6E5730"/>
            </a:solidFill>
            <a:prstDash val="solid"/>
          </a:ln>
        </p:spPr>
      </p:sp>
      <p:sp>
        <p:nvSpPr>
          <p:cNvPr id="19" name="Text 16"/>
          <p:cNvSpPr/>
          <p:nvPr/>
        </p:nvSpPr>
        <p:spPr>
          <a:xfrm>
            <a:off x="8328965" y="4700016"/>
            <a:ext cx="207050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加重平均（半々）</a:t>
            </a:r>
            <a:endParaRPr lang="en-US" sz="1100" dirty="0"/>
          </a:p>
        </p:txBody>
      </p:sp>
      <p:sp>
        <p:nvSpPr>
          <p:cNvPr id="20" name="Text 17"/>
          <p:cNvSpPr/>
          <p:nvPr/>
        </p:nvSpPr>
        <p:spPr>
          <a:xfrm>
            <a:off x="10216591" y="4663440"/>
            <a:ext cx="1078992" cy="310896"/>
          </a:xfrm>
          <a:prstGeom prst="rect">
            <a:avLst/>
          </a:prstGeom>
          <a:noFill/>
          <a:ln/>
        </p:spPr>
        <p:txBody>
          <a:bodyPr wrap="square" lIns="0" tIns="0" rIns="0" bIns="0" rtlCol="0" anchor="ctr"/>
          <a:lstStyle/>
          <a:p>
            <a:pPr algn="r" indent="0" marL="0">
              <a:buNone/>
            </a:pPr>
            <a:r>
              <a:rPr lang="en-US" sz="2100" b="1" dirty="0">
                <a:solidFill>
                  <a:srgbClr val="C9A96E"/>
                </a:solidFill>
                <a:latin typeface="Cambria" pitchFamily="34" charset="0"/>
                <a:ea typeface="Cambria" pitchFamily="34" charset="-122"/>
                <a:cs typeface="Cambria" pitchFamily="34" charset="-120"/>
              </a:rPr>
              <a:t>6.44</a:t>
            </a:r>
            <a:pPr algn="r" indent="0" marL="0">
              <a:buNone/>
            </a:pPr>
            <a:r>
              <a:rPr lang="en-US" sz="1100" b="1" dirty="0">
                <a:solidFill>
                  <a:srgbClr val="C9A96E"/>
                </a:solidFill>
                <a:latin typeface="Yu Gothic" pitchFamily="34" charset="0"/>
                <a:ea typeface="Yu Gothic" pitchFamily="34" charset="-122"/>
                <a:cs typeface="Yu Gothic" pitchFamily="34" charset="-120"/>
              </a:rPr>
              <a:t> %</a:t>
            </a:r>
            <a:endParaRPr lang="en-US" sz="2100" dirty="0"/>
          </a:p>
        </p:txBody>
      </p:sp>
      <p:sp>
        <p:nvSpPr>
          <p:cNvPr id="21" name="Text 18"/>
          <p:cNvSpPr/>
          <p:nvPr/>
        </p:nvSpPr>
        <p:spPr>
          <a:xfrm>
            <a:off x="8328965" y="4992624"/>
            <a:ext cx="2966618" cy="56692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売値ベースの加重平均　／　定価100あたり ▲4.83</a:t>
            </a:r>
            <a:endParaRPr lang="en-US" sz="900" dirty="0"/>
          </a:p>
        </p:txBody>
      </p:sp>
      <p:sp>
        <p:nvSpPr>
          <p:cNvPr id="22" name="Text 19"/>
          <p:cNvSpPr/>
          <p:nvPr/>
        </p:nvSpPr>
        <p:spPr>
          <a:xfrm>
            <a:off x="658368" y="5724144"/>
            <a:ext cx="10874959" cy="438912"/>
          </a:xfrm>
          <a:prstGeom prst="rect">
            <a:avLst/>
          </a:prstGeom>
          <a:noFill/>
          <a:ln/>
        </p:spPr>
        <p:txBody>
          <a:bodyPr wrap="square" lIns="0" tIns="0" rIns="0" bIns="0" rtlCol="0" anchor="ctr"/>
          <a:lstStyle/>
          <a:p>
            <a:pPr indent="0" marL="0">
              <a:lnSpc>
                <a:spcPct val="120000"/>
              </a:lnSpc>
              <a:buNone/>
            </a:pPr>
            <a:r>
              <a:rPr lang="en-US" sz="850" dirty="0">
                <a:solidFill>
                  <a:srgbClr val="6E675E"/>
                </a:solidFill>
                <a:latin typeface="Yu Gothic" pitchFamily="34" charset="0"/>
                <a:ea typeface="Yu Gothic" pitchFamily="34" charset="-122"/>
                <a:cs typeface="Yu Gothic" pitchFamily="34" charset="-120"/>
              </a:rPr>
              <a:t>※ 保管料は業務用パレット定温保管の水準（月10〜20円／本）。個人向けセラー預かり（月100〜150円／本）とは別の料金帯。ファーストクローズの主線（回転12ヶ月・年間販売6.36億円）における年間SPC費用の合計は6,092万円で、内訳は変動販売費4,096万円・保管600万円・固定費1,300万円（うち管理報酬1,000万円）・保険71万円・入庫26万円。その他の運用前提：総額の95%をワイン購入に充当（現金5%）／仕入展開6ヶ月／ローリング運用／利益は複利再投資せず年1回分配／税前利益は出資比率どおり60：40で配分／利回りは投資家の税引前ベース。</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ニュートラル：在庫回転期間別シミュレーション</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SPC簿価59.38（時価75.00▲20.8%）・ワイン価格上昇 年6%／ファーストクローズ総額5億円・税前利益を出資比率60：40で配分・稼働率95%</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11</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 y="1664208"/>
          <a:ext cx="10874959" cy="914400"/>
        </p:xfrm>
        <a:graphic>
          <a:graphicData uri="http://schemas.openxmlformats.org/drawingml/2006/table">
            <a:tbl>
              <a:tblPr/>
              <a:tblGrid>
                <a:gridCol w="1389888"/>
                <a:gridCol w="859536"/>
                <a:gridCol w="859536"/>
                <a:gridCol w="731520"/>
                <a:gridCol w="1042416"/>
                <a:gridCol w="1225296"/>
                <a:gridCol w="1298448"/>
                <a:gridCol w="1005840"/>
                <a:gridCol w="969264"/>
                <a:gridCol w="1490472"/>
              </a:tblGrid>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年間粗利※</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粗利率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投資家（40%）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WineBank（60%）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5年累計分配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 年平均利回り 5年通算</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8.36億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1.49億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17.8%</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1.28億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51百万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77百万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25.7%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229百万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22.9%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6.36億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1.20億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18.9%</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1.00億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40百万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60百万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20.0%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155百万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15.5%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5.16億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1.03億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20.0%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0.83億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33百万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50百万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16.6%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118百万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11.8%</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4.37億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0.92億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21.0%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0.72億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29百万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43百万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14.4%</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127百万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12.7%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3712464"/>
            <a:ext cx="5532120" cy="1810512"/>
          </a:xfrm>
          <a:prstGeom prst="roundRect">
            <a:avLst>
              <a:gd name="adj" fmla="val 2273"/>
            </a:avLst>
          </a:prstGeom>
          <a:solidFill>
            <a:srgbClr val="1F1D19"/>
          </a:solidFill>
          <a:ln w="9525">
            <a:solidFill>
              <a:srgbClr val="6E5730"/>
            </a:solidFill>
            <a:prstDash val="solid"/>
          </a:ln>
        </p:spPr>
      </p:sp>
      <p:sp>
        <p:nvSpPr>
          <p:cNvPr id="9" name="Text 6"/>
          <p:cNvSpPr/>
          <p:nvPr/>
        </p:nvSpPr>
        <p:spPr>
          <a:xfrm>
            <a:off x="914400" y="3840480"/>
            <a:ext cx="502920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粗利率18.9%が投資家利回り20.0%になる理由</a:t>
            </a:r>
            <a:endParaRPr lang="en-US" sz="1150" dirty="0"/>
          </a:p>
        </p:txBody>
      </p:sp>
      <p:sp>
        <p:nvSpPr>
          <p:cNvPr id="10" name="Text 7"/>
          <p:cNvSpPr/>
          <p:nvPr/>
        </p:nvSpPr>
        <p:spPr>
          <a:xfrm>
            <a:off x="914400" y="413308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定価100あたり</a:t>
            </a:r>
            <a:endParaRPr lang="en-US" sz="950" dirty="0"/>
          </a:p>
        </p:txBody>
      </p:sp>
      <p:sp>
        <p:nvSpPr>
          <p:cNvPr id="11" name="Text 8"/>
          <p:cNvSpPr/>
          <p:nvPr/>
        </p:nvSpPr>
        <p:spPr>
          <a:xfrm>
            <a:off x="2688336" y="413308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簿価59.38で取得し、手取り74.38で回収 → 単位粗利15.00</a:t>
            </a:r>
            <a:endParaRPr lang="en-US" sz="850" dirty="0"/>
          </a:p>
        </p:txBody>
      </p:sp>
      <p:sp>
        <p:nvSpPr>
          <p:cNvPr id="12" name="Text 9"/>
          <p:cNvSpPr/>
          <p:nvPr/>
        </p:nvSpPr>
        <p:spPr>
          <a:xfrm>
            <a:off x="914400" y="440740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粗利率 18.9%</a:t>
            </a:r>
            <a:endParaRPr lang="en-US" sz="950" dirty="0"/>
          </a:p>
        </p:txBody>
      </p:sp>
      <p:sp>
        <p:nvSpPr>
          <p:cNvPr id="13" name="Text 10"/>
          <p:cNvSpPr/>
          <p:nvPr/>
        </p:nvSpPr>
        <p:spPr>
          <a:xfrm>
            <a:off x="2688336" y="440740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分母は売却時の売値79.50</a:t>
            </a:r>
            <a:endParaRPr lang="en-US" sz="850" dirty="0"/>
          </a:p>
        </p:txBody>
      </p:sp>
      <p:sp>
        <p:nvSpPr>
          <p:cNvPr id="14" name="Text 11"/>
          <p:cNvSpPr/>
          <p:nvPr/>
        </p:nvSpPr>
        <p:spPr>
          <a:xfrm>
            <a:off x="914400" y="4681728"/>
            <a:ext cx="1737360" cy="256032"/>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投下簿価利益率 25.3%</a:t>
            </a:r>
            <a:endParaRPr lang="en-US" sz="950" dirty="0"/>
          </a:p>
        </p:txBody>
      </p:sp>
      <p:sp>
        <p:nvSpPr>
          <p:cNvPr id="15" name="Text 12"/>
          <p:cNvSpPr/>
          <p:nvPr/>
        </p:nvSpPr>
        <p:spPr>
          <a:xfrm>
            <a:off x="2688336" y="468172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分母は投下資本であるSPC簿価59.38</a:t>
            </a:r>
            <a:endParaRPr lang="en-US" sz="850" dirty="0"/>
          </a:p>
        </p:txBody>
      </p:sp>
      <p:sp>
        <p:nvSpPr>
          <p:cNvPr id="16" name="Text 13"/>
          <p:cNvSpPr/>
          <p:nvPr/>
        </p:nvSpPr>
        <p:spPr>
          <a:xfrm>
            <a:off x="914400" y="4956048"/>
            <a:ext cx="1737360" cy="256032"/>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税前利益 1.00億円</a:t>
            </a:r>
            <a:endParaRPr lang="en-US" sz="950" dirty="0"/>
          </a:p>
        </p:txBody>
      </p:sp>
      <p:sp>
        <p:nvSpPr>
          <p:cNvPr id="17" name="Text 14"/>
          <p:cNvSpPr/>
          <p:nvPr/>
        </p:nvSpPr>
        <p:spPr>
          <a:xfrm>
            <a:off x="2688336" y="495604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SPC費用 計6,092万円を控除した後の年間税前利益</a:t>
            </a:r>
            <a:endParaRPr lang="en-US" sz="850" dirty="0"/>
          </a:p>
        </p:txBody>
      </p:sp>
      <p:sp>
        <p:nvSpPr>
          <p:cNvPr id="18" name="Text 15"/>
          <p:cNvSpPr/>
          <p:nvPr/>
        </p:nvSpPr>
        <p:spPr>
          <a:xfrm>
            <a:off x="914400" y="5230368"/>
            <a:ext cx="1737360" cy="256032"/>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投資家利回り 20.0%</a:t>
            </a:r>
            <a:endParaRPr lang="en-US" sz="950" dirty="0"/>
          </a:p>
        </p:txBody>
      </p:sp>
      <p:sp>
        <p:nvSpPr>
          <p:cNvPr id="19" name="Text 16"/>
          <p:cNvSpPr/>
          <p:nvPr/>
        </p:nvSpPr>
        <p:spPr>
          <a:xfrm>
            <a:off x="2688336" y="5230368"/>
            <a:ext cx="3291840" cy="256032"/>
          </a:xfrm>
          <a:prstGeom prst="rect">
            <a:avLst/>
          </a:prstGeom>
          <a:noFill/>
          <a:ln/>
        </p:spPr>
        <p:txBody>
          <a:bodyPr wrap="square" lIns="0" tIns="0" rIns="0" bIns="0" rtlCol="0" anchor="ctr"/>
          <a:lstStyle/>
          <a:p>
            <a:pPr indent="0" marL="0">
              <a:lnSpc>
                <a:spcPct val="110000"/>
              </a:lnSpc>
              <a:buNone/>
            </a:pPr>
            <a:r>
              <a:rPr lang="en-US" sz="850" dirty="0">
                <a:solidFill>
                  <a:srgbClr val="9A938A"/>
                </a:solidFill>
                <a:latin typeface="Yu Gothic" pitchFamily="34" charset="0"/>
                <a:ea typeface="Yu Gothic" pitchFamily="34" charset="-122"/>
                <a:cs typeface="Yu Gothic" pitchFamily="34" charset="-120"/>
              </a:rPr>
              <a:t>税前利益の40%＝40百万円 ÷ 出資2億円</a:t>
            </a:r>
            <a:endParaRPr lang="en-US" sz="850" dirty="0"/>
          </a:p>
        </p:txBody>
      </p:sp>
      <p:sp>
        <p:nvSpPr>
          <p:cNvPr id="20" name="Shape 17"/>
          <p:cNvSpPr/>
          <p:nvPr/>
        </p:nvSpPr>
        <p:spPr>
          <a:xfrm>
            <a:off x="6464808" y="3712464"/>
            <a:ext cx="5068519" cy="1810512"/>
          </a:xfrm>
          <a:prstGeom prst="roundRect">
            <a:avLst>
              <a:gd name="adj" fmla="val 2273"/>
            </a:avLst>
          </a:prstGeom>
          <a:solidFill>
            <a:srgbClr val="1F1D19"/>
          </a:solidFill>
          <a:ln w="9525">
            <a:solidFill>
              <a:srgbClr val="6E5730"/>
            </a:solidFill>
            <a:prstDash val="solid"/>
          </a:ln>
        </p:spPr>
      </p:sp>
      <p:sp>
        <p:nvSpPr>
          <p:cNvPr id="21" name="Text 18"/>
          <p:cNvSpPr/>
          <p:nvPr/>
        </p:nvSpPr>
        <p:spPr>
          <a:xfrm>
            <a:off x="6720840" y="3877056"/>
            <a:ext cx="3657600" cy="237744"/>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想定レンジのご提示</a:t>
            </a:r>
            <a:endParaRPr lang="en-US" sz="1200" dirty="0"/>
          </a:p>
        </p:txBody>
      </p:sp>
      <p:sp>
        <p:nvSpPr>
          <p:cNvPr id="22" name="Text 19"/>
          <p:cNvSpPr/>
          <p:nvPr/>
        </p:nvSpPr>
        <p:spPr>
          <a:xfrm>
            <a:off x="6720840" y="4151376"/>
            <a:ext cx="4519879" cy="219456"/>
          </a:xfrm>
          <a:prstGeom prst="rect">
            <a:avLst/>
          </a:prstGeom>
          <a:noFill/>
          <a:ln/>
        </p:spPr>
        <p:txBody>
          <a:bodyPr wrap="square" lIns="0" tIns="0" rIns="0" bIns="0" rtlCol="0" anchor="ctr"/>
          <a:lstStyle/>
          <a:p>
            <a:pPr indent="0" marL="0">
              <a:buNone/>
            </a:pPr>
            <a:r>
              <a:rPr lang="en-US" sz="1050" dirty="0">
                <a:solidFill>
                  <a:srgbClr val="EFEBE3"/>
                </a:solidFill>
                <a:latin typeface="Yu Gothic" pitchFamily="34" charset="0"/>
                <a:ea typeface="Yu Gothic" pitchFamily="34" charset="-122"/>
                <a:cs typeface="Yu Gothic" pitchFamily="34" charset="-120"/>
              </a:rPr>
              <a:t>投資家利回り（定常年間・税引前）</a:t>
            </a:r>
            <a:endParaRPr lang="en-US" sz="1050" dirty="0"/>
          </a:p>
        </p:txBody>
      </p:sp>
      <p:sp>
        <p:nvSpPr>
          <p:cNvPr id="23" name="Text 20"/>
          <p:cNvSpPr/>
          <p:nvPr/>
        </p:nvSpPr>
        <p:spPr>
          <a:xfrm>
            <a:off x="6720840" y="4370832"/>
            <a:ext cx="4519879" cy="457200"/>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14.4 – 25.7</a:t>
            </a:r>
            <a:pPr indent="0" marL="0">
              <a:buNone/>
            </a:pPr>
            <a:r>
              <a:rPr lang="en-US" sz="1500" b="1" dirty="0">
                <a:solidFill>
                  <a:srgbClr val="C9A96E"/>
                </a:solidFill>
                <a:latin typeface="Yu Gothic" pitchFamily="34" charset="0"/>
                <a:ea typeface="Yu Gothic" pitchFamily="34" charset="-122"/>
                <a:cs typeface="Yu Gothic" pitchFamily="34" charset="-120"/>
              </a:rPr>
              <a:t> %</a:t>
            </a:r>
            <a:endParaRPr lang="en-US" sz="3000" dirty="0"/>
          </a:p>
        </p:txBody>
      </p:sp>
      <p:sp>
        <p:nvSpPr>
          <p:cNvPr id="24" name="Text 21"/>
          <p:cNvSpPr/>
          <p:nvPr/>
        </p:nvSpPr>
        <p:spPr>
          <a:xfrm>
            <a:off x="6720840" y="4882896"/>
            <a:ext cx="4519879" cy="530352"/>
          </a:xfrm>
          <a:prstGeom prst="rect">
            <a:avLst/>
          </a:prstGeom>
          <a:noFill/>
          <a:ln/>
        </p:spPr>
        <p:txBody>
          <a:bodyPr wrap="square" lIns="0" tIns="0" rIns="0" bIns="0" rtlCol="0" anchor="ctr"/>
          <a:lstStyle/>
          <a:p>
            <a:pPr indent="0" marL="0">
              <a:lnSpc>
                <a:spcPct val="120000"/>
              </a:lnSpc>
              <a:buNone/>
            </a:pPr>
            <a:r>
              <a:rPr lang="en-US" sz="1000" dirty="0">
                <a:solidFill>
                  <a:srgbClr val="9A938A"/>
                </a:solidFill>
                <a:latin typeface="Yu Gothic" pitchFamily="34" charset="0"/>
                <a:ea typeface="Yu Gothic" pitchFamily="34" charset="-122"/>
                <a:cs typeface="Yu Gothic" pitchFamily="34" charset="-120"/>
              </a:rPr>
              <a:t>主線の回転12ヶ月で20.0%と貴社基準20%を満たす。ただし20%の分岐点は回転12.0ヶ月であり、主線に余裕はない。15ヶ月まで延びると16.6%となり基準を下回る。</a:t>
            </a:r>
            <a:endParaRPr lang="en-US" sz="1000" dirty="0"/>
          </a:p>
        </p:txBody>
      </p:sp>
      <p:sp>
        <p:nvSpPr>
          <p:cNvPr id="25" name="Text 22"/>
          <p:cNvSpPr/>
          <p:nvPr/>
        </p:nvSpPr>
        <p:spPr>
          <a:xfrm>
            <a:off x="658368" y="5614416"/>
            <a:ext cx="10874959" cy="201168"/>
          </a:xfrm>
          <a:prstGeom prst="rect">
            <a:avLst/>
          </a:prstGeom>
          <a:noFill/>
          <a:ln/>
        </p:spPr>
        <p:txBody>
          <a:bodyPr wrap="square" lIns="0" tIns="0" rIns="0" bIns="0" rtlCol="0" anchor="ctr"/>
          <a:lstStyle/>
          <a:p>
            <a:pPr indent="0" marL="0">
              <a:buNone/>
            </a:pPr>
            <a:r>
              <a:rPr lang="en-US" sz="800" dirty="0">
                <a:solidFill>
                  <a:srgbClr val="6E675E"/>
                </a:solidFill>
                <a:latin typeface="Yu Gothic" pitchFamily="34" charset="0"/>
                <a:ea typeface="Yu Gothic" pitchFamily="34" charset="-122"/>
                <a:cs typeface="Yu Gothic" pitchFamily="34" charset="-120"/>
              </a:rPr>
              <a:t>※ 年間粗利は変動販売費控除後。</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在庫回転期間と投資家リターンの関係</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いずれも投資家出資2億円に対する数値。20%の分岐点は回転12.0ヶ月であり、主線12ヶ月に余裕はない。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12</a:t>
            </a:r>
            <a:endParaRPr lang="en-US" sz="950" dirty="0"/>
          </a:p>
        </p:txBody>
      </p:sp>
      <p:sp>
        <p:nvSpPr>
          <p:cNvPr id="7" name="Shape 5"/>
          <p:cNvSpPr/>
          <p:nvPr/>
        </p:nvSpPr>
        <p:spPr>
          <a:xfrm>
            <a:off x="658368" y="1645920"/>
            <a:ext cx="5291176" cy="2615184"/>
          </a:xfrm>
          <a:prstGeom prst="roundRect">
            <a:avLst>
              <a:gd name="adj" fmla="val 1573"/>
            </a:avLst>
          </a:prstGeom>
          <a:solidFill>
            <a:srgbClr val="171614"/>
          </a:solidFill>
          <a:ln w="9525">
            <a:solidFill>
              <a:srgbClr val="2E2A24"/>
            </a:solidFill>
            <a:prstDash val="solid"/>
          </a:ln>
        </p:spPr>
      </p:sp>
      <p:graphicFrame>
        <p:nvGraphicFramePr>
          <p:cNvPr id="8" name="Chart 0" descr=""/>
          <p:cNvGraphicFramePr/>
          <p:nvPr/>
        </p:nvGraphicFramePr>
        <p:xfrm>
          <a:off x="786384" y="1737360"/>
          <a:ext cx="5035144" cy="2432304"/>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242152" y="1645920"/>
            <a:ext cx="5291176" cy="2615184"/>
          </a:xfrm>
          <a:prstGeom prst="roundRect">
            <a:avLst>
              <a:gd name="adj" fmla="val 1573"/>
            </a:avLst>
          </a:prstGeom>
          <a:solidFill>
            <a:srgbClr val="171614"/>
          </a:solidFill>
          <a:ln w="9525">
            <a:solidFill>
              <a:srgbClr val="2E2A24"/>
            </a:solidFill>
            <a:prstDash val="solid"/>
          </a:ln>
        </p:spPr>
      </p:sp>
      <p:graphicFrame>
        <p:nvGraphicFramePr>
          <p:cNvPr id="10" name="Chart 1" descr=""/>
          <p:cNvGraphicFramePr/>
          <p:nvPr/>
        </p:nvGraphicFramePr>
        <p:xfrm>
          <a:off x="6370168" y="1737360"/>
          <a:ext cx="5035144" cy="2432304"/>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658368" y="4443984"/>
            <a:ext cx="5300320" cy="1225296"/>
          </a:xfrm>
          <a:prstGeom prst="roundRect">
            <a:avLst>
              <a:gd name="adj" fmla="val 3358"/>
            </a:avLst>
          </a:prstGeom>
          <a:solidFill>
            <a:srgbClr val="1F1D19"/>
          </a:solidFill>
          <a:ln w="9525">
            <a:solidFill>
              <a:srgbClr val="6E5730"/>
            </a:solidFill>
            <a:prstDash val="solid"/>
          </a:ln>
        </p:spPr>
      </p:sp>
      <p:sp>
        <p:nvSpPr>
          <p:cNvPr id="12" name="Text 8"/>
          <p:cNvSpPr/>
          <p:nvPr/>
        </p:nvSpPr>
        <p:spPr>
          <a:xfrm>
            <a:off x="914400" y="4608576"/>
            <a:ext cx="4788256"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回転12ヶ月が必須条件</a:t>
            </a:r>
            <a:endParaRPr lang="en-US" sz="1200" dirty="0"/>
          </a:p>
        </p:txBody>
      </p:sp>
      <p:sp>
        <p:nvSpPr>
          <p:cNvPr id="13" name="Text 9"/>
          <p:cNvSpPr/>
          <p:nvPr/>
        </p:nvSpPr>
        <p:spPr>
          <a:xfrm>
            <a:off x="914400" y="4901184"/>
            <a:ext cx="4788256" cy="658368"/>
          </a:xfrm>
          <a:prstGeom prst="rect">
            <a:avLst/>
          </a:prstGeom>
          <a:noFill/>
          <a:ln/>
        </p:spPr>
        <p:txBody>
          <a:bodyPr wrap="square" lIns="0" tIns="0" rIns="0" bIns="0" rtlCol="0" anchor="ctr"/>
          <a:lstStyle/>
          <a:p>
            <a:pPr indent="0" marL="0">
              <a:lnSpc>
                <a:spcPct val="118000"/>
              </a:lnSpc>
              <a:buNone/>
            </a:pPr>
            <a:r>
              <a:rPr lang="en-US" sz="950" dirty="0">
                <a:solidFill>
                  <a:srgbClr val="9A938A"/>
                </a:solidFill>
                <a:latin typeface="Yu Gothic" pitchFamily="34" charset="0"/>
                <a:ea typeface="Yu Gothic" pitchFamily="34" charset="-122"/>
                <a:cs typeface="Yu Gothic" pitchFamily="34" charset="-120"/>
              </a:rPr>
              <a:t>20%の分岐点は回転12.0ヶ月。主線12ヶ月に余裕はなく、回転12ヶ月の達成が貴社基準を満たすための必須条件となる。ただし必要な年間販売額は6.36億円と、現状の販売実力（年5〜7億円）の範囲内にある。</a:t>
            </a:r>
            <a:endParaRPr lang="en-US" sz="950" dirty="0"/>
          </a:p>
        </p:txBody>
      </p:sp>
      <p:sp>
        <p:nvSpPr>
          <p:cNvPr id="14" name="Shape 10"/>
          <p:cNvSpPr/>
          <p:nvPr/>
        </p:nvSpPr>
        <p:spPr>
          <a:xfrm>
            <a:off x="6233008" y="4443984"/>
            <a:ext cx="5300320" cy="1225296"/>
          </a:xfrm>
          <a:prstGeom prst="roundRect">
            <a:avLst>
              <a:gd name="adj" fmla="val 3358"/>
            </a:avLst>
          </a:prstGeom>
          <a:solidFill>
            <a:srgbClr val="171614"/>
          </a:solidFill>
          <a:ln w="9525">
            <a:solidFill>
              <a:srgbClr val="2E2A24"/>
            </a:solidFill>
            <a:prstDash val="solid"/>
          </a:ln>
        </p:spPr>
      </p:sp>
      <p:sp>
        <p:nvSpPr>
          <p:cNvPr id="15" name="Text 11"/>
          <p:cNvSpPr/>
          <p:nvPr/>
        </p:nvSpPr>
        <p:spPr>
          <a:xfrm>
            <a:off x="6489040" y="4608576"/>
            <a:ext cx="4788256"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値上がりが利回りの主たる変動要因になる</a:t>
            </a:r>
            <a:endParaRPr lang="en-US" sz="1200" dirty="0"/>
          </a:p>
        </p:txBody>
      </p:sp>
      <p:sp>
        <p:nvSpPr>
          <p:cNvPr id="16" name="Text 12"/>
          <p:cNvSpPr/>
          <p:nvPr/>
        </p:nvSpPr>
        <p:spPr>
          <a:xfrm>
            <a:off x="6489040" y="4901184"/>
            <a:ext cx="4788256" cy="658368"/>
          </a:xfrm>
          <a:prstGeom prst="rect">
            <a:avLst/>
          </a:prstGeom>
          <a:noFill/>
          <a:ln/>
        </p:spPr>
        <p:txBody>
          <a:bodyPr wrap="square" lIns="0" tIns="0" rIns="0" bIns="0" rtlCol="0" anchor="ctr"/>
          <a:lstStyle/>
          <a:p>
            <a:pPr indent="0" marL="0">
              <a:lnSpc>
                <a:spcPct val="118000"/>
              </a:lnSpc>
              <a:buNone/>
            </a:pPr>
            <a:r>
              <a:rPr lang="en-US" sz="950" dirty="0">
                <a:solidFill>
                  <a:srgbClr val="9A938A"/>
                </a:solidFill>
                <a:latin typeface="Yu Gothic" pitchFamily="34" charset="0"/>
                <a:ea typeface="Yu Gothic" pitchFamily="34" charset="-122"/>
                <a:cs typeface="Yu Gothic" pitchFamily="34" charset="-120"/>
              </a:rPr>
              <a:t>卸値が時価に連動するため、仕入価格と売値の変動は投資家利回りにほとんど効かない。代わりに保有中の値上がりが効き、年6%を織り込まない場合は主線でも13.3%まで下がる（次頁）。</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PRICE APPRECIATION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ワイン価格の上昇をどう織り込むか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卸値が時価に連動するため、SPCの収益は「αの取り込み」と「保有中の値上がり」の二階建てになる。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13</a:t>
            </a:r>
            <a:endParaRPr lang="en-US" sz="950" dirty="0"/>
          </a:p>
        </p:txBody>
      </p:sp>
      <p:sp>
        <p:nvSpPr>
          <p:cNvPr id="7" name="Shape 5"/>
          <p:cNvSpPr/>
          <p:nvPr/>
        </p:nvSpPr>
        <p:spPr>
          <a:xfrm>
            <a:off x="658368" y="1664208"/>
            <a:ext cx="5291176" cy="1572768"/>
          </a:xfrm>
          <a:prstGeom prst="roundRect">
            <a:avLst>
              <a:gd name="adj" fmla="val 2616"/>
            </a:avLst>
          </a:prstGeom>
          <a:solidFill>
            <a:srgbClr val="171614"/>
          </a:solidFill>
          <a:ln w="9525">
            <a:solidFill>
              <a:srgbClr val="2E2A24"/>
            </a:solidFill>
            <a:prstDash val="solid"/>
          </a:ln>
        </p:spPr>
      </p:sp>
      <p:sp>
        <p:nvSpPr>
          <p:cNvPr id="8" name="Text 6"/>
          <p:cNvSpPr/>
          <p:nvPr/>
        </p:nvSpPr>
        <p:spPr>
          <a:xfrm>
            <a:off x="914400" y="1810512"/>
            <a:ext cx="2913736"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フロー｜αの取り込み</a:t>
            </a:r>
            <a:endParaRPr lang="en-US" sz="1250" dirty="0"/>
          </a:p>
        </p:txBody>
      </p:sp>
      <p:sp>
        <p:nvSpPr>
          <p:cNvPr id="9" name="Text 7"/>
          <p:cNvSpPr/>
          <p:nvPr/>
        </p:nvSpPr>
        <p:spPr>
          <a:xfrm>
            <a:off x="3626968" y="1810512"/>
            <a:ext cx="2066544" cy="256032"/>
          </a:xfrm>
          <a:prstGeom prst="rect">
            <a:avLst/>
          </a:prstGeom>
          <a:noFill/>
          <a:ln/>
        </p:spPr>
        <p:txBody>
          <a:bodyPr wrap="square" lIns="0" tIns="0" rIns="0" bIns="0" rtlCol="0" anchor="ctr"/>
          <a:lstStyle/>
          <a:p>
            <a:pPr algn="r" indent="0" marL="0">
              <a:buNone/>
            </a:pPr>
            <a:r>
              <a:rPr lang="en-US" sz="950" dirty="0">
                <a:solidFill>
                  <a:srgbClr val="9A938A"/>
                </a:solidFill>
                <a:latin typeface="Yu Gothic" pitchFamily="34" charset="0"/>
                <a:ea typeface="Yu Gothic" pitchFamily="34" charset="-122"/>
                <a:cs typeface="Yu Gothic" pitchFamily="34" charset="-120"/>
              </a:rPr>
              <a:t>回転に対するリターン</a:t>
            </a:r>
            <a:endParaRPr lang="en-US" sz="950" dirty="0"/>
          </a:p>
        </p:txBody>
      </p:sp>
      <p:sp>
        <p:nvSpPr>
          <p:cNvPr id="10" name="Text 8"/>
          <p:cNvSpPr/>
          <p:nvPr/>
        </p:nvSpPr>
        <p:spPr>
          <a:xfrm>
            <a:off x="914400" y="2121408"/>
            <a:ext cx="4779112" cy="56692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時価より20.8%安く仕入れた分を売却時に取り込む。年に何回まわせるかに比例するため、回転期間が短いほど大きくなる。</a:t>
            </a:r>
            <a:endParaRPr lang="en-US" sz="950" dirty="0"/>
          </a:p>
        </p:txBody>
      </p:sp>
      <p:sp>
        <p:nvSpPr>
          <p:cNvPr id="11" name="Text 9"/>
          <p:cNvSpPr/>
          <p:nvPr/>
        </p:nvSpPr>
        <p:spPr>
          <a:xfrm>
            <a:off x="914400" y="2761488"/>
            <a:ext cx="4779112"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主線（回転12ヶ月）で 13.3%</a:t>
            </a:r>
            <a:endParaRPr lang="en-US" sz="1300" dirty="0"/>
          </a:p>
        </p:txBody>
      </p:sp>
      <p:sp>
        <p:nvSpPr>
          <p:cNvPr id="12" name="Shape 10"/>
          <p:cNvSpPr/>
          <p:nvPr/>
        </p:nvSpPr>
        <p:spPr>
          <a:xfrm>
            <a:off x="6242152" y="1664208"/>
            <a:ext cx="5291176" cy="1572768"/>
          </a:xfrm>
          <a:prstGeom prst="roundRect">
            <a:avLst>
              <a:gd name="adj" fmla="val 2616"/>
            </a:avLst>
          </a:prstGeom>
          <a:solidFill>
            <a:srgbClr val="1F1D19"/>
          </a:solidFill>
          <a:ln w="9525">
            <a:solidFill>
              <a:srgbClr val="6E5730"/>
            </a:solidFill>
            <a:prstDash val="solid"/>
          </a:ln>
        </p:spPr>
      </p:sp>
      <p:sp>
        <p:nvSpPr>
          <p:cNvPr id="13" name="Text 11"/>
          <p:cNvSpPr/>
          <p:nvPr/>
        </p:nvSpPr>
        <p:spPr>
          <a:xfrm>
            <a:off x="6498184" y="1810512"/>
            <a:ext cx="291373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ストック｜ワインの値上がり</a:t>
            </a:r>
            <a:endParaRPr lang="en-US" sz="1250" dirty="0"/>
          </a:p>
        </p:txBody>
      </p:sp>
      <p:sp>
        <p:nvSpPr>
          <p:cNvPr id="14" name="Text 12"/>
          <p:cNvSpPr/>
          <p:nvPr/>
        </p:nvSpPr>
        <p:spPr>
          <a:xfrm>
            <a:off x="9210751" y="1810512"/>
            <a:ext cx="2066544" cy="256032"/>
          </a:xfrm>
          <a:prstGeom prst="rect">
            <a:avLst/>
          </a:prstGeom>
          <a:noFill/>
          <a:ln/>
        </p:spPr>
        <p:txBody>
          <a:bodyPr wrap="square" lIns="0" tIns="0" rIns="0" bIns="0" rtlCol="0" anchor="ctr"/>
          <a:lstStyle/>
          <a:p>
            <a:pPr algn="r" indent="0" marL="0">
              <a:buNone/>
            </a:pPr>
            <a:r>
              <a:rPr lang="en-US" sz="950" dirty="0">
                <a:solidFill>
                  <a:srgbClr val="9A938A"/>
                </a:solidFill>
                <a:latin typeface="Yu Gothic" pitchFamily="34" charset="0"/>
                <a:ea typeface="Yu Gothic" pitchFamily="34" charset="-122"/>
                <a:cs typeface="Yu Gothic" pitchFamily="34" charset="-120"/>
              </a:rPr>
              <a:t>在庫に対するリターン</a:t>
            </a:r>
            <a:endParaRPr lang="en-US" sz="950" dirty="0"/>
          </a:p>
        </p:txBody>
      </p:sp>
      <p:sp>
        <p:nvSpPr>
          <p:cNvPr id="15" name="Text 13"/>
          <p:cNvSpPr/>
          <p:nvPr/>
        </p:nvSpPr>
        <p:spPr>
          <a:xfrm>
            <a:off x="6498184" y="2121408"/>
            <a:ext cx="4779112" cy="566928"/>
          </a:xfrm>
          <a:prstGeom prst="rect">
            <a:avLst/>
          </a:prstGeom>
          <a:noFill/>
          <a:ln/>
        </p:spPr>
        <p:txBody>
          <a:bodyPr wrap="square" lIns="0" tIns="0" rIns="0" bIns="0" rtlCol="0" anchor="ctr"/>
          <a:lstStyle/>
          <a:p>
            <a:pPr indent="0" marL="0">
              <a:lnSpc>
                <a:spcPct val="122000"/>
              </a:lnSpc>
              <a:buNone/>
            </a:pPr>
            <a:r>
              <a:rPr lang="en-US" sz="950" dirty="0">
                <a:solidFill>
                  <a:srgbClr val="9A938A"/>
                </a:solidFill>
                <a:latin typeface="Yu Gothic" pitchFamily="34" charset="0"/>
                <a:ea typeface="Yu Gothic" pitchFamily="34" charset="-122"/>
                <a:cs typeface="Yu Gothic" pitchFamily="34" charset="-120"/>
              </a:rPr>
              <a:t>保有している間、価格帯全体が年6%上昇する。在庫金額に対して発生するため、回転期間によらずほぼ一定になる。</a:t>
            </a:r>
            <a:endParaRPr lang="en-US" sz="950" dirty="0"/>
          </a:p>
        </p:txBody>
      </p:sp>
      <p:sp>
        <p:nvSpPr>
          <p:cNvPr id="16" name="Text 14"/>
          <p:cNvSpPr/>
          <p:nvPr/>
        </p:nvSpPr>
        <p:spPr>
          <a:xfrm>
            <a:off x="6498184" y="2761488"/>
            <a:ext cx="4779112" cy="292608"/>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回転期間によらず 約 ＋6.7pt</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 y="3346704"/>
          <a:ext cx="10874959" cy="914400"/>
        </p:xfrm>
        <a:graphic>
          <a:graphicData uri="http://schemas.openxmlformats.org/drawingml/2006/table">
            <a:tbl>
              <a:tblPr/>
              <a:tblGrid>
                <a:gridCol w="2057400"/>
                <a:gridCol w="1874520"/>
                <a:gridCol w="2788920"/>
                <a:gridCol w="2148840"/>
                <a:gridCol w="2002536"/>
              </a:tblGrid>
              <a:tr h="34290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売値の上昇倍率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① αの取り込みのみ（上昇0%）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② 値上がりによる上乗せ</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投資家利回り（①＋②）</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×1.045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19.0%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＋6.7pt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25.7%</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12ヶ月（主線）</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×1.060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13.3%</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＋6.7pt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C9A96E"/>
                          </a:solidFill>
                          <a:latin typeface="Yu Gothic" pitchFamily="34" charset="0"/>
                          <a:ea typeface="Yu Gothic" pitchFamily="34" charset="-122"/>
                          <a:cs typeface="Yu Gothic" pitchFamily="34" charset="-120"/>
                        </a:rPr>
                        <a:t>20.0%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15ヶ月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×1.076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9.8%</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＋6.8pt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16.6%</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2900">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×1.091</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7.5%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＋6.8pt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EFEBE3"/>
                          </a:solidFill>
                          <a:latin typeface="Yu Gothic" pitchFamily="34" charset="0"/>
                          <a:ea typeface="Yu Gothic" pitchFamily="34" charset="-122"/>
                          <a:cs typeface="Yu Gothic" pitchFamily="34" charset="-120"/>
                        </a:rPr>
                        <a:t>14.4%</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8" name="Shape 15"/>
          <p:cNvSpPr/>
          <p:nvPr/>
        </p:nvSpPr>
        <p:spPr>
          <a:xfrm>
            <a:off x="658368" y="5175504"/>
            <a:ext cx="5532120" cy="1024128"/>
          </a:xfrm>
          <a:prstGeom prst="roundRect">
            <a:avLst>
              <a:gd name="adj" fmla="val 4018"/>
            </a:avLst>
          </a:prstGeom>
          <a:solidFill>
            <a:srgbClr val="171614"/>
          </a:solidFill>
          <a:ln w="9525">
            <a:solidFill>
              <a:srgbClr val="2E2A24"/>
            </a:solidFill>
            <a:prstDash val="solid"/>
          </a:ln>
        </p:spPr>
      </p:sp>
      <p:sp>
        <p:nvSpPr>
          <p:cNvPr id="19" name="Text 16"/>
          <p:cNvSpPr/>
          <p:nvPr/>
        </p:nvSpPr>
        <p:spPr>
          <a:xfrm>
            <a:off x="896112" y="5276088"/>
            <a:ext cx="384048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上昇率を変えた場合（主線）</a:t>
            </a:r>
            <a:endParaRPr lang="en-US" sz="1050" dirty="0"/>
          </a:p>
        </p:txBody>
      </p:sp>
      <p:sp>
        <p:nvSpPr>
          <p:cNvPr id="20" name="Text 17"/>
          <p:cNvSpPr/>
          <p:nvPr/>
        </p:nvSpPr>
        <p:spPr>
          <a:xfrm>
            <a:off x="896112"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0%（横ばい）</a:t>
            </a:r>
            <a:endParaRPr lang="en-US" sz="900" dirty="0"/>
          </a:p>
        </p:txBody>
      </p:sp>
      <p:sp>
        <p:nvSpPr>
          <p:cNvPr id="21" name="Text 18"/>
          <p:cNvSpPr/>
          <p:nvPr/>
        </p:nvSpPr>
        <p:spPr>
          <a:xfrm>
            <a:off x="896112" y="5705856"/>
            <a:ext cx="1627632" cy="310896"/>
          </a:xfrm>
          <a:prstGeom prst="rect">
            <a:avLst/>
          </a:prstGeom>
          <a:noFill/>
          <a:ln/>
        </p:spPr>
        <p:txBody>
          <a:bodyPr wrap="square" lIns="0" tIns="0" rIns="0" bIns="0" rtlCol="0" anchor="ctr"/>
          <a:lstStyle/>
          <a:p>
            <a:pPr indent="0" marL="0">
              <a:buNone/>
            </a:pPr>
            <a:r>
              <a:rPr lang="en-US" sz="1900" b="1" dirty="0">
                <a:solidFill>
                  <a:srgbClr val="EFEBE3"/>
                </a:solidFill>
                <a:latin typeface="Cambria" pitchFamily="34" charset="0"/>
                <a:ea typeface="Cambria" pitchFamily="34" charset="-122"/>
                <a:cs typeface="Cambria" pitchFamily="34" charset="-120"/>
              </a:rPr>
              <a:t>13.3%</a:t>
            </a:r>
            <a:endParaRPr lang="en-US" sz="1900" dirty="0"/>
          </a:p>
        </p:txBody>
      </p:sp>
      <p:sp>
        <p:nvSpPr>
          <p:cNvPr id="22" name="Text 19"/>
          <p:cNvSpPr/>
          <p:nvPr/>
        </p:nvSpPr>
        <p:spPr>
          <a:xfrm>
            <a:off x="2596896"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6%（主線）</a:t>
            </a:r>
            <a:endParaRPr lang="en-US" sz="900" dirty="0"/>
          </a:p>
        </p:txBody>
      </p:sp>
      <p:sp>
        <p:nvSpPr>
          <p:cNvPr id="23" name="Text 20"/>
          <p:cNvSpPr/>
          <p:nvPr/>
        </p:nvSpPr>
        <p:spPr>
          <a:xfrm>
            <a:off x="2596896" y="5705856"/>
            <a:ext cx="1627632" cy="310896"/>
          </a:xfrm>
          <a:prstGeom prst="rect">
            <a:avLst/>
          </a:prstGeom>
          <a:noFill/>
          <a:ln/>
        </p:spPr>
        <p:txBody>
          <a:bodyPr wrap="square" lIns="0" tIns="0" rIns="0" bIns="0" rtlCol="0" anchor="ctr"/>
          <a:lstStyle/>
          <a:p>
            <a:pPr indent="0" marL="0">
              <a:buNone/>
            </a:pPr>
            <a:r>
              <a:rPr lang="en-US" sz="1900" b="1" dirty="0">
                <a:solidFill>
                  <a:srgbClr val="C9A96E"/>
                </a:solidFill>
                <a:latin typeface="Cambria" pitchFamily="34" charset="0"/>
                <a:ea typeface="Cambria" pitchFamily="34" charset="-122"/>
                <a:cs typeface="Cambria" pitchFamily="34" charset="-120"/>
              </a:rPr>
              <a:t>20.0%</a:t>
            </a:r>
            <a:endParaRPr lang="en-US" sz="1900" dirty="0"/>
          </a:p>
        </p:txBody>
      </p:sp>
      <p:sp>
        <p:nvSpPr>
          <p:cNvPr id="24" name="Text 21"/>
          <p:cNvSpPr/>
          <p:nvPr/>
        </p:nvSpPr>
        <p:spPr>
          <a:xfrm>
            <a:off x="4297680" y="5513832"/>
            <a:ext cx="1627632" cy="201168"/>
          </a:xfrm>
          <a:prstGeom prst="rect">
            <a:avLst/>
          </a:prstGeom>
          <a:noFill/>
          <a:ln/>
        </p:spPr>
        <p:txBody>
          <a:bodyPr wrap="square" lIns="0" tIns="0" rIns="0" bIns="0" rtlCol="0" anchor="ctr"/>
          <a:lstStyle/>
          <a:p>
            <a:pPr indent="0" marL="0">
              <a:buNone/>
            </a:pPr>
            <a:r>
              <a:rPr lang="en-US" sz="900" dirty="0">
                <a:solidFill>
                  <a:srgbClr val="9A938A"/>
                </a:solidFill>
                <a:latin typeface="Yu Gothic" pitchFamily="34" charset="0"/>
                <a:ea typeface="Yu Gothic" pitchFamily="34" charset="-122"/>
                <a:cs typeface="Yu Gothic" pitchFamily="34" charset="-120"/>
              </a:rPr>
              <a:t>10%（会社資料水準）</a:t>
            </a:r>
            <a:endParaRPr lang="en-US" sz="900" dirty="0"/>
          </a:p>
        </p:txBody>
      </p:sp>
      <p:sp>
        <p:nvSpPr>
          <p:cNvPr id="25" name="Text 22"/>
          <p:cNvSpPr/>
          <p:nvPr/>
        </p:nvSpPr>
        <p:spPr>
          <a:xfrm>
            <a:off x="4297680" y="5705856"/>
            <a:ext cx="1627632" cy="310896"/>
          </a:xfrm>
          <a:prstGeom prst="rect">
            <a:avLst/>
          </a:prstGeom>
          <a:noFill/>
          <a:ln/>
        </p:spPr>
        <p:txBody>
          <a:bodyPr wrap="square" lIns="0" tIns="0" rIns="0" bIns="0" rtlCol="0" anchor="ctr"/>
          <a:lstStyle/>
          <a:p>
            <a:pPr indent="0" marL="0">
              <a:buNone/>
            </a:pPr>
            <a:r>
              <a:rPr lang="en-US" sz="1900" b="1" dirty="0">
                <a:solidFill>
                  <a:srgbClr val="EFEBE3"/>
                </a:solidFill>
                <a:latin typeface="Cambria" pitchFamily="34" charset="0"/>
                <a:ea typeface="Cambria" pitchFamily="34" charset="-122"/>
                <a:cs typeface="Cambria" pitchFamily="34" charset="-120"/>
              </a:rPr>
              <a:t>24.5%</a:t>
            </a:r>
            <a:endParaRPr lang="en-US" sz="1900" dirty="0"/>
          </a:p>
        </p:txBody>
      </p:sp>
      <p:sp>
        <p:nvSpPr>
          <p:cNvPr id="26" name="Shape 23"/>
          <p:cNvSpPr/>
          <p:nvPr/>
        </p:nvSpPr>
        <p:spPr>
          <a:xfrm>
            <a:off x="6464808" y="5175504"/>
            <a:ext cx="5068519" cy="1024128"/>
          </a:xfrm>
          <a:prstGeom prst="roundRect">
            <a:avLst>
              <a:gd name="adj" fmla="val 4018"/>
            </a:avLst>
          </a:prstGeom>
          <a:solidFill>
            <a:srgbClr val="1F1D19"/>
          </a:solidFill>
          <a:ln w="9525">
            <a:solidFill>
              <a:srgbClr val="6E5730"/>
            </a:solidFill>
            <a:prstDash val="solid"/>
          </a:ln>
        </p:spPr>
      </p:sp>
      <p:sp>
        <p:nvSpPr>
          <p:cNvPr id="27" name="Text 24"/>
          <p:cNvSpPr/>
          <p:nvPr/>
        </p:nvSpPr>
        <p:spPr>
          <a:xfrm>
            <a:off x="6702552" y="5276088"/>
            <a:ext cx="457200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値上がりの比重が前回より大きい</a:t>
            </a:r>
            <a:endParaRPr lang="en-US" sz="1050" dirty="0"/>
          </a:p>
        </p:txBody>
      </p:sp>
      <p:sp>
        <p:nvSpPr>
          <p:cNvPr id="28" name="Text 25"/>
          <p:cNvSpPr/>
          <p:nvPr/>
        </p:nvSpPr>
        <p:spPr>
          <a:xfrm>
            <a:off x="6702552" y="5504688"/>
            <a:ext cx="4593031" cy="62179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卸値を時価連動にしたことで、仕入価格と売値の変動は投資家利回りに効かなくなった。その代わりSPCの粗利は「αの取り込み」と「値上がり」だけで構成されるため、値上がりを織り込まない場合の低下幅は ▲6.7pt と前回（▲4.0pt）より大きくなる。</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UPSIDE / DOWNSIDE ｜ 副次</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上振れ余地と下振れリスク</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卸値が時価連動であるため、上振れ・下振れを決めるのはワイン価格の上昇率と在庫回転期間になる。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14</a:t>
            </a:r>
            <a:endParaRPr lang="en-US" sz="950" dirty="0"/>
          </a:p>
        </p:txBody>
      </p:sp>
      <p:sp>
        <p:nvSpPr>
          <p:cNvPr id="7" name="Shape 5"/>
          <p:cNvSpPr/>
          <p:nvPr/>
        </p:nvSpPr>
        <p:spPr>
          <a:xfrm>
            <a:off x="658368" y="1645920"/>
            <a:ext cx="5300320" cy="2523744"/>
          </a:xfrm>
          <a:prstGeom prst="roundRect">
            <a:avLst>
              <a:gd name="adj" fmla="val 1630"/>
            </a:avLst>
          </a:prstGeom>
          <a:solidFill>
            <a:srgbClr val="1F1D19"/>
          </a:solidFill>
          <a:ln w="9525">
            <a:solidFill>
              <a:srgbClr val="6E5730"/>
            </a:solidFill>
            <a:prstDash val="solid"/>
          </a:ln>
        </p:spPr>
      </p:sp>
      <p:sp>
        <p:nvSpPr>
          <p:cNvPr id="8" name="Text 6"/>
          <p:cNvSpPr/>
          <p:nvPr/>
        </p:nvSpPr>
        <p:spPr>
          <a:xfrm>
            <a:off x="914400" y="1810512"/>
            <a:ext cx="4788256" cy="256032"/>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ポジティブ｜ワイン価格上昇 年10%（会社資料水準）</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914400" y="2121408"/>
          <a:ext cx="4782312" cy="914400"/>
        </p:xfrm>
        <a:graphic>
          <a:graphicData uri="http://schemas.openxmlformats.org/drawingml/2006/table">
            <a:tbl>
              <a:tblPr/>
              <a:tblGrid>
                <a:gridCol w="822960"/>
                <a:gridCol w="960120"/>
                <a:gridCol w="896112"/>
                <a:gridCol w="896112"/>
                <a:gridCol w="1207008"/>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8.59億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1.51億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60百万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30.1%</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6.60億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1.23億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49百万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24.5%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5.41億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1.06億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42百万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21.2%</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4.61億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0.95億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38百万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19.0%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0" name="Text 7"/>
          <p:cNvSpPr/>
          <p:nvPr/>
        </p:nvSpPr>
        <p:spPr>
          <a:xfrm>
            <a:off x="914400" y="3657600"/>
            <a:ext cx="4788256" cy="47548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会社資料はFine Wineのリセールバリューを年率10%程度としており、主線の6%はこれに対し保守的に置いたもの。10%が実現すれば回転が15ヶ月へ延びても21.2%と貴社基準を満たし、20%の分岐点は回転16.5ヶ月まで後ろ倒しになる。</a:t>
            </a:r>
            <a:endParaRPr lang="en-US" sz="900" dirty="0"/>
          </a:p>
        </p:txBody>
      </p:sp>
      <p:sp>
        <p:nvSpPr>
          <p:cNvPr id="11" name="Shape 8"/>
          <p:cNvSpPr/>
          <p:nvPr/>
        </p:nvSpPr>
        <p:spPr>
          <a:xfrm>
            <a:off x="6233008" y="1645920"/>
            <a:ext cx="5300320" cy="2523744"/>
          </a:xfrm>
          <a:prstGeom prst="roundRect">
            <a:avLst>
              <a:gd name="adj" fmla="val 1630"/>
            </a:avLst>
          </a:prstGeom>
          <a:solidFill>
            <a:srgbClr val="171614"/>
          </a:solidFill>
          <a:ln w="9525">
            <a:solidFill>
              <a:srgbClr val="2E2A24"/>
            </a:solidFill>
            <a:prstDash val="solid"/>
          </a:ln>
        </p:spPr>
      </p:sp>
      <p:sp>
        <p:nvSpPr>
          <p:cNvPr id="12" name="Text 9"/>
          <p:cNvSpPr/>
          <p:nvPr/>
        </p:nvSpPr>
        <p:spPr>
          <a:xfrm>
            <a:off x="6489040" y="1810512"/>
            <a:ext cx="4788256"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ネガティブ｜ワイン価格が横ばい（上昇0%）</a:t>
            </a:r>
            <a:endParaRPr lang="en-US" sz="115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489040" y="2121408"/>
          <a:ext cx="4782312" cy="914400"/>
        </p:xfrm>
        <a:graphic>
          <a:graphicData uri="http://schemas.openxmlformats.org/drawingml/2006/table">
            <a:tbl>
              <a:tblPr/>
              <a:tblGrid>
                <a:gridCol w="822960"/>
                <a:gridCol w="960120"/>
                <a:gridCol w="896112"/>
                <a:gridCol w="896112"/>
                <a:gridCol w="1207008"/>
              </a:tblGrid>
              <a:tr h="2880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必要年間売上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年間税前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9ヶ月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8.00億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0.95億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38百万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19.0%</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12ヶ月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6.00億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0.66億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27百万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13.3%</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4.80億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0.49億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20百万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9.8%</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88036">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18ヶ月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4.00億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0.38億</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EFEBE3"/>
                          </a:solidFill>
                          <a:latin typeface="Yu Gothic" pitchFamily="34" charset="0"/>
                          <a:ea typeface="Yu Gothic" pitchFamily="34" charset="-122"/>
                          <a:cs typeface="Yu Gothic" pitchFamily="34" charset="-120"/>
                        </a:rPr>
                        <a:t>15百万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50" dirty="0">
                          <a:solidFill>
                            <a:srgbClr val="B4553F"/>
                          </a:solidFill>
                          <a:latin typeface="Yu Gothic" pitchFamily="34" charset="0"/>
                          <a:ea typeface="Yu Gothic" pitchFamily="34" charset="-122"/>
                          <a:cs typeface="Yu Gothic" pitchFamily="34" charset="-120"/>
                        </a:rPr>
                        <a:t>7.5%</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4" name="Text 10"/>
          <p:cNvSpPr/>
          <p:nvPr/>
        </p:nvSpPr>
        <p:spPr>
          <a:xfrm>
            <a:off x="6489040" y="3657600"/>
            <a:ext cx="4788256" cy="47548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値上がりを一切織り込まない場合。SPCの収益がαの取り込みだけになるため、20%を確保するには回転を8.6ヶ月まで縮める必要があり、想定レンジでは基準に届かない。</a:t>
            </a:r>
            <a:endParaRPr lang="en-US" sz="900" dirty="0"/>
          </a:p>
        </p:txBody>
      </p:sp>
      <p:sp>
        <p:nvSpPr>
          <p:cNvPr id="15" name="Shape 11"/>
          <p:cNvSpPr/>
          <p:nvPr/>
        </p:nvSpPr>
        <p:spPr>
          <a:xfrm>
            <a:off x="658368" y="4334256"/>
            <a:ext cx="10874959" cy="1298448"/>
          </a:xfrm>
          <a:prstGeom prst="roundRect">
            <a:avLst>
              <a:gd name="adj" fmla="val 3169"/>
            </a:avLst>
          </a:prstGeom>
          <a:solidFill>
            <a:srgbClr val="1F1D19"/>
          </a:solidFill>
          <a:ln w="9525">
            <a:solidFill>
              <a:srgbClr val="6E5730"/>
            </a:solidFill>
            <a:prstDash val="solid"/>
          </a:ln>
        </p:spPr>
      </p:sp>
      <p:sp>
        <p:nvSpPr>
          <p:cNvPr id="16" name="Text 12"/>
          <p:cNvSpPr/>
          <p:nvPr/>
        </p:nvSpPr>
        <p:spPr>
          <a:xfrm>
            <a:off x="932688" y="4498848"/>
            <a:ext cx="274320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最重要の示唆</a:t>
            </a:r>
            <a:endParaRPr lang="en-US" sz="1200" dirty="0"/>
          </a:p>
        </p:txBody>
      </p:sp>
      <p:sp>
        <p:nvSpPr>
          <p:cNvPr id="17" name="Text 13"/>
          <p:cNvSpPr/>
          <p:nvPr/>
        </p:nvSpPr>
        <p:spPr>
          <a:xfrm>
            <a:off x="932688" y="4791456"/>
            <a:ext cx="10326319" cy="658368"/>
          </a:xfrm>
          <a:prstGeom prst="rect">
            <a:avLst/>
          </a:prstGeom>
          <a:noFill/>
          <a:ln/>
        </p:spPr>
        <p:txBody>
          <a:bodyPr wrap="square" lIns="0" tIns="0" rIns="0" bIns="0" rtlCol="0" anchor="ctr"/>
          <a:lstStyle/>
          <a:p>
            <a:pPr indent="0" marL="0">
              <a:lnSpc>
                <a:spcPct val="128000"/>
              </a:lnSpc>
              <a:buNone/>
            </a:pPr>
            <a:r>
              <a:rPr lang="en-US" sz="1150" dirty="0">
                <a:solidFill>
                  <a:srgbClr val="EFEBE3"/>
                </a:solidFill>
                <a:latin typeface="Yu Gothic" pitchFamily="34" charset="0"/>
                <a:ea typeface="Yu Gothic" pitchFamily="34" charset="-122"/>
                <a:cs typeface="Yu Gothic" pitchFamily="34" charset="-120"/>
              </a:rPr>
              <a:t>卸値を時価連動にしたことで、「値引きして早く売る」も「安く仕入れる」も投資家利回りには効かなくなった。投資家のリターンを左右するのは在庫回転期間とワイン価格の上昇率の2つだけであり、運用の focus は「流動性の高い銘柄を組み入れ、回転12ヶ月を守ること」に絞られる。値上がりが止まる局面では回転をさらに短縮する必要がある。</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COMPARISON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3シナリオ比較：投資家 定常年間利回り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投資家出資2億円に対する年間実力値。SPC税前利益を出資比率どおり60：40で配分した後の金額ベース。</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15</a:t>
            </a:r>
            <a:endParaRPr lang="en-US" sz="950" dirty="0"/>
          </a:p>
        </p:txBody>
      </p:sp>
      <p:sp>
        <p:nvSpPr>
          <p:cNvPr id="7" name="Shape 5"/>
          <p:cNvSpPr/>
          <p:nvPr/>
        </p:nvSpPr>
        <p:spPr>
          <a:xfrm>
            <a:off x="658368" y="1645920"/>
            <a:ext cx="10874959" cy="2724912"/>
          </a:xfrm>
          <a:prstGeom prst="roundRect">
            <a:avLst>
              <a:gd name="adj" fmla="val 1510"/>
            </a:avLst>
          </a:prstGeom>
          <a:solidFill>
            <a:srgbClr val="171614"/>
          </a:solidFill>
          <a:ln w="9525">
            <a:solidFill>
              <a:srgbClr val="2E2A24"/>
            </a:solidFill>
            <a:prstDash val="solid"/>
          </a:ln>
        </p:spPr>
      </p:sp>
      <p:graphicFrame>
        <p:nvGraphicFramePr>
          <p:cNvPr id="8" name="Chart 0" descr=""/>
          <p:cNvGraphicFramePr/>
          <p:nvPr/>
        </p:nvGraphicFramePr>
        <p:xfrm>
          <a:off x="786384" y="1755648"/>
          <a:ext cx="10618927" cy="2505456"/>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58368" y="4535424"/>
            <a:ext cx="3454298" cy="1024128"/>
          </a:xfrm>
          <a:prstGeom prst="roundRect">
            <a:avLst>
              <a:gd name="adj" fmla="val 4018"/>
            </a:avLst>
          </a:prstGeom>
          <a:solidFill>
            <a:srgbClr val="1F1D19"/>
          </a:solidFill>
          <a:ln w="9525">
            <a:solidFill>
              <a:srgbClr val="6E5730"/>
            </a:solidFill>
            <a:prstDash val="solid"/>
          </a:ln>
        </p:spPr>
      </p:sp>
      <p:sp>
        <p:nvSpPr>
          <p:cNvPr id="10" name="Text 7"/>
          <p:cNvSpPr/>
          <p:nvPr/>
        </p:nvSpPr>
        <p:spPr>
          <a:xfrm>
            <a:off x="896112" y="4681728"/>
            <a:ext cx="297881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主線の提示レンジ</a:t>
            </a:r>
            <a:endParaRPr lang="en-US" sz="1150" dirty="0"/>
          </a:p>
        </p:txBody>
      </p:sp>
      <p:sp>
        <p:nvSpPr>
          <p:cNvPr id="11" name="Text 8"/>
          <p:cNvSpPr/>
          <p:nvPr/>
        </p:nvSpPr>
        <p:spPr>
          <a:xfrm>
            <a:off x="896112"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回転12ヶ月・上昇6%で投資家利回り20.0%。想定レンジ9〜18ヶ月では14.4%〜25.7%となり、20%を確保できるのは回転12.0ヶ月までとなる。</a:t>
            </a:r>
            <a:endParaRPr lang="en-US" sz="950" dirty="0"/>
          </a:p>
        </p:txBody>
      </p:sp>
      <p:sp>
        <p:nvSpPr>
          <p:cNvPr id="12" name="Shape 9"/>
          <p:cNvSpPr/>
          <p:nvPr/>
        </p:nvSpPr>
        <p:spPr>
          <a:xfrm>
            <a:off x="4368698" y="4535424"/>
            <a:ext cx="3454298" cy="1024128"/>
          </a:xfrm>
          <a:prstGeom prst="roundRect">
            <a:avLst>
              <a:gd name="adj" fmla="val 4018"/>
            </a:avLst>
          </a:prstGeom>
          <a:solidFill>
            <a:srgbClr val="171614"/>
          </a:solidFill>
          <a:ln w="9525">
            <a:solidFill>
              <a:srgbClr val="2E2A24"/>
            </a:solidFill>
            <a:prstDash val="solid"/>
          </a:ln>
        </p:spPr>
      </p:sp>
      <p:sp>
        <p:nvSpPr>
          <p:cNvPr id="13" name="Text 10"/>
          <p:cNvSpPr/>
          <p:nvPr/>
        </p:nvSpPr>
        <p:spPr>
          <a:xfrm>
            <a:off x="4606442" y="4681728"/>
            <a:ext cx="297881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上振れの条件</a:t>
            </a:r>
            <a:endParaRPr lang="en-US" sz="1150" dirty="0"/>
          </a:p>
        </p:txBody>
      </p:sp>
      <p:sp>
        <p:nvSpPr>
          <p:cNvPr id="14" name="Text 11"/>
          <p:cNvSpPr/>
          <p:nvPr/>
        </p:nvSpPr>
        <p:spPr>
          <a:xfrm>
            <a:off x="4606442"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ワイン価格が会社資料水準の年10%で上昇した場合。回転が15ヶ月へ延びても21.2%と基準を満たす。</a:t>
            </a:r>
            <a:endParaRPr lang="en-US" sz="950" dirty="0"/>
          </a:p>
        </p:txBody>
      </p:sp>
      <p:sp>
        <p:nvSpPr>
          <p:cNvPr id="15" name="Shape 12"/>
          <p:cNvSpPr/>
          <p:nvPr/>
        </p:nvSpPr>
        <p:spPr>
          <a:xfrm>
            <a:off x="8079029" y="4535424"/>
            <a:ext cx="3454298" cy="1024128"/>
          </a:xfrm>
          <a:prstGeom prst="roundRect">
            <a:avLst>
              <a:gd name="adj" fmla="val 4018"/>
            </a:avLst>
          </a:prstGeom>
          <a:solidFill>
            <a:srgbClr val="171614"/>
          </a:solidFill>
          <a:ln w="9525">
            <a:solidFill>
              <a:srgbClr val="2E2A24"/>
            </a:solidFill>
            <a:prstDash val="solid"/>
          </a:ln>
        </p:spPr>
      </p:sp>
      <p:sp>
        <p:nvSpPr>
          <p:cNvPr id="16" name="Text 13"/>
          <p:cNvSpPr/>
          <p:nvPr/>
        </p:nvSpPr>
        <p:spPr>
          <a:xfrm>
            <a:off x="8316773" y="4681728"/>
            <a:ext cx="297881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下振れの限界</a:t>
            </a:r>
            <a:endParaRPr lang="en-US" sz="1150" dirty="0"/>
          </a:p>
        </p:txBody>
      </p:sp>
      <p:sp>
        <p:nvSpPr>
          <p:cNvPr id="17" name="Text 14"/>
          <p:cNvSpPr/>
          <p:nvPr/>
        </p:nvSpPr>
        <p:spPr>
          <a:xfrm>
            <a:off x="8316773" y="4956048"/>
            <a:ext cx="2978810" cy="49377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価格が横ばいの場合、20%に届くのは回転8.6ヶ月までとなり、想定レンジでは基準を満たせない。回転の短縮が唯一の対抗手段となる。</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SENSITIVITY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感応度：何が崩れると利回りがどう動くか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主線（在庫回転12ヶ月・投資家利回り20.0%）を基準とした、各変数の単独変動による影響。</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16</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1792224"/>
                <a:gridCol w="2212848"/>
                <a:gridCol w="2359152"/>
                <a:gridCol w="877824"/>
                <a:gridCol w="3630168"/>
              </a:tblGrid>
              <a:tr h="32461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変動要因</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変動幅</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投資家利回りへの影響</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深刻度</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対応方針</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2461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ワイン価格上昇率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年6% → 0%（横ばい）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20.0% → 13.3%（▲6.7pt）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最大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回転期間を短縮し、αの取り込み回数を増やす</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在庫回転期間</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12ヶ月 → 18ヶ月</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20.0% → 14.4%（▲5.6pt）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b="1" dirty="0">
                          <a:solidFill>
                            <a:srgbClr val="B4553F"/>
                          </a:solidFill>
                          <a:latin typeface="Yu Gothic" pitchFamily="34" charset="0"/>
                          <a:ea typeface="Yu Gothic" pitchFamily="34" charset="-122"/>
                          <a:cs typeface="Yu Gothic" pitchFamily="34" charset="-120"/>
                        </a:rPr>
                        <a:t>最大</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組入銘柄の選定・販売チャネルの多重化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稼働率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95% → 85%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20.0% → 17.6%（▲2.4pt）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3年経過後の解約に備えた現金比率の設計と表裏</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卸値の控除率 α</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20.8% → 19.8%</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20.0% → 18.5%（▲1.5pt）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中</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αは組成時に確定し、期中は変更しない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B2Cのモール手数料</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5.5% → 8.0%</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B4553F"/>
                          </a:solidFill>
                          <a:latin typeface="Yu Gothic" pitchFamily="34" charset="0"/>
                          <a:ea typeface="Yu Gothic" pitchFamily="34" charset="-122"/>
                          <a:cs typeface="Yu Gothic" pitchFamily="34" charset="-120"/>
                        </a:rPr>
                        <a:t>20.0% → 18.3%（▲1.7pt）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小</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自社EC・自社オークションの構成比を引き上げる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ワイン価格上昇率</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年6% → 10%（会社資料水準）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20.0% → 24.5%（＋4.5pt）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C9A96E"/>
                          </a:solidFill>
                          <a:latin typeface="Yu Gothic" pitchFamily="34" charset="0"/>
                          <a:ea typeface="Yu Gothic" pitchFamily="34" charset="-122"/>
                          <a:cs typeface="Yu Gothic" pitchFamily="34" charset="-120"/>
                        </a:rPr>
                        <a:t>上振れ</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Liv-ex連動銘柄の構成比を高める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【遮断】市中仕入価格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定価比 50 → 45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20.0% → 20.0%（＋0.0pt）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なし</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9A938A"/>
                          </a:solidFill>
                          <a:latin typeface="Yu Gothic" pitchFamily="34" charset="0"/>
                          <a:ea typeface="Yu Gothic" pitchFamily="34" charset="-122"/>
                          <a:cs typeface="Yu Gothic" pitchFamily="34" charset="-120"/>
                        </a:rPr>
                        <a:t>卸値が時価連動のため投資家利回りには影響しない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24612">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【遮断】売却価格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売値 ▲5%</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20.0% → 19.9%（▲0.1pt）</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1000" dirty="0">
                          <a:solidFill>
                            <a:srgbClr val="9A938A"/>
                          </a:solidFill>
                          <a:latin typeface="Yu Gothic" pitchFamily="34" charset="0"/>
                          <a:ea typeface="Yu Gothic" pitchFamily="34" charset="-122"/>
                          <a:cs typeface="Yu Gothic" pitchFamily="34" charset="-120"/>
                        </a:rPr>
                        <a:t>なし</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9A938A"/>
                          </a:solidFill>
                          <a:latin typeface="Yu Gothic" pitchFamily="34" charset="0"/>
                          <a:ea typeface="Yu Gothic" pitchFamily="34" charset="-122"/>
                          <a:cs typeface="Yu Gothic" pitchFamily="34" charset="-120"/>
                        </a:rPr>
                        <a:t>簿価も同率で下がるため投資家利回りには影響しない</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4645152"/>
            <a:ext cx="10874959" cy="1060704"/>
          </a:xfrm>
          <a:prstGeom prst="roundRect">
            <a:avLst>
              <a:gd name="adj" fmla="val 3879"/>
            </a:avLst>
          </a:prstGeom>
          <a:solidFill>
            <a:srgbClr val="1F1D19"/>
          </a:solidFill>
          <a:ln w="9525">
            <a:solidFill>
              <a:srgbClr val="6E5730"/>
            </a:solidFill>
            <a:prstDash val="solid"/>
          </a:ln>
        </p:spPr>
      </p:sp>
      <p:sp>
        <p:nvSpPr>
          <p:cNvPr id="9" name="Text 6"/>
          <p:cNvSpPr/>
          <p:nvPr/>
        </p:nvSpPr>
        <p:spPr>
          <a:xfrm>
            <a:off x="932688" y="4754880"/>
            <a:ext cx="10326319" cy="841248"/>
          </a:xfrm>
          <a:prstGeom prst="rect">
            <a:avLst/>
          </a:prstGeom>
          <a:noFill/>
          <a:ln/>
        </p:spPr>
        <p:txBody>
          <a:bodyPr wrap="square" lIns="0" tIns="0" rIns="0" bIns="0" rtlCol="0" anchor="ctr"/>
          <a:lstStyle/>
          <a:p>
            <a:pPr indent="0" marL="0">
              <a:lnSpc>
                <a:spcPct val="122000"/>
              </a:lnSpc>
              <a:buNone/>
            </a:pPr>
            <a:r>
              <a:rPr lang="en-US" sz="1050" dirty="0">
                <a:solidFill>
                  <a:srgbClr val="EFEBE3"/>
                </a:solidFill>
                <a:latin typeface="Yu Gothic" pitchFamily="34" charset="0"/>
                <a:ea typeface="Yu Gothic" pitchFamily="34" charset="-122"/>
                <a:cs typeface="Yu Gothic" pitchFamily="34" charset="-120"/>
              </a:rPr>
              <a:t>結論：卸値を時価−αにしたことで、投資家利回りを動かす要因は「ワイン価格の上昇率」と「在庫回転期間」の2つに絞られた。仕入価格と売値の変動は簿価が連動するため遮断される。20%の分岐点は回転12.0ヶ月（上昇6%前提）であり、主線12ヶ月に余裕はない。上昇0%の場合は回転8.6ヶ月まで縮めないと20%に届かないため、値上がりが止まる局面では回転の短縮が唯一の対抗手段となる。組入銘柄を流動性上位に絞り込み、B2B卸とB2Cを併走させて販売量を確保する設計とする。</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FAIR ALLOCATION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WineBank在庫との公平性をどう担保するか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調達・保管・販売のすべてをWineBankが担うため配分に構造的な利益相反が生じる。在庫比率によるプロラタ配分を原則とする。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17</a:t>
            </a:r>
            <a:endParaRPr lang="en-US" sz="950" dirty="0"/>
          </a:p>
        </p:txBody>
      </p:sp>
      <p:sp>
        <p:nvSpPr>
          <p:cNvPr id="7" name="Shape 5"/>
          <p:cNvSpPr/>
          <p:nvPr/>
        </p:nvSpPr>
        <p:spPr>
          <a:xfrm>
            <a:off x="658368" y="1627632"/>
            <a:ext cx="3454298" cy="1847088"/>
          </a:xfrm>
          <a:prstGeom prst="roundRect">
            <a:avLst>
              <a:gd name="adj" fmla="val 2228"/>
            </a:avLst>
          </a:prstGeom>
          <a:solidFill>
            <a:srgbClr val="1F1D19"/>
          </a:solidFill>
          <a:ln w="9525">
            <a:solidFill>
              <a:srgbClr val="6E5730"/>
            </a:solidFill>
            <a:prstDash val="solid"/>
          </a:ln>
        </p:spPr>
      </p:sp>
      <p:sp>
        <p:nvSpPr>
          <p:cNvPr id="8" name="Shape 6"/>
          <p:cNvSpPr/>
          <p:nvPr/>
        </p:nvSpPr>
        <p:spPr>
          <a:xfrm>
            <a:off x="896112" y="1810512"/>
            <a:ext cx="310896" cy="310896"/>
          </a:xfrm>
          <a:prstGeom prst="ellipse">
            <a:avLst/>
          </a:prstGeom>
          <a:solidFill>
            <a:srgbClr val="0C0C0C"/>
          </a:solidFill>
          <a:ln w="11430">
            <a:solidFill>
              <a:srgbClr val="A78450"/>
            </a:solidFill>
            <a:prstDash val="solid"/>
          </a:ln>
        </p:spPr>
      </p:sp>
      <p:sp>
        <p:nvSpPr>
          <p:cNvPr id="9" name="Text 7"/>
          <p:cNvSpPr/>
          <p:nvPr/>
        </p:nvSpPr>
        <p:spPr>
          <a:xfrm>
            <a:off x="896112"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10" name="Text 8"/>
          <p:cNvSpPr/>
          <p:nvPr/>
        </p:nvSpPr>
        <p:spPr>
          <a:xfrm>
            <a:off x="1298448" y="1828800"/>
            <a:ext cx="2576474" cy="274320"/>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現物出資が相反そのものを縮小する</a:t>
            </a:r>
            <a:endParaRPr lang="en-US" sz="1100" dirty="0"/>
          </a:p>
        </p:txBody>
      </p:sp>
      <p:sp>
        <p:nvSpPr>
          <p:cNvPr id="11" name="Text 9"/>
          <p:cNvSpPr/>
          <p:nvPr/>
        </p:nvSpPr>
        <p:spPr>
          <a:xfrm>
            <a:off x="896112"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WineBankが自己勘定在庫の相当部分（1stクローズで3億円相当）をSPCへ拠出するため、両者に同一銘柄が併存する場面自体が減る。加えてWineBankはSPCの持分60%を通じて損益を負うため、SPC在庫を後回しにする経済的動機が小さい。</a:t>
            </a:r>
            <a:endParaRPr lang="en-US" sz="900" dirty="0"/>
          </a:p>
        </p:txBody>
      </p:sp>
      <p:sp>
        <p:nvSpPr>
          <p:cNvPr id="12" name="Shape 10"/>
          <p:cNvSpPr/>
          <p:nvPr/>
        </p:nvSpPr>
        <p:spPr>
          <a:xfrm>
            <a:off x="4368698" y="1627632"/>
            <a:ext cx="3454298" cy="1847088"/>
          </a:xfrm>
          <a:prstGeom prst="roundRect">
            <a:avLst>
              <a:gd name="adj" fmla="val 2228"/>
            </a:avLst>
          </a:prstGeom>
          <a:solidFill>
            <a:srgbClr val="171614"/>
          </a:solidFill>
          <a:ln w="9525">
            <a:solidFill>
              <a:srgbClr val="2E2A24"/>
            </a:solidFill>
            <a:prstDash val="solid"/>
          </a:ln>
        </p:spPr>
      </p:sp>
      <p:sp>
        <p:nvSpPr>
          <p:cNvPr id="13" name="Shape 11"/>
          <p:cNvSpPr/>
          <p:nvPr/>
        </p:nvSpPr>
        <p:spPr>
          <a:xfrm>
            <a:off x="4606442" y="1810512"/>
            <a:ext cx="310896" cy="310896"/>
          </a:xfrm>
          <a:prstGeom prst="ellipse">
            <a:avLst/>
          </a:prstGeom>
          <a:solidFill>
            <a:srgbClr val="0C0C0C"/>
          </a:solidFill>
          <a:ln w="11430">
            <a:solidFill>
              <a:srgbClr val="A78450"/>
            </a:solidFill>
            <a:prstDash val="solid"/>
          </a:ln>
        </p:spPr>
      </p:sp>
      <p:sp>
        <p:nvSpPr>
          <p:cNvPr id="14" name="Text 12"/>
          <p:cNvSpPr/>
          <p:nvPr/>
        </p:nvSpPr>
        <p:spPr>
          <a:xfrm>
            <a:off x="4606442"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5" name="Text 13"/>
          <p:cNvSpPr/>
          <p:nvPr/>
        </p:nvSpPr>
        <p:spPr>
          <a:xfrm>
            <a:off x="5008778" y="1828800"/>
            <a:ext cx="2576474"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プロラタ配分を原則とする</a:t>
            </a:r>
            <a:endParaRPr lang="en-US" sz="1100" dirty="0"/>
          </a:p>
        </p:txBody>
      </p:sp>
      <p:sp>
        <p:nvSpPr>
          <p:cNvPr id="16" name="Text 14"/>
          <p:cNvSpPr/>
          <p:nvPr/>
        </p:nvSpPr>
        <p:spPr>
          <a:xfrm>
            <a:off x="4606442"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同一銘柄が両者にある場合、売却を在庫数量の比率に応じて配分する。個々の売却は分割できないため、累計の配分比率が在庫比率に一致するよう配分台帳で管理し、乖離の大きい側から出庫する。判断を要する場合はSPC在庫を優先する。</a:t>
            </a:r>
            <a:endParaRPr lang="en-US" sz="900" dirty="0"/>
          </a:p>
        </p:txBody>
      </p:sp>
      <p:sp>
        <p:nvSpPr>
          <p:cNvPr id="17" name="Shape 15"/>
          <p:cNvSpPr/>
          <p:nvPr/>
        </p:nvSpPr>
        <p:spPr>
          <a:xfrm>
            <a:off x="8079029" y="1627632"/>
            <a:ext cx="3454298" cy="1847088"/>
          </a:xfrm>
          <a:prstGeom prst="roundRect">
            <a:avLst>
              <a:gd name="adj" fmla="val 2228"/>
            </a:avLst>
          </a:prstGeom>
          <a:solidFill>
            <a:srgbClr val="171614"/>
          </a:solidFill>
          <a:ln w="9525">
            <a:solidFill>
              <a:srgbClr val="2E2A24"/>
            </a:solidFill>
            <a:prstDash val="solid"/>
          </a:ln>
        </p:spPr>
      </p:sp>
      <p:sp>
        <p:nvSpPr>
          <p:cNvPr id="18" name="Shape 16"/>
          <p:cNvSpPr/>
          <p:nvPr/>
        </p:nvSpPr>
        <p:spPr>
          <a:xfrm>
            <a:off x="8316773" y="1810512"/>
            <a:ext cx="310896" cy="310896"/>
          </a:xfrm>
          <a:prstGeom prst="ellipse">
            <a:avLst/>
          </a:prstGeom>
          <a:solidFill>
            <a:srgbClr val="0C0C0C"/>
          </a:solidFill>
          <a:ln w="11430">
            <a:solidFill>
              <a:srgbClr val="A78450"/>
            </a:solidFill>
            <a:prstDash val="solid"/>
          </a:ln>
        </p:spPr>
      </p:sp>
      <p:sp>
        <p:nvSpPr>
          <p:cNvPr id="19" name="Text 17"/>
          <p:cNvSpPr/>
          <p:nvPr/>
        </p:nvSpPr>
        <p:spPr>
          <a:xfrm>
            <a:off x="8316773" y="1810512"/>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20" name="Text 18"/>
          <p:cNvSpPr/>
          <p:nvPr/>
        </p:nvSpPr>
        <p:spPr>
          <a:xfrm>
            <a:off x="8719109" y="1828800"/>
            <a:ext cx="2576474" cy="274320"/>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価格同一ルールと補填条項</a:t>
            </a:r>
            <a:endParaRPr lang="en-US" sz="1100" dirty="0"/>
          </a:p>
        </p:txBody>
      </p:sp>
      <p:sp>
        <p:nvSpPr>
          <p:cNvPr id="21" name="Text 19"/>
          <p:cNvSpPr/>
          <p:nvPr/>
        </p:nvSpPr>
        <p:spPr>
          <a:xfrm>
            <a:off x="8316773" y="2267712"/>
            <a:ext cx="2978810" cy="1298448"/>
          </a:xfrm>
          <a:prstGeom prst="rect">
            <a:avLst/>
          </a:prstGeom>
          <a:noFill/>
          <a:ln/>
        </p:spPr>
        <p:txBody>
          <a:bodyPr wrap="square" lIns="0" tIns="0" rIns="0" bIns="0" rtlCol="0" anchor="ctr"/>
          <a:lstStyle/>
          <a:p>
            <a:pPr indent="0" marL="0">
              <a:lnSpc>
                <a:spcPct val="122000"/>
              </a:lnSpc>
              <a:buNone/>
            </a:pPr>
            <a:r>
              <a:rPr lang="en-US" sz="900" dirty="0">
                <a:solidFill>
                  <a:srgbClr val="9A938A"/>
                </a:solidFill>
                <a:latin typeface="Yu Gothic" pitchFamily="34" charset="0"/>
                <a:ea typeface="Yu Gothic" pitchFamily="34" charset="-122"/>
                <a:cs typeface="Yu Gothic" pitchFamily="34" charset="-120"/>
              </a:rPr>
              <a:t>同一SKU・同一四半期の実現単価は、SPCがWineBank自己勘定を下回らないものとする。下回った場合は差額×SPC数量をWineBankがSPCへ現金で補填する。運用が崩れても投資家が金額で守られる仕組みとする。</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58368" y="3602736"/>
          <a:ext cx="10874959" cy="914400"/>
        </p:xfrm>
        <a:graphic>
          <a:graphicData uri="http://schemas.openxmlformats.org/drawingml/2006/table">
            <a:tbl>
              <a:tblPr/>
              <a:tblGrid>
                <a:gridCol w="2377440"/>
                <a:gridCol w="8494776"/>
              </a:tblGrid>
              <a:tr h="26060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担保の手段</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卸値ルールの明文化</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SPCへの卸値は「時価 × （1−α）」とし、α＝20.8%を契約上固定する。期中の変更には投資家の事前承認を要する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時価の算定方法</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C9A96E"/>
                          </a:solidFill>
                          <a:latin typeface="Yu Gothic" pitchFamily="34" charset="0"/>
                          <a:ea typeface="Yu Gothic" pitchFamily="34" charset="-122"/>
                          <a:cs typeface="Yu Gothic" pitchFamily="34" charset="-120"/>
                        </a:rPr>
                        <a:t>時価はB2B卸値とB2C売値の加重平均とし、算定根拠（Liv-ex等の市場データ、自社の実現単価）を四半期ごとに開示する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拠出銘柄の選定ルール</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現物出資する銘柄は流動性上位から選び、滞留在庫の受け皿としない。拠出銘柄リストは投資家の事前確認を要する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取得時の按分</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同一SKUを複数ロット取得する場合は、SPCとWineBank自己勘定の在庫比率に応じて按分して割り当てる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配分台帳</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SKU別に期首在庫・取得・売却・期末在庫を両建てで記録し、累計配分比率と在庫比率の乖離を四半期ごとに投資家へ開示する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倉庫内の分別保管</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SPC名義の在庫は別ロケーション・別ラベルで管理し、現物の特定可能性を確保する。四半期ごとに第三者棚卸を実施する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60604">
                <a:tc>
                  <a:txBody>
                    <a:bodyPr/>
                    <a:lstStyle/>
                    <a:p>
                      <a:pPr algn="ctr" indent="0" marL="0">
                        <a:buNone/>
                      </a:pPr>
                      <a:r>
                        <a:rPr lang="en-US" sz="1000" dirty="0">
                          <a:solidFill>
                            <a:srgbClr val="EFEBE3"/>
                          </a:solidFill>
                          <a:latin typeface="Yu Gothic" pitchFamily="34" charset="0"/>
                          <a:ea typeface="Yu Gothic" pitchFamily="34" charset="-122"/>
                          <a:cs typeface="Yu Gothic" pitchFamily="34" charset="-120"/>
                        </a:rPr>
                        <a:t>独立第三者による検証</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1000" dirty="0">
                          <a:solidFill>
                            <a:srgbClr val="EFEBE3"/>
                          </a:solidFill>
                          <a:latin typeface="Yu Gothic" pitchFamily="34" charset="0"/>
                          <a:ea typeface="Yu Gothic" pitchFamily="34" charset="-122"/>
                          <a:cs typeface="Yu Gothic" pitchFamily="34" charset="-120"/>
                        </a:rPr>
                        <a:t>AUPの対象に卸値の算定と配分ルールの遵守状況を含め、公認会計士による年次の検証を受ける</a:t>
                      </a:r>
                      <a:endParaRPr lang="en-US" sz="10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3" name="Text 20"/>
          <p:cNvSpPr/>
          <p:nvPr/>
        </p:nvSpPr>
        <p:spPr>
          <a:xfrm>
            <a:off x="658368" y="5797296"/>
            <a:ext cx="10874959" cy="329184"/>
          </a:xfrm>
          <a:prstGeom prst="rect">
            <a:avLst/>
          </a:prstGeom>
          <a:noFill/>
          <a:ln/>
        </p:spPr>
        <p:txBody>
          <a:bodyPr wrap="square" lIns="0" tIns="0" rIns="0" bIns="0" rtlCol="0" anchor="ctr"/>
          <a:lstStyle/>
          <a:p>
            <a:pPr indent="0" marL="0">
              <a:lnSpc>
                <a:spcPct val="118000"/>
              </a:lnSpc>
              <a:buNone/>
            </a:pPr>
            <a:r>
              <a:rPr lang="en-US" sz="800" dirty="0">
                <a:solidFill>
                  <a:srgbClr val="6E675E"/>
                </a:solidFill>
                <a:latin typeface="Yu Gothic" pitchFamily="34" charset="0"/>
                <a:ea typeface="Yu Gothic" pitchFamily="34" charset="-122"/>
                <a:cs typeface="Yu Gothic" pitchFamily="34" charset="-120"/>
              </a:rPr>
              <a:t>※ 本スキームではWineBankの取り分が卸値の中で確定するため、「いくらで卸したか」が投資家利益に直結する。したがって在庫の配分ルールに加え、卸値の決め方そのものを契約で固定し、第三者の検証対象に含めることが最大の担保となる。SPC在庫を完売するまで自己勘定在庫を売らないという運用は、商品構成が銘柄ごとに異なるため実務上成立しないので採らない。</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GOVERNANCE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情報開示・報告と利益相反の管理</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運営者への依存度が高いスキームであるため、開示義務と利益相反管理を契約上で具体的に定める。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18</a:t>
            </a:r>
            <a:endParaRPr lang="en-US" sz="950" dirty="0"/>
          </a:p>
        </p:txBody>
      </p:sp>
      <p:sp>
        <p:nvSpPr>
          <p:cNvPr id="7" name="Shape 5"/>
          <p:cNvSpPr/>
          <p:nvPr/>
        </p:nvSpPr>
        <p:spPr>
          <a:xfrm>
            <a:off x="658368" y="1627632"/>
            <a:ext cx="5300320" cy="3163824"/>
          </a:xfrm>
          <a:prstGeom prst="roundRect">
            <a:avLst>
              <a:gd name="adj" fmla="val 1301"/>
            </a:avLst>
          </a:prstGeom>
          <a:solidFill>
            <a:srgbClr val="171614"/>
          </a:solidFill>
          <a:ln w="9525">
            <a:solidFill>
              <a:srgbClr val="2E2A24"/>
            </a:solidFill>
            <a:prstDash val="solid"/>
          </a:ln>
        </p:spPr>
      </p:sp>
      <p:sp>
        <p:nvSpPr>
          <p:cNvPr id="8" name="Text 6"/>
          <p:cNvSpPr/>
          <p:nvPr/>
        </p:nvSpPr>
        <p:spPr>
          <a:xfrm>
            <a:off x="914400" y="1792224"/>
            <a:ext cx="478825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契約上の報告・開示義務</a:t>
            </a:r>
            <a:endParaRPr lang="en-US" sz="1250" dirty="0"/>
          </a:p>
        </p:txBody>
      </p:sp>
      <p:sp>
        <p:nvSpPr>
          <p:cNvPr id="9" name="Shape 7"/>
          <p:cNvSpPr/>
          <p:nvPr/>
        </p:nvSpPr>
        <p:spPr>
          <a:xfrm>
            <a:off x="932688" y="2180844"/>
            <a:ext cx="128016" cy="128016"/>
          </a:xfrm>
          <a:prstGeom prst="ellipse">
            <a:avLst/>
          </a:prstGeom>
          <a:solidFill>
            <a:srgbClr val="A78450"/>
          </a:solidFill>
          <a:ln w="11430">
            <a:solidFill>
              <a:srgbClr val="A78450"/>
            </a:solidFill>
            <a:prstDash val="solid"/>
          </a:ln>
        </p:spPr>
      </p:sp>
      <p:sp>
        <p:nvSpPr>
          <p:cNvPr id="10" name="Text 8"/>
          <p:cNvSpPr/>
          <p:nvPr/>
        </p:nvSpPr>
        <p:spPr>
          <a:xfrm>
            <a:off x="932688" y="2180844"/>
            <a:ext cx="128016" cy="128016"/>
          </a:xfrm>
          <a:prstGeom prst="rect">
            <a:avLst/>
          </a:prstGeom>
          <a:noFill/>
          <a:ln/>
        </p:spPr>
        <p:txBody>
          <a:bodyPr wrap="square" lIns="0" tIns="0" rIns="0" bIns="0" rtlCol="0" anchor="ctr"/>
          <a:lstStyle/>
          <a:p>
            <a:pPr algn="ctr" indent="0" marL="0">
              <a:buNone/>
            </a:pPr>
            <a:endParaRPr lang="en-US" sz="1100" dirty="0"/>
          </a:p>
        </p:txBody>
      </p:sp>
      <p:sp>
        <p:nvSpPr>
          <p:cNvPr id="11" name="Text 9"/>
          <p:cNvSpPr/>
          <p:nvPr/>
        </p:nvSpPr>
        <p:spPr>
          <a:xfrm>
            <a:off x="1152144" y="2103120"/>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四半期ごとの損益、資金収支および事業進捗</a:t>
            </a:r>
            <a:endParaRPr lang="en-US" sz="950" dirty="0"/>
          </a:p>
        </p:txBody>
      </p:sp>
      <p:sp>
        <p:nvSpPr>
          <p:cNvPr id="12" name="Shape 10"/>
          <p:cNvSpPr/>
          <p:nvPr/>
        </p:nvSpPr>
        <p:spPr>
          <a:xfrm>
            <a:off x="932688" y="2496312"/>
            <a:ext cx="128016" cy="128016"/>
          </a:xfrm>
          <a:prstGeom prst="ellipse">
            <a:avLst/>
          </a:prstGeom>
          <a:solidFill>
            <a:srgbClr val="A78450"/>
          </a:solidFill>
          <a:ln w="11430">
            <a:solidFill>
              <a:srgbClr val="A78450"/>
            </a:solidFill>
            <a:prstDash val="solid"/>
          </a:ln>
        </p:spPr>
      </p:sp>
      <p:sp>
        <p:nvSpPr>
          <p:cNvPr id="13" name="Text 11"/>
          <p:cNvSpPr/>
          <p:nvPr/>
        </p:nvSpPr>
        <p:spPr>
          <a:xfrm>
            <a:off x="932688" y="2496312"/>
            <a:ext cx="128016" cy="128016"/>
          </a:xfrm>
          <a:prstGeom prst="rect">
            <a:avLst/>
          </a:prstGeom>
          <a:noFill/>
          <a:ln/>
        </p:spPr>
        <p:txBody>
          <a:bodyPr wrap="square" lIns="0" tIns="0" rIns="0" bIns="0" rtlCol="0" anchor="ctr"/>
          <a:lstStyle/>
          <a:p>
            <a:pPr algn="ctr" indent="0" marL="0">
              <a:buNone/>
            </a:pPr>
            <a:endParaRPr lang="en-US" sz="1100" dirty="0"/>
          </a:p>
        </p:txBody>
      </p:sp>
      <p:sp>
        <p:nvSpPr>
          <p:cNvPr id="14" name="Text 12"/>
          <p:cNvSpPr/>
          <p:nvPr/>
        </p:nvSpPr>
        <p:spPr>
          <a:xfrm>
            <a:off x="1152144" y="2418588"/>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SPCへの卸値、その基礎となった時価および算定根拠</a:t>
            </a:r>
            <a:endParaRPr lang="en-US" sz="950" dirty="0"/>
          </a:p>
        </p:txBody>
      </p:sp>
      <p:sp>
        <p:nvSpPr>
          <p:cNvPr id="15" name="Shape 13"/>
          <p:cNvSpPr/>
          <p:nvPr/>
        </p:nvSpPr>
        <p:spPr>
          <a:xfrm>
            <a:off x="932688" y="2811780"/>
            <a:ext cx="128016" cy="128016"/>
          </a:xfrm>
          <a:prstGeom prst="ellipse">
            <a:avLst/>
          </a:prstGeom>
          <a:solidFill>
            <a:srgbClr val="A78450"/>
          </a:solidFill>
          <a:ln w="11430">
            <a:solidFill>
              <a:srgbClr val="A78450"/>
            </a:solidFill>
            <a:prstDash val="solid"/>
          </a:ln>
        </p:spPr>
      </p:sp>
      <p:sp>
        <p:nvSpPr>
          <p:cNvPr id="16" name="Text 14"/>
          <p:cNvSpPr/>
          <p:nvPr/>
        </p:nvSpPr>
        <p:spPr>
          <a:xfrm>
            <a:off x="932688" y="2811780"/>
            <a:ext cx="128016" cy="128016"/>
          </a:xfrm>
          <a:prstGeom prst="rect">
            <a:avLst/>
          </a:prstGeom>
          <a:noFill/>
          <a:ln/>
        </p:spPr>
        <p:txBody>
          <a:bodyPr wrap="square" lIns="0" tIns="0" rIns="0" bIns="0" rtlCol="0" anchor="ctr"/>
          <a:lstStyle/>
          <a:p>
            <a:pPr algn="ctr" indent="0" marL="0">
              <a:buNone/>
            </a:pPr>
            <a:endParaRPr lang="en-US" sz="1100" dirty="0"/>
          </a:p>
        </p:txBody>
      </p:sp>
      <p:sp>
        <p:nvSpPr>
          <p:cNvPr id="17" name="Text 15"/>
          <p:cNvSpPr/>
          <p:nvPr/>
        </p:nvSpPr>
        <p:spPr>
          <a:xfrm>
            <a:off x="1152144" y="2734056"/>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仕入数量・仕入単価・販売数量・販売単価・在庫数量</a:t>
            </a:r>
            <a:endParaRPr lang="en-US" sz="950" dirty="0"/>
          </a:p>
        </p:txBody>
      </p:sp>
      <p:sp>
        <p:nvSpPr>
          <p:cNvPr id="18" name="Shape 16"/>
          <p:cNvSpPr/>
          <p:nvPr/>
        </p:nvSpPr>
        <p:spPr>
          <a:xfrm>
            <a:off x="932688" y="3127248"/>
            <a:ext cx="128016" cy="128016"/>
          </a:xfrm>
          <a:prstGeom prst="ellipse">
            <a:avLst/>
          </a:prstGeom>
          <a:solidFill>
            <a:srgbClr val="A78450"/>
          </a:solidFill>
          <a:ln w="11430">
            <a:solidFill>
              <a:srgbClr val="A78450"/>
            </a:solidFill>
            <a:prstDash val="solid"/>
          </a:ln>
        </p:spPr>
      </p:sp>
      <p:sp>
        <p:nvSpPr>
          <p:cNvPr id="19" name="Text 17"/>
          <p:cNvSpPr/>
          <p:nvPr/>
        </p:nvSpPr>
        <p:spPr>
          <a:xfrm>
            <a:off x="932688" y="3127248"/>
            <a:ext cx="128016" cy="128016"/>
          </a:xfrm>
          <a:prstGeom prst="rect">
            <a:avLst/>
          </a:prstGeom>
          <a:noFill/>
          <a:ln/>
        </p:spPr>
        <p:txBody>
          <a:bodyPr wrap="square" lIns="0" tIns="0" rIns="0" bIns="0" rtlCol="0" anchor="ctr"/>
          <a:lstStyle/>
          <a:p>
            <a:pPr algn="ctr" indent="0" marL="0">
              <a:buNone/>
            </a:pPr>
            <a:endParaRPr lang="en-US" sz="1100" dirty="0"/>
          </a:p>
        </p:txBody>
      </p:sp>
      <p:sp>
        <p:nvSpPr>
          <p:cNvPr id="20" name="Text 18"/>
          <p:cNvSpPr/>
          <p:nvPr/>
        </p:nvSpPr>
        <p:spPr>
          <a:xfrm>
            <a:off x="1152144" y="3049524"/>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現物出資した銘柄の明細および評価額</a:t>
            </a:r>
            <a:endParaRPr lang="en-US" sz="950" dirty="0"/>
          </a:p>
        </p:txBody>
      </p:sp>
      <p:sp>
        <p:nvSpPr>
          <p:cNvPr id="21" name="Shape 19"/>
          <p:cNvSpPr/>
          <p:nvPr/>
        </p:nvSpPr>
        <p:spPr>
          <a:xfrm>
            <a:off x="932688" y="3442716"/>
            <a:ext cx="128016" cy="128016"/>
          </a:xfrm>
          <a:prstGeom prst="ellipse">
            <a:avLst/>
          </a:prstGeom>
          <a:solidFill>
            <a:srgbClr val="A78450"/>
          </a:solidFill>
          <a:ln w="11430">
            <a:solidFill>
              <a:srgbClr val="A78450"/>
            </a:solidFill>
            <a:prstDash val="solid"/>
          </a:ln>
        </p:spPr>
      </p:sp>
      <p:sp>
        <p:nvSpPr>
          <p:cNvPr id="22" name="Text 20"/>
          <p:cNvSpPr/>
          <p:nvPr/>
        </p:nvSpPr>
        <p:spPr>
          <a:xfrm>
            <a:off x="932688" y="3442716"/>
            <a:ext cx="128016" cy="128016"/>
          </a:xfrm>
          <a:prstGeom prst="rect">
            <a:avLst/>
          </a:prstGeom>
          <a:noFill/>
          <a:ln/>
        </p:spPr>
        <p:txBody>
          <a:bodyPr wrap="square" lIns="0" tIns="0" rIns="0" bIns="0" rtlCol="0" anchor="ctr"/>
          <a:lstStyle/>
          <a:p>
            <a:pPr algn="ctr" indent="0" marL="0">
              <a:buNone/>
            </a:pPr>
            <a:endParaRPr lang="en-US" sz="1100" dirty="0"/>
          </a:p>
        </p:txBody>
      </p:sp>
      <p:sp>
        <p:nvSpPr>
          <p:cNvPr id="23" name="Text 21"/>
          <p:cNvSpPr/>
          <p:nvPr/>
        </p:nvSpPr>
        <p:spPr>
          <a:xfrm>
            <a:off x="1152144" y="3364992"/>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資金使途、銀行口座残高および主要な支払内容</a:t>
            </a:r>
            <a:endParaRPr lang="en-US" sz="950" dirty="0"/>
          </a:p>
        </p:txBody>
      </p:sp>
      <p:sp>
        <p:nvSpPr>
          <p:cNvPr id="24" name="Shape 22"/>
          <p:cNvSpPr/>
          <p:nvPr/>
        </p:nvSpPr>
        <p:spPr>
          <a:xfrm>
            <a:off x="932688" y="3758184"/>
            <a:ext cx="128016" cy="128016"/>
          </a:xfrm>
          <a:prstGeom prst="ellipse">
            <a:avLst/>
          </a:prstGeom>
          <a:solidFill>
            <a:srgbClr val="A78450"/>
          </a:solidFill>
          <a:ln w="11430">
            <a:solidFill>
              <a:srgbClr val="A78450"/>
            </a:solidFill>
            <a:prstDash val="solid"/>
          </a:ln>
        </p:spPr>
      </p:sp>
      <p:sp>
        <p:nvSpPr>
          <p:cNvPr id="25" name="Text 23"/>
          <p:cNvSpPr/>
          <p:nvPr/>
        </p:nvSpPr>
        <p:spPr>
          <a:xfrm>
            <a:off x="932688" y="3758184"/>
            <a:ext cx="128016" cy="128016"/>
          </a:xfrm>
          <a:prstGeom prst="rect">
            <a:avLst/>
          </a:prstGeom>
          <a:noFill/>
          <a:ln/>
        </p:spPr>
        <p:txBody>
          <a:bodyPr wrap="square" lIns="0" tIns="0" rIns="0" bIns="0" rtlCol="0" anchor="ctr"/>
          <a:lstStyle/>
          <a:p>
            <a:pPr algn="ctr" indent="0" marL="0">
              <a:buNone/>
            </a:pPr>
            <a:endParaRPr lang="en-US" sz="1100" dirty="0"/>
          </a:p>
        </p:txBody>
      </p:sp>
      <p:sp>
        <p:nvSpPr>
          <p:cNvPr id="26" name="Text 24"/>
          <p:cNvSpPr/>
          <p:nvPr/>
        </p:nvSpPr>
        <p:spPr>
          <a:xfrm>
            <a:off x="1152144" y="3680460"/>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関連当事者取引・利益相反取引の内容、金額、取引条件</a:t>
            </a:r>
            <a:endParaRPr lang="en-US" sz="950" dirty="0"/>
          </a:p>
        </p:txBody>
      </p:sp>
      <p:sp>
        <p:nvSpPr>
          <p:cNvPr id="27" name="Shape 25"/>
          <p:cNvSpPr/>
          <p:nvPr/>
        </p:nvSpPr>
        <p:spPr>
          <a:xfrm>
            <a:off x="932688" y="4073652"/>
            <a:ext cx="128016" cy="128016"/>
          </a:xfrm>
          <a:prstGeom prst="ellipse">
            <a:avLst/>
          </a:prstGeom>
          <a:solidFill>
            <a:srgbClr val="A78450"/>
          </a:solidFill>
          <a:ln w="11430">
            <a:solidFill>
              <a:srgbClr val="A78450"/>
            </a:solidFill>
            <a:prstDash val="solid"/>
          </a:ln>
        </p:spPr>
      </p:sp>
      <p:sp>
        <p:nvSpPr>
          <p:cNvPr id="28" name="Text 26"/>
          <p:cNvSpPr/>
          <p:nvPr/>
        </p:nvSpPr>
        <p:spPr>
          <a:xfrm>
            <a:off x="932688" y="4073652"/>
            <a:ext cx="128016" cy="128016"/>
          </a:xfrm>
          <a:prstGeom prst="rect">
            <a:avLst/>
          </a:prstGeom>
          <a:noFill/>
          <a:ln/>
        </p:spPr>
        <p:txBody>
          <a:bodyPr wrap="square" lIns="0" tIns="0" rIns="0" bIns="0" rtlCol="0" anchor="ctr"/>
          <a:lstStyle/>
          <a:p>
            <a:pPr algn="ctr" indent="0" marL="0">
              <a:buNone/>
            </a:pPr>
            <a:endParaRPr lang="en-US" sz="1100" dirty="0"/>
          </a:p>
        </p:txBody>
      </p:sp>
      <p:sp>
        <p:nvSpPr>
          <p:cNvPr id="29" name="Text 27"/>
          <p:cNvSpPr/>
          <p:nvPr/>
        </p:nvSpPr>
        <p:spPr>
          <a:xfrm>
            <a:off x="1152144" y="3995928"/>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会計帳簿・請求書・契約書・銀行取引記録の閲覧および調査権</a:t>
            </a:r>
            <a:endParaRPr lang="en-US" sz="950" dirty="0"/>
          </a:p>
        </p:txBody>
      </p:sp>
      <p:sp>
        <p:nvSpPr>
          <p:cNvPr id="30" name="Shape 28"/>
          <p:cNvSpPr/>
          <p:nvPr/>
        </p:nvSpPr>
        <p:spPr>
          <a:xfrm>
            <a:off x="932688" y="4389120"/>
            <a:ext cx="128016" cy="128016"/>
          </a:xfrm>
          <a:prstGeom prst="ellipse">
            <a:avLst/>
          </a:prstGeom>
          <a:solidFill>
            <a:srgbClr val="A78450"/>
          </a:solidFill>
          <a:ln w="11430">
            <a:solidFill>
              <a:srgbClr val="A78450"/>
            </a:solidFill>
            <a:prstDash val="solid"/>
          </a:ln>
        </p:spPr>
      </p:sp>
      <p:sp>
        <p:nvSpPr>
          <p:cNvPr id="31" name="Text 29"/>
          <p:cNvSpPr/>
          <p:nvPr/>
        </p:nvSpPr>
        <p:spPr>
          <a:xfrm>
            <a:off x="932688" y="4389120"/>
            <a:ext cx="128016" cy="128016"/>
          </a:xfrm>
          <a:prstGeom prst="rect">
            <a:avLst/>
          </a:prstGeom>
          <a:noFill/>
          <a:ln/>
        </p:spPr>
        <p:txBody>
          <a:bodyPr wrap="square" lIns="0" tIns="0" rIns="0" bIns="0" rtlCol="0" anchor="ctr"/>
          <a:lstStyle/>
          <a:p>
            <a:pPr algn="ctr" indent="0" marL="0">
              <a:buNone/>
            </a:pPr>
            <a:endParaRPr lang="en-US" sz="1100" dirty="0"/>
          </a:p>
        </p:txBody>
      </p:sp>
      <p:sp>
        <p:nvSpPr>
          <p:cNvPr id="32" name="Text 30"/>
          <p:cNvSpPr/>
          <p:nvPr/>
        </p:nvSpPr>
        <p:spPr>
          <a:xfrm>
            <a:off x="1152144" y="4311396"/>
            <a:ext cx="4532224" cy="292608"/>
          </a:xfrm>
          <a:prstGeom prst="rect">
            <a:avLst/>
          </a:prstGeom>
          <a:noFill/>
          <a:ln/>
        </p:spPr>
        <p:txBody>
          <a:bodyPr wrap="square" lIns="0" tIns="0" rIns="0" bIns="0" rtlCol="0" anchor="ctr"/>
          <a:lstStyle/>
          <a:p>
            <a:pPr indent="0" marL="0">
              <a:lnSpc>
                <a:spcPct val="115000"/>
              </a:lnSpc>
              <a:buNone/>
            </a:pPr>
            <a:r>
              <a:rPr lang="en-US" sz="950" dirty="0">
                <a:solidFill>
                  <a:srgbClr val="9A938A"/>
                </a:solidFill>
                <a:latin typeface="Yu Gothic" pitchFamily="34" charset="0"/>
                <a:ea typeface="Yu Gothic" pitchFamily="34" charset="-122"/>
                <a:cs typeface="Yu Gothic" pitchFamily="34" charset="-120"/>
              </a:rPr>
              <a:t>重大な計画変更、損失発生、不正または法令違反時の速やかな報告</a:t>
            </a:r>
            <a:endParaRPr lang="en-US" sz="950" dirty="0"/>
          </a:p>
        </p:txBody>
      </p:sp>
      <p:sp>
        <p:nvSpPr>
          <p:cNvPr id="33" name="Shape 31"/>
          <p:cNvSpPr/>
          <p:nvPr/>
        </p:nvSpPr>
        <p:spPr>
          <a:xfrm>
            <a:off x="6233008" y="1627632"/>
            <a:ext cx="5300320" cy="3163824"/>
          </a:xfrm>
          <a:prstGeom prst="roundRect">
            <a:avLst>
              <a:gd name="adj" fmla="val 1301"/>
            </a:avLst>
          </a:prstGeom>
          <a:solidFill>
            <a:srgbClr val="1F1D19"/>
          </a:solidFill>
          <a:ln w="9525">
            <a:solidFill>
              <a:srgbClr val="6E5730"/>
            </a:solidFill>
            <a:prstDash val="solid"/>
          </a:ln>
        </p:spPr>
      </p:sp>
      <p:sp>
        <p:nvSpPr>
          <p:cNvPr id="34" name="Text 32"/>
          <p:cNvSpPr/>
          <p:nvPr/>
        </p:nvSpPr>
        <p:spPr>
          <a:xfrm>
            <a:off x="6489040" y="1792224"/>
            <a:ext cx="4788256"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利益相反の管理</a:t>
            </a:r>
            <a:endParaRPr lang="en-US" sz="1250" dirty="0"/>
          </a:p>
        </p:txBody>
      </p:sp>
      <p:sp>
        <p:nvSpPr>
          <p:cNvPr id="35" name="Text 33"/>
          <p:cNvSpPr/>
          <p:nvPr/>
        </p:nvSpPr>
        <p:spPr>
          <a:xfrm>
            <a:off x="6489040" y="2139696"/>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卸値（時価−α）の固定</a:t>
            </a:r>
            <a:endParaRPr lang="en-US" sz="1050" dirty="0"/>
          </a:p>
        </p:txBody>
      </p:sp>
      <p:sp>
        <p:nvSpPr>
          <p:cNvPr id="36" name="Text 34"/>
          <p:cNvSpPr/>
          <p:nvPr/>
        </p:nvSpPr>
        <p:spPr>
          <a:xfrm>
            <a:off x="6489040" y="2359152"/>
            <a:ext cx="4788256" cy="43891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αを契約上20.8%に固定し、期中の変更には投資家の事前承認を要する。時価の算定方法も契約に明記する。</a:t>
            </a:r>
            <a:endParaRPr lang="en-US" sz="900" dirty="0"/>
          </a:p>
        </p:txBody>
      </p:sp>
      <p:sp>
        <p:nvSpPr>
          <p:cNvPr id="37" name="Text 35"/>
          <p:cNvSpPr/>
          <p:nvPr/>
        </p:nvSpPr>
        <p:spPr>
          <a:xfrm>
            <a:off x="6489040" y="2798064"/>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独立企業間価格の原則</a:t>
            </a:r>
            <a:endParaRPr lang="en-US" sz="1050" dirty="0"/>
          </a:p>
        </p:txBody>
      </p:sp>
      <p:sp>
        <p:nvSpPr>
          <p:cNvPr id="38" name="Text 36"/>
          <p:cNvSpPr/>
          <p:nvPr/>
        </p:nvSpPr>
        <p:spPr>
          <a:xfrm>
            <a:off x="6489040" y="3017520"/>
            <a:ext cx="4788256" cy="43891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卸値は第三者との取引条件と同等であることを、第三者卸価格との比較資料により年次で説明できる状態を維持する。</a:t>
            </a:r>
            <a:endParaRPr lang="en-US" sz="900" dirty="0"/>
          </a:p>
        </p:txBody>
      </p:sp>
      <p:sp>
        <p:nvSpPr>
          <p:cNvPr id="39" name="Text 37"/>
          <p:cNvSpPr/>
          <p:nvPr/>
        </p:nvSpPr>
        <p:spPr>
          <a:xfrm>
            <a:off x="6489040" y="3456432"/>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自己出資分の内部利益</a:t>
            </a:r>
            <a:endParaRPr lang="en-US" sz="1050" dirty="0"/>
          </a:p>
        </p:txBody>
      </p:sp>
      <p:sp>
        <p:nvSpPr>
          <p:cNvPr id="40" name="Text 38"/>
          <p:cNvSpPr/>
          <p:nvPr/>
        </p:nvSpPr>
        <p:spPr>
          <a:xfrm>
            <a:off x="6489040" y="3675888"/>
            <a:ext cx="4788256" cy="43891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WineBank出資分に対応する値入れは自己取引となるため、会計上の取扱い（内部利益の消去要否）を組成前に確定し、投資家へ開示する。</a:t>
            </a:r>
            <a:endParaRPr lang="en-US" sz="900" dirty="0"/>
          </a:p>
        </p:txBody>
      </p:sp>
      <p:sp>
        <p:nvSpPr>
          <p:cNvPr id="41" name="Text 39"/>
          <p:cNvSpPr/>
          <p:nvPr/>
        </p:nvSpPr>
        <p:spPr>
          <a:xfrm>
            <a:off x="6489040" y="4114800"/>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在庫配分ルールの遵守</a:t>
            </a:r>
            <a:endParaRPr lang="en-US" sz="1050" dirty="0"/>
          </a:p>
        </p:txBody>
      </p:sp>
      <p:sp>
        <p:nvSpPr>
          <p:cNvPr id="42" name="Text 40"/>
          <p:cNvSpPr/>
          <p:nvPr/>
        </p:nvSpPr>
        <p:spPr>
          <a:xfrm>
            <a:off x="6489040" y="4334256"/>
            <a:ext cx="4788256" cy="43891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前頁の配分方針および拠出銘柄選定ルールを契約別紙として明文化し、逸脱時の是正・補填手続を定める。</a:t>
            </a:r>
            <a:endParaRPr lang="en-US" sz="900" dirty="0"/>
          </a:p>
        </p:txBody>
      </p:sp>
      <p:sp>
        <p:nvSpPr>
          <p:cNvPr id="43" name="Shape 41"/>
          <p:cNvSpPr/>
          <p:nvPr/>
        </p:nvSpPr>
        <p:spPr>
          <a:xfrm>
            <a:off x="658368" y="4974336"/>
            <a:ext cx="3454298" cy="1133856"/>
          </a:xfrm>
          <a:prstGeom prst="roundRect">
            <a:avLst>
              <a:gd name="adj" fmla="val 3629"/>
            </a:avLst>
          </a:prstGeom>
          <a:solidFill>
            <a:srgbClr val="171614"/>
          </a:solidFill>
          <a:ln w="9525">
            <a:solidFill>
              <a:srgbClr val="2E2A24"/>
            </a:solidFill>
            <a:prstDash val="solid"/>
          </a:ln>
        </p:spPr>
      </p:sp>
      <p:sp>
        <p:nvSpPr>
          <p:cNvPr id="44" name="Text 42"/>
          <p:cNvSpPr/>
          <p:nvPr/>
        </p:nvSpPr>
        <p:spPr>
          <a:xfrm>
            <a:off x="896112"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ファンド形態</a:t>
            </a:r>
            <a:endParaRPr lang="en-US" sz="950" dirty="0"/>
          </a:p>
        </p:txBody>
      </p:sp>
      <p:sp>
        <p:nvSpPr>
          <p:cNvPr id="45" name="Text 43"/>
          <p:cNvSpPr/>
          <p:nvPr/>
        </p:nvSpPr>
        <p:spPr>
          <a:xfrm>
            <a:off x="896112"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適格機関投資家等特例業務</a:t>
            </a:r>
            <a:endParaRPr lang="en-US" sz="1200" dirty="0"/>
          </a:p>
        </p:txBody>
      </p:sp>
      <p:sp>
        <p:nvSpPr>
          <p:cNvPr id="46" name="Text 44"/>
          <p:cNvSpPr/>
          <p:nvPr/>
        </p:nvSpPr>
        <p:spPr>
          <a:xfrm>
            <a:off x="896112"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第1号ファンド（合同会社WineBank P1）で届出の実績がある。適格機関投資家1名以上の確保を組成条件とする。</a:t>
            </a:r>
            <a:endParaRPr lang="en-US" sz="850" dirty="0"/>
          </a:p>
        </p:txBody>
      </p:sp>
      <p:sp>
        <p:nvSpPr>
          <p:cNvPr id="47" name="Shape 45"/>
          <p:cNvSpPr/>
          <p:nvPr/>
        </p:nvSpPr>
        <p:spPr>
          <a:xfrm>
            <a:off x="4368698" y="4974336"/>
            <a:ext cx="3454298" cy="1133856"/>
          </a:xfrm>
          <a:prstGeom prst="roundRect">
            <a:avLst>
              <a:gd name="adj" fmla="val 3629"/>
            </a:avLst>
          </a:prstGeom>
          <a:solidFill>
            <a:srgbClr val="171614"/>
          </a:solidFill>
          <a:ln w="9525">
            <a:solidFill>
              <a:srgbClr val="2E2A24"/>
            </a:solidFill>
            <a:prstDash val="solid"/>
          </a:ln>
        </p:spPr>
      </p:sp>
      <p:sp>
        <p:nvSpPr>
          <p:cNvPr id="48" name="Text 46"/>
          <p:cNvSpPr/>
          <p:nvPr/>
        </p:nvSpPr>
        <p:spPr>
          <a:xfrm>
            <a:off x="4606442"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外部検証</a:t>
            </a:r>
            <a:endParaRPr lang="en-US" sz="950" dirty="0"/>
          </a:p>
        </p:txBody>
      </p:sp>
      <p:sp>
        <p:nvSpPr>
          <p:cNvPr id="49" name="Text 47"/>
          <p:cNvSpPr/>
          <p:nvPr/>
        </p:nvSpPr>
        <p:spPr>
          <a:xfrm>
            <a:off x="4606442"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AUP（合意された手続）</a:t>
            </a:r>
            <a:endParaRPr lang="en-US" sz="1200" dirty="0"/>
          </a:p>
        </p:txBody>
      </p:sp>
      <p:sp>
        <p:nvSpPr>
          <p:cNvPr id="50" name="Text 48"/>
          <p:cNvSpPr/>
          <p:nvPr/>
        </p:nvSpPr>
        <p:spPr>
          <a:xfrm>
            <a:off x="4606442"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財務諸表監査ではなく、目的を限定した合意された手続を採用。年50万円をSPC費用に計上済み。卸値の算定も検証対象に含める。</a:t>
            </a:r>
            <a:endParaRPr lang="en-US" sz="850" dirty="0"/>
          </a:p>
        </p:txBody>
      </p:sp>
      <p:sp>
        <p:nvSpPr>
          <p:cNvPr id="51" name="Shape 49"/>
          <p:cNvSpPr/>
          <p:nvPr/>
        </p:nvSpPr>
        <p:spPr>
          <a:xfrm>
            <a:off x="8079029" y="4974336"/>
            <a:ext cx="3454298" cy="1133856"/>
          </a:xfrm>
          <a:prstGeom prst="roundRect">
            <a:avLst>
              <a:gd name="adj" fmla="val 3629"/>
            </a:avLst>
          </a:prstGeom>
          <a:solidFill>
            <a:srgbClr val="171614"/>
          </a:solidFill>
          <a:ln w="9525">
            <a:solidFill>
              <a:srgbClr val="2E2A24"/>
            </a:solidFill>
            <a:prstDash val="solid"/>
          </a:ln>
        </p:spPr>
      </p:sp>
      <p:sp>
        <p:nvSpPr>
          <p:cNvPr id="52" name="Text 50"/>
          <p:cNvSpPr/>
          <p:nvPr/>
        </p:nvSpPr>
        <p:spPr>
          <a:xfrm>
            <a:off x="8316773" y="5084064"/>
            <a:ext cx="2978810" cy="201168"/>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報告頻度</a:t>
            </a:r>
            <a:endParaRPr lang="en-US" sz="950" dirty="0"/>
          </a:p>
        </p:txBody>
      </p:sp>
      <p:sp>
        <p:nvSpPr>
          <p:cNvPr id="53" name="Text 51"/>
          <p:cNvSpPr/>
          <p:nvPr/>
        </p:nvSpPr>
        <p:spPr>
          <a:xfrm>
            <a:off x="8316773" y="5285232"/>
            <a:ext cx="2978810"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四半期</a:t>
            </a:r>
            <a:endParaRPr lang="en-US" sz="1200" dirty="0"/>
          </a:p>
        </p:txBody>
      </p:sp>
      <p:sp>
        <p:nvSpPr>
          <p:cNvPr id="54" name="Text 52"/>
          <p:cNvSpPr/>
          <p:nvPr/>
        </p:nvSpPr>
        <p:spPr>
          <a:xfrm>
            <a:off x="8316773" y="5559552"/>
            <a:ext cx="2978810" cy="493776"/>
          </a:xfrm>
          <a:prstGeom prst="rect">
            <a:avLst/>
          </a:prstGeom>
          <a:noFill/>
          <a:ln/>
        </p:spPr>
        <p:txBody>
          <a:bodyPr wrap="square" lIns="0" tIns="0" rIns="0" bIns="0" rtlCol="0" anchor="ctr"/>
          <a:lstStyle/>
          <a:p>
            <a:pPr indent="0" marL="0">
              <a:lnSpc>
                <a:spcPct val="118000"/>
              </a:lnSpc>
              <a:buNone/>
            </a:pPr>
            <a:r>
              <a:rPr lang="en-US" sz="850" dirty="0">
                <a:solidFill>
                  <a:srgbClr val="9A938A"/>
                </a:solidFill>
                <a:latin typeface="Yu Gothic" pitchFamily="34" charset="0"/>
                <a:ea typeface="Yu Gothic" pitchFamily="34" charset="-122"/>
                <a:cs typeface="Yu Gothic" pitchFamily="34" charset="-120"/>
              </a:rPr>
              <a:t>在庫明細・簿価・売上・試算表を四半期ごとに開示。年次で決算を報告する。</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RISK</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想定されるリスクと対応策</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19</a:t>
            </a:r>
            <a:endParaRPr lang="en-US" sz="950" dirty="0"/>
          </a:p>
        </p:txBody>
      </p:sp>
      <p:sp>
        <p:nvSpPr>
          <p:cNvPr id="6" name="Shape 4"/>
          <p:cNvSpPr/>
          <p:nvPr/>
        </p:nvSpPr>
        <p:spPr>
          <a:xfrm>
            <a:off x="658368" y="1554480"/>
            <a:ext cx="2526716" cy="1920240"/>
          </a:xfrm>
          <a:prstGeom prst="roundRect">
            <a:avLst>
              <a:gd name="adj" fmla="val 2143"/>
            </a:avLst>
          </a:prstGeom>
          <a:solidFill>
            <a:srgbClr val="1F1D19"/>
          </a:solidFill>
          <a:ln w="9525">
            <a:solidFill>
              <a:srgbClr val="6E5730"/>
            </a:solidFill>
            <a:prstDash val="solid"/>
          </a:ln>
        </p:spPr>
      </p:sp>
      <p:sp>
        <p:nvSpPr>
          <p:cNvPr id="7" name="Text 5"/>
          <p:cNvSpPr/>
          <p:nvPr/>
        </p:nvSpPr>
        <p:spPr>
          <a:xfrm>
            <a:off x="896112"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価格変動リスク</a:t>
            </a:r>
            <a:endParaRPr lang="en-US" sz="1200" dirty="0"/>
          </a:p>
        </p:txBody>
      </p:sp>
      <p:sp>
        <p:nvSpPr>
          <p:cNvPr id="8" name="Text 6"/>
          <p:cNvSpPr/>
          <p:nvPr/>
        </p:nvSpPr>
        <p:spPr>
          <a:xfrm>
            <a:off x="896112"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Fine Wine市況の下落・停滞</a:t>
            </a:r>
            <a:endParaRPr lang="en-US" sz="950" dirty="0"/>
          </a:p>
        </p:txBody>
      </p:sp>
      <p:sp>
        <p:nvSpPr>
          <p:cNvPr id="9" name="Text 7"/>
          <p:cNvSpPr/>
          <p:nvPr/>
        </p:nvSpPr>
        <p:spPr>
          <a:xfrm>
            <a:off x="896112" y="2487168"/>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本スキームで最も効く要因。主線は年6%上昇を織り込むが、横ばい（0%）では投資家利回りが13.3%まで低下する。会社資料の年率10%に対し保守的な前提を置いている。</a:t>
            </a:r>
            <a:endParaRPr lang="en-US" sz="900" dirty="0"/>
          </a:p>
        </p:txBody>
      </p:sp>
      <p:sp>
        <p:nvSpPr>
          <p:cNvPr id="10" name="Shape 8"/>
          <p:cNvSpPr/>
          <p:nvPr/>
        </p:nvSpPr>
        <p:spPr>
          <a:xfrm>
            <a:off x="3441116" y="1554480"/>
            <a:ext cx="2526716" cy="1920240"/>
          </a:xfrm>
          <a:prstGeom prst="roundRect">
            <a:avLst>
              <a:gd name="adj" fmla="val 2143"/>
            </a:avLst>
          </a:prstGeom>
          <a:solidFill>
            <a:srgbClr val="171614"/>
          </a:solidFill>
          <a:ln w="9525">
            <a:solidFill>
              <a:srgbClr val="2E2A24"/>
            </a:solidFill>
            <a:prstDash val="solid"/>
          </a:ln>
        </p:spPr>
      </p:sp>
      <p:sp>
        <p:nvSpPr>
          <p:cNvPr id="11" name="Text 9"/>
          <p:cNvSpPr/>
          <p:nvPr/>
        </p:nvSpPr>
        <p:spPr>
          <a:xfrm>
            <a:off x="3678860"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在庫リスク</a:t>
            </a:r>
            <a:endParaRPr lang="en-US" sz="1200" dirty="0"/>
          </a:p>
        </p:txBody>
      </p:sp>
      <p:sp>
        <p:nvSpPr>
          <p:cNvPr id="12" name="Text 10"/>
          <p:cNvSpPr/>
          <p:nvPr/>
        </p:nvSpPr>
        <p:spPr>
          <a:xfrm>
            <a:off x="3678860"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想定価格で売り切れず滞留する</a:t>
            </a:r>
            <a:endParaRPr lang="en-US" sz="950" dirty="0"/>
          </a:p>
        </p:txBody>
      </p:sp>
      <p:sp>
        <p:nvSpPr>
          <p:cNvPr id="13" name="Text 11"/>
          <p:cNvSpPr/>
          <p:nvPr/>
        </p:nvSpPr>
        <p:spPr>
          <a:xfrm>
            <a:off x="3678860" y="2487168"/>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銘柄をLiv-ex掲載の流通量の多い銘柄に限定。四半期ごとに滞留在庫を洗い出し、簿価見直しを実施。滞留は値上がりを取る期間でもある。</a:t>
            </a:r>
            <a:endParaRPr lang="en-US" sz="900" dirty="0"/>
          </a:p>
        </p:txBody>
      </p:sp>
      <p:sp>
        <p:nvSpPr>
          <p:cNvPr id="14" name="Shape 12"/>
          <p:cNvSpPr/>
          <p:nvPr/>
        </p:nvSpPr>
        <p:spPr>
          <a:xfrm>
            <a:off x="6223864" y="1554480"/>
            <a:ext cx="2526716" cy="1920240"/>
          </a:xfrm>
          <a:prstGeom prst="roundRect">
            <a:avLst>
              <a:gd name="adj" fmla="val 2143"/>
            </a:avLst>
          </a:prstGeom>
          <a:solidFill>
            <a:srgbClr val="171614"/>
          </a:solidFill>
          <a:ln w="9525">
            <a:solidFill>
              <a:srgbClr val="2E2A24"/>
            </a:solidFill>
            <a:prstDash val="solid"/>
          </a:ln>
        </p:spPr>
      </p:sp>
      <p:sp>
        <p:nvSpPr>
          <p:cNvPr id="15" name="Text 13"/>
          <p:cNvSpPr/>
          <p:nvPr/>
        </p:nvSpPr>
        <p:spPr>
          <a:xfrm>
            <a:off x="6461608"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流動性リスク</a:t>
            </a:r>
            <a:endParaRPr lang="en-US" sz="1200" dirty="0"/>
          </a:p>
        </p:txBody>
      </p:sp>
      <p:sp>
        <p:nvSpPr>
          <p:cNvPr id="16" name="Text 14"/>
          <p:cNvSpPr/>
          <p:nvPr/>
        </p:nvSpPr>
        <p:spPr>
          <a:xfrm>
            <a:off x="6461608"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現物のため即時換金できない</a:t>
            </a:r>
            <a:endParaRPr lang="en-US" sz="950" dirty="0"/>
          </a:p>
        </p:txBody>
      </p:sp>
      <p:sp>
        <p:nvSpPr>
          <p:cNvPr id="17" name="Text 15"/>
          <p:cNvSpPr/>
          <p:nvPr/>
        </p:nvSpPr>
        <p:spPr>
          <a:xfrm>
            <a:off x="6461608" y="2487168"/>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当初3年間はロックアップ。4年目以降は年度ごとの解約日に対応し、解約枠に応じて現金比率を引き上げる。</a:t>
            </a:r>
            <a:endParaRPr lang="en-US" sz="900" dirty="0"/>
          </a:p>
        </p:txBody>
      </p:sp>
      <p:sp>
        <p:nvSpPr>
          <p:cNvPr id="18" name="Shape 16"/>
          <p:cNvSpPr/>
          <p:nvPr/>
        </p:nvSpPr>
        <p:spPr>
          <a:xfrm>
            <a:off x="9006611" y="1554480"/>
            <a:ext cx="2526716" cy="1920240"/>
          </a:xfrm>
          <a:prstGeom prst="roundRect">
            <a:avLst>
              <a:gd name="adj" fmla="val 2143"/>
            </a:avLst>
          </a:prstGeom>
          <a:solidFill>
            <a:srgbClr val="171614"/>
          </a:solidFill>
          <a:ln w="9525">
            <a:solidFill>
              <a:srgbClr val="2E2A24"/>
            </a:solidFill>
            <a:prstDash val="solid"/>
          </a:ln>
        </p:spPr>
      </p:sp>
      <p:sp>
        <p:nvSpPr>
          <p:cNvPr id="19" name="Text 17"/>
          <p:cNvSpPr/>
          <p:nvPr/>
        </p:nvSpPr>
        <p:spPr>
          <a:xfrm>
            <a:off x="9244355" y="1755648"/>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調達リスク</a:t>
            </a:r>
            <a:endParaRPr lang="en-US" sz="1200" dirty="0"/>
          </a:p>
        </p:txBody>
      </p:sp>
      <p:sp>
        <p:nvSpPr>
          <p:cNvPr id="20" name="Text 18"/>
          <p:cNvSpPr/>
          <p:nvPr/>
        </p:nvSpPr>
        <p:spPr>
          <a:xfrm>
            <a:off x="9244355" y="2048256"/>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想定価格・数量で仕入れられない</a:t>
            </a:r>
            <a:endParaRPr lang="en-US" sz="950" dirty="0"/>
          </a:p>
        </p:txBody>
      </p:sp>
      <p:sp>
        <p:nvSpPr>
          <p:cNvPr id="21" name="Text 19"/>
          <p:cNvSpPr/>
          <p:nvPr/>
        </p:nvSpPr>
        <p:spPr>
          <a:xfrm>
            <a:off x="9244355" y="2487168"/>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インポーター・酒販店との年間調達枠を事前に締結。卸値は時価連動のため、仕入価格の上昇は投資家利回りには及ばない。</a:t>
            </a:r>
            <a:endParaRPr lang="en-US" sz="900" dirty="0"/>
          </a:p>
        </p:txBody>
      </p:sp>
      <p:sp>
        <p:nvSpPr>
          <p:cNvPr id="22" name="Shape 20"/>
          <p:cNvSpPr/>
          <p:nvPr/>
        </p:nvSpPr>
        <p:spPr>
          <a:xfrm>
            <a:off x="658368" y="3675888"/>
            <a:ext cx="2526716" cy="1920240"/>
          </a:xfrm>
          <a:prstGeom prst="roundRect">
            <a:avLst>
              <a:gd name="adj" fmla="val 2143"/>
            </a:avLst>
          </a:prstGeom>
          <a:solidFill>
            <a:srgbClr val="171614"/>
          </a:solidFill>
          <a:ln w="9525">
            <a:solidFill>
              <a:srgbClr val="2E2A24"/>
            </a:solidFill>
            <a:prstDash val="solid"/>
          </a:ln>
        </p:spPr>
      </p:sp>
      <p:sp>
        <p:nvSpPr>
          <p:cNvPr id="23" name="Text 21"/>
          <p:cNvSpPr/>
          <p:nvPr/>
        </p:nvSpPr>
        <p:spPr>
          <a:xfrm>
            <a:off x="896112"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オペレーションリスク</a:t>
            </a:r>
            <a:endParaRPr lang="en-US" sz="1200" dirty="0"/>
          </a:p>
        </p:txBody>
      </p:sp>
      <p:sp>
        <p:nvSpPr>
          <p:cNvPr id="24" name="Text 22"/>
          <p:cNvSpPr/>
          <p:nvPr/>
        </p:nvSpPr>
        <p:spPr>
          <a:xfrm>
            <a:off x="896112"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保管中の破損・劣化・盗難</a:t>
            </a:r>
            <a:endParaRPr lang="en-US" sz="950" dirty="0"/>
          </a:p>
        </p:txBody>
      </p:sp>
      <p:sp>
        <p:nvSpPr>
          <p:cNvPr id="25" name="Text 23"/>
          <p:cNvSpPr/>
          <p:nvPr/>
        </p:nvSpPr>
        <p:spPr>
          <a:xfrm>
            <a:off x="896112" y="4608576"/>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定温倉庫での保管と動産総合保険による全量付保。ロスは保険でカバーする前提のため費用計上していない。倉庫在庫は四半期ごとに第三者棚卸。</a:t>
            </a:r>
            <a:endParaRPr lang="en-US" sz="900" dirty="0"/>
          </a:p>
        </p:txBody>
      </p:sp>
      <p:sp>
        <p:nvSpPr>
          <p:cNvPr id="26" name="Shape 24"/>
          <p:cNvSpPr/>
          <p:nvPr/>
        </p:nvSpPr>
        <p:spPr>
          <a:xfrm>
            <a:off x="3441116" y="3675888"/>
            <a:ext cx="2526716" cy="1920240"/>
          </a:xfrm>
          <a:prstGeom prst="roundRect">
            <a:avLst>
              <a:gd name="adj" fmla="val 2143"/>
            </a:avLst>
          </a:prstGeom>
          <a:solidFill>
            <a:srgbClr val="171614"/>
          </a:solidFill>
          <a:ln w="9525">
            <a:solidFill>
              <a:srgbClr val="2E2A24"/>
            </a:solidFill>
            <a:prstDash val="solid"/>
          </a:ln>
        </p:spPr>
      </p:sp>
      <p:sp>
        <p:nvSpPr>
          <p:cNvPr id="27" name="Text 25"/>
          <p:cNvSpPr/>
          <p:nvPr/>
        </p:nvSpPr>
        <p:spPr>
          <a:xfrm>
            <a:off x="3678860"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カウンターパーティリスク</a:t>
            </a:r>
            <a:endParaRPr lang="en-US" sz="1200" dirty="0"/>
          </a:p>
        </p:txBody>
      </p:sp>
      <p:sp>
        <p:nvSpPr>
          <p:cNvPr id="28" name="Text 26"/>
          <p:cNvSpPr/>
          <p:nvPr/>
        </p:nvSpPr>
        <p:spPr>
          <a:xfrm>
            <a:off x="3678860"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WineBankの信用・実行力</a:t>
            </a:r>
            <a:endParaRPr lang="en-US" sz="950" dirty="0"/>
          </a:p>
        </p:txBody>
      </p:sp>
      <p:sp>
        <p:nvSpPr>
          <p:cNvPr id="29" name="Text 27"/>
          <p:cNvSpPr/>
          <p:nvPr/>
        </p:nvSpPr>
        <p:spPr>
          <a:xfrm>
            <a:off x="3678860" y="4608576"/>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SPCを倒産隔離。ワイン現物はSPC名義で保有しWineBankの債権者から隔離する。WineBankは総額の60%（3億円）を出資しており、持分を通じて損益を負う。</a:t>
            </a:r>
            <a:endParaRPr lang="en-US" sz="900" dirty="0"/>
          </a:p>
        </p:txBody>
      </p:sp>
      <p:sp>
        <p:nvSpPr>
          <p:cNvPr id="30" name="Shape 28"/>
          <p:cNvSpPr/>
          <p:nvPr/>
        </p:nvSpPr>
        <p:spPr>
          <a:xfrm>
            <a:off x="6223864" y="3675888"/>
            <a:ext cx="2526716" cy="1920240"/>
          </a:xfrm>
          <a:prstGeom prst="roundRect">
            <a:avLst>
              <a:gd name="adj" fmla="val 2143"/>
            </a:avLst>
          </a:prstGeom>
          <a:solidFill>
            <a:srgbClr val="171614"/>
          </a:solidFill>
          <a:ln w="9525">
            <a:solidFill>
              <a:srgbClr val="2E2A24"/>
            </a:solidFill>
            <a:prstDash val="solid"/>
          </a:ln>
        </p:spPr>
      </p:sp>
      <p:sp>
        <p:nvSpPr>
          <p:cNvPr id="31" name="Text 29"/>
          <p:cNvSpPr/>
          <p:nvPr/>
        </p:nvSpPr>
        <p:spPr>
          <a:xfrm>
            <a:off x="6461608"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免許・商流リスク</a:t>
            </a:r>
            <a:endParaRPr lang="en-US" sz="1200" dirty="0"/>
          </a:p>
        </p:txBody>
      </p:sp>
      <p:sp>
        <p:nvSpPr>
          <p:cNvPr id="32" name="Text 30"/>
          <p:cNvSpPr/>
          <p:nvPr/>
        </p:nvSpPr>
        <p:spPr>
          <a:xfrm>
            <a:off x="6461608"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免許事業者の変更・取引口座の喪失</a:t>
            </a:r>
            <a:endParaRPr lang="en-US" sz="950" dirty="0"/>
          </a:p>
        </p:txBody>
      </p:sp>
      <p:sp>
        <p:nvSpPr>
          <p:cNvPr id="33" name="Text 31"/>
          <p:cNvSpPr/>
          <p:nvPr/>
        </p:nvSpPr>
        <p:spPr>
          <a:xfrm>
            <a:off x="6461608" y="4608576"/>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WineBankの免許維持を契約上の義務とし、免許喪失時は在庫を売却清算して早期償還する条項を置く。</a:t>
            </a:r>
            <a:endParaRPr lang="en-US" sz="900" dirty="0"/>
          </a:p>
        </p:txBody>
      </p:sp>
      <p:sp>
        <p:nvSpPr>
          <p:cNvPr id="34" name="Shape 32"/>
          <p:cNvSpPr/>
          <p:nvPr/>
        </p:nvSpPr>
        <p:spPr>
          <a:xfrm>
            <a:off x="9006611" y="3675888"/>
            <a:ext cx="2526716" cy="1920240"/>
          </a:xfrm>
          <a:prstGeom prst="roundRect">
            <a:avLst>
              <a:gd name="adj" fmla="val 2143"/>
            </a:avLst>
          </a:prstGeom>
          <a:solidFill>
            <a:srgbClr val="1F1D19"/>
          </a:solidFill>
          <a:ln w="9525">
            <a:solidFill>
              <a:srgbClr val="6E5730"/>
            </a:solidFill>
            <a:prstDash val="solid"/>
          </a:ln>
        </p:spPr>
      </p:sp>
      <p:sp>
        <p:nvSpPr>
          <p:cNvPr id="35" name="Text 33"/>
          <p:cNvSpPr/>
          <p:nvPr/>
        </p:nvSpPr>
        <p:spPr>
          <a:xfrm>
            <a:off x="9244355" y="3877056"/>
            <a:ext cx="2051228" cy="256032"/>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卸値・移転価格リスク</a:t>
            </a:r>
            <a:endParaRPr lang="en-US" sz="1200" dirty="0"/>
          </a:p>
        </p:txBody>
      </p:sp>
      <p:sp>
        <p:nvSpPr>
          <p:cNvPr id="36" name="Text 34"/>
          <p:cNvSpPr/>
          <p:nvPr/>
        </p:nvSpPr>
        <p:spPr>
          <a:xfrm>
            <a:off x="9244355" y="4169664"/>
            <a:ext cx="2051228" cy="384048"/>
          </a:xfrm>
          <a:prstGeom prst="rect">
            <a:avLst/>
          </a:prstGeom>
          <a:noFill/>
          <a:ln/>
        </p:spPr>
        <p:txBody>
          <a:bodyPr wrap="square" lIns="0" tIns="0" rIns="0" bIns="0" rtlCol="0" anchor="ctr"/>
          <a:lstStyle/>
          <a:p>
            <a:pPr indent="0" marL="0">
              <a:lnSpc>
                <a:spcPct val="115000"/>
              </a:lnSpc>
              <a:buNone/>
            </a:pPr>
            <a:r>
              <a:rPr lang="en-US" sz="950" dirty="0">
                <a:solidFill>
                  <a:srgbClr val="C9A96E"/>
                </a:solidFill>
                <a:latin typeface="Yu Gothic" pitchFamily="34" charset="0"/>
                <a:ea typeface="Yu Gothic" pitchFamily="34" charset="-122"/>
                <a:cs typeface="Yu Gothic" pitchFamily="34" charset="-120"/>
              </a:rPr>
              <a:t>時価−αの妥当性を否認される</a:t>
            </a:r>
            <a:endParaRPr lang="en-US" sz="950" dirty="0"/>
          </a:p>
        </p:txBody>
      </p:sp>
      <p:sp>
        <p:nvSpPr>
          <p:cNvPr id="37" name="Text 35"/>
          <p:cNvSpPr/>
          <p:nvPr/>
        </p:nvSpPr>
        <p:spPr>
          <a:xfrm>
            <a:off x="9244355" y="4608576"/>
            <a:ext cx="2051228" cy="841248"/>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αを契約上20.8%に固定し、時価の算定根拠と第三者卸価格との比較資料を年次で整備する。WineBank出資分に対応する内部利益の取扱いも組成前に確定させる。</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TERMS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ファンド設計条件（ドラフト）</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組成・資本構成（左）と、運用・費用・報告（右）に分けて記載する。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20</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58368" y="1591056"/>
          <a:ext cx="5300320" cy="914400"/>
        </p:xfrm>
        <a:graphic>
          <a:graphicData uri="http://schemas.openxmlformats.org/drawingml/2006/table">
            <a:tbl>
              <a:tblPr/>
              <a:tblGrid>
                <a:gridCol w="1536192"/>
                <a:gridCol w="3764128"/>
              </a:tblGrid>
              <a:tr h="30632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組成形態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合同会社＋匿名組合（GK-TK）。SPCレベルでは非課税、投資家側で課税</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ファンド形態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適格機関投資家等特例業務による私募。適格機関投資家1名以上の確保を組成条件とする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募集総額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ファーストクローズ5億円 → 年度内セカンドクローズ10億円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資本構成</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WineBank現物出資60%（3億円）＋投資家出資40%（2億円）。1口5,000万円以上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損益の配分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SPC税前利益を出資比率どおり60：40で配分。成功報酬（折半）は取らない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運用期間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5年。満期時に在庫を売却清算のうえ元本償還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中途解約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3年経過後、年度ごとの解約日に申出可（90日前通知）。当初3年間はロックアップ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分配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年1回。元本はSPC内に留保し継続運用（複利再投資は行わない）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233008" y="1591056"/>
          <a:ext cx="5300320" cy="914400"/>
        </p:xfrm>
        <a:graphic>
          <a:graphicData uri="http://schemas.openxmlformats.org/drawingml/2006/table">
            <a:tbl>
              <a:tblPr/>
              <a:tblGrid>
                <a:gridCol w="1536192"/>
                <a:gridCol w="3764128"/>
              </a:tblGrid>
              <a:tr h="30632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SPCへの卸値</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時価 ×（1−α）。α＝20.8%、時価＝取得時の加重平均売値75.00 → SPC簿価 59.38</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WineBankの報酬</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卸値の値入れ（卸した時点で確定）と管理報酬（総額の年2%）の二本のみ</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資金配分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総額の95%をワイン購入、5%を現金保有</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販売チャネル</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酒販店卸（B2B）と自社EC・オークション（B2C）を半々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在庫回転目標</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12ヶ月。最短9ヶ月、延びても15〜18ヶ月を想定レンジとする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SPC負担費用</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保管・保険・入庫・変動販売費／維持費200万・管理報酬・AUP50万・予備費50万</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想定リターン</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投資家利回り20.0%（回転12ヶ月・定常年間）。5年通算の年平均は15.5%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063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報告・在庫配分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四半期：在庫明細・簿価・卸値・売上・試算表／在庫比率によるプロラタ配分を原則とする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Shape 5"/>
          <p:cNvSpPr/>
          <p:nvPr/>
        </p:nvSpPr>
        <p:spPr>
          <a:xfrm>
            <a:off x="658368" y="5449824"/>
            <a:ext cx="10874959" cy="859536"/>
          </a:xfrm>
          <a:prstGeom prst="roundRect">
            <a:avLst>
              <a:gd name="adj" fmla="val 4787"/>
            </a:avLst>
          </a:prstGeom>
          <a:solidFill>
            <a:srgbClr val="1F1D19"/>
          </a:solidFill>
          <a:ln w="9525">
            <a:solidFill>
              <a:srgbClr val="6E5730"/>
            </a:solidFill>
            <a:prstDash val="solid"/>
          </a:ln>
        </p:spPr>
      </p:sp>
      <p:sp>
        <p:nvSpPr>
          <p:cNvPr id="10" name="Text 6"/>
          <p:cNvSpPr/>
          <p:nvPr/>
        </p:nvSpPr>
        <p:spPr>
          <a:xfrm>
            <a:off x="932688" y="5541264"/>
            <a:ext cx="54864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3年ロックアップが稼働率95%を可能にしている</a:t>
            </a:r>
            <a:endParaRPr lang="en-US" sz="1100" dirty="0"/>
          </a:p>
        </p:txBody>
      </p:sp>
      <p:sp>
        <p:nvSpPr>
          <p:cNvPr id="11" name="Text 7"/>
          <p:cNvSpPr/>
          <p:nvPr/>
        </p:nvSpPr>
        <p:spPr>
          <a:xfrm>
            <a:off x="932688" y="5779008"/>
            <a:ext cx="10326319" cy="438912"/>
          </a:xfrm>
          <a:prstGeom prst="rect">
            <a:avLst/>
          </a:prstGeom>
          <a:noFill/>
          <a:ln/>
        </p:spPr>
        <p:txBody>
          <a:bodyPr wrap="square" lIns="0" tIns="0" rIns="0" bIns="0" rtlCol="0" anchor="ctr"/>
          <a:lstStyle/>
          <a:p>
            <a:pPr indent="0" marL="0">
              <a:lnSpc>
                <a:spcPct val="116000"/>
              </a:lnSpc>
              <a:buNone/>
            </a:pPr>
            <a:r>
              <a:rPr lang="en-US" sz="900" dirty="0">
                <a:solidFill>
                  <a:srgbClr val="9A938A"/>
                </a:solidFill>
                <a:latin typeface="Yu Gothic" pitchFamily="34" charset="0"/>
                <a:ea typeface="Yu Gothic" pitchFamily="34" charset="-122"/>
                <a:cs typeface="Yu Gothic" pitchFamily="34" charset="-120"/>
              </a:rPr>
              <a:t>半期解約を前提とすると常時1〜3割を現金または即時換金可能な在庫で保有する必要があり、稼働率が下がって利回りも下がる（稼働率95%→85%で投資家利回りは20.0%→17.6%）。当初3年ロックアップ・4年目以降は年度ごとの解約という設計により、現金保有を5%に抑え、総額の95%をワインに充当できる。</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NEXT STEPS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今後の進め方</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21</a:t>
            </a:r>
            <a:endParaRPr lang="en-US" sz="950" dirty="0"/>
          </a:p>
        </p:txBody>
      </p:sp>
      <p:sp>
        <p:nvSpPr>
          <p:cNvPr id="6" name="Shape 4"/>
          <p:cNvSpPr/>
          <p:nvPr/>
        </p:nvSpPr>
        <p:spPr>
          <a:xfrm>
            <a:off x="658368" y="1572768"/>
            <a:ext cx="1999427" cy="2834640"/>
          </a:xfrm>
          <a:prstGeom prst="roundRect">
            <a:avLst>
              <a:gd name="adj" fmla="val 2058"/>
            </a:avLst>
          </a:prstGeom>
          <a:solidFill>
            <a:srgbClr val="171614"/>
          </a:solidFill>
          <a:ln w="9525">
            <a:solidFill>
              <a:srgbClr val="2E2A24"/>
            </a:solidFill>
            <a:prstDash val="solid"/>
          </a:ln>
        </p:spPr>
      </p:sp>
      <p:sp>
        <p:nvSpPr>
          <p:cNvPr id="7" name="Shape 5"/>
          <p:cNvSpPr/>
          <p:nvPr/>
        </p:nvSpPr>
        <p:spPr>
          <a:xfrm>
            <a:off x="877824" y="1792224"/>
            <a:ext cx="365760" cy="365760"/>
          </a:xfrm>
          <a:prstGeom prst="ellipse">
            <a:avLst/>
          </a:prstGeom>
          <a:solidFill>
            <a:srgbClr val="0C0C0C"/>
          </a:solidFill>
          <a:ln w="11430">
            <a:solidFill>
              <a:srgbClr val="A78450"/>
            </a:solidFill>
            <a:prstDash val="solid"/>
          </a:ln>
        </p:spPr>
      </p:sp>
      <p:sp>
        <p:nvSpPr>
          <p:cNvPr id="8" name="Text 6"/>
          <p:cNvSpPr/>
          <p:nvPr/>
        </p:nvSpPr>
        <p:spPr>
          <a:xfrm>
            <a:off x="877824"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01</a:t>
            </a:r>
            <a:endParaRPr lang="en-US" sz="1200" dirty="0"/>
          </a:p>
        </p:txBody>
      </p:sp>
      <p:sp>
        <p:nvSpPr>
          <p:cNvPr id="9" name="Text 7"/>
          <p:cNvSpPr/>
          <p:nvPr/>
        </p:nvSpPr>
        <p:spPr>
          <a:xfrm>
            <a:off x="877824"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前提条件のすり合わせ</a:t>
            </a:r>
            <a:endParaRPr lang="en-US" sz="1200" dirty="0"/>
          </a:p>
        </p:txBody>
      </p:sp>
      <p:sp>
        <p:nvSpPr>
          <p:cNvPr id="10" name="Text 8"/>
          <p:cNvSpPr/>
          <p:nvPr/>
        </p:nvSpPr>
        <p:spPr>
          <a:xfrm>
            <a:off x="877824"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想定回転期間・販売チャネル構成・解約条件、および卸値の控除率α（20.8%）と管理報酬2%の水準についてご意見をいただく。</a:t>
            </a:r>
            <a:endParaRPr lang="en-US" sz="950" dirty="0"/>
          </a:p>
        </p:txBody>
      </p:sp>
      <p:sp>
        <p:nvSpPr>
          <p:cNvPr id="11" name="Shape 9"/>
          <p:cNvSpPr/>
          <p:nvPr/>
        </p:nvSpPr>
        <p:spPr>
          <a:xfrm>
            <a:off x="2877251" y="1572768"/>
            <a:ext cx="1999427" cy="2834640"/>
          </a:xfrm>
          <a:prstGeom prst="roundRect">
            <a:avLst>
              <a:gd name="adj" fmla="val 2058"/>
            </a:avLst>
          </a:prstGeom>
          <a:solidFill>
            <a:srgbClr val="1F1D19"/>
          </a:solidFill>
          <a:ln w="9525">
            <a:solidFill>
              <a:srgbClr val="6E5730"/>
            </a:solidFill>
            <a:prstDash val="solid"/>
          </a:ln>
        </p:spPr>
      </p:sp>
      <p:sp>
        <p:nvSpPr>
          <p:cNvPr id="12" name="Shape 10"/>
          <p:cNvSpPr/>
          <p:nvPr/>
        </p:nvSpPr>
        <p:spPr>
          <a:xfrm>
            <a:off x="3096707" y="1792224"/>
            <a:ext cx="365760" cy="365760"/>
          </a:xfrm>
          <a:prstGeom prst="ellipse">
            <a:avLst/>
          </a:prstGeom>
          <a:solidFill>
            <a:srgbClr val="0C0C0C"/>
          </a:solidFill>
          <a:ln w="11430">
            <a:solidFill>
              <a:srgbClr val="A78450"/>
            </a:solidFill>
            <a:prstDash val="solid"/>
          </a:ln>
        </p:spPr>
      </p:sp>
      <p:sp>
        <p:nvSpPr>
          <p:cNvPr id="13" name="Text 11"/>
          <p:cNvSpPr/>
          <p:nvPr/>
        </p:nvSpPr>
        <p:spPr>
          <a:xfrm>
            <a:off x="3096707"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02</a:t>
            </a:r>
            <a:endParaRPr lang="en-US" sz="1200" dirty="0"/>
          </a:p>
        </p:txBody>
      </p:sp>
      <p:sp>
        <p:nvSpPr>
          <p:cNvPr id="14" name="Text 12"/>
          <p:cNvSpPr/>
          <p:nvPr/>
        </p:nvSpPr>
        <p:spPr>
          <a:xfrm>
            <a:off x="3096707"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卸値ルールの確定</a:t>
            </a:r>
            <a:endParaRPr lang="en-US" sz="1200" dirty="0"/>
          </a:p>
        </p:txBody>
      </p:sp>
      <p:sp>
        <p:nvSpPr>
          <p:cNvPr id="15" name="Text 13"/>
          <p:cNvSpPr/>
          <p:nvPr/>
        </p:nvSpPr>
        <p:spPr>
          <a:xfrm>
            <a:off x="3096707"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時価の算定方法（B2B卸値とB2C売値の加重平均）とαを契約上固定する。第三者卸価格との比較資料を整備し、移転価格上の説明責任を果たせる状態にする。</a:t>
            </a:r>
            <a:endParaRPr lang="en-US" sz="950" dirty="0"/>
          </a:p>
        </p:txBody>
      </p:sp>
      <p:sp>
        <p:nvSpPr>
          <p:cNvPr id="16" name="Shape 14"/>
          <p:cNvSpPr/>
          <p:nvPr/>
        </p:nvSpPr>
        <p:spPr>
          <a:xfrm>
            <a:off x="5096134" y="1572768"/>
            <a:ext cx="1999427" cy="2834640"/>
          </a:xfrm>
          <a:prstGeom prst="roundRect">
            <a:avLst>
              <a:gd name="adj" fmla="val 2058"/>
            </a:avLst>
          </a:prstGeom>
          <a:solidFill>
            <a:srgbClr val="171614"/>
          </a:solidFill>
          <a:ln w="9525">
            <a:solidFill>
              <a:srgbClr val="2E2A24"/>
            </a:solidFill>
            <a:prstDash val="solid"/>
          </a:ln>
        </p:spPr>
      </p:sp>
      <p:sp>
        <p:nvSpPr>
          <p:cNvPr id="17" name="Shape 15"/>
          <p:cNvSpPr/>
          <p:nvPr/>
        </p:nvSpPr>
        <p:spPr>
          <a:xfrm>
            <a:off x="5315590" y="1792224"/>
            <a:ext cx="365760" cy="365760"/>
          </a:xfrm>
          <a:prstGeom prst="ellipse">
            <a:avLst/>
          </a:prstGeom>
          <a:solidFill>
            <a:srgbClr val="0C0C0C"/>
          </a:solidFill>
          <a:ln w="11430">
            <a:solidFill>
              <a:srgbClr val="A78450"/>
            </a:solidFill>
            <a:prstDash val="solid"/>
          </a:ln>
        </p:spPr>
      </p:sp>
      <p:sp>
        <p:nvSpPr>
          <p:cNvPr id="18" name="Text 16"/>
          <p:cNvSpPr/>
          <p:nvPr/>
        </p:nvSpPr>
        <p:spPr>
          <a:xfrm>
            <a:off x="5315590"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03</a:t>
            </a:r>
            <a:endParaRPr lang="en-US" sz="1200" dirty="0"/>
          </a:p>
        </p:txBody>
      </p:sp>
      <p:sp>
        <p:nvSpPr>
          <p:cNvPr id="19" name="Text 17"/>
          <p:cNvSpPr/>
          <p:nvPr/>
        </p:nvSpPr>
        <p:spPr>
          <a:xfrm>
            <a:off x="5315590"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免許・税務の確定</a:t>
            </a:r>
            <a:endParaRPr lang="en-US" sz="1200" dirty="0"/>
          </a:p>
        </p:txBody>
      </p:sp>
      <p:sp>
        <p:nvSpPr>
          <p:cNvPr id="20" name="Text 18"/>
          <p:cNvSpPr/>
          <p:nvPr/>
        </p:nvSpPr>
        <p:spPr>
          <a:xfrm>
            <a:off x="5315590"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SPCの免許要否と売買形態、酒類の現物出資の取扱い、WineBank出資分に対応する内部利益の会計処理を所轄税務署・顧問弁護士・公認会計士と確認する。</a:t>
            </a:r>
            <a:endParaRPr lang="en-US" sz="950" dirty="0"/>
          </a:p>
        </p:txBody>
      </p:sp>
      <p:sp>
        <p:nvSpPr>
          <p:cNvPr id="21" name="Shape 19"/>
          <p:cNvSpPr/>
          <p:nvPr/>
        </p:nvSpPr>
        <p:spPr>
          <a:xfrm>
            <a:off x="7315017" y="1572768"/>
            <a:ext cx="1999427" cy="2834640"/>
          </a:xfrm>
          <a:prstGeom prst="roundRect">
            <a:avLst>
              <a:gd name="adj" fmla="val 2058"/>
            </a:avLst>
          </a:prstGeom>
          <a:solidFill>
            <a:srgbClr val="171614"/>
          </a:solidFill>
          <a:ln w="9525">
            <a:solidFill>
              <a:srgbClr val="2E2A24"/>
            </a:solidFill>
            <a:prstDash val="solid"/>
          </a:ln>
        </p:spPr>
      </p:sp>
      <p:sp>
        <p:nvSpPr>
          <p:cNvPr id="22" name="Shape 20"/>
          <p:cNvSpPr/>
          <p:nvPr/>
        </p:nvSpPr>
        <p:spPr>
          <a:xfrm>
            <a:off x="7534473" y="1792224"/>
            <a:ext cx="365760" cy="365760"/>
          </a:xfrm>
          <a:prstGeom prst="ellipse">
            <a:avLst/>
          </a:prstGeom>
          <a:solidFill>
            <a:srgbClr val="0C0C0C"/>
          </a:solidFill>
          <a:ln w="11430">
            <a:solidFill>
              <a:srgbClr val="A78450"/>
            </a:solidFill>
            <a:prstDash val="solid"/>
          </a:ln>
        </p:spPr>
      </p:sp>
      <p:sp>
        <p:nvSpPr>
          <p:cNvPr id="23" name="Text 21"/>
          <p:cNvSpPr/>
          <p:nvPr/>
        </p:nvSpPr>
        <p:spPr>
          <a:xfrm>
            <a:off x="7534473"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04</a:t>
            </a:r>
            <a:endParaRPr lang="en-US" sz="1200" dirty="0"/>
          </a:p>
        </p:txBody>
      </p:sp>
      <p:sp>
        <p:nvSpPr>
          <p:cNvPr id="24" name="Text 22"/>
          <p:cNvSpPr/>
          <p:nvPr/>
        </p:nvSpPr>
        <p:spPr>
          <a:xfrm>
            <a:off x="7534473"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調達枠の確保と実証</a:t>
            </a:r>
            <a:endParaRPr lang="en-US" sz="1200" dirty="0"/>
          </a:p>
        </p:txBody>
      </p:sp>
      <p:sp>
        <p:nvSpPr>
          <p:cNvPr id="25" name="Text 23"/>
          <p:cNvSpPr/>
          <p:nvPr/>
        </p:nvSpPr>
        <p:spPr>
          <a:xfrm>
            <a:off x="7534473"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インポーター・酒販店との年間調達枠を締結し、小規模ロットで回転期間とチャネル別手数料の実証を行う。</a:t>
            </a:r>
            <a:endParaRPr lang="en-US" sz="950" dirty="0"/>
          </a:p>
        </p:txBody>
      </p:sp>
      <p:sp>
        <p:nvSpPr>
          <p:cNvPr id="26" name="Shape 24"/>
          <p:cNvSpPr/>
          <p:nvPr/>
        </p:nvSpPr>
        <p:spPr>
          <a:xfrm>
            <a:off x="9533900" y="1572768"/>
            <a:ext cx="1999427" cy="2834640"/>
          </a:xfrm>
          <a:prstGeom prst="roundRect">
            <a:avLst>
              <a:gd name="adj" fmla="val 2058"/>
            </a:avLst>
          </a:prstGeom>
          <a:solidFill>
            <a:srgbClr val="171614"/>
          </a:solidFill>
          <a:ln w="9525">
            <a:solidFill>
              <a:srgbClr val="2E2A24"/>
            </a:solidFill>
            <a:prstDash val="solid"/>
          </a:ln>
        </p:spPr>
      </p:sp>
      <p:sp>
        <p:nvSpPr>
          <p:cNvPr id="27" name="Shape 25"/>
          <p:cNvSpPr/>
          <p:nvPr/>
        </p:nvSpPr>
        <p:spPr>
          <a:xfrm>
            <a:off x="9753356" y="1792224"/>
            <a:ext cx="365760" cy="365760"/>
          </a:xfrm>
          <a:prstGeom prst="ellipse">
            <a:avLst/>
          </a:prstGeom>
          <a:solidFill>
            <a:srgbClr val="0C0C0C"/>
          </a:solidFill>
          <a:ln w="11430">
            <a:solidFill>
              <a:srgbClr val="A78450"/>
            </a:solidFill>
            <a:prstDash val="solid"/>
          </a:ln>
        </p:spPr>
      </p:sp>
      <p:sp>
        <p:nvSpPr>
          <p:cNvPr id="28" name="Text 26"/>
          <p:cNvSpPr/>
          <p:nvPr/>
        </p:nvSpPr>
        <p:spPr>
          <a:xfrm>
            <a:off x="9753356" y="1792224"/>
            <a:ext cx="365760" cy="365760"/>
          </a:xfrm>
          <a:prstGeom prst="rect">
            <a:avLst/>
          </a:prstGeom>
          <a:noFill/>
          <a:ln/>
        </p:spPr>
        <p:txBody>
          <a:bodyPr wrap="square" lIns="0" tIns="0" rIns="0" bIns="0" rtlCol="0" anchor="ctr"/>
          <a:lstStyle/>
          <a:p>
            <a:pPr algn="ctr" indent="0" marL="0">
              <a:buNone/>
            </a:pPr>
            <a:r>
              <a:rPr lang="en-US" sz="1200" b="1" dirty="0">
                <a:solidFill>
                  <a:srgbClr val="C9A96E"/>
                </a:solidFill>
                <a:latin typeface="Cambria" pitchFamily="34" charset="0"/>
                <a:ea typeface="Cambria" pitchFamily="34" charset="-122"/>
                <a:cs typeface="Cambria" pitchFamily="34" charset="-120"/>
              </a:rPr>
              <a:t>05</a:t>
            </a:r>
            <a:endParaRPr lang="en-US" sz="1200" dirty="0"/>
          </a:p>
        </p:txBody>
      </p:sp>
      <p:sp>
        <p:nvSpPr>
          <p:cNvPr id="29" name="Text 27"/>
          <p:cNvSpPr/>
          <p:nvPr/>
        </p:nvSpPr>
        <p:spPr>
          <a:xfrm>
            <a:off x="9753356" y="2304288"/>
            <a:ext cx="1560515" cy="566928"/>
          </a:xfrm>
          <a:prstGeom prst="rect">
            <a:avLst/>
          </a:prstGeom>
          <a:noFill/>
          <a:ln/>
        </p:spPr>
        <p:txBody>
          <a:bodyPr wrap="square" lIns="0" tIns="0" rIns="0" bIns="0" rtlCol="0" anchor="ctr"/>
          <a:lstStyle/>
          <a:p>
            <a:pPr indent="0" marL="0">
              <a:lnSpc>
                <a:spcPct val="115000"/>
              </a:lnSpc>
              <a:buNone/>
            </a:pPr>
            <a:r>
              <a:rPr lang="en-US" sz="1200" b="1" dirty="0">
                <a:solidFill>
                  <a:srgbClr val="EFEBE3"/>
                </a:solidFill>
                <a:latin typeface="Yu Gothic" pitchFamily="34" charset="0"/>
                <a:ea typeface="Yu Gothic" pitchFamily="34" charset="-122"/>
                <a:cs typeface="Yu Gothic" pitchFamily="34" charset="-120"/>
              </a:rPr>
              <a:t>ファーストクローズと実証</a:t>
            </a:r>
            <a:endParaRPr lang="en-US" sz="1200" dirty="0"/>
          </a:p>
        </p:txBody>
      </p:sp>
      <p:sp>
        <p:nvSpPr>
          <p:cNvPr id="30" name="Text 28"/>
          <p:cNvSpPr/>
          <p:nvPr/>
        </p:nvSpPr>
        <p:spPr>
          <a:xfrm>
            <a:off x="9753356" y="2926080"/>
            <a:ext cx="1560515" cy="1298448"/>
          </a:xfrm>
          <a:prstGeom prst="rect">
            <a:avLst/>
          </a:prstGeom>
          <a:noFill/>
          <a:ln/>
        </p:spPr>
        <p:txBody>
          <a:bodyPr wrap="square" lIns="0" tIns="0" rIns="0" bIns="0" rtlCol="0" anchor="ctr"/>
          <a:lstStyle/>
          <a:p>
            <a:pPr indent="0" marL="0">
              <a:lnSpc>
                <a:spcPct val="126000"/>
              </a:lnSpc>
              <a:buNone/>
            </a:pPr>
            <a:r>
              <a:rPr lang="en-US" sz="950" dirty="0">
                <a:solidFill>
                  <a:srgbClr val="9A938A"/>
                </a:solidFill>
                <a:latin typeface="Yu Gothic" pitchFamily="34" charset="0"/>
                <a:ea typeface="Yu Gothic" pitchFamily="34" charset="-122"/>
                <a:cs typeface="Yu Gothic" pitchFamily="34" charset="-120"/>
              </a:rPr>
              <a:t>総額5億円で組成し運用開始。回転12ヶ月の実績を確認したうえで、年度内のセカンドクローズ（総額10億円）を判断する。</a:t>
            </a:r>
            <a:endParaRPr lang="en-US" sz="950" dirty="0"/>
          </a:p>
        </p:txBody>
      </p:sp>
      <p:sp>
        <p:nvSpPr>
          <p:cNvPr id="31" name="Shape 29"/>
          <p:cNvSpPr/>
          <p:nvPr/>
        </p:nvSpPr>
        <p:spPr>
          <a:xfrm>
            <a:off x="658368" y="4608576"/>
            <a:ext cx="10874959" cy="969264"/>
          </a:xfrm>
          <a:prstGeom prst="roundRect">
            <a:avLst>
              <a:gd name="adj" fmla="val 4245"/>
            </a:avLst>
          </a:prstGeom>
          <a:solidFill>
            <a:srgbClr val="171614"/>
          </a:solidFill>
          <a:ln w="9525">
            <a:solidFill>
              <a:srgbClr val="2E2A24"/>
            </a:solidFill>
            <a:prstDash val="solid"/>
          </a:ln>
        </p:spPr>
      </p:sp>
      <p:sp>
        <p:nvSpPr>
          <p:cNvPr id="32" name="Text 30"/>
          <p:cNvSpPr/>
          <p:nvPr/>
        </p:nvSpPr>
        <p:spPr>
          <a:xfrm>
            <a:off x="932688" y="4754880"/>
            <a:ext cx="10326319" cy="676656"/>
          </a:xfrm>
          <a:prstGeom prst="rect">
            <a:avLst/>
          </a:prstGeom>
          <a:noFill/>
          <a:ln/>
        </p:spPr>
        <p:txBody>
          <a:bodyPr wrap="square" lIns="0" tIns="0" rIns="0" bIns="0" rtlCol="0" anchor="ctr"/>
          <a:lstStyle/>
          <a:p>
            <a:pPr indent="0" marL="0">
              <a:lnSpc>
                <a:spcPct val="124000"/>
              </a:lnSpc>
              <a:buNone/>
            </a:pPr>
            <a:r>
              <a:rPr lang="en-US" sz="1000" dirty="0">
                <a:solidFill>
                  <a:srgbClr val="9A938A"/>
                </a:solidFill>
                <a:latin typeface="Yu Gothic" pitchFamily="34" charset="0"/>
                <a:ea typeface="Yu Gothic" pitchFamily="34" charset="-122"/>
                <a:cs typeface="Yu Gothic" pitchFamily="34" charset="-120"/>
              </a:rPr>
              <a:t>本資料の数値は一定の前提に基づく試算であり、将来の運用成果を保証するものではありません。最終的な条件は契約書に基づきます。免許・税務の取扱いおよび卸値の算定は、所轄官庁および専門家の確認を経て確定します。</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CONCLUSION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まとめ：本ファンドに出資いただく意義</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22</a:t>
            </a:r>
            <a:endParaRPr lang="en-US" sz="950" dirty="0"/>
          </a:p>
        </p:txBody>
      </p:sp>
      <p:sp>
        <p:nvSpPr>
          <p:cNvPr id="6" name="Shape 4"/>
          <p:cNvSpPr/>
          <p:nvPr/>
        </p:nvSpPr>
        <p:spPr>
          <a:xfrm>
            <a:off x="658368" y="1572768"/>
            <a:ext cx="6537960" cy="749808"/>
          </a:xfrm>
          <a:prstGeom prst="roundRect">
            <a:avLst>
              <a:gd name="adj" fmla="val 5488"/>
            </a:avLst>
          </a:prstGeom>
          <a:solidFill>
            <a:srgbClr val="1F1D19"/>
          </a:solidFill>
          <a:ln w="9525">
            <a:solidFill>
              <a:srgbClr val="6E5730"/>
            </a:solidFill>
            <a:prstDash val="solid"/>
          </a:ln>
        </p:spPr>
      </p:sp>
      <p:sp>
        <p:nvSpPr>
          <p:cNvPr id="7" name="Shape 5"/>
          <p:cNvSpPr/>
          <p:nvPr/>
        </p:nvSpPr>
        <p:spPr>
          <a:xfrm>
            <a:off x="877824" y="1792224"/>
            <a:ext cx="310896" cy="310896"/>
          </a:xfrm>
          <a:prstGeom prst="ellipse">
            <a:avLst/>
          </a:prstGeom>
          <a:solidFill>
            <a:srgbClr val="0C0C0C"/>
          </a:solidFill>
          <a:ln w="11430">
            <a:solidFill>
              <a:srgbClr val="A78450"/>
            </a:solidFill>
            <a:prstDash val="solid"/>
          </a:ln>
        </p:spPr>
      </p:sp>
      <p:sp>
        <p:nvSpPr>
          <p:cNvPr id="8" name="Text 6"/>
          <p:cNvSpPr/>
          <p:nvPr/>
        </p:nvSpPr>
        <p:spPr>
          <a:xfrm>
            <a:off x="877824" y="179222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01</a:t>
            </a:r>
            <a:endParaRPr lang="en-US" sz="1100" dirty="0"/>
          </a:p>
        </p:txBody>
      </p:sp>
      <p:sp>
        <p:nvSpPr>
          <p:cNvPr id="9" name="Text 7"/>
          <p:cNvSpPr/>
          <p:nvPr/>
        </p:nvSpPr>
        <p:spPr>
          <a:xfrm>
            <a:off x="1280160" y="1664208"/>
            <a:ext cx="5678424"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報酬体系が単純で、検証しやすい</a:t>
            </a:r>
            <a:endParaRPr lang="en-US" sz="1150" dirty="0"/>
          </a:p>
        </p:txBody>
      </p:sp>
      <p:sp>
        <p:nvSpPr>
          <p:cNvPr id="10" name="Text 8"/>
          <p:cNvSpPr/>
          <p:nvPr/>
        </p:nvSpPr>
        <p:spPr>
          <a:xfrm>
            <a:off x="1280160" y="190195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WineBankの取り分は「卸値の値入れ（時価−α）」と「管理報酬 年2%」の二本のみ。出口の成功報酬はなく、投資家の取分は「SPC税前利益 × 出資比率40%」だけで決まる。αを契約で固定すれば、報酬の妥当性は卸値の検証に集約される。</a:t>
            </a:r>
            <a:endParaRPr lang="en-US" sz="850" dirty="0"/>
          </a:p>
        </p:txBody>
      </p:sp>
      <p:sp>
        <p:nvSpPr>
          <p:cNvPr id="11" name="Shape 9"/>
          <p:cNvSpPr/>
          <p:nvPr/>
        </p:nvSpPr>
        <p:spPr>
          <a:xfrm>
            <a:off x="658368" y="2395728"/>
            <a:ext cx="6537960" cy="749808"/>
          </a:xfrm>
          <a:prstGeom prst="roundRect">
            <a:avLst>
              <a:gd name="adj" fmla="val 5488"/>
            </a:avLst>
          </a:prstGeom>
          <a:solidFill>
            <a:srgbClr val="171614"/>
          </a:solidFill>
          <a:ln w="9525">
            <a:solidFill>
              <a:srgbClr val="2E2A24"/>
            </a:solidFill>
            <a:prstDash val="solid"/>
          </a:ln>
        </p:spPr>
      </p:sp>
      <p:sp>
        <p:nvSpPr>
          <p:cNvPr id="12" name="Shape 10"/>
          <p:cNvSpPr/>
          <p:nvPr/>
        </p:nvSpPr>
        <p:spPr>
          <a:xfrm>
            <a:off x="877824" y="2615184"/>
            <a:ext cx="310896" cy="310896"/>
          </a:xfrm>
          <a:prstGeom prst="ellipse">
            <a:avLst/>
          </a:prstGeom>
          <a:solidFill>
            <a:srgbClr val="0C0C0C"/>
          </a:solidFill>
          <a:ln w="11430">
            <a:solidFill>
              <a:srgbClr val="A78450"/>
            </a:solidFill>
            <a:prstDash val="solid"/>
          </a:ln>
        </p:spPr>
      </p:sp>
      <p:sp>
        <p:nvSpPr>
          <p:cNvPr id="13" name="Text 11"/>
          <p:cNvSpPr/>
          <p:nvPr/>
        </p:nvSpPr>
        <p:spPr>
          <a:xfrm>
            <a:off x="877824" y="261518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02</a:t>
            </a:r>
            <a:endParaRPr lang="en-US" sz="1100" dirty="0"/>
          </a:p>
        </p:txBody>
      </p:sp>
      <p:sp>
        <p:nvSpPr>
          <p:cNvPr id="14" name="Text 12"/>
          <p:cNvSpPr/>
          <p:nvPr/>
        </p:nvSpPr>
        <p:spPr>
          <a:xfrm>
            <a:off x="1280160" y="2487168"/>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仕入価格と売値の変動から遮断される</a:t>
            </a:r>
            <a:endParaRPr lang="en-US" sz="1150" dirty="0"/>
          </a:p>
        </p:txBody>
      </p:sp>
      <p:sp>
        <p:nvSpPr>
          <p:cNvPr id="15" name="Text 13"/>
          <p:cNvSpPr/>
          <p:nvPr/>
        </p:nvSpPr>
        <p:spPr>
          <a:xfrm>
            <a:off x="1280160" y="272491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卸値が時価に連動して決まるため、市中仕入が50→45に下がっても（＋0.0pt）、売値が5%下がっても（▲0.1pt）、投資家利回りはほとんど動かない。</a:t>
            </a:r>
            <a:endParaRPr lang="en-US" sz="850" dirty="0"/>
          </a:p>
        </p:txBody>
      </p:sp>
      <p:sp>
        <p:nvSpPr>
          <p:cNvPr id="16" name="Shape 14"/>
          <p:cNvSpPr/>
          <p:nvPr/>
        </p:nvSpPr>
        <p:spPr>
          <a:xfrm>
            <a:off x="658368" y="3218688"/>
            <a:ext cx="6537960" cy="749808"/>
          </a:xfrm>
          <a:prstGeom prst="roundRect">
            <a:avLst>
              <a:gd name="adj" fmla="val 5488"/>
            </a:avLst>
          </a:prstGeom>
          <a:solidFill>
            <a:srgbClr val="171614"/>
          </a:solidFill>
          <a:ln w="9525">
            <a:solidFill>
              <a:srgbClr val="2E2A24"/>
            </a:solidFill>
            <a:prstDash val="solid"/>
          </a:ln>
        </p:spPr>
      </p:sp>
      <p:sp>
        <p:nvSpPr>
          <p:cNvPr id="17" name="Shape 15"/>
          <p:cNvSpPr/>
          <p:nvPr/>
        </p:nvSpPr>
        <p:spPr>
          <a:xfrm>
            <a:off x="877824" y="3438144"/>
            <a:ext cx="310896" cy="310896"/>
          </a:xfrm>
          <a:prstGeom prst="ellipse">
            <a:avLst/>
          </a:prstGeom>
          <a:solidFill>
            <a:srgbClr val="0C0C0C"/>
          </a:solidFill>
          <a:ln w="11430">
            <a:solidFill>
              <a:srgbClr val="A78450"/>
            </a:solidFill>
            <a:prstDash val="solid"/>
          </a:ln>
        </p:spPr>
      </p:sp>
      <p:sp>
        <p:nvSpPr>
          <p:cNvPr id="18" name="Text 16"/>
          <p:cNvSpPr/>
          <p:nvPr/>
        </p:nvSpPr>
        <p:spPr>
          <a:xfrm>
            <a:off x="877824" y="343814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03</a:t>
            </a:r>
            <a:endParaRPr lang="en-US" sz="1100" dirty="0"/>
          </a:p>
        </p:txBody>
      </p:sp>
      <p:sp>
        <p:nvSpPr>
          <p:cNvPr id="19" name="Text 17"/>
          <p:cNvSpPr/>
          <p:nvPr/>
        </p:nvSpPr>
        <p:spPr>
          <a:xfrm>
            <a:off x="1280160" y="3310128"/>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現物が元本を裏付ける</a:t>
            </a:r>
            <a:endParaRPr lang="en-US" sz="1150" dirty="0"/>
          </a:p>
        </p:txBody>
      </p:sp>
      <p:sp>
        <p:nvSpPr>
          <p:cNvPr id="20" name="Text 18"/>
          <p:cNvSpPr/>
          <p:nvPr/>
        </p:nvSpPr>
        <p:spPr>
          <a:xfrm>
            <a:off x="1280160" y="354787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出資金の95%が常にワイン現物として存在する。SPC名義で保有し倒産隔離。保有している限り値上がりも取り込める。</a:t>
            </a:r>
            <a:endParaRPr lang="en-US" sz="850" dirty="0"/>
          </a:p>
        </p:txBody>
      </p:sp>
      <p:sp>
        <p:nvSpPr>
          <p:cNvPr id="21" name="Shape 19"/>
          <p:cNvSpPr/>
          <p:nvPr/>
        </p:nvSpPr>
        <p:spPr>
          <a:xfrm>
            <a:off x="658368" y="4041648"/>
            <a:ext cx="6537960" cy="749808"/>
          </a:xfrm>
          <a:prstGeom prst="roundRect">
            <a:avLst>
              <a:gd name="adj" fmla="val 5488"/>
            </a:avLst>
          </a:prstGeom>
          <a:solidFill>
            <a:srgbClr val="171614"/>
          </a:solidFill>
          <a:ln w="9525">
            <a:solidFill>
              <a:srgbClr val="2E2A24"/>
            </a:solidFill>
            <a:prstDash val="solid"/>
          </a:ln>
        </p:spPr>
      </p:sp>
      <p:sp>
        <p:nvSpPr>
          <p:cNvPr id="22" name="Shape 20"/>
          <p:cNvSpPr/>
          <p:nvPr/>
        </p:nvSpPr>
        <p:spPr>
          <a:xfrm>
            <a:off x="877824" y="4261104"/>
            <a:ext cx="310896" cy="310896"/>
          </a:xfrm>
          <a:prstGeom prst="ellipse">
            <a:avLst/>
          </a:prstGeom>
          <a:solidFill>
            <a:srgbClr val="0C0C0C"/>
          </a:solidFill>
          <a:ln w="11430">
            <a:solidFill>
              <a:srgbClr val="A78450"/>
            </a:solidFill>
            <a:prstDash val="solid"/>
          </a:ln>
        </p:spPr>
      </p:sp>
      <p:sp>
        <p:nvSpPr>
          <p:cNvPr id="23" name="Text 21"/>
          <p:cNvSpPr/>
          <p:nvPr/>
        </p:nvSpPr>
        <p:spPr>
          <a:xfrm>
            <a:off x="877824" y="426110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04</a:t>
            </a:r>
            <a:endParaRPr lang="en-US" sz="1100" dirty="0"/>
          </a:p>
        </p:txBody>
      </p:sp>
      <p:sp>
        <p:nvSpPr>
          <p:cNvPr id="24" name="Text 22"/>
          <p:cNvSpPr/>
          <p:nvPr/>
        </p:nvSpPr>
        <p:spPr>
          <a:xfrm>
            <a:off x="1280160" y="4133088"/>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WineBankが総額の60%を出資している</a:t>
            </a:r>
            <a:endParaRPr lang="en-US" sz="1150" dirty="0"/>
          </a:p>
        </p:txBody>
      </p:sp>
      <p:sp>
        <p:nvSpPr>
          <p:cNvPr id="25" name="Text 23"/>
          <p:cNvSpPr/>
          <p:nvPr/>
        </p:nvSpPr>
        <p:spPr>
          <a:xfrm>
            <a:off x="1280160" y="437083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WineBankはワイン現物3億円を拠出し、持分60%を通じてSPCの損益をそのまま負う。</a:t>
            </a:r>
            <a:endParaRPr lang="en-US" sz="850" dirty="0"/>
          </a:p>
        </p:txBody>
      </p:sp>
      <p:sp>
        <p:nvSpPr>
          <p:cNvPr id="26" name="Shape 24"/>
          <p:cNvSpPr/>
          <p:nvPr/>
        </p:nvSpPr>
        <p:spPr>
          <a:xfrm>
            <a:off x="658368" y="4864608"/>
            <a:ext cx="6537960" cy="749808"/>
          </a:xfrm>
          <a:prstGeom prst="roundRect">
            <a:avLst>
              <a:gd name="adj" fmla="val 5488"/>
            </a:avLst>
          </a:prstGeom>
          <a:solidFill>
            <a:srgbClr val="171614"/>
          </a:solidFill>
          <a:ln w="9525">
            <a:solidFill>
              <a:srgbClr val="2E2A24"/>
            </a:solidFill>
            <a:prstDash val="solid"/>
          </a:ln>
        </p:spPr>
      </p:sp>
      <p:sp>
        <p:nvSpPr>
          <p:cNvPr id="27" name="Shape 25"/>
          <p:cNvSpPr/>
          <p:nvPr/>
        </p:nvSpPr>
        <p:spPr>
          <a:xfrm>
            <a:off x="877824" y="5084064"/>
            <a:ext cx="310896" cy="310896"/>
          </a:xfrm>
          <a:prstGeom prst="ellipse">
            <a:avLst/>
          </a:prstGeom>
          <a:solidFill>
            <a:srgbClr val="0C0C0C"/>
          </a:solidFill>
          <a:ln w="11430">
            <a:solidFill>
              <a:srgbClr val="A78450"/>
            </a:solidFill>
            <a:prstDash val="solid"/>
          </a:ln>
        </p:spPr>
      </p:sp>
      <p:sp>
        <p:nvSpPr>
          <p:cNvPr id="28" name="Text 26"/>
          <p:cNvSpPr/>
          <p:nvPr/>
        </p:nvSpPr>
        <p:spPr>
          <a:xfrm>
            <a:off x="877824" y="5084064"/>
            <a:ext cx="310896" cy="310896"/>
          </a:xfrm>
          <a:prstGeom prst="rect">
            <a:avLst/>
          </a:prstGeom>
          <a:noFill/>
          <a:ln/>
        </p:spPr>
        <p:txBody>
          <a:bodyPr wrap="square" lIns="0" tIns="0" rIns="0" bIns="0" rtlCol="0" anchor="ctr"/>
          <a:lstStyle/>
          <a:p>
            <a:pPr algn="ctr" indent="0" marL="0">
              <a:buNone/>
            </a:pPr>
            <a:r>
              <a:rPr lang="en-US" sz="1100" b="1" dirty="0">
                <a:solidFill>
                  <a:srgbClr val="C9A96E"/>
                </a:solidFill>
                <a:latin typeface="Cambria" pitchFamily="34" charset="0"/>
                <a:ea typeface="Cambria" pitchFamily="34" charset="-122"/>
                <a:cs typeface="Cambria" pitchFamily="34" charset="-120"/>
              </a:rPr>
              <a:t>05</a:t>
            </a:r>
            <a:endParaRPr lang="en-US" sz="1100" dirty="0"/>
          </a:p>
        </p:txBody>
      </p:sp>
      <p:sp>
        <p:nvSpPr>
          <p:cNvPr id="29" name="Text 27"/>
          <p:cNvSpPr/>
          <p:nvPr/>
        </p:nvSpPr>
        <p:spPr>
          <a:xfrm>
            <a:off x="1280160" y="4956048"/>
            <a:ext cx="5678424"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他社が再現できない調達力と、B2B・B2Cの両輪</a:t>
            </a:r>
            <a:endParaRPr lang="en-US" sz="1150" dirty="0"/>
          </a:p>
        </p:txBody>
      </p:sp>
      <p:sp>
        <p:nvSpPr>
          <p:cNvPr id="30" name="Text 28"/>
          <p:cNvSpPr/>
          <p:nvPr/>
        </p:nvSpPr>
        <p:spPr>
          <a:xfrm>
            <a:off x="1280160" y="5193792"/>
            <a:ext cx="5678424" cy="365760"/>
          </a:xfrm>
          <a:prstGeom prst="rect">
            <a:avLst/>
          </a:prstGeom>
          <a:noFill/>
          <a:ln/>
        </p:spPr>
        <p:txBody>
          <a:bodyPr wrap="square" lIns="0" tIns="0" rIns="0" bIns="0" rtlCol="0" anchor="ctr"/>
          <a:lstStyle/>
          <a:p>
            <a:pPr indent="0" marL="0">
              <a:lnSpc>
                <a:spcPct val="112000"/>
              </a:lnSpc>
              <a:buNone/>
            </a:pPr>
            <a:r>
              <a:rPr lang="en-US" sz="850" dirty="0">
                <a:solidFill>
                  <a:srgbClr val="9A938A"/>
                </a:solidFill>
                <a:latin typeface="Yu Gothic" pitchFamily="34" charset="0"/>
                <a:ea typeface="Yu Gothic" pitchFamily="34" charset="-122"/>
                <a:cs typeface="Yu Gothic" pitchFamily="34" charset="-120"/>
              </a:rPr>
              <a:t>創業55年の酒販免許、大手インポーターとの直接取引、輸出入ライセンス。出口は酒販店卸（B2B）と自社EC・オークション・CLUB会員・グループのアピシウス（B2C）。</a:t>
            </a:r>
            <a:endParaRPr lang="en-US" sz="850" dirty="0"/>
          </a:p>
        </p:txBody>
      </p:sp>
      <p:sp>
        <p:nvSpPr>
          <p:cNvPr id="31" name="Shape 29"/>
          <p:cNvSpPr/>
          <p:nvPr/>
        </p:nvSpPr>
        <p:spPr>
          <a:xfrm>
            <a:off x="7470648" y="1572768"/>
            <a:ext cx="4062679" cy="4041648"/>
          </a:xfrm>
          <a:prstGeom prst="roundRect">
            <a:avLst>
              <a:gd name="adj" fmla="val 1018"/>
            </a:avLst>
          </a:prstGeom>
          <a:solidFill>
            <a:srgbClr val="1F1D19"/>
          </a:solidFill>
          <a:ln w="9525">
            <a:solidFill>
              <a:srgbClr val="6E5730"/>
            </a:solidFill>
            <a:prstDash val="solid"/>
          </a:ln>
        </p:spPr>
      </p:sp>
      <p:sp>
        <p:nvSpPr>
          <p:cNvPr id="32" name="Text 30"/>
          <p:cNvSpPr/>
          <p:nvPr/>
        </p:nvSpPr>
        <p:spPr>
          <a:xfrm>
            <a:off x="7726680" y="1755648"/>
            <a:ext cx="3550615"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貴社の投資基準との照合</a:t>
            </a:r>
            <a:endParaRPr lang="en-US" sz="1250" dirty="0"/>
          </a:p>
        </p:txBody>
      </p:sp>
      <p:sp>
        <p:nvSpPr>
          <p:cNvPr id="33" name="Shape 31"/>
          <p:cNvSpPr/>
          <p:nvPr/>
        </p:nvSpPr>
        <p:spPr>
          <a:xfrm>
            <a:off x="7726680" y="2180844"/>
            <a:ext cx="137160" cy="137160"/>
          </a:xfrm>
          <a:prstGeom prst="ellipse">
            <a:avLst/>
          </a:prstGeom>
          <a:solidFill>
            <a:srgbClr val="A78450"/>
          </a:solidFill>
          <a:ln w="11430">
            <a:solidFill>
              <a:srgbClr val="A78450"/>
            </a:solidFill>
            <a:prstDash val="solid"/>
          </a:ln>
        </p:spPr>
      </p:sp>
      <p:sp>
        <p:nvSpPr>
          <p:cNvPr id="34" name="Text 32"/>
          <p:cNvSpPr/>
          <p:nvPr/>
        </p:nvSpPr>
        <p:spPr>
          <a:xfrm>
            <a:off x="7726680" y="2180844"/>
            <a:ext cx="137160" cy="137160"/>
          </a:xfrm>
          <a:prstGeom prst="rect">
            <a:avLst/>
          </a:prstGeom>
          <a:noFill/>
          <a:ln/>
        </p:spPr>
        <p:txBody>
          <a:bodyPr wrap="square" lIns="0" tIns="0" rIns="0" bIns="0" rtlCol="0" anchor="ctr"/>
          <a:lstStyle/>
          <a:p>
            <a:pPr algn="ctr" indent="0" marL="0">
              <a:buNone/>
            </a:pPr>
            <a:endParaRPr lang="en-US" sz="1100" dirty="0"/>
          </a:p>
        </p:txBody>
      </p:sp>
      <p:sp>
        <p:nvSpPr>
          <p:cNvPr id="35" name="Text 33"/>
          <p:cNvSpPr/>
          <p:nvPr/>
        </p:nvSpPr>
        <p:spPr>
          <a:xfrm>
            <a:off x="7964424" y="212140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想定利回り20%（実績）に対して</a:t>
            </a:r>
            <a:endParaRPr lang="en-US" sz="1050" dirty="0"/>
          </a:p>
        </p:txBody>
      </p:sp>
      <p:sp>
        <p:nvSpPr>
          <p:cNvPr id="36" name="Text 34"/>
          <p:cNvSpPr/>
          <p:nvPr/>
        </p:nvSpPr>
        <p:spPr>
          <a:xfrm>
            <a:off x="7964424" y="235000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在庫回転12ヶ月・ワイン価格上昇 年6%を主線とし、投資家利回り20.0%。20%の分岐点は回転12.0ヶ月であり、主線に余裕はない。</a:t>
            </a:r>
            <a:endParaRPr lang="en-US" sz="900" dirty="0"/>
          </a:p>
        </p:txBody>
      </p:sp>
      <p:sp>
        <p:nvSpPr>
          <p:cNvPr id="37" name="Text 35"/>
          <p:cNvSpPr/>
          <p:nvPr/>
        </p:nvSpPr>
        <p:spPr>
          <a:xfrm>
            <a:off x="7964424" y="274320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回転12ヶ月の達成が20%確保の必要条件となる。必要な年間販売額は6.36億円で現状の販売実力（年5〜7億円）の範囲内にあり、流動性上位の銘柄に絞って組み入れる。</a:t>
            </a:r>
            <a:endParaRPr lang="en-US" sz="900" dirty="0"/>
          </a:p>
        </p:txBody>
      </p:sp>
      <p:sp>
        <p:nvSpPr>
          <p:cNvPr id="38" name="Shape 36"/>
          <p:cNvSpPr/>
          <p:nvPr/>
        </p:nvSpPr>
        <p:spPr>
          <a:xfrm>
            <a:off x="7726680" y="3369564"/>
            <a:ext cx="137160" cy="137160"/>
          </a:xfrm>
          <a:prstGeom prst="ellipse">
            <a:avLst/>
          </a:prstGeom>
          <a:solidFill>
            <a:srgbClr val="A78450"/>
          </a:solidFill>
          <a:ln w="11430">
            <a:solidFill>
              <a:srgbClr val="A78450"/>
            </a:solidFill>
            <a:prstDash val="solid"/>
          </a:ln>
        </p:spPr>
      </p:sp>
      <p:sp>
        <p:nvSpPr>
          <p:cNvPr id="39" name="Text 37"/>
          <p:cNvSpPr/>
          <p:nvPr/>
        </p:nvSpPr>
        <p:spPr>
          <a:xfrm>
            <a:off x="7726680" y="3369564"/>
            <a:ext cx="137160" cy="137160"/>
          </a:xfrm>
          <a:prstGeom prst="rect">
            <a:avLst/>
          </a:prstGeom>
          <a:noFill/>
          <a:ln/>
        </p:spPr>
        <p:txBody>
          <a:bodyPr wrap="square" lIns="0" tIns="0" rIns="0" bIns="0" rtlCol="0" anchor="ctr"/>
          <a:lstStyle/>
          <a:p>
            <a:pPr algn="ctr" indent="0" marL="0">
              <a:buNone/>
            </a:pPr>
            <a:endParaRPr lang="en-US" sz="1100" dirty="0"/>
          </a:p>
        </p:txBody>
      </p:sp>
      <p:sp>
        <p:nvSpPr>
          <p:cNvPr id="40" name="Text 38"/>
          <p:cNvSpPr/>
          <p:nvPr/>
        </p:nvSpPr>
        <p:spPr>
          <a:xfrm>
            <a:off x="7964424" y="331012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解約条件に対して</a:t>
            </a:r>
            <a:endParaRPr lang="en-US" sz="1050" dirty="0"/>
          </a:p>
        </p:txBody>
      </p:sp>
      <p:sp>
        <p:nvSpPr>
          <p:cNvPr id="41" name="Text 39"/>
          <p:cNvSpPr/>
          <p:nvPr/>
        </p:nvSpPr>
        <p:spPr>
          <a:xfrm>
            <a:off x="7964424" y="353872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運用期間5年・当初3年ロックアップ・4年目以降は年度ごとの解約。分配は毎年1回。</a:t>
            </a:r>
            <a:endParaRPr lang="en-US" sz="900" dirty="0"/>
          </a:p>
        </p:txBody>
      </p:sp>
      <p:sp>
        <p:nvSpPr>
          <p:cNvPr id="42" name="Text 40"/>
          <p:cNvSpPr/>
          <p:nvPr/>
        </p:nvSpPr>
        <p:spPr>
          <a:xfrm>
            <a:off x="7964424" y="393192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この設計により現金保有を5%に抑え、総額の95%をワインに充当できる。半期解約を前提とすると稼働率が下がり20.0%→17.6%に低下する。</a:t>
            </a:r>
            <a:endParaRPr lang="en-US" sz="900" dirty="0"/>
          </a:p>
        </p:txBody>
      </p:sp>
      <p:sp>
        <p:nvSpPr>
          <p:cNvPr id="43" name="Shape 41"/>
          <p:cNvSpPr/>
          <p:nvPr/>
        </p:nvSpPr>
        <p:spPr>
          <a:xfrm>
            <a:off x="7726680" y="4558284"/>
            <a:ext cx="137160" cy="137160"/>
          </a:xfrm>
          <a:prstGeom prst="ellipse">
            <a:avLst/>
          </a:prstGeom>
          <a:solidFill>
            <a:srgbClr val="A78450"/>
          </a:solidFill>
          <a:ln w="11430">
            <a:solidFill>
              <a:srgbClr val="A78450"/>
            </a:solidFill>
            <a:prstDash val="solid"/>
          </a:ln>
        </p:spPr>
      </p:sp>
      <p:sp>
        <p:nvSpPr>
          <p:cNvPr id="44" name="Text 42"/>
          <p:cNvSpPr/>
          <p:nvPr/>
        </p:nvSpPr>
        <p:spPr>
          <a:xfrm>
            <a:off x="7726680" y="4558284"/>
            <a:ext cx="137160" cy="137160"/>
          </a:xfrm>
          <a:prstGeom prst="rect">
            <a:avLst/>
          </a:prstGeom>
          <a:noFill/>
          <a:ln/>
        </p:spPr>
        <p:txBody>
          <a:bodyPr wrap="square" lIns="0" tIns="0" rIns="0" bIns="0" rtlCol="0" anchor="ctr"/>
          <a:lstStyle/>
          <a:p>
            <a:pPr algn="ctr" indent="0" marL="0">
              <a:buNone/>
            </a:pPr>
            <a:endParaRPr lang="en-US" sz="1100" dirty="0"/>
          </a:p>
        </p:txBody>
      </p:sp>
      <p:sp>
        <p:nvSpPr>
          <p:cNvPr id="45" name="Text 43"/>
          <p:cNvSpPr/>
          <p:nvPr/>
        </p:nvSpPr>
        <p:spPr>
          <a:xfrm>
            <a:off x="7964424" y="4498848"/>
            <a:ext cx="3312871"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リスク分散に対して</a:t>
            </a:r>
            <a:endParaRPr lang="en-US" sz="1050" dirty="0"/>
          </a:p>
        </p:txBody>
      </p:sp>
      <p:sp>
        <p:nvSpPr>
          <p:cNvPr id="46" name="Text 44"/>
          <p:cNvSpPr/>
          <p:nvPr/>
        </p:nvSpPr>
        <p:spPr>
          <a:xfrm>
            <a:off x="7964424" y="4727448"/>
            <a:ext cx="3312871" cy="384048"/>
          </a:xfrm>
          <a:prstGeom prst="rect">
            <a:avLst/>
          </a:prstGeom>
          <a:noFill/>
          <a:ln/>
        </p:spPr>
        <p:txBody>
          <a:bodyPr wrap="square" lIns="0" tIns="0" rIns="0" bIns="0" rtlCol="0" anchor="ctr"/>
          <a:lstStyle/>
          <a:p>
            <a:pPr indent="0" marL="0">
              <a:lnSpc>
                <a:spcPct val="118000"/>
              </a:lnSpc>
              <a:buNone/>
            </a:pPr>
            <a:r>
              <a:rPr lang="en-US" sz="900" dirty="0">
                <a:solidFill>
                  <a:srgbClr val="9A938A"/>
                </a:solidFill>
                <a:latin typeface="Yu Gothic" pitchFamily="34" charset="0"/>
                <a:ea typeface="Yu Gothic" pitchFamily="34" charset="-122"/>
                <a:cs typeface="Yu Gothic" pitchFamily="34" charset="-120"/>
              </a:rPr>
              <a:t>伝統的資産と相関の低い実物資産。既存30億円のポートフォリオに対し出資2億円は約7%。</a:t>
            </a:r>
            <a:endParaRPr lang="en-US" sz="900" dirty="0"/>
          </a:p>
        </p:txBody>
      </p:sp>
      <p:sp>
        <p:nvSpPr>
          <p:cNvPr id="47" name="Text 45"/>
          <p:cNvSpPr/>
          <p:nvPr/>
        </p:nvSpPr>
        <p:spPr>
          <a:xfrm>
            <a:off x="7964424" y="5120640"/>
            <a:ext cx="3312871" cy="457200"/>
          </a:xfrm>
          <a:prstGeom prst="rect">
            <a:avLst/>
          </a:prstGeom>
          <a:noFill/>
          <a:ln/>
        </p:spPr>
        <p:txBody>
          <a:bodyPr wrap="square" lIns="0" tIns="0" rIns="0" bIns="0" rtlCol="0" anchor="ctr"/>
          <a:lstStyle/>
          <a:p>
            <a:pPr indent="0" marL="0">
              <a:lnSpc>
                <a:spcPct val="118000"/>
              </a:lnSpc>
              <a:buNone/>
            </a:pPr>
            <a:r>
              <a:rPr lang="en-US" sz="900" dirty="0">
                <a:solidFill>
                  <a:srgbClr val="C9A96E"/>
                </a:solidFill>
                <a:latin typeface="Yu Gothic" pitchFamily="34" charset="0"/>
                <a:ea typeface="Yu Gothic" pitchFamily="34" charset="-122"/>
                <a:cs typeface="Yu Gothic" pitchFamily="34" charset="-120"/>
              </a:rPr>
              <a:t>単一銘柄ではなく複数産地・複数ヴィンテージへの分散となり、ポートフォリオ内での分散効果が働く。</a:t>
            </a:r>
            <a:endParaRPr lang="en-US" sz="900" dirty="0"/>
          </a:p>
        </p:txBody>
      </p:sp>
      <p:sp>
        <p:nvSpPr>
          <p:cNvPr id="48" name="Shape 46"/>
          <p:cNvSpPr/>
          <p:nvPr/>
        </p:nvSpPr>
        <p:spPr>
          <a:xfrm>
            <a:off x="658368" y="5724144"/>
            <a:ext cx="10874959" cy="566928"/>
          </a:xfrm>
          <a:prstGeom prst="roundRect">
            <a:avLst>
              <a:gd name="adj" fmla="val 7258"/>
            </a:avLst>
          </a:prstGeom>
          <a:solidFill>
            <a:srgbClr val="171614"/>
          </a:solidFill>
          <a:ln w="9525">
            <a:solidFill>
              <a:srgbClr val="2E2A24"/>
            </a:solidFill>
            <a:prstDash val="solid"/>
          </a:ln>
        </p:spPr>
      </p:sp>
      <p:sp>
        <p:nvSpPr>
          <p:cNvPr id="49" name="Text 47"/>
          <p:cNvSpPr/>
          <p:nvPr/>
        </p:nvSpPr>
        <p:spPr>
          <a:xfrm>
            <a:off x="932688" y="5815584"/>
            <a:ext cx="10326319" cy="384048"/>
          </a:xfrm>
          <a:prstGeom prst="rect">
            <a:avLst/>
          </a:prstGeom>
          <a:noFill/>
          <a:ln/>
        </p:spPr>
        <p:txBody>
          <a:bodyPr wrap="square" lIns="0" tIns="0" rIns="0" bIns="0" rtlCol="0" anchor="ctr"/>
          <a:lstStyle/>
          <a:p>
            <a:pPr indent="0" marL="0">
              <a:lnSpc>
                <a:spcPct val="120000"/>
              </a:lnSpc>
              <a:buNone/>
            </a:pPr>
            <a:r>
              <a:rPr lang="en-US" sz="1000" dirty="0">
                <a:solidFill>
                  <a:srgbClr val="EFEBE3"/>
                </a:solidFill>
                <a:latin typeface="Yu Gothic" pitchFamily="34" charset="0"/>
                <a:ea typeface="Yu Gothic" pitchFamily="34" charset="-122"/>
                <a:cs typeface="Yu Gothic" pitchFamily="34" charset="-120"/>
              </a:rPr>
              <a:t>ワインは飲めば消える嗜好品ではなく、正規流通の価格差という再現性のある収益源です。本ファンドでは、その価格差のうち時価に対する20.8%分をSPCに残し、残りをWineBankが卸値の中で受け取ります。WineBank受取145百万円のうち値入れ75百万円と管理報酬10百万円は運用成果によらず確定し、持分60百万円が成果に連動します。</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1463040" y="1417320"/>
            <a:ext cx="4023360" cy="4023360"/>
          </a:xfrm>
          <a:prstGeom prst="ellipse">
            <a:avLst/>
          </a:prstGeom>
          <a:solidFill>
            <a:srgbClr val="0C0C0C"/>
          </a:solidFill>
          <a:ln w="13970">
            <a:solidFill>
              <a:srgbClr val="1E1A15"/>
            </a:solidFill>
            <a:prstDash val="solid"/>
          </a:ln>
        </p:spPr>
      </p:sp>
      <p:sp>
        <p:nvSpPr>
          <p:cNvPr id="3" name="Shape 1"/>
          <p:cNvSpPr/>
          <p:nvPr/>
        </p:nvSpPr>
        <p:spPr>
          <a:xfrm>
            <a:off x="9966960" y="-1188720"/>
            <a:ext cx="4023360" cy="4023360"/>
          </a:xfrm>
          <a:prstGeom prst="ellipse">
            <a:avLst/>
          </a:prstGeom>
          <a:solidFill>
            <a:srgbClr val="0C0C0C"/>
          </a:solidFill>
          <a:ln w="11430">
            <a:solidFill>
              <a:srgbClr val="6E5730"/>
            </a:solidFill>
            <a:prstDash val="solid"/>
          </a:ln>
        </p:spPr>
      </p:sp>
      <p:sp>
        <p:nvSpPr>
          <p:cNvPr id="4" name="Text 2"/>
          <p:cNvSpPr/>
          <p:nvPr/>
        </p:nvSpPr>
        <p:spPr>
          <a:xfrm>
            <a:off x="658368" y="2487168"/>
            <a:ext cx="10874959" cy="694944"/>
          </a:xfrm>
          <a:prstGeom prst="rect">
            <a:avLst/>
          </a:prstGeom>
          <a:noFill/>
          <a:ln/>
        </p:spPr>
        <p:txBody>
          <a:bodyPr wrap="square" lIns="0" tIns="0" rIns="0" bIns="0" rtlCol="0" anchor="ctr"/>
          <a:lstStyle/>
          <a:p>
            <a:pPr algn="ctr" indent="0" marL="0">
              <a:buNone/>
            </a:pPr>
            <a:r>
              <a:rPr lang="en-US" sz="3400" b="1" dirty="0">
                <a:solidFill>
                  <a:srgbClr val="EFEBE3"/>
                </a:solidFill>
                <a:latin typeface="Yu Mincho" pitchFamily="34" charset="0"/>
                <a:ea typeface="Yu Mincho" pitchFamily="34" charset="-122"/>
                <a:cs typeface="Yu Mincho" pitchFamily="34" charset="-120"/>
              </a:rPr>
              <a:t>すべての人にファインワインを</a:t>
            </a:r>
            <a:endParaRPr lang="en-US" sz="3400" dirty="0"/>
          </a:p>
        </p:txBody>
      </p:sp>
      <p:sp>
        <p:nvSpPr>
          <p:cNvPr id="5" name="Text 3"/>
          <p:cNvSpPr/>
          <p:nvPr/>
        </p:nvSpPr>
        <p:spPr>
          <a:xfrm>
            <a:off x="658368" y="3255264"/>
            <a:ext cx="10874959" cy="310896"/>
          </a:xfrm>
          <a:prstGeom prst="rect">
            <a:avLst/>
          </a:prstGeom>
          <a:noFill/>
          <a:ln/>
        </p:spPr>
        <p:txBody>
          <a:bodyPr wrap="square" lIns="0" tIns="0" rIns="0" bIns="0" rtlCol="0" anchor="ctr"/>
          <a:lstStyle/>
          <a:p>
            <a:pPr algn="ctr" indent="0" marL="0">
              <a:buNone/>
            </a:pPr>
            <a:r>
              <a:rPr lang="en-US" sz="1300" b="1" spc="450" kern="0" dirty="0">
                <a:solidFill>
                  <a:srgbClr val="A78450"/>
                </a:solidFill>
                <a:latin typeface="Cambria" pitchFamily="34" charset="0"/>
                <a:ea typeface="Cambria" pitchFamily="34" charset="-122"/>
                <a:cs typeface="Cambria" pitchFamily="34" charset="-120"/>
              </a:rPr>
              <a:t>Wine × Technology</a:t>
            </a:r>
            <a:endParaRPr lang="en-US" sz="1300" dirty="0"/>
          </a:p>
        </p:txBody>
      </p:sp>
      <p:sp>
        <p:nvSpPr>
          <p:cNvPr id="6" name="Text 4"/>
          <p:cNvSpPr/>
          <p:nvPr/>
        </p:nvSpPr>
        <p:spPr>
          <a:xfrm>
            <a:off x="658368" y="4133088"/>
            <a:ext cx="10874959" cy="310896"/>
          </a:xfrm>
          <a:prstGeom prst="rect">
            <a:avLst/>
          </a:prstGeom>
          <a:noFill/>
          <a:ln/>
        </p:spPr>
        <p:txBody>
          <a:bodyPr wrap="square" lIns="0" tIns="0" rIns="0" bIns="0" rtlCol="0" anchor="ctr"/>
          <a:lstStyle/>
          <a:p>
            <a:pPr algn="ctr" indent="0" marL="0">
              <a:buNone/>
            </a:pPr>
            <a:r>
              <a:rPr lang="en-US" sz="1500" b="1" dirty="0">
                <a:solidFill>
                  <a:srgbClr val="C9A96E"/>
                </a:solidFill>
                <a:latin typeface="Yu Mincho" pitchFamily="34" charset="0"/>
                <a:ea typeface="Yu Mincho" pitchFamily="34" charset="-122"/>
                <a:cs typeface="Yu Mincho" pitchFamily="34" charset="-120"/>
              </a:rPr>
              <a:t>株式会社WineBank</a:t>
            </a:r>
            <a:endParaRPr lang="en-US" sz="1500" dirty="0"/>
          </a:p>
        </p:txBody>
      </p:sp>
      <p:sp>
        <p:nvSpPr>
          <p:cNvPr id="7" name="Text 5"/>
          <p:cNvSpPr/>
          <p:nvPr/>
        </p:nvSpPr>
        <p:spPr>
          <a:xfrm>
            <a:off x="658368" y="4462272"/>
            <a:ext cx="10874959" cy="256032"/>
          </a:xfrm>
          <a:prstGeom prst="rect">
            <a:avLst/>
          </a:prstGeom>
          <a:noFill/>
          <a:ln/>
        </p:spPr>
        <p:txBody>
          <a:bodyPr wrap="square" lIns="0" tIns="0" rIns="0" bIns="0" rtlCol="0" anchor="ctr"/>
          <a:lstStyle/>
          <a:p>
            <a:pPr algn="ctr" indent="0" marL="0">
              <a:buNone/>
            </a:pPr>
            <a:r>
              <a:rPr lang="en-US" sz="950" dirty="0">
                <a:solidFill>
                  <a:srgbClr val="6E675E"/>
                </a:solidFill>
                <a:latin typeface="Yu Gothic" pitchFamily="34" charset="0"/>
                <a:ea typeface="Yu Gothic" pitchFamily="34" charset="-122"/>
                <a:cs typeface="Yu Gothic" pitchFamily="34" charset="-120"/>
              </a:rPr>
              <a:t>創業1970年　／　東京都港区六本木4-12-8 第6DMJビル 2階</a:t>
            </a:r>
            <a:endParaRPr lang="en-US" sz="950" dirty="0"/>
          </a:p>
        </p:txBody>
      </p:sp>
      <p:sp>
        <p:nvSpPr>
          <p:cNvPr id="8" name="Text 6"/>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9" name="Text 7"/>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株式会社WineBank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ワインファンド（SPC）組成のご提案</dc:title>
  <dc:subject>PptxGenJS Presentation</dc:subject>
  <dc:creator>株式会社WineBank</dc:creator>
  <cp:lastModifiedBy>株式会社WineBank</cp:lastModifiedBy>
  <cp:revision>1</cp:revision>
  <dcterms:created xsi:type="dcterms:W3CDTF">2026-09-24T02:12:09Z</dcterms:created>
  <dcterms:modified xsi:type="dcterms:W3CDTF">2026-09-24T02:12:09Z</dcterms:modified>
</cp:coreProperties>
</file>