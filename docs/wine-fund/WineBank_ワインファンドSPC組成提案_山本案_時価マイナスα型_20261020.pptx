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3.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1" i="0" u="none" strike="noStrike">
                <a:solidFill>
                  <a:srgbClr val="2B2622"/>
                </a:solidFill>
                <a:latin typeface="Meiryo"/>
              </a:defRPr>
            </a:pPr>
            <a:r>
              <a:rPr sz="1100" b="1" i="0" u="none" strike="noStrike">
                <a:solidFill>
                  <a:srgbClr val="2B2622"/>
                </a:solidFill>
                <a:latin typeface="Meiryo"/>
              </a:rPr>
              <a:t>投資家利回り（フル稼働時の単年・％）</a:t>
            </a:r>
          </a:p>
        </c:rich>
      </c:tx>
      <c:layout/>
      <c:overlay val="0"/>
    </c:title>
    <c:autoTitleDeleted val="0"/>
    <c:plotArea>
      <c:layout/>
      <c:barChart>
        <c:barDir val="col"/>
        <c:grouping val="clustered"/>
        <c:varyColors val="0"/>
        <c:ser>
          <c:idx val="0"/>
          <c:order val="0"/>
          <c:tx>
            <c:strRef>
              <c:f>Sheet1!$B$1</c:f>
              <c:strCache>
                <c:ptCount val="1"/>
                <c:pt idx="0">
                  <c:v>投資家利回り</c:v>
                </c:pt>
              </c:strCache>
            </c:strRef>
          </c:tx>
          <c:spPr>
            <a:solidFill>
              <a:srgbClr val="A78450"/>
            </a:solidFill>
            <a:effectLst/>
          </c:spPr>
          <c:invertIfNegative val="0"/>
          <c:dLbls>
            <c:numFmt formatCode="0.0&quot;%&quot;" sourceLinked="0"/>
            <c:txPr>
              <a:bodyPr/>
              <a:lstStyle/>
              <a:p>
                <a:pPr>
                  <a:defRPr b="0" i="0" strike="noStrike" sz="950" u="none">
                    <a:solidFill>
                      <a:srgbClr val="2B2622"/>
                    </a:solidFill>
                    <a:latin typeface="Meiryo"/>
                  </a:defRPr>
                </a:pPr>
              </a:p>
            </c:txPr>
            <c:showLegendKey val="0"/>
            <c:showVal val="1"/>
            <c:showCatName val="0"/>
            <c:showSerName val="0"/>
            <c:showPercent val="0"/>
            <c:showBubbleSize val="0"/>
            <c:showLeaderLines val="0"/>
          </c:dLbls>
          <c:cat>
            <c:multiLvlStrRef>
              <c:f>Sheet1!$A$2:$A$5</c:f>
              <c:multiLvlStrCache>
                <c:ptCount val="4"/>
                <c:lvl>
                  <c:pt idx="0">
                    <c:v>9ヶ月</c:v>
                  </c:pt>
                  <c:pt idx="1">
                    <c:v>12ヶ月</c:v>
                  </c:pt>
                  <c:pt idx="2">
                    <c:v>15ヶ月</c:v>
                  </c:pt>
                  <c:pt idx="3">
                    <c:v>18ヶ月</c:v>
                  </c:pt>
                </c:lvl>
              </c:multiLvlStrCache>
            </c:multiLvlStrRef>
          </c:cat>
          <c:val>
            <c:numRef>
              <c:f>Sheet1!$B$2:$B$5</c:f>
              <c:numCache>
                <c:formatCode>General</c:formatCode>
                <c:ptCount val="4"/>
                <c:pt idx="0">
                  <c:v>29</c:v>
                </c:pt>
                <c:pt idx="1">
                  <c:v>22.5</c:v>
                </c:pt>
                <c:pt idx="2">
                  <c:v>18.6</c:v>
                </c:pt>
                <c:pt idx="3">
                  <c:v>16</c:v>
                </c:pt>
              </c:numCache>
            </c:numRef>
          </c:val>
        </c:ser>
        <c:dLbls>
          <c:numFmt formatCode="0.0&quot;%&quot;" sourceLinked="0"/>
          <c:txPr>
            <a:bodyPr/>
            <a:lstStyle/>
            <a:p>
              <a:pPr>
                <a:defRPr b="0" i="0" strike="noStrike" sz="950" u="none">
                  <a:solidFill>
                    <a:srgbClr val="2B2622"/>
                  </a:solidFill>
                  <a:latin typeface="Meiryo"/>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6F665F"/>
                </a:solidFill>
                <a:latin typeface="Meiryo"/>
              </a:defRPr>
            </a:pPr>
            <a:endParaRPr lang="en-US"/>
          </a:p>
        </c:txPr>
        <c:crossAx val="2094734552"/>
        <c:crosses val="autoZero"/>
        <c:auto val="1"/>
        <c:lblAlgn val="ctr"/>
        <c:noMultiLvlLbl val="1"/>
      </c:catAx>
      <c:valAx>
        <c:axId val="2094734552"/>
        <c:scaling>
          <c:orientation val="minMax"/>
          <c:max val="35"/>
          <c:min val="0"/>
        </c:scaling>
        <c:delete val="0"/>
        <c:axPos val="l"/>
        <c:majorGridlines>
          <c:spPr>
            <a:ln w="7620" cap="flat">
              <a:solidFill>
                <a:srgbClr val="E6DCCB"/>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9A8F84"/>
                </a:solidFill>
                <a:latin typeface="Meiryo"/>
              </a:defRPr>
            </a:pPr>
            <a:endParaRPr lang="en-US"/>
          </a:p>
        </c:txPr>
        <c:crossAx val="2094734554"/>
        <c:crosses val="autoZero"/>
        <c:crossBetween val="between"/>
      </c:valAx>
      <c:spPr>
        <a:solidFill>
          <a:srgbClr val="F5EFE4"/>
        </a:solidFill>
        <a:ln>
          <a:noFill/>
        </a:ln>
        <a:effectLst/>
      </c:spPr>
    </c:plotArea>
    <c:plotVisOnly val="1"/>
    <c:dispBlanksAs val="span"/>
  </c:chart>
  <c:spPr>
    <a:solidFill>
      <a:srgbClr val="F5EFE4"/>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1" i="0" u="none" strike="noStrike">
                <a:solidFill>
                  <a:srgbClr val="2B2622"/>
                </a:solidFill>
                <a:latin typeface="Meiryo"/>
              </a:defRPr>
            </a:pPr>
            <a:r>
              <a:rPr sz="1100" b="1" i="0" u="none" strike="noStrike">
                <a:solidFill>
                  <a:srgbClr val="2B2622"/>
                </a:solidFill>
                <a:latin typeface="Meiryo"/>
              </a:rPr>
              <a:t>投資家 年平均利回り（年平均・％）</a:t>
            </a:r>
          </a:p>
        </c:rich>
      </c:tx>
      <c:layout/>
      <c:overlay val="0"/>
    </c:title>
    <c:autoTitleDeleted val="0"/>
    <c:plotArea>
      <c:layout/>
      <c:barChart>
        <c:barDir val="col"/>
        <c:grouping val="clustered"/>
        <c:varyColors val="0"/>
        <c:ser>
          <c:idx val="0"/>
          <c:order val="0"/>
          <c:tx>
            <c:strRef>
              <c:f>Sheet1!$B$1</c:f>
              <c:strCache>
                <c:ptCount val="1"/>
                <c:pt idx="0">
                  <c:v>投資家 年平均利回り</c:v>
                </c:pt>
              </c:strCache>
            </c:strRef>
          </c:tx>
          <c:spPr>
            <a:solidFill>
              <a:srgbClr val="C9AE7E"/>
            </a:solidFill>
            <a:effectLst/>
          </c:spPr>
          <c:invertIfNegative val="0"/>
          <c:dLbls>
            <c:numFmt formatCode="0.0&quot;%&quot;" sourceLinked="0"/>
            <c:txPr>
              <a:bodyPr/>
              <a:lstStyle/>
              <a:p>
                <a:pPr>
                  <a:defRPr b="0" i="0" strike="noStrike" sz="950" u="none">
                    <a:solidFill>
                      <a:srgbClr val="2B2622"/>
                    </a:solidFill>
                    <a:latin typeface="Meiryo"/>
                  </a:defRPr>
                </a:pPr>
              </a:p>
            </c:txPr>
            <c:showLegendKey val="0"/>
            <c:showVal val="1"/>
            <c:showCatName val="0"/>
            <c:showSerName val="0"/>
            <c:showPercent val="0"/>
            <c:showBubbleSize val="0"/>
            <c:showLeaderLines val="0"/>
          </c:dLbls>
          <c:cat>
            <c:multiLvlStrRef>
              <c:f>Sheet1!$A$2:$A$5</c:f>
              <c:multiLvlStrCache>
                <c:ptCount val="4"/>
                <c:lvl>
                  <c:pt idx="0">
                    <c:v>9ヶ月</c:v>
                  </c:pt>
                  <c:pt idx="1">
                    <c:v>12ヶ月</c:v>
                  </c:pt>
                  <c:pt idx="2">
                    <c:v>15ヶ月</c:v>
                  </c:pt>
                  <c:pt idx="3">
                    <c:v>18ヶ月</c:v>
                  </c:pt>
                </c:lvl>
              </c:multiLvlStrCache>
            </c:multiLvlStrRef>
          </c:cat>
          <c:val>
            <c:numRef>
              <c:f>Sheet1!$B$2:$B$5</c:f>
              <c:numCache>
                <c:formatCode>General</c:formatCode>
                <c:ptCount val="4"/>
                <c:pt idx="0">
                  <c:v>27.8</c:v>
                </c:pt>
                <c:pt idx="1">
                  <c:v>20</c:v>
                </c:pt>
                <c:pt idx="2">
                  <c:v>16.1</c:v>
                </c:pt>
                <c:pt idx="3">
                  <c:v>16.1</c:v>
                </c:pt>
              </c:numCache>
            </c:numRef>
          </c:val>
        </c:ser>
        <c:dLbls>
          <c:numFmt formatCode="0.0&quot;%&quot;" sourceLinked="0"/>
          <c:txPr>
            <a:bodyPr/>
            <a:lstStyle/>
            <a:p>
              <a:pPr>
                <a:defRPr b="0" i="0" strike="noStrike" sz="950" u="none">
                  <a:solidFill>
                    <a:srgbClr val="2B2622"/>
                  </a:solidFill>
                  <a:latin typeface="Meiryo"/>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6F665F"/>
                </a:solidFill>
                <a:latin typeface="Meiryo"/>
              </a:defRPr>
            </a:pPr>
            <a:endParaRPr lang="en-US"/>
          </a:p>
        </c:txPr>
        <c:crossAx val="2094734552"/>
        <c:crosses val="autoZero"/>
        <c:auto val="1"/>
        <c:lblAlgn val="ctr"/>
        <c:noMultiLvlLbl val="1"/>
      </c:catAx>
      <c:valAx>
        <c:axId val="2094734552"/>
        <c:scaling>
          <c:orientation val="minMax"/>
          <c:max val="34"/>
          <c:min val="0"/>
        </c:scaling>
        <c:delete val="0"/>
        <c:axPos val="l"/>
        <c:majorGridlines>
          <c:spPr>
            <a:ln w="7620" cap="flat">
              <a:solidFill>
                <a:srgbClr val="E6DCCB"/>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9A8F84"/>
                </a:solidFill>
                <a:latin typeface="Meiryo"/>
              </a:defRPr>
            </a:pPr>
            <a:endParaRPr lang="en-US"/>
          </a:p>
        </c:txPr>
        <c:crossAx val="2094734554"/>
        <c:crosses val="autoZero"/>
        <c:crossBetween val="between"/>
      </c:valAx>
      <c:spPr>
        <a:solidFill>
          <a:srgbClr val="F5EFE4"/>
        </a:solidFill>
        <a:ln>
          <a:noFill/>
        </a:ln>
        <a:effectLst/>
      </c:spPr>
    </c:plotArea>
    <c:plotVisOnly val="1"/>
    <c:dispBlanksAs val="span"/>
  </c:chart>
  <c:spPr>
    <a:solidFill>
      <a:srgbClr val="F5EFE4"/>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1" i="0" u="none" strike="noStrike">
                <a:solidFill>
                  <a:srgbClr val="2B2622"/>
                </a:solidFill>
                <a:latin typeface="Meiryo"/>
              </a:defRPr>
            </a:pPr>
            <a:r>
              <a:rPr sz="1100" b="1" i="0" u="none" strike="noStrike">
                <a:solidFill>
                  <a:srgbClr val="2B2622"/>
                </a:solidFill>
                <a:latin typeface="Meiryo"/>
              </a:rPr>
              <a:t>在庫回転期間別 投資家 年平均利回り（年平均・％）</a:t>
            </a:r>
          </a:p>
        </c:rich>
      </c:tx>
      <c:layout/>
      <c:overlay val="0"/>
    </c:title>
    <c:autoTitleDeleted val="0"/>
    <c:plotArea>
      <c:layout/>
      <c:barChart>
        <c:barDir val="col"/>
        <c:grouping val="clustered"/>
        <c:varyColors val="0"/>
        <c:ser>
          <c:idx val="0"/>
          <c:order val="0"/>
          <c:tx>
            <c:strRef>
              <c:f>Sheet1!$B$1</c:f>
              <c:strCache>
                <c:ptCount val="1"/>
                <c:pt idx="0">
                  <c:v>ポジティブ（上昇10%）</c:v>
                </c:pt>
              </c:strCache>
            </c:strRef>
          </c:tx>
          <c:spPr>
            <a:solidFill>
              <a:srgbClr val="8C6A3A"/>
            </a:solidFill>
            <a:effectLst/>
          </c:spPr>
          <c:invertIfNegative val="0"/>
          <c:dLbls>
            <c:numFmt formatCode="0.0&quot;%&quot;" sourceLinked="0"/>
            <c:txPr>
              <a:bodyPr/>
              <a:lstStyle/>
              <a:p>
                <a:pPr>
                  <a:defRPr b="0" i="0" strike="noStrike" sz="950" u="none">
                    <a:solidFill>
                      <a:srgbClr val="2B2622"/>
                    </a:solidFill>
                    <a:latin typeface="Meiryo"/>
                  </a:defRPr>
                </a:pPr>
              </a:p>
            </c:txPr>
            <c:showLegendKey val="0"/>
            <c:showVal val="1"/>
            <c:showCatName val="0"/>
            <c:showSerName val="0"/>
            <c:showPercent val="0"/>
            <c:showBubbleSize val="0"/>
            <c:showLeaderLines val="0"/>
          </c:dLbls>
          <c:cat>
            <c:multiLvlStrRef>
              <c:f>Sheet1!$A$2:$A$5</c:f>
              <c:multiLvlStrCache>
                <c:ptCount val="4"/>
                <c:lvl>
                  <c:pt idx="0">
                    <c:v>9ヶ月</c:v>
                  </c:pt>
                  <c:pt idx="1">
                    <c:v>12ヶ月</c:v>
                  </c:pt>
                  <c:pt idx="2">
                    <c:v>15ヶ月</c:v>
                  </c:pt>
                  <c:pt idx="3">
                    <c:v>18ヶ月</c:v>
                  </c:pt>
                </c:lvl>
              </c:multiLvlStrCache>
            </c:multiLvlStrRef>
          </c:cat>
          <c:val>
            <c:numRef>
              <c:f>Sheet1!$B$2:$B$5</c:f>
              <c:numCache>
                <c:formatCode>General</c:formatCode>
                <c:ptCount val="4"/>
                <c:pt idx="0">
                  <c:v>32.1</c:v>
                </c:pt>
                <c:pt idx="1">
                  <c:v>24.3</c:v>
                </c:pt>
                <c:pt idx="2">
                  <c:v>20.5</c:v>
                </c:pt>
                <c:pt idx="3">
                  <c:v>20.6</c:v>
                </c:pt>
              </c:numCache>
            </c:numRef>
          </c:val>
        </c:ser>
        <c:ser>
          <c:idx val="1"/>
          <c:order val="1"/>
          <c:tx>
            <c:strRef>
              <c:f>Sheet1!$C$1</c:f>
              <c:strCache>
                <c:ptCount val="1"/>
                <c:pt idx="0">
                  <c:v>ニュートラル（上昇6%・主線）</c:v>
                </c:pt>
              </c:strCache>
            </c:strRef>
          </c:tx>
          <c:spPr>
            <a:solidFill>
              <a:srgbClr val="A78450"/>
            </a:solidFill>
            <a:effectLst/>
          </c:spPr>
          <c:invertIfNegative val="0"/>
          <c:dLbls>
            <c:numFmt formatCode="0.0&quot;%&quot;" sourceLinked="0"/>
            <c:txPr>
              <a:bodyPr/>
              <a:lstStyle/>
              <a:p>
                <a:pPr>
                  <a:defRPr b="0" i="0" strike="noStrike" sz="950" u="none">
                    <a:solidFill>
                      <a:srgbClr val="2B2622"/>
                    </a:solidFill>
                    <a:latin typeface="Meiryo"/>
                  </a:defRPr>
                </a:pPr>
              </a:p>
            </c:txPr>
            <c:showLegendKey val="0"/>
            <c:showVal val="1"/>
            <c:showCatName val="0"/>
            <c:showSerName val="0"/>
            <c:showPercent val="0"/>
            <c:showBubbleSize val="0"/>
            <c:showLeaderLines val="0"/>
          </c:dLbls>
          <c:cat>
            <c:multiLvlStrRef>
              <c:f>Sheet1!$A$2:$A$5</c:f>
              <c:multiLvlStrCache>
                <c:ptCount val="4"/>
                <c:lvl>
                  <c:pt idx="0">
                    <c:v>9ヶ月</c:v>
                  </c:pt>
                  <c:pt idx="1">
                    <c:v>12ヶ月</c:v>
                  </c:pt>
                  <c:pt idx="2">
                    <c:v>15ヶ月</c:v>
                  </c:pt>
                  <c:pt idx="3">
                    <c:v>18ヶ月</c:v>
                  </c:pt>
                </c:lvl>
              </c:multiLvlStrCache>
            </c:multiLvlStrRef>
          </c:cat>
          <c:val>
            <c:numRef>
              <c:f>Sheet1!$C$2:$C$5</c:f>
              <c:numCache>
                <c:formatCode>General</c:formatCode>
                <c:ptCount val="4"/>
                <c:pt idx="0">
                  <c:v>27.8</c:v>
                </c:pt>
                <c:pt idx="1">
                  <c:v>20</c:v>
                </c:pt>
                <c:pt idx="2">
                  <c:v>16.1</c:v>
                </c:pt>
                <c:pt idx="3">
                  <c:v>16.1</c:v>
                </c:pt>
              </c:numCache>
            </c:numRef>
          </c:val>
        </c:ser>
        <c:ser>
          <c:idx val="2"/>
          <c:order val="2"/>
          <c:tx>
            <c:strRef>
              <c:f>Sheet1!$D$1</c:f>
              <c:strCache>
                <c:ptCount val="1"/>
                <c:pt idx="0">
                  <c:v>ネガティブ（上昇0%）</c:v>
                </c:pt>
              </c:strCache>
            </c:strRef>
          </c:tx>
          <c:spPr>
            <a:solidFill>
              <a:srgbClr val="C9AE7E"/>
            </a:solidFill>
            <a:effectLst/>
          </c:spPr>
          <c:invertIfNegative val="0"/>
          <c:dLbls>
            <c:numFmt formatCode="0.0&quot;%&quot;" sourceLinked="0"/>
            <c:txPr>
              <a:bodyPr/>
              <a:lstStyle/>
              <a:p>
                <a:pPr>
                  <a:defRPr b="0" i="0" strike="noStrike" sz="950" u="none">
                    <a:solidFill>
                      <a:srgbClr val="2B2622"/>
                    </a:solidFill>
                    <a:latin typeface="Meiryo"/>
                  </a:defRPr>
                </a:pPr>
              </a:p>
            </c:txPr>
            <c:showLegendKey val="0"/>
            <c:showVal val="1"/>
            <c:showCatName val="0"/>
            <c:showSerName val="0"/>
            <c:showPercent val="0"/>
            <c:showBubbleSize val="0"/>
            <c:showLeaderLines val="0"/>
          </c:dLbls>
          <c:cat>
            <c:multiLvlStrRef>
              <c:f>Sheet1!$A$2:$A$5</c:f>
              <c:multiLvlStrCache>
                <c:ptCount val="4"/>
                <c:lvl>
                  <c:pt idx="0">
                    <c:v>9ヶ月</c:v>
                  </c:pt>
                  <c:pt idx="1">
                    <c:v>12ヶ月</c:v>
                  </c:pt>
                  <c:pt idx="2">
                    <c:v>15ヶ月</c:v>
                  </c:pt>
                  <c:pt idx="3">
                    <c:v>18ヶ月</c:v>
                  </c:pt>
                </c:lvl>
              </c:multiLvlStrCache>
            </c:multiLvlStrRef>
          </c:cat>
          <c:val>
            <c:numRef>
              <c:f>Sheet1!$D$2:$D$5</c:f>
              <c:numCache>
                <c:formatCode>General</c:formatCode>
                <c:ptCount val="4"/>
                <c:pt idx="0">
                  <c:v>21.4</c:v>
                </c:pt>
                <c:pt idx="1">
                  <c:v>13.6</c:v>
                </c:pt>
                <c:pt idx="2">
                  <c:v>9.7</c:v>
                </c:pt>
                <c:pt idx="3">
                  <c:v>9.5</c:v>
                </c:pt>
              </c:numCache>
            </c:numRef>
          </c:val>
        </c:ser>
        <c:dLbls>
          <c:numFmt formatCode="0.0&quot;%&quot;" sourceLinked="0"/>
          <c:txPr>
            <a:bodyPr/>
            <a:lstStyle/>
            <a:p>
              <a:pPr>
                <a:defRPr b="0" i="0" strike="noStrike" sz="950" u="none">
                  <a:solidFill>
                    <a:srgbClr val="2B2622"/>
                  </a:solidFill>
                  <a:latin typeface="Meiryo"/>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6F665F"/>
                </a:solidFill>
                <a:latin typeface="Meiryo"/>
              </a:defRPr>
            </a:pPr>
            <a:endParaRPr lang="en-US"/>
          </a:p>
        </c:txPr>
        <c:crossAx val="2094734552"/>
        <c:crosses val="autoZero"/>
        <c:auto val="1"/>
        <c:lblAlgn val="ctr"/>
        <c:noMultiLvlLbl val="1"/>
      </c:catAx>
      <c:valAx>
        <c:axId val="2094734552"/>
        <c:scaling>
          <c:orientation val="minMax"/>
          <c:max val="36"/>
          <c:min val="0"/>
        </c:scaling>
        <c:delete val="0"/>
        <c:axPos val="l"/>
        <c:majorGridlines>
          <c:spPr>
            <a:ln w="7620" cap="flat">
              <a:solidFill>
                <a:srgbClr val="E6DCCB"/>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9A8F84"/>
                </a:solidFill>
                <a:latin typeface="Meiryo"/>
              </a:defRPr>
            </a:pPr>
            <a:endParaRPr lang="en-US"/>
          </a:p>
        </c:txPr>
        <c:crossAx val="2094734554"/>
        <c:crosses val="autoZero"/>
        <c:crossBetween val="between"/>
      </c:valAx>
      <c:spPr>
        <a:solidFill>
          <a:srgbClr val="F5EFE4"/>
        </a:solidFill>
        <a:ln>
          <a:noFill/>
        </a:ln>
        <a:effectLst/>
      </c:spPr>
    </c:plotArea>
    <c:legend>
      <c:legendPos val="b"/>
      <c:overlay val="0"/>
      <c:txPr>
        <a:bodyPr/>
        <a:lstStyle/>
        <a:p>
          <a:pPr>
            <a:defRPr sz="950">
              <a:solidFill>
                <a:srgbClr val="6F665F"/>
              </a:solidFill>
              <a:latin typeface="Meiryo"/>
              <a:cs typeface="Meiryo"/>
            </a:defRPr>
          </a:pPr>
          <a:endParaRPr lang="en-US"/>
        </a:p>
      </c:txPr>
    </c:legend>
    <c:plotVisOnly val="1"/>
    <c:dispBlanksAs val="span"/>
  </c:chart>
  <c:spPr>
    <a:solidFill>
      <a:srgbClr val="F5EFE4"/>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WineBankは卸す時点で値入れし、出口では管理報酬以外を取らない。利益は出資比率どおり60:40で配分する。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主線は回転12ヶ月で年平均20.0%（フル稼働時の単年22.5%）。折半は廃止し出資比率でプロラタ配分。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投資家の年平均20.0%から逆算：SPC利益1.00億円を60:40で配分。投資家40百万円、WineBank60百万円。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比率が同じなので利回りはほぼ同じ。セカンドクローズは回転実績を見て判断する。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回転12ヶ月＝年間6.67億円。20%の分岐点は回転12.3ヶ月で余裕なし。</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WineBankの取り分は卸した時点で確定。出口は管理報酬のみ。分配は出資比率どおり。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免許・口座・割当の3つの壁。卸値の合理性と自己出資分の内部利益が論点。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時価75.00から24.5%控除して56.63で卸す。SPCの単位粗利は15.93。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B2C 67.60 &gt; B2B 69.30。両者の加重平均が時価75.00となる。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卸値が時価連動なので、仕入・売値の変動はSPCの粗利に効かない。効くのは値上がり率。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WineBankの値入れはSPC費用ではなく簿価に含まれる点に注意。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主線は年平均20.0%（フル稼働時の単年22.5%）。20%の分岐点は回転12.3ヶ月。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回転が一次的にリターンを決める。必要販売額は前回より小さく、実力の範囲内。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値上がり効果は約＋6.9pt。これがないと主線でも15.6%。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効く変数は回転と値上がりの2つだけ。仕入・売値は遮断される。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3シナリオはワイン価格上昇率で定義し直した（仕入・売値は遮断されるため）。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効く変数は値上がりと回転の2つ。20%の分岐点は回転12.3ヶ月。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新スキームでは卸値そのものが最大の相反論点。αの固定と第三者検証が担保。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卸値の固定・時価の算定方法・自己出資分の内部利益が新たな相反論点。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卸値が時価連動になったことで、仕入リスクは遮断され、価格変動リスクの比重が上がった。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卸値ルールと報酬二本立てを条件表に明記した。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卸値ルールの確定を第2ステップに置く。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報酬の単純さと、仕入・売値からの遮断が新スキームの訴求点。WB受取の内訳は正直に開示する。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622"/>
        </a:solidFill>
      </p:bgPr>
    </p:bg>
    <p:spTree>
      <p:nvGrpSpPr>
        <p:cNvPr id="1" name=""/>
        <p:cNvGrpSpPr/>
        <p:nvPr/>
      </p:nvGrpSpPr>
      <p:grpSpPr>
        <a:xfrm>
          <a:off x="0" y="0"/>
          <a:ext cx="0" cy="0"/>
          <a:chOff x="0" y="0"/>
          <a:chExt cx="0" cy="0"/>
        </a:xfrm>
      </p:grpSpPr>
      <p:sp>
        <p:nvSpPr>
          <p:cNvPr id="2" name="Shape 0"/>
          <p:cNvSpPr/>
          <p:nvPr/>
        </p:nvSpPr>
        <p:spPr>
          <a:xfrm>
            <a:off x="8503920" y="-2011680"/>
            <a:ext cx="5120640" cy="5120640"/>
          </a:xfrm>
          <a:prstGeom prst="ellipse">
            <a:avLst/>
          </a:prstGeom>
          <a:solidFill>
            <a:srgbClr val="1C1714"/>
          </a:solidFill>
          <a:ln w="12700">
            <a:solidFill>
              <a:srgbClr val="1C1714"/>
            </a:solidFill>
            <a:prstDash val="solid"/>
          </a:ln>
        </p:spPr>
      </p:sp>
      <p:sp>
        <p:nvSpPr>
          <p:cNvPr id="3" name="Shape 1"/>
          <p:cNvSpPr/>
          <p:nvPr/>
        </p:nvSpPr>
        <p:spPr>
          <a:xfrm>
            <a:off x="685800" y="1490472"/>
            <a:ext cx="109728" cy="109728"/>
          </a:xfrm>
          <a:prstGeom prst="ellipse">
            <a:avLst/>
          </a:prstGeom>
          <a:solidFill>
            <a:srgbClr val="A78450"/>
          </a:solidFill>
          <a:ln w="12700">
            <a:solidFill>
              <a:srgbClr val="A78450"/>
            </a:solidFill>
            <a:prstDash val="solid"/>
          </a:ln>
        </p:spPr>
      </p:sp>
      <p:sp>
        <p:nvSpPr>
          <p:cNvPr id="4" name="Text 2"/>
          <p:cNvSpPr/>
          <p:nvPr/>
        </p:nvSpPr>
        <p:spPr>
          <a:xfrm>
            <a:off x="914400" y="1371600"/>
            <a:ext cx="9144000" cy="347472"/>
          </a:xfrm>
          <a:prstGeom prst="rect">
            <a:avLst/>
          </a:prstGeom>
          <a:noFill/>
          <a:ln/>
        </p:spPr>
        <p:txBody>
          <a:bodyPr wrap="square" lIns="0" tIns="0" rIns="0" bIns="0" rtlCol="0" anchor="ctr"/>
          <a:lstStyle/>
          <a:p>
            <a:pPr indent="0" marL="0">
              <a:buNone/>
            </a:pPr>
            <a:r>
              <a:rPr lang="en-US" sz="1200" b="1" spc="100" kern="0" dirty="0">
                <a:solidFill>
                  <a:srgbClr val="C9AE7E"/>
                </a:solidFill>
                <a:latin typeface="Meiryo" pitchFamily="34" charset="0"/>
                <a:ea typeface="Meiryo" pitchFamily="34" charset="-122"/>
                <a:cs typeface="Meiryo" pitchFamily="34" charset="-120"/>
              </a:rPr>
              <a:t>WINE FUND PROPOSAL ／ ワインファンド組成のご提案</a:t>
            </a:r>
            <a:endParaRPr lang="en-US" sz="1200" dirty="0"/>
          </a:p>
        </p:txBody>
      </p:sp>
      <p:sp>
        <p:nvSpPr>
          <p:cNvPr id="5" name="Text 3"/>
          <p:cNvSpPr/>
          <p:nvPr/>
        </p:nvSpPr>
        <p:spPr>
          <a:xfrm>
            <a:off x="685800" y="1828800"/>
            <a:ext cx="8686800" cy="1737360"/>
          </a:xfrm>
          <a:prstGeom prst="rect">
            <a:avLst/>
          </a:prstGeom>
          <a:noFill/>
          <a:ln/>
        </p:spPr>
        <p:txBody>
          <a:bodyPr wrap="square" lIns="0" tIns="0" rIns="0" bIns="0" rtlCol="0" anchor="ctr"/>
          <a:lstStyle/>
          <a:p>
            <a:pPr indent="0" marL="0">
              <a:lnSpc>
                <a:spcPct val="105000"/>
              </a:lnSpc>
              <a:buNone/>
            </a:pPr>
            <a:r>
              <a:rPr lang="en-US" sz="4000" b="1" dirty="0">
                <a:solidFill>
                  <a:srgbClr val="FFFFFF"/>
                </a:solidFill>
                <a:latin typeface="Meiryo" pitchFamily="34" charset="0"/>
                <a:ea typeface="Meiryo" pitchFamily="34" charset="-122"/>
                <a:cs typeface="Meiryo" pitchFamily="34" charset="-120"/>
              </a:rPr>
              <a:t>ワインファンド（SPC）</a:t>
            </a:r>
            <a:endParaRPr lang="en-US" sz="4000" dirty="0"/>
          </a:p>
          <a:p>
            <a:pPr indent="0" marL="0">
              <a:lnSpc>
                <a:spcPct val="105000"/>
              </a:lnSpc>
              <a:buNone/>
            </a:pPr>
            <a:r>
              <a:rPr lang="en-US" sz="4000" b="1" dirty="0">
                <a:solidFill>
                  <a:srgbClr val="FFFFFF"/>
                </a:solidFill>
                <a:latin typeface="Meiryo" pitchFamily="34" charset="0"/>
                <a:ea typeface="Meiryo" pitchFamily="34" charset="-122"/>
                <a:cs typeface="Meiryo" pitchFamily="34" charset="-120"/>
              </a:rPr>
              <a:t>組成のご提案</a:t>
            </a:r>
            <a:endParaRPr lang="en-US" sz="4000" dirty="0"/>
          </a:p>
        </p:txBody>
      </p:sp>
      <p:sp>
        <p:nvSpPr>
          <p:cNvPr id="6" name="Text 4"/>
          <p:cNvSpPr/>
          <p:nvPr/>
        </p:nvSpPr>
        <p:spPr>
          <a:xfrm>
            <a:off x="685800" y="3657600"/>
            <a:ext cx="10058400" cy="548640"/>
          </a:xfrm>
          <a:prstGeom prst="rect">
            <a:avLst/>
          </a:prstGeom>
          <a:noFill/>
          <a:ln/>
        </p:spPr>
        <p:txBody>
          <a:bodyPr wrap="square" lIns="0" tIns="0" rIns="0" bIns="0" rtlCol="0" anchor="ctr"/>
          <a:lstStyle/>
          <a:p>
            <a:pPr indent="0" marL="0">
              <a:buNone/>
            </a:pPr>
            <a:r>
              <a:rPr lang="en-US" sz="1400" dirty="0">
                <a:solidFill>
                  <a:srgbClr val="E6DCCB"/>
                </a:solidFill>
                <a:latin typeface="Meiryo" pitchFamily="34" charset="0"/>
                <a:ea typeface="Meiryo" pitchFamily="34" charset="-122"/>
                <a:cs typeface="Meiryo" pitchFamily="34" charset="-120"/>
              </a:rPr>
              <a:t>〜 山本案｜出資比率でプロラタ配分・成功報酬なし ／ ファーストクローズ 5億円 → セカンドクローズ 10億円 〜</a:t>
            </a:r>
            <a:endParaRPr lang="en-US" sz="1400" dirty="0"/>
          </a:p>
        </p:txBody>
      </p:sp>
      <p:sp>
        <p:nvSpPr>
          <p:cNvPr id="7" name="Shape 5"/>
          <p:cNvSpPr/>
          <p:nvPr/>
        </p:nvSpPr>
        <p:spPr>
          <a:xfrm>
            <a:off x="685800" y="4526280"/>
            <a:ext cx="2194560" cy="18288"/>
          </a:xfrm>
          <a:prstGeom prst="rect">
            <a:avLst/>
          </a:prstGeom>
          <a:solidFill>
            <a:srgbClr val="A78450"/>
          </a:solidFill>
          <a:ln w="12700">
            <a:solidFill>
              <a:srgbClr val="A78450"/>
            </a:solidFill>
            <a:prstDash val="solid"/>
          </a:ln>
        </p:spPr>
      </p:sp>
      <p:sp>
        <p:nvSpPr>
          <p:cNvPr id="8" name="Text 6"/>
          <p:cNvSpPr/>
          <p:nvPr/>
        </p:nvSpPr>
        <p:spPr>
          <a:xfrm>
            <a:off x="685800" y="4754880"/>
            <a:ext cx="8229600" cy="411480"/>
          </a:xfrm>
          <a:prstGeom prst="rect">
            <a:avLst/>
          </a:prstGeom>
          <a:noFill/>
          <a:ln/>
        </p:spPr>
        <p:txBody>
          <a:bodyPr wrap="square" lIns="0" tIns="0" rIns="0" bIns="0" rtlCol="0" anchor="ctr"/>
          <a:lstStyle/>
          <a:p>
            <a:pPr indent="0" marL="0">
              <a:buNone/>
            </a:pPr>
            <a:r>
              <a:rPr lang="en-US" sz="1800" b="1" dirty="0">
                <a:solidFill>
                  <a:srgbClr val="FFFFFF"/>
                </a:solidFill>
                <a:latin typeface="Meiryo" pitchFamily="34" charset="0"/>
                <a:ea typeface="Meiryo" pitchFamily="34" charset="-122"/>
                <a:cs typeface="Meiryo" pitchFamily="34" charset="-120"/>
              </a:rPr>
              <a:t>株式会社WineBank</a:t>
            </a:r>
            <a:endParaRPr lang="en-US" sz="1800" dirty="0"/>
          </a:p>
        </p:txBody>
      </p:sp>
      <p:sp>
        <p:nvSpPr>
          <p:cNvPr id="9" name="Text 7"/>
          <p:cNvSpPr/>
          <p:nvPr/>
        </p:nvSpPr>
        <p:spPr>
          <a:xfrm>
            <a:off x="685800" y="5166360"/>
            <a:ext cx="8229600" cy="320040"/>
          </a:xfrm>
          <a:prstGeom prst="rect">
            <a:avLst/>
          </a:prstGeom>
          <a:noFill/>
          <a:ln/>
        </p:spPr>
        <p:txBody>
          <a:bodyPr wrap="square" lIns="0" tIns="0" rIns="0" bIns="0" rtlCol="0" anchor="ctr"/>
          <a:lstStyle/>
          <a:p>
            <a:pPr indent="0" marL="0">
              <a:buNone/>
            </a:pPr>
            <a:r>
              <a:rPr lang="en-US" sz="1100" dirty="0">
                <a:solidFill>
                  <a:srgbClr val="9A8F84"/>
                </a:solidFill>
                <a:latin typeface="Meiryo" pitchFamily="34" charset="0"/>
                <a:ea typeface="Meiryo" pitchFamily="34" charset="-122"/>
                <a:cs typeface="Meiryo" pitchFamily="34" charset="-120"/>
              </a:rPr>
              <a:t>2026年10月　／　東京都港区六本木4-12-8 第6DMJビル 2階　／　創業 1970年</a:t>
            </a:r>
            <a:endParaRPr lang="en-US" sz="1100" dirty="0"/>
          </a:p>
        </p:txBody>
      </p:sp>
      <p:sp>
        <p:nvSpPr>
          <p:cNvPr id="10" name="Text 8"/>
          <p:cNvSpPr/>
          <p:nvPr/>
        </p:nvSpPr>
        <p:spPr>
          <a:xfrm>
            <a:off x="685800" y="6446520"/>
            <a:ext cx="5486400" cy="256032"/>
          </a:xfrm>
          <a:prstGeom prst="rect">
            <a:avLst/>
          </a:prstGeom>
          <a:noFill/>
          <a:ln/>
        </p:spPr>
        <p:txBody>
          <a:bodyPr wrap="square" lIns="0" tIns="0" rIns="0" bIns="0" rtlCol="0" anchor="ctr"/>
          <a:lstStyle/>
          <a:p>
            <a:pPr indent="0" marL="0">
              <a:buNone/>
            </a:pPr>
            <a:r>
              <a:rPr lang="en-US" sz="900" dirty="0">
                <a:solidFill>
                  <a:srgbClr val="9A8F84"/>
                </a:solidFill>
                <a:latin typeface="Meiryo" pitchFamily="34" charset="0"/>
                <a:ea typeface="Meiryo" pitchFamily="34" charset="-122"/>
                <a:cs typeface="Meiryo" pitchFamily="34" charset="-120"/>
              </a:rPr>
              <a:t>Confidential</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484632"/>
            <a:ext cx="109728" cy="109728"/>
          </a:xfrm>
          <a:prstGeom prst="ellipse">
            <a:avLst/>
          </a:prstGeom>
          <a:solidFill>
            <a:srgbClr val="A78450"/>
          </a:solidFill>
          <a:ln w="12700">
            <a:solidFill>
              <a:srgbClr val="A78450"/>
            </a:solidFill>
            <a:prstDash val="solid"/>
          </a:ln>
        </p:spPr>
      </p:sp>
      <p:sp>
        <p:nvSpPr>
          <p:cNvPr id="3" name="Text 1"/>
          <p:cNvSpPr/>
          <p:nvPr/>
        </p:nvSpPr>
        <p:spPr>
          <a:xfrm>
            <a:off x="923544" y="365760"/>
            <a:ext cx="9601200" cy="329184"/>
          </a:xfrm>
          <a:prstGeom prst="rect">
            <a:avLst/>
          </a:prstGeom>
          <a:noFill/>
          <a:ln/>
        </p:spPr>
        <p:txBody>
          <a:bodyPr wrap="square" lIns="0" tIns="0" rIns="0" bIns="0" rtlCol="0" anchor="ctr"/>
          <a:lstStyle/>
          <a:p>
            <a:pPr indent="0" marL="0">
              <a:buNone/>
            </a:pPr>
            <a:r>
              <a:rPr lang="en-US" sz="1200" b="1" spc="240" kern="0" dirty="0">
                <a:solidFill>
                  <a:srgbClr val="A78450"/>
                </a:solidFill>
                <a:latin typeface="Meiryo" pitchFamily="34" charset="0"/>
                <a:ea typeface="Meiryo" pitchFamily="34" charset="-122"/>
                <a:cs typeface="Meiryo" pitchFamily="34" charset="-120"/>
              </a:rPr>
              <a:t>EXECUTIVE SUMMARY</a:t>
            </a:r>
            <a:endParaRPr lang="en-US" sz="1200" dirty="0"/>
          </a:p>
        </p:txBody>
      </p:sp>
      <p:sp>
        <p:nvSpPr>
          <p:cNvPr id="4" name="Text 2"/>
          <p:cNvSpPr/>
          <p:nvPr/>
        </p:nvSpPr>
        <p:spPr>
          <a:xfrm>
            <a:off x="658368" y="731520"/>
            <a:ext cx="10874959" cy="566928"/>
          </a:xfrm>
          <a:prstGeom prst="rect">
            <a:avLst/>
          </a:prstGeom>
          <a:noFill/>
          <a:ln/>
        </p:spPr>
        <p:txBody>
          <a:bodyPr wrap="square" lIns="0" tIns="0" rIns="0" bIns="0" rtlCol="0" anchor="ctr"/>
          <a:lstStyle/>
          <a:p>
            <a:pPr indent="0" marL="0">
              <a:buNone/>
            </a:pPr>
            <a:r>
              <a:rPr lang="en-US" sz="2600" b="1" dirty="0">
                <a:solidFill>
                  <a:srgbClr val="2B2622"/>
                </a:solidFill>
                <a:latin typeface="Meiryo" pitchFamily="34" charset="0"/>
                <a:ea typeface="Meiryo" pitchFamily="34" charset="-122"/>
                <a:cs typeface="Meiryo" pitchFamily="34" charset="-120"/>
              </a:rPr>
              <a:t>本ファンドの骨子</a:t>
            </a:r>
            <a:endParaRPr lang="en-US" sz="2600" dirty="0"/>
          </a:p>
        </p:txBody>
      </p:sp>
      <p:sp>
        <p:nvSpPr>
          <p:cNvPr id="5" name="Text 3"/>
          <p:cNvSpPr/>
          <p:nvPr/>
        </p:nvSpPr>
        <p:spPr>
          <a:xfrm>
            <a:off x="658368" y="1261872"/>
            <a:ext cx="10874959" cy="310896"/>
          </a:xfrm>
          <a:prstGeom prst="rect">
            <a:avLst/>
          </a:prstGeom>
          <a:noFill/>
          <a:ln/>
        </p:spPr>
        <p:txBody>
          <a:bodyPr wrap="square" lIns="0" tIns="0" rIns="0" bIns="0" rtlCol="0" anchor="ctr"/>
          <a:lstStyle/>
          <a:p>
            <a:pPr indent="0" marL="0">
              <a:buNone/>
            </a:pPr>
            <a:r>
              <a:rPr lang="en-US" sz="1150" dirty="0">
                <a:solidFill>
                  <a:srgbClr val="6F665F"/>
                </a:solidFill>
                <a:latin typeface="Meiryo" pitchFamily="34" charset="0"/>
                <a:ea typeface="Meiryo" pitchFamily="34" charset="-122"/>
                <a:cs typeface="Meiryo" pitchFamily="34" charset="-120"/>
              </a:rPr>
              <a:t>実物ワインの流通価格差を収益源とする、現物裏付け型の短期回転ファンド。WineBankは卸す時点で値入れし、出口では管理報酬以外を取らない。</a:t>
            </a:r>
            <a:endParaRPr lang="en-US" sz="1150" dirty="0"/>
          </a:p>
        </p:txBody>
      </p:sp>
      <p:sp>
        <p:nvSpPr>
          <p:cNvPr id="6" name="Text 4"/>
          <p:cNvSpPr/>
          <p:nvPr/>
        </p:nvSpPr>
        <p:spPr>
          <a:xfrm>
            <a:off x="658368" y="6446520"/>
            <a:ext cx="5486400" cy="256032"/>
          </a:xfrm>
          <a:prstGeom prst="rect">
            <a:avLst/>
          </a:prstGeom>
          <a:noFill/>
          <a:ln/>
        </p:spPr>
        <p:txBody>
          <a:bodyPr wrap="square" lIns="0" tIns="0" rIns="0" bIns="0" rtlCol="0" anchor="ctr"/>
          <a:lstStyle/>
          <a:p>
            <a:pPr indent="0" marL="0">
              <a:buNone/>
            </a:pPr>
            <a:r>
              <a:rPr lang="en-US" sz="900" dirty="0">
                <a:solidFill>
                  <a:srgbClr val="9A8F84"/>
                </a:solidFill>
                <a:latin typeface="Meiryo" pitchFamily="34" charset="0"/>
                <a:ea typeface="Meiryo" pitchFamily="34" charset="-122"/>
                <a:cs typeface="Meiryo" pitchFamily="34" charset="-120"/>
              </a:rPr>
              <a:t>Confidential</a:t>
            </a:r>
            <a:endParaRPr lang="en-US" sz="900" dirty="0"/>
          </a:p>
        </p:txBody>
      </p:sp>
      <p:sp>
        <p:nvSpPr>
          <p:cNvPr id="7" name="Text 5"/>
          <p:cNvSpPr/>
          <p:nvPr/>
        </p:nvSpPr>
        <p:spPr>
          <a:xfrm>
            <a:off x="10984687" y="6446520"/>
            <a:ext cx="548640" cy="256032"/>
          </a:xfrm>
          <a:prstGeom prst="rect">
            <a:avLst/>
          </a:prstGeom>
          <a:noFill/>
          <a:ln/>
        </p:spPr>
        <p:txBody>
          <a:bodyPr wrap="square" lIns="0" tIns="0" rIns="0" bIns="0" rtlCol="0" anchor="ctr"/>
          <a:lstStyle/>
          <a:p>
            <a:pPr algn="r" indent="0" marL="0">
              <a:buNone/>
            </a:pPr>
            <a:r>
              <a:rPr lang="en-US" sz="900" dirty="0">
                <a:solidFill>
                  <a:srgbClr val="9A8F84"/>
                </a:solidFill>
                <a:latin typeface="Meiryo" pitchFamily="34" charset="0"/>
                <a:ea typeface="Meiryo" pitchFamily="34" charset="-122"/>
                <a:cs typeface="Meiryo" pitchFamily="34" charset="-120"/>
              </a:rPr>
              <a:t>1</a:t>
            </a:r>
            <a:endParaRPr lang="en-US" sz="900" dirty="0"/>
          </a:p>
        </p:txBody>
      </p:sp>
      <p:sp>
        <p:nvSpPr>
          <p:cNvPr id="8" name="Shape 6"/>
          <p:cNvSpPr/>
          <p:nvPr/>
        </p:nvSpPr>
        <p:spPr>
          <a:xfrm>
            <a:off x="658368" y="1664208"/>
            <a:ext cx="2513000" cy="1481328"/>
          </a:xfrm>
          <a:prstGeom prst="roundRect">
            <a:avLst>
              <a:gd name="adj" fmla="val 4938"/>
            </a:avLst>
          </a:prstGeom>
          <a:solidFill>
            <a:srgbClr val="F5EFE4"/>
          </a:solidFill>
          <a:ln w="9525">
            <a:solidFill>
              <a:srgbClr val="E6DCCB"/>
            </a:solidFill>
            <a:prstDash val="solid"/>
          </a:ln>
          <a:effectLst>
            <a:outerShdw sx="100000" sy="100000" kx="0" ky="0" algn="bl" rotWithShape="0" blurRad="76200" dist="25400" dir="5400000">
              <a:srgbClr val="6F665F">
                <a:alpha val="18000"/>
              </a:srgbClr>
            </a:outerShdw>
          </a:effectLst>
        </p:spPr>
      </p:sp>
      <p:sp>
        <p:nvSpPr>
          <p:cNvPr id="9" name="Text 7"/>
          <p:cNvSpPr/>
          <p:nvPr/>
        </p:nvSpPr>
        <p:spPr>
          <a:xfrm>
            <a:off x="896112" y="1847088"/>
            <a:ext cx="2037512" cy="566928"/>
          </a:xfrm>
          <a:prstGeom prst="rect">
            <a:avLst/>
          </a:prstGeom>
          <a:noFill/>
          <a:ln/>
        </p:spPr>
        <p:txBody>
          <a:bodyPr wrap="square" lIns="0" tIns="0" rIns="0" bIns="0" rtlCol="0" anchor="ctr"/>
          <a:lstStyle/>
          <a:p>
            <a:pPr indent="0" marL="0">
              <a:buNone/>
            </a:pPr>
            <a:r>
              <a:rPr lang="en-US" sz="3400" b="1" dirty="0">
                <a:solidFill>
                  <a:srgbClr val="A78450"/>
                </a:solidFill>
                <a:latin typeface="Meiryo" pitchFamily="34" charset="0"/>
                <a:ea typeface="Meiryo" pitchFamily="34" charset="-122"/>
                <a:cs typeface="Meiryo" pitchFamily="34" charset="-120"/>
              </a:rPr>
              <a:t>24.5</a:t>
            </a:r>
            <a:pPr indent="0" marL="0">
              <a:buNone/>
            </a:pPr>
            <a:r>
              <a:rPr lang="en-US" sz="1250" b="1" dirty="0">
                <a:solidFill>
                  <a:srgbClr val="8C6A3A"/>
                </a:solidFill>
                <a:latin typeface="Meiryo" pitchFamily="34" charset="0"/>
                <a:ea typeface="Meiryo" pitchFamily="34" charset="-122"/>
                <a:cs typeface="Meiryo" pitchFamily="34" charset="-120"/>
              </a:rPr>
              <a:t> %</a:t>
            </a:r>
            <a:endParaRPr lang="en-US" sz="3400" dirty="0"/>
          </a:p>
        </p:txBody>
      </p:sp>
      <p:sp>
        <p:nvSpPr>
          <p:cNvPr id="10" name="Text 8"/>
          <p:cNvSpPr/>
          <p:nvPr/>
        </p:nvSpPr>
        <p:spPr>
          <a:xfrm>
            <a:off x="896112" y="2432304"/>
            <a:ext cx="2037512" cy="237744"/>
          </a:xfrm>
          <a:prstGeom prst="rect">
            <a:avLst/>
          </a:prstGeom>
          <a:noFill/>
          <a:ln/>
        </p:spPr>
        <p:txBody>
          <a:bodyPr wrap="square" lIns="0" tIns="0" rIns="0" bIns="0" rtlCol="0" anchor="ctr"/>
          <a:lstStyle/>
          <a:p>
            <a:pPr indent="0" marL="0">
              <a:buNone/>
            </a:pPr>
            <a:r>
              <a:rPr lang="en-US" sz="1100" b="1" dirty="0">
                <a:solidFill>
                  <a:srgbClr val="2B2622"/>
                </a:solidFill>
                <a:latin typeface="Meiryo" pitchFamily="34" charset="0"/>
                <a:ea typeface="Meiryo" pitchFamily="34" charset="-122"/>
                <a:cs typeface="Meiryo" pitchFamily="34" charset="-120"/>
              </a:rPr>
              <a:t>卸値の控除率 α</a:t>
            </a:r>
            <a:endParaRPr lang="en-US" sz="1100" dirty="0"/>
          </a:p>
        </p:txBody>
      </p:sp>
      <p:sp>
        <p:nvSpPr>
          <p:cNvPr id="11" name="Text 9"/>
          <p:cNvSpPr/>
          <p:nvPr/>
        </p:nvSpPr>
        <p:spPr>
          <a:xfrm>
            <a:off x="896112" y="2660904"/>
            <a:ext cx="2037512" cy="384048"/>
          </a:xfrm>
          <a:prstGeom prst="rect">
            <a:avLst/>
          </a:prstGeom>
          <a:noFill/>
          <a:ln/>
        </p:spPr>
        <p:txBody>
          <a:bodyPr wrap="square" lIns="0" tIns="0" rIns="0" bIns="0" rtlCol="0" anchor="ctr"/>
          <a:lstStyle/>
          <a:p>
            <a:pPr indent="0" marL="0">
              <a:lnSpc>
                <a:spcPct val="115000"/>
              </a:lnSpc>
              <a:buNone/>
            </a:pPr>
            <a:r>
              <a:rPr lang="en-US" sz="900" dirty="0">
                <a:solidFill>
                  <a:srgbClr val="6F665F"/>
                </a:solidFill>
                <a:latin typeface="Meiryo" pitchFamily="34" charset="0"/>
                <a:ea typeface="Meiryo" pitchFamily="34" charset="-122"/>
                <a:cs typeface="Meiryo" pitchFamily="34" charset="-120"/>
              </a:rPr>
              <a:t>時価（取得時の売値75.00）から控除してSPCへ卸す。SPC簿価は定価比56.63</a:t>
            </a:r>
            <a:endParaRPr lang="en-US" sz="900" dirty="0"/>
          </a:p>
        </p:txBody>
      </p:sp>
      <p:sp>
        <p:nvSpPr>
          <p:cNvPr id="12" name="Shape 10"/>
          <p:cNvSpPr/>
          <p:nvPr/>
        </p:nvSpPr>
        <p:spPr>
          <a:xfrm>
            <a:off x="3445688" y="1664208"/>
            <a:ext cx="2513000" cy="1481328"/>
          </a:xfrm>
          <a:prstGeom prst="roundRect">
            <a:avLst>
              <a:gd name="adj" fmla="val 4938"/>
            </a:avLst>
          </a:prstGeom>
          <a:solidFill>
            <a:srgbClr val="F5EFE4"/>
          </a:solidFill>
          <a:ln w="9525">
            <a:solidFill>
              <a:srgbClr val="E6DCCB"/>
            </a:solidFill>
            <a:prstDash val="solid"/>
          </a:ln>
          <a:effectLst>
            <a:outerShdw sx="100000" sy="100000" kx="0" ky="0" algn="bl" rotWithShape="0" blurRad="76200" dist="25400" dir="5400000">
              <a:srgbClr val="6F665F">
                <a:alpha val="18000"/>
              </a:srgbClr>
            </a:outerShdw>
          </a:effectLst>
        </p:spPr>
      </p:sp>
      <p:sp>
        <p:nvSpPr>
          <p:cNvPr id="13" name="Text 11"/>
          <p:cNvSpPr/>
          <p:nvPr/>
        </p:nvSpPr>
        <p:spPr>
          <a:xfrm>
            <a:off x="3683432" y="1847088"/>
            <a:ext cx="2037512" cy="566928"/>
          </a:xfrm>
          <a:prstGeom prst="rect">
            <a:avLst/>
          </a:prstGeom>
          <a:noFill/>
          <a:ln/>
        </p:spPr>
        <p:txBody>
          <a:bodyPr wrap="square" lIns="0" tIns="0" rIns="0" bIns="0" rtlCol="0" anchor="ctr"/>
          <a:lstStyle/>
          <a:p>
            <a:pPr indent="0" marL="0">
              <a:buNone/>
            </a:pPr>
            <a:r>
              <a:rPr lang="en-US" sz="2600" b="1" dirty="0">
                <a:solidFill>
                  <a:srgbClr val="A78450"/>
                </a:solidFill>
                <a:latin typeface="Meiryo" pitchFamily="34" charset="0"/>
                <a:ea typeface="Meiryo" pitchFamily="34" charset="-122"/>
                <a:cs typeface="Meiryo" pitchFamily="34" charset="-120"/>
              </a:rPr>
              <a:t>60 : 40</a:t>
            </a:r>
            <a:pPr indent="0" marL="0">
              <a:buNone/>
            </a:pPr>
            <a:endParaRPr lang="en-US" sz="2600" dirty="0"/>
          </a:p>
        </p:txBody>
      </p:sp>
      <p:sp>
        <p:nvSpPr>
          <p:cNvPr id="14" name="Text 12"/>
          <p:cNvSpPr/>
          <p:nvPr/>
        </p:nvSpPr>
        <p:spPr>
          <a:xfrm>
            <a:off x="3683432" y="2432304"/>
            <a:ext cx="2037512" cy="237744"/>
          </a:xfrm>
          <a:prstGeom prst="rect">
            <a:avLst/>
          </a:prstGeom>
          <a:noFill/>
          <a:ln/>
        </p:spPr>
        <p:txBody>
          <a:bodyPr wrap="square" lIns="0" tIns="0" rIns="0" bIns="0" rtlCol="0" anchor="ctr"/>
          <a:lstStyle/>
          <a:p>
            <a:pPr indent="0" marL="0">
              <a:buNone/>
            </a:pPr>
            <a:r>
              <a:rPr lang="en-US" sz="1100" b="1" dirty="0">
                <a:solidFill>
                  <a:srgbClr val="2B2622"/>
                </a:solidFill>
                <a:latin typeface="Meiryo" pitchFamily="34" charset="0"/>
                <a:ea typeface="Meiryo" pitchFamily="34" charset="-122"/>
                <a:cs typeface="Meiryo" pitchFamily="34" charset="-120"/>
              </a:rPr>
              <a:t>利益の配分（WB：投資家）</a:t>
            </a:r>
            <a:endParaRPr lang="en-US" sz="1100" dirty="0"/>
          </a:p>
        </p:txBody>
      </p:sp>
      <p:sp>
        <p:nvSpPr>
          <p:cNvPr id="15" name="Text 13"/>
          <p:cNvSpPr/>
          <p:nvPr/>
        </p:nvSpPr>
        <p:spPr>
          <a:xfrm>
            <a:off x="3683432" y="2660904"/>
            <a:ext cx="2037512" cy="384048"/>
          </a:xfrm>
          <a:prstGeom prst="rect">
            <a:avLst/>
          </a:prstGeom>
          <a:noFill/>
          <a:ln/>
        </p:spPr>
        <p:txBody>
          <a:bodyPr wrap="square" lIns="0" tIns="0" rIns="0" bIns="0" rtlCol="0" anchor="ctr"/>
          <a:lstStyle/>
          <a:p>
            <a:pPr indent="0" marL="0">
              <a:lnSpc>
                <a:spcPct val="115000"/>
              </a:lnSpc>
              <a:buNone/>
            </a:pPr>
            <a:r>
              <a:rPr lang="en-US" sz="900" dirty="0">
                <a:solidFill>
                  <a:srgbClr val="6F665F"/>
                </a:solidFill>
                <a:latin typeface="Meiryo" pitchFamily="34" charset="0"/>
                <a:ea typeface="Meiryo" pitchFamily="34" charset="-122"/>
                <a:cs typeface="Meiryo" pitchFamily="34" charset="-120"/>
              </a:rPr>
              <a:t>出資比率どおりのプロラタ配分。成功報酬（折半）は取らない</a:t>
            </a:r>
            <a:endParaRPr lang="en-US" sz="900" dirty="0"/>
          </a:p>
        </p:txBody>
      </p:sp>
      <p:sp>
        <p:nvSpPr>
          <p:cNvPr id="16" name="Shape 14"/>
          <p:cNvSpPr/>
          <p:nvPr/>
        </p:nvSpPr>
        <p:spPr>
          <a:xfrm>
            <a:off x="6233008" y="1664208"/>
            <a:ext cx="2513000" cy="1481328"/>
          </a:xfrm>
          <a:prstGeom prst="roundRect">
            <a:avLst>
              <a:gd name="adj" fmla="val 4938"/>
            </a:avLst>
          </a:prstGeom>
          <a:solidFill>
            <a:srgbClr val="F5EFE4"/>
          </a:solidFill>
          <a:ln w="9525">
            <a:solidFill>
              <a:srgbClr val="E6DCCB"/>
            </a:solidFill>
            <a:prstDash val="solid"/>
          </a:ln>
          <a:effectLst>
            <a:outerShdw sx="100000" sy="100000" kx="0" ky="0" algn="bl" rotWithShape="0" blurRad="76200" dist="25400" dir="5400000">
              <a:srgbClr val="6F665F">
                <a:alpha val="18000"/>
              </a:srgbClr>
            </a:outerShdw>
          </a:effectLst>
        </p:spPr>
      </p:sp>
      <p:sp>
        <p:nvSpPr>
          <p:cNvPr id="17" name="Text 15"/>
          <p:cNvSpPr/>
          <p:nvPr/>
        </p:nvSpPr>
        <p:spPr>
          <a:xfrm>
            <a:off x="6470752" y="1847088"/>
            <a:ext cx="2037512" cy="566928"/>
          </a:xfrm>
          <a:prstGeom prst="rect">
            <a:avLst/>
          </a:prstGeom>
          <a:noFill/>
          <a:ln/>
        </p:spPr>
        <p:txBody>
          <a:bodyPr wrap="square" lIns="0" tIns="0" rIns="0" bIns="0" rtlCol="0" anchor="ctr"/>
          <a:lstStyle/>
          <a:p>
            <a:pPr indent="0" marL="0">
              <a:buNone/>
            </a:pPr>
            <a:r>
              <a:rPr lang="en-US" sz="3400" b="1" dirty="0">
                <a:solidFill>
                  <a:srgbClr val="A78450"/>
                </a:solidFill>
                <a:latin typeface="Meiryo" pitchFamily="34" charset="0"/>
                <a:ea typeface="Meiryo" pitchFamily="34" charset="-122"/>
                <a:cs typeface="Meiryo" pitchFamily="34" charset="-120"/>
              </a:rPr>
              <a:t>12</a:t>
            </a:r>
            <a:pPr indent="0" marL="0">
              <a:buNone/>
            </a:pPr>
            <a:r>
              <a:rPr lang="en-US" sz="1250" b="1" dirty="0">
                <a:solidFill>
                  <a:srgbClr val="8C6A3A"/>
                </a:solidFill>
                <a:latin typeface="Meiryo" pitchFamily="34" charset="0"/>
                <a:ea typeface="Meiryo" pitchFamily="34" charset="-122"/>
                <a:cs typeface="Meiryo" pitchFamily="34" charset="-120"/>
              </a:rPr>
              <a:t> ヶ月</a:t>
            </a:r>
            <a:endParaRPr lang="en-US" sz="3400" dirty="0"/>
          </a:p>
        </p:txBody>
      </p:sp>
      <p:sp>
        <p:nvSpPr>
          <p:cNvPr id="18" name="Text 16"/>
          <p:cNvSpPr/>
          <p:nvPr/>
        </p:nvSpPr>
        <p:spPr>
          <a:xfrm>
            <a:off x="6470752" y="2432304"/>
            <a:ext cx="2037512" cy="237744"/>
          </a:xfrm>
          <a:prstGeom prst="rect">
            <a:avLst/>
          </a:prstGeom>
          <a:noFill/>
          <a:ln/>
        </p:spPr>
        <p:txBody>
          <a:bodyPr wrap="square" lIns="0" tIns="0" rIns="0" bIns="0" rtlCol="0" anchor="ctr"/>
          <a:lstStyle/>
          <a:p>
            <a:pPr indent="0" marL="0">
              <a:buNone/>
            </a:pPr>
            <a:r>
              <a:rPr lang="en-US" sz="1100" b="1" dirty="0">
                <a:solidFill>
                  <a:srgbClr val="2B2622"/>
                </a:solidFill>
                <a:latin typeface="Meiryo" pitchFamily="34" charset="0"/>
                <a:ea typeface="Meiryo" pitchFamily="34" charset="-122"/>
                <a:cs typeface="Meiryo" pitchFamily="34" charset="-120"/>
              </a:rPr>
              <a:t>在庫回転期間（主線）</a:t>
            </a:r>
            <a:endParaRPr lang="en-US" sz="1100" dirty="0"/>
          </a:p>
        </p:txBody>
      </p:sp>
      <p:sp>
        <p:nvSpPr>
          <p:cNvPr id="19" name="Text 17"/>
          <p:cNvSpPr/>
          <p:nvPr/>
        </p:nvSpPr>
        <p:spPr>
          <a:xfrm>
            <a:off x="6470752" y="2660904"/>
            <a:ext cx="2037512" cy="384048"/>
          </a:xfrm>
          <a:prstGeom prst="rect">
            <a:avLst/>
          </a:prstGeom>
          <a:noFill/>
          <a:ln/>
        </p:spPr>
        <p:txBody>
          <a:bodyPr wrap="square" lIns="0" tIns="0" rIns="0" bIns="0" rtlCol="0" anchor="ctr"/>
          <a:lstStyle/>
          <a:p>
            <a:pPr indent="0" marL="0">
              <a:lnSpc>
                <a:spcPct val="115000"/>
              </a:lnSpc>
              <a:buNone/>
            </a:pPr>
            <a:r>
              <a:rPr lang="en-US" sz="900" dirty="0">
                <a:solidFill>
                  <a:srgbClr val="6F665F"/>
                </a:solidFill>
                <a:latin typeface="Meiryo" pitchFamily="34" charset="0"/>
                <a:ea typeface="Meiryo" pitchFamily="34" charset="-122"/>
                <a:cs typeface="Meiryo" pitchFamily="34" charset="-120"/>
              </a:rPr>
              <a:t>最短9ヶ月、延びても15〜18ヶ月を想定レンジとする</a:t>
            </a:r>
            <a:endParaRPr lang="en-US" sz="900" dirty="0"/>
          </a:p>
        </p:txBody>
      </p:sp>
      <p:sp>
        <p:nvSpPr>
          <p:cNvPr id="20" name="Shape 18"/>
          <p:cNvSpPr/>
          <p:nvPr/>
        </p:nvSpPr>
        <p:spPr>
          <a:xfrm>
            <a:off x="9020327" y="1664208"/>
            <a:ext cx="2513000" cy="1481328"/>
          </a:xfrm>
          <a:prstGeom prst="roundRect">
            <a:avLst>
              <a:gd name="adj" fmla="val 4938"/>
            </a:avLst>
          </a:prstGeom>
          <a:solidFill>
            <a:srgbClr val="F3E9D6"/>
          </a:solidFill>
          <a:ln w="9525">
            <a:solidFill>
              <a:srgbClr val="C9AE7E"/>
            </a:solidFill>
            <a:prstDash val="solid"/>
          </a:ln>
          <a:effectLst>
            <a:outerShdw sx="100000" sy="100000" kx="0" ky="0" algn="bl" rotWithShape="0" blurRad="76200" dist="25400" dir="5400000">
              <a:srgbClr val="6F665F">
                <a:alpha val="18000"/>
              </a:srgbClr>
            </a:outerShdw>
          </a:effectLst>
        </p:spPr>
      </p:sp>
      <p:sp>
        <p:nvSpPr>
          <p:cNvPr id="21" name="Text 19"/>
          <p:cNvSpPr/>
          <p:nvPr/>
        </p:nvSpPr>
        <p:spPr>
          <a:xfrm>
            <a:off x="9258071" y="1847088"/>
            <a:ext cx="2037512" cy="566928"/>
          </a:xfrm>
          <a:prstGeom prst="rect">
            <a:avLst/>
          </a:prstGeom>
          <a:noFill/>
          <a:ln/>
        </p:spPr>
        <p:txBody>
          <a:bodyPr wrap="square" lIns="0" tIns="0" rIns="0" bIns="0" rtlCol="0" anchor="ctr"/>
          <a:lstStyle/>
          <a:p>
            <a:pPr indent="0" marL="0">
              <a:buNone/>
            </a:pPr>
            <a:r>
              <a:rPr lang="en-US" sz="3000" b="1" dirty="0">
                <a:solidFill>
                  <a:srgbClr val="A78450"/>
                </a:solidFill>
                <a:latin typeface="Meiryo" pitchFamily="34" charset="0"/>
                <a:ea typeface="Meiryo" pitchFamily="34" charset="-122"/>
                <a:cs typeface="Meiryo" pitchFamily="34" charset="-120"/>
              </a:rPr>
              <a:t>20.0</a:t>
            </a:r>
            <a:pPr indent="0" marL="0">
              <a:buNone/>
            </a:pPr>
            <a:r>
              <a:rPr lang="en-US" sz="1250" b="1" dirty="0">
                <a:solidFill>
                  <a:srgbClr val="8C6A3A"/>
                </a:solidFill>
                <a:latin typeface="Meiryo" pitchFamily="34" charset="0"/>
                <a:ea typeface="Meiryo" pitchFamily="34" charset="-122"/>
                <a:cs typeface="Meiryo" pitchFamily="34" charset="-120"/>
              </a:rPr>
              <a:t> %</a:t>
            </a:r>
            <a:endParaRPr lang="en-US" sz="3000" dirty="0"/>
          </a:p>
        </p:txBody>
      </p:sp>
      <p:sp>
        <p:nvSpPr>
          <p:cNvPr id="22" name="Text 20"/>
          <p:cNvSpPr/>
          <p:nvPr/>
        </p:nvSpPr>
        <p:spPr>
          <a:xfrm>
            <a:off x="9258071" y="2432304"/>
            <a:ext cx="2037512" cy="237744"/>
          </a:xfrm>
          <a:prstGeom prst="rect">
            <a:avLst/>
          </a:prstGeom>
          <a:noFill/>
          <a:ln/>
        </p:spPr>
        <p:txBody>
          <a:bodyPr wrap="square" lIns="0" tIns="0" rIns="0" bIns="0" rtlCol="0" anchor="ctr"/>
          <a:lstStyle/>
          <a:p>
            <a:pPr indent="0" marL="0">
              <a:buNone/>
            </a:pPr>
            <a:r>
              <a:rPr lang="en-US" sz="1100" b="1" dirty="0">
                <a:solidFill>
                  <a:srgbClr val="2B2622"/>
                </a:solidFill>
                <a:latin typeface="Meiryo" pitchFamily="34" charset="0"/>
                <a:ea typeface="Meiryo" pitchFamily="34" charset="-122"/>
                <a:cs typeface="Meiryo" pitchFamily="34" charset="-120"/>
              </a:rPr>
              <a:t>投資家利回り（年平均）</a:t>
            </a:r>
            <a:endParaRPr lang="en-US" sz="1100" dirty="0"/>
          </a:p>
        </p:txBody>
      </p:sp>
      <p:sp>
        <p:nvSpPr>
          <p:cNvPr id="23" name="Text 21"/>
          <p:cNvSpPr/>
          <p:nvPr/>
        </p:nvSpPr>
        <p:spPr>
          <a:xfrm>
            <a:off x="9258071" y="2660904"/>
            <a:ext cx="2037512" cy="384048"/>
          </a:xfrm>
          <a:prstGeom prst="rect">
            <a:avLst/>
          </a:prstGeom>
          <a:noFill/>
          <a:ln/>
        </p:spPr>
        <p:txBody>
          <a:bodyPr wrap="square" lIns="0" tIns="0" rIns="0" bIns="0" rtlCol="0" anchor="ctr"/>
          <a:lstStyle/>
          <a:p>
            <a:pPr indent="0" marL="0">
              <a:lnSpc>
                <a:spcPct val="115000"/>
              </a:lnSpc>
              <a:buNone/>
            </a:pPr>
            <a:r>
              <a:rPr lang="en-US" sz="900" dirty="0">
                <a:solidFill>
                  <a:srgbClr val="6F665F"/>
                </a:solidFill>
                <a:latin typeface="Meiryo" pitchFamily="34" charset="0"/>
                <a:ea typeface="Meiryo" pitchFamily="34" charset="-122"/>
                <a:cs typeface="Meiryo" pitchFamily="34" charset="-120"/>
              </a:rPr>
              <a:t>出資2億円に対する5年間の分配の年平均。フル稼働時の単年では22.5%</a:t>
            </a:r>
            <a:endParaRPr lang="en-US" sz="900" dirty="0"/>
          </a:p>
        </p:txBody>
      </p:sp>
      <p:sp>
        <p:nvSpPr>
          <p:cNvPr id="24" name="Shape 22"/>
          <p:cNvSpPr/>
          <p:nvPr/>
        </p:nvSpPr>
        <p:spPr>
          <a:xfrm>
            <a:off x="658368" y="3419856"/>
            <a:ext cx="274320" cy="274320"/>
          </a:xfrm>
          <a:prstGeom prst="ellipse">
            <a:avLst/>
          </a:prstGeom>
          <a:solidFill>
            <a:srgbClr val="2B2622"/>
          </a:solidFill>
          <a:ln w="12700">
            <a:solidFill>
              <a:srgbClr val="2B2622"/>
            </a:solidFill>
            <a:prstDash val="solid"/>
          </a:ln>
        </p:spPr>
      </p:sp>
      <p:sp>
        <p:nvSpPr>
          <p:cNvPr id="25" name="Text 23"/>
          <p:cNvSpPr/>
          <p:nvPr/>
        </p:nvSpPr>
        <p:spPr>
          <a:xfrm>
            <a:off x="658368" y="3419856"/>
            <a:ext cx="274320"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Meiryo" pitchFamily="34" charset="0"/>
                <a:ea typeface="Meiryo" pitchFamily="34" charset="-122"/>
                <a:cs typeface="Meiryo" pitchFamily="34" charset="-120"/>
              </a:rPr>
              <a:t>01</a:t>
            </a:r>
            <a:endParaRPr lang="en-US" sz="850" dirty="0"/>
          </a:p>
        </p:txBody>
      </p:sp>
      <p:sp>
        <p:nvSpPr>
          <p:cNvPr id="26" name="Text 24"/>
          <p:cNvSpPr/>
          <p:nvPr/>
        </p:nvSpPr>
        <p:spPr>
          <a:xfrm>
            <a:off x="1078992" y="3383280"/>
            <a:ext cx="10454335" cy="237744"/>
          </a:xfrm>
          <a:prstGeom prst="rect">
            <a:avLst/>
          </a:prstGeom>
          <a:noFill/>
          <a:ln/>
        </p:spPr>
        <p:txBody>
          <a:bodyPr wrap="square" lIns="0" tIns="0" rIns="0" bIns="0" rtlCol="0" anchor="ctr"/>
          <a:lstStyle/>
          <a:p>
            <a:pPr indent="0" marL="0">
              <a:buNone/>
            </a:pPr>
            <a:r>
              <a:rPr lang="en-US" sz="1200" b="1" dirty="0">
                <a:solidFill>
                  <a:srgbClr val="2B2622"/>
                </a:solidFill>
                <a:latin typeface="Meiryo" pitchFamily="34" charset="0"/>
                <a:ea typeface="Meiryo" pitchFamily="34" charset="-122"/>
                <a:cs typeface="Meiryo" pitchFamily="34" charset="-120"/>
              </a:rPr>
              <a:t>WineBankの取り分は、SPCへ卸す時点の値入れに一本化する。</a:t>
            </a:r>
            <a:endParaRPr lang="en-US" sz="1200" dirty="0"/>
          </a:p>
        </p:txBody>
      </p:sp>
      <p:sp>
        <p:nvSpPr>
          <p:cNvPr id="27" name="Text 25"/>
          <p:cNvSpPr/>
          <p:nvPr/>
        </p:nvSpPr>
        <p:spPr>
          <a:xfrm>
            <a:off x="1078992" y="3621024"/>
            <a:ext cx="10454335" cy="310896"/>
          </a:xfrm>
          <a:prstGeom prst="rect">
            <a:avLst/>
          </a:prstGeom>
          <a:noFill/>
          <a:ln/>
        </p:spPr>
        <p:txBody>
          <a:bodyPr wrap="square" lIns="0" tIns="0" rIns="0" bIns="0" rtlCol="0" anchor="ctr"/>
          <a:lstStyle/>
          <a:p>
            <a:pPr indent="0" marL="0">
              <a:lnSpc>
                <a:spcPct val="112000"/>
              </a:lnSpc>
              <a:buNone/>
            </a:pPr>
            <a:r>
              <a:rPr lang="en-US" sz="950" dirty="0">
                <a:solidFill>
                  <a:srgbClr val="6F665F"/>
                </a:solidFill>
                <a:latin typeface="Meiryo" pitchFamily="34" charset="0"/>
                <a:ea typeface="Meiryo" pitchFamily="34" charset="-122"/>
                <a:cs typeface="Meiryo" pitchFamily="34" charset="-120"/>
              </a:rPr>
              <a:t>時価から24.5%を控除した定価比56.63でSPCへ卸し、その値入れ（年平均56百万円）を卸した時点で受け取る。αは投資家の年平均20%を基礎に定める。売却時に取るのは管理報酬（総額の年2%）のみとする。</a:t>
            </a:r>
            <a:endParaRPr lang="en-US" sz="950" dirty="0"/>
          </a:p>
        </p:txBody>
      </p:sp>
      <p:sp>
        <p:nvSpPr>
          <p:cNvPr id="28" name="Shape 26"/>
          <p:cNvSpPr/>
          <p:nvPr/>
        </p:nvSpPr>
        <p:spPr>
          <a:xfrm>
            <a:off x="658368" y="4059936"/>
            <a:ext cx="274320" cy="274320"/>
          </a:xfrm>
          <a:prstGeom prst="ellipse">
            <a:avLst/>
          </a:prstGeom>
          <a:solidFill>
            <a:srgbClr val="2B2622"/>
          </a:solidFill>
          <a:ln w="12700">
            <a:solidFill>
              <a:srgbClr val="2B2622"/>
            </a:solidFill>
            <a:prstDash val="solid"/>
          </a:ln>
        </p:spPr>
      </p:sp>
      <p:sp>
        <p:nvSpPr>
          <p:cNvPr id="29" name="Text 27"/>
          <p:cNvSpPr/>
          <p:nvPr/>
        </p:nvSpPr>
        <p:spPr>
          <a:xfrm>
            <a:off x="658368" y="4059936"/>
            <a:ext cx="274320"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Meiryo" pitchFamily="34" charset="0"/>
                <a:ea typeface="Meiryo" pitchFamily="34" charset="-122"/>
                <a:cs typeface="Meiryo" pitchFamily="34" charset="-120"/>
              </a:rPr>
              <a:t>02</a:t>
            </a:r>
            <a:endParaRPr lang="en-US" sz="850" dirty="0"/>
          </a:p>
        </p:txBody>
      </p:sp>
      <p:sp>
        <p:nvSpPr>
          <p:cNvPr id="30" name="Text 28"/>
          <p:cNvSpPr/>
          <p:nvPr/>
        </p:nvSpPr>
        <p:spPr>
          <a:xfrm>
            <a:off x="1078992" y="4023360"/>
            <a:ext cx="10454335" cy="237744"/>
          </a:xfrm>
          <a:prstGeom prst="rect">
            <a:avLst/>
          </a:prstGeom>
          <a:noFill/>
          <a:ln/>
        </p:spPr>
        <p:txBody>
          <a:bodyPr wrap="square" lIns="0" tIns="0" rIns="0" bIns="0" rtlCol="0" anchor="ctr"/>
          <a:lstStyle/>
          <a:p>
            <a:pPr indent="0" marL="0">
              <a:buNone/>
            </a:pPr>
            <a:r>
              <a:rPr lang="en-US" sz="1200" b="1" dirty="0">
                <a:solidFill>
                  <a:srgbClr val="2B2622"/>
                </a:solidFill>
                <a:latin typeface="Meiryo" pitchFamily="34" charset="0"/>
                <a:ea typeface="Meiryo" pitchFamily="34" charset="-122"/>
                <a:cs typeface="Meiryo" pitchFamily="34" charset="-120"/>
              </a:rPr>
              <a:t>SPCの利益は出資比率どおり 60：40 で分ける。</a:t>
            </a:r>
            <a:endParaRPr lang="en-US" sz="1200" dirty="0"/>
          </a:p>
        </p:txBody>
      </p:sp>
      <p:sp>
        <p:nvSpPr>
          <p:cNvPr id="31" name="Text 29"/>
          <p:cNvSpPr/>
          <p:nvPr/>
        </p:nvSpPr>
        <p:spPr>
          <a:xfrm>
            <a:off x="1078992" y="4261104"/>
            <a:ext cx="10454335" cy="310896"/>
          </a:xfrm>
          <a:prstGeom prst="rect">
            <a:avLst/>
          </a:prstGeom>
          <a:noFill/>
          <a:ln/>
        </p:spPr>
        <p:txBody>
          <a:bodyPr wrap="square" lIns="0" tIns="0" rIns="0" bIns="0" rtlCol="0" anchor="ctr"/>
          <a:lstStyle/>
          <a:p>
            <a:pPr indent="0" marL="0">
              <a:lnSpc>
                <a:spcPct val="112000"/>
              </a:lnSpc>
              <a:buNone/>
            </a:pPr>
            <a:r>
              <a:rPr lang="en-US" sz="950" dirty="0">
                <a:solidFill>
                  <a:srgbClr val="6F665F"/>
                </a:solidFill>
                <a:latin typeface="Meiryo" pitchFamily="34" charset="0"/>
                <a:ea typeface="Meiryo" pitchFamily="34" charset="-122"/>
                <a:cs typeface="Meiryo" pitchFamily="34" charset="-120"/>
              </a:rPr>
              <a:t>成功報酬（折半）は廃止する。投資家の取分は「SPC税前利益 × 出資比率40%」であり、配分は出資比率だけで決まる。</a:t>
            </a:r>
            <a:endParaRPr lang="en-US" sz="950" dirty="0"/>
          </a:p>
        </p:txBody>
      </p:sp>
      <p:sp>
        <p:nvSpPr>
          <p:cNvPr id="32" name="Shape 30"/>
          <p:cNvSpPr/>
          <p:nvPr/>
        </p:nvSpPr>
        <p:spPr>
          <a:xfrm>
            <a:off x="658368" y="4700016"/>
            <a:ext cx="274320" cy="274320"/>
          </a:xfrm>
          <a:prstGeom prst="ellipse">
            <a:avLst/>
          </a:prstGeom>
          <a:solidFill>
            <a:srgbClr val="2B2622"/>
          </a:solidFill>
          <a:ln w="12700">
            <a:solidFill>
              <a:srgbClr val="2B2622"/>
            </a:solidFill>
            <a:prstDash val="solid"/>
          </a:ln>
        </p:spPr>
      </p:sp>
      <p:sp>
        <p:nvSpPr>
          <p:cNvPr id="33" name="Text 31"/>
          <p:cNvSpPr/>
          <p:nvPr/>
        </p:nvSpPr>
        <p:spPr>
          <a:xfrm>
            <a:off x="658368" y="4700016"/>
            <a:ext cx="274320"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Meiryo" pitchFamily="34" charset="0"/>
                <a:ea typeface="Meiryo" pitchFamily="34" charset="-122"/>
                <a:cs typeface="Meiryo" pitchFamily="34" charset="-120"/>
              </a:rPr>
              <a:t>03</a:t>
            </a:r>
            <a:endParaRPr lang="en-US" sz="850" dirty="0"/>
          </a:p>
        </p:txBody>
      </p:sp>
      <p:sp>
        <p:nvSpPr>
          <p:cNvPr id="34" name="Text 32"/>
          <p:cNvSpPr/>
          <p:nvPr/>
        </p:nvSpPr>
        <p:spPr>
          <a:xfrm>
            <a:off x="1078992" y="4663440"/>
            <a:ext cx="10454335" cy="237744"/>
          </a:xfrm>
          <a:prstGeom prst="rect">
            <a:avLst/>
          </a:prstGeom>
          <a:noFill/>
          <a:ln/>
        </p:spPr>
        <p:txBody>
          <a:bodyPr wrap="square" lIns="0" tIns="0" rIns="0" bIns="0" rtlCol="0" anchor="ctr"/>
          <a:lstStyle/>
          <a:p>
            <a:pPr indent="0" marL="0">
              <a:buNone/>
            </a:pPr>
            <a:r>
              <a:rPr lang="en-US" sz="1200" b="1" dirty="0">
                <a:solidFill>
                  <a:srgbClr val="2B2622"/>
                </a:solidFill>
                <a:latin typeface="Meiryo" pitchFamily="34" charset="0"/>
                <a:ea typeface="Meiryo" pitchFamily="34" charset="-122"/>
                <a:cs typeface="Meiryo" pitchFamily="34" charset="-120"/>
              </a:rPr>
              <a:t>投資家の利回りは、仕入価格と売値の変動から遮断される。</a:t>
            </a:r>
            <a:endParaRPr lang="en-US" sz="1200" dirty="0"/>
          </a:p>
        </p:txBody>
      </p:sp>
      <p:sp>
        <p:nvSpPr>
          <p:cNvPr id="35" name="Text 33"/>
          <p:cNvSpPr/>
          <p:nvPr/>
        </p:nvSpPr>
        <p:spPr>
          <a:xfrm>
            <a:off x="1078992" y="4901184"/>
            <a:ext cx="10454335" cy="310896"/>
          </a:xfrm>
          <a:prstGeom prst="rect">
            <a:avLst/>
          </a:prstGeom>
          <a:noFill/>
          <a:ln/>
        </p:spPr>
        <p:txBody>
          <a:bodyPr wrap="square" lIns="0" tIns="0" rIns="0" bIns="0" rtlCol="0" anchor="ctr"/>
          <a:lstStyle/>
          <a:p>
            <a:pPr indent="0" marL="0">
              <a:lnSpc>
                <a:spcPct val="112000"/>
              </a:lnSpc>
              <a:buNone/>
            </a:pPr>
            <a:r>
              <a:rPr lang="en-US" sz="950" dirty="0">
                <a:solidFill>
                  <a:srgbClr val="6F665F"/>
                </a:solidFill>
                <a:latin typeface="Meiryo" pitchFamily="34" charset="0"/>
                <a:ea typeface="Meiryo" pitchFamily="34" charset="-122"/>
                <a:cs typeface="Meiryo" pitchFamily="34" charset="-120"/>
              </a:rPr>
              <a:t>卸値が時価に連動するため、市中仕入が50→45に下がっても（＋0.0pt）、売値が5%下がっても（▲0.1pt）、投資家利回りはほとんど動かない。残る変動要因は在庫回転期間とワイン価格の上昇率になる。</a:t>
            </a:r>
            <a:endParaRPr lang="en-US" sz="950" dirty="0"/>
          </a:p>
        </p:txBody>
      </p:sp>
      <p:sp>
        <p:nvSpPr>
          <p:cNvPr id="36" name="Shape 34"/>
          <p:cNvSpPr/>
          <p:nvPr/>
        </p:nvSpPr>
        <p:spPr>
          <a:xfrm>
            <a:off x="658368" y="5340096"/>
            <a:ext cx="274320" cy="274320"/>
          </a:xfrm>
          <a:prstGeom prst="ellipse">
            <a:avLst/>
          </a:prstGeom>
          <a:solidFill>
            <a:srgbClr val="2B2622"/>
          </a:solidFill>
          <a:ln w="12700">
            <a:solidFill>
              <a:srgbClr val="2B2622"/>
            </a:solidFill>
            <a:prstDash val="solid"/>
          </a:ln>
        </p:spPr>
      </p:sp>
      <p:sp>
        <p:nvSpPr>
          <p:cNvPr id="37" name="Text 35"/>
          <p:cNvSpPr/>
          <p:nvPr/>
        </p:nvSpPr>
        <p:spPr>
          <a:xfrm>
            <a:off x="658368" y="5340096"/>
            <a:ext cx="274320"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Meiryo" pitchFamily="34" charset="0"/>
                <a:ea typeface="Meiryo" pitchFamily="34" charset="-122"/>
                <a:cs typeface="Meiryo" pitchFamily="34" charset="-120"/>
              </a:rPr>
              <a:t>04</a:t>
            </a:r>
            <a:endParaRPr lang="en-US" sz="850" dirty="0"/>
          </a:p>
        </p:txBody>
      </p:sp>
      <p:sp>
        <p:nvSpPr>
          <p:cNvPr id="38" name="Text 36"/>
          <p:cNvSpPr/>
          <p:nvPr/>
        </p:nvSpPr>
        <p:spPr>
          <a:xfrm>
            <a:off x="1078992" y="5303520"/>
            <a:ext cx="10454335" cy="237744"/>
          </a:xfrm>
          <a:prstGeom prst="rect">
            <a:avLst/>
          </a:prstGeom>
          <a:noFill/>
          <a:ln/>
        </p:spPr>
        <p:txBody>
          <a:bodyPr wrap="square" lIns="0" tIns="0" rIns="0" bIns="0" rtlCol="0" anchor="ctr"/>
          <a:lstStyle/>
          <a:p>
            <a:pPr indent="0" marL="0">
              <a:buNone/>
            </a:pPr>
            <a:r>
              <a:rPr lang="en-US" sz="1200" b="1" dirty="0">
                <a:solidFill>
                  <a:srgbClr val="2B2622"/>
                </a:solidFill>
                <a:latin typeface="Meiryo" pitchFamily="34" charset="0"/>
                <a:ea typeface="Meiryo" pitchFamily="34" charset="-122"/>
                <a:cs typeface="Meiryo" pitchFamily="34" charset="-120"/>
              </a:rPr>
              <a:t>在庫回転12ヶ月で売り切る。組入銘柄の選定と配分ルールで実現する。</a:t>
            </a:r>
            <a:endParaRPr lang="en-US" sz="1200" dirty="0"/>
          </a:p>
        </p:txBody>
      </p:sp>
      <p:sp>
        <p:nvSpPr>
          <p:cNvPr id="39" name="Text 37"/>
          <p:cNvSpPr/>
          <p:nvPr/>
        </p:nvSpPr>
        <p:spPr>
          <a:xfrm>
            <a:off x="1078992" y="5541264"/>
            <a:ext cx="10454335" cy="310896"/>
          </a:xfrm>
          <a:prstGeom prst="rect">
            <a:avLst/>
          </a:prstGeom>
          <a:noFill/>
          <a:ln/>
        </p:spPr>
        <p:txBody>
          <a:bodyPr wrap="square" lIns="0" tIns="0" rIns="0" bIns="0" rtlCol="0" anchor="ctr"/>
          <a:lstStyle/>
          <a:p>
            <a:pPr indent="0" marL="0">
              <a:lnSpc>
                <a:spcPct val="112000"/>
              </a:lnSpc>
              <a:buNone/>
            </a:pPr>
            <a:r>
              <a:rPr lang="en-US" sz="950" dirty="0">
                <a:solidFill>
                  <a:srgbClr val="6F665F"/>
                </a:solidFill>
                <a:latin typeface="Meiryo" pitchFamily="34" charset="0"/>
                <a:ea typeface="Meiryo" pitchFamily="34" charset="-122"/>
                <a:cs typeface="Meiryo" pitchFamily="34" charset="-120"/>
              </a:rPr>
              <a:t>回転12ヶ月に必要な年間販売額は6.67億円。最短9ヶ月、延びても15〜18ヶ月を想定レンジとする。</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484632"/>
            <a:ext cx="109728" cy="109728"/>
          </a:xfrm>
          <a:prstGeom prst="ellipse">
            <a:avLst/>
          </a:prstGeom>
          <a:solidFill>
            <a:srgbClr val="A78450"/>
          </a:solidFill>
          <a:ln w="12700">
            <a:solidFill>
              <a:srgbClr val="A78450"/>
            </a:solidFill>
            <a:prstDash val="solid"/>
          </a:ln>
        </p:spPr>
      </p:sp>
      <p:sp>
        <p:nvSpPr>
          <p:cNvPr id="3" name="Text 1"/>
          <p:cNvSpPr/>
          <p:nvPr/>
        </p:nvSpPr>
        <p:spPr>
          <a:xfrm>
            <a:off x="923544" y="365760"/>
            <a:ext cx="9601200" cy="329184"/>
          </a:xfrm>
          <a:prstGeom prst="rect">
            <a:avLst/>
          </a:prstGeom>
          <a:noFill/>
          <a:ln/>
        </p:spPr>
        <p:txBody>
          <a:bodyPr wrap="square" lIns="0" tIns="0" rIns="0" bIns="0" rtlCol="0" anchor="ctr"/>
          <a:lstStyle/>
          <a:p>
            <a:pPr indent="0" marL="0">
              <a:buNone/>
            </a:pPr>
            <a:r>
              <a:rPr lang="en-US" sz="1200" b="1" spc="240" kern="0" dirty="0">
                <a:solidFill>
                  <a:srgbClr val="A78450"/>
                </a:solidFill>
                <a:latin typeface="Meiryo" pitchFamily="34" charset="0"/>
                <a:ea typeface="Meiryo" pitchFamily="34" charset="-122"/>
                <a:cs typeface="Meiryo" pitchFamily="34" charset="-120"/>
              </a:rPr>
              <a:t>CAPITAL STRUCTURE</a:t>
            </a:r>
            <a:endParaRPr lang="en-US" sz="1200" dirty="0"/>
          </a:p>
        </p:txBody>
      </p:sp>
      <p:sp>
        <p:nvSpPr>
          <p:cNvPr id="4" name="Text 2"/>
          <p:cNvSpPr/>
          <p:nvPr/>
        </p:nvSpPr>
        <p:spPr>
          <a:xfrm>
            <a:off x="658368" y="731520"/>
            <a:ext cx="10874959" cy="566928"/>
          </a:xfrm>
          <a:prstGeom prst="rect">
            <a:avLst/>
          </a:prstGeom>
          <a:noFill/>
          <a:ln/>
        </p:spPr>
        <p:txBody>
          <a:bodyPr wrap="square" lIns="0" tIns="0" rIns="0" bIns="0" rtlCol="0" anchor="ctr"/>
          <a:lstStyle/>
          <a:p>
            <a:pPr indent="0" marL="0">
              <a:buNone/>
            </a:pPr>
            <a:r>
              <a:rPr lang="en-US" sz="2600" b="1" dirty="0">
                <a:solidFill>
                  <a:srgbClr val="2B2622"/>
                </a:solidFill>
                <a:latin typeface="Meiryo" pitchFamily="34" charset="0"/>
                <a:ea typeface="Meiryo" pitchFamily="34" charset="-122"/>
                <a:cs typeface="Meiryo" pitchFamily="34" charset="-120"/>
              </a:rPr>
              <a:t>資本構成とリターンの配分</a:t>
            </a:r>
            <a:endParaRPr lang="en-US" sz="2600" dirty="0"/>
          </a:p>
        </p:txBody>
      </p:sp>
      <p:sp>
        <p:nvSpPr>
          <p:cNvPr id="5" name="Text 3"/>
          <p:cNvSpPr/>
          <p:nvPr/>
        </p:nvSpPr>
        <p:spPr>
          <a:xfrm>
            <a:off x="658368" y="1261872"/>
            <a:ext cx="10874959" cy="310896"/>
          </a:xfrm>
          <a:prstGeom prst="rect">
            <a:avLst/>
          </a:prstGeom>
          <a:noFill/>
          <a:ln/>
        </p:spPr>
        <p:txBody>
          <a:bodyPr wrap="square" lIns="0" tIns="0" rIns="0" bIns="0" rtlCol="0" anchor="ctr"/>
          <a:lstStyle/>
          <a:p>
            <a:pPr indent="0" marL="0">
              <a:buNone/>
            </a:pPr>
            <a:r>
              <a:rPr lang="en-US" sz="1150" dirty="0">
                <a:solidFill>
                  <a:srgbClr val="6F665F"/>
                </a:solidFill>
                <a:latin typeface="Meiryo" pitchFamily="34" charset="0"/>
                <a:ea typeface="Meiryo" pitchFamily="34" charset="-122"/>
                <a:cs typeface="Meiryo" pitchFamily="34" charset="-120"/>
              </a:rPr>
              <a:t>総額5億円をWineBankの現物出資3億円（60%）と投資家出資2億円（40%）で構成し、SPCの利益を出資比率どおりに分ける。</a:t>
            </a:r>
            <a:endParaRPr lang="en-US" sz="1150" dirty="0"/>
          </a:p>
        </p:txBody>
      </p:sp>
      <p:sp>
        <p:nvSpPr>
          <p:cNvPr id="6" name="Text 4"/>
          <p:cNvSpPr/>
          <p:nvPr/>
        </p:nvSpPr>
        <p:spPr>
          <a:xfrm>
            <a:off x="658368" y="6446520"/>
            <a:ext cx="5486400" cy="256032"/>
          </a:xfrm>
          <a:prstGeom prst="rect">
            <a:avLst/>
          </a:prstGeom>
          <a:noFill/>
          <a:ln/>
        </p:spPr>
        <p:txBody>
          <a:bodyPr wrap="square" lIns="0" tIns="0" rIns="0" bIns="0" rtlCol="0" anchor="ctr"/>
          <a:lstStyle/>
          <a:p>
            <a:pPr indent="0" marL="0">
              <a:buNone/>
            </a:pPr>
            <a:r>
              <a:rPr lang="en-US" sz="900" dirty="0">
                <a:solidFill>
                  <a:srgbClr val="9A8F84"/>
                </a:solidFill>
                <a:latin typeface="Meiryo" pitchFamily="34" charset="0"/>
                <a:ea typeface="Meiryo" pitchFamily="34" charset="-122"/>
                <a:cs typeface="Meiryo" pitchFamily="34" charset="-120"/>
              </a:rPr>
              <a:t>Confidential</a:t>
            </a:r>
            <a:endParaRPr lang="en-US" sz="900" dirty="0"/>
          </a:p>
        </p:txBody>
      </p:sp>
      <p:sp>
        <p:nvSpPr>
          <p:cNvPr id="7" name="Text 5"/>
          <p:cNvSpPr/>
          <p:nvPr/>
        </p:nvSpPr>
        <p:spPr>
          <a:xfrm>
            <a:off x="10984687" y="6446520"/>
            <a:ext cx="548640" cy="256032"/>
          </a:xfrm>
          <a:prstGeom prst="rect">
            <a:avLst/>
          </a:prstGeom>
          <a:noFill/>
          <a:ln/>
        </p:spPr>
        <p:txBody>
          <a:bodyPr wrap="square" lIns="0" tIns="0" rIns="0" bIns="0" rtlCol="0" anchor="ctr"/>
          <a:lstStyle/>
          <a:p>
            <a:pPr algn="r" indent="0" marL="0">
              <a:buNone/>
            </a:pPr>
            <a:r>
              <a:rPr lang="en-US" sz="900" dirty="0">
                <a:solidFill>
                  <a:srgbClr val="9A8F84"/>
                </a:solidFill>
                <a:latin typeface="Meiryo" pitchFamily="34" charset="0"/>
                <a:ea typeface="Meiryo" pitchFamily="34" charset="-122"/>
                <a:cs typeface="Meiryo" pitchFamily="34" charset="-120"/>
              </a:rPr>
              <a:t>2</a:t>
            </a:r>
            <a:endParaRPr lang="en-US" sz="900" dirty="0"/>
          </a:p>
        </p:txBody>
      </p:sp>
      <p:sp>
        <p:nvSpPr>
          <p:cNvPr id="8" name="Shape 6"/>
          <p:cNvSpPr/>
          <p:nvPr/>
        </p:nvSpPr>
        <p:spPr>
          <a:xfrm>
            <a:off x="658368" y="1627632"/>
            <a:ext cx="3442106" cy="1700784"/>
          </a:xfrm>
          <a:prstGeom prst="roundRect">
            <a:avLst>
              <a:gd name="adj" fmla="val 4301"/>
            </a:avLst>
          </a:prstGeom>
          <a:solidFill>
            <a:srgbClr val="F5EFE4"/>
          </a:solidFill>
          <a:ln w="9525">
            <a:solidFill>
              <a:srgbClr val="E6DCCB"/>
            </a:solidFill>
            <a:prstDash val="solid"/>
          </a:ln>
          <a:effectLst>
            <a:outerShdw sx="100000" sy="100000" kx="0" ky="0" algn="bl" rotWithShape="0" blurRad="76200" dist="25400" dir="5400000">
              <a:srgbClr val="6F665F">
                <a:alpha val="18000"/>
              </a:srgbClr>
            </a:outerShdw>
          </a:effectLst>
        </p:spPr>
      </p:sp>
      <p:sp>
        <p:nvSpPr>
          <p:cNvPr id="9" name="Text 7"/>
          <p:cNvSpPr/>
          <p:nvPr/>
        </p:nvSpPr>
        <p:spPr>
          <a:xfrm>
            <a:off x="896112" y="1773936"/>
            <a:ext cx="2966618" cy="237744"/>
          </a:xfrm>
          <a:prstGeom prst="rect">
            <a:avLst/>
          </a:prstGeom>
          <a:noFill/>
          <a:ln/>
        </p:spPr>
        <p:txBody>
          <a:bodyPr wrap="square" lIns="0" tIns="0" rIns="0" bIns="0" rtlCol="0" anchor="ctr"/>
          <a:lstStyle/>
          <a:p>
            <a:pPr indent="0" marL="0">
              <a:buNone/>
            </a:pPr>
            <a:r>
              <a:rPr lang="en-US" sz="1150" b="1" dirty="0">
                <a:solidFill>
                  <a:srgbClr val="2B2622"/>
                </a:solidFill>
                <a:latin typeface="Meiryo" pitchFamily="34" charset="0"/>
                <a:ea typeface="Meiryo" pitchFamily="34" charset="-122"/>
                <a:cs typeface="Meiryo" pitchFamily="34" charset="-120"/>
              </a:rPr>
              <a:t>現物出資｜WineBank</a:t>
            </a:r>
            <a:endParaRPr lang="en-US" sz="1150" dirty="0"/>
          </a:p>
        </p:txBody>
      </p:sp>
      <p:sp>
        <p:nvSpPr>
          <p:cNvPr id="10" name="Text 8"/>
          <p:cNvSpPr/>
          <p:nvPr/>
        </p:nvSpPr>
        <p:spPr>
          <a:xfrm>
            <a:off x="896112" y="2029968"/>
            <a:ext cx="2966618" cy="420624"/>
          </a:xfrm>
          <a:prstGeom prst="rect">
            <a:avLst/>
          </a:prstGeom>
          <a:noFill/>
          <a:ln/>
        </p:spPr>
        <p:txBody>
          <a:bodyPr wrap="square" lIns="0" tIns="0" rIns="0" bIns="0" rtlCol="0" anchor="ctr"/>
          <a:lstStyle/>
          <a:p>
            <a:pPr indent="0" marL="0">
              <a:buNone/>
            </a:pPr>
            <a:r>
              <a:rPr lang="en-US" sz="2800" b="1" dirty="0">
                <a:solidFill>
                  <a:srgbClr val="8C6A3A"/>
                </a:solidFill>
                <a:latin typeface="Meiryo" pitchFamily="34" charset="0"/>
                <a:ea typeface="Meiryo" pitchFamily="34" charset="-122"/>
                <a:cs typeface="Meiryo" pitchFamily="34" charset="-120"/>
              </a:rPr>
              <a:t>3.0</a:t>
            </a:r>
            <a:pPr indent="0" marL="0">
              <a:buNone/>
            </a:pPr>
            <a:r>
              <a:rPr lang="en-US" sz="1200" b="1" dirty="0">
                <a:solidFill>
                  <a:srgbClr val="8C6A3A"/>
                </a:solidFill>
                <a:latin typeface="Meiryo" pitchFamily="34" charset="0"/>
                <a:ea typeface="Meiryo" pitchFamily="34" charset="-122"/>
                <a:cs typeface="Meiryo" pitchFamily="34" charset="-120"/>
              </a:rPr>
              <a:t> 億円</a:t>
            </a:r>
            <a:endParaRPr lang="en-US" sz="2800" dirty="0"/>
          </a:p>
        </p:txBody>
      </p:sp>
      <p:sp>
        <p:nvSpPr>
          <p:cNvPr id="11" name="Text 9"/>
          <p:cNvSpPr/>
          <p:nvPr/>
        </p:nvSpPr>
        <p:spPr>
          <a:xfrm>
            <a:off x="896112" y="2487168"/>
            <a:ext cx="2966618" cy="219456"/>
          </a:xfrm>
          <a:prstGeom prst="rect">
            <a:avLst/>
          </a:prstGeom>
          <a:noFill/>
          <a:ln/>
        </p:spPr>
        <p:txBody>
          <a:bodyPr wrap="square" lIns="0" tIns="0" rIns="0" bIns="0" rtlCol="0" anchor="ctr"/>
          <a:lstStyle/>
          <a:p>
            <a:pPr indent="0" marL="0">
              <a:buNone/>
            </a:pPr>
            <a:r>
              <a:rPr lang="en-US" sz="950" b="1" dirty="0">
                <a:solidFill>
                  <a:srgbClr val="2B2622"/>
                </a:solidFill>
                <a:latin typeface="Meiryo" pitchFamily="34" charset="0"/>
                <a:ea typeface="Meiryo" pitchFamily="34" charset="-122"/>
                <a:cs typeface="Meiryo" pitchFamily="34" charset="-120"/>
              </a:rPr>
              <a:t>総額の60%（ワイン現物）</a:t>
            </a:r>
            <a:endParaRPr lang="en-US" sz="950" dirty="0"/>
          </a:p>
        </p:txBody>
      </p:sp>
      <p:sp>
        <p:nvSpPr>
          <p:cNvPr id="12" name="Text 10"/>
          <p:cNvSpPr/>
          <p:nvPr/>
        </p:nvSpPr>
        <p:spPr>
          <a:xfrm>
            <a:off x="896112" y="2706624"/>
            <a:ext cx="2966618" cy="566928"/>
          </a:xfrm>
          <a:prstGeom prst="rect">
            <a:avLst/>
          </a:prstGeom>
          <a:noFill/>
          <a:ln/>
        </p:spPr>
        <p:txBody>
          <a:bodyPr wrap="square" lIns="0" tIns="0" rIns="0" bIns="0" rtlCol="0" anchor="ctr"/>
          <a:lstStyle/>
          <a:p>
            <a:pPr indent="0" marL="0">
              <a:lnSpc>
                <a:spcPct val="120000"/>
              </a:lnSpc>
              <a:buNone/>
            </a:pPr>
            <a:r>
              <a:rPr lang="en-US" sz="900" dirty="0">
                <a:solidFill>
                  <a:srgbClr val="6F665F"/>
                </a:solidFill>
                <a:latin typeface="Meiryo" pitchFamily="34" charset="0"/>
                <a:ea typeface="Meiryo" pitchFamily="34" charset="-122"/>
                <a:cs typeface="Meiryo" pitchFamily="34" charset="-120"/>
              </a:rPr>
              <a:t>・自己勘定のワイン現物を拠出</a:t>
            </a:r>
            <a:endParaRPr lang="en-US" sz="900" dirty="0"/>
          </a:p>
          <a:p>
            <a:pPr indent="0" marL="0">
              <a:lnSpc>
                <a:spcPct val="120000"/>
              </a:lnSpc>
              <a:buNone/>
            </a:pPr>
            <a:r>
              <a:rPr lang="en-US" sz="900" dirty="0">
                <a:solidFill>
                  <a:srgbClr val="6F665F"/>
                </a:solidFill>
                <a:latin typeface="Meiryo" pitchFamily="34" charset="0"/>
                <a:ea typeface="Meiryo" pitchFamily="34" charset="-122"/>
                <a:cs typeface="Meiryo" pitchFamily="34" charset="-120"/>
              </a:rPr>
              <a:t>・現金の拠出ではない</a:t>
            </a:r>
            <a:endParaRPr lang="en-US" sz="900" dirty="0"/>
          </a:p>
          <a:p>
            <a:pPr indent="0" marL="0">
              <a:lnSpc>
                <a:spcPct val="120000"/>
              </a:lnSpc>
              <a:buNone/>
            </a:pPr>
            <a:r>
              <a:rPr lang="en-US" sz="900" dirty="0">
                <a:solidFill>
                  <a:srgbClr val="6F665F"/>
                </a:solidFill>
                <a:latin typeface="Meiryo" pitchFamily="34" charset="0"/>
                <a:ea typeface="Meiryo" pitchFamily="34" charset="-122"/>
                <a:cs typeface="Meiryo" pitchFamily="34" charset="-120"/>
              </a:rPr>
              <a:t>・利益は持分60%を受け取る</a:t>
            </a:r>
            <a:endParaRPr lang="en-US" sz="900" dirty="0"/>
          </a:p>
        </p:txBody>
      </p:sp>
      <p:sp>
        <p:nvSpPr>
          <p:cNvPr id="13" name="Shape 11"/>
          <p:cNvSpPr/>
          <p:nvPr/>
        </p:nvSpPr>
        <p:spPr>
          <a:xfrm>
            <a:off x="4374794" y="1627632"/>
            <a:ext cx="3442106" cy="1700784"/>
          </a:xfrm>
          <a:prstGeom prst="roundRect">
            <a:avLst>
              <a:gd name="adj" fmla="val 4301"/>
            </a:avLst>
          </a:prstGeom>
          <a:solidFill>
            <a:srgbClr val="F3E9D6"/>
          </a:solidFill>
          <a:ln w="9525">
            <a:solidFill>
              <a:srgbClr val="C9AE7E"/>
            </a:solidFill>
            <a:prstDash val="solid"/>
          </a:ln>
          <a:effectLst>
            <a:outerShdw sx="100000" sy="100000" kx="0" ky="0" algn="bl" rotWithShape="0" blurRad="76200" dist="25400" dir="5400000">
              <a:srgbClr val="6F665F">
                <a:alpha val="18000"/>
              </a:srgbClr>
            </a:outerShdw>
          </a:effectLst>
        </p:spPr>
      </p:sp>
      <p:sp>
        <p:nvSpPr>
          <p:cNvPr id="14" name="Text 12"/>
          <p:cNvSpPr/>
          <p:nvPr/>
        </p:nvSpPr>
        <p:spPr>
          <a:xfrm>
            <a:off x="4612538" y="1773936"/>
            <a:ext cx="2966618" cy="237744"/>
          </a:xfrm>
          <a:prstGeom prst="rect">
            <a:avLst/>
          </a:prstGeom>
          <a:noFill/>
          <a:ln/>
        </p:spPr>
        <p:txBody>
          <a:bodyPr wrap="square" lIns="0" tIns="0" rIns="0" bIns="0" rtlCol="0" anchor="ctr"/>
          <a:lstStyle/>
          <a:p>
            <a:pPr indent="0" marL="0">
              <a:buNone/>
            </a:pPr>
            <a:r>
              <a:rPr lang="en-US" sz="1150" b="1" dirty="0">
                <a:solidFill>
                  <a:srgbClr val="8C6A3A"/>
                </a:solidFill>
                <a:latin typeface="Meiryo" pitchFamily="34" charset="0"/>
                <a:ea typeface="Meiryo" pitchFamily="34" charset="-122"/>
                <a:cs typeface="Meiryo" pitchFamily="34" charset="-120"/>
              </a:rPr>
              <a:t>出資｜投資家</a:t>
            </a:r>
            <a:endParaRPr lang="en-US" sz="1150" dirty="0"/>
          </a:p>
        </p:txBody>
      </p:sp>
      <p:sp>
        <p:nvSpPr>
          <p:cNvPr id="15" name="Text 13"/>
          <p:cNvSpPr/>
          <p:nvPr/>
        </p:nvSpPr>
        <p:spPr>
          <a:xfrm>
            <a:off x="4612538" y="2029968"/>
            <a:ext cx="2966618" cy="420624"/>
          </a:xfrm>
          <a:prstGeom prst="rect">
            <a:avLst/>
          </a:prstGeom>
          <a:noFill/>
          <a:ln/>
        </p:spPr>
        <p:txBody>
          <a:bodyPr wrap="square" lIns="0" tIns="0" rIns="0" bIns="0" rtlCol="0" anchor="ctr"/>
          <a:lstStyle/>
          <a:p>
            <a:pPr indent="0" marL="0">
              <a:buNone/>
            </a:pPr>
            <a:r>
              <a:rPr lang="en-US" sz="2800" b="1" dirty="0">
                <a:solidFill>
                  <a:srgbClr val="8C6A3A"/>
                </a:solidFill>
                <a:latin typeface="Meiryo" pitchFamily="34" charset="0"/>
                <a:ea typeface="Meiryo" pitchFamily="34" charset="-122"/>
                <a:cs typeface="Meiryo" pitchFamily="34" charset="-120"/>
              </a:rPr>
              <a:t>2.0</a:t>
            </a:r>
            <a:pPr indent="0" marL="0">
              <a:buNone/>
            </a:pPr>
            <a:r>
              <a:rPr lang="en-US" sz="1200" b="1" dirty="0">
                <a:solidFill>
                  <a:srgbClr val="8C6A3A"/>
                </a:solidFill>
                <a:latin typeface="Meiryo" pitchFamily="34" charset="0"/>
                <a:ea typeface="Meiryo" pitchFamily="34" charset="-122"/>
                <a:cs typeface="Meiryo" pitchFamily="34" charset="-120"/>
              </a:rPr>
              <a:t> 億円</a:t>
            </a:r>
            <a:endParaRPr lang="en-US" sz="2800" dirty="0"/>
          </a:p>
        </p:txBody>
      </p:sp>
      <p:sp>
        <p:nvSpPr>
          <p:cNvPr id="16" name="Text 14"/>
          <p:cNvSpPr/>
          <p:nvPr/>
        </p:nvSpPr>
        <p:spPr>
          <a:xfrm>
            <a:off x="4612538" y="2487168"/>
            <a:ext cx="2966618" cy="219456"/>
          </a:xfrm>
          <a:prstGeom prst="rect">
            <a:avLst/>
          </a:prstGeom>
          <a:noFill/>
          <a:ln/>
        </p:spPr>
        <p:txBody>
          <a:bodyPr wrap="square" lIns="0" tIns="0" rIns="0" bIns="0" rtlCol="0" anchor="ctr"/>
          <a:lstStyle/>
          <a:p>
            <a:pPr indent="0" marL="0">
              <a:buNone/>
            </a:pPr>
            <a:r>
              <a:rPr lang="en-US" sz="950" b="1" dirty="0">
                <a:solidFill>
                  <a:srgbClr val="2B2622"/>
                </a:solidFill>
                <a:latin typeface="Meiryo" pitchFamily="34" charset="0"/>
                <a:ea typeface="Meiryo" pitchFamily="34" charset="-122"/>
                <a:cs typeface="Meiryo" pitchFamily="34" charset="-120"/>
              </a:rPr>
              <a:t>SPC利益の40%を受領（年平均20.0%）</a:t>
            </a:r>
            <a:endParaRPr lang="en-US" sz="950" dirty="0"/>
          </a:p>
        </p:txBody>
      </p:sp>
      <p:sp>
        <p:nvSpPr>
          <p:cNvPr id="17" name="Text 15"/>
          <p:cNvSpPr/>
          <p:nvPr/>
        </p:nvSpPr>
        <p:spPr>
          <a:xfrm>
            <a:off x="4612538" y="2706624"/>
            <a:ext cx="2966618" cy="566928"/>
          </a:xfrm>
          <a:prstGeom prst="rect">
            <a:avLst/>
          </a:prstGeom>
          <a:noFill/>
          <a:ln/>
        </p:spPr>
        <p:txBody>
          <a:bodyPr wrap="square" lIns="0" tIns="0" rIns="0" bIns="0" rtlCol="0" anchor="ctr"/>
          <a:lstStyle/>
          <a:p>
            <a:pPr indent="0" marL="0">
              <a:lnSpc>
                <a:spcPct val="120000"/>
              </a:lnSpc>
              <a:buNone/>
            </a:pPr>
            <a:r>
              <a:rPr lang="en-US" sz="900" dirty="0">
                <a:solidFill>
                  <a:srgbClr val="6F665F"/>
                </a:solidFill>
                <a:latin typeface="Meiryo" pitchFamily="34" charset="0"/>
                <a:ea typeface="Meiryo" pitchFamily="34" charset="-122"/>
                <a:cs typeface="Meiryo" pitchFamily="34" charset="-120"/>
              </a:rPr>
              <a:t>・匿名組合出資（1口5,000万円以上）</a:t>
            </a:r>
            <a:endParaRPr lang="en-US" sz="900" dirty="0"/>
          </a:p>
          <a:p>
            <a:pPr indent="0" marL="0">
              <a:lnSpc>
                <a:spcPct val="120000"/>
              </a:lnSpc>
              <a:buNone/>
            </a:pPr>
            <a:r>
              <a:rPr lang="en-US" sz="900" dirty="0">
                <a:solidFill>
                  <a:srgbClr val="6F665F"/>
                </a:solidFill>
                <a:latin typeface="Meiryo" pitchFamily="34" charset="0"/>
                <a:ea typeface="Meiryo" pitchFamily="34" charset="-122"/>
                <a:cs typeface="Meiryo" pitchFamily="34" charset="-120"/>
              </a:rPr>
              <a:t>・満期に元本償還</a:t>
            </a:r>
            <a:endParaRPr lang="en-US" sz="900" dirty="0"/>
          </a:p>
          <a:p>
            <a:pPr indent="0" marL="0">
              <a:lnSpc>
                <a:spcPct val="120000"/>
              </a:lnSpc>
              <a:buNone/>
            </a:pPr>
            <a:r>
              <a:rPr lang="en-US" sz="900" dirty="0">
                <a:solidFill>
                  <a:srgbClr val="6F665F"/>
                </a:solidFill>
                <a:latin typeface="Meiryo" pitchFamily="34" charset="0"/>
                <a:ea typeface="Meiryo" pitchFamily="34" charset="-122"/>
                <a:cs typeface="Meiryo" pitchFamily="34" charset="-120"/>
              </a:rPr>
              <a:t>・年1回分配（4年目以降は解約可）</a:t>
            </a:r>
            <a:endParaRPr lang="en-US" sz="900" dirty="0"/>
          </a:p>
        </p:txBody>
      </p:sp>
      <p:sp>
        <p:nvSpPr>
          <p:cNvPr id="18" name="Shape 16"/>
          <p:cNvSpPr/>
          <p:nvPr/>
        </p:nvSpPr>
        <p:spPr>
          <a:xfrm>
            <a:off x="8091221" y="1627632"/>
            <a:ext cx="3442106" cy="1700784"/>
          </a:xfrm>
          <a:prstGeom prst="roundRect">
            <a:avLst>
              <a:gd name="adj" fmla="val 4301"/>
            </a:avLst>
          </a:prstGeom>
          <a:solidFill>
            <a:srgbClr val="F5EFE4"/>
          </a:solidFill>
          <a:ln w="9525">
            <a:solidFill>
              <a:srgbClr val="E6DCCB"/>
            </a:solidFill>
            <a:prstDash val="solid"/>
          </a:ln>
          <a:effectLst>
            <a:outerShdw sx="100000" sy="100000" kx="0" ky="0" algn="bl" rotWithShape="0" blurRad="76200" dist="25400" dir="5400000">
              <a:srgbClr val="6F665F">
                <a:alpha val="18000"/>
              </a:srgbClr>
            </a:outerShdw>
          </a:effectLst>
        </p:spPr>
      </p:sp>
      <p:sp>
        <p:nvSpPr>
          <p:cNvPr id="19" name="Text 17"/>
          <p:cNvSpPr/>
          <p:nvPr/>
        </p:nvSpPr>
        <p:spPr>
          <a:xfrm>
            <a:off x="8328965" y="1773936"/>
            <a:ext cx="2966618" cy="237744"/>
          </a:xfrm>
          <a:prstGeom prst="rect">
            <a:avLst/>
          </a:prstGeom>
          <a:noFill/>
          <a:ln/>
        </p:spPr>
        <p:txBody>
          <a:bodyPr wrap="square" lIns="0" tIns="0" rIns="0" bIns="0" rtlCol="0" anchor="ctr"/>
          <a:lstStyle/>
          <a:p>
            <a:pPr indent="0" marL="0">
              <a:buNone/>
            </a:pPr>
            <a:r>
              <a:rPr lang="en-US" sz="1150" b="1" dirty="0">
                <a:solidFill>
                  <a:srgbClr val="2B2622"/>
                </a:solidFill>
                <a:latin typeface="Meiryo" pitchFamily="34" charset="0"/>
                <a:ea typeface="Meiryo" pitchFamily="34" charset="-122"/>
                <a:cs typeface="Meiryo" pitchFamily="34" charset="-120"/>
              </a:rPr>
              <a:t>WineBank受取（年平均）</a:t>
            </a:r>
            <a:endParaRPr lang="en-US" sz="1150" dirty="0"/>
          </a:p>
        </p:txBody>
      </p:sp>
      <p:sp>
        <p:nvSpPr>
          <p:cNvPr id="20" name="Text 18"/>
          <p:cNvSpPr/>
          <p:nvPr/>
        </p:nvSpPr>
        <p:spPr>
          <a:xfrm>
            <a:off x="8328965" y="2029968"/>
            <a:ext cx="2966618" cy="420624"/>
          </a:xfrm>
          <a:prstGeom prst="rect">
            <a:avLst/>
          </a:prstGeom>
          <a:noFill/>
          <a:ln/>
        </p:spPr>
        <p:txBody>
          <a:bodyPr wrap="square" lIns="0" tIns="0" rIns="0" bIns="0" rtlCol="0" anchor="ctr"/>
          <a:lstStyle/>
          <a:p>
            <a:pPr indent="0" marL="0">
              <a:buNone/>
            </a:pPr>
            <a:r>
              <a:rPr lang="en-US" sz="2800" b="1" dirty="0">
                <a:solidFill>
                  <a:srgbClr val="8C6A3A"/>
                </a:solidFill>
                <a:latin typeface="Meiryo" pitchFamily="34" charset="0"/>
                <a:ea typeface="Meiryo" pitchFamily="34" charset="-122"/>
                <a:cs typeface="Meiryo" pitchFamily="34" charset="-120"/>
              </a:rPr>
              <a:t>126</a:t>
            </a:r>
            <a:pPr indent="0" marL="0">
              <a:buNone/>
            </a:pPr>
            <a:r>
              <a:rPr lang="en-US" sz="1200" b="1" dirty="0">
                <a:solidFill>
                  <a:srgbClr val="8C6A3A"/>
                </a:solidFill>
                <a:latin typeface="Meiryo" pitchFamily="34" charset="0"/>
                <a:ea typeface="Meiryo" pitchFamily="34" charset="-122"/>
                <a:cs typeface="Meiryo" pitchFamily="34" charset="-120"/>
              </a:rPr>
              <a:t> 百万円</a:t>
            </a:r>
            <a:endParaRPr lang="en-US" sz="2800" dirty="0"/>
          </a:p>
        </p:txBody>
      </p:sp>
      <p:sp>
        <p:nvSpPr>
          <p:cNvPr id="21" name="Text 19"/>
          <p:cNvSpPr/>
          <p:nvPr/>
        </p:nvSpPr>
        <p:spPr>
          <a:xfrm>
            <a:off x="8328965" y="2487168"/>
            <a:ext cx="2966618" cy="219456"/>
          </a:xfrm>
          <a:prstGeom prst="rect">
            <a:avLst/>
          </a:prstGeom>
          <a:noFill/>
          <a:ln/>
        </p:spPr>
        <p:txBody>
          <a:bodyPr wrap="square" lIns="0" tIns="0" rIns="0" bIns="0" rtlCol="0" anchor="ctr"/>
          <a:lstStyle/>
          <a:p>
            <a:pPr indent="0" marL="0">
              <a:buNone/>
            </a:pPr>
            <a:r>
              <a:rPr lang="en-US" sz="950" b="1" dirty="0">
                <a:solidFill>
                  <a:srgbClr val="2B2622"/>
                </a:solidFill>
                <a:latin typeface="Meiryo" pitchFamily="34" charset="0"/>
                <a:ea typeface="Meiryo" pitchFamily="34" charset="-122"/>
                <a:cs typeface="Meiryo" pitchFamily="34" charset="-120"/>
              </a:rPr>
              <a:t>持分60＋値入れ56＋管理報酬10（百万円）</a:t>
            </a:r>
            <a:endParaRPr lang="en-US" sz="950" dirty="0"/>
          </a:p>
        </p:txBody>
      </p:sp>
      <p:sp>
        <p:nvSpPr>
          <p:cNvPr id="22" name="Text 20"/>
          <p:cNvSpPr/>
          <p:nvPr/>
        </p:nvSpPr>
        <p:spPr>
          <a:xfrm>
            <a:off x="8328965" y="2706624"/>
            <a:ext cx="2966618" cy="566928"/>
          </a:xfrm>
          <a:prstGeom prst="rect">
            <a:avLst/>
          </a:prstGeom>
          <a:noFill/>
          <a:ln/>
        </p:spPr>
        <p:txBody>
          <a:bodyPr wrap="square" lIns="0" tIns="0" rIns="0" bIns="0" rtlCol="0" anchor="ctr"/>
          <a:lstStyle/>
          <a:p>
            <a:pPr indent="0" marL="0">
              <a:lnSpc>
                <a:spcPct val="120000"/>
              </a:lnSpc>
              <a:buNone/>
            </a:pPr>
            <a:r>
              <a:rPr lang="en-US" sz="900" dirty="0">
                <a:solidFill>
                  <a:srgbClr val="6F665F"/>
                </a:solidFill>
                <a:latin typeface="Meiryo" pitchFamily="34" charset="0"/>
                <a:ea typeface="Meiryo" pitchFamily="34" charset="-122"/>
                <a:cs typeface="Meiryo" pitchFamily="34" charset="-120"/>
              </a:rPr>
              <a:t>・値入れは卸した時点で受領</a:t>
            </a:r>
            <a:endParaRPr lang="en-US" sz="900" dirty="0"/>
          </a:p>
          <a:p>
            <a:pPr indent="0" marL="0">
              <a:lnSpc>
                <a:spcPct val="120000"/>
              </a:lnSpc>
              <a:buNone/>
            </a:pPr>
            <a:r>
              <a:rPr lang="en-US" sz="900" dirty="0">
                <a:solidFill>
                  <a:srgbClr val="6F665F"/>
                </a:solidFill>
                <a:latin typeface="Meiryo" pitchFamily="34" charset="0"/>
                <a:ea typeface="Meiryo" pitchFamily="34" charset="-122"/>
                <a:cs typeface="Meiryo" pitchFamily="34" charset="-120"/>
              </a:rPr>
              <a:t>・出口の成功報酬はなし</a:t>
            </a:r>
            <a:endParaRPr lang="en-US" sz="900" dirty="0"/>
          </a:p>
          <a:p>
            <a:pPr indent="0" marL="0">
              <a:lnSpc>
                <a:spcPct val="120000"/>
              </a:lnSpc>
              <a:buNone/>
            </a:pPr>
            <a:r>
              <a:rPr lang="en-US" sz="900" dirty="0">
                <a:solidFill>
                  <a:srgbClr val="6F665F"/>
                </a:solidFill>
                <a:latin typeface="Meiryo" pitchFamily="34" charset="0"/>
                <a:ea typeface="Meiryo" pitchFamily="34" charset="-122"/>
                <a:cs typeface="Meiryo" pitchFamily="34" charset="-120"/>
              </a:rPr>
              <a:t>・管理報酬は総額の年2%</a:t>
            </a:r>
            <a:endParaRPr lang="en-US" sz="9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58368" y="3419856"/>
          <a:ext cx="10874959" cy="914400"/>
        </p:xfrm>
        <a:graphic>
          <a:graphicData uri="http://schemas.openxmlformats.org/drawingml/2006/table">
            <a:tbl>
              <a:tblPr/>
              <a:tblGrid>
                <a:gridCol w="2798064"/>
                <a:gridCol w="1481328"/>
                <a:gridCol w="6592824"/>
              </a:tblGrid>
              <a:tr h="288036">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項目</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2B2622"/>
                    </a:solidFill>
                  </a:tcPr>
                </a:tc>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金額</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2B2622"/>
                    </a:solidFill>
                  </a:tcPr>
                </a:tc>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内容</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2B2622"/>
                    </a:solidFill>
                  </a:tcPr>
                </a:tc>
              </a:tr>
              <a:tr h="288036">
                <a:tc>
                  <a:txBody>
                    <a:bodyPr/>
                    <a:lstStyle/>
                    <a:p>
                      <a:pPr algn="ctr" indent="0" marL="0">
                        <a:buNone/>
                      </a:pPr>
                      <a:r>
                        <a:rPr lang="en-US" sz="850" dirty="0">
                          <a:solidFill>
                            <a:srgbClr val="2B2622"/>
                          </a:solidFill>
                          <a:latin typeface="Meiryo" pitchFamily="34" charset="0"/>
                          <a:ea typeface="Meiryo" pitchFamily="34" charset="-122"/>
                          <a:cs typeface="Meiryo" pitchFamily="34" charset="-120"/>
                        </a:rPr>
                        <a:t>① WineBankの値入れ</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8C6A3A"/>
                          </a:solidFill>
                          <a:latin typeface="Meiryo" pitchFamily="34" charset="0"/>
                          <a:ea typeface="Meiryo" pitchFamily="34" charset="-122"/>
                          <a:cs typeface="Meiryo" pitchFamily="34" charset="-120"/>
                        </a:rPr>
                        <a:t>56百万円</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l" indent="0" marL="0">
                        <a:buNone/>
                      </a:pPr>
                      <a:r>
                        <a:rPr lang="en-US" sz="850" dirty="0">
                          <a:solidFill>
                            <a:srgbClr val="2B2622"/>
                          </a:solidFill>
                          <a:latin typeface="Meiryo" pitchFamily="34" charset="0"/>
                          <a:ea typeface="Meiryo" pitchFamily="34" charset="-122"/>
                          <a:cs typeface="Meiryo" pitchFamily="34" charset="-120"/>
                        </a:rPr>
                        <a:t>時価75.00から24.5%控除の定価比56.63で卸す。組入れ・入替えの都度受領し、SPC費用には計上しない</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r>
              <a:tr h="288036">
                <a:tc>
                  <a:txBody>
                    <a:bodyPr/>
                    <a:lstStyle/>
                    <a:p>
                      <a:pPr algn="ctr" indent="0" marL="0">
                        <a:buNone/>
                      </a:pPr>
                      <a:r>
                        <a:rPr lang="en-US" sz="850" dirty="0">
                          <a:solidFill>
                            <a:srgbClr val="2B2622"/>
                          </a:solidFill>
                          <a:latin typeface="Meiryo" pitchFamily="34" charset="0"/>
                          <a:ea typeface="Meiryo" pitchFamily="34" charset="-122"/>
                          <a:cs typeface="Meiryo" pitchFamily="34" charset="-120"/>
                        </a:rPr>
                        <a:t>② SPCの利益</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2B2622"/>
                          </a:solidFill>
                          <a:latin typeface="Meiryo" pitchFamily="34" charset="0"/>
                          <a:ea typeface="Meiryo" pitchFamily="34" charset="-122"/>
                          <a:cs typeface="Meiryo" pitchFamily="34" charset="-120"/>
                        </a:rPr>
                        <a:t>1.00億円</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l" indent="0" marL="0">
                        <a:buNone/>
                      </a:pPr>
                      <a:r>
                        <a:rPr lang="en-US" sz="850" dirty="0">
                          <a:solidFill>
                            <a:srgbClr val="2B2622"/>
                          </a:solidFill>
                          <a:latin typeface="Meiryo" pitchFamily="34" charset="0"/>
                          <a:ea typeface="Meiryo" pitchFamily="34" charset="-122"/>
                          <a:cs typeface="Meiryo" pitchFamily="34" charset="-120"/>
                        </a:rPr>
                        <a:t>在庫回転12ヶ月。管理報酬10百万円ほか費用控除後。②の40%が投資家の年平均20.0%となる水準から逆算</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r>
              <a:tr h="288036">
                <a:tc>
                  <a:txBody>
                    <a:bodyPr/>
                    <a:lstStyle/>
                    <a:p>
                      <a:pPr algn="ctr" indent="0" marL="0">
                        <a:buNone/>
                      </a:pPr>
                      <a:r>
                        <a:rPr lang="en-US" sz="850" dirty="0">
                          <a:solidFill>
                            <a:srgbClr val="2B2622"/>
                          </a:solidFill>
                          <a:latin typeface="Meiryo" pitchFamily="34" charset="0"/>
                          <a:ea typeface="Meiryo" pitchFamily="34" charset="-122"/>
                          <a:cs typeface="Meiryo" pitchFamily="34" charset="-120"/>
                        </a:rPr>
                        <a:t>　├ 投資家（出資比率40%）</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8C6A3A"/>
                          </a:solidFill>
                          <a:latin typeface="Meiryo" pitchFamily="34" charset="0"/>
                          <a:ea typeface="Meiryo" pitchFamily="34" charset="-122"/>
                          <a:cs typeface="Meiryo" pitchFamily="34" charset="-120"/>
                        </a:rPr>
                        <a:t>40百万円</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l" indent="0" marL="0">
                        <a:buNone/>
                      </a:pPr>
                      <a:r>
                        <a:rPr lang="en-US" sz="850" b="1" dirty="0">
                          <a:solidFill>
                            <a:srgbClr val="8C6A3A"/>
                          </a:solidFill>
                          <a:latin typeface="Meiryo" pitchFamily="34" charset="0"/>
                          <a:ea typeface="Meiryo" pitchFamily="34" charset="-122"/>
                          <a:cs typeface="Meiryo" pitchFamily="34" charset="-120"/>
                        </a:rPr>
                        <a:t>出資2億円に対し 年平均利回り 20.0%</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r>
              <a:tr h="288036">
                <a:tc>
                  <a:txBody>
                    <a:bodyPr/>
                    <a:lstStyle/>
                    <a:p>
                      <a:pPr algn="ctr" indent="0" marL="0">
                        <a:buNone/>
                      </a:pPr>
                      <a:r>
                        <a:rPr lang="en-US" sz="850" dirty="0">
                          <a:solidFill>
                            <a:srgbClr val="2B2622"/>
                          </a:solidFill>
                          <a:latin typeface="Meiryo" pitchFamily="34" charset="0"/>
                          <a:ea typeface="Meiryo" pitchFamily="34" charset="-122"/>
                          <a:cs typeface="Meiryo" pitchFamily="34" charset="-120"/>
                        </a:rPr>
                        <a:t>　└ WineBank（出資比率60%）</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622"/>
                          </a:solidFill>
                          <a:latin typeface="Meiryo" pitchFamily="34" charset="0"/>
                          <a:ea typeface="Meiryo" pitchFamily="34" charset="-122"/>
                          <a:cs typeface="Meiryo" pitchFamily="34" charset="-120"/>
                        </a:rPr>
                        <a:t>60百万円</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l" indent="0" marL="0">
                        <a:buNone/>
                      </a:pPr>
                      <a:r>
                        <a:rPr lang="en-US" sz="850" dirty="0">
                          <a:solidFill>
                            <a:srgbClr val="2B2622"/>
                          </a:solidFill>
                          <a:latin typeface="Meiryo" pitchFamily="34" charset="0"/>
                          <a:ea typeface="Meiryo" pitchFamily="34" charset="-122"/>
                          <a:cs typeface="Meiryo" pitchFamily="34" charset="-120"/>
                        </a:rPr>
                        <a:t>現物出資分に対する持分。成功報酬（折半）は取らない</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r>
              <a:tr h="288036">
                <a:tc>
                  <a:txBody>
                    <a:bodyPr/>
                    <a:lstStyle/>
                    <a:p>
                      <a:pPr algn="ctr" indent="0" marL="0">
                        <a:buNone/>
                      </a:pPr>
                      <a:r>
                        <a:rPr lang="en-US" sz="850" dirty="0">
                          <a:solidFill>
                            <a:srgbClr val="2B2622"/>
                          </a:solidFill>
                          <a:latin typeface="Meiryo" pitchFamily="34" charset="0"/>
                          <a:ea typeface="Meiryo" pitchFamily="34" charset="-122"/>
                          <a:cs typeface="Meiryo" pitchFamily="34" charset="-120"/>
                        </a:rPr>
                        <a:t>③ 管理報酬</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622"/>
                          </a:solidFill>
                          <a:latin typeface="Meiryo" pitchFamily="34" charset="0"/>
                          <a:ea typeface="Meiryo" pitchFamily="34" charset="-122"/>
                          <a:cs typeface="Meiryo" pitchFamily="34" charset="-120"/>
                        </a:rPr>
                        <a:t>10百万円</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l" indent="0" marL="0">
                        <a:buNone/>
                      </a:pPr>
                      <a:r>
                        <a:rPr lang="en-US" sz="850" dirty="0">
                          <a:solidFill>
                            <a:srgbClr val="2B2622"/>
                          </a:solidFill>
                          <a:latin typeface="Meiryo" pitchFamily="34" charset="0"/>
                          <a:ea typeface="Meiryo" pitchFamily="34" charset="-122"/>
                          <a:cs typeface="Meiryo" pitchFamily="34" charset="-120"/>
                        </a:rPr>
                        <a:t>総額の年2%。売却時に取るのはこれのみ</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r>
              <a:tr h="288036">
                <a:tc>
                  <a:txBody>
                    <a:bodyPr/>
                    <a:lstStyle/>
                    <a:p>
                      <a:pPr algn="ctr" indent="0" marL="0">
                        <a:buNone/>
                      </a:pPr>
                      <a:r>
                        <a:rPr lang="en-US" sz="850" dirty="0">
                          <a:solidFill>
                            <a:srgbClr val="2B2622"/>
                          </a:solidFill>
                          <a:latin typeface="Meiryo" pitchFamily="34" charset="0"/>
                          <a:ea typeface="Meiryo" pitchFamily="34" charset="-122"/>
                          <a:cs typeface="Meiryo" pitchFamily="34" charset="-120"/>
                        </a:rPr>
                        <a:t>WineBank受取合計（①＋②の60%＋③）</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622"/>
                          </a:solidFill>
                          <a:latin typeface="Meiryo" pitchFamily="34" charset="0"/>
                          <a:ea typeface="Meiryo" pitchFamily="34" charset="-122"/>
                          <a:cs typeface="Meiryo" pitchFamily="34" charset="-120"/>
                        </a:rPr>
                        <a:t>126百万円</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l" indent="0" marL="0">
                        <a:buNone/>
                      </a:pPr>
                      <a:r>
                        <a:rPr lang="en-US" sz="850" dirty="0">
                          <a:solidFill>
                            <a:srgbClr val="2B2622"/>
                          </a:solidFill>
                          <a:latin typeface="Meiryo" pitchFamily="34" charset="0"/>
                          <a:ea typeface="Meiryo" pitchFamily="34" charset="-122"/>
                          <a:cs typeface="Meiryo" pitchFamily="34" charset="-120"/>
                        </a:rPr>
                        <a:t>現金の拠出はなく、ワイン現物の拠出と実務の遂行で受け取る</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r>
            </a:tbl>
          </a:graphicData>
        </a:graphic>
      </p:graphicFrame>
      <p:sp>
        <p:nvSpPr>
          <p:cNvPr id="24" name="Shape 21"/>
          <p:cNvSpPr/>
          <p:nvPr/>
        </p:nvSpPr>
        <p:spPr>
          <a:xfrm>
            <a:off x="658368" y="5504688"/>
            <a:ext cx="10874959" cy="859536"/>
          </a:xfrm>
          <a:prstGeom prst="roundRect">
            <a:avLst>
              <a:gd name="adj" fmla="val 8511"/>
            </a:avLst>
          </a:prstGeom>
          <a:solidFill>
            <a:srgbClr val="F3E9D6"/>
          </a:solidFill>
          <a:ln w="9525">
            <a:solidFill>
              <a:srgbClr val="C9AE7E"/>
            </a:solidFill>
            <a:prstDash val="solid"/>
          </a:ln>
          <a:effectLst>
            <a:outerShdw sx="100000" sy="100000" kx="0" ky="0" algn="bl" rotWithShape="0" blurRad="76200" dist="25400" dir="5400000">
              <a:srgbClr val="6F665F">
                <a:alpha val="18000"/>
              </a:srgbClr>
            </a:outerShdw>
          </a:effectLst>
        </p:spPr>
      </p:sp>
      <p:sp>
        <p:nvSpPr>
          <p:cNvPr id="25" name="Text 22"/>
          <p:cNvSpPr/>
          <p:nvPr/>
        </p:nvSpPr>
        <p:spPr>
          <a:xfrm>
            <a:off x="932688" y="5577840"/>
            <a:ext cx="5669280" cy="201168"/>
          </a:xfrm>
          <a:prstGeom prst="rect">
            <a:avLst/>
          </a:prstGeom>
          <a:noFill/>
          <a:ln/>
        </p:spPr>
        <p:txBody>
          <a:bodyPr wrap="square" lIns="0" tIns="0" rIns="0" bIns="0" rtlCol="0" anchor="ctr"/>
          <a:lstStyle/>
          <a:p>
            <a:pPr indent="0" marL="0">
              <a:buNone/>
            </a:pPr>
            <a:r>
              <a:rPr lang="en-US" sz="1050" b="1" dirty="0">
                <a:solidFill>
                  <a:srgbClr val="8C6A3A"/>
                </a:solidFill>
                <a:latin typeface="Meiryo" pitchFamily="34" charset="0"/>
                <a:ea typeface="Meiryo" pitchFamily="34" charset="-122"/>
                <a:cs typeface="Meiryo" pitchFamily="34" charset="-120"/>
              </a:rPr>
              <a:t>前回資料（原価卸＋折半）からの変更（回転12ヶ月・投資家の年平均利回り）</a:t>
            </a:r>
            <a:endParaRPr lang="en-US" sz="1050" dirty="0"/>
          </a:p>
        </p:txBody>
      </p:sp>
      <p:sp>
        <p:nvSpPr>
          <p:cNvPr id="26" name="Text 23"/>
          <p:cNvSpPr/>
          <p:nvPr/>
        </p:nvSpPr>
        <p:spPr>
          <a:xfrm>
            <a:off x="932688" y="5797296"/>
            <a:ext cx="10326319" cy="219456"/>
          </a:xfrm>
          <a:prstGeom prst="rect">
            <a:avLst/>
          </a:prstGeom>
          <a:noFill/>
          <a:ln/>
        </p:spPr>
        <p:txBody>
          <a:bodyPr wrap="square" lIns="0" tIns="0" rIns="0" bIns="0" rtlCol="0" anchor="ctr"/>
          <a:lstStyle/>
          <a:p>
            <a:pPr indent="0" marL="0">
              <a:buNone/>
            </a:pPr>
            <a:r>
              <a:rPr lang="en-US" sz="950" dirty="0">
                <a:solidFill>
                  <a:srgbClr val="6F665F"/>
                </a:solidFill>
                <a:latin typeface="Meiryo" pitchFamily="34" charset="0"/>
                <a:ea typeface="Meiryo" pitchFamily="34" charset="-122"/>
                <a:cs typeface="Meiryo" pitchFamily="34" charset="-120"/>
              </a:rPr>
              <a:t>① 前回：原価50.50で卸し出口で折半 </a:t>
            </a:r>
            <a:pPr indent="0" marL="0">
              <a:buNone/>
            </a:pPr>
            <a:r>
              <a:rPr lang="en-US" sz="1200" b="1" dirty="0">
                <a:solidFill>
                  <a:srgbClr val="2B2622"/>
                </a:solidFill>
                <a:latin typeface="Meiryo" pitchFamily="34" charset="0"/>
                <a:ea typeface="Meiryo" pitchFamily="34" charset="-122"/>
                <a:cs typeface="Meiryo" pitchFamily="34" charset="-120"/>
              </a:rPr>
              <a:t>16.0%</a:t>
            </a:r>
            <a:pPr indent="0" marL="0">
              <a:buNone/>
            </a:pPr>
            <a:r>
              <a:rPr lang="en-US" sz="950" dirty="0">
                <a:solidFill>
                  <a:srgbClr val="6F665F"/>
                </a:solidFill>
                <a:latin typeface="Meiryo" pitchFamily="34" charset="0"/>
                <a:ea typeface="Meiryo" pitchFamily="34" charset="-122"/>
                <a:cs typeface="Meiryo" pitchFamily="34" charset="-120"/>
              </a:rPr>
              <a:t>　→　② 今回：時価▲24.5%＝56.63で卸し出口はプロラタ </a:t>
            </a:r>
            <a:pPr indent="0" marL="0">
              <a:buNone/>
            </a:pPr>
            <a:r>
              <a:rPr lang="en-US" sz="1200" b="1" dirty="0">
                <a:solidFill>
                  <a:srgbClr val="8C6A3A"/>
                </a:solidFill>
                <a:latin typeface="Meiryo" pitchFamily="34" charset="0"/>
                <a:ea typeface="Meiryo" pitchFamily="34" charset="-122"/>
                <a:cs typeface="Meiryo" pitchFamily="34" charset="-120"/>
              </a:rPr>
              <a:t>20.0%</a:t>
            </a:r>
            <a:endParaRPr lang="en-US" sz="950" dirty="0"/>
          </a:p>
        </p:txBody>
      </p:sp>
      <p:sp>
        <p:nvSpPr>
          <p:cNvPr id="27" name="Text 24"/>
          <p:cNvSpPr/>
          <p:nvPr/>
        </p:nvSpPr>
        <p:spPr>
          <a:xfrm>
            <a:off x="932688" y="6035040"/>
            <a:ext cx="10326319" cy="219456"/>
          </a:xfrm>
          <a:prstGeom prst="rect">
            <a:avLst/>
          </a:prstGeom>
          <a:noFill/>
          <a:ln/>
        </p:spPr>
        <p:txBody>
          <a:bodyPr wrap="square" lIns="0" tIns="0" rIns="0" bIns="0" rtlCol="0" anchor="ctr"/>
          <a:lstStyle/>
          <a:p>
            <a:pPr indent="0" marL="0">
              <a:buNone/>
            </a:pPr>
            <a:r>
              <a:rPr lang="en-US" sz="800" dirty="0">
                <a:solidFill>
                  <a:srgbClr val="9A8F84"/>
                </a:solidFill>
                <a:latin typeface="Meiryo" pitchFamily="34" charset="0"/>
                <a:ea typeface="Meiryo" pitchFamily="34" charset="-122"/>
                <a:cs typeface="Meiryo" pitchFamily="34" charset="-120"/>
              </a:rPr>
              <a:t>※「年平均利回り」＝5年間の分配総額÷5÷出資額（仕入展開と最初の売却までの空白、満期の在庫清算を含む。表の金額も5年間の年平均）。「フル稼働時の単年利回り」22.5%は在庫が回り切った1年だけを切り出した参考値。</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484632"/>
            <a:ext cx="109728" cy="109728"/>
          </a:xfrm>
          <a:prstGeom prst="ellipse">
            <a:avLst/>
          </a:prstGeom>
          <a:solidFill>
            <a:srgbClr val="A78450"/>
          </a:solidFill>
          <a:ln w="12700">
            <a:solidFill>
              <a:srgbClr val="A78450"/>
            </a:solidFill>
            <a:prstDash val="solid"/>
          </a:ln>
        </p:spPr>
      </p:sp>
      <p:sp>
        <p:nvSpPr>
          <p:cNvPr id="3" name="Text 1"/>
          <p:cNvSpPr/>
          <p:nvPr/>
        </p:nvSpPr>
        <p:spPr>
          <a:xfrm>
            <a:off x="923544" y="365760"/>
            <a:ext cx="9601200" cy="329184"/>
          </a:xfrm>
          <a:prstGeom prst="rect">
            <a:avLst/>
          </a:prstGeom>
          <a:noFill/>
          <a:ln/>
        </p:spPr>
        <p:txBody>
          <a:bodyPr wrap="square" lIns="0" tIns="0" rIns="0" bIns="0" rtlCol="0" anchor="ctr"/>
          <a:lstStyle/>
          <a:p>
            <a:pPr indent="0" marL="0">
              <a:buNone/>
            </a:pPr>
            <a:r>
              <a:rPr lang="en-US" sz="1200" b="1" spc="240" kern="0" dirty="0">
                <a:solidFill>
                  <a:srgbClr val="A78450"/>
                </a:solidFill>
                <a:latin typeface="Meiryo" pitchFamily="34" charset="0"/>
                <a:ea typeface="Meiryo" pitchFamily="34" charset="-122"/>
                <a:cs typeface="Meiryo" pitchFamily="34" charset="-120"/>
              </a:rPr>
              <a:t>STAGED CLOSING</a:t>
            </a:r>
            <a:endParaRPr lang="en-US" sz="1200" dirty="0"/>
          </a:p>
        </p:txBody>
      </p:sp>
      <p:sp>
        <p:nvSpPr>
          <p:cNvPr id="4" name="Text 2"/>
          <p:cNvSpPr/>
          <p:nvPr/>
        </p:nvSpPr>
        <p:spPr>
          <a:xfrm>
            <a:off x="658368" y="731520"/>
            <a:ext cx="10874959" cy="566928"/>
          </a:xfrm>
          <a:prstGeom prst="rect">
            <a:avLst/>
          </a:prstGeom>
          <a:noFill/>
          <a:ln/>
        </p:spPr>
        <p:txBody>
          <a:bodyPr wrap="square" lIns="0" tIns="0" rIns="0" bIns="0" rtlCol="0" anchor="ctr"/>
          <a:lstStyle/>
          <a:p>
            <a:pPr indent="0" marL="0">
              <a:buNone/>
            </a:pPr>
            <a:r>
              <a:rPr lang="en-US" sz="2600" b="1" dirty="0">
                <a:solidFill>
                  <a:srgbClr val="2B2622"/>
                </a:solidFill>
                <a:latin typeface="Meiryo" pitchFamily="34" charset="0"/>
                <a:ea typeface="Meiryo" pitchFamily="34" charset="-122"/>
                <a:cs typeface="Meiryo" pitchFamily="34" charset="-120"/>
              </a:rPr>
              <a:t>段階クローズ：5億円から始め、年度内に10億円へ</a:t>
            </a:r>
            <a:endParaRPr lang="en-US" sz="2600" dirty="0"/>
          </a:p>
        </p:txBody>
      </p:sp>
      <p:sp>
        <p:nvSpPr>
          <p:cNvPr id="5" name="Text 3"/>
          <p:cNvSpPr/>
          <p:nvPr/>
        </p:nvSpPr>
        <p:spPr>
          <a:xfrm>
            <a:off x="658368" y="1261872"/>
            <a:ext cx="10874959" cy="310896"/>
          </a:xfrm>
          <a:prstGeom prst="rect">
            <a:avLst/>
          </a:prstGeom>
          <a:noFill/>
          <a:ln/>
        </p:spPr>
        <p:txBody>
          <a:bodyPr wrap="square" lIns="0" tIns="0" rIns="0" bIns="0" rtlCol="0" anchor="ctr"/>
          <a:lstStyle/>
          <a:p>
            <a:pPr indent="0" marL="0">
              <a:buNone/>
            </a:pPr>
            <a:r>
              <a:rPr lang="en-US" sz="1150" dirty="0">
                <a:solidFill>
                  <a:srgbClr val="6F665F"/>
                </a:solidFill>
                <a:latin typeface="Meiryo" pitchFamily="34" charset="0"/>
                <a:ea typeface="Meiryo" pitchFamily="34" charset="-122"/>
                <a:cs typeface="Meiryo" pitchFamily="34" charset="-120"/>
              </a:rPr>
              <a:t>同じ資本構成（WineBank現物出資60%＋投資家出資40%）と同じ卸値ルールのまま、規模だけを拡大する。</a:t>
            </a:r>
            <a:endParaRPr lang="en-US" sz="1150" dirty="0"/>
          </a:p>
        </p:txBody>
      </p:sp>
      <p:sp>
        <p:nvSpPr>
          <p:cNvPr id="6" name="Text 4"/>
          <p:cNvSpPr/>
          <p:nvPr/>
        </p:nvSpPr>
        <p:spPr>
          <a:xfrm>
            <a:off x="658368" y="6446520"/>
            <a:ext cx="5486400" cy="256032"/>
          </a:xfrm>
          <a:prstGeom prst="rect">
            <a:avLst/>
          </a:prstGeom>
          <a:noFill/>
          <a:ln/>
        </p:spPr>
        <p:txBody>
          <a:bodyPr wrap="square" lIns="0" tIns="0" rIns="0" bIns="0" rtlCol="0" anchor="ctr"/>
          <a:lstStyle/>
          <a:p>
            <a:pPr indent="0" marL="0">
              <a:buNone/>
            </a:pPr>
            <a:r>
              <a:rPr lang="en-US" sz="900" dirty="0">
                <a:solidFill>
                  <a:srgbClr val="9A8F84"/>
                </a:solidFill>
                <a:latin typeface="Meiryo" pitchFamily="34" charset="0"/>
                <a:ea typeface="Meiryo" pitchFamily="34" charset="-122"/>
                <a:cs typeface="Meiryo" pitchFamily="34" charset="-120"/>
              </a:rPr>
              <a:t>Confidential</a:t>
            </a:r>
            <a:endParaRPr lang="en-US" sz="900" dirty="0"/>
          </a:p>
        </p:txBody>
      </p:sp>
      <p:sp>
        <p:nvSpPr>
          <p:cNvPr id="7" name="Text 5"/>
          <p:cNvSpPr/>
          <p:nvPr/>
        </p:nvSpPr>
        <p:spPr>
          <a:xfrm>
            <a:off x="10984687" y="6446520"/>
            <a:ext cx="548640" cy="256032"/>
          </a:xfrm>
          <a:prstGeom prst="rect">
            <a:avLst/>
          </a:prstGeom>
          <a:noFill/>
          <a:ln/>
        </p:spPr>
        <p:txBody>
          <a:bodyPr wrap="square" lIns="0" tIns="0" rIns="0" bIns="0" rtlCol="0" anchor="ctr"/>
          <a:lstStyle/>
          <a:p>
            <a:pPr algn="r" indent="0" marL="0">
              <a:buNone/>
            </a:pPr>
            <a:r>
              <a:rPr lang="en-US" sz="900" dirty="0">
                <a:solidFill>
                  <a:srgbClr val="9A8F84"/>
                </a:solidFill>
                <a:latin typeface="Meiryo" pitchFamily="34" charset="0"/>
                <a:ea typeface="Meiryo" pitchFamily="34" charset="-122"/>
                <a:cs typeface="Meiryo" pitchFamily="34" charset="-120"/>
              </a:rPr>
              <a:t>3</a:t>
            </a:r>
            <a:endParaRPr lang="en-US" sz="900" dirty="0"/>
          </a:p>
        </p:txBody>
      </p:sp>
      <p:sp>
        <p:nvSpPr>
          <p:cNvPr id="8" name="Shape 6"/>
          <p:cNvSpPr/>
          <p:nvPr/>
        </p:nvSpPr>
        <p:spPr>
          <a:xfrm>
            <a:off x="658368" y="1627632"/>
            <a:ext cx="5291176" cy="1810512"/>
          </a:xfrm>
          <a:prstGeom prst="roundRect">
            <a:avLst>
              <a:gd name="adj" fmla="val 4040"/>
            </a:avLst>
          </a:prstGeom>
          <a:solidFill>
            <a:srgbClr val="F3E9D6"/>
          </a:solidFill>
          <a:ln w="9525">
            <a:solidFill>
              <a:srgbClr val="C9AE7E"/>
            </a:solidFill>
            <a:prstDash val="solid"/>
          </a:ln>
          <a:effectLst>
            <a:outerShdw sx="100000" sy="100000" kx="0" ky="0" algn="bl" rotWithShape="0" blurRad="76200" dist="25400" dir="5400000">
              <a:srgbClr val="6F665F">
                <a:alpha val="18000"/>
              </a:srgbClr>
            </a:outerShdw>
          </a:effectLst>
        </p:spPr>
      </p:sp>
      <p:sp>
        <p:nvSpPr>
          <p:cNvPr id="9" name="Text 7"/>
          <p:cNvSpPr/>
          <p:nvPr/>
        </p:nvSpPr>
        <p:spPr>
          <a:xfrm>
            <a:off x="914400" y="1773936"/>
            <a:ext cx="4779112" cy="201168"/>
          </a:xfrm>
          <a:prstGeom prst="rect">
            <a:avLst/>
          </a:prstGeom>
          <a:noFill/>
          <a:ln/>
        </p:spPr>
        <p:txBody>
          <a:bodyPr wrap="square" lIns="0" tIns="0" rIns="0" bIns="0" rtlCol="0" anchor="ctr"/>
          <a:lstStyle/>
          <a:p>
            <a:pPr indent="0" marL="0">
              <a:buNone/>
            </a:pPr>
            <a:r>
              <a:rPr lang="en-US" sz="950" b="1" spc="240" kern="0" dirty="0">
                <a:solidFill>
                  <a:srgbClr val="A78450"/>
                </a:solidFill>
                <a:latin typeface="Meiryo" pitchFamily="34" charset="0"/>
                <a:ea typeface="Meiryo" pitchFamily="34" charset="-122"/>
                <a:cs typeface="Meiryo" pitchFamily="34" charset="-120"/>
              </a:rPr>
              <a:t>FIRST CLOSE</a:t>
            </a:r>
            <a:endParaRPr lang="en-US" sz="950" dirty="0"/>
          </a:p>
        </p:txBody>
      </p:sp>
      <p:sp>
        <p:nvSpPr>
          <p:cNvPr id="10" name="Text 8"/>
          <p:cNvSpPr/>
          <p:nvPr/>
        </p:nvSpPr>
        <p:spPr>
          <a:xfrm>
            <a:off x="914400" y="1975104"/>
            <a:ext cx="4779112" cy="256032"/>
          </a:xfrm>
          <a:prstGeom prst="rect">
            <a:avLst/>
          </a:prstGeom>
          <a:noFill/>
          <a:ln/>
        </p:spPr>
        <p:txBody>
          <a:bodyPr wrap="square" lIns="0" tIns="0" rIns="0" bIns="0" rtlCol="0" anchor="ctr"/>
          <a:lstStyle/>
          <a:p>
            <a:pPr indent="0" marL="0">
              <a:buNone/>
            </a:pPr>
            <a:r>
              <a:rPr lang="en-US" sz="1250" b="1" dirty="0">
                <a:solidFill>
                  <a:srgbClr val="8C6A3A"/>
                </a:solidFill>
                <a:latin typeface="Meiryo" pitchFamily="34" charset="0"/>
                <a:ea typeface="Meiryo" pitchFamily="34" charset="-122"/>
                <a:cs typeface="Meiryo" pitchFamily="34" charset="-120"/>
              </a:rPr>
              <a:t>ファーストクローズ</a:t>
            </a:r>
            <a:endParaRPr lang="en-US" sz="1250" dirty="0"/>
          </a:p>
        </p:txBody>
      </p:sp>
      <p:sp>
        <p:nvSpPr>
          <p:cNvPr id="11" name="Text 9"/>
          <p:cNvSpPr/>
          <p:nvPr/>
        </p:nvSpPr>
        <p:spPr>
          <a:xfrm>
            <a:off x="914400" y="2286000"/>
            <a:ext cx="4779112" cy="438912"/>
          </a:xfrm>
          <a:prstGeom prst="rect">
            <a:avLst/>
          </a:prstGeom>
          <a:noFill/>
          <a:ln/>
        </p:spPr>
        <p:txBody>
          <a:bodyPr wrap="square" lIns="0" tIns="0" rIns="0" bIns="0" rtlCol="0" anchor="ctr"/>
          <a:lstStyle/>
          <a:p>
            <a:pPr indent="0" marL="0">
              <a:buNone/>
            </a:pPr>
            <a:r>
              <a:rPr lang="en-US" sz="1100" dirty="0">
                <a:solidFill>
                  <a:srgbClr val="6F665F"/>
                </a:solidFill>
                <a:latin typeface="Meiryo" pitchFamily="34" charset="0"/>
                <a:ea typeface="Meiryo" pitchFamily="34" charset="-122"/>
                <a:cs typeface="Meiryo" pitchFamily="34" charset="-120"/>
              </a:rPr>
              <a:t>総額 </a:t>
            </a:r>
            <a:pPr indent="0" marL="0">
              <a:buNone/>
            </a:pPr>
            <a:r>
              <a:rPr lang="en-US" sz="2600" b="1" dirty="0">
                <a:solidFill>
                  <a:srgbClr val="8C6A3A"/>
                </a:solidFill>
                <a:latin typeface="Meiryo" pitchFamily="34" charset="0"/>
                <a:ea typeface="Meiryo" pitchFamily="34" charset="-122"/>
                <a:cs typeface="Meiryo" pitchFamily="34" charset="-120"/>
              </a:rPr>
              <a:t>5億円</a:t>
            </a:r>
            <a:pPr indent="0" marL="0">
              <a:buNone/>
            </a:pPr>
            <a:r>
              <a:rPr lang="en-US" sz="1100" dirty="0">
                <a:solidFill>
                  <a:srgbClr val="2B2622"/>
                </a:solidFill>
                <a:latin typeface="Meiryo" pitchFamily="34" charset="0"/>
                <a:ea typeface="Meiryo" pitchFamily="34" charset="-122"/>
                <a:cs typeface="Meiryo" pitchFamily="34" charset="-120"/>
              </a:rPr>
              <a:t>　＝　WineBank現物 3億円 ＋ 投資家 2億円</a:t>
            </a:r>
            <a:endParaRPr lang="en-US" sz="1100" dirty="0"/>
          </a:p>
        </p:txBody>
      </p:sp>
      <p:sp>
        <p:nvSpPr>
          <p:cNvPr id="12" name="Text 10"/>
          <p:cNvSpPr/>
          <p:nvPr/>
        </p:nvSpPr>
        <p:spPr>
          <a:xfrm>
            <a:off x="914400" y="2779776"/>
            <a:ext cx="4779112" cy="237744"/>
          </a:xfrm>
          <a:prstGeom prst="rect">
            <a:avLst/>
          </a:prstGeom>
          <a:noFill/>
          <a:ln/>
        </p:spPr>
        <p:txBody>
          <a:bodyPr wrap="square" lIns="0" tIns="0" rIns="0" bIns="0" rtlCol="0" anchor="ctr"/>
          <a:lstStyle/>
          <a:p>
            <a:pPr indent="0" marL="0">
              <a:buNone/>
            </a:pPr>
            <a:r>
              <a:rPr lang="en-US" sz="1050" b="1" dirty="0">
                <a:solidFill>
                  <a:srgbClr val="8C6A3A"/>
                </a:solidFill>
                <a:latin typeface="Meiryo" pitchFamily="34" charset="0"/>
                <a:ea typeface="Meiryo" pitchFamily="34" charset="-122"/>
                <a:cs typeface="Meiryo" pitchFamily="34" charset="-120"/>
              </a:rPr>
              <a:t>必要な年間販売額　6.67億円　／　投資家利回り（年平均）　20.0%</a:t>
            </a:r>
            <a:endParaRPr lang="en-US" sz="1050" dirty="0"/>
          </a:p>
        </p:txBody>
      </p:sp>
      <p:sp>
        <p:nvSpPr>
          <p:cNvPr id="13" name="Text 11"/>
          <p:cNvSpPr/>
          <p:nvPr/>
        </p:nvSpPr>
        <p:spPr>
          <a:xfrm>
            <a:off x="914400" y="3035808"/>
            <a:ext cx="4779112" cy="310896"/>
          </a:xfrm>
          <a:prstGeom prst="rect">
            <a:avLst/>
          </a:prstGeom>
          <a:noFill/>
          <a:ln/>
        </p:spPr>
        <p:txBody>
          <a:bodyPr wrap="square" lIns="0" tIns="0" rIns="0" bIns="0" rtlCol="0" anchor="ctr"/>
          <a:lstStyle/>
          <a:p>
            <a:pPr indent="0" marL="0">
              <a:lnSpc>
                <a:spcPct val="118000"/>
              </a:lnSpc>
              <a:buNone/>
            </a:pPr>
            <a:r>
              <a:rPr lang="en-US" sz="950" dirty="0">
                <a:solidFill>
                  <a:srgbClr val="6F665F"/>
                </a:solidFill>
                <a:latin typeface="Meiryo" pitchFamily="34" charset="0"/>
                <a:ea typeface="Meiryo" pitchFamily="34" charset="-122"/>
                <a:cs typeface="Meiryo" pitchFamily="34" charset="-120"/>
              </a:rPr>
              <a:t>まず5億円で組成し、回転12ヶ月の実績を作る</a:t>
            </a:r>
            <a:endParaRPr lang="en-US" sz="950" dirty="0"/>
          </a:p>
        </p:txBody>
      </p:sp>
      <p:sp>
        <p:nvSpPr>
          <p:cNvPr id="14" name="Shape 12"/>
          <p:cNvSpPr/>
          <p:nvPr/>
        </p:nvSpPr>
        <p:spPr>
          <a:xfrm>
            <a:off x="6242152" y="1627632"/>
            <a:ext cx="5291176" cy="1810512"/>
          </a:xfrm>
          <a:prstGeom prst="roundRect">
            <a:avLst>
              <a:gd name="adj" fmla="val 4040"/>
            </a:avLst>
          </a:prstGeom>
          <a:solidFill>
            <a:srgbClr val="F5EFE4"/>
          </a:solidFill>
          <a:ln w="9525">
            <a:solidFill>
              <a:srgbClr val="E6DCCB"/>
            </a:solidFill>
            <a:prstDash val="solid"/>
          </a:ln>
          <a:effectLst>
            <a:outerShdw sx="100000" sy="100000" kx="0" ky="0" algn="bl" rotWithShape="0" blurRad="76200" dist="25400" dir="5400000">
              <a:srgbClr val="6F665F">
                <a:alpha val="18000"/>
              </a:srgbClr>
            </a:outerShdw>
          </a:effectLst>
        </p:spPr>
      </p:sp>
      <p:sp>
        <p:nvSpPr>
          <p:cNvPr id="15" name="Text 13"/>
          <p:cNvSpPr/>
          <p:nvPr/>
        </p:nvSpPr>
        <p:spPr>
          <a:xfrm>
            <a:off x="6498184" y="1773936"/>
            <a:ext cx="4779112" cy="201168"/>
          </a:xfrm>
          <a:prstGeom prst="rect">
            <a:avLst/>
          </a:prstGeom>
          <a:noFill/>
          <a:ln/>
        </p:spPr>
        <p:txBody>
          <a:bodyPr wrap="square" lIns="0" tIns="0" rIns="0" bIns="0" rtlCol="0" anchor="ctr"/>
          <a:lstStyle/>
          <a:p>
            <a:pPr indent="0" marL="0">
              <a:buNone/>
            </a:pPr>
            <a:r>
              <a:rPr lang="en-US" sz="950" b="1" spc="240" kern="0" dirty="0">
                <a:solidFill>
                  <a:srgbClr val="A78450"/>
                </a:solidFill>
                <a:latin typeface="Meiryo" pitchFamily="34" charset="0"/>
                <a:ea typeface="Meiryo" pitchFamily="34" charset="-122"/>
                <a:cs typeface="Meiryo" pitchFamily="34" charset="-120"/>
              </a:rPr>
              <a:t>SECOND CLOSE</a:t>
            </a:r>
            <a:endParaRPr lang="en-US" sz="950" dirty="0"/>
          </a:p>
        </p:txBody>
      </p:sp>
      <p:sp>
        <p:nvSpPr>
          <p:cNvPr id="16" name="Text 14"/>
          <p:cNvSpPr/>
          <p:nvPr/>
        </p:nvSpPr>
        <p:spPr>
          <a:xfrm>
            <a:off x="6498184" y="1975104"/>
            <a:ext cx="4779112" cy="256032"/>
          </a:xfrm>
          <a:prstGeom prst="rect">
            <a:avLst/>
          </a:prstGeom>
          <a:noFill/>
          <a:ln/>
        </p:spPr>
        <p:txBody>
          <a:bodyPr wrap="square" lIns="0" tIns="0" rIns="0" bIns="0" rtlCol="0" anchor="ctr"/>
          <a:lstStyle/>
          <a:p>
            <a:pPr indent="0" marL="0">
              <a:buNone/>
            </a:pPr>
            <a:r>
              <a:rPr lang="en-US" sz="1250" b="1" dirty="0">
                <a:solidFill>
                  <a:srgbClr val="2B2622"/>
                </a:solidFill>
                <a:latin typeface="Meiryo" pitchFamily="34" charset="0"/>
                <a:ea typeface="Meiryo" pitchFamily="34" charset="-122"/>
                <a:cs typeface="Meiryo" pitchFamily="34" charset="-120"/>
              </a:rPr>
              <a:t>セカンドクローズ（年度内）</a:t>
            </a:r>
            <a:endParaRPr lang="en-US" sz="1250" dirty="0"/>
          </a:p>
        </p:txBody>
      </p:sp>
      <p:sp>
        <p:nvSpPr>
          <p:cNvPr id="17" name="Text 15"/>
          <p:cNvSpPr/>
          <p:nvPr/>
        </p:nvSpPr>
        <p:spPr>
          <a:xfrm>
            <a:off x="6498184" y="2286000"/>
            <a:ext cx="4779112" cy="438912"/>
          </a:xfrm>
          <a:prstGeom prst="rect">
            <a:avLst/>
          </a:prstGeom>
          <a:noFill/>
          <a:ln/>
        </p:spPr>
        <p:txBody>
          <a:bodyPr wrap="square" lIns="0" tIns="0" rIns="0" bIns="0" rtlCol="0" anchor="ctr"/>
          <a:lstStyle/>
          <a:p>
            <a:pPr indent="0" marL="0">
              <a:buNone/>
            </a:pPr>
            <a:r>
              <a:rPr lang="en-US" sz="1100" dirty="0">
                <a:solidFill>
                  <a:srgbClr val="6F665F"/>
                </a:solidFill>
                <a:latin typeface="Meiryo" pitchFamily="34" charset="0"/>
                <a:ea typeface="Meiryo" pitchFamily="34" charset="-122"/>
                <a:cs typeface="Meiryo" pitchFamily="34" charset="-120"/>
              </a:rPr>
              <a:t>総額 </a:t>
            </a:r>
            <a:pPr indent="0" marL="0">
              <a:buNone/>
            </a:pPr>
            <a:r>
              <a:rPr lang="en-US" sz="2600" b="1" dirty="0">
                <a:solidFill>
                  <a:srgbClr val="8C6A3A"/>
                </a:solidFill>
                <a:latin typeface="Meiryo" pitchFamily="34" charset="0"/>
                <a:ea typeface="Meiryo" pitchFamily="34" charset="-122"/>
                <a:cs typeface="Meiryo" pitchFamily="34" charset="-120"/>
              </a:rPr>
              <a:t>10億円</a:t>
            </a:r>
            <a:pPr indent="0" marL="0">
              <a:buNone/>
            </a:pPr>
            <a:r>
              <a:rPr lang="en-US" sz="1100" dirty="0">
                <a:solidFill>
                  <a:srgbClr val="2B2622"/>
                </a:solidFill>
                <a:latin typeface="Meiryo" pitchFamily="34" charset="0"/>
                <a:ea typeface="Meiryo" pitchFamily="34" charset="-122"/>
                <a:cs typeface="Meiryo" pitchFamily="34" charset="-120"/>
              </a:rPr>
              <a:t>　＝　WineBank現物 6億円 ＋ 投資家 4億円</a:t>
            </a:r>
            <a:endParaRPr lang="en-US" sz="1100" dirty="0"/>
          </a:p>
        </p:txBody>
      </p:sp>
      <p:sp>
        <p:nvSpPr>
          <p:cNvPr id="18" name="Text 16"/>
          <p:cNvSpPr/>
          <p:nvPr/>
        </p:nvSpPr>
        <p:spPr>
          <a:xfrm>
            <a:off x="6498184" y="2779776"/>
            <a:ext cx="4779112" cy="237744"/>
          </a:xfrm>
          <a:prstGeom prst="rect">
            <a:avLst/>
          </a:prstGeom>
          <a:noFill/>
          <a:ln/>
        </p:spPr>
        <p:txBody>
          <a:bodyPr wrap="square" lIns="0" tIns="0" rIns="0" bIns="0" rtlCol="0" anchor="ctr"/>
          <a:lstStyle/>
          <a:p>
            <a:pPr indent="0" marL="0">
              <a:buNone/>
            </a:pPr>
            <a:r>
              <a:rPr lang="en-US" sz="1050" b="1" dirty="0">
                <a:solidFill>
                  <a:srgbClr val="8C6A3A"/>
                </a:solidFill>
                <a:latin typeface="Meiryo" pitchFamily="34" charset="0"/>
                <a:ea typeface="Meiryo" pitchFamily="34" charset="-122"/>
                <a:cs typeface="Meiryo" pitchFamily="34" charset="-120"/>
              </a:rPr>
              <a:t>必要な年間販売額　13.34億円　／　投資家利回り（年平均）　20.4%</a:t>
            </a:r>
            <a:endParaRPr lang="en-US" sz="1050" dirty="0"/>
          </a:p>
        </p:txBody>
      </p:sp>
      <p:sp>
        <p:nvSpPr>
          <p:cNvPr id="19" name="Text 17"/>
          <p:cNvSpPr/>
          <p:nvPr/>
        </p:nvSpPr>
        <p:spPr>
          <a:xfrm>
            <a:off x="6498184" y="3035808"/>
            <a:ext cx="4779112" cy="310896"/>
          </a:xfrm>
          <a:prstGeom prst="rect">
            <a:avLst/>
          </a:prstGeom>
          <a:noFill/>
          <a:ln/>
        </p:spPr>
        <p:txBody>
          <a:bodyPr wrap="square" lIns="0" tIns="0" rIns="0" bIns="0" rtlCol="0" anchor="ctr"/>
          <a:lstStyle/>
          <a:p>
            <a:pPr indent="0" marL="0">
              <a:lnSpc>
                <a:spcPct val="118000"/>
              </a:lnSpc>
              <a:buNone/>
            </a:pPr>
            <a:r>
              <a:rPr lang="en-US" sz="950" dirty="0">
                <a:solidFill>
                  <a:srgbClr val="6F665F"/>
                </a:solidFill>
                <a:latin typeface="Meiryo" pitchFamily="34" charset="0"/>
                <a:ea typeface="Meiryo" pitchFamily="34" charset="-122"/>
                <a:cs typeface="Meiryo" pitchFamily="34" charset="-120"/>
              </a:rPr>
              <a:t>販売実力の拡大を確認したうえで倍増する</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58368" y="3566160"/>
          <a:ext cx="10874959" cy="914400"/>
        </p:xfrm>
        <a:graphic>
          <a:graphicData uri="http://schemas.openxmlformats.org/drawingml/2006/table">
            <a:tbl>
              <a:tblPr/>
              <a:tblGrid>
                <a:gridCol w="2395728"/>
                <a:gridCol w="1920240"/>
                <a:gridCol w="1920240"/>
                <a:gridCol w="4636008"/>
              </a:tblGrid>
              <a:tr h="217627">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項目</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2B2622"/>
                    </a:solidFill>
                  </a:tcPr>
                </a:tc>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ファーストクローズ</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2B2622"/>
                    </a:solidFill>
                  </a:tcPr>
                </a:tc>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セカンドクローズ</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2B2622"/>
                    </a:solidFill>
                  </a:tcPr>
                </a:tc>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備考</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2B2622"/>
                    </a:solidFill>
                  </a:tcPr>
                </a:tc>
              </a:tr>
              <a:tr h="217627">
                <a:tc>
                  <a:txBody>
                    <a:bodyPr/>
                    <a:lstStyle/>
                    <a:p>
                      <a:pPr algn="ctr" indent="0" marL="0">
                        <a:buNone/>
                      </a:pPr>
                      <a:r>
                        <a:rPr lang="en-US" sz="850" dirty="0">
                          <a:solidFill>
                            <a:srgbClr val="2B2622"/>
                          </a:solidFill>
                          <a:latin typeface="Meiryo" pitchFamily="34" charset="0"/>
                          <a:ea typeface="Meiryo" pitchFamily="34" charset="-122"/>
                          <a:cs typeface="Meiryo" pitchFamily="34" charset="-120"/>
                        </a:rPr>
                        <a:t>総額</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8C6A3A"/>
                          </a:solidFill>
                          <a:latin typeface="Meiryo" pitchFamily="34" charset="0"/>
                          <a:ea typeface="Meiryo" pitchFamily="34" charset="-122"/>
                          <a:cs typeface="Meiryo" pitchFamily="34" charset="-120"/>
                        </a:rPr>
                        <a:t>5億円</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8C6A3A"/>
                          </a:solidFill>
                          <a:latin typeface="Meiryo" pitchFamily="34" charset="0"/>
                          <a:ea typeface="Meiryo" pitchFamily="34" charset="-122"/>
                          <a:cs typeface="Meiryo" pitchFamily="34" charset="-120"/>
                        </a:rPr>
                        <a:t>10億円</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l" indent="0" marL="0">
                        <a:buNone/>
                      </a:pPr>
                      <a:r>
                        <a:rPr lang="en-US" sz="850" dirty="0">
                          <a:solidFill>
                            <a:srgbClr val="2B2622"/>
                          </a:solidFill>
                          <a:latin typeface="Meiryo" pitchFamily="34" charset="0"/>
                          <a:ea typeface="Meiryo" pitchFamily="34" charset="-122"/>
                          <a:cs typeface="Meiryo" pitchFamily="34" charset="-120"/>
                        </a:rPr>
                        <a:t>資本構成の比率と卸値ルールは同一</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r>
              <a:tr h="217627">
                <a:tc>
                  <a:txBody>
                    <a:bodyPr/>
                    <a:lstStyle/>
                    <a:p>
                      <a:pPr algn="ctr" indent="0" marL="0">
                        <a:buNone/>
                      </a:pPr>
                      <a:r>
                        <a:rPr lang="en-US" sz="850" dirty="0">
                          <a:solidFill>
                            <a:srgbClr val="2B2622"/>
                          </a:solidFill>
                          <a:latin typeface="Meiryo" pitchFamily="34" charset="0"/>
                          <a:ea typeface="Meiryo" pitchFamily="34" charset="-122"/>
                          <a:cs typeface="Meiryo" pitchFamily="34" charset="-120"/>
                        </a:rPr>
                        <a:t>WineBank現物出資（60%）</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622"/>
                          </a:solidFill>
                          <a:latin typeface="Meiryo" pitchFamily="34" charset="0"/>
                          <a:ea typeface="Meiryo" pitchFamily="34" charset="-122"/>
                          <a:cs typeface="Meiryo" pitchFamily="34" charset="-120"/>
                        </a:rPr>
                        <a:t>3億円</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622"/>
                          </a:solidFill>
                          <a:latin typeface="Meiryo" pitchFamily="34" charset="0"/>
                          <a:ea typeface="Meiryo" pitchFamily="34" charset="-122"/>
                          <a:cs typeface="Meiryo" pitchFamily="34" charset="-120"/>
                        </a:rPr>
                        <a:t>6億円</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l" indent="0" marL="0">
                        <a:buNone/>
                      </a:pPr>
                      <a:r>
                        <a:rPr lang="en-US" sz="850" dirty="0">
                          <a:solidFill>
                            <a:srgbClr val="2B2622"/>
                          </a:solidFill>
                          <a:latin typeface="Meiryo" pitchFamily="34" charset="0"/>
                          <a:ea typeface="Meiryo" pitchFamily="34" charset="-122"/>
                          <a:cs typeface="Meiryo" pitchFamily="34" charset="-120"/>
                        </a:rPr>
                        <a:t>自己勘定のワイン現物を拠出</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r>
              <a:tr h="217627">
                <a:tc>
                  <a:txBody>
                    <a:bodyPr/>
                    <a:lstStyle/>
                    <a:p>
                      <a:pPr algn="ctr" indent="0" marL="0">
                        <a:buNone/>
                      </a:pPr>
                      <a:r>
                        <a:rPr lang="en-US" sz="850" dirty="0">
                          <a:solidFill>
                            <a:srgbClr val="2B2622"/>
                          </a:solidFill>
                          <a:latin typeface="Meiryo" pitchFamily="34" charset="0"/>
                          <a:ea typeface="Meiryo" pitchFamily="34" charset="-122"/>
                          <a:cs typeface="Meiryo" pitchFamily="34" charset="-120"/>
                        </a:rPr>
                        <a:t>投資家出資（40%）</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622"/>
                          </a:solidFill>
                          <a:latin typeface="Meiryo" pitchFamily="34" charset="0"/>
                          <a:ea typeface="Meiryo" pitchFamily="34" charset="-122"/>
                          <a:cs typeface="Meiryo" pitchFamily="34" charset="-120"/>
                        </a:rPr>
                        <a:t>2億円</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622"/>
                          </a:solidFill>
                          <a:latin typeface="Meiryo" pitchFamily="34" charset="0"/>
                          <a:ea typeface="Meiryo" pitchFamily="34" charset="-122"/>
                          <a:cs typeface="Meiryo" pitchFamily="34" charset="-120"/>
                        </a:rPr>
                        <a:t>4億円</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l" indent="0" marL="0">
                        <a:buNone/>
                      </a:pPr>
                      <a:r>
                        <a:rPr lang="en-US" sz="850" dirty="0">
                          <a:solidFill>
                            <a:srgbClr val="2B2622"/>
                          </a:solidFill>
                          <a:latin typeface="Meiryo" pitchFamily="34" charset="0"/>
                          <a:ea typeface="Meiryo" pitchFamily="34" charset="-122"/>
                          <a:cs typeface="Meiryo" pitchFamily="34" charset="-120"/>
                        </a:rPr>
                        <a:t>1口5,000万円以上</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r>
              <a:tr h="217627">
                <a:tc>
                  <a:txBody>
                    <a:bodyPr/>
                    <a:lstStyle/>
                    <a:p>
                      <a:pPr algn="ctr" indent="0" marL="0">
                        <a:buNone/>
                      </a:pPr>
                      <a:r>
                        <a:rPr lang="en-US" sz="850" dirty="0">
                          <a:solidFill>
                            <a:srgbClr val="2B2622"/>
                          </a:solidFill>
                          <a:latin typeface="Meiryo" pitchFamily="34" charset="0"/>
                          <a:ea typeface="Meiryo" pitchFamily="34" charset="-122"/>
                          <a:cs typeface="Meiryo" pitchFamily="34" charset="-120"/>
                        </a:rPr>
                        <a:t>必要な年間販売額</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8C6A3A"/>
                          </a:solidFill>
                          <a:latin typeface="Meiryo" pitchFamily="34" charset="0"/>
                          <a:ea typeface="Meiryo" pitchFamily="34" charset="-122"/>
                          <a:cs typeface="Meiryo" pitchFamily="34" charset="-120"/>
                        </a:rPr>
                        <a:t>6.67億円</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4553F"/>
                          </a:solidFill>
                          <a:latin typeface="Meiryo" pitchFamily="34" charset="0"/>
                          <a:ea typeface="Meiryo" pitchFamily="34" charset="-122"/>
                          <a:cs typeface="Meiryo" pitchFamily="34" charset="-120"/>
                        </a:rPr>
                        <a:t>13.34億円</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l" indent="0" marL="0">
                        <a:buNone/>
                      </a:pPr>
                      <a:r>
                        <a:rPr lang="en-US" sz="850" dirty="0">
                          <a:solidFill>
                            <a:srgbClr val="2B2622"/>
                          </a:solidFill>
                          <a:latin typeface="Meiryo" pitchFamily="34" charset="0"/>
                          <a:ea typeface="Meiryo" pitchFamily="34" charset="-122"/>
                          <a:cs typeface="Meiryo" pitchFamily="34" charset="-120"/>
                        </a:rPr>
                        <a:t>回転12ヶ月を実現するために必要な販売額</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r>
              <a:tr h="217627">
                <a:tc>
                  <a:txBody>
                    <a:bodyPr/>
                    <a:lstStyle/>
                    <a:p>
                      <a:pPr algn="ctr" indent="0" marL="0">
                        <a:buNone/>
                      </a:pPr>
                      <a:r>
                        <a:rPr lang="en-US" sz="850" dirty="0">
                          <a:solidFill>
                            <a:srgbClr val="2B2622"/>
                          </a:solidFill>
                          <a:latin typeface="Meiryo" pitchFamily="34" charset="0"/>
                          <a:ea typeface="Meiryo" pitchFamily="34" charset="-122"/>
                          <a:cs typeface="Meiryo" pitchFamily="34" charset="-120"/>
                        </a:rPr>
                        <a:t>年間税前利益（SPC）</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622"/>
                          </a:solidFill>
                          <a:latin typeface="Meiryo" pitchFamily="34" charset="0"/>
                          <a:ea typeface="Meiryo" pitchFamily="34" charset="-122"/>
                          <a:cs typeface="Meiryo" pitchFamily="34" charset="-120"/>
                        </a:rPr>
                        <a:t>1.12億円</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622"/>
                          </a:solidFill>
                          <a:latin typeface="Meiryo" pitchFamily="34" charset="0"/>
                          <a:ea typeface="Meiryo" pitchFamily="34" charset="-122"/>
                          <a:cs typeface="Meiryo" pitchFamily="34" charset="-120"/>
                        </a:rPr>
                        <a:t>2.29億円</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l" indent="0" marL="0">
                        <a:buNone/>
                      </a:pPr>
                      <a:r>
                        <a:rPr lang="en-US" sz="850" dirty="0">
                          <a:solidFill>
                            <a:srgbClr val="2B2622"/>
                          </a:solidFill>
                          <a:latin typeface="Meiryo" pitchFamily="34" charset="0"/>
                          <a:ea typeface="Meiryo" pitchFamily="34" charset="-122"/>
                          <a:cs typeface="Meiryo" pitchFamily="34" charset="-120"/>
                        </a:rPr>
                        <a:t>管理報酬控除後</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r>
              <a:tr h="217627">
                <a:tc>
                  <a:txBody>
                    <a:bodyPr/>
                    <a:lstStyle/>
                    <a:p>
                      <a:pPr algn="ctr" indent="0" marL="0">
                        <a:buNone/>
                      </a:pPr>
                      <a:r>
                        <a:rPr lang="en-US" sz="850" dirty="0">
                          <a:solidFill>
                            <a:srgbClr val="2B2622"/>
                          </a:solidFill>
                          <a:latin typeface="Meiryo" pitchFamily="34" charset="0"/>
                          <a:ea typeface="Meiryo" pitchFamily="34" charset="-122"/>
                          <a:cs typeface="Meiryo" pitchFamily="34" charset="-120"/>
                        </a:rPr>
                        <a:t>投資家取分（出資比率40%）</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622"/>
                          </a:solidFill>
                          <a:latin typeface="Meiryo" pitchFamily="34" charset="0"/>
                          <a:ea typeface="Meiryo" pitchFamily="34" charset="-122"/>
                          <a:cs typeface="Meiryo" pitchFamily="34" charset="-120"/>
                        </a:rPr>
                        <a:t>45百万円</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622"/>
                          </a:solidFill>
                          <a:latin typeface="Meiryo" pitchFamily="34" charset="0"/>
                          <a:ea typeface="Meiryo" pitchFamily="34" charset="-122"/>
                          <a:cs typeface="Meiryo" pitchFamily="34" charset="-120"/>
                        </a:rPr>
                        <a:t>91百万円</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l" indent="0" marL="0">
                        <a:buNone/>
                      </a:pPr>
                      <a:r>
                        <a:rPr lang="en-US" sz="850" dirty="0">
                          <a:solidFill>
                            <a:srgbClr val="2B2622"/>
                          </a:solidFill>
                          <a:latin typeface="Meiryo" pitchFamily="34" charset="0"/>
                          <a:ea typeface="Meiryo" pitchFamily="34" charset="-122"/>
                          <a:cs typeface="Meiryo" pitchFamily="34" charset="-120"/>
                        </a:rPr>
                        <a:t>プロラタ配分。成功報酬は控除しない</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r>
              <a:tr h="217627">
                <a:tc>
                  <a:txBody>
                    <a:bodyPr/>
                    <a:lstStyle/>
                    <a:p>
                      <a:pPr algn="ctr" indent="0" marL="0">
                        <a:buNone/>
                      </a:pPr>
                      <a:r>
                        <a:rPr lang="en-US" sz="850" dirty="0">
                          <a:solidFill>
                            <a:srgbClr val="2B2622"/>
                          </a:solidFill>
                          <a:latin typeface="Meiryo" pitchFamily="34" charset="0"/>
                          <a:ea typeface="Meiryo" pitchFamily="34" charset="-122"/>
                          <a:cs typeface="Meiryo" pitchFamily="34" charset="-120"/>
                        </a:rPr>
                        <a:t>投資家利回り（年平均）</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8C6A3A"/>
                          </a:solidFill>
                          <a:latin typeface="Meiryo" pitchFamily="34" charset="0"/>
                          <a:ea typeface="Meiryo" pitchFamily="34" charset="-122"/>
                          <a:cs typeface="Meiryo" pitchFamily="34" charset="-120"/>
                        </a:rPr>
                        <a:t>20.0%</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8C6A3A"/>
                          </a:solidFill>
                          <a:latin typeface="Meiryo" pitchFamily="34" charset="0"/>
                          <a:ea typeface="Meiryo" pitchFamily="34" charset="-122"/>
                          <a:cs typeface="Meiryo" pitchFamily="34" charset="-120"/>
                        </a:rPr>
                        <a:t>20.4%</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l" indent="0" marL="0">
                        <a:buNone/>
                      </a:pPr>
                      <a:r>
                        <a:rPr lang="en-US" sz="850" dirty="0">
                          <a:solidFill>
                            <a:srgbClr val="2B2622"/>
                          </a:solidFill>
                          <a:latin typeface="Meiryo" pitchFamily="34" charset="0"/>
                          <a:ea typeface="Meiryo" pitchFamily="34" charset="-122"/>
                          <a:cs typeface="Meiryo" pitchFamily="34" charset="-120"/>
                        </a:rPr>
                        <a:t>仕入展開6ヶ月の立ち上がりと満期の残存在庫の清算売却を含む。αの算定基礎</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r>
              <a:tr h="217627">
                <a:tc>
                  <a:txBody>
                    <a:bodyPr/>
                    <a:lstStyle/>
                    <a:p>
                      <a:pPr algn="ctr" indent="0" marL="0">
                        <a:buNone/>
                      </a:pPr>
                      <a:r>
                        <a:rPr lang="en-US" sz="850" dirty="0">
                          <a:solidFill>
                            <a:srgbClr val="2B2622"/>
                          </a:solidFill>
                          <a:latin typeface="Meiryo" pitchFamily="34" charset="0"/>
                          <a:ea typeface="Meiryo" pitchFamily="34" charset="-122"/>
                          <a:cs typeface="Meiryo" pitchFamily="34" charset="-120"/>
                        </a:rPr>
                        <a:t>フル稼働時の単年利回り</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622"/>
                          </a:solidFill>
                          <a:latin typeface="Meiryo" pitchFamily="34" charset="0"/>
                          <a:ea typeface="Meiryo" pitchFamily="34" charset="-122"/>
                          <a:cs typeface="Meiryo" pitchFamily="34" charset="-120"/>
                        </a:rPr>
                        <a:t>22.5%</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622"/>
                          </a:solidFill>
                          <a:latin typeface="Meiryo" pitchFamily="34" charset="0"/>
                          <a:ea typeface="Meiryo" pitchFamily="34" charset="-122"/>
                          <a:cs typeface="Meiryo" pitchFamily="34" charset="-120"/>
                        </a:rPr>
                        <a:t>22.9%</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l" indent="0" marL="0">
                        <a:buNone/>
                      </a:pPr>
                      <a:r>
                        <a:rPr lang="en-US" sz="850" dirty="0">
                          <a:solidFill>
                            <a:srgbClr val="2B2622"/>
                          </a:solidFill>
                          <a:latin typeface="Meiryo" pitchFamily="34" charset="0"/>
                          <a:ea typeface="Meiryo" pitchFamily="34" charset="-122"/>
                          <a:cs typeface="Meiryo" pitchFamily="34" charset="-120"/>
                        </a:rPr>
                        <a:t>規模拡大で固定費が薄まりわずかに改善する</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r>
              <a:tr h="217627">
                <a:tc>
                  <a:txBody>
                    <a:bodyPr/>
                    <a:lstStyle/>
                    <a:p>
                      <a:pPr algn="ctr" indent="0" marL="0">
                        <a:buNone/>
                      </a:pPr>
                      <a:r>
                        <a:rPr lang="en-US" sz="850" dirty="0">
                          <a:solidFill>
                            <a:srgbClr val="2B2622"/>
                          </a:solidFill>
                          <a:latin typeface="Meiryo" pitchFamily="34" charset="0"/>
                          <a:ea typeface="Meiryo" pitchFamily="34" charset="-122"/>
                          <a:cs typeface="Meiryo" pitchFamily="34" charset="-120"/>
                        </a:rPr>
                        <a:t>WineBank受取（年平均）</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622"/>
                          </a:solidFill>
                          <a:latin typeface="Meiryo" pitchFamily="34" charset="0"/>
                          <a:ea typeface="Meiryo" pitchFamily="34" charset="-122"/>
                          <a:cs typeface="Meiryo" pitchFamily="34" charset="-120"/>
                        </a:rPr>
                        <a:t>126百万円</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622"/>
                          </a:solidFill>
                          <a:latin typeface="Meiryo" pitchFamily="34" charset="0"/>
                          <a:ea typeface="Meiryo" pitchFamily="34" charset="-122"/>
                          <a:cs typeface="Meiryo" pitchFamily="34" charset="-120"/>
                        </a:rPr>
                        <a:t>254百万円</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l" indent="0" marL="0">
                        <a:buNone/>
                      </a:pPr>
                      <a:r>
                        <a:rPr lang="en-US" sz="850" dirty="0">
                          <a:solidFill>
                            <a:srgbClr val="2B2622"/>
                          </a:solidFill>
                          <a:latin typeface="Meiryo" pitchFamily="34" charset="0"/>
                          <a:ea typeface="Meiryo" pitchFamily="34" charset="-122"/>
                          <a:cs typeface="Meiryo" pitchFamily="34" charset="-120"/>
                        </a:rPr>
                        <a:t>値入れ＋持分＋管理報酬（5年間の年平均）</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r>
              <a:tr h="217627">
                <a:tc>
                  <a:txBody>
                    <a:bodyPr/>
                    <a:lstStyle/>
                    <a:p>
                      <a:pPr algn="ctr" indent="0" marL="0">
                        <a:buNone/>
                      </a:pPr>
                      <a:r>
                        <a:rPr lang="en-US" sz="850" dirty="0">
                          <a:solidFill>
                            <a:srgbClr val="2B2622"/>
                          </a:solidFill>
                          <a:latin typeface="Meiryo" pitchFamily="34" charset="0"/>
                          <a:ea typeface="Meiryo" pitchFamily="34" charset="-122"/>
                          <a:cs typeface="Meiryo" pitchFamily="34" charset="-120"/>
                        </a:rPr>
                        <a:t>20%の分岐点（年平均）</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622"/>
                          </a:solidFill>
                          <a:latin typeface="Meiryo" pitchFamily="34" charset="0"/>
                          <a:ea typeface="Meiryo" pitchFamily="34" charset="-122"/>
                          <a:cs typeface="Meiryo" pitchFamily="34" charset="-120"/>
                        </a:rPr>
                        <a:t>回転12.3ヶ月</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622"/>
                          </a:solidFill>
                          <a:latin typeface="Meiryo" pitchFamily="34" charset="0"/>
                          <a:ea typeface="Meiryo" pitchFamily="34" charset="-122"/>
                          <a:cs typeface="Meiryo" pitchFamily="34" charset="-120"/>
                        </a:rPr>
                        <a:t>回転13.7ヶ月</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l" indent="0" marL="0">
                        <a:buNone/>
                      </a:pPr>
                      <a:r>
                        <a:rPr lang="en-US" sz="850" dirty="0">
                          <a:solidFill>
                            <a:srgbClr val="2B2622"/>
                          </a:solidFill>
                          <a:latin typeface="Meiryo" pitchFamily="34" charset="0"/>
                          <a:ea typeface="Meiryo" pitchFamily="34" charset="-122"/>
                          <a:cs typeface="Meiryo" pitchFamily="34" charset="-120"/>
                        </a:rPr>
                        <a:t>これを超えると貴社基準を下回る</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r>
            </a:tbl>
          </a:graphicData>
        </a:graphic>
      </p:graphicFrame>
      <p:sp>
        <p:nvSpPr>
          <p:cNvPr id="21" name="Shape 18"/>
          <p:cNvSpPr/>
          <p:nvPr/>
        </p:nvSpPr>
        <p:spPr>
          <a:xfrm>
            <a:off x="658368" y="5815584"/>
            <a:ext cx="10874959" cy="566928"/>
          </a:xfrm>
          <a:prstGeom prst="roundRect">
            <a:avLst>
              <a:gd name="adj" fmla="val 12903"/>
            </a:avLst>
          </a:prstGeom>
          <a:solidFill>
            <a:srgbClr val="F3E9D6"/>
          </a:solidFill>
          <a:ln w="9525">
            <a:solidFill>
              <a:srgbClr val="C9AE7E"/>
            </a:solidFill>
            <a:prstDash val="solid"/>
          </a:ln>
          <a:effectLst>
            <a:outerShdw sx="100000" sy="100000" kx="0" ky="0" algn="bl" rotWithShape="0" blurRad="76200" dist="25400" dir="5400000">
              <a:srgbClr val="6F665F">
                <a:alpha val="18000"/>
              </a:srgbClr>
            </a:outerShdw>
          </a:effectLst>
        </p:spPr>
      </p:sp>
      <p:sp>
        <p:nvSpPr>
          <p:cNvPr id="22" name="Text 19"/>
          <p:cNvSpPr/>
          <p:nvPr/>
        </p:nvSpPr>
        <p:spPr>
          <a:xfrm>
            <a:off x="932688" y="5888736"/>
            <a:ext cx="10326319" cy="420624"/>
          </a:xfrm>
          <a:prstGeom prst="rect">
            <a:avLst/>
          </a:prstGeom>
          <a:noFill/>
          <a:ln/>
        </p:spPr>
        <p:txBody>
          <a:bodyPr wrap="square" lIns="0" tIns="0" rIns="0" bIns="0" rtlCol="0" anchor="ctr"/>
          <a:lstStyle/>
          <a:p>
            <a:pPr indent="0" marL="0">
              <a:lnSpc>
                <a:spcPct val="118000"/>
              </a:lnSpc>
              <a:buNone/>
            </a:pPr>
            <a:r>
              <a:rPr lang="en-US" sz="1000" b="1" dirty="0">
                <a:solidFill>
                  <a:srgbClr val="8C6A3A"/>
                </a:solidFill>
                <a:latin typeface="Meiryo" pitchFamily="34" charset="0"/>
                <a:ea typeface="Meiryo" pitchFamily="34" charset="-122"/>
                <a:cs typeface="Meiryo" pitchFamily="34" charset="-120"/>
              </a:rPr>
              <a:t>セカンドクローズの判断基準：</a:t>
            </a:r>
            <a:pPr indent="0" marL="0">
              <a:lnSpc>
                <a:spcPct val="118000"/>
              </a:lnSpc>
              <a:buNone/>
            </a:pPr>
            <a:r>
              <a:rPr lang="en-US" sz="950" dirty="0">
                <a:solidFill>
                  <a:srgbClr val="2B2622"/>
                </a:solidFill>
                <a:latin typeface="Meiryo" pitchFamily="34" charset="0"/>
                <a:ea typeface="Meiryo" pitchFamily="34" charset="-122"/>
                <a:cs typeface="Meiryo" pitchFamily="34" charset="-120"/>
              </a:rPr>
              <a:t>規模を倍にすると必要な年間販売額も 6.67億円 → 13.34億円 と倍増する。これは現状の販売実力（年5〜7億円）を大きく超える水準であり、規模拡大は販売実力の拡大とセットでなければ回転12ヶ月を維持できない。セカンドクローズはファーストクローズの回転実績を確認したうえで判断する。</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484632"/>
            <a:ext cx="109728" cy="109728"/>
          </a:xfrm>
          <a:prstGeom prst="ellipse">
            <a:avLst/>
          </a:prstGeom>
          <a:solidFill>
            <a:srgbClr val="A78450"/>
          </a:solidFill>
          <a:ln w="12700">
            <a:solidFill>
              <a:srgbClr val="A78450"/>
            </a:solidFill>
            <a:prstDash val="solid"/>
          </a:ln>
        </p:spPr>
      </p:sp>
      <p:sp>
        <p:nvSpPr>
          <p:cNvPr id="3" name="Text 1"/>
          <p:cNvSpPr/>
          <p:nvPr/>
        </p:nvSpPr>
        <p:spPr>
          <a:xfrm>
            <a:off x="923544" y="365760"/>
            <a:ext cx="9601200" cy="329184"/>
          </a:xfrm>
          <a:prstGeom prst="rect">
            <a:avLst/>
          </a:prstGeom>
          <a:noFill/>
          <a:ln/>
        </p:spPr>
        <p:txBody>
          <a:bodyPr wrap="square" lIns="0" tIns="0" rIns="0" bIns="0" rtlCol="0" anchor="ctr"/>
          <a:lstStyle/>
          <a:p>
            <a:pPr indent="0" marL="0">
              <a:buNone/>
            </a:pPr>
            <a:r>
              <a:rPr lang="en-US" sz="1200" b="1" spc="240" kern="0" dirty="0">
                <a:solidFill>
                  <a:srgbClr val="A78450"/>
                </a:solidFill>
                <a:latin typeface="Meiryo" pitchFamily="34" charset="0"/>
                <a:ea typeface="Meiryo" pitchFamily="34" charset="-122"/>
                <a:cs typeface="Meiryo" pitchFamily="34" charset="-120"/>
              </a:rPr>
              <a:t>SALES PLAN</a:t>
            </a:r>
            <a:endParaRPr lang="en-US" sz="1200" dirty="0"/>
          </a:p>
        </p:txBody>
      </p:sp>
      <p:sp>
        <p:nvSpPr>
          <p:cNvPr id="4" name="Text 2"/>
          <p:cNvSpPr/>
          <p:nvPr/>
        </p:nvSpPr>
        <p:spPr>
          <a:xfrm>
            <a:off x="658368" y="731520"/>
            <a:ext cx="10874959" cy="566928"/>
          </a:xfrm>
          <a:prstGeom prst="rect">
            <a:avLst/>
          </a:prstGeom>
          <a:noFill/>
          <a:ln/>
        </p:spPr>
        <p:txBody>
          <a:bodyPr wrap="square" lIns="0" tIns="0" rIns="0" bIns="0" rtlCol="0" anchor="ctr"/>
          <a:lstStyle/>
          <a:p>
            <a:pPr indent="0" marL="0">
              <a:buNone/>
            </a:pPr>
            <a:r>
              <a:rPr lang="en-US" sz="2600" b="1" dirty="0">
                <a:solidFill>
                  <a:srgbClr val="2B2622"/>
                </a:solidFill>
                <a:latin typeface="Meiryo" pitchFamily="34" charset="0"/>
                <a:ea typeface="Meiryo" pitchFamily="34" charset="-122"/>
                <a:cs typeface="Meiryo" pitchFamily="34" charset="-120"/>
              </a:rPr>
              <a:t>在庫回転12ヶ月をどう実現するか</a:t>
            </a:r>
            <a:endParaRPr lang="en-US" sz="2600" dirty="0"/>
          </a:p>
        </p:txBody>
      </p:sp>
      <p:sp>
        <p:nvSpPr>
          <p:cNvPr id="5" name="Text 3"/>
          <p:cNvSpPr/>
          <p:nvPr/>
        </p:nvSpPr>
        <p:spPr>
          <a:xfrm>
            <a:off x="658368" y="1261872"/>
            <a:ext cx="10874959" cy="310896"/>
          </a:xfrm>
          <a:prstGeom prst="rect">
            <a:avLst/>
          </a:prstGeom>
          <a:noFill/>
          <a:ln/>
        </p:spPr>
        <p:txBody>
          <a:bodyPr wrap="square" lIns="0" tIns="0" rIns="0" bIns="0" rtlCol="0" anchor="ctr"/>
          <a:lstStyle/>
          <a:p>
            <a:pPr indent="0" marL="0">
              <a:buNone/>
            </a:pPr>
            <a:r>
              <a:rPr lang="en-US" sz="1150" dirty="0">
                <a:solidFill>
                  <a:srgbClr val="6F665F"/>
                </a:solidFill>
                <a:latin typeface="Meiryo" pitchFamily="34" charset="0"/>
                <a:ea typeface="Meiryo" pitchFamily="34" charset="-122"/>
                <a:cs typeface="Meiryo" pitchFamily="34" charset="-120"/>
              </a:rPr>
              <a:t>ファーストクローズでは回転12ヶ月に年間6.67億円の販売が必要となる。組入銘柄の選定を主たる手段とし、配分ルールと販路拡大で補う。</a:t>
            </a:r>
            <a:endParaRPr lang="en-US" sz="1150" dirty="0"/>
          </a:p>
        </p:txBody>
      </p:sp>
      <p:sp>
        <p:nvSpPr>
          <p:cNvPr id="6" name="Text 4"/>
          <p:cNvSpPr/>
          <p:nvPr/>
        </p:nvSpPr>
        <p:spPr>
          <a:xfrm>
            <a:off x="658368" y="6446520"/>
            <a:ext cx="5486400" cy="256032"/>
          </a:xfrm>
          <a:prstGeom prst="rect">
            <a:avLst/>
          </a:prstGeom>
          <a:noFill/>
          <a:ln/>
        </p:spPr>
        <p:txBody>
          <a:bodyPr wrap="square" lIns="0" tIns="0" rIns="0" bIns="0" rtlCol="0" anchor="ctr"/>
          <a:lstStyle/>
          <a:p>
            <a:pPr indent="0" marL="0">
              <a:buNone/>
            </a:pPr>
            <a:r>
              <a:rPr lang="en-US" sz="900" dirty="0">
                <a:solidFill>
                  <a:srgbClr val="9A8F84"/>
                </a:solidFill>
                <a:latin typeface="Meiryo" pitchFamily="34" charset="0"/>
                <a:ea typeface="Meiryo" pitchFamily="34" charset="-122"/>
                <a:cs typeface="Meiryo" pitchFamily="34" charset="-120"/>
              </a:rPr>
              <a:t>Confidential</a:t>
            </a:r>
            <a:endParaRPr lang="en-US" sz="900" dirty="0"/>
          </a:p>
        </p:txBody>
      </p:sp>
      <p:sp>
        <p:nvSpPr>
          <p:cNvPr id="7" name="Text 5"/>
          <p:cNvSpPr/>
          <p:nvPr/>
        </p:nvSpPr>
        <p:spPr>
          <a:xfrm>
            <a:off x="10984687" y="6446520"/>
            <a:ext cx="548640" cy="256032"/>
          </a:xfrm>
          <a:prstGeom prst="rect">
            <a:avLst/>
          </a:prstGeom>
          <a:noFill/>
          <a:ln/>
        </p:spPr>
        <p:txBody>
          <a:bodyPr wrap="square" lIns="0" tIns="0" rIns="0" bIns="0" rtlCol="0" anchor="ctr"/>
          <a:lstStyle/>
          <a:p>
            <a:pPr algn="r" indent="0" marL="0">
              <a:buNone/>
            </a:pPr>
            <a:r>
              <a:rPr lang="en-US" sz="900" dirty="0">
                <a:solidFill>
                  <a:srgbClr val="9A8F84"/>
                </a:solidFill>
                <a:latin typeface="Meiryo" pitchFamily="34" charset="0"/>
                <a:ea typeface="Meiryo" pitchFamily="34" charset="-122"/>
                <a:cs typeface="Meiryo" pitchFamily="34" charset="-120"/>
              </a:rPr>
              <a:t>4</a:t>
            </a:r>
            <a:endParaRPr lang="en-US" sz="9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58368" y="1645920"/>
          <a:ext cx="10874959" cy="914400"/>
        </p:xfrm>
        <a:graphic>
          <a:graphicData uri="http://schemas.openxmlformats.org/drawingml/2006/table">
            <a:tbl>
              <a:tblPr/>
              <a:tblGrid>
                <a:gridCol w="1591056"/>
                <a:gridCol w="1572768"/>
                <a:gridCol w="1316736"/>
                <a:gridCol w="1481328"/>
                <a:gridCol w="1298448"/>
                <a:gridCol w="1572768"/>
                <a:gridCol w="2039112"/>
              </a:tblGrid>
              <a:tr h="384048">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在庫回転期間</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2B2622"/>
                    </a:solidFill>
                  </a:tcPr>
                </a:tc>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必要な年間販売額</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2B2622"/>
                    </a:solidFill>
                  </a:tcPr>
                </a:tc>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年間税前利益</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2B2622"/>
                    </a:solidFill>
                  </a:tcPr>
                </a:tc>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投資家取分</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2B2622"/>
                    </a:solidFill>
                  </a:tcPr>
                </a:tc>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年平均利回り</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2B2622"/>
                    </a:solidFill>
                  </a:tcPr>
                </a:tc>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WB受取（年平均）</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2B2622"/>
                    </a:solidFill>
                  </a:tcPr>
                </a:tc>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位置づけ</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2B2622"/>
                    </a:solidFill>
                  </a:tcPr>
                </a:tc>
              </a:tr>
              <a:tr h="384048">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9ヶ月（最短）</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8.76億円</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1.45億円</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58百万円</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8C6A3A"/>
                          </a:solidFill>
                          <a:latin typeface="Meiryo" pitchFamily="34" charset="0"/>
                          <a:ea typeface="Meiryo" pitchFamily="34" charset="-122"/>
                          <a:cs typeface="Meiryo" pitchFamily="34" charset="-120"/>
                        </a:rPr>
                        <a:t>27.8%</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171百万円</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B2622"/>
                          </a:solidFill>
                          <a:latin typeface="Meiryo" pitchFamily="34" charset="0"/>
                          <a:ea typeface="Meiryo" pitchFamily="34" charset="-122"/>
                          <a:cs typeface="Meiryo" pitchFamily="34" charset="-120"/>
                        </a:rPr>
                        <a:t>販路拡大が実現した場合の上限</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r>
              <a:tr h="384048">
                <a:tc>
                  <a:txBody>
                    <a:bodyPr/>
                    <a:lstStyle/>
                    <a:p>
                      <a:pPr algn="ctr" indent="0" marL="0">
                        <a:buNone/>
                      </a:pPr>
                      <a:r>
                        <a:rPr lang="en-US" sz="1000" b="1" dirty="0">
                          <a:solidFill>
                            <a:srgbClr val="8C6A3A"/>
                          </a:solidFill>
                          <a:latin typeface="Meiryo" pitchFamily="34" charset="0"/>
                          <a:ea typeface="Meiryo" pitchFamily="34" charset="-122"/>
                          <a:cs typeface="Meiryo" pitchFamily="34" charset="-120"/>
                        </a:rPr>
                        <a:t>12ヶ月（主線）</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8C6A3A"/>
                          </a:solidFill>
                          <a:latin typeface="Meiryo" pitchFamily="34" charset="0"/>
                          <a:ea typeface="Meiryo" pitchFamily="34" charset="-122"/>
                          <a:cs typeface="Meiryo" pitchFamily="34" charset="-120"/>
                        </a:rPr>
                        <a:t>6.67億円</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1.12億円</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45百万円</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8C6A3A"/>
                          </a:solidFill>
                          <a:latin typeface="Meiryo" pitchFamily="34" charset="0"/>
                          <a:ea typeface="Meiryo" pitchFamily="34" charset="-122"/>
                          <a:cs typeface="Meiryo" pitchFamily="34" charset="-120"/>
                        </a:rPr>
                        <a:t>20.0%</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126百万円</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l" indent="0" marL="0">
                        <a:buNone/>
                      </a:pPr>
                      <a:r>
                        <a:rPr lang="en-US" sz="1000" dirty="0">
                          <a:solidFill>
                            <a:srgbClr val="8C6A3A"/>
                          </a:solidFill>
                          <a:latin typeface="Meiryo" pitchFamily="34" charset="0"/>
                          <a:ea typeface="Meiryo" pitchFamily="34" charset="-122"/>
                          <a:cs typeface="Meiryo" pitchFamily="34" charset="-120"/>
                        </a:rPr>
                        <a:t>貴社基準20%を満たす水準</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r>
              <a:tr h="384048">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15ヶ月</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5.41億円</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0.93億円</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37百万円</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B4553F"/>
                          </a:solidFill>
                          <a:latin typeface="Meiryo" pitchFamily="34" charset="0"/>
                          <a:ea typeface="Meiryo" pitchFamily="34" charset="-122"/>
                          <a:cs typeface="Meiryo" pitchFamily="34" charset="-120"/>
                        </a:rPr>
                        <a:t>16.1%</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103百万円</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l" indent="0" marL="0">
                        <a:buNone/>
                      </a:pPr>
                      <a:r>
                        <a:rPr lang="en-US" sz="1000" dirty="0">
                          <a:solidFill>
                            <a:srgbClr val="B4553F"/>
                          </a:solidFill>
                          <a:latin typeface="Meiryo" pitchFamily="34" charset="0"/>
                          <a:ea typeface="Meiryo" pitchFamily="34" charset="-122"/>
                          <a:cs typeface="Meiryo" pitchFamily="34" charset="-120"/>
                        </a:rPr>
                        <a:t>20%を下回る</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r>
              <a:tr h="384048">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18ヶ月</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4.58億円</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0.80億円</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32百万円</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B4553F"/>
                          </a:solidFill>
                          <a:latin typeface="Meiryo" pitchFamily="34" charset="0"/>
                          <a:ea typeface="Meiryo" pitchFamily="34" charset="-122"/>
                          <a:cs typeface="Meiryo" pitchFamily="34" charset="-120"/>
                        </a:rPr>
                        <a:t>16.1%</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103百万円</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l" indent="0" marL="0">
                        <a:buNone/>
                      </a:pPr>
                      <a:r>
                        <a:rPr lang="en-US" sz="1000" dirty="0">
                          <a:solidFill>
                            <a:srgbClr val="B4553F"/>
                          </a:solidFill>
                          <a:latin typeface="Meiryo" pitchFamily="34" charset="0"/>
                          <a:ea typeface="Meiryo" pitchFamily="34" charset="-122"/>
                          <a:cs typeface="Meiryo" pitchFamily="34" charset="-120"/>
                        </a:rPr>
                        <a:t>20%を下回る</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r>
            </a:tbl>
          </a:graphicData>
        </a:graphic>
      </p:graphicFrame>
      <p:sp>
        <p:nvSpPr>
          <p:cNvPr id="9" name="Shape 6"/>
          <p:cNvSpPr/>
          <p:nvPr/>
        </p:nvSpPr>
        <p:spPr>
          <a:xfrm>
            <a:off x="658368" y="3749040"/>
            <a:ext cx="3454298" cy="1847088"/>
          </a:xfrm>
          <a:prstGeom prst="roundRect">
            <a:avLst>
              <a:gd name="adj" fmla="val 3960"/>
            </a:avLst>
          </a:prstGeom>
          <a:solidFill>
            <a:srgbClr val="F3E9D6"/>
          </a:solidFill>
          <a:ln w="9525">
            <a:solidFill>
              <a:srgbClr val="C9AE7E"/>
            </a:solidFill>
            <a:prstDash val="solid"/>
          </a:ln>
          <a:effectLst>
            <a:outerShdw sx="100000" sy="100000" kx="0" ky="0" algn="bl" rotWithShape="0" blurRad="76200" dist="25400" dir="5400000">
              <a:srgbClr val="6F665F">
                <a:alpha val="18000"/>
              </a:srgbClr>
            </a:outerShdw>
          </a:effectLst>
        </p:spPr>
      </p:sp>
      <p:sp>
        <p:nvSpPr>
          <p:cNvPr id="10" name="Text 7"/>
          <p:cNvSpPr/>
          <p:nvPr/>
        </p:nvSpPr>
        <p:spPr>
          <a:xfrm>
            <a:off x="896112" y="3913632"/>
            <a:ext cx="2978810" cy="237744"/>
          </a:xfrm>
          <a:prstGeom prst="rect">
            <a:avLst/>
          </a:prstGeom>
          <a:noFill/>
          <a:ln/>
        </p:spPr>
        <p:txBody>
          <a:bodyPr wrap="square" lIns="0" tIns="0" rIns="0" bIns="0" rtlCol="0" anchor="ctr"/>
          <a:lstStyle/>
          <a:p>
            <a:pPr indent="0" marL="0">
              <a:buNone/>
            </a:pPr>
            <a:r>
              <a:rPr lang="en-US" sz="1100" b="1" dirty="0">
                <a:solidFill>
                  <a:srgbClr val="8C6A3A"/>
                </a:solidFill>
                <a:latin typeface="Meiryo" pitchFamily="34" charset="0"/>
                <a:ea typeface="Meiryo" pitchFamily="34" charset="-122"/>
                <a:cs typeface="Meiryo" pitchFamily="34" charset="-120"/>
              </a:rPr>
              <a:t>第一の手段</a:t>
            </a:r>
            <a:endParaRPr lang="en-US" sz="1100" dirty="0"/>
          </a:p>
        </p:txBody>
      </p:sp>
      <p:sp>
        <p:nvSpPr>
          <p:cNvPr id="11" name="Text 8"/>
          <p:cNvSpPr/>
          <p:nvPr/>
        </p:nvSpPr>
        <p:spPr>
          <a:xfrm>
            <a:off x="896112" y="4187952"/>
            <a:ext cx="2978810" cy="365760"/>
          </a:xfrm>
          <a:prstGeom prst="rect">
            <a:avLst/>
          </a:prstGeom>
          <a:noFill/>
          <a:ln/>
        </p:spPr>
        <p:txBody>
          <a:bodyPr wrap="square" lIns="0" tIns="0" rIns="0" bIns="0" rtlCol="0" anchor="ctr"/>
          <a:lstStyle/>
          <a:p>
            <a:pPr indent="0" marL="0">
              <a:buNone/>
            </a:pPr>
            <a:r>
              <a:rPr lang="en-US" sz="1700" b="1" dirty="0">
                <a:solidFill>
                  <a:srgbClr val="8C6A3A"/>
                </a:solidFill>
                <a:latin typeface="Meiryo" pitchFamily="34" charset="0"/>
                <a:ea typeface="Meiryo" pitchFamily="34" charset="-122"/>
                <a:cs typeface="Meiryo" pitchFamily="34" charset="-120"/>
              </a:rPr>
              <a:t>組入銘柄の選定</a:t>
            </a:r>
            <a:endParaRPr lang="en-US" sz="1700" dirty="0"/>
          </a:p>
        </p:txBody>
      </p:sp>
      <p:sp>
        <p:nvSpPr>
          <p:cNvPr id="12" name="Text 9"/>
          <p:cNvSpPr/>
          <p:nvPr/>
        </p:nvSpPr>
        <p:spPr>
          <a:xfrm>
            <a:off x="896112" y="4608576"/>
            <a:ext cx="2978810" cy="896112"/>
          </a:xfrm>
          <a:prstGeom prst="rect">
            <a:avLst/>
          </a:prstGeom>
          <a:noFill/>
          <a:ln/>
        </p:spPr>
        <p:txBody>
          <a:bodyPr wrap="square" lIns="0" tIns="0" rIns="0" bIns="0" rtlCol="0" anchor="ctr"/>
          <a:lstStyle/>
          <a:p>
            <a:pPr indent="0" marL="0">
              <a:lnSpc>
                <a:spcPct val="124000"/>
              </a:lnSpc>
              <a:buNone/>
            </a:pPr>
            <a:r>
              <a:rPr lang="en-US" sz="900" dirty="0">
                <a:solidFill>
                  <a:srgbClr val="6F665F"/>
                </a:solidFill>
                <a:latin typeface="Meiryo" pitchFamily="34" charset="0"/>
                <a:ea typeface="Meiryo" pitchFamily="34" charset="-122"/>
                <a:cs typeface="Meiryo" pitchFamily="34" charset="-120"/>
              </a:rPr>
              <a:t>Liv-ex掲載の流動性上位銘柄など、回転の速い銘柄をSPCに組み入れる。何を持たせるかで回転期間の大半が決まるため、これが最も効く打ち手となる。WineBankの現物出資分についても同じ基準で拠出銘柄を選定する。</a:t>
            </a:r>
            <a:endParaRPr lang="en-US" sz="900" dirty="0"/>
          </a:p>
        </p:txBody>
      </p:sp>
      <p:sp>
        <p:nvSpPr>
          <p:cNvPr id="13" name="Shape 10"/>
          <p:cNvSpPr/>
          <p:nvPr/>
        </p:nvSpPr>
        <p:spPr>
          <a:xfrm>
            <a:off x="4368698" y="3749040"/>
            <a:ext cx="3454298" cy="1847088"/>
          </a:xfrm>
          <a:prstGeom prst="roundRect">
            <a:avLst>
              <a:gd name="adj" fmla="val 3960"/>
            </a:avLst>
          </a:prstGeom>
          <a:solidFill>
            <a:srgbClr val="F5EFE4"/>
          </a:solidFill>
          <a:ln w="9525">
            <a:solidFill>
              <a:srgbClr val="E6DCCB"/>
            </a:solidFill>
            <a:prstDash val="solid"/>
          </a:ln>
          <a:effectLst>
            <a:outerShdw sx="100000" sy="100000" kx="0" ky="0" algn="bl" rotWithShape="0" blurRad="76200" dist="25400" dir="5400000">
              <a:srgbClr val="6F665F">
                <a:alpha val="18000"/>
              </a:srgbClr>
            </a:outerShdw>
          </a:effectLst>
        </p:spPr>
      </p:sp>
      <p:sp>
        <p:nvSpPr>
          <p:cNvPr id="14" name="Text 11"/>
          <p:cNvSpPr/>
          <p:nvPr/>
        </p:nvSpPr>
        <p:spPr>
          <a:xfrm>
            <a:off x="4606442" y="3913632"/>
            <a:ext cx="2978810" cy="237744"/>
          </a:xfrm>
          <a:prstGeom prst="rect">
            <a:avLst/>
          </a:prstGeom>
          <a:noFill/>
          <a:ln/>
        </p:spPr>
        <p:txBody>
          <a:bodyPr wrap="square" lIns="0" tIns="0" rIns="0" bIns="0" rtlCol="0" anchor="ctr"/>
          <a:lstStyle/>
          <a:p>
            <a:pPr indent="0" marL="0">
              <a:buNone/>
            </a:pPr>
            <a:r>
              <a:rPr lang="en-US" sz="1100" b="1" dirty="0">
                <a:solidFill>
                  <a:srgbClr val="2B2622"/>
                </a:solidFill>
                <a:latin typeface="Meiryo" pitchFamily="34" charset="0"/>
                <a:ea typeface="Meiryo" pitchFamily="34" charset="-122"/>
                <a:cs typeface="Meiryo" pitchFamily="34" charset="-120"/>
              </a:rPr>
              <a:t>第二の手段</a:t>
            </a:r>
            <a:endParaRPr lang="en-US" sz="1100" dirty="0"/>
          </a:p>
        </p:txBody>
      </p:sp>
      <p:sp>
        <p:nvSpPr>
          <p:cNvPr id="15" name="Text 12"/>
          <p:cNvSpPr/>
          <p:nvPr/>
        </p:nvSpPr>
        <p:spPr>
          <a:xfrm>
            <a:off x="4606442" y="4187952"/>
            <a:ext cx="2978810" cy="365760"/>
          </a:xfrm>
          <a:prstGeom prst="rect">
            <a:avLst/>
          </a:prstGeom>
          <a:noFill/>
          <a:ln/>
        </p:spPr>
        <p:txBody>
          <a:bodyPr wrap="square" lIns="0" tIns="0" rIns="0" bIns="0" rtlCol="0" anchor="ctr"/>
          <a:lstStyle/>
          <a:p>
            <a:pPr indent="0" marL="0">
              <a:buNone/>
            </a:pPr>
            <a:r>
              <a:rPr lang="en-US" sz="1700" b="1" dirty="0">
                <a:solidFill>
                  <a:srgbClr val="8C6A3A"/>
                </a:solidFill>
                <a:latin typeface="Meiryo" pitchFamily="34" charset="0"/>
                <a:ea typeface="Meiryo" pitchFamily="34" charset="-122"/>
                <a:cs typeface="Meiryo" pitchFamily="34" charset="-120"/>
              </a:rPr>
              <a:t>配分ルール</a:t>
            </a:r>
            <a:endParaRPr lang="en-US" sz="1700" dirty="0"/>
          </a:p>
        </p:txBody>
      </p:sp>
      <p:sp>
        <p:nvSpPr>
          <p:cNvPr id="16" name="Text 13"/>
          <p:cNvSpPr/>
          <p:nvPr/>
        </p:nvSpPr>
        <p:spPr>
          <a:xfrm>
            <a:off x="4606442" y="4608576"/>
            <a:ext cx="2978810" cy="896112"/>
          </a:xfrm>
          <a:prstGeom prst="rect">
            <a:avLst/>
          </a:prstGeom>
          <a:noFill/>
          <a:ln/>
        </p:spPr>
        <p:txBody>
          <a:bodyPr wrap="square" lIns="0" tIns="0" rIns="0" bIns="0" rtlCol="0" anchor="ctr"/>
          <a:lstStyle/>
          <a:p>
            <a:pPr indent="0" marL="0">
              <a:lnSpc>
                <a:spcPct val="124000"/>
              </a:lnSpc>
              <a:buNone/>
            </a:pPr>
            <a:r>
              <a:rPr lang="en-US" sz="900" dirty="0">
                <a:solidFill>
                  <a:srgbClr val="6F665F"/>
                </a:solidFill>
                <a:latin typeface="Meiryo" pitchFamily="34" charset="0"/>
                <a:ea typeface="Meiryo" pitchFamily="34" charset="-122"/>
                <a:cs typeface="Meiryo" pitchFamily="34" charset="-120"/>
              </a:rPr>
              <a:t>自己勘定在庫と重複する銘柄は在庫比率でプロラタ配分し、判断を要する場合はSPC在庫を優先する。契約別紙として明文化する。</a:t>
            </a:r>
            <a:endParaRPr lang="en-US" sz="900" dirty="0"/>
          </a:p>
        </p:txBody>
      </p:sp>
      <p:sp>
        <p:nvSpPr>
          <p:cNvPr id="17" name="Shape 14"/>
          <p:cNvSpPr/>
          <p:nvPr/>
        </p:nvSpPr>
        <p:spPr>
          <a:xfrm>
            <a:off x="8079029" y="3749040"/>
            <a:ext cx="3454298" cy="1847088"/>
          </a:xfrm>
          <a:prstGeom prst="roundRect">
            <a:avLst>
              <a:gd name="adj" fmla="val 3960"/>
            </a:avLst>
          </a:prstGeom>
          <a:solidFill>
            <a:srgbClr val="F5EFE4"/>
          </a:solidFill>
          <a:ln w="9525">
            <a:solidFill>
              <a:srgbClr val="E6DCCB"/>
            </a:solidFill>
            <a:prstDash val="solid"/>
          </a:ln>
          <a:effectLst>
            <a:outerShdw sx="100000" sy="100000" kx="0" ky="0" algn="bl" rotWithShape="0" blurRad="76200" dist="25400" dir="5400000">
              <a:srgbClr val="6F665F">
                <a:alpha val="18000"/>
              </a:srgbClr>
            </a:outerShdw>
          </a:effectLst>
        </p:spPr>
      </p:sp>
      <p:sp>
        <p:nvSpPr>
          <p:cNvPr id="18" name="Text 15"/>
          <p:cNvSpPr/>
          <p:nvPr/>
        </p:nvSpPr>
        <p:spPr>
          <a:xfrm>
            <a:off x="8316773" y="3913632"/>
            <a:ext cx="2978810" cy="237744"/>
          </a:xfrm>
          <a:prstGeom prst="rect">
            <a:avLst/>
          </a:prstGeom>
          <a:noFill/>
          <a:ln/>
        </p:spPr>
        <p:txBody>
          <a:bodyPr wrap="square" lIns="0" tIns="0" rIns="0" bIns="0" rtlCol="0" anchor="ctr"/>
          <a:lstStyle/>
          <a:p>
            <a:pPr indent="0" marL="0">
              <a:buNone/>
            </a:pPr>
            <a:r>
              <a:rPr lang="en-US" sz="1100" b="1" dirty="0">
                <a:solidFill>
                  <a:srgbClr val="2B2622"/>
                </a:solidFill>
                <a:latin typeface="Meiryo" pitchFamily="34" charset="0"/>
                <a:ea typeface="Meiryo" pitchFamily="34" charset="-122"/>
                <a:cs typeface="Meiryo" pitchFamily="34" charset="-120"/>
              </a:rPr>
              <a:t>第三の手段</a:t>
            </a:r>
            <a:endParaRPr lang="en-US" sz="1100" dirty="0"/>
          </a:p>
        </p:txBody>
      </p:sp>
      <p:sp>
        <p:nvSpPr>
          <p:cNvPr id="19" name="Text 16"/>
          <p:cNvSpPr/>
          <p:nvPr/>
        </p:nvSpPr>
        <p:spPr>
          <a:xfrm>
            <a:off x="8316773" y="4187952"/>
            <a:ext cx="2978810" cy="365760"/>
          </a:xfrm>
          <a:prstGeom prst="rect">
            <a:avLst/>
          </a:prstGeom>
          <a:noFill/>
          <a:ln/>
        </p:spPr>
        <p:txBody>
          <a:bodyPr wrap="square" lIns="0" tIns="0" rIns="0" bIns="0" rtlCol="0" anchor="ctr"/>
          <a:lstStyle/>
          <a:p>
            <a:pPr indent="0" marL="0">
              <a:buNone/>
            </a:pPr>
            <a:r>
              <a:rPr lang="en-US" sz="1700" b="1" dirty="0">
                <a:solidFill>
                  <a:srgbClr val="8C6A3A"/>
                </a:solidFill>
                <a:latin typeface="Meiryo" pitchFamily="34" charset="0"/>
                <a:ea typeface="Meiryo" pitchFamily="34" charset="-122"/>
                <a:cs typeface="Meiryo" pitchFamily="34" charset="-120"/>
              </a:rPr>
              <a:t>販路の拡大</a:t>
            </a:r>
            <a:endParaRPr lang="en-US" sz="1700" dirty="0"/>
          </a:p>
        </p:txBody>
      </p:sp>
      <p:sp>
        <p:nvSpPr>
          <p:cNvPr id="20" name="Text 17"/>
          <p:cNvSpPr/>
          <p:nvPr/>
        </p:nvSpPr>
        <p:spPr>
          <a:xfrm>
            <a:off x="8316773" y="4608576"/>
            <a:ext cx="2978810" cy="896112"/>
          </a:xfrm>
          <a:prstGeom prst="rect">
            <a:avLst/>
          </a:prstGeom>
          <a:noFill/>
          <a:ln/>
        </p:spPr>
        <p:txBody>
          <a:bodyPr wrap="square" lIns="0" tIns="0" rIns="0" bIns="0" rtlCol="0" anchor="ctr"/>
          <a:lstStyle/>
          <a:p>
            <a:pPr indent="0" marL="0">
              <a:lnSpc>
                <a:spcPct val="124000"/>
              </a:lnSpc>
              <a:buNone/>
            </a:pPr>
            <a:r>
              <a:rPr lang="en-US" sz="900" dirty="0">
                <a:solidFill>
                  <a:srgbClr val="6F665F"/>
                </a:solidFill>
                <a:latin typeface="Meiryo" pitchFamily="34" charset="0"/>
                <a:ea typeface="Meiryo" pitchFamily="34" charset="-122"/>
                <a:cs typeface="Meiryo" pitchFamily="34" charset="-120"/>
              </a:rPr>
              <a:t>輸出入ライセンスを活かした海外販売、2026年9月開始のWineBank Auction、グループ飲食（アピシウス／ティエリーマルクス）。これらは出資金ではなくWineBank側の資本で手当てする。</a:t>
            </a:r>
            <a:endParaRPr lang="en-US" sz="900" dirty="0"/>
          </a:p>
        </p:txBody>
      </p:sp>
      <p:sp>
        <p:nvSpPr>
          <p:cNvPr id="21" name="Text 18"/>
          <p:cNvSpPr/>
          <p:nvPr/>
        </p:nvSpPr>
        <p:spPr>
          <a:xfrm>
            <a:off x="658368" y="5687568"/>
            <a:ext cx="10874959" cy="402336"/>
          </a:xfrm>
          <a:prstGeom prst="rect">
            <a:avLst/>
          </a:prstGeom>
          <a:noFill/>
          <a:ln/>
        </p:spPr>
        <p:txBody>
          <a:bodyPr wrap="square" lIns="0" tIns="0" rIns="0" bIns="0" rtlCol="0" anchor="ctr"/>
          <a:lstStyle/>
          <a:p>
            <a:pPr indent="0" marL="0">
              <a:lnSpc>
                <a:spcPct val="120000"/>
              </a:lnSpc>
              <a:buNone/>
            </a:pPr>
            <a:r>
              <a:rPr lang="en-US" sz="850" dirty="0">
                <a:solidFill>
                  <a:srgbClr val="9A8F84"/>
                </a:solidFill>
                <a:latin typeface="Meiryo" pitchFamily="34" charset="0"/>
                <a:ea typeface="Meiryo" pitchFamily="34" charset="-122"/>
                <a:cs typeface="Meiryo" pitchFamily="34" charset="-120"/>
              </a:rPr>
              <a:t>※ 回転12ヶ月に必要な年間販売額6.67億円は、現状の販売実力（年5〜7億円）の範囲内にある。銘柄の大半はSPCと自己勘定で重複しないため配分の判断自体が生じず、回転期間は「何を組み入れるか」でほぼ決まる。重複銘柄の取扱いは在庫配分の公平性の頁を参照。投資家利回り（年平均）が20%を割り込むのは回転が12.3ヶ月を超えた場合であり、主線12ヶ月に余裕はない。回転12ヶ月の達成が貴社基準を満たすための必須条件となる。</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484632"/>
            <a:ext cx="109728" cy="109728"/>
          </a:xfrm>
          <a:prstGeom prst="ellipse">
            <a:avLst/>
          </a:prstGeom>
          <a:solidFill>
            <a:srgbClr val="A78450"/>
          </a:solidFill>
          <a:ln w="12700">
            <a:solidFill>
              <a:srgbClr val="A78450"/>
            </a:solidFill>
            <a:prstDash val="solid"/>
          </a:ln>
        </p:spPr>
      </p:sp>
      <p:sp>
        <p:nvSpPr>
          <p:cNvPr id="3" name="Text 1"/>
          <p:cNvSpPr/>
          <p:nvPr/>
        </p:nvSpPr>
        <p:spPr>
          <a:xfrm>
            <a:off x="923544" y="365760"/>
            <a:ext cx="9601200" cy="329184"/>
          </a:xfrm>
          <a:prstGeom prst="rect">
            <a:avLst/>
          </a:prstGeom>
          <a:noFill/>
          <a:ln/>
        </p:spPr>
        <p:txBody>
          <a:bodyPr wrap="square" lIns="0" tIns="0" rIns="0" bIns="0" rtlCol="0" anchor="ctr"/>
          <a:lstStyle/>
          <a:p>
            <a:pPr indent="0" marL="0">
              <a:buNone/>
            </a:pPr>
            <a:r>
              <a:rPr lang="en-US" sz="1200" b="1" spc="240" kern="0" dirty="0">
                <a:solidFill>
                  <a:srgbClr val="A78450"/>
                </a:solidFill>
                <a:latin typeface="Meiryo" pitchFamily="34" charset="0"/>
                <a:ea typeface="Meiryo" pitchFamily="34" charset="-122"/>
                <a:cs typeface="Meiryo" pitchFamily="34" charset="-120"/>
              </a:rPr>
              <a:t>STRUCTURE</a:t>
            </a:r>
            <a:endParaRPr lang="en-US" sz="1200" dirty="0"/>
          </a:p>
        </p:txBody>
      </p:sp>
      <p:sp>
        <p:nvSpPr>
          <p:cNvPr id="4" name="Text 2"/>
          <p:cNvSpPr/>
          <p:nvPr/>
        </p:nvSpPr>
        <p:spPr>
          <a:xfrm>
            <a:off x="658368" y="731520"/>
            <a:ext cx="10874959" cy="566928"/>
          </a:xfrm>
          <a:prstGeom prst="rect">
            <a:avLst/>
          </a:prstGeom>
          <a:noFill/>
          <a:ln/>
        </p:spPr>
        <p:txBody>
          <a:bodyPr wrap="square" lIns="0" tIns="0" rIns="0" bIns="0" rtlCol="0" anchor="ctr"/>
          <a:lstStyle/>
          <a:p>
            <a:pPr indent="0" marL="0">
              <a:buNone/>
            </a:pPr>
            <a:r>
              <a:rPr lang="en-US" sz="2600" b="1" dirty="0">
                <a:solidFill>
                  <a:srgbClr val="2B2622"/>
                </a:solidFill>
                <a:latin typeface="Meiryo" pitchFamily="34" charset="0"/>
                <a:ea typeface="Meiryo" pitchFamily="34" charset="-122"/>
                <a:cs typeface="Meiryo" pitchFamily="34" charset="-120"/>
              </a:rPr>
              <a:t>ファンドスキーム</a:t>
            </a:r>
            <a:endParaRPr lang="en-US" sz="2600" dirty="0"/>
          </a:p>
        </p:txBody>
      </p:sp>
      <p:sp>
        <p:nvSpPr>
          <p:cNvPr id="5" name="Text 3"/>
          <p:cNvSpPr/>
          <p:nvPr/>
        </p:nvSpPr>
        <p:spPr>
          <a:xfrm>
            <a:off x="658368" y="1261872"/>
            <a:ext cx="10874959" cy="310896"/>
          </a:xfrm>
          <a:prstGeom prst="rect">
            <a:avLst/>
          </a:prstGeom>
          <a:noFill/>
          <a:ln/>
        </p:spPr>
        <p:txBody>
          <a:bodyPr wrap="square" lIns="0" tIns="0" rIns="0" bIns="0" rtlCol="0" anchor="ctr"/>
          <a:lstStyle/>
          <a:p>
            <a:pPr indent="0" marL="0">
              <a:buNone/>
            </a:pPr>
            <a:r>
              <a:rPr lang="en-US" sz="1150" dirty="0">
                <a:solidFill>
                  <a:srgbClr val="6F665F"/>
                </a:solidFill>
                <a:latin typeface="Meiryo" pitchFamily="34" charset="0"/>
                <a:ea typeface="Meiryo" pitchFamily="34" charset="-122"/>
                <a:cs typeface="Meiryo" pitchFamily="34" charset="-120"/>
              </a:rPr>
              <a:t>WineBankが免許事業者として売買当事者となり、SPCは現物の所有者として損益を受ける。WineBankは総額の60%の出資者でもある。</a:t>
            </a:r>
            <a:endParaRPr lang="en-US" sz="1150" dirty="0"/>
          </a:p>
        </p:txBody>
      </p:sp>
      <p:sp>
        <p:nvSpPr>
          <p:cNvPr id="6" name="Text 4"/>
          <p:cNvSpPr/>
          <p:nvPr/>
        </p:nvSpPr>
        <p:spPr>
          <a:xfrm>
            <a:off x="658368" y="6446520"/>
            <a:ext cx="5486400" cy="256032"/>
          </a:xfrm>
          <a:prstGeom prst="rect">
            <a:avLst/>
          </a:prstGeom>
          <a:noFill/>
          <a:ln/>
        </p:spPr>
        <p:txBody>
          <a:bodyPr wrap="square" lIns="0" tIns="0" rIns="0" bIns="0" rtlCol="0" anchor="ctr"/>
          <a:lstStyle/>
          <a:p>
            <a:pPr indent="0" marL="0">
              <a:buNone/>
            </a:pPr>
            <a:r>
              <a:rPr lang="en-US" sz="900" dirty="0">
                <a:solidFill>
                  <a:srgbClr val="9A8F84"/>
                </a:solidFill>
                <a:latin typeface="Meiryo" pitchFamily="34" charset="0"/>
                <a:ea typeface="Meiryo" pitchFamily="34" charset="-122"/>
                <a:cs typeface="Meiryo" pitchFamily="34" charset="-120"/>
              </a:rPr>
              <a:t>Confidential</a:t>
            </a:r>
            <a:endParaRPr lang="en-US" sz="900" dirty="0"/>
          </a:p>
        </p:txBody>
      </p:sp>
      <p:sp>
        <p:nvSpPr>
          <p:cNvPr id="7" name="Text 5"/>
          <p:cNvSpPr/>
          <p:nvPr/>
        </p:nvSpPr>
        <p:spPr>
          <a:xfrm>
            <a:off x="10984687" y="6446520"/>
            <a:ext cx="548640" cy="256032"/>
          </a:xfrm>
          <a:prstGeom prst="rect">
            <a:avLst/>
          </a:prstGeom>
          <a:noFill/>
          <a:ln/>
        </p:spPr>
        <p:txBody>
          <a:bodyPr wrap="square" lIns="0" tIns="0" rIns="0" bIns="0" rtlCol="0" anchor="ctr"/>
          <a:lstStyle/>
          <a:p>
            <a:pPr algn="r" indent="0" marL="0">
              <a:buNone/>
            </a:pPr>
            <a:r>
              <a:rPr lang="en-US" sz="900" dirty="0">
                <a:solidFill>
                  <a:srgbClr val="9A8F84"/>
                </a:solidFill>
                <a:latin typeface="Meiryo" pitchFamily="34" charset="0"/>
                <a:ea typeface="Meiryo" pitchFamily="34" charset="-122"/>
                <a:cs typeface="Meiryo" pitchFamily="34" charset="-120"/>
              </a:rPr>
              <a:t>5</a:t>
            </a:r>
            <a:endParaRPr lang="en-US" sz="900" dirty="0"/>
          </a:p>
        </p:txBody>
      </p:sp>
      <p:sp>
        <p:nvSpPr>
          <p:cNvPr id="8" name="Shape 6"/>
          <p:cNvSpPr/>
          <p:nvPr/>
        </p:nvSpPr>
        <p:spPr>
          <a:xfrm>
            <a:off x="658368" y="1700784"/>
            <a:ext cx="3246120" cy="1188720"/>
          </a:xfrm>
          <a:prstGeom prst="roundRect">
            <a:avLst>
              <a:gd name="adj" fmla="val 6154"/>
            </a:avLst>
          </a:prstGeom>
          <a:solidFill>
            <a:srgbClr val="F5EFE4"/>
          </a:solidFill>
          <a:ln w="9525">
            <a:solidFill>
              <a:srgbClr val="E6DCCB"/>
            </a:solidFill>
            <a:prstDash val="solid"/>
          </a:ln>
          <a:effectLst>
            <a:outerShdw sx="100000" sy="100000" kx="0" ky="0" algn="bl" rotWithShape="0" blurRad="76200" dist="25400" dir="5400000">
              <a:srgbClr val="6F665F">
                <a:alpha val="18000"/>
              </a:srgbClr>
            </a:outerShdw>
          </a:effectLst>
        </p:spPr>
      </p:sp>
      <p:sp>
        <p:nvSpPr>
          <p:cNvPr id="9" name="Text 7"/>
          <p:cNvSpPr/>
          <p:nvPr/>
        </p:nvSpPr>
        <p:spPr>
          <a:xfrm>
            <a:off x="877824" y="1920240"/>
            <a:ext cx="2807208" cy="256032"/>
          </a:xfrm>
          <a:prstGeom prst="rect">
            <a:avLst/>
          </a:prstGeom>
          <a:noFill/>
          <a:ln/>
        </p:spPr>
        <p:txBody>
          <a:bodyPr wrap="square" lIns="0" tIns="0" rIns="0" bIns="0" rtlCol="0" anchor="ctr"/>
          <a:lstStyle/>
          <a:p>
            <a:pPr indent="0" marL="0">
              <a:buNone/>
            </a:pPr>
            <a:r>
              <a:rPr lang="en-US" sz="1300" b="1" dirty="0">
                <a:solidFill>
                  <a:srgbClr val="2B2622"/>
                </a:solidFill>
                <a:latin typeface="Meiryo" pitchFamily="34" charset="0"/>
                <a:ea typeface="Meiryo" pitchFamily="34" charset="-122"/>
                <a:cs typeface="Meiryo" pitchFamily="34" charset="-120"/>
              </a:rPr>
              <a:t>投資家（資産管理会社ほか）</a:t>
            </a:r>
            <a:endParaRPr lang="en-US" sz="1300" dirty="0"/>
          </a:p>
        </p:txBody>
      </p:sp>
      <p:sp>
        <p:nvSpPr>
          <p:cNvPr id="10" name="Text 8"/>
          <p:cNvSpPr/>
          <p:nvPr/>
        </p:nvSpPr>
        <p:spPr>
          <a:xfrm>
            <a:off x="877824" y="2231136"/>
            <a:ext cx="2807208" cy="237744"/>
          </a:xfrm>
          <a:prstGeom prst="rect">
            <a:avLst/>
          </a:prstGeom>
          <a:noFill/>
          <a:ln/>
        </p:spPr>
        <p:txBody>
          <a:bodyPr wrap="square" lIns="0" tIns="0" rIns="0" bIns="0" rtlCol="0" anchor="ctr"/>
          <a:lstStyle/>
          <a:p>
            <a:pPr indent="0" marL="0">
              <a:buNone/>
            </a:pPr>
            <a:r>
              <a:rPr lang="en-US" sz="1050" dirty="0">
                <a:solidFill>
                  <a:srgbClr val="8C6A3A"/>
                </a:solidFill>
                <a:latin typeface="Meiryo" pitchFamily="34" charset="0"/>
                <a:ea typeface="Meiryo" pitchFamily="34" charset="-122"/>
                <a:cs typeface="Meiryo" pitchFamily="34" charset="-120"/>
              </a:rPr>
              <a:t>匿名組合出資（現金）　2億円</a:t>
            </a:r>
            <a:endParaRPr lang="en-US" sz="1050" dirty="0"/>
          </a:p>
        </p:txBody>
      </p:sp>
      <p:sp>
        <p:nvSpPr>
          <p:cNvPr id="11" name="Text 9"/>
          <p:cNvSpPr/>
          <p:nvPr/>
        </p:nvSpPr>
        <p:spPr>
          <a:xfrm>
            <a:off x="877824" y="2487168"/>
            <a:ext cx="2807208" cy="237744"/>
          </a:xfrm>
          <a:prstGeom prst="rect">
            <a:avLst/>
          </a:prstGeom>
          <a:noFill/>
          <a:ln/>
        </p:spPr>
        <p:txBody>
          <a:bodyPr wrap="square" lIns="0" tIns="0" rIns="0" bIns="0" rtlCol="0" anchor="ctr"/>
          <a:lstStyle/>
          <a:p>
            <a:pPr indent="0" marL="0">
              <a:buNone/>
            </a:pPr>
            <a:r>
              <a:rPr lang="en-US" sz="950" dirty="0">
                <a:solidFill>
                  <a:srgbClr val="6F665F"/>
                </a:solidFill>
                <a:latin typeface="Meiryo" pitchFamily="34" charset="0"/>
                <a:ea typeface="Meiryo" pitchFamily="34" charset="-122"/>
                <a:cs typeface="Meiryo" pitchFamily="34" charset="-120"/>
              </a:rPr>
              <a:t>SPC税前利益の40%を年1回受領</a:t>
            </a:r>
            <a:endParaRPr lang="en-US" sz="950" dirty="0"/>
          </a:p>
        </p:txBody>
      </p:sp>
      <p:sp>
        <p:nvSpPr>
          <p:cNvPr id="12" name="Shape 10"/>
          <p:cNvSpPr/>
          <p:nvPr/>
        </p:nvSpPr>
        <p:spPr>
          <a:xfrm>
            <a:off x="4472788" y="1700784"/>
            <a:ext cx="3246120" cy="1188720"/>
          </a:xfrm>
          <a:prstGeom prst="roundRect">
            <a:avLst>
              <a:gd name="adj" fmla="val 6154"/>
            </a:avLst>
          </a:prstGeom>
          <a:solidFill>
            <a:srgbClr val="F3E9D6"/>
          </a:solidFill>
          <a:ln w="9525">
            <a:solidFill>
              <a:srgbClr val="C9AE7E"/>
            </a:solidFill>
            <a:prstDash val="solid"/>
          </a:ln>
          <a:effectLst>
            <a:outerShdw sx="100000" sy="100000" kx="0" ky="0" algn="bl" rotWithShape="0" blurRad="76200" dist="25400" dir="5400000">
              <a:srgbClr val="6F665F">
                <a:alpha val="18000"/>
              </a:srgbClr>
            </a:outerShdw>
          </a:effectLst>
        </p:spPr>
      </p:sp>
      <p:sp>
        <p:nvSpPr>
          <p:cNvPr id="13" name="Text 11"/>
          <p:cNvSpPr/>
          <p:nvPr/>
        </p:nvSpPr>
        <p:spPr>
          <a:xfrm>
            <a:off x="4692244" y="1920240"/>
            <a:ext cx="2807208" cy="256032"/>
          </a:xfrm>
          <a:prstGeom prst="rect">
            <a:avLst/>
          </a:prstGeom>
          <a:noFill/>
          <a:ln/>
        </p:spPr>
        <p:txBody>
          <a:bodyPr wrap="square" lIns="0" tIns="0" rIns="0" bIns="0" rtlCol="0" anchor="ctr"/>
          <a:lstStyle/>
          <a:p>
            <a:pPr indent="0" marL="0">
              <a:buNone/>
            </a:pPr>
            <a:r>
              <a:rPr lang="en-US" sz="1300" b="1" dirty="0">
                <a:solidFill>
                  <a:srgbClr val="8C6A3A"/>
                </a:solidFill>
                <a:latin typeface="Meiryo" pitchFamily="34" charset="0"/>
                <a:ea typeface="Meiryo" pitchFamily="34" charset="-122"/>
                <a:cs typeface="Meiryo" pitchFamily="34" charset="-120"/>
              </a:rPr>
              <a:t>ワインファンドSPC</a:t>
            </a:r>
            <a:endParaRPr lang="en-US" sz="1300" dirty="0"/>
          </a:p>
        </p:txBody>
      </p:sp>
      <p:sp>
        <p:nvSpPr>
          <p:cNvPr id="14" name="Text 12"/>
          <p:cNvSpPr/>
          <p:nvPr/>
        </p:nvSpPr>
        <p:spPr>
          <a:xfrm>
            <a:off x="4692244" y="2231136"/>
            <a:ext cx="2807208" cy="237744"/>
          </a:xfrm>
          <a:prstGeom prst="rect">
            <a:avLst/>
          </a:prstGeom>
          <a:noFill/>
          <a:ln/>
        </p:spPr>
        <p:txBody>
          <a:bodyPr wrap="square" lIns="0" tIns="0" rIns="0" bIns="0" rtlCol="0" anchor="ctr"/>
          <a:lstStyle/>
          <a:p>
            <a:pPr indent="0" marL="0">
              <a:buNone/>
            </a:pPr>
            <a:r>
              <a:rPr lang="en-US" sz="1050" dirty="0">
                <a:solidFill>
                  <a:srgbClr val="2B2622"/>
                </a:solidFill>
                <a:latin typeface="Meiryo" pitchFamily="34" charset="0"/>
                <a:ea typeface="Meiryo" pitchFamily="34" charset="-122"/>
                <a:cs typeface="Meiryo" pitchFamily="34" charset="-120"/>
              </a:rPr>
              <a:t>合同会社＋匿名組合（GK-TK）</a:t>
            </a:r>
            <a:endParaRPr lang="en-US" sz="1050" dirty="0"/>
          </a:p>
        </p:txBody>
      </p:sp>
      <p:sp>
        <p:nvSpPr>
          <p:cNvPr id="15" name="Text 13"/>
          <p:cNvSpPr/>
          <p:nvPr/>
        </p:nvSpPr>
        <p:spPr>
          <a:xfrm>
            <a:off x="4692244" y="2487168"/>
            <a:ext cx="2807208" cy="237744"/>
          </a:xfrm>
          <a:prstGeom prst="rect">
            <a:avLst/>
          </a:prstGeom>
          <a:noFill/>
          <a:ln/>
        </p:spPr>
        <p:txBody>
          <a:bodyPr wrap="square" lIns="0" tIns="0" rIns="0" bIns="0" rtlCol="0" anchor="ctr"/>
          <a:lstStyle/>
          <a:p>
            <a:pPr indent="0" marL="0">
              <a:buNone/>
            </a:pPr>
            <a:r>
              <a:rPr lang="en-US" sz="950" dirty="0">
                <a:solidFill>
                  <a:srgbClr val="6F665F"/>
                </a:solidFill>
                <a:latin typeface="Meiryo" pitchFamily="34" charset="0"/>
                <a:ea typeface="Meiryo" pitchFamily="34" charset="-122"/>
                <a:cs typeface="Meiryo" pitchFamily="34" charset="-120"/>
              </a:rPr>
              <a:t>簿価 定価比 56.63 でワインを保有</a:t>
            </a:r>
            <a:endParaRPr lang="en-US" sz="950" dirty="0"/>
          </a:p>
        </p:txBody>
      </p:sp>
      <p:sp>
        <p:nvSpPr>
          <p:cNvPr id="16" name="Shape 14"/>
          <p:cNvSpPr/>
          <p:nvPr/>
        </p:nvSpPr>
        <p:spPr>
          <a:xfrm>
            <a:off x="8287207" y="1700784"/>
            <a:ext cx="3246120" cy="1188720"/>
          </a:xfrm>
          <a:prstGeom prst="roundRect">
            <a:avLst>
              <a:gd name="adj" fmla="val 6154"/>
            </a:avLst>
          </a:prstGeom>
          <a:solidFill>
            <a:srgbClr val="F5EFE4"/>
          </a:solidFill>
          <a:ln w="9525">
            <a:solidFill>
              <a:srgbClr val="E6DCCB"/>
            </a:solidFill>
            <a:prstDash val="solid"/>
          </a:ln>
          <a:effectLst>
            <a:outerShdw sx="100000" sy="100000" kx="0" ky="0" algn="bl" rotWithShape="0" blurRad="76200" dist="25400" dir="5400000">
              <a:srgbClr val="6F665F">
                <a:alpha val="18000"/>
              </a:srgbClr>
            </a:outerShdw>
          </a:effectLst>
        </p:spPr>
      </p:sp>
      <p:sp>
        <p:nvSpPr>
          <p:cNvPr id="17" name="Text 15"/>
          <p:cNvSpPr/>
          <p:nvPr/>
        </p:nvSpPr>
        <p:spPr>
          <a:xfrm>
            <a:off x="8506663" y="1920240"/>
            <a:ext cx="2807208" cy="256032"/>
          </a:xfrm>
          <a:prstGeom prst="rect">
            <a:avLst/>
          </a:prstGeom>
          <a:noFill/>
          <a:ln/>
        </p:spPr>
        <p:txBody>
          <a:bodyPr wrap="square" lIns="0" tIns="0" rIns="0" bIns="0" rtlCol="0" anchor="ctr"/>
          <a:lstStyle/>
          <a:p>
            <a:pPr indent="0" marL="0">
              <a:buNone/>
            </a:pPr>
            <a:r>
              <a:rPr lang="en-US" sz="1300" b="1" dirty="0">
                <a:solidFill>
                  <a:srgbClr val="2B2622"/>
                </a:solidFill>
                <a:latin typeface="Meiryo" pitchFamily="34" charset="0"/>
                <a:ea typeface="Meiryo" pitchFamily="34" charset="-122"/>
                <a:cs typeface="Meiryo" pitchFamily="34" charset="-120"/>
              </a:rPr>
              <a:t>株式会社WineBank</a:t>
            </a:r>
            <a:endParaRPr lang="en-US" sz="1300" dirty="0"/>
          </a:p>
        </p:txBody>
      </p:sp>
      <p:sp>
        <p:nvSpPr>
          <p:cNvPr id="18" name="Text 16"/>
          <p:cNvSpPr/>
          <p:nvPr/>
        </p:nvSpPr>
        <p:spPr>
          <a:xfrm>
            <a:off x="8506663" y="2231136"/>
            <a:ext cx="2807208" cy="237744"/>
          </a:xfrm>
          <a:prstGeom prst="rect">
            <a:avLst/>
          </a:prstGeom>
          <a:noFill/>
          <a:ln/>
        </p:spPr>
        <p:txBody>
          <a:bodyPr wrap="square" lIns="0" tIns="0" rIns="0" bIns="0" rtlCol="0" anchor="ctr"/>
          <a:lstStyle/>
          <a:p>
            <a:pPr indent="0" marL="0">
              <a:buNone/>
            </a:pPr>
            <a:r>
              <a:rPr lang="en-US" sz="1050" dirty="0">
                <a:solidFill>
                  <a:srgbClr val="8C6A3A"/>
                </a:solidFill>
                <a:latin typeface="Meiryo" pitchFamily="34" charset="0"/>
                <a:ea typeface="Meiryo" pitchFamily="34" charset="-122"/>
                <a:cs typeface="Meiryo" pitchFamily="34" charset="-120"/>
              </a:rPr>
              <a:t>現物出資 3億円　＋　GP実行</a:t>
            </a:r>
            <a:endParaRPr lang="en-US" sz="1050" dirty="0"/>
          </a:p>
        </p:txBody>
      </p:sp>
      <p:sp>
        <p:nvSpPr>
          <p:cNvPr id="19" name="Text 17"/>
          <p:cNvSpPr/>
          <p:nvPr/>
        </p:nvSpPr>
        <p:spPr>
          <a:xfrm>
            <a:off x="8506663" y="2487168"/>
            <a:ext cx="2807208" cy="237744"/>
          </a:xfrm>
          <a:prstGeom prst="rect">
            <a:avLst/>
          </a:prstGeom>
          <a:noFill/>
          <a:ln/>
        </p:spPr>
        <p:txBody>
          <a:bodyPr wrap="square" lIns="0" tIns="0" rIns="0" bIns="0" rtlCol="0" anchor="ctr"/>
          <a:lstStyle/>
          <a:p>
            <a:pPr indent="0" marL="0">
              <a:buNone/>
            </a:pPr>
            <a:r>
              <a:rPr lang="en-US" sz="950" dirty="0">
                <a:solidFill>
                  <a:srgbClr val="6F665F"/>
                </a:solidFill>
                <a:latin typeface="Meiryo" pitchFamily="34" charset="0"/>
                <a:ea typeface="Meiryo" pitchFamily="34" charset="-122"/>
                <a:cs typeface="Meiryo" pitchFamily="34" charset="-120"/>
              </a:rPr>
              <a:t>酒類販売業免許・取引口座を保有</a:t>
            </a:r>
            <a:endParaRPr lang="en-US" sz="950" dirty="0"/>
          </a:p>
        </p:txBody>
      </p:sp>
      <p:sp>
        <p:nvSpPr>
          <p:cNvPr id="20" name="Shape 18"/>
          <p:cNvSpPr/>
          <p:nvPr/>
        </p:nvSpPr>
        <p:spPr>
          <a:xfrm>
            <a:off x="3995928" y="2176272"/>
            <a:ext cx="385420" cy="237744"/>
          </a:xfrm>
          <a:prstGeom prst="rightArrow">
            <a:avLst/>
          </a:prstGeom>
          <a:solidFill>
            <a:srgbClr val="C9AE7E"/>
          </a:solidFill>
          <a:ln w="12700">
            <a:solidFill>
              <a:srgbClr val="C9AE7E"/>
            </a:solidFill>
            <a:prstDash val="solid"/>
          </a:ln>
        </p:spPr>
      </p:sp>
      <p:sp>
        <p:nvSpPr>
          <p:cNvPr id="21" name="Shape 19"/>
          <p:cNvSpPr/>
          <p:nvPr/>
        </p:nvSpPr>
        <p:spPr>
          <a:xfrm>
            <a:off x="7810348" y="2176272"/>
            <a:ext cx="385420" cy="237744"/>
          </a:xfrm>
          <a:prstGeom prst="leftArrow">
            <a:avLst/>
          </a:prstGeom>
          <a:solidFill>
            <a:srgbClr val="A78450"/>
          </a:solidFill>
          <a:ln w="12700">
            <a:solidFill>
              <a:srgbClr val="A78450"/>
            </a:solidFill>
            <a:prstDash val="solid"/>
          </a:ln>
        </p:spPr>
      </p:sp>
      <p:sp>
        <p:nvSpPr>
          <p:cNvPr id="22" name="Shape 20"/>
          <p:cNvSpPr/>
          <p:nvPr/>
        </p:nvSpPr>
        <p:spPr>
          <a:xfrm>
            <a:off x="658368" y="3291840"/>
            <a:ext cx="2526716" cy="1609344"/>
          </a:xfrm>
          <a:prstGeom prst="roundRect">
            <a:avLst>
              <a:gd name="adj" fmla="val 4545"/>
            </a:avLst>
          </a:prstGeom>
          <a:solidFill>
            <a:srgbClr val="F5EFE4"/>
          </a:solidFill>
          <a:ln w="9525">
            <a:solidFill>
              <a:srgbClr val="E6DCCB"/>
            </a:solidFill>
            <a:prstDash val="solid"/>
          </a:ln>
          <a:effectLst>
            <a:outerShdw sx="100000" sy="100000" kx="0" ky="0" algn="bl" rotWithShape="0" blurRad="76200" dist="25400" dir="5400000">
              <a:srgbClr val="6F665F">
                <a:alpha val="18000"/>
              </a:srgbClr>
            </a:outerShdw>
          </a:effectLst>
        </p:spPr>
      </p:sp>
      <p:sp>
        <p:nvSpPr>
          <p:cNvPr id="23" name="Shape 21"/>
          <p:cNvSpPr/>
          <p:nvPr/>
        </p:nvSpPr>
        <p:spPr>
          <a:xfrm>
            <a:off x="877824" y="3493008"/>
            <a:ext cx="310896" cy="310896"/>
          </a:xfrm>
          <a:prstGeom prst="ellipse">
            <a:avLst/>
          </a:prstGeom>
          <a:solidFill>
            <a:srgbClr val="2B2622"/>
          </a:solidFill>
          <a:ln w="12700">
            <a:solidFill>
              <a:srgbClr val="2B2622"/>
            </a:solidFill>
            <a:prstDash val="solid"/>
          </a:ln>
        </p:spPr>
      </p:sp>
      <p:sp>
        <p:nvSpPr>
          <p:cNvPr id="24" name="Text 22"/>
          <p:cNvSpPr/>
          <p:nvPr/>
        </p:nvSpPr>
        <p:spPr>
          <a:xfrm>
            <a:off x="877824" y="349300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01</a:t>
            </a:r>
            <a:endParaRPr lang="en-US" sz="1100" dirty="0"/>
          </a:p>
        </p:txBody>
      </p:sp>
      <p:sp>
        <p:nvSpPr>
          <p:cNvPr id="25" name="Text 23"/>
          <p:cNvSpPr/>
          <p:nvPr/>
        </p:nvSpPr>
        <p:spPr>
          <a:xfrm>
            <a:off x="1280160" y="3511296"/>
            <a:ext cx="1685468" cy="274320"/>
          </a:xfrm>
          <a:prstGeom prst="rect">
            <a:avLst/>
          </a:prstGeom>
          <a:noFill/>
          <a:ln/>
        </p:spPr>
        <p:txBody>
          <a:bodyPr wrap="square" lIns="0" tIns="0" rIns="0" bIns="0" rtlCol="0" anchor="ctr"/>
          <a:lstStyle/>
          <a:p>
            <a:pPr indent="0" marL="0">
              <a:buNone/>
            </a:pPr>
            <a:r>
              <a:rPr lang="en-US" sz="1200" b="1" dirty="0">
                <a:solidFill>
                  <a:srgbClr val="2B2622"/>
                </a:solidFill>
                <a:latin typeface="Meiryo" pitchFamily="34" charset="0"/>
                <a:ea typeface="Meiryo" pitchFamily="34" charset="-122"/>
                <a:cs typeface="Meiryo" pitchFamily="34" charset="-120"/>
              </a:rPr>
              <a:t>調達</a:t>
            </a:r>
            <a:endParaRPr lang="en-US" sz="1200" dirty="0"/>
          </a:p>
        </p:txBody>
      </p:sp>
      <p:sp>
        <p:nvSpPr>
          <p:cNvPr id="26" name="Text 24"/>
          <p:cNvSpPr/>
          <p:nvPr/>
        </p:nvSpPr>
        <p:spPr>
          <a:xfrm>
            <a:off x="877824" y="3931920"/>
            <a:ext cx="2087804" cy="603504"/>
          </a:xfrm>
          <a:prstGeom prst="rect">
            <a:avLst/>
          </a:prstGeom>
          <a:noFill/>
          <a:ln/>
        </p:spPr>
        <p:txBody>
          <a:bodyPr wrap="square" lIns="0" tIns="0" rIns="0" bIns="0" rtlCol="0" anchor="ctr"/>
          <a:lstStyle/>
          <a:p>
            <a:pPr indent="0" marL="0">
              <a:lnSpc>
                <a:spcPct val="120000"/>
              </a:lnSpc>
              <a:buNone/>
            </a:pPr>
            <a:r>
              <a:rPr lang="en-US" sz="950" dirty="0">
                <a:solidFill>
                  <a:srgbClr val="6F665F"/>
                </a:solidFill>
                <a:latin typeface="Meiryo" pitchFamily="34" charset="0"/>
                <a:ea typeface="Meiryo" pitchFamily="34" charset="-122"/>
                <a:cs typeface="Meiryo" pitchFamily="34" charset="-120"/>
              </a:rPr>
              <a:t>WineBankが自社の免許・取引口座でインポーター／酒販店から正規品を調達する</a:t>
            </a:r>
            <a:endParaRPr lang="en-US" sz="950" dirty="0"/>
          </a:p>
        </p:txBody>
      </p:sp>
      <p:sp>
        <p:nvSpPr>
          <p:cNvPr id="27" name="Text 25"/>
          <p:cNvSpPr/>
          <p:nvPr/>
        </p:nvSpPr>
        <p:spPr>
          <a:xfrm>
            <a:off x="877824" y="4572000"/>
            <a:ext cx="2087804" cy="219456"/>
          </a:xfrm>
          <a:prstGeom prst="rect">
            <a:avLst/>
          </a:prstGeom>
          <a:noFill/>
          <a:ln/>
        </p:spPr>
        <p:txBody>
          <a:bodyPr wrap="square" lIns="0" tIns="0" rIns="0" bIns="0" rtlCol="0" anchor="ctr"/>
          <a:lstStyle/>
          <a:p>
            <a:pPr indent="0" marL="0">
              <a:buNone/>
            </a:pPr>
            <a:r>
              <a:rPr lang="en-US" sz="1000" b="1" dirty="0">
                <a:solidFill>
                  <a:srgbClr val="8C6A3A"/>
                </a:solidFill>
                <a:latin typeface="Meiryo" pitchFamily="34" charset="0"/>
                <a:ea typeface="Meiryo" pitchFamily="34" charset="-122"/>
                <a:cs typeface="Meiryo" pitchFamily="34" charset="-120"/>
              </a:rPr>
              <a:t>市中原価 50.00</a:t>
            </a:r>
            <a:endParaRPr lang="en-US" sz="1000" dirty="0"/>
          </a:p>
        </p:txBody>
      </p:sp>
      <p:sp>
        <p:nvSpPr>
          <p:cNvPr id="28" name="Shape 26"/>
          <p:cNvSpPr/>
          <p:nvPr/>
        </p:nvSpPr>
        <p:spPr>
          <a:xfrm>
            <a:off x="3441116" y="3291840"/>
            <a:ext cx="2526716" cy="1609344"/>
          </a:xfrm>
          <a:prstGeom prst="roundRect">
            <a:avLst>
              <a:gd name="adj" fmla="val 4545"/>
            </a:avLst>
          </a:prstGeom>
          <a:solidFill>
            <a:srgbClr val="F3E9D6"/>
          </a:solidFill>
          <a:ln w="9525">
            <a:solidFill>
              <a:srgbClr val="C9AE7E"/>
            </a:solidFill>
            <a:prstDash val="solid"/>
          </a:ln>
          <a:effectLst>
            <a:outerShdw sx="100000" sy="100000" kx="0" ky="0" algn="bl" rotWithShape="0" blurRad="76200" dist="25400" dir="5400000">
              <a:srgbClr val="6F665F">
                <a:alpha val="18000"/>
              </a:srgbClr>
            </a:outerShdw>
          </a:effectLst>
        </p:spPr>
      </p:sp>
      <p:sp>
        <p:nvSpPr>
          <p:cNvPr id="29" name="Shape 27"/>
          <p:cNvSpPr/>
          <p:nvPr/>
        </p:nvSpPr>
        <p:spPr>
          <a:xfrm>
            <a:off x="3660572" y="3493008"/>
            <a:ext cx="310896" cy="310896"/>
          </a:xfrm>
          <a:prstGeom prst="ellipse">
            <a:avLst/>
          </a:prstGeom>
          <a:solidFill>
            <a:srgbClr val="2B2622"/>
          </a:solidFill>
          <a:ln w="12700">
            <a:solidFill>
              <a:srgbClr val="2B2622"/>
            </a:solidFill>
            <a:prstDash val="solid"/>
          </a:ln>
        </p:spPr>
      </p:sp>
      <p:sp>
        <p:nvSpPr>
          <p:cNvPr id="30" name="Text 28"/>
          <p:cNvSpPr/>
          <p:nvPr/>
        </p:nvSpPr>
        <p:spPr>
          <a:xfrm>
            <a:off x="3660572" y="349300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02</a:t>
            </a:r>
            <a:endParaRPr lang="en-US" sz="1100" dirty="0"/>
          </a:p>
        </p:txBody>
      </p:sp>
      <p:sp>
        <p:nvSpPr>
          <p:cNvPr id="31" name="Text 29"/>
          <p:cNvSpPr/>
          <p:nvPr/>
        </p:nvSpPr>
        <p:spPr>
          <a:xfrm>
            <a:off x="4062908" y="3511296"/>
            <a:ext cx="1685468" cy="274320"/>
          </a:xfrm>
          <a:prstGeom prst="rect">
            <a:avLst/>
          </a:prstGeom>
          <a:noFill/>
          <a:ln/>
        </p:spPr>
        <p:txBody>
          <a:bodyPr wrap="square" lIns="0" tIns="0" rIns="0" bIns="0" rtlCol="0" anchor="ctr"/>
          <a:lstStyle/>
          <a:p>
            <a:pPr indent="0" marL="0">
              <a:buNone/>
            </a:pPr>
            <a:r>
              <a:rPr lang="en-US" sz="1200" b="1" dirty="0">
                <a:solidFill>
                  <a:srgbClr val="2B2622"/>
                </a:solidFill>
                <a:latin typeface="Meiryo" pitchFamily="34" charset="0"/>
                <a:ea typeface="Meiryo" pitchFamily="34" charset="-122"/>
                <a:cs typeface="Meiryo" pitchFamily="34" charset="-120"/>
              </a:rPr>
              <a:t>卸し</a:t>
            </a:r>
            <a:endParaRPr lang="en-US" sz="1200" dirty="0"/>
          </a:p>
        </p:txBody>
      </p:sp>
      <p:sp>
        <p:nvSpPr>
          <p:cNvPr id="32" name="Text 30"/>
          <p:cNvSpPr/>
          <p:nvPr/>
        </p:nvSpPr>
        <p:spPr>
          <a:xfrm>
            <a:off x="3660572" y="3931920"/>
            <a:ext cx="2087804" cy="603504"/>
          </a:xfrm>
          <a:prstGeom prst="rect">
            <a:avLst/>
          </a:prstGeom>
          <a:noFill/>
          <a:ln/>
        </p:spPr>
        <p:txBody>
          <a:bodyPr wrap="square" lIns="0" tIns="0" rIns="0" bIns="0" rtlCol="0" anchor="ctr"/>
          <a:lstStyle/>
          <a:p>
            <a:pPr indent="0" marL="0">
              <a:lnSpc>
                <a:spcPct val="120000"/>
              </a:lnSpc>
              <a:buNone/>
            </a:pPr>
            <a:r>
              <a:rPr lang="en-US" sz="950" dirty="0">
                <a:solidFill>
                  <a:srgbClr val="6F665F"/>
                </a:solidFill>
                <a:latin typeface="Meiryo" pitchFamily="34" charset="0"/>
                <a:ea typeface="Meiryo" pitchFamily="34" charset="-122"/>
                <a:cs typeface="Meiryo" pitchFamily="34" charset="-120"/>
              </a:rPr>
              <a:t>時価75.00から24.5%を控除した価格でSPCへ卸す。WineBankの取り分はここで確定する</a:t>
            </a:r>
            <a:endParaRPr lang="en-US" sz="950" dirty="0"/>
          </a:p>
        </p:txBody>
      </p:sp>
      <p:sp>
        <p:nvSpPr>
          <p:cNvPr id="33" name="Text 31"/>
          <p:cNvSpPr/>
          <p:nvPr/>
        </p:nvSpPr>
        <p:spPr>
          <a:xfrm>
            <a:off x="3660572" y="4572000"/>
            <a:ext cx="2087804" cy="219456"/>
          </a:xfrm>
          <a:prstGeom prst="rect">
            <a:avLst/>
          </a:prstGeom>
          <a:noFill/>
          <a:ln/>
        </p:spPr>
        <p:txBody>
          <a:bodyPr wrap="square" lIns="0" tIns="0" rIns="0" bIns="0" rtlCol="0" anchor="ctr"/>
          <a:lstStyle/>
          <a:p>
            <a:pPr indent="0" marL="0">
              <a:buNone/>
            </a:pPr>
            <a:r>
              <a:rPr lang="en-US" sz="1000" b="1" dirty="0">
                <a:solidFill>
                  <a:srgbClr val="8C6A3A"/>
                </a:solidFill>
                <a:latin typeface="Meiryo" pitchFamily="34" charset="0"/>
                <a:ea typeface="Meiryo" pitchFamily="34" charset="-122"/>
                <a:cs typeface="Meiryo" pitchFamily="34" charset="-120"/>
              </a:rPr>
              <a:t>SPC簿価 56.63</a:t>
            </a:r>
            <a:endParaRPr lang="en-US" sz="1000" dirty="0"/>
          </a:p>
        </p:txBody>
      </p:sp>
      <p:sp>
        <p:nvSpPr>
          <p:cNvPr id="34" name="Shape 32"/>
          <p:cNvSpPr/>
          <p:nvPr/>
        </p:nvSpPr>
        <p:spPr>
          <a:xfrm>
            <a:off x="6223864" y="3291840"/>
            <a:ext cx="2526716" cy="1609344"/>
          </a:xfrm>
          <a:prstGeom prst="roundRect">
            <a:avLst>
              <a:gd name="adj" fmla="val 4545"/>
            </a:avLst>
          </a:prstGeom>
          <a:solidFill>
            <a:srgbClr val="F5EFE4"/>
          </a:solidFill>
          <a:ln w="9525">
            <a:solidFill>
              <a:srgbClr val="E6DCCB"/>
            </a:solidFill>
            <a:prstDash val="solid"/>
          </a:ln>
          <a:effectLst>
            <a:outerShdw sx="100000" sy="100000" kx="0" ky="0" algn="bl" rotWithShape="0" blurRad="76200" dist="25400" dir="5400000">
              <a:srgbClr val="6F665F">
                <a:alpha val="18000"/>
              </a:srgbClr>
            </a:outerShdw>
          </a:effectLst>
        </p:spPr>
      </p:sp>
      <p:sp>
        <p:nvSpPr>
          <p:cNvPr id="35" name="Shape 33"/>
          <p:cNvSpPr/>
          <p:nvPr/>
        </p:nvSpPr>
        <p:spPr>
          <a:xfrm>
            <a:off x="6443320" y="3493008"/>
            <a:ext cx="310896" cy="310896"/>
          </a:xfrm>
          <a:prstGeom prst="ellipse">
            <a:avLst/>
          </a:prstGeom>
          <a:solidFill>
            <a:srgbClr val="2B2622"/>
          </a:solidFill>
          <a:ln w="12700">
            <a:solidFill>
              <a:srgbClr val="2B2622"/>
            </a:solidFill>
            <a:prstDash val="solid"/>
          </a:ln>
        </p:spPr>
      </p:sp>
      <p:sp>
        <p:nvSpPr>
          <p:cNvPr id="36" name="Text 34"/>
          <p:cNvSpPr/>
          <p:nvPr/>
        </p:nvSpPr>
        <p:spPr>
          <a:xfrm>
            <a:off x="6443320" y="349300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03</a:t>
            </a:r>
            <a:endParaRPr lang="en-US" sz="1100" dirty="0"/>
          </a:p>
        </p:txBody>
      </p:sp>
      <p:sp>
        <p:nvSpPr>
          <p:cNvPr id="37" name="Text 35"/>
          <p:cNvSpPr/>
          <p:nvPr/>
        </p:nvSpPr>
        <p:spPr>
          <a:xfrm>
            <a:off x="6845656" y="3511296"/>
            <a:ext cx="1685468" cy="274320"/>
          </a:xfrm>
          <a:prstGeom prst="rect">
            <a:avLst/>
          </a:prstGeom>
          <a:noFill/>
          <a:ln/>
        </p:spPr>
        <p:txBody>
          <a:bodyPr wrap="square" lIns="0" tIns="0" rIns="0" bIns="0" rtlCol="0" anchor="ctr"/>
          <a:lstStyle/>
          <a:p>
            <a:pPr indent="0" marL="0">
              <a:buNone/>
            </a:pPr>
            <a:r>
              <a:rPr lang="en-US" sz="1200" b="1" dirty="0">
                <a:solidFill>
                  <a:srgbClr val="2B2622"/>
                </a:solidFill>
                <a:latin typeface="Meiryo" pitchFamily="34" charset="0"/>
                <a:ea typeface="Meiryo" pitchFamily="34" charset="-122"/>
                <a:cs typeface="Meiryo" pitchFamily="34" charset="-120"/>
              </a:rPr>
              <a:t>保管・販売</a:t>
            </a:r>
            <a:endParaRPr lang="en-US" sz="1200" dirty="0"/>
          </a:p>
        </p:txBody>
      </p:sp>
      <p:sp>
        <p:nvSpPr>
          <p:cNvPr id="38" name="Text 36"/>
          <p:cNvSpPr/>
          <p:nvPr/>
        </p:nvSpPr>
        <p:spPr>
          <a:xfrm>
            <a:off x="6443320" y="3931920"/>
            <a:ext cx="2087804" cy="603504"/>
          </a:xfrm>
          <a:prstGeom prst="rect">
            <a:avLst/>
          </a:prstGeom>
          <a:noFill/>
          <a:ln/>
        </p:spPr>
        <p:txBody>
          <a:bodyPr wrap="square" lIns="0" tIns="0" rIns="0" bIns="0" rtlCol="0" anchor="ctr"/>
          <a:lstStyle/>
          <a:p>
            <a:pPr indent="0" marL="0">
              <a:lnSpc>
                <a:spcPct val="120000"/>
              </a:lnSpc>
              <a:buNone/>
            </a:pPr>
            <a:r>
              <a:rPr lang="en-US" sz="950" dirty="0">
                <a:solidFill>
                  <a:srgbClr val="6F665F"/>
                </a:solidFill>
                <a:latin typeface="Meiryo" pitchFamily="34" charset="0"/>
                <a:ea typeface="Meiryo" pitchFamily="34" charset="-122"/>
                <a:cs typeface="Meiryo" pitchFamily="34" charset="-120"/>
              </a:rPr>
              <a:t>定温倉庫で保管（全量付保）。B2B酒販店卸とB2C自社EC・オークションの2系統で販売</a:t>
            </a:r>
            <a:endParaRPr lang="en-US" sz="950" dirty="0"/>
          </a:p>
        </p:txBody>
      </p:sp>
      <p:sp>
        <p:nvSpPr>
          <p:cNvPr id="39" name="Text 37"/>
          <p:cNvSpPr/>
          <p:nvPr/>
        </p:nvSpPr>
        <p:spPr>
          <a:xfrm>
            <a:off x="6443320" y="4572000"/>
            <a:ext cx="2087804" cy="219456"/>
          </a:xfrm>
          <a:prstGeom prst="rect">
            <a:avLst/>
          </a:prstGeom>
          <a:noFill/>
          <a:ln/>
        </p:spPr>
        <p:txBody>
          <a:bodyPr wrap="square" lIns="0" tIns="0" rIns="0" bIns="0" rtlCol="0" anchor="ctr"/>
          <a:lstStyle/>
          <a:p>
            <a:pPr indent="0" marL="0">
              <a:buNone/>
            </a:pPr>
            <a:r>
              <a:rPr lang="en-US" sz="1000" b="1" dirty="0">
                <a:solidFill>
                  <a:srgbClr val="8C6A3A"/>
                </a:solidFill>
                <a:latin typeface="Meiryo" pitchFamily="34" charset="0"/>
                <a:ea typeface="Meiryo" pitchFamily="34" charset="-122"/>
                <a:cs typeface="Meiryo" pitchFamily="34" charset="-120"/>
              </a:rPr>
              <a:t>定価比 70／80</a:t>
            </a:r>
            <a:endParaRPr lang="en-US" sz="1000" dirty="0"/>
          </a:p>
        </p:txBody>
      </p:sp>
      <p:sp>
        <p:nvSpPr>
          <p:cNvPr id="40" name="Shape 38"/>
          <p:cNvSpPr/>
          <p:nvPr/>
        </p:nvSpPr>
        <p:spPr>
          <a:xfrm>
            <a:off x="9006611" y="3291840"/>
            <a:ext cx="2526716" cy="1609344"/>
          </a:xfrm>
          <a:prstGeom prst="roundRect">
            <a:avLst>
              <a:gd name="adj" fmla="val 4545"/>
            </a:avLst>
          </a:prstGeom>
          <a:solidFill>
            <a:srgbClr val="F5EFE4"/>
          </a:solidFill>
          <a:ln w="9525">
            <a:solidFill>
              <a:srgbClr val="E6DCCB"/>
            </a:solidFill>
            <a:prstDash val="solid"/>
          </a:ln>
          <a:effectLst>
            <a:outerShdw sx="100000" sy="100000" kx="0" ky="0" algn="bl" rotWithShape="0" blurRad="76200" dist="25400" dir="5400000">
              <a:srgbClr val="6F665F">
                <a:alpha val="18000"/>
              </a:srgbClr>
            </a:outerShdw>
          </a:effectLst>
        </p:spPr>
      </p:sp>
      <p:sp>
        <p:nvSpPr>
          <p:cNvPr id="41" name="Shape 39"/>
          <p:cNvSpPr/>
          <p:nvPr/>
        </p:nvSpPr>
        <p:spPr>
          <a:xfrm>
            <a:off x="9226067" y="3493008"/>
            <a:ext cx="310896" cy="310896"/>
          </a:xfrm>
          <a:prstGeom prst="ellipse">
            <a:avLst/>
          </a:prstGeom>
          <a:solidFill>
            <a:srgbClr val="2B2622"/>
          </a:solidFill>
          <a:ln w="12700">
            <a:solidFill>
              <a:srgbClr val="2B2622"/>
            </a:solidFill>
            <a:prstDash val="solid"/>
          </a:ln>
        </p:spPr>
      </p:sp>
      <p:sp>
        <p:nvSpPr>
          <p:cNvPr id="42" name="Text 40"/>
          <p:cNvSpPr/>
          <p:nvPr/>
        </p:nvSpPr>
        <p:spPr>
          <a:xfrm>
            <a:off x="9226067" y="349300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04</a:t>
            </a:r>
            <a:endParaRPr lang="en-US" sz="1100" dirty="0"/>
          </a:p>
        </p:txBody>
      </p:sp>
      <p:sp>
        <p:nvSpPr>
          <p:cNvPr id="43" name="Text 41"/>
          <p:cNvSpPr/>
          <p:nvPr/>
        </p:nvSpPr>
        <p:spPr>
          <a:xfrm>
            <a:off x="9628403" y="3511296"/>
            <a:ext cx="1685468" cy="274320"/>
          </a:xfrm>
          <a:prstGeom prst="rect">
            <a:avLst/>
          </a:prstGeom>
          <a:noFill/>
          <a:ln/>
        </p:spPr>
        <p:txBody>
          <a:bodyPr wrap="square" lIns="0" tIns="0" rIns="0" bIns="0" rtlCol="0" anchor="ctr"/>
          <a:lstStyle/>
          <a:p>
            <a:pPr indent="0" marL="0">
              <a:buNone/>
            </a:pPr>
            <a:r>
              <a:rPr lang="en-US" sz="1200" b="1" dirty="0">
                <a:solidFill>
                  <a:srgbClr val="2B2622"/>
                </a:solidFill>
                <a:latin typeface="Meiryo" pitchFamily="34" charset="0"/>
                <a:ea typeface="Meiryo" pitchFamily="34" charset="-122"/>
                <a:cs typeface="Meiryo" pitchFamily="34" charset="-120"/>
              </a:rPr>
              <a:t>分配</a:t>
            </a:r>
            <a:endParaRPr lang="en-US" sz="1200" dirty="0"/>
          </a:p>
        </p:txBody>
      </p:sp>
      <p:sp>
        <p:nvSpPr>
          <p:cNvPr id="44" name="Text 42"/>
          <p:cNvSpPr/>
          <p:nvPr/>
        </p:nvSpPr>
        <p:spPr>
          <a:xfrm>
            <a:off x="9226067" y="3931920"/>
            <a:ext cx="2087804" cy="603504"/>
          </a:xfrm>
          <a:prstGeom prst="rect">
            <a:avLst/>
          </a:prstGeom>
          <a:noFill/>
          <a:ln/>
        </p:spPr>
        <p:txBody>
          <a:bodyPr wrap="square" lIns="0" tIns="0" rIns="0" bIns="0" rtlCol="0" anchor="ctr"/>
          <a:lstStyle/>
          <a:p>
            <a:pPr indent="0" marL="0">
              <a:lnSpc>
                <a:spcPct val="120000"/>
              </a:lnSpc>
              <a:buNone/>
            </a:pPr>
            <a:r>
              <a:rPr lang="en-US" sz="950" dirty="0">
                <a:solidFill>
                  <a:srgbClr val="6F665F"/>
                </a:solidFill>
                <a:latin typeface="Meiryo" pitchFamily="34" charset="0"/>
                <a:ea typeface="Meiryo" pitchFamily="34" charset="-122"/>
                <a:cs typeface="Meiryo" pitchFamily="34" charset="-120"/>
              </a:rPr>
              <a:t>SPC税前利益を出資比率どおり60：40で配分し年1回分配。成功報酬は取らない</a:t>
            </a:r>
            <a:endParaRPr lang="en-US" sz="950" dirty="0"/>
          </a:p>
        </p:txBody>
      </p:sp>
      <p:sp>
        <p:nvSpPr>
          <p:cNvPr id="45" name="Text 43"/>
          <p:cNvSpPr/>
          <p:nvPr/>
        </p:nvSpPr>
        <p:spPr>
          <a:xfrm>
            <a:off x="9226067" y="4572000"/>
            <a:ext cx="2087804" cy="219456"/>
          </a:xfrm>
          <a:prstGeom prst="rect">
            <a:avLst/>
          </a:prstGeom>
          <a:noFill/>
          <a:ln/>
        </p:spPr>
        <p:txBody>
          <a:bodyPr wrap="square" lIns="0" tIns="0" rIns="0" bIns="0" rtlCol="0" anchor="ctr"/>
          <a:lstStyle/>
          <a:p>
            <a:pPr indent="0" marL="0">
              <a:buNone/>
            </a:pPr>
            <a:r>
              <a:rPr lang="en-US" sz="1000" b="1" dirty="0">
                <a:solidFill>
                  <a:srgbClr val="8C6A3A"/>
                </a:solidFill>
                <a:latin typeface="Meiryo" pitchFamily="34" charset="0"/>
                <a:ea typeface="Meiryo" pitchFamily="34" charset="-122"/>
                <a:cs typeface="Meiryo" pitchFamily="34" charset="-120"/>
              </a:rPr>
              <a:t>WB60：投資家40</a:t>
            </a:r>
            <a:endParaRPr lang="en-US" sz="1000" dirty="0"/>
          </a:p>
        </p:txBody>
      </p:sp>
      <p:sp>
        <p:nvSpPr>
          <p:cNvPr id="46" name="Text 44"/>
          <p:cNvSpPr/>
          <p:nvPr/>
        </p:nvSpPr>
        <p:spPr>
          <a:xfrm>
            <a:off x="658368" y="5084064"/>
            <a:ext cx="10874959" cy="365760"/>
          </a:xfrm>
          <a:prstGeom prst="rect">
            <a:avLst/>
          </a:prstGeom>
          <a:noFill/>
          <a:ln/>
        </p:spPr>
        <p:txBody>
          <a:bodyPr wrap="square" lIns="0" tIns="0" rIns="0" bIns="0" rtlCol="0" anchor="ctr"/>
          <a:lstStyle/>
          <a:p>
            <a:pPr indent="0" marL="0">
              <a:lnSpc>
                <a:spcPct val="120000"/>
              </a:lnSpc>
              <a:buNone/>
            </a:pPr>
            <a:r>
              <a:rPr lang="en-US" sz="900" dirty="0">
                <a:solidFill>
                  <a:srgbClr val="9A8F84"/>
                </a:solidFill>
                <a:latin typeface="Meiryo" pitchFamily="34" charset="0"/>
                <a:ea typeface="Meiryo" pitchFamily="34" charset="-122"/>
                <a:cs typeface="Meiryo" pitchFamily="34" charset="-120"/>
              </a:rPr>
              <a:t>※ ワイン現物はSPC名義で保有し、WineBankの債権者から倒産隔離する。WineBankは総額の60%の出資者であると同時にGPとして実行を担う。報酬は「卸す時点の値入れ」と「総額の年2%の管理報酬」に限定し、出口の成功報酬は取らない。WineBankが現物出資する分についても同じ卸値（定価比56.63）で評価する。</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484632"/>
            <a:ext cx="109728" cy="109728"/>
          </a:xfrm>
          <a:prstGeom prst="ellipse">
            <a:avLst/>
          </a:prstGeom>
          <a:solidFill>
            <a:srgbClr val="A78450"/>
          </a:solidFill>
          <a:ln w="12700">
            <a:solidFill>
              <a:srgbClr val="A78450"/>
            </a:solidFill>
            <a:prstDash val="solid"/>
          </a:ln>
        </p:spPr>
      </p:sp>
      <p:sp>
        <p:nvSpPr>
          <p:cNvPr id="3" name="Text 1"/>
          <p:cNvSpPr/>
          <p:nvPr/>
        </p:nvSpPr>
        <p:spPr>
          <a:xfrm>
            <a:off x="923544" y="365760"/>
            <a:ext cx="9601200" cy="329184"/>
          </a:xfrm>
          <a:prstGeom prst="rect">
            <a:avLst/>
          </a:prstGeom>
          <a:noFill/>
          <a:ln/>
        </p:spPr>
        <p:txBody>
          <a:bodyPr wrap="square" lIns="0" tIns="0" rIns="0" bIns="0" rtlCol="0" anchor="ctr"/>
          <a:lstStyle/>
          <a:p>
            <a:pPr indent="0" marL="0">
              <a:buNone/>
            </a:pPr>
            <a:r>
              <a:rPr lang="en-US" sz="1200" b="1" spc="240" kern="0" dirty="0">
                <a:solidFill>
                  <a:srgbClr val="A78450"/>
                </a:solidFill>
                <a:latin typeface="Meiryo" pitchFamily="34" charset="0"/>
                <a:ea typeface="Meiryo" pitchFamily="34" charset="-122"/>
                <a:cs typeface="Meiryo" pitchFamily="34" charset="-120"/>
              </a:rPr>
              <a:t>REGULATORY &amp; TRADE PRACTICE</a:t>
            </a:r>
            <a:endParaRPr lang="en-US" sz="1200" dirty="0"/>
          </a:p>
        </p:txBody>
      </p:sp>
      <p:sp>
        <p:nvSpPr>
          <p:cNvPr id="4" name="Text 2"/>
          <p:cNvSpPr/>
          <p:nvPr/>
        </p:nvSpPr>
        <p:spPr>
          <a:xfrm>
            <a:off x="658368" y="731520"/>
            <a:ext cx="10874959" cy="566928"/>
          </a:xfrm>
          <a:prstGeom prst="rect">
            <a:avLst/>
          </a:prstGeom>
          <a:noFill/>
          <a:ln/>
        </p:spPr>
        <p:txBody>
          <a:bodyPr wrap="square" lIns="0" tIns="0" rIns="0" bIns="0" rtlCol="0" anchor="ctr"/>
          <a:lstStyle/>
          <a:p>
            <a:pPr indent="0" marL="0">
              <a:buNone/>
            </a:pPr>
            <a:r>
              <a:rPr lang="en-US" sz="2600" b="1" dirty="0">
                <a:solidFill>
                  <a:srgbClr val="2B2622"/>
                </a:solidFill>
                <a:latin typeface="Meiryo" pitchFamily="34" charset="0"/>
                <a:ea typeface="Meiryo" pitchFamily="34" charset="-122"/>
                <a:cs typeface="Meiryo" pitchFamily="34" charset="-120"/>
              </a:rPr>
              <a:t>なぜSPCが直接仕入・販売できないのか</a:t>
            </a:r>
            <a:endParaRPr lang="en-US" sz="2600" dirty="0"/>
          </a:p>
        </p:txBody>
      </p:sp>
      <p:sp>
        <p:nvSpPr>
          <p:cNvPr id="5" name="Text 3"/>
          <p:cNvSpPr/>
          <p:nvPr/>
        </p:nvSpPr>
        <p:spPr>
          <a:xfrm>
            <a:off x="658368" y="1261872"/>
            <a:ext cx="10874959" cy="310896"/>
          </a:xfrm>
          <a:prstGeom prst="rect">
            <a:avLst/>
          </a:prstGeom>
          <a:noFill/>
          <a:ln/>
        </p:spPr>
        <p:txBody>
          <a:bodyPr wrap="square" lIns="0" tIns="0" rIns="0" bIns="0" rtlCol="0" anchor="ctr"/>
          <a:lstStyle/>
          <a:p>
            <a:pPr indent="0" marL="0">
              <a:buNone/>
            </a:pPr>
            <a:r>
              <a:rPr lang="en-US" sz="1150" dirty="0">
                <a:solidFill>
                  <a:srgbClr val="6F665F"/>
                </a:solidFill>
                <a:latin typeface="Meiryo" pitchFamily="34" charset="0"/>
                <a:ea typeface="Meiryo" pitchFamily="34" charset="-122"/>
                <a:cs typeface="Meiryo" pitchFamily="34" charset="-120"/>
              </a:rPr>
              <a:t>酒類は免許業種であり、取引口座は法人単位で審査される。SPC単独では商流に乗れない。</a:t>
            </a:r>
            <a:endParaRPr lang="en-US" sz="1150" dirty="0"/>
          </a:p>
        </p:txBody>
      </p:sp>
      <p:sp>
        <p:nvSpPr>
          <p:cNvPr id="6" name="Text 4"/>
          <p:cNvSpPr/>
          <p:nvPr/>
        </p:nvSpPr>
        <p:spPr>
          <a:xfrm>
            <a:off x="658368" y="6446520"/>
            <a:ext cx="5486400" cy="256032"/>
          </a:xfrm>
          <a:prstGeom prst="rect">
            <a:avLst/>
          </a:prstGeom>
          <a:noFill/>
          <a:ln/>
        </p:spPr>
        <p:txBody>
          <a:bodyPr wrap="square" lIns="0" tIns="0" rIns="0" bIns="0" rtlCol="0" anchor="ctr"/>
          <a:lstStyle/>
          <a:p>
            <a:pPr indent="0" marL="0">
              <a:buNone/>
            </a:pPr>
            <a:r>
              <a:rPr lang="en-US" sz="900" dirty="0">
                <a:solidFill>
                  <a:srgbClr val="9A8F84"/>
                </a:solidFill>
                <a:latin typeface="Meiryo" pitchFamily="34" charset="0"/>
                <a:ea typeface="Meiryo" pitchFamily="34" charset="-122"/>
                <a:cs typeface="Meiryo" pitchFamily="34" charset="-120"/>
              </a:rPr>
              <a:t>Confidential</a:t>
            </a:r>
            <a:endParaRPr lang="en-US" sz="900" dirty="0"/>
          </a:p>
        </p:txBody>
      </p:sp>
      <p:sp>
        <p:nvSpPr>
          <p:cNvPr id="7" name="Text 5"/>
          <p:cNvSpPr/>
          <p:nvPr/>
        </p:nvSpPr>
        <p:spPr>
          <a:xfrm>
            <a:off x="10984687" y="6446520"/>
            <a:ext cx="548640" cy="256032"/>
          </a:xfrm>
          <a:prstGeom prst="rect">
            <a:avLst/>
          </a:prstGeom>
          <a:noFill/>
          <a:ln/>
        </p:spPr>
        <p:txBody>
          <a:bodyPr wrap="square" lIns="0" tIns="0" rIns="0" bIns="0" rtlCol="0" anchor="ctr"/>
          <a:lstStyle/>
          <a:p>
            <a:pPr algn="r" indent="0" marL="0">
              <a:buNone/>
            </a:pPr>
            <a:r>
              <a:rPr lang="en-US" sz="900" dirty="0">
                <a:solidFill>
                  <a:srgbClr val="9A8F84"/>
                </a:solidFill>
                <a:latin typeface="Meiryo" pitchFamily="34" charset="0"/>
                <a:ea typeface="Meiryo" pitchFamily="34" charset="-122"/>
                <a:cs typeface="Meiryo" pitchFamily="34" charset="-120"/>
              </a:rPr>
              <a:t>6</a:t>
            </a:r>
            <a:endParaRPr lang="en-US" sz="900" dirty="0"/>
          </a:p>
        </p:txBody>
      </p:sp>
      <p:sp>
        <p:nvSpPr>
          <p:cNvPr id="8" name="Shape 6"/>
          <p:cNvSpPr/>
          <p:nvPr/>
        </p:nvSpPr>
        <p:spPr>
          <a:xfrm>
            <a:off x="658368" y="1664208"/>
            <a:ext cx="3442106" cy="1975104"/>
          </a:xfrm>
          <a:prstGeom prst="roundRect">
            <a:avLst>
              <a:gd name="adj" fmla="val 3704"/>
            </a:avLst>
          </a:prstGeom>
          <a:solidFill>
            <a:srgbClr val="F5EFE4"/>
          </a:solidFill>
          <a:ln w="9525">
            <a:solidFill>
              <a:srgbClr val="E6DCCB"/>
            </a:solidFill>
            <a:prstDash val="solid"/>
          </a:ln>
          <a:effectLst>
            <a:outerShdw sx="100000" sy="100000" kx="0" ky="0" algn="bl" rotWithShape="0" blurRad="76200" dist="25400" dir="5400000">
              <a:srgbClr val="6F665F">
                <a:alpha val="18000"/>
              </a:srgbClr>
            </a:outerShdw>
          </a:effectLst>
        </p:spPr>
      </p:sp>
      <p:sp>
        <p:nvSpPr>
          <p:cNvPr id="9" name="Shape 7"/>
          <p:cNvSpPr/>
          <p:nvPr/>
        </p:nvSpPr>
        <p:spPr>
          <a:xfrm>
            <a:off x="896112" y="1865376"/>
            <a:ext cx="310896" cy="310896"/>
          </a:xfrm>
          <a:prstGeom prst="ellipse">
            <a:avLst/>
          </a:prstGeom>
          <a:solidFill>
            <a:srgbClr val="2B2622"/>
          </a:solidFill>
          <a:ln w="12700">
            <a:solidFill>
              <a:srgbClr val="2B2622"/>
            </a:solidFill>
            <a:prstDash val="solid"/>
          </a:ln>
        </p:spPr>
      </p:sp>
      <p:sp>
        <p:nvSpPr>
          <p:cNvPr id="10" name="Text 8"/>
          <p:cNvSpPr/>
          <p:nvPr/>
        </p:nvSpPr>
        <p:spPr>
          <a:xfrm>
            <a:off x="896112" y="186537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01</a:t>
            </a:r>
            <a:endParaRPr lang="en-US" sz="1100" dirty="0"/>
          </a:p>
        </p:txBody>
      </p:sp>
      <p:sp>
        <p:nvSpPr>
          <p:cNvPr id="11" name="Text 9"/>
          <p:cNvSpPr/>
          <p:nvPr/>
        </p:nvSpPr>
        <p:spPr>
          <a:xfrm>
            <a:off x="1298448" y="1883664"/>
            <a:ext cx="2564282" cy="274320"/>
          </a:xfrm>
          <a:prstGeom prst="rect">
            <a:avLst/>
          </a:prstGeom>
          <a:noFill/>
          <a:ln/>
        </p:spPr>
        <p:txBody>
          <a:bodyPr wrap="square" lIns="0" tIns="0" rIns="0" bIns="0" rtlCol="0" anchor="ctr"/>
          <a:lstStyle/>
          <a:p>
            <a:pPr indent="0" marL="0">
              <a:buNone/>
            </a:pPr>
            <a:r>
              <a:rPr lang="en-US" sz="1200" b="1" dirty="0">
                <a:solidFill>
                  <a:srgbClr val="2B2622"/>
                </a:solidFill>
                <a:latin typeface="Meiryo" pitchFamily="34" charset="0"/>
                <a:ea typeface="Meiryo" pitchFamily="34" charset="-122"/>
                <a:cs typeface="Meiryo" pitchFamily="34" charset="-120"/>
              </a:rPr>
              <a:t>酒類販売業免許</a:t>
            </a:r>
            <a:endParaRPr lang="en-US" sz="1200" dirty="0"/>
          </a:p>
        </p:txBody>
      </p:sp>
      <p:sp>
        <p:nvSpPr>
          <p:cNvPr id="12" name="Text 10"/>
          <p:cNvSpPr/>
          <p:nvPr/>
        </p:nvSpPr>
        <p:spPr>
          <a:xfrm>
            <a:off x="896112" y="2340864"/>
            <a:ext cx="2966618" cy="1207008"/>
          </a:xfrm>
          <a:prstGeom prst="rect">
            <a:avLst/>
          </a:prstGeom>
          <a:noFill/>
          <a:ln/>
        </p:spPr>
        <p:txBody>
          <a:bodyPr wrap="square" lIns="0" tIns="0" rIns="0" bIns="0" rtlCol="0" anchor="ctr"/>
          <a:lstStyle/>
          <a:p>
            <a:pPr indent="0" marL="0">
              <a:lnSpc>
                <a:spcPct val="124000"/>
              </a:lnSpc>
              <a:buNone/>
            </a:pPr>
            <a:r>
              <a:rPr lang="en-US" sz="950" dirty="0">
                <a:solidFill>
                  <a:srgbClr val="6F665F"/>
                </a:solidFill>
                <a:latin typeface="Meiryo" pitchFamily="34" charset="0"/>
                <a:ea typeface="Meiryo" pitchFamily="34" charset="-122"/>
                <a:cs typeface="Meiryo" pitchFamily="34" charset="-120"/>
              </a:rPr>
              <a:t>酒類の売買には販売場ごとの免許が必要。新設SPCが一般酒類小売業免許・酒類卸売業免許を取得するには、経営基礎要件（直近3事業年度の財務内容等）や需給調整要件の充足が求められ、設立直後の器としては実務上ハードルが高く、審査にも相応の期間を要する。</a:t>
            </a:r>
            <a:endParaRPr lang="en-US" sz="950" dirty="0"/>
          </a:p>
        </p:txBody>
      </p:sp>
      <p:sp>
        <p:nvSpPr>
          <p:cNvPr id="13" name="Shape 11"/>
          <p:cNvSpPr/>
          <p:nvPr/>
        </p:nvSpPr>
        <p:spPr>
          <a:xfrm>
            <a:off x="4374794" y="1664208"/>
            <a:ext cx="3442106" cy="1975104"/>
          </a:xfrm>
          <a:prstGeom prst="roundRect">
            <a:avLst>
              <a:gd name="adj" fmla="val 3704"/>
            </a:avLst>
          </a:prstGeom>
          <a:solidFill>
            <a:srgbClr val="F5EFE4"/>
          </a:solidFill>
          <a:ln w="9525">
            <a:solidFill>
              <a:srgbClr val="E6DCCB"/>
            </a:solidFill>
            <a:prstDash val="solid"/>
          </a:ln>
          <a:effectLst>
            <a:outerShdw sx="100000" sy="100000" kx="0" ky="0" algn="bl" rotWithShape="0" blurRad="76200" dist="25400" dir="5400000">
              <a:srgbClr val="6F665F">
                <a:alpha val="18000"/>
              </a:srgbClr>
            </a:outerShdw>
          </a:effectLst>
        </p:spPr>
      </p:sp>
      <p:sp>
        <p:nvSpPr>
          <p:cNvPr id="14" name="Shape 12"/>
          <p:cNvSpPr/>
          <p:nvPr/>
        </p:nvSpPr>
        <p:spPr>
          <a:xfrm>
            <a:off x="4612538" y="1865376"/>
            <a:ext cx="310896" cy="310896"/>
          </a:xfrm>
          <a:prstGeom prst="ellipse">
            <a:avLst/>
          </a:prstGeom>
          <a:solidFill>
            <a:srgbClr val="2B2622"/>
          </a:solidFill>
          <a:ln w="12700">
            <a:solidFill>
              <a:srgbClr val="2B2622"/>
            </a:solidFill>
            <a:prstDash val="solid"/>
          </a:ln>
        </p:spPr>
      </p:sp>
      <p:sp>
        <p:nvSpPr>
          <p:cNvPr id="15" name="Text 13"/>
          <p:cNvSpPr/>
          <p:nvPr/>
        </p:nvSpPr>
        <p:spPr>
          <a:xfrm>
            <a:off x="4612538" y="186537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02</a:t>
            </a:r>
            <a:endParaRPr lang="en-US" sz="1100" dirty="0"/>
          </a:p>
        </p:txBody>
      </p:sp>
      <p:sp>
        <p:nvSpPr>
          <p:cNvPr id="16" name="Text 14"/>
          <p:cNvSpPr/>
          <p:nvPr/>
        </p:nvSpPr>
        <p:spPr>
          <a:xfrm>
            <a:off x="5014874" y="1883664"/>
            <a:ext cx="2564282" cy="274320"/>
          </a:xfrm>
          <a:prstGeom prst="rect">
            <a:avLst/>
          </a:prstGeom>
          <a:noFill/>
          <a:ln/>
        </p:spPr>
        <p:txBody>
          <a:bodyPr wrap="square" lIns="0" tIns="0" rIns="0" bIns="0" rtlCol="0" anchor="ctr"/>
          <a:lstStyle/>
          <a:p>
            <a:pPr indent="0" marL="0">
              <a:buNone/>
            </a:pPr>
            <a:r>
              <a:rPr lang="en-US" sz="1200" b="1" dirty="0">
                <a:solidFill>
                  <a:srgbClr val="2B2622"/>
                </a:solidFill>
                <a:latin typeface="Meiryo" pitchFamily="34" charset="0"/>
                <a:ea typeface="Meiryo" pitchFamily="34" charset="-122"/>
                <a:cs typeface="Meiryo" pitchFamily="34" charset="-120"/>
              </a:rPr>
              <a:t>インポーターの取引基準</a:t>
            </a:r>
            <a:endParaRPr lang="en-US" sz="1200" dirty="0"/>
          </a:p>
        </p:txBody>
      </p:sp>
      <p:sp>
        <p:nvSpPr>
          <p:cNvPr id="17" name="Text 15"/>
          <p:cNvSpPr/>
          <p:nvPr/>
        </p:nvSpPr>
        <p:spPr>
          <a:xfrm>
            <a:off x="4612538" y="2340864"/>
            <a:ext cx="2966618" cy="1207008"/>
          </a:xfrm>
          <a:prstGeom prst="rect">
            <a:avLst/>
          </a:prstGeom>
          <a:noFill/>
          <a:ln/>
        </p:spPr>
        <p:txBody>
          <a:bodyPr wrap="square" lIns="0" tIns="0" rIns="0" bIns="0" rtlCol="0" anchor="ctr"/>
          <a:lstStyle/>
          <a:p>
            <a:pPr indent="0" marL="0">
              <a:lnSpc>
                <a:spcPct val="124000"/>
              </a:lnSpc>
              <a:buNone/>
            </a:pPr>
            <a:r>
              <a:rPr lang="en-US" sz="950" dirty="0">
                <a:solidFill>
                  <a:srgbClr val="6F665F"/>
                </a:solidFill>
                <a:latin typeface="Meiryo" pitchFamily="34" charset="0"/>
                <a:ea typeface="Meiryo" pitchFamily="34" charset="-122"/>
                <a:cs typeface="Meiryo" pitchFamily="34" charset="-120"/>
              </a:rPr>
              <a:t>大手インポーターは新規取引先に対し、与信・取引実績・年間取引量を審査したうえで口座を開設する。事業実体を持たないSPCでは口座開設に至らない。特価・正規割当は長年の取引関係に紐づいており、法人格が変われば引き継げない。</a:t>
            </a:r>
            <a:endParaRPr lang="en-US" sz="950" dirty="0"/>
          </a:p>
        </p:txBody>
      </p:sp>
      <p:sp>
        <p:nvSpPr>
          <p:cNvPr id="18" name="Shape 16"/>
          <p:cNvSpPr/>
          <p:nvPr/>
        </p:nvSpPr>
        <p:spPr>
          <a:xfrm>
            <a:off x="8091221" y="1664208"/>
            <a:ext cx="3442106" cy="1975104"/>
          </a:xfrm>
          <a:prstGeom prst="roundRect">
            <a:avLst>
              <a:gd name="adj" fmla="val 3704"/>
            </a:avLst>
          </a:prstGeom>
          <a:solidFill>
            <a:srgbClr val="F5EFE4"/>
          </a:solidFill>
          <a:ln w="9525">
            <a:solidFill>
              <a:srgbClr val="E6DCCB"/>
            </a:solidFill>
            <a:prstDash val="solid"/>
          </a:ln>
          <a:effectLst>
            <a:outerShdw sx="100000" sy="100000" kx="0" ky="0" algn="bl" rotWithShape="0" blurRad="76200" dist="25400" dir="5400000">
              <a:srgbClr val="6F665F">
                <a:alpha val="18000"/>
              </a:srgbClr>
            </a:outerShdw>
          </a:effectLst>
        </p:spPr>
      </p:sp>
      <p:sp>
        <p:nvSpPr>
          <p:cNvPr id="19" name="Shape 17"/>
          <p:cNvSpPr/>
          <p:nvPr/>
        </p:nvSpPr>
        <p:spPr>
          <a:xfrm>
            <a:off x="8328965" y="1865376"/>
            <a:ext cx="310896" cy="310896"/>
          </a:xfrm>
          <a:prstGeom prst="ellipse">
            <a:avLst/>
          </a:prstGeom>
          <a:solidFill>
            <a:srgbClr val="2B2622"/>
          </a:solidFill>
          <a:ln w="12700">
            <a:solidFill>
              <a:srgbClr val="2B2622"/>
            </a:solidFill>
            <a:prstDash val="solid"/>
          </a:ln>
        </p:spPr>
      </p:sp>
      <p:sp>
        <p:nvSpPr>
          <p:cNvPr id="20" name="Text 18"/>
          <p:cNvSpPr/>
          <p:nvPr/>
        </p:nvSpPr>
        <p:spPr>
          <a:xfrm>
            <a:off x="8328965" y="186537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03</a:t>
            </a:r>
            <a:endParaRPr lang="en-US" sz="1100" dirty="0"/>
          </a:p>
        </p:txBody>
      </p:sp>
      <p:sp>
        <p:nvSpPr>
          <p:cNvPr id="21" name="Text 19"/>
          <p:cNvSpPr/>
          <p:nvPr/>
        </p:nvSpPr>
        <p:spPr>
          <a:xfrm>
            <a:off x="8731301" y="1883664"/>
            <a:ext cx="2564282" cy="274320"/>
          </a:xfrm>
          <a:prstGeom prst="rect">
            <a:avLst/>
          </a:prstGeom>
          <a:noFill/>
          <a:ln/>
        </p:spPr>
        <p:txBody>
          <a:bodyPr wrap="square" lIns="0" tIns="0" rIns="0" bIns="0" rtlCol="0" anchor="ctr"/>
          <a:lstStyle/>
          <a:p>
            <a:pPr indent="0" marL="0">
              <a:buNone/>
            </a:pPr>
            <a:r>
              <a:rPr lang="en-US" sz="1200" b="1" dirty="0">
                <a:solidFill>
                  <a:srgbClr val="2B2622"/>
                </a:solidFill>
                <a:latin typeface="Meiryo" pitchFamily="34" charset="0"/>
                <a:ea typeface="Meiryo" pitchFamily="34" charset="-122"/>
                <a:cs typeface="Meiryo" pitchFamily="34" charset="-120"/>
              </a:rPr>
              <a:t>割当（アロケーション）の属人性</a:t>
            </a:r>
            <a:endParaRPr lang="en-US" sz="1200" dirty="0"/>
          </a:p>
        </p:txBody>
      </p:sp>
      <p:sp>
        <p:nvSpPr>
          <p:cNvPr id="22" name="Text 20"/>
          <p:cNvSpPr/>
          <p:nvPr/>
        </p:nvSpPr>
        <p:spPr>
          <a:xfrm>
            <a:off x="8328965" y="2340864"/>
            <a:ext cx="2966618" cy="1207008"/>
          </a:xfrm>
          <a:prstGeom prst="rect">
            <a:avLst/>
          </a:prstGeom>
          <a:noFill/>
          <a:ln/>
        </p:spPr>
        <p:txBody>
          <a:bodyPr wrap="square" lIns="0" tIns="0" rIns="0" bIns="0" rtlCol="0" anchor="ctr"/>
          <a:lstStyle/>
          <a:p>
            <a:pPr indent="0" marL="0">
              <a:lnSpc>
                <a:spcPct val="124000"/>
              </a:lnSpc>
              <a:buNone/>
            </a:pPr>
            <a:r>
              <a:rPr lang="en-US" sz="950" dirty="0">
                <a:solidFill>
                  <a:srgbClr val="6F665F"/>
                </a:solidFill>
                <a:latin typeface="Meiryo" pitchFamily="34" charset="0"/>
                <a:ea typeface="Meiryo" pitchFamily="34" charset="-122"/>
                <a:cs typeface="Meiryo" pitchFamily="34" charset="-120"/>
              </a:rPr>
              <a:t>希少銘柄の割当はWineBank名義に対して付与されるものであり、第三者へ譲り渡すことができない。創業55年の酒販実績と輸出入ライセンスに基づく調達力は、SPCへ移管できない無形資産である。</a:t>
            </a:r>
            <a:endParaRPr lang="en-US" sz="950" dirty="0"/>
          </a:p>
        </p:txBody>
      </p:sp>
      <p:sp>
        <p:nvSpPr>
          <p:cNvPr id="23" name="Shape 21"/>
          <p:cNvSpPr/>
          <p:nvPr/>
        </p:nvSpPr>
        <p:spPr>
          <a:xfrm>
            <a:off x="658368" y="3858768"/>
            <a:ext cx="10874959" cy="1554480"/>
          </a:xfrm>
          <a:prstGeom prst="roundRect">
            <a:avLst>
              <a:gd name="adj" fmla="val 4706"/>
            </a:avLst>
          </a:prstGeom>
          <a:solidFill>
            <a:srgbClr val="F3E9D6"/>
          </a:solidFill>
          <a:ln w="9525">
            <a:solidFill>
              <a:srgbClr val="C9AE7E"/>
            </a:solidFill>
            <a:prstDash val="solid"/>
          </a:ln>
          <a:effectLst>
            <a:outerShdw sx="100000" sy="100000" kx="0" ky="0" algn="bl" rotWithShape="0" blurRad="76200" dist="25400" dir="5400000">
              <a:srgbClr val="6F665F">
                <a:alpha val="18000"/>
              </a:srgbClr>
            </a:outerShdw>
          </a:effectLst>
        </p:spPr>
      </p:sp>
      <p:sp>
        <p:nvSpPr>
          <p:cNvPr id="24" name="Text 22"/>
          <p:cNvSpPr/>
          <p:nvPr/>
        </p:nvSpPr>
        <p:spPr>
          <a:xfrm>
            <a:off x="932688" y="4023360"/>
            <a:ext cx="2743200" cy="256032"/>
          </a:xfrm>
          <a:prstGeom prst="rect">
            <a:avLst/>
          </a:prstGeom>
          <a:noFill/>
          <a:ln/>
        </p:spPr>
        <p:txBody>
          <a:bodyPr wrap="square" lIns="0" tIns="0" rIns="0" bIns="0" rtlCol="0" anchor="ctr"/>
          <a:lstStyle/>
          <a:p>
            <a:pPr indent="0" marL="0">
              <a:buNone/>
            </a:pPr>
            <a:r>
              <a:rPr lang="en-US" sz="1200" b="1" dirty="0">
                <a:solidFill>
                  <a:srgbClr val="8C6A3A"/>
                </a:solidFill>
                <a:latin typeface="Meiryo" pitchFamily="34" charset="0"/>
                <a:ea typeface="Meiryo" pitchFamily="34" charset="-122"/>
                <a:cs typeface="Meiryo" pitchFamily="34" charset="-120"/>
              </a:rPr>
              <a:t>採用するスキーム</a:t>
            </a:r>
            <a:endParaRPr lang="en-US" sz="1200" dirty="0"/>
          </a:p>
        </p:txBody>
      </p:sp>
      <p:sp>
        <p:nvSpPr>
          <p:cNvPr id="25" name="Text 23"/>
          <p:cNvSpPr/>
          <p:nvPr/>
        </p:nvSpPr>
        <p:spPr>
          <a:xfrm>
            <a:off x="932688" y="4297680"/>
            <a:ext cx="10326319" cy="256032"/>
          </a:xfrm>
          <a:prstGeom prst="rect">
            <a:avLst/>
          </a:prstGeom>
          <a:noFill/>
          <a:ln/>
        </p:spPr>
        <p:txBody>
          <a:bodyPr wrap="square" lIns="0" tIns="0" rIns="0" bIns="0" rtlCol="0" anchor="ctr"/>
          <a:lstStyle/>
          <a:p>
            <a:pPr indent="0" marL="0">
              <a:buNone/>
            </a:pPr>
            <a:r>
              <a:rPr lang="en-US" sz="1250" b="1" dirty="0">
                <a:solidFill>
                  <a:srgbClr val="2B2622"/>
                </a:solidFill>
                <a:latin typeface="Meiryo" pitchFamily="34" charset="0"/>
                <a:ea typeface="Meiryo" pitchFamily="34" charset="-122"/>
                <a:cs typeface="Meiryo" pitchFamily="34" charset="-120"/>
              </a:rPr>
              <a:t>WineBankが免許事業者として仕入・販売の当事者となり、現物を時価−αでSPCへ卸す。SPCは所有者として損益を受ける。</a:t>
            </a:r>
            <a:endParaRPr lang="en-US" sz="1250" dirty="0"/>
          </a:p>
        </p:txBody>
      </p:sp>
      <p:sp>
        <p:nvSpPr>
          <p:cNvPr id="26" name="Text 24"/>
          <p:cNvSpPr/>
          <p:nvPr/>
        </p:nvSpPr>
        <p:spPr>
          <a:xfrm>
            <a:off x="932688" y="4645152"/>
            <a:ext cx="5071720" cy="237744"/>
          </a:xfrm>
          <a:prstGeom prst="rect">
            <a:avLst/>
          </a:prstGeom>
          <a:noFill/>
          <a:ln/>
        </p:spPr>
        <p:txBody>
          <a:bodyPr wrap="square" lIns="0" tIns="0" rIns="0" bIns="0" rtlCol="0" anchor="ctr"/>
          <a:lstStyle/>
          <a:p>
            <a:pPr indent="0" marL="0">
              <a:buNone/>
            </a:pPr>
            <a:r>
              <a:rPr lang="en-US" sz="1050" b="1" dirty="0">
                <a:solidFill>
                  <a:srgbClr val="8C6A3A"/>
                </a:solidFill>
                <a:latin typeface="Meiryo" pitchFamily="34" charset="0"/>
                <a:ea typeface="Meiryo" pitchFamily="34" charset="-122"/>
                <a:cs typeface="Meiryo" pitchFamily="34" charset="-120"/>
              </a:rPr>
              <a:t>卸値を独立企業間価格として説明できること</a:t>
            </a:r>
            <a:endParaRPr lang="en-US" sz="1050" dirty="0"/>
          </a:p>
        </p:txBody>
      </p:sp>
      <p:sp>
        <p:nvSpPr>
          <p:cNvPr id="27" name="Text 25"/>
          <p:cNvSpPr/>
          <p:nvPr/>
        </p:nvSpPr>
        <p:spPr>
          <a:xfrm>
            <a:off x="932688" y="4882896"/>
            <a:ext cx="5071720" cy="512064"/>
          </a:xfrm>
          <a:prstGeom prst="rect">
            <a:avLst/>
          </a:prstGeom>
          <a:noFill/>
          <a:ln/>
        </p:spPr>
        <p:txBody>
          <a:bodyPr wrap="square" lIns="0" tIns="0" rIns="0" bIns="0" rtlCol="0" anchor="ctr"/>
          <a:lstStyle/>
          <a:p>
            <a:pPr indent="0" marL="0">
              <a:lnSpc>
                <a:spcPct val="120000"/>
              </a:lnSpc>
              <a:buNone/>
            </a:pPr>
            <a:r>
              <a:rPr lang="en-US" sz="900" dirty="0">
                <a:solidFill>
                  <a:srgbClr val="6F665F"/>
                </a:solidFill>
                <a:latin typeface="Meiryo" pitchFamily="34" charset="0"/>
                <a:ea typeface="Meiryo" pitchFamily="34" charset="-122"/>
                <a:cs typeface="Meiryo" pitchFamily="34" charset="-120"/>
              </a:rPr>
              <a:t>WineBankは在庫リスク・与信・入出庫事務を負って調達する。その対価として時価から24.5%を控除した定価比56.63で卸す。第三者卸価格との比較資料を年次で整備し、移転価格上の合理性を説明できる状態を維持する。</a:t>
            </a:r>
            <a:endParaRPr lang="en-US" sz="900" dirty="0"/>
          </a:p>
        </p:txBody>
      </p:sp>
      <p:sp>
        <p:nvSpPr>
          <p:cNvPr id="28" name="Text 26"/>
          <p:cNvSpPr/>
          <p:nvPr/>
        </p:nvSpPr>
        <p:spPr>
          <a:xfrm>
            <a:off x="6187288" y="4645152"/>
            <a:ext cx="5071720" cy="237744"/>
          </a:xfrm>
          <a:prstGeom prst="rect">
            <a:avLst/>
          </a:prstGeom>
          <a:noFill/>
          <a:ln/>
        </p:spPr>
        <p:txBody>
          <a:bodyPr wrap="square" lIns="0" tIns="0" rIns="0" bIns="0" rtlCol="0" anchor="ctr"/>
          <a:lstStyle/>
          <a:p>
            <a:pPr indent="0" marL="0">
              <a:buNone/>
            </a:pPr>
            <a:r>
              <a:rPr lang="en-US" sz="1050" b="1" dirty="0">
                <a:solidFill>
                  <a:srgbClr val="8C6A3A"/>
                </a:solidFill>
                <a:latin typeface="Meiryo" pitchFamily="34" charset="0"/>
                <a:ea typeface="Meiryo" pitchFamily="34" charset="-122"/>
                <a:cs typeface="Meiryo" pitchFamily="34" charset="-120"/>
              </a:rPr>
              <a:t>WineBank出資分も同じ価格で評価すること</a:t>
            </a:r>
            <a:endParaRPr lang="en-US" sz="1050" dirty="0"/>
          </a:p>
        </p:txBody>
      </p:sp>
      <p:sp>
        <p:nvSpPr>
          <p:cNvPr id="29" name="Text 27"/>
          <p:cNvSpPr/>
          <p:nvPr/>
        </p:nvSpPr>
        <p:spPr>
          <a:xfrm>
            <a:off x="6187288" y="4882896"/>
            <a:ext cx="5071720" cy="512064"/>
          </a:xfrm>
          <a:prstGeom prst="rect">
            <a:avLst/>
          </a:prstGeom>
          <a:noFill/>
          <a:ln/>
        </p:spPr>
        <p:txBody>
          <a:bodyPr wrap="square" lIns="0" tIns="0" rIns="0" bIns="0" rtlCol="0" anchor="ctr"/>
          <a:lstStyle/>
          <a:p>
            <a:pPr indent="0" marL="0">
              <a:lnSpc>
                <a:spcPct val="120000"/>
              </a:lnSpc>
              <a:buNone/>
            </a:pPr>
            <a:r>
              <a:rPr lang="en-US" sz="900" dirty="0">
                <a:solidFill>
                  <a:srgbClr val="6F665F"/>
                </a:solidFill>
                <a:latin typeface="Meiryo" pitchFamily="34" charset="0"/>
                <a:ea typeface="Meiryo" pitchFamily="34" charset="-122"/>
                <a:cs typeface="Meiryo" pitchFamily="34" charset="-120"/>
              </a:rPr>
              <a:t>WineBankが現物出資する3億円分も、投資家出資分と同じ定価比56.63で評価する。出資分に対応する値入れは自己取引となるため、内部利益の取扱いを会計・税務の両面で確認のうえ確定させる。</a:t>
            </a:r>
            <a:endParaRPr lang="en-US" sz="900" dirty="0"/>
          </a:p>
        </p:txBody>
      </p:sp>
      <p:sp>
        <p:nvSpPr>
          <p:cNvPr id="30" name="Text 28"/>
          <p:cNvSpPr/>
          <p:nvPr/>
        </p:nvSpPr>
        <p:spPr>
          <a:xfrm>
            <a:off x="658368" y="5541264"/>
            <a:ext cx="10874959" cy="256032"/>
          </a:xfrm>
          <a:prstGeom prst="rect">
            <a:avLst/>
          </a:prstGeom>
          <a:noFill/>
          <a:ln/>
        </p:spPr>
        <p:txBody>
          <a:bodyPr wrap="square" lIns="0" tIns="0" rIns="0" bIns="0" rtlCol="0" anchor="ctr"/>
          <a:lstStyle/>
          <a:p>
            <a:pPr indent="0" marL="0">
              <a:buNone/>
            </a:pPr>
            <a:r>
              <a:rPr lang="en-US" sz="850" dirty="0">
                <a:solidFill>
                  <a:srgbClr val="9A8F84"/>
                </a:solidFill>
                <a:latin typeface="Meiryo" pitchFamily="34" charset="0"/>
                <a:ea typeface="Meiryo" pitchFamily="34" charset="-122"/>
                <a:cs typeface="Meiryo" pitchFamily="34" charset="-120"/>
              </a:rPr>
              <a:t>※ SPC自体の免許要否、委託・売買形態の切り分け、および酒類の現物出資が免許・消費税・法人税上どう扱われるかは、所轄税務署（酒類指導官）および顧問弁護士・公認会計士との確認事項として、契約書ドラフト作成前に確定させる。</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484632"/>
            <a:ext cx="109728" cy="109728"/>
          </a:xfrm>
          <a:prstGeom prst="ellipse">
            <a:avLst/>
          </a:prstGeom>
          <a:solidFill>
            <a:srgbClr val="A78450"/>
          </a:solidFill>
          <a:ln w="12700">
            <a:solidFill>
              <a:srgbClr val="A78450"/>
            </a:solidFill>
            <a:prstDash val="solid"/>
          </a:ln>
        </p:spPr>
      </p:sp>
      <p:sp>
        <p:nvSpPr>
          <p:cNvPr id="3" name="Text 1"/>
          <p:cNvSpPr/>
          <p:nvPr/>
        </p:nvSpPr>
        <p:spPr>
          <a:xfrm>
            <a:off x="923544" y="365760"/>
            <a:ext cx="9601200" cy="329184"/>
          </a:xfrm>
          <a:prstGeom prst="rect">
            <a:avLst/>
          </a:prstGeom>
          <a:noFill/>
          <a:ln/>
        </p:spPr>
        <p:txBody>
          <a:bodyPr wrap="square" lIns="0" tIns="0" rIns="0" bIns="0" rtlCol="0" anchor="ctr"/>
          <a:lstStyle/>
          <a:p>
            <a:pPr indent="0" marL="0">
              <a:buNone/>
            </a:pPr>
            <a:r>
              <a:rPr lang="en-US" sz="1200" b="1" spc="240" kern="0" dirty="0">
                <a:solidFill>
                  <a:srgbClr val="A78450"/>
                </a:solidFill>
                <a:latin typeface="Meiryo" pitchFamily="34" charset="0"/>
                <a:ea typeface="Meiryo" pitchFamily="34" charset="-122"/>
                <a:cs typeface="Meiryo" pitchFamily="34" charset="-120"/>
              </a:rPr>
              <a:t>SOURCE OF RETURN</a:t>
            </a:r>
            <a:endParaRPr lang="en-US" sz="1200" dirty="0"/>
          </a:p>
        </p:txBody>
      </p:sp>
      <p:sp>
        <p:nvSpPr>
          <p:cNvPr id="4" name="Text 2"/>
          <p:cNvSpPr/>
          <p:nvPr/>
        </p:nvSpPr>
        <p:spPr>
          <a:xfrm>
            <a:off x="658368" y="731520"/>
            <a:ext cx="10874959" cy="566928"/>
          </a:xfrm>
          <a:prstGeom prst="rect">
            <a:avLst/>
          </a:prstGeom>
          <a:noFill/>
          <a:ln/>
        </p:spPr>
        <p:txBody>
          <a:bodyPr wrap="square" lIns="0" tIns="0" rIns="0" bIns="0" rtlCol="0" anchor="ctr"/>
          <a:lstStyle/>
          <a:p>
            <a:pPr indent="0" marL="0">
              <a:buNone/>
            </a:pPr>
            <a:r>
              <a:rPr lang="en-US" sz="2600" b="1" dirty="0">
                <a:solidFill>
                  <a:srgbClr val="2B2622"/>
                </a:solidFill>
                <a:latin typeface="Meiryo" pitchFamily="34" charset="0"/>
                <a:ea typeface="Meiryo" pitchFamily="34" charset="-122"/>
                <a:cs typeface="Meiryo" pitchFamily="34" charset="-120"/>
              </a:rPr>
              <a:t>収益の源泉と卸値の決め方</a:t>
            </a:r>
            <a:endParaRPr lang="en-US" sz="2600" dirty="0"/>
          </a:p>
        </p:txBody>
      </p:sp>
      <p:sp>
        <p:nvSpPr>
          <p:cNvPr id="5" name="Text 3"/>
          <p:cNvSpPr/>
          <p:nvPr/>
        </p:nvSpPr>
        <p:spPr>
          <a:xfrm>
            <a:off x="658368" y="1261872"/>
            <a:ext cx="10874959" cy="310896"/>
          </a:xfrm>
          <a:prstGeom prst="rect">
            <a:avLst/>
          </a:prstGeom>
          <a:noFill/>
          <a:ln/>
        </p:spPr>
        <p:txBody>
          <a:bodyPr wrap="square" lIns="0" tIns="0" rIns="0" bIns="0" rtlCol="0" anchor="ctr"/>
          <a:lstStyle/>
          <a:p>
            <a:pPr indent="0" marL="0">
              <a:buNone/>
            </a:pPr>
            <a:r>
              <a:rPr lang="en-US" sz="1150" dirty="0">
                <a:solidFill>
                  <a:srgbClr val="6F665F"/>
                </a:solidFill>
                <a:latin typeface="Meiryo" pitchFamily="34" charset="0"/>
                <a:ea typeface="Meiryo" pitchFamily="34" charset="-122"/>
                <a:cs typeface="Meiryo" pitchFamily="34" charset="-120"/>
              </a:rPr>
              <a:t>同一商品が流通段階ごとに異なる価格で存在する。WineBankはその時価から α を控除してSPCへ卸し、SPCは残りの差と値上がりを取る。</a:t>
            </a:r>
            <a:endParaRPr lang="en-US" sz="1150" dirty="0"/>
          </a:p>
        </p:txBody>
      </p:sp>
      <p:sp>
        <p:nvSpPr>
          <p:cNvPr id="6" name="Text 4"/>
          <p:cNvSpPr/>
          <p:nvPr/>
        </p:nvSpPr>
        <p:spPr>
          <a:xfrm>
            <a:off x="658368" y="6446520"/>
            <a:ext cx="5486400" cy="256032"/>
          </a:xfrm>
          <a:prstGeom prst="rect">
            <a:avLst/>
          </a:prstGeom>
          <a:noFill/>
          <a:ln/>
        </p:spPr>
        <p:txBody>
          <a:bodyPr wrap="square" lIns="0" tIns="0" rIns="0" bIns="0" rtlCol="0" anchor="ctr"/>
          <a:lstStyle/>
          <a:p>
            <a:pPr indent="0" marL="0">
              <a:buNone/>
            </a:pPr>
            <a:r>
              <a:rPr lang="en-US" sz="900" dirty="0">
                <a:solidFill>
                  <a:srgbClr val="9A8F84"/>
                </a:solidFill>
                <a:latin typeface="Meiryo" pitchFamily="34" charset="0"/>
                <a:ea typeface="Meiryo" pitchFamily="34" charset="-122"/>
                <a:cs typeface="Meiryo" pitchFamily="34" charset="-120"/>
              </a:rPr>
              <a:t>Confidential</a:t>
            </a:r>
            <a:endParaRPr lang="en-US" sz="900" dirty="0"/>
          </a:p>
        </p:txBody>
      </p:sp>
      <p:sp>
        <p:nvSpPr>
          <p:cNvPr id="7" name="Text 5"/>
          <p:cNvSpPr/>
          <p:nvPr/>
        </p:nvSpPr>
        <p:spPr>
          <a:xfrm>
            <a:off x="10984687" y="6446520"/>
            <a:ext cx="548640" cy="256032"/>
          </a:xfrm>
          <a:prstGeom prst="rect">
            <a:avLst/>
          </a:prstGeom>
          <a:noFill/>
          <a:ln/>
        </p:spPr>
        <p:txBody>
          <a:bodyPr wrap="square" lIns="0" tIns="0" rIns="0" bIns="0" rtlCol="0" anchor="ctr"/>
          <a:lstStyle/>
          <a:p>
            <a:pPr algn="r" indent="0" marL="0">
              <a:buNone/>
            </a:pPr>
            <a:r>
              <a:rPr lang="en-US" sz="900" dirty="0">
                <a:solidFill>
                  <a:srgbClr val="9A8F84"/>
                </a:solidFill>
                <a:latin typeface="Meiryo" pitchFamily="34" charset="0"/>
                <a:ea typeface="Meiryo" pitchFamily="34" charset="-122"/>
                <a:cs typeface="Meiryo" pitchFamily="34" charset="-120"/>
              </a:rPr>
              <a:t>7</a:t>
            </a:r>
            <a:endParaRPr lang="en-US" sz="900" dirty="0"/>
          </a:p>
        </p:txBody>
      </p:sp>
      <p:sp>
        <p:nvSpPr>
          <p:cNvPr id="8" name="Shape 6"/>
          <p:cNvSpPr/>
          <p:nvPr/>
        </p:nvSpPr>
        <p:spPr>
          <a:xfrm>
            <a:off x="658368" y="1664208"/>
            <a:ext cx="1984797" cy="1645920"/>
          </a:xfrm>
          <a:prstGeom prst="roundRect">
            <a:avLst>
              <a:gd name="adj" fmla="val 4444"/>
            </a:avLst>
          </a:prstGeom>
          <a:solidFill>
            <a:srgbClr val="F5EFE4"/>
          </a:solidFill>
          <a:ln w="9525">
            <a:solidFill>
              <a:srgbClr val="C9AE7E"/>
            </a:solidFill>
            <a:prstDash val="solid"/>
          </a:ln>
          <a:effectLst>
            <a:outerShdw sx="100000" sy="100000" kx="0" ky="0" algn="bl" rotWithShape="0" blurRad="76200" dist="25400" dir="5400000">
              <a:srgbClr val="6F665F">
                <a:alpha val="18000"/>
              </a:srgbClr>
            </a:outerShdw>
          </a:effectLst>
        </p:spPr>
      </p:sp>
      <p:sp>
        <p:nvSpPr>
          <p:cNvPr id="9" name="Text 7"/>
          <p:cNvSpPr/>
          <p:nvPr/>
        </p:nvSpPr>
        <p:spPr>
          <a:xfrm>
            <a:off x="822960" y="1810512"/>
            <a:ext cx="1655613" cy="237744"/>
          </a:xfrm>
          <a:prstGeom prst="rect">
            <a:avLst/>
          </a:prstGeom>
          <a:noFill/>
          <a:ln/>
        </p:spPr>
        <p:txBody>
          <a:bodyPr wrap="square" lIns="0" tIns="0" rIns="0" bIns="0" rtlCol="0" anchor="ctr"/>
          <a:lstStyle/>
          <a:p>
            <a:pPr indent="0" marL="0">
              <a:buNone/>
            </a:pPr>
            <a:r>
              <a:rPr lang="en-US" sz="1000" b="1" dirty="0">
                <a:solidFill>
                  <a:srgbClr val="2B2622"/>
                </a:solidFill>
                <a:latin typeface="Meiryo" pitchFamily="34" charset="0"/>
                <a:ea typeface="Meiryo" pitchFamily="34" charset="-122"/>
                <a:cs typeface="Meiryo" pitchFamily="34" charset="-120"/>
              </a:rPr>
              <a:t>インポーター仕入</a:t>
            </a:r>
            <a:endParaRPr lang="en-US" sz="1000" dirty="0"/>
          </a:p>
        </p:txBody>
      </p:sp>
      <p:sp>
        <p:nvSpPr>
          <p:cNvPr id="10" name="Text 8"/>
          <p:cNvSpPr/>
          <p:nvPr/>
        </p:nvSpPr>
        <p:spPr>
          <a:xfrm>
            <a:off x="822960" y="2121408"/>
            <a:ext cx="1655613" cy="658368"/>
          </a:xfrm>
          <a:prstGeom prst="rect">
            <a:avLst/>
          </a:prstGeom>
          <a:noFill/>
          <a:ln/>
        </p:spPr>
        <p:txBody>
          <a:bodyPr wrap="square" lIns="0" tIns="0" rIns="0" bIns="0" rtlCol="0" anchor="ctr"/>
          <a:lstStyle/>
          <a:p>
            <a:pPr indent="0" marL="0">
              <a:buNone/>
            </a:pPr>
            <a:r>
              <a:rPr lang="en-US" sz="3800" b="1" dirty="0">
                <a:solidFill>
                  <a:srgbClr val="8C6A3A"/>
                </a:solidFill>
                <a:latin typeface="Meiryo" pitchFamily="34" charset="0"/>
                <a:ea typeface="Meiryo" pitchFamily="34" charset="-122"/>
                <a:cs typeface="Meiryo" pitchFamily="34" charset="-120"/>
              </a:rPr>
              <a:t>40</a:t>
            </a:r>
            <a:endParaRPr lang="en-US" sz="3800" dirty="0"/>
          </a:p>
        </p:txBody>
      </p:sp>
      <p:sp>
        <p:nvSpPr>
          <p:cNvPr id="11" name="Text 9"/>
          <p:cNvSpPr/>
          <p:nvPr/>
        </p:nvSpPr>
        <p:spPr>
          <a:xfrm>
            <a:off x="822960" y="2871216"/>
            <a:ext cx="1655613" cy="237744"/>
          </a:xfrm>
          <a:prstGeom prst="rect">
            <a:avLst/>
          </a:prstGeom>
          <a:noFill/>
          <a:ln/>
        </p:spPr>
        <p:txBody>
          <a:bodyPr wrap="square" lIns="0" tIns="0" rIns="0" bIns="0" rtlCol="0" anchor="ctr"/>
          <a:lstStyle/>
          <a:p>
            <a:pPr indent="0" marL="0">
              <a:buNone/>
            </a:pPr>
            <a:r>
              <a:rPr lang="en-US" sz="950" dirty="0">
                <a:solidFill>
                  <a:srgbClr val="6F665F"/>
                </a:solidFill>
                <a:latin typeface="Meiryo" pitchFamily="34" charset="0"/>
                <a:ea typeface="Meiryo" pitchFamily="34" charset="-122"/>
                <a:cs typeface="Meiryo" pitchFamily="34" charset="-120"/>
              </a:rPr>
              <a:t>仕入①</a:t>
            </a:r>
            <a:endParaRPr lang="en-US" sz="950" dirty="0"/>
          </a:p>
        </p:txBody>
      </p:sp>
      <p:sp>
        <p:nvSpPr>
          <p:cNvPr id="12" name="Shape 10"/>
          <p:cNvSpPr/>
          <p:nvPr/>
        </p:nvSpPr>
        <p:spPr>
          <a:xfrm>
            <a:off x="2880909" y="1664208"/>
            <a:ext cx="1984797" cy="1645920"/>
          </a:xfrm>
          <a:prstGeom prst="roundRect">
            <a:avLst>
              <a:gd name="adj" fmla="val 4444"/>
            </a:avLst>
          </a:prstGeom>
          <a:solidFill>
            <a:srgbClr val="F5EFE4"/>
          </a:solidFill>
          <a:ln w="9525">
            <a:solidFill>
              <a:srgbClr val="C9AE7E"/>
            </a:solidFill>
            <a:prstDash val="solid"/>
          </a:ln>
          <a:effectLst>
            <a:outerShdw sx="100000" sy="100000" kx="0" ky="0" algn="bl" rotWithShape="0" blurRad="76200" dist="25400" dir="5400000">
              <a:srgbClr val="6F665F">
                <a:alpha val="18000"/>
              </a:srgbClr>
            </a:outerShdw>
          </a:effectLst>
        </p:spPr>
      </p:sp>
      <p:sp>
        <p:nvSpPr>
          <p:cNvPr id="13" name="Text 11"/>
          <p:cNvSpPr/>
          <p:nvPr/>
        </p:nvSpPr>
        <p:spPr>
          <a:xfrm>
            <a:off x="3045501" y="1810512"/>
            <a:ext cx="1655613" cy="237744"/>
          </a:xfrm>
          <a:prstGeom prst="rect">
            <a:avLst/>
          </a:prstGeom>
          <a:noFill/>
          <a:ln/>
        </p:spPr>
        <p:txBody>
          <a:bodyPr wrap="square" lIns="0" tIns="0" rIns="0" bIns="0" rtlCol="0" anchor="ctr"/>
          <a:lstStyle/>
          <a:p>
            <a:pPr indent="0" marL="0">
              <a:buNone/>
            </a:pPr>
            <a:r>
              <a:rPr lang="en-US" sz="1000" b="1" dirty="0">
                <a:solidFill>
                  <a:srgbClr val="2B2622"/>
                </a:solidFill>
                <a:latin typeface="Meiryo" pitchFamily="34" charset="0"/>
                <a:ea typeface="Meiryo" pitchFamily="34" charset="-122"/>
                <a:cs typeface="Meiryo" pitchFamily="34" charset="-120"/>
              </a:rPr>
              <a:t>酒販店仕入</a:t>
            </a:r>
            <a:endParaRPr lang="en-US" sz="1000" dirty="0"/>
          </a:p>
        </p:txBody>
      </p:sp>
      <p:sp>
        <p:nvSpPr>
          <p:cNvPr id="14" name="Text 12"/>
          <p:cNvSpPr/>
          <p:nvPr/>
        </p:nvSpPr>
        <p:spPr>
          <a:xfrm>
            <a:off x="3045501" y="2121408"/>
            <a:ext cx="1655613" cy="658368"/>
          </a:xfrm>
          <a:prstGeom prst="rect">
            <a:avLst/>
          </a:prstGeom>
          <a:noFill/>
          <a:ln/>
        </p:spPr>
        <p:txBody>
          <a:bodyPr wrap="square" lIns="0" tIns="0" rIns="0" bIns="0" rtlCol="0" anchor="ctr"/>
          <a:lstStyle/>
          <a:p>
            <a:pPr indent="0" marL="0">
              <a:buNone/>
            </a:pPr>
            <a:r>
              <a:rPr lang="en-US" sz="3800" b="1" dirty="0">
                <a:solidFill>
                  <a:srgbClr val="8C6A3A"/>
                </a:solidFill>
                <a:latin typeface="Meiryo" pitchFamily="34" charset="0"/>
                <a:ea typeface="Meiryo" pitchFamily="34" charset="-122"/>
                <a:cs typeface="Meiryo" pitchFamily="34" charset="-120"/>
              </a:rPr>
              <a:t>60</a:t>
            </a:r>
            <a:endParaRPr lang="en-US" sz="3800" dirty="0"/>
          </a:p>
        </p:txBody>
      </p:sp>
      <p:sp>
        <p:nvSpPr>
          <p:cNvPr id="15" name="Text 13"/>
          <p:cNvSpPr/>
          <p:nvPr/>
        </p:nvSpPr>
        <p:spPr>
          <a:xfrm>
            <a:off x="3045501" y="2871216"/>
            <a:ext cx="1655613" cy="237744"/>
          </a:xfrm>
          <a:prstGeom prst="rect">
            <a:avLst/>
          </a:prstGeom>
          <a:noFill/>
          <a:ln/>
        </p:spPr>
        <p:txBody>
          <a:bodyPr wrap="square" lIns="0" tIns="0" rIns="0" bIns="0" rtlCol="0" anchor="ctr"/>
          <a:lstStyle/>
          <a:p>
            <a:pPr indent="0" marL="0">
              <a:buNone/>
            </a:pPr>
            <a:r>
              <a:rPr lang="en-US" sz="950" dirty="0">
                <a:solidFill>
                  <a:srgbClr val="6F665F"/>
                </a:solidFill>
                <a:latin typeface="Meiryo" pitchFamily="34" charset="0"/>
                <a:ea typeface="Meiryo" pitchFamily="34" charset="-122"/>
                <a:cs typeface="Meiryo" pitchFamily="34" charset="-120"/>
              </a:rPr>
              <a:t>仕入②</a:t>
            </a:r>
            <a:endParaRPr lang="en-US" sz="950" dirty="0"/>
          </a:p>
        </p:txBody>
      </p:sp>
      <p:sp>
        <p:nvSpPr>
          <p:cNvPr id="16" name="Shape 14"/>
          <p:cNvSpPr/>
          <p:nvPr/>
        </p:nvSpPr>
        <p:spPr>
          <a:xfrm>
            <a:off x="5103449" y="1664208"/>
            <a:ext cx="1984797" cy="1645920"/>
          </a:xfrm>
          <a:prstGeom prst="roundRect">
            <a:avLst>
              <a:gd name="adj" fmla="val 4444"/>
            </a:avLst>
          </a:prstGeom>
          <a:solidFill>
            <a:srgbClr val="F3E9D6"/>
          </a:solidFill>
          <a:ln w="9525">
            <a:solidFill>
              <a:srgbClr val="8C6A3A"/>
            </a:solidFill>
            <a:prstDash val="solid"/>
          </a:ln>
          <a:effectLst>
            <a:outerShdw sx="100000" sy="100000" kx="0" ky="0" algn="bl" rotWithShape="0" blurRad="76200" dist="25400" dir="5400000">
              <a:srgbClr val="6F665F">
                <a:alpha val="18000"/>
              </a:srgbClr>
            </a:outerShdw>
          </a:effectLst>
        </p:spPr>
      </p:sp>
      <p:sp>
        <p:nvSpPr>
          <p:cNvPr id="17" name="Text 15"/>
          <p:cNvSpPr/>
          <p:nvPr/>
        </p:nvSpPr>
        <p:spPr>
          <a:xfrm>
            <a:off x="5268041" y="1810512"/>
            <a:ext cx="1655613" cy="237744"/>
          </a:xfrm>
          <a:prstGeom prst="rect">
            <a:avLst/>
          </a:prstGeom>
          <a:noFill/>
          <a:ln/>
        </p:spPr>
        <p:txBody>
          <a:bodyPr wrap="square" lIns="0" tIns="0" rIns="0" bIns="0" rtlCol="0" anchor="ctr"/>
          <a:lstStyle/>
          <a:p>
            <a:pPr indent="0" marL="0">
              <a:buNone/>
            </a:pPr>
            <a:r>
              <a:rPr lang="en-US" sz="1000" b="1" dirty="0">
                <a:solidFill>
                  <a:srgbClr val="8C6A3A"/>
                </a:solidFill>
                <a:latin typeface="Meiryo" pitchFamily="34" charset="0"/>
                <a:ea typeface="Meiryo" pitchFamily="34" charset="-122"/>
                <a:cs typeface="Meiryo" pitchFamily="34" charset="-120"/>
              </a:rPr>
              <a:t>SPC簿価（時価−α）</a:t>
            </a:r>
            <a:endParaRPr lang="en-US" sz="1000" dirty="0"/>
          </a:p>
        </p:txBody>
      </p:sp>
      <p:sp>
        <p:nvSpPr>
          <p:cNvPr id="18" name="Text 16"/>
          <p:cNvSpPr/>
          <p:nvPr/>
        </p:nvSpPr>
        <p:spPr>
          <a:xfrm>
            <a:off x="5268041" y="2121408"/>
            <a:ext cx="1655613" cy="658368"/>
          </a:xfrm>
          <a:prstGeom prst="rect">
            <a:avLst/>
          </a:prstGeom>
          <a:noFill/>
          <a:ln/>
        </p:spPr>
        <p:txBody>
          <a:bodyPr wrap="square" lIns="0" tIns="0" rIns="0" bIns="0" rtlCol="0" anchor="ctr"/>
          <a:lstStyle/>
          <a:p>
            <a:pPr indent="0" marL="0">
              <a:buNone/>
            </a:pPr>
            <a:r>
              <a:rPr lang="en-US" sz="3400" b="1" dirty="0">
                <a:solidFill>
                  <a:srgbClr val="8C6A3A"/>
                </a:solidFill>
                <a:latin typeface="Meiryo" pitchFamily="34" charset="0"/>
                <a:ea typeface="Meiryo" pitchFamily="34" charset="-122"/>
                <a:cs typeface="Meiryo" pitchFamily="34" charset="-120"/>
              </a:rPr>
              <a:t>56.63</a:t>
            </a:r>
            <a:endParaRPr lang="en-US" sz="3400" dirty="0"/>
          </a:p>
        </p:txBody>
      </p:sp>
      <p:sp>
        <p:nvSpPr>
          <p:cNvPr id="19" name="Text 17"/>
          <p:cNvSpPr/>
          <p:nvPr/>
        </p:nvSpPr>
        <p:spPr>
          <a:xfrm>
            <a:off x="5268041" y="2871216"/>
            <a:ext cx="1655613" cy="237744"/>
          </a:xfrm>
          <a:prstGeom prst="rect">
            <a:avLst/>
          </a:prstGeom>
          <a:noFill/>
          <a:ln/>
        </p:spPr>
        <p:txBody>
          <a:bodyPr wrap="square" lIns="0" tIns="0" rIns="0" bIns="0" rtlCol="0" anchor="ctr"/>
          <a:lstStyle/>
          <a:p>
            <a:pPr indent="0" marL="0">
              <a:buNone/>
            </a:pPr>
            <a:r>
              <a:rPr lang="en-US" sz="950" dirty="0">
                <a:solidFill>
                  <a:srgbClr val="6F665F"/>
                </a:solidFill>
                <a:latin typeface="Meiryo" pitchFamily="34" charset="0"/>
                <a:ea typeface="Meiryo" pitchFamily="34" charset="-122"/>
                <a:cs typeface="Meiryo" pitchFamily="34" charset="-120"/>
              </a:rPr>
              <a:t>SPCの取得</a:t>
            </a:r>
            <a:endParaRPr lang="en-US" sz="950" dirty="0"/>
          </a:p>
        </p:txBody>
      </p:sp>
      <p:sp>
        <p:nvSpPr>
          <p:cNvPr id="20" name="Shape 18"/>
          <p:cNvSpPr/>
          <p:nvPr/>
        </p:nvSpPr>
        <p:spPr>
          <a:xfrm>
            <a:off x="7325990" y="1664208"/>
            <a:ext cx="1984797" cy="1645920"/>
          </a:xfrm>
          <a:prstGeom prst="roundRect">
            <a:avLst>
              <a:gd name="adj" fmla="val 4444"/>
            </a:avLst>
          </a:prstGeom>
          <a:solidFill>
            <a:srgbClr val="F5EFE4"/>
          </a:solidFill>
          <a:ln w="9525">
            <a:solidFill>
              <a:srgbClr val="A78450"/>
            </a:solidFill>
            <a:prstDash val="solid"/>
          </a:ln>
          <a:effectLst>
            <a:outerShdw sx="100000" sy="100000" kx="0" ky="0" algn="bl" rotWithShape="0" blurRad="76200" dist="25400" dir="5400000">
              <a:srgbClr val="6F665F">
                <a:alpha val="18000"/>
              </a:srgbClr>
            </a:outerShdw>
          </a:effectLst>
        </p:spPr>
      </p:sp>
      <p:sp>
        <p:nvSpPr>
          <p:cNvPr id="21" name="Text 19"/>
          <p:cNvSpPr/>
          <p:nvPr/>
        </p:nvSpPr>
        <p:spPr>
          <a:xfrm>
            <a:off x="7490582" y="1810512"/>
            <a:ext cx="1655613" cy="237744"/>
          </a:xfrm>
          <a:prstGeom prst="rect">
            <a:avLst/>
          </a:prstGeom>
          <a:noFill/>
          <a:ln/>
        </p:spPr>
        <p:txBody>
          <a:bodyPr wrap="square" lIns="0" tIns="0" rIns="0" bIns="0" rtlCol="0" anchor="ctr"/>
          <a:lstStyle/>
          <a:p>
            <a:pPr indent="0" marL="0">
              <a:buNone/>
            </a:pPr>
            <a:r>
              <a:rPr lang="en-US" sz="1000" b="1" dirty="0">
                <a:solidFill>
                  <a:srgbClr val="2B2622"/>
                </a:solidFill>
                <a:latin typeface="Meiryo" pitchFamily="34" charset="0"/>
                <a:ea typeface="Meiryo" pitchFamily="34" charset="-122"/>
                <a:cs typeface="Meiryo" pitchFamily="34" charset="-120"/>
              </a:rPr>
              <a:t>酒販店卸 売値</a:t>
            </a:r>
            <a:endParaRPr lang="en-US" sz="1000" dirty="0"/>
          </a:p>
        </p:txBody>
      </p:sp>
      <p:sp>
        <p:nvSpPr>
          <p:cNvPr id="22" name="Text 20"/>
          <p:cNvSpPr/>
          <p:nvPr/>
        </p:nvSpPr>
        <p:spPr>
          <a:xfrm>
            <a:off x="7490582" y="2121408"/>
            <a:ext cx="1655613" cy="658368"/>
          </a:xfrm>
          <a:prstGeom prst="rect">
            <a:avLst/>
          </a:prstGeom>
          <a:noFill/>
          <a:ln/>
        </p:spPr>
        <p:txBody>
          <a:bodyPr wrap="square" lIns="0" tIns="0" rIns="0" bIns="0" rtlCol="0" anchor="ctr"/>
          <a:lstStyle/>
          <a:p>
            <a:pPr indent="0" marL="0">
              <a:buNone/>
            </a:pPr>
            <a:r>
              <a:rPr lang="en-US" sz="3800" b="1" dirty="0">
                <a:solidFill>
                  <a:srgbClr val="8C6A3A"/>
                </a:solidFill>
                <a:latin typeface="Meiryo" pitchFamily="34" charset="0"/>
                <a:ea typeface="Meiryo" pitchFamily="34" charset="-122"/>
                <a:cs typeface="Meiryo" pitchFamily="34" charset="-120"/>
              </a:rPr>
              <a:t>70</a:t>
            </a:r>
            <a:endParaRPr lang="en-US" sz="3800" dirty="0"/>
          </a:p>
        </p:txBody>
      </p:sp>
      <p:sp>
        <p:nvSpPr>
          <p:cNvPr id="23" name="Text 21"/>
          <p:cNvSpPr/>
          <p:nvPr/>
        </p:nvSpPr>
        <p:spPr>
          <a:xfrm>
            <a:off x="7490582" y="2871216"/>
            <a:ext cx="1655613" cy="237744"/>
          </a:xfrm>
          <a:prstGeom prst="rect">
            <a:avLst/>
          </a:prstGeom>
          <a:noFill/>
          <a:ln/>
        </p:spPr>
        <p:txBody>
          <a:bodyPr wrap="square" lIns="0" tIns="0" rIns="0" bIns="0" rtlCol="0" anchor="ctr"/>
          <a:lstStyle/>
          <a:p>
            <a:pPr indent="0" marL="0">
              <a:buNone/>
            </a:pPr>
            <a:r>
              <a:rPr lang="en-US" sz="950" dirty="0">
                <a:solidFill>
                  <a:srgbClr val="6F665F"/>
                </a:solidFill>
                <a:latin typeface="Meiryo" pitchFamily="34" charset="0"/>
                <a:ea typeface="Meiryo" pitchFamily="34" charset="-122"/>
                <a:cs typeface="Meiryo" pitchFamily="34" charset="-120"/>
              </a:rPr>
              <a:t>売却① B2B</a:t>
            </a:r>
            <a:endParaRPr lang="en-US" sz="950" dirty="0"/>
          </a:p>
        </p:txBody>
      </p:sp>
      <p:sp>
        <p:nvSpPr>
          <p:cNvPr id="24" name="Shape 22"/>
          <p:cNvSpPr/>
          <p:nvPr/>
        </p:nvSpPr>
        <p:spPr>
          <a:xfrm>
            <a:off x="9548531" y="1664208"/>
            <a:ext cx="1984797" cy="1645920"/>
          </a:xfrm>
          <a:prstGeom prst="roundRect">
            <a:avLst>
              <a:gd name="adj" fmla="val 4444"/>
            </a:avLst>
          </a:prstGeom>
          <a:solidFill>
            <a:srgbClr val="F5EFE4"/>
          </a:solidFill>
          <a:ln w="9525">
            <a:solidFill>
              <a:srgbClr val="A78450"/>
            </a:solidFill>
            <a:prstDash val="solid"/>
          </a:ln>
          <a:effectLst>
            <a:outerShdw sx="100000" sy="100000" kx="0" ky="0" algn="bl" rotWithShape="0" blurRad="76200" dist="25400" dir="5400000">
              <a:srgbClr val="6F665F">
                <a:alpha val="18000"/>
              </a:srgbClr>
            </a:outerShdw>
          </a:effectLst>
        </p:spPr>
      </p:sp>
      <p:sp>
        <p:nvSpPr>
          <p:cNvPr id="25" name="Text 23"/>
          <p:cNvSpPr/>
          <p:nvPr/>
        </p:nvSpPr>
        <p:spPr>
          <a:xfrm>
            <a:off x="9713123" y="1810512"/>
            <a:ext cx="1655613" cy="237744"/>
          </a:xfrm>
          <a:prstGeom prst="rect">
            <a:avLst/>
          </a:prstGeom>
          <a:noFill/>
          <a:ln/>
        </p:spPr>
        <p:txBody>
          <a:bodyPr wrap="square" lIns="0" tIns="0" rIns="0" bIns="0" rtlCol="0" anchor="ctr"/>
          <a:lstStyle/>
          <a:p>
            <a:pPr indent="0" marL="0">
              <a:buNone/>
            </a:pPr>
            <a:r>
              <a:rPr lang="en-US" sz="1000" b="1" dirty="0">
                <a:solidFill>
                  <a:srgbClr val="2B2622"/>
                </a:solidFill>
                <a:latin typeface="Meiryo" pitchFamily="34" charset="0"/>
                <a:ea typeface="Meiryo" pitchFamily="34" charset="-122"/>
                <a:cs typeface="Meiryo" pitchFamily="34" charset="-120"/>
              </a:rPr>
              <a:t>ネット最安 売値</a:t>
            </a:r>
            <a:endParaRPr lang="en-US" sz="1000" dirty="0"/>
          </a:p>
        </p:txBody>
      </p:sp>
      <p:sp>
        <p:nvSpPr>
          <p:cNvPr id="26" name="Text 24"/>
          <p:cNvSpPr/>
          <p:nvPr/>
        </p:nvSpPr>
        <p:spPr>
          <a:xfrm>
            <a:off x="9713123" y="2121408"/>
            <a:ext cx="1655613" cy="658368"/>
          </a:xfrm>
          <a:prstGeom prst="rect">
            <a:avLst/>
          </a:prstGeom>
          <a:noFill/>
          <a:ln/>
        </p:spPr>
        <p:txBody>
          <a:bodyPr wrap="square" lIns="0" tIns="0" rIns="0" bIns="0" rtlCol="0" anchor="ctr"/>
          <a:lstStyle/>
          <a:p>
            <a:pPr indent="0" marL="0">
              <a:buNone/>
            </a:pPr>
            <a:r>
              <a:rPr lang="en-US" sz="3800" b="1" dirty="0">
                <a:solidFill>
                  <a:srgbClr val="8C6A3A"/>
                </a:solidFill>
                <a:latin typeface="Meiryo" pitchFamily="34" charset="0"/>
                <a:ea typeface="Meiryo" pitchFamily="34" charset="-122"/>
                <a:cs typeface="Meiryo" pitchFamily="34" charset="-120"/>
              </a:rPr>
              <a:t>80</a:t>
            </a:r>
            <a:endParaRPr lang="en-US" sz="3800" dirty="0"/>
          </a:p>
        </p:txBody>
      </p:sp>
      <p:sp>
        <p:nvSpPr>
          <p:cNvPr id="27" name="Text 25"/>
          <p:cNvSpPr/>
          <p:nvPr/>
        </p:nvSpPr>
        <p:spPr>
          <a:xfrm>
            <a:off x="9713123" y="2871216"/>
            <a:ext cx="1655613" cy="237744"/>
          </a:xfrm>
          <a:prstGeom prst="rect">
            <a:avLst/>
          </a:prstGeom>
          <a:noFill/>
          <a:ln/>
        </p:spPr>
        <p:txBody>
          <a:bodyPr wrap="square" lIns="0" tIns="0" rIns="0" bIns="0" rtlCol="0" anchor="ctr"/>
          <a:lstStyle/>
          <a:p>
            <a:pPr indent="0" marL="0">
              <a:buNone/>
            </a:pPr>
            <a:r>
              <a:rPr lang="en-US" sz="950" dirty="0">
                <a:solidFill>
                  <a:srgbClr val="6F665F"/>
                </a:solidFill>
                <a:latin typeface="Meiryo" pitchFamily="34" charset="0"/>
                <a:ea typeface="Meiryo" pitchFamily="34" charset="-122"/>
                <a:cs typeface="Meiryo" pitchFamily="34" charset="-120"/>
              </a:rPr>
              <a:t>売却② B2C</a:t>
            </a:r>
            <a:endParaRPr lang="en-US" sz="950" dirty="0"/>
          </a:p>
        </p:txBody>
      </p:sp>
      <p:sp>
        <p:nvSpPr>
          <p:cNvPr id="28" name="Shape 26"/>
          <p:cNvSpPr/>
          <p:nvPr/>
        </p:nvSpPr>
        <p:spPr>
          <a:xfrm>
            <a:off x="658368" y="3566160"/>
            <a:ext cx="10874959" cy="2066544"/>
          </a:xfrm>
          <a:prstGeom prst="roundRect">
            <a:avLst>
              <a:gd name="adj" fmla="val 3540"/>
            </a:avLst>
          </a:prstGeom>
          <a:solidFill>
            <a:srgbClr val="F3E9D6"/>
          </a:solidFill>
          <a:ln w="9525">
            <a:solidFill>
              <a:srgbClr val="C9AE7E"/>
            </a:solidFill>
            <a:prstDash val="solid"/>
          </a:ln>
          <a:effectLst>
            <a:outerShdw sx="100000" sy="100000" kx="0" ky="0" algn="bl" rotWithShape="0" blurRad="76200" dist="25400" dir="5400000">
              <a:srgbClr val="6F665F">
                <a:alpha val="18000"/>
              </a:srgbClr>
            </a:outerShdw>
          </a:effectLst>
        </p:spPr>
      </p:sp>
      <p:sp>
        <p:nvSpPr>
          <p:cNvPr id="29" name="Text 27"/>
          <p:cNvSpPr/>
          <p:nvPr/>
        </p:nvSpPr>
        <p:spPr>
          <a:xfrm>
            <a:off x="932688" y="3694176"/>
            <a:ext cx="6400800" cy="256032"/>
          </a:xfrm>
          <a:prstGeom prst="rect">
            <a:avLst/>
          </a:prstGeom>
          <a:noFill/>
          <a:ln/>
        </p:spPr>
        <p:txBody>
          <a:bodyPr wrap="square" lIns="0" tIns="0" rIns="0" bIns="0" rtlCol="0" anchor="ctr"/>
          <a:lstStyle/>
          <a:p>
            <a:pPr indent="0" marL="0">
              <a:buNone/>
            </a:pPr>
            <a:r>
              <a:rPr lang="en-US" sz="1200" b="1" dirty="0">
                <a:solidFill>
                  <a:srgbClr val="8C6A3A"/>
                </a:solidFill>
                <a:latin typeface="Meiryo" pitchFamily="34" charset="0"/>
                <a:ea typeface="Meiryo" pitchFamily="34" charset="-122"/>
                <a:cs typeface="Meiryo" pitchFamily="34" charset="-120"/>
              </a:rPr>
              <a:t>主線（ニュートラル）の置き方　― 保有12ヶ月・定価100あたり</a:t>
            </a:r>
            <a:endParaRPr lang="en-US" sz="1200" dirty="0"/>
          </a:p>
        </p:txBody>
      </p:sp>
      <p:sp>
        <p:nvSpPr>
          <p:cNvPr id="30" name="Text 28"/>
          <p:cNvSpPr/>
          <p:nvPr/>
        </p:nvSpPr>
        <p:spPr>
          <a:xfrm>
            <a:off x="932688" y="4005072"/>
            <a:ext cx="3017520" cy="237744"/>
          </a:xfrm>
          <a:prstGeom prst="rect">
            <a:avLst/>
          </a:prstGeom>
          <a:noFill/>
          <a:ln/>
        </p:spPr>
        <p:txBody>
          <a:bodyPr wrap="square" lIns="0" tIns="0" rIns="0" bIns="0" rtlCol="0" anchor="ctr"/>
          <a:lstStyle/>
          <a:p>
            <a:pPr indent="0" marL="0">
              <a:buNone/>
            </a:pPr>
            <a:r>
              <a:rPr lang="en-US" sz="1050" b="1" dirty="0">
                <a:solidFill>
                  <a:srgbClr val="2B2622"/>
                </a:solidFill>
                <a:latin typeface="Meiryo" pitchFamily="34" charset="0"/>
                <a:ea typeface="Meiryo" pitchFamily="34" charset="-122"/>
                <a:cs typeface="Meiryo" pitchFamily="34" charset="-120"/>
              </a:rPr>
              <a:t>仕入ポートフォリオ</a:t>
            </a:r>
            <a:endParaRPr lang="en-US" sz="1050" dirty="0"/>
          </a:p>
        </p:txBody>
      </p:sp>
      <p:sp>
        <p:nvSpPr>
          <p:cNvPr id="31" name="Text 29"/>
          <p:cNvSpPr/>
          <p:nvPr/>
        </p:nvSpPr>
        <p:spPr>
          <a:xfrm>
            <a:off x="4041648" y="4005072"/>
            <a:ext cx="4663440" cy="237744"/>
          </a:xfrm>
          <a:prstGeom prst="rect">
            <a:avLst/>
          </a:prstGeom>
          <a:noFill/>
          <a:ln/>
        </p:spPr>
        <p:txBody>
          <a:bodyPr wrap="square" lIns="0" tIns="0" rIns="0" bIns="0" rtlCol="0" anchor="ctr"/>
          <a:lstStyle/>
          <a:p>
            <a:pPr indent="0" marL="0">
              <a:buNone/>
            </a:pPr>
            <a:r>
              <a:rPr lang="en-US" sz="1050" dirty="0">
                <a:solidFill>
                  <a:srgbClr val="6F665F"/>
                </a:solidFill>
                <a:latin typeface="Meiryo" pitchFamily="34" charset="0"/>
                <a:ea typeface="Meiryo" pitchFamily="34" charset="-122"/>
                <a:cs typeface="Meiryo" pitchFamily="34" charset="-120"/>
              </a:rPr>
              <a:t>インポーター40 ＋ 酒販店60 を半々</a:t>
            </a:r>
            <a:endParaRPr lang="en-US" sz="1050" dirty="0"/>
          </a:p>
        </p:txBody>
      </p:sp>
      <p:sp>
        <p:nvSpPr>
          <p:cNvPr id="32" name="Text 30"/>
          <p:cNvSpPr/>
          <p:nvPr/>
        </p:nvSpPr>
        <p:spPr>
          <a:xfrm>
            <a:off x="8796528" y="4005072"/>
            <a:ext cx="2462479" cy="237744"/>
          </a:xfrm>
          <a:prstGeom prst="rect">
            <a:avLst/>
          </a:prstGeom>
          <a:noFill/>
          <a:ln/>
        </p:spPr>
        <p:txBody>
          <a:bodyPr wrap="square" lIns="0" tIns="0" rIns="0" bIns="0" rtlCol="0" anchor="ctr"/>
          <a:lstStyle/>
          <a:p>
            <a:pPr algn="r" indent="0" marL="0">
              <a:buNone/>
            </a:pPr>
            <a:r>
              <a:rPr lang="en-US" sz="1050" b="1" dirty="0">
                <a:solidFill>
                  <a:srgbClr val="2B2622"/>
                </a:solidFill>
                <a:latin typeface="Meiryo" pitchFamily="34" charset="0"/>
                <a:ea typeface="Meiryo" pitchFamily="34" charset="-122"/>
                <a:cs typeface="Meiryo" pitchFamily="34" charset="-120"/>
              </a:rPr>
              <a:t>市中原価 50.00</a:t>
            </a:r>
            <a:endParaRPr lang="en-US" sz="1050" dirty="0"/>
          </a:p>
        </p:txBody>
      </p:sp>
      <p:sp>
        <p:nvSpPr>
          <p:cNvPr id="33" name="Text 31"/>
          <p:cNvSpPr/>
          <p:nvPr/>
        </p:nvSpPr>
        <p:spPr>
          <a:xfrm>
            <a:off x="932688" y="4270248"/>
            <a:ext cx="3017520" cy="237744"/>
          </a:xfrm>
          <a:prstGeom prst="rect">
            <a:avLst/>
          </a:prstGeom>
          <a:noFill/>
          <a:ln/>
        </p:spPr>
        <p:txBody>
          <a:bodyPr wrap="square" lIns="0" tIns="0" rIns="0" bIns="0" rtlCol="0" anchor="ctr"/>
          <a:lstStyle/>
          <a:p>
            <a:pPr indent="0" marL="0">
              <a:buNone/>
            </a:pPr>
            <a:r>
              <a:rPr lang="en-US" sz="1050" b="1" dirty="0">
                <a:solidFill>
                  <a:srgbClr val="2B2622"/>
                </a:solidFill>
                <a:latin typeface="Meiryo" pitchFamily="34" charset="0"/>
                <a:ea typeface="Meiryo" pitchFamily="34" charset="-122"/>
                <a:cs typeface="Meiryo" pitchFamily="34" charset="-120"/>
              </a:rPr>
              <a:t>時価（取得時点）</a:t>
            </a:r>
            <a:endParaRPr lang="en-US" sz="1050" dirty="0"/>
          </a:p>
        </p:txBody>
      </p:sp>
      <p:sp>
        <p:nvSpPr>
          <p:cNvPr id="34" name="Text 32"/>
          <p:cNvSpPr/>
          <p:nvPr/>
        </p:nvSpPr>
        <p:spPr>
          <a:xfrm>
            <a:off x="4041648" y="4270248"/>
            <a:ext cx="4663440" cy="237744"/>
          </a:xfrm>
          <a:prstGeom prst="rect">
            <a:avLst/>
          </a:prstGeom>
          <a:noFill/>
          <a:ln/>
        </p:spPr>
        <p:txBody>
          <a:bodyPr wrap="square" lIns="0" tIns="0" rIns="0" bIns="0" rtlCol="0" anchor="ctr"/>
          <a:lstStyle/>
          <a:p>
            <a:pPr indent="0" marL="0">
              <a:buNone/>
            </a:pPr>
            <a:r>
              <a:rPr lang="en-US" sz="1050" dirty="0">
                <a:solidFill>
                  <a:srgbClr val="6F665F"/>
                </a:solidFill>
                <a:latin typeface="Meiryo" pitchFamily="34" charset="0"/>
                <a:ea typeface="Meiryo" pitchFamily="34" charset="-122"/>
                <a:cs typeface="Meiryo" pitchFamily="34" charset="-120"/>
              </a:rPr>
              <a:t>酒販店卸70（B2B）＋ ネット最安80（B2C）の加重平均</a:t>
            </a:r>
            <a:endParaRPr lang="en-US" sz="1050" dirty="0"/>
          </a:p>
        </p:txBody>
      </p:sp>
      <p:sp>
        <p:nvSpPr>
          <p:cNvPr id="35" name="Text 33"/>
          <p:cNvSpPr/>
          <p:nvPr/>
        </p:nvSpPr>
        <p:spPr>
          <a:xfrm>
            <a:off x="8796528" y="4270248"/>
            <a:ext cx="2462479" cy="237744"/>
          </a:xfrm>
          <a:prstGeom prst="rect">
            <a:avLst/>
          </a:prstGeom>
          <a:noFill/>
          <a:ln/>
        </p:spPr>
        <p:txBody>
          <a:bodyPr wrap="square" lIns="0" tIns="0" rIns="0" bIns="0" rtlCol="0" anchor="ctr"/>
          <a:lstStyle/>
          <a:p>
            <a:pPr algn="r" indent="0" marL="0">
              <a:buNone/>
            </a:pPr>
            <a:r>
              <a:rPr lang="en-US" sz="1050" b="1" dirty="0">
                <a:solidFill>
                  <a:srgbClr val="2B2622"/>
                </a:solidFill>
                <a:latin typeface="Meiryo" pitchFamily="34" charset="0"/>
                <a:ea typeface="Meiryo" pitchFamily="34" charset="-122"/>
                <a:cs typeface="Meiryo" pitchFamily="34" charset="-120"/>
              </a:rPr>
              <a:t>時価 75.00</a:t>
            </a:r>
            <a:endParaRPr lang="en-US" sz="1050" dirty="0"/>
          </a:p>
        </p:txBody>
      </p:sp>
      <p:sp>
        <p:nvSpPr>
          <p:cNvPr id="36" name="Text 34"/>
          <p:cNvSpPr/>
          <p:nvPr/>
        </p:nvSpPr>
        <p:spPr>
          <a:xfrm>
            <a:off x="932688" y="4535424"/>
            <a:ext cx="3017520" cy="237744"/>
          </a:xfrm>
          <a:prstGeom prst="rect">
            <a:avLst/>
          </a:prstGeom>
          <a:noFill/>
          <a:ln/>
        </p:spPr>
        <p:txBody>
          <a:bodyPr wrap="square" lIns="0" tIns="0" rIns="0" bIns="0" rtlCol="0" anchor="ctr"/>
          <a:lstStyle/>
          <a:p>
            <a:pPr indent="0" marL="0">
              <a:buNone/>
            </a:pPr>
            <a:r>
              <a:rPr lang="en-US" sz="1050" b="1" dirty="0">
                <a:solidFill>
                  <a:srgbClr val="8C6A3A"/>
                </a:solidFill>
                <a:latin typeface="Meiryo" pitchFamily="34" charset="0"/>
                <a:ea typeface="Meiryo" pitchFamily="34" charset="-122"/>
                <a:cs typeface="Meiryo" pitchFamily="34" charset="-120"/>
              </a:rPr>
              <a:t>WineBankの値入れ</a:t>
            </a:r>
            <a:endParaRPr lang="en-US" sz="1050" dirty="0"/>
          </a:p>
        </p:txBody>
      </p:sp>
      <p:sp>
        <p:nvSpPr>
          <p:cNvPr id="37" name="Text 35"/>
          <p:cNvSpPr/>
          <p:nvPr/>
        </p:nvSpPr>
        <p:spPr>
          <a:xfrm>
            <a:off x="4041648" y="4535424"/>
            <a:ext cx="4663440" cy="237744"/>
          </a:xfrm>
          <a:prstGeom prst="rect">
            <a:avLst/>
          </a:prstGeom>
          <a:noFill/>
          <a:ln/>
        </p:spPr>
        <p:txBody>
          <a:bodyPr wrap="square" lIns="0" tIns="0" rIns="0" bIns="0" rtlCol="0" anchor="ctr"/>
          <a:lstStyle/>
          <a:p>
            <a:pPr indent="0" marL="0">
              <a:buNone/>
            </a:pPr>
            <a:r>
              <a:rPr lang="en-US" sz="1050" dirty="0">
                <a:solidFill>
                  <a:srgbClr val="6F665F"/>
                </a:solidFill>
                <a:latin typeface="Meiryo" pitchFamily="34" charset="0"/>
                <a:ea typeface="Meiryo" pitchFamily="34" charset="-122"/>
                <a:cs typeface="Meiryo" pitchFamily="34" charset="-120"/>
              </a:rPr>
              <a:t>時価から α ＝ 24.5% を控除してSPCへ卸す</a:t>
            </a:r>
            <a:endParaRPr lang="en-US" sz="1050" dirty="0"/>
          </a:p>
        </p:txBody>
      </p:sp>
      <p:sp>
        <p:nvSpPr>
          <p:cNvPr id="38" name="Text 36"/>
          <p:cNvSpPr/>
          <p:nvPr/>
        </p:nvSpPr>
        <p:spPr>
          <a:xfrm>
            <a:off x="8796528" y="4535424"/>
            <a:ext cx="2462479" cy="237744"/>
          </a:xfrm>
          <a:prstGeom prst="rect">
            <a:avLst/>
          </a:prstGeom>
          <a:noFill/>
          <a:ln/>
        </p:spPr>
        <p:txBody>
          <a:bodyPr wrap="square" lIns="0" tIns="0" rIns="0" bIns="0" rtlCol="0" anchor="ctr"/>
          <a:lstStyle/>
          <a:p>
            <a:pPr algn="r" indent="0" marL="0">
              <a:buNone/>
            </a:pPr>
            <a:r>
              <a:rPr lang="en-US" sz="1050" b="1" dirty="0">
                <a:solidFill>
                  <a:srgbClr val="8C6A3A"/>
                </a:solidFill>
                <a:latin typeface="Meiryo" pitchFamily="34" charset="0"/>
                <a:ea typeface="Meiryo" pitchFamily="34" charset="-122"/>
                <a:cs typeface="Meiryo" pitchFamily="34" charset="-120"/>
              </a:rPr>
              <a:t>SPC簿価 56.63</a:t>
            </a:r>
            <a:endParaRPr lang="en-US" sz="1050" dirty="0"/>
          </a:p>
        </p:txBody>
      </p:sp>
      <p:sp>
        <p:nvSpPr>
          <p:cNvPr id="39" name="Text 37"/>
          <p:cNvSpPr/>
          <p:nvPr/>
        </p:nvSpPr>
        <p:spPr>
          <a:xfrm>
            <a:off x="932688" y="4800600"/>
            <a:ext cx="3017520" cy="237744"/>
          </a:xfrm>
          <a:prstGeom prst="rect">
            <a:avLst/>
          </a:prstGeom>
          <a:noFill/>
          <a:ln/>
        </p:spPr>
        <p:txBody>
          <a:bodyPr wrap="square" lIns="0" tIns="0" rIns="0" bIns="0" rtlCol="0" anchor="ctr"/>
          <a:lstStyle/>
          <a:p>
            <a:pPr indent="0" marL="0">
              <a:buNone/>
            </a:pPr>
            <a:r>
              <a:rPr lang="en-US" sz="1050" b="1" dirty="0">
                <a:solidFill>
                  <a:srgbClr val="2B2622"/>
                </a:solidFill>
                <a:latin typeface="Meiryo" pitchFamily="34" charset="0"/>
                <a:ea typeface="Meiryo" pitchFamily="34" charset="-122"/>
                <a:cs typeface="Meiryo" pitchFamily="34" charset="-120"/>
              </a:rPr>
              <a:t>保有中の値上がり</a:t>
            </a:r>
            <a:endParaRPr lang="en-US" sz="1050" dirty="0"/>
          </a:p>
        </p:txBody>
      </p:sp>
      <p:sp>
        <p:nvSpPr>
          <p:cNvPr id="40" name="Text 38"/>
          <p:cNvSpPr/>
          <p:nvPr/>
        </p:nvSpPr>
        <p:spPr>
          <a:xfrm>
            <a:off x="4041648" y="4800600"/>
            <a:ext cx="4663440" cy="237744"/>
          </a:xfrm>
          <a:prstGeom prst="rect">
            <a:avLst/>
          </a:prstGeom>
          <a:noFill/>
          <a:ln/>
        </p:spPr>
        <p:txBody>
          <a:bodyPr wrap="square" lIns="0" tIns="0" rIns="0" bIns="0" rtlCol="0" anchor="ctr"/>
          <a:lstStyle/>
          <a:p>
            <a:pPr indent="0" marL="0">
              <a:buNone/>
            </a:pPr>
            <a:r>
              <a:rPr lang="en-US" sz="1050" dirty="0">
                <a:solidFill>
                  <a:srgbClr val="6F665F"/>
                </a:solidFill>
                <a:latin typeface="Meiryo" pitchFamily="34" charset="0"/>
                <a:ea typeface="Meiryo" pitchFamily="34" charset="-122"/>
                <a:cs typeface="Meiryo" pitchFamily="34" charset="-120"/>
              </a:rPr>
              <a:t>ワイン価格の年間上昇6%を12ヶ月保有</a:t>
            </a:r>
            <a:endParaRPr lang="en-US" sz="1050" dirty="0"/>
          </a:p>
        </p:txBody>
      </p:sp>
      <p:sp>
        <p:nvSpPr>
          <p:cNvPr id="41" name="Text 39"/>
          <p:cNvSpPr/>
          <p:nvPr/>
        </p:nvSpPr>
        <p:spPr>
          <a:xfrm>
            <a:off x="8796528" y="4800600"/>
            <a:ext cx="2462479" cy="237744"/>
          </a:xfrm>
          <a:prstGeom prst="rect">
            <a:avLst/>
          </a:prstGeom>
          <a:noFill/>
          <a:ln/>
        </p:spPr>
        <p:txBody>
          <a:bodyPr wrap="square" lIns="0" tIns="0" rIns="0" bIns="0" rtlCol="0" anchor="ctr"/>
          <a:lstStyle/>
          <a:p>
            <a:pPr algn="r" indent="0" marL="0">
              <a:buNone/>
            </a:pPr>
            <a:r>
              <a:rPr lang="en-US" sz="1050" b="1" dirty="0">
                <a:solidFill>
                  <a:srgbClr val="2B2622"/>
                </a:solidFill>
                <a:latin typeface="Meiryo" pitchFamily="34" charset="0"/>
                <a:ea typeface="Meiryo" pitchFamily="34" charset="-122"/>
                <a:cs typeface="Meiryo" pitchFamily="34" charset="-120"/>
              </a:rPr>
              <a:t>×1.060 → 売値 79.50</a:t>
            </a:r>
            <a:endParaRPr lang="en-US" sz="1050" dirty="0"/>
          </a:p>
        </p:txBody>
      </p:sp>
      <p:sp>
        <p:nvSpPr>
          <p:cNvPr id="42" name="Text 40"/>
          <p:cNvSpPr/>
          <p:nvPr/>
        </p:nvSpPr>
        <p:spPr>
          <a:xfrm>
            <a:off x="932688" y="5065776"/>
            <a:ext cx="3017520" cy="237744"/>
          </a:xfrm>
          <a:prstGeom prst="rect">
            <a:avLst/>
          </a:prstGeom>
          <a:noFill/>
          <a:ln/>
        </p:spPr>
        <p:txBody>
          <a:bodyPr wrap="square" lIns="0" tIns="0" rIns="0" bIns="0" rtlCol="0" anchor="ctr"/>
          <a:lstStyle/>
          <a:p>
            <a:pPr indent="0" marL="0">
              <a:buNone/>
            </a:pPr>
            <a:r>
              <a:rPr lang="en-US" sz="1050" b="1" dirty="0">
                <a:solidFill>
                  <a:srgbClr val="2B2622"/>
                </a:solidFill>
                <a:latin typeface="Meiryo" pitchFamily="34" charset="0"/>
                <a:ea typeface="Meiryo" pitchFamily="34" charset="-122"/>
                <a:cs typeface="Meiryo" pitchFamily="34" charset="-120"/>
              </a:rPr>
              <a:t>変動販売費</a:t>
            </a:r>
            <a:endParaRPr lang="en-US" sz="1050" dirty="0"/>
          </a:p>
        </p:txBody>
      </p:sp>
      <p:sp>
        <p:nvSpPr>
          <p:cNvPr id="43" name="Text 41"/>
          <p:cNvSpPr/>
          <p:nvPr/>
        </p:nvSpPr>
        <p:spPr>
          <a:xfrm>
            <a:off x="4041648" y="5065776"/>
            <a:ext cx="4663440" cy="237744"/>
          </a:xfrm>
          <a:prstGeom prst="rect">
            <a:avLst/>
          </a:prstGeom>
          <a:noFill/>
          <a:ln/>
        </p:spPr>
        <p:txBody>
          <a:bodyPr wrap="square" lIns="0" tIns="0" rIns="0" bIns="0" rtlCol="0" anchor="ctr"/>
          <a:lstStyle/>
          <a:p>
            <a:pPr indent="0" marL="0">
              <a:buNone/>
            </a:pPr>
            <a:r>
              <a:rPr lang="en-US" sz="1050" dirty="0">
                <a:solidFill>
                  <a:srgbClr val="6F665F"/>
                </a:solidFill>
                <a:latin typeface="Meiryo" pitchFamily="34" charset="0"/>
                <a:ea typeface="Meiryo" pitchFamily="34" charset="-122"/>
                <a:cs typeface="Meiryo" pitchFamily="34" charset="-120"/>
              </a:rPr>
              <a:t>B2B 1.0% ／ B2C 15.5% の加重平均 8.73%</a:t>
            </a:r>
            <a:endParaRPr lang="en-US" sz="1050" dirty="0"/>
          </a:p>
        </p:txBody>
      </p:sp>
      <p:sp>
        <p:nvSpPr>
          <p:cNvPr id="44" name="Text 42"/>
          <p:cNvSpPr/>
          <p:nvPr/>
        </p:nvSpPr>
        <p:spPr>
          <a:xfrm>
            <a:off x="8796528" y="5065776"/>
            <a:ext cx="2462479" cy="237744"/>
          </a:xfrm>
          <a:prstGeom prst="rect">
            <a:avLst/>
          </a:prstGeom>
          <a:noFill/>
          <a:ln/>
        </p:spPr>
        <p:txBody>
          <a:bodyPr wrap="square" lIns="0" tIns="0" rIns="0" bIns="0" rtlCol="0" anchor="ctr"/>
          <a:lstStyle/>
          <a:p>
            <a:pPr algn="r" indent="0" marL="0">
              <a:buNone/>
            </a:pPr>
            <a:r>
              <a:rPr lang="en-US" sz="1050" b="1" dirty="0">
                <a:solidFill>
                  <a:srgbClr val="2B2622"/>
                </a:solidFill>
                <a:latin typeface="Meiryo" pitchFamily="34" charset="0"/>
                <a:ea typeface="Meiryo" pitchFamily="34" charset="-122"/>
                <a:cs typeface="Meiryo" pitchFamily="34" charset="-120"/>
              </a:rPr>
              <a:t>▲ 6.94 → 手取り 72.56</a:t>
            </a:r>
            <a:endParaRPr lang="en-US" sz="1050" dirty="0"/>
          </a:p>
        </p:txBody>
      </p:sp>
      <p:sp>
        <p:nvSpPr>
          <p:cNvPr id="45" name="Text 43"/>
          <p:cNvSpPr/>
          <p:nvPr/>
        </p:nvSpPr>
        <p:spPr>
          <a:xfrm>
            <a:off x="932688" y="5330952"/>
            <a:ext cx="3017520" cy="237744"/>
          </a:xfrm>
          <a:prstGeom prst="rect">
            <a:avLst/>
          </a:prstGeom>
          <a:noFill/>
          <a:ln/>
        </p:spPr>
        <p:txBody>
          <a:bodyPr wrap="square" lIns="0" tIns="0" rIns="0" bIns="0" rtlCol="0" anchor="ctr"/>
          <a:lstStyle/>
          <a:p>
            <a:pPr indent="0" marL="0">
              <a:buNone/>
            </a:pPr>
            <a:r>
              <a:rPr lang="en-US" sz="1050" b="1" dirty="0">
                <a:solidFill>
                  <a:srgbClr val="8C6A3A"/>
                </a:solidFill>
                <a:latin typeface="Meiryo" pitchFamily="34" charset="0"/>
                <a:ea typeface="Meiryo" pitchFamily="34" charset="-122"/>
                <a:cs typeface="Meiryo" pitchFamily="34" charset="-120"/>
              </a:rPr>
              <a:t>単位粗利（SPC）</a:t>
            </a:r>
            <a:endParaRPr lang="en-US" sz="1050" dirty="0"/>
          </a:p>
        </p:txBody>
      </p:sp>
      <p:sp>
        <p:nvSpPr>
          <p:cNvPr id="46" name="Text 44"/>
          <p:cNvSpPr/>
          <p:nvPr/>
        </p:nvSpPr>
        <p:spPr>
          <a:xfrm>
            <a:off x="4041648" y="5330952"/>
            <a:ext cx="4663440" cy="237744"/>
          </a:xfrm>
          <a:prstGeom prst="rect">
            <a:avLst/>
          </a:prstGeom>
          <a:noFill/>
          <a:ln/>
        </p:spPr>
        <p:txBody>
          <a:bodyPr wrap="square" lIns="0" tIns="0" rIns="0" bIns="0" rtlCol="0" anchor="ctr"/>
          <a:lstStyle/>
          <a:p>
            <a:pPr indent="0" marL="0">
              <a:buNone/>
            </a:pPr>
            <a:r>
              <a:rPr lang="en-US" sz="1050" dirty="0">
                <a:solidFill>
                  <a:srgbClr val="6F665F"/>
                </a:solidFill>
                <a:latin typeface="Meiryo" pitchFamily="34" charset="0"/>
                <a:ea typeface="Meiryo" pitchFamily="34" charset="-122"/>
                <a:cs typeface="Meiryo" pitchFamily="34" charset="-120"/>
              </a:rPr>
              <a:t>手取り72.56 − SPC簿価56.63</a:t>
            </a:r>
            <a:endParaRPr lang="en-US" sz="1050" dirty="0"/>
          </a:p>
        </p:txBody>
      </p:sp>
      <p:sp>
        <p:nvSpPr>
          <p:cNvPr id="47" name="Text 45"/>
          <p:cNvSpPr/>
          <p:nvPr/>
        </p:nvSpPr>
        <p:spPr>
          <a:xfrm>
            <a:off x="8796528" y="5330952"/>
            <a:ext cx="2462479" cy="237744"/>
          </a:xfrm>
          <a:prstGeom prst="rect">
            <a:avLst/>
          </a:prstGeom>
          <a:noFill/>
          <a:ln/>
        </p:spPr>
        <p:txBody>
          <a:bodyPr wrap="square" lIns="0" tIns="0" rIns="0" bIns="0" rtlCol="0" anchor="ctr"/>
          <a:lstStyle/>
          <a:p>
            <a:pPr algn="r" indent="0" marL="0">
              <a:buNone/>
            </a:pPr>
            <a:r>
              <a:rPr lang="en-US" sz="1050" b="1" dirty="0">
                <a:solidFill>
                  <a:srgbClr val="8C6A3A"/>
                </a:solidFill>
                <a:latin typeface="Meiryo" pitchFamily="34" charset="0"/>
                <a:ea typeface="Meiryo" pitchFamily="34" charset="-122"/>
                <a:cs typeface="Meiryo" pitchFamily="34" charset="-120"/>
              </a:rPr>
              <a:t>粗利 15.93（粗利率 20.0%）</a:t>
            </a:r>
            <a:endParaRPr lang="en-US" sz="1050" dirty="0"/>
          </a:p>
        </p:txBody>
      </p:sp>
      <p:sp>
        <p:nvSpPr>
          <p:cNvPr id="48" name="Text 46"/>
          <p:cNvSpPr/>
          <p:nvPr/>
        </p:nvSpPr>
        <p:spPr>
          <a:xfrm>
            <a:off x="658368" y="5724144"/>
            <a:ext cx="10874959" cy="365760"/>
          </a:xfrm>
          <a:prstGeom prst="rect">
            <a:avLst/>
          </a:prstGeom>
          <a:noFill/>
          <a:ln/>
        </p:spPr>
        <p:txBody>
          <a:bodyPr wrap="square" lIns="0" tIns="0" rIns="0" bIns="0" rtlCol="0" anchor="ctr"/>
          <a:lstStyle/>
          <a:p>
            <a:pPr indent="0" marL="0">
              <a:lnSpc>
                <a:spcPct val="120000"/>
              </a:lnSpc>
              <a:buNone/>
            </a:pPr>
            <a:r>
              <a:rPr lang="en-US" sz="850" dirty="0">
                <a:solidFill>
                  <a:srgbClr val="9A8F84"/>
                </a:solidFill>
                <a:latin typeface="Meiryo" pitchFamily="34" charset="0"/>
                <a:ea typeface="Meiryo" pitchFamily="34" charset="-122"/>
                <a:cs typeface="Meiryo" pitchFamily="34" charset="-120"/>
              </a:rPr>
              <a:t>※ WineBankの値入れは 定価比 6.63（簿価比 11.7%）。卸した時点で確定し、SPCの費用には計上しない。卸値が時価に連動するため、仕入価格が動いても売値が動いても、SPCの粗利と投資家の利回りはほとんど変わらない構造になる。</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484632"/>
            <a:ext cx="109728" cy="109728"/>
          </a:xfrm>
          <a:prstGeom prst="ellipse">
            <a:avLst/>
          </a:prstGeom>
          <a:solidFill>
            <a:srgbClr val="A78450"/>
          </a:solidFill>
          <a:ln w="12700">
            <a:solidFill>
              <a:srgbClr val="A78450"/>
            </a:solidFill>
            <a:prstDash val="solid"/>
          </a:ln>
        </p:spPr>
      </p:sp>
      <p:sp>
        <p:nvSpPr>
          <p:cNvPr id="3" name="Text 1"/>
          <p:cNvSpPr/>
          <p:nvPr/>
        </p:nvSpPr>
        <p:spPr>
          <a:xfrm>
            <a:off x="923544" y="365760"/>
            <a:ext cx="9601200" cy="329184"/>
          </a:xfrm>
          <a:prstGeom prst="rect">
            <a:avLst/>
          </a:prstGeom>
          <a:noFill/>
          <a:ln/>
        </p:spPr>
        <p:txBody>
          <a:bodyPr wrap="square" lIns="0" tIns="0" rIns="0" bIns="0" rtlCol="0" anchor="ctr"/>
          <a:lstStyle/>
          <a:p>
            <a:pPr indent="0" marL="0">
              <a:buNone/>
            </a:pPr>
            <a:r>
              <a:rPr lang="en-US" sz="1200" b="1" spc="240" kern="0" dirty="0">
                <a:solidFill>
                  <a:srgbClr val="A78450"/>
                </a:solidFill>
                <a:latin typeface="Meiryo" pitchFamily="34" charset="0"/>
                <a:ea typeface="Meiryo" pitchFamily="34" charset="-122"/>
                <a:cs typeface="Meiryo" pitchFamily="34" charset="-120"/>
              </a:rPr>
              <a:t>CHANNEL ECONOMICS</a:t>
            </a:r>
            <a:endParaRPr lang="en-US" sz="1200" dirty="0"/>
          </a:p>
        </p:txBody>
      </p:sp>
      <p:sp>
        <p:nvSpPr>
          <p:cNvPr id="4" name="Text 2"/>
          <p:cNvSpPr/>
          <p:nvPr/>
        </p:nvSpPr>
        <p:spPr>
          <a:xfrm>
            <a:off x="658368" y="731520"/>
            <a:ext cx="10874959" cy="566928"/>
          </a:xfrm>
          <a:prstGeom prst="rect">
            <a:avLst/>
          </a:prstGeom>
          <a:noFill/>
          <a:ln/>
        </p:spPr>
        <p:txBody>
          <a:bodyPr wrap="square" lIns="0" tIns="0" rIns="0" bIns="0" rtlCol="0" anchor="ctr"/>
          <a:lstStyle/>
          <a:p>
            <a:pPr indent="0" marL="0">
              <a:buNone/>
            </a:pPr>
            <a:r>
              <a:rPr lang="en-US" sz="2600" b="1" dirty="0">
                <a:solidFill>
                  <a:srgbClr val="2B2622"/>
                </a:solidFill>
                <a:latin typeface="Meiryo" pitchFamily="34" charset="0"/>
                <a:ea typeface="Meiryo" pitchFamily="34" charset="-122"/>
                <a:cs typeface="Meiryo" pitchFamily="34" charset="-120"/>
              </a:rPr>
              <a:t>販売チャネル別の手取り：B2B卸とB2Cネット販売</a:t>
            </a:r>
            <a:endParaRPr lang="en-US" sz="2600" dirty="0"/>
          </a:p>
        </p:txBody>
      </p:sp>
      <p:sp>
        <p:nvSpPr>
          <p:cNvPr id="5" name="Text 3"/>
          <p:cNvSpPr/>
          <p:nvPr/>
        </p:nvSpPr>
        <p:spPr>
          <a:xfrm>
            <a:off x="658368" y="1261872"/>
            <a:ext cx="10874959" cy="310896"/>
          </a:xfrm>
          <a:prstGeom prst="rect">
            <a:avLst/>
          </a:prstGeom>
          <a:noFill/>
          <a:ln/>
        </p:spPr>
        <p:txBody>
          <a:bodyPr wrap="square" lIns="0" tIns="0" rIns="0" bIns="0" rtlCol="0" anchor="ctr"/>
          <a:lstStyle/>
          <a:p>
            <a:pPr indent="0" marL="0">
              <a:buNone/>
            </a:pPr>
            <a:r>
              <a:rPr lang="en-US" sz="1150" dirty="0">
                <a:solidFill>
                  <a:srgbClr val="6F665F"/>
                </a:solidFill>
                <a:latin typeface="Meiryo" pitchFamily="34" charset="0"/>
                <a:ea typeface="Meiryo" pitchFamily="34" charset="-122"/>
                <a:cs typeface="Meiryo" pitchFamily="34" charset="-120"/>
              </a:rPr>
              <a:t>売値だけでは判断できない。手数料構造が全く異なるため、手取りベースで比較する。</a:t>
            </a:r>
            <a:endParaRPr lang="en-US" sz="1150" dirty="0"/>
          </a:p>
        </p:txBody>
      </p:sp>
      <p:sp>
        <p:nvSpPr>
          <p:cNvPr id="6" name="Text 4"/>
          <p:cNvSpPr/>
          <p:nvPr/>
        </p:nvSpPr>
        <p:spPr>
          <a:xfrm>
            <a:off x="658368" y="6446520"/>
            <a:ext cx="5486400" cy="256032"/>
          </a:xfrm>
          <a:prstGeom prst="rect">
            <a:avLst/>
          </a:prstGeom>
          <a:noFill/>
          <a:ln/>
        </p:spPr>
        <p:txBody>
          <a:bodyPr wrap="square" lIns="0" tIns="0" rIns="0" bIns="0" rtlCol="0" anchor="ctr"/>
          <a:lstStyle/>
          <a:p>
            <a:pPr indent="0" marL="0">
              <a:buNone/>
            </a:pPr>
            <a:r>
              <a:rPr lang="en-US" sz="900" dirty="0">
                <a:solidFill>
                  <a:srgbClr val="9A8F84"/>
                </a:solidFill>
                <a:latin typeface="Meiryo" pitchFamily="34" charset="0"/>
                <a:ea typeface="Meiryo" pitchFamily="34" charset="-122"/>
                <a:cs typeface="Meiryo" pitchFamily="34" charset="-120"/>
              </a:rPr>
              <a:t>Confidential</a:t>
            </a:r>
            <a:endParaRPr lang="en-US" sz="900" dirty="0"/>
          </a:p>
        </p:txBody>
      </p:sp>
      <p:sp>
        <p:nvSpPr>
          <p:cNvPr id="7" name="Text 5"/>
          <p:cNvSpPr/>
          <p:nvPr/>
        </p:nvSpPr>
        <p:spPr>
          <a:xfrm>
            <a:off x="10984687" y="6446520"/>
            <a:ext cx="548640" cy="256032"/>
          </a:xfrm>
          <a:prstGeom prst="rect">
            <a:avLst/>
          </a:prstGeom>
          <a:noFill/>
          <a:ln/>
        </p:spPr>
        <p:txBody>
          <a:bodyPr wrap="square" lIns="0" tIns="0" rIns="0" bIns="0" rtlCol="0" anchor="ctr"/>
          <a:lstStyle/>
          <a:p>
            <a:pPr algn="r" indent="0" marL="0">
              <a:buNone/>
            </a:pPr>
            <a:r>
              <a:rPr lang="en-US" sz="900" dirty="0">
                <a:solidFill>
                  <a:srgbClr val="9A8F84"/>
                </a:solidFill>
                <a:latin typeface="Meiryo" pitchFamily="34" charset="0"/>
                <a:ea typeface="Meiryo" pitchFamily="34" charset="-122"/>
                <a:cs typeface="Meiryo" pitchFamily="34" charset="-120"/>
              </a:rPr>
              <a:t>8</a:t>
            </a:r>
            <a:endParaRPr lang="en-US" sz="900" dirty="0"/>
          </a:p>
        </p:txBody>
      </p:sp>
      <p:sp>
        <p:nvSpPr>
          <p:cNvPr id="8" name="Shape 6"/>
          <p:cNvSpPr/>
          <p:nvPr/>
        </p:nvSpPr>
        <p:spPr>
          <a:xfrm>
            <a:off x="658368" y="1645920"/>
            <a:ext cx="5282032" cy="2962656"/>
          </a:xfrm>
          <a:prstGeom prst="roundRect">
            <a:avLst>
              <a:gd name="adj" fmla="val 2469"/>
            </a:avLst>
          </a:prstGeom>
          <a:solidFill>
            <a:srgbClr val="F5EFE4"/>
          </a:solidFill>
          <a:ln w="9525">
            <a:solidFill>
              <a:srgbClr val="E6DCCB"/>
            </a:solidFill>
            <a:prstDash val="solid"/>
          </a:ln>
          <a:effectLst>
            <a:outerShdw sx="100000" sy="100000" kx="0" ky="0" algn="bl" rotWithShape="0" blurRad="76200" dist="25400" dir="5400000">
              <a:srgbClr val="6F665F">
                <a:alpha val="18000"/>
              </a:srgbClr>
            </a:outerShdw>
          </a:effectLst>
        </p:spPr>
      </p:sp>
      <p:sp>
        <p:nvSpPr>
          <p:cNvPr id="9" name="Text 7"/>
          <p:cNvSpPr/>
          <p:nvPr/>
        </p:nvSpPr>
        <p:spPr>
          <a:xfrm>
            <a:off x="914400" y="1810512"/>
            <a:ext cx="3544672" cy="274320"/>
          </a:xfrm>
          <a:prstGeom prst="rect">
            <a:avLst/>
          </a:prstGeom>
          <a:noFill/>
          <a:ln/>
        </p:spPr>
        <p:txBody>
          <a:bodyPr wrap="square" lIns="0" tIns="0" rIns="0" bIns="0" rtlCol="0" anchor="ctr"/>
          <a:lstStyle/>
          <a:p>
            <a:pPr indent="0" marL="0">
              <a:buNone/>
            </a:pPr>
            <a:r>
              <a:rPr lang="en-US" sz="1300" b="1" dirty="0">
                <a:solidFill>
                  <a:srgbClr val="2B2622"/>
                </a:solidFill>
                <a:latin typeface="Meiryo" pitchFamily="34" charset="0"/>
                <a:ea typeface="Meiryo" pitchFamily="34" charset="-122"/>
                <a:cs typeface="Meiryo" pitchFamily="34" charset="-120"/>
              </a:rPr>
              <a:t>B2B｜酒販店卸</a:t>
            </a:r>
            <a:endParaRPr lang="en-US" sz="1300" dirty="0"/>
          </a:p>
        </p:txBody>
      </p:sp>
      <p:sp>
        <p:nvSpPr>
          <p:cNvPr id="10" name="Text 8"/>
          <p:cNvSpPr/>
          <p:nvPr/>
        </p:nvSpPr>
        <p:spPr>
          <a:xfrm>
            <a:off x="4203040" y="1792224"/>
            <a:ext cx="1481328" cy="310896"/>
          </a:xfrm>
          <a:prstGeom prst="rect">
            <a:avLst/>
          </a:prstGeom>
          <a:noFill/>
          <a:ln/>
        </p:spPr>
        <p:txBody>
          <a:bodyPr wrap="square" lIns="0" tIns="0" rIns="0" bIns="0" rtlCol="0" anchor="ctr"/>
          <a:lstStyle/>
          <a:p>
            <a:pPr algn="r" indent="0" marL="0">
              <a:buNone/>
            </a:pPr>
            <a:r>
              <a:rPr lang="en-US" sz="1000" dirty="0">
                <a:solidFill>
                  <a:srgbClr val="6F665F"/>
                </a:solidFill>
                <a:latin typeface="Meiryo" pitchFamily="34" charset="0"/>
                <a:ea typeface="Meiryo" pitchFamily="34" charset="-122"/>
                <a:cs typeface="Meiryo" pitchFamily="34" charset="-120"/>
              </a:rPr>
              <a:t>売値 </a:t>
            </a:r>
            <a:pPr algn="r" indent="0" marL="0">
              <a:buNone/>
            </a:pPr>
            <a:r>
              <a:rPr lang="en-US" sz="2000" b="1" dirty="0">
                <a:solidFill>
                  <a:srgbClr val="2B2622"/>
                </a:solidFill>
                <a:latin typeface="Meiryo" pitchFamily="34" charset="0"/>
                <a:ea typeface="Meiryo" pitchFamily="34" charset="-122"/>
                <a:cs typeface="Meiryo" pitchFamily="34" charset="-120"/>
              </a:rPr>
              <a:t>70.00</a:t>
            </a:r>
            <a:endParaRPr lang="en-US" sz="1000" dirty="0"/>
          </a:p>
        </p:txBody>
      </p:sp>
      <p:sp>
        <p:nvSpPr>
          <p:cNvPr id="11" name="Text 9"/>
          <p:cNvSpPr/>
          <p:nvPr/>
        </p:nvSpPr>
        <p:spPr>
          <a:xfrm>
            <a:off x="914400" y="2231136"/>
            <a:ext cx="4093312" cy="201168"/>
          </a:xfrm>
          <a:prstGeom prst="rect">
            <a:avLst/>
          </a:prstGeom>
          <a:noFill/>
          <a:ln/>
        </p:spPr>
        <p:txBody>
          <a:bodyPr wrap="square" lIns="0" tIns="0" rIns="0" bIns="0" rtlCol="0" anchor="ctr"/>
          <a:lstStyle/>
          <a:p>
            <a:pPr indent="0" marL="0">
              <a:buNone/>
            </a:pPr>
            <a:r>
              <a:rPr lang="en-US" sz="1000" b="1" dirty="0">
                <a:solidFill>
                  <a:srgbClr val="2B2622"/>
                </a:solidFill>
                <a:latin typeface="Meiryo" pitchFamily="34" charset="0"/>
                <a:ea typeface="Meiryo" pitchFamily="34" charset="-122"/>
                <a:cs typeface="Meiryo" pitchFamily="34" charset="-120"/>
              </a:rPr>
              <a:t>出庫・配送</a:t>
            </a:r>
            <a:endParaRPr lang="en-US" sz="1000" dirty="0"/>
          </a:p>
        </p:txBody>
      </p:sp>
      <p:sp>
        <p:nvSpPr>
          <p:cNvPr id="12" name="Text 10"/>
          <p:cNvSpPr/>
          <p:nvPr/>
        </p:nvSpPr>
        <p:spPr>
          <a:xfrm>
            <a:off x="5007712" y="2231136"/>
            <a:ext cx="676656" cy="201168"/>
          </a:xfrm>
          <a:prstGeom prst="rect">
            <a:avLst/>
          </a:prstGeom>
          <a:noFill/>
          <a:ln/>
        </p:spPr>
        <p:txBody>
          <a:bodyPr wrap="square" lIns="0" tIns="0" rIns="0" bIns="0" rtlCol="0" anchor="ctr"/>
          <a:lstStyle/>
          <a:p>
            <a:pPr algn="r" indent="0" marL="0">
              <a:buNone/>
            </a:pPr>
            <a:r>
              <a:rPr lang="en-US" sz="1100" b="1" dirty="0">
                <a:solidFill>
                  <a:srgbClr val="8C6A3A"/>
                </a:solidFill>
                <a:latin typeface="Meiryo" pitchFamily="34" charset="0"/>
                <a:ea typeface="Meiryo" pitchFamily="34" charset="-122"/>
                <a:cs typeface="Meiryo" pitchFamily="34" charset="-120"/>
              </a:rPr>
              <a:t>0.6%</a:t>
            </a:r>
            <a:endParaRPr lang="en-US" sz="1100" dirty="0"/>
          </a:p>
        </p:txBody>
      </p:sp>
      <p:sp>
        <p:nvSpPr>
          <p:cNvPr id="13" name="Text 11"/>
          <p:cNvSpPr/>
          <p:nvPr/>
        </p:nvSpPr>
        <p:spPr>
          <a:xfrm>
            <a:off x="914400" y="2423160"/>
            <a:ext cx="4769968" cy="292608"/>
          </a:xfrm>
          <a:prstGeom prst="rect">
            <a:avLst/>
          </a:prstGeom>
          <a:noFill/>
          <a:ln/>
        </p:spPr>
        <p:txBody>
          <a:bodyPr wrap="square" lIns="0" tIns="0" rIns="0" bIns="0" rtlCol="0" anchor="ctr"/>
          <a:lstStyle/>
          <a:p>
            <a:pPr indent="0" marL="0">
              <a:lnSpc>
                <a:spcPct val="115000"/>
              </a:lnSpc>
              <a:buNone/>
            </a:pPr>
            <a:r>
              <a:rPr lang="en-US" sz="850" dirty="0">
                <a:solidFill>
                  <a:srgbClr val="6F665F"/>
                </a:solidFill>
                <a:latin typeface="Meiryo" pitchFamily="34" charset="0"/>
                <a:ea typeface="Meiryo" pitchFamily="34" charset="-122"/>
                <a:cs typeface="Meiryo" pitchFamily="34" charset="-120"/>
              </a:rPr>
              <a:t>ケース／パレット単位出荷。1回あたりの出荷単位が大きい</a:t>
            </a:r>
            <a:endParaRPr lang="en-US" sz="850" dirty="0"/>
          </a:p>
        </p:txBody>
      </p:sp>
      <p:sp>
        <p:nvSpPr>
          <p:cNvPr id="14" name="Text 12"/>
          <p:cNvSpPr/>
          <p:nvPr/>
        </p:nvSpPr>
        <p:spPr>
          <a:xfrm>
            <a:off x="914400" y="2761488"/>
            <a:ext cx="4093312" cy="201168"/>
          </a:xfrm>
          <a:prstGeom prst="rect">
            <a:avLst/>
          </a:prstGeom>
          <a:noFill/>
          <a:ln/>
        </p:spPr>
        <p:txBody>
          <a:bodyPr wrap="square" lIns="0" tIns="0" rIns="0" bIns="0" rtlCol="0" anchor="ctr"/>
          <a:lstStyle/>
          <a:p>
            <a:pPr indent="0" marL="0">
              <a:buNone/>
            </a:pPr>
            <a:r>
              <a:rPr lang="en-US" sz="1000" b="1" dirty="0">
                <a:solidFill>
                  <a:srgbClr val="2B2622"/>
                </a:solidFill>
                <a:latin typeface="Meiryo" pitchFamily="34" charset="0"/>
                <a:ea typeface="Meiryo" pitchFamily="34" charset="-122"/>
                <a:cs typeface="Meiryo" pitchFamily="34" charset="-120"/>
              </a:rPr>
              <a:t>決済・与信</a:t>
            </a:r>
            <a:endParaRPr lang="en-US" sz="1000" dirty="0"/>
          </a:p>
        </p:txBody>
      </p:sp>
      <p:sp>
        <p:nvSpPr>
          <p:cNvPr id="15" name="Text 13"/>
          <p:cNvSpPr/>
          <p:nvPr/>
        </p:nvSpPr>
        <p:spPr>
          <a:xfrm>
            <a:off x="5007712" y="2761488"/>
            <a:ext cx="676656" cy="201168"/>
          </a:xfrm>
          <a:prstGeom prst="rect">
            <a:avLst/>
          </a:prstGeom>
          <a:noFill/>
          <a:ln/>
        </p:spPr>
        <p:txBody>
          <a:bodyPr wrap="square" lIns="0" tIns="0" rIns="0" bIns="0" rtlCol="0" anchor="ctr"/>
          <a:lstStyle/>
          <a:p>
            <a:pPr algn="r" indent="0" marL="0">
              <a:buNone/>
            </a:pPr>
            <a:r>
              <a:rPr lang="en-US" sz="1100" b="1" dirty="0">
                <a:solidFill>
                  <a:srgbClr val="8C6A3A"/>
                </a:solidFill>
                <a:latin typeface="Meiryo" pitchFamily="34" charset="0"/>
                <a:ea typeface="Meiryo" pitchFamily="34" charset="-122"/>
                <a:cs typeface="Meiryo" pitchFamily="34" charset="-120"/>
              </a:rPr>
              <a:t>0.4%</a:t>
            </a:r>
            <a:endParaRPr lang="en-US" sz="1100" dirty="0"/>
          </a:p>
        </p:txBody>
      </p:sp>
      <p:sp>
        <p:nvSpPr>
          <p:cNvPr id="16" name="Text 14"/>
          <p:cNvSpPr/>
          <p:nvPr/>
        </p:nvSpPr>
        <p:spPr>
          <a:xfrm>
            <a:off x="914400" y="2953512"/>
            <a:ext cx="4769968" cy="292608"/>
          </a:xfrm>
          <a:prstGeom prst="rect">
            <a:avLst/>
          </a:prstGeom>
          <a:noFill/>
          <a:ln/>
        </p:spPr>
        <p:txBody>
          <a:bodyPr wrap="square" lIns="0" tIns="0" rIns="0" bIns="0" rtlCol="0" anchor="ctr"/>
          <a:lstStyle/>
          <a:p>
            <a:pPr indent="0" marL="0">
              <a:lnSpc>
                <a:spcPct val="115000"/>
              </a:lnSpc>
              <a:buNone/>
            </a:pPr>
            <a:r>
              <a:rPr lang="en-US" sz="850" dirty="0">
                <a:solidFill>
                  <a:srgbClr val="6F665F"/>
                </a:solidFill>
                <a:latin typeface="Meiryo" pitchFamily="34" charset="0"/>
                <a:ea typeface="Meiryo" pitchFamily="34" charset="-122"/>
                <a:cs typeface="Meiryo" pitchFamily="34" charset="-120"/>
              </a:rPr>
              <a:t>掛売のため決済手数料なし。回収コストと貸倒引当</a:t>
            </a:r>
            <a:endParaRPr lang="en-US" sz="850" dirty="0"/>
          </a:p>
        </p:txBody>
      </p:sp>
      <p:sp>
        <p:nvSpPr>
          <p:cNvPr id="17" name="Text 15"/>
          <p:cNvSpPr/>
          <p:nvPr/>
        </p:nvSpPr>
        <p:spPr>
          <a:xfrm>
            <a:off x="914400" y="3913632"/>
            <a:ext cx="2377440" cy="219456"/>
          </a:xfrm>
          <a:prstGeom prst="rect">
            <a:avLst/>
          </a:prstGeom>
          <a:noFill/>
          <a:ln/>
        </p:spPr>
        <p:txBody>
          <a:bodyPr wrap="square" lIns="0" tIns="0" rIns="0" bIns="0" rtlCol="0" anchor="ctr"/>
          <a:lstStyle/>
          <a:p>
            <a:pPr indent="0" marL="0">
              <a:buNone/>
            </a:pPr>
            <a:r>
              <a:rPr lang="en-US" sz="1000" dirty="0">
                <a:solidFill>
                  <a:srgbClr val="6F665F"/>
                </a:solidFill>
                <a:latin typeface="Meiryo" pitchFamily="34" charset="0"/>
                <a:ea typeface="Meiryo" pitchFamily="34" charset="-122"/>
                <a:cs typeface="Meiryo" pitchFamily="34" charset="-120"/>
              </a:rPr>
              <a:t>変動販売費 合計</a:t>
            </a:r>
            <a:endParaRPr lang="en-US" sz="1000" dirty="0"/>
          </a:p>
        </p:txBody>
      </p:sp>
      <p:sp>
        <p:nvSpPr>
          <p:cNvPr id="18" name="Text 16"/>
          <p:cNvSpPr/>
          <p:nvPr/>
        </p:nvSpPr>
        <p:spPr>
          <a:xfrm>
            <a:off x="3928720" y="3913632"/>
            <a:ext cx="1755648" cy="219456"/>
          </a:xfrm>
          <a:prstGeom prst="rect">
            <a:avLst/>
          </a:prstGeom>
          <a:noFill/>
          <a:ln/>
        </p:spPr>
        <p:txBody>
          <a:bodyPr wrap="square" lIns="0" tIns="0" rIns="0" bIns="0" rtlCol="0" anchor="ctr"/>
          <a:lstStyle/>
          <a:p>
            <a:pPr algn="r" indent="0" marL="0">
              <a:buNone/>
            </a:pPr>
            <a:r>
              <a:rPr lang="en-US" sz="1050" b="1" dirty="0">
                <a:solidFill>
                  <a:srgbClr val="B4553F"/>
                </a:solidFill>
                <a:latin typeface="Meiryo" pitchFamily="34" charset="0"/>
                <a:ea typeface="Meiryo" pitchFamily="34" charset="-122"/>
                <a:cs typeface="Meiryo" pitchFamily="34" charset="-120"/>
              </a:rPr>
              <a:t>1.0%（▲0.70）</a:t>
            </a:r>
            <a:endParaRPr lang="en-US" sz="1050" dirty="0"/>
          </a:p>
        </p:txBody>
      </p:sp>
      <p:sp>
        <p:nvSpPr>
          <p:cNvPr id="19" name="Text 17"/>
          <p:cNvSpPr/>
          <p:nvPr/>
        </p:nvSpPr>
        <p:spPr>
          <a:xfrm>
            <a:off x="914400" y="4187952"/>
            <a:ext cx="2011680" cy="347472"/>
          </a:xfrm>
          <a:prstGeom prst="rect">
            <a:avLst/>
          </a:prstGeom>
          <a:noFill/>
          <a:ln/>
        </p:spPr>
        <p:txBody>
          <a:bodyPr wrap="square" lIns="0" tIns="0" rIns="0" bIns="0" rtlCol="0" anchor="ctr"/>
          <a:lstStyle/>
          <a:p>
            <a:pPr indent="0" marL="0">
              <a:buNone/>
            </a:pPr>
            <a:r>
              <a:rPr lang="en-US" sz="1100" b="1" dirty="0">
                <a:solidFill>
                  <a:srgbClr val="2B2622"/>
                </a:solidFill>
                <a:latin typeface="Meiryo" pitchFamily="34" charset="0"/>
                <a:ea typeface="Meiryo" pitchFamily="34" charset="-122"/>
                <a:cs typeface="Meiryo" pitchFamily="34" charset="-120"/>
              </a:rPr>
              <a:t>手取り</a:t>
            </a:r>
            <a:endParaRPr lang="en-US" sz="1100" dirty="0"/>
          </a:p>
        </p:txBody>
      </p:sp>
      <p:sp>
        <p:nvSpPr>
          <p:cNvPr id="20" name="Text 18"/>
          <p:cNvSpPr/>
          <p:nvPr/>
        </p:nvSpPr>
        <p:spPr>
          <a:xfrm>
            <a:off x="3928720" y="4169664"/>
            <a:ext cx="1755648" cy="384048"/>
          </a:xfrm>
          <a:prstGeom prst="rect">
            <a:avLst/>
          </a:prstGeom>
          <a:noFill/>
          <a:ln/>
        </p:spPr>
        <p:txBody>
          <a:bodyPr wrap="square" lIns="0" tIns="0" rIns="0" bIns="0" rtlCol="0" anchor="ctr"/>
          <a:lstStyle/>
          <a:p>
            <a:pPr algn="r" indent="0" marL="0">
              <a:buNone/>
            </a:pPr>
            <a:r>
              <a:rPr lang="en-US" sz="2500" b="1" dirty="0">
                <a:solidFill>
                  <a:srgbClr val="8C6A3A"/>
                </a:solidFill>
                <a:latin typeface="Meiryo" pitchFamily="34" charset="0"/>
                <a:ea typeface="Meiryo" pitchFamily="34" charset="-122"/>
                <a:cs typeface="Meiryo" pitchFamily="34" charset="-120"/>
              </a:rPr>
              <a:t>69.30</a:t>
            </a:r>
            <a:endParaRPr lang="en-US" sz="2500" dirty="0"/>
          </a:p>
        </p:txBody>
      </p:sp>
      <p:sp>
        <p:nvSpPr>
          <p:cNvPr id="21" name="Shape 19"/>
          <p:cNvSpPr/>
          <p:nvPr/>
        </p:nvSpPr>
        <p:spPr>
          <a:xfrm>
            <a:off x="6251296" y="1645920"/>
            <a:ext cx="5282032" cy="2962656"/>
          </a:xfrm>
          <a:prstGeom prst="roundRect">
            <a:avLst>
              <a:gd name="adj" fmla="val 2469"/>
            </a:avLst>
          </a:prstGeom>
          <a:solidFill>
            <a:srgbClr val="F3E9D6"/>
          </a:solidFill>
          <a:ln w="9525">
            <a:solidFill>
              <a:srgbClr val="C9AE7E"/>
            </a:solidFill>
            <a:prstDash val="solid"/>
          </a:ln>
          <a:effectLst>
            <a:outerShdw sx="100000" sy="100000" kx="0" ky="0" algn="bl" rotWithShape="0" blurRad="76200" dist="25400" dir="5400000">
              <a:srgbClr val="6F665F">
                <a:alpha val="18000"/>
              </a:srgbClr>
            </a:outerShdw>
          </a:effectLst>
        </p:spPr>
      </p:sp>
      <p:sp>
        <p:nvSpPr>
          <p:cNvPr id="22" name="Text 20"/>
          <p:cNvSpPr/>
          <p:nvPr/>
        </p:nvSpPr>
        <p:spPr>
          <a:xfrm>
            <a:off x="6507328" y="1810512"/>
            <a:ext cx="3544672" cy="274320"/>
          </a:xfrm>
          <a:prstGeom prst="rect">
            <a:avLst/>
          </a:prstGeom>
          <a:noFill/>
          <a:ln/>
        </p:spPr>
        <p:txBody>
          <a:bodyPr wrap="square" lIns="0" tIns="0" rIns="0" bIns="0" rtlCol="0" anchor="ctr"/>
          <a:lstStyle/>
          <a:p>
            <a:pPr indent="0" marL="0">
              <a:buNone/>
            </a:pPr>
            <a:r>
              <a:rPr lang="en-US" sz="1300" b="1" dirty="0">
                <a:solidFill>
                  <a:srgbClr val="8C6A3A"/>
                </a:solidFill>
                <a:latin typeface="Meiryo" pitchFamily="34" charset="0"/>
                <a:ea typeface="Meiryo" pitchFamily="34" charset="-122"/>
                <a:cs typeface="Meiryo" pitchFamily="34" charset="-120"/>
              </a:rPr>
              <a:t>B2C｜自社EC・オークション</a:t>
            </a:r>
            <a:endParaRPr lang="en-US" sz="1300" dirty="0"/>
          </a:p>
        </p:txBody>
      </p:sp>
      <p:sp>
        <p:nvSpPr>
          <p:cNvPr id="23" name="Text 21"/>
          <p:cNvSpPr/>
          <p:nvPr/>
        </p:nvSpPr>
        <p:spPr>
          <a:xfrm>
            <a:off x="9795967" y="1792224"/>
            <a:ext cx="1481328" cy="310896"/>
          </a:xfrm>
          <a:prstGeom prst="rect">
            <a:avLst/>
          </a:prstGeom>
          <a:noFill/>
          <a:ln/>
        </p:spPr>
        <p:txBody>
          <a:bodyPr wrap="square" lIns="0" tIns="0" rIns="0" bIns="0" rtlCol="0" anchor="ctr"/>
          <a:lstStyle/>
          <a:p>
            <a:pPr algn="r" indent="0" marL="0">
              <a:buNone/>
            </a:pPr>
            <a:r>
              <a:rPr lang="en-US" sz="1000" dirty="0">
                <a:solidFill>
                  <a:srgbClr val="6F665F"/>
                </a:solidFill>
                <a:latin typeface="Meiryo" pitchFamily="34" charset="0"/>
                <a:ea typeface="Meiryo" pitchFamily="34" charset="-122"/>
                <a:cs typeface="Meiryo" pitchFamily="34" charset="-120"/>
              </a:rPr>
              <a:t>売値 </a:t>
            </a:r>
            <a:pPr algn="r" indent="0" marL="0">
              <a:buNone/>
            </a:pPr>
            <a:r>
              <a:rPr lang="en-US" sz="2000" b="1" dirty="0">
                <a:solidFill>
                  <a:srgbClr val="2B2622"/>
                </a:solidFill>
                <a:latin typeface="Meiryo" pitchFamily="34" charset="0"/>
                <a:ea typeface="Meiryo" pitchFamily="34" charset="-122"/>
                <a:cs typeface="Meiryo" pitchFamily="34" charset="-120"/>
              </a:rPr>
              <a:t>80.00</a:t>
            </a:r>
            <a:endParaRPr lang="en-US" sz="1000" dirty="0"/>
          </a:p>
        </p:txBody>
      </p:sp>
      <p:sp>
        <p:nvSpPr>
          <p:cNvPr id="24" name="Text 22"/>
          <p:cNvSpPr/>
          <p:nvPr/>
        </p:nvSpPr>
        <p:spPr>
          <a:xfrm>
            <a:off x="6507328" y="2231136"/>
            <a:ext cx="4093312" cy="201168"/>
          </a:xfrm>
          <a:prstGeom prst="rect">
            <a:avLst/>
          </a:prstGeom>
          <a:noFill/>
          <a:ln/>
        </p:spPr>
        <p:txBody>
          <a:bodyPr wrap="square" lIns="0" tIns="0" rIns="0" bIns="0" rtlCol="0" anchor="ctr"/>
          <a:lstStyle/>
          <a:p>
            <a:pPr indent="0" marL="0">
              <a:buNone/>
            </a:pPr>
            <a:r>
              <a:rPr lang="en-US" sz="1000" b="1" dirty="0">
                <a:solidFill>
                  <a:srgbClr val="2B2622"/>
                </a:solidFill>
                <a:latin typeface="Meiryo" pitchFamily="34" charset="0"/>
                <a:ea typeface="Meiryo" pitchFamily="34" charset="-122"/>
                <a:cs typeface="Meiryo" pitchFamily="34" charset="-120"/>
              </a:rPr>
              <a:t>販路手数料（決済込み）</a:t>
            </a:r>
            <a:endParaRPr lang="en-US" sz="1000" dirty="0"/>
          </a:p>
        </p:txBody>
      </p:sp>
      <p:sp>
        <p:nvSpPr>
          <p:cNvPr id="25" name="Text 23"/>
          <p:cNvSpPr/>
          <p:nvPr/>
        </p:nvSpPr>
        <p:spPr>
          <a:xfrm>
            <a:off x="10600639" y="2231136"/>
            <a:ext cx="676656" cy="201168"/>
          </a:xfrm>
          <a:prstGeom prst="rect">
            <a:avLst/>
          </a:prstGeom>
          <a:noFill/>
          <a:ln/>
        </p:spPr>
        <p:txBody>
          <a:bodyPr wrap="square" lIns="0" tIns="0" rIns="0" bIns="0" rtlCol="0" anchor="ctr"/>
          <a:lstStyle/>
          <a:p>
            <a:pPr algn="r" indent="0" marL="0">
              <a:buNone/>
            </a:pPr>
            <a:r>
              <a:rPr lang="en-US" sz="1100" b="1" dirty="0">
                <a:solidFill>
                  <a:srgbClr val="8C6A3A"/>
                </a:solidFill>
                <a:latin typeface="Meiryo" pitchFamily="34" charset="0"/>
                <a:ea typeface="Meiryo" pitchFamily="34" charset="-122"/>
                <a:cs typeface="Meiryo" pitchFamily="34" charset="-120"/>
              </a:rPr>
              <a:t>13.0%</a:t>
            </a:r>
            <a:endParaRPr lang="en-US" sz="1100" dirty="0"/>
          </a:p>
        </p:txBody>
      </p:sp>
      <p:sp>
        <p:nvSpPr>
          <p:cNvPr id="26" name="Text 24"/>
          <p:cNvSpPr/>
          <p:nvPr/>
        </p:nvSpPr>
        <p:spPr>
          <a:xfrm>
            <a:off x="6507328" y="2423160"/>
            <a:ext cx="4769968" cy="292608"/>
          </a:xfrm>
          <a:prstGeom prst="rect">
            <a:avLst/>
          </a:prstGeom>
          <a:noFill/>
          <a:ln/>
        </p:spPr>
        <p:txBody>
          <a:bodyPr wrap="square" lIns="0" tIns="0" rIns="0" bIns="0" rtlCol="0" anchor="ctr"/>
          <a:lstStyle/>
          <a:p>
            <a:pPr indent="0" marL="0">
              <a:lnSpc>
                <a:spcPct val="115000"/>
              </a:lnSpc>
              <a:buNone/>
            </a:pPr>
            <a:r>
              <a:rPr lang="en-US" sz="850" dirty="0">
                <a:solidFill>
                  <a:srgbClr val="6F665F"/>
                </a:solidFill>
                <a:latin typeface="Meiryo" pitchFamily="34" charset="0"/>
                <a:ea typeface="Meiryo" pitchFamily="34" charset="-122"/>
                <a:cs typeface="Meiryo" pitchFamily="34" charset="-120"/>
              </a:rPr>
              <a:t>楽天市場での当社実績（システム利用料・決済・ポイント原資等）12〜13%の上限。自社EC・自社オークションにも同率を上限として適用（契約第11条第5項）</a:t>
            </a:r>
            <a:endParaRPr lang="en-US" sz="850" dirty="0"/>
          </a:p>
        </p:txBody>
      </p:sp>
      <p:sp>
        <p:nvSpPr>
          <p:cNvPr id="27" name="Text 25"/>
          <p:cNvSpPr/>
          <p:nvPr/>
        </p:nvSpPr>
        <p:spPr>
          <a:xfrm>
            <a:off x="6507328" y="2761488"/>
            <a:ext cx="4093312" cy="201168"/>
          </a:xfrm>
          <a:prstGeom prst="rect">
            <a:avLst/>
          </a:prstGeom>
          <a:noFill/>
          <a:ln/>
        </p:spPr>
        <p:txBody>
          <a:bodyPr wrap="square" lIns="0" tIns="0" rIns="0" bIns="0" rtlCol="0" anchor="ctr"/>
          <a:lstStyle/>
          <a:p>
            <a:pPr indent="0" marL="0">
              <a:buNone/>
            </a:pPr>
            <a:r>
              <a:rPr lang="en-US" sz="1000" b="1" dirty="0">
                <a:solidFill>
                  <a:srgbClr val="2B2622"/>
                </a:solidFill>
                <a:latin typeface="Meiryo" pitchFamily="34" charset="0"/>
                <a:ea typeface="Meiryo" pitchFamily="34" charset="-122"/>
                <a:cs typeface="Meiryo" pitchFamily="34" charset="-120"/>
              </a:rPr>
              <a:t>出庫・梱包・クール便</a:t>
            </a:r>
            <a:endParaRPr lang="en-US" sz="1000" dirty="0"/>
          </a:p>
        </p:txBody>
      </p:sp>
      <p:sp>
        <p:nvSpPr>
          <p:cNvPr id="28" name="Text 26"/>
          <p:cNvSpPr/>
          <p:nvPr/>
        </p:nvSpPr>
        <p:spPr>
          <a:xfrm>
            <a:off x="10600639" y="2761488"/>
            <a:ext cx="676656" cy="201168"/>
          </a:xfrm>
          <a:prstGeom prst="rect">
            <a:avLst/>
          </a:prstGeom>
          <a:noFill/>
          <a:ln/>
        </p:spPr>
        <p:txBody>
          <a:bodyPr wrap="square" lIns="0" tIns="0" rIns="0" bIns="0" rtlCol="0" anchor="ctr"/>
          <a:lstStyle/>
          <a:p>
            <a:pPr algn="r" indent="0" marL="0">
              <a:buNone/>
            </a:pPr>
            <a:r>
              <a:rPr lang="en-US" sz="1100" b="1" dirty="0">
                <a:solidFill>
                  <a:srgbClr val="8C6A3A"/>
                </a:solidFill>
                <a:latin typeface="Meiryo" pitchFamily="34" charset="0"/>
                <a:ea typeface="Meiryo" pitchFamily="34" charset="-122"/>
                <a:cs typeface="Meiryo" pitchFamily="34" charset="-120"/>
              </a:rPr>
              <a:t>2.5%</a:t>
            </a:r>
            <a:endParaRPr lang="en-US" sz="1100" dirty="0"/>
          </a:p>
        </p:txBody>
      </p:sp>
      <p:sp>
        <p:nvSpPr>
          <p:cNvPr id="29" name="Text 27"/>
          <p:cNvSpPr/>
          <p:nvPr/>
        </p:nvSpPr>
        <p:spPr>
          <a:xfrm>
            <a:off x="6507328" y="2953512"/>
            <a:ext cx="4769968" cy="292608"/>
          </a:xfrm>
          <a:prstGeom prst="rect">
            <a:avLst/>
          </a:prstGeom>
          <a:noFill/>
          <a:ln/>
        </p:spPr>
        <p:txBody>
          <a:bodyPr wrap="square" lIns="0" tIns="0" rIns="0" bIns="0" rtlCol="0" anchor="ctr"/>
          <a:lstStyle/>
          <a:p>
            <a:pPr indent="0" marL="0">
              <a:lnSpc>
                <a:spcPct val="115000"/>
              </a:lnSpc>
              <a:buNone/>
            </a:pPr>
            <a:r>
              <a:rPr lang="en-US" sz="850" dirty="0">
                <a:solidFill>
                  <a:srgbClr val="6F665F"/>
                </a:solidFill>
                <a:latin typeface="Meiryo" pitchFamily="34" charset="0"/>
                <a:ea typeface="Meiryo" pitchFamily="34" charset="-122"/>
                <a:cs typeface="Meiryo" pitchFamily="34" charset="-120"/>
              </a:rPr>
              <a:t>1口1,300円＋梱包資材。1口平均6万円想定</a:t>
            </a:r>
            <a:endParaRPr lang="en-US" sz="850" dirty="0"/>
          </a:p>
        </p:txBody>
      </p:sp>
      <p:sp>
        <p:nvSpPr>
          <p:cNvPr id="30" name="Text 28"/>
          <p:cNvSpPr/>
          <p:nvPr/>
        </p:nvSpPr>
        <p:spPr>
          <a:xfrm>
            <a:off x="6507328" y="3913632"/>
            <a:ext cx="2377440" cy="219456"/>
          </a:xfrm>
          <a:prstGeom prst="rect">
            <a:avLst/>
          </a:prstGeom>
          <a:noFill/>
          <a:ln/>
        </p:spPr>
        <p:txBody>
          <a:bodyPr wrap="square" lIns="0" tIns="0" rIns="0" bIns="0" rtlCol="0" anchor="ctr"/>
          <a:lstStyle/>
          <a:p>
            <a:pPr indent="0" marL="0">
              <a:buNone/>
            </a:pPr>
            <a:r>
              <a:rPr lang="en-US" sz="1000" dirty="0">
                <a:solidFill>
                  <a:srgbClr val="6F665F"/>
                </a:solidFill>
                <a:latin typeface="Meiryo" pitchFamily="34" charset="0"/>
                <a:ea typeface="Meiryo" pitchFamily="34" charset="-122"/>
                <a:cs typeface="Meiryo" pitchFamily="34" charset="-120"/>
              </a:rPr>
              <a:t>変動販売費 合計</a:t>
            </a:r>
            <a:endParaRPr lang="en-US" sz="1000" dirty="0"/>
          </a:p>
        </p:txBody>
      </p:sp>
      <p:sp>
        <p:nvSpPr>
          <p:cNvPr id="31" name="Text 29"/>
          <p:cNvSpPr/>
          <p:nvPr/>
        </p:nvSpPr>
        <p:spPr>
          <a:xfrm>
            <a:off x="9521647" y="3913632"/>
            <a:ext cx="1755648" cy="219456"/>
          </a:xfrm>
          <a:prstGeom prst="rect">
            <a:avLst/>
          </a:prstGeom>
          <a:noFill/>
          <a:ln/>
        </p:spPr>
        <p:txBody>
          <a:bodyPr wrap="square" lIns="0" tIns="0" rIns="0" bIns="0" rtlCol="0" anchor="ctr"/>
          <a:lstStyle/>
          <a:p>
            <a:pPr algn="r" indent="0" marL="0">
              <a:buNone/>
            </a:pPr>
            <a:r>
              <a:rPr lang="en-US" sz="1050" b="1" dirty="0">
                <a:solidFill>
                  <a:srgbClr val="B4553F"/>
                </a:solidFill>
                <a:latin typeface="Meiryo" pitchFamily="34" charset="0"/>
                <a:ea typeface="Meiryo" pitchFamily="34" charset="-122"/>
                <a:cs typeface="Meiryo" pitchFamily="34" charset="-120"/>
              </a:rPr>
              <a:t>15.5%（▲12.40）</a:t>
            </a:r>
            <a:endParaRPr lang="en-US" sz="1050" dirty="0"/>
          </a:p>
        </p:txBody>
      </p:sp>
      <p:sp>
        <p:nvSpPr>
          <p:cNvPr id="32" name="Text 30"/>
          <p:cNvSpPr/>
          <p:nvPr/>
        </p:nvSpPr>
        <p:spPr>
          <a:xfrm>
            <a:off x="6507328" y="4187952"/>
            <a:ext cx="2011680" cy="347472"/>
          </a:xfrm>
          <a:prstGeom prst="rect">
            <a:avLst/>
          </a:prstGeom>
          <a:noFill/>
          <a:ln/>
        </p:spPr>
        <p:txBody>
          <a:bodyPr wrap="square" lIns="0" tIns="0" rIns="0" bIns="0" rtlCol="0" anchor="ctr"/>
          <a:lstStyle/>
          <a:p>
            <a:pPr indent="0" marL="0">
              <a:buNone/>
            </a:pPr>
            <a:r>
              <a:rPr lang="en-US" sz="1100" b="1" dirty="0">
                <a:solidFill>
                  <a:srgbClr val="2B2622"/>
                </a:solidFill>
                <a:latin typeface="Meiryo" pitchFamily="34" charset="0"/>
                <a:ea typeface="Meiryo" pitchFamily="34" charset="-122"/>
                <a:cs typeface="Meiryo" pitchFamily="34" charset="-120"/>
              </a:rPr>
              <a:t>手取り</a:t>
            </a:r>
            <a:endParaRPr lang="en-US" sz="1100" dirty="0"/>
          </a:p>
        </p:txBody>
      </p:sp>
      <p:sp>
        <p:nvSpPr>
          <p:cNvPr id="33" name="Text 31"/>
          <p:cNvSpPr/>
          <p:nvPr/>
        </p:nvSpPr>
        <p:spPr>
          <a:xfrm>
            <a:off x="9521647" y="4169664"/>
            <a:ext cx="1755648" cy="384048"/>
          </a:xfrm>
          <a:prstGeom prst="rect">
            <a:avLst/>
          </a:prstGeom>
          <a:noFill/>
          <a:ln/>
        </p:spPr>
        <p:txBody>
          <a:bodyPr wrap="square" lIns="0" tIns="0" rIns="0" bIns="0" rtlCol="0" anchor="ctr"/>
          <a:lstStyle/>
          <a:p>
            <a:pPr algn="r" indent="0" marL="0">
              <a:buNone/>
            </a:pPr>
            <a:r>
              <a:rPr lang="en-US" sz="2500" b="1" dirty="0">
                <a:solidFill>
                  <a:srgbClr val="8C6A3A"/>
                </a:solidFill>
                <a:latin typeface="Meiryo" pitchFamily="34" charset="0"/>
                <a:ea typeface="Meiryo" pitchFamily="34" charset="-122"/>
                <a:cs typeface="Meiryo" pitchFamily="34" charset="-120"/>
              </a:rPr>
              <a:t>67.60</a:t>
            </a:r>
            <a:endParaRPr lang="en-US" sz="2500" dirty="0"/>
          </a:p>
        </p:txBody>
      </p:sp>
      <p:sp>
        <p:nvSpPr>
          <p:cNvPr id="34" name="Shape 32"/>
          <p:cNvSpPr/>
          <p:nvPr/>
        </p:nvSpPr>
        <p:spPr>
          <a:xfrm>
            <a:off x="658368" y="4791456"/>
            <a:ext cx="10874959" cy="914400"/>
          </a:xfrm>
          <a:prstGeom prst="roundRect">
            <a:avLst>
              <a:gd name="adj" fmla="val 8000"/>
            </a:avLst>
          </a:prstGeom>
          <a:solidFill>
            <a:srgbClr val="F3E9D6"/>
          </a:solidFill>
          <a:ln w="9525">
            <a:solidFill>
              <a:srgbClr val="C9AE7E"/>
            </a:solidFill>
            <a:prstDash val="solid"/>
          </a:ln>
          <a:effectLst>
            <a:outerShdw sx="100000" sy="100000" kx="0" ky="0" algn="bl" rotWithShape="0" blurRad="76200" dist="25400" dir="5400000">
              <a:srgbClr val="6F665F">
                <a:alpha val="18000"/>
              </a:srgbClr>
            </a:outerShdw>
          </a:effectLst>
        </p:spPr>
      </p:sp>
      <p:sp>
        <p:nvSpPr>
          <p:cNvPr id="35" name="Text 33"/>
          <p:cNvSpPr/>
          <p:nvPr/>
        </p:nvSpPr>
        <p:spPr>
          <a:xfrm>
            <a:off x="932688" y="4901184"/>
            <a:ext cx="10326319" cy="694944"/>
          </a:xfrm>
          <a:prstGeom prst="rect">
            <a:avLst/>
          </a:prstGeom>
          <a:noFill/>
          <a:ln/>
        </p:spPr>
        <p:txBody>
          <a:bodyPr wrap="square" lIns="0" tIns="0" rIns="0" bIns="0" rtlCol="0" anchor="ctr"/>
          <a:lstStyle/>
          <a:p>
            <a:pPr indent="0" marL="0">
              <a:lnSpc>
                <a:spcPct val="122000"/>
              </a:lnSpc>
              <a:buNone/>
            </a:pPr>
            <a:r>
              <a:rPr lang="en-US" sz="1200" b="1" dirty="0">
                <a:solidFill>
                  <a:srgbClr val="8C6A3A"/>
                </a:solidFill>
                <a:latin typeface="Meiryo" pitchFamily="34" charset="0"/>
                <a:ea typeface="Meiryo" pitchFamily="34" charset="-122"/>
                <a:cs typeface="Meiryo" pitchFamily="34" charset="-120"/>
              </a:rPr>
              <a:t>売値はB2Cが高いが、手数料を引いた手取りはB2Bと同水準（差1.70ポイント）。</a:t>
            </a:r>
            <a:pPr indent="0" marL="0">
              <a:lnSpc>
                <a:spcPct val="122000"/>
              </a:lnSpc>
              <a:buNone/>
            </a:pPr>
            <a:r>
              <a:rPr lang="en-US" sz="1000" dirty="0">
                <a:solidFill>
                  <a:srgbClr val="2B2622"/>
                </a:solidFill>
                <a:latin typeface="Meiryo" pitchFamily="34" charset="0"/>
                <a:ea typeface="Meiryo" pitchFamily="34" charset="-122"/>
                <a:cs typeface="Meiryo" pitchFamily="34" charset="-120"/>
              </a:rPr>
              <a:t>　B2Cは売値が定価比80とB2Bの70を10ポイント上回るが、販路手数料（決済込み）13.0%と出庫費2.5%を保守的に負担させている。B2Cは1本ずつの出荷となり販売量の上限が低いため、回転期間を確保するにはB2Bの卸売が不可欠となる。両者を半々で運用し、加重平均で時価75.00・変動販売費8.73%・手取り68.45を主線とする（いずれも取得時点の価格。保有中の値上がりは次頁以降で加算）。</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484632"/>
            <a:ext cx="109728" cy="109728"/>
          </a:xfrm>
          <a:prstGeom prst="ellipse">
            <a:avLst/>
          </a:prstGeom>
          <a:solidFill>
            <a:srgbClr val="A78450"/>
          </a:solidFill>
          <a:ln w="12700">
            <a:solidFill>
              <a:srgbClr val="A78450"/>
            </a:solidFill>
            <a:prstDash val="solid"/>
          </a:ln>
        </p:spPr>
      </p:sp>
      <p:sp>
        <p:nvSpPr>
          <p:cNvPr id="3" name="Text 1"/>
          <p:cNvSpPr/>
          <p:nvPr/>
        </p:nvSpPr>
        <p:spPr>
          <a:xfrm>
            <a:off x="923544" y="365760"/>
            <a:ext cx="9601200" cy="329184"/>
          </a:xfrm>
          <a:prstGeom prst="rect">
            <a:avLst/>
          </a:prstGeom>
          <a:noFill/>
          <a:ln/>
        </p:spPr>
        <p:txBody>
          <a:bodyPr wrap="square" lIns="0" tIns="0" rIns="0" bIns="0" rtlCol="0" anchor="ctr"/>
          <a:lstStyle/>
          <a:p>
            <a:pPr indent="0" marL="0">
              <a:buNone/>
            </a:pPr>
            <a:r>
              <a:rPr lang="en-US" sz="1200" b="1" spc="240" kern="0" dirty="0">
                <a:solidFill>
                  <a:srgbClr val="A78450"/>
                </a:solidFill>
                <a:latin typeface="Meiryo" pitchFamily="34" charset="0"/>
                <a:ea typeface="Meiryo" pitchFamily="34" charset="-122"/>
                <a:cs typeface="Meiryo" pitchFamily="34" charset="-120"/>
              </a:rPr>
              <a:t>UNIT ECONOMICS</a:t>
            </a:r>
            <a:endParaRPr lang="en-US" sz="1200" dirty="0"/>
          </a:p>
        </p:txBody>
      </p:sp>
      <p:sp>
        <p:nvSpPr>
          <p:cNvPr id="4" name="Text 2"/>
          <p:cNvSpPr/>
          <p:nvPr/>
        </p:nvSpPr>
        <p:spPr>
          <a:xfrm>
            <a:off x="658368" y="731520"/>
            <a:ext cx="10874959" cy="566928"/>
          </a:xfrm>
          <a:prstGeom prst="rect">
            <a:avLst/>
          </a:prstGeom>
          <a:noFill/>
          <a:ln/>
        </p:spPr>
        <p:txBody>
          <a:bodyPr wrap="square" lIns="0" tIns="0" rIns="0" bIns="0" rtlCol="0" anchor="ctr"/>
          <a:lstStyle/>
          <a:p>
            <a:pPr indent="0" marL="0">
              <a:buNone/>
            </a:pPr>
            <a:r>
              <a:rPr lang="en-US" sz="2600" b="1" dirty="0">
                <a:solidFill>
                  <a:srgbClr val="2B2622"/>
                </a:solidFill>
                <a:latin typeface="Meiryo" pitchFamily="34" charset="0"/>
                <a:ea typeface="Meiryo" pitchFamily="34" charset="-122"/>
                <a:cs typeface="Meiryo" pitchFamily="34" charset="-120"/>
              </a:rPr>
              <a:t>ワイン価格上昇率別の単位経済（保有12ヶ月・定価100あたり）</a:t>
            </a:r>
            <a:endParaRPr lang="en-US" sz="2600" dirty="0"/>
          </a:p>
        </p:txBody>
      </p:sp>
      <p:sp>
        <p:nvSpPr>
          <p:cNvPr id="5" name="Text 3"/>
          <p:cNvSpPr/>
          <p:nvPr/>
        </p:nvSpPr>
        <p:spPr>
          <a:xfrm>
            <a:off x="658368" y="1261872"/>
            <a:ext cx="10874959" cy="310896"/>
          </a:xfrm>
          <a:prstGeom prst="rect">
            <a:avLst/>
          </a:prstGeom>
          <a:noFill/>
          <a:ln/>
        </p:spPr>
        <p:txBody>
          <a:bodyPr wrap="square" lIns="0" tIns="0" rIns="0" bIns="0" rtlCol="0" anchor="ctr"/>
          <a:lstStyle/>
          <a:p>
            <a:pPr indent="0" marL="0">
              <a:buNone/>
            </a:pPr>
            <a:r>
              <a:rPr lang="en-US" sz="1150" dirty="0">
                <a:solidFill>
                  <a:srgbClr val="6F665F"/>
                </a:solidFill>
                <a:latin typeface="Meiryo" pitchFamily="34" charset="0"/>
                <a:ea typeface="Meiryo" pitchFamily="34" charset="-122"/>
                <a:cs typeface="Meiryo" pitchFamily="34" charset="-120"/>
              </a:rPr>
              <a:t>SPC簿価は時価−αで固定される。したがってSPCの粗利を動かすのは、保有中にどれだけ値上がりするかである。</a:t>
            </a:r>
            <a:endParaRPr lang="en-US" sz="1150" dirty="0"/>
          </a:p>
        </p:txBody>
      </p:sp>
      <p:sp>
        <p:nvSpPr>
          <p:cNvPr id="6" name="Text 4"/>
          <p:cNvSpPr/>
          <p:nvPr/>
        </p:nvSpPr>
        <p:spPr>
          <a:xfrm>
            <a:off x="658368" y="6446520"/>
            <a:ext cx="5486400" cy="256032"/>
          </a:xfrm>
          <a:prstGeom prst="rect">
            <a:avLst/>
          </a:prstGeom>
          <a:noFill/>
          <a:ln/>
        </p:spPr>
        <p:txBody>
          <a:bodyPr wrap="square" lIns="0" tIns="0" rIns="0" bIns="0" rtlCol="0" anchor="ctr"/>
          <a:lstStyle/>
          <a:p>
            <a:pPr indent="0" marL="0">
              <a:buNone/>
            </a:pPr>
            <a:r>
              <a:rPr lang="en-US" sz="900" dirty="0">
                <a:solidFill>
                  <a:srgbClr val="9A8F84"/>
                </a:solidFill>
                <a:latin typeface="Meiryo" pitchFamily="34" charset="0"/>
                <a:ea typeface="Meiryo" pitchFamily="34" charset="-122"/>
                <a:cs typeface="Meiryo" pitchFamily="34" charset="-120"/>
              </a:rPr>
              <a:t>Confidential</a:t>
            </a:r>
            <a:endParaRPr lang="en-US" sz="900" dirty="0"/>
          </a:p>
        </p:txBody>
      </p:sp>
      <p:sp>
        <p:nvSpPr>
          <p:cNvPr id="7" name="Text 5"/>
          <p:cNvSpPr/>
          <p:nvPr/>
        </p:nvSpPr>
        <p:spPr>
          <a:xfrm>
            <a:off x="10984687" y="6446520"/>
            <a:ext cx="548640" cy="256032"/>
          </a:xfrm>
          <a:prstGeom prst="rect">
            <a:avLst/>
          </a:prstGeom>
          <a:noFill/>
          <a:ln/>
        </p:spPr>
        <p:txBody>
          <a:bodyPr wrap="square" lIns="0" tIns="0" rIns="0" bIns="0" rtlCol="0" anchor="ctr"/>
          <a:lstStyle/>
          <a:p>
            <a:pPr algn="r" indent="0" marL="0">
              <a:buNone/>
            </a:pPr>
            <a:r>
              <a:rPr lang="en-US" sz="900" dirty="0">
                <a:solidFill>
                  <a:srgbClr val="9A8F84"/>
                </a:solidFill>
                <a:latin typeface="Meiryo" pitchFamily="34" charset="0"/>
                <a:ea typeface="Meiryo" pitchFamily="34" charset="-122"/>
                <a:cs typeface="Meiryo" pitchFamily="34" charset="-120"/>
              </a:rPr>
              <a:t>9</a:t>
            </a:r>
            <a:endParaRPr lang="en-US" sz="900" dirty="0"/>
          </a:p>
        </p:txBody>
      </p:sp>
      <p:sp>
        <p:nvSpPr>
          <p:cNvPr id="8" name="Shape 6"/>
          <p:cNvSpPr/>
          <p:nvPr/>
        </p:nvSpPr>
        <p:spPr>
          <a:xfrm>
            <a:off x="658368" y="1627632"/>
            <a:ext cx="3429914" cy="3931920"/>
          </a:xfrm>
          <a:prstGeom prst="roundRect">
            <a:avLst>
              <a:gd name="adj" fmla="val 2133"/>
            </a:avLst>
          </a:prstGeom>
          <a:solidFill>
            <a:srgbClr val="F5EFE4"/>
          </a:solidFill>
          <a:ln w="9525">
            <a:solidFill>
              <a:srgbClr val="E6DCCB"/>
            </a:solidFill>
            <a:prstDash val="solid"/>
          </a:ln>
          <a:effectLst>
            <a:outerShdw sx="100000" sy="100000" kx="0" ky="0" algn="bl" rotWithShape="0" blurRad="76200" dist="25400" dir="5400000">
              <a:srgbClr val="6F665F">
                <a:alpha val="18000"/>
              </a:srgbClr>
            </a:outerShdw>
          </a:effectLst>
        </p:spPr>
      </p:sp>
      <p:sp>
        <p:nvSpPr>
          <p:cNvPr id="9" name="Text 7"/>
          <p:cNvSpPr/>
          <p:nvPr/>
        </p:nvSpPr>
        <p:spPr>
          <a:xfrm>
            <a:off x="914400" y="1828800"/>
            <a:ext cx="2917850" cy="292608"/>
          </a:xfrm>
          <a:prstGeom prst="rect">
            <a:avLst/>
          </a:prstGeom>
          <a:noFill/>
          <a:ln/>
        </p:spPr>
        <p:txBody>
          <a:bodyPr wrap="square" lIns="0" tIns="0" rIns="0" bIns="0" rtlCol="0" anchor="ctr"/>
          <a:lstStyle/>
          <a:p>
            <a:pPr indent="0" marL="0">
              <a:buNone/>
            </a:pPr>
            <a:r>
              <a:rPr lang="en-US" sz="1300" b="1" dirty="0">
                <a:solidFill>
                  <a:srgbClr val="2B2622"/>
                </a:solidFill>
                <a:latin typeface="Meiryo" pitchFamily="34" charset="0"/>
                <a:ea typeface="Meiryo" pitchFamily="34" charset="-122"/>
                <a:cs typeface="Meiryo" pitchFamily="34" charset="-120"/>
              </a:rPr>
              <a:t>ネガティブ</a:t>
            </a:r>
            <a:endParaRPr lang="en-US" sz="1300" dirty="0"/>
          </a:p>
        </p:txBody>
      </p:sp>
      <p:sp>
        <p:nvSpPr>
          <p:cNvPr id="10" name="Text 8"/>
          <p:cNvSpPr/>
          <p:nvPr/>
        </p:nvSpPr>
        <p:spPr>
          <a:xfrm>
            <a:off x="914400" y="2231136"/>
            <a:ext cx="1966874" cy="237744"/>
          </a:xfrm>
          <a:prstGeom prst="rect">
            <a:avLst/>
          </a:prstGeom>
          <a:noFill/>
          <a:ln/>
        </p:spPr>
        <p:txBody>
          <a:bodyPr wrap="square" lIns="0" tIns="0" rIns="0" bIns="0" rtlCol="0" anchor="ctr"/>
          <a:lstStyle/>
          <a:p>
            <a:pPr indent="0" marL="0">
              <a:buNone/>
            </a:pPr>
            <a:r>
              <a:rPr lang="en-US" sz="950" dirty="0">
                <a:solidFill>
                  <a:srgbClr val="6F665F"/>
                </a:solidFill>
                <a:latin typeface="Meiryo" pitchFamily="34" charset="0"/>
                <a:ea typeface="Meiryo" pitchFamily="34" charset="-122"/>
                <a:cs typeface="Meiryo" pitchFamily="34" charset="-120"/>
              </a:rPr>
              <a:t>市中仕入原価</a:t>
            </a:r>
            <a:endParaRPr lang="en-US" sz="950" dirty="0"/>
          </a:p>
        </p:txBody>
      </p:sp>
      <p:sp>
        <p:nvSpPr>
          <p:cNvPr id="11" name="Text 9"/>
          <p:cNvSpPr/>
          <p:nvPr/>
        </p:nvSpPr>
        <p:spPr>
          <a:xfrm>
            <a:off x="2606954" y="2231136"/>
            <a:ext cx="1225296" cy="237744"/>
          </a:xfrm>
          <a:prstGeom prst="rect">
            <a:avLst/>
          </a:prstGeom>
          <a:noFill/>
          <a:ln/>
        </p:spPr>
        <p:txBody>
          <a:bodyPr wrap="square" lIns="0" tIns="0" rIns="0" bIns="0" rtlCol="0" anchor="ctr"/>
          <a:lstStyle/>
          <a:p>
            <a:pPr algn="r" indent="0" marL="0">
              <a:buNone/>
            </a:pPr>
            <a:r>
              <a:rPr lang="en-US" sz="1350" b="1" dirty="0">
                <a:solidFill>
                  <a:srgbClr val="2B2622"/>
                </a:solidFill>
                <a:latin typeface="Meiryo" pitchFamily="34" charset="0"/>
                <a:ea typeface="Meiryo" pitchFamily="34" charset="-122"/>
                <a:cs typeface="Meiryo" pitchFamily="34" charset="-120"/>
              </a:rPr>
              <a:t>50.00</a:t>
            </a:r>
            <a:endParaRPr lang="en-US" sz="1350" dirty="0"/>
          </a:p>
        </p:txBody>
      </p:sp>
      <p:sp>
        <p:nvSpPr>
          <p:cNvPr id="12" name="Text 10"/>
          <p:cNvSpPr/>
          <p:nvPr/>
        </p:nvSpPr>
        <p:spPr>
          <a:xfrm>
            <a:off x="914400" y="2519172"/>
            <a:ext cx="1966874" cy="237744"/>
          </a:xfrm>
          <a:prstGeom prst="rect">
            <a:avLst/>
          </a:prstGeom>
          <a:noFill/>
          <a:ln/>
        </p:spPr>
        <p:txBody>
          <a:bodyPr wrap="square" lIns="0" tIns="0" rIns="0" bIns="0" rtlCol="0" anchor="ctr"/>
          <a:lstStyle/>
          <a:p>
            <a:pPr indent="0" marL="0">
              <a:buNone/>
            </a:pPr>
            <a:r>
              <a:rPr lang="en-US" sz="950" dirty="0">
                <a:solidFill>
                  <a:srgbClr val="6F665F"/>
                </a:solidFill>
                <a:latin typeface="Meiryo" pitchFamily="34" charset="0"/>
                <a:ea typeface="Meiryo" pitchFamily="34" charset="-122"/>
                <a:cs typeface="Meiryo" pitchFamily="34" charset="-120"/>
              </a:rPr>
              <a:t>時価（取得時の売値）</a:t>
            </a:r>
            <a:endParaRPr lang="en-US" sz="950" dirty="0"/>
          </a:p>
        </p:txBody>
      </p:sp>
      <p:sp>
        <p:nvSpPr>
          <p:cNvPr id="13" name="Text 11"/>
          <p:cNvSpPr/>
          <p:nvPr/>
        </p:nvSpPr>
        <p:spPr>
          <a:xfrm>
            <a:off x="2606954" y="2519172"/>
            <a:ext cx="1225296" cy="237744"/>
          </a:xfrm>
          <a:prstGeom prst="rect">
            <a:avLst/>
          </a:prstGeom>
          <a:noFill/>
          <a:ln/>
        </p:spPr>
        <p:txBody>
          <a:bodyPr wrap="square" lIns="0" tIns="0" rIns="0" bIns="0" rtlCol="0" anchor="ctr"/>
          <a:lstStyle/>
          <a:p>
            <a:pPr algn="r" indent="0" marL="0">
              <a:buNone/>
            </a:pPr>
            <a:r>
              <a:rPr lang="en-US" sz="1350" b="1" dirty="0">
                <a:solidFill>
                  <a:srgbClr val="2B2622"/>
                </a:solidFill>
                <a:latin typeface="Meiryo" pitchFamily="34" charset="0"/>
                <a:ea typeface="Meiryo" pitchFamily="34" charset="-122"/>
                <a:cs typeface="Meiryo" pitchFamily="34" charset="-120"/>
              </a:rPr>
              <a:t>75.00</a:t>
            </a:r>
            <a:endParaRPr lang="en-US" sz="1350" dirty="0"/>
          </a:p>
        </p:txBody>
      </p:sp>
      <p:sp>
        <p:nvSpPr>
          <p:cNvPr id="14" name="Text 12"/>
          <p:cNvSpPr/>
          <p:nvPr/>
        </p:nvSpPr>
        <p:spPr>
          <a:xfrm>
            <a:off x="914400" y="2807208"/>
            <a:ext cx="1966874" cy="237744"/>
          </a:xfrm>
          <a:prstGeom prst="rect">
            <a:avLst/>
          </a:prstGeom>
          <a:noFill/>
          <a:ln/>
        </p:spPr>
        <p:txBody>
          <a:bodyPr wrap="square" lIns="0" tIns="0" rIns="0" bIns="0" rtlCol="0" anchor="ctr"/>
          <a:lstStyle/>
          <a:p>
            <a:pPr indent="0" marL="0">
              <a:buNone/>
            </a:pPr>
            <a:r>
              <a:rPr lang="en-US" sz="950" dirty="0">
                <a:solidFill>
                  <a:srgbClr val="6F665F"/>
                </a:solidFill>
                <a:latin typeface="Meiryo" pitchFamily="34" charset="0"/>
                <a:ea typeface="Meiryo" pitchFamily="34" charset="-122"/>
                <a:cs typeface="Meiryo" pitchFamily="34" charset="-120"/>
              </a:rPr>
              <a:t>SPC簿価（時価−α）</a:t>
            </a:r>
            <a:endParaRPr lang="en-US" sz="950" dirty="0"/>
          </a:p>
        </p:txBody>
      </p:sp>
      <p:sp>
        <p:nvSpPr>
          <p:cNvPr id="15" name="Text 13"/>
          <p:cNvSpPr/>
          <p:nvPr/>
        </p:nvSpPr>
        <p:spPr>
          <a:xfrm>
            <a:off x="2606954" y="2807208"/>
            <a:ext cx="1225296" cy="237744"/>
          </a:xfrm>
          <a:prstGeom prst="rect">
            <a:avLst/>
          </a:prstGeom>
          <a:noFill/>
          <a:ln/>
        </p:spPr>
        <p:txBody>
          <a:bodyPr wrap="square" lIns="0" tIns="0" rIns="0" bIns="0" rtlCol="0" anchor="ctr"/>
          <a:lstStyle/>
          <a:p>
            <a:pPr algn="r" indent="0" marL="0">
              <a:buNone/>
            </a:pPr>
            <a:r>
              <a:rPr lang="en-US" sz="1350" b="1" dirty="0">
                <a:solidFill>
                  <a:srgbClr val="2B2622"/>
                </a:solidFill>
                <a:latin typeface="Meiryo" pitchFamily="34" charset="0"/>
                <a:ea typeface="Meiryo" pitchFamily="34" charset="-122"/>
                <a:cs typeface="Meiryo" pitchFamily="34" charset="-120"/>
              </a:rPr>
              <a:t>56.63</a:t>
            </a:r>
            <a:endParaRPr lang="en-US" sz="1350" dirty="0"/>
          </a:p>
        </p:txBody>
      </p:sp>
      <p:sp>
        <p:nvSpPr>
          <p:cNvPr id="16" name="Text 14"/>
          <p:cNvSpPr/>
          <p:nvPr/>
        </p:nvSpPr>
        <p:spPr>
          <a:xfrm>
            <a:off x="914400" y="3095244"/>
            <a:ext cx="1966874" cy="237744"/>
          </a:xfrm>
          <a:prstGeom prst="rect">
            <a:avLst/>
          </a:prstGeom>
          <a:noFill/>
          <a:ln/>
        </p:spPr>
        <p:txBody>
          <a:bodyPr wrap="square" lIns="0" tIns="0" rIns="0" bIns="0" rtlCol="0" anchor="ctr"/>
          <a:lstStyle/>
          <a:p>
            <a:pPr indent="0" marL="0">
              <a:buNone/>
            </a:pPr>
            <a:r>
              <a:rPr lang="en-US" sz="950" dirty="0">
                <a:solidFill>
                  <a:srgbClr val="6F665F"/>
                </a:solidFill>
                <a:latin typeface="Meiryo" pitchFamily="34" charset="0"/>
                <a:ea typeface="Meiryo" pitchFamily="34" charset="-122"/>
                <a:cs typeface="Meiryo" pitchFamily="34" charset="-120"/>
              </a:rPr>
              <a:t>保有12ヶ月の上昇</a:t>
            </a:r>
            <a:endParaRPr lang="en-US" sz="950" dirty="0"/>
          </a:p>
        </p:txBody>
      </p:sp>
      <p:sp>
        <p:nvSpPr>
          <p:cNvPr id="17" name="Text 15"/>
          <p:cNvSpPr/>
          <p:nvPr/>
        </p:nvSpPr>
        <p:spPr>
          <a:xfrm>
            <a:off x="2606954" y="3095244"/>
            <a:ext cx="1225296" cy="237744"/>
          </a:xfrm>
          <a:prstGeom prst="rect">
            <a:avLst/>
          </a:prstGeom>
          <a:noFill/>
          <a:ln/>
        </p:spPr>
        <p:txBody>
          <a:bodyPr wrap="square" lIns="0" tIns="0" rIns="0" bIns="0" rtlCol="0" anchor="ctr"/>
          <a:lstStyle/>
          <a:p>
            <a:pPr algn="r" indent="0" marL="0">
              <a:buNone/>
            </a:pPr>
            <a:r>
              <a:rPr lang="en-US" sz="1250" b="1" dirty="0">
                <a:solidFill>
                  <a:srgbClr val="2B2622"/>
                </a:solidFill>
                <a:latin typeface="Meiryo" pitchFamily="34" charset="0"/>
                <a:ea typeface="Meiryo" pitchFamily="34" charset="-122"/>
                <a:cs typeface="Meiryo" pitchFamily="34" charset="-120"/>
              </a:rPr>
              <a:t>×1.000</a:t>
            </a:r>
            <a:endParaRPr lang="en-US" sz="1250" dirty="0"/>
          </a:p>
        </p:txBody>
      </p:sp>
      <p:sp>
        <p:nvSpPr>
          <p:cNvPr id="18" name="Text 16"/>
          <p:cNvSpPr/>
          <p:nvPr/>
        </p:nvSpPr>
        <p:spPr>
          <a:xfrm>
            <a:off x="914400" y="3383280"/>
            <a:ext cx="1966874" cy="237744"/>
          </a:xfrm>
          <a:prstGeom prst="rect">
            <a:avLst/>
          </a:prstGeom>
          <a:noFill/>
          <a:ln/>
        </p:spPr>
        <p:txBody>
          <a:bodyPr wrap="square" lIns="0" tIns="0" rIns="0" bIns="0" rtlCol="0" anchor="ctr"/>
          <a:lstStyle/>
          <a:p>
            <a:pPr indent="0" marL="0">
              <a:buNone/>
            </a:pPr>
            <a:r>
              <a:rPr lang="en-US" sz="950" dirty="0">
                <a:solidFill>
                  <a:srgbClr val="6F665F"/>
                </a:solidFill>
                <a:latin typeface="Meiryo" pitchFamily="34" charset="0"/>
                <a:ea typeface="Meiryo" pitchFamily="34" charset="-122"/>
                <a:cs typeface="Meiryo" pitchFamily="34" charset="-120"/>
              </a:rPr>
              <a:t>売却時の売値</a:t>
            </a:r>
            <a:endParaRPr lang="en-US" sz="950" dirty="0"/>
          </a:p>
        </p:txBody>
      </p:sp>
      <p:sp>
        <p:nvSpPr>
          <p:cNvPr id="19" name="Text 17"/>
          <p:cNvSpPr/>
          <p:nvPr/>
        </p:nvSpPr>
        <p:spPr>
          <a:xfrm>
            <a:off x="2606954" y="3383280"/>
            <a:ext cx="1225296" cy="237744"/>
          </a:xfrm>
          <a:prstGeom prst="rect">
            <a:avLst/>
          </a:prstGeom>
          <a:noFill/>
          <a:ln/>
        </p:spPr>
        <p:txBody>
          <a:bodyPr wrap="square" lIns="0" tIns="0" rIns="0" bIns="0" rtlCol="0" anchor="ctr"/>
          <a:lstStyle/>
          <a:p>
            <a:pPr algn="r" indent="0" marL="0">
              <a:buNone/>
            </a:pPr>
            <a:r>
              <a:rPr lang="en-US" sz="1350" b="1" dirty="0">
                <a:solidFill>
                  <a:srgbClr val="2B2622"/>
                </a:solidFill>
                <a:latin typeface="Meiryo" pitchFamily="34" charset="0"/>
                <a:ea typeface="Meiryo" pitchFamily="34" charset="-122"/>
                <a:cs typeface="Meiryo" pitchFamily="34" charset="-120"/>
              </a:rPr>
              <a:t>75.00</a:t>
            </a:r>
            <a:endParaRPr lang="en-US" sz="1350" dirty="0"/>
          </a:p>
        </p:txBody>
      </p:sp>
      <p:sp>
        <p:nvSpPr>
          <p:cNvPr id="20" name="Text 18"/>
          <p:cNvSpPr/>
          <p:nvPr/>
        </p:nvSpPr>
        <p:spPr>
          <a:xfrm>
            <a:off x="914400" y="3671316"/>
            <a:ext cx="1966874" cy="237744"/>
          </a:xfrm>
          <a:prstGeom prst="rect">
            <a:avLst/>
          </a:prstGeom>
          <a:noFill/>
          <a:ln/>
        </p:spPr>
        <p:txBody>
          <a:bodyPr wrap="square" lIns="0" tIns="0" rIns="0" bIns="0" rtlCol="0" anchor="ctr"/>
          <a:lstStyle/>
          <a:p>
            <a:pPr indent="0" marL="0">
              <a:buNone/>
            </a:pPr>
            <a:r>
              <a:rPr lang="en-US" sz="950" dirty="0">
                <a:solidFill>
                  <a:srgbClr val="6F665F"/>
                </a:solidFill>
                <a:latin typeface="Meiryo" pitchFamily="34" charset="0"/>
                <a:ea typeface="Meiryo" pitchFamily="34" charset="-122"/>
                <a:cs typeface="Meiryo" pitchFamily="34" charset="-120"/>
              </a:rPr>
              <a:t>変動販売費</a:t>
            </a:r>
            <a:endParaRPr lang="en-US" sz="950" dirty="0"/>
          </a:p>
        </p:txBody>
      </p:sp>
      <p:sp>
        <p:nvSpPr>
          <p:cNvPr id="21" name="Text 19"/>
          <p:cNvSpPr/>
          <p:nvPr/>
        </p:nvSpPr>
        <p:spPr>
          <a:xfrm>
            <a:off x="2606954" y="3671316"/>
            <a:ext cx="1225296" cy="237744"/>
          </a:xfrm>
          <a:prstGeom prst="rect">
            <a:avLst/>
          </a:prstGeom>
          <a:noFill/>
          <a:ln/>
        </p:spPr>
        <p:txBody>
          <a:bodyPr wrap="square" lIns="0" tIns="0" rIns="0" bIns="0" rtlCol="0" anchor="ctr"/>
          <a:lstStyle/>
          <a:p>
            <a:pPr algn="r" indent="0" marL="0">
              <a:buNone/>
            </a:pPr>
            <a:r>
              <a:rPr lang="en-US" sz="1350" b="1" dirty="0">
                <a:solidFill>
                  <a:srgbClr val="B4553F"/>
                </a:solidFill>
                <a:latin typeface="Meiryo" pitchFamily="34" charset="0"/>
                <a:ea typeface="Meiryo" pitchFamily="34" charset="-122"/>
                <a:cs typeface="Meiryo" pitchFamily="34" charset="-120"/>
              </a:rPr>
              <a:t>▲ 6.55</a:t>
            </a:r>
            <a:endParaRPr lang="en-US" sz="1350" dirty="0"/>
          </a:p>
        </p:txBody>
      </p:sp>
      <p:sp>
        <p:nvSpPr>
          <p:cNvPr id="22" name="Text 20"/>
          <p:cNvSpPr/>
          <p:nvPr/>
        </p:nvSpPr>
        <p:spPr>
          <a:xfrm>
            <a:off x="914400" y="3959352"/>
            <a:ext cx="1966874" cy="237744"/>
          </a:xfrm>
          <a:prstGeom prst="rect">
            <a:avLst/>
          </a:prstGeom>
          <a:noFill/>
          <a:ln/>
        </p:spPr>
        <p:txBody>
          <a:bodyPr wrap="square" lIns="0" tIns="0" rIns="0" bIns="0" rtlCol="0" anchor="ctr"/>
          <a:lstStyle/>
          <a:p>
            <a:pPr indent="0" marL="0">
              <a:buNone/>
            </a:pPr>
            <a:r>
              <a:rPr lang="en-US" sz="950" dirty="0">
                <a:solidFill>
                  <a:srgbClr val="6F665F"/>
                </a:solidFill>
                <a:latin typeface="Meiryo" pitchFamily="34" charset="0"/>
                <a:ea typeface="Meiryo" pitchFamily="34" charset="-122"/>
                <a:cs typeface="Meiryo" pitchFamily="34" charset="-120"/>
              </a:rPr>
              <a:t>手取り</a:t>
            </a:r>
            <a:endParaRPr lang="en-US" sz="950" dirty="0"/>
          </a:p>
        </p:txBody>
      </p:sp>
      <p:sp>
        <p:nvSpPr>
          <p:cNvPr id="23" name="Text 21"/>
          <p:cNvSpPr/>
          <p:nvPr/>
        </p:nvSpPr>
        <p:spPr>
          <a:xfrm>
            <a:off x="2606954" y="3959352"/>
            <a:ext cx="1225296" cy="237744"/>
          </a:xfrm>
          <a:prstGeom prst="rect">
            <a:avLst/>
          </a:prstGeom>
          <a:noFill/>
          <a:ln/>
        </p:spPr>
        <p:txBody>
          <a:bodyPr wrap="square" lIns="0" tIns="0" rIns="0" bIns="0" rtlCol="0" anchor="ctr"/>
          <a:lstStyle/>
          <a:p>
            <a:pPr algn="r" indent="0" marL="0">
              <a:buNone/>
            </a:pPr>
            <a:r>
              <a:rPr lang="en-US" sz="1350" b="1" dirty="0">
                <a:solidFill>
                  <a:srgbClr val="2B2622"/>
                </a:solidFill>
                <a:latin typeface="Meiryo" pitchFamily="34" charset="0"/>
                <a:ea typeface="Meiryo" pitchFamily="34" charset="-122"/>
                <a:cs typeface="Meiryo" pitchFamily="34" charset="-120"/>
              </a:rPr>
              <a:t>68.45</a:t>
            </a:r>
            <a:endParaRPr lang="en-US" sz="1350" dirty="0"/>
          </a:p>
        </p:txBody>
      </p:sp>
      <p:sp>
        <p:nvSpPr>
          <p:cNvPr id="24" name="Text 22"/>
          <p:cNvSpPr/>
          <p:nvPr/>
        </p:nvSpPr>
        <p:spPr>
          <a:xfrm>
            <a:off x="914400" y="4247388"/>
            <a:ext cx="1966874" cy="237744"/>
          </a:xfrm>
          <a:prstGeom prst="rect">
            <a:avLst/>
          </a:prstGeom>
          <a:noFill/>
          <a:ln/>
        </p:spPr>
        <p:txBody>
          <a:bodyPr wrap="square" lIns="0" tIns="0" rIns="0" bIns="0" rtlCol="0" anchor="ctr"/>
          <a:lstStyle/>
          <a:p>
            <a:pPr indent="0" marL="0">
              <a:buNone/>
            </a:pPr>
            <a:r>
              <a:rPr lang="en-US" sz="950" dirty="0">
                <a:solidFill>
                  <a:srgbClr val="6F665F"/>
                </a:solidFill>
                <a:latin typeface="Meiryo" pitchFamily="34" charset="0"/>
                <a:ea typeface="Meiryo" pitchFamily="34" charset="-122"/>
                <a:cs typeface="Meiryo" pitchFamily="34" charset="-120"/>
              </a:rPr>
              <a:t>単位粗利</a:t>
            </a:r>
            <a:endParaRPr lang="en-US" sz="950" dirty="0"/>
          </a:p>
        </p:txBody>
      </p:sp>
      <p:sp>
        <p:nvSpPr>
          <p:cNvPr id="25" name="Text 23"/>
          <p:cNvSpPr/>
          <p:nvPr/>
        </p:nvSpPr>
        <p:spPr>
          <a:xfrm>
            <a:off x="2606954" y="4247388"/>
            <a:ext cx="1225296" cy="237744"/>
          </a:xfrm>
          <a:prstGeom prst="rect">
            <a:avLst/>
          </a:prstGeom>
          <a:noFill/>
          <a:ln/>
        </p:spPr>
        <p:txBody>
          <a:bodyPr wrap="square" lIns="0" tIns="0" rIns="0" bIns="0" rtlCol="0" anchor="ctr"/>
          <a:lstStyle/>
          <a:p>
            <a:pPr algn="r" indent="0" marL="0">
              <a:buNone/>
            </a:pPr>
            <a:r>
              <a:rPr lang="en-US" sz="1350" b="1" dirty="0">
                <a:solidFill>
                  <a:srgbClr val="2B2622"/>
                </a:solidFill>
                <a:latin typeface="Meiryo" pitchFamily="34" charset="0"/>
                <a:ea typeface="Meiryo" pitchFamily="34" charset="-122"/>
                <a:cs typeface="Meiryo" pitchFamily="34" charset="-120"/>
              </a:rPr>
              <a:t>11.83</a:t>
            </a:r>
            <a:endParaRPr lang="en-US" sz="1350" dirty="0"/>
          </a:p>
        </p:txBody>
      </p:sp>
      <p:sp>
        <p:nvSpPr>
          <p:cNvPr id="26" name="Text 24"/>
          <p:cNvSpPr/>
          <p:nvPr/>
        </p:nvSpPr>
        <p:spPr>
          <a:xfrm>
            <a:off x="914400" y="4535424"/>
            <a:ext cx="1966874" cy="237744"/>
          </a:xfrm>
          <a:prstGeom prst="rect">
            <a:avLst/>
          </a:prstGeom>
          <a:noFill/>
          <a:ln/>
        </p:spPr>
        <p:txBody>
          <a:bodyPr wrap="square" lIns="0" tIns="0" rIns="0" bIns="0" rtlCol="0" anchor="ctr"/>
          <a:lstStyle/>
          <a:p>
            <a:pPr indent="0" marL="0">
              <a:buNone/>
            </a:pPr>
            <a:r>
              <a:rPr lang="en-US" sz="950" dirty="0">
                <a:solidFill>
                  <a:srgbClr val="6F665F"/>
                </a:solidFill>
                <a:latin typeface="Meiryo" pitchFamily="34" charset="0"/>
                <a:ea typeface="Meiryo" pitchFamily="34" charset="-122"/>
                <a:cs typeface="Meiryo" pitchFamily="34" charset="-120"/>
              </a:rPr>
              <a:t>粗利率（売上比）</a:t>
            </a:r>
            <a:endParaRPr lang="en-US" sz="950" dirty="0"/>
          </a:p>
        </p:txBody>
      </p:sp>
      <p:sp>
        <p:nvSpPr>
          <p:cNvPr id="27" name="Text 25"/>
          <p:cNvSpPr/>
          <p:nvPr/>
        </p:nvSpPr>
        <p:spPr>
          <a:xfrm>
            <a:off x="2606954" y="4535424"/>
            <a:ext cx="1225296" cy="237744"/>
          </a:xfrm>
          <a:prstGeom prst="rect">
            <a:avLst/>
          </a:prstGeom>
          <a:noFill/>
          <a:ln/>
        </p:spPr>
        <p:txBody>
          <a:bodyPr wrap="square" lIns="0" tIns="0" rIns="0" bIns="0" rtlCol="0" anchor="ctr"/>
          <a:lstStyle/>
          <a:p>
            <a:pPr algn="r" indent="0" marL="0">
              <a:buNone/>
            </a:pPr>
            <a:r>
              <a:rPr lang="en-US" sz="1250" b="1" dirty="0">
                <a:solidFill>
                  <a:srgbClr val="2B2622"/>
                </a:solidFill>
                <a:latin typeface="Meiryo" pitchFamily="34" charset="0"/>
                <a:ea typeface="Meiryo" pitchFamily="34" charset="-122"/>
                <a:cs typeface="Meiryo" pitchFamily="34" charset="-120"/>
              </a:rPr>
              <a:t>15.8%</a:t>
            </a:r>
            <a:endParaRPr lang="en-US" sz="1250" dirty="0"/>
          </a:p>
        </p:txBody>
      </p:sp>
      <p:sp>
        <p:nvSpPr>
          <p:cNvPr id="28" name="Text 26"/>
          <p:cNvSpPr/>
          <p:nvPr/>
        </p:nvSpPr>
        <p:spPr>
          <a:xfrm>
            <a:off x="914400" y="4823460"/>
            <a:ext cx="1966874" cy="237744"/>
          </a:xfrm>
          <a:prstGeom prst="rect">
            <a:avLst/>
          </a:prstGeom>
          <a:noFill/>
          <a:ln/>
        </p:spPr>
        <p:txBody>
          <a:bodyPr wrap="square" lIns="0" tIns="0" rIns="0" bIns="0" rtlCol="0" anchor="ctr"/>
          <a:lstStyle/>
          <a:p>
            <a:pPr indent="0" marL="0">
              <a:buNone/>
            </a:pPr>
            <a:r>
              <a:rPr lang="en-US" sz="950" dirty="0">
                <a:solidFill>
                  <a:srgbClr val="6F665F"/>
                </a:solidFill>
                <a:latin typeface="Meiryo" pitchFamily="34" charset="0"/>
                <a:ea typeface="Meiryo" pitchFamily="34" charset="-122"/>
                <a:cs typeface="Meiryo" pitchFamily="34" charset="-120"/>
              </a:rPr>
              <a:t>投下簿価利益率</a:t>
            </a:r>
            <a:endParaRPr lang="en-US" sz="950" dirty="0"/>
          </a:p>
        </p:txBody>
      </p:sp>
      <p:sp>
        <p:nvSpPr>
          <p:cNvPr id="29" name="Text 27"/>
          <p:cNvSpPr/>
          <p:nvPr/>
        </p:nvSpPr>
        <p:spPr>
          <a:xfrm>
            <a:off x="2606954" y="4823460"/>
            <a:ext cx="1225296" cy="237744"/>
          </a:xfrm>
          <a:prstGeom prst="rect">
            <a:avLst/>
          </a:prstGeom>
          <a:noFill/>
          <a:ln/>
        </p:spPr>
        <p:txBody>
          <a:bodyPr wrap="square" lIns="0" tIns="0" rIns="0" bIns="0" rtlCol="0" anchor="ctr"/>
          <a:lstStyle/>
          <a:p>
            <a:pPr algn="r" indent="0" marL="0">
              <a:buNone/>
            </a:pPr>
            <a:r>
              <a:rPr lang="en-US" sz="1250" b="1" dirty="0">
                <a:solidFill>
                  <a:srgbClr val="2B2622"/>
                </a:solidFill>
                <a:latin typeface="Meiryo" pitchFamily="34" charset="0"/>
                <a:ea typeface="Meiryo" pitchFamily="34" charset="-122"/>
                <a:cs typeface="Meiryo" pitchFamily="34" charset="-120"/>
              </a:rPr>
              <a:t>20.9%</a:t>
            </a:r>
            <a:endParaRPr lang="en-US" sz="1250" dirty="0"/>
          </a:p>
        </p:txBody>
      </p:sp>
      <p:sp>
        <p:nvSpPr>
          <p:cNvPr id="30" name="Text 28"/>
          <p:cNvSpPr/>
          <p:nvPr/>
        </p:nvSpPr>
        <p:spPr>
          <a:xfrm>
            <a:off x="914400" y="5084064"/>
            <a:ext cx="2917850" cy="365760"/>
          </a:xfrm>
          <a:prstGeom prst="rect">
            <a:avLst/>
          </a:prstGeom>
          <a:noFill/>
          <a:ln/>
        </p:spPr>
        <p:txBody>
          <a:bodyPr wrap="square" lIns="0" tIns="0" rIns="0" bIns="0" rtlCol="0" anchor="ctr"/>
          <a:lstStyle/>
          <a:p>
            <a:pPr indent="0" marL="0">
              <a:lnSpc>
                <a:spcPct val="120000"/>
              </a:lnSpc>
              <a:buNone/>
            </a:pPr>
            <a:r>
              <a:rPr lang="en-US" sz="900" dirty="0">
                <a:solidFill>
                  <a:srgbClr val="9A8F84"/>
                </a:solidFill>
                <a:latin typeface="Meiryo" pitchFamily="34" charset="0"/>
                <a:ea typeface="Meiryo" pitchFamily="34" charset="-122"/>
                <a:cs typeface="Meiryo" pitchFamily="34" charset="-120"/>
              </a:rPr>
              <a:t>ワイン価格の年間上昇率 年0%（横ばい）</a:t>
            </a:r>
            <a:endParaRPr lang="en-US" sz="900" dirty="0"/>
          </a:p>
        </p:txBody>
      </p:sp>
      <p:sp>
        <p:nvSpPr>
          <p:cNvPr id="31" name="Shape 29"/>
          <p:cNvSpPr/>
          <p:nvPr/>
        </p:nvSpPr>
        <p:spPr>
          <a:xfrm>
            <a:off x="4380890" y="1627632"/>
            <a:ext cx="3429914" cy="3931920"/>
          </a:xfrm>
          <a:prstGeom prst="roundRect">
            <a:avLst>
              <a:gd name="adj" fmla="val 2133"/>
            </a:avLst>
          </a:prstGeom>
          <a:solidFill>
            <a:srgbClr val="F3E9D6"/>
          </a:solidFill>
          <a:ln w="9525">
            <a:solidFill>
              <a:srgbClr val="C9AE7E"/>
            </a:solidFill>
            <a:prstDash val="solid"/>
          </a:ln>
          <a:effectLst>
            <a:outerShdw sx="100000" sy="100000" kx="0" ky="0" algn="bl" rotWithShape="0" blurRad="76200" dist="25400" dir="5400000">
              <a:srgbClr val="6F665F">
                <a:alpha val="18000"/>
              </a:srgbClr>
            </a:outerShdw>
          </a:effectLst>
        </p:spPr>
      </p:sp>
      <p:sp>
        <p:nvSpPr>
          <p:cNvPr id="32" name="Text 30"/>
          <p:cNvSpPr/>
          <p:nvPr/>
        </p:nvSpPr>
        <p:spPr>
          <a:xfrm>
            <a:off x="4636922" y="1828800"/>
            <a:ext cx="2917850" cy="292608"/>
          </a:xfrm>
          <a:prstGeom prst="rect">
            <a:avLst/>
          </a:prstGeom>
          <a:noFill/>
          <a:ln/>
        </p:spPr>
        <p:txBody>
          <a:bodyPr wrap="square" lIns="0" tIns="0" rIns="0" bIns="0" rtlCol="0" anchor="ctr"/>
          <a:lstStyle/>
          <a:p>
            <a:pPr indent="0" marL="0">
              <a:buNone/>
            </a:pPr>
            <a:r>
              <a:rPr lang="en-US" sz="1300" b="1" dirty="0">
                <a:solidFill>
                  <a:srgbClr val="8C6A3A"/>
                </a:solidFill>
                <a:latin typeface="Meiryo" pitchFamily="34" charset="0"/>
                <a:ea typeface="Meiryo" pitchFamily="34" charset="-122"/>
                <a:cs typeface="Meiryo" pitchFamily="34" charset="-120"/>
              </a:rPr>
              <a:t>ニュートラル（主線）</a:t>
            </a:r>
            <a:endParaRPr lang="en-US" sz="1300" dirty="0"/>
          </a:p>
        </p:txBody>
      </p:sp>
      <p:sp>
        <p:nvSpPr>
          <p:cNvPr id="33" name="Text 31"/>
          <p:cNvSpPr/>
          <p:nvPr/>
        </p:nvSpPr>
        <p:spPr>
          <a:xfrm>
            <a:off x="4636922" y="2231136"/>
            <a:ext cx="1966874" cy="237744"/>
          </a:xfrm>
          <a:prstGeom prst="rect">
            <a:avLst/>
          </a:prstGeom>
          <a:noFill/>
          <a:ln/>
        </p:spPr>
        <p:txBody>
          <a:bodyPr wrap="square" lIns="0" tIns="0" rIns="0" bIns="0" rtlCol="0" anchor="ctr"/>
          <a:lstStyle/>
          <a:p>
            <a:pPr indent="0" marL="0">
              <a:buNone/>
            </a:pPr>
            <a:r>
              <a:rPr lang="en-US" sz="950" dirty="0">
                <a:solidFill>
                  <a:srgbClr val="6F665F"/>
                </a:solidFill>
                <a:latin typeface="Meiryo" pitchFamily="34" charset="0"/>
                <a:ea typeface="Meiryo" pitchFamily="34" charset="-122"/>
                <a:cs typeface="Meiryo" pitchFamily="34" charset="-120"/>
              </a:rPr>
              <a:t>市中仕入原価</a:t>
            </a:r>
            <a:endParaRPr lang="en-US" sz="950" dirty="0"/>
          </a:p>
        </p:txBody>
      </p:sp>
      <p:sp>
        <p:nvSpPr>
          <p:cNvPr id="34" name="Text 32"/>
          <p:cNvSpPr/>
          <p:nvPr/>
        </p:nvSpPr>
        <p:spPr>
          <a:xfrm>
            <a:off x="6329477" y="2231136"/>
            <a:ext cx="1225296" cy="237744"/>
          </a:xfrm>
          <a:prstGeom prst="rect">
            <a:avLst/>
          </a:prstGeom>
          <a:noFill/>
          <a:ln/>
        </p:spPr>
        <p:txBody>
          <a:bodyPr wrap="square" lIns="0" tIns="0" rIns="0" bIns="0" rtlCol="0" anchor="ctr"/>
          <a:lstStyle/>
          <a:p>
            <a:pPr algn="r" indent="0" marL="0">
              <a:buNone/>
            </a:pPr>
            <a:r>
              <a:rPr lang="en-US" sz="1350" b="1" dirty="0">
                <a:solidFill>
                  <a:srgbClr val="2B2622"/>
                </a:solidFill>
                <a:latin typeface="Meiryo" pitchFamily="34" charset="0"/>
                <a:ea typeface="Meiryo" pitchFamily="34" charset="-122"/>
                <a:cs typeface="Meiryo" pitchFamily="34" charset="-120"/>
              </a:rPr>
              <a:t>50.00</a:t>
            </a:r>
            <a:endParaRPr lang="en-US" sz="1350" dirty="0"/>
          </a:p>
        </p:txBody>
      </p:sp>
      <p:sp>
        <p:nvSpPr>
          <p:cNvPr id="35" name="Text 33"/>
          <p:cNvSpPr/>
          <p:nvPr/>
        </p:nvSpPr>
        <p:spPr>
          <a:xfrm>
            <a:off x="4636922" y="2519172"/>
            <a:ext cx="1966874" cy="237744"/>
          </a:xfrm>
          <a:prstGeom prst="rect">
            <a:avLst/>
          </a:prstGeom>
          <a:noFill/>
          <a:ln/>
        </p:spPr>
        <p:txBody>
          <a:bodyPr wrap="square" lIns="0" tIns="0" rIns="0" bIns="0" rtlCol="0" anchor="ctr"/>
          <a:lstStyle/>
          <a:p>
            <a:pPr indent="0" marL="0">
              <a:buNone/>
            </a:pPr>
            <a:r>
              <a:rPr lang="en-US" sz="950" dirty="0">
                <a:solidFill>
                  <a:srgbClr val="6F665F"/>
                </a:solidFill>
                <a:latin typeface="Meiryo" pitchFamily="34" charset="0"/>
                <a:ea typeface="Meiryo" pitchFamily="34" charset="-122"/>
                <a:cs typeface="Meiryo" pitchFamily="34" charset="-120"/>
              </a:rPr>
              <a:t>時価（取得時の売値）</a:t>
            </a:r>
            <a:endParaRPr lang="en-US" sz="950" dirty="0"/>
          </a:p>
        </p:txBody>
      </p:sp>
      <p:sp>
        <p:nvSpPr>
          <p:cNvPr id="36" name="Text 34"/>
          <p:cNvSpPr/>
          <p:nvPr/>
        </p:nvSpPr>
        <p:spPr>
          <a:xfrm>
            <a:off x="6329477" y="2519172"/>
            <a:ext cx="1225296" cy="237744"/>
          </a:xfrm>
          <a:prstGeom prst="rect">
            <a:avLst/>
          </a:prstGeom>
          <a:noFill/>
          <a:ln/>
        </p:spPr>
        <p:txBody>
          <a:bodyPr wrap="square" lIns="0" tIns="0" rIns="0" bIns="0" rtlCol="0" anchor="ctr"/>
          <a:lstStyle/>
          <a:p>
            <a:pPr algn="r" indent="0" marL="0">
              <a:buNone/>
            </a:pPr>
            <a:r>
              <a:rPr lang="en-US" sz="1350" b="1" dirty="0">
                <a:solidFill>
                  <a:srgbClr val="2B2622"/>
                </a:solidFill>
                <a:latin typeface="Meiryo" pitchFamily="34" charset="0"/>
                <a:ea typeface="Meiryo" pitchFamily="34" charset="-122"/>
                <a:cs typeface="Meiryo" pitchFamily="34" charset="-120"/>
              </a:rPr>
              <a:t>75.00</a:t>
            </a:r>
            <a:endParaRPr lang="en-US" sz="1350" dirty="0"/>
          </a:p>
        </p:txBody>
      </p:sp>
      <p:sp>
        <p:nvSpPr>
          <p:cNvPr id="37" name="Text 35"/>
          <p:cNvSpPr/>
          <p:nvPr/>
        </p:nvSpPr>
        <p:spPr>
          <a:xfrm>
            <a:off x="4636922" y="2807208"/>
            <a:ext cx="1966874" cy="237744"/>
          </a:xfrm>
          <a:prstGeom prst="rect">
            <a:avLst/>
          </a:prstGeom>
          <a:noFill/>
          <a:ln/>
        </p:spPr>
        <p:txBody>
          <a:bodyPr wrap="square" lIns="0" tIns="0" rIns="0" bIns="0" rtlCol="0" anchor="ctr"/>
          <a:lstStyle/>
          <a:p>
            <a:pPr indent="0" marL="0">
              <a:buNone/>
            </a:pPr>
            <a:r>
              <a:rPr lang="en-US" sz="950" dirty="0">
                <a:solidFill>
                  <a:srgbClr val="6F665F"/>
                </a:solidFill>
                <a:latin typeface="Meiryo" pitchFamily="34" charset="0"/>
                <a:ea typeface="Meiryo" pitchFamily="34" charset="-122"/>
                <a:cs typeface="Meiryo" pitchFamily="34" charset="-120"/>
              </a:rPr>
              <a:t>SPC簿価（時価−α）</a:t>
            </a:r>
            <a:endParaRPr lang="en-US" sz="950" dirty="0"/>
          </a:p>
        </p:txBody>
      </p:sp>
      <p:sp>
        <p:nvSpPr>
          <p:cNvPr id="38" name="Text 36"/>
          <p:cNvSpPr/>
          <p:nvPr/>
        </p:nvSpPr>
        <p:spPr>
          <a:xfrm>
            <a:off x="6329477" y="2807208"/>
            <a:ext cx="1225296" cy="237744"/>
          </a:xfrm>
          <a:prstGeom prst="rect">
            <a:avLst/>
          </a:prstGeom>
          <a:noFill/>
          <a:ln/>
        </p:spPr>
        <p:txBody>
          <a:bodyPr wrap="square" lIns="0" tIns="0" rIns="0" bIns="0" rtlCol="0" anchor="ctr"/>
          <a:lstStyle/>
          <a:p>
            <a:pPr algn="r" indent="0" marL="0">
              <a:buNone/>
            </a:pPr>
            <a:r>
              <a:rPr lang="en-US" sz="1350" b="1" dirty="0">
                <a:solidFill>
                  <a:srgbClr val="8C6A3A"/>
                </a:solidFill>
                <a:latin typeface="Meiryo" pitchFamily="34" charset="0"/>
                <a:ea typeface="Meiryo" pitchFamily="34" charset="-122"/>
                <a:cs typeface="Meiryo" pitchFamily="34" charset="-120"/>
              </a:rPr>
              <a:t>56.63</a:t>
            </a:r>
            <a:endParaRPr lang="en-US" sz="1350" dirty="0"/>
          </a:p>
        </p:txBody>
      </p:sp>
      <p:sp>
        <p:nvSpPr>
          <p:cNvPr id="39" name="Text 37"/>
          <p:cNvSpPr/>
          <p:nvPr/>
        </p:nvSpPr>
        <p:spPr>
          <a:xfrm>
            <a:off x="4636922" y="3095244"/>
            <a:ext cx="1966874" cy="237744"/>
          </a:xfrm>
          <a:prstGeom prst="rect">
            <a:avLst/>
          </a:prstGeom>
          <a:noFill/>
          <a:ln/>
        </p:spPr>
        <p:txBody>
          <a:bodyPr wrap="square" lIns="0" tIns="0" rIns="0" bIns="0" rtlCol="0" anchor="ctr"/>
          <a:lstStyle/>
          <a:p>
            <a:pPr indent="0" marL="0">
              <a:buNone/>
            </a:pPr>
            <a:r>
              <a:rPr lang="en-US" sz="950" dirty="0">
                <a:solidFill>
                  <a:srgbClr val="6F665F"/>
                </a:solidFill>
                <a:latin typeface="Meiryo" pitchFamily="34" charset="0"/>
                <a:ea typeface="Meiryo" pitchFamily="34" charset="-122"/>
                <a:cs typeface="Meiryo" pitchFamily="34" charset="-120"/>
              </a:rPr>
              <a:t>保有12ヶ月の上昇</a:t>
            </a:r>
            <a:endParaRPr lang="en-US" sz="950" dirty="0"/>
          </a:p>
        </p:txBody>
      </p:sp>
      <p:sp>
        <p:nvSpPr>
          <p:cNvPr id="40" name="Text 38"/>
          <p:cNvSpPr/>
          <p:nvPr/>
        </p:nvSpPr>
        <p:spPr>
          <a:xfrm>
            <a:off x="6329477" y="3095244"/>
            <a:ext cx="1225296" cy="237744"/>
          </a:xfrm>
          <a:prstGeom prst="rect">
            <a:avLst/>
          </a:prstGeom>
          <a:noFill/>
          <a:ln/>
        </p:spPr>
        <p:txBody>
          <a:bodyPr wrap="square" lIns="0" tIns="0" rIns="0" bIns="0" rtlCol="0" anchor="ctr"/>
          <a:lstStyle/>
          <a:p>
            <a:pPr algn="r" indent="0" marL="0">
              <a:buNone/>
            </a:pPr>
            <a:r>
              <a:rPr lang="en-US" sz="1250" b="1" dirty="0">
                <a:solidFill>
                  <a:srgbClr val="8C6A3A"/>
                </a:solidFill>
                <a:latin typeface="Meiryo" pitchFamily="34" charset="0"/>
                <a:ea typeface="Meiryo" pitchFamily="34" charset="-122"/>
                <a:cs typeface="Meiryo" pitchFamily="34" charset="-120"/>
              </a:rPr>
              <a:t>×1.060</a:t>
            </a:r>
            <a:endParaRPr lang="en-US" sz="1250" dirty="0"/>
          </a:p>
        </p:txBody>
      </p:sp>
      <p:sp>
        <p:nvSpPr>
          <p:cNvPr id="41" name="Text 39"/>
          <p:cNvSpPr/>
          <p:nvPr/>
        </p:nvSpPr>
        <p:spPr>
          <a:xfrm>
            <a:off x="4636922" y="3383280"/>
            <a:ext cx="1966874" cy="237744"/>
          </a:xfrm>
          <a:prstGeom prst="rect">
            <a:avLst/>
          </a:prstGeom>
          <a:noFill/>
          <a:ln/>
        </p:spPr>
        <p:txBody>
          <a:bodyPr wrap="square" lIns="0" tIns="0" rIns="0" bIns="0" rtlCol="0" anchor="ctr"/>
          <a:lstStyle/>
          <a:p>
            <a:pPr indent="0" marL="0">
              <a:buNone/>
            </a:pPr>
            <a:r>
              <a:rPr lang="en-US" sz="950" dirty="0">
                <a:solidFill>
                  <a:srgbClr val="6F665F"/>
                </a:solidFill>
                <a:latin typeface="Meiryo" pitchFamily="34" charset="0"/>
                <a:ea typeface="Meiryo" pitchFamily="34" charset="-122"/>
                <a:cs typeface="Meiryo" pitchFamily="34" charset="-120"/>
              </a:rPr>
              <a:t>売却時の売値</a:t>
            </a:r>
            <a:endParaRPr lang="en-US" sz="950" dirty="0"/>
          </a:p>
        </p:txBody>
      </p:sp>
      <p:sp>
        <p:nvSpPr>
          <p:cNvPr id="42" name="Text 40"/>
          <p:cNvSpPr/>
          <p:nvPr/>
        </p:nvSpPr>
        <p:spPr>
          <a:xfrm>
            <a:off x="6329477" y="3383280"/>
            <a:ext cx="1225296" cy="237744"/>
          </a:xfrm>
          <a:prstGeom prst="rect">
            <a:avLst/>
          </a:prstGeom>
          <a:noFill/>
          <a:ln/>
        </p:spPr>
        <p:txBody>
          <a:bodyPr wrap="square" lIns="0" tIns="0" rIns="0" bIns="0" rtlCol="0" anchor="ctr"/>
          <a:lstStyle/>
          <a:p>
            <a:pPr algn="r" indent="0" marL="0">
              <a:buNone/>
            </a:pPr>
            <a:r>
              <a:rPr lang="en-US" sz="1350" b="1" dirty="0">
                <a:solidFill>
                  <a:srgbClr val="2B2622"/>
                </a:solidFill>
                <a:latin typeface="Meiryo" pitchFamily="34" charset="0"/>
                <a:ea typeface="Meiryo" pitchFamily="34" charset="-122"/>
                <a:cs typeface="Meiryo" pitchFamily="34" charset="-120"/>
              </a:rPr>
              <a:t>79.50</a:t>
            </a:r>
            <a:endParaRPr lang="en-US" sz="1350" dirty="0"/>
          </a:p>
        </p:txBody>
      </p:sp>
      <p:sp>
        <p:nvSpPr>
          <p:cNvPr id="43" name="Text 41"/>
          <p:cNvSpPr/>
          <p:nvPr/>
        </p:nvSpPr>
        <p:spPr>
          <a:xfrm>
            <a:off x="4636922" y="3671316"/>
            <a:ext cx="1966874" cy="237744"/>
          </a:xfrm>
          <a:prstGeom prst="rect">
            <a:avLst/>
          </a:prstGeom>
          <a:noFill/>
          <a:ln/>
        </p:spPr>
        <p:txBody>
          <a:bodyPr wrap="square" lIns="0" tIns="0" rIns="0" bIns="0" rtlCol="0" anchor="ctr"/>
          <a:lstStyle/>
          <a:p>
            <a:pPr indent="0" marL="0">
              <a:buNone/>
            </a:pPr>
            <a:r>
              <a:rPr lang="en-US" sz="950" dirty="0">
                <a:solidFill>
                  <a:srgbClr val="6F665F"/>
                </a:solidFill>
                <a:latin typeface="Meiryo" pitchFamily="34" charset="0"/>
                <a:ea typeface="Meiryo" pitchFamily="34" charset="-122"/>
                <a:cs typeface="Meiryo" pitchFamily="34" charset="-120"/>
              </a:rPr>
              <a:t>変動販売費</a:t>
            </a:r>
            <a:endParaRPr lang="en-US" sz="950" dirty="0"/>
          </a:p>
        </p:txBody>
      </p:sp>
      <p:sp>
        <p:nvSpPr>
          <p:cNvPr id="44" name="Text 42"/>
          <p:cNvSpPr/>
          <p:nvPr/>
        </p:nvSpPr>
        <p:spPr>
          <a:xfrm>
            <a:off x="6329477" y="3671316"/>
            <a:ext cx="1225296" cy="237744"/>
          </a:xfrm>
          <a:prstGeom prst="rect">
            <a:avLst/>
          </a:prstGeom>
          <a:noFill/>
          <a:ln/>
        </p:spPr>
        <p:txBody>
          <a:bodyPr wrap="square" lIns="0" tIns="0" rIns="0" bIns="0" rtlCol="0" anchor="ctr"/>
          <a:lstStyle/>
          <a:p>
            <a:pPr algn="r" indent="0" marL="0">
              <a:buNone/>
            </a:pPr>
            <a:r>
              <a:rPr lang="en-US" sz="1350" b="1" dirty="0">
                <a:solidFill>
                  <a:srgbClr val="B4553F"/>
                </a:solidFill>
                <a:latin typeface="Meiryo" pitchFamily="34" charset="0"/>
                <a:ea typeface="Meiryo" pitchFamily="34" charset="-122"/>
                <a:cs typeface="Meiryo" pitchFamily="34" charset="-120"/>
              </a:rPr>
              <a:t>▲ 6.94</a:t>
            </a:r>
            <a:endParaRPr lang="en-US" sz="1350" dirty="0"/>
          </a:p>
        </p:txBody>
      </p:sp>
      <p:sp>
        <p:nvSpPr>
          <p:cNvPr id="45" name="Text 43"/>
          <p:cNvSpPr/>
          <p:nvPr/>
        </p:nvSpPr>
        <p:spPr>
          <a:xfrm>
            <a:off x="4636922" y="3959352"/>
            <a:ext cx="1966874" cy="237744"/>
          </a:xfrm>
          <a:prstGeom prst="rect">
            <a:avLst/>
          </a:prstGeom>
          <a:noFill/>
          <a:ln/>
        </p:spPr>
        <p:txBody>
          <a:bodyPr wrap="square" lIns="0" tIns="0" rIns="0" bIns="0" rtlCol="0" anchor="ctr"/>
          <a:lstStyle/>
          <a:p>
            <a:pPr indent="0" marL="0">
              <a:buNone/>
            </a:pPr>
            <a:r>
              <a:rPr lang="en-US" sz="950" dirty="0">
                <a:solidFill>
                  <a:srgbClr val="6F665F"/>
                </a:solidFill>
                <a:latin typeface="Meiryo" pitchFamily="34" charset="0"/>
                <a:ea typeface="Meiryo" pitchFamily="34" charset="-122"/>
                <a:cs typeface="Meiryo" pitchFamily="34" charset="-120"/>
              </a:rPr>
              <a:t>手取り</a:t>
            </a:r>
            <a:endParaRPr lang="en-US" sz="950" dirty="0"/>
          </a:p>
        </p:txBody>
      </p:sp>
      <p:sp>
        <p:nvSpPr>
          <p:cNvPr id="46" name="Text 44"/>
          <p:cNvSpPr/>
          <p:nvPr/>
        </p:nvSpPr>
        <p:spPr>
          <a:xfrm>
            <a:off x="6329477" y="3959352"/>
            <a:ext cx="1225296" cy="237744"/>
          </a:xfrm>
          <a:prstGeom prst="rect">
            <a:avLst/>
          </a:prstGeom>
          <a:noFill/>
          <a:ln/>
        </p:spPr>
        <p:txBody>
          <a:bodyPr wrap="square" lIns="0" tIns="0" rIns="0" bIns="0" rtlCol="0" anchor="ctr"/>
          <a:lstStyle/>
          <a:p>
            <a:pPr algn="r" indent="0" marL="0">
              <a:buNone/>
            </a:pPr>
            <a:r>
              <a:rPr lang="en-US" sz="1350" b="1" dirty="0">
                <a:solidFill>
                  <a:srgbClr val="8C6A3A"/>
                </a:solidFill>
                <a:latin typeface="Meiryo" pitchFamily="34" charset="0"/>
                <a:ea typeface="Meiryo" pitchFamily="34" charset="-122"/>
                <a:cs typeface="Meiryo" pitchFamily="34" charset="-120"/>
              </a:rPr>
              <a:t>72.56</a:t>
            </a:r>
            <a:endParaRPr lang="en-US" sz="1350" dirty="0"/>
          </a:p>
        </p:txBody>
      </p:sp>
      <p:sp>
        <p:nvSpPr>
          <p:cNvPr id="47" name="Text 45"/>
          <p:cNvSpPr/>
          <p:nvPr/>
        </p:nvSpPr>
        <p:spPr>
          <a:xfrm>
            <a:off x="4636922" y="4247388"/>
            <a:ext cx="1966874" cy="237744"/>
          </a:xfrm>
          <a:prstGeom prst="rect">
            <a:avLst/>
          </a:prstGeom>
          <a:noFill/>
          <a:ln/>
        </p:spPr>
        <p:txBody>
          <a:bodyPr wrap="square" lIns="0" tIns="0" rIns="0" bIns="0" rtlCol="0" anchor="ctr"/>
          <a:lstStyle/>
          <a:p>
            <a:pPr indent="0" marL="0">
              <a:buNone/>
            </a:pPr>
            <a:r>
              <a:rPr lang="en-US" sz="950" dirty="0">
                <a:solidFill>
                  <a:srgbClr val="6F665F"/>
                </a:solidFill>
                <a:latin typeface="Meiryo" pitchFamily="34" charset="0"/>
                <a:ea typeface="Meiryo" pitchFamily="34" charset="-122"/>
                <a:cs typeface="Meiryo" pitchFamily="34" charset="-120"/>
              </a:rPr>
              <a:t>単位粗利</a:t>
            </a:r>
            <a:endParaRPr lang="en-US" sz="950" dirty="0"/>
          </a:p>
        </p:txBody>
      </p:sp>
      <p:sp>
        <p:nvSpPr>
          <p:cNvPr id="48" name="Text 46"/>
          <p:cNvSpPr/>
          <p:nvPr/>
        </p:nvSpPr>
        <p:spPr>
          <a:xfrm>
            <a:off x="6329477" y="4247388"/>
            <a:ext cx="1225296" cy="237744"/>
          </a:xfrm>
          <a:prstGeom prst="rect">
            <a:avLst/>
          </a:prstGeom>
          <a:noFill/>
          <a:ln/>
        </p:spPr>
        <p:txBody>
          <a:bodyPr wrap="square" lIns="0" tIns="0" rIns="0" bIns="0" rtlCol="0" anchor="ctr"/>
          <a:lstStyle/>
          <a:p>
            <a:pPr algn="r" indent="0" marL="0">
              <a:buNone/>
            </a:pPr>
            <a:r>
              <a:rPr lang="en-US" sz="1350" b="1" dirty="0">
                <a:solidFill>
                  <a:srgbClr val="8C6A3A"/>
                </a:solidFill>
                <a:latin typeface="Meiryo" pitchFamily="34" charset="0"/>
                <a:ea typeface="Meiryo" pitchFamily="34" charset="-122"/>
                <a:cs typeface="Meiryo" pitchFamily="34" charset="-120"/>
              </a:rPr>
              <a:t>15.93</a:t>
            </a:r>
            <a:endParaRPr lang="en-US" sz="1350" dirty="0"/>
          </a:p>
        </p:txBody>
      </p:sp>
      <p:sp>
        <p:nvSpPr>
          <p:cNvPr id="49" name="Text 47"/>
          <p:cNvSpPr/>
          <p:nvPr/>
        </p:nvSpPr>
        <p:spPr>
          <a:xfrm>
            <a:off x="4636922" y="4535424"/>
            <a:ext cx="1966874" cy="237744"/>
          </a:xfrm>
          <a:prstGeom prst="rect">
            <a:avLst/>
          </a:prstGeom>
          <a:noFill/>
          <a:ln/>
        </p:spPr>
        <p:txBody>
          <a:bodyPr wrap="square" lIns="0" tIns="0" rIns="0" bIns="0" rtlCol="0" anchor="ctr"/>
          <a:lstStyle/>
          <a:p>
            <a:pPr indent="0" marL="0">
              <a:buNone/>
            </a:pPr>
            <a:r>
              <a:rPr lang="en-US" sz="950" dirty="0">
                <a:solidFill>
                  <a:srgbClr val="6F665F"/>
                </a:solidFill>
                <a:latin typeface="Meiryo" pitchFamily="34" charset="0"/>
                <a:ea typeface="Meiryo" pitchFamily="34" charset="-122"/>
                <a:cs typeface="Meiryo" pitchFamily="34" charset="-120"/>
              </a:rPr>
              <a:t>粗利率（売上比）</a:t>
            </a:r>
            <a:endParaRPr lang="en-US" sz="950" dirty="0"/>
          </a:p>
        </p:txBody>
      </p:sp>
      <p:sp>
        <p:nvSpPr>
          <p:cNvPr id="50" name="Text 48"/>
          <p:cNvSpPr/>
          <p:nvPr/>
        </p:nvSpPr>
        <p:spPr>
          <a:xfrm>
            <a:off x="6329477" y="4535424"/>
            <a:ext cx="1225296" cy="237744"/>
          </a:xfrm>
          <a:prstGeom prst="rect">
            <a:avLst/>
          </a:prstGeom>
          <a:noFill/>
          <a:ln/>
        </p:spPr>
        <p:txBody>
          <a:bodyPr wrap="square" lIns="0" tIns="0" rIns="0" bIns="0" rtlCol="0" anchor="ctr"/>
          <a:lstStyle/>
          <a:p>
            <a:pPr algn="r" indent="0" marL="0">
              <a:buNone/>
            </a:pPr>
            <a:r>
              <a:rPr lang="en-US" sz="1250" b="1" dirty="0">
                <a:solidFill>
                  <a:srgbClr val="8C6A3A"/>
                </a:solidFill>
                <a:latin typeface="Meiryo" pitchFamily="34" charset="0"/>
                <a:ea typeface="Meiryo" pitchFamily="34" charset="-122"/>
                <a:cs typeface="Meiryo" pitchFamily="34" charset="-120"/>
              </a:rPr>
              <a:t>20.0%</a:t>
            </a:r>
            <a:endParaRPr lang="en-US" sz="1250" dirty="0"/>
          </a:p>
        </p:txBody>
      </p:sp>
      <p:sp>
        <p:nvSpPr>
          <p:cNvPr id="51" name="Text 49"/>
          <p:cNvSpPr/>
          <p:nvPr/>
        </p:nvSpPr>
        <p:spPr>
          <a:xfrm>
            <a:off x="4636922" y="4823460"/>
            <a:ext cx="1966874" cy="237744"/>
          </a:xfrm>
          <a:prstGeom prst="rect">
            <a:avLst/>
          </a:prstGeom>
          <a:noFill/>
          <a:ln/>
        </p:spPr>
        <p:txBody>
          <a:bodyPr wrap="square" lIns="0" tIns="0" rIns="0" bIns="0" rtlCol="0" anchor="ctr"/>
          <a:lstStyle/>
          <a:p>
            <a:pPr indent="0" marL="0">
              <a:buNone/>
            </a:pPr>
            <a:r>
              <a:rPr lang="en-US" sz="950" dirty="0">
                <a:solidFill>
                  <a:srgbClr val="6F665F"/>
                </a:solidFill>
                <a:latin typeface="Meiryo" pitchFamily="34" charset="0"/>
                <a:ea typeface="Meiryo" pitchFamily="34" charset="-122"/>
                <a:cs typeface="Meiryo" pitchFamily="34" charset="-120"/>
              </a:rPr>
              <a:t>投下簿価利益率</a:t>
            </a:r>
            <a:endParaRPr lang="en-US" sz="950" dirty="0"/>
          </a:p>
        </p:txBody>
      </p:sp>
      <p:sp>
        <p:nvSpPr>
          <p:cNvPr id="52" name="Text 50"/>
          <p:cNvSpPr/>
          <p:nvPr/>
        </p:nvSpPr>
        <p:spPr>
          <a:xfrm>
            <a:off x="6329477" y="4823460"/>
            <a:ext cx="1225296" cy="237744"/>
          </a:xfrm>
          <a:prstGeom prst="rect">
            <a:avLst/>
          </a:prstGeom>
          <a:noFill/>
          <a:ln/>
        </p:spPr>
        <p:txBody>
          <a:bodyPr wrap="square" lIns="0" tIns="0" rIns="0" bIns="0" rtlCol="0" anchor="ctr"/>
          <a:lstStyle/>
          <a:p>
            <a:pPr algn="r" indent="0" marL="0">
              <a:buNone/>
            </a:pPr>
            <a:r>
              <a:rPr lang="en-US" sz="1250" b="1" dirty="0">
                <a:solidFill>
                  <a:srgbClr val="8C6A3A"/>
                </a:solidFill>
                <a:latin typeface="Meiryo" pitchFamily="34" charset="0"/>
                <a:ea typeface="Meiryo" pitchFamily="34" charset="-122"/>
                <a:cs typeface="Meiryo" pitchFamily="34" charset="-120"/>
              </a:rPr>
              <a:t>28.1%</a:t>
            </a:r>
            <a:endParaRPr lang="en-US" sz="1250" dirty="0"/>
          </a:p>
        </p:txBody>
      </p:sp>
      <p:sp>
        <p:nvSpPr>
          <p:cNvPr id="53" name="Text 51"/>
          <p:cNvSpPr/>
          <p:nvPr/>
        </p:nvSpPr>
        <p:spPr>
          <a:xfrm>
            <a:off x="4636922" y="5084064"/>
            <a:ext cx="2917850" cy="365760"/>
          </a:xfrm>
          <a:prstGeom prst="rect">
            <a:avLst/>
          </a:prstGeom>
          <a:noFill/>
          <a:ln/>
        </p:spPr>
        <p:txBody>
          <a:bodyPr wrap="square" lIns="0" tIns="0" rIns="0" bIns="0" rtlCol="0" anchor="ctr"/>
          <a:lstStyle/>
          <a:p>
            <a:pPr indent="0" marL="0">
              <a:lnSpc>
                <a:spcPct val="120000"/>
              </a:lnSpc>
              <a:buNone/>
            </a:pPr>
            <a:r>
              <a:rPr lang="en-US" sz="900" dirty="0">
                <a:solidFill>
                  <a:srgbClr val="9A8F84"/>
                </a:solidFill>
                <a:latin typeface="Meiryo" pitchFamily="34" charset="0"/>
                <a:ea typeface="Meiryo" pitchFamily="34" charset="-122"/>
                <a:cs typeface="Meiryo" pitchFamily="34" charset="-120"/>
              </a:rPr>
              <a:t>ワイン価格の年間上昇率 年6%</a:t>
            </a:r>
            <a:endParaRPr lang="en-US" sz="900" dirty="0"/>
          </a:p>
        </p:txBody>
      </p:sp>
      <p:sp>
        <p:nvSpPr>
          <p:cNvPr id="54" name="Shape 52"/>
          <p:cNvSpPr/>
          <p:nvPr/>
        </p:nvSpPr>
        <p:spPr>
          <a:xfrm>
            <a:off x="8103413" y="1627632"/>
            <a:ext cx="3429914" cy="3931920"/>
          </a:xfrm>
          <a:prstGeom prst="roundRect">
            <a:avLst>
              <a:gd name="adj" fmla="val 2133"/>
            </a:avLst>
          </a:prstGeom>
          <a:solidFill>
            <a:srgbClr val="F5EFE4"/>
          </a:solidFill>
          <a:ln w="9525">
            <a:solidFill>
              <a:srgbClr val="E6DCCB"/>
            </a:solidFill>
            <a:prstDash val="solid"/>
          </a:ln>
          <a:effectLst>
            <a:outerShdw sx="100000" sy="100000" kx="0" ky="0" algn="bl" rotWithShape="0" blurRad="76200" dist="25400" dir="5400000">
              <a:srgbClr val="6F665F">
                <a:alpha val="18000"/>
              </a:srgbClr>
            </a:outerShdw>
          </a:effectLst>
        </p:spPr>
      </p:sp>
      <p:sp>
        <p:nvSpPr>
          <p:cNvPr id="55" name="Text 53"/>
          <p:cNvSpPr/>
          <p:nvPr/>
        </p:nvSpPr>
        <p:spPr>
          <a:xfrm>
            <a:off x="8359445" y="1828800"/>
            <a:ext cx="2917850" cy="292608"/>
          </a:xfrm>
          <a:prstGeom prst="rect">
            <a:avLst/>
          </a:prstGeom>
          <a:noFill/>
          <a:ln/>
        </p:spPr>
        <p:txBody>
          <a:bodyPr wrap="square" lIns="0" tIns="0" rIns="0" bIns="0" rtlCol="0" anchor="ctr"/>
          <a:lstStyle/>
          <a:p>
            <a:pPr indent="0" marL="0">
              <a:buNone/>
            </a:pPr>
            <a:r>
              <a:rPr lang="en-US" sz="1300" b="1" dirty="0">
                <a:solidFill>
                  <a:srgbClr val="2B2622"/>
                </a:solidFill>
                <a:latin typeface="Meiryo" pitchFamily="34" charset="0"/>
                <a:ea typeface="Meiryo" pitchFamily="34" charset="-122"/>
                <a:cs typeface="Meiryo" pitchFamily="34" charset="-120"/>
              </a:rPr>
              <a:t>ポジティブ</a:t>
            </a:r>
            <a:endParaRPr lang="en-US" sz="1300" dirty="0"/>
          </a:p>
        </p:txBody>
      </p:sp>
      <p:sp>
        <p:nvSpPr>
          <p:cNvPr id="56" name="Text 54"/>
          <p:cNvSpPr/>
          <p:nvPr/>
        </p:nvSpPr>
        <p:spPr>
          <a:xfrm>
            <a:off x="8359445" y="2231136"/>
            <a:ext cx="1966874" cy="237744"/>
          </a:xfrm>
          <a:prstGeom prst="rect">
            <a:avLst/>
          </a:prstGeom>
          <a:noFill/>
          <a:ln/>
        </p:spPr>
        <p:txBody>
          <a:bodyPr wrap="square" lIns="0" tIns="0" rIns="0" bIns="0" rtlCol="0" anchor="ctr"/>
          <a:lstStyle/>
          <a:p>
            <a:pPr indent="0" marL="0">
              <a:buNone/>
            </a:pPr>
            <a:r>
              <a:rPr lang="en-US" sz="950" dirty="0">
                <a:solidFill>
                  <a:srgbClr val="6F665F"/>
                </a:solidFill>
                <a:latin typeface="Meiryo" pitchFamily="34" charset="0"/>
                <a:ea typeface="Meiryo" pitchFamily="34" charset="-122"/>
                <a:cs typeface="Meiryo" pitchFamily="34" charset="-120"/>
              </a:rPr>
              <a:t>市中仕入原価</a:t>
            </a:r>
            <a:endParaRPr lang="en-US" sz="950" dirty="0"/>
          </a:p>
        </p:txBody>
      </p:sp>
      <p:sp>
        <p:nvSpPr>
          <p:cNvPr id="57" name="Text 55"/>
          <p:cNvSpPr/>
          <p:nvPr/>
        </p:nvSpPr>
        <p:spPr>
          <a:xfrm>
            <a:off x="10051999" y="2231136"/>
            <a:ext cx="1225296" cy="237744"/>
          </a:xfrm>
          <a:prstGeom prst="rect">
            <a:avLst/>
          </a:prstGeom>
          <a:noFill/>
          <a:ln/>
        </p:spPr>
        <p:txBody>
          <a:bodyPr wrap="square" lIns="0" tIns="0" rIns="0" bIns="0" rtlCol="0" anchor="ctr"/>
          <a:lstStyle/>
          <a:p>
            <a:pPr algn="r" indent="0" marL="0">
              <a:buNone/>
            </a:pPr>
            <a:r>
              <a:rPr lang="en-US" sz="1350" b="1" dirty="0">
                <a:solidFill>
                  <a:srgbClr val="2B2622"/>
                </a:solidFill>
                <a:latin typeface="Meiryo" pitchFamily="34" charset="0"/>
                <a:ea typeface="Meiryo" pitchFamily="34" charset="-122"/>
                <a:cs typeface="Meiryo" pitchFamily="34" charset="-120"/>
              </a:rPr>
              <a:t>50.00</a:t>
            </a:r>
            <a:endParaRPr lang="en-US" sz="1350" dirty="0"/>
          </a:p>
        </p:txBody>
      </p:sp>
      <p:sp>
        <p:nvSpPr>
          <p:cNvPr id="58" name="Text 56"/>
          <p:cNvSpPr/>
          <p:nvPr/>
        </p:nvSpPr>
        <p:spPr>
          <a:xfrm>
            <a:off x="8359445" y="2519172"/>
            <a:ext cx="1966874" cy="237744"/>
          </a:xfrm>
          <a:prstGeom prst="rect">
            <a:avLst/>
          </a:prstGeom>
          <a:noFill/>
          <a:ln/>
        </p:spPr>
        <p:txBody>
          <a:bodyPr wrap="square" lIns="0" tIns="0" rIns="0" bIns="0" rtlCol="0" anchor="ctr"/>
          <a:lstStyle/>
          <a:p>
            <a:pPr indent="0" marL="0">
              <a:buNone/>
            </a:pPr>
            <a:r>
              <a:rPr lang="en-US" sz="950" dirty="0">
                <a:solidFill>
                  <a:srgbClr val="6F665F"/>
                </a:solidFill>
                <a:latin typeface="Meiryo" pitchFamily="34" charset="0"/>
                <a:ea typeface="Meiryo" pitchFamily="34" charset="-122"/>
                <a:cs typeface="Meiryo" pitchFamily="34" charset="-120"/>
              </a:rPr>
              <a:t>時価（取得時の売値）</a:t>
            </a:r>
            <a:endParaRPr lang="en-US" sz="950" dirty="0"/>
          </a:p>
        </p:txBody>
      </p:sp>
      <p:sp>
        <p:nvSpPr>
          <p:cNvPr id="59" name="Text 57"/>
          <p:cNvSpPr/>
          <p:nvPr/>
        </p:nvSpPr>
        <p:spPr>
          <a:xfrm>
            <a:off x="10051999" y="2519172"/>
            <a:ext cx="1225296" cy="237744"/>
          </a:xfrm>
          <a:prstGeom prst="rect">
            <a:avLst/>
          </a:prstGeom>
          <a:noFill/>
          <a:ln/>
        </p:spPr>
        <p:txBody>
          <a:bodyPr wrap="square" lIns="0" tIns="0" rIns="0" bIns="0" rtlCol="0" anchor="ctr"/>
          <a:lstStyle/>
          <a:p>
            <a:pPr algn="r" indent="0" marL="0">
              <a:buNone/>
            </a:pPr>
            <a:r>
              <a:rPr lang="en-US" sz="1350" b="1" dirty="0">
                <a:solidFill>
                  <a:srgbClr val="2B2622"/>
                </a:solidFill>
                <a:latin typeface="Meiryo" pitchFamily="34" charset="0"/>
                <a:ea typeface="Meiryo" pitchFamily="34" charset="-122"/>
                <a:cs typeface="Meiryo" pitchFamily="34" charset="-120"/>
              </a:rPr>
              <a:t>75.00</a:t>
            </a:r>
            <a:endParaRPr lang="en-US" sz="1350" dirty="0"/>
          </a:p>
        </p:txBody>
      </p:sp>
      <p:sp>
        <p:nvSpPr>
          <p:cNvPr id="60" name="Text 58"/>
          <p:cNvSpPr/>
          <p:nvPr/>
        </p:nvSpPr>
        <p:spPr>
          <a:xfrm>
            <a:off x="8359445" y="2807208"/>
            <a:ext cx="1966874" cy="237744"/>
          </a:xfrm>
          <a:prstGeom prst="rect">
            <a:avLst/>
          </a:prstGeom>
          <a:noFill/>
          <a:ln/>
        </p:spPr>
        <p:txBody>
          <a:bodyPr wrap="square" lIns="0" tIns="0" rIns="0" bIns="0" rtlCol="0" anchor="ctr"/>
          <a:lstStyle/>
          <a:p>
            <a:pPr indent="0" marL="0">
              <a:buNone/>
            </a:pPr>
            <a:r>
              <a:rPr lang="en-US" sz="950" dirty="0">
                <a:solidFill>
                  <a:srgbClr val="6F665F"/>
                </a:solidFill>
                <a:latin typeface="Meiryo" pitchFamily="34" charset="0"/>
                <a:ea typeface="Meiryo" pitchFamily="34" charset="-122"/>
                <a:cs typeface="Meiryo" pitchFamily="34" charset="-120"/>
              </a:rPr>
              <a:t>SPC簿価（時価−α）</a:t>
            </a:r>
            <a:endParaRPr lang="en-US" sz="950" dirty="0"/>
          </a:p>
        </p:txBody>
      </p:sp>
      <p:sp>
        <p:nvSpPr>
          <p:cNvPr id="61" name="Text 59"/>
          <p:cNvSpPr/>
          <p:nvPr/>
        </p:nvSpPr>
        <p:spPr>
          <a:xfrm>
            <a:off x="10051999" y="2807208"/>
            <a:ext cx="1225296" cy="237744"/>
          </a:xfrm>
          <a:prstGeom prst="rect">
            <a:avLst/>
          </a:prstGeom>
          <a:noFill/>
          <a:ln/>
        </p:spPr>
        <p:txBody>
          <a:bodyPr wrap="square" lIns="0" tIns="0" rIns="0" bIns="0" rtlCol="0" anchor="ctr"/>
          <a:lstStyle/>
          <a:p>
            <a:pPr algn="r" indent="0" marL="0">
              <a:buNone/>
            </a:pPr>
            <a:r>
              <a:rPr lang="en-US" sz="1350" b="1" dirty="0">
                <a:solidFill>
                  <a:srgbClr val="2B2622"/>
                </a:solidFill>
                <a:latin typeface="Meiryo" pitchFamily="34" charset="0"/>
                <a:ea typeface="Meiryo" pitchFamily="34" charset="-122"/>
                <a:cs typeface="Meiryo" pitchFamily="34" charset="-120"/>
              </a:rPr>
              <a:t>56.63</a:t>
            </a:r>
            <a:endParaRPr lang="en-US" sz="1350" dirty="0"/>
          </a:p>
        </p:txBody>
      </p:sp>
      <p:sp>
        <p:nvSpPr>
          <p:cNvPr id="62" name="Text 60"/>
          <p:cNvSpPr/>
          <p:nvPr/>
        </p:nvSpPr>
        <p:spPr>
          <a:xfrm>
            <a:off x="8359445" y="3095244"/>
            <a:ext cx="1966874" cy="237744"/>
          </a:xfrm>
          <a:prstGeom prst="rect">
            <a:avLst/>
          </a:prstGeom>
          <a:noFill/>
          <a:ln/>
        </p:spPr>
        <p:txBody>
          <a:bodyPr wrap="square" lIns="0" tIns="0" rIns="0" bIns="0" rtlCol="0" anchor="ctr"/>
          <a:lstStyle/>
          <a:p>
            <a:pPr indent="0" marL="0">
              <a:buNone/>
            </a:pPr>
            <a:r>
              <a:rPr lang="en-US" sz="950" dirty="0">
                <a:solidFill>
                  <a:srgbClr val="6F665F"/>
                </a:solidFill>
                <a:latin typeface="Meiryo" pitchFamily="34" charset="0"/>
                <a:ea typeface="Meiryo" pitchFamily="34" charset="-122"/>
                <a:cs typeface="Meiryo" pitchFamily="34" charset="-120"/>
              </a:rPr>
              <a:t>保有12ヶ月の上昇</a:t>
            </a:r>
            <a:endParaRPr lang="en-US" sz="950" dirty="0"/>
          </a:p>
        </p:txBody>
      </p:sp>
      <p:sp>
        <p:nvSpPr>
          <p:cNvPr id="63" name="Text 61"/>
          <p:cNvSpPr/>
          <p:nvPr/>
        </p:nvSpPr>
        <p:spPr>
          <a:xfrm>
            <a:off x="10051999" y="3095244"/>
            <a:ext cx="1225296" cy="237744"/>
          </a:xfrm>
          <a:prstGeom prst="rect">
            <a:avLst/>
          </a:prstGeom>
          <a:noFill/>
          <a:ln/>
        </p:spPr>
        <p:txBody>
          <a:bodyPr wrap="square" lIns="0" tIns="0" rIns="0" bIns="0" rtlCol="0" anchor="ctr"/>
          <a:lstStyle/>
          <a:p>
            <a:pPr algn="r" indent="0" marL="0">
              <a:buNone/>
            </a:pPr>
            <a:r>
              <a:rPr lang="en-US" sz="1250" b="1" dirty="0">
                <a:solidFill>
                  <a:srgbClr val="2B2622"/>
                </a:solidFill>
                <a:latin typeface="Meiryo" pitchFamily="34" charset="0"/>
                <a:ea typeface="Meiryo" pitchFamily="34" charset="-122"/>
                <a:cs typeface="Meiryo" pitchFamily="34" charset="-120"/>
              </a:rPr>
              <a:t>×1.100</a:t>
            </a:r>
            <a:endParaRPr lang="en-US" sz="1250" dirty="0"/>
          </a:p>
        </p:txBody>
      </p:sp>
      <p:sp>
        <p:nvSpPr>
          <p:cNvPr id="64" name="Text 62"/>
          <p:cNvSpPr/>
          <p:nvPr/>
        </p:nvSpPr>
        <p:spPr>
          <a:xfrm>
            <a:off x="8359445" y="3383280"/>
            <a:ext cx="1966874" cy="237744"/>
          </a:xfrm>
          <a:prstGeom prst="rect">
            <a:avLst/>
          </a:prstGeom>
          <a:noFill/>
          <a:ln/>
        </p:spPr>
        <p:txBody>
          <a:bodyPr wrap="square" lIns="0" tIns="0" rIns="0" bIns="0" rtlCol="0" anchor="ctr"/>
          <a:lstStyle/>
          <a:p>
            <a:pPr indent="0" marL="0">
              <a:buNone/>
            </a:pPr>
            <a:r>
              <a:rPr lang="en-US" sz="950" dirty="0">
                <a:solidFill>
                  <a:srgbClr val="6F665F"/>
                </a:solidFill>
                <a:latin typeface="Meiryo" pitchFamily="34" charset="0"/>
                <a:ea typeface="Meiryo" pitchFamily="34" charset="-122"/>
                <a:cs typeface="Meiryo" pitchFamily="34" charset="-120"/>
              </a:rPr>
              <a:t>売却時の売値</a:t>
            </a:r>
            <a:endParaRPr lang="en-US" sz="950" dirty="0"/>
          </a:p>
        </p:txBody>
      </p:sp>
      <p:sp>
        <p:nvSpPr>
          <p:cNvPr id="65" name="Text 63"/>
          <p:cNvSpPr/>
          <p:nvPr/>
        </p:nvSpPr>
        <p:spPr>
          <a:xfrm>
            <a:off x="10051999" y="3383280"/>
            <a:ext cx="1225296" cy="237744"/>
          </a:xfrm>
          <a:prstGeom prst="rect">
            <a:avLst/>
          </a:prstGeom>
          <a:noFill/>
          <a:ln/>
        </p:spPr>
        <p:txBody>
          <a:bodyPr wrap="square" lIns="0" tIns="0" rIns="0" bIns="0" rtlCol="0" anchor="ctr"/>
          <a:lstStyle/>
          <a:p>
            <a:pPr algn="r" indent="0" marL="0">
              <a:buNone/>
            </a:pPr>
            <a:r>
              <a:rPr lang="en-US" sz="1350" b="1" dirty="0">
                <a:solidFill>
                  <a:srgbClr val="2B2622"/>
                </a:solidFill>
                <a:latin typeface="Meiryo" pitchFamily="34" charset="0"/>
                <a:ea typeface="Meiryo" pitchFamily="34" charset="-122"/>
                <a:cs typeface="Meiryo" pitchFamily="34" charset="-120"/>
              </a:rPr>
              <a:t>82.50</a:t>
            </a:r>
            <a:endParaRPr lang="en-US" sz="1350" dirty="0"/>
          </a:p>
        </p:txBody>
      </p:sp>
      <p:sp>
        <p:nvSpPr>
          <p:cNvPr id="66" name="Text 64"/>
          <p:cNvSpPr/>
          <p:nvPr/>
        </p:nvSpPr>
        <p:spPr>
          <a:xfrm>
            <a:off x="8359445" y="3671316"/>
            <a:ext cx="1966874" cy="237744"/>
          </a:xfrm>
          <a:prstGeom prst="rect">
            <a:avLst/>
          </a:prstGeom>
          <a:noFill/>
          <a:ln/>
        </p:spPr>
        <p:txBody>
          <a:bodyPr wrap="square" lIns="0" tIns="0" rIns="0" bIns="0" rtlCol="0" anchor="ctr"/>
          <a:lstStyle/>
          <a:p>
            <a:pPr indent="0" marL="0">
              <a:buNone/>
            </a:pPr>
            <a:r>
              <a:rPr lang="en-US" sz="950" dirty="0">
                <a:solidFill>
                  <a:srgbClr val="6F665F"/>
                </a:solidFill>
                <a:latin typeface="Meiryo" pitchFamily="34" charset="0"/>
                <a:ea typeface="Meiryo" pitchFamily="34" charset="-122"/>
                <a:cs typeface="Meiryo" pitchFamily="34" charset="-120"/>
              </a:rPr>
              <a:t>変動販売費</a:t>
            </a:r>
            <a:endParaRPr lang="en-US" sz="950" dirty="0"/>
          </a:p>
        </p:txBody>
      </p:sp>
      <p:sp>
        <p:nvSpPr>
          <p:cNvPr id="67" name="Text 65"/>
          <p:cNvSpPr/>
          <p:nvPr/>
        </p:nvSpPr>
        <p:spPr>
          <a:xfrm>
            <a:off x="10051999" y="3671316"/>
            <a:ext cx="1225296" cy="237744"/>
          </a:xfrm>
          <a:prstGeom prst="rect">
            <a:avLst/>
          </a:prstGeom>
          <a:noFill/>
          <a:ln/>
        </p:spPr>
        <p:txBody>
          <a:bodyPr wrap="square" lIns="0" tIns="0" rIns="0" bIns="0" rtlCol="0" anchor="ctr"/>
          <a:lstStyle/>
          <a:p>
            <a:pPr algn="r" indent="0" marL="0">
              <a:buNone/>
            </a:pPr>
            <a:r>
              <a:rPr lang="en-US" sz="1350" b="1" dirty="0">
                <a:solidFill>
                  <a:srgbClr val="B4553F"/>
                </a:solidFill>
                <a:latin typeface="Meiryo" pitchFamily="34" charset="0"/>
                <a:ea typeface="Meiryo" pitchFamily="34" charset="-122"/>
                <a:cs typeface="Meiryo" pitchFamily="34" charset="-120"/>
              </a:rPr>
              <a:t>▲ 7.21</a:t>
            </a:r>
            <a:endParaRPr lang="en-US" sz="1350" dirty="0"/>
          </a:p>
        </p:txBody>
      </p:sp>
      <p:sp>
        <p:nvSpPr>
          <p:cNvPr id="68" name="Text 66"/>
          <p:cNvSpPr/>
          <p:nvPr/>
        </p:nvSpPr>
        <p:spPr>
          <a:xfrm>
            <a:off x="8359445" y="3959352"/>
            <a:ext cx="1966874" cy="237744"/>
          </a:xfrm>
          <a:prstGeom prst="rect">
            <a:avLst/>
          </a:prstGeom>
          <a:noFill/>
          <a:ln/>
        </p:spPr>
        <p:txBody>
          <a:bodyPr wrap="square" lIns="0" tIns="0" rIns="0" bIns="0" rtlCol="0" anchor="ctr"/>
          <a:lstStyle/>
          <a:p>
            <a:pPr indent="0" marL="0">
              <a:buNone/>
            </a:pPr>
            <a:r>
              <a:rPr lang="en-US" sz="950" dirty="0">
                <a:solidFill>
                  <a:srgbClr val="6F665F"/>
                </a:solidFill>
                <a:latin typeface="Meiryo" pitchFamily="34" charset="0"/>
                <a:ea typeface="Meiryo" pitchFamily="34" charset="-122"/>
                <a:cs typeface="Meiryo" pitchFamily="34" charset="-120"/>
              </a:rPr>
              <a:t>手取り</a:t>
            </a:r>
            <a:endParaRPr lang="en-US" sz="950" dirty="0"/>
          </a:p>
        </p:txBody>
      </p:sp>
      <p:sp>
        <p:nvSpPr>
          <p:cNvPr id="69" name="Text 67"/>
          <p:cNvSpPr/>
          <p:nvPr/>
        </p:nvSpPr>
        <p:spPr>
          <a:xfrm>
            <a:off x="10051999" y="3959352"/>
            <a:ext cx="1225296" cy="237744"/>
          </a:xfrm>
          <a:prstGeom prst="rect">
            <a:avLst/>
          </a:prstGeom>
          <a:noFill/>
          <a:ln/>
        </p:spPr>
        <p:txBody>
          <a:bodyPr wrap="square" lIns="0" tIns="0" rIns="0" bIns="0" rtlCol="0" anchor="ctr"/>
          <a:lstStyle/>
          <a:p>
            <a:pPr algn="r" indent="0" marL="0">
              <a:buNone/>
            </a:pPr>
            <a:r>
              <a:rPr lang="en-US" sz="1350" b="1" dirty="0">
                <a:solidFill>
                  <a:srgbClr val="2B2622"/>
                </a:solidFill>
                <a:latin typeface="Meiryo" pitchFamily="34" charset="0"/>
                <a:ea typeface="Meiryo" pitchFamily="34" charset="-122"/>
                <a:cs typeface="Meiryo" pitchFamily="34" charset="-120"/>
              </a:rPr>
              <a:t>75.30</a:t>
            </a:r>
            <a:endParaRPr lang="en-US" sz="1350" dirty="0"/>
          </a:p>
        </p:txBody>
      </p:sp>
      <p:sp>
        <p:nvSpPr>
          <p:cNvPr id="70" name="Text 68"/>
          <p:cNvSpPr/>
          <p:nvPr/>
        </p:nvSpPr>
        <p:spPr>
          <a:xfrm>
            <a:off x="8359445" y="4247388"/>
            <a:ext cx="1966874" cy="237744"/>
          </a:xfrm>
          <a:prstGeom prst="rect">
            <a:avLst/>
          </a:prstGeom>
          <a:noFill/>
          <a:ln/>
        </p:spPr>
        <p:txBody>
          <a:bodyPr wrap="square" lIns="0" tIns="0" rIns="0" bIns="0" rtlCol="0" anchor="ctr"/>
          <a:lstStyle/>
          <a:p>
            <a:pPr indent="0" marL="0">
              <a:buNone/>
            </a:pPr>
            <a:r>
              <a:rPr lang="en-US" sz="950" dirty="0">
                <a:solidFill>
                  <a:srgbClr val="6F665F"/>
                </a:solidFill>
                <a:latin typeface="Meiryo" pitchFamily="34" charset="0"/>
                <a:ea typeface="Meiryo" pitchFamily="34" charset="-122"/>
                <a:cs typeface="Meiryo" pitchFamily="34" charset="-120"/>
              </a:rPr>
              <a:t>単位粗利</a:t>
            </a:r>
            <a:endParaRPr lang="en-US" sz="950" dirty="0"/>
          </a:p>
        </p:txBody>
      </p:sp>
      <p:sp>
        <p:nvSpPr>
          <p:cNvPr id="71" name="Text 69"/>
          <p:cNvSpPr/>
          <p:nvPr/>
        </p:nvSpPr>
        <p:spPr>
          <a:xfrm>
            <a:off x="10051999" y="4247388"/>
            <a:ext cx="1225296" cy="237744"/>
          </a:xfrm>
          <a:prstGeom prst="rect">
            <a:avLst/>
          </a:prstGeom>
          <a:noFill/>
          <a:ln/>
        </p:spPr>
        <p:txBody>
          <a:bodyPr wrap="square" lIns="0" tIns="0" rIns="0" bIns="0" rtlCol="0" anchor="ctr"/>
          <a:lstStyle/>
          <a:p>
            <a:pPr algn="r" indent="0" marL="0">
              <a:buNone/>
            </a:pPr>
            <a:r>
              <a:rPr lang="en-US" sz="1350" b="1" dirty="0">
                <a:solidFill>
                  <a:srgbClr val="2B2622"/>
                </a:solidFill>
                <a:latin typeface="Meiryo" pitchFamily="34" charset="0"/>
                <a:ea typeface="Meiryo" pitchFamily="34" charset="-122"/>
                <a:cs typeface="Meiryo" pitchFamily="34" charset="-120"/>
              </a:rPr>
              <a:t>18.67</a:t>
            </a:r>
            <a:endParaRPr lang="en-US" sz="1350" dirty="0"/>
          </a:p>
        </p:txBody>
      </p:sp>
      <p:sp>
        <p:nvSpPr>
          <p:cNvPr id="72" name="Text 70"/>
          <p:cNvSpPr/>
          <p:nvPr/>
        </p:nvSpPr>
        <p:spPr>
          <a:xfrm>
            <a:off x="8359445" y="4535424"/>
            <a:ext cx="1966874" cy="237744"/>
          </a:xfrm>
          <a:prstGeom prst="rect">
            <a:avLst/>
          </a:prstGeom>
          <a:noFill/>
          <a:ln/>
        </p:spPr>
        <p:txBody>
          <a:bodyPr wrap="square" lIns="0" tIns="0" rIns="0" bIns="0" rtlCol="0" anchor="ctr"/>
          <a:lstStyle/>
          <a:p>
            <a:pPr indent="0" marL="0">
              <a:buNone/>
            </a:pPr>
            <a:r>
              <a:rPr lang="en-US" sz="950" dirty="0">
                <a:solidFill>
                  <a:srgbClr val="6F665F"/>
                </a:solidFill>
                <a:latin typeface="Meiryo" pitchFamily="34" charset="0"/>
                <a:ea typeface="Meiryo" pitchFamily="34" charset="-122"/>
                <a:cs typeface="Meiryo" pitchFamily="34" charset="-120"/>
              </a:rPr>
              <a:t>粗利率（売上比）</a:t>
            </a:r>
            <a:endParaRPr lang="en-US" sz="950" dirty="0"/>
          </a:p>
        </p:txBody>
      </p:sp>
      <p:sp>
        <p:nvSpPr>
          <p:cNvPr id="73" name="Text 71"/>
          <p:cNvSpPr/>
          <p:nvPr/>
        </p:nvSpPr>
        <p:spPr>
          <a:xfrm>
            <a:off x="10051999" y="4535424"/>
            <a:ext cx="1225296" cy="237744"/>
          </a:xfrm>
          <a:prstGeom prst="rect">
            <a:avLst/>
          </a:prstGeom>
          <a:noFill/>
          <a:ln/>
        </p:spPr>
        <p:txBody>
          <a:bodyPr wrap="square" lIns="0" tIns="0" rIns="0" bIns="0" rtlCol="0" anchor="ctr"/>
          <a:lstStyle/>
          <a:p>
            <a:pPr algn="r" indent="0" marL="0">
              <a:buNone/>
            </a:pPr>
            <a:r>
              <a:rPr lang="en-US" sz="1250" b="1" dirty="0">
                <a:solidFill>
                  <a:srgbClr val="2B2622"/>
                </a:solidFill>
                <a:latin typeface="Meiryo" pitchFamily="34" charset="0"/>
                <a:ea typeface="Meiryo" pitchFamily="34" charset="-122"/>
                <a:cs typeface="Meiryo" pitchFamily="34" charset="-120"/>
              </a:rPr>
              <a:t>22.6%</a:t>
            </a:r>
            <a:endParaRPr lang="en-US" sz="1250" dirty="0"/>
          </a:p>
        </p:txBody>
      </p:sp>
      <p:sp>
        <p:nvSpPr>
          <p:cNvPr id="74" name="Text 72"/>
          <p:cNvSpPr/>
          <p:nvPr/>
        </p:nvSpPr>
        <p:spPr>
          <a:xfrm>
            <a:off x="8359445" y="4823460"/>
            <a:ext cx="1966874" cy="237744"/>
          </a:xfrm>
          <a:prstGeom prst="rect">
            <a:avLst/>
          </a:prstGeom>
          <a:noFill/>
          <a:ln/>
        </p:spPr>
        <p:txBody>
          <a:bodyPr wrap="square" lIns="0" tIns="0" rIns="0" bIns="0" rtlCol="0" anchor="ctr"/>
          <a:lstStyle/>
          <a:p>
            <a:pPr indent="0" marL="0">
              <a:buNone/>
            </a:pPr>
            <a:r>
              <a:rPr lang="en-US" sz="950" dirty="0">
                <a:solidFill>
                  <a:srgbClr val="6F665F"/>
                </a:solidFill>
                <a:latin typeface="Meiryo" pitchFamily="34" charset="0"/>
                <a:ea typeface="Meiryo" pitchFamily="34" charset="-122"/>
                <a:cs typeface="Meiryo" pitchFamily="34" charset="-120"/>
              </a:rPr>
              <a:t>投下簿価利益率</a:t>
            </a:r>
            <a:endParaRPr lang="en-US" sz="950" dirty="0"/>
          </a:p>
        </p:txBody>
      </p:sp>
      <p:sp>
        <p:nvSpPr>
          <p:cNvPr id="75" name="Text 73"/>
          <p:cNvSpPr/>
          <p:nvPr/>
        </p:nvSpPr>
        <p:spPr>
          <a:xfrm>
            <a:off x="10051999" y="4823460"/>
            <a:ext cx="1225296" cy="237744"/>
          </a:xfrm>
          <a:prstGeom prst="rect">
            <a:avLst/>
          </a:prstGeom>
          <a:noFill/>
          <a:ln/>
        </p:spPr>
        <p:txBody>
          <a:bodyPr wrap="square" lIns="0" tIns="0" rIns="0" bIns="0" rtlCol="0" anchor="ctr"/>
          <a:lstStyle/>
          <a:p>
            <a:pPr algn="r" indent="0" marL="0">
              <a:buNone/>
            </a:pPr>
            <a:r>
              <a:rPr lang="en-US" sz="1250" b="1" dirty="0">
                <a:solidFill>
                  <a:srgbClr val="2B2622"/>
                </a:solidFill>
                <a:latin typeface="Meiryo" pitchFamily="34" charset="0"/>
                <a:ea typeface="Meiryo" pitchFamily="34" charset="-122"/>
                <a:cs typeface="Meiryo" pitchFamily="34" charset="-120"/>
              </a:rPr>
              <a:t>33.0%</a:t>
            </a:r>
            <a:endParaRPr lang="en-US" sz="1250" dirty="0"/>
          </a:p>
        </p:txBody>
      </p:sp>
      <p:sp>
        <p:nvSpPr>
          <p:cNvPr id="76" name="Text 74"/>
          <p:cNvSpPr/>
          <p:nvPr/>
        </p:nvSpPr>
        <p:spPr>
          <a:xfrm>
            <a:off x="8359445" y="5084064"/>
            <a:ext cx="2917850" cy="365760"/>
          </a:xfrm>
          <a:prstGeom prst="rect">
            <a:avLst/>
          </a:prstGeom>
          <a:noFill/>
          <a:ln/>
        </p:spPr>
        <p:txBody>
          <a:bodyPr wrap="square" lIns="0" tIns="0" rIns="0" bIns="0" rtlCol="0" anchor="ctr"/>
          <a:lstStyle/>
          <a:p>
            <a:pPr indent="0" marL="0">
              <a:lnSpc>
                <a:spcPct val="120000"/>
              </a:lnSpc>
              <a:buNone/>
            </a:pPr>
            <a:r>
              <a:rPr lang="en-US" sz="900" dirty="0">
                <a:solidFill>
                  <a:srgbClr val="9A8F84"/>
                </a:solidFill>
                <a:latin typeface="Meiryo" pitchFamily="34" charset="0"/>
                <a:ea typeface="Meiryo" pitchFamily="34" charset="-122"/>
                <a:cs typeface="Meiryo" pitchFamily="34" charset="-120"/>
              </a:rPr>
              <a:t>ワイン価格の年間上昇率 年10%（会社資料水準）</a:t>
            </a:r>
            <a:endParaRPr lang="en-US" sz="900" dirty="0"/>
          </a:p>
        </p:txBody>
      </p:sp>
      <p:sp>
        <p:nvSpPr>
          <p:cNvPr id="77" name="Text 75"/>
          <p:cNvSpPr/>
          <p:nvPr/>
        </p:nvSpPr>
        <p:spPr>
          <a:xfrm>
            <a:off x="658368" y="5687568"/>
            <a:ext cx="10874959" cy="365760"/>
          </a:xfrm>
          <a:prstGeom prst="rect">
            <a:avLst/>
          </a:prstGeom>
          <a:noFill/>
          <a:ln/>
        </p:spPr>
        <p:txBody>
          <a:bodyPr wrap="square" lIns="0" tIns="0" rIns="0" bIns="0" rtlCol="0" anchor="ctr"/>
          <a:lstStyle/>
          <a:p>
            <a:pPr indent="0" marL="0">
              <a:lnSpc>
                <a:spcPct val="120000"/>
              </a:lnSpc>
              <a:buNone/>
            </a:pPr>
            <a:r>
              <a:rPr lang="en-US" sz="850" dirty="0">
                <a:solidFill>
                  <a:srgbClr val="9A8F84"/>
                </a:solidFill>
                <a:latin typeface="Meiryo" pitchFamily="34" charset="0"/>
                <a:ea typeface="Meiryo" pitchFamily="34" charset="-122"/>
                <a:cs typeface="Meiryo" pitchFamily="34" charset="-120"/>
              </a:rPr>
              <a:t>※ 市中仕入原価・時価・SPC簿価は3案とも同じである。卸値が時価に連動して決まるため、仕入が安くなっても高くなっても、また売値が上下しても、SPCの簿価と時価の関係は変わらない。SPCの粗利を左右するのは保有中の値上がりのみとなり、年6%の主線で単位粗利15.93・投下簿価利益率28.1%となる。</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484632"/>
            <a:ext cx="109728" cy="109728"/>
          </a:xfrm>
          <a:prstGeom prst="ellipse">
            <a:avLst/>
          </a:prstGeom>
          <a:solidFill>
            <a:srgbClr val="A78450"/>
          </a:solidFill>
          <a:ln w="12700">
            <a:solidFill>
              <a:srgbClr val="A78450"/>
            </a:solidFill>
            <a:prstDash val="solid"/>
          </a:ln>
        </p:spPr>
      </p:sp>
      <p:sp>
        <p:nvSpPr>
          <p:cNvPr id="3" name="Text 1"/>
          <p:cNvSpPr/>
          <p:nvPr/>
        </p:nvSpPr>
        <p:spPr>
          <a:xfrm>
            <a:off x="923544" y="365760"/>
            <a:ext cx="9601200" cy="329184"/>
          </a:xfrm>
          <a:prstGeom prst="rect">
            <a:avLst/>
          </a:prstGeom>
          <a:noFill/>
          <a:ln/>
        </p:spPr>
        <p:txBody>
          <a:bodyPr wrap="square" lIns="0" tIns="0" rIns="0" bIns="0" rtlCol="0" anchor="ctr"/>
          <a:lstStyle/>
          <a:p>
            <a:pPr indent="0" marL="0">
              <a:buNone/>
            </a:pPr>
            <a:r>
              <a:rPr lang="en-US" sz="1200" b="1" spc="240" kern="0" dirty="0">
                <a:solidFill>
                  <a:srgbClr val="A78450"/>
                </a:solidFill>
                <a:latin typeface="Meiryo" pitchFamily="34" charset="0"/>
                <a:ea typeface="Meiryo" pitchFamily="34" charset="-122"/>
                <a:cs typeface="Meiryo" pitchFamily="34" charset="-120"/>
              </a:rPr>
              <a:t>COST ASSUMPTIONS</a:t>
            </a:r>
            <a:endParaRPr lang="en-US" sz="1200" dirty="0"/>
          </a:p>
        </p:txBody>
      </p:sp>
      <p:sp>
        <p:nvSpPr>
          <p:cNvPr id="4" name="Text 2"/>
          <p:cNvSpPr/>
          <p:nvPr/>
        </p:nvSpPr>
        <p:spPr>
          <a:xfrm>
            <a:off x="658368" y="731520"/>
            <a:ext cx="10874959" cy="566928"/>
          </a:xfrm>
          <a:prstGeom prst="rect">
            <a:avLst/>
          </a:prstGeom>
          <a:noFill/>
          <a:ln/>
        </p:spPr>
        <p:txBody>
          <a:bodyPr wrap="square" lIns="0" tIns="0" rIns="0" bIns="0" rtlCol="0" anchor="ctr"/>
          <a:lstStyle/>
          <a:p>
            <a:pPr indent="0" marL="0">
              <a:buNone/>
            </a:pPr>
            <a:r>
              <a:rPr lang="en-US" sz="2600" b="1" dirty="0">
                <a:solidFill>
                  <a:srgbClr val="2B2622"/>
                </a:solidFill>
                <a:latin typeface="Meiryo" pitchFamily="34" charset="0"/>
                <a:ea typeface="Meiryo" pitchFamily="34" charset="-122"/>
                <a:cs typeface="Meiryo" pitchFamily="34" charset="-120"/>
              </a:rPr>
              <a:t>SPC費用の前提</a:t>
            </a:r>
            <a:endParaRPr lang="en-US" sz="2600" dirty="0"/>
          </a:p>
        </p:txBody>
      </p:sp>
      <p:sp>
        <p:nvSpPr>
          <p:cNvPr id="5" name="Text 3"/>
          <p:cNvSpPr/>
          <p:nvPr/>
        </p:nvSpPr>
        <p:spPr>
          <a:xfrm>
            <a:off x="658368" y="1261872"/>
            <a:ext cx="10874959" cy="310896"/>
          </a:xfrm>
          <a:prstGeom prst="rect">
            <a:avLst/>
          </a:prstGeom>
          <a:noFill/>
          <a:ln/>
        </p:spPr>
        <p:txBody>
          <a:bodyPr wrap="square" lIns="0" tIns="0" rIns="0" bIns="0" rtlCol="0" anchor="ctr"/>
          <a:lstStyle/>
          <a:p>
            <a:pPr indent="0" marL="0">
              <a:buNone/>
            </a:pPr>
            <a:r>
              <a:rPr lang="en-US" sz="1150" dirty="0">
                <a:solidFill>
                  <a:srgbClr val="6F665F"/>
                </a:solidFill>
                <a:latin typeface="Meiryo" pitchFamily="34" charset="0"/>
                <a:ea typeface="Meiryo" pitchFamily="34" charset="-122"/>
                <a:cs typeface="Meiryo" pitchFamily="34" charset="-120"/>
              </a:rPr>
              <a:t>共通費用とチャネル別の変動販売費に分けて計上。監査・法務まで含め、利回りを作るための圧縮は行っていない。</a:t>
            </a:r>
            <a:endParaRPr lang="en-US" sz="1150" dirty="0"/>
          </a:p>
        </p:txBody>
      </p:sp>
      <p:sp>
        <p:nvSpPr>
          <p:cNvPr id="6" name="Text 4"/>
          <p:cNvSpPr/>
          <p:nvPr/>
        </p:nvSpPr>
        <p:spPr>
          <a:xfrm>
            <a:off x="658368" y="6446520"/>
            <a:ext cx="5486400" cy="256032"/>
          </a:xfrm>
          <a:prstGeom prst="rect">
            <a:avLst/>
          </a:prstGeom>
          <a:noFill/>
          <a:ln/>
        </p:spPr>
        <p:txBody>
          <a:bodyPr wrap="square" lIns="0" tIns="0" rIns="0" bIns="0" rtlCol="0" anchor="ctr"/>
          <a:lstStyle/>
          <a:p>
            <a:pPr indent="0" marL="0">
              <a:buNone/>
            </a:pPr>
            <a:r>
              <a:rPr lang="en-US" sz="900" dirty="0">
                <a:solidFill>
                  <a:srgbClr val="9A8F84"/>
                </a:solidFill>
                <a:latin typeface="Meiryo" pitchFamily="34" charset="0"/>
                <a:ea typeface="Meiryo" pitchFamily="34" charset="-122"/>
                <a:cs typeface="Meiryo" pitchFamily="34" charset="-120"/>
              </a:rPr>
              <a:t>Confidential</a:t>
            </a:r>
            <a:endParaRPr lang="en-US" sz="900" dirty="0"/>
          </a:p>
        </p:txBody>
      </p:sp>
      <p:sp>
        <p:nvSpPr>
          <p:cNvPr id="7" name="Text 5"/>
          <p:cNvSpPr/>
          <p:nvPr/>
        </p:nvSpPr>
        <p:spPr>
          <a:xfrm>
            <a:off x="10984687" y="6446520"/>
            <a:ext cx="548640" cy="256032"/>
          </a:xfrm>
          <a:prstGeom prst="rect">
            <a:avLst/>
          </a:prstGeom>
          <a:noFill/>
          <a:ln/>
        </p:spPr>
        <p:txBody>
          <a:bodyPr wrap="square" lIns="0" tIns="0" rIns="0" bIns="0" rtlCol="0" anchor="ctr"/>
          <a:lstStyle/>
          <a:p>
            <a:pPr algn="r" indent="0" marL="0">
              <a:buNone/>
            </a:pPr>
            <a:r>
              <a:rPr lang="en-US" sz="900" dirty="0">
                <a:solidFill>
                  <a:srgbClr val="9A8F84"/>
                </a:solidFill>
                <a:latin typeface="Meiryo" pitchFamily="34" charset="0"/>
                <a:ea typeface="Meiryo" pitchFamily="34" charset="-122"/>
                <a:cs typeface="Meiryo" pitchFamily="34" charset="-120"/>
              </a:rPr>
              <a:t>10</a:t>
            </a:r>
            <a:endParaRPr lang="en-US" sz="900" dirty="0"/>
          </a:p>
        </p:txBody>
      </p:sp>
      <p:sp>
        <p:nvSpPr>
          <p:cNvPr id="8" name="Text 6"/>
          <p:cNvSpPr/>
          <p:nvPr/>
        </p:nvSpPr>
        <p:spPr>
          <a:xfrm>
            <a:off x="658368" y="1627632"/>
            <a:ext cx="2743200" cy="219456"/>
          </a:xfrm>
          <a:prstGeom prst="rect">
            <a:avLst/>
          </a:prstGeom>
          <a:noFill/>
          <a:ln/>
        </p:spPr>
        <p:txBody>
          <a:bodyPr wrap="square" lIns="0" tIns="0" rIns="0" bIns="0" rtlCol="0" anchor="ctr"/>
          <a:lstStyle/>
          <a:p>
            <a:pPr indent="0" marL="0">
              <a:buNone/>
            </a:pPr>
            <a:r>
              <a:rPr lang="en-US" sz="1100" b="1" dirty="0">
                <a:solidFill>
                  <a:srgbClr val="8C6A3A"/>
                </a:solidFill>
                <a:latin typeface="Meiryo" pitchFamily="34" charset="0"/>
                <a:ea typeface="Meiryo" pitchFamily="34" charset="-122"/>
                <a:cs typeface="Meiryo" pitchFamily="34" charset="-120"/>
              </a:rPr>
              <a:t>共通費用</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58368" y="1792224"/>
          <a:ext cx="10874959" cy="914400"/>
        </p:xfrm>
        <a:graphic>
          <a:graphicData uri="http://schemas.openxmlformats.org/drawingml/2006/table">
            <a:tbl>
              <a:tblPr/>
              <a:tblGrid>
                <a:gridCol w="2331720"/>
                <a:gridCol w="1965960"/>
                <a:gridCol w="6574536"/>
              </a:tblGrid>
              <a:tr h="278892">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費用項目</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2B2622"/>
                    </a:solidFill>
                  </a:tcPr>
                </a:tc>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単価・料率</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2B2622"/>
                    </a:solidFill>
                  </a:tcPr>
                </a:tc>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根拠・備考</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2B2622"/>
                    </a:solidFill>
                  </a:tcPr>
                </a:tc>
              </a:tr>
              <a:tr h="278892">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保管（定温倉庫）</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年7,500円／ロット</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B2622"/>
                          </a:solidFill>
                          <a:latin typeface="Meiryo" pitchFamily="34" charset="0"/>
                          <a:ea typeface="Meiryo" pitchFamily="34" charset="-122"/>
                          <a:cs typeface="Meiryo" pitchFamily="34" charset="-120"/>
                        </a:rPr>
                        <a:t>1ロット＝定価100万円相当（約40本）。月約16円／本で業務用パレット定温保管の一般水準</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r>
              <a:tr h="278892">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動産総合保険</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平均在庫簿価の年0.15%</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B2622"/>
                          </a:solidFill>
                          <a:latin typeface="Meiryo" pitchFamily="34" charset="0"/>
                          <a:ea typeface="Meiryo" pitchFamily="34" charset="-122"/>
                          <a:cs typeface="Meiryo" pitchFamily="34" charset="-120"/>
                        </a:rPr>
                        <a:t>火災・破損・盗難・輸送中事故を全量付保。滞留・破損ロスは保険でカバーするため別途計上しない</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r>
              <a:tr h="278892">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入庫・検品</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320円／ロット</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B2622"/>
                          </a:solidFill>
                          <a:latin typeface="Meiryo" pitchFamily="34" charset="0"/>
                          <a:ea typeface="Meiryo" pitchFamily="34" charset="-122"/>
                          <a:cs typeface="Meiryo" pitchFamily="34" charset="-120"/>
                        </a:rPr>
                        <a:t>入庫時の検品・棚入れ。出庫費用はチャネル別の変動販売費に含む</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r>
              <a:tr h="278892">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SPC維持費</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年200万円（固定）</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B2622"/>
                          </a:solidFill>
                          <a:latin typeface="Meiryo" pitchFamily="34" charset="0"/>
                          <a:ea typeface="Meiryo" pitchFamily="34" charset="-122"/>
                          <a:cs typeface="Meiryo" pitchFamily="34" charset="-120"/>
                        </a:rPr>
                        <a:t>税務・事務受託・法務</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r>
              <a:tr h="278892">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管理報酬</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8C6A3A"/>
                          </a:solidFill>
                          <a:latin typeface="Meiryo" pitchFamily="34" charset="0"/>
                          <a:ea typeface="Meiryo" pitchFamily="34" charset="-122"/>
                          <a:cs typeface="Meiryo" pitchFamily="34" charset="-120"/>
                        </a:rPr>
                        <a:t>総額の年2%</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l" indent="0" marL="0">
                        <a:buNone/>
                      </a:pPr>
                      <a:r>
                        <a:rPr lang="en-US" sz="1000" dirty="0">
                          <a:solidFill>
                            <a:srgbClr val="8C6A3A"/>
                          </a:solidFill>
                          <a:latin typeface="Meiryo" pitchFamily="34" charset="0"/>
                          <a:ea typeface="Meiryo" pitchFamily="34" charset="-122"/>
                          <a:cs typeface="Meiryo" pitchFamily="34" charset="-120"/>
                        </a:rPr>
                        <a:t>1stクローズで年1,000万円、2ndクローズで年2,000万円。売却時にWineBankが取るのはこれのみ</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r>
              <a:tr h="278892">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AUP（合意された手続）</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年150万円（固定）</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B2622"/>
                          </a:solidFill>
                          <a:latin typeface="Meiryo" pitchFamily="34" charset="0"/>
                          <a:ea typeface="Meiryo" pitchFamily="34" charset="-122"/>
                          <a:cs typeface="Meiryo" pitchFamily="34" charset="-120"/>
                        </a:rPr>
                        <a:t>取得価格・在庫配分の検証に加え、銀行残高確認・関連当事者取引の確認・期末棚卸立会を含む</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r>
              <a:tr h="278892">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予備費</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年50万円（固定）</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B2622"/>
                          </a:solidFill>
                          <a:latin typeface="Meiryo" pitchFamily="34" charset="0"/>
                          <a:ea typeface="Meiryo" pitchFamily="34" charset="-122"/>
                          <a:cs typeface="Meiryo" pitchFamily="34" charset="-120"/>
                        </a:rPr>
                        <a:t>想定外の実費に充当。未使用分はSPCの利益に残る</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r>
              <a:tr h="278892">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WineBankの値入れ</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SPC費用ではない</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B2622"/>
                          </a:solidFill>
                          <a:latin typeface="Meiryo" pitchFamily="34" charset="0"/>
                          <a:ea typeface="Meiryo" pitchFamily="34" charset="-122"/>
                          <a:cs typeface="Meiryo" pitchFamily="34" charset="-120"/>
                        </a:rPr>
                        <a:t>卸値（時価−α）に含まれ、SPCの簿価を構成する。費用として別途計上しない</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r>
            </a:tbl>
          </a:graphicData>
        </a:graphic>
      </p:graphicFrame>
      <p:sp>
        <p:nvSpPr>
          <p:cNvPr id="10" name="Text 7"/>
          <p:cNvSpPr/>
          <p:nvPr/>
        </p:nvSpPr>
        <p:spPr>
          <a:xfrm>
            <a:off x="658368" y="4334256"/>
            <a:ext cx="4572000" cy="219456"/>
          </a:xfrm>
          <a:prstGeom prst="rect">
            <a:avLst/>
          </a:prstGeom>
          <a:noFill/>
          <a:ln/>
        </p:spPr>
        <p:txBody>
          <a:bodyPr wrap="square" lIns="0" tIns="0" rIns="0" bIns="0" rtlCol="0" anchor="ctr"/>
          <a:lstStyle/>
          <a:p>
            <a:pPr indent="0" marL="0">
              <a:buNone/>
            </a:pPr>
            <a:r>
              <a:rPr lang="en-US" sz="1100" b="1" dirty="0">
                <a:solidFill>
                  <a:srgbClr val="8C6A3A"/>
                </a:solidFill>
                <a:latin typeface="Meiryo" pitchFamily="34" charset="0"/>
                <a:ea typeface="Meiryo" pitchFamily="34" charset="-122"/>
                <a:cs typeface="Meiryo" pitchFamily="34" charset="-120"/>
              </a:rPr>
              <a:t>チャネル別 変動販売費（売上比）</a:t>
            </a:r>
            <a:endParaRPr lang="en-US" sz="1100" dirty="0"/>
          </a:p>
        </p:txBody>
      </p:sp>
      <p:sp>
        <p:nvSpPr>
          <p:cNvPr id="11" name="Shape 8"/>
          <p:cNvSpPr/>
          <p:nvPr/>
        </p:nvSpPr>
        <p:spPr>
          <a:xfrm>
            <a:off x="658368" y="4572000"/>
            <a:ext cx="3442106" cy="1097280"/>
          </a:xfrm>
          <a:prstGeom prst="roundRect">
            <a:avLst>
              <a:gd name="adj" fmla="val 6667"/>
            </a:avLst>
          </a:prstGeom>
          <a:solidFill>
            <a:srgbClr val="F5EFE4"/>
          </a:solidFill>
          <a:ln w="9525">
            <a:solidFill>
              <a:srgbClr val="E6DCCB"/>
            </a:solidFill>
            <a:prstDash val="solid"/>
          </a:ln>
          <a:effectLst>
            <a:outerShdw sx="100000" sy="100000" kx="0" ky="0" algn="bl" rotWithShape="0" blurRad="76200" dist="25400" dir="5400000">
              <a:srgbClr val="6F665F">
                <a:alpha val="18000"/>
              </a:srgbClr>
            </a:outerShdw>
          </a:effectLst>
        </p:spPr>
      </p:sp>
      <p:sp>
        <p:nvSpPr>
          <p:cNvPr id="12" name="Text 9"/>
          <p:cNvSpPr/>
          <p:nvPr/>
        </p:nvSpPr>
        <p:spPr>
          <a:xfrm>
            <a:off x="896112" y="4700016"/>
            <a:ext cx="2070506" cy="237744"/>
          </a:xfrm>
          <a:prstGeom prst="rect">
            <a:avLst/>
          </a:prstGeom>
          <a:noFill/>
          <a:ln/>
        </p:spPr>
        <p:txBody>
          <a:bodyPr wrap="square" lIns="0" tIns="0" rIns="0" bIns="0" rtlCol="0" anchor="ctr"/>
          <a:lstStyle/>
          <a:p>
            <a:pPr indent="0" marL="0">
              <a:buNone/>
            </a:pPr>
            <a:r>
              <a:rPr lang="en-US" sz="1100" b="1" dirty="0">
                <a:solidFill>
                  <a:srgbClr val="2B2622"/>
                </a:solidFill>
                <a:latin typeface="Meiryo" pitchFamily="34" charset="0"/>
                <a:ea typeface="Meiryo" pitchFamily="34" charset="-122"/>
                <a:cs typeface="Meiryo" pitchFamily="34" charset="-120"/>
              </a:rPr>
              <a:t>B2B｜酒販店卸</a:t>
            </a:r>
            <a:endParaRPr lang="en-US" sz="1100" dirty="0"/>
          </a:p>
        </p:txBody>
      </p:sp>
      <p:sp>
        <p:nvSpPr>
          <p:cNvPr id="13" name="Text 10"/>
          <p:cNvSpPr/>
          <p:nvPr/>
        </p:nvSpPr>
        <p:spPr>
          <a:xfrm>
            <a:off x="2783738" y="4663440"/>
            <a:ext cx="1078992" cy="310896"/>
          </a:xfrm>
          <a:prstGeom prst="rect">
            <a:avLst/>
          </a:prstGeom>
          <a:noFill/>
          <a:ln/>
        </p:spPr>
        <p:txBody>
          <a:bodyPr wrap="square" lIns="0" tIns="0" rIns="0" bIns="0" rtlCol="0" anchor="ctr"/>
          <a:lstStyle/>
          <a:p>
            <a:pPr algn="r" indent="0" marL="0">
              <a:buNone/>
            </a:pPr>
            <a:r>
              <a:rPr lang="en-US" sz="2100" b="1" dirty="0">
                <a:solidFill>
                  <a:srgbClr val="8C6A3A"/>
                </a:solidFill>
                <a:latin typeface="Meiryo" pitchFamily="34" charset="0"/>
                <a:ea typeface="Meiryo" pitchFamily="34" charset="-122"/>
                <a:cs typeface="Meiryo" pitchFamily="34" charset="-120"/>
              </a:rPr>
              <a:t>1.0</a:t>
            </a:r>
            <a:pPr algn="r" indent="0" marL="0">
              <a:buNone/>
            </a:pPr>
            <a:r>
              <a:rPr lang="en-US" sz="1100" b="1" dirty="0">
                <a:solidFill>
                  <a:srgbClr val="8C6A3A"/>
                </a:solidFill>
                <a:latin typeface="Meiryo" pitchFamily="34" charset="0"/>
                <a:ea typeface="Meiryo" pitchFamily="34" charset="-122"/>
                <a:cs typeface="Meiryo" pitchFamily="34" charset="-120"/>
              </a:rPr>
              <a:t> %</a:t>
            </a:r>
            <a:endParaRPr lang="en-US" sz="2100" dirty="0"/>
          </a:p>
        </p:txBody>
      </p:sp>
      <p:sp>
        <p:nvSpPr>
          <p:cNvPr id="14" name="Text 11"/>
          <p:cNvSpPr/>
          <p:nvPr/>
        </p:nvSpPr>
        <p:spPr>
          <a:xfrm>
            <a:off x="896112" y="4992624"/>
            <a:ext cx="2966618" cy="566928"/>
          </a:xfrm>
          <a:prstGeom prst="rect">
            <a:avLst/>
          </a:prstGeom>
          <a:noFill/>
          <a:ln/>
        </p:spPr>
        <p:txBody>
          <a:bodyPr wrap="square" lIns="0" tIns="0" rIns="0" bIns="0" rtlCol="0" anchor="ctr"/>
          <a:lstStyle/>
          <a:p>
            <a:pPr indent="0" marL="0">
              <a:lnSpc>
                <a:spcPct val="120000"/>
              </a:lnSpc>
              <a:buNone/>
            </a:pPr>
            <a:r>
              <a:rPr lang="en-US" sz="900" dirty="0">
                <a:solidFill>
                  <a:srgbClr val="6F665F"/>
                </a:solidFill>
                <a:latin typeface="Meiryo" pitchFamily="34" charset="0"/>
                <a:ea typeface="Meiryo" pitchFamily="34" charset="-122"/>
                <a:cs typeface="Meiryo" pitchFamily="34" charset="-120"/>
              </a:rPr>
              <a:t>出庫・配送 0.6%　／　決済・与信（貸倒引当）0.4%</a:t>
            </a:r>
            <a:endParaRPr lang="en-US" sz="900" dirty="0"/>
          </a:p>
        </p:txBody>
      </p:sp>
      <p:sp>
        <p:nvSpPr>
          <p:cNvPr id="15" name="Shape 12"/>
          <p:cNvSpPr/>
          <p:nvPr/>
        </p:nvSpPr>
        <p:spPr>
          <a:xfrm>
            <a:off x="4374794" y="4572000"/>
            <a:ext cx="3442106" cy="1097280"/>
          </a:xfrm>
          <a:prstGeom prst="roundRect">
            <a:avLst>
              <a:gd name="adj" fmla="val 6667"/>
            </a:avLst>
          </a:prstGeom>
          <a:solidFill>
            <a:srgbClr val="F5EFE4"/>
          </a:solidFill>
          <a:ln w="9525">
            <a:solidFill>
              <a:srgbClr val="E6DCCB"/>
            </a:solidFill>
            <a:prstDash val="solid"/>
          </a:ln>
          <a:effectLst>
            <a:outerShdw sx="100000" sy="100000" kx="0" ky="0" algn="bl" rotWithShape="0" blurRad="76200" dist="25400" dir="5400000">
              <a:srgbClr val="6F665F">
                <a:alpha val="18000"/>
              </a:srgbClr>
            </a:outerShdw>
          </a:effectLst>
        </p:spPr>
      </p:sp>
      <p:sp>
        <p:nvSpPr>
          <p:cNvPr id="16" name="Text 13"/>
          <p:cNvSpPr/>
          <p:nvPr/>
        </p:nvSpPr>
        <p:spPr>
          <a:xfrm>
            <a:off x="4612538" y="4700016"/>
            <a:ext cx="2070506" cy="237744"/>
          </a:xfrm>
          <a:prstGeom prst="rect">
            <a:avLst/>
          </a:prstGeom>
          <a:noFill/>
          <a:ln/>
        </p:spPr>
        <p:txBody>
          <a:bodyPr wrap="square" lIns="0" tIns="0" rIns="0" bIns="0" rtlCol="0" anchor="ctr"/>
          <a:lstStyle/>
          <a:p>
            <a:pPr indent="0" marL="0">
              <a:buNone/>
            </a:pPr>
            <a:r>
              <a:rPr lang="en-US" sz="1100" b="1" dirty="0">
                <a:solidFill>
                  <a:srgbClr val="2B2622"/>
                </a:solidFill>
                <a:latin typeface="Meiryo" pitchFamily="34" charset="0"/>
                <a:ea typeface="Meiryo" pitchFamily="34" charset="-122"/>
                <a:cs typeface="Meiryo" pitchFamily="34" charset="-120"/>
              </a:rPr>
              <a:t>B2C｜自社EC・オークション</a:t>
            </a:r>
            <a:endParaRPr lang="en-US" sz="1100" dirty="0"/>
          </a:p>
        </p:txBody>
      </p:sp>
      <p:sp>
        <p:nvSpPr>
          <p:cNvPr id="17" name="Text 14"/>
          <p:cNvSpPr/>
          <p:nvPr/>
        </p:nvSpPr>
        <p:spPr>
          <a:xfrm>
            <a:off x="6500165" y="4663440"/>
            <a:ext cx="1078992" cy="310896"/>
          </a:xfrm>
          <a:prstGeom prst="rect">
            <a:avLst/>
          </a:prstGeom>
          <a:noFill/>
          <a:ln/>
        </p:spPr>
        <p:txBody>
          <a:bodyPr wrap="square" lIns="0" tIns="0" rIns="0" bIns="0" rtlCol="0" anchor="ctr"/>
          <a:lstStyle/>
          <a:p>
            <a:pPr algn="r" indent="0" marL="0">
              <a:buNone/>
            </a:pPr>
            <a:r>
              <a:rPr lang="en-US" sz="2100" b="1" dirty="0">
                <a:solidFill>
                  <a:srgbClr val="8C6A3A"/>
                </a:solidFill>
                <a:latin typeface="Meiryo" pitchFamily="34" charset="0"/>
                <a:ea typeface="Meiryo" pitchFamily="34" charset="-122"/>
                <a:cs typeface="Meiryo" pitchFamily="34" charset="-120"/>
              </a:rPr>
              <a:t>15.5</a:t>
            </a:r>
            <a:pPr algn="r" indent="0" marL="0">
              <a:buNone/>
            </a:pPr>
            <a:r>
              <a:rPr lang="en-US" sz="1100" b="1" dirty="0">
                <a:solidFill>
                  <a:srgbClr val="8C6A3A"/>
                </a:solidFill>
                <a:latin typeface="Meiryo" pitchFamily="34" charset="0"/>
                <a:ea typeface="Meiryo" pitchFamily="34" charset="-122"/>
                <a:cs typeface="Meiryo" pitchFamily="34" charset="-120"/>
              </a:rPr>
              <a:t> %</a:t>
            </a:r>
            <a:endParaRPr lang="en-US" sz="2100" dirty="0"/>
          </a:p>
        </p:txBody>
      </p:sp>
      <p:sp>
        <p:nvSpPr>
          <p:cNvPr id="18" name="Text 15"/>
          <p:cNvSpPr/>
          <p:nvPr/>
        </p:nvSpPr>
        <p:spPr>
          <a:xfrm>
            <a:off x="4612538" y="4992624"/>
            <a:ext cx="2966618" cy="566928"/>
          </a:xfrm>
          <a:prstGeom prst="rect">
            <a:avLst/>
          </a:prstGeom>
          <a:noFill/>
          <a:ln/>
        </p:spPr>
        <p:txBody>
          <a:bodyPr wrap="square" lIns="0" tIns="0" rIns="0" bIns="0" rtlCol="0" anchor="ctr"/>
          <a:lstStyle/>
          <a:p>
            <a:pPr indent="0" marL="0">
              <a:lnSpc>
                <a:spcPct val="120000"/>
              </a:lnSpc>
              <a:buNone/>
            </a:pPr>
            <a:r>
              <a:rPr lang="en-US" sz="900" dirty="0">
                <a:solidFill>
                  <a:srgbClr val="6F665F"/>
                </a:solidFill>
                <a:latin typeface="Meiryo" pitchFamily="34" charset="0"/>
                <a:ea typeface="Meiryo" pitchFamily="34" charset="-122"/>
                <a:cs typeface="Meiryo" pitchFamily="34" charset="-120"/>
              </a:rPr>
              <a:t>販路手数料（決済込み）13.0%　／　出庫・梱包・クール便 2.5%</a:t>
            </a:r>
            <a:endParaRPr lang="en-US" sz="900" dirty="0"/>
          </a:p>
        </p:txBody>
      </p:sp>
      <p:sp>
        <p:nvSpPr>
          <p:cNvPr id="19" name="Shape 16"/>
          <p:cNvSpPr/>
          <p:nvPr/>
        </p:nvSpPr>
        <p:spPr>
          <a:xfrm>
            <a:off x="8091221" y="4572000"/>
            <a:ext cx="3442106" cy="1097280"/>
          </a:xfrm>
          <a:prstGeom prst="roundRect">
            <a:avLst>
              <a:gd name="adj" fmla="val 6667"/>
            </a:avLst>
          </a:prstGeom>
          <a:solidFill>
            <a:srgbClr val="F3E9D6"/>
          </a:solidFill>
          <a:ln w="9525">
            <a:solidFill>
              <a:srgbClr val="C9AE7E"/>
            </a:solidFill>
            <a:prstDash val="solid"/>
          </a:ln>
          <a:effectLst>
            <a:outerShdw sx="100000" sy="100000" kx="0" ky="0" algn="bl" rotWithShape="0" blurRad="76200" dist="25400" dir="5400000">
              <a:srgbClr val="6F665F">
                <a:alpha val="18000"/>
              </a:srgbClr>
            </a:outerShdw>
          </a:effectLst>
        </p:spPr>
      </p:sp>
      <p:sp>
        <p:nvSpPr>
          <p:cNvPr id="20" name="Text 17"/>
          <p:cNvSpPr/>
          <p:nvPr/>
        </p:nvSpPr>
        <p:spPr>
          <a:xfrm>
            <a:off x="8328965" y="4700016"/>
            <a:ext cx="2070506" cy="237744"/>
          </a:xfrm>
          <a:prstGeom prst="rect">
            <a:avLst/>
          </a:prstGeom>
          <a:noFill/>
          <a:ln/>
        </p:spPr>
        <p:txBody>
          <a:bodyPr wrap="square" lIns="0" tIns="0" rIns="0" bIns="0" rtlCol="0" anchor="ctr"/>
          <a:lstStyle/>
          <a:p>
            <a:pPr indent="0" marL="0">
              <a:buNone/>
            </a:pPr>
            <a:r>
              <a:rPr lang="en-US" sz="1100" b="1" dirty="0">
                <a:solidFill>
                  <a:srgbClr val="8C6A3A"/>
                </a:solidFill>
                <a:latin typeface="Meiryo" pitchFamily="34" charset="0"/>
                <a:ea typeface="Meiryo" pitchFamily="34" charset="-122"/>
                <a:cs typeface="Meiryo" pitchFamily="34" charset="-120"/>
              </a:rPr>
              <a:t>加重平均（半々）</a:t>
            </a:r>
            <a:endParaRPr lang="en-US" sz="1100" dirty="0"/>
          </a:p>
        </p:txBody>
      </p:sp>
      <p:sp>
        <p:nvSpPr>
          <p:cNvPr id="21" name="Text 18"/>
          <p:cNvSpPr/>
          <p:nvPr/>
        </p:nvSpPr>
        <p:spPr>
          <a:xfrm>
            <a:off x="10216591" y="4663440"/>
            <a:ext cx="1078992" cy="310896"/>
          </a:xfrm>
          <a:prstGeom prst="rect">
            <a:avLst/>
          </a:prstGeom>
          <a:noFill/>
          <a:ln/>
        </p:spPr>
        <p:txBody>
          <a:bodyPr wrap="square" lIns="0" tIns="0" rIns="0" bIns="0" rtlCol="0" anchor="ctr"/>
          <a:lstStyle/>
          <a:p>
            <a:pPr algn="r" indent="0" marL="0">
              <a:buNone/>
            </a:pPr>
            <a:r>
              <a:rPr lang="en-US" sz="2100" b="1" dirty="0">
                <a:solidFill>
                  <a:srgbClr val="8C6A3A"/>
                </a:solidFill>
                <a:latin typeface="Meiryo" pitchFamily="34" charset="0"/>
                <a:ea typeface="Meiryo" pitchFamily="34" charset="-122"/>
                <a:cs typeface="Meiryo" pitchFamily="34" charset="-120"/>
              </a:rPr>
              <a:t>8.73</a:t>
            </a:r>
            <a:pPr algn="r" indent="0" marL="0">
              <a:buNone/>
            </a:pPr>
            <a:r>
              <a:rPr lang="en-US" sz="1100" b="1" dirty="0">
                <a:solidFill>
                  <a:srgbClr val="8C6A3A"/>
                </a:solidFill>
                <a:latin typeface="Meiryo" pitchFamily="34" charset="0"/>
                <a:ea typeface="Meiryo" pitchFamily="34" charset="-122"/>
                <a:cs typeface="Meiryo" pitchFamily="34" charset="-120"/>
              </a:rPr>
              <a:t> %</a:t>
            </a:r>
            <a:endParaRPr lang="en-US" sz="2100" dirty="0"/>
          </a:p>
        </p:txBody>
      </p:sp>
      <p:sp>
        <p:nvSpPr>
          <p:cNvPr id="22" name="Text 19"/>
          <p:cNvSpPr/>
          <p:nvPr/>
        </p:nvSpPr>
        <p:spPr>
          <a:xfrm>
            <a:off x="8328965" y="4992624"/>
            <a:ext cx="2966618" cy="566928"/>
          </a:xfrm>
          <a:prstGeom prst="rect">
            <a:avLst/>
          </a:prstGeom>
          <a:noFill/>
          <a:ln/>
        </p:spPr>
        <p:txBody>
          <a:bodyPr wrap="square" lIns="0" tIns="0" rIns="0" bIns="0" rtlCol="0" anchor="ctr"/>
          <a:lstStyle/>
          <a:p>
            <a:pPr indent="0" marL="0">
              <a:lnSpc>
                <a:spcPct val="120000"/>
              </a:lnSpc>
              <a:buNone/>
            </a:pPr>
            <a:r>
              <a:rPr lang="en-US" sz="900" dirty="0">
                <a:solidFill>
                  <a:srgbClr val="6F665F"/>
                </a:solidFill>
                <a:latin typeface="Meiryo" pitchFamily="34" charset="0"/>
                <a:ea typeface="Meiryo" pitchFamily="34" charset="-122"/>
                <a:cs typeface="Meiryo" pitchFamily="34" charset="-120"/>
              </a:rPr>
              <a:t>売値ベースの加重平均　／　定価100あたり ▲6.55</a:t>
            </a:r>
            <a:endParaRPr lang="en-US" sz="900" dirty="0"/>
          </a:p>
        </p:txBody>
      </p:sp>
      <p:sp>
        <p:nvSpPr>
          <p:cNvPr id="23" name="Text 20"/>
          <p:cNvSpPr/>
          <p:nvPr/>
        </p:nvSpPr>
        <p:spPr>
          <a:xfrm>
            <a:off x="658368" y="5724144"/>
            <a:ext cx="10874959" cy="438912"/>
          </a:xfrm>
          <a:prstGeom prst="rect">
            <a:avLst/>
          </a:prstGeom>
          <a:noFill/>
          <a:ln/>
        </p:spPr>
        <p:txBody>
          <a:bodyPr wrap="square" lIns="0" tIns="0" rIns="0" bIns="0" rtlCol="0" anchor="ctr"/>
          <a:lstStyle/>
          <a:p>
            <a:pPr indent="0" marL="0">
              <a:lnSpc>
                <a:spcPct val="120000"/>
              </a:lnSpc>
              <a:buNone/>
            </a:pPr>
            <a:r>
              <a:rPr lang="en-US" sz="850" dirty="0">
                <a:solidFill>
                  <a:srgbClr val="9A8F84"/>
                </a:solidFill>
                <a:latin typeface="Meiryo" pitchFamily="34" charset="0"/>
                <a:ea typeface="Meiryo" pitchFamily="34" charset="-122"/>
                <a:cs typeface="Meiryo" pitchFamily="34" charset="-120"/>
              </a:rPr>
              <a:t>※ 保管料は業務用パレット定温保管の水準（月10〜20円／本）。個人向けセラー預かり（月100〜150円／本）とは別の料金帯。ファーストクローズの主線（回転12ヶ月・年間販売6.67億円）における年間SPC費用の合計は7,951万円で、内訳は変動販売費5,824万円・保管629万円・固定費1,400万円（うち管理報酬1,000万円）・保険71万円・入庫27万円。その他の運用前提：総額の95%をワイン購入に充当（現金5%）／仕入展開6ヶ月／ローリング運用／利益は複利再投資せず年1回分配／税前利益は出資比率どおり60：40で配分／利回りは投資家の税引前ベース。販路手数料・決済手数料の年度合計が売上高の10%を超える部分はWineBank負担（契約第11条第6項）。</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484632"/>
            <a:ext cx="109728" cy="109728"/>
          </a:xfrm>
          <a:prstGeom prst="ellipse">
            <a:avLst/>
          </a:prstGeom>
          <a:solidFill>
            <a:srgbClr val="A78450"/>
          </a:solidFill>
          <a:ln w="12700">
            <a:solidFill>
              <a:srgbClr val="A78450"/>
            </a:solidFill>
            <a:prstDash val="solid"/>
          </a:ln>
        </p:spPr>
      </p:sp>
      <p:sp>
        <p:nvSpPr>
          <p:cNvPr id="3" name="Text 1"/>
          <p:cNvSpPr/>
          <p:nvPr/>
        </p:nvSpPr>
        <p:spPr>
          <a:xfrm>
            <a:off x="923544" y="365760"/>
            <a:ext cx="9601200" cy="329184"/>
          </a:xfrm>
          <a:prstGeom prst="rect">
            <a:avLst/>
          </a:prstGeom>
          <a:noFill/>
          <a:ln/>
        </p:spPr>
        <p:txBody>
          <a:bodyPr wrap="square" lIns="0" tIns="0" rIns="0" bIns="0" rtlCol="0" anchor="ctr"/>
          <a:lstStyle/>
          <a:p>
            <a:pPr indent="0" marL="0">
              <a:buNone/>
            </a:pPr>
            <a:r>
              <a:rPr lang="en-US" sz="1200" b="1" spc="240" kern="0" dirty="0">
                <a:solidFill>
                  <a:srgbClr val="A78450"/>
                </a:solidFill>
                <a:latin typeface="Meiryo" pitchFamily="34" charset="0"/>
                <a:ea typeface="Meiryo" pitchFamily="34" charset="-122"/>
                <a:cs typeface="Meiryo" pitchFamily="34" charset="-120"/>
              </a:rPr>
              <a:t>BASE CASE ｜ 主線</a:t>
            </a:r>
            <a:endParaRPr lang="en-US" sz="1200" dirty="0"/>
          </a:p>
        </p:txBody>
      </p:sp>
      <p:sp>
        <p:nvSpPr>
          <p:cNvPr id="4" name="Text 2"/>
          <p:cNvSpPr/>
          <p:nvPr/>
        </p:nvSpPr>
        <p:spPr>
          <a:xfrm>
            <a:off x="658368" y="731520"/>
            <a:ext cx="10874959" cy="566928"/>
          </a:xfrm>
          <a:prstGeom prst="rect">
            <a:avLst/>
          </a:prstGeom>
          <a:noFill/>
          <a:ln/>
        </p:spPr>
        <p:txBody>
          <a:bodyPr wrap="square" lIns="0" tIns="0" rIns="0" bIns="0" rtlCol="0" anchor="ctr"/>
          <a:lstStyle/>
          <a:p>
            <a:pPr indent="0" marL="0">
              <a:buNone/>
            </a:pPr>
            <a:r>
              <a:rPr lang="en-US" sz="2600" b="1" dirty="0">
                <a:solidFill>
                  <a:srgbClr val="2B2622"/>
                </a:solidFill>
                <a:latin typeface="Meiryo" pitchFamily="34" charset="0"/>
                <a:ea typeface="Meiryo" pitchFamily="34" charset="-122"/>
                <a:cs typeface="Meiryo" pitchFamily="34" charset="-120"/>
              </a:rPr>
              <a:t>ニュートラル：在庫回転期間別シミュレーション</a:t>
            </a:r>
            <a:endParaRPr lang="en-US" sz="2600" dirty="0"/>
          </a:p>
        </p:txBody>
      </p:sp>
      <p:sp>
        <p:nvSpPr>
          <p:cNvPr id="5" name="Text 3"/>
          <p:cNvSpPr/>
          <p:nvPr/>
        </p:nvSpPr>
        <p:spPr>
          <a:xfrm>
            <a:off x="658368" y="1261872"/>
            <a:ext cx="10874959" cy="310896"/>
          </a:xfrm>
          <a:prstGeom prst="rect">
            <a:avLst/>
          </a:prstGeom>
          <a:noFill/>
          <a:ln/>
        </p:spPr>
        <p:txBody>
          <a:bodyPr wrap="square" lIns="0" tIns="0" rIns="0" bIns="0" rtlCol="0" anchor="ctr"/>
          <a:lstStyle/>
          <a:p>
            <a:pPr indent="0" marL="0">
              <a:buNone/>
            </a:pPr>
            <a:r>
              <a:rPr lang="en-US" sz="1150" dirty="0">
                <a:solidFill>
                  <a:srgbClr val="6F665F"/>
                </a:solidFill>
                <a:latin typeface="Meiryo" pitchFamily="34" charset="0"/>
                <a:ea typeface="Meiryo" pitchFamily="34" charset="-122"/>
                <a:cs typeface="Meiryo" pitchFamily="34" charset="-120"/>
              </a:rPr>
              <a:t>SPC簿価56.63（時価75.00▲24.5%）・ワイン価格上昇 年6%／ファーストクローズ総額5億円・税前利益を出資比率60：40で配分・稼働率95%</a:t>
            </a:r>
            <a:endParaRPr lang="en-US" sz="1150" dirty="0"/>
          </a:p>
        </p:txBody>
      </p:sp>
      <p:sp>
        <p:nvSpPr>
          <p:cNvPr id="6" name="Text 4"/>
          <p:cNvSpPr/>
          <p:nvPr/>
        </p:nvSpPr>
        <p:spPr>
          <a:xfrm>
            <a:off x="658368" y="6446520"/>
            <a:ext cx="5486400" cy="256032"/>
          </a:xfrm>
          <a:prstGeom prst="rect">
            <a:avLst/>
          </a:prstGeom>
          <a:noFill/>
          <a:ln/>
        </p:spPr>
        <p:txBody>
          <a:bodyPr wrap="square" lIns="0" tIns="0" rIns="0" bIns="0" rtlCol="0" anchor="ctr"/>
          <a:lstStyle/>
          <a:p>
            <a:pPr indent="0" marL="0">
              <a:buNone/>
            </a:pPr>
            <a:r>
              <a:rPr lang="en-US" sz="900" dirty="0">
                <a:solidFill>
                  <a:srgbClr val="9A8F84"/>
                </a:solidFill>
                <a:latin typeface="Meiryo" pitchFamily="34" charset="0"/>
                <a:ea typeface="Meiryo" pitchFamily="34" charset="-122"/>
                <a:cs typeface="Meiryo" pitchFamily="34" charset="-120"/>
              </a:rPr>
              <a:t>Confidential</a:t>
            </a:r>
            <a:endParaRPr lang="en-US" sz="900" dirty="0"/>
          </a:p>
        </p:txBody>
      </p:sp>
      <p:sp>
        <p:nvSpPr>
          <p:cNvPr id="7" name="Text 5"/>
          <p:cNvSpPr/>
          <p:nvPr/>
        </p:nvSpPr>
        <p:spPr>
          <a:xfrm>
            <a:off x="10984687" y="6446520"/>
            <a:ext cx="548640" cy="256032"/>
          </a:xfrm>
          <a:prstGeom prst="rect">
            <a:avLst/>
          </a:prstGeom>
          <a:noFill/>
          <a:ln/>
        </p:spPr>
        <p:txBody>
          <a:bodyPr wrap="square" lIns="0" tIns="0" rIns="0" bIns="0" rtlCol="0" anchor="ctr"/>
          <a:lstStyle/>
          <a:p>
            <a:pPr algn="r" indent="0" marL="0">
              <a:buNone/>
            </a:pPr>
            <a:r>
              <a:rPr lang="en-US" sz="900" dirty="0">
                <a:solidFill>
                  <a:srgbClr val="9A8F84"/>
                </a:solidFill>
                <a:latin typeface="Meiryo" pitchFamily="34" charset="0"/>
                <a:ea typeface="Meiryo" pitchFamily="34" charset="-122"/>
                <a:cs typeface="Meiryo" pitchFamily="34" charset="-120"/>
              </a:rPr>
              <a:t>11</a:t>
            </a:r>
            <a:endParaRPr lang="en-US" sz="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58368" y="1664208"/>
          <a:ext cx="10874959" cy="914400"/>
        </p:xfrm>
        <a:graphic>
          <a:graphicData uri="http://schemas.openxmlformats.org/drawingml/2006/table">
            <a:tbl>
              <a:tblPr/>
              <a:tblGrid>
                <a:gridCol w="1389888"/>
                <a:gridCol w="859536"/>
                <a:gridCol w="859536"/>
                <a:gridCol w="731520"/>
                <a:gridCol w="1042416"/>
                <a:gridCol w="1225296"/>
                <a:gridCol w="1298448"/>
                <a:gridCol w="1005840"/>
                <a:gridCol w="969264"/>
                <a:gridCol w="1490472"/>
              </a:tblGrid>
              <a:tr h="365760">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在庫回転期間</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2B2622"/>
                    </a:solidFill>
                  </a:tcPr>
                </a:tc>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年間売上</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2B2622"/>
                    </a:solidFill>
                  </a:tcPr>
                </a:tc>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年間粗利※</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2B2622"/>
                    </a:solidFill>
                  </a:tcPr>
                </a:tc>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粗利率</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2B2622"/>
                    </a:solidFill>
                  </a:tcPr>
                </a:tc>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年間税前利益</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2B2622"/>
                    </a:solidFill>
                  </a:tcPr>
                </a:tc>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投資家（40%）</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2B2622"/>
                    </a:solidFill>
                  </a:tcPr>
                </a:tc>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WineBank（60%）</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2B2622"/>
                    </a:solidFill>
                  </a:tcPr>
                </a:tc>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フル稼働時の単年利回り</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2B2622"/>
                    </a:solidFill>
                  </a:tcPr>
                </a:tc>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5年累計分配</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2B2622"/>
                    </a:solidFill>
                  </a:tcPr>
                </a:tc>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年平均利回り</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2B2622"/>
                    </a:solidFill>
                  </a:tcPr>
                </a:tc>
              </a:tr>
              <a:tr h="365760">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9ヶ月</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8.76億</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1.66億</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19.0%</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1.45億</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58百万</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87百万</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2B2622"/>
                          </a:solidFill>
                          <a:latin typeface="Meiryo" pitchFamily="34" charset="0"/>
                          <a:ea typeface="Meiryo" pitchFamily="34" charset="-122"/>
                          <a:cs typeface="Meiryo" pitchFamily="34" charset="-120"/>
                        </a:rPr>
                        <a:t>29.0%</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278百万</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8C6A3A"/>
                          </a:solidFill>
                          <a:latin typeface="Meiryo" pitchFamily="34" charset="0"/>
                          <a:ea typeface="Meiryo" pitchFamily="34" charset="-122"/>
                          <a:cs typeface="Meiryo" pitchFamily="34" charset="-120"/>
                        </a:rPr>
                        <a:t>27.8%</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8C6A3A"/>
                          </a:solidFill>
                          <a:latin typeface="Meiryo" pitchFamily="34" charset="0"/>
                          <a:ea typeface="Meiryo" pitchFamily="34" charset="-122"/>
                          <a:cs typeface="Meiryo" pitchFamily="34" charset="-120"/>
                        </a:rPr>
                        <a:t>12ヶ月（主線）</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6.67億</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1.34億</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20.0%</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1.12億</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45百万</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67百万</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2B2622"/>
                          </a:solidFill>
                          <a:latin typeface="Meiryo" pitchFamily="34" charset="0"/>
                          <a:ea typeface="Meiryo" pitchFamily="34" charset="-122"/>
                          <a:cs typeface="Meiryo" pitchFamily="34" charset="-120"/>
                        </a:rPr>
                        <a:t>22.5%</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200百万</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8C6A3A"/>
                          </a:solidFill>
                          <a:latin typeface="Meiryo" pitchFamily="34" charset="0"/>
                          <a:ea typeface="Meiryo" pitchFamily="34" charset="-122"/>
                          <a:cs typeface="Meiryo" pitchFamily="34" charset="-120"/>
                        </a:rPr>
                        <a:t>20.0%</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r>
              <a:tr h="365760">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15ヶ月</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5.41億</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1.14億</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21.1%</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0.93億</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37百万</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56百万</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2B2622"/>
                          </a:solidFill>
                          <a:latin typeface="Meiryo" pitchFamily="34" charset="0"/>
                          <a:ea typeface="Meiryo" pitchFamily="34" charset="-122"/>
                          <a:cs typeface="Meiryo" pitchFamily="34" charset="-120"/>
                        </a:rPr>
                        <a:t>18.6%</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161百万</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B4553F"/>
                          </a:solidFill>
                          <a:latin typeface="Meiryo" pitchFamily="34" charset="0"/>
                          <a:ea typeface="Meiryo" pitchFamily="34" charset="-122"/>
                          <a:cs typeface="Meiryo" pitchFamily="34" charset="-120"/>
                        </a:rPr>
                        <a:t>16.1%</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r>
              <a:tr h="365760">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18ヶ月</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4.58億</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1.01億</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22.1%</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0.80億</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32百万</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48百万</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2B2622"/>
                          </a:solidFill>
                          <a:latin typeface="Meiryo" pitchFamily="34" charset="0"/>
                          <a:ea typeface="Meiryo" pitchFamily="34" charset="-122"/>
                          <a:cs typeface="Meiryo" pitchFamily="34" charset="-120"/>
                        </a:rPr>
                        <a:t>16.0%</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161百万</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B4553F"/>
                          </a:solidFill>
                          <a:latin typeface="Meiryo" pitchFamily="34" charset="0"/>
                          <a:ea typeface="Meiryo" pitchFamily="34" charset="-122"/>
                          <a:cs typeface="Meiryo" pitchFamily="34" charset="-120"/>
                        </a:rPr>
                        <a:t>16.1%</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r>
            </a:tbl>
          </a:graphicData>
        </a:graphic>
      </p:graphicFrame>
      <p:sp>
        <p:nvSpPr>
          <p:cNvPr id="9" name="Shape 6"/>
          <p:cNvSpPr/>
          <p:nvPr/>
        </p:nvSpPr>
        <p:spPr>
          <a:xfrm>
            <a:off x="658368" y="3712464"/>
            <a:ext cx="5532120" cy="1810512"/>
          </a:xfrm>
          <a:prstGeom prst="roundRect">
            <a:avLst>
              <a:gd name="adj" fmla="val 4040"/>
            </a:avLst>
          </a:prstGeom>
          <a:solidFill>
            <a:srgbClr val="F3E9D6"/>
          </a:solidFill>
          <a:ln w="9525">
            <a:solidFill>
              <a:srgbClr val="C9AE7E"/>
            </a:solidFill>
            <a:prstDash val="solid"/>
          </a:ln>
          <a:effectLst>
            <a:outerShdw sx="100000" sy="100000" kx="0" ky="0" algn="bl" rotWithShape="0" blurRad="76200" dist="25400" dir="5400000">
              <a:srgbClr val="6F665F">
                <a:alpha val="18000"/>
              </a:srgbClr>
            </a:outerShdw>
          </a:effectLst>
        </p:spPr>
      </p:sp>
      <p:sp>
        <p:nvSpPr>
          <p:cNvPr id="10" name="Text 7"/>
          <p:cNvSpPr/>
          <p:nvPr/>
        </p:nvSpPr>
        <p:spPr>
          <a:xfrm>
            <a:off x="914400" y="3840480"/>
            <a:ext cx="5029200" cy="237744"/>
          </a:xfrm>
          <a:prstGeom prst="rect">
            <a:avLst/>
          </a:prstGeom>
          <a:noFill/>
          <a:ln/>
        </p:spPr>
        <p:txBody>
          <a:bodyPr wrap="square" lIns="0" tIns="0" rIns="0" bIns="0" rtlCol="0" anchor="ctr"/>
          <a:lstStyle/>
          <a:p>
            <a:pPr indent="0" marL="0">
              <a:buNone/>
            </a:pPr>
            <a:r>
              <a:rPr lang="en-US" sz="1150" b="1" dirty="0">
                <a:solidFill>
                  <a:srgbClr val="8C6A3A"/>
                </a:solidFill>
                <a:latin typeface="Meiryo" pitchFamily="34" charset="0"/>
                <a:ea typeface="Meiryo" pitchFamily="34" charset="-122"/>
                <a:cs typeface="Meiryo" pitchFamily="34" charset="-120"/>
              </a:rPr>
              <a:t>粗利率20.0%がフル稼働時の単年22.5%になる理由</a:t>
            </a:r>
            <a:endParaRPr lang="en-US" sz="1150" dirty="0"/>
          </a:p>
        </p:txBody>
      </p:sp>
      <p:sp>
        <p:nvSpPr>
          <p:cNvPr id="11" name="Text 8"/>
          <p:cNvSpPr/>
          <p:nvPr/>
        </p:nvSpPr>
        <p:spPr>
          <a:xfrm>
            <a:off x="914400" y="4133088"/>
            <a:ext cx="1737360" cy="256032"/>
          </a:xfrm>
          <a:prstGeom prst="rect">
            <a:avLst/>
          </a:prstGeom>
          <a:noFill/>
          <a:ln/>
        </p:spPr>
        <p:txBody>
          <a:bodyPr wrap="square" lIns="0" tIns="0" rIns="0" bIns="0" rtlCol="0" anchor="ctr"/>
          <a:lstStyle/>
          <a:p>
            <a:pPr indent="0" marL="0">
              <a:buNone/>
            </a:pPr>
            <a:r>
              <a:rPr lang="en-US" sz="950" b="1" dirty="0">
                <a:solidFill>
                  <a:srgbClr val="2B2622"/>
                </a:solidFill>
                <a:latin typeface="Meiryo" pitchFamily="34" charset="0"/>
                <a:ea typeface="Meiryo" pitchFamily="34" charset="-122"/>
                <a:cs typeface="Meiryo" pitchFamily="34" charset="-120"/>
              </a:rPr>
              <a:t>定価100あたり</a:t>
            </a:r>
            <a:endParaRPr lang="en-US" sz="950" dirty="0"/>
          </a:p>
        </p:txBody>
      </p:sp>
      <p:sp>
        <p:nvSpPr>
          <p:cNvPr id="12" name="Text 9"/>
          <p:cNvSpPr/>
          <p:nvPr/>
        </p:nvSpPr>
        <p:spPr>
          <a:xfrm>
            <a:off x="2688336" y="4133088"/>
            <a:ext cx="3291840" cy="256032"/>
          </a:xfrm>
          <a:prstGeom prst="rect">
            <a:avLst/>
          </a:prstGeom>
          <a:noFill/>
          <a:ln/>
        </p:spPr>
        <p:txBody>
          <a:bodyPr wrap="square" lIns="0" tIns="0" rIns="0" bIns="0" rtlCol="0" anchor="ctr"/>
          <a:lstStyle/>
          <a:p>
            <a:pPr indent="0" marL="0">
              <a:lnSpc>
                <a:spcPct val="110000"/>
              </a:lnSpc>
              <a:buNone/>
            </a:pPr>
            <a:r>
              <a:rPr lang="en-US" sz="850" dirty="0">
                <a:solidFill>
                  <a:srgbClr val="6F665F"/>
                </a:solidFill>
                <a:latin typeface="Meiryo" pitchFamily="34" charset="0"/>
                <a:ea typeface="Meiryo" pitchFamily="34" charset="-122"/>
                <a:cs typeface="Meiryo" pitchFamily="34" charset="-120"/>
              </a:rPr>
              <a:t>簿価56.63で取得し、手取り72.56で回収 → 単位粗利15.93</a:t>
            </a:r>
            <a:endParaRPr lang="en-US" sz="850" dirty="0"/>
          </a:p>
        </p:txBody>
      </p:sp>
      <p:sp>
        <p:nvSpPr>
          <p:cNvPr id="13" name="Text 10"/>
          <p:cNvSpPr/>
          <p:nvPr/>
        </p:nvSpPr>
        <p:spPr>
          <a:xfrm>
            <a:off x="914400" y="4407408"/>
            <a:ext cx="1737360" cy="256032"/>
          </a:xfrm>
          <a:prstGeom prst="rect">
            <a:avLst/>
          </a:prstGeom>
          <a:noFill/>
          <a:ln/>
        </p:spPr>
        <p:txBody>
          <a:bodyPr wrap="square" lIns="0" tIns="0" rIns="0" bIns="0" rtlCol="0" anchor="ctr"/>
          <a:lstStyle/>
          <a:p>
            <a:pPr indent="0" marL="0">
              <a:buNone/>
            </a:pPr>
            <a:r>
              <a:rPr lang="en-US" sz="950" b="1" dirty="0">
                <a:solidFill>
                  <a:srgbClr val="2B2622"/>
                </a:solidFill>
                <a:latin typeface="Meiryo" pitchFamily="34" charset="0"/>
                <a:ea typeface="Meiryo" pitchFamily="34" charset="-122"/>
                <a:cs typeface="Meiryo" pitchFamily="34" charset="-120"/>
              </a:rPr>
              <a:t>粗利率 20.0%</a:t>
            </a:r>
            <a:endParaRPr lang="en-US" sz="950" dirty="0"/>
          </a:p>
        </p:txBody>
      </p:sp>
      <p:sp>
        <p:nvSpPr>
          <p:cNvPr id="14" name="Text 11"/>
          <p:cNvSpPr/>
          <p:nvPr/>
        </p:nvSpPr>
        <p:spPr>
          <a:xfrm>
            <a:off x="2688336" y="4407408"/>
            <a:ext cx="3291840" cy="256032"/>
          </a:xfrm>
          <a:prstGeom prst="rect">
            <a:avLst/>
          </a:prstGeom>
          <a:noFill/>
          <a:ln/>
        </p:spPr>
        <p:txBody>
          <a:bodyPr wrap="square" lIns="0" tIns="0" rIns="0" bIns="0" rtlCol="0" anchor="ctr"/>
          <a:lstStyle/>
          <a:p>
            <a:pPr indent="0" marL="0">
              <a:lnSpc>
                <a:spcPct val="110000"/>
              </a:lnSpc>
              <a:buNone/>
            </a:pPr>
            <a:r>
              <a:rPr lang="en-US" sz="850" dirty="0">
                <a:solidFill>
                  <a:srgbClr val="6F665F"/>
                </a:solidFill>
                <a:latin typeface="Meiryo" pitchFamily="34" charset="0"/>
                <a:ea typeface="Meiryo" pitchFamily="34" charset="-122"/>
                <a:cs typeface="Meiryo" pitchFamily="34" charset="-120"/>
              </a:rPr>
              <a:t>分母は売却時の売値79.50</a:t>
            </a:r>
            <a:endParaRPr lang="en-US" sz="850" dirty="0"/>
          </a:p>
        </p:txBody>
      </p:sp>
      <p:sp>
        <p:nvSpPr>
          <p:cNvPr id="15" name="Text 12"/>
          <p:cNvSpPr/>
          <p:nvPr/>
        </p:nvSpPr>
        <p:spPr>
          <a:xfrm>
            <a:off x="914400" y="4681728"/>
            <a:ext cx="1737360" cy="256032"/>
          </a:xfrm>
          <a:prstGeom prst="rect">
            <a:avLst/>
          </a:prstGeom>
          <a:noFill/>
          <a:ln/>
        </p:spPr>
        <p:txBody>
          <a:bodyPr wrap="square" lIns="0" tIns="0" rIns="0" bIns="0" rtlCol="0" anchor="ctr"/>
          <a:lstStyle/>
          <a:p>
            <a:pPr indent="0" marL="0">
              <a:buNone/>
            </a:pPr>
            <a:r>
              <a:rPr lang="en-US" sz="950" b="1" dirty="0">
                <a:solidFill>
                  <a:srgbClr val="8C6A3A"/>
                </a:solidFill>
                <a:latin typeface="Meiryo" pitchFamily="34" charset="0"/>
                <a:ea typeface="Meiryo" pitchFamily="34" charset="-122"/>
                <a:cs typeface="Meiryo" pitchFamily="34" charset="-120"/>
              </a:rPr>
              <a:t>投下簿価利益率 28.1%</a:t>
            </a:r>
            <a:endParaRPr lang="en-US" sz="950" dirty="0"/>
          </a:p>
        </p:txBody>
      </p:sp>
      <p:sp>
        <p:nvSpPr>
          <p:cNvPr id="16" name="Text 13"/>
          <p:cNvSpPr/>
          <p:nvPr/>
        </p:nvSpPr>
        <p:spPr>
          <a:xfrm>
            <a:off x="2688336" y="4681728"/>
            <a:ext cx="3291840" cy="256032"/>
          </a:xfrm>
          <a:prstGeom prst="rect">
            <a:avLst/>
          </a:prstGeom>
          <a:noFill/>
          <a:ln/>
        </p:spPr>
        <p:txBody>
          <a:bodyPr wrap="square" lIns="0" tIns="0" rIns="0" bIns="0" rtlCol="0" anchor="ctr"/>
          <a:lstStyle/>
          <a:p>
            <a:pPr indent="0" marL="0">
              <a:lnSpc>
                <a:spcPct val="110000"/>
              </a:lnSpc>
              <a:buNone/>
            </a:pPr>
            <a:r>
              <a:rPr lang="en-US" sz="850" dirty="0">
                <a:solidFill>
                  <a:srgbClr val="6F665F"/>
                </a:solidFill>
                <a:latin typeface="Meiryo" pitchFamily="34" charset="0"/>
                <a:ea typeface="Meiryo" pitchFamily="34" charset="-122"/>
                <a:cs typeface="Meiryo" pitchFamily="34" charset="-120"/>
              </a:rPr>
              <a:t>分母は投下資本であるSPC簿価56.63</a:t>
            </a:r>
            <a:endParaRPr lang="en-US" sz="850" dirty="0"/>
          </a:p>
        </p:txBody>
      </p:sp>
      <p:sp>
        <p:nvSpPr>
          <p:cNvPr id="17" name="Text 14"/>
          <p:cNvSpPr/>
          <p:nvPr/>
        </p:nvSpPr>
        <p:spPr>
          <a:xfrm>
            <a:off x="914400" y="4956048"/>
            <a:ext cx="1737360" cy="256032"/>
          </a:xfrm>
          <a:prstGeom prst="rect">
            <a:avLst/>
          </a:prstGeom>
          <a:noFill/>
          <a:ln/>
        </p:spPr>
        <p:txBody>
          <a:bodyPr wrap="square" lIns="0" tIns="0" rIns="0" bIns="0" rtlCol="0" anchor="ctr"/>
          <a:lstStyle/>
          <a:p>
            <a:pPr indent="0" marL="0">
              <a:buNone/>
            </a:pPr>
            <a:r>
              <a:rPr lang="en-US" sz="950" b="1" dirty="0">
                <a:solidFill>
                  <a:srgbClr val="2B2622"/>
                </a:solidFill>
                <a:latin typeface="Meiryo" pitchFamily="34" charset="0"/>
                <a:ea typeface="Meiryo" pitchFamily="34" charset="-122"/>
                <a:cs typeface="Meiryo" pitchFamily="34" charset="-120"/>
              </a:rPr>
              <a:t>税前利益 1.12億円</a:t>
            </a:r>
            <a:endParaRPr lang="en-US" sz="950" dirty="0"/>
          </a:p>
        </p:txBody>
      </p:sp>
      <p:sp>
        <p:nvSpPr>
          <p:cNvPr id="18" name="Text 15"/>
          <p:cNvSpPr/>
          <p:nvPr/>
        </p:nvSpPr>
        <p:spPr>
          <a:xfrm>
            <a:off x="2688336" y="4956048"/>
            <a:ext cx="3291840" cy="256032"/>
          </a:xfrm>
          <a:prstGeom prst="rect">
            <a:avLst/>
          </a:prstGeom>
          <a:noFill/>
          <a:ln/>
        </p:spPr>
        <p:txBody>
          <a:bodyPr wrap="square" lIns="0" tIns="0" rIns="0" bIns="0" rtlCol="0" anchor="ctr"/>
          <a:lstStyle/>
          <a:p>
            <a:pPr indent="0" marL="0">
              <a:lnSpc>
                <a:spcPct val="110000"/>
              </a:lnSpc>
              <a:buNone/>
            </a:pPr>
            <a:r>
              <a:rPr lang="en-US" sz="850" dirty="0">
                <a:solidFill>
                  <a:srgbClr val="6F665F"/>
                </a:solidFill>
                <a:latin typeface="Meiryo" pitchFamily="34" charset="0"/>
                <a:ea typeface="Meiryo" pitchFamily="34" charset="-122"/>
                <a:cs typeface="Meiryo" pitchFamily="34" charset="-120"/>
              </a:rPr>
              <a:t>SPC費用 計7,951万円を控除した後の年間税前利益</a:t>
            </a:r>
            <a:endParaRPr lang="en-US" sz="850" dirty="0"/>
          </a:p>
        </p:txBody>
      </p:sp>
      <p:sp>
        <p:nvSpPr>
          <p:cNvPr id="19" name="Text 16"/>
          <p:cNvSpPr/>
          <p:nvPr/>
        </p:nvSpPr>
        <p:spPr>
          <a:xfrm>
            <a:off x="914400" y="5230368"/>
            <a:ext cx="1737360" cy="256032"/>
          </a:xfrm>
          <a:prstGeom prst="rect">
            <a:avLst/>
          </a:prstGeom>
          <a:noFill/>
          <a:ln/>
        </p:spPr>
        <p:txBody>
          <a:bodyPr wrap="square" lIns="0" tIns="0" rIns="0" bIns="0" rtlCol="0" anchor="ctr"/>
          <a:lstStyle/>
          <a:p>
            <a:pPr indent="0" marL="0">
              <a:buNone/>
            </a:pPr>
            <a:r>
              <a:rPr lang="en-US" sz="950" b="1" dirty="0">
                <a:solidFill>
                  <a:srgbClr val="8C6A3A"/>
                </a:solidFill>
                <a:latin typeface="Meiryo" pitchFamily="34" charset="0"/>
                <a:ea typeface="Meiryo" pitchFamily="34" charset="-122"/>
                <a:cs typeface="Meiryo" pitchFamily="34" charset="-120"/>
              </a:rPr>
              <a:t>フル稼働時の単年 22.5%</a:t>
            </a:r>
            <a:endParaRPr lang="en-US" sz="950" dirty="0"/>
          </a:p>
        </p:txBody>
      </p:sp>
      <p:sp>
        <p:nvSpPr>
          <p:cNvPr id="20" name="Text 17"/>
          <p:cNvSpPr/>
          <p:nvPr/>
        </p:nvSpPr>
        <p:spPr>
          <a:xfrm>
            <a:off x="2688336" y="5230368"/>
            <a:ext cx="3291840" cy="256032"/>
          </a:xfrm>
          <a:prstGeom prst="rect">
            <a:avLst/>
          </a:prstGeom>
          <a:noFill/>
          <a:ln/>
        </p:spPr>
        <p:txBody>
          <a:bodyPr wrap="square" lIns="0" tIns="0" rIns="0" bIns="0" rtlCol="0" anchor="ctr"/>
          <a:lstStyle/>
          <a:p>
            <a:pPr indent="0" marL="0">
              <a:lnSpc>
                <a:spcPct val="110000"/>
              </a:lnSpc>
              <a:buNone/>
            </a:pPr>
            <a:r>
              <a:rPr lang="en-US" sz="850" dirty="0">
                <a:solidFill>
                  <a:srgbClr val="6F665F"/>
                </a:solidFill>
                <a:latin typeface="Meiryo" pitchFamily="34" charset="0"/>
                <a:ea typeface="Meiryo" pitchFamily="34" charset="-122"/>
                <a:cs typeface="Meiryo" pitchFamily="34" charset="-120"/>
              </a:rPr>
              <a:t>税前利益の40%＝45百万円 ÷ 出資2億円。年平均では20.0%</a:t>
            </a:r>
            <a:endParaRPr lang="en-US" sz="850" dirty="0"/>
          </a:p>
        </p:txBody>
      </p:sp>
      <p:sp>
        <p:nvSpPr>
          <p:cNvPr id="21" name="Shape 18"/>
          <p:cNvSpPr/>
          <p:nvPr/>
        </p:nvSpPr>
        <p:spPr>
          <a:xfrm>
            <a:off x="6464808" y="3712464"/>
            <a:ext cx="5068519" cy="1810512"/>
          </a:xfrm>
          <a:prstGeom prst="roundRect">
            <a:avLst>
              <a:gd name="adj" fmla="val 4040"/>
            </a:avLst>
          </a:prstGeom>
          <a:solidFill>
            <a:srgbClr val="F3E9D6"/>
          </a:solidFill>
          <a:ln w="9525">
            <a:solidFill>
              <a:srgbClr val="C9AE7E"/>
            </a:solidFill>
            <a:prstDash val="solid"/>
          </a:ln>
          <a:effectLst>
            <a:outerShdw sx="100000" sy="100000" kx="0" ky="0" algn="bl" rotWithShape="0" blurRad="76200" dist="25400" dir="5400000">
              <a:srgbClr val="6F665F">
                <a:alpha val="18000"/>
              </a:srgbClr>
            </a:outerShdw>
          </a:effectLst>
        </p:spPr>
      </p:sp>
      <p:sp>
        <p:nvSpPr>
          <p:cNvPr id="22" name="Text 19"/>
          <p:cNvSpPr/>
          <p:nvPr/>
        </p:nvSpPr>
        <p:spPr>
          <a:xfrm>
            <a:off x="6720840" y="3877056"/>
            <a:ext cx="3657600" cy="237744"/>
          </a:xfrm>
          <a:prstGeom prst="rect">
            <a:avLst/>
          </a:prstGeom>
          <a:noFill/>
          <a:ln/>
        </p:spPr>
        <p:txBody>
          <a:bodyPr wrap="square" lIns="0" tIns="0" rIns="0" bIns="0" rtlCol="0" anchor="ctr"/>
          <a:lstStyle/>
          <a:p>
            <a:pPr indent="0" marL="0">
              <a:buNone/>
            </a:pPr>
            <a:r>
              <a:rPr lang="en-US" sz="1200" b="1" dirty="0">
                <a:solidFill>
                  <a:srgbClr val="8C6A3A"/>
                </a:solidFill>
                <a:latin typeface="Meiryo" pitchFamily="34" charset="0"/>
                <a:ea typeface="Meiryo" pitchFamily="34" charset="-122"/>
                <a:cs typeface="Meiryo" pitchFamily="34" charset="-120"/>
              </a:rPr>
              <a:t>想定レンジのご提示</a:t>
            </a:r>
            <a:endParaRPr lang="en-US" sz="1200" dirty="0"/>
          </a:p>
        </p:txBody>
      </p:sp>
      <p:sp>
        <p:nvSpPr>
          <p:cNvPr id="23" name="Text 20"/>
          <p:cNvSpPr/>
          <p:nvPr/>
        </p:nvSpPr>
        <p:spPr>
          <a:xfrm>
            <a:off x="6720840" y="4151376"/>
            <a:ext cx="4519879" cy="219456"/>
          </a:xfrm>
          <a:prstGeom prst="rect">
            <a:avLst/>
          </a:prstGeom>
          <a:noFill/>
          <a:ln/>
        </p:spPr>
        <p:txBody>
          <a:bodyPr wrap="square" lIns="0" tIns="0" rIns="0" bIns="0" rtlCol="0" anchor="ctr"/>
          <a:lstStyle/>
          <a:p>
            <a:pPr indent="0" marL="0">
              <a:buNone/>
            </a:pPr>
            <a:r>
              <a:rPr lang="en-US" sz="1050" dirty="0">
                <a:solidFill>
                  <a:srgbClr val="2B2622"/>
                </a:solidFill>
                <a:latin typeface="Meiryo" pitchFamily="34" charset="0"/>
                <a:ea typeface="Meiryo" pitchFamily="34" charset="-122"/>
                <a:cs typeface="Meiryo" pitchFamily="34" charset="-120"/>
              </a:rPr>
              <a:t>投資家利回り（年平均・税引前）</a:t>
            </a:r>
            <a:endParaRPr lang="en-US" sz="1050" dirty="0"/>
          </a:p>
        </p:txBody>
      </p:sp>
      <p:sp>
        <p:nvSpPr>
          <p:cNvPr id="24" name="Text 21"/>
          <p:cNvSpPr/>
          <p:nvPr/>
        </p:nvSpPr>
        <p:spPr>
          <a:xfrm>
            <a:off x="6720840" y="4370832"/>
            <a:ext cx="4519879" cy="457200"/>
          </a:xfrm>
          <a:prstGeom prst="rect">
            <a:avLst/>
          </a:prstGeom>
          <a:noFill/>
          <a:ln/>
        </p:spPr>
        <p:txBody>
          <a:bodyPr wrap="square" lIns="0" tIns="0" rIns="0" bIns="0" rtlCol="0" anchor="ctr"/>
          <a:lstStyle/>
          <a:p>
            <a:pPr indent="0" marL="0">
              <a:buNone/>
            </a:pPr>
            <a:r>
              <a:rPr lang="en-US" sz="3000" b="1" dirty="0">
                <a:solidFill>
                  <a:srgbClr val="8C6A3A"/>
                </a:solidFill>
                <a:latin typeface="Meiryo" pitchFamily="34" charset="0"/>
                <a:ea typeface="Meiryo" pitchFamily="34" charset="-122"/>
                <a:cs typeface="Meiryo" pitchFamily="34" charset="-120"/>
              </a:rPr>
              <a:t>16.1 – 27.8</a:t>
            </a:r>
            <a:pPr indent="0" marL="0">
              <a:buNone/>
            </a:pPr>
            <a:r>
              <a:rPr lang="en-US" sz="1500" b="1" dirty="0">
                <a:solidFill>
                  <a:srgbClr val="8C6A3A"/>
                </a:solidFill>
                <a:latin typeface="Meiryo" pitchFamily="34" charset="0"/>
                <a:ea typeface="Meiryo" pitchFamily="34" charset="-122"/>
                <a:cs typeface="Meiryo" pitchFamily="34" charset="-120"/>
              </a:rPr>
              <a:t> %</a:t>
            </a:r>
            <a:endParaRPr lang="en-US" sz="3000" dirty="0"/>
          </a:p>
        </p:txBody>
      </p:sp>
      <p:sp>
        <p:nvSpPr>
          <p:cNvPr id="25" name="Text 22"/>
          <p:cNvSpPr/>
          <p:nvPr/>
        </p:nvSpPr>
        <p:spPr>
          <a:xfrm>
            <a:off x="6720840" y="4882896"/>
            <a:ext cx="4519879" cy="530352"/>
          </a:xfrm>
          <a:prstGeom prst="rect">
            <a:avLst/>
          </a:prstGeom>
          <a:noFill/>
          <a:ln/>
        </p:spPr>
        <p:txBody>
          <a:bodyPr wrap="square" lIns="0" tIns="0" rIns="0" bIns="0" rtlCol="0" anchor="ctr"/>
          <a:lstStyle/>
          <a:p>
            <a:pPr indent="0" marL="0">
              <a:lnSpc>
                <a:spcPct val="120000"/>
              </a:lnSpc>
              <a:buNone/>
            </a:pPr>
            <a:r>
              <a:rPr lang="en-US" sz="1000" dirty="0">
                <a:solidFill>
                  <a:srgbClr val="6F665F"/>
                </a:solidFill>
                <a:latin typeface="Meiryo" pitchFamily="34" charset="0"/>
                <a:ea typeface="Meiryo" pitchFamily="34" charset="-122"/>
                <a:cs typeface="Meiryo" pitchFamily="34" charset="-120"/>
              </a:rPr>
              <a:t>主線の回転12ヶ月で20.0%と貴社基準20%を満たす（フル稼働時の単年では22.5%）。20%の分岐点は回転12.3ヶ月であり、主線に余裕はない。15ヶ月まで延びると16.1%となり基準を下回る。</a:t>
            </a:r>
            <a:endParaRPr lang="en-US" sz="1000" dirty="0"/>
          </a:p>
        </p:txBody>
      </p:sp>
      <p:sp>
        <p:nvSpPr>
          <p:cNvPr id="26" name="Text 23"/>
          <p:cNvSpPr/>
          <p:nvPr/>
        </p:nvSpPr>
        <p:spPr>
          <a:xfrm>
            <a:off x="658368" y="5614416"/>
            <a:ext cx="10874959" cy="201168"/>
          </a:xfrm>
          <a:prstGeom prst="rect">
            <a:avLst/>
          </a:prstGeom>
          <a:noFill/>
          <a:ln/>
        </p:spPr>
        <p:txBody>
          <a:bodyPr wrap="square" lIns="0" tIns="0" rIns="0" bIns="0" rtlCol="0" anchor="ctr"/>
          <a:lstStyle/>
          <a:p>
            <a:pPr indent="0" marL="0">
              <a:buNone/>
            </a:pPr>
            <a:r>
              <a:rPr lang="en-US" sz="800" dirty="0">
                <a:solidFill>
                  <a:srgbClr val="9A8F84"/>
                </a:solidFill>
                <a:latin typeface="Meiryo" pitchFamily="34" charset="0"/>
                <a:ea typeface="Meiryo" pitchFamily="34" charset="-122"/>
                <a:cs typeface="Meiryo" pitchFamily="34" charset="-120"/>
              </a:rPr>
              <a:t>※ 年間粗利は変動販売費控除後。年平均は仕入展開6ヶ月の立ち上がりを含み、満期に残る在庫（最終回転分）は清算期間に時価の10%引きで売却したものとして計上する（従前は簿価償還としていたため15ヶ月と18ヶ月で逆転が生じていた）。</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484632"/>
            <a:ext cx="109728" cy="109728"/>
          </a:xfrm>
          <a:prstGeom prst="ellipse">
            <a:avLst/>
          </a:prstGeom>
          <a:solidFill>
            <a:srgbClr val="A78450"/>
          </a:solidFill>
          <a:ln w="12700">
            <a:solidFill>
              <a:srgbClr val="A78450"/>
            </a:solidFill>
            <a:prstDash val="solid"/>
          </a:ln>
        </p:spPr>
      </p:sp>
      <p:sp>
        <p:nvSpPr>
          <p:cNvPr id="3" name="Text 1"/>
          <p:cNvSpPr/>
          <p:nvPr/>
        </p:nvSpPr>
        <p:spPr>
          <a:xfrm>
            <a:off x="923544" y="365760"/>
            <a:ext cx="9601200" cy="329184"/>
          </a:xfrm>
          <a:prstGeom prst="rect">
            <a:avLst/>
          </a:prstGeom>
          <a:noFill/>
          <a:ln/>
        </p:spPr>
        <p:txBody>
          <a:bodyPr wrap="square" lIns="0" tIns="0" rIns="0" bIns="0" rtlCol="0" anchor="ctr"/>
          <a:lstStyle/>
          <a:p>
            <a:pPr indent="0" marL="0">
              <a:buNone/>
            </a:pPr>
            <a:r>
              <a:rPr lang="en-US" sz="1200" b="1" spc="240" kern="0" dirty="0">
                <a:solidFill>
                  <a:srgbClr val="A78450"/>
                </a:solidFill>
                <a:latin typeface="Meiryo" pitchFamily="34" charset="0"/>
                <a:ea typeface="Meiryo" pitchFamily="34" charset="-122"/>
                <a:cs typeface="Meiryo" pitchFamily="34" charset="-120"/>
              </a:rPr>
              <a:t>BASE CASE ｜ 主線</a:t>
            </a:r>
            <a:endParaRPr lang="en-US" sz="1200" dirty="0"/>
          </a:p>
        </p:txBody>
      </p:sp>
      <p:sp>
        <p:nvSpPr>
          <p:cNvPr id="4" name="Text 2"/>
          <p:cNvSpPr/>
          <p:nvPr/>
        </p:nvSpPr>
        <p:spPr>
          <a:xfrm>
            <a:off x="658368" y="731520"/>
            <a:ext cx="10874959" cy="566928"/>
          </a:xfrm>
          <a:prstGeom prst="rect">
            <a:avLst/>
          </a:prstGeom>
          <a:noFill/>
          <a:ln/>
        </p:spPr>
        <p:txBody>
          <a:bodyPr wrap="square" lIns="0" tIns="0" rIns="0" bIns="0" rtlCol="0" anchor="ctr"/>
          <a:lstStyle/>
          <a:p>
            <a:pPr indent="0" marL="0">
              <a:buNone/>
            </a:pPr>
            <a:r>
              <a:rPr lang="en-US" sz="2600" b="1" dirty="0">
                <a:solidFill>
                  <a:srgbClr val="2B2622"/>
                </a:solidFill>
                <a:latin typeface="Meiryo" pitchFamily="34" charset="0"/>
                <a:ea typeface="Meiryo" pitchFamily="34" charset="-122"/>
                <a:cs typeface="Meiryo" pitchFamily="34" charset="-120"/>
              </a:rPr>
              <a:t>在庫回転期間と投資家リターンの関係</a:t>
            </a:r>
            <a:endParaRPr lang="en-US" sz="2600" dirty="0"/>
          </a:p>
        </p:txBody>
      </p:sp>
      <p:sp>
        <p:nvSpPr>
          <p:cNvPr id="5" name="Text 3"/>
          <p:cNvSpPr/>
          <p:nvPr/>
        </p:nvSpPr>
        <p:spPr>
          <a:xfrm>
            <a:off x="658368" y="1261872"/>
            <a:ext cx="10874959" cy="310896"/>
          </a:xfrm>
          <a:prstGeom prst="rect">
            <a:avLst/>
          </a:prstGeom>
          <a:noFill/>
          <a:ln/>
        </p:spPr>
        <p:txBody>
          <a:bodyPr wrap="square" lIns="0" tIns="0" rIns="0" bIns="0" rtlCol="0" anchor="ctr"/>
          <a:lstStyle/>
          <a:p>
            <a:pPr indent="0" marL="0">
              <a:buNone/>
            </a:pPr>
            <a:r>
              <a:rPr lang="en-US" sz="1150" dirty="0">
                <a:solidFill>
                  <a:srgbClr val="6F665F"/>
                </a:solidFill>
                <a:latin typeface="Meiryo" pitchFamily="34" charset="0"/>
                <a:ea typeface="Meiryo" pitchFamily="34" charset="-122"/>
                <a:cs typeface="Meiryo" pitchFamily="34" charset="-120"/>
              </a:rPr>
              <a:t>いずれも投資家出資2億円に対する数値。年平均20%の分岐点は回転12.3ヶ月であり、主線12ヶ月に余裕はない。</a:t>
            </a:r>
            <a:endParaRPr lang="en-US" sz="1150" dirty="0"/>
          </a:p>
        </p:txBody>
      </p:sp>
      <p:sp>
        <p:nvSpPr>
          <p:cNvPr id="6" name="Text 4"/>
          <p:cNvSpPr/>
          <p:nvPr/>
        </p:nvSpPr>
        <p:spPr>
          <a:xfrm>
            <a:off x="658368" y="6446520"/>
            <a:ext cx="5486400" cy="256032"/>
          </a:xfrm>
          <a:prstGeom prst="rect">
            <a:avLst/>
          </a:prstGeom>
          <a:noFill/>
          <a:ln/>
        </p:spPr>
        <p:txBody>
          <a:bodyPr wrap="square" lIns="0" tIns="0" rIns="0" bIns="0" rtlCol="0" anchor="ctr"/>
          <a:lstStyle/>
          <a:p>
            <a:pPr indent="0" marL="0">
              <a:buNone/>
            </a:pPr>
            <a:r>
              <a:rPr lang="en-US" sz="900" dirty="0">
                <a:solidFill>
                  <a:srgbClr val="9A8F84"/>
                </a:solidFill>
                <a:latin typeface="Meiryo" pitchFamily="34" charset="0"/>
                <a:ea typeface="Meiryo" pitchFamily="34" charset="-122"/>
                <a:cs typeface="Meiryo" pitchFamily="34" charset="-120"/>
              </a:rPr>
              <a:t>Confidential</a:t>
            </a:r>
            <a:endParaRPr lang="en-US" sz="900" dirty="0"/>
          </a:p>
        </p:txBody>
      </p:sp>
      <p:sp>
        <p:nvSpPr>
          <p:cNvPr id="7" name="Text 5"/>
          <p:cNvSpPr/>
          <p:nvPr/>
        </p:nvSpPr>
        <p:spPr>
          <a:xfrm>
            <a:off x="10984687" y="6446520"/>
            <a:ext cx="548640" cy="256032"/>
          </a:xfrm>
          <a:prstGeom prst="rect">
            <a:avLst/>
          </a:prstGeom>
          <a:noFill/>
          <a:ln/>
        </p:spPr>
        <p:txBody>
          <a:bodyPr wrap="square" lIns="0" tIns="0" rIns="0" bIns="0" rtlCol="0" anchor="ctr"/>
          <a:lstStyle/>
          <a:p>
            <a:pPr algn="r" indent="0" marL="0">
              <a:buNone/>
            </a:pPr>
            <a:r>
              <a:rPr lang="en-US" sz="900" dirty="0">
                <a:solidFill>
                  <a:srgbClr val="9A8F84"/>
                </a:solidFill>
                <a:latin typeface="Meiryo" pitchFamily="34" charset="0"/>
                <a:ea typeface="Meiryo" pitchFamily="34" charset="-122"/>
                <a:cs typeface="Meiryo" pitchFamily="34" charset="-120"/>
              </a:rPr>
              <a:t>12</a:t>
            </a:r>
            <a:endParaRPr lang="en-US" sz="900" dirty="0"/>
          </a:p>
        </p:txBody>
      </p:sp>
      <p:sp>
        <p:nvSpPr>
          <p:cNvPr id="8" name="Shape 6"/>
          <p:cNvSpPr/>
          <p:nvPr/>
        </p:nvSpPr>
        <p:spPr>
          <a:xfrm>
            <a:off x="658368" y="1645920"/>
            <a:ext cx="5291176" cy="2615184"/>
          </a:xfrm>
          <a:prstGeom prst="roundRect">
            <a:avLst>
              <a:gd name="adj" fmla="val 2797"/>
            </a:avLst>
          </a:prstGeom>
          <a:solidFill>
            <a:srgbClr val="F5EFE4"/>
          </a:solidFill>
          <a:ln w="9525">
            <a:solidFill>
              <a:srgbClr val="E6DCCB"/>
            </a:solidFill>
            <a:prstDash val="solid"/>
          </a:ln>
          <a:effectLst>
            <a:outerShdw sx="100000" sy="100000" kx="0" ky="0" algn="bl" rotWithShape="0" blurRad="76200" dist="25400" dir="5400000">
              <a:srgbClr val="6F665F">
                <a:alpha val="18000"/>
              </a:srgbClr>
            </a:outerShdw>
          </a:effectLst>
        </p:spPr>
      </p:sp>
      <p:graphicFrame>
        <p:nvGraphicFramePr>
          <p:cNvPr id="9" name="Chart 0" descr=""/>
          <p:cNvGraphicFramePr/>
          <p:nvPr/>
        </p:nvGraphicFramePr>
        <p:xfrm>
          <a:off x="786384" y="1737360"/>
          <a:ext cx="5035144" cy="2432304"/>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6242152" y="1645920"/>
            <a:ext cx="5291176" cy="2615184"/>
          </a:xfrm>
          <a:prstGeom prst="roundRect">
            <a:avLst>
              <a:gd name="adj" fmla="val 2797"/>
            </a:avLst>
          </a:prstGeom>
          <a:solidFill>
            <a:srgbClr val="F5EFE4"/>
          </a:solidFill>
          <a:ln w="9525">
            <a:solidFill>
              <a:srgbClr val="E6DCCB"/>
            </a:solidFill>
            <a:prstDash val="solid"/>
          </a:ln>
          <a:effectLst>
            <a:outerShdw sx="100000" sy="100000" kx="0" ky="0" algn="bl" rotWithShape="0" blurRad="76200" dist="25400" dir="5400000">
              <a:srgbClr val="6F665F">
                <a:alpha val="18000"/>
              </a:srgbClr>
            </a:outerShdw>
          </a:effectLst>
        </p:spPr>
      </p:sp>
      <p:graphicFrame>
        <p:nvGraphicFramePr>
          <p:cNvPr id="11" name="Chart 1" descr=""/>
          <p:cNvGraphicFramePr/>
          <p:nvPr/>
        </p:nvGraphicFramePr>
        <p:xfrm>
          <a:off x="6370168" y="1737360"/>
          <a:ext cx="5035144" cy="2432304"/>
        </p:xfrm>
        <a:graphic xmlns:a="http://schemas.openxmlformats.org/drawingml/2006/main">
          <a:graphicData uri="http://schemas.openxmlformats.org/drawingml/2006/chart">
            <c:chart xmlns:c="http://schemas.openxmlformats.org/drawingml/2006/chart" r:id="rId2"/>
          </a:graphicData>
        </a:graphic>
      </p:graphicFrame>
      <p:sp>
        <p:nvSpPr>
          <p:cNvPr id="12" name="Shape 8"/>
          <p:cNvSpPr/>
          <p:nvPr/>
        </p:nvSpPr>
        <p:spPr>
          <a:xfrm>
            <a:off x="658368" y="4443984"/>
            <a:ext cx="5300320" cy="1225296"/>
          </a:xfrm>
          <a:prstGeom prst="roundRect">
            <a:avLst>
              <a:gd name="adj" fmla="val 5970"/>
            </a:avLst>
          </a:prstGeom>
          <a:solidFill>
            <a:srgbClr val="F3E9D6"/>
          </a:solidFill>
          <a:ln w="9525">
            <a:solidFill>
              <a:srgbClr val="C9AE7E"/>
            </a:solidFill>
            <a:prstDash val="solid"/>
          </a:ln>
          <a:effectLst>
            <a:outerShdw sx="100000" sy="100000" kx="0" ky="0" algn="bl" rotWithShape="0" blurRad="76200" dist="25400" dir="5400000">
              <a:srgbClr val="6F665F">
                <a:alpha val="18000"/>
              </a:srgbClr>
            </a:outerShdw>
          </a:effectLst>
        </p:spPr>
      </p:sp>
      <p:sp>
        <p:nvSpPr>
          <p:cNvPr id="13" name="Text 9"/>
          <p:cNvSpPr/>
          <p:nvPr/>
        </p:nvSpPr>
        <p:spPr>
          <a:xfrm>
            <a:off x="914400" y="4608576"/>
            <a:ext cx="4788256" cy="256032"/>
          </a:xfrm>
          <a:prstGeom prst="rect">
            <a:avLst/>
          </a:prstGeom>
          <a:noFill/>
          <a:ln/>
        </p:spPr>
        <p:txBody>
          <a:bodyPr wrap="square" lIns="0" tIns="0" rIns="0" bIns="0" rtlCol="0" anchor="ctr"/>
          <a:lstStyle/>
          <a:p>
            <a:pPr indent="0" marL="0">
              <a:buNone/>
            </a:pPr>
            <a:r>
              <a:rPr lang="en-US" sz="1200" b="1" dirty="0">
                <a:solidFill>
                  <a:srgbClr val="8C6A3A"/>
                </a:solidFill>
                <a:latin typeface="Meiryo" pitchFamily="34" charset="0"/>
                <a:ea typeface="Meiryo" pitchFamily="34" charset="-122"/>
                <a:cs typeface="Meiryo" pitchFamily="34" charset="-120"/>
              </a:rPr>
              <a:t>回転12ヶ月が必須条件</a:t>
            </a:r>
            <a:endParaRPr lang="en-US" sz="1200" dirty="0"/>
          </a:p>
        </p:txBody>
      </p:sp>
      <p:sp>
        <p:nvSpPr>
          <p:cNvPr id="14" name="Text 10"/>
          <p:cNvSpPr/>
          <p:nvPr/>
        </p:nvSpPr>
        <p:spPr>
          <a:xfrm>
            <a:off x="914400" y="4901184"/>
            <a:ext cx="4788256" cy="658368"/>
          </a:xfrm>
          <a:prstGeom prst="rect">
            <a:avLst/>
          </a:prstGeom>
          <a:noFill/>
          <a:ln/>
        </p:spPr>
        <p:txBody>
          <a:bodyPr wrap="square" lIns="0" tIns="0" rIns="0" bIns="0" rtlCol="0" anchor="ctr"/>
          <a:lstStyle/>
          <a:p>
            <a:pPr indent="0" marL="0">
              <a:lnSpc>
                <a:spcPct val="118000"/>
              </a:lnSpc>
              <a:buNone/>
            </a:pPr>
            <a:r>
              <a:rPr lang="en-US" sz="950" dirty="0">
                <a:solidFill>
                  <a:srgbClr val="6F665F"/>
                </a:solidFill>
                <a:latin typeface="Meiryo" pitchFamily="34" charset="0"/>
                <a:ea typeface="Meiryo" pitchFamily="34" charset="-122"/>
                <a:cs typeface="Meiryo" pitchFamily="34" charset="-120"/>
              </a:rPr>
              <a:t>年平均20%の分岐点は回転12.3ヶ月。主線12ヶ月に余裕はなく、回転12ヶ月の達成が貴社基準を満たすための必須条件となる。ただし必要な年間販売額は6.67億円と、現状の販売実力（年5〜7億円）の範囲内にある。</a:t>
            </a:r>
            <a:endParaRPr lang="en-US" sz="950" dirty="0"/>
          </a:p>
        </p:txBody>
      </p:sp>
      <p:sp>
        <p:nvSpPr>
          <p:cNvPr id="15" name="Shape 11"/>
          <p:cNvSpPr/>
          <p:nvPr/>
        </p:nvSpPr>
        <p:spPr>
          <a:xfrm>
            <a:off x="6233008" y="4443984"/>
            <a:ext cx="5300320" cy="1225296"/>
          </a:xfrm>
          <a:prstGeom prst="roundRect">
            <a:avLst>
              <a:gd name="adj" fmla="val 5970"/>
            </a:avLst>
          </a:prstGeom>
          <a:solidFill>
            <a:srgbClr val="F5EFE4"/>
          </a:solidFill>
          <a:ln w="9525">
            <a:solidFill>
              <a:srgbClr val="E6DCCB"/>
            </a:solidFill>
            <a:prstDash val="solid"/>
          </a:ln>
          <a:effectLst>
            <a:outerShdw sx="100000" sy="100000" kx="0" ky="0" algn="bl" rotWithShape="0" blurRad="76200" dist="25400" dir="5400000">
              <a:srgbClr val="6F665F">
                <a:alpha val="18000"/>
              </a:srgbClr>
            </a:outerShdw>
          </a:effectLst>
        </p:spPr>
      </p:sp>
      <p:sp>
        <p:nvSpPr>
          <p:cNvPr id="16" name="Text 12"/>
          <p:cNvSpPr/>
          <p:nvPr/>
        </p:nvSpPr>
        <p:spPr>
          <a:xfrm>
            <a:off x="6489040" y="4608576"/>
            <a:ext cx="4788256" cy="256032"/>
          </a:xfrm>
          <a:prstGeom prst="rect">
            <a:avLst/>
          </a:prstGeom>
          <a:noFill/>
          <a:ln/>
        </p:spPr>
        <p:txBody>
          <a:bodyPr wrap="square" lIns="0" tIns="0" rIns="0" bIns="0" rtlCol="0" anchor="ctr"/>
          <a:lstStyle/>
          <a:p>
            <a:pPr indent="0" marL="0">
              <a:buNone/>
            </a:pPr>
            <a:r>
              <a:rPr lang="en-US" sz="1200" b="1" dirty="0">
                <a:solidFill>
                  <a:srgbClr val="8C6A3A"/>
                </a:solidFill>
                <a:latin typeface="Meiryo" pitchFamily="34" charset="0"/>
                <a:ea typeface="Meiryo" pitchFamily="34" charset="-122"/>
                <a:cs typeface="Meiryo" pitchFamily="34" charset="-120"/>
              </a:rPr>
              <a:t>値上がりが利回りの主たる変動要因になる</a:t>
            </a:r>
            <a:endParaRPr lang="en-US" sz="1200" dirty="0"/>
          </a:p>
        </p:txBody>
      </p:sp>
      <p:sp>
        <p:nvSpPr>
          <p:cNvPr id="17" name="Text 13"/>
          <p:cNvSpPr/>
          <p:nvPr/>
        </p:nvSpPr>
        <p:spPr>
          <a:xfrm>
            <a:off x="6489040" y="4901184"/>
            <a:ext cx="4788256" cy="658368"/>
          </a:xfrm>
          <a:prstGeom prst="rect">
            <a:avLst/>
          </a:prstGeom>
          <a:noFill/>
          <a:ln/>
        </p:spPr>
        <p:txBody>
          <a:bodyPr wrap="square" lIns="0" tIns="0" rIns="0" bIns="0" rtlCol="0" anchor="ctr"/>
          <a:lstStyle/>
          <a:p>
            <a:pPr indent="0" marL="0">
              <a:lnSpc>
                <a:spcPct val="118000"/>
              </a:lnSpc>
              <a:buNone/>
            </a:pPr>
            <a:r>
              <a:rPr lang="en-US" sz="950" dirty="0">
                <a:solidFill>
                  <a:srgbClr val="6F665F"/>
                </a:solidFill>
                <a:latin typeface="Meiryo" pitchFamily="34" charset="0"/>
                <a:ea typeface="Meiryo" pitchFamily="34" charset="-122"/>
                <a:cs typeface="Meiryo" pitchFamily="34" charset="-120"/>
              </a:rPr>
              <a:t>卸値が時価に連動するため、仕入価格と売値の変動は投資家利回りにほとんど効かない。代わりに保有中の値上がりが効き、年6%を織り込まない場合は主線でもフル稼働時の単年15.6%・年平均13.6%まで下がる（次頁）。</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484632"/>
            <a:ext cx="109728" cy="109728"/>
          </a:xfrm>
          <a:prstGeom prst="ellipse">
            <a:avLst/>
          </a:prstGeom>
          <a:solidFill>
            <a:srgbClr val="A78450"/>
          </a:solidFill>
          <a:ln w="12700">
            <a:solidFill>
              <a:srgbClr val="A78450"/>
            </a:solidFill>
            <a:prstDash val="solid"/>
          </a:ln>
        </p:spPr>
      </p:sp>
      <p:sp>
        <p:nvSpPr>
          <p:cNvPr id="3" name="Text 1"/>
          <p:cNvSpPr/>
          <p:nvPr/>
        </p:nvSpPr>
        <p:spPr>
          <a:xfrm>
            <a:off x="923544" y="365760"/>
            <a:ext cx="9601200" cy="329184"/>
          </a:xfrm>
          <a:prstGeom prst="rect">
            <a:avLst/>
          </a:prstGeom>
          <a:noFill/>
          <a:ln/>
        </p:spPr>
        <p:txBody>
          <a:bodyPr wrap="square" lIns="0" tIns="0" rIns="0" bIns="0" rtlCol="0" anchor="ctr"/>
          <a:lstStyle/>
          <a:p>
            <a:pPr indent="0" marL="0">
              <a:buNone/>
            </a:pPr>
            <a:r>
              <a:rPr lang="en-US" sz="1200" b="1" spc="240" kern="0" dirty="0">
                <a:solidFill>
                  <a:srgbClr val="A78450"/>
                </a:solidFill>
                <a:latin typeface="Meiryo" pitchFamily="34" charset="0"/>
                <a:ea typeface="Meiryo" pitchFamily="34" charset="-122"/>
                <a:cs typeface="Meiryo" pitchFamily="34" charset="-120"/>
              </a:rPr>
              <a:t>PRICE APPRECIATION</a:t>
            </a:r>
            <a:endParaRPr lang="en-US" sz="1200" dirty="0"/>
          </a:p>
        </p:txBody>
      </p:sp>
      <p:sp>
        <p:nvSpPr>
          <p:cNvPr id="4" name="Text 2"/>
          <p:cNvSpPr/>
          <p:nvPr/>
        </p:nvSpPr>
        <p:spPr>
          <a:xfrm>
            <a:off x="658368" y="731520"/>
            <a:ext cx="10874959" cy="566928"/>
          </a:xfrm>
          <a:prstGeom prst="rect">
            <a:avLst/>
          </a:prstGeom>
          <a:noFill/>
          <a:ln/>
        </p:spPr>
        <p:txBody>
          <a:bodyPr wrap="square" lIns="0" tIns="0" rIns="0" bIns="0" rtlCol="0" anchor="ctr"/>
          <a:lstStyle/>
          <a:p>
            <a:pPr indent="0" marL="0">
              <a:buNone/>
            </a:pPr>
            <a:r>
              <a:rPr lang="en-US" sz="2600" b="1" dirty="0">
                <a:solidFill>
                  <a:srgbClr val="2B2622"/>
                </a:solidFill>
                <a:latin typeface="Meiryo" pitchFamily="34" charset="0"/>
                <a:ea typeface="Meiryo" pitchFamily="34" charset="-122"/>
                <a:cs typeface="Meiryo" pitchFamily="34" charset="-120"/>
              </a:rPr>
              <a:t>ワイン価格の上昇をどう織り込むか</a:t>
            </a:r>
            <a:endParaRPr lang="en-US" sz="2600" dirty="0"/>
          </a:p>
        </p:txBody>
      </p:sp>
      <p:sp>
        <p:nvSpPr>
          <p:cNvPr id="5" name="Text 3"/>
          <p:cNvSpPr/>
          <p:nvPr/>
        </p:nvSpPr>
        <p:spPr>
          <a:xfrm>
            <a:off x="658368" y="1261872"/>
            <a:ext cx="10874959" cy="310896"/>
          </a:xfrm>
          <a:prstGeom prst="rect">
            <a:avLst/>
          </a:prstGeom>
          <a:noFill/>
          <a:ln/>
        </p:spPr>
        <p:txBody>
          <a:bodyPr wrap="square" lIns="0" tIns="0" rIns="0" bIns="0" rtlCol="0" anchor="ctr"/>
          <a:lstStyle/>
          <a:p>
            <a:pPr indent="0" marL="0">
              <a:buNone/>
            </a:pPr>
            <a:r>
              <a:rPr lang="en-US" sz="1150" dirty="0">
                <a:solidFill>
                  <a:srgbClr val="6F665F"/>
                </a:solidFill>
                <a:latin typeface="Meiryo" pitchFamily="34" charset="0"/>
                <a:ea typeface="Meiryo" pitchFamily="34" charset="-122"/>
                <a:cs typeface="Meiryo" pitchFamily="34" charset="-120"/>
              </a:rPr>
              <a:t>卸値が時価に連動するため、SPCの収益は「αの取り込み」と「保有中の値上がり」の二階建てになる。</a:t>
            </a:r>
            <a:endParaRPr lang="en-US" sz="1150" dirty="0"/>
          </a:p>
        </p:txBody>
      </p:sp>
      <p:sp>
        <p:nvSpPr>
          <p:cNvPr id="6" name="Text 4"/>
          <p:cNvSpPr/>
          <p:nvPr/>
        </p:nvSpPr>
        <p:spPr>
          <a:xfrm>
            <a:off x="658368" y="6446520"/>
            <a:ext cx="5486400" cy="256032"/>
          </a:xfrm>
          <a:prstGeom prst="rect">
            <a:avLst/>
          </a:prstGeom>
          <a:noFill/>
          <a:ln/>
        </p:spPr>
        <p:txBody>
          <a:bodyPr wrap="square" lIns="0" tIns="0" rIns="0" bIns="0" rtlCol="0" anchor="ctr"/>
          <a:lstStyle/>
          <a:p>
            <a:pPr indent="0" marL="0">
              <a:buNone/>
            </a:pPr>
            <a:r>
              <a:rPr lang="en-US" sz="900" dirty="0">
                <a:solidFill>
                  <a:srgbClr val="9A8F84"/>
                </a:solidFill>
                <a:latin typeface="Meiryo" pitchFamily="34" charset="0"/>
                <a:ea typeface="Meiryo" pitchFamily="34" charset="-122"/>
                <a:cs typeface="Meiryo" pitchFamily="34" charset="-120"/>
              </a:rPr>
              <a:t>Confidential</a:t>
            </a:r>
            <a:endParaRPr lang="en-US" sz="900" dirty="0"/>
          </a:p>
        </p:txBody>
      </p:sp>
      <p:sp>
        <p:nvSpPr>
          <p:cNvPr id="7" name="Text 5"/>
          <p:cNvSpPr/>
          <p:nvPr/>
        </p:nvSpPr>
        <p:spPr>
          <a:xfrm>
            <a:off x="10984687" y="6446520"/>
            <a:ext cx="548640" cy="256032"/>
          </a:xfrm>
          <a:prstGeom prst="rect">
            <a:avLst/>
          </a:prstGeom>
          <a:noFill/>
          <a:ln/>
        </p:spPr>
        <p:txBody>
          <a:bodyPr wrap="square" lIns="0" tIns="0" rIns="0" bIns="0" rtlCol="0" anchor="ctr"/>
          <a:lstStyle/>
          <a:p>
            <a:pPr algn="r" indent="0" marL="0">
              <a:buNone/>
            </a:pPr>
            <a:r>
              <a:rPr lang="en-US" sz="900" dirty="0">
                <a:solidFill>
                  <a:srgbClr val="9A8F84"/>
                </a:solidFill>
                <a:latin typeface="Meiryo" pitchFamily="34" charset="0"/>
                <a:ea typeface="Meiryo" pitchFamily="34" charset="-122"/>
                <a:cs typeface="Meiryo" pitchFamily="34" charset="-120"/>
              </a:rPr>
              <a:t>13</a:t>
            </a:r>
            <a:endParaRPr lang="en-US" sz="900" dirty="0"/>
          </a:p>
        </p:txBody>
      </p:sp>
      <p:sp>
        <p:nvSpPr>
          <p:cNvPr id="8" name="Shape 6"/>
          <p:cNvSpPr/>
          <p:nvPr/>
        </p:nvSpPr>
        <p:spPr>
          <a:xfrm>
            <a:off x="658368" y="1664208"/>
            <a:ext cx="5291176" cy="1572768"/>
          </a:xfrm>
          <a:prstGeom prst="roundRect">
            <a:avLst>
              <a:gd name="adj" fmla="val 4651"/>
            </a:avLst>
          </a:prstGeom>
          <a:solidFill>
            <a:srgbClr val="F5EFE4"/>
          </a:solidFill>
          <a:ln w="9525">
            <a:solidFill>
              <a:srgbClr val="E6DCCB"/>
            </a:solidFill>
            <a:prstDash val="solid"/>
          </a:ln>
          <a:effectLst>
            <a:outerShdw sx="100000" sy="100000" kx="0" ky="0" algn="bl" rotWithShape="0" blurRad="76200" dist="25400" dir="5400000">
              <a:srgbClr val="6F665F">
                <a:alpha val="18000"/>
              </a:srgbClr>
            </a:outerShdw>
          </a:effectLst>
        </p:spPr>
      </p:sp>
      <p:sp>
        <p:nvSpPr>
          <p:cNvPr id="9" name="Text 7"/>
          <p:cNvSpPr/>
          <p:nvPr/>
        </p:nvSpPr>
        <p:spPr>
          <a:xfrm>
            <a:off x="914400" y="1810512"/>
            <a:ext cx="2913736" cy="256032"/>
          </a:xfrm>
          <a:prstGeom prst="rect">
            <a:avLst/>
          </a:prstGeom>
          <a:noFill/>
          <a:ln/>
        </p:spPr>
        <p:txBody>
          <a:bodyPr wrap="square" lIns="0" tIns="0" rIns="0" bIns="0" rtlCol="0" anchor="ctr"/>
          <a:lstStyle/>
          <a:p>
            <a:pPr indent="0" marL="0">
              <a:buNone/>
            </a:pPr>
            <a:r>
              <a:rPr lang="en-US" sz="1250" b="1" dirty="0">
                <a:solidFill>
                  <a:srgbClr val="2B2622"/>
                </a:solidFill>
                <a:latin typeface="Meiryo" pitchFamily="34" charset="0"/>
                <a:ea typeface="Meiryo" pitchFamily="34" charset="-122"/>
                <a:cs typeface="Meiryo" pitchFamily="34" charset="-120"/>
              </a:rPr>
              <a:t>フロー｜αの取り込み</a:t>
            </a:r>
            <a:endParaRPr lang="en-US" sz="1250" dirty="0"/>
          </a:p>
        </p:txBody>
      </p:sp>
      <p:sp>
        <p:nvSpPr>
          <p:cNvPr id="10" name="Text 8"/>
          <p:cNvSpPr/>
          <p:nvPr/>
        </p:nvSpPr>
        <p:spPr>
          <a:xfrm>
            <a:off x="3626968" y="1810512"/>
            <a:ext cx="2066544" cy="256032"/>
          </a:xfrm>
          <a:prstGeom prst="rect">
            <a:avLst/>
          </a:prstGeom>
          <a:noFill/>
          <a:ln/>
        </p:spPr>
        <p:txBody>
          <a:bodyPr wrap="square" lIns="0" tIns="0" rIns="0" bIns="0" rtlCol="0" anchor="ctr"/>
          <a:lstStyle/>
          <a:p>
            <a:pPr algn="r" indent="0" marL="0">
              <a:buNone/>
            </a:pPr>
            <a:r>
              <a:rPr lang="en-US" sz="950" dirty="0">
                <a:solidFill>
                  <a:srgbClr val="6F665F"/>
                </a:solidFill>
                <a:latin typeface="Meiryo" pitchFamily="34" charset="0"/>
                <a:ea typeface="Meiryo" pitchFamily="34" charset="-122"/>
                <a:cs typeface="Meiryo" pitchFamily="34" charset="-120"/>
              </a:rPr>
              <a:t>回転に対するリターン</a:t>
            </a:r>
            <a:endParaRPr lang="en-US" sz="950" dirty="0"/>
          </a:p>
        </p:txBody>
      </p:sp>
      <p:sp>
        <p:nvSpPr>
          <p:cNvPr id="11" name="Text 9"/>
          <p:cNvSpPr/>
          <p:nvPr/>
        </p:nvSpPr>
        <p:spPr>
          <a:xfrm>
            <a:off x="914400" y="2121408"/>
            <a:ext cx="4779112" cy="566928"/>
          </a:xfrm>
          <a:prstGeom prst="rect">
            <a:avLst/>
          </a:prstGeom>
          <a:noFill/>
          <a:ln/>
        </p:spPr>
        <p:txBody>
          <a:bodyPr wrap="square" lIns="0" tIns="0" rIns="0" bIns="0" rtlCol="0" anchor="ctr"/>
          <a:lstStyle/>
          <a:p>
            <a:pPr indent="0" marL="0">
              <a:lnSpc>
                <a:spcPct val="122000"/>
              </a:lnSpc>
              <a:buNone/>
            </a:pPr>
            <a:r>
              <a:rPr lang="en-US" sz="950" dirty="0">
                <a:solidFill>
                  <a:srgbClr val="6F665F"/>
                </a:solidFill>
                <a:latin typeface="Meiryo" pitchFamily="34" charset="0"/>
                <a:ea typeface="Meiryo" pitchFamily="34" charset="-122"/>
                <a:cs typeface="Meiryo" pitchFamily="34" charset="-120"/>
              </a:rPr>
              <a:t>時価より24.5%安く仕入れた分を売却時に取り込む。年に何回まわせるかに比例するため、回転期間が短いほど大きくなる。</a:t>
            </a:r>
            <a:endParaRPr lang="en-US" sz="950" dirty="0"/>
          </a:p>
        </p:txBody>
      </p:sp>
      <p:sp>
        <p:nvSpPr>
          <p:cNvPr id="12" name="Text 10"/>
          <p:cNvSpPr/>
          <p:nvPr/>
        </p:nvSpPr>
        <p:spPr>
          <a:xfrm>
            <a:off x="914400" y="2761488"/>
            <a:ext cx="4779112" cy="292608"/>
          </a:xfrm>
          <a:prstGeom prst="rect">
            <a:avLst/>
          </a:prstGeom>
          <a:noFill/>
          <a:ln/>
        </p:spPr>
        <p:txBody>
          <a:bodyPr wrap="square" lIns="0" tIns="0" rIns="0" bIns="0" rtlCol="0" anchor="ctr"/>
          <a:lstStyle/>
          <a:p>
            <a:pPr indent="0" marL="0">
              <a:buNone/>
            </a:pPr>
            <a:r>
              <a:rPr lang="en-US" sz="1300" b="1" dirty="0">
                <a:solidFill>
                  <a:srgbClr val="8C6A3A"/>
                </a:solidFill>
                <a:latin typeface="Meiryo" pitchFamily="34" charset="0"/>
                <a:ea typeface="Meiryo" pitchFamily="34" charset="-122"/>
                <a:cs typeface="Meiryo" pitchFamily="34" charset="-120"/>
              </a:rPr>
              <a:t>主線（回転12ヶ月）で 15.6%</a:t>
            </a:r>
            <a:endParaRPr lang="en-US" sz="1300" dirty="0"/>
          </a:p>
        </p:txBody>
      </p:sp>
      <p:sp>
        <p:nvSpPr>
          <p:cNvPr id="13" name="Shape 11"/>
          <p:cNvSpPr/>
          <p:nvPr/>
        </p:nvSpPr>
        <p:spPr>
          <a:xfrm>
            <a:off x="6242152" y="1664208"/>
            <a:ext cx="5291176" cy="1572768"/>
          </a:xfrm>
          <a:prstGeom prst="roundRect">
            <a:avLst>
              <a:gd name="adj" fmla="val 4651"/>
            </a:avLst>
          </a:prstGeom>
          <a:solidFill>
            <a:srgbClr val="F3E9D6"/>
          </a:solidFill>
          <a:ln w="9525">
            <a:solidFill>
              <a:srgbClr val="C9AE7E"/>
            </a:solidFill>
            <a:prstDash val="solid"/>
          </a:ln>
          <a:effectLst>
            <a:outerShdw sx="100000" sy="100000" kx="0" ky="0" algn="bl" rotWithShape="0" blurRad="76200" dist="25400" dir="5400000">
              <a:srgbClr val="6F665F">
                <a:alpha val="18000"/>
              </a:srgbClr>
            </a:outerShdw>
          </a:effectLst>
        </p:spPr>
      </p:sp>
      <p:sp>
        <p:nvSpPr>
          <p:cNvPr id="14" name="Text 12"/>
          <p:cNvSpPr/>
          <p:nvPr/>
        </p:nvSpPr>
        <p:spPr>
          <a:xfrm>
            <a:off x="6498184" y="1810512"/>
            <a:ext cx="2913736" cy="256032"/>
          </a:xfrm>
          <a:prstGeom prst="rect">
            <a:avLst/>
          </a:prstGeom>
          <a:noFill/>
          <a:ln/>
        </p:spPr>
        <p:txBody>
          <a:bodyPr wrap="square" lIns="0" tIns="0" rIns="0" bIns="0" rtlCol="0" anchor="ctr"/>
          <a:lstStyle/>
          <a:p>
            <a:pPr indent="0" marL="0">
              <a:buNone/>
            </a:pPr>
            <a:r>
              <a:rPr lang="en-US" sz="1250" b="1" dirty="0">
                <a:solidFill>
                  <a:srgbClr val="8C6A3A"/>
                </a:solidFill>
                <a:latin typeface="Meiryo" pitchFamily="34" charset="0"/>
                <a:ea typeface="Meiryo" pitchFamily="34" charset="-122"/>
                <a:cs typeface="Meiryo" pitchFamily="34" charset="-120"/>
              </a:rPr>
              <a:t>ストック｜ワインの値上がり</a:t>
            </a:r>
            <a:endParaRPr lang="en-US" sz="1250" dirty="0"/>
          </a:p>
        </p:txBody>
      </p:sp>
      <p:sp>
        <p:nvSpPr>
          <p:cNvPr id="15" name="Text 13"/>
          <p:cNvSpPr/>
          <p:nvPr/>
        </p:nvSpPr>
        <p:spPr>
          <a:xfrm>
            <a:off x="9210751" y="1810512"/>
            <a:ext cx="2066544" cy="256032"/>
          </a:xfrm>
          <a:prstGeom prst="rect">
            <a:avLst/>
          </a:prstGeom>
          <a:noFill/>
          <a:ln/>
        </p:spPr>
        <p:txBody>
          <a:bodyPr wrap="square" lIns="0" tIns="0" rIns="0" bIns="0" rtlCol="0" anchor="ctr"/>
          <a:lstStyle/>
          <a:p>
            <a:pPr algn="r" indent="0" marL="0">
              <a:buNone/>
            </a:pPr>
            <a:r>
              <a:rPr lang="en-US" sz="950" dirty="0">
                <a:solidFill>
                  <a:srgbClr val="6F665F"/>
                </a:solidFill>
                <a:latin typeface="Meiryo" pitchFamily="34" charset="0"/>
                <a:ea typeface="Meiryo" pitchFamily="34" charset="-122"/>
                <a:cs typeface="Meiryo" pitchFamily="34" charset="-120"/>
              </a:rPr>
              <a:t>在庫に対するリターン</a:t>
            </a:r>
            <a:endParaRPr lang="en-US" sz="950" dirty="0"/>
          </a:p>
        </p:txBody>
      </p:sp>
      <p:sp>
        <p:nvSpPr>
          <p:cNvPr id="16" name="Text 14"/>
          <p:cNvSpPr/>
          <p:nvPr/>
        </p:nvSpPr>
        <p:spPr>
          <a:xfrm>
            <a:off x="6498184" y="2121408"/>
            <a:ext cx="4779112" cy="566928"/>
          </a:xfrm>
          <a:prstGeom prst="rect">
            <a:avLst/>
          </a:prstGeom>
          <a:noFill/>
          <a:ln/>
        </p:spPr>
        <p:txBody>
          <a:bodyPr wrap="square" lIns="0" tIns="0" rIns="0" bIns="0" rtlCol="0" anchor="ctr"/>
          <a:lstStyle/>
          <a:p>
            <a:pPr indent="0" marL="0">
              <a:lnSpc>
                <a:spcPct val="122000"/>
              </a:lnSpc>
              <a:buNone/>
            </a:pPr>
            <a:r>
              <a:rPr lang="en-US" sz="950" dirty="0">
                <a:solidFill>
                  <a:srgbClr val="6F665F"/>
                </a:solidFill>
                <a:latin typeface="Meiryo" pitchFamily="34" charset="0"/>
                <a:ea typeface="Meiryo" pitchFamily="34" charset="-122"/>
                <a:cs typeface="Meiryo" pitchFamily="34" charset="-120"/>
              </a:rPr>
              <a:t>保有している間、価格帯全体が年6%上昇する。在庫金額に対して発生するため、回転期間によらずほぼ一定になる。</a:t>
            </a:r>
            <a:endParaRPr lang="en-US" sz="950" dirty="0"/>
          </a:p>
        </p:txBody>
      </p:sp>
      <p:sp>
        <p:nvSpPr>
          <p:cNvPr id="17" name="Text 15"/>
          <p:cNvSpPr/>
          <p:nvPr/>
        </p:nvSpPr>
        <p:spPr>
          <a:xfrm>
            <a:off x="6498184" y="2761488"/>
            <a:ext cx="4779112" cy="292608"/>
          </a:xfrm>
          <a:prstGeom prst="rect">
            <a:avLst/>
          </a:prstGeom>
          <a:noFill/>
          <a:ln/>
        </p:spPr>
        <p:txBody>
          <a:bodyPr wrap="square" lIns="0" tIns="0" rIns="0" bIns="0" rtlCol="0" anchor="ctr"/>
          <a:lstStyle/>
          <a:p>
            <a:pPr indent="0" marL="0">
              <a:buNone/>
            </a:pPr>
            <a:r>
              <a:rPr lang="en-US" sz="1300" b="1" dirty="0">
                <a:solidFill>
                  <a:srgbClr val="8C6A3A"/>
                </a:solidFill>
                <a:latin typeface="Meiryo" pitchFamily="34" charset="0"/>
                <a:ea typeface="Meiryo" pitchFamily="34" charset="-122"/>
                <a:cs typeface="Meiryo" pitchFamily="34" charset="-120"/>
              </a:rPr>
              <a:t>回転期間によらず 約 ＋6.9pt</a:t>
            </a:r>
            <a:endParaRPr lang="en-US" sz="13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58368" y="3346704"/>
          <a:ext cx="10874959" cy="914400"/>
        </p:xfrm>
        <a:graphic>
          <a:graphicData uri="http://schemas.openxmlformats.org/drawingml/2006/table">
            <a:tbl>
              <a:tblPr/>
              <a:tblGrid>
                <a:gridCol w="2057400"/>
                <a:gridCol w="1874520"/>
                <a:gridCol w="2788920"/>
                <a:gridCol w="2148840"/>
                <a:gridCol w="2002536"/>
              </a:tblGrid>
              <a:tr h="342900">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在庫回転期間</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2B2622"/>
                    </a:solidFill>
                  </a:tcPr>
                </a:tc>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売値の上昇倍率</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2B2622"/>
                    </a:solidFill>
                  </a:tcPr>
                </a:tc>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① αの取り込みのみ（上昇0%）</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2B2622"/>
                    </a:solidFill>
                  </a:tcPr>
                </a:tc>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② 値上がりによる上乗せ</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2B2622"/>
                    </a:solidFill>
                  </a:tcPr>
                </a:tc>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フル稼働時の単年利回り（①＋②）</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2B2622"/>
                    </a:solidFill>
                  </a:tcPr>
                </a:tc>
              </a:tr>
              <a:tr h="342900">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9ヶ月</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×1.045</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22.2%</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8C6A3A"/>
                          </a:solidFill>
                          <a:latin typeface="Meiryo" pitchFamily="34" charset="0"/>
                          <a:ea typeface="Meiryo" pitchFamily="34" charset="-122"/>
                          <a:cs typeface="Meiryo" pitchFamily="34" charset="-120"/>
                        </a:rPr>
                        <a:t>＋6.8pt</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2B2622"/>
                          </a:solidFill>
                          <a:latin typeface="Meiryo" pitchFamily="34" charset="0"/>
                          <a:ea typeface="Meiryo" pitchFamily="34" charset="-122"/>
                          <a:cs typeface="Meiryo" pitchFamily="34" charset="-120"/>
                        </a:rPr>
                        <a:t>29.0%</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r>
              <a:tr h="342900">
                <a:tc>
                  <a:txBody>
                    <a:bodyPr/>
                    <a:lstStyle/>
                    <a:p>
                      <a:pPr algn="ctr" indent="0" marL="0">
                        <a:buNone/>
                      </a:pPr>
                      <a:r>
                        <a:rPr lang="en-US" sz="1000" b="1" dirty="0">
                          <a:solidFill>
                            <a:srgbClr val="8C6A3A"/>
                          </a:solidFill>
                          <a:latin typeface="Meiryo" pitchFamily="34" charset="0"/>
                          <a:ea typeface="Meiryo" pitchFamily="34" charset="-122"/>
                          <a:cs typeface="Meiryo" pitchFamily="34" charset="-120"/>
                        </a:rPr>
                        <a:t>12ヶ月（主線）</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×1.060</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15.6%</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8C6A3A"/>
                          </a:solidFill>
                          <a:latin typeface="Meiryo" pitchFamily="34" charset="0"/>
                          <a:ea typeface="Meiryo" pitchFamily="34" charset="-122"/>
                          <a:cs typeface="Meiryo" pitchFamily="34" charset="-120"/>
                        </a:rPr>
                        <a:t>＋6.9pt</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8C6A3A"/>
                          </a:solidFill>
                          <a:latin typeface="Meiryo" pitchFamily="34" charset="0"/>
                          <a:ea typeface="Meiryo" pitchFamily="34" charset="-122"/>
                          <a:cs typeface="Meiryo" pitchFamily="34" charset="-120"/>
                        </a:rPr>
                        <a:t>22.5%</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r>
              <a:tr h="342900">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15ヶ月</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×1.076</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11.6%</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8C6A3A"/>
                          </a:solidFill>
                          <a:latin typeface="Meiryo" pitchFamily="34" charset="0"/>
                          <a:ea typeface="Meiryo" pitchFamily="34" charset="-122"/>
                          <a:cs typeface="Meiryo" pitchFamily="34" charset="-120"/>
                        </a:rPr>
                        <a:t>＋6.9pt</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2B2622"/>
                          </a:solidFill>
                          <a:latin typeface="Meiryo" pitchFamily="34" charset="0"/>
                          <a:ea typeface="Meiryo" pitchFamily="34" charset="-122"/>
                          <a:cs typeface="Meiryo" pitchFamily="34" charset="-120"/>
                        </a:rPr>
                        <a:t>18.6%</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r>
              <a:tr h="342900">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18ヶ月</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×1.091</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9.0%</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8C6A3A"/>
                          </a:solidFill>
                          <a:latin typeface="Meiryo" pitchFamily="34" charset="0"/>
                          <a:ea typeface="Meiryo" pitchFamily="34" charset="-122"/>
                          <a:cs typeface="Meiryo" pitchFamily="34" charset="-120"/>
                        </a:rPr>
                        <a:t>＋7.0pt</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2B2622"/>
                          </a:solidFill>
                          <a:latin typeface="Meiryo" pitchFamily="34" charset="0"/>
                          <a:ea typeface="Meiryo" pitchFamily="34" charset="-122"/>
                          <a:cs typeface="Meiryo" pitchFamily="34" charset="-120"/>
                        </a:rPr>
                        <a:t>16.0%</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r>
            </a:tbl>
          </a:graphicData>
        </a:graphic>
      </p:graphicFrame>
      <p:sp>
        <p:nvSpPr>
          <p:cNvPr id="19" name="Shape 16"/>
          <p:cNvSpPr/>
          <p:nvPr/>
        </p:nvSpPr>
        <p:spPr>
          <a:xfrm>
            <a:off x="658368" y="5175504"/>
            <a:ext cx="5532120" cy="1024128"/>
          </a:xfrm>
          <a:prstGeom prst="roundRect">
            <a:avLst>
              <a:gd name="adj" fmla="val 7143"/>
            </a:avLst>
          </a:prstGeom>
          <a:solidFill>
            <a:srgbClr val="F5EFE4"/>
          </a:solidFill>
          <a:ln w="9525">
            <a:solidFill>
              <a:srgbClr val="E6DCCB"/>
            </a:solidFill>
            <a:prstDash val="solid"/>
          </a:ln>
          <a:effectLst>
            <a:outerShdw sx="100000" sy="100000" kx="0" ky="0" algn="bl" rotWithShape="0" blurRad="76200" dist="25400" dir="5400000">
              <a:srgbClr val="6F665F">
                <a:alpha val="18000"/>
              </a:srgbClr>
            </a:outerShdw>
          </a:effectLst>
        </p:spPr>
      </p:sp>
      <p:sp>
        <p:nvSpPr>
          <p:cNvPr id="20" name="Text 17"/>
          <p:cNvSpPr/>
          <p:nvPr/>
        </p:nvSpPr>
        <p:spPr>
          <a:xfrm>
            <a:off x="896112" y="5276088"/>
            <a:ext cx="3840480" cy="219456"/>
          </a:xfrm>
          <a:prstGeom prst="rect">
            <a:avLst/>
          </a:prstGeom>
          <a:noFill/>
          <a:ln/>
        </p:spPr>
        <p:txBody>
          <a:bodyPr wrap="square" lIns="0" tIns="0" rIns="0" bIns="0" rtlCol="0" anchor="ctr"/>
          <a:lstStyle/>
          <a:p>
            <a:pPr indent="0" marL="0">
              <a:buNone/>
            </a:pPr>
            <a:r>
              <a:rPr lang="en-US" sz="1050" b="1" dirty="0">
                <a:solidFill>
                  <a:srgbClr val="8C6A3A"/>
                </a:solidFill>
                <a:latin typeface="Meiryo" pitchFamily="34" charset="0"/>
                <a:ea typeface="Meiryo" pitchFamily="34" charset="-122"/>
                <a:cs typeface="Meiryo" pitchFamily="34" charset="-120"/>
              </a:rPr>
              <a:t>上昇率を変えた場合（主線・フル稼働時の単年）</a:t>
            </a:r>
            <a:endParaRPr lang="en-US" sz="1050" dirty="0"/>
          </a:p>
        </p:txBody>
      </p:sp>
      <p:sp>
        <p:nvSpPr>
          <p:cNvPr id="21" name="Text 18"/>
          <p:cNvSpPr/>
          <p:nvPr/>
        </p:nvSpPr>
        <p:spPr>
          <a:xfrm>
            <a:off x="896112" y="5513832"/>
            <a:ext cx="1627632" cy="201168"/>
          </a:xfrm>
          <a:prstGeom prst="rect">
            <a:avLst/>
          </a:prstGeom>
          <a:noFill/>
          <a:ln/>
        </p:spPr>
        <p:txBody>
          <a:bodyPr wrap="square" lIns="0" tIns="0" rIns="0" bIns="0" rtlCol="0" anchor="ctr"/>
          <a:lstStyle/>
          <a:p>
            <a:pPr indent="0" marL="0">
              <a:buNone/>
            </a:pPr>
            <a:r>
              <a:rPr lang="en-US" sz="900" dirty="0">
                <a:solidFill>
                  <a:srgbClr val="6F665F"/>
                </a:solidFill>
                <a:latin typeface="Meiryo" pitchFamily="34" charset="0"/>
                <a:ea typeface="Meiryo" pitchFamily="34" charset="-122"/>
                <a:cs typeface="Meiryo" pitchFamily="34" charset="-120"/>
              </a:rPr>
              <a:t>0%（横ばい）</a:t>
            </a:r>
            <a:endParaRPr lang="en-US" sz="900" dirty="0"/>
          </a:p>
        </p:txBody>
      </p:sp>
      <p:sp>
        <p:nvSpPr>
          <p:cNvPr id="22" name="Text 19"/>
          <p:cNvSpPr/>
          <p:nvPr/>
        </p:nvSpPr>
        <p:spPr>
          <a:xfrm>
            <a:off x="896112" y="5705856"/>
            <a:ext cx="1627632" cy="310896"/>
          </a:xfrm>
          <a:prstGeom prst="rect">
            <a:avLst/>
          </a:prstGeom>
          <a:noFill/>
          <a:ln/>
        </p:spPr>
        <p:txBody>
          <a:bodyPr wrap="square" lIns="0" tIns="0" rIns="0" bIns="0" rtlCol="0" anchor="ctr"/>
          <a:lstStyle/>
          <a:p>
            <a:pPr indent="0" marL="0">
              <a:buNone/>
            </a:pPr>
            <a:r>
              <a:rPr lang="en-US" sz="1900" b="1" dirty="0">
                <a:solidFill>
                  <a:srgbClr val="2B2622"/>
                </a:solidFill>
                <a:latin typeface="Meiryo" pitchFamily="34" charset="0"/>
                <a:ea typeface="Meiryo" pitchFamily="34" charset="-122"/>
                <a:cs typeface="Meiryo" pitchFamily="34" charset="-120"/>
              </a:rPr>
              <a:t>15.6%</a:t>
            </a:r>
            <a:endParaRPr lang="en-US" sz="1900" dirty="0"/>
          </a:p>
        </p:txBody>
      </p:sp>
      <p:sp>
        <p:nvSpPr>
          <p:cNvPr id="23" name="Text 20"/>
          <p:cNvSpPr/>
          <p:nvPr/>
        </p:nvSpPr>
        <p:spPr>
          <a:xfrm>
            <a:off x="2596896" y="5513832"/>
            <a:ext cx="1627632" cy="201168"/>
          </a:xfrm>
          <a:prstGeom prst="rect">
            <a:avLst/>
          </a:prstGeom>
          <a:noFill/>
          <a:ln/>
        </p:spPr>
        <p:txBody>
          <a:bodyPr wrap="square" lIns="0" tIns="0" rIns="0" bIns="0" rtlCol="0" anchor="ctr"/>
          <a:lstStyle/>
          <a:p>
            <a:pPr indent="0" marL="0">
              <a:buNone/>
            </a:pPr>
            <a:r>
              <a:rPr lang="en-US" sz="900" dirty="0">
                <a:solidFill>
                  <a:srgbClr val="6F665F"/>
                </a:solidFill>
                <a:latin typeface="Meiryo" pitchFamily="34" charset="0"/>
                <a:ea typeface="Meiryo" pitchFamily="34" charset="-122"/>
                <a:cs typeface="Meiryo" pitchFamily="34" charset="-120"/>
              </a:rPr>
              <a:t>6%（主線）</a:t>
            </a:r>
            <a:endParaRPr lang="en-US" sz="900" dirty="0"/>
          </a:p>
        </p:txBody>
      </p:sp>
      <p:sp>
        <p:nvSpPr>
          <p:cNvPr id="24" name="Text 21"/>
          <p:cNvSpPr/>
          <p:nvPr/>
        </p:nvSpPr>
        <p:spPr>
          <a:xfrm>
            <a:off x="2596896" y="5705856"/>
            <a:ext cx="1627632" cy="310896"/>
          </a:xfrm>
          <a:prstGeom prst="rect">
            <a:avLst/>
          </a:prstGeom>
          <a:noFill/>
          <a:ln/>
        </p:spPr>
        <p:txBody>
          <a:bodyPr wrap="square" lIns="0" tIns="0" rIns="0" bIns="0" rtlCol="0" anchor="ctr"/>
          <a:lstStyle/>
          <a:p>
            <a:pPr indent="0" marL="0">
              <a:buNone/>
            </a:pPr>
            <a:r>
              <a:rPr lang="en-US" sz="1900" b="1" dirty="0">
                <a:solidFill>
                  <a:srgbClr val="8C6A3A"/>
                </a:solidFill>
                <a:latin typeface="Meiryo" pitchFamily="34" charset="0"/>
                <a:ea typeface="Meiryo" pitchFamily="34" charset="-122"/>
                <a:cs typeface="Meiryo" pitchFamily="34" charset="-120"/>
              </a:rPr>
              <a:t>22.5%</a:t>
            </a:r>
            <a:endParaRPr lang="en-US" sz="1900" dirty="0"/>
          </a:p>
        </p:txBody>
      </p:sp>
      <p:sp>
        <p:nvSpPr>
          <p:cNvPr id="25" name="Text 22"/>
          <p:cNvSpPr/>
          <p:nvPr/>
        </p:nvSpPr>
        <p:spPr>
          <a:xfrm>
            <a:off x="4297680" y="5513832"/>
            <a:ext cx="1627632" cy="201168"/>
          </a:xfrm>
          <a:prstGeom prst="rect">
            <a:avLst/>
          </a:prstGeom>
          <a:noFill/>
          <a:ln/>
        </p:spPr>
        <p:txBody>
          <a:bodyPr wrap="square" lIns="0" tIns="0" rIns="0" bIns="0" rtlCol="0" anchor="ctr"/>
          <a:lstStyle/>
          <a:p>
            <a:pPr indent="0" marL="0">
              <a:buNone/>
            </a:pPr>
            <a:r>
              <a:rPr lang="en-US" sz="900" dirty="0">
                <a:solidFill>
                  <a:srgbClr val="6F665F"/>
                </a:solidFill>
                <a:latin typeface="Meiryo" pitchFamily="34" charset="0"/>
                <a:ea typeface="Meiryo" pitchFamily="34" charset="-122"/>
                <a:cs typeface="Meiryo" pitchFamily="34" charset="-120"/>
              </a:rPr>
              <a:t>10%（会社資料水準）</a:t>
            </a:r>
            <a:endParaRPr lang="en-US" sz="900" dirty="0"/>
          </a:p>
        </p:txBody>
      </p:sp>
      <p:sp>
        <p:nvSpPr>
          <p:cNvPr id="26" name="Text 23"/>
          <p:cNvSpPr/>
          <p:nvPr/>
        </p:nvSpPr>
        <p:spPr>
          <a:xfrm>
            <a:off x="4297680" y="5705856"/>
            <a:ext cx="1627632" cy="310896"/>
          </a:xfrm>
          <a:prstGeom prst="rect">
            <a:avLst/>
          </a:prstGeom>
          <a:noFill/>
          <a:ln/>
        </p:spPr>
        <p:txBody>
          <a:bodyPr wrap="square" lIns="0" tIns="0" rIns="0" bIns="0" rtlCol="0" anchor="ctr"/>
          <a:lstStyle/>
          <a:p>
            <a:pPr indent="0" marL="0">
              <a:buNone/>
            </a:pPr>
            <a:r>
              <a:rPr lang="en-US" sz="1900" b="1" dirty="0">
                <a:solidFill>
                  <a:srgbClr val="2B2622"/>
                </a:solidFill>
                <a:latin typeface="Meiryo" pitchFamily="34" charset="0"/>
                <a:ea typeface="Meiryo" pitchFamily="34" charset="-122"/>
                <a:cs typeface="Meiryo" pitchFamily="34" charset="-120"/>
              </a:rPr>
              <a:t>27.1%</a:t>
            </a:r>
            <a:endParaRPr lang="en-US" sz="1900" dirty="0"/>
          </a:p>
        </p:txBody>
      </p:sp>
      <p:sp>
        <p:nvSpPr>
          <p:cNvPr id="27" name="Shape 24"/>
          <p:cNvSpPr/>
          <p:nvPr/>
        </p:nvSpPr>
        <p:spPr>
          <a:xfrm>
            <a:off x="6464808" y="5175504"/>
            <a:ext cx="5068519" cy="1024128"/>
          </a:xfrm>
          <a:prstGeom prst="roundRect">
            <a:avLst>
              <a:gd name="adj" fmla="val 7143"/>
            </a:avLst>
          </a:prstGeom>
          <a:solidFill>
            <a:srgbClr val="F3E9D6"/>
          </a:solidFill>
          <a:ln w="9525">
            <a:solidFill>
              <a:srgbClr val="C9AE7E"/>
            </a:solidFill>
            <a:prstDash val="solid"/>
          </a:ln>
          <a:effectLst>
            <a:outerShdw sx="100000" sy="100000" kx="0" ky="0" algn="bl" rotWithShape="0" blurRad="76200" dist="25400" dir="5400000">
              <a:srgbClr val="6F665F">
                <a:alpha val="18000"/>
              </a:srgbClr>
            </a:outerShdw>
          </a:effectLst>
        </p:spPr>
      </p:sp>
      <p:sp>
        <p:nvSpPr>
          <p:cNvPr id="28" name="Text 25"/>
          <p:cNvSpPr/>
          <p:nvPr/>
        </p:nvSpPr>
        <p:spPr>
          <a:xfrm>
            <a:off x="6702552" y="5276088"/>
            <a:ext cx="4572000" cy="219456"/>
          </a:xfrm>
          <a:prstGeom prst="rect">
            <a:avLst/>
          </a:prstGeom>
          <a:noFill/>
          <a:ln/>
        </p:spPr>
        <p:txBody>
          <a:bodyPr wrap="square" lIns="0" tIns="0" rIns="0" bIns="0" rtlCol="0" anchor="ctr"/>
          <a:lstStyle/>
          <a:p>
            <a:pPr indent="0" marL="0">
              <a:buNone/>
            </a:pPr>
            <a:r>
              <a:rPr lang="en-US" sz="1050" b="1" dirty="0">
                <a:solidFill>
                  <a:srgbClr val="8C6A3A"/>
                </a:solidFill>
                <a:latin typeface="Meiryo" pitchFamily="34" charset="0"/>
                <a:ea typeface="Meiryo" pitchFamily="34" charset="-122"/>
                <a:cs typeface="Meiryo" pitchFamily="34" charset="-120"/>
              </a:rPr>
              <a:t>値上がりの比重が前回より大きい</a:t>
            </a:r>
            <a:endParaRPr lang="en-US" sz="1050" dirty="0"/>
          </a:p>
        </p:txBody>
      </p:sp>
      <p:sp>
        <p:nvSpPr>
          <p:cNvPr id="29" name="Text 26"/>
          <p:cNvSpPr/>
          <p:nvPr/>
        </p:nvSpPr>
        <p:spPr>
          <a:xfrm>
            <a:off x="6702552" y="5504688"/>
            <a:ext cx="4593031" cy="621792"/>
          </a:xfrm>
          <a:prstGeom prst="rect">
            <a:avLst/>
          </a:prstGeom>
          <a:noFill/>
          <a:ln/>
        </p:spPr>
        <p:txBody>
          <a:bodyPr wrap="square" lIns="0" tIns="0" rIns="0" bIns="0" rtlCol="0" anchor="ctr"/>
          <a:lstStyle/>
          <a:p>
            <a:pPr indent="0" marL="0">
              <a:lnSpc>
                <a:spcPct val="120000"/>
              </a:lnSpc>
              <a:buNone/>
            </a:pPr>
            <a:r>
              <a:rPr lang="en-US" sz="900" dirty="0">
                <a:solidFill>
                  <a:srgbClr val="6F665F"/>
                </a:solidFill>
                <a:latin typeface="Meiryo" pitchFamily="34" charset="0"/>
                <a:ea typeface="Meiryo" pitchFamily="34" charset="-122"/>
                <a:cs typeface="Meiryo" pitchFamily="34" charset="-120"/>
              </a:rPr>
              <a:t>卸値を時価連動にしたことで、仕入価格と売値の変動は投資家利回りに効かなくなった。その代わりSPCの粗利は「αの取り込み」と「値上がり」だけで構成されるため、値上がりを織り込まない場合の低下幅は ▲6.9pt と前回（▲4.0pt）より大きくなる。</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484632"/>
            <a:ext cx="109728" cy="109728"/>
          </a:xfrm>
          <a:prstGeom prst="ellipse">
            <a:avLst/>
          </a:prstGeom>
          <a:solidFill>
            <a:srgbClr val="A78450"/>
          </a:solidFill>
          <a:ln w="12700">
            <a:solidFill>
              <a:srgbClr val="A78450"/>
            </a:solidFill>
            <a:prstDash val="solid"/>
          </a:ln>
        </p:spPr>
      </p:sp>
      <p:sp>
        <p:nvSpPr>
          <p:cNvPr id="3" name="Text 1"/>
          <p:cNvSpPr/>
          <p:nvPr/>
        </p:nvSpPr>
        <p:spPr>
          <a:xfrm>
            <a:off x="923544" y="365760"/>
            <a:ext cx="9601200" cy="329184"/>
          </a:xfrm>
          <a:prstGeom prst="rect">
            <a:avLst/>
          </a:prstGeom>
          <a:noFill/>
          <a:ln/>
        </p:spPr>
        <p:txBody>
          <a:bodyPr wrap="square" lIns="0" tIns="0" rIns="0" bIns="0" rtlCol="0" anchor="ctr"/>
          <a:lstStyle/>
          <a:p>
            <a:pPr indent="0" marL="0">
              <a:buNone/>
            </a:pPr>
            <a:r>
              <a:rPr lang="en-US" sz="1200" b="1" spc="240" kern="0" dirty="0">
                <a:solidFill>
                  <a:srgbClr val="A78450"/>
                </a:solidFill>
                <a:latin typeface="Meiryo" pitchFamily="34" charset="0"/>
                <a:ea typeface="Meiryo" pitchFamily="34" charset="-122"/>
                <a:cs typeface="Meiryo" pitchFamily="34" charset="-120"/>
              </a:rPr>
              <a:t>UPSIDE / DOWNSIDE ｜ 副次</a:t>
            </a:r>
            <a:endParaRPr lang="en-US" sz="1200" dirty="0"/>
          </a:p>
        </p:txBody>
      </p:sp>
      <p:sp>
        <p:nvSpPr>
          <p:cNvPr id="4" name="Text 2"/>
          <p:cNvSpPr/>
          <p:nvPr/>
        </p:nvSpPr>
        <p:spPr>
          <a:xfrm>
            <a:off x="658368" y="731520"/>
            <a:ext cx="10874959" cy="566928"/>
          </a:xfrm>
          <a:prstGeom prst="rect">
            <a:avLst/>
          </a:prstGeom>
          <a:noFill/>
          <a:ln/>
        </p:spPr>
        <p:txBody>
          <a:bodyPr wrap="square" lIns="0" tIns="0" rIns="0" bIns="0" rtlCol="0" anchor="ctr"/>
          <a:lstStyle/>
          <a:p>
            <a:pPr indent="0" marL="0">
              <a:buNone/>
            </a:pPr>
            <a:r>
              <a:rPr lang="en-US" sz="2600" b="1" dirty="0">
                <a:solidFill>
                  <a:srgbClr val="2B2622"/>
                </a:solidFill>
                <a:latin typeface="Meiryo" pitchFamily="34" charset="0"/>
                <a:ea typeface="Meiryo" pitchFamily="34" charset="-122"/>
                <a:cs typeface="Meiryo" pitchFamily="34" charset="-120"/>
              </a:rPr>
              <a:t>上振れ余地と下振れリスク</a:t>
            </a:r>
            <a:endParaRPr lang="en-US" sz="2600" dirty="0"/>
          </a:p>
        </p:txBody>
      </p:sp>
      <p:sp>
        <p:nvSpPr>
          <p:cNvPr id="5" name="Text 3"/>
          <p:cNvSpPr/>
          <p:nvPr/>
        </p:nvSpPr>
        <p:spPr>
          <a:xfrm>
            <a:off x="658368" y="1261872"/>
            <a:ext cx="10874959" cy="310896"/>
          </a:xfrm>
          <a:prstGeom prst="rect">
            <a:avLst/>
          </a:prstGeom>
          <a:noFill/>
          <a:ln/>
        </p:spPr>
        <p:txBody>
          <a:bodyPr wrap="square" lIns="0" tIns="0" rIns="0" bIns="0" rtlCol="0" anchor="ctr"/>
          <a:lstStyle/>
          <a:p>
            <a:pPr indent="0" marL="0">
              <a:buNone/>
            </a:pPr>
            <a:r>
              <a:rPr lang="en-US" sz="1150" dirty="0">
                <a:solidFill>
                  <a:srgbClr val="6F665F"/>
                </a:solidFill>
                <a:latin typeface="Meiryo" pitchFamily="34" charset="0"/>
                <a:ea typeface="Meiryo" pitchFamily="34" charset="-122"/>
                <a:cs typeface="Meiryo" pitchFamily="34" charset="-120"/>
              </a:rPr>
              <a:t>卸値が時価連動であるため、上振れ・下振れを決めるのはワイン価格の上昇率と在庫回転期間になる。</a:t>
            </a:r>
            <a:endParaRPr lang="en-US" sz="1150" dirty="0"/>
          </a:p>
        </p:txBody>
      </p:sp>
      <p:sp>
        <p:nvSpPr>
          <p:cNvPr id="6" name="Text 4"/>
          <p:cNvSpPr/>
          <p:nvPr/>
        </p:nvSpPr>
        <p:spPr>
          <a:xfrm>
            <a:off x="658368" y="6446520"/>
            <a:ext cx="5486400" cy="256032"/>
          </a:xfrm>
          <a:prstGeom prst="rect">
            <a:avLst/>
          </a:prstGeom>
          <a:noFill/>
          <a:ln/>
        </p:spPr>
        <p:txBody>
          <a:bodyPr wrap="square" lIns="0" tIns="0" rIns="0" bIns="0" rtlCol="0" anchor="ctr"/>
          <a:lstStyle/>
          <a:p>
            <a:pPr indent="0" marL="0">
              <a:buNone/>
            </a:pPr>
            <a:r>
              <a:rPr lang="en-US" sz="900" dirty="0">
                <a:solidFill>
                  <a:srgbClr val="9A8F84"/>
                </a:solidFill>
                <a:latin typeface="Meiryo" pitchFamily="34" charset="0"/>
                <a:ea typeface="Meiryo" pitchFamily="34" charset="-122"/>
                <a:cs typeface="Meiryo" pitchFamily="34" charset="-120"/>
              </a:rPr>
              <a:t>Confidential</a:t>
            </a:r>
            <a:endParaRPr lang="en-US" sz="900" dirty="0"/>
          </a:p>
        </p:txBody>
      </p:sp>
      <p:sp>
        <p:nvSpPr>
          <p:cNvPr id="7" name="Text 5"/>
          <p:cNvSpPr/>
          <p:nvPr/>
        </p:nvSpPr>
        <p:spPr>
          <a:xfrm>
            <a:off x="10984687" y="6446520"/>
            <a:ext cx="548640" cy="256032"/>
          </a:xfrm>
          <a:prstGeom prst="rect">
            <a:avLst/>
          </a:prstGeom>
          <a:noFill/>
          <a:ln/>
        </p:spPr>
        <p:txBody>
          <a:bodyPr wrap="square" lIns="0" tIns="0" rIns="0" bIns="0" rtlCol="0" anchor="ctr"/>
          <a:lstStyle/>
          <a:p>
            <a:pPr algn="r" indent="0" marL="0">
              <a:buNone/>
            </a:pPr>
            <a:r>
              <a:rPr lang="en-US" sz="900" dirty="0">
                <a:solidFill>
                  <a:srgbClr val="9A8F84"/>
                </a:solidFill>
                <a:latin typeface="Meiryo" pitchFamily="34" charset="0"/>
                <a:ea typeface="Meiryo" pitchFamily="34" charset="-122"/>
                <a:cs typeface="Meiryo" pitchFamily="34" charset="-120"/>
              </a:rPr>
              <a:t>14</a:t>
            </a:r>
            <a:endParaRPr lang="en-US" sz="900" dirty="0"/>
          </a:p>
        </p:txBody>
      </p:sp>
      <p:sp>
        <p:nvSpPr>
          <p:cNvPr id="8" name="Shape 6"/>
          <p:cNvSpPr/>
          <p:nvPr/>
        </p:nvSpPr>
        <p:spPr>
          <a:xfrm>
            <a:off x="658368" y="1645920"/>
            <a:ext cx="5300320" cy="2523744"/>
          </a:xfrm>
          <a:prstGeom prst="roundRect">
            <a:avLst>
              <a:gd name="adj" fmla="val 2899"/>
            </a:avLst>
          </a:prstGeom>
          <a:solidFill>
            <a:srgbClr val="F3E9D6"/>
          </a:solidFill>
          <a:ln w="9525">
            <a:solidFill>
              <a:srgbClr val="C9AE7E"/>
            </a:solidFill>
            <a:prstDash val="solid"/>
          </a:ln>
          <a:effectLst>
            <a:outerShdw sx="100000" sy="100000" kx="0" ky="0" algn="bl" rotWithShape="0" blurRad="76200" dist="25400" dir="5400000">
              <a:srgbClr val="6F665F">
                <a:alpha val="18000"/>
              </a:srgbClr>
            </a:outerShdw>
          </a:effectLst>
        </p:spPr>
      </p:sp>
      <p:sp>
        <p:nvSpPr>
          <p:cNvPr id="9" name="Text 7"/>
          <p:cNvSpPr/>
          <p:nvPr/>
        </p:nvSpPr>
        <p:spPr>
          <a:xfrm>
            <a:off x="914400" y="1810512"/>
            <a:ext cx="4788256" cy="256032"/>
          </a:xfrm>
          <a:prstGeom prst="rect">
            <a:avLst/>
          </a:prstGeom>
          <a:noFill/>
          <a:ln/>
        </p:spPr>
        <p:txBody>
          <a:bodyPr wrap="square" lIns="0" tIns="0" rIns="0" bIns="0" rtlCol="0" anchor="ctr"/>
          <a:lstStyle/>
          <a:p>
            <a:pPr indent="0" marL="0">
              <a:buNone/>
            </a:pPr>
            <a:r>
              <a:rPr lang="en-US" sz="1150" b="1" dirty="0">
                <a:solidFill>
                  <a:srgbClr val="8C6A3A"/>
                </a:solidFill>
                <a:latin typeface="Meiryo" pitchFamily="34" charset="0"/>
                <a:ea typeface="Meiryo" pitchFamily="34" charset="-122"/>
                <a:cs typeface="Meiryo" pitchFamily="34" charset="-120"/>
              </a:rPr>
              <a:t>ポジティブ｜ワイン価格上昇 年10%（会社資料水準）</a:t>
            </a:r>
            <a:endParaRPr lang="en-US" sz="11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914400" y="2121408"/>
          <a:ext cx="4782312" cy="914400"/>
        </p:xfrm>
        <a:graphic>
          <a:graphicData uri="http://schemas.openxmlformats.org/drawingml/2006/table">
            <a:tbl>
              <a:tblPr/>
              <a:tblGrid>
                <a:gridCol w="822960"/>
                <a:gridCol w="960120"/>
                <a:gridCol w="896112"/>
                <a:gridCol w="896112"/>
                <a:gridCol w="1207008"/>
              </a:tblGrid>
              <a:tr h="288036">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回転期間</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2B2622"/>
                    </a:solidFill>
                  </a:tcPr>
                </a:tc>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必要年間売上</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2B2622"/>
                    </a:solidFill>
                  </a:tcPr>
                </a:tc>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フル稼働時の単年</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2B2622"/>
                    </a:solidFill>
                  </a:tcPr>
                </a:tc>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投資家取分</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2B2622"/>
                    </a:solidFill>
                  </a:tcPr>
                </a:tc>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年平均</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2B2622"/>
                    </a:solidFill>
                  </a:tcPr>
                </a:tc>
              </a:tr>
              <a:tr h="288036">
                <a:tc>
                  <a:txBody>
                    <a:bodyPr/>
                    <a:lstStyle/>
                    <a:p>
                      <a:pPr algn="ctr" indent="0" marL="0">
                        <a:buNone/>
                      </a:pPr>
                      <a:r>
                        <a:rPr lang="en-US" sz="950" dirty="0">
                          <a:solidFill>
                            <a:srgbClr val="2B2622"/>
                          </a:solidFill>
                          <a:latin typeface="Meiryo" pitchFamily="34" charset="0"/>
                          <a:ea typeface="Meiryo" pitchFamily="34" charset="-122"/>
                          <a:cs typeface="Meiryo" pitchFamily="34" charset="-120"/>
                        </a:rPr>
                        <a:t>9ヶ月</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2B2622"/>
                          </a:solidFill>
                          <a:latin typeface="Meiryo" pitchFamily="34" charset="0"/>
                          <a:ea typeface="Meiryo" pitchFamily="34" charset="-122"/>
                          <a:cs typeface="Meiryo" pitchFamily="34" charset="-120"/>
                        </a:rPr>
                        <a:t>9.01億</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2B2622"/>
                          </a:solidFill>
                          <a:latin typeface="Meiryo" pitchFamily="34" charset="0"/>
                          <a:ea typeface="Meiryo" pitchFamily="34" charset="-122"/>
                          <a:cs typeface="Meiryo" pitchFamily="34" charset="-120"/>
                        </a:rPr>
                        <a:t>33.5%</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2B2622"/>
                          </a:solidFill>
                          <a:latin typeface="Meiryo" pitchFamily="34" charset="0"/>
                          <a:ea typeface="Meiryo" pitchFamily="34" charset="-122"/>
                          <a:cs typeface="Meiryo" pitchFamily="34" charset="-120"/>
                        </a:rPr>
                        <a:t>67百万</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C6A3A"/>
                          </a:solidFill>
                          <a:latin typeface="Meiryo" pitchFamily="34" charset="0"/>
                          <a:ea typeface="Meiryo" pitchFamily="34" charset="-122"/>
                          <a:cs typeface="Meiryo" pitchFamily="34" charset="-120"/>
                        </a:rPr>
                        <a:t>32.1%</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r>
              <a:tr h="288036">
                <a:tc>
                  <a:txBody>
                    <a:bodyPr/>
                    <a:lstStyle/>
                    <a:p>
                      <a:pPr algn="ctr" indent="0" marL="0">
                        <a:buNone/>
                      </a:pPr>
                      <a:r>
                        <a:rPr lang="en-US" sz="950" dirty="0">
                          <a:solidFill>
                            <a:srgbClr val="2B2622"/>
                          </a:solidFill>
                          <a:latin typeface="Meiryo" pitchFamily="34" charset="0"/>
                          <a:ea typeface="Meiryo" pitchFamily="34" charset="-122"/>
                          <a:cs typeface="Meiryo" pitchFamily="34" charset="-120"/>
                        </a:rPr>
                        <a:t>12ヶ月</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2B2622"/>
                          </a:solidFill>
                          <a:latin typeface="Meiryo" pitchFamily="34" charset="0"/>
                          <a:ea typeface="Meiryo" pitchFamily="34" charset="-122"/>
                          <a:cs typeface="Meiryo" pitchFamily="34" charset="-120"/>
                        </a:rPr>
                        <a:t>6.92億</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2B2622"/>
                          </a:solidFill>
                          <a:latin typeface="Meiryo" pitchFamily="34" charset="0"/>
                          <a:ea typeface="Meiryo" pitchFamily="34" charset="-122"/>
                          <a:cs typeface="Meiryo" pitchFamily="34" charset="-120"/>
                        </a:rPr>
                        <a:t>27.1%</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2B2622"/>
                          </a:solidFill>
                          <a:latin typeface="Meiryo" pitchFamily="34" charset="0"/>
                          <a:ea typeface="Meiryo" pitchFamily="34" charset="-122"/>
                          <a:cs typeface="Meiryo" pitchFamily="34" charset="-120"/>
                        </a:rPr>
                        <a:t>54百万</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C6A3A"/>
                          </a:solidFill>
                          <a:latin typeface="Meiryo" pitchFamily="34" charset="0"/>
                          <a:ea typeface="Meiryo" pitchFamily="34" charset="-122"/>
                          <a:cs typeface="Meiryo" pitchFamily="34" charset="-120"/>
                        </a:rPr>
                        <a:t>24.3%</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r>
              <a:tr h="288036">
                <a:tc>
                  <a:txBody>
                    <a:bodyPr/>
                    <a:lstStyle/>
                    <a:p>
                      <a:pPr algn="ctr" indent="0" marL="0">
                        <a:buNone/>
                      </a:pPr>
                      <a:r>
                        <a:rPr lang="en-US" sz="950" dirty="0">
                          <a:solidFill>
                            <a:srgbClr val="2B2622"/>
                          </a:solidFill>
                          <a:latin typeface="Meiryo" pitchFamily="34" charset="0"/>
                          <a:ea typeface="Meiryo" pitchFamily="34" charset="-122"/>
                          <a:cs typeface="Meiryo" pitchFamily="34" charset="-120"/>
                        </a:rPr>
                        <a:t>15ヶ月</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2B2622"/>
                          </a:solidFill>
                          <a:latin typeface="Meiryo" pitchFamily="34" charset="0"/>
                          <a:ea typeface="Meiryo" pitchFamily="34" charset="-122"/>
                          <a:cs typeface="Meiryo" pitchFamily="34" charset="-120"/>
                        </a:rPr>
                        <a:t>5.67億</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2B2622"/>
                          </a:solidFill>
                          <a:latin typeface="Meiryo" pitchFamily="34" charset="0"/>
                          <a:ea typeface="Meiryo" pitchFamily="34" charset="-122"/>
                          <a:cs typeface="Meiryo" pitchFamily="34" charset="-120"/>
                        </a:rPr>
                        <a:t>23.3%</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2B2622"/>
                          </a:solidFill>
                          <a:latin typeface="Meiryo" pitchFamily="34" charset="0"/>
                          <a:ea typeface="Meiryo" pitchFamily="34" charset="-122"/>
                          <a:cs typeface="Meiryo" pitchFamily="34" charset="-120"/>
                        </a:rPr>
                        <a:t>47百万</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C6A3A"/>
                          </a:solidFill>
                          <a:latin typeface="Meiryo" pitchFamily="34" charset="0"/>
                          <a:ea typeface="Meiryo" pitchFamily="34" charset="-122"/>
                          <a:cs typeface="Meiryo" pitchFamily="34" charset="-120"/>
                        </a:rPr>
                        <a:t>20.5%</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r>
              <a:tr h="288036">
                <a:tc>
                  <a:txBody>
                    <a:bodyPr/>
                    <a:lstStyle/>
                    <a:p>
                      <a:pPr algn="ctr" indent="0" marL="0">
                        <a:buNone/>
                      </a:pPr>
                      <a:r>
                        <a:rPr lang="en-US" sz="950" dirty="0">
                          <a:solidFill>
                            <a:srgbClr val="2B2622"/>
                          </a:solidFill>
                          <a:latin typeface="Meiryo" pitchFamily="34" charset="0"/>
                          <a:ea typeface="Meiryo" pitchFamily="34" charset="-122"/>
                          <a:cs typeface="Meiryo" pitchFamily="34" charset="-120"/>
                        </a:rPr>
                        <a:t>18ヶ月</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2B2622"/>
                          </a:solidFill>
                          <a:latin typeface="Meiryo" pitchFamily="34" charset="0"/>
                          <a:ea typeface="Meiryo" pitchFamily="34" charset="-122"/>
                          <a:cs typeface="Meiryo" pitchFamily="34" charset="-120"/>
                        </a:rPr>
                        <a:t>4.84億</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2B2622"/>
                          </a:solidFill>
                          <a:latin typeface="Meiryo" pitchFamily="34" charset="0"/>
                          <a:ea typeface="Meiryo" pitchFamily="34" charset="-122"/>
                          <a:cs typeface="Meiryo" pitchFamily="34" charset="-120"/>
                        </a:rPr>
                        <a:t>20.8%</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2B2622"/>
                          </a:solidFill>
                          <a:latin typeface="Meiryo" pitchFamily="34" charset="0"/>
                          <a:ea typeface="Meiryo" pitchFamily="34" charset="-122"/>
                          <a:cs typeface="Meiryo" pitchFamily="34" charset="-120"/>
                        </a:rPr>
                        <a:t>42百万</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C6A3A"/>
                          </a:solidFill>
                          <a:latin typeface="Meiryo" pitchFamily="34" charset="0"/>
                          <a:ea typeface="Meiryo" pitchFamily="34" charset="-122"/>
                          <a:cs typeface="Meiryo" pitchFamily="34" charset="-120"/>
                        </a:rPr>
                        <a:t>20.6%</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r>
            </a:tbl>
          </a:graphicData>
        </a:graphic>
      </p:graphicFrame>
      <p:sp>
        <p:nvSpPr>
          <p:cNvPr id="11" name="Text 8"/>
          <p:cNvSpPr/>
          <p:nvPr/>
        </p:nvSpPr>
        <p:spPr>
          <a:xfrm>
            <a:off x="914400" y="3657600"/>
            <a:ext cx="4788256" cy="475488"/>
          </a:xfrm>
          <a:prstGeom prst="rect">
            <a:avLst/>
          </a:prstGeom>
          <a:noFill/>
          <a:ln/>
        </p:spPr>
        <p:txBody>
          <a:bodyPr wrap="square" lIns="0" tIns="0" rIns="0" bIns="0" rtlCol="0" anchor="ctr"/>
          <a:lstStyle/>
          <a:p>
            <a:pPr indent="0" marL="0">
              <a:lnSpc>
                <a:spcPct val="120000"/>
              </a:lnSpc>
              <a:buNone/>
            </a:pPr>
            <a:r>
              <a:rPr lang="en-US" sz="900" dirty="0">
                <a:solidFill>
                  <a:srgbClr val="6F665F"/>
                </a:solidFill>
                <a:latin typeface="Meiryo" pitchFamily="34" charset="0"/>
                <a:ea typeface="Meiryo" pitchFamily="34" charset="-122"/>
                <a:cs typeface="Meiryo" pitchFamily="34" charset="-120"/>
              </a:rPr>
              <a:t>会社資料はFine Wineのリセールバリューを年率10%程度としており、主線の6%はこれに対し保守的に置いたもの。10%が実現すれば回転が18ヶ月へ延びても年平均20.6%と貴社基準を満たし、20%の分岐点は回転18.3ヶ月まで後ろ倒しになる。</a:t>
            </a:r>
            <a:endParaRPr lang="en-US" sz="900" dirty="0"/>
          </a:p>
        </p:txBody>
      </p:sp>
      <p:sp>
        <p:nvSpPr>
          <p:cNvPr id="12" name="Shape 9"/>
          <p:cNvSpPr/>
          <p:nvPr/>
        </p:nvSpPr>
        <p:spPr>
          <a:xfrm>
            <a:off x="6233008" y="1645920"/>
            <a:ext cx="5300320" cy="2523744"/>
          </a:xfrm>
          <a:prstGeom prst="roundRect">
            <a:avLst>
              <a:gd name="adj" fmla="val 2899"/>
            </a:avLst>
          </a:prstGeom>
          <a:solidFill>
            <a:srgbClr val="F5EFE4"/>
          </a:solidFill>
          <a:ln w="9525">
            <a:solidFill>
              <a:srgbClr val="E6DCCB"/>
            </a:solidFill>
            <a:prstDash val="solid"/>
          </a:ln>
          <a:effectLst>
            <a:outerShdw sx="100000" sy="100000" kx="0" ky="0" algn="bl" rotWithShape="0" blurRad="76200" dist="25400" dir="5400000">
              <a:srgbClr val="6F665F">
                <a:alpha val="18000"/>
              </a:srgbClr>
            </a:outerShdw>
          </a:effectLst>
        </p:spPr>
      </p:sp>
      <p:sp>
        <p:nvSpPr>
          <p:cNvPr id="13" name="Text 10"/>
          <p:cNvSpPr/>
          <p:nvPr/>
        </p:nvSpPr>
        <p:spPr>
          <a:xfrm>
            <a:off x="6489040" y="1810512"/>
            <a:ext cx="4788256" cy="256032"/>
          </a:xfrm>
          <a:prstGeom prst="rect">
            <a:avLst/>
          </a:prstGeom>
          <a:noFill/>
          <a:ln/>
        </p:spPr>
        <p:txBody>
          <a:bodyPr wrap="square" lIns="0" tIns="0" rIns="0" bIns="0" rtlCol="0" anchor="ctr"/>
          <a:lstStyle/>
          <a:p>
            <a:pPr indent="0" marL="0">
              <a:buNone/>
            </a:pPr>
            <a:r>
              <a:rPr lang="en-US" sz="1150" b="1" dirty="0">
                <a:solidFill>
                  <a:srgbClr val="2B2622"/>
                </a:solidFill>
                <a:latin typeface="Meiryo" pitchFamily="34" charset="0"/>
                <a:ea typeface="Meiryo" pitchFamily="34" charset="-122"/>
                <a:cs typeface="Meiryo" pitchFamily="34" charset="-120"/>
              </a:rPr>
              <a:t>ネガティブ｜ワイン価格が横ばい（上昇0%）</a:t>
            </a:r>
            <a:endParaRPr lang="en-US" sz="1150" dirty="0"/>
          </a:p>
        </p:txBody>
      </p:sp>
      <p:graphicFrame>
        <p:nvGraphicFramePr>
          <p:cNvPr id="31" name="Table 1"/>
          <p:cNvGraphicFramePr>
            <a:graphicFrameLocks noGrp="1"/>
          </p:cNvGraphicFramePr>
          <p:nvPr>
            <p:extLst>
              <p:ext uri="{D42A27DB-BD31-4B8C-83A1-F6EECF244321}">
                <p14:modId xmlns:p14="http://schemas.microsoft.com/office/powerpoint/2010/main" val="1579011935"/>
              </p:ext>
            </p:extLst>
          </p:nvPr>
        </p:nvGraphicFramePr>
        <p:xfrm>
          <a:off x="6489040" y="2121408"/>
          <a:ext cx="4782312" cy="914400"/>
        </p:xfrm>
        <a:graphic>
          <a:graphicData uri="http://schemas.openxmlformats.org/drawingml/2006/table">
            <a:tbl>
              <a:tblPr/>
              <a:tblGrid>
                <a:gridCol w="822960"/>
                <a:gridCol w="960120"/>
                <a:gridCol w="896112"/>
                <a:gridCol w="896112"/>
                <a:gridCol w="1207008"/>
              </a:tblGrid>
              <a:tr h="288036">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回転期間</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2B2622"/>
                    </a:solidFill>
                  </a:tcPr>
                </a:tc>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必要年間売上</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2B2622"/>
                    </a:solidFill>
                  </a:tcPr>
                </a:tc>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フル稼働時の単年</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2B2622"/>
                    </a:solidFill>
                  </a:tcPr>
                </a:tc>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投資家取分</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2B2622"/>
                    </a:solidFill>
                  </a:tcPr>
                </a:tc>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年平均</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2B2622"/>
                    </a:solidFill>
                  </a:tcPr>
                </a:tc>
              </a:tr>
              <a:tr h="288036">
                <a:tc>
                  <a:txBody>
                    <a:bodyPr/>
                    <a:lstStyle/>
                    <a:p>
                      <a:pPr algn="ctr" indent="0" marL="0">
                        <a:buNone/>
                      </a:pPr>
                      <a:r>
                        <a:rPr lang="en-US" sz="950" dirty="0">
                          <a:solidFill>
                            <a:srgbClr val="2B2622"/>
                          </a:solidFill>
                          <a:latin typeface="Meiryo" pitchFamily="34" charset="0"/>
                          <a:ea typeface="Meiryo" pitchFamily="34" charset="-122"/>
                          <a:cs typeface="Meiryo" pitchFamily="34" charset="-120"/>
                        </a:rPr>
                        <a:t>9ヶ月</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2B2622"/>
                          </a:solidFill>
                          <a:latin typeface="Meiryo" pitchFamily="34" charset="0"/>
                          <a:ea typeface="Meiryo" pitchFamily="34" charset="-122"/>
                          <a:cs typeface="Meiryo" pitchFamily="34" charset="-120"/>
                        </a:rPr>
                        <a:t>8.39億</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2B2622"/>
                          </a:solidFill>
                          <a:latin typeface="Meiryo" pitchFamily="34" charset="0"/>
                          <a:ea typeface="Meiryo" pitchFamily="34" charset="-122"/>
                          <a:cs typeface="Meiryo" pitchFamily="34" charset="-120"/>
                        </a:rPr>
                        <a:t>22.2%</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2B2622"/>
                          </a:solidFill>
                          <a:latin typeface="Meiryo" pitchFamily="34" charset="0"/>
                          <a:ea typeface="Meiryo" pitchFamily="34" charset="-122"/>
                          <a:cs typeface="Meiryo" pitchFamily="34" charset="-120"/>
                        </a:rPr>
                        <a:t>44百万</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C6A3A"/>
                          </a:solidFill>
                          <a:latin typeface="Meiryo" pitchFamily="34" charset="0"/>
                          <a:ea typeface="Meiryo" pitchFamily="34" charset="-122"/>
                          <a:cs typeface="Meiryo" pitchFamily="34" charset="-120"/>
                        </a:rPr>
                        <a:t>21.4%</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r>
              <a:tr h="288036">
                <a:tc>
                  <a:txBody>
                    <a:bodyPr/>
                    <a:lstStyle/>
                    <a:p>
                      <a:pPr algn="ctr" indent="0" marL="0">
                        <a:buNone/>
                      </a:pPr>
                      <a:r>
                        <a:rPr lang="en-US" sz="950" dirty="0">
                          <a:solidFill>
                            <a:srgbClr val="2B2622"/>
                          </a:solidFill>
                          <a:latin typeface="Meiryo" pitchFamily="34" charset="0"/>
                          <a:ea typeface="Meiryo" pitchFamily="34" charset="-122"/>
                          <a:cs typeface="Meiryo" pitchFamily="34" charset="-120"/>
                        </a:rPr>
                        <a:t>12ヶ月</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2B2622"/>
                          </a:solidFill>
                          <a:latin typeface="Meiryo" pitchFamily="34" charset="0"/>
                          <a:ea typeface="Meiryo" pitchFamily="34" charset="-122"/>
                          <a:cs typeface="Meiryo" pitchFamily="34" charset="-120"/>
                        </a:rPr>
                        <a:t>6.29億</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2B2622"/>
                          </a:solidFill>
                          <a:latin typeface="Meiryo" pitchFamily="34" charset="0"/>
                          <a:ea typeface="Meiryo" pitchFamily="34" charset="-122"/>
                          <a:cs typeface="Meiryo" pitchFamily="34" charset="-120"/>
                        </a:rPr>
                        <a:t>15.6%</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2B2622"/>
                          </a:solidFill>
                          <a:latin typeface="Meiryo" pitchFamily="34" charset="0"/>
                          <a:ea typeface="Meiryo" pitchFamily="34" charset="-122"/>
                          <a:cs typeface="Meiryo" pitchFamily="34" charset="-120"/>
                        </a:rPr>
                        <a:t>31百万</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B4553F"/>
                          </a:solidFill>
                          <a:latin typeface="Meiryo" pitchFamily="34" charset="0"/>
                          <a:ea typeface="Meiryo" pitchFamily="34" charset="-122"/>
                          <a:cs typeface="Meiryo" pitchFamily="34" charset="-120"/>
                        </a:rPr>
                        <a:t>13.6%</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r>
              <a:tr h="288036">
                <a:tc>
                  <a:txBody>
                    <a:bodyPr/>
                    <a:lstStyle/>
                    <a:p>
                      <a:pPr algn="ctr" indent="0" marL="0">
                        <a:buNone/>
                      </a:pPr>
                      <a:r>
                        <a:rPr lang="en-US" sz="950" dirty="0">
                          <a:solidFill>
                            <a:srgbClr val="2B2622"/>
                          </a:solidFill>
                          <a:latin typeface="Meiryo" pitchFamily="34" charset="0"/>
                          <a:ea typeface="Meiryo" pitchFamily="34" charset="-122"/>
                          <a:cs typeface="Meiryo" pitchFamily="34" charset="-120"/>
                        </a:rPr>
                        <a:t>15ヶ月</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2B2622"/>
                          </a:solidFill>
                          <a:latin typeface="Meiryo" pitchFamily="34" charset="0"/>
                          <a:ea typeface="Meiryo" pitchFamily="34" charset="-122"/>
                          <a:cs typeface="Meiryo" pitchFamily="34" charset="-120"/>
                        </a:rPr>
                        <a:t>5.03億</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2B2622"/>
                          </a:solidFill>
                          <a:latin typeface="Meiryo" pitchFamily="34" charset="0"/>
                          <a:ea typeface="Meiryo" pitchFamily="34" charset="-122"/>
                          <a:cs typeface="Meiryo" pitchFamily="34" charset="-120"/>
                        </a:rPr>
                        <a:t>11.6%</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2B2622"/>
                          </a:solidFill>
                          <a:latin typeface="Meiryo" pitchFamily="34" charset="0"/>
                          <a:ea typeface="Meiryo" pitchFamily="34" charset="-122"/>
                          <a:cs typeface="Meiryo" pitchFamily="34" charset="-120"/>
                        </a:rPr>
                        <a:t>23百万</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B4553F"/>
                          </a:solidFill>
                          <a:latin typeface="Meiryo" pitchFamily="34" charset="0"/>
                          <a:ea typeface="Meiryo" pitchFamily="34" charset="-122"/>
                          <a:cs typeface="Meiryo" pitchFamily="34" charset="-120"/>
                        </a:rPr>
                        <a:t>9.7%</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r>
              <a:tr h="288036">
                <a:tc>
                  <a:txBody>
                    <a:bodyPr/>
                    <a:lstStyle/>
                    <a:p>
                      <a:pPr algn="ctr" indent="0" marL="0">
                        <a:buNone/>
                      </a:pPr>
                      <a:r>
                        <a:rPr lang="en-US" sz="950" dirty="0">
                          <a:solidFill>
                            <a:srgbClr val="2B2622"/>
                          </a:solidFill>
                          <a:latin typeface="Meiryo" pitchFamily="34" charset="0"/>
                          <a:ea typeface="Meiryo" pitchFamily="34" charset="-122"/>
                          <a:cs typeface="Meiryo" pitchFamily="34" charset="-120"/>
                        </a:rPr>
                        <a:t>18ヶ月</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2B2622"/>
                          </a:solidFill>
                          <a:latin typeface="Meiryo" pitchFamily="34" charset="0"/>
                          <a:ea typeface="Meiryo" pitchFamily="34" charset="-122"/>
                          <a:cs typeface="Meiryo" pitchFamily="34" charset="-120"/>
                        </a:rPr>
                        <a:t>4.19億</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2B2622"/>
                          </a:solidFill>
                          <a:latin typeface="Meiryo" pitchFamily="34" charset="0"/>
                          <a:ea typeface="Meiryo" pitchFamily="34" charset="-122"/>
                          <a:cs typeface="Meiryo" pitchFamily="34" charset="-120"/>
                        </a:rPr>
                        <a:t>9.0%</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2B2622"/>
                          </a:solidFill>
                          <a:latin typeface="Meiryo" pitchFamily="34" charset="0"/>
                          <a:ea typeface="Meiryo" pitchFamily="34" charset="-122"/>
                          <a:cs typeface="Meiryo" pitchFamily="34" charset="-120"/>
                        </a:rPr>
                        <a:t>18百万</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B4553F"/>
                          </a:solidFill>
                          <a:latin typeface="Meiryo" pitchFamily="34" charset="0"/>
                          <a:ea typeface="Meiryo" pitchFamily="34" charset="-122"/>
                          <a:cs typeface="Meiryo" pitchFamily="34" charset="-120"/>
                        </a:rPr>
                        <a:t>9.5%</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r>
            </a:tbl>
          </a:graphicData>
        </a:graphic>
      </p:graphicFrame>
      <p:sp>
        <p:nvSpPr>
          <p:cNvPr id="15" name="Text 11"/>
          <p:cNvSpPr/>
          <p:nvPr/>
        </p:nvSpPr>
        <p:spPr>
          <a:xfrm>
            <a:off x="6489040" y="3657600"/>
            <a:ext cx="4788256" cy="475488"/>
          </a:xfrm>
          <a:prstGeom prst="rect">
            <a:avLst/>
          </a:prstGeom>
          <a:noFill/>
          <a:ln/>
        </p:spPr>
        <p:txBody>
          <a:bodyPr wrap="square" lIns="0" tIns="0" rIns="0" bIns="0" rtlCol="0" anchor="ctr"/>
          <a:lstStyle/>
          <a:p>
            <a:pPr indent="0" marL="0">
              <a:lnSpc>
                <a:spcPct val="120000"/>
              </a:lnSpc>
              <a:buNone/>
            </a:pPr>
            <a:r>
              <a:rPr lang="en-US" sz="900" dirty="0">
                <a:solidFill>
                  <a:srgbClr val="6F665F"/>
                </a:solidFill>
                <a:latin typeface="Meiryo" pitchFamily="34" charset="0"/>
                <a:ea typeface="Meiryo" pitchFamily="34" charset="-122"/>
                <a:cs typeface="Meiryo" pitchFamily="34" charset="-120"/>
              </a:rPr>
              <a:t>値上がりを一切織り込まない場合。SPCの収益がαの取り込みだけになるため、年平均20%を確保するには回転を9.3ヶ月まで縮める必要があり、主線の12ヶ月では13.6%にとどまる。</a:t>
            </a:r>
            <a:endParaRPr lang="en-US" sz="900" dirty="0"/>
          </a:p>
        </p:txBody>
      </p:sp>
      <p:sp>
        <p:nvSpPr>
          <p:cNvPr id="16" name="Shape 12"/>
          <p:cNvSpPr/>
          <p:nvPr/>
        </p:nvSpPr>
        <p:spPr>
          <a:xfrm>
            <a:off x="658368" y="4334256"/>
            <a:ext cx="10874959" cy="1298448"/>
          </a:xfrm>
          <a:prstGeom prst="roundRect">
            <a:avLst>
              <a:gd name="adj" fmla="val 5634"/>
            </a:avLst>
          </a:prstGeom>
          <a:solidFill>
            <a:srgbClr val="F3E9D6"/>
          </a:solidFill>
          <a:ln w="9525">
            <a:solidFill>
              <a:srgbClr val="C9AE7E"/>
            </a:solidFill>
            <a:prstDash val="solid"/>
          </a:ln>
          <a:effectLst>
            <a:outerShdw sx="100000" sy="100000" kx="0" ky="0" algn="bl" rotWithShape="0" blurRad="76200" dist="25400" dir="5400000">
              <a:srgbClr val="6F665F">
                <a:alpha val="18000"/>
              </a:srgbClr>
            </a:outerShdw>
          </a:effectLst>
        </p:spPr>
      </p:sp>
      <p:sp>
        <p:nvSpPr>
          <p:cNvPr id="17" name="Text 13"/>
          <p:cNvSpPr/>
          <p:nvPr/>
        </p:nvSpPr>
        <p:spPr>
          <a:xfrm>
            <a:off x="932688" y="4498848"/>
            <a:ext cx="2743200" cy="256032"/>
          </a:xfrm>
          <a:prstGeom prst="rect">
            <a:avLst/>
          </a:prstGeom>
          <a:noFill/>
          <a:ln/>
        </p:spPr>
        <p:txBody>
          <a:bodyPr wrap="square" lIns="0" tIns="0" rIns="0" bIns="0" rtlCol="0" anchor="ctr"/>
          <a:lstStyle/>
          <a:p>
            <a:pPr indent="0" marL="0">
              <a:buNone/>
            </a:pPr>
            <a:r>
              <a:rPr lang="en-US" sz="1200" b="1" dirty="0">
                <a:solidFill>
                  <a:srgbClr val="8C6A3A"/>
                </a:solidFill>
                <a:latin typeface="Meiryo" pitchFamily="34" charset="0"/>
                <a:ea typeface="Meiryo" pitchFamily="34" charset="-122"/>
                <a:cs typeface="Meiryo" pitchFamily="34" charset="-120"/>
              </a:rPr>
              <a:t>最重要の示唆</a:t>
            </a:r>
            <a:endParaRPr lang="en-US" sz="1200" dirty="0"/>
          </a:p>
        </p:txBody>
      </p:sp>
      <p:sp>
        <p:nvSpPr>
          <p:cNvPr id="18" name="Text 14"/>
          <p:cNvSpPr/>
          <p:nvPr/>
        </p:nvSpPr>
        <p:spPr>
          <a:xfrm>
            <a:off x="932688" y="4791456"/>
            <a:ext cx="10326319" cy="658368"/>
          </a:xfrm>
          <a:prstGeom prst="rect">
            <a:avLst/>
          </a:prstGeom>
          <a:noFill/>
          <a:ln/>
        </p:spPr>
        <p:txBody>
          <a:bodyPr wrap="square" lIns="0" tIns="0" rIns="0" bIns="0" rtlCol="0" anchor="ctr"/>
          <a:lstStyle/>
          <a:p>
            <a:pPr indent="0" marL="0">
              <a:lnSpc>
                <a:spcPct val="128000"/>
              </a:lnSpc>
              <a:buNone/>
            </a:pPr>
            <a:r>
              <a:rPr lang="en-US" sz="1150" dirty="0">
                <a:solidFill>
                  <a:srgbClr val="2B2622"/>
                </a:solidFill>
                <a:latin typeface="Meiryo" pitchFamily="34" charset="0"/>
                <a:ea typeface="Meiryo" pitchFamily="34" charset="-122"/>
                <a:cs typeface="Meiryo" pitchFamily="34" charset="-120"/>
              </a:rPr>
              <a:t>卸値を時価連動にしたことで、「値引きして早く売る」も「安く仕入れる」も投資家利回りには効かなくなった。投資家のリターンを左右するのは在庫回転期間とワイン価格の上昇率の2つだけであり、運用の focus は「流動性の高い銘柄を組み入れ、回転12ヶ月を守ること」に絞られる。値上がりが止まる局面では回転をさらに短縮する必要がある。</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484632"/>
            <a:ext cx="109728" cy="109728"/>
          </a:xfrm>
          <a:prstGeom prst="ellipse">
            <a:avLst/>
          </a:prstGeom>
          <a:solidFill>
            <a:srgbClr val="A78450"/>
          </a:solidFill>
          <a:ln w="12700">
            <a:solidFill>
              <a:srgbClr val="A78450"/>
            </a:solidFill>
            <a:prstDash val="solid"/>
          </a:ln>
        </p:spPr>
      </p:sp>
      <p:sp>
        <p:nvSpPr>
          <p:cNvPr id="3" name="Text 1"/>
          <p:cNvSpPr/>
          <p:nvPr/>
        </p:nvSpPr>
        <p:spPr>
          <a:xfrm>
            <a:off x="923544" y="365760"/>
            <a:ext cx="9601200" cy="329184"/>
          </a:xfrm>
          <a:prstGeom prst="rect">
            <a:avLst/>
          </a:prstGeom>
          <a:noFill/>
          <a:ln/>
        </p:spPr>
        <p:txBody>
          <a:bodyPr wrap="square" lIns="0" tIns="0" rIns="0" bIns="0" rtlCol="0" anchor="ctr"/>
          <a:lstStyle/>
          <a:p>
            <a:pPr indent="0" marL="0">
              <a:buNone/>
            </a:pPr>
            <a:r>
              <a:rPr lang="en-US" sz="1200" b="1" spc="240" kern="0" dirty="0">
                <a:solidFill>
                  <a:srgbClr val="A78450"/>
                </a:solidFill>
                <a:latin typeface="Meiryo" pitchFamily="34" charset="0"/>
                <a:ea typeface="Meiryo" pitchFamily="34" charset="-122"/>
                <a:cs typeface="Meiryo" pitchFamily="34" charset="-120"/>
              </a:rPr>
              <a:t>COMPARISON</a:t>
            </a:r>
            <a:endParaRPr lang="en-US" sz="1200" dirty="0"/>
          </a:p>
        </p:txBody>
      </p:sp>
      <p:sp>
        <p:nvSpPr>
          <p:cNvPr id="4" name="Text 2"/>
          <p:cNvSpPr/>
          <p:nvPr/>
        </p:nvSpPr>
        <p:spPr>
          <a:xfrm>
            <a:off x="658368" y="731520"/>
            <a:ext cx="10874959" cy="566928"/>
          </a:xfrm>
          <a:prstGeom prst="rect">
            <a:avLst/>
          </a:prstGeom>
          <a:noFill/>
          <a:ln/>
        </p:spPr>
        <p:txBody>
          <a:bodyPr wrap="square" lIns="0" tIns="0" rIns="0" bIns="0" rtlCol="0" anchor="ctr"/>
          <a:lstStyle/>
          <a:p>
            <a:pPr indent="0" marL="0">
              <a:buNone/>
            </a:pPr>
            <a:r>
              <a:rPr lang="en-US" sz="2600" b="1" dirty="0">
                <a:solidFill>
                  <a:srgbClr val="2B2622"/>
                </a:solidFill>
                <a:latin typeface="Meiryo" pitchFamily="34" charset="0"/>
                <a:ea typeface="Meiryo" pitchFamily="34" charset="-122"/>
                <a:cs typeface="Meiryo" pitchFamily="34" charset="-120"/>
              </a:rPr>
              <a:t>3シナリオ比較：投資家の年平均利回り</a:t>
            </a:r>
            <a:endParaRPr lang="en-US" sz="2600" dirty="0"/>
          </a:p>
        </p:txBody>
      </p:sp>
      <p:sp>
        <p:nvSpPr>
          <p:cNvPr id="5" name="Text 3"/>
          <p:cNvSpPr/>
          <p:nvPr/>
        </p:nvSpPr>
        <p:spPr>
          <a:xfrm>
            <a:off x="658368" y="1261872"/>
            <a:ext cx="10874959" cy="310896"/>
          </a:xfrm>
          <a:prstGeom prst="rect">
            <a:avLst/>
          </a:prstGeom>
          <a:noFill/>
          <a:ln/>
        </p:spPr>
        <p:txBody>
          <a:bodyPr wrap="square" lIns="0" tIns="0" rIns="0" bIns="0" rtlCol="0" anchor="ctr"/>
          <a:lstStyle/>
          <a:p>
            <a:pPr indent="0" marL="0">
              <a:buNone/>
            </a:pPr>
            <a:r>
              <a:rPr lang="en-US" sz="1150" dirty="0">
                <a:solidFill>
                  <a:srgbClr val="6F665F"/>
                </a:solidFill>
                <a:latin typeface="Meiryo" pitchFamily="34" charset="0"/>
                <a:ea typeface="Meiryo" pitchFamily="34" charset="-122"/>
                <a:cs typeface="Meiryo" pitchFamily="34" charset="-120"/>
              </a:rPr>
              <a:t>投資家出資2億円に対する5年間の分配の年平均。SPC税前利益を出資比率どおり60：40で配分し、満期の残存在庫は清算期間で売却したものとする。</a:t>
            </a:r>
            <a:endParaRPr lang="en-US" sz="1150" dirty="0"/>
          </a:p>
        </p:txBody>
      </p:sp>
      <p:sp>
        <p:nvSpPr>
          <p:cNvPr id="6" name="Text 4"/>
          <p:cNvSpPr/>
          <p:nvPr/>
        </p:nvSpPr>
        <p:spPr>
          <a:xfrm>
            <a:off x="658368" y="6446520"/>
            <a:ext cx="5486400" cy="256032"/>
          </a:xfrm>
          <a:prstGeom prst="rect">
            <a:avLst/>
          </a:prstGeom>
          <a:noFill/>
          <a:ln/>
        </p:spPr>
        <p:txBody>
          <a:bodyPr wrap="square" lIns="0" tIns="0" rIns="0" bIns="0" rtlCol="0" anchor="ctr"/>
          <a:lstStyle/>
          <a:p>
            <a:pPr indent="0" marL="0">
              <a:buNone/>
            </a:pPr>
            <a:r>
              <a:rPr lang="en-US" sz="900" dirty="0">
                <a:solidFill>
                  <a:srgbClr val="9A8F84"/>
                </a:solidFill>
                <a:latin typeface="Meiryo" pitchFamily="34" charset="0"/>
                <a:ea typeface="Meiryo" pitchFamily="34" charset="-122"/>
                <a:cs typeface="Meiryo" pitchFamily="34" charset="-120"/>
              </a:rPr>
              <a:t>Confidential</a:t>
            </a:r>
            <a:endParaRPr lang="en-US" sz="900" dirty="0"/>
          </a:p>
        </p:txBody>
      </p:sp>
      <p:sp>
        <p:nvSpPr>
          <p:cNvPr id="7" name="Text 5"/>
          <p:cNvSpPr/>
          <p:nvPr/>
        </p:nvSpPr>
        <p:spPr>
          <a:xfrm>
            <a:off x="10984687" y="6446520"/>
            <a:ext cx="548640" cy="256032"/>
          </a:xfrm>
          <a:prstGeom prst="rect">
            <a:avLst/>
          </a:prstGeom>
          <a:noFill/>
          <a:ln/>
        </p:spPr>
        <p:txBody>
          <a:bodyPr wrap="square" lIns="0" tIns="0" rIns="0" bIns="0" rtlCol="0" anchor="ctr"/>
          <a:lstStyle/>
          <a:p>
            <a:pPr algn="r" indent="0" marL="0">
              <a:buNone/>
            </a:pPr>
            <a:r>
              <a:rPr lang="en-US" sz="900" dirty="0">
                <a:solidFill>
                  <a:srgbClr val="9A8F84"/>
                </a:solidFill>
                <a:latin typeface="Meiryo" pitchFamily="34" charset="0"/>
                <a:ea typeface="Meiryo" pitchFamily="34" charset="-122"/>
                <a:cs typeface="Meiryo" pitchFamily="34" charset="-120"/>
              </a:rPr>
              <a:t>15</a:t>
            </a:r>
            <a:endParaRPr lang="en-US" sz="900" dirty="0"/>
          </a:p>
        </p:txBody>
      </p:sp>
      <p:sp>
        <p:nvSpPr>
          <p:cNvPr id="8" name="Shape 6"/>
          <p:cNvSpPr/>
          <p:nvPr/>
        </p:nvSpPr>
        <p:spPr>
          <a:xfrm>
            <a:off x="658368" y="1645920"/>
            <a:ext cx="10874959" cy="2724912"/>
          </a:xfrm>
          <a:prstGeom prst="roundRect">
            <a:avLst>
              <a:gd name="adj" fmla="val 2685"/>
            </a:avLst>
          </a:prstGeom>
          <a:solidFill>
            <a:srgbClr val="F5EFE4"/>
          </a:solidFill>
          <a:ln w="9525">
            <a:solidFill>
              <a:srgbClr val="E6DCCB"/>
            </a:solidFill>
            <a:prstDash val="solid"/>
          </a:ln>
          <a:effectLst>
            <a:outerShdw sx="100000" sy="100000" kx="0" ky="0" algn="bl" rotWithShape="0" blurRad="76200" dist="25400" dir="5400000">
              <a:srgbClr val="6F665F">
                <a:alpha val="18000"/>
              </a:srgbClr>
            </a:outerShdw>
          </a:effectLst>
        </p:spPr>
      </p:sp>
      <p:graphicFrame>
        <p:nvGraphicFramePr>
          <p:cNvPr id="9" name="Chart 0" descr=""/>
          <p:cNvGraphicFramePr/>
          <p:nvPr/>
        </p:nvGraphicFramePr>
        <p:xfrm>
          <a:off x="786384" y="1755648"/>
          <a:ext cx="10618927" cy="2505456"/>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658368" y="4535424"/>
            <a:ext cx="3454298" cy="1024128"/>
          </a:xfrm>
          <a:prstGeom prst="roundRect">
            <a:avLst>
              <a:gd name="adj" fmla="val 7143"/>
            </a:avLst>
          </a:prstGeom>
          <a:solidFill>
            <a:srgbClr val="F3E9D6"/>
          </a:solidFill>
          <a:ln w="9525">
            <a:solidFill>
              <a:srgbClr val="C9AE7E"/>
            </a:solidFill>
            <a:prstDash val="solid"/>
          </a:ln>
          <a:effectLst>
            <a:outerShdw sx="100000" sy="100000" kx="0" ky="0" algn="bl" rotWithShape="0" blurRad="76200" dist="25400" dir="5400000">
              <a:srgbClr val="6F665F">
                <a:alpha val="18000"/>
              </a:srgbClr>
            </a:outerShdw>
          </a:effectLst>
        </p:spPr>
      </p:sp>
      <p:sp>
        <p:nvSpPr>
          <p:cNvPr id="11" name="Text 8"/>
          <p:cNvSpPr/>
          <p:nvPr/>
        </p:nvSpPr>
        <p:spPr>
          <a:xfrm>
            <a:off x="896112" y="4681728"/>
            <a:ext cx="2978810" cy="237744"/>
          </a:xfrm>
          <a:prstGeom prst="rect">
            <a:avLst/>
          </a:prstGeom>
          <a:noFill/>
          <a:ln/>
        </p:spPr>
        <p:txBody>
          <a:bodyPr wrap="square" lIns="0" tIns="0" rIns="0" bIns="0" rtlCol="0" anchor="ctr"/>
          <a:lstStyle/>
          <a:p>
            <a:pPr indent="0" marL="0">
              <a:buNone/>
            </a:pPr>
            <a:r>
              <a:rPr lang="en-US" sz="1150" b="1" dirty="0">
                <a:solidFill>
                  <a:srgbClr val="8C6A3A"/>
                </a:solidFill>
                <a:latin typeface="Meiryo" pitchFamily="34" charset="0"/>
                <a:ea typeface="Meiryo" pitchFamily="34" charset="-122"/>
                <a:cs typeface="Meiryo" pitchFamily="34" charset="-120"/>
              </a:rPr>
              <a:t>主線の提示レンジ</a:t>
            </a:r>
            <a:endParaRPr lang="en-US" sz="1150" dirty="0"/>
          </a:p>
        </p:txBody>
      </p:sp>
      <p:sp>
        <p:nvSpPr>
          <p:cNvPr id="12" name="Text 9"/>
          <p:cNvSpPr/>
          <p:nvPr/>
        </p:nvSpPr>
        <p:spPr>
          <a:xfrm>
            <a:off x="896112" y="4956048"/>
            <a:ext cx="2978810" cy="493776"/>
          </a:xfrm>
          <a:prstGeom prst="rect">
            <a:avLst/>
          </a:prstGeom>
          <a:noFill/>
          <a:ln/>
        </p:spPr>
        <p:txBody>
          <a:bodyPr wrap="square" lIns="0" tIns="0" rIns="0" bIns="0" rtlCol="0" anchor="ctr"/>
          <a:lstStyle/>
          <a:p>
            <a:pPr indent="0" marL="0">
              <a:lnSpc>
                <a:spcPct val="120000"/>
              </a:lnSpc>
              <a:buNone/>
            </a:pPr>
            <a:r>
              <a:rPr lang="en-US" sz="950" dirty="0">
                <a:solidFill>
                  <a:srgbClr val="6F665F"/>
                </a:solidFill>
                <a:latin typeface="Meiryo" pitchFamily="34" charset="0"/>
                <a:ea typeface="Meiryo" pitchFamily="34" charset="-122"/>
                <a:cs typeface="Meiryo" pitchFamily="34" charset="-120"/>
              </a:rPr>
              <a:t>回転12ヶ月・上昇6%で年平均20.0%。想定レンジ9〜18ヶ月では16.1%〜27.8%となり、20%を確保できるのは回転12.3ヶ月までとなる。</a:t>
            </a:r>
            <a:endParaRPr lang="en-US" sz="950" dirty="0"/>
          </a:p>
        </p:txBody>
      </p:sp>
      <p:sp>
        <p:nvSpPr>
          <p:cNvPr id="13" name="Shape 10"/>
          <p:cNvSpPr/>
          <p:nvPr/>
        </p:nvSpPr>
        <p:spPr>
          <a:xfrm>
            <a:off x="4368698" y="4535424"/>
            <a:ext cx="3454298" cy="1024128"/>
          </a:xfrm>
          <a:prstGeom prst="roundRect">
            <a:avLst>
              <a:gd name="adj" fmla="val 7143"/>
            </a:avLst>
          </a:prstGeom>
          <a:solidFill>
            <a:srgbClr val="F5EFE4"/>
          </a:solidFill>
          <a:ln w="9525">
            <a:solidFill>
              <a:srgbClr val="E6DCCB"/>
            </a:solidFill>
            <a:prstDash val="solid"/>
          </a:ln>
          <a:effectLst>
            <a:outerShdw sx="100000" sy="100000" kx="0" ky="0" algn="bl" rotWithShape="0" blurRad="76200" dist="25400" dir="5400000">
              <a:srgbClr val="6F665F">
                <a:alpha val="18000"/>
              </a:srgbClr>
            </a:outerShdw>
          </a:effectLst>
        </p:spPr>
      </p:sp>
      <p:sp>
        <p:nvSpPr>
          <p:cNvPr id="14" name="Text 11"/>
          <p:cNvSpPr/>
          <p:nvPr/>
        </p:nvSpPr>
        <p:spPr>
          <a:xfrm>
            <a:off x="4606442" y="4681728"/>
            <a:ext cx="2978810" cy="237744"/>
          </a:xfrm>
          <a:prstGeom prst="rect">
            <a:avLst/>
          </a:prstGeom>
          <a:noFill/>
          <a:ln/>
        </p:spPr>
        <p:txBody>
          <a:bodyPr wrap="square" lIns="0" tIns="0" rIns="0" bIns="0" rtlCol="0" anchor="ctr"/>
          <a:lstStyle/>
          <a:p>
            <a:pPr indent="0" marL="0">
              <a:buNone/>
            </a:pPr>
            <a:r>
              <a:rPr lang="en-US" sz="1150" b="1" dirty="0">
                <a:solidFill>
                  <a:srgbClr val="2B2622"/>
                </a:solidFill>
                <a:latin typeface="Meiryo" pitchFamily="34" charset="0"/>
                <a:ea typeface="Meiryo" pitchFamily="34" charset="-122"/>
                <a:cs typeface="Meiryo" pitchFamily="34" charset="-120"/>
              </a:rPr>
              <a:t>上振れの条件</a:t>
            </a:r>
            <a:endParaRPr lang="en-US" sz="1150" dirty="0"/>
          </a:p>
        </p:txBody>
      </p:sp>
      <p:sp>
        <p:nvSpPr>
          <p:cNvPr id="15" name="Text 12"/>
          <p:cNvSpPr/>
          <p:nvPr/>
        </p:nvSpPr>
        <p:spPr>
          <a:xfrm>
            <a:off x="4606442" y="4956048"/>
            <a:ext cx="2978810" cy="493776"/>
          </a:xfrm>
          <a:prstGeom prst="rect">
            <a:avLst/>
          </a:prstGeom>
          <a:noFill/>
          <a:ln/>
        </p:spPr>
        <p:txBody>
          <a:bodyPr wrap="square" lIns="0" tIns="0" rIns="0" bIns="0" rtlCol="0" anchor="ctr"/>
          <a:lstStyle/>
          <a:p>
            <a:pPr indent="0" marL="0">
              <a:lnSpc>
                <a:spcPct val="120000"/>
              </a:lnSpc>
              <a:buNone/>
            </a:pPr>
            <a:r>
              <a:rPr lang="en-US" sz="950" dirty="0">
                <a:solidFill>
                  <a:srgbClr val="6F665F"/>
                </a:solidFill>
                <a:latin typeface="Meiryo" pitchFamily="34" charset="0"/>
                <a:ea typeface="Meiryo" pitchFamily="34" charset="-122"/>
                <a:cs typeface="Meiryo" pitchFamily="34" charset="-120"/>
              </a:rPr>
              <a:t>ワイン価格が会社資料水準の年10%で上昇した場合。回転が18ヶ月へ延びても20.6%と基準を満たす。</a:t>
            </a:r>
            <a:endParaRPr lang="en-US" sz="950" dirty="0"/>
          </a:p>
        </p:txBody>
      </p:sp>
      <p:sp>
        <p:nvSpPr>
          <p:cNvPr id="16" name="Shape 13"/>
          <p:cNvSpPr/>
          <p:nvPr/>
        </p:nvSpPr>
        <p:spPr>
          <a:xfrm>
            <a:off x="8079029" y="4535424"/>
            <a:ext cx="3454298" cy="1024128"/>
          </a:xfrm>
          <a:prstGeom prst="roundRect">
            <a:avLst>
              <a:gd name="adj" fmla="val 7143"/>
            </a:avLst>
          </a:prstGeom>
          <a:solidFill>
            <a:srgbClr val="F5EFE4"/>
          </a:solidFill>
          <a:ln w="9525">
            <a:solidFill>
              <a:srgbClr val="E6DCCB"/>
            </a:solidFill>
            <a:prstDash val="solid"/>
          </a:ln>
          <a:effectLst>
            <a:outerShdw sx="100000" sy="100000" kx="0" ky="0" algn="bl" rotWithShape="0" blurRad="76200" dist="25400" dir="5400000">
              <a:srgbClr val="6F665F">
                <a:alpha val="18000"/>
              </a:srgbClr>
            </a:outerShdw>
          </a:effectLst>
        </p:spPr>
      </p:sp>
      <p:sp>
        <p:nvSpPr>
          <p:cNvPr id="17" name="Text 14"/>
          <p:cNvSpPr/>
          <p:nvPr/>
        </p:nvSpPr>
        <p:spPr>
          <a:xfrm>
            <a:off x="8316773" y="4681728"/>
            <a:ext cx="2978810" cy="237744"/>
          </a:xfrm>
          <a:prstGeom prst="rect">
            <a:avLst/>
          </a:prstGeom>
          <a:noFill/>
          <a:ln/>
        </p:spPr>
        <p:txBody>
          <a:bodyPr wrap="square" lIns="0" tIns="0" rIns="0" bIns="0" rtlCol="0" anchor="ctr"/>
          <a:lstStyle/>
          <a:p>
            <a:pPr indent="0" marL="0">
              <a:buNone/>
            </a:pPr>
            <a:r>
              <a:rPr lang="en-US" sz="1150" b="1" dirty="0">
                <a:solidFill>
                  <a:srgbClr val="2B2622"/>
                </a:solidFill>
                <a:latin typeface="Meiryo" pitchFamily="34" charset="0"/>
                <a:ea typeface="Meiryo" pitchFamily="34" charset="-122"/>
                <a:cs typeface="Meiryo" pitchFamily="34" charset="-120"/>
              </a:rPr>
              <a:t>下振れの限界</a:t>
            </a:r>
            <a:endParaRPr lang="en-US" sz="1150" dirty="0"/>
          </a:p>
        </p:txBody>
      </p:sp>
      <p:sp>
        <p:nvSpPr>
          <p:cNvPr id="18" name="Text 15"/>
          <p:cNvSpPr/>
          <p:nvPr/>
        </p:nvSpPr>
        <p:spPr>
          <a:xfrm>
            <a:off x="8316773" y="4956048"/>
            <a:ext cx="2978810" cy="493776"/>
          </a:xfrm>
          <a:prstGeom prst="rect">
            <a:avLst/>
          </a:prstGeom>
          <a:noFill/>
          <a:ln/>
        </p:spPr>
        <p:txBody>
          <a:bodyPr wrap="square" lIns="0" tIns="0" rIns="0" bIns="0" rtlCol="0" anchor="ctr"/>
          <a:lstStyle/>
          <a:p>
            <a:pPr indent="0" marL="0">
              <a:lnSpc>
                <a:spcPct val="120000"/>
              </a:lnSpc>
              <a:buNone/>
            </a:pPr>
            <a:r>
              <a:rPr lang="en-US" sz="950" dirty="0">
                <a:solidFill>
                  <a:srgbClr val="6F665F"/>
                </a:solidFill>
                <a:latin typeface="Meiryo" pitchFamily="34" charset="0"/>
                <a:ea typeface="Meiryo" pitchFamily="34" charset="-122"/>
                <a:cs typeface="Meiryo" pitchFamily="34" charset="-120"/>
              </a:rPr>
              <a:t>価格が横ばいの場合、20%に届くのは回転9.3ヶ月までとなり、想定レンジでは基準を満たせない。回転の短縮が唯一の対抗手段となる。</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484632"/>
            <a:ext cx="109728" cy="109728"/>
          </a:xfrm>
          <a:prstGeom prst="ellipse">
            <a:avLst/>
          </a:prstGeom>
          <a:solidFill>
            <a:srgbClr val="A78450"/>
          </a:solidFill>
          <a:ln w="12700">
            <a:solidFill>
              <a:srgbClr val="A78450"/>
            </a:solidFill>
            <a:prstDash val="solid"/>
          </a:ln>
        </p:spPr>
      </p:sp>
      <p:sp>
        <p:nvSpPr>
          <p:cNvPr id="3" name="Text 1"/>
          <p:cNvSpPr/>
          <p:nvPr/>
        </p:nvSpPr>
        <p:spPr>
          <a:xfrm>
            <a:off x="923544" y="365760"/>
            <a:ext cx="9601200" cy="329184"/>
          </a:xfrm>
          <a:prstGeom prst="rect">
            <a:avLst/>
          </a:prstGeom>
          <a:noFill/>
          <a:ln/>
        </p:spPr>
        <p:txBody>
          <a:bodyPr wrap="square" lIns="0" tIns="0" rIns="0" bIns="0" rtlCol="0" anchor="ctr"/>
          <a:lstStyle/>
          <a:p>
            <a:pPr indent="0" marL="0">
              <a:buNone/>
            </a:pPr>
            <a:r>
              <a:rPr lang="en-US" sz="1200" b="1" spc="240" kern="0" dirty="0">
                <a:solidFill>
                  <a:srgbClr val="A78450"/>
                </a:solidFill>
                <a:latin typeface="Meiryo" pitchFamily="34" charset="0"/>
                <a:ea typeface="Meiryo" pitchFamily="34" charset="-122"/>
                <a:cs typeface="Meiryo" pitchFamily="34" charset="-120"/>
              </a:rPr>
              <a:t>SENSITIVITY</a:t>
            </a:r>
            <a:endParaRPr lang="en-US" sz="1200" dirty="0"/>
          </a:p>
        </p:txBody>
      </p:sp>
      <p:sp>
        <p:nvSpPr>
          <p:cNvPr id="4" name="Text 2"/>
          <p:cNvSpPr/>
          <p:nvPr/>
        </p:nvSpPr>
        <p:spPr>
          <a:xfrm>
            <a:off x="658368" y="731520"/>
            <a:ext cx="10874959" cy="566928"/>
          </a:xfrm>
          <a:prstGeom prst="rect">
            <a:avLst/>
          </a:prstGeom>
          <a:noFill/>
          <a:ln/>
        </p:spPr>
        <p:txBody>
          <a:bodyPr wrap="square" lIns="0" tIns="0" rIns="0" bIns="0" rtlCol="0" anchor="ctr"/>
          <a:lstStyle/>
          <a:p>
            <a:pPr indent="0" marL="0">
              <a:buNone/>
            </a:pPr>
            <a:r>
              <a:rPr lang="en-US" sz="2600" b="1" dirty="0">
                <a:solidFill>
                  <a:srgbClr val="2B2622"/>
                </a:solidFill>
                <a:latin typeface="Meiryo" pitchFamily="34" charset="0"/>
                <a:ea typeface="Meiryo" pitchFamily="34" charset="-122"/>
                <a:cs typeface="Meiryo" pitchFamily="34" charset="-120"/>
              </a:rPr>
              <a:t>感応度：何が崩れると利回りがどう動くか</a:t>
            </a:r>
            <a:endParaRPr lang="en-US" sz="2600" dirty="0"/>
          </a:p>
        </p:txBody>
      </p:sp>
      <p:sp>
        <p:nvSpPr>
          <p:cNvPr id="5" name="Text 3"/>
          <p:cNvSpPr/>
          <p:nvPr/>
        </p:nvSpPr>
        <p:spPr>
          <a:xfrm>
            <a:off x="658368" y="1261872"/>
            <a:ext cx="10874959" cy="310896"/>
          </a:xfrm>
          <a:prstGeom prst="rect">
            <a:avLst/>
          </a:prstGeom>
          <a:noFill/>
          <a:ln/>
        </p:spPr>
        <p:txBody>
          <a:bodyPr wrap="square" lIns="0" tIns="0" rIns="0" bIns="0" rtlCol="0" anchor="ctr"/>
          <a:lstStyle/>
          <a:p>
            <a:pPr indent="0" marL="0">
              <a:buNone/>
            </a:pPr>
            <a:r>
              <a:rPr lang="en-US" sz="1150" dirty="0">
                <a:solidFill>
                  <a:srgbClr val="6F665F"/>
                </a:solidFill>
                <a:latin typeface="Meiryo" pitchFamily="34" charset="0"/>
                <a:ea typeface="Meiryo" pitchFamily="34" charset="-122"/>
                <a:cs typeface="Meiryo" pitchFamily="34" charset="-120"/>
              </a:rPr>
              <a:t>主線（在庫回転12ヶ月・フル稼働時の単年22.5%）を基準とした、各変数の単独変動による影響（フル稼働時の単年ベース）。</a:t>
            </a:r>
            <a:endParaRPr lang="en-US" sz="1150" dirty="0"/>
          </a:p>
        </p:txBody>
      </p:sp>
      <p:sp>
        <p:nvSpPr>
          <p:cNvPr id="6" name="Text 4"/>
          <p:cNvSpPr/>
          <p:nvPr/>
        </p:nvSpPr>
        <p:spPr>
          <a:xfrm>
            <a:off x="658368" y="6446520"/>
            <a:ext cx="5486400" cy="256032"/>
          </a:xfrm>
          <a:prstGeom prst="rect">
            <a:avLst/>
          </a:prstGeom>
          <a:noFill/>
          <a:ln/>
        </p:spPr>
        <p:txBody>
          <a:bodyPr wrap="square" lIns="0" tIns="0" rIns="0" bIns="0" rtlCol="0" anchor="ctr"/>
          <a:lstStyle/>
          <a:p>
            <a:pPr indent="0" marL="0">
              <a:buNone/>
            </a:pPr>
            <a:r>
              <a:rPr lang="en-US" sz="900" dirty="0">
                <a:solidFill>
                  <a:srgbClr val="9A8F84"/>
                </a:solidFill>
                <a:latin typeface="Meiryo" pitchFamily="34" charset="0"/>
                <a:ea typeface="Meiryo" pitchFamily="34" charset="-122"/>
                <a:cs typeface="Meiryo" pitchFamily="34" charset="-120"/>
              </a:rPr>
              <a:t>Confidential</a:t>
            </a:r>
            <a:endParaRPr lang="en-US" sz="900" dirty="0"/>
          </a:p>
        </p:txBody>
      </p:sp>
      <p:sp>
        <p:nvSpPr>
          <p:cNvPr id="7" name="Text 5"/>
          <p:cNvSpPr/>
          <p:nvPr/>
        </p:nvSpPr>
        <p:spPr>
          <a:xfrm>
            <a:off x="10984687" y="6446520"/>
            <a:ext cx="548640" cy="256032"/>
          </a:xfrm>
          <a:prstGeom prst="rect">
            <a:avLst/>
          </a:prstGeom>
          <a:noFill/>
          <a:ln/>
        </p:spPr>
        <p:txBody>
          <a:bodyPr wrap="square" lIns="0" tIns="0" rIns="0" bIns="0" rtlCol="0" anchor="ctr"/>
          <a:lstStyle/>
          <a:p>
            <a:pPr algn="r" indent="0" marL="0">
              <a:buNone/>
            </a:pPr>
            <a:r>
              <a:rPr lang="en-US" sz="900" dirty="0">
                <a:solidFill>
                  <a:srgbClr val="9A8F84"/>
                </a:solidFill>
                <a:latin typeface="Meiryo" pitchFamily="34" charset="0"/>
                <a:ea typeface="Meiryo" pitchFamily="34" charset="-122"/>
                <a:cs typeface="Meiryo" pitchFamily="34" charset="-120"/>
              </a:rPr>
              <a:t>16</a:t>
            </a:r>
            <a:endParaRPr lang="en-US" sz="9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58368" y="1627632"/>
          <a:ext cx="10874959" cy="914400"/>
        </p:xfrm>
        <a:graphic>
          <a:graphicData uri="http://schemas.openxmlformats.org/drawingml/2006/table">
            <a:tbl>
              <a:tblPr/>
              <a:tblGrid>
                <a:gridCol w="1792224"/>
                <a:gridCol w="2212848"/>
                <a:gridCol w="2359152"/>
                <a:gridCol w="877824"/>
                <a:gridCol w="3630168"/>
              </a:tblGrid>
              <a:tr h="324612">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変動要因</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2B2622"/>
                    </a:solidFill>
                  </a:tcPr>
                </a:tc>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変動幅</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2B2622"/>
                    </a:solidFill>
                  </a:tcPr>
                </a:tc>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投資家利回りへの影響</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2B2622"/>
                    </a:solidFill>
                  </a:tcPr>
                </a:tc>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深刻度</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2B2622"/>
                    </a:solidFill>
                  </a:tcPr>
                </a:tc>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対応方針</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2B2622"/>
                    </a:solidFill>
                  </a:tcPr>
                </a:tc>
              </a:tr>
              <a:tr h="324612">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ワイン価格上昇率</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年6% → 0%（横ばい）</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B4553F"/>
                          </a:solidFill>
                          <a:latin typeface="Meiryo" pitchFamily="34" charset="0"/>
                          <a:ea typeface="Meiryo" pitchFamily="34" charset="-122"/>
                          <a:cs typeface="Meiryo" pitchFamily="34" charset="-120"/>
                        </a:rPr>
                        <a:t>22.5% → 15.6%（▲6.9pt）</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B4553F"/>
                          </a:solidFill>
                          <a:latin typeface="Meiryo" pitchFamily="34" charset="0"/>
                          <a:ea typeface="Meiryo" pitchFamily="34" charset="-122"/>
                          <a:cs typeface="Meiryo" pitchFamily="34" charset="-120"/>
                        </a:rPr>
                        <a:t>最大</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B2622"/>
                          </a:solidFill>
                          <a:latin typeface="Meiryo" pitchFamily="34" charset="0"/>
                          <a:ea typeface="Meiryo" pitchFamily="34" charset="-122"/>
                          <a:cs typeface="Meiryo" pitchFamily="34" charset="-120"/>
                        </a:rPr>
                        <a:t>回転期間を短縮し、αの取り込み回数を増やす</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r>
              <a:tr h="324612">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在庫回転期間</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12ヶ月 → 18ヶ月</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B4553F"/>
                          </a:solidFill>
                          <a:latin typeface="Meiryo" pitchFamily="34" charset="0"/>
                          <a:ea typeface="Meiryo" pitchFamily="34" charset="-122"/>
                          <a:cs typeface="Meiryo" pitchFamily="34" charset="-120"/>
                        </a:rPr>
                        <a:t>22.5% → 16.0%（▲6.5pt）</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B4553F"/>
                          </a:solidFill>
                          <a:latin typeface="Meiryo" pitchFamily="34" charset="0"/>
                          <a:ea typeface="Meiryo" pitchFamily="34" charset="-122"/>
                          <a:cs typeface="Meiryo" pitchFamily="34" charset="-120"/>
                        </a:rPr>
                        <a:t>最大</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B2622"/>
                          </a:solidFill>
                          <a:latin typeface="Meiryo" pitchFamily="34" charset="0"/>
                          <a:ea typeface="Meiryo" pitchFamily="34" charset="-122"/>
                          <a:cs typeface="Meiryo" pitchFamily="34" charset="-120"/>
                        </a:rPr>
                        <a:t>組入銘柄の選定・販売チャネルの多重化</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r>
              <a:tr h="324612">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稼働率</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95% → 85%</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B4553F"/>
                          </a:solidFill>
                          <a:latin typeface="Meiryo" pitchFamily="34" charset="0"/>
                          <a:ea typeface="Meiryo" pitchFamily="34" charset="-122"/>
                          <a:cs typeface="Meiryo" pitchFamily="34" charset="-120"/>
                        </a:rPr>
                        <a:t>22.5% → 19.8%（▲2.7pt）</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中</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B2622"/>
                          </a:solidFill>
                          <a:latin typeface="Meiryo" pitchFamily="34" charset="0"/>
                          <a:ea typeface="Meiryo" pitchFamily="34" charset="-122"/>
                          <a:cs typeface="Meiryo" pitchFamily="34" charset="-120"/>
                        </a:rPr>
                        <a:t>3年経過後の解約に備えた現金比率の設計と表裏</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r>
              <a:tr h="324612">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卸値の控除率 α</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24.5% → 23.5%</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B4553F"/>
                          </a:solidFill>
                          <a:latin typeface="Meiryo" pitchFamily="34" charset="0"/>
                          <a:ea typeface="Meiryo" pitchFamily="34" charset="-122"/>
                          <a:cs typeface="Meiryo" pitchFamily="34" charset="-120"/>
                        </a:rPr>
                        <a:t>22.5% → 20.9%（▲1.6pt）</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中</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B2622"/>
                          </a:solidFill>
                          <a:latin typeface="Meiryo" pitchFamily="34" charset="0"/>
                          <a:ea typeface="Meiryo" pitchFamily="34" charset="-122"/>
                          <a:cs typeface="Meiryo" pitchFamily="34" charset="-120"/>
                        </a:rPr>
                        <a:t>αは組成時に確定し、期中は変更しない</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r>
              <a:tr h="324612">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B2Cの販路手数料（決済込み）</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13.0% → 15.0%</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B4553F"/>
                          </a:solidFill>
                          <a:latin typeface="Meiryo" pitchFamily="34" charset="0"/>
                          <a:ea typeface="Meiryo" pitchFamily="34" charset="-122"/>
                          <a:cs typeface="Meiryo" pitchFamily="34" charset="-120"/>
                        </a:rPr>
                        <a:t>22.5% → 21.1%（▲1.4pt）</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小</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B2622"/>
                          </a:solidFill>
                          <a:latin typeface="Meiryo" pitchFamily="34" charset="0"/>
                          <a:ea typeface="Meiryo" pitchFamily="34" charset="-122"/>
                          <a:cs typeface="Meiryo" pitchFamily="34" charset="-120"/>
                        </a:rPr>
                        <a:t>自社販路は契約上13%が上限。年度合計10%超はWineBank負担</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r>
              <a:tr h="324612">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ワイン価格上昇率</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年6% → 10%（会社資料水準）</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8C6A3A"/>
                          </a:solidFill>
                          <a:latin typeface="Meiryo" pitchFamily="34" charset="0"/>
                          <a:ea typeface="Meiryo" pitchFamily="34" charset="-122"/>
                          <a:cs typeface="Meiryo" pitchFamily="34" charset="-120"/>
                        </a:rPr>
                        <a:t>22.5% → 27.1%（＋4.6pt）</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8C6A3A"/>
                          </a:solidFill>
                          <a:latin typeface="Meiryo" pitchFamily="34" charset="0"/>
                          <a:ea typeface="Meiryo" pitchFamily="34" charset="-122"/>
                          <a:cs typeface="Meiryo" pitchFamily="34" charset="-120"/>
                        </a:rPr>
                        <a:t>上振れ</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B2622"/>
                          </a:solidFill>
                          <a:latin typeface="Meiryo" pitchFamily="34" charset="0"/>
                          <a:ea typeface="Meiryo" pitchFamily="34" charset="-122"/>
                          <a:cs typeface="Meiryo" pitchFamily="34" charset="-120"/>
                        </a:rPr>
                        <a:t>Liv-ex連動銘柄の構成比を高める</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r>
              <a:tr h="324612">
                <a:tc>
                  <a:txBody>
                    <a:bodyPr/>
                    <a:lstStyle/>
                    <a:p>
                      <a:pPr algn="ctr" indent="0" marL="0">
                        <a:buNone/>
                      </a:pPr>
                      <a:r>
                        <a:rPr lang="en-US" sz="1000" dirty="0">
                          <a:solidFill>
                            <a:srgbClr val="6F665F"/>
                          </a:solidFill>
                          <a:latin typeface="Meiryo" pitchFamily="34" charset="0"/>
                          <a:ea typeface="Meiryo" pitchFamily="34" charset="-122"/>
                          <a:cs typeface="Meiryo" pitchFamily="34" charset="-120"/>
                        </a:rPr>
                        <a:t>【遮断】市中仕入価格</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F665F"/>
                          </a:solidFill>
                          <a:latin typeface="Meiryo" pitchFamily="34" charset="0"/>
                          <a:ea typeface="Meiryo" pitchFamily="34" charset="-122"/>
                          <a:cs typeface="Meiryo" pitchFamily="34" charset="-120"/>
                        </a:rPr>
                        <a:t>定価比 50 → 45</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F665F"/>
                          </a:solidFill>
                          <a:latin typeface="Meiryo" pitchFamily="34" charset="0"/>
                          <a:ea typeface="Meiryo" pitchFamily="34" charset="-122"/>
                          <a:cs typeface="Meiryo" pitchFamily="34" charset="-120"/>
                        </a:rPr>
                        <a:t>22.5% → 22.5%（＋0.0pt）</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F665F"/>
                          </a:solidFill>
                          <a:latin typeface="Meiryo" pitchFamily="34" charset="0"/>
                          <a:ea typeface="Meiryo" pitchFamily="34" charset="-122"/>
                          <a:cs typeface="Meiryo" pitchFamily="34" charset="-120"/>
                        </a:rPr>
                        <a:t>なし</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l" indent="0" marL="0">
                        <a:buNone/>
                      </a:pPr>
                      <a:r>
                        <a:rPr lang="en-US" sz="1000" dirty="0">
                          <a:solidFill>
                            <a:srgbClr val="6F665F"/>
                          </a:solidFill>
                          <a:latin typeface="Meiryo" pitchFamily="34" charset="0"/>
                          <a:ea typeface="Meiryo" pitchFamily="34" charset="-122"/>
                          <a:cs typeface="Meiryo" pitchFamily="34" charset="-120"/>
                        </a:rPr>
                        <a:t>卸値が時価連動のため投資家利回りには影響しない</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r>
              <a:tr h="324612">
                <a:tc>
                  <a:txBody>
                    <a:bodyPr/>
                    <a:lstStyle/>
                    <a:p>
                      <a:pPr algn="ctr" indent="0" marL="0">
                        <a:buNone/>
                      </a:pPr>
                      <a:r>
                        <a:rPr lang="en-US" sz="1000" dirty="0">
                          <a:solidFill>
                            <a:srgbClr val="6F665F"/>
                          </a:solidFill>
                          <a:latin typeface="Meiryo" pitchFamily="34" charset="0"/>
                          <a:ea typeface="Meiryo" pitchFamily="34" charset="-122"/>
                          <a:cs typeface="Meiryo" pitchFamily="34" charset="-120"/>
                        </a:rPr>
                        <a:t>【遮断】売却価格</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F665F"/>
                          </a:solidFill>
                          <a:latin typeface="Meiryo" pitchFamily="34" charset="0"/>
                          <a:ea typeface="Meiryo" pitchFamily="34" charset="-122"/>
                          <a:cs typeface="Meiryo" pitchFamily="34" charset="-120"/>
                        </a:rPr>
                        <a:t>売値 ▲5%</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F665F"/>
                          </a:solidFill>
                          <a:latin typeface="Meiryo" pitchFamily="34" charset="0"/>
                          <a:ea typeface="Meiryo" pitchFamily="34" charset="-122"/>
                          <a:cs typeface="Meiryo" pitchFamily="34" charset="-120"/>
                        </a:rPr>
                        <a:t>22.5% → 22.4%（▲0.1pt）</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F665F"/>
                          </a:solidFill>
                          <a:latin typeface="Meiryo" pitchFamily="34" charset="0"/>
                          <a:ea typeface="Meiryo" pitchFamily="34" charset="-122"/>
                          <a:cs typeface="Meiryo" pitchFamily="34" charset="-120"/>
                        </a:rPr>
                        <a:t>なし</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l" indent="0" marL="0">
                        <a:buNone/>
                      </a:pPr>
                      <a:r>
                        <a:rPr lang="en-US" sz="1000" dirty="0">
                          <a:solidFill>
                            <a:srgbClr val="6F665F"/>
                          </a:solidFill>
                          <a:latin typeface="Meiryo" pitchFamily="34" charset="0"/>
                          <a:ea typeface="Meiryo" pitchFamily="34" charset="-122"/>
                          <a:cs typeface="Meiryo" pitchFamily="34" charset="-120"/>
                        </a:rPr>
                        <a:t>簿価も同率で下がるため投資家利回りには影響しない</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r>
            </a:tbl>
          </a:graphicData>
        </a:graphic>
      </p:graphicFrame>
      <p:sp>
        <p:nvSpPr>
          <p:cNvPr id="9" name="Shape 6"/>
          <p:cNvSpPr/>
          <p:nvPr/>
        </p:nvSpPr>
        <p:spPr>
          <a:xfrm>
            <a:off x="658368" y="4645152"/>
            <a:ext cx="10874959" cy="1060704"/>
          </a:xfrm>
          <a:prstGeom prst="roundRect">
            <a:avLst>
              <a:gd name="adj" fmla="val 6897"/>
            </a:avLst>
          </a:prstGeom>
          <a:solidFill>
            <a:srgbClr val="F3E9D6"/>
          </a:solidFill>
          <a:ln w="9525">
            <a:solidFill>
              <a:srgbClr val="C9AE7E"/>
            </a:solidFill>
            <a:prstDash val="solid"/>
          </a:ln>
          <a:effectLst>
            <a:outerShdw sx="100000" sy="100000" kx="0" ky="0" algn="bl" rotWithShape="0" blurRad="76200" dist="25400" dir="5400000">
              <a:srgbClr val="6F665F">
                <a:alpha val="18000"/>
              </a:srgbClr>
            </a:outerShdw>
          </a:effectLst>
        </p:spPr>
      </p:sp>
      <p:sp>
        <p:nvSpPr>
          <p:cNvPr id="10" name="Text 7"/>
          <p:cNvSpPr/>
          <p:nvPr/>
        </p:nvSpPr>
        <p:spPr>
          <a:xfrm>
            <a:off x="932688" y="4754880"/>
            <a:ext cx="10326319" cy="841248"/>
          </a:xfrm>
          <a:prstGeom prst="rect">
            <a:avLst/>
          </a:prstGeom>
          <a:noFill/>
          <a:ln/>
        </p:spPr>
        <p:txBody>
          <a:bodyPr wrap="square" lIns="0" tIns="0" rIns="0" bIns="0" rtlCol="0" anchor="ctr"/>
          <a:lstStyle/>
          <a:p>
            <a:pPr indent="0" marL="0">
              <a:lnSpc>
                <a:spcPct val="122000"/>
              </a:lnSpc>
              <a:buNone/>
            </a:pPr>
            <a:r>
              <a:rPr lang="en-US" sz="1050" dirty="0">
                <a:solidFill>
                  <a:srgbClr val="2B2622"/>
                </a:solidFill>
                <a:latin typeface="Meiryo" pitchFamily="34" charset="0"/>
                <a:ea typeface="Meiryo" pitchFamily="34" charset="-122"/>
                <a:cs typeface="Meiryo" pitchFamily="34" charset="-120"/>
              </a:rPr>
              <a:t>結論：卸値を時価−αにしたことで、投資家利回りを動かす要因は「ワイン価格の上昇率」と「在庫回転期間」の2つに絞られた。仕入価格と売値の変動は簿価が連動するため遮断される。年平均20%の分岐点は回転12.3ヶ月（上昇6%前提）であり、主線12ヶ月に余裕はない。上昇0%の場合は回転9.3ヶ月まで縮めないと20%に届かないため、値上がりが止まる局面では回転の短縮が唯一の対抗手段となる。組入銘柄を流動性上位に絞り込み、B2B卸とB2Cを併走させて販売量を確保する設計とする。</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484632"/>
            <a:ext cx="109728" cy="109728"/>
          </a:xfrm>
          <a:prstGeom prst="ellipse">
            <a:avLst/>
          </a:prstGeom>
          <a:solidFill>
            <a:srgbClr val="A78450"/>
          </a:solidFill>
          <a:ln w="12700">
            <a:solidFill>
              <a:srgbClr val="A78450"/>
            </a:solidFill>
            <a:prstDash val="solid"/>
          </a:ln>
        </p:spPr>
      </p:sp>
      <p:sp>
        <p:nvSpPr>
          <p:cNvPr id="3" name="Text 1"/>
          <p:cNvSpPr/>
          <p:nvPr/>
        </p:nvSpPr>
        <p:spPr>
          <a:xfrm>
            <a:off x="923544" y="365760"/>
            <a:ext cx="9601200" cy="329184"/>
          </a:xfrm>
          <a:prstGeom prst="rect">
            <a:avLst/>
          </a:prstGeom>
          <a:noFill/>
          <a:ln/>
        </p:spPr>
        <p:txBody>
          <a:bodyPr wrap="square" lIns="0" tIns="0" rIns="0" bIns="0" rtlCol="0" anchor="ctr"/>
          <a:lstStyle/>
          <a:p>
            <a:pPr indent="0" marL="0">
              <a:buNone/>
            </a:pPr>
            <a:r>
              <a:rPr lang="en-US" sz="1200" b="1" spc="240" kern="0" dirty="0">
                <a:solidFill>
                  <a:srgbClr val="A78450"/>
                </a:solidFill>
                <a:latin typeface="Meiryo" pitchFamily="34" charset="0"/>
                <a:ea typeface="Meiryo" pitchFamily="34" charset="-122"/>
                <a:cs typeface="Meiryo" pitchFamily="34" charset="-120"/>
              </a:rPr>
              <a:t>FAIR ALLOCATION</a:t>
            </a:r>
            <a:endParaRPr lang="en-US" sz="1200" dirty="0"/>
          </a:p>
        </p:txBody>
      </p:sp>
      <p:sp>
        <p:nvSpPr>
          <p:cNvPr id="4" name="Text 2"/>
          <p:cNvSpPr/>
          <p:nvPr/>
        </p:nvSpPr>
        <p:spPr>
          <a:xfrm>
            <a:off x="658368" y="731520"/>
            <a:ext cx="10874959" cy="566928"/>
          </a:xfrm>
          <a:prstGeom prst="rect">
            <a:avLst/>
          </a:prstGeom>
          <a:noFill/>
          <a:ln/>
        </p:spPr>
        <p:txBody>
          <a:bodyPr wrap="square" lIns="0" tIns="0" rIns="0" bIns="0" rtlCol="0" anchor="ctr"/>
          <a:lstStyle/>
          <a:p>
            <a:pPr indent="0" marL="0">
              <a:buNone/>
            </a:pPr>
            <a:r>
              <a:rPr lang="en-US" sz="2600" b="1" dirty="0">
                <a:solidFill>
                  <a:srgbClr val="2B2622"/>
                </a:solidFill>
                <a:latin typeface="Meiryo" pitchFamily="34" charset="0"/>
                <a:ea typeface="Meiryo" pitchFamily="34" charset="-122"/>
                <a:cs typeface="Meiryo" pitchFamily="34" charset="-120"/>
              </a:rPr>
              <a:t>WineBank在庫との公平性をどう担保するか</a:t>
            </a:r>
            <a:endParaRPr lang="en-US" sz="2600" dirty="0"/>
          </a:p>
        </p:txBody>
      </p:sp>
      <p:sp>
        <p:nvSpPr>
          <p:cNvPr id="5" name="Text 3"/>
          <p:cNvSpPr/>
          <p:nvPr/>
        </p:nvSpPr>
        <p:spPr>
          <a:xfrm>
            <a:off x="658368" y="1261872"/>
            <a:ext cx="10874959" cy="310896"/>
          </a:xfrm>
          <a:prstGeom prst="rect">
            <a:avLst/>
          </a:prstGeom>
          <a:noFill/>
          <a:ln/>
        </p:spPr>
        <p:txBody>
          <a:bodyPr wrap="square" lIns="0" tIns="0" rIns="0" bIns="0" rtlCol="0" anchor="ctr"/>
          <a:lstStyle/>
          <a:p>
            <a:pPr indent="0" marL="0">
              <a:buNone/>
            </a:pPr>
            <a:r>
              <a:rPr lang="en-US" sz="1150" dirty="0">
                <a:solidFill>
                  <a:srgbClr val="6F665F"/>
                </a:solidFill>
                <a:latin typeface="Meiryo" pitchFamily="34" charset="0"/>
                <a:ea typeface="Meiryo" pitchFamily="34" charset="-122"/>
                <a:cs typeface="Meiryo" pitchFamily="34" charset="-120"/>
              </a:rPr>
              <a:t>調達・保管・販売のすべてをWineBankが担うため配分に構造的な利益相反が生じる。在庫比率によるプロラタ配分を原則とする。</a:t>
            </a:r>
            <a:endParaRPr lang="en-US" sz="1150" dirty="0"/>
          </a:p>
        </p:txBody>
      </p:sp>
      <p:sp>
        <p:nvSpPr>
          <p:cNvPr id="6" name="Text 4"/>
          <p:cNvSpPr/>
          <p:nvPr/>
        </p:nvSpPr>
        <p:spPr>
          <a:xfrm>
            <a:off x="658368" y="6446520"/>
            <a:ext cx="5486400" cy="256032"/>
          </a:xfrm>
          <a:prstGeom prst="rect">
            <a:avLst/>
          </a:prstGeom>
          <a:noFill/>
          <a:ln/>
        </p:spPr>
        <p:txBody>
          <a:bodyPr wrap="square" lIns="0" tIns="0" rIns="0" bIns="0" rtlCol="0" anchor="ctr"/>
          <a:lstStyle/>
          <a:p>
            <a:pPr indent="0" marL="0">
              <a:buNone/>
            </a:pPr>
            <a:r>
              <a:rPr lang="en-US" sz="900" dirty="0">
                <a:solidFill>
                  <a:srgbClr val="9A8F84"/>
                </a:solidFill>
                <a:latin typeface="Meiryo" pitchFamily="34" charset="0"/>
                <a:ea typeface="Meiryo" pitchFamily="34" charset="-122"/>
                <a:cs typeface="Meiryo" pitchFamily="34" charset="-120"/>
              </a:rPr>
              <a:t>Confidential</a:t>
            </a:r>
            <a:endParaRPr lang="en-US" sz="900" dirty="0"/>
          </a:p>
        </p:txBody>
      </p:sp>
      <p:sp>
        <p:nvSpPr>
          <p:cNvPr id="7" name="Text 5"/>
          <p:cNvSpPr/>
          <p:nvPr/>
        </p:nvSpPr>
        <p:spPr>
          <a:xfrm>
            <a:off x="10984687" y="6446520"/>
            <a:ext cx="548640" cy="256032"/>
          </a:xfrm>
          <a:prstGeom prst="rect">
            <a:avLst/>
          </a:prstGeom>
          <a:noFill/>
          <a:ln/>
        </p:spPr>
        <p:txBody>
          <a:bodyPr wrap="square" lIns="0" tIns="0" rIns="0" bIns="0" rtlCol="0" anchor="ctr"/>
          <a:lstStyle/>
          <a:p>
            <a:pPr algn="r" indent="0" marL="0">
              <a:buNone/>
            </a:pPr>
            <a:r>
              <a:rPr lang="en-US" sz="900" dirty="0">
                <a:solidFill>
                  <a:srgbClr val="9A8F84"/>
                </a:solidFill>
                <a:latin typeface="Meiryo" pitchFamily="34" charset="0"/>
                <a:ea typeface="Meiryo" pitchFamily="34" charset="-122"/>
                <a:cs typeface="Meiryo" pitchFamily="34" charset="-120"/>
              </a:rPr>
              <a:t>17</a:t>
            </a:r>
            <a:endParaRPr lang="en-US" sz="900" dirty="0"/>
          </a:p>
        </p:txBody>
      </p:sp>
      <p:sp>
        <p:nvSpPr>
          <p:cNvPr id="8" name="Shape 6"/>
          <p:cNvSpPr/>
          <p:nvPr/>
        </p:nvSpPr>
        <p:spPr>
          <a:xfrm>
            <a:off x="658368" y="1627632"/>
            <a:ext cx="3454298" cy="1847088"/>
          </a:xfrm>
          <a:prstGeom prst="roundRect">
            <a:avLst>
              <a:gd name="adj" fmla="val 3960"/>
            </a:avLst>
          </a:prstGeom>
          <a:solidFill>
            <a:srgbClr val="F3E9D6"/>
          </a:solidFill>
          <a:ln w="9525">
            <a:solidFill>
              <a:srgbClr val="C9AE7E"/>
            </a:solidFill>
            <a:prstDash val="solid"/>
          </a:ln>
          <a:effectLst>
            <a:outerShdw sx="100000" sy="100000" kx="0" ky="0" algn="bl" rotWithShape="0" blurRad="76200" dist="25400" dir="5400000">
              <a:srgbClr val="6F665F">
                <a:alpha val="18000"/>
              </a:srgbClr>
            </a:outerShdw>
          </a:effectLst>
        </p:spPr>
      </p:sp>
      <p:sp>
        <p:nvSpPr>
          <p:cNvPr id="9" name="Shape 7"/>
          <p:cNvSpPr/>
          <p:nvPr/>
        </p:nvSpPr>
        <p:spPr>
          <a:xfrm>
            <a:off x="896112" y="1810512"/>
            <a:ext cx="310896" cy="310896"/>
          </a:xfrm>
          <a:prstGeom prst="ellipse">
            <a:avLst/>
          </a:prstGeom>
          <a:solidFill>
            <a:srgbClr val="2B2622"/>
          </a:solidFill>
          <a:ln w="12700">
            <a:solidFill>
              <a:srgbClr val="2B2622"/>
            </a:solidFill>
            <a:prstDash val="solid"/>
          </a:ln>
        </p:spPr>
      </p:sp>
      <p:sp>
        <p:nvSpPr>
          <p:cNvPr id="10" name="Text 8"/>
          <p:cNvSpPr/>
          <p:nvPr/>
        </p:nvSpPr>
        <p:spPr>
          <a:xfrm>
            <a:off x="896112" y="1810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01</a:t>
            </a:r>
            <a:endParaRPr lang="en-US" sz="1100" dirty="0"/>
          </a:p>
        </p:txBody>
      </p:sp>
      <p:sp>
        <p:nvSpPr>
          <p:cNvPr id="11" name="Text 9"/>
          <p:cNvSpPr/>
          <p:nvPr/>
        </p:nvSpPr>
        <p:spPr>
          <a:xfrm>
            <a:off x="1298448" y="1828800"/>
            <a:ext cx="2576474" cy="274320"/>
          </a:xfrm>
          <a:prstGeom prst="rect">
            <a:avLst/>
          </a:prstGeom>
          <a:noFill/>
          <a:ln/>
        </p:spPr>
        <p:txBody>
          <a:bodyPr wrap="square" lIns="0" tIns="0" rIns="0" bIns="0" rtlCol="0" anchor="ctr"/>
          <a:lstStyle/>
          <a:p>
            <a:pPr indent="0" marL="0">
              <a:buNone/>
            </a:pPr>
            <a:r>
              <a:rPr lang="en-US" sz="1100" b="1" dirty="0">
                <a:solidFill>
                  <a:srgbClr val="8C6A3A"/>
                </a:solidFill>
                <a:latin typeface="Meiryo" pitchFamily="34" charset="0"/>
                <a:ea typeface="Meiryo" pitchFamily="34" charset="-122"/>
                <a:cs typeface="Meiryo" pitchFamily="34" charset="-120"/>
              </a:rPr>
              <a:t>現物出資が相反そのものを縮小する</a:t>
            </a:r>
            <a:endParaRPr lang="en-US" sz="1100" dirty="0"/>
          </a:p>
        </p:txBody>
      </p:sp>
      <p:sp>
        <p:nvSpPr>
          <p:cNvPr id="12" name="Text 10"/>
          <p:cNvSpPr/>
          <p:nvPr/>
        </p:nvSpPr>
        <p:spPr>
          <a:xfrm>
            <a:off x="896112" y="2267712"/>
            <a:ext cx="2978810" cy="1298448"/>
          </a:xfrm>
          <a:prstGeom prst="rect">
            <a:avLst/>
          </a:prstGeom>
          <a:noFill/>
          <a:ln/>
        </p:spPr>
        <p:txBody>
          <a:bodyPr wrap="square" lIns="0" tIns="0" rIns="0" bIns="0" rtlCol="0" anchor="ctr"/>
          <a:lstStyle/>
          <a:p>
            <a:pPr indent="0" marL="0">
              <a:lnSpc>
                <a:spcPct val="122000"/>
              </a:lnSpc>
              <a:buNone/>
            </a:pPr>
            <a:r>
              <a:rPr lang="en-US" sz="900" dirty="0">
                <a:solidFill>
                  <a:srgbClr val="6F665F"/>
                </a:solidFill>
                <a:latin typeface="Meiryo" pitchFamily="34" charset="0"/>
                <a:ea typeface="Meiryo" pitchFamily="34" charset="-122"/>
                <a:cs typeface="Meiryo" pitchFamily="34" charset="-120"/>
              </a:rPr>
              <a:t>WineBankが自己勘定在庫の相当部分（1stクローズで3億円相当）をSPCへ拠出するため、両者に同一銘柄が併存する場面自体が減る。加えてWineBankはSPCの持分60%を通じて損益を負うため、SPC在庫を後回しにする経済的動機が小さい。</a:t>
            </a:r>
            <a:endParaRPr lang="en-US" sz="900" dirty="0"/>
          </a:p>
        </p:txBody>
      </p:sp>
      <p:sp>
        <p:nvSpPr>
          <p:cNvPr id="13" name="Shape 11"/>
          <p:cNvSpPr/>
          <p:nvPr/>
        </p:nvSpPr>
        <p:spPr>
          <a:xfrm>
            <a:off x="4368698" y="1627632"/>
            <a:ext cx="3454298" cy="1847088"/>
          </a:xfrm>
          <a:prstGeom prst="roundRect">
            <a:avLst>
              <a:gd name="adj" fmla="val 3960"/>
            </a:avLst>
          </a:prstGeom>
          <a:solidFill>
            <a:srgbClr val="F5EFE4"/>
          </a:solidFill>
          <a:ln w="9525">
            <a:solidFill>
              <a:srgbClr val="E6DCCB"/>
            </a:solidFill>
            <a:prstDash val="solid"/>
          </a:ln>
          <a:effectLst>
            <a:outerShdw sx="100000" sy="100000" kx="0" ky="0" algn="bl" rotWithShape="0" blurRad="76200" dist="25400" dir="5400000">
              <a:srgbClr val="6F665F">
                <a:alpha val="18000"/>
              </a:srgbClr>
            </a:outerShdw>
          </a:effectLst>
        </p:spPr>
      </p:sp>
      <p:sp>
        <p:nvSpPr>
          <p:cNvPr id="14" name="Shape 12"/>
          <p:cNvSpPr/>
          <p:nvPr/>
        </p:nvSpPr>
        <p:spPr>
          <a:xfrm>
            <a:off x="4606442" y="1810512"/>
            <a:ext cx="310896" cy="310896"/>
          </a:xfrm>
          <a:prstGeom prst="ellipse">
            <a:avLst/>
          </a:prstGeom>
          <a:solidFill>
            <a:srgbClr val="2B2622"/>
          </a:solidFill>
          <a:ln w="12700">
            <a:solidFill>
              <a:srgbClr val="2B2622"/>
            </a:solidFill>
            <a:prstDash val="solid"/>
          </a:ln>
        </p:spPr>
      </p:sp>
      <p:sp>
        <p:nvSpPr>
          <p:cNvPr id="15" name="Text 13"/>
          <p:cNvSpPr/>
          <p:nvPr/>
        </p:nvSpPr>
        <p:spPr>
          <a:xfrm>
            <a:off x="4606442" y="1810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02</a:t>
            </a:r>
            <a:endParaRPr lang="en-US" sz="1100" dirty="0"/>
          </a:p>
        </p:txBody>
      </p:sp>
      <p:sp>
        <p:nvSpPr>
          <p:cNvPr id="16" name="Text 14"/>
          <p:cNvSpPr/>
          <p:nvPr/>
        </p:nvSpPr>
        <p:spPr>
          <a:xfrm>
            <a:off x="5008778" y="1828800"/>
            <a:ext cx="2576474" cy="274320"/>
          </a:xfrm>
          <a:prstGeom prst="rect">
            <a:avLst/>
          </a:prstGeom>
          <a:noFill/>
          <a:ln/>
        </p:spPr>
        <p:txBody>
          <a:bodyPr wrap="square" lIns="0" tIns="0" rIns="0" bIns="0" rtlCol="0" anchor="ctr"/>
          <a:lstStyle/>
          <a:p>
            <a:pPr indent="0" marL="0">
              <a:buNone/>
            </a:pPr>
            <a:r>
              <a:rPr lang="en-US" sz="1100" b="1" dirty="0">
                <a:solidFill>
                  <a:srgbClr val="2B2622"/>
                </a:solidFill>
                <a:latin typeface="Meiryo" pitchFamily="34" charset="0"/>
                <a:ea typeface="Meiryo" pitchFamily="34" charset="-122"/>
                <a:cs typeface="Meiryo" pitchFamily="34" charset="-120"/>
              </a:rPr>
              <a:t>プロラタ配分を原則とする</a:t>
            </a:r>
            <a:endParaRPr lang="en-US" sz="1100" dirty="0"/>
          </a:p>
        </p:txBody>
      </p:sp>
      <p:sp>
        <p:nvSpPr>
          <p:cNvPr id="17" name="Text 15"/>
          <p:cNvSpPr/>
          <p:nvPr/>
        </p:nvSpPr>
        <p:spPr>
          <a:xfrm>
            <a:off x="4606442" y="2267712"/>
            <a:ext cx="2978810" cy="1298448"/>
          </a:xfrm>
          <a:prstGeom prst="rect">
            <a:avLst/>
          </a:prstGeom>
          <a:noFill/>
          <a:ln/>
        </p:spPr>
        <p:txBody>
          <a:bodyPr wrap="square" lIns="0" tIns="0" rIns="0" bIns="0" rtlCol="0" anchor="ctr"/>
          <a:lstStyle/>
          <a:p>
            <a:pPr indent="0" marL="0">
              <a:lnSpc>
                <a:spcPct val="122000"/>
              </a:lnSpc>
              <a:buNone/>
            </a:pPr>
            <a:r>
              <a:rPr lang="en-US" sz="900" dirty="0">
                <a:solidFill>
                  <a:srgbClr val="6F665F"/>
                </a:solidFill>
                <a:latin typeface="Meiryo" pitchFamily="34" charset="0"/>
                <a:ea typeface="Meiryo" pitchFamily="34" charset="-122"/>
                <a:cs typeface="Meiryo" pitchFamily="34" charset="-120"/>
              </a:rPr>
              <a:t>同一銘柄が両者にある場合、売却を在庫数量の比率に応じて配分する。個々の売却は分割できないため、累計の配分比率が在庫比率に一致するよう配分台帳で管理し、乖離の大きい側から出庫する。判断を要する場合はSPC在庫を優先する。</a:t>
            </a:r>
            <a:endParaRPr lang="en-US" sz="900" dirty="0"/>
          </a:p>
        </p:txBody>
      </p:sp>
      <p:sp>
        <p:nvSpPr>
          <p:cNvPr id="18" name="Shape 16"/>
          <p:cNvSpPr/>
          <p:nvPr/>
        </p:nvSpPr>
        <p:spPr>
          <a:xfrm>
            <a:off x="8079029" y="1627632"/>
            <a:ext cx="3454298" cy="1847088"/>
          </a:xfrm>
          <a:prstGeom prst="roundRect">
            <a:avLst>
              <a:gd name="adj" fmla="val 3960"/>
            </a:avLst>
          </a:prstGeom>
          <a:solidFill>
            <a:srgbClr val="F5EFE4"/>
          </a:solidFill>
          <a:ln w="9525">
            <a:solidFill>
              <a:srgbClr val="E6DCCB"/>
            </a:solidFill>
            <a:prstDash val="solid"/>
          </a:ln>
          <a:effectLst>
            <a:outerShdw sx="100000" sy="100000" kx="0" ky="0" algn="bl" rotWithShape="0" blurRad="76200" dist="25400" dir="5400000">
              <a:srgbClr val="6F665F">
                <a:alpha val="18000"/>
              </a:srgbClr>
            </a:outerShdw>
          </a:effectLst>
        </p:spPr>
      </p:sp>
      <p:sp>
        <p:nvSpPr>
          <p:cNvPr id="19" name="Shape 17"/>
          <p:cNvSpPr/>
          <p:nvPr/>
        </p:nvSpPr>
        <p:spPr>
          <a:xfrm>
            <a:off x="8316773" y="1810512"/>
            <a:ext cx="310896" cy="310896"/>
          </a:xfrm>
          <a:prstGeom prst="ellipse">
            <a:avLst/>
          </a:prstGeom>
          <a:solidFill>
            <a:srgbClr val="2B2622"/>
          </a:solidFill>
          <a:ln w="12700">
            <a:solidFill>
              <a:srgbClr val="2B2622"/>
            </a:solidFill>
            <a:prstDash val="solid"/>
          </a:ln>
        </p:spPr>
      </p:sp>
      <p:sp>
        <p:nvSpPr>
          <p:cNvPr id="20" name="Text 18"/>
          <p:cNvSpPr/>
          <p:nvPr/>
        </p:nvSpPr>
        <p:spPr>
          <a:xfrm>
            <a:off x="8316773" y="1810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03</a:t>
            </a:r>
            <a:endParaRPr lang="en-US" sz="1100" dirty="0"/>
          </a:p>
        </p:txBody>
      </p:sp>
      <p:sp>
        <p:nvSpPr>
          <p:cNvPr id="21" name="Text 19"/>
          <p:cNvSpPr/>
          <p:nvPr/>
        </p:nvSpPr>
        <p:spPr>
          <a:xfrm>
            <a:off x="8719109" y="1828800"/>
            <a:ext cx="2576474" cy="274320"/>
          </a:xfrm>
          <a:prstGeom prst="rect">
            <a:avLst/>
          </a:prstGeom>
          <a:noFill/>
          <a:ln/>
        </p:spPr>
        <p:txBody>
          <a:bodyPr wrap="square" lIns="0" tIns="0" rIns="0" bIns="0" rtlCol="0" anchor="ctr"/>
          <a:lstStyle/>
          <a:p>
            <a:pPr indent="0" marL="0">
              <a:buNone/>
            </a:pPr>
            <a:r>
              <a:rPr lang="en-US" sz="1100" b="1" dirty="0">
                <a:solidFill>
                  <a:srgbClr val="2B2622"/>
                </a:solidFill>
                <a:latin typeface="Meiryo" pitchFamily="34" charset="0"/>
                <a:ea typeface="Meiryo" pitchFamily="34" charset="-122"/>
                <a:cs typeface="Meiryo" pitchFamily="34" charset="-120"/>
              </a:rPr>
              <a:t>価格同一ルールと補填条項</a:t>
            </a:r>
            <a:endParaRPr lang="en-US" sz="1100" dirty="0"/>
          </a:p>
        </p:txBody>
      </p:sp>
      <p:sp>
        <p:nvSpPr>
          <p:cNvPr id="22" name="Text 20"/>
          <p:cNvSpPr/>
          <p:nvPr/>
        </p:nvSpPr>
        <p:spPr>
          <a:xfrm>
            <a:off x="8316773" y="2267712"/>
            <a:ext cx="2978810" cy="1298448"/>
          </a:xfrm>
          <a:prstGeom prst="rect">
            <a:avLst/>
          </a:prstGeom>
          <a:noFill/>
          <a:ln/>
        </p:spPr>
        <p:txBody>
          <a:bodyPr wrap="square" lIns="0" tIns="0" rIns="0" bIns="0" rtlCol="0" anchor="ctr"/>
          <a:lstStyle/>
          <a:p>
            <a:pPr indent="0" marL="0">
              <a:lnSpc>
                <a:spcPct val="122000"/>
              </a:lnSpc>
              <a:buNone/>
            </a:pPr>
            <a:r>
              <a:rPr lang="en-US" sz="900" dirty="0">
                <a:solidFill>
                  <a:srgbClr val="6F665F"/>
                </a:solidFill>
                <a:latin typeface="Meiryo" pitchFamily="34" charset="0"/>
                <a:ea typeface="Meiryo" pitchFamily="34" charset="-122"/>
                <a:cs typeface="Meiryo" pitchFamily="34" charset="-120"/>
              </a:rPr>
              <a:t>同一SKU・同一半期の実現単価は、SPCがWineBank自己勘定を下回らないものとする。下回った場合は差額×SPC数量をWineBankがSPCへ現金で補填する。運用が崩れても投資家が金額で守られる仕組みとする。</a:t>
            </a:r>
            <a:endParaRPr lang="en-US" sz="9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58368" y="3602736"/>
          <a:ext cx="10874959" cy="914400"/>
        </p:xfrm>
        <a:graphic>
          <a:graphicData uri="http://schemas.openxmlformats.org/drawingml/2006/table">
            <a:tbl>
              <a:tblPr/>
              <a:tblGrid>
                <a:gridCol w="2377440"/>
                <a:gridCol w="8494776"/>
              </a:tblGrid>
              <a:tr h="246888">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担保の手段</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2B2622"/>
                    </a:solidFill>
                  </a:tcPr>
                </a:tc>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内容</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2B2622"/>
                    </a:solidFill>
                  </a:tcPr>
                </a:tc>
              </a:tr>
              <a:tr h="246888">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卸値ルールの明文化</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l" indent="0" marL="0">
                        <a:buNone/>
                      </a:pPr>
                      <a:r>
                        <a:rPr lang="en-US" sz="1000" dirty="0">
                          <a:solidFill>
                            <a:srgbClr val="8C6A3A"/>
                          </a:solidFill>
                          <a:latin typeface="Meiryo" pitchFamily="34" charset="0"/>
                          <a:ea typeface="Meiryo" pitchFamily="34" charset="-122"/>
                          <a:cs typeface="Meiryo" pitchFamily="34" charset="-120"/>
                        </a:rPr>
                        <a:t>SPCへの卸値は「時価 × （1−α）」とし、α＝24.5%を契約上固定する。期中の変更には投資家の事前承認を要する</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r>
              <a:tr h="246888">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時価の算定方法</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l" indent="0" marL="0">
                        <a:buNone/>
                      </a:pPr>
                      <a:r>
                        <a:rPr lang="en-US" sz="1000" dirty="0">
                          <a:solidFill>
                            <a:srgbClr val="8C6A3A"/>
                          </a:solidFill>
                          <a:latin typeface="Meiryo" pitchFamily="34" charset="0"/>
                          <a:ea typeface="Meiryo" pitchFamily="34" charset="-122"/>
                          <a:cs typeface="Meiryo" pitchFamily="34" charset="-120"/>
                        </a:rPr>
                        <a:t>時価はB2B卸値とB2C売値の加重平均とし、算定根拠（Liv-ex・Wine-Searcher等、自社の実現単価）をデータルームで常時開示する</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r>
              <a:tr h="246888">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拠出銘柄の選定ルール</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B2622"/>
                          </a:solidFill>
                          <a:latin typeface="Meiryo" pitchFamily="34" charset="0"/>
                          <a:ea typeface="Meiryo" pitchFamily="34" charset="-122"/>
                          <a:cs typeface="Meiryo" pitchFamily="34" charset="-120"/>
                        </a:rPr>
                        <a:t>流動性上位から選定。明細を実行10営業日前に提示し、WB以外の出資者過半の異議なきことを実行条件とする（表明保証付き）</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r>
              <a:tr h="246888">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取得時の按分</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B2622"/>
                          </a:solidFill>
                          <a:latin typeface="Meiryo" pitchFamily="34" charset="0"/>
                          <a:ea typeface="Meiryo" pitchFamily="34" charset="-122"/>
                          <a:cs typeface="Meiryo" pitchFamily="34" charset="-120"/>
                        </a:rPr>
                        <a:t>同一SKUを複数ロット取得する場合は、SPCとWineBank自己勘定の在庫比率に応じて按分して割り当てる</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r>
              <a:tr h="246888">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配分台帳</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B2622"/>
                          </a:solidFill>
                          <a:latin typeface="Meiryo" pitchFamily="34" charset="0"/>
                          <a:ea typeface="Meiryo" pitchFamily="34" charset="-122"/>
                          <a:cs typeface="Meiryo" pitchFamily="34" charset="-120"/>
                        </a:rPr>
                        <a:t>SKU別に取得日・取得・売却・在庫・保管場所を両建てで記録し、在庫比率との乖離を半期ごとに開示（10%超は翌半期に是正）</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r>
              <a:tr h="246888">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倉庫内の分別保管</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B2622"/>
                          </a:solidFill>
                          <a:latin typeface="Meiryo" pitchFamily="34" charset="0"/>
                          <a:ea typeface="Meiryo" pitchFamily="34" charset="-122"/>
                          <a:cs typeface="Meiryo" pitchFamily="34" charset="-120"/>
                        </a:rPr>
                        <a:t>SPC名義の在庫は別ロケーション・別ラベルで管理する。半期ごとに第三者棚卸を実施し、期末はAUPで立会う</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r>
              <a:tr h="246888">
                <a:tc>
                  <a:txBody>
                    <a:bodyPr/>
                    <a:lstStyle/>
                    <a:p>
                      <a:pPr algn="ctr" indent="0" marL="0">
                        <a:buNone/>
                      </a:pPr>
                      <a:r>
                        <a:rPr lang="en-US" sz="1000" dirty="0">
                          <a:solidFill>
                            <a:srgbClr val="2B2622"/>
                          </a:solidFill>
                          <a:latin typeface="Meiryo" pitchFamily="34" charset="0"/>
                          <a:ea typeface="Meiryo" pitchFamily="34" charset="-122"/>
                          <a:cs typeface="Meiryo" pitchFamily="34" charset="-120"/>
                        </a:rPr>
                        <a:t>独立第三者による検証</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B2622"/>
                          </a:solidFill>
                          <a:latin typeface="Meiryo" pitchFamily="34" charset="0"/>
                          <a:ea typeface="Meiryo" pitchFamily="34" charset="-122"/>
                          <a:cs typeface="Meiryo" pitchFamily="34" charset="-120"/>
                        </a:rPr>
                        <a:t>AUP（年次）で卸値の算定・配分ルールの遵守・銀行残高・関連当事者取引・期末棚卸を公認会計士が検証する</a:t>
                      </a:r>
                      <a:endParaRPr lang="en-US" sz="100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r>
            </a:tbl>
          </a:graphicData>
        </a:graphic>
      </p:graphicFrame>
      <p:sp>
        <p:nvSpPr>
          <p:cNvPr id="24" name="Text 21"/>
          <p:cNvSpPr/>
          <p:nvPr/>
        </p:nvSpPr>
        <p:spPr>
          <a:xfrm>
            <a:off x="658368" y="5797296"/>
            <a:ext cx="10874959" cy="329184"/>
          </a:xfrm>
          <a:prstGeom prst="rect">
            <a:avLst/>
          </a:prstGeom>
          <a:noFill/>
          <a:ln/>
        </p:spPr>
        <p:txBody>
          <a:bodyPr wrap="square" lIns="0" tIns="0" rIns="0" bIns="0" rtlCol="0" anchor="ctr"/>
          <a:lstStyle/>
          <a:p>
            <a:pPr indent="0" marL="0">
              <a:lnSpc>
                <a:spcPct val="118000"/>
              </a:lnSpc>
              <a:buNone/>
            </a:pPr>
            <a:r>
              <a:rPr lang="en-US" sz="800" dirty="0">
                <a:solidFill>
                  <a:srgbClr val="9A8F84"/>
                </a:solidFill>
                <a:latin typeface="Meiryo" pitchFamily="34" charset="0"/>
                <a:ea typeface="Meiryo" pitchFamily="34" charset="-122"/>
                <a:cs typeface="Meiryo" pitchFamily="34" charset="-120"/>
              </a:rPr>
              <a:t>※ 本スキームではWineBankの取り分が卸値の中で確定するため、「いくらで卸したか」が投資家利益に直結する。したがって在庫の配分ルールに加え、卸値の決め方そのものを契約で固定し、第三者の検証対象に含めることが最大の担保となる。SPC在庫を完売するまで自己勘定在庫を売らないという運用は、商品構成が銘柄ごとに異なるため実務上成立しないので採らない。</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484632"/>
            <a:ext cx="109728" cy="109728"/>
          </a:xfrm>
          <a:prstGeom prst="ellipse">
            <a:avLst/>
          </a:prstGeom>
          <a:solidFill>
            <a:srgbClr val="A78450"/>
          </a:solidFill>
          <a:ln w="12700">
            <a:solidFill>
              <a:srgbClr val="A78450"/>
            </a:solidFill>
            <a:prstDash val="solid"/>
          </a:ln>
        </p:spPr>
      </p:sp>
      <p:sp>
        <p:nvSpPr>
          <p:cNvPr id="3" name="Text 1"/>
          <p:cNvSpPr/>
          <p:nvPr/>
        </p:nvSpPr>
        <p:spPr>
          <a:xfrm>
            <a:off x="923544" y="365760"/>
            <a:ext cx="9601200" cy="329184"/>
          </a:xfrm>
          <a:prstGeom prst="rect">
            <a:avLst/>
          </a:prstGeom>
          <a:noFill/>
          <a:ln/>
        </p:spPr>
        <p:txBody>
          <a:bodyPr wrap="square" lIns="0" tIns="0" rIns="0" bIns="0" rtlCol="0" anchor="ctr"/>
          <a:lstStyle/>
          <a:p>
            <a:pPr indent="0" marL="0">
              <a:buNone/>
            </a:pPr>
            <a:r>
              <a:rPr lang="en-US" sz="1200" b="1" spc="240" kern="0" dirty="0">
                <a:solidFill>
                  <a:srgbClr val="A78450"/>
                </a:solidFill>
                <a:latin typeface="Meiryo" pitchFamily="34" charset="0"/>
                <a:ea typeface="Meiryo" pitchFamily="34" charset="-122"/>
                <a:cs typeface="Meiryo" pitchFamily="34" charset="-120"/>
              </a:rPr>
              <a:t>GOVERNANCE</a:t>
            </a:r>
            <a:endParaRPr lang="en-US" sz="1200" dirty="0"/>
          </a:p>
        </p:txBody>
      </p:sp>
      <p:sp>
        <p:nvSpPr>
          <p:cNvPr id="4" name="Text 2"/>
          <p:cNvSpPr/>
          <p:nvPr/>
        </p:nvSpPr>
        <p:spPr>
          <a:xfrm>
            <a:off x="658368" y="731520"/>
            <a:ext cx="10874959" cy="566928"/>
          </a:xfrm>
          <a:prstGeom prst="rect">
            <a:avLst/>
          </a:prstGeom>
          <a:noFill/>
          <a:ln/>
        </p:spPr>
        <p:txBody>
          <a:bodyPr wrap="square" lIns="0" tIns="0" rIns="0" bIns="0" rtlCol="0" anchor="ctr"/>
          <a:lstStyle/>
          <a:p>
            <a:pPr indent="0" marL="0">
              <a:buNone/>
            </a:pPr>
            <a:r>
              <a:rPr lang="en-US" sz="2600" b="1" dirty="0">
                <a:solidFill>
                  <a:srgbClr val="2B2622"/>
                </a:solidFill>
                <a:latin typeface="Meiryo" pitchFamily="34" charset="0"/>
                <a:ea typeface="Meiryo" pitchFamily="34" charset="-122"/>
                <a:cs typeface="Meiryo" pitchFamily="34" charset="-120"/>
              </a:rPr>
              <a:t>情報開示・報告と利益相反の管理</a:t>
            </a:r>
            <a:endParaRPr lang="en-US" sz="2600" dirty="0"/>
          </a:p>
        </p:txBody>
      </p:sp>
      <p:sp>
        <p:nvSpPr>
          <p:cNvPr id="5" name="Text 3"/>
          <p:cNvSpPr/>
          <p:nvPr/>
        </p:nvSpPr>
        <p:spPr>
          <a:xfrm>
            <a:off x="658368" y="1261872"/>
            <a:ext cx="10874959" cy="310896"/>
          </a:xfrm>
          <a:prstGeom prst="rect">
            <a:avLst/>
          </a:prstGeom>
          <a:noFill/>
          <a:ln/>
        </p:spPr>
        <p:txBody>
          <a:bodyPr wrap="square" lIns="0" tIns="0" rIns="0" bIns="0" rtlCol="0" anchor="ctr"/>
          <a:lstStyle/>
          <a:p>
            <a:pPr indent="0" marL="0">
              <a:buNone/>
            </a:pPr>
            <a:r>
              <a:rPr lang="en-US" sz="1150" dirty="0">
                <a:solidFill>
                  <a:srgbClr val="6F665F"/>
                </a:solidFill>
                <a:latin typeface="Meiryo" pitchFamily="34" charset="0"/>
                <a:ea typeface="Meiryo" pitchFamily="34" charset="-122"/>
                <a:cs typeface="Meiryo" pitchFamily="34" charset="-120"/>
              </a:rPr>
              <a:t>運営者への依存度が高いスキームであるため、開示義務と利益相反管理を契約上で具体的に定める。</a:t>
            </a:r>
            <a:endParaRPr lang="en-US" sz="1150" dirty="0"/>
          </a:p>
        </p:txBody>
      </p:sp>
      <p:sp>
        <p:nvSpPr>
          <p:cNvPr id="6" name="Text 4"/>
          <p:cNvSpPr/>
          <p:nvPr/>
        </p:nvSpPr>
        <p:spPr>
          <a:xfrm>
            <a:off x="658368" y="6446520"/>
            <a:ext cx="5486400" cy="256032"/>
          </a:xfrm>
          <a:prstGeom prst="rect">
            <a:avLst/>
          </a:prstGeom>
          <a:noFill/>
          <a:ln/>
        </p:spPr>
        <p:txBody>
          <a:bodyPr wrap="square" lIns="0" tIns="0" rIns="0" bIns="0" rtlCol="0" anchor="ctr"/>
          <a:lstStyle/>
          <a:p>
            <a:pPr indent="0" marL="0">
              <a:buNone/>
            </a:pPr>
            <a:r>
              <a:rPr lang="en-US" sz="900" dirty="0">
                <a:solidFill>
                  <a:srgbClr val="9A8F84"/>
                </a:solidFill>
                <a:latin typeface="Meiryo" pitchFamily="34" charset="0"/>
                <a:ea typeface="Meiryo" pitchFamily="34" charset="-122"/>
                <a:cs typeface="Meiryo" pitchFamily="34" charset="-120"/>
              </a:rPr>
              <a:t>Confidential</a:t>
            </a:r>
            <a:endParaRPr lang="en-US" sz="900" dirty="0"/>
          </a:p>
        </p:txBody>
      </p:sp>
      <p:sp>
        <p:nvSpPr>
          <p:cNvPr id="7" name="Text 5"/>
          <p:cNvSpPr/>
          <p:nvPr/>
        </p:nvSpPr>
        <p:spPr>
          <a:xfrm>
            <a:off x="10984687" y="6446520"/>
            <a:ext cx="548640" cy="256032"/>
          </a:xfrm>
          <a:prstGeom prst="rect">
            <a:avLst/>
          </a:prstGeom>
          <a:noFill/>
          <a:ln/>
        </p:spPr>
        <p:txBody>
          <a:bodyPr wrap="square" lIns="0" tIns="0" rIns="0" bIns="0" rtlCol="0" anchor="ctr"/>
          <a:lstStyle/>
          <a:p>
            <a:pPr algn="r" indent="0" marL="0">
              <a:buNone/>
            </a:pPr>
            <a:r>
              <a:rPr lang="en-US" sz="900" dirty="0">
                <a:solidFill>
                  <a:srgbClr val="9A8F84"/>
                </a:solidFill>
                <a:latin typeface="Meiryo" pitchFamily="34" charset="0"/>
                <a:ea typeface="Meiryo" pitchFamily="34" charset="-122"/>
                <a:cs typeface="Meiryo" pitchFamily="34" charset="-120"/>
              </a:rPr>
              <a:t>18</a:t>
            </a:r>
            <a:endParaRPr lang="en-US" sz="900" dirty="0"/>
          </a:p>
        </p:txBody>
      </p:sp>
      <p:sp>
        <p:nvSpPr>
          <p:cNvPr id="8" name="Shape 6"/>
          <p:cNvSpPr/>
          <p:nvPr/>
        </p:nvSpPr>
        <p:spPr>
          <a:xfrm>
            <a:off x="658368" y="1627632"/>
            <a:ext cx="5300320" cy="3163824"/>
          </a:xfrm>
          <a:prstGeom prst="roundRect">
            <a:avLst>
              <a:gd name="adj" fmla="val 2312"/>
            </a:avLst>
          </a:prstGeom>
          <a:solidFill>
            <a:srgbClr val="F5EFE4"/>
          </a:solidFill>
          <a:ln w="9525">
            <a:solidFill>
              <a:srgbClr val="E6DCCB"/>
            </a:solidFill>
            <a:prstDash val="solid"/>
          </a:ln>
          <a:effectLst>
            <a:outerShdw sx="100000" sy="100000" kx="0" ky="0" algn="bl" rotWithShape="0" blurRad="76200" dist="25400" dir="5400000">
              <a:srgbClr val="6F665F">
                <a:alpha val="18000"/>
              </a:srgbClr>
            </a:outerShdw>
          </a:effectLst>
        </p:spPr>
      </p:sp>
      <p:sp>
        <p:nvSpPr>
          <p:cNvPr id="9" name="Text 7"/>
          <p:cNvSpPr/>
          <p:nvPr/>
        </p:nvSpPr>
        <p:spPr>
          <a:xfrm>
            <a:off x="914400" y="1792224"/>
            <a:ext cx="4788256" cy="256032"/>
          </a:xfrm>
          <a:prstGeom prst="rect">
            <a:avLst/>
          </a:prstGeom>
          <a:noFill/>
          <a:ln/>
        </p:spPr>
        <p:txBody>
          <a:bodyPr wrap="square" lIns="0" tIns="0" rIns="0" bIns="0" rtlCol="0" anchor="ctr"/>
          <a:lstStyle/>
          <a:p>
            <a:pPr indent="0" marL="0">
              <a:buNone/>
            </a:pPr>
            <a:r>
              <a:rPr lang="en-US" sz="1250" b="1" dirty="0">
                <a:solidFill>
                  <a:srgbClr val="8C6A3A"/>
                </a:solidFill>
                <a:latin typeface="Meiryo" pitchFamily="34" charset="0"/>
                <a:ea typeface="Meiryo" pitchFamily="34" charset="-122"/>
                <a:cs typeface="Meiryo" pitchFamily="34" charset="-120"/>
              </a:rPr>
              <a:t>契約上の報告・開示義務</a:t>
            </a:r>
            <a:endParaRPr lang="en-US" sz="1250" dirty="0"/>
          </a:p>
        </p:txBody>
      </p:sp>
      <p:sp>
        <p:nvSpPr>
          <p:cNvPr id="10" name="Shape 8"/>
          <p:cNvSpPr/>
          <p:nvPr/>
        </p:nvSpPr>
        <p:spPr>
          <a:xfrm>
            <a:off x="932688" y="2180844"/>
            <a:ext cx="128016" cy="128016"/>
          </a:xfrm>
          <a:prstGeom prst="ellipse">
            <a:avLst/>
          </a:prstGeom>
          <a:solidFill>
            <a:srgbClr val="A78450"/>
          </a:solidFill>
          <a:ln w="12700">
            <a:solidFill>
              <a:srgbClr val="A78450"/>
            </a:solidFill>
            <a:prstDash val="solid"/>
          </a:ln>
        </p:spPr>
      </p:sp>
      <p:sp>
        <p:nvSpPr>
          <p:cNvPr id="11" name="Text 9"/>
          <p:cNvSpPr/>
          <p:nvPr/>
        </p:nvSpPr>
        <p:spPr>
          <a:xfrm>
            <a:off x="932688" y="2180844"/>
            <a:ext cx="128016" cy="128016"/>
          </a:xfrm>
          <a:prstGeom prst="rect">
            <a:avLst/>
          </a:prstGeom>
          <a:noFill/>
          <a:ln/>
        </p:spPr>
        <p:txBody>
          <a:bodyPr wrap="square" lIns="0" tIns="0" rIns="0" bIns="0" rtlCol="0" anchor="ctr"/>
          <a:lstStyle/>
          <a:p>
            <a:pPr algn="ctr" indent="0" marL="0">
              <a:buNone/>
            </a:pPr>
            <a:endParaRPr lang="en-US" sz="1100" dirty="0"/>
          </a:p>
        </p:txBody>
      </p:sp>
      <p:sp>
        <p:nvSpPr>
          <p:cNvPr id="12" name="Text 10"/>
          <p:cNvSpPr/>
          <p:nvPr/>
        </p:nvSpPr>
        <p:spPr>
          <a:xfrm>
            <a:off x="1152144" y="2103120"/>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6F665F"/>
                </a:solidFill>
                <a:latin typeface="Meiryo" pitchFamily="34" charset="0"/>
                <a:ea typeface="Meiryo" pitchFamily="34" charset="-122"/>
                <a:cs typeface="Meiryo" pitchFamily="34" charset="-120"/>
              </a:rPr>
              <a:t>半期ごとの損益、資金収支および事業進捗（資料はデータルームで常時参照）</a:t>
            </a:r>
            <a:endParaRPr lang="en-US" sz="950" dirty="0"/>
          </a:p>
        </p:txBody>
      </p:sp>
      <p:sp>
        <p:nvSpPr>
          <p:cNvPr id="13" name="Shape 11"/>
          <p:cNvSpPr/>
          <p:nvPr/>
        </p:nvSpPr>
        <p:spPr>
          <a:xfrm>
            <a:off x="932688" y="2496312"/>
            <a:ext cx="128016" cy="128016"/>
          </a:xfrm>
          <a:prstGeom prst="ellipse">
            <a:avLst/>
          </a:prstGeom>
          <a:solidFill>
            <a:srgbClr val="A78450"/>
          </a:solidFill>
          <a:ln w="12700">
            <a:solidFill>
              <a:srgbClr val="A78450"/>
            </a:solidFill>
            <a:prstDash val="solid"/>
          </a:ln>
        </p:spPr>
      </p:sp>
      <p:sp>
        <p:nvSpPr>
          <p:cNvPr id="14" name="Text 12"/>
          <p:cNvSpPr/>
          <p:nvPr/>
        </p:nvSpPr>
        <p:spPr>
          <a:xfrm>
            <a:off x="932688" y="2496312"/>
            <a:ext cx="128016" cy="128016"/>
          </a:xfrm>
          <a:prstGeom prst="rect">
            <a:avLst/>
          </a:prstGeom>
          <a:noFill/>
          <a:ln/>
        </p:spPr>
        <p:txBody>
          <a:bodyPr wrap="square" lIns="0" tIns="0" rIns="0" bIns="0" rtlCol="0" anchor="ctr"/>
          <a:lstStyle/>
          <a:p>
            <a:pPr algn="ctr" indent="0" marL="0">
              <a:buNone/>
            </a:pPr>
            <a:endParaRPr lang="en-US" sz="1100" dirty="0"/>
          </a:p>
        </p:txBody>
      </p:sp>
      <p:sp>
        <p:nvSpPr>
          <p:cNvPr id="15" name="Text 13"/>
          <p:cNvSpPr/>
          <p:nvPr/>
        </p:nvSpPr>
        <p:spPr>
          <a:xfrm>
            <a:off x="1152144" y="2418588"/>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6F665F"/>
                </a:solidFill>
                <a:latin typeface="Meiryo" pitchFamily="34" charset="0"/>
                <a:ea typeface="Meiryo" pitchFamily="34" charset="-122"/>
                <a:cs typeface="Meiryo" pitchFamily="34" charset="-120"/>
              </a:rPr>
              <a:t>SPCへの卸値、その基礎となった時価および算定根拠</a:t>
            </a:r>
            <a:endParaRPr lang="en-US" sz="950" dirty="0"/>
          </a:p>
        </p:txBody>
      </p:sp>
      <p:sp>
        <p:nvSpPr>
          <p:cNvPr id="16" name="Shape 14"/>
          <p:cNvSpPr/>
          <p:nvPr/>
        </p:nvSpPr>
        <p:spPr>
          <a:xfrm>
            <a:off x="932688" y="2811780"/>
            <a:ext cx="128016" cy="128016"/>
          </a:xfrm>
          <a:prstGeom prst="ellipse">
            <a:avLst/>
          </a:prstGeom>
          <a:solidFill>
            <a:srgbClr val="A78450"/>
          </a:solidFill>
          <a:ln w="12700">
            <a:solidFill>
              <a:srgbClr val="A78450"/>
            </a:solidFill>
            <a:prstDash val="solid"/>
          </a:ln>
        </p:spPr>
      </p:sp>
      <p:sp>
        <p:nvSpPr>
          <p:cNvPr id="17" name="Text 15"/>
          <p:cNvSpPr/>
          <p:nvPr/>
        </p:nvSpPr>
        <p:spPr>
          <a:xfrm>
            <a:off x="932688" y="2811780"/>
            <a:ext cx="128016" cy="128016"/>
          </a:xfrm>
          <a:prstGeom prst="rect">
            <a:avLst/>
          </a:prstGeom>
          <a:noFill/>
          <a:ln/>
        </p:spPr>
        <p:txBody>
          <a:bodyPr wrap="square" lIns="0" tIns="0" rIns="0" bIns="0" rtlCol="0" anchor="ctr"/>
          <a:lstStyle/>
          <a:p>
            <a:pPr algn="ctr" indent="0" marL="0">
              <a:buNone/>
            </a:pPr>
            <a:endParaRPr lang="en-US" sz="1100" dirty="0"/>
          </a:p>
        </p:txBody>
      </p:sp>
      <p:sp>
        <p:nvSpPr>
          <p:cNvPr id="18" name="Text 16"/>
          <p:cNvSpPr/>
          <p:nvPr/>
        </p:nvSpPr>
        <p:spPr>
          <a:xfrm>
            <a:off x="1152144" y="2734056"/>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6F665F"/>
                </a:solidFill>
                <a:latin typeface="Meiryo" pitchFamily="34" charset="0"/>
                <a:ea typeface="Meiryo" pitchFamily="34" charset="-122"/>
                <a:cs typeface="Meiryo" pitchFamily="34" charset="-120"/>
              </a:rPr>
              <a:t>仕入数量・仕入単価・販売数量・販売単価・在庫数量</a:t>
            </a:r>
            <a:endParaRPr lang="en-US" sz="950" dirty="0"/>
          </a:p>
        </p:txBody>
      </p:sp>
      <p:sp>
        <p:nvSpPr>
          <p:cNvPr id="19" name="Shape 17"/>
          <p:cNvSpPr/>
          <p:nvPr/>
        </p:nvSpPr>
        <p:spPr>
          <a:xfrm>
            <a:off x="932688" y="3127248"/>
            <a:ext cx="128016" cy="128016"/>
          </a:xfrm>
          <a:prstGeom prst="ellipse">
            <a:avLst/>
          </a:prstGeom>
          <a:solidFill>
            <a:srgbClr val="A78450"/>
          </a:solidFill>
          <a:ln w="12700">
            <a:solidFill>
              <a:srgbClr val="A78450"/>
            </a:solidFill>
            <a:prstDash val="solid"/>
          </a:ln>
        </p:spPr>
      </p:sp>
      <p:sp>
        <p:nvSpPr>
          <p:cNvPr id="20" name="Text 18"/>
          <p:cNvSpPr/>
          <p:nvPr/>
        </p:nvSpPr>
        <p:spPr>
          <a:xfrm>
            <a:off x="932688" y="3127248"/>
            <a:ext cx="128016" cy="128016"/>
          </a:xfrm>
          <a:prstGeom prst="rect">
            <a:avLst/>
          </a:prstGeom>
          <a:noFill/>
          <a:ln/>
        </p:spPr>
        <p:txBody>
          <a:bodyPr wrap="square" lIns="0" tIns="0" rIns="0" bIns="0" rtlCol="0" anchor="ctr"/>
          <a:lstStyle/>
          <a:p>
            <a:pPr algn="ctr" indent="0" marL="0">
              <a:buNone/>
            </a:pPr>
            <a:endParaRPr lang="en-US" sz="1100" dirty="0"/>
          </a:p>
        </p:txBody>
      </p:sp>
      <p:sp>
        <p:nvSpPr>
          <p:cNvPr id="21" name="Text 19"/>
          <p:cNvSpPr/>
          <p:nvPr/>
        </p:nvSpPr>
        <p:spPr>
          <a:xfrm>
            <a:off x="1152144" y="3049524"/>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6F665F"/>
                </a:solidFill>
                <a:latin typeface="Meiryo" pitchFamily="34" charset="0"/>
                <a:ea typeface="Meiryo" pitchFamily="34" charset="-122"/>
                <a:cs typeface="Meiryo" pitchFamily="34" charset="-120"/>
              </a:rPr>
              <a:t>現物出資する銘柄の明細および評価額（実行10営業日前に提示）</a:t>
            </a:r>
            <a:endParaRPr lang="en-US" sz="950" dirty="0"/>
          </a:p>
        </p:txBody>
      </p:sp>
      <p:sp>
        <p:nvSpPr>
          <p:cNvPr id="22" name="Shape 20"/>
          <p:cNvSpPr/>
          <p:nvPr/>
        </p:nvSpPr>
        <p:spPr>
          <a:xfrm>
            <a:off x="932688" y="3442716"/>
            <a:ext cx="128016" cy="128016"/>
          </a:xfrm>
          <a:prstGeom prst="ellipse">
            <a:avLst/>
          </a:prstGeom>
          <a:solidFill>
            <a:srgbClr val="A78450"/>
          </a:solidFill>
          <a:ln w="12700">
            <a:solidFill>
              <a:srgbClr val="A78450"/>
            </a:solidFill>
            <a:prstDash val="solid"/>
          </a:ln>
        </p:spPr>
      </p:sp>
      <p:sp>
        <p:nvSpPr>
          <p:cNvPr id="23" name="Text 21"/>
          <p:cNvSpPr/>
          <p:nvPr/>
        </p:nvSpPr>
        <p:spPr>
          <a:xfrm>
            <a:off x="932688" y="3442716"/>
            <a:ext cx="128016" cy="128016"/>
          </a:xfrm>
          <a:prstGeom prst="rect">
            <a:avLst/>
          </a:prstGeom>
          <a:noFill/>
          <a:ln/>
        </p:spPr>
        <p:txBody>
          <a:bodyPr wrap="square" lIns="0" tIns="0" rIns="0" bIns="0" rtlCol="0" anchor="ctr"/>
          <a:lstStyle/>
          <a:p>
            <a:pPr algn="ctr" indent="0" marL="0">
              <a:buNone/>
            </a:pPr>
            <a:endParaRPr lang="en-US" sz="1100" dirty="0"/>
          </a:p>
        </p:txBody>
      </p:sp>
      <p:sp>
        <p:nvSpPr>
          <p:cNvPr id="24" name="Text 22"/>
          <p:cNvSpPr/>
          <p:nvPr/>
        </p:nvSpPr>
        <p:spPr>
          <a:xfrm>
            <a:off x="1152144" y="3364992"/>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6F665F"/>
                </a:solidFill>
                <a:latin typeface="Meiryo" pitchFamily="34" charset="0"/>
                <a:ea typeface="Meiryo" pitchFamily="34" charset="-122"/>
                <a:cs typeface="Meiryo" pitchFamily="34" charset="-120"/>
              </a:rPr>
              <a:t>資金使途、銀行口座残高および主要な支払内容</a:t>
            </a:r>
            <a:endParaRPr lang="en-US" sz="950" dirty="0"/>
          </a:p>
        </p:txBody>
      </p:sp>
      <p:sp>
        <p:nvSpPr>
          <p:cNvPr id="25" name="Shape 23"/>
          <p:cNvSpPr/>
          <p:nvPr/>
        </p:nvSpPr>
        <p:spPr>
          <a:xfrm>
            <a:off x="932688" y="3758184"/>
            <a:ext cx="128016" cy="128016"/>
          </a:xfrm>
          <a:prstGeom prst="ellipse">
            <a:avLst/>
          </a:prstGeom>
          <a:solidFill>
            <a:srgbClr val="A78450"/>
          </a:solidFill>
          <a:ln w="12700">
            <a:solidFill>
              <a:srgbClr val="A78450"/>
            </a:solidFill>
            <a:prstDash val="solid"/>
          </a:ln>
        </p:spPr>
      </p:sp>
      <p:sp>
        <p:nvSpPr>
          <p:cNvPr id="26" name="Text 24"/>
          <p:cNvSpPr/>
          <p:nvPr/>
        </p:nvSpPr>
        <p:spPr>
          <a:xfrm>
            <a:off x="932688" y="3758184"/>
            <a:ext cx="128016" cy="128016"/>
          </a:xfrm>
          <a:prstGeom prst="rect">
            <a:avLst/>
          </a:prstGeom>
          <a:noFill/>
          <a:ln/>
        </p:spPr>
        <p:txBody>
          <a:bodyPr wrap="square" lIns="0" tIns="0" rIns="0" bIns="0" rtlCol="0" anchor="ctr"/>
          <a:lstStyle/>
          <a:p>
            <a:pPr algn="ctr" indent="0" marL="0">
              <a:buNone/>
            </a:pPr>
            <a:endParaRPr lang="en-US" sz="1100" dirty="0"/>
          </a:p>
        </p:txBody>
      </p:sp>
      <p:sp>
        <p:nvSpPr>
          <p:cNvPr id="27" name="Text 25"/>
          <p:cNvSpPr/>
          <p:nvPr/>
        </p:nvSpPr>
        <p:spPr>
          <a:xfrm>
            <a:off x="1152144" y="3680460"/>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6F665F"/>
                </a:solidFill>
                <a:latin typeface="Meiryo" pitchFamily="34" charset="0"/>
                <a:ea typeface="Meiryo" pitchFamily="34" charset="-122"/>
                <a:cs typeface="Meiryo" pitchFamily="34" charset="-120"/>
              </a:rPr>
              <a:t>関連当事者取引・利益相反取引の内容、金額、取引条件</a:t>
            </a:r>
            <a:endParaRPr lang="en-US" sz="950" dirty="0"/>
          </a:p>
        </p:txBody>
      </p:sp>
      <p:sp>
        <p:nvSpPr>
          <p:cNvPr id="28" name="Shape 26"/>
          <p:cNvSpPr/>
          <p:nvPr/>
        </p:nvSpPr>
        <p:spPr>
          <a:xfrm>
            <a:off x="932688" y="4073652"/>
            <a:ext cx="128016" cy="128016"/>
          </a:xfrm>
          <a:prstGeom prst="ellipse">
            <a:avLst/>
          </a:prstGeom>
          <a:solidFill>
            <a:srgbClr val="A78450"/>
          </a:solidFill>
          <a:ln w="12700">
            <a:solidFill>
              <a:srgbClr val="A78450"/>
            </a:solidFill>
            <a:prstDash val="solid"/>
          </a:ln>
        </p:spPr>
      </p:sp>
      <p:sp>
        <p:nvSpPr>
          <p:cNvPr id="29" name="Text 27"/>
          <p:cNvSpPr/>
          <p:nvPr/>
        </p:nvSpPr>
        <p:spPr>
          <a:xfrm>
            <a:off x="932688" y="4073652"/>
            <a:ext cx="128016" cy="128016"/>
          </a:xfrm>
          <a:prstGeom prst="rect">
            <a:avLst/>
          </a:prstGeom>
          <a:noFill/>
          <a:ln/>
        </p:spPr>
        <p:txBody>
          <a:bodyPr wrap="square" lIns="0" tIns="0" rIns="0" bIns="0" rtlCol="0" anchor="ctr"/>
          <a:lstStyle/>
          <a:p>
            <a:pPr algn="ctr" indent="0" marL="0">
              <a:buNone/>
            </a:pPr>
            <a:endParaRPr lang="en-US" sz="1100" dirty="0"/>
          </a:p>
        </p:txBody>
      </p:sp>
      <p:sp>
        <p:nvSpPr>
          <p:cNvPr id="30" name="Text 28"/>
          <p:cNvSpPr/>
          <p:nvPr/>
        </p:nvSpPr>
        <p:spPr>
          <a:xfrm>
            <a:off x="1152144" y="3995928"/>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6F665F"/>
                </a:solidFill>
                <a:latin typeface="Meiryo" pitchFamily="34" charset="0"/>
                <a:ea typeface="Meiryo" pitchFamily="34" charset="-122"/>
                <a:cs typeface="Meiryo" pitchFamily="34" charset="-120"/>
              </a:rPr>
              <a:t>会計帳簿・請求書・契約書・銀行取引記録の閲覧および調査権</a:t>
            </a:r>
            <a:endParaRPr lang="en-US" sz="950" dirty="0"/>
          </a:p>
        </p:txBody>
      </p:sp>
      <p:sp>
        <p:nvSpPr>
          <p:cNvPr id="31" name="Shape 29"/>
          <p:cNvSpPr/>
          <p:nvPr/>
        </p:nvSpPr>
        <p:spPr>
          <a:xfrm>
            <a:off x="932688" y="4389120"/>
            <a:ext cx="128016" cy="128016"/>
          </a:xfrm>
          <a:prstGeom prst="ellipse">
            <a:avLst/>
          </a:prstGeom>
          <a:solidFill>
            <a:srgbClr val="A78450"/>
          </a:solidFill>
          <a:ln w="12700">
            <a:solidFill>
              <a:srgbClr val="A78450"/>
            </a:solidFill>
            <a:prstDash val="solid"/>
          </a:ln>
        </p:spPr>
      </p:sp>
      <p:sp>
        <p:nvSpPr>
          <p:cNvPr id="32" name="Text 30"/>
          <p:cNvSpPr/>
          <p:nvPr/>
        </p:nvSpPr>
        <p:spPr>
          <a:xfrm>
            <a:off x="932688" y="4389120"/>
            <a:ext cx="128016" cy="128016"/>
          </a:xfrm>
          <a:prstGeom prst="rect">
            <a:avLst/>
          </a:prstGeom>
          <a:noFill/>
          <a:ln/>
        </p:spPr>
        <p:txBody>
          <a:bodyPr wrap="square" lIns="0" tIns="0" rIns="0" bIns="0" rtlCol="0" anchor="ctr"/>
          <a:lstStyle/>
          <a:p>
            <a:pPr algn="ctr" indent="0" marL="0">
              <a:buNone/>
            </a:pPr>
            <a:endParaRPr lang="en-US" sz="1100" dirty="0"/>
          </a:p>
        </p:txBody>
      </p:sp>
      <p:sp>
        <p:nvSpPr>
          <p:cNvPr id="33" name="Text 31"/>
          <p:cNvSpPr/>
          <p:nvPr/>
        </p:nvSpPr>
        <p:spPr>
          <a:xfrm>
            <a:off x="1152144" y="4311396"/>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6F665F"/>
                </a:solidFill>
                <a:latin typeface="Meiryo" pitchFamily="34" charset="0"/>
                <a:ea typeface="Meiryo" pitchFamily="34" charset="-122"/>
                <a:cs typeface="Meiryo" pitchFamily="34" charset="-120"/>
              </a:rPr>
              <a:t>重大な計画変更、損失発生、不正または法令違反時の速やかな報告</a:t>
            </a:r>
            <a:endParaRPr lang="en-US" sz="950" dirty="0"/>
          </a:p>
        </p:txBody>
      </p:sp>
      <p:sp>
        <p:nvSpPr>
          <p:cNvPr id="34" name="Shape 32"/>
          <p:cNvSpPr/>
          <p:nvPr/>
        </p:nvSpPr>
        <p:spPr>
          <a:xfrm>
            <a:off x="6233008" y="1627632"/>
            <a:ext cx="5300320" cy="3163824"/>
          </a:xfrm>
          <a:prstGeom prst="roundRect">
            <a:avLst>
              <a:gd name="adj" fmla="val 2312"/>
            </a:avLst>
          </a:prstGeom>
          <a:solidFill>
            <a:srgbClr val="F3E9D6"/>
          </a:solidFill>
          <a:ln w="9525">
            <a:solidFill>
              <a:srgbClr val="C9AE7E"/>
            </a:solidFill>
            <a:prstDash val="solid"/>
          </a:ln>
          <a:effectLst>
            <a:outerShdw sx="100000" sy="100000" kx="0" ky="0" algn="bl" rotWithShape="0" blurRad="76200" dist="25400" dir="5400000">
              <a:srgbClr val="6F665F">
                <a:alpha val="18000"/>
              </a:srgbClr>
            </a:outerShdw>
          </a:effectLst>
        </p:spPr>
      </p:sp>
      <p:sp>
        <p:nvSpPr>
          <p:cNvPr id="35" name="Text 33"/>
          <p:cNvSpPr/>
          <p:nvPr/>
        </p:nvSpPr>
        <p:spPr>
          <a:xfrm>
            <a:off x="6489040" y="1792224"/>
            <a:ext cx="4788256" cy="256032"/>
          </a:xfrm>
          <a:prstGeom prst="rect">
            <a:avLst/>
          </a:prstGeom>
          <a:noFill/>
          <a:ln/>
        </p:spPr>
        <p:txBody>
          <a:bodyPr wrap="square" lIns="0" tIns="0" rIns="0" bIns="0" rtlCol="0" anchor="ctr"/>
          <a:lstStyle/>
          <a:p>
            <a:pPr indent="0" marL="0">
              <a:buNone/>
            </a:pPr>
            <a:r>
              <a:rPr lang="en-US" sz="1250" b="1" dirty="0">
                <a:solidFill>
                  <a:srgbClr val="8C6A3A"/>
                </a:solidFill>
                <a:latin typeface="Meiryo" pitchFamily="34" charset="0"/>
                <a:ea typeface="Meiryo" pitchFamily="34" charset="-122"/>
                <a:cs typeface="Meiryo" pitchFamily="34" charset="-120"/>
              </a:rPr>
              <a:t>利益相反の管理</a:t>
            </a:r>
            <a:endParaRPr lang="en-US" sz="1250" dirty="0"/>
          </a:p>
        </p:txBody>
      </p:sp>
      <p:sp>
        <p:nvSpPr>
          <p:cNvPr id="36" name="Text 34"/>
          <p:cNvSpPr/>
          <p:nvPr/>
        </p:nvSpPr>
        <p:spPr>
          <a:xfrm>
            <a:off x="6489040" y="2139696"/>
            <a:ext cx="4788256" cy="219456"/>
          </a:xfrm>
          <a:prstGeom prst="rect">
            <a:avLst/>
          </a:prstGeom>
          <a:noFill/>
          <a:ln/>
        </p:spPr>
        <p:txBody>
          <a:bodyPr wrap="square" lIns="0" tIns="0" rIns="0" bIns="0" rtlCol="0" anchor="ctr"/>
          <a:lstStyle/>
          <a:p>
            <a:pPr indent="0" marL="0">
              <a:buNone/>
            </a:pPr>
            <a:r>
              <a:rPr lang="en-US" sz="1050" b="1" dirty="0">
                <a:solidFill>
                  <a:srgbClr val="2B2622"/>
                </a:solidFill>
                <a:latin typeface="Meiryo" pitchFamily="34" charset="0"/>
                <a:ea typeface="Meiryo" pitchFamily="34" charset="-122"/>
                <a:cs typeface="Meiryo" pitchFamily="34" charset="-120"/>
              </a:rPr>
              <a:t>卸値（時価−α）の固定</a:t>
            </a:r>
            <a:endParaRPr lang="en-US" sz="1050" dirty="0"/>
          </a:p>
        </p:txBody>
      </p:sp>
      <p:sp>
        <p:nvSpPr>
          <p:cNvPr id="37" name="Text 35"/>
          <p:cNvSpPr/>
          <p:nvPr/>
        </p:nvSpPr>
        <p:spPr>
          <a:xfrm>
            <a:off x="6489040" y="2359152"/>
            <a:ext cx="4788256" cy="438912"/>
          </a:xfrm>
          <a:prstGeom prst="rect">
            <a:avLst/>
          </a:prstGeom>
          <a:noFill/>
          <a:ln/>
        </p:spPr>
        <p:txBody>
          <a:bodyPr wrap="square" lIns="0" tIns="0" rIns="0" bIns="0" rtlCol="0" anchor="ctr"/>
          <a:lstStyle/>
          <a:p>
            <a:pPr indent="0" marL="0">
              <a:lnSpc>
                <a:spcPct val="120000"/>
              </a:lnSpc>
              <a:buNone/>
            </a:pPr>
            <a:r>
              <a:rPr lang="en-US" sz="900" dirty="0">
                <a:solidFill>
                  <a:srgbClr val="6F665F"/>
                </a:solidFill>
                <a:latin typeface="Meiryo" pitchFamily="34" charset="0"/>
                <a:ea typeface="Meiryo" pitchFamily="34" charset="-122"/>
                <a:cs typeface="Meiryo" pitchFamily="34" charset="-120"/>
              </a:rPr>
              <a:t>αを契約上24.5%に固定し、期中の変更には投資家の事前承認を要する。時価の算定方法も契約に明記する。</a:t>
            </a:r>
            <a:endParaRPr lang="en-US" sz="900" dirty="0"/>
          </a:p>
        </p:txBody>
      </p:sp>
      <p:sp>
        <p:nvSpPr>
          <p:cNvPr id="38" name="Text 36"/>
          <p:cNvSpPr/>
          <p:nvPr/>
        </p:nvSpPr>
        <p:spPr>
          <a:xfrm>
            <a:off x="6489040" y="2798064"/>
            <a:ext cx="4788256" cy="219456"/>
          </a:xfrm>
          <a:prstGeom prst="rect">
            <a:avLst/>
          </a:prstGeom>
          <a:noFill/>
          <a:ln/>
        </p:spPr>
        <p:txBody>
          <a:bodyPr wrap="square" lIns="0" tIns="0" rIns="0" bIns="0" rtlCol="0" anchor="ctr"/>
          <a:lstStyle/>
          <a:p>
            <a:pPr indent="0" marL="0">
              <a:buNone/>
            </a:pPr>
            <a:r>
              <a:rPr lang="en-US" sz="1050" b="1" dirty="0">
                <a:solidFill>
                  <a:srgbClr val="2B2622"/>
                </a:solidFill>
                <a:latin typeface="Meiryo" pitchFamily="34" charset="0"/>
                <a:ea typeface="Meiryo" pitchFamily="34" charset="-122"/>
                <a:cs typeface="Meiryo" pitchFamily="34" charset="-120"/>
              </a:rPr>
              <a:t>独立企業間価格の原則</a:t>
            </a:r>
            <a:endParaRPr lang="en-US" sz="1050" dirty="0"/>
          </a:p>
        </p:txBody>
      </p:sp>
      <p:sp>
        <p:nvSpPr>
          <p:cNvPr id="39" name="Text 37"/>
          <p:cNvSpPr/>
          <p:nvPr/>
        </p:nvSpPr>
        <p:spPr>
          <a:xfrm>
            <a:off x="6489040" y="3017520"/>
            <a:ext cx="4788256" cy="438912"/>
          </a:xfrm>
          <a:prstGeom prst="rect">
            <a:avLst/>
          </a:prstGeom>
          <a:noFill/>
          <a:ln/>
        </p:spPr>
        <p:txBody>
          <a:bodyPr wrap="square" lIns="0" tIns="0" rIns="0" bIns="0" rtlCol="0" anchor="ctr"/>
          <a:lstStyle/>
          <a:p>
            <a:pPr indent="0" marL="0">
              <a:lnSpc>
                <a:spcPct val="120000"/>
              </a:lnSpc>
              <a:buNone/>
            </a:pPr>
            <a:r>
              <a:rPr lang="en-US" sz="900" dirty="0">
                <a:solidFill>
                  <a:srgbClr val="6F665F"/>
                </a:solidFill>
                <a:latin typeface="Meiryo" pitchFamily="34" charset="0"/>
                <a:ea typeface="Meiryo" pitchFamily="34" charset="-122"/>
                <a:cs typeface="Meiryo" pitchFamily="34" charset="-120"/>
              </a:rPr>
              <a:t>卸値は第三者との取引条件と同等であることを、第三者卸価格との比較資料により年次で説明できる状態を維持する。</a:t>
            </a:r>
            <a:endParaRPr lang="en-US" sz="900" dirty="0"/>
          </a:p>
        </p:txBody>
      </p:sp>
      <p:sp>
        <p:nvSpPr>
          <p:cNvPr id="40" name="Text 38"/>
          <p:cNvSpPr/>
          <p:nvPr/>
        </p:nvSpPr>
        <p:spPr>
          <a:xfrm>
            <a:off x="6489040" y="3456432"/>
            <a:ext cx="4788256" cy="219456"/>
          </a:xfrm>
          <a:prstGeom prst="rect">
            <a:avLst/>
          </a:prstGeom>
          <a:noFill/>
          <a:ln/>
        </p:spPr>
        <p:txBody>
          <a:bodyPr wrap="square" lIns="0" tIns="0" rIns="0" bIns="0" rtlCol="0" anchor="ctr"/>
          <a:lstStyle/>
          <a:p>
            <a:pPr indent="0" marL="0">
              <a:buNone/>
            </a:pPr>
            <a:r>
              <a:rPr lang="en-US" sz="1050" b="1" dirty="0">
                <a:solidFill>
                  <a:srgbClr val="2B2622"/>
                </a:solidFill>
                <a:latin typeface="Meiryo" pitchFamily="34" charset="0"/>
                <a:ea typeface="Meiryo" pitchFamily="34" charset="-122"/>
                <a:cs typeface="Meiryo" pitchFamily="34" charset="-120"/>
              </a:rPr>
              <a:t>自己出資分の内部利益</a:t>
            </a:r>
            <a:endParaRPr lang="en-US" sz="1050" dirty="0"/>
          </a:p>
        </p:txBody>
      </p:sp>
      <p:sp>
        <p:nvSpPr>
          <p:cNvPr id="41" name="Text 39"/>
          <p:cNvSpPr/>
          <p:nvPr/>
        </p:nvSpPr>
        <p:spPr>
          <a:xfrm>
            <a:off x="6489040" y="3675888"/>
            <a:ext cx="4788256" cy="438912"/>
          </a:xfrm>
          <a:prstGeom prst="rect">
            <a:avLst/>
          </a:prstGeom>
          <a:noFill/>
          <a:ln/>
        </p:spPr>
        <p:txBody>
          <a:bodyPr wrap="square" lIns="0" tIns="0" rIns="0" bIns="0" rtlCol="0" anchor="ctr"/>
          <a:lstStyle/>
          <a:p>
            <a:pPr indent="0" marL="0">
              <a:lnSpc>
                <a:spcPct val="120000"/>
              </a:lnSpc>
              <a:buNone/>
            </a:pPr>
            <a:r>
              <a:rPr lang="en-US" sz="900" dirty="0">
                <a:solidFill>
                  <a:srgbClr val="6F665F"/>
                </a:solidFill>
                <a:latin typeface="Meiryo" pitchFamily="34" charset="0"/>
                <a:ea typeface="Meiryo" pitchFamily="34" charset="-122"/>
                <a:cs typeface="Meiryo" pitchFamily="34" charset="-120"/>
              </a:rPr>
              <a:t>WineBank出資分に対応する値入れは自己取引となるため、会計上の取扱い（内部利益の消去要否）を組成前に確定し、投資家へ開示する。</a:t>
            </a:r>
            <a:endParaRPr lang="en-US" sz="900" dirty="0"/>
          </a:p>
        </p:txBody>
      </p:sp>
      <p:sp>
        <p:nvSpPr>
          <p:cNvPr id="42" name="Text 40"/>
          <p:cNvSpPr/>
          <p:nvPr/>
        </p:nvSpPr>
        <p:spPr>
          <a:xfrm>
            <a:off x="6489040" y="4114800"/>
            <a:ext cx="4788256" cy="219456"/>
          </a:xfrm>
          <a:prstGeom prst="rect">
            <a:avLst/>
          </a:prstGeom>
          <a:noFill/>
          <a:ln/>
        </p:spPr>
        <p:txBody>
          <a:bodyPr wrap="square" lIns="0" tIns="0" rIns="0" bIns="0" rtlCol="0" anchor="ctr"/>
          <a:lstStyle/>
          <a:p>
            <a:pPr indent="0" marL="0">
              <a:buNone/>
            </a:pPr>
            <a:r>
              <a:rPr lang="en-US" sz="1050" b="1" dirty="0">
                <a:solidFill>
                  <a:srgbClr val="2B2622"/>
                </a:solidFill>
                <a:latin typeface="Meiryo" pitchFamily="34" charset="0"/>
                <a:ea typeface="Meiryo" pitchFamily="34" charset="-122"/>
                <a:cs typeface="Meiryo" pitchFamily="34" charset="-120"/>
              </a:rPr>
              <a:t>在庫配分ルールの遵守</a:t>
            </a:r>
            <a:endParaRPr lang="en-US" sz="1050" dirty="0"/>
          </a:p>
        </p:txBody>
      </p:sp>
      <p:sp>
        <p:nvSpPr>
          <p:cNvPr id="43" name="Text 41"/>
          <p:cNvSpPr/>
          <p:nvPr/>
        </p:nvSpPr>
        <p:spPr>
          <a:xfrm>
            <a:off x="6489040" y="4334256"/>
            <a:ext cx="4788256" cy="438912"/>
          </a:xfrm>
          <a:prstGeom prst="rect">
            <a:avLst/>
          </a:prstGeom>
          <a:noFill/>
          <a:ln/>
        </p:spPr>
        <p:txBody>
          <a:bodyPr wrap="square" lIns="0" tIns="0" rIns="0" bIns="0" rtlCol="0" anchor="ctr"/>
          <a:lstStyle/>
          <a:p>
            <a:pPr indent="0" marL="0">
              <a:lnSpc>
                <a:spcPct val="120000"/>
              </a:lnSpc>
              <a:buNone/>
            </a:pPr>
            <a:r>
              <a:rPr lang="en-US" sz="900" dirty="0">
                <a:solidFill>
                  <a:srgbClr val="6F665F"/>
                </a:solidFill>
                <a:latin typeface="Meiryo" pitchFamily="34" charset="0"/>
                <a:ea typeface="Meiryo" pitchFamily="34" charset="-122"/>
                <a:cs typeface="Meiryo" pitchFamily="34" charset="-120"/>
              </a:rPr>
              <a:t>前頁の配分方針および拠出銘柄選定ルールを契約別紙として明文化し、逸脱時の是正・補填手続を定める。</a:t>
            </a:r>
            <a:endParaRPr lang="en-US" sz="900" dirty="0"/>
          </a:p>
        </p:txBody>
      </p:sp>
      <p:sp>
        <p:nvSpPr>
          <p:cNvPr id="44" name="Shape 42"/>
          <p:cNvSpPr/>
          <p:nvPr/>
        </p:nvSpPr>
        <p:spPr>
          <a:xfrm>
            <a:off x="658368" y="4974336"/>
            <a:ext cx="3454298" cy="1133856"/>
          </a:xfrm>
          <a:prstGeom prst="roundRect">
            <a:avLst>
              <a:gd name="adj" fmla="val 6452"/>
            </a:avLst>
          </a:prstGeom>
          <a:solidFill>
            <a:srgbClr val="F5EFE4"/>
          </a:solidFill>
          <a:ln w="9525">
            <a:solidFill>
              <a:srgbClr val="E6DCCB"/>
            </a:solidFill>
            <a:prstDash val="solid"/>
          </a:ln>
          <a:effectLst>
            <a:outerShdw sx="100000" sy="100000" kx="0" ky="0" algn="bl" rotWithShape="0" blurRad="76200" dist="25400" dir="5400000">
              <a:srgbClr val="6F665F">
                <a:alpha val="18000"/>
              </a:srgbClr>
            </a:outerShdw>
          </a:effectLst>
        </p:spPr>
      </p:sp>
      <p:sp>
        <p:nvSpPr>
          <p:cNvPr id="45" name="Text 43"/>
          <p:cNvSpPr/>
          <p:nvPr/>
        </p:nvSpPr>
        <p:spPr>
          <a:xfrm>
            <a:off x="896112" y="5084064"/>
            <a:ext cx="2978810" cy="201168"/>
          </a:xfrm>
          <a:prstGeom prst="rect">
            <a:avLst/>
          </a:prstGeom>
          <a:noFill/>
          <a:ln/>
        </p:spPr>
        <p:txBody>
          <a:bodyPr wrap="square" lIns="0" tIns="0" rIns="0" bIns="0" rtlCol="0" anchor="ctr"/>
          <a:lstStyle/>
          <a:p>
            <a:pPr indent="0" marL="0">
              <a:buNone/>
            </a:pPr>
            <a:r>
              <a:rPr lang="en-US" sz="950" dirty="0">
                <a:solidFill>
                  <a:srgbClr val="6F665F"/>
                </a:solidFill>
                <a:latin typeface="Meiryo" pitchFamily="34" charset="0"/>
                <a:ea typeface="Meiryo" pitchFamily="34" charset="-122"/>
                <a:cs typeface="Meiryo" pitchFamily="34" charset="-120"/>
              </a:rPr>
              <a:t>ファンド形態</a:t>
            </a:r>
            <a:endParaRPr lang="en-US" sz="950" dirty="0"/>
          </a:p>
        </p:txBody>
      </p:sp>
      <p:sp>
        <p:nvSpPr>
          <p:cNvPr id="46" name="Text 44"/>
          <p:cNvSpPr/>
          <p:nvPr/>
        </p:nvSpPr>
        <p:spPr>
          <a:xfrm>
            <a:off x="896112" y="5285232"/>
            <a:ext cx="2978810" cy="256032"/>
          </a:xfrm>
          <a:prstGeom prst="rect">
            <a:avLst/>
          </a:prstGeom>
          <a:noFill/>
          <a:ln/>
        </p:spPr>
        <p:txBody>
          <a:bodyPr wrap="square" lIns="0" tIns="0" rIns="0" bIns="0" rtlCol="0" anchor="ctr"/>
          <a:lstStyle/>
          <a:p>
            <a:pPr indent="0" marL="0">
              <a:buNone/>
            </a:pPr>
            <a:r>
              <a:rPr lang="en-US" sz="1200" b="1" dirty="0">
                <a:solidFill>
                  <a:srgbClr val="8C6A3A"/>
                </a:solidFill>
                <a:latin typeface="Meiryo" pitchFamily="34" charset="0"/>
                <a:ea typeface="Meiryo" pitchFamily="34" charset="-122"/>
                <a:cs typeface="Meiryo" pitchFamily="34" charset="-120"/>
              </a:rPr>
              <a:t>適格機関投資家等特例業務</a:t>
            </a:r>
            <a:endParaRPr lang="en-US" sz="1200" dirty="0"/>
          </a:p>
        </p:txBody>
      </p:sp>
      <p:sp>
        <p:nvSpPr>
          <p:cNvPr id="47" name="Text 45"/>
          <p:cNvSpPr/>
          <p:nvPr/>
        </p:nvSpPr>
        <p:spPr>
          <a:xfrm>
            <a:off x="896112" y="5559552"/>
            <a:ext cx="2978810" cy="493776"/>
          </a:xfrm>
          <a:prstGeom prst="rect">
            <a:avLst/>
          </a:prstGeom>
          <a:noFill/>
          <a:ln/>
        </p:spPr>
        <p:txBody>
          <a:bodyPr wrap="square" lIns="0" tIns="0" rIns="0" bIns="0" rtlCol="0" anchor="ctr"/>
          <a:lstStyle/>
          <a:p>
            <a:pPr indent="0" marL="0">
              <a:lnSpc>
                <a:spcPct val="118000"/>
              </a:lnSpc>
              <a:buNone/>
            </a:pPr>
            <a:r>
              <a:rPr lang="en-US" sz="850" dirty="0">
                <a:solidFill>
                  <a:srgbClr val="6F665F"/>
                </a:solidFill>
                <a:latin typeface="Meiryo" pitchFamily="34" charset="0"/>
                <a:ea typeface="Meiryo" pitchFamily="34" charset="-122"/>
                <a:cs typeface="Meiryo" pitchFamily="34" charset="-120"/>
              </a:rPr>
              <a:t>第1号ファンド（合同会社WineBank P1）で届出の実績がある。適格機関投資家1名以上の確保を組成条件とする。</a:t>
            </a:r>
            <a:endParaRPr lang="en-US" sz="850" dirty="0"/>
          </a:p>
        </p:txBody>
      </p:sp>
      <p:sp>
        <p:nvSpPr>
          <p:cNvPr id="48" name="Shape 46"/>
          <p:cNvSpPr/>
          <p:nvPr/>
        </p:nvSpPr>
        <p:spPr>
          <a:xfrm>
            <a:off x="4368698" y="4974336"/>
            <a:ext cx="3454298" cy="1133856"/>
          </a:xfrm>
          <a:prstGeom prst="roundRect">
            <a:avLst>
              <a:gd name="adj" fmla="val 6452"/>
            </a:avLst>
          </a:prstGeom>
          <a:solidFill>
            <a:srgbClr val="F5EFE4"/>
          </a:solidFill>
          <a:ln w="9525">
            <a:solidFill>
              <a:srgbClr val="E6DCCB"/>
            </a:solidFill>
            <a:prstDash val="solid"/>
          </a:ln>
          <a:effectLst>
            <a:outerShdw sx="100000" sy="100000" kx="0" ky="0" algn="bl" rotWithShape="0" blurRad="76200" dist="25400" dir="5400000">
              <a:srgbClr val="6F665F">
                <a:alpha val="18000"/>
              </a:srgbClr>
            </a:outerShdw>
          </a:effectLst>
        </p:spPr>
      </p:sp>
      <p:sp>
        <p:nvSpPr>
          <p:cNvPr id="49" name="Text 47"/>
          <p:cNvSpPr/>
          <p:nvPr/>
        </p:nvSpPr>
        <p:spPr>
          <a:xfrm>
            <a:off x="4606442" y="5084064"/>
            <a:ext cx="2978810" cy="201168"/>
          </a:xfrm>
          <a:prstGeom prst="rect">
            <a:avLst/>
          </a:prstGeom>
          <a:noFill/>
          <a:ln/>
        </p:spPr>
        <p:txBody>
          <a:bodyPr wrap="square" lIns="0" tIns="0" rIns="0" bIns="0" rtlCol="0" anchor="ctr"/>
          <a:lstStyle/>
          <a:p>
            <a:pPr indent="0" marL="0">
              <a:buNone/>
            </a:pPr>
            <a:r>
              <a:rPr lang="en-US" sz="950" dirty="0">
                <a:solidFill>
                  <a:srgbClr val="6F665F"/>
                </a:solidFill>
                <a:latin typeface="Meiryo" pitchFamily="34" charset="0"/>
                <a:ea typeface="Meiryo" pitchFamily="34" charset="-122"/>
                <a:cs typeface="Meiryo" pitchFamily="34" charset="-120"/>
              </a:rPr>
              <a:t>外部検証</a:t>
            </a:r>
            <a:endParaRPr lang="en-US" sz="950" dirty="0"/>
          </a:p>
        </p:txBody>
      </p:sp>
      <p:sp>
        <p:nvSpPr>
          <p:cNvPr id="50" name="Text 48"/>
          <p:cNvSpPr/>
          <p:nvPr/>
        </p:nvSpPr>
        <p:spPr>
          <a:xfrm>
            <a:off x="4606442" y="5285232"/>
            <a:ext cx="2978810" cy="256032"/>
          </a:xfrm>
          <a:prstGeom prst="rect">
            <a:avLst/>
          </a:prstGeom>
          <a:noFill/>
          <a:ln/>
        </p:spPr>
        <p:txBody>
          <a:bodyPr wrap="square" lIns="0" tIns="0" rIns="0" bIns="0" rtlCol="0" anchor="ctr"/>
          <a:lstStyle/>
          <a:p>
            <a:pPr indent="0" marL="0">
              <a:buNone/>
            </a:pPr>
            <a:r>
              <a:rPr lang="en-US" sz="1200" b="1" dirty="0">
                <a:solidFill>
                  <a:srgbClr val="8C6A3A"/>
                </a:solidFill>
                <a:latin typeface="Meiryo" pitchFamily="34" charset="0"/>
                <a:ea typeface="Meiryo" pitchFamily="34" charset="-122"/>
                <a:cs typeface="Meiryo" pitchFamily="34" charset="-120"/>
              </a:rPr>
              <a:t>AUP（合意された手続）</a:t>
            </a:r>
            <a:endParaRPr lang="en-US" sz="1200" dirty="0"/>
          </a:p>
        </p:txBody>
      </p:sp>
      <p:sp>
        <p:nvSpPr>
          <p:cNvPr id="51" name="Text 49"/>
          <p:cNvSpPr/>
          <p:nvPr/>
        </p:nvSpPr>
        <p:spPr>
          <a:xfrm>
            <a:off x="4606442" y="5559552"/>
            <a:ext cx="2978810" cy="493776"/>
          </a:xfrm>
          <a:prstGeom prst="rect">
            <a:avLst/>
          </a:prstGeom>
          <a:noFill/>
          <a:ln/>
        </p:spPr>
        <p:txBody>
          <a:bodyPr wrap="square" lIns="0" tIns="0" rIns="0" bIns="0" rtlCol="0" anchor="ctr"/>
          <a:lstStyle/>
          <a:p>
            <a:pPr indent="0" marL="0">
              <a:lnSpc>
                <a:spcPct val="118000"/>
              </a:lnSpc>
              <a:buNone/>
            </a:pPr>
            <a:r>
              <a:rPr lang="en-US" sz="850" dirty="0">
                <a:solidFill>
                  <a:srgbClr val="6F665F"/>
                </a:solidFill>
                <a:latin typeface="Meiryo" pitchFamily="34" charset="0"/>
                <a:ea typeface="Meiryo" pitchFamily="34" charset="-122"/>
                <a:cs typeface="Meiryo" pitchFamily="34" charset="-120"/>
              </a:rPr>
              <a:t>財務諸表監査ではなく、目的を限定した合意された手続を採用。銀行残高確認・関連当事者取引・棚卸立会を含め年150万円をSPC費用に計上済み。</a:t>
            </a:r>
            <a:endParaRPr lang="en-US" sz="850" dirty="0"/>
          </a:p>
        </p:txBody>
      </p:sp>
      <p:sp>
        <p:nvSpPr>
          <p:cNvPr id="52" name="Shape 50"/>
          <p:cNvSpPr/>
          <p:nvPr/>
        </p:nvSpPr>
        <p:spPr>
          <a:xfrm>
            <a:off x="8079029" y="4974336"/>
            <a:ext cx="3454298" cy="1133856"/>
          </a:xfrm>
          <a:prstGeom prst="roundRect">
            <a:avLst>
              <a:gd name="adj" fmla="val 6452"/>
            </a:avLst>
          </a:prstGeom>
          <a:solidFill>
            <a:srgbClr val="F5EFE4"/>
          </a:solidFill>
          <a:ln w="9525">
            <a:solidFill>
              <a:srgbClr val="E6DCCB"/>
            </a:solidFill>
            <a:prstDash val="solid"/>
          </a:ln>
          <a:effectLst>
            <a:outerShdw sx="100000" sy="100000" kx="0" ky="0" algn="bl" rotWithShape="0" blurRad="76200" dist="25400" dir="5400000">
              <a:srgbClr val="6F665F">
                <a:alpha val="18000"/>
              </a:srgbClr>
            </a:outerShdw>
          </a:effectLst>
        </p:spPr>
      </p:sp>
      <p:sp>
        <p:nvSpPr>
          <p:cNvPr id="53" name="Text 51"/>
          <p:cNvSpPr/>
          <p:nvPr/>
        </p:nvSpPr>
        <p:spPr>
          <a:xfrm>
            <a:off x="8316773" y="5084064"/>
            <a:ext cx="2978810" cy="201168"/>
          </a:xfrm>
          <a:prstGeom prst="rect">
            <a:avLst/>
          </a:prstGeom>
          <a:noFill/>
          <a:ln/>
        </p:spPr>
        <p:txBody>
          <a:bodyPr wrap="square" lIns="0" tIns="0" rIns="0" bIns="0" rtlCol="0" anchor="ctr"/>
          <a:lstStyle/>
          <a:p>
            <a:pPr indent="0" marL="0">
              <a:buNone/>
            </a:pPr>
            <a:r>
              <a:rPr lang="en-US" sz="950" dirty="0">
                <a:solidFill>
                  <a:srgbClr val="6F665F"/>
                </a:solidFill>
                <a:latin typeface="Meiryo" pitchFamily="34" charset="0"/>
                <a:ea typeface="Meiryo" pitchFamily="34" charset="-122"/>
                <a:cs typeface="Meiryo" pitchFamily="34" charset="-120"/>
              </a:rPr>
              <a:t>報告頻度</a:t>
            </a:r>
            <a:endParaRPr lang="en-US" sz="950" dirty="0"/>
          </a:p>
        </p:txBody>
      </p:sp>
      <p:sp>
        <p:nvSpPr>
          <p:cNvPr id="54" name="Text 52"/>
          <p:cNvSpPr/>
          <p:nvPr/>
        </p:nvSpPr>
        <p:spPr>
          <a:xfrm>
            <a:off x="8316773" y="5285232"/>
            <a:ext cx="2978810" cy="256032"/>
          </a:xfrm>
          <a:prstGeom prst="rect">
            <a:avLst/>
          </a:prstGeom>
          <a:noFill/>
          <a:ln/>
        </p:spPr>
        <p:txBody>
          <a:bodyPr wrap="square" lIns="0" tIns="0" rIns="0" bIns="0" rtlCol="0" anchor="ctr"/>
          <a:lstStyle/>
          <a:p>
            <a:pPr indent="0" marL="0">
              <a:buNone/>
            </a:pPr>
            <a:r>
              <a:rPr lang="en-US" sz="1200" b="1" dirty="0">
                <a:solidFill>
                  <a:srgbClr val="8C6A3A"/>
                </a:solidFill>
                <a:latin typeface="Meiryo" pitchFamily="34" charset="0"/>
                <a:ea typeface="Meiryo" pitchFamily="34" charset="-122"/>
                <a:cs typeface="Meiryo" pitchFamily="34" charset="-120"/>
              </a:rPr>
              <a:t>半期</a:t>
            </a:r>
            <a:endParaRPr lang="en-US" sz="1200" dirty="0"/>
          </a:p>
        </p:txBody>
      </p:sp>
      <p:sp>
        <p:nvSpPr>
          <p:cNvPr id="55" name="Text 53"/>
          <p:cNvSpPr/>
          <p:nvPr/>
        </p:nvSpPr>
        <p:spPr>
          <a:xfrm>
            <a:off x="8316773" y="5559552"/>
            <a:ext cx="2978810" cy="493776"/>
          </a:xfrm>
          <a:prstGeom prst="rect">
            <a:avLst/>
          </a:prstGeom>
          <a:noFill/>
          <a:ln/>
        </p:spPr>
        <p:txBody>
          <a:bodyPr wrap="square" lIns="0" tIns="0" rIns="0" bIns="0" rtlCol="0" anchor="ctr"/>
          <a:lstStyle/>
          <a:p>
            <a:pPr indent="0" marL="0">
              <a:lnSpc>
                <a:spcPct val="118000"/>
              </a:lnSpc>
              <a:buNone/>
            </a:pPr>
            <a:r>
              <a:rPr lang="en-US" sz="850" dirty="0">
                <a:solidFill>
                  <a:srgbClr val="6F665F"/>
                </a:solidFill>
                <a:latin typeface="Meiryo" pitchFamily="34" charset="0"/>
                <a:ea typeface="Meiryo" pitchFamily="34" charset="-122"/>
                <a:cs typeface="Meiryo" pitchFamily="34" charset="-120"/>
              </a:rPr>
              <a:t>在庫明細・簿価・売上・試算表を半期ごとに開示し、データルームで常時参照可能とする。年次で決算を報告する。</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484632"/>
            <a:ext cx="109728" cy="109728"/>
          </a:xfrm>
          <a:prstGeom prst="ellipse">
            <a:avLst/>
          </a:prstGeom>
          <a:solidFill>
            <a:srgbClr val="A78450"/>
          </a:solidFill>
          <a:ln w="12700">
            <a:solidFill>
              <a:srgbClr val="A78450"/>
            </a:solidFill>
            <a:prstDash val="solid"/>
          </a:ln>
        </p:spPr>
      </p:sp>
      <p:sp>
        <p:nvSpPr>
          <p:cNvPr id="3" name="Text 1"/>
          <p:cNvSpPr/>
          <p:nvPr/>
        </p:nvSpPr>
        <p:spPr>
          <a:xfrm>
            <a:off x="923544" y="365760"/>
            <a:ext cx="9601200" cy="329184"/>
          </a:xfrm>
          <a:prstGeom prst="rect">
            <a:avLst/>
          </a:prstGeom>
          <a:noFill/>
          <a:ln/>
        </p:spPr>
        <p:txBody>
          <a:bodyPr wrap="square" lIns="0" tIns="0" rIns="0" bIns="0" rtlCol="0" anchor="ctr"/>
          <a:lstStyle/>
          <a:p>
            <a:pPr indent="0" marL="0">
              <a:buNone/>
            </a:pPr>
            <a:r>
              <a:rPr lang="en-US" sz="1200" b="1" spc="240" kern="0" dirty="0">
                <a:solidFill>
                  <a:srgbClr val="A78450"/>
                </a:solidFill>
                <a:latin typeface="Meiryo" pitchFamily="34" charset="0"/>
                <a:ea typeface="Meiryo" pitchFamily="34" charset="-122"/>
                <a:cs typeface="Meiryo" pitchFamily="34" charset="-120"/>
              </a:rPr>
              <a:t>RISK</a:t>
            </a:r>
            <a:endParaRPr lang="en-US" sz="1200" dirty="0"/>
          </a:p>
        </p:txBody>
      </p:sp>
      <p:sp>
        <p:nvSpPr>
          <p:cNvPr id="4" name="Text 2"/>
          <p:cNvSpPr/>
          <p:nvPr/>
        </p:nvSpPr>
        <p:spPr>
          <a:xfrm>
            <a:off x="658368" y="731520"/>
            <a:ext cx="10874959" cy="566928"/>
          </a:xfrm>
          <a:prstGeom prst="rect">
            <a:avLst/>
          </a:prstGeom>
          <a:noFill/>
          <a:ln/>
        </p:spPr>
        <p:txBody>
          <a:bodyPr wrap="square" lIns="0" tIns="0" rIns="0" bIns="0" rtlCol="0" anchor="ctr"/>
          <a:lstStyle/>
          <a:p>
            <a:pPr indent="0" marL="0">
              <a:buNone/>
            </a:pPr>
            <a:r>
              <a:rPr lang="en-US" sz="2600" b="1" dirty="0">
                <a:solidFill>
                  <a:srgbClr val="2B2622"/>
                </a:solidFill>
                <a:latin typeface="Meiryo" pitchFamily="34" charset="0"/>
                <a:ea typeface="Meiryo" pitchFamily="34" charset="-122"/>
                <a:cs typeface="Meiryo" pitchFamily="34" charset="-120"/>
              </a:rPr>
              <a:t>想定されるリスクと対応策</a:t>
            </a:r>
            <a:endParaRPr lang="en-US" sz="2600" dirty="0"/>
          </a:p>
        </p:txBody>
      </p:sp>
      <p:sp>
        <p:nvSpPr>
          <p:cNvPr id="5" name="Text 3"/>
          <p:cNvSpPr/>
          <p:nvPr/>
        </p:nvSpPr>
        <p:spPr>
          <a:xfrm>
            <a:off x="658368" y="6446520"/>
            <a:ext cx="5486400" cy="256032"/>
          </a:xfrm>
          <a:prstGeom prst="rect">
            <a:avLst/>
          </a:prstGeom>
          <a:noFill/>
          <a:ln/>
        </p:spPr>
        <p:txBody>
          <a:bodyPr wrap="square" lIns="0" tIns="0" rIns="0" bIns="0" rtlCol="0" anchor="ctr"/>
          <a:lstStyle/>
          <a:p>
            <a:pPr indent="0" marL="0">
              <a:buNone/>
            </a:pPr>
            <a:r>
              <a:rPr lang="en-US" sz="900" dirty="0">
                <a:solidFill>
                  <a:srgbClr val="9A8F84"/>
                </a:solidFill>
                <a:latin typeface="Meiryo" pitchFamily="34" charset="0"/>
                <a:ea typeface="Meiryo" pitchFamily="34" charset="-122"/>
                <a:cs typeface="Meiryo" pitchFamily="34" charset="-120"/>
              </a:rPr>
              <a:t>Confidential</a:t>
            </a:r>
            <a:endParaRPr lang="en-US" sz="900" dirty="0"/>
          </a:p>
        </p:txBody>
      </p:sp>
      <p:sp>
        <p:nvSpPr>
          <p:cNvPr id="6" name="Text 4"/>
          <p:cNvSpPr/>
          <p:nvPr/>
        </p:nvSpPr>
        <p:spPr>
          <a:xfrm>
            <a:off x="10984687" y="6446520"/>
            <a:ext cx="548640" cy="256032"/>
          </a:xfrm>
          <a:prstGeom prst="rect">
            <a:avLst/>
          </a:prstGeom>
          <a:noFill/>
          <a:ln/>
        </p:spPr>
        <p:txBody>
          <a:bodyPr wrap="square" lIns="0" tIns="0" rIns="0" bIns="0" rtlCol="0" anchor="ctr"/>
          <a:lstStyle/>
          <a:p>
            <a:pPr algn="r" indent="0" marL="0">
              <a:buNone/>
            </a:pPr>
            <a:r>
              <a:rPr lang="en-US" sz="900" dirty="0">
                <a:solidFill>
                  <a:srgbClr val="9A8F84"/>
                </a:solidFill>
                <a:latin typeface="Meiryo" pitchFamily="34" charset="0"/>
                <a:ea typeface="Meiryo" pitchFamily="34" charset="-122"/>
                <a:cs typeface="Meiryo" pitchFamily="34" charset="-120"/>
              </a:rPr>
              <a:t>19</a:t>
            </a:r>
            <a:endParaRPr lang="en-US" sz="900" dirty="0"/>
          </a:p>
        </p:txBody>
      </p:sp>
      <p:sp>
        <p:nvSpPr>
          <p:cNvPr id="7" name="Shape 5"/>
          <p:cNvSpPr/>
          <p:nvPr/>
        </p:nvSpPr>
        <p:spPr>
          <a:xfrm>
            <a:off x="658368" y="1554480"/>
            <a:ext cx="2526716" cy="2212848"/>
          </a:xfrm>
          <a:prstGeom prst="roundRect">
            <a:avLst>
              <a:gd name="adj" fmla="val 3306"/>
            </a:avLst>
          </a:prstGeom>
          <a:solidFill>
            <a:srgbClr val="F3E9D6"/>
          </a:solidFill>
          <a:ln w="9525">
            <a:solidFill>
              <a:srgbClr val="C9AE7E"/>
            </a:solidFill>
            <a:prstDash val="solid"/>
          </a:ln>
          <a:effectLst>
            <a:outerShdw sx="100000" sy="100000" kx="0" ky="0" algn="bl" rotWithShape="0" blurRad="76200" dist="25400" dir="5400000">
              <a:srgbClr val="6F665F">
                <a:alpha val="18000"/>
              </a:srgbClr>
            </a:outerShdw>
          </a:effectLst>
        </p:spPr>
      </p:sp>
      <p:sp>
        <p:nvSpPr>
          <p:cNvPr id="8" name="Text 6"/>
          <p:cNvSpPr/>
          <p:nvPr/>
        </p:nvSpPr>
        <p:spPr>
          <a:xfrm>
            <a:off x="896112" y="1755648"/>
            <a:ext cx="2051228" cy="256032"/>
          </a:xfrm>
          <a:prstGeom prst="rect">
            <a:avLst/>
          </a:prstGeom>
          <a:noFill/>
          <a:ln/>
        </p:spPr>
        <p:txBody>
          <a:bodyPr wrap="square" lIns="0" tIns="0" rIns="0" bIns="0" rtlCol="0" anchor="ctr"/>
          <a:lstStyle/>
          <a:p>
            <a:pPr indent="0" marL="0">
              <a:buNone/>
            </a:pPr>
            <a:r>
              <a:rPr lang="en-US" sz="1200" b="1" dirty="0">
                <a:solidFill>
                  <a:srgbClr val="2B2622"/>
                </a:solidFill>
                <a:latin typeface="Meiryo" pitchFamily="34" charset="0"/>
                <a:ea typeface="Meiryo" pitchFamily="34" charset="-122"/>
                <a:cs typeface="Meiryo" pitchFamily="34" charset="-120"/>
              </a:rPr>
              <a:t>価格変動リスク</a:t>
            </a:r>
            <a:endParaRPr lang="en-US" sz="1200" dirty="0"/>
          </a:p>
        </p:txBody>
      </p:sp>
      <p:sp>
        <p:nvSpPr>
          <p:cNvPr id="9" name="Text 7"/>
          <p:cNvSpPr/>
          <p:nvPr/>
        </p:nvSpPr>
        <p:spPr>
          <a:xfrm>
            <a:off x="896112" y="2048256"/>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8C6A3A"/>
                </a:solidFill>
                <a:latin typeface="Meiryo" pitchFamily="34" charset="0"/>
                <a:ea typeface="Meiryo" pitchFamily="34" charset="-122"/>
                <a:cs typeface="Meiryo" pitchFamily="34" charset="-120"/>
              </a:rPr>
              <a:t>Fine Wine市況の下落・停滞</a:t>
            </a:r>
            <a:endParaRPr lang="en-US" sz="950" dirty="0"/>
          </a:p>
        </p:txBody>
      </p:sp>
      <p:sp>
        <p:nvSpPr>
          <p:cNvPr id="10" name="Text 8"/>
          <p:cNvSpPr/>
          <p:nvPr/>
        </p:nvSpPr>
        <p:spPr>
          <a:xfrm>
            <a:off x="896112" y="2487168"/>
            <a:ext cx="2051228" cy="1133856"/>
          </a:xfrm>
          <a:prstGeom prst="rect">
            <a:avLst/>
          </a:prstGeom>
          <a:noFill/>
          <a:ln/>
        </p:spPr>
        <p:txBody>
          <a:bodyPr wrap="square" lIns="0" tIns="0" rIns="0" bIns="0" rtlCol="0" anchor="ctr"/>
          <a:lstStyle/>
          <a:p>
            <a:pPr indent="0" marL="0">
              <a:lnSpc>
                <a:spcPct val="120000"/>
              </a:lnSpc>
              <a:buNone/>
            </a:pPr>
            <a:r>
              <a:rPr lang="en-US" sz="900" dirty="0">
                <a:solidFill>
                  <a:srgbClr val="6F665F"/>
                </a:solidFill>
                <a:latin typeface="Meiryo" pitchFamily="34" charset="0"/>
                <a:ea typeface="Meiryo" pitchFamily="34" charset="-122"/>
                <a:cs typeface="Meiryo" pitchFamily="34" charset="-120"/>
              </a:rPr>
              <a:t>本スキームで最も効く要因。主線は年6%上昇を織り込むが、横ばい（0%）では投資家利回り（年平均）が13.6%まで低下する。会社資料の年率10%に対し保守的な前提を置いている。</a:t>
            </a:r>
            <a:endParaRPr lang="en-US" sz="900" dirty="0"/>
          </a:p>
        </p:txBody>
      </p:sp>
      <p:sp>
        <p:nvSpPr>
          <p:cNvPr id="11" name="Shape 9"/>
          <p:cNvSpPr/>
          <p:nvPr/>
        </p:nvSpPr>
        <p:spPr>
          <a:xfrm>
            <a:off x="3441116" y="1554480"/>
            <a:ext cx="2526716" cy="2212848"/>
          </a:xfrm>
          <a:prstGeom prst="roundRect">
            <a:avLst>
              <a:gd name="adj" fmla="val 3306"/>
            </a:avLst>
          </a:prstGeom>
          <a:solidFill>
            <a:srgbClr val="F5EFE4"/>
          </a:solidFill>
          <a:ln w="9525">
            <a:solidFill>
              <a:srgbClr val="E6DCCB"/>
            </a:solidFill>
            <a:prstDash val="solid"/>
          </a:ln>
          <a:effectLst>
            <a:outerShdw sx="100000" sy="100000" kx="0" ky="0" algn="bl" rotWithShape="0" blurRad="76200" dist="25400" dir="5400000">
              <a:srgbClr val="6F665F">
                <a:alpha val="18000"/>
              </a:srgbClr>
            </a:outerShdw>
          </a:effectLst>
        </p:spPr>
      </p:sp>
      <p:sp>
        <p:nvSpPr>
          <p:cNvPr id="12" name="Text 10"/>
          <p:cNvSpPr/>
          <p:nvPr/>
        </p:nvSpPr>
        <p:spPr>
          <a:xfrm>
            <a:off x="3678860" y="1755648"/>
            <a:ext cx="2051228" cy="256032"/>
          </a:xfrm>
          <a:prstGeom prst="rect">
            <a:avLst/>
          </a:prstGeom>
          <a:noFill/>
          <a:ln/>
        </p:spPr>
        <p:txBody>
          <a:bodyPr wrap="square" lIns="0" tIns="0" rIns="0" bIns="0" rtlCol="0" anchor="ctr"/>
          <a:lstStyle/>
          <a:p>
            <a:pPr indent="0" marL="0">
              <a:buNone/>
            </a:pPr>
            <a:r>
              <a:rPr lang="en-US" sz="1200" b="1" dirty="0">
                <a:solidFill>
                  <a:srgbClr val="2B2622"/>
                </a:solidFill>
                <a:latin typeface="Meiryo" pitchFamily="34" charset="0"/>
                <a:ea typeface="Meiryo" pitchFamily="34" charset="-122"/>
                <a:cs typeface="Meiryo" pitchFamily="34" charset="-120"/>
              </a:rPr>
              <a:t>在庫リスク</a:t>
            </a:r>
            <a:endParaRPr lang="en-US" sz="1200" dirty="0"/>
          </a:p>
        </p:txBody>
      </p:sp>
      <p:sp>
        <p:nvSpPr>
          <p:cNvPr id="13" name="Text 11"/>
          <p:cNvSpPr/>
          <p:nvPr/>
        </p:nvSpPr>
        <p:spPr>
          <a:xfrm>
            <a:off x="3678860" y="2048256"/>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8C6A3A"/>
                </a:solidFill>
                <a:latin typeface="Meiryo" pitchFamily="34" charset="0"/>
                <a:ea typeface="Meiryo" pitchFamily="34" charset="-122"/>
                <a:cs typeface="Meiryo" pitchFamily="34" charset="-120"/>
              </a:rPr>
              <a:t>想定価格で売り切れず滞留する</a:t>
            </a:r>
            <a:endParaRPr lang="en-US" sz="950" dirty="0"/>
          </a:p>
        </p:txBody>
      </p:sp>
      <p:sp>
        <p:nvSpPr>
          <p:cNvPr id="14" name="Text 12"/>
          <p:cNvSpPr/>
          <p:nvPr/>
        </p:nvSpPr>
        <p:spPr>
          <a:xfrm>
            <a:off x="3678860" y="2487168"/>
            <a:ext cx="2051228" cy="1133856"/>
          </a:xfrm>
          <a:prstGeom prst="rect">
            <a:avLst/>
          </a:prstGeom>
          <a:noFill/>
          <a:ln/>
        </p:spPr>
        <p:txBody>
          <a:bodyPr wrap="square" lIns="0" tIns="0" rIns="0" bIns="0" rtlCol="0" anchor="ctr"/>
          <a:lstStyle/>
          <a:p>
            <a:pPr indent="0" marL="0">
              <a:lnSpc>
                <a:spcPct val="120000"/>
              </a:lnSpc>
              <a:buNone/>
            </a:pPr>
            <a:r>
              <a:rPr lang="en-US" sz="900" dirty="0">
                <a:solidFill>
                  <a:srgbClr val="6F665F"/>
                </a:solidFill>
                <a:latin typeface="Meiryo" pitchFamily="34" charset="0"/>
                <a:ea typeface="Meiryo" pitchFamily="34" charset="-122"/>
                <a:cs typeface="Meiryo" pitchFamily="34" charset="-120"/>
              </a:rPr>
              <a:t>銘柄をLiv-ex掲載の流通量の多い銘柄に限定。半期ごとに保有12ヶ月超の滞留在庫を洗い出し、時価が簿価を下回るものは評価減して報告する。</a:t>
            </a:r>
            <a:endParaRPr lang="en-US" sz="900" dirty="0"/>
          </a:p>
        </p:txBody>
      </p:sp>
      <p:sp>
        <p:nvSpPr>
          <p:cNvPr id="15" name="Shape 13"/>
          <p:cNvSpPr/>
          <p:nvPr/>
        </p:nvSpPr>
        <p:spPr>
          <a:xfrm>
            <a:off x="6223864" y="1554480"/>
            <a:ext cx="2526716" cy="2212848"/>
          </a:xfrm>
          <a:prstGeom prst="roundRect">
            <a:avLst>
              <a:gd name="adj" fmla="val 3306"/>
            </a:avLst>
          </a:prstGeom>
          <a:solidFill>
            <a:srgbClr val="F5EFE4"/>
          </a:solidFill>
          <a:ln w="9525">
            <a:solidFill>
              <a:srgbClr val="E6DCCB"/>
            </a:solidFill>
            <a:prstDash val="solid"/>
          </a:ln>
          <a:effectLst>
            <a:outerShdw sx="100000" sy="100000" kx="0" ky="0" algn="bl" rotWithShape="0" blurRad="76200" dist="25400" dir="5400000">
              <a:srgbClr val="6F665F">
                <a:alpha val="18000"/>
              </a:srgbClr>
            </a:outerShdw>
          </a:effectLst>
        </p:spPr>
      </p:sp>
      <p:sp>
        <p:nvSpPr>
          <p:cNvPr id="16" name="Text 14"/>
          <p:cNvSpPr/>
          <p:nvPr/>
        </p:nvSpPr>
        <p:spPr>
          <a:xfrm>
            <a:off x="6461608" y="1755648"/>
            <a:ext cx="2051228" cy="256032"/>
          </a:xfrm>
          <a:prstGeom prst="rect">
            <a:avLst/>
          </a:prstGeom>
          <a:noFill/>
          <a:ln/>
        </p:spPr>
        <p:txBody>
          <a:bodyPr wrap="square" lIns="0" tIns="0" rIns="0" bIns="0" rtlCol="0" anchor="ctr"/>
          <a:lstStyle/>
          <a:p>
            <a:pPr indent="0" marL="0">
              <a:buNone/>
            </a:pPr>
            <a:r>
              <a:rPr lang="en-US" sz="1200" b="1" dirty="0">
                <a:solidFill>
                  <a:srgbClr val="2B2622"/>
                </a:solidFill>
                <a:latin typeface="Meiryo" pitchFamily="34" charset="0"/>
                <a:ea typeface="Meiryo" pitchFamily="34" charset="-122"/>
                <a:cs typeface="Meiryo" pitchFamily="34" charset="-120"/>
              </a:rPr>
              <a:t>流動性リスク</a:t>
            </a:r>
            <a:endParaRPr lang="en-US" sz="1200" dirty="0"/>
          </a:p>
        </p:txBody>
      </p:sp>
      <p:sp>
        <p:nvSpPr>
          <p:cNvPr id="17" name="Text 15"/>
          <p:cNvSpPr/>
          <p:nvPr/>
        </p:nvSpPr>
        <p:spPr>
          <a:xfrm>
            <a:off x="6461608" y="2048256"/>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8C6A3A"/>
                </a:solidFill>
                <a:latin typeface="Meiryo" pitchFamily="34" charset="0"/>
                <a:ea typeface="Meiryo" pitchFamily="34" charset="-122"/>
                <a:cs typeface="Meiryo" pitchFamily="34" charset="-120"/>
              </a:rPr>
              <a:t>現物のため即時換金できない</a:t>
            </a:r>
            <a:endParaRPr lang="en-US" sz="950" dirty="0"/>
          </a:p>
        </p:txBody>
      </p:sp>
      <p:sp>
        <p:nvSpPr>
          <p:cNvPr id="18" name="Text 16"/>
          <p:cNvSpPr/>
          <p:nvPr/>
        </p:nvSpPr>
        <p:spPr>
          <a:xfrm>
            <a:off x="6461608" y="2487168"/>
            <a:ext cx="2051228" cy="1133856"/>
          </a:xfrm>
          <a:prstGeom prst="rect">
            <a:avLst/>
          </a:prstGeom>
          <a:noFill/>
          <a:ln/>
        </p:spPr>
        <p:txBody>
          <a:bodyPr wrap="square" lIns="0" tIns="0" rIns="0" bIns="0" rtlCol="0" anchor="ctr"/>
          <a:lstStyle/>
          <a:p>
            <a:pPr indent="0" marL="0">
              <a:lnSpc>
                <a:spcPct val="120000"/>
              </a:lnSpc>
              <a:buNone/>
            </a:pPr>
            <a:r>
              <a:rPr lang="en-US" sz="900" dirty="0">
                <a:solidFill>
                  <a:srgbClr val="6F665F"/>
                </a:solidFill>
                <a:latin typeface="Meiryo" pitchFamily="34" charset="0"/>
                <a:ea typeface="Meiryo" pitchFamily="34" charset="-122"/>
                <a:cs typeface="Meiryo" pitchFamily="34" charset="-120"/>
              </a:rPr>
              <a:t>当初3年間はロックアップ。4年目以降は90日前通知・半期末の解約とし、通知を受けた時点で再購入を留保して支払資金を用意する。</a:t>
            </a:r>
            <a:endParaRPr lang="en-US" sz="900" dirty="0"/>
          </a:p>
        </p:txBody>
      </p:sp>
      <p:sp>
        <p:nvSpPr>
          <p:cNvPr id="19" name="Shape 17"/>
          <p:cNvSpPr/>
          <p:nvPr/>
        </p:nvSpPr>
        <p:spPr>
          <a:xfrm>
            <a:off x="9006611" y="1554480"/>
            <a:ext cx="2526716" cy="2212848"/>
          </a:xfrm>
          <a:prstGeom prst="roundRect">
            <a:avLst>
              <a:gd name="adj" fmla="val 3306"/>
            </a:avLst>
          </a:prstGeom>
          <a:solidFill>
            <a:srgbClr val="F5EFE4"/>
          </a:solidFill>
          <a:ln w="9525">
            <a:solidFill>
              <a:srgbClr val="E6DCCB"/>
            </a:solidFill>
            <a:prstDash val="solid"/>
          </a:ln>
          <a:effectLst>
            <a:outerShdw sx="100000" sy="100000" kx="0" ky="0" algn="bl" rotWithShape="0" blurRad="76200" dist="25400" dir="5400000">
              <a:srgbClr val="6F665F">
                <a:alpha val="18000"/>
              </a:srgbClr>
            </a:outerShdw>
          </a:effectLst>
        </p:spPr>
      </p:sp>
      <p:sp>
        <p:nvSpPr>
          <p:cNvPr id="20" name="Text 18"/>
          <p:cNvSpPr/>
          <p:nvPr/>
        </p:nvSpPr>
        <p:spPr>
          <a:xfrm>
            <a:off x="9244355" y="1755648"/>
            <a:ext cx="2051228" cy="256032"/>
          </a:xfrm>
          <a:prstGeom prst="rect">
            <a:avLst/>
          </a:prstGeom>
          <a:noFill/>
          <a:ln/>
        </p:spPr>
        <p:txBody>
          <a:bodyPr wrap="square" lIns="0" tIns="0" rIns="0" bIns="0" rtlCol="0" anchor="ctr"/>
          <a:lstStyle/>
          <a:p>
            <a:pPr indent="0" marL="0">
              <a:buNone/>
            </a:pPr>
            <a:r>
              <a:rPr lang="en-US" sz="1200" b="1" dirty="0">
                <a:solidFill>
                  <a:srgbClr val="2B2622"/>
                </a:solidFill>
                <a:latin typeface="Meiryo" pitchFamily="34" charset="0"/>
                <a:ea typeface="Meiryo" pitchFamily="34" charset="-122"/>
                <a:cs typeface="Meiryo" pitchFamily="34" charset="-120"/>
              </a:rPr>
              <a:t>調達リスク</a:t>
            </a:r>
            <a:endParaRPr lang="en-US" sz="1200" dirty="0"/>
          </a:p>
        </p:txBody>
      </p:sp>
      <p:sp>
        <p:nvSpPr>
          <p:cNvPr id="21" name="Text 19"/>
          <p:cNvSpPr/>
          <p:nvPr/>
        </p:nvSpPr>
        <p:spPr>
          <a:xfrm>
            <a:off x="9244355" y="2048256"/>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8C6A3A"/>
                </a:solidFill>
                <a:latin typeface="Meiryo" pitchFamily="34" charset="0"/>
                <a:ea typeface="Meiryo" pitchFamily="34" charset="-122"/>
                <a:cs typeface="Meiryo" pitchFamily="34" charset="-120"/>
              </a:rPr>
              <a:t>想定価格・数量で仕入れられない</a:t>
            </a:r>
            <a:endParaRPr lang="en-US" sz="950" dirty="0"/>
          </a:p>
        </p:txBody>
      </p:sp>
      <p:sp>
        <p:nvSpPr>
          <p:cNvPr id="22" name="Text 20"/>
          <p:cNvSpPr/>
          <p:nvPr/>
        </p:nvSpPr>
        <p:spPr>
          <a:xfrm>
            <a:off x="9244355" y="2487168"/>
            <a:ext cx="2051228" cy="1133856"/>
          </a:xfrm>
          <a:prstGeom prst="rect">
            <a:avLst/>
          </a:prstGeom>
          <a:noFill/>
          <a:ln/>
        </p:spPr>
        <p:txBody>
          <a:bodyPr wrap="square" lIns="0" tIns="0" rIns="0" bIns="0" rtlCol="0" anchor="ctr"/>
          <a:lstStyle/>
          <a:p>
            <a:pPr indent="0" marL="0">
              <a:lnSpc>
                <a:spcPct val="120000"/>
              </a:lnSpc>
              <a:buNone/>
            </a:pPr>
            <a:r>
              <a:rPr lang="en-US" sz="900" dirty="0">
                <a:solidFill>
                  <a:srgbClr val="6F665F"/>
                </a:solidFill>
                <a:latin typeface="Meiryo" pitchFamily="34" charset="0"/>
                <a:ea typeface="Meiryo" pitchFamily="34" charset="-122"/>
                <a:cs typeface="Meiryo" pitchFamily="34" charset="-120"/>
              </a:rPr>
              <a:t>インポーター・酒販店との年間調達枠を事前に締結。卸値は時価連動のため、仕入価格の上昇は投資家利回りには及ばない。</a:t>
            </a:r>
            <a:endParaRPr lang="en-US" sz="900" dirty="0"/>
          </a:p>
        </p:txBody>
      </p:sp>
      <p:sp>
        <p:nvSpPr>
          <p:cNvPr id="23" name="Shape 21"/>
          <p:cNvSpPr/>
          <p:nvPr/>
        </p:nvSpPr>
        <p:spPr>
          <a:xfrm>
            <a:off x="658368" y="3950208"/>
            <a:ext cx="2526716" cy="2212848"/>
          </a:xfrm>
          <a:prstGeom prst="roundRect">
            <a:avLst>
              <a:gd name="adj" fmla="val 3306"/>
            </a:avLst>
          </a:prstGeom>
          <a:solidFill>
            <a:srgbClr val="F5EFE4"/>
          </a:solidFill>
          <a:ln w="9525">
            <a:solidFill>
              <a:srgbClr val="E6DCCB"/>
            </a:solidFill>
            <a:prstDash val="solid"/>
          </a:ln>
          <a:effectLst>
            <a:outerShdw sx="100000" sy="100000" kx="0" ky="0" algn="bl" rotWithShape="0" blurRad="76200" dist="25400" dir="5400000">
              <a:srgbClr val="6F665F">
                <a:alpha val="18000"/>
              </a:srgbClr>
            </a:outerShdw>
          </a:effectLst>
        </p:spPr>
      </p:sp>
      <p:sp>
        <p:nvSpPr>
          <p:cNvPr id="24" name="Text 22"/>
          <p:cNvSpPr/>
          <p:nvPr/>
        </p:nvSpPr>
        <p:spPr>
          <a:xfrm>
            <a:off x="896112" y="4151376"/>
            <a:ext cx="2051228" cy="256032"/>
          </a:xfrm>
          <a:prstGeom prst="rect">
            <a:avLst/>
          </a:prstGeom>
          <a:noFill/>
          <a:ln/>
        </p:spPr>
        <p:txBody>
          <a:bodyPr wrap="square" lIns="0" tIns="0" rIns="0" bIns="0" rtlCol="0" anchor="ctr"/>
          <a:lstStyle/>
          <a:p>
            <a:pPr indent="0" marL="0">
              <a:buNone/>
            </a:pPr>
            <a:r>
              <a:rPr lang="en-US" sz="1200" b="1" dirty="0">
                <a:solidFill>
                  <a:srgbClr val="2B2622"/>
                </a:solidFill>
                <a:latin typeface="Meiryo" pitchFamily="34" charset="0"/>
                <a:ea typeface="Meiryo" pitchFamily="34" charset="-122"/>
                <a:cs typeface="Meiryo" pitchFamily="34" charset="-120"/>
              </a:rPr>
              <a:t>オペレーションリスク</a:t>
            </a:r>
            <a:endParaRPr lang="en-US" sz="1200" dirty="0"/>
          </a:p>
        </p:txBody>
      </p:sp>
      <p:sp>
        <p:nvSpPr>
          <p:cNvPr id="25" name="Text 23"/>
          <p:cNvSpPr/>
          <p:nvPr/>
        </p:nvSpPr>
        <p:spPr>
          <a:xfrm>
            <a:off x="896112" y="4443984"/>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8C6A3A"/>
                </a:solidFill>
                <a:latin typeface="Meiryo" pitchFamily="34" charset="0"/>
                <a:ea typeface="Meiryo" pitchFamily="34" charset="-122"/>
                <a:cs typeface="Meiryo" pitchFamily="34" charset="-120"/>
              </a:rPr>
              <a:t>保管中の破損・劣化・盗難</a:t>
            </a:r>
            <a:endParaRPr lang="en-US" sz="950" dirty="0"/>
          </a:p>
        </p:txBody>
      </p:sp>
      <p:sp>
        <p:nvSpPr>
          <p:cNvPr id="26" name="Text 24"/>
          <p:cNvSpPr/>
          <p:nvPr/>
        </p:nvSpPr>
        <p:spPr>
          <a:xfrm>
            <a:off x="896112" y="4882896"/>
            <a:ext cx="2051228" cy="1133856"/>
          </a:xfrm>
          <a:prstGeom prst="rect">
            <a:avLst/>
          </a:prstGeom>
          <a:noFill/>
          <a:ln/>
        </p:spPr>
        <p:txBody>
          <a:bodyPr wrap="square" lIns="0" tIns="0" rIns="0" bIns="0" rtlCol="0" anchor="ctr"/>
          <a:lstStyle/>
          <a:p>
            <a:pPr indent="0" marL="0">
              <a:lnSpc>
                <a:spcPct val="120000"/>
              </a:lnSpc>
              <a:buNone/>
            </a:pPr>
            <a:r>
              <a:rPr lang="en-US" sz="900" dirty="0">
                <a:solidFill>
                  <a:srgbClr val="6F665F"/>
                </a:solidFill>
                <a:latin typeface="Meiryo" pitchFamily="34" charset="0"/>
                <a:ea typeface="Meiryo" pitchFamily="34" charset="-122"/>
                <a:cs typeface="Meiryo" pitchFamily="34" charset="-120"/>
              </a:rPr>
              <a:t>定温倉庫での保管と動産総合保険による全量付保（填補範囲・免責額はクロージング後30日以内に保険証券の写しで開示）。倉庫在庫は半期ごとに第三者棚卸。</a:t>
            </a:r>
            <a:endParaRPr lang="en-US" sz="900" dirty="0"/>
          </a:p>
        </p:txBody>
      </p:sp>
      <p:sp>
        <p:nvSpPr>
          <p:cNvPr id="27" name="Shape 25"/>
          <p:cNvSpPr/>
          <p:nvPr/>
        </p:nvSpPr>
        <p:spPr>
          <a:xfrm>
            <a:off x="3441116" y="3950208"/>
            <a:ext cx="2526716" cy="2212848"/>
          </a:xfrm>
          <a:prstGeom prst="roundRect">
            <a:avLst>
              <a:gd name="adj" fmla="val 3306"/>
            </a:avLst>
          </a:prstGeom>
          <a:solidFill>
            <a:srgbClr val="F5EFE4"/>
          </a:solidFill>
          <a:ln w="9525">
            <a:solidFill>
              <a:srgbClr val="E6DCCB"/>
            </a:solidFill>
            <a:prstDash val="solid"/>
          </a:ln>
          <a:effectLst>
            <a:outerShdw sx="100000" sy="100000" kx="0" ky="0" algn="bl" rotWithShape="0" blurRad="76200" dist="25400" dir="5400000">
              <a:srgbClr val="6F665F">
                <a:alpha val="18000"/>
              </a:srgbClr>
            </a:outerShdw>
          </a:effectLst>
        </p:spPr>
      </p:sp>
      <p:sp>
        <p:nvSpPr>
          <p:cNvPr id="28" name="Text 26"/>
          <p:cNvSpPr/>
          <p:nvPr/>
        </p:nvSpPr>
        <p:spPr>
          <a:xfrm>
            <a:off x="3678860" y="4151376"/>
            <a:ext cx="2051228" cy="256032"/>
          </a:xfrm>
          <a:prstGeom prst="rect">
            <a:avLst/>
          </a:prstGeom>
          <a:noFill/>
          <a:ln/>
        </p:spPr>
        <p:txBody>
          <a:bodyPr wrap="square" lIns="0" tIns="0" rIns="0" bIns="0" rtlCol="0" anchor="ctr"/>
          <a:lstStyle/>
          <a:p>
            <a:pPr indent="0" marL="0">
              <a:buNone/>
            </a:pPr>
            <a:r>
              <a:rPr lang="en-US" sz="1200" b="1" dirty="0">
                <a:solidFill>
                  <a:srgbClr val="2B2622"/>
                </a:solidFill>
                <a:latin typeface="Meiryo" pitchFamily="34" charset="0"/>
                <a:ea typeface="Meiryo" pitchFamily="34" charset="-122"/>
                <a:cs typeface="Meiryo" pitchFamily="34" charset="-120"/>
              </a:rPr>
              <a:t>カウンターパーティリスク</a:t>
            </a:r>
            <a:endParaRPr lang="en-US" sz="1200" dirty="0"/>
          </a:p>
        </p:txBody>
      </p:sp>
      <p:sp>
        <p:nvSpPr>
          <p:cNvPr id="29" name="Text 27"/>
          <p:cNvSpPr/>
          <p:nvPr/>
        </p:nvSpPr>
        <p:spPr>
          <a:xfrm>
            <a:off x="3678860" y="4443984"/>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8C6A3A"/>
                </a:solidFill>
                <a:latin typeface="Meiryo" pitchFamily="34" charset="0"/>
                <a:ea typeface="Meiryo" pitchFamily="34" charset="-122"/>
                <a:cs typeface="Meiryo" pitchFamily="34" charset="-120"/>
              </a:rPr>
              <a:t>WineBankの信用・実行力</a:t>
            </a:r>
            <a:endParaRPr lang="en-US" sz="950" dirty="0"/>
          </a:p>
        </p:txBody>
      </p:sp>
      <p:sp>
        <p:nvSpPr>
          <p:cNvPr id="30" name="Text 28"/>
          <p:cNvSpPr/>
          <p:nvPr/>
        </p:nvSpPr>
        <p:spPr>
          <a:xfrm>
            <a:off x="3678860" y="4882896"/>
            <a:ext cx="2051228" cy="1133856"/>
          </a:xfrm>
          <a:prstGeom prst="rect">
            <a:avLst/>
          </a:prstGeom>
          <a:noFill/>
          <a:ln/>
        </p:spPr>
        <p:txBody>
          <a:bodyPr wrap="square" lIns="0" tIns="0" rIns="0" bIns="0" rtlCol="0" anchor="ctr"/>
          <a:lstStyle/>
          <a:p>
            <a:pPr indent="0" marL="0">
              <a:lnSpc>
                <a:spcPct val="120000"/>
              </a:lnSpc>
              <a:buNone/>
            </a:pPr>
            <a:r>
              <a:rPr lang="en-US" sz="900" dirty="0">
                <a:solidFill>
                  <a:srgbClr val="6F665F"/>
                </a:solidFill>
                <a:latin typeface="Meiryo" pitchFamily="34" charset="0"/>
                <a:ea typeface="Meiryo" pitchFamily="34" charset="-122"/>
                <a:cs typeface="Meiryo" pitchFamily="34" charset="-120"/>
              </a:rPr>
              <a:t>SPCを倒産隔離。ワイン現物はSPC名義で保有しWineBankの債権者から隔離する。WineBankは総額の60%（3億円）を出資しており、持分を通じて損益を負う。</a:t>
            </a:r>
            <a:endParaRPr lang="en-US" sz="900" dirty="0"/>
          </a:p>
        </p:txBody>
      </p:sp>
      <p:sp>
        <p:nvSpPr>
          <p:cNvPr id="31" name="Shape 29"/>
          <p:cNvSpPr/>
          <p:nvPr/>
        </p:nvSpPr>
        <p:spPr>
          <a:xfrm>
            <a:off x="6223864" y="3950208"/>
            <a:ext cx="2526716" cy="2212848"/>
          </a:xfrm>
          <a:prstGeom prst="roundRect">
            <a:avLst>
              <a:gd name="adj" fmla="val 3306"/>
            </a:avLst>
          </a:prstGeom>
          <a:solidFill>
            <a:srgbClr val="F5EFE4"/>
          </a:solidFill>
          <a:ln w="9525">
            <a:solidFill>
              <a:srgbClr val="E6DCCB"/>
            </a:solidFill>
            <a:prstDash val="solid"/>
          </a:ln>
          <a:effectLst>
            <a:outerShdw sx="100000" sy="100000" kx="0" ky="0" algn="bl" rotWithShape="0" blurRad="76200" dist="25400" dir="5400000">
              <a:srgbClr val="6F665F">
                <a:alpha val="18000"/>
              </a:srgbClr>
            </a:outerShdw>
          </a:effectLst>
        </p:spPr>
      </p:sp>
      <p:sp>
        <p:nvSpPr>
          <p:cNvPr id="32" name="Text 30"/>
          <p:cNvSpPr/>
          <p:nvPr/>
        </p:nvSpPr>
        <p:spPr>
          <a:xfrm>
            <a:off x="6461608" y="4151376"/>
            <a:ext cx="2051228" cy="256032"/>
          </a:xfrm>
          <a:prstGeom prst="rect">
            <a:avLst/>
          </a:prstGeom>
          <a:noFill/>
          <a:ln/>
        </p:spPr>
        <p:txBody>
          <a:bodyPr wrap="square" lIns="0" tIns="0" rIns="0" bIns="0" rtlCol="0" anchor="ctr"/>
          <a:lstStyle/>
          <a:p>
            <a:pPr indent="0" marL="0">
              <a:buNone/>
            </a:pPr>
            <a:r>
              <a:rPr lang="en-US" sz="1200" b="1" dirty="0">
                <a:solidFill>
                  <a:srgbClr val="2B2622"/>
                </a:solidFill>
                <a:latin typeface="Meiryo" pitchFamily="34" charset="0"/>
                <a:ea typeface="Meiryo" pitchFamily="34" charset="-122"/>
                <a:cs typeface="Meiryo" pitchFamily="34" charset="-120"/>
              </a:rPr>
              <a:t>免許・商流リスク</a:t>
            </a:r>
            <a:endParaRPr lang="en-US" sz="1200" dirty="0"/>
          </a:p>
        </p:txBody>
      </p:sp>
      <p:sp>
        <p:nvSpPr>
          <p:cNvPr id="33" name="Text 31"/>
          <p:cNvSpPr/>
          <p:nvPr/>
        </p:nvSpPr>
        <p:spPr>
          <a:xfrm>
            <a:off x="6461608" y="4443984"/>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8C6A3A"/>
                </a:solidFill>
                <a:latin typeface="Meiryo" pitchFamily="34" charset="0"/>
                <a:ea typeface="Meiryo" pitchFamily="34" charset="-122"/>
                <a:cs typeface="Meiryo" pitchFamily="34" charset="-120"/>
              </a:rPr>
              <a:t>免許事業者の変更・取引口座の喪失</a:t>
            </a:r>
            <a:endParaRPr lang="en-US" sz="950" dirty="0"/>
          </a:p>
        </p:txBody>
      </p:sp>
      <p:sp>
        <p:nvSpPr>
          <p:cNvPr id="34" name="Text 32"/>
          <p:cNvSpPr/>
          <p:nvPr/>
        </p:nvSpPr>
        <p:spPr>
          <a:xfrm>
            <a:off x="6461608" y="4882896"/>
            <a:ext cx="2051228" cy="1133856"/>
          </a:xfrm>
          <a:prstGeom prst="rect">
            <a:avLst/>
          </a:prstGeom>
          <a:noFill/>
          <a:ln/>
        </p:spPr>
        <p:txBody>
          <a:bodyPr wrap="square" lIns="0" tIns="0" rIns="0" bIns="0" rtlCol="0" anchor="ctr"/>
          <a:lstStyle/>
          <a:p>
            <a:pPr indent="0" marL="0">
              <a:lnSpc>
                <a:spcPct val="120000"/>
              </a:lnSpc>
              <a:buNone/>
            </a:pPr>
            <a:r>
              <a:rPr lang="en-US" sz="900" dirty="0">
                <a:solidFill>
                  <a:srgbClr val="6F665F"/>
                </a:solidFill>
                <a:latin typeface="Meiryo" pitchFamily="34" charset="0"/>
                <a:ea typeface="Meiryo" pitchFamily="34" charset="-122"/>
                <a:cs typeface="Meiryo" pitchFamily="34" charset="-120"/>
              </a:rPr>
              <a:t>WineBankの免許維持を契約上の義務とし、免許喪失時は在庫を売却清算して早期償還する条項を置く。</a:t>
            </a:r>
            <a:endParaRPr lang="en-US" sz="900" dirty="0"/>
          </a:p>
        </p:txBody>
      </p:sp>
      <p:sp>
        <p:nvSpPr>
          <p:cNvPr id="35" name="Shape 33"/>
          <p:cNvSpPr/>
          <p:nvPr/>
        </p:nvSpPr>
        <p:spPr>
          <a:xfrm>
            <a:off x="9006611" y="3950208"/>
            <a:ext cx="2526716" cy="2212848"/>
          </a:xfrm>
          <a:prstGeom prst="roundRect">
            <a:avLst>
              <a:gd name="adj" fmla="val 3306"/>
            </a:avLst>
          </a:prstGeom>
          <a:solidFill>
            <a:srgbClr val="F3E9D6"/>
          </a:solidFill>
          <a:ln w="9525">
            <a:solidFill>
              <a:srgbClr val="C9AE7E"/>
            </a:solidFill>
            <a:prstDash val="solid"/>
          </a:ln>
          <a:effectLst>
            <a:outerShdw sx="100000" sy="100000" kx="0" ky="0" algn="bl" rotWithShape="0" blurRad="76200" dist="25400" dir="5400000">
              <a:srgbClr val="6F665F">
                <a:alpha val="18000"/>
              </a:srgbClr>
            </a:outerShdw>
          </a:effectLst>
        </p:spPr>
      </p:sp>
      <p:sp>
        <p:nvSpPr>
          <p:cNvPr id="36" name="Text 34"/>
          <p:cNvSpPr/>
          <p:nvPr/>
        </p:nvSpPr>
        <p:spPr>
          <a:xfrm>
            <a:off x="9244355" y="4151376"/>
            <a:ext cx="2051228" cy="256032"/>
          </a:xfrm>
          <a:prstGeom prst="rect">
            <a:avLst/>
          </a:prstGeom>
          <a:noFill/>
          <a:ln/>
        </p:spPr>
        <p:txBody>
          <a:bodyPr wrap="square" lIns="0" tIns="0" rIns="0" bIns="0" rtlCol="0" anchor="ctr"/>
          <a:lstStyle/>
          <a:p>
            <a:pPr indent="0" marL="0">
              <a:buNone/>
            </a:pPr>
            <a:r>
              <a:rPr lang="en-US" sz="1200" b="1" dirty="0">
                <a:solidFill>
                  <a:srgbClr val="2B2622"/>
                </a:solidFill>
                <a:latin typeface="Meiryo" pitchFamily="34" charset="0"/>
                <a:ea typeface="Meiryo" pitchFamily="34" charset="-122"/>
                <a:cs typeface="Meiryo" pitchFamily="34" charset="-120"/>
              </a:rPr>
              <a:t>卸値・移転価格リスク</a:t>
            </a:r>
            <a:endParaRPr lang="en-US" sz="1200" dirty="0"/>
          </a:p>
        </p:txBody>
      </p:sp>
      <p:sp>
        <p:nvSpPr>
          <p:cNvPr id="37" name="Text 35"/>
          <p:cNvSpPr/>
          <p:nvPr/>
        </p:nvSpPr>
        <p:spPr>
          <a:xfrm>
            <a:off x="9244355" y="4443984"/>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8C6A3A"/>
                </a:solidFill>
                <a:latin typeface="Meiryo" pitchFamily="34" charset="0"/>
                <a:ea typeface="Meiryo" pitchFamily="34" charset="-122"/>
                <a:cs typeface="Meiryo" pitchFamily="34" charset="-120"/>
              </a:rPr>
              <a:t>時価−αの妥当性を否認される</a:t>
            </a:r>
            <a:endParaRPr lang="en-US" sz="950" dirty="0"/>
          </a:p>
        </p:txBody>
      </p:sp>
      <p:sp>
        <p:nvSpPr>
          <p:cNvPr id="38" name="Text 36"/>
          <p:cNvSpPr/>
          <p:nvPr/>
        </p:nvSpPr>
        <p:spPr>
          <a:xfrm>
            <a:off x="9244355" y="4882896"/>
            <a:ext cx="2051228" cy="1133856"/>
          </a:xfrm>
          <a:prstGeom prst="rect">
            <a:avLst/>
          </a:prstGeom>
          <a:noFill/>
          <a:ln/>
        </p:spPr>
        <p:txBody>
          <a:bodyPr wrap="square" lIns="0" tIns="0" rIns="0" bIns="0" rtlCol="0" anchor="ctr"/>
          <a:lstStyle/>
          <a:p>
            <a:pPr indent="0" marL="0">
              <a:lnSpc>
                <a:spcPct val="120000"/>
              </a:lnSpc>
              <a:buNone/>
            </a:pPr>
            <a:r>
              <a:rPr lang="en-US" sz="900" dirty="0">
                <a:solidFill>
                  <a:srgbClr val="6F665F"/>
                </a:solidFill>
                <a:latin typeface="Meiryo" pitchFamily="34" charset="0"/>
                <a:ea typeface="Meiryo" pitchFamily="34" charset="-122"/>
                <a:cs typeface="Meiryo" pitchFamily="34" charset="-120"/>
              </a:rPr>
              <a:t>αを契約上24.5%に固定し、時価の算定根拠と第三者卸価格との比較資料を年次で整備する。WineBank出資分に対応する内部利益の取扱いも組成前に確定させる。</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484632"/>
            <a:ext cx="109728" cy="109728"/>
          </a:xfrm>
          <a:prstGeom prst="ellipse">
            <a:avLst/>
          </a:prstGeom>
          <a:solidFill>
            <a:srgbClr val="A78450"/>
          </a:solidFill>
          <a:ln w="12700">
            <a:solidFill>
              <a:srgbClr val="A78450"/>
            </a:solidFill>
            <a:prstDash val="solid"/>
          </a:ln>
        </p:spPr>
      </p:sp>
      <p:sp>
        <p:nvSpPr>
          <p:cNvPr id="3" name="Text 1"/>
          <p:cNvSpPr/>
          <p:nvPr/>
        </p:nvSpPr>
        <p:spPr>
          <a:xfrm>
            <a:off x="923544" y="365760"/>
            <a:ext cx="9601200" cy="329184"/>
          </a:xfrm>
          <a:prstGeom prst="rect">
            <a:avLst/>
          </a:prstGeom>
          <a:noFill/>
          <a:ln/>
        </p:spPr>
        <p:txBody>
          <a:bodyPr wrap="square" lIns="0" tIns="0" rIns="0" bIns="0" rtlCol="0" anchor="ctr"/>
          <a:lstStyle/>
          <a:p>
            <a:pPr indent="0" marL="0">
              <a:buNone/>
            </a:pPr>
            <a:r>
              <a:rPr lang="en-US" sz="1200" b="1" spc="240" kern="0" dirty="0">
                <a:solidFill>
                  <a:srgbClr val="A78450"/>
                </a:solidFill>
                <a:latin typeface="Meiryo" pitchFamily="34" charset="0"/>
                <a:ea typeface="Meiryo" pitchFamily="34" charset="-122"/>
                <a:cs typeface="Meiryo" pitchFamily="34" charset="-120"/>
              </a:rPr>
              <a:t>TERMS</a:t>
            </a:r>
            <a:endParaRPr lang="en-US" sz="1200" dirty="0"/>
          </a:p>
        </p:txBody>
      </p:sp>
      <p:sp>
        <p:nvSpPr>
          <p:cNvPr id="4" name="Text 2"/>
          <p:cNvSpPr/>
          <p:nvPr/>
        </p:nvSpPr>
        <p:spPr>
          <a:xfrm>
            <a:off x="658368" y="731520"/>
            <a:ext cx="10874959" cy="566928"/>
          </a:xfrm>
          <a:prstGeom prst="rect">
            <a:avLst/>
          </a:prstGeom>
          <a:noFill/>
          <a:ln/>
        </p:spPr>
        <p:txBody>
          <a:bodyPr wrap="square" lIns="0" tIns="0" rIns="0" bIns="0" rtlCol="0" anchor="ctr"/>
          <a:lstStyle/>
          <a:p>
            <a:pPr indent="0" marL="0">
              <a:buNone/>
            </a:pPr>
            <a:r>
              <a:rPr lang="en-US" sz="2600" b="1" dirty="0">
                <a:solidFill>
                  <a:srgbClr val="2B2622"/>
                </a:solidFill>
                <a:latin typeface="Meiryo" pitchFamily="34" charset="0"/>
                <a:ea typeface="Meiryo" pitchFamily="34" charset="-122"/>
                <a:cs typeface="Meiryo" pitchFamily="34" charset="-120"/>
              </a:rPr>
              <a:t>ファンド設計条件（ドラフト）</a:t>
            </a:r>
            <a:endParaRPr lang="en-US" sz="2600" dirty="0"/>
          </a:p>
        </p:txBody>
      </p:sp>
      <p:sp>
        <p:nvSpPr>
          <p:cNvPr id="5" name="Text 3"/>
          <p:cNvSpPr/>
          <p:nvPr/>
        </p:nvSpPr>
        <p:spPr>
          <a:xfrm>
            <a:off x="658368" y="1261872"/>
            <a:ext cx="10874959" cy="310896"/>
          </a:xfrm>
          <a:prstGeom prst="rect">
            <a:avLst/>
          </a:prstGeom>
          <a:noFill/>
          <a:ln/>
        </p:spPr>
        <p:txBody>
          <a:bodyPr wrap="square" lIns="0" tIns="0" rIns="0" bIns="0" rtlCol="0" anchor="ctr"/>
          <a:lstStyle/>
          <a:p>
            <a:pPr indent="0" marL="0">
              <a:buNone/>
            </a:pPr>
            <a:r>
              <a:rPr lang="en-US" sz="1150" dirty="0">
                <a:solidFill>
                  <a:srgbClr val="6F665F"/>
                </a:solidFill>
                <a:latin typeface="Meiryo" pitchFamily="34" charset="0"/>
                <a:ea typeface="Meiryo" pitchFamily="34" charset="-122"/>
                <a:cs typeface="Meiryo" pitchFamily="34" charset="-120"/>
              </a:rPr>
              <a:t>組成・資本構成（左）と、運用・費用・報告（右）に分けて記載する。</a:t>
            </a:r>
            <a:endParaRPr lang="en-US" sz="1150" dirty="0"/>
          </a:p>
        </p:txBody>
      </p:sp>
      <p:sp>
        <p:nvSpPr>
          <p:cNvPr id="6" name="Text 4"/>
          <p:cNvSpPr/>
          <p:nvPr/>
        </p:nvSpPr>
        <p:spPr>
          <a:xfrm>
            <a:off x="658368" y="6446520"/>
            <a:ext cx="5486400" cy="256032"/>
          </a:xfrm>
          <a:prstGeom prst="rect">
            <a:avLst/>
          </a:prstGeom>
          <a:noFill/>
          <a:ln/>
        </p:spPr>
        <p:txBody>
          <a:bodyPr wrap="square" lIns="0" tIns="0" rIns="0" bIns="0" rtlCol="0" anchor="ctr"/>
          <a:lstStyle/>
          <a:p>
            <a:pPr indent="0" marL="0">
              <a:buNone/>
            </a:pPr>
            <a:r>
              <a:rPr lang="en-US" sz="900" dirty="0">
                <a:solidFill>
                  <a:srgbClr val="9A8F84"/>
                </a:solidFill>
                <a:latin typeface="Meiryo" pitchFamily="34" charset="0"/>
                <a:ea typeface="Meiryo" pitchFamily="34" charset="-122"/>
                <a:cs typeface="Meiryo" pitchFamily="34" charset="-120"/>
              </a:rPr>
              <a:t>Confidential</a:t>
            </a:r>
            <a:endParaRPr lang="en-US" sz="900" dirty="0"/>
          </a:p>
        </p:txBody>
      </p:sp>
      <p:sp>
        <p:nvSpPr>
          <p:cNvPr id="7" name="Text 5"/>
          <p:cNvSpPr/>
          <p:nvPr/>
        </p:nvSpPr>
        <p:spPr>
          <a:xfrm>
            <a:off x="10984687" y="6446520"/>
            <a:ext cx="548640" cy="256032"/>
          </a:xfrm>
          <a:prstGeom prst="rect">
            <a:avLst/>
          </a:prstGeom>
          <a:noFill/>
          <a:ln/>
        </p:spPr>
        <p:txBody>
          <a:bodyPr wrap="square" lIns="0" tIns="0" rIns="0" bIns="0" rtlCol="0" anchor="ctr"/>
          <a:lstStyle/>
          <a:p>
            <a:pPr algn="r" indent="0" marL="0">
              <a:buNone/>
            </a:pPr>
            <a:r>
              <a:rPr lang="en-US" sz="900" dirty="0">
                <a:solidFill>
                  <a:srgbClr val="9A8F84"/>
                </a:solidFill>
                <a:latin typeface="Meiryo" pitchFamily="34" charset="0"/>
                <a:ea typeface="Meiryo" pitchFamily="34" charset="-122"/>
                <a:cs typeface="Meiryo" pitchFamily="34" charset="-120"/>
              </a:rPr>
              <a:t>20</a:t>
            </a:r>
            <a:endParaRPr lang="en-US" sz="9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58368" y="1591056"/>
          <a:ext cx="5300320" cy="914400"/>
        </p:xfrm>
        <a:graphic>
          <a:graphicData uri="http://schemas.openxmlformats.org/drawingml/2006/table">
            <a:tbl>
              <a:tblPr/>
              <a:tblGrid>
                <a:gridCol w="1536192"/>
                <a:gridCol w="3764128"/>
              </a:tblGrid>
              <a:tr h="306324">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項目</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2B2622"/>
                    </a:solidFill>
                  </a:tcPr>
                </a:tc>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内容</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2B2622"/>
                    </a:solidFill>
                  </a:tcPr>
                </a:tc>
              </a:tr>
              <a:tr h="306324">
                <a:tc>
                  <a:txBody>
                    <a:bodyPr/>
                    <a:lstStyle/>
                    <a:p>
                      <a:pPr algn="ctr" indent="0" marL="0">
                        <a:buNone/>
                      </a:pPr>
                      <a:r>
                        <a:rPr lang="en-US" sz="850" dirty="0">
                          <a:solidFill>
                            <a:srgbClr val="2B2622"/>
                          </a:solidFill>
                          <a:latin typeface="Meiryo" pitchFamily="34" charset="0"/>
                          <a:ea typeface="Meiryo" pitchFamily="34" charset="-122"/>
                          <a:cs typeface="Meiryo" pitchFamily="34" charset="-120"/>
                        </a:rPr>
                        <a:t>組成形態</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l" indent="0" marL="0">
                        <a:buNone/>
                      </a:pPr>
                      <a:r>
                        <a:rPr lang="en-US" sz="850" dirty="0">
                          <a:solidFill>
                            <a:srgbClr val="2B2622"/>
                          </a:solidFill>
                          <a:latin typeface="Meiryo" pitchFamily="34" charset="0"/>
                          <a:ea typeface="Meiryo" pitchFamily="34" charset="-122"/>
                          <a:cs typeface="Meiryo" pitchFamily="34" charset="-120"/>
                        </a:rPr>
                        <a:t>合同会社＋匿名組合（GK-TK）。SPCレベルでは非課税、投資家側で課税</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r>
              <a:tr h="306324">
                <a:tc>
                  <a:txBody>
                    <a:bodyPr/>
                    <a:lstStyle/>
                    <a:p>
                      <a:pPr algn="ctr" indent="0" marL="0">
                        <a:buNone/>
                      </a:pPr>
                      <a:r>
                        <a:rPr lang="en-US" sz="850" dirty="0">
                          <a:solidFill>
                            <a:srgbClr val="2B2622"/>
                          </a:solidFill>
                          <a:latin typeface="Meiryo" pitchFamily="34" charset="0"/>
                          <a:ea typeface="Meiryo" pitchFamily="34" charset="-122"/>
                          <a:cs typeface="Meiryo" pitchFamily="34" charset="-120"/>
                        </a:rPr>
                        <a:t>ファンド形態</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l" indent="0" marL="0">
                        <a:buNone/>
                      </a:pPr>
                      <a:r>
                        <a:rPr lang="en-US" sz="850" dirty="0">
                          <a:solidFill>
                            <a:srgbClr val="2B2622"/>
                          </a:solidFill>
                          <a:latin typeface="Meiryo" pitchFamily="34" charset="0"/>
                          <a:ea typeface="Meiryo" pitchFamily="34" charset="-122"/>
                          <a:cs typeface="Meiryo" pitchFamily="34" charset="-120"/>
                        </a:rPr>
                        <a:t>適格機関投資家等特例業務による私募。適格機関投資家1名以上の確保を組成条件とする</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r>
              <a:tr h="306324">
                <a:tc>
                  <a:txBody>
                    <a:bodyPr/>
                    <a:lstStyle/>
                    <a:p>
                      <a:pPr algn="ctr" indent="0" marL="0">
                        <a:buNone/>
                      </a:pPr>
                      <a:r>
                        <a:rPr lang="en-US" sz="850" dirty="0">
                          <a:solidFill>
                            <a:srgbClr val="2B2622"/>
                          </a:solidFill>
                          <a:latin typeface="Meiryo" pitchFamily="34" charset="0"/>
                          <a:ea typeface="Meiryo" pitchFamily="34" charset="-122"/>
                          <a:cs typeface="Meiryo" pitchFamily="34" charset="-120"/>
                        </a:rPr>
                        <a:t>募集総額</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l" indent="0" marL="0">
                        <a:buNone/>
                      </a:pPr>
                      <a:r>
                        <a:rPr lang="en-US" sz="850" b="1" dirty="0">
                          <a:solidFill>
                            <a:srgbClr val="8C6A3A"/>
                          </a:solidFill>
                          <a:latin typeface="Meiryo" pitchFamily="34" charset="0"/>
                          <a:ea typeface="Meiryo" pitchFamily="34" charset="-122"/>
                          <a:cs typeface="Meiryo" pitchFamily="34" charset="-120"/>
                        </a:rPr>
                        <a:t>ファーストクローズ5億円 → 年度内セカンドクローズ10億円</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r>
              <a:tr h="306324">
                <a:tc>
                  <a:txBody>
                    <a:bodyPr/>
                    <a:lstStyle/>
                    <a:p>
                      <a:pPr algn="ctr" indent="0" marL="0">
                        <a:buNone/>
                      </a:pPr>
                      <a:r>
                        <a:rPr lang="en-US" sz="850" dirty="0">
                          <a:solidFill>
                            <a:srgbClr val="2B2622"/>
                          </a:solidFill>
                          <a:latin typeface="Meiryo" pitchFamily="34" charset="0"/>
                          <a:ea typeface="Meiryo" pitchFamily="34" charset="-122"/>
                          <a:cs typeface="Meiryo" pitchFamily="34" charset="-120"/>
                        </a:rPr>
                        <a:t>資本構成</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l" indent="0" marL="0">
                        <a:buNone/>
                      </a:pPr>
                      <a:r>
                        <a:rPr lang="en-US" sz="850" b="1" dirty="0">
                          <a:solidFill>
                            <a:srgbClr val="8C6A3A"/>
                          </a:solidFill>
                          <a:latin typeface="Meiryo" pitchFamily="34" charset="0"/>
                          <a:ea typeface="Meiryo" pitchFamily="34" charset="-122"/>
                          <a:cs typeface="Meiryo" pitchFamily="34" charset="-120"/>
                        </a:rPr>
                        <a:t>WineBank現物出資60%（3億円）＋投資家出資40%（2億円）。1口5,000万円以上</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r>
              <a:tr h="306324">
                <a:tc>
                  <a:txBody>
                    <a:bodyPr/>
                    <a:lstStyle/>
                    <a:p>
                      <a:pPr algn="ctr" indent="0" marL="0">
                        <a:buNone/>
                      </a:pPr>
                      <a:r>
                        <a:rPr lang="en-US" sz="850" dirty="0">
                          <a:solidFill>
                            <a:srgbClr val="2B2622"/>
                          </a:solidFill>
                          <a:latin typeface="Meiryo" pitchFamily="34" charset="0"/>
                          <a:ea typeface="Meiryo" pitchFamily="34" charset="-122"/>
                          <a:cs typeface="Meiryo" pitchFamily="34" charset="-120"/>
                        </a:rPr>
                        <a:t>損益の配分</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l" indent="0" marL="0">
                        <a:buNone/>
                      </a:pPr>
                      <a:r>
                        <a:rPr lang="en-US" sz="850" b="1" dirty="0">
                          <a:solidFill>
                            <a:srgbClr val="8C6A3A"/>
                          </a:solidFill>
                          <a:latin typeface="Meiryo" pitchFamily="34" charset="0"/>
                          <a:ea typeface="Meiryo" pitchFamily="34" charset="-122"/>
                          <a:cs typeface="Meiryo" pitchFamily="34" charset="-120"/>
                        </a:rPr>
                        <a:t>SPC税前利益を出資比率どおり60：40で配分。成功報酬（折半）は取らない</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r>
              <a:tr h="306324">
                <a:tc>
                  <a:txBody>
                    <a:bodyPr/>
                    <a:lstStyle/>
                    <a:p>
                      <a:pPr algn="ctr" indent="0" marL="0">
                        <a:buNone/>
                      </a:pPr>
                      <a:r>
                        <a:rPr lang="en-US" sz="850" dirty="0">
                          <a:solidFill>
                            <a:srgbClr val="2B2622"/>
                          </a:solidFill>
                          <a:latin typeface="Meiryo" pitchFamily="34" charset="0"/>
                          <a:ea typeface="Meiryo" pitchFamily="34" charset="-122"/>
                          <a:cs typeface="Meiryo" pitchFamily="34" charset="-120"/>
                        </a:rPr>
                        <a:t>運用期間</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l" indent="0" marL="0">
                        <a:buNone/>
                      </a:pPr>
                      <a:r>
                        <a:rPr lang="en-US" sz="850" dirty="0">
                          <a:solidFill>
                            <a:srgbClr val="2B2622"/>
                          </a:solidFill>
                          <a:latin typeface="Meiryo" pitchFamily="34" charset="0"/>
                          <a:ea typeface="Meiryo" pitchFamily="34" charset="-122"/>
                          <a:cs typeface="Meiryo" pitchFamily="34" charset="-120"/>
                        </a:rPr>
                        <a:t>5年。満期時に在庫を売却清算のうえ元本償還</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r>
              <a:tr h="306324">
                <a:tc>
                  <a:txBody>
                    <a:bodyPr/>
                    <a:lstStyle/>
                    <a:p>
                      <a:pPr algn="ctr" indent="0" marL="0">
                        <a:buNone/>
                      </a:pPr>
                      <a:r>
                        <a:rPr lang="en-US" sz="850" dirty="0">
                          <a:solidFill>
                            <a:srgbClr val="2B2622"/>
                          </a:solidFill>
                          <a:latin typeface="Meiryo" pitchFamily="34" charset="0"/>
                          <a:ea typeface="Meiryo" pitchFamily="34" charset="-122"/>
                          <a:cs typeface="Meiryo" pitchFamily="34" charset="-120"/>
                        </a:rPr>
                        <a:t>中途解約</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l" indent="0" marL="0">
                        <a:buNone/>
                      </a:pPr>
                      <a:r>
                        <a:rPr lang="en-US" sz="850" b="1" dirty="0">
                          <a:solidFill>
                            <a:srgbClr val="8C6A3A"/>
                          </a:solidFill>
                          <a:latin typeface="Meiryo" pitchFamily="34" charset="0"/>
                          <a:ea typeface="Meiryo" pitchFamily="34" charset="-122"/>
                          <a:cs typeface="Meiryo" pitchFamily="34" charset="-120"/>
                        </a:rPr>
                        <a:t>当初3年間はロックアップ。以後は通知から90日経過後の半期末に解約、支払は3ヶ月後の月末（換価が遅れる場合も残額は6ヶ月以内）</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r>
              <a:tr h="306324">
                <a:tc>
                  <a:txBody>
                    <a:bodyPr/>
                    <a:lstStyle/>
                    <a:p>
                      <a:pPr algn="ctr" indent="0" marL="0">
                        <a:buNone/>
                      </a:pPr>
                      <a:r>
                        <a:rPr lang="en-US" sz="850" dirty="0">
                          <a:solidFill>
                            <a:srgbClr val="2B2622"/>
                          </a:solidFill>
                          <a:latin typeface="Meiryo" pitchFamily="34" charset="0"/>
                          <a:ea typeface="Meiryo" pitchFamily="34" charset="-122"/>
                          <a:cs typeface="Meiryo" pitchFamily="34" charset="-120"/>
                        </a:rPr>
                        <a:t>分配</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l" indent="0" marL="0">
                        <a:buNone/>
                      </a:pPr>
                      <a:r>
                        <a:rPr lang="en-US" sz="850" dirty="0">
                          <a:solidFill>
                            <a:srgbClr val="2B2622"/>
                          </a:solidFill>
                          <a:latin typeface="Meiryo" pitchFamily="34" charset="0"/>
                          <a:ea typeface="Meiryo" pitchFamily="34" charset="-122"/>
                          <a:cs typeface="Meiryo" pitchFamily="34" charset="-120"/>
                        </a:rPr>
                        <a:t>年1回・利益のみ。売却代金の元本相当は再購入に充て満期まで留保（利益の複利再投資は行わない）</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r>
            </a:tbl>
          </a:graphicData>
        </a:graphic>
      </p:graphicFrame>
      <p:graphicFrame>
        <p:nvGraphicFramePr>
          <p:cNvPr id="43" name="Table 1"/>
          <p:cNvGraphicFramePr>
            <a:graphicFrameLocks noGrp="1"/>
          </p:cNvGraphicFramePr>
          <p:nvPr>
            <p:extLst>
              <p:ext uri="{D42A27DB-BD31-4B8C-83A1-F6EECF244321}">
                <p14:modId xmlns:p14="http://schemas.microsoft.com/office/powerpoint/2010/main" val="1579011935"/>
              </p:ext>
            </p:extLst>
          </p:nvPr>
        </p:nvGraphicFramePr>
        <p:xfrm>
          <a:off x="6233008" y="1591056"/>
          <a:ext cx="5300320" cy="914400"/>
        </p:xfrm>
        <a:graphic>
          <a:graphicData uri="http://schemas.openxmlformats.org/drawingml/2006/table">
            <a:tbl>
              <a:tblPr/>
              <a:tblGrid>
                <a:gridCol w="1536192"/>
                <a:gridCol w="3764128"/>
              </a:tblGrid>
              <a:tr h="306324">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項目</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2B2622"/>
                    </a:solidFill>
                  </a:tcPr>
                </a:tc>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内容</a:t>
                      </a:r>
                      <a:endParaRPr lang="en-US" sz="9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2B2622"/>
                    </a:solidFill>
                  </a:tcPr>
                </a:tc>
              </a:tr>
              <a:tr h="306324">
                <a:tc>
                  <a:txBody>
                    <a:bodyPr/>
                    <a:lstStyle/>
                    <a:p>
                      <a:pPr algn="ctr" indent="0" marL="0">
                        <a:buNone/>
                      </a:pPr>
                      <a:r>
                        <a:rPr lang="en-US" sz="850" dirty="0">
                          <a:solidFill>
                            <a:srgbClr val="2B2622"/>
                          </a:solidFill>
                          <a:latin typeface="Meiryo" pitchFamily="34" charset="0"/>
                          <a:ea typeface="Meiryo" pitchFamily="34" charset="-122"/>
                          <a:cs typeface="Meiryo" pitchFamily="34" charset="-120"/>
                        </a:rPr>
                        <a:t>SPCへの卸値</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l" indent="0" marL="0">
                        <a:buNone/>
                      </a:pPr>
                      <a:r>
                        <a:rPr lang="en-US" sz="850" b="1" dirty="0">
                          <a:solidFill>
                            <a:srgbClr val="8C6A3A"/>
                          </a:solidFill>
                          <a:latin typeface="Meiryo" pitchFamily="34" charset="0"/>
                          <a:ea typeface="Meiryo" pitchFamily="34" charset="-122"/>
                          <a:cs typeface="Meiryo" pitchFamily="34" charset="-120"/>
                        </a:rPr>
                        <a:t>時価 ×（1−α）。α＝24.5%、時価＝取得時の加重平均売値75.00 → SPC簿価 56.63</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r>
              <a:tr h="306324">
                <a:tc>
                  <a:txBody>
                    <a:bodyPr/>
                    <a:lstStyle/>
                    <a:p>
                      <a:pPr algn="ctr" indent="0" marL="0">
                        <a:buNone/>
                      </a:pPr>
                      <a:r>
                        <a:rPr lang="en-US" sz="850" dirty="0">
                          <a:solidFill>
                            <a:srgbClr val="2B2622"/>
                          </a:solidFill>
                          <a:latin typeface="Meiryo" pitchFamily="34" charset="0"/>
                          <a:ea typeface="Meiryo" pitchFamily="34" charset="-122"/>
                          <a:cs typeface="Meiryo" pitchFamily="34" charset="-120"/>
                        </a:rPr>
                        <a:t>WineBankの報酬</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l" indent="0" marL="0">
                        <a:buNone/>
                      </a:pPr>
                      <a:r>
                        <a:rPr lang="en-US" sz="850" b="1" dirty="0">
                          <a:solidFill>
                            <a:srgbClr val="8C6A3A"/>
                          </a:solidFill>
                          <a:latin typeface="Meiryo" pitchFamily="34" charset="0"/>
                          <a:ea typeface="Meiryo" pitchFamily="34" charset="-122"/>
                          <a:cs typeface="Meiryo" pitchFamily="34" charset="-120"/>
                        </a:rPr>
                        <a:t>卸値の値入れ（卸した時点で確定）と管理報酬（総額の年2%、半期ごとに1%）の二本のみ</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r>
              <a:tr h="306324">
                <a:tc>
                  <a:txBody>
                    <a:bodyPr/>
                    <a:lstStyle/>
                    <a:p>
                      <a:pPr algn="ctr" indent="0" marL="0">
                        <a:buNone/>
                      </a:pPr>
                      <a:r>
                        <a:rPr lang="en-US" sz="850" dirty="0">
                          <a:solidFill>
                            <a:srgbClr val="2B2622"/>
                          </a:solidFill>
                          <a:latin typeface="Meiryo" pitchFamily="34" charset="0"/>
                          <a:ea typeface="Meiryo" pitchFamily="34" charset="-122"/>
                          <a:cs typeface="Meiryo" pitchFamily="34" charset="-120"/>
                        </a:rPr>
                        <a:t>資金配分</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l" indent="0" marL="0">
                        <a:buNone/>
                      </a:pPr>
                      <a:r>
                        <a:rPr lang="en-US" sz="850" dirty="0">
                          <a:solidFill>
                            <a:srgbClr val="2B2622"/>
                          </a:solidFill>
                          <a:latin typeface="Meiryo" pitchFamily="34" charset="0"/>
                          <a:ea typeface="Meiryo" pitchFamily="34" charset="-122"/>
                          <a:cs typeface="Meiryo" pitchFamily="34" charset="-120"/>
                        </a:rPr>
                        <a:t>総額の95%をワイン購入、5%を現金保有</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r>
              <a:tr h="306324">
                <a:tc>
                  <a:txBody>
                    <a:bodyPr/>
                    <a:lstStyle/>
                    <a:p>
                      <a:pPr algn="ctr" indent="0" marL="0">
                        <a:buNone/>
                      </a:pPr>
                      <a:r>
                        <a:rPr lang="en-US" sz="850" dirty="0">
                          <a:solidFill>
                            <a:srgbClr val="2B2622"/>
                          </a:solidFill>
                          <a:latin typeface="Meiryo" pitchFamily="34" charset="0"/>
                          <a:ea typeface="Meiryo" pitchFamily="34" charset="-122"/>
                          <a:cs typeface="Meiryo" pitchFamily="34" charset="-120"/>
                        </a:rPr>
                        <a:t>販売チャネル</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l" indent="0" marL="0">
                        <a:buNone/>
                      </a:pPr>
                      <a:r>
                        <a:rPr lang="en-US" sz="850" dirty="0">
                          <a:solidFill>
                            <a:srgbClr val="2B2622"/>
                          </a:solidFill>
                          <a:latin typeface="Meiryo" pitchFamily="34" charset="0"/>
                          <a:ea typeface="Meiryo" pitchFamily="34" charset="-122"/>
                          <a:cs typeface="Meiryo" pitchFamily="34" charset="-120"/>
                        </a:rPr>
                        <a:t>酒販店卸（B2B）と自社EC・オークション（B2C）を半々</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r>
              <a:tr h="306324">
                <a:tc>
                  <a:txBody>
                    <a:bodyPr/>
                    <a:lstStyle/>
                    <a:p>
                      <a:pPr algn="ctr" indent="0" marL="0">
                        <a:buNone/>
                      </a:pPr>
                      <a:r>
                        <a:rPr lang="en-US" sz="850" dirty="0">
                          <a:solidFill>
                            <a:srgbClr val="2B2622"/>
                          </a:solidFill>
                          <a:latin typeface="Meiryo" pitchFamily="34" charset="0"/>
                          <a:ea typeface="Meiryo" pitchFamily="34" charset="-122"/>
                          <a:cs typeface="Meiryo" pitchFamily="34" charset="-120"/>
                        </a:rPr>
                        <a:t>在庫回転目標</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l" indent="0" marL="0">
                        <a:buNone/>
                      </a:pPr>
                      <a:r>
                        <a:rPr lang="en-US" sz="850" b="1" dirty="0">
                          <a:solidFill>
                            <a:srgbClr val="8C6A3A"/>
                          </a:solidFill>
                          <a:latin typeface="Meiryo" pitchFamily="34" charset="0"/>
                          <a:ea typeface="Meiryo" pitchFamily="34" charset="-122"/>
                          <a:cs typeface="Meiryo" pitchFamily="34" charset="-120"/>
                        </a:rPr>
                        <a:t>12ヶ月。最短9ヶ月、延びても15〜18ヶ月を想定レンジとする</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r>
              <a:tr h="306324">
                <a:tc>
                  <a:txBody>
                    <a:bodyPr/>
                    <a:lstStyle/>
                    <a:p>
                      <a:pPr algn="ctr" indent="0" marL="0">
                        <a:buNone/>
                      </a:pPr>
                      <a:r>
                        <a:rPr lang="en-US" sz="850" dirty="0">
                          <a:solidFill>
                            <a:srgbClr val="2B2622"/>
                          </a:solidFill>
                          <a:latin typeface="Meiryo" pitchFamily="34" charset="0"/>
                          <a:ea typeface="Meiryo" pitchFamily="34" charset="-122"/>
                          <a:cs typeface="Meiryo" pitchFamily="34" charset="-120"/>
                        </a:rPr>
                        <a:t>SPC負担費用</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l" indent="0" marL="0">
                        <a:buNone/>
                      </a:pPr>
                      <a:r>
                        <a:rPr lang="en-US" sz="850" dirty="0">
                          <a:solidFill>
                            <a:srgbClr val="2B2622"/>
                          </a:solidFill>
                          <a:latin typeface="Meiryo" pitchFamily="34" charset="0"/>
                          <a:ea typeface="Meiryo" pitchFamily="34" charset="-122"/>
                          <a:cs typeface="Meiryo" pitchFamily="34" charset="-120"/>
                        </a:rPr>
                        <a:t>契約で限定列挙：保管・保険・入出庫・変動販売費／維持費200万・管理報酬・AUP150万・予備費50万。自社販路の手数料は決済込み13%上限</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r>
              <a:tr h="306324">
                <a:tc>
                  <a:txBody>
                    <a:bodyPr/>
                    <a:lstStyle/>
                    <a:p>
                      <a:pPr algn="ctr" indent="0" marL="0">
                        <a:buNone/>
                      </a:pPr>
                      <a:r>
                        <a:rPr lang="en-US" sz="850" dirty="0">
                          <a:solidFill>
                            <a:srgbClr val="2B2622"/>
                          </a:solidFill>
                          <a:latin typeface="Meiryo" pitchFamily="34" charset="0"/>
                          <a:ea typeface="Meiryo" pitchFamily="34" charset="-122"/>
                          <a:cs typeface="Meiryo" pitchFamily="34" charset="-120"/>
                        </a:rPr>
                        <a:t>想定リターン</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l" indent="0" marL="0">
                        <a:buNone/>
                      </a:pPr>
                      <a:r>
                        <a:rPr lang="en-US" sz="850" b="1" dirty="0">
                          <a:solidFill>
                            <a:srgbClr val="8C6A3A"/>
                          </a:solidFill>
                          <a:latin typeface="Meiryo" pitchFamily="34" charset="0"/>
                          <a:ea typeface="Meiryo" pitchFamily="34" charset="-122"/>
                          <a:cs typeface="Meiryo" pitchFamily="34" charset="-120"/>
                        </a:rPr>
                        <a:t>投資家利回り（年平均）20.0%（回転12ヶ月）。フル稼働時の単年は22.5%</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r>
              <a:tr h="306324">
                <a:tc>
                  <a:txBody>
                    <a:bodyPr/>
                    <a:lstStyle/>
                    <a:p>
                      <a:pPr algn="ctr" indent="0" marL="0">
                        <a:buNone/>
                      </a:pPr>
                      <a:r>
                        <a:rPr lang="en-US" sz="850" dirty="0">
                          <a:solidFill>
                            <a:srgbClr val="2B2622"/>
                          </a:solidFill>
                          <a:latin typeface="Meiryo" pitchFamily="34" charset="0"/>
                          <a:ea typeface="Meiryo" pitchFamily="34" charset="-122"/>
                          <a:cs typeface="Meiryo" pitchFamily="34" charset="-120"/>
                        </a:rPr>
                        <a:t>報告・在庫配分</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c>
                  <a:txBody>
                    <a:bodyPr/>
                    <a:lstStyle/>
                    <a:p>
                      <a:pPr algn="l" indent="0" marL="0">
                        <a:buNone/>
                      </a:pPr>
                      <a:r>
                        <a:rPr lang="en-US" sz="850" dirty="0">
                          <a:solidFill>
                            <a:srgbClr val="2B2622"/>
                          </a:solidFill>
                          <a:latin typeface="Meiryo" pitchFamily="34" charset="0"/>
                          <a:ea typeface="Meiryo" pitchFamily="34" charset="-122"/>
                          <a:cs typeface="Meiryo" pitchFamily="34" charset="-120"/>
                        </a:rPr>
                        <a:t>半期：在庫明細・簿価・卸値・売上・試算表（データルームで常時参照）／在庫比率によるプロラタ配分を原則とする</a:t>
                      </a:r>
                      <a:endParaRPr lang="en-US" sz="850" dirty="0">
                        <a:latin typeface="Meiryo" charset="0"/>
                        <a:ea typeface="Meiryo" charset="0"/>
                        <a:cs typeface="Meiryo" charset="0"/>
                      </a:endParaRPr>
                    </a:p>
                  </a:txBody>
                  <a:tcPr marL="45720" marR="45720" marT="45720" marB="45720" anchor="ctr">
                    <a:lnL w="7620" cap="flat" cmpd="sng" algn="ctr">
                      <a:solidFill>
                        <a:srgbClr val="E6DCCB"/>
                      </a:solidFill>
                      <a:prstDash val="solid"/>
                      <a:round/>
                      <a:headEnd type="none" w="med" len="med"/>
                      <a:tailEnd type="none" w="med" len="med"/>
                    </a:lnL>
                    <a:lnR w="7620" cap="flat" cmpd="sng" algn="ctr">
                      <a:solidFill>
                        <a:srgbClr val="E6DCCB"/>
                      </a:solidFill>
                      <a:prstDash val="solid"/>
                      <a:round/>
                      <a:headEnd type="none" w="med" len="med"/>
                      <a:tailEnd type="none" w="med" len="med"/>
                    </a:lnR>
                    <a:lnT w="7620" cap="flat" cmpd="sng" algn="ctr">
                      <a:solidFill>
                        <a:srgbClr val="E6DCCB"/>
                      </a:solidFill>
                      <a:prstDash val="solid"/>
                      <a:round/>
                      <a:headEnd type="none" w="med" len="med"/>
                      <a:tailEnd type="none" w="med" len="med"/>
                    </a:lnT>
                    <a:lnB w="7620" cap="flat" cmpd="sng" algn="ctr">
                      <a:solidFill>
                        <a:srgbClr val="E6DCCB"/>
                      </a:solidFill>
                      <a:prstDash val="solid"/>
                      <a:round/>
                      <a:headEnd type="none" w="med" len="med"/>
                      <a:tailEnd type="none" w="med" len="med"/>
                    </a:lnB>
                    <a:solidFill>
                      <a:srgbClr val="FFFFFF"/>
                    </a:solidFill>
                  </a:tcPr>
                </a:tc>
              </a:tr>
            </a:tbl>
          </a:graphicData>
        </a:graphic>
      </p:graphicFrame>
      <p:sp>
        <p:nvSpPr>
          <p:cNvPr id="10" name="Shape 6"/>
          <p:cNvSpPr/>
          <p:nvPr/>
        </p:nvSpPr>
        <p:spPr>
          <a:xfrm>
            <a:off x="658368" y="5449824"/>
            <a:ext cx="10874959" cy="859536"/>
          </a:xfrm>
          <a:prstGeom prst="roundRect">
            <a:avLst>
              <a:gd name="adj" fmla="val 8511"/>
            </a:avLst>
          </a:prstGeom>
          <a:solidFill>
            <a:srgbClr val="F3E9D6"/>
          </a:solidFill>
          <a:ln w="9525">
            <a:solidFill>
              <a:srgbClr val="C9AE7E"/>
            </a:solidFill>
            <a:prstDash val="solid"/>
          </a:ln>
          <a:effectLst>
            <a:outerShdw sx="100000" sy="100000" kx="0" ky="0" algn="bl" rotWithShape="0" blurRad="76200" dist="25400" dir="5400000">
              <a:srgbClr val="6F665F">
                <a:alpha val="18000"/>
              </a:srgbClr>
            </a:outerShdw>
          </a:effectLst>
        </p:spPr>
      </p:sp>
      <p:sp>
        <p:nvSpPr>
          <p:cNvPr id="11" name="Text 7"/>
          <p:cNvSpPr/>
          <p:nvPr/>
        </p:nvSpPr>
        <p:spPr>
          <a:xfrm>
            <a:off x="932688" y="5541264"/>
            <a:ext cx="5486400" cy="219456"/>
          </a:xfrm>
          <a:prstGeom prst="rect">
            <a:avLst/>
          </a:prstGeom>
          <a:noFill/>
          <a:ln/>
        </p:spPr>
        <p:txBody>
          <a:bodyPr wrap="square" lIns="0" tIns="0" rIns="0" bIns="0" rtlCol="0" anchor="ctr"/>
          <a:lstStyle/>
          <a:p>
            <a:pPr indent="0" marL="0">
              <a:buNone/>
            </a:pPr>
            <a:r>
              <a:rPr lang="en-US" sz="1100" b="1" dirty="0">
                <a:solidFill>
                  <a:srgbClr val="8C6A3A"/>
                </a:solidFill>
                <a:latin typeface="Meiryo" pitchFamily="34" charset="0"/>
                <a:ea typeface="Meiryo" pitchFamily="34" charset="-122"/>
                <a:cs typeface="Meiryo" pitchFamily="34" charset="-120"/>
              </a:rPr>
              <a:t>3年ロックアップが稼働率95%を可能にしている</a:t>
            </a:r>
            <a:endParaRPr lang="en-US" sz="1100" dirty="0"/>
          </a:p>
        </p:txBody>
      </p:sp>
      <p:sp>
        <p:nvSpPr>
          <p:cNvPr id="12" name="Text 8"/>
          <p:cNvSpPr/>
          <p:nvPr/>
        </p:nvSpPr>
        <p:spPr>
          <a:xfrm>
            <a:off x="932688" y="5779008"/>
            <a:ext cx="10326319" cy="438912"/>
          </a:xfrm>
          <a:prstGeom prst="rect">
            <a:avLst/>
          </a:prstGeom>
          <a:noFill/>
          <a:ln/>
        </p:spPr>
        <p:txBody>
          <a:bodyPr wrap="square" lIns="0" tIns="0" rIns="0" bIns="0" rtlCol="0" anchor="ctr"/>
          <a:lstStyle/>
          <a:p>
            <a:pPr indent="0" marL="0">
              <a:lnSpc>
                <a:spcPct val="116000"/>
              </a:lnSpc>
              <a:buNone/>
            </a:pPr>
            <a:r>
              <a:rPr lang="en-US" sz="900" dirty="0">
                <a:solidFill>
                  <a:srgbClr val="6F665F"/>
                </a:solidFill>
                <a:latin typeface="Meiryo" pitchFamily="34" charset="0"/>
                <a:ea typeface="Meiryo" pitchFamily="34" charset="-122"/>
                <a:cs typeface="Meiryo" pitchFamily="34" charset="-120"/>
              </a:rPr>
              <a:t>当初から随時の解約を受け付けると常時1〜3割を現金または即時換金可能な在庫で保有する必要があり、稼働率が下がって利回りも下がる（稼働率95%→85%でフル稼働時の単年の投資家利回りは22.5%→19.8%）。当初3年ロックアップとし、4年目以降の解約は90日前通知・半期末の効力として再購入の留保で支払資金を用意する設計により、現金保有を5%に抑え、総額の95%をワインに充当できる。</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484632"/>
            <a:ext cx="109728" cy="109728"/>
          </a:xfrm>
          <a:prstGeom prst="ellipse">
            <a:avLst/>
          </a:prstGeom>
          <a:solidFill>
            <a:srgbClr val="A78450"/>
          </a:solidFill>
          <a:ln w="12700">
            <a:solidFill>
              <a:srgbClr val="A78450"/>
            </a:solidFill>
            <a:prstDash val="solid"/>
          </a:ln>
        </p:spPr>
      </p:sp>
      <p:sp>
        <p:nvSpPr>
          <p:cNvPr id="3" name="Text 1"/>
          <p:cNvSpPr/>
          <p:nvPr/>
        </p:nvSpPr>
        <p:spPr>
          <a:xfrm>
            <a:off x="923544" y="365760"/>
            <a:ext cx="9601200" cy="329184"/>
          </a:xfrm>
          <a:prstGeom prst="rect">
            <a:avLst/>
          </a:prstGeom>
          <a:noFill/>
          <a:ln/>
        </p:spPr>
        <p:txBody>
          <a:bodyPr wrap="square" lIns="0" tIns="0" rIns="0" bIns="0" rtlCol="0" anchor="ctr"/>
          <a:lstStyle/>
          <a:p>
            <a:pPr indent="0" marL="0">
              <a:buNone/>
            </a:pPr>
            <a:r>
              <a:rPr lang="en-US" sz="1200" b="1" spc="240" kern="0" dirty="0">
                <a:solidFill>
                  <a:srgbClr val="A78450"/>
                </a:solidFill>
                <a:latin typeface="Meiryo" pitchFamily="34" charset="0"/>
                <a:ea typeface="Meiryo" pitchFamily="34" charset="-122"/>
                <a:cs typeface="Meiryo" pitchFamily="34" charset="-120"/>
              </a:rPr>
              <a:t>NEXT STEPS</a:t>
            </a:r>
            <a:endParaRPr lang="en-US" sz="1200" dirty="0"/>
          </a:p>
        </p:txBody>
      </p:sp>
      <p:sp>
        <p:nvSpPr>
          <p:cNvPr id="4" name="Text 2"/>
          <p:cNvSpPr/>
          <p:nvPr/>
        </p:nvSpPr>
        <p:spPr>
          <a:xfrm>
            <a:off x="658368" y="731520"/>
            <a:ext cx="10874959" cy="566928"/>
          </a:xfrm>
          <a:prstGeom prst="rect">
            <a:avLst/>
          </a:prstGeom>
          <a:noFill/>
          <a:ln/>
        </p:spPr>
        <p:txBody>
          <a:bodyPr wrap="square" lIns="0" tIns="0" rIns="0" bIns="0" rtlCol="0" anchor="ctr"/>
          <a:lstStyle/>
          <a:p>
            <a:pPr indent="0" marL="0">
              <a:buNone/>
            </a:pPr>
            <a:r>
              <a:rPr lang="en-US" sz="2600" b="1" dirty="0">
                <a:solidFill>
                  <a:srgbClr val="2B2622"/>
                </a:solidFill>
                <a:latin typeface="Meiryo" pitchFamily="34" charset="0"/>
                <a:ea typeface="Meiryo" pitchFamily="34" charset="-122"/>
                <a:cs typeface="Meiryo" pitchFamily="34" charset="-120"/>
              </a:rPr>
              <a:t>今後の進め方</a:t>
            </a:r>
            <a:endParaRPr lang="en-US" sz="2600" dirty="0"/>
          </a:p>
        </p:txBody>
      </p:sp>
      <p:sp>
        <p:nvSpPr>
          <p:cNvPr id="5" name="Text 3"/>
          <p:cNvSpPr/>
          <p:nvPr/>
        </p:nvSpPr>
        <p:spPr>
          <a:xfrm>
            <a:off x="658368" y="6446520"/>
            <a:ext cx="5486400" cy="256032"/>
          </a:xfrm>
          <a:prstGeom prst="rect">
            <a:avLst/>
          </a:prstGeom>
          <a:noFill/>
          <a:ln/>
        </p:spPr>
        <p:txBody>
          <a:bodyPr wrap="square" lIns="0" tIns="0" rIns="0" bIns="0" rtlCol="0" anchor="ctr"/>
          <a:lstStyle/>
          <a:p>
            <a:pPr indent="0" marL="0">
              <a:buNone/>
            </a:pPr>
            <a:r>
              <a:rPr lang="en-US" sz="900" dirty="0">
                <a:solidFill>
                  <a:srgbClr val="9A8F84"/>
                </a:solidFill>
                <a:latin typeface="Meiryo" pitchFamily="34" charset="0"/>
                <a:ea typeface="Meiryo" pitchFamily="34" charset="-122"/>
                <a:cs typeface="Meiryo" pitchFamily="34" charset="-120"/>
              </a:rPr>
              <a:t>Confidential</a:t>
            </a:r>
            <a:endParaRPr lang="en-US" sz="900" dirty="0"/>
          </a:p>
        </p:txBody>
      </p:sp>
      <p:sp>
        <p:nvSpPr>
          <p:cNvPr id="6" name="Text 4"/>
          <p:cNvSpPr/>
          <p:nvPr/>
        </p:nvSpPr>
        <p:spPr>
          <a:xfrm>
            <a:off x="10984687" y="6446520"/>
            <a:ext cx="548640" cy="256032"/>
          </a:xfrm>
          <a:prstGeom prst="rect">
            <a:avLst/>
          </a:prstGeom>
          <a:noFill/>
          <a:ln/>
        </p:spPr>
        <p:txBody>
          <a:bodyPr wrap="square" lIns="0" tIns="0" rIns="0" bIns="0" rtlCol="0" anchor="ctr"/>
          <a:lstStyle/>
          <a:p>
            <a:pPr algn="r" indent="0" marL="0">
              <a:buNone/>
            </a:pPr>
            <a:r>
              <a:rPr lang="en-US" sz="900" dirty="0">
                <a:solidFill>
                  <a:srgbClr val="9A8F84"/>
                </a:solidFill>
                <a:latin typeface="Meiryo" pitchFamily="34" charset="0"/>
                <a:ea typeface="Meiryo" pitchFamily="34" charset="-122"/>
                <a:cs typeface="Meiryo" pitchFamily="34" charset="-120"/>
              </a:rPr>
              <a:t>21</a:t>
            </a:r>
            <a:endParaRPr lang="en-US" sz="900" dirty="0"/>
          </a:p>
        </p:txBody>
      </p:sp>
      <p:sp>
        <p:nvSpPr>
          <p:cNvPr id="7" name="Shape 5"/>
          <p:cNvSpPr/>
          <p:nvPr/>
        </p:nvSpPr>
        <p:spPr>
          <a:xfrm>
            <a:off x="658368" y="1572768"/>
            <a:ext cx="1999427" cy="2834640"/>
          </a:xfrm>
          <a:prstGeom prst="roundRect">
            <a:avLst>
              <a:gd name="adj" fmla="val 3659"/>
            </a:avLst>
          </a:prstGeom>
          <a:solidFill>
            <a:srgbClr val="F5EFE4"/>
          </a:solidFill>
          <a:ln w="9525">
            <a:solidFill>
              <a:srgbClr val="E6DCCB"/>
            </a:solidFill>
            <a:prstDash val="solid"/>
          </a:ln>
          <a:effectLst>
            <a:outerShdw sx="100000" sy="100000" kx="0" ky="0" algn="bl" rotWithShape="0" blurRad="76200" dist="25400" dir="5400000">
              <a:srgbClr val="6F665F">
                <a:alpha val="18000"/>
              </a:srgbClr>
            </a:outerShdw>
          </a:effectLst>
        </p:spPr>
      </p:sp>
      <p:sp>
        <p:nvSpPr>
          <p:cNvPr id="8" name="Shape 6"/>
          <p:cNvSpPr/>
          <p:nvPr/>
        </p:nvSpPr>
        <p:spPr>
          <a:xfrm>
            <a:off x="877824" y="1792224"/>
            <a:ext cx="365760" cy="365760"/>
          </a:xfrm>
          <a:prstGeom prst="ellipse">
            <a:avLst/>
          </a:prstGeom>
          <a:solidFill>
            <a:srgbClr val="2B2622"/>
          </a:solidFill>
          <a:ln w="12700">
            <a:solidFill>
              <a:srgbClr val="2B2622"/>
            </a:solidFill>
            <a:prstDash val="solid"/>
          </a:ln>
        </p:spPr>
      </p:sp>
      <p:sp>
        <p:nvSpPr>
          <p:cNvPr id="9" name="Text 7"/>
          <p:cNvSpPr/>
          <p:nvPr/>
        </p:nvSpPr>
        <p:spPr>
          <a:xfrm>
            <a:off x="877824" y="179222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pitchFamily="34" charset="0"/>
                <a:ea typeface="Meiryo" pitchFamily="34" charset="-122"/>
                <a:cs typeface="Meiryo" pitchFamily="34" charset="-120"/>
              </a:rPr>
              <a:t>01</a:t>
            </a:r>
            <a:endParaRPr lang="en-US" sz="1200" dirty="0"/>
          </a:p>
        </p:txBody>
      </p:sp>
      <p:sp>
        <p:nvSpPr>
          <p:cNvPr id="10" name="Text 8"/>
          <p:cNvSpPr/>
          <p:nvPr/>
        </p:nvSpPr>
        <p:spPr>
          <a:xfrm>
            <a:off x="877824" y="2304288"/>
            <a:ext cx="1560515" cy="566928"/>
          </a:xfrm>
          <a:prstGeom prst="rect">
            <a:avLst/>
          </a:prstGeom>
          <a:noFill/>
          <a:ln/>
        </p:spPr>
        <p:txBody>
          <a:bodyPr wrap="square" lIns="0" tIns="0" rIns="0" bIns="0" rtlCol="0" anchor="ctr"/>
          <a:lstStyle/>
          <a:p>
            <a:pPr indent="0" marL="0">
              <a:lnSpc>
                <a:spcPct val="115000"/>
              </a:lnSpc>
              <a:buNone/>
            </a:pPr>
            <a:r>
              <a:rPr lang="en-US" sz="1200" b="1" dirty="0">
                <a:solidFill>
                  <a:srgbClr val="2B2622"/>
                </a:solidFill>
                <a:latin typeface="Meiryo" pitchFamily="34" charset="0"/>
                <a:ea typeface="Meiryo" pitchFamily="34" charset="-122"/>
                <a:cs typeface="Meiryo" pitchFamily="34" charset="-120"/>
              </a:rPr>
              <a:t>前提条件のすり合わせ</a:t>
            </a:r>
            <a:endParaRPr lang="en-US" sz="1200" dirty="0"/>
          </a:p>
        </p:txBody>
      </p:sp>
      <p:sp>
        <p:nvSpPr>
          <p:cNvPr id="11" name="Text 9"/>
          <p:cNvSpPr/>
          <p:nvPr/>
        </p:nvSpPr>
        <p:spPr>
          <a:xfrm>
            <a:off x="877824" y="2926080"/>
            <a:ext cx="1560515" cy="1298448"/>
          </a:xfrm>
          <a:prstGeom prst="rect">
            <a:avLst/>
          </a:prstGeom>
          <a:noFill/>
          <a:ln/>
        </p:spPr>
        <p:txBody>
          <a:bodyPr wrap="square" lIns="0" tIns="0" rIns="0" bIns="0" rtlCol="0" anchor="ctr"/>
          <a:lstStyle/>
          <a:p>
            <a:pPr indent="0" marL="0">
              <a:lnSpc>
                <a:spcPct val="126000"/>
              </a:lnSpc>
              <a:buNone/>
            </a:pPr>
            <a:r>
              <a:rPr lang="en-US" sz="950" dirty="0">
                <a:solidFill>
                  <a:srgbClr val="6F665F"/>
                </a:solidFill>
                <a:latin typeface="Meiryo" pitchFamily="34" charset="0"/>
                <a:ea typeface="Meiryo" pitchFamily="34" charset="-122"/>
                <a:cs typeface="Meiryo" pitchFamily="34" charset="-120"/>
              </a:rPr>
              <a:t>想定回転期間・販売チャネル構成・解約条件、および卸値の控除率α（24.5%。年平均20%を基礎）と管理報酬2%の水準についてご意見をいただく。</a:t>
            </a:r>
            <a:endParaRPr lang="en-US" sz="950" dirty="0"/>
          </a:p>
        </p:txBody>
      </p:sp>
      <p:sp>
        <p:nvSpPr>
          <p:cNvPr id="12" name="Shape 10"/>
          <p:cNvSpPr/>
          <p:nvPr/>
        </p:nvSpPr>
        <p:spPr>
          <a:xfrm>
            <a:off x="2877251" y="1572768"/>
            <a:ext cx="1999427" cy="2834640"/>
          </a:xfrm>
          <a:prstGeom prst="roundRect">
            <a:avLst>
              <a:gd name="adj" fmla="val 3659"/>
            </a:avLst>
          </a:prstGeom>
          <a:solidFill>
            <a:srgbClr val="F3E9D6"/>
          </a:solidFill>
          <a:ln w="9525">
            <a:solidFill>
              <a:srgbClr val="C9AE7E"/>
            </a:solidFill>
            <a:prstDash val="solid"/>
          </a:ln>
          <a:effectLst>
            <a:outerShdw sx="100000" sy="100000" kx="0" ky="0" algn="bl" rotWithShape="0" blurRad="76200" dist="25400" dir="5400000">
              <a:srgbClr val="6F665F">
                <a:alpha val="18000"/>
              </a:srgbClr>
            </a:outerShdw>
          </a:effectLst>
        </p:spPr>
      </p:sp>
      <p:sp>
        <p:nvSpPr>
          <p:cNvPr id="13" name="Shape 11"/>
          <p:cNvSpPr/>
          <p:nvPr/>
        </p:nvSpPr>
        <p:spPr>
          <a:xfrm>
            <a:off x="3096707" y="1792224"/>
            <a:ext cx="365760" cy="365760"/>
          </a:xfrm>
          <a:prstGeom prst="ellipse">
            <a:avLst/>
          </a:prstGeom>
          <a:solidFill>
            <a:srgbClr val="2B2622"/>
          </a:solidFill>
          <a:ln w="12700">
            <a:solidFill>
              <a:srgbClr val="2B2622"/>
            </a:solidFill>
            <a:prstDash val="solid"/>
          </a:ln>
        </p:spPr>
      </p:sp>
      <p:sp>
        <p:nvSpPr>
          <p:cNvPr id="14" name="Text 12"/>
          <p:cNvSpPr/>
          <p:nvPr/>
        </p:nvSpPr>
        <p:spPr>
          <a:xfrm>
            <a:off x="3096707" y="179222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pitchFamily="34" charset="0"/>
                <a:ea typeface="Meiryo" pitchFamily="34" charset="-122"/>
                <a:cs typeface="Meiryo" pitchFamily="34" charset="-120"/>
              </a:rPr>
              <a:t>02</a:t>
            </a:r>
            <a:endParaRPr lang="en-US" sz="1200" dirty="0"/>
          </a:p>
        </p:txBody>
      </p:sp>
      <p:sp>
        <p:nvSpPr>
          <p:cNvPr id="15" name="Text 13"/>
          <p:cNvSpPr/>
          <p:nvPr/>
        </p:nvSpPr>
        <p:spPr>
          <a:xfrm>
            <a:off x="3096707" y="2304288"/>
            <a:ext cx="1560515" cy="566928"/>
          </a:xfrm>
          <a:prstGeom prst="rect">
            <a:avLst/>
          </a:prstGeom>
          <a:noFill/>
          <a:ln/>
        </p:spPr>
        <p:txBody>
          <a:bodyPr wrap="square" lIns="0" tIns="0" rIns="0" bIns="0" rtlCol="0" anchor="ctr"/>
          <a:lstStyle/>
          <a:p>
            <a:pPr indent="0" marL="0">
              <a:lnSpc>
                <a:spcPct val="115000"/>
              </a:lnSpc>
              <a:buNone/>
            </a:pPr>
            <a:r>
              <a:rPr lang="en-US" sz="1200" b="1" dirty="0">
                <a:solidFill>
                  <a:srgbClr val="2B2622"/>
                </a:solidFill>
                <a:latin typeface="Meiryo" pitchFamily="34" charset="0"/>
                <a:ea typeface="Meiryo" pitchFamily="34" charset="-122"/>
                <a:cs typeface="Meiryo" pitchFamily="34" charset="-120"/>
              </a:rPr>
              <a:t>卸値ルールの確定</a:t>
            </a:r>
            <a:endParaRPr lang="en-US" sz="1200" dirty="0"/>
          </a:p>
        </p:txBody>
      </p:sp>
      <p:sp>
        <p:nvSpPr>
          <p:cNvPr id="16" name="Text 14"/>
          <p:cNvSpPr/>
          <p:nvPr/>
        </p:nvSpPr>
        <p:spPr>
          <a:xfrm>
            <a:off x="3096707" y="2926080"/>
            <a:ext cx="1560515" cy="1298448"/>
          </a:xfrm>
          <a:prstGeom prst="rect">
            <a:avLst/>
          </a:prstGeom>
          <a:noFill/>
          <a:ln/>
        </p:spPr>
        <p:txBody>
          <a:bodyPr wrap="square" lIns="0" tIns="0" rIns="0" bIns="0" rtlCol="0" anchor="ctr"/>
          <a:lstStyle/>
          <a:p>
            <a:pPr indent="0" marL="0">
              <a:lnSpc>
                <a:spcPct val="126000"/>
              </a:lnSpc>
              <a:buNone/>
            </a:pPr>
            <a:r>
              <a:rPr lang="en-US" sz="950" dirty="0">
                <a:solidFill>
                  <a:srgbClr val="6F665F"/>
                </a:solidFill>
                <a:latin typeface="Meiryo" pitchFamily="34" charset="0"/>
                <a:ea typeface="Meiryo" pitchFamily="34" charset="-122"/>
                <a:cs typeface="Meiryo" pitchFamily="34" charset="-120"/>
              </a:rPr>
              <a:t>時価の算定方法（B2B卸値とB2C売値の加重平均）とαを契約上固定する。第三者卸価格との比較資料を整備し、移転価格上の説明責任を果たせる状態にする。</a:t>
            </a:r>
            <a:endParaRPr lang="en-US" sz="950" dirty="0"/>
          </a:p>
        </p:txBody>
      </p:sp>
      <p:sp>
        <p:nvSpPr>
          <p:cNvPr id="17" name="Shape 15"/>
          <p:cNvSpPr/>
          <p:nvPr/>
        </p:nvSpPr>
        <p:spPr>
          <a:xfrm>
            <a:off x="5096134" y="1572768"/>
            <a:ext cx="1999427" cy="2834640"/>
          </a:xfrm>
          <a:prstGeom prst="roundRect">
            <a:avLst>
              <a:gd name="adj" fmla="val 3659"/>
            </a:avLst>
          </a:prstGeom>
          <a:solidFill>
            <a:srgbClr val="F5EFE4"/>
          </a:solidFill>
          <a:ln w="9525">
            <a:solidFill>
              <a:srgbClr val="E6DCCB"/>
            </a:solidFill>
            <a:prstDash val="solid"/>
          </a:ln>
          <a:effectLst>
            <a:outerShdw sx="100000" sy="100000" kx="0" ky="0" algn="bl" rotWithShape="0" blurRad="76200" dist="25400" dir="5400000">
              <a:srgbClr val="6F665F">
                <a:alpha val="18000"/>
              </a:srgbClr>
            </a:outerShdw>
          </a:effectLst>
        </p:spPr>
      </p:sp>
      <p:sp>
        <p:nvSpPr>
          <p:cNvPr id="18" name="Shape 16"/>
          <p:cNvSpPr/>
          <p:nvPr/>
        </p:nvSpPr>
        <p:spPr>
          <a:xfrm>
            <a:off x="5315590" y="1792224"/>
            <a:ext cx="365760" cy="365760"/>
          </a:xfrm>
          <a:prstGeom prst="ellipse">
            <a:avLst/>
          </a:prstGeom>
          <a:solidFill>
            <a:srgbClr val="2B2622"/>
          </a:solidFill>
          <a:ln w="12700">
            <a:solidFill>
              <a:srgbClr val="2B2622"/>
            </a:solidFill>
            <a:prstDash val="solid"/>
          </a:ln>
        </p:spPr>
      </p:sp>
      <p:sp>
        <p:nvSpPr>
          <p:cNvPr id="19" name="Text 17"/>
          <p:cNvSpPr/>
          <p:nvPr/>
        </p:nvSpPr>
        <p:spPr>
          <a:xfrm>
            <a:off x="5315590" y="179222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pitchFamily="34" charset="0"/>
                <a:ea typeface="Meiryo" pitchFamily="34" charset="-122"/>
                <a:cs typeface="Meiryo" pitchFamily="34" charset="-120"/>
              </a:rPr>
              <a:t>03</a:t>
            </a:r>
            <a:endParaRPr lang="en-US" sz="1200" dirty="0"/>
          </a:p>
        </p:txBody>
      </p:sp>
      <p:sp>
        <p:nvSpPr>
          <p:cNvPr id="20" name="Text 18"/>
          <p:cNvSpPr/>
          <p:nvPr/>
        </p:nvSpPr>
        <p:spPr>
          <a:xfrm>
            <a:off x="5315590" y="2304288"/>
            <a:ext cx="1560515" cy="566928"/>
          </a:xfrm>
          <a:prstGeom prst="rect">
            <a:avLst/>
          </a:prstGeom>
          <a:noFill/>
          <a:ln/>
        </p:spPr>
        <p:txBody>
          <a:bodyPr wrap="square" lIns="0" tIns="0" rIns="0" bIns="0" rtlCol="0" anchor="ctr"/>
          <a:lstStyle/>
          <a:p>
            <a:pPr indent="0" marL="0">
              <a:lnSpc>
                <a:spcPct val="115000"/>
              </a:lnSpc>
              <a:buNone/>
            </a:pPr>
            <a:r>
              <a:rPr lang="en-US" sz="1200" b="1" dirty="0">
                <a:solidFill>
                  <a:srgbClr val="2B2622"/>
                </a:solidFill>
                <a:latin typeface="Meiryo" pitchFamily="34" charset="0"/>
                <a:ea typeface="Meiryo" pitchFamily="34" charset="-122"/>
                <a:cs typeface="Meiryo" pitchFamily="34" charset="-120"/>
              </a:rPr>
              <a:t>免許・税務の確定</a:t>
            </a:r>
            <a:endParaRPr lang="en-US" sz="1200" dirty="0"/>
          </a:p>
        </p:txBody>
      </p:sp>
      <p:sp>
        <p:nvSpPr>
          <p:cNvPr id="21" name="Text 19"/>
          <p:cNvSpPr/>
          <p:nvPr/>
        </p:nvSpPr>
        <p:spPr>
          <a:xfrm>
            <a:off x="5315590" y="2926080"/>
            <a:ext cx="1560515" cy="1298448"/>
          </a:xfrm>
          <a:prstGeom prst="rect">
            <a:avLst/>
          </a:prstGeom>
          <a:noFill/>
          <a:ln/>
        </p:spPr>
        <p:txBody>
          <a:bodyPr wrap="square" lIns="0" tIns="0" rIns="0" bIns="0" rtlCol="0" anchor="ctr"/>
          <a:lstStyle/>
          <a:p>
            <a:pPr indent="0" marL="0">
              <a:lnSpc>
                <a:spcPct val="126000"/>
              </a:lnSpc>
              <a:buNone/>
            </a:pPr>
            <a:r>
              <a:rPr lang="en-US" sz="950" dirty="0">
                <a:solidFill>
                  <a:srgbClr val="6F665F"/>
                </a:solidFill>
                <a:latin typeface="Meiryo" pitchFamily="34" charset="0"/>
                <a:ea typeface="Meiryo" pitchFamily="34" charset="-122"/>
                <a:cs typeface="Meiryo" pitchFamily="34" charset="-120"/>
              </a:rPr>
              <a:t>SPCの免許要否と売買形態、酒類の現物出資の取扱い、WineBank出資分に対応する内部利益の会計処理を所轄税務署・顧問弁護士・公認会計士と確認する。</a:t>
            </a:r>
            <a:endParaRPr lang="en-US" sz="950" dirty="0"/>
          </a:p>
        </p:txBody>
      </p:sp>
      <p:sp>
        <p:nvSpPr>
          <p:cNvPr id="22" name="Shape 20"/>
          <p:cNvSpPr/>
          <p:nvPr/>
        </p:nvSpPr>
        <p:spPr>
          <a:xfrm>
            <a:off x="7315017" y="1572768"/>
            <a:ext cx="1999427" cy="2834640"/>
          </a:xfrm>
          <a:prstGeom prst="roundRect">
            <a:avLst>
              <a:gd name="adj" fmla="val 3659"/>
            </a:avLst>
          </a:prstGeom>
          <a:solidFill>
            <a:srgbClr val="F5EFE4"/>
          </a:solidFill>
          <a:ln w="9525">
            <a:solidFill>
              <a:srgbClr val="E6DCCB"/>
            </a:solidFill>
            <a:prstDash val="solid"/>
          </a:ln>
          <a:effectLst>
            <a:outerShdw sx="100000" sy="100000" kx="0" ky="0" algn="bl" rotWithShape="0" blurRad="76200" dist="25400" dir="5400000">
              <a:srgbClr val="6F665F">
                <a:alpha val="18000"/>
              </a:srgbClr>
            </a:outerShdw>
          </a:effectLst>
        </p:spPr>
      </p:sp>
      <p:sp>
        <p:nvSpPr>
          <p:cNvPr id="23" name="Shape 21"/>
          <p:cNvSpPr/>
          <p:nvPr/>
        </p:nvSpPr>
        <p:spPr>
          <a:xfrm>
            <a:off x="7534473" y="1792224"/>
            <a:ext cx="365760" cy="365760"/>
          </a:xfrm>
          <a:prstGeom prst="ellipse">
            <a:avLst/>
          </a:prstGeom>
          <a:solidFill>
            <a:srgbClr val="2B2622"/>
          </a:solidFill>
          <a:ln w="12700">
            <a:solidFill>
              <a:srgbClr val="2B2622"/>
            </a:solidFill>
            <a:prstDash val="solid"/>
          </a:ln>
        </p:spPr>
      </p:sp>
      <p:sp>
        <p:nvSpPr>
          <p:cNvPr id="24" name="Text 22"/>
          <p:cNvSpPr/>
          <p:nvPr/>
        </p:nvSpPr>
        <p:spPr>
          <a:xfrm>
            <a:off x="7534473" y="179222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pitchFamily="34" charset="0"/>
                <a:ea typeface="Meiryo" pitchFamily="34" charset="-122"/>
                <a:cs typeface="Meiryo" pitchFamily="34" charset="-120"/>
              </a:rPr>
              <a:t>04</a:t>
            </a:r>
            <a:endParaRPr lang="en-US" sz="1200" dirty="0"/>
          </a:p>
        </p:txBody>
      </p:sp>
      <p:sp>
        <p:nvSpPr>
          <p:cNvPr id="25" name="Text 23"/>
          <p:cNvSpPr/>
          <p:nvPr/>
        </p:nvSpPr>
        <p:spPr>
          <a:xfrm>
            <a:off x="7534473" y="2304288"/>
            <a:ext cx="1560515" cy="566928"/>
          </a:xfrm>
          <a:prstGeom prst="rect">
            <a:avLst/>
          </a:prstGeom>
          <a:noFill/>
          <a:ln/>
        </p:spPr>
        <p:txBody>
          <a:bodyPr wrap="square" lIns="0" tIns="0" rIns="0" bIns="0" rtlCol="0" anchor="ctr"/>
          <a:lstStyle/>
          <a:p>
            <a:pPr indent="0" marL="0">
              <a:lnSpc>
                <a:spcPct val="115000"/>
              </a:lnSpc>
              <a:buNone/>
            </a:pPr>
            <a:r>
              <a:rPr lang="en-US" sz="1200" b="1" dirty="0">
                <a:solidFill>
                  <a:srgbClr val="2B2622"/>
                </a:solidFill>
                <a:latin typeface="Meiryo" pitchFamily="34" charset="0"/>
                <a:ea typeface="Meiryo" pitchFamily="34" charset="-122"/>
                <a:cs typeface="Meiryo" pitchFamily="34" charset="-120"/>
              </a:rPr>
              <a:t>調達枠の確保と実証</a:t>
            </a:r>
            <a:endParaRPr lang="en-US" sz="1200" dirty="0"/>
          </a:p>
        </p:txBody>
      </p:sp>
      <p:sp>
        <p:nvSpPr>
          <p:cNvPr id="26" name="Text 24"/>
          <p:cNvSpPr/>
          <p:nvPr/>
        </p:nvSpPr>
        <p:spPr>
          <a:xfrm>
            <a:off x="7534473" y="2926080"/>
            <a:ext cx="1560515" cy="1298448"/>
          </a:xfrm>
          <a:prstGeom prst="rect">
            <a:avLst/>
          </a:prstGeom>
          <a:noFill/>
          <a:ln/>
        </p:spPr>
        <p:txBody>
          <a:bodyPr wrap="square" lIns="0" tIns="0" rIns="0" bIns="0" rtlCol="0" anchor="ctr"/>
          <a:lstStyle/>
          <a:p>
            <a:pPr indent="0" marL="0">
              <a:lnSpc>
                <a:spcPct val="126000"/>
              </a:lnSpc>
              <a:buNone/>
            </a:pPr>
            <a:r>
              <a:rPr lang="en-US" sz="950" dirty="0">
                <a:solidFill>
                  <a:srgbClr val="6F665F"/>
                </a:solidFill>
                <a:latin typeface="Meiryo" pitchFamily="34" charset="0"/>
                <a:ea typeface="Meiryo" pitchFamily="34" charset="-122"/>
                <a:cs typeface="Meiryo" pitchFamily="34" charset="-120"/>
              </a:rPr>
              <a:t>インポーター・酒販店との年間調達枠を締結し、小規模ロットで回転期間とチャネル別手数料の実証を行う。</a:t>
            </a:r>
            <a:endParaRPr lang="en-US" sz="950" dirty="0"/>
          </a:p>
        </p:txBody>
      </p:sp>
      <p:sp>
        <p:nvSpPr>
          <p:cNvPr id="27" name="Shape 25"/>
          <p:cNvSpPr/>
          <p:nvPr/>
        </p:nvSpPr>
        <p:spPr>
          <a:xfrm>
            <a:off x="9533900" y="1572768"/>
            <a:ext cx="1999427" cy="2834640"/>
          </a:xfrm>
          <a:prstGeom prst="roundRect">
            <a:avLst>
              <a:gd name="adj" fmla="val 3659"/>
            </a:avLst>
          </a:prstGeom>
          <a:solidFill>
            <a:srgbClr val="F5EFE4"/>
          </a:solidFill>
          <a:ln w="9525">
            <a:solidFill>
              <a:srgbClr val="E6DCCB"/>
            </a:solidFill>
            <a:prstDash val="solid"/>
          </a:ln>
          <a:effectLst>
            <a:outerShdw sx="100000" sy="100000" kx="0" ky="0" algn="bl" rotWithShape="0" blurRad="76200" dist="25400" dir="5400000">
              <a:srgbClr val="6F665F">
                <a:alpha val="18000"/>
              </a:srgbClr>
            </a:outerShdw>
          </a:effectLst>
        </p:spPr>
      </p:sp>
      <p:sp>
        <p:nvSpPr>
          <p:cNvPr id="28" name="Shape 26"/>
          <p:cNvSpPr/>
          <p:nvPr/>
        </p:nvSpPr>
        <p:spPr>
          <a:xfrm>
            <a:off x="9753356" y="1792224"/>
            <a:ext cx="365760" cy="365760"/>
          </a:xfrm>
          <a:prstGeom prst="ellipse">
            <a:avLst/>
          </a:prstGeom>
          <a:solidFill>
            <a:srgbClr val="2B2622"/>
          </a:solidFill>
          <a:ln w="12700">
            <a:solidFill>
              <a:srgbClr val="2B2622"/>
            </a:solidFill>
            <a:prstDash val="solid"/>
          </a:ln>
        </p:spPr>
      </p:sp>
      <p:sp>
        <p:nvSpPr>
          <p:cNvPr id="29" name="Text 27"/>
          <p:cNvSpPr/>
          <p:nvPr/>
        </p:nvSpPr>
        <p:spPr>
          <a:xfrm>
            <a:off x="9753356" y="179222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pitchFamily="34" charset="0"/>
                <a:ea typeface="Meiryo" pitchFamily="34" charset="-122"/>
                <a:cs typeface="Meiryo" pitchFamily="34" charset="-120"/>
              </a:rPr>
              <a:t>05</a:t>
            </a:r>
            <a:endParaRPr lang="en-US" sz="1200" dirty="0"/>
          </a:p>
        </p:txBody>
      </p:sp>
      <p:sp>
        <p:nvSpPr>
          <p:cNvPr id="30" name="Text 28"/>
          <p:cNvSpPr/>
          <p:nvPr/>
        </p:nvSpPr>
        <p:spPr>
          <a:xfrm>
            <a:off x="9753356" y="2304288"/>
            <a:ext cx="1560515" cy="566928"/>
          </a:xfrm>
          <a:prstGeom prst="rect">
            <a:avLst/>
          </a:prstGeom>
          <a:noFill/>
          <a:ln/>
        </p:spPr>
        <p:txBody>
          <a:bodyPr wrap="square" lIns="0" tIns="0" rIns="0" bIns="0" rtlCol="0" anchor="ctr"/>
          <a:lstStyle/>
          <a:p>
            <a:pPr indent="0" marL="0">
              <a:lnSpc>
                <a:spcPct val="115000"/>
              </a:lnSpc>
              <a:buNone/>
            </a:pPr>
            <a:r>
              <a:rPr lang="en-US" sz="1200" b="1" dirty="0">
                <a:solidFill>
                  <a:srgbClr val="2B2622"/>
                </a:solidFill>
                <a:latin typeface="Meiryo" pitchFamily="34" charset="0"/>
                <a:ea typeface="Meiryo" pitchFamily="34" charset="-122"/>
                <a:cs typeface="Meiryo" pitchFamily="34" charset="-120"/>
              </a:rPr>
              <a:t>ファーストクローズと実証</a:t>
            </a:r>
            <a:endParaRPr lang="en-US" sz="1200" dirty="0"/>
          </a:p>
        </p:txBody>
      </p:sp>
      <p:sp>
        <p:nvSpPr>
          <p:cNvPr id="31" name="Text 29"/>
          <p:cNvSpPr/>
          <p:nvPr/>
        </p:nvSpPr>
        <p:spPr>
          <a:xfrm>
            <a:off x="9753356" y="2926080"/>
            <a:ext cx="1560515" cy="1298448"/>
          </a:xfrm>
          <a:prstGeom prst="rect">
            <a:avLst/>
          </a:prstGeom>
          <a:noFill/>
          <a:ln/>
        </p:spPr>
        <p:txBody>
          <a:bodyPr wrap="square" lIns="0" tIns="0" rIns="0" bIns="0" rtlCol="0" anchor="ctr"/>
          <a:lstStyle/>
          <a:p>
            <a:pPr indent="0" marL="0">
              <a:lnSpc>
                <a:spcPct val="126000"/>
              </a:lnSpc>
              <a:buNone/>
            </a:pPr>
            <a:r>
              <a:rPr lang="en-US" sz="950" dirty="0">
                <a:solidFill>
                  <a:srgbClr val="6F665F"/>
                </a:solidFill>
                <a:latin typeface="Meiryo" pitchFamily="34" charset="0"/>
                <a:ea typeface="Meiryo" pitchFamily="34" charset="-122"/>
                <a:cs typeface="Meiryo" pitchFamily="34" charset="-120"/>
              </a:rPr>
              <a:t>総額5億円で組成し運用開始。回転12ヶ月の実績を確認したうえで、年度内のセカンドクローズ（総額10億円）を判断する。</a:t>
            </a:r>
            <a:endParaRPr lang="en-US" sz="950" dirty="0"/>
          </a:p>
        </p:txBody>
      </p:sp>
      <p:sp>
        <p:nvSpPr>
          <p:cNvPr id="32" name="Shape 30"/>
          <p:cNvSpPr/>
          <p:nvPr/>
        </p:nvSpPr>
        <p:spPr>
          <a:xfrm>
            <a:off x="658368" y="4608576"/>
            <a:ext cx="10874959" cy="969264"/>
          </a:xfrm>
          <a:prstGeom prst="roundRect">
            <a:avLst>
              <a:gd name="adj" fmla="val 7547"/>
            </a:avLst>
          </a:prstGeom>
          <a:solidFill>
            <a:srgbClr val="F5EFE4"/>
          </a:solidFill>
          <a:ln w="9525">
            <a:solidFill>
              <a:srgbClr val="E6DCCB"/>
            </a:solidFill>
            <a:prstDash val="solid"/>
          </a:ln>
          <a:effectLst>
            <a:outerShdw sx="100000" sy="100000" kx="0" ky="0" algn="bl" rotWithShape="0" blurRad="76200" dist="25400" dir="5400000">
              <a:srgbClr val="6F665F">
                <a:alpha val="18000"/>
              </a:srgbClr>
            </a:outerShdw>
          </a:effectLst>
        </p:spPr>
      </p:sp>
      <p:sp>
        <p:nvSpPr>
          <p:cNvPr id="33" name="Text 31"/>
          <p:cNvSpPr/>
          <p:nvPr/>
        </p:nvSpPr>
        <p:spPr>
          <a:xfrm>
            <a:off x="932688" y="4754880"/>
            <a:ext cx="10326319" cy="676656"/>
          </a:xfrm>
          <a:prstGeom prst="rect">
            <a:avLst/>
          </a:prstGeom>
          <a:noFill/>
          <a:ln/>
        </p:spPr>
        <p:txBody>
          <a:bodyPr wrap="square" lIns="0" tIns="0" rIns="0" bIns="0" rtlCol="0" anchor="ctr"/>
          <a:lstStyle/>
          <a:p>
            <a:pPr indent="0" marL="0">
              <a:lnSpc>
                <a:spcPct val="124000"/>
              </a:lnSpc>
              <a:buNone/>
            </a:pPr>
            <a:r>
              <a:rPr lang="en-US" sz="1000" dirty="0">
                <a:solidFill>
                  <a:srgbClr val="6F665F"/>
                </a:solidFill>
                <a:latin typeface="Meiryo" pitchFamily="34" charset="0"/>
                <a:ea typeface="Meiryo" pitchFamily="34" charset="-122"/>
                <a:cs typeface="Meiryo" pitchFamily="34" charset="-120"/>
              </a:rPr>
              <a:t>本資料の数値は一定の前提に基づく試算であり、将来の運用成果を保証するものではありません。最終的な条件は契約書に基づきます。免許・税務の取扱いおよび卸値の算定は、所轄官庁および専門家の確認を経て確定します。</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484632"/>
            <a:ext cx="109728" cy="109728"/>
          </a:xfrm>
          <a:prstGeom prst="ellipse">
            <a:avLst/>
          </a:prstGeom>
          <a:solidFill>
            <a:srgbClr val="A78450"/>
          </a:solidFill>
          <a:ln w="12700">
            <a:solidFill>
              <a:srgbClr val="A78450"/>
            </a:solidFill>
            <a:prstDash val="solid"/>
          </a:ln>
        </p:spPr>
      </p:sp>
      <p:sp>
        <p:nvSpPr>
          <p:cNvPr id="3" name="Text 1"/>
          <p:cNvSpPr/>
          <p:nvPr/>
        </p:nvSpPr>
        <p:spPr>
          <a:xfrm>
            <a:off x="923544" y="365760"/>
            <a:ext cx="9601200" cy="329184"/>
          </a:xfrm>
          <a:prstGeom prst="rect">
            <a:avLst/>
          </a:prstGeom>
          <a:noFill/>
          <a:ln/>
        </p:spPr>
        <p:txBody>
          <a:bodyPr wrap="square" lIns="0" tIns="0" rIns="0" bIns="0" rtlCol="0" anchor="ctr"/>
          <a:lstStyle/>
          <a:p>
            <a:pPr indent="0" marL="0">
              <a:buNone/>
            </a:pPr>
            <a:r>
              <a:rPr lang="en-US" sz="1200" b="1" spc="240" kern="0" dirty="0">
                <a:solidFill>
                  <a:srgbClr val="A78450"/>
                </a:solidFill>
                <a:latin typeface="Meiryo" pitchFamily="34" charset="0"/>
                <a:ea typeface="Meiryo" pitchFamily="34" charset="-122"/>
                <a:cs typeface="Meiryo" pitchFamily="34" charset="-120"/>
              </a:rPr>
              <a:t>CONCLUSION</a:t>
            </a:r>
            <a:endParaRPr lang="en-US" sz="1200" dirty="0"/>
          </a:p>
        </p:txBody>
      </p:sp>
      <p:sp>
        <p:nvSpPr>
          <p:cNvPr id="4" name="Text 2"/>
          <p:cNvSpPr/>
          <p:nvPr/>
        </p:nvSpPr>
        <p:spPr>
          <a:xfrm>
            <a:off x="658368" y="731520"/>
            <a:ext cx="10874959" cy="566928"/>
          </a:xfrm>
          <a:prstGeom prst="rect">
            <a:avLst/>
          </a:prstGeom>
          <a:noFill/>
          <a:ln/>
        </p:spPr>
        <p:txBody>
          <a:bodyPr wrap="square" lIns="0" tIns="0" rIns="0" bIns="0" rtlCol="0" anchor="ctr"/>
          <a:lstStyle/>
          <a:p>
            <a:pPr indent="0" marL="0">
              <a:buNone/>
            </a:pPr>
            <a:r>
              <a:rPr lang="en-US" sz="2600" b="1" dirty="0">
                <a:solidFill>
                  <a:srgbClr val="2B2622"/>
                </a:solidFill>
                <a:latin typeface="Meiryo" pitchFamily="34" charset="0"/>
                <a:ea typeface="Meiryo" pitchFamily="34" charset="-122"/>
                <a:cs typeface="Meiryo" pitchFamily="34" charset="-120"/>
              </a:rPr>
              <a:t>まとめ：本ファンドに出資いただく意義</a:t>
            </a:r>
            <a:endParaRPr lang="en-US" sz="2600" dirty="0"/>
          </a:p>
        </p:txBody>
      </p:sp>
      <p:sp>
        <p:nvSpPr>
          <p:cNvPr id="5" name="Text 3"/>
          <p:cNvSpPr/>
          <p:nvPr/>
        </p:nvSpPr>
        <p:spPr>
          <a:xfrm>
            <a:off x="658368" y="6446520"/>
            <a:ext cx="5486400" cy="256032"/>
          </a:xfrm>
          <a:prstGeom prst="rect">
            <a:avLst/>
          </a:prstGeom>
          <a:noFill/>
          <a:ln/>
        </p:spPr>
        <p:txBody>
          <a:bodyPr wrap="square" lIns="0" tIns="0" rIns="0" bIns="0" rtlCol="0" anchor="ctr"/>
          <a:lstStyle/>
          <a:p>
            <a:pPr indent="0" marL="0">
              <a:buNone/>
            </a:pPr>
            <a:r>
              <a:rPr lang="en-US" sz="900" dirty="0">
                <a:solidFill>
                  <a:srgbClr val="9A8F84"/>
                </a:solidFill>
                <a:latin typeface="Meiryo" pitchFamily="34" charset="0"/>
                <a:ea typeface="Meiryo" pitchFamily="34" charset="-122"/>
                <a:cs typeface="Meiryo" pitchFamily="34" charset="-120"/>
              </a:rPr>
              <a:t>Confidential</a:t>
            </a:r>
            <a:endParaRPr lang="en-US" sz="900" dirty="0"/>
          </a:p>
        </p:txBody>
      </p:sp>
      <p:sp>
        <p:nvSpPr>
          <p:cNvPr id="6" name="Text 4"/>
          <p:cNvSpPr/>
          <p:nvPr/>
        </p:nvSpPr>
        <p:spPr>
          <a:xfrm>
            <a:off x="10984687" y="6446520"/>
            <a:ext cx="548640" cy="256032"/>
          </a:xfrm>
          <a:prstGeom prst="rect">
            <a:avLst/>
          </a:prstGeom>
          <a:noFill/>
          <a:ln/>
        </p:spPr>
        <p:txBody>
          <a:bodyPr wrap="square" lIns="0" tIns="0" rIns="0" bIns="0" rtlCol="0" anchor="ctr"/>
          <a:lstStyle/>
          <a:p>
            <a:pPr algn="r" indent="0" marL="0">
              <a:buNone/>
            </a:pPr>
            <a:r>
              <a:rPr lang="en-US" sz="900" dirty="0">
                <a:solidFill>
                  <a:srgbClr val="9A8F84"/>
                </a:solidFill>
                <a:latin typeface="Meiryo" pitchFamily="34" charset="0"/>
                <a:ea typeface="Meiryo" pitchFamily="34" charset="-122"/>
                <a:cs typeface="Meiryo" pitchFamily="34" charset="-120"/>
              </a:rPr>
              <a:t>22</a:t>
            </a:r>
            <a:endParaRPr lang="en-US" sz="900" dirty="0"/>
          </a:p>
        </p:txBody>
      </p:sp>
      <p:sp>
        <p:nvSpPr>
          <p:cNvPr id="7" name="Shape 5"/>
          <p:cNvSpPr/>
          <p:nvPr/>
        </p:nvSpPr>
        <p:spPr>
          <a:xfrm>
            <a:off x="658368" y="1572768"/>
            <a:ext cx="6537960" cy="749808"/>
          </a:xfrm>
          <a:prstGeom prst="roundRect">
            <a:avLst>
              <a:gd name="adj" fmla="val 9756"/>
            </a:avLst>
          </a:prstGeom>
          <a:solidFill>
            <a:srgbClr val="F3E9D6"/>
          </a:solidFill>
          <a:ln w="9525">
            <a:solidFill>
              <a:srgbClr val="C9AE7E"/>
            </a:solidFill>
            <a:prstDash val="solid"/>
          </a:ln>
          <a:effectLst>
            <a:outerShdw sx="100000" sy="100000" kx="0" ky="0" algn="bl" rotWithShape="0" blurRad="76200" dist="25400" dir="5400000">
              <a:srgbClr val="6F665F">
                <a:alpha val="18000"/>
              </a:srgbClr>
            </a:outerShdw>
          </a:effectLst>
        </p:spPr>
      </p:sp>
      <p:sp>
        <p:nvSpPr>
          <p:cNvPr id="8" name="Shape 6"/>
          <p:cNvSpPr/>
          <p:nvPr/>
        </p:nvSpPr>
        <p:spPr>
          <a:xfrm>
            <a:off x="877824" y="1792224"/>
            <a:ext cx="310896" cy="310896"/>
          </a:xfrm>
          <a:prstGeom prst="ellipse">
            <a:avLst/>
          </a:prstGeom>
          <a:solidFill>
            <a:srgbClr val="2B2622"/>
          </a:solidFill>
          <a:ln w="12700">
            <a:solidFill>
              <a:srgbClr val="2B2622"/>
            </a:solidFill>
            <a:prstDash val="solid"/>
          </a:ln>
        </p:spPr>
      </p:sp>
      <p:sp>
        <p:nvSpPr>
          <p:cNvPr id="9" name="Text 7"/>
          <p:cNvSpPr/>
          <p:nvPr/>
        </p:nvSpPr>
        <p:spPr>
          <a:xfrm>
            <a:off x="877824" y="179222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01</a:t>
            </a:r>
            <a:endParaRPr lang="en-US" sz="1100" dirty="0"/>
          </a:p>
        </p:txBody>
      </p:sp>
      <p:sp>
        <p:nvSpPr>
          <p:cNvPr id="10" name="Text 8"/>
          <p:cNvSpPr/>
          <p:nvPr/>
        </p:nvSpPr>
        <p:spPr>
          <a:xfrm>
            <a:off x="1280160" y="1664208"/>
            <a:ext cx="5678424" cy="237744"/>
          </a:xfrm>
          <a:prstGeom prst="rect">
            <a:avLst/>
          </a:prstGeom>
          <a:noFill/>
          <a:ln/>
        </p:spPr>
        <p:txBody>
          <a:bodyPr wrap="square" lIns="0" tIns="0" rIns="0" bIns="0" rtlCol="0" anchor="ctr"/>
          <a:lstStyle/>
          <a:p>
            <a:pPr indent="0" marL="0">
              <a:buNone/>
            </a:pPr>
            <a:r>
              <a:rPr lang="en-US" sz="1150" b="1" dirty="0">
                <a:solidFill>
                  <a:srgbClr val="8C6A3A"/>
                </a:solidFill>
                <a:latin typeface="Meiryo" pitchFamily="34" charset="0"/>
                <a:ea typeface="Meiryo" pitchFamily="34" charset="-122"/>
                <a:cs typeface="Meiryo" pitchFamily="34" charset="-120"/>
              </a:rPr>
              <a:t>報酬体系が単純で、検証しやすい</a:t>
            </a:r>
            <a:endParaRPr lang="en-US" sz="1150" dirty="0"/>
          </a:p>
        </p:txBody>
      </p:sp>
      <p:sp>
        <p:nvSpPr>
          <p:cNvPr id="11" name="Text 9"/>
          <p:cNvSpPr/>
          <p:nvPr/>
        </p:nvSpPr>
        <p:spPr>
          <a:xfrm>
            <a:off x="1280160" y="1901952"/>
            <a:ext cx="5678424" cy="365760"/>
          </a:xfrm>
          <a:prstGeom prst="rect">
            <a:avLst/>
          </a:prstGeom>
          <a:noFill/>
          <a:ln/>
        </p:spPr>
        <p:txBody>
          <a:bodyPr wrap="square" lIns="0" tIns="0" rIns="0" bIns="0" rtlCol="0" anchor="ctr"/>
          <a:lstStyle/>
          <a:p>
            <a:pPr indent="0" marL="0">
              <a:lnSpc>
                <a:spcPct val="112000"/>
              </a:lnSpc>
              <a:buNone/>
            </a:pPr>
            <a:r>
              <a:rPr lang="en-US" sz="850" dirty="0">
                <a:solidFill>
                  <a:srgbClr val="6F665F"/>
                </a:solidFill>
                <a:latin typeface="Meiryo" pitchFamily="34" charset="0"/>
                <a:ea typeface="Meiryo" pitchFamily="34" charset="-122"/>
                <a:cs typeface="Meiryo" pitchFamily="34" charset="-120"/>
              </a:rPr>
              <a:t>WineBankの取り分は「卸値の値入れ（時価−α）」と「管理報酬 年2%」の二本のみ。出口の成功報酬はなく、投資家の取分は「SPC税前利益 × 出資比率40%」だけで決まる。αを契約で固定すれば、報酬の妥当性は卸値の検証に集約される。</a:t>
            </a:r>
            <a:endParaRPr lang="en-US" sz="850" dirty="0"/>
          </a:p>
        </p:txBody>
      </p:sp>
      <p:sp>
        <p:nvSpPr>
          <p:cNvPr id="12" name="Shape 10"/>
          <p:cNvSpPr/>
          <p:nvPr/>
        </p:nvSpPr>
        <p:spPr>
          <a:xfrm>
            <a:off x="658368" y="2395728"/>
            <a:ext cx="6537960" cy="749808"/>
          </a:xfrm>
          <a:prstGeom prst="roundRect">
            <a:avLst>
              <a:gd name="adj" fmla="val 9756"/>
            </a:avLst>
          </a:prstGeom>
          <a:solidFill>
            <a:srgbClr val="F5EFE4"/>
          </a:solidFill>
          <a:ln w="9525">
            <a:solidFill>
              <a:srgbClr val="E6DCCB"/>
            </a:solidFill>
            <a:prstDash val="solid"/>
          </a:ln>
          <a:effectLst>
            <a:outerShdw sx="100000" sy="100000" kx="0" ky="0" algn="bl" rotWithShape="0" blurRad="76200" dist="25400" dir="5400000">
              <a:srgbClr val="6F665F">
                <a:alpha val="18000"/>
              </a:srgbClr>
            </a:outerShdw>
          </a:effectLst>
        </p:spPr>
      </p:sp>
      <p:sp>
        <p:nvSpPr>
          <p:cNvPr id="13" name="Shape 11"/>
          <p:cNvSpPr/>
          <p:nvPr/>
        </p:nvSpPr>
        <p:spPr>
          <a:xfrm>
            <a:off x="877824" y="2615184"/>
            <a:ext cx="310896" cy="310896"/>
          </a:xfrm>
          <a:prstGeom prst="ellipse">
            <a:avLst/>
          </a:prstGeom>
          <a:solidFill>
            <a:srgbClr val="2B2622"/>
          </a:solidFill>
          <a:ln w="12700">
            <a:solidFill>
              <a:srgbClr val="2B2622"/>
            </a:solidFill>
            <a:prstDash val="solid"/>
          </a:ln>
        </p:spPr>
      </p:sp>
      <p:sp>
        <p:nvSpPr>
          <p:cNvPr id="14" name="Text 12"/>
          <p:cNvSpPr/>
          <p:nvPr/>
        </p:nvSpPr>
        <p:spPr>
          <a:xfrm>
            <a:off x="877824" y="261518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02</a:t>
            </a:r>
            <a:endParaRPr lang="en-US" sz="1100" dirty="0"/>
          </a:p>
        </p:txBody>
      </p:sp>
      <p:sp>
        <p:nvSpPr>
          <p:cNvPr id="15" name="Text 13"/>
          <p:cNvSpPr/>
          <p:nvPr/>
        </p:nvSpPr>
        <p:spPr>
          <a:xfrm>
            <a:off x="1280160" y="2487168"/>
            <a:ext cx="5678424" cy="237744"/>
          </a:xfrm>
          <a:prstGeom prst="rect">
            <a:avLst/>
          </a:prstGeom>
          <a:noFill/>
          <a:ln/>
        </p:spPr>
        <p:txBody>
          <a:bodyPr wrap="square" lIns="0" tIns="0" rIns="0" bIns="0" rtlCol="0" anchor="ctr"/>
          <a:lstStyle/>
          <a:p>
            <a:pPr indent="0" marL="0">
              <a:buNone/>
            </a:pPr>
            <a:r>
              <a:rPr lang="en-US" sz="1150" b="1" dirty="0">
                <a:solidFill>
                  <a:srgbClr val="2B2622"/>
                </a:solidFill>
                <a:latin typeface="Meiryo" pitchFamily="34" charset="0"/>
                <a:ea typeface="Meiryo" pitchFamily="34" charset="-122"/>
                <a:cs typeface="Meiryo" pitchFamily="34" charset="-120"/>
              </a:rPr>
              <a:t>仕入価格と売値の変動から遮断される</a:t>
            </a:r>
            <a:endParaRPr lang="en-US" sz="1150" dirty="0"/>
          </a:p>
        </p:txBody>
      </p:sp>
      <p:sp>
        <p:nvSpPr>
          <p:cNvPr id="16" name="Text 14"/>
          <p:cNvSpPr/>
          <p:nvPr/>
        </p:nvSpPr>
        <p:spPr>
          <a:xfrm>
            <a:off x="1280160" y="2724912"/>
            <a:ext cx="5678424" cy="365760"/>
          </a:xfrm>
          <a:prstGeom prst="rect">
            <a:avLst/>
          </a:prstGeom>
          <a:noFill/>
          <a:ln/>
        </p:spPr>
        <p:txBody>
          <a:bodyPr wrap="square" lIns="0" tIns="0" rIns="0" bIns="0" rtlCol="0" anchor="ctr"/>
          <a:lstStyle/>
          <a:p>
            <a:pPr indent="0" marL="0">
              <a:lnSpc>
                <a:spcPct val="112000"/>
              </a:lnSpc>
              <a:buNone/>
            </a:pPr>
            <a:r>
              <a:rPr lang="en-US" sz="850" dirty="0">
                <a:solidFill>
                  <a:srgbClr val="6F665F"/>
                </a:solidFill>
                <a:latin typeface="Meiryo" pitchFamily="34" charset="0"/>
                <a:ea typeface="Meiryo" pitchFamily="34" charset="-122"/>
                <a:cs typeface="Meiryo" pitchFamily="34" charset="-120"/>
              </a:rPr>
              <a:t>卸値が時価に連動して決まるため、市中仕入が50→45に下がっても（＋0.0pt）、売値が5%下がっても（▲0.1pt）、投資家利回りはほとんど動かない。</a:t>
            </a:r>
            <a:endParaRPr lang="en-US" sz="850" dirty="0"/>
          </a:p>
        </p:txBody>
      </p:sp>
      <p:sp>
        <p:nvSpPr>
          <p:cNvPr id="17" name="Shape 15"/>
          <p:cNvSpPr/>
          <p:nvPr/>
        </p:nvSpPr>
        <p:spPr>
          <a:xfrm>
            <a:off x="658368" y="3218688"/>
            <a:ext cx="6537960" cy="749808"/>
          </a:xfrm>
          <a:prstGeom prst="roundRect">
            <a:avLst>
              <a:gd name="adj" fmla="val 9756"/>
            </a:avLst>
          </a:prstGeom>
          <a:solidFill>
            <a:srgbClr val="F5EFE4"/>
          </a:solidFill>
          <a:ln w="9525">
            <a:solidFill>
              <a:srgbClr val="E6DCCB"/>
            </a:solidFill>
            <a:prstDash val="solid"/>
          </a:ln>
          <a:effectLst>
            <a:outerShdw sx="100000" sy="100000" kx="0" ky="0" algn="bl" rotWithShape="0" blurRad="76200" dist="25400" dir="5400000">
              <a:srgbClr val="6F665F">
                <a:alpha val="18000"/>
              </a:srgbClr>
            </a:outerShdw>
          </a:effectLst>
        </p:spPr>
      </p:sp>
      <p:sp>
        <p:nvSpPr>
          <p:cNvPr id="18" name="Shape 16"/>
          <p:cNvSpPr/>
          <p:nvPr/>
        </p:nvSpPr>
        <p:spPr>
          <a:xfrm>
            <a:off x="877824" y="3438144"/>
            <a:ext cx="310896" cy="310896"/>
          </a:xfrm>
          <a:prstGeom prst="ellipse">
            <a:avLst/>
          </a:prstGeom>
          <a:solidFill>
            <a:srgbClr val="2B2622"/>
          </a:solidFill>
          <a:ln w="12700">
            <a:solidFill>
              <a:srgbClr val="2B2622"/>
            </a:solidFill>
            <a:prstDash val="solid"/>
          </a:ln>
        </p:spPr>
      </p:sp>
      <p:sp>
        <p:nvSpPr>
          <p:cNvPr id="19" name="Text 17"/>
          <p:cNvSpPr/>
          <p:nvPr/>
        </p:nvSpPr>
        <p:spPr>
          <a:xfrm>
            <a:off x="877824" y="343814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03</a:t>
            </a:r>
            <a:endParaRPr lang="en-US" sz="1100" dirty="0"/>
          </a:p>
        </p:txBody>
      </p:sp>
      <p:sp>
        <p:nvSpPr>
          <p:cNvPr id="20" name="Text 18"/>
          <p:cNvSpPr/>
          <p:nvPr/>
        </p:nvSpPr>
        <p:spPr>
          <a:xfrm>
            <a:off x="1280160" y="3310128"/>
            <a:ext cx="5678424" cy="237744"/>
          </a:xfrm>
          <a:prstGeom prst="rect">
            <a:avLst/>
          </a:prstGeom>
          <a:noFill/>
          <a:ln/>
        </p:spPr>
        <p:txBody>
          <a:bodyPr wrap="square" lIns="0" tIns="0" rIns="0" bIns="0" rtlCol="0" anchor="ctr"/>
          <a:lstStyle/>
          <a:p>
            <a:pPr indent="0" marL="0">
              <a:buNone/>
            </a:pPr>
            <a:r>
              <a:rPr lang="en-US" sz="1150" b="1" dirty="0">
                <a:solidFill>
                  <a:srgbClr val="2B2622"/>
                </a:solidFill>
                <a:latin typeface="Meiryo" pitchFamily="34" charset="0"/>
                <a:ea typeface="Meiryo" pitchFamily="34" charset="-122"/>
                <a:cs typeface="Meiryo" pitchFamily="34" charset="-120"/>
              </a:rPr>
              <a:t>現物が元本を裏付ける</a:t>
            </a:r>
            <a:endParaRPr lang="en-US" sz="1150" dirty="0"/>
          </a:p>
        </p:txBody>
      </p:sp>
      <p:sp>
        <p:nvSpPr>
          <p:cNvPr id="21" name="Text 19"/>
          <p:cNvSpPr/>
          <p:nvPr/>
        </p:nvSpPr>
        <p:spPr>
          <a:xfrm>
            <a:off x="1280160" y="3547872"/>
            <a:ext cx="5678424" cy="365760"/>
          </a:xfrm>
          <a:prstGeom prst="rect">
            <a:avLst/>
          </a:prstGeom>
          <a:noFill/>
          <a:ln/>
        </p:spPr>
        <p:txBody>
          <a:bodyPr wrap="square" lIns="0" tIns="0" rIns="0" bIns="0" rtlCol="0" anchor="ctr"/>
          <a:lstStyle/>
          <a:p>
            <a:pPr indent="0" marL="0">
              <a:lnSpc>
                <a:spcPct val="112000"/>
              </a:lnSpc>
              <a:buNone/>
            </a:pPr>
            <a:r>
              <a:rPr lang="en-US" sz="850" dirty="0">
                <a:solidFill>
                  <a:srgbClr val="6F665F"/>
                </a:solidFill>
                <a:latin typeface="Meiryo" pitchFamily="34" charset="0"/>
                <a:ea typeface="Meiryo" pitchFamily="34" charset="-122"/>
                <a:cs typeface="Meiryo" pitchFamily="34" charset="-120"/>
              </a:rPr>
              <a:t>出資金の95%が常にワイン現物として存在する。SPC名義で保有し倒産隔離。保有している限り値上がりも取り込める。</a:t>
            </a:r>
            <a:endParaRPr lang="en-US" sz="850" dirty="0"/>
          </a:p>
        </p:txBody>
      </p:sp>
      <p:sp>
        <p:nvSpPr>
          <p:cNvPr id="22" name="Shape 20"/>
          <p:cNvSpPr/>
          <p:nvPr/>
        </p:nvSpPr>
        <p:spPr>
          <a:xfrm>
            <a:off x="658368" y="4041648"/>
            <a:ext cx="6537960" cy="749808"/>
          </a:xfrm>
          <a:prstGeom prst="roundRect">
            <a:avLst>
              <a:gd name="adj" fmla="val 9756"/>
            </a:avLst>
          </a:prstGeom>
          <a:solidFill>
            <a:srgbClr val="F5EFE4"/>
          </a:solidFill>
          <a:ln w="9525">
            <a:solidFill>
              <a:srgbClr val="E6DCCB"/>
            </a:solidFill>
            <a:prstDash val="solid"/>
          </a:ln>
          <a:effectLst>
            <a:outerShdw sx="100000" sy="100000" kx="0" ky="0" algn="bl" rotWithShape="0" blurRad="76200" dist="25400" dir="5400000">
              <a:srgbClr val="6F665F">
                <a:alpha val="18000"/>
              </a:srgbClr>
            </a:outerShdw>
          </a:effectLst>
        </p:spPr>
      </p:sp>
      <p:sp>
        <p:nvSpPr>
          <p:cNvPr id="23" name="Shape 21"/>
          <p:cNvSpPr/>
          <p:nvPr/>
        </p:nvSpPr>
        <p:spPr>
          <a:xfrm>
            <a:off x="877824" y="4261104"/>
            <a:ext cx="310896" cy="310896"/>
          </a:xfrm>
          <a:prstGeom prst="ellipse">
            <a:avLst/>
          </a:prstGeom>
          <a:solidFill>
            <a:srgbClr val="2B2622"/>
          </a:solidFill>
          <a:ln w="12700">
            <a:solidFill>
              <a:srgbClr val="2B2622"/>
            </a:solidFill>
            <a:prstDash val="solid"/>
          </a:ln>
        </p:spPr>
      </p:sp>
      <p:sp>
        <p:nvSpPr>
          <p:cNvPr id="24" name="Text 22"/>
          <p:cNvSpPr/>
          <p:nvPr/>
        </p:nvSpPr>
        <p:spPr>
          <a:xfrm>
            <a:off x="877824" y="4261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04</a:t>
            </a:r>
            <a:endParaRPr lang="en-US" sz="1100" dirty="0"/>
          </a:p>
        </p:txBody>
      </p:sp>
      <p:sp>
        <p:nvSpPr>
          <p:cNvPr id="25" name="Text 23"/>
          <p:cNvSpPr/>
          <p:nvPr/>
        </p:nvSpPr>
        <p:spPr>
          <a:xfrm>
            <a:off x="1280160" y="4133088"/>
            <a:ext cx="5678424" cy="237744"/>
          </a:xfrm>
          <a:prstGeom prst="rect">
            <a:avLst/>
          </a:prstGeom>
          <a:noFill/>
          <a:ln/>
        </p:spPr>
        <p:txBody>
          <a:bodyPr wrap="square" lIns="0" tIns="0" rIns="0" bIns="0" rtlCol="0" anchor="ctr"/>
          <a:lstStyle/>
          <a:p>
            <a:pPr indent="0" marL="0">
              <a:buNone/>
            </a:pPr>
            <a:r>
              <a:rPr lang="en-US" sz="1150" b="1" dirty="0">
                <a:solidFill>
                  <a:srgbClr val="2B2622"/>
                </a:solidFill>
                <a:latin typeface="Meiryo" pitchFamily="34" charset="0"/>
                <a:ea typeface="Meiryo" pitchFamily="34" charset="-122"/>
                <a:cs typeface="Meiryo" pitchFamily="34" charset="-120"/>
              </a:rPr>
              <a:t>WineBankが総額の60%を出資している</a:t>
            </a:r>
            <a:endParaRPr lang="en-US" sz="1150" dirty="0"/>
          </a:p>
        </p:txBody>
      </p:sp>
      <p:sp>
        <p:nvSpPr>
          <p:cNvPr id="26" name="Text 24"/>
          <p:cNvSpPr/>
          <p:nvPr/>
        </p:nvSpPr>
        <p:spPr>
          <a:xfrm>
            <a:off x="1280160" y="4370832"/>
            <a:ext cx="5678424" cy="365760"/>
          </a:xfrm>
          <a:prstGeom prst="rect">
            <a:avLst/>
          </a:prstGeom>
          <a:noFill/>
          <a:ln/>
        </p:spPr>
        <p:txBody>
          <a:bodyPr wrap="square" lIns="0" tIns="0" rIns="0" bIns="0" rtlCol="0" anchor="ctr"/>
          <a:lstStyle/>
          <a:p>
            <a:pPr indent="0" marL="0">
              <a:lnSpc>
                <a:spcPct val="112000"/>
              </a:lnSpc>
              <a:buNone/>
            </a:pPr>
            <a:r>
              <a:rPr lang="en-US" sz="850" dirty="0">
                <a:solidFill>
                  <a:srgbClr val="6F665F"/>
                </a:solidFill>
                <a:latin typeface="Meiryo" pitchFamily="34" charset="0"/>
                <a:ea typeface="Meiryo" pitchFamily="34" charset="-122"/>
                <a:cs typeface="Meiryo" pitchFamily="34" charset="-120"/>
              </a:rPr>
              <a:t>WineBankはワイン現物3億円を拠出し、持分60%を通じてSPCの損益をそのまま負う。</a:t>
            </a:r>
            <a:endParaRPr lang="en-US" sz="850" dirty="0"/>
          </a:p>
        </p:txBody>
      </p:sp>
      <p:sp>
        <p:nvSpPr>
          <p:cNvPr id="27" name="Shape 25"/>
          <p:cNvSpPr/>
          <p:nvPr/>
        </p:nvSpPr>
        <p:spPr>
          <a:xfrm>
            <a:off x="658368" y="4864608"/>
            <a:ext cx="6537960" cy="749808"/>
          </a:xfrm>
          <a:prstGeom prst="roundRect">
            <a:avLst>
              <a:gd name="adj" fmla="val 9756"/>
            </a:avLst>
          </a:prstGeom>
          <a:solidFill>
            <a:srgbClr val="F5EFE4"/>
          </a:solidFill>
          <a:ln w="9525">
            <a:solidFill>
              <a:srgbClr val="E6DCCB"/>
            </a:solidFill>
            <a:prstDash val="solid"/>
          </a:ln>
          <a:effectLst>
            <a:outerShdw sx="100000" sy="100000" kx="0" ky="0" algn="bl" rotWithShape="0" blurRad="76200" dist="25400" dir="5400000">
              <a:srgbClr val="6F665F">
                <a:alpha val="18000"/>
              </a:srgbClr>
            </a:outerShdw>
          </a:effectLst>
        </p:spPr>
      </p:sp>
      <p:sp>
        <p:nvSpPr>
          <p:cNvPr id="28" name="Shape 26"/>
          <p:cNvSpPr/>
          <p:nvPr/>
        </p:nvSpPr>
        <p:spPr>
          <a:xfrm>
            <a:off x="877824" y="5084064"/>
            <a:ext cx="310896" cy="310896"/>
          </a:xfrm>
          <a:prstGeom prst="ellipse">
            <a:avLst/>
          </a:prstGeom>
          <a:solidFill>
            <a:srgbClr val="2B2622"/>
          </a:solidFill>
          <a:ln w="12700">
            <a:solidFill>
              <a:srgbClr val="2B2622"/>
            </a:solidFill>
            <a:prstDash val="solid"/>
          </a:ln>
        </p:spPr>
      </p:sp>
      <p:sp>
        <p:nvSpPr>
          <p:cNvPr id="29" name="Text 27"/>
          <p:cNvSpPr/>
          <p:nvPr/>
        </p:nvSpPr>
        <p:spPr>
          <a:xfrm>
            <a:off x="877824" y="508406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05</a:t>
            </a:r>
            <a:endParaRPr lang="en-US" sz="1100" dirty="0"/>
          </a:p>
        </p:txBody>
      </p:sp>
      <p:sp>
        <p:nvSpPr>
          <p:cNvPr id="30" name="Text 28"/>
          <p:cNvSpPr/>
          <p:nvPr/>
        </p:nvSpPr>
        <p:spPr>
          <a:xfrm>
            <a:off x="1280160" y="4956048"/>
            <a:ext cx="5678424" cy="237744"/>
          </a:xfrm>
          <a:prstGeom prst="rect">
            <a:avLst/>
          </a:prstGeom>
          <a:noFill/>
          <a:ln/>
        </p:spPr>
        <p:txBody>
          <a:bodyPr wrap="square" lIns="0" tIns="0" rIns="0" bIns="0" rtlCol="0" anchor="ctr"/>
          <a:lstStyle/>
          <a:p>
            <a:pPr indent="0" marL="0">
              <a:buNone/>
            </a:pPr>
            <a:r>
              <a:rPr lang="en-US" sz="1150" b="1" dirty="0">
                <a:solidFill>
                  <a:srgbClr val="2B2622"/>
                </a:solidFill>
                <a:latin typeface="Meiryo" pitchFamily="34" charset="0"/>
                <a:ea typeface="Meiryo" pitchFamily="34" charset="-122"/>
                <a:cs typeface="Meiryo" pitchFamily="34" charset="-120"/>
              </a:rPr>
              <a:t>他社が再現できない調達力と、B2B・B2Cの両輪</a:t>
            </a:r>
            <a:endParaRPr lang="en-US" sz="1150" dirty="0"/>
          </a:p>
        </p:txBody>
      </p:sp>
      <p:sp>
        <p:nvSpPr>
          <p:cNvPr id="31" name="Text 29"/>
          <p:cNvSpPr/>
          <p:nvPr/>
        </p:nvSpPr>
        <p:spPr>
          <a:xfrm>
            <a:off x="1280160" y="5193792"/>
            <a:ext cx="5678424" cy="365760"/>
          </a:xfrm>
          <a:prstGeom prst="rect">
            <a:avLst/>
          </a:prstGeom>
          <a:noFill/>
          <a:ln/>
        </p:spPr>
        <p:txBody>
          <a:bodyPr wrap="square" lIns="0" tIns="0" rIns="0" bIns="0" rtlCol="0" anchor="ctr"/>
          <a:lstStyle/>
          <a:p>
            <a:pPr indent="0" marL="0">
              <a:lnSpc>
                <a:spcPct val="112000"/>
              </a:lnSpc>
              <a:buNone/>
            </a:pPr>
            <a:r>
              <a:rPr lang="en-US" sz="850" dirty="0">
                <a:solidFill>
                  <a:srgbClr val="6F665F"/>
                </a:solidFill>
                <a:latin typeface="Meiryo" pitchFamily="34" charset="0"/>
                <a:ea typeface="Meiryo" pitchFamily="34" charset="-122"/>
                <a:cs typeface="Meiryo" pitchFamily="34" charset="-120"/>
              </a:rPr>
              <a:t>創業55年の酒販免許、大手インポーターとの直接取引、輸出入ライセンス。出口は酒販店卸（B2B）と自社EC・オークション・CLUB会員・グループのアピシウス（B2C）。</a:t>
            </a:r>
            <a:endParaRPr lang="en-US" sz="850" dirty="0"/>
          </a:p>
        </p:txBody>
      </p:sp>
      <p:sp>
        <p:nvSpPr>
          <p:cNvPr id="32" name="Shape 30"/>
          <p:cNvSpPr/>
          <p:nvPr/>
        </p:nvSpPr>
        <p:spPr>
          <a:xfrm>
            <a:off x="7470648" y="1572768"/>
            <a:ext cx="4062679" cy="4041648"/>
          </a:xfrm>
          <a:prstGeom prst="roundRect">
            <a:avLst>
              <a:gd name="adj" fmla="val 1810"/>
            </a:avLst>
          </a:prstGeom>
          <a:solidFill>
            <a:srgbClr val="F3E9D6"/>
          </a:solidFill>
          <a:ln w="9525">
            <a:solidFill>
              <a:srgbClr val="C9AE7E"/>
            </a:solidFill>
            <a:prstDash val="solid"/>
          </a:ln>
          <a:effectLst>
            <a:outerShdw sx="100000" sy="100000" kx="0" ky="0" algn="bl" rotWithShape="0" blurRad="76200" dist="25400" dir="5400000">
              <a:srgbClr val="6F665F">
                <a:alpha val="18000"/>
              </a:srgbClr>
            </a:outerShdw>
          </a:effectLst>
        </p:spPr>
      </p:sp>
      <p:sp>
        <p:nvSpPr>
          <p:cNvPr id="33" name="Text 31"/>
          <p:cNvSpPr/>
          <p:nvPr/>
        </p:nvSpPr>
        <p:spPr>
          <a:xfrm>
            <a:off x="7726680" y="1755648"/>
            <a:ext cx="3550615" cy="256032"/>
          </a:xfrm>
          <a:prstGeom prst="rect">
            <a:avLst/>
          </a:prstGeom>
          <a:noFill/>
          <a:ln/>
        </p:spPr>
        <p:txBody>
          <a:bodyPr wrap="square" lIns="0" tIns="0" rIns="0" bIns="0" rtlCol="0" anchor="ctr"/>
          <a:lstStyle/>
          <a:p>
            <a:pPr indent="0" marL="0">
              <a:buNone/>
            </a:pPr>
            <a:r>
              <a:rPr lang="en-US" sz="1250" b="1" dirty="0">
                <a:solidFill>
                  <a:srgbClr val="8C6A3A"/>
                </a:solidFill>
                <a:latin typeface="Meiryo" pitchFamily="34" charset="0"/>
                <a:ea typeface="Meiryo" pitchFamily="34" charset="-122"/>
                <a:cs typeface="Meiryo" pitchFamily="34" charset="-120"/>
              </a:rPr>
              <a:t>貴社の投資基準との照合</a:t>
            </a:r>
            <a:endParaRPr lang="en-US" sz="1250" dirty="0"/>
          </a:p>
        </p:txBody>
      </p:sp>
      <p:sp>
        <p:nvSpPr>
          <p:cNvPr id="34" name="Shape 32"/>
          <p:cNvSpPr/>
          <p:nvPr/>
        </p:nvSpPr>
        <p:spPr>
          <a:xfrm>
            <a:off x="7726680" y="2180844"/>
            <a:ext cx="137160" cy="137160"/>
          </a:xfrm>
          <a:prstGeom prst="ellipse">
            <a:avLst/>
          </a:prstGeom>
          <a:solidFill>
            <a:srgbClr val="A78450"/>
          </a:solidFill>
          <a:ln w="12700">
            <a:solidFill>
              <a:srgbClr val="A78450"/>
            </a:solidFill>
            <a:prstDash val="solid"/>
          </a:ln>
        </p:spPr>
      </p:sp>
      <p:sp>
        <p:nvSpPr>
          <p:cNvPr id="35" name="Text 33"/>
          <p:cNvSpPr/>
          <p:nvPr/>
        </p:nvSpPr>
        <p:spPr>
          <a:xfrm>
            <a:off x="7726680" y="2180844"/>
            <a:ext cx="137160" cy="137160"/>
          </a:xfrm>
          <a:prstGeom prst="rect">
            <a:avLst/>
          </a:prstGeom>
          <a:noFill/>
          <a:ln/>
        </p:spPr>
        <p:txBody>
          <a:bodyPr wrap="square" lIns="0" tIns="0" rIns="0" bIns="0" rtlCol="0" anchor="ctr"/>
          <a:lstStyle/>
          <a:p>
            <a:pPr algn="ctr" indent="0" marL="0">
              <a:buNone/>
            </a:pPr>
            <a:endParaRPr lang="en-US" sz="1100" dirty="0"/>
          </a:p>
        </p:txBody>
      </p:sp>
      <p:sp>
        <p:nvSpPr>
          <p:cNvPr id="36" name="Text 34"/>
          <p:cNvSpPr/>
          <p:nvPr/>
        </p:nvSpPr>
        <p:spPr>
          <a:xfrm>
            <a:off x="7964424" y="2121408"/>
            <a:ext cx="3312871" cy="219456"/>
          </a:xfrm>
          <a:prstGeom prst="rect">
            <a:avLst/>
          </a:prstGeom>
          <a:noFill/>
          <a:ln/>
        </p:spPr>
        <p:txBody>
          <a:bodyPr wrap="square" lIns="0" tIns="0" rIns="0" bIns="0" rtlCol="0" anchor="ctr"/>
          <a:lstStyle/>
          <a:p>
            <a:pPr indent="0" marL="0">
              <a:buNone/>
            </a:pPr>
            <a:r>
              <a:rPr lang="en-US" sz="1050" b="1" dirty="0">
                <a:solidFill>
                  <a:srgbClr val="2B2622"/>
                </a:solidFill>
                <a:latin typeface="Meiryo" pitchFamily="34" charset="0"/>
                <a:ea typeface="Meiryo" pitchFamily="34" charset="-122"/>
                <a:cs typeface="Meiryo" pitchFamily="34" charset="-120"/>
              </a:rPr>
              <a:t>想定利回り20%（実績）に対して</a:t>
            </a:r>
            <a:endParaRPr lang="en-US" sz="1050" dirty="0"/>
          </a:p>
        </p:txBody>
      </p:sp>
      <p:sp>
        <p:nvSpPr>
          <p:cNvPr id="37" name="Text 35"/>
          <p:cNvSpPr/>
          <p:nvPr/>
        </p:nvSpPr>
        <p:spPr>
          <a:xfrm>
            <a:off x="7964424" y="2350008"/>
            <a:ext cx="3312871" cy="384048"/>
          </a:xfrm>
          <a:prstGeom prst="rect">
            <a:avLst/>
          </a:prstGeom>
          <a:noFill/>
          <a:ln/>
        </p:spPr>
        <p:txBody>
          <a:bodyPr wrap="square" lIns="0" tIns="0" rIns="0" bIns="0" rtlCol="0" anchor="ctr"/>
          <a:lstStyle/>
          <a:p>
            <a:pPr indent="0" marL="0">
              <a:lnSpc>
                <a:spcPct val="118000"/>
              </a:lnSpc>
              <a:buNone/>
            </a:pPr>
            <a:r>
              <a:rPr lang="en-US" sz="900" dirty="0">
                <a:solidFill>
                  <a:srgbClr val="6F665F"/>
                </a:solidFill>
                <a:latin typeface="Meiryo" pitchFamily="34" charset="0"/>
                <a:ea typeface="Meiryo" pitchFamily="34" charset="-122"/>
                <a:cs typeface="Meiryo" pitchFamily="34" charset="-120"/>
              </a:rPr>
              <a:t>主線（回転12ヶ月・上昇6%）で年平均20.0%。分岐点は回転12.3ヶ月で余裕はない。</a:t>
            </a:r>
            <a:endParaRPr lang="en-US" sz="900" dirty="0"/>
          </a:p>
        </p:txBody>
      </p:sp>
      <p:sp>
        <p:nvSpPr>
          <p:cNvPr id="38" name="Text 36"/>
          <p:cNvSpPr/>
          <p:nvPr/>
        </p:nvSpPr>
        <p:spPr>
          <a:xfrm>
            <a:off x="7964424" y="2743200"/>
            <a:ext cx="3312871" cy="457200"/>
          </a:xfrm>
          <a:prstGeom prst="rect">
            <a:avLst/>
          </a:prstGeom>
          <a:noFill/>
          <a:ln/>
        </p:spPr>
        <p:txBody>
          <a:bodyPr wrap="square" lIns="0" tIns="0" rIns="0" bIns="0" rtlCol="0" anchor="ctr"/>
          <a:lstStyle/>
          <a:p>
            <a:pPr indent="0" marL="0">
              <a:lnSpc>
                <a:spcPct val="118000"/>
              </a:lnSpc>
              <a:buNone/>
            </a:pPr>
            <a:r>
              <a:rPr lang="en-US" sz="900" dirty="0">
                <a:solidFill>
                  <a:srgbClr val="8C6A3A"/>
                </a:solidFill>
                <a:latin typeface="Meiryo" pitchFamily="34" charset="0"/>
                <a:ea typeface="Meiryo" pitchFamily="34" charset="-122"/>
                <a:cs typeface="Meiryo" pitchFamily="34" charset="-120"/>
              </a:rPr>
              <a:t>回転12ヶ月の達成が20%確保の必要条件となる。必要な年間販売額は6.67億円で現状の販売実力（年5〜7億円）の範囲内にあり、流動性上位の銘柄に絞って組み入れる。</a:t>
            </a:r>
            <a:endParaRPr lang="en-US" sz="900" dirty="0"/>
          </a:p>
        </p:txBody>
      </p:sp>
      <p:sp>
        <p:nvSpPr>
          <p:cNvPr id="39" name="Shape 37"/>
          <p:cNvSpPr/>
          <p:nvPr/>
        </p:nvSpPr>
        <p:spPr>
          <a:xfrm>
            <a:off x="7726680" y="3369564"/>
            <a:ext cx="137160" cy="137160"/>
          </a:xfrm>
          <a:prstGeom prst="ellipse">
            <a:avLst/>
          </a:prstGeom>
          <a:solidFill>
            <a:srgbClr val="A78450"/>
          </a:solidFill>
          <a:ln w="12700">
            <a:solidFill>
              <a:srgbClr val="A78450"/>
            </a:solidFill>
            <a:prstDash val="solid"/>
          </a:ln>
        </p:spPr>
      </p:sp>
      <p:sp>
        <p:nvSpPr>
          <p:cNvPr id="40" name="Text 38"/>
          <p:cNvSpPr/>
          <p:nvPr/>
        </p:nvSpPr>
        <p:spPr>
          <a:xfrm>
            <a:off x="7726680" y="3369564"/>
            <a:ext cx="137160" cy="137160"/>
          </a:xfrm>
          <a:prstGeom prst="rect">
            <a:avLst/>
          </a:prstGeom>
          <a:noFill/>
          <a:ln/>
        </p:spPr>
        <p:txBody>
          <a:bodyPr wrap="square" lIns="0" tIns="0" rIns="0" bIns="0" rtlCol="0" anchor="ctr"/>
          <a:lstStyle/>
          <a:p>
            <a:pPr algn="ctr" indent="0" marL="0">
              <a:buNone/>
            </a:pPr>
            <a:endParaRPr lang="en-US" sz="1100" dirty="0"/>
          </a:p>
        </p:txBody>
      </p:sp>
      <p:sp>
        <p:nvSpPr>
          <p:cNvPr id="41" name="Text 39"/>
          <p:cNvSpPr/>
          <p:nvPr/>
        </p:nvSpPr>
        <p:spPr>
          <a:xfrm>
            <a:off x="7964424" y="3310128"/>
            <a:ext cx="3312871" cy="219456"/>
          </a:xfrm>
          <a:prstGeom prst="rect">
            <a:avLst/>
          </a:prstGeom>
          <a:noFill/>
          <a:ln/>
        </p:spPr>
        <p:txBody>
          <a:bodyPr wrap="square" lIns="0" tIns="0" rIns="0" bIns="0" rtlCol="0" anchor="ctr"/>
          <a:lstStyle/>
          <a:p>
            <a:pPr indent="0" marL="0">
              <a:buNone/>
            </a:pPr>
            <a:r>
              <a:rPr lang="en-US" sz="1050" b="1" dirty="0">
                <a:solidFill>
                  <a:srgbClr val="2B2622"/>
                </a:solidFill>
                <a:latin typeface="Meiryo" pitchFamily="34" charset="0"/>
                <a:ea typeface="Meiryo" pitchFamily="34" charset="-122"/>
                <a:cs typeface="Meiryo" pitchFamily="34" charset="-120"/>
              </a:rPr>
              <a:t>解約条件に対して</a:t>
            </a:r>
            <a:endParaRPr lang="en-US" sz="1050" dirty="0"/>
          </a:p>
        </p:txBody>
      </p:sp>
      <p:sp>
        <p:nvSpPr>
          <p:cNvPr id="42" name="Text 40"/>
          <p:cNvSpPr/>
          <p:nvPr/>
        </p:nvSpPr>
        <p:spPr>
          <a:xfrm>
            <a:off x="7964424" y="3538728"/>
            <a:ext cx="3312871" cy="384048"/>
          </a:xfrm>
          <a:prstGeom prst="rect">
            <a:avLst/>
          </a:prstGeom>
          <a:noFill/>
          <a:ln/>
        </p:spPr>
        <p:txBody>
          <a:bodyPr wrap="square" lIns="0" tIns="0" rIns="0" bIns="0" rtlCol="0" anchor="ctr"/>
          <a:lstStyle/>
          <a:p>
            <a:pPr indent="0" marL="0">
              <a:lnSpc>
                <a:spcPct val="118000"/>
              </a:lnSpc>
              <a:buNone/>
            </a:pPr>
            <a:r>
              <a:rPr lang="en-US" sz="900" dirty="0">
                <a:solidFill>
                  <a:srgbClr val="6F665F"/>
                </a:solidFill>
                <a:latin typeface="Meiryo" pitchFamily="34" charset="0"/>
                <a:ea typeface="Meiryo" pitchFamily="34" charset="-122"/>
                <a:cs typeface="Meiryo" pitchFamily="34" charset="-120"/>
              </a:rPr>
              <a:t>運用期間5年・当初3年ロックアップ・4年目以降は90日前通知で半期末に解約。分配は毎年1回。</a:t>
            </a:r>
            <a:endParaRPr lang="en-US" sz="900" dirty="0"/>
          </a:p>
        </p:txBody>
      </p:sp>
      <p:sp>
        <p:nvSpPr>
          <p:cNvPr id="43" name="Text 41"/>
          <p:cNvSpPr/>
          <p:nvPr/>
        </p:nvSpPr>
        <p:spPr>
          <a:xfrm>
            <a:off x="7964424" y="3931920"/>
            <a:ext cx="3312871" cy="457200"/>
          </a:xfrm>
          <a:prstGeom prst="rect">
            <a:avLst/>
          </a:prstGeom>
          <a:noFill/>
          <a:ln/>
        </p:spPr>
        <p:txBody>
          <a:bodyPr wrap="square" lIns="0" tIns="0" rIns="0" bIns="0" rtlCol="0" anchor="ctr"/>
          <a:lstStyle/>
          <a:p>
            <a:pPr indent="0" marL="0">
              <a:lnSpc>
                <a:spcPct val="118000"/>
              </a:lnSpc>
              <a:buNone/>
            </a:pPr>
            <a:r>
              <a:rPr lang="en-US" sz="900" dirty="0">
                <a:solidFill>
                  <a:srgbClr val="8C6A3A"/>
                </a:solidFill>
                <a:latin typeface="Meiryo" pitchFamily="34" charset="0"/>
                <a:ea typeface="Meiryo" pitchFamily="34" charset="-122"/>
                <a:cs typeface="Meiryo" pitchFamily="34" charset="-120"/>
              </a:rPr>
              <a:t>この設計により現金保有を5%に抑え、総額の95%をワインに充当できる。当初から随時の解約を受け付けると稼働率が下がりフル稼働時の単年で22.5%→19.8%に低下する。</a:t>
            </a:r>
            <a:endParaRPr lang="en-US" sz="900" dirty="0"/>
          </a:p>
        </p:txBody>
      </p:sp>
      <p:sp>
        <p:nvSpPr>
          <p:cNvPr id="44" name="Shape 42"/>
          <p:cNvSpPr/>
          <p:nvPr/>
        </p:nvSpPr>
        <p:spPr>
          <a:xfrm>
            <a:off x="7726680" y="4558284"/>
            <a:ext cx="137160" cy="137160"/>
          </a:xfrm>
          <a:prstGeom prst="ellipse">
            <a:avLst/>
          </a:prstGeom>
          <a:solidFill>
            <a:srgbClr val="A78450"/>
          </a:solidFill>
          <a:ln w="12700">
            <a:solidFill>
              <a:srgbClr val="A78450"/>
            </a:solidFill>
            <a:prstDash val="solid"/>
          </a:ln>
        </p:spPr>
      </p:sp>
      <p:sp>
        <p:nvSpPr>
          <p:cNvPr id="45" name="Text 43"/>
          <p:cNvSpPr/>
          <p:nvPr/>
        </p:nvSpPr>
        <p:spPr>
          <a:xfrm>
            <a:off x="7726680" y="4558284"/>
            <a:ext cx="137160" cy="137160"/>
          </a:xfrm>
          <a:prstGeom prst="rect">
            <a:avLst/>
          </a:prstGeom>
          <a:noFill/>
          <a:ln/>
        </p:spPr>
        <p:txBody>
          <a:bodyPr wrap="square" lIns="0" tIns="0" rIns="0" bIns="0" rtlCol="0" anchor="ctr"/>
          <a:lstStyle/>
          <a:p>
            <a:pPr algn="ctr" indent="0" marL="0">
              <a:buNone/>
            </a:pPr>
            <a:endParaRPr lang="en-US" sz="1100" dirty="0"/>
          </a:p>
        </p:txBody>
      </p:sp>
      <p:sp>
        <p:nvSpPr>
          <p:cNvPr id="46" name="Text 44"/>
          <p:cNvSpPr/>
          <p:nvPr/>
        </p:nvSpPr>
        <p:spPr>
          <a:xfrm>
            <a:off x="7964424" y="4498848"/>
            <a:ext cx="3312871" cy="219456"/>
          </a:xfrm>
          <a:prstGeom prst="rect">
            <a:avLst/>
          </a:prstGeom>
          <a:noFill/>
          <a:ln/>
        </p:spPr>
        <p:txBody>
          <a:bodyPr wrap="square" lIns="0" tIns="0" rIns="0" bIns="0" rtlCol="0" anchor="ctr"/>
          <a:lstStyle/>
          <a:p>
            <a:pPr indent="0" marL="0">
              <a:buNone/>
            </a:pPr>
            <a:r>
              <a:rPr lang="en-US" sz="1050" b="1" dirty="0">
                <a:solidFill>
                  <a:srgbClr val="2B2622"/>
                </a:solidFill>
                <a:latin typeface="Meiryo" pitchFamily="34" charset="0"/>
                <a:ea typeface="Meiryo" pitchFamily="34" charset="-122"/>
                <a:cs typeface="Meiryo" pitchFamily="34" charset="-120"/>
              </a:rPr>
              <a:t>リスク分散に対して</a:t>
            </a:r>
            <a:endParaRPr lang="en-US" sz="1050" dirty="0"/>
          </a:p>
        </p:txBody>
      </p:sp>
      <p:sp>
        <p:nvSpPr>
          <p:cNvPr id="47" name="Text 45"/>
          <p:cNvSpPr/>
          <p:nvPr/>
        </p:nvSpPr>
        <p:spPr>
          <a:xfrm>
            <a:off x="7964424" y="4727448"/>
            <a:ext cx="3312871" cy="384048"/>
          </a:xfrm>
          <a:prstGeom prst="rect">
            <a:avLst/>
          </a:prstGeom>
          <a:noFill/>
          <a:ln/>
        </p:spPr>
        <p:txBody>
          <a:bodyPr wrap="square" lIns="0" tIns="0" rIns="0" bIns="0" rtlCol="0" anchor="ctr"/>
          <a:lstStyle/>
          <a:p>
            <a:pPr indent="0" marL="0">
              <a:lnSpc>
                <a:spcPct val="118000"/>
              </a:lnSpc>
              <a:buNone/>
            </a:pPr>
            <a:r>
              <a:rPr lang="en-US" sz="900" dirty="0">
                <a:solidFill>
                  <a:srgbClr val="6F665F"/>
                </a:solidFill>
                <a:latin typeface="Meiryo" pitchFamily="34" charset="0"/>
                <a:ea typeface="Meiryo" pitchFamily="34" charset="-122"/>
                <a:cs typeface="Meiryo" pitchFamily="34" charset="-120"/>
              </a:rPr>
              <a:t>伝統的資産と相関の低い実物資産。既存30億円のポートフォリオに対し出資2億円は約7%。</a:t>
            </a:r>
            <a:endParaRPr lang="en-US" sz="900" dirty="0"/>
          </a:p>
        </p:txBody>
      </p:sp>
      <p:sp>
        <p:nvSpPr>
          <p:cNvPr id="48" name="Text 46"/>
          <p:cNvSpPr/>
          <p:nvPr/>
        </p:nvSpPr>
        <p:spPr>
          <a:xfrm>
            <a:off x="7964424" y="5120640"/>
            <a:ext cx="3312871" cy="457200"/>
          </a:xfrm>
          <a:prstGeom prst="rect">
            <a:avLst/>
          </a:prstGeom>
          <a:noFill/>
          <a:ln/>
        </p:spPr>
        <p:txBody>
          <a:bodyPr wrap="square" lIns="0" tIns="0" rIns="0" bIns="0" rtlCol="0" anchor="ctr"/>
          <a:lstStyle/>
          <a:p>
            <a:pPr indent="0" marL="0">
              <a:lnSpc>
                <a:spcPct val="118000"/>
              </a:lnSpc>
              <a:buNone/>
            </a:pPr>
            <a:r>
              <a:rPr lang="en-US" sz="900" dirty="0">
                <a:solidFill>
                  <a:srgbClr val="8C6A3A"/>
                </a:solidFill>
                <a:latin typeface="Meiryo" pitchFamily="34" charset="0"/>
                <a:ea typeface="Meiryo" pitchFamily="34" charset="-122"/>
                <a:cs typeface="Meiryo" pitchFamily="34" charset="-120"/>
              </a:rPr>
              <a:t>単一銘柄ではなく複数産地・複数ヴィンテージへの分散となり、ポートフォリオ内での分散効果が働く。</a:t>
            </a:r>
            <a:endParaRPr lang="en-US" sz="900" dirty="0"/>
          </a:p>
        </p:txBody>
      </p:sp>
      <p:sp>
        <p:nvSpPr>
          <p:cNvPr id="49" name="Shape 47"/>
          <p:cNvSpPr/>
          <p:nvPr/>
        </p:nvSpPr>
        <p:spPr>
          <a:xfrm>
            <a:off x="658368" y="5724144"/>
            <a:ext cx="10874959" cy="566928"/>
          </a:xfrm>
          <a:prstGeom prst="roundRect">
            <a:avLst>
              <a:gd name="adj" fmla="val 12903"/>
            </a:avLst>
          </a:prstGeom>
          <a:solidFill>
            <a:srgbClr val="F5EFE4"/>
          </a:solidFill>
          <a:ln w="9525">
            <a:solidFill>
              <a:srgbClr val="E6DCCB"/>
            </a:solidFill>
            <a:prstDash val="solid"/>
          </a:ln>
          <a:effectLst>
            <a:outerShdw sx="100000" sy="100000" kx="0" ky="0" algn="bl" rotWithShape="0" blurRad="76200" dist="25400" dir="5400000">
              <a:srgbClr val="6F665F">
                <a:alpha val="18000"/>
              </a:srgbClr>
            </a:outerShdw>
          </a:effectLst>
        </p:spPr>
      </p:sp>
      <p:sp>
        <p:nvSpPr>
          <p:cNvPr id="50" name="Text 48"/>
          <p:cNvSpPr/>
          <p:nvPr/>
        </p:nvSpPr>
        <p:spPr>
          <a:xfrm>
            <a:off x="932688" y="5815584"/>
            <a:ext cx="10326319" cy="384048"/>
          </a:xfrm>
          <a:prstGeom prst="rect">
            <a:avLst/>
          </a:prstGeom>
          <a:noFill/>
          <a:ln/>
        </p:spPr>
        <p:txBody>
          <a:bodyPr wrap="square" lIns="0" tIns="0" rIns="0" bIns="0" rtlCol="0" anchor="ctr"/>
          <a:lstStyle/>
          <a:p>
            <a:pPr indent="0" marL="0">
              <a:lnSpc>
                <a:spcPct val="120000"/>
              </a:lnSpc>
              <a:buNone/>
            </a:pPr>
            <a:r>
              <a:rPr lang="en-US" sz="1000" dirty="0">
                <a:solidFill>
                  <a:srgbClr val="2B2622"/>
                </a:solidFill>
                <a:latin typeface="Meiryo" pitchFamily="34" charset="0"/>
                <a:ea typeface="Meiryo" pitchFamily="34" charset="-122"/>
                <a:cs typeface="Meiryo" pitchFamily="34" charset="-120"/>
              </a:rPr>
              <a:t>正規流通の価格差のうち時価に対する24.5%分をSPCに残し、残りをWineBankが卸値の中で受け取ります。WineBank受取（年平均）126百万円のうち値入れ56百万円と管理報酬10百万円は運用成果によらず確定し、持分60百万円が成果に連動します。</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2B2622"/>
        </a:solidFill>
      </p:bgPr>
    </p:bg>
    <p:spTree>
      <p:nvGrpSpPr>
        <p:cNvPr id="1" name=""/>
        <p:cNvGrpSpPr/>
        <p:nvPr/>
      </p:nvGrpSpPr>
      <p:grpSpPr>
        <a:xfrm>
          <a:off x="0" y="0"/>
          <a:ext cx="0" cy="0"/>
          <a:chOff x="0" y="0"/>
          <a:chExt cx="0" cy="0"/>
        </a:xfrm>
      </p:grpSpPr>
      <p:sp>
        <p:nvSpPr>
          <p:cNvPr id="2" name="Shape 0"/>
          <p:cNvSpPr/>
          <p:nvPr/>
        </p:nvSpPr>
        <p:spPr>
          <a:xfrm>
            <a:off x="8503920" y="-2011680"/>
            <a:ext cx="5120640" cy="5120640"/>
          </a:xfrm>
          <a:prstGeom prst="ellipse">
            <a:avLst/>
          </a:prstGeom>
          <a:solidFill>
            <a:srgbClr val="1C1714"/>
          </a:solidFill>
          <a:ln w="12700">
            <a:solidFill>
              <a:srgbClr val="1C1714"/>
            </a:solidFill>
            <a:prstDash val="solid"/>
          </a:ln>
        </p:spPr>
      </p:sp>
      <p:sp>
        <p:nvSpPr>
          <p:cNvPr id="3" name="Shape 1"/>
          <p:cNvSpPr/>
          <p:nvPr/>
        </p:nvSpPr>
        <p:spPr>
          <a:xfrm>
            <a:off x="685800" y="1216152"/>
            <a:ext cx="109728" cy="109728"/>
          </a:xfrm>
          <a:prstGeom prst="ellipse">
            <a:avLst/>
          </a:prstGeom>
          <a:solidFill>
            <a:srgbClr val="A78450"/>
          </a:solidFill>
          <a:ln w="12700">
            <a:solidFill>
              <a:srgbClr val="A78450"/>
            </a:solidFill>
            <a:prstDash val="solid"/>
          </a:ln>
        </p:spPr>
      </p:sp>
      <p:sp>
        <p:nvSpPr>
          <p:cNvPr id="4" name="Text 2"/>
          <p:cNvSpPr/>
          <p:nvPr/>
        </p:nvSpPr>
        <p:spPr>
          <a:xfrm>
            <a:off x="923544" y="1097280"/>
            <a:ext cx="9144000" cy="347472"/>
          </a:xfrm>
          <a:prstGeom prst="rect">
            <a:avLst/>
          </a:prstGeom>
          <a:noFill/>
          <a:ln/>
        </p:spPr>
        <p:txBody>
          <a:bodyPr wrap="square" lIns="0" tIns="0" rIns="0" bIns="0" rtlCol="0" anchor="ctr"/>
          <a:lstStyle/>
          <a:p>
            <a:pPr indent="0" marL="0">
              <a:buNone/>
            </a:pPr>
            <a:r>
              <a:rPr lang="en-US" sz="1200" b="1" dirty="0">
                <a:solidFill>
                  <a:srgbClr val="C9AE7E"/>
                </a:solidFill>
                <a:latin typeface="Meiryo" pitchFamily="34" charset="0"/>
                <a:ea typeface="Meiryo" pitchFamily="34" charset="-122"/>
                <a:cs typeface="Meiryo" pitchFamily="34" charset="-120"/>
              </a:rPr>
              <a:t>C L O S I N G</a:t>
            </a:r>
            <a:endParaRPr lang="en-US" sz="1200" dirty="0"/>
          </a:p>
        </p:txBody>
      </p:sp>
      <p:sp>
        <p:nvSpPr>
          <p:cNvPr id="5" name="Text 3"/>
          <p:cNvSpPr/>
          <p:nvPr/>
        </p:nvSpPr>
        <p:spPr>
          <a:xfrm>
            <a:off x="685800" y="1554480"/>
            <a:ext cx="8961120" cy="1645920"/>
          </a:xfrm>
          <a:prstGeom prst="rect">
            <a:avLst/>
          </a:prstGeom>
          <a:noFill/>
          <a:ln/>
        </p:spPr>
        <p:txBody>
          <a:bodyPr wrap="square" lIns="0" tIns="0" rIns="0" bIns="0" rtlCol="0" anchor="ctr"/>
          <a:lstStyle/>
          <a:p>
            <a:pPr indent="0" marL="0">
              <a:lnSpc>
                <a:spcPct val="105000"/>
              </a:lnSpc>
              <a:buNone/>
            </a:pPr>
            <a:r>
              <a:rPr lang="en-US" sz="3600" b="1" dirty="0">
                <a:solidFill>
                  <a:srgbClr val="FFFFFF"/>
                </a:solidFill>
                <a:latin typeface="Meiryo" pitchFamily="34" charset="0"/>
                <a:ea typeface="Meiryo" pitchFamily="34" charset="-122"/>
                <a:cs typeface="Meiryo" pitchFamily="34" charset="-120"/>
              </a:rPr>
              <a:t>すべての人に</a:t>
            </a:r>
            <a:endParaRPr lang="en-US" sz="3600" dirty="0"/>
          </a:p>
          <a:p>
            <a:pPr indent="0" marL="0">
              <a:lnSpc>
                <a:spcPct val="105000"/>
              </a:lnSpc>
              <a:buNone/>
            </a:pPr>
            <a:r>
              <a:rPr lang="en-US" sz="3600" b="1" dirty="0">
                <a:solidFill>
                  <a:srgbClr val="FFFFFF"/>
                </a:solidFill>
                <a:latin typeface="Meiryo" pitchFamily="34" charset="0"/>
                <a:ea typeface="Meiryo" pitchFamily="34" charset="-122"/>
                <a:cs typeface="Meiryo" pitchFamily="34" charset="-120"/>
              </a:rPr>
              <a:t>ファインワインを。</a:t>
            </a:r>
            <a:endParaRPr lang="en-US" sz="3600" dirty="0"/>
          </a:p>
        </p:txBody>
      </p:sp>
      <p:sp>
        <p:nvSpPr>
          <p:cNvPr id="6" name="Shape 4"/>
          <p:cNvSpPr/>
          <p:nvPr/>
        </p:nvSpPr>
        <p:spPr>
          <a:xfrm>
            <a:off x="685800" y="3337560"/>
            <a:ext cx="1828800" cy="18288"/>
          </a:xfrm>
          <a:prstGeom prst="rect">
            <a:avLst/>
          </a:prstGeom>
          <a:solidFill>
            <a:srgbClr val="A78450"/>
          </a:solidFill>
          <a:ln w="12700">
            <a:solidFill>
              <a:srgbClr val="A78450"/>
            </a:solidFill>
            <a:prstDash val="solid"/>
          </a:ln>
        </p:spPr>
      </p:sp>
      <p:sp>
        <p:nvSpPr>
          <p:cNvPr id="7" name="Text 5"/>
          <p:cNvSpPr/>
          <p:nvPr/>
        </p:nvSpPr>
        <p:spPr>
          <a:xfrm>
            <a:off x="685800" y="3566160"/>
            <a:ext cx="9601200" cy="1097280"/>
          </a:xfrm>
          <a:prstGeom prst="rect">
            <a:avLst/>
          </a:prstGeom>
          <a:noFill/>
          <a:ln/>
        </p:spPr>
        <p:txBody>
          <a:bodyPr wrap="square" lIns="0" tIns="0" rIns="0" bIns="0" rtlCol="0" anchor="t"/>
          <a:lstStyle/>
          <a:p>
            <a:pPr indent="0" marL="0">
              <a:lnSpc>
                <a:spcPct val="140000"/>
              </a:lnSpc>
              <a:buNone/>
            </a:pPr>
            <a:r>
              <a:rPr lang="en-US" sz="1500" dirty="0">
                <a:solidFill>
                  <a:srgbClr val="E6DCCB"/>
                </a:solidFill>
                <a:latin typeface="Meiryo" pitchFamily="34" charset="0"/>
                <a:ea typeface="Meiryo" pitchFamily="34" charset="-122"/>
                <a:cs typeface="Meiryo" pitchFamily="34" charset="-120"/>
              </a:rPr>
              <a:t>WineBankは卸す時点で値入れし、出口では管理報酬以外を取りません。</a:t>
            </a:r>
            <a:endParaRPr lang="en-US" sz="1500" dirty="0"/>
          </a:p>
          <a:p>
            <a:pPr indent="0" marL="0">
              <a:lnSpc>
                <a:spcPct val="140000"/>
              </a:lnSpc>
              <a:buNone/>
            </a:pPr>
            <a:r>
              <a:rPr lang="en-US" sz="1500" dirty="0">
                <a:solidFill>
                  <a:srgbClr val="E6DCCB"/>
                </a:solidFill>
                <a:latin typeface="Meiryo" pitchFamily="34" charset="0"/>
                <a:ea typeface="Meiryo" pitchFamily="34" charset="-122"/>
                <a:cs typeface="Meiryo" pitchFamily="34" charset="-120"/>
              </a:rPr>
              <a:t>利益は出資比率どおりに分け合い、</a:t>
            </a:r>
            <a:pPr indent="0" marL="0">
              <a:lnSpc>
                <a:spcPct val="140000"/>
              </a:lnSpc>
              <a:buNone/>
            </a:pPr>
            <a:r>
              <a:rPr lang="en-US" sz="1500" b="1" dirty="0">
                <a:solidFill>
                  <a:srgbClr val="C9AE7E"/>
                </a:solidFill>
                <a:latin typeface="Meiryo" pitchFamily="34" charset="0"/>
                <a:ea typeface="Meiryo" pitchFamily="34" charset="-122"/>
                <a:cs typeface="Meiryo" pitchFamily="34" charset="-120"/>
              </a:rPr>
              <a:t>投資家とWineBankが同じ方向を向くファンド</a:t>
            </a:r>
            <a:pPr indent="0" marL="0">
              <a:lnSpc>
                <a:spcPct val="140000"/>
              </a:lnSpc>
              <a:buNone/>
            </a:pPr>
            <a:r>
              <a:rPr lang="en-US" sz="1500" dirty="0">
                <a:solidFill>
                  <a:srgbClr val="E6DCCB"/>
                </a:solidFill>
                <a:latin typeface="Meiryo" pitchFamily="34" charset="0"/>
                <a:ea typeface="Meiryo" pitchFamily="34" charset="-122"/>
                <a:cs typeface="Meiryo" pitchFamily="34" charset="-120"/>
              </a:rPr>
              <a:t>をつくります。</a:t>
            </a:r>
            <a:endParaRPr lang="en-US" sz="1500" dirty="0"/>
          </a:p>
        </p:txBody>
      </p:sp>
      <p:sp>
        <p:nvSpPr>
          <p:cNvPr id="8" name="Text 6"/>
          <p:cNvSpPr/>
          <p:nvPr/>
        </p:nvSpPr>
        <p:spPr>
          <a:xfrm>
            <a:off x="685800" y="5715000"/>
            <a:ext cx="9144000" cy="365760"/>
          </a:xfrm>
          <a:prstGeom prst="rect">
            <a:avLst/>
          </a:prstGeom>
          <a:noFill/>
          <a:ln/>
        </p:spPr>
        <p:txBody>
          <a:bodyPr wrap="square" lIns="0" tIns="0" rIns="0" bIns="0" rtlCol="0" anchor="ctr"/>
          <a:lstStyle/>
          <a:p>
            <a:pPr indent="0" marL="0">
              <a:buNone/>
            </a:pPr>
            <a:r>
              <a:rPr lang="en-US" sz="1300" b="1" dirty="0">
                <a:solidFill>
                  <a:srgbClr val="FFFFFF"/>
                </a:solidFill>
                <a:latin typeface="Meiryo" pitchFamily="34" charset="0"/>
                <a:ea typeface="Meiryo" pitchFamily="34" charset="-122"/>
                <a:cs typeface="Meiryo" pitchFamily="34" charset="-120"/>
              </a:rPr>
              <a:t>株式会社WineBank　｜　Wine × Technology</a:t>
            </a:r>
            <a:endParaRPr lang="en-US" sz="1300" dirty="0"/>
          </a:p>
        </p:txBody>
      </p:sp>
      <p:sp>
        <p:nvSpPr>
          <p:cNvPr id="9" name="Text 7"/>
          <p:cNvSpPr/>
          <p:nvPr/>
        </p:nvSpPr>
        <p:spPr>
          <a:xfrm>
            <a:off x="685800" y="6446520"/>
            <a:ext cx="5486400" cy="256032"/>
          </a:xfrm>
          <a:prstGeom prst="rect">
            <a:avLst/>
          </a:prstGeom>
          <a:noFill/>
          <a:ln/>
        </p:spPr>
        <p:txBody>
          <a:bodyPr wrap="square" lIns="0" tIns="0" rIns="0" bIns="0" rtlCol="0" anchor="ctr"/>
          <a:lstStyle/>
          <a:p>
            <a:pPr indent="0" marL="0">
              <a:buNone/>
            </a:pPr>
            <a:r>
              <a:rPr lang="en-US" sz="900" dirty="0">
                <a:solidFill>
                  <a:srgbClr val="9A8F84"/>
                </a:solidFill>
                <a:latin typeface="Meiryo" pitchFamily="34" charset="0"/>
                <a:ea typeface="Meiryo" pitchFamily="34" charset="-122"/>
                <a:cs typeface="Meiryo" pitchFamily="34" charset="-120"/>
              </a:rPr>
              <a:t>Confidential</a:t>
            </a:r>
            <a:endParaRPr lang="en-US" sz="900" dirty="0"/>
          </a:p>
        </p:txBody>
      </p:sp>
      <p:sp>
        <p:nvSpPr>
          <p:cNvPr id="10" name="Text 8"/>
          <p:cNvSpPr/>
          <p:nvPr/>
        </p:nvSpPr>
        <p:spPr>
          <a:xfrm>
            <a:off x="10984687" y="6446520"/>
            <a:ext cx="548640" cy="256032"/>
          </a:xfrm>
          <a:prstGeom prst="rect">
            <a:avLst/>
          </a:prstGeom>
          <a:noFill/>
          <a:ln/>
        </p:spPr>
        <p:txBody>
          <a:bodyPr wrap="square" lIns="0" tIns="0" rIns="0" bIns="0" rtlCol="0" anchor="ctr"/>
          <a:lstStyle/>
          <a:p>
            <a:pPr algn="r" indent="0" marL="0">
              <a:buNone/>
            </a:pPr>
            <a:r>
              <a:rPr lang="en-US" sz="900" dirty="0">
                <a:solidFill>
                  <a:srgbClr val="9A8F84"/>
                </a:solidFill>
                <a:latin typeface="Meiryo" pitchFamily="34" charset="0"/>
                <a:ea typeface="Meiryo" pitchFamily="34" charset="-122"/>
                <a:cs typeface="Meiryo" pitchFamily="34" charset="-120"/>
              </a:rPr>
              <a:t>23</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株式会社WineBank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ワインファンド（SPC）組成のご提案</dc:title>
  <dc:subject>PptxGenJS Presentation</dc:subject>
  <dc:creator>株式会社WineBank</dc:creator>
  <cp:lastModifiedBy>株式会社WineBank</cp:lastModifiedBy>
  <cp:revision>1</cp:revision>
  <dcterms:created xsi:type="dcterms:W3CDTF">2026-10-31T00:04:52Z</dcterms:created>
  <dcterms:modified xsi:type="dcterms:W3CDTF">2026-10-31T00:04:52Z</dcterms:modified>
</cp:coreProperties>
</file>