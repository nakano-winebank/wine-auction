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投資家利回り（フル稼働時の単年・％）</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29</c:v>
                </c:pt>
                <c:pt idx="1">
                  <c:v>22.5</c:v>
                </c:pt>
                <c:pt idx="2">
                  <c:v>18.6</c:v>
                </c:pt>
                <c:pt idx="3">
                  <c:v>16</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年平均利回り（年平均・％）</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27.8</c:v>
                </c:pt>
                <c:pt idx="1">
                  <c:v>20</c:v>
                </c:pt>
                <c:pt idx="2">
                  <c:v>16.1</c:v>
                </c:pt>
                <c:pt idx="3">
                  <c:v>16.1</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4"/>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 年平均利回り（年平均・％）</a:t>
            </a:r>
          </a:p>
        </c:rich>
      </c:tx>
      <c:layout/>
      <c:overlay val="0"/>
    </c:title>
    <c:autoTitleDeleted val="0"/>
    <c:plotArea>
      <c:layout/>
      <c:barChart>
        <c:barDir val="col"/>
        <c:grouping val="clustered"/>
        <c:varyColors val="0"/>
        <c:ser>
          <c:idx val="0"/>
          <c:order val="0"/>
          <c:tx>
            <c:strRef>
              <c:f>Sheet1!$B$1</c:f>
              <c:strCache>
                <c:ptCount val="1"/>
                <c:pt idx="0">
                  <c:v>ポジティブ（上昇10%）</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32.1</c:v>
                </c:pt>
                <c:pt idx="1">
                  <c:v>24.3</c:v>
                </c:pt>
                <c:pt idx="2">
                  <c:v>20.5</c:v>
                </c:pt>
                <c:pt idx="3">
                  <c:v>20.6</c:v>
                </c:pt>
              </c:numCache>
            </c:numRef>
          </c:val>
        </c:ser>
        <c:ser>
          <c:idx val="1"/>
          <c:order val="1"/>
          <c:tx>
            <c:strRef>
              <c:f>Sheet1!$C$1</c:f>
              <c:strCache>
                <c:ptCount val="1"/>
                <c:pt idx="0">
                  <c:v>ニュートラル（上昇6%・主線）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27.8</c:v>
                </c:pt>
                <c:pt idx="1">
                  <c:v>20</c:v>
                </c:pt>
                <c:pt idx="2">
                  <c:v>16.1</c:v>
                </c:pt>
                <c:pt idx="3">
                  <c:v>16.1</c:v>
                </c:pt>
              </c:numCache>
            </c:numRef>
          </c:val>
        </c:ser>
        <c:ser>
          <c:idx val="2"/>
          <c:order val="2"/>
          <c:tx>
            <c:strRef>
              <c:f>Sheet1!$D$1</c:f>
              <c:strCache>
                <c:ptCount val="1"/>
                <c:pt idx="0">
                  <c:v>ネガティブ（上昇0%）</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21.4</c:v>
                </c:pt>
                <c:pt idx="1">
                  <c:v>13.6</c:v>
                </c:pt>
                <c:pt idx="2">
                  <c:v>9.7</c:v>
                </c:pt>
                <c:pt idx="3">
                  <c:v>9.5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WineBankは卸す時点で値入れし、出口では管理報酬以外を取らない。利益は出資比率どおり60:40で配分する。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主線は回転12ヶ月で年平均20.0%（フル稼働時の単年22.5%）。折半は廃止し出資比率でプロラタ配分。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投資家の年平均20.0%から逆算：SPC利益1.00億円を60:40で配分。投資家40百万円、WineBank60百万円。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比率が同じなので利回りはほぼ同じ。セカンドクローズは回転実績を見て判断する。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回転12ヶ月＝年間6.67億円。20%の分岐点は回転12.3ヶ月で余裕なし。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WineBankの取り分は卸した時点で確定。出口は管理報酬のみ。分配は出資比率どおり。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免許・口座・割当の3つの壁。卸値の合理性と自己出資分の内部利益が論点。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時価75.00から24.5%控除して56.63で卸す。SPCの単位粗利は15.93。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67.60 &gt; B2B 69.30。両者の加重平均が時価75.00となる。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卸値が時価連動なので、仕入・売値の変動はSPCの粗利に効かない。効くのは値上がり率。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WineBankの値入れはSPC費用ではなく簿価に含まれる点に注意。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主線は年平均20.0%（フル稼働時の単年22.5%）。20%の分岐点は回転12.3ヶ月。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回転が一次的にリターンを決める。必要販売額は前回より小さく、実力の範囲内。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値上がり効果は約＋6.9pt。これがないと主線でも15.6%。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効く変数は回転と値上がりの2つだけ。仕入・売値は遮断される。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3シナリオはワイン価格上昇率で定義し直した（仕入・売値は遮断されるため）。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効く変数は値上がりと回転の2つ。20%の分岐点は回転12.3ヶ月。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新スキームでは卸値そのものが最大の相反論点。αの固定と第三者検証が担保。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卸値の固定・時価の算定方法・自己出資分の内部利益が新たな相反論点。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卸値が時価連動になったことで、仕入リスクは遮断され、価格変動リスクの比重が上がった。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卸値ルールと報酬二本立てを条件表に明記した。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報酬の単純さと、仕入・売値からの遮断が新スキームの訴求点。WB受取の内訳は正直に開示する。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512064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512064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山本案｜出資比率でプロラタ配分・成功報酬なし</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11" name="Text 9"/>
          <p:cNvSpPr/>
          <p:nvPr/>
        </p:nvSpPr>
        <p:spPr>
          <a:xfrm>
            <a:off x="658368" y="4133088"/>
            <a:ext cx="877824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ファーストクローズ 5億円 → 年度内セカンドクローズ 10億円 ／ 運用期間5年 ／ 年1回分配</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2026年10月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実物ワインの流通価格差を収益源とする、現物裏付け型の短期回転ファンド。WineBankは卸す時点で値入れし、出口では管理報酬以外を取らない。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24.5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卸値の控除率 α</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時価（取得時の売値75.00）から控除してSPCへ卸す。SPC簿価は定価比56.63</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2600" b="1" dirty="0">
                <a:solidFill>
                  <a:srgbClr val="C9A96E"/>
                </a:solidFill>
                <a:latin typeface="Cambria" pitchFamily="34" charset="0"/>
                <a:ea typeface="Cambria" pitchFamily="34" charset="-122"/>
                <a:cs typeface="Cambria" pitchFamily="34" charset="-120"/>
              </a:rPr>
              <a:t>60 : 40</a:t>
            </a:r>
            <a:pPr indent="0" marL="0">
              <a:buNone/>
            </a:pPr>
            <a:endParaRPr lang="en-US" sz="26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利益の配分（WB：投資家）</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出資比率どおりのプロラタ配分。成功報酬（折半）は取らない</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投資家利回り（年平均）</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出資2億円に対する5年間の分配の年平均。フル稼働時の単年では22.5%</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WineBankの取り分は、SPCへ卸す時点の値入れに一本化する。</a:t>
            </a:r>
            <a:endParaRPr lang="en-US" sz="1200" dirty="0"/>
          </a:p>
        </p:txBody>
      </p:sp>
      <p:sp>
        <p:nvSpPr>
          <p:cNvPr id="26" name="Text 24"/>
          <p:cNvSpPr/>
          <p:nvPr/>
        </p:nvSpPr>
        <p:spPr>
          <a:xfrm>
            <a:off x="1078992" y="362102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時価から24.5%を控除した定価比56.63でSPCへ卸し、その値入れ（年平均56百万円）を卸した時点で受け取る。αは投資家の年平均20%を基礎に定める。売却時に取るのは管理報酬（総額の年2%）のみとする。</a:t>
            </a:r>
            <a:endParaRPr lang="en-US" sz="950" dirty="0"/>
          </a:p>
        </p:txBody>
      </p:sp>
      <p:sp>
        <p:nvSpPr>
          <p:cNvPr id="27" name="Shape 25"/>
          <p:cNvSpPr/>
          <p:nvPr/>
        </p:nvSpPr>
        <p:spPr>
          <a:xfrm>
            <a:off x="658368" y="4059936"/>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5993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2336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SPCの利益は出資比率どおり 60：40 で分ける。</a:t>
            </a:r>
            <a:endParaRPr lang="en-US" sz="1200" dirty="0"/>
          </a:p>
        </p:txBody>
      </p:sp>
      <p:sp>
        <p:nvSpPr>
          <p:cNvPr id="30" name="Text 28"/>
          <p:cNvSpPr/>
          <p:nvPr/>
        </p:nvSpPr>
        <p:spPr>
          <a:xfrm>
            <a:off x="1078992" y="426110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成功報酬（折半）は廃止する。投資家の取分は「SPC税前利益 × 出資比率40%」であり、配分は出資比率だけで決まる。</a:t>
            </a:r>
            <a:endParaRPr lang="en-US" sz="950" dirty="0"/>
          </a:p>
        </p:txBody>
      </p:sp>
      <p:sp>
        <p:nvSpPr>
          <p:cNvPr id="31" name="Shape 29"/>
          <p:cNvSpPr/>
          <p:nvPr/>
        </p:nvSpPr>
        <p:spPr>
          <a:xfrm>
            <a:off x="658368" y="4700016"/>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0001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6344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投資家の利回りは、仕入価格と売値の変動から遮断される。</a:t>
            </a:r>
            <a:endParaRPr lang="en-US" sz="1200" dirty="0"/>
          </a:p>
        </p:txBody>
      </p:sp>
      <p:sp>
        <p:nvSpPr>
          <p:cNvPr id="34" name="Text 32"/>
          <p:cNvSpPr/>
          <p:nvPr/>
        </p:nvSpPr>
        <p:spPr>
          <a:xfrm>
            <a:off x="1078992" y="490118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卸値が時価に連動するため、市中仕入が50→45に下がっても（＋0.0pt）、売値が5%下がっても（▲0.1pt）、投資家利回りはほとんど動かない。残る変動要因は在庫回転期間とワイン価格の上昇率になる。</a:t>
            </a:r>
            <a:endParaRPr lang="en-US" sz="950" dirty="0"/>
          </a:p>
        </p:txBody>
      </p:sp>
      <p:sp>
        <p:nvSpPr>
          <p:cNvPr id="35" name="Shape 33"/>
          <p:cNvSpPr/>
          <p:nvPr/>
        </p:nvSpPr>
        <p:spPr>
          <a:xfrm>
            <a:off x="658368" y="534009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34009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30352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38" name="Text 36"/>
          <p:cNvSpPr/>
          <p:nvPr/>
        </p:nvSpPr>
        <p:spPr>
          <a:xfrm>
            <a:off x="1078992" y="554126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回転12ヶ月に必要な年間販売額は6.67億円。最短9ヶ月、延びても15〜18ヶ月を想定レンジとする。</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総額5億円をWineBankの現物出資3億円（60%）と投資家出資2億円（40%）で構成し、SPCの利益を出資比率どおりに分ける。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27632"/>
            <a:ext cx="3442106" cy="1700784"/>
          </a:xfrm>
          <a:prstGeom prst="roundRect">
            <a:avLst>
              <a:gd name="adj" fmla="val 2419"/>
            </a:avLst>
          </a:prstGeom>
          <a:solidFill>
            <a:srgbClr val="171614"/>
          </a:solidFill>
          <a:ln w="9525">
            <a:solidFill>
              <a:srgbClr val="2E2A24"/>
            </a:solidFill>
            <a:prstDash val="solid"/>
          </a:ln>
        </p:spPr>
      </p:sp>
      <p:sp>
        <p:nvSpPr>
          <p:cNvPr id="8" name="Text 6"/>
          <p:cNvSpPr/>
          <p:nvPr/>
        </p:nvSpPr>
        <p:spPr>
          <a:xfrm>
            <a:off x="896112"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現物出資｜WineBank</a:t>
            </a:r>
            <a:endParaRPr lang="en-US" sz="1150" dirty="0"/>
          </a:p>
        </p:txBody>
      </p:sp>
      <p:sp>
        <p:nvSpPr>
          <p:cNvPr id="9" name="Text 7"/>
          <p:cNvSpPr/>
          <p:nvPr/>
        </p:nvSpPr>
        <p:spPr>
          <a:xfrm>
            <a:off x="896112"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0" name="Text 8"/>
          <p:cNvSpPr/>
          <p:nvPr/>
        </p:nvSpPr>
        <p:spPr>
          <a:xfrm>
            <a:off x="896112"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総額の60%（ワイン現物）</a:t>
            </a:r>
            <a:endParaRPr lang="en-US" sz="950" dirty="0"/>
          </a:p>
        </p:txBody>
      </p:sp>
      <p:sp>
        <p:nvSpPr>
          <p:cNvPr id="11" name="Text 9"/>
          <p:cNvSpPr/>
          <p:nvPr/>
        </p:nvSpPr>
        <p:spPr>
          <a:xfrm>
            <a:off x="896112"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・自己勘定のワイン現物を拠出</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・現金の拠出ではない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・利益は持分60%を受け取る</a:t>
            </a:r>
            <a:endParaRPr lang="en-US" sz="900" dirty="0"/>
          </a:p>
        </p:txBody>
      </p:sp>
      <p:sp>
        <p:nvSpPr>
          <p:cNvPr id="12" name="Shape 10"/>
          <p:cNvSpPr/>
          <p:nvPr/>
        </p:nvSpPr>
        <p:spPr>
          <a:xfrm>
            <a:off x="4374794" y="1627632"/>
            <a:ext cx="3442106" cy="1700784"/>
          </a:xfrm>
          <a:prstGeom prst="roundRect">
            <a:avLst>
              <a:gd name="adj" fmla="val 2419"/>
            </a:avLst>
          </a:prstGeom>
          <a:solidFill>
            <a:srgbClr val="1F1D19"/>
          </a:solidFill>
          <a:ln w="9525">
            <a:solidFill>
              <a:srgbClr val="6E5730"/>
            </a:solidFill>
            <a:prstDash val="solid"/>
          </a:ln>
        </p:spPr>
      </p:sp>
      <p:sp>
        <p:nvSpPr>
          <p:cNvPr id="13" name="Text 11"/>
          <p:cNvSpPr/>
          <p:nvPr/>
        </p:nvSpPr>
        <p:spPr>
          <a:xfrm>
            <a:off x="4612538" y="1773936"/>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出資｜投資家</a:t>
            </a:r>
            <a:endParaRPr lang="en-US" sz="1150" dirty="0"/>
          </a:p>
        </p:txBody>
      </p:sp>
      <p:sp>
        <p:nvSpPr>
          <p:cNvPr id="14" name="Text 12"/>
          <p:cNvSpPr/>
          <p:nvPr/>
        </p:nvSpPr>
        <p:spPr>
          <a:xfrm>
            <a:off x="4612538"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5" name="Text 13"/>
          <p:cNvSpPr/>
          <p:nvPr/>
        </p:nvSpPr>
        <p:spPr>
          <a:xfrm>
            <a:off x="4612538"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SPC利益の40%を受領（年平均20.0%）</a:t>
            </a:r>
            <a:endParaRPr lang="en-US" sz="950" dirty="0"/>
          </a:p>
        </p:txBody>
      </p:sp>
      <p:sp>
        <p:nvSpPr>
          <p:cNvPr id="16" name="Text 14"/>
          <p:cNvSpPr/>
          <p:nvPr/>
        </p:nvSpPr>
        <p:spPr>
          <a:xfrm>
            <a:off x="4612538"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・匿名組合出資（1口5,000万円以上）</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・年1回分配（4年目以降は解約可）</a:t>
            </a:r>
            <a:endParaRPr lang="en-US" sz="900" dirty="0"/>
          </a:p>
        </p:txBody>
      </p:sp>
      <p:sp>
        <p:nvSpPr>
          <p:cNvPr id="17" name="Shape 15"/>
          <p:cNvSpPr/>
          <p:nvPr/>
        </p:nvSpPr>
        <p:spPr>
          <a:xfrm>
            <a:off x="8091221" y="1627632"/>
            <a:ext cx="3442106" cy="1700784"/>
          </a:xfrm>
          <a:prstGeom prst="roundRect">
            <a:avLst>
              <a:gd name="adj" fmla="val 2419"/>
            </a:avLst>
          </a:prstGeom>
          <a:solidFill>
            <a:srgbClr val="171614"/>
          </a:solidFill>
          <a:ln w="9525">
            <a:solidFill>
              <a:srgbClr val="2E2A24"/>
            </a:solidFill>
            <a:prstDash val="solid"/>
          </a:ln>
        </p:spPr>
      </p:sp>
      <p:sp>
        <p:nvSpPr>
          <p:cNvPr id="18" name="Text 16"/>
          <p:cNvSpPr/>
          <p:nvPr/>
        </p:nvSpPr>
        <p:spPr>
          <a:xfrm>
            <a:off x="8328965"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WineBank受取（年平均）</a:t>
            </a:r>
            <a:endParaRPr lang="en-US" sz="1150" dirty="0"/>
          </a:p>
        </p:txBody>
      </p:sp>
      <p:sp>
        <p:nvSpPr>
          <p:cNvPr id="19" name="Text 17"/>
          <p:cNvSpPr/>
          <p:nvPr/>
        </p:nvSpPr>
        <p:spPr>
          <a:xfrm>
            <a:off x="8328965"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126</a:t>
            </a:r>
            <a:pPr indent="0" marL="0">
              <a:buNone/>
            </a:pPr>
            <a:r>
              <a:rPr lang="en-US" sz="1200" b="1" dirty="0">
                <a:solidFill>
                  <a:srgbClr val="C9A96E"/>
                </a:solidFill>
                <a:latin typeface="Yu Gothic" pitchFamily="34" charset="0"/>
                <a:ea typeface="Yu Gothic" pitchFamily="34" charset="-122"/>
                <a:cs typeface="Yu Gothic" pitchFamily="34" charset="-120"/>
              </a:rPr>
              <a:t> 百万円</a:t>
            </a:r>
            <a:endParaRPr lang="en-US" sz="2800" dirty="0"/>
          </a:p>
        </p:txBody>
      </p:sp>
      <p:sp>
        <p:nvSpPr>
          <p:cNvPr id="20" name="Text 18"/>
          <p:cNvSpPr/>
          <p:nvPr/>
        </p:nvSpPr>
        <p:spPr>
          <a:xfrm>
            <a:off x="8328965"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持分60＋値入れ56＋管理報酬10（百万円）</a:t>
            </a:r>
            <a:endParaRPr lang="en-US" sz="950" dirty="0"/>
          </a:p>
        </p:txBody>
      </p:sp>
      <p:sp>
        <p:nvSpPr>
          <p:cNvPr id="21" name="Text 19"/>
          <p:cNvSpPr/>
          <p:nvPr/>
        </p:nvSpPr>
        <p:spPr>
          <a:xfrm>
            <a:off x="8328965"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・値入れは卸した時点で受領</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・出口の成功報酬はなし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・管理報酬は総額の年2%</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419856"/>
          <a:ext cx="10874959" cy="914400"/>
        </p:xfrm>
        <a:graphic>
          <a:graphicData uri="http://schemas.openxmlformats.org/drawingml/2006/table">
            <a:tbl>
              <a:tblPr/>
              <a:tblGrid>
                <a:gridCol w="2798064"/>
                <a:gridCol w="1481328"/>
                <a:gridCol w="6592824"/>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① WineBankの値入れ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56百万円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時価75.00から24.5%控除の定価比56.63で卸す。組入れ・入替えの都度受領し、SPC費用には計上しない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② SPCの利益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1.00億円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在庫回転12ヶ月。管理報酬10百万円ほか費用控除後。②の40%が投資家の年平均20.0%となる水準から逆算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投資家（出資比率40%）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40百万円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出資2億円に対し 年平均利回り 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WineBank（出資比率60%）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現物出資分に対する持分。成功報酬（折半）は取らない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③ 管理報酬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総額の年2%。売却時に取るのはこれのみ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WineBank受取合計（①＋②の60%＋③）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現金の拠出はなく、ワイン現物の拠出と実務の遂行で受け取る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504688"/>
            <a:ext cx="10874959" cy="859536"/>
          </a:xfrm>
          <a:prstGeom prst="roundRect">
            <a:avLst>
              <a:gd name="adj" fmla="val 4787"/>
            </a:avLst>
          </a:prstGeom>
          <a:solidFill>
            <a:srgbClr val="1F1D19"/>
          </a:solidFill>
          <a:ln w="9525">
            <a:solidFill>
              <a:srgbClr val="6E5730"/>
            </a:solidFill>
            <a:prstDash val="solid"/>
          </a:ln>
        </p:spPr>
      </p:sp>
      <p:sp>
        <p:nvSpPr>
          <p:cNvPr id="24" name="Text 21"/>
          <p:cNvSpPr/>
          <p:nvPr/>
        </p:nvSpPr>
        <p:spPr>
          <a:xfrm>
            <a:off x="932688" y="5577840"/>
            <a:ext cx="5669280" cy="201168"/>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前回資料（原価卸＋折半）からの変更（回転12ヶ月・投資家の年平均利回り）</a:t>
            </a:r>
            <a:endParaRPr lang="en-US" sz="1050" dirty="0"/>
          </a:p>
        </p:txBody>
      </p:sp>
      <p:sp>
        <p:nvSpPr>
          <p:cNvPr id="25" name="Text 22"/>
          <p:cNvSpPr/>
          <p:nvPr/>
        </p:nvSpPr>
        <p:spPr>
          <a:xfrm>
            <a:off x="932688" y="5797296"/>
            <a:ext cx="10326319"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① 前回：原価50.50で卸し出口で折半 </a:t>
            </a:r>
            <a:pPr indent="0" marL="0">
              <a:buNone/>
            </a:pPr>
            <a:r>
              <a:rPr lang="en-US" sz="1200" b="1" dirty="0">
                <a:solidFill>
                  <a:srgbClr val="EFEBE3"/>
                </a:solidFill>
                <a:latin typeface="Cambria" pitchFamily="34" charset="0"/>
                <a:ea typeface="Cambria" pitchFamily="34" charset="-122"/>
                <a:cs typeface="Cambria" pitchFamily="34" charset="-120"/>
              </a:rPr>
              <a:t>16.0%</a:t>
            </a:r>
            <a:pPr indent="0" marL="0">
              <a:buNone/>
            </a:pPr>
            <a:r>
              <a:rPr lang="en-US" sz="950" dirty="0">
                <a:solidFill>
                  <a:srgbClr val="9A938A"/>
                </a:solidFill>
                <a:latin typeface="Yu Gothic" pitchFamily="34" charset="0"/>
                <a:ea typeface="Yu Gothic" pitchFamily="34" charset="-122"/>
                <a:cs typeface="Yu Gothic" pitchFamily="34" charset="-120"/>
              </a:rPr>
              <a:t>　→　② 今回：時価▲24.5%＝56.63で卸し出口はプロラタ </a:t>
            </a:r>
            <a:pPr indent="0" marL="0">
              <a:buNone/>
            </a:pPr>
            <a:r>
              <a:rPr lang="en-US" sz="1200" b="1" dirty="0">
                <a:solidFill>
                  <a:srgbClr val="C9A96E"/>
                </a:solidFill>
                <a:latin typeface="Cambria" pitchFamily="34" charset="0"/>
                <a:ea typeface="Cambria" pitchFamily="34" charset="-122"/>
                <a:cs typeface="Cambria" pitchFamily="34" charset="-120"/>
              </a:rPr>
              <a:t>20.0%</a:t>
            </a:r>
            <a:endParaRPr lang="en-US" sz="950" dirty="0"/>
          </a:p>
        </p:txBody>
      </p:sp>
      <p:sp>
        <p:nvSpPr>
          <p:cNvPr id="26" name="Text 23"/>
          <p:cNvSpPr/>
          <p:nvPr/>
        </p:nvSpPr>
        <p:spPr>
          <a:xfrm>
            <a:off x="932688" y="6035040"/>
            <a:ext cx="10326319" cy="219456"/>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年平均利回り」＝5年間の分配総額÷5÷出資額（仕入展開と最初の売却までの空白、満期の在庫清算を含む。表の金額も5年間の年平均）。「フル稼働時の単年利回り」22.5%は在庫が回り切った1年だけを切り出した参考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STAGED CLOSING</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段階クローズ：5億円から始め、年度内に10億円へ</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同じ資本構成（WineBank現物出資60%＋投資家出資40%）と同じ卸値ルールのまま、規模だけを拡大する。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27632"/>
            <a:ext cx="5291176" cy="1810512"/>
          </a:xfrm>
          <a:prstGeom prst="roundRect">
            <a:avLst>
              <a:gd name="adj" fmla="val 2273"/>
            </a:avLst>
          </a:prstGeom>
          <a:solidFill>
            <a:srgbClr val="1F1D19"/>
          </a:solidFill>
          <a:ln w="9525">
            <a:solidFill>
              <a:srgbClr val="6E5730"/>
            </a:solidFill>
            <a:prstDash val="solid"/>
          </a:ln>
        </p:spPr>
      </p:sp>
      <p:sp>
        <p:nvSpPr>
          <p:cNvPr id="8" name="Text 6"/>
          <p:cNvSpPr/>
          <p:nvPr/>
        </p:nvSpPr>
        <p:spPr>
          <a:xfrm>
            <a:off x="914400"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FIRST CLOSE</a:t>
            </a:r>
            <a:endParaRPr lang="en-US" sz="950" dirty="0"/>
          </a:p>
        </p:txBody>
      </p:sp>
      <p:sp>
        <p:nvSpPr>
          <p:cNvPr id="9" name="Text 7"/>
          <p:cNvSpPr/>
          <p:nvPr/>
        </p:nvSpPr>
        <p:spPr>
          <a:xfrm>
            <a:off x="914400" y="1975104"/>
            <a:ext cx="477911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ファーストクローズ</a:t>
            </a:r>
            <a:endParaRPr lang="en-US" sz="1250" dirty="0"/>
          </a:p>
        </p:txBody>
      </p:sp>
      <p:sp>
        <p:nvSpPr>
          <p:cNvPr id="10" name="Text 8"/>
          <p:cNvSpPr/>
          <p:nvPr/>
        </p:nvSpPr>
        <p:spPr>
          <a:xfrm>
            <a:off x="914400"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5億円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3億円 ＋ 投資家 2億円</a:t>
            </a:r>
            <a:endParaRPr lang="en-US" sz="1100" dirty="0"/>
          </a:p>
        </p:txBody>
      </p:sp>
      <p:sp>
        <p:nvSpPr>
          <p:cNvPr id="11" name="Text 9"/>
          <p:cNvSpPr/>
          <p:nvPr/>
        </p:nvSpPr>
        <p:spPr>
          <a:xfrm>
            <a:off x="914400"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6.67億円　／　投資家利回り（年平均）　20.0%</a:t>
            </a:r>
            <a:endParaRPr lang="en-US" sz="1050" dirty="0"/>
          </a:p>
        </p:txBody>
      </p:sp>
      <p:sp>
        <p:nvSpPr>
          <p:cNvPr id="12" name="Text 10"/>
          <p:cNvSpPr/>
          <p:nvPr/>
        </p:nvSpPr>
        <p:spPr>
          <a:xfrm>
            <a:off x="914400"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まず5億円で組成し、回転12ヶ月の実績を作る</a:t>
            </a:r>
            <a:endParaRPr lang="en-US" sz="950" dirty="0"/>
          </a:p>
        </p:txBody>
      </p:sp>
      <p:sp>
        <p:nvSpPr>
          <p:cNvPr id="13" name="Shape 11"/>
          <p:cNvSpPr/>
          <p:nvPr/>
        </p:nvSpPr>
        <p:spPr>
          <a:xfrm>
            <a:off x="6242152" y="1627632"/>
            <a:ext cx="5291176" cy="1810512"/>
          </a:xfrm>
          <a:prstGeom prst="roundRect">
            <a:avLst>
              <a:gd name="adj" fmla="val 2273"/>
            </a:avLst>
          </a:prstGeom>
          <a:solidFill>
            <a:srgbClr val="171614"/>
          </a:solidFill>
          <a:ln w="9525">
            <a:solidFill>
              <a:srgbClr val="2E2A24"/>
            </a:solidFill>
            <a:prstDash val="solid"/>
          </a:ln>
        </p:spPr>
      </p:sp>
      <p:sp>
        <p:nvSpPr>
          <p:cNvPr id="14" name="Text 12"/>
          <p:cNvSpPr/>
          <p:nvPr/>
        </p:nvSpPr>
        <p:spPr>
          <a:xfrm>
            <a:off x="6498184"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SECOND CLOSE</a:t>
            </a:r>
            <a:endParaRPr lang="en-US" sz="950" dirty="0"/>
          </a:p>
        </p:txBody>
      </p:sp>
      <p:sp>
        <p:nvSpPr>
          <p:cNvPr id="15" name="Text 13"/>
          <p:cNvSpPr/>
          <p:nvPr/>
        </p:nvSpPr>
        <p:spPr>
          <a:xfrm>
            <a:off x="6498184" y="1975104"/>
            <a:ext cx="477911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セカンドクローズ（年度内）</a:t>
            </a:r>
            <a:endParaRPr lang="en-US" sz="1250" dirty="0"/>
          </a:p>
        </p:txBody>
      </p:sp>
      <p:sp>
        <p:nvSpPr>
          <p:cNvPr id="16" name="Text 14"/>
          <p:cNvSpPr/>
          <p:nvPr/>
        </p:nvSpPr>
        <p:spPr>
          <a:xfrm>
            <a:off x="6498184"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10億円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6億円 ＋ 投資家 4億円</a:t>
            </a:r>
            <a:endParaRPr lang="en-US" sz="1100" dirty="0"/>
          </a:p>
        </p:txBody>
      </p:sp>
      <p:sp>
        <p:nvSpPr>
          <p:cNvPr id="17" name="Text 15"/>
          <p:cNvSpPr/>
          <p:nvPr/>
        </p:nvSpPr>
        <p:spPr>
          <a:xfrm>
            <a:off x="6498184"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13.34億円　／　投資家利回り（年平均）　20.4%</a:t>
            </a:r>
            <a:endParaRPr lang="en-US" sz="1050" dirty="0"/>
          </a:p>
        </p:txBody>
      </p:sp>
      <p:sp>
        <p:nvSpPr>
          <p:cNvPr id="18" name="Text 16"/>
          <p:cNvSpPr/>
          <p:nvPr/>
        </p:nvSpPr>
        <p:spPr>
          <a:xfrm>
            <a:off x="6498184"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販売実力の拡大を確認したうえで倍増する</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3566160"/>
          <a:ext cx="10874959" cy="914400"/>
        </p:xfrm>
        <a:graphic>
          <a:graphicData uri="http://schemas.openxmlformats.org/drawingml/2006/table">
            <a:tbl>
              <a:tblPr/>
              <a:tblGrid>
                <a:gridCol w="2395728"/>
                <a:gridCol w="1920240"/>
                <a:gridCol w="1920240"/>
                <a:gridCol w="4636008"/>
              </a:tblGrid>
              <a:tr h="217627">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5億円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資本構成の比率と卸値ルールは同一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WineBank現物出資（60%）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自己勘定のワイン現物を拠出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投資家出資（40%）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必要な年間販売額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6.67億円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B4553F"/>
                          </a:solidFill>
                          <a:latin typeface="Yu Gothic" pitchFamily="34" charset="0"/>
                          <a:ea typeface="Yu Gothic" pitchFamily="34" charset="-122"/>
                          <a:cs typeface="Yu Gothic" pitchFamily="34" charset="-120"/>
                        </a:rPr>
                        <a:t>13.34億円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回転12ヶ月を実現するために必要な販売額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年間税前利益（SPC）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管理報酬控除後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投資家取分（出資比率40%）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45百万円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91百万円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プロラタ配分。成功報酬は控除しない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投資家利回り（年平均）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仕入展開6ヶ月の立ち上がりと満期の残存在庫の清算売却を含む。αの算定基礎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フル稼働時の単年利回り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規模拡大で固定費が薄まりわずかに改善する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254百万円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値入れ＋持分＋管理報酬（5年間の年平均）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20%の分岐点（年平均）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回転12.3ヶ月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回転13.7ヶ月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これを超えると貴社基準を下回る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0" name="Shape 17"/>
          <p:cNvSpPr/>
          <p:nvPr/>
        </p:nvSpPr>
        <p:spPr>
          <a:xfrm>
            <a:off x="658368" y="5815584"/>
            <a:ext cx="10874959" cy="566928"/>
          </a:xfrm>
          <a:prstGeom prst="roundRect">
            <a:avLst>
              <a:gd name="adj" fmla="val 7258"/>
            </a:avLst>
          </a:prstGeom>
          <a:solidFill>
            <a:srgbClr val="1F1D19"/>
          </a:solidFill>
          <a:ln w="9525">
            <a:solidFill>
              <a:srgbClr val="6E5730"/>
            </a:solidFill>
            <a:prstDash val="solid"/>
          </a:ln>
        </p:spPr>
      </p:sp>
      <p:sp>
        <p:nvSpPr>
          <p:cNvPr id="21" name="Text 18"/>
          <p:cNvSpPr/>
          <p:nvPr/>
        </p:nvSpPr>
        <p:spPr>
          <a:xfrm>
            <a:off x="932688" y="5888736"/>
            <a:ext cx="10326319" cy="420624"/>
          </a:xfrm>
          <a:prstGeom prst="rect">
            <a:avLst/>
          </a:prstGeom>
          <a:noFill/>
          <a:ln/>
        </p:spPr>
        <p:txBody>
          <a:bodyPr wrap="square" lIns="0" tIns="0" rIns="0" bIns="0" rtlCol="0" anchor="ctr"/>
          <a:lstStyle/>
          <a:p>
            <a:pPr indent="0" marL="0">
              <a:lnSpc>
                <a:spcPct val="118000"/>
              </a:lnSpc>
              <a:buNone/>
            </a:pPr>
            <a:r>
              <a:rPr lang="en-US" sz="1000" b="1" dirty="0">
                <a:solidFill>
                  <a:srgbClr val="C9A96E"/>
                </a:solidFill>
                <a:latin typeface="Yu Gothic" pitchFamily="34" charset="0"/>
                <a:ea typeface="Yu Gothic" pitchFamily="34" charset="-122"/>
                <a:cs typeface="Yu Gothic" pitchFamily="34" charset="-120"/>
              </a:rPr>
              <a:t>セカンドクローズの判断基準：</a:t>
            </a:r>
            <a:pPr indent="0" marL="0">
              <a:lnSpc>
                <a:spcPct val="118000"/>
              </a:lnSpc>
              <a:buNone/>
            </a:pPr>
            <a:r>
              <a:rPr lang="en-US" sz="950" dirty="0">
                <a:solidFill>
                  <a:srgbClr val="EFEBE3"/>
                </a:solidFill>
                <a:latin typeface="Yu Gothic" pitchFamily="34" charset="0"/>
                <a:ea typeface="Yu Gothic" pitchFamily="34" charset="-122"/>
                <a:cs typeface="Yu Gothic" pitchFamily="34" charset="-120"/>
              </a:rPr>
              <a:t>規模を倍にすると必要な年間販売額も 6.67億円 → 13.34億円 と倍増する。これは現状の販売実力（年5〜7億円）を大きく超える水準であり、規模拡大は販売実力の拡大とセットでなければ回転12ヶ月を維持できない。セカンドクローズはファーストクローズの回転実績を確認したうえで判断す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ファーストクローズでは回転12ヶ月に年間6.67億円の販売が必要となる。組入銘柄の選定を主たる手段とし、配分ルールと販路拡大で補う。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WB受取（年平均）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6.67億円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貴社基準20%を満たす水準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WineBankの現物出資分についても同じ基準で拠出銘柄を選定す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6.67億円は、現状の販売実力（年5〜7億円）の範囲内にある。銘柄の大半はSPCと自己勘定で重複しないため配分の判断自体が生じず、回転期間は「何を組み入れるか」でほぼ決まる。重複銘柄の取扱いは在庫配分の公平性の頁を参照。投資家利回り（年平均）が20%を割り込むのは回転が12.3ヶ月を超えた場合であり、主線12ヶ月に余裕はない。回転12ヶ月の達成が貴社基準を満たすための必須条件とな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WineBankが免許事業者として売買当事者となり、SPCは現物の所有者として損益を受ける。WineBankは総額の60%の出資者でもある。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投資家（資産管理会社ほか）</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匿名組合出資（現金）　2億円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SPC税前利益の40%を年1回受領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簿価 定価比 56.63 でワインを保有</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現物出資 3億円　＋　GP実行</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酒類販売業免許・取引口座を保有</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A78450"/>
          </a:solidFill>
          <a:ln w="12700">
            <a:solidFill>
              <a:srgbClr val="A7845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WineBankが自社の免許・取引口座でインポーター／酒販店から正規品を調達する</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市中原価 50.00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F1D19"/>
          </a:solidFill>
          <a:ln w="9525">
            <a:solidFill>
              <a:srgbClr val="6E5730"/>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卸し</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時価75.00から24.5%を控除した価格でSPCへ卸す。WineBankの取り分はここで確定する</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 56.63</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SPC税前利益を出資比率どおり60：40で配分し年1回分配。成功報酬は取らない</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WB60：投資家40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総額の60%の出資者であると同時にGPとして実行を担う。報酬は「卸す時点の値入れ」と「総額の年2%の管理報酬」に限定し、出口の成功報酬は取らない。WineBankが現物出資する分についても同じ卸値（定価比56.63）で評価する。</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WineBankが免許事業者として仕入・販売の当事者となり、現物を時価−αでSPCへ卸す。SPCは所有者として損益を受ける。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卸値を独立企業間価格として説明できること</a:t>
            </a:r>
            <a:endParaRPr lang="en-US" sz="1050" dirty="0"/>
          </a:p>
        </p:txBody>
      </p:sp>
      <p:sp>
        <p:nvSpPr>
          <p:cNvPr id="26" name="Text 24"/>
          <p:cNvSpPr/>
          <p:nvPr/>
        </p:nvSpPr>
        <p:spPr>
          <a:xfrm>
            <a:off x="9326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は在庫リスク・与信・入出庫事務を負って調達する。その対価として時価から24.5%を控除した定価比56.63で卸す。第三者卸価格との比較資料を年次で整備し、移転価格上の合理性を説明できる状態を維持する。</a:t>
            </a:r>
            <a:endParaRPr lang="en-US" sz="90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WineBank出資分も同じ価格で評価すること</a:t>
            </a:r>
            <a:endParaRPr lang="en-US" sz="1050" dirty="0"/>
          </a:p>
        </p:txBody>
      </p:sp>
      <p:sp>
        <p:nvSpPr>
          <p:cNvPr id="28" name="Text 26"/>
          <p:cNvSpPr/>
          <p:nvPr/>
        </p:nvSpPr>
        <p:spPr>
          <a:xfrm>
            <a:off x="61872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WineBankが現物出資する3億円分も、投資家出資分と同じ定価比56.63で評価する。出資分に対応する値入れは自己取引となるため、内部利益の取扱いを会計・税務の両面で確認のうえ確定させる。</a:t>
            </a:r>
            <a:endParaRPr lang="en-US" sz="90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委託・売買形態の切り分け、および酒類の現物出資が免許・消費税・法人税上どう扱われるかは、所轄税務署（酒類指導官）および顧問弁護士・公認会計士との確認事項として、契約書ドラフト作成前に確定させる。</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収益の源泉と卸値の決め方</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同一商品が流通段階ごとに異なる価格で存在する。WineBankはその時価から α を控除してSPCへ卸し、SPCは残りの差と値上がりを取る。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64208"/>
            <a:ext cx="1984797" cy="1645920"/>
          </a:xfrm>
          <a:prstGeom prst="roundRect">
            <a:avLst>
              <a:gd name="adj" fmla="val 2500"/>
            </a:avLst>
          </a:prstGeom>
          <a:solidFill>
            <a:srgbClr val="171614"/>
          </a:solidFill>
          <a:ln w="9525">
            <a:solidFill>
              <a:srgbClr val="6E5730"/>
            </a:solidFill>
            <a:prstDash val="solid"/>
          </a:ln>
        </p:spPr>
      </p:sp>
      <p:sp>
        <p:nvSpPr>
          <p:cNvPr id="8" name="Text 6"/>
          <p:cNvSpPr/>
          <p:nvPr/>
        </p:nvSpPr>
        <p:spPr>
          <a:xfrm>
            <a:off x="822960"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インポーター仕入</a:t>
            </a:r>
            <a:endParaRPr lang="en-US" sz="1000" dirty="0"/>
          </a:p>
        </p:txBody>
      </p:sp>
      <p:sp>
        <p:nvSpPr>
          <p:cNvPr id="9" name="Text 7"/>
          <p:cNvSpPr/>
          <p:nvPr/>
        </p:nvSpPr>
        <p:spPr>
          <a:xfrm>
            <a:off x="822960"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40</a:t>
            </a:r>
            <a:endParaRPr lang="en-US" sz="3800" dirty="0"/>
          </a:p>
        </p:txBody>
      </p:sp>
      <p:sp>
        <p:nvSpPr>
          <p:cNvPr id="10" name="Text 8"/>
          <p:cNvSpPr/>
          <p:nvPr/>
        </p:nvSpPr>
        <p:spPr>
          <a:xfrm>
            <a:off x="822960"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664208"/>
            <a:ext cx="1984797" cy="1645920"/>
          </a:xfrm>
          <a:prstGeom prst="roundRect">
            <a:avLst>
              <a:gd name="adj" fmla="val 2500"/>
            </a:avLst>
          </a:prstGeom>
          <a:solidFill>
            <a:srgbClr val="171614"/>
          </a:solidFill>
          <a:ln w="9525">
            <a:solidFill>
              <a:srgbClr val="6E5730"/>
            </a:solidFill>
            <a:prstDash val="solid"/>
          </a:ln>
        </p:spPr>
      </p:sp>
      <p:sp>
        <p:nvSpPr>
          <p:cNvPr id="12" name="Text 10"/>
          <p:cNvSpPr/>
          <p:nvPr/>
        </p:nvSpPr>
        <p:spPr>
          <a:xfrm>
            <a:off x="3045501"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酒販店仕入</a:t>
            </a:r>
            <a:endParaRPr lang="en-US" sz="1000" dirty="0"/>
          </a:p>
        </p:txBody>
      </p:sp>
      <p:sp>
        <p:nvSpPr>
          <p:cNvPr id="13" name="Text 11"/>
          <p:cNvSpPr/>
          <p:nvPr/>
        </p:nvSpPr>
        <p:spPr>
          <a:xfrm>
            <a:off x="3045501"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60</a:t>
            </a:r>
            <a:endParaRPr lang="en-US" sz="3800" dirty="0"/>
          </a:p>
        </p:txBody>
      </p:sp>
      <p:sp>
        <p:nvSpPr>
          <p:cNvPr id="14" name="Text 12"/>
          <p:cNvSpPr/>
          <p:nvPr/>
        </p:nvSpPr>
        <p:spPr>
          <a:xfrm>
            <a:off x="304550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664208"/>
            <a:ext cx="1984797" cy="1645920"/>
          </a:xfrm>
          <a:prstGeom prst="roundRect">
            <a:avLst>
              <a:gd name="adj" fmla="val 2500"/>
            </a:avLst>
          </a:prstGeom>
          <a:solidFill>
            <a:srgbClr val="1F1D19"/>
          </a:solidFill>
          <a:ln w="9525">
            <a:solidFill>
              <a:srgbClr val="C9A96E"/>
            </a:solidFill>
            <a:prstDash val="solid"/>
          </a:ln>
        </p:spPr>
      </p:sp>
      <p:sp>
        <p:nvSpPr>
          <p:cNvPr id="16" name="Text 14"/>
          <p:cNvSpPr/>
          <p:nvPr/>
        </p:nvSpPr>
        <p:spPr>
          <a:xfrm>
            <a:off x="5268041" y="1810512"/>
            <a:ext cx="1655613"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SPC簿価（時価−α）</a:t>
            </a:r>
            <a:endParaRPr lang="en-US" sz="1000" dirty="0"/>
          </a:p>
        </p:txBody>
      </p:sp>
      <p:sp>
        <p:nvSpPr>
          <p:cNvPr id="17" name="Text 15"/>
          <p:cNvSpPr/>
          <p:nvPr/>
        </p:nvSpPr>
        <p:spPr>
          <a:xfrm>
            <a:off x="5268041" y="2121408"/>
            <a:ext cx="1655613" cy="65836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56.63</a:t>
            </a:r>
            <a:endParaRPr lang="en-US" sz="3400" dirty="0"/>
          </a:p>
        </p:txBody>
      </p:sp>
      <p:sp>
        <p:nvSpPr>
          <p:cNvPr id="18" name="Text 16"/>
          <p:cNvSpPr/>
          <p:nvPr/>
        </p:nvSpPr>
        <p:spPr>
          <a:xfrm>
            <a:off x="526804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SPCの取得</a:t>
            </a:r>
            <a:endParaRPr lang="en-US" sz="950" dirty="0"/>
          </a:p>
        </p:txBody>
      </p:sp>
      <p:sp>
        <p:nvSpPr>
          <p:cNvPr id="19" name="Shape 17"/>
          <p:cNvSpPr/>
          <p:nvPr/>
        </p:nvSpPr>
        <p:spPr>
          <a:xfrm>
            <a:off x="7325990" y="1664208"/>
            <a:ext cx="1984797" cy="1645920"/>
          </a:xfrm>
          <a:prstGeom prst="roundRect">
            <a:avLst>
              <a:gd name="adj" fmla="val 2500"/>
            </a:avLst>
          </a:prstGeom>
          <a:solidFill>
            <a:srgbClr val="171614"/>
          </a:solidFill>
          <a:ln w="9525">
            <a:solidFill>
              <a:srgbClr val="A78450"/>
            </a:solidFill>
            <a:prstDash val="solid"/>
          </a:ln>
        </p:spPr>
      </p:sp>
      <p:sp>
        <p:nvSpPr>
          <p:cNvPr id="20" name="Text 18"/>
          <p:cNvSpPr/>
          <p:nvPr/>
        </p:nvSpPr>
        <p:spPr>
          <a:xfrm>
            <a:off x="7490582"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酒販店卸 売値</a:t>
            </a:r>
            <a:endParaRPr lang="en-US" sz="1000" dirty="0"/>
          </a:p>
        </p:txBody>
      </p:sp>
      <p:sp>
        <p:nvSpPr>
          <p:cNvPr id="21" name="Text 19"/>
          <p:cNvSpPr/>
          <p:nvPr/>
        </p:nvSpPr>
        <p:spPr>
          <a:xfrm>
            <a:off x="7490582"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70</a:t>
            </a:r>
            <a:endParaRPr lang="en-US" sz="3800" dirty="0"/>
          </a:p>
        </p:txBody>
      </p:sp>
      <p:sp>
        <p:nvSpPr>
          <p:cNvPr id="22" name="Text 20"/>
          <p:cNvSpPr/>
          <p:nvPr/>
        </p:nvSpPr>
        <p:spPr>
          <a:xfrm>
            <a:off x="7490582"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23" name="Shape 21"/>
          <p:cNvSpPr/>
          <p:nvPr/>
        </p:nvSpPr>
        <p:spPr>
          <a:xfrm>
            <a:off x="9548531" y="1664208"/>
            <a:ext cx="1984797" cy="1645920"/>
          </a:xfrm>
          <a:prstGeom prst="roundRect">
            <a:avLst>
              <a:gd name="adj" fmla="val 2500"/>
            </a:avLst>
          </a:prstGeom>
          <a:solidFill>
            <a:srgbClr val="171614"/>
          </a:solidFill>
          <a:ln w="9525">
            <a:solidFill>
              <a:srgbClr val="A78450"/>
            </a:solidFill>
            <a:prstDash val="solid"/>
          </a:ln>
        </p:spPr>
      </p:sp>
      <p:sp>
        <p:nvSpPr>
          <p:cNvPr id="24" name="Text 22"/>
          <p:cNvSpPr/>
          <p:nvPr/>
        </p:nvSpPr>
        <p:spPr>
          <a:xfrm>
            <a:off x="9713123"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ネット最安 売値</a:t>
            </a:r>
            <a:endParaRPr lang="en-US" sz="1000" dirty="0"/>
          </a:p>
        </p:txBody>
      </p:sp>
      <p:sp>
        <p:nvSpPr>
          <p:cNvPr id="25" name="Text 23"/>
          <p:cNvSpPr/>
          <p:nvPr/>
        </p:nvSpPr>
        <p:spPr>
          <a:xfrm>
            <a:off x="9713123"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80</a:t>
            </a:r>
            <a:endParaRPr lang="en-US" sz="3800" dirty="0"/>
          </a:p>
        </p:txBody>
      </p:sp>
      <p:sp>
        <p:nvSpPr>
          <p:cNvPr id="26" name="Text 24"/>
          <p:cNvSpPr/>
          <p:nvPr/>
        </p:nvSpPr>
        <p:spPr>
          <a:xfrm>
            <a:off x="9713123"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7" name="Shape 25"/>
          <p:cNvSpPr/>
          <p:nvPr/>
        </p:nvSpPr>
        <p:spPr>
          <a:xfrm>
            <a:off x="658368" y="3566160"/>
            <a:ext cx="10874959" cy="2066544"/>
          </a:xfrm>
          <a:prstGeom prst="roundRect">
            <a:avLst>
              <a:gd name="adj" fmla="val 1991"/>
            </a:avLst>
          </a:prstGeom>
          <a:solidFill>
            <a:srgbClr val="1F1D19"/>
          </a:solidFill>
          <a:ln w="9525">
            <a:solidFill>
              <a:srgbClr val="6E5730"/>
            </a:solidFill>
            <a:prstDash val="solid"/>
          </a:ln>
        </p:spPr>
      </p:sp>
      <p:sp>
        <p:nvSpPr>
          <p:cNvPr id="28" name="Text 26"/>
          <p:cNvSpPr/>
          <p:nvPr/>
        </p:nvSpPr>
        <p:spPr>
          <a:xfrm>
            <a:off x="932688" y="3694176"/>
            <a:ext cx="64008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保有12ヶ月・定価100あたり</a:t>
            </a:r>
            <a:endParaRPr lang="en-US" sz="1200" dirty="0"/>
          </a:p>
        </p:txBody>
      </p:sp>
      <p:sp>
        <p:nvSpPr>
          <p:cNvPr id="29" name="Text 27"/>
          <p:cNvSpPr/>
          <p:nvPr/>
        </p:nvSpPr>
        <p:spPr>
          <a:xfrm>
            <a:off x="932688" y="4005072"/>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041648" y="400507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00507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270248"/>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時価（取得時点）</a:t>
            </a:r>
            <a:endParaRPr lang="en-US" sz="1050" dirty="0"/>
          </a:p>
        </p:txBody>
      </p:sp>
      <p:sp>
        <p:nvSpPr>
          <p:cNvPr id="33" name="Text 31"/>
          <p:cNvSpPr/>
          <p:nvPr/>
        </p:nvSpPr>
        <p:spPr>
          <a:xfrm>
            <a:off x="4041648" y="4270248"/>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ネット最安80（B2C）の加重平均</a:t>
            </a:r>
            <a:endParaRPr lang="en-US" sz="1050" dirty="0"/>
          </a:p>
        </p:txBody>
      </p:sp>
      <p:sp>
        <p:nvSpPr>
          <p:cNvPr id="34" name="Text 32"/>
          <p:cNvSpPr/>
          <p:nvPr/>
        </p:nvSpPr>
        <p:spPr>
          <a:xfrm>
            <a:off x="8796528" y="427024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時価 75.00</a:t>
            </a:r>
            <a:endParaRPr lang="en-US" sz="1050" dirty="0"/>
          </a:p>
        </p:txBody>
      </p:sp>
      <p:sp>
        <p:nvSpPr>
          <p:cNvPr id="35" name="Text 33"/>
          <p:cNvSpPr/>
          <p:nvPr/>
        </p:nvSpPr>
        <p:spPr>
          <a:xfrm>
            <a:off x="932688" y="4535424"/>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WineBankの値入れ</a:t>
            </a:r>
            <a:endParaRPr lang="en-US" sz="1050" dirty="0"/>
          </a:p>
        </p:txBody>
      </p:sp>
      <p:sp>
        <p:nvSpPr>
          <p:cNvPr id="36" name="Text 34"/>
          <p:cNvSpPr/>
          <p:nvPr/>
        </p:nvSpPr>
        <p:spPr>
          <a:xfrm>
            <a:off x="4041648" y="4535424"/>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時価から α ＝ 24.5% を控除してSPCへ卸す</a:t>
            </a:r>
            <a:endParaRPr lang="en-US" sz="1050" dirty="0"/>
          </a:p>
        </p:txBody>
      </p:sp>
      <p:sp>
        <p:nvSpPr>
          <p:cNvPr id="37" name="Text 35"/>
          <p:cNvSpPr/>
          <p:nvPr/>
        </p:nvSpPr>
        <p:spPr>
          <a:xfrm>
            <a:off x="8796528" y="4535424"/>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SPC簿価 56.63</a:t>
            </a:r>
            <a:endParaRPr lang="en-US" sz="1050" dirty="0"/>
          </a:p>
        </p:txBody>
      </p:sp>
      <p:sp>
        <p:nvSpPr>
          <p:cNvPr id="38" name="Text 36"/>
          <p:cNvSpPr/>
          <p:nvPr/>
        </p:nvSpPr>
        <p:spPr>
          <a:xfrm>
            <a:off x="932688" y="4800600"/>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041648" y="4800600"/>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80060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065776"/>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041648" y="5065776"/>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15.5% の加重平均 8.73%</a:t>
            </a:r>
            <a:endParaRPr lang="en-US" sz="1050" dirty="0"/>
          </a:p>
        </p:txBody>
      </p:sp>
      <p:sp>
        <p:nvSpPr>
          <p:cNvPr id="43" name="Text 41"/>
          <p:cNvSpPr/>
          <p:nvPr/>
        </p:nvSpPr>
        <p:spPr>
          <a:xfrm>
            <a:off x="8796528" y="506577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6.94 → 手取り 72.56</a:t>
            </a:r>
            <a:endParaRPr lang="en-US" sz="1050" dirty="0"/>
          </a:p>
        </p:txBody>
      </p:sp>
      <p:sp>
        <p:nvSpPr>
          <p:cNvPr id="44" name="Text 42"/>
          <p:cNvSpPr/>
          <p:nvPr/>
        </p:nvSpPr>
        <p:spPr>
          <a:xfrm>
            <a:off x="932688" y="5330952"/>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単位粗利（SPC）</a:t>
            </a:r>
            <a:endParaRPr lang="en-US" sz="1050" dirty="0"/>
          </a:p>
        </p:txBody>
      </p:sp>
      <p:sp>
        <p:nvSpPr>
          <p:cNvPr id="45" name="Text 43"/>
          <p:cNvSpPr/>
          <p:nvPr/>
        </p:nvSpPr>
        <p:spPr>
          <a:xfrm>
            <a:off x="4041648" y="533095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手取り72.56 − SPC簿価56.63</a:t>
            </a:r>
            <a:endParaRPr lang="en-US" sz="1050" dirty="0"/>
          </a:p>
        </p:txBody>
      </p:sp>
      <p:sp>
        <p:nvSpPr>
          <p:cNvPr id="46" name="Text 44"/>
          <p:cNvSpPr/>
          <p:nvPr/>
        </p:nvSpPr>
        <p:spPr>
          <a:xfrm>
            <a:off x="8796528" y="5330952"/>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15.93（粗利率 20.0%）</a:t>
            </a:r>
            <a:endParaRPr lang="en-US" sz="1050" dirty="0"/>
          </a:p>
        </p:txBody>
      </p:sp>
      <p:sp>
        <p:nvSpPr>
          <p:cNvPr id="47" name="Text 45"/>
          <p:cNvSpPr/>
          <p:nvPr/>
        </p:nvSpPr>
        <p:spPr>
          <a:xfrm>
            <a:off x="658368" y="5724144"/>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WineBankの値入れは 定価比 6.63（簿価比 11.7%）。卸した時点で確定し、SPCの費用には計上しない。卸値が時価に連動するため、仕入価格が動いても売値が動いても、SPCの粗利と投資家の利回りはほとんど変わらない構造になる。</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販路手数料（決済込み）</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13.0%</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楽天市場での当社実績（システム利用料・決済・ポイント原資等）12〜13%の上限。自社EC・自社オークションにも同率を上限として適用（契約第11条第5項）</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29" name="Text 27"/>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0" name="Text 28"/>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15.5%（▲12.40）</a:t>
            </a:r>
            <a:endParaRPr lang="en-US" sz="1050" dirty="0"/>
          </a:p>
        </p:txBody>
      </p:sp>
      <p:sp>
        <p:nvSpPr>
          <p:cNvPr id="31" name="Text 29"/>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2" name="Text 30"/>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67.60</a:t>
            </a:r>
            <a:endParaRPr lang="en-US" sz="2500" dirty="0"/>
          </a:p>
        </p:txBody>
      </p:sp>
      <p:sp>
        <p:nvSpPr>
          <p:cNvPr id="33" name="Shape 31"/>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4" name="Text 32"/>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売値はB2Cが高いが、手数料を引いた手取りはB2Bと同水準（差1.70ポイント）。</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売値が定価比80とB2Bの70を10ポイント上回るが、販路手数料（決済込み）13.0%と出庫費2.5%を保守的に負担させている。B2Cは1本ずつの出荷となり販売量の上限が低いため、回転期間を確保するにはB2Bの卸売が不可欠となる。両者を半々で運用し、加重平均で時価75.00・変動販売費8.73%・手取り68.45を主線とする（いずれも取得時点の価格。保有中の値上がりは次頁以降で加算）。</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ワイン価格上昇率別の単位経済（保有12ヶ月・定価100あたり）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SPC簿価は時価−αで固定される。したがってSPCの粗利を動かすのは、保有中にどれだけ値上がりするかである。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27632"/>
            <a:ext cx="3429914" cy="393192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12" name="Text 10"/>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3" name="Text 11"/>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14" name="Text 12"/>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15" name="Text 13"/>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9" name="Text 17"/>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6.55</a:t>
            </a:r>
            <a:endParaRPr lang="en-US" sz="1350" dirty="0"/>
          </a:p>
        </p:txBody>
      </p:sp>
      <p:sp>
        <p:nvSpPr>
          <p:cNvPr id="21" name="Text 19"/>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68.45</a:t>
            </a:r>
            <a:endParaRPr lang="en-US" sz="1350" dirty="0"/>
          </a:p>
        </p:txBody>
      </p:sp>
      <p:sp>
        <p:nvSpPr>
          <p:cNvPr id="23" name="Text 21"/>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11.83</a:t>
            </a:r>
            <a:endParaRPr lang="en-US" sz="1350" dirty="0"/>
          </a:p>
        </p:txBody>
      </p:sp>
      <p:sp>
        <p:nvSpPr>
          <p:cNvPr id="25" name="Text 23"/>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26" name="Text 24"/>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15.8%</a:t>
            </a:r>
            <a:endParaRPr lang="en-US" sz="1250" dirty="0"/>
          </a:p>
        </p:txBody>
      </p:sp>
      <p:sp>
        <p:nvSpPr>
          <p:cNvPr id="27" name="Text 25"/>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28" name="Text 26"/>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20.9%</a:t>
            </a:r>
            <a:endParaRPr lang="en-US" sz="1250" dirty="0"/>
          </a:p>
        </p:txBody>
      </p:sp>
      <p:sp>
        <p:nvSpPr>
          <p:cNvPr id="29" name="Text 27"/>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年0%（横ばい）</a:t>
            </a:r>
            <a:endParaRPr lang="en-US" sz="900" dirty="0"/>
          </a:p>
        </p:txBody>
      </p:sp>
      <p:sp>
        <p:nvSpPr>
          <p:cNvPr id="30" name="Shape 28"/>
          <p:cNvSpPr/>
          <p:nvPr/>
        </p:nvSpPr>
        <p:spPr>
          <a:xfrm>
            <a:off x="4380890" y="1627632"/>
            <a:ext cx="3429914" cy="3931920"/>
          </a:xfrm>
          <a:prstGeom prst="roundRect">
            <a:avLst>
              <a:gd name="adj" fmla="val 1200"/>
            </a:avLst>
          </a:prstGeom>
          <a:solidFill>
            <a:srgbClr val="1F1D19"/>
          </a:solidFill>
          <a:ln w="9525">
            <a:solidFill>
              <a:srgbClr val="6E5730"/>
            </a:solidFill>
            <a:prstDash val="solid"/>
          </a:ln>
        </p:spPr>
      </p:sp>
      <p:sp>
        <p:nvSpPr>
          <p:cNvPr id="31" name="Text 29"/>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2" name="Text 30"/>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3" name="Text 31"/>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4" name="Text 32"/>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35" name="Text 33"/>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37" name="Text 35"/>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56.63</a:t>
            </a:r>
            <a:endParaRPr lang="en-US" sz="1350" dirty="0"/>
          </a:p>
        </p:txBody>
      </p:sp>
      <p:sp>
        <p:nvSpPr>
          <p:cNvPr id="38" name="Text 36"/>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9" name="Text 37"/>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40" name="Text 38"/>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41" name="Text 39"/>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2" name="Text 40"/>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3" name="Text 41"/>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6.94</a:t>
            </a:r>
            <a:endParaRPr lang="en-US" sz="1350" dirty="0"/>
          </a:p>
        </p:txBody>
      </p:sp>
      <p:sp>
        <p:nvSpPr>
          <p:cNvPr id="44" name="Text 42"/>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5" name="Text 43"/>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72.56</a:t>
            </a:r>
            <a:endParaRPr lang="en-US" sz="1350" dirty="0"/>
          </a:p>
        </p:txBody>
      </p:sp>
      <p:sp>
        <p:nvSpPr>
          <p:cNvPr id="46" name="Text 44"/>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7" name="Text 45"/>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15.93</a:t>
            </a:r>
            <a:endParaRPr lang="en-US" sz="1350" dirty="0"/>
          </a:p>
        </p:txBody>
      </p:sp>
      <p:sp>
        <p:nvSpPr>
          <p:cNvPr id="48" name="Text 46"/>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49" name="Text 47"/>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20.0%</a:t>
            </a:r>
            <a:endParaRPr lang="en-US" sz="1250" dirty="0"/>
          </a:p>
        </p:txBody>
      </p:sp>
      <p:sp>
        <p:nvSpPr>
          <p:cNvPr id="50" name="Text 48"/>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51" name="Text 49"/>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28.1%</a:t>
            </a:r>
            <a:endParaRPr lang="en-US" sz="1250" dirty="0"/>
          </a:p>
        </p:txBody>
      </p:sp>
      <p:sp>
        <p:nvSpPr>
          <p:cNvPr id="52" name="Text 50"/>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年6%</a:t>
            </a:r>
            <a:endParaRPr lang="en-US" sz="900" dirty="0"/>
          </a:p>
        </p:txBody>
      </p:sp>
      <p:sp>
        <p:nvSpPr>
          <p:cNvPr id="53" name="Shape 51"/>
          <p:cNvSpPr/>
          <p:nvPr/>
        </p:nvSpPr>
        <p:spPr>
          <a:xfrm>
            <a:off x="8103413" y="1627632"/>
            <a:ext cx="3429914" cy="3931920"/>
          </a:xfrm>
          <a:prstGeom prst="roundRect">
            <a:avLst>
              <a:gd name="adj" fmla="val 1200"/>
            </a:avLst>
          </a:prstGeom>
          <a:solidFill>
            <a:srgbClr val="171614"/>
          </a:solidFill>
          <a:ln w="9525">
            <a:solidFill>
              <a:srgbClr val="2E2A24"/>
            </a:solidFill>
            <a:prstDash val="solid"/>
          </a:ln>
        </p:spPr>
      </p:sp>
      <p:sp>
        <p:nvSpPr>
          <p:cNvPr id="54" name="Text 52"/>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5" name="Text 53"/>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6" name="Text 54"/>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57" name="Text 55"/>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58" name="Text 56"/>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59" name="Text 57"/>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60" name="Text 58"/>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61" name="Text 59"/>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62" name="Text 60"/>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×1.100</a:t>
            </a:r>
            <a:endParaRPr lang="en-US" sz="1250" dirty="0"/>
          </a:p>
        </p:txBody>
      </p:sp>
      <p:sp>
        <p:nvSpPr>
          <p:cNvPr id="63" name="Text 61"/>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4" name="Text 62"/>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82.50</a:t>
            </a:r>
            <a:endParaRPr lang="en-US" sz="1350" dirty="0"/>
          </a:p>
        </p:txBody>
      </p:sp>
      <p:sp>
        <p:nvSpPr>
          <p:cNvPr id="65" name="Text 63"/>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6" name="Text 64"/>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7.21</a:t>
            </a:r>
            <a:endParaRPr lang="en-US" sz="1350" dirty="0"/>
          </a:p>
        </p:txBody>
      </p:sp>
      <p:sp>
        <p:nvSpPr>
          <p:cNvPr id="67" name="Text 65"/>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8" name="Text 66"/>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9" name="Text 67"/>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70" name="Text 68"/>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18.67</a:t>
            </a:r>
            <a:endParaRPr lang="en-US" sz="1350" dirty="0"/>
          </a:p>
        </p:txBody>
      </p:sp>
      <p:sp>
        <p:nvSpPr>
          <p:cNvPr id="71" name="Text 69"/>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72" name="Text 70"/>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22.6%</a:t>
            </a:r>
            <a:endParaRPr lang="en-US" sz="1250" dirty="0"/>
          </a:p>
        </p:txBody>
      </p:sp>
      <p:sp>
        <p:nvSpPr>
          <p:cNvPr id="73" name="Text 71"/>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74" name="Text 72"/>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33.0%</a:t>
            </a:r>
            <a:endParaRPr lang="en-US" sz="1250" dirty="0"/>
          </a:p>
        </p:txBody>
      </p:sp>
      <p:sp>
        <p:nvSpPr>
          <p:cNvPr id="75" name="Text 73"/>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年10%（会社資料水準）</a:t>
            </a:r>
            <a:endParaRPr lang="en-US" sz="900" dirty="0"/>
          </a:p>
        </p:txBody>
      </p:sp>
      <p:sp>
        <p:nvSpPr>
          <p:cNvPr id="76" name="Text 74"/>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市中仕入原価・時価・SPC簿価は3案とも同じである。卸値が時価に連動して決まるため、仕入が安くなっても高くなっても、また売値が上下しても、SPCの簿価と時価の関係は変わらない。SPCの粗利を左右するのは保有中の値上がりのみとなり、年6%の主線で単位粗利15.93・投下簿価利益率28.1%となる。</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7889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管理報酬</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総額の年2%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1stクローズで年1,000万円、2ndクローズで年2,000万円。売却時にWineBankが取るのはこれのみ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年150万円（固定）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取得価格・在庫配分の検証に加え、銀行残高確認・関連当事者取引の確認・期末棚卸立会を含む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WineBankの値入れ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SPC費用ではない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卸値（時価−α）に含まれ、SPCの簿価を構成する。費用として別途計上しない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34256"/>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15.5</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販路手数料（決済込み）13.0%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8.73</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▲6.55</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ファーストクローズの主線（回転12ヶ月・年間販売6.67億円）における年間SPC費用の合計は7,951万円で、内訳は変動販売費5,824万円・保管629万円・固定費1,400万円（うち管理報酬1,000万円）・保険71万円・入庫27万円。その他の運用前提：総額の95%をワイン購入に充当（現金5%）／仕入展開6ヶ月／ローリング運用／利益は複利再投資せず年1回分配／税前利益は出資比率どおり60：40で配分／利回りは投資家の税引前ベース。販路手数料・決済手数料の年度合計が売上高の10%を超える部分はWineBank負担（契約第11条第6項）。</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SPC簿価56.63（時価75.00▲24.5%）・ワイン価格上昇 年6%／ファーストクローズ総額5億円・税前利益を出資比率60：40で配分・稼働率95%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89888"/>
                <a:gridCol w="859536"/>
                <a:gridCol w="859536"/>
                <a:gridCol w="731520"/>
                <a:gridCol w="1042416"/>
                <a:gridCol w="1225296"/>
                <a:gridCol w="1298448"/>
                <a:gridCol w="1005840"/>
                <a:gridCol w="969264"/>
                <a:gridCol w="1490472"/>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粗利率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投資家（40%）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6.67億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F1D19"/>
          </a:solidFill>
          <a:ln w="9525">
            <a:solidFill>
              <a:srgbClr val="6E5730"/>
            </a:solidFill>
            <a:prstDash val="solid"/>
          </a:ln>
        </p:spPr>
      </p:sp>
      <p:sp>
        <p:nvSpPr>
          <p:cNvPr id="9" name="Text 6"/>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粗利率20.0%がフル稼働時の単年22.5%になる理由</a:t>
            </a:r>
            <a:endParaRPr lang="en-US" sz="1150" dirty="0"/>
          </a:p>
        </p:txBody>
      </p:sp>
      <p:sp>
        <p:nvSpPr>
          <p:cNvPr id="10" name="Text 7"/>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定価100あたり</a:t>
            </a:r>
            <a:endParaRPr lang="en-US" sz="950" dirty="0"/>
          </a:p>
        </p:txBody>
      </p:sp>
      <p:sp>
        <p:nvSpPr>
          <p:cNvPr id="11" name="Text 8"/>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簿価56.63で取得し、手取り72.56で回収 → 単位粗利15.93</a:t>
            </a:r>
            <a:endParaRPr lang="en-US" sz="850" dirty="0"/>
          </a:p>
        </p:txBody>
      </p:sp>
      <p:sp>
        <p:nvSpPr>
          <p:cNvPr id="12" name="Text 9"/>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粗利率 20.0%</a:t>
            </a:r>
            <a:endParaRPr lang="en-US" sz="950" dirty="0"/>
          </a:p>
        </p:txBody>
      </p:sp>
      <p:sp>
        <p:nvSpPr>
          <p:cNvPr id="13" name="Text 10"/>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分母は売却時の売値79.50</a:t>
            </a:r>
            <a:endParaRPr lang="en-US" sz="850" dirty="0"/>
          </a:p>
        </p:txBody>
      </p:sp>
      <p:sp>
        <p:nvSpPr>
          <p:cNvPr id="14" name="Text 11"/>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投下簿価利益率 28.1%</a:t>
            </a:r>
            <a:endParaRPr lang="en-US" sz="950" dirty="0"/>
          </a:p>
        </p:txBody>
      </p:sp>
      <p:sp>
        <p:nvSpPr>
          <p:cNvPr id="15" name="Text 12"/>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分母は投下資本であるSPC簿価56.63</a:t>
            </a:r>
            <a:endParaRPr lang="en-US" sz="850" dirty="0"/>
          </a:p>
        </p:txBody>
      </p:sp>
      <p:sp>
        <p:nvSpPr>
          <p:cNvPr id="16" name="Text 13"/>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税前利益 1.12億円</a:t>
            </a:r>
            <a:endParaRPr lang="en-US" sz="950" dirty="0"/>
          </a:p>
        </p:txBody>
      </p:sp>
      <p:sp>
        <p:nvSpPr>
          <p:cNvPr id="17" name="Text 14"/>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SPC費用 計7,951万円を控除した後の年間税前利益</a:t>
            </a:r>
            <a:endParaRPr lang="en-US" sz="850" dirty="0"/>
          </a:p>
        </p:txBody>
      </p:sp>
      <p:sp>
        <p:nvSpPr>
          <p:cNvPr id="18" name="Text 15"/>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フル稼働時の単年 22.5%</a:t>
            </a:r>
            <a:endParaRPr lang="en-US" sz="950" dirty="0"/>
          </a:p>
        </p:txBody>
      </p:sp>
      <p:sp>
        <p:nvSpPr>
          <p:cNvPr id="19" name="Text 16"/>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税前利益の40%＝45百万円 ÷ 出資2億円。年平均では20.0%</a:t>
            </a:r>
            <a:endParaRPr lang="en-US" sz="850" dirty="0"/>
          </a:p>
        </p:txBody>
      </p:sp>
      <p:sp>
        <p:nvSpPr>
          <p:cNvPr id="20" name="Shape 17"/>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1" name="Text 18"/>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2" name="Text 19"/>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投資家利回り（年平均・税引前）</a:t>
            </a:r>
            <a:endParaRPr lang="en-US" sz="1050" dirty="0"/>
          </a:p>
        </p:txBody>
      </p:sp>
      <p:sp>
        <p:nvSpPr>
          <p:cNvPr id="23" name="Text 20"/>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16.1 – 27.8</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4" name="Text 21"/>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主線の回転12ヶ月で20.0%と貴社基準20%を満たす（フル稼働時の単年では22.5%）。20%の分岐点は回転12.3ヶ月であり、主線に余裕はない。15ヶ月まで延びると16.1%となり基準を下回る。</a:t>
            </a:r>
            <a:endParaRPr lang="en-US" sz="1000" dirty="0"/>
          </a:p>
        </p:txBody>
      </p:sp>
      <p:sp>
        <p:nvSpPr>
          <p:cNvPr id="25" name="Text 22"/>
          <p:cNvSpPr/>
          <p:nvPr/>
        </p:nvSpPr>
        <p:spPr>
          <a:xfrm>
            <a:off x="658368" y="5614416"/>
            <a:ext cx="10874959" cy="201168"/>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 年間粗利は変動販売費控除後。年平均は仕入展開6ヶ月の立ち上がりを含み、満期に残る在庫（最終回転分）は清算期間に時価の10%引きで売却したものとして計上する（従前は簿価償還としていたため15ヶ月と18ヶ月で逆転が生じていた）。</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いずれも投資家出資2億円に対する数値。年平均20%の分岐点は回転12.3ヶ月であり、主線12ヶ月に余裕はない。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回転12ヶ月が必須条件</a:t>
            </a:r>
            <a:endParaRPr lang="en-US" sz="1200" dirty="0"/>
          </a:p>
        </p:txBody>
      </p:sp>
      <p:sp>
        <p:nvSpPr>
          <p:cNvPr id="13" name="Text 9"/>
          <p:cNvSpPr/>
          <p:nvPr/>
        </p:nvSpPr>
        <p:spPr>
          <a:xfrm>
            <a:off x="91440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年平均20%の分岐点は回転12.3ヶ月。主線12ヶ月に余裕はなく、回転12ヶ月の達成が貴社基準を満たすための必須条件となる。ただし必要な年間販売額は6.67億円と、現状の販売実力（年5〜7億円）の範囲内にある。</a:t>
            </a:r>
            <a:endParaRPr lang="en-US" sz="95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値上がりが利回りの主たる変動要因になる</a:t>
            </a:r>
            <a:endParaRPr lang="en-US" sz="1200" dirty="0"/>
          </a:p>
        </p:txBody>
      </p:sp>
      <p:sp>
        <p:nvSpPr>
          <p:cNvPr id="16" name="Text 12"/>
          <p:cNvSpPr/>
          <p:nvPr/>
        </p:nvSpPr>
        <p:spPr>
          <a:xfrm>
            <a:off x="648904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仕入価格と売値の変動は投資家利回りにほとんど効かない。代わりに保有中の値上がりが効き、年6%を織り込まない場合は主線でもフル稼働時の単年15.6%・年平均13.6%まで下がる（次頁）。</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卸値が時価に連動するため、SPCの収益は「αの取り込み」と「保有中の値上がり」の二階建てになる。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フロー｜αの取り込み</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時価より24.5%安く仕入れた分を売却時に取り込む。年に何回まわせるかに比例するため、回転期間が短いほど大きくなる。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15.6%</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＋6.9pt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αの取り込みのみ（上昇0%）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上昇率を変えた場合（主線・フル稼働時の単年）</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15.6%</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22.5%</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27.1%</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値上がりの比重が前回より大きい</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を時価連動にしたことで、仕入価格と売値の変動は投資家利回りに効かなくなった。その代わりSPCの粗利は「αの取り込み」と「値上がり」だけで構成されるため、値上がりを織り込まない場合の低下幅は ▲6.9pt と前回（▲4.0pt）より大きくなる。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卸値が時価連動であるため、上振れ・下振れを決めるのはワイン価格の上昇率と在庫回転期間になる。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ポジティブ｜ワイン価格上昇 年10%（会社資料水準）</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33.5%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32.1%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6.92億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24.3%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会社資料はFine Wineのリセールバリューを年率10%程度としており、主線の6%はこれに対し保守的に置いたもの。10%が実現すれば回転が18ヶ月へ延びても年平均20.6%と貴社基準を満たし、20%の分岐点は回転18.3ヶ月まで後ろ倒しになる。</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ネガティブ｜ワイン価格が横ばい（上昇0%）</a:t>
            </a:r>
            <a:endParaRPr lang="en-US" sz="11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8.39億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6.29億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31百万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13.6%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4.19億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値上がりを一切織り込まない場合。SPCの収益がαの取り込みだけになるため、年平均20%を確保するには回転を9.3ヶ月まで縮める必要があり、主線の12ヶ月では13.6%にとどまる。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卸値を時価連動にしたことで、「値引きして早く売る」も「安く仕入れる」も投資家利回りには効かなくなった。投資家のリターンを左右するのは在庫回転期間とワイン価格の上昇率の2つだけであり、運用の focus は「流動性の高い銘柄を組み入れ、回転12ヶ月を守ること」に絞られる。値上がりが止まる局面では回転をさらに短縮する必要がある。</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3シナリオ比較：投資家の年平均利回り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投資家出資2億円に対する5年間の分配の年平均。SPC税前利益を出資比率どおり60：40で配分し、満期の残存在庫は清算期間で売却したものとする。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回転12ヶ月・上昇6%で年平均20.0%。想定レンジ9〜18ヶ月では16.1%〜27.8%となり、20%を確保できるのは回転12.3ヶ月までとなる。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ワイン価格が会社資料水準の年10%で上昇した場合。回転が18ヶ月へ延びても20.6%と基準を満たす。</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価格が横ばいの場合、20%に届くのは回転9.3ヶ月までとなり、想定レンジでは基準を満たせない。回転の短縮が唯一の対抗手段となる。</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主線（在庫回転12ヶ月・フル稼働時の単年22.5%）を基準とした、各変数の単独変動による影響（フル稼働時の単年ベース）。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92224"/>
                <a:gridCol w="2212848"/>
                <a:gridCol w="2359152"/>
                <a:gridCol w="877824"/>
                <a:gridCol w="3630168"/>
              </a:tblGrid>
              <a:tr h="32461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15.6%（▲6.9pt）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回転期間を短縮し、αの取り込み回数を増やす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16.0%（▲6.5pt）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組入銘柄の選定・販売チャネルの多重化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19.8%（▲2.7pt）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卸値の控除率 α</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24.5% → 23.5%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20.9%（▲1.6pt）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αは組成時に確定し、期中は変更しない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B2Cの販路手数料（決済込み）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13.0% → 15.0%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21.1%（▲1.4pt）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自社販路は契約上13%が上限。年度合計10%超はWineBank負担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22.5% → 27.1%（＋4.6pt）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【遮断】市中仕入価格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22.5%（＋0.0pt）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卸値が時価連動のため投資家利回りには影響しない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売値 ▲5%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22.4%（▲0.1pt）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簿価も同率で下がるため投資家利回りには影響しない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645152"/>
            <a:ext cx="10874959" cy="1060704"/>
          </a:xfrm>
          <a:prstGeom prst="roundRect">
            <a:avLst>
              <a:gd name="adj" fmla="val 3879"/>
            </a:avLst>
          </a:prstGeom>
          <a:solidFill>
            <a:srgbClr val="1F1D19"/>
          </a:solidFill>
          <a:ln w="9525">
            <a:solidFill>
              <a:srgbClr val="6E5730"/>
            </a:solidFill>
            <a:prstDash val="solid"/>
          </a:ln>
        </p:spPr>
      </p:sp>
      <p:sp>
        <p:nvSpPr>
          <p:cNvPr id="9" name="Text 6"/>
          <p:cNvSpPr/>
          <p:nvPr/>
        </p:nvSpPr>
        <p:spPr>
          <a:xfrm>
            <a:off x="932688" y="4754880"/>
            <a:ext cx="10326319" cy="841248"/>
          </a:xfrm>
          <a:prstGeom prst="rect">
            <a:avLst/>
          </a:prstGeom>
          <a:noFill/>
          <a:ln/>
        </p:spPr>
        <p:txBody>
          <a:bodyPr wrap="square" lIns="0" tIns="0" rIns="0" bIns="0" rtlCol="0" anchor="ctr"/>
          <a:lstStyle/>
          <a:p>
            <a:pPr indent="0" marL="0">
              <a:lnSpc>
                <a:spcPct val="122000"/>
              </a:lnSpc>
              <a:buNone/>
            </a:pPr>
            <a:r>
              <a:rPr lang="en-US" sz="1050" dirty="0">
                <a:solidFill>
                  <a:srgbClr val="EFEBE3"/>
                </a:solidFill>
                <a:latin typeface="Yu Gothic" pitchFamily="34" charset="0"/>
                <a:ea typeface="Yu Gothic" pitchFamily="34" charset="-122"/>
                <a:cs typeface="Yu Gothic" pitchFamily="34" charset="-120"/>
              </a:rPr>
              <a:t>結論：卸値を時価−αにしたことで、投資家利回りを動かす要因は「ワイン価格の上昇率」と「在庫回転期間」の2つに絞られた。仕入価格と売値の変動は簿価が連動するため遮断される。年平均20%の分岐点は回転12.3ヶ月（上昇6%前提）であり、主線12ヶ月に余裕はない。上昇0%の場合は回転9.3ヶ月まで縮めないと20%に届かないため、値上がりが止まる局面では回転の短縮が唯一の対抗手段となる。組入銘柄を流動性上位に絞り込み、B2B卸とB2Cを併走させて販売量を確保する設計とする。</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3454298" cy="1847088"/>
          </a:xfrm>
          <a:prstGeom prst="roundRect">
            <a:avLst>
              <a:gd name="adj" fmla="val 2228"/>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現物出資が相反そのものを縮小する</a:t>
            </a:r>
            <a:endParaRPr lang="en-US" sz="110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WineBankが自己勘定在庫の相当部分（1stクローズで3億円相当）をSPCへ拠出するため、両者に同一銘柄が併存する場面自体が減る。加えてWineBankはSPCの持分60%を通じて損益を負うため、SPC在庫を後回しにする経済的動機が小さい。</a:t>
            </a:r>
            <a:endParaRPr lang="en-US" sz="900" dirty="0"/>
          </a:p>
        </p:txBody>
      </p:sp>
      <p:sp>
        <p:nvSpPr>
          <p:cNvPr id="12" name="Shape 10"/>
          <p:cNvSpPr/>
          <p:nvPr/>
        </p:nvSpPr>
        <p:spPr>
          <a:xfrm>
            <a:off x="4368698" y="1627632"/>
            <a:ext cx="3454298" cy="1847088"/>
          </a:xfrm>
          <a:prstGeom prst="roundRect">
            <a:avLst>
              <a:gd name="adj" fmla="val 2228"/>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プロラタ配分を原則とする</a:t>
            </a:r>
            <a:endParaRPr lang="en-US" sz="110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判断を要する場合はSPC在庫を優先する。</a:t>
            </a:r>
            <a:endParaRPr lang="en-US" sz="900" dirty="0"/>
          </a:p>
        </p:txBody>
      </p:sp>
      <p:sp>
        <p:nvSpPr>
          <p:cNvPr id="17" name="Shape 15"/>
          <p:cNvSpPr/>
          <p:nvPr/>
        </p:nvSpPr>
        <p:spPr>
          <a:xfrm>
            <a:off x="8079029" y="1627632"/>
            <a:ext cx="3454298" cy="1847088"/>
          </a:xfrm>
          <a:prstGeom prst="roundRect">
            <a:avLst>
              <a:gd name="adj" fmla="val 2228"/>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価格同一ルールと補填条項</a:t>
            </a:r>
            <a:endParaRPr lang="en-US" sz="110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3602736"/>
          <a:ext cx="10874959" cy="914400"/>
        </p:xfrm>
        <a:graphic>
          <a:graphicData uri="http://schemas.openxmlformats.org/drawingml/2006/table">
            <a:tbl>
              <a:tblPr/>
              <a:tblGrid>
                <a:gridCol w="2377440"/>
                <a:gridCol w="8494776"/>
              </a:tblGrid>
              <a:tr h="24688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卸値ルールの明文化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SPCへの卸値は「時価 × （1−α）」とし、α＝24.5%を契約上固定する。期中の変更には投資家の事前承認を要する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時価の算定方法</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時価はB2B卸値とB2C売値の加重平均とし、算定根拠（Liv-ex・Wine-Searcher等、自社の実現単価）をデータルームで常時開示する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拠出銘柄の選定ルール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流動性上位から選定。明細を実行10営業日前に提示し、WB以外の出資者過半の異議なきことを実行条件とする（表明保証付き）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SKU別に取得日・取得・売却・在庫・保管場所を両建てで記録し、在庫比率との乖離を半期ごとに開示（10%超は翌半期に是正）</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SPC名義の在庫は別ロケーション・別ラベルで管理する。半期ごとに第三者棚卸を実施し、期末はAUPで立会う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AUP（年次）で卸値の算定・配分ルールの遵守・銀行残高・関連当事者取引・期末棚卸を公認会計士が検証する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797296"/>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本スキームではWineBankの取り分が卸値の中で確定するため、「いくらで卸したか」が投資家利益に直結する。したがって在庫の配分ルールに加え、卸値の決め方そのものを契約で固定し、第三者の検証対象に含めることが最大の担保となる。SPC在庫を完売するまで自己勘定在庫を売らないという運用は、商品構成が銘柄ごとに異なるため実務上成立しないので採らない。</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80844"/>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80844"/>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0312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半期ごとの損益、資金収支および事業進捗（資料はデータルームで常時参照）</a:t>
            </a:r>
            <a:endParaRPr lang="en-US" sz="950" dirty="0"/>
          </a:p>
        </p:txBody>
      </p:sp>
      <p:sp>
        <p:nvSpPr>
          <p:cNvPr id="12" name="Shape 10"/>
          <p:cNvSpPr/>
          <p:nvPr/>
        </p:nvSpPr>
        <p:spPr>
          <a:xfrm>
            <a:off x="932688" y="2496312"/>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496312"/>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1858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SPCへの卸値、その基礎となった時価および算定根拠</a:t>
            </a:r>
            <a:endParaRPr lang="en-US" sz="950" dirty="0"/>
          </a:p>
        </p:txBody>
      </p:sp>
      <p:sp>
        <p:nvSpPr>
          <p:cNvPr id="15" name="Shape 13"/>
          <p:cNvSpPr/>
          <p:nvPr/>
        </p:nvSpPr>
        <p:spPr>
          <a:xfrm>
            <a:off x="932688" y="281178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1178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3405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8" name="Shape 16"/>
          <p:cNvSpPr/>
          <p:nvPr/>
        </p:nvSpPr>
        <p:spPr>
          <a:xfrm>
            <a:off x="932688" y="3127248"/>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27248"/>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04952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現物出資する銘柄の明細および評価額（実行10営業日前に提示）</a:t>
            </a:r>
            <a:endParaRPr lang="en-US" sz="950" dirty="0"/>
          </a:p>
        </p:txBody>
      </p:sp>
      <p:sp>
        <p:nvSpPr>
          <p:cNvPr id="21" name="Shape 19"/>
          <p:cNvSpPr/>
          <p:nvPr/>
        </p:nvSpPr>
        <p:spPr>
          <a:xfrm>
            <a:off x="932688" y="3442716"/>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442716"/>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3649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24" name="Shape 22"/>
          <p:cNvSpPr/>
          <p:nvPr/>
        </p:nvSpPr>
        <p:spPr>
          <a:xfrm>
            <a:off x="932688" y="3758184"/>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7581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6804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7" name="Shape 25"/>
          <p:cNvSpPr/>
          <p:nvPr/>
        </p:nvSpPr>
        <p:spPr>
          <a:xfrm>
            <a:off x="932688" y="4073652"/>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0736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39959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30" name="Shape 28"/>
          <p:cNvSpPr/>
          <p:nvPr/>
        </p:nvSpPr>
        <p:spPr>
          <a:xfrm>
            <a:off x="932688" y="4389120"/>
            <a:ext cx="128016" cy="128016"/>
          </a:xfrm>
          <a:prstGeom prst="ellipse">
            <a:avLst/>
          </a:prstGeom>
          <a:solidFill>
            <a:srgbClr val="A78450"/>
          </a:solidFill>
          <a:ln w="11430">
            <a:solidFill>
              <a:srgbClr val="A78450"/>
            </a:solidFill>
            <a:prstDash val="solid"/>
          </a:ln>
        </p:spPr>
      </p:sp>
      <p:sp>
        <p:nvSpPr>
          <p:cNvPr id="31" name="Text 29"/>
          <p:cNvSpPr/>
          <p:nvPr/>
        </p:nvSpPr>
        <p:spPr>
          <a:xfrm>
            <a:off x="932688" y="4389120"/>
            <a:ext cx="128016" cy="128016"/>
          </a:xfrm>
          <a:prstGeom prst="rect">
            <a:avLst/>
          </a:prstGeom>
          <a:noFill/>
          <a:ln/>
        </p:spPr>
        <p:txBody>
          <a:bodyPr wrap="square" lIns="0" tIns="0" rIns="0" bIns="0" rtlCol="0" anchor="ctr"/>
          <a:lstStyle/>
          <a:p>
            <a:pPr algn="ctr" indent="0" marL="0">
              <a:buNone/>
            </a:pPr>
            <a:endParaRPr lang="en-US" sz="1100" dirty="0"/>
          </a:p>
        </p:txBody>
      </p:sp>
      <p:sp>
        <p:nvSpPr>
          <p:cNvPr id="32" name="Text 30"/>
          <p:cNvSpPr/>
          <p:nvPr/>
        </p:nvSpPr>
        <p:spPr>
          <a:xfrm>
            <a:off x="1152144" y="431139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3" name="Shape 31"/>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4" name="Text 32"/>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5" name="Text 33"/>
          <p:cNvSpPr/>
          <p:nvPr/>
        </p:nvSpPr>
        <p:spPr>
          <a:xfrm>
            <a:off x="6489040" y="2139696"/>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卸値（時価−α）の固定</a:t>
            </a:r>
            <a:endParaRPr lang="en-US" sz="1050" dirty="0"/>
          </a:p>
        </p:txBody>
      </p:sp>
      <p:sp>
        <p:nvSpPr>
          <p:cNvPr id="36" name="Text 34"/>
          <p:cNvSpPr/>
          <p:nvPr/>
        </p:nvSpPr>
        <p:spPr>
          <a:xfrm>
            <a:off x="6489040" y="2359152"/>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αを契約上24.5%に固定し、期中の変更には投資家の事前承認を要する。時価の算定方法も契約に明記する。</a:t>
            </a:r>
            <a:endParaRPr lang="en-US" sz="900" dirty="0"/>
          </a:p>
        </p:txBody>
      </p:sp>
      <p:sp>
        <p:nvSpPr>
          <p:cNvPr id="37" name="Text 35"/>
          <p:cNvSpPr/>
          <p:nvPr/>
        </p:nvSpPr>
        <p:spPr>
          <a:xfrm>
            <a:off x="6489040" y="279806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8" name="Text 36"/>
          <p:cNvSpPr/>
          <p:nvPr/>
        </p:nvSpPr>
        <p:spPr>
          <a:xfrm>
            <a:off x="6489040" y="3017520"/>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卸値は第三者との取引条件と同等であることを、第三者卸価格との比較資料により年次で説明できる状態を維持する。</a:t>
            </a:r>
            <a:endParaRPr lang="en-US" sz="900" dirty="0"/>
          </a:p>
        </p:txBody>
      </p:sp>
      <p:sp>
        <p:nvSpPr>
          <p:cNvPr id="39" name="Text 37"/>
          <p:cNvSpPr/>
          <p:nvPr/>
        </p:nvSpPr>
        <p:spPr>
          <a:xfrm>
            <a:off x="6489040" y="345643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自己出資分の内部利益</a:t>
            </a:r>
            <a:endParaRPr lang="en-US" sz="1050" dirty="0"/>
          </a:p>
        </p:txBody>
      </p:sp>
      <p:sp>
        <p:nvSpPr>
          <p:cNvPr id="40" name="Text 38"/>
          <p:cNvSpPr/>
          <p:nvPr/>
        </p:nvSpPr>
        <p:spPr>
          <a:xfrm>
            <a:off x="6489040" y="3675888"/>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WineBank出資分に対応する値入れは自己取引となるため、会計上の取扱い（内部利益の消去要否）を組成前に確定し、投資家へ開示する。</a:t>
            </a:r>
            <a:endParaRPr lang="en-US" sz="900" dirty="0"/>
          </a:p>
        </p:txBody>
      </p:sp>
      <p:sp>
        <p:nvSpPr>
          <p:cNvPr id="41" name="Text 39"/>
          <p:cNvSpPr/>
          <p:nvPr/>
        </p:nvSpPr>
        <p:spPr>
          <a:xfrm>
            <a:off x="6489040" y="411480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42" name="Text 40"/>
          <p:cNvSpPr/>
          <p:nvPr/>
        </p:nvSpPr>
        <p:spPr>
          <a:xfrm>
            <a:off x="6489040" y="4334256"/>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前頁の配分方針および拠出銘柄選定ルールを契約別紙として明文化し、逸脱時の是正・補填手続を定める。</a:t>
            </a:r>
            <a:endParaRPr lang="en-US" sz="900" dirty="0"/>
          </a:p>
        </p:txBody>
      </p:sp>
      <p:sp>
        <p:nvSpPr>
          <p:cNvPr id="43" name="Shape 41"/>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4" name="Text 42"/>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5" name="Text 43"/>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6" name="Text 44"/>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7" name="Shape 45"/>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8" name="Text 46"/>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9" name="Text 47"/>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50" name="Text 48"/>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財務諸表監査ではなく、目的を限定した合意された手続を採用。銀行残高確認・関連当事者取引・棚卸立会を含め年150万円をSPC費用に計上済み。</a:t>
            </a:r>
            <a:endParaRPr lang="en-US" sz="850" dirty="0"/>
          </a:p>
        </p:txBody>
      </p:sp>
      <p:sp>
        <p:nvSpPr>
          <p:cNvPr id="51" name="Shape 49"/>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52" name="Text 50"/>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3" name="Text 51"/>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半期</a:t>
            </a:r>
            <a:endParaRPr lang="en-US" sz="1200" dirty="0"/>
          </a:p>
        </p:txBody>
      </p:sp>
      <p:sp>
        <p:nvSpPr>
          <p:cNvPr id="54" name="Text 52"/>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在庫明細・簿価・売上・試算表を半期ごとに開示し、データルームで常時参照可能とする。年次で決算を報告する。</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sp>
        <p:nvSpPr>
          <p:cNvPr id="6" name="Shape 4"/>
          <p:cNvSpPr/>
          <p:nvPr/>
        </p:nvSpPr>
        <p:spPr>
          <a:xfrm>
            <a:off x="658368" y="1554480"/>
            <a:ext cx="2526716" cy="1920240"/>
          </a:xfrm>
          <a:prstGeom prst="roundRect">
            <a:avLst>
              <a:gd name="adj" fmla="val 2143"/>
            </a:avLst>
          </a:prstGeom>
          <a:solidFill>
            <a:srgbClr val="1F1D19"/>
          </a:solidFill>
          <a:ln w="9525">
            <a:solidFill>
              <a:srgbClr val="6E5730"/>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本スキームで最も効く要因。主線は年6%上昇を織り込むが、横ばい（0%）では投資家利回り（年平均）が13.6%まで低下する。会社資料の年率10%に対し保守的な前提を置いている。</a:t>
            </a:r>
            <a:endParaRPr lang="en-US" sz="90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銘柄をLiv-ex掲載の流通量の多い銘柄に限定。半期ごとに保有12ヶ月超の滞留在庫を洗い出し、時価が簿価を下回るものは評価減して報告する。</a:t>
            </a:r>
            <a:endParaRPr lang="en-US" sz="90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当初3年間はロックアップ。4年目以降は90日前通知・半期末の解約とし、通知を受けた時点で再購入を留保して支払資金を用意する。</a:t>
            </a:r>
            <a:endParaRPr lang="en-US" sz="90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インポーター・酒販店との年間調達枠を事前に締結。卸値は時価連動のため、仕入価格の上昇は投資家利回りには及ばない。</a:t>
            </a:r>
            <a:endParaRPr lang="en-US" sz="90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定温倉庫での保管と動産総合保険による全量付保（填補範囲・免責額はクロージング後30日以内に保険証券の写しで開示）。倉庫在庫は半期ごとに第三者棚卸。</a:t>
            </a:r>
            <a:endParaRPr lang="en-US" sz="90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SPCを倒産隔離。ワイン現物はSPC名義で保有しWineBankの債権者から隔離する。WineBankは総額の60%（3億円）を出資しており、持分を通じて損益を負う。</a:t>
            </a:r>
            <a:endParaRPr lang="en-US" sz="90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00" dirty="0"/>
          </a:p>
        </p:txBody>
      </p:sp>
      <p:sp>
        <p:nvSpPr>
          <p:cNvPr id="34" name="Shape 32"/>
          <p:cNvSpPr/>
          <p:nvPr/>
        </p:nvSpPr>
        <p:spPr>
          <a:xfrm>
            <a:off x="9006611" y="3675888"/>
            <a:ext cx="2526716" cy="1920240"/>
          </a:xfrm>
          <a:prstGeom prst="roundRect">
            <a:avLst>
              <a:gd name="adj" fmla="val 2143"/>
            </a:avLst>
          </a:prstGeom>
          <a:solidFill>
            <a:srgbClr val="1F1D19"/>
          </a:solidFill>
          <a:ln w="9525">
            <a:solidFill>
              <a:srgbClr val="6E5730"/>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卸値・移転価格リスク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時価−αの妥当性を否認される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αを契約上24.5%に固定し、時価の算定根拠と第三者卸価格との比較資料を年次で整備する。WineBank出資分に対応する内部利益の取扱いも組成前に確定させる。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組成形態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ファンド形態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募集総額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ファーストクローズ5億円 → 年度内セカンドクローズ10億円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資本構成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WineBank現物出資60%（3億円）＋投資家出資40%（2億円）。1口5,000万円以上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損益の配分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SPC税前利益を出資比率どおり60：40で配分。成功報酬（折半）は取らない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運用期間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中途解約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当初3年間はロックアップ。以後は通知から90日経過後の半期末に解約、支払は3ヶ月後の月末（換価が遅れる場合も残額は6ヶ月以内）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分配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年1回・利益のみ。売却代金の元本相当は再購入に充て満期まで留保（利益の複利再投資は行わない）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23300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SPCへの卸値</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時価 ×（1−α）。α＝24.5%、時価＝取得時の加重平均売値75.00 → SPC簿価 56.63</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卸値の値入れ（卸した時点で確定）と管理報酬（総額の年2%、半期ごとに1%）の二本のみ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資金配分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総額の95%をワイン購入、5%を現金保有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SPC負担費用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契約で限定列挙：保管・保険・入出庫・変動販売費／維持費200万・管理報酬・AUP150万・予備費50万。自社販路の手数料は決済込み13%上限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投資家利回り（年平均）20.0%（回転12ヶ月）。フル稼働時の単年は22.5%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半期：在庫明細・簿価・卸値・売上・試算表（データルームで常時参照）／在庫比率によるプロラタ配分を原則とする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49824"/>
            <a:ext cx="10874959" cy="859536"/>
          </a:xfrm>
          <a:prstGeom prst="roundRect">
            <a:avLst>
              <a:gd name="adj" fmla="val 4787"/>
            </a:avLst>
          </a:prstGeom>
          <a:solidFill>
            <a:srgbClr val="1F1D19"/>
          </a:solidFill>
          <a:ln w="9525">
            <a:solidFill>
              <a:srgbClr val="6E5730"/>
            </a:solidFill>
            <a:prstDash val="solid"/>
          </a:ln>
        </p:spPr>
      </p:sp>
      <p:sp>
        <p:nvSpPr>
          <p:cNvPr id="10" name="Text 6"/>
          <p:cNvSpPr/>
          <p:nvPr/>
        </p:nvSpPr>
        <p:spPr>
          <a:xfrm>
            <a:off x="932688" y="554126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779008"/>
            <a:ext cx="10326319" cy="438912"/>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当初から随時の解約を受け付けると常時1〜3割を現金または即時換金可能な在庫で保有する必要があり、稼働率が下がって利回りも下がる（稼働率95%→85%でフル稼働時の単年の投資家利回りは22.5%→19.8%）。当初3年ロックアップとし、4年目以降の解約は90日前通知・半期末の効力として再購入の留保で支払資金を用意する設計により、現金保有を5%に抑え、総額の95%をワインに充当できる。</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想定回転期間・販売チャネル構成・解約条件、および卸値の控除率α（24.5%。年平均20%を基礎）と管理報酬2%の水準についてご意見をいただく。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卸値ルールの確定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時価の算定方法（B2B卸値とB2C売値の加重平均）とαを契約上固定する。第三者卸価格との比較資料を整備し、移転価格上の説明責任を果たせる状態にする。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SPCの免許要否と売買形態、酒類の現物出資の取扱い、WineBank出資分に対応する内部利益の会計処理を所轄税務署・顧問弁護士・公認会計士と確認する。</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ファーストクローズと実証</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総額5億円で組成し運用開始。回転12ヶ月の実績を確認したうえで、年度内のセカンドクローズ（総額10億円）を判断する。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および卸値の算定は、所轄官庁および専門家の確認を経て確定します。</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
        <p:nvSpPr>
          <p:cNvPr id="6" name="Shape 4"/>
          <p:cNvSpPr/>
          <p:nvPr/>
        </p:nvSpPr>
        <p:spPr>
          <a:xfrm>
            <a:off x="658368" y="1572768"/>
            <a:ext cx="6537960" cy="749808"/>
          </a:xfrm>
          <a:prstGeom prst="roundRect">
            <a:avLst>
              <a:gd name="adj" fmla="val 5488"/>
            </a:avLst>
          </a:prstGeom>
          <a:solidFill>
            <a:srgbClr val="1F1D19"/>
          </a:solidFill>
          <a:ln w="9525">
            <a:solidFill>
              <a:srgbClr val="6E5730"/>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64208"/>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報酬体系が単純で、検証しやすい</a:t>
            </a:r>
            <a:endParaRPr lang="en-US" sz="1150" dirty="0"/>
          </a:p>
        </p:txBody>
      </p:sp>
      <p:sp>
        <p:nvSpPr>
          <p:cNvPr id="10" name="Text 8"/>
          <p:cNvSpPr/>
          <p:nvPr/>
        </p:nvSpPr>
        <p:spPr>
          <a:xfrm>
            <a:off x="1280160" y="190195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WineBankの取り分は「卸値の値入れ（時価−α）」と「管理報酬 年2%」の二本のみ。出口の成功報酬はなく、投資家の取分は「SPC税前利益 × 出資比率40%」だけで決まる。αを契約で固定すれば、報酬の妥当性は卸値の検証に集約される。</a:t>
            </a:r>
            <a:endParaRPr lang="en-US" sz="85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48716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仕入価格と売値の変動から遮断される</a:t>
            </a:r>
            <a:endParaRPr lang="en-US" sz="1150" dirty="0"/>
          </a:p>
        </p:txBody>
      </p:sp>
      <p:sp>
        <p:nvSpPr>
          <p:cNvPr id="15" name="Text 13"/>
          <p:cNvSpPr/>
          <p:nvPr/>
        </p:nvSpPr>
        <p:spPr>
          <a:xfrm>
            <a:off x="1280160" y="272491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卸値が時価に連動して決まるため、市中仕入が50→45に下がっても（＋0.0pt）、売値が5%下がっても（▲0.1pt）、投資家利回りはほとんど動かない。</a:t>
            </a:r>
            <a:endParaRPr lang="en-US" sz="85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1012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20" name="Text 18"/>
          <p:cNvSpPr/>
          <p:nvPr/>
        </p:nvSpPr>
        <p:spPr>
          <a:xfrm>
            <a:off x="1280160" y="354787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85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3308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WineBankが総額の60%を出資している</a:t>
            </a:r>
            <a:endParaRPr lang="en-US" sz="1150" dirty="0"/>
          </a:p>
        </p:txBody>
      </p:sp>
      <p:sp>
        <p:nvSpPr>
          <p:cNvPr id="25" name="Text 23"/>
          <p:cNvSpPr/>
          <p:nvPr/>
        </p:nvSpPr>
        <p:spPr>
          <a:xfrm>
            <a:off x="1280160" y="437083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WineBankはワイン現物3億円を拠出し、持分60%を通じてSPCの損益をそのまま負う。</a:t>
            </a:r>
            <a:endParaRPr lang="en-US" sz="850" dirty="0"/>
          </a:p>
        </p:txBody>
      </p:sp>
      <p:sp>
        <p:nvSpPr>
          <p:cNvPr id="26" name="Shape 24"/>
          <p:cNvSpPr/>
          <p:nvPr/>
        </p:nvSpPr>
        <p:spPr>
          <a:xfrm>
            <a:off x="658368" y="4864608"/>
            <a:ext cx="6537960" cy="749808"/>
          </a:xfrm>
          <a:prstGeom prst="roundRect">
            <a:avLst>
              <a:gd name="adj" fmla="val 5488"/>
            </a:avLst>
          </a:prstGeom>
          <a:solidFill>
            <a:srgbClr val="171614"/>
          </a:solidFill>
          <a:ln w="9525">
            <a:solidFill>
              <a:srgbClr val="2E2A24"/>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5604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他社が再現できない調達力と、B2B・B2Cの両輪</a:t>
            </a:r>
            <a:endParaRPr lang="en-US" sz="1150" dirty="0"/>
          </a:p>
        </p:txBody>
      </p:sp>
      <p:sp>
        <p:nvSpPr>
          <p:cNvPr id="30" name="Text 28"/>
          <p:cNvSpPr/>
          <p:nvPr/>
        </p:nvSpPr>
        <p:spPr>
          <a:xfrm>
            <a:off x="1280160" y="519379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創業55年の酒販免許、大手インポーターとの直接取引、輸出入ライセンス。出口は酒販店卸（B2B）と自社EC・オークション・CLUB会員・グループのアピシウス（B2C）。</a:t>
            </a:r>
            <a:endParaRPr lang="en-US" sz="85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主線（回転12ヶ月・上昇6%）で年平均20.0%。分岐点は回転12.3ヶ月で余裕はない。</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回転12ヶ月の達成が20%確保の必要条件となる。必要な年間販売額は6.67億円で現状の販売実力（年5〜7億円）の範囲内にあり、流動性上位の銘柄に絞って組み入れる。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運用期間5年・当初3年ロックアップ・4年目以降は90日前通知で半期末に解約。分配は毎年1回。</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この設計により現金保有を5%に抑え、総額の95%をワインに充当できる。当初から随時の解約を受け付けると稼働率が下がりフル稼働時の単年で22.5%→19.8%に低下する。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伝統的資産と相関の低い実物資産。既存30億円のポートフォリオに対し出資2億円は約7%。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単一銘柄ではなく複数産地・複数ヴィンテージへの分散となり、ポートフォリオ内での分散効果が働く。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00" dirty="0">
                <a:solidFill>
                  <a:srgbClr val="EFEBE3"/>
                </a:solidFill>
                <a:latin typeface="Yu Gothic" pitchFamily="34" charset="0"/>
                <a:ea typeface="Yu Gothic" pitchFamily="34" charset="-122"/>
                <a:cs typeface="Yu Gothic" pitchFamily="34" charset="-120"/>
              </a:rPr>
              <a:t>正規流通の価格差のうち時価に対する24.5%分をSPCに残し、残りをWineBankが卸値の中で受け取ります。WineBank受取（年平均）126百万円のうち値入れ56百万円と管理報酬10百万円は運用成果によらず確定し、持分60百万円が成果に連動し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2026-10-20T07:29:37Z</dcterms:created>
  <dcterms:modified xsi:type="dcterms:W3CDTF">2026-10-20T07:29:37Z</dcterms:modified>
</cp:coreProperties>
</file>