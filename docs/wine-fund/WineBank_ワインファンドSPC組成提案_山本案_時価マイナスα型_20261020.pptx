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投資家利回り（フル稼働時の単年・％）</a:t>
            </a:r>
          </a:p>
        </c:rich>
      </c:tx>
      <c:layout/>
      <c:overlay val="0"/>
    </c:title>
    <c:autoTitleDeleted val="0"/>
    <c:plotArea>
      <c:layout/>
      <c:barChart>
        <c:barDir val="col"/>
        <c:grouping val="clustered"/>
        <c:varyColors val="0"/>
        <c:ser>
          <c:idx val="0"/>
          <c:order val="0"/>
          <c:tx>
            <c:strRef>
              <c:f>Sheet1!$B$1</c:f>
              <c:strCache>
                <c:ptCount val="1"/>
                <c:pt idx="0">
                  <c:v>投資家利回り</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29</c:v>
                </c:pt>
                <c:pt idx="1">
                  <c:v>22.5</c:v>
                </c:pt>
                <c:pt idx="2">
                  <c:v>18.6</c:v>
                </c:pt>
                <c:pt idx="3">
                  <c:v>16</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 年平均利回り（年平均・％）</a:t>
            </a:r>
          </a:p>
        </c:rich>
      </c:tx>
      <c:layout/>
      <c:overlay val="0"/>
    </c:title>
    <c:autoTitleDeleted val="0"/>
    <c:plotArea>
      <c:layout/>
      <c:barChart>
        <c:barDir val="col"/>
        <c:grouping val="clustered"/>
        <c:varyColors val="0"/>
        <c:ser>
          <c:idx val="0"/>
          <c:order val="0"/>
          <c:tx>
            <c:strRef>
              <c:f>Sheet1!$B$1</c:f>
              <c:strCache>
                <c:ptCount val="1"/>
                <c:pt idx="0">
                  <c:v>投資家 年平均利回り</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27.8</c:v>
                </c:pt>
                <c:pt idx="1">
                  <c:v>20</c:v>
                </c:pt>
                <c:pt idx="2">
                  <c:v>16.1</c:v>
                </c:pt>
                <c:pt idx="3">
                  <c:v>16.1</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4"/>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在庫回転期間別 投資家 年平均利回り（年平均・％）</a:t>
            </a:r>
          </a:p>
        </c:rich>
      </c:tx>
      <c:layout/>
      <c:overlay val="0"/>
    </c:title>
    <c:autoTitleDeleted val="0"/>
    <c:plotArea>
      <c:layout/>
      <c:barChart>
        <c:barDir val="col"/>
        <c:grouping val="clustered"/>
        <c:varyColors val="0"/>
        <c:ser>
          <c:idx val="0"/>
          <c:order val="0"/>
          <c:tx>
            <c:strRef>
              <c:f>Sheet1!$B$1</c:f>
              <c:strCache>
                <c:ptCount val="1"/>
                <c:pt idx="0">
                  <c:v>ポジティブ（上昇10%）</c:v>
                </c:pt>
              </c:strCache>
            </c:strRef>
          </c:tx>
          <c:spPr>
            <a:solidFill>
              <a:srgbClr val="C9A96E"/>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32.1</c:v>
                </c:pt>
                <c:pt idx="1">
                  <c:v>24.3</c:v>
                </c:pt>
                <c:pt idx="2">
                  <c:v>20.5</c:v>
                </c:pt>
                <c:pt idx="3">
                  <c:v>20.6</c:v>
                </c:pt>
              </c:numCache>
            </c:numRef>
          </c:val>
        </c:ser>
        <c:ser>
          <c:idx val="1"/>
          <c:order val="1"/>
          <c:tx>
            <c:strRef>
              <c:f>Sheet1!$C$1</c:f>
              <c:strCache>
                <c:ptCount val="1"/>
                <c:pt idx="0">
                  <c:v>ニュートラル（上昇6%・主線）</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Sheet1!$C$2:$C$5</c:f>
              <c:numCache>
                <c:formatCode>General</c:formatCode>
                <c:ptCount val="4"/>
                <c:pt idx="0">
                  <c:v>27.8</c:v>
                </c:pt>
                <c:pt idx="1">
                  <c:v>20</c:v>
                </c:pt>
                <c:pt idx="2">
                  <c:v>16.1</c:v>
                </c:pt>
                <c:pt idx="3">
                  <c:v>16.1</c:v>
                </c:pt>
              </c:numCache>
            </c:numRef>
          </c:val>
        </c:ser>
        <c:ser>
          <c:idx val="2"/>
          <c:order val="2"/>
          <c:tx>
            <c:strRef>
              <c:f>Sheet1!$D$1</c:f>
              <c:strCache>
                <c:ptCount val="1"/>
                <c:pt idx="0">
                  <c:v>ネガティブ（上昇0%）</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Sheet1!$D$2:$D$5</c:f>
              <c:numCache>
                <c:formatCode>General</c:formatCode>
                <c:ptCount val="4"/>
                <c:pt idx="0">
                  <c:v>21.4</c:v>
                </c:pt>
                <c:pt idx="1">
                  <c:v>13.6</c:v>
                </c:pt>
                <c:pt idx="2">
                  <c:v>9.7</c:v>
                </c:pt>
                <c:pt idx="3">
                  <c:v>9.5</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6"/>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legend>
      <c:legendPos val="b"/>
      <c:overlay val="0"/>
      <c:txPr>
        <a:bodyPr/>
        <a:lstStyle/>
        <a:p>
          <a:pPr>
            <a:defRPr sz="950">
              <a:solidFill>
                <a:srgbClr val="9A938A"/>
              </a:solidFill>
              <a:latin typeface="Yu Gothic"/>
              <a:cs typeface="Yu Gothic"/>
            </a:defRPr>
          </a:pPr>
          <a:endParaRPr lang="en-US"/>
        </a:p>
      </c:txPr>
    </c:legend>
    <c:plotVisOnly val="1"/>
    <c:dispBlanksAs val="span"/>
  </c:chart>
  <c:spPr>
    <a:solidFill>
      <a:srgbClr val="17161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WineBankは卸す時点で値入れし、出口では管理報酬以外を取らない。利益は出資比率どおり60:40で配分する。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主線は回転12ヶ月で年平均20.0%（フル稼働時の単年22.5%）。折半は廃止し出資比率でプロラタ配分。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投資家の年平均20.0%から逆算：SPC利益1.00億円を60:40で配分。投資家40百万円、WineBank60百万円。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比率が同じなので利回りはほぼ同じ。セカンドクローズは回転実績を見て判断する。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回転12ヶ月＝年間6.67億円。20%の分岐点は回転12.3ヶ月で余裕なし。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WineBankの取り分は卸した時点で確定。出口は管理報酬のみ。分配は出資比率どおり。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免許・口座・割当の3つの壁。卸値の合理性と自己出資分の内部利益が論点。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時価75.00から24.5%控除して56.63で卸す。SPCの単位粗利は15.93。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B2C 67.60 &gt; B2B 69.30。両者の加重平均が時価75.00となる。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卸値が時価連動なので、仕入・売値の変動はSPCの粗利に効かない。効くのは値上がり率。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WineBankの値入れはSPC費用ではなく簿価に含まれる点に注意。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主線は年平均20.0%（フル稼働時の単年22.5%）。20%の分岐点は回転12.3ヶ月。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回転が一次的にリターンを決める。必要販売額は前回より小さく、実力の範囲内。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値上がり効果は約＋6.9pt。これがないと主線でも15.6%。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効く変数は回転と値上がりの2つだけ。仕入・売値は遮断される。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3シナリオはワイン価格上昇率で定義し直した（仕入・売値は遮断されるため）。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効く変数は値上がりと回転の2つ。20%の分岐点は回転12.3ヶ月。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新スキームでは卸値そのものが最大の相反論点。αの固定と第三者検証が担保。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卸値の固定・時価の算定方法・自己出資分の内部利益が新たな相反論点。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卸値が時価連動になったことで、仕入リスクは遮断され、価格変動リスクの比重が上がった。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利回りの優先はなく、元本の返る順序だけを投資家優先にする。平時は出資比率どおり。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卸値ルールと報酬二本立てを条件表に明記した。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卸値ルールの確定を第2ステップに置く。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報酬の単純さと、仕入・売値からの遮断が新スキームの訴求点。WB受取の内訳は正直に開示する。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7818120" y="-868680"/>
            <a:ext cx="5577840" cy="5577840"/>
          </a:xfrm>
          <a:prstGeom prst="ellipse">
            <a:avLst/>
          </a:prstGeom>
          <a:solidFill>
            <a:srgbClr val="0C0C0C"/>
          </a:solidFill>
          <a:ln w="13970">
            <a:solidFill>
              <a:srgbClr val="1E1A15"/>
            </a:solidFill>
            <a:prstDash val="solid"/>
          </a:ln>
        </p:spPr>
      </p:sp>
      <p:sp>
        <p:nvSpPr>
          <p:cNvPr id="3" name="Shape 1"/>
          <p:cNvSpPr/>
          <p:nvPr/>
        </p:nvSpPr>
        <p:spPr>
          <a:xfrm>
            <a:off x="8732520" y="45720"/>
            <a:ext cx="3749040" cy="3749040"/>
          </a:xfrm>
          <a:prstGeom prst="ellipse">
            <a:avLst/>
          </a:prstGeom>
          <a:solidFill>
            <a:srgbClr val="0C0C0C"/>
          </a:solidFill>
          <a:ln w="11430">
            <a:solidFill>
              <a:srgbClr val="6E5730"/>
            </a:solidFill>
            <a:prstDash val="solid"/>
          </a:ln>
        </p:spPr>
      </p:sp>
      <p:sp>
        <p:nvSpPr>
          <p:cNvPr id="4" name="Shape 2"/>
          <p:cNvSpPr/>
          <p:nvPr/>
        </p:nvSpPr>
        <p:spPr>
          <a:xfrm>
            <a:off x="10287000" y="1600200"/>
            <a:ext cx="640080" cy="640080"/>
          </a:xfrm>
          <a:prstGeom prst="ellipse">
            <a:avLst/>
          </a:prstGeom>
          <a:solidFill>
            <a:srgbClr val="A78450"/>
          </a:solidFill>
          <a:ln w="12700">
            <a:solidFill>
              <a:srgbClr val="A78450"/>
            </a:solidFill>
            <a:prstDash val="solid"/>
          </a:ln>
        </p:spPr>
      </p:sp>
      <p:sp>
        <p:nvSpPr>
          <p:cNvPr id="5" name="Text 3"/>
          <p:cNvSpPr/>
          <p:nvPr/>
        </p:nvSpPr>
        <p:spPr>
          <a:xfrm>
            <a:off x="658368" y="566928"/>
            <a:ext cx="5486400" cy="274320"/>
          </a:xfrm>
          <a:prstGeom prst="rect">
            <a:avLst/>
          </a:prstGeom>
          <a:noFill/>
          <a:ln/>
        </p:spPr>
        <p:txBody>
          <a:bodyPr wrap="square" lIns="0" tIns="0" rIns="0" bIns="0" rtlCol="0" anchor="ctr"/>
          <a:lstStyle/>
          <a:p>
            <a:pPr indent="0" marL="0">
              <a:buNone/>
            </a:pPr>
            <a:r>
              <a:rPr lang="en-US" sz="1300" b="1" spc="550" kern="0" dirty="0">
                <a:solidFill>
                  <a:srgbClr val="EFEBE3"/>
                </a:solidFill>
                <a:latin typeface="Cambria" pitchFamily="34" charset="0"/>
                <a:ea typeface="Cambria" pitchFamily="34" charset="-122"/>
                <a:cs typeface="Cambria" pitchFamily="34" charset="-120"/>
              </a:rPr>
              <a:t>WINEBANK</a:t>
            </a:r>
            <a:endParaRPr lang="en-US" sz="1300" dirty="0"/>
          </a:p>
        </p:txBody>
      </p:sp>
      <p:sp>
        <p:nvSpPr>
          <p:cNvPr id="6" name="Shape 4"/>
          <p:cNvSpPr/>
          <p:nvPr/>
        </p:nvSpPr>
        <p:spPr>
          <a:xfrm>
            <a:off x="658368" y="1700784"/>
            <a:ext cx="5120640" cy="329184"/>
          </a:xfrm>
          <a:prstGeom prst="roundRect">
            <a:avLst>
              <a:gd name="adj" fmla="val 11111"/>
            </a:avLst>
          </a:prstGeom>
          <a:solidFill>
            <a:srgbClr val="1F1D19"/>
          </a:solidFill>
          <a:ln w="12700">
            <a:solidFill>
              <a:srgbClr val="6E5730"/>
            </a:solidFill>
            <a:prstDash val="solid"/>
          </a:ln>
        </p:spPr>
      </p:sp>
      <p:sp>
        <p:nvSpPr>
          <p:cNvPr id="7" name="Text 5"/>
          <p:cNvSpPr/>
          <p:nvPr/>
        </p:nvSpPr>
        <p:spPr>
          <a:xfrm>
            <a:off x="658368" y="1700784"/>
            <a:ext cx="5120640" cy="329184"/>
          </a:xfrm>
          <a:prstGeom prst="rect">
            <a:avLst/>
          </a:prstGeom>
          <a:noFill/>
          <a:ln/>
        </p:spPr>
        <p:txBody>
          <a:bodyPr wrap="square" lIns="0" tIns="0" rIns="0" bIns="0" rtlCol="0" anchor="ctr"/>
          <a:lstStyle/>
          <a:p>
            <a:pPr algn="ctr" indent="0" marL="0">
              <a:buNone/>
            </a:pPr>
            <a:r>
              <a:rPr lang="en-US" sz="1100" b="1" spc="120" kern="0" dirty="0">
                <a:solidFill>
                  <a:srgbClr val="C9A96E"/>
                </a:solidFill>
                <a:latin typeface="Yu Gothic" pitchFamily="34" charset="0"/>
                <a:ea typeface="Yu Gothic" pitchFamily="34" charset="-122"/>
                <a:cs typeface="Yu Gothic" pitchFamily="34" charset="-120"/>
              </a:rPr>
              <a:t>山本案｜出資比率でプロラタ配分・成功報酬なし</a:t>
            </a:r>
            <a:endParaRPr lang="en-US" sz="1100" dirty="0"/>
          </a:p>
        </p:txBody>
      </p:sp>
      <p:sp>
        <p:nvSpPr>
          <p:cNvPr id="8" name="Text 6"/>
          <p:cNvSpPr/>
          <p:nvPr/>
        </p:nvSpPr>
        <p:spPr>
          <a:xfrm>
            <a:off x="658368" y="2212848"/>
            <a:ext cx="7680960" cy="256032"/>
          </a:xfrm>
          <a:prstGeom prst="rect">
            <a:avLst/>
          </a:prstGeom>
          <a:noFill/>
          <a:ln/>
        </p:spPr>
        <p:txBody>
          <a:bodyPr wrap="square" lIns="0" tIns="0" rIns="0" bIns="0" rtlCol="0" anchor="ctr"/>
          <a:lstStyle/>
          <a:p>
            <a:pPr indent="0" marL="0">
              <a:buNone/>
            </a:pPr>
            <a:r>
              <a:rPr lang="en-US" sz="1100" b="1" spc="360" kern="0" dirty="0">
                <a:solidFill>
                  <a:srgbClr val="A78450"/>
                </a:solidFill>
                <a:latin typeface="Cambria" pitchFamily="34" charset="0"/>
                <a:ea typeface="Cambria" pitchFamily="34" charset="-122"/>
                <a:cs typeface="Cambria" pitchFamily="34" charset="-120"/>
              </a:rPr>
              <a:t>WINE FUND ｜ SPC PROPOSAL</a:t>
            </a:r>
            <a:endParaRPr lang="en-US" sz="1100" dirty="0"/>
          </a:p>
        </p:txBody>
      </p:sp>
      <p:sp>
        <p:nvSpPr>
          <p:cNvPr id="9" name="Text 7"/>
          <p:cNvSpPr/>
          <p:nvPr/>
        </p:nvSpPr>
        <p:spPr>
          <a:xfrm>
            <a:off x="658368" y="2560320"/>
            <a:ext cx="7863840" cy="713232"/>
          </a:xfrm>
          <a:prstGeom prst="rect">
            <a:avLst/>
          </a:prstGeom>
          <a:noFill/>
          <a:ln/>
        </p:spPr>
        <p:txBody>
          <a:bodyPr wrap="square" lIns="0" tIns="0" rIns="0" bIns="0" rtlCol="0" anchor="ctr"/>
          <a:lstStyle/>
          <a:p>
            <a:pPr indent="0" marL="0">
              <a:buNone/>
            </a:pPr>
            <a:r>
              <a:rPr lang="en-US" sz="4100" b="1" dirty="0">
                <a:solidFill>
                  <a:srgbClr val="EFEBE3"/>
                </a:solidFill>
                <a:latin typeface="Yu Mincho" pitchFamily="34" charset="0"/>
                <a:ea typeface="Yu Mincho" pitchFamily="34" charset="-122"/>
                <a:cs typeface="Yu Mincho" pitchFamily="34" charset="-120"/>
              </a:rPr>
              <a:t>ワインファンド（SPC）</a:t>
            </a:r>
            <a:endParaRPr lang="en-US" sz="4100" dirty="0"/>
          </a:p>
        </p:txBody>
      </p:sp>
      <p:sp>
        <p:nvSpPr>
          <p:cNvPr id="10" name="Text 8"/>
          <p:cNvSpPr/>
          <p:nvPr/>
        </p:nvSpPr>
        <p:spPr>
          <a:xfrm>
            <a:off x="658368" y="3255264"/>
            <a:ext cx="7863840" cy="713232"/>
          </a:xfrm>
          <a:prstGeom prst="rect">
            <a:avLst/>
          </a:prstGeom>
          <a:noFill/>
          <a:ln/>
        </p:spPr>
        <p:txBody>
          <a:bodyPr wrap="square" lIns="0" tIns="0" rIns="0" bIns="0" rtlCol="0" anchor="ctr"/>
          <a:lstStyle/>
          <a:p>
            <a:pPr indent="0" marL="0">
              <a:buNone/>
            </a:pPr>
            <a:r>
              <a:rPr lang="en-US" sz="4100" b="1" dirty="0">
                <a:solidFill>
                  <a:srgbClr val="C9A96E"/>
                </a:solidFill>
                <a:latin typeface="Yu Mincho" pitchFamily="34" charset="0"/>
                <a:ea typeface="Yu Mincho" pitchFamily="34" charset="-122"/>
                <a:cs typeface="Yu Mincho" pitchFamily="34" charset="-120"/>
              </a:rPr>
              <a:t>組成のご提案</a:t>
            </a:r>
            <a:endParaRPr lang="en-US" sz="4100" dirty="0"/>
          </a:p>
        </p:txBody>
      </p:sp>
      <p:sp>
        <p:nvSpPr>
          <p:cNvPr id="11" name="Text 9"/>
          <p:cNvSpPr/>
          <p:nvPr/>
        </p:nvSpPr>
        <p:spPr>
          <a:xfrm>
            <a:off x="658368" y="4133088"/>
            <a:ext cx="8778240" cy="274320"/>
          </a:xfrm>
          <a:prstGeom prst="rect">
            <a:avLst/>
          </a:prstGeom>
          <a:noFill/>
          <a:ln/>
        </p:spPr>
        <p:txBody>
          <a:bodyPr wrap="square" lIns="0" tIns="0" rIns="0" bIns="0" rtlCol="0" anchor="ctr"/>
          <a:lstStyle/>
          <a:p>
            <a:pPr indent="0" marL="0">
              <a:buNone/>
            </a:pPr>
            <a:r>
              <a:rPr lang="en-US" sz="1250" dirty="0">
                <a:solidFill>
                  <a:srgbClr val="9A938A"/>
                </a:solidFill>
                <a:latin typeface="Yu Gothic" pitchFamily="34" charset="0"/>
                <a:ea typeface="Yu Gothic" pitchFamily="34" charset="-122"/>
                <a:cs typeface="Yu Gothic" pitchFamily="34" charset="-120"/>
              </a:rPr>
              <a:t>ファーストクローズ 5億円 → 年度内セカンドクローズ 10億円 ／ 運用期間5年 ／ 年1回分配</a:t>
            </a:r>
            <a:endParaRPr lang="en-US" sz="1250" dirty="0"/>
          </a:p>
        </p:txBody>
      </p:sp>
      <p:sp>
        <p:nvSpPr>
          <p:cNvPr id="12" name="Text 10"/>
          <p:cNvSpPr/>
          <p:nvPr/>
        </p:nvSpPr>
        <p:spPr>
          <a:xfrm>
            <a:off x="658368" y="4443984"/>
            <a:ext cx="8229600" cy="274320"/>
          </a:xfrm>
          <a:prstGeom prst="rect">
            <a:avLst/>
          </a:prstGeom>
          <a:noFill/>
          <a:ln/>
        </p:spPr>
        <p:txBody>
          <a:bodyPr wrap="square" lIns="0" tIns="0" rIns="0" bIns="0" rtlCol="0" anchor="ctr"/>
          <a:lstStyle/>
          <a:p>
            <a:pPr indent="0" marL="0">
              <a:buNone/>
            </a:pPr>
            <a:r>
              <a:rPr lang="en-US" sz="1050" dirty="0">
                <a:solidFill>
                  <a:srgbClr val="6E675E"/>
                </a:solidFill>
                <a:latin typeface="Yu Gothic" pitchFamily="34" charset="0"/>
                <a:ea typeface="Yu Gothic" pitchFamily="34" charset="-122"/>
                <a:cs typeface="Yu Gothic" pitchFamily="34" charset="-120"/>
              </a:rPr>
              <a:t>2026年10月</a:t>
            </a:r>
            <a:endParaRPr lang="en-US" sz="1050" dirty="0"/>
          </a:p>
        </p:txBody>
      </p:sp>
      <p:sp>
        <p:nvSpPr>
          <p:cNvPr id="13" name="Text 11"/>
          <p:cNvSpPr/>
          <p:nvPr/>
        </p:nvSpPr>
        <p:spPr>
          <a:xfrm>
            <a:off x="658368" y="5687568"/>
            <a:ext cx="5486400" cy="292608"/>
          </a:xfrm>
          <a:prstGeom prst="rect">
            <a:avLst/>
          </a:prstGeom>
          <a:noFill/>
          <a:ln/>
        </p:spPr>
        <p:txBody>
          <a:bodyPr wrap="square" lIns="0" tIns="0" rIns="0" bIns="0" rtlCol="0" anchor="ctr"/>
          <a:lstStyle/>
          <a:p>
            <a:pPr indent="0" marL="0">
              <a:buNone/>
            </a:pPr>
            <a:r>
              <a:rPr lang="en-US" sz="1500" b="1" dirty="0">
                <a:solidFill>
                  <a:srgbClr val="EFEBE3"/>
                </a:solidFill>
                <a:latin typeface="Yu Mincho" pitchFamily="34" charset="0"/>
                <a:ea typeface="Yu Mincho" pitchFamily="34" charset="-122"/>
                <a:cs typeface="Yu Mincho" pitchFamily="34" charset="-120"/>
              </a:rPr>
              <a:t>株式会社WineBank</a:t>
            </a:r>
            <a:endParaRPr lang="en-US" sz="1500" dirty="0"/>
          </a:p>
        </p:txBody>
      </p:sp>
      <p:sp>
        <p:nvSpPr>
          <p:cNvPr id="14" name="Text 12"/>
          <p:cNvSpPr/>
          <p:nvPr/>
        </p:nvSpPr>
        <p:spPr>
          <a:xfrm>
            <a:off x="658368" y="6016752"/>
            <a:ext cx="7315200" cy="256032"/>
          </a:xfrm>
          <a:prstGeom prst="rect">
            <a:avLst/>
          </a:prstGeom>
          <a:noFill/>
          <a:ln/>
        </p:spPr>
        <p:txBody>
          <a:bodyPr wrap="square" lIns="0" tIns="0" rIns="0" bIns="0" rtlCol="0" anchor="ctr"/>
          <a:lstStyle/>
          <a:p>
            <a:pPr indent="0" marL="0">
              <a:buNone/>
            </a:pPr>
            <a:r>
              <a:rPr lang="en-US" sz="950" dirty="0">
                <a:solidFill>
                  <a:srgbClr val="6E675E"/>
                </a:solidFill>
                <a:latin typeface="Yu Gothic" pitchFamily="34" charset="0"/>
                <a:ea typeface="Yu Gothic" pitchFamily="34" charset="-122"/>
                <a:cs typeface="Yu Gothic" pitchFamily="34" charset="-120"/>
              </a:rPr>
              <a:t>東京都港区六本木4-12-8 第6DMJビル 2階　／　創業 1970年</a:t>
            </a:r>
            <a:endParaRPr lang="en-US" sz="950" dirty="0"/>
          </a:p>
        </p:txBody>
      </p:sp>
      <p:sp>
        <p:nvSpPr>
          <p:cNvPr id="15" name="Text 13"/>
          <p:cNvSpPr/>
          <p:nvPr/>
        </p:nvSpPr>
        <p:spPr>
          <a:xfrm>
            <a:off x="8790127" y="6016752"/>
            <a:ext cx="2743200" cy="256032"/>
          </a:xfrm>
          <a:prstGeom prst="rect">
            <a:avLst/>
          </a:prstGeom>
          <a:noFill/>
          <a:ln/>
        </p:spPr>
        <p:txBody>
          <a:bodyPr wrap="square" lIns="0" tIns="0" rIns="0" bIns="0" rtlCol="0" anchor="ctr"/>
          <a:lstStyle/>
          <a:p>
            <a:pPr algn="r" indent="0" marL="0">
              <a:buNone/>
            </a:pPr>
            <a:r>
              <a:rPr lang="en-US" sz="950" b="1" spc="260" kern="0" dirty="0">
                <a:solidFill>
                  <a:srgbClr val="6E5730"/>
                </a:solidFill>
                <a:latin typeface="Cambria" pitchFamily="34" charset="0"/>
                <a:ea typeface="Cambria" pitchFamily="34" charset="-122"/>
                <a:cs typeface="Cambria"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EXECUTIVE SUMMARY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本ファンドの骨子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実物ワインの流通価格差を収益源とする、現物裏付け型の短期回転ファンド。WineBankは卸す時点で値入れし、出口では管理報酬以外を取らない。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01</a:t>
            </a:r>
            <a:endParaRPr lang="en-US" sz="950" dirty="0"/>
          </a:p>
        </p:txBody>
      </p:sp>
      <p:sp>
        <p:nvSpPr>
          <p:cNvPr id="7" name="Shape 5"/>
          <p:cNvSpPr/>
          <p:nvPr/>
        </p:nvSpPr>
        <p:spPr>
          <a:xfrm>
            <a:off x="658368" y="1664208"/>
            <a:ext cx="2513000" cy="1481328"/>
          </a:xfrm>
          <a:prstGeom prst="roundRect">
            <a:avLst>
              <a:gd name="adj" fmla="val 2778"/>
            </a:avLst>
          </a:prstGeom>
          <a:solidFill>
            <a:srgbClr val="171614"/>
          </a:solidFill>
          <a:ln w="9525">
            <a:solidFill>
              <a:srgbClr val="2E2A24"/>
            </a:solidFill>
            <a:prstDash val="solid"/>
          </a:ln>
        </p:spPr>
      </p:sp>
      <p:sp>
        <p:nvSpPr>
          <p:cNvPr id="8" name="Text 6"/>
          <p:cNvSpPr/>
          <p:nvPr/>
        </p:nvSpPr>
        <p:spPr>
          <a:xfrm>
            <a:off x="89611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24.5</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400" dirty="0"/>
          </a:p>
        </p:txBody>
      </p:sp>
      <p:sp>
        <p:nvSpPr>
          <p:cNvPr id="9" name="Text 7"/>
          <p:cNvSpPr/>
          <p:nvPr/>
        </p:nvSpPr>
        <p:spPr>
          <a:xfrm>
            <a:off x="89611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卸値の控除率 α</a:t>
            </a:r>
            <a:endParaRPr lang="en-US" sz="1100" dirty="0"/>
          </a:p>
        </p:txBody>
      </p:sp>
      <p:sp>
        <p:nvSpPr>
          <p:cNvPr id="10" name="Text 8"/>
          <p:cNvSpPr/>
          <p:nvPr/>
        </p:nvSpPr>
        <p:spPr>
          <a:xfrm>
            <a:off x="89611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時価（取得時の売値75.00）から控除してSPCへ卸す。SPC簿価は定価比56.63</a:t>
            </a:r>
            <a:endParaRPr lang="en-US" sz="900" dirty="0"/>
          </a:p>
        </p:txBody>
      </p:sp>
      <p:sp>
        <p:nvSpPr>
          <p:cNvPr id="11" name="Shape 9"/>
          <p:cNvSpPr/>
          <p:nvPr/>
        </p:nvSpPr>
        <p:spPr>
          <a:xfrm>
            <a:off x="3445688" y="1664208"/>
            <a:ext cx="2513000" cy="1481328"/>
          </a:xfrm>
          <a:prstGeom prst="roundRect">
            <a:avLst>
              <a:gd name="adj" fmla="val 2778"/>
            </a:avLst>
          </a:prstGeom>
          <a:solidFill>
            <a:srgbClr val="171614"/>
          </a:solidFill>
          <a:ln w="9525">
            <a:solidFill>
              <a:srgbClr val="2E2A24"/>
            </a:solidFill>
            <a:prstDash val="solid"/>
          </a:ln>
        </p:spPr>
      </p:sp>
      <p:sp>
        <p:nvSpPr>
          <p:cNvPr id="12" name="Text 10"/>
          <p:cNvSpPr/>
          <p:nvPr/>
        </p:nvSpPr>
        <p:spPr>
          <a:xfrm>
            <a:off x="3683432" y="1847088"/>
            <a:ext cx="2037512" cy="566928"/>
          </a:xfrm>
          <a:prstGeom prst="rect">
            <a:avLst/>
          </a:prstGeom>
          <a:noFill/>
          <a:ln/>
        </p:spPr>
        <p:txBody>
          <a:bodyPr wrap="square" lIns="0" tIns="0" rIns="0" bIns="0" rtlCol="0" anchor="ctr"/>
          <a:lstStyle/>
          <a:p>
            <a:pPr indent="0" marL="0">
              <a:buNone/>
            </a:pPr>
            <a:r>
              <a:rPr lang="en-US" sz="2600" b="1" dirty="0">
                <a:solidFill>
                  <a:srgbClr val="C9A96E"/>
                </a:solidFill>
                <a:latin typeface="Cambria" pitchFamily="34" charset="0"/>
                <a:ea typeface="Cambria" pitchFamily="34" charset="-122"/>
                <a:cs typeface="Cambria" pitchFamily="34" charset="-120"/>
              </a:rPr>
              <a:t>60 : 40</a:t>
            </a:r>
            <a:pPr indent="0" marL="0">
              <a:buNone/>
            </a:pPr>
            <a:endParaRPr lang="en-US" sz="2600" dirty="0"/>
          </a:p>
        </p:txBody>
      </p:sp>
      <p:sp>
        <p:nvSpPr>
          <p:cNvPr id="13" name="Text 11"/>
          <p:cNvSpPr/>
          <p:nvPr/>
        </p:nvSpPr>
        <p:spPr>
          <a:xfrm>
            <a:off x="368343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利益の配分（WB：投資家）</a:t>
            </a:r>
            <a:endParaRPr lang="en-US" sz="1100" dirty="0"/>
          </a:p>
        </p:txBody>
      </p:sp>
      <p:sp>
        <p:nvSpPr>
          <p:cNvPr id="14" name="Text 12"/>
          <p:cNvSpPr/>
          <p:nvPr/>
        </p:nvSpPr>
        <p:spPr>
          <a:xfrm>
            <a:off x="368343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出資比率どおりのプロラタ配分。成功報酬（折半）は取らない</a:t>
            </a:r>
            <a:endParaRPr lang="en-US" sz="900" dirty="0"/>
          </a:p>
        </p:txBody>
      </p:sp>
      <p:sp>
        <p:nvSpPr>
          <p:cNvPr id="15" name="Shape 13"/>
          <p:cNvSpPr/>
          <p:nvPr/>
        </p:nvSpPr>
        <p:spPr>
          <a:xfrm>
            <a:off x="6233008" y="1664208"/>
            <a:ext cx="2513000" cy="1481328"/>
          </a:xfrm>
          <a:prstGeom prst="roundRect">
            <a:avLst>
              <a:gd name="adj" fmla="val 2778"/>
            </a:avLst>
          </a:prstGeom>
          <a:solidFill>
            <a:srgbClr val="171614"/>
          </a:solidFill>
          <a:ln w="9525">
            <a:solidFill>
              <a:srgbClr val="2E2A24"/>
            </a:solidFill>
            <a:prstDash val="solid"/>
          </a:ln>
        </p:spPr>
      </p:sp>
      <p:sp>
        <p:nvSpPr>
          <p:cNvPr id="16" name="Text 14"/>
          <p:cNvSpPr/>
          <p:nvPr/>
        </p:nvSpPr>
        <p:spPr>
          <a:xfrm>
            <a:off x="647075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12</a:t>
            </a:r>
            <a:pPr indent="0" marL="0">
              <a:buNone/>
            </a:pPr>
            <a:r>
              <a:rPr lang="en-US" sz="1250" b="1" dirty="0">
                <a:solidFill>
                  <a:srgbClr val="C9A96E"/>
                </a:solidFill>
                <a:latin typeface="Yu Gothic" pitchFamily="34" charset="0"/>
                <a:ea typeface="Yu Gothic" pitchFamily="34" charset="-122"/>
                <a:cs typeface="Yu Gothic" pitchFamily="34" charset="-120"/>
              </a:rPr>
              <a:t> ヶ月</a:t>
            </a:r>
            <a:endParaRPr lang="en-US" sz="3400" dirty="0"/>
          </a:p>
        </p:txBody>
      </p:sp>
      <p:sp>
        <p:nvSpPr>
          <p:cNvPr id="17" name="Text 15"/>
          <p:cNvSpPr/>
          <p:nvPr/>
        </p:nvSpPr>
        <p:spPr>
          <a:xfrm>
            <a:off x="647075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在庫回転期間（主線）</a:t>
            </a:r>
            <a:endParaRPr lang="en-US" sz="1100" dirty="0"/>
          </a:p>
        </p:txBody>
      </p:sp>
      <p:sp>
        <p:nvSpPr>
          <p:cNvPr id="18" name="Text 16"/>
          <p:cNvSpPr/>
          <p:nvPr/>
        </p:nvSpPr>
        <p:spPr>
          <a:xfrm>
            <a:off x="647075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最短9ヶ月、延びても15〜18ヶ月を想定レンジとする</a:t>
            </a:r>
            <a:endParaRPr lang="en-US" sz="900" dirty="0"/>
          </a:p>
        </p:txBody>
      </p:sp>
      <p:sp>
        <p:nvSpPr>
          <p:cNvPr id="19" name="Shape 17"/>
          <p:cNvSpPr/>
          <p:nvPr/>
        </p:nvSpPr>
        <p:spPr>
          <a:xfrm>
            <a:off x="9020327" y="1664208"/>
            <a:ext cx="2513000" cy="1481328"/>
          </a:xfrm>
          <a:prstGeom prst="roundRect">
            <a:avLst>
              <a:gd name="adj" fmla="val 2778"/>
            </a:avLst>
          </a:prstGeom>
          <a:solidFill>
            <a:srgbClr val="1F1D19"/>
          </a:solidFill>
          <a:ln w="9525">
            <a:solidFill>
              <a:srgbClr val="6E5730"/>
            </a:solidFill>
            <a:prstDash val="solid"/>
          </a:ln>
        </p:spPr>
      </p:sp>
      <p:sp>
        <p:nvSpPr>
          <p:cNvPr id="20" name="Text 18"/>
          <p:cNvSpPr/>
          <p:nvPr/>
        </p:nvSpPr>
        <p:spPr>
          <a:xfrm>
            <a:off x="9258071" y="1847088"/>
            <a:ext cx="2037512" cy="566928"/>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20.0</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1" name="Text 19"/>
          <p:cNvSpPr/>
          <p:nvPr/>
        </p:nvSpPr>
        <p:spPr>
          <a:xfrm>
            <a:off x="9258071"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投資家利回り（年平均）</a:t>
            </a:r>
            <a:endParaRPr lang="en-US" sz="1100" dirty="0"/>
          </a:p>
        </p:txBody>
      </p:sp>
      <p:sp>
        <p:nvSpPr>
          <p:cNvPr id="22" name="Text 20"/>
          <p:cNvSpPr/>
          <p:nvPr/>
        </p:nvSpPr>
        <p:spPr>
          <a:xfrm>
            <a:off x="9258071"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出資2億円に対する5年間の分配の年平均。フル稼働時の単年では22.5%</a:t>
            </a:r>
            <a:endParaRPr lang="en-US" sz="900" dirty="0"/>
          </a:p>
        </p:txBody>
      </p:sp>
      <p:sp>
        <p:nvSpPr>
          <p:cNvPr id="23" name="Shape 21"/>
          <p:cNvSpPr/>
          <p:nvPr/>
        </p:nvSpPr>
        <p:spPr>
          <a:xfrm>
            <a:off x="658368" y="3419856"/>
            <a:ext cx="274320" cy="274320"/>
          </a:xfrm>
          <a:prstGeom prst="ellipse">
            <a:avLst/>
          </a:prstGeom>
          <a:solidFill>
            <a:srgbClr val="0C0C0C"/>
          </a:solidFill>
          <a:ln w="11430">
            <a:solidFill>
              <a:srgbClr val="A78450"/>
            </a:solidFill>
            <a:prstDash val="solid"/>
          </a:ln>
        </p:spPr>
      </p:sp>
      <p:sp>
        <p:nvSpPr>
          <p:cNvPr id="24" name="Text 22"/>
          <p:cNvSpPr/>
          <p:nvPr/>
        </p:nvSpPr>
        <p:spPr>
          <a:xfrm>
            <a:off x="658368" y="341985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01</a:t>
            </a:r>
            <a:endParaRPr lang="en-US" sz="850" dirty="0"/>
          </a:p>
        </p:txBody>
      </p:sp>
      <p:sp>
        <p:nvSpPr>
          <p:cNvPr id="25" name="Text 23"/>
          <p:cNvSpPr/>
          <p:nvPr/>
        </p:nvSpPr>
        <p:spPr>
          <a:xfrm>
            <a:off x="1078992" y="338328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WineBankの取り分は、SPCへ卸す時点の値入れに一本化する。</a:t>
            </a:r>
            <a:endParaRPr lang="en-US" sz="1200" dirty="0"/>
          </a:p>
        </p:txBody>
      </p:sp>
      <p:sp>
        <p:nvSpPr>
          <p:cNvPr id="26" name="Text 24"/>
          <p:cNvSpPr/>
          <p:nvPr/>
        </p:nvSpPr>
        <p:spPr>
          <a:xfrm>
            <a:off x="1078992" y="362102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時価から24.5%を控除した定価比56.63でSPCへ卸し、その値入れ（年平均56百万円）を卸した時点で受け取る。αは投資家の年平均20%を基礎に定める。売却時に取るのは管理報酬（総額の年2%）のみとする。</a:t>
            </a:r>
            <a:endParaRPr lang="en-US" sz="950" dirty="0"/>
          </a:p>
        </p:txBody>
      </p:sp>
      <p:sp>
        <p:nvSpPr>
          <p:cNvPr id="27" name="Shape 25"/>
          <p:cNvSpPr/>
          <p:nvPr/>
        </p:nvSpPr>
        <p:spPr>
          <a:xfrm>
            <a:off x="658368" y="4059936"/>
            <a:ext cx="274320" cy="274320"/>
          </a:xfrm>
          <a:prstGeom prst="ellipse">
            <a:avLst/>
          </a:prstGeom>
          <a:solidFill>
            <a:srgbClr val="0C0C0C"/>
          </a:solidFill>
          <a:ln w="11430">
            <a:solidFill>
              <a:srgbClr val="A78450"/>
            </a:solidFill>
            <a:prstDash val="solid"/>
          </a:ln>
        </p:spPr>
      </p:sp>
      <p:sp>
        <p:nvSpPr>
          <p:cNvPr id="28" name="Text 26"/>
          <p:cNvSpPr/>
          <p:nvPr/>
        </p:nvSpPr>
        <p:spPr>
          <a:xfrm>
            <a:off x="658368" y="405993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02</a:t>
            </a:r>
            <a:endParaRPr lang="en-US" sz="850" dirty="0"/>
          </a:p>
        </p:txBody>
      </p:sp>
      <p:sp>
        <p:nvSpPr>
          <p:cNvPr id="29" name="Text 27"/>
          <p:cNvSpPr/>
          <p:nvPr/>
        </p:nvSpPr>
        <p:spPr>
          <a:xfrm>
            <a:off x="1078992" y="402336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SPCの利益は出資比率どおり 60：40 で分ける。</a:t>
            </a:r>
            <a:endParaRPr lang="en-US" sz="1200" dirty="0"/>
          </a:p>
        </p:txBody>
      </p:sp>
      <p:sp>
        <p:nvSpPr>
          <p:cNvPr id="30" name="Text 28"/>
          <p:cNvSpPr/>
          <p:nvPr/>
        </p:nvSpPr>
        <p:spPr>
          <a:xfrm>
            <a:off x="1078992" y="426110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成功報酬（折半）は廃止する。投資家の取分は「SPC税前利益 × 出資比率40%」であり、配分は出資比率だけで決まる。</a:t>
            </a:r>
            <a:endParaRPr lang="en-US" sz="950" dirty="0"/>
          </a:p>
        </p:txBody>
      </p:sp>
      <p:sp>
        <p:nvSpPr>
          <p:cNvPr id="31" name="Shape 29"/>
          <p:cNvSpPr/>
          <p:nvPr/>
        </p:nvSpPr>
        <p:spPr>
          <a:xfrm>
            <a:off x="658368" y="4700016"/>
            <a:ext cx="274320" cy="274320"/>
          </a:xfrm>
          <a:prstGeom prst="ellipse">
            <a:avLst/>
          </a:prstGeom>
          <a:solidFill>
            <a:srgbClr val="0C0C0C"/>
          </a:solidFill>
          <a:ln w="11430">
            <a:solidFill>
              <a:srgbClr val="A78450"/>
            </a:solidFill>
            <a:prstDash val="solid"/>
          </a:ln>
        </p:spPr>
      </p:sp>
      <p:sp>
        <p:nvSpPr>
          <p:cNvPr id="32" name="Text 30"/>
          <p:cNvSpPr/>
          <p:nvPr/>
        </p:nvSpPr>
        <p:spPr>
          <a:xfrm>
            <a:off x="658368" y="470001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03</a:t>
            </a:r>
            <a:endParaRPr lang="en-US" sz="850" dirty="0"/>
          </a:p>
        </p:txBody>
      </p:sp>
      <p:sp>
        <p:nvSpPr>
          <p:cNvPr id="33" name="Text 31"/>
          <p:cNvSpPr/>
          <p:nvPr/>
        </p:nvSpPr>
        <p:spPr>
          <a:xfrm>
            <a:off x="1078992" y="466344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投資家の利回りは、仕入価格と売値の変動から遮断される。</a:t>
            </a:r>
            <a:endParaRPr lang="en-US" sz="1200" dirty="0"/>
          </a:p>
        </p:txBody>
      </p:sp>
      <p:sp>
        <p:nvSpPr>
          <p:cNvPr id="34" name="Text 32"/>
          <p:cNvSpPr/>
          <p:nvPr/>
        </p:nvSpPr>
        <p:spPr>
          <a:xfrm>
            <a:off x="1078992" y="490118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卸値が時価に連動するため、市中仕入が50→45に下がっても（＋0.0pt）、売値が5%下がっても（▲0.1pt）、投資家利回りはほとんど動かない。残る変動要因は在庫回転期間とワイン価格の上昇率になる。</a:t>
            </a:r>
            <a:endParaRPr lang="en-US" sz="950" dirty="0"/>
          </a:p>
        </p:txBody>
      </p:sp>
      <p:sp>
        <p:nvSpPr>
          <p:cNvPr id="35" name="Shape 33"/>
          <p:cNvSpPr/>
          <p:nvPr/>
        </p:nvSpPr>
        <p:spPr>
          <a:xfrm>
            <a:off x="658368" y="5340096"/>
            <a:ext cx="274320" cy="274320"/>
          </a:xfrm>
          <a:prstGeom prst="ellipse">
            <a:avLst/>
          </a:prstGeom>
          <a:solidFill>
            <a:srgbClr val="0C0C0C"/>
          </a:solidFill>
          <a:ln w="11430">
            <a:solidFill>
              <a:srgbClr val="A78450"/>
            </a:solidFill>
            <a:prstDash val="solid"/>
          </a:ln>
        </p:spPr>
      </p:sp>
      <p:sp>
        <p:nvSpPr>
          <p:cNvPr id="36" name="Text 34"/>
          <p:cNvSpPr/>
          <p:nvPr/>
        </p:nvSpPr>
        <p:spPr>
          <a:xfrm>
            <a:off x="658368" y="534009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04</a:t>
            </a:r>
            <a:endParaRPr lang="en-US" sz="850" dirty="0"/>
          </a:p>
        </p:txBody>
      </p:sp>
      <p:sp>
        <p:nvSpPr>
          <p:cNvPr id="37" name="Text 35"/>
          <p:cNvSpPr/>
          <p:nvPr/>
        </p:nvSpPr>
        <p:spPr>
          <a:xfrm>
            <a:off x="1078992" y="530352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在庫回転12ヶ月で売り切る。組入銘柄の選定と配分ルールで実現する。</a:t>
            </a:r>
            <a:endParaRPr lang="en-US" sz="1200" dirty="0"/>
          </a:p>
        </p:txBody>
      </p:sp>
      <p:sp>
        <p:nvSpPr>
          <p:cNvPr id="38" name="Text 36"/>
          <p:cNvSpPr/>
          <p:nvPr/>
        </p:nvSpPr>
        <p:spPr>
          <a:xfrm>
            <a:off x="1078992" y="554126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回転12ヶ月に必要な年間販売額は6.67億円。最短9ヶ月、延びても15〜18ヶ月を想定レンジとする。</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CAPITAL 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資本構成とリターンの配分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総額5億円をWineBankの現物出資3億円（60%）と投資家出資2億円（40%）で構成し、SPCの利益を出資比率どおりに分ける。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02</a:t>
            </a:r>
            <a:endParaRPr lang="en-US" sz="950" dirty="0"/>
          </a:p>
        </p:txBody>
      </p:sp>
      <p:sp>
        <p:nvSpPr>
          <p:cNvPr id="7" name="Shape 5"/>
          <p:cNvSpPr/>
          <p:nvPr/>
        </p:nvSpPr>
        <p:spPr>
          <a:xfrm>
            <a:off x="658368" y="1627632"/>
            <a:ext cx="3442106" cy="1700784"/>
          </a:xfrm>
          <a:prstGeom prst="roundRect">
            <a:avLst>
              <a:gd name="adj" fmla="val 2419"/>
            </a:avLst>
          </a:prstGeom>
          <a:solidFill>
            <a:srgbClr val="171614"/>
          </a:solidFill>
          <a:ln w="9525">
            <a:solidFill>
              <a:srgbClr val="2E2A24"/>
            </a:solidFill>
            <a:prstDash val="solid"/>
          </a:ln>
        </p:spPr>
      </p:sp>
      <p:sp>
        <p:nvSpPr>
          <p:cNvPr id="8" name="Text 6"/>
          <p:cNvSpPr/>
          <p:nvPr/>
        </p:nvSpPr>
        <p:spPr>
          <a:xfrm>
            <a:off x="896112" y="1773936"/>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現物出資｜WineBank</a:t>
            </a:r>
            <a:endParaRPr lang="en-US" sz="1150" dirty="0"/>
          </a:p>
        </p:txBody>
      </p:sp>
      <p:sp>
        <p:nvSpPr>
          <p:cNvPr id="9" name="Text 7"/>
          <p:cNvSpPr/>
          <p:nvPr/>
        </p:nvSpPr>
        <p:spPr>
          <a:xfrm>
            <a:off x="896112"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3.0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2800" dirty="0"/>
          </a:p>
        </p:txBody>
      </p:sp>
      <p:sp>
        <p:nvSpPr>
          <p:cNvPr id="10" name="Text 8"/>
          <p:cNvSpPr/>
          <p:nvPr/>
        </p:nvSpPr>
        <p:spPr>
          <a:xfrm>
            <a:off x="896112"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総額の60%（ワイン現物）</a:t>
            </a:r>
            <a:endParaRPr lang="en-US" sz="950" dirty="0"/>
          </a:p>
        </p:txBody>
      </p:sp>
      <p:sp>
        <p:nvSpPr>
          <p:cNvPr id="11" name="Text 9"/>
          <p:cNvSpPr/>
          <p:nvPr/>
        </p:nvSpPr>
        <p:spPr>
          <a:xfrm>
            <a:off x="896112"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・自己勘定のワイン現物を拠出</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・現金の拠出ではない</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・利益は持分60%を受け取る</a:t>
            </a:r>
            <a:endParaRPr lang="en-US" sz="900" dirty="0"/>
          </a:p>
        </p:txBody>
      </p:sp>
      <p:sp>
        <p:nvSpPr>
          <p:cNvPr id="12" name="Shape 10"/>
          <p:cNvSpPr/>
          <p:nvPr/>
        </p:nvSpPr>
        <p:spPr>
          <a:xfrm>
            <a:off x="4374794" y="1627632"/>
            <a:ext cx="3442106" cy="1700784"/>
          </a:xfrm>
          <a:prstGeom prst="roundRect">
            <a:avLst>
              <a:gd name="adj" fmla="val 2419"/>
            </a:avLst>
          </a:prstGeom>
          <a:solidFill>
            <a:srgbClr val="1F1D19"/>
          </a:solidFill>
          <a:ln w="9525">
            <a:solidFill>
              <a:srgbClr val="6E5730"/>
            </a:solidFill>
            <a:prstDash val="solid"/>
          </a:ln>
        </p:spPr>
      </p:sp>
      <p:sp>
        <p:nvSpPr>
          <p:cNvPr id="13" name="Text 11"/>
          <p:cNvSpPr/>
          <p:nvPr/>
        </p:nvSpPr>
        <p:spPr>
          <a:xfrm>
            <a:off x="4612538" y="1773936"/>
            <a:ext cx="2966618"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出資｜投資家</a:t>
            </a:r>
            <a:endParaRPr lang="en-US" sz="1150" dirty="0"/>
          </a:p>
        </p:txBody>
      </p:sp>
      <p:sp>
        <p:nvSpPr>
          <p:cNvPr id="14" name="Text 12"/>
          <p:cNvSpPr/>
          <p:nvPr/>
        </p:nvSpPr>
        <p:spPr>
          <a:xfrm>
            <a:off x="4612538"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2.0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2800" dirty="0"/>
          </a:p>
        </p:txBody>
      </p:sp>
      <p:sp>
        <p:nvSpPr>
          <p:cNvPr id="15" name="Text 13"/>
          <p:cNvSpPr/>
          <p:nvPr/>
        </p:nvSpPr>
        <p:spPr>
          <a:xfrm>
            <a:off x="4612538"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SPC利益の40%を受領（年平均20.0%）</a:t>
            </a:r>
            <a:endParaRPr lang="en-US" sz="950" dirty="0"/>
          </a:p>
        </p:txBody>
      </p:sp>
      <p:sp>
        <p:nvSpPr>
          <p:cNvPr id="16" name="Text 14"/>
          <p:cNvSpPr/>
          <p:nvPr/>
        </p:nvSpPr>
        <p:spPr>
          <a:xfrm>
            <a:off x="4612538"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・匿名組合出資（1口5,000万円以上）</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・満期に元本償還</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・年1回分配（4年目以降は解約可）</a:t>
            </a:r>
            <a:endParaRPr lang="en-US" sz="900" dirty="0"/>
          </a:p>
        </p:txBody>
      </p:sp>
      <p:sp>
        <p:nvSpPr>
          <p:cNvPr id="17" name="Shape 15"/>
          <p:cNvSpPr/>
          <p:nvPr/>
        </p:nvSpPr>
        <p:spPr>
          <a:xfrm>
            <a:off x="8091221" y="1627632"/>
            <a:ext cx="3442106" cy="1700784"/>
          </a:xfrm>
          <a:prstGeom prst="roundRect">
            <a:avLst>
              <a:gd name="adj" fmla="val 2419"/>
            </a:avLst>
          </a:prstGeom>
          <a:solidFill>
            <a:srgbClr val="171614"/>
          </a:solidFill>
          <a:ln w="9525">
            <a:solidFill>
              <a:srgbClr val="2E2A24"/>
            </a:solidFill>
            <a:prstDash val="solid"/>
          </a:ln>
        </p:spPr>
      </p:sp>
      <p:sp>
        <p:nvSpPr>
          <p:cNvPr id="18" name="Text 16"/>
          <p:cNvSpPr/>
          <p:nvPr/>
        </p:nvSpPr>
        <p:spPr>
          <a:xfrm>
            <a:off x="8328965" y="1773936"/>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WineBank受取（年平均）</a:t>
            </a:r>
            <a:endParaRPr lang="en-US" sz="1150" dirty="0"/>
          </a:p>
        </p:txBody>
      </p:sp>
      <p:sp>
        <p:nvSpPr>
          <p:cNvPr id="19" name="Text 17"/>
          <p:cNvSpPr/>
          <p:nvPr/>
        </p:nvSpPr>
        <p:spPr>
          <a:xfrm>
            <a:off x="8328965"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126</a:t>
            </a:r>
            <a:pPr indent="0" marL="0">
              <a:buNone/>
            </a:pPr>
            <a:r>
              <a:rPr lang="en-US" sz="1200" b="1" dirty="0">
                <a:solidFill>
                  <a:srgbClr val="C9A96E"/>
                </a:solidFill>
                <a:latin typeface="Yu Gothic" pitchFamily="34" charset="0"/>
                <a:ea typeface="Yu Gothic" pitchFamily="34" charset="-122"/>
                <a:cs typeface="Yu Gothic" pitchFamily="34" charset="-120"/>
              </a:rPr>
              <a:t> 百万円</a:t>
            </a:r>
            <a:endParaRPr lang="en-US" sz="2800" dirty="0"/>
          </a:p>
        </p:txBody>
      </p:sp>
      <p:sp>
        <p:nvSpPr>
          <p:cNvPr id="20" name="Text 18"/>
          <p:cNvSpPr/>
          <p:nvPr/>
        </p:nvSpPr>
        <p:spPr>
          <a:xfrm>
            <a:off x="8328965"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持分60＋値入れ56＋管理報酬10（百万円）</a:t>
            </a:r>
            <a:endParaRPr lang="en-US" sz="950" dirty="0"/>
          </a:p>
        </p:txBody>
      </p:sp>
      <p:sp>
        <p:nvSpPr>
          <p:cNvPr id="21" name="Text 19"/>
          <p:cNvSpPr/>
          <p:nvPr/>
        </p:nvSpPr>
        <p:spPr>
          <a:xfrm>
            <a:off x="8328965"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・値入れは卸した時点で受領</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・出口の成功報酬はなし</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・管理報酬は総額の年2%</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3419856"/>
          <a:ext cx="10874959" cy="914400"/>
        </p:xfrm>
        <a:graphic>
          <a:graphicData uri="http://schemas.openxmlformats.org/drawingml/2006/table">
            <a:tbl>
              <a:tblPr/>
              <a:tblGrid>
                <a:gridCol w="2798064"/>
                <a:gridCol w="1481328"/>
                <a:gridCol w="6592824"/>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金額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① WineBankの値入れ</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56百万円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時価75.00から24.5%控除の定価比56.63で卸す。組入れ・入替えの都度受領し、SPC費用には計上しない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② SPCの利益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EFEBE3"/>
                          </a:solidFill>
                          <a:latin typeface="Yu Gothic" pitchFamily="34" charset="0"/>
                          <a:ea typeface="Yu Gothic" pitchFamily="34" charset="-122"/>
                          <a:cs typeface="Yu Gothic" pitchFamily="34" charset="-120"/>
                        </a:rPr>
                        <a:t>1.00億円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在庫回転12ヶ月。管理報酬10百万円ほか費用控除後。②の40%が投資家の年平均20.0%となる水準から逆算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　├ 投資家（出資比率40%）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40百万円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出資2億円に対し 年平均利回り 20.0%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　└ WineBank（出資比率60%）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60百万円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現物出資分に対する持分。成功報酬（折半）は取らない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③ 管理報酬</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総額の年2%。売却時に取るのはこれのみ</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WineBank受取合計（①＋②の60%＋③）</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126百万円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現金の拠出はなく、ワイン現物の拠出と実務の遂行で受け取る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Shape 20"/>
          <p:cNvSpPr/>
          <p:nvPr/>
        </p:nvSpPr>
        <p:spPr>
          <a:xfrm>
            <a:off x="658368" y="5504688"/>
            <a:ext cx="10874959" cy="859536"/>
          </a:xfrm>
          <a:prstGeom prst="roundRect">
            <a:avLst>
              <a:gd name="adj" fmla="val 4787"/>
            </a:avLst>
          </a:prstGeom>
          <a:solidFill>
            <a:srgbClr val="1F1D19"/>
          </a:solidFill>
          <a:ln w="9525">
            <a:solidFill>
              <a:srgbClr val="6E5730"/>
            </a:solidFill>
            <a:prstDash val="solid"/>
          </a:ln>
        </p:spPr>
      </p:sp>
      <p:sp>
        <p:nvSpPr>
          <p:cNvPr id="24" name="Text 21"/>
          <p:cNvSpPr/>
          <p:nvPr/>
        </p:nvSpPr>
        <p:spPr>
          <a:xfrm>
            <a:off x="932688" y="5577840"/>
            <a:ext cx="5669280" cy="201168"/>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前回資料（原価卸＋折半）からの変更（回転12ヶ月・投資家の年平均利回り）</a:t>
            </a:r>
            <a:endParaRPr lang="en-US" sz="1050" dirty="0"/>
          </a:p>
        </p:txBody>
      </p:sp>
      <p:sp>
        <p:nvSpPr>
          <p:cNvPr id="25" name="Text 22"/>
          <p:cNvSpPr/>
          <p:nvPr/>
        </p:nvSpPr>
        <p:spPr>
          <a:xfrm>
            <a:off x="932688" y="5797296"/>
            <a:ext cx="10326319"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① 前回：原価50.50で卸し出口で折半 </a:t>
            </a:r>
            <a:pPr indent="0" marL="0">
              <a:buNone/>
            </a:pPr>
            <a:r>
              <a:rPr lang="en-US" sz="1200" b="1" dirty="0">
                <a:solidFill>
                  <a:srgbClr val="EFEBE3"/>
                </a:solidFill>
                <a:latin typeface="Cambria" pitchFamily="34" charset="0"/>
                <a:ea typeface="Cambria" pitchFamily="34" charset="-122"/>
                <a:cs typeface="Cambria" pitchFamily="34" charset="-120"/>
              </a:rPr>
              <a:t>16.0%</a:t>
            </a:r>
            <a:pPr indent="0" marL="0">
              <a:buNone/>
            </a:pPr>
            <a:r>
              <a:rPr lang="en-US" sz="950" dirty="0">
                <a:solidFill>
                  <a:srgbClr val="9A938A"/>
                </a:solidFill>
                <a:latin typeface="Yu Gothic" pitchFamily="34" charset="0"/>
                <a:ea typeface="Yu Gothic" pitchFamily="34" charset="-122"/>
                <a:cs typeface="Yu Gothic" pitchFamily="34" charset="-120"/>
              </a:rPr>
              <a:t>　→　② 今回：時価▲24.5%＝56.63で卸し出口はプロラタ </a:t>
            </a:r>
            <a:pPr indent="0" marL="0">
              <a:buNone/>
            </a:pPr>
            <a:r>
              <a:rPr lang="en-US" sz="1200" b="1" dirty="0">
                <a:solidFill>
                  <a:srgbClr val="C9A96E"/>
                </a:solidFill>
                <a:latin typeface="Cambria" pitchFamily="34" charset="0"/>
                <a:ea typeface="Cambria" pitchFamily="34" charset="-122"/>
                <a:cs typeface="Cambria" pitchFamily="34" charset="-120"/>
              </a:rPr>
              <a:t>20.0%</a:t>
            </a:r>
            <a:endParaRPr lang="en-US" sz="950" dirty="0"/>
          </a:p>
        </p:txBody>
      </p:sp>
      <p:sp>
        <p:nvSpPr>
          <p:cNvPr id="26" name="Text 23"/>
          <p:cNvSpPr/>
          <p:nvPr/>
        </p:nvSpPr>
        <p:spPr>
          <a:xfrm>
            <a:off x="932688" y="6035040"/>
            <a:ext cx="10326319" cy="219456"/>
          </a:xfrm>
          <a:prstGeom prst="rect">
            <a:avLst/>
          </a:prstGeom>
          <a:noFill/>
          <a:ln/>
        </p:spPr>
        <p:txBody>
          <a:bodyPr wrap="square" lIns="0" tIns="0" rIns="0" bIns="0" rtlCol="0" anchor="ctr"/>
          <a:lstStyle/>
          <a:p>
            <a:pPr indent="0" marL="0">
              <a:buNone/>
            </a:pPr>
            <a:r>
              <a:rPr lang="en-US" sz="800" dirty="0">
                <a:solidFill>
                  <a:srgbClr val="6E675E"/>
                </a:solidFill>
                <a:latin typeface="Yu Gothic" pitchFamily="34" charset="0"/>
                <a:ea typeface="Yu Gothic" pitchFamily="34" charset="-122"/>
                <a:cs typeface="Yu Gothic" pitchFamily="34" charset="-120"/>
              </a:rPr>
              <a:t>※「年平均利回り」＝5年間の分配総額÷5÷出資額（仕入展開と最初の売却までの空白、満期の在庫清算を含む。表の金額も5年間の年平均）。「フル稼働時の単年利回り」22.5%は在庫が回り切った1年だけを切り出した参考値。</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STAGED CLOSING</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段階クローズ：5億円から始め、年度内に10億円へ</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同じ資本構成（WineBank現物出資60%＋投資家出資40%）と同じ卸値ルールのまま、規模だけを拡大する。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03</a:t>
            </a:r>
            <a:endParaRPr lang="en-US" sz="950" dirty="0"/>
          </a:p>
        </p:txBody>
      </p:sp>
      <p:sp>
        <p:nvSpPr>
          <p:cNvPr id="7" name="Shape 5"/>
          <p:cNvSpPr/>
          <p:nvPr/>
        </p:nvSpPr>
        <p:spPr>
          <a:xfrm>
            <a:off x="658368" y="1627632"/>
            <a:ext cx="5291176" cy="1810512"/>
          </a:xfrm>
          <a:prstGeom prst="roundRect">
            <a:avLst>
              <a:gd name="adj" fmla="val 2273"/>
            </a:avLst>
          </a:prstGeom>
          <a:solidFill>
            <a:srgbClr val="1F1D19"/>
          </a:solidFill>
          <a:ln w="9525">
            <a:solidFill>
              <a:srgbClr val="6E5730"/>
            </a:solidFill>
            <a:prstDash val="solid"/>
          </a:ln>
        </p:spPr>
      </p:sp>
      <p:sp>
        <p:nvSpPr>
          <p:cNvPr id="8" name="Text 6"/>
          <p:cNvSpPr/>
          <p:nvPr/>
        </p:nvSpPr>
        <p:spPr>
          <a:xfrm>
            <a:off x="914400" y="1773936"/>
            <a:ext cx="4779112" cy="201168"/>
          </a:xfrm>
          <a:prstGeom prst="rect">
            <a:avLst/>
          </a:prstGeom>
          <a:noFill/>
          <a:ln/>
        </p:spPr>
        <p:txBody>
          <a:bodyPr wrap="square" lIns="0" tIns="0" rIns="0" bIns="0" rtlCol="0" anchor="ctr"/>
          <a:lstStyle/>
          <a:p>
            <a:pPr indent="0" marL="0">
              <a:buNone/>
            </a:pPr>
            <a:r>
              <a:rPr lang="en-US" sz="950" b="1" spc="240" kern="0" dirty="0">
                <a:solidFill>
                  <a:srgbClr val="A78450"/>
                </a:solidFill>
                <a:latin typeface="Cambria" pitchFamily="34" charset="0"/>
                <a:ea typeface="Cambria" pitchFamily="34" charset="-122"/>
                <a:cs typeface="Cambria" pitchFamily="34" charset="-120"/>
              </a:rPr>
              <a:t>FIRST CLOSE</a:t>
            </a:r>
            <a:endParaRPr lang="en-US" sz="950" dirty="0"/>
          </a:p>
        </p:txBody>
      </p:sp>
      <p:sp>
        <p:nvSpPr>
          <p:cNvPr id="9" name="Text 7"/>
          <p:cNvSpPr/>
          <p:nvPr/>
        </p:nvSpPr>
        <p:spPr>
          <a:xfrm>
            <a:off x="914400" y="1975104"/>
            <a:ext cx="4779112"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ファーストクローズ</a:t>
            </a:r>
            <a:endParaRPr lang="en-US" sz="1250" dirty="0"/>
          </a:p>
        </p:txBody>
      </p:sp>
      <p:sp>
        <p:nvSpPr>
          <p:cNvPr id="10" name="Text 8"/>
          <p:cNvSpPr/>
          <p:nvPr/>
        </p:nvSpPr>
        <p:spPr>
          <a:xfrm>
            <a:off x="914400" y="2286000"/>
            <a:ext cx="4779112" cy="438912"/>
          </a:xfrm>
          <a:prstGeom prst="rect">
            <a:avLst/>
          </a:prstGeom>
          <a:noFill/>
          <a:ln/>
        </p:spPr>
        <p:txBody>
          <a:bodyPr wrap="square" lIns="0" tIns="0" rIns="0" bIns="0" rtlCol="0" anchor="ctr"/>
          <a:lstStyle/>
          <a:p>
            <a:pPr indent="0" marL="0">
              <a:buNone/>
            </a:pPr>
            <a:r>
              <a:rPr lang="en-US" sz="1100" dirty="0">
                <a:solidFill>
                  <a:srgbClr val="9A938A"/>
                </a:solidFill>
                <a:latin typeface="Yu Gothic" pitchFamily="34" charset="0"/>
                <a:ea typeface="Yu Gothic" pitchFamily="34" charset="-122"/>
                <a:cs typeface="Yu Gothic" pitchFamily="34" charset="-120"/>
              </a:rPr>
              <a:t>総額 </a:t>
            </a:r>
            <a:pPr indent="0" marL="0">
              <a:buNone/>
            </a:pPr>
            <a:r>
              <a:rPr lang="en-US" sz="2600" b="1" dirty="0">
                <a:solidFill>
                  <a:srgbClr val="C9A96E"/>
                </a:solidFill>
                <a:latin typeface="Cambria" pitchFamily="34" charset="0"/>
                <a:ea typeface="Cambria" pitchFamily="34" charset="-122"/>
                <a:cs typeface="Cambria" pitchFamily="34" charset="-120"/>
              </a:rPr>
              <a:t>5億円</a:t>
            </a:r>
            <a:pPr indent="0" marL="0">
              <a:buNone/>
            </a:pPr>
            <a:r>
              <a:rPr lang="en-US" sz="1100" dirty="0">
                <a:solidFill>
                  <a:srgbClr val="EFEBE3"/>
                </a:solidFill>
                <a:latin typeface="Yu Gothic" pitchFamily="34" charset="0"/>
                <a:ea typeface="Yu Gothic" pitchFamily="34" charset="-122"/>
                <a:cs typeface="Yu Gothic" pitchFamily="34" charset="-120"/>
              </a:rPr>
              <a:t>　＝　WineBank現物 3億円 ＋ 投資家 2億円</a:t>
            </a:r>
            <a:endParaRPr lang="en-US" sz="1100" dirty="0"/>
          </a:p>
        </p:txBody>
      </p:sp>
      <p:sp>
        <p:nvSpPr>
          <p:cNvPr id="11" name="Text 9"/>
          <p:cNvSpPr/>
          <p:nvPr/>
        </p:nvSpPr>
        <p:spPr>
          <a:xfrm>
            <a:off x="914400" y="2779776"/>
            <a:ext cx="4779112"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必要な年間販売額　6.67億円　／　投資家利回り（年平均）　20.0%</a:t>
            </a:r>
            <a:endParaRPr lang="en-US" sz="1050" dirty="0"/>
          </a:p>
        </p:txBody>
      </p:sp>
      <p:sp>
        <p:nvSpPr>
          <p:cNvPr id="12" name="Text 10"/>
          <p:cNvSpPr/>
          <p:nvPr/>
        </p:nvSpPr>
        <p:spPr>
          <a:xfrm>
            <a:off x="914400" y="3035808"/>
            <a:ext cx="4779112" cy="310896"/>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まず5億円で組成し、回転12ヶ月の実績を作る</a:t>
            </a:r>
            <a:endParaRPr lang="en-US" sz="950" dirty="0"/>
          </a:p>
        </p:txBody>
      </p:sp>
      <p:sp>
        <p:nvSpPr>
          <p:cNvPr id="13" name="Shape 11"/>
          <p:cNvSpPr/>
          <p:nvPr/>
        </p:nvSpPr>
        <p:spPr>
          <a:xfrm>
            <a:off x="6242152" y="1627632"/>
            <a:ext cx="5291176" cy="1810512"/>
          </a:xfrm>
          <a:prstGeom prst="roundRect">
            <a:avLst>
              <a:gd name="adj" fmla="val 2273"/>
            </a:avLst>
          </a:prstGeom>
          <a:solidFill>
            <a:srgbClr val="171614"/>
          </a:solidFill>
          <a:ln w="9525">
            <a:solidFill>
              <a:srgbClr val="2E2A24"/>
            </a:solidFill>
            <a:prstDash val="solid"/>
          </a:ln>
        </p:spPr>
      </p:sp>
      <p:sp>
        <p:nvSpPr>
          <p:cNvPr id="14" name="Text 12"/>
          <p:cNvSpPr/>
          <p:nvPr/>
        </p:nvSpPr>
        <p:spPr>
          <a:xfrm>
            <a:off x="6498184" y="1773936"/>
            <a:ext cx="4779112" cy="201168"/>
          </a:xfrm>
          <a:prstGeom prst="rect">
            <a:avLst/>
          </a:prstGeom>
          <a:noFill/>
          <a:ln/>
        </p:spPr>
        <p:txBody>
          <a:bodyPr wrap="square" lIns="0" tIns="0" rIns="0" bIns="0" rtlCol="0" anchor="ctr"/>
          <a:lstStyle/>
          <a:p>
            <a:pPr indent="0" marL="0">
              <a:buNone/>
            </a:pPr>
            <a:r>
              <a:rPr lang="en-US" sz="950" b="1" spc="240" kern="0" dirty="0">
                <a:solidFill>
                  <a:srgbClr val="A78450"/>
                </a:solidFill>
                <a:latin typeface="Cambria" pitchFamily="34" charset="0"/>
                <a:ea typeface="Cambria" pitchFamily="34" charset="-122"/>
                <a:cs typeface="Cambria" pitchFamily="34" charset="-120"/>
              </a:rPr>
              <a:t>SECOND CLOSE</a:t>
            </a:r>
            <a:endParaRPr lang="en-US" sz="950" dirty="0"/>
          </a:p>
        </p:txBody>
      </p:sp>
      <p:sp>
        <p:nvSpPr>
          <p:cNvPr id="15" name="Text 13"/>
          <p:cNvSpPr/>
          <p:nvPr/>
        </p:nvSpPr>
        <p:spPr>
          <a:xfrm>
            <a:off x="6498184" y="1975104"/>
            <a:ext cx="4779112"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セカンドクローズ（年度内）</a:t>
            </a:r>
            <a:endParaRPr lang="en-US" sz="1250" dirty="0"/>
          </a:p>
        </p:txBody>
      </p:sp>
      <p:sp>
        <p:nvSpPr>
          <p:cNvPr id="16" name="Text 14"/>
          <p:cNvSpPr/>
          <p:nvPr/>
        </p:nvSpPr>
        <p:spPr>
          <a:xfrm>
            <a:off x="6498184" y="2286000"/>
            <a:ext cx="4779112" cy="438912"/>
          </a:xfrm>
          <a:prstGeom prst="rect">
            <a:avLst/>
          </a:prstGeom>
          <a:noFill/>
          <a:ln/>
        </p:spPr>
        <p:txBody>
          <a:bodyPr wrap="square" lIns="0" tIns="0" rIns="0" bIns="0" rtlCol="0" anchor="ctr"/>
          <a:lstStyle/>
          <a:p>
            <a:pPr indent="0" marL="0">
              <a:buNone/>
            </a:pPr>
            <a:r>
              <a:rPr lang="en-US" sz="1100" dirty="0">
                <a:solidFill>
                  <a:srgbClr val="9A938A"/>
                </a:solidFill>
                <a:latin typeface="Yu Gothic" pitchFamily="34" charset="0"/>
                <a:ea typeface="Yu Gothic" pitchFamily="34" charset="-122"/>
                <a:cs typeface="Yu Gothic" pitchFamily="34" charset="-120"/>
              </a:rPr>
              <a:t>総額 </a:t>
            </a:r>
            <a:pPr indent="0" marL="0">
              <a:buNone/>
            </a:pPr>
            <a:r>
              <a:rPr lang="en-US" sz="2600" b="1" dirty="0">
                <a:solidFill>
                  <a:srgbClr val="C9A96E"/>
                </a:solidFill>
                <a:latin typeface="Cambria" pitchFamily="34" charset="0"/>
                <a:ea typeface="Cambria" pitchFamily="34" charset="-122"/>
                <a:cs typeface="Cambria" pitchFamily="34" charset="-120"/>
              </a:rPr>
              <a:t>10億円</a:t>
            </a:r>
            <a:pPr indent="0" marL="0">
              <a:buNone/>
            </a:pPr>
            <a:r>
              <a:rPr lang="en-US" sz="1100" dirty="0">
                <a:solidFill>
                  <a:srgbClr val="EFEBE3"/>
                </a:solidFill>
                <a:latin typeface="Yu Gothic" pitchFamily="34" charset="0"/>
                <a:ea typeface="Yu Gothic" pitchFamily="34" charset="-122"/>
                <a:cs typeface="Yu Gothic" pitchFamily="34" charset="-120"/>
              </a:rPr>
              <a:t>　＝　WineBank現物 6億円 ＋ 投資家 4億円</a:t>
            </a:r>
            <a:endParaRPr lang="en-US" sz="1100" dirty="0"/>
          </a:p>
        </p:txBody>
      </p:sp>
      <p:sp>
        <p:nvSpPr>
          <p:cNvPr id="17" name="Text 15"/>
          <p:cNvSpPr/>
          <p:nvPr/>
        </p:nvSpPr>
        <p:spPr>
          <a:xfrm>
            <a:off x="6498184" y="2779776"/>
            <a:ext cx="4779112"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必要な年間販売額　13.34億円　／　投資家利回り（年平均）　20.4%</a:t>
            </a:r>
            <a:endParaRPr lang="en-US" sz="1050" dirty="0"/>
          </a:p>
        </p:txBody>
      </p:sp>
      <p:sp>
        <p:nvSpPr>
          <p:cNvPr id="18" name="Text 16"/>
          <p:cNvSpPr/>
          <p:nvPr/>
        </p:nvSpPr>
        <p:spPr>
          <a:xfrm>
            <a:off x="6498184" y="3035808"/>
            <a:ext cx="4779112" cy="310896"/>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販売実力の拡大を確認したうえで倍増する</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 y="3566160"/>
          <a:ext cx="10874959" cy="914400"/>
        </p:xfrm>
        <a:graphic>
          <a:graphicData uri="http://schemas.openxmlformats.org/drawingml/2006/table">
            <a:tbl>
              <a:tblPr/>
              <a:tblGrid>
                <a:gridCol w="2395728"/>
                <a:gridCol w="1920240"/>
                <a:gridCol w="1920240"/>
                <a:gridCol w="4636008"/>
              </a:tblGrid>
              <a:tr h="217627">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ファーストクローズ</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セカンドクローズ</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総額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5億円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10億円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資本構成の比率と卸値ルールは同一</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WineBank現物出資（60%）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3億円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6億円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自己勘定のワイン現物を拠出</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投資家出資（40%）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4億円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1口5,000万円以上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必要な年間販売額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6.67億円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B4553F"/>
                          </a:solidFill>
                          <a:latin typeface="Yu Gothic" pitchFamily="34" charset="0"/>
                          <a:ea typeface="Yu Gothic" pitchFamily="34" charset="-122"/>
                          <a:cs typeface="Yu Gothic" pitchFamily="34" charset="-120"/>
                        </a:rPr>
                        <a:t>13.34億円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回転12ヶ月を実現するために必要な販売額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年間税前利益（SPC）</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1.12億円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2.29億円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管理報酬控除後</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投資家取分（出資比率40%）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45百万円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91百万円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プロラタ配分。成功報酬は控除しない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投資家利回り（年平均）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20.0%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20.4%</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仕入展開6ヶ月の立ち上がりと満期の残存在庫の清算売却を含む。αの算定基礎</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フル稼働時の単年利回り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22.9%</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規模拡大で固定費が薄まりわずかに改善する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WineBank受取（年平均）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126百万円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254百万円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値入れ＋持分＋管理報酬（5年間の年平均）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20%の分岐点（年平均）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回転12.3ヶ月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回転13.7ヶ月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これを超えると貴社基準を下回る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0" name="Shape 17"/>
          <p:cNvSpPr/>
          <p:nvPr/>
        </p:nvSpPr>
        <p:spPr>
          <a:xfrm>
            <a:off x="658368" y="5815584"/>
            <a:ext cx="10874959" cy="566928"/>
          </a:xfrm>
          <a:prstGeom prst="roundRect">
            <a:avLst>
              <a:gd name="adj" fmla="val 7258"/>
            </a:avLst>
          </a:prstGeom>
          <a:solidFill>
            <a:srgbClr val="1F1D19"/>
          </a:solidFill>
          <a:ln w="9525">
            <a:solidFill>
              <a:srgbClr val="6E5730"/>
            </a:solidFill>
            <a:prstDash val="solid"/>
          </a:ln>
        </p:spPr>
      </p:sp>
      <p:sp>
        <p:nvSpPr>
          <p:cNvPr id="21" name="Text 18"/>
          <p:cNvSpPr/>
          <p:nvPr/>
        </p:nvSpPr>
        <p:spPr>
          <a:xfrm>
            <a:off x="932688" y="5888736"/>
            <a:ext cx="10326319" cy="420624"/>
          </a:xfrm>
          <a:prstGeom prst="rect">
            <a:avLst/>
          </a:prstGeom>
          <a:noFill/>
          <a:ln/>
        </p:spPr>
        <p:txBody>
          <a:bodyPr wrap="square" lIns="0" tIns="0" rIns="0" bIns="0" rtlCol="0" anchor="ctr"/>
          <a:lstStyle/>
          <a:p>
            <a:pPr indent="0" marL="0">
              <a:lnSpc>
                <a:spcPct val="118000"/>
              </a:lnSpc>
              <a:buNone/>
            </a:pPr>
            <a:r>
              <a:rPr lang="en-US" sz="1000" b="1" dirty="0">
                <a:solidFill>
                  <a:srgbClr val="C9A96E"/>
                </a:solidFill>
                <a:latin typeface="Yu Gothic" pitchFamily="34" charset="0"/>
                <a:ea typeface="Yu Gothic" pitchFamily="34" charset="-122"/>
                <a:cs typeface="Yu Gothic" pitchFamily="34" charset="-120"/>
              </a:rPr>
              <a:t>セカンドクローズの判断基準：</a:t>
            </a:r>
            <a:pPr indent="0" marL="0">
              <a:lnSpc>
                <a:spcPct val="118000"/>
              </a:lnSpc>
              <a:buNone/>
            </a:pPr>
            <a:r>
              <a:rPr lang="en-US" sz="950" dirty="0">
                <a:solidFill>
                  <a:srgbClr val="EFEBE3"/>
                </a:solidFill>
                <a:latin typeface="Yu Gothic" pitchFamily="34" charset="0"/>
                <a:ea typeface="Yu Gothic" pitchFamily="34" charset="-122"/>
                <a:cs typeface="Yu Gothic" pitchFamily="34" charset="-120"/>
              </a:rPr>
              <a:t>規模を倍にすると必要な年間販売額も 6.67億円 → 13.34億円 と倍増する。これは現状の販売実力（年5〜7億円）を大きく超える水準であり、規模拡大は販売実力の拡大とセットでなければ回転12ヶ月を維持できない。セカンドクローズはファーストクローズの回転実績を確認したうえで判断する。</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SALES PLAN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在庫回転12ヶ月をどう実現するか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ファーストクローズでは回転12ヶ月に年間6.67億円の販売が必要となる。組入銘柄の選定を主たる手段とし、配分ルールと販路拡大で補う。</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04</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1591056"/>
                <a:gridCol w="1572768"/>
                <a:gridCol w="1316736"/>
                <a:gridCol w="1481328"/>
                <a:gridCol w="1298448"/>
                <a:gridCol w="1572768"/>
                <a:gridCol w="2039112"/>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必要な年間販売額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WB受取（年平均）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位置づけ</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9ヶ月（最短）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8.76億円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1.45億円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58百万円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27.8%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171百万円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販路拡大が実現した場合の上限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6.67億円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1.12億円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126百万円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貴社基準20%を満たす水準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5.41億円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0.93億円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37百万円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103百万円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B4553F"/>
                          </a:solidFill>
                          <a:latin typeface="Yu Gothic" pitchFamily="34" charset="0"/>
                          <a:ea typeface="Yu Gothic" pitchFamily="34" charset="-122"/>
                          <a:cs typeface="Yu Gothic" pitchFamily="34" charset="-120"/>
                        </a:rPr>
                        <a:t>20%を下回る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4.58億円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0.80億円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103百万円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B4553F"/>
                          </a:solidFill>
                          <a:latin typeface="Yu Gothic" pitchFamily="34" charset="0"/>
                          <a:ea typeface="Yu Gothic" pitchFamily="34" charset="-122"/>
                          <a:cs typeface="Yu Gothic" pitchFamily="34" charset="-120"/>
                        </a:rPr>
                        <a:t>20%を下回る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49040"/>
            <a:ext cx="3454298" cy="1847088"/>
          </a:xfrm>
          <a:prstGeom prst="roundRect">
            <a:avLst>
              <a:gd name="adj" fmla="val 2228"/>
            </a:avLst>
          </a:prstGeom>
          <a:solidFill>
            <a:srgbClr val="1F1D19"/>
          </a:solidFill>
          <a:ln w="9525">
            <a:solidFill>
              <a:srgbClr val="6E5730"/>
            </a:solidFill>
            <a:prstDash val="solid"/>
          </a:ln>
        </p:spPr>
      </p:sp>
      <p:sp>
        <p:nvSpPr>
          <p:cNvPr id="9" name="Text 6"/>
          <p:cNvSpPr/>
          <p:nvPr/>
        </p:nvSpPr>
        <p:spPr>
          <a:xfrm>
            <a:off x="896112" y="3913632"/>
            <a:ext cx="2978810"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第一の手段</a:t>
            </a:r>
            <a:endParaRPr lang="en-US" sz="1100" dirty="0"/>
          </a:p>
        </p:txBody>
      </p:sp>
      <p:sp>
        <p:nvSpPr>
          <p:cNvPr id="10" name="Text 7"/>
          <p:cNvSpPr/>
          <p:nvPr/>
        </p:nvSpPr>
        <p:spPr>
          <a:xfrm>
            <a:off x="89611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組入銘柄の選定</a:t>
            </a:r>
            <a:endParaRPr lang="en-US" sz="1700" dirty="0"/>
          </a:p>
        </p:txBody>
      </p:sp>
      <p:sp>
        <p:nvSpPr>
          <p:cNvPr id="11" name="Text 8"/>
          <p:cNvSpPr/>
          <p:nvPr/>
        </p:nvSpPr>
        <p:spPr>
          <a:xfrm>
            <a:off x="89611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Liv-ex掲載の流動性上位銘柄など、回転の速い銘柄をSPCに組み入れる。何を持たせるかで回転期間の大半が決まるため、これが最も効く打ち手となる。WineBankの現物出資分についても同じ基準で拠出銘柄を選定する。</a:t>
            </a:r>
            <a:endParaRPr lang="en-US" sz="900" dirty="0"/>
          </a:p>
        </p:txBody>
      </p:sp>
      <p:sp>
        <p:nvSpPr>
          <p:cNvPr id="12" name="Shape 9"/>
          <p:cNvSpPr/>
          <p:nvPr/>
        </p:nvSpPr>
        <p:spPr>
          <a:xfrm>
            <a:off x="4368698" y="3749040"/>
            <a:ext cx="3454298" cy="1847088"/>
          </a:xfrm>
          <a:prstGeom prst="roundRect">
            <a:avLst>
              <a:gd name="adj" fmla="val 2228"/>
            </a:avLst>
          </a:prstGeom>
          <a:solidFill>
            <a:srgbClr val="171614"/>
          </a:solidFill>
          <a:ln w="9525">
            <a:solidFill>
              <a:srgbClr val="2E2A24"/>
            </a:solidFill>
            <a:prstDash val="solid"/>
          </a:ln>
        </p:spPr>
      </p:sp>
      <p:sp>
        <p:nvSpPr>
          <p:cNvPr id="13" name="Text 10"/>
          <p:cNvSpPr/>
          <p:nvPr/>
        </p:nvSpPr>
        <p:spPr>
          <a:xfrm>
            <a:off x="4606442"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第二の手段</a:t>
            </a:r>
            <a:endParaRPr lang="en-US" sz="1100" dirty="0"/>
          </a:p>
        </p:txBody>
      </p:sp>
      <p:sp>
        <p:nvSpPr>
          <p:cNvPr id="14" name="Text 11"/>
          <p:cNvSpPr/>
          <p:nvPr/>
        </p:nvSpPr>
        <p:spPr>
          <a:xfrm>
            <a:off x="460644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配分ルール</a:t>
            </a:r>
            <a:endParaRPr lang="en-US" sz="1700" dirty="0"/>
          </a:p>
        </p:txBody>
      </p:sp>
      <p:sp>
        <p:nvSpPr>
          <p:cNvPr id="15" name="Text 12"/>
          <p:cNvSpPr/>
          <p:nvPr/>
        </p:nvSpPr>
        <p:spPr>
          <a:xfrm>
            <a:off x="460644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自己勘定在庫と重複する銘柄は在庫比率でプロラタ配分し、判断を要する場合はSPC在庫を優先する。契約別紙として明文化する。</a:t>
            </a:r>
            <a:endParaRPr lang="en-US" sz="900" dirty="0"/>
          </a:p>
        </p:txBody>
      </p:sp>
      <p:sp>
        <p:nvSpPr>
          <p:cNvPr id="16" name="Shape 13"/>
          <p:cNvSpPr/>
          <p:nvPr/>
        </p:nvSpPr>
        <p:spPr>
          <a:xfrm>
            <a:off x="8079029" y="3749040"/>
            <a:ext cx="3454298" cy="1847088"/>
          </a:xfrm>
          <a:prstGeom prst="roundRect">
            <a:avLst>
              <a:gd name="adj" fmla="val 2228"/>
            </a:avLst>
          </a:prstGeom>
          <a:solidFill>
            <a:srgbClr val="171614"/>
          </a:solidFill>
          <a:ln w="9525">
            <a:solidFill>
              <a:srgbClr val="2E2A24"/>
            </a:solidFill>
            <a:prstDash val="solid"/>
          </a:ln>
        </p:spPr>
      </p:sp>
      <p:sp>
        <p:nvSpPr>
          <p:cNvPr id="17" name="Text 14"/>
          <p:cNvSpPr/>
          <p:nvPr/>
        </p:nvSpPr>
        <p:spPr>
          <a:xfrm>
            <a:off x="8316773"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第三の手段</a:t>
            </a:r>
            <a:endParaRPr lang="en-US" sz="1100" dirty="0"/>
          </a:p>
        </p:txBody>
      </p:sp>
      <p:sp>
        <p:nvSpPr>
          <p:cNvPr id="18" name="Text 15"/>
          <p:cNvSpPr/>
          <p:nvPr/>
        </p:nvSpPr>
        <p:spPr>
          <a:xfrm>
            <a:off x="8316773"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販路の拡大</a:t>
            </a:r>
            <a:endParaRPr lang="en-US" sz="1700" dirty="0"/>
          </a:p>
        </p:txBody>
      </p:sp>
      <p:sp>
        <p:nvSpPr>
          <p:cNvPr id="19" name="Text 16"/>
          <p:cNvSpPr/>
          <p:nvPr/>
        </p:nvSpPr>
        <p:spPr>
          <a:xfrm>
            <a:off x="8316773"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輸出入ライセンスを活かした海外販売、2026年9月開始のWineBank Auction、グループ飲食（アピシウス／ティエリーマルクス）。これらは出資金ではなくWineBank側の資本で手当てする。</a:t>
            </a:r>
            <a:endParaRPr lang="en-US" sz="900" dirty="0"/>
          </a:p>
        </p:txBody>
      </p:sp>
      <p:sp>
        <p:nvSpPr>
          <p:cNvPr id="20" name="Text 17"/>
          <p:cNvSpPr/>
          <p:nvPr/>
        </p:nvSpPr>
        <p:spPr>
          <a:xfrm>
            <a:off x="658368" y="5687568"/>
            <a:ext cx="10874959" cy="402336"/>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回転12ヶ月に必要な年間販売額6.67億円は、現状の販売実力（年5〜7億円）の範囲内にある。銘柄の大半はSPCと自己勘定で重複しないため配分の判断自体が生じず、回転期間は「何を組み入れるか」でほぼ決まる。重複銘柄の取扱いは在庫配分の公平性の頁を参照。投資家利回り（年平均）が20%を割り込むのは回転が12.3ヶ月を超えた場合であり、主線12ヶ月に余裕はない。回転12ヶ月の達成が貴社基準を満たすための必須条件となる。</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ファンドスキーム</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WineBankが免許事業者として売買当事者となり、SPCは現物の所有者として損益を受ける。WineBankは総額の60%の出資者でもある。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05</a:t>
            </a:r>
            <a:endParaRPr lang="en-US" sz="950" dirty="0"/>
          </a:p>
        </p:txBody>
      </p:sp>
      <p:sp>
        <p:nvSpPr>
          <p:cNvPr id="7" name="Shape 5"/>
          <p:cNvSpPr/>
          <p:nvPr/>
        </p:nvSpPr>
        <p:spPr>
          <a:xfrm>
            <a:off x="658368" y="1700784"/>
            <a:ext cx="3246120" cy="1188720"/>
          </a:xfrm>
          <a:prstGeom prst="roundRect">
            <a:avLst>
              <a:gd name="adj" fmla="val 3462"/>
            </a:avLst>
          </a:prstGeom>
          <a:solidFill>
            <a:srgbClr val="171614"/>
          </a:solidFill>
          <a:ln w="9525">
            <a:solidFill>
              <a:srgbClr val="2E2A24"/>
            </a:solidFill>
            <a:prstDash val="solid"/>
          </a:ln>
        </p:spPr>
      </p:sp>
      <p:sp>
        <p:nvSpPr>
          <p:cNvPr id="8" name="Text 6"/>
          <p:cNvSpPr/>
          <p:nvPr/>
        </p:nvSpPr>
        <p:spPr>
          <a:xfrm>
            <a:off x="877824"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投資家（資産管理会社ほか）</a:t>
            </a:r>
            <a:endParaRPr lang="en-US" sz="1300" dirty="0"/>
          </a:p>
        </p:txBody>
      </p:sp>
      <p:sp>
        <p:nvSpPr>
          <p:cNvPr id="9" name="Text 7"/>
          <p:cNvSpPr/>
          <p:nvPr/>
        </p:nvSpPr>
        <p:spPr>
          <a:xfrm>
            <a:off x="877824"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匿名組合出資（現金）　2億円</a:t>
            </a:r>
            <a:endParaRPr lang="en-US" sz="1050" dirty="0"/>
          </a:p>
        </p:txBody>
      </p:sp>
      <p:sp>
        <p:nvSpPr>
          <p:cNvPr id="10" name="Text 8"/>
          <p:cNvSpPr/>
          <p:nvPr/>
        </p:nvSpPr>
        <p:spPr>
          <a:xfrm>
            <a:off x="87782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SPC税前利益の40%を年1回受領</a:t>
            </a:r>
            <a:endParaRPr lang="en-US" sz="950" dirty="0"/>
          </a:p>
        </p:txBody>
      </p:sp>
      <p:sp>
        <p:nvSpPr>
          <p:cNvPr id="11" name="Shape 9"/>
          <p:cNvSpPr/>
          <p:nvPr/>
        </p:nvSpPr>
        <p:spPr>
          <a:xfrm>
            <a:off x="4472788" y="1700784"/>
            <a:ext cx="3246120" cy="1188720"/>
          </a:xfrm>
          <a:prstGeom prst="roundRect">
            <a:avLst>
              <a:gd name="adj" fmla="val 3462"/>
            </a:avLst>
          </a:prstGeom>
          <a:solidFill>
            <a:srgbClr val="1F1D19"/>
          </a:solidFill>
          <a:ln w="9525">
            <a:solidFill>
              <a:srgbClr val="6E5730"/>
            </a:solidFill>
            <a:prstDash val="solid"/>
          </a:ln>
        </p:spPr>
      </p:sp>
      <p:sp>
        <p:nvSpPr>
          <p:cNvPr id="12" name="Text 10"/>
          <p:cNvSpPr/>
          <p:nvPr/>
        </p:nvSpPr>
        <p:spPr>
          <a:xfrm>
            <a:off x="4692244" y="1920240"/>
            <a:ext cx="2807208" cy="256032"/>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ワインファンドSPC</a:t>
            </a:r>
            <a:endParaRPr lang="en-US" sz="1300" dirty="0"/>
          </a:p>
        </p:txBody>
      </p:sp>
      <p:sp>
        <p:nvSpPr>
          <p:cNvPr id="13" name="Text 11"/>
          <p:cNvSpPr/>
          <p:nvPr/>
        </p:nvSpPr>
        <p:spPr>
          <a:xfrm>
            <a:off x="4692244" y="2231136"/>
            <a:ext cx="2807208" cy="237744"/>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合同会社＋匿名組合（GK-TK）</a:t>
            </a:r>
            <a:endParaRPr lang="en-US" sz="1050" dirty="0"/>
          </a:p>
        </p:txBody>
      </p:sp>
      <p:sp>
        <p:nvSpPr>
          <p:cNvPr id="14" name="Text 12"/>
          <p:cNvSpPr/>
          <p:nvPr/>
        </p:nvSpPr>
        <p:spPr>
          <a:xfrm>
            <a:off x="469224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簿価 定価比 56.63 でワインを保有</a:t>
            </a:r>
            <a:endParaRPr lang="en-US" sz="950" dirty="0"/>
          </a:p>
        </p:txBody>
      </p:sp>
      <p:sp>
        <p:nvSpPr>
          <p:cNvPr id="15" name="Shape 13"/>
          <p:cNvSpPr/>
          <p:nvPr/>
        </p:nvSpPr>
        <p:spPr>
          <a:xfrm>
            <a:off x="8287207" y="1700784"/>
            <a:ext cx="3246120" cy="1188720"/>
          </a:xfrm>
          <a:prstGeom prst="roundRect">
            <a:avLst>
              <a:gd name="adj" fmla="val 3462"/>
            </a:avLst>
          </a:prstGeom>
          <a:solidFill>
            <a:srgbClr val="171614"/>
          </a:solidFill>
          <a:ln w="9525">
            <a:solidFill>
              <a:srgbClr val="2E2A24"/>
            </a:solidFill>
            <a:prstDash val="solid"/>
          </a:ln>
        </p:spPr>
      </p:sp>
      <p:sp>
        <p:nvSpPr>
          <p:cNvPr id="16" name="Text 14"/>
          <p:cNvSpPr/>
          <p:nvPr/>
        </p:nvSpPr>
        <p:spPr>
          <a:xfrm>
            <a:off x="8506663"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株式会社WineBank</a:t>
            </a:r>
            <a:endParaRPr lang="en-US" sz="1300" dirty="0"/>
          </a:p>
        </p:txBody>
      </p:sp>
      <p:sp>
        <p:nvSpPr>
          <p:cNvPr id="17" name="Text 15"/>
          <p:cNvSpPr/>
          <p:nvPr/>
        </p:nvSpPr>
        <p:spPr>
          <a:xfrm>
            <a:off x="8506663"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現物出資 3億円　＋　GP実行</a:t>
            </a:r>
            <a:endParaRPr lang="en-US" sz="1050" dirty="0"/>
          </a:p>
        </p:txBody>
      </p:sp>
      <p:sp>
        <p:nvSpPr>
          <p:cNvPr id="18" name="Text 16"/>
          <p:cNvSpPr/>
          <p:nvPr/>
        </p:nvSpPr>
        <p:spPr>
          <a:xfrm>
            <a:off x="8506663"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酒類販売業免許・取引口座を保有</a:t>
            </a:r>
            <a:endParaRPr lang="en-US" sz="950" dirty="0"/>
          </a:p>
        </p:txBody>
      </p:sp>
      <p:sp>
        <p:nvSpPr>
          <p:cNvPr id="19" name="Shape 17"/>
          <p:cNvSpPr/>
          <p:nvPr/>
        </p:nvSpPr>
        <p:spPr>
          <a:xfrm>
            <a:off x="3995928" y="2176272"/>
            <a:ext cx="385420" cy="237744"/>
          </a:xfrm>
          <a:prstGeom prst="rightArrow">
            <a:avLst/>
          </a:prstGeom>
          <a:solidFill>
            <a:srgbClr val="6E5730"/>
          </a:solidFill>
          <a:ln w="12700">
            <a:solidFill>
              <a:srgbClr val="6E5730"/>
            </a:solidFill>
            <a:prstDash val="solid"/>
          </a:ln>
        </p:spPr>
      </p:sp>
      <p:sp>
        <p:nvSpPr>
          <p:cNvPr id="20" name="Shape 18"/>
          <p:cNvSpPr/>
          <p:nvPr/>
        </p:nvSpPr>
        <p:spPr>
          <a:xfrm>
            <a:off x="7810348" y="2176272"/>
            <a:ext cx="385420" cy="237744"/>
          </a:xfrm>
          <a:prstGeom prst="leftArrow">
            <a:avLst/>
          </a:prstGeom>
          <a:solidFill>
            <a:srgbClr val="A78450"/>
          </a:solidFill>
          <a:ln w="12700">
            <a:solidFill>
              <a:srgbClr val="A78450"/>
            </a:solidFill>
            <a:prstDash val="solid"/>
          </a:ln>
        </p:spPr>
      </p:sp>
      <p:sp>
        <p:nvSpPr>
          <p:cNvPr id="21" name="Shape 19"/>
          <p:cNvSpPr/>
          <p:nvPr/>
        </p:nvSpPr>
        <p:spPr>
          <a:xfrm>
            <a:off x="658368" y="3291840"/>
            <a:ext cx="2526716" cy="1609344"/>
          </a:xfrm>
          <a:prstGeom prst="roundRect">
            <a:avLst>
              <a:gd name="adj" fmla="val 2557"/>
            </a:avLst>
          </a:prstGeom>
          <a:solidFill>
            <a:srgbClr val="171614"/>
          </a:solidFill>
          <a:ln w="9525">
            <a:solidFill>
              <a:srgbClr val="2E2A24"/>
            </a:solidFill>
            <a:prstDash val="solid"/>
          </a:ln>
        </p:spPr>
      </p:sp>
      <p:sp>
        <p:nvSpPr>
          <p:cNvPr id="22" name="Shape 20"/>
          <p:cNvSpPr/>
          <p:nvPr/>
        </p:nvSpPr>
        <p:spPr>
          <a:xfrm>
            <a:off x="877824" y="3493008"/>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24" name="Text 22"/>
          <p:cNvSpPr/>
          <p:nvPr/>
        </p:nvSpPr>
        <p:spPr>
          <a:xfrm>
            <a:off x="1280160"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a:t>
            </a:r>
            <a:endParaRPr lang="en-US" sz="1200" dirty="0"/>
          </a:p>
        </p:txBody>
      </p:sp>
      <p:sp>
        <p:nvSpPr>
          <p:cNvPr id="25" name="Text 23"/>
          <p:cNvSpPr/>
          <p:nvPr/>
        </p:nvSpPr>
        <p:spPr>
          <a:xfrm>
            <a:off x="877824"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WineBankが自社の免許・取引口座でインポーター／酒販店から正規品を調達する</a:t>
            </a:r>
            <a:endParaRPr lang="en-US" sz="950" dirty="0"/>
          </a:p>
        </p:txBody>
      </p:sp>
      <p:sp>
        <p:nvSpPr>
          <p:cNvPr id="26" name="Text 24"/>
          <p:cNvSpPr/>
          <p:nvPr/>
        </p:nvSpPr>
        <p:spPr>
          <a:xfrm>
            <a:off x="877824"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市中原価 50.00</a:t>
            </a:r>
            <a:endParaRPr lang="en-US" sz="1000" dirty="0"/>
          </a:p>
        </p:txBody>
      </p:sp>
      <p:sp>
        <p:nvSpPr>
          <p:cNvPr id="27" name="Shape 25"/>
          <p:cNvSpPr/>
          <p:nvPr/>
        </p:nvSpPr>
        <p:spPr>
          <a:xfrm>
            <a:off x="3441116" y="3291840"/>
            <a:ext cx="2526716" cy="1609344"/>
          </a:xfrm>
          <a:prstGeom prst="roundRect">
            <a:avLst>
              <a:gd name="adj" fmla="val 2557"/>
            </a:avLst>
          </a:prstGeom>
          <a:solidFill>
            <a:srgbClr val="1F1D19"/>
          </a:solidFill>
          <a:ln w="9525">
            <a:solidFill>
              <a:srgbClr val="6E5730"/>
            </a:solidFill>
            <a:prstDash val="solid"/>
          </a:ln>
        </p:spPr>
      </p:sp>
      <p:sp>
        <p:nvSpPr>
          <p:cNvPr id="28" name="Shape 26"/>
          <p:cNvSpPr/>
          <p:nvPr/>
        </p:nvSpPr>
        <p:spPr>
          <a:xfrm>
            <a:off x="3660572" y="3493008"/>
            <a:ext cx="310896" cy="310896"/>
          </a:xfrm>
          <a:prstGeom prst="ellipse">
            <a:avLst/>
          </a:prstGeom>
          <a:solidFill>
            <a:srgbClr val="0C0C0C"/>
          </a:solidFill>
          <a:ln w="11430">
            <a:solidFill>
              <a:srgbClr val="A78450"/>
            </a:solidFill>
            <a:prstDash val="solid"/>
          </a:ln>
        </p:spPr>
      </p:sp>
      <p:sp>
        <p:nvSpPr>
          <p:cNvPr id="29" name="Text 27"/>
          <p:cNvSpPr/>
          <p:nvPr/>
        </p:nvSpPr>
        <p:spPr>
          <a:xfrm>
            <a:off x="3660572"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30" name="Text 28"/>
          <p:cNvSpPr/>
          <p:nvPr/>
        </p:nvSpPr>
        <p:spPr>
          <a:xfrm>
            <a:off x="4062908"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卸し</a:t>
            </a:r>
            <a:endParaRPr lang="en-US" sz="1200" dirty="0"/>
          </a:p>
        </p:txBody>
      </p:sp>
      <p:sp>
        <p:nvSpPr>
          <p:cNvPr id="31" name="Text 29"/>
          <p:cNvSpPr/>
          <p:nvPr/>
        </p:nvSpPr>
        <p:spPr>
          <a:xfrm>
            <a:off x="3660572"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時価75.00から24.5%を控除した価格でSPCへ卸す。WineBankの取り分はここで確定する</a:t>
            </a:r>
            <a:endParaRPr lang="en-US" sz="950" dirty="0"/>
          </a:p>
        </p:txBody>
      </p:sp>
      <p:sp>
        <p:nvSpPr>
          <p:cNvPr id="32" name="Text 30"/>
          <p:cNvSpPr/>
          <p:nvPr/>
        </p:nvSpPr>
        <p:spPr>
          <a:xfrm>
            <a:off x="3660572"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SPC簿価 56.63</a:t>
            </a:r>
            <a:endParaRPr lang="en-US" sz="1000" dirty="0"/>
          </a:p>
        </p:txBody>
      </p:sp>
      <p:sp>
        <p:nvSpPr>
          <p:cNvPr id="33" name="Shape 31"/>
          <p:cNvSpPr/>
          <p:nvPr/>
        </p:nvSpPr>
        <p:spPr>
          <a:xfrm>
            <a:off x="6223864" y="3291840"/>
            <a:ext cx="2526716" cy="1609344"/>
          </a:xfrm>
          <a:prstGeom prst="roundRect">
            <a:avLst>
              <a:gd name="adj" fmla="val 2557"/>
            </a:avLst>
          </a:prstGeom>
          <a:solidFill>
            <a:srgbClr val="171614"/>
          </a:solidFill>
          <a:ln w="9525">
            <a:solidFill>
              <a:srgbClr val="2E2A24"/>
            </a:solidFill>
            <a:prstDash val="solid"/>
          </a:ln>
        </p:spPr>
      </p:sp>
      <p:sp>
        <p:nvSpPr>
          <p:cNvPr id="34" name="Shape 32"/>
          <p:cNvSpPr/>
          <p:nvPr/>
        </p:nvSpPr>
        <p:spPr>
          <a:xfrm>
            <a:off x="6443320" y="3493008"/>
            <a:ext cx="310896" cy="310896"/>
          </a:xfrm>
          <a:prstGeom prst="ellipse">
            <a:avLst/>
          </a:prstGeom>
          <a:solidFill>
            <a:srgbClr val="0C0C0C"/>
          </a:solidFill>
          <a:ln w="11430">
            <a:solidFill>
              <a:srgbClr val="A78450"/>
            </a:solidFill>
            <a:prstDash val="solid"/>
          </a:ln>
        </p:spPr>
      </p:sp>
      <p:sp>
        <p:nvSpPr>
          <p:cNvPr id="35" name="Text 33"/>
          <p:cNvSpPr/>
          <p:nvPr/>
        </p:nvSpPr>
        <p:spPr>
          <a:xfrm>
            <a:off x="6443320"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36" name="Text 34"/>
          <p:cNvSpPr/>
          <p:nvPr/>
        </p:nvSpPr>
        <p:spPr>
          <a:xfrm>
            <a:off x="6845656"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保管・販売</a:t>
            </a:r>
            <a:endParaRPr lang="en-US" sz="1200" dirty="0"/>
          </a:p>
        </p:txBody>
      </p:sp>
      <p:sp>
        <p:nvSpPr>
          <p:cNvPr id="37" name="Text 35"/>
          <p:cNvSpPr/>
          <p:nvPr/>
        </p:nvSpPr>
        <p:spPr>
          <a:xfrm>
            <a:off x="6443320"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定温倉庫で保管（全量付保）。B2B酒販店卸とB2C自社EC・オークションの2系統で販売</a:t>
            </a:r>
            <a:endParaRPr lang="en-US" sz="950" dirty="0"/>
          </a:p>
        </p:txBody>
      </p:sp>
      <p:sp>
        <p:nvSpPr>
          <p:cNvPr id="38" name="Text 36"/>
          <p:cNvSpPr/>
          <p:nvPr/>
        </p:nvSpPr>
        <p:spPr>
          <a:xfrm>
            <a:off x="6443320"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70／80</a:t>
            </a:r>
            <a:endParaRPr lang="en-US" sz="1000" dirty="0"/>
          </a:p>
        </p:txBody>
      </p:sp>
      <p:sp>
        <p:nvSpPr>
          <p:cNvPr id="39" name="Shape 37"/>
          <p:cNvSpPr/>
          <p:nvPr/>
        </p:nvSpPr>
        <p:spPr>
          <a:xfrm>
            <a:off x="9006611" y="3291840"/>
            <a:ext cx="2526716" cy="1609344"/>
          </a:xfrm>
          <a:prstGeom prst="roundRect">
            <a:avLst>
              <a:gd name="adj" fmla="val 2557"/>
            </a:avLst>
          </a:prstGeom>
          <a:solidFill>
            <a:srgbClr val="171614"/>
          </a:solidFill>
          <a:ln w="9525">
            <a:solidFill>
              <a:srgbClr val="2E2A24"/>
            </a:solidFill>
            <a:prstDash val="solid"/>
          </a:ln>
        </p:spPr>
      </p:sp>
      <p:sp>
        <p:nvSpPr>
          <p:cNvPr id="40" name="Shape 38"/>
          <p:cNvSpPr/>
          <p:nvPr/>
        </p:nvSpPr>
        <p:spPr>
          <a:xfrm>
            <a:off x="9226067" y="3493008"/>
            <a:ext cx="310896" cy="310896"/>
          </a:xfrm>
          <a:prstGeom prst="ellipse">
            <a:avLst/>
          </a:prstGeom>
          <a:solidFill>
            <a:srgbClr val="0C0C0C"/>
          </a:solidFill>
          <a:ln w="11430">
            <a:solidFill>
              <a:srgbClr val="A78450"/>
            </a:solidFill>
            <a:prstDash val="solid"/>
          </a:ln>
        </p:spPr>
      </p:sp>
      <p:sp>
        <p:nvSpPr>
          <p:cNvPr id="41" name="Text 39"/>
          <p:cNvSpPr/>
          <p:nvPr/>
        </p:nvSpPr>
        <p:spPr>
          <a:xfrm>
            <a:off x="9226067"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42" name="Text 40"/>
          <p:cNvSpPr/>
          <p:nvPr/>
        </p:nvSpPr>
        <p:spPr>
          <a:xfrm>
            <a:off x="9628403"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分配</a:t>
            </a:r>
            <a:endParaRPr lang="en-US" sz="1200" dirty="0"/>
          </a:p>
        </p:txBody>
      </p:sp>
      <p:sp>
        <p:nvSpPr>
          <p:cNvPr id="43" name="Text 41"/>
          <p:cNvSpPr/>
          <p:nvPr/>
        </p:nvSpPr>
        <p:spPr>
          <a:xfrm>
            <a:off x="9226067"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SPC税前利益を出資比率どおり60：40で配分し年1回分配。成功報酬は取らない</a:t>
            </a:r>
            <a:endParaRPr lang="en-US" sz="950" dirty="0"/>
          </a:p>
        </p:txBody>
      </p:sp>
      <p:sp>
        <p:nvSpPr>
          <p:cNvPr id="44" name="Text 42"/>
          <p:cNvSpPr/>
          <p:nvPr/>
        </p:nvSpPr>
        <p:spPr>
          <a:xfrm>
            <a:off x="9226067"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WB60：投資家40</a:t>
            </a:r>
            <a:endParaRPr lang="en-US" sz="1000" dirty="0"/>
          </a:p>
        </p:txBody>
      </p:sp>
      <p:sp>
        <p:nvSpPr>
          <p:cNvPr id="45" name="Text 43"/>
          <p:cNvSpPr/>
          <p:nvPr/>
        </p:nvSpPr>
        <p:spPr>
          <a:xfrm>
            <a:off x="658368" y="5084064"/>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ワイン現物はSPC名義で保有し、WineBankの債権者から倒産隔離する。WineBankは総額の60%の出資者であると同時にGPとして実行を担う。報酬は「卸す時点の値入れ」と「総額の年2%の管理報酬」に限定し、出口の成功報酬は取らない。WineBankが現物出資する分についても同じ卸値（定価比56.63）で評価する。</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REGULATORY &amp; TRADE PRACTICE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なぜSPCが直接仕入・販売できないのか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酒類は免許業種であり、取引口座は法人単位で審査される。SPC単独では商流に乗れない。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06</a:t>
            </a:r>
            <a:endParaRPr lang="en-US" sz="950" dirty="0"/>
          </a:p>
        </p:txBody>
      </p:sp>
      <p:sp>
        <p:nvSpPr>
          <p:cNvPr id="7" name="Shape 5"/>
          <p:cNvSpPr/>
          <p:nvPr/>
        </p:nvSpPr>
        <p:spPr>
          <a:xfrm>
            <a:off x="658368" y="1664208"/>
            <a:ext cx="3442106" cy="1975104"/>
          </a:xfrm>
          <a:prstGeom prst="roundRect">
            <a:avLst>
              <a:gd name="adj" fmla="val 2083"/>
            </a:avLst>
          </a:prstGeom>
          <a:solidFill>
            <a:srgbClr val="171614"/>
          </a:solidFill>
          <a:ln w="9525">
            <a:solidFill>
              <a:srgbClr val="2E2A24"/>
            </a:solidFill>
            <a:prstDash val="solid"/>
          </a:ln>
        </p:spPr>
      </p:sp>
      <p:sp>
        <p:nvSpPr>
          <p:cNvPr id="8" name="Shape 6"/>
          <p:cNvSpPr/>
          <p:nvPr/>
        </p:nvSpPr>
        <p:spPr>
          <a:xfrm>
            <a:off x="896112" y="1865376"/>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酒類販売業免許</a:t>
            </a:r>
            <a:endParaRPr lang="en-US" sz="1200" dirty="0"/>
          </a:p>
        </p:txBody>
      </p:sp>
      <p:sp>
        <p:nvSpPr>
          <p:cNvPr id="11" name="Text 9"/>
          <p:cNvSpPr/>
          <p:nvPr/>
        </p:nvSpPr>
        <p:spPr>
          <a:xfrm>
            <a:off x="896112"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酒類の売買には販売場ごとの免許が必要。新設SPCが一般酒類小売業免許・酒類卸売業免許を取得するには、経営基礎要件（直近3事業年度の財務内容等）や需給調整要件の充足が求められ、設立直後の器としては実務上ハードルが高く、審査にも相応の期間を要する。</a:t>
            </a:r>
            <a:endParaRPr lang="en-US" sz="950" dirty="0"/>
          </a:p>
        </p:txBody>
      </p:sp>
      <p:sp>
        <p:nvSpPr>
          <p:cNvPr id="12" name="Shape 10"/>
          <p:cNvSpPr/>
          <p:nvPr/>
        </p:nvSpPr>
        <p:spPr>
          <a:xfrm>
            <a:off x="4374794" y="1664208"/>
            <a:ext cx="3442106" cy="1975104"/>
          </a:xfrm>
          <a:prstGeom prst="roundRect">
            <a:avLst>
              <a:gd name="adj" fmla="val 2083"/>
            </a:avLst>
          </a:prstGeom>
          <a:solidFill>
            <a:srgbClr val="171614"/>
          </a:solidFill>
          <a:ln w="9525">
            <a:solidFill>
              <a:srgbClr val="2E2A24"/>
            </a:solidFill>
            <a:prstDash val="solid"/>
          </a:ln>
        </p:spPr>
      </p:sp>
      <p:sp>
        <p:nvSpPr>
          <p:cNvPr id="13" name="Shape 11"/>
          <p:cNvSpPr/>
          <p:nvPr/>
        </p:nvSpPr>
        <p:spPr>
          <a:xfrm>
            <a:off x="4612538" y="1865376"/>
            <a:ext cx="310896" cy="310896"/>
          </a:xfrm>
          <a:prstGeom prst="ellipse">
            <a:avLst/>
          </a:prstGeom>
          <a:solidFill>
            <a:srgbClr val="0C0C0C"/>
          </a:solidFill>
          <a:ln w="11430">
            <a:solidFill>
              <a:srgbClr val="A78450"/>
            </a:solidFill>
            <a:prstDash val="solid"/>
          </a:ln>
        </p:spPr>
      </p:sp>
      <p:sp>
        <p:nvSpPr>
          <p:cNvPr id="14" name="Text 12"/>
          <p:cNvSpPr/>
          <p:nvPr/>
        </p:nvSpPr>
        <p:spPr>
          <a:xfrm>
            <a:off x="4612538"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14874"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インポーターの取引基準</a:t>
            </a:r>
            <a:endParaRPr lang="en-US" sz="1200" dirty="0"/>
          </a:p>
        </p:txBody>
      </p:sp>
      <p:sp>
        <p:nvSpPr>
          <p:cNvPr id="16" name="Text 14"/>
          <p:cNvSpPr/>
          <p:nvPr/>
        </p:nvSpPr>
        <p:spPr>
          <a:xfrm>
            <a:off x="4612538"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大手インポーターは新規取引先に対し、与信・取引実績・年間取引量を審査したうえで口座を開設する。事業実体を持たないSPCでは口座開設に至らない。特価・正規割当は長年の取引関係に紐づいており、法人格が変われば引き継げない。</a:t>
            </a:r>
            <a:endParaRPr lang="en-US" sz="950" dirty="0"/>
          </a:p>
        </p:txBody>
      </p:sp>
      <p:sp>
        <p:nvSpPr>
          <p:cNvPr id="17" name="Shape 15"/>
          <p:cNvSpPr/>
          <p:nvPr/>
        </p:nvSpPr>
        <p:spPr>
          <a:xfrm>
            <a:off x="8091221" y="1664208"/>
            <a:ext cx="3442106" cy="1975104"/>
          </a:xfrm>
          <a:prstGeom prst="roundRect">
            <a:avLst>
              <a:gd name="adj" fmla="val 2083"/>
            </a:avLst>
          </a:prstGeom>
          <a:solidFill>
            <a:srgbClr val="171614"/>
          </a:solidFill>
          <a:ln w="9525">
            <a:solidFill>
              <a:srgbClr val="2E2A24"/>
            </a:solidFill>
            <a:prstDash val="solid"/>
          </a:ln>
        </p:spPr>
      </p:sp>
      <p:sp>
        <p:nvSpPr>
          <p:cNvPr id="18" name="Shape 16"/>
          <p:cNvSpPr/>
          <p:nvPr/>
        </p:nvSpPr>
        <p:spPr>
          <a:xfrm>
            <a:off x="8328965" y="1865376"/>
            <a:ext cx="310896" cy="310896"/>
          </a:xfrm>
          <a:prstGeom prst="ellipse">
            <a:avLst/>
          </a:prstGeom>
          <a:solidFill>
            <a:srgbClr val="0C0C0C"/>
          </a:solidFill>
          <a:ln w="11430">
            <a:solidFill>
              <a:srgbClr val="A78450"/>
            </a:solidFill>
            <a:prstDash val="solid"/>
          </a:ln>
        </p:spPr>
      </p:sp>
      <p:sp>
        <p:nvSpPr>
          <p:cNvPr id="19" name="Text 17"/>
          <p:cNvSpPr/>
          <p:nvPr/>
        </p:nvSpPr>
        <p:spPr>
          <a:xfrm>
            <a:off x="8328965"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31301"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割当（アロケーション）の属人性</a:t>
            </a:r>
            <a:endParaRPr lang="en-US" sz="1200" dirty="0"/>
          </a:p>
        </p:txBody>
      </p:sp>
      <p:sp>
        <p:nvSpPr>
          <p:cNvPr id="21" name="Text 19"/>
          <p:cNvSpPr/>
          <p:nvPr/>
        </p:nvSpPr>
        <p:spPr>
          <a:xfrm>
            <a:off x="8328965"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希少銘柄の割当はWineBank名義に対して付与されるものであり、第三者へ譲り渡すことができない。創業55年の酒販実績と輸出入ライセンスに基づく調達力は、SPCへ移管できない無形資産である。</a:t>
            </a:r>
            <a:endParaRPr lang="en-US" sz="950" dirty="0"/>
          </a:p>
        </p:txBody>
      </p:sp>
      <p:sp>
        <p:nvSpPr>
          <p:cNvPr id="22" name="Shape 20"/>
          <p:cNvSpPr/>
          <p:nvPr/>
        </p:nvSpPr>
        <p:spPr>
          <a:xfrm>
            <a:off x="658368" y="3858768"/>
            <a:ext cx="10874959" cy="1554480"/>
          </a:xfrm>
          <a:prstGeom prst="roundRect">
            <a:avLst>
              <a:gd name="adj" fmla="val 2647"/>
            </a:avLst>
          </a:prstGeom>
          <a:solidFill>
            <a:srgbClr val="1F1D19"/>
          </a:solidFill>
          <a:ln w="9525">
            <a:solidFill>
              <a:srgbClr val="6E5730"/>
            </a:solidFill>
            <a:prstDash val="solid"/>
          </a:ln>
        </p:spPr>
      </p:sp>
      <p:sp>
        <p:nvSpPr>
          <p:cNvPr id="23" name="Text 21"/>
          <p:cNvSpPr/>
          <p:nvPr/>
        </p:nvSpPr>
        <p:spPr>
          <a:xfrm>
            <a:off x="932688" y="4023360"/>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採用するスキーム</a:t>
            </a:r>
            <a:endParaRPr lang="en-US" sz="1200" dirty="0"/>
          </a:p>
        </p:txBody>
      </p:sp>
      <p:sp>
        <p:nvSpPr>
          <p:cNvPr id="24" name="Text 22"/>
          <p:cNvSpPr/>
          <p:nvPr/>
        </p:nvSpPr>
        <p:spPr>
          <a:xfrm>
            <a:off x="932688" y="4297680"/>
            <a:ext cx="10326319"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WineBankが免許事業者として仕入・販売の当事者となり、現物を時価−αでSPCへ卸す。SPCは所有者として損益を受ける。</a:t>
            </a:r>
            <a:endParaRPr lang="en-US" sz="1250" dirty="0"/>
          </a:p>
        </p:txBody>
      </p:sp>
      <p:sp>
        <p:nvSpPr>
          <p:cNvPr id="25" name="Text 23"/>
          <p:cNvSpPr/>
          <p:nvPr/>
        </p:nvSpPr>
        <p:spPr>
          <a:xfrm>
            <a:off x="9326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卸値を独立企業間価格として説明できること</a:t>
            </a:r>
            <a:endParaRPr lang="en-US" sz="1050" dirty="0"/>
          </a:p>
        </p:txBody>
      </p:sp>
      <p:sp>
        <p:nvSpPr>
          <p:cNvPr id="26" name="Text 24"/>
          <p:cNvSpPr/>
          <p:nvPr/>
        </p:nvSpPr>
        <p:spPr>
          <a:xfrm>
            <a:off x="932688" y="4882896"/>
            <a:ext cx="5071720" cy="51206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は在庫リスク・与信・入出庫事務を負って調達する。その対価として時価から24.5%を控除した定価比56.63で卸す。第三者卸価格との比較資料を年次で整備し、移転価格上の合理性を説明できる状態を維持する。</a:t>
            </a:r>
            <a:endParaRPr lang="en-US" sz="900" dirty="0"/>
          </a:p>
        </p:txBody>
      </p:sp>
      <p:sp>
        <p:nvSpPr>
          <p:cNvPr id="27" name="Text 25"/>
          <p:cNvSpPr/>
          <p:nvPr/>
        </p:nvSpPr>
        <p:spPr>
          <a:xfrm>
            <a:off x="61872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WineBank出資分も同じ価格で評価すること</a:t>
            </a:r>
            <a:endParaRPr lang="en-US" sz="1050" dirty="0"/>
          </a:p>
        </p:txBody>
      </p:sp>
      <p:sp>
        <p:nvSpPr>
          <p:cNvPr id="28" name="Text 26"/>
          <p:cNvSpPr/>
          <p:nvPr/>
        </p:nvSpPr>
        <p:spPr>
          <a:xfrm>
            <a:off x="6187288" y="4882896"/>
            <a:ext cx="5071720" cy="51206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WineBankが現物出資する3億円分も、投資家出資分と同じ定価比56.63で評価する。出資分に対応する値入れは自己取引となるため、内部利益の取扱いを会計・税務の両面で確認のうえ確定させる。</a:t>
            </a:r>
            <a:endParaRPr lang="en-US" sz="900" dirty="0"/>
          </a:p>
        </p:txBody>
      </p:sp>
      <p:sp>
        <p:nvSpPr>
          <p:cNvPr id="29" name="Text 27"/>
          <p:cNvSpPr/>
          <p:nvPr/>
        </p:nvSpPr>
        <p:spPr>
          <a:xfrm>
            <a:off x="658368" y="5541264"/>
            <a:ext cx="10874959" cy="256032"/>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 SPC自体の免許要否、委託・売買形態の切り分け、および酒類の現物出資が免許・消費税・法人税上どう扱われるかは、所轄税務署（酒類指導官）および顧問弁護士・公認会計士との確認事項として、契約書ドラフト作成前に確定させる。</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SOURCE OF RETURN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収益の源泉と卸値の決め方</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同一商品が流通段階ごとに異なる価格で存在する。WineBankはその時価から α を控除してSPCへ卸し、SPCは残りの差と値上がりを取る。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07</a:t>
            </a:r>
            <a:endParaRPr lang="en-US" sz="950" dirty="0"/>
          </a:p>
        </p:txBody>
      </p:sp>
      <p:sp>
        <p:nvSpPr>
          <p:cNvPr id="7" name="Shape 5"/>
          <p:cNvSpPr/>
          <p:nvPr/>
        </p:nvSpPr>
        <p:spPr>
          <a:xfrm>
            <a:off x="658368" y="1664208"/>
            <a:ext cx="1984797" cy="1645920"/>
          </a:xfrm>
          <a:prstGeom prst="roundRect">
            <a:avLst>
              <a:gd name="adj" fmla="val 2500"/>
            </a:avLst>
          </a:prstGeom>
          <a:solidFill>
            <a:srgbClr val="171614"/>
          </a:solidFill>
          <a:ln w="9525">
            <a:solidFill>
              <a:srgbClr val="6E5730"/>
            </a:solidFill>
            <a:prstDash val="solid"/>
          </a:ln>
        </p:spPr>
      </p:sp>
      <p:sp>
        <p:nvSpPr>
          <p:cNvPr id="8" name="Text 6"/>
          <p:cNvSpPr/>
          <p:nvPr/>
        </p:nvSpPr>
        <p:spPr>
          <a:xfrm>
            <a:off x="822960"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インポーター仕入</a:t>
            </a:r>
            <a:endParaRPr lang="en-US" sz="1000" dirty="0"/>
          </a:p>
        </p:txBody>
      </p:sp>
      <p:sp>
        <p:nvSpPr>
          <p:cNvPr id="9" name="Text 7"/>
          <p:cNvSpPr/>
          <p:nvPr/>
        </p:nvSpPr>
        <p:spPr>
          <a:xfrm>
            <a:off x="822960"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40</a:t>
            </a:r>
            <a:endParaRPr lang="en-US" sz="3800" dirty="0"/>
          </a:p>
        </p:txBody>
      </p:sp>
      <p:sp>
        <p:nvSpPr>
          <p:cNvPr id="10" name="Text 8"/>
          <p:cNvSpPr/>
          <p:nvPr/>
        </p:nvSpPr>
        <p:spPr>
          <a:xfrm>
            <a:off x="822960"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仕入①</a:t>
            </a:r>
            <a:endParaRPr lang="en-US" sz="950" dirty="0"/>
          </a:p>
        </p:txBody>
      </p:sp>
      <p:sp>
        <p:nvSpPr>
          <p:cNvPr id="11" name="Shape 9"/>
          <p:cNvSpPr/>
          <p:nvPr/>
        </p:nvSpPr>
        <p:spPr>
          <a:xfrm>
            <a:off x="2880909" y="1664208"/>
            <a:ext cx="1984797" cy="1645920"/>
          </a:xfrm>
          <a:prstGeom prst="roundRect">
            <a:avLst>
              <a:gd name="adj" fmla="val 2500"/>
            </a:avLst>
          </a:prstGeom>
          <a:solidFill>
            <a:srgbClr val="171614"/>
          </a:solidFill>
          <a:ln w="9525">
            <a:solidFill>
              <a:srgbClr val="6E5730"/>
            </a:solidFill>
            <a:prstDash val="solid"/>
          </a:ln>
        </p:spPr>
      </p:sp>
      <p:sp>
        <p:nvSpPr>
          <p:cNvPr id="12" name="Text 10"/>
          <p:cNvSpPr/>
          <p:nvPr/>
        </p:nvSpPr>
        <p:spPr>
          <a:xfrm>
            <a:off x="3045501"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酒販店仕入</a:t>
            </a:r>
            <a:endParaRPr lang="en-US" sz="1000" dirty="0"/>
          </a:p>
        </p:txBody>
      </p:sp>
      <p:sp>
        <p:nvSpPr>
          <p:cNvPr id="13" name="Text 11"/>
          <p:cNvSpPr/>
          <p:nvPr/>
        </p:nvSpPr>
        <p:spPr>
          <a:xfrm>
            <a:off x="3045501"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60</a:t>
            </a:r>
            <a:endParaRPr lang="en-US" sz="3800" dirty="0"/>
          </a:p>
        </p:txBody>
      </p:sp>
      <p:sp>
        <p:nvSpPr>
          <p:cNvPr id="14" name="Text 12"/>
          <p:cNvSpPr/>
          <p:nvPr/>
        </p:nvSpPr>
        <p:spPr>
          <a:xfrm>
            <a:off x="3045501"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仕入②</a:t>
            </a:r>
            <a:endParaRPr lang="en-US" sz="950" dirty="0"/>
          </a:p>
        </p:txBody>
      </p:sp>
      <p:sp>
        <p:nvSpPr>
          <p:cNvPr id="15" name="Shape 13"/>
          <p:cNvSpPr/>
          <p:nvPr/>
        </p:nvSpPr>
        <p:spPr>
          <a:xfrm>
            <a:off x="5103449" y="1664208"/>
            <a:ext cx="1984797" cy="1645920"/>
          </a:xfrm>
          <a:prstGeom prst="roundRect">
            <a:avLst>
              <a:gd name="adj" fmla="val 2500"/>
            </a:avLst>
          </a:prstGeom>
          <a:solidFill>
            <a:srgbClr val="1F1D19"/>
          </a:solidFill>
          <a:ln w="9525">
            <a:solidFill>
              <a:srgbClr val="C9A96E"/>
            </a:solidFill>
            <a:prstDash val="solid"/>
          </a:ln>
        </p:spPr>
      </p:sp>
      <p:sp>
        <p:nvSpPr>
          <p:cNvPr id="16" name="Text 14"/>
          <p:cNvSpPr/>
          <p:nvPr/>
        </p:nvSpPr>
        <p:spPr>
          <a:xfrm>
            <a:off x="5268041" y="1810512"/>
            <a:ext cx="1655613" cy="237744"/>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SPC簿価（時価−α）</a:t>
            </a:r>
            <a:endParaRPr lang="en-US" sz="1000" dirty="0"/>
          </a:p>
        </p:txBody>
      </p:sp>
      <p:sp>
        <p:nvSpPr>
          <p:cNvPr id="17" name="Text 15"/>
          <p:cNvSpPr/>
          <p:nvPr/>
        </p:nvSpPr>
        <p:spPr>
          <a:xfrm>
            <a:off x="5268041" y="2121408"/>
            <a:ext cx="1655613" cy="65836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56.63</a:t>
            </a:r>
            <a:endParaRPr lang="en-US" sz="3400" dirty="0"/>
          </a:p>
        </p:txBody>
      </p:sp>
      <p:sp>
        <p:nvSpPr>
          <p:cNvPr id="18" name="Text 16"/>
          <p:cNvSpPr/>
          <p:nvPr/>
        </p:nvSpPr>
        <p:spPr>
          <a:xfrm>
            <a:off x="5268041"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SPCの取得</a:t>
            </a:r>
            <a:endParaRPr lang="en-US" sz="950" dirty="0"/>
          </a:p>
        </p:txBody>
      </p:sp>
      <p:sp>
        <p:nvSpPr>
          <p:cNvPr id="19" name="Shape 17"/>
          <p:cNvSpPr/>
          <p:nvPr/>
        </p:nvSpPr>
        <p:spPr>
          <a:xfrm>
            <a:off x="7325990" y="1664208"/>
            <a:ext cx="1984797" cy="1645920"/>
          </a:xfrm>
          <a:prstGeom prst="roundRect">
            <a:avLst>
              <a:gd name="adj" fmla="val 2500"/>
            </a:avLst>
          </a:prstGeom>
          <a:solidFill>
            <a:srgbClr val="171614"/>
          </a:solidFill>
          <a:ln w="9525">
            <a:solidFill>
              <a:srgbClr val="A78450"/>
            </a:solidFill>
            <a:prstDash val="solid"/>
          </a:ln>
        </p:spPr>
      </p:sp>
      <p:sp>
        <p:nvSpPr>
          <p:cNvPr id="20" name="Text 18"/>
          <p:cNvSpPr/>
          <p:nvPr/>
        </p:nvSpPr>
        <p:spPr>
          <a:xfrm>
            <a:off x="7490582"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酒販店卸 売値</a:t>
            </a:r>
            <a:endParaRPr lang="en-US" sz="1000" dirty="0"/>
          </a:p>
        </p:txBody>
      </p:sp>
      <p:sp>
        <p:nvSpPr>
          <p:cNvPr id="21" name="Text 19"/>
          <p:cNvSpPr/>
          <p:nvPr/>
        </p:nvSpPr>
        <p:spPr>
          <a:xfrm>
            <a:off x="7490582"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70</a:t>
            </a:r>
            <a:endParaRPr lang="en-US" sz="3800" dirty="0"/>
          </a:p>
        </p:txBody>
      </p:sp>
      <p:sp>
        <p:nvSpPr>
          <p:cNvPr id="22" name="Text 20"/>
          <p:cNvSpPr/>
          <p:nvPr/>
        </p:nvSpPr>
        <p:spPr>
          <a:xfrm>
            <a:off x="7490582"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売却① B2B</a:t>
            </a:r>
            <a:endParaRPr lang="en-US" sz="950" dirty="0"/>
          </a:p>
        </p:txBody>
      </p:sp>
      <p:sp>
        <p:nvSpPr>
          <p:cNvPr id="23" name="Shape 21"/>
          <p:cNvSpPr/>
          <p:nvPr/>
        </p:nvSpPr>
        <p:spPr>
          <a:xfrm>
            <a:off x="9548531" y="1664208"/>
            <a:ext cx="1984797" cy="1645920"/>
          </a:xfrm>
          <a:prstGeom prst="roundRect">
            <a:avLst>
              <a:gd name="adj" fmla="val 2500"/>
            </a:avLst>
          </a:prstGeom>
          <a:solidFill>
            <a:srgbClr val="171614"/>
          </a:solidFill>
          <a:ln w="9525">
            <a:solidFill>
              <a:srgbClr val="A78450"/>
            </a:solidFill>
            <a:prstDash val="solid"/>
          </a:ln>
        </p:spPr>
      </p:sp>
      <p:sp>
        <p:nvSpPr>
          <p:cNvPr id="24" name="Text 22"/>
          <p:cNvSpPr/>
          <p:nvPr/>
        </p:nvSpPr>
        <p:spPr>
          <a:xfrm>
            <a:off x="9713123"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ネット最安 売値</a:t>
            </a:r>
            <a:endParaRPr lang="en-US" sz="1000" dirty="0"/>
          </a:p>
        </p:txBody>
      </p:sp>
      <p:sp>
        <p:nvSpPr>
          <p:cNvPr id="25" name="Text 23"/>
          <p:cNvSpPr/>
          <p:nvPr/>
        </p:nvSpPr>
        <p:spPr>
          <a:xfrm>
            <a:off x="9713123"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80</a:t>
            </a:r>
            <a:endParaRPr lang="en-US" sz="3800" dirty="0"/>
          </a:p>
        </p:txBody>
      </p:sp>
      <p:sp>
        <p:nvSpPr>
          <p:cNvPr id="26" name="Text 24"/>
          <p:cNvSpPr/>
          <p:nvPr/>
        </p:nvSpPr>
        <p:spPr>
          <a:xfrm>
            <a:off x="9713123"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売却② B2C</a:t>
            </a:r>
            <a:endParaRPr lang="en-US" sz="950" dirty="0"/>
          </a:p>
        </p:txBody>
      </p:sp>
      <p:sp>
        <p:nvSpPr>
          <p:cNvPr id="27" name="Shape 25"/>
          <p:cNvSpPr/>
          <p:nvPr/>
        </p:nvSpPr>
        <p:spPr>
          <a:xfrm>
            <a:off x="658368" y="3566160"/>
            <a:ext cx="10874959" cy="2066544"/>
          </a:xfrm>
          <a:prstGeom prst="roundRect">
            <a:avLst>
              <a:gd name="adj" fmla="val 1991"/>
            </a:avLst>
          </a:prstGeom>
          <a:solidFill>
            <a:srgbClr val="1F1D19"/>
          </a:solidFill>
          <a:ln w="9525">
            <a:solidFill>
              <a:srgbClr val="6E5730"/>
            </a:solidFill>
            <a:prstDash val="solid"/>
          </a:ln>
        </p:spPr>
      </p:sp>
      <p:sp>
        <p:nvSpPr>
          <p:cNvPr id="28" name="Text 26"/>
          <p:cNvSpPr/>
          <p:nvPr/>
        </p:nvSpPr>
        <p:spPr>
          <a:xfrm>
            <a:off x="932688" y="3694176"/>
            <a:ext cx="64008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主線（ニュートラル）の置き方　― 保有12ヶ月・定価100あたり</a:t>
            </a:r>
            <a:endParaRPr lang="en-US" sz="1200" dirty="0"/>
          </a:p>
        </p:txBody>
      </p:sp>
      <p:sp>
        <p:nvSpPr>
          <p:cNvPr id="29" name="Text 27"/>
          <p:cNvSpPr/>
          <p:nvPr/>
        </p:nvSpPr>
        <p:spPr>
          <a:xfrm>
            <a:off x="932688" y="4005072"/>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仕入ポートフォリオ</a:t>
            </a:r>
            <a:endParaRPr lang="en-US" sz="1050" dirty="0"/>
          </a:p>
        </p:txBody>
      </p:sp>
      <p:sp>
        <p:nvSpPr>
          <p:cNvPr id="30" name="Text 28"/>
          <p:cNvSpPr/>
          <p:nvPr/>
        </p:nvSpPr>
        <p:spPr>
          <a:xfrm>
            <a:off x="4041648" y="4005072"/>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インポーター40 ＋ 酒販店60 を半々</a:t>
            </a:r>
            <a:endParaRPr lang="en-US" sz="1050" dirty="0"/>
          </a:p>
        </p:txBody>
      </p:sp>
      <p:sp>
        <p:nvSpPr>
          <p:cNvPr id="31" name="Text 29"/>
          <p:cNvSpPr/>
          <p:nvPr/>
        </p:nvSpPr>
        <p:spPr>
          <a:xfrm>
            <a:off x="8796528" y="4005072"/>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市中原価 50.00</a:t>
            </a:r>
            <a:endParaRPr lang="en-US" sz="1050" dirty="0"/>
          </a:p>
        </p:txBody>
      </p:sp>
      <p:sp>
        <p:nvSpPr>
          <p:cNvPr id="32" name="Text 30"/>
          <p:cNvSpPr/>
          <p:nvPr/>
        </p:nvSpPr>
        <p:spPr>
          <a:xfrm>
            <a:off x="932688" y="4270248"/>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時価（取得時点）</a:t>
            </a:r>
            <a:endParaRPr lang="en-US" sz="1050" dirty="0"/>
          </a:p>
        </p:txBody>
      </p:sp>
      <p:sp>
        <p:nvSpPr>
          <p:cNvPr id="33" name="Text 31"/>
          <p:cNvSpPr/>
          <p:nvPr/>
        </p:nvSpPr>
        <p:spPr>
          <a:xfrm>
            <a:off x="4041648" y="4270248"/>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酒販店卸70（B2B）＋ ネット最安80（B2C）の加重平均</a:t>
            </a:r>
            <a:endParaRPr lang="en-US" sz="1050" dirty="0"/>
          </a:p>
        </p:txBody>
      </p:sp>
      <p:sp>
        <p:nvSpPr>
          <p:cNvPr id="34" name="Text 32"/>
          <p:cNvSpPr/>
          <p:nvPr/>
        </p:nvSpPr>
        <p:spPr>
          <a:xfrm>
            <a:off x="8796528" y="4270248"/>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時価 75.00</a:t>
            </a:r>
            <a:endParaRPr lang="en-US" sz="1050" dirty="0"/>
          </a:p>
        </p:txBody>
      </p:sp>
      <p:sp>
        <p:nvSpPr>
          <p:cNvPr id="35" name="Text 33"/>
          <p:cNvSpPr/>
          <p:nvPr/>
        </p:nvSpPr>
        <p:spPr>
          <a:xfrm>
            <a:off x="932688" y="4535424"/>
            <a:ext cx="30175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WineBankの値入れ</a:t>
            </a:r>
            <a:endParaRPr lang="en-US" sz="1050" dirty="0"/>
          </a:p>
        </p:txBody>
      </p:sp>
      <p:sp>
        <p:nvSpPr>
          <p:cNvPr id="36" name="Text 34"/>
          <p:cNvSpPr/>
          <p:nvPr/>
        </p:nvSpPr>
        <p:spPr>
          <a:xfrm>
            <a:off x="4041648" y="4535424"/>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時価から α ＝ 24.5% を控除してSPCへ卸す</a:t>
            </a:r>
            <a:endParaRPr lang="en-US" sz="1050" dirty="0"/>
          </a:p>
        </p:txBody>
      </p:sp>
      <p:sp>
        <p:nvSpPr>
          <p:cNvPr id="37" name="Text 35"/>
          <p:cNvSpPr/>
          <p:nvPr/>
        </p:nvSpPr>
        <p:spPr>
          <a:xfrm>
            <a:off x="8796528" y="4535424"/>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SPC簿価 56.63</a:t>
            </a:r>
            <a:endParaRPr lang="en-US" sz="1050" dirty="0"/>
          </a:p>
        </p:txBody>
      </p:sp>
      <p:sp>
        <p:nvSpPr>
          <p:cNvPr id="38" name="Text 36"/>
          <p:cNvSpPr/>
          <p:nvPr/>
        </p:nvSpPr>
        <p:spPr>
          <a:xfrm>
            <a:off x="932688" y="4800600"/>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保有中の値上がり</a:t>
            </a:r>
            <a:endParaRPr lang="en-US" sz="1050" dirty="0"/>
          </a:p>
        </p:txBody>
      </p:sp>
      <p:sp>
        <p:nvSpPr>
          <p:cNvPr id="39" name="Text 37"/>
          <p:cNvSpPr/>
          <p:nvPr/>
        </p:nvSpPr>
        <p:spPr>
          <a:xfrm>
            <a:off x="4041648" y="4800600"/>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ワイン価格の年間上昇6%を12ヶ月保有</a:t>
            </a:r>
            <a:endParaRPr lang="en-US" sz="1050" dirty="0"/>
          </a:p>
        </p:txBody>
      </p:sp>
      <p:sp>
        <p:nvSpPr>
          <p:cNvPr id="40" name="Text 38"/>
          <p:cNvSpPr/>
          <p:nvPr/>
        </p:nvSpPr>
        <p:spPr>
          <a:xfrm>
            <a:off x="8796528" y="4800600"/>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×1.060 → 売値 79.50</a:t>
            </a:r>
            <a:endParaRPr lang="en-US" sz="1050" dirty="0"/>
          </a:p>
        </p:txBody>
      </p:sp>
      <p:sp>
        <p:nvSpPr>
          <p:cNvPr id="41" name="Text 39"/>
          <p:cNvSpPr/>
          <p:nvPr/>
        </p:nvSpPr>
        <p:spPr>
          <a:xfrm>
            <a:off x="932688" y="5065776"/>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変動販売費</a:t>
            </a:r>
            <a:endParaRPr lang="en-US" sz="1050" dirty="0"/>
          </a:p>
        </p:txBody>
      </p:sp>
      <p:sp>
        <p:nvSpPr>
          <p:cNvPr id="42" name="Text 40"/>
          <p:cNvSpPr/>
          <p:nvPr/>
        </p:nvSpPr>
        <p:spPr>
          <a:xfrm>
            <a:off x="4041648" y="5065776"/>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B2B 1.0% ／ B2C 15.5% の加重平均 8.73%</a:t>
            </a:r>
            <a:endParaRPr lang="en-US" sz="1050" dirty="0"/>
          </a:p>
        </p:txBody>
      </p:sp>
      <p:sp>
        <p:nvSpPr>
          <p:cNvPr id="43" name="Text 41"/>
          <p:cNvSpPr/>
          <p:nvPr/>
        </p:nvSpPr>
        <p:spPr>
          <a:xfrm>
            <a:off x="8796528" y="5065776"/>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 6.94 → 手取り 72.56</a:t>
            </a:r>
            <a:endParaRPr lang="en-US" sz="1050" dirty="0"/>
          </a:p>
        </p:txBody>
      </p:sp>
      <p:sp>
        <p:nvSpPr>
          <p:cNvPr id="44" name="Text 42"/>
          <p:cNvSpPr/>
          <p:nvPr/>
        </p:nvSpPr>
        <p:spPr>
          <a:xfrm>
            <a:off x="932688" y="5330952"/>
            <a:ext cx="30175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単位粗利（SPC）</a:t>
            </a:r>
            <a:endParaRPr lang="en-US" sz="1050" dirty="0"/>
          </a:p>
        </p:txBody>
      </p:sp>
      <p:sp>
        <p:nvSpPr>
          <p:cNvPr id="45" name="Text 43"/>
          <p:cNvSpPr/>
          <p:nvPr/>
        </p:nvSpPr>
        <p:spPr>
          <a:xfrm>
            <a:off x="4041648" y="5330952"/>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手取り72.56 − SPC簿価56.63</a:t>
            </a:r>
            <a:endParaRPr lang="en-US" sz="1050" dirty="0"/>
          </a:p>
        </p:txBody>
      </p:sp>
      <p:sp>
        <p:nvSpPr>
          <p:cNvPr id="46" name="Text 44"/>
          <p:cNvSpPr/>
          <p:nvPr/>
        </p:nvSpPr>
        <p:spPr>
          <a:xfrm>
            <a:off x="8796528" y="5330952"/>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粗利 15.93（粗利率 20.0%）</a:t>
            </a:r>
            <a:endParaRPr lang="en-US" sz="1050" dirty="0"/>
          </a:p>
        </p:txBody>
      </p:sp>
      <p:sp>
        <p:nvSpPr>
          <p:cNvPr id="47" name="Text 45"/>
          <p:cNvSpPr/>
          <p:nvPr/>
        </p:nvSpPr>
        <p:spPr>
          <a:xfrm>
            <a:off x="658368" y="5724144"/>
            <a:ext cx="10874959" cy="365760"/>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WineBankの値入れは 定価比 6.63（簿価比 11.7%）。卸した時点で確定し、SPCの費用には計上しない。卸値が時価に連動するため、仕入価格が動いても売値が動いても、SPCの粗利と投資家の利回りはほとんど変わらない構造になる。</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CHANNEL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販売チャネル別の手取り：B2B卸とB2Cネット販売</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売値だけでは判断できない。手数料構造が全く異なるため、手取りベースで比較する。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08</a:t>
            </a:r>
            <a:endParaRPr lang="en-US" sz="950" dirty="0"/>
          </a:p>
        </p:txBody>
      </p:sp>
      <p:sp>
        <p:nvSpPr>
          <p:cNvPr id="7" name="Shape 5"/>
          <p:cNvSpPr/>
          <p:nvPr/>
        </p:nvSpPr>
        <p:spPr>
          <a:xfrm>
            <a:off x="658368" y="1645920"/>
            <a:ext cx="5282032" cy="2962656"/>
          </a:xfrm>
          <a:prstGeom prst="roundRect">
            <a:avLst>
              <a:gd name="adj" fmla="val 1389"/>
            </a:avLst>
          </a:prstGeom>
          <a:solidFill>
            <a:srgbClr val="171614"/>
          </a:solidFill>
          <a:ln w="9525">
            <a:solidFill>
              <a:srgbClr val="2E2A24"/>
            </a:solidFill>
            <a:prstDash val="solid"/>
          </a:ln>
        </p:spPr>
      </p:sp>
      <p:sp>
        <p:nvSpPr>
          <p:cNvPr id="8" name="Text 6"/>
          <p:cNvSpPr/>
          <p:nvPr/>
        </p:nvSpPr>
        <p:spPr>
          <a:xfrm>
            <a:off x="914400" y="1810512"/>
            <a:ext cx="3544672" cy="274320"/>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B2B｜酒販店卸</a:t>
            </a:r>
            <a:endParaRPr lang="en-US" sz="1300" dirty="0"/>
          </a:p>
        </p:txBody>
      </p:sp>
      <p:sp>
        <p:nvSpPr>
          <p:cNvPr id="9" name="Text 7"/>
          <p:cNvSpPr/>
          <p:nvPr/>
        </p:nvSpPr>
        <p:spPr>
          <a:xfrm>
            <a:off x="4203040"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70.00</a:t>
            </a:r>
            <a:endParaRPr lang="en-US" sz="1000" dirty="0"/>
          </a:p>
        </p:txBody>
      </p:sp>
      <p:sp>
        <p:nvSpPr>
          <p:cNvPr id="10" name="Text 8"/>
          <p:cNvSpPr/>
          <p:nvPr/>
        </p:nvSpPr>
        <p:spPr>
          <a:xfrm>
            <a:off x="914400"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出庫・配送</a:t>
            </a:r>
            <a:endParaRPr lang="en-US" sz="1000" dirty="0"/>
          </a:p>
        </p:txBody>
      </p:sp>
      <p:sp>
        <p:nvSpPr>
          <p:cNvPr id="11" name="Text 9"/>
          <p:cNvSpPr/>
          <p:nvPr/>
        </p:nvSpPr>
        <p:spPr>
          <a:xfrm>
            <a:off x="5007712"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0.6%</a:t>
            </a:r>
            <a:endParaRPr lang="en-US" sz="1100" dirty="0"/>
          </a:p>
        </p:txBody>
      </p:sp>
      <p:sp>
        <p:nvSpPr>
          <p:cNvPr id="12" name="Text 10"/>
          <p:cNvSpPr/>
          <p:nvPr/>
        </p:nvSpPr>
        <p:spPr>
          <a:xfrm>
            <a:off x="914400"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ケース／パレット単位出荷。1回あたりの出荷単位が大きい</a:t>
            </a:r>
            <a:endParaRPr lang="en-US" sz="850" dirty="0"/>
          </a:p>
        </p:txBody>
      </p:sp>
      <p:sp>
        <p:nvSpPr>
          <p:cNvPr id="13" name="Text 11"/>
          <p:cNvSpPr/>
          <p:nvPr/>
        </p:nvSpPr>
        <p:spPr>
          <a:xfrm>
            <a:off x="914400"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決済・与信</a:t>
            </a:r>
            <a:endParaRPr lang="en-US" sz="1000" dirty="0"/>
          </a:p>
        </p:txBody>
      </p:sp>
      <p:sp>
        <p:nvSpPr>
          <p:cNvPr id="14" name="Text 12"/>
          <p:cNvSpPr/>
          <p:nvPr/>
        </p:nvSpPr>
        <p:spPr>
          <a:xfrm>
            <a:off x="5007712"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15" name="Text 13"/>
          <p:cNvSpPr/>
          <p:nvPr/>
        </p:nvSpPr>
        <p:spPr>
          <a:xfrm>
            <a:off x="914400"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掛売のため決済手数料なし。回収コストと貸倒引当</a:t>
            </a:r>
            <a:endParaRPr lang="en-US" sz="850" dirty="0"/>
          </a:p>
        </p:txBody>
      </p:sp>
      <p:sp>
        <p:nvSpPr>
          <p:cNvPr id="16" name="Text 14"/>
          <p:cNvSpPr/>
          <p:nvPr/>
        </p:nvSpPr>
        <p:spPr>
          <a:xfrm>
            <a:off x="914400"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17" name="Text 15"/>
          <p:cNvSpPr/>
          <p:nvPr/>
        </p:nvSpPr>
        <p:spPr>
          <a:xfrm>
            <a:off x="3928720"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1.0%（▲0.70）</a:t>
            </a:r>
            <a:endParaRPr lang="en-US" sz="1050" dirty="0"/>
          </a:p>
        </p:txBody>
      </p:sp>
      <p:sp>
        <p:nvSpPr>
          <p:cNvPr id="18" name="Text 16"/>
          <p:cNvSpPr/>
          <p:nvPr/>
        </p:nvSpPr>
        <p:spPr>
          <a:xfrm>
            <a:off x="914400"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19" name="Text 17"/>
          <p:cNvSpPr/>
          <p:nvPr/>
        </p:nvSpPr>
        <p:spPr>
          <a:xfrm>
            <a:off x="3928720"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69.30</a:t>
            </a:r>
            <a:endParaRPr lang="en-US" sz="2500" dirty="0"/>
          </a:p>
        </p:txBody>
      </p:sp>
      <p:sp>
        <p:nvSpPr>
          <p:cNvPr id="20" name="Shape 18"/>
          <p:cNvSpPr/>
          <p:nvPr/>
        </p:nvSpPr>
        <p:spPr>
          <a:xfrm>
            <a:off x="6251296" y="1645920"/>
            <a:ext cx="5282032" cy="2962656"/>
          </a:xfrm>
          <a:prstGeom prst="roundRect">
            <a:avLst>
              <a:gd name="adj" fmla="val 1389"/>
            </a:avLst>
          </a:prstGeom>
          <a:solidFill>
            <a:srgbClr val="1F1D19"/>
          </a:solidFill>
          <a:ln w="9525">
            <a:solidFill>
              <a:srgbClr val="6E5730"/>
            </a:solidFill>
            <a:prstDash val="solid"/>
          </a:ln>
        </p:spPr>
      </p:sp>
      <p:sp>
        <p:nvSpPr>
          <p:cNvPr id="21" name="Text 19"/>
          <p:cNvSpPr/>
          <p:nvPr/>
        </p:nvSpPr>
        <p:spPr>
          <a:xfrm>
            <a:off x="6507328" y="1810512"/>
            <a:ext cx="3544672" cy="274320"/>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B2C｜自社EC・オークション</a:t>
            </a:r>
            <a:endParaRPr lang="en-US" sz="1300" dirty="0"/>
          </a:p>
        </p:txBody>
      </p:sp>
      <p:sp>
        <p:nvSpPr>
          <p:cNvPr id="22" name="Text 20"/>
          <p:cNvSpPr/>
          <p:nvPr/>
        </p:nvSpPr>
        <p:spPr>
          <a:xfrm>
            <a:off x="9795967"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80.00</a:t>
            </a:r>
            <a:endParaRPr lang="en-US" sz="1000" dirty="0"/>
          </a:p>
        </p:txBody>
      </p:sp>
      <p:sp>
        <p:nvSpPr>
          <p:cNvPr id="23" name="Text 21"/>
          <p:cNvSpPr/>
          <p:nvPr/>
        </p:nvSpPr>
        <p:spPr>
          <a:xfrm>
            <a:off x="6507328"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販路手数料（決済込み）</a:t>
            </a:r>
            <a:endParaRPr lang="en-US" sz="1000" dirty="0"/>
          </a:p>
        </p:txBody>
      </p:sp>
      <p:sp>
        <p:nvSpPr>
          <p:cNvPr id="24" name="Text 22"/>
          <p:cNvSpPr/>
          <p:nvPr/>
        </p:nvSpPr>
        <p:spPr>
          <a:xfrm>
            <a:off x="10600639"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13.0%</a:t>
            </a:r>
            <a:endParaRPr lang="en-US" sz="1100" dirty="0"/>
          </a:p>
        </p:txBody>
      </p:sp>
      <p:sp>
        <p:nvSpPr>
          <p:cNvPr id="25" name="Text 23"/>
          <p:cNvSpPr/>
          <p:nvPr/>
        </p:nvSpPr>
        <p:spPr>
          <a:xfrm>
            <a:off x="6507328"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楽天市場での当社実績（システム利用料・決済・ポイント原資等）12〜13%の上限。自社EC・自社オークションにも同率を上限として適用（契約第11条第5項）</a:t>
            </a:r>
            <a:endParaRPr lang="en-US" sz="850" dirty="0"/>
          </a:p>
        </p:txBody>
      </p:sp>
      <p:sp>
        <p:nvSpPr>
          <p:cNvPr id="26" name="Text 24"/>
          <p:cNvSpPr/>
          <p:nvPr/>
        </p:nvSpPr>
        <p:spPr>
          <a:xfrm>
            <a:off x="6507328"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出庫・梱包・クール便</a:t>
            </a:r>
            <a:endParaRPr lang="en-US" sz="1000" dirty="0"/>
          </a:p>
        </p:txBody>
      </p:sp>
      <p:sp>
        <p:nvSpPr>
          <p:cNvPr id="27" name="Text 25"/>
          <p:cNvSpPr/>
          <p:nvPr/>
        </p:nvSpPr>
        <p:spPr>
          <a:xfrm>
            <a:off x="10600639"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2.5%</a:t>
            </a:r>
            <a:endParaRPr lang="en-US" sz="1100" dirty="0"/>
          </a:p>
        </p:txBody>
      </p:sp>
      <p:sp>
        <p:nvSpPr>
          <p:cNvPr id="28" name="Text 26"/>
          <p:cNvSpPr/>
          <p:nvPr/>
        </p:nvSpPr>
        <p:spPr>
          <a:xfrm>
            <a:off x="6507328"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1口1,300円＋梱包資材。1口平均6万円想定</a:t>
            </a:r>
            <a:endParaRPr lang="en-US" sz="850" dirty="0"/>
          </a:p>
        </p:txBody>
      </p:sp>
      <p:sp>
        <p:nvSpPr>
          <p:cNvPr id="29" name="Text 27"/>
          <p:cNvSpPr/>
          <p:nvPr/>
        </p:nvSpPr>
        <p:spPr>
          <a:xfrm>
            <a:off x="6507328"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30" name="Text 28"/>
          <p:cNvSpPr/>
          <p:nvPr/>
        </p:nvSpPr>
        <p:spPr>
          <a:xfrm>
            <a:off x="9521647"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15.5%（▲12.40）</a:t>
            </a:r>
            <a:endParaRPr lang="en-US" sz="1050" dirty="0"/>
          </a:p>
        </p:txBody>
      </p:sp>
      <p:sp>
        <p:nvSpPr>
          <p:cNvPr id="31" name="Text 29"/>
          <p:cNvSpPr/>
          <p:nvPr/>
        </p:nvSpPr>
        <p:spPr>
          <a:xfrm>
            <a:off x="6507328"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32" name="Text 30"/>
          <p:cNvSpPr/>
          <p:nvPr/>
        </p:nvSpPr>
        <p:spPr>
          <a:xfrm>
            <a:off x="9521647"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67.60</a:t>
            </a:r>
            <a:endParaRPr lang="en-US" sz="2500" dirty="0"/>
          </a:p>
        </p:txBody>
      </p:sp>
      <p:sp>
        <p:nvSpPr>
          <p:cNvPr id="33" name="Shape 31"/>
          <p:cNvSpPr/>
          <p:nvPr/>
        </p:nvSpPr>
        <p:spPr>
          <a:xfrm>
            <a:off x="658368" y="4791456"/>
            <a:ext cx="10874959" cy="914400"/>
          </a:xfrm>
          <a:prstGeom prst="roundRect">
            <a:avLst>
              <a:gd name="adj" fmla="val 4500"/>
            </a:avLst>
          </a:prstGeom>
          <a:solidFill>
            <a:srgbClr val="1F1D19"/>
          </a:solidFill>
          <a:ln w="9525">
            <a:solidFill>
              <a:srgbClr val="6E5730"/>
            </a:solidFill>
            <a:prstDash val="solid"/>
          </a:ln>
        </p:spPr>
      </p:sp>
      <p:sp>
        <p:nvSpPr>
          <p:cNvPr id="34" name="Text 32"/>
          <p:cNvSpPr/>
          <p:nvPr/>
        </p:nvSpPr>
        <p:spPr>
          <a:xfrm>
            <a:off x="932688" y="4901184"/>
            <a:ext cx="10326319" cy="694944"/>
          </a:xfrm>
          <a:prstGeom prst="rect">
            <a:avLst/>
          </a:prstGeom>
          <a:noFill/>
          <a:ln/>
        </p:spPr>
        <p:txBody>
          <a:bodyPr wrap="square" lIns="0" tIns="0" rIns="0" bIns="0" rtlCol="0" anchor="ctr"/>
          <a:lstStyle/>
          <a:p>
            <a:pPr indent="0" marL="0">
              <a:lnSpc>
                <a:spcPct val="122000"/>
              </a:lnSpc>
              <a:buNone/>
            </a:pPr>
            <a:r>
              <a:rPr lang="en-US" sz="1200" b="1" dirty="0">
                <a:solidFill>
                  <a:srgbClr val="C9A96E"/>
                </a:solidFill>
                <a:latin typeface="Yu Gothic" pitchFamily="34" charset="0"/>
                <a:ea typeface="Yu Gothic" pitchFamily="34" charset="-122"/>
                <a:cs typeface="Yu Gothic" pitchFamily="34" charset="-120"/>
              </a:rPr>
              <a:t>売値はB2Cが高いが、手数料を引いた手取りはB2Bと同水準（差1.70ポイント）。</a:t>
            </a:r>
            <a:pPr indent="0" marL="0">
              <a:lnSpc>
                <a:spcPct val="122000"/>
              </a:lnSpc>
              <a:buNone/>
            </a:pPr>
            <a:r>
              <a:rPr lang="en-US" sz="1000" dirty="0">
                <a:solidFill>
                  <a:srgbClr val="EFEBE3"/>
                </a:solidFill>
                <a:latin typeface="Yu Gothic" pitchFamily="34" charset="0"/>
                <a:ea typeface="Yu Gothic" pitchFamily="34" charset="-122"/>
                <a:cs typeface="Yu Gothic" pitchFamily="34" charset="-120"/>
              </a:rPr>
              <a:t>　B2Cは売値が定価比80とB2Bの70を10ポイント上回るが、販路手数料（決済込み）13.0%と出庫費2.5%を保守的に負担させている。B2Cは1本ずつの出荷となり販売量の上限が低いため、回転期間を確保するにはB2Bの卸売が不可欠となる。両者を半々で運用し、加重平均で時価75.00・変動販売費8.73%・手取り68.45を主線とする（いずれも取得時点の価格。保有中の値上がりは次頁以降で加算）。</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UNIT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ワイン価格上昇率別の単位経済（保有12ヶ月・定価100あたり）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SPC簿価は時価−αで固定される。したがってSPCの粗利を動かすのは、保有中にどれだけ値上がりするかである。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09</a:t>
            </a:r>
            <a:endParaRPr lang="en-US" sz="950" dirty="0"/>
          </a:p>
        </p:txBody>
      </p:sp>
      <p:sp>
        <p:nvSpPr>
          <p:cNvPr id="7" name="Shape 5"/>
          <p:cNvSpPr/>
          <p:nvPr/>
        </p:nvSpPr>
        <p:spPr>
          <a:xfrm>
            <a:off x="658368" y="1627632"/>
            <a:ext cx="3429914" cy="3931920"/>
          </a:xfrm>
          <a:prstGeom prst="roundRect">
            <a:avLst>
              <a:gd name="adj" fmla="val 1200"/>
            </a:avLst>
          </a:prstGeom>
          <a:solidFill>
            <a:srgbClr val="171614"/>
          </a:solidFill>
          <a:ln w="9525">
            <a:solidFill>
              <a:srgbClr val="2E2A24"/>
            </a:solidFill>
            <a:prstDash val="solid"/>
          </a:ln>
        </p:spPr>
      </p:sp>
      <p:sp>
        <p:nvSpPr>
          <p:cNvPr id="8" name="Text 6"/>
          <p:cNvSpPr/>
          <p:nvPr/>
        </p:nvSpPr>
        <p:spPr>
          <a:xfrm>
            <a:off x="914400"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ネガティブ</a:t>
            </a:r>
            <a:endParaRPr lang="en-US" sz="1300" dirty="0"/>
          </a:p>
        </p:txBody>
      </p:sp>
      <p:sp>
        <p:nvSpPr>
          <p:cNvPr id="9" name="Text 7"/>
          <p:cNvSpPr/>
          <p:nvPr/>
        </p:nvSpPr>
        <p:spPr>
          <a:xfrm>
            <a:off x="914400"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10" name="Text 8"/>
          <p:cNvSpPr/>
          <p:nvPr/>
        </p:nvSpPr>
        <p:spPr>
          <a:xfrm>
            <a:off x="2606954"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11" name="Text 9"/>
          <p:cNvSpPr/>
          <p:nvPr/>
        </p:nvSpPr>
        <p:spPr>
          <a:xfrm>
            <a:off x="914400"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12" name="Text 10"/>
          <p:cNvSpPr/>
          <p:nvPr/>
        </p:nvSpPr>
        <p:spPr>
          <a:xfrm>
            <a:off x="2606954"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13" name="Text 11"/>
          <p:cNvSpPr/>
          <p:nvPr/>
        </p:nvSpPr>
        <p:spPr>
          <a:xfrm>
            <a:off x="914400"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14" name="Text 12"/>
          <p:cNvSpPr/>
          <p:nvPr/>
        </p:nvSpPr>
        <p:spPr>
          <a:xfrm>
            <a:off x="2606954" y="280720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56.63</a:t>
            </a:r>
            <a:endParaRPr lang="en-US" sz="1350" dirty="0"/>
          </a:p>
        </p:txBody>
      </p:sp>
      <p:sp>
        <p:nvSpPr>
          <p:cNvPr id="15" name="Text 13"/>
          <p:cNvSpPr/>
          <p:nvPr/>
        </p:nvSpPr>
        <p:spPr>
          <a:xfrm>
            <a:off x="914400"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16" name="Text 14"/>
          <p:cNvSpPr/>
          <p:nvPr/>
        </p:nvSpPr>
        <p:spPr>
          <a:xfrm>
            <a:off x="2606954" y="309524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×1.000</a:t>
            </a:r>
            <a:endParaRPr lang="en-US" sz="1250" dirty="0"/>
          </a:p>
        </p:txBody>
      </p:sp>
      <p:sp>
        <p:nvSpPr>
          <p:cNvPr id="17" name="Text 15"/>
          <p:cNvSpPr/>
          <p:nvPr/>
        </p:nvSpPr>
        <p:spPr>
          <a:xfrm>
            <a:off x="914400"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18" name="Text 16"/>
          <p:cNvSpPr/>
          <p:nvPr/>
        </p:nvSpPr>
        <p:spPr>
          <a:xfrm>
            <a:off x="2606954"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19" name="Text 17"/>
          <p:cNvSpPr/>
          <p:nvPr/>
        </p:nvSpPr>
        <p:spPr>
          <a:xfrm>
            <a:off x="914400"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20" name="Text 18"/>
          <p:cNvSpPr/>
          <p:nvPr/>
        </p:nvSpPr>
        <p:spPr>
          <a:xfrm>
            <a:off x="2606954"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6.55</a:t>
            </a:r>
            <a:endParaRPr lang="en-US" sz="1350" dirty="0"/>
          </a:p>
        </p:txBody>
      </p:sp>
      <p:sp>
        <p:nvSpPr>
          <p:cNvPr id="21" name="Text 19"/>
          <p:cNvSpPr/>
          <p:nvPr/>
        </p:nvSpPr>
        <p:spPr>
          <a:xfrm>
            <a:off x="914400"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22" name="Text 20"/>
          <p:cNvSpPr/>
          <p:nvPr/>
        </p:nvSpPr>
        <p:spPr>
          <a:xfrm>
            <a:off x="2606954" y="395935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68.45</a:t>
            </a:r>
            <a:endParaRPr lang="en-US" sz="1350" dirty="0"/>
          </a:p>
        </p:txBody>
      </p:sp>
      <p:sp>
        <p:nvSpPr>
          <p:cNvPr id="23" name="Text 21"/>
          <p:cNvSpPr/>
          <p:nvPr/>
        </p:nvSpPr>
        <p:spPr>
          <a:xfrm>
            <a:off x="914400"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24" name="Text 22"/>
          <p:cNvSpPr/>
          <p:nvPr/>
        </p:nvSpPr>
        <p:spPr>
          <a:xfrm>
            <a:off x="2606954" y="424738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11.83</a:t>
            </a:r>
            <a:endParaRPr lang="en-US" sz="1350" dirty="0"/>
          </a:p>
        </p:txBody>
      </p:sp>
      <p:sp>
        <p:nvSpPr>
          <p:cNvPr id="25" name="Text 23"/>
          <p:cNvSpPr/>
          <p:nvPr/>
        </p:nvSpPr>
        <p:spPr>
          <a:xfrm>
            <a:off x="914400"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26" name="Text 24"/>
          <p:cNvSpPr/>
          <p:nvPr/>
        </p:nvSpPr>
        <p:spPr>
          <a:xfrm>
            <a:off x="2606954" y="453542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15.8%</a:t>
            </a:r>
            <a:endParaRPr lang="en-US" sz="1250" dirty="0"/>
          </a:p>
        </p:txBody>
      </p:sp>
      <p:sp>
        <p:nvSpPr>
          <p:cNvPr id="27" name="Text 25"/>
          <p:cNvSpPr/>
          <p:nvPr/>
        </p:nvSpPr>
        <p:spPr>
          <a:xfrm>
            <a:off x="914400"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28" name="Text 26"/>
          <p:cNvSpPr/>
          <p:nvPr/>
        </p:nvSpPr>
        <p:spPr>
          <a:xfrm>
            <a:off x="2606954" y="4823460"/>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20.9%</a:t>
            </a:r>
            <a:endParaRPr lang="en-US" sz="1250" dirty="0"/>
          </a:p>
        </p:txBody>
      </p:sp>
      <p:sp>
        <p:nvSpPr>
          <p:cNvPr id="29" name="Text 27"/>
          <p:cNvSpPr/>
          <p:nvPr/>
        </p:nvSpPr>
        <p:spPr>
          <a:xfrm>
            <a:off x="914400"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年0%（横ばい）</a:t>
            </a:r>
            <a:endParaRPr lang="en-US" sz="900" dirty="0"/>
          </a:p>
        </p:txBody>
      </p:sp>
      <p:sp>
        <p:nvSpPr>
          <p:cNvPr id="30" name="Shape 28"/>
          <p:cNvSpPr/>
          <p:nvPr/>
        </p:nvSpPr>
        <p:spPr>
          <a:xfrm>
            <a:off x="4380890" y="1627632"/>
            <a:ext cx="3429914" cy="3931920"/>
          </a:xfrm>
          <a:prstGeom prst="roundRect">
            <a:avLst>
              <a:gd name="adj" fmla="val 1200"/>
            </a:avLst>
          </a:prstGeom>
          <a:solidFill>
            <a:srgbClr val="1F1D19"/>
          </a:solidFill>
          <a:ln w="9525">
            <a:solidFill>
              <a:srgbClr val="6E5730"/>
            </a:solidFill>
            <a:prstDash val="solid"/>
          </a:ln>
        </p:spPr>
      </p:sp>
      <p:sp>
        <p:nvSpPr>
          <p:cNvPr id="31" name="Text 29"/>
          <p:cNvSpPr/>
          <p:nvPr/>
        </p:nvSpPr>
        <p:spPr>
          <a:xfrm>
            <a:off x="4636922" y="1828800"/>
            <a:ext cx="2917850"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ニュートラル（主線）</a:t>
            </a:r>
            <a:endParaRPr lang="en-US" sz="1300" dirty="0"/>
          </a:p>
        </p:txBody>
      </p:sp>
      <p:sp>
        <p:nvSpPr>
          <p:cNvPr id="32" name="Text 30"/>
          <p:cNvSpPr/>
          <p:nvPr/>
        </p:nvSpPr>
        <p:spPr>
          <a:xfrm>
            <a:off x="4636922"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33" name="Text 31"/>
          <p:cNvSpPr/>
          <p:nvPr/>
        </p:nvSpPr>
        <p:spPr>
          <a:xfrm>
            <a:off x="6329477"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34" name="Text 32"/>
          <p:cNvSpPr/>
          <p:nvPr/>
        </p:nvSpPr>
        <p:spPr>
          <a:xfrm>
            <a:off x="4636922"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35" name="Text 33"/>
          <p:cNvSpPr/>
          <p:nvPr/>
        </p:nvSpPr>
        <p:spPr>
          <a:xfrm>
            <a:off x="6329477"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36" name="Text 34"/>
          <p:cNvSpPr/>
          <p:nvPr/>
        </p:nvSpPr>
        <p:spPr>
          <a:xfrm>
            <a:off x="4636922"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37" name="Text 35"/>
          <p:cNvSpPr/>
          <p:nvPr/>
        </p:nvSpPr>
        <p:spPr>
          <a:xfrm>
            <a:off x="6329477" y="2807208"/>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56.63</a:t>
            </a:r>
            <a:endParaRPr lang="en-US" sz="1350" dirty="0"/>
          </a:p>
        </p:txBody>
      </p:sp>
      <p:sp>
        <p:nvSpPr>
          <p:cNvPr id="38" name="Text 36"/>
          <p:cNvSpPr/>
          <p:nvPr/>
        </p:nvSpPr>
        <p:spPr>
          <a:xfrm>
            <a:off x="4636922"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39" name="Text 37"/>
          <p:cNvSpPr/>
          <p:nvPr/>
        </p:nvSpPr>
        <p:spPr>
          <a:xfrm>
            <a:off x="6329477" y="3095244"/>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×1.060</a:t>
            </a:r>
            <a:endParaRPr lang="en-US" sz="1250" dirty="0"/>
          </a:p>
        </p:txBody>
      </p:sp>
      <p:sp>
        <p:nvSpPr>
          <p:cNvPr id="40" name="Text 38"/>
          <p:cNvSpPr/>
          <p:nvPr/>
        </p:nvSpPr>
        <p:spPr>
          <a:xfrm>
            <a:off x="4636922"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41" name="Text 39"/>
          <p:cNvSpPr/>
          <p:nvPr/>
        </p:nvSpPr>
        <p:spPr>
          <a:xfrm>
            <a:off x="6329477"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79.50</a:t>
            </a:r>
            <a:endParaRPr lang="en-US" sz="1350" dirty="0"/>
          </a:p>
        </p:txBody>
      </p:sp>
      <p:sp>
        <p:nvSpPr>
          <p:cNvPr id="42" name="Text 40"/>
          <p:cNvSpPr/>
          <p:nvPr/>
        </p:nvSpPr>
        <p:spPr>
          <a:xfrm>
            <a:off x="4636922"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43" name="Text 41"/>
          <p:cNvSpPr/>
          <p:nvPr/>
        </p:nvSpPr>
        <p:spPr>
          <a:xfrm>
            <a:off x="6329477"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6.94</a:t>
            </a:r>
            <a:endParaRPr lang="en-US" sz="1350" dirty="0"/>
          </a:p>
        </p:txBody>
      </p:sp>
      <p:sp>
        <p:nvSpPr>
          <p:cNvPr id="44" name="Text 42"/>
          <p:cNvSpPr/>
          <p:nvPr/>
        </p:nvSpPr>
        <p:spPr>
          <a:xfrm>
            <a:off x="4636922"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45" name="Text 43"/>
          <p:cNvSpPr/>
          <p:nvPr/>
        </p:nvSpPr>
        <p:spPr>
          <a:xfrm>
            <a:off x="6329477" y="3959352"/>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72.56</a:t>
            </a:r>
            <a:endParaRPr lang="en-US" sz="1350" dirty="0"/>
          </a:p>
        </p:txBody>
      </p:sp>
      <p:sp>
        <p:nvSpPr>
          <p:cNvPr id="46" name="Text 44"/>
          <p:cNvSpPr/>
          <p:nvPr/>
        </p:nvSpPr>
        <p:spPr>
          <a:xfrm>
            <a:off x="4636922"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47" name="Text 45"/>
          <p:cNvSpPr/>
          <p:nvPr/>
        </p:nvSpPr>
        <p:spPr>
          <a:xfrm>
            <a:off x="6329477" y="4247388"/>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15.93</a:t>
            </a:r>
            <a:endParaRPr lang="en-US" sz="1350" dirty="0"/>
          </a:p>
        </p:txBody>
      </p:sp>
      <p:sp>
        <p:nvSpPr>
          <p:cNvPr id="48" name="Text 46"/>
          <p:cNvSpPr/>
          <p:nvPr/>
        </p:nvSpPr>
        <p:spPr>
          <a:xfrm>
            <a:off x="4636922"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49" name="Text 47"/>
          <p:cNvSpPr/>
          <p:nvPr/>
        </p:nvSpPr>
        <p:spPr>
          <a:xfrm>
            <a:off x="6329477" y="4535424"/>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20.0%</a:t>
            </a:r>
            <a:endParaRPr lang="en-US" sz="1250" dirty="0"/>
          </a:p>
        </p:txBody>
      </p:sp>
      <p:sp>
        <p:nvSpPr>
          <p:cNvPr id="50" name="Text 48"/>
          <p:cNvSpPr/>
          <p:nvPr/>
        </p:nvSpPr>
        <p:spPr>
          <a:xfrm>
            <a:off x="4636922"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51" name="Text 49"/>
          <p:cNvSpPr/>
          <p:nvPr/>
        </p:nvSpPr>
        <p:spPr>
          <a:xfrm>
            <a:off x="6329477" y="4823460"/>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28.1%</a:t>
            </a:r>
            <a:endParaRPr lang="en-US" sz="1250" dirty="0"/>
          </a:p>
        </p:txBody>
      </p:sp>
      <p:sp>
        <p:nvSpPr>
          <p:cNvPr id="52" name="Text 50"/>
          <p:cNvSpPr/>
          <p:nvPr/>
        </p:nvSpPr>
        <p:spPr>
          <a:xfrm>
            <a:off x="4636922"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年6%</a:t>
            </a:r>
            <a:endParaRPr lang="en-US" sz="900" dirty="0"/>
          </a:p>
        </p:txBody>
      </p:sp>
      <p:sp>
        <p:nvSpPr>
          <p:cNvPr id="53" name="Shape 51"/>
          <p:cNvSpPr/>
          <p:nvPr/>
        </p:nvSpPr>
        <p:spPr>
          <a:xfrm>
            <a:off x="8103413" y="1627632"/>
            <a:ext cx="3429914" cy="3931920"/>
          </a:xfrm>
          <a:prstGeom prst="roundRect">
            <a:avLst>
              <a:gd name="adj" fmla="val 1200"/>
            </a:avLst>
          </a:prstGeom>
          <a:solidFill>
            <a:srgbClr val="171614"/>
          </a:solidFill>
          <a:ln w="9525">
            <a:solidFill>
              <a:srgbClr val="2E2A24"/>
            </a:solidFill>
            <a:prstDash val="solid"/>
          </a:ln>
        </p:spPr>
      </p:sp>
      <p:sp>
        <p:nvSpPr>
          <p:cNvPr id="54" name="Text 52"/>
          <p:cNvSpPr/>
          <p:nvPr/>
        </p:nvSpPr>
        <p:spPr>
          <a:xfrm>
            <a:off x="8359445"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ポジティブ</a:t>
            </a:r>
            <a:endParaRPr lang="en-US" sz="1300" dirty="0"/>
          </a:p>
        </p:txBody>
      </p:sp>
      <p:sp>
        <p:nvSpPr>
          <p:cNvPr id="55" name="Text 53"/>
          <p:cNvSpPr/>
          <p:nvPr/>
        </p:nvSpPr>
        <p:spPr>
          <a:xfrm>
            <a:off x="8359445"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56" name="Text 54"/>
          <p:cNvSpPr/>
          <p:nvPr/>
        </p:nvSpPr>
        <p:spPr>
          <a:xfrm>
            <a:off x="10051999"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57" name="Text 55"/>
          <p:cNvSpPr/>
          <p:nvPr/>
        </p:nvSpPr>
        <p:spPr>
          <a:xfrm>
            <a:off x="8359445"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58" name="Text 56"/>
          <p:cNvSpPr/>
          <p:nvPr/>
        </p:nvSpPr>
        <p:spPr>
          <a:xfrm>
            <a:off x="10051999"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59" name="Text 57"/>
          <p:cNvSpPr/>
          <p:nvPr/>
        </p:nvSpPr>
        <p:spPr>
          <a:xfrm>
            <a:off x="8359445"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60" name="Text 58"/>
          <p:cNvSpPr/>
          <p:nvPr/>
        </p:nvSpPr>
        <p:spPr>
          <a:xfrm>
            <a:off x="10051999" y="280720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56.63</a:t>
            </a:r>
            <a:endParaRPr lang="en-US" sz="1350" dirty="0"/>
          </a:p>
        </p:txBody>
      </p:sp>
      <p:sp>
        <p:nvSpPr>
          <p:cNvPr id="61" name="Text 59"/>
          <p:cNvSpPr/>
          <p:nvPr/>
        </p:nvSpPr>
        <p:spPr>
          <a:xfrm>
            <a:off x="8359445"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62" name="Text 60"/>
          <p:cNvSpPr/>
          <p:nvPr/>
        </p:nvSpPr>
        <p:spPr>
          <a:xfrm>
            <a:off x="10051999" y="309524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×1.100</a:t>
            </a:r>
            <a:endParaRPr lang="en-US" sz="1250" dirty="0"/>
          </a:p>
        </p:txBody>
      </p:sp>
      <p:sp>
        <p:nvSpPr>
          <p:cNvPr id="63" name="Text 61"/>
          <p:cNvSpPr/>
          <p:nvPr/>
        </p:nvSpPr>
        <p:spPr>
          <a:xfrm>
            <a:off x="8359445"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64" name="Text 62"/>
          <p:cNvSpPr/>
          <p:nvPr/>
        </p:nvSpPr>
        <p:spPr>
          <a:xfrm>
            <a:off x="10051999"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82.50</a:t>
            </a:r>
            <a:endParaRPr lang="en-US" sz="1350" dirty="0"/>
          </a:p>
        </p:txBody>
      </p:sp>
      <p:sp>
        <p:nvSpPr>
          <p:cNvPr id="65" name="Text 63"/>
          <p:cNvSpPr/>
          <p:nvPr/>
        </p:nvSpPr>
        <p:spPr>
          <a:xfrm>
            <a:off x="8359445"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66" name="Text 64"/>
          <p:cNvSpPr/>
          <p:nvPr/>
        </p:nvSpPr>
        <p:spPr>
          <a:xfrm>
            <a:off x="10051999"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7.21</a:t>
            </a:r>
            <a:endParaRPr lang="en-US" sz="1350" dirty="0"/>
          </a:p>
        </p:txBody>
      </p:sp>
      <p:sp>
        <p:nvSpPr>
          <p:cNvPr id="67" name="Text 65"/>
          <p:cNvSpPr/>
          <p:nvPr/>
        </p:nvSpPr>
        <p:spPr>
          <a:xfrm>
            <a:off x="8359445"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68" name="Text 66"/>
          <p:cNvSpPr/>
          <p:nvPr/>
        </p:nvSpPr>
        <p:spPr>
          <a:xfrm>
            <a:off x="10051999" y="395935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75.30</a:t>
            </a:r>
            <a:endParaRPr lang="en-US" sz="1350" dirty="0"/>
          </a:p>
        </p:txBody>
      </p:sp>
      <p:sp>
        <p:nvSpPr>
          <p:cNvPr id="69" name="Text 67"/>
          <p:cNvSpPr/>
          <p:nvPr/>
        </p:nvSpPr>
        <p:spPr>
          <a:xfrm>
            <a:off x="8359445"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70" name="Text 68"/>
          <p:cNvSpPr/>
          <p:nvPr/>
        </p:nvSpPr>
        <p:spPr>
          <a:xfrm>
            <a:off x="10051999" y="424738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18.67</a:t>
            </a:r>
            <a:endParaRPr lang="en-US" sz="1350" dirty="0"/>
          </a:p>
        </p:txBody>
      </p:sp>
      <p:sp>
        <p:nvSpPr>
          <p:cNvPr id="71" name="Text 69"/>
          <p:cNvSpPr/>
          <p:nvPr/>
        </p:nvSpPr>
        <p:spPr>
          <a:xfrm>
            <a:off x="8359445"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72" name="Text 70"/>
          <p:cNvSpPr/>
          <p:nvPr/>
        </p:nvSpPr>
        <p:spPr>
          <a:xfrm>
            <a:off x="10051999" y="453542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22.6%</a:t>
            </a:r>
            <a:endParaRPr lang="en-US" sz="1250" dirty="0"/>
          </a:p>
        </p:txBody>
      </p:sp>
      <p:sp>
        <p:nvSpPr>
          <p:cNvPr id="73" name="Text 71"/>
          <p:cNvSpPr/>
          <p:nvPr/>
        </p:nvSpPr>
        <p:spPr>
          <a:xfrm>
            <a:off x="8359445"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74" name="Text 72"/>
          <p:cNvSpPr/>
          <p:nvPr/>
        </p:nvSpPr>
        <p:spPr>
          <a:xfrm>
            <a:off x="10051999" y="4823460"/>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33.0%</a:t>
            </a:r>
            <a:endParaRPr lang="en-US" sz="1250" dirty="0"/>
          </a:p>
        </p:txBody>
      </p:sp>
      <p:sp>
        <p:nvSpPr>
          <p:cNvPr id="75" name="Text 73"/>
          <p:cNvSpPr/>
          <p:nvPr/>
        </p:nvSpPr>
        <p:spPr>
          <a:xfrm>
            <a:off x="8359445"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年10%（会社資料水準）</a:t>
            </a:r>
            <a:endParaRPr lang="en-US" sz="900" dirty="0"/>
          </a:p>
        </p:txBody>
      </p:sp>
      <p:sp>
        <p:nvSpPr>
          <p:cNvPr id="76" name="Text 74"/>
          <p:cNvSpPr/>
          <p:nvPr/>
        </p:nvSpPr>
        <p:spPr>
          <a:xfrm>
            <a:off x="658368" y="5687568"/>
            <a:ext cx="10874959" cy="365760"/>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市中仕入原価・時価・SPC簿価は3案とも同じである。卸値が時価に連動して決まるため、仕入が安くなっても高くなっても、また売値が上下しても、SPCの簿価と時価の関係は変わらない。SPCの粗利を左右するのは保有中の値上がりのみとなり、年6%の主線で単位粗利15.93・投下簿価利益率28.1%となる。</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COST ASSUMPTIONS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SPC費用の前提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共通費用とチャネル別の変動販売費に分けて計上。監査・法務まで含め、利回りを作るための圧縮は行っていない。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10</a:t>
            </a:r>
            <a:endParaRPr lang="en-US" sz="950" dirty="0"/>
          </a:p>
        </p:txBody>
      </p:sp>
      <p:sp>
        <p:nvSpPr>
          <p:cNvPr id="7" name="Text 5"/>
          <p:cNvSpPr/>
          <p:nvPr/>
        </p:nvSpPr>
        <p:spPr>
          <a:xfrm>
            <a:off x="658368" y="1627632"/>
            <a:ext cx="27432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共通費用</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792224"/>
          <a:ext cx="10874959" cy="914400"/>
        </p:xfrm>
        <a:graphic>
          <a:graphicData uri="http://schemas.openxmlformats.org/drawingml/2006/table">
            <a:tbl>
              <a:tblPr/>
              <a:tblGrid>
                <a:gridCol w="2331720"/>
                <a:gridCol w="1965960"/>
                <a:gridCol w="6574536"/>
              </a:tblGrid>
              <a:tr h="27889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費用項目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単価・料率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根拠・備考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保管（定温倉庫）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年7,500円／ロット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1ロット＝定価100万円相当（約40本）。月約16円／本で業務用パレット定温保管の一般水準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動産総合保険</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平均在庫簿価の年0.15%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火災・破損・盗難・輸送中事故を全量付保。滞留・破損ロスは保険でカバーするため別途計上しない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入庫・検品</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入庫時の検品・棚入れ。出庫費用はチャネル別の変動販売費に含む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SPC維持費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年200万円（固定）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税務・事務受託・法務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管理報酬</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総額の年2%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1stクローズで年1,000万円、2ndクローズで年2,000万円。売却時にWineBankが取るのはこれのみ</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AUP（合意された手続）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年150万円（固定）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取得価格・在庫配分の検証に加え、銀行残高確認・関連当事者取引の確認・期末棚卸立会を含む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予備費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想定外の実費に充当。未使用分はSPCの利益に残る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WineBankの値入れ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SPC費用ではない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卸値（時価−α）に含まれ、SPCの簿価を構成する。費用として別途計上しない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Text 6"/>
          <p:cNvSpPr/>
          <p:nvPr/>
        </p:nvSpPr>
        <p:spPr>
          <a:xfrm>
            <a:off x="658368" y="4334256"/>
            <a:ext cx="45720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チャネル別 変動販売費（売上比）</a:t>
            </a:r>
            <a:endParaRPr lang="en-US" sz="1100" dirty="0"/>
          </a:p>
        </p:txBody>
      </p:sp>
      <p:sp>
        <p:nvSpPr>
          <p:cNvPr id="10" name="Shape 7"/>
          <p:cNvSpPr/>
          <p:nvPr/>
        </p:nvSpPr>
        <p:spPr>
          <a:xfrm>
            <a:off x="658368" y="4572000"/>
            <a:ext cx="3442106" cy="1097280"/>
          </a:xfrm>
          <a:prstGeom prst="roundRect">
            <a:avLst>
              <a:gd name="adj" fmla="val 3750"/>
            </a:avLst>
          </a:prstGeom>
          <a:solidFill>
            <a:srgbClr val="171614"/>
          </a:solidFill>
          <a:ln w="9525">
            <a:solidFill>
              <a:srgbClr val="2E2A24"/>
            </a:solidFill>
            <a:prstDash val="solid"/>
          </a:ln>
        </p:spPr>
      </p:sp>
      <p:sp>
        <p:nvSpPr>
          <p:cNvPr id="11" name="Text 8"/>
          <p:cNvSpPr/>
          <p:nvPr/>
        </p:nvSpPr>
        <p:spPr>
          <a:xfrm>
            <a:off x="896112"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B2B｜酒販店卸</a:t>
            </a:r>
            <a:endParaRPr lang="en-US" sz="1100" dirty="0"/>
          </a:p>
        </p:txBody>
      </p:sp>
      <p:sp>
        <p:nvSpPr>
          <p:cNvPr id="12" name="Text 9"/>
          <p:cNvSpPr/>
          <p:nvPr/>
        </p:nvSpPr>
        <p:spPr>
          <a:xfrm>
            <a:off x="2783738"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1.0</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3" name="Text 10"/>
          <p:cNvSpPr/>
          <p:nvPr/>
        </p:nvSpPr>
        <p:spPr>
          <a:xfrm>
            <a:off x="896112"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出庫・配送 0.6%　／　決済・与信（貸倒引当）0.4%</a:t>
            </a:r>
            <a:endParaRPr lang="en-US" sz="900" dirty="0"/>
          </a:p>
        </p:txBody>
      </p:sp>
      <p:sp>
        <p:nvSpPr>
          <p:cNvPr id="14" name="Shape 11"/>
          <p:cNvSpPr/>
          <p:nvPr/>
        </p:nvSpPr>
        <p:spPr>
          <a:xfrm>
            <a:off x="4374794" y="4572000"/>
            <a:ext cx="3442106" cy="1097280"/>
          </a:xfrm>
          <a:prstGeom prst="roundRect">
            <a:avLst>
              <a:gd name="adj" fmla="val 3750"/>
            </a:avLst>
          </a:prstGeom>
          <a:solidFill>
            <a:srgbClr val="171614"/>
          </a:solidFill>
          <a:ln w="9525">
            <a:solidFill>
              <a:srgbClr val="2E2A24"/>
            </a:solidFill>
            <a:prstDash val="solid"/>
          </a:ln>
        </p:spPr>
      </p:sp>
      <p:sp>
        <p:nvSpPr>
          <p:cNvPr id="15" name="Text 12"/>
          <p:cNvSpPr/>
          <p:nvPr/>
        </p:nvSpPr>
        <p:spPr>
          <a:xfrm>
            <a:off x="4612538"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B2C｜自社EC・オークション</a:t>
            </a:r>
            <a:endParaRPr lang="en-US" sz="1100" dirty="0"/>
          </a:p>
        </p:txBody>
      </p:sp>
      <p:sp>
        <p:nvSpPr>
          <p:cNvPr id="16" name="Text 13"/>
          <p:cNvSpPr/>
          <p:nvPr/>
        </p:nvSpPr>
        <p:spPr>
          <a:xfrm>
            <a:off x="6500165"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15.5</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7" name="Text 14"/>
          <p:cNvSpPr/>
          <p:nvPr/>
        </p:nvSpPr>
        <p:spPr>
          <a:xfrm>
            <a:off x="4612538"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販路手数料（決済込み）13.0%　／　出庫・梱包・クール便 2.5%</a:t>
            </a:r>
            <a:endParaRPr lang="en-US" sz="900" dirty="0"/>
          </a:p>
        </p:txBody>
      </p:sp>
      <p:sp>
        <p:nvSpPr>
          <p:cNvPr id="18" name="Shape 15"/>
          <p:cNvSpPr/>
          <p:nvPr/>
        </p:nvSpPr>
        <p:spPr>
          <a:xfrm>
            <a:off x="8091221" y="4572000"/>
            <a:ext cx="3442106" cy="1097280"/>
          </a:xfrm>
          <a:prstGeom prst="roundRect">
            <a:avLst>
              <a:gd name="adj" fmla="val 3750"/>
            </a:avLst>
          </a:prstGeom>
          <a:solidFill>
            <a:srgbClr val="1F1D19"/>
          </a:solidFill>
          <a:ln w="9525">
            <a:solidFill>
              <a:srgbClr val="6E5730"/>
            </a:solidFill>
            <a:prstDash val="solid"/>
          </a:ln>
        </p:spPr>
      </p:sp>
      <p:sp>
        <p:nvSpPr>
          <p:cNvPr id="19" name="Text 16"/>
          <p:cNvSpPr/>
          <p:nvPr/>
        </p:nvSpPr>
        <p:spPr>
          <a:xfrm>
            <a:off x="8328965" y="4700016"/>
            <a:ext cx="2070506"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加重平均（半々）</a:t>
            </a:r>
            <a:endParaRPr lang="en-US" sz="1100" dirty="0"/>
          </a:p>
        </p:txBody>
      </p:sp>
      <p:sp>
        <p:nvSpPr>
          <p:cNvPr id="20" name="Text 17"/>
          <p:cNvSpPr/>
          <p:nvPr/>
        </p:nvSpPr>
        <p:spPr>
          <a:xfrm>
            <a:off x="10216591"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8.73</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21" name="Text 18"/>
          <p:cNvSpPr/>
          <p:nvPr/>
        </p:nvSpPr>
        <p:spPr>
          <a:xfrm>
            <a:off x="8328965"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売値ベースの加重平均　／　定価100あたり ▲6.55</a:t>
            </a:r>
            <a:endParaRPr lang="en-US" sz="900" dirty="0"/>
          </a:p>
        </p:txBody>
      </p:sp>
      <p:sp>
        <p:nvSpPr>
          <p:cNvPr id="22" name="Text 19"/>
          <p:cNvSpPr/>
          <p:nvPr/>
        </p:nvSpPr>
        <p:spPr>
          <a:xfrm>
            <a:off x="658368" y="5724144"/>
            <a:ext cx="10874959" cy="438912"/>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保管料は業務用パレット定温保管の水準（月10〜20円／本）。個人向けセラー預かり（月100〜150円／本）とは別の料金帯。ファーストクローズの主線（回転12ヶ月・年間販売6.67億円）における年間SPC費用の合計は7,951万円で、内訳は変動販売費5,824万円・保管629万円・固定費1,400万円（うち管理報酬1,000万円）・保険71万円・入庫27万円。その他の運用前提：総額の95%をワイン購入に充当（現金5%）／仕入展開6ヶ月／ローリング運用／利益は複利再投資せず年1回分配／税前利益は出資比率どおり60：40で配分／利回りは投資家の税引前ベース。販路手数料・決済手数料の年度合計が売上高の10%を超える部分はWineBank負担（契約第11条第6項）。</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ニュートラル：在庫回転期間別シミュレーション</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SPC簿価56.63（時価75.00▲24.5%）・ワイン価格上昇 年6%／ファーストクローズ総額5億円・税前利益を出資比率60：40で配分・稼働率95%</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11</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1664208"/>
          <a:ext cx="10874959" cy="914400"/>
        </p:xfrm>
        <a:graphic>
          <a:graphicData uri="http://schemas.openxmlformats.org/drawingml/2006/table">
            <a:tbl>
              <a:tblPr/>
              <a:tblGrid>
                <a:gridCol w="1389888"/>
                <a:gridCol w="859536"/>
                <a:gridCol w="859536"/>
                <a:gridCol w="731520"/>
                <a:gridCol w="1042416"/>
                <a:gridCol w="1225296"/>
                <a:gridCol w="1298448"/>
                <a:gridCol w="1005840"/>
                <a:gridCol w="969264"/>
                <a:gridCol w="1490472"/>
              </a:tblGrid>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年間粗利※</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粗利率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投資家（40%）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WineBank（60%）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5年累計分配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8.76億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1.66億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1.45億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27.8%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6.67億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1.12億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22.5%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200百万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5.41億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0.93億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56百万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18.6%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161百万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4.58億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0.80億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161百万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12464"/>
            <a:ext cx="5532120" cy="1810512"/>
          </a:xfrm>
          <a:prstGeom prst="roundRect">
            <a:avLst>
              <a:gd name="adj" fmla="val 2273"/>
            </a:avLst>
          </a:prstGeom>
          <a:solidFill>
            <a:srgbClr val="1F1D19"/>
          </a:solidFill>
          <a:ln w="9525">
            <a:solidFill>
              <a:srgbClr val="6E5730"/>
            </a:solidFill>
            <a:prstDash val="solid"/>
          </a:ln>
        </p:spPr>
      </p:sp>
      <p:sp>
        <p:nvSpPr>
          <p:cNvPr id="9" name="Text 6"/>
          <p:cNvSpPr/>
          <p:nvPr/>
        </p:nvSpPr>
        <p:spPr>
          <a:xfrm>
            <a:off x="914400" y="3840480"/>
            <a:ext cx="502920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粗利率20.0%がフル稼働時の単年22.5%になる理由</a:t>
            </a:r>
            <a:endParaRPr lang="en-US" sz="1150" dirty="0"/>
          </a:p>
        </p:txBody>
      </p:sp>
      <p:sp>
        <p:nvSpPr>
          <p:cNvPr id="10" name="Text 7"/>
          <p:cNvSpPr/>
          <p:nvPr/>
        </p:nvSpPr>
        <p:spPr>
          <a:xfrm>
            <a:off x="914400" y="413308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定価100あたり</a:t>
            </a:r>
            <a:endParaRPr lang="en-US" sz="950" dirty="0"/>
          </a:p>
        </p:txBody>
      </p:sp>
      <p:sp>
        <p:nvSpPr>
          <p:cNvPr id="11" name="Text 8"/>
          <p:cNvSpPr/>
          <p:nvPr/>
        </p:nvSpPr>
        <p:spPr>
          <a:xfrm>
            <a:off x="2688336" y="413308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簿価56.63で取得し、手取り72.56で回収 → 単位粗利15.93</a:t>
            </a:r>
            <a:endParaRPr lang="en-US" sz="850" dirty="0"/>
          </a:p>
        </p:txBody>
      </p:sp>
      <p:sp>
        <p:nvSpPr>
          <p:cNvPr id="12" name="Text 9"/>
          <p:cNvSpPr/>
          <p:nvPr/>
        </p:nvSpPr>
        <p:spPr>
          <a:xfrm>
            <a:off x="914400" y="440740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粗利率 20.0%</a:t>
            </a:r>
            <a:endParaRPr lang="en-US" sz="950" dirty="0"/>
          </a:p>
        </p:txBody>
      </p:sp>
      <p:sp>
        <p:nvSpPr>
          <p:cNvPr id="13" name="Text 10"/>
          <p:cNvSpPr/>
          <p:nvPr/>
        </p:nvSpPr>
        <p:spPr>
          <a:xfrm>
            <a:off x="2688336" y="440740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分母は売却時の売値79.50</a:t>
            </a:r>
            <a:endParaRPr lang="en-US" sz="850" dirty="0"/>
          </a:p>
        </p:txBody>
      </p:sp>
      <p:sp>
        <p:nvSpPr>
          <p:cNvPr id="14" name="Text 11"/>
          <p:cNvSpPr/>
          <p:nvPr/>
        </p:nvSpPr>
        <p:spPr>
          <a:xfrm>
            <a:off x="914400" y="4681728"/>
            <a:ext cx="1737360" cy="256032"/>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投下簿価利益率 28.1%</a:t>
            </a:r>
            <a:endParaRPr lang="en-US" sz="950" dirty="0"/>
          </a:p>
        </p:txBody>
      </p:sp>
      <p:sp>
        <p:nvSpPr>
          <p:cNvPr id="15" name="Text 12"/>
          <p:cNvSpPr/>
          <p:nvPr/>
        </p:nvSpPr>
        <p:spPr>
          <a:xfrm>
            <a:off x="2688336" y="468172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分母は投下資本であるSPC簿価56.63</a:t>
            </a:r>
            <a:endParaRPr lang="en-US" sz="850" dirty="0"/>
          </a:p>
        </p:txBody>
      </p:sp>
      <p:sp>
        <p:nvSpPr>
          <p:cNvPr id="16" name="Text 13"/>
          <p:cNvSpPr/>
          <p:nvPr/>
        </p:nvSpPr>
        <p:spPr>
          <a:xfrm>
            <a:off x="914400" y="495604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税前利益 1.12億円</a:t>
            </a:r>
            <a:endParaRPr lang="en-US" sz="950" dirty="0"/>
          </a:p>
        </p:txBody>
      </p:sp>
      <p:sp>
        <p:nvSpPr>
          <p:cNvPr id="17" name="Text 14"/>
          <p:cNvSpPr/>
          <p:nvPr/>
        </p:nvSpPr>
        <p:spPr>
          <a:xfrm>
            <a:off x="2688336" y="495604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SPC費用 計7,951万円を控除した後の年間税前利益</a:t>
            </a:r>
            <a:endParaRPr lang="en-US" sz="850" dirty="0"/>
          </a:p>
        </p:txBody>
      </p:sp>
      <p:sp>
        <p:nvSpPr>
          <p:cNvPr id="18" name="Text 15"/>
          <p:cNvSpPr/>
          <p:nvPr/>
        </p:nvSpPr>
        <p:spPr>
          <a:xfrm>
            <a:off x="914400" y="5230368"/>
            <a:ext cx="1737360" cy="256032"/>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フル稼働時の単年 22.5%</a:t>
            </a:r>
            <a:endParaRPr lang="en-US" sz="950" dirty="0"/>
          </a:p>
        </p:txBody>
      </p:sp>
      <p:sp>
        <p:nvSpPr>
          <p:cNvPr id="19" name="Text 16"/>
          <p:cNvSpPr/>
          <p:nvPr/>
        </p:nvSpPr>
        <p:spPr>
          <a:xfrm>
            <a:off x="2688336" y="523036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税前利益の40%＝45百万円 ÷ 出資2億円。年平均では20.0%</a:t>
            </a:r>
            <a:endParaRPr lang="en-US" sz="850" dirty="0"/>
          </a:p>
        </p:txBody>
      </p:sp>
      <p:sp>
        <p:nvSpPr>
          <p:cNvPr id="20" name="Shape 17"/>
          <p:cNvSpPr/>
          <p:nvPr/>
        </p:nvSpPr>
        <p:spPr>
          <a:xfrm>
            <a:off x="6464808" y="3712464"/>
            <a:ext cx="5068519" cy="1810512"/>
          </a:xfrm>
          <a:prstGeom prst="roundRect">
            <a:avLst>
              <a:gd name="adj" fmla="val 2273"/>
            </a:avLst>
          </a:prstGeom>
          <a:solidFill>
            <a:srgbClr val="1F1D19"/>
          </a:solidFill>
          <a:ln w="9525">
            <a:solidFill>
              <a:srgbClr val="6E5730"/>
            </a:solidFill>
            <a:prstDash val="solid"/>
          </a:ln>
        </p:spPr>
      </p:sp>
      <p:sp>
        <p:nvSpPr>
          <p:cNvPr id="21" name="Text 18"/>
          <p:cNvSpPr/>
          <p:nvPr/>
        </p:nvSpPr>
        <p:spPr>
          <a:xfrm>
            <a:off x="6720840" y="3877056"/>
            <a:ext cx="36576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想定レンジのご提示</a:t>
            </a:r>
            <a:endParaRPr lang="en-US" sz="1200" dirty="0"/>
          </a:p>
        </p:txBody>
      </p:sp>
      <p:sp>
        <p:nvSpPr>
          <p:cNvPr id="22" name="Text 19"/>
          <p:cNvSpPr/>
          <p:nvPr/>
        </p:nvSpPr>
        <p:spPr>
          <a:xfrm>
            <a:off x="6720840" y="4151376"/>
            <a:ext cx="4519879" cy="219456"/>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投資家利回り（年平均・税引前）</a:t>
            </a:r>
            <a:endParaRPr lang="en-US" sz="1050" dirty="0"/>
          </a:p>
        </p:txBody>
      </p:sp>
      <p:sp>
        <p:nvSpPr>
          <p:cNvPr id="23" name="Text 20"/>
          <p:cNvSpPr/>
          <p:nvPr/>
        </p:nvSpPr>
        <p:spPr>
          <a:xfrm>
            <a:off x="6720840" y="4370832"/>
            <a:ext cx="4519879"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16.1 – 27.8</a:t>
            </a:r>
            <a:pPr indent="0" marL="0">
              <a:buNone/>
            </a:pPr>
            <a:r>
              <a:rPr lang="en-US" sz="150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4" name="Text 21"/>
          <p:cNvSpPr/>
          <p:nvPr/>
        </p:nvSpPr>
        <p:spPr>
          <a:xfrm>
            <a:off x="6720840" y="4882896"/>
            <a:ext cx="4519879" cy="53035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主線の回転12ヶ月で20.0%と貴社基準20%を満たす（フル稼働時の単年では22.5%）。20%の分岐点は回転12.3ヶ月であり、主線に余裕はない。15ヶ月まで延びると16.1%となり基準を下回る。</a:t>
            </a:r>
            <a:endParaRPr lang="en-US" sz="1000" dirty="0"/>
          </a:p>
        </p:txBody>
      </p:sp>
      <p:sp>
        <p:nvSpPr>
          <p:cNvPr id="25" name="Text 22"/>
          <p:cNvSpPr/>
          <p:nvPr/>
        </p:nvSpPr>
        <p:spPr>
          <a:xfrm>
            <a:off x="658368" y="5614416"/>
            <a:ext cx="10874959" cy="201168"/>
          </a:xfrm>
          <a:prstGeom prst="rect">
            <a:avLst/>
          </a:prstGeom>
          <a:noFill/>
          <a:ln/>
        </p:spPr>
        <p:txBody>
          <a:bodyPr wrap="square" lIns="0" tIns="0" rIns="0" bIns="0" rtlCol="0" anchor="ctr"/>
          <a:lstStyle/>
          <a:p>
            <a:pPr indent="0" marL="0">
              <a:buNone/>
            </a:pPr>
            <a:r>
              <a:rPr lang="en-US" sz="800" dirty="0">
                <a:solidFill>
                  <a:srgbClr val="6E675E"/>
                </a:solidFill>
                <a:latin typeface="Yu Gothic" pitchFamily="34" charset="0"/>
                <a:ea typeface="Yu Gothic" pitchFamily="34" charset="-122"/>
                <a:cs typeface="Yu Gothic" pitchFamily="34" charset="-120"/>
              </a:rPr>
              <a:t>※ 年間粗利は変動販売費控除後。年平均は仕入展開6ヶ月の立ち上がりを含み、満期に残る在庫（最終回転分）は清算期間に時価の10%引きで売却したものとして計上する（従前は簿価償還としていたため15ヶ月と18ヶ月で逆転が生じていた）。</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在庫回転期間と投資家リターンの関係</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いずれも投資家出資2億円に対する数値。年平均20%の分岐点は回転12.3ヶ月であり、主線12ヶ月に余裕はない。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12</a:t>
            </a:r>
            <a:endParaRPr lang="en-US" sz="950" dirty="0"/>
          </a:p>
        </p:txBody>
      </p:sp>
      <p:sp>
        <p:nvSpPr>
          <p:cNvPr id="7" name="Shape 5"/>
          <p:cNvSpPr/>
          <p:nvPr/>
        </p:nvSpPr>
        <p:spPr>
          <a:xfrm>
            <a:off x="658368"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8" name="Chart 0" descr=""/>
          <p:cNvGraphicFramePr/>
          <p:nvPr/>
        </p:nvGraphicFramePr>
        <p:xfrm>
          <a:off x="786384" y="1737360"/>
          <a:ext cx="5035144" cy="2432304"/>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242152"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10" name="Chart 1" descr=""/>
          <p:cNvGraphicFramePr/>
          <p:nvPr/>
        </p:nvGraphicFramePr>
        <p:xfrm>
          <a:off x="6370168" y="1737360"/>
          <a:ext cx="5035144" cy="2432304"/>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658368" y="4443984"/>
            <a:ext cx="5300320" cy="1225296"/>
          </a:xfrm>
          <a:prstGeom prst="roundRect">
            <a:avLst>
              <a:gd name="adj" fmla="val 3358"/>
            </a:avLst>
          </a:prstGeom>
          <a:solidFill>
            <a:srgbClr val="1F1D19"/>
          </a:solidFill>
          <a:ln w="9525">
            <a:solidFill>
              <a:srgbClr val="6E5730"/>
            </a:solidFill>
            <a:prstDash val="solid"/>
          </a:ln>
        </p:spPr>
      </p:sp>
      <p:sp>
        <p:nvSpPr>
          <p:cNvPr id="12" name="Text 8"/>
          <p:cNvSpPr/>
          <p:nvPr/>
        </p:nvSpPr>
        <p:spPr>
          <a:xfrm>
            <a:off x="91440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回転12ヶ月が必須条件</a:t>
            </a:r>
            <a:endParaRPr lang="en-US" sz="1200" dirty="0"/>
          </a:p>
        </p:txBody>
      </p:sp>
      <p:sp>
        <p:nvSpPr>
          <p:cNvPr id="13" name="Text 9"/>
          <p:cNvSpPr/>
          <p:nvPr/>
        </p:nvSpPr>
        <p:spPr>
          <a:xfrm>
            <a:off x="914400" y="4901184"/>
            <a:ext cx="4788256" cy="658368"/>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年平均20%の分岐点は回転12.3ヶ月。主線12ヶ月に余裕はなく、回転12ヶ月の達成が貴社基準を満たすための必須条件となる。ただし必要な年間販売額は6.67億円と、現状の販売実力（年5〜7億円）の範囲内にある。</a:t>
            </a:r>
            <a:endParaRPr lang="en-US" sz="950" dirty="0"/>
          </a:p>
        </p:txBody>
      </p:sp>
      <p:sp>
        <p:nvSpPr>
          <p:cNvPr id="14" name="Shape 10"/>
          <p:cNvSpPr/>
          <p:nvPr/>
        </p:nvSpPr>
        <p:spPr>
          <a:xfrm>
            <a:off x="6233008" y="4443984"/>
            <a:ext cx="5300320" cy="1225296"/>
          </a:xfrm>
          <a:prstGeom prst="roundRect">
            <a:avLst>
              <a:gd name="adj" fmla="val 3358"/>
            </a:avLst>
          </a:prstGeom>
          <a:solidFill>
            <a:srgbClr val="171614"/>
          </a:solidFill>
          <a:ln w="9525">
            <a:solidFill>
              <a:srgbClr val="2E2A24"/>
            </a:solidFill>
            <a:prstDash val="solid"/>
          </a:ln>
        </p:spPr>
      </p:sp>
      <p:sp>
        <p:nvSpPr>
          <p:cNvPr id="15" name="Text 11"/>
          <p:cNvSpPr/>
          <p:nvPr/>
        </p:nvSpPr>
        <p:spPr>
          <a:xfrm>
            <a:off x="648904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値上がりが利回りの主たる変動要因になる</a:t>
            </a:r>
            <a:endParaRPr lang="en-US" sz="1200" dirty="0"/>
          </a:p>
        </p:txBody>
      </p:sp>
      <p:sp>
        <p:nvSpPr>
          <p:cNvPr id="16" name="Text 12"/>
          <p:cNvSpPr/>
          <p:nvPr/>
        </p:nvSpPr>
        <p:spPr>
          <a:xfrm>
            <a:off x="6489040" y="4901184"/>
            <a:ext cx="4788256" cy="658368"/>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卸値が時価に連動するため、仕入価格と売値の変動は投資家利回りにほとんど効かない。代わりに保有中の値上がりが効き、年6%を織り込まない場合は主線でもフル稼働時の単年15.6%・年平均13.6%まで下がる（次頁）。</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PRICE APPRECIATION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ワイン価格の上昇をどう織り込むか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卸値が時価に連動するため、SPCの収益は「αの取り込み」と「保有中の値上がり」の二階建てになる。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13</a:t>
            </a:r>
            <a:endParaRPr lang="en-US" sz="950" dirty="0"/>
          </a:p>
        </p:txBody>
      </p:sp>
      <p:sp>
        <p:nvSpPr>
          <p:cNvPr id="7" name="Shape 5"/>
          <p:cNvSpPr/>
          <p:nvPr/>
        </p:nvSpPr>
        <p:spPr>
          <a:xfrm>
            <a:off x="658368" y="1664208"/>
            <a:ext cx="5291176" cy="1572768"/>
          </a:xfrm>
          <a:prstGeom prst="roundRect">
            <a:avLst>
              <a:gd name="adj" fmla="val 2616"/>
            </a:avLst>
          </a:prstGeom>
          <a:solidFill>
            <a:srgbClr val="171614"/>
          </a:solidFill>
          <a:ln w="9525">
            <a:solidFill>
              <a:srgbClr val="2E2A24"/>
            </a:solidFill>
            <a:prstDash val="solid"/>
          </a:ln>
        </p:spPr>
      </p:sp>
      <p:sp>
        <p:nvSpPr>
          <p:cNvPr id="8" name="Text 6"/>
          <p:cNvSpPr/>
          <p:nvPr/>
        </p:nvSpPr>
        <p:spPr>
          <a:xfrm>
            <a:off x="914400" y="1810512"/>
            <a:ext cx="2913736"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フロー｜αの取り込み</a:t>
            </a:r>
            <a:endParaRPr lang="en-US" sz="1250" dirty="0"/>
          </a:p>
        </p:txBody>
      </p:sp>
      <p:sp>
        <p:nvSpPr>
          <p:cNvPr id="9" name="Text 7"/>
          <p:cNvSpPr/>
          <p:nvPr/>
        </p:nvSpPr>
        <p:spPr>
          <a:xfrm>
            <a:off x="3626968"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回転に対するリターン</a:t>
            </a:r>
            <a:endParaRPr lang="en-US" sz="950" dirty="0"/>
          </a:p>
        </p:txBody>
      </p:sp>
      <p:sp>
        <p:nvSpPr>
          <p:cNvPr id="10" name="Text 8"/>
          <p:cNvSpPr/>
          <p:nvPr/>
        </p:nvSpPr>
        <p:spPr>
          <a:xfrm>
            <a:off x="914400"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時価より24.5%安く仕入れた分を売却時に取り込む。年に何回まわせるかに比例するため、回転期間が短いほど大きくなる。</a:t>
            </a:r>
            <a:endParaRPr lang="en-US" sz="950" dirty="0"/>
          </a:p>
        </p:txBody>
      </p:sp>
      <p:sp>
        <p:nvSpPr>
          <p:cNvPr id="11" name="Text 9"/>
          <p:cNvSpPr/>
          <p:nvPr/>
        </p:nvSpPr>
        <p:spPr>
          <a:xfrm>
            <a:off x="914400"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主線（回転12ヶ月）で 15.6%</a:t>
            </a:r>
            <a:endParaRPr lang="en-US" sz="1300" dirty="0"/>
          </a:p>
        </p:txBody>
      </p:sp>
      <p:sp>
        <p:nvSpPr>
          <p:cNvPr id="12" name="Shape 10"/>
          <p:cNvSpPr/>
          <p:nvPr/>
        </p:nvSpPr>
        <p:spPr>
          <a:xfrm>
            <a:off x="6242152" y="1664208"/>
            <a:ext cx="5291176" cy="1572768"/>
          </a:xfrm>
          <a:prstGeom prst="roundRect">
            <a:avLst>
              <a:gd name="adj" fmla="val 2616"/>
            </a:avLst>
          </a:prstGeom>
          <a:solidFill>
            <a:srgbClr val="1F1D19"/>
          </a:solidFill>
          <a:ln w="9525">
            <a:solidFill>
              <a:srgbClr val="6E5730"/>
            </a:solidFill>
            <a:prstDash val="solid"/>
          </a:ln>
        </p:spPr>
      </p:sp>
      <p:sp>
        <p:nvSpPr>
          <p:cNvPr id="13" name="Text 11"/>
          <p:cNvSpPr/>
          <p:nvPr/>
        </p:nvSpPr>
        <p:spPr>
          <a:xfrm>
            <a:off x="6498184" y="1810512"/>
            <a:ext cx="291373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ストック｜ワインの値上がり</a:t>
            </a:r>
            <a:endParaRPr lang="en-US" sz="1250" dirty="0"/>
          </a:p>
        </p:txBody>
      </p:sp>
      <p:sp>
        <p:nvSpPr>
          <p:cNvPr id="14" name="Text 12"/>
          <p:cNvSpPr/>
          <p:nvPr/>
        </p:nvSpPr>
        <p:spPr>
          <a:xfrm>
            <a:off x="9210751"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在庫に対するリターン</a:t>
            </a:r>
            <a:endParaRPr lang="en-US" sz="950" dirty="0"/>
          </a:p>
        </p:txBody>
      </p:sp>
      <p:sp>
        <p:nvSpPr>
          <p:cNvPr id="15" name="Text 13"/>
          <p:cNvSpPr/>
          <p:nvPr/>
        </p:nvSpPr>
        <p:spPr>
          <a:xfrm>
            <a:off x="6498184"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保有している間、価格帯全体が年6%上昇する。在庫金額に対して発生するため、回転期間によらずほぼ一定になる。</a:t>
            </a:r>
            <a:endParaRPr lang="en-US" sz="950" dirty="0"/>
          </a:p>
        </p:txBody>
      </p:sp>
      <p:sp>
        <p:nvSpPr>
          <p:cNvPr id="16" name="Text 14"/>
          <p:cNvSpPr/>
          <p:nvPr/>
        </p:nvSpPr>
        <p:spPr>
          <a:xfrm>
            <a:off x="6498184"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回転期間によらず 約 ＋6.9pt</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3346704"/>
          <a:ext cx="10874959" cy="914400"/>
        </p:xfrm>
        <a:graphic>
          <a:graphicData uri="http://schemas.openxmlformats.org/drawingml/2006/table">
            <a:tbl>
              <a:tblPr/>
              <a:tblGrid>
                <a:gridCol w="2057400"/>
                <a:gridCol w="1874520"/>
                <a:gridCol w="2788920"/>
                <a:gridCol w="2148840"/>
                <a:gridCol w="2002536"/>
              </a:tblGrid>
              <a:tr h="34290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売値の上昇倍率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① αの取り込みのみ（上昇0%）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② 値上がりによる上乗せ</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フル稼働時の単年利回り（①＋②）</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＋6.8pt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22.5%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×1.076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18.6%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×1.091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＋7.0pt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8" name="Shape 15"/>
          <p:cNvSpPr/>
          <p:nvPr/>
        </p:nvSpPr>
        <p:spPr>
          <a:xfrm>
            <a:off x="658368" y="5175504"/>
            <a:ext cx="5532120" cy="1024128"/>
          </a:xfrm>
          <a:prstGeom prst="roundRect">
            <a:avLst>
              <a:gd name="adj" fmla="val 4018"/>
            </a:avLst>
          </a:prstGeom>
          <a:solidFill>
            <a:srgbClr val="171614"/>
          </a:solidFill>
          <a:ln w="9525">
            <a:solidFill>
              <a:srgbClr val="2E2A24"/>
            </a:solidFill>
            <a:prstDash val="solid"/>
          </a:ln>
        </p:spPr>
      </p:sp>
      <p:sp>
        <p:nvSpPr>
          <p:cNvPr id="19" name="Text 16"/>
          <p:cNvSpPr/>
          <p:nvPr/>
        </p:nvSpPr>
        <p:spPr>
          <a:xfrm>
            <a:off x="896112" y="5276088"/>
            <a:ext cx="384048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上昇率を変えた場合（主線・フル稼働時の単年）</a:t>
            </a:r>
            <a:endParaRPr lang="en-US" sz="1050" dirty="0"/>
          </a:p>
        </p:txBody>
      </p:sp>
      <p:sp>
        <p:nvSpPr>
          <p:cNvPr id="20" name="Text 17"/>
          <p:cNvSpPr/>
          <p:nvPr/>
        </p:nvSpPr>
        <p:spPr>
          <a:xfrm>
            <a:off x="896112"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0%（横ばい）</a:t>
            </a:r>
            <a:endParaRPr lang="en-US" sz="900" dirty="0"/>
          </a:p>
        </p:txBody>
      </p:sp>
      <p:sp>
        <p:nvSpPr>
          <p:cNvPr id="21" name="Text 18"/>
          <p:cNvSpPr/>
          <p:nvPr/>
        </p:nvSpPr>
        <p:spPr>
          <a:xfrm>
            <a:off x="896112"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15.6%</a:t>
            </a:r>
            <a:endParaRPr lang="en-US" sz="1900" dirty="0"/>
          </a:p>
        </p:txBody>
      </p:sp>
      <p:sp>
        <p:nvSpPr>
          <p:cNvPr id="22" name="Text 19"/>
          <p:cNvSpPr/>
          <p:nvPr/>
        </p:nvSpPr>
        <p:spPr>
          <a:xfrm>
            <a:off x="2596896"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6%（主線）</a:t>
            </a:r>
            <a:endParaRPr lang="en-US" sz="900" dirty="0"/>
          </a:p>
        </p:txBody>
      </p:sp>
      <p:sp>
        <p:nvSpPr>
          <p:cNvPr id="23" name="Text 20"/>
          <p:cNvSpPr/>
          <p:nvPr/>
        </p:nvSpPr>
        <p:spPr>
          <a:xfrm>
            <a:off x="2596896" y="5705856"/>
            <a:ext cx="1627632" cy="310896"/>
          </a:xfrm>
          <a:prstGeom prst="rect">
            <a:avLst/>
          </a:prstGeom>
          <a:noFill/>
          <a:ln/>
        </p:spPr>
        <p:txBody>
          <a:bodyPr wrap="square" lIns="0" tIns="0" rIns="0" bIns="0" rtlCol="0" anchor="ctr"/>
          <a:lstStyle/>
          <a:p>
            <a:pPr indent="0" marL="0">
              <a:buNone/>
            </a:pPr>
            <a:r>
              <a:rPr lang="en-US" sz="1900" b="1" dirty="0">
                <a:solidFill>
                  <a:srgbClr val="C9A96E"/>
                </a:solidFill>
                <a:latin typeface="Cambria" pitchFamily="34" charset="0"/>
                <a:ea typeface="Cambria" pitchFamily="34" charset="-122"/>
                <a:cs typeface="Cambria" pitchFamily="34" charset="-120"/>
              </a:rPr>
              <a:t>22.5%</a:t>
            </a:r>
            <a:endParaRPr lang="en-US" sz="1900" dirty="0"/>
          </a:p>
        </p:txBody>
      </p:sp>
      <p:sp>
        <p:nvSpPr>
          <p:cNvPr id="24" name="Text 21"/>
          <p:cNvSpPr/>
          <p:nvPr/>
        </p:nvSpPr>
        <p:spPr>
          <a:xfrm>
            <a:off x="4297680"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10%（会社資料水準）</a:t>
            </a:r>
            <a:endParaRPr lang="en-US" sz="900" dirty="0"/>
          </a:p>
        </p:txBody>
      </p:sp>
      <p:sp>
        <p:nvSpPr>
          <p:cNvPr id="25" name="Text 22"/>
          <p:cNvSpPr/>
          <p:nvPr/>
        </p:nvSpPr>
        <p:spPr>
          <a:xfrm>
            <a:off x="4297680"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27.1%</a:t>
            </a:r>
            <a:endParaRPr lang="en-US" sz="1900" dirty="0"/>
          </a:p>
        </p:txBody>
      </p:sp>
      <p:sp>
        <p:nvSpPr>
          <p:cNvPr id="26" name="Shape 23"/>
          <p:cNvSpPr/>
          <p:nvPr/>
        </p:nvSpPr>
        <p:spPr>
          <a:xfrm>
            <a:off x="6464808" y="5175504"/>
            <a:ext cx="5068519" cy="1024128"/>
          </a:xfrm>
          <a:prstGeom prst="roundRect">
            <a:avLst>
              <a:gd name="adj" fmla="val 4018"/>
            </a:avLst>
          </a:prstGeom>
          <a:solidFill>
            <a:srgbClr val="1F1D19"/>
          </a:solidFill>
          <a:ln w="9525">
            <a:solidFill>
              <a:srgbClr val="6E5730"/>
            </a:solidFill>
            <a:prstDash val="solid"/>
          </a:ln>
        </p:spPr>
      </p:sp>
      <p:sp>
        <p:nvSpPr>
          <p:cNvPr id="27" name="Text 24"/>
          <p:cNvSpPr/>
          <p:nvPr/>
        </p:nvSpPr>
        <p:spPr>
          <a:xfrm>
            <a:off x="6702552" y="5276088"/>
            <a:ext cx="457200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値上がりの比重が前回より大きい</a:t>
            </a:r>
            <a:endParaRPr lang="en-US" sz="1050" dirty="0"/>
          </a:p>
        </p:txBody>
      </p:sp>
      <p:sp>
        <p:nvSpPr>
          <p:cNvPr id="28" name="Text 25"/>
          <p:cNvSpPr/>
          <p:nvPr/>
        </p:nvSpPr>
        <p:spPr>
          <a:xfrm>
            <a:off x="6702552" y="5504688"/>
            <a:ext cx="4593031" cy="62179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卸値を時価連動にしたことで、仕入価格と売値の変動は投資家利回りに効かなくなった。その代わりSPCの粗利は「αの取り込み」と「値上がり」だけで構成されるため、値上がりを織り込まない場合の低下幅は ▲6.9pt と前回（▲4.0pt）より大きくなる。</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UPSIDE / DOWNSIDE ｜ 副次</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上振れ余地と下振れリスク</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卸値が時価連動であるため、上振れ・下振れを決めるのはワイン価格の上昇率と在庫回転期間になる。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14</a:t>
            </a:r>
            <a:endParaRPr lang="en-US" sz="950" dirty="0"/>
          </a:p>
        </p:txBody>
      </p:sp>
      <p:sp>
        <p:nvSpPr>
          <p:cNvPr id="7" name="Shape 5"/>
          <p:cNvSpPr/>
          <p:nvPr/>
        </p:nvSpPr>
        <p:spPr>
          <a:xfrm>
            <a:off x="658368" y="1645920"/>
            <a:ext cx="5300320" cy="2523744"/>
          </a:xfrm>
          <a:prstGeom prst="roundRect">
            <a:avLst>
              <a:gd name="adj" fmla="val 1630"/>
            </a:avLst>
          </a:prstGeom>
          <a:solidFill>
            <a:srgbClr val="1F1D19"/>
          </a:solidFill>
          <a:ln w="9525">
            <a:solidFill>
              <a:srgbClr val="6E5730"/>
            </a:solidFill>
            <a:prstDash val="solid"/>
          </a:ln>
        </p:spPr>
      </p:sp>
      <p:sp>
        <p:nvSpPr>
          <p:cNvPr id="8" name="Text 6"/>
          <p:cNvSpPr/>
          <p:nvPr/>
        </p:nvSpPr>
        <p:spPr>
          <a:xfrm>
            <a:off x="914400" y="1810512"/>
            <a:ext cx="4788256" cy="256032"/>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ポジティブ｜ワイン価格上昇 年10%（会社資料水準）</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1440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9.01億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33.5%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67百万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32.1%</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6.92億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27.1%</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54百万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24.3%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5.67億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23.3%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47百万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20.5%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4.84億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20.8%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42百万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20.6%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0" name="Text 7"/>
          <p:cNvSpPr/>
          <p:nvPr/>
        </p:nvSpPr>
        <p:spPr>
          <a:xfrm>
            <a:off x="91440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会社資料はFine Wineのリセールバリューを年率10%程度としており、主線の6%はこれに対し保守的に置いたもの。10%が実現すれば回転が18ヶ月へ延びても年平均20.6%と貴社基準を満たし、20%の分岐点は回転18.3ヶ月まで後ろ倒しになる。</a:t>
            </a:r>
            <a:endParaRPr lang="en-US" sz="900" dirty="0"/>
          </a:p>
        </p:txBody>
      </p:sp>
      <p:sp>
        <p:nvSpPr>
          <p:cNvPr id="11" name="Shape 8"/>
          <p:cNvSpPr/>
          <p:nvPr/>
        </p:nvSpPr>
        <p:spPr>
          <a:xfrm>
            <a:off x="6233008" y="1645920"/>
            <a:ext cx="5300320" cy="2523744"/>
          </a:xfrm>
          <a:prstGeom prst="roundRect">
            <a:avLst>
              <a:gd name="adj" fmla="val 1630"/>
            </a:avLst>
          </a:prstGeom>
          <a:solidFill>
            <a:srgbClr val="171614"/>
          </a:solidFill>
          <a:ln w="9525">
            <a:solidFill>
              <a:srgbClr val="2E2A24"/>
            </a:solidFill>
            <a:prstDash val="solid"/>
          </a:ln>
        </p:spPr>
      </p:sp>
      <p:sp>
        <p:nvSpPr>
          <p:cNvPr id="12" name="Text 9"/>
          <p:cNvSpPr/>
          <p:nvPr/>
        </p:nvSpPr>
        <p:spPr>
          <a:xfrm>
            <a:off x="6489040" y="1810512"/>
            <a:ext cx="4788256"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ネガティブ｜ワイン価格が横ばい（上昇0%）</a:t>
            </a:r>
            <a:endParaRPr lang="en-US" sz="115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48904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8.39億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22.2%</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44百万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21.4%</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6.29億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31百万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13.6%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5.03億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11.6%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23百万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9.7%</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4.19億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9.5%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4" name="Text 10"/>
          <p:cNvSpPr/>
          <p:nvPr/>
        </p:nvSpPr>
        <p:spPr>
          <a:xfrm>
            <a:off x="648904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値上がりを一切織り込まない場合。SPCの収益がαの取り込みだけになるため、年平均20%を確保するには回転を9.3ヶ月まで縮める必要があり、主線の12ヶ月では13.6%にとどまる。</a:t>
            </a:r>
            <a:endParaRPr lang="en-US" sz="900" dirty="0"/>
          </a:p>
        </p:txBody>
      </p:sp>
      <p:sp>
        <p:nvSpPr>
          <p:cNvPr id="15" name="Shape 11"/>
          <p:cNvSpPr/>
          <p:nvPr/>
        </p:nvSpPr>
        <p:spPr>
          <a:xfrm>
            <a:off x="658368" y="4334256"/>
            <a:ext cx="10874959" cy="1298448"/>
          </a:xfrm>
          <a:prstGeom prst="roundRect">
            <a:avLst>
              <a:gd name="adj" fmla="val 3169"/>
            </a:avLst>
          </a:prstGeom>
          <a:solidFill>
            <a:srgbClr val="1F1D19"/>
          </a:solidFill>
          <a:ln w="9525">
            <a:solidFill>
              <a:srgbClr val="6E5730"/>
            </a:solidFill>
            <a:prstDash val="solid"/>
          </a:ln>
        </p:spPr>
      </p:sp>
      <p:sp>
        <p:nvSpPr>
          <p:cNvPr id="16" name="Text 12"/>
          <p:cNvSpPr/>
          <p:nvPr/>
        </p:nvSpPr>
        <p:spPr>
          <a:xfrm>
            <a:off x="932688" y="4498848"/>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最重要の示唆</a:t>
            </a:r>
            <a:endParaRPr lang="en-US" sz="1200" dirty="0"/>
          </a:p>
        </p:txBody>
      </p:sp>
      <p:sp>
        <p:nvSpPr>
          <p:cNvPr id="17" name="Text 13"/>
          <p:cNvSpPr/>
          <p:nvPr/>
        </p:nvSpPr>
        <p:spPr>
          <a:xfrm>
            <a:off x="932688" y="4791456"/>
            <a:ext cx="10326319" cy="658368"/>
          </a:xfrm>
          <a:prstGeom prst="rect">
            <a:avLst/>
          </a:prstGeom>
          <a:noFill/>
          <a:ln/>
        </p:spPr>
        <p:txBody>
          <a:bodyPr wrap="square" lIns="0" tIns="0" rIns="0" bIns="0" rtlCol="0" anchor="ctr"/>
          <a:lstStyle/>
          <a:p>
            <a:pPr indent="0" marL="0">
              <a:lnSpc>
                <a:spcPct val="128000"/>
              </a:lnSpc>
              <a:buNone/>
            </a:pPr>
            <a:r>
              <a:rPr lang="en-US" sz="1150" dirty="0">
                <a:solidFill>
                  <a:srgbClr val="EFEBE3"/>
                </a:solidFill>
                <a:latin typeface="Yu Gothic" pitchFamily="34" charset="0"/>
                <a:ea typeface="Yu Gothic" pitchFamily="34" charset="-122"/>
                <a:cs typeface="Yu Gothic" pitchFamily="34" charset="-120"/>
              </a:rPr>
              <a:t>卸値を時価連動にしたことで、「値引きして早く売る」も「安く仕入れる」も投資家利回りには効かなくなった。投資家のリターンを左右するのは在庫回転期間とワイン価格の上昇率の2つだけであり、運用の focus は「流動性の高い銘柄を組み入れ、回転12ヶ月を守ること」に絞られる。値上がりが止まる局面では回転をさらに短縮する必要がある。</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COMPARISON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3シナリオ比較：投資家の年平均利回り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投資家出資2億円に対する5年間の分配の年平均。SPC税前利益を出資比率どおり60：40で配分し、満期の残存在庫は清算期間で売却したものとする。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15</a:t>
            </a:r>
            <a:endParaRPr lang="en-US" sz="950" dirty="0"/>
          </a:p>
        </p:txBody>
      </p:sp>
      <p:sp>
        <p:nvSpPr>
          <p:cNvPr id="7" name="Shape 5"/>
          <p:cNvSpPr/>
          <p:nvPr/>
        </p:nvSpPr>
        <p:spPr>
          <a:xfrm>
            <a:off x="658368" y="1645920"/>
            <a:ext cx="10874959" cy="2724912"/>
          </a:xfrm>
          <a:prstGeom prst="roundRect">
            <a:avLst>
              <a:gd name="adj" fmla="val 1510"/>
            </a:avLst>
          </a:prstGeom>
          <a:solidFill>
            <a:srgbClr val="171614"/>
          </a:solidFill>
          <a:ln w="9525">
            <a:solidFill>
              <a:srgbClr val="2E2A24"/>
            </a:solidFill>
            <a:prstDash val="solid"/>
          </a:ln>
        </p:spPr>
      </p:sp>
      <p:graphicFrame>
        <p:nvGraphicFramePr>
          <p:cNvPr id="8" name="Chart 0" descr=""/>
          <p:cNvGraphicFramePr/>
          <p:nvPr/>
        </p:nvGraphicFramePr>
        <p:xfrm>
          <a:off x="786384" y="1755648"/>
          <a:ext cx="10618927" cy="2505456"/>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58368" y="4535424"/>
            <a:ext cx="3454298" cy="1024128"/>
          </a:xfrm>
          <a:prstGeom prst="roundRect">
            <a:avLst>
              <a:gd name="adj" fmla="val 4018"/>
            </a:avLst>
          </a:prstGeom>
          <a:solidFill>
            <a:srgbClr val="1F1D19"/>
          </a:solidFill>
          <a:ln w="9525">
            <a:solidFill>
              <a:srgbClr val="6E5730"/>
            </a:solidFill>
            <a:prstDash val="solid"/>
          </a:ln>
        </p:spPr>
      </p:sp>
      <p:sp>
        <p:nvSpPr>
          <p:cNvPr id="10" name="Text 7"/>
          <p:cNvSpPr/>
          <p:nvPr/>
        </p:nvSpPr>
        <p:spPr>
          <a:xfrm>
            <a:off x="896112" y="4681728"/>
            <a:ext cx="297881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主線の提示レンジ</a:t>
            </a:r>
            <a:endParaRPr lang="en-US" sz="1150" dirty="0"/>
          </a:p>
        </p:txBody>
      </p:sp>
      <p:sp>
        <p:nvSpPr>
          <p:cNvPr id="11" name="Text 8"/>
          <p:cNvSpPr/>
          <p:nvPr/>
        </p:nvSpPr>
        <p:spPr>
          <a:xfrm>
            <a:off x="89611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回転12ヶ月・上昇6%で年平均20.0%。想定レンジ9〜18ヶ月では16.1%〜27.8%となり、20%を確保できるのは回転12.3ヶ月までとなる。</a:t>
            </a:r>
            <a:endParaRPr lang="en-US" sz="950" dirty="0"/>
          </a:p>
        </p:txBody>
      </p:sp>
      <p:sp>
        <p:nvSpPr>
          <p:cNvPr id="12" name="Shape 9"/>
          <p:cNvSpPr/>
          <p:nvPr/>
        </p:nvSpPr>
        <p:spPr>
          <a:xfrm>
            <a:off x="4368698" y="4535424"/>
            <a:ext cx="3454298" cy="1024128"/>
          </a:xfrm>
          <a:prstGeom prst="roundRect">
            <a:avLst>
              <a:gd name="adj" fmla="val 4018"/>
            </a:avLst>
          </a:prstGeom>
          <a:solidFill>
            <a:srgbClr val="171614"/>
          </a:solidFill>
          <a:ln w="9525">
            <a:solidFill>
              <a:srgbClr val="2E2A24"/>
            </a:solidFill>
            <a:prstDash val="solid"/>
          </a:ln>
        </p:spPr>
      </p:sp>
      <p:sp>
        <p:nvSpPr>
          <p:cNvPr id="13" name="Text 10"/>
          <p:cNvSpPr/>
          <p:nvPr/>
        </p:nvSpPr>
        <p:spPr>
          <a:xfrm>
            <a:off x="4606442"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上振れの条件</a:t>
            </a:r>
            <a:endParaRPr lang="en-US" sz="1150" dirty="0"/>
          </a:p>
        </p:txBody>
      </p:sp>
      <p:sp>
        <p:nvSpPr>
          <p:cNvPr id="14" name="Text 11"/>
          <p:cNvSpPr/>
          <p:nvPr/>
        </p:nvSpPr>
        <p:spPr>
          <a:xfrm>
            <a:off x="460644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ワイン価格が会社資料水準の年10%で上昇した場合。回転が18ヶ月へ延びても20.6%と基準を満たす。</a:t>
            </a:r>
            <a:endParaRPr lang="en-US" sz="950" dirty="0"/>
          </a:p>
        </p:txBody>
      </p:sp>
      <p:sp>
        <p:nvSpPr>
          <p:cNvPr id="15" name="Shape 12"/>
          <p:cNvSpPr/>
          <p:nvPr/>
        </p:nvSpPr>
        <p:spPr>
          <a:xfrm>
            <a:off x="8079029" y="4535424"/>
            <a:ext cx="3454298" cy="1024128"/>
          </a:xfrm>
          <a:prstGeom prst="roundRect">
            <a:avLst>
              <a:gd name="adj" fmla="val 4018"/>
            </a:avLst>
          </a:prstGeom>
          <a:solidFill>
            <a:srgbClr val="171614"/>
          </a:solidFill>
          <a:ln w="9525">
            <a:solidFill>
              <a:srgbClr val="2E2A24"/>
            </a:solidFill>
            <a:prstDash val="solid"/>
          </a:ln>
        </p:spPr>
      </p:sp>
      <p:sp>
        <p:nvSpPr>
          <p:cNvPr id="16" name="Text 13"/>
          <p:cNvSpPr/>
          <p:nvPr/>
        </p:nvSpPr>
        <p:spPr>
          <a:xfrm>
            <a:off x="8316773"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下振れの限界</a:t>
            </a:r>
            <a:endParaRPr lang="en-US" sz="1150" dirty="0"/>
          </a:p>
        </p:txBody>
      </p:sp>
      <p:sp>
        <p:nvSpPr>
          <p:cNvPr id="17" name="Text 14"/>
          <p:cNvSpPr/>
          <p:nvPr/>
        </p:nvSpPr>
        <p:spPr>
          <a:xfrm>
            <a:off x="8316773"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価格が横ばいの場合、20%に届くのは回転9.3ヶ月までとなり、想定レンジでは基準を満たせない。回転の短縮が唯一の対抗手段となる。</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SENSITIVITY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感応度：何が崩れると利回りがどう動くか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主線（在庫回転12ヶ月・フル稼働時の単年22.5%）を基準とした、各変数の単独変動による影響（フル稼働時の単年ベース）。</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16</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10874959" cy="914400"/>
        </p:xfrm>
        <a:graphic>
          <a:graphicData uri="http://schemas.openxmlformats.org/drawingml/2006/table">
            <a:tbl>
              <a:tblPr/>
              <a:tblGrid>
                <a:gridCol w="1792224"/>
                <a:gridCol w="2212848"/>
                <a:gridCol w="2359152"/>
                <a:gridCol w="877824"/>
                <a:gridCol w="3630168"/>
              </a:tblGrid>
              <a:tr h="32461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変動要因</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変動幅</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投資家利回りへの影響</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深刻度</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対応方針</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0%（横ばい）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22.5% → 15.6%（▲6.9pt）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回転期間を短縮し、αの取り込み回数を増やす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在庫回転期間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12ヶ月 → 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22.5% → 16.0%（▲6.5pt）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組入銘柄の選定・販売チャネルの多重化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稼働率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95% → 85%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19.8%（▲2.7pt）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3年経過後の解約に備えた現金比率の設計と表裏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卸値の控除率 α</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24.5% → 23.5%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20.9%（▲1.6pt）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αは組成時に確定し、期中は変更しない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B2Cの販路手数料（決済込み）</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13.0% → 15.0%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21.1%（▲1.4pt）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自社販路は契約上13%が上限。年度合計10%超はWineBank負担</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10%（会社資料水準）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22.5% → 27.1%（＋4.6pt）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Liv-ex連動銘柄の構成比を高める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【遮断】市中仕入価格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定価比 50 → 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22.5% → 22.5%（＋0.0pt）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9A938A"/>
                          </a:solidFill>
                          <a:latin typeface="Yu Gothic" pitchFamily="34" charset="0"/>
                          <a:ea typeface="Yu Gothic" pitchFamily="34" charset="-122"/>
                          <a:cs typeface="Yu Gothic" pitchFamily="34" charset="-120"/>
                        </a:rPr>
                        <a:t>卸値が時価連動のため投資家利回りには影響しない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【遮断】売却価格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売値 ▲5%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22.5% → 22.4%（▲0.1pt）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9A938A"/>
                          </a:solidFill>
                          <a:latin typeface="Yu Gothic" pitchFamily="34" charset="0"/>
                          <a:ea typeface="Yu Gothic" pitchFamily="34" charset="-122"/>
                          <a:cs typeface="Yu Gothic" pitchFamily="34" charset="-120"/>
                        </a:rPr>
                        <a:t>簿価も同率で下がるため投資家利回りには影響しない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645152"/>
            <a:ext cx="10874959" cy="1060704"/>
          </a:xfrm>
          <a:prstGeom prst="roundRect">
            <a:avLst>
              <a:gd name="adj" fmla="val 3879"/>
            </a:avLst>
          </a:prstGeom>
          <a:solidFill>
            <a:srgbClr val="1F1D19"/>
          </a:solidFill>
          <a:ln w="9525">
            <a:solidFill>
              <a:srgbClr val="6E5730"/>
            </a:solidFill>
            <a:prstDash val="solid"/>
          </a:ln>
        </p:spPr>
      </p:sp>
      <p:sp>
        <p:nvSpPr>
          <p:cNvPr id="9" name="Text 6"/>
          <p:cNvSpPr/>
          <p:nvPr/>
        </p:nvSpPr>
        <p:spPr>
          <a:xfrm>
            <a:off x="932688" y="4754880"/>
            <a:ext cx="10326319" cy="841248"/>
          </a:xfrm>
          <a:prstGeom prst="rect">
            <a:avLst/>
          </a:prstGeom>
          <a:noFill/>
          <a:ln/>
        </p:spPr>
        <p:txBody>
          <a:bodyPr wrap="square" lIns="0" tIns="0" rIns="0" bIns="0" rtlCol="0" anchor="ctr"/>
          <a:lstStyle/>
          <a:p>
            <a:pPr indent="0" marL="0">
              <a:lnSpc>
                <a:spcPct val="122000"/>
              </a:lnSpc>
              <a:buNone/>
            </a:pPr>
            <a:r>
              <a:rPr lang="en-US" sz="1050" dirty="0">
                <a:solidFill>
                  <a:srgbClr val="EFEBE3"/>
                </a:solidFill>
                <a:latin typeface="Yu Gothic" pitchFamily="34" charset="0"/>
                <a:ea typeface="Yu Gothic" pitchFamily="34" charset="-122"/>
                <a:cs typeface="Yu Gothic" pitchFamily="34" charset="-120"/>
              </a:rPr>
              <a:t>結論：卸値を時価−αにしたことで、投資家利回りを動かす要因は「ワイン価格の上昇率」と「在庫回転期間」の2つに絞られた。仕入価格と売値の変動は簿価が連動するため遮断される。年平均20%の分岐点は回転12.3ヶ月（上昇6%前提）であり、主線12ヶ月に余裕はない。上昇0%の場合は回転9.3ヶ月まで縮めないと20%に届かないため、値上がりが止まる局面では回転の短縮が唯一の対抗手段となる。組入銘柄を流動性上位に絞り込み、B2B卸とB2Cを併走させて販売量を確保する設計とする。</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FAIR ALLOCATION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WineBank在庫との公平性をどう担保するか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調達・保管・販売のすべてをWineBankが担うため配分に構造的な利益相反が生じる。在庫比率によるプロラタ配分を原則とする。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17</a:t>
            </a:r>
            <a:endParaRPr lang="en-US" sz="950" dirty="0"/>
          </a:p>
        </p:txBody>
      </p:sp>
      <p:sp>
        <p:nvSpPr>
          <p:cNvPr id="7" name="Shape 5"/>
          <p:cNvSpPr/>
          <p:nvPr/>
        </p:nvSpPr>
        <p:spPr>
          <a:xfrm>
            <a:off x="658368" y="1627632"/>
            <a:ext cx="3454298" cy="1847088"/>
          </a:xfrm>
          <a:prstGeom prst="roundRect">
            <a:avLst>
              <a:gd name="adj" fmla="val 2228"/>
            </a:avLst>
          </a:prstGeom>
          <a:solidFill>
            <a:srgbClr val="1F1D19"/>
          </a:solidFill>
          <a:ln w="9525">
            <a:solidFill>
              <a:srgbClr val="6E5730"/>
            </a:solidFill>
            <a:prstDash val="solid"/>
          </a:ln>
        </p:spPr>
      </p:sp>
      <p:sp>
        <p:nvSpPr>
          <p:cNvPr id="8" name="Shape 6"/>
          <p:cNvSpPr/>
          <p:nvPr/>
        </p:nvSpPr>
        <p:spPr>
          <a:xfrm>
            <a:off x="896112" y="1810512"/>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28800"/>
            <a:ext cx="2576474" cy="274320"/>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現物出資が相反そのものを縮小する</a:t>
            </a:r>
            <a:endParaRPr lang="en-US" sz="1100" dirty="0"/>
          </a:p>
        </p:txBody>
      </p:sp>
      <p:sp>
        <p:nvSpPr>
          <p:cNvPr id="11" name="Text 9"/>
          <p:cNvSpPr/>
          <p:nvPr/>
        </p:nvSpPr>
        <p:spPr>
          <a:xfrm>
            <a:off x="89611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WineBankが自己勘定在庫の相当部分（1stクローズで3億円相当）をSPCへ拠出するため、両者に同一銘柄が併存する場面自体が減る。加えてWineBankはSPCの持分60%を通じて損益を負うため、SPC在庫を後回しにする経済的動機が小さい。</a:t>
            </a:r>
            <a:endParaRPr lang="en-US" sz="900" dirty="0"/>
          </a:p>
        </p:txBody>
      </p:sp>
      <p:sp>
        <p:nvSpPr>
          <p:cNvPr id="12" name="Shape 10"/>
          <p:cNvSpPr/>
          <p:nvPr/>
        </p:nvSpPr>
        <p:spPr>
          <a:xfrm>
            <a:off x="4368698" y="1627632"/>
            <a:ext cx="3454298" cy="1847088"/>
          </a:xfrm>
          <a:prstGeom prst="roundRect">
            <a:avLst>
              <a:gd name="adj" fmla="val 2228"/>
            </a:avLst>
          </a:prstGeom>
          <a:solidFill>
            <a:srgbClr val="171614"/>
          </a:solidFill>
          <a:ln w="9525">
            <a:solidFill>
              <a:srgbClr val="2E2A24"/>
            </a:solidFill>
            <a:prstDash val="solid"/>
          </a:ln>
        </p:spPr>
      </p:sp>
      <p:sp>
        <p:nvSpPr>
          <p:cNvPr id="13" name="Shape 11"/>
          <p:cNvSpPr/>
          <p:nvPr/>
        </p:nvSpPr>
        <p:spPr>
          <a:xfrm>
            <a:off x="4606442" y="1810512"/>
            <a:ext cx="310896" cy="310896"/>
          </a:xfrm>
          <a:prstGeom prst="ellipse">
            <a:avLst/>
          </a:prstGeom>
          <a:solidFill>
            <a:srgbClr val="0C0C0C"/>
          </a:solidFill>
          <a:ln w="11430">
            <a:solidFill>
              <a:srgbClr val="A78450"/>
            </a:solidFill>
            <a:prstDash val="solid"/>
          </a:ln>
        </p:spPr>
      </p:sp>
      <p:sp>
        <p:nvSpPr>
          <p:cNvPr id="14" name="Text 12"/>
          <p:cNvSpPr/>
          <p:nvPr/>
        </p:nvSpPr>
        <p:spPr>
          <a:xfrm>
            <a:off x="4606442"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08778" y="1828800"/>
            <a:ext cx="2576474"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プロラタ配分を原則とする</a:t>
            </a:r>
            <a:endParaRPr lang="en-US" sz="1100" dirty="0"/>
          </a:p>
        </p:txBody>
      </p:sp>
      <p:sp>
        <p:nvSpPr>
          <p:cNvPr id="16" name="Text 14"/>
          <p:cNvSpPr/>
          <p:nvPr/>
        </p:nvSpPr>
        <p:spPr>
          <a:xfrm>
            <a:off x="460644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同一銘柄が両者にある場合、売却を在庫数量の比率に応じて配分する。個々の売却は分割できないため、累計の配分比率が在庫比率に一致するよう配分台帳で管理し、乖離の大きい側から出庫する。判断を要する場合はSPC在庫を優先する。</a:t>
            </a:r>
            <a:endParaRPr lang="en-US" sz="900" dirty="0"/>
          </a:p>
        </p:txBody>
      </p:sp>
      <p:sp>
        <p:nvSpPr>
          <p:cNvPr id="17" name="Shape 15"/>
          <p:cNvSpPr/>
          <p:nvPr/>
        </p:nvSpPr>
        <p:spPr>
          <a:xfrm>
            <a:off x="8079029" y="1627632"/>
            <a:ext cx="3454298" cy="1847088"/>
          </a:xfrm>
          <a:prstGeom prst="roundRect">
            <a:avLst>
              <a:gd name="adj" fmla="val 2228"/>
            </a:avLst>
          </a:prstGeom>
          <a:solidFill>
            <a:srgbClr val="171614"/>
          </a:solidFill>
          <a:ln w="9525">
            <a:solidFill>
              <a:srgbClr val="2E2A24"/>
            </a:solidFill>
            <a:prstDash val="solid"/>
          </a:ln>
        </p:spPr>
      </p:sp>
      <p:sp>
        <p:nvSpPr>
          <p:cNvPr id="18" name="Shape 16"/>
          <p:cNvSpPr/>
          <p:nvPr/>
        </p:nvSpPr>
        <p:spPr>
          <a:xfrm>
            <a:off x="8316773" y="1810512"/>
            <a:ext cx="310896" cy="310896"/>
          </a:xfrm>
          <a:prstGeom prst="ellipse">
            <a:avLst/>
          </a:prstGeom>
          <a:solidFill>
            <a:srgbClr val="0C0C0C"/>
          </a:solidFill>
          <a:ln w="11430">
            <a:solidFill>
              <a:srgbClr val="A78450"/>
            </a:solidFill>
            <a:prstDash val="solid"/>
          </a:ln>
        </p:spPr>
      </p:sp>
      <p:sp>
        <p:nvSpPr>
          <p:cNvPr id="19" name="Text 17"/>
          <p:cNvSpPr/>
          <p:nvPr/>
        </p:nvSpPr>
        <p:spPr>
          <a:xfrm>
            <a:off x="8316773"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19109" y="1828800"/>
            <a:ext cx="2576474"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価格同一ルールと補填条項</a:t>
            </a:r>
            <a:endParaRPr lang="en-US" sz="1100" dirty="0"/>
          </a:p>
        </p:txBody>
      </p:sp>
      <p:sp>
        <p:nvSpPr>
          <p:cNvPr id="21" name="Text 19"/>
          <p:cNvSpPr/>
          <p:nvPr/>
        </p:nvSpPr>
        <p:spPr>
          <a:xfrm>
            <a:off x="8316773"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同一SKU・同一半期の実現単価は、SPCがWineBank自己勘定を下回らないものとする。下回った場合は差額×SPC数量をWineBankがSPCへ現金で補填する。運用が崩れても投資家が金額で守られる仕組みとする。</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58368" y="3602736"/>
          <a:ext cx="10874959" cy="914400"/>
        </p:xfrm>
        <a:graphic>
          <a:graphicData uri="http://schemas.openxmlformats.org/drawingml/2006/table">
            <a:tbl>
              <a:tblPr/>
              <a:tblGrid>
                <a:gridCol w="2377440"/>
                <a:gridCol w="8494776"/>
              </a:tblGrid>
              <a:tr h="24688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担保の手段</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卸値ルールの明文化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SPCへの卸値は「時価 × （1−α）」とし、α＝24.5%を契約上固定する。期中の変更には投資家の事前承認を要する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時価の算定方法</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時価はB2B卸値とB2C売値の加重平均とし、算定根拠（Liv-ex・Wine-Searcher等、自社の実現単価）をデータルームで常時開示する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拠出銘柄の選定ルール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流動性上位から選定。明細を実行10営業日前に提示し、WB以外の出資者過半の異議なきことを実行条件とする（表明保証付き）</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取得時の按分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同一SKUを複数ロット取得する場合は、SPCとWineBank自己勘定の在庫比率に応じて按分して割り当てる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配分台帳</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SKU別に取得日・取得・売却・在庫・保管場所を両建てで記録し、在庫比率との乖離を半期ごとに開示（10%超は翌半期に是正）</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倉庫内の分別保管</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SPC名義の在庫は別ロケーション・別ラベルで管理する。半期ごとに第三者棚卸を実施し、期末はAUPで立会う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独立第三者による検証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AUP（年次）で卸値の算定・配分ルールの遵守・銀行残高・関連当事者取引・期末棚卸を公認会計士が検証する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Text 20"/>
          <p:cNvSpPr/>
          <p:nvPr/>
        </p:nvSpPr>
        <p:spPr>
          <a:xfrm>
            <a:off x="658368" y="5797296"/>
            <a:ext cx="10874959" cy="329184"/>
          </a:xfrm>
          <a:prstGeom prst="rect">
            <a:avLst/>
          </a:prstGeom>
          <a:noFill/>
          <a:ln/>
        </p:spPr>
        <p:txBody>
          <a:bodyPr wrap="square" lIns="0" tIns="0" rIns="0" bIns="0" rtlCol="0" anchor="ctr"/>
          <a:lstStyle/>
          <a:p>
            <a:pPr indent="0" marL="0">
              <a:lnSpc>
                <a:spcPct val="118000"/>
              </a:lnSpc>
              <a:buNone/>
            </a:pPr>
            <a:r>
              <a:rPr lang="en-US" sz="800" dirty="0">
                <a:solidFill>
                  <a:srgbClr val="6E675E"/>
                </a:solidFill>
                <a:latin typeface="Yu Gothic" pitchFamily="34" charset="0"/>
                <a:ea typeface="Yu Gothic" pitchFamily="34" charset="-122"/>
                <a:cs typeface="Yu Gothic" pitchFamily="34" charset="-120"/>
              </a:rPr>
              <a:t>※ 本スキームではWineBankの取り分が卸値の中で確定するため、「いくらで卸したか」が投資家利益に直結する。したがって在庫の配分ルールに加え、卸値の決め方そのものを契約で固定し、第三者の検証対象に含めることが最大の担保となる。SPC在庫を完売するまで自己勘定在庫を売らないという運用は、商品構成が銘柄ごとに異なるため実務上成立しないので採らない。</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GOVERNANCE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情報開示・報告と利益相反の管理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運営者への依存度が高いスキームであるため、開示義務と利益相反管理を契約上で具体的に定める。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18</a:t>
            </a:r>
            <a:endParaRPr lang="en-US" sz="950" dirty="0"/>
          </a:p>
        </p:txBody>
      </p:sp>
      <p:sp>
        <p:nvSpPr>
          <p:cNvPr id="7" name="Shape 5"/>
          <p:cNvSpPr/>
          <p:nvPr/>
        </p:nvSpPr>
        <p:spPr>
          <a:xfrm>
            <a:off x="658368" y="1627632"/>
            <a:ext cx="5300320" cy="3163824"/>
          </a:xfrm>
          <a:prstGeom prst="roundRect">
            <a:avLst>
              <a:gd name="adj" fmla="val 1301"/>
            </a:avLst>
          </a:prstGeom>
          <a:solidFill>
            <a:srgbClr val="171614"/>
          </a:solidFill>
          <a:ln w="9525">
            <a:solidFill>
              <a:srgbClr val="2E2A24"/>
            </a:solidFill>
            <a:prstDash val="solid"/>
          </a:ln>
        </p:spPr>
      </p:sp>
      <p:sp>
        <p:nvSpPr>
          <p:cNvPr id="8" name="Text 6"/>
          <p:cNvSpPr/>
          <p:nvPr/>
        </p:nvSpPr>
        <p:spPr>
          <a:xfrm>
            <a:off x="91440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契約上の報告・開示義務</a:t>
            </a:r>
            <a:endParaRPr lang="en-US" sz="1250" dirty="0"/>
          </a:p>
        </p:txBody>
      </p:sp>
      <p:sp>
        <p:nvSpPr>
          <p:cNvPr id="9" name="Shape 7"/>
          <p:cNvSpPr/>
          <p:nvPr/>
        </p:nvSpPr>
        <p:spPr>
          <a:xfrm>
            <a:off x="932688" y="2180844"/>
            <a:ext cx="128016" cy="128016"/>
          </a:xfrm>
          <a:prstGeom prst="ellipse">
            <a:avLst/>
          </a:prstGeom>
          <a:solidFill>
            <a:srgbClr val="A78450"/>
          </a:solidFill>
          <a:ln w="11430">
            <a:solidFill>
              <a:srgbClr val="A78450"/>
            </a:solidFill>
            <a:prstDash val="solid"/>
          </a:ln>
        </p:spPr>
      </p:sp>
      <p:sp>
        <p:nvSpPr>
          <p:cNvPr id="10" name="Text 8"/>
          <p:cNvSpPr/>
          <p:nvPr/>
        </p:nvSpPr>
        <p:spPr>
          <a:xfrm>
            <a:off x="932688" y="2180844"/>
            <a:ext cx="128016" cy="128016"/>
          </a:xfrm>
          <a:prstGeom prst="rect">
            <a:avLst/>
          </a:prstGeom>
          <a:noFill/>
          <a:ln/>
        </p:spPr>
        <p:txBody>
          <a:bodyPr wrap="square" lIns="0" tIns="0" rIns="0" bIns="0" rtlCol="0" anchor="ctr"/>
          <a:lstStyle/>
          <a:p>
            <a:pPr algn="ctr" indent="0" marL="0">
              <a:buNone/>
            </a:pPr>
            <a:endParaRPr lang="en-US" sz="1100" dirty="0"/>
          </a:p>
        </p:txBody>
      </p:sp>
      <p:sp>
        <p:nvSpPr>
          <p:cNvPr id="11" name="Text 9"/>
          <p:cNvSpPr/>
          <p:nvPr/>
        </p:nvSpPr>
        <p:spPr>
          <a:xfrm>
            <a:off x="1152144" y="210312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半期ごとの損益、資金収支および事業進捗（資料はデータルームで常時参照）</a:t>
            </a:r>
            <a:endParaRPr lang="en-US" sz="950" dirty="0"/>
          </a:p>
        </p:txBody>
      </p:sp>
      <p:sp>
        <p:nvSpPr>
          <p:cNvPr id="12" name="Shape 10"/>
          <p:cNvSpPr/>
          <p:nvPr/>
        </p:nvSpPr>
        <p:spPr>
          <a:xfrm>
            <a:off x="932688" y="2496312"/>
            <a:ext cx="128016" cy="128016"/>
          </a:xfrm>
          <a:prstGeom prst="ellipse">
            <a:avLst/>
          </a:prstGeom>
          <a:solidFill>
            <a:srgbClr val="A78450"/>
          </a:solidFill>
          <a:ln w="11430">
            <a:solidFill>
              <a:srgbClr val="A78450"/>
            </a:solidFill>
            <a:prstDash val="solid"/>
          </a:ln>
        </p:spPr>
      </p:sp>
      <p:sp>
        <p:nvSpPr>
          <p:cNvPr id="13" name="Text 11"/>
          <p:cNvSpPr/>
          <p:nvPr/>
        </p:nvSpPr>
        <p:spPr>
          <a:xfrm>
            <a:off x="932688" y="2496312"/>
            <a:ext cx="128016" cy="128016"/>
          </a:xfrm>
          <a:prstGeom prst="rect">
            <a:avLst/>
          </a:prstGeom>
          <a:noFill/>
          <a:ln/>
        </p:spPr>
        <p:txBody>
          <a:bodyPr wrap="square" lIns="0" tIns="0" rIns="0" bIns="0" rtlCol="0" anchor="ctr"/>
          <a:lstStyle/>
          <a:p>
            <a:pPr algn="ctr" indent="0" marL="0">
              <a:buNone/>
            </a:pPr>
            <a:endParaRPr lang="en-US" sz="1100" dirty="0"/>
          </a:p>
        </p:txBody>
      </p:sp>
      <p:sp>
        <p:nvSpPr>
          <p:cNvPr id="14" name="Text 12"/>
          <p:cNvSpPr/>
          <p:nvPr/>
        </p:nvSpPr>
        <p:spPr>
          <a:xfrm>
            <a:off x="1152144" y="241858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SPCへの卸値、その基礎となった時価および算定根拠</a:t>
            </a:r>
            <a:endParaRPr lang="en-US" sz="950" dirty="0"/>
          </a:p>
        </p:txBody>
      </p:sp>
      <p:sp>
        <p:nvSpPr>
          <p:cNvPr id="15" name="Shape 13"/>
          <p:cNvSpPr/>
          <p:nvPr/>
        </p:nvSpPr>
        <p:spPr>
          <a:xfrm>
            <a:off x="932688" y="2811780"/>
            <a:ext cx="128016" cy="128016"/>
          </a:xfrm>
          <a:prstGeom prst="ellipse">
            <a:avLst/>
          </a:prstGeom>
          <a:solidFill>
            <a:srgbClr val="A78450"/>
          </a:solidFill>
          <a:ln w="11430">
            <a:solidFill>
              <a:srgbClr val="A78450"/>
            </a:solidFill>
            <a:prstDash val="solid"/>
          </a:ln>
        </p:spPr>
      </p:sp>
      <p:sp>
        <p:nvSpPr>
          <p:cNvPr id="16" name="Text 14"/>
          <p:cNvSpPr/>
          <p:nvPr/>
        </p:nvSpPr>
        <p:spPr>
          <a:xfrm>
            <a:off x="932688" y="2811780"/>
            <a:ext cx="128016" cy="128016"/>
          </a:xfrm>
          <a:prstGeom prst="rect">
            <a:avLst/>
          </a:prstGeom>
          <a:noFill/>
          <a:ln/>
        </p:spPr>
        <p:txBody>
          <a:bodyPr wrap="square" lIns="0" tIns="0" rIns="0" bIns="0" rtlCol="0" anchor="ctr"/>
          <a:lstStyle/>
          <a:p>
            <a:pPr algn="ctr" indent="0" marL="0">
              <a:buNone/>
            </a:pPr>
            <a:endParaRPr lang="en-US" sz="1100" dirty="0"/>
          </a:p>
        </p:txBody>
      </p:sp>
      <p:sp>
        <p:nvSpPr>
          <p:cNvPr id="17" name="Text 15"/>
          <p:cNvSpPr/>
          <p:nvPr/>
        </p:nvSpPr>
        <p:spPr>
          <a:xfrm>
            <a:off x="1152144" y="273405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仕入数量・仕入単価・販売数量・販売単価・在庫数量</a:t>
            </a:r>
            <a:endParaRPr lang="en-US" sz="950" dirty="0"/>
          </a:p>
        </p:txBody>
      </p:sp>
      <p:sp>
        <p:nvSpPr>
          <p:cNvPr id="18" name="Shape 16"/>
          <p:cNvSpPr/>
          <p:nvPr/>
        </p:nvSpPr>
        <p:spPr>
          <a:xfrm>
            <a:off x="932688" y="3127248"/>
            <a:ext cx="128016" cy="128016"/>
          </a:xfrm>
          <a:prstGeom prst="ellipse">
            <a:avLst/>
          </a:prstGeom>
          <a:solidFill>
            <a:srgbClr val="A78450"/>
          </a:solidFill>
          <a:ln w="11430">
            <a:solidFill>
              <a:srgbClr val="A78450"/>
            </a:solidFill>
            <a:prstDash val="solid"/>
          </a:ln>
        </p:spPr>
      </p:sp>
      <p:sp>
        <p:nvSpPr>
          <p:cNvPr id="19" name="Text 17"/>
          <p:cNvSpPr/>
          <p:nvPr/>
        </p:nvSpPr>
        <p:spPr>
          <a:xfrm>
            <a:off x="932688" y="3127248"/>
            <a:ext cx="128016" cy="128016"/>
          </a:xfrm>
          <a:prstGeom prst="rect">
            <a:avLst/>
          </a:prstGeom>
          <a:noFill/>
          <a:ln/>
        </p:spPr>
        <p:txBody>
          <a:bodyPr wrap="square" lIns="0" tIns="0" rIns="0" bIns="0" rtlCol="0" anchor="ctr"/>
          <a:lstStyle/>
          <a:p>
            <a:pPr algn="ctr" indent="0" marL="0">
              <a:buNone/>
            </a:pPr>
            <a:endParaRPr lang="en-US" sz="1100" dirty="0"/>
          </a:p>
        </p:txBody>
      </p:sp>
      <p:sp>
        <p:nvSpPr>
          <p:cNvPr id="20" name="Text 18"/>
          <p:cNvSpPr/>
          <p:nvPr/>
        </p:nvSpPr>
        <p:spPr>
          <a:xfrm>
            <a:off x="1152144" y="3049524"/>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現物出資する銘柄の明細および評価額（実行10営業日前に提示）</a:t>
            </a:r>
            <a:endParaRPr lang="en-US" sz="950" dirty="0"/>
          </a:p>
        </p:txBody>
      </p:sp>
      <p:sp>
        <p:nvSpPr>
          <p:cNvPr id="21" name="Shape 19"/>
          <p:cNvSpPr/>
          <p:nvPr/>
        </p:nvSpPr>
        <p:spPr>
          <a:xfrm>
            <a:off x="932688" y="3442716"/>
            <a:ext cx="128016" cy="128016"/>
          </a:xfrm>
          <a:prstGeom prst="ellipse">
            <a:avLst/>
          </a:prstGeom>
          <a:solidFill>
            <a:srgbClr val="A78450"/>
          </a:solidFill>
          <a:ln w="11430">
            <a:solidFill>
              <a:srgbClr val="A78450"/>
            </a:solidFill>
            <a:prstDash val="solid"/>
          </a:ln>
        </p:spPr>
      </p:sp>
      <p:sp>
        <p:nvSpPr>
          <p:cNvPr id="22" name="Text 20"/>
          <p:cNvSpPr/>
          <p:nvPr/>
        </p:nvSpPr>
        <p:spPr>
          <a:xfrm>
            <a:off x="932688" y="3442716"/>
            <a:ext cx="128016" cy="128016"/>
          </a:xfrm>
          <a:prstGeom prst="rect">
            <a:avLst/>
          </a:prstGeom>
          <a:noFill/>
          <a:ln/>
        </p:spPr>
        <p:txBody>
          <a:bodyPr wrap="square" lIns="0" tIns="0" rIns="0" bIns="0" rtlCol="0" anchor="ctr"/>
          <a:lstStyle/>
          <a:p>
            <a:pPr algn="ctr" indent="0" marL="0">
              <a:buNone/>
            </a:pPr>
            <a:endParaRPr lang="en-US" sz="1100" dirty="0"/>
          </a:p>
        </p:txBody>
      </p:sp>
      <p:sp>
        <p:nvSpPr>
          <p:cNvPr id="23" name="Text 21"/>
          <p:cNvSpPr/>
          <p:nvPr/>
        </p:nvSpPr>
        <p:spPr>
          <a:xfrm>
            <a:off x="1152144" y="3364992"/>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資金使途、銀行口座残高および主要な支払内容</a:t>
            </a:r>
            <a:endParaRPr lang="en-US" sz="950" dirty="0"/>
          </a:p>
        </p:txBody>
      </p:sp>
      <p:sp>
        <p:nvSpPr>
          <p:cNvPr id="24" name="Shape 22"/>
          <p:cNvSpPr/>
          <p:nvPr/>
        </p:nvSpPr>
        <p:spPr>
          <a:xfrm>
            <a:off x="932688" y="3758184"/>
            <a:ext cx="128016" cy="128016"/>
          </a:xfrm>
          <a:prstGeom prst="ellipse">
            <a:avLst/>
          </a:prstGeom>
          <a:solidFill>
            <a:srgbClr val="A78450"/>
          </a:solidFill>
          <a:ln w="11430">
            <a:solidFill>
              <a:srgbClr val="A78450"/>
            </a:solidFill>
            <a:prstDash val="solid"/>
          </a:ln>
        </p:spPr>
      </p:sp>
      <p:sp>
        <p:nvSpPr>
          <p:cNvPr id="25" name="Text 23"/>
          <p:cNvSpPr/>
          <p:nvPr/>
        </p:nvSpPr>
        <p:spPr>
          <a:xfrm>
            <a:off x="932688" y="3758184"/>
            <a:ext cx="128016" cy="128016"/>
          </a:xfrm>
          <a:prstGeom prst="rect">
            <a:avLst/>
          </a:prstGeom>
          <a:noFill/>
          <a:ln/>
        </p:spPr>
        <p:txBody>
          <a:bodyPr wrap="square" lIns="0" tIns="0" rIns="0" bIns="0" rtlCol="0" anchor="ctr"/>
          <a:lstStyle/>
          <a:p>
            <a:pPr algn="ctr" indent="0" marL="0">
              <a:buNone/>
            </a:pPr>
            <a:endParaRPr lang="en-US" sz="1100" dirty="0"/>
          </a:p>
        </p:txBody>
      </p:sp>
      <p:sp>
        <p:nvSpPr>
          <p:cNvPr id="26" name="Text 24"/>
          <p:cNvSpPr/>
          <p:nvPr/>
        </p:nvSpPr>
        <p:spPr>
          <a:xfrm>
            <a:off x="1152144" y="368046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関連当事者取引・利益相反取引の内容、金額、取引条件</a:t>
            </a:r>
            <a:endParaRPr lang="en-US" sz="950" dirty="0"/>
          </a:p>
        </p:txBody>
      </p:sp>
      <p:sp>
        <p:nvSpPr>
          <p:cNvPr id="27" name="Shape 25"/>
          <p:cNvSpPr/>
          <p:nvPr/>
        </p:nvSpPr>
        <p:spPr>
          <a:xfrm>
            <a:off x="932688" y="4073652"/>
            <a:ext cx="128016" cy="128016"/>
          </a:xfrm>
          <a:prstGeom prst="ellipse">
            <a:avLst/>
          </a:prstGeom>
          <a:solidFill>
            <a:srgbClr val="A78450"/>
          </a:solidFill>
          <a:ln w="11430">
            <a:solidFill>
              <a:srgbClr val="A78450"/>
            </a:solidFill>
            <a:prstDash val="solid"/>
          </a:ln>
        </p:spPr>
      </p:sp>
      <p:sp>
        <p:nvSpPr>
          <p:cNvPr id="28" name="Text 26"/>
          <p:cNvSpPr/>
          <p:nvPr/>
        </p:nvSpPr>
        <p:spPr>
          <a:xfrm>
            <a:off x="932688" y="4073652"/>
            <a:ext cx="128016" cy="128016"/>
          </a:xfrm>
          <a:prstGeom prst="rect">
            <a:avLst/>
          </a:prstGeom>
          <a:noFill/>
          <a:ln/>
        </p:spPr>
        <p:txBody>
          <a:bodyPr wrap="square" lIns="0" tIns="0" rIns="0" bIns="0" rtlCol="0" anchor="ctr"/>
          <a:lstStyle/>
          <a:p>
            <a:pPr algn="ctr" indent="0" marL="0">
              <a:buNone/>
            </a:pPr>
            <a:endParaRPr lang="en-US" sz="1100" dirty="0"/>
          </a:p>
        </p:txBody>
      </p:sp>
      <p:sp>
        <p:nvSpPr>
          <p:cNvPr id="29" name="Text 27"/>
          <p:cNvSpPr/>
          <p:nvPr/>
        </p:nvSpPr>
        <p:spPr>
          <a:xfrm>
            <a:off x="1152144" y="399592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会計帳簿・請求書・契約書・銀行取引記録の閲覧および調査権</a:t>
            </a:r>
            <a:endParaRPr lang="en-US" sz="950" dirty="0"/>
          </a:p>
        </p:txBody>
      </p:sp>
      <p:sp>
        <p:nvSpPr>
          <p:cNvPr id="30" name="Shape 28"/>
          <p:cNvSpPr/>
          <p:nvPr/>
        </p:nvSpPr>
        <p:spPr>
          <a:xfrm>
            <a:off x="932688" y="4389120"/>
            <a:ext cx="128016" cy="128016"/>
          </a:xfrm>
          <a:prstGeom prst="ellipse">
            <a:avLst/>
          </a:prstGeom>
          <a:solidFill>
            <a:srgbClr val="A78450"/>
          </a:solidFill>
          <a:ln w="11430">
            <a:solidFill>
              <a:srgbClr val="A78450"/>
            </a:solidFill>
            <a:prstDash val="solid"/>
          </a:ln>
        </p:spPr>
      </p:sp>
      <p:sp>
        <p:nvSpPr>
          <p:cNvPr id="31" name="Text 29"/>
          <p:cNvSpPr/>
          <p:nvPr/>
        </p:nvSpPr>
        <p:spPr>
          <a:xfrm>
            <a:off x="932688" y="4389120"/>
            <a:ext cx="128016" cy="128016"/>
          </a:xfrm>
          <a:prstGeom prst="rect">
            <a:avLst/>
          </a:prstGeom>
          <a:noFill/>
          <a:ln/>
        </p:spPr>
        <p:txBody>
          <a:bodyPr wrap="square" lIns="0" tIns="0" rIns="0" bIns="0" rtlCol="0" anchor="ctr"/>
          <a:lstStyle/>
          <a:p>
            <a:pPr algn="ctr" indent="0" marL="0">
              <a:buNone/>
            </a:pPr>
            <a:endParaRPr lang="en-US" sz="1100" dirty="0"/>
          </a:p>
        </p:txBody>
      </p:sp>
      <p:sp>
        <p:nvSpPr>
          <p:cNvPr id="32" name="Text 30"/>
          <p:cNvSpPr/>
          <p:nvPr/>
        </p:nvSpPr>
        <p:spPr>
          <a:xfrm>
            <a:off x="1152144" y="431139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重大な計画変更、損失発生、不正または法令違反時の速やかな報告</a:t>
            </a:r>
            <a:endParaRPr lang="en-US" sz="950" dirty="0"/>
          </a:p>
        </p:txBody>
      </p:sp>
      <p:sp>
        <p:nvSpPr>
          <p:cNvPr id="33" name="Shape 31"/>
          <p:cNvSpPr/>
          <p:nvPr/>
        </p:nvSpPr>
        <p:spPr>
          <a:xfrm>
            <a:off x="6233008" y="1627632"/>
            <a:ext cx="5300320" cy="3163824"/>
          </a:xfrm>
          <a:prstGeom prst="roundRect">
            <a:avLst>
              <a:gd name="adj" fmla="val 1301"/>
            </a:avLst>
          </a:prstGeom>
          <a:solidFill>
            <a:srgbClr val="1F1D19"/>
          </a:solidFill>
          <a:ln w="9525">
            <a:solidFill>
              <a:srgbClr val="6E5730"/>
            </a:solidFill>
            <a:prstDash val="solid"/>
          </a:ln>
        </p:spPr>
      </p:sp>
      <p:sp>
        <p:nvSpPr>
          <p:cNvPr id="34" name="Text 32"/>
          <p:cNvSpPr/>
          <p:nvPr/>
        </p:nvSpPr>
        <p:spPr>
          <a:xfrm>
            <a:off x="648904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利益相反の管理</a:t>
            </a:r>
            <a:endParaRPr lang="en-US" sz="1250" dirty="0"/>
          </a:p>
        </p:txBody>
      </p:sp>
      <p:sp>
        <p:nvSpPr>
          <p:cNvPr id="35" name="Text 33"/>
          <p:cNvSpPr/>
          <p:nvPr/>
        </p:nvSpPr>
        <p:spPr>
          <a:xfrm>
            <a:off x="6489040" y="2139696"/>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卸値（時価−α）の固定</a:t>
            </a:r>
            <a:endParaRPr lang="en-US" sz="1050" dirty="0"/>
          </a:p>
        </p:txBody>
      </p:sp>
      <p:sp>
        <p:nvSpPr>
          <p:cNvPr id="36" name="Text 34"/>
          <p:cNvSpPr/>
          <p:nvPr/>
        </p:nvSpPr>
        <p:spPr>
          <a:xfrm>
            <a:off x="6489040" y="2359152"/>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αを契約上24.5%に固定し、期中の変更には投資家の事前承認を要する。時価の算定方法も契約に明記する。</a:t>
            </a:r>
            <a:endParaRPr lang="en-US" sz="900" dirty="0"/>
          </a:p>
        </p:txBody>
      </p:sp>
      <p:sp>
        <p:nvSpPr>
          <p:cNvPr id="37" name="Text 35"/>
          <p:cNvSpPr/>
          <p:nvPr/>
        </p:nvSpPr>
        <p:spPr>
          <a:xfrm>
            <a:off x="6489040" y="2798064"/>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独立企業間価格の原則</a:t>
            </a:r>
            <a:endParaRPr lang="en-US" sz="1050" dirty="0"/>
          </a:p>
        </p:txBody>
      </p:sp>
      <p:sp>
        <p:nvSpPr>
          <p:cNvPr id="38" name="Text 36"/>
          <p:cNvSpPr/>
          <p:nvPr/>
        </p:nvSpPr>
        <p:spPr>
          <a:xfrm>
            <a:off x="6489040" y="3017520"/>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卸値は第三者との取引条件と同等であることを、第三者卸価格との比較資料により年次で説明できる状態を維持する。</a:t>
            </a:r>
            <a:endParaRPr lang="en-US" sz="900" dirty="0"/>
          </a:p>
        </p:txBody>
      </p:sp>
      <p:sp>
        <p:nvSpPr>
          <p:cNvPr id="39" name="Text 37"/>
          <p:cNvSpPr/>
          <p:nvPr/>
        </p:nvSpPr>
        <p:spPr>
          <a:xfrm>
            <a:off x="6489040" y="3456432"/>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自己出資分の内部利益</a:t>
            </a:r>
            <a:endParaRPr lang="en-US" sz="1050" dirty="0"/>
          </a:p>
        </p:txBody>
      </p:sp>
      <p:sp>
        <p:nvSpPr>
          <p:cNvPr id="40" name="Text 38"/>
          <p:cNvSpPr/>
          <p:nvPr/>
        </p:nvSpPr>
        <p:spPr>
          <a:xfrm>
            <a:off x="6489040" y="3675888"/>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WineBank出資分に対応する値入れは自己取引となるため、会計上の取扱い（内部利益の消去要否）を組成前に確定し、投資家へ開示する。</a:t>
            </a:r>
            <a:endParaRPr lang="en-US" sz="900" dirty="0"/>
          </a:p>
        </p:txBody>
      </p:sp>
      <p:sp>
        <p:nvSpPr>
          <p:cNvPr id="41" name="Text 39"/>
          <p:cNvSpPr/>
          <p:nvPr/>
        </p:nvSpPr>
        <p:spPr>
          <a:xfrm>
            <a:off x="6489040" y="4114800"/>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在庫配分ルールの遵守</a:t>
            </a:r>
            <a:endParaRPr lang="en-US" sz="1050" dirty="0"/>
          </a:p>
        </p:txBody>
      </p:sp>
      <p:sp>
        <p:nvSpPr>
          <p:cNvPr id="42" name="Text 40"/>
          <p:cNvSpPr/>
          <p:nvPr/>
        </p:nvSpPr>
        <p:spPr>
          <a:xfrm>
            <a:off x="6489040" y="4334256"/>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前頁の配分方針および拠出銘柄選定ルールを契約別紙として明文化し、逸脱時の是正・補填手続を定める。</a:t>
            </a:r>
            <a:endParaRPr lang="en-US" sz="900" dirty="0"/>
          </a:p>
        </p:txBody>
      </p:sp>
      <p:sp>
        <p:nvSpPr>
          <p:cNvPr id="43" name="Shape 41"/>
          <p:cNvSpPr/>
          <p:nvPr/>
        </p:nvSpPr>
        <p:spPr>
          <a:xfrm>
            <a:off x="658368" y="4974336"/>
            <a:ext cx="3454298" cy="1133856"/>
          </a:xfrm>
          <a:prstGeom prst="roundRect">
            <a:avLst>
              <a:gd name="adj" fmla="val 3629"/>
            </a:avLst>
          </a:prstGeom>
          <a:solidFill>
            <a:srgbClr val="171614"/>
          </a:solidFill>
          <a:ln w="9525">
            <a:solidFill>
              <a:srgbClr val="2E2A24"/>
            </a:solidFill>
            <a:prstDash val="solid"/>
          </a:ln>
        </p:spPr>
      </p:sp>
      <p:sp>
        <p:nvSpPr>
          <p:cNvPr id="44" name="Text 42"/>
          <p:cNvSpPr/>
          <p:nvPr/>
        </p:nvSpPr>
        <p:spPr>
          <a:xfrm>
            <a:off x="89611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ファンド形態</a:t>
            </a:r>
            <a:endParaRPr lang="en-US" sz="950" dirty="0"/>
          </a:p>
        </p:txBody>
      </p:sp>
      <p:sp>
        <p:nvSpPr>
          <p:cNvPr id="45" name="Text 43"/>
          <p:cNvSpPr/>
          <p:nvPr/>
        </p:nvSpPr>
        <p:spPr>
          <a:xfrm>
            <a:off x="89611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適格機関投資家等特例業務</a:t>
            </a:r>
            <a:endParaRPr lang="en-US" sz="1200" dirty="0"/>
          </a:p>
        </p:txBody>
      </p:sp>
      <p:sp>
        <p:nvSpPr>
          <p:cNvPr id="46" name="Text 44"/>
          <p:cNvSpPr/>
          <p:nvPr/>
        </p:nvSpPr>
        <p:spPr>
          <a:xfrm>
            <a:off x="89611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第1号ファンド（合同会社WineBank P1）で届出の実績がある。適格機関投資家1名以上の確保を組成条件とする。</a:t>
            </a:r>
            <a:endParaRPr lang="en-US" sz="850" dirty="0"/>
          </a:p>
        </p:txBody>
      </p:sp>
      <p:sp>
        <p:nvSpPr>
          <p:cNvPr id="47" name="Shape 45"/>
          <p:cNvSpPr/>
          <p:nvPr/>
        </p:nvSpPr>
        <p:spPr>
          <a:xfrm>
            <a:off x="4368698" y="4974336"/>
            <a:ext cx="3454298" cy="1133856"/>
          </a:xfrm>
          <a:prstGeom prst="roundRect">
            <a:avLst>
              <a:gd name="adj" fmla="val 3629"/>
            </a:avLst>
          </a:prstGeom>
          <a:solidFill>
            <a:srgbClr val="171614"/>
          </a:solidFill>
          <a:ln w="9525">
            <a:solidFill>
              <a:srgbClr val="2E2A24"/>
            </a:solidFill>
            <a:prstDash val="solid"/>
          </a:ln>
        </p:spPr>
      </p:sp>
      <p:sp>
        <p:nvSpPr>
          <p:cNvPr id="48" name="Text 46"/>
          <p:cNvSpPr/>
          <p:nvPr/>
        </p:nvSpPr>
        <p:spPr>
          <a:xfrm>
            <a:off x="460644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外部検証</a:t>
            </a:r>
            <a:endParaRPr lang="en-US" sz="950" dirty="0"/>
          </a:p>
        </p:txBody>
      </p:sp>
      <p:sp>
        <p:nvSpPr>
          <p:cNvPr id="49" name="Text 47"/>
          <p:cNvSpPr/>
          <p:nvPr/>
        </p:nvSpPr>
        <p:spPr>
          <a:xfrm>
            <a:off x="460644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AUP（合意された手続）</a:t>
            </a:r>
            <a:endParaRPr lang="en-US" sz="1200" dirty="0"/>
          </a:p>
        </p:txBody>
      </p:sp>
      <p:sp>
        <p:nvSpPr>
          <p:cNvPr id="50" name="Text 48"/>
          <p:cNvSpPr/>
          <p:nvPr/>
        </p:nvSpPr>
        <p:spPr>
          <a:xfrm>
            <a:off x="460644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財務諸表監査ではなく、目的を限定した合意された手続を採用。銀行残高確認・関連当事者取引・棚卸立会を含め年150万円をSPC費用に計上済み。</a:t>
            </a:r>
            <a:endParaRPr lang="en-US" sz="850" dirty="0"/>
          </a:p>
        </p:txBody>
      </p:sp>
      <p:sp>
        <p:nvSpPr>
          <p:cNvPr id="51" name="Shape 49"/>
          <p:cNvSpPr/>
          <p:nvPr/>
        </p:nvSpPr>
        <p:spPr>
          <a:xfrm>
            <a:off x="8079029" y="4974336"/>
            <a:ext cx="3454298" cy="1133856"/>
          </a:xfrm>
          <a:prstGeom prst="roundRect">
            <a:avLst>
              <a:gd name="adj" fmla="val 3629"/>
            </a:avLst>
          </a:prstGeom>
          <a:solidFill>
            <a:srgbClr val="171614"/>
          </a:solidFill>
          <a:ln w="9525">
            <a:solidFill>
              <a:srgbClr val="2E2A24"/>
            </a:solidFill>
            <a:prstDash val="solid"/>
          </a:ln>
        </p:spPr>
      </p:sp>
      <p:sp>
        <p:nvSpPr>
          <p:cNvPr id="52" name="Text 50"/>
          <p:cNvSpPr/>
          <p:nvPr/>
        </p:nvSpPr>
        <p:spPr>
          <a:xfrm>
            <a:off x="8316773"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報告頻度</a:t>
            </a:r>
            <a:endParaRPr lang="en-US" sz="950" dirty="0"/>
          </a:p>
        </p:txBody>
      </p:sp>
      <p:sp>
        <p:nvSpPr>
          <p:cNvPr id="53" name="Text 51"/>
          <p:cNvSpPr/>
          <p:nvPr/>
        </p:nvSpPr>
        <p:spPr>
          <a:xfrm>
            <a:off x="8316773"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半期</a:t>
            </a:r>
            <a:endParaRPr lang="en-US" sz="1200" dirty="0"/>
          </a:p>
        </p:txBody>
      </p:sp>
      <p:sp>
        <p:nvSpPr>
          <p:cNvPr id="54" name="Text 52"/>
          <p:cNvSpPr/>
          <p:nvPr/>
        </p:nvSpPr>
        <p:spPr>
          <a:xfrm>
            <a:off x="8316773"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在庫明細・簿価・売上・試算表を半期ごとに開示し、データルームで常時参照可能とする。年次で決算を報告する。</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RISK</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想定されるリスクと対応策</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19</a:t>
            </a:r>
            <a:endParaRPr lang="en-US" sz="950" dirty="0"/>
          </a:p>
        </p:txBody>
      </p:sp>
      <p:sp>
        <p:nvSpPr>
          <p:cNvPr id="6" name="Shape 4"/>
          <p:cNvSpPr/>
          <p:nvPr/>
        </p:nvSpPr>
        <p:spPr>
          <a:xfrm>
            <a:off x="658368" y="1554480"/>
            <a:ext cx="2526716" cy="1920240"/>
          </a:xfrm>
          <a:prstGeom prst="roundRect">
            <a:avLst>
              <a:gd name="adj" fmla="val 2143"/>
            </a:avLst>
          </a:prstGeom>
          <a:solidFill>
            <a:srgbClr val="1F1D19"/>
          </a:solidFill>
          <a:ln w="9525">
            <a:solidFill>
              <a:srgbClr val="6E5730"/>
            </a:solidFill>
            <a:prstDash val="solid"/>
          </a:ln>
        </p:spPr>
      </p:sp>
      <p:sp>
        <p:nvSpPr>
          <p:cNvPr id="7" name="Text 5"/>
          <p:cNvSpPr/>
          <p:nvPr/>
        </p:nvSpPr>
        <p:spPr>
          <a:xfrm>
            <a:off x="896112"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価格変動リスク</a:t>
            </a:r>
            <a:endParaRPr lang="en-US" sz="1200" dirty="0"/>
          </a:p>
        </p:txBody>
      </p:sp>
      <p:sp>
        <p:nvSpPr>
          <p:cNvPr id="8" name="Text 6"/>
          <p:cNvSpPr/>
          <p:nvPr/>
        </p:nvSpPr>
        <p:spPr>
          <a:xfrm>
            <a:off x="896112"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Fine Wine市況の下落・停滞</a:t>
            </a:r>
            <a:endParaRPr lang="en-US" sz="950" dirty="0"/>
          </a:p>
        </p:txBody>
      </p:sp>
      <p:sp>
        <p:nvSpPr>
          <p:cNvPr id="9" name="Text 7"/>
          <p:cNvSpPr/>
          <p:nvPr/>
        </p:nvSpPr>
        <p:spPr>
          <a:xfrm>
            <a:off x="896112"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本スキームで最も効く要因。主線は年6%上昇を織り込むが、横ばい（0%）では投資家利回り（年平均）が13.6%まで低下する。会社資料の年率10%に対し保守的な前提を置いている。</a:t>
            </a:r>
            <a:endParaRPr lang="en-US" sz="900" dirty="0"/>
          </a:p>
        </p:txBody>
      </p:sp>
      <p:sp>
        <p:nvSpPr>
          <p:cNvPr id="10" name="Shape 8"/>
          <p:cNvSpPr/>
          <p:nvPr/>
        </p:nvSpPr>
        <p:spPr>
          <a:xfrm>
            <a:off x="3441116" y="1554480"/>
            <a:ext cx="2526716" cy="1920240"/>
          </a:xfrm>
          <a:prstGeom prst="roundRect">
            <a:avLst>
              <a:gd name="adj" fmla="val 2143"/>
            </a:avLst>
          </a:prstGeom>
          <a:solidFill>
            <a:srgbClr val="171614"/>
          </a:solidFill>
          <a:ln w="9525">
            <a:solidFill>
              <a:srgbClr val="2E2A24"/>
            </a:solidFill>
            <a:prstDash val="solid"/>
          </a:ln>
        </p:spPr>
      </p:sp>
      <p:sp>
        <p:nvSpPr>
          <p:cNvPr id="11" name="Text 9"/>
          <p:cNvSpPr/>
          <p:nvPr/>
        </p:nvSpPr>
        <p:spPr>
          <a:xfrm>
            <a:off x="3678860"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在庫リスク</a:t>
            </a:r>
            <a:endParaRPr lang="en-US" sz="1200" dirty="0"/>
          </a:p>
        </p:txBody>
      </p:sp>
      <p:sp>
        <p:nvSpPr>
          <p:cNvPr id="12" name="Text 10"/>
          <p:cNvSpPr/>
          <p:nvPr/>
        </p:nvSpPr>
        <p:spPr>
          <a:xfrm>
            <a:off x="3678860"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想定価格で売り切れず滞留する</a:t>
            </a:r>
            <a:endParaRPr lang="en-US" sz="950" dirty="0"/>
          </a:p>
        </p:txBody>
      </p:sp>
      <p:sp>
        <p:nvSpPr>
          <p:cNvPr id="13" name="Text 11"/>
          <p:cNvSpPr/>
          <p:nvPr/>
        </p:nvSpPr>
        <p:spPr>
          <a:xfrm>
            <a:off x="3678860"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銘柄をLiv-ex掲載の流通量の多い銘柄に限定。半期ごとに保有12ヶ月超の滞留在庫を洗い出し、時価が簿価を下回るものは評価減して報告する。</a:t>
            </a:r>
            <a:endParaRPr lang="en-US" sz="900" dirty="0"/>
          </a:p>
        </p:txBody>
      </p:sp>
      <p:sp>
        <p:nvSpPr>
          <p:cNvPr id="14" name="Shape 12"/>
          <p:cNvSpPr/>
          <p:nvPr/>
        </p:nvSpPr>
        <p:spPr>
          <a:xfrm>
            <a:off x="6223864" y="1554480"/>
            <a:ext cx="2526716" cy="1920240"/>
          </a:xfrm>
          <a:prstGeom prst="roundRect">
            <a:avLst>
              <a:gd name="adj" fmla="val 2143"/>
            </a:avLst>
          </a:prstGeom>
          <a:solidFill>
            <a:srgbClr val="171614"/>
          </a:solidFill>
          <a:ln w="9525">
            <a:solidFill>
              <a:srgbClr val="2E2A24"/>
            </a:solidFill>
            <a:prstDash val="solid"/>
          </a:ln>
        </p:spPr>
      </p:sp>
      <p:sp>
        <p:nvSpPr>
          <p:cNvPr id="15" name="Text 13"/>
          <p:cNvSpPr/>
          <p:nvPr/>
        </p:nvSpPr>
        <p:spPr>
          <a:xfrm>
            <a:off x="6461608"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流動性リスク</a:t>
            </a:r>
            <a:endParaRPr lang="en-US" sz="1200" dirty="0"/>
          </a:p>
        </p:txBody>
      </p:sp>
      <p:sp>
        <p:nvSpPr>
          <p:cNvPr id="16" name="Text 14"/>
          <p:cNvSpPr/>
          <p:nvPr/>
        </p:nvSpPr>
        <p:spPr>
          <a:xfrm>
            <a:off x="6461608"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現物のため即時換金できない</a:t>
            </a:r>
            <a:endParaRPr lang="en-US" sz="950" dirty="0"/>
          </a:p>
        </p:txBody>
      </p:sp>
      <p:sp>
        <p:nvSpPr>
          <p:cNvPr id="17" name="Text 15"/>
          <p:cNvSpPr/>
          <p:nvPr/>
        </p:nvSpPr>
        <p:spPr>
          <a:xfrm>
            <a:off x="6461608"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当初3年間はロックアップ。4年目以降は年度ごとの解約日に対応し、解約枠に応じて現金比率を引き上げる。</a:t>
            </a:r>
            <a:endParaRPr lang="en-US" sz="900" dirty="0"/>
          </a:p>
        </p:txBody>
      </p:sp>
      <p:sp>
        <p:nvSpPr>
          <p:cNvPr id="18" name="Shape 16"/>
          <p:cNvSpPr/>
          <p:nvPr/>
        </p:nvSpPr>
        <p:spPr>
          <a:xfrm>
            <a:off x="9006611" y="1554480"/>
            <a:ext cx="2526716" cy="1920240"/>
          </a:xfrm>
          <a:prstGeom prst="roundRect">
            <a:avLst>
              <a:gd name="adj" fmla="val 2143"/>
            </a:avLst>
          </a:prstGeom>
          <a:solidFill>
            <a:srgbClr val="171614"/>
          </a:solidFill>
          <a:ln w="9525">
            <a:solidFill>
              <a:srgbClr val="2E2A24"/>
            </a:solidFill>
            <a:prstDash val="solid"/>
          </a:ln>
        </p:spPr>
      </p:sp>
      <p:sp>
        <p:nvSpPr>
          <p:cNvPr id="19" name="Text 17"/>
          <p:cNvSpPr/>
          <p:nvPr/>
        </p:nvSpPr>
        <p:spPr>
          <a:xfrm>
            <a:off x="9244355"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調達リスク</a:t>
            </a:r>
            <a:endParaRPr lang="en-US" sz="1200" dirty="0"/>
          </a:p>
        </p:txBody>
      </p:sp>
      <p:sp>
        <p:nvSpPr>
          <p:cNvPr id="20" name="Text 18"/>
          <p:cNvSpPr/>
          <p:nvPr/>
        </p:nvSpPr>
        <p:spPr>
          <a:xfrm>
            <a:off x="9244355"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想定価格・数量で仕入れられない</a:t>
            </a:r>
            <a:endParaRPr lang="en-US" sz="950" dirty="0"/>
          </a:p>
        </p:txBody>
      </p:sp>
      <p:sp>
        <p:nvSpPr>
          <p:cNvPr id="21" name="Text 19"/>
          <p:cNvSpPr/>
          <p:nvPr/>
        </p:nvSpPr>
        <p:spPr>
          <a:xfrm>
            <a:off x="9244355"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インポーター・酒販店との年間調達枠を事前に締結。卸値は時価連動のため、仕入価格の上昇は投資家利回りには及ばない。</a:t>
            </a:r>
            <a:endParaRPr lang="en-US" sz="900" dirty="0"/>
          </a:p>
        </p:txBody>
      </p:sp>
      <p:sp>
        <p:nvSpPr>
          <p:cNvPr id="22" name="Shape 20"/>
          <p:cNvSpPr/>
          <p:nvPr/>
        </p:nvSpPr>
        <p:spPr>
          <a:xfrm>
            <a:off x="658368" y="3675888"/>
            <a:ext cx="2526716" cy="1920240"/>
          </a:xfrm>
          <a:prstGeom prst="roundRect">
            <a:avLst>
              <a:gd name="adj" fmla="val 2143"/>
            </a:avLst>
          </a:prstGeom>
          <a:solidFill>
            <a:srgbClr val="171614"/>
          </a:solidFill>
          <a:ln w="9525">
            <a:solidFill>
              <a:srgbClr val="2E2A24"/>
            </a:solidFill>
            <a:prstDash val="solid"/>
          </a:ln>
        </p:spPr>
      </p:sp>
      <p:sp>
        <p:nvSpPr>
          <p:cNvPr id="23" name="Text 21"/>
          <p:cNvSpPr/>
          <p:nvPr/>
        </p:nvSpPr>
        <p:spPr>
          <a:xfrm>
            <a:off x="896112"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オペレーションリスク</a:t>
            </a:r>
            <a:endParaRPr lang="en-US" sz="1200" dirty="0"/>
          </a:p>
        </p:txBody>
      </p:sp>
      <p:sp>
        <p:nvSpPr>
          <p:cNvPr id="24" name="Text 22"/>
          <p:cNvSpPr/>
          <p:nvPr/>
        </p:nvSpPr>
        <p:spPr>
          <a:xfrm>
            <a:off x="896112"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保管中の破損・劣化・盗難</a:t>
            </a:r>
            <a:endParaRPr lang="en-US" sz="950" dirty="0"/>
          </a:p>
        </p:txBody>
      </p:sp>
      <p:sp>
        <p:nvSpPr>
          <p:cNvPr id="25" name="Text 23"/>
          <p:cNvSpPr/>
          <p:nvPr/>
        </p:nvSpPr>
        <p:spPr>
          <a:xfrm>
            <a:off x="896112"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定温倉庫での保管と動産総合保険による全量付保（填補範囲・免責額はクロージング後30日以内に保険証券の写しで開示）。倉庫在庫は半期ごとに第三者棚卸。</a:t>
            </a:r>
            <a:endParaRPr lang="en-US" sz="900" dirty="0"/>
          </a:p>
        </p:txBody>
      </p:sp>
      <p:sp>
        <p:nvSpPr>
          <p:cNvPr id="26" name="Shape 24"/>
          <p:cNvSpPr/>
          <p:nvPr/>
        </p:nvSpPr>
        <p:spPr>
          <a:xfrm>
            <a:off x="3441116" y="3675888"/>
            <a:ext cx="2526716" cy="1920240"/>
          </a:xfrm>
          <a:prstGeom prst="roundRect">
            <a:avLst>
              <a:gd name="adj" fmla="val 2143"/>
            </a:avLst>
          </a:prstGeom>
          <a:solidFill>
            <a:srgbClr val="171614"/>
          </a:solidFill>
          <a:ln w="9525">
            <a:solidFill>
              <a:srgbClr val="2E2A24"/>
            </a:solidFill>
            <a:prstDash val="solid"/>
          </a:ln>
        </p:spPr>
      </p:sp>
      <p:sp>
        <p:nvSpPr>
          <p:cNvPr id="27" name="Text 25"/>
          <p:cNvSpPr/>
          <p:nvPr/>
        </p:nvSpPr>
        <p:spPr>
          <a:xfrm>
            <a:off x="3678860"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カウンターパーティリスク</a:t>
            </a:r>
            <a:endParaRPr lang="en-US" sz="1200" dirty="0"/>
          </a:p>
        </p:txBody>
      </p:sp>
      <p:sp>
        <p:nvSpPr>
          <p:cNvPr id="28" name="Text 26"/>
          <p:cNvSpPr/>
          <p:nvPr/>
        </p:nvSpPr>
        <p:spPr>
          <a:xfrm>
            <a:off x="3678860"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WineBankの信用・実行力</a:t>
            </a:r>
            <a:endParaRPr lang="en-US" sz="950" dirty="0"/>
          </a:p>
        </p:txBody>
      </p:sp>
      <p:sp>
        <p:nvSpPr>
          <p:cNvPr id="29" name="Text 27"/>
          <p:cNvSpPr/>
          <p:nvPr/>
        </p:nvSpPr>
        <p:spPr>
          <a:xfrm>
            <a:off x="3678860"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SPCを倒産隔離。ワイン現物はSPC名義で保有しWineBankの債権者から隔離する。WineBankは総額の60%（3億円）を出資しており、持分を通じて損益を負う。</a:t>
            </a:r>
            <a:endParaRPr lang="en-US" sz="900" dirty="0"/>
          </a:p>
        </p:txBody>
      </p:sp>
      <p:sp>
        <p:nvSpPr>
          <p:cNvPr id="30" name="Shape 28"/>
          <p:cNvSpPr/>
          <p:nvPr/>
        </p:nvSpPr>
        <p:spPr>
          <a:xfrm>
            <a:off x="6223864" y="3675888"/>
            <a:ext cx="2526716" cy="1920240"/>
          </a:xfrm>
          <a:prstGeom prst="roundRect">
            <a:avLst>
              <a:gd name="adj" fmla="val 2143"/>
            </a:avLst>
          </a:prstGeom>
          <a:solidFill>
            <a:srgbClr val="171614"/>
          </a:solidFill>
          <a:ln w="9525">
            <a:solidFill>
              <a:srgbClr val="2E2A24"/>
            </a:solidFill>
            <a:prstDash val="solid"/>
          </a:ln>
        </p:spPr>
      </p:sp>
      <p:sp>
        <p:nvSpPr>
          <p:cNvPr id="31" name="Text 29"/>
          <p:cNvSpPr/>
          <p:nvPr/>
        </p:nvSpPr>
        <p:spPr>
          <a:xfrm>
            <a:off x="6461608"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免許・商流リスク</a:t>
            </a:r>
            <a:endParaRPr lang="en-US" sz="1200" dirty="0"/>
          </a:p>
        </p:txBody>
      </p:sp>
      <p:sp>
        <p:nvSpPr>
          <p:cNvPr id="32" name="Text 30"/>
          <p:cNvSpPr/>
          <p:nvPr/>
        </p:nvSpPr>
        <p:spPr>
          <a:xfrm>
            <a:off x="6461608"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免許事業者の変更・取引口座の喪失</a:t>
            </a:r>
            <a:endParaRPr lang="en-US" sz="950" dirty="0"/>
          </a:p>
        </p:txBody>
      </p:sp>
      <p:sp>
        <p:nvSpPr>
          <p:cNvPr id="33" name="Text 31"/>
          <p:cNvSpPr/>
          <p:nvPr/>
        </p:nvSpPr>
        <p:spPr>
          <a:xfrm>
            <a:off x="6461608"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WineBankの免許維持を契約上の義務とし、免許喪失時は在庫を売却清算して早期償還する条項を置く。</a:t>
            </a:r>
            <a:endParaRPr lang="en-US" sz="900" dirty="0"/>
          </a:p>
        </p:txBody>
      </p:sp>
      <p:sp>
        <p:nvSpPr>
          <p:cNvPr id="34" name="Shape 32"/>
          <p:cNvSpPr/>
          <p:nvPr/>
        </p:nvSpPr>
        <p:spPr>
          <a:xfrm>
            <a:off x="9006611" y="3675888"/>
            <a:ext cx="2526716" cy="1920240"/>
          </a:xfrm>
          <a:prstGeom prst="roundRect">
            <a:avLst>
              <a:gd name="adj" fmla="val 2143"/>
            </a:avLst>
          </a:prstGeom>
          <a:solidFill>
            <a:srgbClr val="1F1D19"/>
          </a:solidFill>
          <a:ln w="9525">
            <a:solidFill>
              <a:srgbClr val="6E5730"/>
            </a:solidFill>
            <a:prstDash val="solid"/>
          </a:ln>
        </p:spPr>
      </p:sp>
      <p:sp>
        <p:nvSpPr>
          <p:cNvPr id="35" name="Text 33"/>
          <p:cNvSpPr/>
          <p:nvPr/>
        </p:nvSpPr>
        <p:spPr>
          <a:xfrm>
            <a:off x="9244355"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卸値・移転価格リスク</a:t>
            </a:r>
            <a:endParaRPr lang="en-US" sz="1200" dirty="0"/>
          </a:p>
        </p:txBody>
      </p:sp>
      <p:sp>
        <p:nvSpPr>
          <p:cNvPr id="36" name="Text 34"/>
          <p:cNvSpPr/>
          <p:nvPr/>
        </p:nvSpPr>
        <p:spPr>
          <a:xfrm>
            <a:off x="9244355"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時価−αの妥当性を否認される</a:t>
            </a:r>
            <a:endParaRPr lang="en-US" sz="950" dirty="0"/>
          </a:p>
        </p:txBody>
      </p:sp>
      <p:sp>
        <p:nvSpPr>
          <p:cNvPr id="37" name="Text 35"/>
          <p:cNvSpPr/>
          <p:nvPr/>
        </p:nvSpPr>
        <p:spPr>
          <a:xfrm>
            <a:off x="9244355"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αを契約上24.5%に固定し、時価の算定根拠と第三者卸価格との比較資料を年次で整備する。WineBank出資分に対応する内部利益の取扱いも組成前に確定させる。</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INVESTOR PROTECTION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投資家元本の優先とWineBank出資の劣後</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平時は出資比率どおり。販売不振時や損失が出た場合はWineBankの出資分が先に負担する。利回りではなく元本の返る順序を定める。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20</a:t>
            </a:r>
            <a:endParaRPr lang="en-US" sz="950" dirty="0"/>
          </a:p>
        </p:txBody>
      </p:sp>
      <p:sp>
        <p:nvSpPr>
          <p:cNvPr id="7" name="Shape 5"/>
          <p:cNvSpPr/>
          <p:nvPr/>
        </p:nvSpPr>
        <p:spPr>
          <a:xfrm>
            <a:off x="658368" y="1591056"/>
            <a:ext cx="2554148" cy="1700784"/>
          </a:xfrm>
          <a:prstGeom prst="roundRect">
            <a:avLst>
              <a:gd name="adj" fmla="val 2419"/>
            </a:avLst>
          </a:prstGeom>
          <a:solidFill>
            <a:srgbClr val="171614"/>
          </a:solidFill>
          <a:ln w="9525">
            <a:solidFill>
              <a:srgbClr val="2E2A24"/>
            </a:solidFill>
            <a:prstDash val="solid"/>
          </a:ln>
        </p:spPr>
      </p:sp>
      <p:sp>
        <p:nvSpPr>
          <p:cNvPr id="8" name="Shape 6"/>
          <p:cNvSpPr/>
          <p:nvPr/>
        </p:nvSpPr>
        <p:spPr>
          <a:xfrm>
            <a:off x="859536" y="1773936"/>
            <a:ext cx="310896" cy="310896"/>
          </a:xfrm>
          <a:prstGeom prst="ellipse">
            <a:avLst/>
          </a:prstGeom>
          <a:solidFill>
            <a:srgbClr val="0C0C0C"/>
          </a:solidFill>
          <a:ln w="11430">
            <a:solidFill>
              <a:srgbClr val="A78450"/>
            </a:solidFill>
            <a:prstDash val="solid"/>
          </a:ln>
        </p:spPr>
      </p:sp>
      <p:sp>
        <p:nvSpPr>
          <p:cNvPr id="9" name="Text 7"/>
          <p:cNvSpPr/>
          <p:nvPr/>
        </p:nvSpPr>
        <p:spPr>
          <a:xfrm>
            <a:off x="859536" y="177393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61872" y="1792224"/>
            <a:ext cx="1749476"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平時</a:t>
            </a:r>
            <a:endParaRPr lang="en-US" sz="1200" dirty="0"/>
          </a:p>
        </p:txBody>
      </p:sp>
      <p:sp>
        <p:nvSpPr>
          <p:cNvPr id="11" name="Text 9"/>
          <p:cNvSpPr/>
          <p:nvPr/>
        </p:nvSpPr>
        <p:spPr>
          <a:xfrm>
            <a:off x="859536" y="2157984"/>
            <a:ext cx="2151812" cy="1078992"/>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売却代金のうち元本相当（取得価額）はワインの再購入に充て、利益だけを年1回、出資比率40：60で分配する。元本は満期まで返さない。</a:t>
            </a:r>
            <a:endParaRPr lang="en-US" sz="900" dirty="0"/>
          </a:p>
        </p:txBody>
      </p:sp>
      <p:sp>
        <p:nvSpPr>
          <p:cNvPr id="12" name="Shape 10"/>
          <p:cNvSpPr/>
          <p:nvPr/>
        </p:nvSpPr>
        <p:spPr>
          <a:xfrm>
            <a:off x="3431972" y="1591056"/>
            <a:ext cx="2554148" cy="1700784"/>
          </a:xfrm>
          <a:prstGeom prst="roundRect">
            <a:avLst>
              <a:gd name="adj" fmla="val 2419"/>
            </a:avLst>
          </a:prstGeom>
          <a:solidFill>
            <a:srgbClr val="171614"/>
          </a:solidFill>
          <a:ln w="9525">
            <a:solidFill>
              <a:srgbClr val="2E2A24"/>
            </a:solidFill>
            <a:prstDash val="solid"/>
          </a:ln>
        </p:spPr>
      </p:sp>
      <p:sp>
        <p:nvSpPr>
          <p:cNvPr id="13" name="Shape 11"/>
          <p:cNvSpPr/>
          <p:nvPr/>
        </p:nvSpPr>
        <p:spPr>
          <a:xfrm>
            <a:off x="3633140" y="1773936"/>
            <a:ext cx="310896" cy="310896"/>
          </a:xfrm>
          <a:prstGeom prst="ellipse">
            <a:avLst/>
          </a:prstGeom>
          <a:solidFill>
            <a:srgbClr val="0C0C0C"/>
          </a:solidFill>
          <a:ln w="11430">
            <a:solidFill>
              <a:srgbClr val="A78450"/>
            </a:solidFill>
            <a:prstDash val="solid"/>
          </a:ln>
        </p:spPr>
      </p:sp>
      <p:sp>
        <p:nvSpPr>
          <p:cNvPr id="14" name="Text 12"/>
          <p:cNvSpPr/>
          <p:nvPr/>
        </p:nvSpPr>
        <p:spPr>
          <a:xfrm>
            <a:off x="3633140" y="177393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4035476" y="1792224"/>
            <a:ext cx="1749476"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販売不振時</a:t>
            </a:r>
            <a:endParaRPr lang="en-US" sz="1200" dirty="0"/>
          </a:p>
        </p:txBody>
      </p:sp>
      <p:sp>
        <p:nvSpPr>
          <p:cNvPr id="16" name="Text 14"/>
          <p:cNvSpPr/>
          <p:nvPr/>
        </p:nvSpPr>
        <p:spPr>
          <a:xfrm>
            <a:off x="3633140" y="2157984"/>
            <a:ext cx="2151812" cy="1078992"/>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半期末に直近12ヶ月の売上を判定。1st（2026/12/1）は2028/9末以後3億円、2nd（2027/6/1）後は2029/3末以後6億円を下回ったら再購入を止め、半期ごとに投資家元本から返す。</a:t>
            </a:r>
            <a:endParaRPr lang="en-US" sz="900" dirty="0"/>
          </a:p>
        </p:txBody>
      </p:sp>
      <p:sp>
        <p:nvSpPr>
          <p:cNvPr id="17" name="Shape 15"/>
          <p:cNvSpPr/>
          <p:nvPr/>
        </p:nvSpPr>
        <p:spPr>
          <a:xfrm>
            <a:off x="6205576" y="1591056"/>
            <a:ext cx="2554148" cy="1700784"/>
          </a:xfrm>
          <a:prstGeom prst="roundRect">
            <a:avLst>
              <a:gd name="adj" fmla="val 2419"/>
            </a:avLst>
          </a:prstGeom>
          <a:solidFill>
            <a:srgbClr val="1F1D19"/>
          </a:solidFill>
          <a:ln w="9525">
            <a:solidFill>
              <a:srgbClr val="6E5730"/>
            </a:solidFill>
            <a:prstDash val="solid"/>
          </a:ln>
        </p:spPr>
      </p:sp>
      <p:sp>
        <p:nvSpPr>
          <p:cNvPr id="18" name="Shape 16"/>
          <p:cNvSpPr/>
          <p:nvPr/>
        </p:nvSpPr>
        <p:spPr>
          <a:xfrm>
            <a:off x="6406744" y="1773936"/>
            <a:ext cx="310896" cy="310896"/>
          </a:xfrm>
          <a:prstGeom prst="ellipse">
            <a:avLst/>
          </a:prstGeom>
          <a:solidFill>
            <a:srgbClr val="0C0C0C"/>
          </a:solidFill>
          <a:ln w="11430">
            <a:solidFill>
              <a:srgbClr val="A78450"/>
            </a:solidFill>
            <a:prstDash val="solid"/>
          </a:ln>
        </p:spPr>
      </p:sp>
      <p:sp>
        <p:nvSpPr>
          <p:cNvPr id="19" name="Text 17"/>
          <p:cNvSpPr/>
          <p:nvPr/>
        </p:nvSpPr>
        <p:spPr>
          <a:xfrm>
            <a:off x="6406744" y="177393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6809080" y="1792224"/>
            <a:ext cx="1749476" cy="274320"/>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分配の順序</a:t>
            </a:r>
            <a:endParaRPr lang="en-US" sz="1200" dirty="0"/>
          </a:p>
        </p:txBody>
      </p:sp>
      <p:sp>
        <p:nvSpPr>
          <p:cNvPr id="21" name="Text 19"/>
          <p:cNvSpPr/>
          <p:nvPr/>
        </p:nvSpPr>
        <p:spPr>
          <a:xfrm>
            <a:off x="6406744" y="2157984"/>
            <a:ext cx="2151812" cy="1078992"/>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費用・管理報酬の後、①投資家の元本 → ②WineBankの元本 → ③残余を当初出資比率40：60で分配。最終の分配も同じ順序で、損失はWineBank出資分が先に負担する。</a:t>
            </a:r>
            <a:endParaRPr lang="en-US" sz="900" dirty="0"/>
          </a:p>
        </p:txBody>
      </p:sp>
      <p:sp>
        <p:nvSpPr>
          <p:cNvPr id="22" name="Shape 20"/>
          <p:cNvSpPr/>
          <p:nvPr/>
        </p:nvSpPr>
        <p:spPr>
          <a:xfrm>
            <a:off x="8979179" y="1591056"/>
            <a:ext cx="2554148" cy="1700784"/>
          </a:xfrm>
          <a:prstGeom prst="roundRect">
            <a:avLst>
              <a:gd name="adj" fmla="val 2419"/>
            </a:avLst>
          </a:prstGeom>
          <a:solidFill>
            <a:srgbClr val="171614"/>
          </a:solidFill>
          <a:ln w="9525">
            <a:solidFill>
              <a:srgbClr val="2E2A24"/>
            </a:solidFill>
            <a:prstDash val="solid"/>
          </a:ln>
        </p:spPr>
      </p:sp>
      <p:sp>
        <p:nvSpPr>
          <p:cNvPr id="23" name="Shape 21"/>
          <p:cNvSpPr/>
          <p:nvPr/>
        </p:nvSpPr>
        <p:spPr>
          <a:xfrm>
            <a:off x="9180347" y="1773936"/>
            <a:ext cx="310896" cy="310896"/>
          </a:xfrm>
          <a:prstGeom prst="ellipse">
            <a:avLst/>
          </a:prstGeom>
          <a:solidFill>
            <a:srgbClr val="0C0C0C"/>
          </a:solidFill>
          <a:ln w="11430">
            <a:solidFill>
              <a:srgbClr val="A78450"/>
            </a:solidFill>
            <a:prstDash val="solid"/>
          </a:ln>
        </p:spPr>
      </p:sp>
      <p:sp>
        <p:nvSpPr>
          <p:cNvPr id="24" name="Text 22"/>
          <p:cNvSpPr/>
          <p:nvPr/>
        </p:nvSpPr>
        <p:spPr>
          <a:xfrm>
            <a:off x="9180347" y="177393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25" name="Text 23"/>
          <p:cNvSpPr/>
          <p:nvPr/>
        </p:nvSpPr>
        <p:spPr>
          <a:xfrm>
            <a:off x="9582683" y="1792224"/>
            <a:ext cx="1749476"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保証ではない</a:t>
            </a:r>
            <a:endParaRPr lang="en-US" sz="1200" dirty="0"/>
          </a:p>
        </p:txBody>
      </p:sp>
      <p:sp>
        <p:nvSpPr>
          <p:cNvPr id="26" name="Text 24"/>
          <p:cNvSpPr/>
          <p:nvPr/>
        </p:nvSpPr>
        <p:spPr>
          <a:xfrm>
            <a:off x="9180347" y="2157984"/>
            <a:ext cx="2151812" cy="1078992"/>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利回りの優先はなく、利益は常に出資比率どおり。WineBankは元本・利回りを保証せず買取義務も負わない。投資家の損失は出資額が上限。</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58368" y="3511296"/>
          <a:ext cx="10874959" cy="914400"/>
        </p:xfrm>
        <a:graphic>
          <a:graphicData uri="http://schemas.openxmlformats.org/drawingml/2006/table">
            <a:tbl>
              <a:tblPr/>
              <a:tblGrid>
                <a:gridCol w="3922776"/>
                <a:gridCol w="3474720"/>
                <a:gridCol w="3474720"/>
              </a:tblGrid>
              <a:tr h="32918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試算（費用・管理報酬は先払い）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ファーストクローズ（投資家2億円・WB3億円）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セカンドクローズ（投資家4億円・WB6億円）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29184">
                <a:tc>
                  <a:txBody>
                    <a:bodyPr/>
                    <a:lstStyle/>
                    <a:p>
                      <a:pPr algn="l" indent="0" marL="0">
                        <a:buNone/>
                      </a:pPr>
                      <a:r>
                        <a:rPr lang="en-US" sz="950" dirty="0">
                          <a:solidFill>
                            <a:srgbClr val="EFEBE3"/>
                          </a:solidFill>
                          <a:latin typeface="Yu Gothic" pitchFamily="34" charset="0"/>
                          <a:ea typeface="Yu Gothic" pitchFamily="34" charset="-122"/>
                          <a:cs typeface="Yu Gothic" pitchFamily="34" charset="-120"/>
                        </a:rPr>
                        <a:t>年3億円しか売れない場合：投資家元本の回収</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約12ヶ月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約18ヶ月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9184">
                <a:tc>
                  <a:txBody>
                    <a:bodyPr/>
                    <a:lstStyle/>
                    <a:p>
                      <a:pPr algn="l" indent="0" marL="0">
                        <a:buNone/>
                      </a:pPr>
                      <a:r>
                        <a:rPr lang="en-US" sz="950" dirty="0">
                          <a:solidFill>
                            <a:srgbClr val="EFEBE3"/>
                          </a:solidFill>
                          <a:latin typeface="Yu Gothic" pitchFamily="34" charset="0"/>
                          <a:ea typeface="Yu Gothic" pitchFamily="34" charset="-122"/>
                          <a:cs typeface="Yu Gothic" pitchFamily="34" charset="-120"/>
                        </a:rPr>
                        <a:t>2年で投資家元本を回収するのに必要な年間売上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1.16億円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2.27億円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9184">
                <a:tc>
                  <a:txBody>
                    <a:bodyPr/>
                    <a:lstStyle/>
                    <a:p>
                      <a:pPr algn="l" indent="0" marL="0">
                        <a:buNone/>
                      </a:pPr>
                      <a:r>
                        <a:rPr lang="en-US" sz="950" dirty="0">
                          <a:solidFill>
                            <a:srgbClr val="EFEBE3"/>
                          </a:solidFill>
                          <a:latin typeface="Yu Gothic" pitchFamily="34" charset="0"/>
                          <a:ea typeface="Yu Gothic" pitchFamily="34" charset="-122"/>
                          <a:cs typeface="Yu Gothic" pitchFamily="34" charset="-120"/>
                        </a:rPr>
                        <a:t>最終の手取りが総額の6割の場合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投資家 2.00億円 ／ WB 1.00億円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投資家 4.00億円 ／ WB 2.00億円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9184">
                <a:tc>
                  <a:txBody>
                    <a:bodyPr/>
                    <a:lstStyle/>
                    <a:p>
                      <a:pPr algn="l" indent="0" marL="0">
                        <a:buNone/>
                      </a:pPr>
                      <a:r>
                        <a:rPr lang="en-US" sz="950" dirty="0">
                          <a:solidFill>
                            <a:srgbClr val="EFEBE3"/>
                          </a:solidFill>
                          <a:latin typeface="Yu Gothic" pitchFamily="34" charset="0"/>
                          <a:ea typeface="Yu Gothic" pitchFamily="34" charset="-122"/>
                          <a:cs typeface="Yu Gothic" pitchFamily="34" charset="-120"/>
                        </a:rPr>
                        <a:t>最終の手取りが総額と同額の場合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投資家 2.00億円 ／ WB 3.00億円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投資家 4.00億円 ／ WB 6.00億円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9184">
                <a:tc>
                  <a:txBody>
                    <a:bodyPr/>
                    <a:lstStyle/>
                    <a:p>
                      <a:pPr algn="l" indent="0" marL="0">
                        <a:buNone/>
                      </a:pPr>
                      <a:r>
                        <a:rPr lang="en-US" sz="950" dirty="0">
                          <a:solidFill>
                            <a:srgbClr val="EFEBE3"/>
                          </a:solidFill>
                          <a:latin typeface="Yu Gothic" pitchFamily="34" charset="0"/>
                          <a:ea typeface="Yu Gothic" pitchFamily="34" charset="-122"/>
                          <a:cs typeface="Yu Gothic" pitchFamily="34" charset="-120"/>
                        </a:rPr>
                        <a:t>最終の手取りが総額の1.1倍の場合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C9A96E"/>
                          </a:solidFill>
                          <a:latin typeface="Yu Gothic" pitchFamily="34" charset="0"/>
                          <a:ea typeface="Yu Gothic" pitchFamily="34" charset="-122"/>
                          <a:cs typeface="Yu Gothic" pitchFamily="34" charset="-120"/>
                        </a:rPr>
                        <a:t>投資家 2.20億円 ／ WB 3.30億円（両者＋10%）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C9A96E"/>
                          </a:solidFill>
                          <a:latin typeface="Yu Gothic" pitchFamily="34" charset="0"/>
                          <a:ea typeface="Yu Gothic" pitchFamily="34" charset="-122"/>
                          <a:cs typeface="Yu Gothic" pitchFamily="34" charset="-120"/>
                        </a:rPr>
                        <a:t>投資家 4.40億円 ／ WB 6.60億円（両者＋10%）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8" name="Text 25"/>
          <p:cNvSpPr/>
          <p:nvPr/>
        </p:nvSpPr>
        <p:spPr>
          <a:xfrm>
            <a:off x="658368" y="5577840"/>
            <a:ext cx="10874959" cy="512064"/>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回収期間は再購入停止からの月数（分配は半期ごと）。年3億円の売上は1stで回転29ヶ月相当、2ndで回転71ヶ月相当にあたる。投資家の元本が欠けるのは、最終の手取りが総額の40%（1st 2億円／2nd 4億円）を下回った場合に限られる。主線（回転12ヶ月）では出資比率どおり年平均20.0%となり、平時の条件は変わらない。</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TERMS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ファンド設計条件（ドラフト）</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組成・資本構成（左）と、運用・費用・報告（右）に分けて記載する。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21</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58368" y="1591056"/>
          <a:ext cx="5300320" cy="914400"/>
        </p:xfrm>
        <a:graphic>
          <a:graphicData uri="http://schemas.openxmlformats.org/drawingml/2006/table">
            <a:tbl>
              <a:tblPr/>
              <a:tblGrid>
                <a:gridCol w="1536192"/>
                <a:gridCol w="3764128"/>
              </a:tblGrid>
              <a:tr h="30632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組成形態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合同会社＋匿名組合（GK-TK）。SPCレベルでは非課税、投資家側で課税</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ファンド形態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適格機関投資家等特例業務による私募。適格機関投資家1名以上の確保を組成条件とする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募集総額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ファーストクローズ5億円 → 年度内セカンドクローズ10億円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資本構成</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WineBank現物出資60%（3億円）＋投資家出資40%（2億円）。1口5,000万円以上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損益の配分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SPC税前利益を出資比率どおり60：40で配分。成功報酬（折半）は取らない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運用期間</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5年。満期時に在庫を売却清算のうえ元本償還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中途解約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3年経過後、年度ごとの解約日に申出可（90日前通知）。当初3年間はロックアップ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分配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年1回・利益のみ。売却代金の元本相当は再購入に充て満期まで留保（利益の複利再投資は行わない）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元本の優先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投資家元本→WB元本→残余40：60。売上が総額の60%未満なら再購入を止め投資家元本から返す（利回り優先なし）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233008" y="1591056"/>
          <a:ext cx="5300320" cy="914400"/>
        </p:xfrm>
        <a:graphic>
          <a:graphicData uri="http://schemas.openxmlformats.org/drawingml/2006/table">
            <a:tbl>
              <a:tblPr/>
              <a:tblGrid>
                <a:gridCol w="1536192"/>
                <a:gridCol w="3764128"/>
              </a:tblGrid>
              <a:tr h="30632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SPCへの卸値</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時価 ×（1−α）。α＝24.5%、時価＝取得時の加重平均売値75.00 → SPC簿価 56.63</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WineBankの報酬</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卸値の値入れ（卸した時点で確定）と管理報酬（総額の年2%、半期ごとに1%）の二本のみ</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資金配分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総額の95%をワイン購入、5%を現金保有</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販売チャネル</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酒販店卸（B2B）と自社EC・オークション（B2C）を半々</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在庫回転目標</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12ヶ月。最短9ヶ月、延びても15〜18ヶ月を想定レンジとする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SPC負担費用</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契約で限定列挙：保管・保険・入出庫・変動販売費／維持費200万・管理報酬・AUP150万・予備費50万。自社販路の手数料は決済込み13%上限</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想定リターン</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投資家利回り（年平均）20.0%（回転12ヶ月）。フル稼働時の単年は22.5%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報告・在庫配分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半期：在庫明細・簿価・卸値・売上・試算表（データルームで常時参照）／在庫比率によるプロラタ配分を原則とする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Shape 5"/>
          <p:cNvSpPr/>
          <p:nvPr/>
        </p:nvSpPr>
        <p:spPr>
          <a:xfrm>
            <a:off x="658368" y="5449824"/>
            <a:ext cx="10874959" cy="859536"/>
          </a:xfrm>
          <a:prstGeom prst="roundRect">
            <a:avLst>
              <a:gd name="adj" fmla="val 4787"/>
            </a:avLst>
          </a:prstGeom>
          <a:solidFill>
            <a:srgbClr val="1F1D19"/>
          </a:solidFill>
          <a:ln w="9525">
            <a:solidFill>
              <a:srgbClr val="6E5730"/>
            </a:solidFill>
            <a:prstDash val="solid"/>
          </a:ln>
        </p:spPr>
      </p:sp>
      <p:sp>
        <p:nvSpPr>
          <p:cNvPr id="10" name="Text 6"/>
          <p:cNvSpPr/>
          <p:nvPr/>
        </p:nvSpPr>
        <p:spPr>
          <a:xfrm>
            <a:off x="932688" y="5541264"/>
            <a:ext cx="54864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3年ロックアップが稼働率95%を可能にしている</a:t>
            </a:r>
            <a:endParaRPr lang="en-US" sz="1100" dirty="0"/>
          </a:p>
        </p:txBody>
      </p:sp>
      <p:sp>
        <p:nvSpPr>
          <p:cNvPr id="11" name="Text 7"/>
          <p:cNvSpPr/>
          <p:nvPr/>
        </p:nvSpPr>
        <p:spPr>
          <a:xfrm>
            <a:off x="932688" y="5779008"/>
            <a:ext cx="10326319" cy="438912"/>
          </a:xfrm>
          <a:prstGeom prst="rect">
            <a:avLst/>
          </a:prstGeom>
          <a:noFill/>
          <a:ln/>
        </p:spPr>
        <p:txBody>
          <a:bodyPr wrap="square" lIns="0" tIns="0" rIns="0" bIns="0" rtlCol="0" anchor="ctr"/>
          <a:lstStyle/>
          <a:p>
            <a:pPr indent="0" marL="0">
              <a:lnSpc>
                <a:spcPct val="116000"/>
              </a:lnSpc>
              <a:buNone/>
            </a:pPr>
            <a:r>
              <a:rPr lang="en-US" sz="900" dirty="0">
                <a:solidFill>
                  <a:srgbClr val="9A938A"/>
                </a:solidFill>
                <a:latin typeface="Yu Gothic" pitchFamily="34" charset="0"/>
                <a:ea typeface="Yu Gothic" pitchFamily="34" charset="-122"/>
                <a:cs typeface="Yu Gothic" pitchFamily="34" charset="-120"/>
              </a:rPr>
              <a:t>半期解約を前提とすると常時1〜3割を現金または即時換金可能な在庫で保有する必要があり、稼働率が下がって利回りも下がる（稼働率95%→85%でフル稼働時の単年の投資家利回りは22.5%→19.8%）。当初3年ロックアップ・4年目以降は年度ごとの解約という設計により、現金保有を5%に抑え、総額の95%をワインに充当できる。</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NEXT STEPS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今後の進め方</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22</a:t>
            </a:r>
            <a:endParaRPr lang="en-US" sz="950" dirty="0"/>
          </a:p>
        </p:txBody>
      </p:sp>
      <p:sp>
        <p:nvSpPr>
          <p:cNvPr id="6" name="Shape 4"/>
          <p:cNvSpPr/>
          <p:nvPr/>
        </p:nvSpPr>
        <p:spPr>
          <a:xfrm>
            <a:off x="658368" y="1572768"/>
            <a:ext cx="1999427" cy="2834640"/>
          </a:xfrm>
          <a:prstGeom prst="roundRect">
            <a:avLst>
              <a:gd name="adj" fmla="val 2058"/>
            </a:avLst>
          </a:prstGeom>
          <a:solidFill>
            <a:srgbClr val="171614"/>
          </a:solidFill>
          <a:ln w="9525">
            <a:solidFill>
              <a:srgbClr val="2E2A24"/>
            </a:solidFill>
            <a:prstDash val="solid"/>
          </a:ln>
        </p:spPr>
      </p:sp>
      <p:sp>
        <p:nvSpPr>
          <p:cNvPr id="7" name="Shape 5"/>
          <p:cNvSpPr/>
          <p:nvPr/>
        </p:nvSpPr>
        <p:spPr>
          <a:xfrm>
            <a:off x="877824" y="1792224"/>
            <a:ext cx="365760" cy="365760"/>
          </a:xfrm>
          <a:prstGeom prst="ellipse">
            <a:avLst/>
          </a:prstGeom>
          <a:solidFill>
            <a:srgbClr val="0C0C0C"/>
          </a:solidFill>
          <a:ln w="11430">
            <a:solidFill>
              <a:srgbClr val="A78450"/>
            </a:solidFill>
            <a:prstDash val="solid"/>
          </a:ln>
        </p:spPr>
      </p:sp>
      <p:sp>
        <p:nvSpPr>
          <p:cNvPr id="8" name="Text 6"/>
          <p:cNvSpPr/>
          <p:nvPr/>
        </p:nvSpPr>
        <p:spPr>
          <a:xfrm>
            <a:off x="877824"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01</a:t>
            </a:r>
            <a:endParaRPr lang="en-US" sz="1200" dirty="0"/>
          </a:p>
        </p:txBody>
      </p:sp>
      <p:sp>
        <p:nvSpPr>
          <p:cNvPr id="9" name="Text 7"/>
          <p:cNvSpPr/>
          <p:nvPr/>
        </p:nvSpPr>
        <p:spPr>
          <a:xfrm>
            <a:off x="877824"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前提条件のすり合わせ</a:t>
            </a:r>
            <a:endParaRPr lang="en-US" sz="1200" dirty="0"/>
          </a:p>
        </p:txBody>
      </p:sp>
      <p:sp>
        <p:nvSpPr>
          <p:cNvPr id="10" name="Text 8"/>
          <p:cNvSpPr/>
          <p:nvPr/>
        </p:nvSpPr>
        <p:spPr>
          <a:xfrm>
            <a:off x="877824"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想定回転期間・販売チャネル構成・解約条件、および卸値の控除率α（24.5%。年平均20%を基礎）と管理報酬2%の水準についてご意見をいただく。</a:t>
            </a:r>
            <a:endParaRPr lang="en-US" sz="950" dirty="0"/>
          </a:p>
        </p:txBody>
      </p:sp>
      <p:sp>
        <p:nvSpPr>
          <p:cNvPr id="11" name="Shape 9"/>
          <p:cNvSpPr/>
          <p:nvPr/>
        </p:nvSpPr>
        <p:spPr>
          <a:xfrm>
            <a:off x="2877251" y="1572768"/>
            <a:ext cx="1999427" cy="2834640"/>
          </a:xfrm>
          <a:prstGeom prst="roundRect">
            <a:avLst>
              <a:gd name="adj" fmla="val 2058"/>
            </a:avLst>
          </a:prstGeom>
          <a:solidFill>
            <a:srgbClr val="1F1D19"/>
          </a:solidFill>
          <a:ln w="9525">
            <a:solidFill>
              <a:srgbClr val="6E5730"/>
            </a:solidFill>
            <a:prstDash val="solid"/>
          </a:ln>
        </p:spPr>
      </p:sp>
      <p:sp>
        <p:nvSpPr>
          <p:cNvPr id="12" name="Shape 10"/>
          <p:cNvSpPr/>
          <p:nvPr/>
        </p:nvSpPr>
        <p:spPr>
          <a:xfrm>
            <a:off x="3096707" y="1792224"/>
            <a:ext cx="365760" cy="365760"/>
          </a:xfrm>
          <a:prstGeom prst="ellipse">
            <a:avLst/>
          </a:prstGeom>
          <a:solidFill>
            <a:srgbClr val="0C0C0C"/>
          </a:solidFill>
          <a:ln w="11430">
            <a:solidFill>
              <a:srgbClr val="A78450"/>
            </a:solidFill>
            <a:prstDash val="solid"/>
          </a:ln>
        </p:spPr>
      </p:sp>
      <p:sp>
        <p:nvSpPr>
          <p:cNvPr id="13" name="Text 11"/>
          <p:cNvSpPr/>
          <p:nvPr/>
        </p:nvSpPr>
        <p:spPr>
          <a:xfrm>
            <a:off x="3096707"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02</a:t>
            </a:r>
            <a:endParaRPr lang="en-US" sz="1200" dirty="0"/>
          </a:p>
        </p:txBody>
      </p:sp>
      <p:sp>
        <p:nvSpPr>
          <p:cNvPr id="14" name="Text 12"/>
          <p:cNvSpPr/>
          <p:nvPr/>
        </p:nvSpPr>
        <p:spPr>
          <a:xfrm>
            <a:off x="3096707"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卸値ルールの確定</a:t>
            </a:r>
            <a:endParaRPr lang="en-US" sz="1200" dirty="0"/>
          </a:p>
        </p:txBody>
      </p:sp>
      <p:sp>
        <p:nvSpPr>
          <p:cNvPr id="15" name="Text 13"/>
          <p:cNvSpPr/>
          <p:nvPr/>
        </p:nvSpPr>
        <p:spPr>
          <a:xfrm>
            <a:off x="3096707"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時価の算定方法（B2B卸値とB2C売値の加重平均）とαを契約上固定する。第三者卸価格との比較資料を整備し、移転価格上の説明責任を果たせる状態にする。</a:t>
            </a:r>
            <a:endParaRPr lang="en-US" sz="950" dirty="0"/>
          </a:p>
        </p:txBody>
      </p:sp>
      <p:sp>
        <p:nvSpPr>
          <p:cNvPr id="16" name="Shape 14"/>
          <p:cNvSpPr/>
          <p:nvPr/>
        </p:nvSpPr>
        <p:spPr>
          <a:xfrm>
            <a:off x="5096134" y="1572768"/>
            <a:ext cx="1999427" cy="2834640"/>
          </a:xfrm>
          <a:prstGeom prst="roundRect">
            <a:avLst>
              <a:gd name="adj" fmla="val 2058"/>
            </a:avLst>
          </a:prstGeom>
          <a:solidFill>
            <a:srgbClr val="171614"/>
          </a:solidFill>
          <a:ln w="9525">
            <a:solidFill>
              <a:srgbClr val="2E2A24"/>
            </a:solidFill>
            <a:prstDash val="solid"/>
          </a:ln>
        </p:spPr>
      </p:sp>
      <p:sp>
        <p:nvSpPr>
          <p:cNvPr id="17" name="Shape 15"/>
          <p:cNvSpPr/>
          <p:nvPr/>
        </p:nvSpPr>
        <p:spPr>
          <a:xfrm>
            <a:off x="5315590" y="1792224"/>
            <a:ext cx="365760" cy="365760"/>
          </a:xfrm>
          <a:prstGeom prst="ellipse">
            <a:avLst/>
          </a:prstGeom>
          <a:solidFill>
            <a:srgbClr val="0C0C0C"/>
          </a:solidFill>
          <a:ln w="11430">
            <a:solidFill>
              <a:srgbClr val="A78450"/>
            </a:solidFill>
            <a:prstDash val="solid"/>
          </a:ln>
        </p:spPr>
      </p:sp>
      <p:sp>
        <p:nvSpPr>
          <p:cNvPr id="18" name="Text 16"/>
          <p:cNvSpPr/>
          <p:nvPr/>
        </p:nvSpPr>
        <p:spPr>
          <a:xfrm>
            <a:off x="5315590"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03</a:t>
            </a:r>
            <a:endParaRPr lang="en-US" sz="1200" dirty="0"/>
          </a:p>
        </p:txBody>
      </p:sp>
      <p:sp>
        <p:nvSpPr>
          <p:cNvPr id="19" name="Text 17"/>
          <p:cNvSpPr/>
          <p:nvPr/>
        </p:nvSpPr>
        <p:spPr>
          <a:xfrm>
            <a:off x="5315590"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免許・税務の確定</a:t>
            </a:r>
            <a:endParaRPr lang="en-US" sz="1200" dirty="0"/>
          </a:p>
        </p:txBody>
      </p:sp>
      <p:sp>
        <p:nvSpPr>
          <p:cNvPr id="20" name="Text 18"/>
          <p:cNvSpPr/>
          <p:nvPr/>
        </p:nvSpPr>
        <p:spPr>
          <a:xfrm>
            <a:off x="5315590"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SPCの免許要否と売買形態、酒類の現物出資の取扱い、WineBank出資分に対応する内部利益の会計処理を所轄税務署・顧問弁護士・公認会計士と確認する。</a:t>
            </a:r>
            <a:endParaRPr lang="en-US" sz="950" dirty="0"/>
          </a:p>
        </p:txBody>
      </p:sp>
      <p:sp>
        <p:nvSpPr>
          <p:cNvPr id="21" name="Shape 19"/>
          <p:cNvSpPr/>
          <p:nvPr/>
        </p:nvSpPr>
        <p:spPr>
          <a:xfrm>
            <a:off x="7315017" y="1572768"/>
            <a:ext cx="1999427" cy="2834640"/>
          </a:xfrm>
          <a:prstGeom prst="roundRect">
            <a:avLst>
              <a:gd name="adj" fmla="val 2058"/>
            </a:avLst>
          </a:prstGeom>
          <a:solidFill>
            <a:srgbClr val="171614"/>
          </a:solidFill>
          <a:ln w="9525">
            <a:solidFill>
              <a:srgbClr val="2E2A24"/>
            </a:solidFill>
            <a:prstDash val="solid"/>
          </a:ln>
        </p:spPr>
      </p:sp>
      <p:sp>
        <p:nvSpPr>
          <p:cNvPr id="22" name="Shape 20"/>
          <p:cNvSpPr/>
          <p:nvPr/>
        </p:nvSpPr>
        <p:spPr>
          <a:xfrm>
            <a:off x="7534473" y="1792224"/>
            <a:ext cx="365760" cy="365760"/>
          </a:xfrm>
          <a:prstGeom prst="ellipse">
            <a:avLst/>
          </a:prstGeom>
          <a:solidFill>
            <a:srgbClr val="0C0C0C"/>
          </a:solidFill>
          <a:ln w="11430">
            <a:solidFill>
              <a:srgbClr val="A78450"/>
            </a:solidFill>
            <a:prstDash val="solid"/>
          </a:ln>
        </p:spPr>
      </p:sp>
      <p:sp>
        <p:nvSpPr>
          <p:cNvPr id="23" name="Text 21"/>
          <p:cNvSpPr/>
          <p:nvPr/>
        </p:nvSpPr>
        <p:spPr>
          <a:xfrm>
            <a:off x="7534473"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04</a:t>
            </a:r>
            <a:endParaRPr lang="en-US" sz="1200" dirty="0"/>
          </a:p>
        </p:txBody>
      </p:sp>
      <p:sp>
        <p:nvSpPr>
          <p:cNvPr id="24" name="Text 22"/>
          <p:cNvSpPr/>
          <p:nvPr/>
        </p:nvSpPr>
        <p:spPr>
          <a:xfrm>
            <a:off x="7534473"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調達枠の確保と実証</a:t>
            </a:r>
            <a:endParaRPr lang="en-US" sz="1200" dirty="0"/>
          </a:p>
        </p:txBody>
      </p:sp>
      <p:sp>
        <p:nvSpPr>
          <p:cNvPr id="25" name="Text 23"/>
          <p:cNvSpPr/>
          <p:nvPr/>
        </p:nvSpPr>
        <p:spPr>
          <a:xfrm>
            <a:off x="7534473"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インポーター・酒販店との年間調達枠を締結し、小規模ロットで回転期間とチャネル別手数料の実証を行う。</a:t>
            </a:r>
            <a:endParaRPr lang="en-US" sz="950" dirty="0"/>
          </a:p>
        </p:txBody>
      </p:sp>
      <p:sp>
        <p:nvSpPr>
          <p:cNvPr id="26" name="Shape 24"/>
          <p:cNvSpPr/>
          <p:nvPr/>
        </p:nvSpPr>
        <p:spPr>
          <a:xfrm>
            <a:off x="9533900" y="1572768"/>
            <a:ext cx="1999427" cy="2834640"/>
          </a:xfrm>
          <a:prstGeom prst="roundRect">
            <a:avLst>
              <a:gd name="adj" fmla="val 2058"/>
            </a:avLst>
          </a:prstGeom>
          <a:solidFill>
            <a:srgbClr val="171614"/>
          </a:solidFill>
          <a:ln w="9525">
            <a:solidFill>
              <a:srgbClr val="2E2A24"/>
            </a:solidFill>
            <a:prstDash val="solid"/>
          </a:ln>
        </p:spPr>
      </p:sp>
      <p:sp>
        <p:nvSpPr>
          <p:cNvPr id="27" name="Shape 25"/>
          <p:cNvSpPr/>
          <p:nvPr/>
        </p:nvSpPr>
        <p:spPr>
          <a:xfrm>
            <a:off x="9753356" y="1792224"/>
            <a:ext cx="365760" cy="365760"/>
          </a:xfrm>
          <a:prstGeom prst="ellipse">
            <a:avLst/>
          </a:prstGeom>
          <a:solidFill>
            <a:srgbClr val="0C0C0C"/>
          </a:solidFill>
          <a:ln w="11430">
            <a:solidFill>
              <a:srgbClr val="A78450"/>
            </a:solidFill>
            <a:prstDash val="solid"/>
          </a:ln>
        </p:spPr>
      </p:sp>
      <p:sp>
        <p:nvSpPr>
          <p:cNvPr id="28" name="Text 26"/>
          <p:cNvSpPr/>
          <p:nvPr/>
        </p:nvSpPr>
        <p:spPr>
          <a:xfrm>
            <a:off x="9753356"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05</a:t>
            </a:r>
            <a:endParaRPr lang="en-US" sz="1200" dirty="0"/>
          </a:p>
        </p:txBody>
      </p:sp>
      <p:sp>
        <p:nvSpPr>
          <p:cNvPr id="29" name="Text 27"/>
          <p:cNvSpPr/>
          <p:nvPr/>
        </p:nvSpPr>
        <p:spPr>
          <a:xfrm>
            <a:off x="9753356"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ファーストクローズと実証</a:t>
            </a:r>
            <a:endParaRPr lang="en-US" sz="1200" dirty="0"/>
          </a:p>
        </p:txBody>
      </p:sp>
      <p:sp>
        <p:nvSpPr>
          <p:cNvPr id="30" name="Text 28"/>
          <p:cNvSpPr/>
          <p:nvPr/>
        </p:nvSpPr>
        <p:spPr>
          <a:xfrm>
            <a:off x="9753356"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総額5億円で組成し運用開始。回転12ヶ月の実績を確認したうえで、年度内のセカンドクローズ（総額10億円）を判断する。</a:t>
            </a:r>
            <a:endParaRPr lang="en-US" sz="950" dirty="0"/>
          </a:p>
        </p:txBody>
      </p:sp>
      <p:sp>
        <p:nvSpPr>
          <p:cNvPr id="31" name="Shape 29"/>
          <p:cNvSpPr/>
          <p:nvPr/>
        </p:nvSpPr>
        <p:spPr>
          <a:xfrm>
            <a:off x="658368" y="4608576"/>
            <a:ext cx="10874959" cy="969264"/>
          </a:xfrm>
          <a:prstGeom prst="roundRect">
            <a:avLst>
              <a:gd name="adj" fmla="val 4245"/>
            </a:avLst>
          </a:prstGeom>
          <a:solidFill>
            <a:srgbClr val="171614"/>
          </a:solidFill>
          <a:ln w="9525">
            <a:solidFill>
              <a:srgbClr val="2E2A24"/>
            </a:solidFill>
            <a:prstDash val="solid"/>
          </a:ln>
        </p:spPr>
      </p:sp>
      <p:sp>
        <p:nvSpPr>
          <p:cNvPr id="32" name="Text 30"/>
          <p:cNvSpPr/>
          <p:nvPr/>
        </p:nvSpPr>
        <p:spPr>
          <a:xfrm>
            <a:off x="932688" y="4754880"/>
            <a:ext cx="10326319" cy="676656"/>
          </a:xfrm>
          <a:prstGeom prst="rect">
            <a:avLst/>
          </a:prstGeom>
          <a:noFill/>
          <a:ln/>
        </p:spPr>
        <p:txBody>
          <a:bodyPr wrap="square" lIns="0" tIns="0" rIns="0" bIns="0" rtlCol="0" anchor="ctr"/>
          <a:lstStyle/>
          <a:p>
            <a:pPr indent="0" marL="0">
              <a:lnSpc>
                <a:spcPct val="124000"/>
              </a:lnSpc>
              <a:buNone/>
            </a:pPr>
            <a:r>
              <a:rPr lang="en-US" sz="1000" dirty="0">
                <a:solidFill>
                  <a:srgbClr val="9A938A"/>
                </a:solidFill>
                <a:latin typeface="Yu Gothic" pitchFamily="34" charset="0"/>
                <a:ea typeface="Yu Gothic" pitchFamily="34" charset="-122"/>
                <a:cs typeface="Yu Gothic" pitchFamily="34" charset="-120"/>
              </a:rPr>
              <a:t>本資料の数値は一定の前提に基づく試算であり、将来の運用成果を保証するものではありません。最終的な条件は契約書に基づきます。免許・税務の取扱いおよび卸値の算定は、所轄官庁および専門家の確認を経て確定します。</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CONCLUSION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まとめ：本ファンドに出資いただく意義</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23</a:t>
            </a:r>
            <a:endParaRPr lang="en-US" sz="950" dirty="0"/>
          </a:p>
        </p:txBody>
      </p:sp>
      <p:sp>
        <p:nvSpPr>
          <p:cNvPr id="6" name="Shape 4"/>
          <p:cNvSpPr/>
          <p:nvPr/>
        </p:nvSpPr>
        <p:spPr>
          <a:xfrm>
            <a:off x="658368" y="1572768"/>
            <a:ext cx="6537960" cy="749808"/>
          </a:xfrm>
          <a:prstGeom prst="roundRect">
            <a:avLst>
              <a:gd name="adj" fmla="val 5488"/>
            </a:avLst>
          </a:prstGeom>
          <a:solidFill>
            <a:srgbClr val="1F1D19"/>
          </a:solidFill>
          <a:ln w="9525">
            <a:solidFill>
              <a:srgbClr val="6E5730"/>
            </a:solidFill>
            <a:prstDash val="solid"/>
          </a:ln>
        </p:spPr>
      </p:sp>
      <p:sp>
        <p:nvSpPr>
          <p:cNvPr id="7" name="Shape 5"/>
          <p:cNvSpPr/>
          <p:nvPr/>
        </p:nvSpPr>
        <p:spPr>
          <a:xfrm>
            <a:off x="877824" y="1792224"/>
            <a:ext cx="310896" cy="310896"/>
          </a:xfrm>
          <a:prstGeom prst="ellipse">
            <a:avLst/>
          </a:prstGeom>
          <a:solidFill>
            <a:srgbClr val="0C0C0C"/>
          </a:solidFill>
          <a:ln w="11430">
            <a:solidFill>
              <a:srgbClr val="A78450"/>
            </a:solidFill>
            <a:prstDash val="solid"/>
          </a:ln>
        </p:spPr>
      </p:sp>
      <p:sp>
        <p:nvSpPr>
          <p:cNvPr id="8" name="Text 6"/>
          <p:cNvSpPr/>
          <p:nvPr/>
        </p:nvSpPr>
        <p:spPr>
          <a:xfrm>
            <a:off x="877824" y="179222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9" name="Text 7"/>
          <p:cNvSpPr/>
          <p:nvPr/>
        </p:nvSpPr>
        <p:spPr>
          <a:xfrm>
            <a:off x="1280160" y="1664208"/>
            <a:ext cx="5678424"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報酬体系が単純で、検証しやすい</a:t>
            </a:r>
            <a:endParaRPr lang="en-US" sz="1150" dirty="0"/>
          </a:p>
        </p:txBody>
      </p:sp>
      <p:sp>
        <p:nvSpPr>
          <p:cNvPr id="10" name="Text 8"/>
          <p:cNvSpPr/>
          <p:nvPr/>
        </p:nvSpPr>
        <p:spPr>
          <a:xfrm>
            <a:off x="1280160" y="190195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WineBankの取り分は「卸値の値入れ（時価−α）」と「管理報酬 年2%」の二本のみ。出口の成功報酬はなく、投資家の取分は「SPC税前利益 × 出資比率40%」だけで決まる。αを契約で固定すれば、報酬の妥当性は卸値の検証に集約される。</a:t>
            </a:r>
            <a:endParaRPr lang="en-US" sz="850" dirty="0"/>
          </a:p>
        </p:txBody>
      </p:sp>
      <p:sp>
        <p:nvSpPr>
          <p:cNvPr id="11" name="Shape 9"/>
          <p:cNvSpPr/>
          <p:nvPr/>
        </p:nvSpPr>
        <p:spPr>
          <a:xfrm>
            <a:off x="658368" y="2395728"/>
            <a:ext cx="6537960" cy="749808"/>
          </a:xfrm>
          <a:prstGeom prst="roundRect">
            <a:avLst>
              <a:gd name="adj" fmla="val 5488"/>
            </a:avLst>
          </a:prstGeom>
          <a:solidFill>
            <a:srgbClr val="171614"/>
          </a:solidFill>
          <a:ln w="9525">
            <a:solidFill>
              <a:srgbClr val="2E2A24"/>
            </a:solidFill>
            <a:prstDash val="solid"/>
          </a:ln>
        </p:spPr>
      </p:sp>
      <p:sp>
        <p:nvSpPr>
          <p:cNvPr id="12" name="Shape 10"/>
          <p:cNvSpPr/>
          <p:nvPr/>
        </p:nvSpPr>
        <p:spPr>
          <a:xfrm>
            <a:off x="877824" y="2615184"/>
            <a:ext cx="310896" cy="310896"/>
          </a:xfrm>
          <a:prstGeom prst="ellipse">
            <a:avLst/>
          </a:prstGeom>
          <a:solidFill>
            <a:srgbClr val="0C0C0C"/>
          </a:solidFill>
          <a:ln w="11430">
            <a:solidFill>
              <a:srgbClr val="A78450"/>
            </a:solidFill>
            <a:prstDash val="solid"/>
          </a:ln>
        </p:spPr>
      </p:sp>
      <p:sp>
        <p:nvSpPr>
          <p:cNvPr id="13" name="Text 11"/>
          <p:cNvSpPr/>
          <p:nvPr/>
        </p:nvSpPr>
        <p:spPr>
          <a:xfrm>
            <a:off x="877824" y="261518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4" name="Text 12"/>
          <p:cNvSpPr/>
          <p:nvPr/>
        </p:nvSpPr>
        <p:spPr>
          <a:xfrm>
            <a:off x="1280160" y="248716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仕入価格と売値の変動から遮断される</a:t>
            </a:r>
            <a:endParaRPr lang="en-US" sz="1150" dirty="0"/>
          </a:p>
        </p:txBody>
      </p:sp>
      <p:sp>
        <p:nvSpPr>
          <p:cNvPr id="15" name="Text 13"/>
          <p:cNvSpPr/>
          <p:nvPr/>
        </p:nvSpPr>
        <p:spPr>
          <a:xfrm>
            <a:off x="1280160" y="272491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卸値が時価に連動して決まるため、市中仕入が50→45に下がっても（＋0.0pt）、売値が5%下がっても（▲0.1pt）、投資家利回りはほとんど動かない。</a:t>
            </a:r>
            <a:endParaRPr lang="en-US" sz="850" dirty="0"/>
          </a:p>
        </p:txBody>
      </p:sp>
      <p:sp>
        <p:nvSpPr>
          <p:cNvPr id="16" name="Shape 14"/>
          <p:cNvSpPr/>
          <p:nvPr/>
        </p:nvSpPr>
        <p:spPr>
          <a:xfrm>
            <a:off x="658368" y="3218688"/>
            <a:ext cx="6537960" cy="749808"/>
          </a:xfrm>
          <a:prstGeom prst="roundRect">
            <a:avLst>
              <a:gd name="adj" fmla="val 5488"/>
            </a:avLst>
          </a:prstGeom>
          <a:solidFill>
            <a:srgbClr val="171614"/>
          </a:solidFill>
          <a:ln w="9525">
            <a:solidFill>
              <a:srgbClr val="2E2A24"/>
            </a:solidFill>
            <a:prstDash val="solid"/>
          </a:ln>
        </p:spPr>
      </p:sp>
      <p:sp>
        <p:nvSpPr>
          <p:cNvPr id="17" name="Shape 15"/>
          <p:cNvSpPr/>
          <p:nvPr/>
        </p:nvSpPr>
        <p:spPr>
          <a:xfrm>
            <a:off x="877824" y="3438144"/>
            <a:ext cx="310896" cy="310896"/>
          </a:xfrm>
          <a:prstGeom prst="ellipse">
            <a:avLst/>
          </a:prstGeom>
          <a:solidFill>
            <a:srgbClr val="0C0C0C"/>
          </a:solidFill>
          <a:ln w="11430">
            <a:solidFill>
              <a:srgbClr val="A78450"/>
            </a:solidFill>
            <a:prstDash val="solid"/>
          </a:ln>
        </p:spPr>
      </p:sp>
      <p:sp>
        <p:nvSpPr>
          <p:cNvPr id="18" name="Text 16"/>
          <p:cNvSpPr/>
          <p:nvPr/>
        </p:nvSpPr>
        <p:spPr>
          <a:xfrm>
            <a:off x="877824" y="343814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19" name="Text 17"/>
          <p:cNvSpPr/>
          <p:nvPr/>
        </p:nvSpPr>
        <p:spPr>
          <a:xfrm>
            <a:off x="1280160" y="331012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現物が元本を裏付ける</a:t>
            </a:r>
            <a:endParaRPr lang="en-US" sz="1150" dirty="0"/>
          </a:p>
        </p:txBody>
      </p:sp>
      <p:sp>
        <p:nvSpPr>
          <p:cNvPr id="20" name="Text 18"/>
          <p:cNvSpPr/>
          <p:nvPr/>
        </p:nvSpPr>
        <p:spPr>
          <a:xfrm>
            <a:off x="1280160" y="354787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出資金の95%が常にワイン現物として存在する。SPC名義で保有し倒産隔離。保有している限り値上がりも取り込める。</a:t>
            </a:r>
            <a:endParaRPr lang="en-US" sz="850" dirty="0"/>
          </a:p>
        </p:txBody>
      </p:sp>
      <p:sp>
        <p:nvSpPr>
          <p:cNvPr id="21" name="Shape 19"/>
          <p:cNvSpPr/>
          <p:nvPr/>
        </p:nvSpPr>
        <p:spPr>
          <a:xfrm>
            <a:off x="658368" y="4041648"/>
            <a:ext cx="6537960" cy="749808"/>
          </a:xfrm>
          <a:prstGeom prst="roundRect">
            <a:avLst>
              <a:gd name="adj" fmla="val 5488"/>
            </a:avLst>
          </a:prstGeom>
          <a:solidFill>
            <a:srgbClr val="171614"/>
          </a:solidFill>
          <a:ln w="9525">
            <a:solidFill>
              <a:srgbClr val="2E2A24"/>
            </a:solidFill>
            <a:prstDash val="solid"/>
          </a:ln>
        </p:spPr>
      </p:sp>
      <p:sp>
        <p:nvSpPr>
          <p:cNvPr id="22" name="Shape 20"/>
          <p:cNvSpPr/>
          <p:nvPr/>
        </p:nvSpPr>
        <p:spPr>
          <a:xfrm>
            <a:off x="877824" y="4261104"/>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426110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24" name="Text 22"/>
          <p:cNvSpPr/>
          <p:nvPr/>
        </p:nvSpPr>
        <p:spPr>
          <a:xfrm>
            <a:off x="1280160" y="413308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WineBankが総額の60%を出資している</a:t>
            </a:r>
            <a:endParaRPr lang="en-US" sz="1150" dirty="0"/>
          </a:p>
        </p:txBody>
      </p:sp>
      <p:sp>
        <p:nvSpPr>
          <p:cNvPr id="25" name="Text 23"/>
          <p:cNvSpPr/>
          <p:nvPr/>
        </p:nvSpPr>
        <p:spPr>
          <a:xfrm>
            <a:off x="1280160" y="437083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WineBankはワイン現物3億円を拠出し、持分60%を通じてSPCの損益をそのまま負う。</a:t>
            </a:r>
            <a:endParaRPr lang="en-US" sz="850" dirty="0"/>
          </a:p>
        </p:txBody>
      </p:sp>
      <p:sp>
        <p:nvSpPr>
          <p:cNvPr id="26" name="Shape 24"/>
          <p:cNvSpPr/>
          <p:nvPr/>
        </p:nvSpPr>
        <p:spPr>
          <a:xfrm>
            <a:off x="658368" y="4864608"/>
            <a:ext cx="6537960" cy="749808"/>
          </a:xfrm>
          <a:prstGeom prst="roundRect">
            <a:avLst>
              <a:gd name="adj" fmla="val 5488"/>
            </a:avLst>
          </a:prstGeom>
          <a:solidFill>
            <a:srgbClr val="171614"/>
          </a:solidFill>
          <a:ln w="9525">
            <a:solidFill>
              <a:srgbClr val="2E2A24"/>
            </a:solidFill>
            <a:prstDash val="solid"/>
          </a:ln>
        </p:spPr>
      </p:sp>
      <p:sp>
        <p:nvSpPr>
          <p:cNvPr id="27" name="Shape 25"/>
          <p:cNvSpPr/>
          <p:nvPr/>
        </p:nvSpPr>
        <p:spPr>
          <a:xfrm>
            <a:off x="877824" y="5084064"/>
            <a:ext cx="310896" cy="310896"/>
          </a:xfrm>
          <a:prstGeom prst="ellipse">
            <a:avLst/>
          </a:prstGeom>
          <a:solidFill>
            <a:srgbClr val="0C0C0C"/>
          </a:solidFill>
          <a:ln w="11430">
            <a:solidFill>
              <a:srgbClr val="A78450"/>
            </a:solidFill>
            <a:prstDash val="solid"/>
          </a:ln>
        </p:spPr>
      </p:sp>
      <p:sp>
        <p:nvSpPr>
          <p:cNvPr id="28" name="Text 26"/>
          <p:cNvSpPr/>
          <p:nvPr/>
        </p:nvSpPr>
        <p:spPr>
          <a:xfrm>
            <a:off x="877824" y="508406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05</a:t>
            </a:r>
            <a:endParaRPr lang="en-US" sz="1100" dirty="0"/>
          </a:p>
        </p:txBody>
      </p:sp>
      <p:sp>
        <p:nvSpPr>
          <p:cNvPr id="29" name="Text 27"/>
          <p:cNvSpPr/>
          <p:nvPr/>
        </p:nvSpPr>
        <p:spPr>
          <a:xfrm>
            <a:off x="1280160" y="495604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他社が再現できない調達力と、B2B・B2Cの両輪</a:t>
            </a:r>
            <a:endParaRPr lang="en-US" sz="1150" dirty="0"/>
          </a:p>
        </p:txBody>
      </p:sp>
      <p:sp>
        <p:nvSpPr>
          <p:cNvPr id="30" name="Text 28"/>
          <p:cNvSpPr/>
          <p:nvPr/>
        </p:nvSpPr>
        <p:spPr>
          <a:xfrm>
            <a:off x="1280160" y="519379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創業55年の酒販免許、大手インポーターとの直接取引、輸出入ライセンス。出口は酒販店卸（B2B）と自社EC・オークション・CLUB会員・グループのアピシウス（B2C）。</a:t>
            </a:r>
            <a:endParaRPr lang="en-US" sz="850" dirty="0"/>
          </a:p>
        </p:txBody>
      </p:sp>
      <p:sp>
        <p:nvSpPr>
          <p:cNvPr id="31" name="Shape 29"/>
          <p:cNvSpPr/>
          <p:nvPr/>
        </p:nvSpPr>
        <p:spPr>
          <a:xfrm>
            <a:off x="7470648" y="1572768"/>
            <a:ext cx="4062679" cy="4041648"/>
          </a:xfrm>
          <a:prstGeom prst="roundRect">
            <a:avLst>
              <a:gd name="adj" fmla="val 1018"/>
            </a:avLst>
          </a:prstGeom>
          <a:solidFill>
            <a:srgbClr val="1F1D19"/>
          </a:solidFill>
          <a:ln w="9525">
            <a:solidFill>
              <a:srgbClr val="6E5730"/>
            </a:solidFill>
            <a:prstDash val="solid"/>
          </a:ln>
        </p:spPr>
      </p:sp>
      <p:sp>
        <p:nvSpPr>
          <p:cNvPr id="32" name="Text 30"/>
          <p:cNvSpPr/>
          <p:nvPr/>
        </p:nvSpPr>
        <p:spPr>
          <a:xfrm>
            <a:off x="7726680" y="1755648"/>
            <a:ext cx="3550615"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貴社の投資基準との照合</a:t>
            </a:r>
            <a:endParaRPr lang="en-US" sz="1250" dirty="0"/>
          </a:p>
        </p:txBody>
      </p:sp>
      <p:sp>
        <p:nvSpPr>
          <p:cNvPr id="33" name="Shape 31"/>
          <p:cNvSpPr/>
          <p:nvPr/>
        </p:nvSpPr>
        <p:spPr>
          <a:xfrm>
            <a:off x="7726680" y="2180844"/>
            <a:ext cx="137160" cy="137160"/>
          </a:xfrm>
          <a:prstGeom prst="ellipse">
            <a:avLst/>
          </a:prstGeom>
          <a:solidFill>
            <a:srgbClr val="A78450"/>
          </a:solidFill>
          <a:ln w="11430">
            <a:solidFill>
              <a:srgbClr val="A78450"/>
            </a:solidFill>
            <a:prstDash val="solid"/>
          </a:ln>
        </p:spPr>
      </p:sp>
      <p:sp>
        <p:nvSpPr>
          <p:cNvPr id="34" name="Text 32"/>
          <p:cNvSpPr/>
          <p:nvPr/>
        </p:nvSpPr>
        <p:spPr>
          <a:xfrm>
            <a:off x="7726680" y="2180844"/>
            <a:ext cx="137160" cy="137160"/>
          </a:xfrm>
          <a:prstGeom prst="rect">
            <a:avLst/>
          </a:prstGeom>
          <a:noFill/>
          <a:ln/>
        </p:spPr>
        <p:txBody>
          <a:bodyPr wrap="square" lIns="0" tIns="0" rIns="0" bIns="0" rtlCol="0" anchor="ctr"/>
          <a:lstStyle/>
          <a:p>
            <a:pPr algn="ctr" indent="0" marL="0">
              <a:buNone/>
            </a:pPr>
            <a:endParaRPr lang="en-US" sz="1100" dirty="0"/>
          </a:p>
        </p:txBody>
      </p:sp>
      <p:sp>
        <p:nvSpPr>
          <p:cNvPr id="35" name="Text 33"/>
          <p:cNvSpPr/>
          <p:nvPr/>
        </p:nvSpPr>
        <p:spPr>
          <a:xfrm>
            <a:off x="7964424" y="212140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想定利回り20%（実績）に対して</a:t>
            </a:r>
            <a:endParaRPr lang="en-US" sz="1050" dirty="0"/>
          </a:p>
        </p:txBody>
      </p:sp>
      <p:sp>
        <p:nvSpPr>
          <p:cNvPr id="36" name="Text 34"/>
          <p:cNvSpPr/>
          <p:nvPr/>
        </p:nvSpPr>
        <p:spPr>
          <a:xfrm>
            <a:off x="7964424" y="235000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主線（回転12ヶ月・上昇6%）で年平均20.0%。分岐点は回転12.3ヶ月で余裕はない。</a:t>
            </a:r>
            <a:endParaRPr lang="en-US" sz="900" dirty="0"/>
          </a:p>
        </p:txBody>
      </p:sp>
      <p:sp>
        <p:nvSpPr>
          <p:cNvPr id="37" name="Text 35"/>
          <p:cNvSpPr/>
          <p:nvPr/>
        </p:nvSpPr>
        <p:spPr>
          <a:xfrm>
            <a:off x="7964424" y="274320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回転12ヶ月の達成が20%確保の必要条件となる。必要な年間販売額は6.67億円で現状の販売実力（年5〜7億円）の範囲内にあり、流動性上位の銘柄に絞って組み入れる。</a:t>
            </a:r>
            <a:endParaRPr lang="en-US" sz="900" dirty="0"/>
          </a:p>
        </p:txBody>
      </p:sp>
      <p:sp>
        <p:nvSpPr>
          <p:cNvPr id="38" name="Shape 36"/>
          <p:cNvSpPr/>
          <p:nvPr/>
        </p:nvSpPr>
        <p:spPr>
          <a:xfrm>
            <a:off x="7726680" y="3369564"/>
            <a:ext cx="137160" cy="137160"/>
          </a:xfrm>
          <a:prstGeom prst="ellipse">
            <a:avLst/>
          </a:prstGeom>
          <a:solidFill>
            <a:srgbClr val="A78450"/>
          </a:solidFill>
          <a:ln w="11430">
            <a:solidFill>
              <a:srgbClr val="A78450"/>
            </a:solidFill>
            <a:prstDash val="solid"/>
          </a:ln>
        </p:spPr>
      </p:sp>
      <p:sp>
        <p:nvSpPr>
          <p:cNvPr id="39" name="Text 37"/>
          <p:cNvSpPr/>
          <p:nvPr/>
        </p:nvSpPr>
        <p:spPr>
          <a:xfrm>
            <a:off x="7726680" y="3369564"/>
            <a:ext cx="137160" cy="137160"/>
          </a:xfrm>
          <a:prstGeom prst="rect">
            <a:avLst/>
          </a:prstGeom>
          <a:noFill/>
          <a:ln/>
        </p:spPr>
        <p:txBody>
          <a:bodyPr wrap="square" lIns="0" tIns="0" rIns="0" bIns="0" rtlCol="0" anchor="ctr"/>
          <a:lstStyle/>
          <a:p>
            <a:pPr algn="ctr" indent="0" marL="0">
              <a:buNone/>
            </a:pPr>
            <a:endParaRPr lang="en-US" sz="1100" dirty="0"/>
          </a:p>
        </p:txBody>
      </p:sp>
      <p:sp>
        <p:nvSpPr>
          <p:cNvPr id="40" name="Text 38"/>
          <p:cNvSpPr/>
          <p:nvPr/>
        </p:nvSpPr>
        <p:spPr>
          <a:xfrm>
            <a:off x="7964424" y="331012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解約条件に対して</a:t>
            </a:r>
            <a:endParaRPr lang="en-US" sz="1050" dirty="0"/>
          </a:p>
        </p:txBody>
      </p:sp>
      <p:sp>
        <p:nvSpPr>
          <p:cNvPr id="41" name="Text 39"/>
          <p:cNvSpPr/>
          <p:nvPr/>
        </p:nvSpPr>
        <p:spPr>
          <a:xfrm>
            <a:off x="7964424" y="353872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運用期間5年・当初3年ロックアップ・4年目以降は年度ごとの解約。分配は毎年1回。</a:t>
            </a:r>
            <a:endParaRPr lang="en-US" sz="900" dirty="0"/>
          </a:p>
        </p:txBody>
      </p:sp>
      <p:sp>
        <p:nvSpPr>
          <p:cNvPr id="42" name="Text 40"/>
          <p:cNvSpPr/>
          <p:nvPr/>
        </p:nvSpPr>
        <p:spPr>
          <a:xfrm>
            <a:off x="7964424" y="393192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この設計により現金保有を5%に抑え、総額の95%をワインに充当できる。半期解約を前提とすると稼働率が下がりフル稼働時の単年で22.5%→19.8%に低下する。</a:t>
            </a:r>
            <a:endParaRPr lang="en-US" sz="900" dirty="0"/>
          </a:p>
        </p:txBody>
      </p:sp>
      <p:sp>
        <p:nvSpPr>
          <p:cNvPr id="43" name="Shape 41"/>
          <p:cNvSpPr/>
          <p:nvPr/>
        </p:nvSpPr>
        <p:spPr>
          <a:xfrm>
            <a:off x="7726680" y="4558284"/>
            <a:ext cx="137160" cy="137160"/>
          </a:xfrm>
          <a:prstGeom prst="ellipse">
            <a:avLst/>
          </a:prstGeom>
          <a:solidFill>
            <a:srgbClr val="A78450"/>
          </a:solidFill>
          <a:ln w="11430">
            <a:solidFill>
              <a:srgbClr val="A78450"/>
            </a:solidFill>
            <a:prstDash val="solid"/>
          </a:ln>
        </p:spPr>
      </p:sp>
      <p:sp>
        <p:nvSpPr>
          <p:cNvPr id="44" name="Text 42"/>
          <p:cNvSpPr/>
          <p:nvPr/>
        </p:nvSpPr>
        <p:spPr>
          <a:xfrm>
            <a:off x="7726680" y="4558284"/>
            <a:ext cx="137160" cy="137160"/>
          </a:xfrm>
          <a:prstGeom prst="rect">
            <a:avLst/>
          </a:prstGeom>
          <a:noFill/>
          <a:ln/>
        </p:spPr>
        <p:txBody>
          <a:bodyPr wrap="square" lIns="0" tIns="0" rIns="0" bIns="0" rtlCol="0" anchor="ctr"/>
          <a:lstStyle/>
          <a:p>
            <a:pPr algn="ctr" indent="0" marL="0">
              <a:buNone/>
            </a:pPr>
            <a:endParaRPr lang="en-US" sz="1100" dirty="0"/>
          </a:p>
        </p:txBody>
      </p:sp>
      <p:sp>
        <p:nvSpPr>
          <p:cNvPr id="45" name="Text 43"/>
          <p:cNvSpPr/>
          <p:nvPr/>
        </p:nvSpPr>
        <p:spPr>
          <a:xfrm>
            <a:off x="7964424" y="449884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リスク分散に対して</a:t>
            </a:r>
            <a:endParaRPr lang="en-US" sz="1050" dirty="0"/>
          </a:p>
        </p:txBody>
      </p:sp>
      <p:sp>
        <p:nvSpPr>
          <p:cNvPr id="46" name="Text 44"/>
          <p:cNvSpPr/>
          <p:nvPr/>
        </p:nvSpPr>
        <p:spPr>
          <a:xfrm>
            <a:off x="7964424" y="472744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伝統的資産と相関の低い実物資産。既存30億円のポートフォリオに対し出資2億円は約7%。</a:t>
            </a:r>
            <a:endParaRPr lang="en-US" sz="900" dirty="0"/>
          </a:p>
        </p:txBody>
      </p:sp>
      <p:sp>
        <p:nvSpPr>
          <p:cNvPr id="47" name="Text 45"/>
          <p:cNvSpPr/>
          <p:nvPr/>
        </p:nvSpPr>
        <p:spPr>
          <a:xfrm>
            <a:off x="7964424" y="512064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単一銘柄ではなく複数産地・複数ヴィンテージへの分散となり、ポートフォリオ内での分散効果が働く。</a:t>
            </a:r>
            <a:endParaRPr lang="en-US" sz="900" dirty="0"/>
          </a:p>
        </p:txBody>
      </p:sp>
      <p:sp>
        <p:nvSpPr>
          <p:cNvPr id="48" name="Shape 46"/>
          <p:cNvSpPr/>
          <p:nvPr/>
        </p:nvSpPr>
        <p:spPr>
          <a:xfrm>
            <a:off x="658368" y="5724144"/>
            <a:ext cx="10874959" cy="566928"/>
          </a:xfrm>
          <a:prstGeom prst="roundRect">
            <a:avLst>
              <a:gd name="adj" fmla="val 7258"/>
            </a:avLst>
          </a:prstGeom>
          <a:solidFill>
            <a:srgbClr val="171614"/>
          </a:solidFill>
          <a:ln w="9525">
            <a:solidFill>
              <a:srgbClr val="2E2A24"/>
            </a:solidFill>
            <a:prstDash val="solid"/>
          </a:ln>
        </p:spPr>
      </p:sp>
      <p:sp>
        <p:nvSpPr>
          <p:cNvPr id="49" name="Text 47"/>
          <p:cNvSpPr/>
          <p:nvPr/>
        </p:nvSpPr>
        <p:spPr>
          <a:xfrm>
            <a:off x="932688" y="5815584"/>
            <a:ext cx="10326319" cy="384048"/>
          </a:xfrm>
          <a:prstGeom prst="rect">
            <a:avLst/>
          </a:prstGeom>
          <a:noFill/>
          <a:ln/>
        </p:spPr>
        <p:txBody>
          <a:bodyPr wrap="square" lIns="0" tIns="0" rIns="0" bIns="0" rtlCol="0" anchor="ctr"/>
          <a:lstStyle/>
          <a:p>
            <a:pPr indent="0" marL="0">
              <a:lnSpc>
                <a:spcPct val="120000"/>
              </a:lnSpc>
              <a:buNone/>
            </a:pPr>
            <a:r>
              <a:rPr lang="en-US" sz="1000" dirty="0">
                <a:solidFill>
                  <a:srgbClr val="EFEBE3"/>
                </a:solidFill>
                <a:latin typeface="Yu Gothic" pitchFamily="34" charset="0"/>
                <a:ea typeface="Yu Gothic" pitchFamily="34" charset="-122"/>
                <a:cs typeface="Yu Gothic" pitchFamily="34" charset="-120"/>
              </a:rPr>
              <a:t>正規流通の価格差のうち時価に対する24.5%分をSPCに残し、残りをWineBankが卸値の中で受け取ります。WineBank受取（年平均）126百万円のうち値入れ56百万円と管理報酬10百万円は運用成果によらず確定し、持分60百万円が成果に連動します。</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1463040" y="1417320"/>
            <a:ext cx="4023360" cy="4023360"/>
          </a:xfrm>
          <a:prstGeom prst="ellipse">
            <a:avLst/>
          </a:prstGeom>
          <a:solidFill>
            <a:srgbClr val="0C0C0C"/>
          </a:solidFill>
          <a:ln w="13970">
            <a:solidFill>
              <a:srgbClr val="1E1A15"/>
            </a:solidFill>
            <a:prstDash val="solid"/>
          </a:ln>
        </p:spPr>
      </p:sp>
      <p:sp>
        <p:nvSpPr>
          <p:cNvPr id="3" name="Shape 1"/>
          <p:cNvSpPr/>
          <p:nvPr/>
        </p:nvSpPr>
        <p:spPr>
          <a:xfrm>
            <a:off x="9966960" y="-1188720"/>
            <a:ext cx="4023360" cy="4023360"/>
          </a:xfrm>
          <a:prstGeom prst="ellipse">
            <a:avLst/>
          </a:prstGeom>
          <a:solidFill>
            <a:srgbClr val="0C0C0C"/>
          </a:solidFill>
          <a:ln w="11430">
            <a:solidFill>
              <a:srgbClr val="6E5730"/>
            </a:solidFill>
            <a:prstDash val="solid"/>
          </a:ln>
        </p:spPr>
      </p:sp>
      <p:sp>
        <p:nvSpPr>
          <p:cNvPr id="4" name="Text 2"/>
          <p:cNvSpPr/>
          <p:nvPr/>
        </p:nvSpPr>
        <p:spPr>
          <a:xfrm>
            <a:off x="658368" y="2487168"/>
            <a:ext cx="10874959" cy="694944"/>
          </a:xfrm>
          <a:prstGeom prst="rect">
            <a:avLst/>
          </a:prstGeom>
          <a:noFill/>
          <a:ln/>
        </p:spPr>
        <p:txBody>
          <a:bodyPr wrap="square" lIns="0" tIns="0" rIns="0" bIns="0" rtlCol="0" anchor="ctr"/>
          <a:lstStyle/>
          <a:p>
            <a:pPr algn="ctr" indent="0" marL="0">
              <a:buNone/>
            </a:pPr>
            <a:r>
              <a:rPr lang="en-US" sz="3400" b="1" dirty="0">
                <a:solidFill>
                  <a:srgbClr val="EFEBE3"/>
                </a:solidFill>
                <a:latin typeface="Yu Mincho" pitchFamily="34" charset="0"/>
                <a:ea typeface="Yu Mincho" pitchFamily="34" charset="-122"/>
                <a:cs typeface="Yu Mincho" pitchFamily="34" charset="-120"/>
              </a:rPr>
              <a:t>すべての人にファインワインを</a:t>
            </a:r>
            <a:endParaRPr lang="en-US" sz="3400" dirty="0"/>
          </a:p>
        </p:txBody>
      </p:sp>
      <p:sp>
        <p:nvSpPr>
          <p:cNvPr id="5" name="Text 3"/>
          <p:cNvSpPr/>
          <p:nvPr/>
        </p:nvSpPr>
        <p:spPr>
          <a:xfrm>
            <a:off x="658368" y="3255264"/>
            <a:ext cx="10874959" cy="310896"/>
          </a:xfrm>
          <a:prstGeom prst="rect">
            <a:avLst/>
          </a:prstGeom>
          <a:noFill/>
          <a:ln/>
        </p:spPr>
        <p:txBody>
          <a:bodyPr wrap="square" lIns="0" tIns="0" rIns="0" bIns="0" rtlCol="0" anchor="ctr"/>
          <a:lstStyle/>
          <a:p>
            <a:pPr algn="ctr" indent="0" marL="0">
              <a:buNone/>
            </a:pPr>
            <a:r>
              <a:rPr lang="en-US" sz="1300" b="1" spc="450" kern="0" dirty="0">
                <a:solidFill>
                  <a:srgbClr val="A78450"/>
                </a:solidFill>
                <a:latin typeface="Cambria" pitchFamily="34" charset="0"/>
                <a:ea typeface="Cambria" pitchFamily="34" charset="-122"/>
                <a:cs typeface="Cambria" pitchFamily="34" charset="-120"/>
              </a:rPr>
              <a:t>Wine × Technology</a:t>
            </a:r>
            <a:endParaRPr lang="en-US" sz="1300" dirty="0"/>
          </a:p>
        </p:txBody>
      </p:sp>
      <p:sp>
        <p:nvSpPr>
          <p:cNvPr id="6" name="Text 4"/>
          <p:cNvSpPr/>
          <p:nvPr/>
        </p:nvSpPr>
        <p:spPr>
          <a:xfrm>
            <a:off x="658368" y="4133088"/>
            <a:ext cx="10874959" cy="310896"/>
          </a:xfrm>
          <a:prstGeom prst="rect">
            <a:avLst/>
          </a:prstGeom>
          <a:noFill/>
          <a:ln/>
        </p:spPr>
        <p:txBody>
          <a:bodyPr wrap="square" lIns="0" tIns="0" rIns="0" bIns="0" rtlCol="0" anchor="ctr"/>
          <a:lstStyle/>
          <a:p>
            <a:pPr algn="ctr" indent="0" marL="0">
              <a:buNone/>
            </a:pPr>
            <a:r>
              <a:rPr lang="en-US" sz="1500" b="1" dirty="0">
                <a:solidFill>
                  <a:srgbClr val="C9A96E"/>
                </a:solidFill>
                <a:latin typeface="Yu Mincho" pitchFamily="34" charset="0"/>
                <a:ea typeface="Yu Mincho" pitchFamily="34" charset="-122"/>
                <a:cs typeface="Yu Mincho" pitchFamily="34" charset="-120"/>
              </a:rPr>
              <a:t>株式会社WineBank</a:t>
            </a:r>
            <a:endParaRPr lang="en-US" sz="1500" dirty="0"/>
          </a:p>
        </p:txBody>
      </p:sp>
      <p:sp>
        <p:nvSpPr>
          <p:cNvPr id="7" name="Text 5"/>
          <p:cNvSpPr/>
          <p:nvPr/>
        </p:nvSpPr>
        <p:spPr>
          <a:xfrm>
            <a:off x="658368" y="4462272"/>
            <a:ext cx="10874959" cy="256032"/>
          </a:xfrm>
          <a:prstGeom prst="rect">
            <a:avLst/>
          </a:prstGeom>
          <a:noFill/>
          <a:ln/>
        </p:spPr>
        <p:txBody>
          <a:bodyPr wrap="square" lIns="0" tIns="0" rIns="0" bIns="0" rtlCol="0" anchor="ctr"/>
          <a:lstStyle/>
          <a:p>
            <a:pPr algn="ctr" indent="0" marL="0">
              <a:buNone/>
            </a:pPr>
            <a:r>
              <a:rPr lang="en-US" sz="950" dirty="0">
                <a:solidFill>
                  <a:srgbClr val="6E675E"/>
                </a:solidFill>
                <a:latin typeface="Yu Gothic" pitchFamily="34" charset="0"/>
                <a:ea typeface="Yu Gothic" pitchFamily="34" charset="-122"/>
                <a:cs typeface="Yu Gothic" pitchFamily="34" charset="-120"/>
              </a:rPr>
              <a:t>創業1970年　／　東京都港区六本木4-12-8 第6DMJビル 2階</a:t>
            </a:r>
            <a:endParaRPr lang="en-US" sz="950" dirty="0"/>
          </a:p>
        </p:txBody>
      </p:sp>
      <p:sp>
        <p:nvSpPr>
          <p:cNvPr id="8" name="Text 6"/>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9" name="Text 7"/>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24</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ワインファンド（SPC）組成のご提案</dc:title>
  <dc:subject>PptxGenJS Presentation</dc:subject>
  <dc:creator>株式会社WineBank</dc:creator>
  <cp:lastModifiedBy>株式会社WineBank</cp:lastModifiedBy>
  <cp:revision>1</cp:revision>
  <dcterms:created xsi:type="dcterms:W3CDTF">2026-10-19T08:35:16Z</dcterms:created>
  <dcterms:modified xsi:type="dcterms:W3CDTF">2026-10-19T08:35:16Z</dcterms:modified>
</cp:coreProperties>
</file>