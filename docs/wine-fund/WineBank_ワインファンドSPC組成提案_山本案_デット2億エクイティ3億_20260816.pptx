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投資家利回り（定常年間・％）</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27.1</c:v>
                </c:pt>
                <c:pt idx="1">
                  <c:v>21</c:v>
                </c:pt>
                <c:pt idx="2">
                  <c:v>17.3</c:v>
                </c:pt>
                <c:pt idx="3">
                  <c:v>14.9</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 年平均利回り（5年通算・％）</a:t>
            </a:r>
          </a:p>
        </c:rich>
      </c:tx>
      <c:layout/>
      <c:overlay val="0"/>
    </c:title>
    <c:autoTitleDeleted val="0"/>
    <c:plotArea>
      <c:layout/>
      <c:barChart>
        <c:barDir val="col"/>
        <c:grouping val="clustered"/>
        <c:varyColors val="0"/>
        <c:ser>
          <c:idx val="0"/>
          <c:order val="0"/>
          <c:tx>
            <c:strRef>
              <c:f>Sheet1!$B$1</c:f>
              <c:strCache>
                <c:ptCount val="1"/>
                <c:pt idx="0">
                  <c:v>投資家 年平均利回り</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24.3</c:v>
                </c:pt>
                <c:pt idx="1">
                  <c:v>16.7</c:v>
                </c:pt>
                <c:pt idx="2">
                  <c:v>12.9</c:v>
                </c:pt>
                <c:pt idx="3">
                  <c:v>13.3</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9"/>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投資家利回り（％）</a:t>
            </a:r>
          </a:p>
        </c:rich>
      </c:tx>
      <c:layout/>
      <c:overlay val="0"/>
    </c:title>
    <c:autoTitleDeleted val="0"/>
    <c:plotArea>
      <c:layout/>
      <c:barChart>
        <c:barDir val="col"/>
        <c:grouping val="clustered"/>
        <c:varyColors val="0"/>
        <c:ser>
          <c:idx val="0"/>
          <c:order val="0"/>
          <c:tx>
            <c:strRef>
              <c:f>Sheet1!$B$1</c:f>
              <c:strCache>
                <c:ptCount val="1"/>
                <c:pt idx="0">
                  <c:v>ポジティブ</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51.3</c:v>
                </c:pt>
                <c:pt idx="1">
                  <c:v>39.4</c:v>
                </c:pt>
                <c:pt idx="2">
                  <c:v>32.2</c:v>
                </c:pt>
                <c:pt idx="3">
                  <c:v>27.5</c:v>
                </c:pt>
              </c:numCache>
            </c:numRef>
          </c:val>
        </c:ser>
        <c:ser>
          <c:idx val="1"/>
          <c:order val="1"/>
          <c:tx>
            <c:strRef>
              <c:f>Sheet1!$C$1</c:f>
              <c:strCache>
                <c:ptCount val="1"/>
                <c:pt idx="0">
                  <c:v>ニュートラル（主線）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27.1</c:v>
                </c:pt>
                <c:pt idx="1">
                  <c:v>21</c:v>
                </c:pt>
                <c:pt idx="2">
                  <c:v>17.3</c:v>
                </c:pt>
                <c:pt idx="3">
                  <c:v>14.9</c:v>
                </c:pt>
              </c:numCache>
            </c:numRef>
          </c:val>
        </c:ser>
        <c:ser>
          <c:idx val="2"/>
          <c:order val="2"/>
          <c:tx>
            <c:strRef>
              <c:f>Sheet1!$D$1</c:f>
              <c:strCache>
                <c:ptCount val="1"/>
                <c:pt idx="0">
                  <c:v>ネガティブ</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18.8</c:v>
                </c:pt>
                <c:pt idx="1">
                  <c:v>13.7</c:v>
                </c:pt>
                <c:pt idx="2">
                  <c:v>10.7</c:v>
                </c:pt>
                <c:pt idx="3">
                  <c:v>8.7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56"/>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5億円・運用期間5年のワインファンド組成提案。実物ワインの流通価格差を収益源とする現物裏付け型。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骨子。主線は回転12ヶ月で投資家利回り21.0%、5年通算の年平均利回り16.7%。想定レンジ9〜18ヶ月では14.9〜27.1%。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投資家帰属分（3/5）を折半。デット導入は投資家利回りを変えない。主線21.0%。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回転12ヶ月＝年間7.48億円。組入銘柄の選定が最大の手段。重複銘柄はプロラタ＋SPC優先。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免許事業者であるWineBankが売買当事者。SPCは所有者として損益を受ける。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免許・口座・割当の3つの壁があるため、WineBankが当事者となる。1%は独立企業間価格の最小値。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会社紹介資料17ページの流通価格構造を採用。値上がり年6%を保有期間ぶん売値に乗せる。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チャネル別の手取り比較。B2C 71.04 &gt; B2B 69.30。ただし回転を作るにはB2Bが必要。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粗利率30.0%と投下原価利益率47.3%は分母が違うだけ。利回りの源泉は後者。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保管料は業務用パレット保管の水準。ロスは保険でカバーするため未計上。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主線は回転12ヶ月で21.0%。20%の分岐点は回転12.7ヶ月で余裕は0.7ヶ月。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回転期間が一次的にリターンを決める。5年満期により18ヶ月回転でも3回転可能。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値上がり効果は約+4.0ptで一定。これがないと主線でも17.0%で20%を割る。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値引きは割に合わない。チャネル増加が本筋。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20%の分岐点は回転12.7ヶ月。主線12ヶ月からの余裕は0.7ヶ月。回転12ヶ月は必要条件。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プロラタが原則。割り切れない部分でSPC優先。価格同一＋補填条項が金額面の担保。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高岡先生の指摘事項をそのまま条項化。AUPは50万円でSPC費用に計上済み。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免許・商流リスクと移転価格リスクを含む8項目。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運用期間5年・3年ロックアップ・年度解約。報告は四半期。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免許・税務の確定を第2ステップに置く。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意義は5点。先方基準20%に対しては回転10.4ヶ月が分岐点。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329184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329184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山本案｜デット2億＋エクイティ3億</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11" name="Text 9"/>
          <p:cNvSpPr/>
          <p:nvPr/>
        </p:nvSpPr>
        <p:spPr>
          <a:xfrm>
            <a:off x="658368" y="4133088"/>
            <a:ext cx="822960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総額 5億円（デット2億＋エクイティ3億）／ 運用期間5年 ／ 半期分配</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3</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投資家エクイティ</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SPC総額5億円（デット2億＋エクイティ3億）／運用期間5年</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最短9ヶ月、延びても15〜18ヶ月を想定レンジとする</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21.0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投資家利回り（定常年間）</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出資3億円に対する取分。投資家帰属利益の50%を受領</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16.7</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年平均利回り（5年通算）</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在庫回転12ヶ月／累計分配額÷出資3億円÷5年</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在庫回転12ヶ月で売り切る。組入銘柄の選定と配分ルールで実現する。</a:t>
            </a:r>
            <a:endParaRPr lang="en-US" sz="1200" dirty="0"/>
          </a:p>
        </p:txBody>
      </p:sp>
      <p:sp>
        <p:nvSpPr>
          <p:cNvPr id="26" name="Text 24"/>
          <p:cNvSpPr/>
          <p:nvPr/>
        </p:nvSpPr>
        <p:spPr>
          <a:xfrm>
            <a:off x="1078992" y="3621024"/>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流動性の高い銘柄をSPCに組み入れ、WineBank自己勘定在庫と重複する銘柄は在庫比率でプロラタ配分する。判断を要する場合はSPC在庫を優先する。最短9ヶ月、延びても15〜18ヶ月を想定レンジとする。</a:t>
            </a:r>
            <a:endParaRPr lang="en-US" sz="1000" dirty="0"/>
          </a:p>
        </p:txBody>
      </p:sp>
      <p:sp>
        <p:nvSpPr>
          <p:cNvPr id="27" name="Shape 25"/>
          <p:cNvSpPr/>
          <p:nvPr/>
        </p:nvSpPr>
        <p:spPr>
          <a:xfrm>
            <a:off x="658368" y="4041648"/>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41648"/>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05072"/>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収益は「流通価格差」と「ワインの値上がり」の二階建て。</a:t>
            </a:r>
            <a:endParaRPr lang="en-US" sz="1200" dirty="0"/>
          </a:p>
        </p:txBody>
      </p:sp>
      <p:sp>
        <p:nvSpPr>
          <p:cNvPr id="30" name="Text 28"/>
          <p:cNvSpPr/>
          <p:nvPr/>
        </p:nvSpPr>
        <p:spPr>
          <a:xfrm>
            <a:off x="1078992" y="4242816"/>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同一商品の流通段階間の価格差（フロー）に加え、保有期間中の価格上昇年6%（ストック）が乗る。値上がり分は保有期間によらず利回りを底上げする。</a:t>
            </a:r>
            <a:endParaRPr lang="en-US" sz="1000" dirty="0"/>
          </a:p>
        </p:txBody>
      </p:sp>
      <p:sp>
        <p:nvSpPr>
          <p:cNvPr id="31" name="Shape 29"/>
          <p:cNvSpPr/>
          <p:nvPr/>
        </p:nvSpPr>
        <p:spPr>
          <a:xfrm>
            <a:off x="658368" y="4663440"/>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663440"/>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26864"/>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報酬体系は従来どおり。投資家が得た利益をWineBankと折半する成功報酬型。</a:t>
            </a:r>
            <a:endParaRPr lang="en-US" sz="1200" dirty="0"/>
          </a:p>
        </p:txBody>
      </p:sp>
      <p:sp>
        <p:nvSpPr>
          <p:cNvPr id="34" name="Text 32"/>
          <p:cNvSpPr/>
          <p:nvPr/>
        </p:nvSpPr>
        <p:spPr>
          <a:xfrm>
            <a:off x="1078992" y="4864608"/>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SPC税前利益のうち出資3億円に帰属する分（5分の3）を投資家とWineBankで折半する。期中の管理報酬（残高比例フィー）は課さない。デット2億円の金利と保証責任はWineBankが負担する。</a:t>
            </a:r>
            <a:endParaRPr lang="en-US" sz="1000" dirty="0"/>
          </a:p>
        </p:txBody>
      </p:sp>
      <p:sp>
        <p:nvSpPr>
          <p:cNvPr id="35" name="Shape 33"/>
          <p:cNvSpPr/>
          <p:nvPr/>
        </p:nvSpPr>
        <p:spPr>
          <a:xfrm>
            <a:off x="658368" y="5285232"/>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285232"/>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248656"/>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費用は削っていない。監査・法務まで積んだうえでの数字。</a:t>
            </a:r>
            <a:endParaRPr lang="en-US" sz="1200" dirty="0"/>
          </a:p>
        </p:txBody>
      </p:sp>
      <p:sp>
        <p:nvSpPr>
          <p:cNvPr id="38" name="Text 36"/>
          <p:cNvSpPr/>
          <p:nvPr/>
        </p:nvSpPr>
        <p:spPr>
          <a:xfrm>
            <a:off x="1078992" y="5486400"/>
            <a:ext cx="10454335" cy="274320"/>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AUP50万円・予備費50万円を含むSPC固定費660万円、変動販売費、保管・保険をすべて計上済み。利回りを作るために費用を圧縮してはいない。</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CAPITAL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資本構成とリターンの配分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総額5億円をデット2億円と投資家出資3億円で構成する。投資家に帰属する利益を投資家とWineBankで折半する報酬体系は従来どおり。</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27632"/>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96112"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デット</a:t>
            </a:r>
            <a:endParaRPr lang="en-US" sz="1150" dirty="0"/>
          </a:p>
        </p:txBody>
      </p:sp>
      <p:sp>
        <p:nvSpPr>
          <p:cNvPr id="9" name="Text 7"/>
          <p:cNvSpPr/>
          <p:nvPr/>
        </p:nvSpPr>
        <p:spPr>
          <a:xfrm>
            <a:off x="896112"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2.0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0" name="Text 8"/>
          <p:cNvSpPr/>
          <p:nvPr/>
        </p:nvSpPr>
        <p:spPr>
          <a:xfrm>
            <a:off x="896112" y="2487168"/>
            <a:ext cx="2966618"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金利4%（固定）</a:t>
            </a:r>
            <a:endParaRPr lang="en-US" sz="1050" dirty="0"/>
          </a:p>
        </p:txBody>
      </p:sp>
      <p:sp>
        <p:nvSpPr>
          <p:cNvPr id="11" name="Text 9"/>
          <p:cNvSpPr/>
          <p:nvPr/>
        </p:nvSpPr>
        <p:spPr>
          <a:xfrm>
            <a:off x="896112"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・投資家からの借入</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・利息はWineBankが負担</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・SPC資産から満期に返済</a:t>
            </a:r>
            <a:endParaRPr lang="en-US" sz="900" dirty="0"/>
          </a:p>
        </p:txBody>
      </p:sp>
      <p:sp>
        <p:nvSpPr>
          <p:cNvPr id="12" name="Shape 10"/>
          <p:cNvSpPr/>
          <p:nvPr/>
        </p:nvSpPr>
        <p:spPr>
          <a:xfrm>
            <a:off x="4374794" y="1627632"/>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612538" y="1773936"/>
            <a:ext cx="2966618"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出資｜投資家</a:t>
            </a:r>
            <a:endParaRPr lang="en-US" sz="1150" dirty="0"/>
          </a:p>
        </p:txBody>
      </p:sp>
      <p:sp>
        <p:nvSpPr>
          <p:cNvPr id="14" name="Text 12"/>
          <p:cNvSpPr/>
          <p:nvPr/>
        </p:nvSpPr>
        <p:spPr>
          <a:xfrm>
            <a:off x="4612538"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3.0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5" name="Text 13"/>
          <p:cNvSpPr/>
          <p:nvPr/>
        </p:nvSpPr>
        <p:spPr>
          <a:xfrm>
            <a:off x="4612538" y="2487168"/>
            <a:ext cx="2966618"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投資家帰属利益の50%</a:t>
            </a:r>
            <a:endParaRPr lang="en-US" sz="1050" dirty="0"/>
          </a:p>
        </p:txBody>
      </p:sp>
      <p:sp>
        <p:nvSpPr>
          <p:cNvPr id="16" name="Text 14"/>
          <p:cNvSpPr/>
          <p:nvPr/>
        </p:nvSpPr>
        <p:spPr>
          <a:xfrm>
            <a:off x="4612538"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・匿名組合出資</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・満期に元本償還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・半期ごとに分配</a:t>
            </a:r>
            <a:endParaRPr lang="en-US" sz="900" dirty="0"/>
          </a:p>
        </p:txBody>
      </p:sp>
      <p:sp>
        <p:nvSpPr>
          <p:cNvPr id="17" name="Shape 15"/>
          <p:cNvSpPr/>
          <p:nvPr/>
        </p:nvSpPr>
        <p:spPr>
          <a:xfrm>
            <a:off x="8091221" y="1627632"/>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328965"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GP｜WineBank</a:t>
            </a:r>
            <a:endParaRPr lang="en-US" sz="1150" dirty="0"/>
          </a:p>
        </p:txBody>
      </p:sp>
      <p:sp>
        <p:nvSpPr>
          <p:cNvPr id="19" name="Text 17"/>
          <p:cNvSpPr/>
          <p:nvPr/>
        </p:nvSpPr>
        <p:spPr>
          <a:xfrm>
            <a:off x="8328965"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139</a:t>
            </a:r>
            <a:pPr indent="0" marL="0">
              <a:buNone/>
            </a:pPr>
            <a:r>
              <a:rPr lang="en-US" sz="1200" b="1" dirty="0">
                <a:solidFill>
                  <a:srgbClr val="C9A96E"/>
                </a:solidFill>
                <a:latin typeface="Yu Gothic" pitchFamily="34" charset="0"/>
                <a:ea typeface="Yu Gothic" pitchFamily="34" charset="-122"/>
                <a:cs typeface="Yu Gothic" pitchFamily="34" charset="-120"/>
              </a:rPr>
              <a:t> 百万円</a:t>
            </a:r>
            <a:endParaRPr lang="en-US" sz="2800" dirty="0"/>
          </a:p>
        </p:txBody>
      </p:sp>
      <p:sp>
        <p:nvSpPr>
          <p:cNvPr id="20" name="Text 18"/>
          <p:cNvSpPr/>
          <p:nvPr/>
        </p:nvSpPr>
        <p:spPr>
          <a:xfrm>
            <a:off x="8328965" y="2487168"/>
            <a:ext cx="2966618"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成功報酬63百万円＋デット分76百万円</a:t>
            </a:r>
            <a:endParaRPr lang="en-US" sz="1050" dirty="0"/>
          </a:p>
        </p:txBody>
      </p:sp>
      <p:sp>
        <p:nvSpPr>
          <p:cNvPr id="21" name="Text 19"/>
          <p:cNvSpPr/>
          <p:nvPr/>
        </p:nvSpPr>
        <p:spPr>
          <a:xfrm>
            <a:off x="8328965"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・現金拠出はなし</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・デット2億の金利と保証責任を負担</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・期中の管理報酬は課さない</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419856"/>
          <a:ext cx="10874959" cy="914400"/>
        </p:xfrm>
        <a:graphic>
          <a:graphicData uri="http://schemas.openxmlformats.org/drawingml/2006/table">
            <a:tbl>
              <a:tblPr/>
              <a:tblGrid>
                <a:gridCol w="2377440"/>
                <a:gridCol w="1737360"/>
                <a:gridCol w="6757416"/>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2.10億円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在庫回転12ヶ月・年間売上7.48億円の主線ケース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投資家帰属分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126百万円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出資3億円÷総額5億円＝5分の3。この分を投資家とWineBankで折半する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投資家</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63百万円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出資3億円に対し 投資家利回り 21.0%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WineBank</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63百万円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投資家帰属利益の50%（成功報酬）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デット2億円帰属分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84百万円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金利8百万円を控除し76百万円をWineBankが受領。保証責任を負う対価</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デット提供者への利息</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2億円×4%。WineBankが負担するためSPCの費用には計上しない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Shape 20"/>
          <p:cNvSpPr/>
          <p:nvPr/>
        </p:nvSpPr>
        <p:spPr>
          <a:xfrm>
            <a:off x="658368" y="5504688"/>
            <a:ext cx="10874959" cy="859536"/>
          </a:xfrm>
          <a:prstGeom prst="roundRect">
            <a:avLst>
              <a:gd name="adj" fmla="val 4787"/>
            </a:avLst>
          </a:prstGeom>
          <a:solidFill>
            <a:srgbClr val="1F1D19"/>
          </a:solidFill>
          <a:ln w="9525">
            <a:solidFill>
              <a:srgbClr val="6E5730"/>
            </a:solidFill>
            <a:prstDash val="solid"/>
          </a:ln>
        </p:spPr>
      </p:sp>
      <p:sp>
        <p:nvSpPr>
          <p:cNvPr id="24" name="Text 21"/>
          <p:cNvSpPr/>
          <p:nvPr/>
        </p:nvSpPr>
        <p:spPr>
          <a:xfrm>
            <a:off x="932688" y="5577840"/>
            <a:ext cx="4572000" cy="201168"/>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以前の資料からの変更点（回転12ヶ月）</a:t>
            </a:r>
            <a:endParaRPr lang="en-US" sz="1050" dirty="0"/>
          </a:p>
        </p:txBody>
      </p:sp>
      <p:sp>
        <p:nvSpPr>
          <p:cNvPr id="25" name="Text 22"/>
          <p:cNvSpPr/>
          <p:nvPr/>
        </p:nvSpPr>
        <p:spPr>
          <a:xfrm>
            <a:off x="932688" y="5797296"/>
            <a:ext cx="10326319"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① 旧版：投資家5億円出資・折半・値上がり未計上 </a:t>
            </a:r>
            <a:pPr indent="0" marL="0">
              <a:buNone/>
            </a:pPr>
            <a:r>
              <a:rPr lang="en-US" sz="1200" b="1" dirty="0">
                <a:solidFill>
                  <a:srgbClr val="EFEBE3"/>
                </a:solidFill>
                <a:latin typeface="Cambria" pitchFamily="34" charset="0"/>
                <a:ea typeface="Cambria" pitchFamily="34" charset="-122"/>
                <a:cs typeface="Cambria" pitchFamily="34" charset="-120"/>
              </a:rPr>
              <a:t>17.0%</a:t>
            </a:r>
            <a:pPr indent="0" marL="0">
              <a:buNone/>
            </a:pPr>
            <a:r>
              <a:rPr lang="en-US" sz="950" dirty="0">
                <a:solidFill>
                  <a:srgbClr val="9A938A"/>
                </a:solidFill>
                <a:latin typeface="Yu Gothic" pitchFamily="34" charset="0"/>
                <a:ea typeface="Yu Gothic" pitchFamily="34" charset="-122"/>
                <a:cs typeface="Yu Gothic" pitchFamily="34" charset="-120"/>
              </a:rPr>
              <a:t>　→　② ワイン価格の年6%上昇を織り込む </a:t>
            </a:r>
            <a:pPr indent="0" marL="0">
              <a:buNone/>
            </a:pPr>
            <a:r>
              <a:rPr lang="en-US" sz="1200" b="1" dirty="0">
                <a:solidFill>
                  <a:srgbClr val="EFEBE3"/>
                </a:solidFill>
                <a:latin typeface="Cambria" pitchFamily="34" charset="0"/>
                <a:ea typeface="Cambria" pitchFamily="34" charset="-122"/>
                <a:cs typeface="Cambria" pitchFamily="34" charset="-120"/>
              </a:rPr>
              <a:t>21.0%</a:t>
            </a:r>
            <a:pPr indent="0" marL="0">
              <a:buNone/>
            </a:pPr>
            <a:r>
              <a:rPr lang="en-US" sz="950" dirty="0">
                <a:solidFill>
                  <a:srgbClr val="9A938A"/>
                </a:solidFill>
                <a:latin typeface="Yu Gothic" pitchFamily="34" charset="0"/>
                <a:ea typeface="Yu Gothic" pitchFamily="34" charset="-122"/>
                <a:cs typeface="Yu Gothic" pitchFamily="34" charset="-120"/>
              </a:rPr>
              <a:t>　→　③ デット2億円を導入し、出資を3億円に </a:t>
            </a:r>
            <a:pPr indent="0" marL="0">
              <a:buNone/>
            </a:pPr>
            <a:r>
              <a:rPr lang="en-US" sz="1200" b="1" dirty="0">
                <a:solidFill>
                  <a:srgbClr val="C9A96E"/>
                </a:solidFill>
                <a:latin typeface="Cambria" pitchFamily="34" charset="0"/>
                <a:ea typeface="Cambria" pitchFamily="34" charset="-122"/>
                <a:cs typeface="Cambria" pitchFamily="34" charset="-120"/>
              </a:rPr>
              <a:t>21.0%</a:t>
            </a:r>
            <a:endParaRPr lang="en-US" sz="950" dirty="0"/>
          </a:p>
        </p:txBody>
      </p:sp>
      <p:sp>
        <p:nvSpPr>
          <p:cNvPr id="26" name="Text 23"/>
          <p:cNvSpPr/>
          <p:nvPr/>
        </p:nvSpPr>
        <p:spPr>
          <a:xfrm>
            <a:off x="932688" y="6035040"/>
            <a:ext cx="10326319" cy="219456"/>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折半は一貫して変更していない。出資が5億円→3億円になる一方で帰属利益も5分の3になるため、比率としては同じ21.0%。デット2億円分の利益は保証責任を負うWineBankに帰属する。</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PLAN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在庫回転12ヶ月をどう実現するか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回転12ヶ月には年間7.5億円の販売が必要となる。組入銘柄の選定を主たる手段とし、配分ルールと販路拡大で補う。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591056"/>
                <a:gridCol w="1572768"/>
                <a:gridCol w="1316736"/>
                <a:gridCol w="1481328"/>
                <a:gridCol w="1298448"/>
                <a:gridCol w="1572768"/>
                <a:gridCol w="2039112"/>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必要な年間販売額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位置づけ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9ヶ月（最短）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2.71億円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81百万円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182百万円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販路拡大が実現した場合の上限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7.48億円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2.10億円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139百万円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貴社基準20%を満たす水準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52百万円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1.49億円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96百万円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49040"/>
            <a:ext cx="3454298" cy="1847088"/>
          </a:xfrm>
          <a:prstGeom prst="roundRect">
            <a:avLst>
              <a:gd name="adj" fmla="val 2228"/>
            </a:avLst>
          </a:prstGeom>
          <a:solidFill>
            <a:srgbClr val="1F1D19"/>
          </a:solidFill>
          <a:ln w="9525">
            <a:solidFill>
              <a:srgbClr val="6E5730"/>
            </a:solidFill>
            <a:prstDash val="solid"/>
          </a:ln>
        </p:spPr>
      </p:sp>
      <p:sp>
        <p:nvSpPr>
          <p:cNvPr id="9" name="Text 6"/>
          <p:cNvSpPr/>
          <p:nvPr/>
        </p:nvSpPr>
        <p:spPr>
          <a:xfrm>
            <a:off x="896112" y="3913632"/>
            <a:ext cx="297881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第一の手段</a:t>
            </a:r>
            <a:endParaRPr lang="en-US" sz="1100" dirty="0"/>
          </a:p>
        </p:txBody>
      </p:sp>
      <p:sp>
        <p:nvSpPr>
          <p:cNvPr id="10" name="Text 7"/>
          <p:cNvSpPr/>
          <p:nvPr/>
        </p:nvSpPr>
        <p:spPr>
          <a:xfrm>
            <a:off x="89611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組入銘柄の選定</a:t>
            </a:r>
            <a:endParaRPr lang="en-US" sz="1700" dirty="0"/>
          </a:p>
        </p:txBody>
      </p:sp>
      <p:sp>
        <p:nvSpPr>
          <p:cNvPr id="11" name="Text 8"/>
          <p:cNvSpPr/>
          <p:nvPr/>
        </p:nvSpPr>
        <p:spPr>
          <a:xfrm>
            <a:off x="89611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Liv-ex掲載の流動性上位銘柄など、回転の速い銘柄をSPCに組み入れる。何を持たせるかで回転期間の大半が決まるため、これが最も効く打ち手となる。</a:t>
            </a:r>
            <a:endParaRPr lang="en-US" sz="900" dirty="0"/>
          </a:p>
        </p:txBody>
      </p:sp>
      <p:sp>
        <p:nvSpPr>
          <p:cNvPr id="12" name="Shape 9"/>
          <p:cNvSpPr/>
          <p:nvPr/>
        </p:nvSpPr>
        <p:spPr>
          <a:xfrm>
            <a:off x="4368698" y="3749040"/>
            <a:ext cx="3454298" cy="1847088"/>
          </a:xfrm>
          <a:prstGeom prst="roundRect">
            <a:avLst>
              <a:gd name="adj" fmla="val 2228"/>
            </a:avLst>
          </a:prstGeom>
          <a:solidFill>
            <a:srgbClr val="171614"/>
          </a:solidFill>
          <a:ln w="9525">
            <a:solidFill>
              <a:srgbClr val="2E2A24"/>
            </a:solidFill>
            <a:prstDash val="solid"/>
          </a:ln>
        </p:spPr>
      </p:sp>
      <p:sp>
        <p:nvSpPr>
          <p:cNvPr id="13" name="Text 10"/>
          <p:cNvSpPr/>
          <p:nvPr/>
        </p:nvSpPr>
        <p:spPr>
          <a:xfrm>
            <a:off x="4606442"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第二の手段</a:t>
            </a:r>
            <a:endParaRPr lang="en-US" sz="1100" dirty="0"/>
          </a:p>
        </p:txBody>
      </p:sp>
      <p:sp>
        <p:nvSpPr>
          <p:cNvPr id="14" name="Text 11"/>
          <p:cNvSpPr/>
          <p:nvPr/>
        </p:nvSpPr>
        <p:spPr>
          <a:xfrm>
            <a:off x="460644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配分ルール</a:t>
            </a:r>
            <a:endParaRPr lang="en-US" sz="1700" dirty="0"/>
          </a:p>
        </p:txBody>
      </p:sp>
      <p:sp>
        <p:nvSpPr>
          <p:cNvPr id="15" name="Text 12"/>
          <p:cNvSpPr/>
          <p:nvPr/>
        </p:nvSpPr>
        <p:spPr>
          <a:xfrm>
            <a:off x="460644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自己勘定在庫と重複する銘柄は在庫比率でプロラタ配分し、判断を要する場合はSPC在庫を優先する。契約別紙として明文化する。</a:t>
            </a:r>
            <a:endParaRPr lang="en-US" sz="900" dirty="0"/>
          </a:p>
        </p:txBody>
      </p:sp>
      <p:sp>
        <p:nvSpPr>
          <p:cNvPr id="16" name="Shape 13"/>
          <p:cNvSpPr/>
          <p:nvPr/>
        </p:nvSpPr>
        <p:spPr>
          <a:xfrm>
            <a:off x="8079029" y="3749040"/>
            <a:ext cx="3454298" cy="1847088"/>
          </a:xfrm>
          <a:prstGeom prst="roundRect">
            <a:avLst>
              <a:gd name="adj" fmla="val 2228"/>
            </a:avLst>
          </a:prstGeom>
          <a:solidFill>
            <a:srgbClr val="171614"/>
          </a:solidFill>
          <a:ln w="9525">
            <a:solidFill>
              <a:srgbClr val="2E2A24"/>
            </a:solidFill>
            <a:prstDash val="solid"/>
          </a:ln>
        </p:spPr>
      </p:sp>
      <p:sp>
        <p:nvSpPr>
          <p:cNvPr id="17" name="Text 14"/>
          <p:cNvSpPr/>
          <p:nvPr/>
        </p:nvSpPr>
        <p:spPr>
          <a:xfrm>
            <a:off x="8316773"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第三の手段</a:t>
            </a:r>
            <a:endParaRPr lang="en-US" sz="1100" dirty="0"/>
          </a:p>
        </p:txBody>
      </p:sp>
      <p:sp>
        <p:nvSpPr>
          <p:cNvPr id="18" name="Text 15"/>
          <p:cNvSpPr/>
          <p:nvPr/>
        </p:nvSpPr>
        <p:spPr>
          <a:xfrm>
            <a:off x="8316773"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販路の拡大</a:t>
            </a:r>
            <a:endParaRPr lang="en-US" sz="1700" dirty="0"/>
          </a:p>
        </p:txBody>
      </p:sp>
      <p:sp>
        <p:nvSpPr>
          <p:cNvPr id="19" name="Text 16"/>
          <p:cNvSpPr/>
          <p:nvPr/>
        </p:nvSpPr>
        <p:spPr>
          <a:xfrm>
            <a:off x="8316773"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輸出入ライセンスを活かした海外販売、2026年9月開始のWineBank Auction、グループ飲食（アピシウス／ティエリーマルクス）。これらは出資金ではなくWineBank側の資本で手当てする。</a:t>
            </a:r>
            <a:endParaRPr lang="en-US" sz="900" dirty="0"/>
          </a:p>
        </p:txBody>
      </p:sp>
      <p:sp>
        <p:nvSpPr>
          <p:cNvPr id="20" name="Text 17"/>
          <p:cNvSpPr/>
          <p:nvPr/>
        </p:nvSpPr>
        <p:spPr>
          <a:xfrm>
            <a:off x="658368" y="5687568"/>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回転12ヶ月に必要な年間販売額7.48億円は、現状の販売実力（5〜7億円）の上限をやや上回る。銘柄の大半はSPCと自己勘定で重複しないため配分の判断自体が生じず、回転期間は「何を組み入れるか」でほぼ決まる。重複銘柄の取扱いは在庫配分の公平性の頁を参照。投資家利回りが20%を割り込むのは回転が12.7ヶ月を超えた場合であり、主線12ヶ月との余裕は0.7ヶ月しかない。回転12ヶ月の達成が貴社基準を満たすための必須条件となる。</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　3億円</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投資家帰属利益の50%を半期ごとに受領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ワイン現物を所有・損益が帰属</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酒類販売業免許・取引口座を保有</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調達・譲渡・保管・販売を実行（GP）</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6E5730"/>
          </a:solidFill>
          <a:ln w="12700">
            <a:solidFill>
              <a:srgbClr val="6E573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WineBankが自社の免許・取引口座でインポーター／酒販店から正規品を調達</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40〜60</a:t>
            </a:r>
            <a:endParaRPr lang="en-US" sz="1000" dirty="0"/>
          </a:p>
        </p:txBody>
      </p:sp>
      <p:sp>
        <p:nvSpPr>
          <p:cNvPr id="27" name="Shape 25"/>
          <p:cNvSpPr/>
          <p:nvPr/>
        </p:nvSpPr>
        <p:spPr>
          <a:xfrm>
            <a:off x="3441116" y="3291840"/>
            <a:ext cx="2526716" cy="1609344"/>
          </a:xfrm>
          <a:prstGeom prst="roundRect">
            <a:avLst>
              <a:gd name="adj" fmla="val 2557"/>
            </a:avLst>
          </a:prstGeom>
          <a:solidFill>
            <a:srgbClr val="171614"/>
          </a:solidFill>
          <a:ln w="9525">
            <a:solidFill>
              <a:srgbClr val="2E2A24"/>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譲渡</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現物をSPCへ譲渡（酒類卸売）。独立企業間価格として1%を付加</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SPC取得原価 50.5</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定温倉庫で保管（全量付保）。B2B酒販店卸とB2C自社EC・オークションの2系統で販売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SPCの税前利益のうち出資3億円に帰属する分を折半し半期ごとに分配。元本はSPC内で継続運用</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投資家50：WB50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ワイン現物はSPC名義で保有し、WineBankの債権者から倒産隔離する。WineBankはGPとして実行を担い、報酬は「譲渡時1%」と「投資家帰属利益を折半する成功報酬」に限定。残高比例の期中管理報酬は課さない。</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WineBankが免許事業者として仕入・販売の当事者となり、現物をSPCへ譲渡する。SPCは所有者として損益を受ける。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譲渡価格を同額にできない理由</a:t>
            </a:r>
            <a:endParaRPr lang="en-US" sz="1050" dirty="0"/>
          </a:p>
        </p:txBody>
      </p:sp>
      <p:sp>
        <p:nvSpPr>
          <p:cNvPr id="26" name="Text 24"/>
          <p:cNvSpPr/>
          <p:nvPr/>
        </p:nvSpPr>
        <p:spPr>
          <a:xfrm>
            <a:off x="9326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WineBankは在庫リスク・与信・入出庫事務を負って調達する。同額譲渡では対価なき役務提供となり、税務上も寄附金認定・移転価格の論点を招く。独立企業間価格として最小限の1%を付加する。</a:t>
            </a:r>
            <a:endParaRPr lang="en-US" sz="95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1%の金額イメージ</a:t>
            </a:r>
            <a:endParaRPr lang="en-US" sz="1050" dirty="0"/>
          </a:p>
        </p:txBody>
      </p:sp>
      <p:sp>
        <p:nvSpPr>
          <p:cNvPr id="28" name="Text 26"/>
          <p:cNvSpPr/>
          <p:nvPr/>
        </p:nvSpPr>
        <p:spPr>
          <a:xfrm>
            <a:off x="6187288" y="4882896"/>
            <a:ext cx="5071720" cy="475488"/>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SPC払込5億円 → 実商品原価4.95億円 ＋ 譲渡マージン500万円。回転12ヶ月・稼働率95%の定常状態では、年間のSPC仕入4.75億円に対しWineBankの譲渡マージンは年約470万円となる。</a:t>
            </a:r>
            <a:endParaRPr lang="en-US" sz="95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SPC自体の免許要否および委託・売買形態の切り分けは、所轄税務署（酒類指導官）および顧問弁護士との確認事項として、契約書ドラフト作成前に確定させる。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同一商品が流通段階ごとに異なる価格で存在する。この価格差＝粗利をファンドが取り込む。</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719072"/>
            <a:ext cx="1984797" cy="1700784"/>
          </a:xfrm>
          <a:prstGeom prst="roundRect">
            <a:avLst>
              <a:gd name="adj" fmla="val 2419"/>
            </a:avLst>
          </a:prstGeom>
          <a:solidFill>
            <a:srgbClr val="1F1D19"/>
          </a:solidFill>
          <a:ln w="9525">
            <a:solidFill>
              <a:srgbClr val="6E5730"/>
            </a:solidFill>
            <a:prstDash val="solid"/>
          </a:ln>
        </p:spPr>
      </p:sp>
      <p:sp>
        <p:nvSpPr>
          <p:cNvPr id="8" name="Text 6"/>
          <p:cNvSpPr/>
          <p:nvPr/>
        </p:nvSpPr>
        <p:spPr>
          <a:xfrm>
            <a:off x="841248"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インポーター仕入</a:t>
            </a:r>
            <a:endParaRPr lang="en-US" sz="1050" dirty="0"/>
          </a:p>
        </p:txBody>
      </p:sp>
      <p:sp>
        <p:nvSpPr>
          <p:cNvPr id="9" name="Text 7"/>
          <p:cNvSpPr/>
          <p:nvPr/>
        </p:nvSpPr>
        <p:spPr>
          <a:xfrm>
            <a:off x="841248"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841248"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719072"/>
            <a:ext cx="1984797" cy="1700784"/>
          </a:xfrm>
          <a:prstGeom prst="roundRect">
            <a:avLst>
              <a:gd name="adj" fmla="val 2419"/>
            </a:avLst>
          </a:prstGeom>
          <a:solidFill>
            <a:srgbClr val="1F1D19"/>
          </a:solidFill>
          <a:ln w="9525">
            <a:solidFill>
              <a:srgbClr val="6E5730"/>
            </a:solidFill>
            <a:prstDash val="solid"/>
          </a:ln>
        </p:spPr>
      </p:sp>
      <p:sp>
        <p:nvSpPr>
          <p:cNvPr id="12" name="Text 10"/>
          <p:cNvSpPr/>
          <p:nvPr/>
        </p:nvSpPr>
        <p:spPr>
          <a:xfrm>
            <a:off x="306378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酒販店仕入</a:t>
            </a:r>
            <a:endParaRPr lang="en-US" sz="1050" dirty="0"/>
          </a:p>
        </p:txBody>
      </p:sp>
      <p:sp>
        <p:nvSpPr>
          <p:cNvPr id="13" name="Text 11"/>
          <p:cNvSpPr/>
          <p:nvPr/>
        </p:nvSpPr>
        <p:spPr>
          <a:xfrm>
            <a:off x="306378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60</a:t>
            </a:r>
            <a:endParaRPr lang="en-US" sz="4000" dirty="0"/>
          </a:p>
        </p:txBody>
      </p:sp>
      <p:sp>
        <p:nvSpPr>
          <p:cNvPr id="14" name="Text 12"/>
          <p:cNvSpPr/>
          <p:nvPr/>
        </p:nvSpPr>
        <p:spPr>
          <a:xfrm>
            <a:off x="306378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719072"/>
            <a:ext cx="1984797" cy="1700784"/>
          </a:xfrm>
          <a:prstGeom prst="roundRect">
            <a:avLst>
              <a:gd name="adj" fmla="val 2419"/>
            </a:avLst>
          </a:prstGeom>
          <a:solidFill>
            <a:srgbClr val="1F1D19"/>
          </a:solidFill>
          <a:ln w="9525">
            <a:solidFill>
              <a:srgbClr val="A78450"/>
            </a:solidFill>
            <a:prstDash val="solid"/>
          </a:ln>
        </p:spPr>
      </p:sp>
      <p:sp>
        <p:nvSpPr>
          <p:cNvPr id="16" name="Text 14"/>
          <p:cNvSpPr/>
          <p:nvPr/>
        </p:nvSpPr>
        <p:spPr>
          <a:xfrm>
            <a:off x="5286329"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酒販店卸 売値</a:t>
            </a:r>
            <a:endParaRPr lang="en-US" sz="1050" dirty="0"/>
          </a:p>
        </p:txBody>
      </p:sp>
      <p:sp>
        <p:nvSpPr>
          <p:cNvPr id="17" name="Text 15"/>
          <p:cNvSpPr/>
          <p:nvPr/>
        </p:nvSpPr>
        <p:spPr>
          <a:xfrm>
            <a:off x="5286329"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70</a:t>
            </a:r>
            <a:endParaRPr lang="en-US" sz="4000" dirty="0"/>
          </a:p>
        </p:txBody>
      </p:sp>
      <p:sp>
        <p:nvSpPr>
          <p:cNvPr id="18" name="Text 16"/>
          <p:cNvSpPr/>
          <p:nvPr/>
        </p:nvSpPr>
        <p:spPr>
          <a:xfrm>
            <a:off x="5286329"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 B2B</a:t>
            </a:r>
            <a:endParaRPr lang="en-US" sz="950" dirty="0"/>
          </a:p>
        </p:txBody>
      </p:sp>
      <p:sp>
        <p:nvSpPr>
          <p:cNvPr id="19" name="Shape 17"/>
          <p:cNvSpPr/>
          <p:nvPr/>
        </p:nvSpPr>
        <p:spPr>
          <a:xfrm>
            <a:off x="7325990" y="1719072"/>
            <a:ext cx="1984797" cy="1700784"/>
          </a:xfrm>
          <a:prstGeom prst="roundRect">
            <a:avLst>
              <a:gd name="adj" fmla="val 2419"/>
            </a:avLst>
          </a:prstGeom>
          <a:solidFill>
            <a:srgbClr val="1F1D19"/>
          </a:solidFill>
          <a:ln w="9525">
            <a:solidFill>
              <a:srgbClr val="A78450"/>
            </a:solidFill>
            <a:prstDash val="solid"/>
          </a:ln>
        </p:spPr>
      </p:sp>
      <p:sp>
        <p:nvSpPr>
          <p:cNvPr id="20" name="Text 18"/>
          <p:cNvSpPr/>
          <p:nvPr/>
        </p:nvSpPr>
        <p:spPr>
          <a:xfrm>
            <a:off x="7508870"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ネット最安 売値</a:t>
            </a:r>
            <a:endParaRPr lang="en-US" sz="1050" dirty="0"/>
          </a:p>
        </p:txBody>
      </p:sp>
      <p:sp>
        <p:nvSpPr>
          <p:cNvPr id="21" name="Text 19"/>
          <p:cNvSpPr/>
          <p:nvPr/>
        </p:nvSpPr>
        <p:spPr>
          <a:xfrm>
            <a:off x="7508870" y="2212848"/>
            <a:ext cx="1619037" cy="694944"/>
          </a:xfrm>
          <a:prstGeom prst="rect">
            <a:avLst/>
          </a:prstGeom>
          <a:noFill/>
          <a:ln/>
        </p:spPr>
        <p:txBody>
          <a:bodyPr wrap="square" lIns="0" tIns="0" rIns="0" bIns="0" rtlCol="0" anchor="ctr"/>
          <a:lstStyle/>
          <a:p>
            <a:pPr indent="0" marL="0">
              <a:buNone/>
            </a:pPr>
            <a:r>
              <a:rPr lang="en-US" sz="4000" b="1" dirty="0">
                <a:solidFill>
                  <a:srgbClr val="C9A96E"/>
                </a:solidFill>
                <a:latin typeface="Cambria" pitchFamily="34" charset="0"/>
                <a:ea typeface="Cambria" pitchFamily="34" charset="-122"/>
                <a:cs typeface="Cambria" pitchFamily="34" charset="-120"/>
              </a:rPr>
              <a:t>80</a:t>
            </a:r>
            <a:endParaRPr lang="en-US" sz="4000" dirty="0"/>
          </a:p>
        </p:txBody>
      </p:sp>
      <p:sp>
        <p:nvSpPr>
          <p:cNvPr id="22" name="Text 20"/>
          <p:cNvSpPr/>
          <p:nvPr/>
        </p:nvSpPr>
        <p:spPr>
          <a:xfrm>
            <a:off x="7508870"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 B2C</a:t>
            </a:r>
            <a:endParaRPr lang="en-US" sz="950" dirty="0"/>
          </a:p>
        </p:txBody>
      </p:sp>
      <p:sp>
        <p:nvSpPr>
          <p:cNvPr id="23" name="Shape 21"/>
          <p:cNvSpPr/>
          <p:nvPr/>
        </p:nvSpPr>
        <p:spPr>
          <a:xfrm>
            <a:off x="9548531" y="1719072"/>
            <a:ext cx="1984797" cy="1700784"/>
          </a:xfrm>
          <a:prstGeom prst="roundRect">
            <a:avLst>
              <a:gd name="adj" fmla="val 2419"/>
            </a:avLst>
          </a:prstGeom>
          <a:solidFill>
            <a:srgbClr val="171614"/>
          </a:solidFill>
          <a:ln w="9525">
            <a:solidFill>
              <a:srgbClr val="2E2A24"/>
            </a:solidFill>
            <a:prstDash val="solid"/>
          </a:ln>
        </p:spPr>
      </p:sp>
      <p:sp>
        <p:nvSpPr>
          <p:cNvPr id="24" name="Text 22"/>
          <p:cNvSpPr/>
          <p:nvPr/>
        </p:nvSpPr>
        <p:spPr>
          <a:xfrm>
            <a:off x="9731411" y="1883664"/>
            <a:ext cx="1619037"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希望小売価格</a:t>
            </a:r>
            <a:endParaRPr lang="en-US" sz="1050" dirty="0"/>
          </a:p>
        </p:txBody>
      </p:sp>
      <p:sp>
        <p:nvSpPr>
          <p:cNvPr id="25" name="Text 23"/>
          <p:cNvSpPr/>
          <p:nvPr/>
        </p:nvSpPr>
        <p:spPr>
          <a:xfrm>
            <a:off x="9731411" y="2212848"/>
            <a:ext cx="1619037" cy="694944"/>
          </a:xfrm>
          <a:prstGeom prst="rect">
            <a:avLst/>
          </a:prstGeom>
          <a:noFill/>
          <a:ln/>
        </p:spPr>
        <p:txBody>
          <a:bodyPr wrap="square" lIns="0" tIns="0" rIns="0" bIns="0" rtlCol="0" anchor="ctr"/>
          <a:lstStyle/>
          <a:p>
            <a:pPr indent="0" marL="0">
              <a:buNone/>
            </a:pPr>
            <a:r>
              <a:rPr lang="en-US" sz="4000" b="1" dirty="0">
                <a:solidFill>
                  <a:srgbClr val="9A938A"/>
                </a:solidFill>
                <a:latin typeface="Cambria" pitchFamily="34" charset="0"/>
                <a:ea typeface="Cambria" pitchFamily="34" charset="-122"/>
                <a:cs typeface="Cambria" pitchFamily="34" charset="-120"/>
              </a:rPr>
              <a:t>100</a:t>
            </a:r>
            <a:endParaRPr lang="en-US" sz="4000" dirty="0"/>
          </a:p>
        </p:txBody>
      </p:sp>
      <p:sp>
        <p:nvSpPr>
          <p:cNvPr id="26" name="Text 24"/>
          <p:cNvSpPr/>
          <p:nvPr/>
        </p:nvSpPr>
        <p:spPr>
          <a:xfrm>
            <a:off x="9731411" y="2999232"/>
            <a:ext cx="1619037"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消費者</a:t>
            </a:r>
            <a:endParaRPr lang="en-US" sz="950" dirty="0"/>
          </a:p>
        </p:txBody>
      </p:sp>
      <p:sp>
        <p:nvSpPr>
          <p:cNvPr id="27" name="Shape 25"/>
          <p:cNvSpPr/>
          <p:nvPr/>
        </p:nvSpPr>
        <p:spPr>
          <a:xfrm>
            <a:off x="658368" y="3675888"/>
            <a:ext cx="10874959" cy="1956816"/>
          </a:xfrm>
          <a:prstGeom prst="roundRect">
            <a:avLst>
              <a:gd name="adj" fmla="val 2103"/>
            </a:avLst>
          </a:prstGeom>
          <a:solidFill>
            <a:srgbClr val="1F1D19"/>
          </a:solidFill>
          <a:ln w="9525">
            <a:solidFill>
              <a:srgbClr val="6E5730"/>
            </a:solidFill>
            <a:prstDash val="solid"/>
          </a:ln>
        </p:spPr>
      </p:sp>
      <p:sp>
        <p:nvSpPr>
          <p:cNvPr id="28" name="Text 26"/>
          <p:cNvSpPr/>
          <p:nvPr/>
        </p:nvSpPr>
        <p:spPr>
          <a:xfrm>
            <a:off x="932688" y="3822192"/>
            <a:ext cx="54864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　― 保有12ヶ月の場合</a:t>
            </a:r>
            <a:endParaRPr lang="en-US" sz="1200" dirty="0"/>
          </a:p>
        </p:txBody>
      </p:sp>
      <p:sp>
        <p:nvSpPr>
          <p:cNvPr id="29" name="Text 27"/>
          <p:cNvSpPr/>
          <p:nvPr/>
        </p:nvSpPr>
        <p:spPr>
          <a:xfrm>
            <a:off x="932688" y="413308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133088" y="413308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8796528" y="4133088"/>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50.00</a:t>
            </a:r>
            <a:endParaRPr lang="en-US" sz="1050" dirty="0"/>
          </a:p>
        </p:txBody>
      </p:sp>
      <p:sp>
        <p:nvSpPr>
          <p:cNvPr id="32" name="Text 30"/>
          <p:cNvSpPr/>
          <p:nvPr/>
        </p:nvSpPr>
        <p:spPr>
          <a:xfrm>
            <a:off x="932688" y="4389120"/>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現物譲渡（WineBank→SPC）</a:t>
            </a:r>
            <a:endParaRPr lang="en-US" sz="1050" dirty="0"/>
          </a:p>
        </p:txBody>
      </p:sp>
      <p:sp>
        <p:nvSpPr>
          <p:cNvPr id="33" name="Text 31"/>
          <p:cNvSpPr/>
          <p:nvPr/>
        </p:nvSpPr>
        <p:spPr>
          <a:xfrm>
            <a:off x="4133088" y="4389120"/>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独立企業間価格として1%を付加</a:t>
            </a:r>
            <a:endParaRPr lang="en-US" sz="1050" dirty="0"/>
          </a:p>
        </p:txBody>
      </p:sp>
      <p:sp>
        <p:nvSpPr>
          <p:cNvPr id="34" name="Text 32"/>
          <p:cNvSpPr/>
          <p:nvPr/>
        </p:nvSpPr>
        <p:spPr>
          <a:xfrm>
            <a:off x="8796528" y="4389120"/>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SPC取得原価 50.50</a:t>
            </a:r>
            <a:endParaRPr lang="en-US" sz="1050" dirty="0"/>
          </a:p>
        </p:txBody>
      </p:sp>
      <p:sp>
        <p:nvSpPr>
          <p:cNvPr id="35" name="Text 33"/>
          <p:cNvSpPr/>
          <p:nvPr/>
        </p:nvSpPr>
        <p:spPr>
          <a:xfrm>
            <a:off x="932688" y="4645152"/>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売却ポートフォリオ</a:t>
            </a:r>
            <a:endParaRPr lang="en-US" sz="1050" dirty="0"/>
          </a:p>
        </p:txBody>
      </p:sp>
      <p:sp>
        <p:nvSpPr>
          <p:cNvPr id="36" name="Text 34"/>
          <p:cNvSpPr/>
          <p:nvPr/>
        </p:nvSpPr>
        <p:spPr>
          <a:xfrm>
            <a:off x="4133088" y="4645152"/>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酒販店卸70（B2B）＋ ネット最安80（B2C）を半々</a:t>
            </a:r>
            <a:endParaRPr lang="en-US" sz="1050" dirty="0"/>
          </a:p>
        </p:txBody>
      </p:sp>
      <p:sp>
        <p:nvSpPr>
          <p:cNvPr id="37" name="Text 35"/>
          <p:cNvSpPr/>
          <p:nvPr/>
        </p:nvSpPr>
        <p:spPr>
          <a:xfrm>
            <a:off x="8796528" y="4645152"/>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取得時の売値 75.00</a:t>
            </a:r>
            <a:endParaRPr lang="en-US" sz="1050" dirty="0"/>
          </a:p>
        </p:txBody>
      </p:sp>
      <p:sp>
        <p:nvSpPr>
          <p:cNvPr id="38" name="Text 36"/>
          <p:cNvSpPr/>
          <p:nvPr/>
        </p:nvSpPr>
        <p:spPr>
          <a:xfrm>
            <a:off x="932688" y="4901184"/>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保有中の値上がり</a:t>
            </a:r>
            <a:endParaRPr lang="en-US" sz="1050" dirty="0"/>
          </a:p>
        </p:txBody>
      </p:sp>
      <p:sp>
        <p:nvSpPr>
          <p:cNvPr id="39" name="Text 37"/>
          <p:cNvSpPr/>
          <p:nvPr/>
        </p:nvSpPr>
        <p:spPr>
          <a:xfrm>
            <a:off x="4133088" y="4901184"/>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ワイン価格の年間上昇6%を12ヶ月保有</a:t>
            </a:r>
            <a:endParaRPr lang="en-US" sz="1050" dirty="0"/>
          </a:p>
        </p:txBody>
      </p:sp>
      <p:sp>
        <p:nvSpPr>
          <p:cNvPr id="40" name="Text 38"/>
          <p:cNvSpPr/>
          <p:nvPr/>
        </p:nvSpPr>
        <p:spPr>
          <a:xfrm>
            <a:off x="8796528" y="4901184"/>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×1.060 → 売値 79.50</a:t>
            </a:r>
            <a:endParaRPr lang="en-US" sz="1050" dirty="0"/>
          </a:p>
        </p:txBody>
      </p:sp>
      <p:sp>
        <p:nvSpPr>
          <p:cNvPr id="41" name="Text 39"/>
          <p:cNvSpPr/>
          <p:nvPr/>
        </p:nvSpPr>
        <p:spPr>
          <a:xfrm>
            <a:off x="932688" y="5157216"/>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変動販売費</a:t>
            </a:r>
            <a:endParaRPr lang="en-US" sz="1050" dirty="0"/>
          </a:p>
        </p:txBody>
      </p:sp>
      <p:sp>
        <p:nvSpPr>
          <p:cNvPr id="42" name="Text 40"/>
          <p:cNvSpPr/>
          <p:nvPr/>
        </p:nvSpPr>
        <p:spPr>
          <a:xfrm>
            <a:off x="4133088" y="5157216"/>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B2B 1.0% ／ B2C 11.2% の加重平均 6.44%</a:t>
            </a:r>
            <a:endParaRPr lang="en-US" sz="1050" dirty="0"/>
          </a:p>
        </p:txBody>
      </p:sp>
      <p:sp>
        <p:nvSpPr>
          <p:cNvPr id="43" name="Text 41"/>
          <p:cNvSpPr/>
          <p:nvPr/>
        </p:nvSpPr>
        <p:spPr>
          <a:xfrm>
            <a:off x="8796528" y="5157216"/>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 5.12 → 手取り 74.38</a:t>
            </a:r>
            <a:endParaRPr lang="en-US" sz="1050" dirty="0"/>
          </a:p>
        </p:txBody>
      </p:sp>
      <p:sp>
        <p:nvSpPr>
          <p:cNvPr id="44" name="Text 42"/>
          <p:cNvSpPr/>
          <p:nvPr/>
        </p:nvSpPr>
        <p:spPr>
          <a:xfrm>
            <a:off x="932688" y="5413248"/>
            <a:ext cx="310896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単位粗利</a:t>
            </a:r>
            <a:endParaRPr lang="en-US" sz="1050" dirty="0"/>
          </a:p>
        </p:txBody>
      </p:sp>
      <p:sp>
        <p:nvSpPr>
          <p:cNvPr id="45" name="Text 43"/>
          <p:cNvSpPr/>
          <p:nvPr/>
        </p:nvSpPr>
        <p:spPr>
          <a:xfrm>
            <a:off x="4133088" y="5413248"/>
            <a:ext cx="457200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手取り74.38 − SPC取得原価50.50</a:t>
            </a:r>
            <a:endParaRPr lang="en-US" sz="1050" dirty="0"/>
          </a:p>
        </p:txBody>
      </p:sp>
      <p:sp>
        <p:nvSpPr>
          <p:cNvPr id="46" name="Text 44"/>
          <p:cNvSpPr/>
          <p:nvPr/>
        </p:nvSpPr>
        <p:spPr>
          <a:xfrm>
            <a:off x="8796528" y="5413248"/>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23.88（粗利率 30.0%）</a:t>
            </a:r>
            <a:endParaRPr lang="en-US" sz="1050" dirty="0"/>
          </a:p>
        </p:txBody>
      </p:sp>
      <p:sp>
        <p:nvSpPr>
          <p:cNvPr id="47" name="Text 45"/>
          <p:cNvSpPr/>
          <p:nvPr/>
        </p:nvSpPr>
        <p:spPr>
          <a:xfrm>
            <a:off x="658368" y="5724144"/>
            <a:ext cx="10874959" cy="256032"/>
          </a:xfrm>
          <a:prstGeom prst="rect">
            <a:avLst/>
          </a:prstGeom>
          <a:noFill/>
          <a:ln/>
        </p:spPr>
        <p:txBody>
          <a:bodyPr wrap="square" lIns="0" tIns="0" rIns="0" bIns="0" rtlCol="0" anchor="ctr"/>
          <a:lstStyle/>
          <a:p>
            <a:pPr indent="0" marL="0">
              <a:buNone/>
            </a:pPr>
            <a:r>
              <a:rPr lang="en-US" sz="900" dirty="0">
                <a:solidFill>
                  <a:srgbClr val="6E675E"/>
                </a:solidFill>
                <a:latin typeface="Yu Gothic" pitchFamily="34" charset="0"/>
                <a:ea typeface="Yu Gothic" pitchFamily="34" charset="-122"/>
                <a:cs typeface="Yu Gothic" pitchFamily="34" charset="-120"/>
              </a:rPr>
              <a:t>価格の上昇は流通段階全体（希望小売・ネット最安・卸値）が連動するため、取得原価は据え置きのまま売値だけが上がる。上昇率は会社資料のFine Wine年率10%に対し、保守的に6%を主線とする。</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45920"/>
            <a:ext cx="5282032" cy="2962656"/>
          </a:xfrm>
          <a:prstGeom prst="roundRect">
            <a:avLst>
              <a:gd name="adj" fmla="val 1389"/>
            </a:avLst>
          </a:prstGeom>
          <a:solidFill>
            <a:srgbClr val="171614"/>
          </a:solidFill>
          <a:ln w="9525">
            <a:solidFill>
              <a:srgbClr val="2E2A24"/>
            </a:solidFill>
            <a:prstDash val="solid"/>
          </a:ln>
        </p:spPr>
      </p:sp>
      <p:sp>
        <p:nvSpPr>
          <p:cNvPr id="8" name="Text 6"/>
          <p:cNvSpPr/>
          <p:nvPr/>
        </p:nvSpPr>
        <p:spPr>
          <a:xfrm>
            <a:off x="914400" y="1810512"/>
            <a:ext cx="3544672"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B2B｜酒販店卸</a:t>
            </a:r>
            <a:endParaRPr lang="en-US" sz="1300" dirty="0"/>
          </a:p>
        </p:txBody>
      </p:sp>
      <p:sp>
        <p:nvSpPr>
          <p:cNvPr id="9" name="Text 7"/>
          <p:cNvSpPr/>
          <p:nvPr/>
        </p:nvSpPr>
        <p:spPr>
          <a:xfrm>
            <a:off x="4203040"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5007712"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0.6%</a:t>
            </a:r>
            <a:endParaRPr lang="en-US" sz="1100" dirty="0"/>
          </a:p>
        </p:txBody>
      </p:sp>
      <p:sp>
        <p:nvSpPr>
          <p:cNvPr id="12" name="Text 10"/>
          <p:cNvSpPr/>
          <p:nvPr/>
        </p:nvSpPr>
        <p:spPr>
          <a:xfrm>
            <a:off x="914400"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ケース／パレット単位出荷。1回あたりの出荷単位が大きい</a:t>
            </a:r>
            <a:endParaRPr lang="en-US" sz="850" dirty="0"/>
          </a:p>
        </p:txBody>
      </p:sp>
      <p:sp>
        <p:nvSpPr>
          <p:cNvPr id="13" name="Text 11"/>
          <p:cNvSpPr/>
          <p:nvPr/>
        </p:nvSpPr>
        <p:spPr>
          <a:xfrm>
            <a:off x="914400"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5007712"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15" name="Text 13"/>
          <p:cNvSpPr/>
          <p:nvPr/>
        </p:nvSpPr>
        <p:spPr>
          <a:xfrm>
            <a:off x="914400"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掛売のため決済手数料なし。回収コストと貸倒引当</a:t>
            </a:r>
            <a:endParaRPr lang="en-US" sz="850" dirty="0"/>
          </a:p>
        </p:txBody>
      </p:sp>
      <p:sp>
        <p:nvSpPr>
          <p:cNvPr id="16" name="Text 14"/>
          <p:cNvSpPr/>
          <p:nvPr/>
        </p:nvSpPr>
        <p:spPr>
          <a:xfrm>
            <a:off x="914400"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928720"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1.0%（▲0.70）</a:t>
            </a:r>
            <a:endParaRPr lang="en-US" sz="1050" dirty="0"/>
          </a:p>
        </p:txBody>
      </p:sp>
      <p:sp>
        <p:nvSpPr>
          <p:cNvPr id="18" name="Text 16"/>
          <p:cNvSpPr/>
          <p:nvPr/>
        </p:nvSpPr>
        <p:spPr>
          <a:xfrm>
            <a:off x="914400"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928720"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69.30</a:t>
            </a:r>
            <a:endParaRPr lang="en-US" sz="2500" dirty="0"/>
          </a:p>
        </p:txBody>
      </p:sp>
      <p:sp>
        <p:nvSpPr>
          <p:cNvPr id="20" name="Shape 18"/>
          <p:cNvSpPr/>
          <p:nvPr/>
        </p:nvSpPr>
        <p:spPr>
          <a:xfrm>
            <a:off x="6251296" y="1645920"/>
            <a:ext cx="5282032" cy="2962656"/>
          </a:xfrm>
          <a:prstGeom prst="roundRect">
            <a:avLst>
              <a:gd name="adj" fmla="val 1389"/>
            </a:avLst>
          </a:prstGeom>
          <a:solidFill>
            <a:srgbClr val="1F1D19"/>
          </a:solidFill>
          <a:ln w="9525">
            <a:solidFill>
              <a:srgbClr val="6E5730"/>
            </a:solidFill>
            <a:prstDash val="solid"/>
          </a:ln>
        </p:spPr>
      </p:sp>
      <p:sp>
        <p:nvSpPr>
          <p:cNvPr id="21" name="Text 19"/>
          <p:cNvSpPr/>
          <p:nvPr/>
        </p:nvSpPr>
        <p:spPr>
          <a:xfrm>
            <a:off x="6507328" y="1810512"/>
            <a:ext cx="3544672"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B2C｜自社EC・オークション</a:t>
            </a:r>
            <a:endParaRPr lang="en-US" sz="1300" dirty="0"/>
          </a:p>
        </p:txBody>
      </p:sp>
      <p:sp>
        <p:nvSpPr>
          <p:cNvPr id="22" name="Text 20"/>
          <p:cNvSpPr/>
          <p:nvPr/>
        </p:nvSpPr>
        <p:spPr>
          <a:xfrm>
            <a:off x="9795967"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モール・出品手数料</a:t>
            </a:r>
            <a:endParaRPr lang="en-US" sz="1000" dirty="0"/>
          </a:p>
        </p:txBody>
      </p:sp>
      <p:sp>
        <p:nvSpPr>
          <p:cNvPr id="24" name="Text 22"/>
          <p:cNvSpPr/>
          <p:nvPr/>
        </p:nvSpPr>
        <p:spPr>
          <a:xfrm>
            <a:off x="10600639"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5.5%</a:t>
            </a:r>
            <a:endParaRPr lang="en-US" sz="1100" dirty="0"/>
          </a:p>
        </p:txBody>
      </p:sp>
      <p:sp>
        <p:nvSpPr>
          <p:cNvPr id="25" name="Text 23"/>
          <p:cNvSpPr/>
          <p:nvPr/>
        </p:nvSpPr>
        <p:spPr>
          <a:xfrm>
            <a:off x="6507328"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楽天／Yahoo／寺田Wine Market（10〜12%）と自社EC・自社オークション（0〜3%）の加重平均</a:t>
            </a:r>
            <a:endParaRPr lang="en-US" sz="850" dirty="0"/>
          </a:p>
        </p:txBody>
      </p:sp>
      <p:sp>
        <p:nvSpPr>
          <p:cNvPr id="26" name="Text 24"/>
          <p:cNvSpPr/>
          <p:nvPr/>
        </p:nvSpPr>
        <p:spPr>
          <a:xfrm>
            <a:off x="6507328"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カード決済手数料</a:t>
            </a:r>
            <a:endParaRPr lang="en-US" sz="1000" dirty="0"/>
          </a:p>
        </p:txBody>
      </p:sp>
      <p:sp>
        <p:nvSpPr>
          <p:cNvPr id="27" name="Text 25"/>
          <p:cNvSpPr/>
          <p:nvPr/>
        </p:nvSpPr>
        <p:spPr>
          <a:xfrm>
            <a:off x="10600639"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3.2%</a:t>
            </a:r>
            <a:endParaRPr lang="en-US" sz="1100" dirty="0"/>
          </a:p>
        </p:txBody>
      </p:sp>
      <p:sp>
        <p:nvSpPr>
          <p:cNvPr id="28" name="Text 26"/>
          <p:cNvSpPr/>
          <p:nvPr/>
        </p:nvSpPr>
        <p:spPr>
          <a:xfrm>
            <a:off x="6507328"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クレジットカード決済</a:t>
            </a:r>
            <a:endParaRPr lang="en-US" sz="850" dirty="0"/>
          </a:p>
        </p:txBody>
      </p:sp>
      <p:sp>
        <p:nvSpPr>
          <p:cNvPr id="29" name="Text 27"/>
          <p:cNvSpPr/>
          <p:nvPr/>
        </p:nvSpPr>
        <p:spPr>
          <a:xfrm>
            <a:off x="6507328" y="3291840"/>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30" name="Text 28"/>
          <p:cNvSpPr/>
          <p:nvPr/>
        </p:nvSpPr>
        <p:spPr>
          <a:xfrm>
            <a:off x="10600639" y="3291840"/>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2.5%</a:t>
            </a:r>
            <a:endParaRPr lang="en-US" sz="1100" dirty="0"/>
          </a:p>
        </p:txBody>
      </p:sp>
      <p:sp>
        <p:nvSpPr>
          <p:cNvPr id="31" name="Text 29"/>
          <p:cNvSpPr/>
          <p:nvPr/>
        </p:nvSpPr>
        <p:spPr>
          <a:xfrm>
            <a:off x="6507328" y="3483864"/>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1口1,300円＋梱包資材。1口平均6万円想定</a:t>
            </a:r>
            <a:endParaRPr lang="en-US" sz="850" dirty="0"/>
          </a:p>
        </p:txBody>
      </p:sp>
      <p:sp>
        <p:nvSpPr>
          <p:cNvPr id="32" name="Text 30"/>
          <p:cNvSpPr/>
          <p:nvPr/>
        </p:nvSpPr>
        <p:spPr>
          <a:xfrm>
            <a:off x="6507328"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3" name="Text 31"/>
          <p:cNvSpPr/>
          <p:nvPr/>
        </p:nvSpPr>
        <p:spPr>
          <a:xfrm>
            <a:off x="9521647"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11.2%（▲8.96）</a:t>
            </a:r>
            <a:endParaRPr lang="en-US" sz="1050" dirty="0"/>
          </a:p>
        </p:txBody>
      </p:sp>
      <p:sp>
        <p:nvSpPr>
          <p:cNvPr id="34" name="Text 32"/>
          <p:cNvSpPr/>
          <p:nvPr/>
        </p:nvSpPr>
        <p:spPr>
          <a:xfrm>
            <a:off x="6507328"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5" name="Text 33"/>
          <p:cNvSpPr/>
          <p:nvPr/>
        </p:nvSpPr>
        <p:spPr>
          <a:xfrm>
            <a:off x="9521647"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71.04</a:t>
            </a:r>
            <a:endParaRPr lang="en-US" sz="2500" dirty="0"/>
          </a:p>
        </p:txBody>
      </p:sp>
      <p:sp>
        <p:nvSpPr>
          <p:cNvPr id="36" name="Shape 34"/>
          <p:cNvSpPr/>
          <p:nvPr/>
        </p:nvSpPr>
        <p:spPr>
          <a:xfrm>
            <a:off x="658368" y="4791456"/>
            <a:ext cx="10874959" cy="914400"/>
          </a:xfrm>
          <a:prstGeom prst="roundRect">
            <a:avLst>
              <a:gd name="adj" fmla="val 4500"/>
            </a:avLst>
          </a:prstGeom>
          <a:solidFill>
            <a:srgbClr val="1F1D19"/>
          </a:solidFill>
          <a:ln w="9525">
            <a:solidFill>
              <a:srgbClr val="6E5730"/>
            </a:solidFill>
            <a:prstDash val="solid"/>
          </a:ln>
        </p:spPr>
      </p:sp>
      <p:sp>
        <p:nvSpPr>
          <p:cNvPr id="37" name="Text 35"/>
          <p:cNvSpPr/>
          <p:nvPr/>
        </p:nvSpPr>
        <p:spPr>
          <a:xfrm>
            <a:off x="932688" y="4901184"/>
            <a:ext cx="10326319" cy="694944"/>
          </a:xfrm>
          <a:prstGeom prst="rect">
            <a:avLst/>
          </a:prstGeom>
          <a:noFill/>
          <a:ln/>
        </p:spPr>
        <p:txBody>
          <a:bodyPr wrap="square" lIns="0" tIns="0" rIns="0" bIns="0" rtlCol="0" anchor="ctr"/>
          <a:lstStyle/>
          <a:p>
            <a:pPr indent="0" marL="0">
              <a:lnSpc>
                <a:spcPct val="122000"/>
              </a:lnSpc>
              <a:buNone/>
            </a:pPr>
            <a:r>
              <a:rPr lang="en-US" sz="1200" b="1" dirty="0">
                <a:solidFill>
                  <a:srgbClr val="C9A96E"/>
                </a:solidFill>
                <a:latin typeface="Yu Gothic" pitchFamily="34" charset="0"/>
                <a:ea typeface="Yu Gothic" pitchFamily="34" charset="-122"/>
                <a:cs typeface="Yu Gothic" pitchFamily="34" charset="-120"/>
              </a:rPr>
              <a:t>手数料が重くても、B2Cのほうが手取りは1.74ポイント高い。</a:t>
            </a:r>
            <a:pPr indent="0" marL="0">
              <a:lnSpc>
                <a:spcPct val="122000"/>
              </a:lnSpc>
              <a:buNone/>
            </a:pPr>
            <a:r>
              <a:rPr lang="en-US" sz="1000" dirty="0">
                <a:solidFill>
                  <a:srgbClr val="EFEBE3"/>
                </a:solidFill>
                <a:latin typeface="Yu Gothic" pitchFamily="34" charset="0"/>
                <a:ea typeface="Yu Gothic" pitchFamily="34" charset="-122"/>
                <a:cs typeface="Yu Gothic" pitchFamily="34" charset="-120"/>
              </a:rPr>
              <a:t>　B2Cは手数料率11.2%を負うが、売値が定価比80とB2Bの70を10ポイント上回るため、差引きで勝る。ただしB2Cは1本ずつの出荷となり販売量の上限が低いため、回転期間を確保するにはB2Bの卸売が不可欠となる。両者を半々で運用し、加重平均で売値75.00・変動販売費6.44%・手取り70.17を主線とする（いずれも取得時点の価格。保有中の値上がりは次頁以降で加算）。</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3シナリオの単位経済（保有12ヶ月・定価100あたり）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現物譲渡の1%と変動販売費を控除し、保有中の値上がりを売値に加算したうえでの粗利。</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27632"/>
            <a:ext cx="3429914" cy="393192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10" name="Text 8"/>
          <p:cNvSpPr/>
          <p:nvPr/>
        </p:nvSpPr>
        <p:spPr>
          <a:xfrm>
            <a:off x="2606954"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11" name="Text 9"/>
          <p:cNvSpPr/>
          <p:nvPr/>
        </p:nvSpPr>
        <p:spPr>
          <a:xfrm>
            <a:off x="914400"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12" name="Text 10"/>
          <p:cNvSpPr/>
          <p:nvPr/>
        </p:nvSpPr>
        <p:spPr>
          <a:xfrm>
            <a:off x="2606954"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50.50</a:t>
            </a:r>
            <a:endParaRPr lang="en-US" sz="1350" dirty="0"/>
          </a:p>
        </p:txBody>
      </p:sp>
      <p:sp>
        <p:nvSpPr>
          <p:cNvPr id="13" name="Text 11"/>
          <p:cNvSpPr/>
          <p:nvPr/>
        </p:nvSpPr>
        <p:spPr>
          <a:xfrm>
            <a:off x="914400"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14" name="Text 12"/>
          <p:cNvSpPr/>
          <p:nvPr/>
        </p:nvSpPr>
        <p:spPr>
          <a:xfrm>
            <a:off x="2606954"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5" name="Text 13"/>
          <p:cNvSpPr/>
          <p:nvPr/>
        </p:nvSpPr>
        <p:spPr>
          <a:xfrm>
            <a:off x="914400"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6" name="Text 14"/>
          <p:cNvSpPr/>
          <p:nvPr/>
        </p:nvSpPr>
        <p:spPr>
          <a:xfrm>
            <a:off x="2606954"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×1.000</a:t>
            </a:r>
            <a:endParaRPr lang="en-US" sz="1250" dirty="0"/>
          </a:p>
        </p:txBody>
      </p:sp>
      <p:sp>
        <p:nvSpPr>
          <p:cNvPr id="17" name="Text 15"/>
          <p:cNvSpPr/>
          <p:nvPr/>
        </p:nvSpPr>
        <p:spPr>
          <a:xfrm>
            <a:off x="914400"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8" name="Text 16"/>
          <p:cNvSpPr/>
          <p:nvPr/>
        </p:nvSpPr>
        <p:spPr>
          <a:xfrm>
            <a:off x="2606954"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71.25</a:t>
            </a:r>
            <a:endParaRPr lang="en-US" sz="1350" dirty="0"/>
          </a:p>
        </p:txBody>
      </p:sp>
      <p:sp>
        <p:nvSpPr>
          <p:cNvPr id="19" name="Text 17"/>
          <p:cNvSpPr/>
          <p:nvPr/>
        </p:nvSpPr>
        <p:spPr>
          <a:xfrm>
            <a:off x="914400"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20" name="Text 18"/>
          <p:cNvSpPr/>
          <p:nvPr/>
        </p:nvSpPr>
        <p:spPr>
          <a:xfrm>
            <a:off x="2606954"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4.59</a:t>
            </a:r>
            <a:endParaRPr lang="en-US" sz="1350" dirty="0"/>
          </a:p>
        </p:txBody>
      </p:sp>
      <p:sp>
        <p:nvSpPr>
          <p:cNvPr id="21" name="Text 19"/>
          <p:cNvSpPr/>
          <p:nvPr/>
        </p:nvSpPr>
        <p:spPr>
          <a:xfrm>
            <a:off x="914400"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606954"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66.66</a:t>
            </a:r>
            <a:endParaRPr lang="en-US" sz="1350" dirty="0"/>
          </a:p>
        </p:txBody>
      </p:sp>
      <p:sp>
        <p:nvSpPr>
          <p:cNvPr id="23" name="Text 21"/>
          <p:cNvSpPr/>
          <p:nvPr/>
        </p:nvSpPr>
        <p:spPr>
          <a:xfrm>
            <a:off x="914400"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606954"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16.16</a:t>
            </a:r>
            <a:endParaRPr lang="en-US" sz="1350" dirty="0"/>
          </a:p>
        </p:txBody>
      </p:sp>
      <p:sp>
        <p:nvSpPr>
          <p:cNvPr id="25" name="Text 23"/>
          <p:cNvSpPr/>
          <p:nvPr/>
        </p:nvSpPr>
        <p:spPr>
          <a:xfrm>
            <a:off x="914400"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26" name="Text 24"/>
          <p:cNvSpPr/>
          <p:nvPr/>
        </p:nvSpPr>
        <p:spPr>
          <a:xfrm>
            <a:off x="2606954"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22.7%</a:t>
            </a:r>
            <a:endParaRPr lang="en-US" sz="1250" dirty="0"/>
          </a:p>
        </p:txBody>
      </p:sp>
      <p:sp>
        <p:nvSpPr>
          <p:cNvPr id="27" name="Text 25"/>
          <p:cNvSpPr/>
          <p:nvPr/>
        </p:nvSpPr>
        <p:spPr>
          <a:xfrm>
            <a:off x="914400"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28" name="Text 26"/>
          <p:cNvSpPr/>
          <p:nvPr/>
        </p:nvSpPr>
        <p:spPr>
          <a:xfrm>
            <a:off x="2606954"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32.0%</a:t>
            </a:r>
            <a:endParaRPr lang="en-US" sz="1250" dirty="0"/>
          </a:p>
        </p:txBody>
      </p:sp>
      <p:sp>
        <p:nvSpPr>
          <p:cNvPr id="29" name="Text 27"/>
          <p:cNvSpPr/>
          <p:nvPr/>
        </p:nvSpPr>
        <p:spPr>
          <a:xfrm>
            <a:off x="914400"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売値を5%値引き（B2B66.5／B2C76）かつ価格は横ばい</a:t>
            </a:r>
            <a:endParaRPr lang="en-US" sz="900" dirty="0"/>
          </a:p>
        </p:txBody>
      </p:sp>
      <p:sp>
        <p:nvSpPr>
          <p:cNvPr id="30" name="Shape 28"/>
          <p:cNvSpPr/>
          <p:nvPr/>
        </p:nvSpPr>
        <p:spPr>
          <a:xfrm>
            <a:off x="4380890" y="1627632"/>
            <a:ext cx="3429914" cy="3931920"/>
          </a:xfrm>
          <a:prstGeom prst="roundRect">
            <a:avLst>
              <a:gd name="adj" fmla="val 1200"/>
            </a:avLst>
          </a:prstGeom>
          <a:solidFill>
            <a:srgbClr val="1F1D19"/>
          </a:solidFill>
          <a:ln w="9525">
            <a:solidFill>
              <a:srgbClr val="6E5730"/>
            </a:solidFill>
            <a:prstDash val="solid"/>
          </a:ln>
        </p:spPr>
      </p:sp>
      <p:sp>
        <p:nvSpPr>
          <p:cNvPr id="31" name="Text 29"/>
          <p:cNvSpPr/>
          <p:nvPr/>
        </p:nvSpPr>
        <p:spPr>
          <a:xfrm>
            <a:off x="4636922" y="1828800"/>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32" name="Text 30"/>
          <p:cNvSpPr/>
          <p:nvPr/>
        </p:nvSpPr>
        <p:spPr>
          <a:xfrm>
            <a:off x="4636922"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33" name="Text 31"/>
          <p:cNvSpPr/>
          <p:nvPr/>
        </p:nvSpPr>
        <p:spPr>
          <a:xfrm>
            <a:off x="6329477"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34" name="Text 32"/>
          <p:cNvSpPr/>
          <p:nvPr/>
        </p:nvSpPr>
        <p:spPr>
          <a:xfrm>
            <a:off x="4636922"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35" name="Text 33"/>
          <p:cNvSpPr/>
          <p:nvPr/>
        </p:nvSpPr>
        <p:spPr>
          <a:xfrm>
            <a:off x="6329477" y="251917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50.50</a:t>
            </a:r>
            <a:endParaRPr lang="en-US" sz="1350" dirty="0"/>
          </a:p>
        </p:txBody>
      </p:sp>
      <p:sp>
        <p:nvSpPr>
          <p:cNvPr id="36" name="Text 34"/>
          <p:cNvSpPr/>
          <p:nvPr/>
        </p:nvSpPr>
        <p:spPr>
          <a:xfrm>
            <a:off x="4636922"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37" name="Text 35"/>
          <p:cNvSpPr/>
          <p:nvPr/>
        </p:nvSpPr>
        <p:spPr>
          <a:xfrm>
            <a:off x="6329477"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38" name="Text 36"/>
          <p:cNvSpPr/>
          <p:nvPr/>
        </p:nvSpPr>
        <p:spPr>
          <a:xfrm>
            <a:off x="4636922"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9" name="Text 37"/>
          <p:cNvSpPr/>
          <p:nvPr/>
        </p:nvSpPr>
        <p:spPr>
          <a:xfrm>
            <a:off x="6329477" y="309524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×1.060</a:t>
            </a:r>
            <a:endParaRPr lang="en-US" sz="1250" dirty="0"/>
          </a:p>
        </p:txBody>
      </p:sp>
      <p:sp>
        <p:nvSpPr>
          <p:cNvPr id="40" name="Text 38"/>
          <p:cNvSpPr/>
          <p:nvPr/>
        </p:nvSpPr>
        <p:spPr>
          <a:xfrm>
            <a:off x="4636922"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41" name="Text 39"/>
          <p:cNvSpPr/>
          <p:nvPr/>
        </p:nvSpPr>
        <p:spPr>
          <a:xfrm>
            <a:off x="6329477"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79.50</a:t>
            </a:r>
            <a:endParaRPr lang="en-US" sz="1350" dirty="0"/>
          </a:p>
        </p:txBody>
      </p:sp>
      <p:sp>
        <p:nvSpPr>
          <p:cNvPr id="42" name="Text 40"/>
          <p:cNvSpPr/>
          <p:nvPr/>
        </p:nvSpPr>
        <p:spPr>
          <a:xfrm>
            <a:off x="4636922"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43" name="Text 41"/>
          <p:cNvSpPr/>
          <p:nvPr/>
        </p:nvSpPr>
        <p:spPr>
          <a:xfrm>
            <a:off x="6329477"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5.12</a:t>
            </a:r>
            <a:endParaRPr lang="en-US" sz="1350" dirty="0"/>
          </a:p>
        </p:txBody>
      </p:sp>
      <p:sp>
        <p:nvSpPr>
          <p:cNvPr id="44" name="Text 42"/>
          <p:cNvSpPr/>
          <p:nvPr/>
        </p:nvSpPr>
        <p:spPr>
          <a:xfrm>
            <a:off x="4636922"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5" name="Text 43"/>
          <p:cNvSpPr/>
          <p:nvPr/>
        </p:nvSpPr>
        <p:spPr>
          <a:xfrm>
            <a:off x="6329477" y="395935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74.38</a:t>
            </a:r>
            <a:endParaRPr lang="en-US" sz="1350" dirty="0"/>
          </a:p>
        </p:txBody>
      </p:sp>
      <p:sp>
        <p:nvSpPr>
          <p:cNvPr id="46" name="Text 44"/>
          <p:cNvSpPr/>
          <p:nvPr/>
        </p:nvSpPr>
        <p:spPr>
          <a:xfrm>
            <a:off x="4636922"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47" name="Text 45"/>
          <p:cNvSpPr/>
          <p:nvPr/>
        </p:nvSpPr>
        <p:spPr>
          <a:xfrm>
            <a:off x="6329477" y="424738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23.88</a:t>
            </a:r>
            <a:endParaRPr lang="en-US" sz="1350" dirty="0"/>
          </a:p>
        </p:txBody>
      </p:sp>
      <p:sp>
        <p:nvSpPr>
          <p:cNvPr id="48" name="Text 46"/>
          <p:cNvSpPr/>
          <p:nvPr/>
        </p:nvSpPr>
        <p:spPr>
          <a:xfrm>
            <a:off x="4636922"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49" name="Text 47"/>
          <p:cNvSpPr/>
          <p:nvPr/>
        </p:nvSpPr>
        <p:spPr>
          <a:xfrm>
            <a:off x="6329477" y="453542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30.0%</a:t>
            </a:r>
            <a:endParaRPr lang="en-US" sz="1250" dirty="0"/>
          </a:p>
        </p:txBody>
      </p:sp>
      <p:sp>
        <p:nvSpPr>
          <p:cNvPr id="50" name="Text 48"/>
          <p:cNvSpPr/>
          <p:nvPr/>
        </p:nvSpPr>
        <p:spPr>
          <a:xfrm>
            <a:off x="4636922"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51" name="Text 49"/>
          <p:cNvSpPr/>
          <p:nvPr/>
        </p:nvSpPr>
        <p:spPr>
          <a:xfrm>
            <a:off x="6329477" y="4823460"/>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47.3%</a:t>
            </a:r>
            <a:endParaRPr lang="en-US" sz="1250" dirty="0"/>
          </a:p>
        </p:txBody>
      </p:sp>
      <p:sp>
        <p:nvSpPr>
          <p:cNvPr id="52" name="Text 50"/>
          <p:cNvSpPr/>
          <p:nvPr/>
        </p:nvSpPr>
        <p:spPr>
          <a:xfrm>
            <a:off x="4636922"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仕入40/60の半々・売却はB2B70とB2C80の半々・年6%上昇</a:t>
            </a:r>
            <a:endParaRPr lang="en-US" sz="900" dirty="0"/>
          </a:p>
        </p:txBody>
      </p:sp>
      <p:sp>
        <p:nvSpPr>
          <p:cNvPr id="53" name="Shape 51"/>
          <p:cNvSpPr/>
          <p:nvPr/>
        </p:nvSpPr>
        <p:spPr>
          <a:xfrm>
            <a:off x="8103413" y="1627632"/>
            <a:ext cx="3429914" cy="3931920"/>
          </a:xfrm>
          <a:prstGeom prst="roundRect">
            <a:avLst>
              <a:gd name="adj" fmla="val 1200"/>
            </a:avLst>
          </a:prstGeom>
          <a:solidFill>
            <a:srgbClr val="171614"/>
          </a:solidFill>
          <a:ln w="9525">
            <a:solidFill>
              <a:srgbClr val="2E2A24"/>
            </a:solidFill>
            <a:prstDash val="solid"/>
          </a:ln>
        </p:spPr>
      </p:sp>
      <p:sp>
        <p:nvSpPr>
          <p:cNvPr id="54" name="Text 52"/>
          <p:cNvSpPr/>
          <p:nvPr/>
        </p:nvSpPr>
        <p:spPr>
          <a:xfrm>
            <a:off x="8359445"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55" name="Text 53"/>
          <p:cNvSpPr/>
          <p:nvPr/>
        </p:nvSpPr>
        <p:spPr>
          <a:xfrm>
            <a:off x="8359445"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56" name="Text 54"/>
          <p:cNvSpPr/>
          <p:nvPr/>
        </p:nvSpPr>
        <p:spPr>
          <a:xfrm>
            <a:off x="10051999"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40.00</a:t>
            </a:r>
            <a:endParaRPr lang="en-US" sz="1350" dirty="0"/>
          </a:p>
        </p:txBody>
      </p:sp>
      <p:sp>
        <p:nvSpPr>
          <p:cNvPr id="57" name="Text 55"/>
          <p:cNvSpPr/>
          <p:nvPr/>
        </p:nvSpPr>
        <p:spPr>
          <a:xfrm>
            <a:off x="8359445"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SPC取得原価（＋1%）</a:t>
            </a:r>
            <a:endParaRPr lang="en-US" sz="950" dirty="0"/>
          </a:p>
        </p:txBody>
      </p:sp>
      <p:sp>
        <p:nvSpPr>
          <p:cNvPr id="58" name="Text 56"/>
          <p:cNvSpPr/>
          <p:nvPr/>
        </p:nvSpPr>
        <p:spPr>
          <a:xfrm>
            <a:off x="10051999"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40.40</a:t>
            </a:r>
            <a:endParaRPr lang="en-US" sz="1350" dirty="0"/>
          </a:p>
        </p:txBody>
      </p:sp>
      <p:sp>
        <p:nvSpPr>
          <p:cNvPr id="59" name="Text 57"/>
          <p:cNvSpPr/>
          <p:nvPr/>
        </p:nvSpPr>
        <p:spPr>
          <a:xfrm>
            <a:off x="8359445"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60" name="Text 58"/>
          <p:cNvSpPr/>
          <p:nvPr/>
        </p:nvSpPr>
        <p:spPr>
          <a:xfrm>
            <a:off x="10051999"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80.00</a:t>
            </a:r>
            <a:endParaRPr lang="en-US" sz="1350" dirty="0"/>
          </a:p>
        </p:txBody>
      </p:sp>
      <p:sp>
        <p:nvSpPr>
          <p:cNvPr id="61" name="Text 59"/>
          <p:cNvSpPr/>
          <p:nvPr/>
        </p:nvSpPr>
        <p:spPr>
          <a:xfrm>
            <a:off x="8359445"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62" name="Text 60"/>
          <p:cNvSpPr/>
          <p:nvPr/>
        </p:nvSpPr>
        <p:spPr>
          <a:xfrm>
            <a:off x="10051999"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×1.060</a:t>
            </a:r>
            <a:endParaRPr lang="en-US" sz="1250" dirty="0"/>
          </a:p>
        </p:txBody>
      </p:sp>
      <p:sp>
        <p:nvSpPr>
          <p:cNvPr id="63" name="Text 61"/>
          <p:cNvSpPr/>
          <p:nvPr/>
        </p:nvSpPr>
        <p:spPr>
          <a:xfrm>
            <a:off x="8359445"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64" name="Text 62"/>
          <p:cNvSpPr/>
          <p:nvPr/>
        </p:nvSpPr>
        <p:spPr>
          <a:xfrm>
            <a:off x="10051999"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84.80</a:t>
            </a:r>
            <a:endParaRPr lang="en-US" sz="1350" dirty="0"/>
          </a:p>
        </p:txBody>
      </p:sp>
      <p:sp>
        <p:nvSpPr>
          <p:cNvPr id="65" name="Text 63"/>
          <p:cNvSpPr/>
          <p:nvPr/>
        </p:nvSpPr>
        <p:spPr>
          <a:xfrm>
            <a:off x="8359445"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66" name="Text 64"/>
          <p:cNvSpPr/>
          <p:nvPr/>
        </p:nvSpPr>
        <p:spPr>
          <a:xfrm>
            <a:off x="10051999"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9.50</a:t>
            </a:r>
            <a:endParaRPr lang="en-US" sz="1350" dirty="0"/>
          </a:p>
        </p:txBody>
      </p:sp>
      <p:sp>
        <p:nvSpPr>
          <p:cNvPr id="67" name="Text 65"/>
          <p:cNvSpPr/>
          <p:nvPr/>
        </p:nvSpPr>
        <p:spPr>
          <a:xfrm>
            <a:off x="8359445"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8" name="Text 66"/>
          <p:cNvSpPr/>
          <p:nvPr/>
        </p:nvSpPr>
        <p:spPr>
          <a:xfrm>
            <a:off x="10051999"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75.30</a:t>
            </a:r>
            <a:endParaRPr lang="en-US" sz="1350" dirty="0"/>
          </a:p>
        </p:txBody>
      </p:sp>
      <p:sp>
        <p:nvSpPr>
          <p:cNvPr id="69" name="Text 67"/>
          <p:cNvSpPr/>
          <p:nvPr/>
        </p:nvSpPr>
        <p:spPr>
          <a:xfrm>
            <a:off x="8359445"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70" name="Text 68"/>
          <p:cNvSpPr/>
          <p:nvPr/>
        </p:nvSpPr>
        <p:spPr>
          <a:xfrm>
            <a:off x="10051999"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34.90</a:t>
            </a:r>
            <a:endParaRPr lang="en-US" sz="1350" dirty="0"/>
          </a:p>
        </p:txBody>
      </p:sp>
      <p:sp>
        <p:nvSpPr>
          <p:cNvPr id="71" name="Text 69"/>
          <p:cNvSpPr/>
          <p:nvPr/>
        </p:nvSpPr>
        <p:spPr>
          <a:xfrm>
            <a:off x="8359445"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72" name="Text 70"/>
          <p:cNvSpPr/>
          <p:nvPr/>
        </p:nvSpPr>
        <p:spPr>
          <a:xfrm>
            <a:off x="10051999"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41.2%</a:t>
            </a:r>
            <a:endParaRPr lang="en-US" sz="1250" dirty="0"/>
          </a:p>
        </p:txBody>
      </p:sp>
      <p:sp>
        <p:nvSpPr>
          <p:cNvPr id="73" name="Text 71"/>
          <p:cNvSpPr/>
          <p:nvPr/>
        </p:nvSpPr>
        <p:spPr>
          <a:xfrm>
            <a:off x="8359445"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投下原価利益率</a:t>
            </a:r>
            <a:endParaRPr lang="en-US" sz="950" dirty="0"/>
          </a:p>
        </p:txBody>
      </p:sp>
      <p:sp>
        <p:nvSpPr>
          <p:cNvPr id="74" name="Text 72"/>
          <p:cNvSpPr/>
          <p:nvPr/>
        </p:nvSpPr>
        <p:spPr>
          <a:xfrm>
            <a:off x="10051999"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86.4%</a:t>
            </a:r>
            <a:endParaRPr lang="en-US" sz="1250" dirty="0"/>
          </a:p>
        </p:txBody>
      </p:sp>
      <p:sp>
        <p:nvSpPr>
          <p:cNvPr id="75" name="Text 73"/>
          <p:cNvSpPr/>
          <p:nvPr/>
        </p:nvSpPr>
        <p:spPr>
          <a:xfrm>
            <a:off x="8359445"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仕入はインポーター40のみ・売却はネット最安80のみ（B2C100%）</a:t>
            </a:r>
            <a:endParaRPr lang="en-US" sz="900" dirty="0"/>
          </a:p>
        </p:txBody>
      </p:sp>
      <p:sp>
        <p:nvSpPr>
          <p:cNvPr id="76" name="Text 74"/>
          <p:cNvSpPr/>
          <p:nvPr/>
        </p:nvSpPr>
        <p:spPr>
          <a:xfrm>
            <a:off x="658368" y="5687568"/>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粗利率（売上比）は単位粗利を売却時の売値で除したもの、投下原価利益率は投下資本であるSPC取得原価で除したもの。分母が異なるだけで同じ単位粗利を見ている。利回りの源泉となるのは後者であり、年1回転すれば投下資本が年47.3%増えることを意味する。</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共通費用とチャネル別の変動販売費に分けて計上。監査・法務まで含め、利回りを作るための圧縮は行っていない。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Text 5"/>
          <p:cNvSpPr/>
          <p:nvPr/>
        </p:nvSpPr>
        <p:spPr>
          <a:xfrm>
            <a:off x="658368" y="1627632"/>
            <a:ext cx="27432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共通費用</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792224"/>
          <a:ext cx="10874959" cy="914400"/>
        </p:xfrm>
        <a:graphic>
          <a:graphicData uri="http://schemas.openxmlformats.org/drawingml/2006/table">
            <a:tbl>
              <a:tblPr/>
              <a:tblGrid>
                <a:gridCol w="2331720"/>
                <a:gridCol w="1965960"/>
                <a:gridCol w="6574536"/>
              </a:tblGrid>
              <a:tr h="27889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保管（定温倉庫）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動産総合保険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平均在庫簿価の年0.15%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入庫・検品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入庫時の検品・棚入れ。出庫費用はチャネル別の変動販売費に含む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年200万円（固定）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税務・事務受託・法務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SPC人件費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年360万円（固定）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SPC運営に係るWineBank側の実務人件費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AUP（合意された手続）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公認会計士による合意された手続の実施と報告書の発行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予備費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想定外の実費に充当。未使用分はSPCの利益に残る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WineBank販売オペコスト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SPC負担なし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WineBankの成功報酬取分から負担。SPCに残高比例の期中管理報酬は課さない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4334256"/>
            <a:ext cx="45720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チャネル別 変動販売費（売上比）</a:t>
            </a:r>
            <a:endParaRPr lang="en-US" sz="1100" dirty="0"/>
          </a:p>
        </p:txBody>
      </p:sp>
      <p:sp>
        <p:nvSpPr>
          <p:cNvPr id="10" name="Shape 7"/>
          <p:cNvSpPr/>
          <p:nvPr/>
        </p:nvSpPr>
        <p:spPr>
          <a:xfrm>
            <a:off x="658368" y="4572000"/>
            <a:ext cx="3442106" cy="1097280"/>
          </a:xfrm>
          <a:prstGeom prst="roundRect">
            <a:avLst>
              <a:gd name="adj" fmla="val 3750"/>
            </a:avLst>
          </a:prstGeom>
          <a:solidFill>
            <a:srgbClr val="171614"/>
          </a:solidFill>
          <a:ln w="9525">
            <a:solidFill>
              <a:srgbClr val="2E2A24"/>
            </a:solidFill>
            <a:prstDash val="solid"/>
          </a:ln>
        </p:spPr>
      </p:sp>
      <p:sp>
        <p:nvSpPr>
          <p:cNvPr id="11" name="Text 8"/>
          <p:cNvSpPr/>
          <p:nvPr/>
        </p:nvSpPr>
        <p:spPr>
          <a:xfrm>
            <a:off x="896112"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B2B｜酒販店卸</a:t>
            </a:r>
            <a:endParaRPr lang="en-US" sz="1100" dirty="0"/>
          </a:p>
        </p:txBody>
      </p:sp>
      <p:sp>
        <p:nvSpPr>
          <p:cNvPr id="12" name="Text 9"/>
          <p:cNvSpPr/>
          <p:nvPr/>
        </p:nvSpPr>
        <p:spPr>
          <a:xfrm>
            <a:off x="2783738"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1.0</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3" name="Text 10"/>
          <p:cNvSpPr/>
          <p:nvPr/>
        </p:nvSpPr>
        <p:spPr>
          <a:xfrm>
            <a:off x="896112"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出庫・配送 0.6%　／　決済・与信（貸倒引当）0.4%</a:t>
            </a:r>
            <a:endParaRPr lang="en-US" sz="900" dirty="0"/>
          </a:p>
        </p:txBody>
      </p:sp>
      <p:sp>
        <p:nvSpPr>
          <p:cNvPr id="14" name="Shape 11"/>
          <p:cNvSpPr/>
          <p:nvPr/>
        </p:nvSpPr>
        <p:spPr>
          <a:xfrm>
            <a:off x="4374794" y="4572000"/>
            <a:ext cx="3442106" cy="1097280"/>
          </a:xfrm>
          <a:prstGeom prst="roundRect">
            <a:avLst>
              <a:gd name="adj" fmla="val 3750"/>
            </a:avLst>
          </a:prstGeom>
          <a:solidFill>
            <a:srgbClr val="171614"/>
          </a:solidFill>
          <a:ln w="9525">
            <a:solidFill>
              <a:srgbClr val="2E2A24"/>
            </a:solidFill>
            <a:prstDash val="solid"/>
          </a:ln>
        </p:spPr>
      </p:sp>
      <p:sp>
        <p:nvSpPr>
          <p:cNvPr id="15" name="Text 12"/>
          <p:cNvSpPr/>
          <p:nvPr/>
        </p:nvSpPr>
        <p:spPr>
          <a:xfrm>
            <a:off x="4612538"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B2C｜自社EC・オークション</a:t>
            </a:r>
            <a:endParaRPr lang="en-US" sz="1100" dirty="0"/>
          </a:p>
        </p:txBody>
      </p:sp>
      <p:sp>
        <p:nvSpPr>
          <p:cNvPr id="16" name="Text 13"/>
          <p:cNvSpPr/>
          <p:nvPr/>
        </p:nvSpPr>
        <p:spPr>
          <a:xfrm>
            <a:off x="6500165"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11.2</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7" name="Text 14"/>
          <p:cNvSpPr/>
          <p:nvPr/>
        </p:nvSpPr>
        <p:spPr>
          <a:xfrm>
            <a:off x="4612538"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モール・出品手数料 5.5%　／　カード決済 3.2%　／　出庫・梱包・クール便 2.5%</a:t>
            </a:r>
            <a:endParaRPr lang="en-US" sz="900" dirty="0"/>
          </a:p>
        </p:txBody>
      </p:sp>
      <p:sp>
        <p:nvSpPr>
          <p:cNvPr id="18" name="Shape 15"/>
          <p:cNvSpPr/>
          <p:nvPr/>
        </p:nvSpPr>
        <p:spPr>
          <a:xfrm>
            <a:off x="8091221" y="4572000"/>
            <a:ext cx="3442106" cy="1097280"/>
          </a:xfrm>
          <a:prstGeom prst="roundRect">
            <a:avLst>
              <a:gd name="adj" fmla="val 3750"/>
            </a:avLst>
          </a:prstGeom>
          <a:solidFill>
            <a:srgbClr val="1F1D19"/>
          </a:solidFill>
          <a:ln w="9525">
            <a:solidFill>
              <a:srgbClr val="6E5730"/>
            </a:solidFill>
            <a:prstDash val="solid"/>
          </a:ln>
        </p:spPr>
      </p:sp>
      <p:sp>
        <p:nvSpPr>
          <p:cNvPr id="19" name="Text 16"/>
          <p:cNvSpPr/>
          <p:nvPr/>
        </p:nvSpPr>
        <p:spPr>
          <a:xfrm>
            <a:off x="8328965" y="4700016"/>
            <a:ext cx="207050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加重平均（半々）</a:t>
            </a:r>
            <a:endParaRPr lang="en-US" sz="1100" dirty="0"/>
          </a:p>
        </p:txBody>
      </p:sp>
      <p:sp>
        <p:nvSpPr>
          <p:cNvPr id="20" name="Text 17"/>
          <p:cNvSpPr/>
          <p:nvPr/>
        </p:nvSpPr>
        <p:spPr>
          <a:xfrm>
            <a:off x="10216591"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6.44</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21" name="Text 18"/>
          <p:cNvSpPr/>
          <p:nvPr/>
        </p:nvSpPr>
        <p:spPr>
          <a:xfrm>
            <a:off x="8328965"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売値ベースの加重平均　／　定価100あたり ▲4.83</a:t>
            </a:r>
            <a:endParaRPr lang="en-US" sz="900" dirty="0"/>
          </a:p>
        </p:txBody>
      </p:sp>
      <p:sp>
        <p:nvSpPr>
          <p:cNvPr id="22" name="Text 19"/>
          <p:cNvSpPr/>
          <p:nvPr/>
        </p:nvSpPr>
        <p:spPr>
          <a:xfrm>
            <a:off x="658368" y="5724144"/>
            <a:ext cx="10874959" cy="438912"/>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主線（在庫回転12ヶ月・年間販売7.48億円）における年間SPC費用の合計は6,282万円で、内訳は変動販売費4,816万円・保管705万円・SPC固定費660万円・保険71万円・入庫30万円。デット2億円の金利はWineBankが負担するためSPCの費用には含まない。その他の運用前提：総額の95%をワイン購入に充当（現金5%）／仕入展開6ヶ月／ローリング運用／利益は複利再投資せず半期分配／税前利益のうち出資3億円に帰属する5分の3を投資家とWineBankで折半／利回りは投資家の税引前ベース。</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SPC取得原価50.5・ワイン価格上昇 年6%／総額5億円（デット2億＋出資3億）・投資家帰属利益を折半・稼働率95%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89888"/>
                <a:gridCol w="859536"/>
                <a:gridCol w="859536"/>
                <a:gridCol w="731520"/>
                <a:gridCol w="1042416"/>
                <a:gridCol w="1481328"/>
                <a:gridCol w="1417320"/>
                <a:gridCol w="1005840"/>
                <a:gridCol w="969264"/>
                <a:gridCol w="1115568"/>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粗利率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投資家帰属分（5分の3）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投資家取分（折半後）</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5年累計分配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 年平均利回り 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2.86億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2.71億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365百万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24.3%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7.48億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2.25億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2.10億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126百万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251百万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16.7%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52百万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193百万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12.9%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1.64億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31.9%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1.49億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89百万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F1D19"/>
          </a:solidFill>
          <a:ln w="9525">
            <a:solidFill>
              <a:srgbClr val="6E5730"/>
            </a:solidFill>
            <a:prstDash val="solid"/>
          </a:ln>
        </p:spPr>
      </p:sp>
      <p:sp>
        <p:nvSpPr>
          <p:cNvPr id="9" name="Text 6"/>
          <p:cNvSpPr/>
          <p:nvPr/>
        </p:nvSpPr>
        <p:spPr>
          <a:xfrm>
            <a:off x="914400" y="3840480"/>
            <a:ext cx="50292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粗利率30.0%が投資家利回り21.0%になる理由</a:t>
            </a:r>
            <a:endParaRPr lang="en-US" sz="1150" dirty="0"/>
          </a:p>
        </p:txBody>
      </p:sp>
      <p:sp>
        <p:nvSpPr>
          <p:cNvPr id="10" name="Text 7"/>
          <p:cNvSpPr/>
          <p:nvPr/>
        </p:nvSpPr>
        <p:spPr>
          <a:xfrm>
            <a:off x="914400" y="413308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定価100あたり</a:t>
            </a:r>
            <a:endParaRPr lang="en-US" sz="950" dirty="0"/>
          </a:p>
        </p:txBody>
      </p:sp>
      <p:sp>
        <p:nvSpPr>
          <p:cNvPr id="11" name="Text 8"/>
          <p:cNvSpPr/>
          <p:nvPr/>
        </p:nvSpPr>
        <p:spPr>
          <a:xfrm>
            <a:off x="2688336" y="413308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原価50.50で仕入れ、手取り74.38で回収 → 単位粗利23.88</a:t>
            </a:r>
            <a:endParaRPr lang="en-US" sz="850" dirty="0"/>
          </a:p>
        </p:txBody>
      </p:sp>
      <p:sp>
        <p:nvSpPr>
          <p:cNvPr id="12" name="Text 9"/>
          <p:cNvSpPr/>
          <p:nvPr/>
        </p:nvSpPr>
        <p:spPr>
          <a:xfrm>
            <a:off x="914400" y="440740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粗利率 30.0%</a:t>
            </a:r>
            <a:endParaRPr lang="en-US" sz="950" dirty="0"/>
          </a:p>
        </p:txBody>
      </p:sp>
      <p:sp>
        <p:nvSpPr>
          <p:cNvPr id="13" name="Text 10"/>
          <p:cNvSpPr/>
          <p:nvPr/>
        </p:nvSpPr>
        <p:spPr>
          <a:xfrm>
            <a:off x="2688336" y="440740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分母は売却時の売値79.50</a:t>
            </a:r>
            <a:endParaRPr lang="en-US" sz="850" dirty="0"/>
          </a:p>
        </p:txBody>
      </p:sp>
      <p:sp>
        <p:nvSpPr>
          <p:cNvPr id="14" name="Text 11"/>
          <p:cNvSpPr/>
          <p:nvPr/>
        </p:nvSpPr>
        <p:spPr>
          <a:xfrm>
            <a:off x="914400" y="468172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投下原価利益率 47.3%</a:t>
            </a:r>
            <a:endParaRPr lang="en-US" sz="950" dirty="0"/>
          </a:p>
        </p:txBody>
      </p:sp>
      <p:sp>
        <p:nvSpPr>
          <p:cNvPr id="15" name="Text 12"/>
          <p:cNvSpPr/>
          <p:nvPr/>
        </p:nvSpPr>
        <p:spPr>
          <a:xfrm>
            <a:off x="2688336" y="468172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分母は投下資本である取得原価50.50。年1回転なので資本が年47.3%増える</a:t>
            </a:r>
            <a:endParaRPr lang="en-US" sz="850" dirty="0"/>
          </a:p>
        </p:txBody>
      </p:sp>
      <p:sp>
        <p:nvSpPr>
          <p:cNvPr id="16" name="Text 13"/>
          <p:cNvSpPr/>
          <p:nvPr/>
        </p:nvSpPr>
        <p:spPr>
          <a:xfrm>
            <a:off x="914400" y="495604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税前利益 2.10億円</a:t>
            </a:r>
            <a:endParaRPr lang="en-US" sz="950" dirty="0"/>
          </a:p>
        </p:txBody>
      </p:sp>
      <p:sp>
        <p:nvSpPr>
          <p:cNvPr id="17" name="Text 14"/>
          <p:cNvSpPr/>
          <p:nvPr/>
        </p:nvSpPr>
        <p:spPr>
          <a:xfrm>
            <a:off x="2688336" y="495604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SPC費用（保管・保険・入庫・固定 約1,500万円）控除後の年間税前利益</a:t>
            </a:r>
            <a:endParaRPr lang="en-US" sz="850" dirty="0"/>
          </a:p>
        </p:txBody>
      </p:sp>
      <p:sp>
        <p:nvSpPr>
          <p:cNvPr id="18" name="Text 15"/>
          <p:cNvSpPr/>
          <p:nvPr/>
        </p:nvSpPr>
        <p:spPr>
          <a:xfrm>
            <a:off x="914400" y="523036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投資家利回り 21.0%</a:t>
            </a:r>
            <a:endParaRPr lang="en-US" sz="950" dirty="0"/>
          </a:p>
        </p:txBody>
      </p:sp>
      <p:sp>
        <p:nvSpPr>
          <p:cNvPr id="19" name="Text 16"/>
          <p:cNvSpPr/>
          <p:nvPr/>
        </p:nvSpPr>
        <p:spPr>
          <a:xfrm>
            <a:off x="2688336" y="523036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うち出資3億円に帰属する126百万円を折半した63百万円を、出資3億円で除したもの</a:t>
            </a:r>
            <a:endParaRPr lang="en-US" sz="850" dirty="0"/>
          </a:p>
        </p:txBody>
      </p:sp>
      <p:sp>
        <p:nvSpPr>
          <p:cNvPr id="20" name="Shape 17"/>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1" name="Text 18"/>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2" name="Text 19"/>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投資家利回り（定常年間・税引前）</a:t>
            </a:r>
            <a:endParaRPr lang="en-US" sz="1050" dirty="0"/>
          </a:p>
        </p:txBody>
      </p:sp>
      <p:sp>
        <p:nvSpPr>
          <p:cNvPr id="23" name="Text 20"/>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14.9 – 27.1</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4" name="Text 21"/>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主線の回転12ヶ月で21.0%と貴社基準20%を満たす。ただし20%の分岐点は回転12.7ヶ月であり、余裕は0.7ヶ月しかない。15ヶ月まで延びると17.3%となり基準を下回る。</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いずれも出資3億円に対する数値。20%の分岐点は回転12.7ヶ月であり、主線12ヶ月との余裕は小さい。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8" name="Chart 0" descr=""/>
          <p:cNvGraphicFramePr/>
          <p:nvPr/>
        </p:nvGraphicFramePr>
        <p:xfrm>
          <a:off x="786384" y="1737360"/>
          <a:ext cx="5035144" cy="24323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42152"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10" name="Chart 1" descr=""/>
          <p:cNvGraphicFramePr/>
          <p:nvPr/>
        </p:nvGraphicFramePr>
        <p:xfrm>
          <a:off x="6370168" y="1737360"/>
          <a:ext cx="5035144" cy="2432304"/>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43984"/>
            <a:ext cx="5300320"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91440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回転12ヶ月が必須条件</a:t>
            </a:r>
            <a:endParaRPr lang="en-US" sz="1200" dirty="0"/>
          </a:p>
        </p:txBody>
      </p:sp>
      <p:sp>
        <p:nvSpPr>
          <p:cNvPr id="13" name="Text 9"/>
          <p:cNvSpPr/>
          <p:nvPr/>
        </p:nvSpPr>
        <p:spPr>
          <a:xfrm>
            <a:off x="914400" y="4901184"/>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20%の分岐点は回転12.7ヶ月。主線との余裕は0.7ヶ月しかなく、回転12ヶ月の達成が貴社基準を満たすための必須条件となる。</a:t>
            </a:r>
            <a:endParaRPr lang="en-US" sz="1000" dirty="0"/>
          </a:p>
        </p:txBody>
      </p:sp>
      <p:sp>
        <p:nvSpPr>
          <p:cNvPr id="14" name="Shape 10"/>
          <p:cNvSpPr/>
          <p:nvPr/>
        </p:nvSpPr>
        <p:spPr>
          <a:xfrm>
            <a:off x="6233008" y="4443984"/>
            <a:ext cx="5300320" cy="1225296"/>
          </a:xfrm>
          <a:prstGeom prst="roundRect">
            <a:avLst>
              <a:gd name="adj" fmla="val 3358"/>
            </a:avLst>
          </a:prstGeom>
          <a:solidFill>
            <a:srgbClr val="171614"/>
          </a:solidFill>
          <a:ln w="9525">
            <a:solidFill>
              <a:srgbClr val="2E2A24"/>
            </a:solidFill>
            <a:prstDash val="solid"/>
          </a:ln>
        </p:spPr>
      </p:sp>
      <p:sp>
        <p:nvSpPr>
          <p:cNvPr id="15" name="Text 11"/>
          <p:cNvSpPr/>
          <p:nvPr/>
        </p:nvSpPr>
        <p:spPr>
          <a:xfrm>
            <a:off x="648904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値上がりが4ポイントを底上げする</a:t>
            </a:r>
            <a:endParaRPr lang="en-US" sz="1200" dirty="0"/>
          </a:p>
        </p:txBody>
      </p:sp>
      <p:sp>
        <p:nvSpPr>
          <p:cNvPr id="16" name="Text 12"/>
          <p:cNvSpPr/>
          <p:nvPr/>
        </p:nvSpPr>
        <p:spPr>
          <a:xfrm>
            <a:off x="6489040" y="4901184"/>
            <a:ext cx="4788256" cy="62179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値上がりを織り込まない場合、主線でも17.0%にとどまり20%を割る。年6%の上昇が約4.0ポイントを底上げして21.0%に届かせている（次頁）。</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回転が落ちれば利回りは下がるが、保有が延びれば売値は上がる。両者は別々の収益源として足し合わさる。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64208"/>
            <a:ext cx="5291176" cy="1572768"/>
          </a:xfrm>
          <a:prstGeom prst="roundRect">
            <a:avLst>
              <a:gd name="adj" fmla="val 2616"/>
            </a:avLst>
          </a:prstGeom>
          <a:solidFill>
            <a:srgbClr val="171614"/>
          </a:solidFill>
          <a:ln w="9525">
            <a:solidFill>
              <a:srgbClr val="2E2A24"/>
            </a:solidFill>
            <a:prstDash val="solid"/>
          </a:ln>
        </p:spPr>
      </p:sp>
      <p:sp>
        <p:nvSpPr>
          <p:cNvPr id="8" name="Text 6"/>
          <p:cNvSpPr/>
          <p:nvPr/>
        </p:nvSpPr>
        <p:spPr>
          <a:xfrm>
            <a:off x="914400" y="1810512"/>
            <a:ext cx="2913736"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フロー｜流通価格差</a:t>
            </a:r>
            <a:endParaRPr lang="en-US" sz="1250" dirty="0"/>
          </a:p>
        </p:txBody>
      </p:sp>
      <p:sp>
        <p:nvSpPr>
          <p:cNvPr id="9" name="Text 7"/>
          <p:cNvSpPr/>
          <p:nvPr/>
        </p:nvSpPr>
        <p:spPr>
          <a:xfrm>
            <a:off x="3626968"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回転に対するリターン</a:t>
            </a:r>
            <a:endParaRPr lang="en-US" sz="950" dirty="0"/>
          </a:p>
        </p:txBody>
      </p:sp>
      <p:sp>
        <p:nvSpPr>
          <p:cNvPr id="10" name="Text 8"/>
          <p:cNvSpPr/>
          <p:nvPr/>
        </p:nvSpPr>
        <p:spPr>
          <a:xfrm>
            <a:off x="914400"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40〜60で仕入れ、70〜80で売る。年に何回まわせるかに比例するため、回転期間が短いほど大きくなる。</a:t>
            </a:r>
            <a:endParaRPr lang="en-US" sz="950" dirty="0"/>
          </a:p>
        </p:txBody>
      </p:sp>
      <p:sp>
        <p:nvSpPr>
          <p:cNvPr id="11" name="Text 9"/>
          <p:cNvSpPr/>
          <p:nvPr/>
        </p:nvSpPr>
        <p:spPr>
          <a:xfrm>
            <a:off x="914400"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主線（回転12ヶ月）で 17.0%</a:t>
            </a:r>
            <a:endParaRPr lang="en-US" sz="1300" dirty="0"/>
          </a:p>
        </p:txBody>
      </p:sp>
      <p:sp>
        <p:nvSpPr>
          <p:cNvPr id="12" name="Shape 10"/>
          <p:cNvSpPr/>
          <p:nvPr/>
        </p:nvSpPr>
        <p:spPr>
          <a:xfrm>
            <a:off x="6242152" y="1664208"/>
            <a:ext cx="5291176" cy="1572768"/>
          </a:xfrm>
          <a:prstGeom prst="roundRect">
            <a:avLst>
              <a:gd name="adj" fmla="val 2616"/>
            </a:avLst>
          </a:prstGeom>
          <a:solidFill>
            <a:srgbClr val="1F1D19"/>
          </a:solidFill>
          <a:ln w="9525">
            <a:solidFill>
              <a:srgbClr val="6E5730"/>
            </a:solidFill>
            <a:prstDash val="solid"/>
          </a:ln>
        </p:spPr>
      </p:sp>
      <p:sp>
        <p:nvSpPr>
          <p:cNvPr id="13" name="Text 11"/>
          <p:cNvSpPr/>
          <p:nvPr/>
        </p:nvSpPr>
        <p:spPr>
          <a:xfrm>
            <a:off x="6498184" y="1810512"/>
            <a:ext cx="291373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ストック｜ワインの値上がり</a:t>
            </a:r>
            <a:endParaRPr lang="en-US" sz="1250" dirty="0"/>
          </a:p>
        </p:txBody>
      </p:sp>
      <p:sp>
        <p:nvSpPr>
          <p:cNvPr id="14" name="Text 12"/>
          <p:cNvSpPr/>
          <p:nvPr/>
        </p:nvSpPr>
        <p:spPr>
          <a:xfrm>
            <a:off x="9210751"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在庫に対するリターン</a:t>
            </a:r>
            <a:endParaRPr lang="en-US" sz="950" dirty="0"/>
          </a:p>
        </p:txBody>
      </p:sp>
      <p:sp>
        <p:nvSpPr>
          <p:cNvPr id="15" name="Text 13"/>
          <p:cNvSpPr/>
          <p:nvPr/>
        </p:nvSpPr>
        <p:spPr>
          <a:xfrm>
            <a:off x="6498184"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保有している間、価格帯全体が年6%上昇する。在庫金額に対して発生するため、回転期間によらずほぼ一定になる。</a:t>
            </a:r>
            <a:endParaRPr lang="en-US" sz="950" dirty="0"/>
          </a:p>
        </p:txBody>
      </p:sp>
      <p:sp>
        <p:nvSpPr>
          <p:cNvPr id="16" name="Text 14"/>
          <p:cNvSpPr/>
          <p:nvPr/>
        </p:nvSpPr>
        <p:spPr>
          <a:xfrm>
            <a:off x="6498184"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回転期間によらず 約 +4.0pt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 y="3346704"/>
          <a:ext cx="10874959" cy="914400"/>
        </p:xfrm>
        <a:graphic>
          <a:graphicData uri="http://schemas.openxmlformats.org/drawingml/2006/table">
            <a:tbl>
              <a:tblPr/>
              <a:tblGrid>
                <a:gridCol w="2057400"/>
                <a:gridCol w="1874520"/>
                <a:gridCol w="2788920"/>
                <a:gridCol w="2148840"/>
                <a:gridCol w="2002536"/>
              </a:tblGrid>
              <a:tr h="34290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価格差による利回り（上昇0%）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投資家利回り（①＋②）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23.2%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＋3.9pt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27.1%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17.3%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14.9%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5175504"/>
            <a:ext cx="5532120" cy="1024128"/>
          </a:xfrm>
          <a:prstGeom prst="roundRect">
            <a:avLst>
              <a:gd name="adj" fmla="val 4018"/>
            </a:avLst>
          </a:prstGeom>
          <a:solidFill>
            <a:srgbClr val="171614"/>
          </a:solidFill>
          <a:ln w="9525">
            <a:solidFill>
              <a:srgbClr val="2E2A24"/>
            </a:solidFill>
            <a:prstDash val="solid"/>
          </a:ln>
        </p:spPr>
      </p:sp>
      <p:sp>
        <p:nvSpPr>
          <p:cNvPr id="19" name="Text 16"/>
          <p:cNvSpPr/>
          <p:nvPr/>
        </p:nvSpPr>
        <p:spPr>
          <a:xfrm>
            <a:off x="896112" y="5276088"/>
            <a:ext cx="384048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上昇率を変えた場合（主線）</a:t>
            </a:r>
            <a:endParaRPr lang="en-US" sz="1050" dirty="0"/>
          </a:p>
        </p:txBody>
      </p:sp>
      <p:sp>
        <p:nvSpPr>
          <p:cNvPr id="20" name="Text 17"/>
          <p:cNvSpPr/>
          <p:nvPr/>
        </p:nvSpPr>
        <p:spPr>
          <a:xfrm>
            <a:off x="896112"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0%（横ばい）</a:t>
            </a:r>
            <a:endParaRPr lang="en-US" sz="900" dirty="0"/>
          </a:p>
        </p:txBody>
      </p:sp>
      <p:sp>
        <p:nvSpPr>
          <p:cNvPr id="21" name="Text 18"/>
          <p:cNvSpPr/>
          <p:nvPr/>
        </p:nvSpPr>
        <p:spPr>
          <a:xfrm>
            <a:off x="896112"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17.0%</a:t>
            </a:r>
            <a:endParaRPr lang="en-US" sz="1900" dirty="0"/>
          </a:p>
        </p:txBody>
      </p:sp>
      <p:sp>
        <p:nvSpPr>
          <p:cNvPr id="22" name="Text 19"/>
          <p:cNvSpPr/>
          <p:nvPr/>
        </p:nvSpPr>
        <p:spPr>
          <a:xfrm>
            <a:off x="2596896"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6%（主線）</a:t>
            </a:r>
            <a:endParaRPr lang="en-US" sz="900" dirty="0"/>
          </a:p>
        </p:txBody>
      </p:sp>
      <p:sp>
        <p:nvSpPr>
          <p:cNvPr id="23" name="Text 20"/>
          <p:cNvSpPr/>
          <p:nvPr/>
        </p:nvSpPr>
        <p:spPr>
          <a:xfrm>
            <a:off x="2596896" y="5705856"/>
            <a:ext cx="1627632"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21.0%</a:t>
            </a:r>
            <a:endParaRPr lang="en-US" sz="1900" dirty="0"/>
          </a:p>
        </p:txBody>
      </p:sp>
      <p:sp>
        <p:nvSpPr>
          <p:cNvPr id="24" name="Text 21"/>
          <p:cNvSpPr/>
          <p:nvPr/>
        </p:nvSpPr>
        <p:spPr>
          <a:xfrm>
            <a:off x="4297680"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10%（会社資料水準）</a:t>
            </a:r>
            <a:endParaRPr lang="en-US" sz="900" dirty="0"/>
          </a:p>
        </p:txBody>
      </p:sp>
      <p:sp>
        <p:nvSpPr>
          <p:cNvPr id="25" name="Text 22"/>
          <p:cNvSpPr/>
          <p:nvPr/>
        </p:nvSpPr>
        <p:spPr>
          <a:xfrm>
            <a:off x="4297680"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23.6%</a:t>
            </a:r>
            <a:endParaRPr lang="en-US" sz="1900" dirty="0"/>
          </a:p>
        </p:txBody>
      </p:sp>
      <p:sp>
        <p:nvSpPr>
          <p:cNvPr id="26" name="Shape 23"/>
          <p:cNvSpPr/>
          <p:nvPr/>
        </p:nvSpPr>
        <p:spPr>
          <a:xfrm>
            <a:off x="6464808" y="5175504"/>
            <a:ext cx="5068519" cy="1024128"/>
          </a:xfrm>
          <a:prstGeom prst="roundRect">
            <a:avLst>
              <a:gd name="adj" fmla="val 4018"/>
            </a:avLst>
          </a:prstGeom>
          <a:solidFill>
            <a:srgbClr val="1F1D19"/>
          </a:solidFill>
          <a:ln w="9525">
            <a:solidFill>
              <a:srgbClr val="6E5730"/>
            </a:solidFill>
            <a:prstDash val="solid"/>
          </a:ln>
        </p:spPr>
      </p:sp>
      <p:sp>
        <p:nvSpPr>
          <p:cNvPr id="27" name="Text 24"/>
          <p:cNvSpPr/>
          <p:nvPr/>
        </p:nvSpPr>
        <p:spPr>
          <a:xfrm>
            <a:off x="6702552" y="5276088"/>
            <a:ext cx="45720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値上がりは「相殺」ではなく「底上げ」</a:t>
            </a:r>
            <a:endParaRPr lang="en-US" sz="1050" dirty="0"/>
          </a:p>
        </p:txBody>
      </p:sp>
      <p:sp>
        <p:nvSpPr>
          <p:cNvPr id="28" name="Text 25"/>
          <p:cNvSpPr/>
          <p:nvPr/>
        </p:nvSpPr>
        <p:spPr>
          <a:xfrm>
            <a:off x="6702552" y="5504688"/>
            <a:ext cx="4593031" cy="62179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は在庫金額に対して発生するため、年間の上乗せ幅は回転期間によらず約4.0ポイントで一定になる。回転が落ちた分をちょうど埋め合わせるわけではなく、どの回転期間でも一律に底上げする性質のもの。したがって回転期間の管理は引き続き最大の運用課題である。</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いずれも在庫回転期間を横軸に置いている。必要年間売上を併記し、実現可能性が判断できるようにしている。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45920"/>
            <a:ext cx="5300320" cy="2523744"/>
          </a:xfrm>
          <a:prstGeom prst="roundRect">
            <a:avLst>
              <a:gd name="adj" fmla="val 1630"/>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ポジティブ｜取得原価40.4・B2C100%・上昇6%</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13.10億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5.13億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154百万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51.3%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9.97億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3.94億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118百万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39.4%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8.09億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3.22億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32.2%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6.84億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2.75億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82百万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インポーター直仕入の比率を引き上げ、販売をネット最安値帯に寄せることで到達。ただし回転12ヶ月でも年間10億円の販売を要するため、現状の販売実力では到達しない。上限の目安として示す。</a:t>
            </a:r>
            <a:endParaRPr lang="en-US" sz="900" dirty="0"/>
          </a:p>
        </p:txBody>
      </p:sp>
      <p:sp>
        <p:nvSpPr>
          <p:cNvPr id="11" name="Shape 8"/>
          <p:cNvSpPr/>
          <p:nvPr/>
        </p:nvSpPr>
        <p:spPr>
          <a:xfrm>
            <a:off x="6233008" y="1645920"/>
            <a:ext cx="5300320" cy="2523744"/>
          </a:xfrm>
          <a:prstGeom prst="roundRect">
            <a:avLst>
              <a:gd name="adj" fmla="val 1630"/>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ネガティブ｜売値5%値引き ＋ 価格は横ばい（上昇0%）</a:t>
            </a:r>
            <a:endParaRPr lang="en-US" sz="11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8.94億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1.88億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56百万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18.8%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6.70億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1.37億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41百万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B4553F"/>
                          </a:solidFill>
                          <a:latin typeface="Yu Gothic" pitchFamily="34" charset="0"/>
                          <a:ea typeface="Yu Gothic" pitchFamily="34" charset="-122"/>
                          <a:cs typeface="Yu Gothic" pitchFamily="34" charset="-120"/>
                        </a:rPr>
                        <a:t>13.7%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5.36億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32百万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10.7%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4.47億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0.87億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26百万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8.7%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引き（▲3.5pt）と価格横ばい（▲4.0pt）が同時に起きた複合ケース。この複合下振れでは回転8.5ヶ月まで縮めないと20%に届かず、想定レンジでは20%を確保できない。値引きを禁じることが最優先の防衛線となる。</a:t>
            </a:r>
            <a:endParaRPr lang="en-US" sz="900" dirty="0"/>
          </a:p>
        </p:txBody>
      </p:sp>
      <p:sp>
        <p:nvSpPr>
          <p:cNvPr id="15" name="Shape 11"/>
          <p:cNvSpPr/>
          <p:nvPr/>
        </p:nvSpPr>
        <p:spPr>
          <a:xfrm>
            <a:off x="658368" y="4334256"/>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498848"/>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791456"/>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回転を上げるために値引く」は割に合わない。売値5%の値引きは単位粗利を15%毀損し、失う投資家利回り3.5ポイントを取り戻すには回転を12ヶ月から約10ヶ月へ短縮する必要がある。価格を維持したまま販売チャネルを増やすことが本筋の改善手段であり、むしろ売れ残りは値上がりを取りにいく機会でもある。</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 定常年間利回り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出資3億円に対する投資家の年間実力値。SPC税前利益のうち出資3億円に帰属する分（5分の3）を、投資家とWineBankで折半した後の金額ベース。</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回転12ヶ月で投資家利回り21.0%。想定レンジ9〜18ヶ月では14.9〜27.1%となり、20%を確保できるのは回転12.7ヶ月までとなる。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調達をインポーター直に寄せた場合の水準。ただし回転12ヶ月で年間10億円の販売を要するため、現状は到達しない。上限の目安。</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値引き5%と価格横ばいが重なった場合、想定レンジ内では20%に届かない（分岐点は回転8.5ヶ月）。値引き販売の禁止が最優先の防衛線となる。</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主線（在庫回転12ヶ月・投資家利回り21.0%）を基準とした、各変数の単独変動による影響。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792224"/>
                <a:gridCol w="2212848"/>
                <a:gridCol w="2359152"/>
                <a:gridCol w="877824"/>
                <a:gridCol w="3630168"/>
              </a:tblGrid>
              <a:tr h="35661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21.0% → 14.9%（▲6.1pt）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組入銘柄の選定・販売チャネルの多重化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0%（横ばい）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17.0%（▲4.0pt）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回転期間を短縮し、価格差収益の比重を高める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売値 ▲5%（70/80→66.5/76）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17.5%（▲3.5pt）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値引き販売を禁じ、価格維持を運用ルール化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 → 85%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21.0% → 18.7%（▲2.3pt）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3年経過後の解約に備えた現金比率の設計と表裏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B2Cのモール手数料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5.5% → 8.0%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21.0% → 20.0%（▲1.0pt）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自社EC・自社オークションの構成比を引き上げる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10%（会社資料水準）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21.0% → 23.6%（＋2.6pt）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Liv-ex連動銘柄の構成比を高める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6616">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調達構成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定価比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21.0% → 28.7%（＋7.7pt）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インポーター直取引比率の引き上げが最大の改善策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700016"/>
            <a:ext cx="10874959" cy="1005840"/>
          </a:xfrm>
          <a:prstGeom prst="roundRect">
            <a:avLst>
              <a:gd name="adj" fmla="val 4091"/>
            </a:avLst>
          </a:prstGeom>
          <a:solidFill>
            <a:srgbClr val="1F1D19"/>
          </a:solidFill>
          <a:ln w="9525">
            <a:solidFill>
              <a:srgbClr val="6E5730"/>
            </a:solidFill>
            <a:prstDash val="solid"/>
          </a:ln>
        </p:spPr>
      </p:sp>
      <p:sp>
        <p:nvSpPr>
          <p:cNvPr id="9" name="Text 6"/>
          <p:cNvSpPr/>
          <p:nvPr/>
        </p:nvSpPr>
        <p:spPr>
          <a:xfrm>
            <a:off x="932688" y="4809744"/>
            <a:ext cx="10326319" cy="786384"/>
          </a:xfrm>
          <a:prstGeom prst="rect">
            <a:avLst/>
          </a:prstGeom>
          <a:noFill/>
          <a:ln/>
        </p:spPr>
        <p:txBody>
          <a:bodyPr wrap="square" lIns="0" tIns="0" rIns="0" bIns="0" rtlCol="0" anchor="ctr"/>
          <a:lstStyle/>
          <a:p>
            <a:pPr indent="0" marL="0">
              <a:lnSpc>
                <a:spcPct val="124000"/>
              </a:lnSpc>
              <a:buNone/>
            </a:pPr>
            <a:r>
              <a:rPr lang="en-US" sz="1100" dirty="0">
                <a:solidFill>
                  <a:srgbClr val="EFEBE3"/>
                </a:solidFill>
                <a:latin typeface="Yu Gothic" pitchFamily="34" charset="0"/>
                <a:ea typeface="Yu Gothic" pitchFamily="34" charset="-122"/>
                <a:cs typeface="Yu Gothic" pitchFamily="34" charset="-120"/>
              </a:rPr>
              <a:t>結論：20%の分岐点は回転12.7ヶ月（ニュートラル前提）であり、主線12ヶ月からの余裕は0.7ヶ月しかない。回転12ヶ月の達成は「上振れ条件」ではなく必要条件であり、ここが本ファンド最大の管理項目となる。回転が15ヶ月へ延びれば17.3%、18ヶ月なら14.9%まで低下する。したがって組入銘柄は流動性上位に絞り込み、B2B卸とB2Cを併走させて販売量を確保する設計とする。なお、インポーターの仕入価格が上昇する局面では希望小売価格も連動して上昇するため、定価比の構造は維持され、利回りへの影響は生じない。</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FAIR ALLOCATION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WineBank在庫との公平性をどう担保するか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調達・保管・販売のすべてをWineBankが担うため配分に構造的な利益相反が生じる。在庫比率によるプロラタ配分を原則とする。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
        <p:nvSpPr>
          <p:cNvPr id="7" name="Shape 5"/>
          <p:cNvSpPr/>
          <p:nvPr/>
        </p:nvSpPr>
        <p:spPr>
          <a:xfrm>
            <a:off x="658368" y="1627632"/>
            <a:ext cx="3454298" cy="2011680"/>
          </a:xfrm>
          <a:prstGeom prst="roundRect">
            <a:avLst>
              <a:gd name="adj" fmla="val 2045"/>
            </a:avLst>
          </a:prstGeom>
          <a:solidFill>
            <a:srgbClr val="1F1D19"/>
          </a:solidFill>
          <a:ln w="9525">
            <a:solidFill>
              <a:srgbClr val="6E5730"/>
            </a:solidFill>
            <a:prstDash val="solid"/>
          </a:ln>
        </p:spPr>
      </p:sp>
      <p:sp>
        <p:nvSpPr>
          <p:cNvPr id="8" name="Shape 6"/>
          <p:cNvSpPr/>
          <p:nvPr/>
        </p:nvSpPr>
        <p:spPr>
          <a:xfrm>
            <a:off x="896112" y="181051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28800"/>
            <a:ext cx="2576474" cy="274320"/>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プロラタ配分を原則とする</a:t>
            </a:r>
            <a:endParaRPr lang="en-US" sz="1150" dirty="0"/>
          </a:p>
        </p:txBody>
      </p:sp>
      <p:sp>
        <p:nvSpPr>
          <p:cNvPr id="11" name="Text 9"/>
          <p:cNvSpPr/>
          <p:nvPr/>
        </p:nvSpPr>
        <p:spPr>
          <a:xfrm>
            <a:off x="89611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銘柄が両者にある場合、売却を在庫数量の比率に応じて配分する。個々の売却は分割できないため、累計の配分比率が在庫比率に一致するよう配分台帳で管理し、乖離の大きい側から出庫する。人の裁量を介さない機械的な運用とする。</a:t>
            </a:r>
            <a:endParaRPr lang="en-US" sz="900" dirty="0"/>
          </a:p>
        </p:txBody>
      </p:sp>
      <p:sp>
        <p:nvSpPr>
          <p:cNvPr id="12" name="Shape 10"/>
          <p:cNvSpPr/>
          <p:nvPr/>
        </p:nvSpPr>
        <p:spPr>
          <a:xfrm>
            <a:off x="4368698" y="1627632"/>
            <a:ext cx="3454298" cy="2011680"/>
          </a:xfrm>
          <a:prstGeom prst="roundRect">
            <a:avLst>
              <a:gd name="adj" fmla="val 2045"/>
            </a:avLst>
          </a:prstGeom>
          <a:solidFill>
            <a:srgbClr val="171614"/>
          </a:solidFill>
          <a:ln w="9525">
            <a:solidFill>
              <a:srgbClr val="2E2A24"/>
            </a:solidFill>
            <a:prstDash val="solid"/>
          </a:ln>
        </p:spPr>
      </p:sp>
      <p:sp>
        <p:nvSpPr>
          <p:cNvPr id="13" name="Shape 11"/>
          <p:cNvSpPr/>
          <p:nvPr/>
        </p:nvSpPr>
        <p:spPr>
          <a:xfrm>
            <a:off x="4606442" y="1810512"/>
            <a:ext cx="310896" cy="310896"/>
          </a:xfrm>
          <a:prstGeom prst="ellipse">
            <a:avLst/>
          </a:prstGeom>
          <a:solidFill>
            <a:srgbClr val="0C0C0C"/>
          </a:solidFill>
          <a:ln w="11430">
            <a:solidFill>
              <a:srgbClr val="A78450"/>
            </a:solidFill>
            <a:prstDash val="solid"/>
          </a:ln>
        </p:spPr>
      </p:sp>
      <p:sp>
        <p:nvSpPr>
          <p:cNvPr id="14" name="Text 12"/>
          <p:cNvSpPr/>
          <p:nvPr/>
        </p:nvSpPr>
        <p:spPr>
          <a:xfrm>
            <a:off x="460644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08778" y="1828800"/>
            <a:ext cx="2576474" cy="274320"/>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判断を要する場合はSPC優先</a:t>
            </a:r>
            <a:endParaRPr lang="en-US" sz="1150" dirty="0"/>
          </a:p>
        </p:txBody>
      </p:sp>
      <p:sp>
        <p:nvSpPr>
          <p:cNvPr id="16" name="Text 14"/>
          <p:cNvSpPr/>
          <p:nvPr/>
        </p:nvSpPr>
        <p:spPr>
          <a:xfrm>
            <a:off x="460644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乖離が同等である場合や、ロット単位の売却などプロラタで割り切れない場合は、SPC在庫を優先して売却する。四半期末の乖離が許容幅を超えた場合は翌四半期に是正する。</a:t>
            </a:r>
            <a:endParaRPr lang="en-US" sz="900" dirty="0"/>
          </a:p>
        </p:txBody>
      </p:sp>
      <p:sp>
        <p:nvSpPr>
          <p:cNvPr id="17" name="Shape 15"/>
          <p:cNvSpPr/>
          <p:nvPr/>
        </p:nvSpPr>
        <p:spPr>
          <a:xfrm>
            <a:off x="8079029" y="1627632"/>
            <a:ext cx="3454298" cy="2011680"/>
          </a:xfrm>
          <a:prstGeom prst="roundRect">
            <a:avLst>
              <a:gd name="adj" fmla="val 2045"/>
            </a:avLst>
          </a:prstGeom>
          <a:solidFill>
            <a:srgbClr val="171614"/>
          </a:solidFill>
          <a:ln w="9525">
            <a:solidFill>
              <a:srgbClr val="2E2A24"/>
            </a:solidFill>
            <a:prstDash val="solid"/>
          </a:ln>
        </p:spPr>
      </p:sp>
      <p:sp>
        <p:nvSpPr>
          <p:cNvPr id="18" name="Shape 16"/>
          <p:cNvSpPr/>
          <p:nvPr/>
        </p:nvSpPr>
        <p:spPr>
          <a:xfrm>
            <a:off x="8316773" y="1810512"/>
            <a:ext cx="310896" cy="310896"/>
          </a:xfrm>
          <a:prstGeom prst="ellipse">
            <a:avLst/>
          </a:prstGeom>
          <a:solidFill>
            <a:srgbClr val="0C0C0C"/>
          </a:solidFill>
          <a:ln w="11430">
            <a:solidFill>
              <a:srgbClr val="A78450"/>
            </a:solidFill>
            <a:prstDash val="solid"/>
          </a:ln>
        </p:spPr>
      </p:sp>
      <p:sp>
        <p:nvSpPr>
          <p:cNvPr id="19" name="Text 17"/>
          <p:cNvSpPr/>
          <p:nvPr/>
        </p:nvSpPr>
        <p:spPr>
          <a:xfrm>
            <a:off x="8316773"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19109" y="1828800"/>
            <a:ext cx="2576474" cy="274320"/>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価格同一ルールと補填条項</a:t>
            </a:r>
            <a:endParaRPr lang="en-US" sz="1150" dirty="0"/>
          </a:p>
        </p:txBody>
      </p:sp>
      <p:sp>
        <p:nvSpPr>
          <p:cNvPr id="21" name="Text 19"/>
          <p:cNvSpPr/>
          <p:nvPr/>
        </p:nvSpPr>
        <p:spPr>
          <a:xfrm>
            <a:off x="8316773"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同一SKU・同一四半期の実現単価は、SPCがWineBank自己勘定を下回らないものとする。下回った場合は差額×SPC数量をWineBankがSPCへ現金で補填する。運用が崩れても投資家が金額で守られる仕組みとする。</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3749040"/>
          <a:ext cx="10874959" cy="914400"/>
        </p:xfrm>
        <a:graphic>
          <a:graphicData uri="http://schemas.openxmlformats.org/drawingml/2006/table">
            <a:tbl>
              <a:tblPr/>
              <a:tblGrid>
                <a:gridCol w="2377440"/>
                <a:gridCol w="8494776"/>
              </a:tblGrid>
              <a:tr h="29718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組入銘柄の選定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Liv-ex掲載の流動性上位銘柄をSPCに組み入れ、可能な限り自己勘定在庫と重複させない。重複しない銘柄では配分の判断自体が生じない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取得時の按分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同一SKUを複数ロット取得する場合は、SPCとWineBank自己勘定の在庫比率に応じて按分して割り当てる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配分台帳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SKU別に期首在庫・取得・売却・期末在庫を両建てで記録し、累計配分比率と在庫比率の乖離を四半期ごとに投資家へ開示する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システムによる自動割当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出庫指示はシステム側で自動割当とし、担当者が出所を選択できない設計とする。変更は理由の記録を必須とする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倉庫内の分別保管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SPC名義の在庫は別ロケーション・別ラベルで管理し、現物の特定可能性を確保する。四半期ごとに第三者棚卸を実施する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9718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独立第三者による検証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AUPの対象に配分ルールの遵守状況を含め、公認会計士による年次の検証を受ける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815584"/>
            <a:ext cx="10874959" cy="329184"/>
          </a:xfrm>
          <a:prstGeom prst="rect">
            <a:avLst/>
          </a:prstGeom>
          <a:noFill/>
          <a:ln/>
        </p:spPr>
        <p:txBody>
          <a:bodyPr wrap="square" lIns="0" tIns="0" rIns="0" bIns="0" rtlCol="0" anchor="ctr"/>
          <a:lstStyle/>
          <a:p>
            <a:pPr indent="0" marL="0">
              <a:lnSpc>
                <a:spcPct val="118000"/>
              </a:lnSpc>
              <a:buNone/>
            </a:pPr>
            <a:r>
              <a:rPr lang="en-US" sz="800" dirty="0">
                <a:solidFill>
                  <a:srgbClr val="6E675E"/>
                </a:solidFill>
                <a:latin typeface="Yu Gothic" pitchFamily="34" charset="0"/>
                <a:ea typeface="Yu Gothic" pitchFamily="34" charset="-122"/>
                <a:cs typeface="Yu Gothic" pitchFamily="34" charset="-120"/>
              </a:rPr>
              <a:t>※ SPC在庫を完売するまで自己勘定在庫を売らないという運用は、商品構成が銘柄ごとに異なるため実務上成立しない。したがってプロラタ配分を原則とし、プロラタで決まらない部分についてSPCを優先する設計とした。回転期間は主として「何を組み入れるか」で決まるため、組成時の銘柄選定が最大の担保となる。</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運営者への依存度が高いスキームであるため、開示義務と利益相反管理を契約上で具体的に定める。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契約上の報告・開示義務</a:t>
            </a:r>
            <a:endParaRPr lang="en-US" sz="1250" dirty="0"/>
          </a:p>
        </p:txBody>
      </p:sp>
      <p:sp>
        <p:nvSpPr>
          <p:cNvPr id="9" name="Shape 7"/>
          <p:cNvSpPr/>
          <p:nvPr/>
        </p:nvSpPr>
        <p:spPr>
          <a:xfrm>
            <a:off x="932688" y="2199132"/>
            <a:ext cx="128016" cy="128016"/>
          </a:xfrm>
          <a:prstGeom prst="ellipse">
            <a:avLst/>
          </a:prstGeom>
          <a:solidFill>
            <a:srgbClr val="A78450"/>
          </a:solidFill>
          <a:ln w="11430">
            <a:solidFill>
              <a:srgbClr val="A78450"/>
            </a:solidFill>
            <a:prstDash val="solid"/>
          </a:ln>
        </p:spPr>
      </p:sp>
      <p:sp>
        <p:nvSpPr>
          <p:cNvPr id="10" name="Text 8"/>
          <p:cNvSpPr/>
          <p:nvPr/>
        </p:nvSpPr>
        <p:spPr>
          <a:xfrm>
            <a:off x="932688" y="2199132"/>
            <a:ext cx="128016" cy="128016"/>
          </a:xfrm>
          <a:prstGeom prst="rect">
            <a:avLst/>
          </a:prstGeom>
          <a:noFill/>
          <a:ln/>
        </p:spPr>
        <p:txBody>
          <a:bodyPr wrap="square" lIns="0" tIns="0" rIns="0" bIns="0" rtlCol="0" anchor="ctr"/>
          <a:lstStyle/>
          <a:p>
            <a:pPr algn="ctr" indent="0" marL="0">
              <a:buNone/>
            </a:pPr>
            <a:endParaRPr lang="en-US" sz="1100" dirty="0"/>
          </a:p>
        </p:txBody>
      </p:sp>
      <p:sp>
        <p:nvSpPr>
          <p:cNvPr id="11" name="Text 9"/>
          <p:cNvSpPr/>
          <p:nvPr/>
        </p:nvSpPr>
        <p:spPr>
          <a:xfrm>
            <a:off x="1152144" y="212140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四半期ごとの損益、資金収支および事業進捗</a:t>
            </a:r>
            <a:endParaRPr lang="en-US" sz="950" dirty="0"/>
          </a:p>
        </p:txBody>
      </p:sp>
      <p:sp>
        <p:nvSpPr>
          <p:cNvPr id="12" name="Shape 10"/>
          <p:cNvSpPr/>
          <p:nvPr/>
        </p:nvSpPr>
        <p:spPr>
          <a:xfrm>
            <a:off x="932688" y="2528316"/>
            <a:ext cx="128016" cy="128016"/>
          </a:xfrm>
          <a:prstGeom prst="ellipse">
            <a:avLst/>
          </a:prstGeom>
          <a:solidFill>
            <a:srgbClr val="A78450"/>
          </a:solidFill>
          <a:ln w="11430">
            <a:solidFill>
              <a:srgbClr val="A78450"/>
            </a:solidFill>
            <a:prstDash val="solid"/>
          </a:ln>
        </p:spPr>
      </p:sp>
      <p:sp>
        <p:nvSpPr>
          <p:cNvPr id="13" name="Text 11"/>
          <p:cNvSpPr/>
          <p:nvPr/>
        </p:nvSpPr>
        <p:spPr>
          <a:xfrm>
            <a:off x="932688" y="2528316"/>
            <a:ext cx="128016" cy="128016"/>
          </a:xfrm>
          <a:prstGeom prst="rect">
            <a:avLst/>
          </a:prstGeom>
          <a:noFill/>
          <a:ln/>
        </p:spPr>
        <p:txBody>
          <a:bodyPr wrap="square" lIns="0" tIns="0" rIns="0" bIns="0" rtlCol="0" anchor="ctr"/>
          <a:lstStyle/>
          <a:p>
            <a:pPr algn="ctr" indent="0" marL="0">
              <a:buNone/>
            </a:pPr>
            <a:endParaRPr lang="en-US" sz="1100" dirty="0"/>
          </a:p>
        </p:txBody>
      </p:sp>
      <p:sp>
        <p:nvSpPr>
          <p:cNvPr id="14" name="Text 12"/>
          <p:cNvSpPr/>
          <p:nvPr/>
        </p:nvSpPr>
        <p:spPr>
          <a:xfrm>
            <a:off x="1152144" y="245059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5" name="Shape 13"/>
          <p:cNvSpPr/>
          <p:nvPr/>
        </p:nvSpPr>
        <p:spPr>
          <a:xfrm>
            <a:off x="932688" y="2857500"/>
            <a:ext cx="128016" cy="128016"/>
          </a:xfrm>
          <a:prstGeom prst="ellipse">
            <a:avLst/>
          </a:prstGeom>
          <a:solidFill>
            <a:srgbClr val="A78450"/>
          </a:solidFill>
          <a:ln w="11430">
            <a:solidFill>
              <a:srgbClr val="A78450"/>
            </a:solidFill>
            <a:prstDash val="solid"/>
          </a:ln>
        </p:spPr>
      </p:sp>
      <p:sp>
        <p:nvSpPr>
          <p:cNvPr id="16" name="Text 14"/>
          <p:cNvSpPr/>
          <p:nvPr/>
        </p:nvSpPr>
        <p:spPr>
          <a:xfrm>
            <a:off x="932688" y="2857500"/>
            <a:ext cx="128016" cy="128016"/>
          </a:xfrm>
          <a:prstGeom prst="rect">
            <a:avLst/>
          </a:prstGeom>
          <a:noFill/>
          <a:ln/>
        </p:spPr>
        <p:txBody>
          <a:bodyPr wrap="square" lIns="0" tIns="0" rIns="0" bIns="0" rtlCol="0" anchor="ctr"/>
          <a:lstStyle/>
          <a:p>
            <a:pPr algn="ctr" indent="0" marL="0">
              <a:buNone/>
            </a:pPr>
            <a:endParaRPr lang="en-US" sz="1100" dirty="0"/>
          </a:p>
        </p:txBody>
      </p:sp>
      <p:sp>
        <p:nvSpPr>
          <p:cNvPr id="17" name="Text 15"/>
          <p:cNvSpPr/>
          <p:nvPr/>
        </p:nvSpPr>
        <p:spPr>
          <a:xfrm>
            <a:off x="1152144" y="277977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資金使途、銀行口座残高および主要な支払内容</a:t>
            </a:r>
            <a:endParaRPr lang="en-US" sz="950" dirty="0"/>
          </a:p>
        </p:txBody>
      </p:sp>
      <p:sp>
        <p:nvSpPr>
          <p:cNvPr id="18" name="Shape 16"/>
          <p:cNvSpPr/>
          <p:nvPr/>
        </p:nvSpPr>
        <p:spPr>
          <a:xfrm>
            <a:off x="932688" y="3186684"/>
            <a:ext cx="128016" cy="128016"/>
          </a:xfrm>
          <a:prstGeom prst="ellipse">
            <a:avLst/>
          </a:prstGeom>
          <a:solidFill>
            <a:srgbClr val="A78450"/>
          </a:solidFill>
          <a:ln w="11430">
            <a:solidFill>
              <a:srgbClr val="A78450"/>
            </a:solidFill>
            <a:prstDash val="solid"/>
          </a:ln>
        </p:spPr>
      </p:sp>
      <p:sp>
        <p:nvSpPr>
          <p:cNvPr id="19" name="Text 17"/>
          <p:cNvSpPr/>
          <p:nvPr/>
        </p:nvSpPr>
        <p:spPr>
          <a:xfrm>
            <a:off x="932688" y="3186684"/>
            <a:ext cx="128016" cy="12801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52144" y="310896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21" name="Shape 19"/>
          <p:cNvSpPr/>
          <p:nvPr/>
        </p:nvSpPr>
        <p:spPr>
          <a:xfrm>
            <a:off x="932688" y="3515868"/>
            <a:ext cx="128016" cy="128016"/>
          </a:xfrm>
          <a:prstGeom prst="ellipse">
            <a:avLst/>
          </a:prstGeom>
          <a:solidFill>
            <a:srgbClr val="A78450"/>
          </a:solidFill>
          <a:ln w="11430">
            <a:solidFill>
              <a:srgbClr val="A78450"/>
            </a:solidFill>
            <a:prstDash val="solid"/>
          </a:ln>
        </p:spPr>
      </p:sp>
      <p:sp>
        <p:nvSpPr>
          <p:cNvPr id="22" name="Text 20"/>
          <p:cNvSpPr/>
          <p:nvPr/>
        </p:nvSpPr>
        <p:spPr>
          <a:xfrm>
            <a:off x="932688" y="3515868"/>
            <a:ext cx="128016" cy="128016"/>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1152144" y="3438144"/>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一定金額以上の取引、借入れ、追加投資、契約変更の事前承認</a:t>
            </a:r>
            <a:endParaRPr lang="en-US" sz="950" dirty="0"/>
          </a:p>
        </p:txBody>
      </p:sp>
      <p:sp>
        <p:nvSpPr>
          <p:cNvPr id="24" name="Shape 22"/>
          <p:cNvSpPr/>
          <p:nvPr/>
        </p:nvSpPr>
        <p:spPr>
          <a:xfrm>
            <a:off x="932688" y="3845052"/>
            <a:ext cx="128016" cy="128016"/>
          </a:xfrm>
          <a:prstGeom prst="ellipse">
            <a:avLst/>
          </a:prstGeom>
          <a:solidFill>
            <a:srgbClr val="A78450"/>
          </a:solidFill>
          <a:ln w="11430">
            <a:solidFill>
              <a:srgbClr val="A78450"/>
            </a:solidFill>
            <a:prstDash val="solid"/>
          </a:ln>
        </p:spPr>
      </p:sp>
      <p:sp>
        <p:nvSpPr>
          <p:cNvPr id="25" name="Text 23"/>
          <p:cNvSpPr/>
          <p:nvPr/>
        </p:nvSpPr>
        <p:spPr>
          <a:xfrm>
            <a:off x="932688" y="3845052"/>
            <a:ext cx="128016" cy="128016"/>
          </a:xfrm>
          <a:prstGeom prst="rect">
            <a:avLst/>
          </a:prstGeom>
          <a:noFill/>
          <a:ln/>
        </p:spPr>
        <p:txBody>
          <a:bodyPr wrap="square" lIns="0" tIns="0" rIns="0" bIns="0" rtlCol="0" anchor="ctr"/>
          <a:lstStyle/>
          <a:p>
            <a:pPr algn="ctr" indent="0" marL="0">
              <a:buNone/>
            </a:pPr>
            <a:endParaRPr lang="en-US" sz="1100" dirty="0"/>
          </a:p>
        </p:txBody>
      </p:sp>
      <p:sp>
        <p:nvSpPr>
          <p:cNvPr id="26" name="Text 24"/>
          <p:cNvSpPr/>
          <p:nvPr/>
        </p:nvSpPr>
        <p:spPr>
          <a:xfrm>
            <a:off x="1152144" y="376732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27" name="Shape 25"/>
          <p:cNvSpPr/>
          <p:nvPr/>
        </p:nvSpPr>
        <p:spPr>
          <a:xfrm>
            <a:off x="932688" y="4174236"/>
            <a:ext cx="128016" cy="128016"/>
          </a:xfrm>
          <a:prstGeom prst="ellipse">
            <a:avLst/>
          </a:prstGeom>
          <a:solidFill>
            <a:srgbClr val="A78450"/>
          </a:solidFill>
          <a:ln w="11430">
            <a:solidFill>
              <a:srgbClr val="A78450"/>
            </a:solidFill>
            <a:prstDash val="solid"/>
          </a:ln>
        </p:spPr>
      </p:sp>
      <p:sp>
        <p:nvSpPr>
          <p:cNvPr id="28" name="Text 26"/>
          <p:cNvSpPr/>
          <p:nvPr/>
        </p:nvSpPr>
        <p:spPr>
          <a:xfrm>
            <a:off x="932688" y="4174236"/>
            <a:ext cx="128016" cy="128016"/>
          </a:xfrm>
          <a:prstGeom prst="rect">
            <a:avLst/>
          </a:prstGeom>
          <a:noFill/>
          <a:ln/>
        </p:spPr>
        <p:txBody>
          <a:bodyPr wrap="square" lIns="0" tIns="0" rIns="0" bIns="0" rtlCol="0" anchor="ctr"/>
          <a:lstStyle/>
          <a:p>
            <a:pPr algn="ctr" indent="0" marL="0">
              <a:buNone/>
            </a:pPr>
            <a:endParaRPr lang="en-US" sz="1100" dirty="0"/>
          </a:p>
        </p:txBody>
      </p:sp>
      <p:sp>
        <p:nvSpPr>
          <p:cNvPr id="29" name="Text 27"/>
          <p:cNvSpPr/>
          <p:nvPr/>
        </p:nvSpPr>
        <p:spPr>
          <a:xfrm>
            <a:off x="1152144" y="409651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30" name="Shape 28"/>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31" name="Text 29"/>
          <p:cNvSpPr/>
          <p:nvPr/>
        </p:nvSpPr>
        <p:spPr>
          <a:xfrm>
            <a:off x="648904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利益相反の管理</a:t>
            </a:r>
            <a:endParaRPr lang="en-US" sz="1250" dirty="0"/>
          </a:p>
        </p:txBody>
      </p:sp>
      <p:sp>
        <p:nvSpPr>
          <p:cNvPr id="32" name="Text 30"/>
          <p:cNvSpPr/>
          <p:nvPr/>
        </p:nvSpPr>
        <p:spPr>
          <a:xfrm>
            <a:off x="6489040" y="2157984"/>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独立企業間価格の原則</a:t>
            </a:r>
            <a:endParaRPr lang="en-US" sz="1050" dirty="0"/>
          </a:p>
        </p:txBody>
      </p:sp>
      <p:sp>
        <p:nvSpPr>
          <p:cNvPr id="33" name="Text 31"/>
          <p:cNvSpPr/>
          <p:nvPr/>
        </p:nvSpPr>
        <p:spPr>
          <a:xfrm>
            <a:off x="6489040" y="2377440"/>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運営者およびその関係会社との取引は、第三者との取引条件と同等の条件によるものとする。</a:t>
            </a:r>
            <a:endParaRPr lang="en-US" sz="900" dirty="0"/>
          </a:p>
        </p:txBody>
      </p:sp>
      <p:sp>
        <p:nvSpPr>
          <p:cNvPr id="34" name="Text 32"/>
          <p:cNvSpPr/>
          <p:nvPr/>
        </p:nvSpPr>
        <p:spPr>
          <a:xfrm>
            <a:off x="6489040" y="281635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価格根拠の文書化</a:t>
            </a:r>
            <a:endParaRPr lang="en-US" sz="1050" dirty="0"/>
          </a:p>
        </p:txBody>
      </p:sp>
      <p:sp>
        <p:nvSpPr>
          <p:cNvPr id="35" name="Text 33"/>
          <p:cNvSpPr/>
          <p:nvPr/>
        </p:nvSpPr>
        <p:spPr>
          <a:xfrm>
            <a:off x="6489040" y="3035808"/>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現物譲渡の1%を含め、価格および条件の合理性を客観的資料により説明できる状態を維持する。</a:t>
            </a:r>
            <a:endParaRPr lang="en-US" sz="900" dirty="0"/>
          </a:p>
        </p:txBody>
      </p:sp>
      <p:sp>
        <p:nvSpPr>
          <p:cNvPr id="36" name="Text 34"/>
          <p:cNvSpPr/>
          <p:nvPr/>
        </p:nvSpPr>
        <p:spPr>
          <a:xfrm>
            <a:off x="6489040" y="3474720"/>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重要な関連当事者取引の事前承認</a:t>
            </a:r>
            <a:endParaRPr lang="en-US" sz="1050" dirty="0"/>
          </a:p>
        </p:txBody>
      </p:sp>
      <p:sp>
        <p:nvSpPr>
          <p:cNvPr id="37" name="Text 35"/>
          <p:cNvSpPr/>
          <p:nvPr/>
        </p:nvSpPr>
        <p:spPr>
          <a:xfrm>
            <a:off x="6489040" y="3694176"/>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一定金額以上の取引については、投資家または独立した第三者の事前承認を要する。</a:t>
            </a:r>
            <a:endParaRPr lang="en-US" sz="900" dirty="0"/>
          </a:p>
        </p:txBody>
      </p:sp>
      <p:sp>
        <p:nvSpPr>
          <p:cNvPr id="38" name="Text 36"/>
          <p:cNvSpPr/>
          <p:nvPr/>
        </p:nvSpPr>
        <p:spPr>
          <a:xfrm>
            <a:off x="6489040" y="4133088"/>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在庫配分ルールの遵守</a:t>
            </a:r>
            <a:endParaRPr lang="en-US" sz="1050" dirty="0"/>
          </a:p>
        </p:txBody>
      </p:sp>
      <p:sp>
        <p:nvSpPr>
          <p:cNvPr id="39" name="Text 37"/>
          <p:cNvSpPr/>
          <p:nvPr/>
        </p:nvSpPr>
        <p:spPr>
          <a:xfrm>
            <a:off x="6489040" y="4352544"/>
            <a:ext cx="4788256" cy="3840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前頁の配分方針を契約別紙として明文化し、逸脱時の是正・補填手続を定める。</a:t>
            </a:r>
            <a:endParaRPr lang="en-US" sz="900" dirty="0"/>
          </a:p>
        </p:txBody>
      </p:sp>
      <p:sp>
        <p:nvSpPr>
          <p:cNvPr id="40" name="Shape 38"/>
          <p:cNvSpPr/>
          <p:nvPr/>
        </p:nvSpPr>
        <p:spPr>
          <a:xfrm>
            <a:off x="658368" y="4974336"/>
            <a:ext cx="3454298" cy="1133856"/>
          </a:xfrm>
          <a:prstGeom prst="roundRect">
            <a:avLst>
              <a:gd name="adj" fmla="val 3629"/>
            </a:avLst>
          </a:prstGeom>
          <a:solidFill>
            <a:srgbClr val="171614"/>
          </a:solidFill>
          <a:ln w="9525">
            <a:solidFill>
              <a:srgbClr val="2E2A24"/>
            </a:solidFill>
            <a:prstDash val="solid"/>
          </a:ln>
        </p:spPr>
      </p:sp>
      <p:sp>
        <p:nvSpPr>
          <p:cNvPr id="41" name="Text 39"/>
          <p:cNvSpPr/>
          <p:nvPr/>
        </p:nvSpPr>
        <p:spPr>
          <a:xfrm>
            <a:off x="89611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ファンド形態</a:t>
            </a:r>
            <a:endParaRPr lang="en-US" sz="950" dirty="0"/>
          </a:p>
        </p:txBody>
      </p:sp>
      <p:sp>
        <p:nvSpPr>
          <p:cNvPr id="42" name="Text 40"/>
          <p:cNvSpPr/>
          <p:nvPr/>
        </p:nvSpPr>
        <p:spPr>
          <a:xfrm>
            <a:off x="89611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適格機関投資家等特例業務</a:t>
            </a:r>
            <a:endParaRPr lang="en-US" sz="1200" dirty="0"/>
          </a:p>
        </p:txBody>
      </p:sp>
      <p:sp>
        <p:nvSpPr>
          <p:cNvPr id="43" name="Text 41"/>
          <p:cNvSpPr/>
          <p:nvPr/>
        </p:nvSpPr>
        <p:spPr>
          <a:xfrm>
            <a:off x="89611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第1号ファンド（合同会社WineBank P1）で届出の実績がある。適格機関投資家1名以上の確保を組成条件とする。</a:t>
            </a:r>
            <a:endParaRPr lang="en-US" sz="850" dirty="0"/>
          </a:p>
        </p:txBody>
      </p:sp>
      <p:sp>
        <p:nvSpPr>
          <p:cNvPr id="44" name="Shape 42"/>
          <p:cNvSpPr/>
          <p:nvPr/>
        </p:nvSpPr>
        <p:spPr>
          <a:xfrm>
            <a:off x="4368698" y="4974336"/>
            <a:ext cx="3454298" cy="1133856"/>
          </a:xfrm>
          <a:prstGeom prst="roundRect">
            <a:avLst>
              <a:gd name="adj" fmla="val 3629"/>
            </a:avLst>
          </a:prstGeom>
          <a:solidFill>
            <a:srgbClr val="171614"/>
          </a:solidFill>
          <a:ln w="9525">
            <a:solidFill>
              <a:srgbClr val="2E2A24"/>
            </a:solidFill>
            <a:prstDash val="solid"/>
          </a:ln>
        </p:spPr>
      </p:sp>
      <p:sp>
        <p:nvSpPr>
          <p:cNvPr id="45" name="Text 43"/>
          <p:cNvSpPr/>
          <p:nvPr/>
        </p:nvSpPr>
        <p:spPr>
          <a:xfrm>
            <a:off x="460644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外部検証</a:t>
            </a:r>
            <a:endParaRPr lang="en-US" sz="950" dirty="0"/>
          </a:p>
        </p:txBody>
      </p:sp>
      <p:sp>
        <p:nvSpPr>
          <p:cNvPr id="46" name="Text 44"/>
          <p:cNvSpPr/>
          <p:nvPr/>
        </p:nvSpPr>
        <p:spPr>
          <a:xfrm>
            <a:off x="460644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47" name="Text 45"/>
          <p:cNvSpPr/>
          <p:nvPr/>
        </p:nvSpPr>
        <p:spPr>
          <a:xfrm>
            <a:off x="460644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財務諸表監査ではなく、目的を限定した合意された手続を採用。年50万円をSPC費用に計上済み。将来的な監査への移行も可能とする。</a:t>
            </a:r>
            <a:endParaRPr lang="en-US" sz="850" dirty="0"/>
          </a:p>
        </p:txBody>
      </p:sp>
      <p:sp>
        <p:nvSpPr>
          <p:cNvPr id="48" name="Shape 46"/>
          <p:cNvSpPr/>
          <p:nvPr/>
        </p:nvSpPr>
        <p:spPr>
          <a:xfrm>
            <a:off x="8079029" y="4974336"/>
            <a:ext cx="3454298" cy="1133856"/>
          </a:xfrm>
          <a:prstGeom prst="roundRect">
            <a:avLst>
              <a:gd name="adj" fmla="val 3629"/>
            </a:avLst>
          </a:prstGeom>
          <a:solidFill>
            <a:srgbClr val="171614"/>
          </a:solidFill>
          <a:ln w="9525">
            <a:solidFill>
              <a:srgbClr val="2E2A24"/>
            </a:solidFill>
            <a:prstDash val="solid"/>
          </a:ln>
        </p:spPr>
      </p:sp>
      <p:sp>
        <p:nvSpPr>
          <p:cNvPr id="49" name="Text 47"/>
          <p:cNvSpPr/>
          <p:nvPr/>
        </p:nvSpPr>
        <p:spPr>
          <a:xfrm>
            <a:off x="8316773"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報告頻度</a:t>
            </a:r>
            <a:endParaRPr lang="en-US" sz="950" dirty="0"/>
          </a:p>
        </p:txBody>
      </p:sp>
      <p:sp>
        <p:nvSpPr>
          <p:cNvPr id="50" name="Text 48"/>
          <p:cNvSpPr/>
          <p:nvPr/>
        </p:nvSpPr>
        <p:spPr>
          <a:xfrm>
            <a:off x="8316773"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四半期</a:t>
            </a:r>
            <a:endParaRPr lang="en-US" sz="1200" dirty="0"/>
          </a:p>
        </p:txBody>
      </p:sp>
      <p:sp>
        <p:nvSpPr>
          <p:cNvPr id="51" name="Text 49"/>
          <p:cNvSpPr/>
          <p:nvPr/>
        </p:nvSpPr>
        <p:spPr>
          <a:xfrm>
            <a:off x="8316773"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在庫明細・簿価・売上・試算表を四半期ごとに開示。年次で決算を報告する。</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
        <p:nvSpPr>
          <p:cNvPr id="6" name="Shape 4"/>
          <p:cNvSpPr/>
          <p:nvPr/>
        </p:nvSpPr>
        <p:spPr>
          <a:xfrm>
            <a:off x="658368" y="1554480"/>
            <a:ext cx="2526716" cy="1920240"/>
          </a:xfrm>
          <a:prstGeom prst="roundRect">
            <a:avLst>
              <a:gd name="adj" fmla="val 2143"/>
            </a:avLst>
          </a:prstGeom>
          <a:solidFill>
            <a:srgbClr val="171614"/>
          </a:solidFill>
          <a:ln w="9525">
            <a:solidFill>
              <a:srgbClr val="2E2A24"/>
            </a:solidFill>
            <a:prstDash val="solid"/>
          </a:ln>
        </p:spPr>
      </p:sp>
      <p:sp>
        <p:nvSpPr>
          <p:cNvPr id="7" name="Text 5"/>
          <p:cNvSpPr/>
          <p:nvPr/>
        </p:nvSpPr>
        <p:spPr>
          <a:xfrm>
            <a:off x="896112"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8" name="Text 6"/>
          <p:cNvSpPr/>
          <p:nvPr/>
        </p:nvSpPr>
        <p:spPr>
          <a:xfrm>
            <a:off x="896112"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9" name="Text 7"/>
          <p:cNvSpPr/>
          <p:nvPr/>
        </p:nvSpPr>
        <p:spPr>
          <a:xfrm>
            <a:off x="896112"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銘柄をLiv-ex掲載の流通量の多い銘柄に限定。四半期ごとに滞留在庫を洗い出し、簿価見直しを実施。滞留は値上がりを取る期間でもある。</a:t>
            </a:r>
            <a:endParaRPr lang="en-US" sz="950" dirty="0"/>
          </a:p>
        </p:txBody>
      </p:sp>
      <p:sp>
        <p:nvSpPr>
          <p:cNvPr id="10" name="Shape 8"/>
          <p:cNvSpPr/>
          <p:nvPr/>
        </p:nvSpPr>
        <p:spPr>
          <a:xfrm>
            <a:off x="3441116" y="1554480"/>
            <a:ext cx="2526716" cy="1920240"/>
          </a:xfrm>
          <a:prstGeom prst="roundRect">
            <a:avLst>
              <a:gd name="adj" fmla="val 2143"/>
            </a:avLst>
          </a:prstGeom>
          <a:solidFill>
            <a:srgbClr val="171614"/>
          </a:solidFill>
          <a:ln w="9525">
            <a:solidFill>
              <a:srgbClr val="2E2A24"/>
            </a:solidFill>
            <a:prstDash val="solid"/>
          </a:ln>
        </p:spPr>
      </p:sp>
      <p:sp>
        <p:nvSpPr>
          <p:cNvPr id="11" name="Text 9"/>
          <p:cNvSpPr/>
          <p:nvPr/>
        </p:nvSpPr>
        <p:spPr>
          <a:xfrm>
            <a:off x="3678860"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12" name="Text 10"/>
          <p:cNvSpPr/>
          <p:nvPr/>
        </p:nvSpPr>
        <p:spPr>
          <a:xfrm>
            <a:off x="3678860"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Wine市況の下落・停滞</a:t>
            </a:r>
            <a:endParaRPr lang="en-US" sz="950" dirty="0"/>
          </a:p>
        </p:txBody>
      </p:sp>
      <p:sp>
        <p:nvSpPr>
          <p:cNvPr id="13" name="Text 11"/>
          <p:cNvSpPr/>
          <p:nvPr/>
        </p:nvSpPr>
        <p:spPr>
          <a:xfrm>
            <a:off x="3678860"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主線は年6%上昇を織り込むが、横ばい（0%）でも投資家利回り17.0%を確保できる。会社資料の年率10%に対し保守的な前提。</a:t>
            </a:r>
            <a:endParaRPr lang="en-US" sz="950" dirty="0"/>
          </a:p>
        </p:txBody>
      </p:sp>
      <p:sp>
        <p:nvSpPr>
          <p:cNvPr id="14" name="Shape 12"/>
          <p:cNvSpPr/>
          <p:nvPr/>
        </p:nvSpPr>
        <p:spPr>
          <a:xfrm>
            <a:off x="6223864" y="1554480"/>
            <a:ext cx="2526716" cy="1920240"/>
          </a:xfrm>
          <a:prstGeom prst="roundRect">
            <a:avLst>
              <a:gd name="adj" fmla="val 2143"/>
            </a:avLst>
          </a:prstGeom>
          <a:solidFill>
            <a:srgbClr val="171614"/>
          </a:solidFill>
          <a:ln w="9525">
            <a:solidFill>
              <a:srgbClr val="2E2A24"/>
            </a:solidFill>
            <a:prstDash val="solid"/>
          </a:ln>
        </p:spPr>
      </p:sp>
      <p:sp>
        <p:nvSpPr>
          <p:cNvPr id="15" name="Text 13"/>
          <p:cNvSpPr/>
          <p:nvPr/>
        </p:nvSpPr>
        <p:spPr>
          <a:xfrm>
            <a:off x="6461608"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当初3年間はロックアップ。4年目以降は年度ごとの解約日に対応し、解約枠に応じて現金比率を引き上げる。</a:t>
            </a:r>
            <a:endParaRPr lang="en-US" sz="950" dirty="0"/>
          </a:p>
        </p:txBody>
      </p:sp>
      <p:sp>
        <p:nvSpPr>
          <p:cNvPr id="18" name="Shape 16"/>
          <p:cNvSpPr/>
          <p:nvPr/>
        </p:nvSpPr>
        <p:spPr>
          <a:xfrm>
            <a:off x="9006611" y="1554480"/>
            <a:ext cx="2526716" cy="1920240"/>
          </a:xfrm>
          <a:prstGeom prst="roundRect">
            <a:avLst>
              <a:gd name="adj" fmla="val 2143"/>
            </a:avLst>
          </a:prstGeom>
          <a:solidFill>
            <a:srgbClr val="171614"/>
          </a:solidFill>
          <a:ln w="9525">
            <a:solidFill>
              <a:srgbClr val="2E2A24"/>
            </a:solidFill>
            <a:prstDash val="solid"/>
          </a:ln>
        </p:spPr>
      </p:sp>
      <p:sp>
        <p:nvSpPr>
          <p:cNvPr id="19" name="Text 17"/>
          <p:cNvSpPr/>
          <p:nvPr/>
        </p:nvSpPr>
        <p:spPr>
          <a:xfrm>
            <a:off x="9244355"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87168"/>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インポーター・酒販店との年間調達枠を事前に締結。調達実績を四半期報告。</a:t>
            </a:r>
            <a:endParaRPr lang="en-US" sz="950" dirty="0"/>
          </a:p>
        </p:txBody>
      </p:sp>
      <p:sp>
        <p:nvSpPr>
          <p:cNvPr id="22" name="Shape 20"/>
          <p:cNvSpPr/>
          <p:nvPr/>
        </p:nvSpPr>
        <p:spPr>
          <a:xfrm>
            <a:off x="658368" y="3675888"/>
            <a:ext cx="2526716" cy="1920240"/>
          </a:xfrm>
          <a:prstGeom prst="roundRect">
            <a:avLst>
              <a:gd name="adj" fmla="val 2143"/>
            </a:avLst>
          </a:prstGeom>
          <a:solidFill>
            <a:srgbClr val="171614"/>
          </a:solidFill>
          <a:ln w="9525">
            <a:solidFill>
              <a:srgbClr val="2E2A24"/>
            </a:solidFill>
            <a:prstDash val="solid"/>
          </a:ln>
        </p:spPr>
      </p:sp>
      <p:sp>
        <p:nvSpPr>
          <p:cNvPr id="23" name="Text 21"/>
          <p:cNvSpPr/>
          <p:nvPr/>
        </p:nvSpPr>
        <p:spPr>
          <a:xfrm>
            <a:off x="896112"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定温倉庫での保管と動産総合保険による全量付保。ロスは保険でカバーする前提のため費用計上していない。倉庫在庫は四半期ごとに第三者棚卸。</a:t>
            </a:r>
            <a:endParaRPr lang="en-US" sz="950" dirty="0"/>
          </a:p>
        </p:txBody>
      </p:sp>
      <p:sp>
        <p:nvSpPr>
          <p:cNvPr id="26" name="Shape 24"/>
          <p:cNvSpPr/>
          <p:nvPr/>
        </p:nvSpPr>
        <p:spPr>
          <a:xfrm>
            <a:off x="3441116" y="3675888"/>
            <a:ext cx="2526716" cy="1920240"/>
          </a:xfrm>
          <a:prstGeom prst="roundRect">
            <a:avLst>
              <a:gd name="adj" fmla="val 2143"/>
            </a:avLst>
          </a:prstGeom>
          <a:solidFill>
            <a:srgbClr val="171614"/>
          </a:solidFill>
          <a:ln w="9525">
            <a:solidFill>
              <a:srgbClr val="2E2A24"/>
            </a:solidFill>
            <a:prstDash val="solid"/>
          </a:ln>
        </p:spPr>
      </p:sp>
      <p:sp>
        <p:nvSpPr>
          <p:cNvPr id="27" name="Text 25"/>
          <p:cNvSpPr/>
          <p:nvPr/>
        </p:nvSpPr>
        <p:spPr>
          <a:xfrm>
            <a:off x="3678860"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a:t>
            </a:r>
            <a:endParaRPr lang="en-US" sz="950" dirty="0"/>
          </a:p>
        </p:txBody>
      </p:sp>
      <p:sp>
        <p:nvSpPr>
          <p:cNvPr id="30" name="Shape 28"/>
          <p:cNvSpPr/>
          <p:nvPr/>
        </p:nvSpPr>
        <p:spPr>
          <a:xfrm>
            <a:off x="6223864" y="3675888"/>
            <a:ext cx="2526716" cy="1920240"/>
          </a:xfrm>
          <a:prstGeom prst="roundRect">
            <a:avLst>
              <a:gd name="adj" fmla="val 2143"/>
            </a:avLst>
          </a:prstGeom>
          <a:solidFill>
            <a:srgbClr val="171614"/>
          </a:solidFill>
          <a:ln w="9525">
            <a:solidFill>
              <a:srgbClr val="2E2A24"/>
            </a:solidFill>
            <a:prstDash val="solid"/>
          </a:ln>
        </p:spPr>
      </p:sp>
      <p:sp>
        <p:nvSpPr>
          <p:cNvPr id="31" name="Text 29"/>
          <p:cNvSpPr/>
          <p:nvPr/>
        </p:nvSpPr>
        <p:spPr>
          <a:xfrm>
            <a:off x="6461608"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50" dirty="0"/>
          </a:p>
        </p:txBody>
      </p:sp>
      <p:sp>
        <p:nvSpPr>
          <p:cNvPr id="34" name="Shape 32"/>
          <p:cNvSpPr/>
          <p:nvPr/>
        </p:nvSpPr>
        <p:spPr>
          <a:xfrm>
            <a:off x="9006611" y="3675888"/>
            <a:ext cx="2526716" cy="1920240"/>
          </a:xfrm>
          <a:prstGeom prst="roundRect">
            <a:avLst>
              <a:gd name="adj" fmla="val 2143"/>
            </a:avLst>
          </a:prstGeom>
          <a:solidFill>
            <a:srgbClr val="171614"/>
          </a:solidFill>
          <a:ln w="9525">
            <a:solidFill>
              <a:srgbClr val="2E2A24"/>
            </a:solidFill>
            <a:prstDash val="solid"/>
          </a:ln>
        </p:spPr>
      </p:sp>
      <p:sp>
        <p:nvSpPr>
          <p:cNvPr id="35" name="Text 33"/>
          <p:cNvSpPr/>
          <p:nvPr/>
        </p:nvSpPr>
        <p:spPr>
          <a:xfrm>
            <a:off x="9244355"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移転価格リスク</a:t>
            </a:r>
            <a:endParaRPr lang="en-US" sz="1200" dirty="0"/>
          </a:p>
        </p:txBody>
      </p:sp>
      <p:sp>
        <p:nvSpPr>
          <p:cNvPr id="36" name="Text 34"/>
          <p:cNvSpPr/>
          <p:nvPr/>
        </p:nvSpPr>
        <p:spPr>
          <a:xfrm>
            <a:off x="9244355"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譲渡1%の妥当性を否認される</a:t>
            </a:r>
            <a:endParaRPr lang="en-US" sz="950" dirty="0"/>
          </a:p>
        </p:txBody>
      </p:sp>
      <p:sp>
        <p:nvSpPr>
          <p:cNvPr id="37" name="Text 35"/>
          <p:cNvSpPr/>
          <p:nvPr/>
        </p:nvSpPr>
        <p:spPr>
          <a:xfrm>
            <a:off x="9244355" y="4608576"/>
            <a:ext cx="2051228" cy="84124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譲渡価格の算定根拠を文書化。第三者卸価格との比較資料を年次で整備し、税務調査に備える。</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組成・資本構成（左）と、運用・費用・報告（右）に分けて記載する。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5300320" cy="914400"/>
        </p:xfrm>
        <a:graphic>
          <a:graphicData uri="http://schemas.openxmlformats.org/drawingml/2006/table">
            <a:tbl>
              <a:tblPr/>
              <a:tblGrid>
                <a:gridCol w="1536192"/>
                <a:gridCol w="3764128"/>
              </a:tblGrid>
              <a:tr h="35204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組成形態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合同会社＋匿名組合（GK-TK）。SPCレベルでは非課税、投資家側で課税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ファンド形態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適格機関投資家等特例業務による私募。適格機関投資家1名以上の確保を組成条件とする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募集総額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総額5億円（デット2億円＋エクイティ3億円）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デット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2億円・金利4%（固定）。調達コストはWineBankが負担しSPCに計上しない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損益の配分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SPC税前利益のうち出資3億円に帰属する分（5分の3）を投資家とWineBankで折半（成功報酬）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運用期間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5年。満期時に在庫を売却清算のうえ元本償還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3年経過後、年度ごとの解約日に申出可（90日前通知）。当初3年間はロックアップ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分配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半期ごと。元本はSPC内に留保し継続運用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元本の裏付け</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SPC名義のワイン現物および現金。四半期ごとに在庫明細・簿価を報告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33008" y="1591056"/>
          <a:ext cx="5300320" cy="914400"/>
        </p:xfrm>
        <a:graphic>
          <a:graphicData uri="http://schemas.openxmlformats.org/drawingml/2006/table">
            <a:tbl>
              <a:tblPr/>
              <a:tblGrid>
                <a:gridCol w="1536192"/>
                <a:gridCol w="3764128"/>
              </a:tblGrid>
              <a:tr h="35204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現物の取得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WineBankが調達した現物をSPCへ譲渡（＋1%）。実商品原価4.95億＋譲渡マージン500万円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資金配分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総額の95%をワイン購入、5%を現金保有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12ヶ月。最短9ヶ月、延びても15〜18ヶ月を想定レンジとする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価格前提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ワイン価格の年間上昇6%。会社資料のFine Wine年率10%に対し保守的に設定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SPC負担費用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保管・保険・入庫・変動販売費／維持費200万・人件費360万・AUP50万・予備費50万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投資家利回り21.0%（回転12ヶ月・定常年間）。5年通算の年平均は16.7%</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四半期：在庫明細・簿価・売上・試算表／年次：決算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外部検証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AUP（合意された手続）を年次で実施。配分ルールの遵守状況も対象に含める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520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在庫比率によるプロラタ配分を原則とし、判断を要する場合はSPC在庫を優先する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541264"/>
            <a:ext cx="10874959" cy="768096"/>
          </a:xfrm>
          <a:prstGeom prst="roundRect">
            <a:avLst>
              <a:gd name="adj" fmla="val 5357"/>
            </a:avLst>
          </a:prstGeom>
          <a:solidFill>
            <a:srgbClr val="1F1D19"/>
          </a:solidFill>
          <a:ln w="9525">
            <a:solidFill>
              <a:srgbClr val="6E5730"/>
            </a:solidFill>
            <a:prstDash val="solid"/>
          </a:ln>
        </p:spPr>
      </p:sp>
      <p:sp>
        <p:nvSpPr>
          <p:cNvPr id="10" name="Text 6"/>
          <p:cNvSpPr/>
          <p:nvPr/>
        </p:nvSpPr>
        <p:spPr>
          <a:xfrm>
            <a:off x="932688" y="5632704"/>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3年ロックアップが稼働率95%を可能にしている</a:t>
            </a:r>
            <a:endParaRPr lang="en-US" sz="1100" dirty="0"/>
          </a:p>
        </p:txBody>
      </p:sp>
      <p:sp>
        <p:nvSpPr>
          <p:cNvPr id="11" name="Text 7"/>
          <p:cNvSpPr/>
          <p:nvPr/>
        </p:nvSpPr>
        <p:spPr>
          <a:xfrm>
            <a:off x="932688" y="5852160"/>
            <a:ext cx="10326319" cy="384048"/>
          </a:xfrm>
          <a:prstGeom prst="rect">
            <a:avLst/>
          </a:prstGeom>
          <a:noFill/>
          <a:ln/>
        </p:spPr>
        <p:txBody>
          <a:bodyPr wrap="square" lIns="0" tIns="0" rIns="0" bIns="0" rtlCol="0" anchor="ctr"/>
          <a:lstStyle/>
          <a:p>
            <a:pPr indent="0" marL="0">
              <a:lnSpc>
                <a:spcPct val="116000"/>
              </a:lnSpc>
              <a:buNone/>
            </a:pPr>
            <a:r>
              <a:rPr lang="en-US" sz="900" dirty="0">
                <a:solidFill>
                  <a:srgbClr val="9A938A"/>
                </a:solidFill>
                <a:latin typeface="Yu Gothic" pitchFamily="34" charset="0"/>
                <a:ea typeface="Yu Gothic" pitchFamily="34" charset="-122"/>
                <a:cs typeface="Yu Gothic" pitchFamily="34" charset="-120"/>
              </a:rPr>
              <a:t>半期解約を前提とすると常時1〜3割を現金または即時換金可能な在庫で保有する必要があり、稼働率が下がって利回りも下がる（稼働率95%→85%で投資家利回りは21.0%→18.7%）。当初3年ロックアップ・4年目以降は年度ごとの解約という設計により、現金保有を5%に抑え、総額の95%をワインに充当できる。</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想定回転期間・販売チャネル構成・解約条件・折半の定義（税前利益ベース）、および現物譲渡1%の水準についてご意見をいただく。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SPCの免許要否と売買形態を所轄税務署（酒類指導官）・顧問弁護士と確認。譲渡価格1%の算定根拠を文書化する。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インポーター・酒販店との年間調達枠を締結し、小規模ロットで回転期間とチャネル別手数料の実証を行う。</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スキーム組成</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GK-TKの組成、契約書一式（匿名組合契約・業務委託契約・売買基本契約）の作成。5年満期・3年ロックアップを織り込む。</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投資実行</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半期の受入日に合わせて着金、運用開始。四半期ごとに在庫明細・簿価・売上を報告する。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まとめ：本ファンドに出資いただく意義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
        <p:nvSpPr>
          <p:cNvPr id="6" name="Shape 4"/>
          <p:cNvSpPr/>
          <p:nvPr/>
        </p:nvSpPr>
        <p:spPr>
          <a:xfrm>
            <a:off x="658368" y="1572768"/>
            <a:ext cx="6537960" cy="749808"/>
          </a:xfrm>
          <a:prstGeom prst="roundRect">
            <a:avLst>
              <a:gd name="adj" fmla="val 5488"/>
            </a:avLst>
          </a:prstGeom>
          <a:solidFill>
            <a:srgbClr val="171614"/>
          </a:solidFill>
          <a:ln w="9525">
            <a:solidFill>
              <a:srgbClr val="2E2A24"/>
            </a:solidFill>
            <a:prstDash val="solid"/>
          </a:ln>
        </p:spPr>
      </p:sp>
      <p:sp>
        <p:nvSpPr>
          <p:cNvPr id="7" name="Shape 5"/>
          <p:cNvSpPr/>
          <p:nvPr/>
        </p:nvSpPr>
        <p:spPr>
          <a:xfrm>
            <a:off x="877824" y="1792224"/>
            <a:ext cx="310896" cy="310896"/>
          </a:xfrm>
          <a:prstGeom prst="ellipse">
            <a:avLst/>
          </a:prstGeom>
          <a:solidFill>
            <a:srgbClr val="0C0C0C"/>
          </a:solidFill>
          <a:ln w="11430">
            <a:solidFill>
              <a:srgbClr val="A78450"/>
            </a:solidFill>
            <a:prstDash val="solid"/>
          </a:ln>
        </p:spPr>
      </p:sp>
      <p:sp>
        <p:nvSpPr>
          <p:cNvPr id="8" name="Text 6"/>
          <p:cNvSpPr/>
          <p:nvPr/>
        </p:nvSpPr>
        <p:spPr>
          <a:xfrm>
            <a:off x="877824" y="179222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80160" y="168249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現物が元本を裏付ける</a:t>
            </a:r>
            <a:endParaRPr lang="en-US" sz="1150" dirty="0"/>
          </a:p>
        </p:txBody>
      </p:sp>
      <p:sp>
        <p:nvSpPr>
          <p:cNvPr id="10" name="Text 8"/>
          <p:cNvSpPr/>
          <p:nvPr/>
        </p:nvSpPr>
        <p:spPr>
          <a:xfrm>
            <a:off x="1280160" y="192024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出資金の95%が常にワイン現物として存在する。SPC名義で保有し倒産隔離。保有している限り値上がりも取り込める。</a:t>
            </a:r>
            <a:endParaRPr lang="en-US" sz="900" dirty="0"/>
          </a:p>
        </p:txBody>
      </p:sp>
      <p:sp>
        <p:nvSpPr>
          <p:cNvPr id="11" name="Shape 9"/>
          <p:cNvSpPr/>
          <p:nvPr/>
        </p:nvSpPr>
        <p:spPr>
          <a:xfrm>
            <a:off x="658368" y="2395728"/>
            <a:ext cx="6537960" cy="749808"/>
          </a:xfrm>
          <a:prstGeom prst="roundRect">
            <a:avLst>
              <a:gd name="adj" fmla="val 5488"/>
            </a:avLst>
          </a:prstGeom>
          <a:solidFill>
            <a:srgbClr val="171614"/>
          </a:solidFill>
          <a:ln w="9525">
            <a:solidFill>
              <a:srgbClr val="2E2A24"/>
            </a:solidFill>
            <a:prstDash val="solid"/>
          </a:ln>
        </p:spPr>
      </p:sp>
      <p:sp>
        <p:nvSpPr>
          <p:cNvPr id="12" name="Shape 10"/>
          <p:cNvSpPr/>
          <p:nvPr/>
        </p:nvSpPr>
        <p:spPr>
          <a:xfrm>
            <a:off x="877824" y="2615184"/>
            <a:ext cx="310896" cy="310896"/>
          </a:xfrm>
          <a:prstGeom prst="ellipse">
            <a:avLst/>
          </a:prstGeom>
          <a:solidFill>
            <a:srgbClr val="0C0C0C"/>
          </a:solidFill>
          <a:ln w="11430">
            <a:solidFill>
              <a:srgbClr val="A78450"/>
            </a:solidFill>
            <a:prstDash val="solid"/>
          </a:ln>
        </p:spPr>
      </p:sp>
      <p:sp>
        <p:nvSpPr>
          <p:cNvPr id="13" name="Text 11"/>
          <p:cNvSpPr/>
          <p:nvPr/>
        </p:nvSpPr>
        <p:spPr>
          <a:xfrm>
            <a:off x="877824" y="261518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280160" y="250545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収益が二階建てで、片方が崩れても成立する</a:t>
            </a:r>
            <a:endParaRPr lang="en-US" sz="1150" dirty="0"/>
          </a:p>
        </p:txBody>
      </p:sp>
      <p:sp>
        <p:nvSpPr>
          <p:cNvPr id="15" name="Text 13"/>
          <p:cNvSpPr/>
          <p:nvPr/>
        </p:nvSpPr>
        <p:spPr>
          <a:xfrm>
            <a:off x="1280160" y="274320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流通価格差（回転に対するリターン）とワインの値上がり（在庫に対するリターン）。価格が横ばいでも投資家利回り17.0%、回転が18ヶ月に延びても14.9%を確保する。</a:t>
            </a:r>
            <a:endParaRPr lang="en-US" sz="900" dirty="0"/>
          </a:p>
        </p:txBody>
      </p:sp>
      <p:sp>
        <p:nvSpPr>
          <p:cNvPr id="16" name="Shape 14"/>
          <p:cNvSpPr/>
          <p:nvPr/>
        </p:nvSpPr>
        <p:spPr>
          <a:xfrm>
            <a:off x="658368" y="3218688"/>
            <a:ext cx="6537960" cy="749808"/>
          </a:xfrm>
          <a:prstGeom prst="roundRect">
            <a:avLst>
              <a:gd name="adj" fmla="val 5488"/>
            </a:avLst>
          </a:prstGeom>
          <a:solidFill>
            <a:srgbClr val="171614"/>
          </a:solidFill>
          <a:ln w="9525">
            <a:solidFill>
              <a:srgbClr val="2E2A24"/>
            </a:solidFill>
            <a:prstDash val="solid"/>
          </a:ln>
        </p:spPr>
      </p:sp>
      <p:sp>
        <p:nvSpPr>
          <p:cNvPr id="17" name="Shape 15"/>
          <p:cNvSpPr/>
          <p:nvPr/>
        </p:nvSpPr>
        <p:spPr>
          <a:xfrm>
            <a:off x="877824" y="3438144"/>
            <a:ext cx="310896" cy="310896"/>
          </a:xfrm>
          <a:prstGeom prst="ellipse">
            <a:avLst/>
          </a:prstGeom>
          <a:solidFill>
            <a:srgbClr val="0C0C0C"/>
          </a:solidFill>
          <a:ln w="11430">
            <a:solidFill>
              <a:srgbClr val="A78450"/>
            </a:solidFill>
            <a:prstDash val="solid"/>
          </a:ln>
        </p:spPr>
      </p:sp>
      <p:sp>
        <p:nvSpPr>
          <p:cNvPr id="18" name="Text 16"/>
          <p:cNvSpPr/>
          <p:nvPr/>
        </p:nvSpPr>
        <p:spPr>
          <a:xfrm>
            <a:off x="877824" y="343814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19" name="Text 17"/>
          <p:cNvSpPr/>
          <p:nvPr/>
        </p:nvSpPr>
        <p:spPr>
          <a:xfrm>
            <a:off x="1280160" y="332841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20" name="Text 18"/>
          <p:cNvSpPr/>
          <p:nvPr/>
        </p:nvSpPr>
        <p:spPr>
          <a:xfrm>
            <a:off x="1280160" y="356616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創業55年の酒販免許、大手インポーターとの直接取引、輸出入ライセンス。新規参入業者が正規品を同じ価格で大量に仕入れることはできない。</a:t>
            </a:r>
            <a:endParaRPr lang="en-US" sz="900" dirty="0"/>
          </a:p>
        </p:txBody>
      </p:sp>
      <p:sp>
        <p:nvSpPr>
          <p:cNvPr id="21" name="Shape 19"/>
          <p:cNvSpPr/>
          <p:nvPr/>
        </p:nvSpPr>
        <p:spPr>
          <a:xfrm>
            <a:off x="658368" y="4041648"/>
            <a:ext cx="6537960" cy="749808"/>
          </a:xfrm>
          <a:prstGeom prst="roundRect">
            <a:avLst>
              <a:gd name="adj" fmla="val 5488"/>
            </a:avLst>
          </a:prstGeom>
          <a:solidFill>
            <a:srgbClr val="171614"/>
          </a:solidFill>
          <a:ln w="9525">
            <a:solidFill>
              <a:srgbClr val="2E2A24"/>
            </a:solidFill>
            <a:prstDash val="solid"/>
          </a:ln>
        </p:spPr>
      </p:sp>
      <p:sp>
        <p:nvSpPr>
          <p:cNvPr id="22" name="Shape 20"/>
          <p:cNvSpPr/>
          <p:nvPr/>
        </p:nvSpPr>
        <p:spPr>
          <a:xfrm>
            <a:off x="877824" y="4261104"/>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426110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24" name="Text 22"/>
          <p:cNvSpPr/>
          <p:nvPr/>
        </p:nvSpPr>
        <p:spPr>
          <a:xfrm>
            <a:off x="1280160" y="4151376"/>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出口をB2B・B2Cの両輪で持っている</a:t>
            </a:r>
            <a:endParaRPr lang="en-US" sz="1150" dirty="0"/>
          </a:p>
        </p:txBody>
      </p:sp>
      <p:sp>
        <p:nvSpPr>
          <p:cNvPr id="25" name="Text 23"/>
          <p:cNvSpPr/>
          <p:nvPr/>
        </p:nvSpPr>
        <p:spPr>
          <a:xfrm>
            <a:off x="1280160" y="438912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酒販店卸（B2B）に加え、自社EC・オークション・CLUB会員・グループのアピシウス（B2C）。手取りの高いチャネルを選べる構造。</a:t>
            </a:r>
            <a:endParaRPr lang="en-US" sz="900" dirty="0"/>
          </a:p>
        </p:txBody>
      </p:sp>
      <p:sp>
        <p:nvSpPr>
          <p:cNvPr id="26" name="Shape 24"/>
          <p:cNvSpPr/>
          <p:nvPr/>
        </p:nvSpPr>
        <p:spPr>
          <a:xfrm>
            <a:off x="658368" y="4864608"/>
            <a:ext cx="6537960" cy="749808"/>
          </a:xfrm>
          <a:prstGeom prst="roundRect">
            <a:avLst>
              <a:gd name="adj" fmla="val 5488"/>
            </a:avLst>
          </a:prstGeom>
          <a:solidFill>
            <a:srgbClr val="1F1D19"/>
          </a:solidFill>
          <a:ln w="9525">
            <a:solidFill>
              <a:srgbClr val="6E5730"/>
            </a:solidFill>
            <a:prstDash val="solid"/>
          </a:ln>
        </p:spPr>
      </p:sp>
      <p:sp>
        <p:nvSpPr>
          <p:cNvPr id="27" name="Shape 25"/>
          <p:cNvSpPr/>
          <p:nvPr/>
        </p:nvSpPr>
        <p:spPr>
          <a:xfrm>
            <a:off x="877824" y="5084064"/>
            <a:ext cx="310896" cy="310896"/>
          </a:xfrm>
          <a:prstGeom prst="ellipse">
            <a:avLst/>
          </a:prstGeom>
          <a:solidFill>
            <a:srgbClr val="0C0C0C"/>
          </a:solidFill>
          <a:ln w="11430">
            <a:solidFill>
              <a:srgbClr val="A78450"/>
            </a:solidFill>
            <a:prstDash val="solid"/>
          </a:ln>
        </p:spPr>
      </p:sp>
      <p:sp>
        <p:nvSpPr>
          <p:cNvPr id="28" name="Text 26"/>
          <p:cNvSpPr/>
          <p:nvPr/>
        </p:nvSpPr>
        <p:spPr>
          <a:xfrm>
            <a:off x="877824" y="508406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05</a:t>
            </a:r>
            <a:endParaRPr lang="en-US" sz="1100" dirty="0"/>
          </a:p>
        </p:txBody>
      </p:sp>
      <p:sp>
        <p:nvSpPr>
          <p:cNvPr id="29" name="Text 27"/>
          <p:cNvSpPr/>
          <p:nvPr/>
        </p:nvSpPr>
        <p:spPr>
          <a:xfrm>
            <a:off x="1280160" y="4974336"/>
            <a:ext cx="5678424"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運営者と利害が完全に一致している</a:t>
            </a:r>
            <a:endParaRPr lang="en-US" sz="1150" dirty="0"/>
          </a:p>
        </p:txBody>
      </p:sp>
      <p:sp>
        <p:nvSpPr>
          <p:cNvPr id="30" name="Text 28"/>
          <p:cNvSpPr/>
          <p:nvPr/>
        </p:nvSpPr>
        <p:spPr>
          <a:xfrm>
            <a:off x="1280160" y="5212080"/>
            <a:ext cx="5678424" cy="32918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報酬は投資家が得た利益を折半する成功報酬に一本化。期中の管理報酬は課さず、デット2億円の金利と保証責任もWineBankが負担する。投資家が儲からなければWineBankも儲からない。</a:t>
            </a:r>
            <a:endParaRPr lang="en-US" sz="900" dirty="0"/>
          </a:p>
        </p:txBody>
      </p:sp>
      <p:sp>
        <p:nvSpPr>
          <p:cNvPr id="31" name="Shape 29"/>
          <p:cNvSpPr/>
          <p:nvPr/>
        </p:nvSpPr>
        <p:spPr>
          <a:xfrm>
            <a:off x="7470648" y="1572768"/>
            <a:ext cx="4062679" cy="4041648"/>
          </a:xfrm>
          <a:prstGeom prst="roundRect">
            <a:avLst>
              <a:gd name="adj" fmla="val 1018"/>
            </a:avLst>
          </a:prstGeom>
          <a:solidFill>
            <a:srgbClr val="1F1D19"/>
          </a:solidFill>
          <a:ln w="9525">
            <a:solidFill>
              <a:srgbClr val="6E5730"/>
            </a:solidFill>
            <a:prstDash val="solid"/>
          </a:ln>
        </p:spPr>
      </p:sp>
      <p:sp>
        <p:nvSpPr>
          <p:cNvPr id="32" name="Text 30"/>
          <p:cNvSpPr/>
          <p:nvPr/>
        </p:nvSpPr>
        <p:spPr>
          <a:xfrm>
            <a:off x="7726680" y="1755648"/>
            <a:ext cx="3550615"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貴社の投資基準との照合</a:t>
            </a:r>
            <a:endParaRPr lang="en-US" sz="1250" dirty="0"/>
          </a:p>
        </p:txBody>
      </p:sp>
      <p:sp>
        <p:nvSpPr>
          <p:cNvPr id="33" name="Shape 31"/>
          <p:cNvSpPr/>
          <p:nvPr/>
        </p:nvSpPr>
        <p:spPr>
          <a:xfrm>
            <a:off x="7726680" y="2180844"/>
            <a:ext cx="137160" cy="137160"/>
          </a:xfrm>
          <a:prstGeom prst="ellipse">
            <a:avLst/>
          </a:prstGeom>
          <a:solidFill>
            <a:srgbClr val="A78450"/>
          </a:solidFill>
          <a:ln w="11430">
            <a:solidFill>
              <a:srgbClr val="A78450"/>
            </a:solidFill>
            <a:prstDash val="solid"/>
          </a:ln>
        </p:spPr>
      </p:sp>
      <p:sp>
        <p:nvSpPr>
          <p:cNvPr id="34" name="Text 32"/>
          <p:cNvSpPr/>
          <p:nvPr/>
        </p:nvSpPr>
        <p:spPr>
          <a:xfrm>
            <a:off x="7726680" y="2180844"/>
            <a:ext cx="137160" cy="137160"/>
          </a:xfrm>
          <a:prstGeom prst="rect">
            <a:avLst/>
          </a:prstGeom>
          <a:noFill/>
          <a:ln/>
        </p:spPr>
        <p:txBody>
          <a:bodyPr wrap="square" lIns="0" tIns="0" rIns="0" bIns="0" rtlCol="0" anchor="ctr"/>
          <a:lstStyle/>
          <a:p>
            <a:pPr algn="ctr" indent="0" marL="0">
              <a:buNone/>
            </a:pPr>
            <a:endParaRPr lang="en-US" sz="1100" dirty="0"/>
          </a:p>
        </p:txBody>
      </p:sp>
      <p:sp>
        <p:nvSpPr>
          <p:cNvPr id="35" name="Text 33"/>
          <p:cNvSpPr/>
          <p:nvPr/>
        </p:nvSpPr>
        <p:spPr>
          <a:xfrm>
            <a:off x="7964424" y="212140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想定利回り20%（実績）に対して</a:t>
            </a:r>
            <a:endParaRPr lang="en-US" sz="1050" dirty="0"/>
          </a:p>
        </p:txBody>
      </p:sp>
      <p:sp>
        <p:nvSpPr>
          <p:cNvPr id="36" name="Text 34"/>
          <p:cNvSpPr/>
          <p:nvPr/>
        </p:nvSpPr>
        <p:spPr>
          <a:xfrm>
            <a:off x="7964424" y="235000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在庫回転12ヶ月を主線とし、投資家利回り21.0%。20%の分岐点は回転12.7ヶ月であり、余裕は0.7ヶ月しかない。</a:t>
            </a:r>
            <a:endParaRPr lang="en-US" sz="900" dirty="0"/>
          </a:p>
        </p:txBody>
      </p:sp>
      <p:sp>
        <p:nvSpPr>
          <p:cNvPr id="37" name="Text 35"/>
          <p:cNvSpPr/>
          <p:nvPr/>
        </p:nvSpPr>
        <p:spPr>
          <a:xfrm>
            <a:off x="7964424" y="274320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回転12ヶ月の達成が20%確保の必要条件となる。流動性上位の銘柄に絞って組み入れ、回転期間を運用KPIとして四半期報告する。</a:t>
            </a:r>
            <a:endParaRPr lang="en-US" sz="900" dirty="0"/>
          </a:p>
        </p:txBody>
      </p:sp>
      <p:sp>
        <p:nvSpPr>
          <p:cNvPr id="38" name="Shape 36"/>
          <p:cNvSpPr/>
          <p:nvPr/>
        </p:nvSpPr>
        <p:spPr>
          <a:xfrm>
            <a:off x="7726680" y="3369564"/>
            <a:ext cx="137160" cy="137160"/>
          </a:xfrm>
          <a:prstGeom prst="ellipse">
            <a:avLst/>
          </a:prstGeom>
          <a:solidFill>
            <a:srgbClr val="A78450"/>
          </a:solidFill>
          <a:ln w="11430">
            <a:solidFill>
              <a:srgbClr val="A78450"/>
            </a:solidFill>
            <a:prstDash val="solid"/>
          </a:ln>
        </p:spPr>
      </p:sp>
      <p:sp>
        <p:nvSpPr>
          <p:cNvPr id="39" name="Text 37"/>
          <p:cNvSpPr/>
          <p:nvPr/>
        </p:nvSpPr>
        <p:spPr>
          <a:xfrm>
            <a:off x="7726680" y="3369564"/>
            <a:ext cx="137160" cy="13716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7964424" y="331012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解約条件に対して</a:t>
            </a:r>
            <a:endParaRPr lang="en-US" sz="1050" dirty="0"/>
          </a:p>
        </p:txBody>
      </p:sp>
      <p:sp>
        <p:nvSpPr>
          <p:cNvPr id="41" name="Text 39"/>
          <p:cNvSpPr/>
          <p:nvPr/>
        </p:nvSpPr>
        <p:spPr>
          <a:xfrm>
            <a:off x="7964424" y="353872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運用期間5年・当初3年ロックアップ・4年目以降は年度ごとの解約。</a:t>
            </a:r>
            <a:endParaRPr lang="en-US" sz="900" dirty="0"/>
          </a:p>
        </p:txBody>
      </p:sp>
      <p:sp>
        <p:nvSpPr>
          <p:cNvPr id="42" name="Text 40"/>
          <p:cNvSpPr/>
          <p:nvPr/>
        </p:nvSpPr>
        <p:spPr>
          <a:xfrm>
            <a:off x="7964424" y="393192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この設計により現金保有を5%に抑え、総額の95%をワインに充当できる。半期解約を前提とすると稼働率が下がり21.0%→18.7%に低下する。</a:t>
            </a:r>
            <a:endParaRPr lang="en-US" sz="900" dirty="0"/>
          </a:p>
        </p:txBody>
      </p:sp>
      <p:sp>
        <p:nvSpPr>
          <p:cNvPr id="43" name="Shape 41"/>
          <p:cNvSpPr/>
          <p:nvPr/>
        </p:nvSpPr>
        <p:spPr>
          <a:xfrm>
            <a:off x="7726680" y="4558284"/>
            <a:ext cx="137160" cy="137160"/>
          </a:xfrm>
          <a:prstGeom prst="ellipse">
            <a:avLst/>
          </a:prstGeom>
          <a:solidFill>
            <a:srgbClr val="A78450"/>
          </a:solidFill>
          <a:ln w="11430">
            <a:solidFill>
              <a:srgbClr val="A78450"/>
            </a:solidFill>
            <a:prstDash val="solid"/>
          </a:ln>
        </p:spPr>
      </p:sp>
      <p:sp>
        <p:nvSpPr>
          <p:cNvPr id="44" name="Text 42"/>
          <p:cNvSpPr/>
          <p:nvPr/>
        </p:nvSpPr>
        <p:spPr>
          <a:xfrm>
            <a:off x="7726680" y="4558284"/>
            <a:ext cx="137160" cy="137160"/>
          </a:xfrm>
          <a:prstGeom prst="rect">
            <a:avLst/>
          </a:prstGeom>
          <a:noFill/>
          <a:ln/>
        </p:spPr>
        <p:txBody>
          <a:bodyPr wrap="square" lIns="0" tIns="0" rIns="0" bIns="0" rtlCol="0" anchor="ctr"/>
          <a:lstStyle/>
          <a:p>
            <a:pPr algn="ctr" indent="0" marL="0">
              <a:buNone/>
            </a:pPr>
            <a:endParaRPr lang="en-US" sz="1100" dirty="0"/>
          </a:p>
        </p:txBody>
      </p:sp>
      <p:sp>
        <p:nvSpPr>
          <p:cNvPr id="45" name="Text 43"/>
          <p:cNvSpPr/>
          <p:nvPr/>
        </p:nvSpPr>
        <p:spPr>
          <a:xfrm>
            <a:off x="7964424" y="449884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リスク分散に対して</a:t>
            </a:r>
            <a:endParaRPr lang="en-US" sz="1050" dirty="0"/>
          </a:p>
        </p:txBody>
      </p:sp>
      <p:sp>
        <p:nvSpPr>
          <p:cNvPr id="46" name="Text 44"/>
          <p:cNvSpPr/>
          <p:nvPr/>
        </p:nvSpPr>
        <p:spPr>
          <a:xfrm>
            <a:off x="7964424" y="472744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伝統的資産と相関の低い実物資産。既存30億円のポートフォリオに対しエクイティ3億円は約10%。</a:t>
            </a:r>
            <a:endParaRPr lang="en-US" sz="900" dirty="0"/>
          </a:p>
        </p:txBody>
      </p:sp>
      <p:sp>
        <p:nvSpPr>
          <p:cNvPr id="47" name="Text 45"/>
          <p:cNvSpPr/>
          <p:nvPr/>
        </p:nvSpPr>
        <p:spPr>
          <a:xfrm>
            <a:off x="7964424" y="512064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単一銘柄ではなく約3.8万本・複数産地への分散となり、ポートフォリオ内での分散効果が働く。</a:t>
            </a:r>
            <a:endParaRPr lang="en-US" sz="900" dirty="0"/>
          </a:p>
        </p:txBody>
      </p:sp>
      <p:sp>
        <p:nvSpPr>
          <p:cNvPr id="48" name="Shape 46"/>
          <p:cNvSpPr/>
          <p:nvPr/>
        </p:nvSpPr>
        <p:spPr>
          <a:xfrm>
            <a:off x="658368" y="5724144"/>
            <a:ext cx="10874959" cy="566928"/>
          </a:xfrm>
          <a:prstGeom prst="roundRect">
            <a:avLst>
              <a:gd name="adj" fmla="val 7258"/>
            </a:avLst>
          </a:prstGeom>
          <a:solidFill>
            <a:srgbClr val="171614"/>
          </a:solidFill>
          <a:ln w="9525">
            <a:solidFill>
              <a:srgbClr val="2E2A24"/>
            </a:solidFill>
            <a:prstDash val="solid"/>
          </a:ln>
        </p:spPr>
      </p:sp>
      <p:sp>
        <p:nvSpPr>
          <p:cNvPr id="49" name="Text 47"/>
          <p:cNvSpPr/>
          <p:nvPr/>
        </p:nvSpPr>
        <p:spPr>
          <a:xfrm>
            <a:off x="932688" y="5815584"/>
            <a:ext cx="10326319" cy="384048"/>
          </a:xfrm>
          <a:prstGeom prst="rect">
            <a:avLst/>
          </a:prstGeom>
          <a:noFill/>
          <a:ln/>
        </p:spPr>
        <p:txBody>
          <a:bodyPr wrap="square" lIns="0" tIns="0" rIns="0" bIns="0" rtlCol="0" anchor="ctr"/>
          <a:lstStyle/>
          <a:p>
            <a:pPr indent="0" marL="0">
              <a:lnSpc>
                <a:spcPct val="120000"/>
              </a:lnSpc>
              <a:buNone/>
            </a:pPr>
            <a:r>
              <a:rPr lang="en-US" sz="1050" dirty="0">
                <a:solidFill>
                  <a:srgbClr val="EFEBE3"/>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ファンドは、値上がりを待つ投資ではなく、この実務そのものに出資いただくご提案です。</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2026-08-16T06:08:56Z</dcterms:created>
  <dcterms:modified xsi:type="dcterms:W3CDTF">2026-08-16T06:08:56Z</dcterms:modified>
</cp:coreProperties>
</file>