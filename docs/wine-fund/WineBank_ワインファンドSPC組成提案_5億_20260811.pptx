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エクイティ定常年間利回り（％）</a:t>
            </a:r>
          </a:p>
        </c:rich>
      </c:tx>
      <c:layout/>
      <c:overlay val="0"/>
    </c:title>
    <c:autoTitleDeleted val="0"/>
    <c:plotArea>
      <c:layout/>
      <c:barChart>
        <c:barDir val="col"/>
        <c:grouping val="clustered"/>
        <c:varyColors val="0"/>
        <c:ser>
          <c:idx val="0"/>
          <c:order val="0"/>
          <c:tx>
            <c:strRef>
              <c:f>Sheet1!$B$1</c:f>
              <c:strCache>
                <c:ptCount val="1"/>
                <c:pt idx="0">
                  <c:v>エクイティ定常年間利回り（％）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4.0億</c:v>
                  </c:pt>
                  <c:pt idx="1">
                    <c:v>5.0億</c:v>
                  </c:pt>
                  <c:pt idx="2">
                    <c:v>6.0億</c:v>
                  </c:pt>
                  <c:pt idx="3">
                    <c:v>7.0億</c:v>
                  </c:pt>
                </c:lvl>
              </c:multiLvlStrCache>
            </c:multiLvlStrRef>
          </c:cat>
          <c:val>
            <c:numRef>
              <c:f>Sheet1!$B$2:$B$5</c:f>
              <c:numCache>
                <c:formatCode>General</c:formatCode>
                <c:ptCount val="4"/>
                <c:pt idx="0">
                  <c:v>23.9</c:v>
                </c:pt>
                <c:pt idx="1">
                  <c:v>29.1</c:v>
                </c:pt>
                <c:pt idx="2">
                  <c:v>34.3</c:v>
                </c:pt>
                <c:pt idx="3">
                  <c:v>39.5</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4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年平均利回り（5年通算・％）</a:t>
            </a:r>
          </a:p>
        </c:rich>
      </c:tx>
      <c:layout/>
      <c:overlay val="0"/>
    </c:title>
    <c:autoTitleDeleted val="0"/>
    <c:plotArea>
      <c:layout/>
      <c:barChart>
        <c:barDir val="col"/>
        <c:grouping val="clustered"/>
        <c:varyColors val="0"/>
        <c:ser>
          <c:idx val="0"/>
          <c:order val="0"/>
          <c:tx>
            <c:strRef>
              <c:f>Sheet1!$B$1</c:f>
              <c:strCache>
                <c:ptCount val="1"/>
                <c:pt idx="0">
                  <c:v>年平均利回り（5年通算・％）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4.0億</c:v>
                  </c:pt>
                  <c:pt idx="1">
                    <c:v>5.0億</c:v>
                  </c:pt>
                  <c:pt idx="2">
                    <c:v>6.0億</c:v>
                  </c:pt>
                  <c:pt idx="3">
                    <c:v>7.0億</c:v>
                  </c:pt>
                </c:lvl>
              </c:multiLvlStrCache>
            </c:multiLvlStrRef>
          </c:cat>
          <c:val>
            <c:numRef>
              <c:f>Sheet1!$B$2:$B$5</c:f>
              <c:numCache>
                <c:formatCode>General</c:formatCode>
                <c:ptCount val="4"/>
                <c:pt idx="0">
                  <c:v>18.8</c:v>
                </c:pt>
                <c:pt idx="1">
                  <c:v>24.4</c:v>
                </c:pt>
                <c:pt idx="2">
                  <c:v>25.9</c:v>
                </c:pt>
                <c:pt idx="3">
                  <c:v>33.7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39"/>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年間販売実績別 エクイティ定常年間利回り（％）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Sheet1!$A$2:$A$4</c:f>
              <c:multiLvlStrCache>
                <c:ptCount val="3"/>
                <c:lvl>
                  <c:pt idx="0">
                    <c:v>年間販売 4.0億</c:v>
                  </c:pt>
                  <c:pt idx="1">
                    <c:v>年間販売 5.0億</c:v>
                  </c:pt>
                  <c:pt idx="2">
                    <c:v>年間販売 6.0億</c:v>
                  </c:pt>
                </c:lvl>
              </c:multiLvlStrCache>
            </c:multiLvlStrRef>
          </c:cat>
          <c:val>
            <c:numRef>
              <c:f>Sheet1!$B$2:$B$4</c:f>
              <c:numCache>
                <c:formatCode>General</c:formatCode>
                <c:ptCount val="3"/>
                <c:pt idx="0">
                  <c:v>33.4</c:v>
                </c:pt>
                <c:pt idx="1">
                  <c:v>40.9</c:v>
                </c:pt>
                <c:pt idx="2">
                  <c:v>48.5</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Sheet1!$A$2:$A$4</c:f>
              <c:multiLvlStrCache>
                <c:ptCount val="3"/>
                <c:lvl>
                  <c:pt idx="0">
                    <c:v>年間販売 4.0億</c:v>
                  </c:pt>
                  <c:pt idx="1">
                    <c:v>年間販売 5.0億</c:v>
                  </c:pt>
                  <c:pt idx="2">
                    <c:v>年間販売 6.0億</c:v>
                  </c:pt>
                </c:lvl>
              </c:multiLvlStrCache>
            </c:multiLvlStrRef>
          </c:cat>
          <c:val>
            <c:numRef>
              <c:f>Sheet1!$C$2:$C$4</c:f>
              <c:numCache>
                <c:formatCode>General</c:formatCode>
                <c:ptCount val="3"/>
                <c:pt idx="0">
                  <c:v>23.9</c:v>
                </c:pt>
                <c:pt idx="1">
                  <c:v>29.1</c:v>
                </c:pt>
                <c:pt idx="2">
                  <c:v>34.3</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Sheet1!$A$2:$A$4</c:f>
              <c:multiLvlStrCache>
                <c:ptCount val="3"/>
                <c:lvl>
                  <c:pt idx="0">
                    <c:v>年間販売 4.0億</c:v>
                  </c:pt>
                  <c:pt idx="1">
                    <c:v>年間販売 5.0億</c:v>
                  </c:pt>
                  <c:pt idx="2">
                    <c:v>年間販売 6.0億</c:v>
                  </c:pt>
                </c:lvl>
              </c:multiLvlStrCache>
            </c:multiLvlStrRef>
          </c:cat>
          <c:val>
            <c:numRef>
              <c:f>Sheet1!$D$2:$D$4</c:f>
              <c:numCache>
                <c:formatCode>General</c:formatCode>
                <c:ptCount val="3"/>
                <c:pt idx="0">
                  <c:v>15.2</c:v>
                </c:pt>
                <c:pt idx="1">
                  <c:v>19.8</c:v>
                </c:pt>
                <c:pt idx="2">
                  <c:v>24.3</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投資家60：WineBank40の按分。デット金利はWineBank負担。合成利回り19.1%の注意点も明記。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販売実績から逆算する構成。20%割れは年間販売3.2億円を下回った場合のみ。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ネガティブは値引き5%＋価格横ばいの複合ケース。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主線のレンジは定常年間利回り21.1〜27.2%。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値上がり効果は在庫に対するリターンなので回転期間によらず一定（約+8.0pt）。相殺ではなく底上げ。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20%割れは年間販売3.2億円割れのみ。ネガティブ複合でも5.05億円が分岐点。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SKU排他が主。重複分はSPC優先売却＋価格同一＋補填条項で担保。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高岡先生の指摘事項をそのまま条項化。AUPは50万円でSPC費用に計上済み。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総額 5億円（デット2億＋エクイティ3億）／ 運用期間5年 ／ 半期分配</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投資家エクイティ</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SPC総額5億円（デット2億＋エクイティ3億）／運用期間5年</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5.0</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前提となる年間販売</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現状の販売実力5〜7億円の中位に置いた保守的な主線</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29.1</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エクイティ定常年間利回り</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年間販売5.0億・在庫回転18.5ヶ月・投資家取分60%</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24.4</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累計分配額÷出資額÷5年／税引前</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現状の販売実力のなかで20%を達成する設計にしている。</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WineBankの年間販売実力は5〜7億円。その中位5.0億円を主線に置き、在庫回転18.5ヶ月でエクイティ利回り29.1%。年間販売が3.2億円を下回らない限り20%を維持する。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同一商品の流通段階間の価格差（フロー）に加え、保有期間中の価格上昇年6%（ストック）が乗る。値上がり分は保有期間によらず利回りを底上げする。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デット2億の調達コストはWineBankが負担する。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その見返りにWineBankはエクイティ2億相当としてカウントされ、SPCの税前利益は出資比率で按分（投資家60：WineBank40）。投資家はレバレッジの効果のみを受け取る。</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費用は削っていない。監査・法務まで積んだうえでの数字。</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AUP50万円・予備費50万円を含むSPC固定費660万円、変動販売費、保管・保険をすべて計上済み。利回りを作るために費用を圧縮してはいない。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総額5億円をデット2億円とエクイティ3億円で構成する。デットの調達コストはWineBankが負担する。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42106" cy="1883664"/>
          </a:xfrm>
          <a:prstGeom prst="roundRect">
            <a:avLst>
              <a:gd name="adj" fmla="val 2184"/>
            </a:avLst>
          </a:prstGeom>
          <a:solidFill>
            <a:srgbClr val="171614"/>
          </a:solidFill>
          <a:ln w="9525">
            <a:solidFill>
              <a:srgbClr val="2E2A24"/>
            </a:solidFill>
            <a:prstDash val="solid"/>
          </a:ln>
        </p:spPr>
      </p:sp>
      <p:sp>
        <p:nvSpPr>
          <p:cNvPr id="8" name="Text 6"/>
          <p:cNvSpPr/>
          <p:nvPr/>
        </p:nvSpPr>
        <p:spPr>
          <a:xfrm>
            <a:off x="896112"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デット</a:t>
            </a:r>
            <a:endParaRPr lang="en-US" sz="1150" dirty="0"/>
          </a:p>
        </p:txBody>
      </p:sp>
      <p:sp>
        <p:nvSpPr>
          <p:cNvPr id="9" name="Text 7"/>
          <p:cNvSpPr/>
          <p:nvPr/>
        </p:nvSpPr>
        <p:spPr>
          <a:xfrm>
            <a:off x="896112"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0" name="Text 8"/>
          <p:cNvSpPr/>
          <p:nvPr/>
        </p:nvSpPr>
        <p:spPr>
          <a:xfrm>
            <a:off x="896112"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金利4%（固定）</a:t>
            </a:r>
            <a:endParaRPr lang="en-US" sz="1100" dirty="0"/>
          </a:p>
        </p:txBody>
      </p:sp>
      <p:sp>
        <p:nvSpPr>
          <p:cNvPr id="11" name="Text 9"/>
          <p:cNvSpPr/>
          <p:nvPr/>
        </p:nvSpPr>
        <p:spPr>
          <a:xfrm>
            <a:off x="896112"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・投資家からの借入</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・利息はWineBankが負担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・SPC資産から満期に返済</a:t>
            </a:r>
            <a:endParaRPr lang="en-US" sz="900" dirty="0"/>
          </a:p>
        </p:txBody>
      </p:sp>
      <p:sp>
        <p:nvSpPr>
          <p:cNvPr id="12" name="Shape 10"/>
          <p:cNvSpPr/>
          <p:nvPr/>
        </p:nvSpPr>
        <p:spPr>
          <a:xfrm>
            <a:off x="4374794" y="1645920"/>
            <a:ext cx="3442106" cy="1883664"/>
          </a:xfrm>
          <a:prstGeom prst="roundRect">
            <a:avLst>
              <a:gd name="adj" fmla="val 2184"/>
            </a:avLst>
          </a:prstGeom>
          <a:solidFill>
            <a:srgbClr val="1F1D19"/>
          </a:solidFill>
          <a:ln w="9525">
            <a:solidFill>
              <a:srgbClr val="6E5730"/>
            </a:solidFill>
            <a:prstDash val="solid"/>
          </a:ln>
        </p:spPr>
      </p:sp>
      <p:sp>
        <p:nvSpPr>
          <p:cNvPr id="13" name="Text 11"/>
          <p:cNvSpPr/>
          <p:nvPr/>
        </p:nvSpPr>
        <p:spPr>
          <a:xfrm>
            <a:off x="4612538" y="1810512"/>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エクイティ｜投資家</a:t>
            </a:r>
            <a:endParaRPr lang="en-US" sz="1150" dirty="0"/>
          </a:p>
        </p:txBody>
      </p:sp>
      <p:sp>
        <p:nvSpPr>
          <p:cNvPr id="14" name="Text 12"/>
          <p:cNvSpPr/>
          <p:nvPr/>
        </p:nvSpPr>
        <p:spPr>
          <a:xfrm>
            <a:off x="4612538"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5" name="Text 13"/>
          <p:cNvSpPr/>
          <p:nvPr/>
        </p:nvSpPr>
        <p:spPr>
          <a:xfrm>
            <a:off x="4612538"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SPC税前利益の60%</a:t>
            </a:r>
            <a:endParaRPr lang="en-US" sz="1100" dirty="0"/>
          </a:p>
        </p:txBody>
      </p:sp>
      <p:sp>
        <p:nvSpPr>
          <p:cNvPr id="16" name="Text 14"/>
          <p:cNvSpPr/>
          <p:nvPr/>
        </p:nvSpPr>
        <p:spPr>
          <a:xfrm>
            <a:off x="4612538"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・半期ごとに分配</a:t>
            </a:r>
            <a:endParaRPr lang="en-US" sz="900" dirty="0"/>
          </a:p>
        </p:txBody>
      </p:sp>
      <p:sp>
        <p:nvSpPr>
          <p:cNvPr id="17" name="Shape 15"/>
          <p:cNvSpPr/>
          <p:nvPr/>
        </p:nvSpPr>
        <p:spPr>
          <a:xfrm>
            <a:off x="8091221" y="1645920"/>
            <a:ext cx="3442106" cy="1883664"/>
          </a:xfrm>
          <a:prstGeom prst="roundRect">
            <a:avLst>
              <a:gd name="adj" fmla="val 2184"/>
            </a:avLst>
          </a:prstGeom>
          <a:solidFill>
            <a:srgbClr val="171614"/>
          </a:solidFill>
          <a:ln w="9525">
            <a:solidFill>
              <a:srgbClr val="2E2A24"/>
            </a:solidFill>
            <a:prstDash val="solid"/>
          </a:ln>
        </p:spPr>
      </p:sp>
      <p:sp>
        <p:nvSpPr>
          <p:cNvPr id="18" name="Text 16"/>
          <p:cNvSpPr/>
          <p:nvPr/>
        </p:nvSpPr>
        <p:spPr>
          <a:xfrm>
            <a:off x="8328965"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エクイティ相当｜WineBank</a:t>
            </a:r>
            <a:endParaRPr lang="en-US" sz="1150" dirty="0"/>
          </a:p>
        </p:txBody>
      </p:sp>
      <p:sp>
        <p:nvSpPr>
          <p:cNvPr id="19" name="Text 17"/>
          <p:cNvSpPr/>
          <p:nvPr/>
        </p:nvSpPr>
        <p:spPr>
          <a:xfrm>
            <a:off x="8328965"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20" name="Text 18"/>
          <p:cNvSpPr/>
          <p:nvPr/>
        </p:nvSpPr>
        <p:spPr>
          <a:xfrm>
            <a:off x="8328965"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SPC税前利益の40%</a:t>
            </a:r>
            <a:endParaRPr lang="en-US" sz="1100" dirty="0"/>
          </a:p>
        </p:txBody>
      </p:sp>
      <p:sp>
        <p:nvSpPr>
          <p:cNvPr id="21" name="Text 19"/>
          <p:cNvSpPr/>
          <p:nvPr/>
        </p:nvSpPr>
        <p:spPr>
          <a:xfrm>
            <a:off x="8328965"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・現金拠出はなし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・デット2億の調達コストを負担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・その対価として持分にカウント</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10874959" cy="914400"/>
        </p:xfrm>
        <a:graphic>
          <a:graphicData uri="http://schemas.openxmlformats.org/drawingml/2006/table">
            <a:tbl>
              <a:tblPr/>
              <a:tblGrid>
                <a:gridCol w="2377440"/>
                <a:gridCol w="1737360"/>
                <a:gridCol w="6757416"/>
              </a:tblGrid>
              <a:tr h="31546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年間税前利益（SPC）</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1.46億円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年間販売5.0億円・在庫回転18.5ヶ月の主線ケース</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投資家 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87百万円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エクイティ3億円に対し 定常年間利回り 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WineBank 40%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うちデット2億円の金利4%（8百万円）を負担 → 手取り50百万円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デット提供者への利息</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2億円×4%。WineBankが負担するためSPCの費用には計上しない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358384"/>
            <a:ext cx="10874959" cy="969264"/>
          </a:xfrm>
          <a:prstGeom prst="roundRect">
            <a:avLst>
              <a:gd name="adj" fmla="val 4245"/>
            </a:avLst>
          </a:prstGeom>
          <a:solidFill>
            <a:srgbClr val="1F1D19"/>
          </a:solidFill>
          <a:ln w="9525">
            <a:solidFill>
              <a:srgbClr val="6E5730"/>
            </a:solidFill>
            <a:prstDash val="solid"/>
          </a:ln>
        </p:spPr>
      </p:sp>
      <p:sp>
        <p:nvSpPr>
          <p:cNvPr id="24" name="Text 21"/>
          <p:cNvSpPr/>
          <p:nvPr/>
        </p:nvSpPr>
        <p:spPr>
          <a:xfrm>
            <a:off x="932688" y="5449824"/>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この構成が投資家にもたらすもの</a:t>
            </a:r>
            <a:endParaRPr lang="en-US" sz="1100" dirty="0"/>
          </a:p>
        </p:txBody>
      </p:sp>
      <p:sp>
        <p:nvSpPr>
          <p:cNvPr id="25" name="Text 22"/>
          <p:cNvSpPr/>
          <p:nvPr/>
        </p:nvSpPr>
        <p:spPr>
          <a:xfrm>
            <a:off x="932688" y="5669280"/>
            <a:ext cx="10326319" cy="566928"/>
          </a:xfrm>
          <a:prstGeom prst="rect">
            <a:avLst/>
          </a:prstGeom>
          <a:noFill/>
          <a:ln/>
        </p:spPr>
        <p:txBody>
          <a:bodyPr wrap="square" lIns="0" tIns="0" rIns="0" bIns="0" rtlCol="0" anchor="ctr"/>
          <a:lstStyle/>
          <a:p>
            <a:pPr indent="0" marL="0">
              <a:lnSpc>
                <a:spcPct val="118000"/>
              </a:lnSpc>
              <a:buNone/>
            </a:pPr>
            <a:r>
              <a:rPr lang="en-US" sz="900" dirty="0">
                <a:solidFill>
                  <a:srgbClr val="EFEBE3"/>
                </a:solidFill>
                <a:latin typeface="Yu Gothic" pitchFamily="34" charset="0"/>
                <a:ea typeface="Yu Gothic" pitchFamily="34" charset="-122"/>
                <a:cs typeface="Yu Gothic" pitchFamily="34" charset="-120"/>
              </a:rPr>
              <a:t>従来の折半（50:50）であればエクイティ利回りは24.3%。出資比率按分（60:40）とし、デットの調達コストをWineBank側で負担することで29.1%となる。投資家はレバレッジによる収益拡大を受け取る一方、金利変動リスクと保証責任はWineBankが引き受ける。なお同一投資家がデット2億円とエクイティ3億円の双方を拠出する場合、5億円全体に対する合成利回りは19.1%となるため、トランシェを分けて調達することを前提とする。</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CAPACITY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販売実績とリターンの関係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本ファンドのリターンは、WineBankが年間いくら売れるかで決まる。現状の販売実力を起点に設計している。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37360"/>
                <a:gridCol w="1417320"/>
                <a:gridCol w="1463040"/>
                <a:gridCol w="1645920"/>
                <a:gridCol w="2084832"/>
                <a:gridCol w="1463040"/>
                <a:gridCol w="1060704"/>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年間販売実績</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WineBank取分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23.8ヶ月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72百万円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23.9%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40百万円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20.8ヶ月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80百万円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26.5%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45百万円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5.0億円（主線）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1.46億円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24.4%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34.3%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25.9%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119百万円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39.5%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33.7%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71百万円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840480"/>
            <a:ext cx="3454298" cy="1792224"/>
          </a:xfrm>
          <a:prstGeom prst="roundRect">
            <a:avLst>
              <a:gd name="adj" fmla="val 2296"/>
            </a:avLst>
          </a:prstGeom>
          <a:solidFill>
            <a:srgbClr val="171614"/>
          </a:solidFill>
          <a:ln w="9525">
            <a:solidFill>
              <a:srgbClr val="2E2A24"/>
            </a:solidFill>
            <a:prstDash val="solid"/>
          </a:ln>
        </p:spPr>
      </p:sp>
      <p:sp>
        <p:nvSpPr>
          <p:cNvPr id="9" name="Text 6"/>
          <p:cNvSpPr/>
          <p:nvPr/>
        </p:nvSpPr>
        <p:spPr>
          <a:xfrm>
            <a:off x="896112" y="400507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現状の販売実力</a:t>
            </a:r>
            <a:endParaRPr lang="en-US" sz="1100" dirty="0"/>
          </a:p>
        </p:txBody>
      </p:sp>
      <p:sp>
        <p:nvSpPr>
          <p:cNvPr id="10" name="Text 7"/>
          <p:cNvSpPr/>
          <p:nvPr/>
        </p:nvSpPr>
        <p:spPr>
          <a:xfrm>
            <a:off x="896112" y="4279392"/>
            <a:ext cx="2978810" cy="365760"/>
          </a:xfrm>
          <a:prstGeom prst="rect">
            <a:avLst/>
          </a:prstGeom>
          <a:noFill/>
          <a:ln/>
        </p:spPr>
        <p:txBody>
          <a:bodyPr wrap="square" lIns="0" tIns="0" rIns="0" bIns="0" rtlCol="0" anchor="ctr"/>
          <a:lstStyle/>
          <a:p>
            <a:pPr indent="0" marL="0">
              <a:buNone/>
            </a:pPr>
            <a:r>
              <a:rPr lang="en-US" sz="1800" b="1" dirty="0">
                <a:solidFill>
                  <a:srgbClr val="C9A96E"/>
                </a:solidFill>
                <a:latin typeface="Yu Gothic" pitchFamily="34" charset="0"/>
                <a:ea typeface="Yu Gothic" pitchFamily="34" charset="-122"/>
                <a:cs typeface="Yu Gothic" pitchFamily="34" charset="-120"/>
              </a:rPr>
              <a:t>5〜7億円</a:t>
            </a:r>
            <a:endParaRPr lang="en-US" sz="1800" dirty="0"/>
          </a:p>
        </p:txBody>
      </p:sp>
      <p:sp>
        <p:nvSpPr>
          <p:cNvPr id="11" name="Text 8"/>
          <p:cNvSpPr/>
          <p:nvPr/>
        </p:nvSpPr>
        <p:spPr>
          <a:xfrm>
            <a:off x="896112" y="4700016"/>
            <a:ext cx="2978810" cy="822960"/>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楽天・Yahoo・寺田Wine MarketでのEC、酒販店卸、グループ飲食。頑張れば伸ばせるが10億円は難しい水準として、中位の5.0億円を主線に置いた。</a:t>
            </a:r>
            <a:endParaRPr lang="en-US" sz="900" dirty="0"/>
          </a:p>
        </p:txBody>
      </p:sp>
      <p:sp>
        <p:nvSpPr>
          <p:cNvPr id="12" name="Shape 9"/>
          <p:cNvSpPr/>
          <p:nvPr/>
        </p:nvSpPr>
        <p:spPr>
          <a:xfrm>
            <a:off x="4368698" y="3840480"/>
            <a:ext cx="3454298" cy="1792224"/>
          </a:xfrm>
          <a:prstGeom prst="roundRect">
            <a:avLst>
              <a:gd name="adj" fmla="val 2296"/>
            </a:avLst>
          </a:prstGeom>
          <a:solidFill>
            <a:srgbClr val="1F1D19"/>
          </a:solidFill>
          <a:ln w="9525">
            <a:solidFill>
              <a:srgbClr val="6E5730"/>
            </a:solidFill>
            <a:prstDash val="solid"/>
          </a:ln>
        </p:spPr>
      </p:sp>
      <p:sp>
        <p:nvSpPr>
          <p:cNvPr id="13" name="Text 10"/>
          <p:cNvSpPr/>
          <p:nvPr/>
        </p:nvSpPr>
        <p:spPr>
          <a:xfrm>
            <a:off x="4606442" y="400507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20%を割り込むライン</a:t>
            </a:r>
            <a:endParaRPr lang="en-US" sz="1100" dirty="0"/>
          </a:p>
        </p:txBody>
      </p:sp>
      <p:sp>
        <p:nvSpPr>
          <p:cNvPr id="14" name="Text 11"/>
          <p:cNvSpPr/>
          <p:nvPr/>
        </p:nvSpPr>
        <p:spPr>
          <a:xfrm>
            <a:off x="4606442" y="4279392"/>
            <a:ext cx="2978810" cy="365760"/>
          </a:xfrm>
          <a:prstGeom prst="rect">
            <a:avLst/>
          </a:prstGeom>
          <a:noFill/>
          <a:ln/>
        </p:spPr>
        <p:txBody>
          <a:bodyPr wrap="square" lIns="0" tIns="0" rIns="0" bIns="0" rtlCol="0" anchor="ctr"/>
          <a:lstStyle/>
          <a:p>
            <a:pPr indent="0" marL="0">
              <a:buNone/>
            </a:pPr>
            <a:r>
              <a:rPr lang="en-US" sz="1800" b="1" dirty="0">
                <a:solidFill>
                  <a:srgbClr val="C9A96E"/>
                </a:solidFill>
                <a:latin typeface="Yu Gothic" pitchFamily="34" charset="0"/>
                <a:ea typeface="Yu Gothic" pitchFamily="34" charset="-122"/>
                <a:cs typeface="Yu Gothic" pitchFamily="34" charset="-120"/>
              </a:rPr>
              <a:t>年間販売 3.2億円</a:t>
            </a:r>
            <a:endParaRPr lang="en-US" sz="1800" dirty="0"/>
          </a:p>
        </p:txBody>
      </p:sp>
      <p:sp>
        <p:nvSpPr>
          <p:cNvPr id="15" name="Text 12"/>
          <p:cNvSpPr/>
          <p:nvPr/>
        </p:nvSpPr>
        <p:spPr>
          <a:xfrm>
            <a:off x="4606442" y="4700016"/>
            <a:ext cx="2978810" cy="822960"/>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現状の販売実力に対して4割の水準まで落ち込まない限り、貴社基準の20%は維持される。下限側に相応の余裕がある。</a:t>
            </a:r>
            <a:endParaRPr lang="en-US" sz="900" dirty="0"/>
          </a:p>
        </p:txBody>
      </p:sp>
      <p:sp>
        <p:nvSpPr>
          <p:cNvPr id="16" name="Shape 13"/>
          <p:cNvSpPr/>
          <p:nvPr/>
        </p:nvSpPr>
        <p:spPr>
          <a:xfrm>
            <a:off x="8079029" y="3840480"/>
            <a:ext cx="3454298" cy="1792224"/>
          </a:xfrm>
          <a:prstGeom prst="roundRect">
            <a:avLst>
              <a:gd name="adj" fmla="val 2296"/>
            </a:avLst>
          </a:prstGeom>
          <a:solidFill>
            <a:srgbClr val="171614"/>
          </a:solidFill>
          <a:ln w="9525">
            <a:solidFill>
              <a:srgbClr val="2E2A24"/>
            </a:solidFill>
            <a:prstDash val="solid"/>
          </a:ln>
        </p:spPr>
      </p:sp>
      <p:sp>
        <p:nvSpPr>
          <p:cNvPr id="17" name="Text 14"/>
          <p:cNvSpPr/>
          <p:nvPr/>
        </p:nvSpPr>
        <p:spPr>
          <a:xfrm>
            <a:off x="8316773" y="400507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販売力を伸ばす打ち手</a:t>
            </a:r>
            <a:endParaRPr lang="en-US" sz="1100" dirty="0"/>
          </a:p>
        </p:txBody>
      </p:sp>
      <p:sp>
        <p:nvSpPr>
          <p:cNvPr id="18" name="Text 15"/>
          <p:cNvSpPr/>
          <p:nvPr/>
        </p:nvSpPr>
        <p:spPr>
          <a:xfrm>
            <a:off x="8316773" y="4279392"/>
            <a:ext cx="2978810" cy="365760"/>
          </a:xfrm>
          <a:prstGeom prst="rect">
            <a:avLst/>
          </a:prstGeom>
          <a:noFill/>
          <a:ln/>
        </p:spPr>
        <p:txBody>
          <a:bodyPr wrap="square" lIns="0" tIns="0" rIns="0" bIns="0" rtlCol="0" anchor="ctr"/>
          <a:lstStyle/>
          <a:p>
            <a:pPr indent="0" marL="0">
              <a:buNone/>
            </a:pPr>
            <a:r>
              <a:rPr lang="en-US" sz="1800" b="1" dirty="0">
                <a:solidFill>
                  <a:srgbClr val="C9A96E"/>
                </a:solidFill>
                <a:latin typeface="Yu Gothic" pitchFamily="34" charset="0"/>
                <a:ea typeface="Yu Gothic" pitchFamily="34" charset="-122"/>
                <a:cs typeface="Yu Gothic" pitchFamily="34" charset="-120"/>
              </a:rPr>
              <a:t>海外・オークション</a:t>
            </a:r>
            <a:endParaRPr lang="en-US" sz="1800" dirty="0"/>
          </a:p>
        </p:txBody>
      </p:sp>
      <p:sp>
        <p:nvSpPr>
          <p:cNvPr id="19" name="Text 16"/>
          <p:cNvSpPr/>
          <p:nvPr/>
        </p:nvSpPr>
        <p:spPr>
          <a:xfrm>
            <a:off x="8316773" y="4700016"/>
            <a:ext cx="2978810" cy="822960"/>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724144"/>
            <a:ext cx="10874959" cy="365760"/>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在庫回転期間は年間販売実績から逆算した結果であり、前提として置いた数値ではない。「回転12ヶ月を目指す」という計画ではなく、「現に売れている金額でいくらになるか」を示している。年平均利回り（5年通算）が単調でないのは、満期までに何回転が収まるかという期間の刻みによる。</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64208"/>
            <a:ext cx="3429914" cy="365760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26" name="Text 24"/>
          <p:cNvSpPr/>
          <p:nvPr/>
        </p:nvSpPr>
        <p:spPr>
          <a:xfrm>
            <a:off x="2606954"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28" name="Shape 26"/>
          <p:cNvSpPr/>
          <p:nvPr/>
        </p:nvSpPr>
        <p:spPr>
          <a:xfrm>
            <a:off x="4380890" y="1664208"/>
            <a:ext cx="3429914" cy="3657600"/>
          </a:xfrm>
          <a:prstGeom prst="roundRect">
            <a:avLst>
              <a:gd name="adj" fmla="val 1200"/>
            </a:avLst>
          </a:prstGeom>
          <a:solidFill>
            <a:srgbClr val="1F1D19"/>
          </a:solidFill>
          <a:ln w="9525">
            <a:solidFill>
              <a:srgbClr val="6E5730"/>
            </a:solidFill>
            <a:prstDash val="solid"/>
          </a:ln>
        </p:spPr>
      </p:sp>
      <p:sp>
        <p:nvSpPr>
          <p:cNvPr id="29" name="Text 27"/>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0" name="Text 28"/>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1" name="Text 29"/>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2" name="Text 30"/>
          <p:cNvSpPr/>
          <p:nvPr/>
        </p:nvSpPr>
        <p:spPr>
          <a:xfrm>
            <a:off x="4636922"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3" name="Text 31"/>
          <p:cNvSpPr/>
          <p:nvPr/>
        </p:nvSpPr>
        <p:spPr>
          <a:xfrm>
            <a:off x="6329477" y="25283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4" name="Text 32"/>
          <p:cNvSpPr/>
          <p:nvPr/>
        </p:nvSpPr>
        <p:spPr>
          <a:xfrm>
            <a:off x="4636922"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5" name="Text 33"/>
          <p:cNvSpPr/>
          <p:nvPr/>
        </p:nvSpPr>
        <p:spPr>
          <a:xfrm>
            <a:off x="6329477"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7" name="Text 35"/>
          <p:cNvSpPr/>
          <p:nvPr/>
        </p:nvSpPr>
        <p:spPr>
          <a:xfrm>
            <a:off x="6329477" y="31226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38" name="Text 36"/>
          <p:cNvSpPr/>
          <p:nvPr/>
        </p:nvSpPr>
        <p:spPr>
          <a:xfrm>
            <a:off x="4636922"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9" name="Text 37"/>
          <p:cNvSpPr/>
          <p:nvPr/>
        </p:nvSpPr>
        <p:spPr>
          <a:xfrm>
            <a:off x="6329477"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0" name="Text 38"/>
          <p:cNvSpPr/>
          <p:nvPr/>
        </p:nvSpPr>
        <p:spPr>
          <a:xfrm>
            <a:off x="4636922"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1" name="Text 39"/>
          <p:cNvSpPr/>
          <p:nvPr/>
        </p:nvSpPr>
        <p:spPr>
          <a:xfrm>
            <a:off x="6329477"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2" name="Text 40"/>
          <p:cNvSpPr/>
          <p:nvPr/>
        </p:nvSpPr>
        <p:spPr>
          <a:xfrm>
            <a:off x="4636922"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329477" y="40142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4" name="Text 42"/>
          <p:cNvSpPr/>
          <p:nvPr/>
        </p:nvSpPr>
        <p:spPr>
          <a:xfrm>
            <a:off x="4636922"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329477" y="431139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6" name="Text 44"/>
          <p:cNvSpPr/>
          <p:nvPr/>
        </p:nvSpPr>
        <p:spPr>
          <a:xfrm>
            <a:off x="4636922"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47" name="Text 45"/>
          <p:cNvSpPr/>
          <p:nvPr/>
        </p:nvSpPr>
        <p:spPr>
          <a:xfrm>
            <a:off x="6329477" y="46085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48" name="Text 46"/>
          <p:cNvSpPr/>
          <p:nvPr/>
        </p:nvSpPr>
        <p:spPr>
          <a:xfrm>
            <a:off x="4636922"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49" name="Shape 47"/>
          <p:cNvSpPr/>
          <p:nvPr/>
        </p:nvSpPr>
        <p:spPr>
          <a:xfrm>
            <a:off x="8103413" y="1664208"/>
            <a:ext cx="3429914" cy="3657600"/>
          </a:xfrm>
          <a:prstGeom prst="roundRect">
            <a:avLst>
              <a:gd name="adj" fmla="val 1200"/>
            </a:avLst>
          </a:prstGeom>
          <a:solidFill>
            <a:srgbClr val="171614"/>
          </a:solidFill>
          <a:ln w="9525">
            <a:solidFill>
              <a:srgbClr val="2E2A24"/>
            </a:solidFill>
            <a:prstDash val="solid"/>
          </a:ln>
        </p:spPr>
      </p:sp>
      <p:sp>
        <p:nvSpPr>
          <p:cNvPr id="50" name="Text 48"/>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1" name="Text 49"/>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2" name="Text 50"/>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3" name="Text 51"/>
          <p:cNvSpPr/>
          <p:nvPr/>
        </p:nvSpPr>
        <p:spPr>
          <a:xfrm>
            <a:off x="8359445"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4" name="Text 52"/>
          <p:cNvSpPr/>
          <p:nvPr/>
        </p:nvSpPr>
        <p:spPr>
          <a:xfrm>
            <a:off x="10051999"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5" name="Text 53"/>
          <p:cNvSpPr/>
          <p:nvPr/>
        </p:nvSpPr>
        <p:spPr>
          <a:xfrm>
            <a:off x="8359445"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6" name="Text 54"/>
          <p:cNvSpPr/>
          <p:nvPr/>
        </p:nvSpPr>
        <p:spPr>
          <a:xfrm>
            <a:off x="10051999"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57" name="Text 55"/>
          <p:cNvSpPr/>
          <p:nvPr/>
        </p:nvSpPr>
        <p:spPr>
          <a:xfrm>
            <a:off x="8359445"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8" name="Text 56"/>
          <p:cNvSpPr/>
          <p:nvPr/>
        </p:nvSpPr>
        <p:spPr>
          <a:xfrm>
            <a:off x="10051999"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59" name="Text 57"/>
          <p:cNvSpPr/>
          <p:nvPr/>
        </p:nvSpPr>
        <p:spPr>
          <a:xfrm>
            <a:off x="8359445"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0" name="Text 58"/>
          <p:cNvSpPr/>
          <p:nvPr/>
        </p:nvSpPr>
        <p:spPr>
          <a:xfrm>
            <a:off x="10051999"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1" name="Text 59"/>
          <p:cNvSpPr/>
          <p:nvPr/>
        </p:nvSpPr>
        <p:spPr>
          <a:xfrm>
            <a:off x="8359445"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2" name="Text 60"/>
          <p:cNvSpPr/>
          <p:nvPr/>
        </p:nvSpPr>
        <p:spPr>
          <a:xfrm>
            <a:off x="10051999"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3" name="Text 61"/>
          <p:cNvSpPr/>
          <p:nvPr/>
        </p:nvSpPr>
        <p:spPr>
          <a:xfrm>
            <a:off x="8359445"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051999"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5" name="Text 63"/>
          <p:cNvSpPr/>
          <p:nvPr/>
        </p:nvSpPr>
        <p:spPr>
          <a:xfrm>
            <a:off x="8359445"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051999"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67" name="Text 65"/>
          <p:cNvSpPr/>
          <p:nvPr/>
        </p:nvSpPr>
        <p:spPr>
          <a:xfrm>
            <a:off x="8359445"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68" name="Text 66"/>
          <p:cNvSpPr/>
          <p:nvPr/>
        </p:nvSpPr>
        <p:spPr>
          <a:xfrm>
            <a:off x="10051999"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69" name="Text 67"/>
          <p:cNvSpPr/>
          <p:nvPr/>
        </p:nvSpPr>
        <p:spPr>
          <a:xfrm>
            <a:off x="8359445"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0" name="Text 68"/>
          <p:cNvSpPr/>
          <p:nvPr/>
        </p:nvSpPr>
        <p:spPr>
          <a:xfrm>
            <a:off x="658368" y="5468112"/>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ネガティブは値引きに加えワイン価格が横ばいに留まる複合的な下振れ、ポジティブは調達・販売チャネルを最適化した場合の上振れ余地として位置づける。粗利率は変動販売費控除後の手取りに対する比率。</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公認会計士による合意された手続の実施と報告書の発行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15968"/>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主線（年間販売5.0億円）における年間SPC費用の合計は4,675万円で、内訳は変動販売費3,220万円・保管705万円・SPC固定費660万円・保険71万円・入庫19万円。デット2億円の金利はWineBankが負担するためSPCの費用には含まない。その他の運用前提：総額の95%をワイン購入に充当（現金5%）／仕入展開6ヶ月／ローリング運用／利益は複利再投資せず半期分配／税前利益を投資家60：WineBank40で按分／利回りは投資家の税引前ベース。</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年6%／総額5億円（デット2億＋エクイティ3億）・運用期間5年・稼働率95%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572768"/>
                <a:gridCol w="786384"/>
                <a:gridCol w="896112"/>
                <a:gridCol w="896112"/>
                <a:gridCol w="841248"/>
                <a:gridCol w="1060704"/>
                <a:gridCol w="1280160"/>
                <a:gridCol w="1417320"/>
                <a:gridCol w="932688"/>
                <a:gridCol w="1188720"/>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25.8%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18.5ヶ月（主線）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0.65回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368百万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0.57回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4.46億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1.75億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1.32億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26.3%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275百万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0.50回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3.96億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71百万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23.8%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283百万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18.9%</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146804"/>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1468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096512"/>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定常年間利回り＝運用が軌道に乗った後の年間実力値。エクイティ3億円に対する比率</a:t>
            </a:r>
            <a:endParaRPr lang="en-US" sz="950" dirty="0"/>
          </a:p>
        </p:txBody>
      </p:sp>
      <p:sp>
        <p:nvSpPr>
          <p:cNvPr id="13" name="Shape 10"/>
          <p:cNvSpPr/>
          <p:nvPr/>
        </p:nvSpPr>
        <p:spPr>
          <a:xfrm>
            <a:off x="914400" y="4494276"/>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494276"/>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443984"/>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年平均利回り＝5年間の累計分配額÷エクイティ3億円÷5年。仕入展開6ヶ月と満期前の清算期間を織り込んだ通算値</a:t>
            </a:r>
            <a:endParaRPr lang="en-US" sz="950" dirty="0"/>
          </a:p>
        </p:txBody>
      </p:sp>
      <p:sp>
        <p:nvSpPr>
          <p:cNvPr id="16" name="Shape 13"/>
          <p:cNvSpPr/>
          <p:nvPr/>
        </p:nvSpPr>
        <p:spPr>
          <a:xfrm>
            <a:off x="914400" y="4841748"/>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4841748"/>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791456"/>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主線は年間販売5.0億円から逆算した在庫回転18.5ヶ月。回転を前提として置いてはいない</a:t>
            </a:r>
            <a:endParaRPr lang="en-US" sz="950" dirty="0"/>
          </a:p>
        </p:txBody>
      </p:sp>
      <p:sp>
        <p:nvSpPr>
          <p:cNvPr id="19" name="Shape 16"/>
          <p:cNvSpPr/>
          <p:nvPr/>
        </p:nvSpPr>
        <p:spPr>
          <a:xfrm>
            <a:off x="914400" y="5189220"/>
            <a:ext cx="146304" cy="146304"/>
          </a:xfrm>
          <a:prstGeom prst="ellipse">
            <a:avLst/>
          </a:prstGeom>
          <a:solidFill>
            <a:srgbClr val="6E5730"/>
          </a:solidFill>
          <a:ln w="11430">
            <a:solidFill>
              <a:srgbClr val="6E5730"/>
            </a:solidFill>
            <a:prstDash val="solid"/>
          </a:ln>
        </p:spPr>
      </p:sp>
      <p:sp>
        <p:nvSpPr>
          <p:cNvPr id="20" name="Text 17"/>
          <p:cNvSpPr/>
          <p:nvPr/>
        </p:nvSpPr>
        <p:spPr>
          <a:xfrm>
            <a:off x="914400" y="5189220"/>
            <a:ext cx="146304" cy="146304"/>
          </a:xfrm>
          <a:prstGeom prst="rect">
            <a:avLst/>
          </a:prstGeom>
          <a:noFill/>
          <a:ln/>
        </p:spPr>
        <p:txBody>
          <a:bodyPr wrap="square" lIns="0" tIns="0" rIns="0" bIns="0" rtlCol="0" anchor="ctr"/>
          <a:lstStyle/>
          <a:p>
            <a:pPr algn="ctr" indent="0" marL="0">
              <a:buNone/>
            </a:pPr>
            <a:endParaRPr lang="en-US" sz="1100" dirty="0"/>
          </a:p>
        </p:txBody>
      </p:sp>
      <p:sp>
        <p:nvSpPr>
          <p:cNvPr id="21" name="Text 18"/>
          <p:cNvSpPr/>
          <p:nvPr/>
        </p:nvSpPr>
        <p:spPr>
          <a:xfrm>
            <a:off x="1170432" y="5138928"/>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5年通算が単調でないのは、満期までに何回転が収まるかという期間の刻みによるもの</a:t>
            </a:r>
            <a:endParaRPr lang="en-US" sz="950" dirty="0"/>
          </a:p>
        </p:txBody>
      </p:sp>
      <p:sp>
        <p:nvSpPr>
          <p:cNvPr id="22" name="Shape 19"/>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3" name="Text 20"/>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4" name="Text 21"/>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エクイティ定常年間利回り（税引前）</a:t>
            </a:r>
            <a:endParaRPr lang="en-US" sz="1050" dirty="0"/>
          </a:p>
        </p:txBody>
      </p:sp>
      <p:sp>
        <p:nvSpPr>
          <p:cNvPr id="25" name="Text 22"/>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23.8 – 42.0</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6" name="Text 23"/>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主線は年間販売5.0億円に対応する在庫回転18.5ヶ月で29.1%。回転24ヶ月（年間販売3.96億円）まで悪化しても23.8%を確保する。20%を割り込むのは年間販売が3.2億円を下回った場合。</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年間販売実績と投資家リターンの関係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横軸は在庫回転期間ではなく年間販売実績。WineBankがいくら売れるかがそのままリターンになる。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販売実績が主たる決定要因</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年間販売が1億円増えるごとにエクイティ利回りは約5ポイント改善する。値引きや粗利率の微調整より、売る量を増やす打ち手のほうが効く。</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ただし値上がりが下支えする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販売が4.0億円まで落ちても23.9%を確保できる。保有が長いぶん売値が上がるためで、値上がりを織り込まない場合とは約8ポイントの差がつく（次頁）。</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主線（回転18.5ヶ月）で 21.1%</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+8.0pt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18.5ヶ月（主線）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×1.107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＋8.1pt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26.3%</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24ヶ月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×1.124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23.8%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21.1%</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29.1%</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34.6%</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8.0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いずれも年間販売実績を横軸に置いている。回転期間は販売金額から逆算した結果。</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年間販売</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33.1ヶ月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100百万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33.4%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25.6ヶ月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40.9%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2.43億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146百万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48.5%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17.6ヶ月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2.81億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56.1%</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インポーター直仕入の比率を引き上げ、販売をネット最安値帯に寄せることで到達。単価が上がるぶん、同じ販売金額でも回転はゆるやかになる。年間調達枠の確保が前提条件。</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96112"/>
                <a:gridCol w="1005840"/>
                <a:gridCol w="960120"/>
                <a:gridCol w="960120"/>
                <a:gridCol w="960120"/>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年間販売</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20.1ヶ月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0.76億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15.2%</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17.9ヶ月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17.5%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16.1ヶ月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0.99億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59百万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19.8%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13.4ヶ月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1.21億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73百万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24.3%</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584448"/>
            <a:ext cx="4788256" cy="51206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値引き（▲4.7pt）と価格横ばい（▲8.0pt）が同時に起きた複合ケース。この場合の20%の分岐点は年間販売5.05億円となり、現状の販売実力の下限に重なる。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エクイティ利回り4.7ポイントを取り戻すには年間販売を5.0億円から約6.0億円へ引き上げる必要がある。価格を維持したまま販売チャネルを増やすことが本筋の改善手段であり、むしろ売れ残りは値上がりを取りにいく機会でもある。</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3シナリオ比較：エクイティ定常年間利回り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エクイティ3億円に対する年間実力値。投資家取分（SPC税前利益の60%）ベース。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現状の販売実力5〜7億円に対応するエクイティ利回りは29.1〜39.5%。中位の5.0億円を主線として提示する。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調達をインポーター直に寄せ、販売をネット最安値帯に寄せれば、同じ販売金額で利回りは約1.4倍になる。</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値引き5%と価格横ばいが重なった場合、20%の分岐点は年間販売5.05億円。ここが最も厳しい防衛線となる。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主線（年間販売5.0億円・在庫回転18.5ヶ月・エクイティ利回り29.1%）を基準とした、各変数の単独変動による影響。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29.1% → 21.1%（▲8.0pt）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年間販売実績</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5.0億円 → 4.0億円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29.1% → 23.9%（▲5.2pt）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海外販売・オークションによる販路の多重化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29.1% → 24.4%（▲4.7pt）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年間販売実績</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5.0億円 → 6.0億円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29.1% → 34.3%（＋5.2pt）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販売力の増強がそのままリターンに直結する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29.1% → 34.6%（＋5.5pt）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29.1% → 39.3%（＋10.2pt）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エクイティ利回りが20%を割り込むのは、年間販売が3.2億円を下回った場合のみ（ニュートラル前提）。値引き5%と価格横ばいが同時に起きる複合的な下振れ（ネガティブ）では、年間販売5.05億円が20%の分岐点となる。なお、インポーターの仕入価格が上昇する局面では希望小売価格も連動して上昇するため、定価比の構造（仕入50・売却70／80）は維持され、利回りへの影響は生じない。</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調達・保管・販売のすべてをWineBankが担うため、自己勘定在庫との配分に構造的な利益相反が生じる。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45920"/>
            <a:ext cx="3454298" cy="2121408"/>
          </a:xfrm>
          <a:prstGeom prst="roundRect">
            <a:avLst>
              <a:gd name="adj" fmla="val 1940"/>
            </a:avLst>
          </a:prstGeom>
          <a:solidFill>
            <a:srgbClr val="171614"/>
          </a:solidFill>
          <a:ln w="9525">
            <a:solidFill>
              <a:srgbClr val="2E2A24"/>
            </a:solidFill>
            <a:prstDash val="solid"/>
          </a:ln>
        </p:spPr>
      </p:sp>
      <p:sp>
        <p:nvSpPr>
          <p:cNvPr id="8" name="Shape 6"/>
          <p:cNvSpPr/>
          <p:nvPr/>
        </p:nvSpPr>
        <p:spPr>
          <a:xfrm>
            <a:off x="896112" y="1847088"/>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65376"/>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銘柄排他を原則とする</a:t>
            </a:r>
            <a:endParaRPr lang="en-US" sz="1150" dirty="0"/>
          </a:p>
        </p:txBody>
      </p:sp>
      <p:sp>
        <p:nvSpPr>
          <p:cNvPr id="11" name="Text 9"/>
          <p:cNvSpPr/>
          <p:nvPr/>
        </p:nvSpPr>
        <p:spPr>
          <a:xfrm>
            <a:off x="896112"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KU（銘柄×ヴィンテージ×フォーマット）単位で、SPC組入銘柄とWineBank自己勘定在庫を重複させない。買い手が銘柄を指名した時点で出所が一意に決まるため、配分の判断自体が発生しない。Liv-ex掲載の流動性上位銘柄はSPCに優先配分する。</a:t>
            </a:r>
            <a:endParaRPr lang="en-US" sz="950" dirty="0"/>
          </a:p>
        </p:txBody>
      </p:sp>
      <p:sp>
        <p:nvSpPr>
          <p:cNvPr id="12" name="Shape 10"/>
          <p:cNvSpPr/>
          <p:nvPr/>
        </p:nvSpPr>
        <p:spPr>
          <a:xfrm>
            <a:off x="4368698" y="1645920"/>
            <a:ext cx="3454298" cy="2121408"/>
          </a:xfrm>
          <a:prstGeom prst="roundRect">
            <a:avLst>
              <a:gd name="adj" fmla="val 1940"/>
            </a:avLst>
          </a:prstGeom>
          <a:solidFill>
            <a:srgbClr val="171614"/>
          </a:solidFill>
          <a:ln w="9525">
            <a:solidFill>
              <a:srgbClr val="2E2A24"/>
            </a:solidFill>
            <a:prstDash val="solid"/>
          </a:ln>
        </p:spPr>
      </p:sp>
      <p:sp>
        <p:nvSpPr>
          <p:cNvPr id="13" name="Shape 11"/>
          <p:cNvSpPr/>
          <p:nvPr/>
        </p:nvSpPr>
        <p:spPr>
          <a:xfrm>
            <a:off x="4606442" y="1847088"/>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65376"/>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重複銘柄はSPC優先売却</a:t>
            </a:r>
            <a:endParaRPr lang="en-US" sz="1150" dirty="0"/>
          </a:p>
        </p:txBody>
      </p:sp>
      <p:sp>
        <p:nvSpPr>
          <p:cNvPr id="16" name="Text 14"/>
          <p:cNvSpPr/>
          <p:nvPr/>
        </p:nvSpPr>
        <p:spPr>
          <a:xfrm>
            <a:off x="4606442"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大量割当を按分取得した場合など重複が残る銘柄については、当該SKUのSPC在庫が完売するまでWineBankは自己勘定を売却しない。裁量の余地がなく、突合も容易である。</a:t>
            </a:r>
            <a:endParaRPr lang="en-US" sz="950" dirty="0"/>
          </a:p>
        </p:txBody>
      </p:sp>
      <p:sp>
        <p:nvSpPr>
          <p:cNvPr id="17" name="Shape 15"/>
          <p:cNvSpPr/>
          <p:nvPr/>
        </p:nvSpPr>
        <p:spPr>
          <a:xfrm>
            <a:off x="8079029" y="1645920"/>
            <a:ext cx="3454298" cy="2121408"/>
          </a:xfrm>
          <a:prstGeom prst="roundRect">
            <a:avLst>
              <a:gd name="adj" fmla="val 1940"/>
            </a:avLst>
          </a:prstGeom>
          <a:solidFill>
            <a:srgbClr val="1F1D19"/>
          </a:solidFill>
          <a:ln w="9525">
            <a:solidFill>
              <a:srgbClr val="6E5730"/>
            </a:solidFill>
            <a:prstDash val="solid"/>
          </a:ln>
        </p:spPr>
      </p:sp>
      <p:sp>
        <p:nvSpPr>
          <p:cNvPr id="18" name="Shape 16"/>
          <p:cNvSpPr/>
          <p:nvPr/>
        </p:nvSpPr>
        <p:spPr>
          <a:xfrm>
            <a:off x="8316773" y="1847088"/>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65376"/>
            <a:ext cx="2576474" cy="274320"/>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価格同一ルールと補填条項</a:t>
            </a:r>
            <a:endParaRPr lang="en-US" sz="1150" dirty="0"/>
          </a:p>
        </p:txBody>
      </p:sp>
      <p:sp>
        <p:nvSpPr>
          <p:cNvPr id="21" name="Text 19"/>
          <p:cNvSpPr/>
          <p:nvPr/>
        </p:nvSpPr>
        <p:spPr>
          <a:xfrm>
            <a:off x="8316773"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同一SKU・同一四半期の実現単価は、SPCがWineBank自己勘定を下回らないものとする。下回った場合は差額×SPC数量をWineBankがSPCへ現金で補填する。運用が崩れても投資家が金額で守られる仕組みとする。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3858768"/>
          <a:ext cx="10874959" cy="914400"/>
        </p:xfrm>
        <a:graphic>
          <a:graphicData uri="http://schemas.openxmlformats.org/drawingml/2006/table">
            <a:tbl>
              <a:tblPr/>
              <a:tblGrid>
                <a:gridCol w="2377440"/>
                <a:gridCol w="8494776"/>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SKU別に、期首在庫・取得・売却・期末在庫をSPCとWineBank自己勘定の両建てで記録し、四半期ごとに投資家へ開示する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システムによる自動割当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SPC名義の在庫は別ロケーション・別ラベルで管理し、現物の特定可能性を確保する。四半期ごとに第三者棚卸を実施する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AUPの対象に配分ルールの遵守状況を含め、公認会計士による年次の検証を受ける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870448"/>
            <a:ext cx="10874959" cy="31089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組成前にSPC組入予定銘柄とWineBank自己勘定在庫の重複度を精査し、重複が残る銘柄を特定したうえで02・03の適用範囲を確定する。実務上は「01 銘柄排他」でおおむね解消できる見込み。</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99132"/>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99132"/>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2140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四半期ごとの損益、資金収支および事業進捗</a:t>
            </a:r>
            <a:endParaRPr lang="en-US" sz="950" dirty="0"/>
          </a:p>
        </p:txBody>
      </p:sp>
      <p:sp>
        <p:nvSpPr>
          <p:cNvPr id="12" name="Shape 10"/>
          <p:cNvSpPr/>
          <p:nvPr/>
        </p:nvSpPr>
        <p:spPr>
          <a:xfrm>
            <a:off x="932688" y="2528316"/>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528316"/>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505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5" name="Shape 13"/>
          <p:cNvSpPr/>
          <p:nvPr/>
        </p:nvSpPr>
        <p:spPr>
          <a:xfrm>
            <a:off x="932688" y="285750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5750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7977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18" name="Shape 16"/>
          <p:cNvSpPr/>
          <p:nvPr/>
        </p:nvSpPr>
        <p:spPr>
          <a:xfrm>
            <a:off x="932688" y="3186684"/>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866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1089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1" name="Shape 19"/>
          <p:cNvSpPr/>
          <p:nvPr/>
        </p:nvSpPr>
        <p:spPr>
          <a:xfrm>
            <a:off x="932688" y="3515868"/>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515868"/>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43814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一定金額以上の取引、借入れ、追加投資、契約変更の事前承認</a:t>
            </a:r>
            <a:endParaRPr lang="en-US" sz="950" dirty="0"/>
          </a:p>
        </p:txBody>
      </p:sp>
      <p:sp>
        <p:nvSpPr>
          <p:cNvPr id="24" name="Shape 22"/>
          <p:cNvSpPr/>
          <p:nvPr/>
        </p:nvSpPr>
        <p:spPr>
          <a:xfrm>
            <a:off x="932688" y="3845052"/>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8450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7673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7" name="Shape 25"/>
          <p:cNvSpPr/>
          <p:nvPr/>
        </p:nvSpPr>
        <p:spPr>
          <a:xfrm>
            <a:off x="932688" y="4174236"/>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174236"/>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409651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0" name="Shape 28"/>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1" name="Text 29"/>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2" name="Text 30"/>
          <p:cNvSpPr/>
          <p:nvPr/>
        </p:nvSpPr>
        <p:spPr>
          <a:xfrm>
            <a:off x="6489040" y="215798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3" name="Text 31"/>
          <p:cNvSpPr/>
          <p:nvPr/>
        </p:nvSpPr>
        <p:spPr>
          <a:xfrm>
            <a:off x="6489040" y="2377440"/>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900" dirty="0"/>
          </a:p>
        </p:txBody>
      </p:sp>
      <p:sp>
        <p:nvSpPr>
          <p:cNvPr id="34" name="Text 32"/>
          <p:cNvSpPr/>
          <p:nvPr/>
        </p:nvSpPr>
        <p:spPr>
          <a:xfrm>
            <a:off x="6489040" y="281635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価格根拠の文書化</a:t>
            </a:r>
            <a:endParaRPr lang="en-US" sz="1050" dirty="0"/>
          </a:p>
        </p:txBody>
      </p:sp>
      <p:sp>
        <p:nvSpPr>
          <p:cNvPr id="35" name="Text 33"/>
          <p:cNvSpPr/>
          <p:nvPr/>
        </p:nvSpPr>
        <p:spPr>
          <a:xfrm>
            <a:off x="6489040" y="3035808"/>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現物譲渡の1%を含め、価格および条件の合理性を客観的資料により説明できる状態を維持する。</a:t>
            </a:r>
            <a:endParaRPr lang="en-US" sz="900" dirty="0"/>
          </a:p>
        </p:txBody>
      </p:sp>
      <p:sp>
        <p:nvSpPr>
          <p:cNvPr id="36" name="Text 34"/>
          <p:cNvSpPr/>
          <p:nvPr/>
        </p:nvSpPr>
        <p:spPr>
          <a:xfrm>
            <a:off x="6489040" y="347472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重要な関連当事者取引の事前承認</a:t>
            </a:r>
            <a:endParaRPr lang="en-US" sz="1050" dirty="0"/>
          </a:p>
        </p:txBody>
      </p:sp>
      <p:sp>
        <p:nvSpPr>
          <p:cNvPr id="37" name="Text 35"/>
          <p:cNvSpPr/>
          <p:nvPr/>
        </p:nvSpPr>
        <p:spPr>
          <a:xfrm>
            <a:off x="6489040" y="3694176"/>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一定金額以上の取引については、投資家または独立した第三者の事前承認を要する。</a:t>
            </a:r>
            <a:endParaRPr lang="en-US" sz="900" dirty="0"/>
          </a:p>
        </p:txBody>
      </p:sp>
      <p:sp>
        <p:nvSpPr>
          <p:cNvPr id="38" name="Text 36"/>
          <p:cNvSpPr/>
          <p:nvPr/>
        </p:nvSpPr>
        <p:spPr>
          <a:xfrm>
            <a:off x="6489040" y="4133088"/>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39" name="Text 37"/>
          <p:cNvSpPr/>
          <p:nvPr/>
        </p:nvSpPr>
        <p:spPr>
          <a:xfrm>
            <a:off x="6489040" y="4352544"/>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900" dirty="0"/>
          </a:p>
        </p:txBody>
      </p:sp>
      <p:sp>
        <p:nvSpPr>
          <p:cNvPr id="40" name="Shape 38"/>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1" name="Text 39"/>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2" name="Text 40"/>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3" name="Text 41"/>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4" name="Shape 42"/>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5" name="Text 43"/>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6" name="Text 44"/>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7" name="Text 45"/>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財務諸表監査ではなく、目的を限定した合意された手続を採用。年50万円をSPC費用に計上済み。将来的な監査への移行も可能とする。</a:t>
            </a:r>
            <a:endParaRPr lang="en-US" sz="850" dirty="0"/>
          </a:p>
        </p:txBody>
      </p:sp>
      <p:sp>
        <p:nvSpPr>
          <p:cNvPr id="48" name="Shape 46"/>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49" name="Text 47"/>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0" name="Text 48"/>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51" name="Text 49"/>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在庫明細・簿価・売上・試算表を四半期ごとに開示。年次で決算を報告する。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主線は年6%上昇を織り込むが、横ばい（0%）でも定常年間利回り17.1%を確保できる。会社資料の年率10%に対し保守的な前提。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組成形態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ファンド形態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募集総額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総額5億円（デット2億円＋エクイティ3億円）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デット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2億円・金利4%（固定）。調達コストはWineBankが負担し、SPCの費用には計上しない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損益の配分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SPC税前利益を 投資家60：WineBank40 で按分。WineBankはデット2億円相当を出資持分としてカウント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運用期間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中途解約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分配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半期ごと。元本はSPC内に留保し継続運用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元本の裏付け</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SPC名義のワイン現物および現金。四半期ごとに在庫明細・簿価を報告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現物の取得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WineBankが調達した現物をSPCへ譲渡（＋1%）。5億の場合、実商品原価4.95億＋譲渡マージン500万円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資金配分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総額の95%をワイン購入、5%を現金保有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販売チャネル</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酒販店卸（B2B）と自社EC・オークション（B2C）を半々。手取りの高いチャネルを優先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価格前提</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SPC負担費用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保管・保険・入庫・変動販売費・維持費200万・人件費360万・AUP50万・予備費50万</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想定リターン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エクイティ定常年間利回り29.1%（年間販売5.0億円）。5年通算の年平均利回りは24.4%</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四半期：在庫明細・簿価・売上・試算表／年次：決算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外部検証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AUP（合意された手続）を年次で実施。配分ルールの遵守状況を手続の対象に含める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SKU排他を原則とし、重複銘柄はSPC優先売却。契約別紙として明文化する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541264"/>
            <a:ext cx="10874959" cy="768096"/>
          </a:xfrm>
          <a:prstGeom prst="roundRect">
            <a:avLst>
              <a:gd name="adj" fmla="val 5357"/>
            </a:avLst>
          </a:prstGeom>
          <a:solidFill>
            <a:srgbClr val="1F1D19"/>
          </a:solidFill>
          <a:ln w="9525">
            <a:solidFill>
              <a:srgbClr val="6E5730"/>
            </a:solidFill>
            <a:prstDash val="solid"/>
          </a:ln>
        </p:spPr>
      </p:sp>
      <p:sp>
        <p:nvSpPr>
          <p:cNvPr id="10" name="Text 6"/>
          <p:cNvSpPr/>
          <p:nvPr/>
        </p:nvSpPr>
        <p:spPr>
          <a:xfrm>
            <a:off x="932688" y="563270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852160"/>
            <a:ext cx="10326319" cy="384048"/>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エクイティ利回りは29.1%→26.0%）。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流通価格差（回転に対するリターン）とワインの値上がり（在庫に対するリターン）。価格が横ばいでもエクイティ利回り21.1%、売れ行きが鈍っても値上がりが年8.0ポイントを底上げする。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出口をB2B・B2Cの両輪で持っている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酒販店卸（B2B）に加え、自社EC・オークション・CLUB会員・グループのアピシウス（B2C）。手取りの高いチャネルを選べる構造。</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期中報酬も成功報酬も取らない。デット2億円の調達コストをWineBankが負担し、損益は出資比率で按分する。投資家が儲からなければWineBankも儲からない。</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現状の販売実力5〜7億円のうち中位5.0億円を主線に置き、エクイティ利回り29.1%。20%を割り込むのは年間販売が3.2億円を下回ったとき。</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年間販売3.2億円が分岐点。現状実力の6割の水準まで落ちない限り貴社基準を維持する。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この設計により現金保有を5%に抑え、総額の95%をワインに充当できる。半期解約を前提とすると稼働率が下がり29.1%→26.0%に低下する。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伝統的資産と相関の低い実物資産。既存30億円のポートフォリオに対しエクイティ3億円は約10%。</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2026-08-13T08:26:58Z</dcterms:created>
  <dcterms:modified xsi:type="dcterms:W3CDTF">2026-08-13T08:26:58Z</dcterms:modified>
</cp:coreProperties>
</file>