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定常年間利回り（％）</a:t>
            </a:r>
          </a:p>
        </c:rich>
      </c:tx>
      <c:layout/>
      <c:overlay val="0"/>
    </c:title>
    <c:autoTitleDeleted val="0"/>
    <c:plotArea>
      <c:layout/>
      <c:barChart>
        <c:barDir val="col"/>
        <c:grouping val="clustered"/>
        <c:varyColors val="0"/>
        <c:ser>
          <c:idx val="0"/>
          <c:order val="0"/>
          <c:tx>
            <c:strRef>
              <c:f>Sheet1!$B$1</c:f>
              <c:strCache>
                <c:ptCount val="1"/>
                <c:pt idx="0">
                  <c:v>定常年間利回り（％）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27.2</c:v>
                </c:pt>
                <c:pt idx="1">
                  <c:v>21.1</c:v>
                </c:pt>
                <c:pt idx="2">
                  <c:v>17.4</c:v>
                </c:pt>
                <c:pt idx="3">
                  <c:v>15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1"/>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年平均利回り（5年通算・％）</a:t>
            </a:r>
          </a:p>
        </c:rich>
      </c:tx>
      <c:layout/>
      <c:overlay val="0"/>
    </c:title>
    <c:autoTitleDeleted val="0"/>
    <c:plotArea>
      <c:layout/>
      <c:barChart>
        <c:barDir val="col"/>
        <c:grouping val="clustered"/>
        <c:varyColors val="0"/>
        <c:ser>
          <c:idx val="0"/>
          <c:order val="0"/>
          <c:tx>
            <c:strRef>
              <c:f>Sheet1!$B$1</c:f>
              <c:strCache>
                <c:ptCount val="1"/>
                <c:pt idx="0">
                  <c:v>年平均利回り（5年通算・％）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24.4</c:v>
                </c:pt>
                <c:pt idx="1">
                  <c:v>16.8</c:v>
                </c:pt>
                <c:pt idx="2">
                  <c:v>13</c:v>
                </c:pt>
                <c:pt idx="3">
                  <c:v>13.4</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定常年間利回り（％）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51.4</c:v>
                </c:pt>
                <c:pt idx="1">
                  <c:v>39.5</c:v>
                </c:pt>
                <c:pt idx="2">
                  <c:v>32.3</c:v>
                </c:pt>
                <c:pt idx="3">
                  <c:v>27.6</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27.2</c:v>
                </c:pt>
                <c:pt idx="1">
                  <c:v>21.1</c:v>
                </c:pt>
                <c:pt idx="2">
                  <c:v>17.4</c:v>
                </c:pt>
                <c:pt idx="3">
                  <c:v>15</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18.9</c:v>
                </c:pt>
                <c:pt idx="1">
                  <c:v>13.8</c:v>
                </c:pt>
                <c:pt idx="2">
                  <c:v>10.8</c:v>
                </c:pt>
                <c:pt idx="3">
                  <c:v>8.8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ネガティブは値引き5%＋価格横ばいの複合ケース。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主線のレンジは定常年間利回り21.1〜27.2%。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値上がり効果は在庫に対するリターンなので回転期間によらず一定（約+4.0pt）。相殺ではなく底上げ。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回転と調達構成が本丸。価格横ばいでも17.1%を確保できる点が防衛線。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投資枠 5億円 ／ 運用期間5年 ／ 半期分配 ／ SPC収益は投資家50：WineBank50</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投資受入枠</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SPC（GK-TK方式を想定）／運用期間5年・半期分配</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想定粗利率（主線）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保有12ヶ月・手取り74.4・SPC取得原価50.5</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21.1</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定常年間利回り</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回転12ヶ月・投資家取分ベースの実力値</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16.8–24.4</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24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回転12ヶ月〜9ヶ月／税引前</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同一商品の流通段階間の価格差（フロー）に加え、保有期間中の価格上昇年6%（ストック）が乗る。値上がり分は保有期間によらず年約4.0ポイントを底上げする。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リターンを決めるのは在庫回転期間。ただし値上がりが下支えする。</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回転9ヶ月で定常利回り27.2%、12ヶ月で21.1%、18ヶ月まで落ちても15.0%。値上がりを織り込まない場合はそれぞれ23.3%／17.1%／11.0%となる。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販売はB2B卸とB2Cネット販売の半々。手取りではB2Cが上回る。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B2B（酒販店卸）は売値70で手数料が軽く手取り69.3。B2C（自社EC・オークション）は売値80だが手数料11.2%を負い手取り71.0。両者を半々で運用する。</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酒類の商流上、SPCは直接仕入・販売ができない。</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WineBankが免許事業者として調達し、現物をSPCへ譲渡する。独立企業間価格として1%を付加（5億なら実商品原価4.95億＋譲渡マージン500万円）。</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29914" cy="365760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26" name="Text 24"/>
          <p:cNvSpPr/>
          <p:nvPr/>
        </p:nvSpPr>
        <p:spPr>
          <a:xfrm>
            <a:off x="2606954"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28" name="Shape 26"/>
          <p:cNvSpPr/>
          <p:nvPr/>
        </p:nvSpPr>
        <p:spPr>
          <a:xfrm>
            <a:off x="4380890" y="1664208"/>
            <a:ext cx="3429914" cy="3657600"/>
          </a:xfrm>
          <a:prstGeom prst="roundRect">
            <a:avLst>
              <a:gd name="adj" fmla="val 1200"/>
            </a:avLst>
          </a:prstGeom>
          <a:solidFill>
            <a:srgbClr val="1F1D19"/>
          </a:solidFill>
          <a:ln w="9525">
            <a:solidFill>
              <a:srgbClr val="6E5730"/>
            </a:solidFill>
            <a:prstDash val="solid"/>
          </a:ln>
        </p:spPr>
      </p:sp>
      <p:sp>
        <p:nvSpPr>
          <p:cNvPr id="29" name="Text 27"/>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0" name="Text 28"/>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1" name="Text 29"/>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2" name="Text 30"/>
          <p:cNvSpPr/>
          <p:nvPr/>
        </p:nvSpPr>
        <p:spPr>
          <a:xfrm>
            <a:off x="4636922"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3" name="Text 31"/>
          <p:cNvSpPr/>
          <p:nvPr/>
        </p:nvSpPr>
        <p:spPr>
          <a:xfrm>
            <a:off x="6329477" y="25283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4" name="Text 32"/>
          <p:cNvSpPr/>
          <p:nvPr/>
        </p:nvSpPr>
        <p:spPr>
          <a:xfrm>
            <a:off x="4636922"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5" name="Text 33"/>
          <p:cNvSpPr/>
          <p:nvPr/>
        </p:nvSpPr>
        <p:spPr>
          <a:xfrm>
            <a:off x="6329477"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7" name="Text 35"/>
          <p:cNvSpPr/>
          <p:nvPr/>
        </p:nvSpPr>
        <p:spPr>
          <a:xfrm>
            <a:off x="6329477" y="31226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38" name="Text 36"/>
          <p:cNvSpPr/>
          <p:nvPr/>
        </p:nvSpPr>
        <p:spPr>
          <a:xfrm>
            <a:off x="4636922"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9" name="Text 37"/>
          <p:cNvSpPr/>
          <p:nvPr/>
        </p:nvSpPr>
        <p:spPr>
          <a:xfrm>
            <a:off x="6329477"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0" name="Text 38"/>
          <p:cNvSpPr/>
          <p:nvPr/>
        </p:nvSpPr>
        <p:spPr>
          <a:xfrm>
            <a:off x="4636922"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1" name="Text 39"/>
          <p:cNvSpPr/>
          <p:nvPr/>
        </p:nvSpPr>
        <p:spPr>
          <a:xfrm>
            <a:off x="6329477"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2" name="Text 40"/>
          <p:cNvSpPr/>
          <p:nvPr/>
        </p:nvSpPr>
        <p:spPr>
          <a:xfrm>
            <a:off x="4636922"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329477" y="40142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4" name="Text 42"/>
          <p:cNvSpPr/>
          <p:nvPr/>
        </p:nvSpPr>
        <p:spPr>
          <a:xfrm>
            <a:off x="4636922"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329477" y="431139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6" name="Text 44"/>
          <p:cNvSpPr/>
          <p:nvPr/>
        </p:nvSpPr>
        <p:spPr>
          <a:xfrm>
            <a:off x="4636922"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47" name="Text 45"/>
          <p:cNvSpPr/>
          <p:nvPr/>
        </p:nvSpPr>
        <p:spPr>
          <a:xfrm>
            <a:off x="6329477" y="46085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48" name="Text 46"/>
          <p:cNvSpPr/>
          <p:nvPr/>
        </p:nvSpPr>
        <p:spPr>
          <a:xfrm>
            <a:off x="4636922"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49" name="Shape 47"/>
          <p:cNvSpPr/>
          <p:nvPr/>
        </p:nvSpPr>
        <p:spPr>
          <a:xfrm>
            <a:off x="8103413" y="1664208"/>
            <a:ext cx="3429914" cy="3657600"/>
          </a:xfrm>
          <a:prstGeom prst="roundRect">
            <a:avLst>
              <a:gd name="adj" fmla="val 1200"/>
            </a:avLst>
          </a:prstGeom>
          <a:solidFill>
            <a:srgbClr val="171614"/>
          </a:solidFill>
          <a:ln w="9525">
            <a:solidFill>
              <a:srgbClr val="2E2A24"/>
            </a:solidFill>
            <a:prstDash val="solid"/>
          </a:ln>
        </p:spPr>
      </p:sp>
      <p:sp>
        <p:nvSpPr>
          <p:cNvPr id="50" name="Text 48"/>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1" name="Text 49"/>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2" name="Text 50"/>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3" name="Text 51"/>
          <p:cNvSpPr/>
          <p:nvPr/>
        </p:nvSpPr>
        <p:spPr>
          <a:xfrm>
            <a:off x="8359445"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4" name="Text 52"/>
          <p:cNvSpPr/>
          <p:nvPr/>
        </p:nvSpPr>
        <p:spPr>
          <a:xfrm>
            <a:off x="10051999"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5" name="Text 53"/>
          <p:cNvSpPr/>
          <p:nvPr/>
        </p:nvSpPr>
        <p:spPr>
          <a:xfrm>
            <a:off x="8359445"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6" name="Text 54"/>
          <p:cNvSpPr/>
          <p:nvPr/>
        </p:nvSpPr>
        <p:spPr>
          <a:xfrm>
            <a:off x="10051999"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57" name="Text 55"/>
          <p:cNvSpPr/>
          <p:nvPr/>
        </p:nvSpPr>
        <p:spPr>
          <a:xfrm>
            <a:off x="8359445"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8" name="Text 56"/>
          <p:cNvSpPr/>
          <p:nvPr/>
        </p:nvSpPr>
        <p:spPr>
          <a:xfrm>
            <a:off x="10051999"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59" name="Text 57"/>
          <p:cNvSpPr/>
          <p:nvPr/>
        </p:nvSpPr>
        <p:spPr>
          <a:xfrm>
            <a:off x="8359445"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0" name="Text 58"/>
          <p:cNvSpPr/>
          <p:nvPr/>
        </p:nvSpPr>
        <p:spPr>
          <a:xfrm>
            <a:off x="10051999"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1" name="Text 59"/>
          <p:cNvSpPr/>
          <p:nvPr/>
        </p:nvSpPr>
        <p:spPr>
          <a:xfrm>
            <a:off x="8359445"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2" name="Text 60"/>
          <p:cNvSpPr/>
          <p:nvPr/>
        </p:nvSpPr>
        <p:spPr>
          <a:xfrm>
            <a:off x="10051999"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3" name="Text 61"/>
          <p:cNvSpPr/>
          <p:nvPr/>
        </p:nvSpPr>
        <p:spPr>
          <a:xfrm>
            <a:off x="8359445"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051999"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5" name="Text 63"/>
          <p:cNvSpPr/>
          <p:nvPr/>
        </p:nvSpPr>
        <p:spPr>
          <a:xfrm>
            <a:off x="8359445"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051999"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67" name="Text 65"/>
          <p:cNvSpPr/>
          <p:nvPr/>
        </p:nvSpPr>
        <p:spPr>
          <a:xfrm>
            <a:off x="8359445"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68" name="Text 66"/>
          <p:cNvSpPr/>
          <p:nvPr/>
        </p:nvSpPr>
        <p:spPr>
          <a:xfrm>
            <a:off x="10051999"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69" name="Text 67"/>
          <p:cNvSpPr/>
          <p:nvPr/>
        </p:nvSpPr>
        <p:spPr>
          <a:xfrm>
            <a:off x="8359445"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0" name="Text 68"/>
          <p:cNvSpPr/>
          <p:nvPr/>
        </p:nvSpPr>
        <p:spPr>
          <a:xfrm>
            <a:off x="658368" y="5468112"/>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ネガティブは値引きに加えワイン価格が横ばいに留まる複合的な下振れ、ポジティブは調達・販売チャネルを最適化した場合の上振れ余地として位置づける。粗利率は変動販売費控除後の手取りに対する比率。</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共通費用とチャネル別の変動販売費に分けて計上。いずれも実務水準に基づく。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847088"/>
          <a:ext cx="10874959" cy="914400"/>
        </p:xfrm>
        <a:graphic>
          <a:graphicData uri="http://schemas.openxmlformats.org/drawingml/2006/table">
            <a:tbl>
              <a:tblPr/>
              <a:tblGrid>
                <a:gridCol w="2331720"/>
                <a:gridCol w="1965960"/>
                <a:gridCol w="6574536"/>
              </a:tblGrid>
              <a:tr h="32004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税務・事務受託・法務。監査費用を除く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206240"/>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462272"/>
            <a:ext cx="3442106" cy="1170432"/>
          </a:xfrm>
          <a:prstGeom prst="roundRect">
            <a:avLst>
              <a:gd name="adj" fmla="val 3516"/>
            </a:avLst>
          </a:prstGeom>
          <a:solidFill>
            <a:srgbClr val="171614"/>
          </a:solidFill>
          <a:ln w="9525">
            <a:solidFill>
              <a:srgbClr val="2E2A24"/>
            </a:solidFill>
            <a:prstDash val="solid"/>
          </a:ln>
        </p:spPr>
      </p:sp>
      <p:sp>
        <p:nvSpPr>
          <p:cNvPr id="11" name="Text 8"/>
          <p:cNvSpPr/>
          <p:nvPr/>
        </p:nvSpPr>
        <p:spPr>
          <a:xfrm>
            <a:off x="896112" y="460857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462272"/>
            <a:ext cx="3442106" cy="1170432"/>
          </a:xfrm>
          <a:prstGeom prst="roundRect">
            <a:avLst>
              <a:gd name="adj" fmla="val 3516"/>
            </a:avLst>
          </a:prstGeom>
          <a:solidFill>
            <a:srgbClr val="171614"/>
          </a:solidFill>
          <a:ln w="9525">
            <a:solidFill>
              <a:srgbClr val="2E2A24"/>
            </a:solidFill>
            <a:prstDash val="solid"/>
          </a:ln>
        </p:spPr>
      </p:sp>
      <p:sp>
        <p:nvSpPr>
          <p:cNvPr id="15" name="Text 12"/>
          <p:cNvSpPr/>
          <p:nvPr/>
        </p:nvSpPr>
        <p:spPr>
          <a:xfrm>
            <a:off x="4612538" y="460857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462272"/>
            <a:ext cx="3442106" cy="1170432"/>
          </a:xfrm>
          <a:prstGeom prst="roundRect">
            <a:avLst>
              <a:gd name="adj" fmla="val 3516"/>
            </a:avLst>
          </a:prstGeom>
          <a:solidFill>
            <a:srgbClr val="1F1D19"/>
          </a:solidFill>
          <a:ln w="9525">
            <a:solidFill>
              <a:srgbClr val="6E5730"/>
            </a:solidFill>
            <a:prstDash val="solid"/>
          </a:ln>
        </p:spPr>
      </p:sp>
      <p:sp>
        <p:nvSpPr>
          <p:cNvPr id="19" name="Text 16"/>
          <p:cNvSpPr/>
          <p:nvPr/>
        </p:nvSpPr>
        <p:spPr>
          <a:xfrm>
            <a:off x="8328965" y="460857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年間SPC費用の合計は6,182万円（売上比8.3%）で、内訳は変動販売費4,816万円・保管705万円・SPC固定費560万円・保険71万円・入庫30万円。その他の運用前提：出資金の95%をワイン購入に充当（現金5%）／仕入展開6ヶ月／ローリング運用／利益は複利再投資せず半期分配／税前利益を投資家50：WineBank50で折半／利回りは投資家の税引前ベース。</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年6%／投資枠5億円・運用期間5年・稼働率95%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25880"/>
                <a:gridCol w="868680"/>
                <a:gridCol w="960120"/>
                <a:gridCol w="960120"/>
                <a:gridCol w="914400"/>
                <a:gridCol w="1133856"/>
                <a:gridCol w="1225296"/>
                <a:gridCol w="1143000"/>
                <a:gridCol w="1097280"/>
                <a:gridCol w="124358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投資家配当／年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27.2%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611百万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420百万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16.8%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17.4%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13.0%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0.67回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336百万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13.4%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146804"/>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1468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096512"/>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定常年間利回り＝運用が軌道に乗った後の年間実力値</a:t>
            </a:r>
            <a:endParaRPr lang="en-US" sz="950" dirty="0"/>
          </a:p>
        </p:txBody>
      </p:sp>
      <p:sp>
        <p:nvSpPr>
          <p:cNvPr id="13" name="Shape 10"/>
          <p:cNvSpPr/>
          <p:nvPr/>
        </p:nvSpPr>
        <p:spPr>
          <a:xfrm>
            <a:off x="914400" y="4494276"/>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494276"/>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443984"/>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年平均利回り＝5年間の累計分配額÷出資額÷5年。仕入展開6ヶ月と満期前の清算期間を織り込んだ通算値</a:t>
            </a:r>
            <a:endParaRPr lang="en-US" sz="950" dirty="0"/>
          </a:p>
        </p:txBody>
      </p:sp>
      <p:sp>
        <p:nvSpPr>
          <p:cNvPr id="16" name="Shape 13"/>
          <p:cNvSpPr/>
          <p:nvPr/>
        </p:nvSpPr>
        <p:spPr>
          <a:xfrm>
            <a:off x="914400" y="4841748"/>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4841748"/>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791456"/>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回転期間が短いほど改善幅は加速（15→12ヶ月で＋3.7pt、12→9ヶ月で＋6.1pt）</a:t>
            </a:r>
            <a:endParaRPr lang="en-US" sz="950" dirty="0"/>
          </a:p>
        </p:txBody>
      </p:sp>
      <p:sp>
        <p:nvSpPr>
          <p:cNvPr id="19" name="Shape 16"/>
          <p:cNvSpPr/>
          <p:nvPr/>
        </p:nvSpPr>
        <p:spPr>
          <a:xfrm>
            <a:off x="914400" y="5189220"/>
            <a:ext cx="146304" cy="146304"/>
          </a:xfrm>
          <a:prstGeom prst="ellipse">
            <a:avLst/>
          </a:prstGeom>
          <a:solidFill>
            <a:srgbClr val="6E5730"/>
          </a:solidFill>
          <a:ln w="11430">
            <a:solidFill>
              <a:srgbClr val="6E5730"/>
            </a:solidFill>
            <a:prstDash val="solid"/>
          </a:ln>
        </p:spPr>
      </p:sp>
      <p:sp>
        <p:nvSpPr>
          <p:cNvPr id="20" name="Text 17"/>
          <p:cNvSpPr/>
          <p:nvPr/>
        </p:nvSpPr>
        <p:spPr>
          <a:xfrm>
            <a:off x="914400" y="5189220"/>
            <a:ext cx="146304" cy="146304"/>
          </a:xfrm>
          <a:prstGeom prst="rect">
            <a:avLst/>
          </a:prstGeom>
          <a:noFill/>
          <a:ln/>
        </p:spPr>
        <p:txBody>
          <a:bodyPr wrap="square" lIns="0" tIns="0" rIns="0" bIns="0" rtlCol="0" anchor="ctr"/>
          <a:lstStyle/>
          <a:p>
            <a:pPr algn="ctr" indent="0" marL="0">
              <a:buNone/>
            </a:pPr>
            <a:endParaRPr lang="en-US" sz="1100" dirty="0"/>
          </a:p>
        </p:txBody>
      </p:sp>
      <p:sp>
        <p:nvSpPr>
          <p:cNvPr id="21" name="Text 18"/>
          <p:cNvSpPr/>
          <p:nvPr/>
        </p:nvSpPr>
        <p:spPr>
          <a:xfrm>
            <a:off x="1170432" y="5138928"/>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18ヶ月の5年通算が15ヶ月を上回るのは、満期までに3回転が収まりきる期間の刻みによるもの</a:t>
            </a:r>
            <a:endParaRPr lang="en-US" sz="950" dirty="0"/>
          </a:p>
        </p:txBody>
      </p:sp>
      <p:sp>
        <p:nvSpPr>
          <p:cNvPr id="22" name="Shape 19"/>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3" name="Text 20"/>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4" name="Text 21"/>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定常年間利回り（税引前）</a:t>
            </a:r>
            <a:endParaRPr lang="en-US" sz="1050" dirty="0"/>
          </a:p>
        </p:txBody>
      </p:sp>
      <p:sp>
        <p:nvSpPr>
          <p:cNvPr id="25" name="Text 22"/>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21.1 – 27.2</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6" name="Text 23"/>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実務上の想定回転期間を9〜12ヶ月として提示する（5年通算の年平均利回りは16.8〜24.4%）。18ヶ月まで悪化しても15.0%を確保できるのは、保有が延びるぶん値上がりが乗るため。</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粗利率は前提として固定されるため、投資家リターンは実質的に在庫回転数の一次関数になる。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回転期間が主たる決定要因</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回転12ヶ月を1ヶ月短縮するごとに定常年間利回りは約1.7ポイント改善する。値引きや粗利率の微調整より、回転を上げる打ち手のほうが効く。</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ただし値上がりが下支えする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回転が18ヶ月まで延びても15.0%を確保できる。保有が長いぶん売値が上がるためで、値上がりを織り込まない場合の11.0%とは4.0ポイントの差がつく（次頁）。</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回転12ヶ月で 17.1%</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+4.0pt</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1783080"/>
                <a:gridCol w="1600200"/>
                <a:gridCol w="1600200"/>
                <a:gridCol w="2331720"/>
                <a:gridCol w="1874520"/>
                <a:gridCol w="1719072"/>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売却時の売値</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78.35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＋3.9pt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79.50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80.67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17.4%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81.85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上昇率を変えた場合（回転12ヶ月）</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17.1%</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21.1%</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23.7%</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4.0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調達・販売チャネルの寄せ方で上振れし、値引きと価格の停滞が重なると下振れする。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年平均5年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13.10億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46.2%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9.97億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31.5%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インポーター直仕入の比率を引き上げ、販売をネット最安値帯に寄せることで到達。手数料は重くなるが売値の高さが上回る。年間調達枠の確保が前提条件。</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年平均5年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16.9%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11.0%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7.8%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値引き（▲3.5pt）と価格横ばい（▲4.0pt）が同時に起きた複合ケース。片方だけであれば回転12ヶ月で17.1〜17.6%を確保できる。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利回り3.5ポイントを取り戻すには回転期間を12ヶ月から約9.7ヶ月へ短縮する必要がある。価格を維持したまま販売チャネルを増やすことが本筋の改善手段となる。むしろ売れ残りは値上がりを取りにいく機会でもあり、値引きを急ぐ理由は乏し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運用が軌道に乗った後の年間実力値。投資家取分（税前利益の50%）ベース。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回転9〜12ヶ月で定常年間利回り21.1〜27.2%（5年通算の年平均利回り16.8〜24.4%）。保守的な前提を積み上げた数値であり、交渉の出発点として提示する。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調達をインポーター直に寄せ、販売をネット最安値帯に寄せれば、同じ回転期間で利回りは約1.9倍になる。</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値引き5%と価格横ばいが重なっても、回転9ヶ月を維持できれば定常利回り18.9%を確保できる。回転の維持が防衛線。</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ニュートラル・回転12ヶ月（定常年間利回り21.1%）を基準とした、各変数の単独変動による影響。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5661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21.1% → 15.0%（▲6.1pt）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販売チャネル多重化・売れ筋銘柄への集中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21.1% → 17.1%（▲4.0pt）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21.1% → 17.6%（▲3.5pt）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21.1% → 18.8%（▲2.3pt）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B2Cのモール手数料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5.5% → 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21.1% → 20.1%（▲1.0pt）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自社EC・自社オークションの構成比を引き上げる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21.1% → 23.7%（＋2.6pt）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21.1% → 28.8%（＋7.7pt）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リターン改善の打ち手は「回転期間の短縮」と「調達構成の改善」の2つに集約される。ワイン価格が横ばいに留まっても定常年間利回り17.1%を確保できるため、値上がりは前提ではなく上乗せとして位置づける。なお、インポーターの仕入価格が上昇する局面では希望小売価格も連動して上昇するため、定価比の構造（仕入50・売却70／80）は維持され、利回りへの影響は生じない。</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主線は年6%上昇を織り込むが、横ばい（0%）でも定常年間利回り17.1%を確保できる。会社資料の年率10%に対し保守的な前提。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74959" cy="914400"/>
        </p:xfrm>
        <a:graphic>
          <a:graphicData uri="http://schemas.openxmlformats.org/drawingml/2006/table">
            <a:tbl>
              <a:tblPr/>
              <a:tblGrid>
                <a:gridCol w="1920240"/>
                <a:gridCol w="4846320"/>
                <a:gridCol w="4105656"/>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組成形態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合同会社＋匿名組合（GK-TK）</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SPCレベルでは非課税、投資家側で課税</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募集総額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追加募集は半期ごとの受入日に実施</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運用期間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5年</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満期時に在庫を売却清算のうえ元本償還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現物の取得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WineBankが調達した現物をSPCへ譲渡（＋1%）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5億の場合、実商品原価4.95億＋譲渡マージン500万円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資金配分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出資金の95%をワイン購入、5%を現金保有</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現金は運転資金および期中の入出金調整に充当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販売チャネル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構成比は市況に応じて調整。手取りの高いチャネルを優先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価格前提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ワイン価格の年間上昇 6%（保有期間ぶんを売値に加算）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会社資料のFine Wine年率10%に対し保守的に設定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分配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半期ごと（税前利益を投資家50：WineBank50）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元本はSPC内に留保し継続運用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SPC負担費用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保管・保険・入庫・変動販売費・維持費200万・人件費360万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これ以外の管理報酬・成功報酬は課さない（監査費用は別途）</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想定リターン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定常年間利回り 21.1〜27.2%（回転12〜9ヶ月）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ニュートラル前提。5年通算の年平均利回りは16.8〜24.4%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中途解約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3年経過後、年度ごとの解約日に申出可（90日前通知）</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当初3年間はロックアップ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元本の裏付け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SPC名義のワイン現物および現金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四半期ごとに在庫明細・簿価を報告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四半期：在庫明細・簿価・売上・試算表／年次：決算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在庫と売上をあわせて四半期ごとに開示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7" name="Shape 4"/>
          <p:cNvSpPr/>
          <p:nvPr/>
        </p:nvSpPr>
        <p:spPr>
          <a:xfrm>
            <a:off x="658368" y="5394960"/>
            <a:ext cx="10874959" cy="822960"/>
          </a:xfrm>
          <a:prstGeom prst="roundRect">
            <a:avLst>
              <a:gd name="adj" fmla="val 5000"/>
            </a:avLst>
          </a:prstGeom>
          <a:solidFill>
            <a:srgbClr val="1F1D19"/>
          </a:solidFill>
          <a:ln w="9525">
            <a:solidFill>
              <a:srgbClr val="6E5730"/>
            </a:solidFill>
            <a:prstDash val="solid"/>
          </a:ln>
        </p:spPr>
      </p:sp>
      <p:sp>
        <p:nvSpPr>
          <p:cNvPr id="8" name="Text 5"/>
          <p:cNvSpPr/>
          <p:nvPr/>
        </p:nvSpPr>
        <p:spPr>
          <a:xfrm>
            <a:off x="932688" y="5486400"/>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9" name="Text 6"/>
          <p:cNvSpPr/>
          <p:nvPr/>
        </p:nvSpPr>
        <p:spPr>
          <a:xfrm>
            <a:off x="932688" y="5724144"/>
            <a:ext cx="10326319" cy="42062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定常年間利回りは21.1%→18.8%）。当初3年ロックアップ・4年目以降は年度ごとの解約という設計により、現金保有を5%に抑え、出資金の95%をワインに充当でき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流通価格差（回転に対するリターン）とワインの値上がり（在庫に対するリターン）。価格が横ばいでも定常年間利回り17.1%、売れ行きが鈍っても値上がりが年4.0ポイントを底上げする。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期中報酬も成功報酬も取らず、報酬は利益の折半のみ。投資家が儲からなければWineBankも儲からない。1号ファンド（2022年〜）の運営実績あり。</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主線の回転12ヶ月で定常年間利回り21.1%と、貴社基準を上回る。20%を割り込むのは回転が12.8ヶ月を超えたとき。</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回転13ヶ月が貴社基準との分岐点。ここを運用KPIとして四半期報告する。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この設計により現金保有を5%に抑え、出資金の95%をワインに充当できる。半期解約を前提とすると稼働率が下がり21.1%→18.8%に低下する。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伝統的資産と相関の低い実物資産。既存30億円のポートフォリオに対し5億円は約17%。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2026-08-12T04:07:27Z</dcterms:created>
  <dcterms:modified xsi:type="dcterms:W3CDTF">2026-08-12T04:07:27Z</dcterms:modified>
</cp:coreProperties>
</file>