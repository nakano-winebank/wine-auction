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定常年間利回り</a:t>
            </a:r>
          </a:p>
        </c:rich>
      </c:tx>
      <c:layout/>
      <c:overlay val="0"/>
    </c:title>
    <c:autoTitleDeleted val="0"/>
    <c:plotArea>
      <c:layout/>
      <c:barChart>
        <c:barDir val="col"/>
        <c:grouping val="clustered"/>
        <c:varyColors val="0"/>
        <c:ser>
          <c:idx val="0"/>
          <c:order val="0"/>
          <c:tx>
            <c:strRef>
              <c:f>Sheet1!$B$1</c:f>
              <c:strCache>
                <c:ptCount val="1"/>
                <c:pt idx="0">
                  <c:v>定常年間利回り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23.1</c:v>
                </c:pt>
                <c:pt idx="1">
                  <c:v>16.9</c:v>
                </c:pt>
                <c:pt idx="2">
                  <c:v>13.1</c:v>
                </c:pt>
                <c:pt idx="3">
                  <c:v>10.7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年平均利回り（3年通算）</a:t>
            </a:r>
          </a:p>
        </c:rich>
      </c:tx>
      <c:layout/>
      <c:overlay val="0"/>
    </c:title>
    <c:autoTitleDeleted val="0"/>
    <c:plotArea>
      <c:layout/>
      <c:barChart>
        <c:barDir val="col"/>
        <c:grouping val="clustered"/>
        <c:varyColors val="0"/>
        <c:ser>
          <c:idx val="0"/>
          <c:order val="0"/>
          <c:tx>
            <c:strRef>
              <c:f>Sheet1!$B$1</c:f>
              <c:strCache>
                <c:ptCount val="1"/>
                <c:pt idx="0">
                  <c:v>年平均利回り（3年通算）</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17</c:v>
                </c:pt>
                <c:pt idx="1">
                  <c:v>11.1</c:v>
                </c:pt>
                <c:pt idx="2">
                  <c:v>10.8</c:v>
                </c:pt>
                <c:pt idx="3">
                  <c:v>5.1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年平均利回り（5年通算）</a:t>
            </a:r>
          </a:p>
        </c:rich>
      </c:tx>
      <c:layout/>
      <c:overlay val="0"/>
    </c:title>
    <c:autoTitleDeleted val="0"/>
    <c:plotArea>
      <c:layout/>
      <c:barChart>
        <c:barDir val="col"/>
        <c:grouping val="clustered"/>
        <c:varyColors val="0"/>
        <c:ser>
          <c:idx val="0"/>
          <c:order val="0"/>
          <c:tx>
            <c:strRef>
              <c:f>Sheet1!$B$1</c:f>
              <c:strCache>
                <c:ptCount val="1"/>
                <c:pt idx="0">
                  <c:v>年平均利回り（5年通算）</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20.7</c:v>
                </c:pt>
                <c:pt idx="1">
                  <c:v>13.4</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定常年間利回り（％）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50.1</c:v>
                </c:pt>
                <c:pt idx="1">
                  <c:v>37.1</c:v>
                </c:pt>
                <c:pt idx="2">
                  <c:v>29.3</c:v>
                </c:pt>
                <c:pt idx="3">
                  <c:v>24.1</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23.1</c:v>
                </c:pt>
                <c:pt idx="1">
                  <c:v>16.9</c:v>
                </c:pt>
                <c:pt idx="2">
                  <c:v>13.1</c:v>
                </c:pt>
                <c:pt idx="3">
                  <c:v>10.7</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19</c:v>
                </c:pt>
                <c:pt idx="1">
                  <c:v>13.8</c:v>
                </c:pt>
                <c:pt idx="2">
                  <c:v>10.7</c:v>
                </c:pt>
                <c:pt idx="3">
                  <c:v>8.6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8"/>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5億円のワインファンド組成提案。8/5版に対し、①SPC人件費360万円、②WineBank→SPC現物譲渡1%、③商流・免許上の制約を反映した改訂版。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骨子。主線は回転9〜12ヶ月で定常年間利回り16.9〜23.1%、3年通算の年平均利回り11.1〜17.0%。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改訂は2点。影響は定常年間利回りで▲1.0pt、3年通算の年平均利回りで▲0.7pt。粗利率は33.3%→32.7%となる。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会計士・FMが必ず確認する論点。免許・口座・割当の3つの壁があるため、WineBankが当事者となる。1%は独立企業間価格の最小値として設定。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会社紹介資料17ページの流通価格構造をそのまま採用。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粗利率は33.3%から32.7%へ。譲渡1%は毎回の仕入に対して発生する。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SPC費用の合計は年3,739万円。人件費360万を加えた。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主線のレンジは11.0〜16.9%。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譲渡1%・人件費は感応度としては小さい。回転と仕入価格が本丸。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免許・商流リスクと移転価格リスクを新規追加。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条件はドラフト。折半の定義は税前利益ベース。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次のステップ。免許・税務の確定を第2ステップに追加。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まとめ。意義は5点。先方基準20%に対しては回転10.3ヶ月が分岐点であることを明示する。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投資枠 5億円 ／ 期間3年 ／ 半期分配 ／ SPC収益は投資家50：WineBank50</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2026年8月11日改訂版　現物譲渡1%・SPC人件費を反映</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投資受入枠</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SPC（GK-TK方式を想定）／期間3年・半期分配</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32.7</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想定粗利率（主線）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SPC取得原価50.5・売値75・粗利24.5</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16.9</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定常年間利回り</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回転12ヶ月・投資家取分ベースの実力値</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11.1–17.0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24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年平均利回り（3年通算）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回転12ヶ月〜9ヶ月／税引前</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リターンを決めるのは粗利率ではなく在庫回転期間。</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粗利率は前提として固定されるため、投資家リターンは「在庫を年に何回まわせるか」でほぼ決まる。回転9ヶ月で定常利回り23.1%、12ヶ月で16.9%。</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現物ワインが常に元本を裏付ける。</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SPC名義でワイン現物を保有。値上がり益は一切リターンに算入せず、流通価格差のみを収益源とする保守設計。</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酒類の商流上、SPCは直接仕入・販売ができない。</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WineBankが免許事業者として調達し、現物をSPCへ譲渡する。独立企業間価格として1%を付加（5億なら実商品原価4.95億＋譲渡マージン500万円）。</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解約自由度と利回りはトレードオフ。</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半期解約に応じるには現金保有比率を上げる必要があり、稼働率85%→70%で定常利回りは16.9%→13.7%に低下する。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REVISION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8月5日版からの改訂点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ご指摘の2点をモデルに織り込み、全数値を再計算した。定常利回りへの影響は合計▲1.0ポイント。</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700784"/>
            <a:ext cx="3417722" cy="1883664"/>
          </a:xfrm>
          <a:prstGeom prst="roundRect">
            <a:avLst>
              <a:gd name="adj" fmla="val 2184"/>
            </a:avLst>
          </a:prstGeom>
          <a:solidFill>
            <a:srgbClr val="171614"/>
          </a:solidFill>
          <a:ln w="9525">
            <a:solidFill>
              <a:srgbClr val="2E2A24"/>
            </a:solidFill>
            <a:prstDash val="solid"/>
          </a:ln>
        </p:spPr>
      </p:sp>
      <p:sp>
        <p:nvSpPr>
          <p:cNvPr id="8" name="Shape 6"/>
          <p:cNvSpPr/>
          <p:nvPr/>
        </p:nvSpPr>
        <p:spPr>
          <a:xfrm>
            <a:off x="896112" y="190195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90195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920240"/>
            <a:ext cx="253989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SPC人件費 年360万円を計上</a:t>
            </a:r>
            <a:endParaRPr lang="en-US" sz="1200" dirty="0"/>
          </a:p>
        </p:txBody>
      </p:sp>
      <p:sp>
        <p:nvSpPr>
          <p:cNvPr id="11" name="Text 9"/>
          <p:cNvSpPr/>
          <p:nvPr/>
        </p:nvSpPr>
        <p:spPr>
          <a:xfrm>
            <a:off x="896112" y="2377440"/>
            <a:ext cx="2942234" cy="74980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SPC運営に係るWineBank側の実務人件費を、GP取分ではなくSPCの固定費として明示計上。SPC維持費は年800万円→1,160万円。</a:t>
            </a:r>
            <a:endParaRPr lang="en-US" sz="950" dirty="0"/>
          </a:p>
        </p:txBody>
      </p:sp>
      <p:sp>
        <p:nvSpPr>
          <p:cNvPr id="12" name="Text 10"/>
          <p:cNvSpPr/>
          <p:nvPr/>
        </p:nvSpPr>
        <p:spPr>
          <a:xfrm>
            <a:off x="896112" y="3163824"/>
            <a:ext cx="2942234" cy="237744"/>
          </a:xfrm>
          <a:prstGeom prst="rect">
            <a:avLst/>
          </a:prstGeom>
          <a:noFill/>
          <a:ln/>
        </p:spPr>
        <p:txBody>
          <a:bodyPr wrap="square" lIns="0" tIns="0" rIns="0" bIns="0" rtlCol="0" anchor="ctr"/>
          <a:lstStyle/>
          <a:p>
            <a:pPr indent="0" marL="0">
              <a:buNone/>
            </a:pPr>
            <a:r>
              <a:rPr lang="en-US" sz="1000" b="1" dirty="0">
                <a:solidFill>
                  <a:srgbClr val="B4553F"/>
                </a:solidFill>
                <a:latin typeface="Yu Gothic" pitchFamily="34" charset="0"/>
                <a:ea typeface="Yu Gothic" pitchFamily="34" charset="-122"/>
                <a:cs typeface="Yu Gothic" pitchFamily="34" charset="-120"/>
              </a:rPr>
              <a:t>定常利回り ▲0.36pt</a:t>
            </a:r>
            <a:endParaRPr lang="en-US" sz="1000" dirty="0"/>
          </a:p>
        </p:txBody>
      </p:sp>
      <p:sp>
        <p:nvSpPr>
          <p:cNvPr id="13" name="Shape 11"/>
          <p:cNvSpPr/>
          <p:nvPr/>
        </p:nvSpPr>
        <p:spPr>
          <a:xfrm>
            <a:off x="4386986" y="1700784"/>
            <a:ext cx="3417722" cy="1883664"/>
          </a:xfrm>
          <a:prstGeom prst="roundRect">
            <a:avLst>
              <a:gd name="adj" fmla="val 2184"/>
            </a:avLst>
          </a:prstGeom>
          <a:solidFill>
            <a:srgbClr val="171614"/>
          </a:solidFill>
          <a:ln w="9525">
            <a:solidFill>
              <a:srgbClr val="2E2A24"/>
            </a:solidFill>
            <a:prstDash val="solid"/>
          </a:ln>
        </p:spPr>
      </p:sp>
      <p:sp>
        <p:nvSpPr>
          <p:cNvPr id="14" name="Shape 12"/>
          <p:cNvSpPr/>
          <p:nvPr/>
        </p:nvSpPr>
        <p:spPr>
          <a:xfrm>
            <a:off x="4624730" y="1901952"/>
            <a:ext cx="310896" cy="310896"/>
          </a:xfrm>
          <a:prstGeom prst="ellipse">
            <a:avLst/>
          </a:prstGeom>
          <a:solidFill>
            <a:srgbClr val="0C0C0C"/>
          </a:solidFill>
          <a:ln w="11430">
            <a:solidFill>
              <a:srgbClr val="A78450"/>
            </a:solidFill>
            <a:prstDash val="solid"/>
          </a:ln>
        </p:spPr>
      </p:sp>
      <p:sp>
        <p:nvSpPr>
          <p:cNvPr id="15" name="Text 13"/>
          <p:cNvSpPr/>
          <p:nvPr/>
        </p:nvSpPr>
        <p:spPr>
          <a:xfrm>
            <a:off x="4624730" y="190195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6" name="Text 14"/>
          <p:cNvSpPr/>
          <p:nvPr/>
        </p:nvSpPr>
        <p:spPr>
          <a:xfrm>
            <a:off x="5027066" y="1920240"/>
            <a:ext cx="253989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現物譲渡に1%を付加</a:t>
            </a:r>
            <a:endParaRPr lang="en-US" sz="1200" dirty="0"/>
          </a:p>
        </p:txBody>
      </p:sp>
      <p:sp>
        <p:nvSpPr>
          <p:cNvPr id="17" name="Text 15"/>
          <p:cNvSpPr/>
          <p:nvPr/>
        </p:nvSpPr>
        <p:spPr>
          <a:xfrm>
            <a:off x="4624730" y="2377440"/>
            <a:ext cx="2942234" cy="74980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WineBankが取得した現物をSPCへ譲渡する際、独立企業間価格として1%を付加。SPCの取得原価は定価比50.0→50.5となる。</a:t>
            </a:r>
            <a:endParaRPr lang="en-US" sz="950" dirty="0"/>
          </a:p>
        </p:txBody>
      </p:sp>
      <p:sp>
        <p:nvSpPr>
          <p:cNvPr id="18" name="Text 16"/>
          <p:cNvSpPr/>
          <p:nvPr/>
        </p:nvSpPr>
        <p:spPr>
          <a:xfrm>
            <a:off x="4624730" y="3163824"/>
            <a:ext cx="2942234" cy="237744"/>
          </a:xfrm>
          <a:prstGeom prst="rect">
            <a:avLst/>
          </a:prstGeom>
          <a:noFill/>
          <a:ln/>
        </p:spPr>
        <p:txBody>
          <a:bodyPr wrap="square" lIns="0" tIns="0" rIns="0" bIns="0" rtlCol="0" anchor="ctr"/>
          <a:lstStyle/>
          <a:p>
            <a:pPr indent="0" marL="0">
              <a:buNone/>
            </a:pPr>
            <a:r>
              <a:rPr lang="en-US" sz="1000" b="1" dirty="0">
                <a:solidFill>
                  <a:srgbClr val="B4553F"/>
                </a:solidFill>
                <a:latin typeface="Yu Gothic" pitchFamily="34" charset="0"/>
                <a:ea typeface="Yu Gothic" pitchFamily="34" charset="-122"/>
                <a:cs typeface="Yu Gothic" pitchFamily="34" charset="-120"/>
              </a:rPr>
              <a:t>定常利回り ▲0.61pt</a:t>
            </a:r>
            <a:endParaRPr lang="en-US" sz="1000" dirty="0"/>
          </a:p>
        </p:txBody>
      </p:sp>
      <p:sp>
        <p:nvSpPr>
          <p:cNvPr id="19" name="Shape 17"/>
          <p:cNvSpPr/>
          <p:nvPr/>
        </p:nvSpPr>
        <p:spPr>
          <a:xfrm>
            <a:off x="8115605" y="1700784"/>
            <a:ext cx="3417722" cy="1883664"/>
          </a:xfrm>
          <a:prstGeom prst="roundRect">
            <a:avLst>
              <a:gd name="adj" fmla="val 2184"/>
            </a:avLst>
          </a:prstGeom>
          <a:solidFill>
            <a:srgbClr val="171614"/>
          </a:solidFill>
          <a:ln w="9525">
            <a:solidFill>
              <a:srgbClr val="2E2A24"/>
            </a:solidFill>
            <a:prstDash val="solid"/>
          </a:ln>
        </p:spPr>
      </p:sp>
      <p:sp>
        <p:nvSpPr>
          <p:cNvPr id="20" name="Shape 18"/>
          <p:cNvSpPr/>
          <p:nvPr/>
        </p:nvSpPr>
        <p:spPr>
          <a:xfrm>
            <a:off x="8353349" y="1901952"/>
            <a:ext cx="310896" cy="310896"/>
          </a:xfrm>
          <a:prstGeom prst="ellipse">
            <a:avLst/>
          </a:prstGeom>
          <a:solidFill>
            <a:srgbClr val="0C0C0C"/>
          </a:solidFill>
          <a:ln w="11430">
            <a:solidFill>
              <a:srgbClr val="A78450"/>
            </a:solidFill>
            <a:prstDash val="solid"/>
          </a:ln>
        </p:spPr>
      </p:sp>
      <p:sp>
        <p:nvSpPr>
          <p:cNvPr id="21" name="Text 19"/>
          <p:cNvSpPr/>
          <p:nvPr/>
        </p:nvSpPr>
        <p:spPr>
          <a:xfrm>
            <a:off x="8353349" y="190195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2" name="Text 20"/>
          <p:cNvSpPr/>
          <p:nvPr/>
        </p:nvSpPr>
        <p:spPr>
          <a:xfrm>
            <a:off x="8755685" y="1920240"/>
            <a:ext cx="253989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商流・免許の制約を明記</a:t>
            </a:r>
            <a:endParaRPr lang="en-US" sz="1200" dirty="0"/>
          </a:p>
        </p:txBody>
      </p:sp>
      <p:sp>
        <p:nvSpPr>
          <p:cNvPr id="23" name="Text 21"/>
          <p:cNvSpPr/>
          <p:nvPr/>
        </p:nvSpPr>
        <p:spPr>
          <a:xfrm>
            <a:off x="8353349" y="2377440"/>
            <a:ext cx="2942234" cy="74980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酒類販売業免許と取引口座の制約により、SPCが直接仕入・販売を行えない点をスキームの前提として1枚で整理（次々頁）。</a:t>
            </a:r>
            <a:endParaRPr lang="en-US" sz="950" dirty="0"/>
          </a:p>
        </p:txBody>
      </p:sp>
      <p:sp>
        <p:nvSpPr>
          <p:cNvPr id="24" name="Text 22"/>
          <p:cNvSpPr/>
          <p:nvPr/>
        </p:nvSpPr>
        <p:spPr>
          <a:xfrm>
            <a:off x="8353349" y="3163824"/>
            <a:ext cx="2942234"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スキーム前提の明確化</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803904"/>
          <a:ext cx="10874959" cy="914400"/>
        </p:xfrm>
        <a:graphic>
          <a:graphicData uri="http://schemas.openxmlformats.org/drawingml/2006/table">
            <a:tbl>
              <a:tblPr/>
              <a:tblGrid>
                <a:gridCol w="2103120"/>
                <a:gridCol w="1572768"/>
                <a:gridCol w="1572768"/>
                <a:gridCol w="914400"/>
                <a:gridCol w="1700784"/>
                <a:gridCol w="1700784"/>
                <a:gridCol w="914400"/>
              </a:tblGrid>
              <a:tr h="30175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定常年間利回り（8/5版）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定常年間利回り（今回版）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3年通算（8/5版）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3年通算（今回版）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175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16.9%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▲0.7pt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▲0.8pt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▲0.8pt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175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▲0.8pt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▲0.4pt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6" name="Text 23"/>
          <p:cNvSpPr/>
          <p:nvPr/>
        </p:nvSpPr>
        <p:spPr>
          <a:xfrm>
            <a:off x="658368" y="5394960"/>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8/5版の列は、今回と同一の月次モデルに旧前提（譲渡マージンなし・人件費なし）を入れて再計算したもの。定常年間利回り＝運用が軌道に乗った後の年間実力値、年平均利回り＝運用期間中の累計分配額を出資額と年数で割った通算値。いずれも投資家の税引前ベース。</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専門定温倉庫で保管（全量付保）。WineBankが酒販店卸／自社EC／オークションで販売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譲渡マージン500万円。回転12ヶ月・稼働率85%の定常状態では、年間のSPC仕入4.25億円に対しWineBankの譲渡マージンは年約420万円となる。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773936"/>
          </a:xfrm>
          <a:prstGeom prst="roundRect">
            <a:avLst>
              <a:gd name="adj" fmla="val 2320"/>
            </a:avLst>
          </a:prstGeom>
          <a:solidFill>
            <a:srgbClr val="1F1D19"/>
          </a:solidFill>
          <a:ln w="9525">
            <a:solidFill>
              <a:srgbClr val="6E5730"/>
            </a:solidFill>
            <a:prstDash val="solid"/>
          </a:ln>
        </p:spPr>
      </p:sp>
      <p:sp>
        <p:nvSpPr>
          <p:cNvPr id="28" name="Text 26"/>
          <p:cNvSpPr/>
          <p:nvPr/>
        </p:nvSpPr>
        <p:spPr>
          <a:xfrm>
            <a:off x="932688" y="3840480"/>
            <a:ext cx="45720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a:t>
            </a:r>
            <a:endParaRPr lang="en-US" sz="1200" dirty="0"/>
          </a:p>
        </p:txBody>
      </p:sp>
      <p:sp>
        <p:nvSpPr>
          <p:cNvPr id="29" name="Text 27"/>
          <p:cNvSpPr/>
          <p:nvPr/>
        </p:nvSpPr>
        <p:spPr>
          <a:xfrm>
            <a:off x="932688" y="41879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87952"/>
            <a:ext cx="493776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9162288" y="4187952"/>
            <a:ext cx="209671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a:t>
            </a:r>
            <a:endParaRPr lang="en-US" sz="1050" dirty="0"/>
          </a:p>
        </p:txBody>
      </p:sp>
      <p:sp>
        <p:nvSpPr>
          <p:cNvPr id="32" name="Text 30"/>
          <p:cNvSpPr/>
          <p:nvPr/>
        </p:nvSpPr>
        <p:spPr>
          <a:xfrm>
            <a:off x="932688" y="448970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489704"/>
            <a:ext cx="493776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9162288" y="4489704"/>
            <a:ext cx="209671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a:t>
            </a:r>
            <a:endParaRPr lang="en-US" sz="1050" dirty="0"/>
          </a:p>
        </p:txBody>
      </p:sp>
      <p:sp>
        <p:nvSpPr>
          <p:cNvPr id="35" name="Text 33"/>
          <p:cNvSpPr/>
          <p:nvPr/>
        </p:nvSpPr>
        <p:spPr>
          <a:xfrm>
            <a:off x="932688" y="479145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791456"/>
            <a:ext cx="493776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 ＋ ネット最安80 を半々</a:t>
            </a:r>
            <a:endParaRPr lang="en-US" sz="1050" dirty="0"/>
          </a:p>
        </p:txBody>
      </p:sp>
      <p:sp>
        <p:nvSpPr>
          <p:cNvPr id="37" name="Text 35"/>
          <p:cNvSpPr/>
          <p:nvPr/>
        </p:nvSpPr>
        <p:spPr>
          <a:xfrm>
            <a:off x="9162288" y="4791456"/>
            <a:ext cx="209671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売値 75.0</a:t>
            </a:r>
            <a:endParaRPr lang="en-US" sz="1050" dirty="0"/>
          </a:p>
        </p:txBody>
      </p:sp>
      <p:sp>
        <p:nvSpPr>
          <p:cNvPr id="38" name="Text 36"/>
          <p:cNvSpPr/>
          <p:nvPr/>
        </p:nvSpPr>
        <p:spPr>
          <a:xfrm>
            <a:off x="932688" y="509320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39" name="Text 37"/>
          <p:cNvSpPr/>
          <p:nvPr/>
        </p:nvSpPr>
        <p:spPr>
          <a:xfrm>
            <a:off x="4133088" y="5093208"/>
            <a:ext cx="493776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売値75.0 − SPC取得原価50.5</a:t>
            </a:r>
            <a:endParaRPr lang="en-US" sz="1050" dirty="0"/>
          </a:p>
        </p:txBody>
      </p:sp>
      <p:sp>
        <p:nvSpPr>
          <p:cNvPr id="40" name="Text 38"/>
          <p:cNvSpPr/>
          <p:nvPr/>
        </p:nvSpPr>
        <p:spPr>
          <a:xfrm>
            <a:off x="9162288" y="5093208"/>
            <a:ext cx="209671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24.5（粗利率32.7%）</a:t>
            </a:r>
            <a:endParaRPr lang="en-US" sz="1050" dirty="0"/>
          </a:p>
        </p:txBody>
      </p:sp>
      <p:sp>
        <p:nvSpPr>
          <p:cNvPr id="41" name="Text 39"/>
          <p:cNvSpPr/>
          <p:nvPr/>
        </p:nvSpPr>
        <p:spPr>
          <a:xfrm>
            <a:off x="658368" y="5559552"/>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副次（ポジティブ）：仕入はインポーター40のみ・売却はネット最安80のみ → SPC取得原価40.4・粗利39.6（粗利率49.5%）。調達枠の確保が前提条件。</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現物譲渡の1%は、全シナリオでSPCの取得原価に上乗せして計上している。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29914" cy="356616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47088"/>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30428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市中仕入原価</a:t>
            </a:r>
            <a:endParaRPr lang="en-US" sz="1000" dirty="0"/>
          </a:p>
        </p:txBody>
      </p:sp>
      <p:sp>
        <p:nvSpPr>
          <p:cNvPr id="10" name="Text 8"/>
          <p:cNvSpPr/>
          <p:nvPr/>
        </p:nvSpPr>
        <p:spPr>
          <a:xfrm>
            <a:off x="2625242" y="2304288"/>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50.00</a:t>
            </a:r>
            <a:endParaRPr lang="en-US" sz="1400" dirty="0"/>
          </a:p>
        </p:txBody>
      </p:sp>
      <p:sp>
        <p:nvSpPr>
          <p:cNvPr id="11" name="Text 9"/>
          <p:cNvSpPr/>
          <p:nvPr/>
        </p:nvSpPr>
        <p:spPr>
          <a:xfrm>
            <a:off x="914400" y="2706624"/>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SPC取得原価（＋1%）</a:t>
            </a:r>
            <a:endParaRPr lang="en-US" sz="1000" dirty="0"/>
          </a:p>
        </p:txBody>
      </p:sp>
      <p:sp>
        <p:nvSpPr>
          <p:cNvPr id="12" name="Text 10"/>
          <p:cNvSpPr/>
          <p:nvPr/>
        </p:nvSpPr>
        <p:spPr>
          <a:xfrm>
            <a:off x="2625242" y="2706624"/>
            <a:ext cx="1207008"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50.50</a:t>
            </a:r>
            <a:endParaRPr lang="en-US" sz="1400" dirty="0"/>
          </a:p>
        </p:txBody>
      </p:sp>
      <p:sp>
        <p:nvSpPr>
          <p:cNvPr id="13" name="Text 11"/>
          <p:cNvSpPr/>
          <p:nvPr/>
        </p:nvSpPr>
        <p:spPr>
          <a:xfrm>
            <a:off x="914400" y="310896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売値</a:t>
            </a:r>
            <a:endParaRPr lang="en-US" sz="1000" dirty="0"/>
          </a:p>
        </p:txBody>
      </p:sp>
      <p:sp>
        <p:nvSpPr>
          <p:cNvPr id="14" name="Text 12"/>
          <p:cNvSpPr/>
          <p:nvPr/>
        </p:nvSpPr>
        <p:spPr>
          <a:xfrm>
            <a:off x="2625242" y="3108960"/>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71.25</a:t>
            </a:r>
            <a:endParaRPr lang="en-US" sz="1400" dirty="0"/>
          </a:p>
        </p:txBody>
      </p:sp>
      <p:sp>
        <p:nvSpPr>
          <p:cNvPr id="15" name="Text 13"/>
          <p:cNvSpPr/>
          <p:nvPr/>
        </p:nvSpPr>
        <p:spPr>
          <a:xfrm>
            <a:off x="914400" y="3511296"/>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単位粗利</a:t>
            </a:r>
            <a:endParaRPr lang="en-US" sz="1000" dirty="0"/>
          </a:p>
        </p:txBody>
      </p:sp>
      <p:sp>
        <p:nvSpPr>
          <p:cNvPr id="16" name="Text 14"/>
          <p:cNvSpPr/>
          <p:nvPr/>
        </p:nvSpPr>
        <p:spPr>
          <a:xfrm>
            <a:off x="2625242" y="3511296"/>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20.75</a:t>
            </a:r>
            <a:endParaRPr lang="en-US" sz="1400" dirty="0"/>
          </a:p>
        </p:txBody>
      </p:sp>
      <p:sp>
        <p:nvSpPr>
          <p:cNvPr id="17" name="Text 15"/>
          <p:cNvSpPr/>
          <p:nvPr/>
        </p:nvSpPr>
        <p:spPr>
          <a:xfrm>
            <a:off x="914400" y="391363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a:t>
            </a:r>
            <a:endParaRPr lang="en-US" sz="1000" dirty="0"/>
          </a:p>
        </p:txBody>
      </p:sp>
      <p:sp>
        <p:nvSpPr>
          <p:cNvPr id="18" name="Text 16"/>
          <p:cNvSpPr/>
          <p:nvPr/>
        </p:nvSpPr>
        <p:spPr>
          <a:xfrm>
            <a:off x="2625242" y="3913632"/>
            <a:ext cx="1207008"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29.1%</a:t>
            </a:r>
            <a:endParaRPr lang="en-US" sz="1300" dirty="0"/>
          </a:p>
        </p:txBody>
      </p:sp>
      <p:sp>
        <p:nvSpPr>
          <p:cNvPr id="19" name="Text 17"/>
          <p:cNvSpPr/>
          <p:nvPr/>
        </p:nvSpPr>
        <p:spPr>
          <a:xfrm>
            <a:off x="914400" y="431596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投下原価利益率</a:t>
            </a:r>
            <a:endParaRPr lang="en-US" sz="1000" dirty="0"/>
          </a:p>
        </p:txBody>
      </p:sp>
      <p:sp>
        <p:nvSpPr>
          <p:cNvPr id="20" name="Text 18"/>
          <p:cNvSpPr/>
          <p:nvPr/>
        </p:nvSpPr>
        <p:spPr>
          <a:xfrm>
            <a:off x="2625242" y="4315968"/>
            <a:ext cx="1207008"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41.1%</a:t>
            </a:r>
            <a:endParaRPr lang="en-US" sz="1300" dirty="0"/>
          </a:p>
        </p:txBody>
      </p:sp>
      <p:sp>
        <p:nvSpPr>
          <p:cNvPr id="21" name="Text 19"/>
          <p:cNvSpPr/>
          <p:nvPr/>
        </p:nvSpPr>
        <p:spPr>
          <a:xfrm>
            <a:off x="914400" y="4718304"/>
            <a:ext cx="2917850" cy="402336"/>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ニュートラルから売値を5%値引き</a:t>
            </a:r>
            <a:endParaRPr lang="en-US" sz="900" dirty="0"/>
          </a:p>
        </p:txBody>
      </p:sp>
      <p:sp>
        <p:nvSpPr>
          <p:cNvPr id="22" name="Shape 20"/>
          <p:cNvSpPr/>
          <p:nvPr/>
        </p:nvSpPr>
        <p:spPr>
          <a:xfrm>
            <a:off x="4380890" y="1664208"/>
            <a:ext cx="3429914" cy="3566160"/>
          </a:xfrm>
          <a:prstGeom prst="roundRect">
            <a:avLst>
              <a:gd name="adj" fmla="val 1200"/>
            </a:avLst>
          </a:prstGeom>
          <a:solidFill>
            <a:srgbClr val="1F1D19"/>
          </a:solidFill>
          <a:ln w="9525">
            <a:solidFill>
              <a:srgbClr val="6E5730"/>
            </a:solidFill>
            <a:prstDash val="solid"/>
          </a:ln>
        </p:spPr>
      </p:sp>
      <p:sp>
        <p:nvSpPr>
          <p:cNvPr id="23" name="Text 21"/>
          <p:cNvSpPr/>
          <p:nvPr/>
        </p:nvSpPr>
        <p:spPr>
          <a:xfrm>
            <a:off x="4636922" y="1847088"/>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24" name="Text 22"/>
          <p:cNvSpPr/>
          <p:nvPr/>
        </p:nvSpPr>
        <p:spPr>
          <a:xfrm>
            <a:off x="4636922" y="230428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市中仕入原価</a:t>
            </a:r>
            <a:endParaRPr lang="en-US" sz="1000" dirty="0"/>
          </a:p>
        </p:txBody>
      </p:sp>
      <p:sp>
        <p:nvSpPr>
          <p:cNvPr id="25" name="Text 23"/>
          <p:cNvSpPr/>
          <p:nvPr/>
        </p:nvSpPr>
        <p:spPr>
          <a:xfrm>
            <a:off x="6347765" y="2304288"/>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50.00</a:t>
            </a:r>
            <a:endParaRPr lang="en-US" sz="1400" dirty="0"/>
          </a:p>
        </p:txBody>
      </p:sp>
      <p:sp>
        <p:nvSpPr>
          <p:cNvPr id="26" name="Text 24"/>
          <p:cNvSpPr/>
          <p:nvPr/>
        </p:nvSpPr>
        <p:spPr>
          <a:xfrm>
            <a:off x="4636922" y="2706624"/>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SPC取得原価（＋1%）</a:t>
            </a:r>
            <a:endParaRPr lang="en-US" sz="1000" dirty="0"/>
          </a:p>
        </p:txBody>
      </p:sp>
      <p:sp>
        <p:nvSpPr>
          <p:cNvPr id="27" name="Text 25"/>
          <p:cNvSpPr/>
          <p:nvPr/>
        </p:nvSpPr>
        <p:spPr>
          <a:xfrm>
            <a:off x="6347765" y="2706624"/>
            <a:ext cx="1207008"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50.50</a:t>
            </a:r>
            <a:endParaRPr lang="en-US" sz="1400" dirty="0"/>
          </a:p>
        </p:txBody>
      </p:sp>
      <p:sp>
        <p:nvSpPr>
          <p:cNvPr id="28" name="Text 26"/>
          <p:cNvSpPr/>
          <p:nvPr/>
        </p:nvSpPr>
        <p:spPr>
          <a:xfrm>
            <a:off x="4636922" y="310896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売値</a:t>
            </a:r>
            <a:endParaRPr lang="en-US" sz="1000" dirty="0"/>
          </a:p>
        </p:txBody>
      </p:sp>
      <p:sp>
        <p:nvSpPr>
          <p:cNvPr id="29" name="Text 27"/>
          <p:cNvSpPr/>
          <p:nvPr/>
        </p:nvSpPr>
        <p:spPr>
          <a:xfrm>
            <a:off x="6347765" y="3108960"/>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75.00</a:t>
            </a:r>
            <a:endParaRPr lang="en-US" sz="1400" dirty="0"/>
          </a:p>
        </p:txBody>
      </p:sp>
      <p:sp>
        <p:nvSpPr>
          <p:cNvPr id="30" name="Text 28"/>
          <p:cNvSpPr/>
          <p:nvPr/>
        </p:nvSpPr>
        <p:spPr>
          <a:xfrm>
            <a:off x="4636922" y="3511296"/>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単位粗利</a:t>
            </a:r>
            <a:endParaRPr lang="en-US" sz="1000" dirty="0"/>
          </a:p>
        </p:txBody>
      </p:sp>
      <p:sp>
        <p:nvSpPr>
          <p:cNvPr id="31" name="Text 29"/>
          <p:cNvSpPr/>
          <p:nvPr/>
        </p:nvSpPr>
        <p:spPr>
          <a:xfrm>
            <a:off x="6347765" y="3511296"/>
            <a:ext cx="1207008"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24.50</a:t>
            </a:r>
            <a:endParaRPr lang="en-US" sz="1400" dirty="0"/>
          </a:p>
        </p:txBody>
      </p:sp>
      <p:sp>
        <p:nvSpPr>
          <p:cNvPr id="32" name="Text 30"/>
          <p:cNvSpPr/>
          <p:nvPr/>
        </p:nvSpPr>
        <p:spPr>
          <a:xfrm>
            <a:off x="4636922" y="391363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a:t>
            </a:r>
            <a:endParaRPr lang="en-US" sz="1000" dirty="0"/>
          </a:p>
        </p:txBody>
      </p:sp>
      <p:sp>
        <p:nvSpPr>
          <p:cNvPr id="33" name="Text 31"/>
          <p:cNvSpPr/>
          <p:nvPr/>
        </p:nvSpPr>
        <p:spPr>
          <a:xfrm>
            <a:off x="6347765" y="3913632"/>
            <a:ext cx="1207008" cy="256032"/>
          </a:xfrm>
          <a:prstGeom prst="rect">
            <a:avLst/>
          </a:prstGeom>
          <a:noFill/>
          <a:ln/>
        </p:spPr>
        <p:txBody>
          <a:bodyPr wrap="square" lIns="0" tIns="0" rIns="0" bIns="0" rtlCol="0" anchor="ctr"/>
          <a:lstStyle/>
          <a:p>
            <a:pPr algn="r" indent="0" marL="0">
              <a:buNone/>
            </a:pPr>
            <a:r>
              <a:rPr lang="en-US" sz="1300" b="1" dirty="0">
                <a:solidFill>
                  <a:srgbClr val="C9A96E"/>
                </a:solidFill>
                <a:latin typeface="Cambria" pitchFamily="34" charset="0"/>
                <a:ea typeface="Cambria" pitchFamily="34" charset="-122"/>
                <a:cs typeface="Cambria" pitchFamily="34" charset="-120"/>
              </a:rPr>
              <a:t>32.7%</a:t>
            </a:r>
            <a:endParaRPr lang="en-US" sz="1300" dirty="0"/>
          </a:p>
        </p:txBody>
      </p:sp>
      <p:sp>
        <p:nvSpPr>
          <p:cNvPr id="34" name="Text 32"/>
          <p:cNvSpPr/>
          <p:nvPr/>
        </p:nvSpPr>
        <p:spPr>
          <a:xfrm>
            <a:off x="4636922" y="431596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投下原価利益率</a:t>
            </a:r>
            <a:endParaRPr lang="en-US" sz="1000" dirty="0"/>
          </a:p>
        </p:txBody>
      </p:sp>
      <p:sp>
        <p:nvSpPr>
          <p:cNvPr id="35" name="Text 33"/>
          <p:cNvSpPr/>
          <p:nvPr/>
        </p:nvSpPr>
        <p:spPr>
          <a:xfrm>
            <a:off x="6347765" y="4315968"/>
            <a:ext cx="1207008"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48.5%</a:t>
            </a:r>
            <a:endParaRPr lang="en-US" sz="1300" dirty="0"/>
          </a:p>
        </p:txBody>
      </p:sp>
      <p:sp>
        <p:nvSpPr>
          <p:cNvPr id="36" name="Text 34"/>
          <p:cNvSpPr/>
          <p:nvPr/>
        </p:nvSpPr>
        <p:spPr>
          <a:xfrm>
            <a:off x="4636922" y="4718304"/>
            <a:ext cx="2917850" cy="402336"/>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仕入40/60の半々・売却70/80の半々</a:t>
            </a:r>
            <a:endParaRPr lang="en-US" sz="900" dirty="0"/>
          </a:p>
        </p:txBody>
      </p:sp>
      <p:sp>
        <p:nvSpPr>
          <p:cNvPr id="37" name="Shape 35"/>
          <p:cNvSpPr/>
          <p:nvPr/>
        </p:nvSpPr>
        <p:spPr>
          <a:xfrm>
            <a:off x="8103413" y="1664208"/>
            <a:ext cx="3429914" cy="3566160"/>
          </a:xfrm>
          <a:prstGeom prst="roundRect">
            <a:avLst>
              <a:gd name="adj" fmla="val 1200"/>
            </a:avLst>
          </a:prstGeom>
          <a:solidFill>
            <a:srgbClr val="171614"/>
          </a:solidFill>
          <a:ln w="9525">
            <a:solidFill>
              <a:srgbClr val="2E2A24"/>
            </a:solidFill>
            <a:prstDash val="solid"/>
          </a:ln>
        </p:spPr>
      </p:sp>
      <p:sp>
        <p:nvSpPr>
          <p:cNvPr id="38" name="Text 36"/>
          <p:cNvSpPr/>
          <p:nvPr/>
        </p:nvSpPr>
        <p:spPr>
          <a:xfrm>
            <a:off x="8359445" y="1847088"/>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39" name="Text 37"/>
          <p:cNvSpPr/>
          <p:nvPr/>
        </p:nvSpPr>
        <p:spPr>
          <a:xfrm>
            <a:off x="8359445" y="230428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市中仕入原価</a:t>
            </a:r>
            <a:endParaRPr lang="en-US" sz="1000" dirty="0"/>
          </a:p>
        </p:txBody>
      </p:sp>
      <p:sp>
        <p:nvSpPr>
          <p:cNvPr id="40" name="Text 38"/>
          <p:cNvSpPr/>
          <p:nvPr/>
        </p:nvSpPr>
        <p:spPr>
          <a:xfrm>
            <a:off x="10070287" y="2304288"/>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40.00</a:t>
            </a:r>
            <a:endParaRPr lang="en-US" sz="1400" dirty="0"/>
          </a:p>
        </p:txBody>
      </p:sp>
      <p:sp>
        <p:nvSpPr>
          <p:cNvPr id="41" name="Text 39"/>
          <p:cNvSpPr/>
          <p:nvPr/>
        </p:nvSpPr>
        <p:spPr>
          <a:xfrm>
            <a:off x="8359445" y="2706624"/>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SPC取得原価（＋1%）</a:t>
            </a:r>
            <a:endParaRPr lang="en-US" sz="1000" dirty="0"/>
          </a:p>
        </p:txBody>
      </p:sp>
      <p:sp>
        <p:nvSpPr>
          <p:cNvPr id="42" name="Text 40"/>
          <p:cNvSpPr/>
          <p:nvPr/>
        </p:nvSpPr>
        <p:spPr>
          <a:xfrm>
            <a:off x="10070287" y="2706624"/>
            <a:ext cx="1207008" cy="256032"/>
          </a:xfrm>
          <a:prstGeom prst="rect">
            <a:avLst/>
          </a:prstGeom>
          <a:noFill/>
          <a:ln/>
        </p:spPr>
        <p:txBody>
          <a:bodyPr wrap="square" lIns="0" tIns="0" rIns="0" bIns="0" rtlCol="0" anchor="ctr"/>
          <a:lstStyle/>
          <a:p>
            <a:pPr algn="r" indent="0" marL="0">
              <a:buNone/>
            </a:pPr>
            <a:r>
              <a:rPr lang="en-US" sz="1400" b="1" dirty="0">
                <a:solidFill>
                  <a:srgbClr val="C9A96E"/>
                </a:solidFill>
                <a:latin typeface="Cambria" pitchFamily="34" charset="0"/>
                <a:ea typeface="Cambria" pitchFamily="34" charset="-122"/>
                <a:cs typeface="Cambria" pitchFamily="34" charset="-120"/>
              </a:rPr>
              <a:t>40.40</a:t>
            </a:r>
            <a:endParaRPr lang="en-US" sz="1400" dirty="0"/>
          </a:p>
        </p:txBody>
      </p:sp>
      <p:sp>
        <p:nvSpPr>
          <p:cNvPr id="43" name="Text 41"/>
          <p:cNvSpPr/>
          <p:nvPr/>
        </p:nvSpPr>
        <p:spPr>
          <a:xfrm>
            <a:off x="8359445" y="3108960"/>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売値</a:t>
            </a:r>
            <a:endParaRPr lang="en-US" sz="1000" dirty="0"/>
          </a:p>
        </p:txBody>
      </p:sp>
      <p:sp>
        <p:nvSpPr>
          <p:cNvPr id="44" name="Text 42"/>
          <p:cNvSpPr/>
          <p:nvPr/>
        </p:nvSpPr>
        <p:spPr>
          <a:xfrm>
            <a:off x="10070287" y="3108960"/>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80.00</a:t>
            </a:r>
            <a:endParaRPr lang="en-US" sz="1400" dirty="0"/>
          </a:p>
        </p:txBody>
      </p:sp>
      <p:sp>
        <p:nvSpPr>
          <p:cNvPr id="45" name="Text 43"/>
          <p:cNvSpPr/>
          <p:nvPr/>
        </p:nvSpPr>
        <p:spPr>
          <a:xfrm>
            <a:off x="8359445" y="3511296"/>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単位粗利</a:t>
            </a:r>
            <a:endParaRPr lang="en-US" sz="1000" dirty="0"/>
          </a:p>
        </p:txBody>
      </p:sp>
      <p:sp>
        <p:nvSpPr>
          <p:cNvPr id="46" name="Text 44"/>
          <p:cNvSpPr/>
          <p:nvPr/>
        </p:nvSpPr>
        <p:spPr>
          <a:xfrm>
            <a:off x="10070287" y="3511296"/>
            <a:ext cx="1207008" cy="256032"/>
          </a:xfrm>
          <a:prstGeom prst="rect">
            <a:avLst/>
          </a:prstGeom>
          <a:noFill/>
          <a:ln/>
        </p:spPr>
        <p:txBody>
          <a:bodyPr wrap="square" lIns="0" tIns="0" rIns="0" bIns="0" rtlCol="0" anchor="ctr"/>
          <a:lstStyle/>
          <a:p>
            <a:pPr algn="r" indent="0" marL="0">
              <a:buNone/>
            </a:pPr>
            <a:r>
              <a:rPr lang="en-US" sz="1400" b="1" dirty="0">
                <a:solidFill>
                  <a:srgbClr val="EFEBE3"/>
                </a:solidFill>
                <a:latin typeface="Cambria" pitchFamily="34" charset="0"/>
                <a:ea typeface="Cambria" pitchFamily="34" charset="-122"/>
                <a:cs typeface="Cambria" pitchFamily="34" charset="-120"/>
              </a:rPr>
              <a:t>39.60</a:t>
            </a:r>
            <a:endParaRPr lang="en-US" sz="1400" dirty="0"/>
          </a:p>
        </p:txBody>
      </p:sp>
      <p:sp>
        <p:nvSpPr>
          <p:cNvPr id="47" name="Text 45"/>
          <p:cNvSpPr/>
          <p:nvPr/>
        </p:nvSpPr>
        <p:spPr>
          <a:xfrm>
            <a:off x="8359445" y="3913632"/>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粗利率</a:t>
            </a:r>
            <a:endParaRPr lang="en-US" sz="1000" dirty="0"/>
          </a:p>
        </p:txBody>
      </p:sp>
      <p:sp>
        <p:nvSpPr>
          <p:cNvPr id="48" name="Text 46"/>
          <p:cNvSpPr/>
          <p:nvPr/>
        </p:nvSpPr>
        <p:spPr>
          <a:xfrm>
            <a:off x="10070287" y="3913632"/>
            <a:ext cx="1207008"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49.5%</a:t>
            </a:r>
            <a:endParaRPr lang="en-US" sz="1300" dirty="0"/>
          </a:p>
        </p:txBody>
      </p:sp>
      <p:sp>
        <p:nvSpPr>
          <p:cNvPr id="49" name="Text 47"/>
          <p:cNvSpPr/>
          <p:nvPr/>
        </p:nvSpPr>
        <p:spPr>
          <a:xfrm>
            <a:off x="8359445" y="4315968"/>
            <a:ext cx="1966874" cy="256032"/>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投下原価利益率</a:t>
            </a:r>
            <a:endParaRPr lang="en-US" sz="1000" dirty="0"/>
          </a:p>
        </p:txBody>
      </p:sp>
      <p:sp>
        <p:nvSpPr>
          <p:cNvPr id="50" name="Text 48"/>
          <p:cNvSpPr/>
          <p:nvPr/>
        </p:nvSpPr>
        <p:spPr>
          <a:xfrm>
            <a:off x="10070287" y="4315968"/>
            <a:ext cx="1207008" cy="256032"/>
          </a:xfrm>
          <a:prstGeom prst="rect">
            <a:avLst/>
          </a:prstGeom>
          <a:noFill/>
          <a:ln/>
        </p:spPr>
        <p:txBody>
          <a:bodyPr wrap="square" lIns="0" tIns="0" rIns="0" bIns="0" rtlCol="0" anchor="ctr"/>
          <a:lstStyle/>
          <a:p>
            <a:pPr algn="r" indent="0" marL="0">
              <a:buNone/>
            </a:pPr>
            <a:r>
              <a:rPr lang="en-US" sz="1300" b="1" dirty="0">
                <a:solidFill>
                  <a:srgbClr val="EFEBE3"/>
                </a:solidFill>
                <a:latin typeface="Cambria" pitchFamily="34" charset="0"/>
                <a:ea typeface="Cambria" pitchFamily="34" charset="-122"/>
                <a:cs typeface="Cambria" pitchFamily="34" charset="-120"/>
              </a:rPr>
              <a:t>98.0%</a:t>
            </a:r>
            <a:endParaRPr lang="en-US" sz="1300" dirty="0"/>
          </a:p>
        </p:txBody>
      </p:sp>
      <p:sp>
        <p:nvSpPr>
          <p:cNvPr id="51" name="Text 49"/>
          <p:cNvSpPr/>
          <p:nvPr/>
        </p:nvSpPr>
        <p:spPr>
          <a:xfrm>
            <a:off x="8359445" y="4718304"/>
            <a:ext cx="2917850" cy="402336"/>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a:t>
            </a:r>
            <a:endParaRPr lang="en-US" sz="900" dirty="0"/>
          </a:p>
        </p:txBody>
      </p:sp>
      <p:sp>
        <p:nvSpPr>
          <p:cNvPr id="52" name="Text 50"/>
          <p:cNvSpPr/>
          <p:nvPr/>
        </p:nvSpPr>
        <p:spPr>
          <a:xfrm>
            <a:off x="658368" y="5413248"/>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交渉余地を織り込み、ニュートラルを提案の主線とする。ポジティブは調達・販売チャネルを最適化した場合の上振れ余地として位置づける。8/5版では粗利率33.3%としていたが、譲渡1%の付加により32.7%とな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WineBank人件費 年360万円をSPCの固定費として新たに計上した（下表の網掛け）。</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10874959" cy="914400"/>
        </p:xfrm>
        <a:graphic>
          <a:graphicData uri="http://schemas.openxmlformats.org/drawingml/2006/table">
            <a:tbl>
              <a:tblPr/>
              <a:tblGrid>
                <a:gridCol w="2606040"/>
                <a:gridCol w="2148840"/>
                <a:gridCol w="6117336"/>
              </a:tblGrid>
              <a:tr h="33832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3832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定温専門倉庫（鈴与ファインワインセンター見積ベース）。1ロット＝定価100万円相当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3832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物流・入出庫・検品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640円／ロット（往復）</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入庫時・出庫時の作業費および国内配送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3832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決済・出品手数料・送料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売上の1.0%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カード決済／オークション出品料／個口配送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3832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滞留・値引き・破損ロス</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売上の2.0%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想定価格で売り切れなかった分の値引き処分・破損等</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3832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年800万円（固定）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監査・税務・事務受託・法務。ファンド規模によらず固定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3832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SPC人件費（新規計上）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A2318"/>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A2318"/>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SPC運営に係るWineBank側の実務人件費。SPCの固定費として明示計上する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A2318"/>
                    </a:solidFill>
                  </a:tcPr>
                </a:tc>
              </a:tr>
              <a:tr h="33832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443984"/>
            <a:ext cx="2540432" cy="1060704"/>
          </a:xfrm>
          <a:prstGeom prst="roundRect">
            <a:avLst>
              <a:gd name="adj" fmla="val 3879"/>
            </a:avLst>
          </a:prstGeom>
          <a:solidFill>
            <a:srgbClr val="171614"/>
          </a:solidFill>
          <a:ln w="9525">
            <a:solidFill>
              <a:srgbClr val="2E2A24"/>
            </a:solidFill>
            <a:prstDash val="solid"/>
          </a:ln>
        </p:spPr>
      </p:sp>
      <p:sp>
        <p:nvSpPr>
          <p:cNvPr id="9" name="Text 6"/>
          <p:cNvSpPr/>
          <p:nvPr/>
        </p:nvSpPr>
        <p:spPr>
          <a:xfrm>
            <a:off x="877824" y="4553712"/>
            <a:ext cx="2101520" cy="38404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12.6</a:t>
            </a:r>
            <a:pPr indent="0" marL="0">
              <a:buNone/>
            </a:pPr>
            <a:r>
              <a:rPr lang="en-US" sz="1100" b="1" dirty="0">
                <a:solidFill>
                  <a:srgbClr val="C9A96E"/>
                </a:solidFill>
                <a:latin typeface="Yu Gothic" pitchFamily="34" charset="0"/>
                <a:ea typeface="Yu Gothic" pitchFamily="34" charset="-122"/>
                <a:cs typeface="Yu Gothic" pitchFamily="34" charset="-120"/>
              </a:rPr>
              <a:t> 百万円</a:t>
            </a:r>
            <a:endParaRPr lang="en-US" sz="2400" dirty="0"/>
          </a:p>
        </p:txBody>
      </p:sp>
      <p:sp>
        <p:nvSpPr>
          <p:cNvPr id="10" name="Text 7"/>
          <p:cNvSpPr/>
          <p:nvPr/>
        </p:nvSpPr>
        <p:spPr>
          <a:xfrm>
            <a:off x="877824" y="4956048"/>
            <a:ext cx="2101520"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滞留・値引き・破損ロス</a:t>
            </a:r>
            <a:endParaRPr lang="en-US" sz="1050" dirty="0"/>
          </a:p>
        </p:txBody>
      </p:sp>
      <p:sp>
        <p:nvSpPr>
          <p:cNvPr id="11" name="Text 8"/>
          <p:cNvSpPr/>
          <p:nvPr/>
        </p:nvSpPr>
        <p:spPr>
          <a:xfrm>
            <a:off x="877824" y="5175504"/>
            <a:ext cx="2101520"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売上比2.0%。費用最大項目</a:t>
            </a:r>
            <a:endParaRPr lang="en-US" sz="850" dirty="0"/>
          </a:p>
        </p:txBody>
      </p:sp>
      <p:sp>
        <p:nvSpPr>
          <p:cNvPr id="12" name="Shape 9"/>
          <p:cNvSpPr/>
          <p:nvPr/>
        </p:nvSpPr>
        <p:spPr>
          <a:xfrm>
            <a:off x="3436544" y="4443984"/>
            <a:ext cx="2540432" cy="1060704"/>
          </a:xfrm>
          <a:prstGeom prst="roundRect">
            <a:avLst>
              <a:gd name="adj" fmla="val 3879"/>
            </a:avLst>
          </a:prstGeom>
          <a:solidFill>
            <a:srgbClr val="1F1D19"/>
          </a:solidFill>
          <a:ln w="9525">
            <a:solidFill>
              <a:srgbClr val="6E5730"/>
            </a:solidFill>
            <a:prstDash val="solid"/>
          </a:ln>
        </p:spPr>
      </p:sp>
      <p:sp>
        <p:nvSpPr>
          <p:cNvPr id="13" name="Text 10"/>
          <p:cNvSpPr/>
          <p:nvPr/>
        </p:nvSpPr>
        <p:spPr>
          <a:xfrm>
            <a:off x="3656000" y="4553712"/>
            <a:ext cx="2101520" cy="38404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11.6</a:t>
            </a:r>
            <a:pPr indent="0" marL="0">
              <a:buNone/>
            </a:pPr>
            <a:r>
              <a:rPr lang="en-US" sz="1100" b="1" dirty="0">
                <a:solidFill>
                  <a:srgbClr val="C9A96E"/>
                </a:solidFill>
                <a:latin typeface="Yu Gothic" pitchFamily="34" charset="0"/>
                <a:ea typeface="Yu Gothic" pitchFamily="34" charset="-122"/>
                <a:cs typeface="Yu Gothic" pitchFamily="34" charset="-120"/>
              </a:rPr>
              <a:t> 百万円</a:t>
            </a:r>
            <a:endParaRPr lang="en-US" sz="2400" dirty="0"/>
          </a:p>
        </p:txBody>
      </p:sp>
      <p:sp>
        <p:nvSpPr>
          <p:cNvPr id="14" name="Text 11"/>
          <p:cNvSpPr/>
          <p:nvPr/>
        </p:nvSpPr>
        <p:spPr>
          <a:xfrm>
            <a:off x="3656000" y="4956048"/>
            <a:ext cx="2101520"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SPC固定費</a:t>
            </a:r>
            <a:endParaRPr lang="en-US" sz="1050" dirty="0"/>
          </a:p>
        </p:txBody>
      </p:sp>
      <p:sp>
        <p:nvSpPr>
          <p:cNvPr id="15" name="Text 12"/>
          <p:cNvSpPr/>
          <p:nvPr/>
        </p:nvSpPr>
        <p:spPr>
          <a:xfrm>
            <a:off x="3656000" y="5175504"/>
            <a:ext cx="2101520"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維持費800万＋人件費360万</a:t>
            </a:r>
            <a:endParaRPr lang="en-US" sz="850" dirty="0"/>
          </a:p>
        </p:txBody>
      </p:sp>
      <p:sp>
        <p:nvSpPr>
          <p:cNvPr id="16" name="Shape 13"/>
          <p:cNvSpPr/>
          <p:nvPr/>
        </p:nvSpPr>
        <p:spPr>
          <a:xfrm>
            <a:off x="6214720" y="4443984"/>
            <a:ext cx="2540432" cy="1060704"/>
          </a:xfrm>
          <a:prstGeom prst="roundRect">
            <a:avLst>
              <a:gd name="adj" fmla="val 3879"/>
            </a:avLst>
          </a:prstGeom>
          <a:solidFill>
            <a:srgbClr val="171614"/>
          </a:solidFill>
          <a:ln w="9525">
            <a:solidFill>
              <a:srgbClr val="2E2A24"/>
            </a:solidFill>
            <a:prstDash val="solid"/>
          </a:ln>
        </p:spPr>
      </p:sp>
      <p:sp>
        <p:nvSpPr>
          <p:cNvPr id="17" name="Text 14"/>
          <p:cNvSpPr/>
          <p:nvPr/>
        </p:nvSpPr>
        <p:spPr>
          <a:xfrm>
            <a:off x="6434176" y="4553712"/>
            <a:ext cx="2101520" cy="38404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6.3</a:t>
            </a:r>
            <a:pPr indent="0" marL="0">
              <a:buNone/>
            </a:pPr>
            <a:r>
              <a:rPr lang="en-US" sz="1100" b="1" dirty="0">
                <a:solidFill>
                  <a:srgbClr val="C9A96E"/>
                </a:solidFill>
                <a:latin typeface="Yu Gothic" pitchFamily="34" charset="0"/>
                <a:ea typeface="Yu Gothic" pitchFamily="34" charset="-122"/>
                <a:cs typeface="Yu Gothic" pitchFamily="34" charset="-120"/>
              </a:rPr>
              <a:t> 百万円</a:t>
            </a:r>
            <a:endParaRPr lang="en-US" sz="2400" dirty="0"/>
          </a:p>
        </p:txBody>
      </p:sp>
      <p:sp>
        <p:nvSpPr>
          <p:cNvPr id="18" name="Text 15"/>
          <p:cNvSpPr/>
          <p:nvPr/>
        </p:nvSpPr>
        <p:spPr>
          <a:xfrm>
            <a:off x="6434176" y="4956048"/>
            <a:ext cx="2101520"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保管・保険</a:t>
            </a:r>
            <a:endParaRPr lang="en-US" sz="1050" dirty="0"/>
          </a:p>
        </p:txBody>
      </p:sp>
      <p:sp>
        <p:nvSpPr>
          <p:cNvPr id="19" name="Text 16"/>
          <p:cNvSpPr/>
          <p:nvPr/>
        </p:nvSpPr>
        <p:spPr>
          <a:xfrm>
            <a:off x="6434176" y="5175504"/>
            <a:ext cx="2101520"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平均在庫850ロット相当</a:t>
            </a:r>
            <a:endParaRPr lang="en-US" sz="850" dirty="0"/>
          </a:p>
        </p:txBody>
      </p:sp>
      <p:sp>
        <p:nvSpPr>
          <p:cNvPr id="20" name="Shape 17"/>
          <p:cNvSpPr/>
          <p:nvPr/>
        </p:nvSpPr>
        <p:spPr>
          <a:xfrm>
            <a:off x="8992895" y="4443984"/>
            <a:ext cx="2540432" cy="1060704"/>
          </a:xfrm>
          <a:prstGeom prst="roundRect">
            <a:avLst>
              <a:gd name="adj" fmla="val 3879"/>
            </a:avLst>
          </a:prstGeom>
          <a:solidFill>
            <a:srgbClr val="171614"/>
          </a:solidFill>
          <a:ln w="9525">
            <a:solidFill>
              <a:srgbClr val="2E2A24"/>
            </a:solidFill>
            <a:prstDash val="solid"/>
          </a:ln>
        </p:spPr>
      </p:sp>
      <p:sp>
        <p:nvSpPr>
          <p:cNvPr id="21" name="Text 18"/>
          <p:cNvSpPr/>
          <p:nvPr/>
        </p:nvSpPr>
        <p:spPr>
          <a:xfrm>
            <a:off x="9212351" y="4553712"/>
            <a:ext cx="2101520" cy="384048"/>
          </a:xfrm>
          <a:prstGeom prst="rect">
            <a:avLst/>
          </a:prstGeom>
          <a:noFill/>
          <a:ln/>
        </p:spPr>
        <p:txBody>
          <a:bodyPr wrap="square" lIns="0" tIns="0" rIns="0" bIns="0" rtlCol="0" anchor="ctr"/>
          <a:lstStyle/>
          <a:p>
            <a:pPr indent="0" marL="0">
              <a:buNone/>
            </a:pPr>
            <a:r>
              <a:rPr lang="en-US" sz="2400" b="1" dirty="0">
                <a:solidFill>
                  <a:srgbClr val="C9A96E"/>
                </a:solidFill>
                <a:latin typeface="Cambria" pitchFamily="34" charset="0"/>
                <a:ea typeface="Cambria" pitchFamily="34" charset="-122"/>
                <a:cs typeface="Cambria" pitchFamily="34" charset="-120"/>
              </a:rPr>
              <a:t>6.3</a:t>
            </a:r>
            <a:pPr indent="0" marL="0">
              <a:buNone/>
            </a:pPr>
            <a:r>
              <a:rPr lang="en-US" sz="1100" b="1" dirty="0">
                <a:solidFill>
                  <a:srgbClr val="C9A96E"/>
                </a:solidFill>
                <a:latin typeface="Yu Gothic" pitchFamily="34" charset="0"/>
                <a:ea typeface="Yu Gothic" pitchFamily="34" charset="-122"/>
                <a:cs typeface="Yu Gothic" pitchFamily="34" charset="-120"/>
              </a:rPr>
              <a:t> 百万円</a:t>
            </a:r>
            <a:endParaRPr lang="en-US" sz="2400" dirty="0"/>
          </a:p>
        </p:txBody>
      </p:sp>
      <p:sp>
        <p:nvSpPr>
          <p:cNvPr id="22" name="Text 19"/>
          <p:cNvSpPr/>
          <p:nvPr/>
        </p:nvSpPr>
        <p:spPr>
          <a:xfrm>
            <a:off x="9212351" y="4956048"/>
            <a:ext cx="2101520"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決済・手数料・送料</a:t>
            </a:r>
            <a:endParaRPr lang="en-US" sz="1050" dirty="0"/>
          </a:p>
        </p:txBody>
      </p:sp>
      <p:sp>
        <p:nvSpPr>
          <p:cNvPr id="23" name="Text 20"/>
          <p:cNvSpPr/>
          <p:nvPr/>
        </p:nvSpPr>
        <p:spPr>
          <a:xfrm>
            <a:off x="9212351" y="5175504"/>
            <a:ext cx="2101520"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売上比1.0%</a:t>
            </a:r>
            <a:endParaRPr lang="en-US" sz="850" dirty="0"/>
          </a:p>
        </p:txBody>
      </p:sp>
      <p:sp>
        <p:nvSpPr>
          <p:cNvPr id="24" name="Text 21"/>
          <p:cNvSpPr/>
          <p:nvPr/>
        </p:nvSpPr>
        <p:spPr>
          <a:xfrm>
            <a:off x="658368" y="5669280"/>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上記はニュートラル・回転12ヶ月・稼働率85%における年間SPC費用（合計3,739万円）の内訳。その他の運用前提：稼働率85%（残15%は運転資金・解約準備として現金保有）／仕入展開6ヶ月／ローリング運用／利益はSPC内で複利再投資せず半期分配／税前利益を投資家50：WineBank50で折半／利回りは投資家の税引前ベース。</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SPC取得原価50.5・売値75・粗利24.5（粗利率32.7%）／投資枠5億円・稼働率85%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25880"/>
                <a:gridCol w="868680"/>
                <a:gridCol w="960120"/>
                <a:gridCol w="960120"/>
                <a:gridCol w="914400"/>
                <a:gridCol w="1133856"/>
                <a:gridCol w="1225296"/>
                <a:gridCol w="1051560"/>
                <a:gridCol w="1188720"/>
                <a:gridCol w="1243584"/>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投資家配当／年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3年通算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1.33回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8.42億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23.1%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17.0%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6.31億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13.1%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10.8%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0.67回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4.21億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10.7%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5.1%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71614"/>
          </a:solidFill>
          <a:ln w="9525">
            <a:solidFill>
              <a:srgbClr val="2E2A24"/>
            </a:solidFill>
            <a:prstDash val="solid"/>
          </a:ln>
        </p:spPr>
      </p:sp>
      <p:sp>
        <p:nvSpPr>
          <p:cNvPr id="9" name="Text 6"/>
          <p:cNvSpPr/>
          <p:nvPr/>
        </p:nvSpPr>
        <p:spPr>
          <a:xfrm>
            <a:off x="914400" y="3877056"/>
            <a:ext cx="27432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読み方</a:t>
            </a:r>
            <a:endParaRPr lang="en-US" sz="1200" dirty="0"/>
          </a:p>
        </p:txBody>
      </p:sp>
      <p:sp>
        <p:nvSpPr>
          <p:cNvPr id="10" name="Shape 7"/>
          <p:cNvSpPr/>
          <p:nvPr/>
        </p:nvSpPr>
        <p:spPr>
          <a:xfrm>
            <a:off x="914400" y="4201668"/>
            <a:ext cx="146304" cy="146304"/>
          </a:xfrm>
          <a:prstGeom prst="ellipse">
            <a:avLst/>
          </a:prstGeom>
          <a:solidFill>
            <a:srgbClr val="6E5730"/>
          </a:solidFill>
          <a:ln w="11430">
            <a:solidFill>
              <a:srgbClr val="6E5730"/>
            </a:solidFill>
            <a:prstDash val="solid"/>
          </a:ln>
        </p:spPr>
      </p:sp>
      <p:sp>
        <p:nvSpPr>
          <p:cNvPr id="11" name="Text 8"/>
          <p:cNvSpPr/>
          <p:nvPr/>
        </p:nvSpPr>
        <p:spPr>
          <a:xfrm>
            <a:off x="914400" y="4201668"/>
            <a:ext cx="146304" cy="146304"/>
          </a:xfrm>
          <a:prstGeom prst="rect">
            <a:avLst/>
          </a:prstGeom>
          <a:noFill/>
          <a:ln/>
        </p:spPr>
        <p:txBody>
          <a:bodyPr wrap="square" lIns="0" tIns="0" rIns="0" bIns="0" rtlCol="0" anchor="ctr"/>
          <a:lstStyle/>
          <a:p>
            <a:pPr algn="ctr" indent="0" marL="0">
              <a:buNone/>
            </a:pPr>
            <a:endParaRPr lang="en-US" sz="1100" dirty="0"/>
          </a:p>
        </p:txBody>
      </p:sp>
      <p:sp>
        <p:nvSpPr>
          <p:cNvPr id="12" name="Text 9"/>
          <p:cNvSpPr/>
          <p:nvPr/>
        </p:nvSpPr>
        <p:spPr>
          <a:xfrm>
            <a:off x="1170432" y="4151376"/>
            <a:ext cx="4800600" cy="329184"/>
          </a:xfrm>
          <a:prstGeom prst="rect">
            <a:avLst/>
          </a:prstGeom>
          <a:noFill/>
          <a:ln/>
        </p:spPr>
        <p:txBody>
          <a:bodyPr wrap="square" lIns="0" tIns="0" rIns="0" bIns="0" rtlCol="0" anchor="ctr"/>
          <a:lstStyle/>
          <a:p>
            <a:pPr indent="0" marL="0">
              <a:lnSpc>
                <a:spcPct val="115000"/>
              </a:lnSpc>
              <a:buNone/>
            </a:pPr>
            <a:r>
              <a:rPr lang="en-US" sz="1000" dirty="0">
                <a:solidFill>
                  <a:srgbClr val="9A938A"/>
                </a:solidFill>
                <a:latin typeface="Yu Gothic" pitchFamily="34" charset="0"/>
                <a:ea typeface="Yu Gothic" pitchFamily="34" charset="-122"/>
                <a:cs typeface="Yu Gothic" pitchFamily="34" charset="-120"/>
              </a:rPr>
              <a:t>定常年間利回り＝運用が軌道に乗った後の年間実力値</a:t>
            </a:r>
            <a:endParaRPr lang="en-US" sz="1000" dirty="0"/>
          </a:p>
        </p:txBody>
      </p:sp>
      <p:sp>
        <p:nvSpPr>
          <p:cNvPr id="13" name="Shape 10"/>
          <p:cNvSpPr/>
          <p:nvPr/>
        </p:nvSpPr>
        <p:spPr>
          <a:xfrm>
            <a:off x="914400" y="4604004"/>
            <a:ext cx="146304" cy="146304"/>
          </a:xfrm>
          <a:prstGeom prst="ellipse">
            <a:avLst/>
          </a:prstGeom>
          <a:solidFill>
            <a:srgbClr val="6E5730"/>
          </a:solidFill>
          <a:ln w="11430">
            <a:solidFill>
              <a:srgbClr val="6E5730"/>
            </a:solidFill>
            <a:prstDash val="solid"/>
          </a:ln>
        </p:spPr>
      </p:sp>
      <p:sp>
        <p:nvSpPr>
          <p:cNvPr id="14" name="Text 11"/>
          <p:cNvSpPr/>
          <p:nvPr/>
        </p:nvSpPr>
        <p:spPr>
          <a:xfrm>
            <a:off x="914400" y="4604004"/>
            <a:ext cx="146304" cy="146304"/>
          </a:xfrm>
          <a:prstGeom prst="rect">
            <a:avLst/>
          </a:prstGeom>
          <a:noFill/>
          <a:ln/>
        </p:spPr>
        <p:txBody>
          <a:bodyPr wrap="square" lIns="0" tIns="0" rIns="0" bIns="0" rtlCol="0" anchor="ctr"/>
          <a:lstStyle/>
          <a:p>
            <a:pPr algn="ctr" indent="0" marL="0">
              <a:buNone/>
            </a:pPr>
            <a:endParaRPr lang="en-US" sz="1100" dirty="0"/>
          </a:p>
        </p:txBody>
      </p:sp>
      <p:sp>
        <p:nvSpPr>
          <p:cNvPr id="15" name="Text 12"/>
          <p:cNvSpPr/>
          <p:nvPr/>
        </p:nvSpPr>
        <p:spPr>
          <a:xfrm>
            <a:off x="1170432" y="4553712"/>
            <a:ext cx="4800600" cy="329184"/>
          </a:xfrm>
          <a:prstGeom prst="rect">
            <a:avLst/>
          </a:prstGeom>
          <a:noFill/>
          <a:ln/>
        </p:spPr>
        <p:txBody>
          <a:bodyPr wrap="square" lIns="0" tIns="0" rIns="0" bIns="0" rtlCol="0" anchor="ctr"/>
          <a:lstStyle/>
          <a:p>
            <a:pPr indent="0" marL="0">
              <a:lnSpc>
                <a:spcPct val="115000"/>
              </a:lnSpc>
              <a:buNone/>
            </a:pPr>
            <a:r>
              <a:rPr lang="en-US" sz="1000" dirty="0">
                <a:solidFill>
                  <a:srgbClr val="9A938A"/>
                </a:solidFill>
                <a:latin typeface="Yu Gothic" pitchFamily="34" charset="0"/>
                <a:ea typeface="Yu Gothic" pitchFamily="34" charset="-122"/>
                <a:cs typeface="Yu Gothic" pitchFamily="34" charset="-120"/>
              </a:rPr>
              <a:t>年平均利回り＝累計分配額÷出資額÷年数。仕入展開6ヶ月と満期前の清算期間を織り込んだ通算値</a:t>
            </a:r>
            <a:endParaRPr lang="en-US" sz="1000" dirty="0"/>
          </a:p>
        </p:txBody>
      </p:sp>
      <p:sp>
        <p:nvSpPr>
          <p:cNvPr id="16" name="Shape 13"/>
          <p:cNvSpPr/>
          <p:nvPr/>
        </p:nvSpPr>
        <p:spPr>
          <a:xfrm>
            <a:off x="914400" y="5006340"/>
            <a:ext cx="146304" cy="146304"/>
          </a:xfrm>
          <a:prstGeom prst="ellipse">
            <a:avLst/>
          </a:prstGeom>
          <a:solidFill>
            <a:srgbClr val="6E5730"/>
          </a:solidFill>
          <a:ln w="11430">
            <a:solidFill>
              <a:srgbClr val="6E5730"/>
            </a:solidFill>
            <a:prstDash val="solid"/>
          </a:ln>
        </p:spPr>
      </p:sp>
      <p:sp>
        <p:nvSpPr>
          <p:cNvPr id="17" name="Text 14"/>
          <p:cNvSpPr/>
          <p:nvPr/>
        </p:nvSpPr>
        <p:spPr>
          <a:xfrm>
            <a:off x="914400" y="5006340"/>
            <a:ext cx="146304" cy="146304"/>
          </a:xfrm>
          <a:prstGeom prst="rect">
            <a:avLst/>
          </a:prstGeom>
          <a:noFill/>
          <a:ln/>
        </p:spPr>
        <p:txBody>
          <a:bodyPr wrap="square" lIns="0" tIns="0" rIns="0" bIns="0" rtlCol="0" anchor="ctr"/>
          <a:lstStyle/>
          <a:p>
            <a:pPr algn="ctr" indent="0" marL="0">
              <a:buNone/>
            </a:pPr>
            <a:endParaRPr lang="en-US" sz="1100" dirty="0"/>
          </a:p>
        </p:txBody>
      </p:sp>
      <p:sp>
        <p:nvSpPr>
          <p:cNvPr id="18" name="Text 15"/>
          <p:cNvSpPr/>
          <p:nvPr/>
        </p:nvSpPr>
        <p:spPr>
          <a:xfrm>
            <a:off x="1170432" y="4956048"/>
            <a:ext cx="4800600" cy="329184"/>
          </a:xfrm>
          <a:prstGeom prst="rect">
            <a:avLst/>
          </a:prstGeom>
          <a:noFill/>
          <a:ln/>
        </p:spPr>
        <p:txBody>
          <a:bodyPr wrap="square" lIns="0" tIns="0" rIns="0" bIns="0" rtlCol="0" anchor="ctr"/>
          <a:lstStyle/>
          <a:p>
            <a:pPr indent="0" marL="0">
              <a:lnSpc>
                <a:spcPct val="115000"/>
              </a:lnSpc>
              <a:buNone/>
            </a:pPr>
            <a:r>
              <a:rPr lang="en-US" sz="1000" dirty="0">
                <a:solidFill>
                  <a:srgbClr val="9A938A"/>
                </a:solidFill>
                <a:latin typeface="Yu Gothic" pitchFamily="34" charset="0"/>
                <a:ea typeface="Yu Gothic" pitchFamily="34" charset="-122"/>
                <a:cs typeface="Yu Gothic" pitchFamily="34" charset="-120"/>
              </a:rPr>
              <a:t>回転期間が短いほど改善幅は加速（15→12ヶ月で＋3.8pt、12→9ヶ月で＋6.2pt）</a:t>
            </a:r>
            <a:endParaRPr lang="en-US" sz="1000" dirty="0"/>
          </a:p>
        </p:txBody>
      </p:sp>
      <p:sp>
        <p:nvSpPr>
          <p:cNvPr id="19" name="Shape 16"/>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0" name="Text 17"/>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1" name="Text 18"/>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定常年間利回り（税引前）</a:t>
            </a:r>
            <a:endParaRPr lang="en-US" sz="1050" dirty="0"/>
          </a:p>
        </p:txBody>
      </p:sp>
      <p:sp>
        <p:nvSpPr>
          <p:cNvPr id="22" name="Text 19"/>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16.9 – 23.1</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3" name="Text 20"/>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実務上の想定回転期間を9〜12ヶ月として提示する（3年通算の年平均利回りは11.1〜17.0%）。18ヶ月まで悪化すると定常利回りは10.7%まで低下するため、回転期間の管理が最大の運用課題となる。</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粗利率は前提として固定されるため、投資家リターンは実質的に在庫回転数の一次関数になる。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45920"/>
            <a:ext cx="3442106" cy="2487168"/>
          </a:xfrm>
          <a:prstGeom prst="roundRect">
            <a:avLst>
              <a:gd name="adj" fmla="val 1654"/>
            </a:avLst>
          </a:prstGeom>
          <a:solidFill>
            <a:srgbClr val="171614"/>
          </a:solidFill>
          <a:ln w="9525">
            <a:solidFill>
              <a:srgbClr val="2E2A24"/>
            </a:solidFill>
            <a:prstDash val="solid"/>
          </a:ln>
        </p:spPr>
      </p:sp>
      <p:graphicFrame>
        <p:nvGraphicFramePr>
          <p:cNvPr id="8" name="Chart 0" descr=""/>
          <p:cNvGraphicFramePr/>
          <p:nvPr/>
        </p:nvGraphicFramePr>
        <p:xfrm>
          <a:off x="749808" y="1737360"/>
          <a:ext cx="3259226" cy="2304288"/>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374794" y="1645920"/>
            <a:ext cx="3442106" cy="2487168"/>
          </a:xfrm>
          <a:prstGeom prst="roundRect">
            <a:avLst>
              <a:gd name="adj" fmla="val 1654"/>
            </a:avLst>
          </a:prstGeom>
          <a:solidFill>
            <a:srgbClr val="171614"/>
          </a:solidFill>
          <a:ln w="9525">
            <a:solidFill>
              <a:srgbClr val="2E2A24"/>
            </a:solidFill>
            <a:prstDash val="solid"/>
          </a:ln>
        </p:spPr>
      </p:sp>
      <p:graphicFrame>
        <p:nvGraphicFramePr>
          <p:cNvPr id="10" name="Chart 1" descr=""/>
          <p:cNvGraphicFramePr/>
          <p:nvPr/>
        </p:nvGraphicFramePr>
        <p:xfrm>
          <a:off x="4466234" y="1737360"/>
          <a:ext cx="3259226" cy="2304288"/>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8091221" y="1645920"/>
            <a:ext cx="3442106" cy="2487168"/>
          </a:xfrm>
          <a:prstGeom prst="roundRect">
            <a:avLst>
              <a:gd name="adj" fmla="val 1654"/>
            </a:avLst>
          </a:prstGeom>
          <a:solidFill>
            <a:srgbClr val="171614"/>
          </a:solidFill>
          <a:ln w="9525">
            <a:solidFill>
              <a:srgbClr val="2E2A24"/>
            </a:solidFill>
            <a:prstDash val="solid"/>
          </a:ln>
        </p:spPr>
      </p:sp>
      <p:graphicFrame>
        <p:nvGraphicFramePr>
          <p:cNvPr id="12" name="Chart 2" descr=""/>
          <p:cNvGraphicFramePr/>
          <p:nvPr/>
        </p:nvGraphicFramePr>
        <p:xfrm>
          <a:off x="8182661" y="1737360"/>
          <a:ext cx="3259226" cy="2304288"/>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658368" y="4315968"/>
            <a:ext cx="5300320" cy="1225296"/>
          </a:xfrm>
          <a:prstGeom prst="roundRect">
            <a:avLst>
              <a:gd name="adj" fmla="val 3358"/>
            </a:avLst>
          </a:prstGeom>
          <a:solidFill>
            <a:srgbClr val="1F1D19"/>
          </a:solidFill>
          <a:ln w="9525">
            <a:solidFill>
              <a:srgbClr val="6E5730"/>
            </a:solidFill>
            <a:prstDash val="solid"/>
          </a:ln>
        </p:spPr>
      </p:sp>
      <p:sp>
        <p:nvSpPr>
          <p:cNvPr id="14" name="Text 9"/>
          <p:cNvSpPr/>
          <p:nvPr/>
        </p:nvSpPr>
        <p:spPr>
          <a:xfrm>
            <a:off x="914400" y="4480560"/>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回転期間がすべて</a:t>
            </a:r>
            <a:endParaRPr lang="en-US" sz="1200" dirty="0"/>
          </a:p>
        </p:txBody>
      </p:sp>
      <p:sp>
        <p:nvSpPr>
          <p:cNvPr id="15" name="Text 10"/>
          <p:cNvSpPr/>
          <p:nvPr/>
        </p:nvSpPr>
        <p:spPr>
          <a:xfrm>
            <a:off x="914400" y="4773168"/>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回転12ヶ月を1ヶ月短縮するごとに定常利回りは約1.5ポイント改善する。値引きや粗利率の微調整より、回転を上げる打ち手のほうが効く。</a:t>
            </a:r>
            <a:endParaRPr lang="en-US" sz="1000" dirty="0"/>
          </a:p>
        </p:txBody>
      </p:sp>
      <p:sp>
        <p:nvSpPr>
          <p:cNvPr id="16" name="Shape 11"/>
          <p:cNvSpPr/>
          <p:nvPr/>
        </p:nvSpPr>
        <p:spPr>
          <a:xfrm>
            <a:off x="6233008" y="4315968"/>
            <a:ext cx="5300320" cy="1225296"/>
          </a:xfrm>
          <a:prstGeom prst="roundRect">
            <a:avLst>
              <a:gd name="adj" fmla="val 3358"/>
            </a:avLst>
          </a:prstGeom>
          <a:solidFill>
            <a:srgbClr val="171614"/>
          </a:solidFill>
          <a:ln w="9525">
            <a:solidFill>
              <a:srgbClr val="2E2A24"/>
            </a:solidFill>
            <a:prstDash val="solid"/>
          </a:ln>
        </p:spPr>
      </p:sp>
      <p:sp>
        <p:nvSpPr>
          <p:cNvPr id="17" name="Text 12"/>
          <p:cNvSpPr/>
          <p:nvPr/>
        </p:nvSpPr>
        <p:spPr>
          <a:xfrm>
            <a:off x="6489040" y="4480560"/>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18ヶ月×3年満期は不整合</a:t>
            </a:r>
            <a:endParaRPr lang="en-US" sz="1200" dirty="0"/>
          </a:p>
        </p:txBody>
      </p:sp>
      <p:sp>
        <p:nvSpPr>
          <p:cNvPr id="18" name="Text 13"/>
          <p:cNvSpPr/>
          <p:nvPr/>
        </p:nvSpPr>
        <p:spPr>
          <a:xfrm>
            <a:off x="6489040" y="4773168"/>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展開6ヶ月＋回転18ヶ月では3年間に1回転しかできず、資金が1年以上遊ぶ。回転期間15ヶ月以上を想定する場合は満期5年での設計が必要となる。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調達・販売チャネルの寄せ方で上振れし、値引き販売で下振れする。いずれも譲渡1%・人件費計上後の数値。</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Shape 5"/>
          <p:cNvSpPr/>
          <p:nvPr/>
        </p:nvSpPr>
        <p:spPr>
          <a:xfrm>
            <a:off x="658368" y="1645920"/>
            <a:ext cx="5300320" cy="2395728"/>
          </a:xfrm>
          <a:prstGeom prst="roundRect">
            <a:avLst>
              <a:gd name="adj" fmla="val 1718"/>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ポジティブ｜SPC取得原価40.4・売値80・粗利率49.5%</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年平均3年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11.22億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37.3%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8.42億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3.71億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2.93億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29.3%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39312"/>
            <a:ext cx="4788256" cy="310896"/>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インポーター直仕入の比率と自社EC・オークション販売の比率を引き上げることで到達。年間調達枠の確保が前提条件。</a:t>
            </a:r>
            <a:endParaRPr lang="en-US" sz="900" dirty="0"/>
          </a:p>
        </p:txBody>
      </p:sp>
      <p:sp>
        <p:nvSpPr>
          <p:cNvPr id="11" name="Shape 8"/>
          <p:cNvSpPr/>
          <p:nvPr/>
        </p:nvSpPr>
        <p:spPr>
          <a:xfrm>
            <a:off x="6233008" y="1645920"/>
            <a:ext cx="5300320" cy="2395728"/>
          </a:xfrm>
          <a:prstGeom prst="roundRect">
            <a:avLst>
              <a:gd name="adj" fmla="val 1718"/>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ネガティブ｜売値5%値引き・粗利率29.1%</a:t>
            </a:r>
            <a:endParaRPr lang="en-US" sz="11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年平均3年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1.90億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6.00億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4.00億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4.1%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39312"/>
            <a:ext cx="4788256" cy="310896"/>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売値5%（定価比3.75ポイント）の値引きで定常利回りは約3ポイント低下。粗利24.5に対しては15%のインパクトとなる。</a:t>
            </a:r>
            <a:endParaRPr lang="en-US" sz="900" dirty="0"/>
          </a:p>
        </p:txBody>
      </p:sp>
      <p:sp>
        <p:nvSpPr>
          <p:cNvPr id="15" name="Shape 11"/>
          <p:cNvSpPr/>
          <p:nvPr/>
        </p:nvSpPr>
        <p:spPr>
          <a:xfrm>
            <a:off x="658368" y="4224528"/>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38912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681728"/>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粗利を15%毀損し、失う利回り3.1ポイントを取り戻すには回転期間を12ヶ月から10ヶ月へ短縮する必要がある。価格を維持したまま販売チャネルを増やすことが本筋の改善手段となる。</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現物譲渡1%・SPC人件費360万円を反映した後の、運用が軌道に乗った後の年間実力値。</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回転9〜12ヶ月で定常利回り16.9〜23.1%（3年通算の年平均利回り11.1〜17.0%）。保守的な前提を積み上げた数値であり、交渉の出発点として提示する。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調達をインポーター直に寄せ、販売を自社チャネルに寄せれば、同じ回転期間で利回りは2倍以上になる。</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値引き5%を強いられても、回転9ヶ月を維持できれば定常利回り19.0%を確保できる。回転の維持が防衛線。</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ニュートラル・回転12ヶ月（定常利回り16.9%）を基準とした、各変数の単独変動による影響。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792224"/>
                <a:gridCol w="2084832"/>
                <a:gridCol w="2487168"/>
                <a:gridCol w="877824"/>
                <a:gridCol w="3630168"/>
              </a:tblGrid>
              <a:tr h="37490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定常利回りへの影響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16.9% → 10.7%（▲6.2pt）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販売チャネル多重化・売れ筋銘柄への集中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滞留・破損ロス率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売上比 2% → 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16.9% → 13.1%（▲3.8pt）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仕入時の銘柄選定基準を厳格化・全量付保</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85% → 70%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16.9% → 13.7%（▲3.2pt）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解約条項の設計と表裏。後述のトレードオフを参照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売値75 → 71.25（▲5%）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16.9% → 13.8%（▲3.1pt）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現物譲渡マージン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 → 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16.9% → 16.3%（▲0.6pt）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1%を上限として契約書に固定し、事後変更を認めない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360万円 → 720万円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16.9% → 16.5%（▲0.4pt）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固定額として契約書に明記し、規模拡大時も据え置き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7490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市中原価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16.9% → 23.6%（＋6.7pt）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846320"/>
            <a:ext cx="10874959" cy="786384"/>
          </a:xfrm>
          <a:prstGeom prst="roundRect">
            <a:avLst>
              <a:gd name="adj" fmla="val 5233"/>
            </a:avLst>
          </a:prstGeom>
          <a:solidFill>
            <a:srgbClr val="1F1D19"/>
          </a:solidFill>
          <a:ln w="9525">
            <a:solidFill>
              <a:srgbClr val="6E5730"/>
            </a:solidFill>
            <a:prstDash val="solid"/>
          </a:ln>
        </p:spPr>
      </p:sp>
      <p:sp>
        <p:nvSpPr>
          <p:cNvPr id="9" name="Text 6"/>
          <p:cNvSpPr/>
          <p:nvPr/>
        </p:nvSpPr>
        <p:spPr>
          <a:xfrm>
            <a:off x="932688" y="4974336"/>
            <a:ext cx="10326319" cy="530352"/>
          </a:xfrm>
          <a:prstGeom prst="rect">
            <a:avLst/>
          </a:prstGeom>
          <a:noFill/>
          <a:ln/>
        </p:spPr>
        <p:txBody>
          <a:bodyPr wrap="square" lIns="0" tIns="0" rIns="0" bIns="0" rtlCol="0" anchor="ctr"/>
          <a:lstStyle/>
          <a:p>
            <a:pPr indent="0" marL="0">
              <a:lnSpc>
                <a:spcPct val="125000"/>
              </a:lnSpc>
              <a:buNone/>
            </a:pPr>
            <a:r>
              <a:rPr lang="en-US" sz="1150" dirty="0">
                <a:solidFill>
                  <a:srgbClr val="EFEBE3"/>
                </a:solidFill>
                <a:latin typeface="Yu Gothic" pitchFamily="34" charset="0"/>
                <a:ea typeface="Yu Gothic" pitchFamily="34" charset="-122"/>
                <a:cs typeface="Yu Gothic" pitchFamily="34" charset="-120"/>
              </a:rPr>
              <a:t>結論：リターン改善の打ち手は「回転期間の短縮」と「仕入価格の引き下げ」の2つに集約される。今回追加した譲渡1%・人件費360万円は、いずれも合計1.0ポイント程度の影響にとどまり、スキームの成否を左右する変数ではない。</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6" name="Shape 4"/>
          <p:cNvSpPr/>
          <p:nvPr/>
        </p:nvSpPr>
        <p:spPr>
          <a:xfrm>
            <a:off x="658368" y="1499616"/>
            <a:ext cx="2526716" cy="1901952"/>
          </a:xfrm>
          <a:prstGeom prst="roundRect">
            <a:avLst>
              <a:gd name="adj" fmla="val 2163"/>
            </a:avLst>
          </a:prstGeom>
          <a:solidFill>
            <a:srgbClr val="171614"/>
          </a:solidFill>
          <a:ln w="9525">
            <a:solidFill>
              <a:srgbClr val="2E2A24"/>
            </a:solidFill>
            <a:prstDash val="solid"/>
          </a:ln>
        </p:spPr>
      </p:sp>
      <p:sp>
        <p:nvSpPr>
          <p:cNvPr id="7" name="Text 5"/>
          <p:cNvSpPr/>
          <p:nvPr/>
        </p:nvSpPr>
        <p:spPr>
          <a:xfrm>
            <a:off x="896112" y="1700784"/>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1993392"/>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32304"/>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a:t>
            </a:r>
            <a:endParaRPr lang="en-US" sz="950" dirty="0"/>
          </a:p>
        </p:txBody>
      </p:sp>
      <p:sp>
        <p:nvSpPr>
          <p:cNvPr id="10" name="Shape 8"/>
          <p:cNvSpPr/>
          <p:nvPr/>
        </p:nvSpPr>
        <p:spPr>
          <a:xfrm>
            <a:off x="3441116" y="1499616"/>
            <a:ext cx="2526716" cy="1901952"/>
          </a:xfrm>
          <a:prstGeom prst="roundRect">
            <a:avLst>
              <a:gd name="adj" fmla="val 2163"/>
            </a:avLst>
          </a:prstGeom>
          <a:solidFill>
            <a:srgbClr val="171614"/>
          </a:solidFill>
          <a:ln w="9525">
            <a:solidFill>
              <a:srgbClr val="2E2A24"/>
            </a:solidFill>
            <a:prstDash val="solid"/>
          </a:ln>
        </p:spPr>
      </p:sp>
      <p:sp>
        <p:nvSpPr>
          <p:cNvPr id="11" name="Text 9"/>
          <p:cNvSpPr/>
          <p:nvPr/>
        </p:nvSpPr>
        <p:spPr>
          <a:xfrm>
            <a:off x="3678860" y="1700784"/>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1993392"/>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a:t>
            </a:r>
            <a:endParaRPr lang="en-US" sz="950" dirty="0"/>
          </a:p>
        </p:txBody>
      </p:sp>
      <p:sp>
        <p:nvSpPr>
          <p:cNvPr id="13" name="Text 11"/>
          <p:cNvSpPr/>
          <p:nvPr/>
        </p:nvSpPr>
        <p:spPr>
          <a:xfrm>
            <a:off x="3678860" y="2432304"/>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短期回転モデルのため市況依存度は低い。値上がり益はリターンに一切算入していない。</a:t>
            </a:r>
            <a:endParaRPr lang="en-US" sz="950" dirty="0"/>
          </a:p>
        </p:txBody>
      </p:sp>
      <p:sp>
        <p:nvSpPr>
          <p:cNvPr id="14" name="Shape 12"/>
          <p:cNvSpPr/>
          <p:nvPr/>
        </p:nvSpPr>
        <p:spPr>
          <a:xfrm>
            <a:off x="6223864" y="1499616"/>
            <a:ext cx="2526716" cy="1901952"/>
          </a:xfrm>
          <a:prstGeom prst="roundRect">
            <a:avLst>
              <a:gd name="adj" fmla="val 2163"/>
            </a:avLst>
          </a:prstGeom>
          <a:solidFill>
            <a:srgbClr val="171614"/>
          </a:solidFill>
          <a:ln w="9525">
            <a:solidFill>
              <a:srgbClr val="2E2A24"/>
            </a:solidFill>
            <a:prstDash val="solid"/>
          </a:ln>
        </p:spPr>
      </p:sp>
      <p:sp>
        <p:nvSpPr>
          <p:cNvPr id="15" name="Text 13"/>
          <p:cNvSpPr/>
          <p:nvPr/>
        </p:nvSpPr>
        <p:spPr>
          <a:xfrm>
            <a:off x="6461608" y="1700784"/>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1993392"/>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32304"/>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常時15%を現金で保有。半期解約に応じる場合は稼働率が下がり利回りも下がる点を明示する。</a:t>
            </a:r>
            <a:endParaRPr lang="en-US" sz="950" dirty="0"/>
          </a:p>
        </p:txBody>
      </p:sp>
      <p:sp>
        <p:nvSpPr>
          <p:cNvPr id="18" name="Shape 16"/>
          <p:cNvSpPr/>
          <p:nvPr/>
        </p:nvSpPr>
        <p:spPr>
          <a:xfrm>
            <a:off x="9006611" y="1499616"/>
            <a:ext cx="2526716" cy="1901952"/>
          </a:xfrm>
          <a:prstGeom prst="roundRect">
            <a:avLst>
              <a:gd name="adj" fmla="val 2163"/>
            </a:avLst>
          </a:prstGeom>
          <a:solidFill>
            <a:srgbClr val="171614"/>
          </a:solidFill>
          <a:ln w="9525">
            <a:solidFill>
              <a:srgbClr val="2E2A24"/>
            </a:solidFill>
            <a:prstDash val="solid"/>
          </a:ln>
        </p:spPr>
      </p:sp>
      <p:sp>
        <p:nvSpPr>
          <p:cNvPr id="19" name="Text 17"/>
          <p:cNvSpPr/>
          <p:nvPr/>
        </p:nvSpPr>
        <p:spPr>
          <a:xfrm>
            <a:off x="9244355" y="1700784"/>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1993392"/>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32304"/>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584448"/>
            <a:ext cx="2526716" cy="1901952"/>
          </a:xfrm>
          <a:prstGeom prst="roundRect">
            <a:avLst>
              <a:gd name="adj" fmla="val 2163"/>
            </a:avLst>
          </a:prstGeom>
          <a:solidFill>
            <a:srgbClr val="171614"/>
          </a:solidFill>
          <a:ln w="9525">
            <a:solidFill>
              <a:srgbClr val="2E2A24"/>
            </a:solidFill>
            <a:prstDash val="solid"/>
          </a:ln>
        </p:spPr>
      </p:sp>
      <p:sp>
        <p:nvSpPr>
          <p:cNvPr id="23" name="Text 21"/>
          <p:cNvSpPr/>
          <p:nvPr/>
        </p:nvSpPr>
        <p:spPr>
          <a:xfrm>
            <a:off x="896112" y="378561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07822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517136"/>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専門定温倉庫での保管と全量付保。倉庫在庫は月次で第三者棚卸。</a:t>
            </a:r>
            <a:endParaRPr lang="en-US" sz="950" dirty="0"/>
          </a:p>
        </p:txBody>
      </p:sp>
      <p:sp>
        <p:nvSpPr>
          <p:cNvPr id="26" name="Shape 24"/>
          <p:cNvSpPr/>
          <p:nvPr/>
        </p:nvSpPr>
        <p:spPr>
          <a:xfrm>
            <a:off x="3441116" y="3584448"/>
            <a:ext cx="2526716" cy="1901952"/>
          </a:xfrm>
          <a:prstGeom prst="roundRect">
            <a:avLst>
              <a:gd name="adj" fmla="val 2163"/>
            </a:avLst>
          </a:prstGeom>
          <a:solidFill>
            <a:srgbClr val="171614"/>
          </a:solidFill>
          <a:ln w="9525">
            <a:solidFill>
              <a:srgbClr val="2E2A24"/>
            </a:solidFill>
            <a:prstDash val="solid"/>
          </a:ln>
        </p:spPr>
      </p:sp>
      <p:sp>
        <p:nvSpPr>
          <p:cNvPr id="27" name="Text 25"/>
          <p:cNvSpPr/>
          <p:nvPr/>
        </p:nvSpPr>
        <p:spPr>
          <a:xfrm>
            <a:off x="3678860" y="378561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07822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517136"/>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584448"/>
            <a:ext cx="2526716" cy="1901952"/>
          </a:xfrm>
          <a:prstGeom prst="roundRect">
            <a:avLst>
              <a:gd name="adj" fmla="val 2163"/>
            </a:avLst>
          </a:prstGeom>
          <a:solidFill>
            <a:srgbClr val="1F1D19"/>
          </a:solidFill>
          <a:ln w="9525">
            <a:solidFill>
              <a:srgbClr val="6E5730"/>
            </a:solidFill>
            <a:prstDash val="solid"/>
          </a:ln>
        </p:spPr>
      </p:sp>
      <p:sp>
        <p:nvSpPr>
          <p:cNvPr id="31" name="Text 29"/>
          <p:cNvSpPr/>
          <p:nvPr/>
        </p:nvSpPr>
        <p:spPr>
          <a:xfrm>
            <a:off x="6461608" y="3785616"/>
            <a:ext cx="205122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07822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517136"/>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584448"/>
            <a:ext cx="2526716" cy="1901952"/>
          </a:xfrm>
          <a:prstGeom prst="roundRect">
            <a:avLst>
              <a:gd name="adj" fmla="val 2163"/>
            </a:avLst>
          </a:prstGeom>
          <a:solidFill>
            <a:srgbClr val="1F1D19"/>
          </a:solidFill>
          <a:ln w="9525">
            <a:solidFill>
              <a:srgbClr val="6E5730"/>
            </a:solidFill>
            <a:prstDash val="solid"/>
          </a:ln>
        </p:spPr>
      </p:sp>
      <p:sp>
        <p:nvSpPr>
          <p:cNvPr id="35" name="Text 33"/>
          <p:cNvSpPr/>
          <p:nvPr/>
        </p:nvSpPr>
        <p:spPr>
          <a:xfrm>
            <a:off x="9244355" y="3785616"/>
            <a:ext cx="205122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07822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517136"/>
            <a:ext cx="2051228" cy="804672"/>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
        <p:nvSpPr>
          <p:cNvPr id="38" name="Text 36"/>
          <p:cNvSpPr/>
          <p:nvPr/>
        </p:nvSpPr>
        <p:spPr>
          <a:xfrm>
            <a:off x="658368" y="5705856"/>
            <a:ext cx="10874959" cy="237744"/>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網掛けの2件は、今回の改訂（免許・商流の整理と現物譲渡1%）に伴い新たに追加したリスク項目。</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481328"/>
          <a:ext cx="10874959" cy="914400"/>
        </p:xfrm>
        <a:graphic>
          <a:graphicData uri="http://schemas.openxmlformats.org/drawingml/2006/table">
            <a:tbl>
              <a:tblPr/>
              <a:tblGrid>
                <a:gridCol w="1920240"/>
                <a:gridCol w="4846320"/>
                <a:gridCol w="4105656"/>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組成形態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合同会社＋匿名組合（GK-TK）</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SPCレベルでは非課税、投資家側で課税</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募集総額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追加募集は半期ごとの受入日に実施</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運用期間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3年（回転15ヶ月超を想定する場合は5年）</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満期時に在庫を売却清算のうえ元本償還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現物の取得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WineBankが調達した現物をSPCへ譲渡（＋1%）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5億の場合、実商品原価4.95億＋譲渡マージン500万円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分配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半期ごと（税前利益を投資家50：WineBank50）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元本はSPC内に留保し継続運用</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SPC負担費用</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保管・物流・手数料・ロス・維持費800万・人件費360万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これ以外の管理報酬・成功報酬は課さない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想定リターン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定常年間利回り 16.9〜23.1%（回転12〜9ヶ月）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ニュートラル前提。3年通算の年平均利回りは11.1〜17.0%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中途解約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半期ごとの解約日に申出可（90日前通知）</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現金保有比率の引き上げが必要（下記参照）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元本の裏付け</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SPC名義のワイン現物および現金</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月次で在庫明細・簿価を報告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報告</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月次：在庫・売上／四半期：試算表／年次：監査済決算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会計監査人を設置</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7" name="Shape 4"/>
          <p:cNvSpPr/>
          <p:nvPr/>
        </p:nvSpPr>
        <p:spPr>
          <a:xfrm>
            <a:off x="658368" y="4956048"/>
            <a:ext cx="10874959" cy="1133856"/>
          </a:xfrm>
          <a:prstGeom prst="roundRect">
            <a:avLst>
              <a:gd name="adj" fmla="val 3629"/>
            </a:avLst>
          </a:prstGeom>
          <a:solidFill>
            <a:srgbClr val="1F1D19"/>
          </a:solidFill>
          <a:ln w="9525">
            <a:solidFill>
              <a:srgbClr val="6E5730"/>
            </a:solidFill>
            <a:prstDash val="solid"/>
          </a:ln>
        </p:spPr>
      </p:sp>
      <p:sp>
        <p:nvSpPr>
          <p:cNvPr id="8" name="Text 5"/>
          <p:cNvSpPr/>
          <p:nvPr/>
        </p:nvSpPr>
        <p:spPr>
          <a:xfrm>
            <a:off x="932688" y="5084064"/>
            <a:ext cx="45720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解約自由度と利回りのトレードオフ</a:t>
            </a:r>
            <a:endParaRPr lang="en-US" sz="1150" dirty="0"/>
          </a:p>
        </p:txBody>
      </p:sp>
      <p:sp>
        <p:nvSpPr>
          <p:cNvPr id="9" name="Text 6"/>
          <p:cNvSpPr/>
          <p:nvPr/>
        </p:nvSpPr>
        <p:spPr>
          <a:xfrm>
            <a:off x="932688" y="5340096"/>
            <a:ext cx="10326319" cy="621792"/>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半期解約に応じるには常時1〜3割を現金または即時換金可能な在庫で保有する必要があり、その分だけ稼働率が下がる。稼働率85%→70%で定常年間利回りは16.9%→13.7%、3年通算の年平均利回りは11.1%→8.9%に低下する。解約条件はご要望に合わせて設計するが、利回りとの両立が難しい点を事前に共有したい。</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GK-TKの組成、契約書一式（匿名組合契約・業務委託契約・売買基本契約）の作成、会計監査人の選定。</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半期の受入日に合わせて着金、運用開始。月次で在庫明細・簿価を報告する。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出資金は常にワイン現物と現金として存在する。SPC名義で保有し倒産隔離。値上がり益はリターンに一切算入していない。</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相場ではなく流通の価格差から収益を得る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Liv-ex市況の上下ではなく、40〜60で仕入れ70〜80で売る価格差が収益源。市況が横ばいでも成立し、株式・債券との相関が低い。</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出口を自社で複数持っている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酒販店卸・自社EC（楽天／Yahoo／寺田）・WineBank Auction・CLUB会員・グループのアピシウス。回転期間を自力で短縮できる構造。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期中報酬も成功報酬も取らず、報酬は利益の折半のみ。投資家が儲からなければWineBankも儲からない。1号ファンド（2022年〜）の運営実績あり。</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定常年間利回りが20%に到達するのは在庫回転10.3ヶ月。回転9ヶ月なら23.1%、12ヶ月で16.9%。</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回転10ヶ月前後が貴社基準との分岐点。ここを運用KPIとして四半期報告する。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半期受入・半期解約に対して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半期分配・半期受入日の設計で貴社の運用サイクルと整合。</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ただし解約に応じる分だけ現金比率が上がり利回りは下がる（稼働率85%→70%で16.9%→13.7%）。解約枠の上限設定をご相談したい。</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伝統的資産と相関の低い実物資産。既存30億円のポートフォリオに対し5億円は約17%。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単一銘柄ではなく数千本・複数産地への分散となり、ポートフォリオ内での分散効果が働く。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2026-08-11T13:35:18Z</dcterms:created>
  <dcterms:modified xsi:type="dcterms:W3CDTF">2026-08-11T13:35:18Z</dcterms:modified>
</cp:coreProperties>
</file>