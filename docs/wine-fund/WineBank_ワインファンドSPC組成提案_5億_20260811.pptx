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投資家利回り（定常年間・％）</a:t>
            </a:r>
          </a:p>
        </c:rich>
      </c:tx>
      <c:layout/>
      <c:overlay val="0"/>
    </c:title>
    <c:autoTitleDeleted val="0"/>
    <c:plotArea>
      <c:layout/>
      <c:barChart>
        <c:barDir val="col"/>
        <c:grouping val="clustered"/>
        <c:varyColors val="0"/>
        <c:ser>
          <c:idx val="0"/>
          <c:order val="0"/>
          <c:tx>
            <c:strRef>
              <c:f>Sheet1!$B$1</c:f>
              <c:strCache>
                <c:ptCount val="1"/>
                <c:pt idx="0">
                  <c:v>投資家利回り</c:v>
                </c:pt>
              </c:strCache>
            </c:strRef>
          </c:tx>
          <c:spPr>
            <a:solidFill>
              <a:srgbClr val="A7845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45.2</c:v>
                </c:pt>
                <c:pt idx="1">
                  <c:v>35</c:v>
                </c:pt>
                <c:pt idx="2">
                  <c:v>28.9</c:v>
                </c:pt>
                <c:pt idx="3">
                  <c:v>24.8</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52"/>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plotVisOnly val="1"/>
    <c:dispBlanksAs val="span"/>
  </c:chart>
  <c:spPr>
    <a:solidFill>
      <a:srgbClr val="171614"/>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投資家 年平均利回り（5年通算・％）</a:t>
            </a:r>
          </a:p>
        </c:rich>
      </c:tx>
      <c:layout/>
      <c:overlay val="0"/>
    </c:title>
    <c:autoTitleDeleted val="0"/>
    <c:plotArea>
      <c:layout/>
      <c:barChart>
        <c:barDir val="col"/>
        <c:grouping val="clustered"/>
        <c:varyColors val="0"/>
        <c:ser>
          <c:idx val="0"/>
          <c:order val="0"/>
          <c:tx>
            <c:strRef>
              <c:f>Sheet1!$B$1</c:f>
              <c:strCache>
                <c:ptCount val="1"/>
                <c:pt idx="0">
                  <c:v>投資家 年平均利回り</c:v>
                </c:pt>
              </c:strCache>
            </c:strRef>
          </c:tx>
          <c:spPr>
            <a:solidFill>
              <a:srgbClr val="6E573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40.6</c:v>
                </c:pt>
                <c:pt idx="1">
                  <c:v>27.9</c:v>
                </c:pt>
                <c:pt idx="2">
                  <c:v>21.5</c:v>
                </c:pt>
                <c:pt idx="3">
                  <c:v>22.2</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46"/>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plotVisOnly val="1"/>
    <c:dispBlanksAs val="span"/>
  </c:chart>
  <c:spPr>
    <a:solidFill>
      <a:srgbClr val="171614"/>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在庫回転期間別 投資家利回り（％）</a:t>
            </a:r>
          </a:p>
        </c:rich>
      </c:tx>
      <c:layout/>
      <c:overlay val="0"/>
    </c:title>
    <c:autoTitleDeleted val="0"/>
    <c:plotArea>
      <c:layout/>
      <c:barChart>
        <c:barDir val="col"/>
        <c:grouping val="clustered"/>
        <c:varyColors val="0"/>
        <c:ser>
          <c:idx val="0"/>
          <c:order val="0"/>
          <c:tx>
            <c:strRef>
              <c:f>Sheet1!$B$1</c:f>
              <c:strCache>
                <c:ptCount val="1"/>
                <c:pt idx="0">
                  <c:v>ポジティブ</c:v>
                </c:pt>
              </c:strCache>
            </c:strRef>
          </c:tx>
          <c:spPr>
            <a:solidFill>
              <a:srgbClr val="C9A96E"/>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85.6</c:v>
                </c:pt>
                <c:pt idx="1">
                  <c:v>65.6</c:v>
                </c:pt>
                <c:pt idx="2">
                  <c:v>53.7</c:v>
                </c:pt>
                <c:pt idx="3">
                  <c:v>45.8</c:v>
                </c:pt>
              </c:numCache>
            </c:numRef>
          </c:val>
        </c:ser>
        <c:ser>
          <c:idx val="1"/>
          <c:order val="1"/>
          <c:tx>
            <c:strRef>
              <c:f>Sheet1!$C$1</c:f>
              <c:strCache>
                <c:ptCount val="1"/>
                <c:pt idx="0">
                  <c:v>ニュートラル（主線）</c:v>
                </c:pt>
              </c:strCache>
            </c:strRef>
          </c:tx>
          <c:spPr>
            <a:solidFill>
              <a:srgbClr val="A7845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Sheet1!$C$2:$C$5</c:f>
              <c:numCache>
                <c:formatCode>General</c:formatCode>
                <c:ptCount val="4"/>
                <c:pt idx="0">
                  <c:v>45.2</c:v>
                </c:pt>
                <c:pt idx="1">
                  <c:v>35</c:v>
                </c:pt>
                <c:pt idx="2">
                  <c:v>28.9</c:v>
                </c:pt>
                <c:pt idx="3">
                  <c:v>24.8</c:v>
                </c:pt>
              </c:numCache>
            </c:numRef>
          </c:val>
        </c:ser>
        <c:ser>
          <c:idx val="2"/>
          <c:order val="2"/>
          <c:tx>
            <c:strRef>
              <c:f>Sheet1!$D$1</c:f>
              <c:strCache>
                <c:ptCount val="1"/>
                <c:pt idx="0">
                  <c:v>ネガティブ</c:v>
                </c:pt>
              </c:strCache>
            </c:strRef>
          </c:tx>
          <c:spPr>
            <a:solidFill>
              <a:srgbClr val="6E573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Sheet1!$D$2:$D$5</c:f>
              <c:numCache>
                <c:formatCode>General</c:formatCode>
                <c:ptCount val="4"/>
                <c:pt idx="0">
                  <c:v>31.3</c:v>
                </c:pt>
                <c:pt idx="1">
                  <c:v>22.9</c:v>
                </c:pt>
                <c:pt idx="2">
                  <c:v>17.8</c:v>
                </c:pt>
                <c:pt idx="3">
                  <c:v>14.5</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96"/>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legend>
      <c:legendPos val="b"/>
      <c:overlay val="0"/>
      <c:txPr>
        <a:bodyPr/>
        <a:lstStyle/>
        <a:p>
          <a:pPr>
            <a:defRPr sz="950">
              <a:solidFill>
                <a:srgbClr val="9A938A"/>
              </a:solidFill>
              <a:latin typeface="Yu Gothic"/>
              <a:cs typeface="Yu Gothic"/>
            </a:defRPr>
          </a:pPr>
          <a:endParaRPr lang="en-US"/>
        </a:p>
      </c:txPr>
    </c:legend>
    <c:plotVisOnly val="1"/>
    <c:dispBlanksAs val="span"/>
  </c:chart>
  <c:spPr>
    <a:solidFill>
      <a:srgbClr val="171614"/>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5億円・運用期間5年のワインファンド組成提案。実物ワインの流通価格差を収益源とする現物裏付け型。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骨子。主線は回転9〜12ヶ月で定常年間利回り17.1〜23.3%、5年通算の年平均利回り13.7〜20.9%。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投資家60：WineBank40の按分。デット金利はWineBank負担。合成利回り19.1%の注意点も明記。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回転12ヶ月＝年間7.48億円。組入銘柄の選定が最大の手段。重複銘柄はプロラタ＋SPC優先。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免許事業者であるWineBankが売買当事者。SPCは所有者として損益を受ける。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免許・口座・割当の3つの壁があるため、WineBankが当事者となる。1%は独立企業間価格の最小値。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会社紹介資料17ページの流通価格構造を採用。値上がり年6%を保有期間ぶん売値に乗せる。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チャネル別の手取り比較。B2C 71.04 &gt; B2B 69.30。ただし回転を作るにはB2Bが必要。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粗利率30.0%と投下原価利益率47.3%は分母が違うだけ。利回りの源泉は後者。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保管料は業務用パレット保管の水準。ロスは保険でカバーするため未計上。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主線のレンジは定常年間利回り21.1〜27.2%。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回転期間が一次的にリターンを決める。5年満期により18ヶ月回転でも3回転可能。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値上がり効果は在庫に対するリターンなので回転期間によらず一定（約+6.6pt）。相殺ではなく底上げ。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値引きは割に合わない。チャネル増加が本筋。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3シナリオ比較。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20%割れは回転23.7ヶ月超。ネガティブ複合では13.5ヶ月が分岐点で想定レンジ内。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プロラタが原則。割り切れない部分でSPC優先。価格同一＋補填条項が金額面の担保。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高岡先生の指摘事項をそのまま条項化。AUPは50万円でSPC費用に計上済み。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免許・商流リスクと移転価格リスクを含む8項目。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運用期間5年・3年ロックアップ・年度解約。報告は四半期。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免許・税務の確定を第2ステップに置く。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意義は5点。先方基準20%に対しては回転10.4ヶ月が分岐点。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0C0C"/>
        </a:solidFill>
      </p:bgPr>
    </p:bg>
    <p:spTree>
      <p:nvGrpSpPr>
        <p:cNvPr id="1" name=""/>
        <p:cNvGrpSpPr/>
        <p:nvPr/>
      </p:nvGrpSpPr>
      <p:grpSpPr>
        <a:xfrm>
          <a:off x="0" y="0"/>
          <a:ext cx="0" cy="0"/>
          <a:chOff x="0" y="0"/>
          <a:chExt cx="0" cy="0"/>
        </a:xfrm>
      </p:grpSpPr>
      <p:sp>
        <p:nvSpPr>
          <p:cNvPr id="2" name="Shape 0"/>
          <p:cNvSpPr/>
          <p:nvPr/>
        </p:nvSpPr>
        <p:spPr>
          <a:xfrm>
            <a:off x="7818120" y="-868680"/>
            <a:ext cx="5577840" cy="5577840"/>
          </a:xfrm>
          <a:prstGeom prst="ellipse">
            <a:avLst/>
          </a:prstGeom>
          <a:solidFill>
            <a:srgbClr val="0C0C0C"/>
          </a:solidFill>
          <a:ln w="13970">
            <a:solidFill>
              <a:srgbClr val="1E1A15"/>
            </a:solidFill>
            <a:prstDash val="solid"/>
          </a:ln>
        </p:spPr>
      </p:sp>
      <p:sp>
        <p:nvSpPr>
          <p:cNvPr id="3" name="Shape 1"/>
          <p:cNvSpPr/>
          <p:nvPr/>
        </p:nvSpPr>
        <p:spPr>
          <a:xfrm>
            <a:off x="8732520" y="45720"/>
            <a:ext cx="3749040" cy="3749040"/>
          </a:xfrm>
          <a:prstGeom prst="ellipse">
            <a:avLst/>
          </a:prstGeom>
          <a:solidFill>
            <a:srgbClr val="0C0C0C"/>
          </a:solidFill>
          <a:ln w="11430">
            <a:solidFill>
              <a:srgbClr val="6E5730"/>
            </a:solidFill>
            <a:prstDash val="solid"/>
          </a:ln>
        </p:spPr>
      </p:sp>
      <p:sp>
        <p:nvSpPr>
          <p:cNvPr id="4" name="Shape 2"/>
          <p:cNvSpPr/>
          <p:nvPr/>
        </p:nvSpPr>
        <p:spPr>
          <a:xfrm>
            <a:off x="10287000" y="1600200"/>
            <a:ext cx="640080" cy="640080"/>
          </a:xfrm>
          <a:prstGeom prst="ellipse">
            <a:avLst/>
          </a:prstGeom>
          <a:solidFill>
            <a:srgbClr val="A78450"/>
          </a:solidFill>
          <a:ln w="12700">
            <a:solidFill>
              <a:srgbClr val="A78450"/>
            </a:solidFill>
            <a:prstDash val="solid"/>
          </a:ln>
        </p:spPr>
      </p:sp>
      <p:sp>
        <p:nvSpPr>
          <p:cNvPr id="5" name="Text 3"/>
          <p:cNvSpPr/>
          <p:nvPr/>
        </p:nvSpPr>
        <p:spPr>
          <a:xfrm>
            <a:off x="658368" y="566928"/>
            <a:ext cx="5486400" cy="274320"/>
          </a:xfrm>
          <a:prstGeom prst="rect">
            <a:avLst/>
          </a:prstGeom>
          <a:noFill/>
          <a:ln/>
        </p:spPr>
        <p:txBody>
          <a:bodyPr wrap="square" lIns="0" tIns="0" rIns="0" bIns="0" rtlCol="0" anchor="ctr"/>
          <a:lstStyle/>
          <a:p>
            <a:pPr indent="0" marL="0">
              <a:buNone/>
            </a:pPr>
            <a:r>
              <a:rPr lang="en-US" sz="1300" b="1" spc="550" kern="0" dirty="0">
                <a:solidFill>
                  <a:srgbClr val="EFEBE3"/>
                </a:solidFill>
                <a:latin typeface="Cambria" pitchFamily="34" charset="0"/>
                <a:ea typeface="Cambria" pitchFamily="34" charset="-122"/>
                <a:cs typeface="Cambria" pitchFamily="34" charset="-120"/>
              </a:rPr>
              <a:t>WINEBANK</a:t>
            </a:r>
            <a:endParaRPr lang="en-US" sz="1300" dirty="0"/>
          </a:p>
        </p:txBody>
      </p:sp>
      <p:sp>
        <p:nvSpPr>
          <p:cNvPr id="6" name="Text 4"/>
          <p:cNvSpPr/>
          <p:nvPr/>
        </p:nvSpPr>
        <p:spPr>
          <a:xfrm>
            <a:off x="658368" y="2212848"/>
            <a:ext cx="7680960" cy="256032"/>
          </a:xfrm>
          <a:prstGeom prst="rect">
            <a:avLst/>
          </a:prstGeom>
          <a:noFill/>
          <a:ln/>
        </p:spPr>
        <p:txBody>
          <a:bodyPr wrap="square" lIns="0" tIns="0" rIns="0" bIns="0" rtlCol="0" anchor="ctr"/>
          <a:lstStyle/>
          <a:p>
            <a:pPr indent="0" marL="0">
              <a:buNone/>
            </a:pPr>
            <a:r>
              <a:rPr lang="en-US" sz="1100" b="1" spc="360" kern="0" dirty="0">
                <a:solidFill>
                  <a:srgbClr val="A78450"/>
                </a:solidFill>
                <a:latin typeface="Cambria" pitchFamily="34" charset="0"/>
                <a:ea typeface="Cambria" pitchFamily="34" charset="-122"/>
                <a:cs typeface="Cambria" pitchFamily="34" charset="-120"/>
              </a:rPr>
              <a:t>WINE FUND ｜ SPC PROPOSAL</a:t>
            </a:r>
            <a:endParaRPr lang="en-US" sz="1100" dirty="0"/>
          </a:p>
        </p:txBody>
      </p:sp>
      <p:sp>
        <p:nvSpPr>
          <p:cNvPr id="7" name="Text 5"/>
          <p:cNvSpPr/>
          <p:nvPr/>
        </p:nvSpPr>
        <p:spPr>
          <a:xfrm>
            <a:off x="658368" y="2560320"/>
            <a:ext cx="7863840" cy="713232"/>
          </a:xfrm>
          <a:prstGeom prst="rect">
            <a:avLst/>
          </a:prstGeom>
          <a:noFill/>
          <a:ln/>
        </p:spPr>
        <p:txBody>
          <a:bodyPr wrap="square" lIns="0" tIns="0" rIns="0" bIns="0" rtlCol="0" anchor="ctr"/>
          <a:lstStyle/>
          <a:p>
            <a:pPr indent="0" marL="0">
              <a:buNone/>
            </a:pPr>
            <a:r>
              <a:rPr lang="en-US" sz="4100" b="1" dirty="0">
                <a:solidFill>
                  <a:srgbClr val="EFEBE3"/>
                </a:solidFill>
                <a:latin typeface="Yu Mincho" pitchFamily="34" charset="0"/>
                <a:ea typeface="Yu Mincho" pitchFamily="34" charset="-122"/>
                <a:cs typeface="Yu Mincho" pitchFamily="34" charset="-120"/>
              </a:rPr>
              <a:t>ワインファンド（SPC）</a:t>
            </a:r>
            <a:endParaRPr lang="en-US" sz="4100" dirty="0"/>
          </a:p>
        </p:txBody>
      </p:sp>
      <p:sp>
        <p:nvSpPr>
          <p:cNvPr id="8" name="Text 6"/>
          <p:cNvSpPr/>
          <p:nvPr/>
        </p:nvSpPr>
        <p:spPr>
          <a:xfrm>
            <a:off x="658368" y="3255264"/>
            <a:ext cx="7863840" cy="713232"/>
          </a:xfrm>
          <a:prstGeom prst="rect">
            <a:avLst/>
          </a:prstGeom>
          <a:noFill/>
          <a:ln/>
        </p:spPr>
        <p:txBody>
          <a:bodyPr wrap="square" lIns="0" tIns="0" rIns="0" bIns="0" rtlCol="0" anchor="ctr"/>
          <a:lstStyle/>
          <a:p>
            <a:pPr indent="0" marL="0">
              <a:buNone/>
            </a:pPr>
            <a:r>
              <a:rPr lang="en-US" sz="4100" b="1" dirty="0">
                <a:solidFill>
                  <a:srgbClr val="C9A96E"/>
                </a:solidFill>
                <a:latin typeface="Yu Mincho" pitchFamily="34" charset="0"/>
                <a:ea typeface="Yu Mincho" pitchFamily="34" charset="-122"/>
                <a:cs typeface="Yu Mincho" pitchFamily="34" charset="-120"/>
              </a:rPr>
              <a:t>組成のご提案</a:t>
            </a:r>
            <a:endParaRPr lang="en-US" sz="4100" dirty="0"/>
          </a:p>
        </p:txBody>
      </p:sp>
      <p:sp>
        <p:nvSpPr>
          <p:cNvPr id="9" name="Text 7"/>
          <p:cNvSpPr/>
          <p:nvPr/>
        </p:nvSpPr>
        <p:spPr>
          <a:xfrm>
            <a:off x="658368" y="4133088"/>
            <a:ext cx="8229600" cy="274320"/>
          </a:xfrm>
          <a:prstGeom prst="rect">
            <a:avLst/>
          </a:prstGeom>
          <a:noFill/>
          <a:ln/>
        </p:spPr>
        <p:txBody>
          <a:bodyPr wrap="square" lIns="0" tIns="0" rIns="0" bIns="0" rtlCol="0" anchor="ctr"/>
          <a:lstStyle/>
          <a:p>
            <a:pPr indent="0" marL="0">
              <a:buNone/>
            </a:pPr>
            <a:r>
              <a:rPr lang="en-US" sz="1250" dirty="0">
                <a:solidFill>
                  <a:srgbClr val="9A938A"/>
                </a:solidFill>
                <a:latin typeface="Yu Gothic" pitchFamily="34" charset="0"/>
                <a:ea typeface="Yu Gothic" pitchFamily="34" charset="-122"/>
                <a:cs typeface="Yu Gothic" pitchFamily="34" charset="-120"/>
              </a:rPr>
              <a:t>総額 5億円（デット2億＋エクイティ3億）／ 運用期間5年 ／ 半期分配</a:t>
            </a:r>
            <a:endParaRPr lang="en-US" sz="1250" dirty="0"/>
          </a:p>
        </p:txBody>
      </p:sp>
      <p:sp>
        <p:nvSpPr>
          <p:cNvPr id="10" name="Text 8"/>
          <p:cNvSpPr/>
          <p:nvPr/>
        </p:nvSpPr>
        <p:spPr>
          <a:xfrm>
            <a:off x="658368" y="4443984"/>
            <a:ext cx="8229600" cy="274320"/>
          </a:xfrm>
          <a:prstGeom prst="rect">
            <a:avLst/>
          </a:prstGeom>
          <a:noFill/>
          <a:ln/>
        </p:spPr>
        <p:txBody>
          <a:bodyPr wrap="square" lIns="0" tIns="0" rIns="0" bIns="0" rtlCol="0" anchor="ctr"/>
          <a:lstStyle/>
          <a:p>
            <a:pPr indent="0" marL="0">
              <a:buNone/>
            </a:pPr>
            <a:r>
              <a:rPr lang="en-US" sz="1050" dirty="0">
                <a:solidFill>
                  <a:srgbClr val="6E675E"/>
                </a:solidFill>
                <a:latin typeface="Yu Gothic" pitchFamily="34" charset="0"/>
                <a:ea typeface="Yu Gothic" pitchFamily="34" charset="-122"/>
                <a:cs typeface="Yu Gothic" pitchFamily="34" charset="-120"/>
              </a:rPr>
              <a:t>2026年8月</a:t>
            </a:r>
            <a:endParaRPr lang="en-US" sz="1050" dirty="0"/>
          </a:p>
        </p:txBody>
      </p:sp>
      <p:sp>
        <p:nvSpPr>
          <p:cNvPr id="11" name="Text 9"/>
          <p:cNvSpPr/>
          <p:nvPr/>
        </p:nvSpPr>
        <p:spPr>
          <a:xfrm>
            <a:off x="658368" y="5687568"/>
            <a:ext cx="5486400" cy="292608"/>
          </a:xfrm>
          <a:prstGeom prst="rect">
            <a:avLst/>
          </a:prstGeom>
          <a:noFill/>
          <a:ln/>
        </p:spPr>
        <p:txBody>
          <a:bodyPr wrap="square" lIns="0" tIns="0" rIns="0" bIns="0" rtlCol="0" anchor="ctr"/>
          <a:lstStyle/>
          <a:p>
            <a:pPr indent="0" marL="0">
              <a:buNone/>
            </a:pPr>
            <a:r>
              <a:rPr lang="en-US" sz="1500" b="1" dirty="0">
                <a:solidFill>
                  <a:srgbClr val="EFEBE3"/>
                </a:solidFill>
                <a:latin typeface="Yu Mincho" pitchFamily="34" charset="0"/>
                <a:ea typeface="Yu Mincho" pitchFamily="34" charset="-122"/>
                <a:cs typeface="Yu Mincho" pitchFamily="34" charset="-120"/>
              </a:rPr>
              <a:t>株式会社WineBank</a:t>
            </a:r>
            <a:endParaRPr lang="en-US" sz="1500" dirty="0"/>
          </a:p>
        </p:txBody>
      </p:sp>
      <p:sp>
        <p:nvSpPr>
          <p:cNvPr id="12" name="Text 10"/>
          <p:cNvSpPr/>
          <p:nvPr/>
        </p:nvSpPr>
        <p:spPr>
          <a:xfrm>
            <a:off x="658368" y="6016752"/>
            <a:ext cx="7315200" cy="256032"/>
          </a:xfrm>
          <a:prstGeom prst="rect">
            <a:avLst/>
          </a:prstGeom>
          <a:noFill/>
          <a:ln/>
        </p:spPr>
        <p:txBody>
          <a:bodyPr wrap="square" lIns="0" tIns="0" rIns="0" bIns="0" rtlCol="0" anchor="ctr"/>
          <a:lstStyle/>
          <a:p>
            <a:pPr indent="0" marL="0">
              <a:buNone/>
            </a:pPr>
            <a:r>
              <a:rPr lang="en-US" sz="950" dirty="0">
                <a:solidFill>
                  <a:srgbClr val="6E675E"/>
                </a:solidFill>
                <a:latin typeface="Yu Gothic" pitchFamily="34" charset="0"/>
                <a:ea typeface="Yu Gothic" pitchFamily="34" charset="-122"/>
                <a:cs typeface="Yu Gothic" pitchFamily="34" charset="-120"/>
              </a:rPr>
              <a:t>東京都港区六本木4-12-8 第6DMJビル 2階　／　創業 1970年</a:t>
            </a:r>
            <a:endParaRPr lang="en-US" sz="950" dirty="0"/>
          </a:p>
        </p:txBody>
      </p:sp>
      <p:sp>
        <p:nvSpPr>
          <p:cNvPr id="13" name="Text 11"/>
          <p:cNvSpPr/>
          <p:nvPr/>
        </p:nvSpPr>
        <p:spPr>
          <a:xfrm>
            <a:off x="8790127" y="6016752"/>
            <a:ext cx="2743200" cy="256032"/>
          </a:xfrm>
          <a:prstGeom prst="rect">
            <a:avLst/>
          </a:prstGeom>
          <a:noFill/>
          <a:ln/>
        </p:spPr>
        <p:txBody>
          <a:bodyPr wrap="square" lIns="0" tIns="0" rIns="0" bIns="0" rtlCol="0" anchor="ctr"/>
          <a:lstStyle/>
          <a:p>
            <a:pPr algn="r" indent="0" marL="0">
              <a:buNone/>
            </a:pPr>
            <a:r>
              <a:rPr lang="en-US" sz="950" b="1" spc="260" kern="0" dirty="0">
                <a:solidFill>
                  <a:srgbClr val="6E5730"/>
                </a:solidFill>
                <a:latin typeface="Cambria" pitchFamily="34" charset="0"/>
                <a:ea typeface="Cambria" pitchFamily="34" charset="-122"/>
                <a:cs typeface="Cambria" pitchFamily="34" charset="-120"/>
              </a:rPr>
              <a:t>CONFIDENTIAL</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EXECUTIVE SUMMARY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本ファンドの骨子</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実物ワインの流通価格差を収益源とする、現物裏付け型の短期回転ファンド。</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01</a:t>
            </a:r>
            <a:endParaRPr lang="en-US" sz="950" dirty="0"/>
          </a:p>
        </p:txBody>
      </p:sp>
      <p:sp>
        <p:nvSpPr>
          <p:cNvPr id="7" name="Shape 5"/>
          <p:cNvSpPr/>
          <p:nvPr/>
        </p:nvSpPr>
        <p:spPr>
          <a:xfrm>
            <a:off x="658368" y="1664208"/>
            <a:ext cx="2513000" cy="1481328"/>
          </a:xfrm>
          <a:prstGeom prst="roundRect">
            <a:avLst>
              <a:gd name="adj" fmla="val 2778"/>
            </a:avLst>
          </a:prstGeom>
          <a:solidFill>
            <a:srgbClr val="171614"/>
          </a:solidFill>
          <a:ln w="9525">
            <a:solidFill>
              <a:srgbClr val="2E2A24"/>
            </a:solidFill>
            <a:prstDash val="solid"/>
          </a:ln>
        </p:spPr>
      </p:sp>
      <p:sp>
        <p:nvSpPr>
          <p:cNvPr id="8" name="Text 6"/>
          <p:cNvSpPr/>
          <p:nvPr/>
        </p:nvSpPr>
        <p:spPr>
          <a:xfrm>
            <a:off x="89611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3</a:t>
            </a:r>
            <a:pPr indent="0" marL="0">
              <a:buNone/>
            </a:pPr>
            <a:r>
              <a:rPr lang="en-US" sz="1250" b="1" dirty="0">
                <a:solidFill>
                  <a:srgbClr val="C9A96E"/>
                </a:solidFill>
                <a:latin typeface="Yu Gothic" pitchFamily="34" charset="0"/>
                <a:ea typeface="Yu Gothic" pitchFamily="34" charset="-122"/>
                <a:cs typeface="Yu Gothic" pitchFamily="34" charset="-120"/>
              </a:rPr>
              <a:t> 億円</a:t>
            </a:r>
            <a:endParaRPr lang="en-US" sz="3400" dirty="0"/>
          </a:p>
        </p:txBody>
      </p:sp>
      <p:sp>
        <p:nvSpPr>
          <p:cNvPr id="9" name="Text 7"/>
          <p:cNvSpPr/>
          <p:nvPr/>
        </p:nvSpPr>
        <p:spPr>
          <a:xfrm>
            <a:off x="89611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投資家エクイティ</a:t>
            </a:r>
            <a:endParaRPr lang="en-US" sz="1100" dirty="0"/>
          </a:p>
        </p:txBody>
      </p:sp>
      <p:sp>
        <p:nvSpPr>
          <p:cNvPr id="10" name="Text 8"/>
          <p:cNvSpPr/>
          <p:nvPr/>
        </p:nvSpPr>
        <p:spPr>
          <a:xfrm>
            <a:off x="89611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SPC総額5億円（デット2億＋エクイティ3億）／運用期間5年</a:t>
            </a:r>
            <a:endParaRPr lang="en-US" sz="900" dirty="0"/>
          </a:p>
        </p:txBody>
      </p:sp>
      <p:sp>
        <p:nvSpPr>
          <p:cNvPr id="11" name="Shape 9"/>
          <p:cNvSpPr/>
          <p:nvPr/>
        </p:nvSpPr>
        <p:spPr>
          <a:xfrm>
            <a:off x="3445688" y="1664208"/>
            <a:ext cx="2513000" cy="1481328"/>
          </a:xfrm>
          <a:prstGeom prst="roundRect">
            <a:avLst>
              <a:gd name="adj" fmla="val 2778"/>
            </a:avLst>
          </a:prstGeom>
          <a:solidFill>
            <a:srgbClr val="171614"/>
          </a:solidFill>
          <a:ln w="9525">
            <a:solidFill>
              <a:srgbClr val="2E2A24"/>
            </a:solidFill>
            <a:prstDash val="solid"/>
          </a:ln>
        </p:spPr>
      </p:sp>
      <p:sp>
        <p:nvSpPr>
          <p:cNvPr id="12" name="Text 10"/>
          <p:cNvSpPr/>
          <p:nvPr/>
        </p:nvSpPr>
        <p:spPr>
          <a:xfrm>
            <a:off x="368343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12</a:t>
            </a:r>
            <a:pPr indent="0" marL="0">
              <a:buNone/>
            </a:pPr>
            <a:r>
              <a:rPr lang="en-US" sz="1250" b="1" dirty="0">
                <a:solidFill>
                  <a:srgbClr val="C9A96E"/>
                </a:solidFill>
                <a:latin typeface="Yu Gothic" pitchFamily="34" charset="0"/>
                <a:ea typeface="Yu Gothic" pitchFamily="34" charset="-122"/>
                <a:cs typeface="Yu Gothic" pitchFamily="34" charset="-120"/>
              </a:rPr>
              <a:t> ヶ月</a:t>
            </a:r>
            <a:endParaRPr lang="en-US" sz="3400" dirty="0"/>
          </a:p>
        </p:txBody>
      </p:sp>
      <p:sp>
        <p:nvSpPr>
          <p:cNvPr id="13" name="Text 11"/>
          <p:cNvSpPr/>
          <p:nvPr/>
        </p:nvSpPr>
        <p:spPr>
          <a:xfrm>
            <a:off x="368343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在庫回転期間（主線）</a:t>
            </a:r>
            <a:endParaRPr lang="en-US" sz="1100" dirty="0"/>
          </a:p>
        </p:txBody>
      </p:sp>
      <p:sp>
        <p:nvSpPr>
          <p:cNvPr id="14" name="Text 12"/>
          <p:cNvSpPr/>
          <p:nvPr/>
        </p:nvSpPr>
        <p:spPr>
          <a:xfrm>
            <a:off x="368343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最短9ヶ月、延びても15〜18ヶ月を想定レンジとする</a:t>
            </a:r>
            <a:endParaRPr lang="en-US" sz="900" dirty="0"/>
          </a:p>
        </p:txBody>
      </p:sp>
      <p:sp>
        <p:nvSpPr>
          <p:cNvPr id="15" name="Shape 13"/>
          <p:cNvSpPr/>
          <p:nvPr/>
        </p:nvSpPr>
        <p:spPr>
          <a:xfrm>
            <a:off x="6233008" y="1664208"/>
            <a:ext cx="2513000" cy="1481328"/>
          </a:xfrm>
          <a:prstGeom prst="roundRect">
            <a:avLst>
              <a:gd name="adj" fmla="val 2778"/>
            </a:avLst>
          </a:prstGeom>
          <a:solidFill>
            <a:srgbClr val="171614"/>
          </a:solidFill>
          <a:ln w="9525">
            <a:solidFill>
              <a:srgbClr val="2E2A24"/>
            </a:solidFill>
            <a:prstDash val="solid"/>
          </a:ln>
        </p:spPr>
      </p:sp>
      <p:sp>
        <p:nvSpPr>
          <p:cNvPr id="16" name="Text 14"/>
          <p:cNvSpPr/>
          <p:nvPr/>
        </p:nvSpPr>
        <p:spPr>
          <a:xfrm>
            <a:off x="647075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35.0</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3400" dirty="0"/>
          </a:p>
        </p:txBody>
      </p:sp>
      <p:sp>
        <p:nvSpPr>
          <p:cNvPr id="17" name="Text 15"/>
          <p:cNvSpPr/>
          <p:nvPr/>
        </p:nvSpPr>
        <p:spPr>
          <a:xfrm>
            <a:off x="647075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投資家利回り（定常年間）</a:t>
            </a:r>
            <a:endParaRPr lang="en-US" sz="1100" dirty="0"/>
          </a:p>
        </p:txBody>
      </p:sp>
      <p:sp>
        <p:nvSpPr>
          <p:cNvPr id="18" name="Text 16"/>
          <p:cNvSpPr/>
          <p:nvPr/>
        </p:nvSpPr>
        <p:spPr>
          <a:xfrm>
            <a:off x="647075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出資3億円に対し、SPC税前利益の50%を受領</a:t>
            </a:r>
            <a:endParaRPr lang="en-US" sz="900" dirty="0"/>
          </a:p>
        </p:txBody>
      </p:sp>
      <p:sp>
        <p:nvSpPr>
          <p:cNvPr id="19" name="Shape 17"/>
          <p:cNvSpPr/>
          <p:nvPr/>
        </p:nvSpPr>
        <p:spPr>
          <a:xfrm>
            <a:off x="9020327" y="1664208"/>
            <a:ext cx="2513000" cy="1481328"/>
          </a:xfrm>
          <a:prstGeom prst="roundRect">
            <a:avLst>
              <a:gd name="adj" fmla="val 2778"/>
            </a:avLst>
          </a:prstGeom>
          <a:solidFill>
            <a:srgbClr val="1F1D19"/>
          </a:solidFill>
          <a:ln w="9525">
            <a:solidFill>
              <a:srgbClr val="6E5730"/>
            </a:solidFill>
            <a:prstDash val="solid"/>
          </a:ln>
        </p:spPr>
      </p:sp>
      <p:sp>
        <p:nvSpPr>
          <p:cNvPr id="20" name="Text 18"/>
          <p:cNvSpPr/>
          <p:nvPr/>
        </p:nvSpPr>
        <p:spPr>
          <a:xfrm>
            <a:off x="9258071" y="1847088"/>
            <a:ext cx="2037512" cy="566928"/>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27.9</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3000" dirty="0"/>
          </a:p>
        </p:txBody>
      </p:sp>
      <p:sp>
        <p:nvSpPr>
          <p:cNvPr id="21" name="Text 19"/>
          <p:cNvSpPr/>
          <p:nvPr/>
        </p:nvSpPr>
        <p:spPr>
          <a:xfrm>
            <a:off x="9258071"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年平均利回り（5年通算）</a:t>
            </a:r>
            <a:endParaRPr lang="en-US" sz="1100" dirty="0"/>
          </a:p>
        </p:txBody>
      </p:sp>
      <p:sp>
        <p:nvSpPr>
          <p:cNvPr id="22" name="Text 20"/>
          <p:cNvSpPr/>
          <p:nvPr/>
        </p:nvSpPr>
        <p:spPr>
          <a:xfrm>
            <a:off x="9258071"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在庫回転12ヶ月／累計分配額÷出資3億円÷5年</a:t>
            </a:r>
            <a:endParaRPr lang="en-US" sz="900" dirty="0"/>
          </a:p>
        </p:txBody>
      </p:sp>
      <p:sp>
        <p:nvSpPr>
          <p:cNvPr id="23" name="Shape 21"/>
          <p:cNvSpPr/>
          <p:nvPr/>
        </p:nvSpPr>
        <p:spPr>
          <a:xfrm>
            <a:off x="658368" y="3419856"/>
            <a:ext cx="274320" cy="274320"/>
          </a:xfrm>
          <a:prstGeom prst="ellipse">
            <a:avLst/>
          </a:prstGeom>
          <a:solidFill>
            <a:srgbClr val="0C0C0C"/>
          </a:solidFill>
          <a:ln w="11430">
            <a:solidFill>
              <a:srgbClr val="A78450"/>
            </a:solidFill>
            <a:prstDash val="solid"/>
          </a:ln>
        </p:spPr>
      </p:sp>
      <p:sp>
        <p:nvSpPr>
          <p:cNvPr id="24" name="Text 22"/>
          <p:cNvSpPr/>
          <p:nvPr/>
        </p:nvSpPr>
        <p:spPr>
          <a:xfrm>
            <a:off x="658368" y="3419856"/>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01</a:t>
            </a:r>
            <a:endParaRPr lang="en-US" sz="850" dirty="0"/>
          </a:p>
        </p:txBody>
      </p:sp>
      <p:sp>
        <p:nvSpPr>
          <p:cNvPr id="25" name="Text 23"/>
          <p:cNvSpPr/>
          <p:nvPr/>
        </p:nvSpPr>
        <p:spPr>
          <a:xfrm>
            <a:off x="1078992" y="3383280"/>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在庫回転12ヶ月で売り切る。組入銘柄の選定と配分ルールで実現する。</a:t>
            </a:r>
            <a:endParaRPr lang="en-US" sz="1200" dirty="0"/>
          </a:p>
        </p:txBody>
      </p:sp>
      <p:sp>
        <p:nvSpPr>
          <p:cNvPr id="26" name="Text 24"/>
          <p:cNvSpPr/>
          <p:nvPr/>
        </p:nvSpPr>
        <p:spPr>
          <a:xfrm>
            <a:off x="1078992" y="3621024"/>
            <a:ext cx="10454335" cy="274320"/>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流動性の高い銘柄をSPCに組み入れ、WineBank自己勘定在庫と重複する銘柄は在庫比率でプロラタ配分する。判断を要する場合はSPC在庫を優先する。最短9ヶ月、延びても15〜18ヶ月を想定レンジとする。</a:t>
            </a:r>
            <a:endParaRPr lang="en-US" sz="1000" dirty="0"/>
          </a:p>
        </p:txBody>
      </p:sp>
      <p:sp>
        <p:nvSpPr>
          <p:cNvPr id="27" name="Shape 25"/>
          <p:cNvSpPr/>
          <p:nvPr/>
        </p:nvSpPr>
        <p:spPr>
          <a:xfrm>
            <a:off x="658368" y="4041648"/>
            <a:ext cx="274320" cy="274320"/>
          </a:xfrm>
          <a:prstGeom prst="ellipse">
            <a:avLst/>
          </a:prstGeom>
          <a:solidFill>
            <a:srgbClr val="0C0C0C"/>
          </a:solidFill>
          <a:ln w="11430">
            <a:solidFill>
              <a:srgbClr val="A78450"/>
            </a:solidFill>
            <a:prstDash val="solid"/>
          </a:ln>
        </p:spPr>
      </p:sp>
      <p:sp>
        <p:nvSpPr>
          <p:cNvPr id="28" name="Text 26"/>
          <p:cNvSpPr/>
          <p:nvPr/>
        </p:nvSpPr>
        <p:spPr>
          <a:xfrm>
            <a:off x="658368" y="4041648"/>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02</a:t>
            </a:r>
            <a:endParaRPr lang="en-US" sz="850" dirty="0"/>
          </a:p>
        </p:txBody>
      </p:sp>
      <p:sp>
        <p:nvSpPr>
          <p:cNvPr id="29" name="Text 27"/>
          <p:cNvSpPr/>
          <p:nvPr/>
        </p:nvSpPr>
        <p:spPr>
          <a:xfrm>
            <a:off x="1078992" y="4005072"/>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収益は「流通価格差」と「ワインの値上がり」の二階建て。</a:t>
            </a:r>
            <a:endParaRPr lang="en-US" sz="1200" dirty="0"/>
          </a:p>
        </p:txBody>
      </p:sp>
      <p:sp>
        <p:nvSpPr>
          <p:cNvPr id="30" name="Text 28"/>
          <p:cNvSpPr/>
          <p:nvPr/>
        </p:nvSpPr>
        <p:spPr>
          <a:xfrm>
            <a:off x="1078992" y="4242816"/>
            <a:ext cx="10454335" cy="274320"/>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同一商品の流通段階間の価格差（フロー）に加え、保有期間中の価格上昇年6%（ストック）が乗る。値上がり分は保有期間によらず利回りを底上げする。</a:t>
            </a:r>
            <a:endParaRPr lang="en-US" sz="1000" dirty="0"/>
          </a:p>
        </p:txBody>
      </p:sp>
      <p:sp>
        <p:nvSpPr>
          <p:cNvPr id="31" name="Shape 29"/>
          <p:cNvSpPr/>
          <p:nvPr/>
        </p:nvSpPr>
        <p:spPr>
          <a:xfrm>
            <a:off x="658368" y="4663440"/>
            <a:ext cx="274320" cy="274320"/>
          </a:xfrm>
          <a:prstGeom prst="ellipse">
            <a:avLst/>
          </a:prstGeom>
          <a:solidFill>
            <a:srgbClr val="0C0C0C"/>
          </a:solidFill>
          <a:ln w="11430">
            <a:solidFill>
              <a:srgbClr val="A78450"/>
            </a:solidFill>
            <a:prstDash val="solid"/>
          </a:ln>
        </p:spPr>
      </p:sp>
      <p:sp>
        <p:nvSpPr>
          <p:cNvPr id="32" name="Text 30"/>
          <p:cNvSpPr/>
          <p:nvPr/>
        </p:nvSpPr>
        <p:spPr>
          <a:xfrm>
            <a:off x="658368" y="4663440"/>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03</a:t>
            </a:r>
            <a:endParaRPr lang="en-US" sz="850" dirty="0"/>
          </a:p>
        </p:txBody>
      </p:sp>
      <p:sp>
        <p:nvSpPr>
          <p:cNvPr id="33" name="Text 31"/>
          <p:cNvSpPr/>
          <p:nvPr/>
        </p:nvSpPr>
        <p:spPr>
          <a:xfrm>
            <a:off x="1078992" y="4626864"/>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損益は従来どおり折半。投資家は出資3億円に対しSPC税前利益の50%を受け取る。</a:t>
            </a:r>
            <a:endParaRPr lang="en-US" sz="1200" dirty="0"/>
          </a:p>
        </p:txBody>
      </p:sp>
      <p:sp>
        <p:nvSpPr>
          <p:cNvPr id="34" name="Text 32"/>
          <p:cNvSpPr/>
          <p:nvPr/>
        </p:nvSpPr>
        <p:spPr>
          <a:xfrm>
            <a:off x="1078992" y="4864608"/>
            <a:ext cx="10454335" cy="274320"/>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デット2億円の金利と保証責任はWineBankが負担する。投資家利回り35.0%は、粗利率30.0%を投下原価ベースに直した投下原価利益率47.3%から、SPC費用と折半を経て導かれる。</a:t>
            </a:r>
            <a:endParaRPr lang="en-US" sz="1000" dirty="0"/>
          </a:p>
        </p:txBody>
      </p:sp>
      <p:sp>
        <p:nvSpPr>
          <p:cNvPr id="35" name="Shape 33"/>
          <p:cNvSpPr/>
          <p:nvPr/>
        </p:nvSpPr>
        <p:spPr>
          <a:xfrm>
            <a:off x="658368" y="5285232"/>
            <a:ext cx="274320" cy="274320"/>
          </a:xfrm>
          <a:prstGeom prst="ellipse">
            <a:avLst/>
          </a:prstGeom>
          <a:solidFill>
            <a:srgbClr val="0C0C0C"/>
          </a:solidFill>
          <a:ln w="11430">
            <a:solidFill>
              <a:srgbClr val="A78450"/>
            </a:solidFill>
            <a:prstDash val="solid"/>
          </a:ln>
        </p:spPr>
      </p:sp>
      <p:sp>
        <p:nvSpPr>
          <p:cNvPr id="36" name="Text 34"/>
          <p:cNvSpPr/>
          <p:nvPr/>
        </p:nvSpPr>
        <p:spPr>
          <a:xfrm>
            <a:off x="658368" y="5285232"/>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04</a:t>
            </a:r>
            <a:endParaRPr lang="en-US" sz="850" dirty="0"/>
          </a:p>
        </p:txBody>
      </p:sp>
      <p:sp>
        <p:nvSpPr>
          <p:cNvPr id="37" name="Text 35"/>
          <p:cNvSpPr/>
          <p:nvPr/>
        </p:nvSpPr>
        <p:spPr>
          <a:xfrm>
            <a:off x="1078992" y="5248656"/>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費用は削っていない。監査・法務まで積んだうえでの数字。</a:t>
            </a:r>
            <a:endParaRPr lang="en-US" sz="1200" dirty="0"/>
          </a:p>
        </p:txBody>
      </p:sp>
      <p:sp>
        <p:nvSpPr>
          <p:cNvPr id="38" name="Text 36"/>
          <p:cNvSpPr/>
          <p:nvPr/>
        </p:nvSpPr>
        <p:spPr>
          <a:xfrm>
            <a:off x="1078992" y="5486400"/>
            <a:ext cx="10454335" cy="274320"/>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AUP50万円・予備費50万円を含むSPC固定費660万円、変動販売費、保管・保険をすべて計上済み。利回りを作るために費用を圧縮してはいない。</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CAPITAL STRUCTURE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資本構成とリターンの配分</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総額5億円をデット2億円とエクイティ3億円で構成する。デットの調達コストはWineBankが負担する。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02</a:t>
            </a:r>
            <a:endParaRPr lang="en-US" sz="950" dirty="0"/>
          </a:p>
        </p:txBody>
      </p:sp>
      <p:sp>
        <p:nvSpPr>
          <p:cNvPr id="7" name="Shape 5"/>
          <p:cNvSpPr/>
          <p:nvPr/>
        </p:nvSpPr>
        <p:spPr>
          <a:xfrm>
            <a:off x="658368" y="1645920"/>
            <a:ext cx="3442106" cy="1883664"/>
          </a:xfrm>
          <a:prstGeom prst="roundRect">
            <a:avLst>
              <a:gd name="adj" fmla="val 2184"/>
            </a:avLst>
          </a:prstGeom>
          <a:solidFill>
            <a:srgbClr val="171614"/>
          </a:solidFill>
          <a:ln w="9525">
            <a:solidFill>
              <a:srgbClr val="2E2A24"/>
            </a:solidFill>
            <a:prstDash val="solid"/>
          </a:ln>
        </p:spPr>
      </p:sp>
      <p:sp>
        <p:nvSpPr>
          <p:cNvPr id="8" name="Text 6"/>
          <p:cNvSpPr/>
          <p:nvPr/>
        </p:nvSpPr>
        <p:spPr>
          <a:xfrm>
            <a:off x="896112" y="1810512"/>
            <a:ext cx="2966618"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デット</a:t>
            </a:r>
            <a:endParaRPr lang="en-US" sz="1150" dirty="0"/>
          </a:p>
        </p:txBody>
      </p:sp>
      <p:sp>
        <p:nvSpPr>
          <p:cNvPr id="9" name="Text 7"/>
          <p:cNvSpPr/>
          <p:nvPr/>
        </p:nvSpPr>
        <p:spPr>
          <a:xfrm>
            <a:off x="896112" y="2084832"/>
            <a:ext cx="2966618" cy="457200"/>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2.0</a:t>
            </a:r>
            <a:pPr indent="0" marL="0">
              <a:buNone/>
            </a:pPr>
            <a:r>
              <a:rPr lang="en-US" sz="1200" b="1" dirty="0">
                <a:solidFill>
                  <a:srgbClr val="C9A96E"/>
                </a:solidFill>
                <a:latin typeface="Yu Gothic" pitchFamily="34" charset="0"/>
                <a:ea typeface="Yu Gothic" pitchFamily="34" charset="-122"/>
                <a:cs typeface="Yu Gothic" pitchFamily="34" charset="-120"/>
              </a:rPr>
              <a:t> 億円</a:t>
            </a:r>
            <a:endParaRPr lang="en-US" sz="3000" dirty="0"/>
          </a:p>
        </p:txBody>
      </p:sp>
      <p:sp>
        <p:nvSpPr>
          <p:cNvPr id="10" name="Text 8"/>
          <p:cNvSpPr/>
          <p:nvPr/>
        </p:nvSpPr>
        <p:spPr>
          <a:xfrm>
            <a:off x="896112" y="2578608"/>
            <a:ext cx="2966618"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金利4%（固定）</a:t>
            </a:r>
            <a:endParaRPr lang="en-US" sz="1100" dirty="0"/>
          </a:p>
        </p:txBody>
      </p:sp>
      <p:sp>
        <p:nvSpPr>
          <p:cNvPr id="11" name="Text 9"/>
          <p:cNvSpPr/>
          <p:nvPr/>
        </p:nvSpPr>
        <p:spPr>
          <a:xfrm>
            <a:off x="896112" y="2834640"/>
            <a:ext cx="2966618" cy="603504"/>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・投資家からの借入</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・利息はWineBankが負担</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・SPC資産から満期に返済</a:t>
            </a:r>
            <a:endParaRPr lang="en-US" sz="900" dirty="0"/>
          </a:p>
        </p:txBody>
      </p:sp>
      <p:sp>
        <p:nvSpPr>
          <p:cNvPr id="12" name="Shape 10"/>
          <p:cNvSpPr/>
          <p:nvPr/>
        </p:nvSpPr>
        <p:spPr>
          <a:xfrm>
            <a:off x="4374794" y="1645920"/>
            <a:ext cx="3442106" cy="1883664"/>
          </a:xfrm>
          <a:prstGeom prst="roundRect">
            <a:avLst>
              <a:gd name="adj" fmla="val 2184"/>
            </a:avLst>
          </a:prstGeom>
          <a:solidFill>
            <a:srgbClr val="1F1D19"/>
          </a:solidFill>
          <a:ln w="9525">
            <a:solidFill>
              <a:srgbClr val="6E5730"/>
            </a:solidFill>
            <a:prstDash val="solid"/>
          </a:ln>
        </p:spPr>
      </p:sp>
      <p:sp>
        <p:nvSpPr>
          <p:cNvPr id="13" name="Text 11"/>
          <p:cNvSpPr/>
          <p:nvPr/>
        </p:nvSpPr>
        <p:spPr>
          <a:xfrm>
            <a:off x="4612538" y="1810512"/>
            <a:ext cx="2966618"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出資｜投資家</a:t>
            </a:r>
            <a:endParaRPr lang="en-US" sz="1150" dirty="0"/>
          </a:p>
        </p:txBody>
      </p:sp>
      <p:sp>
        <p:nvSpPr>
          <p:cNvPr id="14" name="Text 12"/>
          <p:cNvSpPr/>
          <p:nvPr/>
        </p:nvSpPr>
        <p:spPr>
          <a:xfrm>
            <a:off x="4612538" y="2084832"/>
            <a:ext cx="2966618" cy="457200"/>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3.0</a:t>
            </a:r>
            <a:pPr indent="0" marL="0">
              <a:buNone/>
            </a:pPr>
            <a:r>
              <a:rPr lang="en-US" sz="1200" b="1" dirty="0">
                <a:solidFill>
                  <a:srgbClr val="C9A96E"/>
                </a:solidFill>
                <a:latin typeface="Yu Gothic" pitchFamily="34" charset="0"/>
                <a:ea typeface="Yu Gothic" pitchFamily="34" charset="-122"/>
                <a:cs typeface="Yu Gothic" pitchFamily="34" charset="-120"/>
              </a:rPr>
              <a:t> 億円</a:t>
            </a:r>
            <a:endParaRPr lang="en-US" sz="3000" dirty="0"/>
          </a:p>
        </p:txBody>
      </p:sp>
      <p:sp>
        <p:nvSpPr>
          <p:cNvPr id="15" name="Text 13"/>
          <p:cNvSpPr/>
          <p:nvPr/>
        </p:nvSpPr>
        <p:spPr>
          <a:xfrm>
            <a:off x="4612538" y="2578608"/>
            <a:ext cx="2966618"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SPC税前利益の50%</a:t>
            </a:r>
            <a:endParaRPr lang="en-US" sz="1100" dirty="0"/>
          </a:p>
        </p:txBody>
      </p:sp>
      <p:sp>
        <p:nvSpPr>
          <p:cNvPr id="16" name="Text 14"/>
          <p:cNvSpPr/>
          <p:nvPr/>
        </p:nvSpPr>
        <p:spPr>
          <a:xfrm>
            <a:off x="4612538" y="2834640"/>
            <a:ext cx="2966618" cy="603504"/>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・匿名組合出資</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・満期に元本償還</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・半期ごとに分配</a:t>
            </a:r>
            <a:endParaRPr lang="en-US" sz="900" dirty="0"/>
          </a:p>
        </p:txBody>
      </p:sp>
      <p:sp>
        <p:nvSpPr>
          <p:cNvPr id="17" name="Shape 15"/>
          <p:cNvSpPr/>
          <p:nvPr/>
        </p:nvSpPr>
        <p:spPr>
          <a:xfrm>
            <a:off x="8091221" y="1645920"/>
            <a:ext cx="3442106" cy="1883664"/>
          </a:xfrm>
          <a:prstGeom prst="roundRect">
            <a:avLst>
              <a:gd name="adj" fmla="val 2184"/>
            </a:avLst>
          </a:prstGeom>
          <a:solidFill>
            <a:srgbClr val="171614"/>
          </a:solidFill>
          <a:ln w="9525">
            <a:solidFill>
              <a:srgbClr val="2E2A24"/>
            </a:solidFill>
            <a:prstDash val="solid"/>
          </a:ln>
        </p:spPr>
      </p:sp>
      <p:sp>
        <p:nvSpPr>
          <p:cNvPr id="18" name="Text 16"/>
          <p:cNvSpPr/>
          <p:nvPr/>
        </p:nvSpPr>
        <p:spPr>
          <a:xfrm>
            <a:off x="8328965" y="1810512"/>
            <a:ext cx="2966618"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GP｜WineBank</a:t>
            </a:r>
            <a:endParaRPr lang="en-US" sz="1150" dirty="0"/>
          </a:p>
        </p:txBody>
      </p:sp>
      <p:sp>
        <p:nvSpPr>
          <p:cNvPr id="19" name="Text 17"/>
          <p:cNvSpPr/>
          <p:nvPr/>
        </p:nvSpPr>
        <p:spPr>
          <a:xfrm>
            <a:off x="8328965" y="2084832"/>
            <a:ext cx="2966618" cy="457200"/>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97</a:t>
            </a:r>
            <a:pPr indent="0" marL="0">
              <a:buNone/>
            </a:pPr>
            <a:r>
              <a:rPr lang="en-US" sz="1200" b="1" dirty="0">
                <a:solidFill>
                  <a:srgbClr val="C9A96E"/>
                </a:solidFill>
                <a:latin typeface="Yu Gothic" pitchFamily="34" charset="0"/>
                <a:ea typeface="Yu Gothic" pitchFamily="34" charset="-122"/>
                <a:cs typeface="Yu Gothic" pitchFamily="34" charset="-120"/>
              </a:rPr>
              <a:t> 百万円</a:t>
            </a:r>
            <a:endParaRPr lang="en-US" sz="3000" dirty="0"/>
          </a:p>
        </p:txBody>
      </p:sp>
      <p:sp>
        <p:nvSpPr>
          <p:cNvPr id="20" name="Text 18"/>
          <p:cNvSpPr/>
          <p:nvPr/>
        </p:nvSpPr>
        <p:spPr>
          <a:xfrm>
            <a:off x="8328965" y="2578608"/>
            <a:ext cx="2966618"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SPC税前利益の50%（金利負担後の年間取分）</a:t>
            </a:r>
            <a:endParaRPr lang="en-US" sz="1100" dirty="0"/>
          </a:p>
        </p:txBody>
      </p:sp>
      <p:sp>
        <p:nvSpPr>
          <p:cNvPr id="21" name="Text 19"/>
          <p:cNvSpPr/>
          <p:nvPr/>
        </p:nvSpPr>
        <p:spPr>
          <a:xfrm>
            <a:off x="8328965" y="2834640"/>
            <a:ext cx="2966618" cy="603504"/>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・現金拠出はなし</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・デット2億の金利と保証責任を負担</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・期中報酬・成功報酬は取らない</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58368" y="3657600"/>
          <a:ext cx="10874959" cy="914400"/>
        </p:xfrm>
        <a:graphic>
          <a:graphicData uri="http://schemas.openxmlformats.org/drawingml/2006/table">
            <a:tbl>
              <a:tblPr/>
              <a:tblGrid>
                <a:gridCol w="2377440"/>
                <a:gridCol w="1737360"/>
                <a:gridCol w="6757416"/>
              </a:tblGrid>
              <a:tr h="31546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金額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1546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年間税前利益（SPC）</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2.10億円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在庫回転12ヶ月・年間売上7.48億円の主線ケース</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546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 投資家 50%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105百万円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b="1" dirty="0">
                          <a:solidFill>
                            <a:srgbClr val="C9A96E"/>
                          </a:solidFill>
                          <a:latin typeface="Yu Gothic" pitchFamily="34" charset="0"/>
                          <a:ea typeface="Yu Gothic" pitchFamily="34" charset="-122"/>
                          <a:cs typeface="Yu Gothic" pitchFamily="34" charset="-120"/>
                        </a:rPr>
                        <a:t>出資3億円に対し 投資家利回り 35.0%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546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 WineBank 50%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105百万円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デット2億円の金利8百万円を負担 → 年間取分97百万円。現金拠出はないため利回りの形では示さない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546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デット提供者への利息</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2億円×4%。WineBankが負担するためSPCの費用には計上しない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3" name="Shape 20"/>
          <p:cNvSpPr/>
          <p:nvPr/>
        </p:nvSpPr>
        <p:spPr>
          <a:xfrm>
            <a:off x="658368" y="5358384"/>
            <a:ext cx="10874959" cy="969264"/>
          </a:xfrm>
          <a:prstGeom prst="roundRect">
            <a:avLst>
              <a:gd name="adj" fmla="val 4245"/>
            </a:avLst>
          </a:prstGeom>
          <a:solidFill>
            <a:srgbClr val="1F1D19"/>
          </a:solidFill>
          <a:ln w="9525">
            <a:solidFill>
              <a:srgbClr val="6E5730"/>
            </a:solidFill>
            <a:prstDash val="solid"/>
          </a:ln>
        </p:spPr>
      </p:sp>
      <p:sp>
        <p:nvSpPr>
          <p:cNvPr id="24" name="Text 21"/>
          <p:cNvSpPr/>
          <p:nvPr/>
        </p:nvSpPr>
        <p:spPr>
          <a:xfrm>
            <a:off x="932688" y="5449824"/>
            <a:ext cx="45720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この構成が投資家にもたらすもの</a:t>
            </a:r>
            <a:endParaRPr lang="en-US" sz="1100" dirty="0"/>
          </a:p>
        </p:txBody>
      </p:sp>
      <p:sp>
        <p:nvSpPr>
          <p:cNvPr id="25" name="Text 22"/>
          <p:cNvSpPr/>
          <p:nvPr/>
        </p:nvSpPr>
        <p:spPr>
          <a:xfrm>
            <a:off x="932688" y="5669280"/>
            <a:ext cx="10326319" cy="566928"/>
          </a:xfrm>
          <a:prstGeom prst="rect">
            <a:avLst/>
          </a:prstGeom>
          <a:noFill/>
          <a:ln/>
        </p:spPr>
        <p:txBody>
          <a:bodyPr wrap="square" lIns="0" tIns="0" rIns="0" bIns="0" rtlCol="0" anchor="ctr"/>
          <a:lstStyle/>
          <a:p>
            <a:pPr indent="0" marL="0">
              <a:lnSpc>
                <a:spcPct val="118000"/>
              </a:lnSpc>
              <a:buNone/>
            </a:pPr>
            <a:r>
              <a:rPr lang="en-US" sz="900" dirty="0">
                <a:solidFill>
                  <a:srgbClr val="EFEBE3"/>
                </a:solidFill>
                <a:latin typeface="Yu Gothic" pitchFamily="34" charset="0"/>
                <a:ea typeface="Yu Gothic" pitchFamily="34" charset="-122"/>
                <a:cs typeface="Yu Gothic" pitchFamily="34" charset="-120"/>
              </a:rPr>
              <a:t>損益の配分は従来どおりSPC税前利益の折半であり、この点は変更していない。投資家は出資3億円に対して税前利益の50%を受け取る。デット2億円はWineBankが金利と保証責任を負う借入であり、投資家の出資とは切り離されている。WineBankは現金を拠出しないため、その取分は金額（年間97百万円）で示す。WineBankは期中報酬も成功報酬も取らず、報酬はこの利益折半に一本化されている。</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SALES PLAN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在庫回転12ヶ月をどう実現するか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回転12ヶ月には年間7.5億円の販売が必要となる。組入銘柄の選定を主たる手段とし、配分ルールと販路拡大で補う。</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03</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58368" y="1645920"/>
          <a:ext cx="10874959" cy="914400"/>
        </p:xfrm>
        <a:graphic>
          <a:graphicData uri="http://schemas.openxmlformats.org/drawingml/2006/table">
            <a:tbl>
              <a:tblPr/>
              <a:tblGrid>
                <a:gridCol w="1591056"/>
                <a:gridCol w="1572768"/>
                <a:gridCol w="1316736"/>
                <a:gridCol w="1481328"/>
                <a:gridCol w="1298448"/>
                <a:gridCol w="1572768"/>
                <a:gridCol w="2039112"/>
              </a:tblGrid>
              <a:tr h="38404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必要な年間販売額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年間税前利益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投資家取分（50%）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WineBank取分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位置づけ</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9ヶ月（最短）</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9.83億円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2.71億円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136百万円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45.2%</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128百万円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販路拡大が実現した場合の上限</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7.48億円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2.10億円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105百万円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35.0%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97百万円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C9A96E"/>
                          </a:solidFill>
                          <a:latin typeface="Yu Gothic" pitchFamily="34" charset="0"/>
                          <a:ea typeface="Yu Gothic" pitchFamily="34" charset="-122"/>
                          <a:cs typeface="Yu Gothic" pitchFamily="34" charset="-120"/>
                        </a:rPr>
                        <a:t>組入銘柄の選定と配分ルールで達成</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6.07億円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1.73億円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87百万円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28.9%</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79百万円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現状の販売実力の範囲内</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5.13億円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1.49億円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74百万円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24.8%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66百万円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下振れ時の想定レンジ下限</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3749040"/>
            <a:ext cx="3454298" cy="1847088"/>
          </a:xfrm>
          <a:prstGeom prst="roundRect">
            <a:avLst>
              <a:gd name="adj" fmla="val 2228"/>
            </a:avLst>
          </a:prstGeom>
          <a:solidFill>
            <a:srgbClr val="1F1D19"/>
          </a:solidFill>
          <a:ln w="9525">
            <a:solidFill>
              <a:srgbClr val="6E5730"/>
            </a:solidFill>
            <a:prstDash val="solid"/>
          </a:ln>
        </p:spPr>
      </p:sp>
      <p:sp>
        <p:nvSpPr>
          <p:cNvPr id="9" name="Text 6"/>
          <p:cNvSpPr/>
          <p:nvPr/>
        </p:nvSpPr>
        <p:spPr>
          <a:xfrm>
            <a:off x="896112" y="3913632"/>
            <a:ext cx="2978810" cy="237744"/>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第一の手段</a:t>
            </a:r>
            <a:endParaRPr lang="en-US" sz="1100" dirty="0"/>
          </a:p>
        </p:txBody>
      </p:sp>
      <p:sp>
        <p:nvSpPr>
          <p:cNvPr id="10" name="Text 7"/>
          <p:cNvSpPr/>
          <p:nvPr/>
        </p:nvSpPr>
        <p:spPr>
          <a:xfrm>
            <a:off x="896112" y="4187952"/>
            <a:ext cx="2978810" cy="365760"/>
          </a:xfrm>
          <a:prstGeom prst="rect">
            <a:avLst/>
          </a:prstGeom>
          <a:noFill/>
          <a:ln/>
        </p:spPr>
        <p:txBody>
          <a:bodyPr wrap="square" lIns="0" tIns="0" rIns="0" bIns="0" rtlCol="0" anchor="ctr"/>
          <a:lstStyle/>
          <a:p>
            <a:pPr indent="0" marL="0">
              <a:buNone/>
            </a:pPr>
            <a:r>
              <a:rPr lang="en-US" sz="1700" b="1" dirty="0">
                <a:solidFill>
                  <a:srgbClr val="C9A96E"/>
                </a:solidFill>
                <a:latin typeface="Yu Gothic" pitchFamily="34" charset="0"/>
                <a:ea typeface="Yu Gothic" pitchFamily="34" charset="-122"/>
                <a:cs typeface="Yu Gothic" pitchFamily="34" charset="-120"/>
              </a:rPr>
              <a:t>組入銘柄の選定</a:t>
            </a:r>
            <a:endParaRPr lang="en-US" sz="1700" dirty="0"/>
          </a:p>
        </p:txBody>
      </p:sp>
      <p:sp>
        <p:nvSpPr>
          <p:cNvPr id="11" name="Text 8"/>
          <p:cNvSpPr/>
          <p:nvPr/>
        </p:nvSpPr>
        <p:spPr>
          <a:xfrm>
            <a:off x="896112" y="4608576"/>
            <a:ext cx="2978810" cy="896112"/>
          </a:xfrm>
          <a:prstGeom prst="rect">
            <a:avLst/>
          </a:prstGeom>
          <a:noFill/>
          <a:ln/>
        </p:spPr>
        <p:txBody>
          <a:bodyPr wrap="square" lIns="0" tIns="0" rIns="0" bIns="0" rtlCol="0" anchor="ctr"/>
          <a:lstStyle/>
          <a:p>
            <a:pPr indent="0" marL="0">
              <a:lnSpc>
                <a:spcPct val="124000"/>
              </a:lnSpc>
              <a:buNone/>
            </a:pPr>
            <a:r>
              <a:rPr lang="en-US" sz="900" dirty="0">
                <a:solidFill>
                  <a:srgbClr val="9A938A"/>
                </a:solidFill>
                <a:latin typeface="Yu Gothic" pitchFamily="34" charset="0"/>
                <a:ea typeface="Yu Gothic" pitchFamily="34" charset="-122"/>
                <a:cs typeface="Yu Gothic" pitchFamily="34" charset="-120"/>
              </a:rPr>
              <a:t>Liv-ex掲載の流動性上位銘柄など、回転の速い銘柄をSPCに組み入れる。何を持たせるかで回転期間の大半が決まるため、これが最も効く打ち手となる。</a:t>
            </a:r>
            <a:endParaRPr lang="en-US" sz="900" dirty="0"/>
          </a:p>
        </p:txBody>
      </p:sp>
      <p:sp>
        <p:nvSpPr>
          <p:cNvPr id="12" name="Shape 9"/>
          <p:cNvSpPr/>
          <p:nvPr/>
        </p:nvSpPr>
        <p:spPr>
          <a:xfrm>
            <a:off x="4368698" y="3749040"/>
            <a:ext cx="3454298" cy="1847088"/>
          </a:xfrm>
          <a:prstGeom prst="roundRect">
            <a:avLst>
              <a:gd name="adj" fmla="val 2228"/>
            </a:avLst>
          </a:prstGeom>
          <a:solidFill>
            <a:srgbClr val="171614"/>
          </a:solidFill>
          <a:ln w="9525">
            <a:solidFill>
              <a:srgbClr val="2E2A24"/>
            </a:solidFill>
            <a:prstDash val="solid"/>
          </a:ln>
        </p:spPr>
      </p:sp>
      <p:sp>
        <p:nvSpPr>
          <p:cNvPr id="13" name="Text 10"/>
          <p:cNvSpPr/>
          <p:nvPr/>
        </p:nvSpPr>
        <p:spPr>
          <a:xfrm>
            <a:off x="4606442" y="3913632"/>
            <a:ext cx="2978810"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第二の手段</a:t>
            </a:r>
            <a:endParaRPr lang="en-US" sz="1100" dirty="0"/>
          </a:p>
        </p:txBody>
      </p:sp>
      <p:sp>
        <p:nvSpPr>
          <p:cNvPr id="14" name="Text 11"/>
          <p:cNvSpPr/>
          <p:nvPr/>
        </p:nvSpPr>
        <p:spPr>
          <a:xfrm>
            <a:off x="4606442" y="4187952"/>
            <a:ext cx="2978810" cy="365760"/>
          </a:xfrm>
          <a:prstGeom prst="rect">
            <a:avLst/>
          </a:prstGeom>
          <a:noFill/>
          <a:ln/>
        </p:spPr>
        <p:txBody>
          <a:bodyPr wrap="square" lIns="0" tIns="0" rIns="0" bIns="0" rtlCol="0" anchor="ctr"/>
          <a:lstStyle/>
          <a:p>
            <a:pPr indent="0" marL="0">
              <a:buNone/>
            </a:pPr>
            <a:r>
              <a:rPr lang="en-US" sz="1700" b="1" dirty="0">
                <a:solidFill>
                  <a:srgbClr val="C9A96E"/>
                </a:solidFill>
                <a:latin typeface="Yu Gothic" pitchFamily="34" charset="0"/>
                <a:ea typeface="Yu Gothic" pitchFamily="34" charset="-122"/>
                <a:cs typeface="Yu Gothic" pitchFamily="34" charset="-120"/>
              </a:rPr>
              <a:t>配分ルール</a:t>
            </a:r>
            <a:endParaRPr lang="en-US" sz="1700" dirty="0"/>
          </a:p>
        </p:txBody>
      </p:sp>
      <p:sp>
        <p:nvSpPr>
          <p:cNvPr id="15" name="Text 12"/>
          <p:cNvSpPr/>
          <p:nvPr/>
        </p:nvSpPr>
        <p:spPr>
          <a:xfrm>
            <a:off x="4606442" y="4608576"/>
            <a:ext cx="2978810" cy="896112"/>
          </a:xfrm>
          <a:prstGeom prst="rect">
            <a:avLst/>
          </a:prstGeom>
          <a:noFill/>
          <a:ln/>
        </p:spPr>
        <p:txBody>
          <a:bodyPr wrap="square" lIns="0" tIns="0" rIns="0" bIns="0" rtlCol="0" anchor="ctr"/>
          <a:lstStyle/>
          <a:p>
            <a:pPr indent="0" marL="0">
              <a:lnSpc>
                <a:spcPct val="124000"/>
              </a:lnSpc>
              <a:buNone/>
            </a:pPr>
            <a:r>
              <a:rPr lang="en-US" sz="900" dirty="0">
                <a:solidFill>
                  <a:srgbClr val="9A938A"/>
                </a:solidFill>
                <a:latin typeface="Yu Gothic" pitchFamily="34" charset="0"/>
                <a:ea typeface="Yu Gothic" pitchFamily="34" charset="-122"/>
                <a:cs typeface="Yu Gothic" pitchFamily="34" charset="-120"/>
              </a:rPr>
              <a:t>自己勘定在庫と重複する銘柄は在庫比率でプロラタ配分し、判断を要する場合はSPC在庫を優先する。契約別紙として明文化する。</a:t>
            </a:r>
            <a:endParaRPr lang="en-US" sz="900" dirty="0"/>
          </a:p>
        </p:txBody>
      </p:sp>
      <p:sp>
        <p:nvSpPr>
          <p:cNvPr id="16" name="Shape 13"/>
          <p:cNvSpPr/>
          <p:nvPr/>
        </p:nvSpPr>
        <p:spPr>
          <a:xfrm>
            <a:off x="8079029" y="3749040"/>
            <a:ext cx="3454298" cy="1847088"/>
          </a:xfrm>
          <a:prstGeom prst="roundRect">
            <a:avLst>
              <a:gd name="adj" fmla="val 2228"/>
            </a:avLst>
          </a:prstGeom>
          <a:solidFill>
            <a:srgbClr val="171614"/>
          </a:solidFill>
          <a:ln w="9525">
            <a:solidFill>
              <a:srgbClr val="2E2A24"/>
            </a:solidFill>
            <a:prstDash val="solid"/>
          </a:ln>
        </p:spPr>
      </p:sp>
      <p:sp>
        <p:nvSpPr>
          <p:cNvPr id="17" name="Text 14"/>
          <p:cNvSpPr/>
          <p:nvPr/>
        </p:nvSpPr>
        <p:spPr>
          <a:xfrm>
            <a:off x="8316773" y="3913632"/>
            <a:ext cx="2978810"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第三の手段</a:t>
            </a:r>
            <a:endParaRPr lang="en-US" sz="1100" dirty="0"/>
          </a:p>
        </p:txBody>
      </p:sp>
      <p:sp>
        <p:nvSpPr>
          <p:cNvPr id="18" name="Text 15"/>
          <p:cNvSpPr/>
          <p:nvPr/>
        </p:nvSpPr>
        <p:spPr>
          <a:xfrm>
            <a:off x="8316773" y="4187952"/>
            <a:ext cx="2978810" cy="365760"/>
          </a:xfrm>
          <a:prstGeom prst="rect">
            <a:avLst/>
          </a:prstGeom>
          <a:noFill/>
          <a:ln/>
        </p:spPr>
        <p:txBody>
          <a:bodyPr wrap="square" lIns="0" tIns="0" rIns="0" bIns="0" rtlCol="0" anchor="ctr"/>
          <a:lstStyle/>
          <a:p>
            <a:pPr indent="0" marL="0">
              <a:buNone/>
            </a:pPr>
            <a:r>
              <a:rPr lang="en-US" sz="1700" b="1" dirty="0">
                <a:solidFill>
                  <a:srgbClr val="C9A96E"/>
                </a:solidFill>
                <a:latin typeface="Yu Gothic" pitchFamily="34" charset="0"/>
                <a:ea typeface="Yu Gothic" pitchFamily="34" charset="-122"/>
                <a:cs typeface="Yu Gothic" pitchFamily="34" charset="-120"/>
              </a:rPr>
              <a:t>販路の拡大</a:t>
            </a:r>
            <a:endParaRPr lang="en-US" sz="1700" dirty="0"/>
          </a:p>
        </p:txBody>
      </p:sp>
      <p:sp>
        <p:nvSpPr>
          <p:cNvPr id="19" name="Text 16"/>
          <p:cNvSpPr/>
          <p:nvPr/>
        </p:nvSpPr>
        <p:spPr>
          <a:xfrm>
            <a:off x="8316773" y="4608576"/>
            <a:ext cx="2978810" cy="896112"/>
          </a:xfrm>
          <a:prstGeom prst="rect">
            <a:avLst/>
          </a:prstGeom>
          <a:noFill/>
          <a:ln/>
        </p:spPr>
        <p:txBody>
          <a:bodyPr wrap="square" lIns="0" tIns="0" rIns="0" bIns="0" rtlCol="0" anchor="ctr"/>
          <a:lstStyle/>
          <a:p>
            <a:pPr indent="0" marL="0">
              <a:lnSpc>
                <a:spcPct val="124000"/>
              </a:lnSpc>
              <a:buNone/>
            </a:pPr>
            <a:r>
              <a:rPr lang="en-US" sz="900" dirty="0">
                <a:solidFill>
                  <a:srgbClr val="9A938A"/>
                </a:solidFill>
                <a:latin typeface="Yu Gothic" pitchFamily="34" charset="0"/>
                <a:ea typeface="Yu Gothic" pitchFamily="34" charset="-122"/>
                <a:cs typeface="Yu Gothic" pitchFamily="34" charset="-120"/>
              </a:rPr>
              <a:t>輸出入ライセンスを活かした海外販売、2026年9月開始のWineBank Auction、グループ飲食（アピシウス／ティエリーマルクス）。これらは出資金ではなくWineBank側の資本で手当てする。</a:t>
            </a:r>
            <a:endParaRPr lang="en-US" sz="900" dirty="0"/>
          </a:p>
        </p:txBody>
      </p:sp>
      <p:sp>
        <p:nvSpPr>
          <p:cNvPr id="20" name="Text 17"/>
          <p:cNvSpPr/>
          <p:nvPr/>
        </p:nvSpPr>
        <p:spPr>
          <a:xfrm>
            <a:off x="658368" y="5687568"/>
            <a:ext cx="10874959" cy="402336"/>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回転12ヶ月に必要な年間販売額7.48億円は、現状の販売実力（5〜7億円）の上限をやや上回る。銘柄の大半はSPCと自己勘定で重複しないため配分の判断自体が生じず、回転期間は「何を組み入れるか」でほぼ決まる。重複銘柄の取扱いは在庫配分の公平性の頁を参照。投資家利回りが20%を割り込むのは回転が23.7ヶ月を超えた場合。</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STRUCTURE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ファンドスキーム</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WineBankが免許事業者として売買当事者となり、SPCは現物の所有者として損益を受ける。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04</a:t>
            </a:r>
            <a:endParaRPr lang="en-US" sz="950" dirty="0"/>
          </a:p>
        </p:txBody>
      </p:sp>
      <p:sp>
        <p:nvSpPr>
          <p:cNvPr id="7" name="Shape 5"/>
          <p:cNvSpPr/>
          <p:nvPr/>
        </p:nvSpPr>
        <p:spPr>
          <a:xfrm>
            <a:off x="658368" y="1700784"/>
            <a:ext cx="3246120" cy="1188720"/>
          </a:xfrm>
          <a:prstGeom prst="roundRect">
            <a:avLst>
              <a:gd name="adj" fmla="val 3462"/>
            </a:avLst>
          </a:prstGeom>
          <a:solidFill>
            <a:srgbClr val="171614"/>
          </a:solidFill>
          <a:ln w="9525">
            <a:solidFill>
              <a:srgbClr val="2E2A24"/>
            </a:solidFill>
            <a:prstDash val="solid"/>
          </a:ln>
        </p:spPr>
      </p:sp>
      <p:sp>
        <p:nvSpPr>
          <p:cNvPr id="8" name="Text 6"/>
          <p:cNvSpPr/>
          <p:nvPr/>
        </p:nvSpPr>
        <p:spPr>
          <a:xfrm>
            <a:off x="877824" y="1920240"/>
            <a:ext cx="2807208" cy="256032"/>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投資家（資産管理会社）</a:t>
            </a:r>
            <a:endParaRPr lang="en-US" sz="1300" dirty="0"/>
          </a:p>
        </p:txBody>
      </p:sp>
      <p:sp>
        <p:nvSpPr>
          <p:cNvPr id="9" name="Text 7"/>
          <p:cNvSpPr/>
          <p:nvPr/>
        </p:nvSpPr>
        <p:spPr>
          <a:xfrm>
            <a:off x="877824" y="2231136"/>
            <a:ext cx="2807208" cy="237744"/>
          </a:xfrm>
          <a:prstGeom prst="rect">
            <a:avLst/>
          </a:prstGeom>
          <a:noFill/>
          <a:ln/>
        </p:spPr>
        <p:txBody>
          <a:bodyPr wrap="square" lIns="0" tIns="0" rIns="0" bIns="0" rtlCol="0" anchor="ctr"/>
          <a:lstStyle/>
          <a:p>
            <a:pPr indent="0" marL="0">
              <a:buNone/>
            </a:pPr>
            <a:r>
              <a:rPr lang="en-US" sz="1050" dirty="0">
                <a:solidFill>
                  <a:srgbClr val="C9A96E"/>
                </a:solidFill>
                <a:latin typeface="Yu Gothic" pitchFamily="34" charset="0"/>
                <a:ea typeface="Yu Gothic" pitchFamily="34" charset="-122"/>
                <a:cs typeface="Yu Gothic" pitchFamily="34" charset="-120"/>
              </a:rPr>
              <a:t>匿名組合出資　5億円</a:t>
            </a:r>
            <a:endParaRPr lang="en-US" sz="1050" dirty="0"/>
          </a:p>
        </p:txBody>
      </p:sp>
      <p:sp>
        <p:nvSpPr>
          <p:cNvPr id="10" name="Text 8"/>
          <p:cNvSpPr/>
          <p:nvPr/>
        </p:nvSpPr>
        <p:spPr>
          <a:xfrm>
            <a:off x="877824"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半期ごとに税前利益の50%を受領</a:t>
            </a:r>
            <a:endParaRPr lang="en-US" sz="950" dirty="0"/>
          </a:p>
        </p:txBody>
      </p:sp>
      <p:sp>
        <p:nvSpPr>
          <p:cNvPr id="11" name="Shape 9"/>
          <p:cNvSpPr/>
          <p:nvPr/>
        </p:nvSpPr>
        <p:spPr>
          <a:xfrm>
            <a:off x="4472788" y="1700784"/>
            <a:ext cx="3246120" cy="1188720"/>
          </a:xfrm>
          <a:prstGeom prst="roundRect">
            <a:avLst>
              <a:gd name="adj" fmla="val 3462"/>
            </a:avLst>
          </a:prstGeom>
          <a:solidFill>
            <a:srgbClr val="1F1D19"/>
          </a:solidFill>
          <a:ln w="9525">
            <a:solidFill>
              <a:srgbClr val="6E5730"/>
            </a:solidFill>
            <a:prstDash val="solid"/>
          </a:ln>
        </p:spPr>
      </p:sp>
      <p:sp>
        <p:nvSpPr>
          <p:cNvPr id="12" name="Text 10"/>
          <p:cNvSpPr/>
          <p:nvPr/>
        </p:nvSpPr>
        <p:spPr>
          <a:xfrm>
            <a:off x="4692244" y="1920240"/>
            <a:ext cx="2807208" cy="256032"/>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ワインファンドSPC</a:t>
            </a:r>
            <a:endParaRPr lang="en-US" sz="1300" dirty="0"/>
          </a:p>
        </p:txBody>
      </p:sp>
      <p:sp>
        <p:nvSpPr>
          <p:cNvPr id="13" name="Text 11"/>
          <p:cNvSpPr/>
          <p:nvPr/>
        </p:nvSpPr>
        <p:spPr>
          <a:xfrm>
            <a:off x="4692244" y="2231136"/>
            <a:ext cx="2807208" cy="237744"/>
          </a:xfrm>
          <a:prstGeom prst="rect">
            <a:avLst/>
          </a:prstGeom>
          <a:noFill/>
          <a:ln/>
        </p:spPr>
        <p:txBody>
          <a:bodyPr wrap="square" lIns="0" tIns="0" rIns="0" bIns="0" rtlCol="0" anchor="ctr"/>
          <a:lstStyle/>
          <a:p>
            <a:pPr indent="0" marL="0">
              <a:buNone/>
            </a:pPr>
            <a:r>
              <a:rPr lang="en-US" sz="1050" dirty="0">
                <a:solidFill>
                  <a:srgbClr val="EFEBE3"/>
                </a:solidFill>
                <a:latin typeface="Yu Gothic" pitchFamily="34" charset="0"/>
                <a:ea typeface="Yu Gothic" pitchFamily="34" charset="-122"/>
                <a:cs typeface="Yu Gothic" pitchFamily="34" charset="-120"/>
              </a:rPr>
              <a:t>合同会社＋匿名組合（GK-TK）</a:t>
            </a:r>
            <a:endParaRPr lang="en-US" sz="1050" dirty="0"/>
          </a:p>
        </p:txBody>
      </p:sp>
      <p:sp>
        <p:nvSpPr>
          <p:cNvPr id="14" name="Text 12"/>
          <p:cNvSpPr/>
          <p:nvPr/>
        </p:nvSpPr>
        <p:spPr>
          <a:xfrm>
            <a:off x="4692244"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ワイン現物を所有・損益が帰属</a:t>
            </a:r>
            <a:endParaRPr lang="en-US" sz="950" dirty="0"/>
          </a:p>
        </p:txBody>
      </p:sp>
      <p:sp>
        <p:nvSpPr>
          <p:cNvPr id="15" name="Shape 13"/>
          <p:cNvSpPr/>
          <p:nvPr/>
        </p:nvSpPr>
        <p:spPr>
          <a:xfrm>
            <a:off x="8287207" y="1700784"/>
            <a:ext cx="3246120" cy="1188720"/>
          </a:xfrm>
          <a:prstGeom prst="roundRect">
            <a:avLst>
              <a:gd name="adj" fmla="val 3462"/>
            </a:avLst>
          </a:prstGeom>
          <a:solidFill>
            <a:srgbClr val="171614"/>
          </a:solidFill>
          <a:ln w="9525">
            <a:solidFill>
              <a:srgbClr val="2E2A24"/>
            </a:solidFill>
            <a:prstDash val="solid"/>
          </a:ln>
        </p:spPr>
      </p:sp>
      <p:sp>
        <p:nvSpPr>
          <p:cNvPr id="16" name="Text 14"/>
          <p:cNvSpPr/>
          <p:nvPr/>
        </p:nvSpPr>
        <p:spPr>
          <a:xfrm>
            <a:off x="8506663" y="1920240"/>
            <a:ext cx="2807208" cy="256032"/>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株式会社WineBank</a:t>
            </a:r>
            <a:endParaRPr lang="en-US" sz="1300" dirty="0"/>
          </a:p>
        </p:txBody>
      </p:sp>
      <p:sp>
        <p:nvSpPr>
          <p:cNvPr id="17" name="Text 15"/>
          <p:cNvSpPr/>
          <p:nvPr/>
        </p:nvSpPr>
        <p:spPr>
          <a:xfrm>
            <a:off x="8506663" y="2231136"/>
            <a:ext cx="2807208" cy="237744"/>
          </a:xfrm>
          <a:prstGeom prst="rect">
            <a:avLst/>
          </a:prstGeom>
          <a:noFill/>
          <a:ln/>
        </p:spPr>
        <p:txBody>
          <a:bodyPr wrap="square" lIns="0" tIns="0" rIns="0" bIns="0" rtlCol="0" anchor="ctr"/>
          <a:lstStyle/>
          <a:p>
            <a:pPr indent="0" marL="0">
              <a:buNone/>
            </a:pPr>
            <a:r>
              <a:rPr lang="en-US" sz="1050" dirty="0">
                <a:solidFill>
                  <a:srgbClr val="C9A96E"/>
                </a:solidFill>
                <a:latin typeface="Yu Gothic" pitchFamily="34" charset="0"/>
                <a:ea typeface="Yu Gothic" pitchFamily="34" charset="-122"/>
                <a:cs typeface="Yu Gothic" pitchFamily="34" charset="-120"/>
              </a:rPr>
              <a:t>酒類販売業免許・取引口座を保有</a:t>
            </a:r>
            <a:endParaRPr lang="en-US" sz="1050" dirty="0"/>
          </a:p>
        </p:txBody>
      </p:sp>
      <p:sp>
        <p:nvSpPr>
          <p:cNvPr id="18" name="Text 16"/>
          <p:cNvSpPr/>
          <p:nvPr/>
        </p:nvSpPr>
        <p:spPr>
          <a:xfrm>
            <a:off x="8506663"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調達・譲渡・保管・販売を実行（GP）</a:t>
            </a:r>
            <a:endParaRPr lang="en-US" sz="950" dirty="0"/>
          </a:p>
        </p:txBody>
      </p:sp>
      <p:sp>
        <p:nvSpPr>
          <p:cNvPr id="19" name="Shape 17"/>
          <p:cNvSpPr/>
          <p:nvPr/>
        </p:nvSpPr>
        <p:spPr>
          <a:xfrm>
            <a:off x="3995928" y="2176272"/>
            <a:ext cx="385420" cy="237744"/>
          </a:xfrm>
          <a:prstGeom prst="rightArrow">
            <a:avLst/>
          </a:prstGeom>
          <a:solidFill>
            <a:srgbClr val="6E5730"/>
          </a:solidFill>
          <a:ln w="12700">
            <a:solidFill>
              <a:srgbClr val="6E5730"/>
            </a:solidFill>
            <a:prstDash val="solid"/>
          </a:ln>
        </p:spPr>
      </p:sp>
      <p:sp>
        <p:nvSpPr>
          <p:cNvPr id="20" name="Shape 18"/>
          <p:cNvSpPr/>
          <p:nvPr/>
        </p:nvSpPr>
        <p:spPr>
          <a:xfrm>
            <a:off x="7810348" y="2176272"/>
            <a:ext cx="385420" cy="237744"/>
          </a:xfrm>
          <a:prstGeom prst="leftArrow">
            <a:avLst/>
          </a:prstGeom>
          <a:solidFill>
            <a:srgbClr val="6E5730"/>
          </a:solidFill>
          <a:ln w="12700">
            <a:solidFill>
              <a:srgbClr val="6E5730"/>
            </a:solidFill>
            <a:prstDash val="solid"/>
          </a:ln>
        </p:spPr>
      </p:sp>
      <p:sp>
        <p:nvSpPr>
          <p:cNvPr id="21" name="Shape 19"/>
          <p:cNvSpPr/>
          <p:nvPr/>
        </p:nvSpPr>
        <p:spPr>
          <a:xfrm>
            <a:off x="658368" y="3291840"/>
            <a:ext cx="2526716" cy="1609344"/>
          </a:xfrm>
          <a:prstGeom prst="roundRect">
            <a:avLst>
              <a:gd name="adj" fmla="val 2557"/>
            </a:avLst>
          </a:prstGeom>
          <a:solidFill>
            <a:srgbClr val="171614"/>
          </a:solidFill>
          <a:ln w="9525">
            <a:solidFill>
              <a:srgbClr val="2E2A24"/>
            </a:solidFill>
            <a:prstDash val="solid"/>
          </a:ln>
        </p:spPr>
      </p:sp>
      <p:sp>
        <p:nvSpPr>
          <p:cNvPr id="22" name="Shape 20"/>
          <p:cNvSpPr/>
          <p:nvPr/>
        </p:nvSpPr>
        <p:spPr>
          <a:xfrm>
            <a:off x="877824" y="3493008"/>
            <a:ext cx="310896" cy="310896"/>
          </a:xfrm>
          <a:prstGeom prst="ellipse">
            <a:avLst/>
          </a:prstGeom>
          <a:solidFill>
            <a:srgbClr val="0C0C0C"/>
          </a:solidFill>
          <a:ln w="11430">
            <a:solidFill>
              <a:srgbClr val="A78450"/>
            </a:solidFill>
            <a:prstDash val="solid"/>
          </a:ln>
        </p:spPr>
      </p:sp>
      <p:sp>
        <p:nvSpPr>
          <p:cNvPr id="23" name="Text 21"/>
          <p:cNvSpPr/>
          <p:nvPr/>
        </p:nvSpPr>
        <p:spPr>
          <a:xfrm>
            <a:off x="877824"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24" name="Text 22"/>
          <p:cNvSpPr/>
          <p:nvPr/>
        </p:nvSpPr>
        <p:spPr>
          <a:xfrm>
            <a:off x="1280160"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調達</a:t>
            </a:r>
            <a:endParaRPr lang="en-US" sz="1200" dirty="0"/>
          </a:p>
        </p:txBody>
      </p:sp>
      <p:sp>
        <p:nvSpPr>
          <p:cNvPr id="25" name="Text 23"/>
          <p:cNvSpPr/>
          <p:nvPr/>
        </p:nvSpPr>
        <p:spPr>
          <a:xfrm>
            <a:off x="877824"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WineBankが自社の免許・取引口座でインポーター／酒販店から正規品を調達</a:t>
            </a:r>
            <a:endParaRPr lang="en-US" sz="950" dirty="0"/>
          </a:p>
        </p:txBody>
      </p:sp>
      <p:sp>
        <p:nvSpPr>
          <p:cNvPr id="26" name="Text 24"/>
          <p:cNvSpPr/>
          <p:nvPr/>
        </p:nvSpPr>
        <p:spPr>
          <a:xfrm>
            <a:off x="877824"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定価比 40〜60</a:t>
            </a:r>
            <a:endParaRPr lang="en-US" sz="1000" dirty="0"/>
          </a:p>
        </p:txBody>
      </p:sp>
      <p:sp>
        <p:nvSpPr>
          <p:cNvPr id="27" name="Shape 25"/>
          <p:cNvSpPr/>
          <p:nvPr/>
        </p:nvSpPr>
        <p:spPr>
          <a:xfrm>
            <a:off x="3441116" y="3291840"/>
            <a:ext cx="2526716" cy="1609344"/>
          </a:xfrm>
          <a:prstGeom prst="roundRect">
            <a:avLst>
              <a:gd name="adj" fmla="val 2557"/>
            </a:avLst>
          </a:prstGeom>
          <a:solidFill>
            <a:srgbClr val="171614"/>
          </a:solidFill>
          <a:ln w="9525">
            <a:solidFill>
              <a:srgbClr val="2E2A24"/>
            </a:solidFill>
            <a:prstDash val="solid"/>
          </a:ln>
        </p:spPr>
      </p:sp>
      <p:sp>
        <p:nvSpPr>
          <p:cNvPr id="28" name="Shape 26"/>
          <p:cNvSpPr/>
          <p:nvPr/>
        </p:nvSpPr>
        <p:spPr>
          <a:xfrm>
            <a:off x="3660572" y="3493008"/>
            <a:ext cx="310896" cy="310896"/>
          </a:xfrm>
          <a:prstGeom prst="ellipse">
            <a:avLst/>
          </a:prstGeom>
          <a:solidFill>
            <a:srgbClr val="0C0C0C"/>
          </a:solidFill>
          <a:ln w="11430">
            <a:solidFill>
              <a:srgbClr val="A78450"/>
            </a:solidFill>
            <a:prstDash val="solid"/>
          </a:ln>
        </p:spPr>
      </p:sp>
      <p:sp>
        <p:nvSpPr>
          <p:cNvPr id="29" name="Text 27"/>
          <p:cNvSpPr/>
          <p:nvPr/>
        </p:nvSpPr>
        <p:spPr>
          <a:xfrm>
            <a:off x="3660572"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30" name="Text 28"/>
          <p:cNvSpPr/>
          <p:nvPr/>
        </p:nvSpPr>
        <p:spPr>
          <a:xfrm>
            <a:off x="4062908"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譲渡</a:t>
            </a:r>
            <a:endParaRPr lang="en-US" sz="1200" dirty="0"/>
          </a:p>
        </p:txBody>
      </p:sp>
      <p:sp>
        <p:nvSpPr>
          <p:cNvPr id="31" name="Text 29"/>
          <p:cNvSpPr/>
          <p:nvPr/>
        </p:nvSpPr>
        <p:spPr>
          <a:xfrm>
            <a:off x="3660572"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現物をSPCへ譲渡（酒類卸売）。独立企業間価格として1%を付加</a:t>
            </a:r>
            <a:endParaRPr lang="en-US" sz="950" dirty="0"/>
          </a:p>
        </p:txBody>
      </p:sp>
      <p:sp>
        <p:nvSpPr>
          <p:cNvPr id="32" name="Text 30"/>
          <p:cNvSpPr/>
          <p:nvPr/>
        </p:nvSpPr>
        <p:spPr>
          <a:xfrm>
            <a:off x="3660572"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SPC取得原価 50.5</a:t>
            </a:r>
            <a:endParaRPr lang="en-US" sz="1000" dirty="0"/>
          </a:p>
        </p:txBody>
      </p:sp>
      <p:sp>
        <p:nvSpPr>
          <p:cNvPr id="33" name="Shape 31"/>
          <p:cNvSpPr/>
          <p:nvPr/>
        </p:nvSpPr>
        <p:spPr>
          <a:xfrm>
            <a:off x="6223864" y="3291840"/>
            <a:ext cx="2526716" cy="1609344"/>
          </a:xfrm>
          <a:prstGeom prst="roundRect">
            <a:avLst>
              <a:gd name="adj" fmla="val 2557"/>
            </a:avLst>
          </a:prstGeom>
          <a:solidFill>
            <a:srgbClr val="171614"/>
          </a:solidFill>
          <a:ln w="9525">
            <a:solidFill>
              <a:srgbClr val="2E2A24"/>
            </a:solidFill>
            <a:prstDash val="solid"/>
          </a:ln>
        </p:spPr>
      </p:sp>
      <p:sp>
        <p:nvSpPr>
          <p:cNvPr id="34" name="Shape 32"/>
          <p:cNvSpPr/>
          <p:nvPr/>
        </p:nvSpPr>
        <p:spPr>
          <a:xfrm>
            <a:off x="6443320" y="3493008"/>
            <a:ext cx="310896" cy="310896"/>
          </a:xfrm>
          <a:prstGeom prst="ellipse">
            <a:avLst/>
          </a:prstGeom>
          <a:solidFill>
            <a:srgbClr val="0C0C0C"/>
          </a:solidFill>
          <a:ln w="11430">
            <a:solidFill>
              <a:srgbClr val="A78450"/>
            </a:solidFill>
            <a:prstDash val="solid"/>
          </a:ln>
        </p:spPr>
      </p:sp>
      <p:sp>
        <p:nvSpPr>
          <p:cNvPr id="35" name="Text 33"/>
          <p:cNvSpPr/>
          <p:nvPr/>
        </p:nvSpPr>
        <p:spPr>
          <a:xfrm>
            <a:off x="6443320"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36" name="Text 34"/>
          <p:cNvSpPr/>
          <p:nvPr/>
        </p:nvSpPr>
        <p:spPr>
          <a:xfrm>
            <a:off x="6845656"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保管・販売</a:t>
            </a:r>
            <a:endParaRPr lang="en-US" sz="1200" dirty="0"/>
          </a:p>
        </p:txBody>
      </p:sp>
      <p:sp>
        <p:nvSpPr>
          <p:cNvPr id="37" name="Text 35"/>
          <p:cNvSpPr/>
          <p:nvPr/>
        </p:nvSpPr>
        <p:spPr>
          <a:xfrm>
            <a:off x="6443320"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定温倉庫で保管（全量付保）。B2B酒販店卸とB2C自社EC・オークションの2系統で販売</a:t>
            </a:r>
            <a:endParaRPr lang="en-US" sz="950" dirty="0"/>
          </a:p>
        </p:txBody>
      </p:sp>
      <p:sp>
        <p:nvSpPr>
          <p:cNvPr id="38" name="Text 36"/>
          <p:cNvSpPr/>
          <p:nvPr/>
        </p:nvSpPr>
        <p:spPr>
          <a:xfrm>
            <a:off x="6443320"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定価比 70／80</a:t>
            </a:r>
            <a:endParaRPr lang="en-US" sz="1000" dirty="0"/>
          </a:p>
        </p:txBody>
      </p:sp>
      <p:sp>
        <p:nvSpPr>
          <p:cNvPr id="39" name="Shape 37"/>
          <p:cNvSpPr/>
          <p:nvPr/>
        </p:nvSpPr>
        <p:spPr>
          <a:xfrm>
            <a:off x="9006611" y="3291840"/>
            <a:ext cx="2526716" cy="1609344"/>
          </a:xfrm>
          <a:prstGeom prst="roundRect">
            <a:avLst>
              <a:gd name="adj" fmla="val 2557"/>
            </a:avLst>
          </a:prstGeom>
          <a:solidFill>
            <a:srgbClr val="171614"/>
          </a:solidFill>
          <a:ln w="9525">
            <a:solidFill>
              <a:srgbClr val="2E2A24"/>
            </a:solidFill>
            <a:prstDash val="solid"/>
          </a:ln>
        </p:spPr>
      </p:sp>
      <p:sp>
        <p:nvSpPr>
          <p:cNvPr id="40" name="Shape 38"/>
          <p:cNvSpPr/>
          <p:nvPr/>
        </p:nvSpPr>
        <p:spPr>
          <a:xfrm>
            <a:off x="9226067" y="3493008"/>
            <a:ext cx="310896" cy="310896"/>
          </a:xfrm>
          <a:prstGeom prst="ellipse">
            <a:avLst/>
          </a:prstGeom>
          <a:solidFill>
            <a:srgbClr val="0C0C0C"/>
          </a:solidFill>
          <a:ln w="11430">
            <a:solidFill>
              <a:srgbClr val="A78450"/>
            </a:solidFill>
            <a:prstDash val="solid"/>
          </a:ln>
        </p:spPr>
      </p:sp>
      <p:sp>
        <p:nvSpPr>
          <p:cNvPr id="41" name="Text 39"/>
          <p:cNvSpPr/>
          <p:nvPr/>
        </p:nvSpPr>
        <p:spPr>
          <a:xfrm>
            <a:off x="9226067"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42" name="Text 40"/>
          <p:cNvSpPr/>
          <p:nvPr/>
        </p:nvSpPr>
        <p:spPr>
          <a:xfrm>
            <a:off x="9628403"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分配</a:t>
            </a:r>
            <a:endParaRPr lang="en-US" sz="1200" dirty="0"/>
          </a:p>
        </p:txBody>
      </p:sp>
      <p:sp>
        <p:nvSpPr>
          <p:cNvPr id="43" name="Text 41"/>
          <p:cNvSpPr/>
          <p:nvPr/>
        </p:nvSpPr>
        <p:spPr>
          <a:xfrm>
            <a:off x="9226067"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SPCの税前利益を半期ごとに折半し分配。元本はSPC内で継続運用</a:t>
            </a:r>
            <a:endParaRPr lang="en-US" sz="950" dirty="0"/>
          </a:p>
        </p:txBody>
      </p:sp>
      <p:sp>
        <p:nvSpPr>
          <p:cNvPr id="44" name="Text 42"/>
          <p:cNvSpPr/>
          <p:nvPr/>
        </p:nvSpPr>
        <p:spPr>
          <a:xfrm>
            <a:off x="9226067"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投資家50：WB50</a:t>
            </a:r>
            <a:endParaRPr lang="en-US" sz="1000" dirty="0"/>
          </a:p>
        </p:txBody>
      </p:sp>
      <p:sp>
        <p:nvSpPr>
          <p:cNvPr id="45" name="Text 43"/>
          <p:cNvSpPr/>
          <p:nvPr/>
        </p:nvSpPr>
        <p:spPr>
          <a:xfrm>
            <a:off x="658368" y="5084064"/>
            <a:ext cx="10874959"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 ワイン現物はSPC名義で保有し、WineBankの債権者から倒産隔離する。WineBankはGPとして実行を担い、報酬は「譲渡時1%」と「利益折半のGP取分」に限定。SPCに対する別途の管理報酬（期中報酬・成功報酬）は課さない。</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REGULATORY &amp; TRADE PRACTICE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なぜSPCが直接仕入・販売できないのか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酒類は免許業種であり、取引口座は法人単位で審査される。SPC単独では商流に乗れない。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05</a:t>
            </a:r>
            <a:endParaRPr lang="en-US" sz="950" dirty="0"/>
          </a:p>
        </p:txBody>
      </p:sp>
      <p:sp>
        <p:nvSpPr>
          <p:cNvPr id="7" name="Shape 5"/>
          <p:cNvSpPr/>
          <p:nvPr/>
        </p:nvSpPr>
        <p:spPr>
          <a:xfrm>
            <a:off x="658368" y="1664208"/>
            <a:ext cx="3442106" cy="1975104"/>
          </a:xfrm>
          <a:prstGeom prst="roundRect">
            <a:avLst>
              <a:gd name="adj" fmla="val 2083"/>
            </a:avLst>
          </a:prstGeom>
          <a:solidFill>
            <a:srgbClr val="171614"/>
          </a:solidFill>
          <a:ln w="9525">
            <a:solidFill>
              <a:srgbClr val="2E2A24"/>
            </a:solidFill>
            <a:prstDash val="solid"/>
          </a:ln>
        </p:spPr>
      </p:sp>
      <p:sp>
        <p:nvSpPr>
          <p:cNvPr id="8" name="Shape 6"/>
          <p:cNvSpPr/>
          <p:nvPr/>
        </p:nvSpPr>
        <p:spPr>
          <a:xfrm>
            <a:off x="896112" y="1865376"/>
            <a:ext cx="310896" cy="310896"/>
          </a:xfrm>
          <a:prstGeom prst="ellipse">
            <a:avLst/>
          </a:prstGeom>
          <a:solidFill>
            <a:srgbClr val="0C0C0C"/>
          </a:solidFill>
          <a:ln w="11430">
            <a:solidFill>
              <a:srgbClr val="A78450"/>
            </a:solidFill>
            <a:prstDash val="solid"/>
          </a:ln>
        </p:spPr>
      </p:sp>
      <p:sp>
        <p:nvSpPr>
          <p:cNvPr id="9" name="Text 7"/>
          <p:cNvSpPr/>
          <p:nvPr/>
        </p:nvSpPr>
        <p:spPr>
          <a:xfrm>
            <a:off x="896112"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10" name="Text 8"/>
          <p:cNvSpPr/>
          <p:nvPr/>
        </p:nvSpPr>
        <p:spPr>
          <a:xfrm>
            <a:off x="1298448"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酒類販売業免許</a:t>
            </a:r>
            <a:endParaRPr lang="en-US" sz="1200" dirty="0"/>
          </a:p>
        </p:txBody>
      </p:sp>
      <p:sp>
        <p:nvSpPr>
          <p:cNvPr id="11" name="Text 9"/>
          <p:cNvSpPr/>
          <p:nvPr/>
        </p:nvSpPr>
        <p:spPr>
          <a:xfrm>
            <a:off x="896112"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酒類の売買には販売場ごとの免許が必要。新設SPCが一般酒類小売業免許・酒類卸売業免許を取得するには、経営基礎要件（直近3事業年度の財務内容等）や需給調整要件の充足が求められ、設立直後の器としては実務上ハードルが高く、審査にも相応の期間を要する。</a:t>
            </a:r>
            <a:endParaRPr lang="en-US" sz="950" dirty="0"/>
          </a:p>
        </p:txBody>
      </p:sp>
      <p:sp>
        <p:nvSpPr>
          <p:cNvPr id="12" name="Shape 10"/>
          <p:cNvSpPr/>
          <p:nvPr/>
        </p:nvSpPr>
        <p:spPr>
          <a:xfrm>
            <a:off x="4374794" y="1664208"/>
            <a:ext cx="3442106" cy="1975104"/>
          </a:xfrm>
          <a:prstGeom prst="roundRect">
            <a:avLst>
              <a:gd name="adj" fmla="val 2083"/>
            </a:avLst>
          </a:prstGeom>
          <a:solidFill>
            <a:srgbClr val="171614"/>
          </a:solidFill>
          <a:ln w="9525">
            <a:solidFill>
              <a:srgbClr val="2E2A24"/>
            </a:solidFill>
            <a:prstDash val="solid"/>
          </a:ln>
        </p:spPr>
      </p:sp>
      <p:sp>
        <p:nvSpPr>
          <p:cNvPr id="13" name="Shape 11"/>
          <p:cNvSpPr/>
          <p:nvPr/>
        </p:nvSpPr>
        <p:spPr>
          <a:xfrm>
            <a:off x="4612538" y="1865376"/>
            <a:ext cx="310896" cy="310896"/>
          </a:xfrm>
          <a:prstGeom prst="ellipse">
            <a:avLst/>
          </a:prstGeom>
          <a:solidFill>
            <a:srgbClr val="0C0C0C"/>
          </a:solidFill>
          <a:ln w="11430">
            <a:solidFill>
              <a:srgbClr val="A78450"/>
            </a:solidFill>
            <a:prstDash val="solid"/>
          </a:ln>
        </p:spPr>
      </p:sp>
      <p:sp>
        <p:nvSpPr>
          <p:cNvPr id="14" name="Text 12"/>
          <p:cNvSpPr/>
          <p:nvPr/>
        </p:nvSpPr>
        <p:spPr>
          <a:xfrm>
            <a:off x="4612538"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5" name="Text 13"/>
          <p:cNvSpPr/>
          <p:nvPr/>
        </p:nvSpPr>
        <p:spPr>
          <a:xfrm>
            <a:off x="5014874"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インポーターの取引基準</a:t>
            </a:r>
            <a:endParaRPr lang="en-US" sz="1200" dirty="0"/>
          </a:p>
        </p:txBody>
      </p:sp>
      <p:sp>
        <p:nvSpPr>
          <p:cNvPr id="16" name="Text 14"/>
          <p:cNvSpPr/>
          <p:nvPr/>
        </p:nvSpPr>
        <p:spPr>
          <a:xfrm>
            <a:off x="4612538"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大手インポーターは新規取引先に対し、与信・取引実績・年間取引量を審査したうえで口座を開設する。事業実体を持たないSPCでは口座開設に至らない。特価・正規割当は長年の取引関係に紐づいており、法人格が変われば引き継げない。</a:t>
            </a:r>
            <a:endParaRPr lang="en-US" sz="950" dirty="0"/>
          </a:p>
        </p:txBody>
      </p:sp>
      <p:sp>
        <p:nvSpPr>
          <p:cNvPr id="17" name="Shape 15"/>
          <p:cNvSpPr/>
          <p:nvPr/>
        </p:nvSpPr>
        <p:spPr>
          <a:xfrm>
            <a:off x="8091221" y="1664208"/>
            <a:ext cx="3442106" cy="1975104"/>
          </a:xfrm>
          <a:prstGeom prst="roundRect">
            <a:avLst>
              <a:gd name="adj" fmla="val 2083"/>
            </a:avLst>
          </a:prstGeom>
          <a:solidFill>
            <a:srgbClr val="171614"/>
          </a:solidFill>
          <a:ln w="9525">
            <a:solidFill>
              <a:srgbClr val="2E2A24"/>
            </a:solidFill>
            <a:prstDash val="solid"/>
          </a:ln>
        </p:spPr>
      </p:sp>
      <p:sp>
        <p:nvSpPr>
          <p:cNvPr id="18" name="Shape 16"/>
          <p:cNvSpPr/>
          <p:nvPr/>
        </p:nvSpPr>
        <p:spPr>
          <a:xfrm>
            <a:off x="8328965" y="1865376"/>
            <a:ext cx="310896" cy="310896"/>
          </a:xfrm>
          <a:prstGeom prst="ellipse">
            <a:avLst/>
          </a:prstGeom>
          <a:solidFill>
            <a:srgbClr val="0C0C0C"/>
          </a:solidFill>
          <a:ln w="11430">
            <a:solidFill>
              <a:srgbClr val="A78450"/>
            </a:solidFill>
            <a:prstDash val="solid"/>
          </a:ln>
        </p:spPr>
      </p:sp>
      <p:sp>
        <p:nvSpPr>
          <p:cNvPr id="19" name="Text 17"/>
          <p:cNvSpPr/>
          <p:nvPr/>
        </p:nvSpPr>
        <p:spPr>
          <a:xfrm>
            <a:off x="8328965"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20" name="Text 18"/>
          <p:cNvSpPr/>
          <p:nvPr/>
        </p:nvSpPr>
        <p:spPr>
          <a:xfrm>
            <a:off x="8731301"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割当（アロケーション）の属人性</a:t>
            </a:r>
            <a:endParaRPr lang="en-US" sz="1200" dirty="0"/>
          </a:p>
        </p:txBody>
      </p:sp>
      <p:sp>
        <p:nvSpPr>
          <p:cNvPr id="21" name="Text 19"/>
          <p:cNvSpPr/>
          <p:nvPr/>
        </p:nvSpPr>
        <p:spPr>
          <a:xfrm>
            <a:off x="8328965"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希少銘柄の割当はWineBank名義に対して付与されるものであり、第三者へ譲り渡すことができない。創業55年の酒販実績と輸出入ライセンスに基づく調達力は、SPCへ移管できない無形資産である。</a:t>
            </a:r>
            <a:endParaRPr lang="en-US" sz="950" dirty="0"/>
          </a:p>
        </p:txBody>
      </p:sp>
      <p:sp>
        <p:nvSpPr>
          <p:cNvPr id="22" name="Shape 20"/>
          <p:cNvSpPr/>
          <p:nvPr/>
        </p:nvSpPr>
        <p:spPr>
          <a:xfrm>
            <a:off x="658368" y="3858768"/>
            <a:ext cx="10874959" cy="1554480"/>
          </a:xfrm>
          <a:prstGeom prst="roundRect">
            <a:avLst>
              <a:gd name="adj" fmla="val 2647"/>
            </a:avLst>
          </a:prstGeom>
          <a:solidFill>
            <a:srgbClr val="1F1D19"/>
          </a:solidFill>
          <a:ln w="9525">
            <a:solidFill>
              <a:srgbClr val="6E5730"/>
            </a:solidFill>
            <a:prstDash val="solid"/>
          </a:ln>
        </p:spPr>
      </p:sp>
      <p:sp>
        <p:nvSpPr>
          <p:cNvPr id="23" name="Text 21"/>
          <p:cNvSpPr/>
          <p:nvPr/>
        </p:nvSpPr>
        <p:spPr>
          <a:xfrm>
            <a:off x="932688" y="4023360"/>
            <a:ext cx="27432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採用するスキーム</a:t>
            </a:r>
            <a:endParaRPr lang="en-US" sz="1200" dirty="0"/>
          </a:p>
        </p:txBody>
      </p:sp>
      <p:sp>
        <p:nvSpPr>
          <p:cNvPr id="24" name="Text 22"/>
          <p:cNvSpPr/>
          <p:nvPr/>
        </p:nvSpPr>
        <p:spPr>
          <a:xfrm>
            <a:off x="932688" y="4297680"/>
            <a:ext cx="10326319"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WineBankが免許事業者として仕入・販売の当事者となり、現物をSPCへ譲渡する。SPCは所有者として損益を受ける。</a:t>
            </a:r>
            <a:endParaRPr lang="en-US" sz="1250" dirty="0"/>
          </a:p>
        </p:txBody>
      </p:sp>
      <p:sp>
        <p:nvSpPr>
          <p:cNvPr id="25" name="Text 23"/>
          <p:cNvSpPr/>
          <p:nvPr/>
        </p:nvSpPr>
        <p:spPr>
          <a:xfrm>
            <a:off x="932688" y="4645152"/>
            <a:ext cx="50717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譲渡価格を同額にできない理由</a:t>
            </a:r>
            <a:endParaRPr lang="en-US" sz="1050" dirty="0"/>
          </a:p>
        </p:txBody>
      </p:sp>
      <p:sp>
        <p:nvSpPr>
          <p:cNvPr id="26" name="Text 24"/>
          <p:cNvSpPr/>
          <p:nvPr/>
        </p:nvSpPr>
        <p:spPr>
          <a:xfrm>
            <a:off x="932688" y="4882896"/>
            <a:ext cx="5071720" cy="475488"/>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WineBankは在庫リスク・与信・入出庫事務を負って調達する。同額譲渡では対価なき役務提供となり、税務上も寄附金認定・移転価格の論点を招く。独立企業間価格として最小限の1%を付加する。</a:t>
            </a:r>
            <a:endParaRPr lang="en-US" sz="950" dirty="0"/>
          </a:p>
        </p:txBody>
      </p:sp>
      <p:sp>
        <p:nvSpPr>
          <p:cNvPr id="27" name="Text 25"/>
          <p:cNvSpPr/>
          <p:nvPr/>
        </p:nvSpPr>
        <p:spPr>
          <a:xfrm>
            <a:off x="6187288" y="4645152"/>
            <a:ext cx="50717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1%の金額イメージ</a:t>
            </a:r>
            <a:endParaRPr lang="en-US" sz="1050" dirty="0"/>
          </a:p>
        </p:txBody>
      </p:sp>
      <p:sp>
        <p:nvSpPr>
          <p:cNvPr id="28" name="Text 26"/>
          <p:cNvSpPr/>
          <p:nvPr/>
        </p:nvSpPr>
        <p:spPr>
          <a:xfrm>
            <a:off x="6187288" y="4882896"/>
            <a:ext cx="5071720" cy="475488"/>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SPC払込5億円 → 実商品原価4.95億円 ＋ 譲渡マージン500万円。回転12ヶ月・稼働率95%の定常状態では、年間のSPC仕入4.75億円に対しWineBankの譲渡マージンは年約470万円となる。</a:t>
            </a:r>
            <a:endParaRPr lang="en-US" sz="950" dirty="0"/>
          </a:p>
        </p:txBody>
      </p:sp>
      <p:sp>
        <p:nvSpPr>
          <p:cNvPr id="29" name="Text 27"/>
          <p:cNvSpPr/>
          <p:nvPr/>
        </p:nvSpPr>
        <p:spPr>
          <a:xfrm>
            <a:off x="658368" y="5541264"/>
            <a:ext cx="10874959" cy="256032"/>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 SPC自体の免許要否および委託・売買形態の切り分けは、所轄税務署（酒類指導官）および顧問弁護士との確認事項として、契約書ドラフト作成前に確定させる。</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SOURCE OF RETURN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収益の源泉：ワイン流通の価格差</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同一商品が流通段階ごとに異なる価格で存在する。この価格差＝粗利をファンドが取り込む。</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06</a:t>
            </a:r>
            <a:endParaRPr lang="en-US" sz="950" dirty="0"/>
          </a:p>
        </p:txBody>
      </p:sp>
      <p:sp>
        <p:nvSpPr>
          <p:cNvPr id="7" name="Shape 5"/>
          <p:cNvSpPr/>
          <p:nvPr/>
        </p:nvSpPr>
        <p:spPr>
          <a:xfrm>
            <a:off x="658368" y="1719072"/>
            <a:ext cx="1984797" cy="1700784"/>
          </a:xfrm>
          <a:prstGeom prst="roundRect">
            <a:avLst>
              <a:gd name="adj" fmla="val 2419"/>
            </a:avLst>
          </a:prstGeom>
          <a:solidFill>
            <a:srgbClr val="1F1D19"/>
          </a:solidFill>
          <a:ln w="9525">
            <a:solidFill>
              <a:srgbClr val="6E5730"/>
            </a:solidFill>
            <a:prstDash val="solid"/>
          </a:ln>
        </p:spPr>
      </p:sp>
      <p:sp>
        <p:nvSpPr>
          <p:cNvPr id="8" name="Text 6"/>
          <p:cNvSpPr/>
          <p:nvPr/>
        </p:nvSpPr>
        <p:spPr>
          <a:xfrm>
            <a:off x="841248"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インポーター仕入</a:t>
            </a:r>
            <a:endParaRPr lang="en-US" sz="1050" dirty="0"/>
          </a:p>
        </p:txBody>
      </p:sp>
      <p:sp>
        <p:nvSpPr>
          <p:cNvPr id="9" name="Text 7"/>
          <p:cNvSpPr/>
          <p:nvPr/>
        </p:nvSpPr>
        <p:spPr>
          <a:xfrm>
            <a:off x="841248" y="2212848"/>
            <a:ext cx="1619037" cy="694944"/>
          </a:xfrm>
          <a:prstGeom prst="rect">
            <a:avLst/>
          </a:prstGeom>
          <a:noFill/>
          <a:ln/>
        </p:spPr>
        <p:txBody>
          <a:bodyPr wrap="square" lIns="0" tIns="0" rIns="0" bIns="0" rtlCol="0" anchor="ctr"/>
          <a:lstStyle/>
          <a:p>
            <a:pPr indent="0" marL="0">
              <a:buNone/>
            </a:pPr>
            <a:r>
              <a:rPr lang="en-US" sz="4000" b="1" dirty="0">
                <a:solidFill>
                  <a:srgbClr val="C9A96E"/>
                </a:solidFill>
                <a:latin typeface="Cambria" pitchFamily="34" charset="0"/>
                <a:ea typeface="Cambria" pitchFamily="34" charset="-122"/>
                <a:cs typeface="Cambria" pitchFamily="34" charset="-120"/>
              </a:rPr>
              <a:t>40</a:t>
            </a:r>
            <a:endParaRPr lang="en-US" sz="4000" dirty="0"/>
          </a:p>
        </p:txBody>
      </p:sp>
      <p:sp>
        <p:nvSpPr>
          <p:cNvPr id="10" name="Text 8"/>
          <p:cNvSpPr/>
          <p:nvPr/>
        </p:nvSpPr>
        <p:spPr>
          <a:xfrm>
            <a:off x="841248"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仕入①</a:t>
            </a:r>
            <a:endParaRPr lang="en-US" sz="950" dirty="0"/>
          </a:p>
        </p:txBody>
      </p:sp>
      <p:sp>
        <p:nvSpPr>
          <p:cNvPr id="11" name="Shape 9"/>
          <p:cNvSpPr/>
          <p:nvPr/>
        </p:nvSpPr>
        <p:spPr>
          <a:xfrm>
            <a:off x="2880909" y="1719072"/>
            <a:ext cx="1984797" cy="1700784"/>
          </a:xfrm>
          <a:prstGeom prst="roundRect">
            <a:avLst>
              <a:gd name="adj" fmla="val 2419"/>
            </a:avLst>
          </a:prstGeom>
          <a:solidFill>
            <a:srgbClr val="1F1D19"/>
          </a:solidFill>
          <a:ln w="9525">
            <a:solidFill>
              <a:srgbClr val="6E5730"/>
            </a:solidFill>
            <a:prstDash val="solid"/>
          </a:ln>
        </p:spPr>
      </p:sp>
      <p:sp>
        <p:nvSpPr>
          <p:cNvPr id="12" name="Text 10"/>
          <p:cNvSpPr/>
          <p:nvPr/>
        </p:nvSpPr>
        <p:spPr>
          <a:xfrm>
            <a:off x="3063789"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酒販店仕入</a:t>
            </a:r>
            <a:endParaRPr lang="en-US" sz="1050" dirty="0"/>
          </a:p>
        </p:txBody>
      </p:sp>
      <p:sp>
        <p:nvSpPr>
          <p:cNvPr id="13" name="Text 11"/>
          <p:cNvSpPr/>
          <p:nvPr/>
        </p:nvSpPr>
        <p:spPr>
          <a:xfrm>
            <a:off x="3063789" y="2212848"/>
            <a:ext cx="1619037" cy="694944"/>
          </a:xfrm>
          <a:prstGeom prst="rect">
            <a:avLst/>
          </a:prstGeom>
          <a:noFill/>
          <a:ln/>
        </p:spPr>
        <p:txBody>
          <a:bodyPr wrap="square" lIns="0" tIns="0" rIns="0" bIns="0" rtlCol="0" anchor="ctr"/>
          <a:lstStyle/>
          <a:p>
            <a:pPr indent="0" marL="0">
              <a:buNone/>
            </a:pPr>
            <a:r>
              <a:rPr lang="en-US" sz="4000" b="1" dirty="0">
                <a:solidFill>
                  <a:srgbClr val="C9A96E"/>
                </a:solidFill>
                <a:latin typeface="Cambria" pitchFamily="34" charset="0"/>
                <a:ea typeface="Cambria" pitchFamily="34" charset="-122"/>
                <a:cs typeface="Cambria" pitchFamily="34" charset="-120"/>
              </a:rPr>
              <a:t>60</a:t>
            </a:r>
            <a:endParaRPr lang="en-US" sz="4000" dirty="0"/>
          </a:p>
        </p:txBody>
      </p:sp>
      <p:sp>
        <p:nvSpPr>
          <p:cNvPr id="14" name="Text 12"/>
          <p:cNvSpPr/>
          <p:nvPr/>
        </p:nvSpPr>
        <p:spPr>
          <a:xfrm>
            <a:off x="3063789"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仕入②</a:t>
            </a:r>
            <a:endParaRPr lang="en-US" sz="950" dirty="0"/>
          </a:p>
        </p:txBody>
      </p:sp>
      <p:sp>
        <p:nvSpPr>
          <p:cNvPr id="15" name="Shape 13"/>
          <p:cNvSpPr/>
          <p:nvPr/>
        </p:nvSpPr>
        <p:spPr>
          <a:xfrm>
            <a:off x="5103449" y="1719072"/>
            <a:ext cx="1984797" cy="1700784"/>
          </a:xfrm>
          <a:prstGeom prst="roundRect">
            <a:avLst>
              <a:gd name="adj" fmla="val 2419"/>
            </a:avLst>
          </a:prstGeom>
          <a:solidFill>
            <a:srgbClr val="1F1D19"/>
          </a:solidFill>
          <a:ln w="9525">
            <a:solidFill>
              <a:srgbClr val="A78450"/>
            </a:solidFill>
            <a:prstDash val="solid"/>
          </a:ln>
        </p:spPr>
      </p:sp>
      <p:sp>
        <p:nvSpPr>
          <p:cNvPr id="16" name="Text 14"/>
          <p:cNvSpPr/>
          <p:nvPr/>
        </p:nvSpPr>
        <p:spPr>
          <a:xfrm>
            <a:off x="5286329"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酒販店卸 売値</a:t>
            </a:r>
            <a:endParaRPr lang="en-US" sz="1050" dirty="0"/>
          </a:p>
        </p:txBody>
      </p:sp>
      <p:sp>
        <p:nvSpPr>
          <p:cNvPr id="17" name="Text 15"/>
          <p:cNvSpPr/>
          <p:nvPr/>
        </p:nvSpPr>
        <p:spPr>
          <a:xfrm>
            <a:off x="5286329" y="2212848"/>
            <a:ext cx="1619037" cy="694944"/>
          </a:xfrm>
          <a:prstGeom prst="rect">
            <a:avLst/>
          </a:prstGeom>
          <a:noFill/>
          <a:ln/>
        </p:spPr>
        <p:txBody>
          <a:bodyPr wrap="square" lIns="0" tIns="0" rIns="0" bIns="0" rtlCol="0" anchor="ctr"/>
          <a:lstStyle/>
          <a:p>
            <a:pPr indent="0" marL="0">
              <a:buNone/>
            </a:pPr>
            <a:r>
              <a:rPr lang="en-US" sz="4000" b="1" dirty="0">
                <a:solidFill>
                  <a:srgbClr val="C9A96E"/>
                </a:solidFill>
                <a:latin typeface="Cambria" pitchFamily="34" charset="0"/>
                <a:ea typeface="Cambria" pitchFamily="34" charset="-122"/>
                <a:cs typeface="Cambria" pitchFamily="34" charset="-120"/>
              </a:rPr>
              <a:t>70</a:t>
            </a:r>
            <a:endParaRPr lang="en-US" sz="4000" dirty="0"/>
          </a:p>
        </p:txBody>
      </p:sp>
      <p:sp>
        <p:nvSpPr>
          <p:cNvPr id="18" name="Text 16"/>
          <p:cNvSpPr/>
          <p:nvPr/>
        </p:nvSpPr>
        <p:spPr>
          <a:xfrm>
            <a:off x="5286329"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売却① B2B</a:t>
            </a:r>
            <a:endParaRPr lang="en-US" sz="950" dirty="0"/>
          </a:p>
        </p:txBody>
      </p:sp>
      <p:sp>
        <p:nvSpPr>
          <p:cNvPr id="19" name="Shape 17"/>
          <p:cNvSpPr/>
          <p:nvPr/>
        </p:nvSpPr>
        <p:spPr>
          <a:xfrm>
            <a:off x="7325990" y="1719072"/>
            <a:ext cx="1984797" cy="1700784"/>
          </a:xfrm>
          <a:prstGeom prst="roundRect">
            <a:avLst>
              <a:gd name="adj" fmla="val 2419"/>
            </a:avLst>
          </a:prstGeom>
          <a:solidFill>
            <a:srgbClr val="1F1D19"/>
          </a:solidFill>
          <a:ln w="9525">
            <a:solidFill>
              <a:srgbClr val="A78450"/>
            </a:solidFill>
            <a:prstDash val="solid"/>
          </a:ln>
        </p:spPr>
      </p:sp>
      <p:sp>
        <p:nvSpPr>
          <p:cNvPr id="20" name="Text 18"/>
          <p:cNvSpPr/>
          <p:nvPr/>
        </p:nvSpPr>
        <p:spPr>
          <a:xfrm>
            <a:off x="7508870"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ネット最安 売値</a:t>
            </a:r>
            <a:endParaRPr lang="en-US" sz="1050" dirty="0"/>
          </a:p>
        </p:txBody>
      </p:sp>
      <p:sp>
        <p:nvSpPr>
          <p:cNvPr id="21" name="Text 19"/>
          <p:cNvSpPr/>
          <p:nvPr/>
        </p:nvSpPr>
        <p:spPr>
          <a:xfrm>
            <a:off x="7508870" y="2212848"/>
            <a:ext cx="1619037" cy="694944"/>
          </a:xfrm>
          <a:prstGeom prst="rect">
            <a:avLst/>
          </a:prstGeom>
          <a:noFill/>
          <a:ln/>
        </p:spPr>
        <p:txBody>
          <a:bodyPr wrap="square" lIns="0" tIns="0" rIns="0" bIns="0" rtlCol="0" anchor="ctr"/>
          <a:lstStyle/>
          <a:p>
            <a:pPr indent="0" marL="0">
              <a:buNone/>
            </a:pPr>
            <a:r>
              <a:rPr lang="en-US" sz="4000" b="1" dirty="0">
                <a:solidFill>
                  <a:srgbClr val="C9A96E"/>
                </a:solidFill>
                <a:latin typeface="Cambria" pitchFamily="34" charset="0"/>
                <a:ea typeface="Cambria" pitchFamily="34" charset="-122"/>
                <a:cs typeface="Cambria" pitchFamily="34" charset="-120"/>
              </a:rPr>
              <a:t>80</a:t>
            </a:r>
            <a:endParaRPr lang="en-US" sz="4000" dirty="0"/>
          </a:p>
        </p:txBody>
      </p:sp>
      <p:sp>
        <p:nvSpPr>
          <p:cNvPr id="22" name="Text 20"/>
          <p:cNvSpPr/>
          <p:nvPr/>
        </p:nvSpPr>
        <p:spPr>
          <a:xfrm>
            <a:off x="7508870"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売却② B2C</a:t>
            </a:r>
            <a:endParaRPr lang="en-US" sz="950" dirty="0"/>
          </a:p>
        </p:txBody>
      </p:sp>
      <p:sp>
        <p:nvSpPr>
          <p:cNvPr id="23" name="Shape 21"/>
          <p:cNvSpPr/>
          <p:nvPr/>
        </p:nvSpPr>
        <p:spPr>
          <a:xfrm>
            <a:off x="9548531" y="1719072"/>
            <a:ext cx="1984797" cy="1700784"/>
          </a:xfrm>
          <a:prstGeom prst="roundRect">
            <a:avLst>
              <a:gd name="adj" fmla="val 2419"/>
            </a:avLst>
          </a:prstGeom>
          <a:solidFill>
            <a:srgbClr val="171614"/>
          </a:solidFill>
          <a:ln w="9525">
            <a:solidFill>
              <a:srgbClr val="2E2A24"/>
            </a:solidFill>
            <a:prstDash val="solid"/>
          </a:ln>
        </p:spPr>
      </p:sp>
      <p:sp>
        <p:nvSpPr>
          <p:cNvPr id="24" name="Text 22"/>
          <p:cNvSpPr/>
          <p:nvPr/>
        </p:nvSpPr>
        <p:spPr>
          <a:xfrm>
            <a:off x="9731411"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希望小売価格</a:t>
            </a:r>
            <a:endParaRPr lang="en-US" sz="1050" dirty="0"/>
          </a:p>
        </p:txBody>
      </p:sp>
      <p:sp>
        <p:nvSpPr>
          <p:cNvPr id="25" name="Text 23"/>
          <p:cNvSpPr/>
          <p:nvPr/>
        </p:nvSpPr>
        <p:spPr>
          <a:xfrm>
            <a:off x="9731411" y="2212848"/>
            <a:ext cx="1619037" cy="694944"/>
          </a:xfrm>
          <a:prstGeom prst="rect">
            <a:avLst/>
          </a:prstGeom>
          <a:noFill/>
          <a:ln/>
        </p:spPr>
        <p:txBody>
          <a:bodyPr wrap="square" lIns="0" tIns="0" rIns="0" bIns="0" rtlCol="0" anchor="ctr"/>
          <a:lstStyle/>
          <a:p>
            <a:pPr indent="0" marL="0">
              <a:buNone/>
            </a:pPr>
            <a:r>
              <a:rPr lang="en-US" sz="4000" b="1" dirty="0">
                <a:solidFill>
                  <a:srgbClr val="9A938A"/>
                </a:solidFill>
                <a:latin typeface="Cambria" pitchFamily="34" charset="0"/>
                <a:ea typeface="Cambria" pitchFamily="34" charset="-122"/>
                <a:cs typeface="Cambria" pitchFamily="34" charset="-120"/>
              </a:rPr>
              <a:t>100</a:t>
            </a:r>
            <a:endParaRPr lang="en-US" sz="4000" dirty="0"/>
          </a:p>
        </p:txBody>
      </p:sp>
      <p:sp>
        <p:nvSpPr>
          <p:cNvPr id="26" name="Text 24"/>
          <p:cNvSpPr/>
          <p:nvPr/>
        </p:nvSpPr>
        <p:spPr>
          <a:xfrm>
            <a:off x="9731411"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消費者</a:t>
            </a:r>
            <a:endParaRPr lang="en-US" sz="950" dirty="0"/>
          </a:p>
        </p:txBody>
      </p:sp>
      <p:sp>
        <p:nvSpPr>
          <p:cNvPr id="27" name="Shape 25"/>
          <p:cNvSpPr/>
          <p:nvPr/>
        </p:nvSpPr>
        <p:spPr>
          <a:xfrm>
            <a:off x="658368" y="3675888"/>
            <a:ext cx="10874959" cy="1956816"/>
          </a:xfrm>
          <a:prstGeom prst="roundRect">
            <a:avLst>
              <a:gd name="adj" fmla="val 2103"/>
            </a:avLst>
          </a:prstGeom>
          <a:solidFill>
            <a:srgbClr val="1F1D19"/>
          </a:solidFill>
          <a:ln w="9525">
            <a:solidFill>
              <a:srgbClr val="6E5730"/>
            </a:solidFill>
            <a:prstDash val="solid"/>
          </a:ln>
        </p:spPr>
      </p:sp>
      <p:sp>
        <p:nvSpPr>
          <p:cNvPr id="28" name="Text 26"/>
          <p:cNvSpPr/>
          <p:nvPr/>
        </p:nvSpPr>
        <p:spPr>
          <a:xfrm>
            <a:off x="932688" y="3822192"/>
            <a:ext cx="54864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主線（ニュートラル）の置き方　― 保有12ヶ月の場合</a:t>
            </a:r>
            <a:endParaRPr lang="en-US" sz="1200" dirty="0"/>
          </a:p>
        </p:txBody>
      </p:sp>
      <p:sp>
        <p:nvSpPr>
          <p:cNvPr id="29" name="Text 27"/>
          <p:cNvSpPr/>
          <p:nvPr/>
        </p:nvSpPr>
        <p:spPr>
          <a:xfrm>
            <a:off x="932688" y="4133088"/>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仕入ポートフォリオ</a:t>
            </a:r>
            <a:endParaRPr lang="en-US" sz="1050" dirty="0"/>
          </a:p>
        </p:txBody>
      </p:sp>
      <p:sp>
        <p:nvSpPr>
          <p:cNvPr id="30" name="Text 28"/>
          <p:cNvSpPr/>
          <p:nvPr/>
        </p:nvSpPr>
        <p:spPr>
          <a:xfrm>
            <a:off x="4133088" y="4133088"/>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インポーター40 ＋ 酒販店60 を半々</a:t>
            </a:r>
            <a:endParaRPr lang="en-US" sz="1050" dirty="0"/>
          </a:p>
        </p:txBody>
      </p:sp>
      <p:sp>
        <p:nvSpPr>
          <p:cNvPr id="31" name="Text 29"/>
          <p:cNvSpPr/>
          <p:nvPr/>
        </p:nvSpPr>
        <p:spPr>
          <a:xfrm>
            <a:off x="8796528" y="4133088"/>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市中原価 50.00</a:t>
            </a:r>
            <a:endParaRPr lang="en-US" sz="1050" dirty="0"/>
          </a:p>
        </p:txBody>
      </p:sp>
      <p:sp>
        <p:nvSpPr>
          <p:cNvPr id="32" name="Text 30"/>
          <p:cNvSpPr/>
          <p:nvPr/>
        </p:nvSpPr>
        <p:spPr>
          <a:xfrm>
            <a:off x="932688" y="4389120"/>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現物譲渡（WineBank→SPC）</a:t>
            </a:r>
            <a:endParaRPr lang="en-US" sz="1050" dirty="0"/>
          </a:p>
        </p:txBody>
      </p:sp>
      <p:sp>
        <p:nvSpPr>
          <p:cNvPr id="33" name="Text 31"/>
          <p:cNvSpPr/>
          <p:nvPr/>
        </p:nvSpPr>
        <p:spPr>
          <a:xfrm>
            <a:off x="4133088" y="4389120"/>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独立企業間価格として1%を付加</a:t>
            </a:r>
            <a:endParaRPr lang="en-US" sz="1050" dirty="0"/>
          </a:p>
        </p:txBody>
      </p:sp>
      <p:sp>
        <p:nvSpPr>
          <p:cNvPr id="34" name="Text 32"/>
          <p:cNvSpPr/>
          <p:nvPr/>
        </p:nvSpPr>
        <p:spPr>
          <a:xfrm>
            <a:off x="8796528" y="4389120"/>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SPC取得原価 50.50</a:t>
            </a:r>
            <a:endParaRPr lang="en-US" sz="1050" dirty="0"/>
          </a:p>
        </p:txBody>
      </p:sp>
      <p:sp>
        <p:nvSpPr>
          <p:cNvPr id="35" name="Text 33"/>
          <p:cNvSpPr/>
          <p:nvPr/>
        </p:nvSpPr>
        <p:spPr>
          <a:xfrm>
            <a:off x="932688" y="4645152"/>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売却ポートフォリオ</a:t>
            </a:r>
            <a:endParaRPr lang="en-US" sz="1050" dirty="0"/>
          </a:p>
        </p:txBody>
      </p:sp>
      <p:sp>
        <p:nvSpPr>
          <p:cNvPr id="36" name="Text 34"/>
          <p:cNvSpPr/>
          <p:nvPr/>
        </p:nvSpPr>
        <p:spPr>
          <a:xfrm>
            <a:off x="4133088" y="4645152"/>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酒販店卸70（B2B）＋ ネット最安80（B2C）を半々</a:t>
            </a:r>
            <a:endParaRPr lang="en-US" sz="1050" dirty="0"/>
          </a:p>
        </p:txBody>
      </p:sp>
      <p:sp>
        <p:nvSpPr>
          <p:cNvPr id="37" name="Text 35"/>
          <p:cNvSpPr/>
          <p:nvPr/>
        </p:nvSpPr>
        <p:spPr>
          <a:xfrm>
            <a:off x="8796528" y="4645152"/>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取得時の売値 75.00</a:t>
            </a:r>
            <a:endParaRPr lang="en-US" sz="1050" dirty="0"/>
          </a:p>
        </p:txBody>
      </p:sp>
      <p:sp>
        <p:nvSpPr>
          <p:cNvPr id="38" name="Text 36"/>
          <p:cNvSpPr/>
          <p:nvPr/>
        </p:nvSpPr>
        <p:spPr>
          <a:xfrm>
            <a:off x="932688" y="4901184"/>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保有中の値上がり</a:t>
            </a:r>
            <a:endParaRPr lang="en-US" sz="1050" dirty="0"/>
          </a:p>
        </p:txBody>
      </p:sp>
      <p:sp>
        <p:nvSpPr>
          <p:cNvPr id="39" name="Text 37"/>
          <p:cNvSpPr/>
          <p:nvPr/>
        </p:nvSpPr>
        <p:spPr>
          <a:xfrm>
            <a:off x="4133088" y="4901184"/>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ワイン価格の年間上昇6%を12ヶ月保有</a:t>
            </a:r>
            <a:endParaRPr lang="en-US" sz="1050" dirty="0"/>
          </a:p>
        </p:txBody>
      </p:sp>
      <p:sp>
        <p:nvSpPr>
          <p:cNvPr id="40" name="Text 38"/>
          <p:cNvSpPr/>
          <p:nvPr/>
        </p:nvSpPr>
        <p:spPr>
          <a:xfrm>
            <a:off x="8796528" y="4901184"/>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×1.060 → 売値 79.50</a:t>
            </a:r>
            <a:endParaRPr lang="en-US" sz="1050" dirty="0"/>
          </a:p>
        </p:txBody>
      </p:sp>
      <p:sp>
        <p:nvSpPr>
          <p:cNvPr id="41" name="Text 39"/>
          <p:cNvSpPr/>
          <p:nvPr/>
        </p:nvSpPr>
        <p:spPr>
          <a:xfrm>
            <a:off x="932688" y="5157216"/>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変動販売費</a:t>
            </a:r>
            <a:endParaRPr lang="en-US" sz="1050" dirty="0"/>
          </a:p>
        </p:txBody>
      </p:sp>
      <p:sp>
        <p:nvSpPr>
          <p:cNvPr id="42" name="Text 40"/>
          <p:cNvSpPr/>
          <p:nvPr/>
        </p:nvSpPr>
        <p:spPr>
          <a:xfrm>
            <a:off x="4133088" y="5157216"/>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B2B 1.0% ／ B2C 11.2% の加重平均 6.44%</a:t>
            </a:r>
            <a:endParaRPr lang="en-US" sz="1050" dirty="0"/>
          </a:p>
        </p:txBody>
      </p:sp>
      <p:sp>
        <p:nvSpPr>
          <p:cNvPr id="43" name="Text 41"/>
          <p:cNvSpPr/>
          <p:nvPr/>
        </p:nvSpPr>
        <p:spPr>
          <a:xfrm>
            <a:off x="8796528" y="5157216"/>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 5.12 → 手取り 74.38</a:t>
            </a:r>
            <a:endParaRPr lang="en-US" sz="1050" dirty="0"/>
          </a:p>
        </p:txBody>
      </p:sp>
      <p:sp>
        <p:nvSpPr>
          <p:cNvPr id="44" name="Text 42"/>
          <p:cNvSpPr/>
          <p:nvPr/>
        </p:nvSpPr>
        <p:spPr>
          <a:xfrm>
            <a:off x="932688" y="5413248"/>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単位粗利</a:t>
            </a:r>
            <a:endParaRPr lang="en-US" sz="1050" dirty="0"/>
          </a:p>
        </p:txBody>
      </p:sp>
      <p:sp>
        <p:nvSpPr>
          <p:cNvPr id="45" name="Text 43"/>
          <p:cNvSpPr/>
          <p:nvPr/>
        </p:nvSpPr>
        <p:spPr>
          <a:xfrm>
            <a:off x="4133088" y="5413248"/>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手取り74.38 − SPC取得原価50.50</a:t>
            </a:r>
            <a:endParaRPr lang="en-US" sz="1050" dirty="0"/>
          </a:p>
        </p:txBody>
      </p:sp>
      <p:sp>
        <p:nvSpPr>
          <p:cNvPr id="46" name="Text 44"/>
          <p:cNvSpPr/>
          <p:nvPr/>
        </p:nvSpPr>
        <p:spPr>
          <a:xfrm>
            <a:off x="8796528" y="5413248"/>
            <a:ext cx="2462479" cy="237744"/>
          </a:xfrm>
          <a:prstGeom prst="rect">
            <a:avLst/>
          </a:prstGeom>
          <a:noFill/>
          <a:ln/>
        </p:spPr>
        <p:txBody>
          <a:bodyPr wrap="square" lIns="0" tIns="0" rIns="0" bIns="0" rtlCol="0" anchor="ctr"/>
          <a:lstStyle/>
          <a:p>
            <a:pPr algn="r" indent="0" marL="0">
              <a:buNone/>
            </a:pPr>
            <a:r>
              <a:rPr lang="en-US" sz="1050" b="1" dirty="0">
                <a:solidFill>
                  <a:srgbClr val="C9A96E"/>
                </a:solidFill>
                <a:latin typeface="Yu Gothic" pitchFamily="34" charset="0"/>
                <a:ea typeface="Yu Gothic" pitchFamily="34" charset="-122"/>
                <a:cs typeface="Yu Gothic" pitchFamily="34" charset="-120"/>
              </a:rPr>
              <a:t>粗利 23.88（粗利率 30.0%）</a:t>
            </a:r>
            <a:endParaRPr lang="en-US" sz="1050" dirty="0"/>
          </a:p>
        </p:txBody>
      </p:sp>
      <p:sp>
        <p:nvSpPr>
          <p:cNvPr id="47" name="Text 45"/>
          <p:cNvSpPr/>
          <p:nvPr/>
        </p:nvSpPr>
        <p:spPr>
          <a:xfrm>
            <a:off x="658368" y="5724144"/>
            <a:ext cx="10874959" cy="256032"/>
          </a:xfrm>
          <a:prstGeom prst="rect">
            <a:avLst/>
          </a:prstGeom>
          <a:noFill/>
          <a:ln/>
        </p:spPr>
        <p:txBody>
          <a:bodyPr wrap="square" lIns="0" tIns="0" rIns="0" bIns="0" rtlCol="0" anchor="ctr"/>
          <a:lstStyle/>
          <a:p>
            <a:pPr indent="0" marL="0">
              <a:buNone/>
            </a:pPr>
            <a:r>
              <a:rPr lang="en-US" sz="900" dirty="0">
                <a:solidFill>
                  <a:srgbClr val="6E675E"/>
                </a:solidFill>
                <a:latin typeface="Yu Gothic" pitchFamily="34" charset="0"/>
                <a:ea typeface="Yu Gothic" pitchFamily="34" charset="-122"/>
                <a:cs typeface="Yu Gothic" pitchFamily="34" charset="-120"/>
              </a:rPr>
              <a:t>価格の上昇は流通段階全体（希望小売・ネット最安・卸値）が連動するため、取得原価は据え置きのまま売値だけが上がる。上昇率は会社資料のFine Wine年率10%に対し、保守的に6%を主線とする。</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CHANNEL ECONOMICS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販売チャネル別の手取り：B2B卸とB2Cネット販売</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売値だけでは判断できない。手数料構造が全く異なるため、手取りベースで比較する。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07</a:t>
            </a:r>
            <a:endParaRPr lang="en-US" sz="950" dirty="0"/>
          </a:p>
        </p:txBody>
      </p:sp>
      <p:sp>
        <p:nvSpPr>
          <p:cNvPr id="7" name="Shape 5"/>
          <p:cNvSpPr/>
          <p:nvPr/>
        </p:nvSpPr>
        <p:spPr>
          <a:xfrm>
            <a:off x="658368" y="1645920"/>
            <a:ext cx="5282032" cy="2962656"/>
          </a:xfrm>
          <a:prstGeom prst="roundRect">
            <a:avLst>
              <a:gd name="adj" fmla="val 1389"/>
            </a:avLst>
          </a:prstGeom>
          <a:solidFill>
            <a:srgbClr val="171614"/>
          </a:solidFill>
          <a:ln w="9525">
            <a:solidFill>
              <a:srgbClr val="2E2A24"/>
            </a:solidFill>
            <a:prstDash val="solid"/>
          </a:ln>
        </p:spPr>
      </p:sp>
      <p:sp>
        <p:nvSpPr>
          <p:cNvPr id="8" name="Text 6"/>
          <p:cNvSpPr/>
          <p:nvPr/>
        </p:nvSpPr>
        <p:spPr>
          <a:xfrm>
            <a:off x="914400" y="1810512"/>
            <a:ext cx="3544672" cy="274320"/>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B2B｜酒販店卸</a:t>
            </a:r>
            <a:endParaRPr lang="en-US" sz="1300" dirty="0"/>
          </a:p>
        </p:txBody>
      </p:sp>
      <p:sp>
        <p:nvSpPr>
          <p:cNvPr id="9" name="Text 7"/>
          <p:cNvSpPr/>
          <p:nvPr/>
        </p:nvSpPr>
        <p:spPr>
          <a:xfrm>
            <a:off x="4203040" y="1792224"/>
            <a:ext cx="1481328" cy="310896"/>
          </a:xfrm>
          <a:prstGeom prst="rect">
            <a:avLst/>
          </a:prstGeom>
          <a:noFill/>
          <a:ln/>
        </p:spPr>
        <p:txBody>
          <a:bodyPr wrap="square" lIns="0" tIns="0" rIns="0" bIns="0" rtlCol="0" anchor="ctr"/>
          <a:lstStyle/>
          <a:p>
            <a:pPr algn="r" indent="0" marL="0">
              <a:buNone/>
            </a:pPr>
            <a:r>
              <a:rPr lang="en-US" sz="1000" dirty="0">
                <a:solidFill>
                  <a:srgbClr val="9A938A"/>
                </a:solidFill>
                <a:latin typeface="Yu Gothic" pitchFamily="34" charset="0"/>
                <a:ea typeface="Yu Gothic" pitchFamily="34" charset="-122"/>
                <a:cs typeface="Yu Gothic" pitchFamily="34" charset="-120"/>
              </a:rPr>
              <a:t>売値 </a:t>
            </a:r>
            <a:pPr algn="r" indent="0" marL="0">
              <a:buNone/>
            </a:pPr>
            <a:r>
              <a:rPr lang="en-US" sz="2000" b="1" dirty="0">
                <a:solidFill>
                  <a:srgbClr val="EFEBE3"/>
                </a:solidFill>
                <a:latin typeface="Cambria" pitchFamily="34" charset="0"/>
                <a:ea typeface="Cambria" pitchFamily="34" charset="-122"/>
                <a:cs typeface="Cambria" pitchFamily="34" charset="-120"/>
              </a:rPr>
              <a:t>70.00</a:t>
            </a:r>
            <a:endParaRPr lang="en-US" sz="1000" dirty="0"/>
          </a:p>
        </p:txBody>
      </p:sp>
      <p:sp>
        <p:nvSpPr>
          <p:cNvPr id="10" name="Text 8"/>
          <p:cNvSpPr/>
          <p:nvPr/>
        </p:nvSpPr>
        <p:spPr>
          <a:xfrm>
            <a:off x="914400" y="2231136"/>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出庫・配送</a:t>
            </a:r>
            <a:endParaRPr lang="en-US" sz="1000" dirty="0"/>
          </a:p>
        </p:txBody>
      </p:sp>
      <p:sp>
        <p:nvSpPr>
          <p:cNvPr id="11" name="Text 9"/>
          <p:cNvSpPr/>
          <p:nvPr/>
        </p:nvSpPr>
        <p:spPr>
          <a:xfrm>
            <a:off x="5007712" y="2231136"/>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0.6%</a:t>
            </a:r>
            <a:endParaRPr lang="en-US" sz="1100" dirty="0"/>
          </a:p>
        </p:txBody>
      </p:sp>
      <p:sp>
        <p:nvSpPr>
          <p:cNvPr id="12" name="Text 10"/>
          <p:cNvSpPr/>
          <p:nvPr/>
        </p:nvSpPr>
        <p:spPr>
          <a:xfrm>
            <a:off x="914400" y="2423160"/>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ケース／パレット単位出荷。1回あたりの出荷単位が大きい</a:t>
            </a:r>
            <a:endParaRPr lang="en-US" sz="850" dirty="0"/>
          </a:p>
        </p:txBody>
      </p:sp>
      <p:sp>
        <p:nvSpPr>
          <p:cNvPr id="13" name="Text 11"/>
          <p:cNvSpPr/>
          <p:nvPr/>
        </p:nvSpPr>
        <p:spPr>
          <a:xfrm>
            <a:off x="914400" y="2761488"/>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決済・与信</a:t>
            </a:r>
            <a:endParaRPr lang="en-US" sz="1000" dirty="0"/>
          </a:p>
        </p:txBody>
      </p:sp>
      <p:sp>
        <p:nvSpPr>
          <p:cNvPr id="14" name="Text 12"/>
          <p:cNvSpPr/>
          <p:nvPr/>
        </p:nvSpPr>
        <p:spPr>
          <a:xfrm>
            <a:off x="5007712" y="2761488"/>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15" name="Text 13"/>
          <p:cNvSpPr/>
          <p:nvPr/>
        </p:nvSpPr>
        <p:spPr>
          <a:xfrm>
            <a:off x="914400" y="2953512"/>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掛売のため決済手数料なし。回収コストと貸倒引当</a:t>
            </a:r>
            <a:endParaRPr lang="en-US" sz="850" dirty="0"/>
          </a:p>
        </p:txBody>
      </p:sp>
      <p:sp>
        <p:nvSpPr>
          <p:cNvPr id="16" name="Text 14"/>
          <p:cNvSpPr/>
          <p:nvPr/>
        </p:nvSpPr>
        <p:spPr>
          <a:xfrm>
            <a:off x="914400" y="3913632"/>
            <a:ext cx="2377440" cy="219456"/>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変動販売費 合計</a:t>
            </a:r>
            <a:endParaRPr lang="en-US" sz="1000" dirty="0"/>
          </a:p>
        </p:txBody>
      </p:sp>
      <p:sp>
        <p:nvSpPr>
          <p:cNvPr id="17" name="Text 15"/>
          <p:cNvSpPr/>
          <p:nvPr/>
        </p:nvSpPr>
        <p:spPr>
          <a:xfrm>
            <a:off x="3928720" y="3913632"/>
            <a:ext cx="1755648" cy="219456"/>
          </a:xfrm>
          <a:prstGeom prst="rect">
            <a:avLst/>
          </a:prstGeom>
          <a:noFill/>
          <a:ln/>
        </p:spPr>
        <p:txBody>
          <a:bodyPr wrap="square" lIns="0" tIns="0" rIns="0" bIns="0" rtlCol="0" anchor="ctr"/>
          <a:lstStyle/>
          <a:p>
            <a:pPr algn="r" indent="0" marL="0">
              <a:buNone/>
            </a:pPr>
            <a:r>
              <a:rPr lang="en-US" sz="1050" b="1" dirty="0">
                <a:solidFill>
                  <a:srgbClr val="B4553F"/>
                </a:solidFill>
                <a:latin typeface="Yu Gothic" pitchFamily="34" charset="0"/>
                <a:ea typeface="Yu Gothic" pitchFamily="34" charset="-122"/>
                <a:cs typeface="Yu Gothic" pitchFamily="34" charset="-120"/>
              </a:rPr>
              <a:t>1.0%（▲0.70）</a:t>
            </a:r>
            <a:endParaRPr lang="en-US" sz="1050" dirty="0"/>
          </a:p>
        </p:txBody>
      </p:sp>
      <p:sp>
        <p:nvSpPr>
          <p:cNvPr id="18" name="Text 16"/>
          <p:cNvSpPr/>
          <p:nvPr/>
        </p:nvSpPr>
        <p:spPr>
          <a:xfrm>
            <a:off x="914400" y="4187952"/>
            <a:ext cx="2011680" cy="347472"/>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手取り</a:t>
            </a:r>
            <a:endParaRPr lang="en-US" sz="1100" dirty="0"/>
          </a:p>
        </p:txBody>
      </p:sp>
      <p:sp>
        <p:nvSpPr>
          <p:cNvPr id="19" name="Text 17"/>
          <p:cNvSpPr/>
          <p:nvPr/>
        </p:nvSpPr>
        <p:spPr>
          <a:xfrm>
            <a:off x="3928720" y="4169664"/>
            <a:ext cx="1755648" cy="384048"/>
          </a:xfrm>
          <a:prstGeom prst="rect">
            <a:avLst/>
          </a:prstGeom>
          <a:noFill/>
          <a:ln/>
        </p:spPr>
        <p:txBody>
          <a:bodyPr wrap="square" lIns="0" tIns="0" rIns="0" bIns="0" rtlCol="0" anchor="ctr"/>
          <a:lstStyle/>
          <a:p>
            <a:pPr algn="r" indent="0" marL="0">
              <a:buNone/>
            </a:pPr>
            <a:r>
              <a:rPr lang="en-US" sz="2500" b="1" dirty="0">
                <a:solidFill>
                  <a:srgbClr val="C9A96E"/>
                </a:solidFill>
                <a:latin typeface="Cambria" pitchFamily="34" charset="0"/>
                <a:ea typeface="Cambria" pitchFamily="34" charset="-122"/>
                <a:cs typeface="Cambria" pitchFamily="34" charset="-120"/>
              </a:rPr>
              <a:t>69.30</a:t>
            </a:r>
            <a:endParaRPr lang="en-US" sz="2500" dirty="0"/>
          </a:p>
        </p:txBody>
      </p:sp>
      <p:sp>
        <p:nvSpPr>
          <p:cNvPr id="20" name="Shape 18"/>
          <p:cNvSpPr/>
          <p:nvPr/>
        </p:nvSpPr>
        <p:spPr>
          <a:xfrm>
            <a:off x="6251296" y="1645920"/>
            <a:ext cx="5282032" cy="2962656"/>
          </a:xfrm>
          <a:prstGeom prst="roundRect">
            <a:avLst>
              <a:gd name="adj" fmla="val 1389"/>
            </a:avLst>
          </a:prstGeom>
          <a:solidFill>
            <a:srgbClr val="1F1D19"/>
          </a:solidFill>
          <a:ln w="9525">
            <a:solidFill>
              <a:srgbClr val="6E5730"/>
            </a:solidFill>
            <a:prstDash val="solid"/>
          </a:ln>
        </p:spPr>
      </p:sp>
      <p:sp>
        <p:nvSpPr>
          <p:cNvPr id="21" name="Text 19"/>
          <p:cNvSpPr/>
          <p:nvPr/>
        </p:nvSpPr>
        <p:spPr>
          <a:xfrm>
            <a:off x="6507328" y="1810512"/>
            <a:ext cx="3544672" cy="274320"/>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B2C｜自社EC・オークション</a:t>
            </a:r>
            <a:endParaRPr lang="en-US" sz="1300" dirty="0"/>
          </a:p>
        </p:txBody>
      </p:sp>
      <p:sp>
        <p:nvSpPr>
          <p:cNvPr id="22" name="Text 20"/>
          <p:cNvSpPr/>
          <p:nvPr/>
        </p:nvSpPr>
        <p:spPr>
          <a:xfrm>
            <a:off x="9795967" y="1792224"/>
            <a:ext cx="1481328" cy="310896"/>
          </a:xfrm>
          <a:prstGeom prst="rect">
            <a:avLst/>
          </a:prstGeom>
          <a:noFill/>
          <a:ln/>
        </p:spPr>
        <p:txBody>
          <a:bodyPr wrap="square" lIns="0" tIns="0" rIns="0" bIns="0" rtlCol="0" anchor="ctr"/>
          <a:lstStyle/>
          <a:p>
            <a:pPr algn="r" indent="0" marL="0">
              <a:buNone/>
            </a:pPr>
            <a:r>
              <a:rPr lang="en-US" sz="1000" dirty="0">
                <a:solidFill>
                  <a:srgbClr val="9A938A"/>
                </a:solidFill>
                <a:latin typeface="Yu Gothic" pitchFamily="34" charset="0"/>
                <a:ea typeface="Yu Gothic" pitchFamily="34" charset="-122"/>
                <a:cs typeface="Yu Gothic" pitchFamily="34" charset="-120"/>
              </a:rPr>
              <a:t>売値 </a:t>
            </a:r>
            <a:pPr algn="r" indent="0" marL="0">
              <a:buNone/>
            </a:pPr>
            <a:r>
              <a:rPr lang="en-US" sz="2000" b="1" dirty="0">
                <a:solidFill>
                  <a:srgbClr val="EFEBE3"/>
                </a:solidFill>
                <a:latin typeface="Cambria" pitchFamily="34" charset="0"/>
                <a:ea typeface="Cambria" pitchFamily="34" charset="-122"/>
                <a:cs typeface="Cambria" pitchFamily="34" charset="-120"/>
              </a:rPr>
              <a:t>80.00</a:t>
            </a:r>
            <a:endParaRPr lang="en-US" sz="1000" dirty="0"/>
          </a:p>
        </p:txBody>
      </p:sp>
      <p:sp>
        <p:nvSpPr>
          <p:cNvPr id="23" name="Text 21"/>
          <p:cNvSpPr/>
          <p:nvPr/>
        </p:nvSpPr>
        <p:spPr>
          <a:xfrm>
            <a:off x="6507328" y="2231136"/>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モール・出品手数料</a:t>
            </a:r>
            <a:endParaRPr lang="en-US" sz="1000" dirty="0"/>
          </a:p>
        </p:txBody>
      </p:sp>
      <p:sp>
        <p:nvSpPr>
          <p:cNvPr id="24" name="Text 22"/>
          <p:cNvSpPr/>
          <p:nvPr/>
        </p:nvSpPr>
        <p:spPr>
          <a:xfrm>
            <a:off x="10600639" y="2231136"/>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5.5%</a:t>
            </a:r>
            <a:endParaRPr lang="en-US" sz="1100" dirty="0"/>
          </a:p>
        </p:txBody>
      </p:sp>
      <p:sp>
        <p:nvSpPr>
          <p:cNvPr id="25" name="Text 23"/>
          <p:cNvSpPr/>
          <p:nvPr/>
        </p:nvSpPr>
        <p:spPr>
          <a:xfrm>
            <a:off x="6507328" y="2423160"/>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楽天／Yahoo／寺田Wine Market（10〜12%）と自社EC・自社オークション（0〜3%）の加重平均</a:t>
            </a:r>
            <a:endParaRPr lang="en-US" sz="850" dirty="0"/>
          </a:p>
        </p:txBody>
      </p:sp>
      <p:sp>
        <p:nvSpPr>
          <p:cNvPr id="26" name="Text 24"/>
          <p:cNvSpPr/>
          <p:nvPr/>
        </p:nvSpPr>
        <p:spPr>
          <a:xfrm>
            <a:off x="6507328" y="2761488"/>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カード決済手数料</a:t>
            </a:r>
            <a:endParaRPr lang="en-US" sz="1000" dirty="0"/>
          </a:p>
        </p:txBody>
      </p:sp>
      <p:sp>
        <p:nvSpPr>
          <p:cNvPr id="27" name="Text 25"/>
          <p:cNvSpPr/>
          <p:nvPr/>
        </p:nvSpPr>
        <p:spPr>
          <a:xfrm>
            <a:off x="10600639" y="2761488"/>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3.2%</a:t>
            </a:r>
            <a:endParaRPr lang="en-US" sz="1100" dirty="0"/>
          </a:p>
        </p:txBody>
      </p:sp>
      <p:sp>
        <p:nvSpPr>
          <p:cNvPr id="28" name="Text 26"/>
          <p:cNvSpPr/>
          <p:nvPr/>
        </p:nvSpPr>
        <p:spPr>
          <a:xfrm>
            <a:off x="6507328" y="2953512"/>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クレジットカード決済</a:t>
            </a:r>
            <a:endParaRPr lang="en-US" sz="850" dirty="0"/>
          </a:p>
        </p:txBody>
      </p:sp>
      <p:sp>
        <p:nvSpPr>
          <p:cNvPr id="29" name="Text 27"/>
          <p:cNvSpPr/>
          <p:nvPr/>
        </p:nvSpPr>
        <p:spPr>
          <a:xfrm>
            <a:off x="6507328" y="3291840"/>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出庫・梱包・クール便</a:t>
            </a:r>
            <a:endParaRPr lang="en-US" sz="1000" dirty="0"/>
          </a:p>
        </p:txBody>
      </p:sp>
      <p:sp>
        <p:nvSpPr>
          <p:cNvPr id="30" name="Text 28"/>
          <p:cNvSpPr/>
          <p:nvPr/>
        </p:nvSpPr>
        <p:spPr>
          <a:xfrm>
            <a:off x="10600639" y="3291840"/>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2.5%</a:t>
            </a:r>
            <a:endParaRPr lang="en-US" sz="1100" dirty="0"/>
          </a:p>
        </p:txBody>
      </p:sp>
      <p:sp>
        <p:nvSpPr>
          <p:cNvPr id="31" name="Text 29"/>
          <p:cNvSpPr/>
          <p:nvPr/>
        </p:nvSpPr>
        <p:spPr>
          <a:xfrm>
            <a:off x="6507328" y="3483864"/>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1口1,300円＋梱包資材。1口平均6万円想定</a:t>
            </a:r>
            <a:endParaRPr lang="en-US" sz="850" dirty="0"/>
          </a:p>
        </p:txBody>
      </p:sp>
      <p:sp>
        <p:nvSpPr>
          <p:cNvPr id="32" name="Text 30"/>
          <p:cNvSpPr/>
          <p:nvPr/>
        </p:nvSpPr>
        <p:spPr>
          <a:xfrm>
            <a:off x="6507328" y="3913632"/>
            <a:ext cx="2377440" cy="219456"/>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変動販売費 合計</a:t>
            </a:r>
            <a:endParaRPr lang="en-US" sz="1000" dirty="0"/>
          </a:p>
        </p:txBody>
      </p:sp>
      <p:sp>
        <p:nvSpPr>
          <p:cNvPr id="33" name="Text 31"/>
          <p:cNvSpPr/>
          <p:nvPr/>
        </p:nvSpPr>
        <p:spPr>
          <a:xfrm>
            <a:off x="9521647" y="3913632"/>
            <a:ext cx="1755648" cy="219456"/>
          </a:xfrm>
          <a:prstGeom prst="rect">
            <a:avLst/>
          </a:prstGeom>
          <a:noFill/>
          <a:ln/>
        </p:spPr>
        <p:txBody>
          <a:bodyPr wrap="square" lIns="0" tIns="0" rIns="0" bIns="0" rtlCol="0" anchor="ctr"/>
          <a:lstStyle/>
          <a:p>
            <a:pPr algn="r" indent="0" marL="0">
              <a:buNone/>
            </a:pPr>
            <a:r>
              <a:rPr lang="en-US" sz="1050" b="1" dirty="0">
                <a:solidFill>
                  <a:srgbClr val="B4553F"/>
                </a:solidFill>
                <a:latin typeface="Yu Gothic" pitchFamily="34" charset="0"/>
                <a:ea typeface="Yu Gothic" pitchFamily="34" charset="-122"/>
                <a:cs typeface="Yu Gothic" pitchFamily="34" charset="-120"/>
              </a:rPr>
              <a:t>11.2%（▲8.96）</a:t>
            </a:r>
            <a:endParaRPr lang="en-US" sz="1050" dirty="0"/>
          </a:p>
        </p:txBody>
      </p:sp>
      <p:sp>
        <p:nvSpPr>
          <p:cNvPr id="34" name="Text 32"/>
          <p:cNvSpPr/>
          <p:nvPr/>
        </p:nvSpPr>
        <p:spPr>
          <a:xfrm>
            <a:off x="6507328" y="4187952"/>
            <a:ext cx="2011680" cy="347472"/>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手取り</a:t>
            </a:r>
            <a:endParaRPr lang="en-US" sz="1100" dirty="0"/>
          </a:p>
        </p:txBody>
      </p:sp>
      <p:sp>
        <p:nvSpPr>
          <p:cNvPr id="35" name="Text 33"/>
          <p:cNvSpPr/>
          <p:nvPr/>
        </p:nvSpPr>
        <p:spPr>
          <a:xfrm>
            <a:off x="9521647" y="4169664"/>
            <a:ext cx="1755648" cy="384048"/>
          </a:xfrm>
          <a:prstGeom prst="rect">
            <a:avLst/>
          </a:prstGeom>
          <a:noFill/>
          <a:ln/>
        </p:spPr>
        <p:txBody>
          <a:bodyPr wrap="square" lIns="0" tIns="0" rIns="0" bIns="0" rtlCol="0" anchor="ctr"/>
          <a:lstStyle/>
          <a:p>
            <a:pPr algn="r" indent="0" marL="0">
              <a:buNone/>
            </a:pPr>
            <a:r>
              <a:rPr lang="en-US" sz="2500" b="1" dirty="0">
                <a:solidFill>
                  <a:srgbClr val="C9A96E"/>
                </a:solidFill>
                <a:latin typeface="Cambria" pitchFamily="34" charset="0"/>
                <a:ea typeface="Cambria" pitchFamily="34" charset="-122"/>
                <a:cs typeface="Cambria" pitchFamily="34" charset="-120"/>
              </a:rPr>
              <a:t>71.04</a:t>
            </a:r>
            <a:endParaRPr lang="en-US" sz="2500" dirty="0"/>
          </a:p>
        </p:txBody>
      </p:sp>
      <p:sp>
        <p:nvSpPr>
          <p:cNvPr id="36" name="Shape 34"/>
          <p:cNvSpPr/>
          <p:nvPr/>
        </p:nvSpPr>
        <p:spPr>
          <a:xfrm>
            <a:off x="658368" y="4791456"/>
            <a:ext cx="10874959" cy="914400"/>
          </a:xfrm>
          <a:prstGeom prst="roundRect">
            <a:avLst>
              <a:gd name="adj" fmla="val 4500"/>
            </a:avLst>
          </a:prstGeom>
          <a:solidFill>
            <a:srgbClr val="1F1D19"/>
          </a:solidFill>
          <a:ln w="9525">
            <a:solidFill>
              <a:srgbClr val="6E5730"/>
            </a:solidFill>
            <a:prstDash val="solid"/>
          </a:ln>
        </p:spPr>
      </p:sp>
      <p:sp>
        <p:nvSpPr>
          <p:cNvPr id="37" name="Text 35"/>
          <p:cNvSpPr/>
          <p:nvPr/>
        </p:nvSpPr>
        <p:spPr>
          <a:xfrm>
            <a:off x="932688" y="4901184"/>
            <a:ext cx="10326319" cy="694944"/>
          </a:xfrm>
          <a:prstGeom prst="rect">
            <a:avLst/>
          </a:prstGeom>
          <a:noFill/>
          <a:ln/>
        </p:spPr>
        <p:txBody>
          <a:bodyPr wrap="square" lIns="0" tIns="0" rIns="0" bIns="0" rtlCol="0" anchor="ctr"/>
          <a:lstStyle/>
          <a:p>
            <a:pPr indent="0" marL="0">
              <a:lnSpc>
                <a:spcPct val="122000"/>
              </a:lnSpc>
              <a:buNone/>
            </a:pPr>
            <a:r>
              <a:rPr lang="en-US" sz="1200" b="1" dirty="0">
                <a:solidFill>
                  <a:srgbClr val="C9A96E"/>
                </a:solidFill>
                <a:latin typeface="Yu Gothic" pitchFamily="34" charset="0"/>
                <a:ea typeface="Yu Gothic" pitchFamily="34" charset="-122"/>
                <a:cs typeface="Yu Gothic" pitchFamily="34" charset="-120"/>
              </a:rPr>
              <a:t>手数料が重くても、B2Cのほうが手取りは1.74ポイント高い。</a:t>
            </a:r>
            <a:pPr indent="0" marL="0">
              <a:lnSpc>
                <a:spcPct val="122000"/>
              </a:lnSpc>
              <a:buNone/>
            </a:pPr>
            <a:r>
              <a:rPr lang="en-US" sz="1000" dirty="0">
                <a:solidFill>
                  <a:srgbClr val="EFEBE3"/>
                </a:solidFill>
                <a:latin typeface="Yu Gothic" pitchFamily="34" charset="0"/>
                <a:ea typeface="Yu Gothic" pitchFamily="34" charset="-122"/>
                <a:cs typeface="Yu Gothic" pitchFamily="34" charset="-120"/>
              </a:rPr>
              <a:t>　B2Cは手数料率11.2%を負うが、売値が定価比80とB2Bの70を10ポイント上回るため、差引きで勝る。ただしB2Cは1本ずつの出荷となり販売量の上限が低いため、回転期間を確保するにはB2Bの卸売が不可欠となる。両者を半々で運用し、加重平均で売値75.00・変動販売費6.44%・手取り70.17を主線とする（いずれも取得時点の価格。保有中の値上がりは次頁以降で加算）。</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UNIT ECONOMICS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3シナリオの単位経済（保有12ヶ月・定価100あたり）</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現物譲渡の1%と変動販売費を控除し、保有中の値上がりを売値に加算したうえでの粗利。</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08</a:t>
            </a:r>
            <a:endParaRPr lang="en-US" sz="950" dirty="0"/>
          </a:p>
        </p:txBody>
      </p:sp>
      <p:sp>
        <p:nvSpPr>
          <p:cNvPr id="7" name="Shape 5"/>
          <p:cNvSpPr/>
          <p:nvPr/>
        </p:nvSpPr>
        <p:spPr>
          <a:xfrm>
            <a:off x="658368" y="1627632"/>
            <a:ext cx="3429914" cy="3931920"/>
          </a:xfrm>
          <a:prstGeom prst="roundRect">
            <a:avLst>
              <a:gd name="adj" fmla="val 1200"/>
            </a:avLst>
          </a:prstGeom>
          <a:solidFill>
            <a:srgbClr val="171614"/>
          </a:solidFill>
          <a:ln w="9525">
            <a:solidFill>
              <a:srgbClr val="2E2A24"/>
            </a:solidFill>
            <a:prstDash val="solid"/>
          </a:ln>
        </p:spPr>
      </p:sp>
      <p:sp>
        <p:nvSpPr>
          <p:cNvPr id="8" name="Text 6"/>
          <p:cNvSpPr/>
          <p:nvPr/>
        </p:nvSpPr>
        <p:spPr>
          <a:xfrm>
            <a:off x="914400" y="1828800"/>
            <a:ext cx="2917850" cy="292608"/>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ネガティブ</a:t>
            </a:r>
            <a:endParaRPr lang="en-US" sz="1300" dirty="0"/>
          </a:p>
        </p:txBody>
      </p:sp>
      <p:sp>
        <p:nvSpPr>
          <p:cNvPr id="9" name="Text 7"/>
          <p:cNvSpPr/>
          <p:nvPr/>
        </p:nvSpPr>
        <p:spPr>
          <a:xfrm>
            <a:off x="914400"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10" name="Text 8"/>
          <p:cNvSpPr/>
          <p:nvPr/>
        </p:nvSpPr>
        <p:spPr>
          <a:xfrm>
            <a:off x="2606954"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50.00</a:t>
            </a:r>
            <a:endParaRPr lang="en-US" sz="1350" dirty="0"/>
          </a:p>
        </p:txBody>
      </p:sp>
      <p:sp>
        <p:nvSpPr>
          <p:cNvPr id="11" name="Text 9"/>
          <p:cNvSpPr/>
          <p:nvPr/>
        </p:nvSpPr>
        <p:spPr>
          <a:xfrm>
            <a:off x="914400" y="251917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SPC取得原価（＋1%）</a:t>
            </a:r>
            <a:endParaRPr lang="en-US" sz="950" dirty="0"/>
          </a:p>
        </p:txBody>
      </p:sp>
      <p:sp>
        <p:nvSpPr>
          <p:cNvPr id="12" name="Text 10"/>
          <p:cNvSpPr/>
          <p:nvPr/>
        </p:nvSpPr>
        <p:spPr>
          <a:xfrm>
            <a:off x="2606954" y="251917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50.50</a:t>
            </a:r>
            <a:endParaRPr lang="en-US" sz="1350" dirty="0"/>
          </a:p>
        </p:txBody>
      </p:sp>
      <p:sp>
        <p:nvSpPr>
          <p:cNvPr id="13" name="Text 11"/>
          <p:cNvSpPr/>
          <p:nvPr/>
        </p:nvSpPr>
        <p:spPr>
          <a:xfrm>
            <a:off x="914400" y="280720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取得時の売値</a:t>
            </a:r>
            <a:endParaRPr lang="en-US" sz="950" dirty="0"/>
          </a:p>
        </p:txBody>
      </p:sp>
      <p:sp>
        <p:nvSpPr>
          <p:cNvPr id="14" name="Text 12"/>
          <p:cNvSpPr/>
          <p:nvPr/>
        </p:nvSpPr>
        <p:spPr>
          <a:xfrm>
            <a:off x="2606954" y="280720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71.25</a:t>
            </a:r>
            <a:endParaRPr lang="en-US" sz="1350" dirty="0"/>
          </a:p>
        </p:txBody>
      </p:sp>
      <p:sp>
        <p:nvSpPr>
          <p:cNvPr id="15" name="Text 13"/>
          <p:cNvSpPr/>
          <p:nvPr/>
        </p:nvSpPr>
        <p:spPr>
          <a:xfrm>
            <a:off x="914400" y="309524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16" name="Text 14"/>
          <p:cNvSpPr/>
          <p:nvPr/>
        </p:nvSpPr>
        <p:spPr>
          <a:xfrm>
            <a:off x="2606954" y="3095244"/>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×1.000</a:t>
            </a:r>
            <a:endParaRPr lang="en-US" sz="1250" dirty="0"/>
          </a:p>
        </p:txBody>
      </p:sp>
      <p:sp>
        <p:nvSpPr>
          <p:cNvPr id="17" name="Text 15"/>
          <p:cNvSpPr/>
          <p:nvPr/>
        </p:nvSpPr>
        <p:spPr>
          <a:xfrm>
            <a:off x="914400" y="338328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18" name="Text 16"/>
          <p:cNvSpPr/>
          <p:nvPr/>
        </p:nvSpPr>
        <p:spPr>
          <a:xfrm>
            <a:off x="2606954" y="3383280"/>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71.25</a:t>
            </a:r>
            <a:endParaRPr lang="en-US" sz="1350" dirty="0"/>
          </a:p>
        </p:txBody>
      </p:sp>
      <p:sp>
        <p:nvSpPr>
          <p:cNvPr id="19" name="Text 17"/>
          <p:cNvSpPr/>
          <p:nvPr/>
        </p:nvSpPr>
        <p:spPr>
          <a:xfrm>
            <a:off x="914400" y="3671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20" name="Text 18"/>
          <p:cNvSpPr/>
          <p:nvPr/>
        </p:nvSpPr>
        <p:spPr>
          <a:xfrm>
            <a:off x="2606954" y="367131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4.59</a:t>
            </a:r>
            <a:endParaRPr lang="en-US" sz="1350" dirty="0"/>
          </a:p>
        </p:txBody>
      </p:sp>
      <p:sp>
        <p:nvSpPr>
          <p:cNvPr id="21" name="Text 19"/>
          <p:cNvSpPr/>
          <p:nvPr/>
        </p:nvSpPr>
        <p:spPr>
          <a:xfrm>
            <a:off x="914400" y="395935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22" name="Text 20"/>
          <p:cNvSpPr/>
          <p:nvPr/>
        </p:nvSpPr>
        <p:spPr>
          <a:xfrm>
            <a:off x="2606954" y="395935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66.66</a:t>
            </a:r>
            <a:endParaRPr lang="en-US" sz="1350" dirty="0"/>
          </a:p>
        </p:txBody>
      </p:sp>
      <p:sp>
        <p:nvSpPr>
          <p:cNvPr id="23" name="Text 21"/>
          <p:cNvSpPr/>
          <p:nvPr/>
        </p:nvSpPr>
        <p:spPr>
          <a:xfrm>
            <a:off x="914400" y="424738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24" name="Text 22"/>
          <p:cNvSpPr/>
          <p:nvPr/>
        </p:nvSpPr>
        <p:spPr>
          <a:xfrm>
            <a:off x="2606954" y="424738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16.16</a:t>
            </a:r>
            <a:endParaRPr lang="en-US" sz="1350" dirty="0"/>
          </a:p>
        </p:txBody>
      </p:sp>
      <p:sp>
        <p:nvSpPr>
          <p:cNvPr id="25" name="Text 23"/>
          <p:cNvSpPr/>
          <p:nvPr/>
        </p:nvSpPr>
        <p:spPr>
          <a:xfrm>
            <a:off x="914400" y="453542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粗利率（売上比）</a:t>
            </a:r>
            <a:endParaRPr lang="en-US" sz="950" dirty="0"/>
          </a:p>
        </p:txBody>
      </p:sp>
      <p:sp>
        <p:nvSpPr>
          <p:cNvPr id="26" name="Text 24"/>
          <p:cNvSpPr/>
          <p:nvPr/>
        </p:nvSpPr>
        <p:spPr>
          <a:xfrm>
            <a:off x="2606954" y="4535424"/>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22.7%</a:t>
            </a:r>
            <a:endParaRPr lang="en-US" sz="1250" dirty="0"/>
          </a:p>
        </p:txBody>
      </p:sp>
      <p:sp>
        <p:nvSpPr>
          <p:cNvPr id="27" name="Text 25"/>
          <p:cNvSpPr/>
          <p:nvPr/>
        </p:nvSpPr>
        <p:spPr>
          <a:xfrm>
            <a:off x="914400" y="482346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投下原価利益率</a:t>
            </a:r>
            <a:endParaRPr lang="en-US" sz="950" dirty="0"/>
          </a:p>
        </p:txBody>
      </p:sp>
      <p:sp>
        <p:nvSpPr>
          <p:cNvPr id="28" name="Text 26"/>
          <p:cNvSpPr/>
          <p:nvPr/>
        </p:nvSpPr>
        <p:spPr>
          <a:xfrm>
            <a:off x="2606954" y="4823460"/>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32.0%</a:t>
            </a:r>
            <a:endParaRPr lang="en-US" sz="1250" dirty="0"/>
          </a:p>
        </p:txBody>
      </p:sp>
      <p:sp>
        <p:nvSpPr>
          <p:cNvPr id="29" name="Text 27"/>
          <p:cNvSpPr/>
          <p:nvPr/>
        </p:nvSpPr>
        <p:spPr>
          <a:xfrm>
            <a:off x="914400" y="508406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売値を5%値引き（B2B66.5／B2C76）かつ価格は横ばい</a:t>
            </a:r>
            <a:endParaRPr lang="en-US" sz="900" dirty="0"/>
          </a:p>
        </p:txBody>
      </p:sp>
      <p:sp>
        <p:nvSpPr>
          <p:cNvPr id="30" name="Shape 28"/>
          <p:cNvSpPr/>
          <p:nvPr/>
        </p:nvSpPr>
        <p:spPr>
          <a:xfrm>
            <a:off x="4380890" y="1627632"/>
            <a:ext cx="3429914" cy="3931920"/>
          </a:xfrm>
          <a:prstGeom prst="roundRect">
            <a:avLst>
              <a:gd name="adj" fmla="val 1200"/>
            </a:avLst>
          </a:prstGeom>
          <a:solidFill>
            <a:srgbClr val="1F1D19"/>
          </a:solidFill>
          <a:ln w="9525">
            <a:solidFill>
              <a:srgbClr val="6E5730"/>
            </a:solidFill>
            <a:prstDash val="solid"/>
          </a:ln>
        </p:spPr>
      </p:sp>
      <p:sp>
        <p:nvSpPr>
          <p:cNvPr id="31" name="Text 29"/>
          <p:cNvSpPr/>
          <p:nvPr/>
        </p:nvSpPr>
        <p:spPr>
          <a:xfrm>
            <a:off x="4636922" y="1828800"/>
            <a:ext cx="2917850"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ニュートラル（主線）</a:t>
            </a:r>
            <a:endParaRPr lang="en-US" sz="1300" dirty="0"/>
          </a:p>
        </p:txBody>
      </p:sp>
      <p:sp>
        <p:nvSpPr>
          <p:cNvPr id="32" name="Text 30"/>
          <p:cNvSpPr/>
          <p:nvPr/>
        </p:nvSpPr>
        <p:spPr>
          <a:xfrm>
            <a:off x="4636922"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33" name="Text 31"/>
          <p:cNvSpPr/>
          <p:nvPr/>
        </p:nvSpPr>
        <p:spPr>
          <a:xfrm>
            <a:off x="6329477"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50.00</a:t>
            </a:r>
            <a:endParaRPr lang="en-US" sz="1350" dirty="0"/>
          </a:p>
        </p:txBody>
      </p:sp>
      <p:sp>
        <p:nvSpPr>
          <p:cNvPr id="34" name="Text 32"/>
          <p:cNvSpPr/>
          <p:nvPr/>
        </p:nvSpPr>
        <p:spPr>
          <a:xfrm>
            <a:off x="4636922" y="251917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SPC取得原価（＋1%）</a:t>
            </a:r>
            <a:endParaRPr lang="en-US" sz="950" dirty="0"/>
          </a:p>
        </p:txBody>
      </p:sp>
      <p:sp>
        <p:nvSpPr>
          <p:cNvPr id="35" name="Text 33"/>
          <p:cNvSpPr/>
          <p:nvPr/>
        </p:nvSpPr>
        <p:spPr>
          <a:xfrm>
            <a:off x="6329477" y="2519172"/>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50.50</a:t>
            </a:r>
            <a:endParaRPr lang="en-US" sz="1350" dirty="0"/>
          </a:p>
        </p:txBody>
      </p:sp>
      <p:sp>
        <p:nvSpPr>
          <p:cNvPr id="36" name="Text 34"/>
          <p:cNvSpPr/>
          <p:nvPr/>
        </p:nvSpPr>
        <p:spPr>
          <a:xfrm>
            <a:off x="4636922" y="280720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取得時の売値</a:t>
            </a:r>
            <a:endParaRPr lang="en-US" sz="950" dirty="0"/>
          </a:p>
        </p:txBody>
      </p:sp>
      <p:sp>
        <p:nvSpPr>
          <p:cNvPr id="37" name="Text 35"/>
          <p:cNvSpPr/>
          <p:nvPr/>
        </p:nvSpPr>
        <p:spPr>
          <a:xfrm>
            <a:off x="6329477" y="280720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75.00</a:t>
            </a:r>
            <a:endParaRPr lang="en-US" sz="1350" dirty="0"/>
          </a:p>
        </p:txBody>
      </p:sp>
      <p:sp>
        <p:nvSpPr>
          <p:cNvPr id="38" name="Text 36"/>
          <p:cNvSpPr/>
          <p:nvPr/>
        </p:nvSpPr>
        <p:spPr>
          <a:xfrm>
            <a:off x="4636922" y="309524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39" name="Text 37"/>
          <p:cNvSpPr/>
          <p:nvPr/>
        </p:nvSpPr>
        <p:spPr>
          <a:xfrm>
            <a:off x="6329477" y="3095244"/>
            <a:ext cx="1225296" cy="237744"/>
          </a:xfrm>
          <a:prstGeom prst="rect">
            <a:avLst/>
          </a:prstGeom>
          <a:noFill/>
          <a:ln/>
        </p:spPr>
        <p:txBody>
          <a:bodyPr wrap="square" lIns="0" tIns="0" rIns="0" bIns="0" rtlCol="0" anchor="ctr"/>
          <a:lstStyle/>
          <a:p>
            <a:pPr algn="r" indent="0" marL="0">
              <a:buNone/>
            </a:pPr>
            <a:r>
              <a:rPr lang="en-US" sz="1250" b="1" dirty="0">
                <a:solidFill>
                  <a:srgbClr val="C9A96E"/>
                </a:solidFill>
                <a:latin typeface="Cambria" pitchFamily="34" charset="0"/>
                <a:ea typeface="Cambria" pitchFamily="34" charset="-122"/>
                <a:cs typeface="Cambria" pitchFamily="34" charset="-120"/>
              </a:rPr>
              <a:t>×1.060</a:t>
            </a:r>
            <a:endParaRPr lang="en-US" sz="1250" dirty="0"/>
          </a:p>
        </p:txBody>
      </p:sp>
      <p:sp>
        <p:nvSpPr>
          <p:cNvPr id="40" name="Text 38"/>
          <p:cNvSpPr/>
          <p:nvPr/>
        </p:nvSpPr>
        <p:spPr>
          <a:xfrm>
            <a:off x="4636922" y="338328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41" name="Text 39"/>
          <p:cNvSpPr/>
          <p:nvPr/>
        </p:nvSpPr>
        <p:spPr>
          <a:xfrm>
            <a:off x="6329477" y="3383280"/>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79.50</a:t>
            </a:r>
            <a:endParaRPr lang="en-US" sz="1350" dirty="0"/>
          </a:p>
        </p:txBody>
      </p:sp>
      <p:sp>
        <p:nvSpPr>
          <p:cNvPr id="42" name="Text 40"/>
          <p:cNvSpPr/>
          <p:nvPr/>
        </p:nvSpPr>
        <p:spPr>
          <a:xfrm>
            <a:off x="4636922" y="3671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43" name="Text 41"/>
          <p:cNvSpPr/>
          <p:nvPr/>
        </p:nvSpPr>
        <p:spPr>
          <a:xfrm>
            <a:off x="6329477" y="367131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5.12</a:t>
            </a:r>
            <a:endParaRPr lang="en-US" sz="1350" dirty="0"/>
          </a:p>
        </p:txBody>
      </p:sp>
      <p:sp>
        <p:nvSpPr>
          <p:cNvPr id="44" name="Text 42"/>
          <p:cNvSpPr/>
          <p:nvPr/>
        </p:nvSpPr>
        <p:spPr>
          <a:xfrm>
            <a:off x="4636922" y="395935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45" name="Text 43"/>
          <p:cNvSpPr/>
          <p:nvPr/>
        </p:nvSpPr>
        <p:spPr>
          <a:xfrm>
            <a:off x="6329477" y="3959352"/>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74.38</a:t>
            </a:r>
            <a:endParaRPr lang="en-US" sz="1350" dirty="0"/>
          </a:p>
        </p:txBody>
      </p:sp>
      <p:sp>
        <p:nvSpPr>
          <p:cNvPr id="46" name="Text 44"/>
          <p:cNvSpPr/>
          <p:nvPr/>
        </p:nvSpPr>
        <p:spPr>
          <a:xfrm>
            <a:off x="4636922" y="424738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47" name="Text 45"/>
          <p:cNvSpPr/>
          <p:nvPr/>
        </p:nvSpPr>
        <p:spPr>
          <a:xfrm>
            <a:off x="6329477" y="4247388"/>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23.88</a:t>
            </a:r>
            <a:endParaRPr lang="en-US" sz="1350" dirty="0"/>
          </a:p>
        </p:txBody>
      </p:sp>
      <p:sp>
        <p:nvSpPr>
          <p:cNvPr id="48" name="Text 46"/>
          <p:cNvSpPr/>
          <p:nvPr/>
        </p:nvSpPr>
        <p:spPr>
          <a:xfrm>
            <a:off x="4636922" y="453542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粗利率（売上比）</a:t>
            </a:r>
            <a:endParaRPr lang="en-US" sz="950" dirty="0"/>
          </a:p>
        </p:txBody>
      </p:sp>
      <p:sp>
        <p:nvSpPr>
          <p:cNvPr id="49" name="Text 47"/>
          <p:cNvSpPr/>
          <p:nvPr/>
        </p:nvSpPr>
        <p:spPr>
          <a:xfrm>
            <a:off x="6329477" y="4535424"/>
            <a:ext cx="1225296" cy="237744"/>
          </a:xfrm>
          <a:prstGeom prst="rect">
            <a:avLst/>
          </a:prstGeom>
          <a:noFill/>
          <a:ln/>
        </p:spPr>
        <p:txBody>
          <a:bodyPr wrap="square" lIns="0" tIns="0" rIns="0" bIns="0" rtlCol="0" anchor="ctr"/>
          <a:lstStyle/>
          <a:p>
            <a:pPr algn="r" indent="0" marL="0">
              <a:buNone/>
            </a:pPr>
            <a:r>
              <a:rPr lang="en-US" sz="1250" b="1" dirty="0">
                <a:solidFill>
                  <a:srgbClr val="C9A96E"/>
                </a:solidFill>
                <a:latin typeface="Cambria" pitchFamily="34" charset="0"/>
                <a:ea typeface="Cambria" pitchFamily="34" charset="-122"/>
                <a:cs typeface="Cambria" pitchFamily="34" charset="-120"/>
              </a:rPr>
              <a:t>30.0%</a:t>
            </a:r>
            <a:endParaRPr lang="en-US" sz="1250" dirty="0"/>
          </a:p>
        </p:txBody>
      </p:sp>
      <p:sp>
        <p:nvSpPr>
          <p:cNvPr id="50" name="Text 48"/>
          <p:cNvSpPr/>
          <p:nvPr/>
        </p:nvSpPr>
        <p:spPr>
          <a:xfrm>
            <a:off x="4636922" y="482346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投下原価利益率</a:t>
            </a:r>
            <a:endParaRPr lang="en-US" sz="950" dirty="0"/>
          </a:p>
        </p:txBody>
      </p:sp>
      <p:sp>
        <p:nvSpPr>
          <p:cNvPr id="51" name="Text 49"/>
          <p:cNvSpPr/>
          <p:nvPr/>
        </p:nvSpPr>
        <p:spPr>
          <a:xfrm>
            <a:off x="6329477" y="4823460"/>
            <a:ext cx="1225296" cy="237744"/>
          </a:xfrm>
          <a:prstGeom prst="rect">
            <a:avLst/>
          </a:prstGeom>
          <a:noFill/>
          <a:ln/>
        </p:spPr>
        <p:txBody>
          <a:bodyPr wrap="square" lIns="0" tIns="0" rIns="0" bIns="0" rtlCol="0" anchor="ctr"/>
          <a:lstStyle/>
          <a:p>
            <a:pPr algn="r" indent="0" marL="0">
              <a:buNone/>
            </a:pPr>
            <a:r>
              <a:rPr lang="en-US" sz="1250" b="1" dirty="0">
                <a:solidFill>
                  <a:srgbClr val="C9A96E"/>
                </a:solidFill>
                <a:latin typeface="Cambria" pitchFamily="34" charset="0"/>
                <a:ea typeface="Cambria" pitchFamily="34" charset="-122"/>
                <a:cs typeface="Cambria" pitchFamily="34" charset="-120"/>
              </a:rPr>
              <a:t>47.3%</a:t>
            </a:r>
            <a:endParaRPr lang="en-US" sz="1250" dirty="0"/>
          </a:p>
        </p:txBody>
      </p:sp>
      <p:sp>
        <p:nvSpPr>
          <p:cNvPr id="52" name="Text 50"/>
          <p:cNvSpPr/>
          <p:nvPr/>
        </p:nvSpPr>
        <p:spPr>
          <a:xfrm>
            <a:off x="4636922" y="508406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仕入40/60の半々・売却はB2B70とB2C80の半々・年6%上昇</a:t>
            </a:r>
            <a:endParaRPr lang="en-US" sz="900" dirty="0"/>
          </a:p>
        </p:txBody>
      </p:sp>
      <p:sp>
        <p:nvSpPr>
          <p:cNvPr id="53" name="Shape 51"/>
          <p:cNvSpPr/>
          <p:nvPr/>
        </p:nvSpPr>
        <p:spPr>
          <a:xfrm>
            <a:off x="8103413" y="1627632"/>
            <a:ext cx="3429914" cy="3931920"/>
          </a:xfrm>
          <a:prstGeom prst="roundRect">
            <a:avLst>
              <a:gd name="adj" fmla="val 1200"/>
            </a:avLst>
          </a:prstGeom>
          <a:solidFill>
            <a:srgbClr val="171614"/>
          </a:solidFill>
          <a:ln w="9525">
            <a:solidFill>
              <a:srgbClr val="2E2A24"/>
            </a:solidFill>
            <a:prstDash val="solid"/>
          </a:ln>
        </p:spPr>
      </p:sp>
      <p:sp>
        <p:nvSpPr>
          <p:cNvPr id="54" name="Text 52"/>
          <p:cNvSpPr/>
          <p:nvPr/>
        </p:nvSpPr>
        <p:spPr>
          <a:xfrm>
            <a:off x="8359445" y="1828800"/>
            <a:ext cx="2917850" cy="292608"/>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ポジティブ</a:t>
            </a:r>
            <a:endParaRPr lang="en-US" sz="1300" dirty="0"/>
          </a:p>
        </p:txBody>
      </p:sp>
      <p:sp>
        <p:nvSpPr>
          <p:cNvPr id="55" name="Text 53"/>
          <p:cNvSpPr/>
          <p:nvPr/>
        </p:nvSpPr>
        <p:spPr>
          <a:xfrm>
            <a:off x="8359445"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56" name="Text 54"/>
          <p:cNvSpPr/>
          <p:nvPr/>
        </p:nvSpPr>
        <p:spPr>
          <a:xfrm>
            <a:off x="10051999"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40.00</a:t>
            </a:r>
            <a:endParaRPr lang="en-US" sz="1350" dirty="0"/>
          </a:p>
        </p:txBody>
      </p:sp>
      <p:sp>
        <p:nvSpPr>
          <p:cNvPr id="57" name="Text 55"/>
          <p:cNvSpPr/>
          <p:nvPr/>
        </p:nvSpPr>
        <p:spPr>
          <a:xfrm>
            <a:off x="8359445" y="251917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SPC取得原価（＋1%）</a:t>
            </a:r>
            <a:endParaRPr lang="en-US" sz="950" dirty="0"/>
          </a:p>
        </p:txBody>
      </p:sp>
      <p:sp>
        <p:nvSpPr>
          <p:cNvPr id="58" name="Text 56"/>
          <p:cNvSpPr/>
          <p:nvPr/>
        </p:nvSpPr>
        <p:spPr>
          <a:xfrm>
            <a:off x="10051999" y="251917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40.40</a:t>
            </a:r>
            <a:endParaRPr lang="en-US" sz="1350" dirty="0"/>
          </a:p>
        </p:txBody>
      </p:sp>
      <p:sp>
        <p:nvSpPr>
          <p:cNvPr id="59" name="Text 57"/>
          <p:cNvSpPr/>
          <p:nvPr/>
        </p:nvSpPr>
        <p:spPr>
          <a:xfrm>
            <a:off x="8359445" y="280720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取得時の売値</a:t>
            </a:r>
            <a:endParaRPr lang="en-US" sz="950" dirty="0"/>
          </a:p>
        </p:txBody>
      </p:sp>
      <p:sp>
        <p:nvSpPr>
          <p:cNvPr id="60" name="Text 58"/>
          <p:cNvSpPr/>
          <p:nvPr/>
        </p:nvSpPr>
        <p:spPr>
          <a:xfrm>
            <a:off x="10051999" y="280720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80.00</a:t>
            </a:r>
            <a:endParaRPr lang="en-US" sz="1350" dirty="0"/>
          </a:p>
        </p:txBody>
      </p:sp>
      <p:sp>
        <p:nvSpPr>
          <p:cNvPr id="61" name="Text 59"/>
          <p:cNvSpPr/>
          <p:nvPr/>
        </p:nvSpPr>
        <p:spPr>
          <a:xfrm>
            <a:off x="8359445" y="309524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62" name="Text 60"/>
          <p:cNvSpPr/>
          <p:nvPr/>
        </p:nvSpPr>
        <p:spPr>
          <a:xfrm>
            <a:off x="10051999" y="3095244"/>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×1.060</a:t>
            </a:r>
            <a:endParaRPr lang="en-US" sz="1250" dirty="0"/>
          </a:p>
        </p:txBody>
      </p:sp>
      <p:sp>
        <p:nvSpPr>
          <p:cNvPr id="63" name="Text 61"/>
          <p:cNvSpPr/>
          <p:nvPr/>
        </p:nvSpPr>
        <p:spPr>
          <a:xfrm>
            <a:off x="8359445" y="338328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64" name="Text 62"/>
          <p:cNvSpPr/>
          <p:nvPr/>
        </p:nvSpPr>
        <p:spPr>
          <a:xfrm>
            <a:off x="10051999" y="3383280"/>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84.80</a:t>
            </a:r>
            <a:endParaRPr lang="en-US" sz="1350" dirty="0"/>
          </a:p>
        </p:txBody>
      </p:sp>
      <p:sp>
        <p:nvSpPr>
          <p:cNvPr id="65" name="Text 63"/>
          <p:cNvSpPr/>
          <p:nvPr/>
        </p:nvSpPr>
        <p:spPr>
          <a:xfrm>
            <a:off x="8359445" y="3671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66" name="Text 64"/>
          <p:cNvSpPr/>
          <p:nvPr/>
        </p:nvSpPr>
        <p:spPr>
          <a:xfrm>
            <a:off x="10051999" y="367131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9.50</a:t>
            </a:r>
            <a:endParaRPr lang="en-US" sz="1350" dirty="0"/>
          </a:p>
        </p:txBody>
      </p:sp>
      <p:sp>
        <p:nvSpPr>
          <p:cNvPr id="67" name="Text 65"/>
          <p:cNvSpPr/>
          <p:nvPr/>
        </p:nvSpPr>
        <p:spPr>
          <a:xfrm>
            <a:off x="8359445" y="395935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68" name="Text 66"/>
          <p:cNvSpPr/>
          <p:nvPr/>
        </p:nvSpPr>
        <p:spPr>
          <a:xfrm>
            <a:off x="10051999" y="395935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75.30</a:t>
            </a:r>
            <a:endParaRPr lang="en-US" sz="1350" dirty="0"/>
          </a:p>
        </p:txBody>
      </p:sp>
      <p:sp>
        <p:nvSpPr>
          <p:cNvPr id="69" name="Text 67"/>
          <p:cNvSpPr/>
          <p:nvPr/>
        </p:nvSpPr>
        <p:spPr>
          <a:xfrm>
            <a:off x="8359445" y="424738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70" name="Text 68"/>
          <p:cNvSpPr/>
          <p:nvPr/>
        </p:nvSpPr>
        <p:spPr>
          <a:xfrm>
            <a:off x="10051999" y="424738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34.90</a:t>
            </a:r>
            <a:endParaRPr lang="en-US" sz="1350" dirty="0"/>
          </a:p>
        </p:txBody>
      </p:sp>
      <p:sp>
        <p:nvSpPr>
          <p:cNvPr id="71" name="Text 69"/>
          <p:cNvSpPr/>
          <p:nvPr/>
        </p:nvSpPr>
        <p:spPr>
          <a:xfrm>
            <a:off x="8359445" y="453542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粗利率（売上比）</a:t>
            </a:r>
            <a:endParaRPr lang="en-US" sz="950" dirty="0"/>
          </a:p>
        </p:txBody>
      </p:sp>
      <p:sp>
        <p:nvSpPr>
          <p:cNvPr id="72" name="Text 70"/>
          <p:cNvSpPr/>
          <p:nvPr/>
        </p:nvSpPr>
        <p:spPr>
          <a:xfrm>
            <a:off x="10051999" y="4535424"/>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41.2%</a:t>
            </a:r>
            <a:endParaRPr lang="en-US" sz="1250" dirty="0"/>
          </a:p>
        </p:txBody>
      </p:sp>
      <p:sp>
        <p:nvSpPr>
          <p:cNvPr id="73" name="Text 71"/>
          <p:cNvSpPr/>
          <p:nvPr/>
        </p:nvSpPr>
        <p:spPr>
          <a:xfrm>
            <a:off x="8359445" y="482346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投下原価利益率</a:t>
            </a:r>
            <a:endParaRPr lang="en-US" sz="950" dirty="0"/>
          </a:p>
        </p:txBody>
      </p:sp>
      <p:sp>
        <p:nvSpPr>
          <p:cNvPr id="74" name="Text 72"/>
          <p:cNvSpPr/>
          <p:nvPr/>
        </p:nvSpPr>
        <p:spPr>
          <a:xfrm>
            <a:off x="10051999" y="4823460"/>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86.4%</a:t>
            </a:r>
            <a:endParaRPr lang="en-US" sz="1250" dirty="0"/>
          </a:p>
        </p:txBody>
      </p:sp>
      <p:sp>
        <p:nvSpPr>
          <p:cNvPr id="75" name="Text 73"/>
          <p:cNvSpPr/>
          <p:nvPr/>
        </p:nvSpPr>
        <p:spPr>
          <a:xfrm>
            <a:off x="8359445" y="508406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仕入はインポーター40のみ・売却はネット最安80のみ（B2C100%）</a:t>
            </a:r>
            <a:endParaRPr lang="en-US" sz="900" dirty="0"/>
          </a:p>
        </p:txBody>
      </p:sp>
      <p:sp>
        <p:nvSpPr>
          <p:cNvPr id="76" name="Text 74"/>
          <p:cNvSpPr/>
          <p:nvPr/>
        </p:nvSpPr>
        <p:spPr>
          <a:xfrm>
            <a:off x="658368" y="5687568"/>
            <a:ext cx="10874959" cy="365760"/>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粗利率（売上比）は単位粗利を売却時の売値で除したもの、投下原価利益率は投下資本であるSPC取得原価で除したもの。分母が異なるだけで同じ単位粗利を見ている。利回りの源泉となるのは後者であり、年1回転すれば投下資本が年47.3%増えることを意味する。</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COST ASSUMPTIONS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SPC費用の前提</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共通費用とチャネル別の変動販売費に分けて計上。監査・法務まで含め、利回りを作るための圧縮は行っていない。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09</a:t>
            </a:r>
            <a:endParaRPr lang="en-US" sz="950" dirty="0"/>
          </a:p>
        </p:txBody>
      </p:sp>
      <p:sp>
        <p:nvSpPr>
          <p:cNvPr id="7" name="Text 5"/>
          <p:cNvSpPr/>
          <p:nvPr/>
        </p:nvSpPr>
        <p:spPr>
          <a:xfrm>
            <a:off x="658368" y="1627632"/>
            <a:ext cx="27432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共通費用</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58368" y="1792224"/>
          <a:ext cx="10874959" cy="914400"/>
        </p:xfrm>
        <a:graphic>
          <a:graphicData uri="http://schemas.openxmlformats.org/drawingml/2006/table">
            <a:tbl>
              <a:tblPr/>
              <a:tblGrid>
                <a:gridCol w="2331720"/>
                <a:gridCol w="1965960"/>
                <a:gridCol w="6574536"/>
              </a:tblGrid>
              <a:tr h="29718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費用項目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単価・料率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根拠・備考</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保管（定温倉庫）</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年7,500円／ロット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1ロット＝定価100万円相当（約40本）。月約16円／本で業務用パレット定温保管の一般水準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動産総合保険</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平均在庫簿価の年0.15%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火災・破損・盗難・輸送中事故を全量付保。滞留・破損ロスは保険でカバーするため別途計上しない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入庫・検品</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320円／ロット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入庫時の検品・棚入れ。出庫費用はチャネル別の変動販売費に含む</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SPC維持費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年200万円（固定）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税務・事務受託・法務</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SPC人件費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年360万円（固定）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SPC運営に係るWineBank側の実務人件費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AUP（合意された手続）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年50万円（固定）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公認会計士による合意された手続の実施と報告書の発行</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予備費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年50万円（固定）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想定外の実費に充当。未使用分はSPCの利益に残る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WineBank販売オペコスト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SPC負担なし</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GP取分（利益の50%）から負担。SPCに管理報酬・成功報酬は課さない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9" name="Text 6"/>
          <p:cNvSpPr/>
          <p:nvPr/>
        </p:nvSpPr>
        <p:spPr>
          <a:xfrm>
            <a:off x="658368" y="4315968"/>
            <a:ext cx="45720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チャネル別 変動販売費（売上比）</a:t>
            </a:r>
            <a:endParaRPr lang="en-US" sz="1100" dirty="0"/>
          </a:p>
        </p:txBody>
      </p:sp>
      <p:sp>
        <p:nvSpPr>
          <p:cNvPr id="10" name="Shape 7"/>
          <p:cNvSpPr/>
          <p:nvPr/>
        </p:nvSpPr>
        <p:spPr>
          <a:xfrm>
            <a:off x="658368" y="4572000"/>
            <a:ext cx="3442106" cy="1097280"/>
          </a:xfrm>
          <a:prstGeom prst="roundRect">
            <a:avLst>
              <a:gd name="adj" fmla="val 3750"/>
            </a:avLst>
          </a:prstGeom>
          <a:solidFill>
            <a:srgbClr val="171614"/>
          </a:solidFill>
          <a:ln w="9525">
            <a:solidFill>
              <a:srgbClr val="2E2A24"/>
            </a:solidFill>
            <a:prstDash val="solid"/>
          </a:ln>
        </p:spPr>
      </p:sp>
      <p:sp>
        <p:nvSpPr>
          <p:cNvPr id="11" name="Text 8"/>
          <p:cNvSpPr/>
          <p:nvPr/>
        </p:nvSpPr>
        <p:spPr>
          <a:xfrm>
            <a:off x="896112" y="4700016"/>
            <a:ext cx="2070506"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B2B｜酒販店卸</a:t>
            </a:r>
            <a:endParaRPr lang="en-US" sz="1100" dirty="0"/>
          </a:p>
        </p:txBody>
      </p:sp>
      <p:sp>
        <p:nvSpPr>
          <p:cNvPr id="12" name="Text 9"/>
          <p:cNvSpPr/>
          <p:nvPr/>
        </p:nvSpPr>
        <p:spPr>
          <a:xfrm>
            <a:off x="2783738" y="466344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1.0</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13" name="Text 10"/>
          <p:cNvSpPr/>
          <p:nvPr/>
        </p:nvSpPr>
        <p:spPr>
          <a:xfrm>
            <a:off x="896112"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出庫・配送 0.6%　／　決済・与信（貸倒引当）0.4%</a:t>
            </a:r>
            <a:endParaRPr lang="en-US" sz="900" dirty="0"/>
          </a:p>
        </p:txBody>
      </p:sp>
      <p:sp>
        <p:nvSpPr>
          <p:cNvPr id="14" name="Shape 11"/>
          <p:cNvSpPr/>
          <p:nvPr/>
        </p:nvSpPr>
        <p:spPr>
          <a:xfrm>
            <a:off x="4374794" y="4572000"/>
            <a:ext cx="3442106" cy="1097280"/>
          </a:xfrm>
          <a:prstGeom prst="roundRect">
            <a:avLst>
              <a:gd name="adj" fmla="val 3750"/>
            </a:avLst>
          </a:prstGeom>
          <a:solidFill>
            <a:srgbClr val="171614"/>
          </a:solidFill>
          <a:ln w="9525">
            <a:solidFill>
              <a:srgbClr val="2E2A24"/>
            </a:solidFill>
            <a:prstDash val="solid"/>
          </a:ln>
        </p:spPr>
      </p:sp>
      <p:sp>
        <p:nvSpPr>
          <p:cNvPr id="15" name="Text 12"/>
          <p:cNvSpPr/>
          <p:nvPr/>
        </p:nvSpPr>
        <p:spPr>
          <a:xfrm>
            <a:off x="4612538" y="4700016"/>
            <a:ext cx="2070506"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B2C｜自社EC・オークション</a:t>
            </a:r>
            <a:endParaRPr lang="en-US" sz="1100" dirty="0"/>
          </a:p>
        </p:txBody>
      </p:sp>
      <p:sp>
        <p:nvSpPr>
          <p:cNvPr id="16" name="Text 13"/>
          <p:cNvSpPr/>
          <p:nvPr/>
        </p:nvSpPr>
        <p:spPr>
          <a:xfrm>
            <a:off x="6500165" y="466344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11.2</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17" name="Text 14"/>
          <p:cNvSpPr/>
          <p:nvPr/>
        </p:nvSpPr>
        <p:spPr>
          <a:xfrm>
            <a:off x="4612538"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モール・出品手数料 5.5%　／　カード決済 3.2%　／　出庫・梱包・クール便 2.5%</a:t>
            </a:r>
            <a:endParaRPr lang="en-US" sz="900" dirty="0"/>
          </a:p>
        </p:txBody>
      </p:sp>
      <p:sp>
        <p:nvSpPr>
          <p:cNvPr id="18" name="Shape 15"/>
          <p:cNvSpPr/>
          <p:nvPr/>
        </p:nvSpPr>
        <p:spPr>
          <a:xfrm>
            <a:off x="8091221" y="4572000"/>
            <a:ext cx="3442106" cy="1097280"/>
          </a:xfrm>
          <a:prstGeom prst="roundRect">
            <a:avLst>
              <a:gd name="adj" fmla="val 3750"/>
            </a:avLst>
          </a:prstGeom>
          <a:solidFill>
            <a:srgbClr val="1F1D19"/>
          </a:solidFill>
          <a:ln w="9525">
            <a:solidFill>
              <a:srgbClr val="6E5730"/>
            </a:solidFill>
            <a:prstDash val="solid"/>
          </a:ln>
        </p:spPr>
      </p:sp>
      <p:sp>
        <p:nvSpPr>
          <p:cNvPr id="19" name="Text 16"/>
          <p:cNvSpPr/>
          <p:nvPr/>
        </p:nvSpPr>
        <p:spPr>
          <a:xfrm>
            <a:off x="8328965" y="4700016"/>
            <a:ext cx="2070506" cy="237744"/>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加重平均（半々）</a:t>
            </a:r>
            <a:endParaRPr lang="en-US" sz="1100" dirty="0"/>
          </a:p>
        </p:txBody>
      </p:sp>
      <p:sp>
        <p:nvSpPr>
          <p:cNvPr id="20" name="Text 17"/>
          <p:cNvSpPr/>
          <p:nvPr/>
        </p:nvSpPr>
        <p:spPr>
          <a:xfrm>
            <a:off x="10216591" y="466344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6.44</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21" name="Text 18"/>
          <p:cNvSpPr/>
          <p:nvPr/>
        </p:nvSpPr>
        <p:spPr>
          <a:xfrm>
            <a:off x="8328965"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売値ベースの加重平均　／　定価100あたり ▲4.83</a:t>
            </a:r>
            <a:endParaRPr lang="en-US" sz="900" dirty="0"/>
          </a:p>
        </p:txBody>
      </p:sp>
      <p:sp>
        <p:nvSpPr>
          <p:cNvPr id="22" name="Text 19"/>
          <p:cNvSpPr/>
          <p:nvPr/>
        </p:nvSpPr>
        <p:spPr>
          <a:xfrm>
            <a:off x="658368" y="5724144"/>
            <a:ext cx="10874959" cy="438912"/>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保管料は業務用パレット定温保管の水準（月10〜20円／本）。個人向けセラー預かり（月100〜150円／本）とは別の料金帯。主線（年間販売5.0億円）における年間SPC費用の合計は4,675万円で、内訳は変動販売費3,220万円・保管705万円・SPC固定費660万円・保険71万円・入庫19万円。デット2億円の金利はWineBankが負担するためSPCの費用には含まない。その他の運用前提：総額の95%をワイン購入に充当（現金5%）／仕入展開6ヶ月／ローリング運用／利益は複利再投資せず半期分配／税前利益を投資家60：WineBank40で按分／利回りは投資家の税引前ベース。</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BASE CASE ｜ 主線</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ニュートラル：在庫回転期間別シミュレーション</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SPC取得原価50.5・ワイン価格上昇 年6%／総額5億円（デット2億＋出資3億）・損益は折半・稼働率95%</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10</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 y="1664208"/>
          <a:ext cx="10874959" cy="914400"/>
        </p:xfrm>
        <a:graphic>
          <a:graphicData uri="http://schemas.openxmlformats.org/drawingml/2006/table">
            <a:tbl>
              <a:tblPr/>
              <a:tblGrid>
                <a:gridCol w="1481328"/>
                <a:gridCol w="896112"/>
                <a:gridCol w="896112"/>
                <a:gridCol w="749808"/>
                <a:gridCol w="1170432"/>
                <a:gridCol w="1097280"/>
                <a:gridCol w="1207008"/>
                <a:gridCol w="1060704"/>
                <a:gridCol w="1005840"/>
                <a:gridCol w="1307592"/>
              </a:tblGrid>
              <a:tr h="36576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年間粗利※</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粗利率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その他SPC費用</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年間税前利益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投資家取分（50%）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5年累計分配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 年平均利回り 5年通算</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9.83億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2.86億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29.1%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2.71億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136百万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45.2%</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609百万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40.6%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7.48億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2.25億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30.0%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2.10億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105百万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35.0%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418百万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27.9%</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6.07億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1.88億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31.0%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1.73億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87百万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28.9%</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323百万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21.5%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5.13億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1.64億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31.9%</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1.49億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74百万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24.8%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333百万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22.2%</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3712464"/>
            <a:ext cx="5532120" cy="1810512"/>
          </a:xfrm>
          <a:prstGeom prst="roundRect">
            <a:avLst>
              <a:gd name="adj" fmla="val 2273"/>
            </a:avLst>
          </a:prstGeom>
          <a:solidFill>
            <a:srgbClr val="1F1D19"/>
          </a:solidFill>
          <a:ln w="9525">
            <a:solidFill>
              <a:srgbClr val="6E5730"/>
            </a:solidFill>
            <a:prstDash val="solid"/>
          </a:ln>
        </p:spPr>
      </p:sp>
      <p:sp>
        <p:nvSpPr>
          <p:cNvPr id="9" name="Text 6"/>
          <p:cNvSpPr/>
          <p:nvPr/>
        </p:nvSpPr>
        <p:spPr>
          <a:xfrm>
            <a:off x="914400" y="3840480"/>
            <a:ext cx="5029200"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粗利率30.0%が投資家利回り35.0%になる理由</a:t>
            </a:r>
            <a:endParaRPr lang="en-US" sz="1150" dirty="0"/>
          </a:p>
        </p:txBody>
      </p:sp>
      <p:sp>
        <p:nvSpPr>
          <p:cNvPr id="10" name="Text 7"/>
          <p:cNvSpPr/>
          <p:nvPr/>
        </p:nvSpPr>
        <p:spPr>
          <a:xfrm>
            <a:off x="914400" y="4133088"/>
            <a:ext cx="1737360" cy="256032"/>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定価100あたり</a:t>
            </a:r>
            <a:endParaRPr lang="en-US" sz="950" dirty="0"/>
          </a:p>
        </p:txBody>
      </p:sp>
      <p:sp>
        <p:nvSpPr>
          <p:cNvPr id="11" name="Text 8"/>
          <p:cNvSpPr/>
          <p:nvPr/>
        </p:nvSpPr>
        <p:spPr>
          <a:xfrm>
            <a:off x="2688336" y="413308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原価50.50で仕入れ、手取り74.38で回収 → 単位粗利23.88</a:t>
            </a:r>
            <a:endParaRPr lang="en-US" sz="850" dirty="0"/>
          </a:p>
        </p:txBody>
      </p:sp>
      <p:sp>
        <p:nvSpPr>
          <p:cNvPr id="12" name="Text 9"/>
          <p:cNvSpPr/>
          <p:nvPr/>
        </p:nvSpPr>
        <p:spPr>
          <a:xfrm>
            <a:off x="914400" y="4407408"/>
            <a:ext cx="1737360" cy="256032"/>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粗利率 30.0%</a:t>
            </a:r>
            <a:endParaRPr lang="en-US" sz="950" dirty="0"/>
          </a:p>
        </p:txBody>
      </p:sp>
      <p:sp>
        <p:nvSpPr>
          <p:cNvPr id="13" name="Text 10"/>
          <p:cNvSpPr/>
          <p:nvPr/>
        </p:nvSpPr>
        <p:spPr>
          <a:xfrm>
            <a:off x="2688336" y="440740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分母は売却時の売値79.50</a:t>
            </a:r>
            <a:endParaRPr lang="en-US" sz="850" dirty="0"/>
          </a:p>
        </p:txBody>
      </p:sp>
      <p:sp>
        <p:nvSpPr>
          <p:cNvPr id="14" name="Text 11"/>
          <p:cNvSpPr/>
          <p:nvPr/>
        </p:nvSpPr>
        <p:spPr>
          <a:xfrm>
            <a:off x="914400" y="4681728"/>
            <a:ext cx="1737360" cy="256032"/>
          </a:xfrm>
          <a:prstGeom prst="rect">
            <a:avLst/>
          </a:prstGeom>
          <a:noFill/>
          <a:ln/>
        </p:spPr>
        <p:txBody>
          <a:bodyPr wrap="square" lIns="0" tIns="0" rIns="0" bIns="0" rtlCol="0" anchor="ctr"/>
          <a:lstStyle/>
          <a:p>
            <a:pPr indent="0" marL="0">
              <a:buNone/>
            </a:pPr>
            <a:r>
              <a:rPr lang="en-US" sz="950" b="1" dirty="0">
                <a:solidFill>
                  <a:srgbClr val="C9A96E"/>
                </a:solidFill>
                <a:latin typeface="Yu Gothic" pitchFamily="34" charset="0"/>
                <a:ea typeface="Yu Gothic" pitchFamily="34" charset="-122"/>
                <a:cs typeface="Yu Gothic" pitchFamily="34" charset="-120"/>
              </a:rPr>
              <a:t>投下原価利益率 47.3%</a:t>
            </a:r>
            <a:endParaRPr lang="en-US" sz="950" dirty="0"/>
          </a:p>
        </p:txBody>
      </p:sp>
      <p:sp>
        <p:nvSpPr>
          <p:cNvPr id="15" name="Text 12"/>
          <p:cNvSpPr/>
          <p:nvPr/>
        </p:nvSpPr>
        <p:spPr>
          <a:xfrm>
            <a:off x="2688336" y="468172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分母は投下資本である取得原価50.50。年1回転なので資本が年47.3%増える</a:t>
            </a:r>
            <a:endParaRPr lang="en-US" sz="850" dirty="0"/>
          </a:p>
        </p:txBody>
      </p:sp>
      <p:sp>
        <p:nvSpPr>
          <p:cNvPr id="16" name="Text 13"/>
          <p:cNvSpPr/>
          <p:nvPr/>
        </p:nvSpPr>
        <p:spPr>
          <a:xfrm>
            <a:off x="914400" y="4956048"/>
            <a:ext cx="1737360" cy="256032"/>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税前利回り 42.0%</a:t>
            </a:r>
            <a:endParaRPr lang="en-US" sz="950" dirty="0"/>
          </a:p>
        </p:txBody>
      </p:sp>
      <p:sp>
        <p:nvSpPr>
          <p:cNvPr id="17" name="Text 14"/>
          <p:cNvSpPr/>
          <p:nvPr/>
        </p:nvSpPr>
        <p:spPr>
          <a:xfrm>
            <a:off x="2688336" y="495604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SPC費用（保管・保険・入庫・固定 約1,500万円）控除後／総資産5億円に対して</a:t>
            </a:r>
            <a:endParaRPr lang="en-US" sz="850" dirty="0"/>
          </a:p>
        </p:txBody>
      </p:sp>
      <p:sp>
        <p:nvSpPr>
          <p:cNvPr id="18" name="Text 15"/>
          <p:cNvSpPr/>
          <p:nvPr/>
        </p:nvSpPr>
        <p:spPr>
          <a:xfrm>
            <a:off x="914400" y="5230368"/>
            <a:ext cx="1737360" cy="256032"/>
          </a:xfrm>
          <a:prstGeom prst="rect">
            <a:avLst/>
          </a:prstGeom>
          <a:noFill/>
          <a:ln/>
        </p:spPr>
        <p:txBody>
          <a:bodyPr wrap="square" lIns="0" tIns="0" rIns="0" bIns="0" rtlCol="0" anchor="ctr"/>
          <a:lstStyle/>
          <a:p>
            <a:pPr indent="0" marL="0">
              <a:buNone/>
            </a:pPr>
            <a:r>
              <a:rPr lang="en-US" sz="950" b="1" dirty="0">
                <a:solidFill>
                  <a:srgbClr val="C9A96E"/>
                </a:solidFill>
                <a:latin typeface="Yu Gothic" pitchFamily="34" charset="0"/>
                <a:ea typeface="Yu Gothic" pitchFamily="34" charset="-122"/>
                <a:cs typeface="Yu Gothic" pitchFamily="34" charset="-120"/>
              </a:rPr>
              <a:t>投資家利回り 35.0%</a:t>
            </a:r>
            <a:endParaRPr lang="en-US" sz="950" dirty="0"/>
          </a:p>
        </p:txBody>
      </p:sp>
      <p:sp>
        <p:nvSpPr>
          <p:cNvPr id="19" name="Text 16"/>
          <p:cNvSpPr/>
          <p:nvPr/>
        </p:nvSpPr>
        <p:spPr>
          <a:xfrm>
            <a:off x="2688336" y="523036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税前利益の50%（105百万円）を出資3億円で除したもの</a:t>
            </a:r>
            <a:endParaRPr lang="en-US" sz="850" dirty="0"/>
          </a:p>
        </p:txBody>
      </p:sp>
      <p:sp>
        <p:nvSpPr>
          <p:cNvPr id="20" name="Shape 17"/>
          <p:cNvSpPr/>
          <p:nvPr/>
        </p:nvSpPr>
        <p:spPr>
          <a:xfrm>
            <a:off x="6464808" y="3712464"/>
            <a:ext cx="5068519" cy="1810512"/>
          </a:xfrm>
          <a:prstGeom prst="roundRect">
            <a:avLst>
              <a:gd name="adj" fmla="val 2273"/>
            </a:avLst>
          </a:prstGeom>
          <a:solidFill>
            <a:srgbClr val="1F1D19"/>
          </a:solidFill>
          <a:ln w="9525">
            <a:solidFill>
              <a:srgbClr val="6E5730"/>
            </a:solidFill>
            <a:prstDash val="solid"/>
          </a:ln>
        </p:spPr>
      </p:sp>
      <p:sp>
        <p:nvSpPr>
          <p:cNvPr id="21" name="Text 18"/>
          <p:cNvSpPr/>
          <p:nvPr/>
        </p:nvSpPr>
        <p:spPr>
          <a:xfrm>
            <a:off x="6720840" y="3877056"/>
            <a:ext cx="3657600" cy="237744"/>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想定レンジのご提示</a:t>
            </a:r>
            <a:endParaRPr lang="en-US" sz="1200" dirty="0"/>
          </a:p>
        </p:txBody>
      </p:sp>
      <p:sp>
        <p:nvSpPr>
          <p:cNvPr id="22" name="Text 19"/>
          <p:cNvSpPr/>
          <p:nvPr/>
        </p:nvSpPr>
        <p:spPr>
          <a:xfrm>
            <a:off x="6720840" y="4151376"/>
            <a:ext cx="4519879" cy="219456"/>
          </a:xfrm>
          <a:prstGeom prst="rect">
            <a:avLst/>
          </a:prstGeom>
          <a:noFill/>
          <a:ln/>
        </p:spPr>
        <p:txBody>
          <a:bodyPr wrap="square" lIns="0" tIns="0" rIns="0" bIns="0" rtlCol="0" anchor="ctr"/>
          <a:lstStyle/>
          <a:p>
            <a:pPr indent="0" marL="0">
              <a:buNone/>
            </a:pPr>
            <a:r>
              <a:rPr lang="en-US" sz="1050" dirty="0">
                <a:solidFill>
                  <a:srgbClr val="EFEBE3"/>
                </a:solidFill>
                <a:latin typeface="Yu Gothic" pitchFamily="34" charset="0"/>
                <a:ea typeface="Yu Gothic" pitchFamily="34" charset="-122"/>
                <a:cs typeface="Yu Gothic" pitchFamily="34" charset="-120"/>
              </a:rPr>
              <a:t>投資家利回り（定常年間・税引前）</a:t>
            </a:r>
            <a:endParaRPr lang="en-US" sz="1050" dirty="0"/>
          </a:p>
        </p:txBody>
      </p:sp>
      <p:sp>
        <p:nvSpPr>
          <p:cNvPr id="23" name="Text 20"/>
          <p:cNvSpPr/>
          <p:nvPr/>
        </p:nvSpPr>
        <p:spPr>
          <a:xfrm>
            <a:off x="6720840" y="4370832"/>
            <a:ext cx="4519879" cy="457200"/>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24.8 – 45.2</a:t>
            </a:r>
            <a:pPr indent="0" marL="0">
              <a:buNone/>
            </a:pPr>
            <a:r>
              <a:rPr lang="en-US" sz="1500" b="1" dirty="0">
                <a:solidFill>
                  <a:srgbClr val="C9A96E"/>
                </a:solidFill>
                <a:latin typeface="Yu Gothic" pitchFamily="34" charset="0"/>
                <a:ea typeface="Yu Gothic" pitchFamily="34" charset="-122"/>
                <a:cs typeface="Yu Gothic" pitchFamily="34" charset="-120"/>
              </a:rPr>
              <a:t> %</a:t>
            </a:r>
            <a:endParaRPr lang="en-US" sz="3000" dirty="0"/>
          </a:p>
        </p:txBody>
      </p:sp>
      <p:sp>
        <p:nvSpPr>
          <p:cNvPr id="24" name="Text 21"/>
          <p:cNvSpPr/>
          <p:nvPr/>
        </p:nvSpPr>
        <p:spPr>
          <a:xfrm>
            <a:off x="6720840" y="4882896"/>
            <a:ext cx="4519879" cy="530352"/>
          </a:xfrm>
          <a:prstGeom prst="rect">
            <a:avLst/>
          </a:prstGeom>
          <a:noFill/>
          <a:ln/>
        </p:spPr>
        <p:txBody>
          <a:bodyPr wrap="square" lIns="0" tIns="0" rIns="0" bIns="0" rtlCol="0" anchor="ctr"/>
          <a:lstStyle/>
          <a:p>
            <a:pPr indent="0" marL="0">
              <a:lnSpc>
                <a:spcPct val="120000"/>
              </a:lnSpc>
              <a:buNone/>
            </a:pPr>
            <a:r>
              <a:rPr lang="en-US" sz="1000" dirty="0">
                <a:solidFill>
                  <a:srgbClr val="9A938A"/>
                </a:solidFill>
                <a:latin typeface="Yu Gothic" pitchFamily="34" charset="0"/>
                <a:ea typeface="Yu Gothic" pitchFamily="34" charset="-122"/>
                <a:cs typeface="Yu Gothic" pitchFamily="34" charset="-120"/>
              </a:rPr>
              <a:t>主線の回転12ヶ月で35.0%。最短9ヶ月なら45.2%、18ヶ月まで延びても24.8%を確保する。20%を割り込むのは回転が23.7ヶ月を超えた場合であり、想定レンジの外にある。</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BASE CASE ｜ 主線</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在庫回転期間と投資家リターンの関係</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いずれも出資3億円に対する数値。SPC税前利益の50%を投資家が受け取る前提。</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11</a:t>
            </a:r>
            <a:endParaRPr lang="en-US" sz="950" dirty="0"/>
          </a:p>
        </p:txBody>
      </p:sp>
      <p:sp>
        <p:nvSpPr>
          <p:cNvPr id="7" name="Shape 5"/>
          <p:cNvSpPr/>
          <p:nvPr/>
        </p:nvSpPr>
        <p:spPr>
          <a:xfrm>
            <a:off x="658368" y="1645920"/>
            <a:ext cx="5291176" cy="2615184"/>
          </a:xfrm>
          <a:prstGeom prst="roundRect">
            <a:avLst>
              <a:gd name="adj" fmla="val 1573"/>
            </a:avLst>
          </a:prstGeom>
          <a:solidFill>
            <a:srgbClr val="171614"/>
          </a:solidFill>
          <a:ln w="9525">
            <a:solidFill>
              <a:srgbClr val="2E2A24"/>
            </a:solidFill>
            <a:prstDash val="solid"/>
          </a:ln>
        </p:spPr>
      </p:sp>
      <p:graphicFrame>
        <p:nvGraphicFramePr>
          <p:cNvPr id="8" name="Chart 0" descr=""/>
          <p:cNvGraphicFramePr/>
          <p:nvPr/>
        </p:nvGraphicFramePr>
        <p:xfrm>
          <a:off x="786384" y="1737360"/>
          <a:ext cx="5035144" cy="2432304"/>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242152" y="1645920"/>
            <a:ext cx="5291176" cy="2615184"/>
          </a:xfrm>
          <a:prstGeom prst="roundRect">
            <a:avLst>
              <a:gd name="adj" fmla="val 1573"/>
            </a:avLst>
          </a:prstGeom>
          <a:solidFill>
            <a:srgbClr val="171614"/>
          </a:solidFill>
          <a:ln w="9525">
            <a:solidFill>
              <a:srgbClr val="2E2A24"/>
            </a:solidFill>
            <a:prstDash val="solid"/>
          </a:ln>
        </p:spPr>
      </p:sp>
      <p:graphicFrame>
        <p:nvGraphicFramePr>
          <p:cNvPr id="10" name="Chart 1" descr=""/>
          <p:cNvGraphicFramePr/>
          <p:nvPr/>
        </p:nvGraphicFramePr>
        <p:xfrm>
          <a:off x="6370168" y="1737360"/>
          <a:ext cx="5035144" cy="2432304"/>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658368" y="4443984"/>
            <a:ext cx="5300320" cy="1225296"/>
          </a:xfrm>
          <a:prstGeom prst="roundRect">
            <a:avLst>
              <a:gd name="adj" fmla="val 3358"/>
            </a:avLst>
          </a:prstGeom>
          <a:solidFill>
            <a:srgbClr val="1F1D19"/>
          </a:solidFill>
          <a:ln w="9525">
            <a:solidFill>
              <a:srgbClr val="6E5730"/>
            </a:solidFill>
            <a:prstDash val="solid"/>
          </a:ln>
        </p:spPr>
      </p:sp>
      <p:sp>
        <p:nvSpPr>
          <p:cNvPr id="12" name="Text 8"/>
          <p:cNvSpPr/>
          <p:nvPr/>
        </p:nvSpPr>
        <p:spPr>
          <a:xfrm>
            <a:off x="914400" y="4608576"/>
            <a:ext cx="4788256"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回転期間が主たる決定要因</a:t>
            </a:r>
            <a:endParaRPr lang="en-US" sz="1200" dirty="0"/>
          </a:p>
        </p:txBody>
      </p:sp>
      <p:sp>
        <p:nvSpPr>
          <p:cNvPr id="13" name="Text 9"/>
          <p:cNvSpPr/>
          <p:nvPr/>
        </p:nvSpPr>
        <p:spPr>
          <a:xfrm>
            <a:off x="914400" y="4901184"/>
            <a:ext cx="4788256" cy="621792"/>
          </a:xfrm>
          <a:prstGeom prst="rect">
            <a:avLst/>
          </a:prstGeom>
          <a:noFill/>
          <a:ln/>
        </p:spPr>
        <p:txBody>
          <a:bodyPr wrap="square" lIns="0" tIns="0" rIns="0" bIns="0" rtlCol="0" anchor="ctr"/>
          <a:lstStyle/>
          <a:p>
            <a:pPr indent="0" marL="0">
              <a:lnSpc>
                <a:spcPct val="120000"/>
              </a:lnSpc>
              <a:buNone/>
            </a:pPr>
            <a:r>
              <a:rPr lang="en-US" sz="1000" dirty="0">
                <a:solidFill>
                  <a:srgbClr val="9A938A"/>
                </a:solidFill>
                <a:latin typeface="Yu Gothic" pitchFamily="34" charset="0"/>
                <a:ea typeface="Yu Gothic" pitchFamily="34" charset="-122"/>
                <a:cs typeface="Yu Gothic" pitchFamily="34" charset="-120"/>
              </a:rPr>
              <a:t>回転を1ヶ月短縮するごとに投資家利回りは約3.4ポイント改善する。何を組み入れるか（銘柄の流動性）で回転期間の大半が決まる。</a:t>
            </a:r>
            <a:endParaRPr lang="en-US" sz="1000" dirty="0"/>
          </a:p>
        </p:txBody>
      </p:sp>
      <p:sp>
        <p:nvSpPr>
          <p:cNvPr id="14" name="Shape 10"/>
          <p:cNvSpPr/>
          <p:nvPr/>
        </p:nvSpPr>
        <p:spPr>
          <a:xfrm>
            <a:off x="6233008" y="4443984"/>
            <a:ext cx="5300320" cy="1225296"/>
          </a:xfrm>
          <a:prstGeom prst="roundRect">
            <a:avLst>
              <a:gd name="adj" fmla="val 3358"/>
            </a:avLst>
          </a:prstGeom>
          <a:solidFill>
            <a:srgbClr val="171614"/>
          </a:solidFill>
          <a:ln w="9525">
            <a:solidFill>
              <a:srgbClr val="2E2A24"/>
            </a:solidFill>
            <a:prstDash val="solid"/>
          </a:ln>
        </p:spPr>
      </p:sp>
      <p:sp>
        <p:nvSpPr>
          <p:cNvPr id="15" name="Text 11"/>
          <p:cNvSpPr/>
          <p:nvPr/>
        </p:nvSpPr>
        <p:spPr>
          <a:xfrm>
            <a:off x="6489040" y="4608576"/>
            <a:ext cx="4788256"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ただし値上がりが下支えする</a:t>
            </a:r>
            <a:endParaRPr lang="en-US" sz="1200" dirty="0"/>
          </a:p>
        </p:txBody>
      </p:sp>
      <p:sp>
        <p:nvSpPr>
          <p:cNvPr id="16" name="Text 12"/>
          <p:cNvSpPr/>
          <p:nvPr/>
        </p:nvSpPr>
        <p:spPr>
          <a:xfrm>
            <a:off x="6489040" y="4901184"/>
            <a:ext cx="4788256" cy="621792"/>
          </a:xfrm>
          <a:prstGeom prst="rect">
            <a:avLst/>
          </a:prstGeom>
          <a:noFill/>
          <a:ln/>
        </p:spPr>
        <p:txBody>
          <a:bodyPr wrap="square" lIns="0" tIns="0" rIns="0" bIns="0" rtlCol="0" anchor="ctr"/>
          <a:lstStyle/>
          <a:p>
            <a:pPr indent="0" marL="0">
              <a:lnSpc>
                <a:spcPct val="120000"/>
              </a:lnSpc>
              <a:buNone/>
            </a:pPr>
            <a:r>
              <a:rPr lang="en-US" sz="1000" dirty="0">
                <a:solidFill>
                  <a:srgbClr val="9A938A"/>
                </a:solidFill>
                <a:latin typeface="Yu Gothic" pitchFamily="34" charset="0"/>
                <a:ea typeface="Yu Gothic" pitchFamily="34" charset="-122"/>
                <a:cs typeface="Yu Gothic" pitchFamily="34" charset="-120"/>
              </a:rPr>
              <a:t>回転が18ヶ月まで延びても24.8%を確保できる。保有が長いぶん売値が上がるためで、値上がりを織り込まない場合とは約6.6ポイントの差がつく（次頁）。</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PRICE APPRECIATION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ワイン価格の上昇をどう織り込むか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回転が落ちれば利回りは下がるが、保有が延びれば売値は上がる。両者は別々の収益源として足し合わさる。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12</a:t>
            </a:r>
            <a:endParaRPr lang="en-US" sz="950" dirty="0"/>
          </a:p>
        </p:txBody>
      </p:sp>
      <p:sp>
        <p:nvSpPr>
          <p:cNvPr id="7" name="Shape 5"/>
          <p:cNvSpPr/>
          <p:nvPr/>
        </p:nvSpPr>
        <p:spPr>
          <a:xfrm>
            <a:off x="658368" y="1664208"/>
            <a:ext cx="5291176" cy="1572768"/>
          </a:xfrm>
          <a:prstGeom prst="roundRect">
            <a:avLst>
              <a:gd name="adj" fmla="val 2616"/>
            </a:avLst>
          </a:prstGeom>
          <a:solidFill>
            <a:srgbClr val="171614"/>
          </a:solidFill>
          <a:ln w="9525">
            <a:solidFill>
              <a:srgbClr val="2E2A24"/>
            </a:solidFill>
            <a:prstDash val="solid"/>
          </a:ln>
        </p:spPr>
      </p:sp>
      <p:sp>
        <p:nvSpPr>
          <p:cNvPr id="8" name="Text 6"/>
          <p:cNvSpPr/>
          <p:nvPr/>
        </p:nvSpPr>
        <p:spPr>
          <a:xfrm>
            <a:off x="914400" y="1810512"/>
            <a:ext cx="2913736"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フロー｜流通価格差</a:t>
            </a:r>
            <a:endParaRPr lang="en-US" sz="1250" dirty="0"/>
          </a:p>
        </p:txBody>
      </p:sp>
      <p:sp>
        <p:nvSpPr>
          <p:cNvPr id="9" name="Text 7"/>
          <p:cNvSpPr/>
          <p:nvPr/>
        </p:nvSpPr>
        <p:spPr>
          <a:xfrm>
            <a:off x="3626968" y="1810512"/>
            <a:ext cx="2066544" cy="256032"/>
          </a:xfrm>
          <a:prstGeom prst="rect">
            <a:avLst/>
          </a:prstGeom>
          <a:noFill/>
          <a:ln/>
        </p:spPr>
        <p:txBody>
          <a:bodyPr wrap="square" lIns="0" tIns="0" rIns="0" bIns="0" rtlCol="0" anchor="ctr"/>
          <a:lstStyle/>
          <a:p>
            <a:pPr algn="r" indent="0" marL="0">
              <a:buNone/>
            </a:pPr>
            <a:r>
              <a:rPr lang="en-US" sz="950" dirty="0">
                <a:solidFill>
                  <a:srgbClr val="9A938A"/>
                </a:solidFill>
                <a:latin typeface="Yu Gothic" pitchFamily="34" charset="0"/>
                <a:ea typeface="Yu Gothic" pitchFamily="34" charset="-122"/>
                <a:cs typeface="Yu Gothic" pitchFamily="34" charset="-120"/>
              </a:rPr>
              <a:t>回転に対するリターン</a:t>
            </a:r>
            <a:endParaRPr lang="en-US" sz="950" dirty="0"/>
          </a:p>
        </p:txBody>
      </p:sp>
      <p:sp>
        <p:nvSpPr>
          <p:cNvPr id="10" name="Text 8"/>
          <p:cNvSpPr/>
          <p:nvPr/>
        </p:nvSpPr>
        <p:spPr>
          <a:xfrm>
            <a:off x="914400" y="2121408"/>
            <a:ext cx="4779112" cy="566928"/>
          </a:xfrm>
          <a:prstGeom prst="rect">
            <a:avLst/>
          </a:prstGeom>
          <a:noFill/>
          <a:ln/>
        </p:spPr>
        <p:txBody>
          <a:bodyPr wrap="square" lIns="0" tIns="0" rIns="0" bIns="0" rtlCol="0" anchor="ctr"/>
          <a:lstStyle/>
          <a:p>
            <a:pPr indent="0" marL="0">
              <a:lnSpc>
                <a:spcPct val="122000"/>
              </a:lnSpc>
              <a:buNone/>
            </a:pPr>
            <a:r>
              <a:rPr lang="en-US" sz="950" dirty="0">
                <a:solidFill>
                  <a:srgbClr val="9A938A"/>
                </a:solidFill>
                <a:latin typeface="Yu Gothic" pitchFamily="34" charset="0"/>
                <a:ea typeface="Yu Gothic" pitchFamily="34" charset="-122"/>
                <a:cs typeface="Yu Gothic" pitchFamily="34" charset="-120"/>
              </a:rPr>
              <a:t>40〜60で仕入れ、70〜80で売る。年に何回まわせるかに比例するため、回転期間が短いほど大きくなる。</a:t>
            </a:r>
            <a:endParaRPr lang="en-US" sz="950" dirty="0"/>
          </a:p>
        </p:txBody>
      </p:sp>
      <p:sp>
        <p:nvSpPr>
          <p:cNvPr id="11" name="Text 9"/>
          <p:cNvSpPr/>
          <p:nvPr/>
        </p:nvSpPr>
        <p:spPr>
          <a:xfrm>
            <a:off x="914400" y="2761488"/>
            <a:ext cx="4779112"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主線（回転12ヶ月）で 28.4%</a:t>
            </a:r>
            <a:endParaRPr lang="en-US" sz="1300" dirty="0"/>
          </a:p>
        </p:txBody>
      </p:sp>
      <p:sp>
        <p:nvSpPr>
          <p:cNvPr id="12" name="Shape 10"/>
          <p:cNvSpPr/>
          <p:nvPr/>
        </p:nvSpPr>
        <p:spPr>
          <a:xfrm>
            <a:off x="6242152" y="1664208"/>
            <a:ext cx="5291176" cy="1572768"/>
          </a:xfrm>
          <a:prstGeom prst="roundRect">
            <a:avLst>
              <a:gd name="adj" fmla="val 2616"/>
            </a:avLst>
          </a:prstGeom>
          <a:solidFill>
            <a:srgbClr val="1F1D19"/>
          </a:solidFill>
          <a:ln w="9525">
            <a:solidFill>
              <a:srgbClr val="6E5730"/>
            </a:solidFill>
            <a:prstDash val="solid"/>
          </a:ln>
        </p:spPr>
      </p:sp>
      <p:sp>
        <p:nvSpPr>
          <p:cNvPr id="13" name="Text 11"/>
          <p:cNvSpPr/>
          <p:nvPr/>
        </p:nvSpPr>
        <p:spPr>
          <a:xfrm>
            <a:off x="6498184" y="1810512"/>
            <a:ext cx="291373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ストック｜ワインの値上がり</a:t>
            </a:r>
            <a:endParaRPr lang="en-US" sz="1250" dirty="0"/>
          </a:p>
        </p:txBody>
      </p:sp>
      <p:sp>
        <p:nvSpPr>
          <p:cNvPr id="14" name="Text 12"/>
          <p:cNvSpPr/>
          <p:nvPr/>
        </p:nvSpPr>
        <p:spPr>
          <a:xfrm>
            <a:off x="9210751" y="1810512"/>
            <a:ext cx="2066544" cy="256032"/>
          </a:xfrm>
          <a:prstGeom prst="rect">
            <a:avLst/>
          </a:prstGeom>
          <a:noFill/>
          <a:ln/>
        </p:spPr>
        <p:txBody>
          <a:bodyPr wrap="square" lIns="0" tIns="0" rIns="0" bIns="0" rtlCol="0" anchor="ctr"/>
          <a:lstStyle/>
          <a:p>
            <a:pPr algn="r" indent="0" marL="0">
              <a:buNone/>
            </a:pPr>
            <a:r>
              <a:rPr lang="en-US" sz="950" dirty="0">
                <a:solidFill>
                  <a:srgbClr val="9A938A"/>
                </a:solidFill>
                <a:latin typeface="Yu Gothic" pitchFamily="34" charset="0"/>
                <a:ea typeface="Yu Gothic" pitchFamily="34" charset="-122"/>
                <a:cs typeface="Yu Gothic" pitchFamily="34" charset="-120"/>
              </a:rPr>
              <a:t>在庫に対するリターン</a:t>
            </a:r>
            <a:endParaRPr lang="en-US" sz="950" dirty="0"/>
          </a:p>
        </p:txBody>
      </p:sp>
      <p:sp>
        <p:nvSpPr>
          <p:cNvPr id="15" name="Text 13"/>
          <p:cNvSpPr/>
          <p:nvPr/>
        </p:nvSpPr>
        <p:spPr>
          <a:xfrm>
            <a:off x="6498184" y="2121408"/>
            <a:ext cx="4779112" cy="566928"/>
          </a:xfrm>
          <a:prstGeom prst="rect">
            <a:avLst/>
          </a:prstGeom>
          <a:noFill/>
          <a:ln/>
        </p:spPr>
        <p:txBody>
          <a:bodyPr wrap="square" lIns="0" tIns="0" rIns="0" bIns="0" rtlCol="0" anchor="ctr"/>
          <a:lstStyle/>
          <a:p>
            <a:pPr indent="0" marL="0">
              <a:lnSpc>
                <a:spcPct val="122000"/>
              </a:lnSpc>
              <a:buNone/>
            </a:pPr>
            <a:r>
              <a:rPr lang="en-US" sz="950" dirty="0">
                <a:solidFill>
                  <a:srgbClr val="9A938A"/>
                </a:solidFill>
                <a:latin typeface="Yu Gothic" pitchFamily="34" charset="0"/>
                <a:ea typeface="Yu Gothic" pitchFamily="34" charset="-122"/>
                <a:cs typeface="Yu Gothic" pitchFamily="34" charset="-120"/>
              </a:rPr>
              <a:t>保有している間、価格帯全体が年6%上昇する。在庫金額に対して発生するため、回転期間によらずほぼ一定になる。</a:t>
            </a:r>
            <a:endParaRPr lang="en-US" sz="950" dirty="0"/>
          </a:p>
        </p:txBody>
      </p:sp>
      <p:sp>
        <p:nvSpPr>
          <p:cNvPr id="16" name="Text 14"/>
          <p:cNvSpPr/>
          <p:nvPr/>
        </p:nvSpPr>
        <p:spPr>
          <a:xfrm>
            <a:off x="6498184" y="2761488"/>
            <a:ext cx="4779112"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回転期間によらず 約 +6.6pt</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 y="3346704"/>
          <a:ext cx="10874959" cy="914400"/>
        </p:xfrm>
        <a:graphic>
          <a:graphicData uri="http://schemas.openxmlformats.org/drawingml/2006/table">
            <a:tbl>
              <a:tblPr/>
              <a:tblGrid>
                <a:gridCol w="2057400"/>
                <a:gridCol w="1874520"/>
                <a:gridCol w="2788920"/>
                <a:gridCol w="2148840"/>
                <a:gridCol w="2002536"/>
              </a:tblGrid>
              <a:tr h="34290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売値の上昇倍率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① 価格差による利回り（上昇0%）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② 値上がりによる上乗せ</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投資家利回り（①＋②）</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×1.045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38.7%</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＋6.6pt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45.2%</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×1.060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28.4%</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＋6.6pt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35.0%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×1.076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22.2%</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＋6.6pt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28.9%</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×1.091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＋6.7pt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24.8%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8" name="Shape 15"/>
          <p:cNvSpPr/>
          <p:nvPr/>
        </p:nvSpPr>
        <p:spPr>
          <a:xfrm>
            <a:off x="658368" y="5175504"/>
            <a:ext cx="5532120" cy="1024128"/>
          </a:xfrm>
          <a:prstGeom prst="roundRect">
            <a:avLst>
              <a:gd name="adj" fmla="val 4018"/>
            </a:avLst>
          </a:prstGeom>
          <a:solidFill>
            <a:srgbClr val="171614"/>
          </a:solidFill>
          <a:ln w="9525">
            <a:solidFill>
              <a:srgbClr val="2E2A24"/>
            </a:solidFill>
            <a:prstDash val="solid"/>
          </a:ln>
        </p:spPr>
      </p:sp>
      <p:sp>
        <p:nvSpPr>
          <p:cNvPr id="19" name="Text 16"/>
          <p:cNvSpPr/>
          <p:nvPr/>
        </p:nvSpPr>
        <p:spPr>
          <a:xfrm>
            <a:off x="896112" y="5276088"/>
            <a:ext cx="3840480" cy="219456"/>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上昇率を変えた場合（主線）</a:t>
            </a:r>
            <a:endParaRPr lang="en-US" sz="1050" dirty="0"/>
          </a:p>
        </p:txBody>
      </p:sp>
      <p:sp>
        <p:nvSpPr>
          <p:cNvPr id="20" name="Text 17"/>
          <p:cNvSpPr/>
          <p:nvPr/>
        </p:nvSpPr>
        <p:spPr>
          <a:xfrm>
            <a:off x="896112"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0%（横ばい）</a:t>
            </a:r>
            <a:endParaRPr lang="en-US" sz="900" dirty="0"/>
          </a:p>
        </p:txBody>
      </p:sp>
      <p:sp>
        <p:nvSpPr>
          <p:cNvPr id="21" name="Text 18"/>
          <p:cNvSpPr/>
          <p:nvPr/>
        </p:nvSpPr>
        <p:spPr>
          <a:xfrm>
            <a:off x="896112" y="5705856"/>
            <a:ext cx="1627632" cy="310896"/>
          </a:xfrm>
          <a:prstGeom prst="rect">
            <a:avLst/>
          </a:prstGeom>
          <a:noFill/>
          <a:ln/>
        </p:spPr>
        <p:txBody>
          <a:bodyPr wrap="square" lIns="0" tIns="0" rIns="0" bIns="0" rtlCol="0" anchor="ctr"/>
          <a:lstStyle/>
          <a:p>
            <a:pPr indent="0" marL="0">
              <a:buNone/>
            </a:pPr>
            <a:r>
              <a:rPr lang="en-US" sz="1900" b="1" dirty="0">
                <a:solidFill>
                  <a:srgbClr val="EFEBE3"/>
                </a:solidFill>
                <a:latin typeface="Cambria" pitchFamily="34" charset="0"/>
                <a:ea typeface="Cambria" pitchFamily="34" charset="-122"/>
                <a:cs typeface="Cambria" pitchFamily="34" charset="-120"/>
              </a:rPr>
              <a:t>28.4%</a:t>
            </a:r>
            <a:endParaRPr lang="en-US" sz="1900" dirty="0"/>
          </a:p>
        </p:txBody>
      </p:sp>
      <p:sp>
        <p:nvSpPr>
          <p:cNvPr id="22" name="Text 19"/>
          <p:cNvSpPr/>
          <p:nvPr/>
        </p:nvSpPr>
        <p:spPr>
          <a:xfrm>
            <a:off x="2596896"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6%（主線）</a:t>
            </a:r>
            <a:endParaRPr lang="en-US" sz="900" dirty="0"/>
          </a:p>
        </p:txBody>
      </p:sp>
      <p:sp>
        <p:nvSpPr>
          <p:cNvPr id="23" name="Text 20"/>
          <p:cNvSpPr/>
          <p:nvPr/>
        </p:nvSpPr>
        <p:spPr>
          <a:xfrm>
            <a:off x="2596896" y="5705856"/>
            <a:ext cx="1627632" cy="310896"/>
          </a:xfrm>
          <a:prstGeom prst="rect">
            <a:avLst/>
          </a:prstGeom>
          <a:noFill/>
          <a:ln/>
        </p:spPr>
        <p:txBody>
          <a:bodyPr wrap="square" lIns="0" tIns="0" rIns="0" bIns="0" rtlCol="0" anchor="ctr"/>
          <a:lstStyle/>
          <a:p>
            <a:pPr indent="0" marL="0">
              <a:buNone/>
            </a:pPr>
            <a:r>
              <a:rPr lang="en-US" sz="1900" b="1" dirty="0">
                <a:solidFill>
                  <a:srgbClr val="C9A96E"/>
                </a:solidFill>
                <a:latin typeface="Cambria" pitchFamily="34" charset="0"/>
                <a:ea typeface="Cambria" pitchFamily="34" charset="-122"/>
                <a:cs typeface="Cambria" pitchFamily="34" charset="-120"/>
              </a:rPr>
              <a:t>35.0%</a:t>
            </a:r>
            <a:endParaRPr lang="en-US" sz="1900" dirty="0"/>
          </a:p>
        </p:txBody>
      </p:sp>
      <p:sp>
        <p:nvSpPr>
          <p:cNvPr id="24" name="Text 21"/>
          <p:cNvSpPr/>
          <p:nvPr/>
        </p:nvSpPr>
        <p:spPr>
          <a:xfrm>
            <a:off x="4297680"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10%（会社資料水準）</a:t>
            </a:r>
            <a:endParaRPr lang="en-US" sz="900" dirty="0"/>
          </a:p>
        </p:txBody>
      </p:sp>
      <p:sp>
        <p:nvSpPr>
          <p:cNvPr id="25" name="Text 22"/>
          <p:cNvSpPr/>
          <p:nvPr/>
        </p:nvSpPr>
        <p:spPr>
          <a:xfrm>
            <a:off x="4297680" y="5705856"/>
            <a:ext cx="1627632" cy="310896"/>
          </a:xfrm>
          <a:prstGeom prst="rect">
            <a:avLst/>
          </a:prstGeom>
          <a:noFill/>
          <a:ln/>
        </p:spPr>
        <p:txBody>
          <a:bodyPr wrap="square" lIns="0" tIns="0" rIns="0" bIns="0" rtlCol="0" anchor="ctr"/>
          <a:lstStyle/>
          <a:p>
            <a:pPr indent="0" marL="0">
              <a:buNone/>
            </a:pPr>
            <a:r>
              <a:rPr lang="en-US" sz="1900" b="1" dirty="0">
                <a:solidFill>
                  <a:srgbClr val="EFEBE3"/>
                </a:solidFill>
                <a:latin typeface="Cambria" pitchFamily="34" charset="0"/>
                <a:ea typeface="Cambria" pitchFamily="34" charset="-122"/>
                <a:cs typeface="Cambria" pitchFamily="34" charset="-120"/>
              </a:rPr>
              <a:t>39.4%</a:t>
            </a:r>
            <a:endParaRPr lang="en-US" sz="1900" dirty="0"/>
          </a:p>
        </p:txBody>
      </p:sp>
      <p:sp>
        <p:nvSpPr>
          <p:cNvPr id="26" name="Shape 23"/>
          <p:cNvSpPr/>
          <p:nvPr/>
        </p:nvSpPr>
        <p:spPr>
          <a:xfrm>
            <a:off x="6464808" y="5175504"/>
            <a:ext cx="5068519" cy="1024128"/>
          </a:xfrm>
          <a:prstGeom prst="roundRect">
            <a:avLst>
              <a:gd name="adj" fmla="val 4018"/>
            </a:avLst>
          </a:prstGeom>
          <a:solidFill>
            <a:srgbClr val="1F1D19"/>
          </a:solidFill>
          <a:ln w="9525">
            <a:solidFill>
              <a:srgbClr val="6E5730"/>
            </a:solidFill>
            <a:prstDash val="solid"/>
          </a:ln>
        </p:spPr>
      </p:sp>
      <p:sp>
        <p:nvSpPr>
          <p:cNvPr id="27" name="Text 24"/>
          <p:cNvSpPr/>
          <p:nvPr/>
        </p:nvSpPr>
        <p:spPr>
          <a:xfrm>
            <a:off x="6702552" y="5276088"/>
            <a:ext cx="4572000" cy="219456"/>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値上がりは「相殺」ではなく「底上げ」</a:t>
            </a:r>
            <a:endParaRPr lang="en-US" sz="1050" dirty="0"/>
          </a:p>
        </p:txBody>
      </p:sp>
      <p:sp>
        <p:nvSpPr>
          <p:cNvPr id="28" name="Text 25"/>
          <p:cNvSpPr/>
          <p:nvPr/>
        </p:nvSpPr>
        <p:spPr>
          <a:xfrm>
            <a:off x="6702552" y="5504688"/>
            <a:ext cx="4593031" cy="62179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値上がりは在庫金額に対して発生するため、年間の上乗せ幅は回転期間によらず約6.6ポイントで一定になる。回転が落ちた分をちょうど埋め合わせるわけではなく、どの回転期間でも一律に底上げする性質のもの。したがって回転期間の管理は引き続き最大の運用課題である。</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UPSIDE / DOWNSIDE ｜ 副次</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上振れ余地と下振れリスク</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いずれも在庫回転期間を横軸に置いている。必要年間売上を併記し、実現可能性が判断できるようにしている。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13</a:t>
            </a:r>
            <a:endParaRPr lang="en-US" sz="950" dirty="0"/>
          </a:p>
        </p:txBody>
      </p:sp>
      <p:sp>
        <p:nvSpPr>
          <p:cNvPr id="7" name="Shape 5"/>
          <p:cNvSpPr/>
          <p:nvPr/>
        </p:nvSpPr>
        <p:spPr>
          <a:xfrm>
            <a:off x="658368" y="1645920"/>
            <a:ext cx="5300320" cy="2523744"/>
          </a:xfrm>
          <a:prstGeom prst="roundRect">
            <a:avLst>
              <a:gd name="adj" fmla="val 1630"/>
            </a:avLst>
          </a:prstGeom>
          <a:solidFill>
            <a:srgbClr val="1F1D19"/>
          </a:solidFill>
          <a:ln w="9525">
            <a:solidFill>
              <a:srgbClr val="6E5730"/>
            </a:solidFill>
            <a:prstDash val="solid"/>
          </a:ln>
        </p:spPr>
      </p:sp>
      <p:sp>
        <p:nvSpPr>
          <p:cNvPr id="8" name="Text 6"/>
          <p:cNvSpPr/>
          <p:nvPr/>
        </p:nvSpPr>
        <p:spPr>
          <a:xfrm>
            <a:off x="914400" y="1810512"/>
            <a:ext cx="4788256" cy="256032"/>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ポジティブ｜取得原価40.4・B2C100%・上昇6%</a:t>
            </a:r>
            <a:endParaRPr lang="en-US" sz="11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914400" y="2121408"/>
          <a:ext cx="4782312" cy="914400"/>
        </p:xfrm>
        <a:graphic>
          <a:graphicData uri="http://schemas.openxmlformats.org/drawingml/2006/table">
            <a:tbl>
              <a:tblPr/>
              <a:tblGrid>
                <a:gridCol w="822960"/>
                <a:gridCol w="960120"/>
                <a:gridCol w="896112"/>
                <a:gridCol w="896112"/>
                <a:gridCol w="1207008"/>
              </a:tblGrid>
              <a:tr h="2880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必要年間売上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13.10億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5.13億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257百万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85.6%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9.97億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3.94億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197百万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65.6%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15ヶ月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8.09億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3.22億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161百万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53.7%</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6.84億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2.75億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137百万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45.8%</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0" name="Text 7"/>
          <p:cNvSpPr/>
          <p:nvPr/>
        </p:nvSpPr>
        <p:spPr>
          <a:xfrm>
            <a:off x="914400" y="3657600"/>
            <a:ext cx="4788256" cy="47548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インポーター直仕入の比率を引き上げ、販売をネット最安値帯に寄せることで到達。ただし回転12ヶ月でも年間10億円の販売を要するため、現状の販売実力では到達しない。上限の目安として示す。</a:t>
            </a:r>
            <a:endParaRPr lang="en-US" sz="900" dirty="0"/>
          </a:p>
        </p:txBody>
      </p:sp>
      <p:sp>
        <p:nvSpPr>
          <p:cNvPr id="11" name="Shape 8"/>
          <p:cNvSpPr/>
          <p:nvPr/>
        </p:nvSpPr>
        <p:spPr>
          <a:xfrm>
            <a:off x="6233008" y="1645920"/>
            <a:ext cx="5300320" cy="2523744"/>
          </a:xfrm>
          <a:prstGeom prst="roundRect">
            <a:avLst>
              <a:gd name="adj" fmla="val 1630"/>
            </a:avLst>
          </a:prstGeom>
          <a:solidFill>
            <a:srgbClr val="171614"/>
          </a:solidFill>
          <a:ln w="9525">
            <a:solidFill>
              <a:srgbClr val="2E2A24"/>
            </a:solidFill>
            <a:prstDash val="solid"/>
          </a:ln>
        </p:spPr>
      </p:sp>
      <p:sp>
        <p:nvSpPr>
          <p:cNvPr id="12" name="Text 9"/>
          <p:cNvSpPr/>
          <p:nvPr/>
        </p:nvSpPr>
        <p:spPr>
          <a:xfrm>
            <a:off x="6489040" y="1810512"/>
            <a:ext cx="4788256" cy="256032"/>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ネガティブ｜売値5%値引き ＋ 価格は横ばい（上昇0%）</a:t>
            </a:r>
            <a:endParaRPr lang="en-US" sz="1150" dirty="0"/>
          </a:p>
        </p:txBody>
      </p:sp>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6489040" y="2121408"/>
          <a:ext cx="4782312" cy="914400"/>
        </p:xfrm>
        <a:graphic>
          <a:graphicData uri="http://schemas.openxmlformats.org/drawingml/2006/table">
            <a:tbl>
              <a:tblPr/>
              <a:tblGrid>
                <a:gridCol w="822960"/>
                <a:gridCol w="960120"/>
                <a:gridCol w="896112"/>
                <a:gridCol w="896112"/>
                <a:gridCol w="1207008"/>
              </a:tblGrid>
              <a:tr h="2880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必要年間売上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8.94億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1.88億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94百万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EFEBE3"/>
                          </a:solidFill>
                          <a:latin typeface="Yu Gothic" pitchFamily="34" charset="0"/>
                          <a:ea typeface="Yu Gothic" pitchFamily="34" charset="-122"/>
                          <a:cs typeface="Yu Gothic" pitchFamily="34" charset="-120"/>
                        </a:rPr>
                        <a:t>31.3%</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6.70億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1.37億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69百万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EFEBE3"/>
                          </a:solidFill>
                          <a:latin typeface="Yu Gothic" pitchFamily="34" charset="0"/>
                          <a:ea typeface="Yu Gothic" pitchFamily="34" charset="-122"/>
                          <a:cs typeface="Yu Gothic" pitchFamily="34" charset="-120"/>
                        </a:rPr>
                        <a:t>22.9%</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15ヶ月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5.36億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1.07億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54百万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17.8%</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4.47億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0.87億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43百万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14.5%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4" name="Text 10"/>
          <p:cNvSpPr/>
          <p:nvPr/>
        </p:nvSpPr>
        <p:spPr>
          <a:xfrm>
            <a:off x="6489040" y="3657600"/>
            <a:ext cx="4788256" cy="47548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値引き（▲5.8pt）と価格横ばい（▲6.6pt）が同時に起きた複合ケース。この場合の20%の分岐点は回転13.5ヶ月となり、想定レンジの中に入る。最も厳しい防衛線となる。</a:t>
            </a:r>
            <a:endParaRPr lang="en-US" sz="900" dirty="0"/>
          </a:p>
        </p:txBody>
      </p:sp>
      <p:sp>
        <p:nvSpPr>
          <p:cNvPr id="15" name="Shape 11"/>
          <p:cNvSpPr/>
          <p:nvPr/>
        </p:nvSpPr>
        <p:spPr>
          <a:xfrm>
            <a:off x="658368" y="4334256"/>
            <a:ext cx="10874959" cy="1298448"/>
          </a:xfrm>
          <a:prstGeom prst="roundRect">
            <a:avLst>
              <a:gd name="adj" fmla="val 3169"/>
            </a:avLst>
          </a:prstGeom>
          <a:solidFill>
            <a:srgbClr val="1F1D19"/>
          </a:solidFill>
          <a:ln w="9525">
            <a:solidFill>
              <a:srgbClr val="6E5730"/>
            </a:solidFill>
            <a:prstDash val="solid"/>
          </a:ln>
        </p:spPr>
      </p:sp>
      <p:sp>
        <p:nvSpPr>
          <p:cNvPr id="16" name="Text 12"/>
          <p:cNvSpPr/>
          <p:nvPr/>
        </p:nvSpPr>
        <p:spPr>
          <a:xfrm>
            <a:off x="932688" y="4498848"/>
            <a:ext cx="27432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最重要の示唆</a:t>
            </a:r>
            <a:endParaRPr lang="en-US" sz="1200" dirty="0"/>
          </a:p>
        </p:txBody>
      </p:sp>
      <p:sp>
        <p:nvSpPr>
          <p:cNvPr id="17" name="Text 13"/>
          <p:cNvSpPr/>
          <p:nvPr/>
        </p:nvSpPr>
        <p:spPr>
          <a:xfrm>
            <a:off x="932688" y="4791456"/>
            <a:ext cx="10326319" cy="658368"/>
          </a:xfrm>
          <a:prstGeom prst="rect">
            <a:avLst/>
          </a:prstGeom>
          <a:noFill/>
          <a:ln/>
        </p:spPr>
        <p:txBody>
          <a:bodyPr wrap="square" lIns="0" tIns="0" rIns="0" bIns="0" rtlCol="0" anchor="ctr"/>
          <a:lstStyle/>
          <a:p>
            <a:pPr indent="0" marL="0">
              <a:lnSpc>
                <a:spcPct val="128000"/>
              </a:lnSpc>
              <a:buNone/>
            </a:pPr>
            <a:r>
              <a:rPr lang="en-US" sz="1150" dirty="0">
                <a:solidFill>
                  <a:srgbClr val="EFEBE3"/>
                </a:solidFill>
                <a:latin typeface="Yu Gothic" pitchFamily="34" charset="0"/>
                <a:ea typeface="Yu Gothic" pitchFamily="34" charset="-122"/>
                <a:cs typeface="Yu Gothic" pitchFamily="34" charset="-120"/>
              </a:rPr>
              <a:t>「回転を上げるために値引く」は割に合わない。売値5%の値引きは単位粗利を15%毀損し、失う投資家利回り5.8ポイントを取り戻すには回転を12ヶ月から約10ヶ月へ短縮する必要がある。価格を維持したまま販売チャネルを増やすことが本筋の改善手段であり、むしろ売れ残りは値上がりを取りにいく機会でもある。</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COMPARISON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3シナリオ比較：投資家 定常年間利回り</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出資3億円に対する投資家の年間実力値。SPC税前利益の50%を投資家が受け取る前提。</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14</a:t>
            </a:r>
            <a:endParaRPr lang="en-US" sz="950" dirty="0"/>
          </a:p>
        </p:txBody>
      </p:sp>
      <p:sp>
        <p:nvSpPr>
          <p:cNvPr id="7" name="Shape 5"/>
          <p:cNvSpPr/>
          <p:nvPr/>
        </p:nvSpPr>
        <p:spPr>
          <a:xfrm>
            <a:off x="658368" y="1645920"/>
            <a:ext cx="10874959" cy="2724912"/>
          </a:xfrm>
          <a:prstGeom prst="roundRect">
            <a:avLst>
              <a:gd name="adj" fmla="val 1510"/>
            </a:avLst>
          </a:prstGeom>
          <a:solidFill>
            <a:srgbClr val="171614"/>
          </a:solidFill>
          <a:ln w="9525">
            <a:solidFill>
              <a:srgbClr val="2E2A24"/>
            </a:solidFill>
            <a:prstDash val="solid"/>
          </a:ln>
        </p:spPr>
      </p:sp>
      <p:graphicFrame>
        <p:nvGraphicFramePr>
          <p:cNvPr id="8" name="Chart 0" descr=""/>
          <p:cNvGraphicFramePr/>
          <p:nvPr/>
        </p:nvGraphicFramePr>
        <p:xfrm>
          <a:off x="786384" y="1755648"/>
          <a:ext cx="10618927" cy="2505456"/>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58368" y="4535424"/>
            <a:ext cx="3454298" cy="1024128"/>
          </a:xfrm>
          <a:prstGeom prst="roundRect">
            <a:avLst>
              <a:gd name="adj" fmla="val 4018"/>
            </a:avLst>
          </a:prstGeom>
          <a:solidFill>
            <a:srgbClr val="1F1D19"/>
          </a:solidFill>
          <a:ln w="9525">
            <a:solidFill>
              <a:srgbClr val="6E5730"/>
            </a:solidFill>
            <a:prstDash val="solid"/>
          </a:ln>
        </p:spPr>
      </p:sp>
      <p:sp>
        <p:nvSpPr>
          <p:cNvPr id="10" name="Text 7"/>
          <p:cNvSpPr/>
          <p:nvPr/>
        </p:nvSpPr>
        <p:spPr>
          <a:xfrm>
            <a:off x="896112" y="4681728"/>
            <a:ext cx="2978810"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主線の提示レンジ</a:t>
            </a:r>
            <a:endParaRPr lang="en-US" sz="1150" dirty="0"/>
          </a:p>
        </p:txBody>
      </p:sp>
      <p:sp>
        <p:nvSpPr>
          <p:cNvPr id="11" name="Text 8"/>
          <p:cNvSpPr/>
          <p:nvPr/>
        </p:nvSpPr>
        <p:spPr>
          <a:xfrm>
            <a:off x="896112"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回転12ヶ月で投資家利回り35.0%。想定レンジ9〜18ヶ月では24.8〜45.2%となる。</a:t>
            </a:r>
            <a:endParaRPr lang="en-US" sz="950" dirty="0"/>
          </a:p>
        </p:txBody>
      </p:sp>
      <p:sp>
        <p:nvSpPr>
          <p:cNvPr id="12" name="Shape 9"/>
          <p:cNvSpPr/>
          <p:nvPr/>
        </p:nvSpPr>
        <p:spPr>
          <a:xfrm>
            <a:off x="4368698" y="4535424"/>
            <a:ext cx="3454298" cy="1024128"/>
          </a:xfrm>
          <a:prstGeom prst="roundRect">
            <a:avLst>
              <a:gd name="adj" fmla="val 4018"/>
            </a:avLst>
          </a:prstGeom>
          <a:solidFill>
            <a:srgbClr val="171614"/>
          </a:solidFill>
          <a:ln w="9525">
            <a:solidFill>
              <a:srgbClr val="2E2A24"/>
            </a:solidFill>
            <a:prstDash val="solid"/>
          </a:ln>
        </p:spPr>
      </p:sp>
      <p:sp>
        <p:nvSpPr>
          <p:cNvPr id="13" name="Text 10"/>
          <p:cNvSpPr/>
          <p:nvPr/>
        </p:nvSpPr>
        <p:spPr>
          <a:xfrm>
            <a:off x="4606442" y="4681728"/>
            <a:ext cx="297881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上振れの条件</a:t>
            </a:r>
            <a:endParaRPr lang="en-US" sz="1150" dirty="0"/>
          </a:p>
        </p:txBody>
      </p:sp>
      <p:sp>
        <p:nvSpPr>
          <p:cNvPr id="14" name="Text 11"/>
          <p:cNvSpPr/>
          <p:nvPr/>
        </p:nvSpPr>
        <p:spPr>
          <a:xfrm>
            <a:off x="4606442"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調達をインポーター直に寄せた場合の水準。ただし回転12ヶ月で年間10億円の販売を要するため、現状は到達しない。上限の目安。</a:t>
            </a:r>
            <a:endParaRPr lang="en-US" sz="950" dirty="0"/>
          </a:p>
        </p:txBody>
      </p:sp>
      <p:sp>
        <p:nvSpPr>
          <p:cNvPr id="15" name="Shape 12"/>
          <p:cNvSpPr/>
          <p:nvPr/>
        </p:nvSpPr>
        <p:spPr>
          <a:xfrm>
            <a:off x="8079029" y="4535424"/>
            <a:ext cx="3454298" cy="1024128"/>
          </a:xfrm>
          <a:prstGeom prst="roundRect">
            <a:avLst>
              <a:gd name="adj" fmla="val 4018"/>
            </a:avLst>
          </a:prstGeom>
          <a:solidFill>
            <a:srgbClr val="171614"/>
          </a:solidFill>
          <a:ln w="9525">
            <a:solidFill>
              <a:srgbClr val="2E2A24"/>
            </a:solidFill>
            <a:prstDash val="solid"/>
          </a:ln>
        </p:spPr>
      </p:sp>
      <p:sp>
        <p:nvSpPr>
          <p:cNvPr id="16" name="Text 13"/>
          <p:cNvSpPr/>
          <p:nvPr/>
        </p:nvSpPr>
        <p:spPr>
          <a:xfrm>
            <a:off x="8316773" y="4681728"/>
            <a:ext cx="297881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下振れの限界</a:t>
            </a:r>
            <a:endParaRPr lang="en-US" sz="1150" dirty="0"/>
          </a:p>
        </p:txBody>
      </p:sp>
      <p:sp>
        <p:nvSpPr>
          <p:cNvPr id="17" name="Text 14"/>
          <p:cNvSpPr/>
          <p:nvPr/>
        </p:nvSpPr>
        <p:spPr>
          <a:xfrm>
            <a:off x="8316773"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値引き5%と価格横ばいが重なった場合、20%の分岐点は回転13.5ヶ月。想定レンジの中に入るため最も厳しい防衛線となる。</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SENSITIVITY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感応度：何が崩れると利回りがどう動くか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主線（在庫回転12ヶ月・投資家利回り35.0%）を基準とした、各変数の単独変動による影響。</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15</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58368" y="1645920"/>
          <a:ext cx="10874959" cy="914400"/>
        </p:xfrm>
        <a:graphic>
          <a:graphicData uri="http://schemas.openxmlformats.org/drawingml/2006/table">
            <a:tbl>
              <a:tblPr/>
              <a:tblGrid>
                <a:gridCol w="1792224"/>
                <a:gridCol w="2212848"/>
                <a:gridCol w="2359152"/>
                <a:gridCol w="877824"/>
                <a:gridCol w="3630168"/>
              </a:tblGrid>
              <a:tr h="35661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変動要因</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変動幅</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投資家利回りへの影響</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深刻度</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対応方針</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5661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在庫回転期間</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12ヶ月 → 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35.0% → 24.8%（▲10.2pt）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最大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組入銘柄の選定・販売チャネルの多重化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5661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ワイン価格上昇率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年6% → 0%（横ばい）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35.0% → 28.4%（▲6.6pt）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回転期間を短縮し、価格差収益の比重を高める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5661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売却価格</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売値 ▲5%（70/80→66.5/76）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35.0% → 29.2%（▲5.8pt）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値引き販売を禁じ、価格維持を運用ルール化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5661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稼働率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95% → 85%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35.0% → 31.2%（▲3.8pt）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中</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3年経過後の解約に備えた現金比率の設計と表裏</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5661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B2Cのモール手数料</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5.5% → 8.0%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35.0% → 33.3%（▲1.7pt）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小</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自社EC・自社オークションの構成比を引き上げる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5661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ワイン価格上昇率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年6% → 10%（会社資料水準）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35.0% → 39.4%（＋4.4pt）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上振れ</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Liv-ex連動銘柄の構成比を高める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56616">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調達構成</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定価比 50 → 45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35.0% → 47.8%（＋12.8pt）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上振れ</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インポーター直取引比率の引き上げが最大の改善策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4700016"/>
            <a:ext cx="10874959" cy="1005840"/>
          </a:xfrm>
          <a:prstGeom prst="roundRect">
            <a:avLst>
              <a:gd name="adj" fmla="val 4091"/>
            </a:avLst>
          </a:prstGeom>
          <a:solidFill>
            <a:srgbClr val="1F1D19"/>
          </a:solidFill>
          <a:ln w="9525">
            <a:solidFill>
              <a:srgbClr val="6E5730"/>
            </a:solidFill>
            <a:prstDash val="solid"/>
          </a:ln>
        </p:spPr>
      </p:sp>
      <p:sp>
        <p:nvSpPr>
          <p:cNvPr id="9" name="Text 6"/>
          <p:cNvSpPr/>
          <p:nvPr/>
        </p:nvSpPr>
        <p:spPr>
          <a:xfrm>
            <a:off x="932688" y="4809744"/>
            <a:ext cx="10326319" cy="786384"/>
          </a:xfrm>
          <a:prstGeom prst="rect">
            <a:avLst/>
          </a:prstGeom>
          <a:noFill/>
          <a:ln/>
        </p:spPr>
        <p:txBody>
          <a:bodyPr wrap="square" lIns="0" tIns="0" rIns="0" bIns="0" rtlCol="0" anchor="ctr"/>
          <a:lstStyle/>
          <a:p>
            <a:pPr indent="0" marL="0">
              <a:lnSpc>
                <a:spcPct val="124000"/>
              </a:lnSpc>
              <a:buNone/>
            </a:pPr>
            <a:r>
              <a:rPr lang="en-US" sz="1100" dirty="0">
                <a:solidFill>
                  <a:srgbClr val="EFEBE3"/>
                </a:solidFill>
                <a:latin typeface="Yu Gothic" pitchFamily="34" charset="0"/>
                <a:ea typeface="Yu Gothic" pitchFamily="34" charset="-122"/>
                <a:cs typeface="Yu Gothic" pitchFamily="34" charset="-120"/>
              </a:rPr>
              <a:t>結論：投資家利回りが20%を割り込むのは、回転が23.7ヶ月を超えた場合（ニュートラル前提）で、想定レンジ9〜18ヶ月の外にある。ただし値引き5%と価格横ばいが同時に起きる複合的な下振れ（ネガティブ）では、回転13.5ヶ月が20%の分岐点となり想定レンジの中に入る。なお、インポーターの仕入価格が上昇する局面では希望小売価格も連動して上昇するため、定価比の構造は維持され、利回りへの影響は生じない。</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FAIR ALLOCATION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WineBank在庫との公平性をどう担保するか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調達・保管・販売のすべてをWineBankが担うため配分に構造的な利益相反が生じる。在庫比率によるプロラタ配分を原則とする。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16</a:t>
            </a:r>
            <a:endParaRPr lang="en-US" sz="950" dirty="0"/>
          </a:p>
        </p:txBody>
      </p:sp>
      <p:sp>
        <p:nvSpPr>
          <p:cNvPr id="7" name="Shape 5"/>
          <p:cNvSpPr/>
          <p:nvPr/>
        </p:nvSpPr>
        <p:spPr>
          <a:xfrm>
            <a:off x="658368" y="1627632"/>
            <a:ext cx="3454298" cy="2011680"/>
          </a:xfrm>
          <a:prstGeom prst="roundRect">
            <a:avLst>
              <a:gd name="adj" fmla="val 2045"/>
            </a:avLst>
          </a:prstGeom>
          <a:solidFill>
            <a:srgbClr val="1F1D19"/>
          </a:solidFill>
          <a:ln w="9525">
            <a:solidFill>
              <a:srgbClr val="6E5730"/>
            </a:solidFill>
            <a:prstDash val="solid"/>
          </a:ln>
        </p:spPr>
      </p:sp>
      <p:sp>
        <p:nvSpPr>
          <p:cNvPr id="8" name="Shape 6"/>
          <p:cNvSpPr/>
          <p:nvPr/>
        </p:nvSpPr>
        <p:spPr>
          <a:xfrm>
            <a:off x="896112" y="1810512"/>
            <a:ext cx="310896" cy="310896"/>
          </a:xfrm>
          <a:prstGeom prst="ellipse">
            <a:avLst/>
          </a:prstGeom>
          <a:solidFill>
            <a:srgbClr val="0C0C0C"/>
          </a:solidFill>
          <a:ln w="11430">
            <a:solidFill>
              <a:srgbClr val="A78450"/>
            </a:solidFill>
            <a:prstDash val="solid"/>
          </a:ln>
        </p:spPr>
      </p:sp>
      <p:sp>
        <p:nvSpPr>
          <p:cNvPr id="9" name="Text 7"/>
          <p:cNvSpPr/>
          <p:nvPr/>
        </p:nvSpPr>
        <p:spPr>
          <a:xfrm>
            <a:off x="896112" y="1810512"/>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10" name="Text 8"/>
          <p:cNvSpPr/>
          <p:nvPr/>
        </p:nvSpPr>
        <p:spPr>
          <a:xfrm>
            <a:off x="1298448" y="1828800"/>
            <a:ext cx="2576474" cy="274320"/>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プロラタ配分を原則とする</a:t>
            </a:r>
            <a:endParaRPr lang="en-US" sz="1150" dirty="0"/>
          </a:p>
        </p:txBody>
      </p:sp>
      <p:sp>
        <p:nvSpPr>
          <p:cNvPr id="11" name="Text 9"/>
          <p:cNvSpPr/>
          <p:nvPr/>
        </p:nvSpPr>
        <p:spPr>
          <a:xfrm>
            <a:off x="896112" y="2267712"/>
            <a:ext cx="2978810" cy="1298448"/>
          </a:xfrm>
          <a:prstGeom prst="rect">
            <a:avLst/>
          </a:prstGeom>
          <a:noFill/>
          <a:ln/>
        </p:spPr>
        <p:txBody>
          <a:bodyPr wrap="square" lIns="0" tIns="0" rIns="0" bIns="0" rtlCol="0" anchor="ctr"/>
          <a:lstStyle/>
          <a:p>
            <a:pPr indent="0" marL="0">
              <a:lnSpc>
                <a:spcPct val="122000"/>
              </a:lnSpc>
              <a:buNone/>
            </a:pPr>
            <a:r>
              <a:rPr lang="en-US" sz="900" dirty="0">
                <a:solidFill>
                  <a:srgbClr val="9A938A"/>
                </a:solidFill>
                <a:latin typeface="Yu Gothic" pitchFamily="34" charset="0"/>
                <a:ea typeface="Yu Gothic" pitchFamily="34" charset="-122"/>
                <a:cs typeface="Yu Gothic" pitchFamily="34" charset="-120"/>
              </a:rPr>
              <a:t>同一銘柄が両者にある場合、売却を在庫数量の比率に応じて配分する。個々の売却は分割できないため、累計の配分比率が在庫比率に一致するよう配分台帳で管理し、乖離の大きい側から出庫する。人の裁量を介さない機械的な運用とする。</a:t>
            </a:r>
            <a:endParaRPr lang="en-US" sz="900" dirty="0"/>
          </a:p>
        </p:txBody>
      </p:sp>
      <p:sp>
        <p:nvSpPr>
          <p:cNvPr id="12" name="Shape 10"/>
          <p:cNvSpPr/>
          <p:nvPr/>
        </p:nvSpPr>
        <p:spPr>
          <a:xfrm>
            <a:off x="4368698" y="1627632"/>
            <a:ext cx="3454298" cy="2011680"/>
          </a:xfrm>
          <a:prstGeom prst="roundRect">
            <a:avLst>
              <a:gd name="adj" fmla="val 2045"/>
            </a:avLst>
          </a:prstGeom>
          <a:solidFill>
            <a:srgbClr val="171614"/>
          </a:solidFill>
          <a:ln w="9525">
            <a:solidFill>
              <a:srgbClr val="2E2A24"/>
            </a:solidFill>
            <a:prstDash val="solid"/>
          </a:ln>
        </p:spPr>
      </p:sp>
      <p:sp>
        <p:nvSpPr>
          <p:cNvPr id="13" name="Shape 11"/>
          <p:cNvSpPr/>
          <p:nvPr/>
        </p:nvSpPr>
        <p:spPr>
          <a:xfrm>
            <a:off x="4606442" y="1810512"/>
            <a:ext cx="310896" cy="310896"/>
          </a:xfrm>
          <a:prstGeom prst="ellipse">
            <a:avLst/>
          </a:prstGeom>
          <a:solidFill>
            <a:srgbClr val="0C0C0C"/>
          </a:solidFill>
          <a:ln w="11430">
            <a:solidFill>
              <a:srgbClr val="A78450"/>
            </a:solidFill>
            <a:prstDash val="solid"/>
          </a:ln>
        </p:spPr>
      </p:sp>
      <p:sp>
        <p:nvSpPr>
          <p:cNvPr id="14" name="Text 12"/>
          <p:cNvSpPr/>
          <p:nvPr/>
        </p:nvSpPr>
        <p:spPr>
          <a:xfrm>
            <a:off x="4606442" y="1810512"/>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5" name="Text 13"/>
          <p:cNvSpPr/>
          <p:nvPr/>
        </p:nvSpPr>
        <p:spPr>
          <a:xfrm>
            <a:off x="5008778" y="1828800"/>
            <a:ext cx="2576474" cy="274320"/>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判断を要する場合はSPC優先</a:t>
            </a:r>
            <a:endParaRPr lang="en-US" sz="1150" dirty="0"/>
          </a:p>
        </p:txBody>
      </p:sp>
      <p:sp>
        <p:nvSpPr>
          <p:cNvPr id="16" name="Text 14"/>
          <p:cNvSpPr/>
          <p:nvPr/>
        </p:nvSpPr>
        <p:spPr>
          <a:xfrm>
            <a:off x="4606442" y="2267712"/>
            <a:ext cx="2978810" cy="1298448"/>
          </a:xfrm>
          <a:prstGeom prst="rect">
            <a:avLst/>
          </a:prstGeom>
          <a:noFill/>
          <a:ln/>
        </p:spPr>
        <p:txBody>
          <a:bodyPr wrap="square" lIns="0" tIns="0" rIns="0" bIns="0" rtlCol="0" anchor="ctr"/>
          <a:lstStyle/>
          <a:p>
            <a:pPr indent="0" marL="0">
              <a:lnSpc>
                <a:spcPct val="122000"/>
              </a:lnSpc>
              <a:buNone/>
            </a:pPr>
            <a:r>
              <a:rPr lang="en-US" sz="900" dirty="0">
                <a:solidFill>
                  <a:srgbClr val="9A938A"/>
                </a:solidFill>
                <a:latin typeface="Yu Gothic" pitchFamily="34" charset="0"/>
                <a:ea typeface="Yu Gothic" pitchFamily="34" charset="-122"/>
                <a:cs typeface="Yu Gothic" pitchFamily="34" charset="-120"/>
              </a:rPr>
              <a:t>乖離が同等である場合や、ロット単位の売却などプロラタで割り切れない場合は、SPC在庫を優先して売却する。四半期末の乖離が許容幅を超えた場合は翌四半期に是正する。</a:t>
            </a:r>
            <a:endParaRPr lang="en-US" sz="900" dirty="0"/>
          </a:p>
        </p:txBody>
      </p:sp>
      <p:sp>
        <p:nvSpPr>
          <p:cNvPr id="17" name="Shape 15"/>
          <p:cNvSpPr/>
          <p:nvPr/>
        </p:nvSpPr>
        <p:spPr>
          <a:xfrm>
            <a:off x="8079029" y="1627632"/>
            <a:ext cx="3454298" cy="2011680"/>
          </a:xfrm>
          <a:prstGeom prst="roundRect">
            <a:avLst>
              <a:gd name="adj" fmla="val 2045"/>
            </a:avLst>
          </a:prstGeom>
          <a:solidFill>
            <a:srgbClr val="171614"/>
          </a:solidFill>
          <a:ln w="9525">
            <a:solidFill>
              <a:srgbClr val="2E2A24"/>
            </a:solidFill>
            <a:prstDash val="solid"/>
          </a:ln>
        </p:spPr>
      </p:sp>
      <p:sp>
        <p:nvSpPr>
          <p:cNvPr id="18" name="Shape 16"/>
          <p:cNvSpPr/>
          <p:nvPr/>
        </p:nvSpPr>
        <p:spPr>
          <a:xfrm>
            <a:off x="8316773" y="1810512"/>
            <a:ext cx="310896" cy="310896"/>
          </a:xfrm>
          <a:prstGeom prst="ellipse">
            <a:avLst/>
          </a:prstGeom>
          <a:solidFill>
            <a:srgbClr val="0C0C0C"/>
          </a:solidFill>
          <a:ln w="11430">
            <a:solidFill>
              <a:srgbClr val="A78450"/>
            </a:solidFill>
            <a:prstDash val="solid"/>
          </a:ln>
        </p:spPr>
      </p:sp>
      <p:sp>
        <p:nvSpPr>
          <p:cNvPr id="19" name="Text 17"/>
          <p:cNvSpPr/>
          <p:nvPr/>
        </p:nvSpPr>
        <p:spPr>
          <a:xfrm>
            <a:off x="8316773" y="1810512"/>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20" name="Text 18"/>
          <p:cNvSpPr/>
          <p:nvPr/>
        </p:nvSpPr>
        <p:spPr>
          <a:xfrm>
            <a:off x="8719109" y="1828800"/>
            <a:ext cx="2576474" cy="274320"/>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価格同一ルールと補填条項</a:t>
            </a:r>
            <a:endParaRPr lang="en-US" sz="1150" dirty="0"/>
          </a:p>
        </p:txBody>
      </p:sp>
      <p:sp>
        <p:nvSpPr>
          <p:cNvPr id="21" name="Text 19"/>
          <p:cNvSpPr/>
          <p:nvPr/>
        </p:nvSpPr>
        <p:spPr>
          <a:xfrm>
            <a:off x="8316773" y="2267712"/>
            <a:ext cx="2978810" cy="1298448"/>
          </a:xfrm>
          <a:prstGeom prst="rect">
            <a:avLst/>
          </a:prstGeom>
          <a:noFill/>
          <a:ln/>
        </p:spPr>
        <p:txBody>
          <a:bodyPr wrap="square" lIns="0" tIns="0" rIns="0" bIns="0" rtlCol="0" anchor="ctr"/>
          <a:lstStyle/>
          <a:p>
            <a:pPr indent="0" marL="0">
              <a:lnSpc>
                <a:spcPct val="122000"/>
              </a:lnSpc>
              <a:buNone/>
            </a:pPr>
            <a:r>
              <a:rPr lang="en-US" sz="900" dirty="0">
                <a:solidFill>
                  <a:srgbClr val="9A938A"/>
                </a:solidFill>
                <a:latin typeface="Yu Gothic" pitchFamily="34" charset="0"/>
                <a:ea typeface="Yu Gothic" pitchFamily="34" charset="-122"/>
                <a:cs typeface="Yu Gothic" pitchFamily="34" charset="-120"/>
              </a:rPr>
              <a:t>同一SKU・同一四半期の実現単価は、SPCがWineBank自己勘定を下回らないものとする。下回った場合は差額×SPC数量をWineBankがSPCへ現金で補填する。運用が崩れても投資家が金額で守られる仕組みとする。</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58368" y="3749040"/>
          <a:ext cx="10874959" cy="914400"/>
        </p:xfrm>
        <a:graphic>
          <a:graphicData uri="http://schemas.openxmlformats.org/drawingml/2006/table">
            <a:tbl>
              <a:tblPr/>
              <a:tblGrid>
                <a:gridCol w="2377440"/>
                <a:gridCol w="8494776"/>
              </a:tblGrid>
              <a:tr h="29718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担保の手段</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組入銘柄の選定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Liv-ex掲載の流動性上位銘柄をSPCに組み入れ、可能な限り自己勘定在庫と重複させない。重複しない銘柄では配分の判断自体が生じない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取得時の按分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同一SKUを複数ロット取得する場合は、SPCとWineBank自己勘定の在庫比率に応じて按分して割り当てる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配分台帳</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SKU別に期首在庫・取得・売却・期末在庫を両建てで記録し、累計配分比率と在庫比率の乖離を四半期ごとに投資家へ開示する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システムによる自動割当</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出庫指示はシステム側で自動割当とし、担当者が出所を選択できない設計とする。変更は理由の記録を必須とする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倉庫内の分別保管</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SPC名義の在庫は別ロケーション・別ラベルで管理し、現物の特定可能性を確保する。四半期ごとに第三者棚卸を実施する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独立第三者による検証</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AUPの対象に配分ルールの遵守状況を含め、公認会計士による年次の検証を受ける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3" name="Text 20"/>
          <p:cNvSpPr/>
          <p:nvPr/>
        </p:nvSpPr>
        <p:spPr>
          <a:xfrm>
            <a:off x="658368" y="5815584"/>
            <a:ext cx="10874959" cy="329184"/>
          </a:xfrm>
          <a:prstGeom prst="rect">
            <a:avLst/>
          </a:prstGeom>
          <a:noFill/>
          <a:ln/>
        </p:spPr>
        <p:txBody>
          <a:bodyPr wrap="square" lIns="0" tIns="0" rIns="0" bIns="0" rtlCol="0" anchor="ctr"/>
          <a:lstStyle/>
          <a:p>
            <a:pPr indent="0" marL="0">
              <a:lnSpc>
                <a:spcPct val="118000"/>
              </a:lnSpc>
              <a:buNone/>
            </a:pPr>
            <a:r>
              <a:rPr lang="en-US" sz="800" dirty="0">
                <a:solidFill>
                  <a:srgbClr val="6E675E"/>
                </a:solidFill>
                <a:latin typeface="Yu Gothic" pitchFamily="34" charset="0"/>
                <a:ea typeface="Yu Gothic" pitchFamily="34" charset="-122"/>
                <a:cs typeface="Yu Gothic" pitchFamily="34" charset="-120"/>
              </a:rPr>
              <a:t>※ SPC在庫を完売するまで自己勘定在庫を売らないという運用は、商品構成が銘柄ごとに異なるため実務上成立しない。したがってプロラタ配分を原則とし、プロラタで決まらない部分についてSPCを優先する設計とした。回転期間は主として「何を組み入れるか」で決まるため、組成時の銘柄選定が最大の担保となる。</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GOVERNANCE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情報開示・報告と利益相反の管理</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運営者への依存度が高いスキームであるため、開示義務と利益相反管理を契約上で具体的に定める。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17</a:t>
            </a:r>
            <a:endParaRPr lang="en-US" sz="950" dirty="0"/>
          </a:p>
        </p:txBody>
      </p:sp>
      <p:sp>
        <p:nvSpPr>
          <p:cNvPr id="7" name="Shape 5"/>
          <p:cNvSpPr/>
          <p:nvPr/>
        </p:nvSpPr>
        <p:spPr>
          <a:xfrm>
            <a:off x="658368" y="1627632"/>
            <a:ext cx="5300320" cy="3163824"/>
          </a:xfrm>
          <a:prstGeom prst="roundRect">
            <a:avLst>
              <a:gd name="adj" fmla="val 1301"/>
            </a:avLst>
          </a:prstGeom>
          <a:solidFill>
            <a:srgbClr val="171614"/>
          </a:solidFill>
          <a:ln w="9525">
            <a:solidFill>
              <a:srgbClr val="2E2A24"/>
            </a:solidFill>
            <a:prstDash val="solid"/>
          </a:ln>
        </p:spPr>
      </p:sp>
      <p:sp>
        <p:nvSpPr>
          <p:cNvPr id="8" name="Text 6"/>
          <p:cNvSpPr/>
          <p:nvPr/>
        </p:nvSpPr>
        <p:spPr>
          <a:xfrm>
            <a:off x="914400" y="1792224"/>
            <a:ext cx="478825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契約上の報告・開示義務</a:t>
            </a:r>
            <a:endParaRPr lang="en-US" sz="1250" dirty="0"/>
          </a:p>
        </p:txBody>
      </p:sp>
      <p:sp>
        <p:nvSpPr>
          <p:cNvPr id="9" name="Shape 7"/>
          <p:cNvSpPr/>
          <p:nvPr/>
        </p:nvSpPr>
        <p:spPr>
          <a:xfrm>
            <a:off x="932688" y="2199132"/>
            <a:ext cx="128016" cy="128016"/>
          </a:xfrm>
          <a:prstGeom prst="ellipse">
            <a:avLst/>
          </a:prstGeom>
          <a:solidFill>
            <a:srgbClr val="A78450"/>
          </a:solidFill>
          <a:ln w="11430">
            <a:solidFill>
              <a:srgbClr val="A78450"/>
            </a:solidFill>
            <a:prstDash val="solid"/>
          </a:ln>
        </p:spPr>
      </p:sp>
      <p:sp>
        <p:nvSpPr>
          <p:cNvPr id="10" name="Text 8"/>
          <p:cNvSpPr/>
          <p:nvPr/>
        </p:nvSpPr>
        <p:spPr>
          <a:xfrm>
            <a:off x="932688" y="2199132"/>
            <a:ext cx="128016" cy="128016"/>
          </a:xfrm>
          <a:prstGeom prst="rect">
            <a:avLst/>
          </a:prstGeom>
          <a:noFill/>
          <a:ln/>
        </p:spPr>
        <p:txBody>
          <a:bodyPr wrap="square" lIns="0" tIns="0" rIns="0" bIns="0" rtlCol="0" anchor="ctr"/>
          <a:lstStyle/>
          <a:p>
            <a:pPr algn="ctr" indent="0" marL="0">
              <a:buNone/>
            </a:pPr>
            <a:endParaRPr lang="en-US" sz="1100" dirty="0"/>
          </a:p>
        </p:txBody>
      </p:sp>
      <p:sp>
        <p:nvSpPr>
          <p:cNvPr id="11" name="Text 9"/>
          <p:cNvSpPr/>
          <p:nvPr/>
        </p:nvSpPr>
        <p:spPr>
          <a:xfrm>
            <a:off x="1152144" y="2121408"/>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四半期ごとの損益、資金収支および事業進捗</a:t>
            </a:r>
            <a:endParaRPr lang="en-US" sz="950" dirty="0"/>
          </a:p>
        </p:txBody>
      </p:sp>
      <p:sp>
        <p:nvSpPr>
          <p:cNvPr id="12" name="Shape 10"/>
          <p:cNvSpPr/>
          <p:nvPr/>
        </p:nvSpPr>
        <p:spPr>
          <a:xfrm>
            <a:off x="932688" y="2528316"/>
            <a:ext cx="128016" cy="128016"/>
          </a:xfrm>
          <a:prstGeom prst="ellipse">
            <a:avLst/>
          </a:prstGeom>
          <a:solidFill>
            <a:srgbClr val="A78450"/>
          </a:solidFill>
          <a:ln w="11430">
            <a:solidFill>
              <a:srgbClr val="A78450"/>
            </a:solidFill>
            <a:prstDash val="solid"/>
          </a:ln>
        </p:spPr>
      </p:sp>
      <p:sp>
        <p:nvSpPr>
          <p:cNvPr id="13" name="Text 11"/>
          <p:cNvSpPr/>
          <p:nvPr/>
        </p:nvSpPr>
        <p:spPr>
          <a:xfrm>
            <a:off x="932688" y="2528316"/>
            <a:ext cx="128016" cy="128016"/>
          </a:xfrm>
          <a:prstGeom prst="rect">
            <a:avLst/>
          </a:prstGeom>
          <a:noFill/>
          <a:ln/>
        </p:spPr>
        <p:txBody>
          <a:bodyPr wrap="square" lIns="0" tIns="0" rIns="0" bIns="0" rtlCol="0" anchor="ctr"/>
          <a:lstStyle/>
          <a:p>
            <a:pPr algn="ctr" indent="0" marL="0">
              <a:buNone/>
            </a:pPr>
            <a:endParaRPr lang="en-US" sz="1100" dirty="0"/>
          </a:p>
        </p:txBody>
      </p:sp>
      <p:sp>
        <p:nvSpPr>
          <p:cNvPr id="14" name="Text 12"/>
          <p:cNvSpPr/>
          <p:nvPr/>
        </p:nvSpPr>
        <p:spPr>
          <a:xfrm>
            <a:off x="1152144" y="2450592"/>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仕入数量・仕入単価・販売数量・販売単価・在庫数量</a:t>
            </a:r>
            <a:endParaRPr lang="en-US" sz="950" dirty="0"/>
          </a:p>
        </p:txBody>
      </p:sp>
      <p:sp>
        <p:nvSpPr>
          <p:cNvPr id="15" name="Shape 13"/>
          <p:cNvSpPr/>
          <p:nvPr/>
        </p:nvSpPr>
        <p:spPr>
          <a:xfrm>
            <a:off x="932688" y="2857500"/>
            <a:ext cx="128016" cy="128016"/>
          </a:xfrm>
          <a:prstGeom prst="ellipse">
            <a:avLst/>
          </a:prstGeom>
          <a:solidFill>
            <a:srgbClr val="A78450"/>
          </a:solidFill>
          <a:ln w="11430">
            <a:solidFill>
              <a:srgbClr val="A78450"/>
            </a:solidFill>
            <a:prstDash val="solid"/>
          </a:ln>
        </p:spPr>
      </p:sp>
      <p:sp>
        <p:nvSpPr>
          <p:cNvPr id="16" name="Text 14"/>
          <p:cNvSpPr/>
          <p:nvPr/>
        </p:nvSpPr>
        <p:spPr>
          <a:xfrm>
            <a:off x="932688" y="2857500"/>
            <a:ext cx="128016" cy="128016"/>
          </a:xfrm>
          <a:prstGeom prst="rect">
            <a:avLst/>
          </a:prstGeom>
          <a:noFill/>
          <a:ln/>
        </p:spPr>
        <p:txBody>
          <a:bodyPr wrap="square" lIns="0" tIns="0" rIns="0" bIns="0" rtlCol="0" anchor="ctr"/>
          <a:lstStyle/>
          <a:p>
            <a:pPr algn="ctr" indent="0" marL="0">
              <a:buNone/>
            </a:pPr>
            <a:endParaRPr lang="en-US" sz="1100" dirty="0"/>
          </a:p>
        </p:txBody>
      </p:sp>
      <p:sp>
        <p:nvSpPr>
          <p:cNvPr id="17" name="Text 15"/>
          <p:cNvSpPr/>
          <p:nvPr/>
        </p:nvSpPr>
        <p:spPr>
          <a:xfrm>
            <a:off x="1152144" y="2779776"/>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資金使途、銀行口座残高および主要な支払内容</a:t>
            </a:r>
            <a:endParaRPr lang="en-US" sz="950" dirty="0"/>
          </a:p>
        </p:txBody>
      </p:sp>
      <p:sp>
        <p:nvSpPr>
          <p:cNvPr id="18" name="Shape 16"/>
          <p:cNvSpPr/>
          <p:nvPr/>
        </p:nvSpPr>
        <p:spPr>
          <a:xfrm>
            <a:off x="932688" y="3186684"/>
            <a:ext cx="128016" cy="128016"/>
          </a:xfrm>
          <a:prstGeom prst="ellipse">
            <a:avLst/>
          </a:prstGeom>
          <a:solidFill>
            <a:srgbClr val="A78450"/>
          </a:solidFill>
          <a:ln w="11430">
            <a:solidFill>
              <a:srgbClr val="A78450"/>
            </a:solidFill>
            <a:prstDash val="solid"/>
          </a:ln>
        </p:spPr>
      </p:sp>
      <p:sp>
        <p:nvSpPr>
          <p:cNvPr id="19" name="Text 17"/>
          <p:cNvSpPr/>
          <p:nvPr/>
        </p:nvSpPr>
        <p:spPr>
          <a:xfrm>
            <a:off x="932688" y="3186684"/>
            <a:ext cx="128016" cy="128016"/>
          </a:xfrm>
          <a:prstGeom prst="rect">
            <a:avLst/>
          </a:prstGeom>
          <a:noFill/>
          <a:ln/>
        </p:spPr>
        <p:txBody>
          <a:bodyPr wrap="square" lIns="0" tIns="0" rIns="0" bIns="0" rtlCol="0" anchor="ctr"/>
          <a:lstStyle/>
          <a:p>
            <a:pPr algn="ctr" indent="0" marL="0">
              <a:buNone/>
            </a:pPr>
            <a:endParaRPr lang="en-US" sz="1100" dirty="0"/>
          </a:p>
        </p:txBody>
      </p:sp>
      <p:sp>
        <p:nvSpPr>
          <p:cNvPr id="20" name="Text 18"/>
          <p:cNvSpPr/>
          <p:nvPr/>
        </p:nvSpPr>
        <p:spPr>
          <a:xfrm>
            <a:off x="1152144" y="3108960"/>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関連当事者取引・利益相反取引の内容、金額、取引条件</a:t>
            </a:r>
            <a:endParaRPr lang="en-US" sz="950" dirty="0"/>
          </a:p>
        </p:txBody>
      </p:sp>
      <p:sp>
        <p:nvSpPr>
          <p:cNvPr id="21" name="Shape 19"/>
          <p:cNvSpPr/>
          <p:nvPr/>
        </p:nvSpPr>
        <p:spPr>
          <a:xfrm>
            <a:off x="932688" y="3515868"/>
            <a:ext cx="128016" cy="128016"/>
          </a:xfrm>
          <a:prstGeom prst="ellipse">
            <a:avLst/>
          </a:prstGeom>
          <a:solidFill>
            <a:srgbClr val="A78450"/>
          </a:solidFill>
          <a:ln w="11430">
            <a:solidFill>
              <a:srgbClr val="A78450"/>
            </a:solidFill>
            <a:prstDash val="solid"/>
          </a:ln>
        </p:spPr>
      </p:sp>
      <p:sp>
        <p:nvSpPr>
          <p:cNvPr id="22" name="Text 20"/>
          <p:cNvSpPr/>
          <p:nvPr/>
        </p:nvSpPr>
        <p:spPr>
          <a:xfrm>
            <a:off x="932688" y="3515868"/>
            <a:ext cx="128016" cy="128016"/>
          </a:xfrm>
          <a:prstGeom prst="rect">
            <a:avLst/>
          </a:prstGeom>
          <a:noFill/>
          <a:ln/>
        </p:spPr>
        <p:txBody>
          <a:bodyPr wrap="square" lIns="0" tIns="0" rIns="0" bIns="0" rtlCol="0" anchor="ctr"/>
          <a:lstStyle/>
          <a:p>
            <a:pPr algn="ctr" indent="0" marL="0">
              <a:buNone/>
            </a:pPr>
            <a:endParaRPr lang="en-US" sz="1100" dirty="0"/>
          </a:p>
        </p:txBody>
      </p:sp>
      <p:sp>
        <p:nvSpPr>
          <p:cNvPr id="23" name="Text 21"/>
          <p:cNvSpPr/>
          <p:nvPr/>
        </p:nvSpPr>
        <p:spPr>
          <a:xfrm>
            <a:off x="1152144" y="3438144"/>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一定金額以上の取引、借入れ、追加投資、契約変更の事前承認</a:t>
            </a:r>
            <a:endParaRPr lang="en-US" sz="950" dirty="0"/>
          </a:p>
        </p:txBody>
      </p:sp>
      <p:sp>
        <p:nvSpPr>
          <p:cNvPr id="24" name="Shape 22"/>
          <p:cNvSpPr/>
          <p:nvPr/>
        </p:nvSpPr>
        <p:spPr>
          <a:xfrm>
            <a:off x="932688" y="3845052"/>
            <a:ext cx="128016" cy="128016"/>
          </a:xfrm>
          <a:prstGeom prst="ellipse">
            <a:avLst/>
          </a:prstGeom>
          <a:solidFill>
            <a:srgbClr val="A78450"/>
          </a:solidFill>
          <a:ln w="11430">
            <a:solidFill>
              <a:srgbClr val="A78450"/>
            </a:solidFill>
            <a:prstDash val="solid"/>
          </a:ln>
        </p:spPr>
      </p:sp>
      <p:sp>
        <p:nvSpPr>
          <p:cNvPr id="25" name="Text 23"/>
          <p:cNvSpPr/>
          <p:nvPr/>
        </p:nvSpPr>
        <p:spPr>
          <a:xfrm>
            <a:off x="932688" y="3845052"/>
            <a:ext cx="128016" cy="128016"/>
          </a:xfrm>
          <a:prstGeom prst="rect">
            <a:avLst/>
          </a:prstGeom>
          <a:noFill/>
          <a:ln/>
        </p:spPr>
        <p:txBody>
          <a:bodyPr wrap="square" lIns="0" tIns="0" rIns="0" bIns="0" rtlCol="0" anchor="ctr"/>
          <a:lstStyle/>
          <a:p>
            <a:pPr algn="ctr" indent="0" marL="0">
              <a:buNone/>
            </a:pPr>
            <a:endParaRPr lang="en-US" sz="1100" dirty="0"/>
          </a:p>
        </p:txBody>
      </p:sp>
      <p:sp>
        <p:nvSpPr>
          <p:cNvPr id="26" name="Text 24"/>
          <p:cNvSpPr/>
          <p:nvPr/>
        </p:nvSpPr>
        <p:spPr>
          <a:xfrm>
            <a:off x="1152144" y="3767328"/>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会計帳簿・請求書・契約書・銀行取引記録の閲覧および調査権</a:t>
            </a:r>
            <a:endParaRPr lang="en-US" sz="950" dirty="0"/>
          </a:p>
        </p:txBody>
      </p:sp>
      <p:sp>
        <p:nvSpPr>
          <p:cNvPr id="27" name="Shape 25"/>
          <p:cNvSpPr/>
          <p:nvPr/>
        </p:nvSpPr>
        <p:spPr>
          <a:xfrm>
            <a:off x="932688" y="4174236"/>
            <a:ext cx="128016" cy="128016"/>
          </a:xfrm>
          <a:prstGeom prst="ellipse">
            <a:avLst/>
          </a:prstGeom>
          <a:solidFill>
            <a:srgbClr val="A78450"/>
          </a:solidFill>
          <a:ln w="11430">
            <a:solidFill>
              <a:srgbClr val="A78450"/>
            </a:solidFill>
            <a:prstDash val="solid"/>
          </a:ln>
        </p:spPr>
      </p:sp>
      <p:sp>
        <p:nvSpPr>
          <p:cNvPr id="28" name="Text 26"/>
          <p:cNvSpPr/>
          <p:nvPr/>
        </p:nvSpPr>
        <p:spPr>
          <a:xfrm>
            <a:off x="932688" y="4174236"/>
            <a:ext cx="128016" cy="128016"/>
          </a:xfrm>
          <a:prstGeom prst="rect">
            <a:avLst/>
          </a:prstGeom>
          <a:noFill/>
          <a:ln/>
        </p:spPr>
        <p:txBody>
          <a:bodyPr wrap="square" lIns="0" tIns="0" rIns="0" bIns="0" rtlCol="0" anchor="ctr"/>
          <a:lstStyle/>
          <a:p>
            <a:pPr algn="ctr" indent="0" marL="0">
              <a:buNone/>
            </a:pPr>
            <a:endParaRPr lang="en-US" sz="1100" dirty="0"/>
          </a:p>
        </p:txBody>
      </p:sp>
      <p:sp>
        <p:nvSpPr>
          <p:cNvPr id="29" name="Text 27"/>
          <p:cNvSpPr/>
          <p:nvPr/>
        </p:nvSpPr>
        <p:spPr>
          <a:xfrm>
            <a:off x="1152144" y="4096512"/>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重大な計画変更、損失発生、不正または法令違反時の速やかな報告</a:t>
            </a:r>
            <a:endParaRPr lang="en-US" sz="950" dirty="0"/>
          </a:p>
        </p:txBody>
      </p:sp>
      <p:sp>
        <p:nvSpPr>
          <p:cNvPr id="30" name="Shape 28"/>
          <p:cNvSpPr/>
          <p:nvPr/>
        </p:nvSpPr>
        <p:spPr>
          <a:xfrm>
            <a:off x="6233008" y="1627632"/>
            <a:ext cx="5300320" cy="3163824"/>
          </a:xfrm>
          <a:prstGeom prst="roundRect">
            <a:avLst>
              <a:gd name="adj" fmla="val 1301"/>
            </a:avLst>
          </a:prstGeom>
          <a:solidFill>
            <a:srgbClr val="1F1D19"/>
          </a:solidFill>
          <a:ln w="9525">
            <a:solidFill>
              <a:srgbClr val="6E5730"/>
            </a:solidFill>
            <a:prstDash val="solid"/>
          </a:ln>
        </p:spPr>
      </p:sp>
      <p:sp>
        <p:nvSpPr>
          <p:cNvPr id="31" name="Text 29"/>
          <p:cNvSpPr/>
          <p:nvPr/>
        </p:nvSpPr>
        <p:spPr>
          <a:xfrm>
            <a:off x="6489040" y="1792224"/>
            <a:ext cx="478825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利益相反の管理</a:t>
            </a:r>
            <a:endParaRPr lang="en-US" sz="1250" dirty="0"/>
          </a:p>
        </p:txBody>
      </p:sp>
      <p:sp>
        <p:nvSpPr>
          <p:cNvPr id="32" name="Text 30"/>
          <p:cNvSpPr/>
          <p:nvPr/>
        </p:nvSpPr>
        <p:spPr>
          <a:xfrm>
            <a:off x="6489040" y="2157984"/>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独立企業間価格の原則</a:t>
            </a:r>
            <a:endParaRPr lang="en-US" sz="1050" dirty="0"/>
          </a:p>
        </p:txBody>
      </p:sp>
      <p:sp>
        <p:nvSpPr>
          <p:cNvPr id="33" name="Text 31"/>
          <p:cNvSpPr/>
          <p:nvPr/>
        </p:nvSpPr>
        <p:spPr>
          <a:xfrm>
            <a:off x="6489040" y="2377440"/>
            <a:ext cx="4788256" cy="3840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運営者およびその関係会社との取引は、第三者との取引条件と同等の条件によるものとする。</a:t>
            </a:r>
            <a:endParaRPr lang="en-US" sz="900" dirty="0"/>
          </a:p>
        </p:txBody>
      </p:sp>
      <p:sp>
        <p:nvSpPr>
          <p:cNvPr id="34" name="Text 32"/>
          <p:cNvSpPr/>
          <p:nvPr/>
        </p:nvSpPr>
        <p:spPr>
          <a:xfrm>
            <a:off x="6489040" y="2816352"/>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価格根拠の文書化</a:t>
            </a:r>
            <a:endParaRPr lang="en-US" sz="1050" dirty="0"/>
          </a:p>
        </p:txBody>
      </p:sp>
      <p:sp>
        <p:nvSpPr>
          <p:cNvPr id="35" name="Text 33"/>
          <p:cNvSpPr/>
          <p:nvPr/>
        </p:nvSpPr>
        <p:spPr>
          <a:xfrm>
            <a:off x="6489040" y="3035808"/>
            <a:ext cx="4788256" cy="3840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現物譲渡の1%を含め、価格および条件の合理性を客観的資料により説明できる状態を維持する。</a:t>
            </a:r>
            <a:endParaRPr lang="en-US" sz="900" dirty="0"/>
          </a:p>
        </p:txBody>
      </p:sp>
      <p:sp>
        <p:nvSpPr>
          <p:cNvPr id="36" name="Text 34"/>
          <p:cNvSpPr/>
          <p:nvPr/>
        </p:nvSpPr>
        <p:spPr>
          <a:xfrm>
            <a:off x="6489040" y="3474720"/>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重要な関連当事者取引の事前承認</a:t>
            </a:r>
            <a:endParaRPr lang="en-US" sz="1050" dirty="0"/>
          </a:p>
        </p:txBody>
      </p:sp>
      <p:sp>
        <p:nvSpPr>
          <p:cNvPr id="37" name="Text 35"/>
          <p:cNvSpPr/>
          <p:nvPr/>
        </p:nvSpPr>
        <p:spPr>
          <a:xfrm>
            <a:off x="6489040" y="3694176"/>
            <a:ext cx="4788256" cy="3840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一定金額以上の取引については、投資家または独立した第三者の事前承認を要する。</a:t>
            </a:r>
            <a:endParaRPr lang="en-US" sz="900" dirty="0"/>
          </a:p>
        </p:txBody>
      </p:sp>
      <p:sp>
        <p:nvSpPr>
          <p:cNvPr id="38" name="Text 36"/>
          <p:cNvSpPr/>
          <p:nvPr/>
        </p:nvSpPr>
        <p:spPr>
          <a:xfrm>
            <a:off x="6489040" y="4133088"/>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在庫配分ルールの遵守</a:t>
            </a:r>
            <a:endParaRPr lang="en-US" sz="1050" dirty="0"/>
          </a:p>
        </p:txBody>
      </p:sp>
      <p:sp>
        <p:nvSpPr>
          <p:cNvPr id="39" name="Text 37"/>
          <p:cNvSpPr/>
          <p:nvPr/>
        </p:nvSpPr>
        <p:spPr>
          <a:xfrm>
            <a:off x="6489040" y="4352544"/>
            <a:ext cx="4788256" cy="3840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前頁の配分方針を契約別紙として明文化し、逸脱時の是正・補填手続を定める。</a:t>
            </a:r>
            <a:endParaRPr lang="en-US" sz="900" dirty="0"/>
          </a:p>
        </p:txBody>
      </p:sp>
      <p:sp>
        <p:nvSpPr>
          <p:cNvPr id="40" name="Shape 38"/>
          <p:cNvSpPr/>
          <p:nvPr/>
        </p:nvSpPr>
        <p:spPr>
          <a:xfrm>
            <a:off x="658368" y="4974336"/>
            <a:ext cx="3454298" cy="1133856"/>
          </a:xfrm>
          <a:prstGeom prst="roundRect">
            <a:avLst>
              <a:gd name="adj" fmla="val 3629"/>
            </a:avLst>
          </a:prstGeom>
          <a:solidFill>
            <a:srgbClr val="171614"/>
          </a:solidFill>
          <a:ln w="9525">
            <a:solidFill>
              <a:srgbClr val="2E2A24"/>
            </a:solidFill>
            <a:prstDash val="solid"/>
          </a:ln>
        </p:spPr>
      </p:sp>
      <p:sp>
        <p:nvSpPr>
          <p:cNvPr id="41" name="Text 39"/>
          <p:cNvSpPr/>
          <p:nvPr/>
        </p:nvSpPr>
        <p:spPr>
          <a:xfrm>
            <a:off x="896112" y="5084064"/>
            <a:ext cx="2978810" cy="201168"/>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ファンド形態</a:t>
            </a:r>
            <a:endParaRPr lang="en-US" sz="950" dirty="0"/>
          </a:p>
        </p:txBody>
      </p:sp>
      <p:sp>
        <p:nvSpPr>
          <p:cNvPr id="42" name="Text 40"/>
          <p:cNvSpPr/>
          <p:nvPr/>
        </p:nvSpPr>
        <p:spPr>
          <a:xfrm>
            <a:off x="896112" y="5285232"/>
            <a:ext cx="297881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適格機関投資家等特例業務</a:t>
            </a:r>
            <a:endParaRPr lang="en-US" sz="1200" dirty="0"/>
          </a:p>
        </p:txBody>
      </p:sp>
      <p:sp>
        <p:nvSpPr>
          <p:cNvPr id="43" name="Text 41"/>
          <p:cNvSpPr/>
          <p:nvPr/>
        </p:nvSpPr>
        <p:spPr>
          <a:xfrm>
            <a:off x="896112"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9A938A"/>
                </a:solidFill>
                <a:latin typeface="Yu Gothic" pitchFamily="34" charset="0"/>
                <a:ea typeface="Yu Gothic" pitchFamily="34" charset="-122"/>
                <a:cs typeface="Yu Gothic" pitchFamily="34" charset="-120"/>
              </a:rPr>
              <a:t>第1号ファンド（合同会社WineBank P1）で届出の実績がある。適格機関投資家1名以上の確保を組成条件とする。</a:t>
            </a:r>
            <a:endParaRPr lang="en-US" sz="850" dirty="0"/>
          </a:p>
        </p:txBody>
      </p:sp>
      <p:sp>
        <p:nvSpPr>
          <p:cNvPr id="44" name="Shape 42"/>
          <p:cNvSpPr/>
          <p:nvPr/>
        </p:nvSpPr>
        <p:spPr>
          <a:xfrm>
            <a:off x="4368698" y="4974336"/>
            <a:ext cx="3454298" cy="1133856"/>
          </a:xfrm>
          <a:prstGeom prst="roundRect">
            <a:avLst>
              <a:gd name="adj" fmla="val 3629"/>
            </a:avLst>
          </a:prstGeom>
          <a:solidFill>
            <a:srgbClr val="171614"/>
          </a:solidFill>
          <a:ln w="9525">
            <a:solidFill>
              <a:srgbClr val="2E2A24"/>
            </a:solidFill>
            <a:prstDash val="solid"/>
          </a:ln>
        </p:spPr>
      </p:sp>
      <p:sp>
        <p:nvSpPr>
          <p:cNvPr id="45" name="Text 43"/>
          <p:cNvSpPr/>
          <p:nvPr/>
        </p:nvSpPr>
        <p:spPr>
          <a:xfrm>
            <a:off x="4606442" y="5084064"/>
            <a:ext cx="2978810" cy="201168"/>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外部検証</a:t>
            </a:r>
            <a:endParaRPr lang="en-US" sz="950" dirty="0"/>
          </a:p>
        </p:txBody>
      </p:sp>
      <p:sp>
        <p:nvSpPr>
          <p:cNvPr id="46" name="Text 44"/>
          <p:cNvSpPr/>
          <p:nvPr/>
        </p:nvSpPr>
        <p:spPr>
          <a:xfrm>
            <a:off x="4606442" y="5285232"/>
            <a:ext cx="297881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AUP（合意された手続）</a:t>
            </a:r>
            <a:endParaRPr lang="en-US" sz="1200" dirty="0"/>
          </a:p>
        </p:txBody>
      </p:sp>
      <p:sp>
        <p:nvSpPr>
          <p:cNvPr id="47" name="Text 45"/>
          <p:cNvSpPr/>
          <p:nvPr/>
        </p:nvSpPr>
        <p:spPr>
          <a:xfrm>
            <a:off x="4606442"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9A938A"/>
                </a:solidFill>
                <a:latin typeface="Yu Gothic" pitchFamily="34" charset="0"/>
                <a:ea typeface="Yu Gothic" pitchFamily="34" charset="-122"/>
                <a:cs typeface="Yu Gothic" pitchFamily="34" charset="-120"/>
              </a:rPr>
              <a:t>財務諸表監査ではなく、目的を限定した合意された手続を採用。年50万円をSPC費用に計上済み。将来的な監査への移行も可能とする。</a:t>
            </a:r>
            <a:endParaRPr lang="en-US" sz="850" dirty="0"/>
          </a:p>
        </p:txBody>
      </p:sp>
      <p:sp>
        <p:nvSpPr>
          <p:cNvPr id="48" name="Shape 46"/>
          <p:cNvSpPr/>
          <p:nvPr/>
        </p:nvSpPr>
        <p:spPr>
          <a:xfrm>
            <a:off x="8079029" y="4974336"/>
            <a:ext cx="3454298" cy="1133856"/>
          </a:xfrm>
          <a:prstGeom prst="roundRect">
            <a:avLst>
              <a:gd name="adj" fmla="val 3629"/>
            </a:avLst>
          </a:prstGeom>
          <a:solidFill>
            <a:srgbClr val="171614"/>
          </a:solidFill>
          <a:ln w="9525">
            <a:solidFill>
              <a:srgbClr val="2E2A24"/>
            </a:solidFill>
            <a:prstDash val="solid"/>
          </a:ln>
        </p:spPr>
      </p:sp>
      <p:sp>
        <p:nvSpPr>
          <p:cNvPr id="49" name="Text 47"/>
          <p:cNvSpPr/>
          <p:nvPr/>
        </p:nvSpPr>
        <p:spPr>
          <a:xfrm>
            <a:off x="8316773" y="5084064"/>
            <a:ext cx="2978810" cy="201168"/>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報告頻度</a:t>
            </a:r>
            <a:endParaRPr lang="en-US" sz="950" dirty="0"/>
          </a:p>
        </p:txBody>
      </p:sp>
      <p:sp>
        <p:nvSpPr>
          <p:cNvPr id="50" name="Text 48"/>
          <p:cNvSpPr/>
          <p:nvPr/>
        </p:nvSpPr>
        <p:spPr>
          <a:xfrm>
            <a:off x="8316773" y="5285232"/>
            <a:ext cx="297881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四半期</a:t>
            </a:r>
            <a:endParaRPr lang="en-US" sz="1200" dirty="0"/>
          </a:p>
        </p:txBody>
      </p:sp>
      <p:sp>
        <p:nvSpPr>
          <p:cNvPr id="51" name="Text 49"/>
          <p:cNvSpPr/>
          <p:nvPr/>
        </p:nvSpPr>
        <p:spPr>
          <a:xfrm>
            <a:off x="8316773"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9A938A"/>
                </a:solidFill>
                <a:latin typeface="Yu Gothic" pitchFamily="34" charset="0"/>
                <a:ea typeface="Yu Gothic" pitchFamily="34" charset="-122"/>
                <a:cs typeface="Yu Gothic" pitchFamily="34" charset="-120"/>
              </a:rPr>
              <a:t>在庫明細・簿価・売上・試算表を四半期ごとに開示。年次で決算を報告する。</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RISK</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想定されるリスクと対応策</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18</a:t>
            </a:r>
            <a:endParaRPr lang="en-US" sz="950" dirty="0"/>
          </a:p>
        </p:txBody>
      </p:sp>
      <p:sp>
        <p:nvSpPr>
          <p:cNvPr id="6" name="Shape 4"/>
          <p:cNvSpPr/>
          <p:nvPr/>
        </p:nvSpPr>
        <p:spPr>
          <a:xfrm>
            <a:off x="658368" y="1554480"/>
            <a:ext cx="2526716" cy="1920240"/>
          </a:xfrm>
          <a:prstGeom prst="roundRect">
            <a:avLst>
              <a:gd name="adj" fmla="val 2143"/>
            </a:avLst>
          </a:prstGeom>
          <a:solidFill>
            <a:srgbClr val="171614"/>
          </a:solidFill>
          <a:ln w="9525">
            <a:solidFill>
              <a:srgbClr val="2E2A24"/>
            </a:solidFill>
            <a:prstDash val="solid"/>
          </a:ln>
        </p:spPr>
      </p:sp>
      <p:sp>
        <p:nvSpPr>
          <p:cNvPr id="7" name="Text 5"/>
          <p:cNvSpPr/>
          <p:nvPr/>
        </p:nvSpPr>
        <p:spPr>
          <a:xfrm>
            <a:off x="896112"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在庫リスク</a:t>
            </a:r>
            <a:endParaRPr lang="en-US" sz="1200" dirty="0"/>
          </a:p>
        </p:txBody>
      </p:sp>
      <p:sp>
        <p:nvSpPr>
          <p:cNvPr id="8" name="Text 6"/>
          <p:cNvSpPr/>
          <p:nvPr/>
        </p:nvSpPr>
        <p:spPr>
          <a:xfrm>
            <a:off x="896112"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想定価格で売り切れず滞留する</a:t>
            </a:r>
            <a:endParaRPr lang="en-US" sz="950" dirty="0"/>
          </a:p>
        </p:txBody>
      </p:sp>
      <p:sp>
        <p:nvSpPr>
          <p:cNvPr id="9" name="Text 7"/>
          <p:cNvSpPr/>
          <p:nvPr/>
        </p:nvSpPr>
        <p:spPr>
          <a:xfrm>
            <a:off x="896112" y="2487168"/>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銘柄をLiv-ex掲載の流通量の多い銘柄に限定。四半期ごとに滞留在庫を洗い出し、簿価見直しを実施。滞留は値上がりを取る期間でもある。</a:t>
            </a:r>
            <a:endParaRPr lang="en-US" sz="950" dirty="0"/>
          </a:p>
        </p:txBody>
      </p:sp>
      <p:sp>
        <p:nvSpPr>
          <p:cNvPr id="10" name="Shape 8"/>
          <p:cNvSpPr/>
          <p:nvPr/>
        </p:nvSpPr>
        <p:spPr>
          <a:xfrm>
            <a:off x="3441116" y="1554480"/>
            <a:ext cx="2526716" cy="1920240"/>
          </a:xfrm>
          <a:prstGeom prst="roundRect">
            <a:avLst>
              <a:gd name="adj" fmla="val 2143"/>
            </a:avLst>
          </a:prstGeom>
          <a:solidFill>
            <a:srgbClr val="171614"/>
          </a:solidFill>
          <a:ln w="9525">
            <a:solidFill>
              <a:srgbClr val="2E2A24"/>
            </a:solidFill>
            <a:prstDash val="solid"/>
          </a:ln>
        </p:spPr>
      </p:sp>
      <p:sp>
        <p:nvSpPr>
          <p:cNvPr id="11" name="Text 9"/>
          <p:cNvSpPr/>
          <p:nvPr/>
        </p:nvSpPr>
        <p:spPr>
          <a:xfrm>
            <a:off x="3678860"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価格変動リスク</a:t>
            </a:r>
            <a:endParaRPr lang="en-US" sz="1200" dirty="0"/>
          </a:p>
        </p:txBody>
      </p:sp>
      <p:sp>
        <p:nvSpPr>
          <p:cNvPr id="12" name="Text 10"/>
          <p:cNvSpPr/>
          <p:nvPr/>
        </p:nvSpPr>
        <p:spPr>
          <a:xfrm>
            <a:off x="3678860"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Fine Wine市況の下落・停滞</a:t>
            </a:r>
            <a:endParaRPr lang="en-US" sz="950" dirty="0"/>
          </a:p>
        </p:txBody>
      </p:sp>
      <p:sp>
        <p:nvSpPr>
          <p:cNvPr id="13" name="Text 11"/>
          <p:cNvSpPr/>
          <p:nvPr/>
        </p:nvSpPr>
        <p:spPr>
          <a:xfrm>
            <a:off x="3678860" y="2487168"/>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主線は年6%上昇を織り込むが、横ばい（0%）でも定常年間利回り17.1%を確保できる。会社資料の年率10%に対し保守的な前提。</a:t>
            </a:r>
            <a:endParaRPr lang="en-US" sz="950" dirty="0"/>
          </a:p>
        </p:txBody>
      </p:sp>
      <p:sp>
        <p:nvSpPr>
          <p:cNvPr id="14" name="Shape 12"/>
          <p:cNvSpPr/>
          <p:nvPr/>
        </p:nvSpPr>
        <p:spPr>
          <a:xfrm>
            <a:off x="6223864" y="1554480"/>
            <a:ext cx="2526716" cy="1920240"/>
          </a:xfrm>
          <a:prstGeom prst="roundRect">
            <a:avLst>
              <a:gd name="adj" fmla="val 2143"/>
            </a:avLst>
          </a:prstGeom>
          <a:solidFill>
            <a:srgbClr val="171614"/>
          </a:solidFill>
          <a:ln w="9525">
            <a:solidFill>
              <a:srgbClr val="2E2A24"/>
            </a:solidFill>
            <a:prstDash val="solid"/>
          </a:ln>
        </p:spPr>
      </p:sp>
      <p:sp>
        <p:nvSpPr>
          <p:cNvPr id="15" name="Text 13"/>
          <p:cNvSpPr/>
          <p:nvPr/>
        </p:nvSpPr>
        <p:spPr>
          <a:xfrm>
            <a:off x="6461608"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流動性リスク</a:t>
            </a:r>
            <a:endParaRPr lang="en-US" sz="1200" dirty="0"/>
          </a:p>
        </p:txBody>
      </p:sp>
      <p:sp>
        <p:nvSpPr>
          <p:cNvPr id="16" name="Text 14"/>
          <p:cNvSpPr/>
          <p:nvPr/>
        </p:nvSpPr>
        <p:spPr>
          <a:xfrm>
            <a:off x="6461608"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現物のため即時換金できない</a:t>
            </a:r>
            <a:endParaRPr lang="en-US" sz="950" dirty="0"/>
          </a:p>
        </p:txBody>
      </p:sp>
      <p:sp>
        <p:nvSpPr>
          <p:cNvPr id="17" name="Text 15"/>
          <p:cNvSpPr/>
          <p:nvPr/>
        </p:nvSpPr>
        <p:spPr>
          <a:xfrm>
            <a:off x="6461608" y="2487168"/>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当初3年間はロックアップ。4年目以降は年度ごとの解約日に対応し、解約枠に応じて現金比率を引き上げる。</a:t>
            </a:r>
            <a:endParaRPr lang="en-US" sz="950" dirty="0"/>
          </a:p>
        </p:txBody>
      </p:sp>
      <p:sp>
        <p:nvSpPr>
          <p:cNvPr id="18" name="Shape 16"/>
          <p:cNvSpPr/>
          <p:nvPr/>
        </p:nvSpPr>
        <p:spPr>
          <a:xfrm>
            <a:off x="9006611" y="1554480"/>
            <a:ext cx="2526716" cy="1920240"/>
          </a:xfrm>
          <a:prstGeom prst="roundRect">
            <a:avLst>
              <a:gd name="adj" fmla="val 2143"/>
            </a:avLst>
          </a:prstGeom>
          <a:solidFill>
            <a:srgbClr val="171614"/>
          </a:solidFill>
          <a:ln w="9525">
            <a:solidFill>
              <a:srgbClr val="2E2A24"/>
            </a:solidFill>
            <a:prstDash val="solid"/>
          </a:ln>
        </p:spPr>
      </p:sp>
      <p:sp>
        <p:nvSpPr>
          <p:cNvPr id="19" name="Text 17"/>
          <p:cNvSpPr/>
          <p:nvPr/>
        </p:nvSpPr>
        <p:spPr>
          <a:xfrm>
            <a:off x="9244355"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調達リスク</a:t>
            </a:r>
            <a:endParaRPr lang="en-US" sz="1200" dirty="0"/>
          </a:p>
        </p:txBody>
      </p:sp>
      <p:sp>
        <p:nvSpPr>
          <p:cNvPr id="20" name="Text 18"/>
          <p:cNvSpPr/>
          <p:nvPr/>
        </p:nvSpPr>
        <p:spPr>
          <a:xfrm>
            <a:off x="9244355"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想定価格・数量で仕入れられない</a:t>
            </a:r>
            <a:endParaRPr lang="en-US" sz="950" dirty="0"/>
          </a:p>
        </p:txBody>
      </p:sp>
      <p:sp>
        <p:nvSpPr>
          <p:cNvPr id="21" name="Text 19"/>
          <p:cNvSpPr/>
          <p:nvPr/>
        </p:nvSpPr>
        <p:spPr>
          <a:xfrm>
            <a:off x="9244355" y="2487168"/>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インポーター・酒販店との年間調達枠を事前に締結。調達実績を四半期報告。</a:t>
            </a:r>
            <a:endParaRPr lang="en-US" sz="950" dirty="0"/>
          </a:p>
        </p:txBody>
      </p:sp>
      <p:sp>
        <p:nvSpPr>
          <p:cNvPr id="22" name="Shape 20"/>
          <p:cNvSpPr/>
          <p:nvPr/>
        </p:nvSpPr>
        <p:spPr>
          <a:xfrm>
            <a:off x="658368" y="3675888"/>
            <a:ext cx="2526716" cy="1920240"/>
          </a:xfrm>
          <a:prstGeom prst="roundRect">
            <a:avLst>
              <a:gd name="adj" fmla="val 2143"/>
            </a:avLst>
          </a:prstGeom>
          <a:solidFill>
            <a:srgbClr val="171614"/>
          </a:solidFill>
          <a:ln w="9525">
            <a:solidFill>
              <a:srgbClr val="2E2A24"/>
            </a:solidFill>
            <a:prstDash val="solid"/>
          </a:ln>
        </p:spPr>
      </p:sp>
      <p:sp>
        <p:nvSpPr>
          <p:cNvPr id="23" name="Text 21"/>
          <p:cNvSpPr/>
          <p:nvPr/>
        </p:nvSpPr>
        <p:spPr>
          <a:xfrm>
            <a:off x="896112"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オペレーションリスク</a:t>
            </a:r>
            <a:endParaRPr lang="en-US" sz="1200" dirty="0"/>
          </a:p>
        </p:txBody>
      </p:sp>
      <p:sp>
        <p:nvSpPr>
          <p:cNvPr id="24" name="Text 22"/>
          <p:cNvSpPr/>
          <p:nvPr/>
        </p:nvSpPr>
        <p:spPr>
          <a:xfrm>
            <a:off x="896112"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保管中の破損・劣化・盗難</a:t>
            </a:r>
            <a:endParaRPr lang="en-US" sz="950" dirty="0"/>
          </a:p>
        </p:txBody>
      </p:sp>
      <p:sp>
        <p:nvSpPr>
          <p:cNvPr id="25" name="Text 23"/>
          <p:cNvSpPr/>
          <p:nvPr/>
        </p:nvSpPr>
        <p:spPr>
          <a:xfrm>
            <a:off x="896112" y="4608576"/>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定温倉庫での保管と動産総合保険による全量付保。ロスは保険でカバーする前提のため費用計上していない。倉庫在庫は四半期ごとに第三者棚卸。</a:t>
            </a:r>
            <a:endParaRPr lang="en-US" sz="950" dirty="0"/>
          </a:p>
        </p:txBody>
      </p:sp>
      <p:sp>
        <p:nvSpPr>
          <p:cNvPr id="26" name="Shape 24"/>
          <p:cNvSpPr/>
          <p:nvPr/>
        </p:nvSpPr>
        <p:spPr>
          <a:xfrm>
            <a:off x="3441116" y="3675888"/>
            <a:ext cx="2526716" cy="1920240"/>
          </a:xfrm>
          <a:prstGeom prst="roundRect">
            <a:avLst>
              <a:gd name="adj" fmla="val 2143"/>
            </a:avLst>
          </a:prstGeom>
          <a:solidFill>
            <a:srgbClr val="171614"/>
          </a:solidFill>
          <a:ln w="9525">
            <a:solidFill>
              <a:srgbClr val="2E2A24"/>
            </a:solidFill>
            <a:prstDash val="solid"/>
          </a:ln>
        </p:spPr>
      </p:sp>
      <p:sp>
        <p:nvSpPr>
          <p:cNvPr id="27" name="Text 25"/>
          <p:cNvSpPr/>
          <p:nvPr/>
        </p:nvSpPr>
        <p:spPr>
          <a:xfrm>
            <a:off x="3678860"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カウンターパーティリスク</a:t>
            </a:r>
            <a:endParaRPr lang="en-US" sz="1200" dirty="0"/>
          </a:p>
        </p:txBody>
      </p:sp>
      <p:sp>
        <p:nvSpPr>
          <p:cNvPr id="28" name="Text 26"/>
          <p:cNvSpPr/>
          <p:nvPr/>
        </p:nvSpPr>
        <p:spPr>
          <a:xfrm>
            <a:off x="3678860"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WineBankの信用・実行力</a:t>
            </a:r>
            <a:endParaRPr lang="en-US" sz="950" dirty="0"/>
          </a:p>
        </p:txBody>
      </p:sp>
      <p:sp>
        <p:nvSpPr>
          <p:cNvPr id="29" name="Text 27"/>
          <p:cNvSpPr/>
          <p:nvPr/>
        </p:nvSpPr>
        <p:spPr>
          <a:xfrm>
            <a:off x="3678860" y="4608576"/>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SPCを倒産隔離。ワイン現物はSPC名義で保有し、WineBankの債権者から隔離する。</a:t>
            </a:r>
            <a:endParaRPr lang="en-US" sz="950" dirty="0"/>
          </a:p>
        </p:txBody>
      </p:sp>
      <p:sp>
        <p:nvSpPr>
          <p:cNvPr id="30" name="Shape 28"/>
          <p:cNvSpPr/>
          <p:nvPr/>
        </p:nvSpPr>
        <p:spPr>
          <a:xfrm>
            <a:off x="6223864" y="3675888"/>
            <a:ext cx="2526716" cy="1920240"/>
          </a:xfrm>
          <a:prstGeom prst="roundRect">
            <a:avLst>
              <a:gd name="adj" fmla="val 2143"/>
            </a:avLst>
          </a:prstGeom>
          <a:solidFill>
            <a:srgbClr val="171614"/>
          </a:solidFill>
          <a:ln w="9525">
            <a:solidFill>
              <a:srgbClr val="2E2A24"/>
            </a:solidFill>
            <a:prstDash val="solid"/>
          </a:ln>
        </p:spPr>
      </p:sp>
      <p:sp>
        <p:nvSpPr>
          <p:cNvPr id="31" name="Text 29"/>
          <p:cNvSpPr/>
          <p:nvPr/>
        </p:nvSpPr>
        <p:spPr>
          <a:xfrm>
            <a:off x="6461608"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免許・商流リスク</a:t>
            </a:r>
            <a:endParaRPr lang="en-US" sz="1200" dirty="0"/>
          </a:p>
        </p:txBody>
      </p:sp>
      <p:sp>
        <p:nvSpPr>
          <p:cNvPr id="32" name="Text 30"/>
          <p:cNvSpPr/>
          <p:nvPr/>
        </p:nvSpPr>
        <p:spPr>
          <a:xfrm>
            <a:off x="6461608"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免許事業者の変更・取引口座の喪失</a:t>
            </a:r>
            <a:endParaRPr lang="en-US" sz="950" dirty="0"/>
          </a:p>
        </p:txBody>
      </p:sp>
      <p:sp>
        <p:nvSpPr>
          <p:cNvPr id="33" name="Text 31"/>
          <p:cNvSpPr/>
          <p:nvPr/>
        </p:nvSpPr>
        <p:spPr>
          <a:xfrm>
            <a:off x="6461608" y="4608576"/>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WineBankの免許維持を契約上の義務とし、免許喪失時は在庫を売却清算して早期償還する条項を置く。</a:t>
            </a:r>
            <a:endParaRPr lang="en-US" sz="950" dirty="0"/>
          </a:p>
        </p:txBody>
      </p:sp>
      <p:sp>
        <p:nvSpPr>
          <p:cNvPr id="34" name="Shape 32"/>
          <p:cNvSpPr/>
          <p:nvPr/>
        </p:nvSpPr>
        <p:spPr>
          <a:xfrm>
            <a:off x="9006611" y="3675888"/>
            <a:ext cx="2526716" cy="1920240"/>
          </a:xfrm>
          <a:prstGeom prst="roundRect">
            <a:avLst>
              <a:gd name="adj" fmla="val 2143"/>
            </a:avLst>
          </a:prstGeom>
          <a:solidFill>
            <a:srgbClr val="171614"/>
          </a:solidFill>
          <a:ln w="9525">
            <a:solidFill>
              <a:srgbClr val="2E2A24"/>
            </a:solidFill>
            <a:prstDash val="solid"/>
          </a:ln>
        </p:spPr>
      </p:sp>
      <p:sp>
        <p:nvSpPr>
          <p:cNvPr id="35" name="Text 33"/>
          <p:cNvSpPr/>
          <p:nvPr/>
        </p:nvSpPr>
        <p:spPr>
          <a:xfrm>
            <a:off x="9244355"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移転価格リスク</a:t>
            </a:r>
            <a:endParaRPr lang="en-US" sz="1200" dirty="0"/>
          </a:p>
        </p:txBody>
      </p:sp>
      <p:sp>
        <p:nvSpPr>
          <p:cNvPr id="36" name="Text 34"/>
          <p:cNvSpPr/>
          <p:nvPr/>
        </p:nvSpPr>
        <p:spPr>
          <a:xfrm>
            <a:off x="9244355"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譲渡1%の妥当性を否認される</a:t>
            </a:r>
            <a:endParaRPr lang="en-US" sz="950" dirty="0"/>
          </a:p>
        </p:txBody>
      </p:sp>
      <p:sp>
        <p:nvSpPr>
          <p:cNvPr id="37" name="Text 35"/>
          <p:cNvSpPr/>
          <p:nvPr/>
        </p:nvSpPr>
        <p:spPr>
          <a:xfrm>
            <a:off x="9244355" y="4608576"/>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譲渡価格の算定根拠を文書化。第三者卸価格との比較資料を年次で整備し、税務調査に備える。</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TERMS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ファンド設計条件（ドラフト）</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組成・資本構成（左）と、運用・費用・報告（右）に分けて記載する。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19</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58368" y="1627632"/>
          <a:ext cx="5300320" cy="914400"/>
        </p:xfrm>
        <a:graphic>
          <a:graphicData uri="http://schemas.openxmlformats.org/drawingml/2006/table">
            <a:tbl>
              <a:tblPr/>
              <a:tblGrid>
                <a:gridCol w="1536192"/>
                <a:gridCol w="3764128"/>
              </a:tblGrid>
              <a:tr h="38404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組成形態</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合同会社＋匿名組合（GK-TK）。SPCレベルでは非課税、投資家側で課税</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ファンド形態</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適格機関投資家等特例業務による私募。適格機関投資家1名以上の確保を組成条件とする</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募集総額</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b="1" dirty="0">
                          <a:solidFill>
                            <a:srgbClr val="C9A96E"/>
                          </a:solidFill>
                          <a:latin typeface="Yu Gothic" pitchFamily="34" charset="0"/>
                          <a:ea typeface="Yu Gothic" pitchFamily="34" charset="-122"/>
                          <a:cs typeface="Yu Gothic" pitchFamily="34" charset="-120"/>
                        </a:rPr>
                        <a:t>総額5億円（デット2億円＋エクイティ3億円）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デット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2億円・金利4%（固定）。調達コストはWineBankが負担し、SPCの費用には計上しない</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損益の配分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b="1" dirty="0">
                          <a:solidFill>
                            <a:srgbClr val="C9A96E"/>
                          </a:solidFill>
                          <a:latin typeface="Yu Gothic" pitchFamily="34" charset="0"/>
                          <a:ea typeface="Yu Gothic" pitchFamily="34" charset="-122"/>
                          <a:cs typeface="Yu Gothic" pitchFamily="34" charset="-120"/>
                        </a:rPr>
                        <a:t>SPC税前利益を折半（投資家50：WineBank50）。WineBankは現金拠出なし・期中報酬も成功報酬も課さない</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運用期間</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5年。満期時に在庫を売却清算のうえ元本償還</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中途解約</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b="1" dirty="0">
                          <a:solidFill>
                            <a:srgbClr val="C9A96E"/>
                          </a:solidFill>
                          <a:latin typeface="Yu Gothic" pitchFamily="34" charset="0"/>
                          <a:ea typeface="Yu Gothic" pitchFamily="34" charset="-122"/>
                          <a:cs typeface="Yu Gothic" pitchFamily="34" charset="-120"/>
                        </a:rPr>
                        <a:t>3年経過後、年度ごとの解約日に申出可（90日前通知）。当初3年間はロックアップ</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分配</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半期ごと。元本はSPC内に留保し継続運用</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元本の裏付け</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SPC名義のワイン現物および現金。四半期ごとに在庫明細・簿価を報告</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6233008" y="1627632"/>
          <a:ext cx="5300320" cy="914400"/>
        </p:xfrm>
        <a:graphic>
          <a:graphicData uri="http://schemas.openxmlformats.org/drawingml/2006/table">
            <a:tbl>
              <a:tblPr/>
              <a:tblGrid>
                <a:gridCol w="1536192"/>
                <a:gridCol w="3764128"/>
              </a:tblGrid>
              <a:tr h="38404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現物の取得</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WineBankが調達した現物をSPCへ譲渡（＋1%）。5億の場合、実商品原価4.95億＋譲渡マージン500万円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資金配分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b="1" dirty="0">
                          <a:solidFill>
                            <a:srgbClr val="C9A96E"/>
                          </a:solidFill>
                          <a:latin typeface="Yu Gothic" pitchFamily="34" charset="0"/>
                          <a:ea typeface="Yu Gothic" pitchFamily="34" charset="-122"/>
                          <a:cs typeface="Yu Gothic" pitchFamily="34" charset="-120"/>
                        </a:rPr>
                        <a:t>総額の95%をワイン購入、5%を現金保有</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販売チャネル</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酒販店卸（B2B）と自社EC・オークション（B2C）を半々</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在庫回転目標</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b="1" dirty="0">
                          <a:solidFill>
                            <a:srgbClr val="C9A96E"/>
                          </a:solidFill>
                          <a:latin typeface="Yu Gothic" pitchFamily="34" charset="0"/>
                          <a:ea typeface="Yu Gothic" pitchFamily="34" charset="-122"/>
                          <a:cs typeface="Yu Gothic" pitchFamily="34" charset="-120"/>
                        </a:rPr>
                        <a:t>12ヶ月。最短9ヶ月、延びても15〜18ヶ月を想定レンジとする</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価格前提</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ワイン価格の年間上昇6%。会社資料のFine Wine年率10%に対し保守的に設定</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SPC負担費用</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保管・保険・入庫・変動販売費・維持費200万・人件費360万・AUP50万・予備費50万</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想定リターン</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b="1" dirty="0">
                          <a:solidFill>
                            <a:srgbClr val="C9A96E"/>
                          </a:solidFill>
                          <a:latin typeface="Yu Gothic" pitchFamily="34" charset="0"/>
                          <a:ea typeface="Yu Gothic" pitchFamily="34" charset="-122"/>
                          <a:cs typeface="Yu Gothic" pitchFamily="34" charset="-120"/>
                        </a:rPr>
                        <a:t>投資家利回り35.0%（在庫回転12ヶ月・定常年間）。5年通算の年平均利回りは27.9%</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報告</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四半期：在庫明細・簿価・売上・試算表／年次：決算</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外部検証</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AUP（合意された手続）を年次で実施。配分ルールの遵守状況を手続の対象に含める</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在庫配分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b="1" dirty="0">
                          <a:solidFill>
                            <a:srgbClr val="C9A96E"/>
                          </a:solidFill>
                          <a:latin typeface="Yu Gothic" pitchFamily="34" charset="0"/>
                          <a:ea typeface="Yu Gothic" pitchFamily="34" charset="-122"/>
                          <a:cs typeface="Yu Gothic" pitchFamily="34" charset="-120"/>
                        </a:rPr>
                        <a:t>在庫比率によるプロラタ配分を原則とし、判断を要する場合はSPC在庫を優先する</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9" name="Shape 5"/>
          <p:cNvSpPr/>
          <p:nvPr/>
        </p:nvSpPr>
        <p:spPr>
          <a:xfrm>
            <a:off x="658368" y="5541264"/>
            <a:ext cx="10874959" cy="768096"/>
          </a:xfrm>
          <a:prstGeom prst="roundRect">
            <a:avLst>
              <a:gd name="adj" fmla="val 5357"/>
            </a:avLst>
          </a:prstGeom>
          <a:solidFill>
            <a:srgbClr val="1F1D19"/>
          </a:solidFill>
          <a:ln w="9525">
            <a:solidFill>
              <a:srgbClr val="6E5730"/>
            </a:solidFill>
            <a:prstDash val="solid"/>
          </a:ln>
        </p:spPr>
      </p:sp>
      <p:sp>
        <p:nvSpPr>
          <p:cNvPr id="10" name="Text 6"/>
          <p:cNvSpPr/>
          <p:nvPr/>
        </p:nvSpPr>
        <p:spPr>
          <a:xfrm>
            <a:off x="932688" y="5632704"/>
            <a:ext cx="54864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3年ロックアップが稼働率95%を可能にしている</a:t>
            </a:r>
            <a:endParaRPr lang="en-US" sz="1100" dirty="0"/>
          </a:p>
        </p:txBody>
      </p:sp>
      <p:sp>
        <p:nvSpPr>
          <p:cNvPr id="11" name="Text 7"/>
          <p:cNvSpPr/>
          <p:nvPr/>
        </p:nvSpPr>
        <p:spPr>
          <a:xfrm>
            <a:off x="932688" y="5852160"/>
            <a:ext cx="10326319" cy="384048"/>
          </a:xfrm>
          <a:prstGeom prst="rect">
            <a:avLst/>
          </a:prstGeom>
          <a:noFill/>
          <a:ln/>
        </p:spPr>
        <p:txBody>
          <a:bodyPr wrap="square" lIns="0" tIns="0" rIns="0" bIns="0" rtlCol="0" anchor="ctr"/>
          <a:lstStyle/>
          <a:p>
            <a:pPr indent="0" marL="0">
              <a:lnSpc>
                <a:spcPct val="116000"/>
              </a:lnSpc>
              <a:buNone/>
            </a:pPr>
            <a:r>
              <a:rPr lang="en-US" sz="900" dirty="0">
                <a:solidFill>
                  <a:srgbClr val="9A938A"/>
                </a:solidFill>
                <a:latin typeface="Yu Gothic" pitchFamily="34" charset="0"/>
                <a:ea typeface="Yu Gothic" pitchFamily="34" charset="-122"/>
                <a:cs typeface="Yu Gothic" pitchFamily="34" charset="-120"/>
              </a:rPr>
              <a:t>半期解約を前提とすると常時1〜3割を現金または即時換金可能な在庫で保有する必要があり、稼働率が下がって利回りも下がる（稼働率95%→85%で投資家利回りは35.0%→31.2%）。当初3年ロックアップ・4年目以降は年度ごとの解約という設計により、現金保有を5%に抑え、総額の95%をワインに充当できる。</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NEXT STEPS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今後の進め方</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20</a:t>
            </a:r>
            <a:endParaRPr lang="en-US" sz="950" dirty="0"/>
          </a:p>
        </p:txBody>
      </p:sp>
      <p:sp>
        <p:nvSpPr>
          <p:cNvPr id="6" name="Shape 4"/>
          <p:cNvSpPr/>
          <p:nvPr/>
        </p:nvSpPr>
        <p:spPr>
          <a:xfrm>
            <a:off x="658368" y="1572768"/>
            <a:ext cx="1999427" cy="2834640"/>
          </a:xfrm>
          <a:prstGeom prst="roundRect">
            <a:avLst>
              <a:gd name="adj" fmla="val 2058"/>
            </a:avLst>
          </a:prstGeom>
          <a:solidFill>
            <a:srgbClr val="171614"/>
          </a:solidFill>
          <a:ln w="9525">
            <a:solidFill>
              <a:srgbClr val="2E2A24"/>
            </a:solidFill>
            <a:prstDash val="solid"/>
          </a:ln>
        </p:spPr>
      </p:sp>
      <p:sp>
        <p:nvSpPr>
          <p:cNvPr id="7" name="Shape 5"/>
          <p:cNvSpPr/>
          <p:nvPr/>
        </p:nvSpPr>
        <p:spPr>
          <a:xfrm>
            <a:off x="877824" y="1792224"/>
            <a:ext cx="365760" cy="365760"/>
          </a:xfrm>
          <a:prstGeom prst="ellipse">
            <a:avLst/>
          </a:prstGeom>
          <a:solidFill>
            <a:srgbClr val="0C0C0C"/>
          </a:solidFill>
          <a:ln w="11430">
            <a:solidFill>
              <a:srgbClr val="A78450"/>
            </a:solidFill>
            <a:prstDash val="solid"/>
          </a:ln>
        </p:spPr>
      </p:sp>
      <p:sp>
        <p:nvSpPr>
          <p:cNvPr id="8" name="Text 6"/>
          <p:cNvSpPr/>
          <p:nvPr/>
        </p:nvSpPr>
        <p:spPr>
          <a:xfrm>
            <a:off x="877824"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01</a:t>
            </a:r>
            <a:endParaRPr lang="en-US" sz="1200" dirty="0"/>
          </a:p>
        </p:txBody>
      </p:sp>
      <p:sp>
        <p:nvSpPr>
          <p:cNvPr id="9" name="Text 7"/>
          <p:cNvSpPr/>
          <p:nvPr/>
        </p:nvSpPr>
        <p:spPr>
          <a:xfrm>
            <a:off x="877824"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前提条件のすり合わせ</a:t>
            </a:r>
            <a:endParaRPr lang="en-US" sz="1200" dirty="0"/>
          </a:p>
        </p:txBody>
      </p:sp>
      <p:sp>
        <p:nvSpPr>
          <p:cNvPr id="10" name="Text 8"/>
          <p:cNvSpPr/>
          <p:nvPr/>
        </p:nvSpPr>
        <p:spPr>
          <a:xfrm>
            <a:off x="877824"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想定回転期間・販売チャネル構成・解約条件・折半の定義（税前利益ベース）、および現物譲渡1%の水準についてご意見をいただく。</a:t>
            </a:r>
            <a:endParaRPr lang="en-US" sz="950" dirty="0"/>
          </a:p>
        </p:txBody>
      </p:sp>
      <p:sp>
        <p:nvSpPr>
          <p:cNvPr id="11" name="Shape 9"/>
          <p:cNvSpPr/>
          <p:nvPr/>
        </p:nvSpPr>
        <p:spPr>
          <a:xfrm>
            <a:off x="2877251" y="1572768"/>
            <a:ext cx="1999427" cy="2834640"/>
          </a:xfrm>
          <a:prstGeom prst="roundRect">
            <a:avLst>
              <a:gd name="adj" fmla="val 2058"/>
            </a:avLst>
          </a:prstGeom>
          <a:solidFill>
            <a:srgbClr val="1F1D19"/>
          </a:solidFill>
          <a:ln w="9525">
            <a:solidFill>
              <a:srgbClr val="6E5730"/>
            </a:solidFill>
            <a:prstDash val="solid"/>
          </a:ln>
        </p:spPr>
      </p:sp>
      <p:sp>
        <p:nvSpPr>
          <p:cNvPr id="12" name="Shape 10"/>
          <p:cNvSpPr/>
          <p:nvPr/>
        </p:nvSpPr>
        <p:spPr>
          <a:xfrm>
            <a:off x="3096707" y="1792224"/>
            <a:ext cx="365760" cy="365760"/>
          </a:xfrm>
          <a:prstGeom prst="ellipse">
            <a:avLst/>
          </a:prstGeom>
          <a:solidFill>
            <a:srgbClr val="0C0C0C"/>
          </a:solidFill>
          <a:ln w="11430">
            <a:solidFill>
              <a:srgbClr val="A78450"/>
            </a:solidFill>
            <a:prstDash val="solid"/>
          </a:ln>
        </p:spPr>
      </p:sp>
      <p:sp>
        <p:nvSpPr>
          <p:cNvPr id="13" name="Text 11"/>
          <p:cNvSpPr/>
          <p:nvPr/>
        </p:nvSpPr>
        <p:spPr>
          <a:xfrm>
            <a:off x="3096707"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02</a:t>
            </a:r>
            <a:endParaRPr lang="en-US" sz="1200" dirty="0"/>
          </a:p>
        </p:txBody>
      </p:sp>
      <p:sp>
        <p:nvSpPr>
          <p:cNvPr id="14" name="Text 12"/>
          <p:cNvSpPr/>
          <p:nvPr/>
        </p:nvSpPr>
        <p:spPr>
          <a:xfrm>
            <a:off x="3096707"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免許・税務の確定</a:t>
            </a:r>
            <a:endParaRPr lang="en-US" sz="1200" dirty="0"/>
          </a:p>
        </p:txBody>
      </p:sp>
      <p:sp>
        <p:nvSpPr>
          <p:cNvPr id="15" name="Text 13"/>
          <p:cNvSpPr/>
          <p:nvPr/>
        </p:nvSpPr>
        <p:spPr>
          <a:xfrm>
            <a:off x="3096707"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SPCの免許要否と売買形態を所轄税務署（酒類指導官）・顧問弁護士と確認。譲渡価格1%の算定根拠を文書化する。</a:t>
            </a:r>
            <a:endParaRPr lang="en-US" sz="950" dirty="0"/>
          </a:p>
        </p:txBody>
      </p:sp>
      <p:sp>
        <p:nvSpPr>
          <p:cNvPr id="16" name="Shape 14"/>
          <p:cNvSpPr/>
          <p:nvPr/>
        </p:nvSpPr>
        <p:spPr>
          <a:xfrm>
            <a:off x="5096134" y="1572768"/>
            <a:ext cx="1999427" cy="2834640"/>
          </a:xfrm>
          <a:prstGeom prst="roundRect">
            <a:avLst>
              <a:gd name="adj" fmla="val 2058"/>
            </a:avLst>
          </a:prstGeom>
          <a:solidFill>
            <a:srgbClr val="171614"/>
          </a:solidFill>
          <a:ln w="9525">
            <a:solidFill>
              <a:srgbClr val="2E2A24"/>
            </a:solidFill>
            <a:prstDash val="solid"/>
          </a:ln>
        </p:spPr>
      </p:sp>
      <p:sp>
        <p:nvSpPr>
          <p:cNvPr id="17" name="Shape 15"/>
          <p:cNvSpPr/>
          <p:nvPr/>
        </p:nvSpPr>
        <p:spPr>
          <a:xfrm>
            <a:off x="5315590" y="1792224"/>
            <a:ext cx="365760" cy="365760"/>
          </a:xfrm>
          <a:prstGeom prst="ellipse">
            <a:avLst/>
          </a:prstGeom>
          <a:solidFill>
            <a:srgbClr val="0C0C0C"/>
          </a:solidFill>
          <a:ln w="11430">
            <a:solidFill>
              <a:srgbClr val="A78450"/>
            </a:solidFill>
            <a:prstDash val="solid"/>
          </a:ln>
        </p:spPr>
      </p:sp>
      <p:sp>
        <p:nvSpPr>
          <p:cNvPr id="18" name="Text 16"/>
          <p:cNvSpPr/>
          <p:nvPr/>
        </p:nvSpPr>
        <p:spPr>
          <a:xfrm>
            <a:off x="5315590"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03</a:t>
            </a:r>
            <a:endParaRPr lang="en-US" sz="1200" dirty="0"/>
          </a:p>
        </p:txBody>
      </p:sp>
      <p:sp>
        <p:nvSpPr>
          <p:cNvPr id="19" name="Text 17"/>
          <p:cNvSpPr/>
          <p:nvPr/>
        </p:nvSpPr>
        <p:spPr>
          <a:xfrm>
            <a:off x="5315590"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調達枠の確保と実証</a:t>
            </a:r>
            <a:endParaRPr lang="en-US" sz="1200" dirty="0"/>
          </a:p>
        </p:txBody>
      </p:sp>
      <p:sp>
        <p:nvSpPr>
          <p:cNvPr id="20" name="Text 18"/>
          <p:cNvSpPr/>
          <p:nvPr/>
        </p:nvSpPr>
        <p:spPr>
          <a:xfrm>
            <a:off x="5315590"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インポーター・酒販店との年間調達枠を締結し、小規模ロットで回転期間とチャネル別手数料の実証を行う。</a:t>
            </a:r>
            <a:endParaRPr lang="en-US" sz="950" dirty="0"/>
          </a:p>
        </p:txBody>
      </p:sp>
      <p:sp>
        <p:nvSpPr>
          <p:cNvPr id="21" name="Shape 19"/>
          <p:cNvSpPr/>
          <p:nvPr/>
        </p:nvSpPr>
        <p:spPr>
          <a:xfrm>
            <a:off x="7315017" y="1572768"/>
            <a:ext cx="1999427" cy="2834640"/>
          </a:xfrm>
          <a:prstGeom prst="roundRect">
            <a:avLst>
              <a:gd name="adj" fmla="val 2058"/>
            </a:avLst>
          </a:prstGeom>
          <a:solidFill>
            <a:srgbClr val="171614"/>
          </a:solidFill>
          <a:ln w="9525">
            <a:solidFill>
              <a:srgbClr val="2E2A24"/>
            </a:solidFill>
            <a:prstDash val="solid"/>
          </a:ln>
        </p:spPr>
      </p:sp>
      <p:sp>
        <p:nvSpPr>
          <p:cNvPr id="22" name="Shape 20"/>
          <p:cNvSpPr/>
          <p:nvPr/>
        </p:nvSpPr>
        <p:spPr>
          <a:xfrm>
            <a:off x="7534473" y="1792224"/>
            <a:ext cx="365760" cy="365760"/>
          </a:xfrm>
          <a:prstGeom prst="ellipse">
            <a:avLst/>
          </a:prstGeom>
          <a:solidFill>
            <a:srgbClr val="0C0C0C"/>
          </a:solidFill>
          <a:ln w="11430">
            <a:solidFill>
              <a:srgbClr val="A78450"/>
            </a:solidFill>
            <a:prstDash val="solid"/>
          </a:ln>
        </p:spPr>
      </p:sp>
      <p:sp>
        <p:nvSpPr>
          <p:cNvPr id="23" name="Text 21"/>
          <p:cNvSpPr/>
          <p:nvPr/>
        </p:nvSpPr>
        <p:spPr>
          <a:xfrm>
            <a:off x="7534473"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04</a:t>
            </a:r>
            <a:endParaRPr lang="en-US" sz="1200" dirty="0"/>
          </a:p>
        </p:txBody>
      </p:sp>
      <p:sp>
        <p:nvSpPr>
          <p:cNvPr id="24" name="Text 22"/>
          <p:cNvSpPr/>
          <p:nvPr/>
        </p:nvSpPr>
        <p:spPr>
          <a:xfrm>
            <a:off x="7534473"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スキーム組成</a:t>
            </a:r>
            <a:endParaRPr lang="en-US" sz="1200" dirty="0"/>
          </a:p>
        </p:txBody>
      </p:sp>
      <p:sp>
        <p:nvSpPr>
          <p:cNvPr id="25" name="Text 23"/>
          <p:cNvSpPr/>
          <p:nvPr/>
        </p:nvSpPr>
        <p:spPr>
          <a:xfrm>
            <a:off x="7534473"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GK-TKの組成、契約書一式（匿名組合契約・業務委託契約・売買基本契約）の作成。5年満期・3年ロックアップを織り込む。</a:t>
            </a:r>
            <a:endParaRPr lang="en-US" sz="950" dirty="0"/>
          </a:p>
        </p:txBody>
      </p:sp>
      <p:sp>
        <p:nvSpPr>
          <p:cNvPr id="26" name="Shape 24"/>
          <p:cNvSpPr/>
          <p:nvPr/>
        </p:nvSpPr>
        <p:spPr>
          <a:xfrm>
            <a:off x="9533900" y="1572768"/>
            <a:ext cx="1999427" cy="2834640"/>
          </a:xfrm>
          <a:prstGeom prst="roundRect">
            <a:avLst>
              <a:gd name="adj" fmla="val 2058"/>
            </a:avLst>
          </a:prstGeom>
          <a:solidFill>
            <a:srgbClr val="171614"/>
          </a:solidFill>
          <a:ln w="9525">
            <a:solidFill>
              <a:srgbClr val="2E2A24"/>
            </a:solidFill>
            <a:prstDash val="solid"/>
          </a:ln>
        </p:spPr>
      </p:sp>
      <p:sp>
        <p:nvSpPr>
          <p:cNvPr id="27" name="Shape 25"/>
          <p:cNvSpPr/>
          <p:nvPr/>
        </p:nvSpPr>
        <p:spPr>
          <a:xfrm>
            <a:off x="9753356" y="1792224"/>
            <a:ext cx="365760" cy="365760"/>
          </a:xfrm>
          <a:prstGeom prst="ellipse">
            <a:avLst/>
          </a:prstGeom>
          <a:solidFill>
            <a:srgbClr val="0C0C0C"/>
          </a:solidFill>
          <a:ln w="11430">
            <a:solidFill>
              <a:srgbClr val="A78450"/>
            </a:solidFill>
            <a:prstDash val="solid"/>
          </a:ln>
        </p:spPr>
      </p:sp>
      <p:sp>
        <p:nvSpPr>
          <p:cNvPr id="28" name="Text 26"/>
          <p:cNvSpPr/>
          <p:nvPr/>
        </p:nvSpPr>
        <p:spPr>
          <a:xfrm>
            <a:off x="9753356"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05</a:t>
            </a:r>
            <a:endParaRPr lang="en-US" sz="1200" dirty="0"/>
          </a:p>
        </p:txBody>
      </p:sp>
      <p:sp>
        <p:nvSpPr>
          <p:cNvPr id="29" name="Text 27"/>
          <p:cNvSpPr/>
          <p:nvPr/>
        </p:nvSpPr>
        <p:spPr>
          <a:xfrm>
            <a:off x="9753356"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投資実行</a:t>
            </a:r>
            <a:endParaRPr lang="en-US" sz="1200" dirty="0"/>
          </a:p>
        </p:txBody>
      </p:sp>
      <p:sp>
        <p:nvSpPr>
          <p:cNvPr id="30" name="Text 28"/>
          <p:cNvSpPr/>
          <p:nvPr/>
        </p:nvSpPr>
        <p:spPr>
          <a:xfrm>
            <a:off x="9753356"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半期の受入日に合わせて着金、運用開始。四半期ごとに在庫明細・簿価・売上を報告する。</a:t>
            </a:r>
            <a:endParaRPr lang="en-US" sz="950" dirty="0"/>
          </a:p>
        </p:txBody>
      </p:sp>
      <p:sp>
        <p:nvSpPr>
          <p:cNvPr id="31" name="Shape 29"/>
          <p:cNvSpPr/>
          <p:nvPr/>
        </p:nvSpPr>
        <p:spPr>
          <a:xfrm>
            <a:off x="658368" y="4608576"/>
            <a:ext cx="10874959" cy="969264"/>
          </a:xfrm>
          <a:prstGeom prst="roundRect">
            <a:avLst>
              <a:gd name="adj" fmla="val 4245"/>
            </a:avLst>
          </a:prstGeom>
          <a:solidFill>
            <a:srgbClr val="171614"/>
          </a:solidFill>
          <a:ln w="9525">
            <a:solidFill>
              <a:srgbClr val="2E2A24"/>
            </a:solidFill>
            <a:prstDash val="solid"/>
          </a:ln>
        </p:spPr>
      </p:sp>
      <p:sp>
        <p:nvSpPr>
          <p:cNvPr id="32" name="Text 30"/>
          <p:cNvSpPr/>
          <p:nvPr/>
        </p:nvSpPr>
        <p:spPr>
          <a:xfrm>
            <a:off x="932688" y="4754880"/>
            <a:ext cx="10326319" cy="676656"/>
          </a:xfrm>
          <a:prstGeom prst="rect">
            <a:avLst/>
          </a:prstGeom>
          <a:noFill/>
          <a:ln/>
        </p:spPr>
        <p:txBody>
          <a:bodyPr wrap="square" lIns="0" tIns="0" rIns="0" bIns="0" rtlCol="0" anchor="ctr"/>
          <a:lstStyle/>
          <a:p>
            <a:pPr indent="0" marL="0">
              <a:lnSpc>
                <a:spcPct val="124000"/>
              </a:lnSpc>
              <a:buNone/>
            </a:pPr>
            <a:r>
              <a:rPr lang="en-US" sz="1000" dirty="0">
                <a:solidFill>
                  <a:srgbClr val="9A938A"/>
                </a:solidFill>
                <a:latin typeface="Yu Gothic" pitchFamily="34" charset="0"/>
                <a:ea typeface="Yu Gothic" pitchFamily="34" charset="-122"/>
                <a:cs typeface="Yu Gothic" pitchFamily="34" charset="-120"/>
              </a:rPr>
              <a:t>本資料の数値は一定の前提に基づく試算であり、将来の運用成果を保証するものではありません。最終的な条件は契約書に基づきます。免許・税務の取扱いは、所轄官庁および専門家の確認を経て確定します。</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CONCLUSION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まとめ：本ファンドに出資いただく意義</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21</a:t>
            </a:r>
            <a:endParaRPr lang="en-US" sz="950" dirty="0"/>
          </a:p>
        </p:txBody>
      </p:sp>
      <p:sp>
        <p:nvSpPr>
          <p:cNvPr id="6" name="Shape 4"/>
          <p:cNvSpPr/>
          <p:nvPr/>
        </p:nvSpPr>
        <p:spPr>
          <a:xfrm>
            <a:off x="658368" y="1572768"/>
            <a:ext cx="6537960" cy="749808"/>
          </a:xfrm>
          <a:prstGeom prst="roundRect">
            <a:avLst>
              <a:gd name="adj" fmla="val 5488"/>
            </a:avLst>
          </a:prstGeom>
          <a:solidFill>
            <a:srgbClr val="171614"/>
          </a:solidFill>
          <a:ln w="9525">
            <a:solidFill>
              <a:srgbClr val="2E2A24"/>
            </a:solidFill>
            <a:prstDash val="solid"/>
          </a:ln>
        </p:spPr>
      </p:sp>
      <p:sp>
        <p:nvSpPr>
          <p:cNvPr id="7" name="Shape 5"/>
          <p:cNvSpPr/>
          <p:nvPr/>
        </p:nvSpPr>
        <p:spPr>
          <a:xfrm>
            <a:off x="877824" y="1792224"/>
            <a:ext cx="310896" cy="310896"/>
          </a:xfrm>
          <a:prstGeom prst="ellipse">
            <a:avLst/>
          </a:prstGeom>
          <a:solidFill>
            <a:srgbClr val="0C0C0C"/>
          </a:solidFill>
          <a:ln w="11430">
            <a:solidFill>
              <a:srgbClr val="A78450"/>
            </a:solidFill>
            <a:prstDash val="solid"/>
          </a:ln>
        </p:spPr>
      </p:sp>
      <p:sp>
        <p:nvSpPr>
          <p:cNvPr id="8" name="Text 6"/>
          <p:cNvSpPr/>
          <p:nvPr/>
        </p:nvSpPr>
        <p:spPr>
          <a:xfrm>
            <a:off x="877824" y="179222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9" name="Text 7"/>
          <p:cNvSpPr/>
          <p:nvPr/>
        </p:nvSpPr>
        <p:spPr>
          <a:xfrm>
            <a:off x="1280160" y="1682496"/>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現物が元本を裏付ける</a:t>
            </a:r>
            <a:endParaRPr lang="en-US" sz="1150" dirty="0"/>
          </a:p>
        </p:txBody>
      </p:sp>
      <p:sp>
        <p:nvSpPr>
          <p:cNvPr id="10" name="Text 8"/>
          <p:cNvSpPr/>
          <p:nvPr/>
        </p:nvSpPr>
        <p:spPr>
          <a:xfrm>
            <a:off x="1280160" y="192024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出資金の95%が常にワイン現物として存在する。SPC名義で保有し倒産隔離。保有している限り値上がりも取り込める。</a:t>
            </a:r>
            <a:endParaRPr lang="en-US" sz="900" dirty="0"/>
          </a:p>
        </p:txBody>
      </p:sp>
      <p:sp>
        <p:nvSpPr>
          <p:cNvPr id="11" name="Shape 9"/>
          <p:cNvSpPr/>
          <p:nvPr/>
        </p:nvSpPr>
        <p:spPr>
          <a:xfrm>
            <a:off x="658368" y="2395728"/>
            <a:ext cx="6537960" cy="749808"/>
          </a:xfrm>
          <a:prstGeom prst="roundRect">
            <a:avLst>
              <a:gd name="adj" fmla="val 5488"/>
            </a:avLst>
          </a:prstGeom>
          <a:solidFill>
            <a:srgbClr val="171614"/>
          </a:solidFill>
          <a:ln w="9525">
            <a:solidFill>
              <a:srgbClr val="2E2A24"/>
            </a:solidFill>
            <a:prstDash val="solid"/>
          </a:ln>
        </p:spPr>
      </p:sp>
      <p:sp>
        <p:nvSpPr>
          <p:cNvPr id="12" name="Shape 10"/>
          <p:cNvSpPr/>
          <p:nvPr/>
        </p:nvSpPr>
        <p:spPr>
          <a:xfrm>
            <a:off x="877824" y="2615184"/>
            <a:ext cx="310896" cy="310896"/>
          </a:xfrm>
          <a:prstGeom prst="ellipse">
            <a:avLst/>
          </a:prstGeom>
          <a:solidFill>
            <a:srgbClr val="0C0C0C"/>
          </a:solidFill>
          <a:ln w="11430">
            <a:solidFill>
              <a:srgbClr val="A78450"/>
            </a:solidFill>
            <a:prstDash val="solid"/>
          </a:ln>
        </p:spPr>
      </p:sp>
      <p:sp>
        <p:nvSpPr>
          <p:cNvPr id="13" name="Text 11"/>
          <p:cNvSpPr/>
          <p:nvPr/>
        </p:nvSpPr>
        <p:spPr>
          <a:xfrm>
            <a:off x="877824" y="261518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4" name="Text 12"/>
          <p:cNvSpPr/>
          <p:nvPr/>
        </p:nvSpPr>
        <p:spPr>
          <a:xfrm>
            <a:off x="1280160" y="2505456"/>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収益が二階建てで、片方が崩れても成立する</a:t>
            </a:r>
            <a:endParaRPr lang="en-US" sz="1150" dirty="0"/>
          </a:p>
        </p:txBody>
      </p:sp>
      <p:sp>
        <p:nvSpPr>
          <p:cNvPr id="15" name="Text 13"/>
          <p:cNvSpPr/>
          <p:nvPr/>
        </p:nvSpPr>
        <p:spPr>
          <a:xfrm>
            <a:off x="1280160" y="274320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流通価格差（回転に対するリターン）とワインの値上がり（在庫に対するリターン）。価格が横ばいでも投資家利回り28.4%、回転が18ヶ月に延びても24.8%を確保する。</a:t>
            </a:r>
            <a:endParaRPr lang="en-US" sz="900" dirty="0"/>
          </a:p>
        </p:txBody>
      </p:sp>
      <p:sp>
        <p:nvSpPr>
          <p:cNvPr id="16" name="Shape 14"/>
          <p:cNvSpPr/>
          <p:nvPr/>
        </p:nvSpPr>
        <p:spPr>
          <a:xfrm>
            <a:off x="658368" y="3218688"/>
            <a:ext cx="6537960" cy="749808"/>
          </a:xfrm>
          <a:prstGeom prst="roundRect">
            <a:avLst>
              <a:gd name="adj" fmla="val 5488"/>
            </a:avLst>
          </a:prstGeom>
          <a:solidFill>
            <a:srgbClr val="171614"/>
          </a:solidFill>
          <a:ln w="9525">
            <a:solidFill>
              <a:srgbClr val="2E2A24"/>
            </a:solidFill>
            <a:prstDash val="solid"/>
          </a:ln>
        </p:spPr>
      </p:sp>
      <p:sp>
        <p:nvSpPr>
          <p:cNvPr id="17" name="Shape 15"/>
          <p:cNvSpPr/>
          <p:nvPr/>
        </p:nvSpPr>
        <p:spPr>
          <a:xfrm>
            <a:off x="877824" y="3438144"/>
            <a:ext cx="310896" cy="310896"/>
          </a:xfrm>
          <a:prstGeom prst="ellipse">
            <a:avLst/>
          </a:prstGeom>
          <a:solidFill>
            <a:srgbClr val="0C0C0C"/>
          </a:solidFill>
          <a:ln w="11430">
            <a:solidFill>
              <a:srgbClr val="A78450"/>
            </a:solidFill>
            <a:prstDash val="solid"/>
          </a:ln>
        </p:spPr>
      </p:sp>
      <p:sp>
        <p:nvSpPr>
          <p:cNvPr id="18" name="Text 16"/>
          <p:cNvSpPr/>
          <p:nvPr/>
        </p:nvSpPr>
        <p:spPr>
          <a:xfrm>
            <a:off x="877824" y="343814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19" name="Text 17"/>
          <p:cNvSpPr/>
          <p:nvPr/>
        </p:nvSpPr>
        <p:spPr>
          <a:xfrm>
            <a:off x="1280160" y="3328416"/>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他社が再現できない調達力</a:t>
            </a:r>
            <a:endParaRPr lang="en-US" sz="1150" dirty="0"/>
          </a:p>
        </p:txBody>
      </p:sp>
      <p:sp>
        <p:nvSpPr>
          <p:cNvPr id="20" name="Text 18"/>
          <p:cNvSpPr/>
          <p:nvPr/>
        </p:nvSpPr>
        <p:spPr>
          <a:xfrm>
            <a:off x="1280160" y="356616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創業55年の酒販免許、大手インポーターとの直接取引、輸出入ライセンス。新規参入業者が正規品を同じ価格で大量に仕入れることはできない。</a:t>
            </a:r>
            <a:endParaRPr lang="en-US" sz="900" dirty="0"/>
          </a:p>
        </p:txBody>
      </p:sp>
      <p:sp>
        <p:nvSpPr>
          <p:cNvPr id="21" name="Shape 19"/>
          <p:cNvSpPr/>
          <p:nvPr/>
        </p:nvSpPr>
        <p:spPr>
          <a:xfrm>
            <a:off x="658368" y="4041648"/>
            <a:ext cx="6537960" cy="749808"/>
          </a:xfrm>
          <a:prstGeom prst="roundRect">
            <a:avLst>
              <a:gd name="adj" fmla="val 5488"/>
            </a:avLst>
          </a:prstGeom>
          <a:solidFill>
            <a:srgbClr val="171614"/>
          </a:solidFill>
          <a:ln w="9525">
            <a:solidFill>
              <a:srgbClr val="2E2A24"/>
            </a:solidFill>
            <a:prstDash val="solid"/>
          </a:ln>
        </p:spPr>
      </p:sp>
      <p:sp>
        <p:nvSpPr>
          <p:cNvPr id="22" name="Shape 20"/>
          <p:cNvSpPr/>
          <p:nvPr/>
        </p:nvSpPr>
        <p:spPr>
          <a:xfrm>
            <a:off x="877824" y="4261104"/>
            <a:ext cx="310896" cy="310896"/>
          </a:xfrm>
          <a:prstGeom prst="ellipse">
            <a:avLst/>
          </a:prstGeom>
          <a:solidFill>
            <a:srgbClr val="0C0C0C"/>
          </a:solidFill>
          <a:ln w="11430">
            <a:solidFill>
              <a:srgbClr val="A78450"/>
            </a:solidFill>
            <a:prstDash val="solid"/>
          </a:ln>
        </p:spPr>
      </p:sp>
      <p:sp>
        <p:nvSpPr>
          <p:cNvPr id="23" name="Text 21"/>
          <p:cNvSpPr/>
          <p:nvPr/>
        </p:nvSpPr>
        <p:spPr>
          <a:xfrm>
            <a:off x="877824" y="426110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24" name="Text 22"/>
          <p:cNvSpPr/>
          <p:nvPr/>
        </p:nvSpPr>
        <p:spPr>
          <a:xfrm>
            <a:off x="1280160" y="4151376"/>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出口をB2B・B2Cの両輪で持っている</a:t>
            </a:r>
            <a:endParaRPr lang="en-US" sz="1150" dirty="0"/>
          </a:p>
        </p:txBody>
      </p:sp>
      <p:sp>
        <p:nvSpPr>
          <p:cNvPr id="25" name="Text 23"/>
          <p:cNvSpPr/>
          <p:nvPr/>
        </p:nvSpPr>
        <p:spPr>
          <a:xfrm>
            <a:off x="1280160" y="438912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酒販店卸（B2B）に加え、自社EC・オークション・CLUB会員・グループのアピシウス（B2C）。手取りの高いチャネルを選べる構造。</a:t>
            </a:r>
            <a:endParaRPr lang="en-US" sz="900" dirty="0"/>
          </a:p>
        </p:txBody>
      </p:sp>
      <p:sp>
        <p:nvSpPr>
          <p:cNvPr id="26" name="Shape 24"/>
          <p:cNvSpPr/>
          <p:nvPr/>
        </p:nvSpPr>
        <p:spPr>
          <a:xfrm>
            <a:off x="658368" y="4864608"/>
            <a:ext cx="6537960" cy="749808"/>
          </a:xfrm>
          <a:prstGeom prst="roundRect">
            <a:avLst>
              <a:gd name="adj" fmla="val 5488"/>
            </a:avLst>
          </a:prstGeom>
          <a:solidFill>
            <a:srgbClr val="1F1D19"/>
          </a:solidFill>
          <a:ln w="9525">
            <a:solidFill>
              <a:srgbClr val="6E5730"/>
            </a:solidFill>
            <a:prstDash val="solid"/>
          </a:ln>
        </p:spPr>
      </p:sp>
      <p:sp>
        <p:nvSpPr>
          <p:cNvPr id="27" name="Shape 25"/>
          <p:cNvSpPr/>
          <p:nvPr/>
        </p:nvSpPr>
        <p:spPr>
          <a:xfrm>
            <a:off x="877824" y="5084064"/>
            <a:ext cx="310896" cy="310896"/>
          </a:xfrm>
          <a:prstGeom prst="ellipse">
            <a:avLst/>
          </a:prstGeom>
          <a:solidFill>
            <a:srgbClr val="0C0C0C"/>
          </a:solidFill>
          <a:ln w="11430">
            <a:solidFill>
              <a:srgbClr val="A78450"/>
            </a:solidFill>
            <a:prstDash val="solid"/>
          </a:ln>
        </p:spPr>
      </p:sp>
      <p:sp>
        <p:nvSpPr>
          <p:cNvPr id="28" name="Text 26"/>
          <p:cNvSpPr/>
          <p:nvPr/>
        </p:nvSpPr>
        <p:spPr>
          <a:xfrm>
            <a:off x="877824" y="508406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05</a:t>
            </a:r>
            <a:endParaRPr lang="en-US" sz="1100" dirty="0"/>
          </a:p>
        </p:txBody>
      </p:sp>
      <p:sp>
        <p:nvSpPr>
          <p:cNvPr id="29" name="Text 27"/>
          <p:cNvSpPr/>
          <p:nvPr/>
        </p:nvSpPr>
        <p:spPr>
          <a:xfrm>
            <a:off x="1280160" y="4974336"/>
            <a:ext cx="5678424"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運営者と利害が完全に一致している</a:t>
            </a:r>
            <a:endParaRPr lang="en-US" sz="1150" dirty="0"/>
          </a:p>
        </p:txBody>
      </p:sp>
      <p:sp>
        <p:nvSpPr>
          <p:cNvPr id="30" name="Text 28"/>
          <p:cNvSpPr/>
          <p:nvPr/>
        </p:nvSpPr>
        <p:spPr>
          <a:xfrm>
            <a:off x="1280160" y="521208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期中報酬も成功報酬も取らず、報酬はSPC税前利益の折半に一本化されている。加えてデット2億円の金利と保証責任もWineBankが負担する。投資家が儲からなければWineBankも儲からない。</a:t>
            </a:r>
            <a:endParaRPr lang="en-US" sz="900" dirty="0"/>
          </a:p>
        </p:txBody>
      </p:sp>
      <p:sp>
        <p:nvSpPr>
          <p:cNvPr id="31" name="Shape 29"/>
          <p:cNvSpPr/>
          <p:nvPr/>
        </p:nvSpPr>
        <p:spPr>
          <a:xfrm>
            <a:off x="7470648" y="1572768"/>
            <a:ext cx="4062679" cy="4041648"/>
          </a:xfrm>
          <a:prstGeom prst="roundRect">
            <a:avLst>
              <a:gd name="adj" fmla="val 1018"/>
            </a:avLst>
          </a:prstGeom>
          <a:solidFill>
            <a:srgbClr val="1F1D19"/>
          </a:solidFill>
          <a:ln w="9525">
            <a:solidFill>
              <a:srgbClr val="6E5730"/>
            </a:solidFill>
            <a:prstDash val="solid"/>
          </a:ln>
        </p:spPr>
      </p:sp>
      <p:sp>
        <p:nvSpPr>
          <p:cNvPr id="32" name="Text 30"/>
          <p:cNvSpPr/>
          <p:nvPr/>
        </p:nvSpPr>
        <p:spPr>
          <a:xfrm>
            <a:off x="7726680" y="1755648"/>
            <a:ext cx="3550615"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貴社の投資基準との照合</a:t>
            </a:r>
            <a:endParaRPr lang="en-US" sz="1250" dirty="0"/>
          </a:p>
        </p:txBody>
      </p:sp>
      <p:sp>
        <p:nvSpPr>
          <p:cNvPr id="33" name="Shape 31"/>
          <p:cNvSpPr/>
          <p:nvPr/>
        </p:nvSpPr>
        <p:spPr>
          <a:xfrm>
            <a:off x="7726680" y="2180844"/>
            <a:ext cx="137160" cy="137160"/>
          </a:xfrm>
          <a:prstGeom prst="ellipse">
            <a:avLst/>
          </a:prstGeom>
          <a:solidFill>
            <a:srgbClr val="A78450"/>
          </a:solidFill>
          <a:ln w="11430">
            <a:solidFill>
              <a:srgbClr val="A78450"/>
            </a:solidFill>
            <a:prstDash val="solid"/>
          </a:ln>
        </p:spPr>
      </p:sp>
      <p:sp>
        <p:nvSpPr>
          <p:cNvPr id="34" name="Text 32"/>
          <p:cNvSpPr/>
          <p:nvPr/>
        </p:nvSpPr>
        <p:spPr>
          <a:xfrm>
            <a:off x="7726680" y="2180844"/>
            <a:ext cx="137160" cy="137160"/>
          </a:xfrm>
          <a:prstGeom prst="rect">
            <a:avLst/>
          </a:prstGeom>
          <a:noFill/>
          <a:ln/>
        </p:spPr>
        <p:txBody>
          <a:bodyPr wrap="square" lIns="0" tIns="0" rIns="0" bIns="0" rtlCol="0" anchor="ctr"/>
          <a:lstStyle/>
          <a:p>
            <a:pPr algn="ctr" indent="0" marL="0">
              <a:buNone/>
            </a:pPr>
            <a:endParaRPr lang="en-US" sz="1100" dirty="0"/>
          </a:p>
        </p:txBody>
      </p:sp>
      <p:sp>
        <p:nvSpPr>
          <p:cNvPr id="35" name="Text 33"/>
          <p:cNvSpPr/>
          <p:nvPr/>
        </p:nvSpPr>
        <p:spPr>
          <a:xfrm>
            <a:off x="7964424" y="212140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想定利回り20%（実績）に対して</a:t>
            </a:r>
            <a:endParaRPr lang="en-US" sz="1050" dirty="0"/>
          </a:p>
        </p:txBody>
      </p:sp>
      <p:sp>
        <p:nvSpPr>
          <p:cNvPr id="36" name="Text 34"/>
          <p:cNvSpPr/>
          <p:nvPr/>
        </p:nvSpPr>
        <p:spPr>
          <a:xfrm>
            <a:off x="7964424" y="235000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在庫回転12ヶ月を主線とし、投資家利回り35.0%。想定レンジ9〜18ヶ月では24.8〜45.2%となり、いずれも貴社基準を上回る。</a:t>
            </a:r>
            <a:endParaRPr lang="en-US" sz="900" dirty="0"/>
          </a:p>
        </p:txBody>
      </p:sp>
      <p:sp>
        <p:nvSpPr>
          <p:cNvPr id="37" name="Text 35"/>
          <p:cNvSpPr/>
          <p:nvPr/>
        </p:nvSpPr>
        <p:spPr>
          <a:xfrm>
            <a:off x="7964424" y="274320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流動性の高い銘柄を組み入れることで回転12ヶ月を実現する。回転期間を運用KPIとして四半期報告する。</a:t>
            </a:r>
            <a:endParaRPr lang="en-US" sz="900" dirty="0"/>
          </a:p>
        </p:txBody>
      </p:sp>
      <p:sp>
        <p:nvSpPr>
          <p:cNvPr id="38" name="Shape 36"/>
          <p:cNvSpPr/>
          <p:nvPr/>
        </p:nvSpPr>
        <p:spPr>
          <a:xfrm>
            <a:off x="7726680" y="3369564"/>
            <a:ext cx="137160" cy="137160"/>
          </a:xfrm>
          <a:prstGeom prst="ellipse">
            <a:avLst/>
          </a:prstGeom>
          <a:solidFill>
            <a:srgbClr val="A78450"/>
          </a:solidFill>
          <a:ln w="11430">
            <a:solidFill>
              <a:srgbClr val="A78450"/>
            </a:solidFill>
            <a:prstDash val="solid"/>
          </a:ln>
        </p:spPr>
      </p:sp>
      <p:sp>
        <p:nvSpPr>
          <p:cNvPr id="39" name="Text 37"/>
          <p:cNvSpPr/>
          <p:nvPr/>
        </p:nvSpPr>
        <p:spPr>
          <a:xfrm>
            <a:off x="7726680" y="3369564"/>
            <a:ext cx="137160" cy="137160"/>
          </a:xfrm>
          <a:prstGeom prst="rect">
            <a:avLst/>
          </a:prstGeom>
          <a:noFill/>
          <a:ln/>
        </p:spPr>
        <p:txBody>
          <a:bodyPr wrap="square" lIns="0" tIns="0" rIns="0" bIns="0" rtlCol="0" anchor="ctr"/>
          <a:lstStyle/>
          <a:p>
            <a:pPr algn="ctr" indent="0" marL="0">
              <a:buNone/>
            </a:pPr>
            <a:endParaRPr lang="en-US" sz="1100" dirty="0"/>
          </a:p>
        </p:txBody>
      </p:sp>
      <p:sp>
        <p:nvSpPr>
          <p:cNvPr id="40" name="Text 38"/>
          <p:cNvSpPr/>
          <p:nvPr/>
        </p:nvSpPr>
        <p:spPr>
          <a:xfrm>
            <a:off x="7964424" y="331012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解約条件に対して</a:t>
            </a:r>
            <a:endParaRPr lang="en-US" sz="1050" dirty="0"/>
          </a:p>
        </p:txBody>
      </p:sp>
      <p:sp>
        <p:nvSpPr>
          <p:cNvPr id="41" name="Text 39"/>
          <p:cNvSpPr/>
          <p:nvPr/>
        </p:nvSpPr>
        <p:spPr>
          <a:xfrm>
            <a:off x="7964424" y="353872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運用期間5年・当初3年ロックアップ・4年目以降は年度ごとの解約。</a:t>
            </a:r>
            <a:endParaRPr lang="en-US" sz="900" dirty="0"/>
          </a:p>
        </p:txBody>
      </p:sp>
      <p:sp>
        <p:nvSpPr>
          <p:cNvPr id="42" name="Text 40"/>
          <p:cNvSpPr/>
          <p:nvPr/>
        </p:nvSpPr>
        <p:spPr>
          <a:xfrm>
            <a:off x="7964424" y="393192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この設計により現金保有を5%に抑え、総額の95%をワインに充当できる。半期解約を前提とすると稼働率が下がり35.0%→31.2%に低下する。</a:t>
            </a:r>
            <a:endParaRPr lang="en-US" sz="900" dirty="0"/>
          </a:p>
        </p:txBody>
      </p:sp>
      <p:sp>
        <p:nvSpPr>
          <p:cNvPr id="43" name="Shape 41"/>
          <p:cNvSpPr/>
          <p:nvPr/>
        </p:nvSpPr>
        <p:spPr>
          <a:xfrm>
            <a:off x="7726680" y="4558284"/>
            <a:ext cx="137160" cy="137160"/>
          </a:xfrm>
          <a:prstGeom prst="ellipse">
            <a:avLst/>
          </a:prstGeom>
          <a:solidFill>
            <a:srgbClr val="A78450"/>
          </a:solidFill>
          <a:ln w="11430">
            <a:solidFill>
              <a:srgbClr val="A78450"/>
            </a:solidFill>
            <a:prstDash val="solid"/>
          </a:ln>
        </p:spPr>
      </p:sp>
      <p:sp>
        <p:nvSpPr>
          <p:cNvPr id="44" name="Text 42"/>
          <p:cNvSpPr/>
          <p:nvPr/>
        </p:nvSpPr>
        <p:spPr>
          <a:xfrm>
            <a:off x="7726680" y="4558284"/>
            <a:ext cx="137160" cy="137160"/>
          </a:xfrm>
          <a:prstGeom prst="rect">
            <a:avLst/>
          </a:prstGeom>
          <a:noFill/>
          <a:ln/>
        </p:spPr>
        <p:txBody>
          <a:bodyPr wrap="square" lIns="0" tIns="0" rIns="0" bIns="0" rtlCol="0" anchor="ctr"/>
          <a:lstStyle/>
          <a:p>
            <a:pPr algn="ctr" indent="0" marL="0">
              <a:buNone/>
            </a:pPr>
            <a:endParaRPr lang="en-US" sz="1100" dirty="0"/>
          </a:p>
        </p:txBody>
      </p:sp>
      <p:sp>
        <p:nvSpPr>
          <p:cNvPr id="45" name="Text 43"/>
          <p:cNvSpPr/>
          <p:nvPr/>
        </p:nvSpPr>
        <p:spPr>
          <a:xfrm>
            <a:off x="7964424" y="449884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リスク分散に対して</a:t>
            </a:r>
            <a:endParaRPr lang="en-US" sz="1050" dirty="0"/>
          </a:p>
        </p:txBody>
      </p:sp>
      <p:sp>
        <p:nvSpPr>
          <p:cNvPr id="46" name="Text 44"/>
          <p:cNvSpPr/>
          <p:nvPr/>
        </p:nvSpPr>
        <p:spPr>
          <a:xfrm>
            <a:off x="7964424" y="472744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伝統的資産と相関の低い実物資産。既存30億円のポートフォリオに対しエクイティ3億円は約10%。</a:t>
            </a:r>
            <a:endParaRPr lang="en-US" sz="900" dirty="0"/>
          </a:p>
        </p:txBody>
      </p:sp>
      <p:sp>
        <p:nvSpPr>
          <p:cNvPr id="47" name="Text 45"/>
          <p:cNvSpPr/>
          <p:nvPr/>
        </p:nvSpPr>
        <p:spPr>
          <a:xfrm>
            <a:off x="7964424" y="512064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単一銘柄ではなく約3.8万本・複数産地への分散となり、ポートフォリオ内での分散効果が働く。</a:t>
            </a:r>
            <a:endParaRPr lang="en-US" sz="900" dirty="0"/>
          </a:p>
        </p:txBody>
      </p:sp>
      <p:sp>
        <p:nvSpPr>
          <p:cNvPr id="48" name="Shape 46"/>
          <p:cNvSpPr/>
          <p:nvPr/>
        </p:nvSpPr>
        <p:spPr>
          <a:xfrm>
            <a:off x="658368" y="5724144"/>
            <a:ext cx="10874959" cy="566928"/>
          </a:xfrm>
          <a:prstGeom prst="roundRect">
            <a:avLst>
              <a:gd name="adj" fmla="val 7258"/>
            </a:avLst>
          </a:prstGeom>
          <a:solidFill>
            <a:srgbClr val="171614"/>
          </a:solidFill>
          <a:ln w="9525">
            <a:solidFill>
              <a:srgbClr val="2E2A24"/>
            </a:solidFill>
            <a:prstDash val="solid"/>
          </a:ln>
        </p:spPr>
      </p:sp>
      <p:sp>
        <p:nvSpPr>
          <p:cNvPr id="49" name="Text 47"/>
          <p:cNvSpPr/>
          <p:nvPr/>
        </p:nvSpPr>
        <p:spPr>
          <a:xfrm>
            <a:off x="932688" y="5815584"/>
            <a:ext cx="10326319" cy="384048"/>
          </a:xfrm>
          <a:prstGeom prst="rect">
            <a:avLst/>
          </a:prstGeom>
          <a:noFill/>
          <a:ln/>
        </p:spPr>
        <p:txBody>
          <a:bodyPr wrap="square" lIns="0" tIns="0" rIns="0" bIns="0" rtlCol="0" anchor="ctr"/>
          <a:lstStyle/>
          <a:p>
            <a:pPr indent="0" marL="0">
              <a:lnSpc>
                <a:spcPct val="120000"/>
              </a:lnSpc>
              <a:buNone/>
            </a:pPr>
            <a:r>
              <a:rPr lang="en-US" sz="1050" dirty="0">
                <a:solidFill>
                  <a:srgbClr val="EFEBE3"/>
                </a:solidFill>
                <a:latin typeface="Yu Gothic" pitchFamily="34" charset="0"/>
                <a:ea typeface="Yu Gothic" pitchFamily="34" charset="-122"/>
                <a:cs typeface="Yu Gothic" pitchFamily="34" charset="-120"/>
              </a:rPr>
              <a:t>ワインは飲めば消える嗜好品ではなく、正規流通の価格差という再現性のある収益源です。その価格差を取りに行く実務を、55年分の免許と取引関係で担うのがWineBankです。本ファンドは、値上がりを待つ投資ではなく、この実務そのものに出資いただくご提案です。</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C0C0C"/>
        </a:solidFill>
      </p:bgPr>
    </p:bg>
    <p:spTree>
      <p:nvGrpSpPr>
        <p:cNvPr id="1" name=""/>
        <p:cNvGrpSpPr/>
        <p:nvPr/>
      </p:nvGrpSpPr>
      <p:grpSpPr>
        <a:xfrm>
          <a:off x="0" y="0"/>
          <a:ext cx="0" cy="0"/>
          <a:chOff x="0" y="0"/>
          <a:chExt cx="0" cy="0"/>
        </a:xfrm>
      </p:grpSpPr>
      <p:sp>
        <p:nvSpPr>
          <p:cNvPr id="2" name="Shape 0"/>
          <p:cNvSpPr/>
          <p:nvPr/>
        </p:nvSpPr>
        <p:spPr>
          <a:xfrm>
            <a:off x="-1463040" y="1417320"/>
            <a:ext cx="4023360" cy="4023360"/>
          </a:xfrm>
          <a:prstGeom prst="ellipse">
            <a:avLst/>
          </a:prstGeom>
          <a:solidFill>
            <a:srgbClr val="0C0C0C"/>
          </a:solidFill>
          <a:ln w="13970">
            <a:solidFill>
              <a:srgbClr val="1E1A15"/>
            </a:solidFill>
            <a:prstDash val="solid"/>
          </a:ln>
        </p:spPr>
      </p:sp>
      <p:sp>
        <p:nvSpPr>
          <p:cNvPr id="3" name="Shape 1"/>
          <p:cNvSpPr/>
          <p:nvPr/>
        </p:nvSpPr>
        <p:spPr>
          <a:xfrm>
            <a:off x="9966960" y="-1188720"/>
            <a:ext cx="4023360" cy="4023360"/>
          </a:xfrm>
          <a:prstGeom prst="ellipse">
            <a:avLst/>
          </a:prstGeom>
          <a:solidFill>
            <a:srgbClr val="0C0C0C"/>
          </a:solidFill>
          <a:ln w="11430">
            <a:solidFill>
              <a:srgbClr val="6E5730"/>
            </a:solidFill>
            <a:prstDash val="solid"/>
          </a:ln>
        </p:spPr>
      </p:sp>
      <p:sp>
        <p:nvSpPr>
          <p:cNvPr id="4" name="Text 2"/>
          <p:cNvSpPr/>
          <p:nvPr/>
        </p:nvSpPr>
        <p:spPr>
          <a:xfrm>
            <a:off x="658368" y="2487168"/>
            <a:ext cx="10874959" cy="694944"/>
          </a:xfrm>
          <a:prstGeom prst="rect">
            <a:avLst/>
          </a:prstGeom>
          <a:noFill/>
          <a:ln/>
        </p:spPr>
        <p:txBody>
          <a:bodyPr wrap="square" lIns="0" tIns="0" rIns="0" bIns="0" rtlCol="0" anchor="ctr"/>
          <a:lstStyle/>
          <a:p>
            <a:pPr algn="ctr" indent="0" marL="0">
              <a:buNone/>
            </a:pPr>
            <a:r>
              <a:rPr lang="en-US" sz="3400" b="1" dirty="0">
                <a:solidFill>
                  <a:srgbClr val="EFEBE3"/>
                </a:solidFill>
                <a:latin typeface="Yu Mincho" pitchFamily="34" charset="0"/>
                <a:ea typeface="Yu Mincho" pitchFamily="34" charset="-122"/>
                <a:cs typeface="Yu Mincho" pitchFamily="34" charset="-120"/>
              </a:rPr>
              <a:t>すべての人にファインワインを</a:t>
            </a:r>
            <a:endParaRPr lang="en-US" sz="3400" dirty="0"/>
          </a:p>
        </p:txBody>
      </p:sp>
      <p:sp>
        <p:nvSpPr>
          <p:cNvPr id="5" name="Text 3"/>
          <p:cNvSpPr/>
          <p:nvPr/>
        </p:nvSpPr>
        <p:spPr>
          <a:xfrm>
            <a:off x="658368" y="3255264"/>
            <a:ext cx="10874959" cy="310896"/>
          </a:xfrm>
          <a:prstGeom prst="rect">
            <a:avLst/>
          </a:prstGeom>
          <a:noFill/>
          <a:ln/>
        </p:spPr>
        <p:txBody>
          <a:bodyPr wrap="square" lIns="0" tIns="0" rIns="0" bIns="0" rtlCol="0" anchor="ctr"/>
          <a:lstStyle/>
          <a:p>
            <a:pPr algn="ctr" indent="0" marL="0">
              <a:buNone/>
            </a:pPr>
            <a:r>
              <a:rPr lang="en-US" sz="1300" b="1" spc="450" kern="0" dirty="0">
                <a:solidFill>
                  <a:srgbClr val="A78450"/>
                </a:solidFill>
                <a:latin typeface="Cambria" pitchFamily="34" charset="0"/>
                <a:ea typeface="Cambria" pitchFamily="34" charset="-122"/>
                <a:cs typeface="Cambria" pitchFamily="34" charset="-120"/>
              </a:rPr>
              <a:t>Wine × Technology</a:t>
            </a:r>
            <a:endParaRPr lang="en-US" sz="1300" dirty="0"/>
          </a:p>
        </p:txBody>
      </p:sp>
      <p:sp>
        <p:nvSpPr>
          <p:cNvPr id="6" name="Text 4"/>
          <p:cNvSpPr/>
          <p:nvPr/>
        </p:nvSpPr>
        <p:spPr>
          <a:xfrm>
            <a:off x="658368" y="4133088"/>
            <a:ext cx="10874959" cy="310896"/>
          </a:xfrm>
          <a:prstGeom prst="rect">
            <a:avLst/>
          </a:prstGeom>
          <a:noFill/>
          <a:ln/>
        </p:spPr>
        <p:txBody>
          <a:bodyPr wrap="square" lIns="0" tIns="0" rIns="0" bIns="0" rtlCol="0" anchor="ctr"/>
          <a:lstStyle/>
          <a:p>
            <a:pPr algn="ctr" indent="0" marL="0">
              <a:buNone/>
            </a:pPr>
            <a:r>
              <a:rPr lang="en-US" sz="1500" b="1" dirty="0">
                <a:solidFill>
                  <a:srgbClr val="C9A96E"/>
                </a:solidFill>
                <a:latin typeface="Yu Mincho" pitchFamily="34" charset="0"/>
                <a:ea typeface="Yu Mincho" pitchFamily="34" charset="-122"/>
                <a:cs typeface="Yu Mincho" pitchFamily="34" charset="-120"/>
              </a:rPr>
              <a:t>株式会社WineBank</a:t>
            </a:r>
            <a:endParaRPr lang="en-US" sz="1500" dirty="0"/>
          </a:p>
        </p:txBody>
      </p:sp>
      <p:sp>
        <p:nvSpPr>
          <p:cNvPr id="7" name="Text 5"/>
          <p:cNvSpPr/>
          <p:nvPr/>
        </p:nvSpPr>
        <p:spPr>
          <a:xfrm>
            <a:off x="658368" y="4462272"/>
            <a:ext cx="10874959" cy="256032"/>
          </a:xfrm>
          <a:prstGeom prst="rect">
            <a:avLst/>
          </a:prstGeom>
          <a:noFill/>
          <a:ln/>
        </p:spPr>
        <p:txBody>
          <a:bodyPr wrap="square" lIns="0" tIns="0" rIns="0" bIns="0" rtlCol="0" anchor="ctr"/>
          <a:lstStyle/>
          <a:p>
            <a:pPr algn="ctr" indent="0" marL="0">
              <a:buNone/>
            </a:pPr>
            <a:r>
              <a:rPr lang="en-US" sz="950" dirty="0">
                <a:solidFill>
                  <a:srgbClr val="6E675E"/>
                </a:solidFill>
                <a:latin typeface="Yu Gothic" pitchFamily="34" charset="0"/>
                <a:ea typeface="Yu Gothic" pitchFamily="34" charset="-122"/>
                <a:cs typeface="Yu Gothic" pitchFamily="34" charset="-120"/>
              </a:rPr>
              <a:t>創業1970年　／　東京都港区六本木4-12-8 第6DMJビル 2階</a:t>
            </a:r>
            <a:endParaRPr lang="en-US" sz="950" dirty="0"/>
          </a:p>
        </p:txBody>
      </p:sp>
      <p:sp>
        <p:nvSpPr>
          <p:cNvPr id="8" name="Text 6"/>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9" name="Text 7"/>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22</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株式会社WineBank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ワインファンド（SPC）組成のご提案</dc:title>
  <dc:subject>PptxGenJS Presentation</dc:subject>
  <dc:creator>株式会社WineBank</dc:creator>
  <cp:lastModifiedBy>株式会社WineBank</cp:lastModifiedBy>
  <cp:revision>1</cp:revision>
  <dcterms:created xsi:type="dcterms:W3CDTF">2026-08-14T07:31:31Z</dcterms:created>
  <dcterms:modified xsi:type="dcterms:W3CDTF">2026-08-14T07:31:31Z</dcterms:modified>
</cp:coreProperties>
</file>