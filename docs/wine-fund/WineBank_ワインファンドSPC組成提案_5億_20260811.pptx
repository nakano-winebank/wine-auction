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定常年間利回り（％）</a:t>
            </a:r>
          </a:p>
        </c:rich>
      </c:tx>
      <c:layout/>
      <c:overlay val="0"/>
    </c:title>
    <c:autoTitleDeleted val="0"/>
    <c:plotArea>
      <c:layout/>
      <c:barChart>
        <c:barDir val="col"/>
        <c:grouping val="clustered"/>
        <c:varyColors val="0"/>
        <c:ser>
          <c:idx val="0"/>
          <c:order val="0"/>
          <c:tx>
            <c:strRef>
              <c:f>Sheet1!$B$1</c:f>
              <c:strCache>
                <c:ptCount val="1"/>
                <c:pt idx="0">
                  <c:v>定常年間利回り（％）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23.3</c:v>
                </c:pt>
                <c:pt idx="1">
                  <c:v>17.1</c:v>
                </c:pt>
                <c:pt idx="2">
                  <c:v>13.4</c:v>
                </c:pt>
                <c:pt idx="3">
                  <c:v>11</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7"/>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年平均利回り（5年通算・％）</a:t>
            </a:r>
          </a:p>
        </c:rich>
      </c:tx>
      <c:layout/>
      <c:overlay val="0"/>
    </c:title>
    <c:autoTitleDeleted val="0"/>
    <c:plotArea>
      <c:layout/>
      <c:barChart>
        <c:barDir val="col"/>
        <c:grouping val="clustered"/>
        <c:varyColors val="0"/>
        <c:ser>
          <c:idx val="0"/>
          <c:order val="0"/>
          <c:tx>
            <c:strRef>
              <c:f>Sheet1!$B$1</c:f>
              <c:strCache>
                <c:ptCount val="1"/>
                <c:pt idx="0">
                  <c:v>年平均利回り（5年通算・％）</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20.9</c:v>
                </c:pt>
                <c:pt idx="1">
                  <c:v>13.7</c:v>
                </c:pt>
                <c:pt idx="2">
                  <c:v>10</c:v>
                </c:pt>
                <c:pt idx="3">
                  <c:v>9.8</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定常年間利回り（％）</a:t>
            </a:r>
          </a:p>
        </c:rich>
      </c:tx>
      <c:layout/>
      <c:overlay val="0"/>
    </c:title>
    <c:autoTitleDeleted val="0"/>
    <c:plotArea>
      <c:layout/>
      <c:barChart>
        <c:barDir val="col"/>
        <c:grouping val="clustered"/>
        <c:varyColors val="0"/>
        <c:ser>
          <c:idx val="0"/>
          <c:order val="0"/>
          <c:tx>
            <c:strRef>
              <c:f>Sheet1!$B$1</c:f>
              <c:strCache>
                <c:ptCount val="1"/>
                <c:pt idx="0">
                  <c:v>ポジティブ</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46.5</c:v>
                </c:pt>
                <c:pt idx="1">
                  <c:v>34.5</c:v>
                </c:pt>
                <c:pt idx="2">
                  <c:v>27.3</c:v>
                </c:pt>
                <c:pt idx="3">
                  <c:v>22.5</c:v>
                </c:pt>
              </c:numCache>
            </c:numRef>
          </c:val>
        </c:ser>
        <c:ser>
          <c:idx val="1"/>
          <c:order val="1"/>
          <c:tx>
            <c:strRef>
              <c:f>Sheet1!$C$1</c:f>
              <c:strCache>
                <c:ptCount val="1"/>
                <c:pt idx="0">
                  <c:v>ニュートラル（主線）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23.3</c:v>
                </c:pt>
                <c:pt idx="1">
                  <c:v>17.1</c:v>
                </c:pt>
                <c:pt idx="2">
                  <c:v>13.4</c:v>
                </c:pt>
                <c:pt idx="3">
                  <c:v>11</c:v>
                </c:pt>
              </c:numCache>
            </c:numRef>
          </c:val>
        </c:ser>
        <c:ser>
          <c:idx val="2"/>
          <c:order val="2"/>
          <c:tx>
            <c:strRef>
              <c:f>Sheet1!$D$1</c:f>
              <c:strCache>
                <c:ptCount val="1"/>
                <c:pt idx="0">
                  <c:v>ネガティブ</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18.9</c:v>
                </c:pt>
                <c:pt idx="1">
                  <c:v>13.8</c:v>
                </c:pt>
                <c:pt idx="2">
                  <c:v>10.8</c:v>
                </c:pt>
                <c:pt idx="3">
                  <c:v>8.8</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54"/>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5億円・運用期間5年のワインファンド組成提案。実物ワインの流通価格差を収益源とする現物裏付け型。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骨子。主線は回転9〜12ヶ月で定常年間利回り17.1〜23.3%、5年通算の年平均利回り13.7〜20.9%。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免許事業者であるWineBankが売買当事者。SPCは所有者として損益を受ける。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免許・口座・割当の3つの壁があるため、WineBankが当事者となる。1%は独立企業間価格の最小値。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会社紹介資料17ページの流通価格構造をそのまま採用。売値75は変動販売費控除前の数字である点に注意。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チャネル別の手取り比較。B2C 71.04 &gt; B2B 69.30。ただし回転を作るにはB2Bが必要。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粗利率26.2%は変動販売費控除後。売値ベースの見かけの粗利率33.3%と混同しないこと。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保管料は業務用パレット保管の水準。ロスは保険でカバーするため未計上。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主線のレンジは定常年間利回り17.1〜23.3%。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回転期間が一次的にリターンを決める。5年満期により18ヶ月回転でも3回転可能。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値引きは割に合わない。チャネル増加が本筋。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回転と調達構成が本丸。仕入価格の上昇は希望小売も連動するため中立。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免許・商流リスクと移転価格リスクを含む8項目。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運用期間5年・3年ロックアップ・年度解約。報告は四半期。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免許・税務の確定を第2ステップに置く。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意義は5点。先方基準20%に対しては回転10.4ヶ月が分岐点。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Text 4"/>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7" name="Text 5"/>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8" name="Text 6"/>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9" name="Text 7"/>
          <p:cNvSpPr/>
          <p:nvPr/>
        </p:nvSpPr>
        <p:spPr>
          <a:xfrm>
            <a:off x="658368" y="4133088"/>
            <a:ext cx="822960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投資枠 5億円 ／ 運用期間5年 ／ 半期分配 ／ SPC収益は投資家50：WineBank50</a:t>
            </a:r>
            <a:endParaRPr lang="en-US" sz="1250" dirty="0"/>
          </a:p>
        </p:txBody>
      </p:sp>
      <p:sp>
        <p:nvSpPr>
          <p:cNvPr id="10" name="Text 8"/>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1" name="Text 9"/>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2" name="Text 10"/>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3" name="Text 11"/>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投資受入枠</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SPC（GK-TK方式を想定）／運用期間5年・半期分配</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26.2</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想定粗利率（主線）</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手取り70.2・SPC取得原価50.5・単位粗利19.7</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17.1</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定常年間利回り</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回転12ヶ月・投資家取分ベースの実力値</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2400" b="1" dirty="0">
                <a:solidFill>
                  <a:srgbClr val="C9A96E"/>
                </a:solidFill>
                <a:latin typeface="Cambria" pitchFamily="34" charset="0"/>
                <a:ea typeface="Cambria" pitchFamily="34" charset="-122"/>
                <a:cs typeface="Cambria" pitchFamily="34" charset="-120"/>
              </a:rPr>
              <a:t>13.7–20.9</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24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年平均利回り（5年通算）</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回転12ヶ月〜9ヶ月／税引前</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リターンを決めるのは粗利率ではなく在庫回転期間。</a:t>
            </a:r>
            <a:endParaRPr lang="en-US" sz="1200" dirty="0"/>
          </a:p>
        </p:txBody>
      </p:sp>
      <p:sp>
        <p:nvSpPr>
          <p:cNvPr id="26" name="Text 24"/>
          <p:cNvSpPr/>
          <p:nvPr/>
        </p:nvSpPr>
        <p:spPr>
          <a:xfrm>
            <a:off x="1078992" y="3621024"/>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粗利率は前提として固定されるため、投資家リターンは「在庫を年に何回まわせるか」でほぼ決まる。回転9ヶ月で定常利回り23.3%、12ヶ月で17.1%。</a:t>
            </a:r>
            <a:endParaRPr lang="en-US" sz="1000" dirty="0"/>
          </a:p>
        </p:txBody>
      </p:sp>
      <p:sp>
        <p:nvSpPr>
          <p:cNvPr id="27" name="Shape 25"/>
          <p:cNvSpPr/>
          <p:nvPr/>
        </p:nvSpPr>
        <p:spPr>
          <a:xfrm>
            <a:off x="658368" y="4041648"/>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41648"/>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05072"/>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販売はB2B卸とB2Cネット販売の半々。手取りではB2Cが上回る。</a:t>
            </a:r>
            <a:endParaRPr lang="en-US" sz="1200" dirty="0"/>
          </a:p>
        </p:txBody>
      </p:sp>
      <p:sp>
        <p:nvSpPr>
          <p:cNvPr id="30" name="Text 28"/>
          <p:cNvSpPr/>
          <p:nvPr/>
        </p:nvSpPr>
        <p:spPr>
          <a:xfrm>
            <a:off x="1078992" y="4242816"/>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B2B（酒販店卸）は売値70で手数料が軽く手取り69.3。B2C（自社EC・オークション）は売値80だが手数料11.2%を負い手取り71.0。両者を半々で運用する。</a:t>
            </a:r>
            <a:endParaRPr lang="en-US" sz="1000" dirty="0"/>
          </a:p>
        </p:txBody>
      </p:sp>
      <p:sp>
        <p:nvSpPr>
          <p:cNvPr id="31" name="Shape 29"/>
          <p:cNvSpPr/>
          <p:nvPr/>
        </p:nvSpPr>
        <p:spPr>
          <a:xfrm>
            <a:off x="658368" y="4663440"/>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663440"/>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26864"/>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出資金の95%を現物ワインに充当する。</a:t>
            </a:r>
            <a:endParaRPr lang="en-US" sz="1200" dirty="0"/>
          </a:p>
        </p:txBody>
      </p:sp>
      <p:sp>
        <p:nvSpPr>
          <p:cNvPr id="34" name="Text 32"/>
          <p:cNvSpPr/>
          <p:nvPr/>
        </p:nvSpPr>
        <p:spPr>
          <a:xfrm>
            <a:off x="1078992" y="4864608"/>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当初3年間をロックアップとすることで現金保有を5%に抑えられる。値上がり益は一切リターンに算入せず、流通価格差のみを収益源とする保守設計。</a:t>
            </a:r>
            <a:endParaRPr lang="en-US" sz="1000" dirty="0"/>
          </a:p>
        </p:txBody>
      </p:sp>
      <p:sp>
        <p:nvSpPr>
          <p:cNvPr id="35" name="Shape 33"/>
          <p:cNvSpPr/>
          <p:nvPr/>
        </p:nvSpPr>
        <p:spPr>
          <a:xfrm>
            <a:off x="658368" y="5285232"/>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285232"/>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248656"/>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酒類の商流上、SPCは直接仕入・販売ができない。</a:t>
            </a:r>
            <a:endParaRPr lang="en-US" sz="1200" dirty="0"/>
          </a:p>
        </p:txBody>
      </p:sp>
      <p:sp>
        <p:nvSpPr>
          <p:cNvPr id="38" name="Text 36"/>
          <p:cNvSpPr/>
          <p:nvPr/>
        </p:nvSpPr>
        <p:spPr>
          <a:xfrm>
            <a:off x="1078992" y="5486400"/>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WineBankが免許事業者として調達し、現物をSPCへ譲渡する。独立企業間価格として1%を付加（5億なら実商品原価4.95億＋譲渡マージン500万円）。</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　5億円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半期ごとに税前利益の50%を受領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ワイン現物を所有・損益が帰属</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酒類販売業免許・取引口座を保有</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調達・譲渡・保管・販売を実行（GP）</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6E5730"/>
          </a:solidFill>
          <a:ln w="12700">
            <a:solidFill>
              <a:srgbClr val="6E573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40〜60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71614"/>
          </a:solidFill>
          <a:ln w="9525">
            <a:solidFill>
              <a:srgbClr val="2E2A24"/>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譲渡</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現物をSPCへ譲渡（酒類卸売）。独立企業間価格として1%を付加</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SPC取得原価 50.5</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SPCの税前利益を半期ごとに折半し分配。元本はSPC内で継続運用</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投資家50：WB50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GPとして実行を担い、報酬は「譲渡時1%」と「利益折半のGP取分」に限定。SPCに対する別途の管理報酬（期中報酬・成功報酬）は課さない。</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WineBankが免許事業者として仕入・販売の当事者となり、現物をSPCへ譲渡する。SPCは所有者として損益を受ける。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譲渡価格を同額にできない理由</a:t>
            </a:r>
            <a:endParaRPr lang="en-US" sz="1050" dirty="0"/>
          </a:p>
        </p:txBody>
      </p:sp>
      <p:sp>
        <p:nvSpPr>
          <p:cNvPr id="26" name="Text 24"/>
          <p:cNvSpPr/>
          <p:nvPr/>
        </p:nvSpPr>
        <p:spPr>
          <a:xfrm>
            <a:off x="9326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WineBankは在庫リスク・与信・入出庫事務を負って調達する。同額譲渡では対価なき役務提供となり、税務上も寄附金認定・移転価格の論点を招く。独立企業間価格として最小限の1%を付加する。</a:t>
            </a:r>
            <a:endParaRPr lang="en-US" sz="95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1%の金額イメージ</a:t>
            </a:r>
            <a:endParaRPr lang="en-US" sz="1050" dirty="0"/>
          </a:p>
        </p:txBody>
      </p:sp>
      <p:sp>
        <p:nvSpPr>
          <p:cNvPr id="28" name="Text 26"/>
          <p:cNvSpPr/>
          <p:nvPr/>
        </p:nvSpPr>
        <p:spPr>
          <a:xfrm>
            <a:off x="61872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SPC払込5億円 → 実商品原価4.95億円 ＋ 譲渡マージン500万円。回転12ヶ月・稼働率95%の定常状態では、年間のSPC仕入4.75億円に対しWineBankの譲渡マージンは年約470万円となる。</a:t>
            </a:r>
            <a:endParaRPr lang="en-US" sz="95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SPC自体の免許要否および委託・売買形態の切り分けは、所轄税務署（酒類指導官）および顧問弁護士との確認事項として、契約書ドラフト作成前に確定させる。</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同一商品が流通段階ごとに異なる価格で存在する。この価格差＝粗利をファンドが取り込む。</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719072"/>
            <a:ext cx="1984797" cy="1700784"/>
          </a:xfrm>
          <a:prstGeom prst="roundRect">
            <a:avLst>
              <a:gd name="adj" fmla="val 2419"/>
            </a:avLst>
          </a:prstGeom>
          <a:solidFill>
            <a:srgbClr val="1F1D19"/>
          </a:solidFill>
          <a:ln w="9525">
            <a:solidFill>
              <a:srgbClr val="6E5730"/>
            </a:solidFill>
            <a:prstDash val="solid"/>
          </a:ln>
        </p:spPr>
      </p:sp>
      <p:sp>
        <p:nvSpPr>
          <p:cNvPr id="8" name="Text 6"/>
          <p:cNvSpPr/>
          <p:nvPr/>
        </p:nvSpPr>
        <p:spPr>
          <a:xfrm>
            <a:off x="841248"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インポーター仕入</a:t>
            </a:r>
            <a:endParaRPr lang="en-US" sz="1050" dirty="0"/>
          </a:p>
        </p:txBody>
      </p:sp>
      <p:sp>
        <p:nvSpPr>
          <p:cNvPr id="9" name="Text 7"/>
          <p:cNvSpPr/>
          <p:nvPr/>
        </p:nvSpPr>
        <p:spPr>
          <a:xfrm>
            <a:off x="841248"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40</a:t>
            </a:r>
            <a:endParaRPr lang="en-US" sz="4000" dirty="0"/>
          </a:p>
        </p:txBody>
      </p:sp>
      <p:sp>
        <p:nvSpPr>
          <p:cNvPr id="10" name="Text 8"/>
          <p:cNvSpPr/>
          <p:nvPr/>
        </p:nvSpPr>
        <p:spPr>
          <a:xfrm>
            <a:off x="841248"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719072"/>
            <a:ext cx="1984797" cy="1700784"/>
          </a:xfrm>
          <a:prstGeom prst="roundRect">
            <a:avLst>
              <a:gd name="adj" fmla="val 2419"/>
            </a:avLst>
          </a:prstGeom>
          <a:solidFill>
            <a:srgbClr val="1F1D19"/>
          </a:solidFill>
          <a:ln w="9525">
            <a:solidFill>
              <a:srgbClr val="6E5730"/>
            </a:solidFill>
            <a:prstDash val="solid"/>
          </a:ln>
        </p:spPr>
      </p:sp>
      <p:sp>
        <p:nvSpPr>
          <p:cNvPr id="12" name="Text 10"/>
          <p:cNvSpPr/>
          <p:nvPr/>
        </p:nvSpPr>
        <p:spPr>
          <a:xfrm>
            <a:off x="306378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酒販店仕入</a:t>
            </a:r>
            <a:endParaRPr lang="en-US" sz="1050" dirty="0"/>
          </a:p>
        </p:txBody>
      </p:sp>
      <p:sp>
        <p:nvSpPr>
          <p:cNvPr id="13" name="Text 11"/>
          <p:cNvSpPr/>
          <p:nvPr/>
        </p:nvSpPr>
        <p:spPr>
          <a:xfrm>
            <a:off x="306378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60</a:t>
            </a:r>
            <a:endParaRPr lang="en-US" sz="4000" dirty="0"/>
          </a:p>
        </p:txBody>
      </p:sp>
      <p:sp>
        <p:nvSpPr>
          <p:cNvPr id="14" name="Text 12"/>
          <p:cNvSpPr/>
          <p:nvPr/>
        </p:nvSpPr>
        <p:spPr>
          <a:xfrm>
            <a:off x="306378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719072"/>
            <a:ext cx="1984797" cy="1700784"/>
          </a:xfrm>
          <a:prstGeom prst="roundRect">
            <a:avLst>
              <a:gd name="adj" fmla="val 2419"/>
            </a:avLst>
          </a:prstGeom>
          <a:solidFill>
            <a:srgbClr val="1F1D19"/>
          </a:solidFill>
          <a:ln w="9525">
            <a:solidFill>
              <a:srgbClr val="A78450"/>
            </a:solidFill>
            <a:prstDash val="solid"/>
          </a:ln>
        </p:spPr>
      </p:sp>
      <p:sp>
        <p:nvSpPr>
          <p:cNvPr id="16" name="Text 14"/>
          <p:cNvSpPr/>
          <p:nvPr/>
        </p:nvSpPr>
        <p:spPr>
          <a:xfrm>
            <a:off x="528632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酒販店卸 売値</a:t>
            </a:r>
            <a:endParaRPr lang="en-US" sz="1050" dirty="0"/>
          </a:p>
        </p:txBody>
      </p:sp>
      <p:sp>
        <p:nvSpPr>
          <p:cNvPr id="17" name="Text 15"/>
          <p:cNvSpPr/>
          <p:nvPr/>
        </p:nvSpPr>
        <p:spPr>
          <a:xfrm>
            <a:off x="528632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70</a:t>
            </a:r>
            <a:endParaRPr lang="en-US" sz="4000" dirty="0"/>
          </a:p>
        </p:txBody>
      </p:sp>
      <p:sp>
        <p:nvSpPr>
          <p:cNvPr id="18" name="Text 16"/>
          <p:cNvSpPr/>
          <p:nvPr/>
        </p:nvSpPr>
        <p:spPr>
          <a:xfrm>
            <a:off x="528632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19" name="Shape 17"/>
          <p:cNvSpPr/>
          <p:nvPr/>
        </p:nvSpPr>
        <p:spPr>
          <a:xfrm>
            <a:off x="7325990" y="1719072"/>
            <a:ext cx="1984797" cy="1700784"/>
          </a:xfrm>
          <a:prstGeom prst="roundRect">
            <a:avLst>
              <a:gd name="adj" fmla="val 2419"/>
            </a:avLst>
          </a:prstGeom>
          <a:solidFill>
            <a:srgbClr val="1F1D19"/>
          </a:solidFill>
          <a:ln w="9525">
            <a:solidFill>
              <a:srgbClr val="A78450"/>
            </a:solidFill>
            <a:prstDash val="solid"/>
          </a:ln>
        </p:spPr>
      </p:sp>
      <p:sp>
        <p:nvSpPr>
          <p:cNvPr id="20" name="Text 18"/>
          <p:cNvSpPr/>
          <p:nvPr/>
        </p:nvSpPr>
        <p:spPr>
          <a:xfrm>
            <a:off x="7508870"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ネット最安 売値</a:t>
            </a:r>
            <a:endParaRPr lang="en-US" sz="1050" dirty="0"/>
          </a:p>
        </p:txBody>
      </p:sp>
      <p:sp>
        <p:nvSpPr>
          <p:cNvPr id="21" name="Text 19"/>
          <p:cNvSpPr/>
          <p:nvPr/>
        </p:nvSpPr>
        <p:spPr>
          <a:xfrm>
            <a:off x="7508870"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80</a:t>
            </a:r>
            <a:endParaRPr lang="en-US" sz="4000" dirty="0"/>
          </a:p>
        </p:txBody>
      </p:sp>
      <p:sp>
        <p:nvSpPr>
          <p:cNvPr id="22" name="Text 20"/>
          <p:cNvSpPr/>
          <p:nvPr/>
        </p:nvSpPr>
        <p:spPr>
          <a:xfrm>
            <a:off x="7508870"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3" name="Shape 21"/>
          <p:cNvSpPr/>
          <p:nvPr/>
        </p:nvSpPr>
        <p:spPr>
          <a:xfrm>
            <a:off x="9548531" y="1719072"/>
            <a:ext cx="1984797" cy="1700784"/>
          </a:xfrm>
          <a:prstGeom prst="roundRect">
            <a:avLst>
              <a:gd name="adj" fmla="val 2419"/>
            </a:avLst>
          </a:prstGeom>
          <a:solidFill>
            <a:srgbClr val="171614"/>
          </a:solidFill>
          <a:ln w="9525">
            <a:solidFill>
              <a:srgbClr val="2E2A24"/>
            </a:solidFill>
            <a:prstDash val="solid"/>
          </a:ln>
        </p:spPr>
      </p:sp>
      <p:sp>
        <p:nvSpPr>
          <p:cNvPr id="24" name="Text 22"/>
          <p:cNvSpPr/>
          <p:nvPr/>
        </p:nvSpPr>
        <p:spPr>
          <a:xfrm>
            <a:off x="9731411"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希望小売価格</a:t>
            </a:r>
            <a:endParaRPr lang="en-US" sz="1050" dirty="0"/>
          </a:p>
        </p:txBody>
      </p:sp>
      <p:sp>
        <p:nvSpPr>
          <p:cNvPr id="25" name="Text 23"/>
          <p:cNvSpPr/>
          <p:nvPr/>
        </p:nvSpPr>
        <p:spPr>
          <a:xfrm>
            <a:off x="9731411" y="2212848"/>
            <a:ext cx="1619037" cy="694944"/>
          </a:xfrm>
          <a:prstGeom prst="rect">
            <a:avLst/>
          </a:prstGeom>
          <a:noFill/>
          <a:ln/>
        </p:spPr>
        <p:txBody>
          <a:bodyPr wrap="square" lIns="0" tIns="0" rIns="0" bIns="0" rtlCol="0" anchor="ctr"/>
          <a:lstStyle/>
          <a:p>
            <a:pPr indent="0" marL="0">
              <a:buNone/>
            </a:pPr>
            <a:r>
              <a:rPr lang="en-US" sz="4000" b="1" dirty="0">
                <a:solidFill>
                  <a:srgbClr val="9A938A"/>
                </a:solidFill>
                <a:latin typeface="Cambria" pitchFamily="34" charset="0"/>
                <a:ea typeface="Cambria" pitchFamily="34" charset="-122"/>
                <a:cs typeface="Cambria" pitchFamily="34" charset="-120"/>
              </a:rPr>
              <a:t>100</a:t>
            </a:r>
            <a:endParaRPr lang="en-US" sz="4000" dirty="0"/>
          </a:p>
        </p:txBody>
      </p:sp>
      <p:sp>
        <p:nvSpPr>
          <p:cNvPr id="26" name="Text 24"/>
          <p:cNvSpPr/>
          <p:nvPr/>
        </p:nvSpPr>
        <p:spPr>
          <a:xfrm>
            <a:off x="9731411"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消費者</a:t>
            </a:r>
            <a:endParaRPr lang="en-US" sz="950" dirty="0"/>
          </a:p>
        </p:txBody>
      </p:sp>
      <p:sp>
        <p:nvSpPr>
          <p:cNvPr id="27" name="Shape 25"/>
          <p:cNvSpPr/>
          <p:nvPr/>
        </p:nvSpPr>
        <p:spPr>
          <a:xfrm>
            <a:off x="658368" y="3675888"/>
            <a:ext cx="10874959" cy="1956816"/>
          </a:xfrm>
          <a:prstGeom prst="roundRect">
            <a:avLst>
              <a:gd name="adj" fmla="val 2103"/>
            </a:avLst>
          </a:prstGeom>
          <a:solidFill>
            <a:srgbClr val="1F1D19"/>
          </a:solidFill>
          <a:ln w="9525">
            <a:solidFill>
              <a:srgbClr val="6E5730"/>
            </a:solidFill>
            <a:prstDash val="solid"/>
          </a:ln>
        </p:spPr>
      </p:sp>
      <p:sp>
        <p:nvSpPr>
          <p:cNvPr id="28" name="Text 26"/>
          <p:cNvSpPr/>
          <p:nvPr/>
        </p:nvSpPr>
        <p:spPr>
          <a:xfrm>
            <a:off x="932688" y="3822192"/>
            <a:ext cx="45720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a:t>
            </a:r>
            <a:endParaRPr lang="en-US" sz="1200" dirty="0"/>
          </a:p>
        </p:txBody>
      </p:sp>
      <p:sp>
        <p:nvSpPr>
          <p:cNvPr id="29" name="Text 27"/>
          <p:cNvSpPr/>
          <p:nvPr/>
        </p:nvSpPr>
        <p:spPr>
          <a:xfrm>
            <a:off x="932688" y="4151376"/>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133088" y="4151376"/>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15137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434840"/>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現物譲渡（WineBank→SPC）</a:t>
            </a:r>
            <a:endParaRPr lang="en-US" sz="1050" dirty="0"/>
          </a:p>
        </p:txBody>
      </p:sp>
      <p:sp>
        <p:nvSpPr>
          <p:cNvPr id="33" name="Text 31"/>
          <p:cNvSpPr/>
          <p:nvPr/>
        </p:nvSpPr>
        <p:spPr>
          <a:xfrm>
            <a:off x="4133088" y="4434840"/>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独立企業間価格として1%を付加</a:t>
            </a:r>
            <a:endParaRPr lang="en-US" sz="1050" dirty="0"/>
          </a:p>
        </p:txBody>
      </p:sp>
      <p:sp>
        <p:nvSpPr>
          <p:cNvPr id="34" name="Text 32"/>
          <p:cNvSpPr/>
          <p:nvPr/>
        </p:nvSpPr>
        <p:spPr>
          <a:xfrm>
            <a:off x="8796528" y="443484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SPC取得原価 50.50</a:t>
            </a:r>
            <a:endParaRPr lang="en-US" sz="1050" dirty="0"/>
          </a:p>
        </p:txBody>
      </p:sp>
      <p:sp>
        <p:nvSpPr>
          <p:cNvPr id="35" name="Text 33"/>
          <p:cNvSpPr/>
          <p:nvPr/>
        </p:nvSpPr>
        <p:spPr>
          <a:xfrm>
            <a:off x="932688" y="4718304"/>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売却ポートフォリオ</a:t>
            </a:r>
            <a:endParaRPr lang="en-US" sz="1050" dirty="0"/>
          </a:p>
        </p:txBody>
      </p:sp>
      <p:sp>
        <p:nvSpPr>
          <p:cNvPr id="36" name="Text 34"/>
          <p:cNvSpPr/>
          <p:nvPr/>
        </p:nvSpPr>
        <p:spPr>
          <a:xfrm>
            <a:off x="4133088" y="4718304"/>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ネット最安80（B2C）を半々</a:t>
            </a:r>
            <a:endParaRPr lang="en-US" sz="1050" dirty="0"/>
          </a:p>
        </p:txBody>
      </p:sp>
      <p:sp>
        <p:nvSpPr>
          <p:cNvPr id="37" name="Text 35"/>
          <p:cNvSpPr/>
          <p:nvPr/>
        </p:nvSpPr>
        <p:spPr>
          <a:xfrm>
            <a:off x="8796528" y="4718304"/>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売値 75.00</a:t>
            </a:r>
            <a:endParaRPr lang="en-US" sz="1050" dirty="0"/>
          </a:p>
        </p:txBody>
      </p:sp>
      <p:sp>
        <p:nvSpPr>
          <p:cNvPr id="38" name="Text 36"/>
          <p:cNvSpPr/>
          <p:nvPr/>
        </p:nvSpPr>
        <p:spPr>
          <a:xfrm>
            <a:off x="932688" y="500176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39" name="Text 37"/>
          <p:cNvSpPr/>
          <p:nvPr/>
        </p:nvSpPr>
        <p:spPr>
          <a:xfrm>
            <a:off x="4133088" y="500176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11.2% の加重平均 6.44%</a:t>
            </a:r>
            <a:endParaRPr lang="en-US" sz="1050" dirty="0"/>
          </a:p>
        </p:txBody>
      </p:sp>
      <p:sp>
        <p:nvSpPr>
          <p:cNvPr id="40" name="Text 38"/>
          <p:cNvSpPr/>
          <p:nvPr/>
        </p:nvSpPr>
        <p:spPr>
          <a:xfrm>
            <a:off x="8796528" y="500176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4.83 → 手取り 70.17</a:t>
            </a:r>
            <a:endParaRPr lang="en-US" sz="1050" dirty="0"/>
          </a:p>
        </p:txBody>
      </p:sp>
      <p:sp>
        <p:nvSpPr>
          <p:cNvPr id="41" name="Text 39"/>
          <p:cNvSpPr/>
          <p:nvPr/>
        </p:nvSpPr>
        <p:spPr>
          <a:xfrm>
            <a:off x="932688" y="5285232"/>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単位粗利</a:t>
            </a:r>
            <a:endParaRPr lang="en-US" sz="1050" dirty="0"/>
          </a:p>
        </p:txBody>
      </p:sp>
      <p:sp>
        <p:nvSpPr>
          <p:cNvPr id="42" name="Text 40"/>
          <p:cNvSpPr/>
          <p:nvPr/>
        </p:nvSpPr>
        <p:spPr>
          <a:xfrm>
            <a:off x="4133088" y="5285232"/>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手取り70.17 − SPC取得原価50.50</a:t>
            </a:r>
            <a:endParaRPr lang="en-US" sz="1050" dirty="0"/>
          </a:p>
        </p:txBody>
      </p:sp>
      <p:sp>
        <p:nvSpPr>
          <p:cNvPr id="43" name="Text 41"/>
          <p:cNvSpPr/>
          <p:nvPr/>
        </p:nvSpPr>
        <p:spPr>
          <a:xfrm>
            <a:off x="8796528" y="5285232"/>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19.67（粗利率 26.2%）</a:t>
            </a:r>
            <a:endParaRPr lang="en-US" sz="1050" dirty="0"/>
          </a:p>
        </p:txBody>
      </p:sp>
      <p:sp>
        <p:nvSpPr>
          <p:cNvPr id="44" name="Text 42"/>
          <p:cNvSpPr/>
          <p:nvPr/>
        </p:nvSpPr>
        <p:spPr>
          <a:xfrm>
            <a:off x="658368" y="5724144"/>
            <a:ext cx="10874959" cy="256032"/>
          </a:xfrm>
          <a:prstGeom prst="rect">
            <a:avLst/>
          </a:prstGeom>
          <a:noFill/>
          <a:ln/>
        </p:spPr>
        <p:txBody>
          <a:bodyPr wrap="square" lIns="0" tIns="0" rIns="0" bIns="0" rtlCol="0" anchor="ctr"/>
          <a:lstStyle/>
          <a:p>
            <a:pPr indent="0" marL="0">
              <a:buNone/>
            </a:pPr>
            <a:r>
              <a:rPr lang="en-US" sz="900" dirty="0">
                <a:solidFill>
                  <a:srgbClr val="6E675E"/>
                </a:solidFill>
                <a:latin typeface="Yu Gothic" pitchFamily="34" charset="0"/>
                <a:ea typeface="Yu Gothic" pitchFamily="34" charset="-122"/>
                <a:cs typeface="Yu Gothic" pitchFamily="34" charset="-120"/>
              </a:rPr>
              <a:t>副次（ポジティブ）：仕入はインポーター40のみ・売却はネット最安80のみ（B2C100%）→ SPC取得原価40.4・手取り71.0・粗利30.6（粗利率38.3%）。調達枠の確保が前提条件。</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モール・出品手数料</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5.5%</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楽天／Yahoo／寺田Wine Market（10〜12%）と自社EC・自社オークション（0〜3%）の加重平均</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カード決済手数料</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3.2%</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クレジットカード決済</a:t>
            </a:r>
            <a:endParaRPr lang="en-US" sz="850" dirty="0"/>
          </a:p>
        </p:txBody>
      </p:sp>
      <p:sp>
        <p:nvSpPr>
          <p:cNvPr id="29" name="Text 27"/>
          <p:cNvSpPr/>
          <p:nvPr/>
        </p:nvSpPr>
        <p:spPr>
          <a:xfrm>
            <a:off x="6507328" y="3291840"/>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30" name="Text 28"/>
          <p:cNvSpPr/>
          <p:nvPr/>
        </p:nvSpPr>
        <p:spPr>
          <a:xfrm>
            <a:off x="10600639" y="3291840"/>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31" name="Text 29"/>
          <p:cNvSpPr/>
          <p:nvPr/>
        </p:nvSpPr>
        <p:spPr>
          <a:xfrm>
            <a:off x="6507328" y="3483864"/>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32" name="Text 30"/>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3" name="Text 31"/>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11.2%（▲8.96）</a:t>
            </a:r>
            <a:endParaRPr lang="en-US" sz="1050" dirty="0"/>
          </a:p>
        </p:txBody>
      </p:sp>
      <p:sp>
        <p:nvSpPr>
          <p:cNvPr id="34" name="Text 32"/>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5" name="Text 33"/>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71.04</a:t>
            </a:r>
            <a:endParaRPr lang="en-US" sz="2500" dirty="0"/>
          </a:p>
        </p:txBody>
      </p:sp>
      <p:sp>
        <p:nvSpPr>
          <p:cNvPr id="36" name="Shape 34"/>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7" name="Text 35"/>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手数料が重くても、B2Cのほうが手取りは1.74ポイント高い。</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手数料率11.2%を負うが、売値が定価比80とB2Bの70を10ポイント上回るため、差引きで勝る。ただしB2Cは1本ずつの出荷となり販売量の上限が低いため、回転期間を確保するにはB2Bの卸売が不可欠となる。両者を半々で運用し、加重平均で売値75.00・変動販売費6.44%・手取り70.17を主線とする。</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現物譲渡の1%とチャネル別の変動販売費を、全シナリオで控除したうえでの粗利。</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29914" cy="365760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67712"/>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市中仕入原価</a:t>
            </a:r>
            <a:endParaRPr lang="en-US" sz="1000" dirty="0"/>
          </a:p>
        </p:txBody>
      </p:sp>
      <p:sp>
        <p:nvSpPr>
          <p:cNvPr id="10" name="Text 8"/>
          <p:cNvSpPr/>
          <p:nvPr/>
        </p:nvSpPr>
        <p:spPr>
          <a:xfrm>
            <a:off x="2606954" y="2267712"/>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50.00</a:t>
            </a:r>
            <a:endParaRPr lang="en-US" sz="1400" dirty="0"/>
          </a:p>
        </p:txBody>
      </p:sp>
      <p:sp>
        <p:nvSpPr>
          <p:cNvPr id="11" name="Text 9"/>
          <p:cNvSpPr/>
          <p:nvPr/>
        </p:nvSpPr>
        <p:spPr>
          <a:xfrm>
            <a:off x="914400" y="2651760"/>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SPC取得原価（＋1%）</a:t>
            </a:r>
            <a:endParaRPr lang="en-US" sz="1000" dirty="0"/>
          </a:p>
        </p:txBody>
      </p:sp>
      <p:sp>
        <p:nvSpPr>
          <p:cNvPr id="12" name="Text 10"/>
          <p:cNvSpPr/>
          <p:nvPr/>
        </p:nvSpPr>
        <p:spPr>
          <a:xfrm>
            <a:off x="2606954" y="2651760"/>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50.50</a:t>
            </a:r>
            <a:endParaRPr lang="en-US" sz="1400" dirty="0"/>
          </a:p>
        </p:txBody>
      </p:sp>
      <p:sp>
        <p:nvSpPr>
          <p:cNvPr id="13" name="Text 11"/>
          <p:cNvSpPr/>
          <p:nvPr/>
        </p:nvSpPr>
        <p:spPr>
          <a:xfrm>
            <a:off x="914400" y="3035808"/>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売値（加重平均）</a:t>
            </a:r>
            <a:endParaRPr lang="en-US" sz="1000" dirty="0"/>
          </a:p>
        </p:txBody>
      </p:sp>
      <p:sp>
        <p:nvSpPr>
          <p:cNvPr id="14" name="Text 12"/>
          <p:cNvSpPr/>
          <p:nvPr/>
        </p:nvSpPr>
        <p:spPr>
          <a:xfrm>
            <a:off x="2606954" y="3035808"/>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71.25</a:t>
            </a:r>
            <a:endParaRPr lang="en-US" sz="1400" dirty="0"/>
          </a:p>
        </p:txBody>
      </p:sp>
      <p:sp>
        <p:nvSpPr>
          <p:cNvPr id="15" name="Text 13"/>
          <p:cNvSpPr/>
          <p:nvPr/>
        </p:nvSpPr>
        <p:spPr>
          <a:xfrm>
            <a:off x="914400" y="3419856"/>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a:t>
            </a:r>
            <a:endParaRPr lang="en-US" sz="1000" dirty="0"/>
          </a:p>
        </p:txBody>
      </p:sp>
      <p:sp>
        <p:nvSpPr>
          <p:cNvPr id="16" name="Text 14"/>
          <p:cNvSpPr/>
          <p:nvPr/>
        </p:nvSpPr>
        <p:spPr>
          <a:xfrm>
            <a:off x="2606954" y="3419856"/>
            <a:ext cx="1225296" cy="256032"/>
          </a:xfrm>
          <a:prstGeom prst="rect">
            <a:avLst/>
          </a:prstGeom>
          <a:noFill/>
          <a:ln/>
        </p:spPr>
        <p:txBody>
          <a:bodyPr wrap="square" lIns="0" tIns="0" rIns="0" bIns="0" rtlCol="0" anchor="ctr"/>
          <a:lstStyle/>
          <a:p>
            <a:pPr algn="r" indent="0" marL="0">
              <a:buNone/>
            </a:pPr>
            <a:r>
              <a:rPr lang="en-US" sz="1400" b="1" dirty="0">
                <a:solidFill>
                  <a:srgbClr val="B4553F"/>
                </a:solidFill>
                <a:latin typeface="Cambria" pitchFamily="34" charset="0"/>
                <a:ea typeface="Cambria" pitchFamily="34" charset="-122"/>
                <a:cs typeface="Cambria" pitchFamily="34" charset="-120"/>
              </a:rPr>
              <a:t>▲ 4.59</a:t>
            </a:r>
            <a:endParaRPr lang="en-US" sz="1400" dirty="0"/>
          </a:p>
        </p:txBody>
      </p:sp>
      <p:sp>
        <p:nvSpPr>
          <p:cNvPr id="17" name="Text 15"/>
          <p:cNvSpPr/>
          <p:nvPr/>
        </p:nvSpPr>
        <p:spPr>
          <a:xfrm>
            <a:off x="914400" y="3803904"/>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手取り</a:t>
            </a:r>
            <a:endParaRPr lang="en-US" sz="1000" dirty="0"/>
          </a:p>
        </p:txBody>
      </p:sp>
      <p:sp>
        <p:nvSpPr>
          <p:cNvPr id="18" name="Text 16"/>
          <p:cNvSpPr/>
          <p:nvPr/>
        </p:nvSpPr>
        <p:spPr>
          <a:xfrm>
            <a:off x="2606954" y="3803904"/>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66.66</a:t>
            </a:r>
            <a:endParaRPr lang="en-US" sz="1400" dirty="0"/>
          </a:p>
        </p:txBody>
      </p:sp>
      <p:sp>
        <p:nvSpPr>
          <p:cNvPr id="19" name="Text 17"/>
          <p:cNvSpPr/>
          <p:nvPr/>
        </p:nvSpPr>
        <p:spPr>
          <a:xfrm>
            <a:off x="914400" y="4187952"/>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単位粗利</a:t>
            </a:r>
            <a:endParaRPr lang="en-US" sz="1000" dirty="0"/>
          </a:p>
        </p:txBody>
      </p:sp>
      <p:sp>
        <p:nvSpPr>
          <p:cNvPr id="20" name="Text 18"/>
          <p:cNvSpPr/>
          <p:nvPr/>
        </p:nvSpPr>
        <p:spPr>
          <a:xfrm>
            <a:off x="2606954" y="4187952"/>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16.16</a:t>
            </a:r>
            <a:endParaRPr lang="en-US" sz="1400" dirty="0"/>
          </a:p>
        </p:txBody>
      </p:sp>
      <p:sp>
        <p:nvSpPr>
          <p:cNvPr id="21" name="Text 19"/>
          <p:cNvSpPr/>
          <p:nvPr/>
        </p:nvSpPr>
        <p:spPr>
          <a:xfrm>
            <a:off x="914400" y="4572000"/>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粗利率</a:t>
            </a:r>
            <a:endParaRPr lang="en-US" sz="1000" dirty="0"/>
          </a:p>
        </p:txBody>
      </p:sp>
      <p:sp>
        <p:nvSpPr>
          <p:cNvPr id="22" name="Text 20"/>
          <p:cNvSpPr/>
          <p:nvPr/>
        </p:nvSpPr>
        <p:spPr>
          <a:xfrm>
            <a:off x="2606954" y="4572000"/>
            <a:ext cx="1225296" cy="256032"/>
          </a:xfrm>
          <a:prstGeom prst="rect">
            <a:avLst/>
          </a:prstGeom>
          <a:noFill/>
          <a:ln/>
        </p:spPr>
        <p:txBody>
          <a:bodyPr wrap="square" lIns="0" tIns="0" rIns="0" bIns="0" rtlCol="0" anchor="ctr"/>
          <a:lstStyle/>
          <a:p>
            <a:pPr algn="r" indent="0" marL="0">
              <a:buNone/>
            </a:pPr>
            <a:r>
              <a:rPr lang="en-US" sz="1300" b="1" dirty="0">
                <a:solidFill>
                  <a:srgbClr val="EFEBE3"/>
                </a:solidFill>
                <a:latin typeface="Cambria" pitchFamily="34" charset="0"/>
                <a:ea typeface="Cambria" pitchFamily="34" charset="-122"/>
                <a:cs typeface="Cambria" pitchFamily="34" charset="-120"/>
              </a:rPr>
              <a:t>22.7%</a:t>
            </a:r>
            <a:endParaRPr lang="en-US" sz="1300" dirty="0"/>
          </a:p>
        </p:txBody>
      </p:sp>
      <p:sp>
        <p:nvSpPr>
          <p:cNvPr id="23" name="Text 21"/>
          <p:cNvSpPr/>
          <p:nvPr/>
        </p:nvSpPr>
        <p:spPr>
          <a:xfrm>
            <a:off x="914400" y="4882896"/>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売値を5%値引き（B2B66.5／B2C76）</a:t>
            </a:r>
            <a:endParaRPr lang="en-US" sz="900" dirty="0"/>
          </a:p>
        </p:txBody>
      </p:sp>
      <p:sp>
        <p:nvSpPr>
          <p:cNvPr id="24" name="Shape 22"/>
          <p:cNvSpPr/>
          <p:nvPr/>
        </p:nvSpPr>
        <p:spPr>
          <a:xfrm>
            <a:off x="4380890" y="1664208"/>
            <a:ext cx="3429914" cy="3657600"/>
          </a:xfrm>
          <a:prstGeom prst="roundRect">
            <a:avLst>
              <a:gd name="adj" fmla="val 1200"/>
            </a:avLst>
          </a:prstGeom>
          <a:solidFill>
            <a:srgbClr val="1F1D19"/>
          </a:solidFill>
          <a:ln w="9525">
            <a:solidFill>
              <a:srgbClr val="6E5730"/>
            </a:solidFill>
            <a:prstDash val="solid"/>
          </a:ln>
        </p:spPr>
      </p:sp>
      <p:sp>
        <p:nvSpPr>
          <p:cNvPr id="25" name="Text 23"/>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26" name="Text 24"/>
          <p:cNvSpPr/>
          <p:nvPr/>
        </p:nvSpPr>
        <p:spPr>
          <a:xfrm>
            <a:off x="4636922" y="2267712"/>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市中仕入原価</a:t>
            </a:r>
            <a:endParaRPr lang="en-US" sz="1000" dirty="0"/>
          </a:p>
        </p:txBody>
      </p:sp>
      <p:sp>
        <p:nvSpPr>
          <p:cNvPr id="27" name="Text 25"/>
          <p:cNvSpPr/>
          <p:nvPr/>
        </p:nvSpPr>
        <p:spPr>
          <a:xfrm>
            <a:off x="6329477" y="2267712"/>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50.00</a:t>
            </a:r>
            <a:endParaRPr lang="en-US" sz="1400" dirty="0"/>
          </a:p>
        </p:txBody>
      </p:sp>
      <p:sp>
        <p:nvSpPr>
          <p:cNvPr id="28" name="Text 26"/>
          <p:cNvSpPr/>
          <p:nvPr/>
        </p:nvSpPr>
        <p:spPr>
          <a:xfrm>
            <a:off x="4636922" y="2651760"/>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SPC取得原価（＋1%）</a:t>
            </a:r>
            <a:endParaRPr lang="en-US" sz="1000" dirty="0"/>
          </a:p>
        </p:txBody>
      </p:sp>
      <p:sp>
        <p:nvSpPr>
          <p:cNvPr id="29" name="Text 27"/>
          <p:cNvSpPr/>
          <p:nvPr/>
        </p:nvSpPr>
        <p:spPr>
          <a:xfrm>
            <a:off x="6329477" y="2651760"/>
            <a:ext cx="1225296" cy="256032"/>
          </a:xfrm>
          <a:prstGeom prst="rect">
            <a:avLst/>
          </a:prstGeom>
          <a:noFill/>
          <a:ln/>
        </p:spPr>
        <p:txBody>
          <a:bodyPr wrap="square" lIns="0" tIns="0" rIns="0" bIns="0" rtlCol="0" anchor="ctr"/>
          <a:lstStyle/>
          <a:p>
            <a:pPr algn="r" indent="0" marL="0">
              <a:buNone/>
            </a:pPr>
            <a:r>
              <a:rPr lang="en-US" sz="1400" b="1" dirty="0">
                <a:solidFill>
                  <a:srgbClr val="C9A96E"/>
                </a:solidFill>
                <a:latin typeface="Cambria" pitchFamily="34" charset="0"/>
                <a:ea typeface="Cambria" pitchFamily="34" charset="-122"/>
                <a:cs typeface="Cambria" pitchFamily="34" charset="-120"/>
              </a:rPr>
              <a:t>50.50</a:t>
            </a:r>
            <a:endParaRPr lang="en-US" sz="1400" dirty="0"/>
          </a:p>
        </p:txBody>
      </p:sp>
      <p:sp>
        <p:nvSpPr>
          <p:cNvPr id="30" name="Text 28"/>
          <p:cNvSpPr/>
          <p:nvPr/>
        </p:nvSpPr>
        <p:spPr>
          <a:xfrm>
            <a:off x="4636922" y="3035808"/>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売値（加重平均）</a:t>
            </a:r>
            <a:endParaRPr lang="en-US" sz="1000" dirty="0"/>
          </a:p>
        </p:txBody>
      </p:sp>
      <p:sp>
        <p:nvSpPr>
          <p:cNvPr id="31" name="Text 29"/>
          <p:cNvSpPr/>
          <p:nvPr/>
        </p:nvSpPr>
        <p:spPr>
          <a:xfrm>
            <a:off x="6329477" y="3035808"/>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75.00</a:t>
            </a:r>
            <a:endParaRPr lang="en-US" sz="1400" dirty="0"/>
          </a:p>
        </p:txBody>
      </p:sp>
      <p:sp>
        <p:nvSpPr>
          <p:cNvPr id="32" name="Text 30"/>
          <p:cNvSpPr/>
          <p:nvPr/>
        </p:nvSpPr>
        <p:spPr>
          <a:xfrm>
            <a:off x="4636922" y="3419856"/>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a:t>
            </a:r>
            <a:endParaRPr lang="en-US" sz="1000" dirty="0"/>
          </a:p>
        </p:txBody>
      </p:sp>
      <p:sp>
        <p:nvSpPr>
          <p:cNvPr id="33" name="Text 31"/>
          <p:cNvSpPr/>
          <p:nvPr/>
        </p:nvSpPr>
        <p:spPr>
          <a:xfrm>
            <a:off x="6329477" y="3419856"/>
            <a:ext cx="1225296" cy="256032"/>
          </a:xfrm>
          <a:prstGeom prst="rect">
            <a:avLst/>
          </a:prstGeom>
          <a:noFill/>
          <a:ln/>
        </p:spPr>
        <p:txBody>
          <a:bodyPr wrap="square" lIns="0" tIns="0" rIns="0" bIns="0" rtlCol="0" anchor="ctr"/>
          <a:lstStyle/>
          <a:p>
            <a:pPr algn="r" indent="0" marL="0">
              <a:buNone/>
            </a:pPr>
            <a:r>
              <a:rPr lang="en-US" sz="1400" b="1" dirty="0">
                <a:solidFill>
                  <a:srgbClr val="B4553F"/>
                </a:solidFill>
                <a:latin typeface="Cambria" pitchFamily="34" charset="0"/>
                <a:ea typeface="Cambria" pitchFamily="34" charset="-122"/>
                <a:cs typeface="Cambria" pitchFamily="34" charset="-120"/>
              </a:rPr>
              <a:t>▲ 4.83</a:t>
            </a:r>
            <a:endParaRPr lang="en-US" sz="1400" dirty="0"/>
          </a:p>
        </p:txBody>
      </p:sp>
      <p:sp>
        <p:nvSpPr>
          <p:cNvPr id="34" name="Text 32"/>
          <p:cNvSpPr/>
          <p:nvPr/>
        </p:nvSpPr>
        <p:spPr>
          <a:xfrm>
            <a:off x="4636922" y="3803904"/>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手取り</a:t>
            </a:r>
            <a:endParaRPr lang="en-US" sz="1000" dirty="0"/>
          </a:p>
        </p:txBody>
      </p:sp>
      <p:sp>
        <p:nvSpPr>
          <p:cNvPr id="35" name="Text 33"/>
          <p:cNvSpPr/>
          <p:nvPr/>
        </p:nvSpPr>
        <p:spPr>
          <a:xfrm>
            <a:off x="6329477" y="3803904"/>
            <a:ext cx="1225296" cy="256032"/>
          </a:xfrm>
          <a:prstGeom prst="rect">
            <a:avLst/>
          </a:prstGeom>
          <a:noFill/>
          <a:ln/>
        </p:spPr>
        <p:txBody>
          <a:bodyPr wrap="square" lIns="0" tIns="0" rIns="0" bIns="0" rtlCol="0" anchor="ctr"/>
          <a:lstStyle/>
          <a:p>
            <a:pPr algn="r" indent="0" marL="0">
              <a:buNone/>
            </a:pPr>
            <a:r>
              <a:rPr lang="en-US" sz="1400" b="1" dirty="0">
                <a:solidFill>
                  <a:srgbClr val="C9A96E"/>
                </a:solidFill>
                <a:latin typeface="Cambria" pitchFamily="34" charset="0"/>
                <a:ea typeface="Cambria" pitchFamily="34" charset="-122"/>
                <a:cs typeface="Cambria" pitchFamily="34" charset="-120"/>
              </a:rPr>
              <a:t>70.17</a:t>
            </a:r>
            <a:endParaRPr lang="en-US" sz="1400" dirty="0"/>
          </a:p>
        </p:txBody>
      </p:sp>
      <p:sp>
        <p:nvSpPr>
          <p:cNvPr id="36" name="Text 34"/>
          <p:cNvSpPr/>
          <p:nvPr/>
        </p:nvSpPr>
        <p:spPr>
          <a:xfrm>
            <a:off x="4636922" y="4187952"/>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単位粗利</a:t>
            </a:r>
            <a:endParaRPr lang="en-US" sz="1000" dirty="0"/>
          </a:p>
        </p:txBody>
      </p:sp>
      <p:sp>
        <p:nvSpPr>
          <p:cNvPr id="37" name="Text 35"/>
          <p:cNvSpPr/>
          <p:nvPr/>
        </p:nvSpPr>
        <p:spPr>
          <a:xfrm>
            <a:off x="6329477" y="4187952"/>
            <a:ext cx="1225296" cy="256032"/>
          </a:xfrm>
          <a:prstGeom prst="rect">
            <a:avLst/>
          </a:prstGeom>
          <a:noFill/>
          <a:ln/>
        </p:spPr>
        <p:txBody>
          <a:bodyPr wrap="square" lIns="0" tIns="0" rIns="0" bIns="0" rtlCol="0" anchor="ctr"/>
          <a:lstStyle/>
          <a:p>
            <a:pPr algn="r" indent="0" marL="0">
              <a:buNone/>
            </a:pPr>
            <a:r>
              <a:rPr lang="en-US" sz="1400" b="1" dirty="0">
                <a:solidFill>
                  <a:srgbClr val="C9A96E"/>
                </a:solidFill>
                <a:latin typeface="Cambria" pitchFamily="34" charset="0"/>
                <a:ea typeface="Cambria" pitchFamily="34" charset="-122"/>
                <a:cs typeface="Cambria" pitchFamily="34" charset="-120"/>
              </a:rPr>
              <a:t>19.67</a:t>
            </a:r>
            <a:endParaRPr lang="en-US" sz="1400" dirty="0"/>
          </a:p>
        </p:txBody>
      </p:sp>
      <p:sp>
        <p:nvSpPr>
          <p:cNvPr id="38" name="Text 36"/>
          <p:cNvSpPr/>
          <p:nvPr/>
        </p:nvSpPr>
        <p:spPr>
          <a:xfrm>
            <a:off x="4636922" y="4572000"/>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粗利率</a:t>
            </a:r>
            <a:endParaRPr lang="en-US" sz="1000" dirty="0"/>
          </a:p>
        </p:txBody>
      </p:sp>
      <p:sp>
        <p:nvSpPr>
          <p:cNvPr id="39" name="Text 37"/>
          <p:cNvSpPr/>
          <p:nvPr/>
        </p:nvSpPr>
        <p:spPr>
          <a:xfrm>
            <a:off x="6329477" y="4572000"/>
            <a:ext cx="1225296" cy="256032"/>
          </a:xfrm>
          <a:prstGeom prst="rect">
            <a:avLst/>
          </a:prstGeom>
          <a:noFill/>
          <a:ln/>
        </p:spPr>
        <p:txBody>
          <a:bodyPr wrap="square" lIns="0" tIns="0" rIns="0" bIns="0" rtlCol="0" anchor="ctr"/>
          <a:lstStyle/>
          <a:p>
            <a:pPr algn="r" indent="0" marL="0">
              <a:buNone/>
            </a:pPr>
            <a:r>
              <a:rPr lang="en-US" sz="1300" b="1" dirty="0">
                <a:solidFill>
                  <a:srgbClr val="C9A96E"/>
                </a:solidFill>
                <a:latin typeface="Cambria" pitchFamily="34" charset="0"/>
                <a:ea typeface="Cambria" pitchFamily="34" charset="-122"/>
                <a:cs typeface="Cambria" pitchFamily="34" charset="-120"/>
              </a:rPr>
              <a:t>26.2%</a:t>
            </a:r>
            <a:endParaRPr lang="en-US" sz="1300" dirty="0"/>
          </a:p>
        </p:txBody>
      </p:sp>
      <p:sp>
        <p:nvSpPr>
          <p:cNvPr id="40" name="Text 38"/>
          <p:cNvSpPr/>
          <p:nvPr/>
        </p:nvSpPr>
        <p:spPr>
          <a:xfrm>
            <a:off x="4636922" y="4882896"/>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仕入40/60の半々・売却はB2B70とB2C80の半々</a:t>
            </a:r>
            <a:endParaRPr lang="en-US" sz="900" dirty="0"/>
          </a:p>
        </p:txBody>
      </p:sp>
      <p:sp>
        <p:nvSpPr>
          <p:cNvPr id="41" name="Shape 39"/>
          <p:cNvSpPr/>
          <p:nvPr/>
        </p:nvSpPr>
        <p:spPr>
          <a:xfrm>
            <a:off x="8103413" y="1664208"/>
            <a:ext cx="3429914" cy="3657600"/>
          </a:xfrm>
          <a:prstGeom prst="roundRect">
            <a:avLst>
              <a:gd name="adj" fmla="val 1200"/>
            </a:avLst>
          </a:prstGeom>
          <a:solidFill>
            <a:srgbClr val="171614"/>
          </a:solidFill>
          <a:ln w="9525">
            <a:solidFill>
              <a:srgbClr val="2E2A24"/>
            </a:solidFill>
            <a:prstDash val="solid"/>
          </a:ln>
        </p:spPr>
      </p:sp>
      <p:sp>
        <p:nvSpPr>
          <p:cNvPr id="42" name="Text 40"/>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43" name="Text 41"/>
          <p:cNvSpPr/>
          <p:nvPr/>
        </p:nvSpPr>
        <p:spPr>
          <a:xfrm>
            <a:off x="8359445" y="2267712"/>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市中仕入原価</a:t>
            </a:r>
            <a:endParaRPr lang="en-US" sz="1000" dirty="0"/>
          </a:p>
        </p:txBody>
      </p:sp>
      <p:sp>
        <p:nvSpPr>
          <p:cNvPr id="44" name="Text 42"/>
          <p:cNvSpPr/>
          <p:nvPr/>
        </p:nvSpPr>
        <p:spPr>
          <a:xfrm>
            <a:off x="10051999" y="2267712"/>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40.00</a:t>
            </a:r>
            <a:endParaRPr lang="en-US" sz="1400" dirty="0"/>
          </a:p>
        </p:txBody>
      </p:sp>
      <p:sp>
        <p:nvSpPr>
          <p:cNvPr id="45" name="Text 43"/>
          <p:cNvSpPr/>
          <p:nvPr/>
        </p:nvSpPr>
        <p:spPr>
          <a:xfrm>
            <a:off x="8359445" y="2651760"/>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SPC取得原価（＋1%）</a:t>
            </a:r>
            <a:endParaRPr lang="en-US" sz="1000" dirty="0"/>
          </a:p>
        </p:txBody>
      </p:sp>
      <p:sp>
        <p:nvSpPr>
          <p:cNvPr id="46" name="Text 44"/>
          <p:cNvSpPr/>
          <p:nvPr/>
        </p:nvSpPr>
        <p:spPr>
          <a:xfrm>
            <a:off x="10051999" y="2651760"/>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40.40</a:t>
            </a:r>
            <a:endParaRPr lang="en-US" sz="1400" dirty="0"/>
          </a:p>
        </p:txBody>
      </p:sp>
      <p:sp>
        <p:nvSpPr>
          <p:cNvPr id="47" name="Text 45"/>
          <p:cNvSpPr/>
          <p:nvPr/>
        </p:nvSpPr>
        <p:spPr>
          <a:xfrm>
            <a:off x="8359445" y="3035808"/>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売値（加重平均）</a:t>
            </a:r>
            <a:endParaRPr lang="en-US" sz="1000" dirty="0"/>
          </a:p>
        </p:txBody>
      </p:sp>
      <p:sp>
        <p:nvSpPr>
          <p:cNvPr id="48" name="Text 46"/>
          <p:cNvSpPr/>
          <p:nvPr/>
        </p:nvSpPr>
        <p:spPr>
          <a:xfrm>
            <a:off x="10051999" y="3035808"/>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80.00</a:t>
            </a:r>
            <a:endParaRPr lang="en-US" sz="1400" dirty="0"/>
          </a:p>
        </p:txBody>
      </p:sp>
      <p:sp>
        <p:nvSpPr>
          <p:cNvPr id="49" name="Text 47"/>
          <p:cNvSpPr/>
          <p:nvPr/>
        </p:nvSpPr>
        <p:spPr>
          <a:xfrm>
            <a:off x="8359445" y="3419856"/>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a:t>
            </a:r>
            <a:endParaRPr lang="en-US" sz="1000" dirty="0"/>
          </a:p>
        </p:txBody>
      </p:sp>
      <p:sp>
        <p:nvSpPr>
          <p:cNvPr id="50" name="Text 48"/>
          <p:cNvSpPr/>
          <p:nvPr/>
        </p:nvSpPr>
        <p:spPr>
          <a:xfrm>
            <a:off x="10051999" y="3419856"/>
            <a:ext cx="1225296" cy="256032"/>
          </a:xfrm>
          <a:prstGeom prst="rect">
            <a:avLst/>
          </a:prstGeom>
          <a:noFill/>
          <a:ln/>
        </p:spPr>
        <p:txBody>
          <a:bodyPr wrap="square" lIns="0" tIns="0" rIns="0" bIns="0" rtlCol="0" anchor="ctr"/>
          <a:lstStyle/>
          <a:p>
            <a:pPr algn="r" indent="0" marL="0">
              <a:buNone/>
            </a:pPr>
            <a:r>
              <a:rPr lang="en-US" sz="1400" b="1" dirty="0">
                <a:solidFill>
                  <a:srgbClr val="B4553F"/>
                </a:solidFill>
                <a:latin typeface="Cambria" pitchFamily="34" charset="0"/>
                <a:ea typeface="Cambria" pitchFamily="34" charset="-122"/>
                <a:cs typeface="Cambria" pitchFamily="34" charset="-120"/>
              </a:rPr>
              <a:t>▲ 8.96</a:t>
            </a:r>
            <a:endParaRPr lang="en-US" sz="1400" dirty="0"/>
          </a:p>
        </p:txBody>
      </p:sp>
      <p:sp>
        <p:nvSpPr>
          <p:cNvPr id="51" name="Text 49"/>
          <p:cNvSpPr/>
          <p:nvPr/>
        </p:nvSpPr>
        <p:spPr>
          <a:xfrm>
            <a:off x="8359445" y="3803904"/>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手取り</a:t>
            </a:r>
            <a:endParaRPr lang="en-US" sz="1000" dirty="0"/>
          </a:p>
        </p:txBody>
      </p:sp>
      <p:sp>
        <p:nvSpPr>
          <p:cNvPr id="52" name="Text 50"/>
          <p:cNvSpPr/>
          <p:nvPr/>
        </p:nvSpPr>
        <p:spPr>
          <a:xfrm>
            <a:off x="10051999" y="3803904"/>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71.04</a:t>
            </a:r>
            <a:endParaRPr lang="en-US" sz="1400" dirty="0"/>
          </a:p>
        </p:txBody>
      </p:sp>
      <p:sp>
        <p:nvSpPr>
          <p:cNvPr id="53" name="Text 51"/>
          <p:cNvSpPr/>
          <p:nvPr/>
        </p:nvSpPr>
        <p:spPr>
          <a:xfrm>
            <a:off x="8359445" y="4187952"/>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単位粗利</a:t>
            </a:r>
            <a:endParaRPr lang="en-US" sz="1000" dirty="0"/>
          </a:p>
        </p:txBody>
      </p:sp>
      <p:sp>
        <p:nvSpPr>
          <p:cNvPr id="54" name="Text 52"/>
          <p:cNvSpPr/>
          <p:nvPr/>
        </p:nvSpPr>
        <p:spPr>
          <a:xfrm>
            <a:off x="10051999" y="4187952"/>
            <a:ext cx="1225296"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30.64</a:t>
            </a:r>
            <a:endParaRPr lang="en-US" sz="1400" dirty="0"/>
          </a:p>
        </p:txBody>
      </p:sp>
      <p:sp>
        <p:nvSpPr>
          <p:cNvPr id="55" name="Text 53"/>
          <p:cNvSpPr/>
          <p:nvPr/>
        </p:nvSpPr>
        <p:spPr>
          <a:xfrm>
            <a:off x="8359445" y="4572000"/>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粗利率</a:t>
            </a:r>
            <a:endParaRPr lang="en-US" sz="1000" dirty="0"/>
          </a:p>
        </p:txBody>
      </p:sp>
      <p:sp>
        <p:nvSpPr>
          <p:cNvPr id="56" name="Text 54"/>
          <p:cNvSpPr/>
          <p:nvPr/>
        </p:nvSpPr>
        <p:spPr>
          <a:xfrm>
            <a:off x="10051999" y="4572000"/>
            <a:ext cx="1225296" cy="256032"/>
          </a:xfrm>
          <a:prstGeom prst="rect">
            <a:avLst/>
          </a:prstGeom>
          <a:noFill/>
          <a:ln/>
        </p:spPr>
        <p:txBody>
          <a:bodyPr wrap="square" lIns="0" tIns="0" rIns="0" bIns="0" rtlCol="0" anchor="ctr"/>
          <a:lstStyle/>
          <a:p>
            <a:pPr algn="r" indent="0" marL="0">
              <a:buNone/>
            </a:pPr>
            <a:r>
              <a:rPr lang="en-US" sz="1300" b="1" dirty="0">
                <a:solidFill>
                  <a:srgbClr val="EFEBE3"/>
                </a:solidFill>
                <a:latin typeface="Cambria" pitchFamily="34" charset="0"/>
                <a:ea typeface="Cambria" pitchFamily="34" charset="-122"/>
                <a:cs typeface="Cambria" pitchFamily="34" charset="-120"/>
              </a:rPr>
              <a:t>38.3%</a:t>
            </a:r>
            <a:endParaRPr lang="en-US" sz="1300" dirty="0"/>
          </a:p>
        </p:txBody>
      </p:sp>
      <p:sp>
        <p:nvSpPr>
          <p:cNvPr id="57" name="Text 55"/>
          <p:cNvSpPr/>
          <p:nvPr/>
        </p:nvSpPr>
        <p:spPr>
          <a:xfrm>
            <a:off x="8359445" y="4882896"/>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仕入はインポーター40のみ・売却はネット最安80のみ（B2C100%）</a:t>
            </a:r>
            <a:endParaRPr lang="en-US" sz="900" dirty="0"/>
          </a:p>
        </p:txBody>
      </p:sp>
      <p:sp>
        <p:nvSpPr>
          <p:cNvPr id="58" name="Text 56"/>
          <p:cNvSpPr/>
          <p:nvPr/>
        </p:nvSpPr>
        <p:spPr>
          <a:xfrm>
            <a:off x="658368" y="5468112"/>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交渉余地を織り込み、ニュートラルを提案の主線とする。ポジティブは調達・販売チャネルを最適化した場合の上振れ余地として位置づける。粗利率は変動販売費控除後の手取りに対する比率であり、売値に対する見かけの粗利率（33.3%）より低く出る。</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共通費用とチャネル別の変動販売費に分けて計上。いずれも実務水準に基づく。</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847088"/>
          <a:ext cx="10874959" cy="914400"/>
        </p:xfrm>
        <a:graphic>
          <a:graphicData uri="http://schemas.openxmlformats.org/drawingml/2006/table">
            <a:tbl>
              <a:tblPr/>
              <a:tblGrid>
                <a:gridCol w="2331720"/>
                <a:gridCol w="1965960"/>
                <a:gridCol w="6574536"/>
              </a:tblGrid>
              <a:tr h="32004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税務・事務受託・法務。監査費用を除く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年360万円（固定）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SPC運営に係るWineBank側の実務人件費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004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WineBank販売オペコスト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GP取分（利益の50%）から負担。SPCに管理報酬・成功報酬は課さない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206240"/>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462272"/>
            <a:ext cx="3442106" cy="1170432"/>
          </a:xfrm>
          <a:prstGeom prst="roundRect">
            <a:avLst>
              <a:gd name="adj" fmla="val 3516"/>
            </a:avLst>
          </a:prstGeom>
          <a:solidFill>
            <a:srgbClr val="171614"/>
          </a:solidFill>
          <a:ln w="9525">
            <a:solidFill>
              <a:srgbClr val="2E2A24"/>
            </a:solidFill>
            <a:prstDash val="solid"/>
          </a:ln>
        </p:spPr>
      </p:sp>
      <p:sp>
        <p:nvSpPr>
          <p:cNvPr id="11" name="Text 8"/>
          <p:cNvSpPr/>
          <p:nvPr/>
        </p:nvSpPr>
        <p:spPr>
          <a:xfrm>
            <a:off x="896112" y="460857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57200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19472"/>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462272"/>
            <a:ext cx="3442106" cy="1170432"/>
          </a:xfrm>
          <a:prstGeom prst="roundRect">
            <a:avLst>
              <a:gd name="adj" fmla="val 3516"/>
            </a:avLst>
          </a:prstGeom>
          <a:solidFill>
            <a:srgbClr val="171614"/>
          </a:solidFill>
          <a:ln w="9525">
            <a:solidFill>
              <a:srgbClr val="2E2A24"/>
            </a:solidFill>
            <a:prstDash val="solid"/>
          </a:ln>
        </p:spPr>
      </p:sp>
      <p:sp>
        <p:nvSpPr>
          <p:cNvPr id="15" name="Text 12"/>
          <p:cNvSpPr/>
          <p:nvPr/>
        </p:nvSpPr>
        <p:spPr>
          <a:xfrm>
            <a:off x="4612538" y="460857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57200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11.2</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19472"/>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モール・出品手数料 5.5%　／　カード決済 3.2%　／　出庫・梱包・クール便 2.5%</a:t>
            </a:r>
            <a:endParaRPr lang="en-US" sz="900" dirty="0"/>
          </a:p>
        </p:txBody>
      </p:sp>
      <p:sp>
        <p:nvSpPr>
          <p:cNvPr id="18" name="Shape 15"/>
          <p:cNvSpPr/>
          <p:nvPr/>
        </p:nvSpPr>
        <p:spPr>
          <a:xfrm>
            <a:off x="8091221" y="4462272"/>
            <a:ext cx="3442106" cy="1170432"/>
          </a:xfrm>
          <a:prstGeom prst="roundRect">
            <a:avLst>
              <a:gd name="adj" fmla="val 3516"/>
            </a:avLst>
          </a:prstGeom>
          <a:solidFill>
            <a:srgbClr val="1F1D19"/>
          </a:solidFill>
          <a:ln w="9525">
            <a:solidFill>
              <a:srgbClr val="6E5730"/>
            </a:solidFill>
            <a:prstDash val="solid"/>
          </a:ln>
        </p:spPr>
      </p:sp>
      <p:sp>
        <p:nvSpPr>
          <p:cNvPr id="19" name="Text 16"/>
          <p:cNvSpPr/>
          <p:nvPr/>
        </p:nvSpPr>
        <p:spPr>
          <a:xfrm>
            <a:off x="8328965" y="460857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57200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6.44</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19472"/>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▲4.83</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年間SPC費用の合計は5,910万円（売上比8.4%）で、内訳は変動販売費4,543万円・保管705万円・SPC固定費560万円・保険71万円・入庫30万円。その他の運用前提：出資金の95%をワイン購入に充当（現金5%）／仕入展開6ヶ月／ローリング運用／利益は複利再投資せず半期分配／税前利益を投資家50：WineBank50で折半／利回りは投資家の税引前ベース。</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SPC取得原価50.5・手取り70.2・粗利19.7（粗利率26.2%）／投資枠5億円・運用期間5年・稼働率95%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25880"/>
                <a:gridCol w="868680"/>
                <a:gridCol w="960120"/>
                <a:gridCol w="960120"/>
                <a:gridCol w="914400"/>
                <a:gridCol w="1133856"/>
                <a:gridCol w="1225296"/>
                <a:gridCol w="1143000"/>
                <a:gridCol w="1097280"/>
                <a:gridCol w="1243584"/>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年回転数</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SPC費用</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投資家配当／年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定常年間利回り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 5年通算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1.33回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9.41億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3.07億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2.33億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23.3%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523百万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7.05億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2.30億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59百万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17.1%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341百万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13.7%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5.64億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13.4%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250百万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0.67回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4.70億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11.0%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9.8%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71614"/>
          </a:solidFill>
          <a:ln w="9525">
            <a:solidFill>
              <a:srgbClr val="2E2A24"/>
            </a:solidFill>
            <a:prstDash val="solid"/>
          </a:ln>
        </p:spPr>
      </p:sp>
      <p:sp>
        <p:nvSpPr>
          <p:cNvPr id="9" name="Text 6"/>
          <p:cNvSpPr/>
          <p:nvPr/>
        </p:nvSpPr>
        <p:spPr>
          <a:xfrm>
            <a:off x="914400" y="3877056"/>
            <a:ext cx="27432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読み方</a:t>
            </a:r>
            <a:endParaRPr lang="en-US" sz="1200" dirty="0"/>
          </a:p>
        </p:txBody>
      </p:sp>
      <p:sp>
        <p:nvSpPr>
          <p:cNvPr id="10" name="Shape 7"/>
          <p:cNvSpPr/>
          <p:nvPr/>
        </p:nvSpPr>
        <p:spPr>
          <a:xfrm>
            <a:off x="914400" y="4201668"/>
            <a:ext cx="146304" cy="146304"/>
          </a:xfrm>
          <a:prstGeom prst="ellipse">
            <a:avLst/>
          </a:prstGeom>
          <a:solidFill>
            <a:srgbClr val="6E5730"/>
          </a:solidFill>
          <a:ln w="11430">
            <a:solidFill>
              <a:srgbClr val="6E5730"/>
            </a:solidFill>
            <a:prstDash val="solid"/>
          </a:ln>
        </p:spPr>
      </p:sp>
      <p:sp>
        <p:nvSpPr>
          <p:cNvPr id="11" name="Text 8"/>
          <p:cNvSpPr/>
          <p:nvPr/>
        </p:nvSpPr>
        <p:spPr>
          <a:xfrm>
            <a:off x="914400" y="4201668"/>
            <a:ext cx="146304" cy="146304"/>
          </a:xfrm>
          <a:prstGeom prst="rect">
            <a:avLst/>
          </a:prstGeom>
          <a:noFill/>
          <a:ln/>
        </p:spPr>
        <p:txBody>
          <a:bodyPr wrap="square" lIns="0" tIns="0" rIns="0" bIns="0" rtlCol="0" anchor="ctr"/>
          <a:lstStyle/>
          <a:p>
            <a:pPr algn="ctr" indent="0" marL="0">
              <a:buNone/>
            </a:pPr>
            <a:endParaRPr lang="en-US" sz="1100" dirty="0"/>
          </a:p>
        </p:txBody>
      </p:sp>
      <p:sp>
        <p:nvSpPr>
          <p:cNvPr id="12" name="Text 9"/>
          <p:cNvSpPr/>
          <p:nvPr/>
        </p:nvSpPr>
        <p:spPr>
          <a:xfrm>
            <a:off x="1170432" y="4151376"/>
            <a:ext cx="4800600" cy="329184"/>
          </a:xfrm>
          <a:prstGeom prst="rect">
            <a:avLst/>
          </a:prstGeom>
          <a:noFill/>
          <a:ln/>
        </p:spPr>
        <p:txBody>
          <a:bodyPr wrap="square" lIns="0" tIns="0" rIns="0" bIns="0" rtlCol="0" anchor="ctr"/>
          <a:lstStyle/>
          <a:p>
            <a:pPr indent="0" marL="0">
              <a:lnSpc>
                <a:spcPct val="115000"/>
              </a:lnSpc>
              <a:buNone/>
            </a:pPr>
            <a:r>
              <a:rPr lang="en-US" sz="1000" dirty="0">
                <a:solidFill>
                  <a:srgbClr val="9A938A"/>
                </a:solidFill>
                <a:latin typeface="Yu Gothic" pitchFamily="34" charset="0"/>
                <a:ea typeface="Yu Gothic" pitchFamily="34" charset="-122"/>
                <a:cs typeface="Yu Gothic" pitchFamily="34" charset="-120"/>
              </a:rPr>
              <a:t>定常年間利回り＝運用が軌道に乗った後の年間実力値</a:t>
            </a:r>
            <a:endParaRPr lang="en-US" sz="1000" dirty="0"/>
          </a:p>
        </p:txBody>
      </p:sp>
      <p:sp>
        <p:nvSpPr>
          <p:cNvPr id="13" name="Shape 10"/>
          <p:cNvSpPr/>
          <p:nvPr/>
        </p:nvSpPr>
        <p:spPr>
          <a:xfrm>
            <a:off x="914400" y="4604004"/>
            <a:ext cx="146304" cy="146304"/>
          </a:xfrm>
          <a:prstGeom prst="ellipse">
            <a:avLst/>
          </a:prstGeom>
          <a:solidFill>
            <a:srgbClr val="6E5730"/>
          </a:solidFill>
          <a:ln w="11430">
            <a:solidFill>
              <a:srgbClr val="6E5730"/>
            </a:solidFill>
            <a:prstDash val="solid"/>
          </a:ln>
        </p:spPr>
      </p:sp>
      <p:sp>
        <p:nvSpPr>
          <p:cNvPr id="14" name="Text 11"/>
          <p:cNvSpPr/>
          <p:nvPr/>
        </p:nvSpPr>
        <p:spPr>
          <a:xfrm>
            <a:off x="914400" y="4604004"/>
            <a:ext cx="146304" cy="146304"/>
          </a:xfrm>
          <a:prstGeom prst="rect">
            <a:avLst/>
          </a:prstGeom>
          <a:noFill/>
          <a:ln/>
        </p:spPr>
        <p:txBody>
          <a:bodyPr wrap="square" lIns="0" tIns="0" rIns="0" bIns="0" rtlCol="0" anchor="ctr"/>
          <a:lstStyle/>
          <a:p>
            <a:pPr algn="ctr" indent="0" marL="0">
              <a:buNone/>
            </a:pPr>
            <a:endParaRPr lang="en-US" sz="1100" dirty="0"/>
          </a:p>
        </p:txBody>
      </p:sp>
      <p:sp>
        <p:nvSpPr>
          <p:cNvPr id="15" name="Text 12"/>
          <p:cNvSpPr/>
          <p:nvPr/>
        </p:nvSpPr>
        <p:spPr>
          <a:xfrm>
            <a:off x="1170432" y="4553712"/>
            <a:ext cx="4800600" cy="329184"/>
          </a:xfrm>
          <a:prstGeom prst="rect">
            <a:avLst/>
          </a:prstGeom>
          <a:noFill/>
          <a:ln/>
        </p:spPr>
        <p:txBody>
          <a:bodyPr wrap="square" lIns="0" tIns="0" rIns="0" bIns="0" rtlCol="0" anchor="ctr"/>
          <a:lstStyle/>
          <a:p>
            <a:pPr indent="0" marL="0">
              <a:lnSpc>
                <a:spcPct val="115000"/>
              </a:lnSpc>
              <a:buNone/>
            </a:pPr>
            <a:r>
              <a:rPr lang="en-US" sz="1000" dirty="0">
                <a:solidFill>
                  <a:srgbClr val="9A938A"/>
                </a:solidFill>
                <a:latin typeface="Yu Gothic" pitchFamily="34" charset="0"/>
                <a:ea typeface="Yu Gothic" pitchFamily="34" charset="-122"/>
                <a:cs typeface="Yu Gothic" pitchFamily="34" charset="-120"/>
              </a:rPr>
              <a:t>年平均利回り＝5年間の累計分配額÷出資額÷5年。仕入展開6ヶ月と満期前の清算期間を織り込んだ通算値</a:t>
            </a:r>
            <a:endParaRPr lang="en-US" sz="1000" dirty="0"/>
          </a:p>
        </p:txBody>
      </p:sp>
      <p:sp>
        <p:nvSpPr>
          <p:cNvPr id="16" name="Shape 13"/>
          <p:cNvSpPr/>
          <p:nvPr/>
        </p:nvSpPr>
        <p:spPr>
          <a:xfrm>
            <a:off x="914400" y="5006340"/>
            <a:ext cx="146304" cy="146304"/>
          </a:xfrm>
          <a:prstGeom prst="ellipse">
            <a:avLst/>
          </a:prstGeom>
          <a:solidFill>
            <a:srgbClr val="6E5730"/>
          </a:solidFill>
          <a:ln w="11430">
            <a:solidFill>
              <a:srgbClr val="6E5730"/>
            </a:solidFill>
            <a:prstDash val="solid"/>
          </a:ln>
        </p:spPr>
      </p:sp>
      <p:sp>
        <p:nvSpPr>
          <p:cNvPr id="17" name="Text 14"/>
          <p:cNvSpPr/>
          <p:nvPr/>
        </p:nvSpPr>
        <p:spPr>
          <a:xfrm>
            <a:off x="914400" y="5006340"/>
            <a:ext cx="146304" cy="146304"/>
          </a:xfrm>
          <a:prstGeom prst="rect">
            <a:avLst/>
          </a:prstGeom>
          <a:noFill/>
          <a:ln/>
        </p:spPr>
        <p:txBody>
          <a:bodyPr wrap="square" lIns="0" tIns="0" rIns="0" bIns="0" rtlCol="0" anchor="ctr"/>
          <a:lstStyle/>
          <a:p>
            <a:pPr algn="ctr" indent="0" marL="0">
              <a:buNone/>
            </a:pPr>
            <a:endParaRPr lang="en-US" sz="1100" dirty="0"/>
          </a:p>
        </p:txBody>
      </p:sp>
      <p:sp>
        <p:nvSpPr>
          <p:cNvPr id="18" name="Text 15"/>
          <p:cNvSpPr/>
          <p:nvPr/>
        </p:nvSpPr>
        <p:spPr>
          <a:xfrm>
            <a:off x="1170432" y="4956048"/>
            <a:ext cx="4800600" cy="329184"/>
          </a:xfrm>
          <a:prstGeom prst="rect">
            <a:avLst/>
          </a:prstGeom>
          <a:noFill/>
          <a:ln/>
        </p:spPr>
        <p:txBody>
          <a:bodyPr wrap="square" lIns="0" tIns="0" rIns="0" bIns="0" rtlCol="0" anchor="ctr"/>
          <a:lstStyle/>
          <a:p>
            <a:pPr indent="0" marL="0">
              <a:lnSpc>
                <a:spcPct val="115000"/>
              </a:lnSpc>
              <a:buNone/>
            </a:pPr>
            <a:r>
              <a:rPr lang="en-US" sz="1000" dirty="0">
                <a:solidFill>
                  <a:srgbClr val="9A938A"/>
                </a:solidFill>
                <a:latin typeface="Yu Gothic" pitchFamily="34" charset="0"/>
                <a:ea typeface="Yu Gothic" pitchFamily="34" charset="-122"/>
                <a:cs typeface="Yu Gothic" pitchFamily="34" charset="-120"/>
              </a:rPr>
              <a:t>回転期間が短いほど改善幅は加速（15→12ヶ月で＋3.7pt、12→9ヶ月で＋6.2pt）</a:t>
            </a:r>
            <a:endParaRPr lang="en-US" sz="1000" dirty="0"/>
          </a:p>
        </p:txBody>
      </p:sp>
      <p:sp>
        <p:nvSpPr>
          <p:cNvPr id="19" name="Shape 16"/>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0" name="Text 17"/>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1" name="Text 18"/>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定常年間利回り（税引前）</a:t>
            </a:r>
            <a:endParaRPr lang="en-US" sz="1050" dirty="0"/>
          </a:p>
        </p:txBody>
      </p:sp>
      <p:sp>
        <p:nvSpPr>
          <p:cNvPr id="22" name="Text 19"/>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17.1 – 23.3</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3" name="Text 20"/>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実務上の想定回転期間を9〜12ヶ月として提示する（5年通算の年平均利回りは13.7〜20.9%）。18ヶ月まで悪化すると定常利回りは11.0%まで低下するため、回転期間の管理が最大の運用課題となる。</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粗利率は前提として固定されるため、投資家リターンは実質的に在庫回転数の一次関数になる。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回転期間がすべて</a:t>
            </a:r>
            <a:endParaRPr lang="en-US" sz="1200" dirty="0"/>
          </a:p>
        </p:txBody>
      </p:sp>
      <p:sp>
        <p:nvSpPr>
          <p:cNvPr id="13" name="Text 9"/>
          <p:cNvSpPr/>
          <p:nvPr/>
        </p:nvSpPr>
        <p:spPr>
          <a:xfrm>
            <a:off x="91440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回転12ヶ月を1ヶ月短縮するごとに定常年間利回りは約1.7ポイント改善する。値引きや粗利率の微調整より、回転を上げる打ち手のほうが効く。</a:t>
            </a:r>
            <a:endParaRPr lang="en-US" sz="100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運用期間5年が回転の遅れを吸収する</a:t>
            </a:r>
            <a:endParaRPr lang="en-US" sz="1200" dirty="0"/>
          </a:p>
        </p:txBody>
      </p:sp>
      <p:sp>
        <p:nvSpPr>
          <p:cNvPr id="16" name="Text 12"/>
          <p:cNvSpPr/>
          <p:nvPr/>
        </p:nvSpPr>
        <p:spPr>
          <a:xfrm>
            <a:off x="648904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展開6ヶ月＋回転18ヶ月でも5年間で3回転できる。3年満期では1回転しかできず資金が1年以上遊ぶため、5年設計が回転期間のブレに対する耐性を生んでいる。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調達・販売チャネルの寄せ方で上振れし、値引き販売で下振れする。いずれも譲渡1%・変動販売費控除後の数値。</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ポジティブ｜SPC取得原価40.4・B2C100%・粗利率38.3%</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96112"/>
                <a:gridCol w="1005840"/>
                <a:gridCol w="960120"/>
                <a:gridCol w="960120"/>
                <a:gridCol w="960120"/>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年平均5年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12.54億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4.65億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46.5%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41.8%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9.41億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3.45億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34.5%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27.5%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7.52億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6.27億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584448"/>
            <a:ext cx="4788256"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インポーター直仕入の比率を引き上げ、販売をネット最安値帯に寄せることで到達。手数料は重くなるが売値の高さが上回る。年間調達枠の確保が前提条件。</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ネガティブ｜売値5%値引き・粗利率22.7%</a:t>
            </a:r>
            <a:endParaRPr lang="en-US" sz="115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96112"/>
                <a:gridCol w="1005840"/>
                <a:gridCol w="960120"/>
                <a:gridCol w="960120"/>
                <a:gridCol w="960120"/>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年平均5年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18.9%</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16.9%</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11.0%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5.36億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0.88億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7.8%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584448"/>
            <a:ext cx="4788256"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売値を5%（B2B70→66.5／B2C80→76）値引きすると定常年間利回りは3.3ポイント低下する。単位粗利19.67に対しては19%のインパクトとなる。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回転を上げるために値引く」は割に合わない。売値5%の値引きは単位粗利を19%毀損し、失う利回り3.3ポイントを取り戻すには回転期間を12ヶ月から約10ヶ月へ短縮する必要がある。価格を維持したまま販売チャネルを増やすことが本筋の改善手段となる。</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3シナリオ比較：定常年間利回り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運用が軌道に乗った後の年間実力値。投資家取分（税前利益の50%）ベース。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回転9〜12ヶ月で定常年間利回り17.1〜23.3%（5年通算の年平均利回り13.7〜20.9%）。保守的な前提を積み上げた数値であり、交渉の出発点として提示する。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調達をインポーター直に寄せ、販売をネット最安値帯に寄せれば、同じ回転期間で利回りは2倍になる。</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値引き5%を強いられても、回転9ヶ月を維持できれば定常利回り18.9%を確保できる。回転の維持が防衛線。</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ニュートラル・回転12ヶ月（定常年間利回り17.1%）を基準とした、各変数の単独変動による影響。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792224"/>
                <a:gridCol w="2212848"/>
                <a:gridCol w="2359152"/>
                <a:gridCol w="877824"/>
                <a:gridCol w="363016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定常年間利回りへの影響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17.1% → 11.0%（▲6.2pt）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販売チャネル多重化・売れ筋銘柄への集中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売値 ▲5%（70/80→66.5/76）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17.1% → 13.8%（▲3.3pt）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値引き販売を禁じ、価格維持を運用ルール化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17.1% → 15.3%（▲1.9pt）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B2Cのモール手数料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5.5% → 8.0%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17.1% → 16.2%（▲0.9pt）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自社EC・自社オークションの構成比を引き上げる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販売チャネル構成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B2B50:B2C50 → B2C100%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17.1% → 18.0%（＋0.9pt）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手数料は重いが売値の高さが上回る。ただし出荷量に上限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調達構成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17.1% → 24.4%（＋7.3pt）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663440"/>
            <a:ext cx="10874959" cy="1005840"/>
          </a:xfrm>
          <a:prstGeom prst="roundRect">
            <a:avLst>
              <a:gd name="adj" fmla="val 4091"/>
            </a:avLst>
          </a:prstGeom>
          <a:solidFill>
            <a:srgbClr val="1F1D19"/>
          </a:solidFill>
          <a:ln w="9525">
            <a:solidFill>
              <a:srgbClr val="6E5730"/>
            </a:solidFill>
            <a:prstDash val="solid"/>
          </a:ln>
        </p:spPr>
      </p:sp>
      <p:sp>
        <p:nvSpPr>
          <p:cNvPr id="9" name="Text 6"/>
          <p:cNvSpPr/>
          <p:nvPr/>
        </p:nvSpPr>
        <p:spPr>
          <a:xfrm>
            <a:off x="932688" y="4791456"/>
            <a:ext cx="10326319" cy="749808"/>
          </a:xfrm>
          <a:prstGeom prst="rect">
            <a:avLst/>
          </a:prstGeom>
          <a:noFill/>
          <a:ln/>
        </p:spPr>
        <p:txBody>
          <a:bodyPr wrap="square" lIns="0" tIns="0" rIns="0" bIns="0" rtlCol="0" anchor="ctr"/>
          <a:lstStyle/>
          <a:p>
            <a:pPr indent="0" marL="0">
              <a:lnSpc>
                <a:spcPct val="125000"/>
              </a:lnSpc>
              <a:buNone/>
            </a:pPr>
            <a:r>
              <a:rPr lang="en-US" sz="1150" dirty="0">
                <a:solidFill>
                  <a:srgbClr val="EFEBE3"/>
                </a:solidFill>
                <a:latin typeface="Yu Gothic" pitchFamily="34" charset="0"/>
                <a:ea typeface="Yu Gothic" pitchFamily="34" charset="-122"/>
                <a:cs typeface="Yu Gothic" pitchFamily="34" charset="-120"/>
              </a:rPr>
              <a:t>結論：リターン改善の打ち手は「回転期間の短縮」と「調達構成の改善」の2つに集約される。なお、インポーターの仕入価格が上昇する局面では希望小売価格も連動して上昇するため、定価比の構造（仕入50・売却70／80）は維持され、利回りへの影響は生じない。</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6" name="Shape 4"/>
          <p:cNvSpPr/>
          <p:nvPr/>
        </p:nvSpPr>
        <p:spPr>
          <a:xfrm>
            <a:off x="658368" y="1554480"/>
            <a:ext cx="2526716" cy="1920240"/>
          </a:xfrm>
          <a:prstGeom prst="roundRect">
            <a:avLst>
              <a:gd name="adj" fmla="val 2143"/>
            </a:avLst>
          </a:prstGeom>
          <a:solidFill>
            <a:srgbClr val="171614"/>
          </a:solidFill>
          <a:ln w="9525">
            <a:solidFill>
              <a:srgbClr val="2E2A24"/>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a:t>
            </a:r>
            <a:endParaRPr lang="en-US" sz="95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短期回転モデルのため市況依存度は低い。値上がり益はリターンに一切算入していない。</a:t>
            </a:r>
            <a:endParaRPr lang="en-US" sz="95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5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95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定温倉庫での保管と動産総合保険による全量付保。ロスは保険でカバーする前提のため費用計上していない。倉庫在庫は四半期ごとに第三者棚卸。</a:t>
            </a:r>
            <a:endParaRPr lang="en-US" sz="95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a:t>
            </a:r>
            <a:endParaRPr lang="en-US" sz="95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50" dirty="0"/>
          </a:p>
        </p:txBody>
      </p:sp>
      <p:sp>
        <p:nvSpPr>
          <p:cNvPr id="34" name="Shape 32"/>
          <p:cNvSpPr/>
          <p:nvPr/>
        </p:nvSpPr>
        <p:spPr>
          <a:xfrm>
            <a:off x="9006611" y="3675888"/>
            <a:ext cx="2526716" cy="1920240"/>
          </a:xfrm>
          <a:prstGeom prst="roundRect">
            <a:avLst>
              <a:gd name="adj" fmla="val 2143"/>
            </a:avLst>
          </a:prstGeom>
          <a:solidFill>
            <a:srgbClr val="171614"/>
          </a:solidFill>
          <a:ln w="9525">
            <a:solidFill>
              <a:srgbClr val="2E2A24"/>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譲渡1%の妥当性を否認される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1389888"/>
          <a:ext cx="10874959" cy="914400"/>
        </p:xfrm>
        <a:graphic>
          <a:graphicData uri="http://schemas.openxmlformats.org/drawingml/2006/table">
            <a:tbl>
              <a:tblPr/>
              <a:tblGrid>
                <a:gridCol w="1920240"/>
                <a:gridCol w="4846320"/>
                <a:gridCol w="4105656"/>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組成形態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合同会社＋匿名組合（GK-TK）</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SPCレベルでは非課税、投資家側で課税</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募集総額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追加募集は半期ごとの受入日に実施</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運用期間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5年</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満期時に在庫を売却清算のうえ元本償還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現物の取得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WineBankが調達した現物をSPCへ譲渡（＋1%）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5億の場合、実商品原価4.95億＋譲渡マージン500万円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資金配分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出資金の95%をワイン購入、5%を現金保有</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現金は運転資金および期中の入出金調整に充当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販売チャネル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構成比は市況に応じて調整。手取りの高いチャネルを優先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分配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半期ごと（税前利益を投資家50：WineBank50）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元本はSPC内に留保し継続運用</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SPC負担費用</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保管・保険・入庫・変動販売費・維持費200万・人件費360万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これ以外の管理報酬・成功報酬は課さない（監査費用は別途）</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想定リターン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定常年間利回り 17.1〜23.3%（回転12〜9ヶ月）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ニュートラル前提。5年通算の年平均利回りは13.7〜20.9%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中途解約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3年経過後、年度ごとの解約日に申出可（90日前通知）</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当初3年間はロックアップ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元本の裏付け</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SPC名義のワイン現物および現金</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四半期ごとに在庫明細・簿価を報告</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報告</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四半期：在庫明細・簿価・売上・試算表／年次：決算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在庫と売上をあわせて四半期ごとに開示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7" name="Shape 4"/>
          <p:cNvSpPr/>
          <p:nvPr/>
        </p:nvSpPr>
        <p:spPr>
          <a:xfrm>
            <a:off x="658368" y="5394960"/>
            <a:ext cx="10874959" cy="822960"/>
          </a:xfrm>
          <a:prstGeom prst="roundRect">
            <a:avLst>
              <a:gd name="adj" fmla="val 5000"/>
            </a:avLst>
          </a:prstGeom>
          <a:solidFill>
            <a:srgbClr val="1F1D19"/>
          </a:solidFill>
          <a:ln w="9525">
            <a:solidFill>
              <a:srgbClr val="6E5730"/>
            </a:solidFill>
            <a:prstDash val="solid"/>
          </a:ln>
        </p:spPr>
      </p:sp>
      <p:sp>
        <p:nvSpPr>
          <p:cNvPr id="8" name="Text 5"/>
          <p:cNvSpPr/>
          <p:nvPr/>
        </p:nvSpPr>
        <p:spPr>
          <a:xfrm>
            <a:off x="932688" y="5486400"/>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9" name="Text 6"/>
          <p:cNvSpPr/>
          <p:nvPr/>
        </p:nvSpPr>
        <p:spPr>
          <a:xfrm>
            <a:off x="932688" y="5724144"/>
            <a:ext cx="10326319" cy="42062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定常年間利回りは17.1%→15.3%）。当初3年ロックアップ・4年目以降は年度ごとの解約という設計により、現金保有を5%に抑え、出資金の95%をワインに充当できる。</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想定回転期間・販売チャネル構成・解約条件・折半の定義（税前利益ベース）、および現物譲渡1%の水準についてご意見をいただく。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SPCの免許要否と売買形態を所轄税務署（酒類指導官）・顧問弁護士と確認。譲渡価格1%の算定根拠を文書化する。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スキーム組成</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GK-TKの組成、契約書一式（匿名組合契約・業務委託契約・売買基本契約）の作成。5年満期・3年ロックアップを織り込む。</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投資実行</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半期の受入日に合わせて着金、運用開始。四半期ごとに在庫明細・簿価・売上を報告する。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6" name="Shape 4"/>
          <p:cNvSpPr/>
          <p:nvPr/>
        </p:nvSpPr>
        <p:spPr>
          <a:xfrm>
            <a:off x="658368" y="1572768"/>
            <a:ext cx="6537960" cy="749808"/>
          </a:xfrm>
          <a:prstGeom prst="roundRect">
            <a:avLst>
              <a:gd name="adj" fmla="val 5488"/>
            </a:avLst>
          </a:prstGeom>
          <a:solidFill>
            <a:srgbClr val="171614"/>
          </a:solidFill>
          <a:ln w="9525">
            <a:solidFill>
              <a:srgbClr val="2E2A24"/>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8249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10" name="Text 8"/>
          <p:cNvSpPr/>
          <p:nvPr/>
        </p:nvSpPr>
        <p:spPr>
          <a:xfrm>
            <a:off x="1280160" y="192024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出資金の95%が常にワイン現物として存在する。SPC名義で保有し倒産隔離。値上がり益はリターンに一切算入していない。</a:t>
            </a:r>
            <a:endParaRPr lang="en-US" sz="90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50545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相場ではなく流通の価格差から収益を得る</a:t>
            </a:r>
            <a:endParaRPr lang="en-US" sz="1150" dirty="0"/>
          </a:p>
        </p:txBody>
      </p:sp>
      <p:sp>
        <p:nvSpPr>
          <p:cNvPr id="15" name="Text 13"/>
          <p:cNvSpPr/>
          <p:nvPr/>
        </p:nvSpPr>
        <p:spPr>
          <a:xfrm>
            <a:off x="1280160" y="274320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Liv-ex市況の上下ではなく、40〜60で仕入れ70〜80で売る価格差が収益源。市況が横ばいでも成立し、株式・債券との相関が低い。</a:t>
            </a:r>
            <a:endParaRPr lang="en-US" sz="90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2841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80160" y="356616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創業55年の酒販免許、大手インポーターとの直接取引、輸出入ライセンス。新規参入業者が正規品を同じ価格で大量に仕入れることはできない。</a:t>
            </a:r>
            <a:endParaRPr lang="en-US" sz="90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5137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出口をB2B・B2Cの両輪で持っている</a:t>
            </a:r>
            <a:endParaRPr lang="en-US" sz="1150" dirty="0"/>
          </a:p>
        </p:txBody>
      </p:sp>
      <p:sp>
        <p:nvSpPr>
          <p:cNvPr id="25" name="Text 23"/>
          <p:cNvSpPr/>
          <p:nvPr/>
        </p:nvSpPr>
        <p:spPr>
          <a:xfrm>
            <a:off x="1280160" y="438912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酒販店卸（B2B）に加え、自社EC・オークション・CLUB会員・グループのアピシウス（B2C）。手取りの高いチャネルを選べる構造。</a:t>
            </a:r>
            <a:endParaRPr lang="en-US" sz="900" dirty="0"/>
          </a:p>
        </p:txBody>
      </p:sp>
      <p:sp>
        <p:nvSpPr>
          <p:cNvPr id="26" name="Shape 24"/>
          <p:cNvSpPr/>
          <p:nvPr/>
        </p:nvSpPr>
        <p:spPr>
          <a:xfrm>
            <a:off x="658368" y="4864608"/>
            <a:ext cx="6537960" cy="749808"/>
          </a:xfrm>
          <a:prstGeom prst="roundRect">
            <a:avLst>
              <a:gd name="adj" fmla="val 5488"/>
            </a:avLst>
          </a:prstGeom>
          <a:solidFill>
            <a:srgbClr val="1F1D19"/>
          </a:solidFill>
          <a:ln w="9525">
            <a:solidFill>
              <a:srgbClr val="6E5730"/>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74336"/>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運営者と利害が完全に一致している</a:t>
            </a:r>
            <a:endParaRPr lang="en-US" sz="1150" dirty="0"/>
          </a:p>
        </p:txBody>
      </p:sp>
      <p:sp>
        <p:nvSpPr>
          <p:cNvPr id="30" name="Text 28"/>
          <p:cNvSpPr/>
          <p:nvPr/>
        </p:nvSpPr>
        <p:spPr>
          <a:xfrm>
            <a:off x="1280160" y="521208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期中報酬も成功報酬も取らず、報酬は利益の折半のみ。投資家が儲からなければWineBankも儲からない。1号ファンド（2022年〜）の運営実績あり。</a:t>
            </a:r>
            <a:endParaRPr lang="en-US" sz="90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定常年間利回りが20%に到達するのは在庫回転10.4ヶ月。回転9ヶ月なら23.3%、12ヶ月で17.1%。</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回転10ヶ月前後が貴社基準との分岐点。ここを運用KPIとして四半期報告する。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この設計により現金保有を5%に抑え、出資金の95%をワインに充当できる。半期解約を前提とすると稼働率が下がり17.1%→15.3%に低下する。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伝統的資産と相関の低い実物資産。既存30億円のポートフォリオに対し5億円は約17%。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単一銘柄ではなく約3.8万本・複数産地への分散となり、ポートフォリオ内での分散効果が働く。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50" dirty="0">
                <a:solidFill>
                  <a:srgbClr val="EFEBE3"/>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ファンドは、値上がりを待つ投資ではなく、この実務そのものに出資いただくご提案で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2026-08-12T01:02:54Z</dcterms:created>
  <dcterms:modified xsi:type="dcterms:W3CDTF">2026-08-12T01:02:54Z</dcterms:modified>
</cp:coreProperties>
</file>