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エクイティ定常年間利回り（％）</a:t>
            </a:r>
          </a:p>
        </c:rich>
      </c:tx>
      <c:layout/>
      <c:overlay val="0"/>
    </c:title>
    <c:autoTitleDeleted val="0"/>
    <c:plotArea>
      <c:layout/>
      <c:barChart>
        <c:barDir val="col"/>
        <c:grouping val="clustered"/>
        <c:varyColors val="0"/>
        <c:ser>
          <c:idx val="0"/>
          <c:order val="0"/>
          <c:tx>
            <c:strRef>
              <c:f>Sheet1!$B$1</c:f>
              <c:strCache>
                <c:ptCount val="1"/>
                <c:pt idx="0">
                  <c:v>エクイティ定常年間利回り（％）</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54.2</c:v>
                </c:pt>
                <c:pt idx="1">
                  <c:v>42</c:v>
                </c:pt>
                <c:pt idx="2">
                  <c:v>34.7</c:v>
                </c:pt>
                <c:pt idx="3">
                  <c:v>29.8</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62"/>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年平均利回り（5年通算・％）</a:t>
            </a:r>
          </a:p>
        </c:rich>
      </c:tx>
      <c:layout/>
      <c:overlay val="0"/>
    </c:title>
    <c:autoTitleDeleted val="0"/>
    <c:plotArea>
      <c:layout/>
      <c:barChart>
        <c:barDir val="col"/>
        <c:grouping val="clustered"/>
        <c:varyColors val="0"/>
        <c:ser>
          <c:idx val="0"/>
          <c:order val="0"/>
          <c:tx>
            <c:strRef>
              <c:f>Sheet1!$B$1</c:f>
              <c:strCache>
                <c:ptCount val="1"/>
                <c:pt idx="0">
                  <c:v>年平均利回り（5年通算・％）</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48.7</c:v>
                </c:pt>
                <c:pt idx="1">
                  <c:v>33.5</c:v>
                </c:pt>
                <c:pt idx="2">
                  <c:v>25.8</c:v>
                </c:pt>
                <c:pt idx="3">
                  <c:v>26.7</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56"/>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plotVisOnly val="1"/>
    <c:dispBlanksAs val="span"/>
  </c:chart>
  <c:spPr>
    <a:solidFill>
      <a:srgbClr val="171614"/>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1" i="0" u="none" strike="noStrike">
                <a:solidFill>
                  <a:srgbClr val="EFEBE3"/>
                </a:solidFill>
                <a:latin typeface="Yu Gothic"/>
              </a:defRPr>
            </a:pPr>
            <a:r>
              <a:rPr sz="1100" b="1" i="0" u="none" strike="noStrike">
                <a:solidFill>
                  <a:srgbClr val="EFEBE3"/>
                </a:solidFill>
                <a:latin typeface="Yu Gothic"/>
              </a:rPr>
              <a:t>在庫回転期間別 エクイティ定常年間利回り（％）</a:t>
            </a:r>
          </a:p>
        </c:rich>
      </c:tx>
      <c:layout/>
      <c:overlay val="0"/>
    </c:title>
    <c:autoTitleDeleted val="0"/>
    <c:plotArea>
      <c:layout/>
      <c:barChart>
        <c:barDir val="col"/>
        <c:grouping val="clustered"/>
        <c:varyColors val="0"/>
        <c:ser>
          <c:idx val="0"/>
          <c:order val="0"/>
          <c:tx>
            <c:strRef>
              <c:f>Sheet1!$B$1</c:f>
              <c:strCache>
                <c:ptCount val="1"/>
                <c:pt idx="0">
                  <c:v>ポジティブ</c:v>
                </c:pt>
              </c:strCache>
            </c:strRef>
          </c:tx>
          <c:spPr>
            <a:solidFill>
              <a:srgbClr val="C9A96E"/>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Sheet1!$B$2:$B$5</c:f>
              <c:numCache>
                <c:formatCode>General</c:formatCode>
                <c:ptCount val="4"/>
                <c:pt idx="0">
                  <c:v>102.7</c:v>
                </c:pt>
                <c:pt idx="1">
                  <c:v>78.8</c:v>
                </c:pt>
                <c:pt idx="2">
                  <c:v>64.5</c:v>
                </c:pt>
                <c:pt idx="3">
                  <c:v>54.9</c:v>
                </c:pt>
              </c:numCache>
            </c:numRef>
          </c:val>
        </c:ser>
        <c:ser>
          <c:idx val="1"/>
          <c:order val="1"/>
          <c:tx>
            <c:strRef>
              <c:f>Sheet1!$C$1</c:f>
              <c:strCache>
                <c:ptCount val="1"/>
                <c:pt idx="0">
                  <c:v>ニュートラル（主線）</c:v>
                </c:pt>
              </c:strCache>
            </c:strRef>
          </c:tx>
          <c:spPr>
            <a:solidFill>
              <a:srgbClr val="A7845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Sheet1!$C$2:$C$5</c:f>
              <c:numCache>
                <c:formatCode>General</c:formatCode>
                <c:ptCount val="4"/>
                <c:pt idx="0">
                  <c:v>54.2</c:v>
                </c:pt>
                <c:pt idx="1">
                  <c:v>42</c:v>
                </c:pt>
                <c:pt idx="2">
                  <c:v>34.7</c:v>
                </c:pt>
                <c:pt idx="3">
                  <c:v>29.8</c:v>
                </c:pt>
              </c:numCache>
            </c:numRef>
          </c:val>
        </c:ser>
        <c:ser>
          <c:idx val="2"/>
          <c:order val="2"/>
          <c:tx>
            <c:strRef>
              <c:f>Sheet1!$D$1</c:f>
              <c:strCache>
                <c:ptCount val="1"/>
                <c:pt idx="0">
                  <c:v>ネガティブ</c:v>
                </c:pt>
              </c:strCache>
            </c:strRef>
          </c:tx>
          <c:spPr>
            <a:solidFill>
              <a:srgbClr val="6E5730"/>
            </a:solidFill>
            <a:effectLst/>
          </c:spPr>
          <c:invertIfNegative val="0"/>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cat>
            <c:multiLvlStrRef>
              <c:f>Sheet1!$A$2:$A$5</c:f>
              <c:multiLvlStrCache>
                <c:ptCount val="4"/>
                <c:lvl>
                  <c:pt idx="0">
                    <c:v>9ヶ月</c:v>
                  </c:pt>
                  <c:pt idx="1">
                    <c:v>12ヶ月</c:v>
                  </c:pt>
                  <c:pt idx="2">
                    <c:v>15ヶ月</c:v>
                  </c:pt>
                  <c:pt idx="3">
                    <c:v>18ヶ月</c:v>
                  </c:pt>
                </c:lvl>
              </c:multiLvlStrCache>
            </c:multiLvlStrRef>
          </c:cat>
          <c:val>
            <c:numRef>
              <c:f>Sheet1!$D$2:$D$5</c:f>
              <c:numCache>
                <c:formatCode>General</c:formatCode>
                <c:ptCount val="4"/>
                <c:pt idx="0">
                  <c:v>37.6</c:v>
                </c:pt>
                <c:pt idx="1">
                  <c:v>27.5</c:v>
                </c:pt>
                <c:pt idx="2">
                  <c:v>21.4</c:v>
                </c:pt>
                <c:pt idx="3">
                  <c:v>17.4</c:v>
                </c:pt>
              </c:numCache>
            </c:numRef>
          </c:val>
        </c:ser>
        <c:dLbls>
          <c:numFmt formatCode="0.0&quot;%&quot;" sourceLinked="0"/>
          <c:txPr>
            <a:bodyPr/>
            <a:lstStyle/>
            <a:p>
              <a:pPr>
                <a:defRPr b="0" i="0" strike="noStrike" sz="950" u="none">
                  <a:solidFill>
                    <a:srgbClr val="EFEBE3"/>
                  </a:solidFill>
                  <a:latin typeface="Cambri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938A"/>
                </a:solidFill>
                <a:latin typeface="Yu Gothic"/>
              </a:defRPr>
            </a:pPr>
            <a:endParaRPr lang="en-US"/>
          </a:p>
        </c:txPr>
        <c:crossAx val="2094734552"/>
        <c:crosses val="autoZero"/>
        <c:auto val="1"/>
        <c:lblAlgn val="ctr"/>
        <c:noMultiLvlLbl val="1"/>
      </c:catAx>
      <c:valAx>
        <c:axId val="2094734552"/>
        <c:scaling>
          <c:orientation val="minMax"/>
          <c:max val="115"/>
          <c:min val="0"/>
        </c:scaling>
        <c:delete val="0"/>
        <c:axPos val="l"/>
        <c:majorGridlines>
          <c:spPr>
            <a:ln w="7620" cap="flat">
              <a:solidFill>
                <a:srgbClr val="232019"/>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50" b="0" i="0" u="none" strike="noStrike">
                <a:solidFill>
                  <a:srgbClr val="6E675E"/>
                </a:solidFill>
                <a:latin typeface="Cambria"/>
              </a:defRPr>
            </a:pPr>
            <a:endParaRPr lang="en-US"/>
          </a:p>
        </c:txPr>
        <c:crossAx val="2094734554"/>
        <c:crosses val="autoZero"/>
        <c:crossBetween val="between"/>
      </c:valAx>
      <c:spPr>
        <a:solidFill>
          <a:srgbClr val="171614"/>
        </a:solidFill>
        <a:ln>
          <a:noFill/>
        </a:ln>
        <a:effectLst/>
      </c:spPr>
    </c:plotArea>
    <c:legend>
      <c:legendPos val="b"/>
      <c:overlay val="0"/>
      <c:txPr>
        <a:bodyPr/>
        <a:lstStyle/>
        <a:p>
          <a:pPr>
            <a:defRPr sz="950">
              <a:solidFill>
                <a:srgbClr val="9A938A"/>
              </a:solidFill>
              <a:latin typeface="Yu Gothic"/>
              <a:cs typeface="Yu Gothic"/>
            </a:defRPr>
          </a:pPr>
          <a:endParaRPr lang="en-US"/>
        </a:p>
      </c:txPr>
    </c:legend>
    <c:plotVisOnly val="1"/>
    <c:dispBlanksAs val="span"/>
  </c:chart>
  <c:spPr>
    <a:solidFill>
      <a:srgbClr val="171614"/>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5億円・運用期間5年のワインファンド組成提案。実物ワインの流通価格差を収益源とする現物裏付け型。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骨子。主線は回転9〜12ヶ月で定常年間利回り17.1〜23.3%、5年通算の年平均利回り13.7〜20.9%。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投資家60：WineBank40の按分。デット金利はWineBank負担。合成利回り19.1%の注意点も明記。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回転12ヶ月＝年間7.48億円。現状実力の上限をやや上回るため、SPC優先売却で埋める。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免許事業者であるWineBankが売買当事者。SPCは所有者として損益を受ける。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免許・口座・割当の3つの壁があるため、WineBankが当事者となる。1%は独立企業間価格の最小値。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会社紹介資料17ページの流通価格構造を採用。値上がり年6%を保有期間ぶん売値に乗せる。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チャネル別の手取り比較。B2C 71.04 &gt; B2B 69.30。ただし回転を作るにはB2Bが必要。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ネガティブは値引き5%＋価格横ばいの複合ケース。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保管料は業務用パレット保管の水準。ロスは保険でカバーするため未計上。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主線のレンジは定常年間利回り21.1〜27.2%。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回転期間が一次的にリターンを決める。5年満期により18ヶ月回転でも3回転可能。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値上がり効果は在庫に対するリターンなので回転期間によらず一定（約+8.0pt）。相殺ではなく底上げ。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値引きは割に合わない。チャネル増加が本筋。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3シナリオ比較。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20%割れは年間販売3.2億円割れのみ。ネガティブ複合でも5.05億円が分岐点。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SKU排他が主。重複分はSPC優先売却＋価格同一＋補填条項で担保。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高岡先生の指摘事項をそのまま条項化。AUPは50万円でSPC費用に計上済み。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免許・商流リスクと移転価格リスクを含む8項目。</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運用期間5年・3年ロックアップ・年度解約。報告は四半期。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免許・税務の確定を第2ステップに置く。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意義は5点。先方基準20%に対しては回転10.4ヶ月が分岐点。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7818120" y="-868680"/>
            <a:ext cx="5577840" cy="5577840"/>
          </a:xfrm>
          <a:prstGeom prst="ellipse">
            <a:avLst/>
          </a:prstGeom>
          <a:solidFill>
            <a:srgbClr val="0C0C0C"/>
          </a:solidFill>
          <a:ln w="13970">
            <a:solidFill>
              <a:srgbClr val="1E1A15"/>
            </a:solidFill>
            <a:prstDash val="solid"/>
          </a:ln>
        </p:spPr>
      </p:sp>
      <p:sp>
        <p:nvSpPr>
          <p:cNvPr id="3" name="Shape 1"/>
          <p:cNvSpPr/>
          <p:nvPr/>
        </p:nvSpPr>
        <p:spPr>
          <a:xfrm>
            <a:off x="8732520" y="45720"/>
            <a:ext cx="3749040" cy="3749040"/>
          </a:xfrm>
          <a:prstGeom prst="ellipse">
            <a:avLst/>
          </a:prstGeom>
          <a:solidFill>
            <a:srgbClr val="0C0C0C"/>
          </a:solidFill>
          <a:ln w="11430">
            <a:solidFill>
              <a:srgbClr val="6E5730"/>
            </a:solidFill>
            <a:prstDash val="solid"/>
          </a:ln>
        </p:spPr>
      </p:sp>
      <p:sp>
        <p:nvSpPr>
          <p:cNvPr id="4" name="Shape 2"/>
          <p:cNvSpPr/>
          <p:nvPr/>
        </p:nvSpPr>
        <p:spPr>
          <a:xfrm>
            <a:off x="10287000" y="1600200"/>
            <a:ext cx="640080" cy="640080"/>
          </a:xfrm>
          <a:prstGeom prst="ellipse">
            <a:avLst/>
          </a:prstGeom>
          <a:solidFill>
            <a:srgbClr val="A78450"/>
          </a:solidFill>
          <a:ln w="12700">
            <a:solidFill>
              <a:srgbClr val="A78450"/>
            </a:solidFill>
            <a:prstDash val="solid"/>
          </a:ln>
        </p:spPr>
      </p:sp>
      <p:sp>
        <p:nvSpPr>
          <p:cNvPr id="5" name="Text 3"/>
          <p:cNvSpPr/>
          <p:nvPr/>
        </p:nvSpPr>
        <p:spPr>
          <a:xfrm>
            <a:off x="658368" y="566928"/>
            <a:ext cx="5486400" cy="274320"/>
          </a:xfrm>
          <a:prstGeom prst="rect">
            <a:avLst/>
          </a:prstGeom>
          <a:noFill/>
          <a:ln/>
        </p:spPr>
        <p:txBody>
          <a:bodyPr wrap="square" lIns="0" tIns="0" rIns="0" bIns="0" rtlCol="0" anchor="ctr"/>
          <a:lstStyle/>
          <a:p>
            <a:pPr indent="0" marL="0">
              <a:buNone/>
            </a:pPr>
            <a:r>
              <a:rPr lang="en-US" sz="1300" b="1" spc="550" kern="0" dirty="0">
                <a:solidFill>
                  <a:srgbClr val="EFEBE3"/>
                </a:solidFill>
                <a:latin typeface="Cambria" pitchFamily="34" charset="0"/>
                <a:ea typeface="Cambria" pitchFamily="34" charset="-122"/>
                <a:cs typeface="Cambria" pitchFamily="34" charset="-120"/>
              </a:rPr>
              <a:t>WINEBANK</a:t>
            </a:r>
            <a:endParaRPr lang="en-US" sz="1300" dirty="0"/>
          </a:p>
        </p:txBody>
      </p:sp>
      <p:sp>
        <p:nvSpPr>
          <p:cNvPr id="6" name="Text 4"/>
          <p:cNvSpPr/>
          <p:nvPr/>
        </p:nvSpPr>
        <p:spPr>
          <a:xfrm>
            <a:off x="658368" y="2212848"/>
            <a:ext cx="7680960" cy="256032"/>
          </a:xfrm>
          <a:prstGeom prst="rect">
            <a:avLst/>
          </a:prstGeom>
          <a:noFill/>
          <a:ln/>
        </p:spPr>
        <p:txBody>
          <a:bodyPr wrap="square" lIns="0" tIns="0" rIns="0" bIns="0" rtlCol="0" anchor="ctr"/>
          <a:lstStyle/>
          <a:p>
            <a:pPr indent="0" marL="0">
              <a:buNone/>
            </a:pPr>
            <a:r>
              <a:rPr lang="en-US" sz="1100" b="1" spc="360" kern="0" dirty="0">
                <a:solidFill>
                  <a:srgbClr val="A78450"/>
                </a:solidFill>
                <a:latin typeface="Cambria" pitchFamily="34" charset="0"/>
                <a:ea typeface="Cambria" pitchFamily="34" charset="-122"/>
                <a:cs typeface="Cambria" pitchFamily="34" charset="-120"/>
              </a:rPr>
              <a:t>WINE FUND ｜ SPC PROPOSAL</a:t>
            </a:r>
            <a:endParaRPr lang="en-US" sz="1100" dirty="0"/>
          </a:p>
        </p:txBody>
      </p:sp>
      <p:sp>
        <p:nvSpPr>
          <p:cNvPr id="7" name="Text 5"/>
          <p:cNvSpPr/>
          <p:nvPr/>
        </p:nvSpPr>
        <p:spPr>
          <a:xfrm>
            <a:off x="658368" y="2560320"/>
            <a:ext cx="7863840" cy="713232"/>
          </a:xfrm>
          <a:prstGeom prst="rect">
            <a:avLst/>
          </a:prstGeom>
          <a:noFill/>
          <a:ln/>
        </p:spPr>
        <p:txBody>
          <a:bodyPr wrap="square" lIns="0" tIns="0" rIns="0" bIns="0" rtlCol="0" anchor="ctr"/>
          <a:lstStyle/>
          <a:p>
            <a:pPr indent="0" marL="0">
              <a:buNone/>
            </a:pPr>
            <a:r>
              <a:rPr lang="en-US" sz="4100" b="1" dirty="0">
                <a:solidFill>
                  <a:srgbClr val="EFEBE3"/>
                </a:solidFill>
                <a:latin typeface="Yu Mincho" pitchFamily="34" charset="0"/>
                <a:ea typeface="Yu Mincho" pitchFamily="34" charset="-122"/>
                <a:cs typeface="Yu Mincho" pitchFamily="34" charset="-120"/>
              </a:rPr>
              <a:t>ワインファンド（SPC）</a:t>
            </a:r>
            <a:endParaRPr lang="en-US" sz="4100" dirty="0"/>
          </a:p>
        </p:txBody>
      </p:sp>
      <p:sp>
        <p:nvSpPr>
          <p:cNvPr id="8" name="Text 6"/>
          <p:cNvSpPr/>
          <p:nvPr/>
        </p:nvSpPr>
        <p:spPr>
          <a:xfrm>
            <a:off x="658368" y="3255264"/>
            <a:ext cx="7863840" cy="713232"/>
          </a:xfrm>
          <a:prstGeom prst="rect">
            <a:avLst/>
          </a:prstGeom>
          <a:noFill/>
          <a:ln/>
        </p:spPr>
        <p:txBody>
          <a:bodyPr wrap="square" lIns="0" tIns="0" rIns="0" bIns="0" rtlCol="0" anchor="ctr"/>
          <a:lstStyle/>
          <a:p>
            <a:pPr indent="0" marL="0">
              <a:buNone/>
            </a:pPr>
            <a:r>
              <a:rPr lang="en-US" sz="4100" b="1" dirty="0">
                <a:solidFill>
                  <a:srgbClr val="C9A96E"/>
                </a:solidFill>
                <a:latin typeface="Yu Mincho" pitchFamily="34" charset="0"/>
                <a:ea typeface="Yu Mincho" pitchFamily="34" charset="-122"/>
                <a:cs typeface="Yu Mincho" pitchFamily="34" charset="-120"/>
              </a:rPr>
              <a:t>組成のご提案</a:t>
            </a:r>
            <a:endParaRPr lang="en-US" sz="4100" dirty="0"/>
          </a:p>
        </p:txBody>
      </p:sp>
      <p:sp>
        <p:nvSpPr>
          <p:cNvPr id="9" name="Text 7"/>
          <p:cNvSpPr/>
          <p:nvPr/>
        </p:nvSpPr>
        <p:spPr>
          <a:xfrm>
            <a:off x="658368" y="4133088"/>
            <a:ext cx="8229600" cy="274320"/>
          </a:xfrm>
          <a:prstGeom prst="rect">
            <a:avLst/>
          </a:prstGeom>
          <a:noFill/>
          <a:ln/>
        </p:spPr>
        <p:txBody>
          <a:bodyPr wrap="square" lIns="0" tIns="0" rIns="0" bIns="0" rtlCol="0" anchor="ctr"/>
          <a:lstStyle/>
          <a:p>
            <a:pPr indent="0" marL="0">
              <a:buNone/>
            </a:pPr>
            <a:r>
              <a:rPr lang="en-US" sz="1250" dirty="0">
                <a:solidFill>
                  <a:srgbClr val="9A938A"/>
                </a:solidFill>
                <a:latin typeface="Yu Gothic" pitchFamily="34" charset="0"/>
                <a:ea typeface="Yu Gothic" pitchFamily="34" charset="-122"/>
                <a:cs typeface="Yu Gothic" pitchFamily="34" charset="-120"/>
              </a:rPr>
              <a:t>総額 5億円（デット2億＋エクイティ3億）／ 運用期間5年 ／ 半期分配</a:t>
            </a:r>
            <a:endParaRPr lang="en-US" sz="1250" dirty="0"/>
          </a:p>
        </p:txBody>
      </p:sp>
      <p:sp>
        <p:nvSpPr>
          <p:cNvPr id="10" name="Text 8"/>
          <p:cNvSpPr/>
          <p:nvPr/>
        </p:nvSpPr>
        <p:spPr>
          <a:xfrm>
            <a:off x="658368" y="4443984"/>
            <a:ext cx="8229600" cy="274320"/>
          </a:xfrm>
          <a:prstGeom prst="rect">
            <a:avLst/>
          </a:prstGeom>
          <a:noFill/>
          <a:ln/>
        </p:spPr>
        <p:txBody>
          <a:bodyPr wrap="square" lIns="0" tIns="0" rIns="0" bIns="0" rtlCol="0" anchor="ctr"/>
          <a:lstStyle/>
          <a:p>
            <a:pPr indent="0" marL="0">
              <a:buNone/>
            </a:pPr>
            <a:r>
              <a:rPr lang="en-US" sz="1050" dirty="0">
                <a:solidFill>
                  <a:srgbClr val="6E675E"/>
                </a:solidFill>
                <a:latin typeface="Yu Gothic" pitchFamily="34" charset="0"/>
                <a:ea typeface="Yu Gothic" pitchFamily="34" charset="-122"/>
                <a:cs typeface="Yu Gothic" pitchFamily="34" charset="-120"/>
              </a:rPr>
              <a:t>2026年8月</a:t>
            </a:r>
            <a:endParaRPr lang="en-US" sz="1050" dirty="0"/>
          </a:p>
        </p:txBody>
      </p:sp>
      <p:sp>
        <p:nvSpPr>
          <p:cNvPr id="11" name="Text 9"/>
          <p:cNvSpPr/>
          <p:nvPr/>
        </p:nvSpPr>
        <p:spPr>
          <a:xfrm>
            <a:off x="658368" y="5687568"/>
            <a:ext cx="5486400" cy="292608"/>
          </a:xfrm>
          <a:prstGeom prst="rect">
            <a:avLst/>
          </a:prstGeom>
          <a:noFill/>
          <a:ln/>
        </p:spPr>
        <p:txBody>
          <a:bodyPr wrap="square" lIns="0" tIns="0" rIns="0" bIns="0" rtlCol="0" anchor="ctr"/>
          <a:lstStyle/>
          <a:p>
            <a:pPr indent="0" marL="0">
              <a:buNone/>
            </a:pPr>
            <a:r>
              <a:rPr lang="en-US" sz="1500" b="1" dirty="0">
                <a:solidFill>
                  <a:srgbClr val="EFEBE3"/>
                </a:solidFill>
                <a:latin typeface="Yu Mincho" pitchFamily="34" charset="0"/>
                <a:ea typeface="Yu Mincho" pitchFamily="34" charset="-122"/>
                <a:cs typeface="Yu Mincho" pitchFamily="34" charset="-120"/>
              </a:rPr>
              <a:t>株式会社WineBank</a:t>
            </a:r>
            <a:endParaRPr lang="en-US" sz="1500" dirty="0"/>
          </a:p>
        </p:txBody>
      </p:sp>
      <p:sp>
        <p:nvSpPr>
          <p:cNvPr id="12" name="Text 10"/>
          <p:cNvSpPr/>
          <p:nvPr/>
        </p:nvSpPr>
        <p:spPr>
          <a:xfrm>
            <a:off x="658368" y="6016752"/>
            <a:ext cx="7315200" cy="256032"/>
          </a:xfrm>
          <a:prstGeom prst="rect">
            <a:avLst/>
          </a:prstGeom>
          <a:noFill/>
          <a:ln/>
        </p:spPr>
        <p:txBody>
          <a:bodyPr wrap="square" lIns="0" tIns="0" rIns="0" bIns="0" rtlCol="0" anchor="ctr"/>
          <a:lstStyle/>
          <a:p>
            <a:pPr indent="0" marL="0">
              <a:buNone/>
            </a:pPr>
            <a:r>
              <a:rPr lang="en-US" sz="950" dirty="0">
                <a:solidFill>
                  <a:srgbClr val="6E675E"/>
                </a:solidFill>
                <a:latin typeface="Yu Gothic" pitchFamily="34" charset="0"/>
                <a:ea typeface="Yu Gothic" pitchFamily="34" charset="-122"/>
                <a:cs typeface="Yu Gothic" pitchFamily="34" charset="-120"/>
              </a:rPr>
              <a:t>東京都港区六本木4-12-8 第6DMJビル 2階　／　創業 1970年</a:t>
            </a:r>
            <a:endParaRPr lang="en-US" sz="950" dirty="0"/>
          </a:p>
        </p:txBody>
      </p:sp>
      <p:sp>
        <p:nvSpPr>
          <p:cNvPr id="13" name="Text 11"/>
          <p:cNvSpPr/>
          <p:nvPr/>
        </p:nvSpPr>
        <p:spPr>
          <a:xfrm>
            <a:off x="8790127" y="6016752"/>
            <a:ext cx="2743200" cy="256032"/>
          </a:xfrm>
          <a:prstGeom prst="rect">
            <a:avLst/>
          </a:prstGeom>
          <a:noFill/>
          <a:ln/>
        </p:spPr>
        <p:txBody>
          <a:bodyPr wrap="square" lIns="0" tIns="0" rIns="0" bIns="0" rtlCol="0" anchor="ctr"/>
          <a:lstStyle/>
          <a:p>
            <a:pPr algn="r" indent="0" marL="0">
              <a:buNone/>
            </a:pPr>
            <a:r>
              <a:rPr lang="en-US" sz="950" b="1" spc="260" kern="0" dirty="0">
                <a:solidFill>
                  <a:srgbClr val="6E5730"/>
                </a:solidFill>
                <a:latin typeface="Cambria" pitchFamily="34" charset="0"/>
                <a:ea typeface="Cambria" pitchFamily="34" charset="-122"/>
                <a:cs typeface="Cambria" pitchFamily="34" charset="-120"/>
              </a:rPr>
              <a:t>CONFIDENTIAL</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EXECUTIVE SUMMARY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本ファンドの骨子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実物ワインの流通価格差を収益源とする、現物裏付け型の短期回転ファンド。</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01</a:t>
            </a:r>
            <a:endParaRPr lang="en-US" sz="950" dirty="0"/>
          </a:p>
        </p:txBody>
      </p:sp>
      <p:sp>
        <p:nvSpPr>
          <p:cNvPr id="7" name="Shape 5"/>
          <p:cNvSpPr/>
          <p:nvPr/>
        </p:nvSpPr>
        <p:spPr>
          <a:xfrm>
            <a:off x="658368" y="1664208"/>
            <a:ext cx="2513000" cy="1481328"/>
          </a:xfrm>
          <a:prstGeom prst="roundRect">
            <a:avLst>
              <a:gd name="adj" fmla="val 2778"/>
            </a:avLst>
          </a:prstGeom>
          <a:solidFill>
            <a:srgbClr val="171614"/>
          </a:solidFill>
          <a:ln w="9525">
            <a:solidFill>
              <a:srgbClr val="2E2A24"/>
            </a:solidFill>
            <a:prstDash val="solid"/>
          </a:ln>
        </p:spPr>
      </p:sp>
      <p:sp>
        <p:nvSpPr>
          <p:cNvPr id="8" name="Text 6"/>
          <p:cNvSpPr/>
          <p:nvPr/>
        </p:nvSpPr>
        <p:spPr>
          <a:xfrm>
            <a:off x="89611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3</a:t>
            </a:r>
            <a:pPr indent="0" marL="0">
              <a:buNone/>
            </a:pPr>
            <a:r>
              <a:rPr lang="en-US" sz="1250" b="1" dirty="0">
                <a:solidFill>
                  <a:srgbClr val="C9A96E"/>
                </a:solidFill>
                <a:latin typeface="Yu Gothic" pitchFamily="34" charset="0"/>
                <a:ea typeface="Yu Gothic" pitchFamily="34" charset="-122"/>
                <a:cs typeface="Yu Gothic" pitchFamily="34" charset="-120"/>
              </a:rPr>
              <a:t> 億円</a:t>
            </a:r>
            <a:endParaRPr lang="en-US" sz="3400" dirty="0"/>
          </a:p>
        </p:txBody>
      </p:sp>
      <p:sp>
        <p:nvSpPr>
          <p:cNvPr id="9" name="Text 7"/>
          <p:cNvSpPr/>
          <p:nvPr/>
        </p:nvSpPr>
        <p:spPr>
          <a:xfrm>
            <a:off x="89611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投資家エクイティ</a:t>
            </a:r>
            <a:endParaRPr lang="en-US" sz="1100" dirty="0"/>
          </a:p>
        </p:txBody>
      </p:sp>
      <p:sp>
        <p:nvSpPr>
          <p:cNvPr id="10" name="Text 8"/>
          <p:cNvSpPr/>
          <p:nvPr/>
        </p:nvSpPr>
        <p:spPr>
          <a:xfrm>
            <a:off x="89611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SPC総額5億円（デット2億＋エクイティ3億）／運用期間5年</a:t>
            </a:r>
            <a:endParaRPr lang="en-US" sz="900" dirty="0"/>
          </a:p>
        </p:txBody>
      </p:sp>
      <p:sp>
        <p:nvSpPr>
          <p:cNvPr id="11" name="Shape 9"/>
          <p:cNvSpPr/>
          <p:nvPr/>
        </p:nvSpPr>
        <p:spPr>
          <a:xfrm>
            <a:off x="3445688" y="1664208"/>
            <a:ext cx="2513000" cy="1481328"/>
          </a:xfrm>
          <a:prstGeom prst="roundRect">
            <a:avLst>
              <a:gd name="adj" fmla="val 2778"/>
            </a:avLst>
          </a:prstGeom>
          <a:solidFill>
            <a:srgbClr val="171614"/>
          </a:solidFill>
          <a:ln w="9525">
            <a:solidFill>
              <a:srgbClr val="2E2A24"/>
            </a:solidFill>
            <a:prstDash val="solid"/>
          </a:ln>
        </p:spPr>
      </p:sp>
      <p:sp>
        <p:nvSpPr>
          <p:cNvPr id="12" name="Text 10"/>
          <p:cNvSpPr/>
          <p:nvPr/>
        </p:nvSpPr>
        <p:spPr>
          <a:xfrm>
            <a:off x="368343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12</a:t>
            </a:r>
            <a:pPr indent="0" marL="0">
              <a:buNone/>
            </a:pPr>
            <a:r>
              <a:rPr lang="en-US" sz="1250" b="1" dirty="0">
                <a:solidFill>
                  <a:srgbClr val="C9A96E"/>
                </a:solidFill>
                <a:latin typeface="Yu Gothic" pitchFamily="34" charset="0"/>
                <a:ea typeface="Yu Gothic" pitchFamily="34" charset="-122"/>
                <a:cs typeface="Yu Gothic" pitchFamily="34" charset="-120"/>
              </a:rPr>
              <a:t> ヶ月</a:t>
            </a:r>
            <a:endParaRPr lang="en-US" sz="3400" dirty="0"/>
          </a:p>
        </p:txBody>
      </p:sp>
      <p:sp>
        <p:nvSpPr>
          <p:cNvPr id="13" name="Text 11"/>
          <p:cNvSpPr/>
          <p:nvPr/>
        </p:nvSpPr>
        <p:spPr>
          <a:xfrm>
            <a:off x="368343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在庫回転期間（主線）</a:t>
            </a:r>
            <a:endParaRPr lang="en-US" sz="1100" dirty="0"/>
          </a:p>
        </p:txBody>
      </p:sp>
      <p:sp>
        <p:nvSpPr>
          <p:cNvPr id="14" name="Text 12"/>
          <p:cNvSpPr/>
          <p:nvPr/>
        </p:nvSpPr>
        <p:spPr>
          <a:xfrm>
            <a:off x="368343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最短9ヶ月、延びても15〜18ヶ月を想定レンジとする</a:t>
            </a:r>
            <a:endParaRPr lang="en-US" sz="900" dirty="0"/>
          </a:p>
        </p:txBody>
      </p:sp>
      <p:sp>
        <p:nvSpPr>
          <p:cNvPr id="15" name="Shape 13"/>
          <p:cNvSpPr/>
          <p:nvPr/>
        </p:nvSpPr>
        <p:spPr>
          <a:xfrm>
            <a:off x="6233008" y="1664208"/>
            <a:ext cx="2513000" cy="1481328"/>
          </a:xfrm>
          <a:prstGeom prst="roundRect">
            <a:avLst>
              <a:gd name="adj" fmla="val 2778"/>
            </a:avLst>
          </a:prstGeom>
          <a:solidFill>
            <a:srgbClr val="171614"/>
          </a:solidFill>
          <a:ln w="9525">
            <a:solidFill>
              <a:srgbClr val="2E2A24"/>
            </a:solidFill>
            <a:prstDash val="solid"/>
          </a:ln>
        </p:spPr>
      </p:sp>
      <p:sp>
        <p:nvSpPr>
          <p:cNvPr id="16" name="Text 14"/>
          <p:cNvSpPr/>
          <p:nvPr/>
        </p:nvSpPr>
        <p:spPr>
          <a:xfrm>
            <a:off x="6470752" y="1847088"/>
            <a:ext cx="2037512" cy="566928"/>
          </a:xfrm>
          <a:prstGeom prst="rect">
            <a:avLst/>
          </a:prstGeom>
          <a:noFill/>
          <a:ln/>
        </p:spPr>
        <p:txBody>
          <a:bodyPr wrap="square" lIns="0" tIns="0" rIns="0" bIns="0" rtlCol="0" anchor="ctr"/>
          <a:lstStyle/>
          <a:p>
            <a:pPr indent="0" marL="0">
              <a:buNone/>
            </a:pPr>
            <a:r>
              <a:rPr lang="en-US" sz="3400" b="1" dirty="0">
                <a:solidFill>
                  <a:srgbClr val="C9A96E"/>
                </a:solidFill>
                <a:latin typeface="Cambria" pitchFamily="34" charset="0"/>
                <a:ea typeface="Cambria" pitchFamily="34" charset="-122"/>
                <a:cs typeface="Cambria" pitchFamily="34" charset="-120"/>
              </a:rPr>
              <a:t>42.0</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400" dirty="0"/>
          </a:p>
        </p:txBody>
      </p:sp>
      <p:sp>
        <p:nvSpPr>
          <p:cNvPr id="17" name="Text 15"/>
          <p:cNvSpPr/>
          <p:nvPr/>
        </p:nvSpPr>
        <p:spPr>
          <a:xfrm>
            <a:off x="6470752"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エクイティ定常年間利回り</a:t>
            </a:r>
            <a:endParaRPr lang="en-US" sz="1100" dirty="0"/>
          </a:p>
        </p:txBody>
      </p:sp>
      <p:sp>
        <p:nvSpPr>
          <p:cNvPr id="18" name="Text 16"/>
          <p:cNvSpPr/>
          <p:nvPr/>
        </p:nvSpPr>
        <p:spPr>
          <a:xfrm>
            <a:off x="6470752"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在庫回転12ヶ月・投資家取分60%・税引前</a:t>
            </a:r>
            <a:endParaRPr lang="en-US" sz="900" dirty="0"/>
          </a:p>
        </p:txBody>
      </p:sp>
      <p:sp>
        <p:nvSpPr>
          <p:cNvPr id="19" name="Shape 17"/>
          <p:cNvSpPr/>
          <p:nvPr/>
        </p:nvSpPr>
        <p:spPr>
          <a:xfrm>
            <a:off x="9020327" y="1664208"/>
            <a:ext cx="2513000" cy="1481328"/>
          </a:xfrm>
          <a:prstGeom prst="roundRect">
            <a:avLst>
              <a:gd name="adj" fmla="val 2778"/>
            </a:avLst>
          </a:prstGeom>
          <a:solidFill>
            <a:srgbClr val="1F1D19"/>
          </a:solidFill>
          <a:ln w="9525">
            <a:solidFill>
              <a:srgbClr val="6E5730"/>
            </a:solidFill>
            <a:prstDash val="solid"/>
          </a:ln>
        </p:spPr>
      </p:sp>
      <p:sp>
        <p:nvSpPr>
          <p:cNvPr id="20" name="Text 18"/>
          <p:cNvSpPr/>
          <p:nvPr/>
        </p:nvSpPr>
        <p:spPr>
          <a:xfrm>
            <a:off x="9258071" y="1847088"/>
            <a:ext cx="2037512" cy="566928"/>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33.5</a:t>
            </a:r>
            <a:pPr indent="0" marL="0">
              <a:buNone/>
            </a:pPr>
            <a:r>
              <a:rPr lang="en-US" sz="125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1" name="Text 19"/>
          <p:cNvSpPr/>
          <p:nvPr/>
        </p:nvSpPr>
        <p:spPr>
          <a:xfrm>
            <a:off x="9258071" y="2432304"/>
            <a:ext cx="2037512"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年平均利回り（5年通算）</a:t>
            </a:r>
            <a:endParaRPr lang="en-US" sz="1100" dirty="0"/>
          </a:p>
        </p:txBody>
      </p:sp>
      <p:sp>
        <p:nvSpPr>
          <p:cNvPr id="22" name="Text 20"/>
          <p:cNvSpPr/>
          <p:nvPr/>
        </p:nvSpPr>
        <p:spPr>
          <a:xfrm>
            <a:off x="9258071" y="2660904"/>
            <a:ext cx="2037512" cy="384048"/>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在庫回転12ヶ月／累計分配額÷出資額÷5年</a:t>
            </a:r>
            <a:endParaRPr lang="en-US" sz="900" dirty="0"/>
          </a:p>
        </p:txBody>
      </p:sp>
      <p:sp>
        <p:nvSpPr>
          <p:cNvPr id="23" name="Shape 21"/>
          <p:cNvSpPr/>
          <p:nvPr/>
        </p:nvSpPr>
        <p:spPr>
          <a:xfrm>
            <a:off x="658368" y="3419856"/>
            <a:ext cx="274320" cy="274320"/>
          </a:xfrm>
          <a:prstGeom prst="ellipse">
            <a:avLst/>
          </a:prstGeom>
          <a:solidFill>
            <a:srgbClr val="0C0C0C"/>
          </a:solidFill>
          <a:ln w="11430">
            <a:solidFill>
              <a:srgbClr val="A78450"/>
            </a:solidFill>
            <a:prstDash val="solid"/>
          </a:ln>
        </p:spPr>
      </p:sp>
      <p:sp>
        <p:nvSpPr>
          <p:cNvPr id="24" name="Text 22"/>
          <p:cNvSpPr/>
          <p:nvPr/>
        </p:nvSpPr>
        <p:spPr>
          <a:xfrm>
            <a:off x="658368" y="3419856"/>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01</a:t>
            </a:r>
            <a:endParaRPr lang="en-US" sz="850" dirty="0"/>
          </a:p>
        </p:txBody>
      </p:sp>
      <p:sp>
        <p:nvSpPr>
          <p:cNvPr id="25" name="Text 23"/>
          <p:cNvSpPr/>
          <p:nvPr/>
        </p:nvSpPr>
        <p:spPr>
          <a:xfrm>
            <a:off x="1078992" y="3383280"/>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在庫回転12ヶ月で売り切る。SPC在庫を優先して販売する。</a:t>
            </a:r>
            <a:endParaRPr lang="en-US" sz="1200" dirty="0"/>
          </a:p>
        </p:txBody>
      </p:sp>
      <p:sp>
        <p:nvSpPr>
          <p:cNvPr id="26" name="Text 24"/>
          <p:cNvSpPr/>
          <p:nvPr/>
        </p:nvSpPr>
        <p:spPr>
          <a:xfrm>
            <a:off x="1078992" y="3621024"/>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回転12ヶ月には年間7.5億円の販売が必要となる。WineBank自己勘定在庫より先にSPC在庫を売る運用ルールとし、これを契約上の義務とする。最短9ヶ月、延びても15〜18ヶ月を想定レンジとする。</a:t>
            </a:r>
            <a:endParaRPr lang="en-US" sz="1000" dirty="0"/>
          </a:p>
        </p:txBody>
      </p:sp>
      <p:sp>
        <p:nvSpPr>
          <p:cNvPr id="27" name="Shape 25"/>
          <p:cNvSpPr/>
          <p:nvPr/>
        </p:nvSpPr>
        <p:spPr>
          <a:xfrm>
            <a:off x="658368" y="4041648"/>
            <a:ext cx="274320" cy="274320"/>
          </a:xfrm>
          <a:prstGeom prst="ellipse">
            <a:avLst/>
          </a:prstGeom>
          <a:solidFill>
            <a:srgbClr val="0C0C0C"/>
          </a:solidFill>
          <a:ln w="11430">
            <a:solidFill>
              <a:srgbClr val="A78450"/>
            </a:solidFill>
            <a:prstDash val="solid"/>
          </a:ln>
        </p:spPr>
      </p:sp>
      <p:sp>
        <p:nvSpPr>
          <p:cNvPr id="28" name="Text 26"/>
          <p:cNvSpPr/>
          <p:nvPr/>
        </p:nvSpPr>
        <p:spPr>
          <a:xfrm>
            <a:off x="658368" y="4041648"/>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02</a:t>
            </a:r>
            <a:endParaRPr lang="en-US" sz="850" dirty="0"/>
          </a:p>
        </p:txBody>
      </p:sp>
      <p:sp>
        <p:nvSpPr>
          <p:cNvPr id="29" name="Text 27"/>
          <p:cNvSpPr/>
          <p:nvPr/>
        </p:nvSpPr>
        <p:spPr>
          <a:xfrm>
            <a:off x="1078992" y="4005072"/>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収益は「流通価格差」と「ワインの値上がり」の二階建て。</a:t>
            </a:r>
            <a:endParaRPr lang="en-US" sz="1200" dirty="0"/>
          </a:p>
        </p:txBody>
      </p:sp>
      <p:sp>
        <p:nvSpPr>
          <p:cNvPr id="30" name="Text 28"/>
          <p:cNvSpPr/>
          <p:nvPr/>
        </p:nvSpPr>
        <p:spPr>
          <a:xfrm>
            <a:off x="1078992" y="4242816"/>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同一商品の流通段階間の価格差（フロー）に加え、保有期間中の価格上昇年6%（ストック）が乗る。値上がり分は保有期間によらず利回りを底上げする。</a:t>
            </a:r>
            <a:endParaRPr lang="en-US" sz="1000" dirty="0"/>
          </a:p>
        </p:txBody>
      </p:sp>
      <p:sp>
        <p:nvSpPr>
          <p:cNvPr id="31" name="Shape 29"/>
          <p:cNvSpPr/>
          <p:nvPr/>
        </p:nvSpPr>
        <p:spPr>
          <a:xfrm>
            <a:off x="658368" y="4663440"/>
            <a:ext cx="274320" cy="274320"/>
          </a:xfrm>
          <a:prstGeom prst="ellipse">
            <a:avLst/>
          </a:prstGeom>
          <a:solidFill>
            <a:srgbClr val="0C0C0C"/>
          </a:solidFill>
          <a:ln w="11430">
            <a:solidFill>
              <a:srgbClr val="A78450"/>
            </a:solidFill>
            <a:prstDash val="solid"/>
          </a:ln>
        </p:spPr>
      </p:sp>
      <p:sp>
        <p:nvSpPr>
          <p:cNvPr id="32" name="Text 30"/>
          <p:cNvSpPr/>
          <p:nvPr/>
        </p:nvSpPr>
        <p:spPr>
          <a:xfrm>
            <a:off x="658368" y="4663440"/>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03</a:t>
            </a:r>
            <a:endParaRPr lang="en-US" sz="850" dirty="0"/>
          </a:p>
        </p:txBody>
      </p:sp>
      <p:sp>
        <p:nvSpPr>
          <p:cNvPr id="33" name="Text 31"/>
          <p:cNvSpPr/>
          <p:nvPr/>
        </p:nvSpPr>
        <p:spPr>
          <a:xfrm>
            <a:off x="1078992" y="4626864"/>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デット2億の調達コストはWineBankが負担する。</a:t>
            </a:r>
            <a:endParaRPr lang="en-US" sz="1200" dirty="0"/>
          </a:p>
        </p:txBody>
      </p:sp>
      <p:sp>
        <p:nvSpPr>
          <p:cNvPr id="34" name="Text 32"/>
          <p:cNvSpPr/>
          <p:nvPr/>
        </p:nvSpPr>
        <p:spPr>
          <a:xfrm>
            <a:off x="1078992" y="4864608"/>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その見返りにWineBankはエクイティ2億相当としてカウントされ、SPCの税前利益は出資比率で按分（投資家60：WineBank40）。投資家はレバレッジの効果のみを受け取る。</a:t>
            </a:r>
            <a:endParaRPr lang="en-US" sz="1000" dirty="0"/>
          </a:p>
        </p:txBody>
      </p:sp>
      <p:sp>
        <p:nvSpPr>
          <p:cNvPr id="35" name="Shape 33"/>
          <p:cNvSpPr/>
          <p:nvPr/>
        </p:nvSpPr>
        <p:spPr>
          <a:xfrm>
            <a:off x="658368" y="5285232"/>
            <a:ext cx="274320" cy="274320"/>
          </a:xfrm>
          <a:prstGeom prst="ellipse">
            <a:avLst/>
          </a:prstGeom>
          <a:solidFill>
            <a:srgbClr val="0C0C0C"/>
          </a:solidFill>
          <a:ln w="11430">
            <a:solidFill>
              <a:srgbClr val="A78450"/>
            </a:solidFill>
            <a:prstDash val="solid"/>
          </a:ln>
        </p:spPr>
      </p:sp>
      <p:sp>
        <p:nvSpPr>
          <p:cNvPr id="36" name="Text 34"/>
          <p:cNvSpPr/>
          <p:nvPr/>
        </p:nvSpPr>
        <p:spPr>
          <a:xfrm>
            <a:off x="658368" y="5285232"/>
            <a:ext cx="274320" cy="274320"/>
          </a:xfrm>
          <a:prstGeom prst="rect">
            <a:avLst/>
          </a:prstGeom>
          <a:noFill/>
          <a:ln/>
        </p:spPr>
        <p:txBody>
          <a:bodyPr wrap="square" lIns="0" tIns="0" rIns="0" bIns="0" rtlCol="0" anchor="ctr"/>
          <a:lstStyle/>
          <a:p>
            <a:pPr algn="ctr" indent="0" marL="0">
              <a:buNone/>
            </a:pPr>
            <a:r>
              <a:rPr lang="en-US" sz="850" b="1" dirty="0">
                <a:solidFill>
                  <a:srgbClr val="C9A96E"/>
                </a:solidFill>
                <a:latin typeface="Cambria" pitchFamily="34" charset="0"/>
                <a:ea typeface="Cambria" pitchFamily="34" charset="-122"/>
                <a:cs typeface="Cambria" pitchFamily="34" charset="-120"/>
              </a:rPr>
              <a:t>04</a:t>
            </a:r>
            <a:endParaRPr lang="en-US" sz="850" dirty="0"/>
          </a:p>
        </p:txBody>
      </p:sp>
      <p:sp>
        <p:nvSpPr>
          <p:cNvPr id="37" name="Text 35"/>
          <p:cNvSpPr/>
          <p:nvPr/>
        </p:nvSpPr>
        <p:spPr>
          <a:xfrm>
            <a:off x="1078992" y="5248656"/>
            <a:ext cx="10454335" cy="237744"/>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費用は削っていない。監査・法務まで積んだうえでの数字。</a:t>
            </a:r>
            <a:endParaRPr lang="en-US" sz="1200" dirty="0"/>
          </a:p>
        </p:txBody>
      </p:sp>
      <p:sp>
        <p:nvSpPr>
          <p:cNvPr id="38" name="Text 36"/>
          <p:cNvSpPr/>
          <p:nvPr/>
        </p:nvSpPr>
        <p:spPr>
          <a:xfrm>
            <a:off x="1078992" y="5486400"/>
            <a:ext cx="10454335" cy="274320"/>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AUP50万円・予備費50万円を含むSPC固定費660万円、変動販売費、保管・保険をすべて計上済み。利回りを作るために費用を圧縮してはいない。</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CAPITAL 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資本構成とリターンの配分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総額5億円をデット2億円とエクイティ3億円で構成する。デットの調達コストはWineBankが負担する。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02</a:t>
            </a:r>
            <a:endParaRPr lang="en-US" sz="950" dirty="0"/>
          </a:p>
        </p:txBody>
      </p:sp>
      <p:sp>
        <p:nvSpPr>
          <p:cNvPr id="7" name="Shape 5"/>
          <p:cNvSpPr/>
          <p:nvPr/>
        </p:nvSpPr>
        <p:spPr>
          <a:xfrm>
            <a:off x="658368" y="1645920"/>
            <a:ext cx="3442106" cy="1883664"/>
          </a:xfrm>
          <a:prstGeom prst="roundRect">
            <a:avLst>
              <a:gd name="adj" fmla="val 2184"/>
            </a:avLst>
          </a:prstGeom>
          <a:solidFill>
            <a:srgbClr val="171614"/>
          </a:solidFill>
          <a:ln w="9525">
            <a:solidFill>
              <a:srgbClr val="2E2A24"/>
            </a:solidFill>
            <a:prstDash val="solid"/>
          </a:ln>
        </p:spPr>
      </p:sp>
      <p:sp>
        <p:nvSpPr>
          <p:cNvPr id="8" name="Text 6"/>
          <p:cNvSpPr/>
          <p:nvPr/>
        </p:nvSpPr>
        <p:spPr>
          <a:xfrm>
            <a:off x="896112"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デット</a:t>
            </a:r>
            <a:endParaRPr lang="en-US" sz="1150" dirty="0"/>
          </a:p>
        </p:txBody>
      </p:sp>
      <p:sp>
        <p:nvSpPr>
          <p:cNvPr id="9" name="Text 7"/>
          <p:cNvSpPr/>
          <p:nvPr/>
        </p:nvSpPr>
        <p:spPr>
          <a:xfrm>
            <a:off x="896112"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0" name="Text 8"/>
          <p:cNvSpPr/>
          <p:nvPr/>
        </p:nvSpPr>
        <p:spPr>
          <a:xfrm>
            <a:off x="896112"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金利4%（固定）</a:t>
            </a:r>
            <a:endParaRPr lang="en-US" sz="1100" dirty="0"/>
          </a:p>
        </p:txBody>
      </p:sp>
      <p:sp>
        <p:nvSpPr>
          <p:cNvPr id="11" name="Text 9"/>
          <p:cNvSpPr/>
          <p:nvPr/>
        </p:nvSpPr>
        <p:spPr>
          <a:xfrm>
            <a:off x="896112"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・投資家からの借入</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・利息はWineBankが負担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・SPC資産から満期に返済</a:t>
            </a:r>
            <a:endParaRPr lang="en-US" sz="900" dirty="0"/>
          </a:p>
        </p:txBody>
      </p:sp>
      <p:sp>
        <p:nvSpPr>
          <p:cNvPr id="12" name="Shape 10"/>
          <p:cNvSpPr/>
          <p:nvPr/>
        </p:nvSpPr>
        <p:spPr>
          <a:xfrm>
            <a:off x="4374794" y="1645920"/>
            <a:ext cx="3442106" cy="1883664"/>
          </a:xfrm>
          <a:prstGeom prst="roundRect">
            <a:avLst>
              <a:gd name="adj" fmla="val 2184"/>
            </a:avLst>
          </a:prstGeom>
          <a:solidFill>
            <a:srgbClr val="1F1D19"/>
          </a:solidFill>
          <a:ln w="9525">
            <a:solidFill>
              <a:srgbClr val="6E5730"/>
            </a:solidFill>
            <a:prstDash val="solid"/>
          </a:ln>
        </p:spPr>
      </p:sp>
      <p:sp>
        <p:nvSpPr>
          <p:cNvPr id="13" name="Text 11"/>
          <p:cNvSpPr/>
          <p:nvPr/>
        </p:nvSpPr>
        <p:spPr>
          <a:xfrm>
            <a:off x="4612538" y="1810512"/>
            <a:ext cx="2966618"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エクイティ｜投資家</a:t>
            </a:r>
            <a:endParaRPr lang="en-US" sz="1150" dirty="0"/>
          </a:p>
        </p:txBody>
      </p:sp>
      <p:sp>
        <p:nvSpPr>
          <p:cNvPr id="14" name="Text 12"/>
          <p:cNvSpPr/>
          <p:nvPr/>
        </p:nvSpPr>
        <p:spPr>
          <a:xfrm>
            <a:off x="4612538"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3.0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15" name="Text 13"/>
          <p:cNvSpPr/>
          <p:nvPr/>
        </p:nvSpPr>
        <p:spPr>
          <a:xfrm>
            <a:off x="4612538"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SPC税前利益の60%</a:t>
            </a:r>
            <a:endParaRPr lang="en-US" sz="1100" dirty="0"/>
          </a:p>
        </p:txBody>
      </p:sp>
      <p:sp>
        <p:nvSpPr>
          <p:cNvPr id="16" name="Text 14"/>
          <p:cNvSpPr/>
          <p:nvPr/>
        </p:nvSpPr>
        <p:spPr>
          <a:xfrm>
            <a:off x="4612538"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・匿名組合出資</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・満期に元本償還</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・半期ごとに分配</a:t>
            </a:r>
            <a:endParaRPr lang="en-US" sz="900" dirty="0"/>
          </a:p>
        </p:txBody>
      </p:sp>
      <p:sp>
        <p:nvSpPr>
          <p:cNvPr id="17" name="Shape 15"/>
          <p:cNvSpPr/>
          <p:nvPr/>
        </p:nvSpPr>
        <p:spPr>
          <a:xfrm>
            <a:off x="8091221" y="1645920"/>
            <a:ext cx="3442106" cy="1883664"/>
          </a:xfrm>
          <a:prstGeom prst="roundRect">
            <a:avLst>
              <a:gd name="adj" fmla="val 2184"/>
            </a:avLst>
          </a:prstGeom>
          <a:solidFill>
            <a:srgbClr val="171614"/>
          </a:solidFill>
          <a:ln w="9525">
            <a:solidFill>
              <a:srgbClr val="2E2A24"/>
            </a:solidFill>
            <a:prstDash val="solid"/>
          </a:ln>
        </p:spPr>
      </p:sp>
      <p:sp>
        <p:nvSpPr>
          <p:cNvPr id="18" name="Text 16"/>
          <p:cNvSpPr/>
          <p:nvPr/>
        </p:nvSpPr>
        <p:spPr>
          <a:xfrm>
            <a:off x="8328965" y="1810512"/>
            <a:ext cx="2966618"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エクイティ相当｜WineBank</a:t>
            </a:r>
            <a:endParaRPr lang="en-US" sz="1150" dirty="0"/>
          </a:p>
        </p:txBody>
      </p:sp>
      <p:sp>
        <p:nvSpPr>
          <p:cNvPr id="19" name="Text 17"/>
          <p:cNvSpPr/>
          <p:nvPr/>
        </p:nvSpPr>
        <p:spPr>
          <a:xfrm>
            <a:off x="8328965" y="2084832"/>
            <a:ext cx="2966618"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2.0</a:t>
            </a:r>
            <a:pPr indent="0" marL="0">
              <a:buNone/>
            </a:pPr>
            <a:r>
              <a:rPr lang="en-US" sz="1200" b="1" dirty="0">
                <a:solidFill>
                  <a:srgbClr val="C9A96E"/>
                </a:solidFill>
                <a:latin typeface="Yu Gothic" pitchFamily="34" charset="0"/>
                <a:ea typeface="Yu Gothic" pitchFamily="34" charset="-122"/>
                <a:cs typeface="Yu Gothic" pitchFamily="34" charset="-120"/>
              </a:rPr>
              <a:t> 億円</a:t>
            </a:r>
            <a:endParaRPr lang="en-US" sz="3000" dirty="0"/>
          </a:p>
        </p:txBody>
      </p:sp>
      <p:sp>
        <p:nvSpPr>
          <p:cNvPr id="20" name="Text 18"/>
          <p:cNvSpPr/>
          <p:nvPr/>
        </p:nvSpPr>
        <p:spPr>
          <a:xfrm>
            <a:off x="8328965" y="2578608"/>
            <a:ext cx="2966618"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SPC税前利益の40%</a:t>
            </a:r>
            <a:endParaRPr lang="en-US" sz="1100" dirty="0"/>
          </a:p>
        </p:txBody>
      </p:sp>
      <p:sp>
        <p:nvSpPr>
          <p:cNvPr id="21" name="Text 19"/>
          <p:cNvSpPr/>
          <p:nvPr/>
        </p:nvSpPr>
        <p:spPr>
          <a:xfrm>
            <a:off x="8328965" y="2834640"/>
            <a:ext cx="2966618" cy="603504"/>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・現金拠出はなし</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・デット2億の調達コストを負担</a:t>
            </a:r>
            <a:endParaRPr lang="en-US" sz="900" dirty="0"/>
          </a:p>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・その対価として持分にカウント</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658368" y="3657600"/>
          <a:ext cx="10874959" cy="914400"/>
        </p:xfrm>
        <a:graphic>
          <a:graphicData uri="http://schemas.openxmlformats.org/drawingml/2006/table">
            <a:tbl>
              <a:tblPr/>
              <a:tblGrid>
                <a:gridCol w="2377440"/>
                <a:gridCol w="1737360"/>
                <a:gridCol w="6757416"/>
              </a:tblGrid>
              <a:tr h="31546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金額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年間税前利益（SPC）</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在庫回転12ヶ月・年間売上7.48億円の主線ケース</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投資家 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b="1" dirty="0">
                          <a:solidFill>
                            <a:srgbClr val="C9A96E"/>
                          </a:solidFill>
                          <a:latin typeface="Yu Gothic" pitchFamily="34" charset="0"/>
                          <a:ea typeface="Yu Gothic" pitchFamily="34" charset="-122"/>
                          <a:cs typeface="Yu Gothic" pitchFamily="34" charset="-120"/>
                        </a:rPr>
                        <a:t>エクイティ3億円に対し 定常年間利回り 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 WineBank 40%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84百万円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うちデット2億円の金利4%（8百万円）を負担 → 手取り76百万円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1546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デット提供者への利息</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2億円×4%。WineBankが負担するためSPCの費用には計上しない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Shape 20"/>
          <p:cNvSpPr/>
          <p:nvPr/>
        </p:nvSpPr>
        <p:spPr>
          <a:xfrm>
            <a:off x="658368" y="5358384"/>
            <a:ext cx="10874959" cy="969264"/>
          </a:xfrm>
          <a:prstGeom prst="roundRect">
            <a:avLst>
              <a:gd name="adj" fmla="val 4245"/>
            </a:avLst>
          </a:prstGeom>
          <a:solidFill>
            <a:srgbClr val="1F1D19"/>
          </a:solidFill>
          <a:ln w="9525">
            <a:solidFill>
              <a:srgbClr val="6E5730"/>
            </a:solidFill>
            <a:prstDash val="solid"/>
          </a:ln>
        </p:spPr>
      </p:sp>
      <p:sp>
        <p:nvSpPr>
          <p:cNvPr id="24" name="Text 21"/>
          <p:cNvSpPr/>
          <p:nvPr/>
        </p:nvSpPr>
        <p:spPr>
          <a:xfrm>
            <a:off x="932688" y="5449824"/>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この構成が投資家にもたらすもの</a:t>
            </a:r>
            <a:endParaRPr lang="en-US" sz="1100" dirty="0"/>
          </a:p>
        </p:txBody>
      </p:sp>
      <p:sp>
        <p:nvSpPr>
          <p:cNvPr id="25" name="Text 22"/>
          <p:cNvSpPr/>
          <p:nvPr/>
        </p:nvSpPr>
        <p:spPr>
          <a:xfrm>
            <a:off x="932688" y="5669280"/>
            <a:ext cx="10326319" cy="566928"/>
          </a:xfrm>
          <a:prstGeom prst="rect">
            <a:avLst/>
          </a:prstGeom>
          <a:noFill/>
          <a:ln/>
        </p:spPr>
        <p:txBody>
          <a:bodyPr wrap="square" lIns="0" tIns="0" rIns="0" bIns="0" rtlCol="0" anchor="ctr"/>
          <a:lstStyle/>
          <a:p>
            <a:pPr indent="0" marL="0">
              <a:lnSpc>
                <a:spcPct val="118000"/>
              </a:lnSpc>
              <a:buNone/>
            </a:pPr>
            <a:r>
              <a:rPr lang="en-US" sz="900" dirty="0">
                <a:solidFill>
                  <a:srgbClr val="EFEBE3"/>
                </a:solidFill>
                <a:latin typeface="Yu Gothic" pitchFamily="34" charset="0"/>
                <a:ea typeface="Yu Gothic" pitchFamily="34" charset="-122"/>
                <a:cs typeface="Yu Gothic" pitchFamily="34" charset="-120"/>
              </a:rPr>
              <a:t>投資家の出資比率（3億円÷5億円＝60%）と損益の配分比率（60%）が一致しているため、エクイティ利回りはSPCの資産利回りそのものとなる。レバレッジによる上振れはWineBankの取り分（無拠出で40%）とデットの金利負担で相殺されており、投資家が過度なレバレッジを負う構造にはなっていない。なお同一投資家がデット2億円とエクイティ3億円の双方を拠出する場合、5億円全体に対する合成利回りは27.2%となる。</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SALES PLAN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在庫回転12ヶ月をどう実現するか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回転12ヶ月には年間7.5億円の販売が必要となる。SPC在庫を優先して販売することで達成する。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03</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828800"/>
                <a:gridCol w="1874520"/>
                <a:gridCol w="1600200"/>
                <a:gridCol w="1737360"/>
                <a:gridCol w="2011680"/>
                <a:gridCol w="1819656"/>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必要な年間販売額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位置づけ</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9ヶ月（最短）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163百万円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販路拡大が実現した場合の上限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7.48億円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C9A96E"/>
                          </a:solidFill>
                          <a:latin typeface="Yu Gothic" pitchFamily="34" charset="0"/>
                          <a:ea typeface="Yu Gothic" pitchFamily="34" charset="-122"/>
                          <a:cs typeface="Yu Gothic" pitchFamily="34" charset="-120"/>
                        </a:rPr>
                        <a:t>SPC在庫優先売却により達成する水準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現状の販売実力の範囲内</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89百万円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下振れ時の想定レンジ下限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49040"/>
            <a:ext cx="3454298" cy="1847088"/>
          </a:xfrm>
          <a:prstGeom prst="roundRect">
            <a:avLst>
              <a:gd name="adj" fmla="val 2228"/>
            </a:avLst>
          </a:prstGeom>
          <a:solidFill>
            <a:srgbClr val="171614"/>
          </a:solidFill>
          <a:ln w="9525">
            <a:solidFill>
              <a:srgbClr val="2E2A24"/>
            </a:solidFill>
            <a:prstDash val="solid"/>
          </a:ln>
        </p:spPr>
      </p:sp>
      <p:sp>
        <p:nvSpPr>
          <p:cNvPr id="9" name="Text 6"/>
          <p:cNvSpPr/>
          <p:nvPr/>
        </p:nvSpPr>
        <p:spPr>
          <a:xfrm>
            <a:off x="896112"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現状の販売実力</a:t>
            </a:r>
            <a:endParaRPr lang="en-US" sz="1100" dirty="0"/>
          </a:p>
        </p:txBody>
      </p:sp>
      <p:sp>
        <p:nvSpPr>
          <p:cNvPr id="10" name="Text 7"/>
          <p:cNvSpPr/>
          <p:nvPr/>
        </p:nvSpPr>
        <p:spPr>
          <a:xfrm>
            <a:off x="89611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5〜7億円</a:t>
            </a:r>
            <a:endParaRPr lang="en-US" sz="1700" dirty="0"/>
          </a:p>
        </p:txBody>
      </p:sp>
      <p:sp>
        <p:nvSpPr>
          <p:cNvPr id="11" name="Text 8"/>
          <p:cNvSpPr/>
          <p:nvPr/>
        </p:nvSpPr>
        <p:spPr>
          <a:xfrm>
            <a:off x="89611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楽天・Yahoo・寺田Wine MarketでのEC、酒販店卸、グループ飲食による現状の年間販売額。回転12ヶ月に必要な7.5億円は、この上限をやや上回る水準にある。</a:t>
            </a:r>
            <a:endParaRPr lang="en-US" sz="900" dirty="0"/>
          </a:p>
        </p:txBody>
      </p:sp>
      <p:sp>
        <p:nvSpPr>
          <p:cNvPr id="12" name="Shape 9"/>
          <p:cNvSpPr/>
          <p:nvPr/>
        </p:nvSpPr>
        <p:spPr>
          <a:xfrm>
            <a:off x="4368698" y="3749040"/>
            <a:ext cx="3454298" cy="1847088"/>
          </a:xfrm>
          <a:prstGeom prst="roundRect">
            <a:avLst>
              <a:gd name="adj" fmla="val 2228"/>
            </a:avLst>
          </a:prstGeom>
          <a:solidFill>
            <a:srgbClr val="1F1D19"/>
          </a:solidFill>
          <a:ln w="9525">
            <a:solidFill>
              <a:srgbClr val="6E5730"/>
            </a:solidFill>
            <a:prstDash val="solid"/>
          </a:ln>
        </p:spPr>
      </p:sp>
      <p:sp>
        <p:nvSpPr>
          <p:cNvPr id="13" name="Text 10"/>
          <p:cNvSpPr/>
          <p:nvPr/>
        </p:nvSpPr>
        <p:spPr>
          <a:xfrm>
            <a:off x="4606442" y="3913632"/>
            <a:ext cx="2978810"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ギャップを埋める第一の手段</a:t>
            </a:r>
            <a:endParaRPr lang="en-US" sz="1100" dirty="0"/>
          </a:p>
        </p:txBody>
      </p:sp>
      <p:sp>
        <p:nvSpPr>
          <p:cNvPr id="14" name="Text 11"/>
          <p:cNvSpPr/>
          <p:nvPr/>
        </p:nvSpPr>
        <p:spPr>
          <a:xfrm>
            <a:off x="4606442"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SPC在庫の優先売却</a:t>
            </a:r>
            <a:endParaRPr lang="en-US" sz="1700" dirty="0"/>
          </a:p>
        </p:txBody>
      </p:sp>
      <p:sp>
        <p:nvSpPr>
          <p:cNvPr id="15" name="Text 12"/>
          <p:cNvSpPr/>
          <p:nvPr/>
        </p:nvSpPr>
        <p:spPr>
          <a:xfrm>
            <a:off x="4606442"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WineBank自己勘定在庫より先にSPC在庫を売却する運用ルールを契約上の義務とする。現状の販売力をSPCに優先配分することで回転12ヶ月を達成する。</a:t>
            </a:r>
            <a:endParaRPr lang="en-US" sz="900" dirty="0"/>
          </a:p>
        </p:txBody>
      </p:sp>
      <p:sp>
        <p:nvSpPr>
          <p:cNvPr id="16" name="Shape 13"/>
          <p:cNvSpPr/>
          <p:nvPr/>
        </p:nvSpPr>
        <p:spPr>
          <a:xfrm>
            <a:off x="8079029" y="3749040"/>
            <a:ext cx="3454298" cy="1847088"/>
          </a:xfrm>
          <a:prstGeom prst="roundRect">
            <a:avLst>
              <a:gd name="adj" fmla="val 2228"/>
            </a:avLst>
          </a:prstGeom>
          <a:solidFill>
            <a:srgbClr val="171614"/>
          </a:solidFill>
          <a:ln w="9525">
            <a:solidFill>
              <a:srgbClr val="2E2A24"/>
            </a:solidFill>
            <a:prstDash val="solid"/>
          </a:ln>
        </p:spPr>
      </p:sp>
      <p:sp>
        <p:nvSpPr>
          <p:cNvPr id="17" name="Text 14"/>
          <p:cNvSpPr/>
          <p:nvPr/>
        </p:nvSpPr>
        <p:spPr>
          <a:xfrm>
            <a:off x="8316773" y="3913632"/>
            <a:ext cx="2978810"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販売力そのものを伸ばす打ち手</a:t>
            </a:r>
            <a:endParaRPr lang="en-US" sz="1100" dirty="0"/>
          </a:p>
        </p:txBody>
      </p:sp>
      <p:sp>
        <p:nvSpPr>
          <p:cNvPr id="18" name="Text 15"/>
          <p:cNvSpPr/>
          <p:nvPr/>
        </p:nvSpPr>
        <p:spPr>
          <a:xfrm>
            <a:off x="8316773" y="4187952"/>
            <a:ext cx="2978810" cy="365760"/>
          </a:xfrm>
          <a:prstGeom prst="rect">
            <a:avLst/>
          </a:prstGeom>
          <a:noFill/>
          <a:ln/>
        </p:spPr>
        <p:txBody>
          <a:bodyPr wrap="square" lIns="0" tIns="0" rIns="0" bIns="0" rtlCol="0" anchor="ctr"/>
          <a:lstStyle/>
          <a:p>
            <a:pPr indent="0" marL="0">
              <a:buNone/>
            </a:pPr>
            <a:r>
              <a:rPr lang="en-US" sz="1700" b="1" dirty="0">
                <a:solidFill>
                  <a:srgbClr val="C9A96E"/>
                </a:solidFill>
                <a:latin typeface="Yu Gothic" pitchFamily="34" charset="0"/>
                <a:ea typeface="Yu Gothic" pitchFamily="34" charset="-122"/>
                <a:cs typeface="Yu Gothic" pitchFamily="34" charset="-120"/>
              </a:rPr>
              <a:t>海外・オークション</a:t>
            </a:r>
            <a:endParaRPr lang="en-US" sz="1700" dirty="0"/>
          </a:p>
        </p:txBody>
      </p:sp>
      <p:sp>
        <p:nvSpPr>
          <p:cNvPr id="19" name="Text 16"/>
          <p:cNvSpPr/>
          <p:nvPr/>
        </p:nvSpPr>
        <p:spPr>
          <a:xfrm>
            <a:off x="8316773" y="4608576"/>
            <a:ext cx="2978810" cy="896112"/>
          </a:xfrm>
          <a:prstGeom prst="rect">
            <a:avLst/>
          </a:prstGeom>
          <a:noFill/>
          <a:ln/>
        </p:spPr>
        <p:txBody>
          <a:bodyPr wrap="square" lIns="0" tIns="0" rIns="0" bIns="0" rtlCol="0" anchor="ctr"/>
          <a:lstStyle/>
          <a:p>
            <a:pPr indent="0" marL="0">
              <a:lnSpc>
                <a:spcPct val="124000"/>
              </a:lnSpc>
              <a:buNone/>
            </a:pPr>
            <a:r>
              <a:rPr lang="en-US" sz="900" dirty="0">
                <a:solidFill>
                  <a:srgbClr val="9A938A"/>
                </a:solidFill>
                <a:latin typeface="Yu Gothic" pitchFamily="34" charset="0"/>
                <a:ea typeface="Yu Gothic" pitchFamily="34" charset="-122"/>
                <a:cs typeface="Yu Gothic" pitchFamily="34" charset="-120"/>
              </a:rPr>
              <a:t>輸出入ライセンスを活かした海外販売、2026年9月開始のWineBank Auction、グループ飲食（アピシウス／ティエリーマルクス）。これらは出資金ではなくWineBank側の資本で手当てする。</a:t>
            </a:r>
            <a:endParaRPr lang="en-US" sz="900" dirty="0"/>
          </a:p>
        </p:txBody>
      </p:sp>
      <p:sp>
        <p:nvSpPr>
          <p:cNvPr id="20" name="Text 17"/>
          <p:cNvSpPr/>
          <p:nvPr/>
        </p:nvSpPr>
        <p:spPr>
          <a:xfrm>
            <a:off x="658368" y="5687568"/>
            <a:ext cx="10874959" cy="40233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回転12ヶ月に必要な年間販売額7.48億円は、現状の販売実力（5〜7億円）の上限をやや上回る。この差はWineBank自己勘定在庫の販売を後回しにすることで埋める設計であり、SPC在庫の優先売却を契約上の義務として明記する（在庫配分の公平性の頁を参照）。エクイティ利回りが20%を割り込むのは回転が30ヶ月を超えた場合。</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STRUCTURE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ファンドスキーム</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WineBankが免許事業者として売買当事者となり、SPCは現物の所有者として損益を受ける。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04</a:t>
            </a:r>
            <a:endParaRPr lang="en-US" sz="950" dirty="0"/>
          </a:p>
        </p:txBody>
      </p:sp>
      <p:sp>
        <p:nvSpPr>
          <p:cNvPr id="7" name="Shape 5"/>
          <p:cNvSpPr/>
          <p:nvPr/>
        </p:nvSpPr>
        <p:spPr>
          <a:xfrm>
            <a:off x="658368" y="1700784"/>
            <a:ext cx="3246120" cy="1188720"/>
          </a:xfrm>
          <a:prstGeom prst="roundRect">
            <a:avLst>
              <a:gd name="adj" fmla="val 3462"/>
            </a:avLst>
          </a:prstGeom>
          <a:solidFill>
            <a:srgbClr val="171614"/>
          </a:solidFill>
          <a:ln w="9525">
            <a:solidFill>
              <a:srgbClr val="2E2A24"/>
            </a:solidFill>
            <a:prstDash val="solid"/>
          </a:ln>
        </p:spPr>
      </p:sp>
      <p:sp>
        <p:nvSpPr>
          <p:cNvPr id="8" name="Text 6"/>
          <p:cNvSpPr/>
          <p:nvPr/>
        </p:nvSpPr>
        <p:spPr>
          <a:xfrm>
            <a:off x="877824"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投資家（資産管理会社）</a:t>
            </a:r>
            <a:endParaRPr lang="en-US" sz="1300" dirty="0"/>
          </a:p>
        </p:txBody>
      </p:sp>
      <p:sp>
        <p:nvSpPr>
          <p:cNvPr id="9" name="Text 7"/>
          <p:cNvSpPr/>
          <p:nvPr/>
        </p:nvSpPr>
        <p:spPr>
          <a:xfrm>
            <a:off x="877824"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匿名組合出資　5億円</a:t>
            </a:r>
            <a:endParaRPr lang="en-US" sz="1050" dirty="0"/>
          </a:p>
        </p:txBody>
      </p:sp>
      <p:sp>
        <p:nvSpPr>
          <p:cNvPr id="10" name="Text 8"/>
          <p:cNvSpPr/>
          <p:nvPr/>
        </p:nvSpPr>
        <p:spPr>
          <a:xfrm>
            <a:off x="87782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半期ごとに税前利益の50%を受領</a:t>
            </a:r>
            <a:endParaRPr lang="en-US" sz="950" dirty="0"/>
          </a:p>
        </p:txBody>
      </p:sp>
      <p:sp>
        <p:nvSpPr>
          <p:cNvPr id="11" name="Shape 9"/>
          <p:cNvSpPr/>
          <p:nvPr/>
        </p:nvSpPr>
        <p:spPr>
          <a:xfrm>
            <a:off x="4472788" y="1700784"/>
            <a:ext cx="3246120" cy="1188720"/>
          </a:xfrm>
          <a:prstGeom prst="roundRect">
            <a:avLst>
              <a:gd name="adj" fmla="val 3462"/>
            </a:avLst>
          </a:prstGeom>
          <a:solidFill>
            <a:srgbClr val="1F1D19"/>
          </a:solidFill>
          <a:ln w="9525">
            <a:solidFill>
              <a:srgbClr val="6E5730"/>
            </a:solidFill>
            <a:prstDash val="solid"/>
          </a:ln>
        </p:spPr>
      </p:sp>
      <p:sp>
        <p:nvSpPr>
          <p:cNvPr id="12" name="Text 10"/>
          <p:cNvSpPr/>
          <p:nvPr/>
        </p:nvSpPr>
        <p:spPr>
          <a:xfrm>
            <a:off x="4692244" y="1920240"/>
            <a:ext cx="2807208" cy="256032"/>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ワインファンドSPC</a:t>
            </a:r>
            <a:endParaRPr lang="en-US" sz="1300" dirty="0"/>
          </a:p>
        </p:txBody>
      </p:sp>
      <p:sp>
        <p:nvSpPr>
          <p:cNvPr id="13" name="Text 11"/>
          <p:cNvSpPr/>
          <p:nvPr/>
        </p:nvSpPr>
        <p:spPr>
          <a:xfrm>
            <a:off x="4692244" y="2231136"/>
            <a:ext cx="2807208" cy="237744"/>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合同会社＋匿名組合（GK-TK）</a:t>
            </a:r>
            <a:endParaRPr lang="en-US" sz="1050" dirty="0"/>
          </a:p>
        </p:txBody>
      </p:sp>
      <p:sp>
        <p:nvSpPr>
          <p:cNvPr id="14" name="Text 12"/>
          <p:cNvSpPr/>
          <p:nvPr/>
        </p:nvSpPr>
        <p:spPr>
          <a:xfrm>
            <a:off x="4692244"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ワイン現物を所有・損益が帰属</a:t>
            </a:r>
            <a:endParaRPr lang="en-US" sz="950" dirty="0"/>
          </a:p>
        </p:txBody>
      </p:sp>
      <p:sp>
        <p:nvSpPr>
          <p:cNvPr id="15" name="Shape 13"/>
          <p:cNvSpPr/>
          <p:nvPr/>
        </p:nvSpPr>
        <p:spPr>
          <a:xfrm>
            <a:off x="8287207" y="1700784"/>
            <a:ext cx="3246120" cy="1188720"/>
          </a:xfrm>
          <a:prstGeom prst="roundRect">
            <a:avLst>
              <a:gd name="adj" fmla="val 3462"/>
            </a:avLst>
          </a:prstGeom>
          <a:solidFill>
            <a:srgbClr val="171614"/>
          </a:solidFill>
          <a:ln w="9525">
            <a:solidFill>
              <a:srgbClr val="2E2A24"/>
            </a:solidFill>
            <a:prstDash val="solid"/>
          </a:ln>
        </p:spPr>
      </p:sp>
      <p:sp>
        <p:nvSpPr>
          <p:cNvPr id="16" name="Text 14"/>
          <p:cNvSpPr/>
          <p:nvPr/>
        </p:nvSpPr>
        <p:spPr>
          <a:xfrm>
            <a:off x="8506663" y="1920240"/>
            <a:ext cx="2807208" cy="256032"/>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株式会社WineBank</a:t>
            </a:r>
            <a:endParaRPr lang="en-US" sz="1300" dirty="0"/>
          </a:p>
        </p:txBody>
      </p:sp>
      <p:sp>
        <p:nvSpPr>
          <p:cNvPr id="17" name="Text 15"/>
          <p:cNvSpPr/>
          <p:nvPr/>
        </p:nvSpPr>
        <p:spPr>
          <a:xfrm>
            <a:off x="8506663" y="2231136"/>
            <a:ext cx="2807208" cy="237744"/>
          </a:xfrm>
          <a:prstGeom prst="rect">
            <a:avLst/>
          </a:prstGeom>
          <a:noFill/>
          <a:ln/>
        </p:spPr>
        <p:txBody>
          <a:bodyPr wrap="square" lIns="0" tIns="0" rIns="0" bIns="0" rtlCol="0" anchor="ctr"/>
          <a:lstStyle/>
          <a:p>
            <a:pPr indent="0" marL="0">
              <a:buNone/>
            </a:pPr>
            <a:r>
              <a:rPr lang="en-US" sz="1050" dirty="0">
                <a:solidFill>
                  <a:srgbClr val="C9A96E"/>
                </a:solidFill>
                <a:latin typeface="Yu Gothic" pitchFamily="34" charset="0"/>
                <a:ea typeface="Yu Gothic" pitchFamily="34" charset="-122"/>
                <a:cs typeface="Yu Gothic" pitchFamily="34" charset="-120"/>
              </a:rPr>
              <a:t>酒類販売業免許・取引口座を保有</a:t>
            </a:r>
            <a:endParaRPr lang="en-US" sz="1050" dirty="0"/>
          </a:p>
        </p:txBody>
      </p:sp>
      <p:sp>
        <p:nvSpPr>
          <p:cNvPr id="18" name="Text 16"/>
          <p:cNvSpPr/>
          <p:nvPr/>
        </p:nvSpPr>
        <p:spPr>
          <a:xfrm>
            <a:off x="8506663" y="2487168"/>
            <a:ext cx="2807208"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調達・譲渡・保管・販売を実行（GP）</a:t>
            </a:r>
            <a:endParaRPr lang="en-US" sz="950" dirty="0"/>
          </a:p>
        </p:txBody>
      </p:sp>
      <p:sp>
        <p:nvSpPr>
          <p:cNvPr id="19" name="Shape 17"/>
          <p:cNvSpPr/>
          <p:nvPr/>
        </p:nvSpPr>
        <p:spPr>
          <a:xfrm>
            <a:off x="3995928" y="2176272"/>
            <a:ext cx="385420" cy="237744"/>
          </a:xfrm>
          <a:prstGeom prst="rightArrow">
            <a:avLst/>
          </a:prstGeom>
          <a:solidFill>
            <a:srgbClr val="6E5730"/>
          </a:solidFill>
          <a:ln w="12700">
            <a:solidFill>
              <a:srgbClr val="6E5730"/>
            </a:solidFill>
            <a:prstDash val="solid"/>
          </a:ln>
        </p:spPr>
      </p:sp>
      <p:sp>
        <p:nvSpPr>
          <p:cNvPr id="20" name="Shape 18"/>
          <p:cNvSpPr/>
          <p:nvPr/>
        </p:nvSpPr>
        <p:spPr>
          <a:xfrm>
            <a:off x="7810348" y="2176272"/>
            <a:ext cx="385420" cy="237744"/>
          </a:xfrm>
          <a:prstGeom prst="leftArrow">
            <a:avLst/>
          </a:prstGeom>
          <a:solidFill>
            <a:srgbClr val="6E5730"/>
          </a:solidFill>
          <a:ln w="12700">
            <a:solidFill>
              <a:srgbClr val="6E5730"/>
            </a:solidFill>
            <a:prstDash val="solid"/>
          </a:ln>
        </p:spPr>
      </p:sp>
      <p:sp>
        <p:nvSpPr>
          <p:cNvPr id="21" name="Shape 19"/>
          <p:cNvSpPr/>
          <p:nvPr/>
        </p:nvSpPr>
        <p:spPr>
          <a:xfrm>
            <a:off x="658368" y="3291840"/>
            <a:ext cx="2526716" cy="1609344"/>
          </a:xfrm>
          <a:prstGeom prst="roundRect">
            <a:avLst>
              <a:gd name="adj" fmla="val 2557"/>
            </a:avLst>
          </a:prstGeom>
          <a:solidFill>
            <a:srgbClr val="171614"/>
          </a:solidFill>
          <a:ln w="9525">
            <a:solidFill>
              <a:srgbClr val="2E2A24"/>
            </a:solidFill>
            <a:prstDash val="solid"/>
          </a:ln>
        </p:spPr>
      </p:sp>
      <p:sp>
        <p:nvSpPr>
          <p:cNvPr id="22" name="Shape 20"/>
          <p:cNvSpPr/>
          <p:nvPr/>
        </p:nvSpPr>
        <p:spPr>
          <a:xfrm>
            <a:off x="877824" y="3493008"/>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24" name="Text 22"/>
          <p:cNvSpPr/>
          <p:nvPr/>
        </p:nvSpPr>
        <p:spPr>
          <a:xfrm>
            <a:off x="1280160"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a:t>
            </a:r>
            <a:endParaRPr lang="en-US" sz="1200" dirty="0"/>
          </a:p>
        </p:txBody>
      </p:sp>
      <p:sp>
        <p:nvSpPr>
          <p:cNvPr id="25" name="Text 23"/>
          <p:cNvSpPr/>
          <p:nvPr/>
        </p:nvSpPr>
        <p:spPr>
          <a:xfrm>
            <a:off x="877824"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WineBankが自社の免許・取引口座でインポーター／酒販店から正規品を調達</a:t>
            </a:r>
            <a:endParaRPr lang="en-US" sz="950" dirty="0"/>
          </a:p>
        </p:txBody>
      </p:sp>
      <p:sp>
        <p:nvSpPr>
          <p:cNvPr id="26" name="Text 24"/>
          <p:cNvSpPr/>
          <p:nvPr/>
        </p:nvSpPr>
        <p:spPr>
          <a:xfrm>
            <a:off x="877824"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40〜60</a:t>
            </a:r>
            <a:endParaRPr lang="en-US" sz="1000" dirty="0"/>
          </a:p>
        </p:txBody>
      </p:sp>
      <p:sp>
        <p:nvSpPr>
          <p:cNvPr id="27" name="Shape 25"/>
          <p:cNvSpPr/>
          <p:nvPr/>
        </p:nvSpPr>
        <p:spPr>
          <a:xfrm>
            <a:off x="3441116" y="3291840"/>
            <a:ext cx="2526716" cy="1609344"/>
          </a:xfrm>
          <a:prstGeom prst="roundRect">
            <a:avLst>
              <a:gd name="adj" fmla="val 2557"/>
            </a:avLst>
          </a:prstGeom>
          <a:solidFill>
            <a:srgbClr val="171614"/>
          </a:solidFill>
          <a:ln w="9525">
            <a:solidFill>
              <a:srgbClr val="2E2A24"/>
            </a:solidFill>
            <a:prstDash val="solid"/>
          </a:ln>
        </p:spPr>
      </p:sp>
      <p:sp>
        <p:nvSpPr>
          <p:cNvPr id="28" name="Shape 26"/>
          <p:cNvSpPr/>
          <p:nvPr/>
        </p:nvSpPr>
        <p:spPr>
          <a:xfrm>
            <a:off x="3660572" y="3493008"/>
            <a:ext cx="310896" cy="310896"/>
          </a:xfrm>
          <a:prstGeom prst="ellipse">
            <a:avLst/>
          </a:prstGeom>
          <a:solidFill>
            <a:srgbClr val="0C0C0C"/>
          </a:solidFill>
          <a:ln w="11430">
            <a:solidFill>
              <a:srgbClr val="A78450"/>
            </a:solidFill>
            <a:prstDash val="solid"/>
          </a:ln>
        </p:spPr>
      </p:sp>
      <p:sp>
        <p:nvSpPr>
          <p:cNvPr id="29" name="Text 27"/>
          <p:cNvSpPr/>
          <p:nvPr/>
        </p:nvSpPr>
        <p:spPr>
          <a:xfrm>
            <a:off x="3660572"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30" name="Text 28"/>
          <p:cNvSpPr/>
          <p:nvPr/>
        </p:nvSpPr>
        <p:spPr>
          <a:xfrm>
            <a:off x="4062908"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譲渡</a:t>
            </a:r>
            <a:endParaRPr lang="en-US" sz="1200" dirty="0"/>
          </a:p>
        </p:txBody>
      </p:sp>
      <p:sp>
        <p:nvSpPr>
          <p:cNvPr id="31" name="Text 29"/>
          <p:cNvSpPr/>
          <p:nvPr/>
        </p:nvSpPr>
        <p:spPr>
          <a:xfrm>
            <a:off x="3660572"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現物をSPCへ譲渡（酒類卸売）。独立企業間価格として1%を付加</a:t>
            </a:r>
            <a:endParaRPr lang="en-US" sz="950" dirty="0"/>
          </a:p>
        </p:txBody>
      </p:sp>
      <p:sp>
        <p:nvSpPr>
          <p:cNvPr id="32" name="Text 30"/>
          <p:cNvSpPr/>
          <p:nvPr/>
        </p:nvSpPr>
        <p:spPr>
          <a:xfrm>
            <a:off x="3660572"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SPC取得原価 50.5</a:t>
            </a:r>
            <a:endParaRPr lang="en-US" sz="1000" dirty="0"/>
          </a:p>
        </p:txBody>
      </p:sp>
      <p:sp>
        <p:nvSpPr>
          <p:cNvPr id="33" name="Shape 31"/>
          <p:cNvSpPr/>
          <p:nvPr/>
        </p:nvSpPr>
        <p:spPr>
          <a:xfrm>
            <a:off x="6223864" y="3291840"/>
            <a:ext cx="2526716" cy="1609344"/>
          </a:xfrm>
          <a:prstGeom prst="roundRect">
            <a:avLst>
              <a:gd name="adj" fmla="val 2557"/>
            </a:avLst>
          </a:prstGeom>
          <a:solidFill>
            <a:srgbClr val="171614"/>
          </a:solidFill>
          <a:ln w="9525">
            <a:solidFill>
              <a:srgbClr val="2E2A24"/>
            </a:solidFill>
            <a:prstDash val="solid"/>
          </a:ln>
        </p:spPr>
      </p:sp>
      <p:sp>
        <p:nvSpPr>
          <p:cNvPr id="34" name="Shape 32"/>
          <p:cNvSpPr/>
          <p:nvPr/>
        </p:nvSpPr>
        <p:spPr>
          <a:xfrm>
            <a:off x="6443320" y="3493008"/>
            <a:ext cx="310896" cy="310896"/>
          </a:xfrm>
          <a:prstGeom prst="ellipse">
            <a:avLst/>
          </a:prstGeom>
          <a:solidFill>
            <a:srgbClr val="0C0C0C"/>
          </a:solidFill>
          <a:ln w="11430">
            <a:solidFill>
              <a:srgbClr val="A78450"/>
            </a:solidFill>
            <a:prstDash val="solid"/>
          </a:ln>
        </p:spPr>
      </p:sp>
      <p:sp>
        <p:nvSpPr>
          <p:cNvPr id="35" name="Text 33"/>
          <p:cNvSpPr/>
          <p:nvPr/>
        </p:nvSpPr>
        <p:spPr>
          <a:xfrm>
            <a:off x="6443320"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36" name="Text 34"/>
          <p:cNvSpPr/>
          <p:nvPr/>
        </p:nvSpPr>
        <p:spPr>
          <a:xfrm>
            <a:off x="6845656"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保管・販売</a:t>
            </a:r>
            <a:endParaRPr lang="en-US" sz="1200" dirty="0"/>
          </a:p>
        </p:txBody>
      </p:sp>
      <p:sp>
        <p:nvSpPr>
          <p:cNvPr id="37" name="Text 35"/>
          <p:cNvSpPr/>
          <p:nvPr/>
        </p:nvSpPr>
        <p:spPr>
          <a:xfrm>
            <a:off x="6443320"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定温倉庫で保管（全量付保）。B2B酒販店卸とB2C自社EC・オークションの2系統で販売</a:t>
            </a:r>
            <a:endParaRPr lang="en-US" sz="950" dirty="0"/>
          </a:p>
        </p:txBody>
      </p:sp>
      <p:sp>
        <p:nvSpPr>
          <p:cNvPr id="38" name="Text 36"/>
          <p:cNvSpPr/>
          <p:nvPr/>
        </p:nvSpPr>
        <p:spPr>
          <a:xfrm>
            <a:off x="6443320"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定価比 70／80</a:t>
            </a:r>
            <a:endParaRPr lang="en-US" sz="1000" dirty="0"/>
          </a:p>
        </p:txBody>
      </p:sp>
      <p:sp>
        <p:nvSpPr>
          <p:cNvPr id="39" name="Shape 37"/>
          <p:cNvSpPr/>
          <p:nvPr/>
        </p:nvSpPr>
        <p:spPr>
          <a:xfrm>
            <a:off x="9006611" y="3291840"/>
            <a:ext cx="2526716" cy="1609344"/>
          </a:xfrm>
          <a:prstGeom prst="roundRect">
            <a:avLst>
              <a:gd name="adj" fmla="val 2557"/>
            </a:avLst>
          </a:prstGeom>
          <a:solidFill>
            <a:srgbClr val="171614"/>
          </a:solidFill>
          <a:ln w="9525">
            <a:solidFill>
              <a:srgbClr val="2E2A24"/>
            </a:solidFill>
            <a:prstDash val="solid"/>
          </a:ln>
        </p:spPr>
      </p:sp>
      <p:sp>
        <p:nvSpPr>
          <p:cNvPr id="40" name="Shape 38"/>
          <p:cNvSpPr/>
          <p:nvPr/>
        </p:nvSpPr>
        <p:spPr>
          <a:xfrm>
            <a:off x="9226067" y="3493008"/>
            <a:ext cx="310896" cy="310896"/>
          </a:xfrm>
          <a:prstGeom prst="ellipse">
            <a:avLst/>
          </a:prstGeom>
          <a:solidFill>
            <a:srgbClr val="0C0C0C"/>
          </a:solidFill>
          <a:ln w="11430">
            <a:solidFill>
              <a:srgbClr val="A78450"/>
            </a:solidFill>
            <a:prstDash val="solid"/>
          </a:ln>
        </p:spPr>
      </p:sp>
      <p:sp>
        <p:nvSpPr>
          <p:cNvPr id="41" name="Text 39"/>
          <p:cNvSpPr/>
          <p:nvPr/>
        </p:nvSpPr>
        <p:spPr>
          <a:xfrm>
            <a:off x="9226067" y="349300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42" name="Text 40"/>
          <p:cNvSpPr/>
          <p:nvPr/>
        </p:nvSpPr>
        <p:spPr>
          <a:xfrm>
            <a:off x="9628403" y="3511296"/>
            <a:ext cx="1685468"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分配</a:t>
            </a:r>
            <a:endParaRPr lang="en-US" sz="1200" dirty="0"/>
          </a:p>
        </p:txBody>
      </p:sp>
      <p:sp>
        <p:nvSpPr>
          <p:cNvPr id="43" name="Text 41"/>
          <p:cNvSpPr/>
          <p:nvPr/>
        </p:nvSpPr>
        <p:spPr>
          <a:xfrm>
            <a:off x="9226067" y="3931920"/>
            <a:ext cx="2087804" cy="603504"/>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SPCの税前利益を半期ごとに折半し分配。元本はSPC内で継続運用</a:t>
            </a:r>
            <a:endParaRPr lang="en-US" sz="950" dirty="0"/>
          </a:p>
        </p:txBody>
      </p:sp>
      <p:sp>
        <p:nvSpPr>
          <p:cNvPr id="44" name="Text 42"/>
          <p:cNvSpPr/>
          <p:nvPr/>
        </p:nvSpPr>
        <p:spPr>
          <a:xfrm>
            <a:off x="9226067" y="4572000"/>
            <a:ext cx="2087804" cy="219456"/>
          </a:xfrm>
          <a:prstGeom prst="rect">
            <a:avLst/>
          </a:prstGeom>
          <a:noFill/>
          <a:ln/>
        </p:spPr>
        <p:txBody>
          <a:bodyPr wrap="square" lIns="0" tIns="0" rIns="0" bIns="0" rtlCol="0" anchor="ctr"/>
          <a:lstStyle/>
          <a:p>
            <a:pPr indent="0" marL="0">
              <a:buNone/>
            </a:pPr>
            <a:r>
              <a:rPr lang="en-US" sz="1000" b="1" dirty="0">
                <a:solidFill>
                  <a:srgbClr val="C9A96E"/>
                </a:solidFill>
                <a:latin typeface="Yu Gothic" pitchFamily="34" charset="0"/>
                <a:ea typeface="Yu Gothic" pitchFamily="34" charset="-122"/>
                <a:cs typeface="Yu Gothic" pitchFamily="34" charset="-120"/>
              </a:rPr>
              <a:t>投資家50：WB50</a:t>
            </a:r>
            <a:endParaRPr lang="en-US" sz="1000" dirty="0"/>
          </a:p>
        </p:txBody>
      </p:sp>
      <p:sp>
        <p:nvSpPr>
          <p:cNvPr id="45" name="Text 43"/>
          <p:cNvSpPr/>
          <p:nvPr/>
        </p:nvSpPr>
        <p:spPr>
          <a:xfrm>
            <a:off x="658368" y="5084064"/>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ワイン現物はSPC名義で保有し、WineBankの債権者から倒産隔離する。WineBankはGPとして実行を担い、報酬は「譲渡時1%」と「利益折半のGP取分」に限定。SPCに対する別途の管理報酬（期中報酬・成功報酬）は課さない。</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REGULATORY &amp; TRADE PRACTICE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なぜSPCが直接仕入・販売できないのか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酒類は免許業種であり、取引口座は法人単位で審査される。SPC単独では商流に乗れない。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05</a:t>
            </a:r>
            <a:endParaRPr lang="en-US" sz="950" dirty="0"/>
          </a:p>
        </p:txBody>
      </p:sp>
      <p:sp>
        <p:nvSpPr>
          <p:cNvPr id="7" name="Shape 5"/>
          <p:cNvSpPr/>
          <p:nvPr/>
        </p:nvSpPr>
        <p:spPr>
          <a:xfrm>
            <a:off x="658368" y="1664208"/>
            <a:ext cx="3442106" cy="1975104"/>
          </a:xfrm>
          <a:prstGeom prst="roundRect">
            <a:avLst>
              <a:gd name="adj" fmla="val 2083"/>
            </a:avLst>
          </a:prstGeom>
          <a:solidFill>
            <a:srgbClr val="171614"/>
          </a:solidFill>
          <a:ln w="9525">
            <a:solidFill>
              <a:srgbClr val="2E2A24"/>
            </a:solidFill>
            <a:prstDash val="solid"/>
          </a:ln>
        </p:spPr>
      </p:sp>
      <p:sp>
        <p:nvSpPr>
          <p:cNvPr id="8" name="Shape 6"/>
          <p:cNvSpPr/>
          <p:nvPr/>
        </p:nvSpPr>
        <p:spPr>
          <a:xfrm>
            <a:off x="896112" y="1865376"/>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酒類販売業免許</a:t>
            </a:r>
            <a:endParaRPr lang="en-US" sz="1200" dirty="0"/>
          </a:p>
        </p:txBody>
      </p:sp>
      <p:sp>
        <p:nvSpPr>
          <p:cNvPr id="11" name="Text 9"/>
          <p:cNvSpPr/>
          <p:nvPr/>
        </p:nvSpPr>
        <p:spPr>
          <a:xfrm>
            <a:off x="896112"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酒類の売買には販売場ごとの免許が必要。新設SPCが一般酒類小売業免許・酒類卸売業免許を取得するには、経営基礎要件（直近3事業年度の財務内容等）や需給調整要件の充足が求められ、設立直後の器としては実務上ハードルが高く、審査にも相応の期間を要する。</a:t>
            </a:r>
            <a:endParaRPr lang="en-US" sz="950" dirty="0"/>
          </a:p>
        </p:txBody>
      </p:sp>
      <p:sp>
        <p:nvSpPr>
          <p:cNvPr id="12" name="Shape 10"/>
          <p:cNvSpPr/>
          <p:nvPr/>
        </p:nvSpPr>
        <p:spPr>
          <a:xfrm>
            <a:off x="4374794" y="1664208"/>
            <a:ext cx="3442106" cy="1975104"/>
          </a:xfrm>
          <a:prstGeom prst="roundRect">
            <a:avLst>
              <a:gd name="adj" fmla="val 2083"/>
            </a:avLst>
          </a:prstGeom>
          <a:solidFill>
            <a:srgbClr val="171614"/>
          </a:solidFill>
          <a:ln w="9525">
            <a:solidFill>
              <a:srgbClr val="2E2A24"/>
            </a:solidFill>
            <a:prstDash val="solid"/>
          </a:ln>
        </p:spPr>
      </p:sp>
      <p:sp>
        <p:nvSpPr>
          <p:cNvPr id="13" name="Shape 11"/>
          <p:cNvSpPr/>
          <p:nvPr/>
        </p:nvSpPr>
        <p:spPr>
          <a:xfrm>
            <a:off x="4612538" y="1865376"/>
            <a:ext cx="310896" cy="310896"/>
          </a:xfrm>
          <a:prstGeom prst="ellipse">
            <a:avLst/>
          </a:prstGeom>
          <a:solidFill>
            <a:srgbClr val="0C0C0C"/>
          </a:solidFill>
          <a:ln w="11430">
            <a:solidFill>
              <a:srgbClr val="A78450"/>
            </a:solidFill>
            <a:prstDash val="solid"/>
          </a:ln>
        </p:spPr>
      </p:sp>
      <p:sp>
        <p:nvSpPr>
          <p:cNvPr id="14" name="Text 12"/>
          <p:cNvSpPr/>
          <p:nvPr/>
        </p:nvSpPr>
        <p:spPr>
          <a:xfrm>
            <a:off x="4612538"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14874"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インポーターの取引基準</a:t>
            </a:r>
            <a:endParaRPr lang="en-US" sz="1200" dirty="0"/>
          </a:p>
        </p:txBody>
      </p:sp>
      <p:sp>
        <p:nvSpPr>
          <p:cNvPr id="16" name="Text 14"/>
          <p:cNvSpPr/>
          <p:nvPr/>
        </p:nvSpPr>
        <p:spPr>
          <a:xfrm>
            <a:off x="4612538"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大手インポーターは新規取引先に対し、与信・取引実績・年間取引量を審査したうえで口座を開設する。事業実体を持たないSPCでは口座開設に至らない。特価・正規割当は長年の取引関係に紐づいており、法人格が変われば引き継げない。</a:t>
            </a:r>
            <a:endParaRPr lang="en-US" sz="950" dirty="0"/>
          </a:p>
        </p:txBody>
      </p:sp>
      <p:sp>
        <p:nvSpPr>
          <p:cNvPr id="17" name="Shape 15"/>
          <p:cNvSpPr/>
          <p:nvPr/>
        </p:nvSpPr>
        <p:spPr>
          <a:xfrm>
            <a:off x="8091221" y="1664208"/>
            <a:ext cx="3442106" cy="1975104"/>
          </a:xfrm>
          <a:prstGeom prst="roundRect">
            <a:avLst>
              <a:gd name="adj" fmla="val 2083"/>
            </a:avLst>
          </a:prstGeom>
          <a:solidFill>
            <a:srgbClr val="171614"/>
          </a:solidFill>
          <a:ln w="9525">
            <a:solidFill>
              <a:srgbClr val="2E2A24"/>
            </a:solidFill>
            <a:prstDash val="solid"/>
          </a:ln>
        </p:spPr>
      </p:sp>
      <p:sp>
        <p:nvSpPr>
          <p:cNvPr id="18" name="Shape 16"/>
          <p:cNvSpPr/>
          <p:nvPr/>
        </p:nvSpPr>
        <p:spPr>
          <a:xfrm>
            <a:off x="8328965" y="1865376"/>
            <a:ext cx="310896" cy="310896"/>
          </a:xfrm>
          <a:prstGeom prst="ellipse">
            <a:avLst/>
          </a:prstGeom>
          <a:solidFill>
            <a:srgbClr val="0C0C0C"/>
          </a:solidFill>
          <a:ln w="11430">
            <a:solidFill>
              <a:srgbClr val="A78450"/>
            </a:solidFill>
            <a:prstDash val="solid"/>
          </a:ln>
        </p:spPr>
      </p:sp>
      <p:sp>
        <p:nvSpPr>
          <p:cNvPr id="19" name="Text 17"/>
          <p:cNvSpPr/>
          <p:nvPr/>
        </p:nvSpPr>
        <p:spPr>
          <a:xfrm>
            <a:off x="8328965" y="1865376"/>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31301" y="1883664"/>
            <a:ext cx="2564282" cy="274320"/>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割当（アロケーション）の属人性</a:t>
            </a:r>
            <a:endParaRPr lang="en-US" sz="1200" dirty="0"/>
          </a:p>
        </p:txBody>
      </p:sp>
      <p:sp>
        <p:nvSpPr>
          <p:cNvPr id="21" name="Text 19"/>
          <p:cNvSpPr/>
          <p:nvPr/>
        </p:nvSpPr>
        <p:spPr>
          <a:xfrm>
            <a:off x="8328965" y="2340864"/>
            <a:ext cx="2966618" cy="120700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希少銘柄の割当はWineBank名義に対して付与されるものであり、第三者へ譲り渡すことができない。創業55年の酒販実績と輸出入ライセンスに基づく調達力は、SPCへ移管できない無形資産である。</a:t>
            </a:r>
            <a:endParaRPr lang="en-US" sz="950" dirty="0"/>
          </a:p>
        </p:txBody>
      </p:sp>
      <p:sp>
        <p:nvSpPr>
          <p:cNvPr id="22" name="Shape 20"/>
          <p:cNvSpPr/>
          <p:nvPr/>
        </p:nvSpPr>
        <p:spPr>
          <a:xfrm>
            <a:off x="658368" y="3858768"/>
            <a:ext cx="10874959" cy="1554480"/>
          </a:xfrm>
          <a:prstGeom prst="roundRect">
            <a:avLst>
              <a:gd name="adj" fmla="val 2647"/>
            </a:avLst>
          </a:prstGeom>
          <a:solidFill>
            <a:srgbClr val="1F1D19"/>
          </a:solidFill>
          <a:ln w="9525">
            <a:solidFill>
              <a:srgbClr val="6E5730"/>
            </a:solidFill>
            <a:prstDash val="solid"/>
          </a:ln>
        </p:spPr>
      </p:sp>
      <p:sp>
        <p:nvSpPr>
          <p:cNvPr id="23" name="Text 21"/>
          <p:cNvSpPr/>
          <p:nvPr/>
        </p:nvSpPr>
        <p:spPr>
          <a:xfrm>
            <a:off x="932688" y="4023360"/>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採用するスキーム</a:t>
            </a:r>
            <a:endParaRPr lang="en-US" sz="1200" dirty="0"/>
          </a:p>
        </p:txBody>
      </p:sp>
      <p:sp>
        <p:nvSpPr>
          <p:cNvPr id="24" name="Text 22"/>
          <p:cNvSpPr/>
          <p:nvPr/>
        </p:nvSpPr>
        <p:spPr>
          <a:xfrm>
            <a:off x="932688" y="4297680"/>
            <a:ext cx="10326319"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WineBankが免許事業者として仕入・販売の当事者となり、現物をSPCへ譲渡する。SPCは所有者として損益を受ける。</a:t>
            </a:r>
            <a:endParaRPr lang="en-US" sz="1250" dirty="0"/>
          </a:p>
        </p:txBody>
      </p:sp>
      <p:sp>
        <p:nvSpPr>
          <p:cNvPr id="25" name="Text 23"/>
          <p:cNvSpPr/>
          <p:nvPr/>
        </p:nvSpPr>
        <p:spPr>
          <a:xfrm>
            <a:off x="9326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譲渡価格を同額にできない理由</a:t>
            </a:r>
            <a:endParaRPr lang="en-US" sz="1050" dirty="0"/>
          </a:p>
        </p:txBody>
      </p:sp>
      <p:sp>
        <p:nvSpPr>
          <p:cNvPr id="26" name="Text 24"/>
          <p:cNvSpPr/>
          <p:nvPr/>
        </p:nvSpPr>
        <p:spPr>
          <a:xfrm>
            <a:off x="9326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WineBankは在庫リスク・与信・入出庫事務を負って調達する。同額譲渡では対価なき役務提供となり、税務上も寄附金認定・移転価格の論点を招く。独立企業間価格として最小限の1%を付加する。</a:t>
            </a:r>
            <a:endParaRPr lang="en-US" sz="950" dirty="0"/>
          </a:p>
        </p:txBody>
      </p:sp>
      <p:sp>
        <p:nvSpPr>
          <p:cNvPr id="27" name="Text 25"/>
          <p:cNvSpPr/>
          <p:nvPr/>
        </p:nvSpPr>
        <p:spPr>
          <a:xfrm>
            <a:off x="6187288" y="4645152"/>
            <a:ext cx="5071720" cy="237744"/>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1%の金額イメージ</a:t>
            </a:r>
            <a:endParaRPr lang="en-US" sz="1050" dirty="0"/>
          </a:p>
        </p:txBody>
      </p:sp>
      <p:sp>
        <p:nvSpPr>
          <p:cNvPr id="28" name="Text 26"/>
          <p:cNvSpPr/>
          <p:nvPr/>
        </p:nvSpPr>
        <p:spPr>
          <a:xfrm>
            <a:off x="6187288" y="4882896"/>
            <a:ext cx="5071720" cy="475488"/>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SPC払込5億円 → 実商品原価4.95億円 ＋ 譲渡マージン500万円。回転12ヶ月・稼働率95%の定常状態では、年間のSPC仕入4.75億円に対しWineBankの譲渡マージンは年約470万円となる。</a:t>
            </a:r>
            <a:endParaRPr lang="en-US" sz="950" dirty="0"/>
          </a:p>
        </p:txBody>
      </p:sp>
      <p:sp>
        <p:nvSpPr>
          <p:cNvPr id="29" name="Text 27"/>
          <p:cNvSpPr/>
          <p:nvPr/>
        </p:nvSpPr>
        <p:spPr>
          <a:xfrm>
            <a:off x="658368" y="5541264"/>
            <a:ext cx="10874959" cy="256032"/>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 SPC自体の免許要否および委託・売買形態の切り分けは、所轄税務署（酒類指導官）および顧問弁護士との確認事項として、契約書ドラフト作成前に確定させる。</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SOURCE OF RETURN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収益の源泉：ワイン流通の価格差</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同一商品が流通段階ごとに異なる価格で存在する。この価格差＝粗利をファンドが取り込む。</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06</a:t>
            </a:r>
            <a:endParaRPr lang="en-US" sz="950" dirty="0"/>
          </a:p>
        </p:txBody>
      </p:sp>
      <p:sp>
        <p:nvSpPr>
          <p:cNvPr id="7" name="Shape 5"/>
          <p:cNvSpPr/>
          <p:nvPr/>
        </p:nvSpPr>
        <p:spPr>
          <a:xfrm>
            <a:off x="658368" y="1719072"/>
            <a:ext cx="1984797" cy="1700784"/>
          </a:xfrm>
          <a:prstGeom prst="roundRect">
            <a:avLst>
              <a:gd name="adj" fmla="val 2419"/>
            </a:avLst>
          </a:prstGeom>
          <a:solidFill>
            <a:srgbClr val="1F1D19"/>
          </a:solidFill>
          <a:ln w="9525">
            <a:solidFill>
              <a:srgbClr val="6E5730"/>
            </a:solidFill>
            <a:prstDash val="solid"/>
          </a:ln>
        </p:spPr>
      </p:sp>
      <p:sp>
        <p:nvSpPr>
          <p:cNvPr id="8" name="Text 6"/>
          <p:cNvSpPr/>
          <p:nvPr/>
        </p:nvSpPr>
        <p:spPr>
          <a:xfrm>
            <a:off x="841248"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インポーター仕入</a:t>
            </a:r>
            <a:endParaRPr lang="en-US" sz="1050" dirty="0"/>
          </a:p>
        </p:txBody>
      </p:sp>
      <p:sp>
        <p:nvSpPr>
          <p:cNvPr id="9" name="Text 7"/>
          <p:cNvSpPr/>
          <p:nvPr/>
        </p:nvSpPr>
        <p:spPr>
          <a:xfrm>
            <a:off x="841248"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40</a:t>
            </a:r>
            <a:endParaRPr lang="en-US" sz="4000" dirty="0"/>
          </a:p>
        </p:txBody>
      </p:sp>
      <p:sp>
        <p:nvSpPr>
          <p:cNvPr id="10" name="Text 8"/>
          <p:cNvSpPr/>
          <p:nvPr/>
        </p:nvSpPr>
        <p:spPr>
          <a:xfrm>
            <a:off x="841248"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仕入①</a:t>
            </a:r>
            <a:endParaRPr lang="en-US" sz="950" dirty="0"/>
          </a:p>
        </p:txBody>
      </p:sp>
      <p:sp>
        <p:nvSpPr>
          <p:cNvPr id="11" name="Shape 9"/>
          <p:cNvSpPr/>
          <p:nvPr/>
        </p:nvSpPr>
        <p:spPr>
          <a:xfrm>
            <a:off x="2880909" y="1719072"/>
            <a:ext cx="1984797" cy="1700784"/>
          </a:xfrm>
          <a:prstGeom prst="roundRect">
            <a:avLst>
              <a:gd name="adj" fmla="val 2419"/>
            </a:avLst>
          </a:prstGeom>
          <a:solidFill>
            <a:srgbClr val="1F1D19"/>
          </a:solidFill>
          <a:ln w="9525">
            <a:solidFill>
              <a:srgbClr val="6E5730"/>
            </a:solidFill>
            <a:prstDash val="solid"/>
          </a:ln>
        </p:spPr>
      </p:sp>
      <p:sp>
        <p:nvSpPr>
          <p:cNvPr id="12" name="Text 10"/>
          <p:cNvSpPr/>
          <p:nvPr/>
        </p:nvSpPr>
        <p:spPr>
          <a:xfrm>
            <a:off x="306378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酒販店仕入</a:t>
            </a:r>
            <a:endParaRPr lang="en-US" sz="1050" dirty="0"/>
          </a:p>
        </p:txBody>
      </p:sp>
      <p:sp>
        <p:nvSpPr>
          <p:cNvPr id="13" name="Text 11"/>
          <p:cNvSpPr/>
          <p:nvPr/>
        </p:nvSpPr>
        <p:spPr>
          <a:xfrm>
            <a:off x="306378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60</a:t>
            </a:r>
            <a:endParaRPr lang="en-US" sz="4000" dirty="0"/>
          </a:p>
        </p:txBody>
      </p:sp>
      <p:sp>
        <p:nvSpPr>
          <p:cNvPr id="14" name="Text 12"/>
          <p:cNvSpPr/>
          <p:nvPr/>
        </p:nvSpPr>
        <p:spPr>
          <a:xfrm>
            <a:off x="306378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仕入②</a:t>
            </a:r>
            <a:endParaRPr lang="en-US" sz="950" dirty="0"/>
          </a:p>
        </p:txBody>
      </p:sp>
      <p:sp>
        <p:nvSpPr>
          <p:cNvPr id="15" name="Shape 13"/>
          <p:cNvSpPr/>
          <p:nvPr/>
        </p:nvSpPr>
        <p:spPr>
          <a:xfrm>
            <a:off x="5103449" y="1719072"/>
            <a:ext cx="1984797" cy="1700784"/>
          </a:xfrm>
          <a:prstGeom prst="roundRect">
            <a:avLst>
              <a:gd name="adj" fmla="val 2419"/>
            </a:avLst>
          </a:prstGeom>
          <a:solidFill>
            <a:srgbClr val="1F1D19"/>
          </a:solidFill>
          <a:ln w="9525">
            <a:solidFill>
              <a:srgbClr val="A78450"/>
            </a:solidFill>
            <a:prstDash val="solid"/>
          </a:ln>
        </p:spPr>
      </p:sp>
      <p:sp>
        <p:nvSpPr>
          <p:cNvPr id="16" name="Text 14"/>
          <p:cNvSpPr/>
          <p:nvPr/>
        </p:nvSpPr>
        <p:spPr>
          <a:xfrm>
            <a:off x="5286329"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酒販店卸 売値</a:t>
            </a:r>
            <a:endParaRPr lang="en-US" sz="1050" dirty="0"/>
          </a:p>
        </p:txBody>
      </p:sp>
      <p:sp>
        <p:nvSpPr>
          <p:cNvPr id="17" name="Text 15"/>
          <p:cNvSpPr/>
          <p:nvPr/>
        </p:nvSpPr>
        <p:spPr>
          <a:xfrm>
            <a:off x="5286329"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70</a:t>
            </a:r>
            <a:endParaRPr lang="en-US" sz="4000" dirty="0"/>
          </a:p>
        </p:txBody>
      </p:sp>
      <p:sp>
        <p:nvSpPr>
          <p:cNvPr id="18" name="Text 16"/>
          <p:cNvSpPr/>
          <p:nvPr/>
        </p:nvSpPr>
        <p:spPr>
          <a:xfrm>
            <a:off x="5286329"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売却① B2B</a:t>
            </a:r>
            <a:endParaRPr lang="en-US" sz="950" dirty="0"/>
          </a:p>
        </p:txBody>
      </p:sp>
      <p:sp>
        <p:nvSpPr>
          <p:cNvPr id="19" name="Shape 17"/>
          <p:cNvSpPr/>
          <p:nvPr/>
        </p:nvSpPr>
        <p:spPr>
          <a:xfrm>
            <a:off x="7325990" y="1719072"/>
            <a:ext cx="1984797" cy="1700784"/>
          </a:xfrm>
          <a:prstGeom prst="roundRect">
            <a:avLst>
              <a:gd name="adj" fmla="val 2419"/>
            </a:avLst>
          </a:prstGeom>
          <a:solidFill>
            <a:srgbClr val="1F1D19"/>
          </a:solidFill>
          <a:ln w="9525">
            <a:solidFill>
              <a:srgbClr val="A78450"/>
            </a:solidFill>
            <a:prstDash val="solid"/>
          </a:ln>
        </p:spPr>
      </p:sp>
      <p:sp>
        <p:nvSpPr>
          <p:cNvPr id="20" name="Text 18"/>
          <p:cNvSpPr/>
          <p:nvPr/>
        </p:nvSpPr>
        <p:spPr>
          <a:xfrm>
            <a:off x="7508870"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ネット最安 売値</a:t>
            </a:r>
            <a:endParaRPr lang="en-US" sz="1050" dirty="0"/>
          </a:p>
        </p:txBody>
      </p:sp>
      <p:sp>
        <p:nvSpPr>
          <p:cNvPr id="21" name="Text 19"/>
          <p:cNvSpPr/>
          <p:nvPr/>
        </p:nvSpPr>
        <p:spPr>
          <a:xfrm>
            <a:off x="7508870" y="2212848"/>
            <a:ext cx="1619037" cy="694944"/>
          </a:xfrm>
          <a:prstGeom prst="rect">
            <a:avLst/>
          </a:prstGeom>
          <a:noFill/>
          <a:ln/>
        </p:spPr>
        <p:txBody>
          <a:bodyPr wrap="square" lIns="0" tIns="0" rIns="0" bIns="0" rtlCol="0" anchor="ctr"/>
          <a:lstStyle/>
          <a:p>
            <a:pPr indent="0" marL="0">
              <a:buNone/>
            </a:pPr>
            <a:r>
              <a:rPr lang="en-US" sz="4000" b="1" dirty="0">
                <a:solidFill>
                  <a:srgbClr val="C9A96E"/>
                </a:solidFill>
                <a:latin typeface="Cambria" pitchFamily="34" charset="0"/>
                <a:ea typeface="Cambria" pitchFamily="34" charset="-122"/>
                <a:cs typeface="Cambria" pitchFamily="34" charset="-120"/>
              </a:rPr>
              <a:t>80</a:t>
            </a:r>
            <a:endParaRPr lang="en-US" sz="4000" dirty="0"/>
          </a:p>
        </p:txBody>
      </p:sp>
      <p:sp>
        <p:nvSpPr>
          <p:cNvPr id="22" name="Text 20"/>
          <p:cNvSpPr/>
          <p:nvPr/>
        </p:nvSpPr>
        <p:spPr>
          <a:xfrm>
            <a:off x="7508870"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売却② B2C</a:t>
            </a:r>
            <a:endParaRPr lang="en-US" sz="950" dirty="0"/>
          </a:p>
        </p:txBody>
      </p:sp>
      <p:sp>
        <p:nvSpPr>
          <p:cNvPr id="23" name="Shape 21"/>
          <p:cNvSpPr/>
          <p:nvPr/>
        </p:nvSpPr>
        <p:spPr>
          <a:xfrm>
            <a:off x="9548531" y="1719072"/>
            <a:ext cx="1984797" cy="1700784"/>
          </a:xfrm>
          <a:prstGeom prst="roundRect">
            <a:avLst>
              <a:gd name="adj" fmla="val 2419"/>
            </a:avLst>
          </a:prstGeom>
          <a:solidFill>
            <a:srgbClr val="171614"/>
          </a:solidFill>
          <a:ln w="9525">
            <a:solidFill>
              <a:srgbClr val="2E2A24"/>
            </a:solidFill>
            <a:prstDash val="solid"/>
          </a:ln>
        </p:spPr>
      </p:sp>
      <p:sp>
        <p:nvSpPr>
          <p:cNvPr id="24" name="Text 22"/>
          <p:cNvSpPr/>
          <p:nvPr/>
        </p:nvSpPr>
        <p:spPr>
          <a:xfrm>
            <a:off x="9731411" y="1883664"/>
            <a:ext cx="1619037"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希望小売価格</a:t>
            </a:r>
            <a:endParaRPr lang="en-US" sz="1050" dirty="0"/>
          </a:p>
        </p:txBody>
      </p:sp>
      <p:sp>
        <p:nvSpPr>
          <p:cNvPr id="25" name="Text 23"/>
          <p:cNvSpPr/>
          <p:nvPr/>
        </p:nvSpPr>
        <p:spPr>
          <a:xfrm>
            <a:off x="9731411" y="2212848"/>
            <a:ext cx="1619037" cy="694944"/>
          </a:xfrm>
          <a:prstGeom prst="rect">
            <a:avLst/>
          </a:prstGeom>
          <a:noFill/>
          <a:ln/>
        </p:spPr>
        <p:txBody>
          <a:bodyPr wrap="square" lIns="0" tIns="0" rIns="0" bIns="0" rtlCol="0" anchor="ctr"/>
          <a:lstStyle/>
          <a:p>
            <a:pPr indent="0" marL="0">
              <a:buNone/>
            </a:pPr>
            <a:r>
              <a:rPr lang="en-US" sz="4000" b="1" dirty="0">
                <a:solidFill>
                  <a:srgbClr val="9A938A"/>
                </a:solidFill>
                <a:latin typeface="Cambria" pitchFamily="34" charset="0"/>
                <a:ea typeface="Cambria" pitchFamily="34" charset="-122"/>
                <a:cs typeface="Cambria" pitchFamily="34" charset="-120"/>
              </a:rPr>
              <a:t>100</a:t>
            </a:r>
            <a:endParaRPr lang="en-US" sz="4000" dirty="0"/>
          </a:p>
        </p:txBody>
      </p:sp>
      <p:sp>
        <p:nvSpPr>
          <p:cNvPr id="26" name="Text 24"/>
          <p:cNvSpPr/>
          <p:nvPr/>
        </p:nvSpPr>
        <p:spPr>
          <a:xfrm>
            <a:off x="9731411" y="2999232"/>
            <a:ext cx="1619037"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消費者</a:t>
            </a:r>
            <a:endParaRPr lang="en-US" sz="950" dirty="0"/>
          </a:p>
        </p:txBody>
      </p:sp>
      <p:sp>
        <p:nvSpPr>
          <p:cNvPr id="27" name="Shape 25"/>
          <p:cNvSpPr/>
          <p:nvPr/>
        </p:nvSpPr>
        <p:spPr>
          <a:xfrm>
            <a:off x="658368" y="3675888"/>
            <a:ext cx="10874959" cy="1956816"/>
          </a:xfrm>
          <a:prstGeom prst="roundRect">
            <a:avLst>
              <a:gd name="adj" fmla="val 2103"/>
            </a:avLst>
          </a:prstGeom>
          <a:solidFill>
            <a:srgbClr val="1F1D19"/>
          </a:solidFill>
          <a:ln w="9525">
            <a:solidFill>
              <a:srgbClr val="6E5730"/>
            </a:solidFill>
            <a:prstDash val="solid"/>
          </a:ln>
        </p:spPr>
      </p:sp>
      <p:sp>
        <p:nvSpPr>
          <p:cNvPr id="28" name="Text 26"/>
          <p:cNvSpPr/>
          <p:nvPr/>
        </p:nvSpPr>
        <p:spPr>
          <a:xfrm>
            <a:off x="932688" y="3822192"/>
            <a:ext cx="54864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主線（ニュートラル）の置き方　― 保有12ヶ月の場合</a:t>
            </a:r>
            <a:endParaRPr lang="en-US" sz="1200" dirty="0"/>
          </a:p>
        </p:txBody>
      </p:sp>
      <p:sp>
        <p:nvSpPr>
          <p:cNvPr id="29" name="Text 27"/>
          <p:cNvSpPr/>
          <p:nvPr/>
        </p:nvSpPr>
        <p:spPr>
          <a:xfrm>
            <a:off x="932688" y="413308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仕入ポートフォリオ</a:t>
            </a:r>
            <a:endParaRPr lang="en-US" sz="1050" dirty="0"/>
          </a:p>
        </p:txBody>
      </p:sp>
      <p:sp>
        <p:nvSpPr>
          <p:cNvPr id="30" name="Text 28"/>
          <p:cNvSpPr/>
          <p:nvPr/>
        </p:nvSpPr>
        <p:spPr>
          <a:xfrm>
            <a:off x="4133088" y="413308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インポーター40 ＋ 酒販店60 を半々</a:t>
            </a:r>
            <a:endParaRPr lang="en-US" sz="1050" dirty="0"/>
          </a:p>
        </p:txBody>
      </p:sp>
      <p:sp>
        <p:nvSpPr>
          <p:cNvPr id="31" name="Text 29"/>
          <p:cNvSpPr/>
          <p:nvPr/>
        </p:nvSpPr>
        <p:spPr>
          <a:xfrm>
            <a:off x="8796528" y="4133088"/>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市中原価 50.00</a:t>
            </a:r>
            <a:endParaRPr lang="en-US" sz="1050" dirty="0"/>
          </a:p>
        </p:txBody>
      </p:sp>
      <p:sp>
        <p:nvSpPr>
          <p:cNvPr id="32" name="Text 30"/>
          <p:cNvSpPr/>
          <p:nvPr/>
        </p:nvSpPr>
        <p:spPr>
          <a:xfrm>
            <a:off x="932688" y="4389120"/>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現物譲渡（WineBank→SPC）</a:t>
            </a:r>
            <a:endParaRPr lang="en-US" sz="1050" dirty="0"/>
          </a:p>
        </p:txBody>
      </p:sp>
      <p:sp>
        <p:nvSpPr>
          <p:cNvPr id="33" name="Text 31"/>
          <p:cNvSpPr/>
          <p:nvPr/>
        </p:nvSpPr>
        <p:spPr>
          <a:xfrm>
            <a:off x="4133088" y="4389120"/>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独立企業間価格として1%を付加</a:t>
            </a:r>
            <a:endParaRPr lang="en-US" sz="1050" dirty="0"/>
          </a:p>
        </p:txBody>
      </p:sp>
      <p:sp>
        <p:nvSpPr>
          <p:cNvPr id="34" name="Text 32"/>
          <p:cNvSpPr/>
          <p:nvPr/>
        </p:nvSpPr>
        <p:spPr>
          <a:xfrm>
            <a:off x="8796528" y="4389120"/>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SPC取得原価 50.50</a:t>
            </a:r>
            <a:endParaRPr lang="en-US" sz="1050" dirty="0"/>
          </a:p>
        </p:txBody>
      </p:sp>
      <p:sp>
        <p:nvSpPr>
          <p:cNvPr id="35" name="Text 33"/>
          <p:cNvSpPr/>
          <p:nvPr/>
        </p:nvSpPr>
        <p:spPr>
          <a:xfrm>
            <a:off x="932688" y="4645152"/>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売却ポートフォリオ</a:t>
            </a:r>
            <a:endParaRPr lang="en-US" sz="1050" dirty="0"/>
          </a:p>
        </p:txBody>
      </p:sp>
      <p:sp>
        <p:nvSpPr>
          <p:cNvPr id="36" name="Text 34"/>
          <p:cNvSpPr/>
          <p:nvPr/>
        </p:nvSpPr>
        <p:spPr>
          <a:xfrm>
            <a:off x="4133088" y="4645152"/>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酒販店卸70（B2B）＋ ネット最安80（B2C）を半々</a:t>
            </a:r>
            <a:endParaRPr lang="en-US" sz="1050" dirty="0"/>
          </a:p>
        </p:txBody>
      </p:sp>
      <p:sp>
        <p:nvSpPr>
          <p:cNvPr id="37" name="Text 35"/>
          <p:cNvSpPr/>
          <p:nvPr/>
        </p:nvSpPr>
        <p:spPr>
          <a:xfrm>
            <a:off x="8796528" y="4645152"/>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取得時の売値 75.00</a:t>
            </a:r>
            <a:endParaRPr lang="en-US" sz="1050" dirty="0"/>
          </a:p>
        </p:txBody>
      </p:sp>
      <p:sp>
        <p:nvSpPr>
          <p:cNvPr id="38" name="Text 36"/>
          <p:cNvSpPr/>
          <p:nvPr/>
        </p:nvSpPr>
        <p:spPr>
          <a:xfrm>
            <a:off x="932688" y="4901184"/>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保有中の値上がり</a:t>
            </a:r>
            <a:endParaRPr lang="en-US" sz="1050" dirty="0"/>
          </a:p>
        </p:txBody>
      </p:sp>
      <p:sp>
        <p:nvSpPr>
          <p:cNvPr id="39" name="Text 37"/>
          <p:cNvSpPr/>
          <p:nvPr/>
        </p:nvSpPr>
        <p:spPr>
          <a:xfrm>
            <a:off x="4133088" y="4901184"/>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ワイン価格の年間上昇6%を12ヶ月保有</a:t>
            </a:r>
            <a:endParaRPr lang="en-US" sz="1050" dirty="0"/>
          </a:p>
        </p:txBody>
      </p:sp>
      <p:sp>
        <p:nvSpPr>
          <p:cNvPr id="40" name="Text 38"/>
          <p:cNvSpPr/>
          <p:nvPr/>
        </p:nvSpPr>
        <p:spPr>
          <a:xfrm>
            <a:off x="8796528" y="4901184"/>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×1.060 → 売値 79.50</a:t>
            </a:r>
            <a:endParaRPr lang="en-US" sz="1050" dirty="0"/>
          </a:p>
        </p:txBody>
      </p:sp>
      <p:sp>
        <p:nvSpPr>
          <p:cNvPr id="41" name="Text 39"/>
          <p:cNvSpPr/>
          <p:nvPr/>
        </p:nvSpPr>
        <p:spPr>
          <a:xfrm>
            <a:off x="932688" y="5157216"/>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変動販売費</a:t>
            </a:r>
            <a:endParaRPr lang="en-US" sz="1050" dirty="0"/>
          </a:p>
        </p:txBody>
      </p:sp>
      <p:sp>
        <p:nvSpPr>
          <p:cNvPr id="42" name="Text 40"/>
          <p:cNvSpPr/>
          <p:nvPr/>
        </p:nvSpPr>
        <p:spPr>
          <a:xfrm>
            <a:off x="4133088" y="5157216"/>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B2B 1.0% ／ B2C 11.2% の加重平均 6.44%</a:t>
            </a:r>
            <a:endParaRPr lang="en-US" sz="1050" dirty="0"/>
          </a:p>
        </p:txBody>
      </p:sp>
      <p:sp>
        <p:nvSpPr>
          <p:cNvPr id="43" name="Text 41"/>
          <p:cNvSpPr/>
          <p:nvPr/>
        </p:nvSpPr>
        <p:spPr>
          <a:xfrm>
            <a:off x="8796528" y="5157216"/>
            <a:ext cx="2462479" cy="237744"/>
          </a:xfrm>
          <a:prstGeom prst="rect">
            <a:avLst/>
          </a:prstGeom>
          <a:noFill/>
          <a:ln/>
        </p:spPr>
        <p:txBody>
          <a:bodyPr wrap="square" lIns="0" tIns="0" rIns="0" bIns="0" rtlCol="0" anchor="ctr"/>
          <a:lstStyle/>
          <a:p>
            <a:pPr algn="r" indent="0" marL="0">
              <a:buNone/>
            </a:pPr>
            <a:r>
              <a:rPr lang="en-US" sz="1050" b="1" dirty="0">
                <a:solidFill>
                  <a:srgbClr val="EFEBE3"/>
                </a:solidFill>
                <a:latin typeface="Yu Gothic" pitchFamily="34" charset="0"/>
                <a:ea typeface="Yu Gothic" pitchFamily="34" charset="-122"/>
                <a:cs typeface="Yu Gothic" pitchFamily="34" charset="-120"/>
              </a:rPr>
              <a:t>▲ 5.12 → 手取り 74.38</a:t>
            </a:r>
            <a:endParaRPr lang="en-US" sz="1050" dirty="0"/>
          </a:p>
        </p:txBody>
      </p:sp>
      <p:sp>
        <p:nvSpPr>
          <p:cNvPr id="44" name="Text 42"/>
          <p:cNvSpPr/>
          <p:nvPr/>
        </p:nvSpPr>
        <p:spPr>
          <a:xfrm>
            <a:off x="932688" y="5413248"/>
            <a:ext cx="3108960" cy="237744"/>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単位粗利</a:t>
            </a:r>
            <a:endParaRPr lang="en-US" sz="1050" dirty="0"/>
          </a:p>
        </p:txBody>
      </p:sp>
      <p:sp>
        <p:nvSpPr>
          <p:cNvPr id="45" name="Text 43"/>
          <p:cNvSpPr/>
          <p:nvPr/>
        </p:nvSpPr>
        <p:spPr>
          <a:xfrm>
            <a:off x="4133088" y="5413248"/>
            <a:ext cx="4572000" cy="237744"/>
          </a:xfrm>
          <a:prstGeom prst="rect">
            <a:avLst/>
          </a:prstGeom>
          <a:noFill/>
          <a:ln/>
        </p:spPr>
        <p:txBody>
          <a:bodyPr wrap="square" lIns="0" tIns="0" rIns="0" bIns="0" rtlCol="0" anchor="ctr"/>
          <a:lstStyle/>
          <a:p>
            <a:pPr indent="0" marL="0">
              <a:buNone/>
            </a:pPr>
            <a:r>
              <a:rPr lang="en-US" sz="1050" dirty="0">
                <a:solidFill>
                  <a:srgbClr val="9A938A"/>
                </a:solidFill>
                <a:latin typeface="Yu Gothic" pitchFamily="34" charset="0"/>
                <a:ea typeface="Yu Gothic" pitchFamily="34" charset="-122"/>
                <a:cs typeface="Yu Gothic" pitchFamily="34" charset="-120"/>
              </a:rPr>
              <a:t>手取り74.38 − SPC取得原価50.50</a:t>
            </a:r>
            <a:endParaRPr lang="en-US" sz="1050" dirty="0"/>
          </a:p>
        </p:txBody>
      </p:sp>
      <p:sp>
        <p:nvSpPr>
          <p:cNvPr id="46" name="Text 44"/>
          <p:cNvSpPr/>
          <p:nvPr/>
        </p:nvSpPr>
        <p:spPr>
          <a:xfrm>
            <a:off x="8796528" y="5413248"/>
            <a:ext cx="2462479" cy="237744"/>
          </a:xfrm>
          <a:prstGeom prst="rect">
            <a:avLst/>
          </a:prstGeom>
          <a:noFill/>
          <a:ln/>
        </p:spPr>
        <p:txBody>
          <a:bodyPr wrap="square" lIns="0" tIns="0" rIns="0" bIns="0" rtlCol="0" anchor="ctr"/>
          <a:lstStyle/>
          <a:p>
            <a:pPr algn="r" indent="0" marL="0">
              <a:buNone/>
            </a:pPr>
            <a:r>
              <a:rPr lang="en-US" sz="1050" b="1" dirty="0">
                <a:solidFill>
                  <a:srgbClr val="C9A96E"/>
                </a:solidFill>
                <a:latin typeface="Yu Gothic" pitchFamily="34" charset="0"/>
                <a:ea typeface="Yu Gothic" pitchFamily="34" charset="-122"/>
                <a:cs typeface="Yu Gothic" pitchFamily="34" charset="-120"/>
              </a:rPr>
              <a:t>粗利 23.88（粗利率 30.0%）</a:t>
            </a:r>
            <a:endParaRPr lang="en-US" sz="1050" dirty="0"/>
          </a:p>
        </p:txBody>
      </p:sp>
      <p:sp>
        <p:nvSpPr>
          <p:cNvPr id="47" name="Text 45"/>
          <p:cNvSpPr/>
          <p:nvPr/>
        </p:nvSpPr>
        <p:spPr>
          <a:xfrm>
            <a:off x="658368" y="5724144"/>
            <a:ext cx="10874959" cy="256032"/>
          </a:xfrm>
          <a:prstGeom prst="rect">
            <a:avLst/>
          </a:prstGeom>
          <a:noFill/>
          <a:ln/>
        </p:spPr>
        <p:txBody>
          <a:bodyPr wrap="square" lIns="0" tIns="0" rIns="0" bIns="0" rtlCol="0" anchor="ctr"/>
          <a:lstStyle/>
          <a:p>
            <a:pPr indent="0" marL="0">
              <a:buNone/>
            </a:pPr>
            <a:r>
              <a:rPr lang="en-US" sz="900" dirty="0">
                <a:solidFill>
                  <a:srgbClr val="6E675E"/>
                </a:solidFill>
                <a:latin typeface="Yu Gothic" pitchFamily="34" charset="0"/>
                <a:ea typeface="Yu Gothic" pitchFamily="34" charset="-122"/>
                <a:cs typeface="Yu Gothic" pitchFamily="34" charset="-120"/>
              </a:rPr>
              <a:t>価格の上昇は流通段階全体（希望小売・ネット最安・卸値）が連動するため、取得原価は据え置きのまま売値だけが上がる。上昇率は会社資料のFine Wine年率10%に対し、保守的に6%を主線とする。</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CHANNEL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販売チャネル別の手取り：B2B卸とB2Cネット販売</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売値だけでは判断できない。手数料構造が全く異なるため、手取りベースで比較する。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07</a:t>
            </a:r>
            <a:endParaRPr lang="en-US" sz="950" dirty="0"/>
          </a:p>
        </p:txBody>
      </p:sp>
      <p:sp>
        <p:nvSpPr>
          <p:cNvPr id="7" name="Shape 5"/>
          <p:cNvSpPr/>
          <p:nvPr/>
        </p:nvSpPr>
        <p:spPr>
          <a:xfrm>
            <a:off x="658368" y="1645920"/>
            <a:ext cx="5282032" cy="2962656"/>
          </a:xfrm>
          <a:prstGeom prst="roundRect">
            <a:avLst>
              <a:gd name="adj" fmla="val 1389"/>
            </a:avLst>
          </a:prstGeom>
          <a:solidFill>
            <a:srgbClr val="171614"/>
          </a:solidFill>
          <a:ln w="9525">
            <a:solidFill>
              <a:srgbClr val="2E2A24"/>
            </a:solidFill>
            <a:prstDash val="solid"/>
          </a:ln>
        </p:spPr>
      </p:sp>
      <p:sp>
        <p:nvSpPr>
          <p:cNvPr id="8" name="Text 6"/>
          <p:cNvSpPr/>
          <p:nvPr/>
        </p:nvSpPr>
        <p:spPr>
          <a:xfrm>
            <a:off x="914400" y="1810512"/>
            <a:ext cx="3544672" cy="274320"/>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B2B｜酒販店卸</a:t>
            </a:r>
            <a:endParaRPr lang="en-US" sz="1300" dirty="0"/>
          </a:p>
        </p:txBody>
      </p:sp>
      <p:sp>
        <p:nvSpPr>
          <p:cNvPr id="9" name="Text 7"/>
          <p:cNvSpPr/>
          <p:nvPr/>
        </p:nvSpPr>
        <p:spPr>
          <a:xfrm>
            <a:off x="4203040"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70.00</a:t>
            </a:r>
            <a:endParaRPr lang="en-US" sz="1000" dirty="0"/>
          </a:p>
        </p:txBody>
      </p:sp>
      <p:sp>
        <p:nvSpPr>
          <p:cNvPr id="10" name="Text 8"/>
          <p:cNvSpPr/>
          <p:nvPr/>
        </p:nvSpPr>
        <p:spPr>
          <a:xfrm>
            <a:off x="914400"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出庫・配送</a:t>
            </a:r>
            <a:endParaRPr lang="en-US" sz="1000" dirty="0"/>
          </a:p>
        </p:txBody>
      </p:sp>
      <p:sp>
        <p:nvSpPr>
          <p:cNvPr id="11" name="Text 9"/>
          <p:cNvSpPr/>
          <p:nvPr/>
        </p:nvSpPr>
        <p:spPr>
          <a:xfrm>
            <a:off x="5007712"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0.6%</a:t>
            </a:r>
            <a:endParaRPr lang="en-US" sz="1100" dirty="0"/>
          </a:p>
        </p:txBody>
      </p:sp>
      <p:sp>
        <p:nvSpPr>
          <p:cNvPr id="12" name="Text 10"/>
          <p:cNvSpPr/>
          <p:nvPr/>
        </p:nvSpPr>
        <p:spPr>
          <a:xfrm>
            <a:off x="914400"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ケース／パレット単位出荷。1回あたりの出荷単位が大きい</a:t>
            </a:r>
            <a:endParaRPr lang="en-US" sz="850" dirty="0"/>
          </a:p>
        </p:txBody>
      </p:sp>
      <p:sp>
        <p:nvSpPr>
          <p:cNvPr id="13" name="Text 11"/>
          <p:cNvSpPr/>
          <p:nvPr/>
        </p:nvSpPr>
        <p:spPr>
          <a:xfrm>
            <a:off x="914400"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決済・与信</a:t>
            </a:r>
            <a:endParaRPr lang="en-US" sz="1000" dirty="0"/>
          </a:p>
        </p:txBody>
      </p:sp>
      <p:sp>
        <p:nvSpPr>
          <p:cNvPr id="14" name="Text 12"/>
          <p:cNvSpPr/>
          <p:nvPr/>
        </p:nvSpPr>
        <p:spPr>
          <a:xfrm>
            <a:off x="5007712"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15" name="Text 13"/>
          <p:cNvSpPr/>
          <p:nvPr/>
        </p:nvSpPr>
        <p:spPr>
          <a:xfrm>
            <a:off x="914400"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掛売のため決済手数料なし。回収コストと貸倒引当</a:t>
            </a:r>
            <a:endParaRPr lang="en-US" sz="850" dirty="0"/>
          </a:p>
        </p:txBody>
      </p:sp>
      <p:sp>
        <p:nvSpPr>
          <p:cNvPr id="16" name="Text 14"/>
          <p:cNvSpPr/>
          <p:nvPr/>
        </p:nvSpPr>
        <p:spPr>
          <a:xfrm>
            <a:off x="914400"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17" name="Text 15"/>
          <p:cNvSpPr/>
          <p:nvPr/>
        </p:nvSpPr>
        <p:spPr>
          <a:xfrm>
            <a:off x="3928720"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1.0%（▲0.70）</a:t>
            </a:r>
            <a:endParaRPr lang="en-US" sz="1050" dirty="0"/>
          </a:p>
        </p:txBody>
      </p:sp>
      <p:sp>
        <p:nvSpPr>
          <p:cNvPr id="18" name="Text 16"/>
          <p:cNvSpPr/>
          <p:nvPr/>
        </p:nvSpPr>
        <p:spPr>
          <a:xfrm>
            <a:off x="914400"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19" name="Text 17"/>
          <p:cNvSpPr/>
          <p:nvPr/>
        </p:nvSpPr>
        <p:spPr>
          <a:xfrm>
            <a:off x="3928720"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69.30</a:t>
            </a:r>
            <a:endParaRPr lang="en-US" sz="2500" dirty="0"/>
          </a:p>
        </p:txBody>
      </p:sp>
      <p:sp>
        <p:nvSpPr>
          <p:cNvPr id="20" name="Shape 18"/>
          <p:cNvSpPr/>
          <p:nvPr/>
        </p:nvSpPr>
        <p:spPr>
          <a:xfrm>
            <a:off x="6251296" y="1645920"/>
            <a:ext cx="5282032" cy="2962656"/>
          </a:xfrm>
          <a:prstGeom prst="roundRect">
            <a:avLst>
              <a:gd name="adj" fmla="val 1389"/>
            </a:avLst>
          </a:prstGeom>
          <a:solidFill>
            <a:srgbClr val="1F1D19"/>
          </a:solidFill>
          <a:ln w="9525">
            <a:solidFill>
              <a:srgbClr val="6E5730"/>
            </a:solidFill>
            <a:prstDash val="solid"/>
          </a:ln>
        </p:spPr>
      </p:sp>
      <p:sp>
        <p:nvSpPr>
          <p:cNvPr id="21" name="Text 19"/>
          <p:cNvSpPr/>
          <p:nvPr/>
        </p:nvSpPr>
        <p:spPr>
          <a:xfrm>
            <a:off x="6507328" y="1810512"/>
            <a:ext cx="3544672" cy="274320"/>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B2C｜自社EC・オークション</a:t>
            </a:r>
            <a:endParaRPr lang="en-US" sz="1300" dirty="0"/>
          </a:p>
        </p:txBody>
      </p:sp>
      <p:sp>
        <p:nvSpPr>
          <p:cNvPr id="22" name="Text 20"/>
          <p:cNvSpPr/>
          <p:nvPr/>
        </p:nvSpPr>
        <p:spPr>
          <a:xfrm>
            <a:off x="9795967" y="1792224"/>
            <a:ext cx="1481328" cy="310896"/>
          </a:xfrm>
          <a:prstGeom prst="rect">
            <a:avLst/>
          </a:prstGeom>
          <a:noFill/>
          <a:ln/>
        </p:spPr>
        <p:txBody>
          <a:bodyPr wrap="square" lIns="0" tIns="0" rIns="0" bIns="0" rtlCol="0" anchor="ctr"/>
          <a:lstStyle/>
          <a:p>
            <a:pPr algn="r" indent="0" marL="0">
              <a:buNone/>
            </a:pPr>
            <a:r>
              <a:rPr lang="en-US" sz="1000" dirty="0">
                <a:solidFill>
                  <a:srgbClr val="9A938A"/>
                </a:solidFill>
                <a:latin typeface="Yu Gothic" pitchFamily="34" charset="0"/>
                <a:ea typeface="Yu Gothic" pitchFamily="34" charset="-122"/>
                <a:cs typeface="Yu Gothic" pitchFamily="34" charset="-120"/>
              </a:rPr>
              <a:t>売値 </a:t>
            </a:r>
            <a:pPr algn="r" indent="0" marL="0">
              <a:buNone/>
            </a:pPr>
            <a:r>
              <a:rPr lang="en-US" sz="2000" b="1" dirty="0">
                <a:solidFill>
                  <a:srgbClr val="EFEBE3"/>
                </a:solidFill>
                <a:latin typeface="Cambria" pitchFamily="34" charset="0"/>
                <a:ea typeface="Cambria" pitchFamily="34" charset="-122"/>
                <a:cs typeface="Cambria" pitchFamily="34" charset="-120"/>
              </a:rPr>
              <a:t>80.00</a:t>
            </a:r>
            <a:endParaRPr lang="en-US" sz="1000" dirty="0"/>
          </a:p>
        </p:txBody>
      </p:sp>
      <p:sp>
        <p:nvSpPr>
          <p:cNvPr id="23" name="Text 21"/>
          <p:cNvSpPr/>
          <p:nvPr/>
        </p:nvSpPr>
        <p:spPr>
          <a:xfrm>
            <a:off x="6507328" y="2231136"/>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モール・出品手数料</a:t>
            </a:r>
            <a:endParaRPr lang="en-US" sz="1000" dirty="0"/>
          </a:p>
        </p:txBody>
      </p:sp>
      <p:sp>
        <p:nvSpPr>
          <p:cNvPr id="24" name="Text 22"/>
          <p:cNvSpPr/>
          <p:nvPr/>
        </p:nvSpPr>
        <p:spPr>
          <a:xfrm>
            <a:off x="10600639" y="2231136"/>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5.5%</a:t>
            </a:r>
            <a:endParaRPr lang="en-US" sz="1100" dirty="0"/>
          </a:p>
        </p:txBody>
      </p:sp>
      <p:sp>
        <p:nvSpPr>
          <p:cNvPr id="25" name="Text 23"/>
          <p:cNvSpPr/>
          <p:nvPr/>
        </p:nvSpPr>
        <p:spPr>
          <a:xfrm>
            <a:off x="6507328" y="2423160"/>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楽天／Yahoo／寺田Wine Market（10〜12%）と自社EC・自社オークション（0〜3%）の加重平均</a:t>
            </a:r>
            <a:endParaRPr lang="en-US" sz="850" dirty="0"/>
          </a:p>
        </p:txBody>
      </p:sp>
      <p:sp>
        <p:nvSpPr>
          <p:cNvPr id="26" name="Text 24"/>
          <p:cNvSpPr/>
          <p:nvPr/>
        </p:nvSpPr>
        <p:spPr>
          <a:xfrm>
            <a:off x="6507328" y="2761488"/>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カード決済手数料</a:t>
            </a:r>
            <a:endParaRPr lang="en-US" sz="1000" dirty="0"/>
          </a:p>
        </p:txBody>
      </p:sp>
      <p:sp>
        <p:nvSpPr>
          <p:cNvPr id="27" name="Text 25"/>
          <p:cNvSpPr/>
          <p:nvPr/>
        </p:nvSpPr>
        <p:spPr>
          <a:xfrm>
            <a:off x="10600639" y="2761488"/>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3.2%</a:t>
            </a:r>
            <a:endParaRPr lang="en-US" sz="1100" dirty="0"/>
          </a:p>
        </p:txBody>
      </p:sp>
      <p:sp>
        <p:nvSpPr>
          <p:cNvPr id="28" name="Text 26"/>
          <p:cNvSpPr/>
          <p:nvPr/>
        </p:nvSpPr>
        <p:spPr>
          <a:xfrm>
            <a:off x="6507328" y="2953512"/>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クレジットカード決済</a:t>
            </a:r>
            <a:endParaRPr lang="en-US" sz="850" dirty="0"/>
          </a:p>
        </p:txBody>
      </p:sp>
      <p:sp>
        <p:nvSpPr>
          <p:cNvPr id="29" name="Text 27"/>
          <p:cNvSpPr/>
          <p:nvPr/>
        </p:nvSpPr>
        <p:spPr>
          <a:xfrm>
            <a:off x="6507328" y="3291840"/>
            <a:ext cx="4093312" cy="201168"/>
          </a:xfrm>
          <a:prstGeom prst="rect">
            <a:avLst/>
          </a:prstGeom>
          <a:noFill/>
          <a:ln/>
        </p:spPr>
        <p:txBody>
          <a:bodyPr wrap="square" lIns="0" tIns="0" rIns="0" bIns="0" rtlCol="0" anchor="ctr"/>
          <a:lstStyle/>
          <a:p>
            <a:pPr indent="0" marL="0">
              <a:buNone/>
            </a:pPr>
            <a:r>
              <a:rPr lang="en-US" sz="1000" b="1" dirty="0">
                <a:solidFill>
                  <a:srgbClr val="EFEBE3"/>
                </a:solidFill>
                <a:latin typeface="Yu Gothic" pitchFamily="34" charset="0"/>
                <a:ea typeface="Yu Gothic" pitchFamily="34" charset="-122"/>
                <a:cs typeface="Yu Gothic" pitchFamily="34" charset="-120"/>
              </a:rPr>
              <a:t>出庫・梱包・クール便</a:t>
            </a:r>
            <a:endParaRPr lang="en-US" sz="1000" dirty="0"/>
          </a:p>
        </p:txBody>
      </p:sp>
      <p:sp>
        <p:nvSpPr>
          <p:cNvPr id="30" name="Text 28"/>
          <p:cNvSpPr/>
          <p:nvPr/>
        </p:nvSpPr>
        <p:spPr>
          <a:xfrm>
            <a:off x="10600639" y="3291840"/>
            <a:ext cx="676656" cy="201168"/>
          </a:xfrm>
          <a:prstGeom prst="rect">
            <a:avLst/>
          </a:prstGeom>
          <a:noFill/>
          <a:ln/>
        </p:spPr>
        <p:txBody>
          <a:bodyPr wrap="square" lIns="0" tIns="0" rIns="0" bIns="0" rtlCol="0" anchor="ctr"/>
          <a:lstStyle/>
          <a:p>
            <a:pPr algn="r" indent="0" marL="0">
              <a:buNone/>
            </a:pPr>
            <a:r>
              <a:rPr lang="en-US" sz="1100" b="1" dirty="0">
                <a:solidFill>
                  <a:srgbClr val="C9A96E"/>
                </a:solidFill>
                <a:latin typeface="Cambria" pitchFamily="34" charset="0"/>
                <a:ea typeface="Cambria" pitchFamily="34" charset="-122"/>
                <a:cs typeface="Cambria" pitchFamily="34" charset="-120"/>
              </a:rPr>
              <a:t>2.5%</a:t>
            </a:r>
            <a:endParaRPr lang="en-US" sz="1100" dirty="0"/>
          </a:p>
        </p:txBody>
      </p:sp>
      <p:sp>
        <p:nvSpPr>
          <p:cNvPr id="31" name="Text 29"/>
          <p:cNvSpPr/>
          <p:nvPr/>
        </p:nvSpPr>
        <p:spPr>
          <a:xfrm>
            <a:off x="6507328" y="3483864"/>
            <a:ext cx="4769968" cy="292608"/>
          </a:xfrm>
          <a:prstGeom prst="rect">
            <a:avLst/>
          </a:prstGeom>
          <a:noFill/>
          <a:ln/>
        </p:spPr>
        <p:txBody>
          <a:bodyPr wrap="square" lIns="0" tIns="0" rIns="0" bIns="0" rtlCol="0" anchor="ctr"/>
          <a:lstStyle/>
          <a:p>
            <a:pPr indent="0" marL="0">
              <a:lnSpc>
                <a:spcPct val="115000"/>
              </a:lnSpc>
              <a:buNone/>
            </a:pPr>
            <a:r>
              <a:rPr lang="en-US" sz="850" dirty="0">
                <a:solidFill>
                  <a:srgbClr val="9A938A"/>
                </a:solidFill>
                <a:latin typeface="Yu Gothic" pitchFamily="34" charset="0"/>
                <a:ea typeface="Yu Gothic" pitchFamily="34" charset="-122"/>
                <a:cs typeface="Yu Gothic" pitchFamily="34" charset="-120"/>
              </a:rPr>
              <a:t>1口1,300円＋梱包資材。1口平均6万円想定</a:t>
            </a:r>
            <a:endParaRPr lang="en-US" sz="850" dirty="0"/>
          </a:p>
        </p:txBody>
      </p:sp>
      <p:sp>
        <p:nvSpPr>
          <p:cNvPr id="32" name="Text 30"/>
          <p:cNvSpPr/>
          <p:nvPr/>
        </p:nvSpPr>
        <p:spPr>
          <a:xfrm>
            <a:off x="6507328" y="3913632"/>
            <a:ext cx="2377440" cy="219456"/>
          </a:xfrm>
          <a:prstGeom prst="rect">
            <a:avLst/>
          </a:prstGeom>
          <a:noFill/>
          <a:ln/>
        </p:spPr>
        <p:txBody>
          <a:bodyPr wrap="square" lIns="0" tIns="0" rIns="0" bIns="0" rtlCol="0" anchor="ctr"/>
          <a:lstStyle/>
          <a:p>
            <a:pPr indent="0" marL="0">
              <a:buNone/>
            </a:pPr>
            <a:r>
              <a:rPr lang="en-US" sz="1000" dirty="0">
                <a:solidFill>
                  <a:srgbClr val="9A938A"/>
                </a:solidFill>
                <a:latin typeface="Yu Gothic" pitchFamily="34" charset="0"/>
                <a:ea typeface="Yu Gothic" pitchFamily="34" charset="-122"/>
                <a:cs typeface="Yu Gothic" pitchFamily="34" charset="-120"/>
              </a:rPr>
              <a:t>変動販売費 合計</a:t>
            </a:r>
            <a:endParaRPr lang="en-US" sz="1000" dirty="0"/>
          </a:p>
        </p:txBody>
      </p:sp>
      <p:sp>
        <p:nvSpPr>
          <p:cNvPr id="33" name="Text 31"/>
          <p:cNvSpPr/>
          <p:nvPr/>
        </p:nvSpPr>
        <p:spPr>
          <a:xfrm>
            <a:off x="9521647" y="3913632"/>
            <a:ext cx="1755648" cy="219456"/>
          </a:xfrm>
          <a:prstGeom prst="rect">
            <a:avLst/>
          </a:prstGeom>
          <a:noFill/>
          <a:ln/>
        </p:spPr>
        <p:txBody>
          <a:bodyPr wrap="square" lIns="0" tIns="0" rIns="0" bIns="0" rtlCol="0" anchor="ctr"/>
          <a:lstStyle/>
          <a:p>
            <a:pPr algn="r" indent="0" marL="0">
              <a:buNone/>
            </a:pPr>
            <a:r>
              <a:rPr lang="en-US" sz="1050" b="1" dirty="0">
                <a:solidFill>
                  <a:srgbClr val="B4553F"/>
                </a:solidFill>
                <a:latin typeface="Yu Gothic" pitchFamily="34" charset="0"/>
                <a:ea typeface="Yu Gothic" pitchFamily="34" charset="-122"/>
                <a:cs typeface="Yu Gothic" pitchFamily="34" charset="-120"/>
              </a:rPr>
              <a:t>11.2%（▲8.96）</a:t>
            </a:r>
            <a:endParaRPr lang="en-US" sz="1050" dirty="0"/>
          </a:p>
        </p:txBody>
      </p:sp>
      <p:sp>
        <p:nvSpPr>
          <p:cNvPr id="34" name="Text 32"/>
          <p:cNvSpPr/>
          <p:nvPr/>
        </p:nvSpPr>
        <p:spPr>
          <a:xfrm>
            <a:off x="6507328" y="4187952"/>
            <a:ext cx="2011680" cy="347472"/>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手取り</a:t>
            </a:r>
            <a:endParaRPr lang="en-US" sz="1100" dirty="0"/>
          </a:p>
        </p:txBody>
      </p:sp>
      <p:sp>
        <p:nvSpPr>
          <p:cNvPr id="35" name="Text 33"/>
          <p:cNvSpPr/>
          <p:nvPr/>
        </p:nvSpPr>
        <p:spPr>
          <a:xfrm>
            <a:off x="9521647" y="4169664"/>
            <a:ext cx="1755648" cy="384048"/>
          </a:xfrm>
          <a:prstGeom prst="rect">
            <a:avLst/>
          </a:prstGeom>
          <a:noFill/>
          <a:ln/>
        </p:spPr>
        <p:txBody>
          <a:bodyPr wrap="square" lIns="0" tIns="0" rIns="0" bIns="0" rtlCol="0" anchor="ctr"/>
          <a:lstStyle/>
          <a:p>
            <a:pPr algn="r" indent="0" marL="0">
              <a:buNone/>
            </a:pPr>
            <a:r>
              <a:rPr lang="en-US" sz="2500" b="1" dirty="0">
                <a:solidFill>
                  <a:srgbClr val="C9A96E"/>
                </a:solidFill>
                <a:latin typeface="Cambria" pitchFamily="34" charset="0"/>
                <a:ea typeface="Cambria" pitchFamily="34" charset="-122"/>
                <a:cs typeface="Cambria" pitchFamily="34" charset="-120"/>
              </a:rPr>
              <a:t>71.04</a:t>
            </a:r>
            <a:endParaRPr lang="en-US" sz="2500" dirty="0"/>
          </a:p>
        </p:txBody>
      </p:sp>
      <p:sp>
        <p:nvSpPr>
          <p:cNvPr id="36" name="Shape 34"/>
          <p:cNvSpPr/>
          <p:nvPr/>
        </p:nvSpPr>
        <p:spPr>
          <a:xfrm>
            <a:off x="658368" y="4791456"/>
            <a:ext cx="10874959" cy="914400"/>
          </a:xfrm>
          <a:prstGeom prst="roundRect">
            <a:avLst>
              <a:gd name="adj" fmla="val 4500"/>
            </a:avLst>
          </a:prstGeom>
          <a:solidFill>
            <a:srgbClr val="1F1D19"/>
          </a:solidFill>
          <a:ln w="9525">
            <a:solidFill>
              <a:srgbClr val="6E5730"/>
            </a:solidFill>
            <a:prstDash val="solid"/>
          </a:ln>
        </p:spPr>
      </p:sp>
      <p:sp>
        <p:nvSpPr>
          <p:cNvPr id="37" name="Text 35"/>
          <p:cNvSpPr/>
          <p:nvPr/>
        </p:nvSpPr>
        <p:spPr>
          <a:xfrm>
            <a:off x="932688" y="4901184"/>
            <a:ext cx="10326319" cy="694944"/>
          </a:xfrm>
          <a:prstGeom prst="rect">
            <a:avLst/>
          </a:prstGeom>
          <a:noFill/>
          <a:ln/>
        </p:spPr>
        <p:txBody>
          <a:bodyPr wrap="square" lIns="0" tIns="0" rIns="0" bIns="0" rtlCol="0" anchor="ctr"/>
          <a:lstStyle/>
          <a:p>
            <a:pPr indent="0" marL="0">
              <a:lnSpc>
                <a:spcPct val="122000"/>
              </a:lnSpc>
              <a:buNone/>
            </a:pPr>
            <a:r>
              <a:rPr lang="en-US" sz="1200" b="1" dirty="0">
                <a:solidFill>
                  <a:srgbClr val="C9A96E"/>
                </a:solidFill>
                <a:latin typeface="Yu Gothic" pitchFamily="34" charset="0"/>
                <a:ea typeface="Yu Gothic" pitchFamily="34" charset="-122"/>
                <a:cs typeface="Yu Gothic" pitchFamily="34" charset="-120"/>
              </a:rPr>
              <a:t>手数料が重くても、B2Cのほうが手取りは1.74ポイント高い。</a:t>
            </a:r>
            <a:pPr indent="0" marL="0">
              <a:lnSpc>
                <a:spcPct val="122000"/>
              </a:lnSpc>
              <a:buNone/>
            </a:pPr>
            <a:r>
              <a:rPr lang="en-US" sz="1000" dirty="0">
                <a:solidFill>
                  <a:srgbClr val="EFEBE3"/>
                </a:solidFill>
                <a:latin typeface="Yu Gothic" pitchFamily="34" charset="0"/>
                <a:ea typeface="Yu Gothic" pitchFamily="34" charset="-122"/>
                <a:cs typeface="Yu Gothic" pitchFamily="34" charset="-120"/>
              </a:rPr>
              <a:t>　B2Cは手数料率11.2%を負うが、売値が定価比80とB2Bの70を10ポイント上回るため、差引きで勝る。ただしB2Cは1本ずつの出荷となり販売量の上限が低いため、回転期間を確保するにはB2Bの卸売が不可欠となる。両者を半々で運用し、加重平均で売値75.00・変動販売費6.44%・手取り70.17を主線とする（いずれも取得時点の価格。保有中の値上がりは次頁以降で加算）。</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UNIT ECONOMICS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3シナリオの単位経済（保有12ヶ月・定価100あたり）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現物譲渡の1%と変動販売費を控除し、保有中の値上がりを売値に加算したうえでの粗利。</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08</a:t>
            </a:r>
            <a:endParaRPr lang="en-US" sz="950" dirty="0"/>
          </a:p>
        </p:txBody>
      </p:sp>
      <p:sp>
        <p:nvSpPr>
          <p:cNvPr id="7" name="Shape 5"/>
          <p:cNvSpPr/>
          <p:nvPr/>
        </p:nvSpPr>
        <p:spPr>
          <a:xfrm>
            <a:off x="658368" y="1664208"/>
            <a:ext cx="3429914" cy="3657600"/>
          </a:xfrm>
          <a:prstGeom prst="roundRect">
            <a:avLst>
              <a:gd name="adj" fmla="val 1200"/>
            </a:avLst>
          </a:prstGeom>
          <a:solidFill>
            <a:srgbClr val="171614"/>
          </a:solidFill>
          <a:ln w="9525">
            <a:solidFill>
              <a:srgbClr val="2E2A24"/>
            </a:solidFill>
            <a:prstDash val="solid"/>
          </a:ln>
        </p:spPr>
      </p:sp>
      <p:sp>
        <p:nvSpPr>
          <p:cNvPr id="8" name="Text 6"/>
          <p:cNvSpPr/>
          <p:nvPr/>
        </p:nvSpPr>
        <p:spPr>
          <a:xfrm>
            <a:off x="914400"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ネガティブ</a:t>
            </a:r>
            <a:endParaRPr lang="en-US" sz="1300" dirty="0"/>
          </a:p>
        </p:txBody>
      </p:sp>
      <p:sp>
        <p:nvSpPr>
          <p:cNvPr id="9" name="Text 7"/>
          <p:cNvSpPr/>
          <p:nvPr/>
        </p:nvSpPr>
        <p:spPr>
          <a:xfrm>
            <a:off x="914400"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10" name="Text 8"/>
          <p:cNvSpPr/>
          <p:nvPr/>
        </p:nvSpPr>
        <p:spPr>
          <a:xfrm>
            <a:off x="2606954"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11" name="Text 9"/>
          <p:cNvSpPr/>
          <p:nvPr/>
        </p:nvSpPr>
        <p:spPr>
          <a:xfrm>
            <a:off x="914400"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12" name="Text 10"/>
          <p:cNvSpPr/>
          <p:nvPr/>
        </p:nvSpPr>
        <p:spPr>
          <a:xfrm>
            <a:off x="2606954"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50.50</a:t>
            </a:r>
            <a:endParaRPr lang="en-US" sz="1350" dirty="0"/>
          </a:p>
        </p:txBody>
      </p:sp>
      <p:sp>
        <p:nvSpPr>
          <p:cNvPr id="13" name="Text 11"/>
          <p:cNvSpPr/>
          <p:nvPr/>
        </p:nvSpPr>
        <p:spPr>
          <a:xfrm>
            <a:off x="914400"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14" name="Text 12"/>
          <p:cNvSpPr/>
          <p:nvPr/>
        </p:nvSpPr>
        <p:spPr>
          <a:xfrm>
            <a:off x="2606954"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5" name="Text 13"/>
          <p:cNvSpPr/>
          <p:nvPr/>
        </p:nvSpPr>
        <p:spPr>
          <a:xfrm>
            <a:off x="914400"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16" name="Text 14"/>
          <p:cNvSpPr/>
          <p:nvPr/>
        </p:nvSpPr>
        <p:spPr>
          <a:xfrm>
            <a:off x="2606954"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×1.000</a:t>
            </a:r>
            <a:endParaRPr lang="en-US" sz="1250" dirty="0"/>
          </a:p>
        </p:txBody>
      </p:sp>
      <p:sp>
        <p:nvSpPr>
          <p:cNvPr id="17" name="Text 15"/>
          <p:cNvSpPr/>
          <p:nvPr/>
        </p:nvSpPr>
        <p:spPr>
          <a:xfrm>
            <a:off x="914400"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18" name="Text 16"/>
          <p:cNvSpPr/>
          <p:nvPr/>
        </p:nvSpPr>
        <p:spPr>
          <a:xfrm>
            <a:off x="2606954"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71.25</a:t>
            </a:r>
            <a:endParaRPr lang="en-US" sz="1350" dirty="0"/>
          </a:p>
        </p:txBody>
      </p:sp>
      <p:sp>
        <p:nvSpPr>
          <p:cNvPr id="19" name="Text 17"/>
          <p:cNvSpPr/>
          <p:nvPr/>
        </p:nvSpPr>
        <p:spPr>
          <a:xfrm>
            <a:off x="914400"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20" name="Text 18"/>
          <p:cNvSpPr/>
          <p:nvPr/>
        </p:nvSpPr>
        <p:spPr>
          <a:xfrm>
            <a:off x="2606954"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4.59</a:t>
            </a:r>
            <a:endParaRPr lang="en-US" sz="1350" dirty="0"/>
          </a:p>
        </p:txBody>
      </p:sp>
      <p:sp>
        <p:nvSpPr>
          <p:cNvPr id="21" name="Text 19"/>
          <p:cNvSpPr/>
          <p:nvPr/>
        </p:nvSpPr>
        <p:spPr>
          <a:xfrm>
            <a:off x="914400"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22" name="Text 20"/>
          <p:cNvSpPr/>
          <p:nvPr/>
        </p:nvSpPr>
        <p:spPr>
          <a:xfrm>
            <a:off x="2606954"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66.66</a:t>
            </a:r>
            <a:endParaRPr lang="en-US" sz="1350" dirty="0"/>
          </a:p>
        </p:txBody>
      </p:sp>
      <p:sp>
        <p:nvSpPr>
          <p:cNvPr id="23" name="Text 21"/>
          <p:cNvSpPr/>
          <p:nvPr/>
        </p:nvSpPr>
        <p:spPr>
          <a:xfrm>
            <a:off x="914400"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24" name="Text 22"/>
          <p:cNvSpPr/>
          <p:nvPr/>
        </p:nvSpPr>
        <p:spPr>
          <a:xfrm>
            <a:off x="2606954"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16.16</a:t>
            </a:r>
            <a:endParaRPr lang="en-US" sz="1350" dirty="0"/>
          </a:p>
        </p:txBody>
      </p:sp>
      <p:sp>
        <p:nvSpPr>
          <p:cNvPr id="25" name="Text 23"/>
          <p:cNvSpPr/>
          <p:nvPr/>
        </p:nvSpPr>
        <p:spPr>
          <a:xfrm>
            <a:off x="914400"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26" name="Text 24"/>
          <p:cNvSpPr/>
          <p:nvPr/>
        </p:nvSpPr>
        <p:spPr>
          <a:xfrm>
            <a:off x="2606954"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22.7%</a:t>
            </a:r>
            <a:endParaRPr lang="en-US" sz="1250" dirty="0"/>
          </a:p>
        </p:txBody>
      </p:sp>
      <p:sp>
        <p:nvSpPr>
          <p:cNvPr id="27" name="Text 25"/>
          <p:cNvSpPr/>
          <p:nvPr/>
        </p:nvSpPr>
        <p:spPr>
          <a:xfrm>
            <a:off x="914400"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売値を5%値引き（B2B66.5／B2C76）かつ価格は横ばい</a:t>
            </a:r>
            <a:endParaRPr lang="en-US" sz="900" dirty="0"/>
          </a:p>
        </p:txBody>
      </p:sp>
      <p:sp>
        <p:nvSpPr>
          <p:cNvPr id="28" name="Shape 26"/>
          <p:cNvSpPr/>
          <p:nvPr/>
        </p:nvSpPr>
        <p:spPr>
          <a:xfrm>
            <a:off x="4380890" y="1664208"/>
            <a:ext cx="3429914" cy="3657600"/>
          </a:xfrm>
          <a:prstGeom prst="roundRect">
            <a:avLst>
              <a:gd name="adj" fmla="val 1200"/>
            </a:avLst>
          </a:prstGeom>
          <a:solidFill>
            <a:srgbClr val="1F1D19"/>
          </a:solidFill>
          <a:ln w="9525">
            <a:solidFill>
              <a:srgbClr val="6E5730"/>
            </a:solidFill>
            <a:prstDash val="solid"/>
          </a:ln>
        </p:spPr>
      </p:sp>
      <p:sp>
        <p:nvSpPr>
          <p:cNvPr id="29" name="Text 27"/>
          <p:cNvSpPr/>
          <p:nvPr/>
        </p:nvSpPr>
        <p:spPr>
          <a:xfrm>
            <a:off x="4636922" y="1828800"/>
            <a:ext cx="2917850"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ニュートラル（主線）</a:t>
            </a:r>
            <a:endParaRPr lang="en-US" sz="1300" dirty="0"/>
          </a:p>
        </p:txBody>
      </p:sp>
      <p:sp>
        <p:nvSpPr>
          <p:cNvPr id="30" name="Text 28"/>
          <p:cNvSpPr/>
          <p:nvPr/>
        </p:nvSpPr>
        <p:spPr>
          <a:xfrm>
            <a:off x="4636922"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31" name="Text 29"/>
          <p:cNvSpPr/>
          <p:nvPr/>
        </p:nvSpPr>
        <p:spPr>
          <a:xfrm>
            <a:off x="6329477"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50.00</a:t>
            </a:r>
            <a:endParaRPr lang="en-US" sz="1350" dirty="0"/>
          </a:p>
        </p:txBody>
      </p:sp>
      <p:sp>
        <p:nvSpPr>
          <p:cNvPr id="32" name="Text 30"/>
          <p:cNvSpPr/>
          <p:nvPr/>
        </p:nvSpPr>
        <p:spPr>
          <a:xfrm>
            <a:off x="4636922"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33" name="Text 31"/>
          <p:cNvSpPr/>
          <p:nvPr/>
        </p:nvSpPr>
        <p:spPr>
          <a:xfrm>
            <a:off x="6329477" y="25283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50.50</a:t>
            </a:r>
            <a:endParaRPr lang="en-US" sz="1350" dirty="0"/>
          </a:p>
        </p:txBody>
      </p:sp>
      <p:sp>
        <p:nvSpPr>
          <p:cNvPr id="34" name="Text 32"/>
          <p:cNvSpPr/>
          <p:nvPr/>
        </p:nvSpPr>
        <p:spPr>
          <a:xfrm>
            <a:off x="4636922"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35" name="Text 33"/>
          <p:cNvSpPr/>
          <p:nvPr/>
        </p:nvSpPr>
        <p:spPr>
          <a:xfrm>
            <a:off x="6329477"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75.00</a:t>
            </a:r>
            <a:endParaRPr lang="en-US" sz="1350" dirty="0"/>
          </a:p>
        </p:txBody>
      </p:sp>
      <p:sp>
        <p:nvSpPr>
          <p:cNvPr id="36" name="Text 34"/>
          <p:cNvSpPr/>
          <p:nvPr/>
        </p:nvSpPr>
        <p:spPr>
          <a:xfrm>
            <a:off x="4636922"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37" name="Text 35"/>
          <p:cNvSpPr/>
          <p:nvPr/>
        </p:nvSpPr>
        <p:spPr>
          <a:xfrm>
            <a:off x="6329477" y="31226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×1.060</a:t>
            </a:r>
            <a:endParaRPr lang="en-US" sz="1250" dirty="0"/>
          </a:p>
        </p:txBody>
      </p:sp>
      <p:sp>
        <p:nvSpPr>
          <p:cNvPr id="38" name="Text 36"/>
          <p:cNvSpPr/>
          <p:nvPr/>
        </p:nvSpPr>
        <p:spPr>
          <a:xfrm>
            <a:off x="4636922"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39" name="Text 37"/>
          <p:cNvSpPr/>
          <p:nvPr/>
        </p:nvSpPr>
        <p:spPr>
          <a:xfrm>
            <a:off x="6329477"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79.50</a:t>
            </a:r>
            <a:endParaRPr lang="en-US" sz="1350" dirty="0"/>
          </a:p>
        </p:txBody>
      </p:sp>
      <p:sp>
        <p:nvSpPr>
          <p:cNvPr id="40" name="Text 38"/>
          <p:cNvSpPr/>
          <p:nvPr/>
        </p:nvSpPr>
        <p:spPr>
          <a:xfrm>
            <a:off x="4636922"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41" name="Text 39"/>
          <p:cNvSpPr/>
          <p:nvPr/>
        </p:nvSpPr>
        <p:spPr>
          <a:xfrm>
            <a:off x="6329477"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5.12</a:t>
            </a:r>
            <a:endParaRPr lang="en-US" sz="1350" dirty="0"/>
          </a:p>
        </p:txBody>
      </p:sp>
      <p:sp>
        <p:nvSpPr>
          <p:cNvPr id="42" name="Text 40"/>
          <p:cNvSpPr/>
          <p:nvPr/>
        </p:nvSpPr>
        <p:spPr>
          <a:xfrm>
            <a:off x="4636922"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43" name="Text 41"/>
          <p:cNvSpPr/>
          <p:nvPr/>
        </p:nvSpPr>
        <p:spPr>
          <a:xfrm>
            <a:off x="6329477" y="401421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74.38</a:t>
            </a:r>
            <a:endParaRPr lang="en-US" sz="1350" dirty="0"/>
          </a:p>
        </p:txBody>
      </p:sp>
      <p:sp>
        <p:nvSpPr>
          <p:cNvPr id="44" name="Text 42"/>
          <p:cNvSpPr/>
          <p:nvPr/>
        </p:nvSpPr>
        <p:spPr>
          <a:xfrm>
            <a:off x="4636922"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45" name="Text 43"/>
          <p:cNvSpPr/>
          <p:nvPr/>
        </p:nvSpPr>
        <p:spPr>
          <a:xfrm>
            <a:off x="6329477" y="4311396"/>
            <a:ext cx="1225296" cy="237744"/>
          </a:xfrm>
          <a:prstGeom prst="rect">
            <a:avLst/>
          </a:prstGeom>
          <a:noFill/>
          <a:ln/>
        </p:spPr>
        <p:txBody>
          <a:bodyPr wrap="square" lIns="0" tIns="0" rIns="0" bIns="0" rtlCol="0" anchor="ctr"/>
          <a:lstStyle/>
          <a:p>
            <a:pPr algn="r" indent="0" marL="0">
              <a:buNone/>
            </a:pPr>
            <a:r>
              <a:rPr lang="en-US" sz="1350" b="1" dirty="0">
                <a:solidFill>
                  <a:srgbClr val="C9A96E"/>
                </a:solidFill>
                <a:latin typeface="Cambria" pitchFamily="34" charset="0"/>
                <a:ea typeface="Cambria" pitchFamily="34" charset="-122"/>
                <a:cs typeface="Cambria" pitchFamily="34" charset="-120"/>
              </a:rPr>
              <a:t>23.88</a:t>
            </a:r>
            <a:endParaRPr lang="en-US" sz="1350" dirty="0"/>
          </a:p>
        </p:txBody>
      </p:sp>
      <p:sp>
        <p:nvSpPr>
          <p:cNvPr id="46" name="Text 44"/>
          <p:cNvSpPr/>
          <p:nvPr/>
        </p:nvSpPr>
        <p:spPr>
          <a:xfrm>
            <a:off x="4636922"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47" name="Text 45"/>
          <p:cNvSpPr/>
          <p:nvPr/>
        </p:nvSpPr>
        <p:spPr>
          <a:xfrm>
            <a:off x="6329477" y="4608576"/>
            <a:ext cx="1225296" cy="237744"/>
          </a:xfrm>
          <a:prstGeom prst="rect">
            <a:avLst/>
          </a:prstGeom>
          <a:noFill/>
          <a:ln/>
        </p:spPr>
        <p:txBody>
          <a:bodyPr wrap="square" lIns="0" tIns="0" rIns="0" bIns="0" rtlCol="0" anchor="ctr"/>
          <a:lstStyle/>
          <a:p>
            <a:pPr algn="r" indent="0" marL="0">
              <a:buNone/>
            </a:pPr>
            <a:r>
              <a:rPr lang="en-US" sz="1250" b="1" dirty="0">
                <a:solidFill>
                  <a:srgbClr val="C9A96E"/>
                </a:solidFill>
                <a:latin typeface="Cambria" pitchFamily="34" charset="0"/>
                <a:ea typeface="Cambria" pitchFamily="34" charset="-122"/>
                <a:cs typeface="Cambria" pitchFamily="34" charset="-120"/>
              </a:rPr>
              <a:t>30.0%</a:t>
            </a:r>
            <a:endParaRPr lang="en-US" sz="1250" dirty="0"/>
          </a:p>
        </p:txBody>
      </p:sp>
      <p:sp>
        <p:nvSpPr>
          <p:cNvPr id="48" name="Text 46"/>
          <p:cNvSpPr/>
          <p:nvPr/>
        </p:nvSpPr>
        <p:spPr>
          <a:xfrm>
            <a:off x="4636922"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仕入40/60の半々・売却はB2B70とB2C80の半々・年6%上昇</a:t>
            </a:r>
            <a:endParaRPr lang="en-US" sz="900" dirty="0"/>
          </a:p>
        </p:txBody>
      </p:sp>
      <p:sp>
        <p:nvSpPr>
          <p:cNvPr id="49" name="Shape 47"/>
          <p:cNvSpPr/>
          <p:nvPr/>
        </p:nvSpPr>
        <p:spPr>
          <a:xfrm>
            <a:off x="8103413" y="1664208"/>
            <a:ext cx="3429914" cy="3657600"/>
          </a:xfrm>
          <a:prstGeom prst="roundRect">
            <a:avLst>
              <a:gd name="adj" fmla="val 1200"/>
            </a:avLst>
          </a:prstGeom>
          <a:solidFill>
            <a:srgbClr val="171614"/>
          </a:solidFill>
          <a:ln w="9525">
            <a:solidFill>
              <a:srgbClr val="2E2A24"/>
            </a:solidFill>
            <a:prstDash val="solid"/>
          </a:ln>
        </p:spPr>
      </p:sp>
      <p:sp>
        <p:nvSpPr>
          <p:cNvPr id="50" name="Text 48"/>
          <p:cNvSpPr/>
          <p:nvPr/>
        </p:nvSpPr>
        <p:spPr>
          <a:xfrm>
            <a:off x="8359445" y="1828800"/>
            <a:ext cx="2917850" cy="292608"/>
          </a:xfrm>
          <a:prstGeom prst="rect">
            <a:avLst/>
          </a:prstGeom>
          <a:noFill/>
          <a:ln/>
        </p:spPr>
        <p:txBody>
          <a:bodyPr wrap="square" lIns="0" tIns="0" rIns="0" bIns="0" rtlCol="0" anchor="ctr"/>
          <a:lstStyle/>
          <a:p>
            <a:pPr indent="0" marL="0">
              <a:buNone/>
            </a:pPr>
            <a:r>
              <a:rPr lang="en-US" sz="1300" b="1" dirty="0">
                <a:solidFill>
                  <a:srgbClr val="EFEBE3"/>
                </a:solidFill>
                <a:latin typeface="Yu Gothic" pitchFamily="34" charset="0"/>
                <a:ea typeface="Yu Gothic" pitchFamily="34" charset="-122"/>
                <a:cs typeface="Yu Gothic" pitchFamily="34" charset="-120"/>
              </a:rPr>
              <a:t>ポジティブ</a:t>
            </a:r>
            <a:endParaRPr lang="en-US" sz="1300" dirty="0"/>
          </a:p>
        </p:txBody>
      </p:sp>
      <p:sp>
        <p:nvSpPr>
          <p:cNvPr id="51" name="Text 49"/>
          <p:cNvSpPr/>
          <p:nvPr/>
        </p:nvSpPr>
        <p:spPr>
          <a:xfrm>
            <a:off x="8359445" y="22311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市中仕入原価</a:t>
            </a:r>
            <a:endParaRPr lang="en-US" sz="950" dirty="0"/>
          </a:p>
        </p:txBody>
      </p:sp>
      <p:sp>
        <p:nvSpPr>
          <p:cNvPr id="52" name="Text 50"/>
          <p:cNvSpPr/>
          <p:nvPr/>
        </p:nvSpPr>
        <p:spPr>
          <a:xfrm>
            <a:off x="10051999" y="223113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40.00</a:t>
            </a:r>
            <a:endParaRPr lang="en-US" sz="1350" dirty="0"/>
          </a:p>
        </p:txBody>
      </p:sp>
      <p:sp>
        <p:nvSpPr>
          <p:cNvPr id="53" name="Text 51"/>
          <p:cNvSpPr/>
          <p:nvPr/>
        </p:nvSpPr>
        <p:spPr>
          <a:xfrm>
            <a:off x="8359445" y="25283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SPC取得原価（＋1%）</a:t>
            </a:r>
            <a:endParaRPr lang="en-US" sz="950" dirty="0"/>
          </a:p>
        </p:txBody>
      </p:sp>
      <p:sp>
        <p:nvSpPr>
          <p:cNvPr id="54" name="Text 52"/>
          <p:cNvSpPr/>
          <p:nvPr/>
        </p:nvSpPr>
        <p:spPr>
          <a:xfrm>
            <a:off x="10051999" y="25283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40.40</a:t>
            </a:r>
            <a:endParaRPr lang="en-US" sz="1350" dirty="0"/>
          </a:p>
        </p:txBody>
      </p:sp>
      <p:sp>
        <p:nvSpPr>
          <p:cNvPr id="55" name="Text 53"/>
          <p:cNvSpPr/>
          <p:nvPr/>
        </p:nvSpPr>
        <p:spPr>
          <a:xfrm>
            <a:off x="8359445" y="28254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取得時の売値</a:t>
            </a:r>
            <a:endParaRPr lang="en-US" sz="950" dirty="0"/>
          </a:p>
        </p:txBody>
      </p:sp>
      <p:sp>
        <p:nvSpPr>
          <p:cNvPr id="56" name="Text 54"/>
          <p:cNvSpPr/>
          <p:nvPr/>
        </p:nvSpPr>
        <p:spPr>
          <a:xfrm>
            <a:off x="10051999" y="28254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80.00</a:t>
            </a:r>
            <a:endParaRPr lang="en-US" sz="1350" dirty="0"/>
          </a:p>
        </p:txBody>
      </p:sp>
      <p:sp>
        <p:nvSpPr>
          <p:cNvPr id="57" name="Text 55"/>
          <p:cNvSpPr/>
          <p:nvPr/>
        </p:nvSpPr>
        <p:spPr>
          <a:xfrm>
            <a:off x="8359445" y="31226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保有12ヶ月の上昇</a:t>
            </a:r>
            <a:endParaRPr lang="en-US" sz="950" dirty="0"/>
          </a:p>
        </p:txBody>
      </p:sp>
      <p:sp>
        <p:nvSpPr>
          <p:cNvPr id="58" name="Text 56"/>
          <p:cNvSpPr/>
          <p:nvPr/>
        </p:nvSpPr>
        <p:spPr>
          <a:xfrm>
            <a:off x="10051999" y="31226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×1.060</a:t>
            </a:r>
            <a:endParaRPr lang="en-US" sz="1250" dirty="0"/>
          </a:p>
        </p:txBody>
      </p:sp>
      <p:sp>
        <p:nvSpPr>
          <p:cNvPr id="59" name="Text 57"/>
          <p:cNvSpPr/>
          <p:nvPr/>
        </p:nvSpPr>
        <p:spPr>
          <a:xfrm>
            <a:off x="8359445" y="341985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売却時の売値</a:t>
            </a:r>
            <a:endParaRPr lang="en-US" sz="950" dirty="0"/>
          </a:p>
        </p:txBody>
      </p:sp>
      <p:sp>
        <p:nvSpPr>
          <p:cNvPr id="60" name="Text 58"/>
          <p:cNvSpPr/>
          <p:nvPr/>
        </p:nvSpPr>
        <p:spPr>
          <a:xfrm>
            <a:off x="10051999" y="341985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84.80</a:t>
            </a:r>
            <a:endParaRPr lang="en-US" sz="1350" dirty="0"/>
          </a:p>
        </p:txBody>
      </p:sp>
      <p:sp>
        <p:nvSpPr>
          <p:cNvPr id="61" name="Text 59"/>
          <p:cNvSpPr/>
          <p:nvPr/>
        </p:nvSpPr>
        <p:spPr>
          <a:xfrm>
            <a:off x="8359445" y="371703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変動販売費</a:t>
            </a:r>
            <a:endParaRPr lang="en-US" sz="950" dirty="0"/>
          </a:p>
        </p:txBody>
      </p:sp>
      <p:sp>
        <p:nvSpPr>
          <p:cNvPr id="62" name="Text 60"/>
          <p:cNvSpPr/>
          <p:nvPr/>
        </p:nvSpPr>
        <p:spPr>
          <a:xfrm>
            <a:off x="10051999" y="3717036"/>
            <a:ext cx="1225296" cy="237744"/>
          </a:xfrm>
          <a:prstGeom prst="rect">
            <a:avLst/>
          </a:prstGeom>
          <a:noFill/>
          <a:ln/>
        </p:spPr>
        <p:txBody>
          <a:bodyPr wrap="square" lIns="0" tIns="0" rIns="0" bIns="0" rtlCol="0" anchor="ctr"/>
          <a:lstStyle/>
          <a:p>
            <a:pPr algn="r" indent="0" marL="0">
              <a:buNone/>
            </a:pPr>
            <a:r>
              <a:rPr lang="en-US" sz="1350" b="1" dirty="0">
                <a:solidFill>
                  <a:srgbClr val="B4553F"/>
                </a:solidFill>
                <a:latin typeface="Cambria" pitchFamily="34" charset="0"/>
                <a:ea typeface="Cambria" pitchFamily="34" charset="-122"/>
                <a:cs typeface="Cambria" pitchFamily="34" charset="-120"/>
              </a:rPr>
              <a:t>▲ 9.50</a:t>
            </a:r>
            <a:endParaRPr lang="en-US" sz="1350" dirty="0"/>
          </a:p>
        </p:txBody>
      </p:sp>
      <p:sp>
        <p:nvSpPr>
          <p:cNvPr id="63" name="Text 61"/>
          <p:cNvSpPr/>
          <p:nvPr/>
        </p:nvSpPr>
        <p:spPr>
          <a:xfrm>
            <a:off x="8359445" y="401421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手取り</a:t>
            </a:r>
            <a:endParaRPr lang="en-US" sz="950" dirty="0"/>
          </a:p>
        </p:txBody>
      </p:sp>
      <p:sp>
        <p:nvSpPr>
          <p:cNvPr id="64" name="Text 62"/>
          <p:cNvSpPr/>
          <p:nvPr/>
        </p:nvSpPr>
        <p:spPr>
          <a:xfrm>
            <a:off x="10051999" y="401421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75.30</a:t>
            </a:r>
            <a:endParaRPr lang="en-US" sz="1350" dirty="0"/>
          </a:p>
        </p:txBody>
      </p:sp>
      <p:sp>
        <p:nvSpPr>
          <p:cNvPr id="65" name="Text 63"/>
          <p:cNvSpPr/>
          <p:nvPr/>
        </p:nvSpPr>
        <p:spPr>
          <a:xfrm>
            <a:off x="8359445" y="431139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単位粗利</a:t>
            </a:r>
            <a:endParaRPr lang="en-US" sz="950" dirty="0"/>
          </a:p>
        </p:txBody>
      </p:sp>
      <p:sp>
        <p:nvSpPr>
          <p:cNvPr id="66" name="Text 64"/>
          <p:cNvSpPr/>
          <p:nvPr/>
        </p:nvSpPr>
        <p:spPr>
          <a:xfrm>
            <a:off x="10051999" y="4311396"/>
            <a:ext cx="1225296" cy="237744"/>
          </a:xfrm>
          <a:prstGeom prst="rect">
            <a:avLst/>
          </a:prstGeom>
          <a:noFill/>
          <a:ln/>
        </p:spPr>
        <p:txBody>
          <a:bodyPr wrap="square" lIns="0" tIns="0" rIns="0" bIns="0" rtlCol="0" anchor="ctr"/>
          <a:lstStyle/>
          <a:p>
            <a:pPr algn="r" indent="0" marL="0">
              <a:buNone/>
            </a:pPr>
            <a:r>
              <a:rPr lang="en-US" sz="1350" b="1" dirty="0">
                <a:solidFill>
                  <a:srgbClr val="EFEBE3"/>
                </a:solidFill>
                <a:latin typeface="Cambria" pitchFamily="34" charset="0"/>
                <a:ea typeface="Cambria" pitchFamily="34" charset="-122"/>
                <a:cs typeface="Cambria" pitchFamily="34" charset="-120"/>
              </a:rPr>
              <a:t>34.90</a:t>
            </a:r>
            <a:endParaRPr lang="en-US" sz="1350" dirty="0"/>
          </a:p>
        </p:txBody>
      </p:sp>
      <p:sp>
        <p:nvSpPr>
          <p:cNvPr id="67" name="Text 65"/>
          <p:cNvSpPr/>
          <p:nvPr/>
        </p:nvSpPr>
        <p:spPr>
          <a:xfrm>
            <a:off x="8359445" y="4608576"/>
            <a:ext cx="1966874" cy="237744"/>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粗利率</a:t>
            </a:r>
            <a:endParaRPr lang="en-US" sz="950" dirty="0"/>
          </a:p>
        </p:txBody>
      </p:sp>
      <p:sp>
        <p:nvSpPr>
          <p:cNvPr id="68" name="Text 66"/>
          <p:cNvSpPr/>
          <p:nvPr/>
        </p:nvSpPr>
        <p:spPr>
          <a:xfrm>
            <a:off x="10051999" y="4608576"/>
            <a:ext cx="1225296" cy="237744"/>
          </a:xfrm>
          <a:prstGeom prst="rect">
            <a:avLst/>
          </a:prstGeom>
          <a:noFill/>
          <a:ln/>
        </p:spPr>
        <p:txBody>
          <a:bodyPr wrap="square" lIns="0" tIns="0" rIns="0" bIns="0" rtlCol="0" anchor="ctr"/>
          <a:lstStyle/>
          <a:p>
            <a:pPr algn="r" indent="0" marL="0">
              <a:buNone/>
            </a:pPr>
            <a:r>
              <a:rPr lang="en-US" sz="1250" b="1" dirty="0">
                <a:solidFill>
                  <a:srgbClr val="EFEBE3"/>
                </a:solidFill>
                <a:latin typeface="Cambria" pitchFamily="34" charset="0"/>
                <a:ea typeface="Cambria" pitchFamily="34" charset="-122"/>
                <a:cs typeface="Cambria" pitchFamily="34" charset="-120"/>
              </a:rPr>
              <a:t>41.2%</a:t>
            </a:r>
            <a:endParaRPr lang="en-US" sz="1250" dirty="0"/>
          </a:p>
        </p:txBody>
      </p:sp>
      <p:sp>
        <p:nvSpPr>
          <p:cNvPr id="69" name="Text 67"/>
          <p:cNvSpPr/>
          <p:nvPr/>
        </p:nvSpPr>
        <p:spPr>
          <a:xfrm>
            <a:off x="8359445" y="4901184"/>
            <a:ext cx="2917850"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仕入はインポーター40のみ・売却はネット最安80のみ（B2C100%）</a:t>
            </a:r>
            <a:endParaRPr lang="en-US" sz="900" dirty="0"/>
          </a:p>
        </p:txBody>
      </p:sp>
      <p:sp>
        <p:nvSpPr>
          <p:cNvPr id="70" name="Text 68"/>
          <p:cNvSpPr/>
          <p:nvPr/>
        </p:nvSpPr>
        <p:spPr>
          <a:xfrm>
            <a:off x="658368" y="5468112"/>
            <a:ext cx="10874959" cy="365760"/>
          </a:xfrm>
          <a:prstGeom prst="rect">
            <a:avLst/>
          </a:prstGeom>
          <a:noFill/>
          <a:ln/>
        </p:spPr>
        <p:txBody>
          <a:bodyPr wrap="square" lIns="0" tIns="0" rIns="0" bIns="0" rtlCol="0" anchor="ctr"/>
          <a:lstStyle/>
          <a:p>
            <a:pPr indent="0" marL="0">
              <a:lnSpc>
                <a:spcPct val="120000"/>
              </a:lnSpc>
              <a:buNone/>
            </a:pPr>
            <a:r>
              <a:rPr lang="en-US" sz="900" dirty="0">
                <a:solidFill>
                  <a:srgbClr val="6E675E"/>
                </a:solidFill>
                <a:latin typeface="Yu Gothic" pitchFamily="34" charset="0"/>
                <a:ea typeface="Yu Gothic" pitchFamily="34" charset="-122"/>
                <a:cs typeface="Yu Gothic" pitchFamily="34" charset="-120"/>
              </a:rPr>
              <a:t>※ 交渉余地を織り込み、ニュートラルを提案の主線とする。ネガティブは値引きに加えワイン価格が横ばいに留まる複合的な下振れ、ポジティブは調達・販売チャネルを最適化した場合の上振れ余地として位置づける。粗利率は変動販売費控除後の手取りに対する比率。</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COST ASSUMPTIONS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SPC費用の前提</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共通費用とチャネル別の変動販売費に分けて計上。監査・法務まで含め、利回りを作るための圧縮は行っていない。</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09</a:t>
            </a:r>
            <a:endParaRPr lang="en-US" sz="950" dirty="0"/>
          </a:p>
        </p:txBody>
      </p:sp>
      <p:sp>
        <p:nvSpPr>
          <p:cNvPr id="7" name="Text 5"/>
          <p:cNvSpPr/>
          <p:nvPr/>
        </p:nvSpPr>
        <p:spPr>
          <a:xfrm>
            <a:off x="658368" y="1627632"/>
            <a:ext cx="27432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共通費用</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 y="1792224"/>
          <a:ext cx="10874959" cy="914400"/>
        </p:xfrm>
        <a:graphic>
          <a:graphicData uri="http://schemas.openxmlformats.org/drawingml/2006/table">
            <a:tbl>
              <a:tblPr/>
              <a:tblGrid>
                <a:gridCol w="2331720"/>
                <a:gridCol w="1965960"/>
                <a:gridCol w="6574536"/>
              </a:tblGrid>
              <a:tr h="29718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費用項目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単価・料率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根拠・備考</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保管（定温倉庫）</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年7,500円／ロット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1ロット＝定価100万円相当（約40本）。月約16円／本で業務用パレット定温保管の一般水準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動産総合保険</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平均在庫簿価の年0.15%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火災・破損・盗難・輸送中事故を全量付保。滞留・破損ロスは保険でカバーするため別途計上しない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入庫・検品</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320円／ロット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入庫時の検品・棚入れ。出庫費用はチャネル別の変動販売費に含む</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SPC維持費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年200万円（固定）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税務・事務受託・法務</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年360万円（固定）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SPC運営に係るWineBank側の実務人件費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AUP（合意された手続）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公認会計士による合意された手続の実施と報告書の発行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予備費</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年50万円（固定）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想定外の実費に充当。未使用分はSPCの利益に残る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9718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WineBank販売オペコスト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SPC負担なし</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GP取分（利益の50%）から負担。SPCに管理報酬・成功報酬は課さない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Text 6"/>
          <p:cNvSpPr/>
          <p:nvPr/>
        </p:nvSpPr>
        <p:spPr>
          <a:xfrm>
            <a:off x="658368" y="4315968"/>
            <a:ext cx="45720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チャネル別 変動販売費（売上比）</a:t>
            </a:r>
            <a:endParaRPr lang="en-US" sz="1100" dirty="0"/>
          </a:p>
        </p:txBody>
      </p:sp>
      <p:sp>
        <p:nvSpPr>
          <p:cNvPr id="10" name="Shape 7"/>
          <p:cNvSpPr/>
          <p:nvPr/>
        </p:nvSpPr>
        <p:spPr>
          <a:xfrm>
            <a:off x="658368" y="4572000"/>
            <a:ext cx="3442106" cy="1097280"/>
          </a:xfrm>
          <a:prstGeom prst="roundRect">
            <a:avLst>
              <a:gd name="adj" fmla="val 3750"/>
            </a:avLst>
          </a:prstGeom>
          <a:solidFill>
            <a:srgbClr val="171614"/>
          </a:solidFill>
          <a:ln w="9525">
            <a:solidFill>
              <a:srgbClr val="2E2A24"/>
            </a:solidFill>
            <a:prstDash val="solid"/>
          </a:ln>
        </p:spPr>
      </p:sp>
      <p:sp>
        <p:nvSpPr>
          <p:cNvPr id="11" name="Text 8"/>
          <p:cNvSpPr/>
          <p:nvPr/>
        </p:nvSpPr>
        <p:spPr>
          <a:xfrm>
            <a:off x="896112"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B2B｜酒販店卸</a:t>
            </a:r>
            <a:endParaRPr lang="en-US" sz="1100" dirty="0"/>
          </a:p>
        </p:txBody>
      </p:sp>
      <p:sp>
        <p:nvSpPr>
          <p:cNvPr id="12" name="Text 9"/>
          <p:cNvSpPr/>
          <p:nvPr/>
        </p:nvSpPr>
        <p:spPr>
          <a:xfrm>
            <a:off x="2783738"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1.0</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3" name="Text 10"/>
          <p:cNvSpPr/>
          <p:nvPr/>
        </p:nvSpPr>
        <p:spPr>
          <a:xfrm>
            <a:off x="896112"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出庫・配送 0.6%　／　決済・与信（貸倒引当）0.4%</a:t>
            </a:r>
            <a:endParaRPr lang="en-US" sz="900" dirty="0"/>
          </a:p>
        </p:txBody>
      </p:sp>
      <p:sp>
        <p:nvSpPr>
          <p:cNvPr id="14" name="Shape 11"/>
          <p:cNvSpPr/>
          <p:nvPr/>
        </p:nvSpPr>
        <p:spPr>
          <a:xfrm>
            <a:off x="4374794" y="4572000"/>
            <a:ext cx="3442106" cy="1097280"/>
          </a:xfrm>
          <a:prstGeom prst="roundRect">
            <a:avLst>
              <a:gd name="adj" fmla="val 3750"/>
            </a:avLst>
          </a:prstGeom>
          <a:solidFill>
            <a:srgbClr val="171614"/>
          </a:solidFill>
          <a:ln w="9525">
            <a:solidFill>
              <a:srgbClr val="2E2A24"/>
            </a:solidFill>
            <a:prstDash val="solid"/>
          </a:ln>
        </p:spPr>
      </p:sp>
      <p:sp>
        <p:nvSpPr>
          <p:cNvPr id="15" name="Text 12"/>
          <p:cNvSpPr/>
          <p:nvPr/>
        </p:nvSpPr>
        <p:spPr>
          <a:xfrm>
            <a:off x="4612538" y="4700016"/>
            <a:ext cx="2070506" cy="237744"/>
          </a:xfrm>
          <a:prstGeom prst="rect">
            <a:avLst/>
          </a:prstGeom>
          <a:noFill/>
          <a:ln/>
        </p:spPr>
        <p:txBody>
          <a:bodyPr wrap="square" lIns="0" tIns="0" rIns="0" bIns="0" rtlCol="0" anchor="ctr"/>
          <a:lstStyle/>
          <a:p>
            <a:pPr indent="0" marL="0">
              <a:buNone/>
            </a:pPr>
            <a:r>
              <a:rPr lang="en-US" sz="1100" b="1" dirty="0">
                <a:solidFill>
                  <a:srgbClr val="EFEBE3"/>
                </a:solidFill>
                <a:latin typeface="Yu Gothic" pitchFamily="34" charset="0"/>
                <a:ea typeface="Yu Gothic" pitchFamily="34" charset="-122"/>
                <a:cs typeface="Yu Gothic" pitchFamily="34" charset="-120"/>
              </a:rPr>
              <a:t>B2C｜自社EC・オークション</a:t>
            </a:r>
            <a:endParaRPr lang="en-US" sz="1100" dirty="0"/>
          </a:p>
        </p:txBody>
      </p:sp>
      <p:sp>
        <p:nvSpPr>
          <p:cNvPr id="16" name="Text 13"/>
          <p:cNvSpPr/>
          <p:nvPr/>
        </p:nvSpPr>
        <p:spPr>
          <a:xfrm>
            <a:off x="6500165"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11.2</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17" name="Text 14"/>
          <p:cNvSpPr/>
          <p:nvPr/>
        </p:nvSpPr>
        <p:spPr>
          <a:xfrm>
            <a:off x="4612538"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モール・出品手数料 5.5%　／　カード決済 3.2%　／　出庫・梱包・クール便 2.5%</a:t>
            </a:r>
            <a:endParaRPr lang="en-US" sz="900" dirty="0"/>
          </a:p>
        </p:txBody>
      </p:sp>
      <p:sp>
        <p:nvSpPr>
          <p:cNvPr id="18" name="Shape 15"/>
          <p:cNvSpPr/>
          <p:nvPr/>
        </p:nvSpPr>
        <p:spPr>
          <a:xfrm>
            <a:off x="8091221" y="4572000"/>
            <a:ext cx="3442106" cy="1097280"/>
          </a:xfrm>
          <a:prstGeom prst="roundRect">
            <a:avLst>
              <a:gd name="adj" fmla="val 3750"/>
            </a:avLst>
          </a:prstGeom>
          <a:solidFill>
            <a:srgbClr val="1F1D19"/>
          </a:solidFill>
          <a:ln w="9525">
            <a:solidFill>
              <a:srgbClr val="6E5730"/>
            </a:solidFill>
            <a:prstDash val="solid"/>
          </a:ln>
        </p:spPr>
      </p:sp>
      <p:sp>
        <p:nvSpPr>
          <p:cNvPr id="19" name="Text 16"/>
          <p:cNvSpPr/>
          <p:nvPr/>
        </p:nvSpPr>
        <p:spPr>
          <a:xfrm>
            <a:off x="8328965" y="4700016"/>
            <a:ext cx="2070506" cy="237744"/>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加重平均（半々）</a:t>
            </a:r>
            <a:endParaRPr lang="en-US" sz="1100" dirty="0"/>
          </a:p>
        </p:txBody>
      </p:sp>
      <p:sp>
        <p:nvSpPr>
          <p:cNvPr id="20" name="Text 17"/>
          <p:cNvSpPr/>
          <p:nvPr/>
        </p:nvSpPr>
        <p:spPr>
          <a:xfrm>
            <a:off x="10216591" y="4663440"/>
            <a:ext cx="1078992" cy="310896"/>
          </a:xfrm>
          <a:prstGeom prst="rect">
            <a:avLst/>
          </a:prstGeom>
          <a:noFill/>
          <a:ln/>
        </p:spPr>
        <p:txBody>
          <a:bodyPr wrap="square" lIns="0" tIns="0" rIns="0" bIns="0" rtlCol="0" anchor="ctr"/>
          <a:lstStyle/>
          <a:p>
            <a:pPr algn="r" indent="0" marL="0">
              <a:buNone/>
            </a:pPr>
            <a:r>
              <a:rPr lang="en-US" sz="2100" b="1" dirty="0">
                <a:solidFill>
                  <a:srgbClr val="C9A96E"/>
                </a:solidFill>
                <a:latin typeface="Cambria" pitchFamily="34" charset="0"/>
                <a:ea typeface="Cambria" pitchFamily="34" charset="-122"/>
                <a:cs typeface="Cambria" pitchFamily="34" charset="-120"/>
              </a:rPr>
              <a:t>6.44</a:t>
            </a:r>
            <a:pPr algn="r" indent="0" marL="0">
              <a:buNone/>
            </a:pPr>
            <a:r>
              <a:rPr lang="en-US" sz="1100" b="1" dirty="0">
                <a:solidFill>
                  <a:srgbClr val="C9A96E"/>
                </a:solidFill>
                <a:latin typeface="Yu Gothic" pitchFamily="34" charset="0"/>
                <a:ea typeface="Yu Gothic" pitchFamily="34" charset="-122"/>
                <a:cs typeface="Yu Gothic" pitchFamily="34" charset="-120"/>
              </a:rPr>
              <a:t> %</a:t>
            </a:r>
            <a:endParaRPr lang="en-US" sz="2100" dirty="0"/>
          </a:p>
        </p:txBody>
      </p:sp>
      <p:sp>
        <p:nvSpPr>
          <p:cNvPr id="21" name="Text 18"/>
          <p:cNvSpPr/>
          <p:nvPr/>
        </p:nvSpPr>
        <p:spPr>
          <a:xfrm>
            <a:off x="8328965" y="4992624"/>
            <a:ext cx="2966618" cy="56692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売値ベースの加重平均　／　定価100あたり ▲4.83</a:t>
            </a:r>
            <a:endParaRPr lang="en-US" sz="900" dirty="0"/>
          </a:p>
        </p:txBody>
      </p:sp>
      <p:sp>
        <p:nvSpPr>
          <p:cNvPr id="22" name="Text 19"/>
          <p:cNvSpPr/>
          <p:nvPr/>
        </p:nvSpPr>
        <p:spPr>
          <a:xfrm>
            <a:off x="658368" y="5724144"/>
            <a:ext cx="10874959" cy="438912"/>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保管料は業務用パレット定温保管の水準（月10〜20円／本）。個人向けセラー預かり（月100〜150円／本）とは別の料金帯。主線（年間販売5.0億円）における年間SPC費用の合計は4,675万円で、内訳は変動販売費3,220万円・保管705万円・SPC固定費660万円・保険71万円・入庫19万円。デット2億円の金利はWineBankが負担するためSPCの費用には含まない。その他の運用前提：総額の95%をワイン購入に充当（現金5%）／仕入展開6ヶ月／ローリング運用／利益は複利再投資せず半期分配／税前利益を投資家60：WineBank40で按分／利回りは投資家の税引前ベース。</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ニュートラル：在庫回転期間別シミュレーション</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SPC取得原価50.5・ワイン価格上昇 年6%／総額5億円（デット2億＋エクイティ3億）・投資家取分60%・稼働率95%</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10</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8368" y="1664208"/>
          <a:ext cx="10874959" cy="914400"/>
        </p:xfrm>
        <a:graphic>
          <a:graphicData uri="http://schemas.openxmlformats.org/drawingml/2006/table">
            <a:tbl>
              <a:tblPr/>
              <a:tblGrid>
                <a:gridCol w="1572768"/>
                <a:gridCol w="786384"/>
                <a:gridCol w="896112"/>
                <a:gridCol w="896112"/>
                <a:gridCol w="841248"/>
                <a:gridCol w="1060704"/>
                <a:gridCol w="1280160"/>
                <a:gridCol w="1417320"/>
                <a:gridCol w="932688"/>
                <a:gridCol w="1188720"/>
              </a:tblGrid>
              <a:tr h="36576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年回転数</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年間粗利</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SPC費用</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年間税前利益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投資家取分（60%）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エクイティ定常年間利回り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5年累計分配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年平均利回り 5年通算</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1.33回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9.83億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2.71億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730百万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48.7%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7.48億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63百万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2.10億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126百万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502百万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33.5%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0.80回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6.07億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2.27億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1.73億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387百万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25.8%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6576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0.67回</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5.13億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1.97億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48百万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1.49億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89百万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400百万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EFEBE3"/>
                          </a:solidFill>
                          <a:latin typeface="Yu Gothic" pitchFamily="34" charset="0"/>
                          <a:ea typeface="Yu Gothic" pitchFamily="34" charset="-122"/>
                          <a:cs typeface="Yu Gothic" pitchFamily="34" charset="-120"/>
                        </a:rPr>
                        <a:t>26.7%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3712464"/>
            <a:ext cx="5532120" cy="1810512"/>
          </a:xfrm>
          <a:prstGeom prst="roundRect">
            <a:avLst>
              <a:gd name="adj" fmla="val 2273"/>
            </a:avLst>
          </a:prstGeom>
          <a:solidFill>
            <a:srgbClr val="171614"/>
          </a:solidFill>
          <a:ln w="9525">
            <a:solidFill>
              <a:srgbClr val="2E2A24"/>
            </a:solidFill>
            <a:prstDash val="solid"/>
          </a:ln>
        </p:spPr>
      </p:sp>
      <p:sp>
        <p:nvSpPr>
          <p:cNvPr id="9" name="Text 6"/>
          <p:cNvSpPr/>
          <p:nvPr/>
        </p:nvSpPr>
        <p:spPr>
          <a:xfrm>
            <a:off x="914400" y="3877056"/>
            <a:ext cx="27432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読み方</a:t>
            </a:r>
            <a:endParaRPr lang="en-US" sz="1200" dirty="0"/>
          </a:p>
        </p:txBody>
      </p:sp>
      <p:sp>
        <p:nvSpPr>
          <p:cNvPr id="10" name="Shape 7"/>
          <p:cNvSpPr/>
          <p:nvPr/>
        </p:nvSpPr>
        <p:spPr>
          <a:xfrm>
            <a:off x="914400" y="4146804"/>
            <a:ext cx="146304" cy="146304"/>
          </a:xfrm>
          <a:prstGeom prst="ellipse">
            <a:avLst/>
          </a:prstGeom>
          <a:solidFill>
            <a:srgbClr val="6E5730"/>
          </a:solidFill>
          <a:ln w="11430">
            <a:solidFill>
              <a:srgbClr val="6E5730"/>
            </a:solidFill>
            <a:prstDash val="solid"/>
          </a:ln>
        </p:spPr>
      </p:sp>
      <p:sp>
        <p:nvSpPr>
          <p:cNvPr id="11" name="Text 8"/>
          <p:cNvSpPr/>
          <p:nvPr/>
        </p:nvSpPr>
        <p:spPr>
          <a:xfrm>
            <a:off x="914400" y="4146804"/>
            <a:ext cx="146304" cy="146304"/>
          </a:xfrm>
          <a:prstGeom prst="rect">
            <a:avLst/>
          </a:prstGeom>
          <a:noFill/>
          <a:ln/>
        </p:spPr>
        <p:txBody>
          <a:bodyPr wrap="square" lIns="0" tIns="0" rIns="0" bIns="0" rtlCol="0" anchor="ctr"/>
          <a:lstStyle/>
          <a:p>
            <a:pPr algn="ctr" indent="0" marL="0">
              <a:buNone/>
            </a:pPr>
            <a:endParaRPr lang="en-US" sz="1100" dirty="0"/>
          </a:p>
        </p:txBody>
      </p:sp>
      <p:sp>
        <p:nvSpPr>
          <p:cNvPr id="12" name="Text 9"/>
          <p:cNvSpPr/>
          <p:nvPr/>
        </p:nvSpPr>
        <p:spPr>
          <a:xfrm>
            <a:off x="1170432" y="4096512"/>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定常年間利回り＝運用が軌道に乗った後の年間実力値。エクイティ3億円に対する比率</a:t>
            </a:r>
            <a:endParaRPr lang="en-US" sz="950" dirty="0"/>
          </a:p>
        </p:txBody>
      </p:sp>
      <p:sp>
        <p:nvSpPr>
          <p:cNvPr id="13" name="Shape 10"/>
          <p:cNvSpPr/>
          <p:nvPr/>
        </p:nvSpPr>
        <p:spPr>
          <a:xfrm>
            <a:off x="914400" y="4494276"/>
            <a:ext cx="146304" cy="146304"/>
          </a:xfrm>
          <a:prstGeom prst="ellipse">
            <a:avLst/>
          </a:prstGeom>
          <a:solidFill>
            <a:srgbClr val="6E5730"/>
          </a:solidFill>
          <a:ln w="11430">
            <a:solidFill>
              <a:srgbClr val="6E5730"/>
            </a:solidFill>
            <a:prstDash val="solid"/>
          </a:ln>
        </p:spPr>
      </p:sp>
      <p:sp>
        <p:nvSpPr>
          <p:cNvPr id="14" name="Text 11"/>
          <p:cNvSpPr/>
          <p:nvPr/>
        </p:nvSpPr>
        <p:spPr>
          <a:xfrm>
            <a:off x="914400" y="4494276"/>
            <a:ext cx="146304" cy="146304"/>
          </a:xfrm>
          <a:prstGeom prst="rect">
            <a:avLst/>
          </a:prstGeom>
          <a:noFill/>
          <a:ln/>
        </p:spPr>
        <p:txBody>
          <a:bodyPr wrap="square" lIns="0" tIns="0" rIns="0" bIns="0" rtlCol="0" anchor="ctr"/>
          <a:lstStyle/>
          <a:p>
            <a:pPr algn="ctr" indent="0" marL="0">
              <a:buNone/>
            </a:pPr>
            <a:endParaRPr lang="en-US" sz="1100" dirty="0"/>
          </a:p>
        </p:txBody>
      </p:sp>
      <p:sp>
        <p:nvSpPr>
          <p:cNvPr id="15" name="Text 12"/>
          <p:cNvSpPr/>
          <p:nvPr/>
        </p:nvSpPr>
        <p:spPr>
          <a:xfrm>
            <a:off x="1170432" y="4443984"/>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年平均利回り＝5年間の累計分配額÷エクイティ3億円÷5年。仕入展開6ヶ月と満期前の清算期間を織り込んだ通算値</a:t>
            </a:r>
            <a:endParaRPr lang="en-US" sz="950" dirty="0"/>
          </a:p>
        </p:txBody>
      </p:sp>
      <p:sp>
        <p:nvSpPr>
          <p:cNvPr id="16" name="Shape 13"/>
          <p:cNvSpPr/>
          <p:nvPr/>
        </p:nvSpPr>
        <p:spPr>
          <a:xfrm>
            <a:off x="914400" y="4841748"/>
            <a:ext cx="146304" cy="146304"/>
          </a:xfrm>
          <a:prstGeom prst="ellipse">
            <a:avLst/>
          </a:prstGeom>
          <a:solidFill>
            <a:srgbClr val="6E5730"/>
          </a:solidFill>
          <a:ln w="11430">
            <a:solidFill>
              <a:srgbClr val="6E5730"/>
            </a:solidFill>
            <a:prstDash val="solid"/>
          </a:ln>
        </p:spPr>
      </p:sp>
      <p:sp>
        <p:nvSpPr>
          <p:cNvPr id="17" name="Text 14"/>
          <p:cNvSpPr/>
          <p:nvPr/>
        </p:nvSpPr>
        <p:spPr>
          <a:xfrm>
            <a:off x="914400" y="4841748"/>
            <a:ext cx="146304" cy="146304"/>
          </a:xfrm>
          <a:prstGeom prst="rect">
            <a:avLst/>
          </a:prstGeom>
          <a:noFill/>
          <a:ln/>
        </p:spPr>
        <p:txBody>
          <a:bodyPr wrap="square" lIns="0" tIns="0" rIns="0" bIns="0" rtlCol="0" anchor="ctr"/>
          <a:lstStyle/>
          <a:p>
            <a:pPr algn="ctr" indent="0" marL="0">
              <a:buNone/>
            </a:pPr>
            <a:endParaRPr lang="en-US" sz="1100" dirty="0"/>
          </a:p>
        </p:txBody>
      </p:sp>
      <p:sp>
        <p:nvSpPr>
          <p:cNvPr id="18" name="Text 15"/>
          <p:cNvSpPr/>
          <p:nvPr/>
        </p:nvSpPr>
        <p:spPr>
          <a:xfrm>
            <a:off x="1170432" y="4791456"/>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主線は在庫回転12ヶ月。最短9ヶ月、延びても15〜18ヶ月を想定レンジとする</a:t>
            </a:r>
            <a:endParaRPr lang="en-US" sz="950" dirty="0"/>
          </a:p>
        </p:txBody>
      </p:sp>
      <p:sp>
        <p:nvSpPr>
          <p:cNvPr id="19" name="Shape 16"/>
          <p:cNvSpPr/>
          <p:nvPr/>
        </p:nvSpPr>
        <p:spPr>
          <a:xfrm>
            <a:off x="914400" y="5189220"/>
            <a:ext cx="146304" cy="146304"/>
          </a:xfrm>
          <a:prstGeom prst="ellipse">
            <a:avLst/>
          </a:prstGeom>
          <a:solidFill>
            <a:srgbClr val="6E5730"/>
          </a:solidFill>
          <a:ln w="11430">
            <a:solidFill>
              <a:srgbClr val="6E5730"/>
            </a:solidFill>
            <a:prstDash val="solid"/>
          </a:ln>
        </p:spPr>
      </p:sp>
      <p:sp>
        <p:nvSpPr>
          <p:cNvPr id="20" name="Text 17"/>
          <p:cNvSpPr/>
          <p:nvPr/>
        </p:nvSpPr>
        <p:spPr>
          <a:xfrm>
            <a:off x="914400" y="5189220"/>
            <a:ext cx="146304" cy="146304"/>
          </a:xfrm>
          <a:prstGeom prst="rect">
            <a:avLst/>
          </a:prstGeom>
          <a:noFill/>
          <a:ln/>
        </p:spPr>
        <p:txBody>
          <a:bodyPr wrap="square" lIns="0" tIns="0" rIns="0" bIns="0" rtlCol="0" anchor="ctr"/>
          <a:lstStyle/>
          <a:p>
            <a:pPr algn="ctr" indent="0" marL="0">
              <a:buNone/>
            </a:pPr>
            <a:endParaRPr lang="en-US" sz="1100" dirty="0"/>
          </a:p>
        </p:txBody>
      </p:sp>
      <p:sp>
        <p:nvSpPr>
          <p:cNvPr id="21" name="Text 18"/>
          <p:cNvSpPr/>
          <p:nvPr/>
        </p:nvSpPr>
        <p:spPr>
          <a:xfrm>
            <a:off x="1170432" y="5138928"/>
            <a:ext cx="4800600" cy="310896"/>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5年通算が単調でないのは、満期までに何回転が収まるかという期間の刻みによるもの</a:t>
            </a:r>
            <a:endParaRPr lang="en-US" sz="950" dirty="0"/>
          </a:p>
        </p:txBody>
      </p:sp>
      <p:sp>
        <p:nvSpPr>
          <p:cNvPr id="22" name="Shape 19"/>
          <p:cNvSpPr/>
          <p:nvPr/>
        </p:nvSpPr>
        <p:spPr>
          <a:xfrm>
            <a:off x="6464808" y="3712464"/>
            <a:ext cx="5068519" cy="1810512"/>
          </a:xfrm>
          <a:prstGeom prst="roundRect">
            <a:avLst>
              <a:gd name="adj" fmla="val 2273"/>
            </a:avLst>
          </a:prstGeom>
          <a:solidFill>
            <a:srgbClr val="1F1D19"/>
          </a:solidFill>
          <a:ln w="9525">
            <a:solidFill>
              <a:srgbClr val="6E5730"/>
            </a:solidFill>
            <a:prstDash val="solid"/>
          </a:ln>
        </p:spPr>
      </p:sp>
      <p:sp>
        <p:nvSpPr>
          <p:cNvPr id="23" name="Text 20"/>
          <p:cNvSpPr/>
          <p:nvPr/>
        </p:nvSpPr>
        <p:spPr>
          <a:xfrm>
            <a:off x="6720840" y="3877056"/>
            <a:ext cx="3657600" cy="237744"/>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想定レンジのご提示</a:t>
            </a:r>
            <a:endParaRPr lang="en-US" sz="1200" dirty="0"/>
          </a:p>
        </p:txBody>
      </p:sp>
      <p:sp>
        <p:nvSpPr>
          <p:cNvPr id="24" name="Text 21"/>
          <p:cNvSpPr/>
          <p:nvPr/>
        </p:nvSpPr>
        <p:spPr>
          <a:xfrm>
            <a:off x="6720840" y="4151376"/>
            <a:ext cx="4519879" cy="219456"/>
          </a:xfrm>
          <a:prstGeom prst="rect">
            <a:avLst/>
          </a:prstGeom>
          <a:noFill/>
          <a:ln/>
        </p:spPr>
        <p:txBody>
          <a:bodyPr wrap="square" lIns="0" tIns="0" rIns="0" bIns="0" rtlCol="0" anchor="ctr"/>
          <a:lstStyle/>
          <a:p>
            <a:pPr indent="0" marL="0">
              <a:buNone/>
            </a:pPr>
            <a:r>
              <a:rPr lang="en-US" sz="1050" dirty="0">
                <a:solidFill>
                  <a:srgbClr val="EFEBE3"/>
                </a:solidFill>
                <a:latin typeface="Yu Gothic" pitchFamily="34" charset="0"/>
                <a:ea typeface="Yu Gothic" pitchFamily="34" charset="-122"/>
                <a:cs typeface="Yu Gothic" pitchFamily="34" charset="-120"/>
              </a:rPr>
              <a:t>エクイティ定常年間利回り（税引前）</a:t>
            </a:r>
            <a:endParaRPr lang="en-US" sz="1050" dirty="0"/>
          </a:p>
        </p:txBody>
      </p:sp>
      <p:sp>
        <p:nvSpPr>
          <p:cNvPr id="25" name="Text 22"/>
          <p:cNvSpPr/>
          <p:nvPr/>
        </p:nvSpPr>
        <p:spPr>
          <a:xfrm>
            <a:off x="6720840" y="4370832"/>
            <a:ext cx="4519879" cy="457200"/>
          </a:xfrm>
          <a:prstGeom prst="rect">
            <a:avLst/>
          </a:prstGeom>
          <a:noFill/>
          <a:ln/>
        </p:spPr>
        <p:txBody>
          <a:bodyPr wrap="square" lIns="0" tIns="0" rIns="0" bIns="0" rtlCol="0" anchor="ctr"/>
          <a:lstStyle/>
          <a:p>
            <a:pPr indent="0" marL="0">
              <a:buNone/>
            </a:pPr>
            <a:r>
              <a:rPr lang="en-US" sz="3000" b="1" dirty="0">
                <a:solidFill>
                  <a:srgbClr val="C9A96E"/>
                </a:solidFill>
                <a:latin typeface="Cambria" pitchFamily="34" charset="0"/>
                <a:ea typeface="Cambria" pitchFamily="34" charset="-122"/>
                <a:cs typeface="Cambria" pitchFamily="34" charset="-120"/>
              </a:rPr>
              <a:t>29.8 – 54.2</a:t>
            </a:r>
            <a:pPr indent="0" marL="0">
              <a:buNone/>
            </a:pPr>
            <a:r>
              <a:rPr lang="en-US" sz="1500" b="1" dirty="0">
                <a:solidFill>
                  <a:srgbClr val="C9A96E"/>
                </a:solidFill>
                <a:latin typeface="Yu Gothic" pitchFamily="34" charset="0"/>
                <a:ea typeface="Yu Gothic" pitchFamily="34" charset="-122"/>
                <a:cs typeface="Yu Gothic" pitchFamily="34" charset="-120"/>
              </a:rPr>
              <a:t> %</a:t>
            </a:r>
            <a:endParaRPr lang="en-US" sz="3000" dirty="0"/>
          </a:p>
        </p:txBody>
      </p:sp>
      <p:sp>
        <p:nvSpPr>
          <p:cNvPr id="26" name="Text 23"/>
          <p:cNvSpPr/>
          <p:nvPr/>
        </p:nvSpPr>
        <p:spPr>
          <a:xfrm>
            <a:off x="6720840" y="4882896"/>
            <a:ext cx="4519879" cy="53035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主線の回転12ヶ月で42.0%。最短9ヶ月なら54.2%、18ヶ月まで延びても29.8%を確保する。20%を割り込むのは回転が30ヶ月を超えた場合であり、想定レンジの外にある。</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BASE CASE ｜ 主線</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在庫回転期間と投資家リターンの関係</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主線は12ヶ月。回転が延びても値上がりが下支えするため、18ヶ月でも29.8%を確保する。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11</a:t>
            </a:r>
            <a:endParaRPr lang="en-US" sz="950" dirty="0"/>
          </a:p>
        </p:txBody>
      </p:sp>
      <p:sp>
        <p:nvSpPr>
          <p:cNvPr id="7" name="Shape 5"/>
          <p:cNvSpPr/>
          <p:nvPr/>
        </p:nvSpPr>
        <p:spPr>
          <a:xfrm>
            <a:off x="658368"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8" name="Chart 0" descr=""/>
          <p:cNvGraphicFramePr/>
          <p:nvPr/>
        </p:nvGraphicFramePr>
        <p:xfrm>
          <a:off x="786384" y="1737360"/>
          <a:ext cx="5035144" cy="2432304"/>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242152" y="1645920"/>
            <a:ext cx="5291176" cy="2615184"/>
          </a:xfrm>
          <a:prstGeom prst="roundRect">
            <a:avLst>
              <a:gd name="adj" fmla="val 1573"/>
            </a:avLst>
          </a:prstGeom>
          <a:solidFill>
            <a:srgbClr val="171614"/>
          </a:solidFill>
          <a:ln w="9525">
            <a:solidFill>
              <a:srgbClr val="2E2A24"/>
            </a:solidFill>
            <a:prstDash val="solid"/>
          </a:ln>
        </p:spPr>
      </p:sp>
      <p:graphicFrame>
        <p:nvGraphicFramePr>
          <p:cNvPr id="10" name="Chart 1" descr=""/>
          <p:cNvGraphicFramePr/>
          <p:nvPr/>
        </p:nvGraphicFramePr>
        <p:xfrm>
          <a:off x="6370168" y="1737360"/>
          <a:ext cx="5035144" cy="2432304"/>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658368" y="4443984"/>
            <a:ext cx="5300320" cy="1225296"/>
          </a:xfrm>
          <a:prstGeom prst="roundRect">
            <a:avLst>
              <a:gd name="adj" fmla="val 3358"/>
            </a:avLst>
          </a:prstGeom>
          <a:solidFill>
            <a:srgbClr val="1F1D19"/>
          </a:solidFill>
          <a:ln w="9525">
            <a:solidFill>
              <a:srgbClr val="6E5730"/>
            </a:solidFill>
            <a:prstDash val="solid"/>
          </a:ln>
        </p:spPr>
      </p:sp>
      <p:sp>
        <p:nvSpPr>
          <p:cNvPr id="12" name="Text 8"/>
          <p:cNvSpPr/>
          <p:nvPr/>
        </p:nvSpPr>
        <p:spPr>
          <a:xfrm>
            <a:off x="91440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回転期間が主たる決定要因</a:t>
            </a:r>
            <a:endParaRPr lang="en-US" sz="1200" dirty="0"/>
          </a:p>
        </p:txBody>
      </p:sp>
      <p:sp>
        <p:nvSpPr>
          <p:cNvPr id="13" name="Text 9"/>
          <p:cNvSpPr/>
          <p:nvPr/>
        </p:nvSpPr>
        <p:spPr>
          <a:xfrm>
            <a:off x="91440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回転を1ヶ月短縮するごとにエクイティ利回りは約4ポイント改善する。値引きや粗利率の微調整より、売り切る速度を上げる打ち手のほうが効く。</a:t>
            </a:r>
            <a:endParaRPr lang="en-US" sz="1000" dirty="0"/>
          </a:p>
        </p:txBody>
      </p:sp>
      <p:sp>
        <p:nvSpPr>
          <p:cNvPr id="14" name="Shape 10"/>
          <p:cNvSpPr/>
          <p:nvPr/>
        </p:nvSpPr>
        <p:spPr>
          <a:xfrm>
            <a:off x="6233008" y="4443984"/>
            <a:ext cx="5300320" cy="1225296"/>
          </a:xfrm>
          <a:prstGeom prst="roundRect">
            <a:avLst>
              <a:gd name="adj" fmla="val 3358"/>
            </a:avLst>
          </a:prstGeom>
          <a:solidFill>
            <a:srgbClr val="171614"/>
          </a:solidFill>
          <a:ln w="9525">
            <a:solidFill>
              <a:srgbClr val="2E2A24"/>
            </a:solidFill>
            <a:prstDash val="solid"/>
          </a:ln>
        </p:spPr>
      </p:sp>
      <p:sp>
        <p:nvSpPr>
          <p:cNvPr id="15" name="Text 11"/>
          <p:cNvSpPr/>
          <p:nvPr/>
        </p:nvSpPr>
        <p:spPr>
          <a:xfrm>
            <a:off x="6489040" y="4608576"/>
            <a:ext cx="4788256"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ただし値上がりが下支えする</a:t>
            </a:r>
            <a:endParaRPr lang="en-US" sz="1200" dirty="0"/>
          </a:p>
        </p:txBody>
      </p:sp>
      <p:sp>
        <p:nvSpPr>
          <p:cNvPr id="16" name="Text 12"/>
          <p:cNvSpPr/>
          <p:nvPr/>
        </p:nvSpPr>
        <p:spPr>
          <a:xfrm>
            <a:off x="6489040" y="4901184"/>
            <a:ext cx="4788256" cy="621792"/>
          </a:xfrm>
          <a:prstGeom prst="rect">
            <a:avLst/>
          </a:prstGeom>
          <a:noFill/>
          <a:ln/>
        </p:spPr>
        <p:txBody>
          <a:bodyPr wrap="square" lIns="0" tIns="0" rIns="0" bIns="0" rtlCol="0" anchor="ctr"/>
          <a:lstStyle/>
          <a:p>
            <a:pPr indent="0" marL="0">
              <a:lnSpc>
                <a:spcPct val="120000"/>
              </a:lnSpc>
              <a:buNone/>
            </a:pPr>
            <a:r>
              <a:rPr lang="en-US" sz="1000" dirty="0">
                <a:solidFill>
                  <a:srgbClr val="9A938A"/>
                </a:solidFill>
                <a:latin typeface="Yu Gothic" pitchFamily="34" charset="0"/>
                <a:ea typeface="Yu Gothic" pitchFamily="34" charset="-122"/>
                <a:cs typeface="Yu Gothic" pitchFamily="34" charset="-120"/>
              </a:rPr>
              <a:t>回転が18ヶ月まで延びても29.8%を確保できる。保有が長いぶん売値が上がるためで、値上がりを織り込まない場合とは約8ポイントの差がつく（次頁）。</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PRICE APPRECIATION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ワイン価格の上昇をどう織り込むか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回転が落ちれば利回りは下がるが、保有が延びれば売値は上がる。両者は別々の収益源として足し合わさる。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12</a:t>
            </a:r>
            <a:endParaRPr lang="en-US" sz="950" dirty="0"/>
          </a:p>
        </p:txBody>
      </p:sp>
      <p:sp>
        <p:nvSpPr>
          <p:cNvPr id="7" name="Shape 5"/>
          <p:cNvSpPr/>
          <p:nvPr/>
        </p:nvSpPr>
        <p:spPr>
          <a:xfrm>
            <a:off x="658368" y="1664208"/>
            <a:ext cx="5291176" cy="1572768"/>
          </a:xfrm>
          <a:prstGeom prst="roundRect">
            <a:avLst>
              <a:gd name="adj" fmla="val 2616"/>
            </a:avLst>
          </a:prstGeom>
          <a:solidFill>
            <a:srgbClr val="171614"/>
          </a:solidFill>
          <a:ln w="9525">
            <a:solidFill>
              <a:srgbClr val="2E2A24"/>
            </a:solidFill>
            <a:prstDash val="solid"/>
          </a:ln>
        </p:spPr>
      </p:sp>
      <p:sp>
        <p:nvSpPr>
          <p:cNvPr id="8" name="Text 6"/>
          <p:cNvSpPr/>
          <p:nvPr/>
        </p:nvSpPr>
        <p:spPr>
          <a:xfrm>
            <a:off x="914400" y="1810512"/>
            <a:ext cx="2913736" cy="256032"/>
          </a:xfrm>
          <a:prstGeom prst="rect">
            <a:avLst/>
          </a:prstGeom>
          <a:noFill/>
          <a:ln/>
        </p:spPr>
        <p:txBody>
          <a:bodyPr wrap="square" lIns="0" tIns="0" rIns="0" bIns="0" rtlCol="0" anchor="ctr"/>
          <a:lstStyle/>
          <a:p>
            <a:pPr indent="0" marL="0">
              <a:buNone/>
            </a:pPr>
            <a:r>
              <a:rPr lang="en-US" sz="1250" b="1" dirty="0">
                <a:solidFill>
                  <a:srgbClr val="EFEBE3"/>
                </a:solidFill>
                <a:latin typeface="Yu Gothic" pitchFamily="34" charset="0"/>
                <a:ea typeface="Yu Gothic" pitchFamily="34" charset="-122"/>
                <a:cs typeface="Yu Gothic" pitchFamily="34" charset="-120"/>
              </a:rPr>
              <a:t>フロー｜流通価格差</a:t>
            </a:r>
            <a:endParaRPr lang="en-US" sz="1250" dirty="0"/>
          </a:p>
        </p:txBody>
      </p:sp>
      <p:sp>
        <p:nvSpPr>
          <p:cNvPr id="9" name="Text 7"/>
          <p:cNvSpPr/>
          <p:nvPr/>
        </p:nvSpPr>
        <p:spPr>
          <a:xfrm>
            <a:off x="3626968"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回転に対するリターン</a:t>
            </a:r>
            <a:endParaRPr lang="en-US" sz="950" dirty="0"/>
          </a:p>
        </p:txBody>
      </p:sp>
      <p:sp>
        <p:nvSpPr>
          <p:cNvPr id="10" name="Text 8"/>
          <p:cNvSpPr/>
          <p:nvPr/>
        </p:nvSpPr>
        <p:spPr>
          <a:xfrm>
            <a:off x="914400"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40〜60で仕入れ、70〜80で売る。年に何回まわせるかに比例するため、回転期間が短いほど大きくなる。</a:t>
            </a:r>
            <a:endParaRPr lang="en-US" sz="950" dirty="0"/>
          </a:p>
        </p:txBody>
      </p:sp>
      <p:sp>
        <p:nvSpPr>
          <p:cNvPr id="11" name="Text 9"/>
          <p:cNvSpPr/>
          <p:nvPr/>
        </p:nvSpPr>
        <p:spPr>
          <a:xfrm>
            <a:off x="914400"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主線（回転12ヶ月）で 34.1%</a:t>
            </a:r>
            <a:endParaRPr lang="en-US" sz="1300" dirty="0"/>
          </a:p>
        </p:txBody>
      </p:sp>
      <p:sp>
        <p:nvSpPr>
          <p:cNvPr id="12" name="Shape 10"/>
          <p:cNvSpPr/>
          <p:nvPr/>
        </p:nvSpPr>
        <p:spPr>
          <a:xfrm>
            <a:off x="6242152" y="1664208"/>
            <a:ext cx="5291176" cy="1572768"/>
          </a:xfrm>
          <a:prstGeom prst="roundRect">
            <a:avLst>
              <a:gd name="adj" fmla="val 2616"/>
            </a:avLst>
          </a:prstGeom>
          <a:solidFill>
            <a:srgbClr val="1F1D19"/>
          </a:solidFill>
          <a:ln w="9525">
            <a:solidFill>
              <a:srgbClr val="6E5730"/>
            </a:solidFill>
            <a:prstDash val="solid"/>
          </a:ln>
        </p:spPr>
      </p:sp>
      <p:sp>
        <p:nvSpPr>
          <p:cNvPr id="13" name="Text 11"/>
          <p:cNvSpPr/>
          <p:nvPr/>
        </p:nvSpPr>
        <p:spPr>
          <a:xfrm>
            <a:off x="6498184" y="1810512"/>
            <a:ext cx="291373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ストック｜ワインの値上がり</a:t>
            </a:r>
            <a:endParaRPr lang="en-US" sz="1250" dirty="0"/>
          </a:p>
        </p:txBody>
      </p:sp>
      <p:sp>
        <p:nvSpPr>
          <p:cNvPr id="14" name="Text 12"/>
          <p:cNvSpPr/>
          <p:nvPr/>
        </p:nvSpPr>
        <p:spPr>
          <a:xfrm>
            <a:off x="9210751" y="1810512"/>
            <a:ext cx="2066544" cy="256032"/>
          </a:xfrm>
          <a:prstGeom prst="rect">
            <a:avLst/>
          </a:prstGeom>
          <a:noFill/>
          <a:ln/>
        </p:spPr>
        <p:txBody>
          <a:bodyPr wrap="square" lIns="0" tIns="0" rIns="0" bIns="0" rtlCol="0" anchor="ctr"/>
          <a:lstStyle/>
          <a:p>
            <a:pPr algn="r" indent="0" marL="0">
              <a:buNone/>
            </a:pPr>
            <a:r>
              <a:rPr lang="en-US" sz="950" dirty="0">
                <a:solidFill>
                  <a:srgbClr val="9A938A"/>
                </a:solidFill>
                <a:latin typeface="Yu Gothic" pitchFamily="34" charset="0"/>
                <a:ea typeface="Yu Gothic" pitchFamily="34" charset="-122"/>
                <a:cs typeface="Yu Gothic" pitchFamily="34" charset="-120"/>
              </a:rPr>
              <a:t>在庫に対するリターン</a:t>
            </a:r>
            <a:endParaRPr lang="en-US" sz="950" dirty="0"/>
          </a:p>
        </p:txBody>
      </p:sp>
      <p:sp>
        <p:nvSpPr>
          <p:cNvPr id="15" name="Text 13"/>
          <p:cNvSpPr/>
          <p:nvPr/>
        </p:nvSpPr>
        <p:spPr>
          <a:xfrm>
            <a:off x="6498184" y="2121408"/>
            <a:ext cx="4779112" cy="566928"/>
          </a:xfrm>
          <a:prstGeom prst="rect">
            <a:avLst/>
          </a:prstGeom>
          <a:noFill/>
          <a:ln/>
        </p:spPr>
        <p:txBody>
          <a:bodyPr wrap="square" lIns="0" tIns="0" rIns="0" bIns="0" rtlCol="0" anchor="ctr"/>
          <a:lstStyle/>
          <a:p>
            <a:pPr indent="0" marL="0">
              <a:lnSpc>
                <a:spcPct val="122000"/>
              </a:lnSpc>
              <a:buNone/>
            </a:pPr>
            <a:r>
              <a:rPr lang="en-US" sz="950" dirty="0">
                <a:solidFill>
                  <a:srgbClr val="9A938A"/>
                </a:solidFill>
                <a:latin typeface="Yu Gothic" pitchFamily="34" charset="0"/>
                <a:ea typeface="Yu Gothic" pitchFamily="34" charset="-122"/>
                <a:cs typeface="Yu Gothic" pitchFamily="34" charset="-120"/>
              </a:rPr>
              <a:t>保有している間、価格帯全体が年6%上昇する。在庫金額に対して発生するため、回転期間によらずほぼ一定になる。</a:t>
            </a:r>
            <a:endParaRPr lang="en-US" sz="950" dirty="0"/>
          </a:p>
        </p:txBody>
      </p:sp>
      <p:sp>
        <p:nvSpPr>
          <p:cNvPr id="16" name="Text 14"/>
          <p:cNvSpPr/>
          <p:nvPr/>
        </p:nvSpPr>
        <p:spPr>
          <a:xfrm>
            <a:off x="6498184" y="2761488"/>
            <a:ext cx="4779112" cy="292608"/>
          </a:xfrm>
          <a:prstGeom prst="rect">
            <a:avLst/>
          </a:prstGeom>
          <a:noFill/>
          <a:ln/>
        </p:spPr>
        <p:txBody>
          <a:bodyPr wrap="square" lIns="0" tIns="0" rIns="0" bIns="0" rtlCol="0" anchor="ctr"/>
          <a:lstStyle/>
          <a:p>
            <a:pPr indent="0" marL="0">
              <a:buNone/>
            </a:pPr>
            <a:r>
              <a:rPr lang="en-US" sz="1300" b="1" dirty="0">
                <a:solidFill>
                  <a:srgbClr val="C9A96E"/>
                </a:solidFill>
                <a:latin typeface="Yu Gothic" pitchFamily="34" charset="0"/>
                <a:ea typeface="Yu Gothic" pitchFamily="34" charset="-122"/>
                <a:cs typeface="Yu Gothic" pitchFamily="34" charset="-120"/>
              </a:rPr>
              <a:t>回転期間によらず 約 +8.0pt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58368" y="3346704"/>
          <a:ext cx="10874959" cy="914400"/>
        </p:xfrm>
        <a:graphic>
          <a:graphicData uri="http://schemas.openxmlformats.org/drawingml/2006/table">
            <a:tbl>
              <a:tblPr/>
              <a:tblGrid>
                <a:gridCol w="2057400"/>
                <a:gridCol w="1874520"/>
                <a:gridCol w="2788920"/>
                <a:gridCol w="2148840"/>
                <a:gridCol w="2002536"/>
              </a:tblGrid>
              <a:tr h="342900">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在庫回転期間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売値の上昇倍率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① 価格差による利回り（上昇0%）</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② 値上がりによる上乗せ</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エクイティ利回り（①＋②）</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46.4%</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54.2%</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12ヶ月（主線）</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×1.060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34.1%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15ヶ月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26.7%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34.7%</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42900">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×1.091</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21.8%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＋8.0pt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29.8%</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8" name="Shape 15"/>
          <p:cNvSpPr/>
          <p:nvPr/>
        </p:nvSpPr>
        <p:spPr>
          <a:xfrm>
            <a:off x="658368" y="5175504"/>
            <a:ext cx="5532120" cy="1024128"/>
          </a:xfrm>
          <a:prstGeom prst="roundRect">
            <a:avLst>
              <a:gd name="adj" fmla="val 4018"/>
            </a:avLst>
          </a:prstGeom>
          <a:solidFill>
            <a:srgbClr val="171614"/>
          </a:solidFill>
          <a:ln w="9525">
            <a:solidFill>
              <a:srgbClr val="2E2A24"/>
            </a:solidFill>
            <a:prstDash val="solid"/>
          </a:ln>
        </p:spPr>
      </p:sp>
      <p:sp>
        <p:nvSpPr>
          <p:cNvPr id="19" name="Text 16"/>
          <p:cNvSpPr/>
          <p:nvPr/>
        </p:nvSpPr>
        <p:spPr>
          <a:xfrm>
            <a:off x="896112" y="5276088"/>
            <a:ext cx="384048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上昇率を変えた場合（主線）</a:t>
            </a:r>
            <a:endParaRPr lang="en-US" sz="1050" dirty="0"/>
          </a:p>
        </p:txBody>
      </p:sp>
      <p:sp>
        <p:nvSpPr>
          <p:cNvPr id="20" name="Text 17"/>
          <p:cNvSpPr/>
          <p:nvPr/>
        </p:nvSpPr>
        <p:spPr>
          <a:xfrm>
            <a:off x="896112"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0%（横ばい）</a:t>
            </a:r>
            <a:endParaRPr lang="en-US" sz="900" dirty="0"/>
          </a:p>
        </p:txBody>
      </p:sp>
      <p:sp>
        <p:nvSpPr>
          <p:cNvPr id="21" name="Text 18"/>
          <p:cNvSpPr/>
          <p:nvPr/>
        </p:nvSpPr>
        <p:spPr>
          <a:xfrm>
            <a:off x="896112"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34.1%</a:t>
            </a:r>
            <a:endParaRPr lang="en-US" sz="1900" dirty="0"/>
          </a:p>
        </p:txBody>
      </p:sp>
      <p:sp>
        <p:nvSpPr>
          <p:cNvPr id="22" name="Text 19"/>
          <p:cNvSpPr/>
          <p:nvPr/>
        </p:nvSpPr>
        <p:spPr>
          <a:xfrm>
            <a:off x="2596896"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6%（主線）</a:t>
            </a:r>
            <a:endParaRPr lang="en-US" sz="900" dirty="0"/>
          </a:p>
        </p:txBody>
      </p:sp>
      <p:sp>
        <p:nvSpPr>
          <p:cNvPr id="23" name="Text 20"/>
          <p:cNvSpPr/>
          <p:nvPr/>
        </p:nvSpPr>
        <p:spPr>
          <a:xfrm>
            <a:off x="2596896" y="5705856"/>
            <a:ext cx="1627632" cy="310896"/>
          </a:xfrm>
          <a:prstGeom prst="rect">
            <a:avLst/>
          </a:prstGeom>
          <a:noFill/>
          <a:ln/>
        </p:spPr>
        <p:txBody>
          <a:bodyPr wrap="square" lIns="0" tIns="0" rIns="0" bIns="0" rtlCol="0" anchor="ctr"/>
          <a:lstStyle/>
          <a:p>
            <a:pPr indent="0" marL="0">
              <a:buNone/>
            </a:pPr>
            <a:r>
              <a:rPr lang="en-US" sz="1900" b="1" dirty="0">
                <a:solidFill>
                  <a:srgbClr val="C9A96E"/>
                </a:solidFill>
                <a:latin typeface="Cambria" pitchFamily="34" charset="0"/>
                <a:ea typeface="Cambria" pitchFamily="34" charset="-122"/>
                <a:cs typeface="Cambria" pitchFamily="34" charset="-120"/>
              </a:rPr>
              <a:t>42.0%</a:t>
            </a:r>
            <a:endParaRPr lang="en-US" sz="1900" dirty="0"/>
          </a:p>
        </p:txBody>
      </p:sp>
      <p:sp>
        <p:nvSpPr>
          <p:cNvPr id="24" name="Text 21"/>
          <p:cNvSpPr/>
          <p:nvPr/>
        </p:nvSpPr>
        <p:spPr>
          <a:xfrm>
            <a:off x="4297680" y="5513832"/>
            <a:ext cx="1627632" cy="201168"/>
          </a:xfrm>
          <a:prstGeom prst="rect">
            <a:avLst/>
          </a:prstGeom>
          <a:noFill/>
          <a:ln/>
        </p:spPr>
        <p:txBody>
          <a:bodyPr wrap="square" lIns="0" tIns="0" rIns="0" bIns="0" rtlCol="0" anchor="ctr"/>
          <a:lstStyle/>
          <a:p>
            <a:pPr indent="0" marL="0">
              <a:buNone/>
            </a:pPr>
            <a:r>
              <a:rPr lang="en-US" sz="900" dirty="0">
                <a:solidFill>
                  <a:srgbClr val="9A938A"/>
                </a:solidFill>
                <a:latin typeface="Yu Gothic" pitchFamily="34" charset="0"/>
                <a:ea typeface="Yu Gothic" pitchFamily="34" charset="-122"/>
                <a:cs typeface="Yu Gothic" pitchFamily="34" charset="-120"/>
              </a:rPr>
              <a:t>10%（会社資料水準）</a:t>
            </a:r>
            <a:endParaRPr lang="en-US" sz="900" dirty="0"/>
          </a:p>
        </p:txBody>
      </p:sp>
      <p:sp>
        <p:nvSpPr>
          <p:cNvPr id="25" name="Text 22"/>
          <p:cNvSpPr/>
          <p:nvPr/>
        </p:nvSpPr>
        <p:spPr>
          <a:xfrm>
            <a:off x="4297680" y="5705856"/>
            <a:ext cx="1627632" cy="310896"/>
          </a:xfrm>
          <a:prstGeom prst="rect">
            <a:avLst/>
          </a:prstGeom>
          <a:noFill/>
          <a:ln/>
        </p:spPr>
        <p:txBody>
          <a:bodyPr wrap="square" lIns="0" tIns="0" rIns="0" bIns="0" rtlCol="0" anchor="ctr"/>
          <a:lstStyle/>
          <a:p>
            <a:pPr indent="0" marL="0">
              <a:buNone/>
            </a:pPr>
            <a:r>
              <a:rPr lang="en-US" sz="1900" b="1" dirty="0">
                <a:solidFill>
                  <a:srgbClr val="EFEBE3"/>
                </a:solidFill>
                <a:latin typeface="Cambria" pitchFamily="34" charset="0"/>
                <a:ea typeface="Cambria" pitchFamily="34" charset="-122"/>
                <a:cs typeface="Cambria" pitchFamily="34" charset="-120"/>
              </a:rPr>
              <a:t>47.3%</a:t>
            </a:r>
            <a:endParaRPr lang="en-US" sz="1900" dirty="0"/>
          </a:p>
        </p:txBody>
      </p:sp>
      <p:sp>
        <p:nvSpPr>
          <p:cNvPr id="26" name="Shape 23"/>
          <p:cNvSpPr/>
          <p:nvPr/>
        </p:nvSpPr>
        <p:spPr>
          <a:xfrm>
            <a:off x="6464808" y="5175504"/>
            <a:ext cx="5068519" cy="1024128"/>
          </a:xfrm>
          <a:prstGeom prst="roundRect">
            <a:avLst>
              <a:gd name="adj" fmla="val 4018"/>
            </a:avLst>
          </a:prstGeom>
          <a:solidFill>
            <a:srgbClr val="1F1D19"/>
          </a:solidFill>
          <a:ln w="9525">
            <a:solidFill>
              <a:srgbClr val="6E5730"/>
            </a:solidFill>
            <a:prstDash val="solid"/>
          </a:ln>
        </p:spPr>
      </p:sp>
      <p:sp>
        <p:nvSpPr>
          <p:cNvPr id="27" name="Text 24"/>
          <p:cNvSpPr/>
          <p:nvPr/>
        </p:nvSpPr>
        <p:spPr>
          <a:xfrm>
            <a:off x="6702552" y="5276088"/>
            <a:ext cx="4572000" cy="219456"/>
          </a:xfrm>
          <a:prstGeom prst="rect">
            <a:avLst/>
          </a:prstGeom>
          <a:noFill/>
          <a:ln/>
        </p:spPr>
        <p:txBody>
          <a:bodyPr wrap="square" lIns="0" tIns="0" rIns="0" bIns="0" rtlCol="0" anchor="ctr"/>
          <a:lstStyle/>
          <a:p>
            <a:pPr indent="0" marL="0">
              <a:buNone/>
            </a:pPr>
            <a:r>
              <a:rPr lang="en-US" sz="1050" b="1" dirty="0">
                <a:solidFill>
                  <a:srgbClr val="C9A96E"/>
                </a:solidFill>
                <a:latin typeface="Yu Gothic" pitchFamily="34" charset="0"/>
                <a:ea typeface="Yu Gothic" pitchFamily="34" charset="-122"/>
                <a:cs typeface="Yu Gothic" pitchFamily="34" charset="-120"/>
              </a:rPr>
              <a:t>値上がりは「相殺」ではなく「底上げ」</a:t>
            </a:r>
            <a:endParaRPr lang="en-US" sz="1050" dirty="0"/>
          </a:p>
        </p:txBody>
      </p:sp>
      <p:sp>
        <p:nvSpPr>
          <p:cNvPr id="28" name="Text 25"/>
          <p:cNvSpPr/>
          <p:nvPr/>
        </p:nvSpPr>
        <p:spPr>
          <a:xfrm>
            <a:off x="6702552" y="5504688"/>
            <a:ext cx="4593031" cy="621792"/>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上がりは在庫金額に対して発生するため、年間の上乗せ幅は回転期間によらず約8.0ポイントで一定になる。回転が落ちた分をちょうど埋め合わせるわけではなく、どの回転期間でも一律に底上げする性質のもの。したがって回転期間の管理は引き続き最大の運用課題である。</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UPSIDE / DOWNSIDE ｜ 副次</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上振れ余地と下振れリスク</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いずれも在庫回転期間を横軸に置いている。必要年間売上を併記し、実現可能性が判断できるようにしている。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13</a:t>
            </a:r>
            <a:endParaRPr lang="en-US" sz="950" dirty="0"/>
          </a:p>
        </p:txBody>
      </p:sp>
      <p:sp>
        <p:nvSpPr>
          <p:cNvPr id="7" name="Shape 5"/>
          <p:cNvSpPr/>
          <p:nvPr/>
        </p:nvSpPr>
        <p:spPr>
          <a:xfrm>
            <a:off x="658368" y="1645920"/>
            <a:ext cx="5300320" cy="2523744"/>
          </a:xfrm>
          <a:prstGeom prst="roundRect">
            <a:avLst>
              <a:gd name="adj" fmla="val 1630"/>
            </a:avLst>
          </a:prstGeom>
          <a:solidFill>
            <a:srgbClr val="1F1D19"/>
          </a:solidFill>
          <a:ln w="9525">
            <a:solidFill>
              <a:srgbClr val="6E5730"/>
            </a:solidFill>
            <a:prstDash val="solid"/>
          </a:ln>
        </p:spPr>
      </p:sp>
      <p:sp>
        <p:nvSpPr>
          <p:cNvPr id="8" name="Text 6"/>
          <p:cNvSpPr/>
          <p:nvPr/>
        </p:nvSpPr>
        <p:spPr>
          <a:xfrm>
            <a:off x="914400" y="1810512"/>
            <a:ext cx="4788256" cy="256032"/>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ポジティブ｜取得原価40.4・B2C100%・上昇6%</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91440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13.10億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5.13億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308百万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102.7%</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9.97億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236百万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78.8%</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8.09億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3.22億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193百万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64.5%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6.84億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2.75億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165百万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54.9%</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0" name="Text 7"/>
          <p:cNvSpPr/>
          <p:nvPr/>
        </p:nvSpPr>
        <p:spPr>
          <a:xfrm>
            <a:off x="91440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インポーター直仕入の比率を引き上げ、販売をネット最安値帯に寄せることで到達。ただし回転12ヶ月でも年間10億円の販売を要するため、現状の販売実力では到達しない。上限の目安として示す。</a:t>
            </a:r>
            <a:endParaRPr lang="en-US" sz="900" dirty="0"/>
          </a:p>
        </p:txBody>
      </p:sp>
      <p:sp>
        <p:nvSpPr>
          <p:cNvPr id="11" name="Shape 8"/>
          <p:cNvSpPr/>
          <p:nvPr/>
        </p:nvSpPr>
        <p:spPr>
          <a:xfrm>
            <a:off x="6233008" y="1645920"/>
            <a:ext cx="5300320" cy="2523744"/>
          </a:xfrm>
          <a:prstGeom prst="roundRect">
            <a:avLst>
              <a:gd name="adj" fmla="val 1630"/>
            </a:avLst>
          </a:prstGeom>
          <a:solidFill>
            <a:srgbClr val="171614"/>
          </a:solidFill>
          <a:ln w="9525">
            <a:solidFill>
              <a:srgbClr val="2E2A24"/>
            </a:solidFill>
            <a:prstDash val="solid"/>
          </a:ln>
        </p:spPr>
      </p:sp>
      <p:sp>
        <p:nvSpPr>
          <p:cNvPr id="12" name="Text 9"/>
          <p:cNvSpPr/>
          <p:nvPr/>
        </p:nvSpPr>
        <p:spPr>
          <a:xfrm>
            <a:off x="6489040" y="1810512"/>
            <a:ext cx="4788256" cy="256032"/>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ネガティブ｜売値5%値引き ＋ 価格は横ばい（上昇0%）</a:t>
            </a:r>
            <a:endParaRPr lang="en-US" sz="11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6489040" y="2121408"/>
          <a:ext cx="4782312" cy="914400"/>
        </p:xfrm>
        <a:graphic>
          <a:graphicData uri="http://schemas.openxmlformats.org/drawingml/2006/table">
            <a:tbl>
              <a:tblPr/>
              <a:tblGrid>
                <a:gridCol w="822960"/>
                <a:gridCol w="960120"/>
                <a:gridCol w="896112"/>
                <a:gridCol w="896112"/>
                <a:gridCol w="1207008"/>
              </a:tblGrid>
              <a:tr h="288036">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回転期間</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必要年間売上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年間税前</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投資家取分</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9ヶ月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8.94億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1.88億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113百万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37.6%</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12ヶ月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6.70億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1.37億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82百万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b="1" dirty="0">
                          <a:solidFill>
                            <a:srgbClr val="EFEBE3"/>
                          </a:solidFill>
                          <a:latin typeface="Yu Gothic" pitchFamily="34" charset="0"/>
                          <a:ea typeface="Yu Gothic" pitchFamily="34" charset="-122"/>
                          <a:cs typeface="Yu Gothic" pitchFamily="34" charset="-120"/>
                        </a:rPr>
                        <a:t>27.5%</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15ヶ月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5.36億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1.07億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64百万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21.4%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288036">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18ヶ月</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4.47億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0.87億</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EFEBE3"/>
                          </a:solidFill>
                          <a:latin typeface="Yu Gothic" pitchFamily="34" charset="0"/>
                          <a:ea typeface="Yu Gothic" pitchFamily="34" charset="-122"/>
                          <a:cs typeface="Yu Gothic" pitchFamily="34" charset="-120"/>
                        </a:rPr>
                        <a:t>52百万</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950" dirty="0">
                          <a:solidFill>
                            <a:srgbClr val="B4553F"/>
                          </a:solidFill>
                          <a:latin typeface="Yu Gothic" pitchFamily="34" charset="0"/>
                          <a:ea typeface="Yu Gothic" pitchFamily="34" charset="-122"/>
                          <a:cs typeface="Yu Gothic" pitchFamily="34" charset="-120"/>
                        </a:rPr>
                        <a:t>17.4%</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14" name="Text 10"/>
          <p:cNvSpPr/>
          <p:nvPr/>
        </p:nvSpPr>
        <p:spPr>
          <a:xfrm>
            <a:off x="6489040" y="3657600"/>
            <a:ext cx="4788256" cy="47548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値引き（▲7.0pt）と価格横ばい（▲7.9pt）が同時に起きた複合ケース。この場合の20%の分岐点は回転15.9ヶ月となり、想定レンジの15〜18ヶ月に重なる。</a:t>
            </a:r>
            <a:endParaRPr lang="en-US" sz="900" dirty="0"/>
          </a:p>
        </p:txBody>
      </p:sp>
      <p:sp>
        <p:nvSpPr>
          <p:cNvPr id="15" name="Shape 11"/>
          <p:cNvSpPr/>
          <p:nvPr/>
        </p:nvSpPr>
        <p:spPr>
          <a:xfrm>
            <a:off x="658368" y="4334256"/>
            <a:ext cx="10874959" cy="1298448"/>
          </a:xfrm>
          <a:prstGeom prst="roundRect">
            <a:avLst>
              <a:gd name="adj" fmla="val 3169"/>
            </a:avLst>
          </a:prstGeom>
          <a:solidFill>
            <a:srgbClr val="1F1D19"/>
          </a:solidFill>
          <a:ln w="9525">
            <a:solidFill>
              <a:srgbClr val="6E5730"/>
            </a:solidFill>
            <a:prstDash val="solid"/>
          </a:ln>
        </p:spPr>
      </p:sp>
      <p:sp>
        <p:nvSpPr>
          <p:cNvPr id="16" name="Text 12"/>
          <p:cNvSpPr/>
          <p:nvPr/>
        </p:nvSpPr>
        <p:spPr>
          <a:xfrm>
            <a:off x="932688" y="4498848"/>
            <a:ext cx="274320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最重要の示唆</a:t>
            </a:r>
            <a:endParaRPr lang="en-US" sz="1200" dirty="0"/>
          </a:p>
        </p:txBody>
      </p:sp>
      <p:sp>
        <p:nvSpPr>
          <p:cNvPr id="17" name="Text 13"/>
          <p:cNvSpPr/>
          <p:nvPr/>
        </p:nvSpPr>
        <p:spPr>
          <a:xfrm>
            <a:off x="932688" y="4791456"/>
            <a:ext cx="10326319" cy="658368"/>
          </a:xfrm>
          <a:prstGeom prst="rect">
            <a:avLst/>
          </a:prstGeom>
          <a:noFill/>
          <a:ln/>
        </p:spPr>
        <p:txBody>
          <a:bodyPr wrap="square" lIns="0" tIns="0" rIns="0" bIns="0" rtlCol="0" anchor="ctr"/>
          <a:lstStyle/>
          <a:p>
            <a:pPr indent="0" marL="0">
              <a:lnSpc>
                <a:spcPct val="128000"/>
              </a:lnSpc>
              <a:buNone/>
            </a:pPr>
            <a:r>
              <a:rPr lang="en-US" sz="1150" dirty="0">
                <a:solidFill>
                  <a:srgbClr val="EFEBE3"/>
                </a:solidFill>
                <a:latin typeface="Yu Gothic" pitchFamily="34" charset="0"/>
                <a:ea typeface="Yu Gothic" pitchFamily="34" charset="-122"/>
                <a:cs typeface="Yu Gothic" pitchFamily="34" charset="-120"/>
              </a:rPr>
              <a:t>「回転を上げるために値引く」は割に合わない。売値5%の値引きは単位粗利を15%毀損し、失うエクイティ利回り7.0ポイントを取り戻すには回転を12ヶ月から約10ヶ月へ短縮する必要がある。価格を維持したまま販売チャネルを増やすことが本筋の改善手段であり、むしろ売れ残りは値上がりを取りにいく機会でもある。</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COMPARISON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3シナリオ比較：エクイティ定常年間利回り</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エクイティ3億円に対する年間実力値。投資家取分（SPC税前利益の60%）ベース。</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14</a:t>
            </a:r>
            <a:endParaRPr lang="en-US" sz="950" dirty="0"/>
          </a:p>
        </p:txBody>
      </p:sp>
      <p:sp>
        <p:nvSpPr>
          <p:cNvPr id="7" name="Shape 5"/>
          <p:cNvSpPr/>
          <p:nvPr/>
        </p:nvSpPr>
        <p:spPr>
          <a:xfrm>
            <a:off x="658368" y="1645920"/>
            <a:ext cx="10874959" cy="2724912"/>
          </a:xfrm>
          <a:prstGeom prst="roundRect">
            <a:avLst>
              <a:gd name="adj" fmla="val 1510"/>
            </a:avLst>
          </a:prstGeom>
          <a:solidFill>
            <a:srgbClr val="171614"/>
          </a:solidFill>
          <a:ln w="9525">
            <a:solidFill>
              <a:srgbClr val="2E2A24"/>
            </a:solidFill>
            <a:prstDash val="solid"/>
          </a:ln>
        </p:spPr>
      </p:sp>
      <p:graphicFrame>
        <p:nvGraphicFramePr>
          <p:cNvPr id="8" name="Chart 0" descr=""/>
          <p:cNvGraphicFramePr/>
          <p:nvPr/>
        </p:nvGraphicFramePr>
        <p:xfrm>
          <a:off x="786384" y="1755648"/>
          <a:ext cx="10618927" cy="2505456"/>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58368" y="4535424"/>
            <a:ext cx="3454298" cy="1024128"/>
          </a:xfrm>
          <a:prstGeom prst="roundRect">
            <a:avLst>
              <a:gd name="adj" fmla="val 4018"/>
            </a:avLst>
          </a:prstGeom>
          <a:solidFill>
            <a:srgbClr val="1F1D19"/>
          </a:solidFill>
          <a:ln w="9525">
            <a:solidFill>
              <a:srgbClr val="6E5730"/>
            </a:solidFill>
            <a:prstDash val="solid"/>
          </a:ln>
        </p:spPr>
      </p:sp>
      <p:sp>
        <p:nvSpPr>
          <p:cNvPr id="10" name="Text 7"/>
          <p:cNvSpPr/>
          <p:nvPr/>
        </p:nvSpPr>
        <p:spPr>
          <a:xfrm>
            <a:off x="896112" y="4681728"/>
            <a:ext cx="2978810"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主線の提示レンジ</a:t>
            </a:r>
            <a:endParaRPr lang="en-US" sz="1150" dirty="0"/>
          </a:p>
        </p:txBody>
      </p:sp>
      <p:sp>
        <p:nvSpPr>
          <p:cNvPr id="11" name="Text 8"/>
          <p:cNvSpPr/>
          <p:nvPr/>
        </p:nvSpPr>
        <p:spPr>
          <a:xfrm>
            <a:off x="89611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回転12ヶ月でエクイティ利回り42.0%。想定レンジ9〜18ヶ月では29.8〜54.2%となる。</a:t>
            </a:r>
            <a:endParaRPr lang="en-US" sz="950" dirty="0"/>
          </a:p>
        </p:txBody>
      </p:sp>
      <p:sp>
        <p:nvSpPr>
          <p:cNvPr id="12" name="Shape 9"/>
          <p:cNvSpPr/>
          <p:nvPr/>
        </p:nvSpPr>
        <p:spPr>
          <a:xfrm>
            <a:off x="4368698" y="4535424"/>
            <a:ext cx="3454298" cy="1024128"/>
          </a:xfrm>
          <a:prstGeom prst="roundRect">
            <a:avLst>
              <a:gd name="adj" fmla="val 4018"/>
            </a:avLst>
          </a:prstGeom>
          <a:solidFill>
            <a:srgbClr val="171614"/>
          </a:solidFill>
          <a:ln w="9525">
            <a:solidFill>
              <a:srgbClr val="2E2A24"/>
            </a:solidFill>
            <a:prstDash val="solid"/>
          </a:ln>
        </p:spPr>
      </p:sp>
      <p:sp>
        <p:nvSpPr>
          <p:cNvPr id="13" name="Text 10"/>
          <p:cNvSpPr/>
          <p:nvPr/>
        </p:nvSpPr>
        <p:spPr>
          <a:xfrm>
            <a:off x="4606442"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上振れの条件</a:t>
            </a:r>
            <a:endParaRPr lang="en-US" sz="1150" dirty="0"/>
          </a:p>
        </p:txBody>
      </p:sp>
      <p:sp>
        <p:nvSpPr>
          <p:cNvPr id="14" name="Text 11"/>
          <p:cNvSpPr/>
          <p:nvPr/>
        </p:nvSpPr>
        <p:spPr>
          <a:xfrm>
            <a:off x="4606442"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調達をインポーター直に寄せた場合の水準。ただし回転12ヶ月で年間10億円の販売を要するため、現状は到達しない。上限の目安。</a:t>
            </a:r>
            <a:endParaRPr lang="en-US" sz="950" dirty="0"/>
          </a:p>
        </p:txBody>
      </p:sp>
      <p:sp>
        <p:nvSpPr>
          <p:cNvPr id="15" name="Shape 12"/>
          <p:cNvSpPr/>
          <p:nvPr/>
        </p:nvSpPr>
        <p:spPr>
          <a:xfrm>
            <a:off x="8079029" y="4535424"/>
            <a:ext cx="3454298" cy="1024128"/>
          </a:xfrm>
          <a:prstGeom prst="roundRect">
            <a:avLst>
              <a:gd name="adj" fmla="val 4018"/>
            </a:avLst>
          </a:prstGeom>
          <a:solidFill>
            <a:srgbClr val="171614"/>
          </a:solidFill>
          <a:ln w="9525">
            <a:solidFill>
              <a:srgbClr val="2E2A24"/>
            </a:solidFill>
            <a:prstDash val="solid"/>
          </a:ln>
        </p:spPr>
      </p:sp>
      <p:sp>
        <p:nvSpPr>
          <p:cNvPr id="16" name="Text 13"/>
          <p:cNvSpPr/>
          <p:nvPr/>
        </p:nvSpPr>
        <p:spPr>
          <a:xfrm>
            <a:off x="8316773" y="4681728"/>
            <a:ext cx="2978810"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下振れの限界</a:t>
            </a:r>
            <a:endParaRPr lang="en-US" sz="1150" dirty="0"/>
          </a:p>
        </p:txBody>
      </p:sp>
      <p:sp>
        <p:nvSpPr>
          <p:cNvPr id="17" name="Text 14"/>
          <p:cNvSpPr/>
          <p:nvPr/>
        </p:nvSpPr>
        <p:spPr>
          <a:xfrm>
            <a:off x="8316773" y="4956048"/>
            <a:ext cx="2978810" cy="493776"/>
          </a:xfrm>
          <a:prstGeom prst="rect">
            <a:avLst/>
          </a:prstGeom>
          <a:noFill/>
          <a:ln/>
        </p:spPr>
        <p:txBody>
          <a:bodyPr wrap="square" lIns="0" tIns="0" rIns="0" bIns="0" rtlCol="0" anchor="ctr"/>
          <a:lstStyle/>
          <a:p>
            <a:pPr indent="0" marL="0">
              <a:lnSpc>
                <a:spcPct val="120000"/>
              </a:lnSpc>
              <a:buNone/>
            </a:pPr>
            <a:r>
              <a:rPr lang="en-US" sz="950" dirty="0">
                <a:solidFill>
                  <a:srgbClr val="9A938A"/>
                </a:solidFill>
                <a:latin typeface="Yu Gothic" pitchFamily="34" charset="0"/>
                <a:ea typeface="Yu Gothic" pitchFamily="34" charset="-122"/>
                <a:cs typeface="Yu Gothic" pitchFamily="34" charset="-120"/>
              </a:rPr>
              <a:t>値引き5%と価格横ばいが重なった場合、20%の分岐点は回転15.9ヶ月。想定レンジの中に入るため最も厳しい防衛線となる。</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SENSITIVITY</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感応度：何が崩れると利回りがどう動くか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主線（在庫回転12ヶ月・エクイティ利回り42.0%）を基準とした、各変数の単独変動による影響。</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15</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58368" y="1645920"/>
          <a:ext cx="10874959" cy="914400"/>
        </p:xfrm>
        <a:graphic>
          <a:graphicData uri="http://schemas.openxmlformats.org/drawingml/2006/table">
            <a:tbl>
              <a:tblPr/>
              <a:tblGrid>
                <a:gridCol w="1792224"/>
                <a:gridCol w="2212848"/>
                <a:gridCol w="2359152"/>
                <a:gridCol w="877824"/>
                <a:gridCol w="363016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変動要因</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変動幅</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エクイティ利回りへの影響</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深刻度</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対応方針</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在庫回転期間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12ヶ月 → 18ヶ月</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42.0% → 29.8%（▲12.2pt）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B4553F"/>
                          </a:solidFill>
                          <a:latin typeface="Yu Gothic" pitchFamily="34" charset="0"/>
                          <a:ea typeface="Yu Gothic" pitchFamily="34" charset="-122"/>
                          <a:cs typeface="Yu Gothic" pitchFamily="34" charset="-120"/>
                        </a:rPr>
                        <a:t>最大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SPC在庫の優先売却・販売チャネルの多重化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0%（横ばい）</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34.1%（▲7.9pt）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回転期間を短縮し、価格差収益の比重を高める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売却価格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売値 ▲5%（70/80→66.5/76）</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35.0%（▲7.0pt）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大</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値引き販売を禁じ、価格維持を運用ルール化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稼働率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95% → 85%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B4553F"/>
                          </a:solidFill>
                          <a:latin typeface="Yu Gothic" pitchFamily="34" charset="0"/>
                          <a:ea typeface="Yu Gothic" pitchFamily="34" charset="-122"/>
                          <a:cs typeface="Yu Gothic" pitchFamily="34" charset="-120"/>
                        </a:rPr>
                        <a:t>42.0% → 37.4%（▲4.6pt）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中</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3年経過後の解約に備えた現金比率の設計と表裏</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ワイン価格上昇率</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年6% → 10%（会社資料水準）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42.0% → 47.3%（＋5.3pt）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Liv-ex連動銘柄の構成比を高める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調達構成</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定価比 50 → 45</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42.0% → 57.4%（＋15.4pt）</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ctr" indent="0" marL="0">
                        <a:buNone/>
                      </a:pPr>
                      <a:r>
                        <a:rPr lang="en-US" sz="1000" b="1" dirty="0">
                          <a:solidFill>
                            <a:srgbClr val="C9A96E"/>
                          </a:solidFill>
                          <a:latin typeface="Yu Gothic" pitchFamily="34" charset="0"/>
                          <a:ea typeface="Yu Gothic" pitchFamily="34" charset="-122"/>
                          <a:cs typeface="Yu Gothic" pitchFamily="34" charset="-120"/>
                        </a:rPr>
                        <a:t>上振れ</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インポーター直取引比率の引き上げが最大の改善策</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8" name="Shape 5"/>
          <p:cNvSpPr/>
          <p:nvPr/>
        </p:nvSpPr>
        <p:spPr>
          <a:xfrm>
            <a:off x="658368" y="4700016"/>
            <a:ext cx="10874959" cy="1005840"/>
          </a:xfrm>
          <a:prstGeom prst="roundRect">
            <a:avLst>
              <a:gd name="adj" fmla="val 4091"/>
            </a:avLst>
          </a:prstGeom>
          <a:solidFill>
            <a:srgbClr val="1F1D19"/>
          </a:solidFill>
          <a:ln w="9525">
            <a:solidFill>
              <a:srgbClr val="6E5730"/>
            </a:solidFill>
            <a:prstDash val="solid"/>
          </a:ln>
        </p:spPr>
      </p:sp>
      <p:sp>
        <p:nvSpPr>
          <p:cNvPr id="9" name="Text 6"/>
          <p:cNvSpPr/>
          <p:nvPr/>
        </p:nvSpPr>
        <p:spPr>
          <a:xfrm>
            <a:off x="932688" y="4809744"/>
            <a:ext cx="10326319" cy="786384"/>
          </a:xfrm>
          <a:prstGeom prst="rect">
            <a:avLst/>
          </a:prstGeom>
          <a:noFill/>
          <a:ln/>
        </p:spPr>
        <p:txBody>
          <a:bodyPr wrap="square" lIns="0" tIns="0" rIns="0" bIns="0" rtlCol="0" anchor="ctr"/>
          <a:lstStyle/>
          <a:p>
            <a:pPr indent="0" marL="0">
              <a:lnSpc>
                <a:spcPct val="124000"/>
              </a:lnSpc>
              <a:buNone/>
            </a:pPr>
            <a:r>
              <a:rPr lang="en-US" sz="1100" dirty="0">
                <a:solidFill>
                  <a:srgbClr val="EFEBE3"/>
                </a:solidFill>
                <a:latin typeface="Yu Gothic" pitchFamily="34" charset="0"/>
                <a:ea typeface="Yu Gothic" pitchFamily="34" charset="-122"/>
                <a:cs typeface="Yu Gothic" pitchFamily="34" charset="-120"/>
              </a:rPr>
              <a:t>結論：エクイティ利回りが20%を割り込むのは、回転が30ヶ月を超えた場合のみ（ニュートラル前提）で、想定レンジ9〜18ヶ月の外にある。ただし値引き5%と価格横ばいが同時に起きる複合的な下振れ（ネガティブ）では、回転15.9ヶ月が20%の分岐点となり想定レンジの中に入る。なお、インポーターの仕入価格が上昇する局面では希望小売価格も連動して上昇するため、定価比の構造は維持され、利回りへの影響は生じない。</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FAIR ALLOCATION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WineBank在庫との公平性をどう担保するか</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調達・保管・販売のすべてをWineBankが担うため配分に構造的な利益相反が生じる。SPC在庫の優先売却を第一原則とする。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16</a:t>
            </a:r>
            <a:endParaRPr lang="en-US" sz="950" dirty="0"/>
          </a:p>
        </p:txBody>
      </p:sp>
      <p:sp>
        <p:nvSpPr>
          <p:cNvPr id="7" name="Shape 5"/>
          <p:cNvSpPr/>
          <p:nvPr/>
        </p:nvSpPr>
        <p:spPr>
          <a:xfrm>
            <a:off x="658368" y="1645920"/>
            <a:ext cx="3454298" cy="2121408"/>
          </a:xfrm>
          <a:prstGeom prst="roundRect">
            <a:avLst>
              <a:gd name="adj" fmla="val 1940"/>
            </a:avLst>
          </a:prstGeom>
          <a:solidFill>
            <a:srgbClr val="1F1D19"/>
          </a:solidFill>
          <a:ln w="9525">
            <a:solidFill>
              <a:srgbClr val="6E5730"/>
            </a:solidFill>
            <a:prstDash val="solid"/>
          </a:ln>
        </p:spPr>
      </p:sp>
      <p:sp>
        <p:nvSpPr>
          <p:cNvPr id="8" name="Shape 6"/>
          <p:cNvSpPr/>
          <p:nvPr/>
        </p:nvSpPr>
        <p:spPr>
          <a:xfrm>
            <a:off x="896112" y="1847088"/>
            <a:ext cx="310896" cy="310896"/>
          </a:xfrm>
          <a:prstGeom prst="ellipse">
            <a:avLst/>
          </a:prstGeom>
          <a:solidFill>
            <a:srgbClr val="0C0C0C"/>
          </a:solidFill>
          <a:ln w="11430">
            <a:solidFill>
              <a:srgbClr val="A78450"/>
            </a:solidFill>
            <a:prstDash val="solid"/>
          </a:ln>
        </p:spPr>
      </p:sp>
      <p:sp>
        <p:nvSpPr>
          <p:cNvPr id="9" name="Text 7"/>
          <p:cNvSpPr/>
          <p:nvPr/>
        </p:nvSpPr>
        <p:spPr>
          <a:xfrm>
            <a:off x="896112"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10" name="Text 8"/>
          <p:cNvSpPr/>
          <p:nvPr/>
        </p:nvSpPr>
        <p:spPr>
          <a:xfrm>
            <a:off x="1298448" y="1865376"/>
            <a:ext cx="2576474" cy="274320"/>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SPC在庫の優先売却</a:t>
            </a:r>
            <a:endParaRPr lang="en-US" sz="1150" dirty="0"/>
          </a:p>
        </p:txBody>
      </p:sp>
      <p:sp>
        <p:nvSpPr>
          <p:cNvPr id="11" name="Text 9"/>
          <p:cNvSpPr/>
          <p:nvPr/>
        </p:nvSpPr>
        <p:spPr>
          <a:xfrm>
            <a:off x="896112"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同一銘柄が両者にある場合、当該SKUのSPC在庫が完売するまでWineBankは自己勘定在庫を売却しない。回転12ヶ月を実現するための運用方針であると同時に、配分の公平性を担保する第一の仕組みでもある。契約上の義務として明記する。</a:t>
            </a:r>
            <a:endParaRPr lang="en-US" sz="950" dirty="0"/>
          </a:p>
        </p:txBody>
      </p:sp>
      <p:sp>
        <p:nvSpPr>
          <p:cNvPr id="12" name="Shape 10"/>
          <p:cNvSpPr/>
          <p:nvPr/>
        </p:nvSpPr>
        <p:spPr>
          <a:xfrm>
            <a:off x="4368698" y="1645920"/>
            <a:ext cx="3454298" cy="2121408"/>
          </a:xfrm>
          <a:prstGeom prst="roundRect">
            <a:avLst>
              <a:gd name="adj" fmla="val 1940"/>
            </a:avLst>
          </a:prstGeom>
          <a:solidFill>
            <a:srgbClr val="171614"/>
          </a:solidFill>
          <a:ln w="9525">
            <a:solidFill>
              <a:srgbClr val="2E2A24"/>
            </a:solidFill>
            <a:prstDash val="solid"/>
          </a:ln>
        </p:spPr>
      </p:sp>
      <p:sp>
        <p:nvSpPr>
          <p:cNvPr id="13" name="Shape 11"/>
          <p:cNvSpPr/>
          <p:nvPr/>
        </p:nvSpPr>
        <p:spPr>
          <a:xfrm>
            <a:off x="4606442" y="1847088"/>
            <a:ext cx="310896" cy="310896"/>
          </a:xfrm>
          <a:prstGeom prst="ellipse">
            <a:avLst/>
          </a:prstGeom>
          <a:solidFill>
            <a:srgbClr val="0C0C0C"/>
          </a:solidFill>
          <a:ln w="11430">
            <a:solidFill>
              <a:srgbClr val="A78450"/>
            </a:solidFill>
            <a:prstDash val="solid"/>
          </a:ln>
        </p:spPr>
      </p:sp>
      <p:sp>
        <p:nvSpPr>
          <p:cNvPr id="14" name="Text 12"/>
          <p:cNvSpPr/>
          <p:nvPr/>
        </p:nvSpPr>
        <p:spPr>
          <a:xfrm>
            <a:off x="4606442"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5" name="Text 13"/>
          <p:cNvSpPr/>
          <p:nvPr/>
        </p:nvSpPr>
        <p:spPr>
          <a:xfrm>
            <a:off x="5008778" y="1865376"/>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銘柄排他の併用</a:t>
            </a:r>
            <a:endParaRPr lang="en-US" sz="1150" dirty="0"/>
          </a:p>
        </p:txBody>
      </p:sp>
      <p:sp>
        <p:nvSpPr>
          <p:cNvPr id="16" name="Text 14"/>
          <p:cNvSpPr/>
          <p:nvPr/>
        </p:nvSpPr>
        <p:spPr>
          <a:xfrm>
            <a:off x="4606442"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SKU（銘柄×ヴィンテージ×フォーマット）単位で、可能な限りSPC組入銘柄とWineBank自己勘定在庫を重複させない。買い手が銘柄を指名した時点で出所が一意に決まるため、配分の判断自体が発生しない。</a:t>
            </a:r>
            <a:endParaRPr lang="en-US" sz="950" dirty="0"/>
          </a:p>
        </p:txBody>
      </p:sp>
      <p:sp>
        <p:nvSpPr>
          <p:cNvPr id="17" name="Shape 15"/>
          <p:cNvSpPr/>
          <p:nvPr/>
        </p:nvSpPr>
        <p:spPr>
          <a:xfrm>
            <a:off x="8079029" y="1645920"/>
            <a:ext cx="3454298" cy="2121408"/>
          </a:xfrm>
          <a:prstGeom prst="roundRect">
            <a:avLst>
              <a:gd name="adj" fmla="val 1940"/>
            </a:avLst>
          </a:prstGeom>
          <a:solidFill>
            <a:srgbClr val="171614"/>
          </a:solidFill>
          <a:ln w="9525">
            <a:solidFill>
              <a:srgbClr val="2E2A24"/>
            </a:solidFill>
            <a:prstDash val="solid"/>
          </a:ln>
        </p:spPr>
      </p:sp>
      <p:sp>
        <p:nvSpPr>
          <p:cNvPr id="18" name="Shape 16"/>
          <p:cNvSpPr/>
          <p:nvPr/>
        </p:nvSpPr>
        <p:spPr>
          <a:xfrm>
            <a:off x="8316773" y="1847088"/>
            <a:ext cx="310896" cy="310896"/>
          </a:xfrm>
          <a:prstGeom prst="ellipse">
            <a:avLst/>
          </a:prstGeom>
          <a:solidFill>
            <a:srgbClr val="0C0C0C"/>
          </a:solidFill>
          <a:ln w="11430">
            <a:solidFill>
              <a:srgbClr val="A78450"/>
            </a:solidFill>
            <a:prstDash val="solid"/>
          </a:ln>
        </p:spPr>
      </p:sp>
      <p:sp>
        <p:nvSpPr>
          <p:cNvPr id="19" name="Text 17"/>
          <p:cNvSpPr/>
          <p:nvPr/>
        </p:nvSpPr>
        <p:spPr>
          <a:xfrm>
            <a:off x="8316773" y="1847088"/>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20" name="Text 18"/>
          <p:cNvSpPr/>
          <p:nvPr/>
        </p:nvSpPr>
        <p:spPr>
          <a:xfrm>
            <a:off x="8719109" y="1865376"/>
            <a:ext cx="2576474" cy="274320"/>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価格同一ルールと補填条項</a:t>
            </a:r>
            <a:endParaRPr lang="en-US" sz="1150" dirty="0"/>
          </a:p>
        </p:txBody>
      </p:sp>
      <p:sp>
        <p:nvSpPr>
          <p:cNvPr id="21" name="Text 19"/>
          <p:cNvSpPr/>
          <p:nvPr/>
        </p:nvSpPr>
        <p:spPr>
          <a:xfrm>
            <a:off x="8316773" y="2322576"/>
            <a:ext cx="2978810" cy="1335024"/>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同一SKU・同一四半期の実現単価は、SPCがWineBank自己勘定を下回らないものとする。下回った場合は差額×SPC数量をWineBankがSPCへ現金で補填する。運用が崩れても投資家が金額で守られる仕組みとする。</a:t>
            </a:r>
            <a:endParaRPr lang="en-US" sz="9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58368" y="3858768"/>
          <a:ext cx="10874959" cy="914400"/>
        </p:xfrm>
        <a:graphic>
          <a:graphicData uri="http://schemas.openxmlformats.org/drawingml/2006/table">
            <a:tbl>
              <a:tblPr/>
              <a:tblGrid>
                <a:gridCol w="2377440"/>
                <a:gridCol w="8494776"/>
              </a:tblGrid>
              <a:tr h="306324">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担保の手段</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取得時の按分</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同一SKUを複数ロット取得する場合は、SPCとWineBank自己勘定の在庫比率に応じて按分して割り当てる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配分台帳</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SKU別に、期首在庫・取得・売却・期末在庫をSPCとWineBank自己勘定の両建てで記録し、四半期ごとに投資家へ開示する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システムによる自動割当</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出庫指示はシステム側で自動割当とし、担当者が出所を選択できない設計とする。変更は理由の記録を必須とする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倉庫内の分別保管</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SPC名義の在庫は別ロケーション・別ラベルで管理し、現物の特定可能性を確保する。四半期ごとに第三者棚卸を実施する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06324">
                <a:tc>
                  <a:txBody>
                    <a:bodyPr/>
                    <a:lstStyle/>
                    <a:p>
                      <a:pPr algn="ctr" indent="0" marL="0">
                        <a:buNone/>
                      </a:pPr>
                      <a:r>
                        <a:rPr lang="en-US" sz="1000" dirty="0">
                          <a:solidFill>
                            <a:srgbClr val="EFEBE3"/>
                          </a:solidFill>
                          <a:latin typeface="Yu Gothic" pitchFamily="34" charset="0"/>
                          <a:ea typeface="Yu Gothic" pitchFamily="34" charset="-122"/>
                          <a:cs typeface="Yu Gothic" pitchFamily="34" charset="-120"/>
                        </a:rPr>
                        <a:t>独立第三者による検証</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1000" dirty="0">
                          <a:solidFill>
                            <a:srgbClr val="EFEBE3"/>
                          </a:solidFill>
                          <a:latin typeface="Yu Gothic" pitchFamily="34" charset="0"/>
                          <a:ea typeface="Yu Gothic" pitchFamily="34" charset="-122"/>
                          <a:cs typeface="Yu Gothic" pitchFamily="34" charset="-120"/>
                        </a:rPr>
                        <a:t>AUPの対象に配分ルールの遵守状況を含め、公認会計士による年次の検証を受ける</a:t>
                      </a:r>
                      <a:endParaRPr lang="en-US" sz="10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23" name="Text 20"/>
          <p:cNvSpPr/>
          <p:nvPr/>
        </p:nvSpPr>
        <p:spPr>
          <a:xfrm>
            <a:off x="658368" y="5870448"/>
            <a:ext cx="10874959" cy="310896"/>
          </a:xfrm>
          <a:prstGeom prst="rect">
            <a:avLst/>
          </a:prstGeom>
          <a:noFill/>
          <a:ln/>
        </p:spPr>
        <p:txBody>
          <a:bodyPr wrap="square" lIns="0" tIns="0" rIns="0" bIns="0" rtlCol="0" anchor="ctr"/>
          <a:lstStyle/>
          <a:p>
            <a:pPr indent="0" marL="0">
              <a:lnSpc>
                <a:spcPct val="120000"/>
              </a:lnSpc>
              <a:buNone/>
            </a:pPr>
            <a:r>
              <a:rPr lang="en-US" sz="850" dirty="0">
                <a:solidFill>
                  <a:srgbClr val="6E675E"/>
                </a:solidFill>
                <a:latin typeface="Yu Gothic" pitchFamily="34" charset="0"/>
                <a:ea typeface="Yu Gothic" pitchFamily="34" charset="-122"/>
                <a:cs typeface="Yu Gothic" pitchFamily="34" charset="-120"/>
              </a:rPr>
              <a:t>※ SPC在庫の優先売却は投資家保護のための譲歩であると同時に、回転12ヶ月という運用目標を達成するための手段でもある。WineBank自己勘定在庫の販売は後回しとなるが、ファンド期間中はこれを受け入れる。組成前に組入予定銘柄と自己勘定在庫の重複度を精査し、02の適用範囲を確定する。</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GOVERNANCE</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情報開示・報告と利益相反の管理</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運営者への依存度が高いスキームであるため、開示義務と利益相反管理を契約上で具体的に定める。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17</a:t>
            </a:r>
            <a:endParaRPr lang="en-US" sz="950" dirty="0"/>
          </a:p>
        </p:txBody>
      </p:sp>
      <p:sp>
        <p:nvSpPr>
          <p:cNvPr id="7" name="Shape 5"/>
          <p:cNvSpPr/>
          <p:nvPr/>
        </p:nvSpPr>
        <p:spPr>
          <a:xfrm>
            <a:off x="658368" y="1627632"/>
            <a:ext cx="5300320" cy="3163824"/>
          </a:xfrm>
          <a:prstGeom prst="roundRect">
            <a:avLst>
              <a:gd name="adj" fmla="val 1301"/>
            </a:avLst>
          </a:prstGeom>
          <a:solidFill>
            <a:srgbClr val="171614"/>
          </a:solidFill>
          <a:ln w="9525">
            <a:solidFill>
              <a:srgbClr val="2E2A24"/>
            </a:solidFill>
            <a:prstDash val="solid"/>
          </a:ln>
        </p:spPr>
      </p:sp>
      <p:sp>
        <p:nvSpPr>
          <p:cNvPr id="8" name="Text 6"/>
          <p:cNvSpPr/>
          <p:nvPr/>
        </p:nvSpPr>
        <p:spPr>
          <a:xfrm>
            <a:off x="91440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契約上の報告・開示義務</a:t>
            </a:r>
            <a:endParaRPr lang="en-US" sz="1250" dirty="0"/>
          </a:p>
        </p:txBody>
      </p:sp>
      <p:sp>
        <p:nvSpPr>
          <p:cNvPr id="9" name="Shape 7"/>
          <p:cNvSpPr/>
          <p:nvPr/>
        </p:nvSpPr>
        <p:spPr>
          <a:xfrm>
            <a:off x="932688" y="2199132"/>
            <a:ext cx="128016" cy="128016"/>
          </a:xfrm>
          <a:prstGeom prst="ellipse">
            <a:avLst/>
          </a:prstGeom>
          <a:solidFill>
            <a:srgbClr val="A78450"/>
          </a:solidFill>
          <a:ln w="11430">
            <a:solidFill>
              <a:srgbClr val="A78450"/>
            </a:solidFill>
            <a:prstDash val="solid"/>
          </a:ln>
        </p:spPr>
      </p:sp>
      <p:sp>
        <p:nvSpPr>
          <p:cNvPr id="10" name="Text 8"/>
          <p:cNvSpPr/>
          <p:nvPr/>
        </p:nvSpPr>
        <p:spPr>
          <a:xfrm>
            <a:off x="932688" y="2199132"/>
            <a:ext cx="128016" cy="128016"/>
          </a:xfrm>
          <a:prstGeom prst="rect">
            <a:avLst/>
          </a:prstGeom>
          <a:noFill/>
          <a:ln/>
        </p:spPr>
        <p:txBody>
          <a:bodyPr wrap="square" lIns="0" tIns="0" rIns="0" bIns="0" rtlCol="0" anchor="ctr"/>
          <a:lstStyle/>
          <a:p>
            <a:pPr algn="ctr" indent="0" marL="0">
              <a:buNone/>
            </a:pPr>
            <a:endParaRPr lang="en-US" sz="1100" dirty="0"/>
          </a:p>
        </p:txBody>
      </p:sp>
      <p:sp>
        <p:nvSpPr>
          <p:cNvPr id="11" name="Text 9"/>
          <p:cNvSpPr/>
          <p:nvPr/>
        </p:nvSpPr>
        <p:spPr>
          <a:xfrm>
            <a:off x="1152144" y="212140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四半期ごとの損益、資金収支および事業進捗</a:t>
            </a:r>
            <a:endParaRPr lang="en-US" sz="950" dirty="0"/>
          </a:p>
        </p:txBody>
      </p:sp>
      <p:sp>
        <p:nvSpPr>
          <p:cNvPr id="12" name="Shape 10"/>
          <p:cNvSpPr/>
          <p:nvPr/>
        </p:nvSpPr>
        <p:spPr>
          <a:xfrm>
            <a:off x="932688" y="2528316"/>
            <a:ext cx="128016" cy="128016"/>
          </a:xfrm>
          <a:prstGeom prst="ellipse">
            <a:avLst/>
          </a:prstGeom>
          <a:solidFill>
            <a:srgbClr val="A78450"/>
          </a:solidFill>
          <a:ln w="11430">
            <a:solidFill>
              <a:srgbClr val="A78450"/>
            </a:solidFill>
            <a:prstDash val="solid"/>
          </a:ln>
        </p:spPr>
      </p:sp>
      <p:sp>
        <p:nvSpPr>
          <p:cNvPr id="13" name="Text 11"/>
          <p:cNvSpPr/>
          <p:nvPr/>
        </p:nvSpPr>
        <p:spPr>
          <a:xfrm>
            <a:off x="932688" y="2528316"/>
            <a:ext cx="128016" cy="128016"/>
          </a:xfrm>
          <a:prstGeom prst="rect">
            <a:avLst/>
          </a:prstGeom>
          <a:noFill/>
          <a:ln/>
        </p:spPr>
        <p:txBody>
          <a:bodyPr wrap="square" lIns="0" tIns="0" rIns="0" bIns="0" rtlCol="0" anchor="ctr"/>
          <a:lstStyle/>
          <a:p>
            <a:pPr algn="ctr" indent="0" marL="0">
              <a:buNone/>
            </a:pPr>
            <a:endParaRPr lang="en-US" sz="1100" dirty="0"/>
          </a:p>
        </p:txBody>
      </p:sp>
      <p:sp>
        <p:nvSpPr>
          <p:cNvPr id="14" name="Text 12"/>
          <p:cNvSpPr/>
          <p:nvPr/>
        </p:nvSpPr>
        <p:spPr>
          <a:xfrm>
            <a:off x="1152144" y="245059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仕入数量・仕入単価・販売数量・販売単価・在庫数量</a:t>
            </a:r>
            <a:endParaRPr lang="en-US" sz="950" dirty="0"/>
          </a:p>
        </p:txBody>
      </p:sp>
      <p:sp>
        <p:nvSpPr>
          <p:cNvPr id="15" name="Shape 13"/>
          <p:cNvSpPr/>
          <p:nvPr/>
        </p:nvSpPr>
        <p:spPr>
          <a:xfrm>
            <a:off x="932688" y="2857500"/>
            <a:ext cx="128016" cy="128016"/>
          </a:xfrm>
          <a:prstGeom prst="ellipse">
            <a:avLst/>
          </a:prstGeom>
          <a:solidFill>
            <a:srgbClr val="A78450"/>
          </a:solidFill>
          <a:ln w="11430">
            <a:solidFill>
              <a:srgbClr val="A78450"/>
            </a:solidFill>
            <a:prstDash val="solid"/>
          </a:ln>
        </p:spPr>
      </p:sp>
      <p:sp>
        <p:nvSpPr>
          <p:cNvPr id="16" name="Text 14"/>
          <p:cNvSpPr/>
          <p:nvPr/>
        </p:nvSpPr>
        <p:spPr>
          <a:xfrm>
            <a:off x="932688" y="2857500"/>
            <a:ext cx="128016" cy="128016"/>
          </a:xfrm>
          <a:prstGeom prst="rect">
            <a:avLst/>
          </a:prstGeom>
          <a:noFill/>
          <a:ln/>
        </p:spPr>
        <p:txBody>
          <a:bodyPr wrap="square" lIns="0" tIns="0" rIns="0" bIns="0" rtlCol="0" anchor="ctr"/>
          <a:lstStyle/>
          <a:p>
            <a:pPr algn="ctr" indent="0" marL="0">
              <a:buNone/>
            </a:pPr>
            <a:endParaRPr lang="en-US" sz="1100" dirty="0"/>
          </a:p>
        </p:txBody>
      </p:sp>
      <p:sp>
        <p:nvSpPr>
          <p:cNvPr id="17" name="Text 15"/>
          <p:cNvSpPr/>
          <p:nvPr/>
        </p:nvSpPr>
        <p:spPr>
          <a:xfrm>
            <a:off x="1152144" y="2779776"/>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資金使途、銀行口座残高および主要な支払内容</a:t>
            </a:r>
            <a:endParaRPr lang="en-US" sz="950" dirty="0"/>
          </a:p>
        </p:txBody>
      </p:sp>
      <p:sp>
        <p:nvSpPr>
          <p:cNvPr id="18" name="Shape 16"/>
          <p:cNvSpPr/>
          <p:nvPr/>
        </p:nvSpPr>
        <p:spPr>
          <a:xfrm>
            <a:off x="932688" y="3186684"/>
            <a:ext cx="128016" cy="128016"/>
          </a:xfrm>
          <a:prstGeom prst="ellipse">
            <a:avLst/>
          </a:prstGeom>
          <a:solidFill>
            <a:srgbClr val="A78450"/>
          </a:solidFill>
          <a:ln w="11430">
            <a:solidFill>
              <a:srgbClr val="A78450"/>
            </a:solidFill>
            <a:prstDash val="solid"/>
          </a:ln>
        </p:spPr>
      </p:sp>
      <p:sp>
        <p:nvSpPr>
          <p:cNvPr id="19" name="Text 17"/>
          <p:cNvSpPr/>
          <p:nvPr/>
        </p:nvSpPr>
        <p:spPr>
          <a:xfrm>
            <a:off x="932688" y="3186684"/>
            <a:ext cx="128016" cy="128016"/>
          </a:xfrm>
          <a:prstGeom prst="rect">
            <a:avLst/>
          </a:prstGeom>
          <a:noFill/>
          <a:ln/>
        </p:spPr>
        <p:txBody>
          <a:bodyPr wrap="square" lIns="0" tIns="0" rIns="0" bIns="0" rtlCol="0" anchor="ctr"/>
          <a:lstStyle/>
          <a:p>
            <a:pPr algn="ctr" indent="0" marL="0">
              <a:buNone/>
            </a:pPr>
            <a:endParaRPr lang="en-US" sz="1100" dirty="0"/>
          </a:p>
        </p:txBody>
      </p:sp>
      <p:sp>
        <p:nvSpPr>
          <p:cNvPr id="20" name="Text 18"/>
          <p:cNvSpPr/>
          <p:nvPr/>
        </p:nvSpPr>
        <p:spPr>
          <a:xfrm>
            <a:off x="1152144" y="3108960"/>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関連当事者取引・利益相反取引の内容、金額、取引条件</a:t>
            </a:r>
            <a:endParaRPr lang="en-US" sz="950" dirty="0"/>
          </a:p>
        </p:txBody>
      </p:sp>
      <p:sp>
        <p:nvSpPr>
          <p:cNvPr id="21" name="Shape 19"/>
          <p:cNvSpPr/>
          <p:nvPr/>
        </p:nvSpPr>
        <p:spPr>
          <a:xfrm>
            <a:off x="932688" y="3515868"/>
            <a:ext cx="128016" cy="128016"/>
          </a:xfrm>
          <a:prstGeom prst="ellipse">
            <a:avLst/>
          </a:prstGeom>
          <a:solidFill>
            <a:srgbClr val="A78450"/>
          </a:solidFill>
          <a:ln w="11430">
            <a:solidFill>
              <a:srgbClr val="A78450"/>
            </a:solidFill>
            <a:prstDash val="solid"/>
          </a:ln>
        </p:spPr>
      </p:sp>
      <p:sp>
        <p:nvSpPr>
          <p:cNvPr id="22" name="Text 20"/>
          <p:cNvSpPr/>
          <p:nvPr/>
        </p:nvSpPr>
        <p:spPr>
          <a:xfrm>
            <a:off x="932688" y="3515868"/>
            <a:ext cx="128016" cy="128016"/>
          </a:xfrm>
          <a:prstGeom prst="rect">
            <a:avLst/>
          </a:prstGeom>
          <a:noFill/>
          <a:ln/>
        </p:spPr>
        <p:txBody>
          <a:bodyPr wrap="square" lIns="0" tIns="0" rIns="0" bIns="0" rtlCol="0" anchor="ctr"/>
          <a:lstStyle/>
          <a:p>
            <a:pPr algn="ctr" indent="0" marL="0">
              <a:buNone/>
            </a:pPr>
            <a:endParaRPr lang="en-US" sz="1100" dirty="0"/>
          </a:p>
        </p:txBody>
      </p:sp>
      <p:sp>
        <p:nvSpPr>
          <p:cNvPr id="23" name="Text 21"/>
          <p:cNvSpPr/>
          <p:nvPr/>
        </p:nvSpPr>
        <p:spPr>
          <a:xfrm>
            <a:off x="1152144" y="3438144"/>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一定金額以上の取引、借入れ、追加投資、契約変更の事前承認</a:t>
            </a:r>
            <a:endParaRPr lang="en-US" sz="950" dirty="0"/>
          </a:p>
        </p:txBody>
      </p:sp>
      <p:sp>
        <p:nvSpPr>
          <p:cNvPr id="24" name="Shape 22"/>
          <p:cNvSpPr/>
          <p:nvPr/>
        </p:nvSpPr>
        <p:spPr>
          <a:xfrm>
            <a:off x="932688" y="3845052"/>
            <a:ext cx="128016" cy="128016"/>
          </a:xfrm>
          <a:prstGeom prst="ellipse">
            <a:avLst/>
          </a:prstGeom>
          <a:solidFill>
            <a:srgbClr val="A78450"/>
          </a:solidFill>
          <a:ln w="11430">
            <a:solidFill>
              <a:srgbClr val="A78450"/>
            </a:solidFill>
            <a:prstDash val="solid"/>
          </a:ln>
        </p:spPr>
      </p:sp>
      <p:sp>
        <p:nvSpPr>
          <p:cNvPr id="25" name="Text 23"/>
          <p:cNvSpPr/>
          <p:nvPr/>
        </p:nvSpPr>
        <p:spPr>
          <a:xfrm>
            <a:off x="932688" y="3845052"/>
            <a:ext cx="128016" cy="128016"/>
          </a:xfrm>
          <a:prstGeom prst="rect">
            <a:avLst/>
          </a:prstGeom>
          <a:noFill/>
          <a:ln/>
        </p:spPr>
        <p:txBody>
          <a:bodyPr wrap="square" lIns="0" tIns="0" rIns="0" bIns="0" rtlCol="0" anchor="ctr"/>
          <a:lstStyle/>
          <a:p>
            <a:pPr algn="ctr" indent="0" marL="0">
              <a:buNone/>
            </a:pPr>
            <a:endParaRPr lang="en-US" sz="1100" dirty="0"/>
          </a:p>
        </p:txBody>
      </p:sp>
      <p:sp>
        <p:nvSpPr>
          <p:cNvPr id="26" name="Text 24"/>
          <p:cNvSpPr/>
          <p:nvPr/>
        </p:nvSpPr>
        <p:spPr>
          <a:xfrm>
            <a:off x="1152144" y="3767328"/>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会計帳簿・請求書・契約書・銀行取引記録の閲覧および調査権</a:t>
            </a:r>
            <a:endParaRPr lang="en-US" sz="950" dirty="0"/>
          </a:p>
        </p:txBody>
      </p:sp>
      <p:sp>
        <p:nvSpPr>
          <p:cNvPr id="27" name="Shape 25"/>
          <p:cNvSpPr/>
          <p:nvPr/>
        </p:nvSpPr>
        <p:spPr>
          <a:xfrm>
            <a:off x="932688" y="4174236"/>
            <a:ext cx="128016" cy="128016"/>
          </a:xfrm>
          <a:prstGeom prst="ellipse">
            <a:avLst/>
          </a:prstGeom>
          <a:solidFill>
            <a:srgbClr val="A78450"/>
          </a:solidFill>
          <a:ln w="11430">
            <a:solidFill>
              <a:srgbClr val="A78450"/>
            </a:solidFill>
            <a:prstDash val="solid"/>
          </a:ln>
        </p:spPr>
      </p:sp>
      <p:sp>
        <p:nvSpPr>
          <p:cNvPr id="28" name="Text 26"/>
          <p:cNvSpPr/>
          <p:nvPr/>
        </p:nvSpPr>
        <p:spPr>
          <a:xfrm>
            <a:off x="932688" y="4174236"/>
            <a:ext cx="128016" cy="128016"/>
          </a:xfrm>
          <a:prstGeom prst="rect">
            <a:avLst/>
          </a:prstGeom>
          <a:noFill/>
          <a:ln/>
        </p:spPr>
        <p:txBody>
          <a:bodyPr wrap="square" lIns="0" tIns="0" rIns="0" bIns="0" rtlCol="0" anchor="ctr"/>
          <a:lstStyle/>
          <a:p>
            <a:pPr algn="ctr" indent="0" marL="0">
              <a:buNone/>
            </a:pPr>
            <a:endParaRPr lang="en-US" sz="1100" dirty="0"/>
          </a:p>
        </p:txBody>
      </p:sp>
      <p:sp>
        <p:nvSpPr>
          <p:cNvPr id="29" name="Text 27"/>
          <p:cNvSpPr/>
          <p:nvPr/>
        </p:nvSpPr>
        <p:spPr>
          <a:xfrm>
            <a:off x="1152144" y="4096512"/>
            <a:ext cx="4532224" cy="292608"/>
          </a:xfrm>
          <a:prstGeom prst="rect">
            <a:avLst/>
          </a:prstGeom>
          <a:noFill/>
          <a:ln/>
        </p:spPr>
        <p:txBody>
          <a:bodyPr wrap="square" lIns="0" tIns="0" rIns="0" bIns="0" rtlCol="0" anchor="ctr"/>
          <a:lstStyle/>
          <a:p>
            <a:pPr indent="0" marL="0">
              <a:lnSpc>
                <a:spcPct val="115000"/>
              </a:lnSpc>
              <a:buNone/>
            </a:pPr>
            <a:r>
              <a:rPr lang="en-US" sz="950" dirty="0">
                <a:solidFill>
                  <a:srgbClr val="9A938A"/>
                </a:solidFill>
                <a:latin typeface="Yu Gothic" pitchFamily="34" charset="0"/>
                <a:ea typeface="Yu Gothic" pitchFamily="34" charset="-122"/>
                <a:cs typeface="Yu Gothic" pitchFamily="34" charset="-120"/>
              </a:rPr>
              <a:t>重大な計画変更、損失発生、不正または法令違反時の速やかな報告</a:t>
            </a:r>
            <a:endParaRPr lang="en-US" sz="950" dirty="0"/>
          </a:p>
        </p:txBody>
      </p:sp>
      <p:sp>
        <p:nvSpPr>
          <p:cNvPr id="30" name="Shape 28"/>
          <p:cNvSpPr/>
          <p:nvPr/>
        </p:nvSpPr>
        <p:spPr>
          <a:xfrm>
            <a:off x="6233008" y="1627632"/>
            <a:ext cx="5300320" cy="3163824"/>
          </a:xfrm>
          <a:prstGeom prst="roundRect">
            <a:avLst>
              <a:gd name="adj" fmla="val 1301"/>
            </a:avLst>
          </a:prstGeom>
          <a:solidFill>
            <a:srgbClr val="1F1D19"/>
          </a:solidFill>
          <a:ln w="9525">
            <a:solidFill>
              <a:srgbClr val="6E5730"/>
            </a:solidFill>
            <a:prstDash val="solid"/>
          </a:ln>
        </p:spPr>
      </p:sp>
      <p:sp>
        <p:nvSpPr>
          <p:cNvPr id="31" name="Text 29"/>
          <p:cNvSpPr/>
          <p:nvPr/>
        </p:nvSpPr>
        <p:spPr>
          <a:xfrm>
            <a:off x="6489040" y="1792224"/>
            <a:ext cx="4788256"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利益相反の管理</a:t>
            </a:r>
            <a:endParaRPr lang="en-US" sz="1250" dirty="0"/>
          </a:p>
        </p:txBody>
      </p:sp>
      <p:sp>
        <p:nvSpPr>
          <p:cNvPr id="32" name="Text 30"/>
          <p:cNvSpPr/>
          <p:nvPr/>
        </p:nvSpPr>
        <p:spPr>
          <a:xfrm>
            <a:off x="6489040" y="2157984"/>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独立企業間価格の原則</a:t>
            </a:r>
            <a:endParaRPr lang="en-US" sz="1050" dirty="0"/>
          </a:p>
        </p:txBody>
      </p:sp>
      <p:sp>
        <p:nvSpPr>
          <p:cNvPr id="33" name="Text 31"/>
          <p:cNvSpPr/>
          <p:nvPr/>
        </p:nvSpPr>
        <p:spPr>
          <a:xfrm>
            <a:off x="6489040" y="2377440"/>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運営者およびその関係会社との取引は、第三者との取引条件と同等の条件によるものとする。</a:t>
            </a:r>
            <a:endParaRPr lang="en-US" sz="900" dirty="0"/>
          </a:p>
        </p:txBody>
      </p:sp>
      <p:sp>
        <p:nvSpPr>
          <p:cNvPr id="34" name="Text 32"/>
          <p:cNvSpPr/>
          <p:nvPr/>
        </p:nvSpPr>
        <p:spPr>
          <a:xfrm>
            <a:off x="6489040" y="2816352"/>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価格根拠の文書化</a:t>
            </a:r>
            <a:endParaRPr lang="en-US" sz="1050" dirty="0"/>
          </a:p>
        </p:txBody>
      </p:sp>
      <p:sp>
        <p:nvSpPr>
          <p:cNvPr id="35" name="Text 33"/>
          <p:cNvSpPr/>
          <p:nvPr/>
        </p:nvSpPr>
        <p:spPr>
          <a:xfrm>
            <a:off x="6489040" y="3035808"/>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現物譲渡の1%を含め、価格および条件の合理性を客観的資料により説明できる状態を維持する。</a:t>
            </a:r>
            <a:endParaRPr lang="en-US" sz="900" dirty="0"/>
          </a:p>
        </p:txBody>
      </p:sp>
      <p:sp>
        <p:nvSpPr>
          <p:cNvPr id="36" name="Text 34"/>
          <p:cNvSpPr/>
          <p:nvPr/>
        </p:nvSpPr>
        <p:spPr>
          <a:xfrm>
            <a:off x="6489040" y="3474720"/>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重要な関連当事者取引の事前承認</a:t>
            </a:r>
            <a:endParaRPr lang="en-US" sz="1050" dirty="0"/>
          </a:p>
        </p:txBody>
      </p:sp>
      <p:sp>
        <p:nvSpPr>
          <p:cNvPr id="37" name="Text 35"/>
          <p:cNvSpPr/>
          <p:nvPr/>
        </p:nvSpPr>
        <p:spPr>
          <a:xfrm>
            <a:off x="6489040" y="3694176"/>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一定金額以上の取引については、投資家または独立した第三者の事前承認を要する。</a:t>
            </a:r>
            <a:endParaRPr lang="en-US" sz="900" dirty="0"/>
          </a:p>
        </p:txBody>
      </p:sp>
      <p:sp>
        <p:nvSpPr>
          <p:cNvPr id="38" name="Text 36"/>
          <p:cNvSpPr/>
          <p:nvPr/>
        </p:nvSpPr>
        <p:spPr>
          <a:xfrm>
            <a:off x="6489040" y="4133088"/>
            <a:ext cx="4788256"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在庫配分ルールの遵守</a:t>
            </a:r>
            <a:endParaRPr lang="en-US" sz="1050" dirty="0"/>
          </a:p>
        </p:txBody>
      </p:sp>
      <p:sp>
        <p:nvSpPr>
          <p:cNvPr id="39" name="Text 37"/>
          <p:cNvSpPr/>
          <p:nvPr/>
        </p:nvSpPr>
        <p:spPr>
          <a:xfrm>
            <a:off x="6489040" y="4352544"/>
            <a:ext cx="4788256" cy="384048"/>
          </a:xfrm>
          <a:prstGeom prst="rect">
            <a:avLst/>
          </a:prstGeom>
          <a:noFill/>
          <a:ln/>
        </p:spPr>
        <p:txBody>
          <a:bodyPr wrap="square" lIns="0" tIns="0" rIns="0" bIns="0" rtlCol="0" anchor="ctr"/>
          <a:lstStyle/>
          <a:p>
            <a:pPr indent="0" marL="0">
              <a:lnSpc>
                <a:spcPct val="120000"/>
              </a:lnSpc>
              <a:buNone/>
            </a:pPr>
            <a:r>
              <a:rPr lang="en-US" sz="900" dirty="0">
                <a:solidFill>
                  <a:srgbClr val="9A938A"/>
                </a:solidFill>
                <a:latin typeface="Yu Gothic" pitchFamily="34" charset="0"/>
                <a:ea typeface="Yu Gothic" pitchFamily="34" charset="-122"/>
                <a:cs typeface="Yu Gothic" pitchFamily="34" charset="-120"/>
              </a:rPr>
              <a:t>前頁の配分方針を契約別紙として明文化し、逸脱時の是正・補填手続を定める。</a:t>
            </a:r>
            <a:endParaRPr lang="en-US" sz="900" dirty="0"/>
          </a:p>
        </p:txBody>
      </p:sp>
      <p:sp>
        <p:nvSpPr>
          <p:cNvPr id="40" name="Shape 38"/>
          <p:cNvSpPr/>
          <p:nvPr/>
        </p:nvSpPr>
        <p:spPr>
          <a:xfrm>
            <a:off x="658368" y="4974336"/>
            <a:ext cx="3454298" cy="1133856"/>
          </a:xfrm>
          <a:prstGeom prst="roundRect">
            <a:avLst>
              <a:gd name="adj" fmla="val 3629"/>
            </a:avLst>
          </a:prstGeom>
          <a:solidFill>
            <a:srgbClr val="171614"/>
          </a:solidFill>
          <a:ln w="9525">
            <a:solidFill>
              <a:srgbClr val="2E2A24"/>
            </a:solidFill>
            <a:prstDash val="solid"/>
          </a:ln>
        </p:spPr>
      </p:sp>
      <p:sp>
        <p:nvSpPr>
          <p:cNvPr id="41" name="Text 39"/>
          <p:cNvSpPr/>
          <p:nvPr/>
        </p:nvSpPr>
        <p:spPr>
          <a:xfrm>
            <a:off x="89611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ファンド形態</a:t>
            </a:r>
            <a:endParaRPr lang="en-US" sz="950" dirty="0"/>
          </a:p>
        </p:txBody>
      </p:sp>
      <p:sp>
        <p:nvSpPr>
          <p:cNvPr id="42" name="Text 40"/>
          <p:cNvSpPr/>
          <p:nvPr/>
        </p:nvSpPr>
        <p:spPr>
          <a:xfrm>
            <a:off x="89611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適格機関投資家等特例業務</a:t>
            </a:r>
            <a:endParaRPr lang="en-US" sz="1200" dirty="0"/>
          </a:p>
        </p:txBody>
      </p:sp>
      <p:sp>
        <p:nvSpPr>
          <p:cNvPr id="43" name="Text 41"/>
          <p:cNvSpPr/>
          <p:nvPr/>
        </p:nvSpPr>
        <p:spPr>
          <a:xfrm>
            <a:off x="89611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第1号ファンド（合同会社WineBank P1）で届出の実績がある。適格機関投資家1名以上の確保を組成条件とする。</a:t>
            </a:r>
            <a:endParaRPr lang="en-US" sz="850" dirty="0"/>
          </a:p>
        </p:txBody>
      </p:sp>
      <p:sp>
        <p:nvSpPr>
          <p:cNvPr id="44" name="Shape 42"/>
          <p:cNvSpPr/>
          <p:nvPr/>
        </p:nvSpPr>
        <p:spPr>
          <a:xfrm>
            <a:off x="4368698" y="4974336"/>
            <a:ext cx="3454298" cy="1133856"/>
          </a:xfrm>
          <a:prstGeom prst="roundRect">
            <a:avLst>
              <a:gd name="adj" fmla="val 3629"/>
            </a:avLst>
          </a:prstGeom>
          <a:solidFill>
            <a:srgbClr val="171614"/>
          </a:solidFill>
          <a:ln w="9525">
            <a:solidFill>
              <a:srgbClr val="2E2A24"/>
            </a:solidFill>
            <a:prstDash val="solid"/>
          </a:ln>
        </p:spPr>
      </p:sp>
      <p:sp>
        <p:nvSpPr>
          <p:cNvPr id="45" name="Text 43"/>
          <p:cNvSpPr/>
          <p:nvPr/>
        </p:nvSpPr>
        <p:spPr>
          <a:xfrm>
            <a:off x="4606442"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外部検証</a:t>
            </a:r>
            <a:endParaRPr lang="en-US" sz="950" dirty="0"/>
          </a:p>
        </p:txBody>
      </p:sp>
      <p:sp>
        <p:nvSpPr>
          <p:cNvPr id="46" name="Text 44"/>
          <p:cNvSpPr/>
          <p:nvPr/>
        </p:nvSpPr>
        <p:spPr>
          <a:xfrm>
            <a:off x="4606442"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AUP（合意された手続）</a:t>
            </a:r>
            <a:endParaRPr lang="en-US" sz="1200" dirty="0"/>
          </a:p>
        </p:txBody>
      </p:sp>
      <p:sp>
        <p:nvSpPr>
          <p:cNvPr id="47" name="Text 45"/>
          <p:cNvSpPr/>
          <p:nvPr/>
        </p:nvSpPr>
        <p:spPr>
          <a:xfrm>
            <a:off x="4606442"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財務諸表監査ではなく、目的を限定した合意された手続を採用。年50万円をSPC費用に計上済み。将来的な監査への移行も可能とする。</a:t>
            </a:r>
            <a:endParaRPr lang="en-US" sz="850" dirty="0"/>
          </a:p>
        </p:txBody>
      </p:sp>
      <p:sp>
        <p:nvSpPr>
          <p:cNvPr id="48" name="Shape 46"/>
          <p:cNvSpPr/>
          <p:nvPr/>
        </p:nvSpPr>
        <p:spPr>
          <a:xfrm>
            <a:off x="8079029" y="4974336"/>
            <a:ext cx="3454298" cy="1133856"/>
          </a:xfrm>
          <a:prstGeom prst="roundRect">
            <a:avLst>
              <a:gd name="adj" fmla="val 3629"/>
            </a:avLst>
          </a:prstGeom>
          <a:solidFill>
            <a:srgbClr val="171614"/>
          </a:solidFill>
          <a:ln w="9525">
            <a:solidFill>
              <a:srgbClr val="2E2A24"/>
            </a:solidFill>
            <a:prstDash val="solid"/>
          </a:ln>
        </p:spPr>
      </p:sp>
      <p:sp>
        <p:nvSpPr>
          <p:cNvPr id="49" name="Text 47"/>
          <p:cNvSpPr/>
          <p:nvPr/>
        </p:nvSpPr>
        <p:spPr>
          <a:xfrm>
            <a:off x="8316773" y="5084064"/>
            <a:ext cx="2978810" cy="201168"/>
          </a:xfrm>
          <a:prstGeom prst="rect">
            <a:avLst/>
          </a:prstGeom>
          <a:noFill/>
          <a:ln/>
        </p:spPr>
        <p:txBody>
          <a:bodyPr wrap="square" lIns="0" tIns="0" rIns="0" bIns="0" rtlCol="0" anchor="ctr"/>
          <a:lstStyle/>
          <a:p>
            <a:pPr indent="0" marL="0">
              <a:buNone/>
            </a:pPr>
            <a:r>
              <a:rPr lang="en-US" sz="950" dirty="0">
                <a:solidFill>
                  <a:srgbClr val="9A938A"/>
                </a:solidFill>
                <a:latin typeface="Yu Gothic" pitchFamily="34" charset="0"/>
                <a:ea typeface="Yu Gothic" pitchFamily="34" charset="-122"/>
                <a:cs typeface="Yu Gothic" pitchFamily="34" charset="-120"/>
              </a:rPr>
              <a:t>報告頻度</a:t>
            </a:r>
            <a:endParaRPr lang="en-US" sz="950" dirty="0"/>
          </a:p>
        </p:txBody>
      </p:sp>
      <p:sp>
        <p:nvSpPr>
          <p:cNvPr id="50" name="Text 48"/>
          <p:cNvSpPr/>
          <p:nvPr/>
        </p:nvSpPr>
        <p:spPr>
          <a:xfrm>
            <a:off x="8316773" y="5285232"/>
            <a:ext cx="2978810" cy="256032"/>
          </a:xfrm>
          <a:prstGeom prst="rect">
            <a:avLst/>
          </a:prstGeom>
          <a:noFill/>
          <a:ln/>
        </p:spPr>
        <p:txBody>
          <a:bodyPr wrap="square" lIns="0" tIns="0" rIns="0" bIns="0" rtlCol="0" anchor="ctr"/>
          <a:lstStyle/>
          <a:p>
            <a:pPr indent="0" marL="0">
              <a:buNone/>
            </a:pPr>
            <a:r>
              <a:rPr lang="en-US" sz="1200" b="1" dirty="0">
                <a:solidFill>
                  <a:srgbClr val="C9A96E"/>
                </a:solidFill>
                <a:latin typeface="Yu Gothic" pitchFamily="34" charset="0"/>
                <a:ea typeface="Yu Gothic" pitchFamily="34" charset="-122"/>
                <a:cs typeface="Yu Gothic" pitchFamily="34" charset="-120"/>
              </a:rPr>
              <a:t>四半期</a:t>
            </a:r>
            <a:endParaRPr lang="en-US" sz="1200" dirty="0"/>
          </a:p>
        </p:txBody>
      </p:sp>
      <p:sp>
        <p:nvSpPr>
          <p:cNvPr id="51" name="Text 49"/>
          <p:cNvSpPr/>
          <p:nvPr/>
        </p:nvSpPr>
        <p:spPr>
          <a:xfrm>
            <a:off x="8316773" y="5559552"/>
            <a:ext cx="2978810" cy="493776"/>
          </a:xfrm>
          <a:prstGeom prst="rect">
            <a:avLst/>
          </a:prstGeom>
          <a:noFill/>
          <a:ln/>
        </p:spPr>
        <p:txBody>
          <a:bodyPr wrap="square" lIns="0" tIns="0" rIns="0" bIns="0" rtlCol="0" anchor="ctr"/>
          <a:lstStyle/>
          <a:p>
            <a:pPr indent="0" marL="0">
              <a:lnSpc>
                <a:spcPct val="118000"/>
              </a:lnSpc>
              <a:buNone/>
            </a:pPr>
            <a:r>
              <a:rPr lang="en-US" sz="850" dirty="0">
                <a:solidFill>
                  <a:srgbClr val="9A938A"/>
                </a:solidFill>
                <a:latin typeface="Yu Gothic" pitchFamily="34" charset="0"/>
                <a:ea typeface="Yu Gothic" pitchFamily="34" charset="-122"/>
                <a:cs typeface="Yu Gothic" pitchFamily="34" charset="-120"/>
              </a:rPr>
              <a:t>在庫明細・簿価・売上・試算表を四半期ごとに開示。年次で決算を報告する。</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RISK</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想定されるリスクと対応策</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18</a:t>
            </a:r>
            <a:endParaRPr lang="en-US" sz="950" dirty="0"/>
          </a:p>
        </p:txBody>
      </p:sp>
      <p:sp>
        <p:nvSpPr>
          <p:cNvPr id="6" name="Shape 4"/>
          <p:cNvSpPr/>
          <p:nvPr/>
        </p:nvSpPr>
        <p:spPr>
          <a:xfrm>
            <a:off x="658368" y="1554480"/>
            <a:ext cx="2526716" cy="1920240"/>
          </a:xfrm>
          <a:prstGeom prst="roundRect">
            <a:avLst>
              <a:gd name="adj" fmla="val 2143"/>
            </a:avLst>
          </a:prstGeom>
          <a:solidFill>
            <a:srgbClr val="171614"/>
          </a:solidFill>
          <a:ln w="9525">
            <a:solidFill>
              <a:srgbClr val="2E2A24"/>
            </a:solidFill>
            <a:prstDash val="solid"/>
          </a:ln>
        </p:spPr>
      </p:sp>
      <p:sp>
        <p:nvSpPr>
          <p:cNvPr id="7" name="Text 5"/>
          <p:cNvSpPr/>
          <p:nvPr/>
        </p:nvSpPr>
        <p:spPr>
          <a:xfrm>
            <a:off x="896112"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在庫リスク</a:t>
            </a:r>
            <a:endParaRPr lang="en-US" sz="1200" dirty="0"/>
          </a:p>
        </p:txBody>
      </p:sp>
      <p:sp>
        <p:nvSpPr>
          <p:cNvPr id="8" name="Text 6"/>
          <p:cNvSpPr/>
          <p:nvPr/>
        </p:nvSpPr>
        <p:spPr>
          <a:xfrm>
            <a:off x="896112"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想定価格で売り切れず滞留する</a:t>
            </a:r>
            <a:endParaRPr lang="en-US" sz="950" dirty="0"/>
          </a:p>
        </p:txBody>
      </p:sp>
      <p:sp>
        <p:nvSpPr>
          <p:cNvPr id="9" name="Text 7"/>
          <p:cNvSpPr/>
          <p:nvPr/>
        </p:nvSpPr>
        <p:spPr>
          <a:xfrm>
            <a:off x="896112"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銘柄をLiv-ex掲載の流通量の多い銘柄に限定。四半期ごとに滞留在庫を洗い出し、簿価見直しを実施。滞留は値上がりを取る期間でもある。</a:t>
            </a:r>
            <a:endParaRPr lang="en-US" sz="950" dirty="0"/>
          </a:p>
        </p:txBody>
      </p:sp>
      <p:sp>
        <p:nvSpPr>
          <p:cNvPr id="10" name="Shape 8"/>
          <p:cNvSpPr/>
          <p:nvPr/>
        </p:nvSpPr>
        <p:spPr>
          <a:xfrm>
            <a:off x="3441116" y="1554480"/>
            <a:ext cx="2526716" cy="1920240"/>
          </a:xfrm>
          <a:prstGeom prst="roundRect">
            <a:avLst>
              <a:gd name="adj" fmla="val 2143"/>
            </a:avLst>
          </a:prstGeom>
          <a:solidFill>
            <a:srgbClr val="171614"/>
          </a:solidFill>
          <a:ln w="9525">
            <a:solidFill>
              <a:srgbClr val="2E2A24"/>
            </a:solidFill>
            <a:prstDash val="solid"/>
          </a:ln>
        </p:spPr>
      </p:sp>
      <p:sp>
        <p:nvSpPr>
          <p:cNvPr id="11" name="Text 9"/>
          <p:cNvSpPr/>
          <p:nvPr/>
        </p:nvSpPr>
        <p:spPr>
          <a:xfrm>
            <a:off x="3678860"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価格変動リスク</a:t>
            </a:r>
            <a:endParaRPr lang="en-US" sz="1200" dirty="0"/>
          </a:p>
        </p:txBody>
      </p:sp>
      <p:sp>
        <p:nvSpPr>
          <p:cNvPr id="12" name="Text 10"/>
          <p:cNvSpPr/>
          <p:nvPr/>
        </p:nvSpPr>
        <p:spPr>
          <a:xfrm>
            <a:off x="3678860"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Fine Wine市況の下落・停滞</a:t>
            </a:r>
            <a:endParaRPr lang="en-US" sz="950" dirty="0"/>
          </a:p>
        </p:txBody>
      </p:sp>
      <p:sp>
        <p:nvSpPr>
          <p:cNvPr id="13" name="Text 11"/>
          <p:cNvSpPr/>
          <p:nvPr/>
        </p:nvSpPr>
        <p:spPr>
          <a:xfrm>
            <a:off x="3678860"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主線は年6%上昇を織り込むが、横ばい（0%）でも定常年間利回り17.1%を確保できる。会社資料の年率10%に対し保守的な前提。</a:t>
            </a:r>
            <a:endParaRPr lang="en-US" sz="950" dirty="0"/>
          </a:p>
        </p:txBody>
      </p:sp>
      <p:sp>
        <p:nvSpPr>
          <p:cNvPr id="14" name="Shape 12"/>
          <p:cNvSpPr/>
          <p:nvPr/>
        </p:nvSpPr>
        <p:spPr>
          <a:xfrm>
            <a:off x="6223864" y="1554480"/>
            <a:ext cx="2526716" cy="1920240"/>
          </a:xfrm>
          <a:prstGeom prst="roundRect">
            <a:avLst>
              <a:gd name="adj" fmla="val 2143"/>
            </a:avLst>
          </a:prstGeom>
          <a:solidFill>
            <a:srgbClr val="171614"/>
          </a:solidFill>
          <a:ln w="9525">
            <a:solidFill>
              <a:srgbClr val="2E2A24"/>
            </a:solidFill>
            <a:prstDash val="solid"/>
          </a:ln>
        </p:spPr>
      </p:sp>
      <p:sp>
        <p:nvSpPr>
          <p:cNvPr id="15" name="Text 13"/>
          <p:cNvSpPr/>
          <p:nvPr/>
        </p:nvSpPr>
        <p:spPr>
          <a:xfrm>
            <a:off x="6461608"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流動性リスク</a:t>
            </a:r>
            <a:endParaRPr lang="en-US" sz="1200" dirty="0"/>
          </a:p>
        </p:txBody>
      </p:sp>
      <p:sp>
        <p:nvSpPr>
          <p:cNvPr id="16" name="Text 14"/>
          <p:cNvSpPr/>
          <p:nvPr/>
        </p:nvSpPr>
        <p:spPr>
          <a:xfrm>
            <a:off x="6461608"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現物のため即時換金できない</a:t>
            </a:r>
            <a:endParaRPr lang="en-US" sz="950" dirty="0"/>
          </a:p>
        </p:txBody>
      </p:sp>
      <p:sp>
        <p:nvSpPr>
          <p:cNvPr id="17" name="Text 15"/>
          <p:cNvSpPr/>
          <p:nvPr/>
        </p:nvSpPr>
        <p:spPr>
          <a:xfrm>
            <a:off x="6461608"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当初3年間はロックアップ。4年目以降は年度ごとの解約日に対応し、解約枠に応じて現金比率を引き上げる。</a:t>
            </a:r>
            <a:endParaRPr lang="en-US" sz="950" dirty="0"/>
          </a:p>
        </p:txBody>
      </p:sp>
      <p:sp>
        <p:nvSpPr>
          <p:cNvPr id="18" name="Shape 16"/>
          <p:cNvSpPr/>
          <p:nvPr/>
        </p:nvSpPr>
        <p:spPr>
          <a:xfrm>
            <a:off x="9006611" y="1554480"/>
            <a:ext cx="2526716" cy="1920240"/>
          </a:xfrm>
          <a:prstGeom prst="roundRect">
            <a:avLst>
              <a:gd name="adj" fmla="val 2143"/>
            </a:avLst>
          </a:prstGeom>
          <a:solidFill>
            <a:srgbClr val="171614"/>
          </a:solidFill>
          <a:ln w="9525">
            <a:solidFill>
              <a:srgbClr val="2E2A24"/>
            </a:solidFill>
            <a:prstDash val="solid"/>
          </a:ln>
        </p:spPr>
      </p:sp>
      <p:sp>
        <p:nvSpPr>
          <p:cNvPr id="19" name="Text 17"/>
          <p:cNvSpPr/>
          <p:nvPr/>
        </p:nvSpPr>
        <p:spPr>
          <a:xfrm>
            <a:off x="9244355" y="1755648"/>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調達リスク</a:t>
            </a:r>
            <a:endParaRPr lang="en-US" sz="1200" dirty="0"/>
          </a:p>
        </p:txBody>
      </p:sp>
      <p:sp>
        <p:nvSpPr>
          <p:cNvPr id="20" name="Text 18"/>
          <p:cNvSpPr/>
          <p:nvPr/>
        </p:nvSpPr>
        <p:spPr>
          <a:xfrm>
            <a:off x="9244355" y="2048256"/>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想定価格・数量で仕入れられない</a:t>
            </a:r>
            <a:endParaRPr lang="en-US" sz="950" dirty="0"/>
          </a:p>
        </p:txBody>
      </p:sp>
      <p:sp>
        <p:nvSpPr>
          <p:cNvPr id="21" name="Text 19"/>
          <p:cNvSpPr/>
          <p:nvPr/>
        </p:nvSpPr>
        <p:spPr>
          <a:xfrm>
            <a:off x="9244355" y="2487168"/>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インポーター・酒販店との年間調達枠を事前に締結。調達実績を四半期報告。</a:t>
            </a:r>
            <a:endParaRPr lang="en-US" sz="950" dirty="0"/>
          </a:p>
        </p:txBody>
      </p:sp>
      <p:sp>
        <p:nvSpPr>
          <p:cNvPr id="22" name="Shape 20"/>
          <p:cNvSpPr/>
          <p:nvPr/>
        </p:nvSpPr>
        <p:spPr>
          <a:xfrm>
            <a:off x="658368" y="3675888"/>
            <a:ext cx="2526716" cy="1920240"/>
          </a:xfrm>
          <a:prstGeom prst="roundRect">
            <a:avLst>
              <a:gd name="adj" fmla="val 2143"/>
            </a:avLst>
          </a:prstGeom>
          <a:solidFill>
            <a:srgbClr val="171614"/>
          </a:solidFill>
          <a:ln w="9525">
            <a:solidFill>
              <a:srgbClr val="2E2A24"/>
            </a:solidFill>
            <a:prstDash val="solid"/>
          </a:ln>
        </p:spPr>
      </p:sp>
      <p:sp>
        <p:nvSpPr>
          <p:cNvPr id="23" name="Text 21"/>
          <p:cNvSpPr/>
          <p:nvPr/>
        </p:nvSpPr>
        <p:spPr>
          <a:xfrm>
            <a:off x="896112"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オペレーションリスク</a:t>
            </a:r>
            <a:endParaRPr lang="en-US" sz="1200" dirty="0"/>
          </a:p>
        </p:txBody>
      </p:sp>
      <p:sp>
        <p:nvSpPr>
          <p:cNvPr id="24" name="Text 22"/>
          <p:cNvSpPr/>
          <p:nvPr/>
        </p:nvSpPr>
        <p:spPr>
          <a:xfrm>
            <a:off x="896112"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保管中の破損・劣化・盗難</a:t>
            </a:r>
            <a:endParaRPr lang="en-US" sz="950" dirty="0"/>
          </a:p>
        </p:txBody>
      </p:sp>
      <p:sp>
        <p:nvSpPr>
          <p:cNvPr id="25" name="Text 23"/>
          <p:cNvSpPr/>
          <p:nvPr/>
        </p:nvSpPr>
        <p:spPr>
          <a:xfrm>
            <a:off x="896112"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定温倉庫での保管と動産総合保険による全量付保。ロスは保険でカバーする前提のため費用計上していない。倉庫在庫は四半期ごとに第三者棚卸。</a:t>
            </a:r>
            <a:endParaRPr lang="en-US" sz="950" dirty="0"/>
          </a:p>
        </p:txBody>
      </p:sp>
      <p:sp>
        <p:nvSpPr>
          <p:cNvPr id="26" name="Shape 24"/>
          <p:cNvSpPr/>
          <p:nvPr/>
        </p:nvSpPr>
        <p:spPr>
          <a:xfrm>
            <a:off x="3441116" y="3675888"/>
            <a:ext cx="2526716" cy="1920240"/>
          </a:xfrm>
          <a:prstGeom prst="roundRect">
            <a:avLst>
              <a:gd name="adj" fmla="val 2143"/>
            </a:avLst>
          </a:prstGeom>
          <a:solidFill>
            <a:srgbClr val="171614"/>
          </a:solidFill>
          <a:ln w="9525">
            <a:solidFill>
              <a:srgbClr val="2E2A24"/>
            </a:solidFill>
            <a:prstDash val="solid"/>
          </a:ln>
        </p:spPr>
      </p:sp>
      <p:sp>
        <p:nvSpPr>
          <p:cNvPr id="27" name="Text 25"/>
          <p:cNvSpPr/>
          <p:nvPr/>
        </p:nvSpPr>
        <p:spPr>
          <a:xfrm>
            <a:off x="3678860"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カウンターパーティリスク</a:t>
            </a:r>
            <a:endParaRPr lang="en-US" sz="1200" dirty="0"/>
          </a:p>
        </p:txBody>
      </p:sp>
      <p:sp>
        <p:nvSpPr>
          <p:cNvPr id="28" name="Text 26"/>
          <p:cNvSpPr/>
          <p:nvPr/>
        </p:nvSpPr>
        <p:spPr>
          <a:xfrm>
            <a:off x="3678860"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WineBankの信用・実行力</a:t>
            </a:r>
            <a:endParaRPr lang="en-US" sz="950" dirty="0"/>
          </a:p>
        </p:txBody>
      </p:sp>
      <p:sp>
        <p:nvSpPr>
          <p:cNvPr id="29" name="Text 27"/>
          <p:cNvSpPr/>
          <p:nvPr/>
        </p:nvSpPr>
        <p:spPr>
          <a:xfrm>
            <a:off x="3678860"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SPCを倒産隔離。ワイン現物はSPC名義で保有し、WineBankの債権者から隔離する。</a:t>
            </a:r>
            <a:endParaRPr lang="en-US" sz="950" dirty="0"/>
          </a:p>
        </p:txBody>
      </p:sp>
      <p:sp>
        <p:nvSpPr>
          <p:cNvPr id="30" name="Shape 28"/>
          <p:cNvSpPr/>
          <p:nvPr/>
        </p:nvSpPr>
        <p:spPr>
          <a:xfrm>
            <a:off x="6223864" y="3675888"/>
            <a:ext cx="2526716" cy="1920240"/>
          </a:xfrm>
          <a:prstGeom prst="roundRect">
            <a:avLst>
              <a:gd name="adj" fmla="val 2143"/>
            </a:avLst>
          </a:prstGeom>
          <a:solidFill>
            <a:srgbClr val="171614"/>
          </a:solidFill>
          <a:ln w="9525">
            <a:solidFill>
              <a:srgbClr val="2E2A24"/>
            </a:solidFill>
            <a:prstDash val="solid"/>
          </a:ln>
        </p:spPr>
      </p:sp>
      <p:sp>
        <p:nvSpPr>
          <p:cNvPr id="31" name="Text 29"/>
          <p:cNvSpPr/>
          <p:nvPr/>
        </p:nvSpPr>
        <p:spPr>
          <a:xfrm>
            <a:off x="6461608"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免許・商流リスク</a:t>
            </a:r>
            <a:endParaRPr lang="en-US" sz="1200" dirty="0"/>
          </a:p>
        </p:txBody>
      </p:sp>
      <p:sp>
        <p:nvSpPr>
          <p:cNvPr id="32" name="Text 30"/>
          <p:cNvSpPr/>
          <p:nvPr/>
        </p:nvSpPr>
        <p:spPr>
          <a:xfrm>
            <a:off x="6461608"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免許事業者の変更・取引口座の喪失</a:t>
            </a:r>
            <a:endParaRPr lang="en-US" sz="950" dirty="0"/>
          </a:p>
        </p:txBody>
      </p:sp>
      <p:sp>
        <p:nvSpPr>
          <p:cNvPr id="33" name="Text 31"/>
          <p:cNvSpPr/>
          <p:nvPr/>
        </p:nvSpPr>
        <p:spPr>
          <a:xfrm>
            <a:off x="6461608"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WineBankの免許維持を契約上の義務とし、免許喪失時は在庫を売却清算して早期償還する条項を置く。</a:t>
            </a:r>
            <a:endParaRPr lang="en-US" sz="950" dirty="0"/>
          </a:p>
        </p:txBody>
      </p:sp>
      <p:sp>
        <p:nvSpPr>
          <p:cNvPr id="34" name="Shape 32"/>
          <p:cNvSpPr/>
          <p:nvPr/>
        </p:nvSpPr>
        <p:spPr>
          <a:xfrm>
            <a:off x="9006611" y="3675888"/>
            <a:ext cx="2526716" cy="1920240"/>
          </a:xfrm>
          <a:prstGeom prst="roundRect">
            <a:avLst>
              <a:gd name="adj" fmla="val 2143"/>
            </a:avLst>
          </a:prstGeom>
          <a:solidFill>
            <a:srgbClr val="171614"/>
          </a:solidFill>
          <a:ln w="9525">
            <a:solidFill>
              <a:srgbClr val="2E2A24"/>
            </a:solidFill>
            <a:prstDash val="solid"/>
          </a:ln>
        </p:spPr>
      </p:sp>
      <p:sp>
        <p:nvSpPr>
          <p:cNvPr id="35" name="Text 33"/>
          <p:cNvSpPr/>
          <p:nvPr/>
        </p:nvSpPr>
        <p:spPr>
          <a:xfrm>
            <a:off x="9244355" y="3877056"/>
            <a:ext cx="2051228" cy="256032"/>
          </a:xfrm>
          <a:prstGeom prst="rect">
            <a:avLst/>
          </a:prstGeom>
          <a:noFill/>
          <a:ln/>
        </p:spPr>
        <p:txBody>
          <a:bodyPr wrap="square" lIns="0" tIns="0" rIns="0" bIns="0" rtlCol="0" anchor="ctr"/>
          <a:lstStyle/>
          <a:p>
            <a:pPr indent="0" marL="0">
              <a:buNone/>
            </a:pPr>
            <a:r>
              <a:rPr lang="en-US" sz="1200" b="1" dirty="0">
                <a:solidFill>
                  <a:srgbClr val="EFEBE3"/>
                </a:solidFill>
                <a:latin typeface="Yu Gothic" pitchFamily="34" charset="0"/>
                <a:ea typeface="Yu Gothic" pitchFamily="34" charset="-122"/>
                <a:cs typeface="Yu Gothic" pitchFamily="34" charset="-120"/>
              </a:rPr>
              <a:t>移転価格リスク</a:t>
            </a:r>
            <a:endParaRPr lang="en-US" sz="1200" dirty="0"/>
          </a:p>
        </p:txBody>
      </p:sp>
      <p:sp>
        <p:nvSpPr>
          <p:cNvPr id="36" name="Text 34"/>
          <p:cNvSpPr/>
          <p:nvPr/>
        </p:nvSpPr>
        <p:spPr>
          <a:xfrm>
            <a:off x="9244355" y="4169664"/>
            <a:ext cx="2051228" cy="384048"/>
          </a:xfrm>
          <a:prstGeom prst="rect">
            <a:avLst/>
          </a:prstGeom>
          <a:noFill/>
          <a:ln/>
        </p:spPr>
        <p:txBody>
          <a:bodyPr wrap="square" lIns="0" tIns="0" rIns="0" bIns="0" rtlCol="0" anchor="ctr"/>
          <a:lstStyle/>
          <a:p>
            <a:pPr indent="0" marL="0">
              <a:lnSpc>
                <a:spcPct val="115000"/>
              </a:lnSpc>
              <a:buNone/>
            </a:pPr>
            <a:r>
              <a:rPr lang="en-US" sz="950" dirty="0">
                <a:solidFill>
                  <a:srgbClr val="C9A96E"/>
                </a:solidFill>
                <a:latin typeface="Yu Gothic" pitchFamily="34" charset="0"/>
                <a:ea typeface="Yu Gothic" pitchFamily="34" charset="-122"/>
                <a:cs typeface="Yu Gothic" pitchFamily="34" charset="-120"/>
              </a:rPr>
              <a:t>譲渡1%の妥当性を否認される</a:t>
            </a:r>
            <a:endParaRPr lang="en-US" sz="950" dirty="0"/>
          </a:p>
        </p:txBody>
      </p:sp>
      <p:sp>
        <p:nvSpPr>
          <p:cNvPr id="37" name="Text 35"/>
          <p:cNvSpPr/>
          <p:nvPr/>
        </p:nvSpPr>
        <p:spPr>
          <a:xfrm>
            <a:off x="9244355" y="4608576"/>
            <a:ext cx="2051228" cy="841248"/>
          </a:xfrm>
          <a:prstGeom prst="rect">
            <a:avLst/>
          </a:prstGeom>
          <a:noFill/>
          <a:ln/>
        </p:spPr>
        <p:txBody>
          <a:bodyPr wrap="square" lIns="0" tIns="0" rIns="0" bIns="0" rtlCol="0" anchor="ctr"/>
          <a:lstStyle/>
          <a:p>
            <a:pPr indent="0" marL="0">
              <a:lnSpc>
                <a:spcPct val="124000"/>
              </a:lnSpc>
              <a:buNone/>
            </a:pPr>
            <a:r>
              <a:rPr lang="en-US" sz="950" dirty="0">
                <a:solidFill>
                  <a:srgbClr val="9A938A"/>
                </a:solidFill>
                <a:latin typeface="Yu Gothic" pitchFamily="34" charset="0"/>
                <a:ea typeface="Yu Gothic" pitchFamily="34" charset="-122"/>
                <a:cs typeface="Yu Gothic" pitchFamily="34" charset="-120"/>
              </a:rPr>
              <a:t>譲渡価格の算定根拠を文書化。第三者卸価格との比較資料を年次で整備し、税務調査に備える。</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TERMS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ファンド設計条件（ドラフト）</a:t>
            </a:r>
            <a:endParaRPr lang="en-US" sz="2700" dirty="0"/>
          </a:p>
        </p:txBody>
      </p:sp>
      <p:sp>
        <p:nvSpPr>
          <p:cNvPr id="4" name="Text 2"/>
          <p:cNvSpPr/>
          <p:nvPr/>
        </p:nvSpPr>
        <p:spPr>
          <a:xfrm>
            <a:off x="658368" y="1216152"/>
            <a:ext cx="10874959" cy="310896"/>
          </a:xfrm>
          <a:prstGeom prst="rect">
            <a:avLst/>
          </a:prstGeom>
          <a:noFill/>
          <a:ln/>
        </p:spPr>
        <p:txBody>
          <a:bodyPr wrap="square" lIns="0" tIns="0" rIns="0" bIns="0" rtlCol="0" anchor="ctr"/>
          <a:lstStyle/>
          <a:p>
            <a:pPr indent="0" marL="0">
              <a:buNone/>
            </a:pPr>
            <a:r>
              <a:rPr lang="en-US" sz="1150" dirty="0">
                <a:solidFill>
                  <a:srgbClr val="9A938A"/>
                </a:solidFill>
                <a:latin typeface="Yu Gothic" pitchFamily="34" charset="0"/>
                <a:ea typeface="Yu Gothic" pitchFamily="34" charset="-122"/>
                <a:cs typeface="Yu Gothic" pitchFamily="34" charset="-120"/>
              </a:rPr>
              <a:t>組成・資本構成（左）と、運用・費用・報告（右）に分けて記載する。</a:t>
            </a:r>
            <a:endParaRPr lang="en-US" sz="1150" dirty="0"/>
          </a:p>
        </p:txBody>
      </p:sp>
      <p:sp>
        <p:nvSpPr>
          <p:cNvPr id="5" name="Text 3"/>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6" name="Text 4"/>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19</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5836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組成形態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合同会社＋匿名組合（GK-TK）。SPCレベルでは非課税、投資家側で課税</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ファンド形態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適格機関投資家等特例業務による私募。適格機関投資家1名以上の確保を組成条件とする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募集総額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総額5億円（デット2億円＋エクイティ3億円）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デット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2億円・金利4%（固定）。調達コストはWineBankが負担し、SPCの費用には計上しない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損益の配分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SPC税前利益を 投資家60：WineBank40 で按分。WineBankはデット2億円相当を出資持分としてカウント</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運用期間</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5年。満期時に在庫を売却清算のうえ元本償還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中途解約</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3年経過後、年度ごとの解約日に申出可（90日前通知）。当初3年間はロックアップ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分配</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半期ごと。元本はSPC内に留保し継続運用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元本の裏付け</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SPC名義のワイン現物および現金。四半期ごとに在庫明細・簿価を報告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33008" y="1627632"/>
          <a:ext cx="5300320" cy="914400"/>
        </p:xfrm>
        <a:graphic>
          <a:graphicData uri="http://schemas.openxmlformats.org/drawingml/2006/table">
            <a:tbl>
              <a:tblPr/>
              <a:tblGrid>
                <a:gridCol w="1536192"/>
                <a:gridCol w="3764128"/>
              </a:tblGrid>
              <a:tr h="384048">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項目</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c>
                  <a:txBody>
                    <a:bodyPr/>
                    <a:lstStyle/>
                    <a:p>
                      <a:pPr algn="ctr" indent="0" marL="0">
                        <a:buNone/>
                      </a:pPr>
                      <a:r>
                        <a:rPr lang="en-US" sz="950" b="1" dirty="0">
                          <a:solidFill>
                            <a:srgbClr val="C9A96E"/>
                          </a:solidFill>
                          <a:latin typeface="Yu Gothic" pitchFamily="34" charset="0"/>
                          <a:ea typeface="Yu Gothic" pitchFamily="34" charset="-122"/>
                          <a:cs typeface="Yu Gothic" pitchFamily="34" charset="-120"/>
                        </a:rPr>
                        <a:t>内容</a:t>
                      </a:r>
                      <a:endParaRPr lang="en-US" sz="95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231F1A"/>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現物の取得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WineBankが調達した現物をSPCへ譲渡（＋1%）。5億の場合、実商品原価4.95億＋譲渡マージン500万円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資金配分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総額の95%をワイン購入、5%を現金保有</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販売チャネル</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酒販店卸（B2B）と自社EC・オークション（B2C）を半々</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在庫回転目標</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12ヶ月。最短9ヶ月、延びても15〜18ヶ月を想定レンジとする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価格前提</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ワイン価格の年間上昇6%。会社資料のFine Wine年率10%に対し保守的に設定</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SPC負担費用</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保管・保険・入庫・変動販売費・維持費200万・人件費360万・AUP50万・予備費50万</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想定リターン</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エクイティ定常年間利回り42.0%（在庫回転12ヶ月）。5年通算の年平均利回りは33.5%</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報告</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四半期：在庫明細・簿価・売上・試算表／年次：決算</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外部検証</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dirty="0">
                          <a:solidFill>
                            <a:srgbClr val="EFEBE3"/>
                          </a:solidFill>
                          <a:latin typeface="Yu Gothic" pitchFamily="34" charset="0"/>
                          <a:ea typeface="Yu Gothic" pitchFamily="34" charset="-122"/>
                          <a:cs typeface="Yu Gothic" pitchFamily="34" charset="-120"/>
                        </a:rPr>
                        <a:t>AUP（合意された手続）を年次で実施。配分ルールの遵守状況を手続の対象に含める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r h="384048">
                <a:tc>
                  <a:txBody>
                    <a:bodyPr/>
                    <a:lstStyle/>
                    <a:p>
                      <a:pPr algn="ctr" indent="0" marL="0">
                        <a:buNone/>
                      </a:pPr>
                      <a:r>
                        <a:rPr lang="en-US" sz="900" dirty="0">
                          <a:solidFill>
                            <a:srgbClr val="EFEBE3"/>
                          </a:solidFill>
                          <a:latin typeface="Yu Gothic" pitchFamily="34" charset="0"/>
                          <a:ea typeface="Yu Gothic" pitchFamily="34" charset="-122"/>
                          <a:cs typeface="Yu Gothic" pitchFamily="34" charset="-120"/>
                        </a:rPr>
                        <a:t>在庫配分</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c>
                  <a:txBody>
                    <a:bodyPr/>
                    <a:lstStyle/>
                    <a:p>
                      <a:pPr algn="l" indent="0" marL="0">
                        <a:buNone/>
                      </a:pPr>
                      <a:r>
                        <a:rPr lang="en-US" sz="900" b="1" dirty="0">
                          <a:solidFill>
                            <a:srgbClr val="C9A96E"/>
                          </a:solidFill>
                          <a:latin typeface="Yu Gothic" pitchFamily="34" charset="0"/>
                          <a:ea typeface="Yu Gothic" pitchFamily="34" charset="-122"/>
                          <a:cs typeface="Yu Gothic" pitchFamily="34" charset="-120"/>
                        </a:rPr>
                        <a:t>SPC在庫の優先売却を第一原則とする。契約別紙として明文化する</a:t>
                      </a:r>
                      <a:endParaRPr lang="en-US" sz="900" dirty="0">
                        <a:latin typeface="Yu Gothic" charset="0"/>
                        <a:ea typeface="Yu Gothic" charset="0"/>
                        <a:cs typeface="Yu Gothic" charset="0"/>
                      </a:endParaRPr>
                    </a:p>
                  </a:txBody>
                  <a:tcPr marL="45720" marR="45720" marT="45720" marB="45720" anchor="ctr">
                    <a:lnL w="7620" cap="flat" cmpd="sng" algn="ctr">
                      <a:solidFill>
                        <a:srgbClr val="2E2A24"/>
                      </a:solidFill>
                      <a:prstDash val="solid"/>
                      <a:round/>
                      <a:headEnd type="none" w="med" len="med"/>
                      <a:tailEnd type="none" w="med" len="med"/>
                    </a:lnL>
                    <a:lnR w="7620" cap="flat" cmpd="sng" algn="ctr">
                      <a:solidFill>
                        <a:srgbClr val="2E2A24"/>
                      </a:solidFill>
                      <a:prstDash val="solid"/>
                      <a:round/>
                      <a:headEnd type="none" w="med" len="med"/>
                      <a:tailEnd type="none" w="med" len="med"/>
                    </a:lnR>
                    <a:lnT w="7620" cap="flat" cmpd="sng" algn="ctr">
                      <a:solidFill>
                        <a:srgbClr val="2E2A24"/>
                      </a:solidFill>
                      <a:prstDash val="solid"/>
                      <a:round/>
                      <a:headEnd type="none" w="med" len="med"/>
                      <a:tailEnd type="none" w="med" len="med"/>
                    </a:lnT>
                    <a:lnB w="7620" cap="flat" cmpd="sng" algn="ctr">
                      <a:solidFill>
                        <a:srgbClr val="2E2A24"/>
                      </a:solidFill>
                      <a:prstDash val="solid"/>
                      <a:round/>
                      <a:headEnd type="none" w="med" len="med"/>
                      <a:tailEnd type="none" w="med" len="med"/>
                    </a:lnB>
                    <a:solidFill>
                      <a:srgbClr val="171614"/>
                    </a:solidFill>
                  </a:tcPr>
                </a:tc>
              </a:tr>
            </a:tbl>
          </a:graphicData>
        </a:graphic>
      </p:graphicFrame>
      <p:sp>
        <p:nvSpPr>
          <p:cNvPr id="9" name="Shape 5"/>
          <p:cNvSpPr/>
          <p:nvPr/>
        </p:nvSpPr>
        <p:spPr>
          <a:xfrm>
            <a:off x="658368" y="5541264"/>
            <a:ext cx="10874959" cy="768096"/>
          </a:xfrm>
          <a:prstGeom prst="roundRect">
            <a:avLst>
              <a:gd name="adj" fmla="val 5357"/>
            </a:avLst>
          </a:prstGeom>
          <a:solidFill>
            <a:srgbClr val="1F1D19"/>
          </a:solidFill>
          <a:ln w="9525">
            <a:solidFill>
              <a:srgbClr val="6E5730"/>
            </a:solidFill>
            <a:prstDash val="solid"/>
          </a:ln>
        </p:spPr>
      </p:sp>
      <p:sp>
        <p:nvSpPr>
          <p:cNvPr id="10" name="Text 6"/>
          <p:cNvSpPr/>
          <p:nvPr/>
        </p:nvSpPr>
        <p:spPr>
          <a:xfrm>
            <a:off x="932688" y="5632704"/>
            <a:ext cx="5486400" cy="219456"/>
          </a:xfrm>
          <a:prstGeom prst="rect">
            <a:avLst/>
          </a:prstGeom>
          <a:noFill/>
          <a:ln/>
        </p:spPr>
        <p:txBody>
          <a:bodyPr wrap="square" lIns="0" tIns="0" rIns="0" bIns="0" rtlCol="0" anchor="ctr"/>
          <a:lstStyle/>
          <a:p>
            <a:pPr indent="0" marL="0">
              <a:buNone/>
            </a:pPr>
            <a:r>
              <a:rPr lang="en-US" sz="1100" b="1" dirty="0">
                <a:solidFill>
                  <a:srgbClr val="C9A96E"/>
                </a:solidFill>
                <a:latin typeface="Yu Gothic" pitchFamily="34" charset="0"/>
                <a:ea typeface="Yu Gothic" pitchFamily="34" charset="-122"/>
                <a:cs typeface="Yu Gothic" pitchFamily="34" charset="-120"/>
              </a:rPr>
              <a:t>3年ロックアップが稼働率95%を可能にしている</a:t>
            </a:r>
            <a:endParaRPr lang="en-US" sz="1100" dirty="0"/>
          </a:p>
        </p:txBody>
      </p:sp>
      <p:sp>
        <p:nvSpPr>
          <p:cNvPr id="11" name="Text 7"/>
          <p:cNvSpPr/>
          <p:nvPr/>
        </p:nvSpPr>
        <p:spPr>
          <a:xfrm>
            <a:off x="932688" y="5852160"/>
            <a:ext cx="10326319" cy="384048"/>
          </a:xfrm>
          <a:prstGeom prst="rect">
            <a:avLst/>
          </a:prstGeom>
          <a:noFill/>
          <a:ln/>
        </p:spPr>
        <p:txBody>
          <a:bodyPr wrap="square" lIns="0" tIns="0" rIns="0" bIns="0" rtlCol="0" anchor="ctr"/>
          <a:lstStyle/>
          <a:p>
            <a:pPr indent="0" marL="0">
              <a:lnSpc>
                <a:spcPct val="116000"/>
              </a:lnSpc>
              <a:buNone/>
            </a:pPr>
            <a:r>
              <a:rPr lang="en-US" sz="900" dirty="0">
                <a:solidFill>
                  <a:srgbClr val="9A938A"/>
                </a:solidFill>
                <a:latin typeface="Yu Gothic" pitchFamily="34" charset="0"/>
                <a:ea typeface="Yu Gothic" pitchFamily="34" charset="-122"/>
                <a:cs typeface="Yu Gothic" pitchFamily="34" charset="-120"/>
              </a:rPr>
              <a:t>半期解約を前提とすると常時1〜3割を現金または即時換金可能な在庫で保有する必要があり、稼働率が下がって利回りも下がる（稼働率95%→85%でエクイティ利回りは42.0%→37.4%）。当初3年ロックアップ・4年目以降は年度ごとの解約という設計により、現金保有を5%に抑え、総額の95%をワインに充当できる。</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NEXT STEPS</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今後の進め方</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20</a:t>
            </a:r>
            <a:endParaRPr lang="en-US" sz="950" dirty="0"/>
          </a:p>
        </p:txBody>
      </p:sp>
      <p:sp>
        <p:nvSpPr>
          <p:cNvPr id="6" name="Shape 4"/>
          <p:cNvSpPr/>
          <p:nvPr/>
        </p:nvSpPr>
        <p:spPr>
          <a:xfrm>
            <a:off x="658368" y="1572768"/>
            <a:ext cx="1999427" cy="2834640"/>
          </a:xfrm>
          <a:prstGeom prst="roundRect">
            <a:avLst>
              <a:gd name="adj" fmla="val 2058"/>
            </a:avLst>
          </a:prstGeom>
          <a:solidFill>
            <a:srgbClr val="171614"/>
          </a:solidFill>
          <a:ln w="9525">
            <a:solidFill>
              <a:srgbClr val="2E2A24"/>
            </a:solidFill>
            <a:prstDash val="solid"/>
          </a:ln>
        </p:spPr>
      </p:sp>
      <p:sp>
        <p:nvSpPr>
          <p:cNvPr id="7" name="Shape 5"/>
          <p:cNvSpPr/>
          <p:nvPr/>
        </p:nvSpPr>
        <p:spPr>
          <a:xfrm>
            <a:off x="877824" y="1792224"/>
            <a:ext cx="365760" cy="365760"/>
          </a:xfrm>
          <a:prstGeom prst="ellipse">
            <a:avLst/>
          </a:prstGeom>
          <a:solidFill>
            <a:srgbClr val="0C0C0C"/>
          </a:solidFill>
          <a:ln w="11430">
            <a:solidFill>
              <a:srgbClr val="A78450"/>
            </a:solidFill>
            <a:prstDash val="solid"/>
          </a:ln>
        </p:spPr>
      </p:sp>
      <p:sp>
        <p:nvSpPr>
          <p:cNvPr id="8" name="Text 6"/>
          <p:cNvSpPr/>
          <p:nvPr/>
        </p:nvSpPr>
        <p:spPr>
          <a:xfrm>
            <a:off x="877824"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01</a:t>
            </a:r>
            <a:endParaRPr lang="en-US" sz="1200" dirty="0"/>
          </a:p>
        </p:txBody>
      </p:sp>
      <p:sp>
        <p:nvSpPr>
          <p:cNvPr id="9" name="Text 7"/>
          <p:cNvSpPr/>
          <p:nvPr/>
        </p:nvSpPr>
        <p:spPr>
          <a:xfrm>
            <a:off x="877824"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前提条件のすり合わせ</a:t>
            </a:r>
            <a:endParaRPr lang="en-US" sz="1200" dirty="0"/>
          </a:p>
        </p:txBody>
      </p:sp>
      <p:sp>
        <p:nvSpPr>
          <p:cNvPr id="10" name="Text 8"/>
          <p:cNvSpPr/>
          <p:nvPr/>
        </p:nvSpPr>
        <p:spPr>
          <a:xfrm>
            <a:off x="877824"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想定回転期間・販売チャネル構成・解約条件・折半の定義（税前利益ベース）、および現物譲渡1%の水準についてご意見をいただく。</a:t>
            </a:r>
            <a:endParaRPr lang="en-US" sz="950" dirty="0"/>
          </a:p>
        </p:txBody>
      </p:sp>
      <p:sp>
        <p:nvSpPr>
          <p:cNvPr id="11" name="Shape 9"/>
          <p:cNvSpPr/>
          <p:nvPr/>
        </p:nvSpPr>
        <p:spPr>
          <a:xfrm>
            <a:off x="2877251" y="1572768"/>
            <a:ext cx="1999427" cy="2834640"/>
          </a:xfrm>
          <a:prstGeom prst="roundRect">
            <a:avLst>
              <a:gd name="adj" fmla="val 2058"/>
            </a:avLst>
          </a:prstGeom>
          <a:solidFill>
            <a:srgbClr val="1F1D19"/>
          </a:solidFill>
          <a:ln w="9525">
            <a:solidFill>
              <a:srgbClr val="6E5730"/>
            </a:solidFill>
            <a:prstDash val="solid"/>
          </a:ln>
        </p:spPr>
      </p:sp>
      <p:sp>
        <p:nvSpPr>
          <p:cNvPr id="12" name="Shape 10"/>
          <p:cNvSpPr/>
          <p:nvPr/>
        </p:nvSpPr>
        <p:spPr>
          <a:xfrm>
            <a:off x="3096707" y="1792224"/>
            <a:ext cx="365760" cy="365760"/>
          </a:xfrm>
          <a:prstGeom prst="ellipse">
            <a:avLst/>
          </a:prstGeom>
          <a:solidFill>
            <a:srgbClr val="0C0C0C"/>
          </a:solidFill>
          <a:ln w="11430">
            <a:solidFill>
              <a:srgbClr val="A78450"/>
            </a:solidFill>
            <a:prstDash val="solid"/>
          </a:ln>
        </p:spPr>
      </p:sp>
      <p:sp>
        <p:nvSpPr>
          <p:cNvPr id="13" name="Text 11"/>
          <p:cNvSpPr/>
          <p:nvPr/>
        </p:nvSpPr>
        <p:spPr>
          <a:xfrm>
            <a:off x="3096707"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02</a:t>
            </a:r>
            <a:endParaRPr lang="en-US" sz="1200" dirty="0"/>
          </a:p>
        </p:txBody>
      </p:sp>
      <p:sp>
        <p:nvSpPr>
          <p:cNvPr id="14" name="Text 12"/>
          <p:cNvSpPr/>
          <p:nvPr/>
        </p:nvSpPr>
        <p:spPr>
          <a:xfrm>
            <a:off x="3096707"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免許・税務の確定</a:t>
            </a:r>
            <a:endParaRPr lang="en-US" sz="1200" dirty="0"/>
          </a:p>
        </p:txBody>
      </p:sp>
      <p:sp>
        <p:nvSpPr>
          <p:cNvPr id="15" name="Text 13"/>
          <p:cNvSpPr/>
          <p:nvPr/>
        </p:nvSpPr>
        <p:spPr>
          <a:xfrm>
            <a:off x="3096707"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SPCの免許要否と売買形態を所轄税務署（酒類指導官）・顧問弁護士と確認。譲渡価格1%の算定根拠を文書化する。</a:t>
            </a:r>
            <a:endParaRPr lang="en-US" sz="950" dirty="0"/>
          </a:p>
        </p:txBody>
      </p:sp>
      <p:sp>
        <p:nvSpPr>
          <p:cNvPr id="16" name="Shape 14"/>
          <p:cNvSpPr/>
          <p:nvPr/>
        </p:nvSpPr>
        <p:spPr>
          <a:xfrm>
            <a:off x="5096134" y="1572768"/>
            <a:ext cx="1999427" cy="2834640"/>
          </a:xfrm>
          <a:prstGeom prst="roundRect">
            <a:avLst>
              <a:gd name="adj" fmla="val 2058"/>
            </a:avLst>
          </a:prstGeom>
          <a:solidFill>
            <a:srgbClr val="171614"/>
          </a:solidFill>
          <a:ln w="9525">
            <a:solidFill>
              <a:srgbClr val="2E2A24"/>
            </a:solidFill>
            <a:prstDash val="solid"/>
          </a:ln>
        </p:spPr>
      </p:sp>
      <p:sp>
        <p:nvSpPr>
          <p:cNvPr id="17" name="Shape 15"/>
          <p:cNvSpPr/>
          <p:nvPr/>
        </p:nvSpPr>
        <p:spPr>
          <a:xfrm>
            <a:off x="5315590" y="1792224"/>
            <a:ext cx="365760" cy="365760"/>
          </a:xfrm>
          <a:prstGeom prst="ellipse">
            <a:avLst/>
          </a:prstGeom>
          <a:solidFill>
            <a:srgbClr val="0C0C0C"/>
          </a:solidFill>
          <a:ln w="11430">
            <a:solidFill>
              <a:srgbClr val="A78450"/>
            </a:solidFill>
            <a:prstDash val="solid"/>
          </a:ln>
        </p:spPr>
      </p:sp>
      <p:sp>
        <p:nvSpPr>
          <p:cNvPr id="18" name="Text 16"/>
          <p:cNvSpPr/>
          <p:nvPr/>
        </p:nvSpPr>
        <p:spPr>
          <a:xfrm>
            <a:off x="5315590"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03</a:t>
            </a:r>
            <a:endParaRPr lang="en-US" sz="1200" dirty="0"/>
          </a:p>
        </p:txBody>
      </p:sp>
      <p:sp>
        <p:nvSpPr>
          <p:cNvPr id="19" name="Text 17"/>
          <p:cNvSpPr/>
          <p:nvPr/>
        </p:nvSpPr>
        <p:spPr>
          <a:xfrm>
            <a:off x="5315590"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調達枠の確保と実証</a:t>
            </a:r>
            <a:endParaRPr lang="en-US" sz="1200" dirty="0"/>
          </a:p>
        </p:txBody>
      </p:sp>
      <p:sp>
        <p:nvSpPr>
          <p:cNvPr id="20" name="Text 18"/>
          <p:cNvSpPr/>
          <p:nvPr/>
        </p:nvSpPr>
        <p:spPr>
          <a:xfrm>
            <a:off x="5315590"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インポーター・酒販店との年間調達枠を締結し、小規模ロットで回転期間とチャネル別手数料の実証を行う。</a:t>
            </a:r>
            <a:endParaRPr lang="en-US" sz="950" dirty="0"/>
          </a:p>
        </p:txBody>
      </p:sp>
      <p:sp>
        <p:nvSpPr>
          <p:cNvPr id="21" name="Shape 19"/>
          <p:cNvSpPr/>
          <p:nvPr/>
        </p:nvSpPr>
        <p:spPr>
          <a:xfrm>
            <a:off x="7315017" y="1572768"/>
            <a:ext cx="1999427" cy="2834640"/>
          </a:xfrm>
          <a:prstGeom prst="roundRect">
            <a:avLst>
              <a:gd name="adj" fmla="val 2058"/>
            </a:avLst>
          </a:prstGeom>
          <a:solidFill>
            <a:srgbClr val="171614"/>
          </a:solidFill>
          <a:ln w="9525">
            <a:solidFill>
              <a:srgbClr val="2E2A24"/>
            </a:solidFill>
            <a:prstDash val="solid"/>
          </a:ln>
        </p:spPr>
      </p:sp>
      <p:sp>
        <p:nvSpPr>
          <p:cNvPr id="22" name="Shape 20"/>
          <p:cNvSpPr/>
          <p:nvPr/>
        </p:nvSpPr>
        <p:spPr>
          <a:xfrm>
            <a:off x="7534473" y="1792224"/>
            <a:ext cx="365760" cy="365760"/>
          </a:xfrm>
          <a:prstGeom prst="ellipse">
            <a:avLst/>
          </a:prstGeom>
          <a:solidFill>
            <a:srgbClr val="0C0C0C"/>
          </a:solidFill>
          <a:ln w="11430">
            <a:solidFill>
              <a:srgbClr val="A78450"/>
            </a:solidFill>
            <a:prstDash val="solid"/>
          </a:ln>
        </p:spPr>
      </p:sp>
      <p:sp>
        <p:nvSpPr>
          <p:cNvPr id="23" name="Text 21"/>
          <p:cNvSpPr/>
          <p:nvPr/>
        </p:nvSpPr>
        <p:spPr>
          <a:xfrm>
            <a:off x="7534473"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04</a:t>
            </a:r>
            <a:endParaRPr lang="en-US" sz="1200" dirty="0"/>
          </a:p>
        </p:txBody>
      </p:sp>
      <p:sp>
        <p:nvSpPr>
          <p:cNvPr id="24" name="Text 22"/>
          <p:cNvSpPr/>
          <p:nvPr/>
        </p:nvSpPr>
        <p:spPr>
          <a:xfrm>
            <a:off x="7534473"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スキーム組成</a:t>
            </a:r>
            <a:endParaRPr lang="en-US" sz="1200" dirty="0"/>
          </a:p>
        </p:txBody>
      </p:sp>
      <p:sp>
        <p:nvSpPr>
          <p:cNvPr id="25" name="Text 23"/>
          <p:cNvSpPr/>
          <p:nvPr/>
        </p:nvSpPr>
        <p:spPr>
          <a:xfrm>
            <a:off x="7534473"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GK-TKの組成、契約書一式（匿名組合契約・業務委託契約・売買基本契約）の作成。5年満期・3年ロックアップを織り込む。</a:t>
            </a:r>
            <a:endParaRPr lang="en-US" sz="950" dirty="0"/>
          </a:p>
        </p:txBody>
      </p:sp>
      <p:sp>
        <p:nvSpPr>
          <p:cNvPr id="26" name="Shape 24"/>
          <p:cNvSpPr/>
          <p:nvPr/>
        </p:nvSpPr>
        <p:spPr>
          <a:xfrm>
            <a:off x="9533900" y="1572768"/>
            <a:ext cx="1999427" cy="2834640"/>
          </a:xfrm>
          <a:prstGeom prst="roundRect">
            <a:avLst>
              <a:gd name="adj" fmla="val 2058"/>
            </a:avLst>
          </a:prstGeom>
          <a:solidFill>
            <a:srgbClr val="171614"/>
          </a:solidFill>
          <a:ln w="9525">
            <a:solidFill>
              <a:srgbClr val="2E2A24"/>
            </a:solidFill>
            <a:prstDash val="solid"/>
          </a:ln>
        </p:spPr>
      </p:sp>
      <p:sp>
        <p:nvSpPr>
          <p:cNvPr id="27" name="Shape 25"/>
          <p:cNvSpPr/>
          <p:nvPr/>
        </p:nvSpPr>
        <p:spPr>
          <a:xfrm>
            <a:off x="9753356" y="1792224"/>
            <a:ext cx="365760" cy="365760"/>
          </a:xfrm>
          <a:prstGeom prst="ellipse">
            <a:avLst/>
          </a:prstGeom>
          <a:solidFill>
            <a:srgbClr val="0C0C0C"/>
          </a:solidFill>
          <a:ln w="11430">
            <a:solidFill>
              <a:srgbClr val="A78450"/>
            </a:solidFill>
            <a:prstDash val="solid"/>
          </a:ln>
        </p:spPr>
      </p:sp>
      <p:sp>
        <p:nvSpPr>
          <p:cNvPr id="28" name="Text 26"/>
          <p:cNvSpPr/>
          <p:nvPr/>
        </p:nvSpPr>
        <p:spPr>
          <a:xfrm>
            <a:off x="9753356" y="1792224"/>
            <a:ext cx="365760" cy="365760"/>
          </a:xfrm>
          <a:prstGeom prst="rect">
            <a:avLst/>
          </a:prstGeom>
          <a:noFill/>
          <a:ln/>
        </p:spPr>
        <p:txBody>
          <a:bodyPr wrap="square" lIns="0" tIns="0" rIns="0" bIns="0" rtlCol="0" anchor="ctr"/>
          <a:lstStyle/>
          <a:p>
            <a:pPr algn="ctr" indent="0" marL="0">
              <a:buNone/>
            </a:pPr>
            <a:r>
              <a:rPr lang="en-US" sz="1200" b="1" dirty="0">
                <a:solidFill>
                  <a:srgbClr val="C9A96E"/>
                </a:solidFill>
                <a:latin typeface="Cambria" pitchFamily="34" charset="0"/>
                <a:ea typeface="Cambria" pitchFamily="34" charset="-122"/>
                <a:cs typeface="Cambria" pitchFamily="34" charset="-120"/>
              </a:rPr>
              <a:t>05</a:t>
            </a:r>
            <a:endParaRPr lang="en-US" sz="1200" dirty="0"/>
          </a:p>
        </p:txBody>
      </p:sp>
      <p:sp>
        <p:nvSpPr>
          <p:cNvPr id="29" name="Text 27"/>
          <p:cNvSpPr/>
          <p:nvPr/>
        </p:nvSpPr>
        <p:spPr>
          <a:xfrm>
            <a:off x="9753356" y="2304288"/>
            <a:ext cx="1560515" cy="566928"/>
          </a:xfrm>
          <a:prstGeom prst="rect">
            <a:avLst/>
          </a:prstGeom>
          <a:noFill/>
          <a:ln/>
        </p:spPr>
        <p:txBody>
          <a:bodyPr wrap="square" lIns="0" tIns="0" rIns="0" bIns="0" rtlCol="0" anchor="ctr"/>
          <a:lstStyle/>
          <a:p>
            <a:pPr indent="0" marL="0">
              <a:lnSpc>
                <a:spcPct val="115000"/>
              </a:lnSpc>
              <a:buNone/>
            </a:pPr>
            <a:r>
              <a:rPr lang="en-US" sz="1200" b="1" dirty="0">
                <a:solidFill>
                  <a:srgbClr val="EFEBE3"/>
                </a:solidFill>
                <a:latin typeface="Yu Gothic" pitchFamily="34" charset="0"/>
                <a:ea typeface="Yu Gothic" pitchFamily="34" charset="-122"/>
                <a:cs typeface="Yu Gothic" pitchFamily="34" charset="-120"/>
              </a:rPr>
              <a:t>投資実行</a:t>
            </a:r>
            <a:endParaRPr lang="en-US" sz="1200" dirty="0"/>
          </a:p>
        </p:txBody>
      </p:sp>
      <p:sp>
        <p:nvSpPr>
          <p:cNvPr id="30" name="Text 28"/>
          <p:cNvSpPr/>
          <p:nvPr/>
        </p:nvSpPr>
        <p:spPr>
          <a:xfrm>
            <a:off x="9753356" y="2926080"/>
            <a:ext cx="1560515" cy="1298448"/>
          </a:xfrm>
          <a:prstGeom prst="rect">
            <a:avLst/>
          </a:prstGeom>
          <a:noFill/>
          <a:ln/>
        </p:spPr>
        <p:txBody>
          <a:bodyPr wrap="square" lIns="0" tIns="0" rIns="0" bIns="0" rtlCol="0" anchor="ctr"/>
          <a:lstStyle/>
          <a:p>
            <a:pPr indent="0" marL="0">
              <a:lnSpc>
                <a:spcPct val="126000"/>
              </a:lnSpc>
              <a:buNone/>
            </a:pPr>
            <a:r>
              <a:rPr lang="en-US" sz="950" dirty="0">
                <a:solidFill>
                  <a:srgbClr val="9A938A"/>
                </a:solidFill>
                <a:latin typeface="Yu Gothic" pitchFamily="34" charset="0"/>
                <a:ea typeface="Yu Gothic" pitchFamily="34" charset="-122"/>
                <a:cs typeface="Yu Gothic" pitchFamily="34" charset="-120"/>
              </a:rPr>
              <a:t>半期の受入日に合わせて着金、運用開始。四半期ごとに在庫明細・簿価・売上を報告する。</a:t>
            </a:r>
            <a:endParaRPr lang="en-US" sz="950" dirty="0"/>
          </a:p>
        </p:txBody>
      </p:sp>
      <p:sp>
        <p:nvSpPr>
          <p:cNvPr id="31" name="Shape 29"/>
          <p:cNvSpPr/>
          <p:nvPr/>
        </p:nvSpPr>
        <p:spPr>
          <a:xfrm>
            <a:off x="658368" y="4608576"/>
            <a:ext cx="10874959" cy="969264"/>
          </a:xfrm>
          <a:prstGeom prst="roundRect">
            <a:avLst>
              <a:gd name="adj" fmla="val 4245"/>
            </a:avLst>
          </a:prstGeom>
          <a:solidFill>
            <a:srgbClr val="171614"/>
          </a:solidFill>
          <a:ln w="9525">
            <a:solidFill>
              <a:srgbClr val="2E2A24"/>
            </a:solidFill>
            <a:prstDash val="solid"/>
          </a:ln>
        </p:spPr>
      </p:sp>
      <p:sp>
        <p:nvSpPr>
          <p:cNvPr id="32" name="Text 30"/>
          <p:cNvSpPr/>
          <p:nvPr/>
        </p:nvSpPr>
        <p:spPr>
          <a:xfrm>
            <a:off x="932688" y="4754880"/>
            <a:ext cx="10326319" cy="676656"/>
          </a:xfrm>
          <a:prstGeom prst="rect">
            <a:avLst/>
          </a:prstGeom>
          <a:noFill/>
          <a:ln/>
        </p:spPr>
        <p:txBody>
          <a:bodyPr wrap="square" lIns="0" tIns="0" rIns="0" bIns="0" rtlCol="0" anchor="ctr"/>
          <a:lstStyle/>
          <a:p>
            <a:pPr indent="0" marL="0">
              <a:lnSpc>
                <a:spcPct val="124000"/>
              </a:lnSpc>
              <a:buNone/>
            </a:pPr>
            <a:r>
              <a:rPr lang="en-US" sz="1000" dirty="0">
                <a:solidFill>
                  <a:srgbClr val="9A938A"/>
                </a:solidFill>
                <a:latin typeface="Yu Gothic" pitchFamily="34" charset="0"/>
                <a:ea typeface="Yu Gothic" pitchFamily="34" charset="-122"/>
                <a:cs typeface="Yu Gothic" pitchFamily="34" charset="-120"/>
              </a:rPr>
              <a:t>本資料の数値は一定の前提に基づく試算であり、将来の運用成果を保証するものではありません。最終的な条件は契約書に基づきます。免許・税務の取扱いは、所轄官庁および専門家の確認を経て確定します。</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0C0C"/>
        </a:solidFill>
      </p:bgPr>
    </p:bg>
    <p:spTree>
      <p:nvGrpSpPr>
        <p:cNvPr id="1" name=""/>
        <p:cNvGrpSpPr/>
        <p:nvPr/>
      </p:nvGrpSpPr>
      <p:grpSpPr>
        <a:xfrm>
          <a:off x="0" y="0"/>
          <a:ext cx="0" cy="0"/>
          <a:chOff x="0" y="0"/>
          <a:chExt cx="0" cy="0"/>
        </a:xfrm>
      </p:grpSpPr>
      <p:sp>
        <p:nvSpPr>
          <p:cNvPr id="2" name="Text 0"/>
          <p:cNvSpPr/>
          <p:nvPr/>
        </p:nvSpPr>
        <p:spPr>
          <a:xfrm>
            <a:off x="658368" y="384048"/>
            <a:ext cx="10874959" cy="219456"/>
          </a:xfrm>
          <a:prstGeom prst="rect">
            <a:avLst/>
          </a:prstGeom>
          <a:noFill/>
          <a:ln/>
        </p:spPr>
        <p:txBody>
          <a:bodyPr wrap="square" lIns="0" tIns="0" rIns="0" bIns="0" rtlCol="0" anchor="ctr"/>
          <a:lstStyle/>
          <a:p>
            <a:pPr indent="0" marL="0">
              <a:buNone/>
            </a:pPr>
            <a:r>
              <a:rPr lang="en-US" sz="1050" b="1" spc="340" kern="0" dirty="0">
                <a:solidFill>
                  <a:srgbClr val="A78450"/>
                </a:solidFill>
                <a:latin typeface="Cambria" pitchFamily="34" charset="0"/>
                <a:ea typeface="Cambria" pitchFamily="34" charset="-122"/>
                <a:cs typeface="Cambria" pitchFamily="34" charset="-120"/>
              </a:rPr>
              <a:t>CONCLUSION</a:t>
            </a:r>
            <a:endParaRPr lang="en-US" sz="1050" dirty="0"/>
          </a:p>
        </p:txBody>
      </p:sp>
      <p:sp>
        <p:nvSpPr>
          <p:cNvPr id="3" name="Text 1"/>
          <p:cNvSpPr/>
          <p:nvPr/>
        </p:nvSpPr>
        <p:spPr>
          <a:xfrm>
            <a:off x="658368" y="640080"/>
            <a:ext cx="10874959" cy="548640"/>
          </a:xfrm>
          <a:prstGeom prst="rect">
            <a:avLst/>
          </a:prstGeom>
          <a:noFill/>
          <a:ln/>
        </p:spPr>
        <p:txBody>
          <a:bodyPr wrap="square" lIns="0" tIns="0" rIns="0" bIns="0" rtlCol="0" anchor="ctr"/>
          <a:lstStyle/>
          <a:p>
            <a:pPr indent="0" marL="0">
              <a:buNone/>
            </a:pPr>
            <a:r>
              <a:rPr lang="en-US" sz="2700" b="1" dirty="0">
                <a:solidFill>
                  <a:srgbClr val="EFEBE3"/>
                </a:solidFill>
                <a:latin typeface="Yu Mincho" pitchFamily="34" charset="0"/>
                <a:ea typeface="Yu Mincho" pitchFamily="34" charset="-122"/>
                <a:cs typeface="Yu Mincho" pitchFamily="34" charset="-120"/>
              </a:rPr>
              <a:t>まとめ：本ファンドに出資いただく意義</a:t>
            </a:r>
            <a:endParaRPr lang="en-US" sz="2700" dirty="0"/>
          </a:p>
        </p:txBody>
      </p:sp>
      <p:sp>
        <p:nvSpPr>
          <p:cNvPr id="4" name="Text 2"/>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5" name="Text 3"/>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21</a:t>
            </a:r>
            <a:endParaRPr lang="en-US" sz="950" dirty="0"/>
          </a:p>
        </p:txBody>
      </p:sp>
      <p:sp>
        <p:nvSpPr>
          <p:cNvPr id="6" name="Shape 4"/>
          <p:cNvSpPr/>
          <p:nvPr/>
        </p:nvSpPr>
        <p:spPr>
          <a:xfrm>
            <a:off x="658368" y="1572768"/>
            <a:ext cx="6537960" cy="749808"/>
          </a:xfrm>
          <a:prstGeom prst="roundRect">
            <a:avLst>
              <a:gd name="adj" fmla="val 5488"/>
            </a:avLst>
          </a:prstGeom>
          <a:solidFill>
            <a:srgbClr val="171614"/>
          </a:solidFill>
          <a:ln w="9525">
            <a:solidFill>
              <a:srgbClr val="2E2A24"/>
            </a:solidFill>
            <a:prstDash val="solid"/>
          </a:ln>
        </p:spPr>
      </p:sp>
      <p:sp>
        <p:nvSpPr>
          <p:cNvPr id="7" name="Shape 5"/>
          <p:cNvSpPr/>
          <p:nvPr/>
        </p:nvSpPr>
        <p:spPr>
          <a:xfrm>
            <a:off x="877824" y="1792224"/>
            <a:ext cx="310896" cy="310896"/>
          </a:xfrm>
          <a:prstGeom prst="ellipse">
            <a:avLst/>
          </a:prstGeom>
          <a:solidFill>
            <a:srgbClr val="0C0C0C"/>
          </a:solidFill>
          <a:ln w="11430">
            <a:solidFill>
              <a:srgbClr val="A78450"/>
            </a:solidFill>
            <a:prstDash val="solid"/>
          </a:ln>
        </p:spPr>
      </p:sp>
      <p:sp>
        <p:nvSpPr>
          <p:cNvPr id="8" name="Text 6"/>
          <p:cNvSpPr/>
          <p:nvPr/>
        </p:nvSpPr>
        <p:spPr>
          <a:xfrm>
            <a:off x="877824" y="179222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01</a:t>
            </a:r>
            <a:endParaRPr lang="en-US" sz="1100" dirty="0"/>
          </a:p>
        </p:txBody>
      </p:sp>
      <p:sp>
        <p:nvSpPr>
          <p:cNvPr id="9" name="Text 7"/>
          <p:cNvSpPr/>
          <p:nvPr/>
        </p:nvSpPr>
        <p:spPr>
          <a:xfrm>
            <a:off x="1280160" y="168249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現物が元本を裏付ける</a:t>
            </a:r>
            <a:endParaRPr lang="en-US" sz="1150" dirty="0"/>
          </a:p>
        </p:txBody>
      </p:sp>
      <p:sp>
        <p:nvSpPr>
          <p:cNvPr id="10" name="Text 8"/>
          <p:cNvSpPr/>
          <p:nvPr/>
        </p:nvSpPr>
        <p:spPr>
          <a:xfrm>
            <a:off x="1280160" y="192024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出資金の95%が常にワイン現物として存在する。SPC名義で保有し倒産隔離。保有している限り値上がりも取り込める。</a:t>
            </a:r>
            <a:endParaRPr lang="en-US" sz="900" dirty="0"/>
          </a:p>
        </p:txBody>
      </p:sp>
      <p:sp>
        <p:nvSpPr>
          <p:cNvPr id="11" name="Shape 9"/>
          <p:cNvSpPr/>
          <p:nvPr/>
        </p:nvSpPr>
        <p:spPr>
          <a:xfrm>
            <a:off x="658368" y="2395728"/>
            <a:ext cx="6537960" cy="749808"/>
          </a:xfrm>
          <a:prstGeom prst="roundRect">
            <a:avLst>
              <a:gd name="adj" fmla="val 5488"/>
            </a:avLst>
          </a:prstGeom>
          <a:solidFill>
            <a:srgbClr val="171614"/>
          </a:solidFill>
          <a:ln w="9525">
            <a:solidFill>
              <a:srgbClr val="2E2A24"/>
            </a:solidFill>
            <a:prstDash val="solid"/>
          </a:ln>
        </p:spPr>
      </p:sp>
      <p:sp>
        <p:nvSpPr>
          <p:cNvPr id="12" name="Shape 10"/>
          <p:cNvSpPr/>
          <p:nvPr/>
        </p:nvSpPr>
        <p:spPr>
          <a:xfrm>
            <a:off x="877824" y="2615184"/>
            <a:ext cx="310896" cy="310896"/>
          </a:xfrm>
          <a:prstGeom prst="ellipse">
            <a:avLst/>
          </a:prstGeom>
          <a:solidFill>
            <a:srgbClr val="0C0C0C"/>
          </a:solidFill>
          <a:ln w="11430">
            <a:solidFill>
              <a:srgbClr val="A78450"/>
            </a:solidFill>
            <a:prstDash val="solid"/>
          </a:ln>
        </p:spPr>
      </p:sp>
      <p:sp>
        <p:nvSpPr>
          <p:cNvPr id="13" name="Text 11"/>
          <p:cNvSpPr/>
          <p:nvPr/>
        </p:nvSpPr>
        <p:spPr>
          <a:xfrm>
            <a:off x="877824" y="261518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02</a:t>
            </a:r>
            <a:endParaRPr lang="en-US" sz="1100" dirty="0"/>
          </a:p>
        </p:txBody>
      </p:sp>
      <p:sp>
        <p:nvSpPr>
          <p:cNvPr id="14" name="Text 12"/>
          <p:cNvSpPr/>
          <p:nvPr/>
        </p:nvSpPr>
        <p:spPr>
          <a:xfrm>
            <a:off x="1280160" y="250545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収益が二階建てで、片方が崩れても成立する</a:t>
            </a:r>
            <a:endParaRPr lang="en-US" sz="1150" dirty="0"/>
          </a:p>
        </p:txBody>
      </p:sp>
      <p:sp>
        <p:nvSpPr>
          <p:cNvPr id="15" name="Text 13"/>
          <p:cNvSpPr/>
          <p:nvPr/>
        </p:nvSpPr>
        <p:spPr>
          <a:xfrm>
            <a:off x="1280160" y="274320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流通価格差（回転に対するリターン）とワインの値上がり（在庫に対するリターン）。価格が横ばいでもエクイティ利回り34.1%、回転が18ヶ月に延びても29.8%を確保する。</a:t>
            </a:r>
            <a:endParaRPr lang="en-US" sz="900" dirty="0"/>
          </a:p>
        </p:txBody>
      </p:sp>
      <p:sp>
        <p:nvSpPr>
          <p:cNvPr id="16" name="Shape 14"/>
          <p:cNvSpPr/>
          <p:nvPr/>
        </p:nvSpPr>
        <p:spPr>
          <a:xfrm>
            <a:off x="658368" y="3218688"/>
            <a:ext cx="6537960" cy="749808"/>
          </a:xfrm>
          <a:prstGeom prst="roundRect">
            <a:avLst>
              <a:gd name="adj" fmla="val 5488"/>
            </a:avLst>
          </a:prstGeom>
          <a:solidFill>
            <a:srgbClr val="171614"/>
          </a:solidFill>
          <a:ln w="9525">
            <a:solidFill>
              <a:srgbClr val="2E2A24"/>
            </a:solidFill>
            <a:prstDash val="solid"/>
          </a:ln>
        </p:spPr>
      </p:sp>
      <p:sp>
        <p:nvSpPr>
          <p:cNvPr id="17" name="Shape 15"/>
          <p:cNvSpPr/>
          <p:nvPr/>
        </p:nvSpPr>
        <p:spPr>
          <a:xfrm>
            <a:off x="877824" y="3438144"/>
            <a:ext cx="310896" cy="310896"/>
          </a:xfrm>
          <a:prstGeom prst="ellipse">
            <a:avLst/>
          </a:prstGeom>
          <a:solidFill>
            <a:srgbClr val="0C0C0C"/>
          </a:solidFill>
          <a:ln w="11430">
            <a:solidFill>
              <a:srgbClr val="A78450"/>
            </a:solidFill>
            <a:prstDash val="solid"/>
          </a:ln>
        </p:spPr>
      </p:sp>
      <p:sp>
        <p:nvSpPr>
          <p:cNvPr id="18" name="Text 16"/>
          <p:cNvSpPr/>
          <p:nvPr/>
        </p:nvSpPr>
        <p:spPr>
          <a:xfrm>
            <a:off x="877824" y="343814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03</a:t>
            </a:r>
            <a:endParaRPr lang="en-US" sz="1100" dirty="0"/>
          </a:p>
        </p:txBody>
      </p:sp>
      <p:sp>
        <p:nvSpPr>
          <p:cNvPr id="19" name="Text 17"/>
          <p:cNvSpPr/>
          <p:nvPr/>
        </p:nvSpPr>
        <p:spPr>
          <a:xfrm>
            <a:off x="1280160" y="332841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他社が再現できない調達力</a:t>
            </a:r>
            <a:endParaRPr lang="en-US" sz="1150" dirty="0"/>
          </a:p>
        </p:txBody>
      </p:sp>
      <p:sp>
        <p:nvSpPr>
          <p:cNvPr id="20" name="Text 18"/>
          <p:cNvSpPr/>
          <p:nvPr/>
        </p:nvSpPr>
        <p:spPr>
          <a:xfrm>
            <a:off x="1280160" y="356616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創業55年の酒販免許、大手インポーターとの直接取引、輸出入ライセンス。新規参入業者が正規品を同じ価格で大量に仕入れることはできない。</a:t>
            </a:r>
            <a:endParaRPr lang="en-US" sz="900" dirty="0"/>
          </a:p>
        </p:txBody>
      </p:sp>
      <p:sp>
        <p:nvSpPr>
          <p:cNvPr id="21" name="Shape 19"/>
          <p:cNvSpPr/>
          <p:nvPr/>
        </p:nvSpPr>
        <p:spPr>
          <a:xfrm>
            <a:off x="658368" y="4041648"/>
            <a:ext cx="6537960" cy="749808"/>
          </a:xfrm>
          <a:prstGeom prst="roundRect">
            <a:avLst>
              <a:gd name="adj" fmla="val 5488"/>
            </a:avLst>
          </a:prstGeom>
          <a:solidFill>
            <a:srgbClr val="171614"/>
          </a:solidFill>
          <a:ln w="9525">
            <a:solidFill>
              <a:srgbClr val="2E2A24"/>
            </a:solidFill>
            <a:prstDash val="solid"/>
          </a:ln>
        </p:spPr>
      </p:sp>
      <p:sp>
        <p:nvSpPr>
          <p:cNvPr id="22" name="Shape 20"/>
          <p:cNvSpPr/>
          <p:nvPr/>
        </p:nvSpPr>
        <p:spPr>
          <a:xfrm>
            <a:off x="877824" y="4261104"/>
            <a:ext cx="310896" cy="310896"/>
          </a:xfrm>
          <a:prstGeom prst="ellipse">
            <a:avLst/>
          </a:prstGeom>
          <a:solidFill>
            <a:srgbClr val="0C0C0C"/>
          </a:solidFill>
          <a:ln w="11430">
            <a:solidFill>
              <a:srgbClr val="A78450"/>
            </a:solidFill>
            <a:prstDash val="solid"/>
          </a:ln>
        </p:spPr>
      </p:sp>
      <p:sp>
        <p:nvSpPr>
          <p:cNvPr id="23" name="Text 21"/>
          <p:cNvSpPr/>
          <p:nvPr/>
        </p:nvSpPr>
        <p:spPr>
          <a:xfrm>
            <a:off x="877824" y="426110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04</a:t>
            </a:r>
            <a:endParaRPr lang="en-US" sz="1100" dirty="0"/>
          </a:p>
        </p:txBody>
      </p:sp>
      <p:sp>
        <p:nvSpPr>
          <p:cNvPr id="24" name="Text 22"/>
          <p:cNvSpPr/>
          <p:nvPr/>
        </p:nvSpPr>
        <p:spPr>
          <a:xfrm>
            <a:off x="1280160" y="4151376"/>
            <a:ext cx="5678424" cy="237744"/>
          </a:xfrm>
          <a:prstGeom prst="rect">
            <a:avLst/>
          </a:prstGeom>
          <a:noFill/>
          <a:ln/>
        </p:spPr>
        <p:txBody>
          <a:bodyPr wrap="square" lIns="0" tIns="0" rIns="0" bIns="0" rtlCol="0" anchor="ctr"/>
          <a:lstStyle/>
          <a:p>
            <a:pPr indent="0" marL="0">
              <a:buNone/>
            </a:pPr>
            <a:r>
              <a:rPr lang="en-US" sz="1150" b="1" dirty="0">
                <a:solidFill>
                  <a:srgbClr val="EFEBE3"/>
                </a:solidFill>
                <a:latin typeface="Yu Gothic" pitchFamily="34" charset="0"/>
                <a:ea typeface="Yu Gothic" pitchFamily="34" charset="-122"/>
                <a:cs typeface="Yu Gothic" pitchFamily="34" charset="-120"/>
              </a:rPr>
              <a:t>出口をB2B・B2Cの両輪で持ち、SPC在庫を先に売る</a:t>
            </a:r>
            <a:endParaRPr lang="en-US" sz="1150" dirty="0"/>
          </a:p>
        </p:txBody>
      </p:sp>
      <p:sp>
        <p:nvSpPr>
          <p:cNvPr id="25" name="Text 23"/>
          <p:cNvSpPr/>
          <p:nvPr/>
        </p:nvSpPr>
        <p:spPr>
          <a:xfrm>
            <a:off x="1280160" y="438912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酒販店卸（B2B）に加え、自社EC・オークション・CLUB会員・グループのアピシウス（B2C）。そのうえでWineBank自己勘定在庫よりSPC在庫を優先して売却する。</a:t>
            </a:r>
            <a:endParaRPr lang="en-US" sz="900" dirty="0"/>
          </a:p>
        </p:txBody>
      </p:sp>
      <p:sp>
        <p:nvSpPr>
          <p:cNvPr id="26" name="Shape 24"/>
          <p:cNvSpPr/>
          <p:nvPr/>
        </p:nvSpPr>
        <p:spPr>
          <a:xfrm>
            <a:off x="658368" y="4864608"/>
            <a:ext cx="6537960" cy="749808"/>
          </a:xfrm>
          <a:prstGeom prst="roundRect">
            <a:avLst>
              <a:gd name="adj" fmla="val 5488"/>
            </a:avLst>
          </a:prstGeom>
          <a:solidFill>
            <a:srgbClr val="1F1D19"/>
          </a:solidFill>
          <a:ln w="9525">
            <a:solidFill>
              <a:srgbClr val="6E5730"/>
            </a:solidFill>
            <a:prstDash val="solid"/>
          </a:ln>
        </p:spPr>
      </p:sp>
      <p:sp>
        <p:nvSpPr>
          <p:cNvPr id="27" name="Shape 25"/>
          <p:cNvSpPr/>
          <p:nvPr/>
        </p:nvSpPr>
        <p:spPr>
          <a:xfrm>
            <a:off x="877824" y="5084064"/>
            <a:ext cx="310896" cy="310896"/>
          </a:xfrm>
          <a:prstGeom prst="ellipse">
            <a:avLst/>
          </a:prstGeom>
          <a:solidFill>
            <a:srgbClr val="0C0C0C"/>
          </a:solidFill>
          <a:ln w="11430">
            <a:solidFill>
              <a:srgbClr val="A78450"/>
            </a:solidFill>
            <a:prstDash val="solid"/>
          </a:ln>
        </p:spPr>
      </p:sp>
      <p:sp>
        <p:nvSpPr>
          <p:cNvPr id="28" name="Text 26"/>
          <p:cNvSpPr/>
          <p:nvPr/>
        </p:nvSpPr>
        <p:spPr>
          <a:xfrm>
            <a:off x="877824" y="5084064"/>
            <a:ext cx="310896" cy="310896"/>
          </a:xfrm>
          <a:prstGeom prst="rect">
            <a:avLst/>
          </a:prstGeom>
          <a:noFill/>
          <a:ln/>
        </p:spPr>
        <p:txBody>
          <a:bodyPr wrap="square" lIns="0" tIns="0" rIns="0" bIns="0" rtlCol="0" anchor="ctr"/>
          <a:lstStyle/>
          <a:p>
            <a:pPr algn="ctr" indent="0" marL="0">
              <a:buNone/>
            </a:pPr>
            <a:r>
              <a:rPr lang="en-US" sz="1100" b="1" dirty="0">
                <a:solidFill>
                  <a:srgbClr val="C9A96E"/>
                </a:solidFill>
                <a:latin typeface="Cambria" pitchFamily="34" charset="0"/>
                <a:ea typeface="Cambria" pitchFamily="34" charset="-122"/>
                <a:cs typeface="Cambria" pitchFamily="34" charset="-120"/>
              </a:rPr>
              <a:t>05</a:t>
            </a:r>
            <a:endParaRPr lang="en-US" sz="1100" dirty="0"/>
          </a:p>
        </p:txBody>
      </p:sp>
      <p:sp>
        <p:nvSpPr>
          <p:cNvPr id="29" name="Text 27"/>
          <p:cNvSpPr/>
          <p:nvPr/>
        </p:nvSpPr>
        <p:spPr>
          <a:xfrm>
            <a:off x="1280160" y="4974336"/>
            <a:ext cx="5678424" cy="237744"/>
          </a:xfrm>
          <a:prstGeom prst="rect">
            <a:avLst/>
          </a:prstGeom>
          <a:noFill/>
          <a:ln/>
        </p:spPr>
        <p:txBody>
          <a:bodyPr wrap="square" lIns="0" tIns="0" rIns="0" bIns="0" rtlCol="0" anchor="ctr"/>
          <a:lstStyle/>
          <a:p>
            <a:pPr indent="0" marL="0">
              <a:buNone/>
            </a:pPr>
            <a:r>
              <a:rPr lang="en-US" sz="1150" b="1" dirty="0">
                <a:solidFill>
                  <a:srgbClr val="C9A96E"/>
                </a:solidFill>
                <a:latin typeface="Yu Gothic" pitchFamily="34" charset="0"/>
                <a:ea typeface="Yu Gothic" pitchFamily="34" charset="-122"/>
                <a:cs typeface="Yu Gothic" pitchFamily="34" charset="-120"/>
              </a:rPr>
              <a:t>運営者と利害が完全に一致している</a:t>
            </a:r>
            <a:endParaRPr lang="en-US" sz="1150" dirty="0"/>
          </a:p>
        </p:txBody>
      </p:sp>
      <p:sp>
        <p:nvSpPr>
          <p:cNvPr id="30" name="Text 28"/>
          <p:cNvSpPr/>
          <p:nvPr/>
        </p:nvSpPr>
        <p:spPr>
          <a:xfrm>
            <a:off x="1280160" y="5212080"/>
            <a:ext cx="5678424" cy="329184"/>
          </a:xfrm>
          <a:prstGeom prst="rect">
            <a:avLst/>
          </a:prstGeom>
          <a:noFill/>
          <a:ln/>
        </p:spPr>
        <p:txBody>
          <a:bodyPr wrap="square" lIns="0" tIns="0" rIns="0" bIns="0" rtlCol="0" anchor="ctr"/>
          <a:lstStyle/>
          <a:p>
            <a:pPr indent="0" marL="0">
              <a:lnSpc>
                <a:spcPct val="115000"/>
              </a:lnSpc>
              <a:buNone/>
            </a:pPr>
            <a:r>
              <a:rPr lang="en-US" sz="900" dirty="0">
                <a:solidFill>
                  <a:srgbClr val="9A938A"/>
                </a:solidFill>
                <a:latin typeface="Yu Gothic" pitchFamily="34" charset="0"/>
                <a:ea typeface="Yu Gothic" pitchFamily="34" charset="-122"/>
                <a:cs typeface="Yu Gothic" pitchFamily="34" charset="-120"/>
              </a:rPr>
              <a:t>期中報酬も成功報酬も取らない。デット2億円の調達コストをWineBankが負担し、損益は出資比率で按分する。投資家が儲からなければWineBankも儲からない。</a:t>
            </a:r>
            <a:endParaRPr lang="en-US" sz="900" dirty="0"/>
          </a:p>
        </p:txBody>
      </p:sp>
      <p:sp>
        <p:nvSpPr>
          <p:cNvPr id="31" name="Shape 29"/>
          <p:cNvSpPr/>
          <p:nvPr/>
        </p:nvSpPr>
        <p:spPr>
          <a:xfrm>
            <a:off x="7470648" y="1572768"/>
            <a:ext cx="4062679" cy="4041648"/>
          </a:xfrm>
          <a:prstGeom prst="roundRect">
            <a:avLst>
              <a:gd name="adj" fmla="val 1018"/>
            </a:avLst>
          </a:prstGeom>
          <a:solidFill>
            <a:srgbClr val="1F1D19"/>
          </a:solidFill>
          <a:ln w="9525">
            <a:solidFill>
              <a:srgbClr val="6E5730"/>
            </a:solidFill>
            <a:prstDash val="solid"/>
          </a:ln>
        </p:spPr>
      </p:sp>
      <p:sp>
        <p:nvSpPr>
          <p:cNvPr id="32" name="Text 30"/>
          <p:cNvSpPr/>
          <p:nvPr/>
        </p:nvSpPr>
        <p:spPr>
          <a:xfrm>
            <a:off x="7726680" y="1755648"/>
            <a:ext cx="3550615" cy="256032"/>
          </a:xfrm>
          <a:prstGeom prst="rect">
            <a:avLst/>
          </a:prstGeom>
          <a:noFill/>
          <a:ln/>
        </p:spPr>
        <p:txBody>
          <a:bodyPr wrap="square" lIns="0" tIns="0" rIns="0" bIns="0" rtlCol="0" anchor="ctr"/>
          <a:lstStyle/>
          <a:p>
            <a:pPr indent="0" marL="0">
              <a:buNone/>
            </a:pPr>
            <a:r>
              <a:rPr lang="en-US" sz="1250" b="1" dirty="0">
                <a:solidFill>
                  <a:srgbClr val="C9A96E"/>
                </a:solidFill>
                <a:latin typeface="Yu Gothic" pitchFamily="34" charset="0"/>
                <a:ea typeface="Yu Gothic" pitchFamily="34" charset="-122"/>
                <a:cs typeface="Yu Gothic" pitchFamily="34" charset="-120"/>
              </a:rPr>
              <a:t>貴社の投資基準との照合</a:t>
            </a:r>
            <a:endParaRPr lang="en-US" sz="1250" dirty="0"/>
          </a:p>
        </p:txBody>
      </p:sp>
      <p:sp>
        <p:nvSpPr>
          <p:cNvPr id="33" name="Shape 31"/>
          <p:cNvSpPr/>
          <p:nvPr/>
        </p:nvSpPr>
        <p:spPr>
          <a:xfrm>
            <a:off x="7726680" y="2180844"/>
            <a:ext cx="137160" cy="137160"/>
          </a:xfrm>
          <a:prstGeom prst="ellipse">
            <a:avLst/>
          </a:prstGeom>
          <a:solidFill>
            <a:srgbClr val="A78450"/>
          </a:solidFill>
          <a:ln w="11430">
            <a:solidFill>
              <a:srgbClr val="A78450"/>
            </a:solidFill>
            <a:prstDash val="solid"/>
          </a:ln>
        </p:spPr>
      </p:sp>
      <p:sp>
        <p:nvSpPr>
          <p:cNvPr id="34" name="Text 32"/>
          <p:cNvSpPr/>
          <p:nvPr/>
        </p:nvSpPr>
        <p:spPr>
          <a:xfrm>
            <a:off x="7726680" y="2180844"/>
            <a:ext cx="137160" cy="137160"/>
          </a:xfrm>
          <a:prstGeom prst="rect">
            <a:avLst/>
          </a:prstGeom>
          <a:noFill/>
          <a:ln/>
        </p:spPr>
        <p:txBody>
          <a:bodyPr wrap="square" lIns="0" tIns="0" rIns="0" bIns="0" rtlCol="0" anchor="ctr"/>
          <a:lstStyle/>
          <a:p>
            <a:pPr algn="ctr" indent="0" marL="0">
              <a:buNone/>
            </a:pPr>
            <a:endParaRPr lang="en-US" sz="1100" dirty="0"/>
          </a:p>
        </p:txBody>
      </p:sp>
      <p:sp>
        <p:nvSpPr>
          <p:cNvPr id="35" name="Text 33"/>
          <p:cNvSpPr/>
          <p:nvPr/>
        </p:nvSpPr>
        <p:spPr>
          <a:xfrm>
            <a:off x="7964424" y="212140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想定利回り20%（実績）に対して</a:t>
            </a:r>
            <a:endParaRPr lang="en-US" sz="1050" dirty="0"/>
          </a:p>
        </p:txBody>
      </p:sp>
      <p:sp>
        <p:nvSpPr>
          <p:cNvPr id="36" name="Text 34"/>
          <p:cNvSpPr/>
          <p:nvPr/>
        </p:nvSpPr>
        <p:spPr>
          <a:xfrm>
            <a:off x="7964424" y="235000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在庫回転12ヶ月を主線とし、エクイティ利回り42.0%。想定レンジ9〜18ヶ月では29.8〜54.2%となり、いずれも貴社基準を上回る。</a:t>
            </a:r>
            <a:endParaRPr lang="en-US" sz="900" dirty="0"/>
          </a:p>
        </p:txBody>
      </p:sp>
      <p:sp>
        <p:nvSpPr>
          <p:cNvPr id="37" name="Text 35"/>
          <p:cNvSpPr/>
          <p:nvPr/>
        </p:nvSpPr>
        <p:spPr>
          <a:xfrm>
            <a:off x="7964424" y="274320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SPC在庫を優先して売却することで回転12ヶ月を実現する。回転期間を運用KPIとして四半期報告する。</a:t>
            </a:r>
            <a:endParaRPr lang="en-US" sz="900" dirty="0"/>
          </a:p>
        </p:txBody>
      </p:sp>
      <p:sp>
        <p:nvSpPr>
          <p:cNvPr id="38" name="Shape 36"/>
          <p:cNvSpPr/>
          <p:nvPr/>
        </p:nvSpPr>
        <p:spPr>
          <a:xfrm>
            <a:off x="7726680" y="3369564"/>
            <a:ext cx="137160" cy="137160"/>
          </a:xfrm>
          <a:prstGeom prst="ellipse">
            <a:avLst/>
          </a:prstGeom>
          <a:solidFill>
            <a:srgbClr val="A78450"/>
          </a:solidFill>
          <a:ln w="11430">
            <a:solidFill>
              <a:srgbClr val="A78450"/>
            </a:solidFill>
            <a:prstDash val="solid"/>
          </a:ln>
        </p:spPr>
      </p:sp>
      <p:sp>
        <p:nvSpPr>
          <p:cNvPr id="39" name="Text 37"/>
          <p:cNvSpPr/>
          <p:nvPr/>
        </p:nvSpPr>
        <p:spPr>
          <a:xfrm>
            <a:off x="7726680" y="3369564"/>
            <a:ext cx="137160" cy="137160"/>
          </a:xfrm>
          <a:prstGeom prst="rect">
            <a:avLst/>
          </a:prstGeom>
          <a:noFill/>
          <a:ln/>
        </p:spPr>
        <p:txBody>
          <a:bodyPr wrap="square" lIns="0" tIns="0" rIns="0" bIns="0" rtlCol="0" anchor="ctr"/>
          <a:lstStyle/>
          <a:p>
            <a:pPr algn="ctr" indent="0" marL="0">
              <a:buNone/>
            </a:pPr>
            <a:endParaRPr lang="en-US" sz="1100" dirty="0"/>
          </a:p>
        </p:txBody>
      </p:sp>
      <p:sp>
        <p:nvSpPr>
          <p:cNvPr id="40" name="Text 38"/>
          <p:cNvSpPr/>
          <p:nvPr/>
        </p:nvSpPr>
        <p:spPr>
          <a:xfrm>
            <a:off x="7964424" y="331012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解約条件に対して</a:t>
            </a:r>
            <a:endParaRPr lang="en-US" sz="1050" dirty="0"/>
          </a:p>
        </p:txBody>
      </p:sp>
      <p:sp>
        <p:nvSpPr>
          <p:cNvPr id="41" name="Text 39"/>
          <p:cNvSpPr/>
          <p:nvPr/>
        </p:nvSpPr>
        <p:spPr>
          <a:xfrm>
            <a:off x="7964424" y="353872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運用期間5年・当初3年ロックアップ・4年目以降は年度ごとの解約。</a:t>
            </a:r>
            <a:endParaRPr lang="en-US" sz="900" dirty="0"/>
          </a:p>
        </p:txBody>
      </p:sp>
      <p:sp>
        <p:nvSpPr>
          <p:cNvPr id="42" name="Text 40"/>
          <p:cNvSpPr/>
          <p:nvPr/>
        </p:nvSpPr>
        <p:spPr>
          <a:xfrm>
            <a:off x="7964424" y="393192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この設計により現金保有を5%に抑え、総額の95%をワインに充当できる。半期解約を前提とすると稼働率が下がり42.0%→37.4%に低下する。</a:t>
            </a:r>
            <a:endParaRPr lang="en-US" sz="900" dirty="0"/>
          </a:p>
        </p:txBody>
      </p:sp>
      <p:sp>
        <p:nvSpPr>
          <p:cNvPr id="43" name="Shape 41"/>
          <p:cNvSpPr/>
          <p:nvPr/>
        </p:nvSpPr>
        <p:spPr>
          <a:xfrm>
            <a:off x="7726680" y="4558284"/>
            <a:ext cx="137160" cy="137160"/>
          </a:xfrm>
          <a:prstGeom prst="ellipse">
            <a:avLst/>
          </a:prstGeom>
          <a:solidFill>
            <a:srgbClr val="A78450"/>
          </a:solidFill>
          <a:ln w="11430">
            <a:solidFill>
              <a:srgbClr val="A78450"/>
            </a:solidFill>
            <a:prstDash val="solid"/>
          </a:ln>
        </p:spPr>
      </p:sp>
      <p:sp>
        <p:nvSpPr>
          <p:cNvPr id="44" name="Text 42"/>
          <p:cNvSpPr/>
          <p:nvPr/>
        </p:nvSpPr>
        <p:spPr>
          <a:xfrm>
            <a:off x="7726680" y="4558284"/>
            <a:ext cx="137160" cy="137160"/>
          </a:xfrm>
          <a:prstGeom prst="rect">
            <a:avLst/>
          </a:prstGeom>
          <a:noFill/>
          <a:ln/>
        </p:spPr>
        <p:txBody>
          <a:bodyPr wrap="square" lIns="0" tIns="0" rIns="0" bIns="0" rtlCol="0" anchor="ctr"/>
          <a:lstStyle/>
          <a:p>
            <a:pPr algn="ctr" indent="0" marL="0">
              <a:buNone/>
            </a:pPr>
            <a:endParaRPr lang="en-US" sz="1100" dirty="0"/>
          </a:p>
        </p:txBody>
      </p:sp>
      <p:sp>
        <p:nvSpPr>
          <p:cNvPr id="45" name="Text 43"/>
          <p:cNvSpPr/>
          <p:nvPr/>
        </p:nvSpPr>
        <p:spPr>
          <a:xfrm>
            <a:off x="7964424" y="4498848"/>
            <a:ext cx="3312871" cy="219456"/>
          </a:xfrm>
          <a:prstGeom prst="rect">
            <a:avLst/>
          </a:prstGeom>
          <a:noFill/>
          <a:ln/>
        </p:spPr>
        <p:txBody>
          <a:bodyPr wrap="square" lIns="0" tIns="0" rIns="0" bIns="0" rtlCol="0" anchor="ctr"/>
          <a:lstStyle/>
          <a:p>
            <a:pPr indent="0" marL="0">
              <a:buNone/>
            </a:pPr>
            <a:r>
              <a:rPr lang="en-US" sz="1050" b="1" dirty="0">
                <a:solidFill>
                  <a:srgbClr val="EFEBE3"/>
                </a:solidFill>
                <a:latin typeface="Yu Gothic" pitchFamily="34" charset="0"/>
                <a:ea typeface="Yu Gothic" pitchFamily="34" charset="-122"/>
                <a:cs typeface="Yu Gothic" pitchFamily="34" charset="-120"/>
              </a:rPr>
              <a:t>リスク分散に対して</a:t>
            </a:r>
            <a:endParaRPr lang="en-US" sz="1050" dirty="0"/>
          </a:p>
        </p:txBody>
      </p:sp>
      <p:sp>
        <p:nvSpPr>
          <p:cNvPr id="46" name="Text 44"/>
          <p:cNvSpPr/>
          <p:nvPr/>
        </p:nvSpPr>
        <p:spPr>
          <a:xfrm>
            <a:off x="7964424" y="4727448"/>
            <a:ext cx="3312871" cy="384048"/>
          </a:xfrm>
          <a:prstGeom prst="rect">
            <a:avLst/>
          </a:prstGeom>
          <a:noFill/>
          <a:ln/>
        </p:spPr>
        <p:txBody>
          <a:bodyPr wrap="square" lIns="0" tIns="0" rIns="0" bIns="0" rtlCol="0" anchor="ctr"/>
          <a:lstStyle/>
          <a:p>
            <a:pPr indent="0" marL="0">
              <a:lnSpc>
                <a:spcPct val="118000"/>
              </a:lnSpc>
              <a:buNone/>
            </a:pPr>
            <a:r>
              <a:rPr lang="en-US" sz="900" dirty="0">
                <a:solidFill>
                  <a:srgbClr val="9A938A"/>
                </a:solidFill>
                <a:latin typeface="Yu Gothic" pitchFamily="34" charset="0"/>
                <a:ea typeface="Yu Gothic" pitchFamily="34" charset="-122"/>
                <a:cs typeface="Yu Gothic" pitchFamily="34" charset="-120"/>
              </a:rPr>
              <a:t>伝統的資産と相関の低い実物資産。既存30億円のポートフォリオに対しエクイティ3億円は約10%。</a:t>
            </a:r>
            <a:endParaRPr lang="en-US" sz="900" dirty="0"/>
          </a:p>
        </p:txBody>
      </p:sp>
      <p:sp>
        <p:nvSpPr>
          <p:cNvPr id="47" name="Text 45"/>
          <p:cNvSpPr/>
          <p:nvPr/>
        </p:nvSpPr>
        <p:spPr>
          <a:xfrm>
            <a:off x="7964424" y="5120640"/>
            <a:ext cx="3312871" cy="457200"/>
          </a:xfrm>
          <a:prstGeom prst="rect">
            <a:avLst/>
          </a:prstGeom>
          <a:noFill/>
          <a:ln/>
        </p:spPr>
        <p:txBody>
          <a:bodyPr wrap="square" lIns="0" tIns="0" rIns="0" bIns="0" rtlCol="0" anchor="ctr"/>
          <a:lstStyle/>
          <a:p>
            <a:pPr indent="0" marL="0">
              <a:lnSpc>
                <a:spcPct val="118000"/>
              </a:lnSpc>
              <a:buNone/>
            </a:pPr>
            <a:r>
              <a:rPr lang="en-US" sz="900" dirty="0">
                <a:solidFill>
                  <a:srgbClr val="C9A96E"/>
                </a:solidFill>
                <a:latin typeface="Yu Gothic" pitchFamily="34" charset="0"/>
                <a:ea typeface="Yu Gothic" pitchFamily="34" charset="-122"/>
                <a:cs typeface="Yu Gothic" pitchFamily="34" charset="-120"/>
              </a:rPr>
              <a:t>単一銘柄ではなく約3.8万本・複数産地への分散となり、ポートフォリオ内での分散効果が働く。</a:t>
            </a:r>
            <a:endParaRPr lang="en-US" sz="900" dirty="0"/>
          </a:p>
        </p:txBody>
      </p:sp>
      <p:sp>
        <p:nvSpPr>
          <p:cNvPr id="48" name="Shape 46"/>
          <p:cNvSpPr/>
          <p:nvPr/>
        </p:nvSpPr>
        <p:spPr>
          <a:xfrm>
            <a:off x="658368" y="5724144"/>
            <a:ext cx="10874959" cy="566928"/>
          </a:xfrm>
          <a:prstGeom prst="roundRect">
            <a:avLst>
              <a:gd name="adj" fmla="val 7258"/>
            </a:avLst>
          </a:prstGeom>
          <a:solidFill>
            <a:srgbClr val="171614"/>
          </a:solidFill>
          <a:ln w="9525">
            <a:solidFill>
              <a:srgbClr val="2E2A24"/>
            </a:solidFill>
            <a:prstDash val="solid"/>
          </a:ln>
        </p:spPr>
      </p:sp>
      <p:sp>
        <p:nvSpPr>
          <p:cNvPr id="49" name="Text 47"/>
          <p:cNvSpPr/>
          <p:nvPr/>
        </p:nvSpPr>
        <p:spPr>
          <a:xfrm>
            <a:off x="932688" y="5815584"/>
            <a:ext cx="10326319" cy="384048"/>
          </a:xfrm>
          <a:prstGeom prst="rect">
            <a:avLst/>
          </a:prstGeom>
          <a:noFill/>
          <a:ln/>
        </p:spPr>
        <p:txBody>
          <a:bodyPr wrap="square" lIns="0" tIns="0" rIns="0" bIns="0" rtlCol="0" anchor="ctr"/>
          <a:lstStyle/>
          <a:p>
            <a:pPr indent="0" marL="0">
              <a:lnSpc>
                <a:spcPct val="120000"/>
              </a:lnSpc>
              <a:buNone/>
            </a:pPr>
            <a:r>
              <a:rPr lang="en-US" sz="1050" dirty="0">
                <a:solidFill>
                  <a:srgbClr val="EFEBE3"/>
                </a:solidFill>
                <a:latin typeface="Yu Gothic" pitchFamily="34" charset="0"/>
                <a:ea typeface="Yu Gothic" pitchFamily="34" charset="-122"/>
                <a:cs typeface="Yu Gothic" pitchFamily="34" charset="-120"/>
              </a:rPr>
              <a:t>ワインは飲めば消える嗜好品ではなく、正規流通の価格差という再現性のある収益源です。その価格差を取りに行く実務を、55年分の免許と取引関係で担うのがWineBankです。本ファンドは、値上がりを待つ投資ではなく、この実務そのものに出資いただくご提案です。</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0C0C"/>
        </a:solidFill>
      </p:bgPr>
    </p:bg>
    <p:spTree>
      <p:nvGrpSpPr>
        <p:cNvPr id="1" name=""/>
        <p:cNvGrpSpPr/>
        <p:nvPr/>
      </p:nvGrpSpPr>
      <p:grpSpPr>
        <a:xfrm>
          <a:off x="0" y="0"/>
          <a:ext cx="0" cy="0"/>
          <a:chOff x="0" y="0"/>
          <a:chExt cx="0" cy="0"/>
        </a:xfrm>
      </p:grpSpPr>
      <p:sp>
        <p:nvSpPr>
          <p:cNvPr id="2" name="Shape 0"/>
          <p:cNvSpPr/>
          <p:nvPr/>
        </p:nvSpPr>
        <p:spPr>
          <a:xfrm>
            <a:off x="-1463040" y="1417320"/>
            <a:ext cx="4023360" cy="4023360"/>
          </a:xfrm>
          <a:prstGeom prst="ellipse">
            <a:avLst/>
          </a:prstGeom>
          <a:solidFill>
            <a:srgbClr val="0C0C0C"/>
          </a:solidFill>
          <a:ln w="13970">
            <a:solidFill>
              <a:srgbClr val="1E1A15"/>
            </a:solidFill>
            <a:prstDash val="solid"/>
          </a:ln>
        </p:spPr>
      </p:sp>
      <p:sp>
        <p:nvSpPr>
          <p:cNvPr id="3" name="Shape 1"/>
          <p:cNvSpPr/>
          <p:nvPr/>
        </p:nvSpPr>
        <p:spPr>
          <a:xfrm>
            <a:off x="9966960" y="-1188720"/>
            <a:ext cx="4023360" cy="4023360"/>
          </a:xfrm>
          <a:prstGeom prst="ellipse">
            <a:avLst/>
          </a:prstGeom>
          <a:solidFill>
            <a:srgbClr val="0C0C0C"/>
          </a:solidFill>
          <a:ln w="11430">
            <a:solidFill>
              <a:srgbClr val="6E5730"/>
            </a:solidFill>
            <a:prstDash val="solid"/>
          </a:ln>
        </p:spPr>
      </p:sp>
      <p:sp>
        <p:nvSpPr>
          <p:cNvPr id="4" name="Text 2"/>
          <p:cNvSpPr/>
          <p:nvPr/>
        </p:nvSpPr>
        <p:spPr>
          <a:xfrm>
            <a:off x="658368" y="2487168"/>
            <a:ext cx="10874959" cy="694944"/>
          </a:xfrm>
          <a:prstGeom prst="rect">
            <a:avLst/>
          </a:prstGeom>
          <a:noFill/>
          <a:ln/>
        </p:spPr>
        <p:txBody>
          <a:bodyPr wrap="square" lIns="0" tIns="0" rIns="0" bIns="0" rtlCol="0" anchor="ctr"/>
          <a:lstStyle/>
          <a:p>
            <a:pPr algn="ctr" indent="0" marL="0">
              <a:buNone/>
            </a:pPr>
            <a:r>
              <a:rPr lang="en-US" sz="3400" b="1" dirty="0">
                <a:solidFill>
                  <a:srgbClr val="EFEBE3"/>
                </a:solidFill>
                <a:latin typeface="Yu Mincho" pitchFamily="34" charset="0"/>
                <a:ea typeface="Yu Mincho" pitchFamily="34" charset="-122"/>
                <a:cs typeface="Yu Mincho" pitchFamily="34" charset="-120"/>
              </a:rPr>
              <a:t>すべての人にファインワインを</a:t>
            </a:r>
            <a:endParaRPr lang="en-US" sz="3400" dirty="0"/>
          </a:p>
        </p:txBody>
      </p:sp>
      <p:sp>
        <p:nvSpPr>
          <p:cNvPr id="5" name="Text 3"/>
          <p:cNvSpPr/>
          <p:nvPr/>
        </p:nvSpPr>
        <p:spPr>
          <a:xfrm>
            <a:off x="658368" y="3255264"/>
            <a:ext cx="10874959" cy="310896"/>
          </a:xfrm>
          <a:prstGeom prst="rect">
            <a:avLst/>
          </a:prstGeom>
          <a:noFill/>
          <a:ln/>
        </p:spPr>
        <p:txBody>
          <a:bodyPr wrap="square" lIns="0" tIns="0" rIns="0" bIns="0" rtlCol="0" anchor="ctr"/>
          <a:lstStyle/>
          <a:p>
            <a:pPr algn="ctr" indent="0" marL="0">
              <a:buNone/>
            </a:pPr>
            <a:r>
              <a:rPr lang="en-US" sz="1300" b="1" spc="450" kern="0" dirty="0">
                <a:solidFill>
                  <a:srgbClr val="A78450"/>
                </a:solidFill>
                <a:latin typeface="Cambria" pitchFamily="34" charset="0"/>
                <a:ea typeface="Cambria" pitchFamily="34" charset="-122"/>
                <a:cs typeface="Cambria" pitchFamily="34" charset="-120"/>
              </a:rPr>
              <a:t>Wine × Technology</a:t>
            </a:r>
            <a:endParaRPr lang="en-US" sz="1300" dirty="0"/>
          </a:p>
        </p:txBody>
      </p:sp>
      <p:sp>
        <p:nvSpPr>
          <p:cNvPr id="6" name="Text 4"/>
          <p:cNvSpPr/>
          <p:nvPr/>
        </p:nvSpPr>
        <p:spPr>
          <a:xfrm>
            <a:off x="658368" y="4133088"/>
            <a:ext cx="10874959" cy="310896"/>
          </a:xfrm>
          <a:prstGeom prst="rect">
            <a:avLst/>
          </a:prstGeom>
          <a:noFill/>
          <a:ln/>
        </p:spPr>
        <p:txBody>
          <a:bodyPr wrap="square" lIns="0" tIns="0" rIns="0" bIns="0" rtlCol="0" anchor="ctr"/>
          <a:lstStyle/>
          <a:p>
            <a:pPr algn="ctr" indent="0" marL="0">
              <a:buNone/>
            </a:pPr>
            <a:r>
              <a:rPr lang="en-US" sz="1500" b="1" dirty="0">
                <a:solidFill>
                  <a:srgbClr val="C9A96E"/>
                </a:solidFill>
                <a:latin typeface="Yu Mincho" pitchFamily="34" charset="0"/>
                <a:ea typeface="Yu Mincho" pitchFamily="34" charset="-122"/>
                <a:cs typeface="Yu Mincho" pitchFamily="34" charset="-120"/>
              </a:rPr>
              <a:t>株式会社WineBank</a:t>
            </a:r>
            <a:endParaRPr lang="en-US" sz="1500" dirty="0"/>
          </a:p>
        </p:txBody>
      </p:sp>
      <p:sp>
        <p:nvSpPr>
          <p:cNvPr id="7" name="Text 5"/>
          <p:cNvSpPr/>
          <p:nvPr/>
        </p:nvSpPr>
        <p:spPr>
          <a:xfrm>
            <a:off x="658368" y="4462272"/>
            <a:ext cx="10874959" cy="256032"/>
          </a:xfrm>
          <a:prstGeom prst="rect">
            <a:avLst/>
          </a:prstGeom>
          <a:noFill/>
          <a:ln/>
        </p:spPr>
        <p:txBody>
          <a:bodyPr wrap="square" lIns="0" tIns="0" rIns="0" bIns="0" rtlCol="0" anchor="ctr"/>
          <a:lstStyle/>
          <a:p>
            <a:pPr algn="ctr" indent="0" marL="0">
              <a:buNone/>
            </a:pPr>
            <a:r>
              <a:rPr lang="en-US" sz="950" dirty="0">
                <a:solidFill>
                  <a:srgbClr val="6E675E"/>
                </a:solidFill>
                <a:latin typeface="Yu Gothic" pitchFamily="34" charset="0"/>
                <a:ea typeface="Yu Gothic" pitchFamily="34" charset="-122"/>
                <a:cs typeface="Yu Gothic" pitchFamily="34" charset="-120"/>
              </a:rPr>
              <a:t>創業1970年　／　東京都港区六本木4-12-8 第6DMJビル 2階</a:t>
            </a:r>
            <a:endParaRPr lang="en-US" sz="950" dirty="0"/>
          </a:p>
        </p:txBody>
      </p:sp>
      <p:sp>
        <p:nvSpPr>
          <p:cNvPr id="8" name="Text 6"/>
          <p:cNvSpPr/>
          <p:nvPr/>
        </p:nvSpPr>
        <p:spPr>
          <a:xfrm>
            <a:off x="658368" y="6437376"/>
            <a:ext cx="5029200" cy="219456"/>
          </a:xfrm>
          <a:prstGeom prst="rect">
            <a:avLst/>
          </a:prstGeom>
          <a:noFill/>
          <a:ln/>
        </p:spPr>
        <p:txBody>
          <a:bodyPr wrap="square" lIns="0" tIns="0" rIns="0" bIns="0" rtlCol="0" anchor="ctr"/>
          <a:lstStyle/>
          <a:p>
            <a:pPr indent="0" marL="0">
              <a:buNone/>
            </a:pPr>
            <a:r>
              <a:rPr lang="en-US" sz="850" dirty="0">
                <a:solidFill>
                  <a:srgbClr val="6E675E"/>
                </a:solidFill>
                <a:latin typeface="Yu Gothic" pitchFamily="34" charset="0"/>
                <a:ea typeface="Yu Gothic" pitchFamily="34" charset="-122"/>
                <a:cs typeface="Yu Gothic" pitchFamily="34" charset="-120"/>
              </a:rPr>
              <a:t>CONFIDENTIAL ｜ 株式会社WineBank</a:t>
            </a:r>
            <a:endParaRPr lang="en-US" sz="850" dirty="0"/>
          </a:p>
        </p:txBody>
      </p:sp>
      <p:sp>
        <p:nvSpPr>
          <p:cNvPr id="9" name="Text 7"/>
          <p:cNvSpPr/>
          <p:nvPr/>
        </p:nvSpPr>
        <p:spPr>
          <a:xfrm>
            <a:off x="10618927" y="6437376"/>
            <a:ext cx="914400" cy="219456"/>
          </a:xfrm>
          <a:prstGeom prst="rect">
            <a:avLst/>
          </a:prstGeom>
          <a:noFill/>
          <a:ln/>
        </p:spPr>
        <p:txBody>
          <a:bodyPr wrap="square" lIns="0" tIns="0" rIns="0" bIns="0" rtlCol="0" anchor="ctr"/>
          <a:lstStyle/>
          <a:p>
            <a:pPr algn="r" indent="0" marL="0">
              <a:buNone/>
            </a:pPr>
            <a:r>
              <a:rPr lang="en-US" sz="950" spc="150" kern="0" dirty="0">
                <a:solidFill>
                  <a:srgbClr val="6E5730"/>
                </a:solidFill>
                <a:latin typeface="Cambria" pitchFamily="34" charset="0"/>
                <a:ea typeface="Cambria" pitchFamily="34" charset="-122"/>
                <a:cs typeface="Cambria" pitchFamily="34" charset="-120"/>
              </a:rPr>
              <a:t>22</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株式会社WineBank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ワインファンド（SPC）組成のご提案</dc:title>
  <dc:subject>PptxGenJS Presentation</dc:subject>
  <dc:creator>株式会社WineBank</dc:creator>
  <cp:lastModifiedBy>株式会社WineBank</cp:lastModifiedBy>
  <cp:revision>1</cp:revision>
  <dcterms:created xsi:type="dcterms:W3CDTF">2026-08-14T05:36:13Z</dcterms:created>
  <dcterms:modified xsi:type="dcterms:W3CDTF">2026-08-14T05:36:13Z</dcterms:modified>
</cp:coreProperties>
</file>