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定常年間利回り</a:t>
            </a:r>
          </a:p>
        </c:rich>
      </c:tx>
      <c:layout/>
      <c:overlay val="0"/>
    </c:title>
    <c:autoTitleDeleted val="0"/>
    <c:plotArea>
      <c:layout/>
      <c:barChart>
        <c:barDir val="col"/>
        <c:grouping val="clustered"/>
        <c:varyColors val="0"/>
        <c:ser>
          <c:idx val="0"/>
          <c:order val="0"/>
          <c:tx>
            <c:strRef>
              <c:f>Sheet1!$B$1</c:f>
              <c:strCache>
                <c:ptCount val="1"/>
                <c:pt idx="0">
                  <c:v>定常年間利回り</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23.1</c:v>
                </c:pt>
                <c:pt idx="1">
                  <c:v>16.9</c:v>
                </c:pt>
                <c:pt idx="2">
                  <c:v>13.1</c:v>
                </c:pt>
                <c:pt idx="3">
                  <c:v>10.7</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投資家IRR（3年）</a:t>
            </a:r>
          </a:p>
        </c:rich>
      </c:tx>
      <c:layout/>
      <c:overlay val="0"/>
    </c:title>
    <c:autoTitleDeleted val="0"/>
    <c:plotArea>
      <c:layout/>
      <c:barChart>
        <c:barDir val="col"/>
        <c:grouping val="clustered"/>
        <c:varyColors val="0"/>
        <c:ser>
          <c:idx val="0"/>
          <c:order val="0"/>
          <c:tx>
            <c:strRef>
              <c:f>Sheet1!$B$1</c:f>
              <c:strCache>
                <c:ptCount val="1"/>
                <c:pt idx="0">
                  <c:v>投資家IRR（3年）</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16.9</c:v>
                </c:pt>
                <c:pt idx="1">
                  <c:v>11</c:v>
                </c:pt>
                <c:pt idx="2">
                  <c:v>10.3</c:v>
                </c:pt>
                <c:pt idx="3">
                  <c:v>5.1</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投資家IRR（5年）</a:t>
            </a:r>
          </a:p>
        </c:rich>
      </c:tx>
      <c:layout/>
      <c:overlay val="0"/>
    </c:title>
    <c:autoTitleDeleted val="0"/>
    <c:plotArea>
      <c:layout/>
      <c:barChart>
        <c:barDir val="col"/>
        <c:grouping val="clustered"/>
        <c:varyColors val="0"/>
        <c:ser>
          <c:idx val="0"/>
          <c:order val="0"/>
          <c:tx>
            <c:strRef>
              <c:f>Sheet1!$B$1</c:f>
              <c:strCache>
                <c:ptCount val="1"/>
                <c:pt idx="0">
                  <c:v>投資家IRR（5年）</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20</c:v>
                </c:pt>
                <c:pt idx="1">
                  <c:v>13.3</c:v>
                </c:pt>
                <c:pt idx="2">
                  <c:v>9.6</c:v>
                </c:pt>
                <c:pt idx="3">
                  <c:v>9</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4"/>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在庫回転期間別 投資家IRR（3年・％）</a:t>
            </a:r>
          </a:p>
        </c:rich>
      </c:tx>
      <c:layout/>
      <c:overlay val="0"/>
    </c:title>
    <c:autoTitleDeleted val="0"/>
    <c:plotArea>
      <c:layout/>
      <c:barChart>
        <c:barDir val="col"/>
        <c:grouping val="clustered"/>
        <c:varyColors val="0"/>
        <c:ser>
          <c:idx val="0"/>
          <c:order val="0"/>
          <c:tx>
            <c:strRef>
              <c:f>Sheet1!$B$1</c:f>
              <c:strCache>
                <c:ptCount val="1"/>
                <c:pt idx="0">
                  <c:v>ポジティブ</c:v>
                </c:pt>
              </c:strCache>
            </c:strRef>
          </c:tx>
          <c:spPr>
            <a:solidFill>
              <a:srgbClr val="C9A96E"/>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36.7</c:v>
                </c:pt>
                <c:pt idx="1">
                  <c:v>24.3</c:v>
                </c:pt>
                <c:pt idx="2">
                  <c:v>22.2</c:v>
                </c:pt>
                <c:pt idx="3">
                  <c:v>11.8</c:v>
                </c:pt>
              </c:numCache>
            </c:numRef>
          </c:val>
        </c:ser>
        <c:ser>
          <c:idx val="1"/>
          <c:order val="1"/>
          <c:tx>
            <c:strRef>
              <c:f>Sheet1!$C$1</c:f>
              <c:strCache>
                <c:ptCount val="1"/>
                <c:pt idx="0">
                  <c:v>ニュートラル（主線）</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Sheet1!$C$2:$C$5</c:f>
              <c:numCache>
                <c:formatCode>General</c:formatCode>
                <c:ptCount val="4"/>
                <c:pt idx="0">
                  <c:v>16.9</c:v>
                </c:pt>
                <c:pt idx="1">
                  <c:v>11</c:v>
                </c:pt>
                <c:pt idx="2">
                  <c:v>10.3</c:v>
                </c:pt>
                <c:pt idx="3">
                  <c:v>5.1</c:v>
                </c:pt>
              </c:numCache>
            </c:numRef>
          </c:val>
        </c:ser>
        <c:ser>
          <c:idx val="2"/>
          <c:order val="2"/>
          <c:tx>
            <c:strRef>
              <c:f>Sheet1!$D$1</c:f>
              <c:strCache>
                <c:ptCount val="1"/>
                <c:pt idx="0">
                  <c:v>ネガティブ</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Sheet1!$D$2:$D$5</c:f>
              <c:numCache>
                <c:formatCode>General</c:formatCode>
                <c:ptCount val="4"/>
                <c:pt idx="0">
                  <c:v>13.9</c:v>
                </c:pt>
                <c:pt idx="1">
                  <c:v>9</c:v>
                </c:pt>
                <c:pt idx="2">
                  <c:v>8.4</c:v>
                </c:pt>
                <c:pt idx="3">
                  <c:v>4.1</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42"/>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legend>
      <c:legendPos val="b"/>
      <c:overlay val="0"/>
      <c:txPr>
        <a:bodyPr/>
        <a:lstStyle/>
        <a:p>
          <a:pPr>
            <a:defRPr sz="950">
              <a:solidFill>
                <a:srgbClr val="9A938A"/>
              </a:solidFill>
              <a:latin typeface="Yu Gothic"/>
              <a:cs typeface="Yu Gothic"/>
            </a:defRPr>
          </a:pPr>
          <a:endParaRPr lang="en-US"/>
        </a:p>
      </c:txPr>
    </c:legend>
    <c:plotVisOnly val="1"/>
    <c:dispBlanksAs val="span"/>
  </c:chart>
  <c:spPr>
    <a:solidFill>
      <a:srgbClr val="17161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5億円のワインファンド組成提案。8/5版に対し、①SPC人件費360万円、②WineBank→SPC現物譲渡1%、③商流・免許上の制約を反映した改訂版。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骨子。IRRの主線は回転9〜12ヶ月で11.0〜16.9%。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改訂は2点。影響は定常利回りで▲1.0pt、IRRで▲0.7pt。粗利率は33.3%→32.7%となる。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免許事業者であるWineBankが売買当事者。SPCは所有者として損益を受ける。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会計士・FMが必ず確認する論点。免許・口座・割当の3つの壁があるため、WineBankが当事者となる。1%は独立企業間価格の最小値として設定。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会社紹介資料17ページの流通価格構造をそのまま採用。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粗利率は33.3%から32.7%へ。譲渡1%は毎回の仕入に対して発生する。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SPC費用の合計は年3,739万円。人件費360万を加えた。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主線のレンジは11.0〜16.9%。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回転期間が一次的にリターンを決める。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値引きは割に合わない。チャネル増加が本筋。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3シナリオ比較。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譲渡1%・人件費は感応度としては小さい。回転と仕入価格が本丸。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免許・商流リスクと移転価格リスクを新規追加。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条件はドラフト。折半の定義は税前利益ベース。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次のステップ。免許・税務の確定を第2ステップに追加。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7818120" y="-868680"/>
            <a:ext cx="5577840" cy="5577840"/>
          </a:xfrm>
          <a:prstGeom prst="ellipse">
            <a:avLst/>
          </a:prstGeom>
          <a:solidFill>
            <a:srgbClr val="0C0C0C"/>
          </a:solidFill>
          <a:ln w="13970">
            <a:solidFill>
              <a:srgbClr val="1E1A15"/>
            </a:solidFill>
            <a:prstDash val="solid"/>
          </a:ln>
        </p:spPr>
      </p:sp>
      <p:sp>
        <p:nvSpPr>
          <p:cNvPr id="3" name="Shape 1"/>
          <p:cNvSpPr/>
          <p:nvPr/>
        </p:nvSpPr>
        <p:spPr>
          <a:xfrm>
            <a:off x="8732520" y="45720"/>
            <a:ext cx="3749040" cy="3749040"/>
          </a:xfrm>
          <a:prstGeom prst="ellipse">
            <a:avLst/>
          </a:prstGeom>
          <a:solidFill>
            <a:srgbClr val="0C0C0C"/>
          </a:solidFill>
          <a:ln w="11430">
            <a:solidFill>
              <a:srgbClr val="6E5730"/>
            </a:solidFill>
            <a:prstDash val="solid"/>
          </a:ln>
        </p:spPr>
      </p:sp>
      <p:sp>
        <p:nvSpPr>
          <p:cNvPr id="4" name="Shape 2"/>
          <p:cNvSpPr/>
          <p:nvPr/>
        </p:nvSpPr>
        <p:spPr>
          <a:xfrm>
            <a:off x="10287000" y="1600200"/>
            <a:ext cx="640080" cy="640080"/>
          </a:xfrm>
          <a:prstGeom prst="ellipse">
            <a:avLst/>
          </a:prstGeom>
          <a:solidFill>
            <a:srgbClr val="A78450"/>
          </a:solidFill>
          <a:ln w="12700">
            <a:solidFill>
              <a:srgbClr val="A78450"/>
            </a:solidFill>
            <a:prstDash val="solid"/>
          </a:ln>
        </p:spPr>
      </p:sp>
      <p:sp>
        <p:nvSpPr>
          <p:cNvPr id="5" name="Text 3"/>
          <p:cNvSpPr/>
          <p:nvPr/>
        </p:nvSpPr>
        <p:spPr>
          <a:xfrm>
            <a:off x="658368" y="566928"/>
            <a:ext cx="5486400" cy="274320"/>
          </a:xfrm>
          <a:prstGeom prst="rect">
            <a:avLst/>
          </a:prstGeom>
          <a:noFill/>
          <a:ln/>
        </p:spPr>
        <p:txBody>
          <a:bodyPr wrap="square" lIns="0" tIns="0" rIns="0" bIns="0" rtlCol="0" anchor="ctr"/>
          <a:lstStyle/>
          <a:p>
            <a:pPr indent="0" marL="0">
              <a:buNone/>
            </a:pPr>
            <a:r>
              <a:rPr lang="en-US" sz="1300" b="1" spc="550" kern="0" dirty="0">
                <a:solidFill>
                  <a:srgbClr val="EFEBE3"/>
                </a:solidFill>
                <a:latin typeface="Cambria" pitchFamily="34" charset="0"/>
                <a:ea typeface="Cambria" pitchFamily="34" charset="-122"/>
                <a:cs typeface="Cambria" pitchFamily="34" charset="-120"/>
              </a:rPr>
              <a:t>WINEBANK</a:t>
            </a:r>
            <a:endParaRPr lang="en-US" sz="1300" dirty="0"/>
          </a:p>
        </p:txBody>
      </p:sp>
      <p:sp>
        <p:nvSpPr>
          <p:cNvPr id="6" name="Text 4"/>
          <p:cNvSpPr/>
          <p:nvPr/>
        </p:nvSpPr>
        <p:spPr>
          <a:xfrm>
            <a:off x="658368" y="2212848"/>
            <a:ext cx="7680960" cy="256032"/>
          </a:xfrm>
          <a:prstGeom prst="rect">
            <a:avLst/>
          </a:prstGeom>
          <a:noFill/>
          <a:ln/>
        </p:spPr>
        <p:txBody>
          <a:bodyPr wrap="square" lIns="0" tIns="0" rIns="0" bIns="0" rtlCol="0" anchor="ctr"/>
          <a:lstStyle/>
          <a:p>
            <a:pPr indent="0" marL="0">
              <a:buNone/>
            </a:pPr>
            <a:r>
              <a:rPr lang="en-US" sz="1100" b="1" spc="360" kern="0" dirty="0">
                <a:solidFill>
                  <a:srgbClr val="A78450"/>
                </a:solidFill>
                <a:latin typeface="Cambria" pitchFamily="34" charset="0"/>
                <a:ea typeface="Cambria" pitchFamily="34" charset="-122"/>
                <a:cs typeface="Cambria" pitchFamily="34" charset="-120"/>
              </a:rPr>
              <a:t>WINE FUND ｜ SPC PROPOSAL</a:t>
            </a:r>
            <a:endParaRPr lang="en-US" sz="1100" dirty="0"/>
          </a:p>
        </p:txBody>
      </p:sp>
      <p:sp>
        <p:nvSpPr>
          <p:cNvPr id="7" name="Text 5"/>
          <p:cNvSpPr/>
          <p:nvPr/>
        </p:nvSpPr>
        <p:spPr>
          <a:xfrm>
            <a:off x="658368" y="2560320"/>
            <a:ext cx="7863840" cy="713232"/>
          </a:xfrm>
          <a:prstGeom prst="rect">
            <a:avLst/>
          </a:prstGeom>
          <a:noFill/>
          <a:ln/>
        </p:spPr>
        <p:txBody>
          <a:bodyPr wrap="square" lIns="0" tIns="0" rIns="0" bIns="0" rtlCol="0" anchor="ctr"/>
          <a:lstStyle/>
          <a:p>
            <a:pPr indent="0" marL="0">
              <a:buNone/>
            </a:pPr>
            <a:r>
              <a:rPr lang="en-US" sz="4100" b="1" dirty="0">
                <a:solidFill>
                  <a:srgbClr val="EFEBE3"/>
                </a:solidFill>
                <a:latin typeface="Yu Mincho" pitchFamily="34" charset="0"/>
                <a:ea typeface="Yu Mincho" pitchFamily="34" charset="-122"/>
                <a:cs typeface="Yu Mincho" pitchFamily="34" charset="-120"/>
              </a:rPr>
              <a:t>ワインファンド（SPC）</a:t>
            </a:r>
            <a:endParaRPr lang="en-US" sz="4100" dirty="0"/>
          </a:p>
        </p:txBody>
      </p:sp>
      <p:sp>
        <p:nvSpPr>
          <p:cNvPr id="8" name="Text 6"/>
          <p:cNvSpPr/>
          <p:nvPr/>
        </p:nvSpPr>
        <p:spPr>
          <a:xfrm>
            <a:off x="658368" y="3255264"/>
            <a:ext cx="7863840" cy="713232"/>
          </a:xfrm>
          <a:prstGeom prst="rect">
            <a:avLst/>
          </a:prstGeom>
          <a:noFill/>
          <a:ln/>
        </p:spPr>
        <p:txBody>
          <a:bodyPr wrap="square" lIns="0" tIns="0" rIns="0" bIns="0" rtlCol="0" anchor="ctr"/>
          <a:lstStyle/>
          <a:p>
            <a:pPr indent="0" marL="0">
              <a:buNone/>
            </a:pPr>
            <a:r>
              <a:rPr lang="en-US" sz="4100" b="1" dirty="0">
                <a:solidFill>
                  <a:srgbClr val="C9A96E"/>
                </a:solidFill>
                <a:latin typeface="Yu Mincho" pitchFamily="34" charset="0"/>
                <a:ea typeface="Yu Mincho" pitchFamily="34" charset="-122"/>
                <a:cs typeface="Yu Mincho" pitchFamily="34" charset="-120"/>
              </a:rPr>
              <a:t>組成のご提案</a:t>
            </a:r>
            <a:endParaRPr lang="en-US" sz="4100" dirty="0"/>
          </a:p>
        </p:txBody>
      </p:sp>
      <p:sp>
        <p:nvSpPr>
          <p:cNvPr id="9" name="Text 7"/>
          <p:cNvSpPr/>
          <p:nvPr/>
        </p:nvSpPr>
        <p:spPr>
          <a:xfrm>
            <a:off x="658368" y="4133088"/>
            <a:ext cx="8229600" cy="274320"/>
          </a:xfrm>
          <a:prstGeom prst="rect">
            <a:avLst/>
          </a:prstGeom>
          <a:noFill/>
          <a:ln/>
        </p:spPr>
        <p:txBody>
          <a:bodyPr wrap="square" lIns="0" tIns="0" rIns="0" bIns="0" rtlCol="0" anchor="ctr"/>
          <a:lstStyle/>
          <a:p>
            <a:pPr indent="0" marL="0">
              <a:buNone/>
            </a:pPr>
            <a:r>
              <a:rPr lang="en-US" sz="1250" dirty="0">
                <a:solidFill>
                  <a:srgbClr val="9A938A"/>
                </a:solidFill>
                <a:latin typeface="Yu Gothic" pitchFamily="34" charset="0"/>
                <a:ea typeface="Yu Gothic" pitchFamily="34" charset="-122"/>
                <a:cs typeface="Yu Gothic" pitchFamily="34" charset="-120"/>
              </a:rPr>
              <a:t>投資枠 5億円 ／ 期間3年 ／ 半期分配 ／ SPC収益は投資家50：WineBank50</a:t>
            </a:r>
            <a:endParaRPr lang="en-US" sz="1250" dirty="0"/>
          </a:p>
        </p:txBody>
      </p:sp>
      <p:sp>
        <p:nvSpPr>
          <p:cNvPr id="10" name="Text 8"/>
          <p:cNvSpPr/>
          <p:nvPr/>
        </p:nvSpPr>
        <p:spPr>
          <a:xfrm>
            <a:off x="658368" y="4443984"/>
            <a:ext cx="8229600" cy="274320"/>
          </a:xfrm>
          <a:prstGeom prst="rect">
            <a:avLst/>
          </a:prstGeom>
          <a:noFill/>
          <a:ln/>
        </p:spPr>
        <p:txBody>
          <a:bodyPr wrap="square" lIns="0" tIns="0" rIns="0" bIns="0" rtlCol="0" anchor="ctr"/>
          <a:lstStyle/>
          <a:p>
            <a:pPr indent="0" marL="0">
              <a:buNone/>
            </a:pPr>
            <a:r>
              <a:rPr lang="en-US" sz="1050" dirty="0">
                <a:solidFill>
                  <a:srgbClr val="6E675E"/>
                </a:solidFill>
                <a:latin typeface="Yu Gothic" pitchFamily="34" charset="0"/>
                <a:ea typeface="Yu Gothic" pitchFamily="34" charset="-122"/>
                <a:cs typeface="Yu Gothic" pitchFamily="34" charset="-120"/>
              </a:rPr>
              <a:t>2026年8月11日改訂版　現物譲渡1%・SPC人件費を反映</a:t>
            </a:r>
            <a:endParaRPr lang="en-US" sz="1050" dirty="0"/>
          </a:p>
        </p:txBody>
      </p:sp>
      <p:sp>
        <p:nvSpPr>
          <p:cNvPr id="11" name="Text 9"/>
          <p:cNvSpPr/>
          <p:nvPr/>
        </p:nvSpPr>
        <p:spPr>
          <a:xfrm>
            <a:off x="658368" y="5687568"/>
            <a:ext cx="5486400" cy="292608"/>
          </a:xfrm>
          <a:prstGeom prst="rect">
            <a:avLst/>
          </a:prstGeom>
          <a:noFill/>
          <a:ln/>
        </p:spPr>
        <p:txBody>
          <a:bodyPr wrap="square" lIns="0" tIns="0" rIns="0" bIns="0" rtlCol="0" anchor="ctr"/>
          <a:lstStyle/>
          <a:p>
            <a:pPr indent="0" marL="0">
              <a:buNone/>
            </a:pPr>
            <a:r>
              <a:rPr lang="en-US" sz="1500" b="1" dirty="0">
                <a:solidFill>
                  <a:srgbClr val="EFEBE3"/>
                </a:solidFill>
                <a:latin typeface="Yu Mincho" pitchFamily="34" charset="0"/>
                <a:ea typeface="Yu Mincho" pitchFamily="34" charset="-122"/>
                <a:cs typeface="Yu Mincho" pitchFamily="34" charset="-120"/>
              </a:rPr>
              <a:t>株式会社WineBank</a:t>
            </a:r>
            <a:endParaRPr lang="en-US" sz="1500" dirty="0"/>
          </a:p>
        </p:txBody>
      </p:sp>
      <p:sp>
        <p:nvSpPr>
          <p:cNvPr id="12" name="Text 10"/>
          <p:cNvSpPr/>
          <p:nvPr/>
        </p:nvSpPr>
        <p:spPr>
          <a:xfrm>
            <a:off x="658368" y="6016752"/>
            <a:ext cx="7315200" cy="256032"/>
          </a:xfrm>
          <a:prstGeom prst="rect">
            <a:avLst/>
          </a:prstGeom>
          <a:noFill/>
          <a:ln/>
        </p:spPr>
        <p:txBody>
          <a:bodyPr wrap="square" lIns="0" tIns="0" rIns="0" bIns="0" rtlCol="0" anchor="ctr"/>
          <a:lstStyle/>
          <a:p>
            <a:pPr indent="0" marL="0">
              <a:buNone/>
            </a:pPr>
            <a:r>
              <a:rPr lang="en-US" sz="950" dirty="0">
                <a:solidFill>
                  <a:srgbClr val="6E675E"/>
                </a:solidFill>
                <a:latin typeface="Yu Gothic" pitchFamily="34" charset="0"/>
                <a:ea typeface="Yu Gothic" pitchFamily="34" charset="-122"/>
                <a:cs typeface="Yu Gothic" pitchFamily="34" charset="-120"/>
              </a:rPr>
              <a:t>東京都港区六本木4-12-8 第6DMJビル 2階　／　創業 1970年</a:t>
            </a:r>
            <a:endParaRPr lang="en-US" sz="950" dirty="0"/>
          </a:p>
        </p:txBody>
      </p:sp>
      <p:sp>
        <p:nvSpPr>
          <p:cNvPr id="13" name="Text 11"/>
          <p:cNvSpPr/>
          <p:nvPr/>
        </p:nvSpPr>
        <p:spPr>
          <a:xfrm>
            <a:off x="8790127" y="6016752"/>
            <a:ext cx="2743200" cy="256032"/>
          </a:xfrm>
          <a:prstGeom prst="rect">
            <a:avLst/>
          </a:prstGeom>
          <a:noFill/>
          <a:ln/>
        </p:spPr>
        <p:txBody>
          <a:bodyPr wrap="square" lIns="0" tIns="0" rIns="0" bIns="0" rtlCol="0" anchor="ctr"/>
          <a:lstStyle/>
          <a:p>
            <a:pPr algn="r" indent="0" marL="0">
              <a:buNone/>
            </a:pPr>
            <a:r>
              <a:rPr lang="en-US" sz="950" b="1" spc="260" kern="0" dirty="0">
                <a:solidFill>
                  <a:srgbClr val="6E5730"/>
                </a:solidFill>
                <a:latin typeface="Cambria" pitchFamily="34" charset="0"/>
                <a:ea typeface="Cambria" pitchFamily="34" charset="-122"/>
                <a:cs typeface="Cambria" pitchFamily="34" charset="-120"/>
              </a:rPr>
              <a:t>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EXECUTIVE SUMMARY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本ファンドの骨子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実物ワインの流通価格差を収益源とする、現物裏付け型の短期回転ファンド。</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01</a:t>
            </a:r>
            <a:endParaRPr lang="en-US" sz="950" dirty="0"/>
          </a:p>
        </p:txBody>
      </p:sp>
      <p:sp>
        <p:nvSpPr>
          <p:cNvPr id="7" name="Shape 5"/>
          <p:cNvSpPr/>
          <p:nvPr/>
        </p:nvSpPr>
        <p:spPr>
          <a:xfrm>
            <a:off x="658368" y="1664208"/>
            <a:ext cx="2513000" cy="1481328"/>
          </a:xfrm>
          <a:prstGeom prst="roundRect">
            <a:avLst>
              <a:gd name="adj" fmla="val 2778"/>
            </a:avLst>
          </a:prstGeom>
          <a:solidFill>
            <a:srgbClr val="171614"/>
          </a:solidFill>
          <a:ln w="9525">
            <a:solidFill>
              <a:srgbClr val="2E2A24"/>
            </a:solidFill>
            <a:prstDash val="solid"/>
          </a:ln>
        </p:spPr>
      </p:sp>
      <p:sp>
        <p:nvSpPr>
          <p:cNvPr id="8" name="Text 6"/>
          <p:cNvSpPr/>
          <p:nvPr/>
        </p:nvSpPr>
        <p:spPr>
          <a:xfrm>
            <a:off x="89611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5</a:t>
            </a:r>
            <a:pPr indent="0" marL="0">
              <a:buNone/>
            </a:pPr>
            <a:r>
              <a:rPr lang="en-US" sz="1250" b="1" dirty="0">
                <a:solidFill>
                  <a:srgbClr val="C9A96E"/>
                </a:solidFill>
                <a:latin typeface="Yu Gothic" pitchFamily="34" charset="0"/>
                <a:ea typeface="Yu Gothic" pitchFamily="34" charset="-122"/>
                <a:cs typeface="Yu Gothic" pitchFamily="34" charset="-120"/>
              </a:rPr>
              <a:t> 億円</a:t>
            </a:r>
            <a:endParaRPr lang="en-US" sz="3400" dirty="0"/>
          </a:p>
        </p:txBody>
      </p:sp>
      <p:sp>
        <p:nvSpPr>
          <p:cNvPr id="9" name="Text 7"/>
          <p:cNvSpPr/>
          <p:nvPr/>
        </p:nvSpPr>
        <p:spPr>
          <a:xfrm>
            <a:off x="89611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投資受入枠</a:t>
            </a:r>
            <a:endParaRPr lang="en-US" sz="1100" dirty="0"/>
          </a:p>
        </p:txBody>
      </p:sp>
      <p:sp>
        <p:nvSpPr>
          <p:cNvPr id="10" name="Text 8"/>
          <p:cNvSpPr/>
          <p:nvPr/>
        </p:nvSpPr>
        <p:spPr>
          <a:xfrm>
            <a:off x="89611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SPC（GK-TK方式を想定）／期間3年・半期分配</a:t>
            </a:r>
            <a:endParaRPr lang="en-US" sz="900" dirty="0"/>
          </a:p>
        </p:txBody>
      </p:sp>
      <p:sp>
        <p:nvSpPr>
          <p:cNvPr id="11" name="Shape 9"/>
          <p:cNvSpPr/>
          <p:nvPr/>
        </p:nvSpPr>
        <p:spPr>
          <a:xfrm>
            <a:off x="3445688" y="1664208"/>
            <a:ext cx="2513000" cy="1481328"/>
          </a:xfrm>
          <a:prstGeom prst="roundRect">
            <a:avLst>
              <a:gd name="adj" fmla="val 2778"/>
            </a:avLst>
          </a:prstGeom>
          <a:solidFill>
            <a:srgbClr val="171614"/>
          </a:solidFill>
          <a:ln w="9525">
            <a:solidFill>
              <a:srgbClr val="2E2A24"/>
            </a:solidFill>
            <a:prstDash val="solid"/>
          </a:ln>
        </p:spPr>
      </p:sp>
      <p:sp>
        <p:nvSpPr>
          <p:cNvPr id="12" name="Text 10"/>
          <p:cNvSpPr/>
          <p:nvPr/>
        </p:nvSpPr>
        <p:spPr>
          <a:xfrm>
            <a:off x="368343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32.7</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400" dirty="0"/>
          </a:p>
        </p:txBody>
      </p:sp>
      <p:sp>
        <p:nvSpPr>
          <p:cNvPr id="13" name="Text 11"/>
          <p:cNvSpPr/>
          <p:nvPr/>
        </p:nvSpPr>
        <p:spPr>
          <a:xfrm>
            <a:off x="368343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想定粗利率（主線）</a:t>
            </a:r>
            <a:endParaRPr lang="en-US" sz="1100" dirty="0"/>
          </a:p>
        </p:txBody>
      </p:sp>
      <p:sp>
        <p:nvSpPr>
          <p:cNvPr id="14" name="Text 12"/>
          <p:cNvSpPr/>
          <p:nvPr/>
        </p:nvSpPr>
        <p:spPr>
          <a:xfrm>
            <a:off x="368343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SPC取得原価50.5・売値75・粗利24.5</a:t>
            </a:r>
            <a:endParaRPr lang="en-US" sz="900" dirty="0"/>
          </a:p>
        </p:txBody>
      </p:sp>
      <p:sp>
        <p:nvSpPr>
          <p:cNvPr id="15" name="Shape 13"/>
          <p:cNvSpPr/>
          <p:nvPr/>
        </p:nvSpPr>
        <p:spPr>
          <a:xfrm>
            <a:off x="6233008" y="1664208"/>
            <a:ext cx="2513000" cy="1481328"/>
          </a:xfrm>
          <a:prstGeom prst="roundRect">
            <a:avLst>
              <a:gd name="adj" fmla="val 2778"/>
            </a:avLst>
          </a:prstGeom>
          <a:solidFill>
            <a:srgbClr val="171614"/>
          </a:solidFill>
          <a:ln w="9525">
            <a:solidFill>
              <a:srgbClr val="2E2A24"/>
            </a:solidFill>
            <a:prstDash val="solid"/>
          </a:ln>
        </p:spPr>
      </p:sp>
      <p:sp>
        <p:nvSpPr>
          <p:cNvPr id="16" name="Text 14"/>
          <p:cNvSpPr/>
          <p:nvPr/>
        </p:nvSpPr>
        <p:spPr>
          <a:xfrm>
            <a:off x="647075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16.9</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400" dirty="0"/>
          </a:p>
        </p:txBody>
      </p:sp>
      <p:sp>
        <p:nvSpPr>
          <p:cNvPr id="17" name="Text 15"/>
          <p:cNvSpPr/>
          <p:nvPr/>
        </p:nvSpPr>
        <p:spPr>
          <a:xfrm>
            <a:off x="647075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定常年間利回り</a:t>
            </a:r>
            <a:endParaRPr lang="en-US" sz="1100" dirty="0"/>
          </a:p>
        </p:txBody>
      </p:sp>
      <p:sp>
        <p:nvSpPr>
          <p:cNvPr id="18" name="Text 16"/>
          <p:cNvSpPr/>
          <p:nvPr/>
        </p:nvSpPr>
        <p:spPr>
          <a:xfrm>
            <a:off x="647075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回転12ヶ月・投資家取分ベースの実力値</a:t>
            </a:r>
            <a:endParaRPr lang="en-US" sz="900" dirty="0"/>
          </a:p>
        </p:txBody>
      </p:sp>
      <p:sp>
        <p:nvSpPr>
          <p:cNvPr id="19" name="Shape 17"/>
          <p:cNvSpPr/>
          <p:nvPr/>
        </p:nvSpPr>
        <p:spPr>
          <a:xfrm>
            <a:off x="9020327" y="1664208"/>
            <a:ext cx="2513000" cy="1481328"/>
          </a:xfrm>
          <a:prstGeom prst="roundRect">
            <a:avLst>
              <a:gd name="adj" fmla="val 2778"/>
            </a:avLst>
          </a:prstGeom>
          <a:solidFill>
            <a:srgbClr val="1F1D19"/>
          </a:solidFill>
          <a:ln w="9525">
            <a:solidFill>
              <a:srgbClr val="6E5730"/>
            </a:solidFill>
            <a:prstDash val="solid"/>
          </a:ln>
        </p:spPr>
      </p:sp>
      <p:sp>
        <p:nvSpPr>
          <p:cNvPr id="20" name="Text 18"/>
          <p:cNvSpPr/>
          <p:nvPr/>
        </p:nvSpPr>
        <p:spPr>
          <a:xfrm>
            <a:off x="9258071" y="1847088"/>
            <a:ext cx="2037512" cy="566928"/>
          </a:xfrm>
          <a:prstGeom prst="rect">
            <a:avLst/>
          </a:prstGeom>
          <a:noFill/>
          <a:ln/>
        </p:spPr>
        <p:txBody>
          <a:bodyPr wrap="square" lIns="0" tIns="0" rIns="0" bIns="0" rtlCol="0" anchor="ctr"/>
          <a:lstStyle/>
          <a:p>
            <a:pPr indent="0" marL="0">
              <a:buNone/>
            </a:pPr>
            <a:r>
              <a:rPr lang="en-US" sz="2400" b="1" dirty="0">
                <a:solidFill>
                  <a:srgbClr val="C9A96E"/>
                </a:solidFill>
                <a:latin typeface="Cambria" pitchFamily="34" charset="0"/>
                <a:ea typeface="Cambria" pitchFamily="34" charset="-122"/>
                <a:cs typeface="Cambria" pitchFamily="34" charset="-120"/>
              </a:rPr>
              <a:t>11.0–16.9</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2400" dirty="0"/>
          </a:p>
        </p:txBody>
      </p:sp>
      <p:sp>
        <p:nvSpPr>
          <p:cNvPr id="21" name="Text 19"/>
          <p:cNvSpPr/>
          <p:nvPr/>
        </p:nvSpPr>
        <p:spPr>
          <a:xfrm>
            <a:off x="9258071"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投資家IRR（3年）</a:t>
            </a:r>
            <a:endParaRPr lang="en-US" sz="1100" dirty="0"/>
          </a:p>
        </p:txBody>
      </p:sp>
      <p:sp>
        <p:nvSpPr>
          <p:cNvPr id="22" name="Text 20"/>
          <p:cNvSpPr/>
          <p:nvPr/>
        </p:nvSpPr>
        <p:spPr>
          <a:xfrm>
            <a:off x="9258071"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回転12ヶ月〜9ヶ月／税引前</a:t>
            </a:r>
            <a:endParaRPr lang="en-US" sz="900" dirty="0"/>
          </a:p>
        </p:txBody>
      </p:sp>
      <p:sp>
        <p:nvSpPr>
          <p:cNvPr id="23" name="Shape 21"/>
          <p:cNvSpPr/>
          <p:nvPr/>
        </p:nvSpPr>
        <p:spPr>
          <a:xfrm>
            <a:off x="658368" y="3419856"/>
            <a:ext cx="274320" cy="274320"/>
          </a:xfrm>
          <a:prstGeom prst="ellipse">
            <a:avLst/>
          </a:prstGeom>
          <a:solidFill>
            <a:srgbClr val="0C0C0C"/>
          </a:solidFill>
          <a:ln w="11430">
            <a:solidFill>
              <a:srgbClr val="A78450"/>
            </a:solidFill>
            <a:prstDash val="solid"/>
          </a:ln>
        </p:spPr>
      </p:sp>
      <p:sp>
        <p:nvSpPr>
          <p:cNvPr id="24" name="Text 22"/>
          <p:cNvSpPr/>
          <p:nvPr/>
        </p:nvSpPr>
        <p:spPr>
          <a:xfrm>
            <a:off x="658368" y="341985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01</a:t>
            </a:r>
            <a:endParaRPr lang="en-US" sz="850" dirty="0"/>
          </a:p>
        </p:txBody>
      </p:sp>
      <p:sp>
        <p:nvSpPr>
          <p:cNvPr id="25" name="Text 23"/>
          <p:cNvSpPr/>
          <p:nvPr/>
        </p:nvSpPr>
        <p:spPr>
          <a:xfrm>
            <a:off x="1078992" y="338328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リターンを決めるのは粗利率ではなく在庫回転期間。</a:t>
            </a:r>
            <a:endParaRPr lang="en-US" sz="1200" dirty="0"/>
          </a:p>
        </p:txBody>
      </p:sp>
      <p:sp>
        <p:nvSpPr>
          <p:cNvPr id="26" name="Text 24"/>
          <p:cNvSpPr/>
          <p:nvPr/>
        </p:nvSpPr>
        <p:spPr>
          <a:xfrm>
            <a:off x="1078992" y="3621024"/>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粗利率は前提として固定されるため、投資家リターンは「在庫を年に何回まわせるか」でほぼ決まる。回転9ヶ月でIRR16.9%、12ヶ月で11.0%。</a:t>
            </a:r>
            <a:endParaRPr lang="en-US" sz="1000" dirty="0"/>
          </a:p>
        </p:txBody>
      </p:sp>
      <p:sp>
        <p:nvSpPr>
          <p:cNvPr id="27" name="Shape 25"/>
          <p:cNvSpPr/>
          <p:nvPr/>
        </p:nvSpPr>
        <p:spPr>
          <a:xfrm>
            <a:off x="658368" y="4041648"/>
            <a:ext cx="274320" cy="274320"/>
          </a:xfrm>
          <a:prstGeom prst="ellipse">
            <a:avLst/>
          </a:prstGeom>
          <a:solidFill>
            <a:srgbClr val="0C0C0C"/>
          </a:solidFill>
          <a:ln w="11430">
            <a:solidFill>
              <a:srgbClr val="A78450"/>
            </a:solidFill>
            <a:prstDash val="solid"/>
          </a:ln>
        </p:spPr>
      </p:sp>
      <p:sp>
        <p:nvSpPr>
          <p:cNvPr id="28" name="Text 26"/>
          <p:cNvSpPr/>
          <p:nvPr/>
        </p:nvSpPr>
        <p:spPr>
          <a:xfrm>
            <a:off x="658368" y="4041648"/>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02</a:t>
            </a:r>
            <a:endParaRPr lang="en-US" sz="850" dirty="0"/>
          </a:p>
        </p:txBody>
      </p:sp>
      <p:sp>
        <p:nvSpPr>
          <p:cNvPr id="29" name="Text 27"/>
          <p:cNvSpPr/>
          <p:nvPr/>
        </p:nvSpPr>
        <p:spPr>
          <a:xfrm>
            <a:off x="1078992" y="4005072"/>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現物ワインが常に元本を裏付ける。</a:t>
            </a:r>
            <a:endParaRPr lang="en-US" sz="1200" dirty="0"/>
          </a:p>
        </p:txBody>
      </p:sp>
      <p:sp>
        <p:nvSpPr>
          <p:cNvPr id="30" name="Text 28"/>
          <p:cNvSpPr/>
          <p:nvPr/>
        </p:nvSpPr>
        <p:spPr>
          <a:xfrm>
            <a:off x="1078992" y="4242816"/>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SPC名義でワイン現物を保有。値上がり益は一切リターンに算入せず、流通価格差のみを収益源とする保守設計。</a:t>
            </a:r>
            <a:endParaRPr lang="en-US" sz="1000" dirty="0"/>
          </a:p>
        </p:txBody>
      </p:sp>
      <p:sp>
        <p:nvSpPr>
          <p:cNvPr id="31" name="Shape 29"/>
          <p:cNvSpPr/>
          <p:nvPr/>
        </p:nvSpPr>
        <p:spPr>
          <a:xfrm>
            <a:off x="658368" y="4663440"/>
            <a:ext cx="274320" cy="274320"/>
          </a:xfrm>
          <a:prstGeom prst="ellipse">
            <a:avLst/>
          </a:prstGeom>
          <a:solidFill>
            <a:srgbClr val="0C0C0C"/>
          </a:solidFill>
          <a:ln w="11430">
            <a:solidFill>
              <a:srgbClr val="A78450"/>
            </a:solidFill>
            <a:prstDash val="solid"/>
          </a:ln>
        </p:spPr>
      </p:sp>
      <p:sp>
        <p:nvSpPr>
          <p:cNvPr id="32" name="Text 30"/>
          <p:cNvSpPr/>
          <p:nvPr/>
        </p:nvSpPr>
        <p:spPr>
          <a:xfrm>
            <a:off x="658368" y="4663440"/>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03</a:t>
            </a:r>
            <a:endParaRPr lang="en-US" sz="850" dirty="0"/>
          </a:p>
        </p:txBody>
      </p:sp>
      <p:sp>
        <p:nvSpPr>
          <p:cNvPr id="33" name="Text 31"/>
          <p:cNvSpPr/>
          <p:nvPr/>
        </p:nvSpPr>
        <p:spPr>
          <a:xfrm>
            <a:off x="1078992" y="4626864"/>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酒類の商流上、SPCは直接仕入・販売ができない。</a:t>
            </a:r>
            <a:endParaRPr lang="en-US" sz="1200" dirty="0"/>
          </a:p>
        </p:txBody>
      </p:sp>
      <p:sp>
        <p:nvSpPr>
          <p:cNvPr id="34" name="Text 32"/>
          <p:cNvSpPr/>
          <p:nvPr/>
        </p:nvSpPr>
        <p:spPr>
          <a:xfrm>
            <a:off x="1078992" y="4864608"/>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WineBankが免許事業者として調達し、現物をSPCへ譲渡する。独立企業間価格として1%を付加（5億なら実商品原価4.95億＋譲渡マージン500万円）。</a:t>
            </a:r>
            <a:endParaRPr lang="en-US" sz="1000" dirty="0"/>
          </a:p>
        </p:txBody>
      </p:sp>
      <p:sp>
        <p:nvSpPr>
          <p:cNvPr id="35" name="Shape 33"/>
          <p:cNvSpPr/>
          <p:nvPr/>
        </p:nvSpPr>
        <p:spPr>
          <a:xfrm>
            <a:off x="658368" y="5285232"/>
            <a:ext cx="274320" cy="274320"/>
          </a:xfrm>
          <a:prstGeom prst="ellipse">
            <a:avLst/>
          </a:prstGeom>
          <a:solidFill>
            <a:srgbClr val="0C0C0C"/>
          </a:solidFill>
          <a:ln w="11430">
            <a:solidFill>
              <a:srgbClr val="A78450"/>
            </a:solidFill>
            <a:prstDash val="solid"/>
          </a:ln>
        </p:spPr>
      </p:sp>
      <p:sp>
        <p:nvSpPr>
          <p:cNvPr id="36" name="Text 34"/>
          <p:cNvSpPr/>
          <p:nvPr/>
        </p:nvSpPr>
        <p:spPr>
          <a:xfrm>
            <a:off x="658368" y="5285232"/>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04</a:t>
            </a:r>
            <a:endParaRPr lang="en-US" sz="850" dirty="0"/>
          </a:p>
        </p:txBody>
      </p:sp>
      <p:sp>
        <p:nvSpPr>
          <p:cNvPr id="37" name="Text 35"/>
          <p:cNvSpPr/>
          <p:nvPr/>
        </p:nvSpPr>
        <p:spPr>
          <a:xfrm>
            <a:off x="1078992" y="5248656"/>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解約自由度と利回りはトレードオフ。</a:t>
            </a:r>
            <a:endParaRPr lang="en-US" sz="1200" dirty="0"/>
          </a:p>
        </p:txBody>
      </p:sp>
      <p:sp>
        <p:nvSpPr>
          <p:cNvPr id="38" name="Text 36"/>
          <p:cNvSpPr/>
          <p:nvPr/>
        </p:nvSpPr>
        <p:spPr>
          <a:xfrm>
            <a:off x="1078992" y="5486400"/>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半期解約に応じるには現金保有比率を上げる必要があり、稼働率85%→70%で定常利回りは16.9%→13.7%に低下する。</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REVISION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8月5日版からの改訂点</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ご指摘の2点をモデルに織り込み、全数値を再計算した。定常利回りへの影響は合計▲1.0ポイント。</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02</a:t>
            </a:r>
            <a:endParaRPr lang="en-US" sz="950" dirty="0"/>
          </a:p>
        </p:txBody>
      </p:sp>
      <p:sp>
        <p:nvSpPr>
          <p:cNvPr id="7" name="Shape 5"/>
          <p:cNvSpPr/>
          <p:nvPr/>
        </p:nvSpPr>
        <p:spPr>
          <a:xfrm>
            <a:off x="658368" y="1700784"/>
            <a:ext cx="3417722" cy="1883664"/>
          </a:xfrm>
          <a:prstGeom prst="roundRect">
            <a:avLst>
              <a:gd name="adj" fmla="val 2184"/>
            </a:avLst>
          </a:prstGeom>
          <a:solidFill>
            <a:srgbClr val="171614"/>
          </a:solidFill>
          <a:ln w="9525">
            <a:solidFill>
              <a:srgbClr val="2E2A24"/>
            </a:solidFill>
            <a:prstDash val="solid"/>
          </a:ln>
        </p:spPr>
      </p:sp>
      <p:sp>
        <p:nvSpPr>
          <p:cNvPr id="8" name="Shape 6"/>
          <p:cNvSpPr/>
          <p:nvPr/>
        </p:nvSpPr>
        <p:spPr>
          <a:xfrm>
            <a:off x="896112" y="1901952"/>
            <a:ext cx="310896" cy="310896"/>
          </a:xfrm>
          <a:prstGeom prst="ellipse">
            <a:avLst/>
          </a:prstGeom>
          <a:solidFill>
            <a:srgbClr val="0C0C0C"/>
          </a:solidFill>
          <a:ln w="11430">
            <a:solidFill>
              <a:srgbClr val="A78450"/>
            </a:solidFill>
            <a:prstDash val="solid"/>
          </a:ln>
        </p:spPr>
      </p:sp>
      <p:sp>
        <p:nvSpPr>
          <p:cNvPr id="9" name="Text 7"/>
          <p:cNvSpPr/>
          <p:nvPr/>
        </p:nvSpPr>
        <p:spPr>
          <a:xfrm>
            <a:off x="896112" y="190195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920240"/>
            <a:ext cx="253989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SPC人件費 年360万円を計上</a:t>
            </a:r>
            <a:endParaRPr lang="en-US" sz="1200" dirty="0"/>
          </a:p>
        </p:txBody>
      </p:sp>
      <p:sp>
        <p:nvSpPr>
          <p:cNvPr id="11" name="Text 9"/>
          <p:cNvSpPr/>
          <p:nvPr/>
        </p:nvSpPr>
        <p:spPr>
          <a:xfrm>
            <a:off x="896112" y="2377440"/>
            <a:ext cx="2942234" cy="74980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SPC運営に係るWineBank側の実務人件費を、GP取分ではなくSPCの固定費として明示計上。SPC維持費は年800万円→1,160万円。</a:t>
            </a:r>
            <a:endParaRPr lang="en-US" sz="950" dirty="0"/>
          </a:p>
        </p:txBody>
      </p:sp>
      <p:sp>
        <p:nvSpPr>
          <p:cNvPr id="12" name="Text 10"/>
          <p:cNvSpPr/>
          <p:nvPr/>
        </p:nvSpPr>
        <p:spPr>
          <a:xfrm>
            <a:off x="896112" y="3163824"/>
            <a:ext cx="2942234" cy="237744"/>
          </a:xfrm>
          <a:prstGeom prst="rect">
            <a:avLst/>
          </a:prstGeom>
          <a:noFill/>
          <a:ln/>
        </p:spPr>
        <p:txBody>
          <a:bodyPr wrap="square" lIns="0" tIns="0" rIns="0" bIns="0" rtlCol="0" anchor="ctr"/>
          <a:lstStyle/>
          <a:p>
            <a:pPr indent="0" marL="0">
              <a:buNone/>
            </a:pPr>
            <a:r>
              <a:rPr lang="en-US" sz="1000" b="1" dirty="0">
                <a:solidFill>
                  <a:srgbClr val="B4553F"/>
                </a:solidFill>
                <a:latin typeface="Yu Gothic" pitchFamily="34" charset="0"/>
                <a:ea typeface="Yu Gothic" pitchFamily="34" charset="-122"/>
                <a:cs typeface="Yu Gothic" pitchFamily="34" charset="-120"/>
              </a:rPr>
              <a:t>定常利回り ▲0.36pt</a:t>
            </a:r>
            <a:endParaRPr lang="en-US" sz="1000" dirty="0"/>
          </a:p>
        </p:txBody>
      </p:sp>
      <p:sp>
        <p:nvSpPr>
          <p:cNvPr id="13" name="Shape 11"/>
          <p:cNvSpPr/>
          <p:nvPr/>
        </p:nvSpPr>
        <p:spPr>
          <a:xfrm>
            <a:off x="4386986" y="1700784"/>
            <a:ext cx="3417722" cy="1883664"/>
          </a:xfrm>
          <a:prstGeom prst="roundRect">
            <a:avLst>
              <a:gd name="adj" fmla="val 2184"/>
            </a:avLst>
          </a:prstGeom>
          <a:solidFill>
            <a:srgbClr val="171614"/>
          </a:solidFill>
          <a:ln w="9525">
            <a:solidFill>
              <a:srgbClr val="2E2A24"/>
            </a:solidFill>
            <a:prstDash val="solid"/>
          </a:ln>
        </p:spPr>
      </p:sp>
      <p:sp>
        <p:nvSpPr>
          <p:cNvPr id="14" name="Shape 12"/>
          <p:cNvSpPr/>
          <p:nvPr/>
        </p:nvSpPr>
        <p:spPr>
          <a:xfrm>
            <a:off x="4624730" y="1901952"/>
            <a:ext cx="310896" cy="310896"/>
          </a:xfrm>
          <a:prstGeom prst="ellipse">
            <a:avLst/>
          </a:prstGeom>
          <a:solidFill>
            <a:srgbClr val="0C0C0C"/>
          </a:solidFill>
          <a:ln w="11430">
            <a:solidFill>
              <a:srgbClr val="A78450"/>
            </a:solidFill>
            <a:prstDash val="solid"/>
          </a:ln>
        </p:spPr>
      </p:sp>
      <p:sp>
        <p:nvSpPr>
          <p:cNvPr id="15" name="Text 13"/>
          <p:cNvSpPr/>
          <p:nvPr/>
        </p:nvSpPr>
        <p:spPr>
          <a:xfrm>
            <a:off x="4624730" y="190195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6" name="Text 14"/>
          <p:cNvSpPr/>
          <p:nvPr/>
        </p:nvSpPr>
        <p:spPr>
          <a:xfrm>
            <a:off x="5027066" y="1920240"/>
            <a:ext cx="253989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現物譲渡に1%を付加</a:t>
            </a:r>
            <a:endParaRPr lang="en-US" sz="1200" dirty="0"/>
          </a:p>
        </p:txBody>
      </p:sp>
      <p:sp>
        <p:nvSpPr>
          <p:cNvPr id="17" name="Text 15"/>
          <p:cNvSpPr/>
          <p:nvPr/>
        </p:nvSpPr>
        <p:spPr>
          <a:xfrm>
            <a:off x="4624730" y="2377440"/>
            <a:ext cx="2942234" cy="74980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WineBankが取得した現物をSPCへ譲渡する際、独立企業間価格として1%を付加。SPCの取得原価は定価比50.0→50.5となる。</a:t>
            </a:r>
            <a:endParaRPr lang="en-US" sz="950" dirty="0"/>
          </a:p>
        </p:txBody>
      </p:sp>
      <p:sp>
        <p:nvSpPr>
          <p:cNvPr id="18" name="Text 16"/>
          <p:cNvSpPr/>
          <p:nvPr/>
        </p:nvSpPr>
        <p:spPr>
          <a:xfrm>
            <a:off x="4624730" y="3163824"/>
            <a:ext cx="2942234" cy="237744"/>
          </a:xfrm>
          <a:prstGeom prst="rect">
            <a:avLst/>
          </a:prstGeom>
          <a:noFill/>
          <a:ln/>
        </p:spPr>
        <p:txBody>
          <a:bodyPr wrap="square" lIns="0" tIns="0" rIns="0" bIns="0" rtlCol="0" anchor="ctr"/>
          <a:lstStyle/>
          <a:p>
            <a:pPr indent="0" marL="0">
              <a:buNone/>
            </a:pPr>
            <a:r>
              <a:rPr lang="en-US" sz="1000" b="1" dirty="0">
                <a:solidFill>
                  <a:srgbClr val="B4553F"/>
                </a:solidFill>
                <a:latin typeface="Yu Gothic" pitchFamily="34" charset="0"/>
                <a:ea typeface="Yu Gothic" pitchFamily="34" charset="-122"/>
                <a:cs typeface="Yu Gothic" pitchFamily="34" charset="-120"/>
              </a:rPr>
              <a:t>定常利回り ▲0.61pt</a:t>
            </a:r>
            <a:endParaRPr lang="en-US" sz="1000" dirty="0"/>
          </a:p>
        </p:txBody>
      </p:sp>
      <p:sp>
        <p:nvSpPr>
          <p:cNvPr id="19" name="Shape 17"/>
          <p:cNvSpPr/>
          <p:nvPr/>
        </p:nvSpPr>
        <p:spPr>
          <a:xfrm>
            <a:off x="8115605" y="1700784"/>
            <a:ext cx="3417722" cy="1883664"/>
          </a:xfrm>
          <a:prstGeom prst="roundRect">
            <a:avLst>
              <a:gd name="adj" fmla="val 2184"/>
            </a:avLst>
          </a:prstGeom>
          <a:solidFill>
            <a:srgbClr val="171614"/>
          </a:solidFill>
          <a:ln w="9525">
            <a:solidFill>
              <a:srgbClr val="2E2A24"/>
            </a:solidFill>
            <a:prstDash val="solid"/>
          </a:ln>
        </p:spPr>
      </p:sp>
      <p:sp>
        <p:nvSpPr>
          <p:cNvPr id="20" name="Shape 18"/>
          <p:cNvSpPr/>
          <p:nvPr/>
        </p:nvSpPr>
        <p:spPr>
          <a:xfrm>
            <a:off x="8353349" y="1901952"/>
            <a:ext cx="310896" cy="310896"/>
          </a:xfrm>
          <a:prstGeom prst="ellipse">
            <a:avLst/>
          </a:prstGeom>
          <a:solidFill>
            <a:srgbClr val="0C0C0C"/>
          </a:solidFill>
          <a:ln w="11430">
            <a:solidFill>
              <a:srgbClr val="A78450"/>
            </a:solidFill>
            <a:prstDash val="solid"/>
          </a:ln>
        </p:spPr>
      </p:sp>
      <p:sp>
        <p:nvSpPr>
          <p:cNvPr id="21" name="Text 19"/>
          <p:cNvSpPr/>
          <p:nvPr/>
        </p:nvSpPr>
        <p:spPr>
          <a:xfrm>
            <a:off x="8353349" y="190195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2" name="Text 20"/>
          <p:cNvSpPr/>
          <p:nvPr/>
        </p:nvSpPr>
        <p:spPr>
          <a:xfrm>
            <a:off x="8755685" y="1920240"/>
            <a:ext cx="253989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商流・免許の制約を明記</a:t>
            </a:r>
            <a:endParaRPr lang="en-US" sz="1200" dirty="0"/>
          </a:p>
        </p:txBody>
      </p:sp>
      <p:sp>
        <p:nvSpPr>
          <p:cNvPr id="23" name="Text 21"/>
          <p:cNvSpPr/>
          <p:nvPr/>
        </p:nvSpPr>
        <p:spPr>
          <a:xfrm>
            <a:off x="8353349" y="2377440"/>
            <a:ext cx="2942234" cy="74980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酒類販売業免許と取引口座の制約により、SPCが直接仕入・販売を行えない点をスキームの前提として1枚で整理（次々頁）。</a:t>
            </a:r>
            <a:endParaRPr lang="en-US" sz="950" dirty="0"/>
          </a:p>
        </p:txBody>
      </p:sp>
      <p:sp>
        <p:nvSpPr>
          <p:cNvPr id="24" name="Text 22"/>
          <p:cNvSpPr/>
          <p:nvPr/>
        </p:nvSpPr>
        <p:spPr>
          <a:xfrm>
            <a:off x="8353349" y="3163824"/>
            <a:ext cx="2942234" cy="237744"/>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スキーム前提の明確化</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803904"/>
          <a:ext cx="10874959" cy="914400"/>
        </p:xfrm>
        <a:graphic>
          <a:graphicData uri="http://schemas.openxmlformats.org/drawingml/2006/table">
            <a:tbl>
              <a:tblPr/>
              <a:tblGrid>
                <a:gridCol w="2103120"/>
                <a:gridCol w="1572768"/>
                <a:gridCol w="1572768"/>
                <a:gridCol w="914400"/>
                <a:gridCol w="1700784"/>
                <a:gridCol w="1700784"/>
                <a:gridCol w="914400"/>
              </a:tblGrid>
              <a:tr h="30175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定常利回り（8/5版）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定常利回り（今回版）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投資家IRR 3年（8/5版）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投資家IRR 3年（今回版）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0175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24.3%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23.1%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▲1.2pt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▲1.0pt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1752">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17.8%</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16.9%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▲1.0pt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▲0.7pt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175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▲0.8pt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▲0.7pt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175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11.4%</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▲0.8pt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▲0.4pt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6" name="Text 23"/>
          <p:cNvSpPr/>
          <p:nvPr/>
        </p:nvSpPr>
        <p:spPr>
          <a:xfrm>
            <a:off x="658368" y="5394960"/>
            <a:ext cx="10874959" cy="402336"/>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8/5版の列は、今回と同一の月次モデルに旧前提（譲渡マージンなし・人件費なし）を入れて再計算したもの。8/5版の公表IRR（12ヶ月＝11.4%）との0.3ポイント差は、月次キャッシュフローの精緻化による計算差であり、前提の変更によるものではない。</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ファンドスキーム</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WineBankが免許事業者として売買当事者となり、SPCは現物の所有者として損益を受ける。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03</a:t>
            </a:r>
            <a:endParaRPr lang="en-US" sz="950" dirty="0"/>
          </a:p>
        </p:txBody>
      </p:sp>
      <p:sp>
        <p:nvSpPr>
          <p:cNvPr id="7" name="Shape 5"/>
          <p:cNvSpPr/>
          <p:nvPr/>
        </p:nvSpPr>
        <p:spPr>
          <a:xfrm>
            <a:off x="658368" y="1700784"/>
            <a:ext cx="3246120" cy="1188720"/>
          </a:xfrm>
          <a:prstGeom prst="roundRect">
            <a:avLst>
              <a:gd name="adj" fmla="val 3462"/>
            </a:avLst>
          </a:prstGeom>
          <a:solidFill>
            <a:srgbClr val="171614"/>
          </a:solidFill>
          <a:ln w="9525">
            <a:solidFill>
              <a:srgbClr val="2E2A24"/>
            </a:solidFill>
            <a:prstDash val="solid"/>
          </a:ln>
        </p:spPr>
      </p:sp>
      <p:sp>
        <p:nvSpPr>
          <p:cNvPr id="8" name="Text 6"/>
          <p:cNvSpPr/>
          <p:nvPr/>
        </p:nvSpPr>
        <p:spPr>
          <a:xfrm>
            <a:off x="877824"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投資家（資産管理会社）</a:t>
            </a:r>
            <a:endParaRPr lang="en-US" sz="1300" dirty="0"/>
          </a:p>
        </p:txBody>
      </p:sp>
      <p:sp>
        <p:nvSpPr>
          <p:cNvPr id="9" name="Text 7"/>
          <p:cNvSpPr/>
          <p:nvPr/>
        </p:nvSpPr>
        <p:spPr>
          <a:xfrm>
            <a:off x="877824"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匿名組合出資　5億円</a:t>
            </a:r>
            <a:endParaRPr lang="en-US" sz="1050" dirty="0"/>
          </a:p>
        </p:txBody>
      </p:sp>
      <p:sp>
        <p:nvSpPr>
          <p:cNvPr id="10" name="Text 8"/>
          <p:cNvSpPr/>
          <p:nvPr/>
        </p:nvSpPr>
        <p:spPr>
          <a:xfrm>
            <a:off x="87782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半期ごとに税前利益の50%を受領</a:t>
            </a:r>
            <a:endParaRPr lang="en-US" sz="950" dirty="0"/>
          </a:p>
        </p:txBody>
      </p:sp>
      <p:sp>
        <p:nvSpPr>
          <p:cNvPr id="11" name="Shape 9"/>
          <p:cNvSpPr/>
          <p:nvPr/>
        </p:nvSpPr>
        <p:spPr>
          <a:xfrm>
            <a:off x="4472788" y="1700784"/>
            <a:ext cx="3246120" cy="1188720"/>
          </a:xfrm>
          <a:prstGeom prst="roundRect">
            <a:avLst>
              <a:gd name="adj" fmla="val 3462"/>
            </a:avLst>
          </a:prstGeom>
          <a:solidFill>
            <a:srgbClr val="1F1D19"/>
          </a:solidFill>
          <a:ln w="9525">
            <a:solidFill>
              <a:srgbClr val="6E5730"/>
            </a:solidFill>
            <a:prstDash val="solid"/>
          </a:ln>
        </p:spPr>
      </p:sp>
      <p:sp>
        <p:nvSpPr>
          <p:cNvPr id="12" name="Text 10"/>
          <p:cNvSpPr/>
          <p:nvPr/>
        </p:nvSpPr>
        <p:spPr>
          <a:xfrm>
            <a:off x="4692244" y="1920240"/>
            <a:ext cx="2807208" cy="256032"/>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ワインファンドSPC</a:t>
            </a:r>
            <a:endParaRPr lang="en-US" sz="1300" dirty="0"/>
          </a:p>
        </p:txBody>
      </p:sp>
      <p:sp>
        <p:nvSpPr>
          <p:cNvPr id="13" name="Text 11"/>
          <p:cNvSpPr/>
          <p:nvPr/>
        </p:nvSpPr>
        <p:spPr>
          <a:xfrm>
            <a:off x="4692244" y="2231136"/>
            <a:ext cx="2807208" cy="237744"/>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合同会社＋匿名組合（GK-TK）</a:t>
            </a:r>
            <a:endParaRPr lang="en-US" sz="1050" dirty="0"/>
          </a:p>
        </p:txBody>
      </p:sp>
      <p:sp>
        <p:nvSpPr>
          <p:cNvPr id="14" name="Text 12"/>
          <p:cNvSpPr/>
          <p:nvPr/>
        </p:nvSpPr>
        <p:spPr>
          <a:xfrm>
            <a:off x="469224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ワイン現物を所有・損益が帰属</a:t>
            </a:r>
            <a:endParaRPr lang="en-US" sz="950" dirty="0"/>
          </a:p>
        </p:txBody>
      </p:sp>
      <p:sp>
        <p:nvSpPr>
          <p:cNvPr id="15" name="Shape 13"/>
          <p:cNvSpPr/>
          <p:nvPr/>
        </p:nvSpPr>
        <p:spPr>
          <a:xfrm>
            <a:off x="8287207" y="1700784"/>
            <a:ext cx="3246120" cy="1188720"/>
          </a:xfrm>
          <a:prstGeom prst="roundRect">
            <a:avLst>
              <a:gd name="adj" fmla="val 3462"/>
            </a:avLst>
          </a:prstGeom>
          <a:solidFill>
            <a:srgbClr val="171614"/>
          </a:solidFill>
          <a:ln w="9525">
            <a:solidFill>
              <a:srgbClr val="2E2A24"/>
            </a:solidFill>
            <a:prstDash val="solid"/>
          </a:ln>
        </p:spPr>
      </p:sp>
      <p:sp>
        <p:nvSpPr>
          <p:cNvPr id="16" name="Text 14"/>
          <p:cNvSpPr/>
          <p:nvPr/>
        </p:nvSpPr>
        <p:spPr>
          <a:xfrm>
            <a:off x="8506663"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株式会社WineBank</a:t>
            </a:r>
            <a:endParaRPr lang="en-US" sz="1300" dirty="0"/>
          </a:p>
        </p:txBody>
      </p:sp>
      <p:sp>
        <p:nvSpPr>
          <p:cNvPr id="17" name="Text 15"/>
          <p:cNvSpPr/>
          <p:nvPr/>
        </p:nvSpPr>
        <p:spPr>
          <a:xfrm>
            <a:off x="8506663"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酒類販売業免許・取引口座を保有</a:t>
            </a:r>
            <a:endParaRPr lang="en-US" sz="1050" dirty="0"/>
          </a:p>
        </p:txBody>
      </p:sp>
      <p:sp>
        <p:nvSpPr>
          <p:cNvPr id="18" name="Text 16"/>
          <p:cNvSpPr/>
          <p:nvPr/>
        </p:nvSpPr>
        <p:spPr>
          <a:xfrm>
            <a:off x="8506663"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調達・譲渡・保管・販売を実行（GP）</a:t>
            </a:r>
            <a:endParaRPr lang="en-US" sz="950" dirty="0"/>
          </a:p>
        </p:txBody>
      </p:sp>
      <p:sp>
        <p:nvSpPr>
          <p:cNvPr id="19" name="Shape 17"/>
          <p:cNvSpPr/>
          <p:nvPr/>
        </p:nvSpPr>
        <p:spPr>
          <a:xfrm>
            <a:off x="3995928" y="2176272"/>
            <a:ext cx="385420" cy="237744"/>
          </a:xfrm>
          <a:prstGeom prst="rightArrow">
            <a:avLst/>
          </a:prstGeom>
          <a:solidFill>
            <a:srgbClr val="6E5730"/>
          </a:solidFill>
          <a:ln w="12700">
            <a:solidFill>
              <a:srgbClr val="6E5730"/>
            </a:solidFill>
            <a:prstDash val="solid"/>
          </a:ln>
        </p:spPr>
      </p:sp>
      <p:sp>
        <p:nvSpPr>
          <p:cNvPr id="20" name="Shape 18"/>
          <p:cNvSpPr/>
          <p:nvPr/>
        </p:nvSpPr>
        <p:spPr>
          <a:xfrm>
            <a:off x="7810348" y="2176272"/>
            <a:ext cx="385420" cy="237744"/>
          </a:xfrm>
          <a:prstGeom prst="leftArrow">
            <a:avLst/>
          </a:prstGeom>
          <a:solidFill>
            <a:srgbClr val="6E5730"/>
          </a:solidFill>
          <a:ln w="12700">
            <a:solidFill>
              <a:srgbClr val="6E5730"/>
            </a:solidFill>
            <a:prstDash val="solid"/>
          </a:ln>
        </p:spPr>
      </p:sp>
      <p:sp>
        <p:nvSpPr>
          <p:cNvPr id="21" name="Shape 19"/>
          <p:cNvSpPr/>
          <p:nvPr/>
        </p:nvSpPr>
        <p:spPr>
          <a:xfrm>
            <a:off x="658368" y="3291840"/>
            <a:ext cx="2526716" cy="1609344"/>
          </a:xfrm>
          <a:prstGeom prst="roundRect">
            <a:avLst>
              <a:gd name="adj" fmla="val 2557"/>
            </a:avLst>
          </a:prstGeom>
          <a:solidFill>
            <a:srgbClr val="171614"/>
          </a:solidFill>
          <a:ln w="9525">
            <a:solidFill>
              <a:srgbClr val="2E2A24"/>
            </a:solidFill>
            <a:prstDash val="solid"/>
          </a:ln>
        </p:spPr>
      </p:sp>
      <p:sp>
        <p:nvSpPr>
          <p:cNvPr id="22" name="Shape 20"/>
          <p:cNvSpPr/>
          <p:nvPr/>
        </p:nvSpPr>
        <p:spPr>
          <a:xfrm>
            <a:off x="877824" y="3493008"/>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24" name="Text 22"/>
          <p:cNvSpPr/>
          <p:nvPr/>
        </p:nvSpPr>
        <p:spPr>
          <a:xfrm>
            <a:off x="1280160"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a:t>
            </a:r>
            <a:endParaRPr lang="en-US" sz="1200" dirty="0"/>
          </a:p>
        </p:txBody>
      </p:sp>
      <p:sp>
        <p:nvSpPr>
          <p:cNvPr id="25" name="Text 23"/>
          <p:cNvSpPr/>
          <p:nvPr/>
        </p:nvSpPr>
        <p:spPr>
          <a:xfrm>
            <a:off x="877824"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WineBankが自社の免許・取引口座でインポーター／酒販店から正規品を調達</a:t>
            </a:r>
            <a:endParaRPr lang="en-US" sz="950" dirty="0"/>
          </a:p>
        </p:txBody>
      </p:sp>
      <p:sp>
        <p:nvSpPr>
          <p:cNvPr id="26" name="Text 24"/>
          <p:cNvSpPr/>
          <p:nvPr/>
        </p:nvSpPr>
        <p:spPr>
          <a:xfrm>
            <a:off x="877824"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定価比 40〜60</a:t>
            </a:r>
            <a:endParaRPr lang="en-US" sz="1000" dirty="0"/>
          </a:p>
        </p:txBody>
      </p:sp>
      <p:sp>
        <p:nvSpPr>
          <p:cNvPr id="27" name="Shape 25"/>
          <p:cNvSpPr/>
          <p:nvPr/>
        </p:nvSpPr>
        <p:spPr>
          <a:xfrm>
            <a:off x="3441116" y="3291840"/>
            <a:ext cx="2526716" cy="1609344"/>
          </a:xfrm>
          <a:prstGeom prst="roundRect">
            <a:avLst>
              <a:gd name="adj" fmla="val 2557"/>
            </a:avLst>
          </a:prstGeom>
          <a:solidFill>
            <a:srgbClr val="171614"/>
          </a:solidFill>
          <a:ln w="9525">
            <a:solidFill>
              <a:srgbClr val="2E2A24"/>
            </a:solidFill>
            <a:prstDash val="solid"/>
          </a:ln>
        </p:spPr>
      </p:sp>
      <p:sp>
        <p:nvSpPr>
          <p:cNvPr id="28" name="Shape 26"/>
          <p:cNvSpPr/>
          <p:nvPr/>
        </p:nvSpPr>
        <p:spPr>
          <a:xfrm>
            <a:off x="3660572" y="3493008"/>
            <a:ext cx="310896" cy="310896"/>
          </a:xfrm>
          <a:prstGeom prst="ellipse">
            <a:avLst/>
          </a:prstGeom>
          <a:solidFill>
            <a:srgbClr val="0C0C0C"/>
          </a:solidFill>
          <a:ln w="11430">
            <a:solidFill>
              <a:srgbClr val="A78450"/>
            </a:solidFill>
            <a:prstDash val="solid"/>
          </a:ln>
        </p:spPr>
      </p:sp>
      <p:sp>
        <p:nvSpPr>
          <p:cNvPr id="29" name="Text 27"/>
          <p:cNvSpPr/>
          <p:nvPr/>
        </p:nvSpPr>
        <p:spPr>
          <a:xfrm>
            <a:off x="3660572"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30" name="Text 28"/>
          <p:cNvSpPr/>
          <p:nvPr/>
        </p:nvSpPr>
        <p:spPr>
          <a:xfrm>
            <a:off x="4062908"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譲渡</a:t>
            </a:r>
            <a:endParaRPr lang="en-US" sz="1200" dirty="0"/>
          </a:p>
        </p:txBody>
      </p:sp>
      <p:sp>
        <p:nvSpPr>
          <p:cNvPr id="31" name="Text 29"/>
          <p:cNvSpPr/>
          <p:nvPr/>
        </p:nvSpPr>
        <p:spPr>
          <a:xfrm>
            <a:off x="3660572"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現物をSPCへ譲渡（酒類卸売）。独立企業間価格として1%を付加</a:t>
            </a:r>
            <a:endParaRPr lang="en-US" sz="950" dirty="0"/>
          </a:p>
        </p:txBody>
      </p:sp>
      <p:sp>
        <p:nvSpPr>
          <p:cNvPr id="32" name="Text 30"/>
          <p:cNvSpPr/>
          <p:nvPr/>
        </p:nvSpPr>
        <p:spPr>
          <a:xfrm>
            <a:off x="3660572"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SPC取得原価 50.5</a:t>
            </a:r>
            <a:endParaRPr lang="en-US" sz="1000" dirty="0"/>
          </a:p>
        </p:txBody>
      </p:sp>
      <p:sp>
        <p:nvSpPr>
          <p:cNvPr id="33" name="Shape 31"/>
          <p:cNvSpPr/>
          <p:nvPr/>
        </p:nvSpPr>
        <p:spPr>
          <a:xfrm>
            <a:off x="6223864" y="3291840"/>
            <a:ext cx="2526716" cy="1609344"/>
          </a:xfrm>
          <a:prstGeom prst="roundRect">
            <a:avLst>
              <a:gd name="adj" fmla="val 2557"/>
            </a:avLst>
          </a:prstGeom>
          <a:solidFill>
            <a:srgbClr val="171614"/>
          </a:solidFill>
          <a:ln w="9525">
            <a:solidFill>
              <a:srgbClr val="2E2A24"/>
            </a:solidFill>
            <a:prstDash val="solid"/>
          </a:ln>
        </p:spPr>
      </p:sp>
      <p:sp>
        <p:nvSpPr>
          <p:cNvPr id="34" name="Shape 32"/>
          <p:cNvSpPr/>
          <p:nvPr/>
        </p:nvSpPr>
        <p:spPr>
          <a:xfrm>
            <a:off x="6443320" y="3493008"/>
            <a:ext cx="310896" cy="310896"/>
          </a:xfrm>
          <a:prstGeom prst="ellipse">
            <a:avLst/>
          </a:prstGeom>
          <a:solidFill>
            <a:srgbClr val="0C0C0C"/>
          </a:solidFill>
          <a:ln w="11430">
            <a:solidFill>
              <a:srgbClr val="A78450"/>
            </a:solidFill>
            <a:prstDash val="solid"/>
          </a:ln>
        </p:spPr>
      </p:sp>
      <p:sp>
        <p:nvSpPr>
          <p:cNvPr id="35" name="Text 33"/>
          <p:cNvSpPr/>
          <p:nvPr/>
        </p:nvSpPr>
        <p:spPr>
          <a:xfrm>
            <a:off x="6443320"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36" name="Text 34"/>
          <p:cNvSpPr/>
          <p:nvPr/>
        </p:nvSpPr>
        <p:spPr>
          <a:xfrm>
            <a:off x="6845656"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保管・販売</a:t>
            </a:r>
            <a:endParaRPr lang="en-US" sz="1200" dirty="0"/>
          </a:p>
        </p:txBody>
      </p:sp>
      <p:sp>
        <p:nvSpPr>
          <p:cNvPr id="37" name="Text 35"/>
          <p:cNvSpPr/>
          <p:nvPr/>
        </p:nvSpPr>
        <p:spPr>
          <a:xfrm>
            <a:off x="6443320"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専門定温倉庫で保管（全量付保）。WineBankが酒販店卸／自社EC／オークションで販売</a:t>
            </a:r>
            <a:endParaRPr lang="en-US" sz="950" dirty="0"/>
          </a:p>
        </p:txBody>
      </p:sp>
      <p:sp>
        <p:nvSpPr>
          <p:cNvPr id="38" name="Text 36"/>
          <p:cNvSpPr/>
          <p:nvPr/>
        </p:nvSpPr>
        <p:spPr>
          <a:xfrm>
            <a:off x="6443320"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定価比 70〜80</a:t>
            </a:r>
            <a:endParaRPr lang="en-US" sz="1000" dirty="0"/>
          </a:p>
        </p:txBody>
      </p:sp>
      <p:sp>
        <p:nvSpPr>
          <p:cNvPr id="39" name="Shape 37"/>
          <p:cNvSpPr/>
          <p:nvPr/>
        </p:nvSpPr>
        <p:spPr>
          <a:xfrm>
            <a:off x="9006611" y="3291840"/>
            <a:ext cx="2526716" cy="1609344"/>
          </a:xfrm>
          <a:prstGeom prst="roundRect">
            <a:avLst>
              <a:gd name="adj" fmla="val 2557"/>
            </a:avLst>
          </a:prstGeom>
          <a:solidFill>
            <a:srgbClr val="171614"/>
          </a:solidFill>
          <a:ln w="9525">
            <a:solidFill>
              <a:srgbClr val="2E2A24"/>
            </a:solidFill>
            <a:prstDash val="solid"/>
          </a:ln>
        </p:spPr>
      </p:sp>
      <p:sp>
        <p:nvSpPr>
          <p:cNvPr id="40" name="Shape 38"/>
          <p:cNvSpPr/>
          <p:nvPr/>
        </p:nvSpPr>
        <p:spPr>
          <a:xfrm>
            <a:off x="9226067" y="3493008"/>
            <a:ext cx="310896" cy="310896"/>
          </a:xfrm>
          <a:prstGeom prst="ellipse">
            <a:avLst/>
          </a:prstGeom>
          <a:solidFill>
            <a:srgbClr val="0C0C0C"/>
          </a:solidFill>
          <a:ln w="11430">
            <a:solidFill>
              <a:srgbClr val="A78450"/>
            </a:solidFill>
            <a:prstDash val="solid"/>
          </a:ln>
        </p:spPr>
      </p:sp>
      <p:sp>
        <p:nvSpPr>
          <p:cNvPr id="41" name="Text 39"/>
          <p:cNvSpPr/>
          <p:nvPr/>
        </p:nvSpPr>
        <p:spPr>
          <a:xfrm>
            <a:off x="9226067"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42" name="Text 40"/>
          <p:cNvSpPr/>
          <p:nvPr/>
        </p:nvSpPr>
        <p:spPr>
          <a:xfrm>
            <a:off x="9628403"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分配</a:t>
            </a:r>
            <a:endParaRPr lang="en-US" sz="1200" dirty="0"/>
          </a:p>
        </p:txBody>
      </p:sp>
      <p:sp>
        <p:nvSpPr>
          <p:cNvPr id="43" name="Text 41"/>
          <p:cNvSpPr/>
          <p:nvPr/>
        </p:nvSpPr>
        <p:spPr>
          <a:xfrm>
            <a:off x="9226067"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SPCの税前利益を半期ごとに折半し分配。元本はSPC内で継続運用</a:t>
            </a:r>
            <a:endParaRPr lang="en-US" sz="950" dirty="0"/>
          </a:p>
        </p:txBody>
      </p:sp>
      <p:sp>
        <p:nvSpPr>
          <p:cNvPr id="44" name="Text 42"/>
          <p:cNvSpPr/>
          <p:nvPr/>
        </p:nvSpPr>
        <p:spPr>
          <a:xfrm>
            <a:off x="9226067"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投資家50：WB50</a:t>
            </a:r>
            <a:endParaRPr lang="en-US" sz="1000" dirty="0"/>
          </a:p>
        </p:txBody>
      </p:sp>
      <p:sp>
        <p:nvSpPr>
          <p:cNvPr id="45" name="Text 43"/>
          <p:cNvSpPr/>
          <p:nvPr/>
        </p:nvSpPr>
        <p:spPr>
          <a:xfrm>
            <a:off x="658368" y="5084064"/>
            <a:ext cx="10874959"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 ワイン現物はSPC名義で保有し、WineBankの債権者から倒産隔離する。WineBankはGPとして実行を担い、報酬は「譲渡時1%」と「利益折半のGP取分」に限定。SPCに対する別途の管理報酬（期中報酬・成功報酬）は課さない。</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REGULATORY &amp; TRADE PRACTICE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なぜSPCが直接仕入・販売できないのか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酒類は免許業種であり、取引口座は法人単位で審査される。SPC単独では商流に乗れない。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04</a:t>
            </a:r>
            <a:endParaRPr lang="en-US" sz="950" dirty="0"/>
          </a:p>
        </p:txBody>
      </p:sp>
      <p:sp>
        <p:nvSpPr>
          <p:cNvPr id="7" name="Shape 5"/>
          <p:cNvSpPr/>
          <p:nvPr/>
        </p:nvSpPr>
        <p:spPr>
          <a:xfrm>
            <a:off x="658368" y="1664208"/>
            <a:ext cx="3442106" cy="1975104"/>
          </a:xfrm>
          <a:prstGeom prst="roundRect">
            <a:avLst>
              <a:gd name="adj" fmla="val 2083"/>
            </a:avLst>
          </a:prstGeom>
          <a:solidFill>
            <a:srgbClr val="171614"/>
          </a:solidFill>
          <a:ln w="9525">
            <a:solidFill>
              <a:srgbClr val="2E2A24"/>
            </a:solidFill>
            <a:prstDash val="solid"/>
          </a:ln>
        </p:spPr>
      </p:sp>
      <p:sp>
        <p:nvSpPr>
          <p:cNvPr id="8" name="Shape 6"/>
          <p:cNvSpPr/>
          <p:nvPr/>
        </p:nvSpPr>
        <p:spPr>
          <a:xfrm>
            <a:off x="896112" y="1865376"/>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酒類販売業免許</a:t>
            </a:r>
            <a:endParaRPr lang="en-US" sz="1200" dirty="0"/>
          </a:p>
        </p:txBody>
      </p:sp>
      <p:sp>
        <p:nvSpPr>
          <p:cNvPr id="11" name="Text 9"/>
          <p:cNvSpPr/>
          <p:nvPr/>
        </p:nvSpPr>
        <p:spPr>
          <a:xfrm>
            <a:off x="896112"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酒類の売買には販売場ごとの免許が必要。新設SPCが一般酒類小売業免許・酒類卸売業免許を取得するには、経営基礎要件（直近3事業年度の財務内容等）や需給調整要件の充足が求められ、設立直後の器としては実務上ハードルが高く、審査にも相応の期間を要する。</a:t>
            </a:r>
            <a:endParaRPr lang="en-US" sz="950" dirty="0"/>
          </a:p>
        </p:txBody>
      </p:sp>
      <p:sp>
        <p:nvSpPr>
          <p:cNvPr id="12" name="Shape 10"/>
          <p:cNvSpPr/>
          <p:nvPr/>
        </p:nvSpPr>
        <p:spPr>
          <a:xfrm>
            <a:off x="4374794" y="1664208"/>
            <a:ext cx="3442106" cy="1975104"/>
          </a:xfrm>
          <a:prstGeom prst="roundRect">
            <a:avLst>
              <a:gd name="adj" fmla="val 2083"/>
            </a:avLst>
          </a:prstGeom>
          <a:solidFill>
            <a:srgbClr val="171614"/>
          </a:solidFill>
          <a:ln w="9525">
            <a:solidFill>
              <a:srgbClr val="2E2A24"/>
            </a:solidFill>
            <a:prstDash val="solid"/>
          </a:ln>
        </p:spPr>
      </p:sp>
      <p:sp>
        <p:nvSpPr>
          <p:cNvPr id="13" name="Shape 11"/>
          <p:cNvSpPr/>
          <p:nvPr/>
        </p:nvSpPr>
        <p:spPr>
          <a:xfrm>
            <a:off x="4612538" y="1865376"/>
            <a:ext cx="310896" cy="310896"/>
          </a:xfrm>
          <a:prstGeom prst="ellipse">
            <a:avLst/>
          </a:prstGeom>
          <a:solidFill>
            <a:srgbClr val="0C0C0C"/>
          </a:solidFill>
          <a:ln w="11430">
            <a:solidFill>
              <a:srgbClr val="A78450"/>
            </a:solidFill>
            <a:prstDash val="solid"/>
          </a:ln>
        </p:spPr>
      </p:sp>
      <p:sp>
        <p:nvSpPr>
          <p:cNvPr id="14" name="Text 12"/>
          <p:cNvSpPr/>
          <p:nvPr/>
        </p:nvSpPr>
        <p:spPr>
          <a:xfrm>
            <a:off x="4612538"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14874"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インポーターの取引基準</a:t>
            </a:r>
            <a:endParaRPr lang="en-US" sz="1200" dirty="0"/>
          </a:p>
        </p:txBody>
      </p:sp>
      <p:sp>
        <p:nvSpPr>
          <p:cNvPr id="16" name="Text 14"/>
          <p:cNvSpPr/>
          <p:nvPr/>
        </p:nvSpPr>
        <p:spPr>
          <a:xfrm>
            <a:off x="4612538"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大手インポーターは新規取引先に対し、与信・取引実績・年間取引量を審査したうえで口座を開設する。事業実体を持たないSPCでは口座開設に至らない。特価・正規割当は長年の取引関係に紐づいており、法人格が変われば引き継げない。</a:t>
            </a:r>
            <a:endParaRPr lang="en-US" sz="950" dirty="0"/>
          </a:p>
        </p:txBody>
      </p:sp>
      <p:sp>
        <p:nvSpPr>
          <p:cNvPr id="17" name="Shape 15"/>
          <p:cNvSpPr/>
          <p:nvPr/>
        </p:nvSpPr>
        <p:spPr>
          <a:xfrm>
            <a:off x="8091221" y="1664208"/>
            <a:ext cx="3442106" cy="1975104"/>
          </a:xfrm>
          <a:prstGeom prst="roundRect">
            <a:avLst>
              <a:gd name="adj" fmla="val 2083"/>
            </a:avLst>
          </a:prstGeom>
          <a:solidFill>
            <a:srgbClr val="171614"/>
          </a:solidFill>
          <a:ln w="9525">
            <a:solidFill>
              <a:srgbClr val="2E2A24"/>
            </a:solidFill>
            <a:prstDash val="solid"/>
          </a:ln>
        </p:spPr>
      </p:sp>
      <p:sp>
        <p:nvSpPr>
          <p:cNvPr id="18" name="Shape 16"/>
          <p:cNvSpPr/>
          <p:nvPr/>
        </p:nvSpPr>
        <p:spPr>
          <a:xfrm>
            <a:off x="8328965" y="1865376"/>
            <a:ext cx="310896" cy="310896"/>
          </a:xfrm>
          <a:prstGeom prst="ellipse">
            <a:avLst/>
          </a:prstGeom>
          <a:solidFill>
            <a:srgbClr val="0C0C0C"/>
          </a:solidFill>
          <a:ln w="11430">
            <a:solidFill>
              <a:srgbClr val="A78450"/>
            </a:solidFill>
            <a:prstDash val="solid"/>
          </a:ln>
        </p:spPr>
      </p:sp>
      <p:sp>
        <p:nvSpPr>
          <p:cNvPr id="19" name="Text 17"/>
          <p:cNvSpPr/>
          <p:nvPr/>
        </p:nvSpPr>
        <p:spPr>
          <a:xfrm>
            <a:off x="8328965"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31301"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割当（アロケーション）の属人性</a:t>
            </a:r>
            <a:endParaRPr lang="en-US" sz="1200" dirty="0"/>
          </a:p>
        </p:txBody>
      </p:sp>
      <p:sp>
        <p:nvSpPr>
          <p:cNvPr id="21" name="Text 19"/>
          <p:cNvSpPr/>
          <p:nvPr/>
        </p:nvSpPr>
        <p:spPr>
          <a:xfrm>
            <a:off x="8328965"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希少銘柄の割当はWineBank名義に対して付与されるものであり、第三者へ譲り渡すことができない。創業55年の酒販実績と輸出入ライセンスに基づく調達力は、SPCへ移管できない無形資産である。</a:t>
            </a:r>
            <a:endParaRPr lang="en-US" sz="950" dirty="0"/>
          </a:p>
        </p:txBody>
      </p:sp>
      <p:sp>
        <p:nvSpPr>
          <p:cNvPr id="22" name="Shape 20"/>
          <p:cNvSpPr/>
          <p:nvPr/>
        </p:nvSpPr>
        <p:spPr>
          <a:xfrm>
            <a:off x="658368" y="3858768"/>
            <a:ext cx="10874959" cy="1554480"/>
          </a:xfrm>
          <a:prstGeom prst="roundRect">
            <a:avLst>
              <a:gd name="adj" fmla="val 2647"/>
            </a:avLst>
          </a:prstGeom>
          <a:solidFill>
            <a:srgbClr val="1F1D19"/>
          </a:solidFill>
          <a:ln w="9525">
            <a:solidFill>
              <a:srgbClr val="6E5730"/>
            </a:solidFill>
            <a:prstDash val="solid"/>
          </a:ln>
        </p:spPr>
      </p:sp>
      <p:sp>
        <p:nvSpPr>
          <p:cNvPr id="23" name="Text 21"/>
          <p:cNvSpPr/>
          <p:nvPr/>
        </p:nvSpPr>
        <p:spPr>
          <a:xfrm>
            <a:off x="932688" y="4023360"/>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採用するスキーム</a:t>
            </a:r>
            <a:endParaRPr lang="en-US" sz="1200" dirty="0"/>
          </a:p>
        </p:txBody>
      </p:sp>
      <p:sp>
        <p:nvSpPr>
          <p:cNvPr id="24" name="Text 22"/>
          <p:cNvSpPr/>
          <p:nvPr/>
        </p:nvSpPr>
        <p:spPr>
          <a:xfrm>
            <a:off x="932688" y="4297680"/>
            <a:ext cx="10326319"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WineBankが免許事業者として仕入・販売の当事者となり、現物をSPCへ譲渡する。SPCは所有者として損益を受ける。</a:t>
            </a:r>
            <a:endParaRPr lang="en-US" sz="1250" dirty="0"/>
          </a:p>
        </p:txBody>
      </p:sp>
      <p:sp>
        <p:nvSpPr>
          <p:cNvPr id="25" name="Text 23"/>
          <p:cNvSpPr/>
          <p:nvPr/>
        </p:nvSpPr>
        <p:spPr>
          <a:xfrm>
            <a:off x="9326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譲渡価格を同額にできない理由</a:t>
            </a:r>
            <a:endParaRPr lang="en-US" sz="1050" dirty="0"/>
          </a:p>
        </p:txBody>
      </p:sp>
      <p:sp>
        <p:nvSpPr>
          <p:cNvPr id="26" name="Text 24"/>
          <p:cNvSpPr/>
          <p:nvPr/>
        </p:nvSpPr>
        <p:spPr>
          <a:xfrm>
            <a:off x="932688" y="4882896"/>
            <a:ext cx="5071720" cy="475488"/>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WineBankは在庫リスク・与信・入出庫事務を負って調達する。同額譲渡では対価なき役務提供となり、税務上も寄附金認定・移転価格の論点を招く。独立企業間価格として最小限の1%を付加する。</a:t>
            </a:r>
            <a:endParaRPr lang="en-US" sz="950" dirty="0"/>
          </a:p>
        </p:txBody>
      </p:sp>
      <p:sp>
        <p:nvSpPr>
          <p:cNvPr id="27" name="Text 25"/>
          <p:cNvSpPr/>
          <p:nvPr/>
        </p:nvSpPr>
        <p:spPr>
          <a:xfrm>
            <a:off x="61872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1%の金額イメージ</a:t>
            </a:r>
            <a:endParaRPr lang="en-US" sz="1050" dirty="0"/>
          </a:p>
        </p:txBody>
      </p:sp>
      <p:sp>
        <p:nvSpPr>
          <p:cNvPr id="28" name="Text 26"/>
          <p:cNvSpPr/>
          <p:nvPr/>
        </p:nvSpPr>
        <p:spPr>
          <a:xfrm>
            <a:off x="6187288" y="4882896"/>
            <a:ext cx="5071720" cy="475488"/>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SPC払込5億円 → 実商品原価4.95億円 ＋ 譲渡マージン500万円。回転12ヶ月・稼働率85%の定常状態では、年間のSPC仕入4.25億円に対しWineBankの譲渡マージンは年約420万円となる。</a:t>
            </a:r>
            <a:endParaRPr lang="en-US" sz="950" dirty="0"/>
          </a:p>
        </p:txBody>
      </p:sp>
      <p:sp>
        <p:nvSpPr>
          <p:cNvPr id="29" name="Text 27"/>
          <p:cNvSpPr/>
          <p:nvPr/>
        </p:nvSpPr>
        <p:spPr>
          <a:xfrm>
            <a:off x="658368" y="5541264"/>
            <a:ext cx="10874959" cy="256032"/>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 SPC自体の免許要否および委託・売買形態の切り分けは、所轄税務署（酒類指導官）および顧問弁護士との確認事項として、契約書ドラフト作成前に確定させる。</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SOURCE OF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収益の源泉：ワイン流通の価格差</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同一商品が流通段階ごとに異なる価格で存在する。この価格差＝粗利をファンドが取り込む。</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05</a:t>
            </a:r>
            <a:endParaRPr lang="en-US" sz="950" dirty="0"/>
          </a:p>
        </p:txBody>
      </p:sp>
      <p:sp>
        <p:nvSpPr>
          <p:cNvPr id="7" name="Shape 5"/>
          <p:cNvSpPr/>
          <p:nvPr/>
        </p:nvSpPr>
        <p:spPr>
          <a:xfrm>
            <a:off x="658368" y="1719072"/>
            <a:ext cx="1984797" cy="1700784"/>
          </a:xfrm>
          <a:prstGeom prst="roundRect">
            <a:avLst>
              <a:gd name="adj" fmla="val 2419"/>
            </a:avLst>
          </a:prstGeom>
          <a:solidFill>
            <a:srgbClr val="1F1D19"/>
          </a:solidFill>
          <a:ln w="9525">
            <a:solidFill>
              <a:srgbClr val="6E5730"/>
            </a:solidFill>
            <a:prstDash val="solid"/>
          </a:ln>
        </p:spPr>
      </p:sp>
      <p:sp>
        <p:nvSpPr>
          <p:cNvPr id="8" name="Text 6"/>
          <p:cNvSpPr/>
          <p:nvPr/>
        </p:nvSpPr>
        <p:spPr>
          <a:xfrm>
            <a:off x="841248"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インポーター仕入</a:t>
            </a:r>
            <a:endParaRPr lang="en-US" sz="1050" dirty="0"/>
          </a:p>
        </p:txBody>
      </p:sp>
      <p:sp>
        <p:nvSpPr>
          <p:cNvPr id="9" name="Text 7"/>
          <p:cNvSpPr/>
          <p:nvPr/>
        </p:nvSpPr>
        <p:spPr>
          <a:xfrm>
            <a:off x="841248"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40</a:t>
            </a:r>
            <a:endParaRPr lang="en-US" sz="4000" dirty="0"/>
          </a:p>
        </p:txBody>
      </p:sp>
      <p:sp>
        <p:nvSpPr>
          <p:cNvPr id="10" name="Text 8"/>
          <p:cNvSpPr/>
          <p:nvPr/>
        </p:nvSpPr>
        <p:spPr>
          <a:xfrm>
            <a:off x="841248"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仕入①</a:t>
            </a:r>
            <a:endParaRPr lang="en-US" sz="950" dirty="0"/>
          </a:p>
        </p:txBody>
      </p:sp>
      <p:sp>
        <p:nvSpPr>
          <p:cNvPr id="11" name="Shape 9"/>
          <p:cNvSpPr/>
          <p:nvPr/>
        </p:nvSpPr>
        <p:spPr>
          <a:xfrm>
            <a:off x="2880909" y="1719072"/>
            <a:ext cx="1984797" cy="1700784"/>
          </a:xfrm>
          <a:prstGeom prst="roundRect">
            <a:avLst>
              <a:gd name="adj" fmla="val 2419"/>
            </a:avLst>
          </a:prstGeom>
          <a:solidFill>
            <a:srgbClr val="1F1D19"/>
          </a:solidFill>
          <a:ln w="9525">
            <a:solidFill>
              <a:srgbClr val="6E5730"/>
            </a:solidFill>
            <a:prstDash val="solid"/>
          </a:ln>
        </p:spPr>
      </p:sp>
      <p:sp>
        <p:nvSpPr>
          <p:cNvPr id="12" name="Text 10"/>
          <p:cNvSpPr/>
          <p:nvPr/>
        </p:nvSpPr>
        <p:spPr>
          <a:xfrm>
            <a:off x="3063789"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酒販店仕入</a:t>
            </a:r>
            <a:endParaRPr lang="en-US" sz="1050" dirty="0"/>
          </a:p>
        </p:txBody>
      </p:sp>
      <p:sp>
        <p:nvSpPr>
          <p:cNvPr id="13" name="Text 11"/>
          <p:cNvSpPr/>
          <p:nvPr/>
        </p:nvSpPr>
        <p:spPr>
          <a:xfrm>
            <a:off x="3063789"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60</a:t>
            </a:r>
            <a:endParaRPr lang="en-US" sz="4000" dirty="0"/>
          </a:p>
        </p:txBody>
      </p:sp>
      <p:sp>
        <p:nvSpPr>
          <p:cNvPr id="14" name="Text 12"/>
          <p:cNvSpPr/>
          <p:nvPr/>
        </p:nvSpPr>
        <p:spPr>
          <a:xfrm>
            <a:off x="3063789"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仕入②</a:t>
            </a:r>
            <a:endParaRPr lang="en-US" sz="950" dirty="0"/>
          </a:p>
        </p:txBody>
      </p:sp>
      <p:sp>
        <p:nvSpPr>
          <p:cNvPr id="15" name="Shape 13"/>
          <p:cNvSpPr/>
          <p:nvPr/>
        </p:nvSpPr>
        <p:spPr>
          <a:xfrm>
            <a:off x="5103449" y="1719072"/>
            <a:ext cx="1984797" cy="1700784"/>
          </a:xfrm>
          <a:prstGeom prst="roundRect">
            <a:avLst>
              <a:gd name="adj" fmla="val 2419"/>
            </a:avLst>
          </a:prstGeom>
          <a:solidFill>
            <a:srgbClr val="1F1D19"/>
          </a:solidFill>
          <a:ln w="9525">
            <a:solidFill>
              <a:srgbClr val="A78450"/>
            </a:solidFill>
            <a:prstDash val="solid"/>
          </a:ln>
        </p:spPr>
      </p:sp>
      <p:sp>
        <p:nvSpPr>
          <p:cNvPr id="16" name="Text 14"/>
          <p:cNvSpPr/>
          <p:nvPr/>
        </p:nvSpPr>
        <p:spPr>
          <a:xfrm>
            <a:off x="5286329"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酒販店卸 売値</a:t>
            </a:r>
            <a:endParaRPr lang="en-US" sz="1050" dirty="0"/>
          </a:p>
        </p:txBody>
      </p:sp>
      <p:sp>
        <p:nvSpPr>
          <p:cNvPr id="17" name="Text 15"/>
          <p:cNvSpPr/>
          <p:nvPr/>
        </p:nvSpPr>
        <p:spPr>
          <a:xfrm>
            <a:off x="5286329"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70</a:t>
            </a:r>
            <a:endParaRPr lang="en-US" sz="4000" dirty="0"/>
          </a:p>
        </p:txBody>
      </p:sp>
      <p:sp>
        <p:nvSpPr>
          <p:cNvPr id="18" name="Text 16"/>
          <p:cNvSpPr/>
          <p:nvPr/>
        </p:nvSpPr>
        <p:spPr>
          <a:xfrm>
            <a:off x="5286329"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売却①</a:t>
            </a:r>
            <a:endParaRPr lang="en-US" sz="950" dirty="0"/>
          </a:p>
        </p:txBody>
      </p:sp>
      <p:sp>
        <p:nvSpPr>
          <p:cNvPr id="19" name="Shape 17"/>
          <p:cNvSpPr/>
          <p:nvPr/>
        </p:nvSpPr>
        <p:spPr>
          <a:xfrm>
            <a:off x="7325990" y="1719072"/>
            <a:ext cx="1984797" cy="1700784"/>
          </a:xfrm>
          <a:prstGeom prst="roundRect">
            <a:avLst>
              <a:gd name="adj" fmla="val 2419"/>
            </a:avLst>
          </a:prstGeom>
          <a:solidFill>
            <a:srgbClr val="1F1D19"/>
          </a:solidFill>
          <a:ln w="9525">
            <a:solidFill>
              <a:srgbClr val="A78450"/>
            </a:solidFill>
            <a:prstDash val="solid"/>
          </a:ln>
        </p:spPr>
      </p:sp>
      <p:sp>
        <p:nvSpPr>
          <p:cNvPr id="20" name="Text 18"/>
          <p:cNvSpPr/>
          <p:nvPr/>
        </p:nvSpPr>
        <p:spPr>
          <a:xfrm>
            <a:off x="7508870"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ネット最安 売値</a:t>
            </a:r>
            <a:endParaRPr lang="en-US" sz="1050" dirty="0"/>
          </a:p>
        </p:txBody>
      </p:sp>
      <p:sp>
        <p:nvSpPr>
          <p:cNvPr id="21" name="Text 19"/>
          <p:cNvSpPr/>
          <p:nvPr/>
        </p:nvSpPr>
        <p:spPr>
          <a:xfrm>
            <a:off x="7508870"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80</a:t>
            </a:r>
            <a:endParaRPr lang="en-US" sz="4000" dirty="0"/>
          </a:p>
        </p:txBody>
      </p:sp>
      <p:sp>
        <p:nvSpPr>
          <p:cNvPr id="22" name="Text 20"/>
          <p:cNvSpPr/>
          <p:nvPr/>
        </p:nvSpPr>
        <p:spPr>
          <a:xfrm>
            <a:off x="7508870"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売却②</a:t>
            </a:r>
            <a:endParaRPr lang="en-US" sz="950" dirty="0"/>
          </a:p>
        </p:txBody>
      </p:sp>
      <p:sp>
        <p:nvSpPr>
          <p:cNvPr id="23" name="Shape 21"/>
          <p:cNvSpPr/>
          <p:nvPr/>
        </p:nvSpPr>
        <p:spPr>
          <a:xfrm>
            <a:off x="9548531" y="1719072"/>
            <a:ext cx="1984797" cy="1700784"/>
          </a:xfrm>
          <a:prstGeom prst="roundRect">
            <a:avLst>
              <a:gd name="adj" fmla="val 2419"/>
            </a:avLst>
          </a:prstGeom>
          <a:solidFill>
            <a:srgbClr val="171614"/>
          </a:solidFill>
          <a:ln w="9525">
            <a:solidFill>
              <a:srgbClr val="2E2A24"/>
            </a:solidFill>
            <a:prstDash val="solid"/>
          </a:ln>
        </p:spPr>
      </p:sp>
      <p:sp>
        <p:nvSpPr>
          <p:cNvPr id="24" name="Text 22"/>
          <p:cNvSpPr/>
          <p:nvPr/>
        </p:nvSpPr>
        <p:spPr>
          <a:xfrm>
            <a:off x="9731411"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希望小売価格</a:t>
            </a:r>
            <a:endParaRPr lang="en-US" sz="1050" dirty="0"/>
          </a:p>
        </p:txBody>
      </p:sp>
      <p:sp>
        <p:nvSpPr>
          <p:cNvPr id="25" name="Text 23"/>
          <p:cNvSpPr/>
          <p:nvPr/>
        </p:nvSpPr>
        <p:spPr>
          <a:xfrm>
            <a:off x="9731411" y="2212848"/>
            <a:ext cx="1619037" cy="694944"/>
          </a:xfrm>
          <a:prstGeom prst="rect">
            <a:avLst/>
          </a:prstGeom>
          <a:noFill/>
          <a:ln/>
        </p:spPr>
        <p:txBody>
          <a:bodyPr wrap="square" lIns="0" tIns="0" rIns="0" bIns="0" rtlCol="0" anchor="ctr"/>
          <a:lstStyle/>
          <a:p>
            <a:pPr indent="0" marL="0">
              <a:buNone/>
            </a:pPr>
            <a:r>
              <a:rPr lang="en-US" sz="4000" b="1" dirty="0">
                <a:solidFill>
                  <a:srgbClr val="9A938A"/>
                </a:solidFill>
                <a:latin typeface="Cambria" pitchFamily="34" charset="0"/>
                <a:ea typeface="Cambria" pitchFamily="34" charset="-122"/>
                <a:cs typeface="Cambria" pitchFamily="34" charset="-120"/>
              </a:rPr>
              <a:t>100</a:t>
            </a:r>
            <a:endParaRPr lang="en-US" sz="4000" dirty="0"/>
          </a:p>
        </p:txBody>
      </p:sp>
      <p:sp>
        <p:nvSpPr>
          <p:cNvPr id="26" name="Text 24"/>
          <p:cNvSpPr/>
          <p:nvPr/>
        </p:nvSpPr>
        <p:spPr>
          <a:xfrm>
            <a:off x="9731411"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消費者</a:t>
            </a:r>
            <a:endParaRPr lang="en-US" sz="950" dirty="0"/>
          </a:p>
        </p:txBody>
      </p:sp>
      <p:sp>
        <p:nvSpPr>
          <p:cNvPr id="27" name="Shape 25"/>
          <p:cNvSpPr/>
          <p:nvPr/>
        </p:nvSpPr>
        <p:spPr>
          <a:xfrm>
            <a:off x="658368" y="3675888"/>
            <a:ext cx="10874959" cy="1773936"/>
          </a:xfrm>
          <a:prstGeom prst="roundRect">
            <a:avLst>
              <a:gd name="adj" fmla="val 2320"/>
            </a:avLst>
          </a:prstGeom>
          <a:solidFill>
            <a:srgbClr val="1F1D19"/>
          </a:solidFill>
          <a:ln w="9525">
            <a:solidFill>
              <a:srgbClr val="6E5730"/>
            </a:solidFill>
            <a:prstDash val="solid"/>
          </a:ln>
        </p:spPr>
      </p:sp>
      <p:sp>
        <p:nvSpPr>
          <p:cNvPr id="28" name="Text 26"/>
          <p:cNvSpPr/>
          <p:nvPr/>
        </p:nvSpPr>
        <p:spPr>
          <a:xfrm>
            <a:off x="932688" y="3840480"/>
            <a:ext cx="45720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主線（ニュートラル）の置き方</a:t>
            </a:r>
            <a:endParaRPr lang="en-US" sz="1200" dirty="0"/>
          </a:p>
        </p:txBody>
      </p:sp>
      <p:sp>
        <p:nvSpPr>
          <p:cNvPr id="29" name="Text 27"/>
          <p:cNvSpPr/>
          <p:nvPr/>
        </p:nvSpPr>
        <p:spPr>
          <a:xfrm>
            <a:off x="932688" y="4187952"/>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仕入ポートフォリオ</a:t>
            </a:r>
            <a:endParaRPr lang="en-US" sz="1050" dirty="0"/>
          </a:p>
        </p:txBody>
      </p:sp>
      <p:sp>
        <p:nvSpPr>
          <p:cNvPr id="30" name="Text 28"/>
          <p:cNvSpPr/>
          <p:nvPr/>
        </p:nvSpPr>
        <p:spPr>
          <a:xfrm>
            <a:off x="4133088" y="4187952"/>
            <a:ext cx="493776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インポーター40 ＋ 酒販店60 を半々</a:t>
            </a:r>
            <a:endParaRPr lang="en-US" sz="1050" dirty="0"/>
          </a:p>
        </p:txBody>
      </p:sp>
      <p:sp>
        <p:nvSpPr>
          <p:cNvPr id="31" name="Text 29"/>
          <p:cNvSpPr/>
          <p:nvPr/>
        </p:nvSpPr>
        <p:spPr>
          <a:xfrm>
            <a:off x="9162288" y="4187952"/>
            <a:ext cx="209671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市中原価 50.0</a:t>
            </a:r>
            <a:endParaRPr lang="en-US" sz="1050" dirty="0"/>
          </a:p>
        </p:txBody>
      </p:sp>
      <p:sp>
        <p:nvSpPr>
          <p:cNvPr id="32" name="Text 30"/>
          <p:cNvSpPr/>
          <p:nvPr/>
        </p:nvSpPr>
        <p:spPr>
          <a:xfrm>
            <a:off x="932688" y="4489704"/>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現物譲渡（WineBank→SPC）</a:t>
            </a:r>
            <a:endParaRPr lang="en-US" sz="1050" dirty="0"/>
          </a:p>
        </p:txBody>
      </p:sp>
      <p:sp>
        <p:nvSpPr>
          <p:cNvPr id="33" name="Text 31"/>
          <p:cNvSpPr/>
          <p:nvPr/>
        </p:nvSpPr>
        <p:spPr>
          <a:xfrm>
            <a:off x="4133088" y="4489704"/>
            <a:ext cx="493776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独立企業間価格として1%を付加</a:t>
            </a:r>
            <a:endParaRPr lang="en-US" sz="1050" dirty="0"/>
          </a:p>
        </p:txBody>
      </p:sp>
      <p:sp>
        <p:nvSpPr>
          <p:cNvPr id="34" name="Text 32"/>
          <p:cNvSpPr/>
          <p:nvPr/>
        </p:nvSpPr>
        <p:spPr>
          <a:xfrm>
            <a:off x="9162288" y="4489704"/>
            <a:ext cx="209671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SPC取得原価 50.5</a:t>
            </a:r>
            <a:endParaRPr lang="en-US" sz="1050" dirty="0"/>
          </a:p>
        </p:txBody>
      </p:sp>
      <p:sp>
        <p:nvSpPr>
          <p:cNvPr id="35" name="Text 33"/>
          <p:cNvSpPr/>
          <p:nvPr/>
        </p:nvSpPr>
        <p:spPr>
          <a:xfrm>
            <a:off x="932688" y="4791456"/>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売却ポートフォリオ</a:t>
            </a:r>
            <a:endParaRPr lang="en-US" sz="1050" dirty="0"/>
          </a:p>
        </p:txBody>
      </p:sp>
      <p:sp>
        <p:nvSpPr>
          <p:cNvPr id="36" name="Text 34"/>
          <p:cNvSpPr/>
          <p:nvPr/>
        </p:nvSpPr>
        <p:spPr>
          <a:xfrm>
            <a:off x="4133088" y="4791456"/>
            <a:ext cx="493776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酒販店卸70 ＋ ネット最安80 を半々</a:t>
            </a:r>
            <a:endParaRPr lang="en-US" sz="1050" dirty="0"/>
          </a:p>
        </p:txBody>
      </p:sp>
      <p:sp>
        <p:nvSpPr>
          <p:cNvPr id="37" name="Text 35"/>
          <p:cNvSpPr/>
          <p:nvPr/>
        </p:nvSpPr>
        <p:spPr>
          <a:xfrm>
            <a:off x="9162288" y="4791456"/>
            <a:ext cx="209671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売値 75.0</a:t>
            </a:r>
            <a:endParaRPr lang="en-US" sz="1050" dirty="0"/>
          </a:p>
        </p:txBody>
      </p:sp>
      <p:sp>
        <p:nvSpPr>
          <p:cNvPr id="38" name="Text 36"/>
          <p:cNvSpPr/>
          <p:nvPr/>
        </p:nvSpPr>
        <p:spPr>
          <a:xfrm>
            <a:off x="932688" y="5093208"/>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単位粗利</a:t>
            </a:r>
            <a:endParaRPr lang="en-US" sz="1050" dirty="0"/>
          </a:p>
        </p:txBody>
      </p:sp>
      <p:sp>
        <p:nvSpPr>
          <p:cNvPr id="39" name="Text 37"/>
          <p:cNvSpPr/>
          <p:nvPr/>
        </p:nvSpPr>
        <p:spPr>
          <a:xfrm>
            <a:off x="4133088" y="5093208"/>
            <a:ext cx="493776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売値75.0 − SPC取得原価50.5</a:t>
            </a:r>
            <a:endParaRPr lang="en-US" sz="1050" dirty="0"/>
          </a:p>
        </p:txBody>
      </p:sp>
      <p:sp>
        <p:nvSpPr>
          <p:cNvPr id="40" name="Text 38"/>
          <p:cNvSpPr/>
          <p:nvPr/>
        </p:nvSpPr>
        <p:spPr>
          <a:xfrm>
            <a:off x="9162288" y="5093208"/>
            <a:ext cx="2096719" cy="237744"/>
          </a:xfrm>
          <a:prstGeom prst="rect">
            <a:avLst/>
          </a:prstGeom>
          <a:noFill/>
          <a:ln/>
        </p:spPr>
        <p:txBody>
          <a:bodyPr wrap="square" lIns="0" tIns="0" rIns="0" bIns="0" rtlCol="0" anchor="ctr"/>
          <a:lstStyle/>
          <a:p>
            <a:pPr algn="r" indent="0" marL="0">
              <a:buNone/>
            </a:pPr>
            <a:r>
              <a:rPr lang="en-US" sz="1050" b="1" dirty="0">
                <a:solidFill>
                  <a:srgbClr val="C9A96E"/>
                </a:solidFill>
                <a:latin typeface="Yu Gothic" pitchFamily="34" charset="0"/>
                <a:ea typeface="Yu Gothic" pitchFamily="34" charset="-122"/>
                <a:cs typeface="Yu Gothic" pitchFamily="34" charset="-120"/>
              </a:rPr>
              <a:t>粗利 24.5（粗利率32.7%）</a:t>
            </a:r>
            <a:endParaRPr lang="en-US" sz="1050" dirty="0"/>
          </a:p>
        </p:txBody>
      </p:sp>
      <p:sp>
        <p:nvSpPr>
          <p:cNvPr id="41" name="Text 39"/>
          <p:cNvSpPr/>
          <p:nvPr/>
        </p:nvSpPr>
        <p:spPr>
          <a:xfrm>
            <a:off x="658368" y="5559552"/>
            <a:ext cx="10874959" cy="256032"/>
          </a:xfrm>
          <a:prstGeom prst="rect">
            <a:avLst/>
          </a:prstGeom>
          <a:noFill/>
          <a:ln/>
        </p:spPr>
        <p:txBody>
          <a:bodyPr wrap="square" lIns="0" tIns="0" rIns="0" bIns="0" rtlCol="0" anchor="ctr"/>
          <a:lstStyle/>
          <a:p>
            <a:pPr indent="0" marL="0">
              <a:buNone/>
            </a:pPr>
            <a:r>
              <a:rPr lang="en-US" sz="900" dirty="0">
                <a:solidFill>
                  <a:srgbClr val="6E675E"/>
                </a:solidFill>
                <a:latin typeface="Yu Gothic" pitchFamily="34" charset="0"/>
                <a:ea typeface="Yu Gothic" pitchFamily="34" charset="-122"/>
                <a:cs typeface="Yu Gothic" pitchFamily="34" charset="-120"/>
              </a:rPr>
              <a:t>副次（ポジティブ）：仕入はインポーター40のみ・売却はネット最安80のみ → SPC取得原価40.4・粗利39.6（粗利率49.5%）。調達枠の確保が前提条件。</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UNIT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3シナリオの単位経済（定価100あたり）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現物譲渡の1%は、全シナリオでSPCの取得原価に上乗せして計上している。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06</a:t>
            </a:r>
            <a:endParaRPr lang="en-US" sz="950" dirty="0"/>
          </a:p>
        </p:txBody>
      </p:sp>
      <p:sp>
        <p:nvSpPr>
          <p:cNvPr id="7" name="Shape 5"/>
          <p:cNvSpPr/>
          <p:nvPr/>
        </p:nvSpPr>
        <p:spPr>
          <a:xfrm>
            <a:off x="658368" y="1664208"/>
            <a:ext cx="3429914" cy="3566160"/>
          </a:xfrm>
          <a:prstGeom prst="roundRect">
            <a:avLst>
              <a:gd name="adj" fmla="val 1200"/>
            </a:avLst>
          </a:prstGeom>
          <a:solidFill>
            <a:srgbClr val="171614"/>
          </a:solidFill>
          <a:ln w="9525">
            <a:solidFill>
              <a:srgbClr val="2E2A24"/>
            </a:solidFill>
            <a:prstDash val="solid"/>
          </a:ln>
        </p:spPr>
      </p:sp>
      <p:sp>
        <p:nvSpPr>
          <p:cNvPr id="8" name="Text 6"/>
          <p:cNvSpPr/>
          <p:nvPr/>
        </p:nvSpPr>
        <p:spPr>
          <a:xfrm>
            <a:off x="914400" y="1847088"/>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ネガティブ</a:t>
            </a:r>
            <a:endParaRPr lang="en-US" sz="1300" dirty="0"/>
          </a:p>
        </p:txBody>
      </p:sp>
      <p:sp>
        <p:nvSpPr>
          <p:cNvPr id="9" name="Text 7"/>
          <p:cNvSpPr/>
          <p:nvPr/>
        </p:nvSpPr>
        <p:spPr>
          <a:xfrm>
            <a:off x="914400" y="2304288"/>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市中仕入原価</a:t>
            </a:r>
            <a:endParaRPr lang="en-US" sz="1000" dirty="0"/>
          </a:p>
        </p:txBody>
      </p:sp>
      <p:sp>
        <p:nvSpPr>
          <p:cNvPr id="10" name="Text 8"/>
          <p:cNvSpPr/>
          <p:nvPr/>
        </p:nvSpPr>
        <p:spPr>
          <a:xfrm>
            <a:off x="2625242" y="2304288"/>
            <a:ext cx="1207008" cy="256032"/>
          </a:xfrm>
          <a:prstGeom prst="rect">
            <a:avLst/>
          </a:prstGeom>
          <a:noFill/>
          <a:ln/>
        </p:spPr>
        <p:txBody>
          <a:bodyPr wrap="square" lIns="0" tIns="0" rIns="0" bIns="0" rtlCol="0" anchor="ctr"/>
          <a:lstStyle/>
          <a:p>
            <a:pPr algn="r" indent="0" marL="0">
              <a:buNone/>
            </a:pPr>
            <a:r>
              <a:rPr lang="en-US" sz="1400" b="1" dirty="0">
                <a:solidFill>
                  <a:srgbClr val="EFEBE3"/>
                </a:solidFill>
                <a:latin typeface="Cambria" pitchFamily="34" charset="0"/>
                <a:ea typeface="Cambria" pitchFamily="34" charset="-122"/>
                <a:cs typeface="Cambria" pitchFamily="34" charset="-120"/>
              </a:rPr>
              <a:t>50.00</a:t>
            </a:r>
            <a:endParaRPr lang="en-US" sz="1400" dirty="0"/>
          </a:p>
        </p:txBody>
      </p:sp>
      <p:sp>
        <p:nvSpPr>
          <p:cNvPr id="11" name="Text 9"/>
          <p:cNvSpPr/>
          <p:nvPr/>
        </p:nvSpPr>
        <p:spPr>
          <a:xfrm>
            <a:off x="914400" y="2706624"/>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SPC取得原価（＋1%）</a:t>
            </a:r>
            <a:endParaRPr lang="en-US" sz="1000" dirty="0"/>
          </a:p>
        </p:txBody>
      </p:sp>
      <p:sp>
        <p:nvSpPr>
          <p:cNvPr id="12" name="Text 10"/>
          <p:cNvSpPr/>
          <p:nvPr/>
        </p:nvSpPr>
        <p:spPr>
          <a:xfrm>
            <a:off x="2625242" y="2706624"/>
            <a:ext cx="1207008" cy="256032"/>
          </a:xfrm>
          <a:prstGeom prst="rect">
            <a:avLst/>
          </a:prstGeom>
          <a:noFill/>
          <a:ln/>
        </p:spPr>
        <p:txBody>
          <a:bodyPr wrap="square" lIns="0" tIns="0" rIns="0" bIns="0" rtlCol="0" anchor="ctr"/>
          <a:lstStyle/>
          <a:p>
            <a:pPr algn="r" indent="0" marL="0">
              <a:buNone/>
            </a:pPr>
            <a:r>
              <a:rPr lang="en-US" sz="1400" b="1" dirty="0">
                <a:solidFill>
                  <a:srgbClr val="C9A96E"/>
                </a:solidFill>
                <a:latin typeface="Cambria" pitchFamily="34" charset="0"/>
                <a:ea typeface="Cambria" pitchFamily="34" charset="-122"/>
                <a:cs typeface="Cambria" pitchFamily="34" charset="-120"/>
              </a:rPr>
              <a:t>50.50</a:t>
            </a:r>
            <a:endParaRPr lang="en-US" sz="1400" dirty="0"/>
          </a:p>
        </p:txBody>
      </p:sp>
      <p:sp>
        <p:nvSpPr>
          <p:cNvPr id="13" name="Text 11"/>
          <p:cNvSpPr/>
          <p:nvPr/>
        </p:nvSpPr>
        <p:spPr>
          <a:xfrm>
            <a:off x="914400" y="3108960"/>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売値</a:t>
            </a:r>
            <a:endParaRPr lang="en-US" sz="1000" dirty="0"/>
          </a:p>
        </p:txBody>
      </p:sp>
      <p:sp>
        <p:nvSpPr>
          <p:cNvPr id="14" name="Text 12"/>
          <p:cNvSpPr/>
          <p:nvPr/>
        </p:nvSpPr>
        <p:spPr>
          <a:xfrm>
            <a:off x="2625242" y="3108960"/>
            <a:ext cx="1207008" cy="256032"/>
          </a:xfrm>
          <a:prstGeom prst="rect">
            <a:avLst/>
          </a:prstGeom>
          <a:noFill/>
          <a:ln/>
        </p:spPr>
        <p:txBody>
          <a:bodyPr wrap="square" lIns="0" tIns="0" rIns="0" bIns="0" rtlCol="0" anchor="ctr"/>
          <a:lstStyle/>
          <a:p>
            <a:pPr algn="r" indent="0" marL="0">
              <a:buNone/>
            </a:pPr>
            <a:r>
              <a:rPr lang="en-US" sz="1400" b="1" dirty="0">
                <a:solidFill>
                  <a:srgbClr val="EFEBE3"/>
                </a:solidFill>
                <a:latin typeface="Cambria" pitchFamily="34" charset="0"/>
                <a:ea typeface="Cambria" pitchFamily="34" charset="-122"/>
                <a:cs typeface="Cambria" pitchFamily="34" charset="-120"/>
              </a:rPr>
              <a:t>71.25</a:t>
            </a:r>
            <a:endParaRPr lang="en-US" sz="1400" dirty="0"/>
          </a:p>
        </p:txBody>
      </p:sp>
      <p:sp>
        <p:nvSpPr>
          <p:cNvPr id="15" name="Text 13"/>
          <p:cNvSpPr/>
          <p:nvPr/>
        </p:nvSpPr>
        <p:spPr>
          <a:xfrm>
            <a:off x="914400" y="3511296"/>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単位粗利</a:t>
            </a:r>
            <a:endParaRPr lang="en-US" sz="1000" dirty="0"/>
          </a:p>
        </p:txBody>
      </p:sp>
      <p:sp>
        <p:nvSpPr>
          <p:cNvPr id="16" name="Text 14"/>
          <p:cNvSpPr/>
          <p:nvPr/>
        </p:nvSpPr>
        <p:spPr>
          <a:xfrm>
            <a:off x="2625242" y="3511296"/>
            <a:ext cx="1207008" cy="256032"/>
          </a:xfrm>
          <a:prstGeom prst="rect">
            <a:avLst/>
          </a:prstGeom>
          <a:noFill/>
          <a:ln/>
        </p:spPr>
        <p:txBody>
          <a:bodyPr wrap="square" lIns="0" tIns="0" rIns="0" bIns="0" rtlCol="0" anchor="ctr"/>
          <a:lstStyle/>
          <a:p>
            <a:pPr algn="r" indent="0" marL="0">
              <a:buNone/>
            </a:pPr>
            <a:r>
              <a:rPr lang="en-US" sz="1400" b="1" dirty="0">
                <a:solidFill>
                  <a:srgbClr val="EFEBE3"/>
                </a:solidFill>
                <a:latin typeface="Cambria" pitchFamily="34" charset="0"/>
                <a:ea typeface="Cambria" pitchFamily="34" charset="-122"/>
                <a:cs typeface="Cambria" pitchFamily="34" charset="-120"/>
              </a:rPr>
              <a:t>20.75</a:t>
            </a:r>
            <a:endParaRPr lang="en-US" sz="1400" dirty="0"/>
          </a:p>
        </p:txBody>
      </p:sp>
      <p:sp>
        <p:nvSpPr>
          <p:cNvPr id="17" name="Text 15"/>
          <p:cNvSpPr/>
          <p:nvPr/>
        </p:nvSpPr>
        <p:spPr>
          <a:xfrm>
            <a:off x="914400" y="3913632"/>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粗利率</a:t>
            </a:r>
            <a:endParaRPr lang="en-US" sz="1000" dirty="0"/>
          </a:p>
        </p:txBody>
      </p:sp>
      <p:sp>
        <p:nvSpPr>
          <p:cNvPr id="18" name="Text 16"/>
          <p:cNvSpPr/>
          <p:nvPr/>
        </p:nvSpPr>
        <p:spPr>
          <a:xfrm>
            <a:off x="2625242" y="3913632"/>
            <a:ext cx="1207008" cy="256032"/>
          </a:xfrm>
          <a:prstGeom prst="rect">
            <a:avLst/>
          </a:prstGeom>
          <a:noFill/>
          <a:ln/>
        </p:spPr>
        <p:txBody>
          <a:bodyPr wrap="square" lIns="0" tIns="0" rIns="0" bIns="0" rtlCol="0" anchor="ctr"/>
          <a:lstStyle/>
          <a:p>
            <a:pPr algn="r" indent="0" marL="0">
              <a:buNone/>
            </a:pPr>
            <a:r>
              <a:rPr lang="en-US" sz="1300" b="1" dirty="0">
                <a:solidFill>
                  <a:srgbClr val="EFEBE3"/>
                </a:solidFill>
                <a:latin typeface="Cambria" pitchFamily="34" charset="0"/>
                <a:ea typeface="Cambria" pitchFamily="34" charset="-122"/>
                <a:cs typeface="Cambria" pitchFamily="34" charset="-120"/>
              </a:rPr>
              <a:t>29.1%</a:t>
            </a:r>
            <a:endParaRPr lang="en-US" sz="1300" dirty="0"/>
          </a:p>
        </p:txBody>
      </p:sp>
      <p:sp>
        <p:nvSpPr>
          <p:cNvPr id="19" name="Text 17"/>
          <p:cNvSpPr/>
          <p:nvPr/>
        </p:nvSpPr>
        <p:spPr>
          <a:xfrm>
            <a:off x="914400" y="4315968"/>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投下原価利益率</a:t>
            </a:r>
            <a:endParaRPr lang="en-US" sz="1000" dirty="0"/>
          </a:p>
        </p:txBody>
      </p:sp>
      <p:sp>
        <p:nvSpPr>
          <p:cNvPr id="20" name="Text 18"/>
          <p:cNvSpPr/>
          <p:nvPr/>
        </p:nvSpPr>
        <p:spPr>
          <a:xfrm>
            <a:off x="2625242" y="4315968"/>
            <a:ext cx="1207008" cy="256032"/>
          </a:xfrm>
          <a:prstGeom prst="rect">
            <a:avLst/>
          </a:prstGeom>
          <a:noFill/>
          <a:ln/>
        </p:spPr>
        <p:txBody>
          <a:bodyPr wrap="square" lIns="0" tIns="0" rIns="0" bIns="0" rtlCol="0" anchor="ctr"/>
          <a:lstStyle/>
          <a:p>
            <a:pPr algn="r" indent="0" marL="0">
              <a:buNone/>
            </a:pPr>
            <a:r>
              <a:rPr lang="en-US" sz="1300" b="1" dirty="0">
                <a:solidFill>
                  <a:srgbClr val="EFEBE3"/>
                </a:solidFill>
                <a:latin typeface="Cambria" pitchFamily="34" charset="0"/>
                <a:ea typeface="Cambria" pitchFamily="34" charset="-122"/>
                <a:cs typeface="Cambria" pitchFamily="34" charset="-120"/>
              </a:rPr>
              <a:t>41.1%</a:t>
            </a:r>
            <a:endParaRPr lang="en-US" sz="1300" dirty="0"/>
          </a:p>
        </p:txBody>
      </p:sp>
      <p:sp>
        <p:nvSpPr>
          <p:cNvPr id="21" name="Text 19"/>
          <p:cNvSpPr/>
          <p:nvPr/>
        </p:nvSpPr>
        <p:spPr>
          <a:xfrm>
            <a:off x="914400" y="4718304"/>
            <a:ext cx="2917850" cy="402336"/>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ニュートラルから売値を5%値引き</a:t>
            </a:r>
            <a:endParaRPr lang="en-US" sz="900" dirty="0"/>
          </a:p>
        </p:txBody>
      </p:sp>
      <p:sp>
        <p:nvSpPr>
          <p:cNvPr id="22" name="Shape 20"/>
          <p:cNvSpPr/>
          <p:nvPr/>
        </p:nvSpPr>
        <p:spPr>
          <a:xfrm>
            <a:off x="4380890" y="1664208"/>
            <a:ext cx="3429914" cy="3566160"/>
          </a:xfrm>
          <a:prstGeom prst="roundRect">
            <a:avLst>
              <a:gd name="adj" fmla="val 1200"/>
            </a:avLst>
          </a:prstGeom>
          <a:solidFill>
            <a:srgbClr val="1F1D19"/>
          </a:solidFill>
          <a:ln w="9525">
            <a:solidFill>
              <a:srgbClr val="6E5730"/>
            </a:solidFill>
            <a:prstDash val="solid"/>
          </a:ln>
        </p:spPr>
      </p:sp>
      <p:sp>
        <p:nvSpPr>
          <p:cNvPr id="23" name="Text 21"/>
          <p:cNvSpPr/>
          <p:nvPr/>
        </p:nvSpPr>
        <p:spPr>
          <a:xfrm>
            <a:off x="4636922" y="1847088"/>
            <a:ext cx="2917850"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ニュートラル（主線）</a:t>
            </a:r>
            <a:endParaRPr lang="en-US" sz="1300" dirty="0"/>
          </a:p>
        </p:txBody>
      </p:sp>
      <p:sp>
        <p:nvSpPr>
          <p:cNvPr id="24" name="Text 22"/>
          <p:cNvSpPr/>
          <p:nvPr/>
        </p:nvSpPr>
        <p:spPr>
          <a:xfrm>
            <a:off x="4636922" y="2304288"/>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市中仕入原価</a:t>
            </a:r>
            <a:endParaRPr lang="en-US" sz="1000" dirty="0"/>
          </a:p>
        </p:txBody>
      </p:sp>
      <p:sp>
        <p:nvSpPr>
          <p:cNvPr id="25" name="Text 23"/>
          <p:cNvSpPr/>
          <p:nvPr/>
        </p:nvSpPr>
        <p:spPr>
          <a:xfrm>
            <a:off x="6347765" y="2304288"/>
            <a:ext cx="1207008" cy="256032"/>
          </a:xfrm>
          <a:prstGeom prst="rect">
            <a:avLst/>
          </a:prstGeom>
          <a:noFill/>
          <a:ln/>
        </p:spPr>
        <p:txBody>
          <a:bodyPr wrap="square" lIns="0" tIns="0" rIns="0" bIns="0" rtlCol="0" anchor="ctr"/>
          <a:lstStyle/>
          <a:p>
            <a:pPr algn="r" indent="0" marL="0">
              <a:buNone/>
            </a:pPr>
            <a:r>
              <a:rPr lang="en-US" sz="1400" b="1" dirty="0">
                <a:solidFill>
                  <a:srgbClr val="EFEBE3"/>
                </a:solidFill>
                <a:latin typeface="Cambria" pitchFamily="34" charset="0"/>
                <a:ea typeface="Cambria" pitchFamily="34" charset="-122"/>
                <a:cs typeface="Cambria" pitchFamily="34" charset="-120"/>
              </a:rPr>
              <a:t>50.00</a:t>
            </a:r>
            <a:endParaRPr lang="en-US" sz="1400" dirty="0"/>
          </a:p>
        </p:txBody>
      </p:sp>
      <p:sp>
        <p:nvSpPr>
          <p:cNvPr id="26" name="Text 24"/>
          <p:cNvSpPr/>
          <p:nvPr/>
        </p:nvSpPr>
        <p:spPr>
          <a:xfrm>
            <a:off x="4636922" y="2706624"/>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SPC取得原価（＋1%）</a:t>
            </a:r>
            <a:endParaRPr lang="en-US" sz="1000" dirty="0"/>
          </a:p>
        </p:txBody>
      </p:sp>
      <p:sp>
        <p:nvSpPr>
          <p:cNvPr id="27" name="Text 25"/>
          <p:cNvSpPr/>
          <p:nvPr/>
        </p:nvSpPr>
        <p:spPr>
          <a:xfrm>
            <a:off x="6347765" y="2706624"/>
            <a:ext cx="1207008" cy="256032"/>
          </a:xfrm>
          <a:prstGeom prst="rect">
            <a:avLst/>
          </a:prstGeom>
          <a:noFill/>
          <a:ln/>
        </p:spPr>
        <p:txBody>
          <a:bodyPr wrap="square" lIns="0" tIns="0" rIns="0" bIns="0" rtlCol="0" anchor="ctr"/>
          <a:lstStyle/>
          <a:p>
            <a:pPr algn="r" indent="0" marL="0">
              <a:buNone/>
            </a:pPr>
            <a:r>
              <a:rPr lang="en-US" sz="1400" b="1" dirty="0">
                <a:solidFill>
                  <a:srgbClr val="C9A96E"/>
                </a:solidFill>
                <a:latin typeface="Cambria" pitchFamily="34" charset="0"/>
                <a:ea typeface="Cambria" pitchFamily="34" charset="-122"/>
                <a:cs typeface="Cambria" pitchFamily="34" charset="-120"/>
              </a:rPr>
              <a:t>50.50</a:t>
            </a:r>
            <a:endParaRPr lang="en-US" sz="1400" dirty="0"/>
          </a:p>
        </p:txBody>
      </p:sp>
      <p:sp>
        <p:nvSpPr>
          <p:cNvPr id="28" name="Text 26"/>
          <p:cNvSpPr/>
          <p:nvPr/>
        </p:nvSpPr>
        <p:spPr>
          <a:xfrm>
            <a:off x="4636922" y="3108960"/>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売値</a:t>
            </a:r>
            <a:endParaRPr lang="en-US" sz="1000" dirty="0"/>
          </a:p>
        </p:txBody>
      </p:sp>
      <p:sp>
        <p:nvSpPr>
          <p:cNvPr id="29" name="Text 27"/>
          <p:cNvSpPr/>
          <p:nvPr/>
        </p:nvSpPr>
        <p:spPr>
          <a:xfrm>
            <a:off x="6347765" y="3108960"/>
            <a:ext cx="1207008" cy="256032"/>
          </a:xfrm>
          <a:prstGeom prst="rect">
            <a:avLst/>
          </a:prstGeom>
          <a:noFill/>
          <a:ln/>
        </p:spPr>
        <p:txBody>
          <a:bodyPr wrap="square" lIns="0" tIns="0" rIns="0" bIns="0" rtlCol="0" anchor="ctr"/>
          <a:lstStyle/>
          <a:p>
            <a:pPr algn="r" indent="0" marL="0">
              <a:buNone/>
            </a:pPr>
            <a:r>
              <a:rPr lang="en-US" sz="1400" b="1" dirty="0">
                <a:solidFill>
                  <a:srgbClr val="EFEBE3"/>
                </a:solidFill>
                <a:latin typeface="Cambria" pitchFamily="34" charset="0"/>
                <a:ea typeface="Cambria" pitchFamily="34" charset="-122"/>
                <a:cs typeface="Cambria" pitchFamily="34" charset="-120"/>
              </a:rPr>
              <a:t>75.00</a:t>
            </a:r>
            <a:endParaRPr lang="en-US" sz="1400" dirty="0"/>
          </a:p>
        </p:txBody>
      </p:sp>
      <p:sp>
        <p:nvSpPr>
          <p:cNvPr id="30" name="Text 28"/>
          <p:cNvSpPr/>
          <p:nvPr/>
        </p:nvSpPr>
        <p:spPr>
          <a:xfrm>
            <a:off x="4636922" y="3511296"/>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単位粗利</a:t>
            </a:r>
            <a:endParaRPr lang="en-US" sz="1000" dirty="0"/>
          </a:p>
        </p:txBody>
      </p:sp>
      <p:sp>
        <p:nvSpPr>
          <p:cNvPr id="31" name="Text 29"/>
          <p:cNvSpPr/>
          <p:nvPr/>
        </p:nvSpPr>
        <p:spPr>
          <a:xfrm>
            <a:off x="6347765" y="3511296"/>
            <a:ext cx="1207008" cy="256032"/>
          </a:xfrm>
          <a:prstGeom prst="rect">
            <a:avLst/>
          </a:prstGeom>
          <a:noFill/>
          <a:ln/>
        </p:spPr>
        <p:txBody>
          <a:bodyPr wrap="square" lIns="0" tIns="0" rIns="0" bIns="0" rtlCol="0" anchor="ctr"/>
          <a:lstStyle/>
          <a:p>
            <a:pPr algn="r" indent="0" marL="0">
              <a:buNone/>
            </a:pPr>
            <a:r>
              <a:rPr lang="en-US" sz="1400" b="1" dirty="0">
                <a:solidFill>
                  <a:srgbClr val="C9A96E"/>
                </a:solidFill>
                <a:latin typeface="Cambria" pitchFamily="34" charset="0"/>
                <a:ea typeface="Cambria" pitchFamily="34" charset="-122"/>
                <a:cs typeface="Cambria" pitchFamily="34" charset="-120"/>
              </a:rPr>
              <a:t>24.50</a:t>
            </a:r>
            <a:endParaRPr lang="en-US" sz="1400" dirty="0"/>
          </a:p>
        </p:txBody>
      </p:sp>
      <p:sp>
        <p:nvSpPr>
          <p:cNvPr id="32" name="Text 30"/>
          <p:cNvSpPr/>
          <p:nvPr/>
        </p:nvSpPr>
        <p:spPr>
          <a:xfrm>
            <a:off x="4636922" y="3913632"/>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粗利率</a:t>
            </a:r>
            <a:endParaRPr lang="en-US" sz="1000" dirty="0"/>
          </a:p>
        </p:txBody>
      </p:sp>
      <p:sp>
        <p:nvSpPr>
          <p:cNvPr id="33" name="Text 31"/>
          <p:cNvSpPr/>
          <p:nvPr/>
        </p:nvSpPr>
        <p:spPr>
          <a:xfrm>
            <a:off x="6347765" y="3913632"/>
            <a:ext cx="1207008" cy="256032"/>
          </a:xfrm>
          <a:prstGeom prst="rect">
            <a:avLst/>
          </a:prstGeom>
          <a:noFill/>
          <a:ln/>
        </p:spPr>
        <p:txBody>
          <a:bodyPr wrap="square" lIns="0" tIns="0" rIns="0" bIns="0" rtlCol="0" anchor="ctr"/>
          <a:lstStyle/>
          <a:p>
            <a:pPr algn="r" indent="0" marL="0">
              <a:buNone/>
            </a:pPr>
            <a:r>
              <a:rPr lang="en-US" sz="1300" b="1" dirty="0">
                <a:solidFill>
                  <a:srgbClr val="C9A96E"/>
                </a:solidFill>
                <a:latin typeface="Cambria" pitchFamily="34" charset="0"/>
                <a:ea typeface="Cambria" pitchFamily="34" charset="-122"/>
                <a:cs typeface="Cambria" pitchFamily="34" charset="-120"/>
              </a:rPr>
              <a:t>32.7%</a:t>
            </a:r>
            <a:endParaRPr lang="en-US" sz="1300" dirty="0"/>
          </a:p>
        </p:txBody>
      </p:sp>
      <p:sp>
        <p:nvSpPr>
          <p:cNvPr id="34" name="Text 32"/>
          <p:cNvSpPr/>
          <p:nvPr/>
        </p:nvSpPr>
        <p:spPr>
          <a:xfrm>
            <a:off x="4636922" y="4315968"/>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投下原価利益率</a:t>
            </a:r>
            <a:endParaRPr lang="en-US" sz="1000" dirty="0"/>
          </a:p>
        </p:txBody>
      </p:sp>
      <p:sp>
        <p:nvSpPr>
          <p:cNvPr id="35" name="Text 33"/>
          <p:cNvSpPr/>
          <p:nvPr/>
        </p:nvSpPr>
        <p:spPr>
          <a:xfrm>
            <a:off x="6347765" y="4315968"/>
            <a:ext cx="1207008" cy="256032"/>
          </a:xfrm>
          <a:prstGeom prst="rect">
            <a:avLst/>
          </a:prstGeom>
          <a:noFill/>
          <a:ln/>
        </p:spPr>
        <p:txBody>
          <a:bodyPr wrap="square" lIns="0" tIns="0" rIns="0" bIns="0" rtlCol="0" anchor="ctr"/>
          <a:lstStyle/>
          <a:p>
            <a:pPr algn="r" indent="0" marL="0">
              <a:buNone/>
            </a:pPr>
            <a:r>
              <a:rPr lang="en-US" sz="1300" b="1" dirty="0">
                <a:solidFill>
                  <a:srgbClr val="EFEBE3"/>
                </a:solidFill>
                <a:latin typeface="Cambria" pitchFamily="34" charset="0"/>
                <a:ea typeface="Cambria" pitchFamily="34" charset="-122"/>
                <a:cs typeface="Cambria" pitchFamily="34" charset="-120"/>
              </a:rPr>
              <a:t>48.5%</a:t>
            </a:r>
            <a:endParaRPr lang="en-US" sz="1300" dirty="0"/>
          </a:p>
        </p:txBody>
      </p:sp>
      <p:sp>
        <p:nvSpPr>
          <p:cNvPr id="36" name="Text 34"/>
          <p:cNvSpPr/>
          <p:nvPr/>
        </p:nvSpPr>
        <p:spPr>
          <a:xfrm>
            <a:off x="4636922" y="4718304"/>
            <a:ext cx="2917850" cy="402336"/>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仕入40/60の半々・売却70/80の半々</a:t>
            </a:r>
            <a:endParaRPr lang="en-US" sz="900" dirty="0"/>
          </a:p>
        </p:txBody>
      </p:sp>
      <p:sp>
        <p:nvSpPr>
          <p:cNvPr id="37" name="Shape 35"/>
          <p:cNvSpPr/>
          <p:nvPr/>
        </p:nvSpPr>
        <p:spPr>
          <a:xfrm>
            <a:off x="8103413" y="1664208"/>
            <a:ext cx="3429914" cy="3566160"/>
          </a:xfrm>
          <a:prstGeom prst="roundRect">
            <a:avLst>
              <a:gd name="adj" fmla="val 1200"/>
            </a:avLst>
          </a:prstGeom>
          <a:solidFill>
            <a:srgbClr val="171614"/>
          </a:solidFill>
          <a:ln w="9525">
            <a:solidFill>
              <a:srgbClr val="2E2A24"/>
            </a:solidFill>
            <a:prstDash val="solid"/>
          </a:ln>
        </p:spPr>
      </p:sp>
      <p:sp>
        <p:nvSpPr>
          <p:cNvPr id="38" name="Text 36"/>
          <p:cNvSpPr/>
          <p:nvPr/>
        </p:nvSpPr>
        <p:spPr>
          <a:xfrm>
            <a:off x="8359445" y="1847088"/>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ポジティブ</a:t>
            </a:r>
            <a:endParaRPr lang="en-US" sz="1300" dirty="0"/>
          </a:p>
        </p:txBody>
      </p:sp>
      <p:sp>
        <p:nvSpPr>
          <p:cNvPr id="39" name="Text 37"/>
          <p:cNvSpPr/>
          <p:nvPr/>
        </p:nvSpPr>
        <p:spPr>
          <a:xfrm>
            <a:off x="8359445" y="2304288"/>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市中仕入原価</a:t>
            </a:r>
            <a:endParaRPr lang="en-US" sz="1000" dirty="0"/>
          </a:p>
        </p:txBody>
      </p:sp>
      <p:sp>
        <p:nvSpPr>
          <p:cNvPr id="40" name="Text 38"/>
          <p:cNvSpPr/>
          <p:nvPr/>
        </p:nvSpPr>
        <p:spPr>
          <a:xfrm>
            <a:off x="10070287" y="2304288"/>
            <a:ext cx="1207008" cy="256032"/>
          </a:xfrm>
          <a:prstGeom prst="rect">
            <a:avLst/>
          </a:prstGeom>
          <a:noFill/>
          <a:ln/>
        </p:spPr>
        <p:txBody>
          <a:bodyPr wrap="square" lIns="0" tIns="0" rIns="0" bIns="0" rtlCol="0" anchor="ctr"/>
          <a:lstStyle/>
          <a:p>
            <a:pPr algn="r" indent="0" marL="0">
              <a:buNone/>
            </a:pPr>
            <a:r>
              <a:rPr lang="en-US" sz="1400" b="1" dirty="0">
                <a:solidFill>
                  <a:srgbClr val="EFEBE3"/>
                </a:solidFill>
                <a:latin typeface="Cambria" pitchFamily="34" charset="0"/>
                <a:ea typeface="Cambria" pitchFamily="34" charset="-122"/>
                <a:cs typeface="Cambria" pitchFamily="34" charset="-120"/>
              </a:rPr>
              <a:t>40.00</a:t>
            </a:r>
            <a:endParaRPr lang="en-US" sz="1400" dirty="0"/>
          </a:p>
        </p:txBody>
      </p:sp>
      <p:sp>
        <p:nvSpPr>
          <p:cNvPr id="41" name="Text 39"/>
          <p:cNvSpPr/>
          <p:nvPr/>
        </p:nvSpPr>
        <p:spPr>
          <a:xfrm>
            <a:off x="8359445" y="2706624"/>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SPC取得原価（＋1%）</a:t>
            </a:r>
            <a:endParaRPr lang="en-US" sz="1000" dirty="0"/>
          </a:p>
        </p:txBody>
      </p:sp>
      <p:sp>
        <p:nvSpPr>
          <p:cNvPr id="42" name="Text 40"/>
          <p:cNvSpPr/>
          <p:nvPr/>
        </p:nvSpPr>
        <p:spPr>
          <a:xfrm>
            <a:off x="10070287" y="2706624"/>
            <a:ext cx="1207008" cy="256032"/>
          </a:xfrm>
          <a:prstGeom prst="rect">
            <a:avLst/>
          </a:prstGeom>
          <a:noFill/>
          <a:ln/>
        </p:spPr>
        <p:txBody>
          <a:bodyPr wrap="square" lIns="0" tIns="0" rIns="0" bIns="0" rtlCol="0" anchor="ctr"/>
          <a:lstStyle/>
          <a:p>
            <a:pPr algn="r" indent="0" marL="0">
              <a:buNone/>
            </a:pPr>
            <a:r>
              <a:rPr lang="en-US" sz="1400" b="1" dirty="0">
                <a:solidFill>
                  <a:srgbClr val="C9A96E"/>
                </a:solidFill>
                <a:latin typeface="Cambria" pitchFamily="34" charset="0"/>
                <a:ea typeface="Cambria" pitchFamily="34" charset="-122"/>
                <a:cs typeface="Cambria" pitchFamily="34" charset="-120"/>
              </a:rPr>
              <a:t>40.40</a:t>
            </a:r>
            <a:endParaRPr lang="en-US" sz="1400" dirty="0"/>
          </a:p>
        </p:txBody>
      </p:sp>
      <p:sp>
        <p:nvSpPr>
          <p:cNvPr id="43" name="Text 41"/>
          <p:cNvSpPr/>
          <p:nvPr/>
        </p:nvSpPr>
        <p:spPr>
          <a:xfrm>
            <a:off x="8359445" y="3108960"/>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売値</a:t>
            </a:r>
            <a:endParaRPr lang="en-US" sz="1000" dirty="0"/>
          </a:p>
        </p:txBody>
      </p:sp>
      <p:sp>
        <p:nvSpPr>
          <p:cNvPr id="44" name="Text 42"/>
          <p:cNvSpPr/>
          <p:nvPr/>
        </p:nvSpPr>
        <p:spPr>
          <a:xfrm>
            <a:off x="10070287" y="3108960"/>
            <a:ext cx="1207008" cy="256032"/>
          </a:xfrm>
          <a:prstGeom prst="rect">
            <a:avLst/>
          </a:prstGeom>
          <a:noFill/>
          <a:ln/>
        </p:spPr>
        <p:txBody>
          <a:bodyPr wrap="square" lIns="0" tIns="0" rIns="0" bIns="0" rtlCol="0" anchor="ctr"/>
          <a:lstStyle/>
          <a:p>
            <a:pPr algn="r" indent="0" marL="0">
              <a:buNone/>
            </a:pPr>
            <a:r>
              <a:rPr lang="en-US" sz="1400" b="1" dirty="0">
                <a:solidFill>
                  <a:srgbClr val="EFEBE3"/>
                </a:solidFill>
                <a:latin typeface="Cambria" pitchFamily="34" charset="0"/>
                <a:ea typeface="Cambria" pitchFamily="34" charset="-122"/>
                <a:cs typeface="Cambria" pitchFamily="34" charset="-120"/>
              </a:rPr>
              <a:t>80.00</a:t>
            </a:r>
            <a:endParaRPr lang="en-US" sz="1400" dirty="0"/>
          </a:p>
        </p:txBody>
      </p:sp>
      <p:sp>
        <p:nvSpPr>
          <p:cNvPr id="45" name="Text 43"/>
          <p:cNvSpPr/>
          <p:nvPr/>
        </p:nvSpPr>
        <p:spPr>
          <a:xfrm>
            <a:off x="8359445" y="3511296"/>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単位粗利</a:t>
            </a:r>
            <a:endParaRPr lang="en-US" sz="1000" dirty="0"/>
          </a:p>
        </p:txBody>
      </p:sp>
      <p:sp>
        <p:nvSpPr>
          <p:cNvPr id="46" name="Text 44"/>
          <p:cNvSpPr/>
          <p:nvPr/>
        </p:nvSpPr>
        <p:spPr>
          <a:xfrm>
            <a:off x="10070287" y="3511296"/>
            <a:ext cx="1207008" cy="256032"/>
          </a:xfrm>
          <a:prstGeom prst="rect">
            <a:avLst/>
          </a:prstGeom>
          <a:noFill/>
          <a:ln/>
        </p:spPr>
        <p:txBody>
          <a:bodyPr wrap="square" lIns="0" tIns="0" rIns="0" bIns="0" rtlCol="0" anchor="ctr"/>
          <a:lstStyle/>
          <a:p>
            <a:pPr algn="r" indent="0" marL="0">
              <a:buNone/>
            </a:pPr>
            <a:r>
              <a:rPr lang="en-US" sz="1400" b="1" dirty="0">
                <a:solidFill>
                  <a:srgbClr val="EFEBE3"/>
                </a:solidFill>
                <a:latin typeface="Cambria" pitchFamily="34" charset="0"/>
                <a:ea typeface="Cambria" pitchFamily="34" charset="-122"/>
                <a:cs typeface="Cambria" pitchFamily="34" charset="-120"/>
              </a:rPr>
              <a:t>39.60</a:t>
            </a:r>
            <a:endParaRPr lang="en-US" sz="1400" dirty="0"/>
          </a:p>
        </p:txBody>
      </p:sp>
      <p:sp>
        <p:nvSpPr>
          <p:cNvPr id="47" name="Text 45"/>
          <p:cNvSpPr/>
          <p:nvPr/>
        </p:nvSpPr>
        <p:spPr>
          <a:xfrm>
            <a:off x="8359445" y="3913632"/>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粗利率</a:t>
            </a:r>
            <a:endParaRPr lang="en-US" sz="1000" dirty="0"/>
          </a:p>
        </p:txBody>
      </p:sp>
      <p:sp>
        <p:nvSpPr>
          <p:cNvPr id="48" name="Text 46"/>
          <p:cNvSpPr/>
          <p:nvPr/>
        </p:nvSpPr>
        <p:spPr>
          <a:xfrm>
            <a:off x="10070287" y="3913632"/>
            <a:ext cx="1207008" cy="256032"/>
          </a:xfrm>
          <a:prstGeom prst="rect">
            <a:avLst/>
          </a:prstGeom>
          <a:noFill/>
          <a:ln/>
        </p:spPr>
        <p:txBody>
          <a:bodyPr wrap="square" lIns="0" tIns="0" rIns="0" bIns="0" rtlCol="0" anchor="ctr"/>
          <a:lstStyle/>
          <a:p>
            <a:pPr algn="r" indent="0" marL="0">
              <a:buNone/>
            </a:pPr>
            <a:r>
              <a:rPr lang="en-US" sz="1300" b="1" dirty="0">
                <a:solidFill>
                  <a:srgbClr val="EFEBE3"/>
                </a:solidFill>
                <a:latin typeface="Cambria" pitchFamily="34" charset="0"/>
                <a:ea typeface="Cambria" pitchFamily="34" charset="-122"/>
                <a:cs typeface="Cambria" pitchFamily="34" charset="-120"/>
              </a:rPr>
              <a:t>49.5%</a:t>
            </a:r>
            <a:endParaRPr lang="en-US" sz="1300" dirty="0"/>
          </a:p>
        </p:txBody>
      </p:sp>
      <p:sp>
        <p:nvSpPr>
          <p:cNvPr id="49" name="Text 47"/>
          <p:cNvSpPr/>
          <p:nvPr/>
        </p:nvSpPr>
        <p:spPr>
          <a:xfrm>
            <a:off x="8359445" y="4315968"/>
            <a:ext cx="1966874" cy="256032"/>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投下原価利益率</a:t>
            </a:r>
            <a:endParaRPr lang="en-US" sz="1000" dirty="0"/>
          </a:p>
        </p:txBody>
      </p:sp>
      <p:sp>
        <p:nvSpPr>
          <p:cNvPr id="50" name="Text 48"/>
          <p:cNvSpPr/>
          <p:nvPr/>
        </p:nvSpPr>
        <p:spPr>
          <a:xfrm>
            <a:off x="10070287" y="4315968"/>
            <a:ext cx="1207008" cy="256032"/>
          </a:xfrm>
          <a:prstGeom prst="rect">
            <a:avLst/>
          </a:prstGeom>
          <a:noFill/>
          <a:ln/>
        </p:spPr>
        <p:txBody>
          <a:bodyPr wrap="square" lIns="0" tIns="0" rIns="0" bIns="0" rtlCol="0" anchor="ctr"/>
          <a:lstStyle/>
          <a:p>
            <a:pPr algn="r" indent="0" marL="0">
              <a:buNone/>
            </a:pPr>
            <a:r>
              <a:rPr lang="en-US" sz="1300" b="1" dirty="0">
                <a:solidFill>
                  <a:srgbClr val="EFEBE3"/>
                </a:solidFill>
                <a:latin typeface="Cambria" pitchFamily="34" charset="0"/>
                <a:ea typeface="Cambria" pitchFamily="34" charset="-122"/>
                <a:cs typeface="Cambria" pitchFamily="34" charset="-120"/>
              </a:rPr>
              <a:t>98.0%</a:t>
            </a:r>
            <a:endParaRPr lang="en-US" sz="1300" dirty="0"/>
          </a:p>
        </p:txBody>
      </p:sp>
      <p:sp>
        <p:nvSpPr>
          <p:cNvPr id="51" name="Text 49"/>
          <p:cNvSpPr/>
          <p:nvPr/>
        </p:nvSpPr>
        <p:spPr>
          <a:xfrm>
            <a:off x="8359445" y="4718304"/>
            <a:ext cx="2917850" cy="402336"/>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仕入はインポーター40のみ・売却はネット最安80のみ</a:t>
            </a:r>
            <a:endParaRPr lang="en-US" sz="900" dirty="0"/>
          </a:p>
        </p:txBody>
      </p:sp>
      <p:sp>
        <p:nvSpPr>
          <p:cNvPr id="52" name="Text 50"/>
          <p:cNvSpPr/>
          <p:nvPr/>
        </p:nvSpPr>
        <p:spPr>
          <a:xfrm>
            <a:off x="658368" y="5413248"/>
            <a:ext cx="10874959"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 交渉余地を織り込み、ニュートラルを提案の主線とする。ポジティブは調達・販売チャネルを最適化した場合の上振れ余地として位置づける。8/5版では粗利率33.3%としていたが、譲渡1%の付加により32.7%となる。</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COST ASSUMPTIONS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SPC費用の前提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WineBank人件費 年360万円をSPCの固定費として新たに計上した（下表の網掛け）。</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07</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 y="1591056"/>
          <a:ext cx="10874959" cy="914400"/>
        </p:xfrm>
        <a:graphic>
          <a:graphicData uri="http://schemas.openxmlformats.org/drawingml/2006/table">
            <a:tbl>
              <a:tblPr/>
              <a:tblGrid>
                <a:gridCol w="2606040"/>
                <a:gridCol w="2148840"/>
                <a:gridCol w="6117336"/>
              </a:tblGrid>
              <a:tr h="33832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費用項目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単価・料率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根拠・備考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3832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保管・保険</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年7,500円／ロット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定温専門倉庫（鈴与ファインワインセンター見積ベース）。1ロット＝定価100万円相当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3832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物流・入出庫・検品</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640円／ロット（往復）</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入庫時・出庫時の作業費および国内配送</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3832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決済・出品手数料・送料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売上の1.0%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カード決済／オークション出品料／個口配送</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3832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滞留・値引き・破損ロス</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売上の2.0%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想定価格で売り切れなかった分の値引き処分・破損等</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3832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SPC維持費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年800万円（固定）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監査・税務・事務受託・法務。ファンド規模によらず固定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38328">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SPC人件費（新規計上）</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A2318"/>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年360万円（固定）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A2318"/>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SPC運営に係るWineBank側の実務人件費。SPCの固定費として明示計上する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A2318"/>
                    </a:solidFill>
                  </a:tcPr>
                </a:tc>
              </a:tr>
              <a:tr h="33832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WineBank販売オペコスト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SPC負担なし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GP取分（利益の50%）から負担。SPCに管理報酬・成功報酬は課さない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443984"/>
            <a:ext cx="2540432" cy="1060704"/>
          </a:xfrm>
          <a:prstGeom prst="roundRect">
            <a:avLst>
              <a:gd name="adj" fmla="val 3879"/>
            </a:avLst>
          </a:prstGeom>
          <a:solidFill>
            <a:srgbClr val="171614"/>
          </a:solidFill>
          <a:ln w="9525">
            <a:solidFill>
              <a:srgbClr val="2E2A24"/>
            </a:solidFill>
            <a:prstDash val="solid"/>
          </a:ln>
        </p:spPr>
      </p:sp>
      <p:sp>
        <p:nvSpPr>
          <p:cNvPr id="9" name="Text 6"/>
          <p:cNvSpPr/>
          <p:nvPr/>
        </p:nvSpPr>
        <p:spPr>
          <a:xfrm>
            <a:off x="877824" y="4553712"/>
            <a:ext cx="2101520" cy="384048"/>
          </a:xfrm>
          <a:prstGeom prst="rect">
            <a:avLst/>
          </a:prstGeom>
          <a:noFill/>
          <a:ln/>
        </p:spPr>
        <p:txBody>
          <a:bodyPr wrap="square" lIns="0" tIns="0" rIns="0" bIns="0" rtlCol="0" anchor="ctr"/>
          <a:lstStyle/>
          <a:p>
            <a:pPr indent="0" marL="0">
              <a:buNone/>
            </a:pPr>
            <a:r>
              <a:rPr lang="en-US" sz="2400" b="1" dirty="0">
                <a:solidFill>
                  <a:srgbClr val="C9A96E"/>
                </a:solidFill>
                <a:latin typeface="Cambria" pitchFamily="34" charset="0"/>
                <a:ea typeface="Cambria" pitchFamily="34" charset="-122"/>
                <a:cs typeface="Cambria" pitchFamily="34" charset="-120"/>
              </a:rPr>
              <a:t>12.6</a:t>
            </a:r>
            <a:pPr indent="0" marL="0">
              <a:buNone/>
            </a:pPr>
            <a:r>
              <a:rPr lang="en-US" sz="1100" b="1" dirty="0">
                <a:solidFill>
                  <a:srgbClr val="C9A96E"/>
                </a:solidFill>
                <a:latin typeface="Yu Gothic" pitchFamily="34" charset="0"/>
                <a:ea typeface="Yu Gothic" pitchFamily="34" charset="-122"/>
                <a:cs typeface="Yu Gothic" pitchFamily="34" charset="-120"/>
              </a:rPr>
              <a:t> 百万円</a:t>
            </a:r>
            <a:endParaRPr lang="en-US" sz="2400" dirty="0"/>
          </a:p>
        </p:txBody>
      </p:sp>
      <p:sp>
        <p:nvSpPr>
          <p:cNvPr id="10" name="Text 7"/>
          <p:cNvSpPr/>
          <p:nvPr/>
        </p:nvSpPr>
        <p:spPr>
          <a:xfrm>
            <a:off x="877824" y="4956048"/>
            <a:ext cx="2101520"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滞留・値引き・破損ロス</a:t>
            </a:r>
            <a:endParaRPr lang="en-US" sz="1050" dirty="0"/>
          </a:p>
        </p:txBody>
      </p:sp>
      <p:sp>
        <p:nvSpPr>
          <p:cNvPr id="11" name="Text 8"/>
          <p:cNvSpPr/>
          <p:nvPr/>
        </p:nvSpPr>
        <p:spPr>
          <a:xfrm>
            <a:off x="877824" y="5175504"/>
            <a:ext cx="2101520"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売上比2.0%。費用最大項目</a:t>
            </a:r>
            <a:endParaRPr lang="en-US" sz="850" dirty="0"/>
          </a:p>
        </p:txBody>
      </p:sp>
      <p:sp>
        <p:nvSpPr>
          <p:cNvPr id="12" name="Shape 9"/>
          <p:cNvSpPr/>
          <p:nvPr/>
        </p:nvSpPr>
        <p:spPr>
          <a:xfrm>
            <a:off x="3436544" y="4443984"/>
            <a:ext cx="2540432" cy="1060704"/>
          </a:xfrm>
          <a:prstGeom prst="roundRect">
            <a:avLst>
              <a:gd name="adj" fmla="val 3879"/>
            </a:avLst>
          </a:prstGeom>
          <a:solidFill>
            <a:srgbClr val="1F1D19"/>
          </a:solidFill>
          <a:ln w="9525">
            <a:solidFill>
              <a:srgbClr val="6E5730"/>
            </a:solidFill>
            <a:prstDash val="solid"/>
          </a:ln>
        </p:spPr>
      </p:sp>
      <p:sp>
        <p:nvSpPr>
          <p:cNvPr id="13" name="Text 10"/>
          <p:cNvSpPr/>
          <p:nvPr/>
        </p:nvSpPr>
        <p:spPr>
          <a:xfrm>
            <a:off x="3656000" y="4553712"/>
            <a:ext cx="2101520" cy="384048"/>
          </a:xfrm>
          <a:prstGeom prst="rect">
            <a:avLst/>
          </a:prstGeom>
          <a:noFill/>
          <a:ln/>
        </p:spPr>
        <p:txBody>
          <a:bodyPr wrap="square" lIns="0" tIns="0" rIns="0" bIns="0" rtlCol="0" anchor="ctr"/>
          <a:lstStyle/>
          <a:p>
            <a:pPr indent="0" marL="0">
              <a:buNone/>
            </a:pPr>
            <a:r>
              <a:rPr lang="en-US" sz="2400" b="1" dirty="0">
                <a:solidFill>
                  <a:srgbClr val="C9A96E"/>
                </a:solidFill>
                <a:latin typeface="Cambria" pitchFamily="34" charset="0"/>
                <a:ea typeface="Cambria" pitchFamily="34" charset="-122"/>
                <a:cs typeface="Cambria" pitchFamily="34" charset="-120"/>
              </a:rPr>
              <a:t>11.6</a:t>
            </a:r>
            <a:pPr indent="0" marL="0">
              <a:buNone/>
            </a:pPr>
            <a:r>
              <a:rPr lang="en-US" sz="1100" b="1" dirty="0">
                <a:solidFill>
                  <a:srgbClr val="C9A96E"/>
                </a:solidFill>
                <a:latin typeface="Yu Gothic" pitchFamily="34" charset="0"/>
                <a:ea typeface="Yu Gothic" pitchFamily="34" charset="-122"/>
                <a:cs typeface="Yu Gothic" pitchFamily="34" charset="-120"/>
              </a:rPr>
              <a:t> 百万円</a:t>
            </a:r>
            <a:endParaRPr lang="en-US" sz="2400" dirty="0"/>
          </a:p>
        </p:txBody>
      </p:sp>
      <p:sp>
        <p:nvSpPr>
          <p:cNvPr id="14" name="Text 11"/>
          <p:cNvSpPr/>
          <p:nvPr/>
        </p:nvSpPr>
        <p:spPr>
          <a:xfrm>
            <a:off x="3656000" y="4956048"/>
            <a:ext cx="2101520"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SPC固定費</a:t>
            </a:r>
            <a:endParaRPr lang="en-US" sz="1050" dirty="0"/>
          </a:p>
        </p:txBody>
      </p:sp>
      <p:sp>
        <p:nvSpPr>
          <p:cNvPr id="15" name="Text 12"/>
          <p:cNvSpPr/>
          <p:nvPr/>
        </p:nvSpPr>
        <p:spPr>
          <a:xfrm>
            <a:off x="3656000" y="5175504"/>
            <a:ext cx="2101520"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維持費800万＋人件費360万</a:t>
            </a:r>
            <a:endParaRPr lang="en-US" sz="850" dirty="0"/>
          </a:p>
        </p:txBody>
      </p:sp>
      <p:sp>
        <p:nvSpPr>
          <p:cNvPr id="16" name="Shape 13"/>
          <p:cNvSpPr/>
          <p:nvPr/>
        </p:nvSpPr>
        <p:spPr>
          <a:xfrm>
            <a:off x="6214720" y="4443984"/>
            <a:ext cx="2540432" cy="1060704"/>
          </a:xfrm>
          <a:prstGeom prst="roundRect">
            <a:avLst>
              <a:gd name="adj" fmla="val 3879"/>
            </a:avLst>
          </a:prstGeom>
          <a:solidFill>
            <a:srgbClr val="171614"/>
          </a:solidFill>
          <a:ln w="9525">
            <a:solidFill>
              <a:srgbClr val="2E2A24"/>
            </a:solidFill>
            <a:prstDash val="solid"/>
          </a:ln>
        </p:spPr>
      </p:sp>
      <p:sp>
        <p:nvSpPr>
          <p:cNvPr id="17" name="Text 14"/>
          <p:cNvSpPr/>
          <p:nvPr/>
        </p:nvSpPr>
        <p:spPr>
          <a:xfrm>
            <a:off x="6434176" y="4553712"/>
            <a:ext cx="2101520" cy="384048"/>
          </a:xfrm>
          <a:prstGeom prst="rect">
            <a:avLst/>
          </a:prstGeom>
          <a:noFill/>
          <a:ln/>
        </p:spPr>
        <p:txBody>
          <a:bodyPr wrap="square" lIns="0" tIns="0" rIns="0" bIns="0" rtlCol="0" anchor="ctr"/>
          <a:lstStyle/>
          <a:p>
            <a:pPr indent="0" marL="0">
              <a:buNone/>
            </a:pPr>
            <a:r>
              <a:rPr lang="en-US" sz="2400" b="1" dirty="0">
                <a:solidFill>
                  <a:srgbClr val="C9A96E"/>
                </a:solidFill>
                <a:latin typeface="Cambria" pitchFamily="34" charset="0"/>
                <a:ea typeface="Cambria" pitchFamily="34" charset="-122"/>
                <a:cs typeface="Cambria" pitchFamily="34" charset="-120"/>
              </a:rPr>
              <a:t>6.3</a:t>
            </a:r>
            <a:pPr indent="0" marL="0">
              <a:buNone/>
            </a:pPr>
            <a:r>
              <a:rPr lang="en-US" sz="1100" b="1" dirty="0">
                <a:solidFill>
                  <a:srgbClr val="C9A96E"/>
                </a:solidFill>
                <a:latin typeface="Yu Gothic" pitchFamily="34" charset="0"/>
                <a:ea typeface="Yu Gothic" pitchFamily="34" charset="-122"/>
                <a:cs typeface="Yu Gothic" pitchFamily="34" charset="-120"/>
              </a:rPr>
              <a:t> 百万円</a:t>
            </a:r>
            <a:endParaRPr lang="en-US" sz="2400" dirty="0"/>
          </a:p>
        </p:txBody>
      </p:sp>
      <p:sp>
        <p:nvSpPr>
          <p:cNvPr id="18" name="Text 15"/>
          <p:cNvSpPr/>
          <p:nvPr/>
        </p:nvSpPr>
        <p:spPr>
          <a:xfrm>
            <a:off x="6434176" y="4956048"/>
            <a:ext cx="2101520"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保管・保険</a:t>
            </a:r>
            <a:endParaRPr lang="en-US" sz="1050" dirty="0"/>
          </a:p>
        </p:txBody>
      </p:sp>
      <p:sp>
        <p:nvSpPr>
          <p:cNvPr id="19" name="Text 16"/>
          <p:cNvSpPr/>
          <p:nvPr/>
        </p:nvSpPr>
        <p:spPr>
          <a:xfrm>
            <a:off x="6434176" y="5175504"/>
            <a:ext cx="2101520"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平均在庫850ロット相当</a:t>
            </a:r>
            <a:endParaRPr lang="en-US" sz="850" dirty="0"/>
          </a:p>
        </p:txBody>
      </p:sp>
      <p:sp>
        <p:nvSpPr>
          <p:cNvPr id="20" name="Shape 17"/>
          <p:cNvSpPr/>
          <p:nvPr/>
        </p:nvSpPr>
        <p:spPr>
          <a:xfrm>
            <a:off x="8992895" y="4443984"/>
            <a:ext cx="2540432" cy="1060704"/>
          </a:xfrm>
          <a:prstGeom prst="roundRect">
            <a:avLst>
              <a:gd name="adj" fmla="val 3879"/>
            </a:avLst>
          </a:prstGeom>
          <a:solidFill>
            <a:srgbClr val="171614"/>
          </a:solidFill>
          <a:ln w="9525">
            <a:solidFill>
              <a:srgbClr val="2E2A24"/>
            </a:solidFill>
            <a:prstDash val="solid"/>
          </a:ln>
        </p:spPr>
      </p:sp>
      <p:sp>
        <p:nvSpPr>
          <p:cNvPr id="21" name="Text 18"/>
          <p:cNvSpPr/>
          <p:nvPr/>
        </p:nvSpPr>
        <p:spPr>
          <a:xfrm>
            <a:off x="9212351" y="4553712"/>
            <a:ext cx="2101520" cy="384048"/>
          </a:xfrm>
          <a:prstGeom prst="rect">
            <a:avLst/>
          </a:prstGeom>
          <a:noFill/>
          <a:ln/>
        </p:spPr>
        <p:txBody>
          <a:bodyPr wrap="square" lIns="0" tIns="0" rIns="0" bIns="0" rtlCol="0" anchor="ctr"/>
          <a:lstStyle/>
          <a:p>
            <a:pPr indent="0" marL="0">
              <a:buNone/>
            </a:pPr>
            <a:r>
              <a:rPr lang="en-US" sz="2400" b="1" dirty="0">
                <a:solidFill>
                  <a:srgbClr val="C9A96E"/>
                </a:solidFill>
                <a:latin typeface="Cambria" pitchFamily="34" charset="0"/>
                <a:ea typeface="Cambria" pitchFamily="34" charset="-122"/>
                <a:cs typeface="Cambria" pitchFamily="34" charset="-120"/>
              </a:rPr>
              <a:t>6.3</a:t>
            </a:r>
            <a:pPr indent="0" marL="0">
              <a:buNone/>
            </a:pPr>
            <a:r>
              <a:rPr lang="en-US" sz="1100" b="1" dirty="0">
                <a:solidFill>
                  <a:srgbClr val="C9A96E"/>
                </a:solidFill>
                <a:latin typeface="Yu Gothic" pitchFamily="34" charset="0"/>
                <a:ea typeface="Yu Gothic" pitchFamily="34" charset="-122"/>
                <a:cs typeface="Yu Gothic" pitchFamily="34" charset="-120"/>
              </a:rPr>
              <a:t> 百万円</a:t>
            </a:r>
            <a:endParaRPr lang="en-US" sz="2400" dirty="0"/>
          </a:p>
        </p:txBody>
      </p:sp>
      <p:sp>
        <p:nvSpPr>
          <p:cNvPr id="22" name="Text 19"/>
          <p:cNvSpPr/>
          <p:nvPr/>
        </p:nvSpPr>
        <p:spPr>
          <a:xfrm>
            <a:off x="9212351" y="4956048"/>
            <a:ext cx="2101520"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決済・手数料・送料</a:t>
            </a:r>
            <a:endParaRPr lang="en-US" sz="1050" dirty="0"/>
          </a:p>
        </p:txBody>
      </p:sp>
      <p:sp>
        <p:nvSpPr>
          <p:cNvPr id="23" name="Text 20"/>
          <p:cNvSpPr/>
          <p:nvPr/>
        </p:nvSpPr>
        <p:spPr>
          <a:xfrm>
            <a:off x="9212351" y="5175504"/>
            <a:ext cx="2101520"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売上比1.0%</a:t>
            </a:r>
            <a:endParaRPr lang="en-US" sz="850" dirty="0"/>
          </a:p>
        </p:txBody>
      </p:sp>
      <p:sp>
        <p:nvSpPr>
          <p:cNvPr id="24" name="Text 21"/>
          <p:cNvSpPr/>
          <p:nvPr/>
        </p:nvSpPr>
        <p:spPr>
          <a:xfrm>
            <a:off x="658368" y="5669280"/>
            <a:ext cx="10874959" cy="365760"/>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上記はニュートラル・回転12ヶ月・稼働率85%における年間SPC費用（合計3,739万円）の内訳。その他の運用前提：稼働率85%（残15%は運転資金・解約準備として現金保有）／仕入展開6ヶ月／ローリング運用／利益はSPC内で複利再投資せず半期分配／税前利益を投資家50：WineBank50で折半／IRRは投資家の税引前ベース。</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ニュートラル：在庫回転期間別シミュレーション</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SPC取得原価50.5・売値75・粗利24.5（粗利率32.7%）／投資枠5億円・稼働率85%</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08</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58368" y="1664208"/>
          <a:ext cx="10874959" cy="914400"/>
        </p:xfrm>
        <a:graphic>
          <a:graphicData uri="http://schemas.openxmlformats.org/drawingml/2006/table">
            <a:tbl>
              <a:tblPr/>
              <a:tblGrid>
                <a:gridCol w="1325880"/>
                <a:gridCol w="868680"/>
                <a:gridCol w="960120"/>
                <a:gridCol w="960120"/>
                <a:gridCol w="914400"/>
                <a:gridCol w="1133856"/>
                <a:gridCol w="1225296"/>
                <a:gridCol w="1051560"/>
                <a:gridCol w="1188720"/>
                <a:gridCol w="1243584"/>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年回転数</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年間粗利</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SPC費用</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投資家配当／年</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IRR（3年）</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IRR（5年）</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1.33回</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8.42億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2.75億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44百万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2.31億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116百万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23.1%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16.9%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1.00回</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6.31億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2.06億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1.69億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84百万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16.9%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0.80回</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5.05億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1.65億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33百万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1.31億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66百万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13.1%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10.3%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0.67回</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4.21億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1.37億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31百万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1.07億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53百万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10.7%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5.1%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12464"/>
            <a:ext cx="5532120" cy="1810512"/>
          </a:xfrm>
          <a:prstGeom prst="roundRect">
            <a:avLst>
              <a:gd name="adj" fmla="val 2273"/>
            </a:avLst>
          </a:prstGeom>
          <a:solidFill>
            <a:srgbClr val="171614"/>
          </a:solidFill>
          <a:ln w="9525">
            <a:solidFill>
              <a:srgbClr val="2E2A24"/>
            </a:solidFill>
            <a:prstDash val="solid"/>
          </a:ln>
        </p:spPr>
      </p:sp>
      <p:sp>
        <p:nvSpPr>
          <p:cNvPr id="9" name="Text 6"/>
          <p:cNvSpPr/>
          <p:nvPr/>
        </p:nvSpPr>
        <p:spPr>
          <a:xfrm>
            <a:off x="914400" y="3877056"/>
            <a:ext cx="274320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読み方</a:t>
            </a:r>
            <a:endParaRPr lang="en-US" sz="1200" dirty="0"/>
          </a:p>
        </p:txBody>
      </p:sp>
      <p:sp>
        <p:nvSpPr>
          <p:cNvPr id="10" name="Shape 7"/>
          <p:cNvSpPr/>
          <p:nvPr/>
        </p:nvSpPr>
        <p:spPr>
          <a:xfrm>
            <a:off x="914400" y="4201668"/>
            <a:ext cx="146304" cy="146304"/>
          </a:xfrm>
          <a:prstGeom prst="ellipse">
            <a:avLst/>
          </a:prstGeom>
          <a:solidFill>
            <a:srgbClr val="6E5730"/>
          </a:solidFill>
          <a:ln w="11430">
            <a:solidFill>
              <a:srgbClr val="6E5730"/>
            </a:solidFill>
            <a:prstDash val="solid"/>
          </a:ln>
        </p:spPr>
      </p:sp>
      <p:sp>
        <p:nvSpPr>
          <p:cNvPr id="11" name="Text 8"/>
          <p:cNvSpPr/>
          <p:nvPr/>
        </p:nvSpPr>
        <p:spPr>
          <a:xfrm>
            <a:off x="914400" y="4201668"/>
            <a:ext cx="146304" cy="146304"/>
          </a:xfrm>
          <a:prstGeom prst="rect">
            <a:avLst/>
          </a:prstGeom>
          <a:noFill/>
          <a:ln/>
        </p:spPr>
        <p:txBody>
          <a:bodyPr wrap="square" lIns="0" tIns="0" rIns="0" bIns="0" rtlCol="0" anchor="ctr"/>
          <a:lstStyle/>
          <a:p>
            <a:pPr algn="ctr" indent="0" marL="0">
              <a:buNone/>
            </a:pPr>
            <a:endParaRPr lang="en-US" sz="1100" dirty="0"/>
          </a:p>
        </p:txBody>
      </p:sp>
      <p:sp>
        <p:nvSpPr>
          <p:cNvPr id="12" name="Text 9"/>
          <p:cNvSpPr/>
          <p:nvPr/>
        </p:nvSpPr>
        <p:spPr>
          <a:xfrm>
            <a:off x="1170432" y="4151376"/>
            <a:ext cx="4800600" cy="329184"/>
          </a:xfrm>
          <a:prstGeom prst="rect">
            <a:avLst/>
          </a:prstGeom>
          <a:noFill/>
          <a:ln/>
        </p:spPr>
        <p:txBody>
          <a:bodyPr wrap="square" lIns="0" tIns="0" rIns="0" bIns="0" rtlCol="0" anchor="ctr"/>
          <a:lstStyle/>
          <a:p>
            <a:pPr indent="0" marL="0">
              <a:lnSpc>
                <a:spcPct val="115000"/>
              </a:lnSpc>
              <a:buNone/>
            </a:pPr>
            <a:r>
              <a:rPr lang="en-US" sz="1000" dirty="0">
                <a:solidFill>
                  <a:srgbClr val="9A938A"/>
                </a:solidFill>
                <a:latin typeface="Yu Gothic" pitchFamily="34" charset="0"/>
                <a:ea typeface="Yu Gothic" pitchFamily="34" charset="-122"/>
                <a:cs typeface="Yu Gothic" pitchFamily="34" charset="-120"/>
              </a:rPr>
              <a:t>定常利回り＝運用が軌道に乗った後の年間実力値</a:t>
            </a:r>
            <a:endParaRPr lang="en-US" sz="1000" dirty="0"/>
          </a:p>
        </p:txBody>
      </p:sp>
      <p:sp>
        <p:nvSpPr>
          <p:cNvPr id="13" name="Shape 10"/>
          <p:cNvSpPr/>
          <p:nvPr/>
        </p:nvSpPr>
        <p:spPr>
          <a:xfrm>
            <a:off x="914400" y="4604004"/>
            <a:ext cx="146304" cy="146304"/>
          </a:xfrm>
          <a:prstGeom prst="ellipse">
            <a:avLst/>
          </a:prstGeom>
          <a:solidFill>
            <a:srgbClr val="6E5730"/>
          </a:solidFill>
          <a:ln w="11430">
            <a:solidFill>
              <a:srgbClr val="6E5730"/>
            </a:solidFill>
            <a:prstDash val="solid"/>
          </a:ln>
        </p:spPr>
      </p:sp>
      <p:sp>
        <p:nvSpPr>
          <p:cNvPr id="14" name="Text 11"/>
          <p:cNvSpPr/>
          <p:nvPr/>
        </p:nvSpPr>
        <p:spPr>
          <a:xfrm>
            <a:off x="914400" y="4604004"/>
            <a:ext cx="146304" cy="146304"/>
          </a:xfrm>
          <a:prstGeom prst="rect">
            <a:avLst/>
          </a:prstGeom>
          <a:noFill/>
          <a:ln/>
        </p:spPr>
        <p:txBody>
          <a:bodyPr wrap="square" lIns="0" tIns="0" rIns="0" bIns="0" rtlCol="0" anchor="ctr"/>
          <a:lstStyle/>
          <a:p>
            <a:pPr algn="ctr" indent="0" marL="0">
              <a:buNone/>
            </a:pPr>
            <a:endParaRPr lang="en-US" sz="1100" dirty="0"/>
          </a:p>
        </p:txBody>
      </p:sp>
      <p:sp>
        <p:nvSpPr>
          <p:cNvPr id="15" name="Text 12"/>
          <p:cNvSpPr/>
          <p:nvPr/>
        </p:nvSpPr>
        <p:spPr>
          <a:xfrm>
            <a:off x="1170432" y="4553712"/>
            <a:ext cx="4800600" cy="329184"/>
          </a:xfrm>
          <a:prstGeom prst="rect">
            <a:avLst/>
          </a:prstGeom>
          <a:noFill/>
          <a:ln/>
        </p:spPr>
        <p:txBody>
          <a:bodyPr wrap="square" lIns="0" tIns="0" rIns="0" bIns="0" rtlCol="0" anchor="ctr"/>
          <a:lstStyle/>
          <a:p>
            <a:pPr indent="0" marL="0">
              <a:lnSpc>
                <a:spcPct val="115000"/>
              </a:lnSpc>
              <a:buNone/>
            </a:pPr>
            <a:r>
              <a:rPr lang="en-US" sz="1000" dirty="0">
                <a:solidFill>
                  <a:srgbClr val="9A938A"/>
                </a:solidFill>
                <a:latin typeface="Yu Gothic" pitchFamily="34" charset="0"/>
                <a:ea typeface="Yu Gothic" pitchFamily="34" charset="-122"/>
                <a:cs typeface="Yu Gothic" pitchFamily="34" charset="-120"/>
              </a:rPr>
              <a:t>IRRは仕入展開6ヶ月と満期前の清算期間を織り込んだ実績値</a:t>
            </a:r>
            <a:endParaRPr lang="en-US" sz="1000" dirty="0"/>
          </a:p>
        </p:txBody>
      </p:sp>
      <p:sp>
        <p:nvSpPr>
          <p:cNvPr id="16" name="Shape 13"/>
          <p:cNvSpPr/>
          <p:nvPr/>
        </p:nvSpPr>
        <p:spPr>
          <a:xfrm>
            <a:off x="914400" y="5006340"/>
            <a:ext cx="146304" cy="146304"/>
          </a:xfrm>
          <a:prstGeom prst="ellipse">
            <a:avLst/>
          </a:prstGeom>
          <a:solidFill>
            <a:srgbClr val="6E5730"/>
          </a:solidFill>
          <a:ln w="11430">
            <a:solidFill>
              <a:srgbClr val="6E5730"/>
            </a:solidFill>
            <a:prstDash val="solid"/>
          </a:ln>
        </p:spPr>
      </p:sp>
      <p:sp>
        <p:nvSpPr>
          <p:cNvPr id="17" name="Text 14"/>
          <p:cNvSpPr/>
          <p:nvPr/>
        </p:nvSpPr>
        <p:spPr>
          <a:xfrm>
            <a:off x="914400" y="5006340"/>
            <a:ext cx="146304" cy="146304"/>
          </a:xfrm>
          <a:prstGeom prst="rect">
            <a:avLst/>
          </a:prstGeom>
          <a:noFill/>
          <a:ln/>
        </p:spPr>
        <p:txBody>
          <a:bodyPr wrap="square" lIns="0" tIns="0" rIns="0" bIns="0" rtlCol="0" anchor="ctr"/>
          <a:lstStyle/>
          <a:p>
            <a:pPr algn="ctr" indent="0" marL="0">
              <a:buNone/>
            </a:pPr>
            <a:endParaRPr lang="en-US" sz="1100" dirty="0"/>
          </a:p>
        </p:txBody>
      </p:sp>
      <p:sp>
        <p:nvSpPr>
          <p:cNvPr id="18" name="Text 15"/>
          <p:cNvSpPr/>
          <p:nvPr/>
        </p:nvSpPr>
        <p:spPr>
          <a:xfrm>
            <a:off x="1170432" y="4956048"/>
            <a:ext cx="4800600" cy="329184"/>
          </a:xfrm>
          <a:prstGeom prst="rect">
            <a:avLst/>
          </a:prstGeom>
          <a:noFill/>
          <a:ln/>
        </p:spPr>
        <p:txBody>
          <a:bodyPr wrap="square" lIns="0" tIns="0" rIns="0" bIns="0" rtlCol="0" anchor="ctr"/>
          <a:lstStyle/>
          <a:p>
            <a:pPr indent="0" marL="0">
              <a:lnSpc>
                <a:spcPct val="115000"/>
              </a:lnSpc>
              <a:buNone/>
            </a:pPr>
            <a:r>
              <a:rPr lang="en-US" sz="1000" dirty="0">
                <a:solidFill>
                  <a:srgbClr val="9A938A"/>
                </a:solidFill>
                <a:latin typeface="Yu Gothic" pitchFamily="34" charset="0"/>
                <a:ea typeface="Yu Gothic" pitchFamily="34" charset="-122"/>
                <a:cs typeface="Yu Gothic" pitchFamily="34" charset="-120"/>
              </a:rPr>
              <a:t>回転期間が短いほど改善幅は加速（15→12ヶ月で＋3.8pt、12→9ヶ月で＋6.2pt）</a:t>
            </a:r>
            <a:endParaRPr lang="en-US" sz="1000" dirty="0"/>
          </a:p>
        </p:txBody>
      </p:sp>
      <p:sp>
        <p:nvSpPr>
          <p:cNvPr id="19" name="Shape 16"/>
          <p:cNvSpPr/>
          <p:nvPr/>
        </p:nvSpPr>
        <p:spPr>
          <a:xfrm>
            <a:off x="6464808" y="3712464"/>
            <a:ext cx="5068519" cy="1810512"/>
          </a:xfrm>
          <a:prstGeom prst="roundRect">
            <a:avLst>
              <a:gd name="adj" fmla="val 2273"/>
            </a:avLst>
          </a:prstGeom>
          <a:solidFill>
            <a:srgbClr val="1F1D19"/>
          </a:solidFill>
          <a:ln w="9525">
            <a:solidFill>
              <a:srgbClr val="6E5730"/>
            </a:solidFill>
            <a:prstDash val="solid"/>
          </a:ln>
        </p:spPr>
      </p:sp>
      <p:sp>
        <p:nvSpPr>
          <p:cNvPr id="20" name="Text 17"/>
          <p:cNvSpPr/>
          <p:nvPr/>
        </p:nvSpPr>
        <p:spPr>
          <a:xfrm>
            <a:off x="6720840" y="3877056"/>
            <a:ext cx="365760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想定レンジのご提示</a:t>
            </a:r>
            <a:endParaRPr lang="en-US" sz="1200" dirty="0"/>
          </a:p>
        </p:txBody>
      </p:sp>
      <p:sp>
        <p:nvSpPr>
          <p:cNvPr id="21" name="Text 18"/>
          <p:cNvSpPr/>
          <p:nvPr/>
        </p:nvSpPr>
        <p:spPr>
          <a:xfrm>
            <a:off x="6720840" y="4151376"/>
            <a:ext cx="4519879" cy="219456"/>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投資家IRR（3年・税引前）</a:t>
            </a:r>
            <a:endParaRPr lang="en-US" sz="1050" dirty="0"/>
          </a:p>
        </p:txBody>
      </p:sp>
      <p:sp>
        <p:nvSpPr>
          <p:cNvPr id="22" name="Text 19"/>
          <p:cNvSpPr/>
          <p:nvPr/>
        </p:nvSpPr>
        <p:spPr>
          <a:xfrm>
            <a:off x="6720840" y="4370832"/>
            <a:ext cx="4519879" cy="457200"/>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11.0 – 16.9</a:t>
            </a:r>
            <a:pPr indent="0" marL="0">
              <a:buNone/>
            </a:pPr>
            <a:r>
              <a:rPr lang="en-US" sz="150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3" name="Text 20"/>
          <p:cNvSpPr/>
          <p:nvPr/>
        </p:nvSpPr>
        <p:spPr>
          <a:xfrm>
            <a:off x="6720840" y="4882896"/>
            <a:ext cx="4519879" cy="53035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実務上の想定回転期間を9〜12ヶ月として提示する。18ヶ月まで悪化した場合はIRR5.1%まで低下するため、回転期間の管理が最大の運用課題となる。</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回転期間と投資家リターンの関係</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粗利率は前提として固定されるため、投資家リターンは実質的に在庫回転数の一次関数になる。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09</a:t>
            </a:r>
            <a:endParaRPr lang="en-US" sz="950" dirty="0"/>
          </a:p>
        </p:txBody>
      </p:sp>
      <p:sp>
        <p:nvSpPr>
          <p:cNvPr id="7" name="Shape 5"/>
          <p:cNvSpPr/>
          <p:nvPr/>
        </p:nvSpPr>
        <p:spPr>
          <a:xfrm>
            <a:off x="658368" y="1645920"/>
            <a:ext cx="3442106" cy="2487168"/>
          </a:xfrm>
          <a:prstGeom prst="roundRect">
            <a:avLst>
              <a:gd name="adj" fmla="val 1654"/>
            </a:avLst>
          </a:prstGeom>
          <a:solidFill>
            <a:srgbClr val="171614"/>
          </a:solidFill>
          <a:ln w="9525">
            <a:solidFill>
              <a:srgbClr val="2E2A24"/>
            </a:solidFill>
            <a:prstDash val="solid"/>
          </a:ln>
        </p:spPr>
      </p:sp>
      <p:graphicFrame>
        <p:nvGraphicFramePr>
          <p:cNvPr id="8" name="Chart 0" descr=""/>
          <p:cNvGraphicFramePr/>
          <p:nvPr/>
        </p:nvGraphicFramePr>
        <p:xfrm>
          <a:off x="749808" y="1737360"/>
          <a:ext cx="3259226" cy="2304288"/>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4374794" y="1645920"/>
            <a:ext cx="3442106" cy="2487168"/>
          </a:xfrm>
          <a:prstGeom prst="roundRect">
            <a:avLst>
              <a:gd name="adj" fmla="val 1654"/>
            </a:avLst>
          </a:prstGeom>
          <a:solidFill>
            <a:srgbClr val="171614"/>
          </a:solidFill>
          <a:ln w="9525">
            <a:solidFill>
              <a:srgbClr val="2E2A24"/>
            </a:solidFill>
            <a:prstDash val="solid"/>
          </a:ln>
        </p:spPr>
      </p:sp>
      <p:graphicFrame>
        <p:nvGraphicFramePr>
          <p:cNvPr id="10" name="Chart 1" descr=""/>
          <p:cNvGraphicFramePr/>
          <p:nvPr/>
        </p:nvGraphicFramePr>
        <p:xfrm>
          <a:off x="4466234" y="1737360"/>
          <a:ext cx="3259226" cy="2304288"/>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8091221" y="1645920"/>
            <a:ext cx="3442106" cy="2487168"/>
          </a:xfrm>
          <a:prstGeom prst="roundRect">
            <a:avLst>
              <a:gd name="adj" fmla="val 1654"/>
            </a:avLst>
          </a:prstGeom>
          <a:solidFill>
            <a:srgbClr val="171614"/>
          </a:solidFill>
          <a:ln w="9525">
            <a:solidFill>
              <a:srgbClr val="2E2A24"/>
            </a:solidFill>
            <a:prstDash val="solid"/>
          </a:ln>
        </p:spPr>
      </p:sp>
      <p:graphicFrame>
        <p:nvGraphicFramePr>
          <p:cNvPr id="12" name="Chart 2" descr=""/>
          <p:cNvGraphicFramePr/>
          <p:nvPr/>
        </p:nvGraphicFramePr>
        <p:xfrm>
          <a:off x="8182661" y="1737360"/>
          <a:ext cx="3259226" cy="2304288"/>
        </p:xfrm>
        <a:graphic xmlns:a="http://schemas.openxmlformats.org/drawingml/2006/main">
          <a:graphicData uri="http://schemas.openxmlformats.org/drawingml/2006/chart">
            <c:chart xmlns:c="http://schemas.openxmlformats.org/drawingml/2006/chart" r:id="rId3"/>
          </a:graphicData>
        </a:graphic>
      </p:graphicFrame>
      <p:sp>
        <p:nvSpPr>
          <p:cNvPr id="13" name="Shape 8"/>
          <p:cNvSpPr/>
          <p:nvPr/>
        </p:nvSpPr>
        <p:spPr>
          <a:xfrm>
            <a:off x="658368" y="4315968"/>
            <a:ext cx="5300320" cy="1225296"/>
          </a:xfrm>
          <a:prstGeom prst="roundRect">
            <a:avLst>
              <a:gd name="adj" fmla="val 3358"/>
            </a:avLst>
          </a:prstGeom>
          <a:solidFill>
            <a:srgbClr val="1F1D19"/>
          </a:solidFill>
          <a:ln w="9525">
            <a:solidFill>
              <a:srgbClr val="6E5730"/>
            </a:solidFill>
            <a:prstDash val="solid"/>
          </a:ln>
        </p:spPr>
      </p:sp>
      <p:sp>
        <p:nvSpPr>
          <p:cNvPr id="14" name="Text 9"/>
          <p:cNvSpPr/>
          <p:nvPr/>
        </p:nvSpPr>
        <p:spPr>
          <a:xfrm>
            <a:off x="914400" y="4480560"/>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回転期間がすべて</a:t>
            </a:r>
            <a:endParaRPr lang="en-US" sz="1200" dirty="0"/>
          </a:p>
        </p:txBody>
      </p:sp>
      <p:sp>
        <p:nvSpPr>
          <p:cNvPr id="15" name="Text 10"/>
          <p:cNvSpPr/>
          <p:nvPr/>
        </p:nvSpPr>
        <p:spPr>
          <a:xfrm>
            <a:off x="914400" y="4773168"/>
            <a:ext cx="4788256" cy="62179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回転12ヶ月を1ヶ月短縮するごとに定常利回りは約1.5ポイント改善する。値引きや粗利率の微調整より、回転を上げる打ち手のほうが効く。</a:t>
            </a:r>
            <a:endParaRPr lang="en-US" sz="1000" dirty="0"/>
          </a:p>
        </p:txBody>
      </p:sp>
      <p:sp>
        <p:nvSpPr>
          <p:cNvPr id="16" name="Shape 11"/>
          <p:cNvSpPr/>
          <p:nvPr/>
        </p:nvSpPr>
        <p:spPr>
          <a:xfrm>
            <a:off x="6233008" y="4315968"/>
            <a:ext cx="5300320" cy="1225296"/>
          </a:xfrm>
          <a:prstGeom prst="roundRect">
            <a:avLst>
              <a:gd name="adj" fmla="val 3358"/>
            </a:avLst>
          </a:prstGeom>
          <a:solidFill>
            <a:srgbClr val="171614"/>
          </a:solidFill>
          <a:ln w="9525">
            <a:solidFill>
              <a:srgbClr val="2E2A24"/>
            </a:solidFill>
            <a:prstDash val="solid"/>
          </a:ln>
        </p:spPr>
      </p:sp>
      <p:sp>
        <p:nvSpPr>
          <p:cNvPr id="17" name="Text 12"/>
          <p:cNvSpPr/>
          <p:nvPr/>
        </p:nvSpPr>
        <p:spPr>
          <a:xfrm>
            <a:off x="6489040" y="4480560"/>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18ヶ月×3年満期は不整合</a:t>
            </a:r>
            <a:endParaRPr lang="en-US" sz="1200" dirty="0"/>
          </a:p>
        </p:txBody>
      </p:sp>
      <p:sp>
        <p:nvSpPr>
          <p:cNvPr id="18" name="Text 13"/>
          <p:cNvSpPr/>
          <p:nvPr/>
        </p:nvSpPr>
        <p:spPr>
          <a:xfrm>
            <a:off x="6489040" y="4773168"/>
            <a:ext cx="4788256" cy="62179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展開6ヶ月＋回転18ヶ月では3年間に1回転しかできず、資金が1年以上遊ぶ。回転期間15ヶ月以上を想定する場合は満期5年での設計が必要となる。</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UPSIDE / DOWNSIDE ｜ 副次</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上振れ余地と下振れリスク</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調達・販売チャネルの寄せ方で上振れし、値引き販売で下振れする。いずれも譲渡1%・人件費計上後の数値。</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10</a:t>
            </a:r>
            <a:endParaRPr lang="en-US" sz="950" dirty="0"/>
          </a:p>
        </p:txBody>
      </p:sp>
      <p:sp>
        <p:nvSpPr>
          <p:cNvPr id="7" name="Shape 5"/>
          <p:cNvSpPr/>
          <p:nvPr/>
        </p:nvSpPr>
        <p:spPr>
          <a:xfrm>
            <a:off x="658368" y="1645920"/>
            <a:ext cx="5300320" cy="2395728"/>
          </a:xfrm>
          <a:prstGeom prst="roundRect">
            <a:avLst>
              <a:gd name="adj" fmla="val 1718"/>
            </a:avLst>
          </a:prstGeom>
          <a:solidFill>
            <a:srgbClr val="1F1D19"/>
          </a:solidFill>
          <a:ln w="9525">
            <a:solidFill>
              <a:srgbClr val="6E5730"/>
            </a:solidFill>
            <a:prstDash val="solid"/>
          </a:ln>
        </p:spPr>
      </p:sp>
      <p:sp>
        <p:nvSpPr>
          <p:cNvPr id="8" name="Text 6"/>
          <p:cNvSpPr/>
          <p:nvPr/>
        </p:nvSpPr>
        <p:spPr>
          <a:xfrm>
            <a:off x="914400" y="1810512"/>
            <a:ext cx="4788256" cy="256032"/>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ポジティブ｜SPC取得原価40.4・売値80・粗利率49.5%</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14400" y="2121408"/>
          <a:ext cx="4782312" cy="914400"/>
        </p:xfrm>
        <a:graphic>
          <a:graphicData uri="http://schemas.openxmlformats.org/drawingml/2006/table">
            <a:tbl>
              <a:tblPr/>
              <a:tblGrid>
                <a:gridCol w="896112"/>
                <a:gridCol w="1005840"/>
                <a:gridCol w="960120"/>
                <a:gridCol w="960120"/>
                <a:gridCol w="960120"/>
              </a:tblGrid>
              <a:tr h="29718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IRR（3年）</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9718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11.22億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5.01億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50.1%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36.7%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8.42億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3.71億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37.1%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24.3%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6.73億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2.93億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29.3%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22.2%</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5.61億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2.41億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24.1%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11.8%</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0" name="Text 7"/>
          <p:cNvSpPr/>
          <p:nvPr/>
        </p:nvSpPr>
        <p:spPr>
          <a:xfrm>
            <a:off x="914400" y="3639312"/>
            <a:ext cx="4788256" cy="310896"/>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インポーター直仕入の比率と自社EC・オークション販売の比率を引き上げることで到達。年間調達枠の確保が前提条件。</a:t>
            </a:r>
            <a:endParaRPr lang="en-US" sz="900" dirty="0"/>
          </a:p>
        </p:txBody>
      </p:sp>
      <p:sp>
        <p:nvSpPr>
          <p:cNvPr id="11" name="Shape 8"/>
          <p:cNvSpPr/>
          <p:nvPr/>
        </p:nvSpPr>
        <p:spPr>
          <a:xfrm>
            <a:off x="6233008" y="1645920"/>
            <a:ext cx="5300320" cy="2395728"/>
          </a:xfrm>
          <a:prstGeom prst="roundRect">
            <a:avLst>
              <a:gd name="adj" fmla="val 1718"/>
            </a:avLst>
          </a:prstGeom>
          <a:solidFill>
            <a:srgbClr val="171614"/>
          </a:solidFill>
          <a:ln w="9525">
            <a:solidFill>
              <a:srgbClr val="2E2A24"/>
            </a:solidFill>
            <a:prstDash val="solid"/>
          </a:ln>
        </p:spPr>
      </p:sp>
      <p:sp>
        <p:nvSpPr>
          <p:cNvPr id="12" name="Text 9"/>
          <p:cNvSpPr/>
          <p:nvPr/>
        </p:nvSpPr>
        <p:spPr>
          <a:xfrm>
            <a:off x="6489040" y="1810512"/>
            <a:ext cx="4788256"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ネガティブ｜売値5%値引き・粗利率29.1%</a:t>
            </a:r>
            <a:endParaRPr lang="en-US" sz="11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489040" y="2121408"/>
          <a:ext cx="4782312" cy="914400"/>
        </p:xfrm>
        <a:graphic>
          <a:graphicData uri="http://schemas.openxmlformats.org/drawingml/2006/table">
            <a:tbl>
              <a:tblPr/>
              <a:tblGrid>
                <a:gridCol w="896112"/>
                <a:gridCol w="1005840"/>
                <a:gridCol w="960120"/>
                <a:gridCol w="960120"/>
                <a:gridCol w="960120"/>
              </a:tblGrid>
              <a:tr h="29718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IRR（3年）</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9718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8.00億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1.90億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19.0%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13.9%</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6.00億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1.38億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13.8%</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9.0%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4.80億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1.07億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10.7%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8.4%</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4.00億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0.86億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4.1%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489040" y="3639312"/>
            <a:ext cx="4788256" cy="310896"/>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売値5%（定価比3.75ポイント）の値引きで定常利回りは約3ポイント低下。粗利24.5に対しては15%のインパクトとなる。</a:t>
            </a:r>
            <a:endParaRPr lang="en-US" sz="900" dirty="0"/>
          </a:p>
        </p:txBody>
      </p:sp>
      <p:sp>
        <p:nvSpPr>
          <p:cNvPr id="15" name="Shape 11"/>
          <p:cNvSpPr/>
          <p:nvPr/>
        </p:nvSpPr>
        <p:spPr>
          <a:xfrm>
            <a:off x="658368" y="4224528"/>
            <a:ext cx="10874959" cy="1298448"/>
          </a:xfrm>
          <a:prstGeom prst="roundRect">
            <a:avLst>
              <a:gd name="adj" fmla="val 3169"/>
            </a:avLst>
          </a:prstGeom>
          <a:solidFill>
            <a:srgbClr val="1F1D19"/>
          </a:solidFill>
          <a:ln w="9525">
            <a:solidFill>
              <a:srgbClr val="6E5730"/>
            </a:solidFill>
            <a:prstDash val="solid"/>
          </a:ln>
        </p:spPr>
      </p:sp>
      <p:sp>
        <p:nvSpPr>
          <p:cNvPr id="16" name="Text 12"/>
          <p:cNvSpPr/>
          <p:nvPr/>
        </p:nvSpPr>
        <p:spPr>
          <a:xfrm>
            <a:off x="932688" y="4389120"/>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最重要の示唆</a:t>
            </a:r>
            <a:endParaRPr lang="en-US" sz="1200" dirty="0"/>
          </a:p>
        </p:txBody>
      </p:sp>
      <p:sp>
        <p:nvSpPr>
          <p:cNvPr id="17" name="Text 13"/>
          <p:cNvSpPr/>
          <p:nvPr/>
        </p:nvSpPr>
        <p:spPr>
          <a:xfrm>
            <a:off x="932688" y="4681728"/>
            <a:ext cx="10326319" cy="658368"/>
          </a:xfrm>
          <a:prstGeom prst="rect">
            <a:avLst/>
          </a:prstGeom>
          <a:noFill/>
          <a:ln/>
        </p:spPr>
        <p:txBody>
          <a:bodyPr wrap="square" lIns="0" tIns="0" rIns="0" bIns="0" rtlCol="0" anchor="ctr"/>
          <a:lstStyle/>
          <a:p>
            <a:pPr indent="0" marL="0">
              <a:lnSpc>
                <a:spcPct val="128000"/>
              </a:lnSpc>
              <a:buNone/>
            </a:pPr>
            <a:r>
              <a:rPr lang="en-US" sz="1150" dirty="0">
                <a:solidFill>
                  <a:srgbClr val="EFEBE3"/>
                </a:solidFill>
                <a:latin typeface="Yu Gothic" pitchFamily="34" charset="0"/>
                <a:ea typeface="Yu Gothic" pitchFamily="34" charset="-122"/>
                <a:cs typeface="Yu Gothic" pitchFamily="34" charset="-120"/>
              </a:rPr>
              <a:t>「回転を上げるために値引く」は割に合わない。売値5%の値引きは粗利を15%毀損し、失う利回り3.1ポイントを取り戻すには回転期間を12ヶ月から10ヶ月へ短縮する必要がある。価格を維持したまま販売チャネルを増やすことが本筋の改善手段となる。</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COMPARISON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3シナリオ比較：投資家IRR（3年）</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現物譲渡1%・SPC人件費360万円を反映した後の投資家IRR。</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11</a:t>
            </a:r>
            <a:endParaRPr lang="en-US" sz="950" dirty="0"/>
          </a:p>
        </p:txBody>
      </p:sp>
      <p:sp>
        <p:nvSpPr>
          <p:cNvPr id="7" name="Shape 5"/>
          <p:cNvSpPr/>
          <p:nvPr/>
        </p:nvSpPr>
        <p:spPr>
          <a:xfrm>
            <a:off x="658368" y="1645920"/>
            <a:ext cx="10874959" cy="2724912"/>
          </a:xfrm>
          <a:prstGeom prst="roundRect">
            <a:avLst>
              <a:gd name="adj" fmla="val 1510"/>
            </a:avLst>
          </a:prstGeom>
          <a:solidFill>
            <a:srgbClr val="171614"/>
          </a:solidFill>
          <a:ln w="9525">
            <a:solidFill>
              <a:srgbClr val="2E2A24"/>
            </a:solidFill>
            <a:prstDash val="solid"/>
          </a:ln>
        </p:spPr>
      </p:sp>
      <p:graphicFrame>
        <p:nvGraphicFramePr>
          <p:cNvPr id="8" name="Chart 0" descr=""/>
          <p:cNvGraphicFramePr/>
          <p:nvPr/>
        </p:nvGraphicFramePr>
        <p:xfrm>
          <a:off x="786384" y="1755648"/>
          <a:ext cx="10618927" cy="2505456"/>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58368" y="4535424"/>
            <a:ext cx="3454298" cy="1024128"/>
          </a:xfrm>
          <a:prstGeom prst="roundRect">
            <a:avLst>
              <a:gd name="adj" fmla="val 4018"/>
            </a:avLst>
          </a:prstGeom>
          <a:solidFill>
            <a:srgbClr val="1F1D19"/>
          </a:solidFill>
          <a:ln w="9525">
            <a:solidFill>
              <a:srgbClr val="6E5730"/>
            </a:solidFill>
            <a:prstDash val="solid"/>
          </a:ln>
        </p:spPr>
      </p:sp>
      <p:sp>
        <p:nvSpPr>
          <p:cNvPr id="10" name="Text 7"/>
          <p:cNvSpPr/>
          <p:nvPr/>
        </p:nvSpPr>
        <p:spPr>
          <a:xfrm>
            <a:off x="896112" y="4681728"/>
            <a:ext cx="297881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主線の提示レンジ</a:t>
            </a:r>
            <a:endParaRPr lang="en-US" sz="1150" dirty="0"/>
          </a:p>
        </p:txBody>
      </p:sp>
      <p:sp>
        <p:nvSpPr>
          <p:cNvPr id="11" name="Text 8"/>
          <p:cNvSpPr/>
          <p:nvPr/>
        </p:nvSpPr>
        <p:spPr>
          <a:xfrm>
            <a:off x="89611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回転9〜12ヶ月でIRR11.0〜16.9%。保守的な前提を積み上げた数値であり、交渉の出発点として提示する。</a:t>
            </a:r>
            <a:endParaRPr lang="en-US" sz="950" dirty="0"/>
          </a:p>
        </p:txBody>
      </p:sp>
      <p:sp>
        <p:nvSpPr>
          <p:cNvPr id="12" name="Shape 9"/>
          <p:cNvSpPr/>
          <p:nvPr/>
        </p:nvSpPr>
        <p:spPr>
          <a:xfrm>
            <a:off x="4368698" y="4535424"/>
            <a:ext cx="3454298" cy="1024128"/>
          </a:xfrm>
          <a:prstGeom prst="roundRect">
            <a:avLst>
              <a:gd name="adj" fmla="val 4018"/>
            </a:avLst>
          </a:prstGeom>
          <a:solidFill>
            <a:srgbClr val="171614"/>
          </a:solidFill>
          <a:ln w="9525">
            <a:solidFill>
              <a:srgbClr val="2E2A24"/>
            </a:solidFill>
            <a:prstDash val="solid"/>
          </a:ln>
        </p:spPr>
      </p:sp>
      <p:sp>
        <p:nvSpPr>
          <p:cNvPr id="13" name="Text 10"/>
          <p:cNvSpPr/>
          <p:nvPr/>
        </p:nvSpPr>
        <p:spPr>
          <a:xfrm>
            <a:off x="4606442"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上振れの条件</a:t>
            </a:r>
            <a:endParaRPr lang="en-US" sz="1150" dirty="0"/>
          </a:p>
        </p:txBody>
      </p:sp>
      <p:sp>
        <p:nvSpPr>
          <p:cNvPr id="14" name="Text 11"/>
          <p:cNvSpPr/>
          <p:nvPr/>
        </p:nvSpPr>
        <p:spPr>
          <a:xfrm>
            <a:off x="460644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調達をインポーター直に寄せ、販売を自社チャネルに寄せれば、同じ回転期間でIRRは2倍以上になる。</a:t>
            </a:r>
            <a:endParaRPr lang="en-US" sz="950" dirty="0"/>
          </a:p>
        </p:txBody>
      </p:sp>
      <p:sp>
        <p:nvSpPr>
          <p:cNvPr id="15" name="Shape 12"/>
          <p:cNvSpPr/>
          <p:nvPr/>
        </p:nvSpPr>
        <p:spPr>
          <a:xfrm>
            <a:off x="8079029" y="4535424"/>
            <a:ext cx="3454298" cy="1024128"/>
          </a:xfrm>
          <a:prstGeom prst="roundRect">
            <a:avLst>
              <a:gd name="adj" fmla="val 4018"/>
            </a:avLst>
          </a:prstGeom>
          <a:solidFill>
            <a:srgbClr val="171614"/>
          </a:solidFill>
          <a:ln w="9525">
            <a:solidFill>
              <a:srgbClr val="2E2A24"/>
            </a:solidFill>
            <a:prstDash val="solid"/>
          </a:ln>
        </p:spPr>
      </p:sp>
      <p:sp>
        <p:nvSpPr>
          <p:cNvPr id="16" name="Text 13"/>
          <p:cNvSpPr/>
          <p:nvPr/>
        </p:nvSpPr>
        <p:spPr>
          <a:xfrm>
            <a:off x="8316773"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下振れの限界</a:t>
            </a:r>
            <a:endParaRPr lang="en-US" sz="1150" dirty="0"/>
          </a:p>
        </p:txBody>
      </p:sp>
      <p:sp>
        <p:nvSpPr>
          <p:cNvPr id="17" name="Text 14"/>
          <p:cNvSpPr/>
          <p:nvPr/>
        </p:nvSpPr>
        <p:spPr>
          <a:xfrm>
            <a:off x="8316773"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値引き5%を強いられても、回転9ヶ月を維持できればIRR13.9%を確保できる。回転の維持が防衛線。</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SENSITIVITY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感応度：何が崩れると利回りがどう動くか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ニュートラル・回転12ヶ月（定常利回り16.9%）を基準とした、各変数の単独変動による影響。</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12</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8368" y="1664208"/>
          <a:ext cx="10874959" cy="914400"/>
        </p:xfrm>
        <a:graphic>
          <a:graphicData uri="http://schemas.openxmlformats.org/drawingml/2006/table">
            <a:tbl>
              <a:tblPr/>
              <a:tblGrid>
                <a:gridCol w="1792224"/>
                <a:gridCol w="2084832"/>
                <a:gridCol w="2487168"/>
                <a:gridCol w="877824"/>
                <a:gridCol w="3630168"/>
              </a:tblGrid>
              <a:tr h="37490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変動要因</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変動幅</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定常利回りへの影響</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深刻度</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対応方針</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749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在庫回転期間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12ヶ月 → 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16.9% → 10.7%（▲6.2pt）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最大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販売チャネル多重化・売れ筋銘柄への集中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749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滞留・破損ロス率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売上比 2% → 8%</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16.9% → 13.1%（▲3.8pt）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仕入時の銘柄選定基準を厳格化・全量付保</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749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稼働率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85% → 70%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16.9% → 13.7%（▲3.2pt）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解約条項の設計と表裏。後述のトレードオフを参照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749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売却価格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売値75 → 71.25（▲5%）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16.9% → 13.8%（▲3.1pt）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値引き販売を禁じ、価格維持を運用ルール化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749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現物譲渡マージン</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 → 2%</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16.9% → 16.3%（▲0.6pt）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1%を上限として契約書に固定し、事後変更を認めない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749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SPC人件費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360万円 → 720万円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16.9% → 16.5%（▲0.4pt）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固定額として契約書に明記し、規模拡大時も据え置き</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749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仕入価格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市中原価 50 → 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16.9% → 23.6%（＋6.7pt）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上振れ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インポーター直取引比率の引き上げが最大の改善策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846320"/>
            <a:ext cx="10874959" cy="786384"/>
          </a:xfrm>
          <a:prstGeom prst="roundRect">
            <a:avLst>
              <a:gd name="adj" fmla="val 5233"/>
            </a:avLst>
          </a:prstGeom>
          <a:solidFill>
            <a:srgbClr val="1F1D19"/>
          </a:solidFill>
          <a:ln w="9525">
            <a:solidFill>
              <a:srgbClr val="6E5730"/>
            </a:solidFill>
            <a:prstDash val="solid"/>
          </a:ln>
        </p:spPr>
      </p:sp>
      <p:sp>
        <p:nvSpPr>
          <p:cNvPr id="9" name="Text 6"/>
          <p:cNvSpPr/>
          <p:nvPr/>
        </p:nvSpPr>
        <p:spPr>
          <a:xfrm>
            <a:off x="932688" y="4974336"/>
            <a:ext cx="10326319" cy="530352"/>
          </a:xfrm>
          <a:prstGeom prst="rect">
            <a:avLst/>
          </a:prstGeom>
          <a:noFill/>
          <a:ln/>
        </p:spPr>
        <p:txBody>
          <a:bodyPr wrap="square" lIns="0" tIns="0" rIns="0" bIns="0" rtlCol="0" anchor="ctr"/>
          <a:lstStyle/>
          <a:p>
            <a:pPr indent="0" marL="0">
              <a:lnSpc>
                <a:spcPct val="125000"/>
              </a:lnSpc>
              <a:buNone/>
            </a:pPr>
            <a:r>
              <a:rPr lang="en-US" sz="1150" dirty="0">
                <a:solidFill>
                  <a:srgbClr val="EFEBE3"/>
                </a:solidFill>
                <a:latin typeface="Yu Gothic" pitchFamily="34" charset="0"/>
                <a:ea typeface="Yu Gothic" pitchFamily="34" charset="-122"/>
                <a:cs typeface="Yu Gothic" pitchFamily="34" charset="-120"/>
              </a:rPr>
              <a:t>結論：リターン改善の打ち手は「回転期間の短縮」と「仕入価格の引き下げ」の2つに集約される。今回追加した譲渡1%・人件費360万円は、いずれも合計1.0ポイント程度の影響にとどまり、スキームの成否を左右する変数ではない。</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想定されるリスクと対応策</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13</a:t>
            </a:r>
            <a:endParaRPr lang="en-US" sz="950" dirty="0"/>
          </a:p>
        </p:txBody>
      </p:sp>
      <p:sp>
        <p:nvSpPr>
          <p:cNvPr id="6" name="Shape 4"/>
          <p:cNvSpPr/>
          <p:nvPr/>
        </p:nvSpPr>
        <p:spPr>
          <a:xfrm>
            <a:off x="658368" y="1499616"/>
            <a:ext cx="2526716" cy="1901952"/>
          </a:xfrm>
          <a:prstGeom prst="roundRect">
            <a:avLst>
              <a:gd name="adj" fmla="val 2163"/>
            </a:avLst>
          </a:prstGeom>
          <a:solidFill>
            <a:srgbClr val="171614"/>
          </a:solidFill>
          <a:ln w="9525">
            <a:solidFill>
              <a:srgbClr val="2E2A24"/>
            </a:solidFill>
            <a:prstDash val="solid"/>
          </a:ln>
        </p:spPr>
      </p:sp>
      <p:sp>
        <p:nvSpPr>
          <p:cNvPr id="7" name="Text 5"/>
          <p:cNvSpPr/>
          <p:nvPr/>
        </p:nvSpPr>
        <p:spPr>
          <a:xfrm>
            <a:off x="896112" y="1700784"/>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在庫リスク</a:t>
            </a:r>
            <a:endParaRPr lang="en-US" sz="1200" dirty="0"/>
          </a:p>
        </p:txBody>
      </p:sp>
      <p:sp>
        <p:nvSpPr>
          <p:cNvPr id="8" name="Text 6"/>
          <p:cNvSpPr/>
          <p:nvPr/>
        </p:nvSpPr>
        <p:spPr>
          <a:xfrm>
            <a:off x="896112" y="1993392"/>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想定価格で売り切れず滞留する</a:t>
            </a:r>
            <a:endParaRPr lang="en-US" sz="950" dirty="0"/>
          </a:p>
        </p:txBody>
      </p:sp>
      <p:sp>
        <p:nvSpPr>
          <p:cNvPr id="9" name="Text 7"/>
          <p:cNvSpPr/>
          <p:nvPr/>
        </p:nvSpPr>
        <p:spPr>
          <a:xfrm>
            <a:off x="896112" y="2432304"/>
            <a:ext cx="2051228" cy="804672"/>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銘柄をLiv-ex掲載の流通量の多い銘柄に限定。四半期ごとに滞留在庫を洗い出し、簿価見直しを実施。</a:t>
            </a:r>
            <a:endParaRPr lang="en-US" sz="950" dirty="0"/>
          </a:p>
        </p:txBody>
      </p:sp>
      <p:sp>
        <p:nvSpPr>
          <p:cNvPr id="10" name="Shape 8"/>
          <p:cNvSpPr/>
          <p:nvPr/>
        </p:nvSpPr>
        <p:spPr>
          <a:xfrm>
            <a:off x="3441116" y="1499616"/>
            <a:ext cx="2526716" cy="1901952"/>
          </a:xfrm>
          <a:prstGeom prst="roundRect">
            <a:avLst>
              <a:gd name="adj" fmla="val 2163"/>
            </a:avLst>
          </a:prstGeom>
          <a:solidFill>
            <a:srgbClr val="171614"/>
          </a:solidFill>
          <a:ln w="9525">
            <a:solidFill>
              <a:srgbClr val="2E2A24"/>
            </a:solidFill>
            <a:prstDash val="solid"/>
          </a:ln>
        </p:spPr>
      </p:sp>
      <p:sp>
        <p:nvSpPr>
          <p:cNvPr id="11" name="Text 9"/>
          <p:cNvSpPr/>
          <p:nvPr/>
        </p:nvSpPr>
        <p:spPr>
          <a:xfrm>
            <a:off x="3678860" y="1700784"/>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価格変動リスク</a:t>
            </a:r>
            <a:endParaRPr lang="en-US" sz="1200" dirty="0"/>
          </a:p>
        </p:txBody>
      </p:sp>
      <p:sp>
        <p:nvSpPr>
          <p:cNvPr id="12" name="Text 10"/>
          <p:cNvSpPr/>
          <p:nvPr/>
        </p:nvSpPr>
        <p:spPr>
          <a:xfrm>
            <a:off x="3678860" y="1993392"/>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Fine Wine市況の下落</a:t>
            </a:r>
            <a:endParaRPr lang="en-US" sz="950" dirty="0"/>
          </a:p>
        </p:txBody>
      </p:sp>
      <p:sp>
        <p:nvSpPr>
          <p:cNvPr id="13" name="Text 11"/>
          <p:cNvSpPr/>
          <p:nvPr/>
        </p:nvSpPr>
        <p:spPr>
          <a:xfrm>
            <a:off x="3678860" y="2432304"/>
            <a:ext cx="2051228" cy="804672"/>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短期回転モデルのため市況依存度は低い。値上がり益はリターンに一切算入していない。</a:t>
            </a:r>
            <a:endParaRPr lang="en-US" sz="950" dirty="0"/>
          </a:p>
        </p:txBody>
      </p:sp>
      <p:sp>
        <p:nvSpPr>
          <p:cNvPr id="14" name="Shape 12"/>
          <p:cNvSpPr/>
          <p:nvPr/>
        </p:nvSpPr>
        <p:spPr>
          <a:xfrm>
            <a:off x="6223864" y="1499616"/>
            <a:ext cx="2526716" cy="1901952"/>
          </a:xfrm>
          <a:prstGeom prst="roundRect">
            <a:avLst>
              <a:gd name="adj" fmla="val 2163"/>
            </a:avLst>
          </a:prstGeom>
          <a:solidFill>
            <a:srgbClr val="171614"/>
          </a:solidFill>
          <a:ln w="9525">
            <a:solidFill>
              <a:srgbClr val="2E2A24"/>
            </a:solidFill>
            <a:prstDash val="solid"/>
          </a:ln>
        </p:spPr>
      </p:sp>
      <p:sp>
        <p:nvSpPr>
          <p:cNvPr id="15" name="Text 13"/>
          <p:cNvSpPr/>
          <p:nvPr/>
        </p:nvSpPr>
        <p:spPr>
          <a:xfrm>
            <a:off x="6461608" y="1700784"/>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流動性リスク</a:t>
            </a:r>
            <a:endParaRPr lang="en-US" sz="1200" dirty="0"/>
          </a:p>
        </p:txBody>
      </p:sp>
      <p:sp>
        <p:nvSpPr>
          <p:cNvPr id="16" name="Text 14"/>
          <p:cNvSpPr/>
          <p:nvPr/>
        </p:nvSpPr>
        <p:spPr>
          <a:xfrm>
            <a:off x="6461608" y="1993392"/>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現物のため即時換金できない</a:t>
            </a:r>
            <a:endParaRPr lang="en-US" sz="950" dirty="0"/>
          </a:p>
        </p:txBody>
      </p:sp>
      <p:sp>
        <p:nvSpPr>
          <p:cNvPr id="17" name="Text 15"/>
          <p:cNvSpPr/>
          <p:nvPr/>
        </p:nvSpPr>
        <p:spPr>
          <a:xfrm>
            <a:off x="6461608" y="2432304"/>
            <a:ext cx="2051228" cy="804672"/>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常時15%を現金で保有。半期解約に応じる場合は稼働率が下がり利回りも下がる点を明示する。</a:t>
            </a:r>
            <a:endParaRPr lang="en-US" sz="950" dirty="0"/>
          </a:p>
        </p:txBody>
      </p:sp>
      <p:sp>
        <p:nvSpPr>
          <p:cNvPr id="18" name="Shape 16"/>
          <p:cNvSpPr/>
          <p:nvPr/>
        </p:nvSpPr>
        <p:spPr>
          <a:xfrm>
            <a:off x="9006611" y="1499616"/>
            <a:ext cx="2526716" cy="1901952"/>
          </a:xfrm>
          <a:prstGeom prst="roundRect">
            <a:avLst>
              <a:gd name="adj" fmla="val 2163"/>
            </a:avLst>
          </a:prstGeom>
          <a:solidFill>
            <a:srgbClr val="171614"/>
          </a:solidFill>
          <a:ln w="9525">
            <a:solidFill>
              <a:srgbClr val="2E2A24"/>
            </a:solidFill>
            <a:prstDash val="solid"/>
          </a:ln>
        </p:spPr>
      </p:sp>
      <p:sp>
        <p:nvSpPr>
          <p:cNvPr id="19" name="Text 17"/>
          <p:cNvSpPr/>
          <p:nvPr/>
        </p:nvSpPr>
        <p:spPr>
          <a:xfrm>
            <a:off x="9244355" y="1700784"/>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調達リスク</a:t>
            </a:r>
            <a:endParaRPr lang="en-US" sz="1200" dirty="0"/>
          </a:p>
        </p:txBody>
      </p:sp>
      <p:sp>
        <p:nvSpPr>
          <p:cNvPr id="20" name="Text 18"/>
          <p:cNvSpPr/>
          <p:nvPr/>
        </p:nvSpPr>
        <p:spPr>
          <a:xfrm>
            <a:off x="9244355" y="1993392"/>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想定価格・数量で仕入れられない</a:t>
            </a:r>
            <a:endParaRPr lang="en-US" sz="950" dirty="0"/>
          </a:p>
        </p:txBody>
      </p:sp>
      <p:sp>
        <p:nvSpPr>
          <p:cNvPr id="21" name="Text 19"/>
          <p:cNvSpPr/>
          <p:nvPr/>
        </p:nvSpPr>
        <p:spPr>
          <a:xfrm>
            <a:off x="9244355" y="2432304"/>
            <a:ext cx="2051228" cy="804672"/>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インポーター・酒販店との年間調達枠を事前に締結。調達実績を四半期報告。</a:t>
            </a:r>
            <a:endParaRPr lang="en-US" sz="950" dirty="0"/>
          </a:p>
        </p:txBody>
      </p:sp>
      <p:sp>
        <p:nvSpPr>
          <p:cNvPr id="22" name="Shape 20"/>
          <p:cNvSpPr/>
          <p:nvPr/>
        </p:nvSpPr>
        <p:spPr>
          <a:xfrm>
            <a:off x="658368" y="3584448"/>
            <a:ext cx="2526716" cy="1901952"/>
          </a:xfrm>
          <a:prstGeom prst="roundRect">
            <a:avLst>
              <a:gd name="adj" fmla="val 2163"/>
            </a:avLst>
          </a:prstGeom>
          <a:solidFill>
            <a:srgbClr val="171614"/>
          </a:solidFill>
          <a:ln w="9525">
            <a:solidFill>
              <a:srgbClr val="2E2A24"/>
            </a:solidFill>
            <a:prstDash val="solid"/>
          </a:ln>
        </p:spPr>
      </p:sp>
      <p:sp>
        <p:nvSpPr>
          <p:cNvPr id="23" name="Text 21"/>
          <p:cNvSpPr/>
          <p:nvPr/>
        </p:nvSpPr>
        <p:spPr>
          <a:xfrm>
            <a:off x="896112" y="378561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オペレーションリスク</a:t>
            </a:r>
            <a:endParaRPr lang="en-US" sz="1200" dirty="0"/>
          </a:p>
        </p:txBody>
      </p:sp>
      <p:sp>
        <p:nvSpPr>
          <p:cNvPr id="24" name="Text 22"/>
          <p:cNvSpPr/>
          <p:nvPr/>
        </p:nvSpPr>
        <p:spPr>
          <a:xfrm>
            <a:off x="896112" y="407822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保管中の破損・劣化・盗難</a:t>
            </a:r>
            <a:endParaRPr lang="en-US" sz="950" dirty="0"/>
          </a:p>
        </p:txBody>
      </p:sp>
      <p:sp>
        <p:nvSpPr>
          <p:cNvPr id="25" name="Text 23"/>
          <p:cNvSpPr/>
          <p:nvPr/>
        </p:nvSpPr>
        <p:spPr>
          <a:xfrm>
            <a:off x="896112" y="4517136"/>
            <a:ext cx="2051228" cy="804672"/>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専門定温倉庫での保管と全量付保。倉庫在庫は月次で第三者棚卸。</a:t>
            </a:r>
            <a:endParaRPr lang="en-US" sz="950" dirty="0"/>
          </a:p>
        </p:txBody>
      </p:sp>
      <p:sp>
        <p:nvSpPr>
          <p:cNvPr id="26" name="Shape 24"/>
          <p:cNvSpPr/>
          <p:nvPr/>
        </p:nvSpPr>
        <p:spPr>
          <a:xfrm>
            <a:off x="3441116" y="3584448"/>
            <a:ext cx="2526716" cy="1901952"/>
          </a:xfrm>
          <a:prstGeom prst="roundRect">
            <a:avLst>
              <a:gd name="adj" fmla="val 2163"/>
            </a:avLst>
          </a:prstGeom>
          <a:solidFill>
            <a:srgbClr val="171614"/>
          </a:solidFill>
          <a:ln w="9525">
            <a:solidFill>
              <a:srgbClr val="2E2A24"/>
            </a:solidFill>
            <a:prstDash val="solid"/>
          </a:ln>
        </p:spPr>
      </p:sp>
      <p:sp>
        <p:nvSpPr>
          <p:cNvPr id="27" name="Text 25"/>
          <p:cNvSpPr/>
          <p:nvPr/>
        </p:nvSpPr>
        <p:spPr>
          <a:xfrm>
            <a:off x="3678860" y="378561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カウンターパーティリスク</a:t>
            </a:r>
            <a:endParaRPr lang="en-US" sz="1200" dirty="0"/>
          </a:p>
        </p:txBody>
      </p:sp>
      <p:sp>
        <p:nvSpPr>
          <p:cNvPr id="28" name="Text 26"/>
          <p:cNvSpPr/>
          <p:nvPr/>
        </p:nvSpPr>
        <p:spPr>
          <a:xfrm>
            <a:off x="3678860" y="407822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WineBankの信用・実行力</a:t>
            </a:r>
            <a:endParaRPr lang="en-US" sz="950" dirty="0"/>
          </a:p>
        </p:txBody>
      </p:sp>
      <p:sp>
        <p:nvSpPr>
          <p:cNvPr id="29" name="Text 27"/>
          <p:cNvSpPr/>
          <p:nvPr/>
        </p:nvSpPr>
        <p:spPr>
          <a:xfrm>
            <a:off x="3678860" y="4517136"/>
            <a:ext cx="2051228" cy="804672"/>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SPCを倒産隔離。ワイン現物はSPC名義で保有し、WineBankの債権者から隔離する。</a:t>
            </a:r>
            <a:endParaRPr lang="en-US" sz="950" dirty="0"/>
          </a:p>
        </p:txBody>
      </p:sp>
      <p:sp>
        <p:nvSpPr>
          <p:cNvPr id="30" name="Shape 28"/>
          <p:cNvSpPr/>
          <p:nvPr/>
        </p:nvSpPr>
        <p:spPr>
          <a:xfrm>
            <a:off x="6223864" y="3584448"/>
            <a:ext cx="2526716" cy="1901952"/>
          </a:xfrm>
          <a:prstGeom prst="roundRect">
            <a:avLst>
              <a:gd name="adj" fmla="val 2163"/>
            </a:avLst>
          </a:prstGeom>
          <a:solidFill>
            <a:srgbClr val="1F1D19"/>
          </a:solidFill>
          <a:ln w="9525">
            <a:solidFill>
              <a:srgbClr val="6E5730"/>
            </a:solidFill>
            <a:prstDash val="solid"/>
          </a:ln>
        </p:spPr>
      </p:sp>
      <p:sp>
        <p:nvSpPr>
          <p:cNvPr id="31" name="Text 29"/>
          <p:cNvSpPr/>
          <p:nvPr/>
        </p:nvSpPr>
        <p:spPr>
          <a:xfrm>
            <a:off x="6461608" y="3785616"/>
            <a:ext cx="2051228"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免許・商流リスク</a:t>
            </a:r>
            <a:endParaRPr lang="en-US" sz="1200" dirty="0"/>
          </a:p>
        </p:txBody>
      </p:sp>
      <p:sp>
        <p:nvSpPr>
          <p:cNvPr id="32" name="Text 30"/>
          <p:cNvSpPr/>
          <p:nvPr/>
        </p:nvSpPr>
        <p:spPr>
          <a:xfrm>
            <a:off x="6461608" y="407822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免許事業者の変更・取引口座の喪失</a:t>
            </a:r>
            <a:endParaRPr lang="en-US" sz="950" dirty="0"/>
          </a:p>
        </p:txBody>
      </p:sp>
      <p:sp>
        <p:nvSpPr>
          <p:cNvPr id="33" name="Text 31"/>
          <p:cNvSpPr/>
          <p:nvPr/>
        </p:nvSpPr>
        <p:spPr>
          <a:xfrm>
            <a:off x="6461608" y="4517136"/>
            <a:ext cx="2051228" cy="804672"/>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WineBankの免許維持を契約上の義務とし、免許喪失時は在庫を売却清算して早期償還する条項を置く。</a:t>
            </a:r>
            <a:endParaRPr lang="en-US" sz="950" dirty="0"/>
          </a:p>
        </p:txBody>
      </p:sp>
      <p:sp>
        <p:nvSpPr>
          <p:cNvPr id="34" name="Shape 32"/>
          <p:cNvSpPr/>
          <p:nvPr/>
        </p:nvSpPr>
        <p:spPr>
          <a:xfrm>
            <a:off x="9006611" y="3584448"/>
            <a:ext cx="2526716" cy="1901952"/>
          </a:xfrm>
          <a:prstGeom prst="roundRect">
            <a:avLst>
              <a:gd name="adj" fmla="val 2163"/>
            </a:avLst>
          </a:prstGeom>
          <a:solidFill>
            <a:srgbClr val="1F1D19"/>
          </a:solidFill>
          <a:ln w="9525">
            <a:solidFill>
              <a:srgbClr val="6E5730"/>
            </a:solidFill>
            <a:prstDash val="solid"/>
          </a:ln>
        </p:spPr>
      </p:sp>
      <p:sp>
        <p:nvSpPr>
          <p:cNvPr id="35" name="Text 33"/>
          <p:cNvSpPr/>
          <p:nvPr/>
        </p:nvSpPr>
        <p:spPr>
          <a:xfrm>
            <a:off x="9244355" y="3785616"/>
            <a:ext cx="2051228"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移転価格リスク</a:t>
            </a:r>
            <a:endParaRPr lang="en-US" sz="1200" dirty="0"/>
          </a:p>
        </p:txBody>
      </p:sp>
      <p:sp>
        <p:nvSpPr>
          <p:cNvPr id="36" name="Text 34"/>
          <p:cNvSpPr/>
          <p:nvPr/>
        </p:nvSpPr>
        <p:spPr>
          <a:xfrm>
            <a:off x="9244355" y="407822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譲渡1%の妥当性を否認される</a:t>
            </a:r>
            <a:endParaRPr lang="en-US" sz="950" dirty="0"/>
          </a:p>
        </p:txBody>
      </p:sp>
      <p:sp>
        <p:nvSpPr>
          <p:cNvPr id="37" name="Text 35"/>
          <p:cNvSpPr/>
          <p:nvPr/>
        </p:nvSpPr>
        <p:spPr>
          <a:xfrm>
            <a:off x="9244355" y="4517136"/>
            <a:ext cx="2051228" cy="804672"/>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譲渡価格の算定根拠を文書化。第三者卸価格との比較資料を年次で整備し、税務調査に備える。</a:t>
            </a:r>
            <a:endParaRPr lang="en-US" sz="950" dirty="0"/>
          </a:p>
        </p:txBody>
      </p:sp>
      <p:sp>
        <p:nvSpPr>
          <p:cNvPr id="38" name="Text 36"/>
          <p:cNvSpPr/>
          <p:nvPr/>
        </p:nvSpPr>
        <p:spPr>
          <a:xfrm>
            <a:off x="658368" y="5705856"/>
            <a:ext cx="10874959" cy="237744"/>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 網掛けの2件は、今回の改訂（免許・商流の整理と現物譲渡1%）に伴い新たに追加したリスク項目。</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TERMS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ファンド設計条件（ドラフト）</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14</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8368" y="1481328"/>
          <a:ext cx="10874959" cy="914400"/>
        </p:xfrm>
        <a:graphic>
          <a:graphicData uri="http://schemas.openxmlformats.org/drawingml/2006/table">
            <a:tbl>
              <a:tblPr/>
              <a:tblGrid>
                <a:gridCol w="1920240"/>
                <a:gridCol w="4846320"/>
                <a:gridCol w="4105656"/>
              </a:tblGrid>
              <a:tr h="30632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組成形態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合同会社＋匿名組合（GK-TK）</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SPCレベルでは非課税、投資家側で課税</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募集総額</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5億円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追加募集は半期ごとの受入日に実施</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運用期間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3年（回転15ヶ月超を想定する場合は5年）</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満期時に在庫を売却清算のうえ元本償還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現物の取得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b="1" dirty="0">
                          <a:solidFill>
                            <a:srgbClr val="C9A96E"/>
                          </a:solidFill>
                          <a:latin typeface="Yu Gothic" pitchFamily="34" charset="0"/>
                          <a:ea typeface="Yu Gothic" pitchFamily="34" charset="-122"/>
                          <a:cs typeface="Yu Gothic" pitchFamily="34" charset="-120"/>
                        </a:rPr>
                        <a:t>WineBankが調達した現物をSPCへ譲渡（＋1%）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5億の場合、実商品原価4.95億＋譲渡マージン500万円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分配</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半期ごと（税前利益を投資家50：WineBank50）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元本はSPC内に留保し継続運用</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SPC負担費用</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b="1" dirty="0">
                          <a:solidFill>
                            <a:srgbClr val="C9A96E"/>
                          </a:solidFill>
                          <a:latin typeface="Yu Gothic" pitchFamily="34" charset="0"/>
                          <a:ea typeface="Yu Gothic" pitchFamily="34" charset="-122"/>
                          <a:cs typeface="Yu Gothic" pitchFamily="34" charset="-120"/>
                        </a:rPr>
                        <a:t>保管・物流・手数料・ロス・維持費800万・人件費360万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これ以外の管理報酬・成功報酬は課さない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想定リターン</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投資家IRR 11.0〜16.9%（回転12〜9ヶ月）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ニュートラル前提。上振れ余地は前掲</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中途解約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半期ごとの解約日に申出可（90日前通知）</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現金保有比率の引き上げが必要（下記参照）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元本の裏付け</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SPC名義のワイン現物および現金</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月次で在庫明細・簿価を報告</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報告</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月次：在庫・売上／四半期：試算表／年次：監査済決算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会計監査人を設置</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7" name="Shape 4"/>
          <p:cNvSpPr/>
          <p:nvPr/>
        </p:nvSpPr>
        <p:spPr>
          <a:xfrm>
            <a:off x="658368" y="4956048"/>
            <a:ext cx="10874959" cy="1133856"/>
          </a:xfrm>
          <a:prstGeom prst="roundRect">
            <a:avLst>
              <a:gd name="adj" fmla="val 3629"/>
            </a:avLst>
          </a:prstGeom>
          <a:solidFill>
            <a:srgbClr val="1F1D19"/>
          </a:solidFill>
          <a:ln w="9525">
            <a:solidFill>
              <a:srgbClr val="6E5730"/>
            </a:solidFill>
            <a:prstDash val="solid"/>
          </a:ln>
        </p:spPr>
      </p:sp>
      <p:sp>
        <p:nvSpPr>
          <p:cNvPr id="8" name="Text 5"/>
          <p:cNvSpPr/>
          <p:nvPr/>
        </p:nvSpPr>
        <p:spPr>
          <a:xfrm>
            <a:off x="932688" y="5084064"/>
            <a:ext cx="457200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解約自由度と利回りのトレードオフ</a:t>
            </a:r>
            <a:endParaRPr lang="en-US" sz="1150" dirty="0"/>
          </a:p>
        </p:txBody>
      </p:sp>
      <p:sp>
        <p:nvSpPr>
          <p:cNvPr id="9" name="Text 6"/>
          <p:cNvSpPr/>
          <p:nvPr/>
        </p:nvSpPr>
        <p:spPr>
          <a:xfrm>
            <a:off x="932688" y="5340096"/>
            <a:ext cx="10326319" cy="621792"/>
          </a:xfrm>
          <a:prstGeom prst="rect">
            <a:avLst/>
          </a:prstGeom>
          <a:noFill/>
          <a:ln/>
        </p:spPr>
        <p:txBody>
          <a:bodyPr wrap="square" lIns="0" tIns="0" rIns="0" bIns="0" rtlCol="0" anchor="ctr"/>
          <a:lstStyle/>
          <a:p>
            <a:pPr indent="0" marL="0">
              <a:lnSpc>
                <a:spcPct val="124000"/>
              </a:lnSpc>
              <a:buNone/>
            </a:pPr>
            <a:r>
              <a:rPr lang="en-US" sz="1000" dirty="0">
                <a:solidFill>
                  <a:srgbClr val="9A938A"/>
                </a:solidFill>
                <a:latin typeface="Yu Gothic" pitchFamily="34" charset="0"/>
                <a:ea typeface="Yu Gothic" pitchFamily="34" charset="-122"/>
                <a:cs typeface="Yu Gothic" pitchFamily="34" charset="-120"/>
              </a:rPr>
              <a:t>半期解約に応じるには常時1〜3割を現金または即時換金可能な在庫で保有する必要があり、その分だけ稼働率が下がる。稼働率85%→70%で定常利回りは16.9%→13.7%、IRR（3年）は11.0%→8.9%に低下する。解約条件はご要望に合わせて設計するが、利回りとの両立が難しい点を事前に共有したい。</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NEXT STEPS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今後の進め方</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15</a:t>
            </a:r>
            <a:endParaRPr lang="en-US" sz="950" dirty="0"/>
          </a:p>
        </p:txBody>
      </p:sp>
      <p:sp>
        <p:nvSpPr>
          <p:cNvPr id="6" name="Shape 4"/>
          <p:cNvSpPr/>
          <p:nvPr/>
        </p:nvSpPr>
        <p:spPr>
          <a:xfrm>
            <a:off x="658368" y="1572768"/>
            <a:ext cx="1999427" cy="2834640"/>
          </a:xfrm>
          <a:prstGeom prst="roundRect">
            <a:avLst>
              <a:gd name="adj" fmla="val 2058"/>
            </a:avLst>
          </a:prstGeom>
          <a:solidFill>
            <a:srgbClr val="171614"/>
          </a:solidFill>
          <a:ln w="9525">
            <a:solidFill>
              <a:srgbClr val="2E2A24"/>
            </a:solidFill>
            <a:prstDash val="solid"/>
          </a:ln>
        </p:spPr>
      </p:sp>
      <p:sp>
        <p:nvSpPr>
          <p:cNvPr id="7" name="Shape 5"/>
          <p:cNvSpPr/>
          <p:nvPr/>
        </p:nvSpPr>
        <p:spPr>
          <a:xfrm>
            <a:off x="877824" y="1792224"/>
            <a:ext cx="365760" cy="365760"/>
          </a:xfrm>
          <a:prstGeom prst="ellipse">
            <a:avLst/>
          </a:prstGeom>
          <a:solidFill>
            <a:srgbClr val="0C0C0C"/>
          </a:solidFill>
          <a:ln w="11430">
            <a:solidFill>
              <a:srgbClr val="A78450"/>
            </a:solidFill>
            <a:prstDash val="solid"/>
          </a:ln>
        </p:spPr>
      </p:sp>
      <p:sp>
        <p:nvSpPr>
          <p:cNvPr id="8" name="Text 6"/>
          <p:cNvSpPr/>
          <p:nvPr/>
        </p:nvSpPr>
        <p:spPr>
          <a:xfrm>
            <a:off x="877824"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01</a:t>
            </a:r>
            <a:endParaRPr lang="en-US" sz="1200" dirty="0"/>
          </a:p>
        </p:txBody>
      </p:sp>
      <p:sp>
        <p:nvSpPr>
          <p:cNvPr id="9" name="Text 7"/>
          <p:cNvSpPr/>
          <p:nvPr/>
        </p:nvSpPr>
        <p:spPr>
          <a:xfrm>
            <a:off x="877824"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前提条件のすり合わせ</a:t>
            </a:r>
            <a:endParaRPr lang="en-US" sz="1200" dirty="0"/>
          </a:p>
        </p:txBody>
      </p:sp>
      <p:sp>
        <p:nvSpPr>
          <p:cNvPr id="10" name="Text 8"/>
          <p:cNvSpPr/>
          <p:nvPr/>
        </p:nvSpPr>
        <p:spPr>
          <a:xfrm>
            <a:off x="877824"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想定回転期間・解約条件・折半の定義（税前利益ベース）、および現物譲渡1%の水準についてご意見をいただく。</a:t>
            </a:r>
            <a:endParaRPr lang="en-US" sz="950" dirty="0"/>
          </a:p>
        </p:txBody>
      </p:sp>
      <p:sp>
        <p:nvSpPr>
          <p:cNvPr id="11" name="Shape 9"/>
          <p:cNvSpPr/>
          <p:nvPr/>
        </p:nvSpPr>
        <p:spPr>
          <a:xfrm>
            <a:off x="2877251" y="1572768"/>
            <a:ext cx="1999427" cy="2834640"/>
          </a:xfrm>
          <a:prstGeom prst="roundRect">
            <a:avLst>
              <a:gd name="adj" fmla="val 2058"/>
            </a:avLst>
          </a:prstGeom>
          <a:solidFill>
            <a:srgbClr val="1F1D19"/>
          </a:solidFill>
          <a:ln w="9525">
            <a:solidFill>
              <a:srgbClr val="6E5730"/>
            </a:solidFill>
            <a:prstDash val="solid"/>
          </a:ln>
        </p:spPr>
      </p:sp>
      <p:sp>
        <p:nvSpPr>
          <p:cNvPr id="12" name="Shape 10"/>
          <p:cNvSpPr/>
          <p:nvPr/>
        </p:nvSpPr>
        <p:spPr>
          <a:xfrm>
            <a:off x="3096707" y="1792224"/>
            <a:ext cx="365760" cy="365760"/>
          </a:xfrm>
          <a:prstGeom prst="ellipse">
            <a:avLst/>
          </a:prstGeom>
          <a:solidFill>
            <a:srgbClr val="0C0C0C"/>
          </a:solidFill>
          <a:ln w="11430">
            <a:solidFill>
              <a:srgbClr val="A78450"/>
            </a:solidFill>
            <a:prstDash val="solid"/>
          </a:ln>
        </p:spPr>
      </p:sp>
      <p:sp>
        <p:nvSpPr>
          <p:cNvPr id="13" name="Text 11"/>
          <p:cNvSpPr/>
          <p:nvPr/>
        </p:nvSpPr>
        <p:spPr>
          <a:xfrm>
            <a:off x="3096707"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02</a:t>
            </a:r>
            <a:endParaRPr lang="en-US" sz="1200" dirty="0"/>
          </a:p>
        </p:txBody>
      </p:sp>
      <p:sp>
        <p:nvSpPr>
          <p:cNvPr id="14" name="Text 12"/>
          <p:cNvSpPr/>
          <p:nvPr/>
        </p:nvSpPr>
        <p:spPr>
          <a:xfrm>
            <a:off x="3096707"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免許・税務の確定</a:t>
            </a:r>
            <a:endParaRPr lang="en-US" sz="1200" dirty="0"/>
          </a:p>
        </p:txBody>
      </p:sp>
      <p:sp>
        <p:nvSpPr>
          <p:cNvPr id="15" name="Text 13"/>
          <p:cNvSpPr/>
          <p:nvPr/>
        </p:nvSpPr>
        <p:spPr>
          <a:xfrm>
            <a:off x="3096707"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SPCの免許要否と売買形態を所轄税務署（酒類指導官）・顧問弁護士と確認。譲渡価格1%の算定根拠を文書化する。</a:t>
            </a:r>
            <a:endParaRPr lang="en-US" sz="950" dirty="0"/>
          </a:p>
        </p:txBody>
      </p:sp>
      <p:sp>
        <p:nvSpPr>
          <p:cNvPr id="16" name="Shape 14"/>
          <p:cNvSpPr/>
          <p:nvPr/>
        </p:nvSpPr>
        <p:spPr>
          <a:xfrm>
            <a:off x="5096134" y="1572768"/>
            <a:ext cx="1999427" cy="2834640"/>
          </a:xfrm>
          <a:prstGeom prst="roundRect">
            <a:avLst>
              <a:gd name="adj" fmla="val 2058"/>
            </a:avLst>
          </a:prstGeom>
          <a:solidFill>
            <a:srgbClr val="171614"/>
          </a:solidFill>
          <a:ln w="9525">
            <a:solidFill>
              <a:srgbClr val="2E2A24"/>
            </a:solidFill>
            <a:prstDash val="solid"/>
          </a:ln>
        </p:spPr>
      </p:sp>
      <p:sp>
        <p:nvSpPr>
          <p:cNvPr id="17" name="Shape 15"/>
          <p:cNvSpPr/>
          <p:nvPr/>
        </p:nvSpPr>
        <p:spPr>
          <a:xfrm>
            <a:off x="5315590" y="1792224"/>
            <a:ext cx="365760" cy="365760"/>
          </a:xfrm>
          <a:prstGeom prst="ellipse">
            <a:avLst/>
          </a:prstGeom>
          <a:solidFill>
            <a:srgbClr val="0C0C0C"/>
          </a:solidFill>
          <a:ln w="11430">
            <a:solidFill>
              <a:srgbClr val="A78450"/>
            </a:solidFill>
            <a:prstDash val="solid"/>
          </a:ln>
        </p:spPr>
      </p:sp>
      <p:sp>
        <p:nvSpPr>
          <p:cNvPr id="18" name="Text 16"/>
          <p:cNvSpPr/>
          <p:nvPr/>
        </p:nvSpPr>
        <p:spPr>
          <a:xfrm>
            <a:off x="5315590"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03</a:t>
            </a:r>
            <a:endParaRPr lang="en-US" sz="1200" dirty="0"/>
          </a:p>
        </p:txBody>
      </p:sp>
      <p:sp>
        <p:nvSpPr>
          <p:cNvPr id="19" name="Text 17"/>
          <p:cNvSpPr/>
          <p:nvPr/>
        </p:nvSpPr>
        <p:spPr>
          <a:xfrm>
            <a:off x="5315590"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調達枠の確保と実証</a:t>
            </a:r>
            <a:endParaRPr lang="en-US" sz="1200" dirty="0"/>
          </a:p>
        </p:txBody>
      </p:sp>
      <p:sp>
        <p:nvSpPr>
          <p:cNvPr id="20" name="Text 18"/>
          <p:cNvSpPr/>
          <p:nvPr/>
        </p:nvSpPr>
        <p:spPr>
          <a:xfrm>
            <a:off x="5315590"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インポーター・酒販店との年間調達枠を締結し、小規模ロットで回転期間の実証を行う。</a:t>
            </a:r>
            <a:endParaRPr lang="en-US" sz="950" dirty="0"/>
          </a:p>
        </p:txBody>
      </p:sp>
      <p:sp>
        <p:nvSpPr>
          <p:cNvPr id="21" name="Shape 19"/>
          <p:cNvSpPr/>
          <p:nvPr/>
        </p:nvSpPr>
        <p:spPr>
          <a:xfrm>
            <a:off x="7315017" y="1572768"/>
            <a:ext cx="1999427" cy="2834640"/>
          </a:xfrm>
          <a:prstGeom prst="roundRect">
            <a:avLst>
              <a:gd name="adj" fmla="val 2058"/>
            </a:avLst>
          </a:prstGeom>
          <a:solidFill>
            <a:srgbClr val="171614"/>
          </a:solidFill>
          <a:ln w="9525">
            <a:solidFill>
              <a:srgbClr val="2E2A24"/>
            </a:solidFill>
            <a:prstDash val="solid"/>
          </a:ln>
        </p:spPr>
      </p:sp>
      <p:sp>
        <p:nvSpPr>
          <p:cNvPr id="22" name="Shape 20"/>
          <p:cNvSpPr/>
          <p:nvPr/>
        </p:nvSpPr>
        <p:spPr>
          <a:xfrm>
            <a:off x="7534473" y="1792224"/>
            <a:ext cx="365760" cy="365760"/>
          </a:xfrm>
          <a:prstGeom prst="ellipse">
            <a:avLst/>
          </a:prstGeom>
          <a:solidFill>
            <a:srgbClr val="0C0C0C"/>
          </a:solidFill>
          <a:ln w="11430">
            <a:solidFill>
              <a:srgbClr val="A78450"/>
            </a:solidFill>
            <a:prstDash val="solid"/>
          </a:ln>
        </p:spPr>
      </p:sp>
      <p:sp>
        <p:nvSpPr>
          <p:cNvPr id="23" name="Text 21"/>
          <p:cNvSpPr/>
          <p:nvPr/>
        </p:nvSpPr>
        <p:spPr>
          <a:xfrm>
            <a:off x="7534473"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04</a:t>
            </a:r>
            <a:endParaRPr lang="en-US" sz="1200" dirty="0"/>
          </a:p>
        </p:txBody>
      </p:sp>
      <p:sp>
        <p:nvSpPr>
          <p:cNvPr id="24" name="Text 22"/>
          <p:cNvSpPr/>
          <p:nvPr/>
        </p:nvSpPr>
        <p:spPr>
          <a:xfrm>
            <a:off x="7534473"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スキーム組成</a:t>
            </a:r>
            <a:endParaRPr lang="en-US" sz="1200" dirty="0"/>
          </a:p>
        </p:txBody>
      </p:sp>
      <p:sp>
        <p:nvSpPr>
          <p:cNvPr id="25" name="Text 23"/>
          <p:cNvSpPr/>
          <p:nvPr/>
        </p:nvSpPr>
        <p:spPr>
          <a:xfrm>
            <a:off x="7534473"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GK-TKの組成、契約書一式（匿名組合契約・業務委託契約・売買基本契約）の作成、会計監査人の選定。</a:t>
            </a:r>
            <a:endParaRPr lang="en-US" sz="950" dirty="0"/>
          </a:p>
        </p:txBody>
      </p:sp>
      <p:sp>
        <p:nvSpPr>
          <p:cNvPr id="26" name="Shape 24"/>
          <p:cNvSpPr/>
          <p:nvPr/>
        </p:nvSpPr>
        <p:spPr>
          <a:xfrm>
            <a:off x="9533900" y="1572768"/>
            <a:ext cx="1999427" cy="2834640"/>
          </a:xfrm>
          <a:prstGeom prst="roundRect">
            <a:avLst>
              <a:gd name="adj" fmla="val 2058"/>
            </a:avLst>
          </a:prstGeom>
          <a:solidFill>
            <a:srgbClr val="171614"/>
          </a:solidFill>
          <a:ln w="9525">
            <a:solidFill>
              <a:srgbClr val="2E2A24"/>
            </a:solidFill>
            <a:prstDash val="solid"/>
          </a:ln>
        </p:spPr>
      </p:sp>
      <p:sp>
        <p:nvSpPr>
          <p:cNvPr id="27" name="Shape 25"/>
          <p:cNvSpPr/>
          <p:nvPr/>
        </p:nvSpPr>
        <p:spPr>
          <a:xfrm>
            <a:off x="9753356" y="1792224"/>
            <a:ext cx="365760" cy="365760"/>
          </a:xfrm>
          <a:prstGeom prst="ellipse">
            <a:avLst/>
          </a:prstGeom>
          <a:solidFill>
            <a:srgbClr val="0C0C0C"/>
          </a:solidFill>
          <a:ln w="11430">
            <a:solidFill>
              <a:srgbClr val="A78450"/>
            </a:solidFill>
            <a:prstDash val="solid"/>
          </a:ln>
        </p:spPr>
      </p:sp>
      <p:sp>
        <p:nvSpPr>
          <p:cNvPr id="28" name="Text 26"/>
          <p:cNvSpPr/>
          <p:nvPr/>
        </p:nvSpPr>
        <p:spPr>
          <a:xfrm>
            <a:off x="9753356"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05</a:t>
            </a:r>
            <a:endParaRPr lang="en-US" sz="1200" dirty="0"/>
          </a:p>
        </p:txBody>
      </p:sp>
      <p:sp>
        <p:nvSpPr>
          <p:cNvPr id="29" name="Text 27"/>
          <p:cNvSpPr/>
          <p:nvPr/>
        </p:nvSpPr>
        <p:spPr>
          <a:xfrm>
            <a:off x="9753356"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投資実行</a:t>
            </a:r>
            <a:endParaRPr lang="en-US" sz="1200" dirty="0"/>
          </a:p>
        </p:txBody>
      </p:sp>
      <p:sp>
        <p:nvSpPr>
          <p:cNvPr id="30" name="Text 28"/>
          <p:cNvSpPr/>
          <p:nvPr/>
        </p:nvSpPr>
        <p:spPr>
          <a:xfrm>
            <a:off x="9753356"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半期の受入日に合わせて着金、運用開始。月次で在庫明細・簿価を報告する。</a:t>
            </a:r>
            <a:endParaRPr lang="en-US" sz="950" dirty="0"/>
          </a:p>
        </p:txBody>
      </p:sp>
      <p:sp>
        <p:nvSpPr>
          <p:cNvPr id="31" name="Shape 29"/>
          <p:cNvSpPr/>
          <p:nvPr/>
        </p:nvSpPr>
        <p:spPr>
          <a:xfrm>
            <a:off x="658368" y="4608576"/>
            <a:ext cx="10874959" cy="969264"/>
          </a:xfrm>
          <a:prstGeom prst="roundRect">
            <a:avLst>
              <a:gd name="adj" fmla="val 4245"/>
            </a:avLst>
          </a:prstGeom>
          <a:solidFill>
            <a:srgbClr val="171614"/>
          </a:solidFill>
          <a:ln w="9525">
            <a:solidFill>
              <a:srgbClr val="2E2A24"/>
            </a:solidFill>
            <a:prstDash val="solid"/>
          </a:ln>
        </p:spPr>
      </p:sp>
      <p:sp>
        <p:nvSpPr>
          <p:cNvPr id="32" name="Text 30"/>
          <p:cNvSpPr/>
          <p:nvPr/>
        </p:nvSpPr>
        <p:spPr>
          <a:xfrm>
            <a:off x="932688" y="4754880"/>
            <a:ext cx="10326319" cy="676656"/>
          </a:xfrm>
          <a:prstGeom prst="rect">
            <a:avLst/>
          </a:prstGeom>
          <a:noFill/>
          <a:ln/>
        </p:spPr>
        <p:txBody>
          <a:bodyPr wrap="square" lIns="0" tIns="0" rIns="0" bIns="0" rtlCol="0" anchor="ctr"/>
          <a:lstStyle/>
          <a:p>
            <a:pPr indent="0" marL="0">
              <a:lnSpc>
                <a:spcPct val="124000"/>
              </a:lnSpc>
              <a:buNone/>
            </a:pPr>
            <a:r>
              <a:rPr lang="en-US" sz="1000" dirty="0">
                <a:solidFill>
                  <a:srgbClr val="9A938A"/>
                </a:solidFill>
                <a:latin typeface="Yu Gothic" pitchFamily="34" charset="0"/>
                <a:ea typeface="Yu Gothic" pitchFamily="34" charset="-122"/>
                <a:cs typeface="Yu Gothic" pitchFamily="34" charset="-120"/>
              </a:rPr>
              <a:t>本資料の数値は一定の前提に基づく試算であり、将来の運用成果を保証するものではありません。最終的な条件は契約書に基づきます。免許・税務の取扱いは、所轄官庁および専門家の確認を経て確定します。</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1463040" y="1417320"/>
            <a:ext cx="4023360" cy="4023360"/>
          </a:xfrm>
          <a:prstGeom prst="ellipse">
            <a:avLst/>
          </a:prstGeom>
          <a:solidFill>
            <a:srgbClr val="0C0C0C"/>
          </a:solidFill>
          <a:ln w="13970">
            <a:solidFill>
              <a:srgbClr val="1E1A15"/>
            </a:solidFill>
            <a:prstDash val="solid"/>
          </a:ln>
        </p:spPr>
      </p:sp>
      <p:sp>
        <p:nvSpPr>
          <p:cNvPr id="3" name="Shape 1"/>
          <p:cNvSpPr/>
          <p:nvPr/>
        </p:nvSpPr>
        <p:spPr>
          <a:xfrm>
            <a:off x="9966960" y="-1188720"/>
            <a:ext cx="4023360" cy="4023360"/>
          </a:xfrm>
          <a:prstGeom prst="ellipse">
            <a:avLst/>
          </a:prstGeom>
          <a:solidFill>
            <a:srgbClr val="0C0C0C"/>
          </a:solidFill>
          <a:ln w="11430">
            <a:solidFill>
              <a:srgbClr val="6E5730"/>
            </a:solidFill>
            <a:prstDash val="solid"/>
          </a:ln>
        </p:spPr>
      </p:sp>
      <p:sp>
        <p:nvSpPr>
          <p:cNvPr id="4" name="Text 2"/>
          <p:cNvSpPr/>
          <p:nvPr/>
        </p:nvSpPr>
        <p:spPr>
          <a:xfrm>
            <a:off x="658368" y="2487168"/>
            <a:ext cx="10874959" cy="694944"/>
          </a:xfrm>
          <a:prstGeom prst="rect">
            <a:avLst/>
          </a:prstGeom>
          <a:noFill/>
          <a:ln/>
        </p:spPr>
        <p:txBody>
          <a:bodyPr wrap="square" lIns="0" tIns="0" rIns="0" bIns="0" rtlCol="0" anchor="ctr"/>
          <a:lstStyle/>
          <a:p>
            <a:pPr algn="ctr" indent="0" marL="0">
              <a:buNone/>
            </a:pPr>
            <a:r>
              <a:rPr lang="en-US" sz="3400" b="1" dirty="0">
                <a:solidFill>
                  <a:srgbClr val="EFEBE3"/>
                </a:solidFill>
                <a:latin typeface="Yu Mincho" pitchFamily="34" charset="0"/>
                <a:ea typeface="Yu Mincho" pitchFamily="34" charset="-122"/>
                <a:cs typeface="Yu Mincho" pitchFamily="34" charset="-120"/>
              </a:rPr>
              <a:t>すべての人にファインワインを</a:t>
            </a:r>
            <a:endParaRPr lang="en-US" sz="3400" dirty="0"/>
          </a:p>
        </p:txBody>
      </p:sp>
      <p:sp>
        <p:nvSpPr>
          <p:cNvPr id="5" name="Text 3"/>
          <p:cNvSpPr/>
          <p:nvPr/>
        </p:nvSpPr>
        <p:spPr>
          <a:xfrm>
            <a:off x="658368" y="3255264"/>
            <a:ext cx="10874959" cy="310896"/>
          </a:xfrm>
          <a:prstGeom prst="rect">
            <a:avLst/>
          </a:prstGeom>
          <a:noFill/>
          <a:ln/>
        </p:spPr>
        <p:txBody>
          <a:bodyPr wrap="square" lIns="0" tIns="0" rIns="0" bIns="0" rtlCol="0" anchor="ctr"/>
          <a:lstStyle/>
          <a:p>
            <a:pPr algn="ctr" indent="0" marL="0">
              <a:buNone/>
            </a:pPr>
            <a:r>
              <a:rPr lang="en-US" sz="1300" b="1" spc="450" kern="0" dirty="0">
                <a:solidFill>
                  <a:srgbClr val="A78450"/>
                </a:solidFill>
                <a:latin typeface="Cambria" pitchFamily="34" charset="0"/>
                <a:ea typeface="Cambria" pitchFamily="34" charset="-122"/>
                <a:cs typeface="Cambria" pitchFamily="34" charset="-120"/>
              </a:rPr>
              <a:t>Wine × Technology</a:t>
            </a:r>
            <a:endParaRPr lang="en-US" sz="1300" dirty="0"/>
          </a:p>
        </p:txBody>
      </p:sp>
      <p:sp>
        <p:nvSpPr>
          <p:cNvPr id="6" name="Text 4"/>
          <p:cNvSpPr/>
          <p:nvPr/>
        </p:nvSpPr>
        <p:spPr>
          <a:xfrm>
            <a:off x="658368" y="4133088"/>
            <a:ext cx="10874959" cy="310896"/>
          </a:xfrm>
          <a:prstGeom prst="rect">
            <a:avLst/>
          </a:prstGeom>
          <a:noFill/>
          <a:ln/>
        </p:spPr>
        <p:txBody>
          <a:bodyPr wrap="square" lIns="0" tIns="0" rIns="0" bIns="0" rtlCol="0" anchor="ctr"/>
          <a:lstStyle/>
          <a:p>
            <a:pPr algn="ctr" indent="0" marL="0">
              <a:buNone/>
            </a:pPr>
            <a:r>
              <a:rPr lang="en-US" sz="1500" b="1" dirty="0">
                <a:solidFill>
                  <a:srgbClr val="C9A96E"/>
                </a:solidFill>
                <a:latin typeface="Yu Mincho" pitchFamily="34" charset="0"/>
                <a:ea typeface="Yu Mincho" pitchFamily="34" charset="-122"/>
                <a:cs typeface="Yu Mincho" pitchFamily="34" charset="-120"/>
              </a:rPr>
              <a:t>株式会社WineBank</a:t>
            </a:r>
            <a:endParaRPr lang="en-US" sz="1500" dirty="0"/>
          </a:p>
        </p:txBody>
      </p:sp>
      <p:sp>
        <p:nvSpPr>
          <p:cNvPr id="7" name="Text 5"/>
          <p:cNvSpPr/>
          <p:nvPr/>
        </p:nvSpPr>
        <p:spPr>
          <a:xfrm>
            <a:off x="658368" y="4462272"/>
            <a:ext cx="10874959" cy="256032"/>
          </a:xfrm>
          <a:prstGeom prst="rect">
            <a:avLst/>
          </a:prstGeom>
          <a:noFill/>
          <a:ln/>
        </p:spPr>
        <p:txBody>
          <a:bodyPr wrap="square" lIns="0" tIns="0" rIns="0" bIns="0" rtlCol="0" anchor="ctr"/>
          <a:lstStyle/>
          <a:p>
            <a:pPr algn="ctr" indent="0" marL="0">
              <a:buNone/>
            </a:pPr>
            <a:r>
              <a:rPr lang="en-US" sz="950" dirty="0">
                <a:solidFill>
                  <a:srgbClr val="6E675E"/>
                </a:solidFill>
                <a:latin typeface="Yu Gothic" pitchFamily="34" charset="0"/>
                <a:ea typeface="Yu Gothic" pitchFamily="34" charset="-122"/>
                <a:cs typeface="Yu Gothic" pitchFamily="34" charset="-120"/>
              </a:rPr>
              <a:t>創業1970年　／　東京都港区六本木4-12-8 第6DMJビル 2階</a:t>
            </a:r>
            <a:endParaRPr lang="en-US" sz="950" dirty="0"/>
          </a:p>
        </p:txBody>
      </p:sp>
      <p:sp>
        <p:nvSpPr>
          <p:cNvPr id="8" name="Text 6"/>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9" name="Text 7"/>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ワインファンド（SPC）組成のご提案</dc:title>
  <dc:subject>PptxGenJS Presentation</dc:subject>
  <dc:creator>株式会社WineBank</dc:creator>
  <cp:lastModifiedBy>株式会社WineBank</cp:lastModifiedBy>
  <cp:revision>1</cp:revision>
  <dcterms:created xsi:type="dcterms:W3CDTF">2026-08-11T07:45:40Z</dcterms:created>
  <dcterms:modified xsi:type="dcterms:W3CDTF">2026-08-11T07:45:40Z</dcterms:modified>
</cp:coreProperties>
</file>