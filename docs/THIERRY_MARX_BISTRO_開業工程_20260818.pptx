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契約書（案）の確定日程をもとに作成した開業工程。現在は設計プラン決めと幹部採用のフェーズ。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C2740"/>
        </a:solidFill>
      </p:bgPr>
    </p:bg>
    <p:spTree>
      <p:nvGrpSpPr>
        <p:cNvPr id="1" name=""/>
        <p:cNvGrpSpPr/>
        <p:nvPr/>
      </p:nvGrpSpPr>
      <p:grpSpPr>
        <a:xfrm>
          <a:off x="0" y="0"/>
          <a:ext cx="0" cy="0"/>
          <a:chOff x="0" y="0"/>
          <a:chExt cx="0" cy="0"/>
        </a:xfrm>
      </p:grpSpPr>
      <p:sp>
        <p:nvSpPr>
          <p:cNvPr id="2" name="Text 0"/>
          <p:cNvSpPr/>
          <p:nvPr/>
        </p:nvSpPr>
        <p:spPr>
          <a:xfrm>
            <a:off x="822960" y="685800"/>
            <a:ext cx="5486400" cy="274320"/>
          </a:xfrm>
          <a:prstGeom prst="rect">
            <a:avLst/>
          </a:prstGeom>
          <a:noFill/>
          <a:ln/>
        </p:spPr>
        <p:txBody>
          <a:bodyPr wrap="square" lIns="0" tIns="0" rIns="0" bIns="0" rtlCol="0" anchor="ctr"/>
          <a:lstStyle/>
          <a:p>
            <a:pPr indent="0" marL="0">
              <a:buNone/>
            </a:pPr>
            <a:r>
              <a:rPr lang="en-US" sz="1100" spc="500" kern="0" dirty="0">
                <a:solidFill>
                  <a:srgbClr val="FFFFFF"/>
                </a:solidFill>
                <a:latin typeface="Yu Gothic" pitchFamily="34" charset="0"/>
                <a:ea typeface="Yu Gothic" pitchFamily="34" charset="-122"/>
                <a:cs typeface="Yu Gothic" pitchFamily="34" charset="-120"/>
              </a:rPr>
              <a:t>WINE BANK</a:t>
            </a:r>
            <a:endParaRPr lang="en-US" sz="1100" dirty="0"/>
          </a:p>
        </p:txBody>
      </p:sp>
      <p:sp>
        <p:nvSpPr>
          <p:cNvPr id="3" name="Text 1"/>
          <p:cNvSpPr/>
          <p:nvPr/>
        </p:nvSpPr>
        <p:spPr>
          <a:xfrm>
            <a:off x="822960" y="2286000"/>
            <a:ext cx="10515600" cy="685800"/>
          </a:xfrm>
          <a:prstGeom prst="rect">
            <a:avLst/>
          </a:prstGeom>
          <a:noFill/>
          <a:ln/>
        </p:spPr>
        <p:txBody>
          <a:bodyPr wrap="square" lIns="0" tIns="0" rIns="0" bIns="0" rtlCol="0" anchor="ctr"/>
          <a:lstStyle/>
          <a:p>
            <a:pPr indent="0" marL="0">
              <a:buNone/>
            </a:pPr>
            <a:r>
              <a:rPr lang="en-US" sz="3800" dirty="0">
                <a:solidFill>
                  <a:srgbClr val="FFFFFF"/>
                </a:solidFill>
                <a:latin typeface="Yu Mincho" pitchFamily="34" charset="0"/>
                <a:ea typeface="Yu Mincho" pitchFamily="34" charset="-122"/>
                <a:cs typeface="Yu Mincho" pitchFamily="34" charset="-120"/>
              </a:rPr>
              <a:t>（仮称）THIERRY MARX BISTRO</a:t>
            </a:r>
            <a:endParaRPr lang="en-US" sz="3800" dirty="0"/>
          </a:p>
        </p:txBody>
      </p:sp>
      <p:sp>
        <p:nvSpPr>
          <p:cNvPr id="4" name="Text 2"/>
          <p:cNvSpPr/>
          <p:nvPr/>
        </p:nvSpPr>
        <p:spPr>
          <a:xfrm>
            <a:off x="822960" y="3017520"/>
            <a:ext cx="10515600" cy="566928"/>
          </a:xfrm>
          <a:prstGeom prst="rect">
            <a:avLst/>
          </a:prstGeom>
          <a:noFill/>
          <a:ln/>
        </p:spPr>
        <p:txBody>
          <a:bodyPr wrap="square" lIns="0" tIns="0" rIns="0" bIns="0" rtlCol="0" anchor="ctr"/>
          <a:lstStyle/>
          <a:p>
            <a:pPr indent="0" marL="0">
              <a:buNone/>
            </a:pPr>
            <a:r>
              <a:rPr lang="en-US" sz="3000" dirty="0">
                <a:solidFill>
                  <a:srgbClr val="FFFFFF"/>
                </a:solidFill>
                <a:latin typeface="Yu Mincho" pitchFamily="34" charset="0"/>
                <a:ea typeface="Yu Mincho" pitchFamily="34" charset="-122"/>
                <a:cs typeface="Yu Mincho" pitchFamily="34" charset="-120"/>
              </a:rPr>
              <a:t>開業までの工程</a:t>
            </a:r>
            <a:endParaRPr lang="en-US" sz="3000" dirty="0"/>
          </a:p>
        </p:txBody>
      </p:sp>
      <p:sp>
        <p:nvSpPr>
          <p:cNvPr id="5" name="Text 3"/>
          <p:cNvSpPr/>
          <p:nvPr/>
        </p:nvSpPr>
        <p:spPr>
          <a:xfrm>
            <a:off x="841248" y="3886200"/>
            <a:ext cx="10515600" cy="274320"/>
          </a:xfrm>
          <a:prstGeom prst="rect">
            <a:avLst/>
          </a:prstGeom>
          <a:noFill/>
          <a:ln/>
        </p:spPr>
        <p:txBody>
          <a:bodyPr wrap="square" lIns="0" tIns="0" rIns="0" bIns="0" rtlCol="0" anchor="ctr"/>
          <a:lstStyle/>
          <a:p>
            <a:pPr indent="0" marL="0">
              <a:buNone/>
            </a:pPr>
            <a:r>
              <a:rPr lang="en-US" sz="1300" dirty="0">
                <a:solidFill>
                  <a:srgbClr val="E8D5DA"/>
                </a:solidFill>
                <a:latin typeface="Yu Gothic" pitchFamily="34" charset="0"/>
                <a:ea typeface="Yu Gothic" pitchFamily="34" charset="-122"/>
                <a:cs typeface="Yu Gothic" pitchFamily="34" charset="-120"/>
              </a:rPr>
              <a:t>東京ミッドタウン　B0105号室・B0106号室　／　183.59㎡（55.53坪）</a:t>
            </a:r>
            <a:endParaRPr lang="en-US" sz="1300" dirty="0"/>
          </a:p>
        </p:txBody>
      </p:sp>
      <p:sp>
        <p:nvSpPr>
          <p:cNvPr id="6" name="Text 4"/>
          <p:cNvSpPr/>
          <p:nvPr/>
        </p:nvSpPr>
        <p:spPr>
          <a:xfrm>
            <a:off x="841248" y="4224528"/>
            <a:ext cx="10515600" cy="274320"/>
          </a:xfrm>
          <a:prstGeom prst="rect">
            <a:avLst/>
          </a:prstGeom>
          <a:noFill/>
          <a:ln/>
        </p:spPr>
        <p:txBody>
          <a:bodyPr wrap="square" lIns="0" tIns="0" rIns="0" bIns="0" rtlCol="0" anchor="ctr"/>
          <a:lstStyle/>
          <a:p>
            <a:pPr indent="0" marL="0">
              <a:buNone/>
            </a:pPr>
            <a:r>
              <a:rPr lang="en-US" sz="1300" dirty="0">
                <a:solidFill>
                  <a:srgbClr val="E8D5DA"/>
                </a:solidFill>
                <a:latin typeface="Arial" pitchFamily="34" charset="0"/>
                <a:ea typeface="Arial" pitchFamily="34" charset="-122"/>
                <a:cs typeface="Arial" pitchFamily="34" charset="-120"/>
              </a:rPr>
              <a:t>2026年8月 ▸ 2027年4月30日 開業</a:t>
            </a:r>
            <a:endParaRPr lang="en-US" sz="1300" dirty="0"/>
          </a:p>
        </p:txBody>
      </p:sp>
      <p:sp>
        <p:nvSpPr>
          <p:cNvPr id="7" name="Text 5"/>
          <p:cNvSpPr/>
          <p:nvPr/>
        </p:nvSpPr>
        <p:spPr>
          <a:xfrm>
            <a:off x="6766560" y="5989320"/>
            <a:ext cx="4572000" cy="274320"/>
          </a:xfrm>
          <a:prstGeom prst="rect">
            <a:avLst/>
          </a:prstGeom>
          <a:noFill/>
          <a:ln/>
        </p:spPr>
        <p:txBody>
          <a:bodyPr wrap="square" lIns="0" tIns="0" rIns="0" bIns="0" rtlCol="0" anchor="ctr"/>
          <a:lstStyle/>
          <a:p>
            <a:pPr algn="r" indent="0" marL="0">
              <a:buNone/>
            </a:pPr>
            <a:r>
              <a:rPr lang="en-US" sz="1000" dirty="0">
                <a:solidFill>
                  <a:srgbClr val="E8D5DA"/>
                </a:solidFill>
                <a:latin typeface="Yu Gothic" pitchFamily="34" charset="0"/>
                <a:ea typeface="Yu Gothic" pitchFamily="34" charset="-122"/>
                <a:cs typeface="Yu Gothic" pitchFamily="34" charset="-120"/>
              </a:rPr>
              <a:t>2026年8月18日　株式会社WineBank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サマリー</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工期は実質2ヶ月。設計フェーズの前倒しが唯一の余地</a:t>
            </a:r>
            <a:endParaRPr lang="en-US" sz="2500" dirty="0"/>
          </a:p>
        </p:txBody>
      </p:sp>
      <p:sp>
        <p:nvSpPr>
          <p:cNvPr id="4" name="Text 2"/>
          <p:cNvSpPr/>
          <p:nvPr/>
        </p:nvSpPr>
        <p:spPr>
          <a:xfrm>
            <a:off x="502920" y="1188720"/>
            <a:ext cx="11155680" cy="1188720"/>
          </a:xfrm>
          <a:prstGeom prst="rect">
            <a:avLst/>
          </a:prstGeom>
          <a:noFill/>
          <a:ln/>
        </p:spPr>
        <p:txBody>
          <a:bodyPr wrap="square" lIns="0" tIns="0" rIns="0" bIns="0" rtlCol="0" anchor="ctr"/>
          <a:lstStyle/>
          <a:p>
            <a:pPr marL="177800" indent="-177800">
              <a:spcAft>
                <a:spcPts val="600"/>
              </a:spcAft>
              <a:buSzPct val="100000"/>
              <a:buChar char="•"/>
            </a:pPr>
            <a:r>
              <a:rPr lang="en-US" sz="1200" dirty="0">
                <a:solidFill>
                  <a:srgbClr val="1B1A19"/>
                </a:solidFill>
                <a:latin typeface="Yu Gothic" pitchFamily="34" charset="0"/>
                <a:ea typeface="Yu Gothic" pitchFamily="34" charset="-122"/>
                <a:cs typeface="Yu Gothic" pitchFamily="34" charset="-120"/>
              </a:rPr>
              <a:t>引渡（2027年2月15日）から完成（4月中旬）まで実質2ヶ月しかなく、重飲食・厨房付き183.59㎡としては極めてタイト。</a:t>
            </a:r>
            <a:endParaRPr lang="en-US" sz="1200" dirty="0"/>
          </a:p>
          <a:p>
            <a:pPr marL="177800" indent="-177800">
              <a:spcAft>
                <a:spcPts val="600"/>
              </a:spcAft>
              <a:buSzPct val="100000"/>
              <a:buChar char="•"/>
            </a:pPr>
            <a:r>
              <a:rPr lang="en-US" sz="1200" dirty="0">
                <a:solidFill>
                  <a:srgbClr val="1B1A19"/>
                </a:solidFill>
                <a:latin typeface="Yu Gothic" pitchFamily="34" charset="0"/>
                <a:ea typeface="Yu Gothic" pitchFamily="34" charset="-122"/>
                <a:cs typeface="Yu Gothic" pitchFamily="34" charset="-120"/>
              </a:rPr>
              <a:t>着工を1日も遅らせないため、賃貸人の2つの承認（デザインクライテリア／工事等承認申請）を引渡前に取り切る。</a:t>
            </a:r>
            <a:endParaRPr lang="en-US" sz="1200" dirty="0"/>
          </a:p>
          <a:p>
            <a:pPr marL="177800" indent="-177800">
              <a:spcAft>
                <a:spcPts val="600"/>
              </a:spcAft>
              <a:buSzPct val="100000"/>
              <a:buChar char="•"/>
            </a:pPr>
            <a:r>
              <a:rPr lang="en-US" sz="1200" dirty="0">
                <a:solidFill>
                  <a:srgbClr val="1B1A19"/>
                </a:solidFill>
                <a:latin typeface="Yu Gothic" pitchFamily="34" charset="0"/>
                <a:ea typeface="Yu Gothic" pitchFamily="34" charset="-122"/>
                <a:cs typeface="Yu Gothic" pitchFamily="34" charset="-120"/>
              </a:rPr>
              <a:t>現在地は設計プラン決めと幹部採用。プラン確定を9月末に置き、そこから基本設計・実施設計を逆算している。</a:t>
            </a:r>
            <a:endParaRPr lang="en-US" sz="1200" dirty="0"/>
          </a:p>
        </p:txBody>
      </p:sp>
      <p:sp>
        <p:nvSpPr>
          <p:cNvPr id="5" name="Shape 3"/>
          <p:cNvSpPr/>
          <p:nvPr/>
        </p:nvSpPr>
        <p:spPr>
          <a:xfrm>
            <a:off x="457200" y="2743200"/>
            <a:ext cx="1741932" cy="1298448"/>
          </a:xfrm>
          <a:prstGeom prst="rect">
            <a:avLst/>
          </a:prstGeom>
          <a:solidFill>
            <a:srgbClr val="F5F3F1"/>
          </a:solidFill>
          <a:ln w="9525">
            <a:solidFill>
              <a:srgbClr val="DCD7D2"/>
            </a:solidFill>
            <a:prstDash val="solid"/>
          </a:ln>
        </p:spPr>
      </p:sp>
      <p:sp>
        <p:nvSpPr>
          <p:cNvPr id="6" name="Text 4"/>
          <p:cNvSpPr/>
          <p:nvPr/>
        </p:nvSpPr>
        <p:spPr>
          <a:xfrm>
            <a:off x="585216"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契約締結</a:t>
            </a:r>
            <a:endParaRPr lang="en-US" sz="850" dirty="0"/>
          </a:p>
        </p:txBody>
      </p:sp>
      <p:sp>
        <p:nvSpPr>
          <p:cNvPr id="7" name="Text 5"/>
          <p:cNvSpPr/>
          <p:nvPr/>
        </p:nvSpPr>
        <p:spPr>
          <a:xfrm>
            <a:off x="585216"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2026.09.01</a:t>
            </a:r>
            <a:endParaRPr lang="en-US" sz="1600" dirty="0"/>
          </a:p>
        </p:txBody>
      </p:sp>
      <p:sp>
        <p:nvSpPr>
          <p:cNvPr id="8" name="Text 6"/>
          <p:cNvSpPr/>
          <p:nvPr/>
        </p:nvSpPr>
        <p:spPr>
          <a:xfrm>
            <a:off x="585216"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第1回敷金 ¥11,105,988</a:t>
            </a:r>
            <a:endParaRPr lang="en-US" sz="850" dirty="0"/>
          </a:p>
        </p:txBody>
      </p:sp>
      <p:sp>
        <p:nvSpPr>
          <p:cNvPr id="9" name="Shape 7"/>
          <p:cNvSpPr/>
          <p:nvPr/>
        </p:nvSpPr>
        <p:spPr>
          <a:xfrm>
            <a:off x="2363724" y="2743200"/>
            <a:ext cx="1741932" cy="1298448"/>
          </a:xfrm>
          <a:prstGeom prst="rect">
            <a:avLst/>
          </a:prstGeom>
          <a:solidFill>
            <a:srgbClr val="F5F3F1"/>
          </a:solidFill>
          <a:ln w="9525">
            <a:solidFill>
              <a:srgbClr val="DCD7D2"/>
            </a:solidFill>
            <a:prstDash val="solid"/>
          </a:ln>
        </p:spPr>
      </p:sp>
      <p:sp>
        <p:nvSpPr>
          <p:cNvPr id="10" name="Text 8"/>
          <p:cNvSpPr/>
          <p:nvPr/>
        </p:nvSpPr>
        <p:spPr>
          <a:xfrm>
            <a:off x="2491740"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物件 引渡</a:t>
            </a:r>
            <a:endParaRPr lang="en-US" sz="850" dirty="0"/>
          </a:p>
        </p:txBody>
      </p:sp>
      <p:sp>
        <p:nvSpPr>
          <p:cNvPr id="11" name="Text 9"/>
          <p:cNvSpPr/>
          <p:nvPr/>
        </p:nvSpPr>
        <p:spPr>
          <a:xfrm>
            <a:off x="2491740"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2027.02.15</a:t>
            </a:r>
            <a:endParaRPr lang="en-US" sz="1600" dirty="0"/>
          </a:p>
        </p:txBody>
      </p:sp>
      <p:sp>
        <p:nvSpPr>
          <p:cNvPr id="12" name="Text 10"/>
          <p:cNvSpPr/>
          <p:nvPr/>
        </p:nvSpPr>
        <p:spPr>
          <a:xfrm>
            <a:off x="2491740"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第2回敷金は前日 2/14</a:t>
            </a:r>
            <a:endParaRPr lang="en-US" sz="850" dirty="0"/>
          </a:p>
        </p:txBody>
      </p:sp>
      <p:sp>
        <p:nvSpPr>
          <p:cNvPr id="13" name="Shape 11"/>
          <p:cNvSpPr/>
          <p:nvPr/>
        </p:nvSpPr>
        <p:spPr>
          <a:xfrm>
            <a:off x="4270248" y="2743200"/>
            <a:ext cx="1741932" cy="1298448"/>
          </a:xfrm>
          <a:prstGeom prst="rect">
            <a:avLst/>
          </a:prstGeom>
          <a:solidFill>
            <a:srgbClr val="F5F3F1"/>
          </a:solidFill>
          <a:ln w="9525">
            <a:solidFill>
              <a:srgbClr val="DCD7D2"/>
            </a:solidFill>
            <a:prstDash val="solid"/>
          </a:ln>
        </p:spPr>
      </p:sp>
      <p:sp>
        <p:nvSpPr>
          <p:cNvPr id="14" name="Text 12"/>
          <p:cNvSpPr/>
          <p:nvPr/>
        </p:nvSpPr>
        <p:spPr>
          <a:xfrm>
            <a:off x="4398264"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工事 完成</a:t>
            </a:r>
            <a:endParaRPr lang="en-US" sz="850" dirty="0"/>
          </a:p>
        </p:txBody>
      </p:sp>
      <p:sp>
        <p:nvSpPr>
          <p:cNvPr id="15" name="Text 13"/>
          <p:cNvSpPr/>
          <p:nvPr/>
        </p:nvSpPr>
        <p:spPr>
          <a:xfrm>
            <a:off x="4398264"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2027.04.15</a:t>
            </a:r>
            <a:endParaRPr lang="en-US" sz="1600" dirty="0"/>
          </a:p>
        </p:txBody>
      </p:sp>
      <p:sp>
        <p:nvSpPr>
          <p:cNvPr id="16" name="Text 14"/>
          <p:cNvSpPr/>
          <p:nvPr/>
        </p:nvSpPr>
        <p:spPr>
          <a:xfrm>
            <a:off x="4398264"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B工事・C工事 並走</a:t>
            </a:r>
            <a:endParaRPr lang="en-US" sz="850" dirty="0"/>
          </a:p>
        </p:txBody>
      </p:sp>
      <p:sp>
        <p:nvSpPr>
          <p:cNvPr id="17" name="Shape 15"/>
          <p:cNvSpPr/>
          <p:nvPr/>
        </p:nvSpPr>
        <p:spPr>
          <a:xfrm>
            <a:off x="6176772" y="2743200"/>
            <a:ext cx="1741932" cy="1298448"/>
          </a:xfrm>
          <a:prstGeom prst="rect">
            <a:avLst/>
          </a:prstGeom>
          <a:solidFill>
            <a:srgbClr val="F5F3F1"/>
          </a:solidFill>
          <a:ln w="9525">
            <a:solidFill>
              <a:srgbClr val="DCD7D2"/>
            </a:solidFill>
            <a:prstDash val="solid"/>
          </a:ln>
        </p:spPr>
      </p:sp>
      <p:sp>
        <p:nvSpPr>
          <p:cNvPr id="18" name="Text 16"/>
          <p:cNvSpPr/>
          <p:nvPr/>
        </p:nvSpPr>
        <p:spPr>
          <a:xfrm>
            <a:off x="6304788"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営業開始日</a:t>
            </a:r>
            <a:endParaRPr lang="en-US" sz="850" dirty="0"/>
          </a:p>
        </p:txBody>
      </p:sp>
      <p:sp>
        <p:nvSpPr>
          <p:cNvPr id="19" name="Text 17"/>
          <p:cNvSpPr/>
          <p:nvPr/>
        </p:nvSpPr>
        <p:spPr>
          <a:xfrm>
            <a:off x="6304788"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2027.04.30</a:t>
            </a:r>
            <a:endParaRPr lang="en-US" sz="1600" dirty="0"/>
          </a:p>
        </p:txBody>
      </p:sp>
      <p:sp>
        <p:nvSpPr>
          <p:cNvPr id="20" name="Text 18"/>
          <p:cNvSpPr/>
          <p:nvPr/>
        </p:nvSpPr>
        <p:spPr>
          <a:xfrm>
            <a:off x="6304788"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出店料等の起算日</a:t>
            </a:r>
            <a:endParaRPr lang="en-US" sz="850" dirty="0"/>
          </a:p>
        </p:txBody>
      </p:sp>
      <p:sp>
        <p:nvSpPr>
          <p:cNvPr id="21" name="Shape 19"/>
          <p:cNvSpPr/>
          <p:nvPr/>
        </p:nvSpPr>
        <p:spPr>
          <a:xfrm>
            <a:off x="8083296" y="2743200"/>
            <a:ext cx="1741932" cy="1298448"/>
          </a:xfrm>
          <a:prstGeom prst="rect">
            <a:avLst/>
          </a:prstGeom>
          <a:solidFill>
            <a:srgbClr val="F5F3F1"/>
          </a:solidFill>
          <a:ln w="9525">
            <a:solidFill>
              <a:srgbClr val="DCD7D2"/>
            </a:solidFill>
            <a:prstDash val="solid"/>
          </a:ln>
        </p:spPr>
      </p:sp>
      <p:sp>
        <p:nvSpPr>
          <p:cNvPr id="22" name="Text 20"/>
          <p:cNvSpPr/>
          <p:nvPr/>
        </p:nvSpPr>
        <p:spPr>
          <a:xfrm>
            <a:off x="8211312"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出店期間 満了</a:t>
            </a:r>
            <a:endParaRPr lang="en-US" sz="850" dirty="0"/>
          </a:p>
        </p:txBody>
      </p:sp>
      <p:sp>
        <p:nvSpPr>
          <p:cNvPr id="23" name="Text 21"/>
          <p:cNvSpPr/>
          <p:nvPr/>
        </p:nvSpPr>
        <p:spPr>
          <a:xfrm>
            <a:off x="8211312"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2037.01.31</a:t>
            </a:r>
            <a:endParaRPr lang="en-US" sz="1600" dirty="0"/>
          </a:p>
        </p:txBody>
      </p:sp>
      <p:sp>
        <p:nvSpPr>
          <p:cNvPr id="24" name="Text 22"/>
          <p:cNvSpPr/>
          <p:nvPr/>
        </p:nvSpPr>
        <p:spPr>
          <a:xfrm>
            <a:off x="8211312"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定期借家・更新なし</a:t>
            </a:r>
            <a:endParaRPr lang="en-US" sz="850" dirty="0"/>
          </a:p>
        </p:txBody>
      </p:sp>
      <p:sp>
        <p:nvSpPr>
          <p:cNvPr id="25" name="Shape 23"/>
          <p:cNvSpPr/>
          <p:nvPr/>
        </p:nvSpPr>
        <p:spPr>
          <a:xfrm>
            <a:off x="9989820" y="2743200"/>
            <a:ext cx="1741932" cy="1298448"/>
          </a:xfrm>
          <a:prstGeom prst="rect">
            <a:avLst/>
          </a:prstGeom>
          <a:solidFill>
            <a:srgbClr val="F5F3F1"/>
          </a:solidFill>
          <a:ln w="9525">
            <a:solidFill>
              <a:srgbClr val="DCD7D2"/>
            </a:solidFill>
            <a:prstDash val="solid"/>
          </a:ln>
        </p:spPr>
      </p:sp>
      <p:sp>
        <p:nvSpPr>
          <p:cNvPr id="26" name="Text 24"/>
          <p:cNvSpPr/>
          <p:nvPr/>
        </p:nvSpPr>
        <p:spPr>
          <a:xfrm>
            <a:off x="10117836" y="2871216"/>
            <a:ext cx="1485900" cy="201168"/>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賃貸人負担</a:t>
            </a:r>
            <a:endParaRPr lang="en-US" sz="850" dirty="0"/>
          </a:p>
        </p:txBody>
      </p:sp>
      <p:sp>
        <p:nvSpPr>
          <p:cNvPr id="27" name="Text 25"/>
          <p:cNvSpPr/>
          <p:nvPr/>
        </p:nvSpPr>
        <p:spPr>
          <a:xfrm>
            <a:off x="10117836" y="3127248"/>
            <a:ext cx="1485900" cy="384048"/>
          </a:xfrm>
          <a:prstGeom prst="rect">
            <a:avLst/>
          </a:prstGeom>
          <a:noFill/>
          <a:ln/>
        </p:spPr>
        <p:txBody>
          <a:bodyPr wrap="square" lIns="0" tIns="0" rIns="0" bIns="0" rtlCol="0" anchor="ctr"/>
          <a:lstStyle/>
          <a:p>
            <a:pPr indent="0" marL="0">
              <a:buNone/>
            </a:pPr>
            <a:r>
              <a:rPr lang="en-US" sz="1600" b="1" dirty="0">
                <a:solidFill>
                  <a:srgbClr val="8C2740"/>
                </a:solidFill>
                <a:latin typeface="Arial" pitchFamily="34" charset="0"/>
                <a:ea typeface="Arial" pitchFamily="34" charset="-122"/>
                <a:cs typeface="Arial" pitchFamily="34" charset="-120"/>
              </a:rPr>
              <a:t>¥100,000,000</a:t>
            </a:r>
            <a:endParaRPr lang="en-US" sz="1600" dirty="0"/>
          </a:p>
        </p:txBody>
      </p:sp>
      <p:sp>
        <p:nvSpPr>
          <p:cNvPr id="28" name="Text 26"/>
          <p:cNvSpPr/>
          <p:nvPr/>
        </p:nvSpPr>
        <p:spPr>
          <a:xfrm>
            <a:off x="10117836" y="3547872"/>
            <a:ext cx="1485900" cy="384048"/>
          </a:xfrm>
          <a:prstGeom prst="rect">
            <a:avLst/>
          </a:prstGeom>
          <a:noFill/>
          <a:ln/>
        </p:spPr>
        <p:txBody>
          <a:bodyPr wrap="square" lIns="0" tIns="0" rIns="0" bIns="0" rtlCol="0" anchor="t"/>
          <a:lstStyle/>
          <a:p>
            <a:pPr indent="0" marL="0">
              <a:buNone/>
            </a:pPr>
            <a:r>
              <a:rPr lang="en-US" sz="850" dirty="0">
                <a:solidFill>
                  <a:srgbClr val="6E6866"/>
                </a:solidFill>
                <a:latin typeface="Yu Gothic" pitchFamily="34" charset="0"/>
                <a:ea typeface="Yu Gothic" pitchFamily="34" charset="-122"/>
                <a:cs typeface="Yu Gothic" pitchFamily="34" charset="-120"/>
              </a:rPr>
              <a:t>B・C工事の上限額</a:t>
            </a:r>
            <a:endParaRPr lang="en-US" sz="850" dirty="0"/>
          </a:p>
        </p:txBody>
      </p:sp>
      <p:sp>
        <p:nvSpPr>
          <p:cNvPr id="29" name="Text 27"/>
          <p:cNvSpPr/>
          <p:nvPr/>
        </p:nvSpPr>
        <p:spPr>
          <a:xfrm>
            <a:off x="457200" y="4315968"/>
            <a:ext cx="11274552" cy="274320"/>
          </a:xfrm>
          <a:prstGeom prst="rect">
            <a:avLst/>
          </a:prstGeom>
          <a:noFill/>
          <a:ln/>
        </p:spPr>
        <p:txBody>
          <a:bodyPr wrap="square" lIns="0" tIns="0" rIns="0" bIns="0" rtlCol="0" anchor="ctr"/>
          <a:lstStyle/>
          <a:p>
            <a:pPr indent="0" marL="0">
              <a:buNone/>
            </a:pPr>
            <a:r>
              <a:rPr lang="en-US" sz="1300" b="1" dirty="0">
                <a:solidFill>
                  <a:srgbClr val="1B1A19"/>
                </a:solidFill>
                <a:latin typeface="Yu Gothic" pitchFamily="34" charset="0"/>
                <a:ea typeface="Yu Gothic" pitchFamily="34" charset="-122"/>
                <a:cs typeface="Yu Gothic" pitchFamily="34" charset="-120"/>
              </a:rPr>
              <a:t>いま押さえるべき3つの論点</a:t>
            </a:r>
            <a:endParaRPr lang="en-US" sz="1300" dirty="0"/>
          </a:p>
        </p:txBody>
      </p:sp>
      <p:sp>
        <p:nvSpPr>
          <p:cNvPr id="30" name="Shape 28"/>
          <p:cNvSpPr/>
          <p:nvPr/>
        </p:nvSpPr>
        <p:spPr>
          <a:xfrm>
            <a:off x="457200" y="4681728"/>
            <a:ext cx="3611880" cy="1371600"/>
          </a:xfrm>
          <a:prstGeom prst="rect">
            <a:avLst/>
          </a:prstGeom>
          <a:solidFill>
            <a:srgbClr val="FFFFFF"/>
          </a:solidFill>
          <a:ln w="9525">
            <a:solidFill>
              <a:srgbClr val="DCD7D2"/>
            </a:solidFill>
            <a:prstDash val="solid"/>
          </a:ln>
        </p:spPr>
      </p:sp>
      <p:sp>
        <p:nvSpPr>
          <p:cNvPr id="31" name="Text 29"/>
          <p:cNvSpPr/>
          <p:nvPr/>
        </p:nvSpPr>
        <p:spPr>
          <a:xfrm>
            <a:off x="603504" y="4791456"/>
            <a:ext cx="365760" cy="274320"/>
          </a:xfrm>
          <a:prstGeom prst="rect">
            <a:avLst/>
          </a:prstGeom>
          <a:noFill/>
          <a:ln/>
        </p:spPr>
        <p:txBody>
          <a:bodyPr wrap="square" lIns="0" tIns="0" rIns="0" bIns="0" rtlCol="0" anchor="ctr"/>
          <a:lstStyle/>
          <a:p>
            <a:pPr indent="0" marL="0">
              <a:buNone/>
            </a:pPr>
            <a:r>
              <a:rPr lang="en-US" sz="1200" b="1" dirty="0">
                <a:solidFill>
                  <a:srgbClr val="8C2740"/>
                </a:solidFill>
                <a:latin typeface="Arial" pitchFamily="34" charset="0"/>
                <a:ea typeface="Arial" pitchFamily="34" charset="-122"/>
                <a:cs typeface="Arial" pitchFamily="34" charset="-120"/>
              </a:rPr>
              <a:t>1</a:t>
            </a:r>
            <a:endParaRPr lang="en-US" sz="1200" dirty="0"/>
          </a:p>
        </p:txBody>
      </p:sp>
      <p:sp>
        <p:nvSpPr>
          <p:cNvPr id="32" name="Text 30"/>
          <p:cNvSpPr/>
          <p:nvPr/>
        </p:nvSpPr>
        <p:spPr>
          <a:xfrm>
            <a:off x="914400" y="4791456"/>
            <a:ext cx="3008376" cy="274320"/>
          </a:xfrm>
          <a:prstGeom prst="rect">
            <a:avLst/>
          </a:prstGeom>
          <a:noFill/>
          <a:ln/>
        </p:spPr>
        <p:txBody>
          <a:bodyPr wrap="square" lIns="0" tIns="0" rIns="0" bIns="0" rtlCol="0" anchor="ctr"/>
          <a:lstStyle/>
          <a:p>
            <a:pPr indent="0" marL="0">
              <a:buNone/>
            </a:pPr>
            <a:r>
              <a:rPr lang="en-US" sz="1150" b="1" dirty="0">
                <a:solidFill>
                  <a:srgbClr val="1B1A19"/>
                </a:solidFill>
                <a:latin typeface="Yu Gothic" pitchFamily="34" charset="0"/>
                <a:ea typeface="Yu Gothic" pitchFamily="34" charset="-122"/>
                <a:cs typeface="Yu Gothic" pitchFamily="34" charset="-120"/>
              </a:rPr>
              <a:t>承認を先行させる</a:t>
            </a:r>
            <a:endParaRPr lang="en-US" sz="1150" dirty="0"/>
          </a:p>
        </p:txBody>
      </p:sp>
      <p:sp>
        <p:nvSpPr>
          <p:cNvPr id="33" name="Text 31"/>
          <p:cNvSpPr/>
          <p:nvPr/>
        </p:nvSpPr>
        <p:spPr>
          <a:xfrm>
            <a:off x="603504" y="5102352"/>
            <a:ext cx="3319272" cy="841248"/>
          </a:xfrm>
          <a:prstGeom prst="rect">
            <a:avLst/>
          </a:prstGeom>
          <a:noFill/>
          <a:ln/>
        </p:spPr>
        <p:txBody>
          <a:bodyPr wrap="square" lIns="0" tIns="0" rIns="0" bIns="0" rtlCol="0" anchor="t"/>
          <a:lstStyle/>
          <a:p>
            <a:pPr indent="0" marL="0">
              <a:buNone/>
            </a:pPr>
            <a:r>
              <a:rPr lang="en-US" sz="950" dirty="0">
                <a:solidFill>
                  <a:srgbClr val="6E6866"/>
                </a:solidFill>
                <a:latin typeface="Yu Gothic" pitchFamily="34" charset="0"/>
                <a:ea typeface="Yu Gothic" pitchFamily="34" charset="-122"/>
                <a:cs typeface="Yu Gothic" pitchFamily="34" charset="-120"/>
              </a:rPr>
              <a:t>デザインクライテリアの事前協議を基本設計段階（10〜11月）から開始し、工事等承認は2/14までに取得。</a:t>
            </a:r>
            <a:endParaRPr lang="en-US" sz="950" dirty="0"/>
          </a:p>
        </p:txBody>
      </p:sp>
      <p:sp>
        <p:nvSpPr>
          <p:cNvPr id="34" name="Shape 32"/>
          <p:cNvSpPr/>
          <p:nvPr/>
        </p:nvSpPr>
        <p:spPr>
          <a:xfrm>
            <a:off x="4288536" y="4681728"/>
            <a:ext cx="3611880" cy="1371600"/>
          </a:xfrm>
          <a:prstGeom prst="rect">
            <a:avLst/>
          </a:prstGeom>
          <a:solidFill>
            <a:srgbClr val="FFFFFF"/>
          </a:solidFill>
          <a:ln w="9525">
            <a:solidFill>
              <a:srgbClr val="DCD7D2"/>
            </a:solidFill>
            <a:prstDash val="solid"/>
          </a:ln>
        </p:spPr>
      </p:sp>
      <p:sp>
        <p:nvSpPr>
          <p:cNvPr id="35" name="Text 33"/>
          <p:cNvSpPr/>
          <p:nvPr/>
        </p:nvSpPr>
        <p:spPr>
          <a:xfrm>
            <a:off x="4434840" y="4791456"/>
            <a:ext cx="365760" cy="274320"/>
          </a:xfrm>
          <a:prstGeom prst="rect">
            <a:avLst/>
          </a:prstGeom>
          <a:noFill/>
          <a:ln/>
        </p:spPr>
        <p:txBody>
          <a:bodyPr wrap="square" lIns="0" tIns="0" rIns="0" bIns="0" rtlCol="0" anchor="ctr"/>
          <a:lstStyle/>
          <a:p>
            <a:pPr indent="0" marL="0">
              <a:buNone/>
            </a:pPr>
            <a:r>
              <a:rPr lang="en-US" sz="1200" b="1" dirty="0">
                <a:solidFill>
                  <a:srgbClr val="8C2740"/>
                </a:solidFill>
                <a:latin typeface="Arial" pitchFamily="34" charset="0"/>
                <a:ea typeface="Arial" pitchFamily="34" charset="-122"/>
                <a:cs typeface="Arial" pitchFamily="34" charset="-120"/>
              </a:rPr>
              <a:t>2</a:t>
            </a:r>
            <a:endParaRPr lang="en-US" sz="1200" dirty="0"/>
          </a:p>
        </p:txBody>
      </p:sp>
      <p:sp>
        <p:nvSpPr>
          <p:cNvPr id="36" name="Text 34"/>
          <p:cNvSpPr/>
          <p:nvPr/>
        </p:nvSpPr>
        <p:spPr>
          <a:xfrm>
            <a:off x="4745736" y="4791456"/>
            <a:ext cx="3008376" cy="274320"/>
          </a:xfrm>
          <a:prstGeom prst="rect">
            <a:avLst/>
          </a:prstGeom>
          <a:noFill/>
          <a:ln/>
        </p:spPr>
        <p:txBody>
          <a:bodyPr wrap="square" lIns="0" tIns="0" rIns="0" bIns="0" rtlCol="0" anchor="ctr"/>
          <a:lstStyle/>
          <a:p>
            <a:pPr indent="0" marL="0">
              <a:buNone/>
            </a:pPr>
            <a:r>
              <a:rPr lang="en-US" sz="1150" b="1" dirty="0">
                <a:solidFill>
                  <a:srgbClr val="1B1A19"/>
                </a:solidFill>
                <a:latin typeface="Yu Gothic" pitchFamily="34" charset="0"/>
                <a:ea typeface="Yu Gothic" pitchFamily="34" charset="-122"/>
                <a:cs typeface="Yu Gothic" pitchFamily="34" charset="-120"/>
              </a:rPr>
              <a:t>負担区分を発注前に固める</a:t>
            </a:r>
            <a:endParaRPr lang="en-US" sz="1150" dirty="0"/>
          </a:p>
        </p:txBody>
      </p:sp>
      <p:sp>
        <p:nvSpPr>
          <p:cNvPr id="37" name="Text 35"/>
          <p:cNvSpPr/>
          <p:nvPr/>
        </p:nvSpPr>
        <p:spPr>
          <a:xfrm>
            <a:off x="4434840" y="5102352"/>
            <a:ext cx="3319272" cy="841248"/>
          </a:xfrm>
          <a:prstGeom prst="rect">
            <a:avLst/>
          </a:prstGeom>
          <a:noFill/>
          <a:ln/>
        </p:spPr>
        <p:txBody>
          <a:bodyPr wrap="square" lIns="0" tIns="0" rIns="0" bIns="0" rtlCol="0" anchor="t"/>
          <a:lstStyle/>
          <a:p>
            <a:pPr indent="0" marL="0">
              <a:buNone/>
            </a:pPr>
            <a:r>
              <a:rPr lang="en-US" sz="950" dirty="0">
                <a:solidFill>
                  <a:srgbClr val="6E6866"/>
                </a:solidFill>
                <a:latin typeface="Yu Gothic" pitchFamily="34" charset="0"/>
                <a:ea typeface="Yu Gothic" pitchFamily="34" charset="-122"/>
                <a:cs typeface="Yu Gothic" pitchFamily="34" charset="-120"/>
              </a:rPr>
              <a:t>賃貸人負担1億円の内訳は覚書待ち。厨房機器・什器・備品は対象外のため自社負担額を2月上旬までに確定。</a:t>
            </a:r>
            <a:endParaRPr lang="en-US" sz="950" dirty="0"/>
          </a:p>
        </p:txBody>
      </p:sp>
      <p:sp>
        <p:nvSpPr>
          <p:cNvPr id="38" name="Shape 36"/>
          <p:cNvSpPr/>
          <p:nvPr/>
        </p:nvSpPr>
        <p:spPr>
          <a:xfrm>
            <a:off x="8119872" y="4681728"/>
            <a:ext cx="3611880" cy="1371600"/>
          </a:xfrm>
          <a:prstGeom prst="rect">
            <a:avLst/>
          </a:prstGeom>
          <a:solidFill>
            <a:srgbClr val="FFFFFF"/>
          </a:solidFill>
          <a:ln w="9525">
            <a:solidFill>
              <a:srgbClr val="DCD7D2"/>
            </a:solidFill>
            <a:prstDash val="solid"/>
          </a:ln>
        </p:spPr>
      </p:sp>
      <p:sp>
        <p:nvSpPr>
          <p:cNvPr id="39" name="Text 37"/>
          <p:cNvSpPr/>
          <p:nvPr/>
        </p:nvSpPr>
        <p:spPr>
          <a:xfrm>
            <a:off x="8266176" y="4791456"/>
            <a:ext cx="365760" cy="274320"/>
          </a:xfrm>
          <a:prstGeom prst="rect">
            <a:avLst/>
          </a:prstGeom>
          <a:noFill/>
          <a:ln/>
        </p:spPr>
        <p:txBody>
          <a:bodyPr wrap="square" lIns="0" tIns="0" rIns="0" bIns="0" rtlCol="0" anchor="ctr"/>
          <a:lstStyle/>
          <a:p>
            <a:pPr indent="0" marL="0">
              <a:buNone/>
            </a:pPr>
            <a:r>
              <a:rPr lang="en-US" sz="1200" b="1" dirty="0">
                <a:solidFill>
                  <a:srgbClr val="8C2740"/>
                </a:solidFill>
                <a:latin typeface="Arial" pitchFamily="34" charset="0"/>
                <a:ea typeface="Arial" pitchFamily="34" charset="-122"/>
                <a:cs typeface="Arial" pitchFamily="34" charset="-120"/>
              </a:rPr>
              <a:t>3</a:t>
            </a:r>
            <a:endParaRPr lang="en-US" sz="1200" dirty="0"/>
          </a:p>
        </p:txBody>
      </p:sp>
      <p:sp>
        <p:nvSpPr>
          <p:cNvPr id="40" name="Text 38"/>
          <p:cNvSpPr/>
          <p:nvPr/>
        </p:nvSpPr>
        <p:spPr>
          <a:xfrm>
            <a:off x="8577072" y="4791456"/>
            <a:ext cx="3008376" cy="274320"/>
          </a:xfrm>
          <a:prstGeom prst="rect">
            <a:avLst/>
          </a:prstGeom>
          <a:noFill/>
          <a:ln/>
        </p:spPr>
        <p:txBody>
          <a:bodyPr wrap="square" lIns="0" tIns="0" rIns="0" bIns="0" rtlCol="0" anchor="ctr"/>
          <a:lstStyle/>
          <a:p>
            <a:pPr indent="0" marL="0">
              <a:buNone/>
            </a:pPr>
            <a:r>
              <a:rPr lang="en-US" sz="1150" b="1" dirty="0">
                <a:solidFill>
                  <a:srgbClr val="1B1A19"/>
                </a:solidFill>
                <a:latin typeface="Yu Gothic" pitchFamily="34" charset="0"/>
                <a:ea typeface="Yu Gothic" pitchFamily="34" charset="-122"/>
                <a:cs typeface="Yu Gothic" pitchFamily="34" charset="-120"/>
              </a:rPr>
              <a:t>トレーニングをバッファにしない</a:t>
            </a:r>
            <a:endParaRPr lang="en-US" sz="1150" dirty="0"/>
          </a:p>
        </p:txBody>
      </p:sp>
      <p:sp>
        <p:nvSpPr>
          <p:cNvPr id="41" name="Text 39"/>
          <p:cNvSpPr/>
          <p:nvPr/>
        </p:nvSpPr>
        <p:spPr>
          <a:xfrm>
            <a:off x="8266176" y="5102352"/>
            <a:ext cx="3319272" cy="841248"/>
          </a:xfrm>
          <a:prstGeom prst="rect">
            <a:avLst/>
          </a:prstGeom>
          <a:noFill/>
          <a:ln/>
        </p:spPr>
        <p:txBody>
          <a:bodyPr wrap="square" lIns="0" tIns="0" rIns="0" bIns="0" rtlCol="0" anchor="t"/>
          <a:lstStyle/>
          <a:p>
            <a:pPr indent="0" marL="0">
              <a:buNone/>
            </a:pPr>
            <a:r>
              <a:rPr lang="en-US" sz="950" dirty="0">
                <a:solidFill>
                  <a:srgbClr val="6E6866"/>
                </a:solidFill>
                <a:latin typeface="Yu Gothic" pitchFamily="34" charset="0"/>
                <a:ea typeface="Yu Gothic" pitchFamily="34" charset="-122"/>
                <a:cs typeface="Yu Gothic" pitchFamily="34" charset="-120"/>
              </a:rPr>
              <a:t>4/16〜4/28は訓練期間。工事完成を4/10目標で管理し、是正の予備日を5日確保する。</a:t>
            </a:r>
            <a:endParaRPr lang="en-US" sz="950" dirty="0"/>
          </a:p>
        </p:txBody>
      </p:sp>
      <p:sp>
        <p:nvSpPr>
          <p:cNvPr id="42" name="Text 40"/>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出典：営業と出店に関する契約書（定期建物賃貸借契約書）（案）契約番号 90238-2047-000／賃貸人 三井不動産株式会社・賃借人 株式会社WineBank</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2026年8月 – 2027年5月</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全体工程</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5つの領域を並走させ、引渡（2/15）で工事に合流させる。ひし形は契約書で確定した動かせない期日。</a:t>
            </a:r>
            <a:endParaRPr lang="en-US" sz="1050" dirty="0"/>
          </a:p>
        </p:txBody>
      </p:sp>
      <p:sp>
        <p:nvSpPr>
          <p:cNvPr id="5" name="Shape 3"/>
          <p:cNvSpPr/>
          <p:nvPr/>
        </p:nvSpPr>
        <p:spPr>
          <a:xfrm>
            <a:off x="2743200" y="1417320"/>
            <a:ext cx="0" cy="4251960"/>
          </a:xfrm>
          <a:prstGeom prst="line">
            <a:avLst/>
          </a:prstGeom>
          <a:noFill/>
          <a:ln w="9525">
            <a:solidFill>
              <a:srgbClr val="DCD7D2"/>
            </a:solidFill>
            <a:prstDash val="solid"/>
          </a:ln>
        </p:spPr>
      </p:sp>
      <p:sp>
        <p:nvSpPr>
          <p:cNvPr id="6" name="Text 4"/>
          <p:cNvSpPr/>
          <p:nvPr/>
        </p:nvSpPr>
        <p:spPr>
          <a:xfrm>
            <a:off x="2779776" y="1435608"/>
            <a:ext cx="86475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8月</a:t>
            </a:r>
            <a:endParaRPr lang="en-US" sz="900" dirty="0"/>
          </a:p>
        </p:txBody>
      </p:sp>
      <p:sp>
        <p:nvSpPr>
          <p:cNvPr id="7" name="Text 5"/>
          <p:cNvSpPr/>
          <p:nvPr/>
        </p:nvSpPr>
        <p:spPr>
          <a:xfrm>
            <a:off x="2779776" y="1581912"/>
            <a:ext cx="864757"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2026</a:t>
            </a:r>
            <a:endParaRPr lang="en-US" sz="700" dirty="0"/>
          </a:p>
        </p:txBody>
      </p:sp>
      <p:sp>
        <p:nvSpPr>
          <p:cNvPr id="8" name="Shape 6"/>
          <p:cNvSpPr/>
          <p:nvPr/>
        </p:nvSpPr>
        <p:spPr>
          <a:xfrm>
            <a:off x="3662821" y="1417320"/>
            <a:ext cx="0" cy="4251960"/>
          </a:xfrm>
          <a:prstGeom prst="line">
            <a:avLst/>
          </a:prstGeom>
          <a:noFill/>
          <a:ln w="9525">
            <a:solidFill>
              <a:srgbClr val="DCD7D2"/>
            </a:solidFill>
            <a:prstDash val="solid"/>
          </a:ln>
        </p:spPr>
      </p:sp>
      <p:sp>
        <p:nvSpPr>
          <p:cNvPr id="9" name="Text 7"/>
          <p:cNvSpPr/>
          <p:nvPr/>
        </p:nvSpPr>
        <p:spPr>
          <a:xfrm>
            <a:off x="3699397" y="1435608"/>
            <a:ext cx="835092"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9月</a:t>
            </a:r>
            <a:endParaRPr lang="en-US" sz="900" dirty="0"/>
          </a:p>
        </p:txBody>
      </p:sp>
      <p:sp>
        <p:nvSpPr>
          <p:cNvPr id="10" name="Shape 8"/>
          <p:cNvSpPr/>
          <p:nvPr/>
        </p:nvSpPr>
        <p:spPr>
          <a:xfrm>
            <a:off x="4552776" y="1417320"/>
            <a:ext cx="0" cy="4251960"/>
          </a:xfrm>
          <a:prstGeom prst="line">
            <a:avLst/>
          </a:prstGeom>
          <a:noFill/>
          <a:ln w="9525">
            <a:solidFill>
              <a:srgbClr val="DCD7D2"/>
            </a:solidFill>
            <a:prstDash val="solid"/>
          </a:ln>
        </p:spPr>
      </p:sp>
      <p:sp>
        <p:nvSpPr>
          <p:cNvPr id="11" name="Text 9"/>
          <p:cNvSpPr/>
          <p:nvPr/>
        </p:nvSpPr>
        <p:spPr>
          <a:xfrm>
            <a:off x="4589352" y="1435608"/>
            <a:ext cx="86475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10月</a:t>
            </a:r>
            <a:endParaRPr lang="en-US" sz="900" dirty="0"/>
          </a:p>
        </p:txBody>
      </p:sp>
      <p:sp>
        <p:nvSpPr>
          <p:cNvPr id="12" name="Shape 10"/>
          <p:cNvSpPr/>
          <p:nvPr/>
        </p:nvSpPr>
        <p:spPr>
          <a:xfrm>
            <a:off x="5472397" y="1417320"/>
            <a:ext cx="0" cy="4251960"/>
          </a:xfrm>
          <a:prstGeom prst="line">
            <a:avLst/>
          </a:prstGeom>
          <a:noFill/>
          <a:ln w="9525">
            <a:solidFill>
              <a:srgbClr val="DCD7D2"/>
            </a:solidFill>
            <a:prstDash val="solid"/>
          </a:ln>
        </p:spPr>
      </p:sp>
      <p:sp>
        <p:nvSpPr>
          <p:cNvPr id="13" name="Text 11"/>
          <p:cNvSpPr/>
          <p:nvPr/>
        </p:nvSpPr>
        <p:spPr>
          <a:xfrm>
            <a:off x="5508973" y="1435608"/>
            <a:ext cx="835092"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11月</a:t>
            </a:r>
            <a:endParaRPr lang="en-US" sz="900" dirty="0"/>
          </a:p>
        </p:txBody>
      </p:sp>
      <p:sp>
        <p:nvSpPr>
          <p:cNvPr id="14" name="Shape 12"/>
          <p:cNvSpPr/>
          <p:nvPr/>
        </p:nvSpPr>
        <p:spPr>
          <a:xfrm>
            <a:off x="6362353" y="1417320"/>
            <a:ext cx="0" cy="4251960"/>
          </a:xfrm>
          <a:prstGeom prst="line">
            <a:avLst/>
          </a:prstGeom>
          <a:noFill/>
          <a:ln w="9525">
            <a:solidFill>
              <a:srgbClr val="DCD7D2"/>
            </a:solidFill>
            <a:prstDash val="solid"/>
          </a:ln>
        </p:spPr>
      </p:sp>
      <p:sp>
        <p:nvSpPr>
          <p:cNvPr id="15" name="Text 13"/>
          <p:cNvSpPr/>
          <p:nvPr/>
        </p:nvSpPr>
        <p:spPr>
          <a:xfrm>
            <a:off x="6398929" y="1435608"/>
            <a:ext cx="86475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12月</a:t>
            </a:r>
            <a:endParaRPr lang="en-US" sz="900" dirty="0"/>
          </a:p>
        </p:txBody>
      </p:sp>
      <p:sp>
        <p:nvSpPr>
          <p:cNvPr id="16" name="Shape 14"/>
          <p:cNvSpPr/>
          <p:nvPr/>
        </p:nvSpPr>
        <p:spPr>
          <a:xfrm>
            <a:off x="7281974" y="1417320"/>
            <a:ext cx="0" cy="4251960"/>
          </a:xfrm>
          <a:prstGeom prst="line">
            <a:avLst/>
          </a:prstGeom>
          <a:noFill/>
          <a:ln w="12700">
            <a:solidFill>
              <a:srgbClr val="6E6866"/>
            </a:solidFill>
            <a:prstDash val="solid"/>
          </a:ln>
        </p:spPr>
      </p:sp>
      <p:sp>
        <p:nvSpPr>
          <p:cNvPr id="17" name="Text 15"/>
          <p:cNvSpPr/>
          <p:nvPr/>
        </p:nvSpPr>
        <p:spPr>
          <a:xfrm>
            <a:off x="7318550" y="1435608"/>
            <a:ext cx="86475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1月</a:t>
            </a:r>
            <a:endParaRPr lang="en-US" sz="900" dirty="0"/>
          </a:p>
        </p:txBody>
      </p:sp>
      <p:sp>
        <p:nvSpPr>
          <p:cNvPr id="18" name="Text 16"/>
          <p:cNvSpPr/>
          <p:nvPr/>
        </p:nvSpPr>
        <p:spPr>
          <a:xfrm>
            <a:off x="7318550" y="1581912"/>
            <a:ext cx="864757"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2027</a:t>
            </a:r>
            <a:endParaRPr lang="en-US" sz="700" dirty="0"/>
          </a:p>
        </p:txBody>
      </p:sp>
      <p:sp>
        <p:nvSpPr>
          <p:cNvPr id="19" name="Shape 17"/>
          <p:cNvSpPr/>
          <p:nvPr/>
        </p:nvSpPr>
        <p:spPr>
          <a:xfrm>
            <a:off x="8201595" y="1417320"/>
            <a:ext cx="0" cy="4251960"/>
          </a:xfrm>
          <a:prstGeom prst="line">
            <a:avLst/>
          </a:prstGeom>
          <a:noFill/>
          <a:ln w="9525">
            <a:solidFill>
              <a:srgbClr val="DCD7D2"/>
            </a:solidFill>
            <a:prstDash val="solid"/>
          </a:ln>
        </p:spPr>
      </p:sp>
      <p:sp>
        <p:nvSpPr>
          <p:cNvPr id="20" name="Text 18"/>
          <p:cNvSpPr/>
          <p:nvPr/>
        </p:nvSpPr>
        <p:spPr>
          <a:xfrm>
            <a:off x="8238171" y="1435608"/>
            <a:ext cx="775761"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2月</a:t>
            </a:r>
            <a:endParaRPr lang="en-US" sz="900" dirty="0"/>
          </a:p>
        </p:txBody>
      </p:sp>
      <p:sp>
        <p:nvSpPr>
          <p:cNvPr id="21" name="Shape 19"/>
          <p:cNvSpPr/>
          <p:nvPr/>
        </p:nvSpPr>
        <p:spPr>
          <a:xfrm>
            <a:off x="9032220" y="1417320"/>
            <a:ext cx="0" cy="4251960"/>
          </a:xfrm>
          <a:prstGeom prst="line">
            <a:avLst/>
          </a:prstGeom>
          <a:noFill/>
          <a:ln w="9525">
            <a:solidFill>
              <a:srgbClr val="DCD7D2"/>
            </a:solidFill>
            <a:prstDash val="solid"/>
          </a:ln>
        </p:spPr>
      </p:sp>
      <p:sp>
        <p:nvSpPr>
          <p:cNvPr id="22" name="Text 20"/>
          <p:cNvSpPr/>
          <p:nvPr/>
        </p:nvSpPr>
        <p:spPr>
          <a:xfrm>
            <a:off x="9068796" y="1435608"/>
            <a:ext cx="86475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3月</a:t>
            </a:r>
            <a:endParaRPr lang="en-US" sz="900" dirty="0"/>
          </a:p>
        </p:txBody>
      </p:sp>
      <p:sp>
        <p:nvSpPr>
          <p:cNvPr id="23" name="Shape 21"/>
          <p:cNvSpPr/>
          <p:nvPr/>
        </p:nvSpPr>
        <p:spPr>
          <a:xfrm>
            <a:off x="9951841" y="1417320"/>
            <a:ext cx="0" cy="4251960"/>
          </a:xfrm>
          <a:prstGeom prst="line">
            <a:avLst/>
          </a:prstGeom>
          <a:noFill/>
          <a:ln w="9525">
            <a:solidFill>
              <a:srgbClr val="DCD7D2"/>
            </a:solidFill>
            <a:prstDash val="solid"/>
          </a:ln>
        </p:spPr>
      </p:sp>
      <p:sp>
        <p:nvSpPr>
          <p:cNvPr id="24" name="Text 22"/>
          <p:cNvSpPr/>
          <p:nvPr/>
        </p:nvSpPr>
        <p:spPr>
          <a:xfrm>
            <a:off x="9988417" y="1435608"/>
            <a:ext cx="835092"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4月</a:t>
            </a:r>
            <a:endParaRPr lang="en-US" sz="900" dirty="0"/>
          </a:p>
        </p:txBody>
      </p:sp>
      <p:sp>
        <p:nvSpPr>
          <p:cNvPr id="25" name="Shape 23"/>
          <p:cNvSpPr/>
          <p:nvPr/>
        </p:nvSpPr>
        <p:spPr>
          <a:xfrm>
            <a:off x="10841796" y="1417320"/>
            <a:ext cx="0" cy="4251960"/>
          </a:xfrm>
          <a:prstGeom prst="line">
            <a:avLst/>
          </a:prstGeom>
          <a:noFill/>
          <a:ln w="9525">
            <a:solidFill>
              <a:srgbClr val="DCD7D2"/>
            </a:solidFill>
            <a:prstDash val="solid"/>
          </a:ln>
        </p:spPr>
      </p:sp>
      <p:sp>
        <p:nvSpPr>
          <p:cNvPr id="26" name="Text 24"/>
          <p:cNvSpPr/>
          <p:nvPr/>
        </p:nvSpPr>
        <p:spPr>
          <a:xfrm>
            <a:off x="10878372" y="1435608"/>
            <a:ext cx="835092"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5月</a:t>
            </a:r>
            <a:endParaRPr lang="en-US" sz="900" dirty="0"/>
          </a:p>
        </p:txBody>
      </p:sp>
      <p:sp>
        <p:nvSpPr>
          <p:cNvPr id="27" name="Shape 25"/>
          <p:cNvSpPr/>
          <p:nvPr/>
        </p:nvSpPr>
        <p:spPr>
          <a:xfrm>
            <a:off x="457200" y="1728216"/>
            <a:ext cx="11274552" cy="0"/>
          </a:xfrm>
          <a:prstGeom prst="line">
            <a:avLst/>
          </a:prstGeom>
          <a:noFill/>
          <a:ln w="9525">
            <a:solidFill>
              <a:srgbClr val="6E6866"/>
            </a:solidFill>
            <a:prstDash val="solid"/>
          </a:ln>
        </p:spPr>
      </p:sp>
      <p:sp>
        <p:nvSpPr>
          <p:cNvPr id="28" name="Shape 26"/>
          <p:cNvSpPr/>
          <p:nvPr/>
        </p:nvSpPr>
        <p:spPr>
          <a:xfrm>
            <a:off x="2743200" y="1417320"/>
            <a:ext cx="0" cy="4251960"/>
          </a:xfrm>
          <a:prstGeom prst="line">
            <a:avLst/>
          </a:prstGeom>
          <a:noFill/>
          <a:ln w="9525">
            <a:solidFill>
              <a:srgbClr val="6E6866"/>
            </a:solidFill>
            <a:prstDash val="solid"/>
          </a:ln>
        </p:spPr>
      </p:sp>
      <p:sp>
        <p:nvSpPr>
          <p:cNvPr id="29" name="Shape 27"/>
          <p:cNvSpPr/>
          <p:nvPr/>
        </p:nvSpPr>
        <p:spPr>
          <a:xfrm>
            <a:off x="11731752" y="1417320"/>
            <a:ext cx="0" cy="4251960"/>
          </a:xfrm>
          <a:prstGeom prst="line">
            <a:avLst/>
          </a:prstGeom>
          <a:noFill/>
          <a:ln w="9525">
            <a:solidFill>
              <a:srgbClr val="6E6866"/>
            </a:solidFill>
            <a:prstDash val="solid"/>
          </a:ln>
        </p:spPr>
      </p:sp>
      <p:sp>
        <p:nvSpPr>
          <p:cNvPr id="30" name="Shape 28"/>
          <p:cNvSpPr/>
          <p:nvPr/>
        </p:nvSpPr>
        <p:spPr>
          <a:xfrm>
            <a:off x="457200" y="1728216"/>
            <a:ext cx="11274552" cy="303159"/>
          </a:xfrm>
          <a:prstGeom prst="rect">
            <a:avLst/>
          </a:prstGeom>
          <a:solidFill>
            <a:srgbClr val="F5F3F1"/>
          </a:solidFill>
          <a:ln w="12700">
            <a:solidFill>
              <a:srgbClr val="F5F3F1"/>
            </a:solidFill>
            <a:prstDash val="solid"/>
          </a:ln>
        </p:spPr>
      </p:sp>
      <p:sp>
        <p:nvSpPr>
          <p:cNvPr id="31" name="Shape 29"/>
          <p:cNvSpPr/>
          <p:nvPr/>
        </p:nvSpPr>
        <p:spPr>
          <a:xfrm>
            <a:off x="530352" y="1838647"/>
            <a:ext cx="82296" cy="82296"/>
          </a:xfrm>
          <a:prstGeom prst="rect">
            <a:avLst/>
          </a:prstGeom>
          <a:solidFill>
            <a:srgbClr val="1B1A19"/>
          </a:solidFill>
          <a:ln w="12700">
            <a:solidFill>
              <a:srgbClr val="1B1A19"/>
            </a:solidFill>
            <a:prstDash val="solid"/>
          </a:ln>
        </p:spPr>
      </p:sp>
      <p:sp>
        <p:nvSpPr>
          <p:cNvPr id="32" name="Text 30"/>
          <p:cNvSpPr/>
          <p:nvPr/>
        </p:nvSpPr>
        <p:spPr>
          <a:xfrm>
            <a:off x="676656" y="1728216"/>
            <a:ext cx="2011680" cy="303159"/>
          </a:xfrm>
          <a:prstGeom prst="rect">
            <a:avLst/>
          </a:prstGeom>
          <a:noFill/>
          <a:ln/>
        </p:spPr>
        <p:txBody>
          <a:bodyPr wrap="square" lIns="0" tIns="0" rIns="0" bIns="0" rtlCol="0" anchor="ctr"/>
          <a:lstStyle/>
          <a:p>
            <a:pPr indent="0" marL="0">
              <a:buNone/>
            </a:pPr>
            <a:r>
              <a:rPr lang="en-US" sz="1050" b="1" dirty="0">
                <a:solidFill>
                  <a:srgbClr val="1B1A19"/>
                </a:solidFill>
                <a:latin typeface="Yu Gothic" pitchFamily="34" charset="0"/>
                <a:ea typeface="Yu Gothic" pitchFamily="34" charset="-122"/>
                <a:cs typeface="Yu Gothic" pitchFamily="34" charset="-120"/>
              </a:rPr>
              <a:t>領域</a:t>
            </a:r>
            <a:endParaRPr lang="en-US" sz="1050" dirty="0"/>
          </a:p>
        </p:txBody>
      </p:sp>
      <p:sp>
        <p:nvSpPr>
          <p:cNvPr id="33" name="Text 31"/>
          <p:cNvSpPr/>
          <p:nvPr/>
        </p:nvSpPr>
        <p:spPr>
          <a:xfrm>
            <a:off x="548640" y="2031375"/>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契約・法務</a:t>
            </a:r>
            <a:endParaRPr lang="en-US" sz="1000" dirty="0"/>
          </a:p>
        </p:txBody>
      </p:sp>
      <p:sp>
        <p:nvSpPr>
          <p:cNvPr id="34" name="Shape 32"/>
          <p:cNvSpPr/>
          <p:nvPr/>
        </p:nvSpPr>
        <p:spPr>
          <a:xfrm>
            <a:off x="2743200" y="2114374"/>
            <a:ext cx="8068931" cy="137160"/>
          </a:xfrm>
          <a:prstGeom prst="roundRect">
            <a:avLst>
              <a:gd name="adj" fmla="val 13333"/>
            </a:avLst>
          </a:prstGeom>
          <a:solidFill>
            <a:srgbClr val="2C4A6E"/>
          </a:solidFill>
          <a:ln w="12700">
            <a:solidFill>
              <a:srgbClr val="2C4A6E"/>
            </a:solidFill>
            <a:prstDash val="solid"/>
          </a:ln>
        </p:spPr>
      </p:sp>
      <p:sp>
        <p:nvSpPr>
          <p:cNvPr id="35" name="Shape 33"/>
          <p:cNvSpPr/>
          <p:nvPr/>
        </p:nvSpPr>
        <p:spPr>
          <a:xfrm>
            <a:off x="2711196" y="2082370"/>
            <a:ext cx="8132939" cy="201168"/>
          </a:xfrm>
          <a:prstGeom prst="roundRect">
            <a:avLst>
              <a:gd name="adj" fmla="val 9091"/>
            </a:avLst>
          </a:prstGeom>
          <a:solidFill>
            <a:srgbClr val="FFFFFF">
              <a:alpha val="0"/>
            </a:srgbClr>
          </a:solidFill>
          <a:ln w="12700">
            <a:solidFill>
              <a:srgbClr val="2C4A6E"/>
            </a:solidFill>
            <a:prstDash val="solid"/>
          </a:ln>
        </p:spPr>
      </p:sp>
      <p:sp>
        <p:nvSpPr>
          <p:cNvPr id="36" name="Text 34"/>
          <p:cNvSpPr/>
          <p:nvPr/>
        </p:nvSpPr>
        <p:spPr>
          <a:xfrm>
            <a:off x="2798064" y="2031375"/>
            <a:ext cx="7959203" cy="303159"/>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8/1 – 4/30</a:t>
            </a:r>
            <a:endParaRPr lang="en-US" sz="850" dirty="0"/>
          </a:p>
        </p:txBody>
      </p:sp>
      <p:sp>
        <p:nvSpPr>
          <p:cNvPr id="37" name="Text 35"/>
          <p:cNvSpPr/>
          <p:nvPr/>
        </p:nvSpPr>
        <p:spPr>
          <a:xfrm>
            <a:off x="548640" y="2334534"/>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設計</a:t>
            </a:r>
            <a:endParaRPr lang="en-US" sz="1000" dirty="0"/>
          </a:p>
        </p:txBody>
      </p:sp>
      <p:sp>
        <p:nvSpPr>
          <p:cNvPr id="38" name="Shape 36"/>
          <p:cNvSpPr/>
          <p:nvPr/>
        </p:nvSpPr>
        <p:spPr>
          <a:xfrm>
            <a:off x="2743200" y="2417533"/>
            <a:ext cx="5844042" cy="137160"/>
          </a:xfrm>
          <a:prstGeom prst="roundRect">
            <a:avLst>
              <a:gd name="adj" fmla="val 13333"/>
            </a:avLst>
          </a:prstGeom>
          <a:solidFill>
            <a:srgbClr val="9C6E28"/>
          </a:solidFill>
          <a:ln w="12700">
            <a:solidFill>
              <a:srgbClr val="9C6E28"/>
            </a:solidFill>
            <a:prstDash val="solid"/>
          </a:ln>
        </p:spPr>
      </p:sp>
      <p:sp>
        <p:nvSpPr>
          <p:cNvPr id="39" name="Shape 37"/>
          <p:cNvSpPr/>
          <p:nvPr/>
        </p:nvSpPr>
        <p:spPr>
          <a:xfrm>
            <a:off x="2711196" y="2385529"/>
            <a:ext cx="5908050" cy="201168"/>
          </a:xfrm>
          <a:prstGeom prst="roundRect">
            <a:avLst>
              <a:gd name="adj" fmla="val 9091"/>
            </a:avLst>
          </a:prstGeom>
          <a:solidFill>
            <a:srgbClr val="FFFFFF">
              <a:alpha val="0"/>
            </a:srgbClr>
          </a:solidFill>
          <a:ln w="12700">
            <a:solidFill>
              <a:srgbClr val="9C6E28"/>
            </a:solidFill>
            <a:prstDash val="solid"/>
          </a:ln>
        </p:spPr>
      </p:sp>
      <p:sp>
        <p:nvSpPr>
          <p:cNvPr id="40" name="Text 38"/>
          <p:cNvSpPr/>
          <p:nvPr/>
        </p:nvSpPr>
        <p:spPr>
          <a:xfrm>
            <a:off x="2798064" y="2334534"/>
            <a:ext cx="5734314" cy="303159"/>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8/1 – 2/14</a:t>
            </a:r>
            <a:endParaRPr lang="en-US" sz="850" dirty="0"/>
          </a:p>
        </p:txBody>
      </p:sp>
      <p:sp>
        <p:nvSpPr>
          <p:cNvPr id="41" name="Text 39"/>
          <p:cNvSpPr/>
          <p:nvPr/>
        </p:nvSpPr>
        <p:spPr>
          <a:xfrm>
            <a:off x="548640" y="2637692"/>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工事</a:t>
            </a:r>
            <a:endParaRPr lang="en-US" sz="1000" dirty="0"/>
          </a:p>
        </p:txBody>
      </p:sp>
      <p:sp>
        <p:nvSpPr>
          <p:cNvPr id="42" name="Shape 40"/>
          <p:cNvSpPr/>
          <p:nvPr/>
        </p:nvSpPr>
        <p:spPr>
          <a:xfrm>
            <a:off x="6362353" y="2720692"/>
            <a:ext cx="4212457" cy="137160"/>
          </a:xfrm>
          <a:prstGeom prst="roundRect">
            <a:avLst>
              <a:gd name="adj" fmla="val 13333"/>
            </a:avLst>
          </a:prstGeom>
          <a:solidFill>
            <a:srgbClr val="8C2740"/>
          </a:solidFill>
          <a:ln w="12700">
            <a:solidFill>
              <a:srgbClr val="8C2740"/>
            </a:solidFill>
            <a:prstDash val="solid"/>
          </a:ln>
        </p:spPr>
      </p:sp>
      <p:sp>
        <p:nvSpPr>
          <p:cNvPr id="43" name="Text 41"/>
          <p:cNvSpPr/>
          <p:nvPr/>
        </p:nvSpPr>
        <p:spPr>
          <a:xfrm>
            <a:off x="6417217" y="2637692"/>
            <a:ext cx="4102729" cy="303159"/>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12/1 – 4/22</a:t>
            </a:r>
            <a:endParaRPr lang="en-US" sz="850" dirty="0"/>
          </a:p>
        </p:txBody>
      </p:sp>
      <p:sp>
        <p:nvSpPr>
          <p:cNvPr id="44" name="Text 42"/>
          <p:cNvSpPr/>
          <p:nvPr/>
        </p:nvSpPr>
        <p:spPr>
          <a:xfrm>
            <a:off x="548640" y="2940851"/>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採用・組織</a:t>
            </a:r>
            <a:endParaRPr lang="en-US" sz="1000" dirty="0"/>
          </a:p>
        </p:txBody>
      </p:sp>
      <p:sp>
        <p:nvSpPr>
          <p:cNvPr id="45" name="Shape 43"/>
          <p:cNvSpPr/>
          <p:nvPr/>
        </p:nvSpPr>
        <p:spPr>
          <a:xfrm>
            <a:off x="2743200" y="3023850"/>
            <a:ext cx="7178976" cy="137160"/>
          </a:xfrm>
          <a:prstGeom prst="roundRect">
            <a:avLst>
              <a:gd name="adj" fmla="val 13333"/>
            </a:avLst>
          </a:prstGeom>
          <a:solidFill>
            <a:srgbClr val="4E6B54"/>
          </a:solidFill>
          <a:ln w="12700">
            <a:solidFill>
              <a:srgbClr val="4E6B54"/>
            </a:solidFill>
            <a:prstDash val="solid"/>
          </a:ln>
        </p:spPr>
      </p:sp>
      <p:sp>
        <p:nvSpPr>
          <p:cNvPr id="46" name="Shape 44"/>
          <p:cNvSpPr/>
          <p:nvPr/>
        </p:nvSpPr>
        <p:spPr>
          <a:xfrm>
            <a:off x="2711196" y="2991846"/>
            <a:ext cx="7242984" cy="201168"/>
          </a:xfrm>
          <a:prstGeom prst="roundRect">
            <a:avLst>
              <a:gd name="adj" fmla="val 9091"/>
            </a:avLst>
          </a:prstGeom>
          <a:solidFill>
            <a:srgbClr val="FFFFFF">
              <a:alpha val="0"/>
            </a:srgbClr>
          </a:solidFill>
          <a:ln w="12700">
            <a:solidFill>
              <a:srgbClr val="4E6B54"/>
            </a:solidFill>
            <a:prstDash val="solid"/>
          </a:ln>
        </p:spPr>
      </p:sp>
      <p:sp>
        <p:nvSpPr>
          <p:cNvPr id="47" name="Text 45"/>
          <p:cNvSpPr/>
          <p:nvPr/>
        </p:nvSpPr>
        <p:spPr>
          <a:xfrm>
            <a:off x="2798064" y="2940851"/>
            <a:ext cx="7069248" cy="303159"/>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8/1 – 3/31</a:t>
            </a:r>
            <a:endParaRPr lang="en-US" sz="850" dirty="0"/>
          </a:p>
        </p:txBody>
      </p:sp>
      <p:sp>
        <p:nvSpPr>
          <p:cNvPr id="48" name="Text 46"/>
          <p:cNvSpPr/>
          <p:nvPr/>
        </p:nvSpPr>
        <p:spPr>
          <a:xfrm>
            <a:off x="548640" y="3244010"/>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開業準備</a:t>
            </a:r>
            <a:endParaRPr lang="en-US" sz="1000" dirty="0"/>
          </a:p>
        </p:txBody>
      </p:sp>
      <p:sp>
        <p:nvSpPr>
          <p:cNvPr id="49" name="Shape 47"/>
          <p:cNvSpPr/>
          <p:nvPr/>
        </p:nvSpPr>
        <p:spPr>
          <a:xfrm>
            <a:off x="5472397" y="3327009"/>
            <a:ext cx="5339734" cy="137160"/>
          </a:xfrm>
          <a:prstGeom prst="roundRect">
            <a:avLst>
              <a:gd name="adj" fmla="val 13333"/>
            </a:avLst>
          </a:prstGeom>
          <a:solidFill>
            <a:srgbClr val="6B4A72"/>
          </a:solidFill>
          <a:ln w="12700">
            <a:solidFill>
              <a:srgbClr val="6B4A72"/>
            </a:solidFill>
            <a:prstDash val="solid"/>
          </a:ln>
        </p:spPr>
      </p:sp>
      <p:sp>
        <p:nvSpPr>
          <p:cNvPr id="50" name="Text 48"/>
          <p:cNvSpPr/>
          <p:nvPr/>
        </p:nvSpPr>
        <p:spPr>
          <a:xfrm>
            <a:off x="5527261" y="3244010"/>
            <a:ext cx="5230006" cy="303159"/>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11/1 – 4/30</a:t>
            </a:r>
            <a:endParaRPr lang="en-US" sz="850" dirty="0"/>
          </a:p>
        </p:txBody>
      </p:sp>
      <p:sp>
        <p:nvSpPr>
          <p:cNvPr id="51" name="Shape 49"/>
          <p:cNvSpPr/>
          <p:nvPr/>
        </p:nvSpPr>
        <p:spPr>
          <a:xfrm>
            <a:off x="457200" y="3547169"/>
            <a:ext cx="11274552" cy="303159"/>
          </a:xfrm>
          <a:prstGeom prst="rect">
            <a:avLst/>
          </a:prstGeom>
          <a:solidFill>
            <a:srgbClr val="F5F3F1"/>
          </a:solidFill>
          <a:ln w="12700">
            <a:solidFill>
              <a:srgbClr val="F5F3F1"/>
            </a:solidFill>
            <a:prstDash val="solid"/>
          </a:ln>
        </p:spPr>
      </p:sp>
      <p:sp>
        <p:nvSpPr>
          <p:cNvPr id="52" name="Shape 50"/>
          <p:cNvSpPr/>
          <p:nvPr/>
        </p:nvSpPr>
        <p:spPr>
          <a:xfrm>
            <a:off x="530352" y="3657600"/>
            <a:ext cx="82296" cy="82296"/>
          </a:xfrm>
          <a:prstGeom prst="rect">
            <a:avLst/>
          </a:prstGeom>
          <a:solidFill>
            <a:srgbClr val="8C2740"/>
          </a:solidFill>
          <a:ln w="12700">
            <a:solidFill>
              <a:srgbClr val="8C2740"/>
            </a:solidFill>
            <a:prstDash val="solid"/>
          </a:ln>
        </p:spPr>
      </p:sp>
      <p:sp>
        <p:nvSpPr>
          <p:cNvPr id="53" name="Text 51"/>
          <p:cNvSpPr/>
          <p:nvPr/>
        </p:nvSpPr>
        <p:spPr>
          <a:xfrm>
            <a:off x="676656" y="3547169"/>
            <a:ext cx="2011680" cy="303159"/>
          </a:xfrm>
          <a:prstGeom prst="rect">
            <a:avLst/>
          </a:prstGeom>
          <a:noFill/>
          <a:ln/>
        </p:spPr>
        <p:txBody>
          <a:bodyPr wrap="square" lIns="0" tIns="0" rIns="0" bIns="0" rtlCol="0" anchor="ctr"/>
          <a:lstStyle/>
          <a:p>
            <a:pPr indent="0" marL="0">
              <a:buNone/>
            </a:pPr>
            <a:r>
              <a:rPr lang="en-US" sz="1050" b="1" dirty="0">
                <a:solidFill>
                  <a:srgbClr val="1B1A19"/>
                </a:solidFill>
                <a:latin typeface="Yu Gothic" pitchFamily="34" charset="0"/>
                <a:ea typeface="Yu Gothic" pitchFamily="34" charset="-122"/>
                <a:cs typeface="Yu Gothic" pitchFamily="34" charset="-120"/>
              </a:rPr>
              <a:t>マイルストーン</a:t>
            </a:r>
            <a:endParaRPr lang="en-US" sz="1050" dirty="0"/>
          </a:p>
        </p:txBody>
      </p:sp>
      <p:sp>
        <p:nvSpPr>
          <p:cNvPr id="54" name="Text 52"/>
          <p:cNvSpPr/>
          <p:nvPr/>
        </p:nvSpPr>
        <p:spPr>
          <a:xfrm>
            <a:off x="548640" y="3850327"/>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定期建物賃貸借契約 締結</a:t>
            </a:r>
            <a:endParaRPr lang="en-US" sz="1000" dirty="0"/>
          </a:p>
        </p:txBody>
      </p:sp>
      <p:sp>
        <p:nvSpPr>
          <p:cNvPr id="55" name="Shape 53"/>
          <p:cNvSpPr/>
          <p:nvPr/>
        </p:nvSpPr>
        <p:spPr>
          <a:xfrm>
            <a:off x="3603385" y="3942471"/>
            <a:ext cx="118872" cy="118872"/>
          </a:xfrm>
          <a:prstGeom prst="diamond">
            <a:avLst/>
          </a:prstGeom>
          <a:solidFill>
            <a:srgbClr val="2C4A6E"/>
          </a:solidFill>
          <a:ln w="12700">
            <a:solidFill>
              <a:srgbClr val="2C4A6E"/>
            </a:solidFill>
            <a:prstDash val="solid"/>
          </a:ln>
        </p:spPr>
      </p:sp>
      <p:sp>
        <p:nvSpPr>
          <p:cNvPr id="56" name="Text 54"/>
          <p:cNvSpPr/>
          <p:nvPr/>
        </p:nvSpPr>
        <p:spPr>
          <a:xfrm>
            <a:off x="3767977" y="3850327"/>
            <a:ext cx="786384" cy="303159"/>
          </a:xfrm>
          <a:prstGeom prst="rect">
            <a:avLst/>
          </a:prstGeom>
          <a:noFill/>
          <a:ln/>
        </p:spPr>
        <p:txBody>
          <a:bodyPr wrap="square" lIns="0" tIns="0" rIns="0" bIns="0" rtlCol="0" anchor="ctr"/>
          <a:lstStyle/>
          <a:p>
            <a:pPr algn="l" indent="0" marL="0">
              <a:buNone/>
            </a:pPr>
            <a:r>
              <a:rPr lang="en-US" sz="950" b="1" dirty="0">
                <a:solidFill>
                  <a:srgbClr val="2C4A6E"/>
                </a:solidFill>
                <a:latin typeface="Arial" pitchFamily="34" charset="0"/>
                <a:ea typeface="Arial" pitchFamily="34" charset="-122"/>
                <a:cs typeface="Arial" pitchFamily="34" charset="-120"/>
              </a:rPr>
              <a:t>9/1</a:t>
            </a:r>
            <a:endParaRPr lang="en-US" sz="950" dirty="0"/>
          </a:p>
        </p:txBody>
      </p:sp>
      <p:sp>
        <p:nvSpPr>
          <p:cNvPr id="57" name="Text 55"/>
          <p:cNvSpPr/>
          <p:nvPr/>
        </p:nvSpPr>
        <p:spPr>
          <a:xfrm>
            <a:off x="548640" y="4153486"/>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設計プラン 確定</a:t>
            </a:r>
            <a:endParaRPr lang="en-US" sz="1000" dirty="0"/>
          </a:p>
        </p:txBody>
      </p:sp>
      <p:sp>
        <p:nvSpPr>
          <p:cNvPr id="58" name="Shape 56"/>
          <p:cNvSpPr/>
          <p:nvPr/>
        </p:nvSpPr>
        <p:spPr>
          <a:xfrm>
            <a:off x="4463675" y="4245630"/>
            <a:ext cx="118872" cy="118872"/>
          </a:xfrm>
          <a:prstGeom prst="diamond">
            <a:avLst/>
          </a:prstGeom>
          <a:solidFill>
            <a:srgbClr val="9C6E28"/>
          </a:solidFill>
          <a:ln w="12700">
            <a:solidFill>
              <a:srgbClr val="9C6E28"/>
            </a:solidFill>
            <a:prstDash val="solid"/>
          </a:ln>
        </p:spPr>
      </p:sp>
      <p:sp>
        <p:nvSpPr>
          <p:cNvPr id="59" name="Text 57"/>
          <p:cNvSpPr/>
          <p:nvPr/>
        </p:nvSpPr>
        <p:spPr>
          <a:xfrm>
            <a:off x="4628267" y="4153486"/>
            <a:ext cx="786384" cy="303159"/>
          </a:xfrm>
          <a:prstGeom prst="rect">
            <a:avLst/>
          </a:prstGeom>
          <a:noFill/>
          <a:ln/>
        </p:spPr>
        <p:txBody>
          <a:bodyPr wrap="square" lIns="0" tIns="0" rIns="0" bIns="0" rtlCol="0" anchor="ctr"/>
          <a:lstStyle/>
          <a:p>
            <a:pPr algn="l" indent="0" marL="0">
              <a:buNone/>
            </a:pPr>
            <a:r>
              <a:rPr lang="en-US" sz="950" b="1" dirty="0">
                <a:solidFill>
                  <a:srgbClr val="9C6E28"/>
                </a:solidFill>
                <a:latin typeface="Arial" pitchFamily="34" charset="0"/>
                <a:ea typeface="Arial" pitchFamily="34" charset="-122"/>
                <a:cs typeface="Arial" pitchFamily="34" charset="-120"/>
              </a:rPr>
              <a:t>9/30</a:t>
            </a:r>
            <a:endParaRPr lang="en-US" sz="950" dirty="0"/>
          </a:p>
        </p:txBody>
      </p:sp>
      <p:sp>
        <p:nvSpPr>
          <p:cNvPr id="60" name="Text 58"/>
          <p:cNvSpPr/>
          <p:nvPr/>
        </p:nvSpPr>
        <p:spPr>
          <a:xfrm>
            <a:off x="548640" y="4456645"/>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工事等承認申請 承認取得</a:t>
            </a:r>
            <a:endParaRPr lang="en-US" sz="1000" dirty="0"/>
          </a:p>
        </p:txBody>
      </p:sp>
      <p:sp>
        <p:nvSpPr>
          <p:cNvPr id="61" name="Shape 59"/>
          <p:cNvSpPr/>
          <p:nvPr/>
        </p:nvSpPr>
        <p:spPr>
          <a:xfrm>
            <a:off x="8527806" y="4548788"/>
            <a:ext cx="118872" cy="118872"/>
          </a:xfrm>
          <a:prstGeom prst="diamond">
            <a:avLst/>
          </a:prstGeom>
          <a:solidFill>
            <a:srgbClr val="9C6E28"/>
          </a:solidFill>
          <a:ln w="12700">
            <a:solidFill>
              <a:srgbClr val="9C6E28"/>
            </a:solidFill>
            <a:prstDash val="solid"/>
          </a:ln>
        </p:spPr>
      </p:sp>
      <p:sp>
        <p:nvSpPr>
          <p:cNvPr id="62" name="Text 60"/>
          <p:cNvSpPr/>
          <p:nvPr/>
        </p:nvSpPr>
        <p:spPr>
          <a:xfrm>
            <a:off x="8692398" y="4456645"/>
            <a:ext cx="786384" cy="303159"/>
          </a:xfrm>
          <a:prstGeom prst="rect">
            <a:avLst/>
          </a:prstGeom>
          <a:noFill/>
          <a:ln/>
        </p:spPr>
        <p:txBody>
          <a:bodyPr wrap="square" lIns="0" tIns="0" rIns="0" bIns="0" rtlCol="0" anchor="ctr"/>
          <a:lstStyle/>
          <a:p>
            <a:pPr algn="l" indent="0" marL="0">
              <a:buNone/>
            </a:pPr>
            <a:r>
              <a:rPr lang="en-US" sz="950" b="1" dirty="0">
                <a:solidFill>
                  <a:srgbClr val="9C6E28"/>
                </a:solidFill>
                <a:latin typeface="Arial" pitchFamily="34" charset="0"/>
                <a:ea typeface="Arial" pitchFamily="34" charset="-122"/>
                <a:cs typeface="Arial" pitchFamily="34" charset="-120"/>
              </a:rPr>
              <a:t>2/14</a:t>
            </a:r>
            <a:endParaRPr lang="en-US" sz="950" dirty="0"/>
          </a:p>
        </p:txBody>
      </p:sp>
      <p:sp>
        <p:nvSpPr>
          <p:cNvPr id="63" name="Text 61"/>
          <p:cNvSpPr/>
          <p:nvPr/>
        </p:nvSpPr>
        <p:spPr>
          <a:xfrm>
            <a:off x="548640" y="4759804"/>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物件 引渡</a:t>
            </a:r>
            <a:endParaRPr lang="en-US" sz="1000" dirty="0"/>
          </a:p>
        </p:txBody>
      </p:sp>
      <p:sp>
        <p:nvSpPr>
          <p:cNvPr id="64" name="Shape 62"/>
          <p:cNvSpPr/>
          <p:nvPr/>
        </p:nvSpPr>
        <p:spPr>
          <a:xfrm>
            <a:off x="8557471" y="4851947"/>
            <a:ext cx="118872" cy="118872"/>
          </a:xfrm>
          <a:prstGeom prst="diamond">
            <a:avLst/>
          </a:prstGeom>
          <a:solidFill>
            <a:srgbClr val="8C2740"/>
          </a:solidFill>
          <a:ln w="12700">
            <a:solidFill>
              <a:srgbClr val="8C2740"/>
            </a:solidFill>
            <a:prstDash val="solid"/>
          </a:ln>
        </p:spPr>
      </p:sp>
      <p:sp>
        <p:nvSpPr>
          <p:cNvPr id="65" name="Text 63"/>
          <p:cNvSpPr/>
          <p:nvPr/>
        </p:nvSpPr>
        <p:spPr>
          <a:xfrm>
            <a:off x="8722063" y="4759804"/>
            <a:ext cx="786384" cy="303159"/>
          </a:xfrm>
          <a:prstGeom prst="rect">
            <a:avLst/>
          </a:prstGeom>
          <a:noFill/>
          <a:ln/>
        </p:spPr>
        <p:txBody>
          <a:bodyPr wrap="square" lIns="0" tIns="0" rIns="0" bIns="0" rtlCol="0" anchor="ctr"/>
          <a:lstStyle/>
          <a:p>
            <a:pPr algn="l" indent="0" marL="0">
              <a:buNone/>
            </a:pPr>
            <a:r>
              <a:rPr lang="en-US" sz="950" b="1" dirty="0">
                <a:solidFill>
                  <a:srgbClr val="8C2740"/>
                </a:solidFill>
                <a:latin typeface="Arial" pitchFamily="34" charset="0"/>
                <a:ea typeface="Arial" pitchFamily="34" charset="-122"/>
                <a:cs typeface="Arial" pitchFamily="34" charset="-120"/>
              </a:rPr>
              <a:t>2/15</a:t>
            </a:r>
            <a:endParaRPr lang="en-US" sz="950" dirty="0"/>
          </a:p>
        </p:txBody>
      </p:sp>
      <p:sp>
        <p:nvSpPr>
          <p:cNvPr id="66" name="Text 64"/>
          <p:cNvSpPr/>
          <p:nvPr/>
        </p:nvSpPr>
        <p:spPr>
          <a:xfrm>
            <a:off x="548640" y="5062962"/>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工事 完成・引渡検査</a:t>
            </a:r>
            <a:endParaRPr lang="en-US" sz="1000" dirty="0"/>
          </a:p>
        </p:txBody>
      </p:sp>
      <p:sp>
        <p:nvSpPr>
          <p:cNvPr id="67" name="Shape 65"/>
          <p:cNvSpPr/>
          <p:nvPr/>
        </p:nvSpPr>
        <p:spPr>
          <a:xfrm>
            <a:off x="10307717" y="5155106"/>
            <a:ext cx="118872" cy="118872"/>
          </a:xfrm>
          <a:prstGeom prst="diamond">
            <a:avLst/>
          </a:prstGeom>
          <a:solidFill>
            <a:srgbClr val="8C2740"/>
          </a:solidFill>
          <a:ln w="12700">
            <a:solidFill>
              <a:srgbClr val="8C2740"/>
            </a:solidFill>
            <a:prstDash val="solid"/>
          </a:ln>
        </p:spPr>
      </p:sp>
      <p:sp>
        <p:nvSpPr>
          <p:cNvPr id="68" name="Text 66"/>
          <p:cNvSpPr/>
          <p:nvPr/>
        </p:nvSpPr>
        <p:spPr>
          <a:xfrm>
            <a:off x="9452753" y="5062962"/>
            <a:ext cx="786384" cy="303159"/>
          </a:xfrm>
          <a:prstGeom prst="rect">
            <a:avLst/>
          </a:prstGeom>
          <a:noFill/>
          <a:ln/>
        </p:spPr>
        <p:txBody>
          <a:bodyPr wrap="square" lIns="0" tIns="0" rIns="0" bIns="0" rtlCol="0" anchor="ctr"/>
          <a:lstStyle/>
          <a:p>
            <a:pPr algn="r" indent="0" marL="0">
              <a:buNone/>
            </a:pPr>
            <a:r>
              <a:rPr lang="en-US" sz="950" b="1" dirty="0">
                <a:solidFill>
                  <a:srgbClr val="8C2740"/>
                </a:solidFill>
                <a:latin typeface="Arial" pitchFamily="34" charset="0"/>
                <a:ea typeface="Arial" pitchFamily="34" charset="-122"/>
                <a:cs typeface="Arial" pitchFamily="34" charset="-120"/>
              </a:rPr>
              <a:t>4/15</a:t>
            </a:r>
            <a:endParaRPr lang="en-US" sz="950" dirty="0"/>
          </a:p>
        </p:txBody>
      </p:sp>
      <p:sp>
        <p:nvSpPr>
          <p:cNvPr id="69" name="Text 67"/>
          <p:cNvSpPr/>
          <p:nvPr/>
        </p:nvSpPr>
        <p:spPr>
          <a:xfrm>
            <a:off x="548640" y="5366121"/>
            <a:ext cx="2121408" cy="303159"/>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グランドオープン</a:t>
            </a:r>
            <a:endParaRPr lang="en-US" sz="1000" dirty="0"/>
          </a:p>
        </p:txBody>
      </p:sp>
      <p:sp>
        <p:nvSpPr>
          <p:cNvPr id="70" name="Shape 68"/>
          <p:cNvSpPr/>
          <p:nvPr/>
        </p:nvSpPr>
        <p:spPr>
          <a:xfrm>
            <a:off x="10752695" y="5458265"/>
            <a:ext cx="118872" cy="118872"/>
          </a:xfrm>
          <a:prstGeom prst="diamond">
            <a:avLst/>
          </a:prstGeom>
          <a:solidFill>
            <a:srgbClr val="6B4A72"/>
          </a:solidFill>
          <a:ln w="12700">
            <a:solidFill>
              <a:srgbClr val="6B4A72"/>
            </a:solidFill>
            <a:prstDash val="solid"/>
          </a:ln>
        </p:spPr>
      </p:sp>
      <p:sp>
        <p:nvSpPr>
          <p:cNvPr id="71" name="Text 69"/>
          <p:cNvSpPr/>
          <p:nvPr/>
        </p:nvSpPr>
        <p:spPr>
          <a:xfrm>
            <a:off x="9897731" y="5366121"/>
            <a:ext cx="786384" cy="303159"/>
          </a:xfrm>
          <a:prstGeom prst="rect">
            <a:avLst/>
          </a:prstGeom>
          <a:noFill/>
          <a:ln/>
        </p:spPr>
        <p:txBody>
          <a:bodyPr wrap="square" lIns="0" tIns="0" rIns="0" bIns="0" rtlCol="0" anchor="ctr"/>
          <a:lstStyle/>
          <a:p>
            <a:pPr algn="r" indent="0" marL="0">
              <a:buNone/>
            </a:pPr>
            <a:r>
              <a:rPr lang="en-US" sz="950" b="1" dirty="0">
                <a:solidFill>
                  <a:srgbClr val="6B4A72"/>
                </a:solidFill>
                <a:latin typeface="Arial" pitchFamily="34" charset="0"/>
                <a:ea typeface="Arial" pitchFamily="34" charset="-122"/>
                <a:cs typeface="Arial" pitchFamily="34" charset="-120"/>
              </a:rPr>
              <a:t>4/30</a:t>
            </a:r>
            <a:endParaRPr lang="en-US" sz="950" dirty="0"/>
          </a:p>
        </p:txBody>
      </p:sp>
      <p:sp>
        <p:nvSpPr>
          <p:cNvPr id="72" name="Shape 70"/>
          <p:cNvSpPr/>
          <p:nvPr/>
        </p:nvSpPr>
        <p:spPr>
          <a:xfrm>
            <a:off x="3247508" y="1417320"/>
            <a:ext cx="0" cy="4251960"/>
          </a:xfrm>
          <a:prstGeom prst="line">
            <a:avLst/>
          </a:prstGeom>
          <a:noFill/>
          <a:ln w="12700">
            <a:solidFill>
              <a:srgbClr val="1B1A19"/>
            </a:solidFill>
            <a:prstDash val="dash"/>
          </a:ln>
        </p:spPr>
      </p:sp>
      <p:sp>
        <p:nvSpPr>
          <p:cNvPr id="73" name="Text 71"/>
          <p:cNvSpPr/>
          <p:nvPr/>
        </p:nvSpPr>
        <p:spPr>
          <a:xfrm>
            <a:off x="3293228" y="1746504"/>
            <a:ext cx="457200" cy="155448"/>
          </a:xfrm>
          <a:prstGeom prst="rect">
            <a:avLst/>
          </a:prstGeom>
          <a:noFill/>
          <a:ln/>
        </p:spPr>
        <p:txBody>
          <a:bodyPr wrap="square" lIns="0" tIns="0" rIns="0" bIns="0" rtlCol="0" anchor="ctr"/>
          <a:lstStyle/>
          <a:p>
            <a:pPr indent="0" marL="0">
              <a:buNone/>
            </a:pPr>
            <a:r>
              <a:rPr lang="en-US" sz="750" dirty="0">
                <a:solidFill>
                  <a:srgbClr val="1B1A19"/>
                </a:solidFill>
                <a:latin typeface="Yu Gothic" pitchFamily="34" charset="0"/>
                <a:ea typeface="Yu Gothic" pitchFamily="34" charset="-122"/>
                <a:cs typeface="Yu Gothic" pitchFamily="34" charset="-120"/>
              </a:rPr>
              <a:t>現在</a:t>
            </a:r>
            <a:endParaRPr lang="en-US" sz="750" dirty="0"/>
          </a:p>
        </p:txBody>
      </p:sp>
      <p:sp>
        <p:nvSpPr>
          <p:cNvPr id="74" name="Shape 72"/>
          <p:cNvSpPr/>
          <p:nvPr/>
        </p:nvSpPr>
        <p:spPr>
          <a:xfrm>
            <a:off x="457200" y="5856732"/>
            <a:ext cx="146304" cy="68580"/>
          </a:xfrm>
          <a:prstGeom prst="rect">
            <a:avLst/>
          </a:prstGeom>
          <a:solidFill>
            <a:srgbClr val="2C4A6E"/>
          </a:solidFill>
          <a:ln w="12700">
            <a:solidFill>
              <a:srgbClr val="2C4A6E"/>
            </a:solidFill>
            <a:prstDash val="solid"/>
          </a:ln>
        </p:spPr>
      </p:sp>
      <p:sp>
        <p:nvSpPr>
          <p:cNvPr id="75" name="Text 73"/>
          <p:cNvSpPr/>
          <p:nvPr/>
        </p:nvSpPr>
        <p:spPr>
          <a:xfrm>
            <a:off x="658368" y="5806440"/>
            <a:ext cx="106984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契約・法務</a:t>
            </a:r>
            <a:endParaRPr lang="en-US" sz="850" dirty="0"/>
          </a:p>
        </p:txBody>
      </p:sp>
      <p:sp>
        <p:nvSpPr>
          <p:cNvPr id="76" name="Shape 74"/>
          <p:cNvSpPr/>
          <p:nvPr/>
        </p:nvSpPr>
        <p:spPr>
          <a:xfrm>
            <a:off x="1783080" y="5856732"/>
            <a:ext cx="146304" cy="68580"/>
          </a:xfrm>
          <a:prstGeom prst="rect">
            <a:avLst/>
          </a:prstGeom>
          <a:solidFill>
            <a:srgbClr val="9C6E28"/>
          </a:solidFill>
          <a:ln w="12700">
            <a:solidFill>
              <a:srgbClr val="9C6E28"/>
            </a:solidFill>
            <a:prstDash val="solid"/>
          </a:ln>
        </p:spPr>
      </p:sp>
      <p:sp>
        <p:nvSpPr>
          <p:cNvPr id="77" name="Text 75"/>
          <p:cNvSpPr/>
          <p:nvPr/>
        </p:nvSpPr>
        <p:spPr>
          <a:xfrm>
            <a:off x="1984248" y="5806440"/>
            <a:ext cx="106984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設計</a:t>
            </a:r>
            <a:endParaRPr lang="en-US" sz="850" dirty="0"/>
          </a:p>
        </p:txBody>
      </p:sp>
      <p:sp>
        <p:nvSpPr>
          <p:cNvPr id="78" name="Shape 76"/>
          <p:cNvSpPr/>
          <p:nvPr/>
        </p:nvSpPr>
        <p:spPr>
          <a:xfrm>
            <a:off x="3108960" y="5856732"/>
            <a:ext cx="146304" cy="68580"/>
          </a:xfrm>
          <a:prstGeom prst="rect">
            <a:avLst/>
          </a:prstGeom>
          <a:solidFill>
            <a:srgbClr val="8C2740"/>
          </a:solidFill>
          <a:ln w="12700">
            <a:solidFill>
              <a:srgbClr val="8C2740"/>
            </a:solidFill>
            <a:prstDash val="solid"/>
          </a:ln>
        </p:spPr>
      </p:sp>
      <p:sp>
        <p:nvSpPr>
          <p:cNvPr id="79" name="Text 77"/>
          <p:cNvSpPr/>
          <p:nvPr/>
        </p:nvSpPr>
        <p:spPr>
          <a:xfrm>
            <a:off x="3310128" y="5806440"/>
            <a:ext cx="106984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工事</a:t>
            </a:r>
            <a:endParaRPr lang="en-US" sz="850" dirty="0"/>
          </a:p>
        </p:txBody>
      </p:sp>
      <p:sp>
        <p:nvSpPr>
          <p:cNvPr id="80" name="Shape 78"/>
          <p:cNvSpPr/>
          <p:nvPr/>
        </p:nvSpPr>
        <p:spPr>
          <a:xfrm>
            <a:off x="4434840" y="5856732"/>
            <a:ext cx="146304" cy="68580"/>
          </a:xfrm>
          <a:prstGeom prst="rect">
            <a:avLst/>
          </a:prstGeom>
          <a:solidFill>
            <a:srgbClr val="4E6B54"/>
          </a:solidFill>
          <a:ln w="12700">
            <a:solidFill>
              <a:srgbClr val="4E6B54"/>
            </a:solidFill>
            <a:prstDash val="solid"/>
          </a:ln>
        </p:spPr>
      </p:sp>
      <p:sp>
        <p:nvSpPr>
          <p:cNvPr id="81" name="Text 79"/>
          <p:cNvSpPr/>
          <p:nvPr/>
        </p:nvSpPr>
        <p:spPr>
          <a:xfrm>
            <a:off x="4636008" y="5806440"/>
            <a:ext cx="106984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採用・組織</a:t>
            </a:r>
            <a:endParaRPr lang="en-US" sz="850" dirty="0"/>
          </a:p>
        </p:txBody>
      </p:sp>
      <p:sp>
        <p:nvSpPr>
          <p:cNvPr id="82" name="Shape 80"/>
          <p:cNvSpPr/>
          <p:nvPr/>
        </p:nvSpPr>
        <p:spPr>
          <a:xfrm>
            <a:off x="5760720" y="5856732"/>
            <a:ext cx="146304" cy="68580"/>
          </a:xfrm>
          <a:prstGeom prst="rect">
            <a:avLst/>
          </a:prstGeom>
          <a:solidFill>
            <a:srgbClr val="6B4A72"/>
          </a:solidFill>
          <a:ln w="12700">
            <a:solidFill>
              <a:srgbClr val="6B4A72"/>
            </a:solidFill>
            <a:prstDash val="solid"/>
          </a:ln>
        </p:spPr>
      </p:sp>
      <p:sp>
        <p:nvSpPr>
          <p:cNvPr id="83" name="Text 81"/>
          <p:cNvSpPr/>
          <p:nvPr/>
        </p:nvSpPr>
        <p:spPr>
          <a:xfrm>
            <a:off x="5961888" y="5806440"/>
            <a:ext cx="106984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開業準備</a:t>
            </a:r>
            <a:endParaRPr lang="en-US" sz="850" dirty="0"/>
          </a:p>
        </p:txBody>
      </p:sp>
      <p:sp>
        <p:nvSpPr>
          <p:cNvPr id="84" name="Shape 82"/>
          <p:cNvSpPr/>
          <p:nvPr/>
        </p:nvSpPr>
        <p:spPr>
          <a:xfrm>
            <a:off x="7086600" y="5838444"/>
            <a:ext cx="91440" cy="91440"/>
          </a:xfrm>
          <a:prstGeom prst="diamond">
            <a:avLst/>
          </a:prstGeom>
          <a:solidFill>
            <a:srgbClr val="1B1A19"/>
          </a:solidFill>
          <a:ln w="12700">
            <a:solidFill>
              <a:srgbClr val="1B1A19"/>
            </a:solidFill>
            <a:prstDash val="solid"/>
          </a:ln>
        </p:spPr>
      </p:sp>
      <p:sp>
        <p:nvSpPr>
          <p:cNvPr id="85" name="Text 83"/>
          <p:cNvSpPr/>
          <p:nvPr/>
        </p:nvSpPr>
        <p:spPr>
          <a:xfrm>
            <a:off x="7287768" y="5806440"/>
            <a:ext cx="1069848" cy="164592"/>
          </a:xfrm>
          <a:prstGeom prst="rect">
            <a:avLst/>
          </a:prstGeom>
          <a:noFill/>
          <a:ln/>
        </p:spPr>
        <p:txBody>
          <a:bodyPr wrap="square" lIns="0" tIns="0" rIns="0" bIns="0" rtlCol="0" anchor="ctr"/>
          <a:lstStyle/>
          <a:p>
            <a:pPr indent="0" marL="0">
              <a:buNone/>
            </a:pPr>
            <a:r>
              <a:rPr lang="en-US" sz="850" dirty="0">
                <a:solidFill>
                  <a:srgbClr val="6E6866"/>
                </a:solidFill>
                <a:latin typeface="Yu Gothic" pitchFamily="34" charset="0"/>
                <a:ea typeface="Yu Gothic" pitchFamily="34" charset="-122"/>
                <a:cs typeface="Yu Gothic" pitchFamily="34" charset="-120"/>
              </a:rPr>
              <a:t>確定期日</a:t>
            </a:r>
            <a:endParaRPr lang="en-US" sz="850" dirty="0"/>
          </a:p>
        </p:txBody>
      </p:sp>
      <p:sp>
        <p:nvSpPr>
          <p:cNvPr id="86" name="Text 84"/>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出典：営業と出店に関する契約書（定期建物賃貸借契約書）（案）契約番号 90238-2047-000／賃貸人 三井不動産株式会社・賃借人 株式会社WineBank</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2026年8月 – 2027年2月14日</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フェーズ① 設計・契約 ─ 引渡前にすべての承認を取り切る</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プラン確定（9/30）を起点に、基本設計・実施設計・賃貸人承認を直列でつなぐ。ここが遅れると着工がそのまま遅れる。</a:t>
            </a:r>
            <a:endParaRPr lang="en-US" sz="1050" dirty="0"/>
          </a:p>
        </p:txBody>
      </p:sp>
      <p:sp>
        <p:nvSpPr>
          <p:cNvPr id="5" name="Shape 3"/>
          <p:cNvSpPr/>
          <p:nvPr/>
        </p:nvSpPr>
        <p:spPr>
          <a:xfrm>
            <a:off x="3291840" y="1417320"/>
            <a:ext cx="0" cy="4663440"/>
          </a:xfrm>
          <a:prstGeom prst="line">
            <a:avLst/>
          </a:prstGeom>
          <a:noFill/>
          <a:ln w="9525">
            <a:solidFill>
              <a:srgbClr val="DCD7D2"/>
            </a:solidFill>
            <a:prstDash val="solid"/>
          </a:ln>
        </p:spPr>
      </p:sp>
      <p:sp>
        <p:nvSpPr>
          <p:cNvPr id="6" name="Text 4"/>
          <p:cNvSpPr/>
          <p:nvPr/>
        </p:nvSpPr>
        <p:spPr>
          <a:xfrm>
            <a:off x="3328416" y="1435608"/>
            <a:ext cx="112901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8月</a:t>
            </a:r>
            <a:endParaRPr lang="en-US" sz="900" dirty="0"/>
          </a:p>
        </p:txBody>
      </p:sp>
      <p:sp>
        <p:nvSpPr>
          <p:cNvPr id="7" name="Text 5"/>
          <p:cNvSpPr/>
          <p:nvPr/>
        </p:nvSpPr>
        <p:spPr>
          <a:xfrm>
            <a:off x="3328416" y="1581912"/>
            <a:ext cx="1129015"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2026</a:t>
            </a:r>
            <a:endParaRPr lang="en-US" sz="700" dirty="0"/>
          </a:p>
        </p:txBody>
      </p:sp>
      <p:sp>
        <p:nvSpPr>
          <p:cNvPr id="8" name="Shape 6"/>
          <p:cNvSpPr/>
          <p:nvPr/>
        </p:nvSpPr>
        <p:spPr>
          <a:xfrm>
            <a:off x="4475719" y="1417320"/>
            <a:ext cx="0" cy="4663440"/>
          </a:xfrm>
          <a:prstGeom prst="line">
            <a:avLst/>
          </a:prstGeom>
          <a:noFill/>
          <a:ln w="9525">
            <a:solidFill>
              <a:srgbClr val="DCD7D2"/>
            </a:solidFill>
            <a:prstDash val="solid"/>
          </a:ln>
        </p:spPr>
      </p:sp>
      <p:sp>
        <p:nvSpPr>
          <p:cNvPr id="9" name="Text 7"/>
          <p:cNvSpPr/>
          <p:nvPr/>
        </p:nvSpPr>
        <p:spPr>
          <a:xfrm>
            <a:off x="4512295" y="1435608"/>
            <a:ext cx="109082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9月</a:t>
            </a:r>
            <a:endParaRPr lang="en-US" sz="900" dirty="0"/>
          </a:p>
        </p:txBody>
      </p:sp>
      <p:sp>
        <p:nvSpPr>
          <p:cNvPr id="10" name="Shape 8"/>
          <p:cNvSpPr/>
          <p:nvPr/>
        </p:nvSpPr>
        <p:spPr>
          <a:xfrm>
            <a:off x="5621408" y="1417320"/>
            <a:ext cx="0" cy="4663440"/>
          </a:xfrm>
          <a:prstGeom prst="line">
            <a:avLst/>
          </a:prstGeom>
          <a:noFill/>
          <a:ln w="9525">
            <a:solidFill>
              <a:srgbClr val="DCD7D2"/>
            </a:solidFill>
            <a:prstDash val="solid"/>
          </a:ln>
        </p:spPr>
      </p:sp>
      <p:sp>
        <p:nvSpPr>
          <p:cNvPr id="11" name="Text 9"/>
          <p:cNvSpPr/>
          <p:nvPr/>
        </p:nvSpPr>
        <p:spPr>
          <a:xfrm>
            <a:off x="5657984" y="1435608"/>
            <a:ext cx="112901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10月</a:t>
            </a:r>
            <a:endParaRPr lang="en-US" sz="900" dirty="0"/>
          </a:p>
        </p:txBody>
      </p:sp>
      <p:sp>
        <p:nvSpPr>
          <p:cNvPr id="12" name="Shape 10"/>
          <p:cNvSpPr/>
          <p:nvPr/>
        </p:nvSpPr>
        <p:spPr>
          <a:xfrm>
            <a:off x="6805288" y="1417320"/>
            <a:ext cx="0" cy="4663440"/>
          </a:xfrm>
          <a:prstGeom prst="line">
            <a:avLst/>
          </a:prstGeom>
          <a:noFill/>
          <a:ln w="9525">
            <a:solidFill>
              <a:srgbClr val="DCD7D2"/>
            </a:solidFill>
            <a:prstDash val="solid"/>
          </a:ln>
        </p:spPr>
      </p:sp>
      <p:sp>
        <p:nvSpPr>
          <p:cNvPr id="13" name="Text 11"/>
          <p:cNvSpPr/>
          <p:nvPr/>
        </p:nvSpPr>
        <p:spPr>
          <a:xfrm>
            <a:off x="6841864" y="1435608"/>
            <a:ext cx="109082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11月</a:t>
            </a:r>
            <a:endParaRPr lang="en-US" sz="900" dirty="0"/>
          </a:p>
        </p:txBody>
      </p:sp>
      <p:sp>
        <p:nvSpPr>
          <p:cNvPr id="14" name="Shape 12"/>
          <p:cNvSpPr/>
          <p:nvPr/>
        </p:nvSpPr>
        <p:spPr>
          <a:xfrm>
            <a:off x="7950977" y="1417320"/>
            <a:ext cx="0" cy="4663440"/>
          </a:xfrm>
          <a:prstGeom prst="line">
            <a:avLst/>
          </a:prstGeom>
          <a:noFill/>
          <a:ln w="9525">
            <a:solidFill>
              <a:srgbClr val="DCD7D2"/>
            </a:solidFill>
            <a:prstDash val="solid"/>
          </a:ln>
        </p:spPr>
      </p:sp>
      <p:sp>
        <p:nvSpPr>
          <p:cNvPr id="15" name="Text 13"/>
          <p:cNvSpPr/>
          <p:nvPr/>
        </p:nvSpPr>
        <p:spPr>
          <a:xfrm>
            <a:off x="7987553" y="1435608"/>
            <a:ext cx="112901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12月</a:t>
            </a:r>
            <a:endParaRPr lang="en-US" sz="900" dirty="0"/>
          </a:p>
        </p:txBody>
      </p:sp>
      <p:sp>
        <p:nvSpPr>
          <p:cNvPr id="16" name="Shape 14"/>
          <p:cNvSpPr/>
          <p:nvPr/>
        </p:nvSpPr>
        <p:spPr>
          <a:xfrm>
            <a:off x="9134856" y="1417320"/>
            <a:ext cx="0" cy="4663440"/>
          </a:xfrm>
          <a:prstGeom prst="line">
            <a:avLst/>
          </a:prstGeom>
          <a:noFill/>
          <a:ln w="12700">
            <a:solidFill>
              <a:srgbClr val="6E6866"/>
            </a:solidFill>
            <a:prstDash val="solid"/>
          </a:ln>
        </p:spPr>
      </p:sp>
      <p:sp>
        <p:nvSpPr>
          <p:cNvPr id="17" name="Text 15"/>
          <p:cNvSpPr/>
          <p:nvPr/>
        </p:nvSpPr>
        <p:spPr>
          <a:xfrm>
            <a:off x="9171432" y="1435608"/>
            <a:ext cx="1129015"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1月</a:t>
            </a:r>
            <a:endParaRPr lang="en-US" sz="900" dirty="0"/>
          </a:p>
        </p:txBody>
      </p:sp>
      <p:sp>
        <p:nvSpPr>
          <p:cNvPr id="18" name="Text 16"/>
          <p:cNvSpPr/>
          <p:nvPr/>
        </p:nvSpPr>
        <p:spPr>
          <a:xfrm>
            <a:off x="9171432" y="1581912"/>
            <a:ext cx="1129015"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2027</a:t>
            </a:r>
            <a:endParaRPr lang="en-US" sz="700" dirty="0"/>
          </a:p>
        </p:txBody>
      </p:sp>
      <p:sp>
        <p:nvSpPr>
          <p:cNvPr id="19" name="Shape 17"/>
          <p:cNvSpPr/>
          <p:nvPr/>
        </p:nvSpPr>
        <p:spPr>
          <a:xfrm>
            <a:off x="10318735" y="1417320"/>
            <a:ext cx="0" cy="4663440"/>
          </a:xfrm>
          <a:prstGeom prst="line">
            <a:avLst/>
          </a:prstGeom>
          <a:noFill/>
          <a:ln w="9525">
            <a:solidFill>
              <a:srgbClr val="DCD7D2"/>
            </a:solidFill>
            <a:prstDash val="solid"/>
          </a:ln>
        </p:spPr>
      </p:sp>
      <p:sp>
        <p:nvSpPr>
          <p:cNvPr id="20" name="Text 18"/>
          <p:cNvSpPr/>
          <p:nvPr/>
        </p:nvSpPr>
        <p:spPr>
          <a:xfrm>
            <a:off x="10355311" y="1435608"/>
            <a:ext cx="1014446"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2月</a:t>
            </a:r>
            <a:endParaRPr lang="en-US" sz="900" dirty="0"/>
          </a:p>
        </p:txBody>
      </p:sp>
      <p:sp>
        <p:nvSpPr>
          <p:cNvPr id="21" name="Shape 19"/>
          <p:cNvSpPr/>
          <p:nvPr/>
        </p:nvSpPr>
        <p:spPr>
          <a:xfrm>
            <a:off x="11388045" y="1417320"/>
            <a:ext cx="0" cy="4663440"/>
          </a:xfrm>
          <a:prstGeom prst="line">
            <a:avLst/>
          </a:prstGeom>
          <a:noFill/>
          <a:ln w="9525">
            <a:solidFill>
              <a:srgbClr val="DCD7D2"/>
            </a:solidFill>
            <a:prstDash val="solid"/>
          </a:ln>
        </p:spPr>
      </p:sp>
      <p:sp>
        <p:nvSpPr>
          <p:cNvPr id="22" name="Text 20"/>
          <p:cNvSpPr/>
          <p:nvPr/>
        </p:nvSpPr>
        <p:spPr>
          <a:xfrm>
            <a:off x="11424621" y="1435608"/>
            <a:ext cx="288843"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3月</a:t>
            </a:r>
            <a:endParaRPr lang="en-US" sz="900" dirty="0"/>
          </a:p>
        </p:txBody>
      </p:sp>
      <p:sp>
        <p:nvSpPr>
          <p:cNvPr id="23" name="Shape 21"/>
          <p:cNvSpPr/>
          <p:nvPr/>
        </p:nvSpPr>
        <p:spPr>
          <a:xfrm>
            <a:off x="457200" y="1728216"/>
            <a:ext cx="11274552" cy="0"/>
          </a:xfrm>
          <a:prstGeom prst="line">
            <a:avLst/>
          </a:prstGeom>
          <a:noFill/>
          <a:ln w="9525">
            <a:solidFill>
              <a:srgbClr val="6E6866"/>
            </a:solidFill>
            <a:prstDash val="solid"/>
          </a:ln>
        </p:spPr>
      </p:sp>
      <p:sp>
        <p:nvSpPr>
          <p:cNvPr id="24" name="Shape 22"/>
          <p:cNvSpPr/>
          <p:nvPr/>
        </p:nvSpPr>
        <p:spPr>
          <a:xfrm>
            <a:off x="3291840" y="1417320"/>
            <a:ext cx="0" cy="4663440"/>
          </a:xfrm>
          <a:prstGeom prst="line">
            <a:avLst/>
          </a:prstGeom>
          <a:noFill/>
          <a:ln w="9525">
            <a:solidFill>
              <a:srgbClr val="6E6866"/>
            </a:solidFill>
            <a:prstDash val="solid"/>
          </a:ln>
        </p:spPr>
      </p:sp>
      <p:sp>
        <p:nvSpPr>
          <p:cNvPr id="25" name="Shape 23"/>
          <p:cNvSpPr/>
          <p:nvPr/>
        </p:nvSpPr>
        <p:spPr>
          <a:xfrm>
            <a:off x="11731752" y="1417320"/>
            <a:ext cx="0" cy="4663440"/>
          </a:xfrm>
          <a:prstGeom prst="line">
            <a:avLst/>
          </a:prstGeom>
          <a:noFill/>
          <a:ln w="9525">
            <a:solidFill>
              <a:srgbClr val="6E6866"/>
            </a:solidFill>
            <a:prstDash val="solid"/>
          </a:ln>
        </p:spPr>
      </p:sp>
      <p:sp>
        <p:nvSpPr>
          <p:cNvPr id="26" name="Shape 24"/>
          <p:cNvSpPr/>
          <p:nvPr/>
        </p:nvSpPr>
        <p:spPr>
          <a:xfrm>
            <a:off x="457200" y="1728216"/>
            <a:ext cx="11274552" cy="256032"/>
          </a:xfrm>
          <a:prstGeom prst="rect">
            <a:avLst/>
          </a:prstGeom>
          <a:solidFill>
            <a:srgbClr val="F5F3F1"/>
          </a:solidFill>
          <a:ln w="12700">
            <a:solidFill>
              <a:srgbClr val="F5F3F1"/>
            </a:solidFill>
            <a:prstDash val="solid"/>
          </a:ln>
        </p:spPr>
      </p:sp>
      <p:sp>
        <p:nvSpPr>
          <p:cNvPr id="27" name="Shape 25"/>
          <p:cNvSpPr/>
          <p:nvPr/>
        </p:nvSpPr>
        <p:spPr>
          <a:xfrm>
            <a:off x="530352" y="1815084"/>
            <a:ext cx="82296" cy="82296"/>
          </a:xfrm>
          <a:prstGeom prst="rect">
            <a:avLst/>
          </a:prstGeom>
          <a:solidFill>
            <a:srgbClr val="2C4A6E"/>
          </a:solidFill>
          <a:ln w="12700">
            <a:solidFill>
              <a:srgbClr val="2C4A6E"/>
            </a:solidFill>
            <a:prstDash val="solid"/>
          </a:ln>
        </p:spPr>
      </p:sp>
      <p:sp>
        <p:nvSpPr>
          <p:cNvPr id="28" name="Text 26"/>
          <p:cNvSpPr/>
          <p:nvPr/>
        </p:nvSpPr>
        <p:spPr>
          <a:xfrm>
            <a:off x="676656" y="1728216"/>
            <a:ext cx="2560320" cy="256032"/>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契約・法務</a:t>
            </a:r>
            <a:endParaRPr lang="en-US" sz="1000" dirty="0"/>
          </a:p>
        </p:txBody>
      </p:sp>
      <p:sp>
        <p:nvSpPr>
          <p:cNvPr id="29" name="Text 27"/>
          <p:cNvSpPr/>
          <p:nvPr/>
        </p:nvSpPr>
        <p:spPr>
          <a:xfrm>
            <a:off x="548640" y="1984248"/>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契約条件精査・社内決裁</a:t>
            </a:r>
            <a:endParaRPr lang="en-US" sz="950" dirty="0"/>
          </a:p>
        </p:txBody>
      </p:sp>
      <p:sp>
        <p:nvSpPr>
          <p:cNvPr id="30" name="Shape 28"/>
          <p:cNvSpPr/>
          <p:nvPr/>
        </p:nvSpPr>
        <p:spPr>
          <a:xfrm>
            <a:off x="3291840" y="2045696"/>
            <a:ext cx="1145689" cy="133137"/>
          </a:xfrm>
          <a:prstGeom prst="roundRect">
            <a:avLst>
              <a:gd name="adj" fmla="val 13736"/>
            </a:avLst>
          </a:prstGeom>
          <a:solidFill>
            <a:srgbClr val="2C4A6E"/>
          </a:solidFill>
          <a:ln w="12700">
            <a:solidFill>
              <a:srgbClr val="2C4A6E"/>
            </a:solidFill>
            <a:prstDash val="solid"/>
          </a:ln>
        </p:spPr>
      </p:sp>
      <p:sp>
        <p:nvSpPr>
          <p:cNvPr id="31" name="Shape 29"/>
          <p:cNvSpPr/>
          <p:nvPr/>
        </p:nvSpPr>
        <p:spPr>
          <a:xfrm>
            <a:off x="3259836" y="2013692"/>
            <a:ext cx="1209697" cy="197145"/>
          </a:xfrm>
          <a:prstGeom prst="roundRect">
            <a:avLst>
              <a:gd name="adj" fmla="val 9276"/>
            </a:avLst>
          </a:prstGeom>
          <a:solidFill>
            <a:srgbClr val="FFFFFF">
              <a:alpha val="0"/>
            </a:srgbClr>
          </a:solidFill>
          <a:ln w="12700">
            <a:solidFill>
              <a:srgbClr val="2C4A6E"/>
            </a:solidFill>
            <a:prstDash val="solid"/>
          </a:ln>
        </p:spPr>
      </p:sp>
      <p:sp>
        <p:nvSpPr>
          <p:cNvPr id="32" name="Text 30"/>
          <p:cNvSpPr/>
          <p:nvPr/>
        </p:nvSpPr>
        <p:spPr>
          <a:xfrm>
            <a:off x="3346704" y="1984248"/>
            <a:ext cx="1035961"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8/1 – 8/31</a:t>
            </a:r>
            <a:endParaRPr lang="en-US" sz="800" dirty="0"/>
          </a:p>
        </p:txBody>
      </p:sp>
      <p:sp>
        <p:nvSpPr>
          <p:cNvPr id="33" name="Text 31"/>
          <p:cNvSpPr/>
          <p:nvPr/>
        </p:nvSpPr>
        <p:spPr>
          <a:xfrm>
            <a:off x="548640" y="2240280"/>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定期建物賃貸借契約 締結／第1回敷金</a:t>
            </a:r>
            <a:endParaRPr lang="en-US" sz="950" dirty="0"/>
          </a:p>
        </p:txBody>
      </p:sp>
      <p:sp>
        <p:nvSpPr>
          <p:cNvPr id="34" name="Shape 32"/>
          <p:cNvSpPr/>
          <p:nvPr/>
        </p:nvSpPr>
        <p:spPr>
          <a:xfrm>
            <a:off x="4416283" y="2308860"/>
            <a:ext cx="118872" cy="118872"/>
          </a:xfrm>
          <a:prstGeom prst="diamond">
            <a:avLst/>
          </a:prstGeom>
          <a:solidFill>
            <a:srgbClr val="2C4A6E"/>
          </a:solidFill>
          <a:ln w="12700">
            <a:solidFill>
              <a:srgbClr val="2C4A6E"/>
            </a:solidFill>
            <a:prstDash val="solid"/>
          </a:ln>
        </p:spPr>
      </p:sp>
      <p:sp>
        <p:nvSpPr>
          <p:cNvPr id="35" name="Text 33"/>
          <p:cNvSpPr/>
          <p:nvPr/>
        </p:nvSpPr>
        <p:spPr>
          <a:xfrm>
            <a:off x="4580875" y="2240280"/>
            <a:ext cx="786384" cy="256032"/>
          </a:xfrm>
          <a:prstGeom prst="rect">
            <a:avLst/>
          </a:prstGeom>
          <a:noFill/>
          <a:ln/>
        </p:spPr>
        <p:txBody>
          <a:bodyPr wrap="square" lIns="0" tIns="0" rIns="0" bIns="0" rtlCol="0" anchor="ctr"/>
          <a:lstStyle/>
          <a:p>
            <a:pPr algn="l" indent="0" marL="0">
              <a:buNone/>
            </a:pPr>
            <a:r>
              <a:rPr lang="en-US" sz="900" b="1" dirty="0">
                <a:solidFill>
                  <a:srgbClr val="2C4A6E"/>
                </a:solidFill>
                <a:latin typeface="Arial" pitchFamily="34" charset="0"/>
                <a:ea typeface="Arial" pitchFamily="34" charset="-122"/>
                <a:cs typeface="Arial" pitchFamily="34" charset="-120"/>
              </a:rPr>
              <a:t>9/1</a:t>
            </a:r>
            <a:endParaRPr lang="en-US" sz="900" dirty="0"/>
          </a:p>
        </p:txBody>
      </p:sp>
      <p:sp>
        <p:nvSpPr>
          <p:cNvPr id="36" name="Text 34"/>
          <p:cNvSpPr/>
          <p:nvPr/>
        </p:nvSpPr>
        <p:spPr>
          <a:xfrm>
            <a:off x="548640" y="2496312"/>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施設設置契約書（共用部客席）締結</a:t>
            </a:r>
            <a:endParaRPr lang="en-US" sz="950" dirty="0"/>
          </a:p>
        </p:txBody>
      </p:sp>
      <p:sp>
        <p:nvSpPr>
          <p:cNvPr id="37" name="Shape 35"/>
          <p:cNvSpPr/>
          <p:nvPr/>
        </p:nvSpPr>
        <p:spPr>
          <a:xfrm>
            <a:off x="4475719" y="2557760"/>
            <a:ext cx="2291379" cy="133137"/>
          </a:xfrm>
          <a:prstGeom prst="roundRect">
            <a:avLst>
              <a:gd name="adj" fmla="val 13736"/>
            </a:avLst>
          </a:prstGeom>
          <a:solidFill>
            <a:srgbClr val="2C4A6E"/>
          </a:solidFill>
          <a:ln w="12700">
            <a:solidFill>
              <a:srgbClr val="2C4A6E"/>
            </a:solidFill>
            <a:prstDash val="solid"/>
          </a:ln>
        </p:spPr>
      </p:sp>
      <p:sp>
        <p:nvSpPr>
          <p:cNvPr id="38" name="Text 36"/>
          <p:cNvSpPr/>
          <p:nvPr/>
        </p:nvSpPr>
        <p:spPr>
          <a:xfrm>
            <a:off x="4530583" y="2496312"/>
            <a:ext cx="2181651"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9/1 – 10/31</a:t>
            </a:r>
            <a:endParaRPr lang="en-US" sz="800" dirty="0"/>
          </a:p>
        </p:txBody>
      </p:sp>
      <p:sp>
        <p:nvSpPr>
          <p:cNvPr id="39" name="Text 37"/>
          <p:cNvSpPr/>
          <p:nvPr/>
        </p:nvSpPr>
        <p:spPr>
          <a:xfrm>
            <a:off x="548640" y="2752344"/>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新会社 設立</a:t>
            </a:r>
            <a:endParaRPr lang="en-US" sz="950" dirty="0"/>
          </a:p>
        </p:txBody>
      </p:sp>
      <p:sp>
        <p:nvSpPr>
          <p:cNvPr id="40" name="Shape 38"/>
          <p:cNvSpPr/>
          <p:nvPr/>
        </p:nvSpPr>
        <p:spPr>
          <a:xfrm>
            <a:off x="5010374" y="2813792"/>
            <a:ext cx="2902413" cy="133137"/>
          </a:xfrm>
          <a:prstGeom prst="roundRect">
            <a:avLst>
              <a:gd name="adj" fmla="val 13736"/>
            </a:avLst>
          </a:prstGeom>
          <a:solidFill>
            <a:srgbClr val="2C4A6E"/>
          </a:solidFill>
          <a:ln w="12700">
            <a:solidFill>
              <a:srgbClr val="2C4A6E"/>
            </a:solidFill>
            <a:prstDash val="solid"/>
          </a:ln>
        </p:spPr>
      </p:sp>
      <p:sp>
        <p:nvSpPr>
          <p:cNvPr id="41" name="Text 39"/>
          <p:cNvSpPr/>
          <p:nvPr/>
        </p:nvSpPr>
        <p:spPr>
          <a:xfrm>
            <a:off x="5065238" y="2752344"/>
            <a:ext cx="2792685"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9/15 – 11/30</a:t>
            </a:r>
            <a:endParaRPr lang="en-US" sz="800" dirty="0"/>
          </a:p>
        </p:txBody>
      </p:sp>
      <p:sp>
        <p:nvSpPr>
          <p:cNvPr id="42" name="Text 40"/>
          <p:cNvSpPr/>
          <p:nvPr/>
        </p:nvSpPr>
        <p:spPr>
          <a:xfrm>
            <a:off x="548640" y="3008376"/>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地位承継 覚書（3者）締結</a:t>
            </a:r>
            <a:endParaRPr lang="en-US" sz="950" dirty="0"/>
          </a:p>
        </p:txBody>
      </p:sp>
      <p:sp>
        <p:nvSpPr>
          <p:cNvPr id="43" name="Shape 41"/>
          <p:cNvSpPr/>
          <p:nvPr/>
        </p:nvSpPr>
        <p:spPr>
          <a:xfrm>
            <a:off x="7950977" y="3069824"/>
            <a:ext cx="916552" cy="133137"/>
          </a:xfrm>
          <a:prstGeom prst="roundRect">
            <a:avLst>
              <a:gd name="adj" fmla="val 13736"/>
            </a:avLst>
          </a:prstGeom>
          <a:solidFill>
            <a:srgbClr val="2C4A6E"/>
          </a:solidFill>
          <a:ln w="12700">
            <a:solidFill>
              <a:srgbClr val="2C4A6E"/>
            </a:solidFill>
            <a:prstDash val="solid"/>
          </a:ln>
        </p:spPr>
      </p:sp>
      <p:sp>
        <p:nvSpPr>
          <p:cNvPr id="44" name="Text 42"/>
          <p:cNvSpPr/>
          <p:nvPr/>
        </p:nvSpPr>
        <p:spPr>
          <a:xfrm>
            <a:off x="8913248" y="3008376"/>
            <a:ext cx="896112" cy="256032"/>
          </a:xfrm>
          <a:prstGeom prst="rect">
            <a:avLst/>
          </a:prstGeom>
          <a:noFill/>
          <a:ln/>
        </p:spPr>
        <p:txBody>
          <a:bodyPr wrap="square" lIns="0" tIns="0" rIns="0" bIns="0" rtlCol="0" anchor="ctr"/>
          <a:lstStyle/>
          <a:p>
            <a:pPr algn="l" indent="0" marL="0">
              <a:buNone/>
            </a:pPr>
            <a:r>
              <a:rPr lang="en-US" sz="800" dirty="0">
                <a:solidFill>
                  <a:srgbClr val="6E6866"/>
                </a:solidFill>
                <a:latin typeface="Arial" pitchFamily="34" charset="0"/>
                <a:ea typeface="Arial" pitchFamily="34" charset="-122"/>
                <a:cs typeface="Arial" pitchFamily="34" charset="-120"/>
              </a:rPr>
              <a:t>12/1 – 12/25</a:t>
            </a:r>
            <a:endParaRPr lang="en-US" sz="800" dirty="0"/>
          </a:p>
        </p:txBody>
      </p:sp>
      <p:sp>
        <p:nvSpPr>
          <p:cNvPr id="45" name="Text 43"/>
          <p:cNvSpPr/>
          <p:nvPr/>
        </p:nvSpPr>
        <p:spPr>
          <a:xfrm>
            <a:off x="548640" y="3264408"/>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B・C工事 賃貸人負担額 覚書</a:t>
            </a:r>
            <a:endParaRPr lang="en-US" sz="950" dirty="0"/>
          </a:p>
        </p:txBody>
      </p:sp>
      <p:sp>
        <p:nvSpPr>
          <p:cNvPr id="46" name="Shape 44"/>
          <p:cNvSpPr/>
          <p:nvPr/>
        </p:nvSpPr>
        <p:spPr>
          <a:xfrm>
            <a:off x="9669511" y="3325856"/>
            <a:ext cx="1680344" cy="133137"/>
          </a:xfrm>
          <a:prstGeom prst="roundRect">
            <a:avLst>
              <a:gd name="adj" fmla="val 13736"/>
            </a:avLst>
          </a:prstGeom>
          <a:solidFill>
            <a:srgbClr val="2C4A6E"/>
          </a:solidFill>
          <a:ln w="12700">
            <a:solidFill>
              <a:srgbClr val="2C4A6E"/>
            </a:solidFill>
            <a:prstDash val="solid"/>
          </a:ln>
        </p:spPr>
      </p:sp>
      <p:sp>
        <p:nvSpPr>
          <p:cNvPr id="47" name="Text 45"/>
          <p:cNvSpPr/>
          <p:nvPr/>
        </p:nvSpPr>
        <p:spPr>
          <a:xfrm>
            <a:off x="9724375" y="3264408"/>
            <a:ext cx="1570616"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1/15 – 2/28</a:t>
            </a:r>
            <a:endParaRPr lang="en-US" sz="800" dirty="0"/>
          </a:p>
        </p:txBody>
      </p:sp>
      <p:sp>
        <p:nvSpPr>
          <p:cNvPr id="48" name="Text 46"/>
          <p:cNvSpPr/>
          <p:nvPr/>
        </p:nvSpPr>
        <p:spPr>
          <a:xfrm>
            <a:off x="548640" y="3520440"/>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第2回敷金・開店前準備期間負担金ほか</a:t>
            </a:r>
            <a:endParaRPr lang="en-US" sz="950" dirty="0"/>
          </a:p>
        </p:txBody>
      </p:sp>
      <p:sp>
        <p:nvSpPr>
          <p:cNvPr id="49" name="Shape 47"/>
          <p:cNvSpPr/>
          <p:nvPr/>
        </p:nvSpPr>
        <p:spPr>
          <a:xfrm>
            <a:off x="10755764" y="3589020"/>
            <a:ext cx="118872" cy="118872"/>
          </a:xfrm>
          <a:prstGeom prst="diamond">
            <a:avLst/>
          </a:prstGeom>
          <a:solidFill>
            <a:srgbClr val="2C4A6E"/>
          </a:solidFill>
          <a:ln w="12700">
            <a:solidFill>
              <a:srgbClr val="2C4A6E"/>
            </a:solidFill>
            <a:prstDash val="solid"/>
          </a:ln>
        </p:spPr>
      </p:sp>
      <p:sp>
        <p:nvSpPr>
          <p:cNvPr id="50" name="Text 48"/>
          <p:cNvSpPr/>
          <p:nvPr/>
        </p:nvSpPr>
        <p:spPr>
          <a:xfrm>
            <a:off x="9900800" y="3520440"/>
            <a:ext cx="786384" cy="256032"/>
          </a:xfrm>
          <a:prstGeom prst="rect">
            <a:avLst/>
          </a:prstGeom>
          <a:noFill/>
          <a:ln/>
        </p:spPr>
        <p:txBody>
          <a:bodyPr wrap="square" lIns="0" tIns="0" rIns="0" bIns="0" rtlCol="0" anchor="ctr"/>
          <a:lstStyle/>
          <a:p>
            <a:pPr algn="r" indent="0" marL="0">
              <a:buNone/>
            </a:pPr>
            <a:r>
              <a:rPr lang="en-US" sz="900" b="1" dirty="0">
                <a:solidFill>
                  <a:srgbClr val="2C4A6E"/>
                </a:solidFill>
                <a:latin typeface="Arial" pitchFamily="34" charset="0"/>
                <a:ea typeface="Arial" pitchFamily="34" charset="-122"/>
                <a:cs typeface="Arial" pitchFamily="34" charset="-120"/>
              </a:rPr>
              <a:t>2/14</a:t>
            </a:r>
            <a:endParaRPr lang="en-US" sz="900" dirty="0"/>
          </a:p>
        </p:txBody>
      </p:sp>
      <p:sp>
        <p:nvSpPr>
          <p:cNvPr id="51" name="Shape 49"/>
          <p:cNvSpPr/>
          <p:nvPr/>
        </p:nvSpPr>
        <p:spPr>
          <a:xfrm>
            <a:off x="457200" y="3776472"/>
            <a:ext cx="11274552" cy="256032"/>
          </a:xfrm>
          <a:prstGeom prst="rect">
            <a:avLst/>
          </a:prstGeom>
          <a:solidFill>
            <a:srgbClr val="F5F3F1"/>
          </a:solidFill>
          <a:ln w="12700">
            <a:solidFill>
              <a:srgbClr val="F5F3F1"/>
            </a:solidFill>
            <a:prstDash val="solid"/>
          </a:ln>
        </p:spPr>
      </p:sp>
      <p:sp>
        <p:nvSpPr>
          <p:cNvPr id="52" name="Shape 50"/>
          <p:cNvSpPr/>
          <p:nvPr/>
        </p:nvSpPr>
        <p:spPr>
          <a:xfrm>
            <a:off x="530352" y="3863340"/>
            <a:ext cx="82296" cy="82296"/>
          </a:xfrm>
          <a:prstGeom prst="rect">
            <a:avLst/>
          </a:prstGeom>
          <a:solidFill>
            <a:srgbClr val="9C6E28"/>
          </a:solidFill>
          <a:ln w="12700">
            <a:solidFill>
              <a:srgbClr val="9C6E28"/>
            </a:solidFill>
            <a:prstDash val="solid"/>
          </a:ln>
        </p:spPr>
      </p:sp>
      <p:sp>
        <p:nvSpPr>
          <p:cNvPr id="53" name="Text 51"/>
          <p:cNvSpPr/>
          <p:nvPr/>
        </p:nvSpPr>
        <p:spPr>
          <a:xfrm>
            <a:off x="676656" y="3776472"/>
            <a:ext cx="2560320" cy="256032"/>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設計</a:t>
            </a:r>
            <a:endParaRPr lang="en-US" sz="1000" dirty="0"/>
          </a:p>
        </p:txBody>
      </p:sp>
      <p:sp>
        <p:nvSpPr>
          <p:cNvPr id="54" name="Text 52"/>
          <p:cNvSpPr/>
          <p:nvPr/>
        </p:nvSpPr>
        <p:spPr>
          <a:xfrm>
            <a:off x="548640" y="4032504"/>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コンセプト・プラン決め</a:t>
            </a:r>
            <a:endParaRPr lang="en-US" sz="950" dirty="0"/>
          </a:p>
        </p:txBody>
      </p:sp>
      <p:sp>
        <p:nvSpPr>
          <p:cNvPr id="55" name="Shape 53"/>
          <p:cNvSpPr/>
          <p:nvPr/>
        </p:nvSpPr>
        <p:spPr>
          <a:xfrm>
            <a:off x="3291840" y="4093952"/>
            <a:ext cx="2291379" cy="133137"/>
          </a:xfrm>
          <a:prstGeom prst="roundRect">
            <a:avLst>
              <a:gd name="adj" fmla="val 13736"/>
            </a:avLst>
          </a:prstGeom>
          <a:solidFill>
            <a:srgbClr val="9C6E28"/>
          </a:solidFill>
          <a:ln w="12700">
            <a:solidFill>
              <a:srgbClr val="9C6E28"/>
            </a:solidFill>
            <a:prstDash val="solid"/>
          </a:ln>
        </p:spPr>
      </p:sp>
      <p:sp>
        <p:nvSpPr>
          <p:cNvPr id="56" name="Shape 54"/>
          <p:cNvSpPr/>
          <p:nvPr/>
        </p:nvSpPr>
        <p:spPr>
          <a:xfrm>
            <a:off x="3259836" y="4061948"/>
            <a:ext cx="2355387" cy="197145"/>
          </a:xfrm>
          <a:prstGeom prst="roundRect">
            <a:avLst>
              <a:gd name="adj" fmla="val 9276"/>
            </a:avLst>
          </a:prstGeom>
          <a:solidFill>
            <a:srgbClr val="FFFFFF">
              <a:alpha val="0"/>
            </a:srgbClr>
          </a:solidFill>
          <a:ln w="12700">
            <a:solidFill>
              <a:srgbClr val="9C6E28"/>
            </a:solidFill>
            <a:prstDash val="solid"/>
          </a:ln>
        </p:spPr>
      </p:sp>
      <p:sp>
        <p:nvSpPr>
          <p:cNvPr id="57" name="Text 55"/>
          <p:cNvSpPr/>
          <p:nvPr/>
        </p:nvSpPr>
        <p:spPr>
          <a:xfrm>
            <a:off x="3346704" y="4032504"/>
            <a:ext cx="2181651"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8/1 – 9/30</a:t>
            </a:r>
            <a:endParaRPr lang="en-US" sz="800" dirty="0"/>
          </a:p>
        </p:txBody>
      </p:sp>
      <p:sp>
        <p:nvSpPr>
          <p:cNvPr id="58" name="Text 56"/>
          <p:cNvSpPr/>
          <p:nvPr/>
        </p:nvSpPr>
        <p:spPr>
          <a:xfrm>
            <a:off x="548640" y="4288536"/>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プラン 確定</a:t>
            </a:r>
            <a:endParaRPr lang="en-US" sz="950" dirty="0"/>
          </a:p>
        </p:txBody>
      </p:sp>
      <p:sp>
        <p:nvSpPr>
          <p:cNvPr id="59" name="Shape 57"/>
          <p:cNvSpPr/>
          <p:nvPr/>
        </p:nvSpPr>
        <p:spPr>
          <a:xfrm>
            <a:off x="5523783" y="4357116"/>
            <a:ext cx="118872" cy="118872"/>
          </a:xfrm>
          <a:prstGeom prst="diamond">
            <a:avLst/>
          </a:prstGeom>
          <a:solidFill>
            <a:srgbClr val="9C6E28"/>
          </a:solidFill>
          <a:ln w="12700">
            <a:solidFill>
              <a:srgbClr val="9C6E28"/>
            </a:solidFill>
            <a:prstDash val="solid"/>
          </a:ln>
        </p:spPr>
      </p:sp>
      <p:sp>
        <p:nvSpPr>
          <p:cNvPr id="60" name="Text 58"/>
          <p:cNvSpPr/>
          <p:nvPr/>
        </p:nvSpPr>
        <p:spPr>
          <a:xfrm>
            <a:off x="5688375" y="4288536"/>
            <a:ext cx="786384" cy="256032"/>
          </a:xfrm>
          <a:prstGeom prst="rect">
            <a:avLst/>
          </a:prstGeom>
          <a:noFill/>
          <a:ln/>
        </p:spPr>
        <p:txBody>
          <a:bodyPr wrap="square" lIns="0" tIns="0" rIns="0" bIns="0" rtlCol="0" anchor="ctr"/>
          <a:lstStyle/>
          <a:p>
            <a:pPr algn="l" indent="0" marL="0">
              <a:buNone/>
            </a:pPr>
            <a:r>
              <a:rPr lang="en-US" sz="900" b="1" dirty="0">
                <a:solidFill>
                  <a:srgbClr val="9C6E28"/>
                </a:solidFill>
                <a:latin typeface="Arial" pitchFamily="34" charset="0"/>
                <a:ea typeface="Arial" pitchFamily="34" charset="-122"/>
                <a:cs typeface="Arial" pitchFamily="34" charset="-120"/>
              </a:rPr>
              <a:t>9/30</a:t>
            </a:r>
            <a:endParaRPr lang="en-US" sz="900" dirty="0"/>
          </a:p>
        </p:txBody>
      </p:sp>
      <p:sp>
        <p:nvSpPr>
          <p:cNvPr id="61" name="Text 59"/>
          <p:cNvSpPr/>
          <p:nvPr/>
        </p:nvSpPr>
        <p:spPr>
          <a:xfrm>
            <a:off x="548640" y="4544568"/>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デザインクライテリア 事前協議</a:t>
            </a:r>
            <a:endParaRPr lang="en-US" sz="950" dirty="0"/>
          </a:p>
        </p:txBody>
      </p:sp>
      <p:sp>
        <p:nvSpPr>
          <p:cNvPr id="62" name="Shape 60"/>
          <p:cNvSpPr/>
          <p:nvPr/>
        </p:nvSpPr>
        <p:spPr>
          <a:xfrm>
            <a:off x="5010374" y="4606016"/>
            <a:ext cx="2902413" cy="133137"/>
          </a:xfrm>
          <a:prstGeom prst="roundRect">
            <a:avLst>
              <a:gd name="adj" fmla="val 13736"/>
            </a:avLst>
          </a:prstGeom>
          <a:solidFill>
            <a:srgbClr val="9C6E28"/>
          </a:solidFill>
          <a:ln w="12700">
            <a:solidFill>
              <a:srgbClr val="9C6E28"/>
            </a:solidFill>
            <a:prstDash val="solid"/>
          </a:ln>
        </p:spPr>
      </p:sp>
      <p:sp>
        <p:nvSpPr>
          <p:cNvPr id="63" name="Text 61"/>
          <p:cNvSpPr/>
          <p:nvPr/>
        </p:nvSpPr>
        <p:spPr>
          <a:xfrm>
            <a:off x="5065238" y="4544568"/>
            <a:ext cx="2792685"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9/15 – 11/30</a:t>
            </a:r>
            <a:endParaRPr lang="en-US" sz="800" dirty="0"/>
          </a:p>
        </p:txBody>
      </p:sp>
      <p:sp>
        <p:nvSpPr>
          <p:cNvPr id="64" name="Text 62"/>
          <p:cNvSpPr/>
          <p:nvPr/>
        </p:nvSpPr>
        <p:spPr>
          <a:xfrm>
            <a:off x="548640" y="4800600"/>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基本設計</a:t>
            </a:r>
            <a:endParaRPr lang="en-US" sz="950" dirty="0"/>
          </a:p>
        </p:txBody>
      </p:sp>
      <p:sp>
        <p:nvSpPr>
          <p:cNvPr id="65" name="Shape 63"/>
          <p:cNvSpPr/>
          <p:nvPr/>
        </p:nvSpPr>
        <p:spPr>
          <a:xfrm>
            <a:off x="5621408" y="4862048"/>
            <a:ext cx="2291379" cy="133137"/>
          </a:xfrm>
          <a:prstGeom prst="roundRect">
            <a:avLst>
              <a:gd name="adj" fmla="val 13736"/>
            </a:avLst>
          </a:prstGeom>
          <a:solidFill>
            <a:srgbClr val="9C6E28"/>
          </a:solidFill>
          <a:ln w="12700">
            <a:solidFill>
              <a:srgbClr val="9C6E28"/>
            </a:solidFill>
            <a:prstDash val="solid"/>
          </a:ln>
        </p:spPr>
      </p:sp>
      <p:sp>
        <p:nvSpPr>
          <p:cNvPr id="66" name="Text 64"/>
          <p:cNvSpPr/>
          <p:nvPr/>
        </p:nvSpPr>
        <p:spPr>
          <a:xfrm>
            <a:off x="5676272" y="4800600"/>
            <a:ext cx="2181651"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10/1 – 11/30</a:t>
            </a:r>
            <a:endParaRPr lang="en-US" sz="800" dirty="0"/>
          </a:p>
        </p:txBody>
      </p:sp>
      <p:sp>
        <p:nvSpPr>
          <p:cNvPr id="67" name="Text 65"/>
          <p:cNvSpPr/>
          <p:nvPr/>
        </p:nvSpPr>
        <p:spPr>
          <a:xfrm>
            <a:off x="548640" y="5056632"/>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厨房計画・機器仕様確定</a:t>
            </a:r>
            <a:endParaRPr lang="en-US" sz="950" dirty="0"/>
          </a:p>
        </p:txBody>
      </p:sp>
      <p:sp>
        <p:nvSpPr>
          <p:cNvPr id="68" name="Shape 66"/>
          <p:cNvSpPr/>
          <p:nvPr/>
        </p:nvSpPr>
        <p:spPr>
          <a:xfrm>
            <a:off x="6805288" y="5118080"/>
            <a:ext cx="3475258" cy="133137"/>
          </a:xfrm>
          <a:prstGeom prst="roundRect">
            <a:avLst>
              <a:gd name="adj" fmla="val 13736"/>
            </a:avLst>
          </a:prstGeom>
          <a:solidFill>
            <a:srgbClr val="9C6E28"/>
          </a:solidFill>
          <a:ln w="12700">
            <a:solidFill>
              <a:srgbClr val="9C6E28"/>
            </a:solidFill>
            <a:prstDash val="solid"/>
          </a:ln>
        </p:spPr>
      </p:sp>
      <p:sp>
        <p:nvSpPr>
          <p:cNvPr id="69" name="Text 67"/>
          <p:cNvSpPr/>
          <p:nvPr/>
        </p:nvSpPr>
        <p:spPr>
          <a:xfrm>
            <a:off x="6860152" y="5056632"/>
            <a:ext cx="3365530"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11/1 – 1/31</a:t>
            </a:r>
            <a:endParaRPr lang="en-US" sz="800" dirty="0"/>
          </a:p>
        </p:txBody>
      </p:sp>
      <p:sp>
        <p:nvSpPr>
          <p:cNvPr id="70" name="Text 68"/>
          <p:cNvSpPr/>
          <p:nvPr/>
        </p:nvSpPr>
        <p:spPr>
          <a:xfrm>
            <a:off x="548640" y="5312664"/>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実施設計</a:t>
            </a:r>
            <a:endParaRPr lang="en-US" sz="950" dirty="0"/>
          </a:p>
        </p:txBody>
      </p:sp>
      <p:sp>
        <p:nvSpPr>
          <p:cNvPr id="71" name="Shape 69"/>
          <p:cNvSpPr/>
          <p:nvPr/>
        </p:nvSpPr>
        <p:spPr>
          <a:xfrm>
            <a:off x="7950977" y="5374112"/>
            <a:ext cx="2329568" cy="133137"/>
          </a:xfrm>
          <a:prstGeom prst="roundRect">
            <a:avLst>
              <a:gd name="adj" fmla="val 13736"/>
            </a:avLst>
          </a:prstGeom>
          <a:solidFill>
            <a:srgbClr val="9C6E28"/>
          </a:solidFill>
          <a:ln w="12700">
            <a:solidFill>
              <a:srgbClr val="9C6E28"/>
            </a:solidFill>
            <a:prstDash val="solid"/>
          </a:ln>
        </p:spPr>
      </p:sp>
      <p:sp>
        <p:nvSpPr>
          <p:cNvPr id="72" name="Text 70"/>
          <p:cNvSpPr/>
          <p:nvPr/>
        </p:nvSpPr>
        <p:spPr>
          <a:xfrm>
            <a:off x="8005841" y="5312664"/>
            <a:ext cx="2219840"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12/1 – 1/31</a:t>
            </a:r>
            <a:endParaRPr lang="en-US" sz="800" dirty="0"/>
          </a:p>
        </p:txBody>
      </p:sp>
      <p:sp>
        <p:nvSpPr>
          <p:cNvPr id="73" name="Text 71"/>
          <p:cNvSpPr/>
          <p:nvPr/>
        </p:nvSpPr>
        <p:spPr>
          <a:xfrm>
            <a:off x="548640" y="5568696"/>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保健所・消防 事前協議</a:t>
            </a:r>
            <a:endParaRPr lang="en-US" sz="950" dirty="0"/>
          </a:p>
        </p:txBody>
      </p:sp>
      <p:sp>
        <p:nvSpPr>
          <p:cNvPr id="74" name="Shape 72"/>
          <p:cNvSpPr/>
          <p:nvPr/>
        </p:nvSpPr>
        <p:spPr>
          <a:xfrm>
            <a:off x="9287615" y="5630144"/>
            <a:ext cx="2062241" cy="133137"/>
          </a:xfrm>
          <a:prstGeom prst="roundRect">
            <a:avLst>
              <a:gd name="adj" fmla="val 13736"/>
            </a:avLst>
          </a:prstGeom>
          <a:solidFill>
            <a:srgbClr val="9C6E28"/>
          </a:solidFill>
          <a:ln w="12700">
            <a:solidFill>
              <a:srgbClr val="9C6E28"/>
            </a:solidFill>
            <a:prstDash val="solid"/>
          </a:ln>
        </p:spPr>
      </p:sp>
      <p:sp>
        <p:nvSpPr>
          <p:cNvPr id="75" name="Text 73"/>
          <p:cNvSpPr/>
          <p:nvPr/>
        </p:nvSpPr>
        <p:spPr>
          <a:xfrm>
            <a:off x="9342479" y="5568696"/>
            <a:ext cx="1952513"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1/5 – 2/28</a:t>
            </a:r>
            <a:endParaRPr lang="en-US" sz="800" dirty="0"/>
          </a:p>
        </p:txBody>
      </p:sp>
      <p:sp>
        <p:nvSpPr>
          <p:cNvPr id="76" name="Text 74"/>
          <p:cNvSpPr/>
          <p:nvPr/>
        </p:nvSpPr>
        <p:spPr>
          <a:xfrm>
            <a:off x="548640" y="5824728"/>
            <a:ext cx="2670048" cy="256032"/>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工事等承認申請 → 賃貸人承認</a:t>
            </a:r>
            <a:endParaRPr lang="en-US" sz="950" dirty="0"/>
          </a:p>
        </p:txBody>
      </p:sp>
      <p:sp>
        <p:nvSpPr>
          <p:cNvPr id="77" name="Shape 75"/>
          <p:cNvSpPr/>
          <p:nvPr/>
        </p:nvSpPr>
        <p:spPr>
          <a:xfrm>
            <a:off x="9669511" y="5886176"/>
            <a:ext cx="1145689" cy="133137"/>
          </a:xfrm>
          <a:prstGeom prst="roundRect">
            <a:avLst>
              <a:gd name="adj" fmla="val 13736"/>
            </a:avLst>
          </a:prstGeom>
          <a:solidFill>
            <a:srgbClr val="9C6E28"/>
          </a:solidFill>
          <a:ln w="12700">
            <a:solidFill>
              <a:srgbClr val="9C6E28"/>
            </a:solidFill>
            <a:prstDash val="solid"/>
          </a:ln>
        </p:spPr>
      </p:sp>
      <p:sp>
        <p:nvSpPr>
          <p:cNvPr id="78" name="Text 76"/>
          <p:cNvSpPr/>
          <p:nvPr/>
        </p:nvSpPr>
        <p:spPr>
          <a:xfrm>
            <a:off x="9724375" y="5824728"/>
            <a:ext cx="1035961" cy="256032"/>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1/15 – 2/14</a:t>
            </a:r>
            <a:endParaRPr lang="en-US" sz="800" dirty="0"/>
          </a:p>
        </p:txBody>
      </p:sp>
      <p:sp>
        <p:nvSpPr>
          <p:cNvPr id="79" name="Shape 77"/>
          <p:cNvSpPr/>
          <p:nvPr/>
        </p:nvSpPr>
        <p:spPr>
          <a:xfrm>
            <a:off x="3941064" y="1417320"/>
            <a:ext cx="0" cy="4663440"/>
          </a:xfrm>
          <a:prstGeom prst="line">
            <a:avLst/>
          </a:prstGeom>
          <a:noFill/>
          <a:ln w="12700">
            <a:solidFill>
              <a:srgbClr val="1B1A19"/>
            </a:solidFill>
            <a:prstDash val="dash"/>
          </a:ln>
        </p:spPr>
      </p:sp>
      <p:sp>
        <p:nvSpPr>
          <p:cNvPr id="80" name="Text 78"/>
          <p:cNvSpPr/>
          <p:nvPr/>
        </p:nvSpPr>
        <p:spPr>
          <a:xfrm>
            <a:off x="3986784" y="1746504"/>
            <a:ext cx="457200" cy="155448"/>
          </a:xfrm>
          <a:prstGeom prst="rect">
            <a:avLst/>
          </a:prstGeom>
          <a:noFill/>
          <a:ln/>
        </p:spPr>
        <p:txBody>
          <a:bodyPr wrap="square" lIns="0" tIns="0" rIns="0" bIns="0" rtlCol="0" anchor="ctr"/>
          <a:lstStyle/>
          <a:p>
            <a:pPr indent="0" marL="0">
              <a:buNone/>
            </a:pPr>
            <a:r>
              <a:rPr lang="en-US" sz="750" dirty="0">
                <a:solidFill>
                  <a:srgbClr val="1B1A19"/>
                </a:solidFill>
                <a:latin typeface="Yu Gothic" pitchFamily="34" charset="0"/>
                <a:ea typeface="Yu Gothic" pitchFamily="34" charset="-122"/>
                <a:cs typeface="Yu Gothic" pitchFamily="34" charset="-120"/>
              </a:rPr>
              <a:t>現在</a:t>
            </a:r>
            <a:endParaRPr lang="en-US" sz="750" dirty="0"/>
          </a:p>
        </p:txBody>
      </p:sp>
      <p:sp>
        <p:nvSpPr>
          <p:cNvPr id="81" name="Text 79"/>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第23条1項により、賃貸人の承認前は着工できない。承認取得を2/14に置き、引渡日（2/15）から即着工する前提。</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2026年12月 – 2027年4月22日</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フェーズ② 工事 ─ B工事とC工事を並走させて2ヶ月で仕上げる</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引渡と同時にB工事着手、5日遅れでC工事を重ねる。騒音・振動・臭気を伴う工種は時間制限を受ける前提で組む。</a:t>
            </a:r>
            <a:endParaRPr lang="en-US" sz="1050" dirty="0"/>
          </a:p>
        </p:txBody>
      </p:sp>
      <p:sp>
        <p:nvSpPr>
          <p:cNvPr id="5" name="Shape 3"/>
          <p:cNvSpPr/>
          <p:nvPr/>
        </p:nvSpPr>
        <p:spPr>
          <a:xfrm>
            <a:off x="3291840" y="1417320"/>
            <a:ext cx="0" cy="3200400"/>
          </a:xfrm>
          <a:prstGeom prst="line">
            <a:avLst/>
          </a:prstGeom>
          <a:noFill/>
          <a:ln w="9525">
            <a:solidFill>
              <a:srgbClr val="DCD7D2"/>
            </a:solidFill>
            <a:prstDash val="solid"/>
          </a:ln>
        </p:spPr>
      </p:sp>
      <p:sp>
        <p:nvSpPr>
          <p:cNvPr id="6" name="Text 4"/>
          <p:cNvSpPr/>
          <p:nvPr/>
        </p:nvSpPr>
        <p:spPr>
          <a:xfrm>
            <a:off x="3328416" y="1435608"/>
            <a:ext cx="160106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12月</a:t>
            </a:r>
            <a:endParaRPr lang="en-US" sz="900" dirty="0"/>
          </a:p>
        </p:txBody>
      </p:sp>
      <p:sp>
        <p:nvSpPr>
          <p:cNvPr id="7" name="Text 5"/>
          <p:cNvSpPr/>
          <p:nvPr/>
        </p:nvSpPr>
        <p:spPr>
          <a:xfrm>
            <a:off x="3328416" y="1581912"/>
            <a:ext cx="1601068"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2026</a:t>
            </a:r>
            <a:endParaRPr lang="en-US" sz="700" dirty="0"/>
          </a:p>
        </p:txBody>
      </p:sp>
      <p:sp>
        <p:nvSpPr>
          <p:cNvPr id="8" name="Shape 6"/>
          <p:cNvSpPr/>
          <p:nvPr/>
        </p:nvSpPr>
        <p:spPr>
          <a:xfrm>
            <a:off x="4947772" y="1417320"/>
            <a:ext cx="0" cy="3200400"/>
          </a:xfrm>
          <a:prstGeom prst="line">
            <a:avLst/>
          </a:prstGeom>
          <a:noFill/>
          <a:ln w="12700">
            <a:solidFill>
              <a:srgbClr val="6E6866"/>
            </a:solidFill>
            <a:prstDash val="solid"/>
          </a:ln>
        </p:spPr>
      </p:sp>
      <p:sp>
        <p:nvSpPr>
          <p:cNvPr id="9" name="Text 7"/>
          <p:cNvSpPr/>
          <p:nvPr/>
        </p:nvSpPr>
        <p:spPr>
          <a:xfrm>
            <a:off x="4984348" y="1435608"/>
            <a:ext cx="160106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1月</a:t>
            </a:r>
            <a:endParaRPr lang="en-US" sz="900" dirty="0"/>
          </a:p>
        </p:txBody>
      </p:sp>
      <p:sp>
        <p:nvSpPr>
          <p:cNvPr id="10" name="Text 8"/>
          <p:cNvSpPr/>
          <p:nvPr/>
        </p:nvSpPr>
        <p:spPr>
          <a:xfrm>
            <a:off x="4984348" y="1581912"/>
            <a:ext cx="1601068"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2027</a:t>
            </a:r>
            <a:endParaRPr lang="en-US" sz="700" dirty="0"/>
          </a:p>
        </p:txBody>
      </p:sp>
      <p:sp>
        <p:nvSpPr>
          <p:cNvPr id="11" name="Shape 9"/>
          <p:cNvSpPr/>
          <p:nvPr/>
        </p:nvSpPr>
        <p:spPr>
          <a:xfrm>
            <a:off x="6603704" y="1417320"/>
            <a:ext cx="0" cy="3200400"/>
          </a:xfrm>
          <a:prstGeom prst="line">
            <a:avLst/>
          </a:prstGeom>
          <a:noFill/>
          <a:ln w="9525">
            <a:solidFill>
              <a:srgbClr val="DCD7D2"/>
            </a:solidFill>
            <a:prstDash val="solid"/>
          </a:ln>
        </p:spPr>
      </p:sp>
      <p:sp>
        <p:nvSpPr>
          <p:cNvPr id="12" name="Text 10"/>
          <p:cNvSpPr/>
          <p:nvPr/>
        </p:nvSpPr>
        <p:spPr>
          <a:xfrm>
            <a:off x="6640280" y="1435608"/>
            <a:ext cx="1440817"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2月</a:t>
            </a:r>
            <a:endParaRPr lang="en-US" sz="900" dirty="0"/>
          </a:p>
        </p:txBody>
      </p:sp>
      <p:sp>
        <p:nvSpPr>
          <p:cNvPr id="13" name="Shape 11"/>
          <p:cNvSpPr/>
          <p:nvPr/>
        </p:nvSpPr>
        <p:spPr>
          <a:xfrm>
            <a:off x="8099385" y="1417320"/>
            <a:ext cx="0" cy="3200400"/>
          </a:xfrm>
          <a:prstGeom prst="line">
            <a:avLst/>
          </a:prstGeom>
          <a:noFill/>
          <a:ln w="9525">
            <a:solidFill>
              <a:srgbClr val="DCD7D2"/>
            </a:solidFill>
            <a:prstDash val="solid"/>
          </a:ln>
        </p:spPr>
      </p:sp>
      <p:sp>
        <p:nvSpPr>
          <p:cNvPr id="14" name="Text 12"/>
          <p:cNvSpPr/>
          <p:nvPr/>
        </p:nvSpPr>
        <p:spPr>
          <a:xfrm>
            <a:off x="8135961" y="1435608"/>
            <a:ext cx="160106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3月</a:t>
            </a:r>
            <a:endParaRPr lang="en-US" sz="900" dirty="0"/>
          </a:p>
        </p:txBody>
      </p:sp>
      <p:sp>
        <p:nvSpPr>
          <p:cNvPr id="15" name="Shape 13"/>
          <p:cNvSpPr/>
          <p:nvPr/>
        </p:nvSpPr>
        <p:spPr>
          <a:xfrm>
            <a:off x="9755317" y="1417320"/>
            <a:ext cx="0" cy="3200400"/>
          </a:xfrm>
          <a:prstGeom prst="line">
            <a:avLst/>
          </a:prstGeom>
          <a:noFill/>
          <a:ln w="9525">
            <a:solidFill>
              <a:srgbClr val="DCD7D2"/>
            </a:solidFill>
            <a:prstDash val="solid"/>
          </a:ln>
        </p:spPr>
      </p:sp>
      <p:sp>
        <p:nvSpPr>
          <p:cNvPr id="16" name="Text 14"/>
          <p:cNvSpPr/>
          <p:nvPr/>
        </p:nvSpPr>
        <p:spPr>
          <a:xfrm>
            <a:off x="9791893" y="1435608"/>
            <a:ext cx="1547651"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4月</a:t>
            </a:r>
            <a:endParaRPr lang="en-US" sz="900" dirty="0"/>
          </a:p>
        </p:txBody>
      </p:sp>
      <p:sp>
        <p:nvSpPr>
          <p:cNvPr id="17" name="Shape 15"/>
          <p:cNvSpPr/>
          <p:nvPr/>
        </p:nvSpPr>
        <p:spPr>
          <a:xfrm>
            <a:off x="11357832" y="1417320"/>
            <a:ext cx="0" cy="3200400"/>
          </a:xfrm>
          <a:prstGeom prst="line">
            <a:avLst/>
          </a:prstGeom>
          <a:noFill/>
          <a:ln w="9525">
            <a:solidFill>
              <a:srgbClr val="DCD7D2"/>
            </a:solidFill>
            <a:prstDash val="solid"/>
          </a:ln>
        </p:spPr>
      </p:sp>
      <p:sp>
        <p:nvSpPr>
          <p:cNvPr id="18" name="Text 16"/>
          <p:cNvSpPr/>
          <p:nvPr/>
        </p:nvSpPr>
        <p:spPr>
          <a:xfrm>
            <a:off x="11394408" y="1435608"/>
            <a:ext cx="319056"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5月</a:t>
            </a:r>
            <a:endParaRPr lang="en-US" sz="900" dirty="0"/>
          </a:p>
        </p:txBody>
      </p:sp>
      <p:sp>
        <p:nvSpPr>
          <p:cNvPr id="19" name="Shape 17"/>
          <p:cNvSpPr/>
          <p:nvPr/>
        </p:nvSpPr>
        <p:spPr>
          <a:xfrm>
            <a:off x="457200" y="1728216"/>
            <a:ext cx="11274552" cy="0"/>
          </a:xfrm>
          <a:prstGeom prst="line">
            <a:avLst/>
          </a:prstGeom>
          <a:noFill/>
          <a:ln w="9525">
            <a:solidFill>
              <a:srgbClr val="6E6866"/>
            </a:solidFill>
            <a:prstDash val="solid"/>
          </a:ln>
        </p:spPr>
      </p:sp>
      <p:sp>
        <p:nvSpPr>
          <p:cNvPr id="20" name="Shape 18"/>
          <p:cNvSpPr/>
          <p:nvPr/>
        </p:nvSpPr>
        <p:spPr>
          <a:xfrm>
            <a:off x="3291840" y="1417320"/>
            <a:ext cx="0" cy="3200400"/>
          </a:xfrm>
          <a:prstGeom prst="line">
            <a:avLst/>
          </a:prstGeom>
          <a:noFill/>
          <a:ln w="9525">
            <a:solidFill>
              <a:srgbClr val="6E6866"/>
            </a:solidFill>
            <a:prstDash val="solid"/>
          </a:ln>
        </p:spPr>
      </p:sp>
      <p:sp>
        <p:nvSpPr>
          <p:cNvPr id="21" name="Shape 19"/>
          <p:cNvSpPr/>
          <p:nvPr/>
        </p:nvSpPr>
        <p:spPr>
          <a:xfrm>
            <a:off x="11731752" y="1417320"/>
            <a:ext cx="0" cy="3200400"/>
          </a:xfrm>
          <a:prstGeom prst="line">
            <a:avLst/>
          </a:prstGeom>
          <a:noFill/>
          <a:ln w="9525">
            <a:solidFill>
              <a:srgbClr val="6E6866"/>
            </a:solidFill>
            <a:prstDash val="solid"/>
          </a:ln>
        </p:spPr>
      </p:sp>
      <p:sp>
        <p:nvSpPr>
          <p:cNvPr id="22" name="Shape 20"/>
          <p:cNvSpPr/>
          <p:nvPr/>
        </p:nvSpPr>
        <p:spPr>
          <a:xfrm>
            <a:off x="457200" y="1728216"/>
            <a:ext cx="11274552" cy="262682"/>
          </a:xfrm>
          <a:prstGeom prst="rect">
            <a:avLst/>
          </a:prstGeom>
          <a:solidFill>
            <a:srgbClr val="F5F3F1"/>
          </a:solidFill>
          <a:ln w="12700">
            <a:solidFill>
              <a:srgbClr val="F5F3F1"/>
            </a:solidFill>
            <a:prstDash val="solid"/>
          </a:ln>
        </p:spPr>
      </p:sp>
      <p:sp>
        <p:nvSpPr>
          <p:cNvPr id="23" name="Shape 21"/>
          <p:cNvSpPr/>
          <p:nvPr/>
        </p:nvSpPr>
        <p:spPr>
          <a:xfrm>
            <a:off x="530352" y="1818409"/>
            <a:ext cx="82296" cy="82296"/>
          </a:xfrm>
          <a:prstGeom prst="rect">
            <a:avLst/>
          </a:prstGeom>
          <a:solidFill>
            <a:srgbClr val="8C2740"/>
          </a:solidFill>
          <a:ln w="12700">
            <a:solidFill>
              <a:srgbClr val="8C2740"/>
            </a:solidFill>
            <a:prstDash val="solid"/>
          </a:ln>
        </p:spPr>
      </p:sp>
      <p:sp>
        <p:nvSpPr>
          <p:cNvPr id="24" name="Text 22"/>
          <p:cNvSpPr/>
          <p:nvPr/>
        </p:nvSpPr>
        <p:spPr>
          <a:xfrm>
            <a:off x="676656" y="1728216"/>
            <a:ext cx="2560320" cy="262682"/>
          </a:xfrm>
          <a:prstGeom prst="rect">
            <a:avLst/>
          </a:prstGeom>
          <a:noFill/>
          <a:ln/>
        </p:spPr>
        <p:txBody>
          <a:bodyPr wrap="square" lIns="0" tIns="0" rIns="0" bIns="0" rtlCol="0" anchor="ctr"/>
          <a:lstStyle/>
          <a:p>
            <a:pPr indent="0" marL="0">
              <a:buNone/>
            </a:pPr>
            <a:r>
              <a:rPr lang="en-US" sz="1050" b="1" dirty="0">
                <a:solidFill>
                  <a:srgbClr val="1B1A19"/>
                </a:solidFill>
                <a:latin typeface="Yu Gothic" pitchFamily="34" charset="0"/>
                <a:ea typeface="Yu Gothic" pitchFamily="34" charset="-122"/>
                <a:cs typeface="Yu Gothic" pitchFamily="34" charset="-120"/>
              </a:rPr>
              <a:t>発注準備</a:t>
            </a:r>
            <a:endParaRPr lang="en-US" sz="1050" dirty="0"/>
          </a:p>
        </p:txBody>
      </p:sp>
      <p:sp>
        <p:nvSpPr>
          <p:cNvPr id="25" name="Text 23"/>
          <p:cNvSpPr/>
          <p:nvPr/>
        </p:nvSpPr>
        <p:spPr>
          <a:xfrm>
            <a:off x="548640" y="1990898"/>
            <a:ext cx="2670048" cy="262682"/>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B工事 見積・発注（賃貸人指定業者）</a:t>
            </a:r>
            <a:endParaRPr lang="en-US" sz="1000" dirty="0"/>
          </a:p>
        </p:txBody>
      </p:sp>
      <p:sp>
        <p:nvSpPr>
          <p:cNvPr id="26" name="Shape 24"/>
          <p:cNvSpPr/>
          <p:nvPr/>
        </p:nvSpPr>
        <p:spPr>
          <a:xfrm>
            <a:off x="3291840" y="2053942"/>
            <a:ext cx="3258447" cy="136595"/>
          </a:xfrm>
          <a:prstGeom prst="roundRect">
            <a:avLst>
              <a:gd name="adj" fmla="val 13388"/>
            </a:avLst>
          </a:prstGeom>
          <a:solidFill>
            <a:srgbClr val="8C2740"/>
          </a:solidFill>
          <a:ln w="12700">
            <a:solidFill>
              <a:srgbClr val="8C2740"/>
            </a:solidFill>
            <a:prstDash val="solid"/>
          </a:ln>
        </p:spPr>
      </p:sp>
      <p:sp>
        <p:nvSpPr>
          <p:cNvPr id="27" name="Text 25"/>
          <p:cNvSpPr/>
          <p:nvPr/>
        </p:nvSpPr>
        <p:spPr>
          <a:xfrm>
            <a:off x="3346704" y="1990898"/>
            <a:ext cx="3148719" cy="26268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12/1 – 1/31</a:t>
            </a:r>
            <a:endParaRPr lang="en-US" sz="850" dirty="0"/>
          </a:p>
        </p:txBody>
      </p:sp>
      <p:sp>
        <p:nvSpPr>
          <p:cNvPr id="28" name="Text 26"/>
          <p:cNvSpPr/>
          <p:nvPr/>
        </p:nvSpPr>
        <p:spPr>
          <a:xfrm>
            <a:off x="548640" y="2253580"/>
            <a:ext cx="2670048" cy="262682"/>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C工事 施工者選定・見積</a:t>
            </a:r>
            <a:endParaRPr lang="en-US" sz="1000" dirty="0"/>
          </a:p>
        </p:txBody>
      </p:sp>
      <p:sp>
        <p:nvSpPr>
          <p:cNvPr id="29" name="Shape 27"/>
          <p:cNvSpPr/>
          <p:nvPr/>
        </p:nvSpPr>
        <p:spPr>
          <a:xfrm>
            <a:off x="3291840" y="2316624"/>
            <a:ext cx="3258447" cy="136595"/>
          </a:xfrm>
          <a:prstGeom prst="roundRect">
            <a:avLst>
              <a:gd name="adj" fmla="val 13388"/>
            </a:avLst>
          </a:prstGeom>
          <a:solidFill>
            <a:srgbClr val="8C2740"/>
          </a:solidFill>
          <a:ln w="12700">
            <a:solidFill>
              <a:srgbClr val="8C2740"/>
            </a:solidFill>
            <a:prstDash val="solid"/>
          </a:ln>
        </p:spPr>
      </p:sp>
      <p:sp>
        <p:nvSpPr>
          <p:cNvPr id="30" name="Text 28"/>
          <p:cNvSpPr/>
          <p:nvPr/>
        </p:nvSpPr>
        <p:spPr>
          <a:xfrm>
            <a:off x="3346704" y="2253580"/>
            <a:ext cx="3148719" cy="26268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12/1 – 1/31</a:t>
            </a:r>
            <a:endParaRPr lang="en-US" sz="850" dirty="0"/>
          </a:p>
        </p:txBody>
      </p:sp>
      <p:sp>
        <p:nvSpPr>
          <p:cNvPr id="31" name="Text 29"/>
          <p:cNvSpPr/>
          <p:nvPr/>
        </p:nvSpPr>
        <p:spPr>
          <a:xfrm>
            <a:off x="548640" y="2516263"/>
            <a:ext cx="2670048" cy="262682"/>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C工事発注先 書面提出</a:t>
            </a:r>
            <a:endParaRPr lang="en-US" sz="1000" dirty="0"/>
          </a:p>
        </p:txBody>
      </p:sp>
      <p:sp>
        <p:nvSpPr>
          <p:cNvPr id="32" name="Shape 30"/>
          <p:cNvSpPr/>
          <p:nvPr/>
        </p:nvSpPr>
        <p:spPr>
          <a:xfrm>
            <a:off x="6757937" y="2588168"/>
            <a:ext cx="118872" cy="118872"/>
          </a:xfrm>
          <a:prstGeom prst="diamond">
            <a:avLst/>
          </a:prstGeom>
          <a:solidFill>
            <a:srgbClr val="8C2740"/>
          </a:solidFill>
          <a:ln w="12700">
            <a:solidFill>
              <a:srgbClr val="8C2740"/>
            </a:solidFill>
            <a:prstDash val="solid"/>
          </a:ln>
        </p:spPr>
      </p:sp>
      <p:sp>
        <p:nvSpPr>
          <p:cNvPr id="33" name="Text 31"/>
          <p:cNvSpPr/>
          <p:nvPr/>
        </p:nvSpPr>
        <p:spPr>
          <a:xfrm>
            <a:off x="6922529" y="2516263"/>
            <a:ext cx="786384" cy="262682"/>
          </a:xfrm>
          <a:prstGeom prst="rect">
            <a:avLst/>
          </a:prstGeom>
          <a:noFill/>
          <a:ln/>
        </p:spPr>
        <p:txBody>
          <a:bodyPr wrap="square" lIns="0" tIns="0" rIns="0" bIns="0" rtlCol="0" anchor="ctr"/>
          <a:lstStyle/>
          <a:p>
            <a:pPr algn="l" indent="0" marL="0">
              <a:buNone/>
            </a:pPr>
            <a:r>
              <a:rPr lang="en-US" sz="950" b="1" dirty="0">
                <a:solidFill>
                  <a:srgbClr val="8C2740"/>
                </a:solidFill>
                <a:latin typeface="Arial" pitchFamily="34" charset="0"/>
                <a:ea typeface="Arial" pitchFamily="34" charset="-122"/>
                <a:cs typeface="Arial" pitchFamily="34" charset="-120"/>
              </a:rPr>
              <a:t>2/5</a:t>
            </a:r>
            <a:endParaRPr lang="en-US" sz="950" dirty="0"/>
          </a:p>
        </p:txBody>
      </p:sp>
      <p:sp>
        <p:nvSpPr>
          <p:cNvPr id="34" name="Shape 32"/>
          <p:cNvSpPr/>
          <p:nvPr/>
        </p:nvSpPr>
        <p:spPr>
          <a:xfrm>
            <a:off x="457200" y="2778945"/>
            <a:ext cx="11274552" cy="262682"/>
          </a:xfrm>
          <a:prstGeom prst="rect">
            <a:avLst/>
          </a:prstGeom>
          <a:solidFill>
            <a:srgbClr val="F5F3F1"/>
          </a:solidFill>
          <a:ln w="12700">
            <a:solidFill>
              <a:srgbClr val="F5F3F1"/>
            </a:solidFill>
            <a:prstDash val="solid"/>
          </a:ln>
        </p:spPr>
      </p:sp>
      <p:sp>
        <p:nvSpPr>
          <p:cNvPr id="35" name="Shape 33"/>
          <p:cNvSpPr/>
          <p:nvPr/>
        </p:nvSpPr>
        <p:spPr>
          <a:xfrm>
            <a:off x="530352" y="2869138"/>
            <a:ext cx="82296" cy="82296"/>
          </a:xfrm>
          <a:prstGeom prst="rect">
            <a:avLst/>
          </a:prstGeom>
          <a:solidFill>
            <a:srgbClr val="8C2740"/>
          </a:solidFill>
          <a:ln w="12700">
            <a:solidFill>
              <a:srgbClr val="8C2740"/>
            </a:solidFill>
            <a:prstDash val="solid"/>
          </a:ln>
        </p:spPr>
      </p:sp>
      <p:sp>
        <p:nvSpPr>
          <p:cNvPr id="36" name="Text 34"/>
          <p:cNvSpPr/>
          <p:nvPr/>
        </p:nvSpPr>
        <p:spPr>
          <a:xfrm>
            <a:off x="676656" y="2778945"/>
            <a:ext cx="2560320" cy="262682"/>
          </a:xfrm>
          <a:prstGeom prst="rect">
            <a:avLst/>
          </a:prstGeom>
          <a:noFill/>
          <a:ln/>
        </p:spPr>
        <p:txBody>
          <a:bodyPr wrap="square" lIns="0" tIns="0" rIns="0" bIns="0" rtlCol="0" anchor="ctr"/>
          <a:lstStyle/>
          <a:p>
            <a:pPr indent="0" marL="0">
              <a:buNone/>
            </a:pPr>
            <a:r>
              <a:rPr lang="en-US" sz="1050" b="1" dirty="0">
                <a:solidFill>
                  <a:srgbClr val="1B1A19"/>
                </a:solidFill>
                <a:latin typeface="Yu Gothic" pitchFamily="34" charset="0"/>
                <a:ea typeface="Yu Gothic" pitchFamily="34" charset="-122"/>
                <a:cs typeface="Yu Gothic" pitchFamily="34" charset="-120"/>
              </a:rPr>
              <a:t>施工</a:t>
            </a:r>
            <a:endParaRPr lang="en-US" sz="1050" dirty="0"/>
          </a:p>
        </p:txBody>
      </p:sp>
      <p:sp>
        <p:nvSpPr>
          <p:cNvPr id="37" name="Text 35"/>
          <p:cNvSpPr/>
          <p:nvPr/>
        </p:nvSpPr>
        <p:spPr>
          <a:xfrm>
            <a:off x="548640" y="3041627"/>
            <a:ext cx="2670048" cy="262682"/>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物件 引渡</a:t>
            </a:r>
            <a:endParaRPr lang="en-US" sz="1000" dirty="0"/>
          </a:p>
        </p:txBody>
      </p:sp>
      <p:sp>
        <p:nvSpPr>
          <p:cNvPr id="38" name="Shape 36"/>
          <p:cNvSpPr/>
          <p:nvPr/>
        </p:nvSpPr>
        <p:spPr>
          <a:xfrm>
            <a:off x="7292109" y="3113532"/>
            <a:ext cx="118872" cy="118872"/>
          </a:xfrm>
          <a:prstGeom prst="diamond">
            <a:avLst/>
          </a:prstGeom>
          <a:solidFill>
            <a:srgbClr val="8C2740"/>
          </a:solidFill>
          <a:ln w="12700">
            <a:solidFill>
              <a:srgbClr val="8C2740"/>
            </a:solidFill>
            <a:prstDash val="solid"/>
          </a:ln>
        </p:spPr>
      </p:sp>
      <p:sp>
        <p:nvSpPr>
          <p:cNvPr id="39" name="Text 37"/>
          <p:cNvSpPr/>
          <p:nvPr/>
        </p:nvSpPr>
        <p:spPr>
          <a:xfrm>
            <a:off x="7456701" y="3041627"/>
            <a:ext cx="786384" cy="262682"/>
          </a:xfrm>
          <a:prstGeom prst="rect">
            <a:avLst/>
          </a:prstGeom>
          <a:noFill/>
          <a:ln/>
        </p:spPr>
        <p:txBody>
          <a:bodyPr wrap="square" lIns="0" tIns="0" rIns="0" bIns="0" rtlCol="0" anchor="ctr"/>
          <a:lstStyle/>
          <a:p>
            <a:pPr algn="l" indent="0" marL="0">
              <a:buNone/>
            </a:pPr>
            <a:r>
              <a:rPr lang="en-US" sz="950" b="1" dirty="0">
                <a:solidFill>
                  <a:srgbClr val="8C2740"/>
                </a:solidFill>
                <a:latin typeface="Arial" pitchFamily="34" charset="0"/>
                <a:ea typeface="Arial" pitchFamily="34" charset="-122"/>
                <a:cs typeface="Arial" pitchFamily="34" charset="-120"/>
              </a:rPr>
              <a:t>2/15</a:t>
            </a:r>
            <a:endParaRPr lang="en-US" sz="950" dirty="0"/>
          </a:p>
        </p:txBody>
      </p:sp>
      <p:sp>
        <p:nvSpPr>
          <p:cNvPr id="40" name="Text 38"/>
          <p:cNvSpPr/>
          <p:nvPr/>
        </p:nvSpPr>
        <p:spPr>
          <a:xfrm>
            <a:off x="548640" y="3304309"/>
            <a:ext cx="2670048" cy="262682"/>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B工事 施工</a:t>
            </a:r>
            <a:endParaRPr lang="en-US" sz="1000" dirty="0"/>
          </a:p>
        </p:txBody>
      </p:sp>
      <p:sp>
        <p:nvSpPr>
          <p:cNvPr id="41" name="Shape 39"/>
          <p:cNvSpPr/>
          <p:nvPr/>
        </p:nvSpPr>
        <p:spPr>
          <a:xfrm>
            <a:off x="7351545" y="3367353"/>
            <a:ext cx="2884527" cy="136595"/>
          </a:xfrm>
          <a:prstGeom prst="roundRect">
            <a:avLst>
              <a:gd name="adj" fmla="val 13388"/>
            </a:avLst>
          </a:prstGeom>
          <a:solidFill>
            <a:srgbClr val="8C2740"/>
          </a:solidFill>
          <a:ln w="12700">
            <a:solidFill>
              <a:srgbClr val="8C2740"/>
            </a:solidFill>
            <a:prstDash val="solid"/>
          </a:ln>
        </p:spPr>
      </p:sp>
      <p:sp>
        <p:nvSpPr>
          <p:cNvPr id="42" name="Text 40"/>
          <p:cNvSpPr/>
          <p:nvPr/>
        </p:nvSpPr>
        <p:spPr>
          <a:xfrm>
            <a:off x="7406409" y="3304309"/>
            <a:ext cx="2774799" cy="26268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2/15 – 4/10</a:t>
            </a:r>
            <a:endParaRPr lang="en-US" sz="850" dirty="0"/>
          </a:p>
        </p:txBody>
      </p:sp>
      <p:sp>
        <p:nvSpPr>
          <p:cNvPr id="43" name="Text 41"/>
          <p:cNvSpPr/>
          <p:nvPr/>
        </p:nvSpPr>
        <p:spPr>
          <a:xfrm>
            <a:off x="548640" y="3566991"/>
            <a:ext cx="2670048" cy="262682"/>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C工事 施工（内装）</a:t>
            </a:r>
            <a:endParaRPr lang="en-US" sz="1000" dirty="0"/>
          </a:p>
        </p:txBody>
      </p:sp>
      <p:sp>
        <p:nvSpPr>
          <p:cNvPr id="44" name="Shape 42"/>
          <p:cNvSpPr/>
          <p:nvPr/>
        </p:nvSpPr>
        <p:spPr>
          <a:xfrm>
            <a:off x="7618630" y="3630035"/>
            <a:ext cx="2724275" cy="136595"/>
          </a:xfrm>
          <a:prstGeom prst="roundRect">
            <a:avLst>
              <a:gd name="adj" fmla="val 13388"/>
            </a:avLst>
          </a:prstGeom>
          <a:solidFill>
            <a:srgbClr val="8C2740"/>
          </a:solidFill>
          <a:ln w="12700">
            <a:solidFill>
              <a:srgbClr val="8C2740"/>
            </a:solidFill>
            <a:prstDash val="solid"/>
          </a:ln>
        </p:spPr>
      </p:sp>
      <p:sp>
        <p:nvSpPr>
          <p:cNvPr id="45" name="Text 43"/>
          <p:cNvSpPr/>
          <p:nvPr/>
        </p:nvSpPr>
        <p:spPr>
          <a:xfrm>
            <a:off x="7673494" y="3566991"/>
            <a:ext cx="2614547" cy="262682"/>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2/20 – 4/12</a:t>
            </a:r>
            <a:endParaRPr lang="en-US" sz="850" dirty="0"/>
          </a:p>
        </p:txBody>
      </p:sp>
      <p:sp>
        <p:nvSpPr>
          <p:cNvPr id="46" name="Text 44"/>
          <p:cNvSpPr/>
          <p:nvPr/>
        </p:nvSpPr>
        <p:spPr>
          <a:xfrm>
            <a:off x="548640" y="3829673"/>
            <a:ext cx="2670048" cy="262682"/>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厨房機器・什器・備品 搬入設置</a:t>
            </a:r>
            <a:endParaRPr lang="en-US" sz="1000" dirty="0"/>
          </a:p>
        </p:txBody>
      </p:sp>
      <p:sp>
        <p:nvSpPr>
          <p:cNvPr id="47" name="Shape 45"/>
          <p:cNvSpPr/>
          <p:nvPr/>
        </p:nvSpPr>
        <p:spPr>
          <a:xfrm>
            <a:off x="9755317" y="3892717"/>
            <a:ext cx="747840" cy="136595"/>
          </a:xfrm>
          <a:prstGeom prst="roundRect">
            <a:avLst>
              <a:gd name="adj" fmla="val 13388"/>
            </a:avLst>
          </a:prstGeom>
          <a:solidFill>
            <a:srgbClr val="8C2740"/>
          </a:solidFill>
          <a:ln w="12700">
            <a:solidFill>
              <a:srgbClr val="8C2740"/>
            </a:solidFill>
            <a:prstDash val="solid"/>
          </a:ln>
        </p:spPr>
      </p:sp>
      <p:sp>
        <p:nvSpPr>
          <p:cNvPr id="48" name="Text 46"/>
          <p:cNvSpPr/>
          <p:nvPr/>
        </p:nvSpPr>
        <p:spPr>
          <a:xfrm>
            <a:off x="8822629" y="3829673"/>
            <a:ext cx="896112" cy="262682"/>
          </a:xfrm>
          <a:prstGeom prst="rect">
            <a:avLst/>
          </a:prstGeom>
          <a:noFill/>
          <a:ln/>
        </p:spPr>
        <p:txBody>
          <a:bodyPr wrap="square" lIns="0" tIns="0" rIns="0" bIns="0" rtlCol="0" anchor="ctr"/>
          <a:lstStyle/>
          <a:p>
            <a:pPr algn="r" indent="0" marL="0">
              <a:buNone/>
            </a:pPr>
            <a:r>
              <a:rPr lang="en-US" sz="850" dirty="0">
                <a:solidFill>
                  <a:srgbClr val="6E6866"/>
                </a:solidFill>
                <a:latin typeface="Arial" pitchFamily="34" charset="0"/>
                <a:ea typeface="Arial" pitchFamily="34" charset="-122"/>
                <a:cs typeface="Arial" pitchFamily="34" charset="-120"/>
              </a:rPr>
              <a:t>4/1 – 4/15</a:t>
            </a:r>
            <a:endParaRPr lang="en-US" sz="850" dirty="0"/>
          </a:p>
        </p:txBody>
      </p:sp>
      <p:sp>
        <p:nvSpPr>
          <p:cNvPr id="49" name="Text 47"/>
          <p:cNvSpPr/>
          <p:nvPr/>
        </p:nvSpPr>
        <p:spPr>
          <a:xfrm>
            <a:off x="548640" y="4092356"/>
            <a:ext cx="2670048" cy="262682"/>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完成検査・是正</a:t>
            </a:r>
            <a:endParaRPr lang="en-US" sz="1000" dirty="0"/>
          </a:p>
        </p:txBody>
      </p:sp>
      <p:sp>
        <p:nvSpPr>
          <p:cNvPr id="50" name="Shape 48"/>
          <p:cNvSpPr/>
          <p:nvPr/>
        </p:nvSpPr>
        <p:spPr>
          <a:xfrm>
            <a:off x="10396323" y="4155399"/>
            <a:ext cx="213669" cy="136595"/>
          </a:xfrm>
          <a:prstGeom prst="roundRect">
            <a:avLst>
              <a:gd name="adj" fmla="val 13388"/>
            </a:avLst>
          </a:prstGeom>
          <a:solidFill>
            <a:srgbClr val="8C2740"/>
          </a:solidFill>
          <a:ln w="12700">
            <a:solidFill>
              <a:srgbClr val="8C2740"/>
            </a:solidFill>
            <a:prstDash val="solid"/>
          </a:ln>
        </p:spPr>
      </p:sp>
      <p:sp>
        <p:nvSpPr>
          <p:cNvPr id="51" name="Text 49"/>
          <p:cNvSpPr/>
          <p:nvPr/>
        </p:nvSpPr>
        <p:spPr>
          <a:xfrm>
            <a:off x="9463635" y="4092356"/>
            <a:ext cx="896112" cy="262682"/>
          </a:xfrm>
          <a:prstGeom prst="rect">
            <a:avLst/>
          </a:prstGeom>
          <a:noFill/>
          <a:ln/>
        </p:spPr>
        <p:txBody>
          <a:bodyPr wrap="square" lIns="0" tIns="0" rIns="0" bIns="0" rtlCol="0" anchor="ctr"/>
          <a:lstStyle/>
          <a:p>
            <a:pPr algn="r" indent="0" marL="0">
              <a:buNone/>
            </a:pPr>
            <a:r>
              <a:rPr lang="en-US" sz="850" dirty="0">
                <a:solidFill>
                  <a:srgbClr val="6E6866"/>
                </a:solidFill>
                <a:latin typeface="Arial" pitchFamily="34" charset="0"/>
                <a:ea typeface="Arial" pitchFamily="34" charset="-122"/>
                <a:cs typeface="Arial" pitchFamily="34" charset="-120"/>
              </a:rPr>
              <a:t>4/13 – 4/17</a:t>
            </a:r>
            <a:endParaRPr lang="en-US" sz="850" dirty="0"/>
          </a:p>
        </p:txBody>
      </p:sp>
      <p:sp>
        <p:nvSpPr>
          <p:cNvPr id="52" name="Text 50"/>
          <p:cNvSpPr/>
          <p:nvPr/>
        </p:nvSpPr>
        <p:spPr>
          <a:xfrm>
            <a:off x="548640" y="4355038"/>
            <a:ext cx="2670048" cy="262682"/>
          </a:xfrm>
          <a:prstGeom prst="rect">
            <a:avLst/>
          </a:prstGeom>
          <a:noFill/>
          <a:ln/>
        </p:spPr>
        <p:txBody>
          <a:bodyPr wrap="square" lIns="0" tIns="0" rIns="0" bIns="0" rtlCol="0" anchor="ctr"/>
          <a:lstStyle/>
          <a:p>
            <a:pPr indent="0" marL="0">
              <a:buNone/>
            </a:pPr>
            <a:r>
              <a:rPr lang="en-US" sz="1000" dirty="0">
                <a:solidFill>
                  <a:srgbClr val="1B1A19"/>
                </a:solidFill>
                <a:latin typeface="Yu Gothic" pitchFamily="34" charset="0"/>
                <a:ea typeface="Yu Gothic" pitchFamily="34" charset="-122"/>
                <a:cs typeface="Yu Gothic" pitchFamily="34" charset="-120"/>
              </a:rPr>
              <a:t>消防・保健所検査／営業許可</a:t>
            </a:r>
            <a:endParaRPr lang="en-US" sz="1000" dirty="0"/>
          </a:p>
        </p:txBody>
      </p:sp>
      <p:sp>
        <p:nvSpPr>
          <p:cNvPr id="53" name="Shape 51"/>
          <p:cNvSpPr/>
          <p:nvPr/>
        </p:nvSpPr>
        <p:spPr>
          <a:xfrm>
            <a:off x="10503157" y="4418082"/>
            <a:ext cx="373920" cy="136595"/>
          </a:xfrm>
          <a:prstGeom prst="roundRect">
            <a:avLst>
              <a:gd name="adj" fmla="val 13388"/>
            </a:avLst>
          </a:prstGeom>
          <a:solidFill>
            <a:srgbClr val="8C2740"/>
          </a:solidFill>
          <a:ln w="12700">
            <a:solidFill>
              <a:srgbClr val="8C2740"/>
            </a:solidFill>
            <a:prstDash val="solid"/>
          </a:ln>
        </p:spPr>
      </p:sp>
      <p:sp>
        <p:nvSpPr>
          <p:cNvPr id="54" name="Text 52"/>
          <p:cNvSpPr/>
          <p:nvPr/>
        </p:nvSpPr>
        <p:spPr>
          <a:xfrm>
            <a:off x="9570469" y="4355038"/>
            <a:ext cx="896112" cy="262682"/>
          </a:xfrm>
          <a:prstGeom prst="rect">
            <a:avLst/>
          </a:prstGeom>
          <a:noFill/>
          <a:ln/>
        </p:spPr>
        <p:txBody>
          <a:bodyPr wrap="square" lIns="0" tIns="0" rIns="0" bIns="0" rtlCol="0" anchor="ctr"/>
          <a:lstStyle/>
          <a:p>
            <a:pPr algn="r" indent="0" marL="0">
              <a:buNone/>
            </a:pPr>
            <a:r>
              <a:rPr lang="en-US" sz="850" dirty="0">
                <a:solidFill>
                  <a:srgbClr val="6E6866"/>
                </a:solidFill>
                <a:latin typeface="Arial" pitchFamily="34" charset="0"/>
                <a:ea typeface="Arial" pitchFamily="34" charset="-122"/>
                <a:cs typeface="Arial" pitchFamily="34" charset="-120"/>
              </a:rPr>
              <a:t>4/15 – 4/22</a:t>
            </a:r>
            <a:endParaRPr lang="en-US" sz="850" dirty="0"/>
          </a:p>
        </p:txBody>
      </p:sp>
      <p:sp>
        <p:nvSpPr>
          <p:cNvPr id="55" name="Shape 53"/>
          <p:cNvSpPr/>
          <p:nvPr/>
        </p:nvSpPr>
        <p:spPr>
          <a:xfrm>
            <a:off x="457200" y="4846320"/>
            <a:ext cx="3611880" cy="1207008"/>
          </a:xfrm>
          <a:prstGeom prst="rect">
            <a:avLst/>
          </a:prstGeom>
          <a:solidFill>
            <a:srgbClr val="F5F3F1"/>
          </a:solidFill>
          <a:ln w="9525">
            <a:solidFill>
              <a:srgbClr val="DCD7D2"/>
            </a:solidFill>
            <a:prstDash val="solid"/>
          </a:ln>
        </p:spPr>
      </p:sp>
      <p:sp>
        <p:nvSpPr>
          <p:cNvPr id="56" name="Text 54"/>
          <p:cNvSpPr/>
          <p:nvPr/>
        </p:nvSpPr>
        <p:spPr>
          <a:xfrm>
            <a:off x="603504" y="4956048"/>
            <a:ext cx="3319272" cy="256032"/>
          </a:xfrm>
          <a:prstGeom prst="rect">
            <a:avLst/>
          </a:prstGeom>
          <a:noFill/>
          <a:ln/>
        </p:spPr>
        <p:txBody>
          <a:bodyPr wrap="square" lIns="0" tIns="0" rIns="0" bIns="0" rtlCol="0" anchor="ctr"/>
          <a:lstStyle/>
          <a:p>
            <a:pPr indent="0" marL="0">
              <a:buNone/>
            </a:pPr>
            <a:r>
              <a:rPr lang="en-US" sz="1100" b="1" dirty="0">
                <a:solidFill>
                  <a:srgbClr val="8C2740"/>
                </a:solidFill>
                <a:latin typeface="Yu Gothic" pitchFamily="34" charset="0"/>
                <a:ea typeface="Yu Gothic" pitchFamily="34" charset="-122"/>
                <a:cs typeface="Yu Gothic" pitchFamily="34" charset="-120"/>
              </a:rPr>
              <a:t>工事区分</a:t>
            </a:r>
            <a:endParaRPr lang="en-US" sz="1100" dirty="0"/>
          </a:p>
        </p:txBody>
      </p:sp>
      <p:sp>
        <p:nvSpPr>
          <p:cNvPr id="57" name="Text 55"/>
          <p:cNvSpPr/>
          <p:nvPr/>
        </p:nvSpPr>
        <p:spPr>
          <a:xfrm>
            <a:off x="603504" y="5230368"/>
            <a:ext cx="3319272" cy="713232"/>
          </a:xfrm>
          <a:prstGeom prst="rect">
            <a:avLst/>
          </a:prstGeom>
          <a:noFill/>
          <a:ln/>
        </p:spPr>
        <p:txBody>
          <a:bodyPr wrap="square" lIns="0" tIns="0" rIns="0" bIns="0" rtlCol="0" anchor="t"/>
          <a:lstStyle/>
          <a:p>
            <a:pPr indent="0" marL="0">
              <a:buNone/>
            </a:pPr>
            <a:r>
              <a:rPr lang="en-US" sz="950" dirty="0">
                <a:solidFill>
                  <a:srgbClr val="1B1A19"/>
                </a:solidFill>
                <a:latin typeface="Yu Gothic" pitchFamily="34" charset="0"/>
                <a:ea typeface="Yu Gothic" pitchFamily="34" charset="-122"/>
                <a:cs typeface="Yu Gothic" pitchFamily="34" charset="-120"/>
              </a:rPr>
              <a:t>A工事＝賃貸人負担／B工事＝賃借人負担・賃貸人施工／C工事＝賃借人負担・賃貸人承認の業者が施工。</a:t>
            </a:r>
            <a:endParaRPr lang="en-US" sz="950" dirty="0"/>
          </a:p>
        </p:txBody>
      </p:sp>
      <p:sp>
        <p:nvSpPr>
          <p:cNvPr id="58" name="Shape 56"/>
          <p:cNvSpPr/>
          <p:nvPr/>
        </p:nvSpPr>
        <p:spPr>
          <a:xfrm>
            <a:off x="4288536" y="4846320"/>
            <a:ext cx="3611880" cy="1207008"/>
          </a:xfrm>
          <a:prstGeom prst="rect">
            <a:avLst/>
          </a:prstGeom>
          <a:solidFill>
            <a:srgbClr val="F5F3F1"/>
          </a:solidFill>
          <a:ln w="9525">
            <a:solidFill>
              <a:srgbClr val="DCD7D2"/>
            </a:solidFill>
            <a:prstDash val="solid"/>
          </a:ln>
        </p:spPr>
      </p:sp>
      <p:sp>
        <p:nvSpPr>
          <p:cNvPr id="59" name="Text 57"/>
          <p:cNvSpPr/>
          <p:nvPr/>
        </p:nvSpPr>
        <p:spPr>
          <a:xfrm>
            <a:off x="4434840" y="4956048"/>
            <a:ext cx="3319272" cy="256032"/>
          </a:xfrm>
          <a:prstGeom prst="rect">
            <a:avLst/>
          </a:prstGeom>
          <a:noFill/>
          <a:ln/>
        </p:spPr>
        <p:txBody>
          <a:bodyPr wrap="square" lIns="0" tIns="0" rIns="0" bIns="0" rtlCol="0" anchor="ctr"/>
          <a:lstStyle/>
          <a:p>
            <a:pPr indent="0" marL="0">
              <a:buNone/>
            </a:pPr>
            <a:r>
              <a:rPr lang="en-US" sz="1100" b="1" dirty="0">
                <a:solidFill>
                  <a:srgbClr val="8C2740"/>
                </a:solidFill>
                <a:latin typeface="Yu Gothic" pitchFamily="34" charset="0"/>
                <a:ea typeface="Yu Gothic" pitchFamily="34" charset="-122"/>
                <a:cs typeface="Yu Gothic" pitchFamily="34" charset="-120"/>
              </a:rPr>
              <a:t>賃貸人負担 1億円</a:t>
            </a:r>
            <a:endParaRPr lang="en-US" sz="1100" dirty="0"/>
          </a:p>
        </p:txBody>
      </p:sp>
      <p:sp>
        <p:nvSpPr>
          <p:cNvPr id="60" name="Text 58"/>
          <p:cNvSpPr/>
          <p:nvPr/>
        </p:nvSpPr>
        <p:spPr>
          <a:xfrm>
            <a:off x="4434840" y="5230368"/>
            <a:ext cx="3319272" cy="713232"/>
          </a:xfrm>
          <a:prstGeom prst="rect">
            <a:avLst/>
          </a:prstGeom>
          <a:noFill/>
          <a:ln/>
        </p:spPr>
        <p:txBody>
          <a:bodyPr wrap="square" lIns="0" tIns="0" rIns="0" bIns="0" rtlCol="0" anchor="t"/>
          <a:lstStyle/>
          <a:p>
            <a:pPr indent="0" marL="0">
              <a:buNone/>
            </a:pPr>
            <a:r>
              <a:rPr lang="en-US" sz="950" dirty="0">
                <a:solidFill>
                  <a:srgbClr val="1B1A19"/>
                </a:solidFill>
                <a:latin typeface="Yu Gothic" pitchFamily="34" charset="0"/>
                <a:ea typeface="Yu Gothic" pitchFamily="34" charset="-122"/>
                <a:cs typeface="Yu Gothic" pitchFamily="34" charset="-120"/>
              </a:rPr>
              <a:t>B・C工事につき上限1億円を賃貸人が負担。ただし厨房機器・什器・備品は対象外。</a:t>
            </a:r>
            <a:endParaRPr lang="en-US" sz="950" dirty="0"/>
          </a:p>
        </p:txBody>
      </p:sp>
      <p:sp>
        <p:nvSpPr>
          <p:cNvPr id="61" name="Shape 59"/>
          <p:cNvSpPr/>
          <p:nvPr/>
        </p:nvSpPr>
        <p:spPr>
          <a:xfrm>
            <a:off x="8119872" y="4846320"/>
            <a:ext cx="3611880" cy="1207008"/>
          </a:xfrm>
          <a:prstGeom prst="rect">
            <a:avLst/>
          </a:prstGeom>
          <a:solidFill>
            <a:srgbClr val="F5F3F1"/>
          </a:solidFill>
          <a:ln w="9525">
            <a:solidFill>
              <a:srgbClr val="DCD7D2"/>
            </a:solidFill>
            <a:prstDash val="solid"/>
          </a:ln>
        </p:spPr>
      </p:sp>
      <p:sp>
        <p:nvSpPr>
          <p:cNvPr id="62" name="Text 60"/>
          <p:cNvSpPr/>
          <p:nvPr/>
        </p:nvSpPr>
        <p:spPr>
          <a:xfrm>
            <a:off x="8266176" y="4956048"/>
            <a:ext cx="3319272" cy="256032"/>
          </a:xfrm>
          <a:prstGeom prst="rect">
            <a:avLst/>
          </a:prstGeom>
          <a:noFill/>
          <a:ln/>
        </p:spPr>
        <p:txBody>
          <a:bodyPr wrap="square" lIns="0" tIns="0" rIns="0" bIns="0" rtlCol="0" anchor="ctr"/>
          <a:lstStyle/>
          <a:p>
            <a:pPr indent="0" marL="0">
              <a:buNone/>
            </a:pPr>
            <a:r>
              <a:rPr lang="en-US" sz="1100" b="1" dirty="0">
                <a:solidFill>
                  <a:srgbClr val="8C2740"/>
                </a:solidFill>
                <a:latin typeface="Yu Gothic" pitchFamily="34" charset="0"/>
                <a:ea typeface="Yu Gothic" pitchFamily="34" charset="-122"/>
                <a:cs typeface="Yu Gothic" pitchFamily="34" charset="-120"/>
              </a:rPr>
              <a:t>工事時間の制限</a:t>
            </a:r>
            <a:endParaRPr lang="en-US" sz="1100" dirty="0"/>
          </a:p>
        </p:txBody>
      </p:sp>
      <p:sp>
        <p:nvSpPr>
          <p:cNvPr id="63" name="Text 61"/>
          <p:cNvSpPr/>
          <p:nvPr/>
        </p:nvSpPr>
        <p:spPr>
          <a:xfrm>
            <a:off x="8266176" y="5230368"/>
            <a:ext cx="3319272" cy="713232"/>
          </a:xfrm>
          <a:prstGeom prst="rect">
            <a:avLst/>
          </a:prstGeom>
          <a:noFill/>
          <a:ln/>
        </p:spPr>
        <p:txBody>
          <a:bodyPr wrap="square" lIns="0" tIns="0" rIns="0" bIns="0" rtlCol="0" anchor="t"/>
          <a:lstStyle/>
          <a:p>
            <a:pPr indent="0" marL="0">
              <a:buNone/>
            </a:pPr>
            <a:r>
              <a:rPr lang="en-US" sz="950" dirty="0">
                <a:solidFill>
                  <a:srgbClr val="1B1A19"/>
                </a:solidFill>
                <a:latin typeface="Yu Gothic" pitchFamily="34" charset="0"/>
                <a:ea typeface="Yu Gothic" pitchFamily="34" charset="-122"/>
                <a:cs typeface="Yu Gothic" pitchFamily="34" charset="-120"/>
              </a:rPr>
              <a:t>事務所・住宅・美術館に近接するため、騒音・振動・臭気を伴う工事は実施時間の制限を受ける。</a:t>
            </a:r>
            <a:endParaRPr lang="en-US" sz="950" dirty="0"/>
          </a:p>
        </p:txBody>
      </p:sp>
      <p:sp>
        <p:nvSpPr>
          <p:cNvPr id="64" name="Text 62"/>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本契約第22条・第23条および特記事項 第4条・第6条による。</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2026年8月 – 2027年4月30日</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フェーズ③ 採用・開業準備 ─ 工事と独立して先行できる</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採用とメニュー開発は工事の進捗に依存しない。ここを前倒しできれば、4月のトレーニング期間に余裕が生まれる。</a:t>
            </a:r>
            <a:endParaRPr lang="en-US" sz="1050" dirty="0"/>
          </a:p>
        </p:txBody>
      </p:sp>
      <p:sp>
        <p:nvSpPr>
          <p:cNvPr id="5" name="Shape 3"/>
          <p:cNvSpPr/>
          <p:nvPr/>
        </p:nvSpPr>
        <p:spPr>
          <a:xfrm>
            <a:off x="3291840" y="1417320"/>
            <a:ext cx="0" cy="4663440"/>
          </a:xfrm>
          <a:prstGeom prst="line">
            <a:avLst/>
          </a:prstGeom>
          <a:noFill/>
          <a:ln w="9525">
            <a:solidFill>
              <a:srgbClr val="DCD7D2"/>
            </a:solidFill>
            <a:prstDash val="solid"/>
          </a:ln>
        </p:spPr>
      </p:sp>
      <p:sp>
        <p:nvSpPr>
          <p:cNvPr id="6" name="Text 4"/>
          <p:cNvSpPr/>
          <p:nvPr/>
        </p:nvSpPr>
        <p:spPr>
          <a:xfrm>
            <a:off x="3328416" y="1435608"/>
            <a:ext cx="87292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8月</a:t>
            </a:r>
            <a:endParaRPr lang="en-US" sz="900" dirty="0"/>
          </a:p>
        </p:txBody>
      </p:sp>
      <p:sp>
        <p:nvSpPr>
          <p:cNvPr id="7" name="Text 5"/>
          <p:cNvSpPr/>
          <p:nvPr/>
        </p:nvSpPr>
        <p:spPr>
          <a:xfrm>
            <a:off x="3328416" y="1581912"/>
            <a:ext cx="872928"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2026</a:t>
            </a:r>
            <a:endParaRPr lang="en-US" sz="700" dirty="0"/>
          </a:p>
        </p:txBody>
      </p:sp>
      <p:sp>
        <p:nvSpPr>
          <p:cNvPr id="8" name="Shape 6"/>
          <p:cNvSpPr/>
          <p:nvPr/>
        </p:nvSpPr>
        <p:spPr>
          <a:xfrm>
            <a:off x="4219632" y="1417320"/>
            <a:ext cx="0" cy="4663440"/>
          </a:xfrm>
          <a:prstGeom prst="line">
            <a:avLst/>
          </a:prstGeom>
          <a:noFill/>
          <a:ln w="9525">
            <a:solidFill>
              <a:srgbClr val="DCD7D2"/>
            </a:solidFill>
            <a:prstDash val="solid"/>
          </a:ln>
        </p:spPr>
      </p:sp>
      <p:sp>
        <p:nvSpPr>
          <p:cNvPr id="9" name="Text 7"/>
          <p:cNvSpPr/>
          <p:nvPr/>
        </p:nvSpPr>
        <p:spPr>
          <a:xfrm>
            <a:off x="4256208" y="1435608"/>
            <a:ext cx="842999"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9月</a:t>
            </a:r>
            <a:endParaRPr lang="en-US" sz="900" dirty="0"/>
          </a:p>
        </p:txBody>
      </p:sp>
      <p:sp>
        <p:nvSpPr>
          <p:cNvPr id="10" name="Shape 8"/>
          <p:cNvSpPr/>
          <p:nvPr/>
        </p:nvSpPr>
        <p:spPr>
          <a:xfrm>
            <a:off x="5117495" y="1417320"/>
            <a:ext cx="0" cy="4663440"/>
          </a:xfrm>
          <a:prstGeom prst="line">
            <a:avLst/>
          </a:prstGeom>
          <a:noFill/>
          <a:ln w="9525">
            <a:solidFill>
              <a:srgbClr val="DCD7D2"/>
            </a:solidFill>
            <a:prstDash val="solid"/>
          </a:ln>
        </p:spPr>
      </p:sp>
      <p:sp>
        <p:nvSpPr>
          <p:cNvPr id="11" name="Text 9"/>
          <p:cNvSpPr/>
          <p:nvPr/>
        </p:nvSpPr>
        <p:spPr>
          <a:xfrm>
            <a:off x="5154071" y="1435608"/>
            <a:ext cx="87292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10月</a:t>
            </a:r>
            <a:endParaRPr lang="en-US" sz="900" dirty="0"/>
          </a:p>
        </p:txBody>
      </p:sp>
      <p:sp>
        <p:nvSpPr>
          <p:cNvPr id="12" name="Shape 10"/>
          <p:cNvSpPr/>
          <p:nvPr/>
        </p:nvSpPr>
        <p:spPr>
          <a:xfrm>
            <a:off x="6045286" y="1417320"/>
            <a:ext cx="0" cy="4663440"/>
          </a:xfrm>
          <a:prstGeom prst="line">
            <a:avLst/>
          </a:prstGeom>
          <a:noFill/>
          <a:ln w="9525">
            <a:solidFill>
              <a:srgbClr val="DCD7D2"/>
            </a:solidFill>
            <a:prstDash val="solid"/>
          </a:ln>
        </p:spPr>
      </p:sp>
      <p:sp>
        <p:nvSpPr>
          <p:cNvPr id="13" name="Text 11"/>
          <p:cNvSpPr/>
          <p:nvPr/>
        </p:nvSpPr>
        <p:spPr>
          <a:xfrm>
            <a:off x="6081862" y="1435608"/>
            <a:ext cx="842999"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11月</a:t>
            </a:r>
            <a:endParaRPr lang="en-US" sz="900" dirty="0"/>
          </a:p>
        </p:txBody>
      </p:sp>
      <p:sp>
        <p:nvSpPr>
          <p:cNvPr id="14" name="Shape 12"/>
          <p:cNvSpPr/>
          <p:nvPr/>
        </p:nvSpPr>
        <p:spPr>
          <a:xfrm>
            <a:off x="6943149" y="1417320"/>
            <a:ext cx="0" cy="4663440"/>
          </a:xfrm>
          <a:prstGeom prst="line">
            <a:avLst/>
          </a:prstGeom>
          <a:noFill/>
          <a:ln w="9525">
            <a:solidFill>
              <a:srgbClr val="DCD7D2"/>
            </a:solidFill>
            <a:prstDash val="solid"/>
          </a:ln>
        </p:spPr>
      </p:sp>
      <p:sp>
        <p:nvSpPr>
          <p:cNvPr id="15" name="Text 13"/>
          <p:cNvSpPr/>
          <p:nvPr/>
        </p:nvSpPr>
        <p:spPr>
          <a:xfrm>
            <a:off x="6979725" y="1435608"/>
            <a:ext cx="87292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12月</a:t>
            </a:r>
            <a:endParaRPr lang="en-US" sz="900" dirty="0"/>
          </a:p>
        </p:txBody>
      </p:sp>
      <p:sp>
        <p:nvSpPr>
          <p:cNvPr id="16" name="Shape 14"/>
          <p:cNvSpPr/>
          <p:nvPr/>
        </p:nvSpPr>
        <p:spPr>
          <a:xfrm>
            <a:off x="7870941" y="1417320"/>
            <a:ext cx="0" cy="4663440"/>
          </a:xfrm>
          <a:prstGeom prst="line">
            <a:avLst/>
          </a:prstGeom>
          <a:noFill/>
          <a:ln w="12700">
            <a:solidFill>
              <a:srgbClr val="6E6866"/>
            </a:solidFill>
            <a:prstDash val="solid"/>
          </a:ln>
        </p:spPr>
      </p:sp>
      <p:sp>
        <p:nvSpPr>
          <p:cNvPr id="17" name="Text 15"/>
          <p:cNvSpPr/>
          <p:nvPr/>
        </p:nvSpPr>
        <p:spPr>
          <a:xfrm>
            <a:off x="7907517" y="1435608"/>
            <a:ext cx="87292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1月</a:t>
            </a:r>
            <a:endParaRPr lang="en-US" sz="900" dirty="0"/>
          </a:p>
        </p:txBody>
      </p:sp>
      <p:sp>
        <p:nvSpPr>
          <p:cNvPr id="18" name="Text 16"/>
          <p:cNvSpPr/>
          <p:nvPr/>
        </p:nvSpPr>
        <p:spPr>
          <a:xfrm>
            <a:off x="7907517" y="1581912"/>
            <a:ext cx="872928" cy="137160"/>
          </a:xfrm>
          <a:prstGeom prst="rect">
            <a:avLst/>
          </a:prstGeom>
          <a:noFill/>
          <a:ln/>
        </p:spPr>
        <p:txBody>
          <a:bodyPr wrap="square" lIns="0" tIns="0" rIns="0" bIns="0" rtlCol="0" anchor="ctr"/>
          <a:lstStyle/>
          <a:p>
            <a:pPr indent="0" marL="0">
              <a:buNone/>
            </a:pPr>
            <a:r>
              <a:rPr lang="en-US" sz="700" dirty="0">
                <a:solidFill>
                  <a:srgbClr val="6E6866"/>
                </a:solidFill>
                <a:latin typeface="Arial" pitchFamily="34" charset="0"/>
                <a:ea typeface="Arial" pitchFamily="34" charset="-122"/>
                <a:cs typeface="Arial" pitchFamily="34" charset="-120"/>
              </a:rPr>
              <a:t>2027</a:t>
            </a:r>
            <a:endParaRPr lang="en-US" sz="700" dirty="0"/>
          </a:p>
        </p:txBody>
      </p:sp>
      <p:sp>
        <p:nvSpPr>
          <p:cNvPr id="19" name="Shape 17"/>
          <p:cNvSpPr/>
          <p:nvPr/>
        </p:nvSpPr>
        <p:spPr>
          <a:xfrm>
            <a:off x="8798733" y="1417320"/>
            <a:ext cx="0" cy="4663440"/>
          </a:xfrm>
          <a:prstGeom prst="line">
            <a:avLst/>
          </a:prstGeom>
          <a:noFill/>
          <a:ln w="9525">
            <a:solidFill>
              <a:srgbClr val="DCD7D2"/>
            </a:solidFill>
            <a:prstDash val="solid"/>
          </a:ln>
        </p:spPr>
      </p:sp>
      <p:sp>
        <p:nvSpPr>
          <p:cNvPr id="20" name="Text 18"/>
          <p:cNvSpPr/>
          <p:nvPr/>
        </p:nvSpPr>
        <p:spPr>
          <a:xfrm>
            <a:off x="8835309" y="1435608"/>
            <a:ext cx="783141"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2月</a:t>
            </a:r>
            <a:endParaRPr lang="en-US" sz="900" dirty="0"/>
          </a:p>
        </p:txBody>
      </p:sp>
      <p:sp>
        <p:nvSpPr>
          <p:cNvPr id="21" name="Shape 19"/>
          <p:cNvSpPr/>
          <p:nvPr/>
        </p:nvSpPr>
        <p:spPr>
          <a:xfrm>
            <a:off x="9636738" y="1417320"/>
            <a:ext cx="0" cy="4663440"/>
          </a:xfrm>
          <a:prstGeom prst="line">
            <a:avLst/>
          </a:prstGeom>
          <a:noFill/>
          <a:ln w="9525">
            <a:solidFill>
              <a:srgbClr val="DCD7D2"/>
            </a:solidFill>
            <a:prstDash val="solid"/>
          </a:ln>
        </p:spPr>
      </p:sp>
      <p:sp>
        <p:nvSpPr>
          <p:cNvPr id="22" name="Text 20"/>
          <p:cNvSpPr/>
          <p:nvPr/>
        </p:nvSpPr>
        <p:spPr>
          <a:xfrm>
            <a:off x="9673314" y="1435608"/>
            <a:ext cx="872928"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3月</a:t>
            </a:r>
            <a:endParaRPr lang="en-US" sz="900" dirty="0"/>
          </a:p>
        </p:txBody>
      </p:sp>
      <p:sp>
        <p:nvSpPr>
          <p:cNvPr id="23" name="Shape 21"/>
          <p:cNvSpPr/>
          <p:nvPr/>
        </p:nvSpPr>
        <p:spPr>
          <a:xfrm>
            <a:off x="10564530" y="1417320"/>
            <a:ext cx="0" cy="4663440"/>
          </a:xfrm>
          <a:prstGeom prst="line">
            <a:avLst/>
          </a:prstGeom>
          <a:noFill/>
          <a:ln w="9525">
            <a:solidFill>
              <a:srgbClr val="DCD7D2"/>
            </a:solidFill>
            <a:prstDash val="solid"/>
          </a:ln>
        </p:spPr>
      </p:sp>
      <p:sp>
        <p:nvSpPr>
          <p:cNvPr id="24" name="Text 22"/>
          <p:cNvSpPr/>
          <p:nvPr/>
        </p:nvSpPr>
        <p:spPr>
          <a:xfrm>
            <a:off x="10601106" y="1435608"/>
            <a:ext cx="842999"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4月</a:t>
            </a:r>
            <a:endParaRPr lang="en-US" sz="900" dirty="0"/>
          </a:p>
        </p:txBody>
      </p:sp>
      <p:sp>
        <p:nvSpPr>
          <p:cNvPr id="25" name="Shape 23"/>
          <p:cNvSpPr/>
          <p:nvPr/>
        </p:nvSpPr>
        <p:spPr>
          <a:xfrm>
            <a:off x="11462393" y="1417320"/>
            <a:ext cx="0" cy="4663440"/>
          </a:xfrm>
          <a:prstGeom prst="line">
            <a:avLst/>
          </a:prstGeom>
          <a:noFill/>
          <a:ln w="9525">
            <a:solidFill>
              <a:srgbClr val="DCD7D2"/>
            </a:solidFill>
            <a:prstDash val="solid"/>
          </a:ln>
        </p:spPr>
      </p:sp>
      <p:sp>
        <p:nvSpPr>
          <p:cNvPr id="26" name="Text 24"/>
          <p:cNvSpPr/>
          <p:nvPr/>
        </p:nvSpPr>
        <p:spPr>
          <a:xfrm>
            <a:off x="11498969" y="1435608"/>
            <a:ext cx="274320" cy="173736"/>
          </a:xfrm>
          <a:prstGeom prst="rect">
            <a:avLst/>
          </a:prstGeom>
          <a:noFill/>
          <a:ln/>
        </p:spPr>
        <p:txBody>
          <a:bodyPr wrap="square" lIns="0" tIns="0" rIns="0" bIns="0" rtlCol="0" anchor="ctr"/>
          <a:lstStyle/>
          <a:p>
            <a:pPr indent="0" marL="0">
              <a:buNone/>
            </a:pPr>
            <a:r>
              <a:rPr lang="en-US" sz="900" dirty="0">
                <a:solidFill>
                  <a:srgbClr val="1B1A19"/>
                </a:solidFill>
                <a:latin typeface="Arial" pitchFamily="34" charset="0"/>
                <a:ea typeface="Arial" pitchFamily="34" charset="-122"/>
                <a:cs typeface="Arial" pitchFamily="34" charset="-120"/>
              </a:rPr>
              <a:t>5月</a:t>
            </a:r>
            <a:endParaRPr lang="en-US" sz="900" dirty="0"/>
          </a:p>
        </p:txBody>
      </p:sp>
      <p:sp>
        <p:nvSpPr>
          <p:cNvPr id="27" name="Shape 25"/>
          <p:cNvSpPr/>
          <p:nvPr/>
        </p:nvSpPr>
        <p:spPr>
          <a:xfrm>
            <a:off x="457200" y="1728216"/>
            <a:ext cx="11274552" cy="0"/>
          </a:xfrm>
          <a:prstGeom prst="line">
            <a:avLst/>
          </a:prstGeom>
          <a:noFill/>
          <a:ln w="9525">
            <a:solidFill>
              <a:srgbClr val="6E6866"/>
            </a:solidFill>
            <a:prstDash val="solid"/>
          </a:ln>
        </p:spPr>
      </p:sp>
      <p:sp>
        <p:nvSpPr>
          <p:cNvPr id="28" name="Shape 26"/>
          <p:cNvSpPr/>
          <p:nvPr/>
        </p:nvSpPr>
        <p:spPr>
          <a:xfrm>
            <a:off x="3291840" y="1417320"/>
            <a:ext cx="0" cy="4663440"/>
          </a:xfrm>
          <a:prstGeom prst="line">
            <a:avLst/>
          </a:prstGeom>
          <a:noFill/>
          <a:ln w="9525">
            <a:solidFill>
              <a:srgbClr val="6E6866"/>
            </a:solidFill>
            <a:prstDash val="solid"/>
          </a:ln>
        </p:spPr>
      </p:sp>
      <p:sp>
        <p:nvSpPr>
          <p:cNvPr id="29" name="Shape 27"/>
          <p:cNvSpPr/>
          <p:nvPr/>
        </p:nvSpPr>
        <p:spPr>
          <a:xfrm>
            <a:off x="11731752" y="1417320"/>
            <a:ext cx="0" cy="4663440"/>
          </a:xfrm>
          <a:prstGeom prst="line">
            <a:avLst/>
          </a:prstGeom>
          <a:noFill/>
          <a:ln w="9525">
            <a:solidFill>
              <a:srgbClr val="6E6866"/>
            </a:solidFill>
            <a:prstDash val="solid"/>
          </a:ln>
        </p:spPr>
      </p:sp>
      <p:sp>
        <p:nvSpPr>
          <p:cNvPr id="30" name="Shape 28"/>
          <p:cNvSpPr/>
          <p:nvPr/>
        </p:nvSpPr>
        <p:spPr>
          <a:xfrm>
            <a:off x="457200" y="1728216"/>
            <a:ext cx="11274552" cy="272034"/>
          </a:xfrm>
          <a:prstGeom prst="rect">
            <a:avLst/>
          </a:prstGeom>
          <a:solidFill>
            <a:srgbClr val="F5F3F1"/>
          </a:solidFill>
          <a:ln w="12700">
            <a:solidFill>
              <a:srgbClr val="F5F3F1"/>
            </a:solidFill>
            <a:prstDash val="solid"/>
          </a:ln>
        </p:spPr>
      </p:sp>
      <p:sp>
        <p:nvSpPr>
          <p:cNvPr id="31" name="Shape 29"/>
          <p:cNvSpPr/>
          <p:nvPr/>
        </p:nvSpPr>
        <p:spPr>
          <a:xfrm>
            <a:off x="530352" y="1823085"/>
            <a:ext cx="82296" cy="82296"/>
          </a:xfrm>
          <a:prstGeom prst="rect">
            <a:avLst/>
          </a:prstGeom>
          <a:solidFill>
            <a:srgbClr val="4E6B54"/>
          </a:solidFill>
          <a:ln w="12700">
            <a:solidFill>
              <a:srgbClr val="4E6B54"/>
            </a:solidFill>
            <a:prstDash val="solid"/>
          </a:ln>
        </p:spPr>
      </p:sp>
      <p:sp>
        <p:nvSpPr>
          <p:cNvPr id="32" name="Text 30"/>
          <p:cNvSpPr/>
          <p:nvPr/>
        </p:nvSpPr>
        <p:spPr>
          <a:xfrm>
            <a:off x="676656" y="1728216"/>
            <a:ext cx="2560320" cy="272034"/>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採用・組織</a:t>
            </a:r>
            <a:endParaRPr lang="en-US" sz="1000" dirty="0"/>
          </a:p>
        </p:txBody>
      </p:sp>
      <p:sp>
        <p:nvSpPr>
          <p:cNvPr id="33" name="Text 31"/>
          <p:cNvSpPr/>
          <p:nvPr/>
        </p:nvSpPr>
        <p:spPr>
          <a:xfrm>
            <a:off x="548640" y="2000250"/>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幹部採用（総支配人・シェフ）</a:t>
            </a:r>
            <a:endParaRPr lang="en-US" sz="950" dirty="0"/>
          </a:p>
        </p:txBody>
      </p:sp>
      <p:sp>
        <p:nvSpPr>
          <p:cNvPr id="34" name="Shape 32"/>
          <p:cNvSpPr/>
          <p:nvPr/>
        </p:nvSpPr>
        <p:spPr>
          <a:xfrm>
            <a:off x="3291840" y="2067687"/>
            <a:ext cx="2723518" cy="137160"/>
          </a:xfrm>
          <a:prstGeom prst="roundRect">
            <a:avLst>
              <a:gd name="adj" fmla="val 13333"/>
            </a:avLst>
          </a:prstGeom>
          <a:solidFill>
            <a:srgbClr val="4E6B54"/>
          </a:solidFill>
          <a:ln w="12700">
            <a:solidFill>
              <a:srgbClr val="4E6B54"/>
            </a:solidFill>
            <a:prstDash val="solid"/>
          </a:ln>
        </p:spPr>
      </p:sp>
      <p:sp>
        <p:nvSpPr>
          <p:cNvPr id="35" name="Shape 33"/>
          <p:cNvSpPr/>
          <p:nvPr/>
        </p:nvSpPr>
        <p:spPr>
          <a:xfrm>
            <a:off x="3259836" y="2035683"/>
            <a:ext cx="2787526" cy="201168"/>
          </a:xfrm>
          <a:prstGeom prst="roundRect">
            <a:avLst>
              <a:gd name="adj" fmla="val 9091"/>
            </a:avLst>
          </a:prstGeom>
          <a:solidFill>
            <a:srgbClr val="FFFFFF">
              <a:alpha val="0"/>
            </a:srgbClr>
          </a:solidFill>
          <a:ln w="12700">
            <a:solidFill>
              <a:srgbClr val="4E6B54"/>
            </a:solidFill>
            <a:prstDash val="solid"/>
          </a:ln>
        </p:spPr>
      </p:sp>
      <p:sp>
        <p:nvSpPr>
          <p:cNvPr id="36" name="Text 34"/>
          <p:cNvSpPr/>
          <p:nvPr/>
        </p:nvSpPr>
        <p:spPr>
          <a:xfrm>
            <a:off x="3346704" y="2000250"/>
            <a:ext cx="2613790"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8/1 – 10/31</a:t>
            </a:r>
            <a:endParaRPr lang="en-US" sz="800" dirty="0"/>
          </a:p>
        </p:txBody>
      </p:sp>
      <p:sp>
        <p:nvSpPr>
          <p:cNvPr id="37" name="Text 35"/>
          <p:cNvSpPr/>
          <p:nvPr/>
        </p:nvSpPr>
        <p:spPr>
          <a:xfrm>
            <a:off x="548640" y="2272284"/>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主要ポジション採用（ソムリエ等）</a:t>
            </a:r>
            <a:endParaRPr lang="en-US" sz="950" dirty="0"/>
          </a:p>
        </p:txBody>
      </p:sp>
      <p:sp>
        <p:nvSpPr>
          <p:cNvPr id="38" name="Shape 36"/>
          <p:cNvSpPr/>
          <p:nvPr/>
        </p:nvSpPr>
        <p:spPr>
          <a:xfrm>
            <a:off x="5117495" y="2339721"/>
            <a:ext cx="2723518" cy="137160"/>
          </a:xfrm>
          <a:prstGeom prst="roundRect">
            <a:avLst>
              <a:gd name="adj" fmla="val 13333"/>
            </a:avLst>
          </a:prstGeom>
          <a:solidFill>
            <a:srgbClr val="4E6B54"/>
          </a:solidFill>
          <a:ln w="12700">
            <a:solidFill>
              <a:srgbClr val="4E6B54"/>
            </a:solidFill>
            <a:prstDash val="solid"/>
          </a:ln>
        </p:spPr>
      </p:sp>
      <p:sp>
        <p:nvSpPr>
          <p:cNvPr id="39" name="Text 37"/>
          <p:cNvSpPr/>
          <p:nvPr/>
        </p:nvSpPr>
        <p:spPr>
          <a:xfrm>
            <a:off x="5172359" y="2272284"/>
            <a:ext cx="2613790"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10/1 – 12/31</a:t>
            </a:r>
            <a:endParaRPr lang="en-US" sz="800" dirty="0"/>
          </a:p>
        </p:txBody>
      </p:sp>
      <p:sp>
        <p:nvSpPr>
          <p:cNvPr id="40" name="Text 38"/>
          <p:cNvSpPr/>
          <p:nvPr/>
        </p:nvSpPr>
        <p:spPr>
          <a:xfrm>
            <a:off x="548640" y="2544318"/>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社員採用（キッチン・ホール）</a:t>
            </a:r>
            <a:endParaRPr lang="en-US" sz="950" dirty="0"/>
          </a:p>
        </p:txBody>
      </p:sp>
      <p:sp>
        <p:nvSpPr>
          <p:cNvPr id="41" name="Shape 39"/>
          <p:cNvSpPr/>
          <p:nvPr/>
        </p:nvSpPr>
        <p:spPr>
          <a:xfrm>
            <a:off x="6045286" y="2611755"/>
            <a:ext cx="3561523" cy="137160"/>
          </a:xfrm>
          <a:prstGeom prst="roundRect">
            <a:avLst>
              <a:gd name="adj" fmla="val 13333"/>
            </a:avLst>
          </a:prstGeom>
          <a:solidFill>
            <a:srgbClr val="4E6B54"/>
          </a:solidFill>
          <a:ln w="12700">
            <a:solidFill>
              <a:srgbClr val="4E6B54"/>
            </a:solidFill>
            <a:prstDash val="solid"/>
          </a:ln>
        </p:spPr>
      </p:sp>
      <p:sp>
        <p:nvSpPr>
          <p:cNvPr id="42" name="Text 40"/>
          <p:cNvSpPr/>
          <p:nvPr/>
        </p:nvSpPr>
        <p:spPr>
          <a:xfrm>
            <a:off x="6100150" y="2544318"/>
            <a:ext cx="3451795"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11/1 – 2/28</a:t>
            </a:r>
            <a:endParaRPr lang="en-US" sz="800" dirty="0"/>
          </a:p>
        </p:txBody>
      </p:sp>
      <p:sp>
        <p:nvSpPr>
          <p:cNvPr id="43" name="Text 41"/>
          <p:cNvSpPr/>
          <p:nvPr/>
        </p:nvSpPr>
        <p:spPr>
          <a:xfrm>
            <a:off x="548640" y="2816352"/>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労務体制・就業規則 整備</a:t>
            </a:r>
            <a:endParaRPr lang="en-US" sz="950" dirty="0"/>
          </a:p>
        </p:txBody>
      </p:sp>
      <p:sp>
        <p:nvSpPr>
          <p:cNvPr id="44" name="Shape 42"/>
          <p:cNvSpPr/>
          <p:nvPr/>
        </p:nvSpPr>
        <p:spPr>
          <a:xfrm>
            <a:off x="6045286" y="2883789"/>
            <a:ext cx="2723518" cy="137160"/>
          </a:xfrm>
          <a:prstGeom prst="roundRect">
            <a:avLst>
              <a:gd name="adj" fmla="val 13333"/>
            </a:avLst>
          </a:prstGeom>
          <a:solidFill>
            <a:srgbClr val="4E6B54"/>
          </a:solidFill>
          <a:ln w="12700">
            <a:solidFill>
              <a:srgbClr val="4E6B54"/>
            </a:solidFill>
            <a:prstDash val="solid"/>
          </a:ln>
        </p:spPr>
      </p:sp>
      <p:sp>
        <p:nvSpPr>
          <p:cNvPr id="45" name="Text 43"/>
          <p:cNvSpPr/>
          <p:nvPr/>
        </p:nvSpPr>
        <p:spPr>
          <a:xfrm>
            <a:off x="6100150" y="2816352"/>
            <a:ext cx="2613790"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11/1 – 1/31</a:t>
            </a:r>
            <a:endParaRPr lang="en-US" sz="800" dirty="0"/>
          </a:p>
        </p:txBody>
      </p:sp>
      <p:sp>
        <p:nvSpPr>
          <p:cNvPr id="46" name="Text 44"/>
          <p:cNvSpPr/>
          <p:nvPr/>
        </p:nvSpPr>
        <p:spPr>
          <a:xfrm>
            <a:off x="548640" y="3088386"/>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アルバイト採用</a:t>
            </a:r>
            <a:endParaRPr lang="en-US" sz="950" dirty="0"/>
          </a:p>
        </p:txBody>
      </p:sp>
      <p:sp>
        <p:nvSpPr>
          <p:cNvPr id="47" name="Shape 45"/>
          <p:cNvSpPr/>
          <p:nvPr/>
        </p:nvSpPr>
        <p:spPr>
          <a:xfrm>
            <a:off x="7990656" y="3155823"/>
            <a:ext cx="2543945" cy="137160"/>
          </a:xfrm>
          <a:prstGeom prst="roundRect">
            <a:avLst>
              <a:gd name="adj" fmla="val 13333"/>
            </a:avLst>
          </a:prstGeom>
          <a:solidFill>
            <a:srgbClr val="4E6B54"/>
          </a:solidFill>
          <a:ln w="12700">
            <a:solidFill>
              <a:srgbClr val="4E6B54"/>
            </a:solidFill>
            <a:prstDash val="solid"/>
          </a:ln>
        </p:spPr>
      </p:sp>
      <p:sp>
        <p:nvSpPr>
          <p:cNvPr id="48" name="Text 46"/>
          <p:cNvSpPr/>
          <p:nvPr/>
        </p:nvSpPr>
        <p:spPr>
          <a:xfrm>
            <a:off x="8045520" y="3088386"/>
            <a:ext cx="2434217"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1/5 – 3/31</a:t>
            </a:r>
            <a:endParaRPr lang="en-US" sz="800" dirty="0"/>
          </a:p>
        </p:txBody>
      </p:sp>
      <p:sp>
        <p:nvSpPr>
          <p:cNvPr id="49" name="Shape 47"/>
          <p:cNvSpPr/>
          <p:nvPr/>
        </p:nvSpPr>
        <p:spPr>
          <a:xfrm>
            <a:off x="457200" y="3360420"/>
            <a:ext cx="11274552" cy="272034"/>
          </a:xfrm>
          <a:prstGeom prst="rect">
            <a:avLst/>
          </a:prstGeom>
          <a:solidFill>
            <a:srgbClr val="F5F3F1"/>
          </a:solidFill>
          <a:ln w="12700">
            <a:solidFill>
              <a:srgbClr val="F5F3F1"/>
            </a:solidFill>
            <a:prstDash val="solid"/>
          </a:ln>
        </p:spPr>
      </p:sp>
      <p:sp>
        <p:nvSpPr>
          <p:cNvPr id="50" name="Shape 48"/>
          <p:cNvSpPr/>
          <p:nvPr/>
        </p:nvSpPr>
        <p:spPr>
          <a:xfrm>
            <a:off x="530352" y="3455289"/>
            <a:ext cx="82296" cy="82296"/>
          </a:xfrm>
          <a:prstGeom prst="rect">
            <a:avLst/>
          </a:prstGeom>
          <a:solidFill>
            <a:srgbClr val="6B4A72"/>
          </a:solidFill>
          <a:ln w="12700">
            <a:solidFill>
              <a:srgbClr val="6B4A72"/>
            </a:solidFill>
            <a:prstDash val="solid"/>
          </a:ln>
        </p:spPr>
      </p:sp>
      <p:sp>
        <p:nvSpPr>
          <p:cNvPr id="51" name="Text 49"/>
          <p:cNvSpPr/>
          <p:nvPr/>
        </p:nvSpPr>
        <p:spPr>
          <a:xfrm>
            <a:off x="676656" y="3360420"/>
            <a:ext cx="2560320" cy="272034"/>
          </a:xfrm>
          <a:prstGeom prst="rect">
            <a:avLst/>
          </a:prstGeom>
          <a:noFill/>
          <a:ln/>
        </p:spPr>
        <p:txBody>
          <a:bodyPr wrap="square" lIns="0" tIns="0" rIns="0" bIns="0" rtlCol="0" anchor="ctr"/>
          <a:lstStyle/>
          <a:p>
            <a:pPr indent="0" marL="0">
              <a:buNone/>
            </a:pPr>
            <a:r>
              <a:rPr lang="en-US" sz="1000" b="1" dirty="0">
                <a:solidFill>
                  <a:srgbClr val="1B1A19"/>
                </a:solidFill>
                <a:latin typeface="Yu Gothic" pitchFamily="34" charset="0"/>
                <a:ea typeface="Yu Gothic" pitchFamily="34" charset="-122"/>
                <a:cs typeface="Yu Gothic" pitchFamily="34" charset="-120"/>
              </a:rPr>
              <a:t>開業準備</a:t>
            </a:r>
            <a:endParaRPr lang="en-US" sz="1000" dirty="0"/>
          </a:p>
        </p:txBody>
      </p:sp>
      <p:sp>
        <p:nvSpPr>
          <p:cNvPr id="52" name="Text 50"/>
          <p:cNvSpPr/>
          <p:nvPr/>
        </p:nvSpPr>
        <p:spPr>
          <a:xfrm>
            <a:off x="548640" y="3632454"/>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メニュー開発・監修</a:t>
            </a:r>
            <a:endParaRPr lang="en-US" sz="950" dirty="0"/>
          </a:p>
        </p:txBody>
      </p:sp>
      <p:sp>
        <p:nvSpPr>
          <p:cNvPr id="53" name="Shape 51"/>
          <p:cNvSpPr/>
          <p:nvPr/>
        </p:nvSpPr>
        <p:spPr>
          <a:xfrm>
            <a:off x="6045286" y="3699891"/>
            <a:ext cx="3561523" cy="137160"/>
          </a:xfrm>
          <a:prstGeom prst="roundRect">
            <a:avLst>
              <a:gd name="adj" fmla="val 13333"/>
            </a:avLst>
          </a:prstGeom>
          <a:solidFill>
            <a:srgbClr val="6B4A72"/>
          </a:solidFill>
          <a:ln w="12700">
            <a:solidFill>
              <a:srgbClr val="6B4A72"/>
            </a:solidFill>
            <a:prstDash val="solid"/>
          </a:ln>
        </p:spPr>
      </p:sp>
      <p:sp>
        <p:nvSpPr>
          <p:cNvPr id="54" name="Text 52"/>
          <p:cNvSpPr/>
          <p:nvPr/>
        </p:nvSpPr>
        <p:spPr>
          <a:xfrm>
            <a:off x="6100150" y="3632454"/>
            <a:ext cx="3451795"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11/1 – 2/28</a:t>
            </a:r>
            <a:endParaRPr lang="en-US" sz="800" dirty="0"/>
          </a:p>
        </p:txBody>
      </p:sp>
      <p:sp>
        <p:nvSpPr>
          <p:cNvPr id="55" name="Text 53"/>
          <p:cNvSpPr/>
          <p:nvPr/>
        </p:nvSpPr>
        <p:spPr>
          <a:xfrm>
            <a:off x="548640" y="3904488"/>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ワイン・食材 仕入先契約</a:t>
            </a:r>
            <a:endParaRPr lang="en-US" sz="950" dirty="0"/>
          </a:p>
        </p:txBody>
      </p:sp>
      <p:sp>
        <p:nvSpPr>
          <p:cNvPr id="56" name="Shape 54"/>
          <p:cNvSpPr/>
          <p:nvPr/>
        </p:nvSpPr>
        <p:spPr>
          <a:xfrm>
            <a:off x="6943149" y="3971925"/>
            <a:ext cx="3112592" cy="137160"/>
          </a:xfrm>
          <a:prstGeom prst="roundRect">
            <a:avLst>
              <a:gd name="adj" fmla="val 13333"/>
            </a:avLst>
          </a:prstGeom>
          <a:solidFill>
            <a:srgbClr val="6B4A72"/>
          </a:solidFill>
          <a:ln w="12700">
            <a:solidFill>
              <a:srgbClr val="6B4A72"/>
            </a:solidFill>
            <a:prstDash val="solid"/>
          </a:ln>
        </p:spPr>
      </p:sp>
      <p:sp>
        <p:nvSpPr>
          <p:cNvPr id="57" name="Text 55"/>
          <p:cNvSpPr/>
          <p:nvPr/>
        </p:nvSpPr>
        <p:spPr>
          <a:xfrm>
            <a:off x="6998013" y="3904488"/>
            <a:ext cx="3002864"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12/1 – 3/15</a:t>
            </a:r>
            <a:endParaRPr lang="en-US" sz="800" dirty="0"/>
          </a:p>
        </p:txBody>
      </p:sp>
      <p:sp>
        <p:nvSpPr>
          <p:cNvPr id="58" name="Text 56"/>
          <p:cNvSpPr/>
          <p:nvPr/>
        </p:nvSpPr>
        <p:spPr>
          <a:xfrm>
            <a:off x="548640" y="4176522"/>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原価設計・事業計画確定</a:t>
            </a:r>
            <a:endParaRPr lang="en-US" sz="950" dirty="0"/>
          </a:p>
        </p:txBody>
      </p:sp>
      <p:sp>
        <p:nvSpPr>
          <p:cNvPr id="59" name="Shape 57"/>
          <p:cNvSpPr/>
          <p:nvPr/>
        </p:nvSpPr>
        <p:spPr>
          <a:xfrm>
            <a:off x="7990656" y="4243959"/>
            <a:ext cx="1616153" cy="137160"/>
          </a:xfrm>
          <a:prstGeom prst="roundRect">
            <a:avLst>
              <a:gd name="adj" fmla="val 13333"/>
            </a:avLst>
          </a:prstGeom>
          <a:solidFill>
            <a:srgbClr val="6B4A72"/>
          </a:solidFill>
          <a:ln w="12700">
            <a:solidFill>
              <a:srgbClr val="6B4A72"/>
            </a:solidFill>
            <a:prstDash val="solid"/>
          </a:ln>
        </p:spPr>
      </p:sp>
      <p:sp>
        <p:nvSpPr>
          <p:cNvPr id="60" name="Text 58"/>
          <p:cNvSpPr/>
          <p:nvPr/>
        </p:nvSpPr>
        <p:spPr>
          <a:xfrm>
            <a:off x="8045520" y="4176522"/>
            <a:ext cx="1506425"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1/5 – 2/28</a:t>
            </a:r>
            <a:endParaRPr lang="en-US" sz="800" dirty="0"/>
          </a:p>
        </p:txBody>
      </p:sp>
      <p:sp>
        <p:nvSpPr>
          <p:cNvPr id="61" name="Text 59"/>
          <p:cNvSpPr/>
          <p:nvPr/>
        </p:nvSpPr>
        <p:spPr>
          <a:xfrm>
            <a:off x="548640" y="4448556"/>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POS・予約システム導入</a:t>
            </a:r>
            <a:endParaRPr lang="en-US" sz="950" dirty="0"/>
          </a:p>
        </p:txBody>
      </p:sp>
      <p:sp>
        <p:nvSpPr>
          <p:cNvPr id="62" name="Shape 60"/>
          <p:cNvSpPr/>
          <p:nvPr/>
        </p:nvSpPr>
        <p:spPr>
          <a:xfrm>
            <a:off x="7990656" y="4515993"/>
            <a:ext cx="2543945" cy="137160"/>
          </a:xfrm>
          <a:prstGeom prst="roundRect">
            <a:avLst>
              <a:gd name="adj" fmla="val 13333"/>
            </a:avLst>
          </a:prstGeom>
          <a:solidFill>
            <a:srgbClr val="6B4A72"/>
          </a:solidFill>
          <a:ln w="12700">
            <a:solidFill>
              <a:srgbClr val="6B4A72"/>
            </a:solidFill>
            <a:prstDash val="solid"/>
          </a:ln>
        </p:spPr>
      </p:sp>
      <p:sp>
        <p:nvSpPr>
          <p:cNvPr id="63" name="Text 61"/>
          <p:cNvSpPr/>
          <p:nvPr/>
        </p:nvSpPr>
        <p:spPr>
          <a:xfrm>
            <a:off x="8045520" y="4448556"/>
            <a:ext cx="2434217"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1/5 – 3/31</a:t>
            </a:r>
            <a:endParaRPr lang="en-US" sz="800" dirty="0"/>
          </a:p>
        </p:txBody>
      </p:sp>
      <p:sp>
        <p:nvSpPr>
          <p:cNvPr id="64" name="Text 62"/>
          <p:cNvSpPr/>
          <p:nvPr/>
        </p:nvSpPr>
        <p:spPr>
          <a:xfrm>
            <a:off x="548640" y="4720590"/>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販促・PR／メディア対応</a:t>
            </a:r>
            <a:endParaRPr lang="en-US" sz="950" dirty="0"/>
          </a:p>
        </p:txBody>
      </p:sp>
      <p:sp>
        <p:nvSpPr>
          <p:cNvPr id="65" name="Shape 63"/>
          <p:cNvSpPr/>
          <p:nvPr/>
        </p:nvSpPr>
        <p:spPr>
          <a:xfrm>
            <a:off x="8289944" y="4788027"/>
            <a:ext cx="3112592" cy="137160"/>
          </a:xfrm>
          <a:prstGeom prst="roundRect">
            <a:avLst>
              <a:gd name="adj" fmla="val 13333"/>
            </a:avLst>
          </a:prstGeom>
          <a:solidFill>
            <a:srgbClr val="6B4A72"/>
          </a:solidFill>
          <a:ln w="12700">
            <a:solidFill>
              <a:srgbClr val="6B4A72"/>
            </a:solidFill>
            <a:prstDash val="solid"/>
          </a:ln>
        </p:spPr>
      </p:sp>
      <p:sp>
        <p:nvSpPr>
          <p:cNvPr id="66" name="Text 64"/>
          <p:cNvSpPr/>
          <p:nvPr/>
        </p:nvSpPr>
        <p:spPr>
          <a:xfrm>
            <a:off x="8344808" y="4720590"/>
            <a:ext cx="3002864" cy="272034"/>
          </a:xfrm>
          <a:prstGeom prst="rect">
            <a:avLst/>
          </a:prstGeom>
          <a:noFill/>
          <a:ln/>
        </p:spPr>
        <p:txBody>
          <a:bodyPr wrap="square" lIns="0" tIns="0" rIns="0" bIns="0" rtlCol="0" anchor="ctr"/>
          <a:lstStyle/>
          <a:p>
            <a:pPr indent="0" marL="0">
              <a:buNone/>
            </a:pPr>
            <a:r>
              <a:rPr lang="en-US" sz="800" dirty="0">
                <a:solidFill>
                  <a:srgbClr val="FFFFFF"/>
                </a:solidFill>
                <a:latin typeface="Arial" pitchFamily="34" charset="0"/>
                <a:ea typeface="Arial" pitchFamily="34" charset="-122"/>
                <a:cs typeface="Arial" pitchFamily="34" charset="-120"/>
              </a:rPr>
              <a:t>1/15 – 4/29</a:t>
            </a:r>
            <a:endParaRPr lang="en-US" sz="800" dirty="0"/>
          </a:p>
        </p:txBody>
      </p:sp>
      <p:sp>
        <p:nvSpPr>
          <p:cNvPr id="67" name="Text 65"/>
          <p:cNvSpPr/>
          <p:nvPr/>
        </p:nvSpPr>
        <p:spPr>
          <a:xfrm>
            <a:off x="548640" y="4992624"/>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予約受付 開始</a:t>
            </a:r>
            <a:endParaRPr lang="en-US" sz="950" dirty="0"/>
          </a:p>
        </p:txBody>
      </p:sp>
      <p:sp>
        <p:nvSpPr>
          <p:cNvPr id="68" name="Shape 66"/>
          <p:cNvSpPr/>
          <p:nvPr/>
        </p:nvSpPr>
        <p:spPr>
          <a:xfrm>
            <a:off x="10026234" y="5069205"/>
            <a:ext cx="118872" cy="118872"/>
          </a:xfrm>
          <a:prstGeom prst="diamond">
            <a:avLst/>
          </a:prstGeom>
          <a:solidFill>
            <a:srgbClr val="6B4A72"/>
          </a:solidFill>
          <a:ln w="12700">
            <a:solidFill>
              <a:srgbClr val="6B4A72"/>
            </a:solidFill>
            <a:prstDash val="solid"/>
          </a:ln>
        </p:spPr>
      </p:sp>
      <p:sp>
        <p:nvSpPr>
          <p:cNvPr id="69" name="Text 67"/>
          <p:cNvSpPr/>
          <p:nvPr/>
        </p:nvSpPr>
        <p:spPr>
          <a:xfrm>
            <a:off x="9171270" y="4992624"/>
            <a:ext cx="786384" cy="272034"/>
          </a:xfrm>
          <a:prstGeom prst="rect">
            <a:avLst/>
          </a:prstGeom>
          <a:noFill/>
          <a:ln/>
        </p:spPr>
        <p:txBody>
          <a:bodyPr wrap="square" lIns="0" tIns="0" rIns="0" bIns="0" rtlCol="0" anchor="ctr"/>
          <a:lstStyle/>
          <a:p>
            <a:pPr algn="r" indent="0" marL="0">
              <a:buNone/>
            </a:pPr>
            <a:r>
              <a:rPr lang="en-US" sz="900" b="1" dirty="0">
                <a:solidFill>
                  <a:srgbClr val="6B4A72"/>
                </a:solidFill>
                <a:latin typeface="Arial" pitchFamily="34" charset="0"/>
                <a:ea typeface="Arial" pitchFamily="34" charset="-122"/>
                <a:cs typeface="Arial" pitchFamily="34" charset="-120"/>
              </a:rPr>
              <a:t>3/16</a:t>
            </a:r>
            <a:endParaRPr lang="en-US" sz="900" dirty="0"/>
          </a:p>
        </p:txBody>
      </p:sp>
      <p:sp>
        <p:nvSpPr>
          <p:cNvPr id="70" name="Text 68"/>
          <p:cNvSpPr/>
          <p:nvPr/>
        </p:nvSpPr>
        <p:spPr>
          <a:xfrm>
            <a:off x="548640" y="5264658"/>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スタッフトレーニング（1〜2週間）</a:t>
            </a:r>
            <a:endParaRPr lang="en-US" sz="950" dirty="0"/>
          </a:p>
        </p:txBody>
      </p:sp>
      <p:sp>
        <p:nvSpPr>
          <p:cNvPr id="71" name="Shape 69"/>
          <p:cNvSpPr/>
          <p:nvPr/>
        </p:nvSpPr>
        <p:spPr>
          <a:xfrm>
            <a:off x="11013462" y="5332095"/>
            <a:ext cx="359145" cy="137160"/>
          </a:xfrm>
          <a:prstGeom prst="roundRect">
            <a:avLst>
              <a:gd name="adj" fmla="val 13333"/>
            </a:avLst>
          </a:prstGeom>
          <a:solidFill>
            <a:srgbClr val="6B4A72"/>
          </a:solidFill>
          <a:ln w="12700">
            <a:solidFill>
              <a:srgbClr val="6B4A72"/>
            </a:solidFill>
            <a:prstDash val="solid"/>
          </a:ln>
        </p:spPr>
      </p:sp>
      <p:sp>
        <p:nvSpPr>
          <p:cNvPr id="72" name="Text 70"/>
          <p:cNvSpPr/>
          <p:nvPr/>
        </p:nvSpPr>
        <p:spPr>
          <a:xfrm>
            <a:off x="10080774" y="5264658"/>
            <a:ext cx="896112" cy="272034"/>
          </a:xfrm>
          <a:prstGeom prst="rect">
            <a:avLst/>
          </a:prstGeom>
          <a:noFill/>
          <a:ln/>
        </p:spPr>
        <p:txBody>
          <a:bodyPr wrap="square" lIns="0" tIns="0" rIns="0" bIns="0" rtlCol="0" anchor="ctr"/>
          <a:lstStyle/>
          <a:p>
            <a:pPr algn="r" indent="0" marL="0">
              <a:buNone/>
            </a:pPr>
            <a:r>
              <a:rPr lang="en-US" sz="800" dirty="0">
                <a:solidFill>
                  <a:srgbClr val="6E6866"/>
                </a:solidFill>
                <a:latin typeface="Arial" pitchFamily="34" charset="0"/>
                <a:ea typeface="Arial" pitchFamily="34" charset="-122"/>
                <a:cs typeface="Arial" pitchFamily="34" charset="-120"/>
              </a:rPr>
              <a:t>4/16 – 4/28</a:t>
            </a:r>
            <a:endParaRPr lang="en-US" sz="800" dirty="0"/>
          </a:p>
        </p:txBody>
      </p:sp>
      <p:sp>
        <p:nvSpPr>
          <p:cNvPr id="73" name="Text 71"/>
          <p:cNvSpPr/>
          <p:nvPr/>
        </p:nvSpPr>
        <p:spPr>
          <a:xfrm>
            <a:off x="548640" y="5536692"/>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プレオープン・レセプション</a:t>
            </a:r>
            <a:endParaRPr lang="en-US" sz="950" dirty="0"/>
          </a:p>
        </p:txBody>
      </p:sp>
      <p:sp>
        <p:nvSpPr>
          <p:cNvPr id="74" name="Shape 72"/>
          <p:cNvSpPr/>
          <p:nvPr/>
        </p:nvSpPr>
        <p:spPr>
          <a:xfrm>
            <a:off x="11342678" y="5604129"/>
            <a:ext cx="59858" cy="137160"/>
          </a:xfrm>
          <a:prstGeom prst="roundRect">
            <a:avLst>
              <a:gd name="adj" fmla="val 30552"/>
            </a:avLst>
          </a:prstGeom>
          <a:solidFill>
            <a:srgbClr val="6B4A72"/>
          </a:solidFill>
          <a:ln w="12700">
            <a:solidFill>
              <a:srgbClr val="6B4A72"/>
            </a:solidFill>
            <a:prstDash val="solid"/>
          </a:ln>
        </p:spPr>
      </p:sp>
      <p:sp>
        <p:nvSpPr>
          <p:cNvPr id="75" name="Text 73"/>
          <p:cNvSpPr/>
          <p:nvPr/>
        </p:nvSpPr>
        <p:spPr>
          <a:xfrm>
            <a:off x="10409990" y="5536692"/>
            <a:ext cx="896112" cy="272034"/>
          </a:xfrm>
          <a:prstGeom prst="rect">
            <a:avLst/>
          </a:prstGeom>
          <a:noFill/>
          <a:ln/>
        </p:spPr>
        <p:txBody>
          <a:bodyPr wrap="square" lIns="0" tIns="0" rIns="0" bIns="0" rtlCol="0" anchor="ctr"/>
          <a:lstStyle/>
          <a:p>
            <a:pPr algn="r" indent="0" marL="0">
              <a:buNone/>
            </a:pPr>
            <a:r>
              <a:rPr lang="en-US" sz="800" dirty="0">
                <a:solidFill>
                  <a:srgbClr val="6E6866"/>
                </a:solidFill>
                <a:latin typeface="Arial" pitchFamily="34" charset="0"/>
                <a:ea typeface="Arial" pitchFamily="34" charset="-122"/>
                <a:cs typeface="Arial" pitchFamily="34" charset="-120"/>
              </a:rPr>
              <a:t>4/27 – 4/29</a:t>
            </a:r>
            <a:endParaRPr lang="en-US" sz="800" dirty="0"/>
          </a:p>
        </p:txBody>
      </p:sp>
      <p:sp>
        <p:nvSpPr>
          <p:cNvPr id="76" name="Text 74"/>
          <p:cNvSpPr/>
          <p:nvPr/>
        </p:nvSpPr>
        <p:spPr>
          <a:xfrm>
            <a:off x="548640" y="5808726"/>
            <a:ext cx="2670048" cy="272034"/>
          </a:xfrm>
          <a:prstGeom prst="rect">
            <a:avLst/>
          </a:prstGeom>
          <a:noFill/>
          <a:ln/>
        </p:spPr>
        <p:txBody>
          <a:bodyPr wrap="square" lIns="0" tIns="0" rIns="0" bIns="0" rtlCol="0" anchor="ctr"/>
          <a:lstStyle/>
          <a:p>
            <a:pPr indent="0" marL="0">
              <a:buNone/>
            </a:pPr>
            <a:r>
              <a:rPr lang="en-US" sz="950" dirty="0">
                <a:solidFill>
                  <a:srgbClr val="1B1A19"/>
                </a:solidFill>
                <a:latin typeface="Yu Gothic" pitchFamily="34" charset="0"/>
                <a:ea typeface="Yu Gothic" pitchFamily="34" charset="-122"/>
                <a:cs typeface="Yu Gothic" pitchFamily="34" charset="-120"/>
              </a:rPr>
              <a:t>グランドオープン</a:t>
            </a:r>
            <a:endParaRPr lang="en-US" sz="950" dirty="0"/>
          </a:p>
        </p:txBody>
      </p:sp>
      <p:sp>
        <p:nvSpPr>
          <p:cNvPr id="77" name="Shape 75"/>
          <p:cNvSpPr/>
          <p:nvPr/>
        </p:nvSpPr>
        <p:spPr>
          <a:xfrm>
            <a:off x="11373028" y="5885307"/>
            <a:ext cx="118872" cy="118872"/>
          </a:xfrm>
          <a:prstGeom prst="diamond">
            <a:avLst/>
          </a:prstGeom>
          <a:solidFill>
            <a:srgbClr val="6B4A72"/>
          </a:solidFill>
          <a:ln w="12700">
            <a:solidFill>
              <a:srgbClr val="6B4A72"/>
            </a:solidFill>
            <a:prstDash val="solid"/>
          </a:ln>
        </p:spPr>
      </p:sp>
      <p:sp>
        <p:nvSpPr>
          <p:cNvPr id="78" name="Text 76"/>
          <p:cNvSpPr/>
          <p:nvPr/>
        </p:nvSpPr>
        <p:spPr>
          <a:xfrm>
            <a:off x="10518064" y="5808726"/>
            <a:ext cx="786384" cy="272034"/>
          </a:xfrm>
          <a:prstGeom prst="rect">
            <a:avLst/>
          </a:prstGeom>
          <a:noFill/>
          <a:ln/>
        </p:spPr>
        <p:txBody>
          <a:bodyPr wrap="square" lIns="0" tIns="0" rIns="0" bIns="0" rtlCol="0" anchor="ctr"/>
          <a:lstStyle/>
          <a:p>
            <a:pPr algn="r" indent="0" marL="0">
              <a:buNone/>
            </a:pPr>
            <a:r>
              <a:rPr lang="en-US" sz="900" b="1" dirty="0">
                <a:solidFill>
                  <a:srgbClr val="6B4A72"/>
                </a:solidFill>
                <a:latin typeface="Arial" pitchFamily="34" charset="0"/>
                <a:ea typeface="Arial" pitchFamily="34" charset="-122"/>
                <a:cs typeface="Arial" pitchFamily="34" charset="-120"/>
              </a:rPr>
              <a:t>4/30</a:t>
            </a:r>
            <a:endParaRPr lang="en-US" sz="900" dirty="0"/>
          </a:p>
        </p:txBody>
      </p:sp>
      <p:sp>
        <p:nvSpPr>
          <p:cNvPr id="79" name="Shape 77"/>
          <p:cNvSpPr/>
          <p:nvPr/>
        </p:nvSpPr>
        <p:spPr>
          <a:xfrm>
            <a:off x="3800629" y="1417320"/>
            <a:ext cx="0" cy="4663440"/>
          </a:xfrm>
          <a:prstGeom prst="line">
            <a:avLst/>
          </a:prstGeom>
          <a:noFill/>
          <a:ln w="12700">
            <a:solidFill>
              <a:srgbClr val="1B1A19"/>
            </a:solidFill>
            <a:prstDash val="dash"/>
          </a:ln>
        </p:spPr>
      </p:sp>
      <p:sp>
        <p:nvSpPr>
          <p:cNvPr id="80" name="Text 78"/>
          <p:cNvSpPr/>
          <p:nvPr/>
        </p:nvSpPr>
        <p:spPr>
          <a:xfrm>
            <a:off x="3846349" y="1746504"/>
            <a:ext cx="457200" cy="155448"/>
          </a:xfrm>
          <a:prstGeom prst="rect">
            <a:avLst/>
          </a:prstGeom>
          <a:noFill/>
          <a:ln/>
        </p:spPr>
        <p:txBody>
          <a:bodyPr wrap="square" lIns="0" tIns="0" rIns="0" bIns="0" rtlCol="0" anchor="ctr"/>
          <a:lstStyle/>
          <a:p>
            <a:pPr indent="0" marL="0">
              <a:buNone/>
            </a:pPr>
            <a:r>
              <a:rPr lang="en-US" sz="750" dirty="0">
                <a:solidFill>
                  <a:srgbClr val="1B1A19"/>
                </a:solidFill>
                <a:latin typeface="Yu Gothic" pitchFamily="34" charset="0"/>
                <a:ea typeface="Yu Gothic" pitchFamily="34" charset="-122"/>
                <a:cs typeface="Yu Gothic" pitchFamily="34" charset="-120"/>
              </a:rPr>
              <a:t>現在</a:t>
            </a:r>
            <a:endParaRPr lang="en-US" sz="750" dirty="0"/>
          </a:p>
        </p:txBody>
      </p:sp>
      <p:sp>
        <p:nvSpPr>
          <p:cNvPr id="81" name="Text 79"/>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営業時間は11:00〜23:00、終日全席禁煙（特記事項 第1条・第10条）。</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確定事項と社内目標値</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マイルストーン一覧</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網掛けは契約書で日付・金額が確定している事項。それ以外は確定事項から逆算した社内目標値。</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1371600"/>
                <a:gridCol w="3749040"/>
                <a:gridCol w="6153912"/>
              </a:tblGrid>
              <a:tr h="329184">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期日</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マイルストーン</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根拠・備考</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r>
              <a:tr h="329184">
                <a:tc>
                  <a:txBody>
                    <a:bodyPr/>
                    <a:lstStyle/>
                    <a:p>
                      <a:pPr indent="0" marL="0">
                        <a:buNone/>
                      </a:pPr>
                      <a:r>
                        <a:rPr lang="en-US" sz="950" b="1" dirty="0">
                          <a:solidFill>
                            <a:srgbClr val="8C2740"/>
                          </a:solidFill>
                          <a:latin typeface="Arial" pitchFamily="34" charset="0"/>
                          <a:ea typeface="Arial" pitchFamily="34" charset="-122"/>
                          <a:cs typeface="Arial" pitchFamily="34" charset="-120"/>
                        </a:rPr>
                        <a:t>2026.09.01</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定期建物賃貸借契約 締結</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第1回敷金 ¥11,105,988 預託／内装管理費 ¥1,285,130 一括払い</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29184">
                <a:tc>
                  <a:txBody>
                    <a:bodyPr/>
                    <a:lstStyle/>
                    <a:p>
                      <a:pPr indent="0" marL="0">
                        <a:buNone/>
                      </a:pPr>
                      <a:r>
                        <a:rPr lang="en-US" sz="950" dirty="0">
                          <a:solidFill>
                            <a:srgbClr val="1B1A19"/>
                          </a:solidFill>
                          <a:latin typeface="Arial" pitchFamily="34" charset="0"/>
                          <a:ea typeface="Arial" pitchFamily="34" charset="-122"/>
                          <a:cs typeface="Arial" pitchFamily="34" charset="-120"/>
                        </a:rPr>
                        <a:t>2026.09.30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設計プラン 確定</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基本設計着手の前提。以降のクリティカルパスの起点</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B1A19"/>
                          </a:solidFill>
                          <a:latin typeface="Arial" pitchFamily="34" charset="0"/>
                          <a:ea typeface="Arial" pitchFamily="34" charset="-122"/>
                          <a:cs typeface="Arial" pitchFamily="34" charset="-120"/>
                        </a:rPr>
                        <a:t>2026.11.30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基本設計 完了・賃貸人事前協議 完了</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デザインクライテリア（特記事項 第6条2項）適合の確認</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B1A19"/>
                          </a:solidFill>
                          <a:latin typeface="Arial" pitchFamily="34" charset="0"/>
                          <a:ea typeface="Arial" pitchFamily="34" charset="-122"/>
                          <a:cs typeface="Arial" pitchFamily="34" charset="-120"/>
                        </a:rPr>
                        <a:t>2027.01.31</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実施設計 完了</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B工事・C工事の見積確定に必要</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B1A19"/>
                          </a:solidFill>
                          <a:latin typeface="Arial" pitchFamily="34" charset="0"/>
                          <a:ea typeface="Arial" pitchFamily="34" charset="-122"/>
                          <a:cs typeface="Arial" pitchFamily="34" charset="-120"/>
                        </a:rPr>
                        <a:t>2027.02.05</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C工事発注先の書面提出</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特記事項 第4条2項「C工事着手前、賃貸人の指定する期日まで」</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B1A19"/>
                          </a:solidFill>
                          <a:latin typeface="Arial" pitchFamily="34" charset="0"/>
                          <a:ea typeface="Arial" pitchFamily="34" charset="-122"/>
                          <a:cs typeface="Arial" pitchFamily="34" charset="-120"/>
                        </a:rPr>
                        <a:t>2027.02.14</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工事等承認申請 承認取得</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第23条1項。承認前は着工不可</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8C2740"/>
                          </a:solidFill>
                          <a:latin typeface="Arial" pitchFamily="34" charset="0"/>
                          <a:ea typeface="Arial" pitchFamily="34" charset="-122"/>
                          <a:cs typeface="Arial" pitchFamily="34" charset="-120"/>
                        </a:rPr>
                        <a:t>2027.02.14</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第2回敷金ほか 支払</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敷金 ¥462,780／開店前準備期間負担金 ¥550,770／契約時販促負担金 ¥1,000,000</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29184">
                <a:tc>
                  <a:txBody>
                    <a:bodyPr/>
                    <a:lstStyle/>
                    <a:p>
                      <a:pPr indent="0" marL="0">
                        <a:buNone/>
                      </a:pPr>
                      <a:r>
                        <a:rPr lang="en-US" sz="950" b="1" dirty="0">
                          <a:solidFill>
                            <a:srgbClr val="8C2740"/>
                          </a:solidFill>
                          <a:latin typeface="Arial" pitchFamily="34" charset="0"/>
                          <a:ea typeface="Arial" pitchFamily="34" charset="-122"/>
                          <a:cs typeface="Arial" pitchFamily="34" charset="-120"/>
                        </a:rPr>
                        <a:t>2027.02.15</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物件 引渡</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要目表(4)。出店期間の起算日。以降 B工事・C工事に着手</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29184">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2027.04.15</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工事 完成・引渡検査</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厨房機器・什器・備品の搬入設置を含む</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2027.04.22</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消防・保健所検査／飲食店営業許可 取得</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申請者名義は新会社への地位承継と整合させる</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29184">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2027.04.28</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スタッフトレーニング 完了</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1〜2週間（4/16〜4/28）</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8C2740"/>
                          </a:solidFill>
                          <a:latin typeface="Arial" pitchFamily="34" charset="0"/>
                          <a:ea typeface="Arial" pitchFamily="34" charset="-122"/>
                          <a:cs typeface="Arial" pitchFamily="34" charset="-120"/>
                        </a:rPr>
                        <a:t>2027.04.30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グランドオープン（営業開始日）</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要目表(4)。同日から出店料・共益費・販促費の起算</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bl>
          </a:graphicData>
        </a:graphic>
      </p:graphicFrame>
      <p:sp>
        <p:nvSpPr>
          <p:cNvPr id="6" name="Text 3"/>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出典：営業と出店に関する契約書（定期建物賃貸借契約書）（案）契約番号 90238-2047-000／賃貸人 三井不動産株式会社・賃借人 株式会社WineBank</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契約要目表および特記事項 第2条・第3条</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資金・支払スケジュール</a:t>
            </a:r>
            <a:endParaRPr lang="en-US" sz="2500" dirty="0"/>
          </a:p>
        </p:txBody>
      </p:sp>
      <p:sp>
        <p:nvSpPr>
          <p:cNvPr id="4" name="Text 2"/>
          <p:cNvSpPr/>
          <p:nvPr/>
        </p:nvSpPr>
        <p:spPr>
          <a:xfrm>
            <a:off x="457200" y="1078992"/>
            <a:ext cx="11274552" cy="237744"/>
          </a:xfrm>
          <a:prstGeom prst="rect">
            <a:avLst/>
          </a:prstGeom>
          <a:noFill/>
          <a:ln/>
        </p:spPr>
        <p:txBody>
          <a:bodyPr wrap="square" lIns="0" tIns="0" rIns="0" bIns="0" rtlCol="0" anchor="ctr"/>
          <a:lstStyle/>
          <a:p>
            <a:pPr indent="0" marL="0">
              <a:buNone/>
            </a:pPr>
            <a:r>
              <a:rPr lang="en-US" sz="1050" dirty="0">
                <a:solidFill>
                  <a:srgbClr val="6E6866"/>
                </a:solidFill>
                <a:latin typeface="Yu Gothic" pitchFamily="34" charset="0"/>
                <a:ea typeface="Yu Gothic" pitchFamily="34" charset="-122"/>
                <a:cs typeface="Yu Gothic" pitchFamily="34" charset="-120"/>
              </a:rPr>
              <a:t>出店料・負担金はいずれも消費税別途。網掛けは営業開始日（2027年4月30日）から発生する継続費用。</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74552" cy="914400"/>
        </p:xfrm>
        <a:graphic>
          <a:graphicData uri="http://schemas.openxmlformats.org/drawingml/2006/table">
            <a:tbl>
              <a:tblPr/>
              <a:tblGrid>
                <a:gridCol w="1417320"/>
                <a:gridCol w="2651760"/>
                <a:gridCol w="2011680"/>
                <a:gridCol w="5193792"/>
              </a:tblGrid>
              <a:tr h="347472">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期日</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費目</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金額</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c>
                  <a:txBody>
                    <a:bodyPr/>
                    <a:lstStyle/>
                    <a:p>
                      <a:pPr indent="0" marL="0">
                        <a:buNone/>
                      </a:pPr>
                      <a:r>
                        <a:rPr lang="en-US" sz="900" dirty="0">
                          <a:solidFill>
                            <a:srgbClr val="6E6866"/>
                          </a:solidFill>
                          <a:latin typeface="Yu Gothic" pitchFamily="34" charset="0"/>
                          <a:ea typeface="Yu Gothic" pitchFamily="34" charset="-122"/>
                          <a:cs typeface="Yu Gothic" pitchFamily="34" charset="-120"/>
                        </a:rPr>
                        <a:t>備考</a:t>
                      </a:r>
                      <a:endParaRPr lang="en-US" sz="90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5F3F1"/>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2026.09.01</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第1回 敷金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¥11,105,988</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本契約締結時</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2026.09.01</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内装管理費</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¥1,285,130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第1回敷金預託日に一括</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2027.02.14</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第2回 敷金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¥462,780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引渡日の前日</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2027.02.14</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開店前準備期間負担金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¥550,770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第2回敷金預託日に一括</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2027.02.14</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契約時販促負担金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¥1,000,000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第2回敷金預託日に一括</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固定出店料</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¥2,221,439 ／月</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@¥12,100/㎡。起算日＝営業開始日</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第2出店料</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約¥854,700 ／月</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総額¥100,000,000／117ヶ月。営業開始日変更時は覚書で再設定</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経常販売促進費</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¥277,588 ／月</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@¥1,512/㎡</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2027.04.30〜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b="1" dirty="0">
                          <a:solidFill>
                            <a:srgbClr val="8C2740"/>
                          </a:solidFill>
                          <a:latin typeface="Yu Gothic" pitchFamily="34" charset="0"/>
                          <a:ea typeface="Yu Gothic" pitchFamily="34" charset="-122"/>
                          <a:cs typeface="Yu Gothic" pitchFamily="34" charset="-120"/>
                        </a:rPr>
                        <a:t>第3〜61回 敷金</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¥462,749 ／月</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59回分割。月前半売上預り金から控除</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7EBEE"/>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売上連動</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変動出店料</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超過額の 7.0%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月間売上高 ¥27,767,987 を超過した額に対して</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r h="347472">
                <a:tc>
                  <a:txBody>
                    <a:bodyPr/>
                    <a:lstStyle/>
                    <a:p>
                      <a:pPr indent="0" marL="0">
                        <a:buNone/>
                      </a:pPr>
                      <a:r>
                        <a:rPr lang="en-US" sz="950" dirty="0">
                          <a:solidFill>
                            <a:srgbClr val="1B1A19"/>
                          </a:solidFill>
                          <a:latin typeface="Arial" pitchFamily="34" charset="0"/>
                          <a:ea typeface="Arial" pitchFamily="34" charset="-122"/>
                          <a:cs typeface="Arial" pitchFamily="34" charset="-120"/>
                        </a:rPr>
                        <a:t>売上連動</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1B1A19"/>
                          </a:solidFill>
                          <a:latin typeface="Yu Gothic" pitchFamily="34" charset="0"/>
                          <a:ea typeface="Yu Gothic" pitchFamily="34" charset="-122"/>
                          <a:cs typeface="Yu Gothic" pitchFamily="34" charset="-120"/>
                        </a:rPr>
                        <a:t>ポイントカード費用</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B1A19"/>
                          </a:solidFill>
                          <a:latin typeface="Arial" pitchFamily="34" charset="0"/>
                          <a:ea typeface="Arial" pitchFamily="34" charset="-122"/>
                          <a:cs typeface="Arial" pitchFamily="34" charset="-120"/>
                        </a:rPr>
                        <a:t>利用実績の 1.0%</a:t>
                      </a:r>
                      <a:endParaRPr lang="en-US" sz="950" dirty="0">
                        <a:latin typeface="Arial" charset="0"/>
                        <a:ea typeface="Arial" charset="0"/>
                        <a:cs typeface="Arial"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c>
                  <a:txBody>
                    <a:bodyPr/>
                    <a:lstStyle/>
                    <a:p>
                      <a:pPr indent="0" marL="0">
                        <a:buNone/>
                      </a:pPr>
                      <a:r>
                        <a:rPr lang="en-US" sz="950" dirty="0">
                          <a:solidFill>
                            <a:srgbClr val="6E6866"/>
                          </a:solidFill>
                          <a:latin typeface="Yu Gothic" pitchFamily="34" charset="0"/>
                          <a:ea typeface="Yu Gothic" pitchFamily="34" charset="-122"/>
                          <a:cs typeface="Yu Gothic" pitchFamily="34" charset="-120"/>
                        </a:rPr>
                        <a:t>ほか駐車場負担金（弊社計算による割引相当額）</a:t>
                      </a:r>
                      <a:endParaRPr lang="en-US" sz="950" dirty="0">
                        <a:latin typeface="Yu Gothic" charset="0"/>
                        <a:ea typeface="Yu Gothic" charset="0"/>
                        <a:cs typeface="Yu Gothic" charset="0"/>
                      </a:endParaRPr>
                    </a:p>
                  </a:txBody>
                  <a:tcPr marL="76200" marR="76200" marT="38100" marB="38100" anchor="ctr">
                    <a:lnL w="0" cap="flat" cmpd="sng" algn="ctr">
                      <a:noFill/>
                    </a:lnL>
                    <a:lnR w="0" cap="flat" cmpd="sng" algn="ctr">
                      <a:noFill/>
                    </a:lnR>
                    <a:lnT w="0" cap="flat" cmpd="sng" algn="ctr">
                      <a:noFill/>
                    </a:lnT>
                    <a:lnB w="6350" cap="flat" cmpd="sng" algn="ctr">
                      <a:solidFill>
                        <a:srgbClr val="DCD7D2"/>
                      </a:solidFill>
                      <a:prstDash val="solid"/>
                      <a:round/>
                      <a:headEnd type="none" w="med" len="med"/>
                      <a:tailEnd type="none" w="med" len="med"/>
                    </a:lnB>
                    <a:solidFill>
                      <a:srgbClr val="FFFFFF"/>
                    </a:solidFill>
                  </a:tcPr>
                </a:tc>
              </a:tr>
            </a:tbl>
          </a:graphicData>
        </a:graphic>
      </p:graphicFrame>
      <p:sp>
        <p:nvSpPr>
          <p:cNvPr id="6" name="Text 3"/>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敷金総額 ¥38,870,959（@¥211,727/㎡）。解約金は平均月額出店料等の8ヶ月相当額、営業開始日前解約金は16ヶ月相当額に賃貸人負担額を加算。</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310896"/>
            <a:ext cx="11274552" cy="219456"/>
          </a:xfrm>
          <a:prstGeom prst="rect">
            <a:avLst/>
          </a:prstGeom>
          <a:noFill/>
          <a:ln/>
        </p:spPr>
        <p:txBody>
          <a:bodyPr wrap="square" lIns="0" tIns="0" rIns="0" bIns="0" rtlCol="0" anchor="ctr"/>
          <a:lstStyle/>
          <a:p>
            <a:pPr indent="0" marL="0">
              <a:buNone/>
            </a:pPr>
            <a:r>
              <a:rPr lang="en-US" sz="950" b="1" spc="200" kern="0" dirty="0">
                <a:solidFill>
                  <a:srgbClr val="8C2740"/>
                </a:solidFill>
                <a:latin typeface="Yu Gothic" pitchFamily="34" charset="0"/>
                <a:ea typeface="Yu Gothic" pitchFamily="34" charset="-122"/>
                <a:cs typeface="Yu Gothic" pitchFamily="34" charset="-120"/>
              </a:rPr>
              <a:t>リスクと対策</a:t>
            </a:r>
            <a:endParaRPr lang="en-US" sz="950" dirty="0"/>
          </a:p>
        </p:txBody>
      </p:sp>
      <p:sp>
        <p:nvSpPr>
          <p:cNvPr id="3" name="Text 1"/>
          <p:cNvSpPr/>
          <p:nvPr/>
        </p:nvSpPr>
        <p:spPr>
          <a:xfrm>
            <a:off x="457200" y="548640"/>
            <a:ext cx="11274552" cy="502920"/>
          </a:xfrm>
          <a:prstGeom prst="rect">
            <a:avLst/>
          </a:prstGeom>
          <a:noFill/>
          <a:ln/>
        </p:spPr>
        <p:txBody>
          <a:bodyPr wrap="square" lIns="0" tIns="0" rIns="0" bIns="0" rtlCol="0" anchor="ctr"/>
          <a:lstStyle/>
          <a:p>
            <a:pPr indent="0" marL="0">
              <a:buNone/>
            </a:pPr>
            <a:r>
              <a:rPr lang="en-US" sz="2500" b="1" dirty="0">
                <a:solidFill>
                  <a:srgbClr val="1B1A19"/>
                </a:solidFill>
                <a:latin typeface="Yu Gothic" pitchFamily="34" charset="0"/>
                <a:ea typeface="Yu Gothic" pitchFamily="34" charset="-122"/>
                <a:cs typeface="Yu Gothic" pitchFamily="34" charset="-120"/>
              </a:rPr>
              <a:t>クリティカルパスと留意点</a:t>
            </a:r>
            <a:endParaRPr lang="en-US" sz="2500" dirty="0"/>
          </a:p>
        </p:txBody>
      </p:sp>
      <p:sp>
        <p:nvSpPr>
          <p:cNvPr id="4" name="Shape 2"/>
          <p:cNvSpPr/>
          <p:nvPr/>
        </p:nvSpPr>
        <p:spPr>
          <a:xfrm>
            <a:off x="457200" y="1143000"/>
            <a:ext cx="5500116" cy="1481328"/>
          </a:xfrm>
          <a:prstGeom prst="rect">
            <a:avLst/>
          </a:prstGeom>
          <a:solidFill>
            <a:srgbClr val="FFFFFF"/>
          </a:solidFill>
          <a:ln w="9525">
            <a:solidFill>
              <a:srgbClr val="DCD7D2"/>
            </a:solidFill>
            <a:prstDash val="solid"/>
          </a:ln>
        </p:spPr>
      </p:sp>
      <p:sp>
        <p:nvSpPr>
          <p:cNvPr id="5" name="Text 3"/>
          <p:cNvSpPr/>
          <p:nvPr/>
        </p:nvSpPr>
        <p:spPr>
          <a:xfrm>
            <a:off x="621792" y="1243584"/>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工期</a:t>
            </a:r>
            <a:endParaRPr lang="en-US" sz="850" dirty="0"/>
          </a:p>
        </p:txBody>
      </p:sp>
      <p:sp>
        <p:nvSpPr>
          <p:cNvPr id="6" name="Text 4"/>
          <p:cNvSpPr/>
          <p:nvPr/>
        </p:nvSpPr>
        <p:spPr>
          <a:xfrm>
            <a:off x="621792" y="1444752"/>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引渡から完成まで実質2ヶ月</a:t>
            </a:r>
            <a:endParaRPr lang="en-US" sz="1200" dirty="0"/>
          </a:p>
        </p:txBody>
      </p:sp>
      <p:sp>
        <p:nvSpPr>
          <p:cNvPr id="7" name="Text 5"/>
          <p:cNvSpPr/>
          <p:nvPr/>
        </p:nvSpPr>
        <p:spPr>
          <a:xfrm>
            <a:off x="621792" y="1728216"/>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重飲食・厨房付き183.59㎡としては極めてタイト。B工事とC工事の取り合いが滞れば4月中旬完成が崩れる。</a:t>
            </a:r>
            <a:endParaRPr lang="en-US" sz="900" dirty="0"/>
          </a:p>
        </p:txBody>
      </p:sp>
      <p:sp>
        <p:nvSpPr>
          <p:cNvPr id="8" name="Text 6"/>
          <p:cNvSpPr/>
          <p:nvPr/>
        </p:nvSpPr>
        <p:spPr>
          <a:xfrm>
            <a:off x="621792" y="2185416"/>
            <a:ext cx="5170932" cy="365760"/>
          </a:xfrm>
          <a:prstGeom prst="rect">
            <a:avLst/>
          </a:prstGeom>
          <a:noFill/>
          <a:ln/>
        </p:spPr>
        <p:txBody>
          <a:bodyPr wrap="square" lIns="0" tIns="0" rIns="0" bIns="0" rtlCol="0" anchor="ctr"/>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引渡前に施工者間で総合工程・取り合い調整を完了。厨房機器は実施設計完了時点（1月末）で発注確定。</a:t>
            </a:r>
            <a:endParaRPr lang="en-US" sz="900" dirty="0"/>
          </a:p>
        </p:txBody>
      </p:sp>
      <p:sp>
        <p:nvSpPr>
          <p:cNvPr id="9" name="Shape 7"/>
          <p:cNvSpPr/>
          <p:nvPr/>
        </p:nvSpPr>
        <p:spPr>
          <a:xfrm>
            <a:off x="6231636" y="1143000"/>
            <a:ext cx="5500116" cy="1481328"/>
          </a:xfrm>
          <a:prstGeom prst="rect">
            <a:avLst/>
          </a:prstGeom>
          <a:solidFill>
            <a:srgbClr val="FFFFFF"/>
          </a:solidFill>
          <a:ln w="9525">
            <a:solidFill>
              <a:srgbClr val="DCD7D2"/>
            </a:solidFill>
            <a:prstDash val="solid"/>
          </a:ln>
        </p:spPr>
      </p:sp>
      <p:sp>
        <p:nvSpPr>
          <p:cNvPr id="10" name="Text 8"/>
          <p:cNvSpPr/>
          <p:nvPr/>
        </p:nvSpPr>
        <p:spPr>
          <a:xfrm>
            <a:off x="6396228" y="1243584"/>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工事条件</a:t>
            </a:r>
            <a:endParaRPr lang="en-US" sz="850" dirty="0"/>
          </a:p>
        </p:txBody>
      </p:sp>
      <p:sp>
        <p:nvSpPr>
          <p:cNvPr id="11" name="Text 9"/>
          <p:cNvSpPr/>
          <p:nvPr/>
        </p:nvSpPr>
        <p:spPr>
          <a:xfrm>
            <a:off x="6396228" y="1444752"/>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騒音・振動・臭気を伴う工事は時間制限</a:t>
            </a:r>
            <a:endParaRPr lang="en-US" sz="1200" dirty="0"/>
          </a:p>
        </p:txBody>
      </p:sp>
      <p:sp>
        <p:nvSpPr>
          <p:cNvPr id="12" name="Text 10"/>
          <p:cNvSpPr/>
          <p:nvPr/>
        </p:nvSpPr>
        <p:spPr>
          <a:xfrm>
            <a:off x="6396228" y="1728216"/>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事務所・住宅・美術館に近接するため、工事実施時間の制限が工期と費用に影響する旨を承諾する条項がある。</a:t>
            </a:r>
            <a:endParaRPr lang="en-US" sz="900" dirty="0"/>
          </a:p>
        </p:txBody>
      </p:sp>
      <p:sp>
        <p:nvSpPr>
          <p:cNvPr id="13" name="Text 11"/>
          <p:cNvSpPr/>
          <p:nvPr/>
        </p:nvSpPr>
        <p:spPr>
          <a:xfrm>
            <a:off x="6396228" y="2185416"/>
            <a:ext cx="5170932" cy="365760"/>
          </a:xfrm>
          <a:prstGeom prst="rect">
            <a:avLst/>
          </a:prstGeom>
          <a:noFill/>
          <a:ln/>
        </p:spPr>
        <p:txBody>
          <a:bodyPr wrap="square" lIns="0" tIns="0" rIns="0" bIns="0" rtlCol="0" anchor="ctr"/>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1日あたりの作業可能時間帯を書面で確認し、深夜・早朝の割増を当初予算に織り込む。</a:t>
            </a:r>
            <a:endParaRPr lang="en-US" sz="900" dirty="0"/>
          </a:p>
        </p:txBody>
      </p:sp>
      <p:sp>
        <p:nvSpPr>
          <p:cNvPr id="14" name="Shape 12"/>
          <p:cNvSpPr/>
          <p:nvPr/>
        </p:nvSpPr>
        <p:spPr>
          <a:xfrm>
            <a:off x="457200" y="2825496"/>
            <a:ext cx="5500116" cy="1481328"/>
          </a:xfrm>
          <a:prstGeom prst="rect">
            <a:avLst/>
          </a:prstGeom>
          <a:solidFill>
            <a:srgbClr val="FFFFFF"/>
          </a:solidFill>
          <a:ln w="9525">
            <a:solidFill>
              <a:srgbClr val="DCD7D2"/>
            </a:solidFill>
            <a:prstDash val="solid"/>
          </a:ln>
        </p:spPr>
      </p:sp>
      <p:sp>
        <p:nvSpPr>
          <p:cNvPr id="15" name="Text 13"/>
          <p:cNvSpPr/>
          <p:nvPr/>
        </p:nvSpPr>
        <p:spPr>
          <a:xfrm>
            <a:off x="621792" y="2926080"/>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承認</a:t>
            </a:r>
            <a:endParaRPr lang="en-US" sz="850" dirty="0"/>
          </a:p>
        </p:txBody>
      </p:sp>
      <p:sp>
        <p:nvSpPr>
          <p:cNvPr id="16" name="Text 14"/>
          <p:cNvSpPr/>
          <p:nvPr/>
        </p:nvSpPr>
        <p:spPr>
          <a:xfrm>
            <a:off x="621792" y="3127248"/>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賃貸人承認が二段構え</a:t>
            </a:r>
            <a:endParaRPr lang="en-US" sz="1200" dirty="0"/>
          </a:p>
        </p:txBody>
      </p:sp>
      <p:sp>
        <p:nvSpPr>
          <p:cNvPr id="17" name="Text 15"/>
          <p:cNvSpPr/>
          <p:nvPr/>
        </p:nvSpPr>
        <p:spPr>
          <a:xfrm>
            <a:off x="621792" y="3410712"/>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デザインクライテリア承認と工事等承認申請の双方が必要で、いずれも承認前は着工できない。</a:t>
            </a:r>
            <a:endParaRPr lang="en-US" sz="900" dirty="0"/>
          </a:p>
        </p:txBody>
      </p:sp>
      <p:sp>
        <p:nvSpPr>
          <p:cNvPr id="18" name="Text 16"/>
          <p:cNvSpPr/>
          <p:nvPr/>
        </p:nvSpPr>
        <p:spPr>
          <a:xfrm>
            <a:off x="621792" y="3867912"/>
            <a:ext cx="5170932" cy="365760"/>
          </a:xfrm>
          <a:prstGeom prst="rect">
            <a:avLst/>
          </a:prstGeom>
          <a:noFill/>
          <a:ln/>
        </p:spPr>
        <p:txBody>
          <a:bodyPr wrap="square" lIns="0" tIns="0" rIns="0" bIns="0" rtlCol="0" anchor="ctr"/>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基本設計段階（10〜11月）からサイン・ファサードを先行協議し、2/14までに承認を取り切る。</a:t>
            </a:r>
            <a:endParaRPr lang="en-US" sz="900" dirty="0"/>
          </a:p>
        </p:txBody>
      </p:sp>
      <p:sp>
        <p:nvSpPr>
          <p:cNvPr id="19" name="Shape 17"/>
          <p:cNvSpPr/>
          <p:nvPr/>
        </p:nvSpPr>
        <p:spPr>
          <a:xfrm>
            <a:off x="6231636" y="2825496"/>
            <a:ext cx="5500116" cy="1481328"/>
          </a:xfrm>
          <a:prstGeom prst="rect">
            <a:avLst/>
          </a:prstGeom>
          <a:solidFill>
            <a:srgbClr val="FFFFFF"/>
          </a:solidFill>
          <a:ln w="9525">
            <a:solidFill>
              <a:srgbClr val="DCD7D2"/>
            </a:solidFill>
            <a:prstDash val="solid"/>
          </a:ln>
        </p:spPr>
      </p:sp>
      <p:sp>
        <p:nvSpPr>
          <p:cNvPr id="20" name="Text 18"/>
          <p:cNvSpPr/>
          <p:nvPr/>
        </p:nvSpPr>
        <p:spPr>
          <a:xfrm>
            <a:off x="6396228" y="2926080"/>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費用区分</a:t>
            </a:r>
            <a:endParaRPr lang="en-US" sz="850" dirty="0"/>
          </a:p>
        </p:txBody>
      </p:sp>
      <p:sp>
        <p:nvSpPr>
          <p:cNvPr id="21" name="Text 19"/>
          <p:cNvSpPr/>
          <p:nvPr/>
        </p:nvSpPr>
        <p:spPr>
          <a:xfrm>
            <a:off x="6396228" y="3127248"/>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賃貸人負担1億円の確定は覚書待ち</a:t>
            </a:r>
            <a:endParaRPr lang="en-US" sz="1200" dirty="0"/>
          </a:p>
        </p:txBody>
      </p:sp>
      <p:sp>
        <p:nvSpPr>
          <p:cNvPr id="22" name="Text 20"/>
          <p:cNvSpPr/>
          <p:nvPr/>
        </p:nvSpPr>
        <p:spPr>
          <a:xfrm>
            <a:off x="6396228" y="3410712"/>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金額は見積書と内装工事図面に基づき確定する建付け。厨房機器・什器・備品は賃貸人負担の対象外。</a:t>
            </a:r>
            <a:endParaRPr lang="en-US" sz="900" dirty="0"/>
          </a:p>
        </p:txBody>
      </p:sp>
      <p:sp>
        <p:nvSpPr>
          <p:cNvPr id="23" name="Text 21"/>
          <p:cNvSpPr/>
          <p:nvPr/>
        </p:nvSpPr>
        <p:spPr>
          <a:xfrm>
            <a:off x="6396228" y="3867912"/>
            <a:ext cx="5170932" cy="365760"/>
          </a:xfrm>
          <a:prstGeom prst="rect">
            <a:avLst/>
          </a:prstGeom>
          <a:noFill/>
          <a:ln/>
        </p:spPr>
        <p:txBody>
          <a:bodyPr wrap="square" lIns="0" tIns="0" rIns="0" bIns="0" rtlCol="0" anchor="ctr"/>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負担区分を発注前に合意し、1月末の見積確定と同時に覚書ドラフトを回付。自社負担額を2月上旬に確定。</a:t>
            </a:r>
            <a:endParaRPr lang="en-US" sz="900" dirty="0"/>
          </a:p>
        </p:txBody>
      </p:sp>
      <p:sp>
        <p:nvSpPr>
          <p:cNvPr id="24" name="Shape 22"/>
          <p:cNvSpPr/>
          <p:nvPr/>
        </p:nvSpPr>
        <p:spPr>
          <a:xfrm>
            <a:off x="457200" y="4507992"/>
            <a:ext cx="5500116" cy="1481328"/>
          </a:xfrm>
          <a:prstGeom prst="rect">
            <a:avLst/>
          </a:prstGeom>
          <a:solidFill>
            <a:srgbClr val="FFFFFF"/>
          </a:solidFill>
          <a:ln w="9525">
            <a:solidFill>
              <a:srgbClr val="DCD7D2"/>
            </a:solidFill>
            <a:prstDash val="solid"/>
          </a:ln>
        </p:spPr>
      </p:sp>
      <p:sp>
        <p:nvSpPr>
          <p:cNvPr id="25" name="Text 23"/>
          <p:cNvSpPr/>
          <p:nvPr/>
        </p:nvSpPr>
        <p:spPr>
          <a:xfrm>
            <a:off x="621792" y="4608576"/>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組織</a:t>
            </a:r>
            <a:endParaRPr lang="en-US" sz="850" dirty="0"/>
          </a:p>
        </p:txBody>
      </p:sp>
      <p:sp>
        <p:nvSpPr>
          <p:cNvPr id="26" name="Text 24"/>
          <p:cNvSpPr/>
          <p:nvPr/>
        </p:nvSpPr>
        <p:spPr>
          <a:xfrm>
            <a:off x="621792" y="4809744"/>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地位承継と許認可名義の整合</a:t>
            </a:r>
            <a:endParaRPr lang="en-US" sz="1200" dirty="0"/>
          </a:p>
        </p:txBody>
      </p:sp>
      <p:sp>
        <p:nvSpPr>
          <p:cNvPr id="27" name="Text 25"/>
          <p:cNvSpPr/>
          <p:nvPr/>
        </p:nvSpPr>
        <p:spPr>
          <a:xfrm>
            <a:off x="621792" y="5093208"/>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新会社への承継は賃借人が連帯保証人となることを条件に賃貸人が承諾し、3者覚書を締結する。</a:t>
            </a:r>
            <a:endParaRPr lang="en-US" sz="900" dirty="0"/>
          </a:p>
        </p:txBody>
      </p:sp>
      <p:sp>
        <p:nvSpPr>
          <p:cNvPr id="28" name="Text 26"/>
          <p:cNvSpPr/>
          <p:nvPr/>
        </p:nvSpPr>
        <p:spPr>
          <a:xfrm>
            <a:off x="621792" y="5550408"/>
            <a:ext cx="5170932" cy="365760"/>
          </a:xfrm>
          <a:prstGeom prst="rect">
            <a:avLst/>
          </a:prstGeom>
          <a:noFill/>
          <a:ln/>
        </p:spPr>
        <p:txBody>
          <a:bodyPr wrap="square" lIns="0" tIns="0" rIns="0" bIns="0" rtlCol="0" anchor="ctr"/>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新会社設立を11月末までに完了し年内に覚書締結。以降の工事発注・許認可は新会社名義に統一。</a:t>
            </a:r>
            <a:endParaRPr lang="en-US" sz="900" dirty="0"/>
          </a:p>
        </p:txBody>
      </p:sp>
      <p:sp>
        <p:nvSpPr>
          <p:cNvPr id="29" name="Shape 27"/>
          <p:cNvSpPr/>
          <p:nvPr/>
        </p:nvSpPr>
        <p:spPr>
          <a:xfrm>
            <a:off x="6231636" y="4507992"/>
            <a:ext cx="5500116" cy="1481328"/>
          </a:xfrm>
          <a:prstGeom prst="rect">
            <a:avLst/>
          </a:prstGeom>
          <a:solidFill>
            <a:srgbClr val="FFFFFF"/>
          </a:solidFill>
          <a:ln w="9525">
            <a:solidFill>
              <a:srgbClr val="DCD7D2"/>
            </a:solidFill>
            <a:prstDash val="solid"/>
          </a:ln>
        </p:spPr>
      </p:sp>
      <p:sp>
        <p:nvSpPr>
          <p:cNvPr id="30" name="Text 28"/>
          <p:cNvSpPr/>
          <p:nvPr/>
        </p:nvSpPr>
        <p:spPr>
          <a:xfrm>
            <a:off x="6396228" y="4608576"/>
            <a:ext cx="5170932" cy="182880"/>
          </a:xfrm>
          <a:prstGeom prst="rect">
            <a:avLst/>
          </a:prstGeom>
          <a:noFill/>
          <a:ln/>
        </p:spPr>
        <p:txBody>
          <a:bodyPr wrap="square" lIns="0" tIns="0" rIns="0" bIns="0" rtlCol="0" anchor="ctr"/>
          <a:lstStyle/>
          <a:p>
            <a:pPr indent="0" marL="0">
              <a:buNone/>
            </a:pPr>
            <a:r>
              <a:rPr lang="en-US" sz="850" b="1" spc="100" kern="0" dirty="0">
                <a:solidFill>
                  <a:srgbClr val="8C2740"/>
                </a:solidFill>
                <a:latin typeface="Yu Gothic" pitchFamily="34" charset="0"/>
                <a:ea typeface="Yu Gothic" pitchFamily="34" charset="-122"/>
                <a:cs typeface="Yu Gothic" pitchFamily="34" charset="-120"/>
              </a:rPr>
              <a:t>契約リスク</a:t>
            </a:r>
            <a:endParaRPr lang="en-US" sz="850" dirty="0"/>
          </a:p>
        </p:txBody>
      </p:sp>
      <p:sp>
        <p:nvSpPr>
          <p:cNvPr id="31" name="Text 29"/>
          <p:cNvSpPr/>
          <p:nvPr/>
        </p:nvSpPr>
        <p:spPr>
          <a:xfrm>
            <a:off x="6396228" y="4809744"/>
            <a:ext cx="5170932" cy="256032"/>
          </a:xfrm>
          <a:prstGeom prst="rect">
            <a:avLst/>
          </a:prstGeom>
          <a:noFill/>
          <a:ln/>
        </p:spPr>
        <p:txBody>
          <a:bodyPr wrap="square" lIns="0" tIns="0" rIns="0" bIns="0" rtlCol="0" anchor="ctr"/>
          <a:lstStyle/>
          <a:p>
            <a:pPr indent="0" marL="0">
              <a:buNone/>
            </a:pPr>
            <a:r>
              <a:rPr lang="en-US" sz="1200" b="1" dirty="0">
                <a:solidFill>
                  <a:srgbClr val="1B1A19"/>
                </a:solidFill>
                <a:latin typeface="Yu Gothic" pitchFamily="34" charset="0"/>
                <a:ea typeface="Yu Gothic" pitchFamily="34" charset="-122"/>
                <a:cs typeface="Yu Gothic" pitchFamily="34" charset="-120"/>
              </a:rPr>
              <a:t>開業遅延のペナルティが重い</a:t>
            </a:r>
            <a:endParaRPr lang="en-US" sz="1200" dirty="0"/>
          </a:p>
        </p:txBody>
      </p:sp>
      <p:sp>
        <p:nvSpPr>
          <p:cNvPr id="32" name="Text 30"/>
          <p:cNvSpPr/>
          <p:nvPr/>
        </p:nvSpPr>
        <p:spPr>
          <a:xfrm>
            <a:off x="6396228" y="5093208"/>
            <a:ext cx="5170932" cy="438912"/>
          </a:xfrm>
          <a:prstGeom prst="rect">
            <a:avLst/>
          </a:prstGeom>
          <a:noFill/>
          <a:ln/>
        </p:spPr>
        <p:txBody>
          <a:bodyPr wrap="square" lIns="0" tIns="0" rIns="0" bIns="0" rtlCol="0" anchor="t"/>
          <a:lstStyle/>
          <a:p>
            <a:pPr indent="0" marL="0">
              <a:buNone/>
            </a:pPr>
            <a:r>
              <a:rPr lang="en-US" sz="900" dirty="0">
                <a:solidFill>
                  <a:srgbClr val="6E6866"/>
                </a:solidFill>
                <a:latin typeface="Yu Gothic" pitchFamily="34" charset="0"/>
                <a:ea typeface="Yu Gothic" pitchFamily="34" charset="-122"/>
                <a:cs typeface="Yu Gothic" pitchFamily="34" charset="-120"/>
              </a:rPr>
              <a:t>営業開始日に営業を開始しないことは契約解除事由。営業開始日前の解約は出店料等16ヶ月相当額＋賃貸人負担額。</a:t>
            </a:r>
            <a:endParaRPr lang="en-US" sz="900" dirty="0"/>
          </a:p>
        </p:txBody>
      </p:sp>
      <p:sp>
        <p:nvSpPr>
          <p:cNvPr id="33" name="Text 31"/>
          <p:cNvSpPr/>
          <p:nvPr/>
        </p:nvSpPr>
        <p:spPr>
          <a:xfrm>
            <a:off x="6396228" y="5550408"/>
            <a:ext cx="5170932" cy="365760"/>
          </a:xfrm>
          <a:prstGeom prst="rect">
            <a:avLst/>
          </a:prstGeom>
          <a:noFill/>
          <a:ln/>
        </p:spPr>
        <p:txBody>
          <a:bodyPr wrap="square" lIns="0" tIns="0" rIns="0" bIns="0" rtlCol="0" anchor="ctr"/>
          <a:lstStyle/>
          <a:p>
            <a:pPr indent="0" marL="0">
              <a:buNone/>
            </a:pPr>
            <a:r>
              <a:rPr lang="en-US" sz="900" b="1" dirty="0">
                <a:solidFill>
                  <a:srgbClr val="8C2740"/>
                </a:solidFill>
                <a:latin typeface="Yu Gothic" pitchFamily="34" charset="0"/>
                <a:ea typeface="Yu Gothic" pitchFamily="34" charset="-122"/>
                <a:cs typeface="Yu Gothic" pitchFamily="34" charset="-120"/>
              </a:rPr>
              <a:t>対策　</a:t>
            </a:r>
            <a:pPr indent="0" marL="0">
              <a:buNone/>
            </a:pPr>
            <a:r>
              <a:rPr lang="en-US" sz="900" dirty="0">
                <a:solidFill>
                  <a:srgbClr val="1B1A19"/>
                </a:solidFill>
                <a:latin typeface="Yu Gothic" pitchFamily="34" charset="0"/>
                <a:ea typeface="Yu Gothic" pitchFamily="34" charset="-122"/>
                <a:cs typeface="Yu Gothic" pitchFamily="34" charset="-120"/>
              </a:rPr>
              <a:t>トレーニング期間をバッファ扱いしない。完成を4/10目標で管理し、是正の予備日を5日確保する。</a:t>
            </a:r>
            <a:endParaRPr lang="en-US" sz="900" dirty="0"/>
          </a:p>
        </p:txBody>
      </p:sp>
      <p:sp>
        <p:nvSpPr>
          <p:cNvPr id="34" name="Text 32"/>
          <p:cNvSpPr/>
          <p:nvPr/>
        </p:nvSpPr>
        <p:spPr>
          <a:xfrm>
            <a:off x="457200" y="6382512"/>
            <a:ext cx="11274552" cy="219456"/>
          </a:xfrm>
          <a:prstGeom prst="rect">
            <a:avLst/>
          </a:prstGeom>
          <a:noFill/>
          <a:ln/>
        </p:spPr>
        <p:txBody>
          <a:bodyPr wrap="square" lIns="0" tIns="0" rIns="0" bIns="0" rtlCol="0" anchor="ctr"/>
          <a:lstStyle/>
          <a:p>
            <a:pPr indent="0" marL="0">
              <a:buNone/>
            </a:pPr>
            <a:r>
              <a:rPr lang="en-US" sz="750" dirty="0">
                <a:solidFill>
                  <a:srgbClr val="6E6866"/>
                </a:solidFill>
                <a:latin typeface="Yu Gothic" pitchFamily="34" charset="0"/>
                <a:ea typeface="Yu Gothic" pitchFamily="34" charset="-122"/>
                <a:cs typeface="Yu Gothic" pitchFamily="34" charset="-120"/>
              </a:rPr>
              <a:t>出典：営業と出店に関する契約書（定期建物賃貸借契約書）（案）契約番号 90238-2047-000／賃貸人 三井不動産株式会社・賃借人 株式会社WineBank</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8C2740"/>
        </a:solidFill>
      </p:bgPr>
    </p:bg>
    <p:spTree>
      <p:nvGrpSpPr>
        <p:cNvPr id="1" name=""/>
        <p:cNvGrpSpPr/>
        <p:nvPr/>
      </p:nvGrpSpPr>
      <p:grpSpPr>
        <a:xfrm>
          <a:off x="0" y="0"/>
          <a:ext cx="0" cy="0"/>
          <a:chOff x="0" y="0"/>
          <a:chExt cx="0" cy="0"/>
        </a:xfrm>
      </p:grpSpPr>
      <p:sp>
        <p:nvSpPr>
          <p:cNvPr id="2" name="Text 0"/>
          <p:cNvSpPr/>
          <p:nvPr/>
        </p:nvSpPr>
        <p:spPr>
          <a:xfrm>
            <a:off x="822960" y="868680"/>
            <a:ext cx="10515600" cy="548640"/>
          </a:xfrm>
          <a:prstGeom prst="rect">
            <a:avLst/>
          </a:prstGeom>
          <a:noFill/>
          <a:ln/>
        </p:spPr>
        <p:txBody>
          <a:bodyPr wrap="square" lIns="0" tIns="0" rIns="0" bIns="0" rtlCol="0" anchor="ctr"/>
          <a:lstStyle/>
          <a:p>
            <a:pPr indent="0" marL="0">
              <a:buNone/>
            </a:pPr>
            <a:r>
              <a:rPr lang="en-US" sz="3000" dirty="0">
                <a:solidFill>
                  <a:srgbClr val="FFFFFF"/>
                </a:solidFill>
                <a:latin typeface="Yu Mincho" pitchFamily="34" charset="0"/>
                <a:ea typeface="Yu Mincho" pitchFamily="34" charset="-122"/>
                <a:cs typeface="Yu Mincho" pitchFamily="34" charset="-120"/>
              </a:rPr>
              <a:t>次のアクション</a:t>
            </a:r>
            <a:endParaRPr lang="en-US" sz="3000" dirty="0"/>
          </a:p>
        </p:txBody>
      </p:sp>
      <p:sp>
        <p:nvSpPr>
          <p:cNvPr id="3" name="Text 1"/>
          <p:cNvSpPr/>
          <p:nvPr/>
        </p:nvSpPr>
        <p:spPr>
          <a:xfrm>
            <a:off x="822960" y="1965960"/>
            <a:ext cx="457200" cy="457200"/>
          </a:xfrm>
          <a:prstGeom prst="rect">
            <a:avLst/>
          </a:prstGeom>
          <a:noFill/>
          <a:ln/>
        </p:spPr>
        <p:txBody>
          <a:bodyPr wrap="square" lIns="0" tIns="0" rIns="0" bIns="0" rtlCol="0" anchor="ctr"/>
          <a:lstStyle/>
          <a:p>
            <a:pPr indent="0" marL="0">
              <a:buNone/>
            </a:pPr>
            <a:r>
              <a:rPr lang="en-US" sz="2600" dirty="0">
                <a:solidFill>
                  <a:srgbClr val="E0A5B4"/>
                </a:solidFill>
                <a:latin typeface="Arial" pitchFamily="34" charset="0"/>
                <a:ea typeface="Arial" pitchFamily="34" charset="-122"/>
                <a:cs typeface="Arial" pitchFamily="34" charset="-120"/>
              </a:rPr>
              <a:t>1</a:t>
            </a:r>
            <a:endParaRPr lang="en-US" sz="2600" dirty="0"/>
          </a:p>
        </p:txBody>
      </p:sp>
      <p:sp>
        <p:nvSpPr>
          <p:cNvPr id="4" name="Text 2"/>
          <p:cNvSpPr/>
          <p:nvPr/>
        </p:nvSpPr>
        <p:spPr>
          <a:xfrm>
            <a:off x="1417320" y="1984248"/>
            <a:ext cx="2011680" cy="274320"/>
          </a:xfrm>
          <a:prstGeom prst="rect">
            <a:avLst/>
          </a:prstGeom>
          <a:noFill/>
          <a:ln/>
        </p:spPr>
        <p:txBody>
          <a:bodyPr wrap="square" lIns="0" tIns="0" rIns="0" bIns="0" rtlCol="0" anchor="ctr"/>
          <a:lstStyle/>
          <a:p>
            <a:pPr indent="0" marL="0">
              <a:buNone/>
            </a:pPr>
            <a:r>
              <a:rPr lang="en-US" sz="1100" dirty="0">
                <a:solidFill>
                  <a:srgbClr val="E0A5B4"/>
                </a:solidFill>
                <a:latin typeface="Arial" pitchFamily="34" charset="0"/>
                <a:ea typeface="Arial" pitchFamily="34" charset="-122"/>
                <a:cs typeface="Arial" pitchFamily="34" charset="-120"/>
              </a:rPr>
              <a:t>2026年8月中</a:t>
            </a:r>
            <a:endParaRPr lang="en-US" sz="1100" dirty="0"/>
          </a:p>
        </p:txBody>
      </p:sp>
      <p:sp>
        <p:nvSpPr>
          <p:cNvPr id="5" name="Text 3"/>
          <p:cNvSpPr/>
          <p:nvPr/>
        </p:nvSpPr>
        <p:spPr>
          <a:xfrm>
            <a:off x="3474720" y="1947672"/>
            <a:ext cx="7772400" cy="329184"/>
          </a:xfrm>
          <a:prstGeom prst="rect">
            <a:avLst/>
          </a:prstGeom>
          <a:noFill/>
          <a:ln/>
        </p:spPr>
        <p:txBody>
          <a:bodyPr wrap="square" lIns="0" tIns="0" rIns="0" bIns="0" rtlCol="0" anchor="ctr"/>
          <a:lstStyle/>
          <a:p>
            <a:pPr indent="0" marL="0">
              <a:buNone/>
            </a:pPr>
            <a:r>
              <a:rPr lang="en-US" sz="1700" b="1" dirty="0">
                <a:solidFill>
                  <a:srgbClr val="FFFFFF"/>
                </a:solidFill>
                <a:latin typeface="Yu Gothic" pitchFamily="34" charset="0"/>
                <a:ea typeface="Yu Gothic" pitchFamily="34" charset="-122"/>
                <a:cs typeface="Yu Gothic" pitchFamily="34" charset="-120"/>
              </a:rPr>
              <a:t>契約条件の最終確認と社内決裁</a:t>
            </a:r>
            <a:endParaRPr lang="en-US" sz="1700" dirty="0"/>
          </a:p>
        </p:txBody>
      </p:sp>
      <p:sp>
        <p:nvSpPr>
          <p:cNvPr id="6" name="Text 4"/>
          <p:cNvSpPr/>
          <p:nvPr/>
        </p:nvSpPr>
        <p:spPr>
          <a:xfrm>
            <a:off x="3474720" y="2331720"/>
            <a:ext cx="7772400" cy="548640"/>
          </a:xfrm>
          <a:prstGeom prst="rect">
            <a:avLst/>
          </a:prstGeom>
          <a:noFill/>
          <a:ln/>
        </p:spPr>
        <p:txBody>
          <a:bodyPr wrap="square" lIns="0" tIns="0" rIns="0" bIns="0" rtlCol="0" anchor="ctr"/>
          <a:lstStyle/>
          <a:p>
            <a:pPr indent="0" marL="0">
              <a:buNone/>
            </a:pPr>
            <a:r>
              <a:rPr lang="en-US" sz="1050" dirty="0">
                <a:solidFill>
                  <a:srgbClr val="E8D5DA"/>
                </a:solidFill>
                <a:latin typeface="Yu Gothic" pitchFamily="34" charset="0"/>
                <a:ea typeface="Yu Gothic" pitchFamily="34" charset="-122"/>
                <a:cs typeface="Yu Gothic" pitchFamily="34" charset="-120"/>
              </a:rPr>
              <a:t>9月1日の契約締結と第1回敷金 ¥11,105,988・内装管理費 ¥1,285,130 の資金手当てを確定させる。</a:t>
            </a:r>
            <a:endParaRPr lang="en-US" sz="1050" dirty="0"/>
          </a:p>
        </p:txBody>
      </p:sp>
      <p:sp>
        <p:nvSpPr>
          <p:cNvPr id="7" name="Text 5"/>
          <p:cNvSpPr/>
          <p:nvPr/>
        </p:nvSpPr>
        <p:spPr>
          <a:xfrm>
            <a:off x="822960" y="3264408"/>
            <a:ext cx="457200" cy="457200"/>
          </a:xfrm>
          <a:prstGeom prst="rect">
            <a:avLst/>
          </a:prstGeom>
          <a:noFill/>
          <a:ln/>
        </p:spPr>
        <p:txBody>
          <a:bodyPr wrap="square" lIns="0" tIns="0" rIns="0" bIns="0" rtlCol="0" anchor="ctr"/>
          <a:lstStyle/>
          <a:p>
            <a:pPr indent="0" marL="0">
              <a:buNone/>
            </a:pPr>
            <a:r>
              <a:rPr lang="en-US" sz="2600" dirty="0">
                <a:solidFill>
                  <a:srgbClr val="E0A5B4"/>
                </a:solidFill>
                <a:latin typeface="Arial" pitchFamily="34" charset="0"/>
                <a:ea typeface="Arial" pitchFamily="34" charset="-122"/>
                <a:cs typeface="Arial" pitchFamily="34" charset="-120"/>
              </a:rPr>
              <a:t>2</a:t>
            </a:r>
            <a:endParaRPr lang="en-US" sz="2600" dirty="0"/>
          </a:p>
        </p:txBody>
      </p:sp>
      <p:sp>
        <p:nvSpPr>
          <p:cNvPr id="8" name="Text 6"/>
          <p:cNvSpPr/>
          <p:nvPr/>
        </p:nvSpPr>
        <p:spPr>
          <a:xfrm>
            <a:off x="1417320" y="3282696"/>
            <a:ext cx="2011680" cy="274320"/>
          </a:xfrm>
          <a:prstGeom prst="rect">
            <a:avLst/>
          </a:prstGeom>
          <a:noFill/>
          <a:ln/>
        </p:spPr>
        <p:txBody>
          <a:bodyPr wrap="square" lIns="0" tIns="0" rIns="0" bIns="0" rtlCol="0" anchor="ctr"/>
          <a:lstStyle/>
          <a:p>
            <a:pPr indent="0" marL="0">
              <a:buNone/>
            </a:pPr>
            <a:r>
              <a:rPr lang="en-US" sz="1100" dirty="0">
                <a:solidFill>
                  <a:srgbClr val="E0A5B4"/>
                </a:solidFill>
                <a:latin typeface="Arial" pitchFamily="34" charset="0"/>
                <a:ea typeface="Arial" pitchFamily="34" charset="-122"/>
                <a:cs typeface="Arial" pitchFamily="34" charset="-120"/>
              </a:rPr>
              <a:t>2026年9月末</a:t>
            </a:r>
            <a:endParaRPr lang="en-US" sz="1100" dirty="0"/>
          </a:p>
        </p:txBody>
      </p:sp>
      <p:sp>
        <p:nvSpPr>
          <p:cNvPr id="9" name="Text 7"/>
          <p:cNvSpPr/>
          <p:nvPr/>
        </p:nvSpPr>
        <p:spPr>
          <a:xfrm>
            <a:off x="3474720" y="3246120"/>
            <a:ext cx="7772400" cy="329184"/>
          </a:xfrm>
          <a:prstGeom prst="rect">
            <a:avLst/>
          </a:prstGeom>
          <a:noFill/>
          <a:ln/>
        </p:spPr>
        <p:txBody>
          <a:bodyPr wrap="square" lIns="0" tIns="0" rIns="0" bIns="0" rtlCol="0" anchor="ctr"/>
          <a:lstStyle/>
          <a:p>
            <a:pPr indent="0" marL="0">
              <a:buNone/>
            </a:pPr>
            <a:r>
              <a:rPr lang="en-US" sz="1700" b="1" dirty="0">
                <a:solidFill>
                  <a:srgbClr val="FFFFFF"/>
                </a:solidFill>
                <a:latin typeface="Yu Gothic" pitchFamily="34" charset="0"/>
                <a:ea typeface="Yu Gothic" pitchFamily="34" charset="-122"/>
                <a:cs typeface="Yu Gothic" pitchFamily="34" charset="-120"/>
              </a:rPr>
              <a:t>設計プランの確定</a:t>
            </a:r>
            <a:endParaRPr lang="en-US" sz="1700" dirty="0"/>
          </a:p>
        </p:txBody>
      </p:sp>
      <p:sp>
        <p:nvSpPr>
          <p:cNvPr id="10" name="Text 8"/>
          <p:cNvSpPr/>
          <p:nvPr/>
        </p:nvSpPr>
        <p:spPr>
          <a:xfrm>
            <a:off x="3474720" y="3630168"/>
            <a:ext cx="7772400" cy="548640"/>
          </a:xfrm>
          <a:prstGeom prst="rect">
            <a:avLst/>
          </a:prstGeom>
          <a:noFill/>
          <a:ln/>
        </p:spPr>
        <p:txBody>
          <a:bodyPr wrap="square" lIns="0" tIns="0" rIns="0" bIns="0" rtlCol="0" anchor="ctr"/>
          <a:lstStyle/>
          <a:p>
            <a:pPr indent="0" marL="0">
              <a:buNone/>
            </a:pPr>
            <a:r>
              <a:rPr lang="en-US" sz="1050" dirty="0">
                <a:solidFill>
                  <a:srgbClr val="E8D5DA"/>
                </a:solidFill>
                <a:latin typeface="Yu Gothic" pitchFamily="34" charset="0"/>
                <a:ea typeface="Yu Gothic" pitchFamily="34" charset="-122"/>
                <a:cs typeface="Yu Gothic" pitchFamily="34" charset="-120"/>
              </a:rPr>
              <a:t>以降の全工程がここから逆算される。同時にデザインクライテリアの事前協議を賃貸人と開始する。</a:t>
            </a:r>
            <a:endParaRPr lang="en-US" sz="1050" dirty="0"/>
          </a:p>
        </p:txBody>
      </p:sp>
      <p:sp>
        <p:nvSpPr>
          <p:cNvPr id="11" name="Text 9"/>
          <p:cNvSpPr/>
          <p:nvPr/>
        </p:nvSpPr>
        <p:spPr>
          <a:xfrm>
            <a:off x="822960" y="4562856"/>
            <a:ext cx="457200" cy="457200"/>
          </a:xfrm>
          <a:prstGeom prst="rect">
            <a:avLst/>
          </a:prstGeom>
          <a:noFill/>
          <a:ln/>
        </p:spPr>
        <p:txBody>
          <a:bodyPr wrap="square" lIns="0" tIns="0" rIns="0" bIns="0" rtlCol="0" anchor="ctr"/>
          <a:lstStyle/>
          <a:p>
            <a:pPr indent="0" marL="0">
              <a:buNone/>
            </a:pPr>
            <a:r>
              <a:rPr lang="en-US" sz="2600" dirty="0">
                <a:solidFill>
                  <a:srgbClr val="E0A5B4"/>
                </a:solidFill>
                <a:latin typeface="Arial" pitchFamily="34" charset="0"/>
                <a:ea typeface="Arial" pitchFamily="34" charset="-122"/>
                <a:cs typeface="Arial" pitchFamily="34" charset="-120"/>
              </a:rPr>
              <a:t>3</a:t>
            </a:r>
            <a:endParaRPr lang="en-US" sz="2600" dirty="0"/>
          </a:p>
        </p:txBody>
      </p:sp>
      <p:sp>
        <p:nvSpPr>
          <p:cNvPr id="12" name="Text 10"/>
          <p:cNvSpPr/>
          <p:nvPr/>
        </p:nvSpPr>
        <p:spPr>
          <a:xfrm>
            <a:off x="1417320" y="4581144"/>
            <a:ext cx="2011680" cy="274320"/>
          </a:xfrm>
          <a:prstGeom prst="rect">
            <a:avLst/>
          </a:prstGeom>
          <a:noFill/>
          <a:ln/>
        </p:spPr>
        <p:txBody>
          <a:bodyPr wrap="square" lIns="0" tIns="0" rIns="0" bIns="0" rtlCol="0" anchor="ctr"/>
          <a:lstStyle/>
          <a:p>
            <a:pPr indent="0" marL="0">
              <a:buNone/>
            </a:pPr>
            <a:r>
              <a:rPr lang="en-US" sz="1100" dirty="0">
                <a:solidFill>
                  <a:srgbClr val="E0A5B4"/>
                </a:solidFill>
                <a:latin typeface="Arial" pitchFamily="34" charset="0"/>
                <a:ea typeface="Arial" pitchFamily="34" charset="-122"/>
                <a:cs typeface="Arial" pitchFamily="34" charset="-120"/>
              </a:rPr>
              <a:t>2026年10月末</a:t>
            </a:r>
            <a:endParaRPr lang="en-US" sz="1100" dirty="0"/>
          </a:p>
        </p:txBody>
      </p:sp>
      <p:sp>
        <p:nvSpPr>
          <p:cNvPr id="13" name="Text 11"/>
          <p:cNvSpPr/>
          <p:nvPr/>
        </p:nvSpPr>
        <p:spPr>
          <a:xfrm>
            <a:off x="3474720" y="4544568"/>
            <a:ext cx="7772400" cy="329184"/>
          </a:xfrm>
          <a:prstGeom prst="rect">
            <a:avLst/>
          </a:prstGeom>
          <a:noFill/>
          <a:ln/>
        </p:spPr>
        <p:txBody>
          <a:bodyPr wrap="square" lIns="0" tIns="0" rIns="0" bIns="0" rtlCol="0" anchor="ctr"/>
          <a:lstStyle/>
          <a:p>
            <a:pPr indent="0" marL="0">
              <a:buNone/>
            </a:pPr>
            <a:r>
              <a:rPr lang="en-US" sz="1700" b="1" dirty="0">
                <a:solidFill>
                  <a:srgbClr val="FFFFFF"/>
                </a:solidFill>
                <a:latin typeface="Yu Gothic" pitchFamily="34" charset="0"/>
                <a:ea typeface="Yu Gothic" pitchFamily="34" charset="-122"/>
                <a:cs typeface="Yu Gothic" pitchFamily="34" charset="-120"/>
              </a:rPr>
              <a:t>幹部採用の完了と新会社設立の着手</a:t>
            </a:r>
            <a:endParaRPr lang="en-US" sz="1700" dirty="0"/>
          </a:p>
        </p:txBody>
      </p:sp>
      <p:sp>
        <p:nvSpPr>
          <p:cNvPr id="14" name="Text 12"/>
          <p:cNvSpPr/>
          <p:nvPr/>
        </p:nvSpPr>
        <p:spPr>
          <a:xfrm>
            <a:off x="3474720" y="4928616"/>
            <a:ext cx="7772400" cy="548640"/>
          </a:xfrm>
          <a:prstGeom prst="rect">
            <a:avLst/>
          </a:prstGeom>
          <a:noFill/>
          <a:ln/>
        </p:spPr>
        <p:txBody>
          <a:bodyPr wrap="square" lIns="0" tIns="0" rIns="0" bIns="0" rtlCol="0" anchor="ctr"/>
          <a:lstStyle/>
          <a:p>
            <a:pPr indent="0" marL="0">
              <a:buNone/>
            </a:pPr>
            <a:r>
              <a:rPr lang="en-US" sz="1050" dirty="0">
                <a:solidFill>
                  <a:srgbClr val="E8D5DA"/>
                </a:solidFill>
                <a:latin typeface="Yu Gothic" pitchFamily="34" charset="0"/>
                <a:ea typeface="Yu Gothic" pitchFamily="34" charset="-122"/>
                <a:cs typeface="Yu Gothic" pitchFamily="34" charset="-120"/>
              </a:rPr>
              <a:t>総支配人・エグゼクティブシェフを確定し、11月末の新会社設立、年内の3者覚書締結につなげる。</a:t>
            </a:r>
            <a:endParaRPr lang="en-US" sz="1050" dirty="0"/>
          </a:p>
        </p:txBody>
      </p:sp>
      <p:sp>
        <p:nvSpPr>
          <p:cNvPr id="15" name="Text 13"/>
          <p:cNvSpPr/>
          <p:nvPr/>
        </p:nvSpPr>
        <p:spPr>
          <a:xfrm>
            <a:off x="6766560" y="6126480"/>
            <a:ext cx="4572000" cy="274320"/>
          </a:xfrm>
          <a:prstGeom prst="rect">
            <a:avLst/>
          </a:prstGeom>
          <a:noFill/>
          <a:ln/>
        </p:spPr>
        <p:txBody>
          <a:bodyPr wrap="square" lIns="0" tIns="0" rIns="0" bIns="0" rtlCol="0" anchor="ctr"/>
          <a:lstStyle/>
          <a:p>
            <a:pPr algn="r" indent="0" marL="0">
              <a:buNone/>
            </a:pPr>
            <a:r>
              <a:rPr lang="en-US" sz="1000" dirty="0">
                <a:solidFill>
                  <a:srgbClr val="E8D5DA"/>
                </a:solidFill>
                <a:latin typeface="Yu Gothic" pitchFamily="34" charset="0"/>
                <a:ea typeface="Yu Gothic" pitchFamily="34" charset="-122"/>
                <a:cs typeface="Yu Gothic" pitchFamily="34" charset="-120"/>
              </a:rPr>
              <a:t>株式会社WineBank　2026年8月18日</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（仮称）THIERRY MARX BISTRO 開業工程</dc:title>
  <dc:subject>PptxGenJS Presentation</dc:subject>
  <dc:creator>株式会社WineBank</dc:creator>
  <cp:lastModifiedBy>株式会社WineBank</cp:lastModifiedBy>
  <cp:revision>1</cp:revision>
  <dcterms:created xsi:type="dcterms:W3CDTF">2026-08-18T15:48:31Z</dcterms:created>
  <dcterms:modified xsi:type="dcterms:W3CDTF">2026-08-18T15:48:31Z</dcterms:modified>
</cp:coreProperties>
</file>