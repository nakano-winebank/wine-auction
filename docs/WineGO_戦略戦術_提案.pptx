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取扱率</c:v>
                </c:pt>
              </c:strCache>
            </c:strRef>
          </c:tx>
          <c:spPr>
            <a:solidFill>
              <a:srgbClr val="9C2F52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11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ボルドー</c:v>
                  </c:pt>
                  <c:pt idx="1">
                    <c:v>イタリア</c:v>
                  </c:pt>
                  <c:pt idx="2">
                    <c:v>シャンパーニュ</c:v>
                  </c:pt>
                  <c:pt idx="3">
                    <c:v>ナパ / その他</c:v>
                  </c:pt>
                  <c:pt idx="4">
                    <c:v>ブルゴーニュ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83.3</c:v>
                </c:pt>
                <c:pt idx="3">
                  <c:v>80</c:v>
                </c:pt>
                <c:pt idx="4">
                  <c:v>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6211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11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b"/>
        <c:majorGridlines>
          <c:spPr>
            <a:ln w="12700" cap="flat">
              <a:solidFill>
                <a:srgbClr val="DCE0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7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rgbClr val="8C6B2F"/>
            </a:solidFill>
            <a:effectLst/>
          </c:spPr>
          <c:invertIfNegative val="0"/>
          <c:dLbls>
            <c:numFmt formatCode="0&quot;件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11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0〜5年（現行品）</c:v>
                  </c:pt>
                  <c:pt idx="1">
                    <c:v>6〜10年</c:v>
                  </c:pt>
                  <c:pt idx="2">
                    <c:v>11年以上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</c:v>
                </c:pt>
                <c:pt idx="1">
                  <c:v>5</c:v>
                </c:pt>
                <c:pt idx="2">
                  <c:v>4</c:v>
                </c:pt>
              </c:numCache>
            </c:numRef>
          </c:val>
        </c:ser>
        <c:dLbls>
          <c:numFmt formatCode="0&quot;件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6211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11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"/>
          <c:min val="0"/>
        </c:scaling>
        <c:delete val="0"/>
        <c:axPos val="b"/>
        <c:majorGridlines>
          <c:spPr>
            <a:ln w="12700" cap="flat">
              <a:solidFill>
                <a:srgbClr val="DCE0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7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本数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1699C"/>
              </a:solidFill>
              <a:effectLst/>
            </c:spPr>
          </c:dPt>
          <c:dPt>
            <c:idx val="1"/>
            <c:bubble3D val="0"/>
            <c:spPr>
              <a:solidFill>
                <a:srgbClr val="8C6B2F"/>
              </a:solidFill>
              <a:effectLst/>
            </c:spPr>
          </c:dPt>
          <c:dPt>
            <c:idx val="2"/>
            <c:bubble3D val="0"/>
            <c:spPr>
              <a:solidFill>
                <a:srgbClr val="9C2F52"/>
              </a:solidFill>
              <a:effectLst/>
            </c:spPr>
          </c:dPt>
          <c:dPt>
            <c:idx val="3"/>
            <c:bubble3D val="0"/>
            <c:spPr>
              <a:solidFill>
                <a:srgbClr val="4E7A5E"/>
              </a:solidFill>
              <a:effectLst/>
            </c:spPr>
          </c:dPt>
          <c:dPt>
            <c:idx val="4"/>
            <c:bubble3D val="0"/>
            <c:spPr>
              <a:solidFill>
                <a:srgbClr val="9AA39C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ブルゴーニュ 48</c:v>
                </c:pt>
                <c:pt idx="1">
                  <c:v>ボルドー古酒 34</c:v>
                </c:pt>
                <c:pt idx="2">
                  <c:v>イタリア・スペイン 24</c:v>
                </c:pt>
                <c:pt idx="3">
                  <c:v>ナパ 20</c:v>
                </c:pt>
                <c:pt idx="4">
                  <c:v>シャンパーニュ 18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48</c:v>
                </c:pt>
                <c:pt idx="1">
                  <c:v>34</c:v>
                </c:pt>
                <c:pt idx="2">
                  <c:v>24</c:v>
                </c:pt>
                <c:pt idx="3">
                  <c:v>20</c:v>
                </c:pt>
                <c:pt idx="4">
                  <c:v>18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16211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競合2社の見積を分析した結果、価格ではなく「比較可能性」が論点であると判明した。本資料はその分析と、そこから導いた品揃え戦略を示す。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3つの数字がすべて。0%、100%、55%。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ご指摘いただいた3点を反映。特に2点目は解釈が逆だった。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客層が違えば棚は重ならない。ここが戦略の出発点。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古酒は時間そのものが在庫。あとから仕入れることができない。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前回資料に欠けていた視点。保管事業と戦略が直結する。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この基準なら全SKUを同じ論理で説明できる。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時間で差をつける — 熟成ボルドー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造り手で差をつける — ブルゴーニュ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量で差をつける — 希少キュヴェ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4本柱＋最小限のシャンパーニュ。合計は維持。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SKUの定義をカテゴリに上げるのが実装の肝。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戦術3が即効性あり。競合を仕入先に変える。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先方への確認事項。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棚卸しが最優先。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371600"/>
            <a:ext cx="4754880" cy="4754880"/>
          </a:xfrm>
          <a:prstGeom prst="ellipse">
            <a:avLst/>
          </a:prstGeom>
          <a:solidFill>
            <a:srgbClr val="1E2A24"/>
          </a:solidFill>
          <a:ln w="12700">
            <a:solidFill>
              <a:srgbClr val="1E2A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7373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WineGO 戦略・戦術提案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2240280"/>
            <a:ext cx="8961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再注文できない棚を</a:t>
            </a:r>
            <a:endParaRPr lang="en-US" sz="52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つくる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420624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3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時間（古酒）と希少性で、即時配送が届かない領域に立つ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512064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リカーマウンテン／酒のソクハイ 見積分析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2026年8月14日受領・全50SKU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C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585216"/>
            <a:ext cx="108200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見積が示したのは、価格ではなく「比較可能性」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342900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CE0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9202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8C6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60120" y="28803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ブルゴーニュの競合取扱率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347472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8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12SKU すべてを2社とも扱っていない。探して見つけた空白ではなく、すでに握っている空白。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70832" y="1691640"/>
            <a:ext cx="342900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CE0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19202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8C6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645152" y="28803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ボルドーの競合取扱率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45152" y="347472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8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16SKU すべてを競合が持つ。同じラベル・同じ年で、卓上のスマホで照合される。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55864" y="1691640"/>
            <a:ext cx="342900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CE0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0184" y="19202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8C6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8330184" y="28803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先方在庫が現行品（0〜5年）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30184" y="347472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8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10年前後の熟成ボルドーを体系的に持っていない。ここが第二の空白。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5800" y="525780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結論：シャンパーニュとボルドー現行年から降り、ブルゴーニュ・熟成ボルドー・希少キュヴェに棚を張り替える。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629107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出典：リカーマウンテン／酒のソクハイ 見積（2026-08-14）全50SKU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C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585216"/>
            <a:ext cx="108200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前回資料から、3点の前提を入れ替えました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20095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0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94560"/>
            <a:ext cx="420624" cy="420624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194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00200" y="198424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価格倍率の分析を取り下げ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0" y="1947672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8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分子に使った想定小売価格は推定値で、実勢と大きく乖離。実勢値の入手後に組み直す。本資料は見積書に実在する数字だけで構成。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3200400"/>
            <a:ext cx="10820095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0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611880"/>
            <a:ext cx="420624" cy="420624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611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00200" y="34015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シャンパーニュが安いのは相手の強み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0" y="3364992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8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当方の値付けの誤りではない。ナイト系を主要顧客とする2社にとって、シャンパンは主力商品。量が出るから安く引ける。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4617720"/>
            <a:ext cx="10820095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0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5029200"/>
            <a:ext cx="420624" cy="420624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5029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00200" y="481888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ブルゴーニュ一辺倒では品揃えが弱い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0" y="4782312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8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軸を「ブルゴーニュ」から「再注文できないもの」に拡張。熟成ボルドー・イタリア・スペイン・ナパの希少ワインを同じ論理で載せる。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5800" y="629107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結論の方向は前回と同じですが、理由と品揃えの設計が変わります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C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THEY 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585216"/>
            <a:ext cx="108200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品揃えの形が、相手の客層を語っている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4630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価格ではなく「何を持ち、何を持たないか」を見る。シャンパンと五大シャトーは満遍なく、ブルゴーニュはゼロ。ナイト系向け酒販店の在庫構成そのもの。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2057400"/>
          <a:ext cx="68580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909560" y="2057400"/>
            <a:ext cx="3566160" cy="37490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CE0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0" y="2286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読み取れること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0" y="269748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38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ナイト系が動かすのはシャンパンと五大シャトー。主力だから量が出て、量が出るから安く引ける。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38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シャンパーニュでの価格差は、相手の本業に正面からぶつかっているということ。値下げでは勝てない。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8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同時に朗報でもある。相手が強いのは自分の客が買うものだけで、レストランが買うブルゴーニュは1本も持たない。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5800" y="629107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2社のうち1社でも扱えば「取扱あり」として集計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C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GAP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585216"/>
            <a:ext cx="108200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もうひとつの空白 — 相手の在庫は現行品に偏っている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46304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見積コメントに記載された、先方が実際に持つヴィンテージ20件の熟成年数（2026年基準）。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2011680"/>
          <a:ext cx="6858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909560" y="2011680"/>
            <a:ext cx="356616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0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0" y="22402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20件中16件が、当方指定より新しい年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0" y="29718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8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マルゴー 2017 → 2022、オーパス ワン 2021 → 2022 など。古い年の提示は4件のみで、体系的な古酒在庫ではなく偶発的な残り物と読める。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5800" y="4983480"/>
            <a:ext cx="10820095" cy="1051560"/>
          </a:xfrm>
          <a:prstGeom prst="roundRect">
            <a:avLst>
              <a:gd name="adj" fmla="val 5217"/>
            </a:avLst>
          </a:prstGeom>
          <a:solidFill>
            <a:srgbClr val="FBF7EE"/>
          </a:solidFill>
          <a:ln w="12700">
            <a:solidFill>
              <a:srgbClr val="DCE0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512064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シャトー・マルゴー2022は誰でも明日買える。2014は買えない。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005840" y="55046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同じ銘柄でも、10年寝かせた1本は在庫を持っていた者にしか出せない。即時配送でも価格交渉でも埋まらない差。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5800" y="629107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見積コメント欄に記載のあった20SKU分を集計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931920"/>
            <a:ext cx="5120640" cy="5120640"/>
          </a:xfrm>
          <a:prstGeom prst="ellipse">
            <a:avLst/>
          </a:prstGeom>
          <a:solidFill>
            <a:srgbClr val="1E2A24"/>
          </a:solidFill>
          <a:ln w="12700">
            <a:solidFill>
              <a:srgbClr val="1E2A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10年は、あとから仕入れられない。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そして WineBank の本業は保管です。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411480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3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競合が絶対に真似できないものを、すでに事業として持っている。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3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ボルドーで戦わないのではなく、ボルドーの「年」で戦う。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C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585216"/>
            <a:ext cx="108200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選定基準を、産地でも価格帯でもなく一本化する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820095" cy="1188720"/>
          </a:xfrm>
          <a:prstGeom prst="roundRect">
            <a:avLst>
              <a:gd name="adj" fmla="val 4615"/>
            </a:avLst>
          </a:prstGeom>
          <a:solidFill>
            <a:srgbClr val="FBF7EE"/>
          </a:solidFill>
          <a:ln w="12700">
            <a:solidFill>
              <a:srgbClr val="DCE0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745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「客が自力で30分後に手に入れられるか」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05840" y="23957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手に入るなら置かない。手に入らないなら置く。144本すべてをこの一点で選ぶ。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3154680"/>
            <a:ext cx="5404104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C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8408" y="3401568"/>
            <a:ext cx="201168" cy="201168"/>
          </a:xfrm>
          <a:prstGeom prst="ellipse">
            <a:avLst/>
          </a:prstGeom>
          <a:solidFill>
            <a:srgbClr val="9C2F52"/>
          </a:solidFill>
          <a:ln w="12700">
            <a:solidFill>
              <a:srgbClr val="9C2F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9304" y="331012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置かないもの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9304" y="3794760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8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シャンパーニュ（相手の本業）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8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現行年のボルドー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8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定番キュヴェのイタリア・ナパ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289304" y="5120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呼べば30分で届く。価格でしか差がつかない。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18504" y="3154680"/>
            <a:ext cx="5404104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CE0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11112" y="3401568"/>
            <a:ext cx="201168" cy="201168"/>
          </a:xfrm>
          <a:prstGeom prst="ellipse">
            <a:avLst/>
          </a:prstGeom>
          <a:solidFill>
            <a:srgbClr val="31699C"/>
          </a:solidFill>
          <a:ln w="12700">
            <a:solidFill>
              <a:srgbClr val="3169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22008" y="331012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置くもの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22008" y="3794760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8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ブルゴーニュ（競合取扱ゼロ）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8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熟成ボルドー 2013〜2016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8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希少キュヴェ（伊・西・ナパ）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922008" y="5120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明日は届かない。即時配送が構造的に入れない。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629107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説明が「高級ワインを揃えています」から「うちにしか無いものだけ置いています」に変わる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C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/ PILLAR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585216"/>
            <a:ext cx="108200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時間で差をつける — 熟成ボルドー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481328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8C6B2F"/>
          </a:solidFill>
          <a:ln w="12700">
            <a:solidFill>
              <a:srgbClr val="8C6B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813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SKU / 34本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2057400"/>
            <a:ext cx="694944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DCE0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31720"/>
            <a:ext cx="6309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38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10年前後（2013〜2016）のボルドーを軸に据える。五大シャトー、セカンド、2級・3級の当たり年。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38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銘柄の知名度はそのままに、比較可能性だけを外せるのがこの手の強さ。先方在庫の55%は現行品で、熟成品は体系的に持っていない。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38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飲み頃で出せる実利もある。現行年の五大シャトーはレストランでは若すぎる。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955280" y="2057400"/>
            <a:ext cx="3520440" cy="3063240"/>
          </a:xfrm>
          <a:prstGeom prst="roundRect">
            <a:avLst>
              <a:gd name="adj" fmla="val 1791"/>
            </a:avLst>
          </a:prstGeom>
          <a:solidFill>
            <a:srgbClr val="FBF7EE"/>
          </a:solidFill>
          <a:ln w="12700">
            <a:solidFill>
              <a:srgbClr val="DCE0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75320" y="22860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C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実行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75320" y="269748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WineBankの保管在庫を棚卸しし、2013〜2016のボルドーを洗い出す。仕入れずに立ち上がる可能性がある。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629107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合計 50SKU / 144本は維持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C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/ PILLAR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585216"/>
            <a:ext cx="108200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造り手で差をつける — ブルゴーニュ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481328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31699C"/>
          </a:solidFill>
          <a:ln w="12700">
            <a:solidFill>
              <a:srgbClr val="3169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813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SKU / 48本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2057400"/>
            <a:ext cx="694944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DCE0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31720"/>
            <a:ext cx="6309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38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2社とも取扱ゼロ。造り手 × 村 × 畑 × 年の掛け算で実質1点ものになり、参照価格が存在しない。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38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ただし全体の4割超をここに寄せると品揃えが単調になる。3分の1に留め、村名〜1erを厚く、グラン・クリュは象徴として少数。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38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ルフレーヴ、ラフォン、ジャドのGCなど既存SKUがそのまま活きる。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955280" y="2057400"/>
            <a:ext cx="3520440" cy="3063240"/>
          </a:xfrm>
          <a:prstGeom prst="roundRect">
            <a:avLst>
              <a:gd name="adj" fmla="val 1791"/>
            </a:avLst>
          </a:prstGeom>
          <a:solidFill>
            <a:srgbClr val="FBF7EE"/>
          </a:solidFill>
          <a:ln w="12700">
            <a:solidFill>
              <a:srgbClr val="DCE0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75320" y="22860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C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実行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75320" y="269748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補充が効く大手ドメーヌ・ネゴシアン中心に組み、定番層の中核とする。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629107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合計 50SKU / 144本は維持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C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/ PILLAR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585216"/>
            <a:ext cx="108200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量で差をつける — 希少キュヴェ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481328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9C2F52"/>
          </a:solidFill>
          <a:ln w="12700">
            <a:solidFill>
              <a:srgbClr val="9C2F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813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SKU / 44本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2057400"/>
            <a:ext cx="694944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DCE0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31720"/>
            <a:ext cx="6309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38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サッシカイアやガヤの定番キュヴェは競合が100%持つ。しかしマッセート、モンフォルティーノ、ウニコ、ピングス、ハーラン、コルギンは持っていない。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38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同じ生産者でもキュヴェを1段上げるだけで比較対象が消える。生産者の知名度は使えるので、客への説明の手間も要らない。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38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この柱がブルゴーニュ一辺倒を防ぎ、イタリア好き・カリフォルニア好きを取りこぼさない。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955280" y="2057400"/>
            <a:ext cx="3520440" cy="3063240"/>
          </a:xfrm>
          <a:prstGeom prst="roundRect">
            <a:avLst>
              <a:gd name="adj" fmla="val 1791"/>
            </a:avLst>
          </a:prstGeom>
          <a:solidFill>
            <a:srgbClr val="FBF7EE"/>
          </a:solidFill>
          <a:ln w="12700">
            <a:solidFill>
              <a:srgbClr val="DCE0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75320" y="22860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C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実行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75320" y="269748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イタリア・スペイン 8SKU / 24本、ナパ 6SKU / 20本。定番キュヴェを外し上位キュヴェと古酒に振り替える。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629107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合計 50SKU / 144本は維持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C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SHELF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585216"/>
            <a:ext cx="108200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新しい品揃えの骨格 — 50SKU / 144本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49377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1965960"/>
          <a:ext cx="57150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640080"/>
                <a:gridCol w="640080"/>
                <a:gridCol w="28346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競合の状況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ボルドー古酒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現行年は100%カバー、熟成品は手薄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ブルゴーニュ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取扱率 0%。完全な空白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イタリア・スペイン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定番は100%、上位キュヴェは無し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ナパ・その他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オーパス等は80%、カルトは無し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シャンパーニュ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83%カバー。相手の本業・撤退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合計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85800" y="629107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ブルゴーニュは33%に抑え、単調にならない構成にしています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C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585216"/>
            <a:ext cx="108200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「再現性」と「希少性」は両立させられる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4630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希少ワインは定義上、同じものを買い直せません。以前ご指定いただいた再現性の要件と正面から衝突します。解き方は、棚を2層に分けることです。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103120"/>
            <a:ext cx="5404104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CE0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331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定番層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429000" y="2286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3169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66本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51560" y="292608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8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ブルゴーニュ 48 ＋ シャンパーニュ 18。銘柄で固定し、売れたら同じものを補充する。オペレーションの土台。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18504" y="2103120"/>
            <a:ext cx="5404104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CE0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84264" y="2331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一点もの層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061704" y="2286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8C6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78本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684264" y="292608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8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古酒 34 ＋ 伊西 24 ＋ ナパ 20。SKUを「銘柄」ではなく「カテゴリ」で定義する。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4572000"/>
            <a:ext cx="10820095" cy="1234440"/>
          </a:xfrm>
          <a:prstGeom prst="roundRect">
            <a:avLst>
              <a:gd name="adj" fmla="val 4444"/>
            </a:avLst>
          </a:prstGeom>
          <a:solidFill>
            <a:srgbClr val="FBF7EE"/>
          </a:solidFill>
          <a:ln w="12700">
            <a:solidFill>
              <a:srgbClr val="DCE0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70916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「シャトー・マルゴー2014」ではなく「メドック1級・10年熟成・1本」という枠で管理する。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513892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8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枠は不変、中身は流動。レストランのワインリストは元々この運用です。これなら希少性を売りながら、棚の設計は崩れません。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C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585216"/>
            <a:ext cx="108200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戦術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572768"/>
            <a:ext cx="10820095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CE0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764792"/>
            <a:ext cx="402336" cy="402336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64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170078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WineBankの保管在庫を棚卸しする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394960" y="1664208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8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2013〜2016のボルドーが何本あるか。柱1は仕入れずに立ち上がる可能性がある。保管年数・温度の記録も商品情報として整える。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505456"/>
            <a:ext cx="10820095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CE0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697480"/>
            <a:ext cx="402336" cy="402336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697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08760" y="263347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同じ生産者でキュヴェを1段上げる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394960" y="2596896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8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サッシカイア→マッセート、ガヤ→スペルス、オーパス→ハーラン。知名度は使いながら比較対象だけを外す。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438144"/>
            <a:ext cx="10820095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CE0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630168"/>
            <a:ext cx="402336" cy="402336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30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08760" y="35661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リカーマウンテンを仕入先として使う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394960" y="3529584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8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50SKU中32を扱い、重複25SKU中18件で最安。残す6SKUの泡と現行年ボルドーは彼らから引き、浮いた資金を柱1〜3へ。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4370832"/>
            <a:ext cx="10820095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CE0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562856"/>
            <a:ext cx="402336" cy="402336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562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08760" y="449884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ナイト系は捨てるのではなく相手に任せる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394960" y="4462272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8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泡6SKU・18本は残すが、ここで利益を取ろうとしない。ドンペリを指名されたら取り寄せる、で十分。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5303520"/>
            <a:ext cx="10820095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CE0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5495544"/>
            <a:ext cx="402336" cy="402336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4955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508760" y="543153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価格は実勢値が揃ってから決める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394960" y="5394960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8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前回の価格倍率は分子が推定値だったため取り下げ。ただし柱1〜3の設計は価格に依存しないため、品揃えの検討は先に進められる。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C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CHECK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585216"/>
            <a:ext cx="108200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先方に確認すべき3件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46304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戦略の前提には影響しませんが、放置すると価格表に誤りが入ります。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057400"/>
          <a:ext cx="10820095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926080"/>
                <a:gridCol w="2103120"/>
                <a:gridCol w="47823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銘柄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見積値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確認事項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ガヤ バルバレスコ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18,480（ソクハイ）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実勢と大きく離れており別銘柄の可能性。造り手と品名の特定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ケンゾー エステート 紫鈴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18,480（ソクハイ）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R-21と完全に同額。どちらかが転記誤りの疑い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W-6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シャトー ディケム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64,900（リカマン）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当方375ml、先方は容量表記なし。750mlなら比較不成立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629107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全50SKUのうち、単価に疑義があるのはこの3件のみです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1430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次の3手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77240" y="2240280"/>
            <a:ext cx="10607040" cy="1097280"/>
          </a:xfrm>
          <a:prstGeom prst="roundRect">
            <a:avLst>
              <a:gd name="adj" fmla="val 5000"/>
            </a:avLst>
          </a:prstGeom>
          <a:solidFill>
            <a:srgbClr val="1E2A24"/>
          </a:solidFill>
          <a:ln w="12700">
            <a:solidFill>
              <a:srgbClr val="2E3B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578608"/>
            <a:ext cx="420624" cy="420624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578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783080" y="238658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WineBankの保管在庫を棚卸しする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783080" y="2788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EB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2013〜2016のボルドーが何本あるか。ここが柱1の原資で、仕入れずに立ち上がるなら最速の一手。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3538728"/>
            <a:ext cx="10607040" cy="1097280"/>
          </a:xfrm>
          <a:prstGeom prst="roundRect">
            <a:avLst>
              <a:gd name="adj" fmla="val 5000"/>
            </a:avLst>
          </a:prstGeom>
          <a:solidFill>
            <a:srgbClr val="1E2A24"/>
          </a:solidFill>
          <a:ln w="12700">
            <a:solidFill>
              <a:srgbClr val="2E3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3877056"/>
            <a:ext cx="420624" cy="420624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877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783080" y="36850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時価を反映して価格を確定する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783080" y="408736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EB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お出しいただく実勢値で全SKUを引き直す。品揃えの検討は価格を待たずに並行して進められる。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4837176"/>
            <a:ext cx="10607040" cy="1097280"/>
          </a:xfrm>
          <a:prstGeom prst="roundRect">
            <a:avLst>
              <a:gd name="adj" fmla="val 5000"/>
            </a:avLst>
          </a:prstGeom>
          <a:solidFill>
            <a:srgbClr val="1E2A24"/>
          </a:solidFill>
          <a:ln w="12700">
            <a:solidFill>
              <a:srgbClr val="2E3B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5175504"/>
            <a:ext cx="420624" cy="420624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5175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783080" y="4983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一点もの層のSKU定義を決める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783080" y="5385816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EB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「銘柄」ではなく「カテゴリ」で枠を切る運用の設計。78本ぶんの枠の定義が、この戦略の実装そのもの。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7240" y="63093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WineGO 競合見積分析・戦略提案 rev.2　／　出典：リカーマウンテン・酒のソクハイ 見積（2026-08-14）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WineGO 戦略・戦術提案</dc:title>
  <dc:subject>PptxGenJS Presentation</dc:subject>
  <dc:creator>WineGO</dc:creator>
  <cp:lastModifiedBy>WineGO</cp:lastModifiedBy>
  <cp:revision>1</cp:revision>
  <dcterms:created xsi:type="dcterms:W3CDTF">2026-08-16T12:22:13Z</dcterms:created>
  <dcterms:modified xsi:type="dcterms:W3CDTF">2026-08-16T12:22:13Z</dcterms:modified>
</cp:coreProperties>
</file>