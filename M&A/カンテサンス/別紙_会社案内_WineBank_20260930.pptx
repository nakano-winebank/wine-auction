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3"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9144000" cy="5143500" type="screen16x9"/>
  <p:notesSz cx="6742113" cy="9875838"/>
  <p:embeddedFontLst>
    <p:embeddedFont>
      <p:font typeface="Zen Kaku Gothic New" panose="020B0600070205080204" charset="-128"/>
      <p:regular r:id="rId24"/>
      <p:bold r:id="rId25"/>
    </p:embeddedFont>
    <p:embeddedFont>
      <p:font typeface="Meiryo" panose="020B0604030504040204" pitchFamily="50" charset="-128"/>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ho14ScaGfOJJknOnZOEoEMxb95i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E1C9F7A-4671-4D9E-8BF7-E8BA0D29512F}">
  <a:tblStyle styleId="{EE1C9F7A-4671-4D9E-8BF7-E8BA0D29512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448" y="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customschemas.google.com/relationships/presentationmetadata" Target="metadata"/><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4212" y="4691023"/>
            <a:ext cx="5393690" cy="4444127"/>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40a0e788958_0_218: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g40a0e788958_0_218:notes"/>
          <p:cNvSpPr>
            <a:spLocks noGrp="1" noRot="1" noChangeAspect="1"/>
          </p:cNvSpPr>
          <p:nvPr>
            <p:ph type="sldImg" idx="2"/>
          </p:nvPr>
        </p:nvSpPr>
        <p:spPr>
          <a:xfrm>
            <a:off x="674210" y="1234478"/>
            <a:ext cx="5393700" cy="3333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notes"/>
          <p:cNvSpPr txBox="1">
            <a:spLocks noGrp="1"/>
          </p:cNvSpPr>
          <p:nvPr>
            <p:ph type="body" idx="1"/>
          </p:nvPr>
        </p:nvSpPr>
        <p:spPr>
          <a:xfrm>
            <a:off x="674212" y="4752747"/>
            <a:ext cx="5393690" cy="388877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2: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3:notes"/>
          <p:cNvSpPr txBox="1">
            <a:spLocks noGrp="1"/>
          </p:cNvSpPr>
          <p:nvPr>
            <p:ph type="body" idx="1"/>
          </p:nvPr>
        </p:nvSpPr>
        <p:spPr>
          <a:xfrm>
            <a:off x="685800" y="4400556"/>
            <a:ext cx="5486400" cy="3600300"/>
          </a:xfrm>
          <a:prstGeom prst="rect">
            <a:avLst/>
          </a:prstGeom>
          <a:noFill/>
          <a:ln>
            <a:noFill/>
          </a:ln>
        </p:spPr>
        <p:txBody>
          <a:bodyPr spcFirstLastPara="1" wrap="square" lIns="91400" tIns="45675" rIns="91400" bIns="45675" anchor="t" anchorCtr="0">
            <a:noAutofit/>
          </a:bodyPr>
          <a:lstStyle/>
          <a:p>
            <a:pPr marL="0" lvl="0" indent="0" algn="l" rtl="0">
              <a:lnSpc>
                <a:spcPct val="100000"/>
              </a:lnSpc>
              <a:spcBef>
                <a:spcPts val="0"/>
              </a:spcBef>
              <a:spcAft>
                <a:spcPts val="0"/>
              </a:spcAft>
              <a:buSzPts val="1400"/>
              <a:buNone/>
            </a:pPr>
            <a:endParaRPr/>
          </a:p>
        </p:txBody>
      </p:sp>
      <p:sp>
        <p:nvSpPr>
          <p:cNvPr id="215" name="Google Shape;21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4a8cbec04a_0_0:notes"/>
          <p:cNvSpPr>
            <a:spLocks noGrp="1" noRot="1" noChangeAspect="1"/>
          </p:cNvSpPr>
          <p:nvPr>
            <p:ph type="sldImg" idx="2"/>
          </p:nvPr>
        </p:nvSpPr>
        <p:spPr>
          <a:xfrm>
            <a:off x="115888" y="1333500"/>
            <a:ext cx="6396037" cy="35988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g34a8cbec04a_0_0:notes"/>
          <p:cNvSpPr txBox="1">
            <a:spLocks noGrp="1"/>
          </p:cNvSpPr>
          <p:nvPr>
            <p:ph type="body" idx="1"/>
          </p:nvPr>
        </p:nvSpPr>
        <p:spPr>
          <a:xfrm>
            <a:off x="662818" y="5133125"/>
            <a:ext cx="5302500" cy="42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g34a8cbec04a_0_0:notes"/>
          <p:cNvSpPr txBox="1">
            <a:spLocks noGrp="1"/>
          </p:cNvSpPr>
          <p:nvPr>
            <p:ph type="sldNum" idx="12"/>
          </p:nvPr>
        </p:nvSpPr>
        <p:spPr>
          <a:xfrm>
            <a:off x="3754431" y="10131071"/>
            <a:ext cx="2872200" cy="534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ja"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4a8cbec04a_0_765: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g34a8cbec04a_0_765: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36" name="Google Shape;236;g34a8cbec04a_0_765:notes"/>
          <p:cNvSpPr txBox="1">
            <a:spLocks noGrp="1"/>
          </p:cNvSpPr>
          <p:nvPr>
            <p:ph type="sldNum" idx="12"/>
          </p:nvPr>
        </p:nvSpPr>
        <p:spPr>
          <a:xfrm>
            <a:off x="3818963" y="9380320"/>
            <a:ext cx="29217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ja"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4a8cbec04a_0_799:notes"/>
          <p:cNvSpPr>
            <a:spLocks noGrp="1" noRot="1" noChangeAspect="1"/>
          </p:cNvSpPr>
          <p:nvPr>
            <p:ph type="sldImg" idx="2"/>
          </p:nvPr>
        </p:nvSpPr>
        <p:spPr>
          <a:xfrm>
            <a:off x="115888" y="1333500"/>
            <a:ext cx="6396037" cy="35988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34a8cbec04a_0_799:notes"/>
          <p:cNvSpPr txBox="1">
            <a:spLocks noGrp="1"/>
          </p:cNvSpPr>
          <p:nvPr>
            <p:ph type="body" idx="1"/>
          </p:nvPr>
        </p:nvSpPr>
        <p:spPr>
          <a:xfrm>
            <a:off x="662818" y="5133125"/>
            <a:ext cx="5302500" cy="4199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47" name="Google Shape;247;g34a8cbec04a_0_799:notes"/>
          <p:cNvSpPr txBox="1">
            <a:spLocks noGrp="1"/>
          </p:cNvSpPr>
          <p:nvPr>
            <p:ph type="sldNum" idx="12"/>
          </p:nvPr>
        </p:nvSpPr>
        <p:spPr>
          <a:xfrm>
            <a:off x="3754431" y="10131073"/>
            <a:ext cx="2872200" cy="535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ja"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34:notes"/>
          <p:cNvSpPr txBox="1">
            <a:spLocks noGrp="1"/>
          </p:cNvSpPr>
          <p:nvPr>
            <p:ph type="body" idx="1"/>
          </p:nvPr>
        </p:nvSpPr>
        <p:spPr>
          <a:xfrm>
            <a:off x="680720" y="4783300"/>
            <a:ext cx="5445900" cy="3913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34: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4a8cbec04a_0_180: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g34a8cbec04a_0_180: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4a8cbec04a_0_189: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g34a8cbec04a_0_189: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4:notes"/>
          <p:cNvSpPr txBox="1">
            <a:spLocks noGrp="1"/>
          </p:cNvSpPr>
          <p:nvPr>
            <p:ph type="body" idx="1"/>
          </p:nvPr>
        </p:nvSpPr>
        <p:spPr>
          <a:xfrm>
            <a:off x="685800" y="4400556"/>
            <a:ext cx="5486400" cy="3600300"/>
          </a:xfrm>
          <a:prstGeom prst="rect">
            <a:avLst/>
          </a:prstGeom>
          <a:noFill/>
          <a:ln>
            <a:noFill/>
          </a:ln>
        </p:spPr>
        <p:txBody>
          <a:bodyPr spcFirstLastPara="1" wrap="square" lIns="91400" tIns="45675" rIns="91400" bIns="45675"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320" name="Google Shape;32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4" name="Google Shape;364;p1:notes"/>
          <p:cNvSpPr>
            <a:spLocks noGrp="1" noRot="1" noChangeAspect="1"/>
          </p:cNvSpPr>
          <p:nvPr>
            <p:ph type="sldImg" idx="2"/>
          </p:nvPr>
        </p:nvSpPr>
        <p:spPr>
          <a:xfrm>
            <a:off x="82355" y="686426"/>
            <a:ext cx="6693300" cy="3427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6:notes"/>
          <p:cNvSpPr txBox="1">
            <a:spLocks noGrp="1"/>
          </p:cNvSpPr>
          <p:nvPr>
            <p:ph type="body" idx="1"/>
          </p:nvPr>
        </p:nvSpPr>
        <p:spPr>
          <a:xfrm>
            <a:off x="674210" y="4691017"/>
            <a:ext cx="5393700" cy="444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6" name="Google Shape;376;p6:notes"/>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76c0386bf5_0_93:notes"/>
          <p:cNvSpPr txBox="1">
            <a:spLocks noGrp="1"/>
          </p:cNvSpPr>
          <p:nvPr>
            <p:ph type="body" idx="1"/>
          </p:nvPr>
        </p:nvSpPr>
        <p:spPr>
          <a:xfrm>
            <a:off x="674212" y="5169438"/>
            <a:ext cx="5393700" cy="4229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800"/>
              <a:buFont typeface="Arial"/>
              <a:buNone/>
            </a:pPr>
            <a:endParaRPr/>
          </a:p>
        </p:txBody>
      </p:sp>
      <p:sp>
        <p:nvSpPr>
          <p:cNvPr id="423" name="Google Shape;423;g376c0386bf5_0_93:notes"/>
          <p:cNvSpPr>
            <a:spLocks noGrp="1" noRot="1" noChangeAspect="1"/>
          </p:cNvSpPr>
          <p:nvPr>
            <p:ph type="sldImg" idx="2"/>
          </p:nvPr>
        </p:nvSpPr>
        <p:spPr>
          <a:xfrm>
            <a:off x="150813" y="1343025"/>
            <a:ext cx="6440487" cy="36242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82af4871d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8" name="Google Shape;438;g382af4871d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82af4871d9_0_16:notes"/>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3" name="Google Shape;443;g382af4871d9_0_16:notes"/>
          <p:cNvSpPr txBox="1">
            <a:spLocks noGrp="1"/>
          </p:cNvSpPr>
          <p:nvPr>
            <p:ph type="body" idx="1"/>
          </p:nvPr>
        </p:nvSpPr>
        <p:spPr>
          <a:xfrm>
            <a:off x="674210" y="4691017"/>
            <a:ext cx="5393700" cy="444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82af4871d9_0_30:notes"/>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8" name="Google Shape;458;g382af4871d9_0_30:notes"/>
          <p:cNvSpPr txBox="1">
            <a:spLocks noGrp="1"/>
          </p:cNvSpPr>
          <p:nvPr>
            <p:ph type="body" idx="1"/>
          </p:nvPr>
        </p:nvSpPr>
        <p:spPr>
          <a:xfrm>
            <a:off x="674210" y="4691017"/>
            <a:ext cx="5393700" cy="444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8a8d312103_0_53: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3" name="Google Shape;483;g38a8d312103_0_53: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40a0e78895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4" name="Google Shape;504;g40a0e78895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5:notes"/>
          <p:cNvSpPr txBox="1">
            <a:spLocks noGrp="1"/>
          </p:cNvSpPr>
          <p:nvPr>
            <p:ph type="body" idx="1"/>
          </p:nvPr>
        </p:nvSpPr>
        <p:spPr>
          <a:xfrm>
            <a:off x="674212" y="4691023"/>
            <a:ext cx="5393690" cy="444412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9" name="Google Shape;509;p5:notes"/>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4" name="Google Shape;55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bg>
      <p:bgPr>
        <a:solidFill>
          <a:schemeClr val="lt1"/>
        </a:solidFill>
        <a:effectLst/>
      </p:bgPr>
    </p:bg>
    <p:spTree>
      <p:nvGrpSpPr>
        <p:cNvPr id="1" name="Shape 11"/>
        <p:cNvGrpSpPr/>
        <p:nvPr/>
      </p:nvGrpSpPr>
      <p:grpSpPr>
        <a:xfrm>
          <a:off x="0" y="0"/>
          <a:ext cx="0" cy="0"/>
          <a:chOff x="0" y="0"/>
          <a:chExt cx="0" cy="0"/>
        </a:xfrm>
      </p:grpSpPr>
      <p:sp>
        <p:nvSpPr>
          <p:cNvPr id="12" name="Google Shape;12;g40a0e788958_0_229"/>
          <p:cNvSpPr txBox="1">
            <a:spLocks noGrp="1"/>
          </p:cNvSpPr>
          <p:nvPr>
            <p:ph type="ctrTitle"/>
          </p:nvPr>
        </p:nvSpPr>
        <p:spPr>
          <a:xfrm>
            <a:off x="685800" y="2263306"/>
            <a:ext cx="7772400" cy="5649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g40a0e788958_0_229"/>
          <p:cNvSpPr txBox="1">
            <a:spLocks noGrp="1"/>
          </p:cNvSpPr>
          <p:nvPr>
            <p:ph type="subTitle" idx="1"/>
          </p:nvPr>
        </p:nvSpPr>
        <p:spPr>
          <a:xfrm>
            <a:off x="1185221" y="3165752"/>
            <a:ext cx="6858000" cy="5628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4" name="Google Shape;14;g40a0e788958_0_229"/>
          <p:cNvPicPr preferRelativeResize="0"/>
          <p:nvPr/>
        </p:nvPicPr>
        <p:blipFill rotWithShape="1">
          <a:blip r:embed="rId2">
            <a:alphaModFix/>
          </a:blip>
          <a:srcRect/>
          <a:stretch/>
        </p:blipFill>
        <p:spPr>
          <a:xfrm>
            <a:off x="2788635" y="1526420"/>
            <a:ext cx="2550235" cy="696110"/>
          </a:xfrm>
          <a:prstGeom prst="rect">
            <a:avLst/>
          </a:prstGeom>
          <a:noFill/>
          <a:ln>
            <a:noFill/>
          </a:ln>
        </p:spPr>
      </p:pic>
      <p:sp>
        <p:nvSpPr>
          <p:cNvPr id="15" name="Google Shape;15;g40a0e788958_0_229"/>
          <p:cNvSpPr/>
          <p:nvPr/>
        </p:nvSpPr>
        <p:spPr>
          <a:xfrm>
            <a:off x="-408730" y="4209914"/>
            <a:ext cx="285900" cy="797100"/>
          </a:xfrm>
          <a:prstGeom prst="rect">
            <a:avLst/>
          </a:prstGeom>
          <a:solidFill>
            <a:srgbClr val="EBE9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16" name="Google Shape;16;g40a0e788958_0_229"/>
          <p:cNvSpPr txBox="1">
            <a:spLocks noGrp="1"/>
          </p:cNvSpPr>
          <p:nvPr>
            <p:ph type="sldNum" idx="12"/>
          </p:nvPr>
        </p:nvSpPr>
        <p:spPr>
          <a:xfrm>
            <a:off x="7020654" y="4837601"/>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cxnSp>
        <p:nvCxnSpPr>
          <p:cNvPr id="17" name="Google Shape;17;g40a0e788958_0_229"/>
          <p:cNvCxnSpPr/>
          <p:nvPr/>
        </p:nvCxnSpPr>
        <p:spPr>
          <a:xfrm>
            <a:off x="4168702" y="2995442"/>
            <a:ext cx="726300" cy="0"/>
          </a:xfrm>
          <a:prstGeom prst="straightConnector1">
            <a:avLst/>
          </a:prstGeom>
          <a:noFill/>
          <a:ln w="76200" cap="flat" cmpd="sng">
            <a:solidFill>
              <a:srgbClr val="36394B"/>
            </a:solidFill>
            <a:prstDash val="solid"/>
            <a:miter lim="80"/>
            <a:headEnd type="none" w="sm" len="sm"/>
            <a:tailEnd type="none" w="sm" len="sm"/>
          </a:ln>
        </p:spPr>
      </p:cxn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タイトル スライド">
  <p:cSld name="1_タイトル スライド">
    <p:bg>
      <p:bgPr>
        <a:solidFill>
          <a:schemeClr val="lt1"/>
        </a:solidFill>
        <a:effectLst/>
      </p:bgPr>
    </p:bg>
    <p:spTree>
      <p:nvGrpSpPr>
        <p:cNvPr id="1" name="Shape 18"/>
        <p:cNvGrpSpPr/>
        <p:nvPr/>
      </p:nvGrpSpPr>
      <p:grpSpPr>
        <a:xfrm>
          <a:off x="0" y="0"/>
          <a:ext cx="0" cy="0"/>
          <a:chOff x="0" y="0"/>
          <a:chExt cx="0" cy="0"/>
        </a:xfrm>
      </p:grpSpPr>
      <p:sp>
        <p:nvSpPr>
          <p:cNvPr id="19" name="Google Shape;19;g40a0e788958_0_236"/>
          <p:cNvSpPr txBox="1">
            <a:spLocks noGrp="1"/>
          </p:cNvSpPr>
          <p:nvPr>
            <p:ph type="ctrTitle"/>
          </p:nvPr>
        </p:nvSpPr>
        <p:spPr>
          <a:xfrm>
            <a:off x="474697" y="166544"/>
            <a:ext cx="6468600" cy="5649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600"/>
              <a:buFont typeface="Arial"/>
              <a:buNone/>
              <a:defRPr sz="36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g40a0e788958_0_236"/>
          <p:cNvSpPr txBox="1">
            <a:spLocks noGrp="1"/>
          </p:cNvSpPr>
          <p:nvPr>
            <p:ph type="subTitle" idx="1"/>
          </p:nvPr>
        </p:nvSpPr>
        <p:spPr>
          <a:xfrm>
            <a:off x="1454334" y="1281395"/>
            <a:ext cx="6556500" cy="24489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g40a0e788958_0_236"/>
          <p:cNvSpPr txBox="1">
            <a:spLocks noGrp="1"/>
          </p:cNvSpPr>
          <p:nvPr>
            <p:ph type="dt" idx="10"/>
          </p:nvPr>
        </p:nvSpPr>
        <p:spPr>
          <a:xfrm>
            <a:off x="18041" y="4870894"/>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g40a0e788958_0_236"/>
          <p:cNvSpPr txBox="1">
            <a:spLocks noGrp="1"/>
          </p:cNvSpPr>
          <p:nvPr>
            <p:ph type="sldNum" idx="12"/>
          </p:nvPr>
        </p:nvSpPr>
        <p:spPr>
          <a:xfrm>
            <a:off x="7020654" y="4837601"/>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
        <p:nvSpPr>
          <p:cNvPr id="23" name="Google Shape;23;g40a0e788958_0_236"/>
          <p:cNvSpPr/>
          <p:nvPr/>
        </p:nvSpPr>
        <p:spPr>
          <a:xfrm>
            <a:off x="-408730" y="4209914"/>
            <a:ext cx="285900" cy="797100"/>
          </a:xfrm>
          <a:prstGeom prst="rect">
            <a:avLst/>
          </a:prstGeom>
          <a:solidFill>
            <a:srgbClr val="EBE9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タイトル スライド">
  <p:cSld name="2_タイトル スライド">
    <p:bg>
      <p:bgPr>
        <a:solidFill>
          <a:schemeClr val="lt1"/>
        </a:solidFill>
        <a:effectLst/>
      </p:bgPr>
    </p:bg>
    <p:spTree>
      <p:nvGrpSpPr>
        <p:cNvPr id="1" name="Shape 24"/>
        <p:cNvGrpSpPr/>
        <p:nvPr/>
      </p:nvGrpSpPr>
      <p:grpSpPr>
        <a:xfrm>
          <a:off x="0" y="0"/>
          <a:ext cx="0" cy="0"/>
          <a:chOff x="0" y="0"/>
          <a:chExt cx="0" cy="0"/>
        </a:xfrm>
      </p:grpSpPr>
      <p:sp>
        <p:nvSpPr>
          <p:cNvPr id="25" name="Google Shape;25;g40a0e788958_0_242"/>
          <p:cNvSpPr txBox="1">
            <a:spLocks noGrp="1"/>
          </p:cNvSpPr>
          <p:nvPr>
            <p:ph type="ctrTitle"/>
          </p:nvPr>
        </p:nvSpPr>
        <p:spPr>
          <a:xfrm>
            <a:off x="199702" y="114790"/>
            <a:ext cx="8745000" cy="5649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600"/>
              <a:buFont typeface="Arial"/>
              <a:buNone/>
              <a:defRPr sz="36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g40a0e788958_0_242"/>
          <p:cNvSpPr txBox="1">
            <a:spLocks noGrp="1"/>
          </p:cNvSpPr>
          <p:nvPr>
            <p:ph type="subTitle" idx="1"/>
          </p:nvPr>
        </p:nvSpPr>
        <p:spPr>
          <a:xfrm>
            <a:off x="199704" y="806666"/>
            <a:ext cx="8745000" cy="35283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600"/>
              <a:buNone/>
              <a:defRPr sz="16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g40a0e788958_0_242"/>
          <p:cNvSpPr/>
          <p:nvPr/>
        </p:nvSpPr>
        <p:spPr>
          <a:xfrm>
            <a:off x="-408730" y="4209914"/>
            <a:ext cx="285900" cy="797100"/>
          </a:xfrm>
          <a:prstGeom prst="rect">
            <a:avLst/>
          </a:prstGeom>
          <a:solidFill>
            <a:srgbClr val="EBE9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pic>
        <p:nvPicPr>
          <p:cNvPr id="28" name="Google Shape;28;g40a0e788958_0_242"/>
          <p:cNvPicPr preferRelativeResize="0"/>
          <p:nvPr/>
        </p:nvPicPr>
        <p:blipFill rotWithShape="1">
          <a:blip r:embed="rId2">
            <a:alphaModFix/>
          </a:blip>
          <a:srcRect/>
          <a:stretch/>
        </p:blipFill>
        <p:spPr>
          <a:xfrm>
            <a:off x="93747" y="4805186"/>
            <a:ext cx="1064290" cy="290508"/>
          </a:xfrm>
          <a:prstGeom prst="rect">
            <a:avLst/>
          </a:prstGeom>
          <a:noFill/>
          <a:ln>
            <a:noFill/>
          </a:ln>
        </p:spPr>
      </p:pic>
      <p:sp>
        <p:nvSpPr>
          <p:cNvPr id="29" name="Google Shape;29;g40a0e788958_0_242"/>
          <p:cNvSpPr txBox="1">
            <a:spLocks noGrp="1"/>
          </p:cNvSpPr>
          <p:nvPr>
            <p:ph type="dt" idx="10"/>
          </p:nvPr>
        </p:nvSpPr>
        <p:spPr>
          <a:xfrm>
            <a:off x="18041" y="4870894"/>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g40a0e788958_0_242"/>
          <p:cNvSpPr txBox="1">
            <a:spLocks noGrp="1"/>
          </p:cNvSpPr>
          <p:nvPr>
            <p:ph type="sldNum" idx="12"/>
          </p:nvPr>
        </p:nvSpPr>
        <p:spPr>
          <a:xfrm>
            <a:off x="7020654" y="4872770"/>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
        <p:nvSpPr>
          <p:cNvPr id="31" name="Google Shape;31;g40a0e788958_0_242"/>
          <p:cNvSpPr txBox="1">
            <a:spLocks noGrp="1"/>
          </p:cNvSpPr>
          <p:nvPr>
            <p:ph type="ftr" idx="11"/>
          </p:nvPr>
        </p:nvSpPr>
        <p:spPr>
          <a:xfrm>
            <a:off x="3478808" y="4870894"/>
            <a:ext cx="15759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32"/>
        <p:cNvGrpSpPr/>
        <p:nvPr/>
      </p:nvGrpSpPr>
      <p:grpSpPr>
        <a:xfrm>
          <a:off x="0" y="0"/>
          <a:ext cx="0" cy="0"/>
          <a:chOff x="0" y="0"/>
          <a:chExt cx="0" cy="0"/>
        </a:xfrm>
      </p:grpSpPr>
      <p:sp>
        <p:nvSpPr>
          <p:cNvPr id="33" name="Google Shape;33;g40a0e788958_0_250"/>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g40a0e788958_0_250"/>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g40a0e788958_0_250"/>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タイトル スライド">
  <p:cSld name="3_タイトル スライド">
    <p:bg>
      <p:bgPr>
        <a:solidFill>
          <a:schemeClr val="lt1"/>
        </a:solidFill>
        <a:effectLst/>
      </p:bgPr>
    </p:bg>
    <p:spTree>
      <p:nvGrpSpPr>
        <p:cNvPr id="1" name="Shape 36"/>
        <p:cNvGrpSpPr/>
        <p:nvPr/>
      </p:nvGrpSpPr>
      <p:grpSpPr>
        <a:xfrm>
          <a:off x="0" y="0"/>
          <a:ext cx="0" cy="0"/>
          <a:chOff x="0" y="0"/>
          <a:chExt cx="0" cy="0"/>
        </a:xfrm>
      </p:grpSpPr>
      <p:sp>
        <p:nvSpPr>
          <p:cNvPr id="37" name="Google Shape;37;g40a0e788958_0_254"/>
          <p:cNvSpPr txBox="1">
            <a:spLocks noGrp="1"/>
          </p:cNvSpPr>
          <p:nvPr>
            <p:ph type="ctrTitle"/>
          </p:nvPr>
        </p:nvSpPr>
        <p:spPr>
          <a:xfrm>
            <a:off x="474697" y="166544"/>
            <a:ext cx="4542900" cy="5649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600"/>
              <a:buFont typeface="Arial"/>
              <a:buNone/>
              <a:defRPr sz="36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g40a0e788958_0_254"/>
          <p:cNvSpPr txBox="1">
            <a:spLocks noGrp="1"/>
          </p:cNvSpPr>
          <p:nvPr>
            <p:ph type="subTitle" idx="1"/>
          </p:nvPr>
        </p:nvSpPr>
        <p:spPr>
          <a:xfrm>
            <a:off x="1265550" y="888463"/>
            <a:ext cx="6556500" cy="24489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600"/>
              <a:buNone/>
              <a:defRPr sz="16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9" name="Google Shape;39;g40a0e788958_0_254"/>
          <p:cNvSpPr txBox="1">
            <a:spLocks noGrp="1"/>
          </p:cNvSpPr>
          <p:nvPr>
            <p:ph type="dt" idx="10"/>
          </p:nvPr>
        </p:nvSpPr>
        <p:spPr>
          <a:xfrm>
            <a:off x="18041" y="4870894"/>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g40a0e788958_0_254"/>
          <p:cNvSpPr txBox="1">
            <a:spLocks noGrp="1"/>
          </p:cNvSpPr>
          <p:nvPr>
            <p:ph type="ftr" idx="11"/>
          </p:nvPr>
        </p:nvSpPr>
        <p:spPr>
          <a:xfrm>
            <a:off x="3115851" y="4837601"/>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g40a0e788958_0_254"/>
          <p:cNvSpPr txBox="1">
            <a:spLocks noGrp="1"/>
          </p:cNvSpPr>
          <p:nvPr>
            <p:ph type="sldNum" idx="12"/>
          </p:nvPr>
        </p:nvSpPr>
        <p:spPr>
          <a:xfrm>
            <a:off x="7020654" y="4837601"/>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
        <p:nvSpPr>
          <p:cNvPr id="42" name="Google Shape;42;g40a0e788958_0_254"/>
          <p:cNvSpPr/>
          <p:nvPr/>
        </p:nvSpPr>
        <p:spPr>
          <a:xfrm>
            <a:off x="-408729" y="876770"/>
            <a:ext cx="306600" cy="797100"/>
          </a:xfrm>
          <a:prstGeom prst="rect">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3" name="Google Shape;43;g40a0e788958_0_254"/>
          <p:cNvSpPr/>
          <p:nvPr/>
        </p:nvSpPr>
        <p:spPr>
          <a:xfrm>
            <a:off x="-408730" y="3349355"/>
            <a:ext cx="285900" cy="797100"/>
          </a:xfrm>
          <a:prstGeom prst="rect">
            <a:avLst/>
          </a:prstGeom>
          <a:solidFill>
            <a:srgbClr val="E0D8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4" name="Google Shape;44;g40a0e788958_0_254"/>
          <p:cNvSpPr/>
          <p:nvPr/>
        </p:nvSpPr>
        <p:spPr>
          <a:xfrm>
            <a:off x="-398285" y="1691350"/>
            <a:ext cx="285900" cy="803100"/>
          </a:xfrm>
          <a:prstGeom prst="rect">
            <a:avLst/>
          </a:prstGeom>
          <a:solidFill>
            <a:srgbClr val="AB866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5" name="Google Shape;45;g40a0e788958_0_254"/>
          <p:cNvSpPr/>
          <p:nvPr/>
        </p:nvSpPr>
        <p:spPr>
          <a:xfrm>
            <a:off x="-410008" y="2529653"/>
            <a:ext cx="306600" cy="797100"/>
          </a:xfrm>
          <a:prstGeom prst="rect">
            <a:avLst/>
          </a:prstGeom>
          <a:solidFill>
            <a:srgbClr val="E5C4B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 name="Google Shape;46;g40a0e788958_0_254"/>
          <p:cNvSpPr/>
          <p:nvPr/>
        </p:nvSpPr>
        <p:spPr>
          <a:xfrm>
            <a:off x="-408730" y="4209914"/>
            <a:ext cx="285900" cy="797100"/>
          </a:xfrm>
          <a:prstGeom prst="rect">
            <a:avLst/>
          </a:prstGeom>
          <a:solidFill>
            <a:srgbClr val="EBE9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7" name="Google Shape;47;g40a0e788958_0_254"/>
          <p:cNvSpPr/>
          <p:nvPr/>
        </p:nvSpPr>
        <p:spPr>
          <a:xfrm>
            <a:off x="-408730" y="53243"/>
            <a:ext cx="306600" cy="797100"/>
          </a:xfrm>
          <a:prstGeom prst="rect">
            <a:avLst/>
          </a:prstGeom>
          <a:solidFill>
            <a:srgbClr val="AF001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48"/>
        <p:cNvGrpSpPr/>
        <p:nvPr/>
      </p:nvGrpSpPr>
      <p:grpSpPr>
        <a:xfrm>
          <a:off x="0" y="0"/>
          <a:ext cx="0" cy="0"/>
          <a:chOff x="0" y="0"/>
          <a:chExt cx="0" cy="0"/>
        </a:xfrm>
      </p:grpSpPr>
      <p:sp>
        <p:nvSpPr>
          <p:cNvPr id="49" name="Google Shape;49;g40a0e788958_0_266"/>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g40a0e788958_0_266"/>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g40a0e788958_0_266"/>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g40a0e788958_0_266"/>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g40a0e788958_0_266"/>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54"/>
        <p:cNvGrpSpPr/>
        <p:nvPr/>
      </p:nvGrpSpPr>
      <p:grpSpPr>
        <a:xfrm>
          <a:off x="0" y="0"/>
          <a:ext cx="0" cy="0"/>
          <a:chOff x="0" y="0"/>
          <a:chExt cx="0" cy="0"/>
        </a:xfrm>
      </p:grpSpPr>
      <p:sp>
        <p:nvSpPr>
          <p:cNvPr id="55" name="Google Shape;55;g40a0e788958_0_272"/>
          <p:cNvSpPr txBox="1">
            <a:spLocks noGrp="1"/>
          </p:cNvSpPr>
          <p:nvPr>
            <p:ph type="title"/>
          </p:nvPr>
        </p:nvSpPr>
        <p:spPr>
          <a:xfrm>
            <a:off x="623888" y="1282304"/>
            <a:ext cx="7886700" cy="2139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g40a0e788958_0_272"/>
          <p:cNvSpPr txBox="1">
            <a:spLocks noGrp="1"/>
          </p:cNvSpPr>
          <p:nvPr>
            <p:ph type="body" idx="1"/>
          </p:nvPr>
        </p:nvSpPr>
        <p:spPr>
          <a:xfrm>
            <a:off x="623888" y="3442098"/>
            <a:ext cx="7886700" cy="1125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7" name="Google Shape;57;g40a0e788958_0_272"/>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40a0e788958_0_272"/>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g40a0e788958_0_272"/>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60"/>
        <p:cNvGrpSpPr/>
        <p:nvPr/>
      </p:nvGrpSpPr>
      <p:grpSpPr>
        <a:xfrm>
          <a:off x="0" y="0"/>
          <a:ext cx="0" cy="0"/>
          <a:chOff x="0" y="0"/>
          <a:chExt cx="0" cy="0"/>
        </a:xfrm>
      </p:grpSpPr>
      <p:sp>
        <p:nvSpPr>
          <p:cNvPr id="61" name="Google Shape;61;g40a0e788958_0_278"/>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g40a0e788958_0_278"/>
          <p:cNvSpPr txBox="1">
            <a:spLocks noGrp="1"/>
          </p:cNvSpPr>
          <p:nvPr>
            <p:ph type="body" idx="1"/>
          </p:nvPr>
        </p:nvSpPr>
        <p:spPr>
          <a:xfrm>
            <a:off x="628650" y="1369219"/>
            <a:ext cx="3886200" cy="3263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g40a0e788958_0_278"/>
          <p:cNvSpPr txBox="1">
            <a:spLocks noGrp="1"/>
          </p:cNvSpPr>
          <p:nvPr>
            <p:ph type="body" idx="2"/>
          </p:nvPr>
        </p:nvSpPr>
        <p:spPr>
          <a:xfrm>
            <a:off x="4629150" y="1369219"/>
            <a:ext cx="3886200" cy="3263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g40a0e788958_0_278"/>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g40a0e788958_0_278"/>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g40a0e788958_0_278"/>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67"/>
        <p:cNvGrpSpPr/>
        <p:nvPr/>
      </p:nvGrpSpPr>
      <p:grpSpPr>
        <a:xfrm>
          <a:off x="0" y="0"/>
          <a:ext cx="0" cy="0"/>
          <a:chOff x="0" y="0"/>
          <a:chExt cx="0" cy="0"/>
        </a:xfrm>
      </p:grpSpPr>
      <p:sp>
        <p:nvSpPr>
          <p:cNvPr id="68" name="Google Shape;68;g40a0e788958_0_285"/>
          <p:cNvSpPr txBox="1">
            <a:spLocks noGrp="1"/>
          </p:cNvSpPr>
          <p:nvPr>
            <p:ph type="title"/>
          </p:nvPr>
        </p:nvSpPr>
        <p:spPr>
          <a:xfrm>
            <a:off x="629841"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g40a0e788958_0_285"/>
          <p:cNvSpPr txBox="1">
            <a:spLocks noGrp="1"/>
          </p:cNvSpPr>
          <p:nvPr>
            <p:ph type="body" idx="1"/>
          </p:nvPr>
        </p:nvSpPr>
        <p:spPr>
          <a:xfrm>
            <a:off x="629842" y="1260872"/>
            <a:ext cx="3868200" cy="6180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0" name="Google Shape;70;g40a0e788958_0_285"/>
          <p:cNvSpPr txBox="1">
            <a:spLocks noGrp="1"/>
          </p:cNvSpPr>
          <p:nvPr>
            <p:ph type="body" idx="2"/>
          </p:nvPr>
        </p:nvSpPr>
        <p:spPr>
          <a:xfrm>
            <a:off x="629842" y="1878806"/>
            <a:ext cx="3868200" cy="2763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g40a0e788958_0_285"/>
          <p:cNvSpPr txBox="1">
            <a:spLocks noGrp="1"/>
          </p:cNvSpPr>
          <p:nvPr>
            <p:ph type="body" idx="3"/>
          </p:nvPr>
        </p:nvSpPr>
        <p:spPr>
          <a:xfrm>
            <a:off x="4629150" y="1260872"/>
            <a:ext cx="3887400" cy="6180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2" name="Google Shape;72;g40a0e788958_0_285"/>
          <p:cNvSpPr txBox="1">
            <a:spLocks noGrp="1"/>
          </p:cNvSpPr>
          <p:nvPr>
            <p:ph type="body" idx="4"/>
          </p:nvPr>
        </p:nvSpPr>
        <p:spPr>
          <a:xfrm>
            <a:off x="4629150" y="1878806"/>
            <a:ext cx="3887400" cy="2763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g40a0e788958_0_285"/>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g40a0e788958_0_285"/>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g40a0e788958_0_285"/>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76"/>
        <p:cNvGrpSpPr/>
        <p:nvPr/>
      </p:nvGrpSpPr>
      <p:grpSpPr>
        <a:xfrm>
          <a:off x="0" y="0"/>
          <a:ext cx="0" cy="0"/>
          <a:chOff x="0" y="0"/>
          <a:chExt cx="0" cy="0"/>
        </a:xfrm>
      </p:grpSpPr>
      <p:sp>
        <p:nvSpPr>
          <p:cNvPr id="77" name="Google Shape;77;g40a0e788958_0_294"/>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g40a0e788958_0_294"/>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g40a0e788958_0_294"/>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g40a0e788958_0_294"/>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81"/>
        <p:cNvGrpSpPr/>
        <p:nvPr/>
      </p:nvGrpSpPr>
      <p:grpSpPr>
        <a:xfrm>
          <a:off x="0" y="0"/>
          <a:ext cx="0" cy="0"/>
          <a:chOff x="0" y="0"/>
          <a:chExt cx="0" cy="0"/>
        </a:xfrm>
      </p:grpSpPr>
      <p:sp>
        <p:nvSpPr>
          <p:cNvPr id="82" name="Google Shape;82;g40a0e788958_0_299"/>
          <p:cNvSpPr txBox="1">
            <a:spLocks noGrp="1"/>
          </p:cNvSpPr>
          <p:nvPr>
            <p:ph type="title"/>
          </p:nvPr>
        </p:nvSpPr>
        <p:spPr>
          <a:xfrm>
            <a:off x="629841" y="342900"/>
            <a:ext cx="2949300" cy="1200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g40a0e788958_0_299"/>
          <p:cNvSpPr txBox="1">
            <a:spLocks noGrp="1"/>
          </p:cNvSpPr>
          <p:nvPr>
            <p:ph type="body" idx="1"/>
          </p:nvPr>
        </p:nvSpPr>
        <p:spPr>
          <a:xfrm>
            <a:off x="3887391" y="740570"/>
            <a:ext cx="4629300" cy="36552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4" name="Google Shape;84;g40a0e788958_0_299"/>
          <p:cNvSpPr txBox="1">
            <a:spLocks noGrp="1"/>
          </p:cNvSpPr>
          <p:nvPr>
            <p:ph type="body" idx="2"/>
          </p:nvPr>
        </p:nvSpPr>
        <p:spPr>
          <a:xfrm>
            <a:off x="629841" y="1543050"/>
            <a:ext cx="2949300" cy="2858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5" name="Google Shape;85;g40a0e788958_0_299"/>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g40a0e788958_0_299"/>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g40a0e788958_0_299"/>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88"/>
        <p:cNvGrpSpPr/>
        <p:nvPr/>
      </p:nvGrpSpPr>
      <p:grpSpPr>
        <a:xfrm>
          <a:off x="0" y="0"/>
          <a:ext cx="0" cy="0"/>
          <a:chOff x="0" y="0"/>
          <a:chExt cx="0" cy="0"/>
        </a:xfrm>
      </p:grpSpPr>
      <p:sp>
        <p:nvSpPr>
          <p:cNvPr id="89" name="Google Shape;89;g40a0e788958_0_306"/>
          <p:cNvSpPr txBox="1">
            <a:spLocks noGrp="1"/>
          </p:cNvSpPr>
          <p:nvPr>
            <p:ph type="title"/>
          </p:nvPr>
        </p:nvSpPr>
        <p:spPr>
          <a:xfrm>
            <a:off x="629841" y="342900"/>
            <a:ext cx="2949300" cy="1200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g40a0e788958_0_306"/>
          <p:cNvSpPr>
            <a:spLocks noGrp="1"/>
          </p:cNvSpPr>
          <p:nvPr>
            <p:ph type="pic" idx="2"/>
          </p:nvPr>
        </p:nvSpPr>
        <p:spPr>
          <a:xfrm>
            <a:off x="3887391" y="740570"/>
            <a:ext cx="4629300" cy="3655200"/>
          </a:xfrm>
          <a:prstGeom prst="rect">
            <a:avLst/>
          </a:prstGeom>
          <a:noFill/>
          <a:ln>
            <a:noFill/>
          </a:ln>
        </p:spPr>
      </p:sp>
      <p:sp>
        <p:nvSpPr>
          <p:cNvPr id="91" name="Google Shape;91;g40a0e788958_0_306"/>
          <p:cNvSpPr txBox="1">
            <a:spLocks noGrp="1"/>
          </p:cNvSpPr>
          <p:nvPr>
            <p:ph type="body" idx="1"/>
          </p:nvPr>
        </p:nvSpPr>
        <p:spPr>
          <a:xfrm>
            <a:off x="629841" y="1543050"/>
            <a:ext cx="2949300" cy="2858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2" name="Google Shape;92;g40a0e788958_0_306"/>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g40a0e788958_0_306"/>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g40a0e788958_0_306"/>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95"/>
        <p:cNvGrpSpPr/>
        <p:nvPr/>
      </p:nvGrpSpPr>
      <p:grpSpPr>
        <a:xfrm>
          <a:off x="0" y="0"/>
          <a:ext cx="0" cy="0"/>
          <a:chOff x="0" y="0"/>
          <a:chExt cx="0" cy="0"/>
        </a:xfrm>
      </p:grpSpPr>
      <p:sp>
        <p:nvSpPr>
          <p:cNvPr id="96" name="Google Shape;96;g40a0e788958_0_313"/>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g40a0e788958_0_313"/>
          <p:cNvSpPr txBox="1">
            <a:spLocks noGrp="1"/>
          </p:cNvSpPr>
          <p:nvPr>
            <p:ph type="body" idx="1"/>
          </p:nvPr>
        </p:nvSpPr>
        <p:spPr>
          <a:xfrm rot="5400000">
            <a:off x="2940300" y="-942431"/>
            <a:ext cx="3263400"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g40a0e788958_0_313"/>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g40a0e788958_0_313"/>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g40a0e788958_0_313"/>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101"/>
        <p:cNvGrpSpPr/>
        <p:nvPr/>
      </p:nvGrpSpPr>
      <p:grpSpPr>
        <a:xfrm>
          <a:off x="0" y="0"/>
          <a:ext cx="0" cy="0"/>
          <a:chOff x="0" y="0"/>
          <a:chExt cx="0" cy="0"/>
        </a:xfrm>
      </p:grpSpPr>
      <p:sp>
        <p:nvSpPr>
          <p:cNvPr id="102" name="Google Shape;102;g40a0e788958_0_319"/>
          <p:cNvSpPr txBox="1">
            <a:spLocks noGrp="1"/>
          </p:cNvSpPr>
          <p:nvPr>
            <p:ph type="title"/>
          </p:nvPr>
        </p:nvSpPr>
        <p:spPr>
          <a:xfrm rot="5400000">
            <a:off x="5350051" y="1467544"/>
            <a:ext cx="4359000" cy="19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g40a0e788958_0_319"/>
          <p:cNvSpPr txBox="1">
            <a:spLocks noGrp="1"/>
          </p:cNvSpPr>
          <p:nvPr>
            <p:ph type="body" idx="1"/>
          </p:nvPr>
        </p:nvSpPr>
        <p:spPr>
          <a:xfrm rot="5400000">
            <a:off x="1349475" y="-447057"/>
            <a:ext cx="4359000" cy="5800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g40a0e788958_0_319"/>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g40a0e788958_0_319"/>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g40a0e788958_0_319"/>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114"/>
        <p:cNvGrpSpPr/>
        <p:nvPr/>
      </p:nvGrpSpPr>
      <p:grpSpPr>
        <a:xfrm>
          <a:off x="0" y="0"/>
          <a:ext cx="0" cy="0"/>
          <a:chOff x="0" y="0"/>
          <a:chExt cx="0" cy="0"/>
        </a:xfrm>
      </p:grpSpPr>
      <p:sp>
        <p:nvSpPr>
          <p:cNvPr id="115" name="Google Shape;115;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6" name="Google Shape;116;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7" name="Google Shape;117;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8"/>
        <p:cNvGrpSpPr/>
        <p:nvPr/>
      </p:nvGrpSpPr>
      <p:grpSpPr>
        <a:xfrm>
          <a:off x="0" y="0"/>
          <a:ext cx="0" cy="0"/>
          <a:chOff x="0" y="0"/>
          <a:chExt cx="0" cy="0"/>
        </a:xfrm>
      </p:grpSpPr>
      <p:sp>
        <p:nvSpPr>
          <p:cNvPr id="119" name="Google Shape;119;p19"/>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0" name="Google Shape;120;p19"/>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21" name="Google Shape;121;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2" name="Google Shape;122;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pic>
        <p:nvPicPr>
          <p:cNvPr id="124" name="Google Shape;124;p19"/>
          <p:cNvPicPr preferRelativeResize="0"/>
          <p:nvPr/>
        </p:nvPicPr>
        <p:blipFill rotWithShape="1">
          <a:blip r:embed="rId2">
            <a:alphaModFix/>
          </a:blip>
          <a:srcRect/>
          <a:stretch/>
        </p:blipFill>
        <p:spPr>
          <a:xfrm>
            <a:off x="7486650" y="102393"/>
            <a:ext cx="1448976" cy="40752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ユーザー設定レイアウト">
  <p:cSld name="ユーザー設定レイアウト">
    <p:bg>
      <p:bgPr>
        <a:solidFill>
          <a:srgbClr val="36394B"/>
        </a:solidFill>
        <a:effectLst/>
      </p:bgPr>
    </p:bg>
    <p:spTree>
      <p:nvGrpSpPr>
        <p:cNvPr id="1" name="Shape 125"/>
        <p:cNvGrpSpPr/>
        <p:nvPr/>
      </p:nvGrpSpPr>
      <p:grpSpPr>
        <a:xfrm>
          <a:off x="0" y="0"/>
          <a:ext cx="0" cy="0"/>
          <a:chOff x="0" y="0"/>
          <a:chExt cx="0" cy="0"/>
        </a:xfrm>
      </p:grpSpPr>
      <p:pic>
        <p:nvPicPr>
          <p:cNvPr id="126" name="Google Shape;126;p23" descr="株式会社WineBank (@WineBank_O) / X"/>
          <p:cNvPicPr preferRelativeResize="0"/>
          <p:nvPr/>
        </p:nvPicPr>
        <p:blipFill rotWithShape="1">
          <a:blip r:embed="rId2">
            <a:alphaModFix amt="10000"/>
          </a:blip>
          <a:srcRect/>
          <a:stretch/>
        </p:blipFill>
        <p:spPr>
          <a:xfrm>
            <a:off x="-451045" y="-101772"/>
            <a:ext cx="5302422" cy="530242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27"/>
        <p:cNvGrpSpPr/>
        <p:nvPr/>
      </p:nvGrpSpPr>
      <p:grpSpPr>
        <a:xfrm>
          <a:off x="0" y="0"/>
          <a:ext cx="0" cy="0"/>
          <a:chOff x="0" y="0"/>
          <a:chExt cx="0" cy="0"/>
        </a:xfrm>
      </p:grpSpPr>
      <p:sp>
        <p:nvSpPr>
          <p:cNvPr id="128" name="Google Shape;128;g34cbfc3592e_0_13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9" name="Google Shape;129;g34cbfc3592e_0_139"/>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0" name="Google Shape;130;g34cbfc3592e_0_13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g34cbfc3592e_0_13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2" name="Google Shape;132;g34cbfc3592e_0_13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3"/>
        <p:cNvGrpSpPr/>
        <p:nvPr/>
      </p:nvGrpSpPr>
      <p:grpSpPr>
        <a:xfrm>
          <a:off x="0" y="0"/>
          <a:ext cx="0" cy="0"/>
          <a:chOff x="0" y="0"/>
          <a:chExt cx="0" cy="0"/>
        </a:xfrm>
      </p:grpSpPr>
      <p:sp>
        <p:nvSpPr>
          <p:cNvPr id="134" name="Google Shape;134;g3f20e15c5e1_0_79"/>
          <p:cNvSpPr txBox="1">
            <a:spLocks noGrp="1"/>
          </p:cNvSpPr>
          <p:nvPr>
            <p:ph type="title"/>
          </p:nvPr>
        </p:nvSpPr>
        <p:spPr>
          <a:xfrm>
            <a:off x="311700" y="445025"/>
            <a:ext cx="8520600" cy="5727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5" name="Google Shape;135;g3f20e15c5e1_0_79"/>
          <p:cNvSpPr txBox="1">
            <a:spLocks noGrp="1"/>
          </p:cNvSpPr>
          <p:nvPr>
            <p:ph type="body" idx="1"/>
          </p:nvPr>
        </p:nvSpPr>
        <p:spPr>
          <a:xfrm>
            <a:off x="311700" y="1152475"/>
            <a:ext cx="8520600" cy="3416400"/>
          </a:xfrm>
          <a:prstGeom prst="rect">
            <a:avLst/>
          </a:prstGeom>
          <a:noFill/>
          <a:ln>
            <a:noFill/>
          </a:ln>
        </p:spPr>
        <p:txBody>
          <a:bodyPr spcFirstLastPara="1" wrap="square" lIns="68575" tIns="34275" rIns="68575" bIns="34275" anchor="t" anchorCtr="0">
            <a:normAutofit/>
          </a:bodyPr>
          <a:lstStyle>
            <a:lvl1pPr marL="457200" lvl="0" indent="-361950" algn="l">
              <a:lnSpc>
                <a:spcPct val="90000"/>
              </a:lnSpc>
              <a:spcBef>
                <a:spcPts val="800"/>
              </a:spcBef>
              <a:spcAft>
                <a:spcPts val="0"/>
              </a:spcAft>
              <a:buSzPts val="2100"/>
              <a:buChar char="•"/>
              <a:defRPr/>
            </a:lvl1pPr>
            <a:lvl2pPr marL="914400" lvl="1" indent="-342900" algn="l">
              <a:lnSpc>
                <a:spcPct val="90000"/>
              </a:lnSpc>
              <a:spcBef>
                <a:spcPts val="400"/>
              </a:spcBef>
              <a:spcAft>
                <a:spcPts val="0"/>
              </a:spcAft>
              <a:buSzPts val="1800"/>
              <a:buChar char="•"/>
              <a:defRPr/>
            </a:lvl2pPr>
            <a:lvl3pPr marL="1371600" lvl="2" indent="-323850" algn="l">
              <a:lnSpc>
                <a:spcPct val="90000"/>
              </a:lnSpc>
              <a:spcBef>
                <a:spcPts val="400"/>
              </a:spcBef>
              <a:spcAft>
                <a:spcPts val="0"/>
              </a:spcAft>
              <a:buSzPts val="15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SzPts val="1400"/>
              <a:buChar char="•"/>
              <a:defRPr/>
            </a:lvl6pPr>
            <a:lvl7pPr marL="3200400" lvl="6" indent="-317500" algn="l">
              <a:lnSpc>
                <a:spcPct val="90000"/>
              </a:lnSpc>
              <a:spcBef>
                <a:spcPts val="400"/>
              </a:spcBef>
              <a:spcAft>
                <a:spcPts val="0"/>
              </a:spcAft>
              <a:buSzPts val="1400"/>
              <a:buChar char="•"/>
              <a:defRPr/>
            </a:lvl7pPr>
            <a:lvl8pPr marL="3657600" lvl="7" indent="-317500" algn="l">
              <a:lnSpc>
                <a:spcPct val="90000"/>
              </a:lnSpc>
              <a:spcBef>
                <a:spcPts val="400"/>
              </a:spcBef>
              <a:spcAft>
                <a:spcPts val="0"/>
              </a:spcAft>
              <a:buSzPts val="1400"/>
              <a:buChar char="•"/>
              <a:defRPr/>
            </a:lvl8pPr>
            <a:lvl9pPr marL="4114800" lvl="8" indent="-317500" algn="l">
              <a:lnSpc>
                <a:spcPct val="90000"/>
              </a:lnSpc>
              <a:spcBef>
                <a:spcPts val="400"/>
              </a:spcBef>
              <a:spcAft>
                <a:spcPts val="0"/>
              </a:spcAft>
              <a:buSzPts val="1400"/>
              <a:buChar char="•"/>
              <a:defRPr/>
            </a:lvl9pPr>
          </a:lstStyle>
          <a:p>
            <a:endParaRPr/>
          </a:p>
        </p:txBody>
      </p:sp>
      <p:sp>
        <p:nvSpPr>
          <p:cNvPr id="136" name="Google Shape;136;g3f20e15c5e1_0_79"/>
          <p:cNvSpPr txBox="1">
            <a:spLocks noGrp="1"/>
          </p:cNvSpPr>
          <p:nvPr>
            <p:ph type="sldNum" idx="12"/>
          </p:nvPr>
        </p:nvSpPr>
        <p:spPr>
          <a:xfrm>
            <a:off x="8472458" y="4663217"/>
            <a:ext cx="548700" cy="3936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37"/>
        <p:cNvGrpSpPr/>
        <p:nvPr/>
      </p:nvGrpSpPr>
      <p:grpSpPr>
        <a:xfrm>
          <a:off x="0" y="0"/>
          <a:ext cx="0" cy="0"/>
          <a:chOff x="0" y="0"/>
          <a:chExt cx="0" cy="0"/>
        </a:xfrm>
      </p:grpSpPr>
      <p:sp>
        <p:nvSpPr>
          <p:cNvPr id="138" name="Google Shape;138;g3ee662f90c6_0_170"/>
          <p:cNvSpPr txBox="1">
            <a:spLocks noGrp="1"/>
          </p:cNvSpPr>
          <p:nvPr>
            <p:ph type="sldNum" idx="12"/>
          </p:nvPr>
        </p:nvSpPr>
        <p:spPr>
          <a:xfrm>
            <a:off x="8586476" y="4943097"/>
            <a:ext cx="548700" cy="163500"/>
          </a:xfrm>
          <a:prstGeom prst="rect">
            <a:avLst/>
          </a:prstGeom>
          <a:noFill/>
          <a:ln>
            <a:noFill/>
          </a:ln>
        </p:spPr>
        <p:txBody>
          <a:bodyPr spcFirstLastPara="1" wrap="square" lIns="68575" tIns="34275" rIns="68575" bIns="34275" anchor="t" anchorCtr="0">
            <a:noAutofit/>
          </a:bodyPr>
          <a:lstStyle>
            <a:lvl1pPr marL="0" marR="0" lvl="0"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1_タイトル スライド">
  <p:cSld name="1_タイトル スライド">
    <p:spTree>
      <p:nvGrpSpPr>
        <p:cNvPr id="1" name="Shape 139"/>
        <p:cNvGrpSpPr/>
        <p:nvPr/>
      </p:nvGrpSpPr>
      <p:grpSpPr>
        <a:xfrm>
          <a:off x="0" y="0"/>
          <a:ext cx="0" cy="0"/>
          <a:chOff x="0" y="0"/>
          <a:chExt cx="0" cy="0"/>
        </a:xfrm>
      </p:grpSpPr>
      <p:sp>
        <p:nvSpPr>
          <p:cNvPr id="140" name="Google Shape;140;g382af4871d9_0_308"/>
          <p:cNvSpPr txBox="1">
            <a:spLocks noGrp="1"/>
          </p:cNvSpPr>
          <p:nvPr>
            <p:ph type="subTitle" idx="1"/>
          </p:nvPr>
        </p:nvSpPr>
        <p:spPr>
          <a:xfrm>
            <a:off x="1371600" y="4245936"/>
            <a:ext cx="6400800" cy="5940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000"/>
              <a:buNone/>
              <a:defRPr sz="1000">
                <a:solidFill>
                  <a:schemeClr val="dk1"/>
                </a:solidFill>
                <a:latin typeface="MS PGothic"/>
                <a:ea typeface="MS PGothic"/>
                <a:cs typeface="MS PGothic"/>
                <a:sym typeface="MS PGothic"/>
              </a:defRPr>
            </a:lvl1pPr>
            <a:lvl2pPr lvl="1" algn="ctr">
              <a:lnSpc>
                <a:spcPct val="90000"/>
              </a:lnSpc>
              <a:spcBef>
                <a:spcPts val="400"/>
              </a:spcBef>
              <a:spcAft>
                <a:spcPts val="0"/>
              </a:spcAft>
              <a:buClr>
                <a:srgbClr val="888888"/>
              </a:buClr>
              <a:buSzPts val="1800"/>
              <a:buNone/>
              <a:defRPr>
                <a:solidFill>
                  <a:srgbClr val="888888"/>
                </a:solidFill>
              </a:defRPr>
            </a:lvl2pPr>
            <a:lvl3pPr lvl="2" algn="ctr">
              <a:lnSpc>
                <a:spcPct val="90000"/>
              </a:lnSpc>
              <a:spcBef>
                <a:spcPts val="400"/>
              </a:spcBef>
              <a:spcAft>
                <a:spcPts val="0"/>
              </a:spcAft>
              <a:buClr>
                <a:srgbClr val="888888"/>
              </a:buClr>
              <a:buSzPts val="1500"/>
              <a:buNone/>
              <a:defRPr>
                <a:solidFill>
                  <a:srgbClr val="888888"/>
                </a:solidFill>
              </a:defRPr>
            </a:lvl3pPr>
            <a:lvl4pPr lvl="3" algn="ctr">
              <a:lnSpc>
                <a:spcPct val="90000"/>
              </a:lnSpc>
              <a:spcBef>
                <a:spcPts val="400"/>
              </a:spcBef>
              <a:spcAft>
                <a:spcPts val="0"/>
              </a:spcAft>
              <a:buClr>
                <a:srgbClr val="888888"/>
              </a:buClr>
              <a:buSzPts val="1400"/>
              <a:buNone/>
              <a:defRPr>
                <a:solidFill>
                  <a:srgbClr val="888888"/>
                </a:solidFill>
              </a:defRPr>
            </a:lvl4pPr>
            <a:lvl5pPr lvl="4" algn="ctr">
              <a:lnSpc>
                <a:spcPct val="90000"/>
              </a:lnSpc>
              <a:spcBef>
                <a:spcPts val="400"/>
              </a:spcBef>
              <a:spcAft>
                <a:spcPts val="0"/>
              </a:spcAft>
              <a:buClr>
                <a:srgbClr val="888888"/>
              </a:buClr>
              <a:buSzPts val="1400"/>
              <a:buNone/>
              <a:defRPr>
                <a:solidFill>
                  <a:srgbClr val="888888"/>
                </a:solidFill>
              </a:defRPr>
            </a:lvl5pPr>
            <a:lvl6pPr lvl="5" algn="ctr">
              <a:lnSpc>
                <a:spcPct val="90000"/>
              </a:lnSpc>
              <a:spcBef>
                <a:spcPts val="400"/>
              </a:spcBef>
              <a:spcAft>
                <a:spcPts val="0"/>
              </a:spcAft>
              <a:buClr>
                <a:srgbClr val="888888"/>
              </a:buClr>
              <a:buSzPts val="1400"/>
              <a:buNone/>
              <a:defRPr>
                <a:solidFill>
                  <a:srgbClr val="888888"/>
                </a:solidFill>
              </a:defRPr>
            </a:lvl6pPr>
            <a:lvl7pPr lvl="6" algn="ctr">
              <a:lnSpc>
                <a:spcPct val="90000"/>
              </a:lnSpc>
              <a:spcBef>
                <a:spcPts val="400"/>
              </a:spcBef>
              <a:spcAft>
                <a:spcPts val="0"/>
              </a:spcAft>
              <a:buClr>
                <a:srgbClr val="888888"/>
              </a:buClr>
              <a:buSzPts val="1400"/>
              <a:buNone/>
              <a:defRPr>
                <a:solidFill>
                  <a:srgbClr val="888888"/>
                </a:solidFill>
              </a:defRPr>
            </a:lvl7pPr>
            <a:lvl8pPr lvl="7" algn="ctr">
              <a:lnSpc>
                <a:spcPct val="90000"/>
              </a:lnSpc>
              <a:spcBef>
                <a:spcPts val="400"/>
              </a:spcBef>
              <a:spcAft>
                <a:spcPts val="0"/>
              </a:spcAft>
              <a:buClr>
                <a:srgbClr val="888888"/>
              </a:buClr>
              <a:buSzPts val="1400"/>
              <a:buNone/>
              <a:defRPr>
                <a:solidFill>
                  <a:srgbClr val="888888"/>
                </a:solidFill>
              </a:defRPr>
            </a:lvl8pPr>
            <a:lvl9pPr lvl="8" algn="ctr">
              <a:lnSpc>
                <a:spcPct val="90000"/>
              </a:lnSpc>
              <a:spcBef>
                <a:spcPts val="400"/>
              </a:spcBef>
              <a:spcAft>
                <a:spcPts val="0"/>
              </a:spcAft>
              <a:buClr>
                <a:srgbClr val="888888"/>
              </a:buClr>
              <a:buSzPts val="1400"/>
              <a:buNone/>
              <a:defRPr>
                <a:solidFill>
                  <a:srgbClr val="888888"/>
                </a:solidFill>
              </a:defRPr>
            </a:lvl9pPr>
          </a:lstStyle>
          <a:p>
            <a:endParaRPr/>
          </a:p>
        </p:txBody>
      </p:sp>
      <p:sp>
        <p:nvSpPr>
          <p:cNvPr id="141" name="Google Shape;141;g382af4871d9_0_308"/>
          <p:cNvSpPr/>
          <p:nvPr/>
        </p:nvSpPr>
        <p:spPr>
          <a:xfrm>
            <a:off x="0" y="1674421"/>
            <a:ext cx="9144000" cy="1329563"/>
          </a:xfrm>
          <a:prstGeom prst="rect">
            <a:avLst/>
          </a:prstGeom>
          <a:solidFill>
            <a:srgbClr val="36394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142" name="Google Shape;142;g382af4871d9_0_30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143"/>
        <p:cNvGrpSpPr/>
        <p:nvPr/>
      </p:nvGrpSpPr>
      <p:grpSpPr>
        <a:xfrm>
          <a:off x="0" y="0"/>
          <a:ext cx="0" cy="0"/>
          <a:chOff x="0" y="0"/>
          <a:chExt cx="0" cy="0"/>
        </a:xfrm>
      </p:grpSpPr>
      <p:sp>
        <p:nvSpPr>
          <p:cNvPr id="144" name="Google Shape;144;p2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5" name="Google Shape;145;p24"/>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6" name="Google Shape;146;p24"/>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7" name="Google Shape;147;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8" name="Google Shape;148;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9" name="Google Shape;149;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150"/>
        <p:cNvGrpSpPr/>
        <p:nvPr/>
      </p:nvGrpSpPr>
      <p:grpSpPr>
        <a:xfrm>
          <a:off x="0" y="0"/>
          <a:ext cx="0" cy="0"/>
          <a:chOff x="0" y="0"/>
          <a:chExt cx="0" cy="0"/>
        </a:xfrm>
      </p:grpSpPr>
      <p:sp>
        <p:nvSpPr>
          <p:cNvPr id="151" name="Google Shape;151;p2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2" name="Google Shape;152;p25"/>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53" name="Google Shape;153;p25"/>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4" name="Google Shape;154;p25"/>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55" name="Google Shape;155;p25"/>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6" name="Google Shape;156;p2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7" name="Google Shape;157;p2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8" name="Google Shape;158;p2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159"/>
        <p:cNvGrpSpPr/>
        <p:nvPr/>
      </p:nvGrpSpPr>
      <p:grpSpPr>
        <a:xfrm>
          <a:off x="0" y="0"/>
          <a:ext cx="0" cy="0"/>
          <a:chOff x="0" y="0"/>
          <a:chExt cx="0" cy="0"/>
        </a:xfrm>
      </p:grpSpPr>
      <p:sp>
        <p:nvSpPr>
          <p:cNvPr id="160" name="Google Shape;160;p26"/>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1" name="Google Shape;161;p2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2" name="Google Shape;162;p2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3" name="Google Shape;163;p2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6" name="Google Shape;166;p27"/>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67" name="Google Shape;167;p27"/>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68" name="Google Shape;168;p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9" name="Google Shape;169;p2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0" name="Google Shape;170;p2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171"/>
        <p:cNvGrpSpPr/>
        <p:nvPr/>
      </p:nvGrpSpPr>
      <p:grpSpPr>
        <a:xfrm>
          <a:off x="0" y="0"/>
          <a:ext cx="0" cy="0"/>
          <a:chOff x="0" y="0"/>
          <a:chExt cx="0" cy="0"/>
        </a:xfrm>
      </p:grpSpPr>
      <p:sp>
        <p:nvSpPr>
          <p:cNvPr id="172" name="Google Shape;172;p28"/>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3" name="Google Shape;173;p28"/>
          <p:cNvSpPr>
            <a:spLocks noGrp="1"/>
          </p:cNvSpPr>
          <p:nvPr>
            <p:ph type="pic" idx="2"/>
          </p:nvPr>
        </p:nvSpPr>
        <p:spPr>
          <a:xfrm>
            <a:off x="3887391" y="740569"/>
            <a:ext cx="4629150" cy="3655219"/>
          </a:xfrm>
          <a:prstGeom prst="rect">
            <a:avLst/>
          </a:prstGeom>
          <a:noFill/>
          <a:ln>
            <a:noFill/>
          </a:ln>
        </p:spPr>
      </p:sp>
      <p:sp>
        <p:nvSpPr>
          <p:cNvPr id="174" name="Google Shape;174;p28"/>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75" name="Google Shape;175;p2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6" name="Google Shape;176;p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7" name="Google Shape;177;p2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178"/>
        <p:cNvGrpSpPr/>
        <p:nvPr/>
      </p:nvGrpSpPr>
      <p:grpSpPr>
        <a:xfrm>
          <a:off x="0" y="0"/>
          <a:ext cx="0" cy="0"/>
          <a:chOff x="0" y="0"/>
          <a:chExt cx="0" cy="0"/>
        </a:xfrm>
      </p:grpSpPr>
      <p:sp>
        <p:nvSpPr>
          <p:cNvPr id="179" name="Google Shape;179;p2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0" name="Google Shape;180;p29"/>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1" name="Google Shape;181;p2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2" name="Google Shape;182;p2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3" name="Google Shape;183;p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184"/>
        <p:cNvGrpSpPr/>
        <p:nvPr/>
      </p:nvGrpSpPr>
      <p:grpSpPr>
        <a:xfrm>
          <a:off x="0" y="0"/>
          <a:ext cx="0" cy="0"/>
          <a:chOff x="0" y="0"/>
          <a:chExt cx="0" cy="0"/>
        </a:xfrm>
      </p:grpSpPr>
      <p:sp>
        <p:nvSpPr>
          <p:cNvPr id="185" name="Google Shape;185;p30"/>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6" name="Google Shape;186;p30"/>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7" name="Google Shape;187;p3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8" name="Google Shape;188;p3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9" name="Google Shape;189;p3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2" name="Google Shape;192;p31"/>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193" name="Google Shape;193;p3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4" name="Google Shape;194;p3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5" name="Google Shape;195;p3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image" Target="../media/image2.png"/><Relationship Id="rId2" Type="http://schemas.openxmlformats.org/officeDocument/2006/relationships/slideLayout" Target="../slideLayouts/slideLayout16.xml"/><Relationship Id="rId16"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g40a0e788958_0_223"/>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g40a0e788958_0_223"/>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g40a0e788958_0_223"/>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g40a0e788958_0_223"/>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g40a0e788958_0_223"/>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9" name="Google Shape;109;p18"/>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10" name="Google Shape;110;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11" name="Google Shape;111;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12" name="Google Shape;112;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pic>
        <p:nvPicPr>
          <p:cNvPr id="113" name="Google Shape;113;p18"/>
          <p:cNvPicPr preferRelativeResize="0"/>
          <p:nvPr/>
        </p:nvPicPr>
        <p:blipFill rotWithShape="1">
          <a:blip r:embed="rId17">
            <a:alphaModFix/>
          </a:blip>
          <a:srcRect/>
          <a:stretch/>
        </p:blipFill>
        <p:spPr>
          <a:xfrm>
            <a:off x="7486650" y="102393"/>
            <a:ext cx="1448976" cy="4075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5.xml"/><Relationship Id="rId5" Type="http://schemas.openxmlformats.org/officeDocument/2006/relationships/image" Target="../media/image10.jp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5.xml"/><Relationship Id="rId5" Type="http://schemas.openxmlformats.org/officeDocument/2006/relationships/image" Target="../media/image23.png"/><Relationship Id="rId4" Type="http://schemas.openxmlformats.org/officeDocument/2006/relationships/image" Target="../media/image22.gif"/></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5.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38.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g40a0e788958_0_218"/>
          <p:cNvPicPr preferRelativeResize="0"/>
          <p:nvPr/>
        </p:nvPicPr>
        <p:blipFill rotWithShape="1">
          <a:blip r:embed="rId3">
            <a:alphaModFix amt="18000"/>
          </a:blip>
          <a:srcRect/>
          <a:stretch/>
        </p:blipFill>
        <p:spPr>
          <a:xfrm>
            <a:off x="5819420" y="521425"/>
            <a:ext cx="4262179" cy="4808308"/>
          </a:xfrm>
          <a:prstGeom prst="rect">
            <a:avLst/>
          </a:prstGeom>
          <a:noFill/>
          <a:ln>
            <a:noFill/>
          </a:ln>
        </p:spPr>
      </p:pic>
      <p:sp>
        <p:nvSpPr>
          <p:cNvPr id="201" name="Google Shape;201;g40a0e788958_0_218"/>
          <p:cNvSpPr txBox="1"/>
          <p:nvPr/>
        </p:nvSpPr>
        <p:spPr>
          <a:xfrm>
            <a:off x="1700403" y="1463083"/>
            <a:ext cx="5725500" cy="1734000"/>
          </a:xfrm>
          <a:prstGeom prst="rect">
            <a:avLst/>
          </a:prstGeom>
          <a:noFill/>
          <a:ln>
            <a:noFill/>
          </a:ln>
        </p:spPr>
        <p:txBody>
          <a:bodyPr spcFirstLastPara="1" wrap="square" lIns="68575" tIns="34275" rIns="68575" bIns="34275" anchor="ctr" anchorCtr="0">
            <a:noAutofit/>
          </a:bodyPr>
          <a:lstStyle/>
          <a:p>
            <a:pPr marL="0" marR="0" lvl="0" indent="0" algn="ctr" rtl="0">
              <a:lnSpc>
                <a:spcPct val="150000"/>
              </a:lnSpc>
              <a:spcBef>
                <a:spcPts val="0"/>
              </a:spcBef>
              <a:spcAft>
                <a:spcPts val="0"/>
              </a:spcAft>
              <a:buClr>
                <a:schemeClr val="dk1"/>
              </a:buClr>
              <a:buSzPts val="1500"/>
              <a:buFont typeface="Meiryo"/>
              <a:buNone/>
            </a:pPr>
            <a:endParaRPr sz="2400" b="1" i="0" u="none" strike="noStrike" cap="none">
              <a:solidFill>
                <a:schemeClr val="dk1"/>
              </a:solidFill>
              <a:latin typeface="Meiryo"/>
              <a:ea typeface="Meiryo"/>
              <a:cs typeface="Meiryo"/>
              <a:sym typeface="Meiryo"/>
            </a:endParaRPr>
          </a:p>
          <a:p>
            <a:pPr marL="0" marR="0" lvl="0" indent="0" algn="ctr" rtl="0">
              <a:lnSpc>
                <a:spcPct val="150000"/>
              </a:lnSpc>
              <a:spcBef>
                <a:spcPts val="0"/>
              </a:spcBef>
              <a:spcAft>
                <a:spcPts val="0"/>
              </a:spcAft>
              <a:buClr>
                <a:schemeClr val="dk1"/>
              </a:buClr>
              <a:buSzPts val="1500"/>
              <a:buFont typeface="Meiryo"/>
              <a:buNone/>
            </a:pPr>
            <a:r>
              <a:rPr lang="ja" sz="2400" b="1" i="0" u="none" strike="noStrike" cap="none">
                <a:solidFill>
                  <a:schemeClr val="dk1"/>
                </a:solidFill>
                <a:latin typeface="Meiryo"/>
                <a:ea typeface="Meiryo"/>
                <a:cs typeface="Meiryo"/>
                <a:sym typeface="Meiryo"/>
              </a:rPr>
              <a:t>会社紹介</a:t>
            </a:r>
            <a:endParaRPr sz="1200" b="1" i="0" u="none" strike="noStrike" cap="none">
              <a:solidFill>
                <a:schemeClr val="dk1"/>
              </a:solidFill>
              <a:latin typeface="Meiryo"/>
              <a:ea typeface="Meiryo"/>
              <a:cs typeface="Meiryo"/>
              <a:sym typeface="Meiryo"/>
            </a:endParaRPr>
          </a:p>
        </p:txBody>
      </p:sp>
      <p:sp>
        <p:nvSpPr>
          <p:cNvPr id="202" name="Google Shape;202;g40a0e788958_0_218"/>
          <p:cNvSpPr txBox="1"/>
          <p:nvPr/>
        </p:nvSpPr>
        <p:spPr>
          <a:xfrm>
            <a:off x="3606384" y="3456699"/>
            <a:ext cx="1931100" cy="543300"/>
          </a:xfrm>
          <a:prstGeom prst="rect">
            <a:avLst/>
          </a:prstGeom>
          <a:noFill/>
          <a:ln>
            <a:noFill/>
          </a:ln>
        </p:spPr>
        <p:txBody>
          <a:bodyPr spcFirstLastPara="1" wrap="square" lIns="68575" tIns="34275" rIns="68575" bIns="34275" anchor="t" anchorCtr="0">
            <a:spAutoFit/>
          </a:bodyPr>
          <a:lstStyle/>
          <a:p>
            <a:pPr marL="0" marR="0" lvl="0" indent="0" algn="ctr" rtl="0">
              <a:lnSpc>
                <a:spcPct val="120000"/>
              </a:lnSpc>
              <a:spcBef>
                <a:spcPts val="0"/>
              </a:spcBef>
              <a:spcAft>
                <a:spcPts val="0"/>
              </a:spcAft>
              <a:buClr>
                <a:srgbClr val="000000"/>
              </a:buClr>
              <a:buSzPts val="1400"/>
              <a:buFont typeface="Arial"/>
              <a:buNone/>
            </a:pPr>
            <a:r>
              <a:rPr lang="ja" sz="1400" b="0" i="0" u="none" strike="noStrike" cap="none">
                <a:solidFill>
                  <a:srgbClr val="000000"/>
                </a:solidFill>
                <a:latin typeface="Meiryo"/>
                <a:ea typeface="Meiryo"/>
                <a:cs typeface="Meiryo"/>
                <a:sym typeface="Meiryo"/>
              </a:rPr>
              <a:t>2026年</a:t>
            </a:r>
            <a:r>
              <a:rPr lang="ja">
                <a:latin typeface="Meiryo"/>
                <a:ea typeface="Meiryo"/>
                <a:cs typeface="Meiryo"/>
                <a:sym typeface="Meiryo"/>
              </a:rPr>
              <a:t>9</a:t>
            </a:r>
            <a:r>
              <a:rPr lang="ja" sz="1400" b="0" i="0" u="none" strike="noStrike" cap="none">
                <a:solidFill>
                  <a:srgbClr val="000000"/>
                </a:solidFill>
                <a:latin typeface="Meiryo"/>
                <a:ea typeface="Meiryo"/>
                <a:cs typeface="Meiryo"/>
                <a:sym typeface="Meiryo"/>
              </a:rPr>
              <a:t>月</a:t>
            </a:r>
            <a:endParaRPr sz="14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400" b="0" i="0" u="none" strike="noStrike" cap="none">
                <a:solidFill>
                  <a:srgbClr val="000000"/>
                </a:solidFill>
                <a:latin typeface="Meiryo"/>
                <a:ea typeface="Meiryo"/>
                <a:cs typeface="Meiryo"/>
                <a:sym typeface="Meiryo"/>
              </a:rPr>
              <a:t>株式会社WineBank</a:t>
            </a:r>
            <a:endParaRPr sz="1400" b="0" i="0" u="none" strike="noStrike" cap="none">
              <a:solidFill>
                <a:srgbClr val="000000"/>
              </a:solidFill>
              <a:latin typeface="Meiryo"/>
              <a:ea typeface="Meiryo"/>
              <a:cs typeface="Meiryo"/>
              <a:sym typeface="Meiryo"/>
            </a:endParaRPr>
          </a:p>
        </p:txBody>
      </p:sp>
      <p:sp>
        <p:nvSpPr>
          <p:cNvPr id="203" name="Google Shape;203;g40a0e788958_0_218"/>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
          <p:cNvSpPr txBox="1"/>
          <p:nvPr/>
        </p:nvSpPr>
        <p:spPr>
          <a:xfrm>
            <a:off x="2200166" y="2196149"/>
            <a:ext cx="4743675" cy="413775"/>
          </a:xfrm>
          <a:prstGeom prst="rect">
            <a:avLst/>
          </a:prstGeom>
          <a:noFill/>
          <a:ln>
            <a:noFill/>
          </a:ln>
        </p:spPr>
        <p:txBody>
          <a:bodyPr spcFirstLastPara="1" wrap="square" lIns="78225" tIns="39125" rIns="78225" bIns="39125"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ja" sz="2200" b="1" i="0" u="none" strike="noStrike" cap="none">
                <a:solidFill>
                  <a:schemeClr val="dk1"/>
                </a:solidFill>
                <a:latin typeface="Meiryo"/>
                <a:ea typeface="Meiryo"/>
                <a:cs typeface="Meiryo"/>
                <a:sym typeface="Meiryo"/>
              </a:rPr>
              <a:t>COMPANY INFORMATION</a:t>
            </a:r>
            <a:endParaRPr sz="1100" b="0" i="0" u="none" strike="noStrike" cap="none">
              <a:solidFill>
                <a:schemeClr val="dk1"/>
              </a:solidFill>
              <a:latin typeface="Arial"/>
              <a:ea typeface="Arial"/>
              <a:cs typeface="Arial"/>
              <a:sym typeface="Arial"/>
            </a:endParaRPr>
          </a:p>
        </p:txBody>
      </p:sp>
      <p:sp>
        <p:nvSpPr>
          <p:cNvPr id="209" name="Google Shape;209;p2"/>
          <p:cNvSpPr txBox="1"/>
          <p:nvPr/>
        </p:nvSpPr>
        <p:spPr>
          <a:xfrm>
            <a:off x="3789759" y="2758010"/>
            <a:ext cx="1564425" cy="194400"/>
          </a:xfrm>
          <a:prstGeom prst="rect">
            <a:avLst/>
          </a:prstGeom>
          <a:noFill/>
          <a:ln>
            <a:noFill/>
          </a:ln>
        </p:spPr>
        <p:txBody>
          <a:bodyPr spcFirstLastPara="1" wrap="square" lIns="78225" tIns="39125" rIns="78225" bIns="39125"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ja" sz="800" b="0" i="0" u="none" strike="noStrike" cap="none">
                <a:solidFill>
                  <a:srgbClr val="595959"/>
                </a:solidFill>
                <a:latin typeface="Meiryo"/>
                <a:ea typeface="Meiryo"/>
                <a:cs typeface="Meiryo"/>
                <a:sym typeface="Meiryo"/>
              </a:rPr>
              <a:t>会社概要</a:t>
            </a:r>
            <a:endParaRPr sz="1100" b="0" i="0" u="none" strike="noStrike" cap="none">
              <a:solidFill>
                <a:srgbClr val="000000"/>
              </a:solidFill>
              <a:latin typeface="Arial"/>
              <a:ea typeface="Arial"/>
              <a:cs typeface="Arial"/>
              <a:sym typeface="Arial"/>
            </a:endParaRPr>
          </a:p>
        </p:txBody>
      </p:sp>
      <p:cxnSp>
        <p:nvCxnSpPr>
          <p:cNvPr id="210" name="Google Shape;210;p2"/>
          <p:cNvCxnSpPr/>
          <p:nvPr/>
        </p:nvCxnSpPr>
        <p:spPr>
          <a:xfrm>
            <a:off x="4446270" y="2644140"/>
            <a:ext cx="258975" cy="0"/>
          </a:xfrm>
          <a:prstGeom prst="straightConnector1">
            <a:avLst/>
          </a:prstGeom>
          <a:noFill/>
          <a:ln w="9525" cap="flat" cmpd="sng">
            <a:solidFill>
              <a:srgbClr val="A5A5A5"/>
            </a:solidFill>
            <a:prstDash val="solid"/>
            <a:miter lim="0"/>
            <a:headEnd type="none" w="sm" len="sm"/>
            <a:tailEnd type="none" w="sm" len="sm"/>
          </a:ln>
        </p:spPr>
      </p:cxnSp>
      <p:sp>
        <p:nvSpPr>
          <p:cNvPr id="211" name="Google Shape;211;p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2</a:t>
            </a:fld>
            <a:endParaRPr/>
          </a:p>
        </p:txBody>
      </p:sp>
      <p:sp>
        <p:nvSpPr>
          <p:cNvPr id="212" name="Google Shape;212;p2"/>
          <p:cNvSpPr/>
          <p:nvPr/>
        </p:nvSpPr>
        <p:spPr>
          <a:xfrm>
            <a:off x="0" y="5012872"/>
            <a:ext cx="9144000" cy="130725"/>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
          <p:cNvSpPr txBox="1"/>
          <p:nvPr/>
        </p:nvSpPr>
        <p:spPr>
          <a:xfrm>
            <a:off x="302549" y="287249"/>
            <a:ext cx="2013600" cy="28466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chemeClr val="dk1"/>
                </a:solidFill>
                <a:latin typeface="Meiryo"/>
                <a:ea typeface="Meiryo"/>
                <a:cs typeface="Meiryo"/>
                <a:sym typeface="Meiryo"/>
              </a:rPr>
              <a:t>会社概要</a:t>
            </a:r>
            <a:endParaRPr sz="1400" b="1" i="0" u="none" strike="noStrike" cap="none">
              <a:solidFill>
                <a:schemeClr val="dk1"/>
              </a:solidFill>
              <a:latin typeface="Meiryo"/>
              <a:ea typeface="Meiryo"/>
              <a:cs typeface="Meiryo"/>
              <a:sym typeface="Meiryo"/>
            </a:endParaRPr>
          </a:p>
        </p:txBody>
      </p:sp>
      <p:graphicFrame>
        <p:nvGraphicFramePr>
          <p:cNvPr id="218" name="Google Shape;218;p3"/>
          <p:cNvGraphicFramePr/>
          <p:nvPr/>
        </p:nvGraphicFramePr>
        <p:xfrm>
          <a:off x="225196" y="763066"/>
          <a:ext cx="3000000" cy="3000000"/>
        </p:xfrm>
        <a:graphic>
          <a:graphicData uri="http://schemas.openxmlformats.org/drawingml/2006/table">
            <a:tbl>
              <a:tblPr>
                <a:noFill/>
                <a:tableStyleId>{EE1C9F7A-4671-4D9E-8BF7-E8BA0D29512F}</a:tableStyleId>
              </a:tblPr>
              <a:tblGrid>
                <a:gridCol w="1127025">
                  <a:extLst>
                    <a:ext uri="{9D8B030D-6E8A-4147-A177-3AD203B41FA5}">
                      <a16:colId xmlns:a16="http://schemas.microsoft.com/office/drawing/2014/main" val="20000"/>
                    </a:ext>
                  </a:extLst>
                </a:gridCol>
                <a:gridCol w="403550">
                  <a:extLst>
                    <a:ext uri="{9D8B030D-6E8A-4147-A177-3AD203B41FA5}">
                      <a16:colId xmlns:a16="http://schemas.microsoft.com/office/drawing/2014/main" val="20001"/>
                    </a:ext>
                  </a:extLst>
                </a:gridCol>
                <a:gridCol w="2925325">
                  <a:extLst>
                    <a:ext uri="{9D8B030D-6E8A-4147-A177-3AD203B41FA5}">
                      <a16:colId xmlns:a16="http://schemas.microsoft.com/office/drawing/2014/main" val="20002"/>
                    </a:ext>
                  </a:extLst>
                </a:gridCol>
              </a:tblGrid>
              <a:tr h="316000">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会社名</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3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800"/>
                        <a:buFont typeface="Arial"/>
                        <a:buNone/>
                      </a:pPr>
                      <a:r>
                        <a:rPr lang="ja" sz="1000" b="0" u="none" strike="noStrike" cap="none">
                          <a:solidFill>
                            <a:schemeClr val="dk1"/>
                          </a:solidFill>
                          <a:latin typeface="Meiryo"/>
                          <a:ea typeface="Meiryo"/>
                          <a:cs typeface="Meiryo"/>
                          <a:sym typeface="Meiryo"/>
                        </a:rPr>
                        <a:t>株式会社WineBank（旧社名：有限会社中村）</a:t>
                      </a:r>
                      <a:endParaRPr sz="1000" b="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7350">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代表取締役</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中野 邦人（Nakano Kunihito）</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93575">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資本金</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437,169千円（資本準備金含む）</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0625">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本社</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東京都港区六本木4-12-8 第六DMJビル 2階</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30625">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創業</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1970年10月</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1050025">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事業概要</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■ワインを中心とした酒類販売</a:t>
                      </a:r>
                      <a:endParaRPr sz="13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■レストラン事業</a:t>
                      </a:r>
                      <a:endParaRPr sz="13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■Wine × Technology事業（WineTech事業）</a:t>
                      </a:r>
                      <a:endParaRPr sz="13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■その他上記に付随する事業</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1013800">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主要株主</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ﾏﾈｰﾌｫﾜｰﾄﾞﾍﾞﾝﾁｬｰﾊﾟｰﾄﾅｰｽﾞ株式会社</a:t>
                      </a:r>
                      <a:endParaRPr sz="10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株式会社ベクトル</a:t>
                      </a:r>
                      <a:endParaRPr sz="10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寺田倉庫株式会社</a:t>
                      </a:r>
                      <a:endParaRPr sz="10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株式会社PrivateBANK</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pic>
        <p:nvPicPr>
          <p:cNvPr id="219" name="Google Shape;219;p3" title="AAA07221-1.atari.jpg"/>
          <p:cNvPicPr preferRelativeResize="0"/>
          <p:nvPr/>
        </p:nvPicPr>
        <p:blipFill rotWithShape="1">
          <a:blip r:embed="rId3">
            <a:alphaModFix/>
          </a:blip>
          <a:srcRect l="14583" r="10118"/>
          <a:stretch/>
        </p:blipFill>
        <p:spPr>
          <a:xfrm>
            <a:off x="4805537" y="860708"/>
            <a:ext cx="4113267" cy="3641818"/>
          </a:xfrm>
          <a:prstGeom prst="rect">
            <a:avLst/>
          </a:prstGeom>
          <a:noFill/>
          <a:ln>
            <a:noFill/>
          </a:ln>
        </p:spPr>
      </p:pic>
      <p:sp>
        <p:nvSpPr>
          <p:cNvPr id="220" name="Google Shape;220;p3"/>
          <p:cNvSpPr txBox="1">
            <a:spLocks noGrp="1"/>
          </p:cNvSpPr>
          <p:nvPr>
            <p:ph type="sldNum" idx="12"/>
          </p:nvPr>
        </p:nvSpPr>
        <p:spPr>
          <a:xfrm>
            <a:off x="6965303" y="4530560"/>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US" altLang="ja"/>
              <a:t>3</a:t>
            </a:fld>
            <a:endParaRPr/>
          </a:p>
        </p:txBody>
      </p:sp>
      <p:sp>
        <p:nvSpPr>
          <p:cNvPr id="221" name="Google Shape;221;p3"/>
          <p:cNvSpPr/>
          <p:nvPr/>
        </p:nvSpPr>
        <p:spPr>
          <a:xfrm>
            <a:off x="0" y="5012872"/>
            <a:ext cx="9144000" cy="130725"/>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7" name="Google Shape;227;g34a8cbec04a_0_0"/>
          <p:cNvPicPr preferRelativeResize="0"/>
          <p:nvPr/>
        </p:nvPicPr>
        <p:blipFill rotWithShape="1">
          <a:blip r:embed="rId3">
            <a:alphaModFix/>
          </a:blip>
          <a:srcRect t="7983" b="7805"/>
          <a:stretch/>
        </p:blipFill>
        <p:spPr>
          <a:xfrm>
            <a:off x="0" y="0"/>
            <a:ext cx="9161919" cy="5143500"/>
          </a:xfrm>
          <a:prstGeom prst="rect">
            <a:avLst/>
          </a:prstGeom>
          <a:noFill/>
          <a:ln>
            <a:noFill/>
          </a:ln>
        </p:spPr>
      </p:pic>
      <p:sp>
        <p:nvSpPr>
          <p:cNvPr id="228" name="Google Shape;228;g34a8cbec04a_0_0"/>
          <p:cNvSpPr/>
          <p:nvPr/>
        </p:nvSpPr>
        <p:spPr>
          <a:xfrm>
            <a:off x="0" y="0"/>
            <a:ext cx="9144000" cy="5143500"/>
          </a:xfrm>
          <a:prstGeom prst="rect">
            <a:avLst/>
          </a:prstGeom>
          <a:solidFill>
            <a:schemeClr val="dk1">
              <a:alpha val="61569"/>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chemeClr val="lt1"/>
              </a:buClr>
              <a:buSzPts val="1800"/>
              <a:buFont typeface="Meiryo"/>
              <a:buNone/>
            </a:pPr>
            <a:r>
              <a:rPr lang="ja" sz="1800" b="1" i="0" u="none" strike="noStrike" cap="none">
                <a:solidFill>
                  <a:schemeClr val="lt1"/>
                </a:solidFill>
                <a:latin typeface="Meiryo"/>
                <a:ea typeface="Meiryo"/>
                <a:cs typeface="Meiryo"/>
                <a:sym typeface="Meiryo"/>
              </a:rPr>
              <a:t>　</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9" name="Google Shape;229;g34a8cbec04a_0_0"/>
          <p:cNvSpPr txBox="1"/>
          <p:nvPr/>
        </p:nvSpPr>
        <p:spPr>
          <a:xfrm>
            <a:off x="1487900" y="495300"/>
            <a:ext cx="5849100" cy="768300"/>
          </a:xfrm>
          <a:prstGeom prst="rect">
            <a:avLst/>
          </a:prstGeom>
          <a:noFill/>
          <a:ln>
            <a:noFill/>
          </a:ln>
        </p:spPr>
        <p:txBody>
          <a:bodyPr spcFirstLastPara="1" wrap="square" lIns="68575" tIns="34275" rIns="68575" bIns="34275" anchor="ctr" anchorCtr="0">
            <a:noAutofit/>
          </a:bodyPr>
          <a:lstStyle/>
          <a:p>
            <a:pPr marL="0" marR="0" lvl="0" indent="0" algn="ctr" rtl="0">
              <a:lnSpc>
                <a:spcPct val="200000"/>
              </a:lnSpc>
              <a:spcBef>
                <a:spcPts val="0"/>
              </a:spcBef>
              <a:spcAft>
                <a:spcPts val="0"/>
              </a:spcAft>
              <a:buClr>
                <a:schemeClr val="lt1"/>
              </a:buClr>
              <a:buSzPts val="1800"/>
              <a:buFont typeface="Meiryo"/>
              <a:buNone/>
            </a:pPr>
            <a:r>
              <a:rPr lang="ja" sz="2000" b="1" i="0" u="none" strike="noStrike" cap="none">
                <a:solidFill>
                  <a:schemeClr val="lt1"/>
                </a:solidFill>
                <a:latin typeface="Meiryo"/>
                <a:ea typeface="Meiryo"/>
                <a:cs typeface="Meiryo"/>
                <a:sym typeface="Meiryo"/>
              </a:rPr>
              <a:t>Mission｜既存のワイン流通をアップデートする</a:t>
            </a:r>
            <a:endParaRPr sz="1200" b="0" i="0" u="none" strike="noStrike" cap="none">
              <a:solidFill>
                <a:srgbClr val="000000"/>
              </a:solidFill>
              <a:latin typeface="Arial"/>
              <a:ea typeface="Arial"/>
              <a:cs typeface="Arial"/>
              <a:sym typeface="Arial"/>
            </a:endParaRPr>
          </a:p>
        </p:txBody>
      </p:sp>
      <p:sp>
        <p:nvSpPr>
          <p:cNvPr id="230" name="Google Shape;230;g34a8cbec04a_0_0"/>
          <p:cNvSpPr txBox="1"/>
          <p:nvPr/>
        </p:nvSpPr>
        <p:spPr>
          <a:xfrm>
            <a:off x="1495692" y="1136255"/>
            <a:ext cx="6646200" cy="851400"/>
          </a:xfrm>
          <a:prstGeom prst="rect">
            <a:avLst/>
          </a:prstGeom>
          <a:no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chemeClr val="lt1"/>
              </a:buClr>
              <a:buSzPts val="1800"/>
              <a:buFont typeface="Meiryo"/>
              <a:buNone/>
            </a:pPr>
            <a:r>
              <a:rPr lang="ja" sz="2000" b="1" i="0" u="none" strike="noStrike" cap="none">
                <a:solidFill>
                  <a:schemeClr val="lt1"/>
                </a:solidFill>
                <a:latin typeface="Meiryo"/>
                <a:ea typeface="Meiryo"/>
                <a:cs typeface="Meiryo"/>
                <a:sym typeface="Meiryo"/>
              </a:rPr>
              <a:t>　Vision｜全ての人にファインワインを</a:t>
            </a:r>
            <a:endParaRPr sz="1200" b="0" i="0" u="none" strike="noStrike" cap="none">
              <a:solidFill>
                <a:srgbClr val="000000"/>
              </a:solidFill>
              <a:latin typeface="Arial"/>
              <a:ea typeface="Arial"/>
              <a:cs typeface="Arial"/>
              <a:sym typeface="Arial"/>
            </a:endParaRPr>
          </a:p>
        </p:txBody>
      </p:sp>
      <p:sp>
        <p:nvSpPr>
          <p:cNvPr id="231" name="Google Shape;231;g34a8cbec04a_0_0"/>
          <p:cNvSpPr txBox="1"/>
          <p:nvPr/>
        </p:nvSpPr>
        <p:spPr>
          <a:xfrm>
            <a:off x="1418500" y="2199894"/>
            <a:ext cx="6541500" cy="2437500"/>
          </a:xfrm>
          <a:prstGeom prst="rect">
            <a:avLst/>
          </a:prstGeom>
          <a:no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chemeClr val="lt1"/>
              </a:buClr>
              <a:buSzPts val="1800"/>
              <a:buFont typeface="Meiryo"/>
              <a:buNone/>
            </a:pPr>
            <a:r>
              <a:rPr lang="ja" sz="1000" b="1" i="0" u="none" strike="noStrike" cap="none">
                <a:solidFill>
                  <a:schemeClr val="lt1"/>
                </a:solidFill>
                <a:latin typeface="Meiryo"/>
                <a:ea typeface="Meiryo"/>
                <a:cs typeface="Meiryo"/>
                <a:sym typeface="Meiryo"/>
              </a:rPr>
              <a:t>５年以内に100億相当のワインをクラウドワインリストへ。</a:t>
            </a:r>
            <a:endParaRPr sz="10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 sz="1000" b="1" i="0" u="none" strike="noStrike" cap="none">
                <a:solidFill>
                  <a:schemeClr val="lt1"/>
                </a:solidFill>
                <a:latin typeface="Meiryo"/>
                <a:ea typeface="Meiryo"/>
                <a:cs typeface="Meiryo"/>
                <a:sym typeface="Meiryo"/>
              </a:rPr>
              <a:t>「Cloud Cave」を個人会員と飲食店会員向けに提供し、ワイン流通に変革をもたらします。</a:t>
            </a:r>
            <a:endParaRPr sz="10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 sz="900" b="1" i="0" u="none" strike="noStrike" cap="none">
                <a:solidFill>
                  <a:schemeClr val="lt1"/>
                </a:solidFill>
                <a:latin typeface="Meiryo"/>
                <a:ea typeface="Meiryo"/>
                <a:cs typeface="Meiryo"/>
                <a:sym typeface="Meiryo"/>
              </a:rPr>
              <a:t>・　個人も飲食店も、時価（インターネット最安値）でワインを仕入れることが可能になり、大手ECやオークションなどの</a:t>
            </a: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 sz="900" b="1" i="0" u="none" strike="noStrike" cap="none">
                <a:solidFill>
                  <a:schemeClr val="lt1"/>
                </a:solidFill>
                <a:latin typeface="Meiryo"/>
                <a:ea typeface="Meiryo"/>
                <a:cs typeface="Meiryo"/>
                <a:sym typeface="Meiryo"/>
              </a:rPr>
              <a:t>　　中間マージンの負担がなくなります。</a:t>
            </a:r>
            <a:endParaRPr sz="4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 sz="900" b="1" i="0" u="none" strike="noStrike" cap="none">
                <a:solidFill>
                  <a:schemeClr val="lt1"/>
                </a:solidFill>
                <a:latin typeface="Meiryo"/>
                <a:ea typeface="Meiryo"/>
                <a:cs typeface="Meiryo"/>
                <a:sym typeface="Meiryo"/>
              </a:rPr>
              <a:t>・　飲食店会員は高額なワインを店内に在庫しなくてもワインリストが華やぎ、CF上のメリットも。</a:t>
            </a:r>
            <a:endParaRPr sz="1100" b="0" i="0" u="none" strike="noStrike" cap="none">
              <a:solidFill>
                <a:srgbClr val="000000"/>
              </a:solidFill>
              <a:latin typeface="Arial"/>
              <a:ea typeface="Arial"/>
              <a:cs typeface="Arial"/>
              <a:sym typeface="Arial"/>
            </a:endParaRPr>
          </a:p>
          <a:p>
            <a:pPr marL="0" marR="0" lvl="0" indent="0" algn="l" rtl="0">
              <a:lnSpc>
                <a:spcPct val="200000"/>
              </a:lnSpc>
              <a:spcBef>
                <a:spcPts val="0"/>
              </a:spcBef>
              <a:spcAft>
                <a:spcPts val="0"/>
              </a:spcAft>
              <a:buClr>
                <a:schemeClr val="lt1"/>
              </a:buClr>
              <a:buSzPts val="1800"/>
              <a:buFont typeface="Meiryo"/>
              <a:buNone/>
            </a:pPr>
            <a:r>
              <a:rPr lang="ja" sz="900" b="1" i="0" u="none" strike="noStrike" cap="none">
                <a:solidFill>
                  <a:schemeClr val="lt1"/>
                </a:solidFill>
                <a:latin typeface="Meiryo"/>
                <a:ea typeface="Meiryo"/>
                <a:cs typeface="Meiryo"/>
                <a:sym typeface="Meiryo"/>
              </a:rPr>
              <a:t>・　自己利用や贈答含めて50万本の在庫にアクセスでき、時価で入手できるメリットがあります。</a:t>
            </a: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rgbClr val="000000"/>
              </a:buClr>
              <a:buSzPts val="900"/>
              <a:buFont typeface="Arial"/>
              <a:buNone/>
            </a:pPr>
            <a:r>
              <a:rPr lang="ja" sz="900" b="1" i="0" u="none" strike="noStrike" cap="none">
                <a:solidFill>
                  <a:schemeClr val="lt1"/>
                </a:solidFill>
                <a:latin typeface="Meiryo"/>
                <a:ea typeface="Meiryo"/>
                <a:cs typeface="Meiryo"/>
                <a:sym typeface="Meiryo"/>
              </a:rPr>
              <a:t>「Cloud Cave」をご自身のセラー代わりに利用し、いつでもどこでも安心・安全なファインワインを楽しめる世の中に。</a:t>
            </a:r>
            <a:endParaRPr sz="1100" b="0" i="0" u="none" strike="noStrike" cap="none">
              <a:solidFill>
                <a:srgbClr val="000000"/>
              </a:solidFill>
              <a:latin typeface="Arial"/>
              <a:ea typeface="Arial"/>
              <a:cs typeface="Arial"/>
              <a:sym typeface="Arial"/>
            </a:endParaRPr>
          </a:p>
        </p:txBody>
      </p:sp>
      <p:sp>
        <p:nvSpPr>
          <p:cNvPr id="232" name="Google Shape;232;g34a8cbec04a_0_0"/>
          <p:cNvSpPr/>
          <p:nvPr/>
        </p:nvSpPr>
        <p:spPr>
          <a:xfrm>
            <a:off x="4291247" y="4848004"/>
            <a:ext cx="586200" cy="125400"/>
          </a:xfrm>
          <a:prstGeom prst="roundRect">
            <a:avLst>
              <a:gd name="adj" fmla="val 3217"/>
            </a:avLst>
          </a:prstGeom>
          <a:noFill/>
          <a:ln w="9525" cap="flat" cmpd="sng">
            <a:solidFill>
              <a:srgbClr val="FF0000"/>
            </a:solidFill>
            <a:prstDash val="solid"/>
            <a:miter lim="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34a8cbec04a_0_765"/>
          <p:cNvSpPr txBox="1"/>
          <p:nvPr/>
        </p:nvSpPr>
        <p:spPr>
          <a:xfrm>
            <a:off x="239554" y="287179"/>
            <a:ext cx="14748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経営陣紹介</a:t>
            </a:r>
            <a:endParaRPr sz="1200" b="0" i="0" u="none" strike="noStrike" cap="none">
              <a:solidFill>
                <a:srgbClr val="000000"/>
              </a:solidFill>
              <a:latin typeface="Meiryo"/>
              <a:ea typeface="Meiryo"/>
              <a:cs typeface="Meiryo"/>
              <a:sym typeface="Meiryo"/>
            </a:endParaRPr>
          </a:p>
        </p:txBody>
      </p:sp>
      <p:sp>
        <p:nvSpPr>
          <p:cNvPr id="239" name="Google Shape;239;g34a8cbec04a_0_765"/>
          <p:cNvSpPr txBox="1"/>
          <p:nvPr/>
        </p:nvSpPr>
        <p:spPr>
          <a:xfrm>
            <a:off x="3559195" y="469410"/>
            <a:ext cx="5274900" cy="38634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a:solidFill>
                  <a:srgbClr val="000000"/>
                </a:solidFill>
                <a:latin typeface="Meiryo"/>
                <a:ea typeface="Meiryo"/>
                <a:cs typeface="Meiryo"/>
                <a:sym typeface="Meiryo"/>
              </a:rPr>
              <a:t>生年月日　</a:t>
            </a:r>
            <a:r>
              <a:rPr lang="ja" sz="800" b="0" i="0" u="none" strike="noStrike" cap="none">
                <a:solidFill>
                  <a:srgbClr val="000000"/>
                </a:solidFill>
                <a:latin typeface="Meiryo"/>
                <a:ea typeface="Meiryo"/>
                <a:cs typeface="Meiryo"/>
                <a:sym typeface="Meiryo"/>
              </a:rPr>
              <a:t>　1979年03月13日</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1" i="0" u="none" strike="noStrike" cap="none">
                <a:solidFill>
                  <a:srgbClr val="000000"/>
                </a:solidFill>
                <a:latin typeface="Meiryo"/>
                <a:ea typeface="Meiryo"/>
                <a:cs typeface="Meiryo"/>
                <a:sym typeface="Meiryo"/>
              </a:rPr>
              <a:t>最終学歴</a:t>
            </a:r>
            <a:r>
              <a:rPr lang="ja" sz="800" b="0" i="0" u="none" strike="noStrike" cap="none">
                <a:solidFill>
                  <a:srgbClr val="000000"/>
                </a:solidFill>
                <a:latin typeface="Meiryo"/>
                <a:ea typeface="Meiryo"/>
                <a:cs typeface="Meiryo"/>
                <a:sym typeface="Meiryo"/>
              </a:rPr>
              <a:t>　　東洋大学 工学部卒業</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1" i="0" u="none" strike="noStrike" cap="none">
                <a:solidFill>
                  <a:srgbClr val="000000"/>
                </a:solidFill>
                <a:latin typeface="Meiryo"/>
                <a:ea typeface="Meiryo"/>
                <a:cs typeface="Meiryo"/>
                <a:sym typeface="Meiryo"/>
              </a:rPr>
              <a:t>職歴</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2001年04月　　株式会社モリモト入社</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（不動産投資事業部にて不動産購入・売却及び不動産証券化に携わる）</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2003年09月　　株式会社モリモト退社</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2003年10月　　株式会社LEXINGTON入社</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（富裕層向け資産コンサルティング）</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2006年06月　　株式会社LEXINGTON退社（株式会社Seven Signatures転籍）</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2006年07月　　株式会社Seven Signatures取締役就任</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（Hotel-Condo事業開発・投資スキーム構築・国内不動産開発に携わる）</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2008年07月　　株式会社あどばる設立　代表取締役社長就任</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2020年07月　　株式会社WineBankをM&amp;Aにて100％取得し、代表取締役就任</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2021年12月　　株式会社あどばる、東証プライム上場株式会社ビジョングループ入り(50.1％)</a:t>
            </a:r>
            <a:endParaRPr sz="14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2024年6月　　  株式会社アピシウスをM&amp;Aにて100％取得し、代表取締役就任</a:t>
            </a:r>
            <a:endParaRPr sz="1400" b="0" i="0" u="none" strike="noStrike" cap="none">
              <a:solidFill>
                <a:srgbClr val="000000"/>
              </a:solidFill>
              <a:latin typeface="Meiryo"/>
              <a:ea typeface="Meiryo"/>
              <a:cs typeface="Meiryo"/>
              <a:sym typeface="Meiryo"/>
            </a:endParaRPr>
          </a:p>
        </p:txBody>
      </p:sp>
      <p:sp>
        <p:nvSpPr>
          <p:cNvPr id="240" name="Google Shape;240;g34a8cbec04a_0_765"/>
          <p:cNvSpPr txBox="1"/>
          <p:nvPr/>
        </p:nvSpPr>
        <p:spPr>
          <a:xfrm>
            <a:off x="336420" y="2344609"/>
            <a:ext cx="2088000" cy="585000"/>
          </a:xfrm>
          <a:prstGeom prst="rect">
            <a:avLst/>
          </a:prstGeom>
          <a:noFill/>
          <a:ln>
            <a:noFill/>
          </a:ln>
        </p:spPr>
        <p:txBody>
          <a:bodyPr spcFirstLastPara="1" wrap="square" lIns="68550" tIns="34275" rIns="68550" bIns="34275" anchor="t" anchorCtr="0">
            <a:spAutoFit/>
          </a:bodyPr>
          <a:lstStyle/>
          <a:p>
            <a:pPr marL="0" marR="0" lvl="0" indent="0" algn="l" rtl="0">
              <a:lnSpc>
                <a:spcPct val="150000"/>
              </a:lnSpc>
              <a:spcBef>
                <a:spcPts val="0"/>
              </a:spcBef>
              <a:spcAft>
                <a:spcPts val="0"/>
              </a:spcAft>
              <a:buClr>
                <a:srgbClr val="000000"/>
              </a:buClr>
              <a:buSzPts val="1500"/>
              <a:buFont typeface="Arial"/>
              <a:buNone/>
            </a:pPr>
            <a:r>
              <a:rPr lang="ja" sz="1500" b="1" i="0" u="none" strike="noStrike" cap="none">
                <a:solidFill>
                  <a:srgbClr val="000000"/>
                </a:solidFill>
                <a:latin typeface="Meiryo"/>
                <a:ea typeface="Meiryo"/>
                <a:cs typeface="Meiryo"/>
                <a:sym typeface="Meiryo"/>
              </a:rPr>
              <a:t>中野 邦人</a:t>
            </a:r>
            <a:endParaRPr sz="15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 sz="1100" b="1" i="0" u="none" strike="noStrike" cap="none">
                <a:solidFill>
                  <a:srgbClr val="D5AA8F"/>
                </a:solidFill>
                <a:latin typeface="Meiryo"/>
                <a:ea typeface="Meiryo"/>
                <a:cs typeface="Meiryo"/>
                <a:sym typeface="Meiryo"/>
              </a:rPr>
              <a:t>Kunihito　Nakano</a:t>
            </a:r>
            <a:endParaRPr sz="1100" b="1" i="0" u="none" strike="noStrike" cap="none">
              <a:solidFill>
                <a:srgbClr val="D5AA8F"/>
              </a:solidFill>
              <a:latin typeface="Meiryo"/>
              <a:ea typeface="Meiryo"/>
              <a:cs typeface="Meiryo"/>
              <a:sym typeface="Meiryo"/>
            </a:endParaRPr>
          </a:p>
        </p:txBody>
      </p:sp>
      <p:sp>
        <p:nvSpPr>
          <p:cNvPr id="241" name="Google Shape;241;g34a8cbec04a_0_765"/>
          <p:cNvSpPr/>
          <p:nvPr/>
        </p:nvSpPr>
        <p:spPr>
          <a:xfrm>
            <a:off x="369819" y="2991437"/>
            <a:ext cx="2789700" cy="1809000"/>
          </a:xfrm>
          <a:prstGeom prst="rect">
            <a:avLst/>
          </a:prstGeom>
          <a:noFill/>
          <a:ln>
            <a:noFill/>
          </a:ln>
        </p:spPr>
        <p:txBody>
          <a:bodyPr spcFirstLastPara="1" wrap="square" lIns="68550" tIns="34275" rIns="68550" bIns="34275" anchor="t" anchorCtr="0">
            <a:noAutofit/>
          </a:bodyPr>
          <a:lstStyle/>
          <a:p>
            <a:pPr marL="0" marR="0" lvl="0" indent="0" algn="l" rtl="0">
              <a:lnSpc>
                <a:spcPct val="15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株式会社Seven Signaturesにて、Donald Trump氏とハワイでTrump tower Waikiki プロジェクトに関わり1日あたりの売上高のギネス記録樹立。</a:t>
            </a:r>
            <a:endParaRPr sz="800" b="0" i="0" u="none" strike="noStrike" cap="none">
              <a:solidFill>
                <a:srgbClr val="000000"/>
              </a:solidFill>
              <a:latin typeface="Meiryo"/>
              <a:ea typeface="Meiryo"/>
              <a:cs typeface="Meiryo"/>
              <a:sym typeface="Meiryo"/>
            </a:endParaRPr>
          </a:p>
          <a:p>
            <a:pPr marL="0" marR="0" lvl="0" indent="0" algn="l" rtl="0">
              <a:lnSpc>
                <a:spcPct val="150000"/>
              </a:lnSpc>
              <a:spcBef>
                <a:spcPts val="4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担当役員として学んだ不動産業のスペースシェアリング事業にて、飲食・宿泊・会議などの時間貸しコンテンツをあどばるで事業展開。</a:t>
            </a:r>
            <a:endParaRPr sz="800" b="0" i="0" u="none" strike="noStrike" cap="none">
              <a:solidFill>
                <a:srgbClr val="000000"/>
              </a:solidFill>
              <a:latin typeface="Meiryo"/>
              <a:ea typeface="Meiryo"/>
              <a:cs typeface="Meiryo"/>
              <a:sym typeface="Meiryo"/>
            </a:endParaRPr>
          </a:p>
          <a:p>
            <a:pPr marL="0" marR="0" lvl="0" indent="0" algn="l" rtl="0">
              <a:lnSpc>
                <a:spcPct val="150000"/>
              </a:lnSpc>
              <a:spcBef>
                <a:spcPts val="4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あどばる含め４社上場企業グループ入りを決断し、現在シリアルアントレプレナーとして株式会社WineBankGroupを拡大中</a:t>
            </a:r>
            <a:endParaRPr sz="800" b="0" i="0" u="none" strike="noStrike" cap="none">
              <a:solidFill>
                <a:srgbClr val="000000"/>
              </a:solidFill>
              <a:latin typeface="Meiryo"/>
              <a:ea typeface="Meiryo"/>
              <a:cs typeface="Meiryo"/>
              <a:sym typeface="Meiryo"/>
            </a:endParaRPr>
          </a:p>
        </p:txBody>
      </p:sp>
      <p:sp>
        <p:nvSpPr>
          <p:cNvPr id="242" name="Google Shape;242;g34a8cbec04a_0_765"/>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pic>
        <p:nvPicPr>
          <p:cNvPr id="243" name="Google Shape;243;g34a8cbec04a_0_765"/>
          <p:cNvPicPr preferRelativeResize="0"/>
          <p:nvPr/>
        </p:nvPicPr>
        <p:blipFill rotWithShape="1">
          <a:blip r:embed="rId3">
            <a:alphaModFix/>
          </a:blip>
          <a:srcRect/>
          <a:stretch/>
        </p:blipFill>
        <p:spPr>
          <a:xfrm>
            <a:off x="369819" y="734983"/>
            <a:ext cx="2206682" cy="154754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34a8cbec04a_0_799"/>
          <p:cNvSpPr txBox="1"/>
          <p:nvPr/>
        </p:nvSpPr>
        <p:spPr>
          <a:xfrm>
            <a:off x="239554" y="287179"/>
            <a:ext cx="10191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会社沿革</a:t>
            </a:r>
            <a:endParaRPr sz="1400" b="1" i="0" u="none" strike="noStrike" cap="none">
              <a:solidFill>
                <a:srgbClr val="000000"/>
              </a:solidFill>
              <a:latin typeface="Meiryo"/>
              <a:ea typeface="Meiryo"/>
              <a:cs typeface="Meiryo"/>
              <a:sym typeface="Meiryo"/>
            </a:endParaRPr>
          </a:p>
        </p:txBody>
      </p:sp>
      <p:sp>
        <p:nvSpPr>
          <p:cNvPr id="250" name="Google Shape;250;g34a8cbec04a_0_799"/>
          <p:cNvSpPr txBox="1"/>
          <p:nvPr/>
        </p:nvSpPr>
        <p:spPr>
          <a:xfrm>
            <a:off x="239554" y="644517"/>
            <a:ext cx="6351600" cy="40404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1970年10月	北海道札幌で有限会社中村 開業</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1996年よりワイン販売注力、2007年レストラン ル・ヴァンテールオープン（2017年に譲渡）</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2007年05月		楽天市場出店開始</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（2025年2月現在、Yahooショッピング, Terrada Wine Marketにも出店中）</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2011年04月		ラ・ブリック（レストラン）、カーヴ・ド・ブリック（ワインショップ）オープン</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2020年07月	有限会社中村をM＆A</a:t>
            </a:r>
            <a:endParaRPr sz="14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2021年12月	第三者割当増資により株式会社PrivateBANKより3,750万円を調達</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2022年05月		Wine Cave Roppongiオープン</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2022年07月		ワインファンド1号開始</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2022年09月	株式会社WineBankに社名変更</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2022年09-10月	第三者割当増資により株式会社イノベーション・株式会社ベクトル・寺田倉庫株式会社より8,582万円を調達</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2023年02月		ワイン投資プラットフォーム「WineBank」リリース</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2023年09月		マーケットプレイスを見据えた所有ワイン登録サービス リリース</a:t>
            </a:r>
            <a:endParaRPr sz="800" b="0" i="0" u="none" strike="noStrike" cap="none">
              <a:solidFill>
                <a:srgbClr val="000000"/>
              </a:solidFill>
              <a:latin typeface="Meiryo"/>
              <a:ea typeface="Meiryo"/>
              <a:cs typeface="Meiryo"/>
              <a:sym typeface="Meiryo"/>
            </a:endParaRPr>
          </a:p>
          <a:p>
            <a:pPr marL="0" marR="0" lvl="2" indent="0" algn="l" rtl="0">
              <a:lnSpc>
                <a:spcPct val="200000"/>
              </a:lnSpc>
              <a:spcBef>
                <a:spcPts val="500"/>
              </a:spcBef>
              <a:spcAft>
                <a:spcPts val="0"/>
              </a:spcAft>
              <a:buClr>
                <a:srgbClr val="000000"/>
              </a:buClr>
              <a:buSzPts val="800"/>
              <a:buFont typeface="Arial"/>
              <a:buNone/>
            </a:pPr>
            <a:r>
              <a:rPr lang="ja" sz="800" b="1" i="0" u="none" strike="noStrike" cap="none">
                <a:solidFill>
                  <a:srgbClr val="000000"/>
                </a:solidFill>
                <a:latin typeface="Meiryo"/>
                <a:ea typeface="Meiryo"/>
                <a:cs typeface="Meiryo"/>
                <a:sym typeface="Meiryo"/>
              </a:rPr>
              <a:t>　　　　　　　　　</a:t>
            </a:r>
            <a:r>
              <a:rPr lang="ja" sz="800" b="0" i="0" u="none" strike="noStrike" cap="none">
                <a:solidFill>
                  <a:srgbClr val="000000"/>
                </a:solidFill>
                <a:latin typeface="Meiryo"/>
                <a:ea typeface="Meiryo"/>
                <a:cs typeface="Meiryo"/>
                <a:sym typeface="Meiryo"/>
              </a:rPr>
              <a:t>第三者割当増資によりマネーフォワードベンチャーパートナーズ株式会社より1.5億円を調達</a:t>
            </a:r>
            <a:endParaRPr sz="800" b="0" i="0" u="none" strike="noStrike" cap="none">
              <a:solidFill>
                <a:srgbClr val="000000"/>
              </a:solidFill>
              <a:latin typeface="Meiryo"/>
              <a:ea typeface="Meiryo"/>
              <a:cs typeface="Meiryo"/>
              <a:sym typeface="Meiryo"/>
            </a:endParaRPr>
          </a:p>
          <a:p>
            <a:pPr marL="0" marR="0" lvl="2"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2024年06月		株式会社アペックスより株式会社アピシウス株式を合同会社WineBank P3にて100%取得</a:t>
            </a:r>
            <a:endParaRPr sz="1400" b="0" i="0" u="none" strike="noStrike" cap="none">
              <a:solidFill>
                <a:srgbClr val="000000"/>
              </a:solidFill>
              <a:latin typeface="Meiryo"/>
              <a:ea typeface="Meiryo"/>
              <a:cs typeface="Meiryo"/>
              <a:sym typeface="Meiryo"/>
            </a:endParaRPr>
          </a:p>
        </p:txBody>
      </p:sp>
      <p:pic>
        <p:nvPicPr>
          <p:cNvPr id="251" name="Google Shape;251;g34a8cbec04a_0_799"/>
          <p:cNvPicPr preferRelativeResize="0"/>
          <p:nvPr/>
        </p:nvPicPr>
        <p:blipFill rotWithShape="1">
          <a:blip r:embed="rId3">
            <a:alphaModFix/>
          </a:blip>
          <a:srcRect/>
          <a:stretch/>
        </p:blipFill>
        <p:spPr>
          <a:xfrm>
            <a:off x="6523988" y="3273695"/>
            <a:ext cx="2626784" cy="1759847"/>
          </a:xfrm>
          <a:prstGeom prst="rect">
            <a:avLst/>
          </a:prstGeom>
          <a:noFill/>
          <a:ln>
            <a:noFill/>
          </a:ln>
        </p:spPr>
      </p:pic>
      <p:pic>
        <p:nvPicPr>
          <p:cNvPr id="252" name="Google Shape;252;g34a8cbec04a_0_799"/>
          <p:cNvPicPr preferRelativeResize="0"/>
          <p:nvPr/>
        </p:nvPicPr>
        <p:blipFill rotWithShape="1">
          <a:blip r:embed="rId4">
            <a:alphaModFix/>
          </a:blip>
          <a:srcRect/>
          <a:stretch/>
        </p:blipFill>
        <p:spPr>
          <a:xfrm>
            <a:off x="6523689" y="1736165"/>
            <a:ext cx="2626784" cy="1543477"/>
          </a:xfrm>
          <a:prstGeom prst="rect">
            <a:avLst/>
          </a:prstGeom>
          <a:noFill/>
          <a:ln>
            <a:noFill/>
          </a:ln>
        </p:spPr>
      </p:pic>
      <p:sp>
        <p:nvSpPr>
          <p:cNvPr id="253" name="Google Shape;253;g34a8cbec04a_0_799"/>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FFFFFF"/>
              </a:solidFill>
              <a:latin typeface="Arial"/>
              <a:ea typeface="Arial"/>
              <a:cs typeface="Arial"/>
              <a:sym typeface="Arial"/>
            </a:endParaRPr>
          </a:p>
        </p:txBody>
      </p:sp>
      <p:pic>
        <p:nvPicPr>
          <p:cNvPr id="254" name="Google Shape;254;g34a8cbec04a_0_799"/>
          <p:cNvPicPr preferRelativeResize="0"/>
          <p:nvPr/>
        </p:nvPicPr>
        <p:blipFill rotWithShape="1">
          <a:blip r:embed="rId5">
            <a:alphaModFix/>
          </a:blip>
          <a:srcRect/>
          <a:stretch/>
        </p:blipFill>
        <p:spPr>
          <a:xfrm>
            <a:off x="6523373" y="0"/>
            <a:ext cx="2620628" cy="1736165"/>
          </a:xfrm>
          <a:prstGeom prst="rect">
            <a:avLst/>
          </a:prstGeom>
          <a:noFill/>
          <a:ln>
            <a:noFill/>
          </a:ln>
        </p:spPr>
      </p:pic>
      <p:sp>
        <p:nvSpPr>
          <p:cNvPr id="255" name="Google Shape;255;g34a8cbec04a_0_799"/>
          <p:cNvSpPr/>
          <p:nvPr/>
        </p:nvSpPr>
        <p:spPr>
          <a:xfrm>
            <a:off x="1258550" y="1068247"/>
            <a:ext cx="729600" cy="133500"/>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ワインEC事業</a:t>
            </a:r>
            <a:endParaRPr sz="600" b="0" i="0" u="none" strike="noStrike" cap="none">
              <a:solidFill>
                <a:srgbClr val="000000"/>
              </a:solidFill>
              <a:latin typeface="Arial"/>
              <a:ea typeface="Arial"/>
              <a:cs typeface="Arial"/>
              <a:sym typeface="Arial"/>
            </a:endParaRPr>
          </a:p>
        </p:txBody>
      </p:sp>
      <p:sp>
        <p:nvSpPr>
          <p:cNvPr id="256" name="Google Shape;256;g34a8cbec04a_0_799"/>
          <p:cNvSpPr/>
          <p:nvPr/>
        </p:nvSpPr>
        <p:spPr>
          <a:xfrm>
            <a:off x="1258550" y="1491977"/>
            <a:ext cx="729600" cy="133500"/>
          </a:xfrm>
          <a:prstGeom prst="rect">
            <a:avLst/>
          </a:prstGeom>
          <a:solidFill>
            <a:srgbClr val="36394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飲食事業</a:t>
            </a:r>
            <a:endParaRPr sz="600" b="0" i="0" u="none" strike="noStrike" cap="none">
              <a:solidFill>
                <a:srgbClr val="000000"/>
              </a:solidFill>
              <a:latin typeface="Arial"/>
              <a:ea typeface="Arial"/>
              <a:cs typeface="Arial"/>
              <a:sym typeface="Arial"/>
            </a:endParaRPr>
          </a:p>
        </p:txBody>
      </p:sp>
      <p:sp>
        <p:nvSpPr>
          <p:cNvPr id="257" name="Google Shape;257;g34a8cbec04a_0_799"/>
          <p:cNvSpPr/>
          <p:nvPr/>
        </p:nvSpPr>
        <p:spPr>
          <a:xfrm>
            <a:off x="1258550" y="2425300"/>
            <a:ext cx="729600" cy="133500"/>
          </a:xfrm>
          <a:prstGeom prst="rect">
            <a:avLst/>
          </a:prstGeom>
          <a:solidFill>
            <a:srgbClr val="36394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飲食事業</a:t>
            </a:r>
            <a:endParaRPr sz="600" b="0" i="0" u="none" strike="noStrike" cap="none">
              <a:solidFill>
                <a:srgbClr val="000000"/>
              </a:solidFill>
              <a:latin typeface="Arial"/>
              <a:ea typeface="Arial"/>
              <a:cs typeface="Arial"/>
              <a:sym typeface="Arial"/>
            </a:endParaRPr>
          </a:p>
        </p:txBody>
      </p:sp>
      <p:sp>
        <p:nvSpPr>
          <p:cNvPr id="258" name="Google Shape;258;g34a8cbec04a_0_799"/>
          <p:cNvSpPr/>
          <p:nvPr/>
        </p:nvSpPr>
        <p:spPr>
          <a:xfrm>
            <a:off x="1258550" y="3638434"/>
            <a:ext cx="729600" cy="133500"/>
          </a:xfrm>
          <a:prstGeom prst="rect">
            <a:avLst/>
          </a:prstGeom>
          <a:solidFill>
            <a:schemeClr val="accent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ワインテック事業</a:t>
            </a:r>
            <a:endParaRPr sz="600" b="0" i="0" u="none" strike="noStrike" cap="none">
              <a:solidFill>
                <a:srgbClr val="000000"/>
              </a:solidFill>
              <a:latin typeface="Arial"/>
              <a:ea typeface="Arial"/>
              <a:cs typeface="Arial"/>
              <a:sym typeface="Arial"/>
            </a:endParaRPr>
          </a:p>
        </p:txBody>
      </p:sp>
      <p:sp>
        <p:nvSpPr>
          <p:cNvPr id="259" name="Google Shape;259;g34a8cbec04a_0_799"/>
          <p:cNvSpPr/>
          <p:nvPr/>
        </p:nvSpPr>
        <p:spPr>
          <a:xfrm>
            <a:off x="1258550" y="3965089"/>
            <a:ext cx="729600" cy="133500"/>
          </a:xfrm>
          <a:prstGeom prst="rect">
            <a:avLst/>
          </a:prstGeom>
          <a:solidFill>
            <a:schemeClr val="accent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ワインテック事業</a:t>
            </a:r>
            <a:endParaRPr sz="600" b="0" i="0" u="none" strike="noStrike" cap="none">
              <a:solidFill>
                <a:srgbClr val="000000"/>
              </a:solidFill>
              <a:latin typeface="Arial"/>
              <a:ea typeface="Arial"/>
              <a:cs typeface="Arial"/>
              <a:sym typeface="Arial"/>
            </a:endParaRPr>
          </a:p>
        </p:txBody>
      </p:sp>
      <p:sp>
        <p:nvSpPr>
          <p:cNvPr id="260" name="Google Shape;260;g34a8cbec04a_0_799"/>
          <p:cNvSpPr/>
          <p:nvPr/>
        </p:nvSpPr>
        <p:spPr>
          <a:xfrm>
            <a:off x="1258550" y="4581244"/>
            <a:ext cx="729600" cy="133500"/>
          </a:xfrm>
          <a:prstGeom prst="rect">
            <a:avLst/>
          </a:prstGeom>
          <a:solidFill>
            <a:srgbClr val="36394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飲食事業</a:t>
            </a:r>
            <a:endParaRPr sz="600" b="0" i="0" u="none" strike="noStrike" cap="none">
              <a:solidFill>
                <a:srgbClr val="000000"/>
              </a:solidFill>
              <a:latin typeface="Arial"/>
              <a:ea typeface="Arial"/>
              <a:cs typeface="Arial"/>
              <a:sym typeface="Arial"/>
            </a:endParaRPr>
          </a:p>
        </p:txBody>
      </p:sp>
      <p:sp>
        <p:nvSpPr>
          <p:cNvPr id="261" name="Google Shape;261;g34a8cbec04a_0_799"/>
          <p:cNvSpPr/>
          <p:nvPr/>
        </p:nvSpPr>
        <p:spPr>
          <a:xfrm>
            <a:off x="1258550" y="2753255"/>
            <a:ext cx="729600" cy="133500"/>
          </a:xfrm>
          <a:prstGeom prst="rect">
            <a:avLst/>
          </a:prstGeom>
          <a:solidFill>
            <a:schemeClr val="accent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ワインテック事業</a:t>
            </a:r>
            <a:endParaRPr sz="6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4"/>
          <p:cNvSpPr/>
          <p:nvPr/>
        </p:nvSpPr>
        <p:spPr>
          <a:xfrm>
            <a:off x="3123526" y="3178394"/>
            <a:ext cx="5656332" cy="1602463"/>
          </a:xfrm>
          <a:prstGeom prst="roundRect">
            <a:avLst>
              <a:gd name="adj" fmla="val 16667"/>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267" name="Google Shape;267;p34"/>
          <p:cNvSpPr/>
          <p:nvPr/>
        </p:nvSpPr>
        <p:spPr>
          <a:xfrm>
            <a:off x="3123526" y="1127274"/>
            <a:ext cx="5656332" cy="1969542"/>
          </a:xfrm>
          <a:prstGeom prst="roundRect">
            <a:avLst>
              <a:gd name="adj" fmla="val 16667"/>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268" name="Google Shape;268;p34"/>
          <p:cNvSpPr txBox="1"/>
          <p:nvPr/>
        </p:nvSpPr>
        <p:spPr>
          <a:xfrm>
            <a:off x="239549" y="270849"/>
            <a:ext cx="3496800" cy="28466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株主及び主要提携先</a:t>
            </a:r>
            <a:endParaRPr sz="1400" b="1" i="0" u="none" strike="noStrike" cap="none">
              <a:solidFill>
                <a:srgbClr val="000000"/>
              </a:solidFill>
              <a:latin typeface="Meiryo"/>
              <a:ea typeface="Meiryo"/>
              <a:cs typeface="Meiryo"/>
              <a:sym typeface="Meiryo"/>
            </a:endParaRPr>
          </a:p>
        </p:txBody>
      </p:sp>
      <p:sp>
        <p:nvSpPr>
          <p:cNvPr id="269" name="Google Shape;269;p34"/>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Zen Kaku Gothic New"/>
              <a:ea typeface="Zen Kaku Gothic New"/>
              <a:cs typeface="Zen Kaku Gothic New"/>
              <a:sym typeface="Zen Kaku Gothic New"/>
            </a:endParaRPr>
          </a:p>
        </p:txBody>
      </p:sp>
      <p:grpSp>
        <p:nvGrpSpPr>
          <p:cNvPr id="270" name="Google Shape;270;p34"/>
          <p:cNvGrpSpPr/>
          <p:nvPr/>
        </p:nvGrpSpPr>
        <p:grpSpPr>
          <a:xfrm>
            <a:off x="4207040" y="3555559"/>
            <a:ext cx="4249660" cy="1039358"/>
            <a:chOff x="3862853" y="3583862"/>
            <a:chExt cx="4729525" cy="1156721"/>
          </a:xfrm>
        </p:grpSpPr>
        <p:pic>
          <p:nvPicPr>
            <p:cNvPr id="271" name="Google Shape;271;p34"/>
            <p:cNvPicPr preferRelativeResize="0"/>
            <p:nvPr/>
          </p:nvPicPr>
          <p:blipFill rotWithShape="1">
            <a:blip r:embed="rId3">
              <a:alphaModFix/>
            </a:blip>
            <a:srcRect/>
            <a:stretch/>
          </p:blipFill>
          <p:spPr>
            <a:xfrm>
              <a:off x="3862853" y="3583862"/>
              <a:ext cx="1244967" cy="362342"/>
            </a:xfrm>
            <a:prstGeom prst="rect">
              <a:avLst/>
            </a:prstGeom>
            <a:noFill/>
            <a:ln>
              <a:noFill/>
            </a:ln>
          </p:spPr>
        </p:pic>
        <p:pic>
          <p:nvPicPr>
            <p:cNvPr id="272" name="Google Shape;272;p34"/>
            <p:cNvPicPr preferRelativeResize="0"/>
            <p:nvPr/>
          </p:nvPicPr>
          <p:blipFill rotWithShape="1">
            <a:blip r:embed="rId4">
              <a:alphaModFix/>
            </a:blip>
            <a:srcRect/>
            <a:stretch/>
          </p:blipFill>
          <p:spPr>
            <a:xfrm>
              <a:off x="5446153" y="4192421"/>
              <a:ext cx="1635491" cy="278777"/>
            </a:xfrm>
            <a:prstGeom prst="rect">
              <a:avLst/>
            </a:prstGeom>
            <a:noFill/>
            <a:ln>
              <a:noFill/>
            </a:ln>
          </p:spPr>
        </p:pic>
        <p:pic>
          <p:nvPicPr>
            <p:cNvPr id="273" name="Google Shape;273;p34"/>
            <p:cNvPicPr preferRelativeResize="0"/>
            <p:nvPr/>
          </p:nvPicPr>
          <p:blipFill rotWithShape="1">
            <a:blip r:embed="rId5">
              <a:alphaModFix/>
            </a:blip>
            <a:srcRect/>
            <a:stretch/>
          </p:blipFill>
          <p:spPr>
            <a:xfrm>
              <a:off x="5474526" y="3600303"/>
              <a:ext cx="1578741" cy="329476"/>
            </a:xfrm>
            <a:prstGeom prst="rect">
              <a:avLst/>
            </a:prstGeom>
            <a:noFill/>
            <a:ln>
              <a:noFill/>
            </a:ln>
          </p:spPr>
        </p:pic>
        <p:pic>
          <p:nvPicPr>
            <p:cNvPr id="274" name="Google Shape;274;p34"/>
            <p:cNvPicPr preferRelativeResize="0"/>
            <p:nvPr/>
          </p:nvPicPr>
          <p:blipFill rotWithShape="1">
            <a:blip r:embed="rId6">
              <a:alphaModFix/>
            </a:blip>
            <a:srcRect/>
            <a:stretch/>
          </p:blipFill>
          <p:spPr>
            <a:xfrm>
              <a:off x="7343769" y="4116899"/>
              <a:ext cx="1248609" cy="481962"/>
            </a:xfrm>
            <a:prstGeom prst="rect">
              <a:avLst/>
            </a:prstGeom>
            <a:noFill/>
            <a:ln>
              <a:noFill/>
            </a:ln>
          </p:spPr>
        </p:pic>
        <p:pic>
          <p:nvPicPr>
            <p:cNvPr id="275" name="Google Shape;275;p34"/>
            <p:cNvPicPr preferRelativeResize="0"/>
            <p:nvPr/>
          </p:nvPicPr>
          <p:blipFill rotWithShape="1">
            <a:blip r:embed="rId7">
              <a:alphaModFix/>
            </a:blip>
            <a:srcRect/>
            <a:stretch/>
          </p:blipFill>
          <p:spPr>
            <a:xfrm>
              <a:off x="4023643" y="4115613"/>
              <a:ext cx="957812" cy="624970"/>
            </a:xfrm>
            <a:prstGeom prst="rect">
              <a:avLst/>
            </a:prstGeom>
            <a:noFill/>
            <a:ln>
              <a:noFill/>
            </a:ln>
          </p:spPr>
        </p:pic>
        <p:pic>
          <p:nvPicPr>
            <p:cNvPr id="276" name="Google Shape;276;p34"/>
            <p:cNvPicPr preferRelativeResize="0"/>
            <p:nvPr/>
          </p:nvPicPr>
          <p:blipFill rotWithShape="1">
            <a:blip r:embed="rId8">
              <a:alphaModFix/>
            </a:blip>
            <a:srcRect/>
            <a:stretch/>
          </p:blipFill>
          <p:spPr>
            <a:xfrm>
              <a:off x="7343769" y="3587991"/>
              <a:ext cx="1248608" cy="331999"/>
            </a:xfrm>
            <a:prstGeom prst="rect">
              <a:avLst/>
            </a:prstGeom>
            <a:noFill/>
            <a:ln>
              <a:noFill/>
            </a:ln>
          </p:spPr>
        </p:pic>
      </p:grpSp>
      <p:sp>
        <p:nvSpPr>
          <p:cNvPr id="277" name="Google Shape;277;p34"/>
          <p:cNvSpPr txBox="1"/>
          <p:nvPr/>
        </p:nvSpPr>
        <p:spPr>
          <a:xfrm>
            <a:off x="3316378" y="3867708"/>
            <a:ext cx="834669" cy="469329"/>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300" b="1" i="0" u="none" strike="noStrike" cap="none">
                <a:solidFill>
                  <a:schemeClr val="dk1"/>
                </a:solidFill>
                <a:latin typeface="Meiryo"/>
                <a:ea typeface="Meiryo"/>
                <a:cs typeface="Meiryo"/>
                <a:sym typeface="Meiryo"/>
              </a:rPr>
              <a:t>主要</a:t>
            </a:r>
            <a:endParaRPr sz="1300" b="1" i="0" u="none" strike="noStrike" cap="none">
              <a:solidFill>
                <a:schemeClr val="dk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1300" b="1" i="0" u="none" strike="noStrike" cap="none">
                <a:solidFill>
                  <a:schemeClr val="dk1"/>
                </a:solidFill>
                <a:latin typeface="Meiryo"/>
                <a:ea typeface="Meiryo"/>
                <a:cs typeface="Meiryo"/>
                <a:sym typeface="Meiryo"/>
              </a:rPr>
              <a:t>提携先</a:t>
            </a:r>
            <a:endParaRPr sz="1200" b="0" i="0" u="none" strike="noStrike" cap="none">
              <a:solidFill>
                <a:srgbClr val="000000"/>
              </a:solidFill>
              <a:latin typeface="Meiryo"/>
              <a:ea typeface="Meiryo"/>
              <a:cs typeface="Meiryo"/>
              <a:sym typeface="Meiryo"/>
            </a:endParaRPr>
          </a:p>
        </p:txBody>
      </p:sp>
      <p:sp>
        <p:nvSpPr>
          <p:cNvPr id="278" name="Google Shape;278;p34"/>
          <p:cNvSpPr txBox="1"/>
          <p:nvPr/>
        </p:nvSpPr>
        <p:spPr>
          <a:xfrm>
            <a:off x="0" y="629836"/>
            <a:ext cx="9144000" cy="332167"/>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chemeClr val="lt1"/>
                </a:solidFill>
                <a:latin typeface="Meiryo"/>
                <a:ea typeface="Meiryo"/>
                <a:cs typeface="Meiryo"/>
                <a:sym typeface="Meiryo"/>
              </a:rPr>
              <a:t>大手事業会社や投資家の皆様にサポート頂いております</a:t>
            </a:r>
            <a:endParaRPr sz="1400" b="1" i="0" u="none" strike="noStrike" cap="none">
              <a:solidFill>
                <a:schemeClr val="lt1"/>
              </a:solidFill>
              <a:latin typeface="Meiryo"/>
              <a:ea typeface="Meiryo"/>
              <a:cs typeface="Meiryo"/>
              <a:sym typeface="Meiryo"/>
            </a:endParaRPr>
          </a:p>
        </p:txBody>
      </p:sp>
      <p:sp>
        <p:nvSpPr>
          <p:cNvPr id="279" name="Google Shape;279;p34"/>
          <p:cNvSpPr txBox="1"/>
          <p:nvPr/>
        </p:nvSpPr>
        <p:spPr>
          <a:xfrm>
            <a:off x="387419" y="3366295"/>
            <a:ext cx="1848979" cy="11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0"/>
              <a:buFont typeface="Arial"/>
              <a:buNone/>
            </a:pPr>
            <a:r>
              <a:rPr lang="ja" sz="8000" b="1" i="0" u="none" strike="noStrike" cap="none">
                <a:solidFill>
                  <a:srgbClr val="C68A65"/>
                </a:solidFill>
                <a:latin typeface="Meiryo"/>
                <a:ea typeface="Meiryo"/>
                <a:cs typeface="Meiryo"/>
                <a:sym typeface="Meiryo"/>
              </a:rPr>
              <a:t>32</a:t>
            </a:r>
            <a:endParaRPr sz="8000" b="1" i="0" u="none" strike="noStrike" cap="none">
              <a:solidFill>
                <a:srgbClr val="C68A65"/>
              </a:solidFill>
              <a:latin typeface="Meiryo"/>
              <a:ea typeface="Meiryo"/>
              <a:cs typeface="Meiryo"/>
              <a:sym typeface="Meiryo"/>
            </a:endParaRPr>
          </a:p>
        </p:txBody>
      </p:sp>
      <p:sp>
        <p:nvSpPr>
          <p:cNvPr id="280" name="Google Shape;280;p34"/>
          <p:cNvSpPr txBox="1"/>
          <p:nvPr/>
        </p:nvSpPr>
        <p:spPr>
          <a:xfrm>
            <a:off x="331011" y="3037653"/>
            <a:ext cx="2049300" cy="362400"/>
          </a:xfrm>
          <a:prstGeom prst="rect">
            <a:avLst/>
          </a:prstGeom>
          <a:solidFill>
            <a:srgbClr val="C68A6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ja" sz="1600" b="1" i="0" u="none" strike="noStrike" cap="none">
                <a:solidFill>
                  <a:schemeClr val="lt1"/>
                </a:solidFill>
                <a:latin typeface="Meiryo"/>
                <a:ea typeface="Meiryo"/>
                <a:cs typeface="Meiryo"/>
                <a:sym typeface="Meiryo"/>
              </a:rPr>
              <a:t>ワイン在庫</a:t>
            </a:r>
            <a:r>
              <a:rPr lang="ja" sz="1200" b="1" i="0" u="none" strike="noStrike" cap="none">
                <a:solidFill>
                  <a:schemeClr val="lt1"/>
                </a:solidFill>
                <a:latin typeface="Meiryo"/>
                <a:ea typeface="Meiryo"/>
                <a:cs typeface="Meiryo"/>
                <a:sym typeface="Meiryo"/>
              </a:rPr>
              <a:t>(管理含む）</a:t>
            </a:r>
            <a:endParaRPr sz="1600" b="1" i="0" u="none" strike="noStrike" cap="none">
              <a:solidFill>
                <a:schemeClr val="lt1"/>
              </a:solidFill>
              <a:latin typeface="Meiryo"/>
              <a:ea typeface="Meiryo"/>
              <a:cs typeface="Meiryo"/>
              <a:sym typeface="Meiryo"/>
            </a:endParaRPr>
          </a:p>
        </p:txBody>
      </p:sp>
      <p:pic>
        <p:nvPicPr>
          <p:cNvPr id="281" name="Google Shape;281;p34"/>
          <p:cNvPicPr preferRelativeResize="0"/>
          <p:nvPr/>
        </p:nvPicPr>
        <p:blipFill rotWithShape="1">
          <a:blip r:embed="rId9">
            <a:alphaModFix/>
          </a:blip>
          <a:srcRect/>
          <a:stretch/>
        </p:blipFill>
        <p:spPr>
          <a:xfrm>
            <a:off x="6587130" y="2511880"/>
            <a:ext cx="1690157" cy="283972"/>
          </a:xfrm>
          <a:prstGeom prst="rect">
            <a:avLst/>
          </a:prstGeom>
          <a:noFill/>
          <a:ln>
            <a:noFill/>
          </a:ln>
        </p:spPr>
      </p:pic>
      <p:sp>
        <p:nvSpPr>
          <p:cNvPr id="282" name="Google Shape;282;p34"/>
          <p:cNvSpPr txBox="1"/>
          <p:nvPr/>
        </p:nvSpPr>
        <p:spPr>
          <a:xfrm>
            <a:off x="3518908" y="2012272"/>
            <a:ext cx="656672" cy="269274"/>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300" b="1" i="0" u="none" strike="noStrike" cap="none">
                <a:solidFill>
                  <a:schemeClr val="dk1"/>
                </a:solidFill>
                <a:latin typeface="Meiryo"/>
                <a:ea typeface="Meiryo"/>
                <a:cs typeface="Meiryo"/>
                <a:sym typeface="Meiryo"/>
              </a:rPr>
              <a:t>株主</a:t>
            </a:r>
            <a:endParaRPr sz="1200" b="0" i="0" u="none" strike="noStrike" cap="none">
              <a:solidFill>
                <a:srgbClr val="000000"/>
              </a:solidFill>
              <a:latin typeface="Meiryo"/>
              <a:ea typeface="Meiryo"/>
              <a:cs typeface="Meiryo"/>
              <a:sym typeface="Meiryo"/>
            </a:endParaRPr>
          </a:p>
        </p:txBody>
      </p:sp>
      <p:sp>
        <p:nvSpPr>
          <p:cNvPr id="283" name="Google Shape;283;p34"/>
          <p:cNvSpPr/>
          <p:nvPr/>
        </p:nvSpPr>
        <p:spPr>
          <a:xfrm>
            <a:off x="4272514" y="1319453"/>
            <a:ext cx="1595909" cy="307739"/>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東証プライム上場</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マネーフォワードグループ</a:t>
            </a:r>
            <a:endParaRPr sz="800" b="0" i="0" u="none" strike="noStrike" cap="none">
              <a:solidFill>
                <a:srgbClr val="000000"/>
              </a:solidFill>
              <a:latin typeface="Meiryo"/>
              <a:ea typeface="Meiryo"/>
              <a:cs typeface="Meiryo"/>
              <a:sym typeface="Meiryo"/>
            </a:endParaRPr>
          </a:p>
        </p:txBody>
      </p:sp>
      <p:sp>
        <p:nvSpPr>
          <p:cNvPr id="284" name="Google Shape;284;p34"/>
          <p:cNvSpPr/>
          <p:nvPr/>
        </p:nvSpPr>
        <p:spPr>
          <a:xfrm>
            <a:off x="6664473" y="1319475"/>
            <a:ext cx="1321500" cy="307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東証プライム上場</a:t>
            </a:r>
            <a:endParaRPr sz="800" b="0" i="0" u="none" strike="noStrike" cap="none">
              <a:solidFill>
                <a:srgbClr val="000000"/>
              </a:solidFill>
              <a:latin typeface="Meiryo"/>
              <a:ea typeface="Meiryo"/>
              <a:cs typeface="Meiryo"/>
              <a:sym typeface="Meiryo"/>
            </a:endParaRPr>
          </a:p>
        </p:txBody>
      </p:sp>
      <p:sp>
        <p:nvSpPr>
          <p:cNvPr id="285" name="Google Shape;285;p34"/>
          <p:cNvSpPr/>
          <p:nvPr/>
        </p:nvSpPr>
        <p:spPr>
          <a:xfrm>
            <a:off x="6451501" y="2178918"/>
            <a:ext cx="1746102" cy="307739"/>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超富裕層向けファミリーオフィス</a:t>
            </a:r>
            <a:endParaRPr sz="800" b="0" i="0" u="none" strike="noStrike" cap="none">
              <a:solidFill>
                <a:srgbClr val="000000"/>
              </a:solidFill>
              <a:latin typeface="Meiryo"/>
              <a:ea typeface="Meiryo"/>
              <a:cs typeface="Meiryo"/>
              <a:sym typeface="Meiryo"/>
            </a:endParaRPr>
          </a:p>
        </p:txBody>
      </p:sp>
      <p:sp>
        <p:nvSpPr>
          <p:cNvPr id="286" name="Google Shape;286;p34"/>
          <p:cNvSpPr/>
          <p:nvPr/>
        </p:nvSpPr>
        <p:spPr>
          <a:xfrm>
            <a:off x="4314797" y="2152820"/>
            <a:ext cx="1371230" cy="307739"/>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独立系最大の倉庫会社</a:t>
            </a:r>
            <a:endParaRPr sz="800" b="0" i="0" u="none" strike="noStrike" cap="none">
              <a:solidFill>
                <a:srgbClr val="000000"/>
              </a:solidFill>
              <a:latin typeface="Meiryo"/>
              <a:ea typeface="Meiryo"/>
              <a:cs typeface="Meiryo"/>
              <a:sym typeface="Meiryo"/>
            </a:endParaRPr>
          </a:p>
        </p:txBody>
      </p:sp>
      <p:grpSp>
        <p:nvGrpSpPr>
          <p:cNvPr id="287" name="Google Shape;287;p34"/>
          <p:cNvGrpSpPr/>
          <p:nvPr/>
        </p:nvGrpSpPr>
        <p:grpSpPr>
          <a:xfrm>
            <a:off x="239549" y="1194161"/>
            <a:ext cx="2823320" cy="1445831"/>
            <a:chOff x="611507" y="1537109"/>
            <a:chExt cx="2425817" cy="1445831"/>
          </a:xfrm>
        </p:grpSpPr>
        <p:sp>
          <p:nvSpPr>
            <p:cNvPr id="288" name="Google Shape;288;p34"/>
            <p:cNvSpPr txBox="1"/>
            <p:nvPr/>
          </p:nvSpPr>
          <p:spPr>
            <a:xfrm>
              <a:off x="611507" y="1811440"/>
              <a:ext cx="1715708" cy="11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0"/>
                <a:buFont typeface="Arial"/>
                <a:buNone/>
              </a:pPr>
              <a:r>
                <a:rPr lang="ja" sz="8000" b="1" i="0" u="none" strike="noStrike" cap="none">
                  <a:solidFill>
                    <a:srgbClr val="C68A65"/>
                  </a:solidFill>
                  <a:latin typeface="Meiryo"/>
                  <a:ea typeface="Meiryo"/>
                  <a:cs typeface="Meiryo"/>
                  <a:sym typeface="Meiryo"/>
                </a:rPr>
                <a:t>9.5</a:t>
              </a:r>
              <a:endParaRPr sz="2600" b="0" i="0" u="none" strike="noStrike" cap="none">
                <a:solidFill>
                  <a:srgbClr val="C68A65"/>
                </a:solidFill>
                <a:latin typeface="Meiryo"/>
                <a:ea typeface="Meiryo"/>
                <a:cs typeface="Meiryo"/>
                <a:sym typeface="Meiryo"/>
              </a:endParaRPr>
            </a:p>
          </p:txBody>
        </p:sp>
        <p:sp>
          <p:nvSpPr>
            <p:cNvPr id="289" name="Google Shape;289;p34"/>
            <p:cNvSpPr txBox="1"/>
            <p:nvPr/>
          </p:nvSpPr>
          <p:spPr>
            <a:xfrm>
              <a:off x="686064" y="1537109"/>
              <a:ext cx="1329900" cy="362400"/>
            </a:xfrm>
            <a:prstGeom prst="rect">
              <a:avLst/>
            </a:prstGeom>
            <a:solidFill>
              <a:srgbClr val="C68A65"/>
            </a:solidFill>
            <a:ln w="9525" cap="flat" cmpd="sng">
              <a:solidFill>
                <a:srgbClr val="C68A6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ja" sz="1600" b="1" i="0" u="none" strike="noStrike" cap="none">
                  <a:solidFill>
                    <a:schemeClr val="lt1"/>
                  </a:solidFill>
                  <a:latin typeface="Meiryo"/>
                  <a:ea typeface="Meiryo"/>
                  <a:cs typeface="Meiryo"/>
                  <a:sym typeface="Meiryo"/>
                </a:rPr>
                <a:t>累計調達額</a:t>
              </a:r>
              <a:endParaRPr sz="1600" b="1" i="0" u="none" strike="noStrike" cap="none">
                <a:solidFill>
                  <a:schemeClr val="lt1"/>
                </a:solidFill>
                <a:latin typeface="Meiryo"/>
                <a:ea typeface="Meiryo"/>
                <a:cs typeface="Meiryo"/>
                <a:sym typeface="Meiryo"/>
              </a:endParaRPr>
            </a:p>
          </p:txBody>
        </p:sp>
        <p:sp>
          <p:nvSpPr>
            <p:cNvPr id="290" name="Google Shape;290;p34"/>
            <p:cNvSpPr txBox="1"/>
            <p:nvPr/>
          </p:nvSpPr>
          <p:spPr>
            <a:xfrm>
              <a:off x="2157467" y="2454993"/>
              <a:ext cx="87985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 sz="2400" b="1" i="0" u="none" strike="noStrike" cap="none">
                  <a:solidFill>
                    <a:srgbClr val="C68A65"/>
                  </a:solidFill>
                  <a:latin typeface="Meiryo"/>
                  <a:ea typeface="Meiryo"/>
                  <a:cs typeface="Meiryo"/>
                  <a:sym typeface="Meiryo"/>
                </a:rPr>
                <a:t>億円</a:t>
              </a:r>
              <a:endParaRPr sz="2400" b="1" i="0" u="none" strike="noStrike" cap="none">
                <a:solidFill>
                  <a:srgbClr val="C68A65"/>
                </a:solidFill>
                <a:latin typeface="Meiryo"/>
                <a:ea typeface="Meiryo"/>
                <a:cs typeface="Meiryo"/>
                <a:sym typeface="Meiryo"/>
              </a:endParaRPr>
            </a:p>
          </p:txBody>
        </p:sp>
      </p:grpSp>
      <p:sp>
        <p:nvSpPr>
          <p:cNvPr id="291" name="Google Shape;291;p34"/>
          <p:cNvSpPr txBox="1"/>
          <p:nvPr/>
        </p:nvSpPr>
        <p:spPr>
          <a:xfrm>
            <a:off x="1897433" y="3975632"/>
            <a:ext cx="87985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 sz="2400" b="1" i="0" u="none" strike="noStrike" cap="none">
                <a:solidFill>
                  <a:srgbClr val="C68A65"/>
                </a:solidFill>
                <a:latin typeface="Meiryo"/>
                <a:ea typeface="Meiryo"/>
                <a:cs typeface="Meiryo"/>
                <a:sym typeface="Meiryo"/>
              </a:rPr>
              <a:t>億円</a:t>
            </a:r>
            <a:endParaRPr sz="2400" b="1" i="0" u="none" strike="noStrike" cap="none">
              <a:solidFill>
                <a:srgbClr val="C68A65"/>
              </a:solidFill>
              <a:latin typeface="Meiryo"/>
              <a:ea typeface="Meiryo"/>
              <a:cs typeface="Meiryo"/>
              <a:sym typeface="Meiryo"/>
            </a:endParaRPr>
          </a:p>
        </p:txBody>
      </p:sp>
      <p:pic>
        <p:nvPicPr>
          <p:cNvPr id="292" name="Google Shape;292;p34" title="2019_Terrada_logo_透過.png"/>
          <p:cNvPicPr preferRelativeResize="0"/>
          <p:nvPr/>
        </p:nvPicPr>
        <p:blipFill rotWithShape="1">
          <a:blip r:embed="rId10">
            <a:alphaModFix/>
          </a:blip>
          <a:srcRect/>
          <a:stretch/>
        </p:blipFill>
        <p:spPr>
          <a:xfrm>
            <a:off x="4445017" y="2445874"/>
            <a:ext cx="1387483" cy="362400"/>
          </a:xfrm>
          <a:prstGeom prst="rect">
            <a:avLst/>
          </a:prstGeom>
          <a:noFill/>
          <a:ln>
            <a:noFill/>
          </a:ln>
        </p:spPr>
      </p:pic>
      <p:pic>
        <p:nvPicPr>
          <p:cNvPr id="293" name="Google Shape;293;p34" title="logo_vector.png"/>
          <p:cNvPicPr preferRelativeResize="0"/>
          <p:nvPr/>
        </p:nvPicPr>
        <p:blipFill rotWithShape="1">
          <a:blip r:embed="rId11">
            <a:alphaModFix/>
          </a:blip>
          <a:srcRect/>
          <a:stretch/>
        </p:blipFill>
        <p:spPr>
          <a:xfrm>
            <a:off x="6451700" y="1552575"/>
            <a:ext cx="1644550" cy="545991"/>
          </a:xfrm>
          <a:prstGeom prst="rect">
            <a:avLst/>
          </a:prstGeom>
          <a:noFill/>
          <a:ln>
            <a:noFill/>
          </a:ln>
        </p:spPr>
      </p:pic>
      <p:pic>
        <p:nvPicPr>
          <p:cNvPr id="294" name="Google Shape;294;p34" title="MFVPロゴ.png"/>
          <p:cNvPicPr preferRelativeResize="0"/>
          <p:nvPr/>
        </p:nvPicPr>
        <p:blipFill rotWithShape="1">
          <a:blip r:embed="rId12">
            <a:alphaModFix/>
          </a:blip>
          <a:srcRect/>
          <a:stretch/>
        </p:blipFill>
        <p:spPr>
          <a:xfrm>
            <a:off x="4259297" y="1631074"/>
            <a:ext cx="2293902" cy="395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34a8cbec04a_0_180"/>
          <p:cNvSpPr txBox="1"/>
          <p:nvPr/>
        </p:nvSpPr>
        <p:spPr>
          <a:xfrm>
            <a:off x="2200166" y="2196149"/>
            <a:ext cx="4743600" cy="417600"/>
          </a:xfrm>
          <a:prstGeom prst="rect">
            <a:avLst/>
          </a:prstGeom>
          <a:noFill/>
          <a:ln>
            <a:noFill/>
          </a:ln>
        </p:spPr>
        <p:txBody>
          <a:bodyPr spcFirstLastPara="1" wrap="square" lIns="78225" tIns="39125" rIns="78225" bIns="39125"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ja" sz="2200" b="1" i="0" u="none" strike="noStrike" cap="none">
                <a:solidFill>
                  <a:srgbClr val="171616"/>
                </a:solidFill>
                <a:latin typeface="Meiryo"/>
                <a:ea typeface="Meiryo"/>
                <a:cs typeface="Meiryo"/>
                <a:sym typeface="Meiryo"/>
              </a:rPr>
              <a:t>BUSINESS INTRODUCTION</a:t>
            </a:r>
            <a:endParaRPr sz="1100" b="0" i="0" u="none" strike="noStrike" cap="none">
              <a:solidFill>
                <a:srgbClr val="000000"/>
              </a:solidFill>
              <a:latin typeface="Arial"/>
              <a:ea typeface="Arial"/>
              <a:cs typeface="Arial"/>
              <a:sym typeface="Arial"/>
            </a:endParaRPr>
          </a:p>
        </p:txBody>
      </p:sp>
      <p:sp>
        <p:nvSpPr>
          <p:cNvPr id="300" name="Google Shape;300;g34a8cbec04a_0_180"/>
          <p:cNvSpPr txBox="1"/>
          <p:nvPr/>
        </p:nvSpPr>
        <p:spPr>
          <a:xfrm>
            <a:off x="3789759" y="2758010"/>
            <a:ext cx="1564500" cy="202200"/>
          </a:xfrm>
          <a:prstGeom prst="rect">
            <a:avLst/>
          </a:prstGeom>
          <a:noFill/>
          <a:ln>
            <a:noFill/>
          </a:ln>
        </p:spPr>
        <p:txBody>
          <a:bodyPr spcFirstLastPara="1" wrap="square" lIns="78225" tIns="39125" rIns="78225" bIns="39125"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ja" sz="800" b="0" i="0" u="none" strike="noStrike" cap="none">
                <a:solidFill>
                  <a:srgbClr val="595959"/>
                </a:solidFill>
                <a:latin typeface="Meiryo"/>
                <a:ea typeface="Meiryo"/>
                <a:cs typeface="Meiryo"/>
                <a:sym typeface="Meiryo"/>
              </a:rPr>
              <a:t>事業紹介</a:t>
            </a:r>
            <a:endParaRPr sz="1100" b="0" i="0" u="none" strike="noStrike" cap="none">
              <a:solidFill>
                <a:srgbClr val="000000"/>
              </a:solidFill>
              <a:latin typeface="Arial"/>
              <a:ea typeface="Arial"/>
              <a:cs typeface="Arial"/>
              <a:sym typeface="Arial"/>
            </a:endParaRPr>
          </a:p>
        </p:txBody>
      </p:sp>
      <p:cxnSp>
        <p:nvCxnSpPr>
          <p:cNvPr id="301" name="Google Shape;301;g34a8cbec04a_0_180"/>
          <p:cNvCxnSpPr/>
          <p:nvPr/>
        </p:nvCxnSpPr>
        <p:spPr>
          <a:xfrm>
            <a:off x="4446270" y="2644140"/>
            <a:ext cx="258900" cy="0"/>
          </a:xfrm>
          <a:prstGeom prst="straightConnector1">
            <a:avLst/>
          </a:prstGeom>
          <a:noFill/>
          <a:ln w="9525" cap="flat" cmpd="sng">
            <a:solidFill>
              <a:srgbClr val="A5A5A5"/>
            </a:solidFill>
            <a:prstDash val="solid"/>
            <a:miter lim="0"/>
            <a:headEnd type="none" w="sm" len="sm"/>
            <a:tailEnd type="none" w="sm" len="sm"/>
          </a:ln>
        </p:spPr>
      </p:cxnSp>
      <p:sp>
        <p:nvSpPr>
          <p:cNvPr id="302" name="Google Shape;302;g34a8cbec04a_0_180"/>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303" name="Google Shape;303;g34a8cbec04a_0_18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8</a:t>
            </a:fld>
            <a:endParaRPr/>
          </a:p>
        </p:txBody>
      </p:sp>
      <p:sp>
        <p:nvSpPr>
          <p:cNvPr id="304" name="Google Shape;304;g34a8cbec04a_0_180"/>
          <p:cNvSpPr/>
          <p:nvPr/>
        </p:nvSpPr>
        <p:spPr>
          <a:xfrm>
            <a:off x="4291247" y="4848004"/>
            <a:ext cx="586200" cy="125400"/>
          </a:xfrm>
          <a:prstGeom prst="roundRect">
            <a:avLst>
              <a:gd name="adj" fmla="val 3217"/>
            </a:avLst>
          </a:prstGeom>
          <a:noFill/>
          <a:ln w="9525" cap="flat" cmpd="sng">
            <a:solidFill>
              <a:srgbClr val="FF0000"/>
            </a:solidFill>
            <a:prstDash val="solid"/>
            <a:miter lim="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pic>
        <p:nvPicPr>
          <p:cNvPr id="309" name="Google Shape;309;g34a8cbec04a_0_189"/>
          <p:cNvPicPr preferRelativeResize="0"/>
          <p:nvPr/>
        </p:nvPicPr>
        <p:blipFill rotWithShape="1">
          <a:blip r:embed="rId3">
            <a:alphaModFix/>
          </a:blip>
          <a:srcRect t="7983" b="7805"/>
          <a:stretch/>
        </p:blipFill>
        <p:spPr>
          <a:xfrm>
            <a:off x="0" y="0"/>
            <a:ext cx="9161919" cy="5143500"/>
          </a:xfrm>
          <a:prstGeom prst="rect">
            <a:avLst/>
          </a:prstGeom>
          <a:noFill/>
          <a:ln>
            <a:noFill/>
          </a:ln>
        </p:spPr>
      </p:pic>
      <p:sp>
        <p:nvSpPr>
          <p:cNvPr id="310" name="Google Shape;310;g34a8cbec04a_0_189"/>
          <p:cNvSpPr/>
          <p:nvPr/>
        </p:nvSpPr>
        <p:spPr>
          <a:xfrm>
            <a:off x="-1" y="0"/>
            <a:ext cx="9144000" cy="5143500"/>
          </a:xfrm>
          <a:prstGeom prst="rect">
            <a:avLst/>
          </a:prstGeom>
          <a:solidFill>
            <a:schemeClr val="dk1">
              <a:alpha val="62353"/>
            </a:schemeClr>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200"/>
              <a:buFont typeface="Arial"/>
              <a:buNone/>
            </a:pPr>
            <a:r>
              <a:rPr lang="ja" sz="1200" b="0" i="0" u="none" strike="noStrike" cap="none">
                <a:solidFill>
                  <a:schemeClr val="lt1"/>
                </a:solidFill>
                <a:latin typeface="Meiryo"/>
                <a:ea typeface="Meiryo"/>
                <a:cs typeface="Meiryo"/>
                <a:sym typeface="Meiryo"/>
              </a:rPr>
              <a:t>　　　　　　　　　　　　　　　　　　　</a:t>
            </a:r>
            <a:endParaRPr sz="1200" b="1" i="0" u="none" strike="noStrike" cap="none">
              <a:solidFill>
                <a:schemeClr val="lt1"/>
              </a:solidFill>
              <a:latin typeface="Meiryo"/>
              <a:ea typeface="Meiryo"/>
              <a:cs typeface="Meiryo"/>
              <a:sym typeface="Meiryo"/>
            </a:endParaRPr>
          </a:p>
        </p:txBody>
      </p:sp>
      <p:sp>
        <p:nvSpPr>
          <p:cNvPr id="311" name="Google Shape;311;g34a8cbec04a_0_189"/>
          <p:cNvSpPr txBox="1"/>
          <p:nvPr/>
        </p:nvSpPr>
        <p:spPr>
          <a:xfrm>
            <a:off x="239766" y="287249"/>
            <a:ext cx="22164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i="0" u="none" strike="noStrike" cap="none">
                <a:solidFill>
                  <a:schemeClr val="lt1"/>
                </a:solidFill>
                <a:latin typeface="Meiryo"/>
                <a:ea typeface="Meiryo"/>
                <a:cs typeface="Meiryo"/>
                <a:sym typeface="Meiryo"/>
              </a:rPr>
              <a:t>事業の強み</a:t>
            </a:r>
            <a:endParaRPr sz="1200" b="1" i="0" u="none" strike="noStrike" cap="none">
              <a:solidFill>
                <a:schemeClr val="lt1"/>
              </a:solidFill>
              <a:latin typeface="Meiryo"/>
              <a:ea typeface="Meiryo"/>
              <a:cs typeface="Meiryo"/>
              <a:sym typeface="Meiryo"/>
            </a:endParaRPr>
          </a:p>
        </p:txBody>
      </p:sp>
      <p:sp>
        <p:nvSpPr>
          <p:cNvPr id="312" name="Google Shape;312;g34a8cbec04a_0_189"/>
          <p:cNvSpPr/>
          <p:nvPr/>
        </p:nvSpPr>
        <p:spPr>
          <a:xfrm>
            <a:off x="790414" y="953146"/>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100"/>
              <a:buFont typeface="Arial"/>
              <a:buNone/>
            </a:pPr>
            <a:r>
              <a:rPr lang="ja" sz="1400" b="0" i="0" u="none" strike="noStrike" cap="none">
                <a:solidFill>
                  <a:schemeClr val="lt1"/>
                </a:solidFill>
                <a:latin typeface="Meiryo"/>
                <a:ea typeface="Meiryo"/>
                <a:cs typeface="Meiryo"/>
                <a:sym typeface="Meiryo"/>
              </a:rPr>
              <a:t>１．創業55年の酒販業実績（昭和の酒販店）</a:t>
            </a:r>
            <a:endParaRPr sz="1400" b="0" i="0" u="none" strike="noStrike" cap="none">
              <a:solidFill>
                <a:schemeClr val="lt1"/>
              </a:solidFill>
              <a:latin typeface="Meiryo"/>
              <a:ea typeface="Meiryo"/>
              <a:cs typeface="Meiryo"/>
              <a:sym typeface="Meiryo"/>
            </a:endParaRPr>
          </a:p>
        </p:txBody>
      </p:sp>
      <p:sp>
        <p:nvSpPr>
          <p:cNvPr id="313" name="Google Shape;313;g34a8cbec04a_0_189"/>
          <p:cNvSpPr/>
          <p:nvPr/>
        </p:nvSpPr>
        <p:spPr>
          <a:xfrm>
            <a:off x="790414" y="1850178"/>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100"/>
              <a:buFont typeface="Arial"/>
              <a:buNone/>
            </a:pPr>
            <a:r>
              <a:rPr lang="ja" sz="1400" b="0" i="0" u="none" strike="noStrike" cap="none">
                <a:solidFill>
                  <a:schemeClr val="lt1"/>
                </a:solidFill>
                <a:latin typeface="Meiryo"/>
                <a:ea typeface="Meiryo"/>
                <a:cs typeface="Meiryo"/>
                <a:sym typeface="Meiryo"/>
              </a:rPr>
              <a:t>２．国内大手有名インポーターからの直接取引による特価・正規品仕入</a:t>
            </a:r>
            <a:endParaRPr sz="1400" b="0" i="0" u="none" strike="noStrike" cap="none">
              <a:solidFill>
                <a:schemeClr val="lt1"/>
              </a:solidFill>
              <a:latin typeface="Arial"/>
              <a:ea typeface="Arial"/>
              <a:cs typeface="Arial"/>
              <a:sym typeface="Arial"/>
            </a:endParaRPr>
          </a:p>
        </p:txBody>
      </p:sp>
      <p:sp>
        <p:nvSpPr>
          <p:cNvPr id="314" name="Google Shape;314;g34a8cbec04a_0_189"/>
          <p:cNvSpPr/>
          <p:nvPr/>
        </p:nvSpPr>
        <p:spPr>
          <a:xfrm>
            <a:off x="790414" y="2747210"/>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100"/>
              <a:buFont typeface="Arial"/>
              <a:buNone/>
            </a:pPr>
            <a:r>
              <a:rPr lang="ja" sz="1400" b="0" i="0" u="none" strike="noStrike" cap="none">
                <a:solidFill>
                  <a:schemeClr val="lt1"/>
                </a:solidFill>
                <a:latin typeface="Meiryo"/>
                <a:ea typeface="Meiryo"/>
                <a:cs typeface="Meiryo"/>
                <a:sym typeface="Meiryo"/>
              </a:rPr>
              <a:t>３．海外輸出入ライセンスを活かしたネットワーク・情報収集・仕入力</a:t>
            </a:r>
            <a:endParaRPr sz="1100" b="0" i="0" u="none" strike="noStrike" cap="none">
              <a:solidFill>
                <a:srgbClr val="000000"/>
              </a:solidFill>
              <a:latin typeface="Arial"/>
              <a:ea typeface="Arial"/>
              <a:cs typeface="Arial"/>
              <a:sym typeface="Arial"/>
            </a:endParaRPr>
          </a:p>
        </p:txBody>
      </p:sp>
      <p:sp>
        <p:nvSpPr>
          <p:cNvPr id="315" name="Google Shape;315;g34a8cbec04a_0_189"/>
          <p:cNvSpPr/>
          <p:nvPr/>
        </p:nvSpPr>
        <p:spPr>
          <a:xfrm>
            <a:off x="790414" y="3644243"/>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400"/>
              <a:buFont typeface="Arial"/>
              <a:buNone/>
            </a:pPr>
            <a:r>
              <a:rPr lang="ja" sz="1400" b="0" i="0" u="none" strike="noStrike" cap="none">
                <a:solidFill>
                  <a:schemeClr val="lt1"/>
                </a:solidFill>
                <a:latin typeface="Meiryo"/>
                <a:ea typeface="Meiryo"/>
                <a:cs typeface="Meiryo"/>
                <a:sym typeface="Meiryo"/>
              </a:rPr>
              <a:t>４．1000名以上のワイン愛好家・富裕層会員規模</a:t>
            </a:r>
            <a:endParaRPr sz="1100" b="0" i="0" u="none" strike="noStrike" cap="none">
              <a:solidFill>
                <a:srgbClr val="000000"/>
              </a:solidFill>
              <a:latin typeface="Arial"/>
              <a:ea typeface="Arial"/>
              <a:cs typeface="Arial"/>
              <a:sym typeface="Arial"/>
            </a:endParaRPr>
          </a:p>
        </p:txBody>
      </p:sp>
      <p:sp>
        <p:nvSpPr>
          <p:cNvPr id="316" name="Google Shape;316;g34a8cbec04a_0_18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9</a:t>
            </a:fld>
            <a:endParaRPr/>
          </a:p>
        </p:txBody>
      </p:sp>
      <p:sp>
        <p:nvSpPr>
          <p:cNvPr id="317" name="Google Shape;317;g34a8cbec04a_0_189"/>
          <p:cNvSpPr/>
          <p:nvPr/>
        </p:nvSpPr>
        <p:spPr>
          <a:xfrm>
            <a:off x="4291247" y="4848004"/>
            <a:ext cx="586200" cy="125400"/>
          </a:xfrm>
          <a:prstGeom prst="roundRect">
            <a:avLst>
              <a:gd name="adj" fmla="val 3217"/>
            </a:avLst>
          </a:prstGeom>
          <a:noFill/>
          <a:ln w="9525" cap="flat" cmpd="sng">
            <a:solidFill>
              <a:srgbClr val="FF0000"/>
            </a:solidFill>
            <a:prstDash val="solid"/>
            <a:miter lim="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
          <p:cNvSpPr/>
          <p:nvPr/>
        </p:nvSpPr>
        <p:spPr>
          <a:xfrm>
            <a:off x="4524759" y="3397772"/>
            <a:ext cx="4301700" cy="1418700"/>
          </a:xfrm>
          <a:prstGeom prst="roundRect">
            <a:avLst>
              <a:gd name="adj" fmla="val 6401"/>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323" name="Google Shape;323;p4"/>
          <p:cNvSpPr/>
          <p:nvPr/>
        </p:nvSpPr>
        <p:spPr>
          <a:xfrm>
            <a:off x="317662" y="3400705"/>
            <a:ext cx="4064400" cy="14157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324" name="Google Shape;324;p4"/>
          <p:cNvSpPr/>
          <p:nvPr/>
        </p:nvSpPr>
        <p:spPr>
          <a:xfrm>
            <a:off x="317662" y="1597399"/>
            <a:ext cx="4064400" cy="14157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325" name="Google Shape;325;p4"/>
          <p:cNvSpPr/>
          <p:nvPr/>
        </p:nvSpPr>
        <p:spPr>
          <a:xfrm>
            <a:off x="4524759" y="1597399"/>
            <a:ext cx="4301700" cy="1418700"/>
          </a:xfrm>
          <a:prstGeom prst="roundRect">
            <a:avLst>
              <a:gd name="adj" fmla="val 6401"/>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326" name="Google Shape;326;p4"/>
          <p:cNvSpPr txBox="1"/>
          <p:nvPr/>
        </p:nvSpPr>
        <p:spPr>
          <a:xfrm>
            <a:off x="239767" y="287249"/>
            <a:ext cx="2013600" cy="28466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事業概要</a:t>
            </a:r>
            <a:endParaRPr sz="1400" b="1" i="0" u="none" strike="noStrike" cap="none">
              <a:solidFill>
                <a:srgbClr val="000000"/>
              </a:solidFill>
              <a:latin typeface="Meiryo"/>
              <a:ea typeface="Meiryo"/>
              <a:cs typeface="Meiryo"/>
              <a:sym typeface="Meiryo"/>
            </a:endParaRPr>
          </a:p>
        </p:txBody>
      </p:sp>
      <p:sp>
        <p:nvSpPr>
          <p:cNvPr id="327" name="Google Shape;327;p4"/>
          <p:cNvSpPr txBox="1"/>
          <p:nvPr/>
        </p:nvSpPr>
        <p:spPr>
          <a:xfrm>
            <a:off x="0" y="673748"/>
            <a:ext cx="9144000" cy="327752"/>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chemeClr val="lt1"/>
                </a:solidFill>
                <a:latin typeface="Meiryo"/>
                <a:ea typeface="Meiryo"/>
                <a:cs typeface="Meiryo"/>
                <a:sym typeface="Meiryo"/>
              </a:rPr>
              <a:t>ワインの仕入れを強みに、オンライン×オフラインでの事業展開</a:t>
            </a:r>
            <a:endParaRPr sz="1400" b="1" i="0" u="none" strike="noStrike" cap="none">
              <a:solidFill>
                <a:schemeClr val="lt1"/>
              </a:solidFill>
              <a:latin typeface="Meiryo"/>
              <a:ea typeface="Meiryo"/>
              <a:cs typeface="Meiryo"/>
              <a:sym typeface="Meiryo"/>
            </a:endParaRPr>
          </a:p>
        </p:txBody>
      </p:sp>
      <p:sp>
        <p:nvSpPr>
          <p:cNvPr id="328" name="Google Shape;328;p4"/>
          <p:cNvSpPr/>
          <p:nvPr/>
        </p:nvSpPr>
        <p:spPr>
          <a:xfrm>
            <a:off x="0" y="503475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329" name="Google Shape;329;p4"/>
          <p:cNvSpPr/>
          <p:nvPr/>
        </p:nvSpPr>
        <p:spPr>
          <a:xfrm>
            <a:off x="6731651" y="3614495"/>
            <a:ext cx="1862100" cy="2739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30373F"/>
                </a:solidFill>
                <a:latin typeface="Meiryo"/>
                <a:ea typeface="Meiryo"/>
                <a:cs typeface="Meiryo"/>
                <a:sym typeface="Meiryo"/>
              </a:rPr>
              <a:t>会員制ワインサロン事業</a:t>
            </a:r>
            <a:endParaRPr sz="1100" b="0" i="0" u="none" strike="noStrike" cap="none">
              <a:solidFill>
                <a:srgbClr val="000000"/>
              </a:solidFill>
              <a:latin typeface="Meiryo"/>
              <a:ea typeface="Meiryo"/>
              <a:cs typeface="Meiryo"/>
              <a:sym typeface="Meiryo"/>
            </a:endParaRPr>
          </a:p>
        </p:txBody>
      </p:sp>
      <p:sp>
        <p:nvSpPr>
          <p:cNvPr id="330" name="Google Shape;330;p4"/>
          <p:cNvSpPr/>
          <p:nvPr/>
        </p:nvSpPr>
        <p:spPr>
          <a:xfrm>
            <a:off x="4835450" y="3802958"/>
            <a:ext cx="1648800" cy="6972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2100" b="1" i="0" u="none" strike="noStrike" cap="none">
                <a:solidFill>
                  <a:srgbClr val="30373F"/>
                </a:solidFill>
                <a:latin typeface="Times New Roman"/>
                <a:ea typeface="Times New Roman"/>
                <a:cs typeface="Times New Roman"/>
                <a:sym typeface="Times New Roman"/>
              </a:rPr>
              <a:t>WineBank</a:t>
            </a:r>
            <a:endParaRPr sz="2100" b="1" i="0" u="none" strike="noStrike" cap="none">
              <a:solidFill>
                <a:srgbClr val="30373F"/>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ja" sz="2100" b="1" i="0" u="none" strike="noStrike" cap="none">
                <a:solidFill>
                  <a:srgbClr val="30373F"/>
                </a:solidFill>
                <a:latin typeface="Times New Roman"/>
                <a:ea typeface="Times New Roman"/>
                <a:cs typeface="Times New Roman"/>
                <a:sym typeface="Times New Roman"/>
              </a:rPr>
              <a:t>CLUB</a:t>
            </a:r>
            <a:endParaRPr sz="1900" b="1" i="0" u="none" strike="noStrike" cap="none">
              <a:solidFill>
                <a:srgbClr val="000000"/>
              </a:solidFill>
              <a:latin typeface="Times New Roman"/>
              <a:ea typeface="Times New Roman"/>
              <a:cs typeface="Times New Roman"/>
              <a:sym typeface="Times New Roman"/>
            </a:endParaRPr>
          </a:p>
        </p:txBody>
      </p:sp>
      <p:sp>
        <p:nvSpPr>
          <p:cNvPr id="331" name="Google Shape;331;p4"/>
          <p:cNvSpPr txBox="1">
            <a:spLocks noGrp="1"/>
          </p:cNvSpPr>
          <p:nvPr>
            <p:ph type="sldNum" idx="12"/>
          </p:nvPr>
        </p:nvSpPr>
        <p:spPr>
          <a:xfrm>
            <a:off x="6965303" y="4763732"/>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US" altLang="ja"/>
              <a:t>10</a:t>
            </a:fld>
            <a:endParaRPr/>
          </a:p>
        </p:txBody>
      </p:sp>
      <p:grpSp>
        <p:nvGrpSpPr>
          <p:cNvPr id="332" name="Google Shape;332;p4"/>
          <p:cNvGrpSpPr/>
          <p:nvPr/>
        </p:nvGrpSpPr>
        <p:grpSpPr>
          <a:xfrm>
            <a:off x="2344911" y="1807849"/>
            <a:ext cx="1966984" cy="1113529"/>
            <a:chOff x="651207" y="3637134"/>
            <a:chExt cx="2938867" cy="1113529"/>
          </a:xfrm>
        </p:grpSpPr>
        <p:sp>
          <p:nvSpPr>
            <p:cNvPr id="333" name="Google Shape;333;p4"/>
            <p:cNvSpPr/>
            <p:nvPr/>
          </p:nvSpPr>
          <p:spPr>
            <a:xfrm>
              <a:off x="651207" y="3876463"/>
              <a:ext cx="2938867" cy="874200"/>
            </a:xfrm>
            <a:prstGeom prst="rect">
              <a:avLst/>
            </a:prstGeom>
            <a:noFill/>
            <a:ln>
              <a:noFill/>
            </a:ln>
          </p:spPr>
          <p:txBody>
            <a:bodyPr spcFirstLastPara="1" wrap="square" lIns="68575" tIns="34275" rIns="68575" bIns="34275" anchor="ctr" anchorCtr="0">
              <a:noAutofit/>
            </a:bodyPr>
            <a:lstStyle/>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楽天・Yahoo・寺田ワイン</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マーケットでのEC事業</a:t>
              </a:r>
              <a:endParaRPr sz="1050" b="0" i="0" u="none" strike="noStrike" cap="none">
                <a:solidFill>
                  <a:srgbClr val="30373F"/>
                </a:solidFill>
                <a:latin typeface="Meiryo"/>
                <a:ea typeface="Meiryo"/>
                <a:cs typeface="Meiryo"/>
                <a:sym typeface="Meiryo"/>
              </a:endParaRPr>
            </a:p>
          </p:txBody>
        </p:sp>
        <p:sp>
          <p:nvSpPr>
            <p:cNvPr id="334" name="Google Shape;334;p4"/>
            <p:cNvSpPr txBox="1"/>
            <p:nvPr/>
          </p:nvSpPr>
          <p:spPr>
            <a:xfrm>
              <a:off x="902656" y="3637134"/>
              <a:ext cx="2436000" cy="430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30373F"/>
                  </a:solidFill>
                  <a:latin typeface="Meiryo"/>
                  <a:ea typeface="Meiryo"/>
                  <a:cs typeface="Meiryo"/>
                  <a:sym typeface="Meiryo"/>
                </a:rPr>
                <a:t>自社EC事業</a:t>
              </a:r>
              <a:endParaRPr sz="1200" b="1" i="0" u="none" strike="noStrike" cap="none">
                <a:solidFill>
                  <a:srgbClr val="30373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1000" b="1" i="0" u="none" strike="noStrike" cap="none">
                  <a:solidFill>
                    <a:srgbClr val="30373F"/>
                  </a:solidFill>
                  <a:latin typeface="Meiryo"/>
                  <a:ea typeface="Meiryo"/>
                  <a:cs typeface="Meiryo"/>
                  <a:sym typeface="Meiryo"/>
                </a:rPr>
                <a:t>（オンライン）</a:t>
              </a:r>
              <a:endParaRPr sz="1400" b="0" i="0" u="none" strike="noStrike" cap="none">
                <a:solidFill>
                  <a:srgbClr val="000000"/>
                </a:solidFill>
                <a:latin typeface="Arial"/>
                <a:ea typeface="Arial"/>
                <a:cs typeface="Arial"/>
                <a:sym typeface="Arial"/>
              </a:endParaRPr>
            </a:p>
          </p:txBody>
        </p:sp>
      </p:grpSp>
      <p:pic>
        <p:nvPicPr>
          <p:cNvPr id="335" name="Google Shape;335;p4" title="logo.png"/>
          <p:cNvPicPr preferRelativeResize="0"/>
          <p:nvPr/>
        </p:nvPicPr>
        <p:blipFill rotWithShape="1">
          <a:blip r:embed="rId3">
            <a:alphaModFix/>
          </a:blip>
          <a:srcRect t="29597"/>
          <a:stretch/>
        </p:blipFill>
        <p:spPr>
          <a:xfrm>
            <a:off x="4835451" y="2175602"/>
            <a:ext cx="1626132" cy="316393"/>
          </a:xfrm>
          <a:prstGeom prst="rect">
            <a:avLst/>
          </a:prstGeom>
          <a:noFill/>
          <a:ln>
            <a:noFill/>
          </a:ln>
        </p:spPr>
      </p:pic>
      <p:pic>
        <p:nvPicPr>
          <p:cNvPr id="336" name="Google Shape;336;p4" title="青山ワインマーケット-ロゴ.gif"/>
          <p:cNvPicPr preferRelativeResize="0"/>
          <p:nvPr/>
        </p:nvPicPr>
        <p:blipFill rotWithShape="1">
          <a:blip r:embed="rId4">
            <a:alphaModFix/>
          </a:blip>
          <a:srcRect/>
          <a:stretch/>
        </p:blipFill>
        <p:spPr>
          <a:xfrm>
            <a:off x="484168" y="2008386"/>
            <a:ext cx="1696161" cy="483607"/>
          </a:xfrm>
          <a:prstGeom prst="rect">
            <a:avLst/>
          </a:prstGeom>
          <a:noFill/>
          <a:ln>
            <a:noFill/>
          </a:ln>
        </p:spPr>
      </p:pic>
      <p:grpSp>
        <p:nvGrpSpPr>
          <p:cNvPr id="337" name="Google Shape;337;p4"/>
          <p:cNvGrpSpPr/>
          <p:nvPr/>
        </p:nvGrpSpPr>
        <p:grpSpPr>
          <a:xfrm>
            <a:off x="6841350" y="1848221"/>
            <a:ext cx="1984800" cy="1053858"/>
            <a:chOff x="2856354" y="1532988"/>
            <a:chExt cx="3969600" cy="1053858"/>
          </a:xfrm>
        </p:grpSpPr>
        <p:sp>
          <p:nvSpPr>
            <p:cNvPr id="338" name="Google Shape;338;p4"/>
            <p:cNvSpPr/>
            <p:nvPr/>
          </p:nvSpPr>
          <p:spPr>
            <a:xfrm>
              <a:off x="2856354" y="1889646"/>
              <a:ext cx="3969600" cy="697200"/>
            </a:xfrm>
            <a:prstGeom prst="rect">
              <a:avLst/>
            </a:prstGeom>
            <a:noFill/>
            <a:ln>
              <a:noFill/>
            </a:ln>
          </p:spPr>
          <p:txBody>
            <a:bodyPr spcFirstLastPara="1" wrap="square" lIns="68575" tIns="34275" rIns="68575" bIns="34275" anchor="ctr" anchorCtr="0">
              <a:noAutofit/>
            </a:bodyPr>
            <a:lstStyle/>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所有ワインのクラウド管理、マーケットプレイスの運営、</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ワインファンド事業</a:t>
              </a:r>
              <a:endParaRPr sz="1050" b="0" i="0" u="none" strike="noStrike" cap="none">
                <a:solidFill>
                  <a:srgbClr val="30373F"/>
                </a:solidFill>
                <a:latin typeface="Meiryo"/>
                <a:ea typeface="Meiryo"/>
                <a:cs typeface="Meiryo"/>
                <a:sym typeface="Meiryo"/>
              </a:endParaRPr>
            </a:p>
          </p:txBody>
        </p:sp>
        <p:sp>
          <p:nvSpPr>
            <p:cNvPr id="339" name="Google Shape;339;p4"/>
            <p:cNvSpPr txBox="1"/>
            <p:nvPr/>
          </p:nvSpPr>
          <p:spPr>
            <a:xfrm>
              <a:off x="3104086" y="1532988"/>
              <a:ext cx="3554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30373F"/>
                  </a:solidFill>
                  <a:latin typeface="Meiryo"/>
                  <a:ea typeface="Meiryo"/>
                  <a:cs typeface="Meiryo"/>
                  <a:sym typeface="Meiryo"/>
                </a:rPr>
                <a:t>WineTech 事業</a:t>
              </a:r>
              <a:endParaRPr sz="1400" b="1" i="0" u="none" strike="noStrike" cap="none">
                <a:solidFill>
                  <a:srgbClr val="30373F"/>
                </a:solidFill>
                <a:latin typeface="Meiryo"/>
                <a:ea typeface="Meiryo"/>
                <a:cs typeface="Meiryo"/>
                <a:sym typeface="Meiryo"/>
              </a:endParaRPr>
            </a:p>
          </p:txBody>
        </p:sp>
      </p:grpSp>
      <p:grpSp>
        <p:nvGrpSpPr>
          <p:cNvPr id="340" name="Google Shape;340;p4"/>
          <p:cNvGrpSpPr/>
          <p:nvPr/>
        </p:nvGrpSpPr>
        <p:grpSpPr>
          <a:xfrm>
            <a:off x="2251510" y="3635861"/>
            <a:ext cx="2214015" cy="1127137"/>
            <a:chOff x="3954688" y="3634373"/>
            <a:chExt cx="2643600" cy="1127137"/>
          </a:xfrm>
        </p:grpSpPr>
        <p:sp>
          <p:nvSpPr>
            <p:cNvPr id="341" name="Google Shape;341;p4"/>
            <p:cNvSpPr/>
            <p:nvPr/>
          </p:nvSpPr>
          <p:spPr>
            <a:xfrm>
              <a:off x="4123703" y="3887310"/>
              <a:ext cx="2305800" cy="874200"/>
            </a:xfrm>
            <a:prstGeom prst="rect">
              <a:avLst/>
            </a:prstGeom>
            <a:noFill/>
            <a:ln>
              <a:noFill/>
            </a:ln>
          </p:spPr>
          <p:txBody>
            <a:bodyPr spcFirstLastPara="1" wrap="square" lIns="68575" tIns="34275" rIns="68575" bIns="34275" anchor="ctr" anchorCtr="0">
              <a:noAutofit/>
            </a:bodyPr>
            <a:lstStyle/>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グランメゾン含むワインを</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中心としたレストラン事業</a:t>
              </a:r>
              <a:endParaRPr sz="1050" b="0" i="0" u="none" strike="noStrike" cap="none">
                <a:solidFill>
                  <a:srgbClr val="000000"/>
                </a:solidFill>
                <a:latin typeface="Meiryo"/>
                <a:ea typeface="Meiryo"/>
                <a:cs typeface="Meiryo"/>
                <a:sym typeface="Meiryo"/>
              </a:endParaRPr>
            </a:p>
          </p:txBody>
        </p:sp>
        <p:sp>
          <p:nvSpPr>
            <p:cNvPr id="342" name="Google Shape;342;p4"/>
            <p:cNvSpPr txBox="1"/>
            <p:nvPr/>
          </p:nvSpPr>
          <p:spPr>
            <a:xfrm>
              <a:off x="3954688" y="3634373"/>
              <a:ext cx="2643600" cy="438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30373F"/>
                  </a:solidFill>
                  <a:latin typeface="Meiryo"/>
                  <a:ea typeface="Meiryo"/>
                  <a:cs typeface="Meiryo"/>
                  <a:sym typeface="Meiryo"/>
                </a:rPr>
                <a:t>レストラン/ワイン卸事業</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ja" sz="1050" b="1" i="0" u="none" strike="noStrike" cap="none">
                  <a:solidFill>
                    <a:srgbClr val="30373F"/>
                  </a:solidFill>
                  <a:latin typeface="Meiryo"/>
                  <a:ea typeface="Meiryo"/>
                  <a:cs typeface="Meiryo"/>
                  <a:sym typeface="Meiryo"/>
                </a:rPr>
                <a:t>（オフライン）</a:t>
              </a:r>
              <a:endParaRPr sz="1000" b="0" i="0" u="none" strike="noStrike" cap="none">
                <a:solidFill>
                  <a:srgbClr val="000000"/>
                </a:solidFill>
                <a:latin typeface="Meiryo"/>
                <a:ea typeface="Meiryo"/>
                <a:cs typeface="Meiryo"/>
                <a:sym typeface="Meiryo"/>
              </a:endParaRPr>
            </a:p>
          </p:txBody>
        </p:sp>
      </p:grpSp>
      <p:pic>
        <p:nvPicPr>
          <p:cNvPr id="343" name="Google Shape;343;p4"/>
          <p:cNvPicPr preferRelativeResize="0"/>
          <p:nvPr/>
        </p:nvPicPr>
        <p:blipFill rotWithShape="1">
          <a:blip r:embed="rId5">
            <a:alphaModFix/>
          </a:blip>
          <a:srcRect t="33347" b="34773"/>
          <a:stretch/>
        </p:blipFill>
        <p:spPr>
          <a:xfrm>
            <a:off x="692515" y="3868451"/>
            <a:ext cx="1421031" cy="453029"/>
          </a:xfrm>
          <a:prstGeom prst="rect">
            <a:avLst/>
          </a:prstGeom>
          <a:noFill/>
          <a:ln>
            <a:noFill/>
          </a:ln>
        </p:spPr>
      </p:pic>
      <p:sp>
        <p:nvSpPr>
          <p:cNvPr id="344" name="Google Shape;344;p4"/>
          <p:cNvSpPr/>
          <p:nvPr/>
        </p:nvSpPr>
        <p:spPr>
          <a:xfrm>
            <a:off x="6476307" y="3862352"/>
            <a:ext cx="2305800" cy="874200"/>
          </a:xfrm>
          <a:prstGeom prst="rect">
            <a:avLst/>
          </a:prstGeom>
          <a:noFill/>
          <a:ln>
            <a:noFill/>
          </a:ln>
        </p:spPr>
        <p:txBody>
          <a:bodyPr spcFirstLastPara="1" wrap="square" lIns="68575" tIns="34275" rIns="68575" bIns="34275" anchor="ctr" anchorCtr="0">
            <a:noAutofit/>
          </a:bodyPr>
          <a:lstStyle/>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月額会費制でワインの購入や</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レストランをお得にご利用</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いただけるサービス</a:t>
            </a:r>
            <a:endParaRPr sz="1050" b="0" i="0" u="none" strike="noStrike" cap="none">
              <a:solidFill>
                <a:srgbClr val="000000"/>
              </a:solidFill>
              <a:latin typeface="Meiryo"/>
              <a:ea typeface="Meiryo"/>
              <a:cs typeface="Meiryo"/>
              <a:sym typeface="Meiryo"/>
            </a:endParaRPr>
          </a:p>
        </p:txBody>
      </p:sp>
      <p:sp>
        <p:nvSpPr>
          <p:cNvPr id="345" name="Google Shape;345;p4"/>
          <p:cNvSpPr txBox="1"/>
          <p:nvPr/>
        </p:nvSpPr>
        <p:spPr>
          <a:xfrm>
            <a:off x="5035768" y="1403422"/>
            <a:ext cx="24747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700" b="1" i="0" u="none" strike="noStrike" cap="none">
                <a:solidFill>
                  <a:srgbClr val="C68A65"/>
                </a:solidFill>
                <a:latin typeface="Meiryo"/>
                <a:ea typeface="Meiryo"/>
                <a:cs typeface="Meiryo"/>
                <a:sym typeface="Meiryo"/>
              </a:rPr>
              <a:t>SBI提携/世界初ワインSTにより安定収益を確保</a:t>
            </a:r>
            <a:endParaRPr sz="700" b="1" i="0" u="none" strike="noStrike" cap="none">
              <a:solidFill>
                <a:srgbClr val="C68A65"/>
              </a:solidFill>
              <a:latin typeface="Arial"/>
              <a:ea typeface="Arial"/>
              <a:cs typeface="Arial"/>
              <a:sym typeface="Arial"/>
            </a:endParaRPr>
          </a:p>
        </p:txBody>
      </p:sp>
      <p:sp>
        <p:nvSpPr>
          <p:cNvPr id="346" name="Google Shape;346;p4"/>
          <p:cNvSpPr txBox="1"/>
          <p:nvPr/>
        </p:nvSpPr>
        <p:spPr>
          <a:xfrm>
            <a:off x="828772" y="3217222"/>
            <a:ext cx="28266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700" b="1" i="0" u="none" strike="noStrike" cap="none">
                <a:solidFill>
                  <a:srgbClr val="C68A65"/>
                </a:solidFill>
                <a:latin typeface="Meiryo"/>
                <a:ea typeface="Meiryo"/>
                <a:cs typeface="Meiryo"/>
                <a:sym typeface="Meiryo"/>
              </a:rPr>
              <a:t>ティエリーマルクスの過去国内出店実績より安定収益の見込み</a:t>
            </a:r>
            <a:endParaRPr sz="700" b="1" i="0" u="none" strike="noStrike" cap="none">
              <a:solidFill>
                <a:srgbClr val="C68A65"/>
              </a:solidFill>
              <a:latin typeface="Arial"/>
              <a:ea typeface="Arial"/>
              <a:cs typeface="Arial"/>
              <a:sym typeface="Arial"/>
            </a:endParaRPr>
          </a:p>
        </p:txBody>
      </p:sp>
      <p:sp>
        <p:nvSpPr>
          <p:cNvPr id="347" name="Google Shape;347;p4"/>
          <p:cNvSpPr txBox="1"/>
          <p:nvPr/>
        </p:nvSpPr>
        <p:spPr>
          <a:xfrm>
            <a:off x="5035777" y="3199947"/>
            <a:ext cx="26418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700" b="1" i="0" u="none" strike="noStrike" cap="none">
                <a:solidFill>
                  <a:srgbClr val="C68A65"/>
                </a:solidFill>
                <a:latin typeface="Meiryo"/>
                <a:ea typeface="Meiryo"/>
                <a:cs typeface="Meiryo"/>
                <a:sym typeface="Meiryo"/>
              </a:rPr>
              <a:t>ティエリーマルクスによる認知拡大で会員数拡大を後押し</a:t>
            </a:r>
            <a:endParaRPr sz="700" b="1" i="0" u="none" strike="noStrike" cap="none">
              <a:solidFill>
                <a:srgbClr val="C68A65"/>
              </a:solidFill>
              <a:latin typeface="Arial"/>
              <a:ea typeface="Arial"/>
              <a:cs typeface="Arial"/>
              <a:sym typeface="Arial"/>
            </a:endParaRPr>
          </a:p>
        </p:txBody>
      </p:sp>
      <p:grpSp>
        <p:nvGrpSpPr>
          <p:cNvPr id="348" name="Google Shape;348;p4"/>
          <p:cNvGrpSpPr/>
          <p:nvPr/>
        </p:nvGrpSpPr>
        <p:grpSpPr>
          <a:xfrm>
            <a:off x="179987" y="1335696"/>
            <a:ext cx="798300" cy="623100"/>
            <a:chOff x="179987" y="1102524"/>
            <a:chExt cx="798300" cy="623100"/>
          </a:xfrm>
        </p:grpSpPr>
        <p:sp>
          <p:nvSpPr>
            <p:cNvPr id="349" name="Google Shape;349;p4"/>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350" name="Google Shape;350;p4"/>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1475" b="1" i="0" u="none" strike="noStrike" cap="none">
                  <a:solidFill>
                    <a:schemeClr val="lt1"/>
                  </a:solidFill>
                  <a:latin typeface="Meiryo"/>
                  <a:ea typeface="Meiryo"/>
                  <a:cs typeface="Meiryo"/>
                  <a:sym typeface="Meiryo"/>
                </a:rPr>
                <a:t>100</a:t>
              </a:r>
              <a:r>
                <a:rPr lang="ja" sz="922" b="1" i="0" u="none" strike="noStrike" cap="none">
                  <a:solidFill>
                    <a:schemeClr val="lt1"/>
                  </a:solidFill>
                  <a:latin typeface="Meiryo"/>
                  <a:ea typeface="Meiryo"/>
                  <a:cs typeface="Meiryo"/>
                  <a:sym typeface="Meiryo"/>
                </a:rPr>
                <a:t>%</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を維持</a:t>
              </a:r>
              <a:endParaRPr sz="622" b="0" i="0" u="none" strike="noStrike" cap="none">
                <a:solidFill>
                  <a:schemeClr val="lt1"/>
                </a:solidFill>
                <a:latin typeface="Meiryo"/>
                <a:ea typeface="Meiryo"/>
                <a:cs typeface="Meiryo"/>
                <a:sym typeface="Meiryo"/>
              </a:endParaRPr>
            </a:p>
          </p:txBody>
        </p:sp>
      </p:grpSp>
      <p:grpSp>
        <p:nvGrpSpPr>
          <p:cNvPr id="351" name="Google Shape;351;p4"/>
          <p:cNvGrpSpPr/>
          <p:nvPr/>
        </p:nvGrpSpPr>
        <p:grpSpPr>
          <a:xfrm>
            <a:off x="4391618" y="1335696"/>
            <a:ext cx="798300" cy="623100"/>
            <a:chOff x="179987" y="1102524"/>
            <a:chExt cx="798300" cy="623100"/>
          </a:xfrm>
        </p:grpSpPr>
        <p:sp>
          <p:nvSpPr>
            <p:cNvPr id="352" name="Google Shape;352;p4"/>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353" name="Google Shape;353;p4"/>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1475" b="1" i="0" u="none" strike="noStrike" cap="none">
                  <a:solidFill>
                    <a:schemeClr val="lt1"/>
                  </a:solidFill>
                  <a:latin typeface="Meiryo"/>
                  <a:ea typeface="Meiryo"/>
                  <a:cs typeface="Meiryo"/>
                  <a:sym typeface="Meiryo"/>
                </a:rPr>
                <a:t>200</a:t>
              </a:r>
              <a:r>
                <a:rPr lang="ja" sz="922" b="1" i="0" u="none" strike="noStrike" cap="none">
                  <a:solidFill>
                    <a:schemeClr val="lt1"/>
                  </a:solidFill>
                  <a:latin typeface="Meiryo"/>
                  <a:ea typeface="Meiryo"/>
                  <a:cs typeface="Meiryo"/>
                  <a:sym typeface="Meiryo"/>
                </a:rPr>
                <a:t>%</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に拡大</a:t>
              </a:r>
              <a:endParaRPr sz="622" b="0" i="0" u="none" strike="noStrike" cap="none">
                <a:solidFill>
                  <a:schemeClr val="lt1"/>
                </a:solidFill>
                <a:latin typeface="Meiryo"/>
                <a:ea typeface="Meiryo"/>
                <a:cs typeface="Meiryo"/>
                <a:sym typeface="Meiryo"/>
              </a:endParaRPr>
            </a:p>
          </p:txBody>
        </p:sp>
      </p:grpSp>
      <p:grpSp>
        <p:nvGrpSpPr>
          <p:cNvPr id="354" name="Google Shape;354;p4"/>
          <p:cNvGrpSpPr/>
          <p:nvPr/>
        </p:nvGrpSpPr>
        <p:grpSpPr>
          <a:xfrm>
            <a:off x="179973" y="3153861"/>
            <a:ext cx="798300" cy="623100"/>
            <a:chOff x="179987" y="1102524"/>
            <a:chExt cx="798300" cy="623100"/>
          </a:xfrm>
        </p:grpSpPr>
        <p:sp>
          <p:nvSpPr>
            <p:cNvPr id="355" name="Google Shape;355;p4"/>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356" name="Google Shape;356;p4"/>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1475" b="1" i="0" u="none" strike="noStrike" cap="none">
                  <a:solidFill>
                    <a:schemeClr val="lt1"/>
                  </a:solidFill>
                  <a:latin typeface="Meiryo"/>
                  <a:ea typeface="Meiryo"/>
                  <a:cs typeface="Meiryo"/>
                  <a:sym typeface="Meiryo"/>
                </a:rPr>
                <a:t>200</a:t>
              </a:r>
              <a:r>
                <a:rPr lang="ja" sz="922" b="1" i="0" u="none" strike="noStrike" cap="none">
                  <a:solidFill>
                    <a:schemeClr val="lt1"/>
                  </a:solidFill>
                  <a:latin typeface="Meiryo"/>
                  <a:ea typeface="Meiryo"/>
                  <a:cs typeface="Meiryo"/>
                  <a:sym typeface="Meiryo"/>
                </a:rPr>
                <a:t>%</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に拡大</a:t>
              </a:r>
              <a:endParaRPr sz="622" b="0" i="0" u="none" strike="noStrike" cap="none">
                <a:solidFill>
                  <a:schemeClr val="lt1"/>
                </a:solidFill>
                <a:latin typeface="Meiryo"/>
                <a:ea typeface="Meiryo"/>
                <a:cs typeface="Meiryo"/>
                <a:sym typeface="Meiryo"/>
              </a:endParaRPr>
            </a:p>
          </p:txBody>
        </p:sp>
      </p:grpSp>
      <p:grpSp>
        <p:nvGrpSpPr>
          <p:cNvPr id="357" name="Google Shape;357;p4"/>
          <p:cNvGrpSpPr/>
          <p:nvPr/>
        </p:nvGrpSpPr>
        <p:grpSpPr>
          <a:xfrm>
            <a:off x="4391740" y="3153861"/>
            <a:ext cx="798300" cy="623100"/>
            <a:chOff x="179987" y="1102524"/>
            <a:chExt cx="798300" cy="623100"/>
          </a:xfrm>
        </p:grpSpPr>
        <p:sp>
          <p:nvSpPr>
            <p:cNvPr id="358" name="Google Shape;358;p4"/>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359" name="Google Shape;359;p4"/>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1475" b="1" i="0" u="none" strike="noStrike" cap="none">
                  <a:solidFill>
                    <a:schemeClr val="lt1"/>
                  </a:solidFill>
                  <a:latin typeface="Meiryo"/>
                  <a:ea typeface="Meiryo"/>
                  <a:cs typeface="Meiryo"/>
                  <a:sym typeface="Meiryo"/>
                </a:rPr>
                <a:t>拡大</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見込み</a:t>
              </a:r>
              <a:endParaRPr sz="622" b="0" i="0" u="none" strike="noStrike" cap="none">
                <a:solidFill>
                  <a:schemeClr val="lt1"/>
                </a:solidFill>
                <a:latin typeface="Meiryo"/>
                <a:ea typeface="Meiryo"/>
                <a:cs typeface="Meiryo"/>
                <a:sym typeface="Meiryo"/>
              </a:endParaRPr>
            </a:p>
          </p:txBody>
        </p:sp>
      </p:grpSp>
      <p:sp>
        <p:nvSpPr>
          <p:cNvPr id="360" name="Google Shape;360;p4"/>
          <p:cNvSpPr txBox="1"/>
          <p:nvPr/>
        </p:nvSpPr>
        <p:spPr>
          <a:xfrm>
            <a:off x="828768" y="1421210"/>
            <a:ext cx="24747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700" b="1" i="0" u="none" strike="noStrike" cap="none">
                <a:solidFill>
                  <a:srgbClr val="C68A65"/>
                </a:solidFill>
                <a:latin typeface="Meiryo"/>
                <a:ea typeface="Meiryo"/>
                <a:cs typeface="Meiryo"/>
                <a:sym typeface="Meiryo"/>
              </a:rPr>
              <a:t>長年の販売実績をもとに売上維持</a:t>
            </a:r>
            <a:endParaRPr sz="700" b="1" i="0" u="none" strike="noStrike" cap="none">
              <a:solidFill>
                <a:srgbClr val="C68A65"/>
              </a:solidFill>
              <a:latin typeface="Arial"/>
              <a:ea typeface="Arial"/>
              <a:cs typeface="Arial"/>
              <a:sym typeface="Arial"/>
            </a:endParaRPr>
          </a:p>
        </p:txBody>
      </p:sp>
      <p:sp>
        <p:nvSpPr>
          <p:cNvPr id="361" name="Google Shape;361;p4"/>
          <p:cNvSpPr txBox="1"/>
          <p:nvPr/>
        </p:nvSpPr>
        <p:spPr>
          <a:xfrm>
            <a:off x="239765" y="1000481"/>
            <a:ext cx="86100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グループ売上：2025年12月期 65億　2026年12月期 70億超</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11</a:t>
            </a:fld>
            <a:endParaRPr/>
          </a:p>
        </p:txBody>
      </p:sp>
      <p:sp>
        <p:nvSpPr>
          <p:cNvPr id="367" name="Google Shape;367;p1"/>
          <p:cNvSpPr txBox="1"/>
          <p:nvPr/>
        </p:nvSpPr>
        <p:spPr>
          <a:xfrm>
            <a:off x="239765" y="287249"/>
            <a:ext cx="86100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WineBank × アピシウス</a:t>
            </a:r>
            <a:endParaRPr sz="1400" b="0" i="0" u="none" strike="noStrike" cap="none">
              <a:solidFill>
                <a:srgbClr val="000000"/>
              </a:solidFill>
              <a:latin typeface="Arial"/>
              <a:ea typeface="Arial"/>
              <a:cs typeface="Arial"/>
              <a:sym typeface="Arial"/>
            </a:endParaRPr>
          </a:p>
        </p:txBody>
      </p:sp>
      <p:sp>
        <p:nvSpPr>
          <p:cNvPr id="368" name="Google Shape;368;p1"/>
          <p:cNvSpPr txBox="1"/>
          <p:nvPr/>
        </p:nvSpPr>
        <p:spPr>
          <a:xfrm>
            <a:off x="368525" y="750450"/>
            <a:ext cx="8671800" cy="706500"/>
          </a:xfrm>
          <a:prstGeom prst="rect">
            <a:avLst/>
          </a:prstGeom>
          <a:no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chemeClr val="dk1"/>
              </a:buClr>
              <a:buSzPts val="1700"/>
              <a:buFont typeface="Meiryo"/>
              <a:buNone/>
            </a:pPr>
            <a:r>
              <a:rPr lang="ja" sz="1600" b="1" i="0" u="none" strike="noStrike" cap="none">
                <a:solidFill>
                  <a:schemeClr val="dk1"/>
                </a:solidFill>
                <a:latin typeface="Meiryo"/>
                <a:ea typeface="Meiryo"/>
                <a:cs typeface="Meiryo"/>
                <a:sym typeface="Meiryo"/>
              </a:rPr>
              <a:t>創業41年グランメゾンであるアピシウスを2024年6月WineBankGroupで100％株式取得</a:t>
            </a:r>
            <a:endParaRPr sz="1600" b="1" i="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1700"/>
              <a:buFont typeface="Meiryo"/>
              <a:buNone/>
            </a:pPr>
            <a:r>
              <a:rPr lang="ja" sz="1600" b="1" i="0" u="none" strike="noStrike" cap="none">
                <a:solidFill>
                  <a:schemeClr val="dk1"/>
                </a:solidFill>
                <a:latin typeface="Meiryo"/>
                <a:ea typeface="Meiryo"/>
                <a:cs typeface="Meiryo"/>
                <a:sym typeface="Meiryo"/>
              </a:rPr>
              <a:t>ミシュラン掲載・World of FineWine 3つ星5年連続、食べログ4.30 </a:t>
            </a:r>
            <a:r>
              <a:rPr lang="ja" sz="800" b="1" i="0" u="none" strike="noStrike" cap="none">
                <a:solidFill>
                  <a:schemeClr val="dk1"/>
                </a:solidFill>
                <a:latin typeface="Meiryo"/>
                <a:ea typeface="Meiryo"/>
                <a:cs typeface="Meiryo"/>
                <a:sym typeface="Meiryo"/>
              </a:rPr>
              <a:t>※2025/08/01時点</a:t>
            </a:r>
            <a:endParaRPr sz="800" b="0" i="0" u="none" strike="noStrike" cap="none">
              <a:solidFill>
                <a:srgbClr val="000000"/>
              </a:solidFill>
              <a:latin typeface="Arial"/>
              <a:ea typeface="Arial"/>
              <a:cs typeface="Arial"/>
              <a:sym typeface="Arial"/>
            </a:endParaRPr>
          </a:p>
        </p:txBody>
      </p:sp>
      <p:cxnSp>
        <p:nvCxnSpPr>
          <p:cNvPr id="369" name="Google Shape;369;p1"/>
          <p:cNvCxnSpPr/>
          <p:nvPr/>
        </p:nvCxnSpPr>
        <p:spPr>
          <a:xfrm>
            <a:off x="484800" y="1565075"/>
            <a:ext cx="7775700" cy="17400"/>
          </a:xfrm>
          <a:prstGeom prst="straightConnector1">
            <a:avLst/>
          </a:prstGeom>
          <a:noFill/>
          <a:ln w="28575" cap="flat" cmpd="sng">
            <a:solidFill>
              <a:schemeClr val="accent4">
                <a:alpha val="47451"/>
              </a:schemeClr>
            </a:solidFill>
            <a:prstDash val="solid"/>
            <a:round/>
            <a:headEnd type="none" w="sm" len="sm"/>
            <a:tailEnd type="none" w="sm" len="sm"/>
          </a:ln>
        </p:spPr>
      </p:cxnSp>
      <p:pic>
        <p:nvPicPr>
          <p:cNvPr id="370" name="Google Shape;370;p1"/>
          <p:cNvPicPr preferRelativeResize="0"/>
          <p:nvPr/>
        </p:nvPicPr>
        <p:blipFill rotWithShape="1">
          <a:blip r:embed="rId3">
            <a:alphaModFix/>
          </a:blip>
          <a:srcRect/>
          <a:stretch/>
        </p:blipFill>
        <p:spPr>
          <a:xfrm>
            <a:off x="786943" y="1717600"/>
            <a:ext cx="4046732" cy="3085238"/>
          </a:xfrm>
          <a:prstGeom prst="rect">
            <a:avLst/>
          </a:prstGeom>
          <a:noFill/>
          <a:ln>
            <a:noFill/>
          </a:ln>
        </p:spPr>
      </p:pic>
      <p:pic>
        <p:nvPicPr>
          <p:cNvPr id="371" name="Google Shape;371;p1"/>
          <p:cNvPicPr preferRelativeResize="0"/>
          <p:nvPr/>
        </p:nvPicPr>
        <p:blipFill rotWithShape="1">
          <a:blip r:embed="rId4">
            <a:alphaModFix/>
          </a:blip>
          <a:srcRect/>
          <a:stretch/>
        </p:blipFill>
        <p:spPr>
          <a:xfrm>
            <a:off x="5646575" y="3353275"/>
            <a:ext cx="2718500" cy="1485775"/>
          </a:xfrm>
          <a:prstGeom prst="rect">
            <a:avLst/>
          </a:prstGeom>
          <a:noFill/>
          <a:ln>
            <a:noFill/>
          </a:ln>
        </p:spPr>
      </p:pic>
      <p:pic>
        <p:nvPicPr>
          <p:cNvPr id="372" name="Google Shape;372;p1"/>
          <p:cNvPicPr preferRelativeResize="0"/>
          <p:nvPr/>
        </p:nvPicPr>
        <p:blipFill rotWithShape="1">
          <a:blip r:embed="rId5">
            <a:alphaModFix/>
          </a:blip>
          <a:srcRect/>
          <a:stretch/>
        </p:blipFill>
        <p:spPr>
          <a:xfrm>
            <a:off x="6256488" y="1752887"/>
            <a:ext cx="1498677" cy="1536779"/>
          </a:xfrm>
          <a:prstGeom prst="rect">
            <a:avLst/>
          </a:prstGeom>
          <a:noFill/>
          <a:ln>
            <a:noFill/>
          </a:ln>
        </p:spPr>
      </p:pic>
      <p:sp>
        <p:nvSpPr>
          <p:cNvPr id="373" name="Google Shape;373;p1"/>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6"/>
          <p:cNvSpPr/>
          <p:nvPr/>
        </p:nvSpPr>
        <p:spPr>
          <a:xfrm>
            <a:off x="0" y="5012740"/>
            <a:ext cx="9144000" cy="130759"/>
          </a:xfrm>
          <a:prstGeom prst="rect">
            <a:avLst/>
          </a:prstGeom>
          <a:solidFill>
            <a:srgbClr val="30373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9" name="Google Shape;379;p6"/>
          <p:cNvSpPr/>
          <p:nvPr/>
        </p:nvSpPr>
        <p:spPr>
          <a:xfrm>
            <a:off x="4291247" y="4848004"/>
            <a:ext cx="586200" cy="125400"/>
          </a:xfrm>
          <a:prstGeom prst="roundRect">
            <a:avLst>
              <a:gd name="adj" fmla="val 3217"/>
            </a:avLst>
          </a:prstGeom>
          <a:noFill/>
          <a:ln w="9525" cap="flat" cmpd="sng">
            <a:solidFill>
              <a:srgbClr val="FF0000"/>
            </a:solidFill>
            <a:prstDash val="solid"/>
            <a:miter lim="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Meiryo"/>
              <a:ea typeface="Meiryo"/>
              <a:cs typeface="Meiryo"/>
              <a:sym typeface="Meiryo"/>
            </a:endParaRPr>
          </a:p>
        </p:txBody>
      </p:sp>
      <p:sp>
        <p:nvSpPr>
          <p:cNvPr id="380" name="Google Shape;380;p6"/>
          <p:cNvSpPr txBox="1"/>
          <p:nvPr/>
        </p:nvSpPr>
        <p:spPr>
          <a:xfrm>
            <a:off x="239572" y="287121"/>
            <a:ext cx="8595360"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1400" b="1" i="0" u="none" strike="noStrike" cap="none">
                <a:solidFill>
                  <a:srgbClr val="000000"/>
                </a:solidFill>
                <a:latin typeface="Meiryo"/>
                <a:ea typeface="Meiryo"/>
                <a:cs typeface="Meiryo"/>
                <a:sym typeface="Meiryo"/>
              </a:rPr>
              <a:t>WineBank × アピシウス（M＆A2年後定点観測）</a:t>
            </a:r>
            <a:endParaRPr sz="1400" b="1" i="0" u="none" strike="noStrike" cap="none">
              <a:solidFill>
                <a:srgbClr val="000000"/>
              </a:solidFill>
              <a:latin typeface="Meiryo"/>
              <a:ea typeface="Meiryo"/>
              <a:cs typeface="Meiryo"/>
              <a:sym typeface="Meiryo"/>
            </a:endParaRPr>
          </a:p>
        </p:txBody>
      </p:sp>
      <p:sp>
        <p:nvSpPr>
          <p:cNvPr id="381" name="Google Shape;381;p6"/>
          <p:cNvSpPr/>
          <p:nvPr/>
        </p:nvSpPr>
        <p:spPr>
          <a:xfrm>
            <a:off x="0" y="673912"/>
            <a:ext cx="9144000" cy="328269"/>
          </a:xfrm>
          <a:prstGeom prst="rect">
            <a:avLst/>
          </a:prstGeom>
          <a:solidFill>
            <a:srgbClr val="36394B"/>
          </a:solid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ja" sz="1300" b="1" i="0" u="none" strike="noStrike" cap="none">
                <a:solidFill>
                  <a:srgbClr val="FFFFFF"/>
                </a:solidFill>
                <a:latin typeface="Meiryo"/>
                <a:ea typeface="Meiryo"/>
                <a:cs typeface="Meiryo"/>
                <a:sym typeface="Meiryo"/>
              </a:rPr>
              <a:t>銀座の老舗グランメゾンを100％承継。人を入れ替えず、労働環境を整えたうえで更に発展させました</a:t>
            </a:r>
            <a:endParaRPr sz="1300" b="1" i="0" u="none" strike="noStrike" cap="none">
              <a:solidFill>
                <a:srgbClr val="FFFFFF"/>
              </a:solidFill>
              <a:latin typeface="Meiryo"/>
              <a:ea typeface="Meiryo"/>
              <a:cs typeface="Meiryo"/>
              <a:sym typeface="Meiryo"/>
            </a:endParaRPr>
          </a:p>
        </p:txBody>
      </p:sp>
      <p:sp>
        <p:nvSpPr>
          <p:cNvPr id="382" name="Google Shape;382;p6"/>
          <p:cNvSpPr/>
          <p:nvPr/>
        </p:nvSpPr>
        <p:spPr>
          <a:xfrm>
            <a:off x="536752" y="1115568"/>
            <a:ext cx="2339949" cy="868680"/>
          </a:xfrm>
          <a:prstGeom prst="rect">
            <a:avLst/>
          </a:prstGeom>
          <a:solidFill>
            <a:srgbClr val="F6F6F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83" name="Google Shape;383;p6"/>
          <p:cNvSpPr txBox="1"/>
          <p:nvPr/>
        </p:nvSpPr>
        <p:spPr>
          <a:xfrm>
            <a:off x="719632" y="1216152"/>
            <a:ext cx="1974189" cy="20116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950" b="1" i="0" u="none" strike="noStrike" cap="none">
                <a:solidFill>
                  <a:srgbClr val="C68A65"/>
                </a:solidFill>
                <a:latin typeface="Meiryo"/>
                <a:ea typeface="Meiryo"/>
                <a:cs typeface="Meiryo"/>
                <a:sym typeface="Meiryo"/>
              </a:rPr>
              <a:t>売上高</a:t>
            </a:r>
            <a:endParaRPr/>
          </a:p>
        </p:txBody>
      </p:sp>
      <p:sp>
        <p:nvSpPr>
          <p:cNvPr id="384" name="Google Shape;384;p6"/>
          <p:cNvSpPr txBox="1"/>
          <p:nvPr/>
        </p:nvSpPr>
        <p:spPr>
          <a:xfrm>
            <a:off x="719632" y="1399032"/>
            <a:ext cx="1974189" cy="3657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2400" b="1" i="0" u="none" strike="noStrike" cap="none">
                <a:solidFill>
                  <a:srgbClr val="36394B"/>
                </a:solidFill>
                <a:latin typeface="Meiryo"/>
                <a:ea typeface="Meiryo"/>
                <a:cs typeface="Meiryo"/>
                <a:sym typeface="Meiryo"/>
              </a:rPr>
              <a:t>＋30%</a:t>
            </a:r>
            <a:endParaRPr/>
          </a:p>
        </p:txBody>
      </p:sp>
      <p:sp>
        <p:nvSpPr>
          <p:cNvPr id="385" name="Google Shape;385;p6"/>
          <p:cNvSpPr txBox="1"/>
          <p:nvPr/>
        </p:nvSpPr>
        <p:spPr>
          <a:xfrm>
            <a:off x="719632" y="1764792"/>
            <a:ext cx="1974189" cy="1828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800" b="0" i="0" u="none" strike="noStrike" cap="none">
                <a:solidFill>
                  <a:srgbClr val="595959"/>
                </a:solidFill>
                <a:latin typeface="Meiryo"/>
                <a:ea typeface="Meiryo"/>
                <a:cs typeface="Meiryo"/>
                <a:sym typeface="Meiryo"/>
              </a:rPr>
              <a:t>取得前比（2年間）</a:t>
            </a:r>
            <a:endParaRPr/>
          </a:p>
        </p:txBody>
      </p:sp>
      <p:sp>
        <p:nvSpPr>
          <p:cNvPr id="386" name="Google Shape;386;p6"/>
          <p:cNvSpPr/>
          <p:nvPr/>
        </p:nvSpPr>
        <p:spPr>
          <a:xfrm>
            <a:off x="3362248" y="1115568"/>
            <a:ext cx="2339949" cy="868680"/>
          </a:xfrm>
          <a:prstGeom prst="rect">
            <a:avLst/>
          </a:prstGeom>
          <a:solidFill>
            <a:srgbClr val="F6F6F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87" name="Google Shape;387;p6"/>
          <p:cNvSpPr txBox="1"/>
          <p:nvPr/>
        </p:nvSpPr>
        <p:spPr>
          <a:xfrm>
            <a:off x="3545128" y="1216152"/>
            <a:ext cx="1974189" cy="20116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950" b="1" i="0" u="none" strike="noStrike" cap="none">
                <a:solidFill>
                  <a:srgbClr val="C68A65"/>
                </a:solidFill>
                <a:latin typeface="Meiryo"/>
                <a:ea typeface="Meiryo"/>
                <a:cs typeface="Meiryo"/>
                <a:sym typeface="Meiryo"/>
              </a:rPr>
              <a:t>営業利益</a:t>
            </a:r>
            <a:endParaRPr/>
          </a:p>
        </p:txBody>
      </p:sp>
      <p:sp>
        <p:nvSpPr>
          <p:cNvPr id="388" name="Google Shape;388;p6"/>
          <p:cNvSpPr txBox="1"/>
          <p:nvPr/>
        </p:nvSpPr>
        <p:spPr>
          <a:xfrm>
            <a:off x="3545128" y="1399032"/>
            <a:ext cx="1974189"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2400" b="1" i="0" u="none" strike="noStrike" cap="none">
                <a:solidFill>
                  <a:srgbClr val="36394B"/>
                </a:solidFill>
                <a:latin typeface="Meiryo"/>
                <a:ea typeface="Meiryo"/>
                <a:cs typeface="Meiryo"/>
                <a:sym typeface="Meiryo"/>
              </a:rPr>
              <a:t>2.5倍超</a:t>
            </a:r>
            <a:endParaRPr/>
          </a:p>
        </p:txBody>
      </p:sp>
      <p:sp>
        <p:nvSpPr>
          <p:cNvPr id="389" name="Google Shape;389;p6"/>
          <p:cNvSpPr txBox="1"/>
          <p:nvPr/>
        </p:nvSpPr>
        <p:spPr>
          <a:xfrm>
            <a:off x="3545128" y="1764792"/>
            <a:ext cx="1974189" cy="1828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800" b="0" i="0" u="none" strike="noStrike" cap="none">
                <a:solidFill>
                  <a:srgbClr val="595959"/>
                </a:solidFill>
                <a:latin typeface="Meiryo"/>
                <a:ea typeface="Meiryo"/>
                <a:cs typeface="Meiryo"/>
                <a:sym typeface="Meiryo"/>
              </a:rPr>
              <a:t>取得前比（2年間）</a:t>
            </a:r>
            <a:endParaRPr/>
          </a:p>
        </p:txBody>
      </p:sp>
      <p:sp>
        <p:nvSpPr>
          <p:cNvPr id="390" name="Google Shape;390;p6"/>
          <p:cNvSpPr/>
          <p:nvPr/>
        </p:nvSpPr>
        <p:spPr>
          <a:xfrm>
            <a:off x="6268212" y="1115568"/>
            <a:ext cx="2339949" cy="868680"/>
          </a:xfrm>
          <a:prstGeom prst="rect">
            <a:avLst/>
          </a:prstGeom>
          <a:solidFill>
            <a:srgbClr val="36394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91" name="Google Shape;391;p6"/>
          <p:cNvSpPr txBox="1"/>
          <p:nvPr/>
        </p:nvSpPr>
        <p:spPr>
          <a:xfrm>
            <a:off x="6451092" y="1216152"/>
            <a:ext cx="1974189" cy="20116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950" b="1" i="0" u="none" strike="noStrike" cap="none">
                <a:solidFill>
                  <a:srgbClr val="EAD5C7"/>
                </a:solidFill>
                <a:latin typeface="Meiryo"/>
                <a:ea typeface="Meiryo"/>
                <a:cs typeface="Meiryo"/>
                <a:sym typeface="Meiryo"/>
              </a:rPr>
              <a:t>幹部メンバー継続率</a:t>
            </a:r>
            <a:endParaRPr/>
          </a:p>
        </p:txBody>
      </p:sp>
      <p:sp>
        <p:nvSpPr>
          <p:cNvPr id="392" name="Google Shape;392;p6"/>
          <p:cNvSpPr txBox="1"/>
          <p:nvPr/>
        </p:nvSpPr>
        <p:spPr>
          <a:xfrm>
            <a:off x="6451092" y="1399032"/>
            <a:ext cx="1974189" cy="3657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2400" b="1" i="0" u="none" strike="noStrike" cap="none">
                <a:solidFill>
                  <a:srgbClr val="FFFFFF"/>
                </a:solidFill>
                <a:latin typeface="Meiryo"/>
                <a:ea typeface="Meiryo"/>
                <a:cs typeface="Meiryo"/>
                <a:sym typeface="Meiryo"/>
              </a:rPr>
              <a:t>100%</a:t>
            </a:r>
            <a:endParaRPr/>
          </a:p>
        </p:txBody>
      </p:sp>
      <p:sp>
        <p:nvSpPr>
          <p:cNvPr id="393" name="Google Shape;393;p6"/>
          <p:cNvSpPr txBox="1"/>
          <p:nvPr/>
        </p:nvSpPr>
        <p:spPr>
          <a:xfrm>
            <a:off x="6451092" y="1764792"/>
            <a:ext cx="1974189" cy="1828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800" b="0" i="0" u="none" strike="noStrike" cap="none">
                <a:solidFill>
                  <a:srgbClr val="C9B6A8"/>
                </a:solidFill>
                <a:latin typeface="Meiryo"/>
                <a:ea typeface="Meiryo"/>
                <a:cs typeface="Meiryo"/>
                <a:sym typeface="Meiryo"/>
              </a:rPr>
              <a:t>一人も欠けていません</a:t>
            </a:r>
            <a:endParaRPr/>
          </a:p>
        </p:txBody>
      </p:sp>
      <p:sp>
        <p:nvSpPr>
          <p:cNvPr id="394" name="Google Shape;394;p6"/>
          <p:cNvSpPr txBox="1"/>
          <p:nvPr/>
        </p:nvSpPr>
        <p:spPr>
          <a:xfrm>
            <a:off x="536752" y="2121408"/>
            <a:ext cx="4754880" cy="21945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1100" b="1" i="0" u="none" strike="noStrike" cap="none">
                <a:solidFill>
                  <a:srgbClr val="000000"/>
                </a:solidFill>
                <a:latin typeface="Meiryo"/>
                <a:ea typeface="Meiryo"/>
                <a:cs typeface="Meiryo"/>
                <a:sym typeface="Meiryo"/>
              </a:rPr>
              <a:t>取得前と、取得から2年後</a:t>
            </a:r>
            <a:endParaRPr/>
          </a:p>
        </p:txBody>
      </p:sp>
      <p:sp>
        <p:nvSpPr>
          <p:cNvPr id="395" name="Google Shape;395;p6"/>
          <p:cNvSpPr/>
          <p:nvPr/>
        </p:nvSpPr>
        <p:spPr>
          <a:xfrm>
            <a:off x="536752" y="2377440"/>
            <a:ext cx="4736592" cy="365760"/>
          </a:xfrm>
          <a:prstGeom prst="rect">
            <a:avLst/>
          </a:prstGeom>
          <a:solidFill>
            <a:srgbClr val="36394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96" name="Google Shape;396;p6"/>
          <p:cNvSpPr txBox="1"/>
          <p:nvPr/>
        </p:nvSpPr>
        <p:spPr>
          <a:xfrm>
            <a:off x="628192" y="2423160"/>
            <a:ext cx="512063"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7" name="Google Shape;397;p6"/>
          <p:cNvSpPr txBox="1"/>
          <p:nvPr/>
        </p:nvSpPr>
        <p:spPr>
          <a:xfrm>
            <a:off x="1286560" y="2423160"/>
            <a:ext cx="1609344"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FFFFFF"/>
                </a:solidFill>
                <a:latin typeface="Meiryo"/>
                <a:ea typeface="Meiryo"/>
                <a:cs typeface="Meiryo"/>
                <a:sym typeface="Meiryo"/>
              </a:rPr>
              <a:t>取得前（〜2024年5月）</a:t>
            </a:r>
            <a:endParaRPr/>
          </a:p>
        </p:txBody>
      </p:sp>
      <p:sp>
        <p:nvSpPr>
          <p:cNvPr id="398" name="Google Shape;398;p6"/>
          <p:cNvSpPr txBox="1"/>
          <p:nvPr/>
        </p:nvSpPr>
        <p:spPr>
          <a:xfrm>
            <a:off x="3042208" y="2423160"/>
            <a:ext cx="2176272"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FFFFFF"/>
                </a:solidFill>
                <a:latin typeface="Meiryo"/>
                <a:ea typeface="Meiryo"/>
                <a:cs typeface="Meiryo"/>
                <a:sym typeface="Meiryo"/>
              </a:rPr>
              <a:t>取得後2年（2026年）</a:t>
            </a:r>
            <a:endParaRPr/>
          </a:p>
        </p:txBody>
      </p:sp>
      <p:sp>
        <p:nvSpPr>
          <p:cNvPr id="399" name="Google Shape;399;p6"/>
          <p:cNvSpPr/>
          <p:nvPr/>
        </p:nvSpPr>
        <p:spPr>
          <a:xfrm>
            <a:off x="536752" y="2743200"/>
            <a:ext cx="4736592" cy="365760"/>
          </a:xfrm>
          <a:prstGeom prst="rect">
            <a:avLst/>
          </a:prstGeom>
          <a:solidFill>
            <a:srgbClr val="F6F6F6"/>
          </a:solidFill>
          <a:ln w="9525" cap="flat" cmpd="sng">
            <a:solidFill>
              <a:srgbClr val="E3E3E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00" name="Google Shape;400;p6"/>
          <p:cNvSpPr txBox="1"/>
          <p:nvPr/>
        </p:nvSpPr>
        <p:spPr>
          <a:xfrm>
            <a:off x="628192" y="2788920"/>
            <a:ext cx="512063"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36394B"/>
                </a:solidFill>
                <a:latin typeface="Meiryo"/>
                <a:ea typeface="Meiryo"/>
                <a:cs typeface="Meiryo"/>
                <a:sym typeface="Meiryo"/>
              </a:rPr>
              <a:t>業績</a:t>
            </a:r>
            <a:endParaRPr/>
          </a:p>
        </p:txBody>
      </p:sp>
      <p:sp>
        <p:nvSpPr>
          <p:cNvPr id="401" name="Google Shape;401;p6"/>
          <p:cNvSpPr txBox="1"/>
          <p:nvPr/>
        </p:nvSpPr>
        <p:spPr>
          <a:xfrm>
            <a:off x="1286560" y="2788920"/>
            <a:ext cx="1609344"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0" i="0" u="none" strike="noStrike" cap="none">
                <a:solidFill>
                  <a:srgbClr val="30373F"/>
                </a:solidFill>
                <a:latin typeface="Meiryo"/>
                <a:ea typeface="Meiryo"/>
                <a:cs typeface="Meiryo"/>
                <a:sym typeface="Meiryo"/>
              </a:rPr>
              <a:t>39年間赤字。40年目に黒字化</a:t>
            </a:r>
            <a:endParaRPr/>
          </a:p>
        </p:txBody>
      </p:sp>
      <p:sp>
        <p:nvSpPr>
          <p:cNvPr id="402" name="Google Shape;402;p6"/>
          <p:cNvSpPr txBox="1"/>
          <p:nvPr/>
        </p:nvSpPr>
        <p:spPr>
          <a:xfrm>
            <a:off x="3042208" y="2788920"/>
            <a:ext cx="2176272"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C68A65"/>
                </a:solidFill>
                <a:latin typeface="Meiryo"/>
                <a:ea typeface="Meiryo"/>
                <a:cs typeface="Meiryo"/>
                <a:sym typeface="Meiryo"/>
              </a:rPr>
              <a:t>売上＋30%／営業利益2.5倍超</a:t>
            </a:r>
            <a:endParaRPr/>
          </a:p>
        </p:txBody>
      </p:sp>
      <p:sp>
        <p:nvSpPr>
          <p:cNvPr id="403" name="Google Shape;403;p6"/>
          <p:cNvSpPr/>
          <p:nvPr/>
        </p:nvSpPr>
        <p:spPr>
          <a:xfrm>
            <a:off x="536752" y="3108960"/>
            <a:ext cx="4736592" cy="365760"/>
          </a:xfrm>
          <a:prstGeom prst="rect">
            <a:avLst/>
          </a:prstGeom>
          <a:solidFill>
            <a:srgbClr val="FFFFFF"/>
          </a:solidFill>
          <a:ln w="9525" cap="flat" cmpd="sng">
            <a:solidFill>
              <a:srgbClr val="E3E3E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04" name="Google Shape;404;p6"/>
          <p:cNvSpPr txBox="1"/>
          <p:nvPr/>
        </p:nvSpPr>
        <p:spPr>
          <a:xfrm>
            <a:off x="628192" y="3154680"/>
            <a:ext cx="512063"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36394B"/>
                </a:solidFill>
                <a:latin typeface="Meiryo"/>
                <a:ea typeface="Meiryo"/>
                <a:cs typeface="Meiryo"/>
                <a:sym typeface="Meiryo"/>
              </a:rPr>
              <a:t>人員</a:t>
            </a:r>
            <a:endParaRPr/>
          </a:p>
        </p:txBody>
      </p:sp>
      <p:sp>
        <p:nvSpPr>
          <p:cNvPr id="405" name="Google Shape;405;p6"/>
          <p:cNvSpPr txBox="1"/>
          <p:nvPr/>
        </p:nvSpPr>
        <p:spPr>
          <a:xfrm>
            <a:off x="1286560" y="3154680"/>
            <a:ext cx="1609344"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0" i="0" u="none" strike="noStrike" cap="none">
                <a:solidFill>
                  <a:srgbClr val="30373F"/>
                </a:solidFill>
                <a:latin typeface="Meiryo"/>
                <a:ea typeface="Meiryo"/>
                <a:cs typeface="Meiryo"/>
                <a:sym typeface="Meiryo"/>
              </a:rPr>
              <a:t>―</a:t>
            </a:r>
            <a:endParaRPr/>
          </a:p>
        </p:txBody>
      </p:sp>
      <p:sp>
        <p:nvSpPr>
          <p:cNvPr id="406" name="Google Shape;406;p6"/>
          <p:cNvSpPr txBox="1"/>
          <p:nvPr/>
        </p:nvSpPr>
        <p:spPr>
          <a:xfrm>
            <a:off x="3042208" y="3154680"/>
            <a:ext cx="2176272"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C68A65"/>
                </a:solidFill>
                <a:latin typeface="Meiryo"/>
                <a:ea typeface="Meiryo"/>
                <a:cs typeface="Meiryo"/>
                <a:sym typeface="Meiryo"/>
              </a:rPr>
              <a:t>幹部メンバーは全員継続。入替えなし</a:t>
            </a:r>
            <a:endParaRPr/>
          </a:p>
        </p:txBody>
      </p:sp>
      <p:sp>
        <p:nvSpPr>
          <p:cNvPr id="407" name="Google Shape;407;p6"/>
          <p:cNvSpPr/>
          <p:nvPr/>
        </p:nvSpPr>
        <p:spPr>
          <a:xfrm>
            <a:off x="536752" y="3474720"/>
            <a:ext cx="4736592" cy="365760"/>
          </a:xfrm>
          <a:prstGeom prst="rect">
            <a:avLst/>
          </a:prstGeom>
          <a:solidFill>
            <a:srgbClr val="F6F6F6"/>
          </a:solidFill>
          <a:ln w="9525" cap="flat" cmpd="sng">
            <a:solidFill>
              <a:srgbClr val="E3E3E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08" name="Google Shape;408;p6"/>
          <p:cNvSpPr txBox="1"/>
          <p:nvPr/>
        </p:nvSpPr>
        <p:spPr>
          <a:xfrm>
            <a:off x="628192" y="3520440"/>
            <a:ext cx="512063"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36394B"/>
                </a:solidFill>
                <a:latin typeface="Meiryo"/>
                <a:ea typeface="Meiryo"/>
                <a:cs typeface="Meiryo"/>
                <a:sym typeface="Meiryo"/>
              </a:rPr>
              <a:t>労働環境</a:t>
            </a:r>
            <a:endParaRPr/>
          </a:p>
        </p:txBody>
      </p:sp>
      <p:sp>
        <p:nvSpPr>
          <p:cNvPr id="409" name="Google Shape;409;p6"/>
          <p:cNvSpPr txBox="1"/>
          <p:nvPr/>
        </p:nvSpPr>
        <p:spPr>
          <a:xfrm>
            <a:off x="1286560" y="3520440"/>
            <a:ext cx="1609344"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0" i="0" u="none" strike="noStrike" cap="none">
                <a:solidFill>
                  <a:srgbClr val="30373F"/>
                </a:solidFill>
                <a:latin typeface="Meiryo"/>
                <a:ea typeface="Meiryo"/>
                <a:cs typeface="Meiryo"/>
                <a:sym typeface="Meiryo"/>
              </a:rPr>
              <a:t>サービス残業が常態化</a:t>
            </a:r>
            <a:endParaRPr/>
          </a:p>
        </p:txBody>
      </p:sp>
      <p:sp>
        <p:nvSpPr>
          <p:cNvPr id="410" name="Google Shape;410;p6"/>
          <p:cNvSpPr txBox="1"/>
          <p:nvPr/>
        </p:nvSpPr>
        <p:spPr>
          <a:xfrm>
            <a:off x="3042208" y="3520440"/>
            <a:ext cx="2176272"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C68A65"/>
                </a:solidFill>
                <a:latin typeface="Meiryo"/>
                <a:ea typeface="Meiryo"/>
                <a:cs typeface="Meiryo"/>
                <a:sym typeface="Meiryo"/>
              </a:rPr>
              <a:t>サービス残業撤廃。12月以外は残業ゼロ</a:t>
            </a:r>
            <a:endParaRPr/>
          </a:p>
        </p:txBody>
      </p:sp>
      <p:sp>
        <p:nvSpPr>
          <p:cNvPr id="411" name="Google Shape;411;p6"/>
          <p:cNvSpPr/>
          <p:nvPr/>
        </p:nvSpPr>
        <p:spPr>
          <a:xfrm>
            <a:off x="536752" y="3840480"/>
            <a:ext cx="4736592" cy="365760"/>
          </a:xfrm>
          <a:prstGeom prst="rect">
            <a:avLst/>
          </a:prstGeom>
          <a:solidFill>
            <a:srgbClr val="FFFFFF"/>
          </a:solidFill>
          <a:ln w="9525" cap="flat" cmpd="sng">
            <a:solidFill>
              <a:srgbClr val="E3E3E3"/>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12" name="Google Shape;412;p6"/>
          <p:cNvSpPr txBox="1"/>
          <p:nvPr/>
        </p:nvSpPr>
        <p:spPr>
          <a:xfrm>
            <a:off x="628192" y="3886200"/>
            <a:ext cx="512063"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36394B"/>
                </a:solidFill>
                <a:latin typeface="Meiryo"/>
                <a:ea typeface="Meiryo"/>
                <a:cs typeface="Meiryo"/>
                <a:sym typeface="Meiryo"/>
              </a:rPr>
              <a:t>店舗</a:t>
            </a:r>
            <a:endParaRPr/>
          </a:p>
        </p:txBody>
      </p:sp>
      <p:sp>
        <p:nvSpPr>
          <p:cNvPr id="413" name="Google Shape;413;p6"/>
          <p:cNvSpPr txBox="1"/>
          <p:nvPr/>
        </p:nvSpPr>
        <p:spPr>
          <a:xfrm>
            <a:off x="1286560" y="3886200"/>
            <a:ext cx="1609344"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0" i="0" u="none" strike="noStrike" cap="none">
                <a:solidFill>
                  <a:srgbClr val="30373F"/>
                </a:solidFill>
                <a:latin typeface="Meiryo"/>
                <a:ea typeface="Meiryo"/>
                <a:cs typeface="Meiryo"/>
                <a:sym typeface="Meiryo"/>
              </a:rPr>
              <a:t>―</a:t>
            </a:r>
            <a:endParaRPr/>
          </a:p>
        </p:txBody>
      </p:sp>
      <p:sp>
        <p:nvSpPr>
          <p:cNvPr id="414" name="Google Shape;414;p6"/>
          <p:cNvSpPr txBox="1"/>
          <p:nvPr/>
        </p:nvSpPr>
        <p:spPr>
          <a:xfrm>
            <a:off x="3042208" y="3886200"/>
            <a:ext cx="2176272"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C68A65"/>
                </a:solidFill>
                <a:latin typeface="Meiryo"/>
                <a:ea typeface="Meiryo"/>
                <a:cs typeface="Meiryo"/>
                <a:sym typeface="Meiryo"/>
              </a:rPr>
              <a:t>一部改装・修繕を実施。業態は不変</a:t>
            </a:r>
            <a:endParaRPr/>
          </a:p>
        </p:txBody>
      </p:sp>
      <p:pic>
        <p:nvPicPr>
          <p:cNvPr id="415" name="Google Shape;415;p6" descr="apx_main.png"/>
          <p:cNvPicPr preferRelativeResize="0"/>
          <p:nvPr/>
        </p:nvPicPr>
        <p:blipFill rotWithShape="1">
          <a:blip r:embed="rId3">
            <a:alphaModFix/>
          </a:blip>
          <a:srcRect t="28412" b="28412"/>
          <a:stretch/>
        </p:blipFill>
        <p:spPr>
          <a:xfrm>
            <a:off x="5440680" y="2377440"/>
            <a:ext cx="3163824" cy="786384"/>
          </a:xfrm>
          <a:prstGeom prst="rect">
            <a:avLst/>
          </a:prstGeom>
          <a:noFill/>
          <a:ln>
            <a:noFill/>
          </a:ln>
        </p:spPr>
      </p:pic>
      <p:pic>
        <p:nvPicPr>
          <p:cNvPr id="416" name="Google Shape;416;p6" descr="apx_private.png"/>
          <p:cNvPicPr preferRelativeResize="0"/>
          <p:nvPr/>
        </p:nvPicPr>
        <p:blipFill rotWithShape="1">
          <a:blip r:embed="rId4">
            <a:alphaModFix/>
          </a:blip>
          <a:srcRect t="33818" b="33818"/>
          <a:stretch/>
        </p:blipFill>
        <p:spPr>
          <a:xfrm>
            <a:off x="5440680" y="3218688"/>
            <a:ext cx="3163824" cy="786384"/>
          </a:xfrm>
          <a:prstGeom prst="rect">
            <a:avLst/>
          </a:prstGeom>
          <a:noFill/>
          <a:ln>
            <a:noFill/>
          </a:ln>
        </p:spPr>
      </p:pic>
      <p:sp>
        <p:nvSpPr>
          <p:cNvPr id="417" name="Google Shape;417;p6"/>
          <p:cNvSpPr txBox="1"/>
          <p:nvPr/>
        </p:nvSpPr>
        <p:spPr>
          <a:xfrm>
            <a:off x="5440680" y="4059936"/>
            <a:ext cx="3163824" cy="1828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750" b="0" i="0" u="none" strike="noStrike" cap="none">
                <a:solidFill>
                  <a:srgbClr val="595959"/>
                </a:solidFill>
                <a:latin typeface="Meiryo"/>
                <a:ea typeface="Meiryo"/>
                <a:cs typeface="Meiryo"/>
                <a:sym typeface="Meiryo"/>
              </a:rPr>
              <a:t>アピシウス（東京・銀座）　1983年開業</a:t>
            </a:r>
            <a:endParaRPr/>
          </a:p>
        </p:txBody>
      </p:sp>
      <p:sp>
        <p:nvSpPr>
          <p:cNvPr id="418" name="Google Shape;418;p6"/>
          <p:cNvSpPr/>
          <p:nvPr/>
        </p:nvSpPr>
        <p:spPr>
          <a:xfrm>
            <a:off x="536752" y="4279392"/>
            <a:ext cx="8070494" cy="493776"/>
          </a:xfrm>
          <a:prstGeom prst="rect">
            <a:avLst/>
          </a:prstGeom>
          <a:solidFill>
            <a:srgbClr val="F6F6F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19" name="Google Shape;419;p6"/>
          <p:cNvSpPr/>
          <p:nvPr/>
        </p:nvSpPr>
        <p:spPr>
          <a:xfrm>
            <a:off x="536752" y="4279392"/>
            <a:ext cx="45720" cy="493776"/>
          </a:xfrm>
          <a:prstGeom prst="rect">
            <a:avLst/>
          </a:prstGeom>
          <a:solidFill>
            <a:srgbClr val="C68A6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20" name="Google Shape;420;p6"/>
          <p:cNvSpPr txBox="1"/>
          <p:nvPr/>
        </p:nvSpPr>
        <p:spPr>
          <a:xfrm>
            <a:off x="694944" y="4352544"/>
            <a:ext cx="7863840" cy="36696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ja" sz="1100" b="1" i="0" u="none" strike="noStrike" cap="none">
                <a:solidFill>
                  <a:srgbClr val="000000"/>
                </a:solidFill>
                <a:latin typeface="Meiryo"/>
                <a:ea typeface="Meiryo"/>
                <a:cs typeface="Meiryo"/>
                <a:sym typeface="Meiryo"/>
              </a:rPr>
              <a:t>グランメゾンは、引き継いでも継続・成長できる。</a:t>
            </a:r>
            <a:endParaRPr/>
          </a:p>
          <a:p>
            <a:pPr marL="0" marR="0" lvl="0" indent="0" algn="l" rtl="0">
              <a:lnSpc>
                <a:spcPct val="125000"/>
              </a:lnSpc>
              <a:spcBef>
                <a:spcPts val="0"/>
              </a:spcBef>
              <a:spcAft>
                <a:spcPts val="0"/>
              </a:spcAft>
              <a:buNone/>
            </a:pPr>
            <a:r>
              <a:rPr lang="ja" sz="850" b="0" i="0" u="none" strike="noStrike" cap="none">
                <a:solidFill>
                  <a:srgbClr val="30373F"/>
                </a:solidFill>
                <a:latin typeface="Meiryo"/>
                <a:ea typeface="Meiryo"/>
                <a:cs typeface="Meiryo"/>
                <a:sym typeface="Meiryo"/>
              </a:rPr>
              <a:t>私たちが学んだのは収益改善の手法ではありません。人を入れ替えず、労働環境をむしろ良くしたうえで、店は伸ばせるということです。</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g376c0386bf5_0_93"/>
          <p:cNvSpPr txBox="1"/>
          <p:nvPr/>
        </p:nvSpPr>
        <p:spPr>
          <a:xfrm>
            <a:off x="239550" y="270850"/>
            <a:ext cx="574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 sz="1400" b="1" i="0" u="none" strike="noStrike" cap="none">
                <a:solidFill>
                  <a:schemeClr val="dk1"/>
                </a:solidFill>
                <a:latin typeface="Meiryo"/>
                <a:ea typeface="Meiryo"/>
                <a:cs typeface="Meiryo"/>
                <a:sym typeface="Meiryo"/>
              </a:rPr>
              <a:t>提携飲食店（全26店舗、ワイン関連レストラン多数）</a:t>
            </a:r>
            <a:endParaRPr sz="1200" b="0" i="0" u="none" strike="noStrike" cap="none">
              <a:solidFill>
                <a:srgbClr val="000000"/>
              </a:solidFill>
              <a:latin typeface="Meiryo"/>
              <a:ea typeface="Meiryo"/>
              <a:cs typeface="Meiryo"/>
              <a:sym typeface="Meiryo"/>
            </a:endParaRPr>
          </a:p>
        </p:txBody>
      </p:sp>
      <p:sp>
        <p:nvSpPr>
          <p:cNvPr id="426" name="Google Shape;426;g376c0386bf5_0_93"/>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427" name="Google Shape;427;g376c0386bf5_0_93"/>
          <p:cNvSpPr txBox="1"/>
          <p:nvPr/>
        </p:nvSpPr>
        <p:spPr>
          <a:xfrm>
            <a:off x="6520060" y="589780"/>
            <a:ext cx="2458938" cy="19233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 sz="800" b="0" i="0" u="none" strike="noStrike" cap="none">
                <a:solidFill>
                  <a:schemeClr val="dk1"/>
                </a:solidFill>
                <a:highlight>
                  <a:schemeClr val="lt1"/>
                </a:highlight>
                <a:latin typeface="Meiryo"/>
                <a:ea typeface="Meiryo"/>
                <a:cs typeface="Meiryo"/>
                <a:sym typeface="Meiryo"/>
              </a:rPr>
              <a:t>※ほか東京６店舗/神奈川８店舗/催事店舗多数</a:t>
            </a:r>
            <a:endParaRPr sz="800" b="0" i="0" u="none" strike="noStrike" cap="none">
              <a:solidFill>
                <a:schemeClr val="dk1"/>
              </a:solidFill>
              <a:highlight>
                <a:schemeClr val="lt1"/>
              </a:highlight>
              <a:latin typeface="Meiryo"/>
              <a:ea typeface="Meiryo"/>
              <a:cs typeface="Meiryo"/>
              <a:sym typeface="Meiryo"/>
            </a:endParaRPr>
          </a:p>
        </p:txBody>
      </p:sp>
      <p:grpSp>
        <p:nvGrpSpPr>
          <p:cNvPr id="428" name="Google Shape;428;g376c0386bf5_0_93"/>
          <p:cNvGrpSpPr/>
          <p:nvPr/>
        </p:nvGrpSpPr>
        <p:grpSpPr>
          <a:xfrm>
            <a:off x="421128" y="770466"/>
            <a:ext cx="8301745" cy="4167491"/>
            <a:chOff x="238076" y="770467"/>
            <a:chExt cx="7893199" cy="3962400"/>
          </a:xfrm>
        </p:grpSpPr>
        <p:pic>
          <p:nvPicPr>
            <p:cNvPr id="429" name="Google Shape;429;g376c0386bf5_0_93"/>
            <p:cNvPicPr preferRelativeResize="0"/>
            <p:nvPr/>
          </p:nvPicPr>
          <p:blipFill rotWithShape="1">
            <a:blip r:embed="rId3">
              <a:alphaModFix/>
            </a:blip>
            <a:srcRect/>
            <a:stretch/>
          </p:blipFill>
          <p:spPr>
            <a:xfrm>
              <a:off x="238076" y="770467"/>
              <a:ext cx="5892215" cy="3962400"/>
            </a:xfrm>
            <a:prstGeom prst="rect">
              <a:avLst/>
            </a:prstGeom>
            <a:noFill/>
            <a:ln>
              <a:noFill/>
            </a:ln>
          </p:spPr>
        </p:pic>
        <p:pic>
          <p:nvPicPr>
            <p:cNvPr id="430" name="Google Shape;430;g376c0386bf5_0_93"/>
            <p:cNvPicPr preferRelativeResize="0"/>
            <p:nvPr/>
          </p:nvPicPr>
          <p:blipFill rotWithShape="1">
            <a:blip r:embed="rId4">
              <a:alphaModFix/>
            </a:blip>
            <a:srcRect l="33198" t="75098" r="32481" b="226"/>
            <a:stretch/>
          </p:blipFill>
          <p:spPr>
            <a:xfrm>
              <a:off x="6124718" y="770467"/>
              <a:ext cx="2006557" cy="1203884"/>
            </a:xfrm>
            <a:prstGeom prst="rect">
              <a:avLst/>
            </a:prstGeom>
            <a:noFill/>
            <a:ln>
              <a:noFill/>
            </a:ln>
          </p:spPr>
        </p:pic>
        <p:sp>
          <p:nvSpPr>
            <p:cNvPr id="431" name="Google Shape;431;g376c0386bf5_0_93"/>
            <p:cNvSpPr/>
            <p:nvPr/>
          </p:nvSpPr>
          <p:spPr>
            <a:xfrm>
              <a:off x="6089159" y="1925087"/>
              <a:ext cx="2042116" cy="2807779"/>
            </a:xfrm>
            <a:prstGeom prst="rect">
              <a:avLst/>
            </a:prstGeom>
            <a:solidFill>
              <a:srgbClr val="F9F3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2" name="Google Shape;432;g376c0386bf5_0_93"/>
            <p:cNvSpPr txBox="1"/>
            <p:nvPr/>
          </p:nvSpPr>
          <p:spPr>
            <a:xfrm>
              <a:off x="6160236" y="2952875"/>
              <a:ext cx="1843938" cy="3291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KINKA sushi bar izakaya 渋谷</a:t>
              </a:r>
              <a:endParaRPr sz="700" b="0" i="0" u="none" strike="noStrike" cap="none">
                <a:solidFill>
                  <a:srgbClr val="000000"/>
                </a:solidFill>
                <a:latin typeface="Meiryo"/>
                <a:ea typeface="Meiryo"/>
                <a:cs typeface="Meiryo"/>
                <a:sym typeface="Meiryo"/>
              </a:endParaRPr>
            </a:p>
            <a:p>
              <a:pPr marL="0" marR="0" lvl="0" indent="0" algn="l" rtl="0">
                <a:lnSpc>
                  <a:spcPct val="100000"/>
                </a:lnSpc>
                <a:spcBef>
                  <a:spcPts val="30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(寿司バー／渋谷）</a:t>
              </a:r>
              <a:endParaRPr sz="700" b="0" i="0" u="none" strike="noStrike" cap="none">
                <a:solidFill>
                  <a:srgbClr val="000000"/>
                </a:solidFill>
                <a:latin typeface="Meiryo"/>
                <a:ea typeface="Meiryo"/>
                <a:cs typeface="Meiryo"/>
                <a:sym typeface="Meiryo"/>
              </a:endParaRPr>
            </a:p>
          </p:txBody>
        </p:sp>
        <p:sp>
          <p:nvSpPr>
            <p:cNvPr id="433" name="Google Shape;433;g376c0386bf5_0_93"/>
            <p:cNvSpPr txBox="1"/>
            <p:nvPr/>
          </p:nvSpPr>
          <p:spPr>
            <a:xfrm>
              <a:off x="6160236" y="4259542"/>
              <a:ext cx="1753148" cy="3291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KINKA sushi bar izakaya 六本木</a:t>
              </a:r>
              <a:endParaRPr sz="700" b="0" i="0" u="none" strike="noStrike" cap="none">
                <a:solidFill>
                  <a:srgbClr val="000000"/>
                </a:solidFill>
                <a:latin typeface="Meiryo"/>
                <a:ea typeface="Meiryo"/>
                <a:cs typeface="Meiryo"/>
                <a:sym typeface="Meiryo"/>
              </a:endParaRPr>
            </a:p>
            <a:p>
              <a:pPr marL="0" marR="0" lvl="0" indent="0" algn="l" rtl="0">
                <a:lnSpc>
                  <a:spcPct val="100000"/>
                </a:lnSpc>
                <a:spcBef>
                  <a:spcPts val="30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(寿司バー／六本木）</a:t>
              </a:r>
              <a:endParaRPr sz="700" b="0" i="0" u="none" strike="noStrike" cap="none">
                <a:solidFill>
                  <a:srgbClr val="000000"/>
                </a:solidFill>
                <a:latin typeface="Meiryo"/>
                <a:ea typeface="Meiryo"/>
                <a:cs typeface="Meiryo"/>
                <a:sym typeface="Meiryo"/>
              </a:endParaRPr>
            </a:p>
          </p:txBody>
        </p:sp>
        <p:pic>
          <p:nvPicPr>
            <p:cNvPr id="434" name="Google Shape;434;g376c0386bf5_0_93"/>
            <p:cNvPicPr preferRelativeResize="0"/>
            <p:nvPr/>
          </p:nvPicPr>
          <p:blipFill rotWithShape="1">
            <a:blip r:embed="rId5">
              <a:alphaModFix/>
            </a:blip>
            <a:srcRect t="11191" b="9984"/>
            <a:stretch/>
          </p:blipFill>
          <p:spPr>
            <a:xfrm>
              <a:off x="6251027" y="3348708"/>
              <a:ext cx="1753148" cy="908782"/>
            </a:xfrm>
            <a:prstGeom prst="rect">
              <a:avLst/>
            </a:prstGeom>
            <a:noFill/>
            <a:ln>
              <a:noFill/>
            </a:ln>
          </p:spPr>
        </p:pic>
        <p:pic>
          <p:nvPicPr>
            <p:cNvPr id="435" name="Google Shape;435;g376c0386bf5_0_93"/>
            <p:cNvPicPr preferRelativeResize="0"/>
            <p:nvPr/>
          </p:nvPicPr>
          <p:blipFill rotWithShape="1">
            <a:blip r:embed="rId6">
              <a:alphaModFix/>
            </a:blip>
            <a:srcRect t="21307" b="10320"/>
            <a:stretch/>
          </p:blipFill>
          <p:spPr>
            <a:xfrm>
              <a:off x="6250432" y="2144088"/>
              <a:ext cx="1753743" cy="790513"/>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g382af4871d9_0_0"/>
          <p:cNvSpPr txBox="1"/>
          <p:nvPr/>
        </p:nvSpPr>
        <p:spPr>
          <a:xfrm>
            <a:off x="1650045" y="1337264"/>
            <a:ext cx="5537500" cy="1802563"/>
          </a:xfrm>
          <a:prstGeom prst="rect">
            <a:avLst/>
          </a:prstGeom>
          <a:noFill/>
          <a:ln>
            <a:noFill/>
          </a:ln>
        </p:spPr>
        <p:txBody>
          <a:bodyPr spcFirstLastPara="1" wrap="square" lIns="78225" tIns="39125" rIns="78225" bIns="39125" anchor="t" anchorCtr="0">
            <a:spAutoFit/>
          </a:bodyPr>
          <a:lstStyle/>
          <a:p>
            <a:pPr marL="0" marR="0" lvl="0" indent="0" algn="ctr" rtl="0">
              <a:lnSpc>
                <a:spcPct val="200000"/>
              </a:lnSpc>
              <a:spcBef>
                <a:spcPts val="0"/>
              </a:spcBef>
              <a:spcAft>
                <a:spcPts val="0"/>
              </a:spcAft>
              <a:buClr>
                <a:srgbClr val="000000"/>
              </a:buClr>
              <a:buSzPts val="2800"/>
              <a:buFont typeface="Arial"/>
              <a:buNone/>
            </a:pPr>
            <a:r>
              <a:rPr lang="ja" sz="2800" b="1" i="0" u="none" strike="noStrike" cap="none">
                <a:solidFill>
                  <a:schemeClr val="lt1"/>
                </a:solidFill>
                <a:latin typeface="Meiryo"/>
                <a:ea typeface="Meiryo"/>
                <a:cs typeface="Meiryo"/>
                <a:sym typeface="Meiryo"/>
              </a:rPr>
              <a:t>成長戦略 PhaseⅠ</a:t>
            </a:r>
            <a:endParaRPr sz="2800" b="1" i="0" u="none" strike="noStrike" cap="none">
              <a:solidFill>
                <a:schemeClr val="lt1"/>
              </a:solidFill>
              <a:latin typeface="Meiryo"/>
              <a:ea typeface="Meiryo"/>
              <a:cs typeface="Meiryo"/>
              <a:sym typeface="Meiryo"/>
            </a:endParaRPr>
          </a:p>
          <a:p>
            <a:pPr marL="0" marR="0" lvl="0" indent="0" algn="ctr" rtl="0">
              <a:lnSpc>
                <a:spcPct val="200000"/>
              </a:lnSpc>
              <a:spcBef>
                <a:spcPts val="0"/>
              </a:spcBef>
              <a:spcAft>
                <a:spcPts val="0"/>
              </a:spcAft>
              <a:buClr>
                <a:srgbClr val="000000"/>
              </a:buClr>
              <a:buSzPts val="2800"/>
              <a:buFont typeface="Arial"/>
              <a:buNone/>
            </a:pPr>
            <a:r>
              <a:rPr lang="ja" sz="2800" b="1" i="0" u="none" strike="noStrike" cap="none">
                <a:solidFill>
                  <a:schemeClr val="lt1"/>
                </a:solidFill>
                <a:latin typeface="Meiryo"/>
                <a:ea typeface="Meiryo"/>
                <a:cs typeface="Meiryo"/>
                <a:sym typeface="Meiryo"/>
              </a:rPr>
              <a:t>海外著名シェフとレストラン展開</a:t>
            </a:r>
            <a:endParaRPr sz="2800" b="1" i="0" u="none" strike="noStrike" cap="none">
              <a:solidFill>
                <a:schemeClr val="lt1"/>
              </a:solidFill>
              <a:latin typeface="Meiryo"/>
              <a:ea typeface="Meiryo"/>
              <a:cs typeface="Meiryo"/>
              <a:sym typeface="Meiry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g382af4871d9_0_16"/>
          <p:cNvSpPr txBox="1"/>
          <p:nvPr/>
        </p:nvSpPr>
        <p:spPr>
          <a:xfrm>
            <a:off x="239772" y="211050"/>
            <a:ext cx="23013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1F1F1F"/>
                </a:solidFill>
                <a:highlight>
                  <a:srgbClr val="FFFFFF"/>
                </a:highlight>
                <a:latin typeface="Meiryo"/>
                <a:ea typeface="Meiryo"/>
                <a:cs typeface="Meiryo"/>
                <a:sym typeface="Meiryo"/>
              </a:rPr>
              <a:t>THIERRY MARXとは</a:t>
            </a:r>
            <a:endParaRPr sz="1400" b="1" i="0" u="none" strike="noStrike" cap="none">
              <a:solidFill>
                <a:schemeClr val="dk1"/>
              </a:solidFill>
              <a:latin typeface="Meiryo"/>
              <a:ea typeface="Meiryo"/>
              <a:cs typeface="Meiryo"/>
              <a:sym typeface="Meiryo"/>
            </a:endParaRPr>
          </a:p>
        </p:txBody>
      </p:sp>
      <p:pic>
        <p:nvPicPr>
          <p:cNvPr id="446" name="Google Shape;446;g382af4871d9_0_16"/>
          <p:cNvPicPr preferRelativeResize="0"/>
          <p:nvPr/>
        </p:nvPicPr>
        <p:blipFill rotWithShape="1">
          <a:blip r:embed="rId3">
            <a:alphaModFix/>
          </a:blip>
          <a:srcRect l="59666" t="5992" b="20204"/>
          <a:stretch/>
        </p:blipFill>
        <p:spPr>
          <a:xfrm>
            <a:off x="664825" y="802900"/>
            <a:ext cx="2401500" cy="2250300"/>
          </a:xfrm>
          <a:prstGeom prst="ellipse">
            <a:avLst/>
          </a:prstGeom>
          <a:noFill/>
          <a:ln>
            <a:noFill/>
          </a:ln>
        </p:spPr>
      </p:pic>
      <p:sp>
        <p:nvSpPr>
          <p:cNvPr id="447" name="Google Shape;447;g382af4871d9_0_16"/>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448" name="Google Shape;448;g382af4871d9_0_16"/>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15</a:t>
            </a:fld>
            <a:endParaRPr/>
          </a:p>
        </p:txBody>
      </p:sp>
      <p:sp>
        <p:nvSpPr>
          <p:cNvPr id="449" name="Google Shape;449;g382af4871d9_0_16"/>
          <p:cNvSpPr txBox="1"/>
          <p:nvPr/>
        </p:nvSpPr>
        <p:spPr>
          <a:xfrm>
            <a:off x="3507867" y="729336"/>
            <a:ext cx="4916400" cy="22503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a:t>
            </a:r>
            <a:r>
              <a:rPr lang="ja" sz="8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1959年　　パリ20区に生まれる</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a:t>
            </a:r>
            <a:r>
              <a:rPr lang="ja" sz="8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1977年　　軍隊に所属</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1978年　　パティシエの資格を取得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1988年　　トゥール 「ロック・アン・ヴァル」でミシュラン1つ星を獲得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1991年　　ニーム「シュヴァル・ブラン」でミシュラン1つ星を獲得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1999年　　メドックの ルレ・エ・シャトー「コーディヤン・バージュ」 ミシュラン2つ星を獲得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2006年　　ゴー・エ・ミヨ シェフ・オブ・ザ・イヤー受賞 </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2010年　　マンダリン オリエンタル パリ</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chemeClr val="dk1"/>
                </a:solidFill>
                <a:latin typeface="Meiryo"/>
                <a:ea typeface="Meiryo"/>
                <a:cs typeface="Meiryo"/>
                <a:sym typeface="Meiryo"/>
              </a:rPr>
              <a:t>　　　　　　　　「シュール・ムジュール パール ティエリー・マルクス」でミシュラン2つ星を獲得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2013年　　フランス レジオン・ドヌール勲章を受賞</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2022年　　ミシュランガイドの年間ベストメンターに選ばれる</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2023年　　パリ8区サントノーレに「オノール」オープン</a:t>
            </a:r>
            <a:endParaRPr sz="800" b="0" i="0" u="none" strike="noStrike" cap="none">
              <a:solidFill>
                <a:schemeClr val="dk1"/>
              </a:solidFill>
              <a:latin typeface="Meiryo"/>
              <a:ea typeface="Meiryo"/>
              <a:cs typeface="Meiryo"/>
              <a:sym typeface="Meiryo"/>
            </a:endParaRPr>
          </a:p>
        </p:txBody>
      </p:sp>
      <p:sp>
        <p:nvSpPr>
          <p:cNvPr id="450" name="Google Shape;450;g382af4871d9_0_16"/>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451" name="Google Shape;451;g382af4871d9_0_16"/>
          <p:cNvSpPr txBox="1"/>
          <p:nvPr/>
        </p:nvSpPr>
        <p:spPr>
          <a:xfrm>
            <a:off x="3368943" y="2912050"/>
            <a:ext cx="5412000" cy="5157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日本再進出、パリでミシュラン累計7つ星・ミシュラン星請負人の呼名も</a:t>
            </a:r>
            <a:endParaRPr sz="10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同世代のシェフの中でも、著名でかつ尊敬を集めるシェフの一人として最も注目されている</a:t>
            </a:r>
            <a:endParaRPr sz="1000" b="0" i="0" u="none" strike="noStrike" cap="none">
              <a:solidFill>
                <a:srgbClr val="C68A65"/>
              </a:solidFill>
              <a:latin typeface="Meiryo"/>
              <a:ea typeface="Meiryo"/>
              <a:cs typeface="Meiryo"/>
              <a:sym typeface="Meiryo"/>
            </a:endParaRPr>
          </a:p>
        </p:txBody>
      </p:sp>
      <p:cxnSp>
        <p:nvCxnSpPr>
          <p:cNvPr id="452" name="Google Shape;452;g382af4871d9_0_16"/>
          <p:cNvCxnSpPr/>
          <p:nvPr/>
        </p:nvCxnSpPr>
        <p:spPr>
          <a:xfrm flipH="1">
            <a:off x="3655172" y="802898"/>
            <a:ext cx="6000" cy="2082600"/>
          </a:xfrm>
          <a:prstGeom prst="straightConnector1">
            <a:avLst/>
          </a:prstGeom>
          <a:noFill/>
          <a:ln w="9525" cap="flat" cmpd="sng">
            <a:solidFill>
              <a:srgbClr val="C68A65"/>
            </a:solidFill>
            <a:prstDash val="solid"/>
            <a:round/>
            <a:headEnd type="none" w="sm" len="sm"/>
            <a:tailEnd type="none" w="sm" len="sm"/>
          </a:ln>
        </p:spPr>
      </p:cxnSp>
      <p:sp>
        <p:nvSpPr>
          <p:cNvPr id="453" name="Google Shape;453;g382af4871d9_0_16"/>
          <p:cNvSpPr/>
          <p:nvPr/>
        </p:nvSpPr>
        <p:spPr>
          <a:xfrm>
            <a:off x="3507868" y="509436"/>
            <a:ext cx="810300" cy="2199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 sz="800" b="1" i="0" u="none" strike="noStrike" cap="none">
                <a:solidFill>
                  <a:schemeClr val="lt1"/>
                </a:solidFill>
                <a:latin typeface="Meiryo"/>
                <a:ea typeface="Meiryo"/>
                <a:cs typeface="Meiryo"/>
                <a:sym typeface="Meiryo"/>
              </a:rPr>
              <a:t>History</a:t>
            </a:r>
            <a:endParaRPr sz="800" b="1" i="0" u="none" strike="noStrike" cap="none">
              <a:solidFill>
                <a:schemeClr val="lt1"/>
              </a:solidFill>
              <a:latin typeface="Meiryo"/>
              <a:ea typeface="Meiryo"/>
              <a:cs typeface="Meiryo"/>
              <a:sym typeface="Meiryo"/>
            </a:endParaRPr>
          </a:p>
        </p:txBody>
      </p:sp>
      <p:sp>
        <p:nvSpPr>
          <p:cNvPr id="454" name="Google Shape;454;g382af4871d9_0_16"/>
          <p:cNvSpPr txBox="1"/>
          <p:nvPr/>
        </p:nvSpPr>
        <p:spPr>
          <a:xfrm>
            <a:off x="271525" y="3674825"/>
            <a:ext cx="6713400" cy="7941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ja" sz="1200" b="1" i="0" u="none" strike="noStrike" cap="none">
                <a:solidFill>
                  <a:srgbClr val="C68A65"/>
                </a:solidFill>
                <a:latin typeface="Meiryo"/>
                <a:ea typeface="Meiryo"/>
                <a:cs typeface="Meiryo"/>
                <a:sym typeface="Meiryo"/>
              </a:rPr>
              <a:t>“幸せな瞬間や自分へのご褒美、誰かと共有することで生まれる温かい気持ちは、</a:t>
            </a:r>
            <a:endParaRPr sz="1200" b="1" i="0" u="none" strike="noStrike" cap="none">
              <a:solidFill>
                <a:srgbClr val="C68A65"/>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1200"/>
              <a:buFont typeface="Arial"/>
              <a:buNone/>
            </a:pPr>
            <a:r>
              <a:rPr lang="ja" sz="1200" b="1" i="0" u="none" strike="noStrike" cap="none">
                <a:solidFill>
                  <a:srgbClr val="C68A65"/>
                </a:solidFill>
                <a:latin typeface="Meiryo"/>
                <a:ea typeface="Meiryo"/>
                <a:cs typeface="Meiryo"/>
                <a:sym typeface="Meiryo"/>
              </a:rPr>
              <a:t>私にとってすべてです。活気と刺激に満ちた雰囲気の中で、友人や家族との</a:t>
            </a:r>
            <a:endParaRPr sz="1200" b="1" i="0" u="none" strike="noStrike" cap="none">
              <a:solidFill>
                <a:srgbClr val="C68A65"/>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1200"/>
              <a:buFont typeface="Arial"/>
              <a:buNone/>
            </a:pPr>
            <a:r>
              <a:rPr lang="ja" sz="1200" b="1" i="0" u="none" strike="noStrike" cap="none">
                <a:solidFill>
                  <a:srgbClr val="C68A65"/>
                </a:solidFill>
                <a:latin typeface="Meiryo"/>
                <a:ea typeface="Meiryo"/>
                <a:cs typeface="Meiryo"/>
                <a:sym typeface="Meiryo"/>
              </a:rPr>
              <a:t>時間を最大限に楽しむことができる、それがレストランなのです“</a:t>
            </a:r>
            <a:endParaRPr sz="1200" b="1" i="0" u="none" strike="noStrike" cap="none">
              <a:solidFill>
                <a:srgbClr val="C68A65"/>
              </a:solidFill>
              <a:latin typeface="Meiryo"/>
              <a:ea typeface="Meiryo"/>
              <a:cs typeface="Meiryo"/>
              <a:sym typeface="Meiryo"/>
            </a:endParaRPr>
          </a:p>
        </p:txBody>
      </p:sp>
      <p:pic>
        <p:nvPicPr>
          <p:cNvPr id="455" name="Google Shape;455;g382af4871d9_0_16" title="スクリーンショット 2025-08-06 082605.png"/>
          <p:cNvPicPr preferRelativeResize="0"/>
          <p:nvPr/>
        </p:nvPicPr>
        <p:blipFill rotWithShape="1">
          <a:blip r:embed="rId4">
            <a:alphaModFix/>
          </a:blip>
          <a:srcRect l="9523" t="7236" r="16364" b="15363"/>
          <a:stretch/>
        </p:blipFill>
        <p:spPr>
          <a:xfrm>
            <a:off x="6856024" y="3674825"/>
            <a:ext cx="1466687" cy="794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g382af4871d9_0_30"/>
          <p:cNvSpPr txBox="1"/>
          <p:nvPr/>
        </p:nvSpPr>
        <p:spPr>
          <a:xfrm>
            <a:off x="239772" y="211050"/>
            <a:ext cx="2160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1F1F1F"/>
                </a:solidFill>
                <a:highlight>
                  <a:srgbClr val="FFFFFF"/>
                </a:highlight>
                <a:latin typeface="Meiryo"/>
                <a:ea typeface="Meiryo"/>
                <a:cs typeface="Meiryo"/>
                <a:sym typeface="Meiryo"/>
              </a:rPr>
              <a:t>THIERRY MARXとは</a:t>
            </a:r>
            <a:endParaRPr sz="1400" b="1" i="0" u="none" strike="noStrike" cap="none">
              <a:solidFill>
                <a:schemeClr val="dk1"/>
              </a:solidFill>
              <a:latin typeface="Meiryo"/>
              <a:ea typeface="Meiryo"/>
              <a:cs typeface="Meiryo"/>
              <a:sym typeface="Meiryo"/>
            </a:endParaRPr>
          </a:p>
        </p:txBody>
      </p:sp>
      <p:pic>
        <p:nvPicPr>
          <p:cNvPr id="461" name="Google Shape;461;g382af4871d9_0_30"/>
          <p:cNvPicPr preferRelativeResize="0"/>
          <p:nvPr/>
        </p:nvPicPr>
        <p:blipFill rotWithShape="1">
          <a:blip r:embed="rId3">
            <a:alphaModFix/>
          </a:blip>
          <a:srcRect/>
          <a:stretch/>
        </p:blipFill>
        <p:spPr>
          <a:xfrm>
            <a:off x="5585282" y="3517448"/>
            <a:ext cx="1680941" cy="1423435"/>
          </a:xfrm>
          <a:prstGeom prst="rect">
            <a:avLst/>
          </a:prstGeom>
          <a:noFill/>
          <a:ln>
            <a:noFill/>
          </a:ln>
        </p:spPr>
      </p:pic>
      <p:pic>
        <p:nvPicPr>
          <p:cNvPr id="462" name="Google Shape;462;g382af4871d9_0_30"/>
          <p:cNvPicPr preferRelativeResize="0"/>
          <p:nvPr/>
        </p:nvPicPr>
        <p:blipFill rotWithShape="1">
          <a:blip r:embed="rId4">
            <a:alphaModFix/>
          </a:blip>
          <a:srcRect/>
          <a:stretch/>
        </p:blipFill>
        <p:spPr>
          <a:xfrm>
            <a:off x="3889275" y="3517457"/>
            <a:ext cx="1696007" cy="1423448"/>
          </a:xfrm>
          <a:prstGeom prst="rect">
            <a:avLst/>
          </a:prstGeom>
          <a:noFill/>
          <a:ln>
            <a:noFill/>
          </a:ln>
        </p:spPr>
      </p:pic>
      <p:pic>
        <p:nvPicPr>
          <p:cNvPr id="463" name="Google Shape;463;g382af4871d9_0_30"/>
          <p:cNvPicPr preferRelativeResize="0"/>
          <p:nvPr/>
        </p:nvPicPr>
        <p:blipFill rotWithShape="1">
          <a:blip r:embed="rId5">
            <a:alphaModFix/>
          </a:blip>
          <a:srcRect b="2085"/>
          <a:stretch/>
        </p:blipFill>
        <p:spPr>
          <a:xfrm>
            <a:off x="7266215" y="3517449"/>
            <a:ext cx="1680948" cy="1423448"/>
          </a:xfrm>
          <a:prstGeom prst="rect">
            <a:avLst/>
          </a:prstGeom>
          <a:noFill/>
          <a:ln>
            <a:noFill/>
          </a:ln>
        </p:spPr>
      </p:pic>
      <p:sp>
        <p:nvSpPr>
          <p:cNvPr id="464" name="Google Shape;464;g382af4871d9_0_30"/>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465" name="Google Shape;465;g382af4871d9_0_30"/>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16</a:t>
            </a:fld>
            <a:endParaRPr/>
          </a:p>
        </p:txBody>
      </p:sp>
      <p:sp>
        <p:nvSpPr>
          <p:cNvPr id="466" name="Google Shape;466;g382af4871d9_0_30"/>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467" name="Google Shape;467;g382af4871d9_0_30"/>
          <p:cNvSpPr/>
          <p:nvPr/>
        </p:nvSpPr>
        <p:spPr>
          <a:xfrm>
            <a:off x="295026" y="590282"/>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a:solidFill>
                  <a:schemeClr val="lt1"/>
                </a:solidFill>
                <a:latin typeface="Meiryo"/>
                <a:ea typeface="Meiryo"/>
                <a:cs typeface="Meiryo"/>
                <a:sym typeface="Meiryo"/>
              </a:rPr>
              <a:t>事業内容</a:t>
            </a:r>
            <a:endParaRPr sz="700" b="1" i="0" u="none" strike="noStrike" cap="none">
              <a:solidFill>
                <a:schemeClr val="lt1"/>
              </a:solidFill>
              <a:latin typeface="Meiryo"/>
              <a:ea typeface="Meiryo"/>
              <a:cs typeface="Meiryo"/>
              <a:sym typeface="Meiryo"/>
            </a:endParaRPr>
          </a:p>
        </p:txBody>
      </p:sp>
      <p:sp>
        <p:nvSpPr>
          <p:cNvPr id="468" name="Google Shape;468;g382af4871d9_0_30"/>
          <p:cNvSpPr/>
          <p:nvPr/>
        </p:nvSpPr>
        <p:spPr>
          <a:xfrm>
            <a:off x="3918375" y="3278124"/>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a:solidFill>
                  <a:schemeClr val="lt1"/>
                </a:solidFill>
                <a:latin typeface="Meiryo"/>
                <a:ea typeface="Meiryo"/>
                <a:cs typeface="Meiryo"/>
                <a:sym typeface="Meiryo"/>
              </a:rPr>
              <a:t>過去の店舗展開</a:t>
            </a:r>
            <a:endParaRPr sz="700" b="1" i="0" u="none" strike="noStrike" cap="none">
              <a:solidFill>
                <a:schemeClr val="lt1"/>
              </a:solidFill>
              <a:latin typeface="Meiryo"/>
              <a:ea typeface="Meiryo"/>
              <a:cs typeface="Meiryo"/>
              <a:sym typeface="Meiryo"/>
            </a:endParaRPr>
          </a:p>
        </p:txBody>
      </p:sp>
      <p:sp>
        <p:nvSpPr>
          <p:cNvPr id="469" name="Google Shape;469;g382af4871d9_0_30"/>
          <p:cNvSpPr txBox="1"/>
          <p:nvPr/>
        </p:nvSpPr>
        <p:spPr>
          <a:xfrm>
            <a:off x="295026" y="884904"/>
            <a:ext cx="3836400" cy="2148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C68A65"/>
                </a:solidFill>
                <a:latin typeface="Meiryo"/>
                <a:ea typeface="Meiryo"/>
                <a:cs typeface="Meiryo"/>
                <a:sym typeface="Meiryo"/>
              </a:rPr>
              <a:t>レストラン</a:t>
            </a:r>
            <a:endParaRPr sz="8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・「シュール・ムジュール パール ティエリー・マルク ス」</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ホテル「マンダリン オリエンタル パリ」内　ミシュラン2つ星</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・「カメリア」</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ホテル「マンダリン オリエンタル パリ」内　オールデイ ダイニング</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・「マダム・ブラッスリー」エッフェル塔1階（地上58メートル）</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朝食からディナーまで楽しめるブラッスリー</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・現在パリ8区に新レストランの着工準備中 </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C68A65"/>
                </a:solidFill>
                <a:latin typeface="Meiryo"/>
                <a:ea typeface="Meiryo"/>
                <a:cs typeface="Meiryo"/>
                <a:sym typeface="Meiryo"/>
              </a:rPr>
              <a:t>ブーランジェリー</a:t>
            </a:r>
            <a:endParaRPr sz="8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・「ティエリーマルクス　ベーカリー」</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・ファストカジュアルのコンセプトで料理とパンの世界を融合</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現在、パリ市内に5店舗</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東京渋谷に「ティエリーマルクス ラ ブーランジェリー」を構える</a:t>
            </a:r>
            <a:endParaRPr sz="800" b="0" i="0" u="none" strike="noStrike" cap="none">
              <a:solidFill>
                <a:srgbClr val="000000"/>
              </a:solidFill>
              <a:latin typeface="Meiryo"/>
              <a:ea typeface="Meiryo"/>
              <a:cs typeface="Meiryo"/>
              <a:sym typeface="Meiryo"/>
            </a:endParaRPr>
          </a:p>
        </p:txBody>
      </p:sp>
      <p:sp>
        <p:nvSpPr>
          <p:cNvPr id="470" name="Google Shape;470;g382af4871d9_0_30"/>
          <p:cNvSpPr txBox="1"/>
          <p:nvPr/>
        </p:nvSpPr>
        <p:spPr>
          <a:xfrm>
            <a:off x="295025" y="3566700"/>
            <a:ext cx="3330600" cy="14238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・新しい形の料理雑誌「BON」創立（出版）</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・「トップシェフ」「マスターシェフ」の審査員（TV番組）</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・フードビジョン・パリ2024</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・食のセレクトショップ「Omie et Cie」 </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アドバイザーとして、商品やレシピの提案を行う</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・「フランス料理研究センター」 設立</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物理化学者のラファエル・ハウモンと共に調理を科学的な分析/提議を行う</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・国際宇宙ステーションでのガストロノミー・メニューを制作 </a:t>
            </a:r>
            <a:endParaRPr sz="700" b="0" i="0" u="none" strike="noStrike" cap="none">
              <a:solidFill>
                <a:srgbClr val="000000"/>
              </a:solidFill>
              <a:latin typeface="Meiryo"/>
              <a:ea typeface="Meiryo"/>
              <a:cs typeface="Meiryo"/>
              <a:sym typeface="Meiryo"/>
            </a:endParaRPr>
          </a:p>
        </p:txBody>
      </p:sp>
      <p:pic>
        <p:nvPicPr>
          <p:cNvPr id="471" name="Google Shape;471;g382af4871d9_0_30"/>
          <p:cNvPicPr preferRelativeResize="0"/>
          <p:nvPr/>
        </p:nvPicPr>
        <p:blipFill rotWithShape="1">
          <a:blip r:embed="rId6">
            <a:alphaModFix/>
          </a:blip>
          <a:srcRect l="21632" t="56365" r="4706" b="4022"/>
          <a:stretch/>
        </p:blipFill>
        <p:spPr>
          <a:xfrm>
            <a:off x="7117162" y="2616600"/>
            <a:ext cx="1149679" cy="705225"/>
          </a:xfrm>
          <a:prstGeom prst="rect">
            <a:avLst/>
          </a:prstGeom>
          <a:noFill/>
          <a:ln>
            <a:noFill/>
          </a:ln>
        </p:spPr>
      </p:pic>
      <p:pic>
        <p:nvPicPr>
          <p:cNvPr id="472" name="Google Shape;472;g382af4871d9_0_30"/>
          <p:cNvPicPr preferRelativeResize="0"/>
          <p:nvPr/>
        </p:nvPicPr>
        <p:blipFill rotWithShape="1">
          <a:blip r:embed="rId6">
            <a:alphaModFix/>
          </a:blip>
          <a:srcRect l="3662" t="4616" r="54381" b="51210"/>
          <a:stretch/>
        </p:blipFill>
        <p:spPr>
          <a:xfrm>
            <a:off x="2892344" y="3566688"/>
            <a:ext cx="628957" cy="755400"/>
          </a:xfrm>
          <a:prstGeom prst="rect">
            <a:avLst/>
          </a:prstGeom>
          <a:noFill/>
          <a:ln>
            <a:noFill/>
          </a:ln>
        </p:spPr>
      </p:pic>
      <p:sp>
        <p:nvSpPr>
          <p:cNvPr id="473" name="Google Shape;473;g382af4871d9_0_30"/>
          <p:cNvSpPr/>
          <p:nvPr/>
        </p:nvSpPr>
        <p:spPr>
          <a:xfrm>
            <a:off x="365326" y="3268499"/>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a:solidFill>
                  <a:schemeClr val="lt1"/>
                </a:solidFill>
                <a:latin typeface="Meiryo"/>
                <a:ea typeface="Meiryo"/>
                <a:cs typeface="Meiryo"/>
                <a:sym typeface="Meiryo"/>
              </a:rPr>
              <a:t>その他の活動</a:t>
            </a:r>
            <a:endParaRPr sz="700" b="1" i="0" u="none" strike="noStrike" cap="none">
              <a:solidFill>
                <a:schemeClr val="lt1"/>
              </a:solidFill>
              <a:latin typeface="Meiryo"/>
              <a:ea typeface="Meiryo"/>
              <a:cs typeface="Meiryo"/>
              <a:sym typeface="Meiryo"/>
            </a:endParaRPr>
          </a:p>
        </p:txBody>
      </p:sp>
      <p:sp>
        <p:nvSpPr>
          <p:cNvPr id="474" name="Google Shape;474;g382af4871d9_0_30"/>
          <p:cNvSpPr/>
          <p:nvPr/>
        </p:nvSpPr>
        <p:spPr>
          <a:xfrm>
            <a:off x="5683475" y="574452"/>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a:solidFill>
                  <a:schemeClr val="lt1"/>
                </a:solidFill>
                <a:latin typeface="Meiryo"/>
                <a:ea typeface="Meiryo"/>
                <a:cs typeface="Meiryo"/>
                <a:sym typeface="Meiryo"/>
              </a:rPr>
              <a:t>事業内容</a:t>
            </a:r>
            <a:endParaRPr sz="700" b="1" i="0" u="none" strike="noStrike" cap="none">
              <a:solidFill>
                <a:schemeClr val="lt1"/>
              </a:solidFill>
              <a:latin typeface="Meiryo"/>
              <a:ea typeface="Meiryo"/>
              <a:cs typeface="Meiryo"/>
              <a:sym typeface="Meiryo"/>
            </a:endParaRPr>
          </a:p>
        </p:txBody>
      </p:sp>
      <p:sp>
        <p:nvSpPr>
          <p:cNvPr id="475" name="Google Shape;475;g382af4871d9_0_30"/>
          <p:cNvSpPr txBox="1"/>
          <p:nvPr/>
        </p:nvSpPr>
        <p:spPr>
          <a:xfrm>
            <a:off x="5408675" y="837670"/>
            <a:ext cx="3593700" cy="1779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C68A65"/>
                </a:solidFill>
                <a:latin typeface="Meiryo"/>
                <a:ea typeface="Meiryo"/>
                <a:cs typeface="Meiryo"/>
                <a:sym typeface="Meiryo"/>
              </a:rPr>
              <a:t>環境への配慮</a:t>
            </a:r>
            <a:endParaRPr sz="7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・100％認証食品を使用</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・プラスチック製品の使用削減</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・食品を100％リサイクル活用（アンチ廃棄物）</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・ゼロ・ウェイスト宣言（食品の2次利用等、無駄を無くす努力） </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C68A65"/>
                </a:solidFill>
                <a:latin typeface="Meiryo"/>
                <a:ea typeface="Meiryo"/>
                <a:cs typeface="Meiryo"/>
                <a:sym typeface="Meiryo"/>
              </a:rPr>
              <a:t>社会貢献および教育</a:t>
            </a:r>
            <a:endParaRPr sz="7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・社会生活から隔離された人々の社会復帰、自立できる経済モデルを構築</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・フランスでの職業復帰率は10％を占める</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・パリ市と共に、社会的・職業的自立を主な目的とした</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「Cuisine mode d‘emploi（調理における職業訓練所）」 を設立</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・拘置所にて受刑者に料理教室を開催、 職業復帰プロジェクトを支援</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・「College Culinaire （コレージュ・キュリネール）」の創立メンバー</a:t>
            </a:r>
            <a:endParaRPr sz="700" b="0" i="0" u="none" strike="noStrike" cap="none">
              <a:solidFill>
                <a:srgbClr val="000000"/>
              </a:solidFill>
              <a:latin typeface="Meiryo"/>
              <a:ea typeface="Meiryo"/>
              <a:cs typeface="Meiryo"/>
              <a:sym typeface="Meiryo"/>
            </a:endParaRPr>
          </a:p>
        </p:txBody>
      </p:sp>
      <p:pic>
        <p:nvPicPr>
          <p:cNvPr id="476" name="Google Shape;476;g382af4871d9_0_30"/>
          <p:cNvPicPr preferRelativeResize="0"/>
          <p:nvPr/>
        </p:nvPicPr>
        <p:blipFill rotWithShape="1">
          <a:blip r:embed="rId7">
            <a:alphaModFix/>
          </a:blip>
          <a:srcRect l="7894" t="4933" r="20915" b="40486"/>
          <a:stretch/>
        </p:blipFill>
        <p:spPr>
          <a:xfrm>
            <a:off x="3889275" y="1335093"/>
            <a:ext cx="1069561" cy="806628"/>
          </a:xfrm>
          <a:prstGeom prst="rect">
            <a:avLst/>
          </a:prstGeom>
          <a:noFill/>
          <a:ln>
            <a:noFill/>
          </a:ln>
        </p:spPr>
      </p:pic>
      <p:pic>
        <p:nvPicPr>
          <p:cNvPr id="477" name="Google Shape;477;g382af4871d9_0_30"/>
          <p:cNvPicPr preferRelativeResize="0"/>
          <p:nvPr/>
        </p:nvPicPr>
        <p:blipFill rotWithShape="1">
          <a:blip r:embed="rId8">
            <a:alphaModFix/>
          </a:blip>
          <a:srcRect l="19568" t="56410" r="5513" b="5757"/>
          <a:stretch/>
        </p:blipFill>
        <p:spPr>
          <a:xfrm>
            <a:off x="5814166" y="2616600"/>
            <a:ext cx="1245297" cy="705225"/>
          </a:xfrm>
          <a:prstGeom prst="rect">
            <a:avLst/>
          </a:prstGeom>
          <a:noFill/>
          <a:ln>
            <a:noFill/>
          </a:ln>
        </p:spPr>
      </p:pic>
      <p:pic>
        <p:nvPicPr>
          <p:cNvPr id="478" name="Google Shape;478;g382af4871d9_0_30"/>
          <p:cNvPicPr preferRelativeResize="0"/>
          <p:nvPr/>
        </p:nvPicPr>
        <p:blipFill rotWithShape="1">
          <a:blip r:embed="rId9">
            <a:alphaModFix/>
          </a:blip>
          <a:srcRect l="15861" t="55781" r="23363" b="5314"/>
          <a:stretch/>
        </p:blipFill>
        <p:spPr>
          <a:xfrm>
            <a:off x="3889275" y="579434"/>
            <a:ext cx="1069550" cy="719049"/>
          </a:xfrm>
          <a:prstGeom prst="rect">
            <a:avLst/>
          </a:prstGeom>
          <a:noFill/>
          <a:ln>
            <a:noFill/>
          </a:ln>
        </p:spPr>
      </p:pic>
      <p:pic>
        <p:nvPicPr>
          <p:cNvPr id="479" name="Google Shape;479;g382af4871d9_0_30"/>
          <p:cNvPicPr preferRelativeResize="0"/>
          <p:nvPr/>
        </p:nvPicPr>
        <p:blipFill rotWithShape="1">
          <a:blip r:embed="rId10">
            <a:alphaModFix/>
          </a:blip>
          <a:srcRect l="12023" t="10454" r="7925" b="4133"/>
          <a:stretch/>
        </p:blipFill>
        <p:spPr>
          <a:xfrm>
            <a:off x="3889276" y="2178352"/>
            <a:ext cx="1069555" cy="738026"/>
          </a:xfrm>
          <a:prstGeom prst="rect">
            <a:avLst/>
          </a:prstGeom>
          <a:noFill/>
          <a:ln>
            <a:noFill/>
          </a:ln>
        </p:spPr>
      </p:pic>
      <p:pic>
        <p:nvPicPr>
          <p:cNvPr id="480" name="Google Shape;480;g382af4871d9_0_30"/>
          <p:cNvPicPr preferRelativeResize="0"/>
          <p:nvPr/>
        </p:nvPicPr>
        <p:blipFill rotWithShape="1">
          <a:blip r:embed="rId8">
            <a:alphaModFix/>
          </a:blip>
          <a:srcRect l="7602" t="5005" r="53230" b="46255"/>
          <a:stretch/>
        </p:blipFill>
        <p:spPr>
          <a:xfrm>
            <a:off x="8324538" y="2616600"/>
            <a:ext cx="505342" cy="705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g38a8d312103_0_53"/>
          <p:cNvSpPr/>
          <p:nvPr/>
        </p:nvSpPr>
        <p:spPr>
          <a:xfrm>
            <a:off x="536325" y="1364222"/>
            <a:ext cx="2339700" cy="31191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86" name="Google Shape;486;g38a8d312103_0_53"/>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Meiryo"/>
              <a:ea typeface="Meiryo"/>
              <a:cs typeface="Meiryo"/>
              <a:sym typeface="Meiryo"/>
            </a:endParaRPr>
          </a:p>
        </p:txBody>
      </p:sp>
      <p:sp>
        <p:nvSpPr>
          <p:cNvPr id="487" name="Google Shape;487;g38a8d312103_0_5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latin typeface="Meiryo"/>
                <a:ea typeface="Meiryo"/>
                <a:cs typeface="Meiryo"/>
                <a:sym typeface="Meiryo"/>
              </a:rPr>
              <a:t>17</a:t>
            </a:fld>
            <a:endParaRPr>
              <a:latin typeface="Meiryo"/>
              <a:ea typeface="Meiryo"/>
              <a:cs typeface="Meiryo"/>
              <a:sym typeface="Meiryo"/>
            </a:endParaRPr>
          </a:p>
        </p:txBody>
      </p:sp>
      <p:sp>
        <p:nvSpPr>
          <p:cNvPr id="488" name="Google Shape;488;g38a8d312103_0_53"/>
          <p:cNvSpPr/>
          <p:nvPr/>
        </p:nvSpPr>
        <p:spPr>
          <a:xfrm>
            <a:off x="4291247" y="4848004"/>
            <a:ext cx="586200" cy="125400"/>
          </a:xfrm>
          <a:prstGeom prst="roundRect">
            <a:avLst>
              <a:gd name="adj" fmla="val 3217"/>
            </a:avLst>
          </a:prstGeom>
          <a:noFill/>
          <a:ln w="9525" cap="flat" cmpd="sng">
            <a:solidFill>
              <a:srgbClr val="FF0000"/>
            </a:solidFill>
            <a:prstDash val="solid"/>
            <a:miter lim="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Meiryo"/>
              <a:ea typeface="Meiryo"/>
              <a:cs typeface="Meiryo"/>
              <a:sym typeface="Meiryo"/>
            </a:endParaRPr>
          </a:p>
        </p:txBody>
      </p:sp>
      <p:sp>
        <p:nvSpPr>
          <p:cNvPr id="489" name="Google Shape;489;g38a8d312103_0_53"/>
          <p:cNvSpPr txBox="1"/>
          <p:nvPr/>
        </p:nvSpPr>
        <p:spPr>
          <a:xfrm>
            <a:off x="239774" y="287250"/>
            <a:ext cx="61071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ティエリーマルクス×TBSと協業する目的</a:t>
            </a:r>
            <a:endParaRPr sz="1400" b="1" i="0" u="none" strike="noStrike" cap="none">
              <a:solidFill>
                <a:srgbClr val="000000"/>
              </a:solidFill>
              <a:latin typeface="Meiryo"/>
              <a:ea typeface="Meiryo"/>
              <a:cs typeface="Meiryo"/>
              <a:sym typeface="Meiryo"/>
            </a:endParaRPr>
          </a:p>
        </p:txBody>
      </p:sp>
      <p:sp>
        <p:nvSpPr>
          <p:cNvPr id="490" name="Google Shape;490;g38a8d312103_0_53"/>
          <p:cNvSpPr txBox="1"/>
          <p:nvPr/>
        </p:nvSpPr>
        <p:spPr>
          <a:xfrm>
            <a:off x="0" y="673748"/>
            <a:ext cx="9144000" cy="327900"/>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chemeClr val="lt1"/>
                </a:solidFill>
                <a:latin typeface="Meiryo"/>
                <a:ea typeface="Meiryo"/>
                <a:cs typeface="Meiryo"/>
                <a:sym typeface="Meiryo"/>
              </a:rPr>
              <a:t>“3つの柱”でレストラン/ワイン卸事業の拡大へ</a:t>
            </a:r>
            <a:endParaRPr sz="1400" b="1" i="0" u="none" strike="noStrike" cap="none">
              <a:solidFill>
                <a:schemeClr val="lt1"/>
              </a:solidFill>
              <a:latin typeface="Meiryo"/>
              <a:ea typeface="Meiryo"/>
              <a:cs typeface="Meiryo"/>
              <a:sym typeface="Meiryo"/>
            </a:endParaRPr>
          </a:p>
        </p:txBody>
      </p:sp>
      <p:sp>
        <p:nvSpPr>
          <p:cNvPr id="491" name="Google Shape;491;g38a8d312103_0_53"/>
          <p:cNvSpPr/>
          <p:nvPr/>
        </p:nvSpPr>
        <p:spPr>
          <a:xfrm>
            <a:off x="722775" y="2430008"/>
            <a:ext cx="1966800" cy="1874700"/>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ティエリーマルクスの信頼性</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・権威性を生かして、</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海外からのワイン仕入れ</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をさらに強化可能。</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国内においても、希少ワインの割り当てを増やせる可能性あり。</a:t>
            </a:r>
            <a:endParaRPr sz="1050" b="0" i="0" u="none" strike="noStrike" cap="none">
              <a:solidFill>
                <a:srgbClr val="30373F"/>
              </a:solidFill>
              <a:latin typeface="Meiryo"/>
              <a:ea typeface="Meiryo"/>
              <a:cs typeface="Meiryo"/>
              <a:sym typeface="Meiryo"/>
            </a:endParaRPr>
          </a:p>
        </p:txBody>
      </p:sp>
      <p:sp>
        <p:nvSpPr>
          <p:cNvPr id="492" name="Google Shape;492;g38a8d312103_0_53"/>
          <p:cNvSpPr txBox="1"/>
          <p:nvPr/>
        </p:nvSpPr>
        <p:spPr>
          <a:xfrm>
            <a:off x="890934" y="1808390"/>
            <a:ext cx="16305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400" b="1" i="0" u="none" strike="noStrike" cap="none">
                <a:solidFill>
                  <a:srgbClr val="36394B"/>
                </a:solidFill>
                <a:latin typeface="Meiryo"/>
                <a:ea typeface="Meiryo"/>
                <a:cs typeface="Meiryo"/>
                <a:sym typeface="Meiryo"/>
              </a:rPr>
              <a:t>仕入れ力の強化</a:t>
            </a:r>
            <a:endParaRPr sz="1400" b="0" i="0" u="none" strike="noStrike" cap="none">
              <a:solidFill>
                <a:srgbClr val="36394B"/>
              </a:solidFill>
              <a:latin typeface="Arial"/>
              <a:ea typeface="Arial"/>
              <a:cs typeface="Arial"/>
              <a:sym typeface="Arial"/>
            </a:endParaRPr>
          </a:p>
        </p:txBody>
      </p:sp>
      <p:sp>
        <p:nvSpPr>
          <p:cNvPr id="493" name="Google Shape;493;g38a8d312103_0_53"/>
          <p:cNvSpPr/>
          <p:nvPr/>
        </p:nvSpPr>
        <p:spPr>
          <a:xfrm>
            <a:off x="3362125" y="1364222"/>
            <a:ext cx="2339700" cy="31191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94" name="Google Shape;494;g38a8d312103_0_53"/>
          <p:cNvSpPr/>
          <p:nvPr/>
        </p:nvSpPr>
        <p:spPr>
          <a:xfrm>
            <a:off x="6267975" y="1364222"/>
            <a:ext cx="2339700" cy="31191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95" name="Google Shape;495;g38a8d312103_0_53"/>
          <p:cNvSpPr txBox="1"/>
          <p:nvPr/>
        </p:nvSpPr>
        <p:spPr>
          <a:xfrm>
            <a:off x="3716718" y="1808390"/>
            <a:ext cx="16305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400" b="1" i="0" u="none" strike="noStrike" cap="none">
                <a:solidFill>
                  <a:srgbClr val="36394B"/>
                </a:solidFill>
                <a:latin typeface="Meiryo"/>
                <a:ea typeface="Meiryo"/>
                <a:cs typeface="Meiryo"/>
                <a:sym typeface="Meiryo"/>
              </a:rPr>
              <a:t>販売の促進</a:t>
            </a:r>
            <a:endParaRPr sz="1400" b="0" i="0" u="none" strike="noStrike" cap="none">
              <a:solidFill>
                <a:srgbClr val="36394B"/>
              </a:solidFill>
              <a:latin typeface="Arial"/>
              <a:ea typeface="Arial"/>
              <a:cs typeface="Arial"/>
              <a:sym typeface="Arial"/>
            </a:endParaRPr>
          </a:p>
        </p:txBody>
      </p:sp>
      <p:sp>
        <p:nvSpPr>
          <p:cNvPr id="496" name="Google Shape;496;g38a8d312103_0_53"/>
          <p:cNvSpPr txBox="1"/>
          <p:nvPr/>
        </p:nvSpPr>
        <p:spPr>
          <a:xfrm>
            <a:off x="6622568" y="1808390"/>
            <a:ext cx="16305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400" b="1" i="0" u="none" strike="noStrike" cap="none">
                <a:solidFill>
                  <a:srgbClr val="36394B"/>
                </a:solidFill>
                <a:latin typeface="Meiryo"/>
                <a:ea typeface="Meiryo"/>
                <a:cs typeface="Meiryo"/>
                <a:sym typeface="Meiryo"/>
              </a:rPr>
              <a:t>TBSアライアンス</a:t>
            </a:r>
            <a:endParaRPr sz="1400" b="0" i="0" u="none" strike="noStrike" cap="none">
              <a:solidFill>
                <a:srgbClr val="36394B"/>
              </a:solidFill>
              <a:latin typeface="Arial"/>
              <a:ea typeface="Arial"/>
              <a:cs typeface="Arial"/>
              <a:sym typeface="Arial"/>
            </a:endParaRPr>
          </a:p>
        </p:txBody>
      </p:sp>
      <p:sp>
        <p:nvSpPr>
          <p:cNvPr id="497" name="Google Shape;497;g38a8d312103_0_53"/>
          <p:cNvSpPr/>
          <p:nvPr/>
        </p:nvSpPr>
        <p:spPr>
          <a:xfrm>
            <a:off x="3548575" y="2430008"/>
            <a:ext cx="1966800" cy="1874700"/>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ティエリーマルクスの過去出店実績（日本国内）より、</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店舗で</a:t>
            </a:r>
            <a:r>
              <a:rPr lang="ja" sz="1050" b="1" i="0" u="none" strike="noStrike" cap="none">
                <a:solidFill>
                  <a:srgbClr val="CF9F82"/>
                </a:solidFill>
                <a:latin typeface="Meiryo"/>
                <a:ea typeface="Meiryo"/>
                <a:cs typeface="Meiryo"/>
                <a:sym typeface="Meiryo"/>
              </a:rPr>
              <a:t>の</a:t>
            </a:r>
            <a:r>
              <a:rPr lang="ja" sz="1050" b="1" i="0" u="none" strike="noStrike" cap="none">
                <a:solidFill>
                  <a:srgbClr val="C68A65"/>
                </a:solidFill>
                <a:latin typeface="Meiryo"/>
                <a:ea typeface="Meiryo"/>
                <a:cs typeface="Meiryo"/>
                <a:sym typeface="Meiryo"/>
              </a:rPr>
              <a:t>継続的なワイン売上</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が期待できる。</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当社レストラン/ワイン卸事業の収益としては、</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来期売上200%</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まで成長する見込み。</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p:txBody>
      </p:sp>
      <p:sp>
        <p:nvSpPr>
          <p:cNvPr id="498" name="Google Shape;498;g38a8d312103_0_53"/>
          <p:cNvSpPr/>
          <p:nvPr/>
        </p:nvSpPr>
        <p:spPr>
          <a:xfrm>
            <a:off x="6454425" y="2430008"/>
            <a:ext cx="1966800" cy="1874700"/>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TBSの参画により、</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圧倒的なPR/販促の効果</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が期待できる。</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ティエリーマルクス店舗だけでなく、運営会社である</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当社WineBankの認知拡大</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にも寄与。</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p:txBody>
      </p:sp>
      <p:sp>
        <p:nvSpPr>
          <p:cNvPr id="499" name="Google Shape;499;g38a8d312103_0_53"/>
          <p:cNvSpPr txBox="1"/>
          <p:nvPr/>
        </p:nvSpPr>
        <p:spPr>
          <a:xfrm>
            <a:off x="456216" y="1271013"/>
            <a:ext cx="422100" cy="630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3500" b="1" i="0" u="none" strike="noStrike" cap="none">
                <a:solidFill>
                  <a:srgbClr val="D8D8D8"/>
                </a:solidFill>
                <a:latin typeface="Meiryo"/>
                <a:ea typeface="Meiryo"/>
                <a:cs typeface="Meiryo"/>
                <a:sym typeface="Meiryo"/>
              </a:rPr>
              <a:t>1</a:t>
            </a:r>
            <a:endParaRPr sz="3900" b="0" i="0" u="none" strike="noStrike" cap="none">
              <a:solidFill>
                <a:srgbClr val="D8D8D8"/>
              </a:solidFill>
              <a:latin typeface="Arial"/>
              <a:ea typeface="Arial"/>
              <a:cs typeface="Arial"/>
              <a:sym typeface="Arial"/>
            </a:endParaRPr>
          </a:p>
        </p:txBody>
      </p:sp>
      <p:sp>
        <p:nvSpPr>
          <p:cNvPr id="500" name="Google Shape;500;g38a8d312103_0_53"/>
          <p:cNvSpPr txBox="1"/>
          <p:nvPr/>
        </p:nvSpPr>
        <p:spPr>
          <a:xfrm>
            <a:off x="3305250" y="1271025"/>
            <a:ext cx="422100" cy="630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3500" b="1" i="0" u="none" strike="noStrike" cap="none">
                <a:solidFill>
                  <a:srgbClr val="D8D8D8"/>
                </a:solidFill>
                <a:latin typeface="Meiryo"/>
                <a:ea typeface="Meiryo"/>
                <a:cs typeface="Meiryo"/>
                <a:sym typeface="Meiryo"/>
              </a:rPr>
              <a:t>2</a:t>
            </a:r>
            <a:endParaRPr sz="3500" b="1" i="0" u="none" strike="noStrike" cap="none">
              <a:solidFill>
                <a:srgbClr val="D8D8D8"/>
              </a:solidFill>
              <a:latin typeface="Meiryo"/>
              <a:ea typeface="Meiryo"/>
              <a:cs typeface="Meiryo"/>
              <a:sym typeface="Meiryo"/>
            </a:endParaRPr>
          </a:p>
        </p:txBody>
      </p:sp>
      <p:sp>
        <p:nvSpPr>
          <p:cNvPr id="501" name="Google Shape;501;g38a8d312103_0_53"/>
          <p:cNvSpPr txBox="1"/>
          <p:nvPr/>
        </p:nvSpPr>
        <p:spPr>
          <a:xfrm>
            <a:off x="6197136" y="1271025"/>
            <a:ext cx="422100" cy="630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3500" b="1" i="0" u="none" strike="noStrike" cap="none">
                <a:solidFill>
                  <a:srgbClr val="D8D8D8"/>
                </a:solidFill>
                <a:latin typeface="Meiryo"/>
                <a:ea typeface="Meiryo"/>
                <a:cs typeface="Meiryo"/>
                <a:sym typeface="Meiryo"/>
              </a:rPr>
              <a:t>3</a:t>
            </a:r>
            <a:endParaRPr sz="4000" b="0" i="0" u="none" strike="noStrike" cap="none">
              <a:solidFill>
                <a:srgbClr val="D8D8D8"/>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g40a0e788958_0_0"/>
          <p:cNvSpPr txBox="1"/>
          <p:nvPr/>
        </p:nvSpPr>
        <p:spPr>
          <a:xfrm>
            <a:off x="1876543" y="1301802"/>
            <a:ext cx="5231100" cy="1371900"/>
          </a:xfrm>
          <a:prstGeom prst="rect">
            <a:avLst/>
          </a:prstGeom>
          <a:noFill/>
          <a:ln>
            <a:noFill/>
          </a:ln>
        </p:spPr>
        <p:txBody>
          <a:bodyPr spcFirstLastPara="1" wrap="square" lIns="78225" tIns="39125" rIns="78225" bIns="39125" anchor="t" anchorCtr="0">
            <a:spAutoFit/>
          </a:bodyPr>
          <a:lstStyle/>
          <a:p>
            <a:pPr marL="0" marR="0" lvl="0" indent="0" algn="ctr" rtl="0">
              <a:lnSpc>
                <a:spcPct val="200000"/>
              </a:lnSpc>
              <a:spcBef>
                <a:spcPts val="0"/>
              </a:spcBef>
              <a:spcAft>
                <a:spcPts val="0"/>
              </a:spcAft>
              <a:buClr>
                <a:srgbClr val="000000"/>
              </a:buClr>
              <a:buSzPts val="2800"/>
              <a:buFont typeface="Arial"/>
              <a:buNone/>
            </a:pPr>
            <a:r>
              <a:rPr lang="ja" sz="2800" b="1" i="0" u="none" strike="noStrike" cap="none">
                <a:solidFill>
                  <a:schemeClr val="lt1"/>
                </a:solidFill>
                <a:latin typeface="Meiryo"/>
                <a:ea typeface="Meiryo"/>
                <a:cs typeface="Meiryo"/>
                <a:sym typeface="Meiryo"/>
              </a:rPr>
              <a:t>成長戦略 PhaseⅡ</a:t>
            </a:r>
            <a:endParaRPr sz="2800" b="1" i="0" u="none" strike="noStrike" cap="none">
              <a:solidFill>
                <a:schemeClr val="lt1"/>
              </a:solidFill>
              <a:latin typeface="Meiryo"/>
              <a:ea typeface="Meiryo"/>
              <a:cs typeface="Meiryo"/>
              <a:sym typeface="Meiryo"/>
            </a:endParaRPr>
          </a:p>
          <a:p>
            <a:pPr marL="0" marR="0" lvl="0" indent="0" algn="ctr" rtl="0">
              <a:lnSpc>
                <a:spcPct val="200000"/>
              </a:lnSpc>
              <a:spcBef>
                <a:spcPts val="0"/>
              </a:spcBef>
              <a:spcAft>
                <a:spcPts val="0"/>
              </a:spcAft>
              <a:buClr>
                <a:srgbClr val="000000"/>
              </a:buClr>
              <a:buSzPts val="2800"/>
              <a:buFont typeface="Arial"/>
              <a:buNone/>
            </a:pPr>
            <a:r>
              <a:rPr lang="ja" sz="2800" b="1" i="0" u="none" strike="noStrike" cap="none">
                <a:solidFill>
                  <a:schemeClr val="lt1"/>
                </a:solidFill>
                <a:latin typeface="Meiryo"/>
                <a:ea typeface="Meiryo"/>
                <a:cs typeface="Meiryo"/>
                <a:sym typeface="Meiryo"/>
              </a:rPr>
              <a:t>国内オーベルジュ構想</a:t>
            </a:r>
            <a:endParaRPr sz="2800" b="1" i="0" u="none" strike="noStrike" cap="none">
              <a:solidFill>
                <a:schemeClr val="lt1"/>
              </a:solidFill>
              <a:latin typeface="Meiryo"/>
              <a:ea typeface="Meiryo"/>
              <a:cs typeface="Meiryo"/>
              <a:sym typeface="Meiry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5"/>
          <p:cNvSpPr/>
          <p:nvPr/>
        </p:nvSpPr>
        <p:spPr>
          <a:xfrm>
            <a:off x="0" y="5012740"/>
            <a:ext cx="9144000" cy="130759"/>
          </a:xfrm>
          <a:prstGeom prst="rect">
            <a:avLst/>
          </a:prstGeom>
          <a:solidFill>
            <a:srgbClr val="3037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12" name="Google Shape;512;p5"/>
          <p:cNvSpPr/>
          <p:nvPr/>
        </p:nvSpPr>
        <p:spPr>
          <a:xfrm>
            <a:off x="4291247" y="4848004"/>
            <a:ext cx="586200" cy="125400"/>
          </a:xfrm>
          <a:prstGeom prst="roundRect">
            <a:avLst>
              <a:gd name="adj" fmla="val 3217"/>
            </a:avLst>
          </a:prstGeom>
          <a:noFill/>
          <a:ln w="9525" cap="flat" cmpd="sng">
            <a:solidFill>
              <a:srgbClr val="FF0000"/>
            </a:solidFill>
            <a:prstDash val="solid"/>
            <a:miter lim="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Meiryo"/>
              <a:ea typeface="Meiryo"/>
              <a:cs typeface="Meiryo"/>
              <a:sym typeface="Meiryo"/>
            </a:endParaRPr>
          </a:p>
        </p:txBody>
      </p:sp>
      <p:sp>
        <p:nvSpPr>
          <p:cNvPr id="513" name="Google Shape;513;p5"/>
          <p:cNvSpPr txBox="1"/>
          <p:nvPr/>
        </p:nvSpPr>
        <p:spPr>
          <a:xfrm>
            <a:off x="239572" y="287121"/>
            <a:ext cx="859536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1400" b="1" i="0" u="none" strike="noStrike" cap="none">
                <a:solidFill>
                  <a:srgbClr val="000000"/>
                </a:solidFill>
                <a:latin typeface="Meiryo"/>
                <a:ea typeface="Meiryo"/>
                <a:cs typeface="Meiryo"/>
                <a:sym typeface="Meiryo"/>
              </a:rPr>
              <a:t>国内オーベルジュ構想</a:t>
            </a:r>
            <a:endParaRPr/>
          </a:p>
        </p:txBody>
      </p:sp>
      <p:sp>
        <p:nvSpPr>
          <p:cNvPr id="514" name="Google Shape;514;p5"/>
          <p:cNvSpPr/>
          <p:nvPr/>
        </p:nvSpPr>
        <p:spPr>
          <a:xfrm>
            <a:off x="0" y="673912"/>
            <a:ext cx="9144000" cy="328269"/>
          </a:xfrm>
          <a:prstGeom prst="rect">
            <a:avLst/>
          </a:prstGeom>
          <a:solidFill>
            <a:srgbClr val="36394B"/>
          </a:solid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ja" sz="1300" b="1" i="0" u="none" strike="noStrike" cap="none">
                <a:solidFill>
                  <a:srgbClr val="FFFFFF"/>
                </a:solidFill>
                <a:latin typeface="Meiryo"/>
                <a:ea typeface="Meiryo"/>
                <a:cs typeface="Meiryo"/>
                <a:sym typeface="Meiryo"/>
              </a:rPr>
              <a:t>ワイナリーに隣接し、温泉を持つ。日本にまだ無いオーベルジュをつくります</a:t>
            </a:r>
            <a:endParaRPr/>
          </a:p>
        </p:txBody>
      </p:sp>
      <p:sp>
        <p:nvSpPr>
          <p:cNvPr id="515" name="Google Shape;515;p5"/>
          <p:cNvSpPr/>
          <p:nvPr/>
        </p:nvSpPr>
        <p:spPr>
          <a:xfrm>
            <a:off x="536752" y="1115568"/>
            <a:ext cx="2339949" cy="868680"/>
          </a:xfrm>
          <a:prstGeom prst="rect">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16" name="Google Shape;516;p5"/>
          <p:cNvSpPr txBox="1"/>
          <p:nvPr/>
        </p:nvSpPr>
        <p:spPr>
          <a:xfrm>
            <a:off x="719632" y="1216152"/>
            <a:ext cx="1974189" cy="20116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950" b="1" i="0" u="none" strike="noStrike" cap="none">
                <a:solidFill>
                  <a:srgbClr val="C68A65"/>
                </a:solidFill>
                <a:latin typeface="Meiryo"/>
                <a:ea typeface="Meiryo"/>
                <a:cs typeface="Meiryo"/>
                <a:sym typeface="Meiryo"/>
              </a:rPr>
              <a:t>料理</a:t>
            </a:r>
            <a:endParaRPr/>
          </a:p>
        </p:txBody>
      </p:sp>
      <p:sp>
        <p:nvSpPr>
          <p:cNvPr id="517" name="Google Shape;517;p5"/>
          <p:cNvSpPr txBox="1"/>
          <p:nvPr/>
        </p:nvSpPr>
        <p:spPr>
          <a:xfrm>
            <a:off x="719632" y="1399032"/>
            <a:ext cx="197418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1800" b="1" i="0" u="none" strike="noStrike" cap="none">
                <a:solidFill>
                  <a:srgbClr val="36394B"/>
                </a:solidFill>
                <a:latin typeface="Meiryo"/>
                <a:ea typeface="Meiryo"/>
                <a:cs typeface="Meiryo"/>
                <a:sym typeface="Meiryo"/>
              </a:rPr>
              <a:t>一日十数名だけ</a:t>
            </a:r>
            <a:endParaRPr/>
          </a:p>
        </p:txBody>
      </p:sp>
      <p:sp>
        <p:nvSpPr>
          <p:cNvPr id="518" name="Google Shape;518;p5"/>
          <p:cNvSpPr txBox="1"/>
          <p:nvPr/>
        </p:nvSpPr>
        <p:spPr>
          <a:xfrm>
            <a:off x="719632" y="1755648"/>
            <a:ext cx="1974189" cy="1828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800" b="0" i="0" u="none" strike="noStrike" cap="none">
                <a:solidFill>
                  <a:srgbClr val="595959"/>
                </a:solidFill>
                <a:latin typeface="Meiryo"/>
                <a:ea typeface="Meiryo"/>
                <a:cs typeface="Meiryo"/>
                <a:sym typeface="Meiryo"/>
              </a:rPr>
              <a:t>その土地の生産者と、同じテーブルに</a:t>
            </a:r>
            <a:endParaRPr/>
          </a:p>
        </p:txBody>
      </p:sp>
      <p:sp>
        <p:nvSpPr>
          <p:cNvPr id="519" name="Google Shape;519;p5"/>
          <p:cNvSpPr/>
          <p:nvPr/>
        </p:nvSpPr>
        <p:spPr>
          <a:xfrm>
            <a:off x="3362248" y="1115568"/>
            <a:ext cx="2339949" cy="868680"/>
          </a:xfrm>
          <a:prstGeom prst="rect">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20" name="Google Shape;520;p5"/>
          <p:cNvSpPr txBox="1"/>
          <p:nvPr/>
        </p:nvSpPr>
        <p:spPr>
          <a:xfrm>
            <a:off x="3545128" y="1216152"/>
            <a:ext cx="1974189" cy="20116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950" b="1" i="0" u="none" strike="noStrike" cap="none">
                <a:solidFill>
                  <a:srgbClr val="C68A65"/>
                </a:solidFill>
                <a:latin typeface="Meiryo"/>
                <a:ea typeface="Meiryo"/>
                <a:cs typeface="Meiryo"/>
                <a:sym typeface="Meiryo"/>
              </a:rPr>
              <a:t>ワイン</a:t>
            </a:r>
            <a:endParaRPr/>
          </a:p>
        </p:txBody>
      </p:sp>
      <p:sp>
        <p:nvSpPr>
          <p:cNvPr id="521" name="Google Shape;521;p5"/>
          <p:cNvSpPr txBox="1"/>
          <p:nvPr/>
        </p:nvSpPr>
        <p:spPr>
          <a:xfrm>
            <a:off x="3545128" y="1399032"/>
            <a:ext cx="197418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1800" b="1" i="0" u="none" strike="noStrike" cap="none">
                <a:solidFill>
                  <a:srgbClr val="36394B"/>
                </a:solidFill>
                <a:latin typeface="Meiryo"/>
                <a:ea typeface="Meiryo"/>
                <a:cs typeface="Meiryo"/>
                <a:sym typeface="Meiryo"/>
              </a:rPr>
              <a:t>ワイナリー隣接</a:t>
            </a:r>
            <a:endParaRPr/>
          </a:p>
        </p:txBody>
      </p:sp>
      <p:sp>
        <p:nvSpPr>
          <p:cNvPr id="522" name="Google Shape;522;p5"/>
          <p:cNvSpPr txBox="1"/>
          <p:nvPr/>
        </p:nvSpPr>
        <p:spPr>
          <a:xfrm>
            <a:off x="3545128" y="1755648"/>
            <a:ext cx="1974189" cy="1828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800" b="0" i="0" u="none" strike="noStrike" cap="none">
                <a:solidFill>
                  <a:srgbClr val="595959"/>
                </a:solidFill>
                <a:latin typeface="Meiryo"/>
                <a:ea typeface="Meiryo"/>
                <a:cs typeface="Meiryo"/>
                <a:sym typeface="Meiryo"/>
              </a:rPr>
              <a:t>造り手の畑が、窓の外にある</a:t>
            </a:r>
            <a:endParaRPr/>
          </a:p>
        </p:txBody>
      </p:sp>
      <p:sp>
        <p:nvSpPr>
          <p:cNvPr id="523" name="Google Shape;523;p5"/>
          <p:cNvSpPr/>
          <p:nvPr/>
        </p:nvSpPr>
        <p:spPr>
          <a:xfrm>
            <a:off x="6268212" y="1115568"/>
            <a:ext cx="2339949" cy="868680"/>
          </a:xfrm>
          <a:prstGeom prst="rect">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24" name="Google Shape;524;p5"/>
          <p:cNvSpPr txBox="1"/>
          <p:nvPr/>
        </p:nvSpPr>
        <p:spPr>
          <a:xfrm>
            <a:off x="6451092" y="1216152"/>
            <a:ext cx="1974189" cy="20116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950" b="1" i="0" u="none" strike="noStrike" cap="none">
                <a:solidFill>
                  <a:srgbClr val="EAD5C7"/>
                </a:solidFill>
                <a:latin typeface="Meiryo"/>
                <a:ea typeface="Meiryo"/>
                <a:cs typeface="Meiryo"/>
                <a:sym typeface="Meiryo"/>
              </a:rPr>
              <a:t>滞在</a:t>
            </a:r>
            <a:endParaRPr/>
          </a:p>
        </p:txBody>
      </p:sp>
      <p:sp>
        <p:nvSpPr>
          <p:cNvPr id="525" name="Google Shape;525;p5"/>
          <p:cNvSpPr txBox="1"/>
          <p:nvPr/>
        </p:nvSpPr>
        <p:spPr>
          <a:xfrm>
            <a:off x="6451092" y="1399032"/>
            <a:ext cx="197418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1800" b="1" i="0" u="none" strike="noStrike" cap="none">
                <a:solidFill>
                  <a:srgbClr val="FFFFFF"/>
                </a:solidFill>
                <a:latin typeface="Meiryo"/>
                <a:ea typeface="Meiryo"/>
                <a:cs typeface="Meiryo"/>
                <a:sym typeface="Meiryo"/>
              </a:rPr>
              <a:t>温泉 ＋ 10室</a:t>
            </a:r>
            <a:endParaRPr/>
          </a:p>
        </p:txBody>
      </p:sp>
      <p:sp>
        <p:nvSpPr>
          <p:cNvPr id="526" name="Google Shape;526;p5"/>
          <p:cNvSpPr txBox="1"/>
          <p:nvPr/>
        </p:nvSpPr>
        <p:spPr>
          <a:xfrm>
            <a:off x="6451092" y="1755648"/>
            <a:ext cx="1974189" cy="1828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800" b="0" i="0" u="none" strike="noStrike" cap="none">
                <a:solidFill>
                  <a:srgbClr val="C9B6A8"/>
                </a:solidFill>
                <a:latin typeface="Meiryo"/>
                <a:ea typeface="Meiryo"/>
                <a:cs typeface="Meiryo"/>
                <a:sym typeface="Meiryo"/>
              </a:rPr>
              <a:t>食後に、移動しなくていい</a:t>
            </a:r>
            <a:endParaRPr/>
          </a:p>
        </p:txBody>
      </p:sp>
      <p:sp>
        <p:nvSpPr>
          <p:cNvPr id="527" name="Google Shape;527;p5"/>
          <p:cNvSpPr txBox="1"/>
          <p:nvPr/>
        </p:nvSpPr>
        <p:spPr>
          <a:xfrm>
            <a:off x="536752" y="2103120"/>
            <a:ext cx="5486400" cy="21945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1100" b="1" i="0" u="none" strike="noStrike" cap="none">
                <a:solidFill>
                  <a:srgbClr val="000000"/>
                </a:solidFill>
                <a:latin typeface="Meiryo"/>
                <a:ea typeface="Meiryo"/>
                <a:cs typeface="Meiryo"/>
                <a:sym typeface="Meiryo"/>
              </a:rPr>
              <a:t>構想の骨子</a:t>
            </a:r>
            <a:endParaRPr/>
          </a:p>
        </p:txBody>
      </p:sp>
      <p:sp>
        <p:nvSpPr>
          <p:cNvPr id="528" name="Google Shape;528;p5"/>
          <p:cNvSpPr/>
          <p:nvPr/>
        </p:nvSpPr>
        <p:spPr>
          <a:xfrm>
            <a:off x="536752" y="2359152"/>
            <a:ext cx="8070494" cy="347472"/>
          </a:xfrm>
          <a:prstGeom prst="rect">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29" name="Google Shape;529;p5"/>
          <p:cNvSpPr txBox="1"/>
          <p:nvPr/>
        </p:nvSpPr>
        <p:spPr>
          <a:xfrm>
            <a:off x="646480" y="2395728"/>
            <a:ext cx="822960"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0" name="Google Shape;530;p5"/>
          <p:cNvSpPr txBox="1"/>
          <p:nvPr/>
        </p:nvSpPr>
        <p:spPr>
          <a:xfrm>
            <a:off x="1652320" y="2395728"/>
            <a:ext cx="2468879"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FFFFFF"/>
                </a:solidFill>
                <a:latin typeface="Meiryo"/>
                <a:ea typeface="Meiryo"/>
                <a:cs typeface="Meiryo"/>
                <a:sym typeface="Meiryo"/>
              </a:rPr>
              <a:t>一般的なオーベルジュ</a:t>
            </a:r>
            <a:endParaRPr/>
          </a:p>
        </p:txBody>
      </p:sp>
      <p:sp>
        <p:nvSpPr>
          <p:cNvPr id="531" name="Google Shape;531;p5"/>
          <p:cNvSpPr txBox="1"/>
          <p:nvPr/>
        </p:nvSpPr>
        <p:spPr>
          <a:xfrm>
            <a:off x="4304080" y="2395728"/>
            <a:ext cx="4230014"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FFFFFF"/>
                </a:solidFill>
                <a:latin typeface="Meiryo"/>
                <a:ea typeface="Meiryo"/>
                <a:cs typeface="Meiryo"/>
                <a:sym typeface="Meiryo"/>
              </a:rPr>
              <a:t>当社が考えるオーベルジュ</a:t>
            </a:r>
            <a:endParaRPr/>
          </a:p>
        </p:txBody>
      </p:sp>
      <p:sp>
        <p:nvSpPr>
          <p:cNvPr id="532" name="Google Shape;532;p5"/>
          <p:cNvSpPr/>
          <p:nvPr/>
        </p:nvSpPr>
        <p:spPr>
          <a:xfrm>
            <a:off x="536752" y="2706624"/>
            <a:ext cx="8070494" cy="347472"/>
          </a:xfrm>
          <a:prstGeom prst="rect">
            <a:avLst/>
          </a:prstGeom>
          <a:solidFill>
            <a:srgbClr val="F6F6F6"/>
          </a:solidFill>
          <a:ln w="9525" cap="flat" cmpd="sng">
            <a:solidFill>
              <a:srgbClr val="E3E3E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33" name="Google Shape;533;p5"/>
          <p:cNvSpPr txBox="1"/>
          <p:nvPr/>
        </p:nvSpPr>
        <p:spPr>
          <a:xfrm>
            <a:off x="646480" y="2743200"/>
            <a:ext cx="822960"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36394B"/>
                </a:solidFill>
                <a:latin typeface="Meiryo"/>
                <a:ea typeface="Meiryo"/>
                <a:cs typeface="Meiryo"/>
                <a:sym typeface="Meiryo"/>
              </a:rPr>
              <a:t>立地</a:t>
            </a:r>
            <a:endParaRPr/>
          </a:p>
        </p:txBody>
      </p:sp>
      <p:sp>
        <p:nvSpPr>
          <p:cNvPr id="534" name="Google Shape;534;p5"/>
          <p:cNvSpPr txBox="1"/>
          <p:nvPr/>
        </p:nvSpPr>
        <p:spPr>
          <a:xfrm>
            <a:off x="1652320" y="2743200"/>
            <a:ext cx="2468879"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0" i="0" u="none" strike="noStrike" cap="none">
                <a:solidFill>
                  <a:srgbClr val="30373F"/>
                </a:solidFill>
                <a:latin typeface="Meiryo"/>
                <a:ea typeface="Meiryo"/>
                <a:cs typeface="Meiryo"/>
                <a:sym typeface="Meiryo"/>
              </a:rPr>
              <a:t>景勝地・観光地に単独で建つ</a:t>
            </a:r>
            <a:endParaRPr/>
          </a:p>
        </p:txBody>
      </p:sp>
      <p:sp>
        <p:nvSpPr>
          <p:cNvPr id="535" name="Google Shape;535;p5"/>
          <p:cNvSpPr txBox="1"/>
          <p:nvPr/>
        </p:nvSpPr>
        <p:spPr>
          <a:xfrm>
            <a:off x="4304080" y="2743200"/>
            <a:ext cx="4230014"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C68A65"/>
                </a:solidFill>
                <a:latin typeface="Meiryo"/>
                <a:ea typeface="Meiryo"/>
                <a:cs typeface="Meiryo"/>
                <a:sym typeface="Meiryo"/>
              </a:rPr>
              <a:t>ワイナリーに隣接。造り手が徒歩圏にいる</a:t>
            </a:r>
            <a:endParaRPr/>
          </a:p>
        </p:txBody>
      </p:sp>
      <p:sp>
        <p:nvSpPr>
          <p:cNvPr id="536" name="Google Shape;536;p5"/>
          <p:cNvSpPr/>
          <p:nvPr/>
        </p:nvSpPr>
        <p:spPr>
          <a:xfrm>
            <a:off x="536752" y="3054096"/>
            <a:ext cx="8070494" cy="347472"/>
          </a:xfrm>
          <a:prstGeom prst="rect">
            <a:avLst/>
          </a:prstGeom>
          <a:solidFill>
            <a:srgbClr val="FFFFFF"/>
          </a:solidFill>
          <a:ln w="9525" cap="flat" cmpd="sng">
            <a:solidFill>
              <a:srgbClr val="E3E3E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37" name="Google Shape;537;p5"/>
          <p:cNvSpPr txBox="1"/>
          <p:nvPr/>
        </p:nvSpPr>
        <p:spPr>
          <a:xfrm>
            <a:off x="646480" y="3090672"/>
            <a:ext cx="822960"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36394B"/>
                </a:solidFill>
                <a:latin typeface="Meiryo"/>
                <a:ea typeface="Meiryo"/>
                <a:cs typeface="Meiryo"/>
                <a:sym typeface="Meiryo"/>
              </a:rPr>
              <a:t>ワイン</a:t>
            </a:r>
            <a:endParaRPr/>
          </a:p>
        </p:txBody>
      </p:sp>
      <p:sp>
        <p:nvSpPr>
          <p:cNvPr id="538" name="Google Shape;538;p5"/>
          <p:cNvSpPr txBox="1"/>
          <p:nvPr/>
        </p:nvSpPr>
        <p:spPr>
          <a:xfrm>
            <a:off x="1652320" y="3090672"/>
            <a:ext cx="2468879"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0" i="0" u="none" strike="noStrike" cap="none">
                <a:solidFill>
                  <a:srgbClr val="30373F"/>
                </a:solidFill>
                <a:latin typeface="Meiryo"/>
                <a:ea typeface="Meiryo"/>
                <a:cs typeface="Meiryo"/>
                <a:sym typeface="Meiryo"/>
              </a:rPr>
              <a:t>地元ワインが中心</a:t>
            </a:r>
            <a:endParaRPr/>
          </a:p>
        </p:txBody>
      </p:sp>
      <p:sp>
        <p:nvSpPr>
          <p:cNvPr id="539" name="Google Shape;539;p5"/>
          <p:cNvSpPr txBox="1"/>
          <p:nvPr/>
        </p:nvSpPr>
        <p:spPr>
          <a:xfrm>
            <a:off x="4304080" y="3090672"/>
            <a:ext cx="4230014"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C68A65"/>
                </a:solidFill>
                <a:latin typeface="Meiryo"/>
                <a:ea typeface="Meiryo"/>
                <a:cs typeface="Meiryo"/>
                <a:sym typeface="Meiryo"/>
              </a:rPr>
              <a:t>当社の仕入網から、世界のファインワインを正規品で</a:t>
            </a:r>
            <a:endParaRPr/>
          </a:p>
        </p:txBody>
      </p:sp>
      <p:sp>
        <p:nvSpPr>
          <p:cNvPr id="540" name="Google Shape;540;p5"/>
          <p:cNvSpPr/>
          <p:nvPr/>
        </p:nvSpPr>
        <p:spPr>
          <a:xfrm>
            <a:off x="536752" y="3401568"/>
            <a:ext cx="8070494" cy="347472"/>
          </a:xfrm>
          <a:prstGeom prst="rect">
            <a:avLst/>
          </a:prstGeom>
          <a:solidFill>
            <a:srgbClr val="F6F6F6"/>
          </a:solidFill>
          <a:ln w="9525" cap="flat" cmpd="sng">
            <a:solidFill>
              <a:srgbClr val="E3E3E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41" name="Google Shape;541;p5"/>
          <p:cNvSpPr txBox="1"/>
          <p:nvPr/>
        </p:nvSpPr>
        <p:spPr>
          <a:xfrm>
            <a:off x="646480" y="3438144"/>
            <a:ext cx="822960"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36394B"/>
                </a:solidFill>
                <a:latin typeface="Meiryo"/>
                <a:ea typeface="Meiryo"/>
                <a:cs typeface="Meiryo"/>
                <a:sym typeface="Meiryo"/>
              </a:rPr>
              <a:t>滞在</a:t>
            </a:r>
            <a:endParaRPr/>
          </a:p>
        </p:txBody>
      </p:sp>
      <p:sp>
        <p:nvSpPr>
          <p:cNvPr id="542" name="Google Shape;542;p5"/>
          <p:cNvSpPr txBox="1"/>
          <p:nvPr/>
        </p:nvSpPr>
        <p:spPr>
          <a:xfrm>
            <a:off x="1652320" y="3438144"/>
            <a:ext cx="2468879"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0" i="0" u="none" strike="noStrike" cap="none">
                <a:solidFill>
                  <a:srgbClr val="30373F"/>
                </a:solidFill>
                <a:latin typeface="Meiryo"/>
                <a:ea typeface="Meiryo"/>
                <a:cs typeface="Meiryo"/>
                <a:sym typeface="Meiryo"/>
              </a:rPr>
              <a:t>宿泊機能のみ</a:t>
            </a:r>
            <a:endParaRPr/>
          </a:p>
        </p:txBody>
      </p:sp>
      <p:sp>
        <p:nvSpPr>
          <p:cNvPr id="543" name="Google Shape;543;p5"/>
          <p:cNvSpPr txBox="1"/>
          <p:nvPr/>
        </p:nvSpPr>
        <p:spPr>
          <a:xfrm>
            <a:off x="4304080" y="3506631"/>
            <a:ext cx="4230014" cy="137345"/>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C68A65"/>
                </a:solidFill>
                <a:latin typeface="Meiryo"/>
                <a:ea typeface="Meiryo"/>
                <a:cs typeface="Meiryo"/>
                <a:sym typeface="Meiryo"/>
              </a:rPr>
              <a:t>温泉を併設。地下に大型カーヴとワインバーも備える</a:t>
            </a:r>
            <a:endParaRPr sz="850" b="1" i="0" u="none" strike="noStrike" cap="none">
              <a:solidFill>
                <a:srgbClr val="C68A65"/>
              </a:solidFill>
              <a:latin typeface="Meiryo"/>
              <a:ea typeface="Meiryo"/>
              <a:cs typeface="Meiryo"/>
              <a:sym typeface="Meiryo"/>
            </a:endParaRPr>
          </a:p>
        </p:txBody>
      </p:sp>
      <p:sp>
        <p:nvSpPr>
          <p:cNvPr id="544" name="Google Shape;544;p5"/>
          <p:cNvSpPr/>
          <p:nvPr/>
        </p:nvSpPr>
        <p:spPr>
          <a:xfrm>
            <a:off x="536752" y="3749039"/>
            <a:ext cx="8070494" cy="347472"/>
          </a:xfrm>
          <a:prstGeom prst="rect">
            <a:avLst/>
          </a:prstGeom>
          <a:solidFill>
            <a:srgbClr val="FFFFFF"/>
          </a:solidFill>
          <a:ln w="9525" cap="flat" cmpd="sng">
            <a:solidFill>
              <a:srgbClr val="E3E3E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45" name="Google Shape;545;p5"/>
          <p:cNvSpPr txBox="1"/>
          <p:nvPr/>
        </p:nvSpPr>
        <p:spPr>
          <a:xfrm>
            <a:off x="646480" y="3785615"/>
            <a:ext cx="822960"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36394B"/>
                </a:solidFill>
                <a:latin typeface="Meiryo"/>
                <a:ea typeface="Meiryo"/>
                <a:cs typeface="Meiryo"/>
                <a:sym typeface="Meiryo"/>
              </a:rPr>
              <a:t>運営</a:t>
            </a:r>
            <a:endParaRPr/>
          </a:p>
        </p:txBody>
      </p:sp>
      <p:sp>
        <p:nvSpPr>
          <p:cNvPr id="546" name="Google Shape;546;p5"/>
          <p:cNvSpPr txBox="1"/>
          <p:nvPr/>
        </p:nvSpPr>
        <p:spPr>
          <a:xfrm>
            <a:off x="1652320" y="3785615"/>
            <a:ext cx="2468879" cy="27432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0" i="0" u="none" strike="noStrike" cap="none">
                <a:solidFill>
                  <a:srgbClr val="30373F"/>
                </a:solidFill>
                <a:latin typeface="Meiryo"/>
                <a:ea typeface="Meiryo"/>
                <a:cs typeface="Meiryo"/>
                <a:sym typeface="Meiryo"/>
              </a:rPr>
              <a:t>オーナーシェフの個人事業</a:t>
            </a:r>
            <a:endParaRPr/>
          </a:p>
        </p:txBody>
      </p:sp>
      <p:sp>
        <p:nvSpPr>
          <p:cNvPr id="547" name="Google Shape;547;p5"/>
          <p:cNvSpPr txBox="1"/>
          <p:nvPr/>
        </p:nvSpPr>
        <p:spPr>
          <a:xfrm>
            <a:off x="4304080" y="3854102"/>
            <a:ext cx="4230014" cy="137345"/>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ja" sz="850" b="1" i="0" u="none" strike="noStrike" cap="none">
                <a:solidFill>
                  <a:srgbClr val="C68A65"/>
                </a:solidFill>
                <a:latin typeface="Meiryo"/>
                <a:ea typeface="Meiryo"/>
                <a:cs typeface="Meiryo"/>
                <a:sym typeface="Meiryo"/>
              </a:rPr>
              <a:t>ホテル経営の経験を持つグランメゾン運営会社が担う。</a:t>
            </a:r>
            <a:endParaRPr/>
          </a:p>
        </p:txBody>
      </p:sp>
      <p:sp>
        <p:nvSpPr>
          <p:cNvPr id="548" name="Google Shape;548;p5"/>
          <p:cNvSpPr txBox="1"/>
          <p:nvPr/>
        </p:nvSpPr>
        <p:spPr>
          <a:xfrm>
            <a:off x="536752" y="4187952"/>
            <a:ext cx="8070494" cy="12311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ja" sz="800" b="0" i="0" u="none" strike="noStrike" cap="none">
                <a:solidFill>
                  <a:srgbClr val="595959"/>
                </a:solidFill>
                <a:latin typeface="Meiryo"/>
                <a:ea typeface="Meiryo"/>
                <a:cs typeface="Meiryo"/>
                <a:sym typeface="Meiryo"/>
              </a:rPr>
              <a:t>ブラッスリー出店計画（2027年4月 六本木 → 2030年〜 リゾート含め年2店舗）の先に着手。　</a:t>
            </a:r>
            <a:r>
              <a:rPr lang="ja" sz="800" b="1" i="0" u="none" strike="noStrike" cap="none">
                <a:solidFill>
                  <a:srgbClr val="36394B"/>
                </a:solidFill>
                <a:latin typeface="Meiryo"/>
                <a:ea typeface="Meiryo"/>
                <a:cs typeface="Meiryo"/>
                <a:sym typeface="Meiryo"/>
              </a:rPr>
              <a:t>候補地：北海道</a:t>
            </a:r>
            <a:endParaRPr sz="800" b="1" i="0" u="none" strike="noStrike" cap="none">
              <a:solidFill>
                <a:srgbClr val="36394B"/>
              </a:solidFill>
              <a:latin typeface="Meiryo"/>
              <a:ea typeface="Meiryo"/>
              <a:cs typeface="Meiryo"/>
              <a:sym typeface="Meiryo"/>
            </a:endParaRPr>
          </a:p>
        </p:txBody>
      </p:sp>
      <p:sp>
        <p:nvSpPr>
          <p:cNvPr id="549" name="Google Shape;549;p5"/>
          <p:cNvSpPr/>
          <p:nvPr/>
        </p:nvSpPr>
        <p:spPr>
          <a:xfrm>
            <a:off x="536752" y="4407408"/>
            <a:ext cx="8070494" cy="420624"/>
          </a:xfrm>
          <a:prstGeom prst="rect">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0" name="Google Shape;550;p5"/>
          <p:cNvSpPr/>
          <p:nvPr/>
        </p:nvSpPr>
        <p:spPr>
          <a:xfrm>
            <a:off x="536752" y="4407408"/>
            <a:ext cx="45720" cy="420624"/>
          </a:xfrm>
          <a:prstGeom prst="rect">
            <a:avLst/>
          </a:prstGeom>
          <a:solidFill>
            <a:srgbClr val="C68A6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1" name="Google Shape;551;p5"/>
          <p:cNvSpPr txBox="1"/>
          <p:nvPr/>
        </p:nvSpPr>
        <p:spPr>
          <a:xfrm>
            <a:off x="694944" y="4453128"/>
            <a:ext cx="7772400" cy="35355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ja" sz="1100" b="1" i="0" u="none" strike="noStrike" cap="none">
                <a:solidFill>
                  <a:srgbClr val="000000"/>
                </a:solidFill>
                <a:latin typeface="Meiryo"/>
                <a:ea typeface="Meiryo"/>
                <a:cs typeface="Meiryo"/>
                <a:sym typeface="Meiryo"/>
              </a:rPr>
              <a:t>料理人が、一日の終わりまでお客様と過ごせる場所を。</a:t>
            </a:r>
            <a:endParaRPr/>
          </a:p>
          <a:p>
            <a:pPr marL="0" marR="0" lvl="0" indent="0" algn="l" rtl="0">
              <a:lnSpc>
                <a:spcPct val="120000"/>
              </a:lnSpc>
              <a:spcBef>
                <a:spcPts val="0"/>
              </a:spcBef>
              <a:spcAft>
                <a:spcPts val="0"/>
              </a:spcAft>
              <a:buNone/>
            </a:pPr>
            <a:r>
              <a:rPr lang="ja" sz="850" b="0" i="0" u="none" strike="noStrike" cap="none">
                <a:solidFill>
                  <a:srgbClr val="30373F"/>
                </a:solidFill>
                <a:latin typeface="Meiryo"/>
                <a:ea typeface="Meiryo"/>
                <a:cs typeface="Meiryo"/>
                <a:sym typeface="Meiryo"/>
              </a:rPr>
              <a:t>ゼロから新しい店をつくるより、長い時間をかけて積み上げられたものを、更に発展させ次の世代へ渡す。私たちが得意なのは、そちらです。</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17"/>
          <p:cNvSpPr txBox="1"/>
          <p:nvPr/>
        </p:nvSpPr>
        <p:spPr>
          <a:xfrm>
            <a:off x="1952170" y="2119949"/>
            <a:ext cx="5231100" cy="941100"/>
          </a:xfrm>
          <a:prstGeom prst="rect">
            <a:avLst/>
          </a:prstGeom>
          <a:noFill/>
          <a:ln>
            <a:noFill/>
          </a:ln>
        </p:spPr>
        <p:txBody>
          <a:bodyPr spcFirstLastPara="1" wrap="square" lIns="78225" tIns="39125" rIns="78225" bIns="39125" anchor="t" anchorCtr="0">
            <a:spAutoFit/>
          </a:bodyPr>
          <a:lstStyle/>
          <a:p>
            <a:pPr marL="0" marR="0" lvl="0" indent="0" algn="ctr" rtl="0">
              <a:lnSpc>
                <a:spcPct val="200000"/>
              </a:lnSpc>
              <a:spcBef>
                <a:spcPts val="0"/>
              </a:spcBef>
              <a:spcAft>
                <a:spcPts val="0"/>
              </a:spcAft>
              <a:buClr>
                <a:srgbClr val="000000"/>
              </a:buClr>
              <a:buSzPts val="1800"/>
              <a:buFont typeface="Arial"/>
              <a:buNone/>
            </a:pPr>
            <a:r>
              <a:rPr lang="ja" sz="2800" b="1" i="0" u="none" strike="noStrike" cap="none">
                <a:solidFill>
                  <a:schemeClr val="lt1"/>
                </a:solidFill>
                <a:latin typeface="Meiryo"/>
                <a:ea typeface="Meiryo"/>
                <a:cs typeface="Meiryo"/>
                <a:sym typeface="Meiryo"/>
              </a:rPr>
              <a:t>すべての人にFineWineを！</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テーマ">
  <a:themeElements>
    <a:clrScheme name="Office テーマ">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ユーザー定義 2">
      <a:dk1>
        <a:srgbClr val="000000"/>
      </a:dk1>
      <a:lt1>
        <a:srgbClr val="FFFFFF"/>
      </a:lt1>
      <a:dk2>
        <a:srgbClr val="696464"/>
      </a:dk2>
      <a:lt2>
        <a:srgbClr val="E9E5DC"/>
      </a:lt2>
      <a:accent1>
        <a:srgbClr val="E99C93"/>
      </a:accent1>
      <a:accent2>
        <a:srgbClr val="9B2D1F"/>
      </a:accent2>
      <a:accent3>
        <a:srgbClr val="A28E6A"/>
      </a:accent3>
      <a:accent4>
        <a:srgbClr val="956251"/>
      </a:accent4>
      <a:accent5>
        <a:srgbClr val="918485"/>
      </a:accent5>
      <a:accent6>
        <a:srgbClr val="855D5D"/>
      </a:accent6>
      <a:hlink>
        <a:srgbClr val="9972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2202</Words>
  <Application>Microsoft Office PowerPoint</Application>
  <PresentationFormat>画面に合わせる (16:9)</PresentationFormat>
  <Paragraphs>324</Paragraphs>
  <Slides>20</Slides>
  <Notes>20</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20</vt:i4>
      </vt:variant>
    </vt:vector>
  </HeadingPairs>
  <TitlesOfParts>
    <vt:vector size="28" baseType="lpstr">
      <vt:lpstr>Zen Kaku Gothic New</vt:lpstr>
      <vt:lpstr>MS PGothic</vt:lpstr>
      <vt:lpstr>Arial</vt:lpstr>
      <vt:lpstr>Times New Roman</vt:lpstr>
      <vt:lpstr>Meiryo</vt:lpstr>
      <vt:lpstr>Calibri</vt:lpstr>
      <vt:lpstr>Office テーマ</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戸髙薫</dc:creator>
  <cp:lastModifiedBy>Kunihito Nakano</cp:lastModifiedBy>
  <cp:revision>1</cp:revision>
  <dcterms:modified xsi:type="dcterms:W3CDTF">2026-09-27T13:28:44Z</dcterms:modified>
</cp:coreProperties>
</file>