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当初案。ご相談案（p.24）では1.38倍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100%（コンサルティング業・第10期売上593万円）／株式会社BISは対象外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34席・1日平均54名（約1.6回転）・営業日数252日・年間来店 約1.37万人・従業員19名（2026年8月給与台帳）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34席×約1.6回転×252日。リピート希望率7割、海外からの問い合わせは半数以上あるが意図的に絞っている</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評価の基礎数値を、確定決算と月次試算表で検証した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対象会社から開示された第13期〜第15期の確定決算、2026年1〜7月の月次試算表、および2029年までの会社計画を突合した。</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1911096"/>
                <a:gridCol w="1307592"/>
                <a:gridCol w="1307592"/>
                <a:gridCol w="1307592"/>
                <a:gridCol w="1307592"/>
                <a:gridCol w="1307592"/>
                <a:gridCol w="1307592"/>
                <a:gridCol w="1298448"/>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2023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831.9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891.2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976.4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1,128.6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392.8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442.5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505.0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555.8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576.5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598.2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49.7%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52.0%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当期純利益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259.0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305.2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335.5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350.4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381.3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395.6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511296"/>
            <a:ext cx="11055096" cy="29260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億円ではなく百万円。2023〜2025年は確定決算、2026年以降は対象会社作成の計画（過去3年の費用比率の中央値を売上に乗じた積上げ）。当社が評価の基礎としている2026年12月期の数値は、網掛け列のとおり会社計画と一致する。</a:t>
            </a:r>
            <a:endParaRPr lang="en-US" sz="850" dirty="0"/>
          </a:p>
        </p:txBody>
      </p:sp>
      <p:sp>
        <p:nvSpPr>
          <p:cNvPr id="7" name="Text 4"/>
          <p:cNvSpPr txBox="1"/>
          <p:nvPr/>
        </p:nvSpPr>
        <p:spPr>
          <a:xfrm>
            <a:off x="566928" y="3822192"/>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2026年1〜7月の進捗</a:t>
            </a:r>
            <a:endParaRPr lang="en-US" sz="13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66928" y="4096512"/>
          <a:ext cx="11055096" cy="914400"/>
        </p:xfrm>
        <a:graphic>
          <a:graphicData uri="http://schemas.openxmlformats.org/drawingml/2006/table">
            <a:tbl>
              <a:tblPr/>
              <a:tblGrid>
                <a:gridCol w="1911096"/>
                <a:gridCol w="1600200"/>
                <a:gridCol w="1600200"/>
                <a:gridCol w="1508760"/>
                <a:gridCol w="1508760"/>
                <a:gridCol w="1508760"/>
                <a:gridCol w="141732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2026年1〜7月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前年同期比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年換算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会社計画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計画比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売上高（継続事業）</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553.8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587.6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1,014.7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47472">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255.9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9" name="Text 5"/>
          <p:cNvSpPr txBox="1"/>
          <p:nvPr/>
        </p:nvSpPr>
        <p:spPr>
          <a:xfrm>
            <a:off x="566928" y="5120640"/>
            <a:ext cx="11055096" cy="347472"/>
          </a:xfrm>
          <a:prstGeom prst="rect">
            <a:avLst/>
          </a:prstGeom>
          <a:noFill/>
          <a:ln/>
        </p:spPr>
        <p:txBody>
          <a:bodyPr wrap="square" lIns="0" tIns="0" rIns="0" bIns="0" rtlCol="0" anchor="t"/>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年換算は2025年通期に対する1〜7月の構成比（売上57.2%、営業利益49.1%。7月に役員賞与9,540万円を一括計上するため営業利益の構成比が低い）による。売上は継続事業ベース：2025年の売上には月100万円の業務受託収入が9か月分含まれ2025年9月で終了しているため、表面の前年同期比＋4.8%ではなく＋6.1%が実勢。</a:t>
            </a:r>
            <a:endParaRPr lang="en-US" sz="850" dirty="0"/>
          </a:p>
        </p:txBody>
      </p:sp>
      <p:sp>
        <p:nvSpPr>
          <p:cNvPr id="10" name="Shape 6"/>
          <p:cNvSpPr/>
          <p:nvPr/>
        </p:nvSpPr>
        <p:spPr>
          <a:xfrm>
            <a:off x="566928" y="5486400"/>
            <a:ext cx="3520440" cy="841248"/>
          </a:xfrm>
          <a:prstGeom prst="roundRect">
            <a:avLst>
              <a:gd name="adj" fmla="val 5435"/>
            </a:avLst>
          </a:prstGeom>
          <a:solidFill>
            <a:srgbClr val="F7F3F4"/>
          </a:solidFill>
          <a:ln w="9525">
            <a:solidFill>
              <a:srgbClr val="E4DADD"/>
            </a:solidFill>
            <a:prstDash val="solid"/>
          </a:ln>
        </p:spPr>
      </p:sp>
      <p:sp>
        <p:nvSpPr>
          <p:cNvPr id="11" name="Shape 7"/>
          <p:cNvSpPr/>
          <p:nvPr/>
        </p:nvSpPr>
        <p:spPr>
          <a:xfrm>
            <a:off x="566928" y="5486400"/>
            <a:ext cx="45720" cy="841248"/>
          </a:xfrm>
          <a:prstGeom prst="rect">
            <a:avLst/>
          </a:prstGeom>
          <a:solidFill>
            <a:srgbClr val="2E6F4E"/>
          </a:solidFill>
          <a:ln/>
        </p:spPr>
      </p:sp>
      <p:sp>
        <p:nvSpPr>
          <p:cNvPr id="12" name="Text 8"/>
          <p:cNvSpPr txBox="1"/>
          <p:nvPr/>
        </p:nvSpPr>
        <p:spPr>
          <a:xfrm>
            <a:off x="768096" y="5568696"/>
            <a:ext cx="3127248" cy="219456"/>
          </a:xfrm>
          <a:prstGeom prst="rect">
            <a:avLst/>
          </a:prstGeom>
          <a:noFill/>
          <a:ln/>
        </p:spPr>
        <p:txBody>
          <a:bodyPr wrap="square" lIns="0" tIns="0" rIns="0" bIns="0" rtlCol="0" anchor="ctr"/>
          <a:lstStyle/>
          <a:p>
            <a:pPr indent="0" marL="0">
              <a:buNone/>
            </a:pPr>
            <a:r>
              <a:rPr lang="en-US" sz="1050" b="1" dirty="0">
                <a:solidFill>
                  <a:srgbClr val="2E6F4E"/>
                </a:solidFill>
                <a:latin typeface="Calibri" pitchFamily="34" charset="0"/>
                <a:ea typeface="Calibri" pitchFamily="34" charset="-122"/>
                <a:cs typeface="Calibri" pitchFamily="34" charset="-120"/>
              </a:rPr>
              <a:t>① 評価の基礎は会社計画と一致</a:t>
            </a:r>
            <a:endParaRPr lang="en-US" sz="1050" dirty="0"/>
          </a:p>
        </p:txBody>
      </p:sp>
      <p:sp>
        <p:nvSpPr>
          <p:cNvPr id="13" name="Text 9"/>
          <p:cNvSpPr txBox="1"/>
          <p:nvPr/>
        </p:nvSpPr>
        <p:spPr>
          <a:xfrm>
            <a:off x="768096"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当社が用いている売上10.15億円・営業利益5.28億円・当期純利益3.50億円は、対象会社作成の2026年12月期計画と一致する。第15期（2025年）の確定決算は売上9.76億円・営業利益5.05億円であり、計画はその延長線上にある。</a:t>
            </a:r>
            <a:endParaRPr lang="en-US" sz="780" dirty="0"/>
          </a:p>
        </p:txBody>
      </p:sp>
      <p:sp>
        <p:nvSpPr>
          <p:cNvPr id="14" name="Shape 10"/>
          <p:cNvSpPr/>
          <p:nvPr/>
        </p:nvSpPr>
        <p:spPr>
          <a:xfrm>
            <a:off x="4297680" y="5486400"/>
            <a:ext cx="3520440" cy="841248"/>
          </a:xfrm>
          <a:prstGeom prst="roundRect">
            <a:avLst>
              <a:gd name="adj" fmla="val 5435"/>
            </a:avLst>
          </a:prstGeom>
          <a:solidFill>
            <a:srgbClr val="F7F3F4"/>
          </a:solidFill>
          <a:ln w="9525">
            <a:solidFill>
              <a:srgbClr val="E4DADD"/>
            </a:solidFill>
            <a:prstDash val="solid"/>
          </a:ln>
        </p:spPr>
      </p:sp>
      <p:sp>
        <p:nvSpPr>
          <p:cNvPr id="15" name="Shape 11"/>
          <p:cNvSpPr/>
          <p:nvPr/>
        </p:nvSpPr>
        <p:spPr>
          <a:xfrm>
            <a:off x="4297680" y="5486400"/>
            <a:ext cx="45720" cy="841248"/>
          </a:xfrm>
          <a:prstGeom prst="rect">
            <a:avLst/>
          </a:prstGeom>
          <a:solidFill>
            <a:srgbClr val="A8741A"/>
          </a:solidFill>
          <a:ln/>
        </p:spPr>
      </p:sp>
      <p:sp>
        <p:nvSpPr>
          <p:cNvPr id="16" name="Text 12"/>
          <p:cNvSpPr txBox="1"/>
          <p:nvPr/>
        </p:nvSpPr>
        <p:spPr>
          <a:xfrm>
            <a:off x="4498848" y="5568696"/>
            <a:ext cx="3127248" cy="219456"/>
          </a:xfrm>
          <a:prstGeom prst="rect">
            <a:avLst/>
          </a:prstGeom>
          <a:noFill/>
          <a:ln/>
        </p:spPr>
        <p:txBody>
          <a:bodyPr wrap="square" lIns="0" tIns="0" rIns="0" bIns="0" rtlCol="0" anchor="ctr"/>
          <a:lstStyle/>
          <a:p>
            <a:pPr indent="0" marL="0">
              <a:buNone/>
            </a:pPr>
            <a:r>
              <a:rPr lang="en-US" sz="1050" b="1" dirty="0">
                <a:solidFill>
                  <a:srgbClr val="A8741A"/>
                </a:solidFill>
                <a:latin typeface="Calibri" pitchFamily="34" charset="0"/>
                <a:ea typeface="Calibri" pitchFamily="34" charset="-122"/>
                <a:cs typeface="Calibri" pitchFamily="34" charset="-120"/>
              </a:rPr>
              <a:t>② 売上は計画超、利益はやや未達</a:t>
            </a:r>
            <a:endParaRPr lang="en-US" sz="1050" dirty="0"/>
          </a:p>
        </p:txBody>
      </p:sp>
      <p:sp>
        <p:nvSpPr>
          <p:cNvPr id="17" name="Text 13"/>
          <p:cNvSpPr txBox="1"/>
          <p:nvPr/>
        </p:nvSpPr>
        <p:spPr>
          <a:xfrm>
            <a:off x="4498848"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1〜7月の売上は継続事業ベースで前年同期比＋6.1%、年換算で計画を1.2%上回る。一方、営業利益は計画を1.2%下回る。要因は原価と人件費で、食材仕入が前年同期比＋19.2%、給料手当が同＋19.2%。粗利率は77.6%から77.0%へ0.6ポイント低下している。</a:t>
            </a:r>
            <a:endParaRPr lang="en-US" sz="780" dirty="0"/>
          </a:p>
        </p:txBody>
      </p:sp>
      <p:sp>
        <p:nvSpPr>
          <p:cNvPr id="18" name="Shape 14"/>
          <p:cNvSpPr/>
          <p:nvPr/>
        </p:nvSpPr>
        <p:spPr>
          <a:xfrm>
            <a:off x="8028432" y="5486400"/>
            <a:ext cx="3520440" cy="841248"/>
          </a:xfrm>
          <a:prstGeom prst="roundRect">
            <a:avLst>
              <a:gd name="adj" fmla="val 5435"/>
            </a:avLst>
          </a:prstGeom>
          <a:solidFill>
            <a:srgbClr val="F7F3F4"/>
          </a:solidFill>
          <a:ln w="9525">
            <a:solidFill>
              <a:srgbClr val="E4DADD"/>
            </a:solidFill>
            <a:prstDash val="solid"/>
          </a:ln>
        </p:spPr>
      </p:sp>
      <p:sp>
        <p:nvSpPr>
          <p:cNvPr id="19" name="Shape 15"/>
          <p:cNvSpPr/>
          <p:nvPr/>
        </p:nvSpPr>
        <p:spPr>
          <a:xfrm>
            <a:off x="8028432" y="5486400"/>
            <a:ext cx="45720" cy="841248"/>
          </a:xfrm>
          <a:prstGeom prst="rect">
            <a:avLst/>
          </a:prstGeom>
          <a:solidFill>
            <a:srgbClr val="6D2E46"/>
          </a:solidFill>
          <a:ln/>
        </p:spPr>
      </p:sp>
      <p:sp>
        <p:nvSpPr>
          <p:cNvPr id="20" name="Text 16"/>
          <p:cNvSpPr txBox="1"/>
          <p:nvPr/>
        </p:nvSpPr>
        <p:spPr>
          <a:xfrm>
            <a:off x="8229600" y="5568696"/>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③ 当社のDCFは会社計画より保守的</a:t>
            </a:r>
            <a:endParaRPr lang="en-US" sz="1050" dirty="0"/>
          </a:p>
        </p:txBody>
      </p:sp>
      <p:sp>
        <p:nvSpPr>
          <p:cNvPr id="21" name="Text 17"/>
          <p:cNvSpPr txBox="1"/>
          <p:nvPr/>
        </p:nvSpPr>
        <p:spPr>
          <a:xfrm>
            <a:off x="8229600" y="5806440"/>
            <a:ext cx="3127248" cy="475488"/>
          </a:xfrm>
          <a:prstGeom prst="rect">
            <a:avLst/>
          </a:prstGeom>
          <a:noFill/>
          <a:ln/>
        </p:spPr>
        <p:txBody>
          <a:bodyPr wrap="square" lIns="0" tIns="0" rIns="0" bIns="0" rtlCol="0" anchor="ctr"/>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会社計画は2029年まで年3〜5%の増益を見込むが、当社のDCFは岸田氏在任中の3年間をFCF 3.50億円で固定し、成長をゼロとしている。上記②のコスト上昇を踏まえれば、この保守性は妥当である。</a:t>
            </a:r>
            <a:endParaRPr lang="en-US" sz="780" dirty="0"/>
          </a:p>
        </p:txBody>
      </p:sp>
      <p:sp>
        <p:nvSpPr>
          <p:cNvPr id="22"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VALIDATION</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ネットキャッシュ22.4億円の前提を、実績BSで検証した</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第13期〜第15期の確定決算および第16期（2026年）1〜7月の月次試算表から、BSの実額推移を復元した。</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008376"/>
                <a:gridCol w="2011680"/>
                <a:gridCol w="2011680"/>
                <a:gridCol w="2011680"/>
                <a:gridCol w="2011680"/>
              </a:tblGrid>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2024/12末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2026/7末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2026/12末 推計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1,398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1,609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長期貸付金（役員）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棚卸資産（ワイン・食材）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資産合計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1,768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2,351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2,456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負債合計（うち有利子負債）</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138（0）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141（0）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純資産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2,227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2,315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4315968"/>
            <a:ext cx="11055096" cy="384048"/>
          </a:xfrm>
          <a:prstGeom prst="rect">
            <a:avLst/>
          </a:prstGeom>
          <a:noFill/>
          <a:ln/>
        </p:spPr>
        <p:txBody>
          <a:bodyPr wrap="square" lIns="0" tIns="0" rIns="0" bIns="0" rtlCol="0" anchor="ctr"/>
          <a:lstStyle/>
          <a:p>
            <a:pPr indent="0" marL="0">
              <a:lnSpc>
                <a:spcPts val="1100"/>
              </a:lnSpc>
              <a:buNone/>
            </a:pPr>
            <a:r>
              <a:rPr lang="en-US" sz="850" dirty="0">
                <a:solidFill>
                  <a:srgbClr val="6E6368"/>
                </a:solidFill>
                <a:latin typeface="Calibri" pitchFamily="34" charset="0"/>
                <a:ea typeface="Calibri" pitchFamily="34" charset="-122"/>
                <a:cs typeface="Calibri" pitchFamily="34" charset="-120"/>
              </a:rPr>
              <a:t>※ 単位：百万円。2024/12末・2025/12末は法人税申告書添付の確定BS、2026/7末は月次試算表（令和8年1月1日〜7月31日）。2026/12末は本資料の推計。第16期は7月時点で税金費用を未計上のため、純資産の推計は通期の法人税等を控除した後の数値。</a:t>
            </a:r>
            <a:endParaRPr lang="en-US" sz="850" dirty="0"/>
          </a:p>
        </p:txBody>
      </p:sp>
      <p:sp>
        <p:nvSpPr>
          <p:cNvPr id="7" name="Shape 4"/>
          <p:cNvSpPr/>
          <p:nvPr/>
        </p:nvSpPr>
        <p:spPr>
          <a:xfrm>
            <a:off x="566928" y="4754880"/>
            <a:ext cx="3520440" cy="1517904"/>
          </a:xfrm>
          <a:prstGeom prst="roundRect">
            <a:avLst>
              <a:gd name="adj" fmla="val 3012"/>
            </a:avLst>
          </a:prstGeom>
          <a:solidFill>
            <a:srgbClr val="F7F3F4"/>
          </a:solidFill>
          <a:ln w="9525">
            <a:solidFill>
              <a:srgbClr val="E4DADD"/>
            </a:solidFill>
            <a:prstDash val="solid"/>
          </a:ln>
        </p:spPr>
      </p:sp>
      <p:sp>
        <p:nvSpPr>
          <p:cNvPr id="8" name="Shape 5"/>
          <p:cNvSpPr/>
          <p:nvPr/>
        </p:nvSpPr>
        <p:spPr>
          <a:xfrm>
            <a:off x="566928" y="4754880"/>
            <a:ext cx="45720" cy="1517904"/>
          </a:xfrm>
          <a:prstGeom prst="rect">
            <a:avLst/>
          </a:prstGeom>
          <a:solidFill>
            <a:srgbClr val="2E6F4E"/>
          </a:solidFill>
          <a:ln/>
        </p:spPr>
      </p:sp>
      <p:sp>
        <p:nvSpPr>
          <p:cNvPr id="9" name="Text 6"/>
          <p:cNvSpPr txBox="1"/>
          <p:nvPr/>
        </p:nvSpPr>
        <p:spPr>
          <a:xfrm>
            <a:off x="768096"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2E6F4E"/>
                </a:solidFill>
                <a:latin typeface="Calibri" pitchFamily="34" charset="0"/>
                <a:ea typeface="Calibri" pitchFamily="34" charset="-122"/>
                <a:cs typeface="Calibri" pitchFamily="34" charset="-120"/>
              </a:rPr>
              <a:t>① 現預金の推計は実績と整合する</a:t>
            </a:r>
            <a:endParaRPr lang="en-US" sz="1050" dirty="0"/>
          </a:p>
        </p:txBody>
      </p:sp>
      <p:sp>
        <p:nvSpPr>
          <p:cNvPr id="10" name="Text 7"/>
          <p:cNvSpPr txBox="1"/>
          <p:nvPr/>
        </p:nvSpPr>
        <p:spPr>
          <a:xfrm>
            <a:off x="768096"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2026年7月末の実績現預金は16.09億円。8〜12月の税引前利益（約2.7億円）から法人税の中間納付（約0.9億円）と7月役員賞与に係る源泉預り金（0.41億円）の支払を差し引くと、12月末は17.4億円前後となり、本資料の推計17.43億円と一致する。ネットキャッシュ22.4億円の前提は実績で裏づけられている。</a:t>
            </a:r>
            <a:endParaRPr lang="en-US" sz="780" dirty="0"/>
          </a:p>
        </p:txBody>
      </p:sp>
      <p:sp>
        <p:nvSpPr>
          <p:cNvPr id="11" name="Shape 8"/>
          <p:cNvSpPr/>
          <p:nvPr/>
        </p:nvSpPr>
        <p:spPr>
          <a:xfrm>
            <a:off x="4297680" y="4754880"/>
            <a:ext cx="3520440" cy="1517904"/>
          </a:xfrm>
          <a:prstGeom prst="roundRect">
            <a:avLst>
              <a:gd name="adj" fmla="val 3012"/>
            </a:avLst>
          </a:prstGeom>
          <a:solidFill>
            <a:srgbClr val="F7F3F4"/>
          </a:solidFill>
          <a:ln w="9525">
            <a:solidFill>
              <a:srgbClr val="E4DADD"/>
            </a:solidFill>
            <a:prstDash val="solid"/>
          </a:ln>
        </p:spPr>
      </p:sp>
      <p:sp>
        <p:nvSpPr>
          <p:cNvPr id="12" name="Shape 9"/>
          <p:cNvSpPr/>
          <p:nvPr/>
        </p:nvSpPr>
        <p:spPr>
          <a:xfrm>
            <a:off x="4297680" y="4754880"/>
            <a:ext cx="45720" cy="1517904"/>
          </a:xfrm>
          <a:prstGeom prst="rect">
            <a:avLst/>
          </a:prstGeom>
          <a:solidFill>
            <a:srgbClr val="A8741A"/>
          </a:solidFill>
          <a:ln/>
        </p:spPr>
      </p:sp>
      <p:sp>
        <p:nvSpPr>
          <p:cNvPr id="13" name="Text 10"/>
          <p:cNvSpPr txBox="1"/>
          <p:nvPr/>
        </p:nvSpPr>
        <p:spPr>
          <a:xfrm>
            <a:off x="4498848"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A8741A"/>
                </a:solidFill>
                <a:latin typeface="Calibri" pitchFamily="34" charset="0"/>
                <a:ea typeface="Calibri" pitchFamily="34" charset="-122"/>
                <a:cs typeface="Calibri" pitchFamily="34" charset="-120"/>
              </a:rPr>
              <a:t>② 役員貸付金は2025年3月に1億円増額</a:t>
            </a:r>
            <a:endParaRPr lang="en-US" sz="1050" dirty="0"/>
          </a:p>
        </p:txBody>
      </p:sp>
      <p:sp>
        <p:nvSpPr>
          <p:cNvPr id="14" name="Text 11"/>
          <p:cNvSpPr txBox="1"/>
          <p:nvPr/>
        </p:nvSpPr>
        <p:spPr>
          <a:xfrm>
            <a:off x="4498848"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残高は2024年12月末まで4.00億円、2025年3月に5.00億円へ増額され、2026年7月末も5.00億円のまま。利率0.900%、第15期の利息430万円は雑収入に適正計上されている。売却プロセスの直前に増額されている事実は、クロージング時の現金精算を最終契約の前提条件とすべき理由をいっそう強める。</a:t>
            </a:r>
            <a:endParaRPr lang="en-US" sz="780" dirty="0"/>
          </a:p>
        </p:txBody>
      </p:sp>
      <p:sp>
        <p:nvSpPr>
          <p:cNvPr id="15" name="Shape 12"/>
          <p:cNvSpPr/>
          <p:nvPr/>
        </p:nvSpPr>
        <p:spPr>
          <a:xfrm>
            <a:off x="8028432" y="4754880"/>
            <a:ext cx="3520440" cy="1517904"/>
          </a:xfrm>
          <a:prstGeom prst="roundRect">
            <a:avLst>
              <a:gd name="adj" fmla="val 3012"/>
            </a:avLst>
          </a:prstGeom>
          <a:solidFill>
            <a:srgbClr val="F7F3F4"/>
          </a:solidFill>
          <a:ln w="9525">
            <a:solidFill>
              <a:srgbClr val="E4DADD"/>
            </a:solidFill>
            <a:prstDash val="solid"/>
          </a:ln>
        </p:spPr>
      </p:sp>
      <p:sp>
        <p:nvSpPr>
          <p:cNvPr id="16" name="Shape 13"/>
          <p:cNvSpPr/>
          <p:nvPr/>
        </p:nvSpPr>
        <p:spPr>
          <a:xfrm>
            <a:off x="8028432" y="4754880"/>
            <a:ext cx="45720" cy="1517904"/>
          </a:xfrm>
          <a:prstGeom prst="rect">
            <a:avLst/>
          </a:prstGeom>
          <a:solidFill>
            <a:srgbClr val="6D2E46"/>
          </a:solidFill>
          <a:ln/>
        </p:spPr>
      </p:sp>
      <p:sp>
        <p:nvSpPr>
          <p:cNvPr id="17" name="Text 14"/>
          <p:cNvSpPr txBox="1"/>
          <p:nvPr/>
        </p:nvSpPr>
        <p:spPr>
          <a:xfrm>
            <a:off x="8229600" y="4846320"/>
            <a:ext cx="3127248" cy="384048"/>
          </a:xfrm>
          <a:prstGeom prst="rect">
            <a:avLst/>
          </a:prstGeom>
          <a:noFill/>
          <a:ln/>
        </p:spPr>
        <p:txBody>
          <a:bodyPr wrap="square" lIns="0" tIns="0" rIns="0" bIns="0" rtlCol="0" anchor="t"/>
          <a:lstStyle/>
          <a:p>
            <a:pPr indent="0" marL="0">
              <a:lnSpc>
                <a:spcPts val="1300"/>
              </a:lnSpc>
              <a:buNone/>
            </a:pPr>
            <a:r>
              <a:rPr lang="en-US" sz="1050" b="1" dirty="0">
                <a:solidFill>
                  <a:srgbClr val="6D2E46"/>
                </a:solidFill>
                <a:latin typeface="Calibri" pitchFamily="34" charset="0"/>
                <a:ea typeface="Calibri" pitchFamily="34" charset="-122"/>
                <a:cs typeface="Calibri" pitchFamily="34" charset="-120"/>
              </a:rPr>
              <a:t>③ 有利子負債ゼロ、担保余力はワイン在庫のみ</a:t>
            </a:r>
            <a:endParaRPr lang="en-US" sz="1050" dirty="0"/>
          </a:p>
        </p:txBody>
      </p:sp>
      <p:sp>
        <p:nvSpPr>
          <p:cNvPr id="18" name="Text 15"/>
          <p:cNvSpPr txBox="1"/>
          <p:nvPr/>
        </p:nvSpPr>
        <p:spPr>
          <a:xfrm>
            <a:off x="8229600" y="5266944"/>
            <a:ext cx="3127248" cy="932688"/>
          </a:xfrm>
          <a:prstGeom prst="rect">
            <a:avLst/>
          </a:prstGeom>
          <a:noFill/>
          <a:ln/>
        </p:spPr>
        <p:txBody>
          <a:bodyPr wrap="square" lIns="0" tIns="0" rIns="0" bIns="0" rtlCol="0" anchor="t"/>
          <a:lstStyle/>
          <a:p>
            <a:pPr indent="0" marL="0">
              <a:lnSpc>
                <a:spcPts val="1000"/>
              </a:lnSpc>
              <a:buNone/>
            </a:pPr>
            <a:r>
              <a:rPr lang="en-US" sz="780" dirty="0">
                <a:solidFill>
                  <a:srgbClr val="1F1A1C"/>
                </a:solidFill>
                <a:latin typeface="Calibri" pitchFamily="34" charset="0"/>
                <a:ea typeface="Calibri" pitchFamily="34" charset="-122"/>
                <a:cs typeface="Calibri" pitchFamily="34" charset="-120"/>
              </a:rPr>
              <a:t>全期間を通じて借入はゼロ。有形固定資産は2026年7月末で141万円にすぎず、物的担保は簿価1.15億円のワイン在庫に限られる。買収ファイナンスの保全は対象会社株式への質権設定とキャッシュフロー・コベナンツが中心となる。</a:t>
            </a:r>
            <a:endParaRPr lang="en-US" sz="78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02736"/>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3950208"/>
            <a:ext cx="45720" cy="457200"/>
          </a:xfrm>
          <a:prstGeom prst="rect">
            <a:avLst/>
          </a:prstGeom>
          <a:solidFill>
            <a:srgbClr val="A26769"/>
          </a:solidFill>
          <a:ln/>
        </p:spPr>
      </p:sp>
      <p:sp>
        <p:nvSpPr>
          <p:cNvPr id="7" name="Text 4"/>
          <p:cNvSpPr txBox="1"/>
          <p:nvPr/>
        </p:nvSpPr>
        <p:spPr>
          <a:xfrm>
            <a:off x="749808" y="38953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8953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1513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535424"/>
            <a:ext cx="45720" cy="457200"/>
          </a:xfrm>
          <a:prstGeom prst="rect">
            <a:avLst/>
          </a:prstGeom>
          <a:solidFill>
            <a:srgbClr val="A26769"/>
          </a:solidFill>
          <a:ln/>
        </p:spPr>
      </p:sp>
      <p:sp>
        <p:nvSpPr>
          <p:cNvPr id="11" name="Text 8"/>
          <p:cNvSpPr txBox="1"/>
          <p:nvPr/>
        </p:nvSpPr>
        <p:spPr>
          <a:xfrm>
            <a:off x="749808" y="4480560"/>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480560"/>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736592"/>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120640"/>
            <a:ext cx="45720" cy="457200"/>
          </a:xfrm>
          <a:prstGeom prst="rect">
            <a:avLst/>
          </a:prstGeom>
          <a:solidFill>
            <a:srgbClr val="6D2E46"/>
          </a:solidFill>
          <a:ln/>
        </p:spPr>
      </p:sp>
      <p:sp>
        <p:nvSpPr>
          <p:cNvPr id="15" name="Text 12"/>
          <p:cNvSpPr txBox="1"/>
          <p:nvPr/>
        </p:nvSpPr>
        <p:spPr>
          <a:xfrm>
            <a:off x="749808" y="5065776"/>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065776"/>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321808"/>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760720"/>
            <a:ext cx="11055096" cy="566928"/>
          </a:xfrm>
          <a:prstGeom prst="rect">
            <a:avLst/>
          </a:prstGeom>
          <a:noFill/>
          <a:ln/>
        </p:spPr>
        <p:txBody>
          <a:bodyPr wrap="square" lIns="0" tIns="0" rIns="0" bIns="0" rtlCol="0" anchor="ctr"/>
          <a:lstStyle/>
          <a:p>
            <a:pPr indent="0" marL="0">
              <a:lnSpc>
                <a:spcPts val="1250"/>
              </a:lnSpc>
              <a:buNone/>
            </a:pPr>
            <a:r>
              <a:rPr lang="en-US" sz="900" b="1" dirty="0">
                <a:solidFill>
                  <a:srgbClr val="6D2E46"/>
                </a:solidFill>
                <a:latin typeface="Calibri" pitchFamily="34" charset="0"/>
                <a:ea typeface="Calibri" pitchFamily="34" charset="-122"/>
                <a:cs typeface="Calibri" pitchFamily="34" charset="-120"/>
              </a:rPr>
              <a:t>修正営業利益ベースでは4.5倍　</a:t>
            </a:r>
            <a:pPr indent="0" marL="0">
              <a:lnSpc>
                <a:spcPts val="1250"/>
              </a:lnSpc>
              <a:buNone/>
            </a:pPr>
            <a:r>
              <a:rPr lang="en-US" sz="900" dirty="0">
                <a:solidFill>
                  <a:srgbClr val="6E6368"/>
                </a:solidFill>
                <a:latin typeface="Calibri" pitchFamily="34" charset="0"/>
                <a:ea typeface="Calibri" pitchFamily="34" charset="-122"/>
                <a:cs typeface="Calibri" pitchFamily="34" charset="-120"/>
              </a:rPr>
              <a:t>売主は「修正営業利益5.8億円」で本件を提示している。会計上の営業利益との差額は岸田氏の役員報酬（月60万円＋役員賞与9,540万円）であり、経営者報酬を一般的な水準に正常化したもの。この基準では2026年12月期は約6.1億円となり、EV27.57億円は4.5倍に相当する。ただし正常化益は岸田氏ご退任後にしか実現しないため、返済原資は会計ベースのFCF 3.50億円で見ている。</a:t>
            </a:r>
            <a:endParaRPr lang="en-US" sz="9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0%（34席固定・値上げ以外の成長ドライバーなし）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24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2025年3月に4.00億円から5.00億円へ増額されている。クロージング時の現金精算をSPAの前提条件とする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簿価1.19億円（2026年7月末1.15億円）。一次価格で継続仕入した希少銘柄を含むため、時価評価で含み益が生じる可能性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・2025/12期まではIM記載の決算数値（第13期〜第15期の法人税申告書添付決算書および第15期残高試算表で突合済み）。2026/12期はIM p.40の会社計画（第16期1〜7月の月次試算表で進捗を検証）。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2026-09-25T06:45:10Z</dcterms:created>
  <dcterms:modified xsi:type="dcterms:W3CDTF">2026-09-25T06:45:10Z</dcterms:modified>
</cp:coreProperties>
</file>