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当初案。ご相談案（p.28）では1.38倍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20〜p.29）。</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WHY WINEBANK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シナジーに頼らない。それでも当社が最適な所有者である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価格にも返済計画にもシナジーは一切織り込んでいない。そのうえで、この資産は当社が持つときに最も価値が保たれる。</a:t>
            </a:r>
            <a:endParaRPr lang="en-US" sz="1250" dirty="0"/>
          </a:p>
        </p:txBody>
      </p:sp>
      <p:sp>
        <p:nvSpPr>
          <p:cNvPr id="5" name="Shape 3"/>
          <p:cNvSpPr/>
          <p:nvPr/>
        </p:nvSpPr>
        <p:spPr>
          <a:xfrm>
            <a:off x="566928" y="1664208"/>
            <a:ext cx="274320" cy="274320"/>
          </a:xfrm>
          <a:prstGeom prst="ellipse">
            <a:avLst/>
          </a:prstGeom>
          <a:solidFill>
            <a:srgbClr val="6D2E46"/>
          </a:solidFill>
          <a:ln/>
        </p:spPr>
      </p:sp>
      <p:sp>
        <p:nvSpPr>
          <p:cNvPr id="6" name="Text 4"/>
          <p:cNvSpPr txBox="1"/>
          <p:nvPr/>
        </p:nvSpPr>
        <p:spPr>
          <a:xfrm>
            <a:off x="566928" y="16642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txBox="1"/>
          <p:nvPr/>
        </p:nvSpPr>
        <p:spPr>
          <a:xfrm>
            <a:off x="978408" y="1645920"/>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ワインの「最終地点」を持つ</a:t>
            </a:r>
            <a:endParaRPr lang="en-US" sz="1350" dirty="0"/>
          </a:p>
        </p:txBody>
      </p:sp>
      <p:sp>
        <p:nvSpPr>
          <p:cNvPr id="8" name="Text 6"/>
          <p:cNvSpPr txBox="1"/>
          <p:nvPr/>
        </p:nvSpPr>
        <p:spPr>
          <a:xfrm>
            <a:off x="978408" y="1938528"/>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当社は調達・保管・流通を担ってきたが、一本のワインが最も高い価値で完結する「消費の頂点」を持っていなかった。対象会社はその日本における頂点である。</a:t>
            </a:r>
            <a:endParaRPr lang="en-US" sz="1000" dirty="0"/>
          </a:p>
        </p:txBody>
      </p:sp>
      <p:sp>
        <p:nvSpPr>
          <p:cNvPr id="9" name="Shape 7"/>
          <p:cNvSpPr/>
          <p:nvPr/>
        </p:nvSpPr>
        <p:spPr>
          <a:xfrm>
            <a:off x="566928" y="2560320"/>
            <a:ext cx="274320" cy="274320"/>
          </a:xfrm>
          <a:prstGeom prst="ellipse">
            <a:avLst/>
          </a:prstGeom>
          <a:solidFill>
            <a:srgbClr val="6D2E46"/>
          </a:solidFill>
          <a:ln/>
        </p:spPr>
      </p:sp>
      <p:sp>
        <p:nvSpPr>
          <p:cNvPr id="10" name="Text 8"/>
          <p:cNvSpPr txBox="1"/>
          <p:nvPr/>
        </p:nvSpPr>
        <p:spPr>
          <a:xfrm>
            <a:off x="566928" y="25603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txBox="1"/>
          <p:nvPr/>
        </p:nvSpPr>
        <p:spPr>
          <a:xfrm>
            <a:off x="978408" y="2542032"/>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上流での信用が上がる</a:t>
            </a:r>
            <a:endParaRPr lang="en-US" sz="1350" dirty="0"/>
          </a:p>
        </p:txBody>
      </p:sp>
      <p:sp>
        <p:nvSpPr>
          <p:cNvPr id="12" name="Text 10"/>
          <p:cNvSpPr txBox="1"/>
          <p:nvPr/>
        </p:nvSpPr>
        <p:spPr>
          <a:xfrm>
            <a:off x="978408" y="2834640"/>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希少ワインの生産者は「どこで飲まれるか」で配分を決める。三つ星と資本関係を持つ流通業者は国内に稀。※対象会社に有利な場合を除き、仕入経路は変更しない。</a:t>
            </a:r>
            <a:endParaRPr lang="en-US" sz="1000" dirty="0"/>
          </a:p>
        </p:txBody>
      </p:sp>
      <p:sp>
        <p:nvSpPr>
          <p:cNvPr id="13" name="Shape 11"/>
          <p:cNvSpPr/>
          <p:nvPr/>
        </p:nvSpPr>
        <p:spPr>
          <a:xfrm>
            <a:off x="566928" y="3456432"/>
            <a:ext cx="274320" cy="274320"/>
          </a:xfrm>
          <a:prstGeom prst="ellipse">
            <a:avLst/>
          </a:prstGeom>
          <a:solidFill>
            <a:srgbClr val="6D2E46"/>
          </a:solidFill>
          <a:ln/>
        </p:spPr>
      </p:sp>
      <p:sp>
        <p:nvSpPr>
          <p:cNvPr id="14" name="Text 12"/>
          <p:cNvSpPr txBox="1"/>
          <p:nvPr/>
        </p:nvSpPr>
        <p:spPr>
          <a:xfrm>
            <a:off x="566928" y="345643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txBox="1"/>
          <p:nvPr/>
        </p:nvSpPr>
        <p:spPr>
          <a:xfrm>
            <a:off x="978408" y="3438144"/>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キャッシュの性質が補い合う</a:t>
            </a:r>
            <a:endParaRPr lang="en-US" sz="1350" dirty="0"/>
          </a:p>
        </p:txBody>
      </p:sp>
      <p:sp>
        <p:nvSpPr>
          <p:cNvPr id="16" name="Text 14"/>
          <p:cNvSpPr txBox="1"/>
          <p:nvPr/>
        </p:nvSpPr>
        <p:spPr>
          <a:xfrm>
            <a:off x="978408" y="3730752"/>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仕入・熟成に資金が寝る在庫型の当社本業に対し、対象会社は運転資本がほぼ不要（「支払より先に入金がある」）でFCF年3.5億円を生む。</a:t>
            </a:r>
            <a:endParaRPr lang="en-US" sz="1000" dirty="0"/>
          </a:p>
        </p:txBody>
      </p:sp>
      <p:sp>
        <p:nvSpPr>
          <p:cNvPr id="17" name="Shape 15"/>
          <p:cNvSpPr/>
          <p:nvPr/>
        </p:nvSpPr>
        <p:spPr>
          <a:xfrm>
            <a:off x="566928" y="4352544"/>
            <a:ext cx="274320" cy="274320"/>
          </a:xfrm>
          <a:prstGeom prst="ellipse">
            <a:avLst/>
          </a:prstGeom>
          <a:solidFill>
            <a:srgbClr val="6D2E46"/>
          </a:solidFill>
          <a:ln/>
        </p:spPr>
      </p:sp>
      <p:sp>
        <p:nvSpPr>
          <p:cNvPr id="18" name="Text 16"/>
          <p:cNvSpPr txBox="1"/>
          <p:nvPr/>
        </p:nvSpPr>
        <p:spPr>
          <a:xfrm>
            <a:off x="566928" y="435254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txBox="1"/>
          <p:nvPr/>
        </p:nvSpPr>
        <p:spPr>
          <a:xfrm>
            <a:off x="978408" y="4334256"/>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人材が循環する</a:t>
            </a:r>
            <a:endParaRPr lang="en-US" sz="1350" dirty="0"/>
          </a:p>
        </p:txBody>
      </p:sp>
      <p:sp>
        <p:nvSpPr>
          <p:cNvPr id="20" name="Text 18"/>
          <p:cNvSpPr txBox="1"/>
          <p:nvPr/>
        </p:nvSpPr>
        <p:spPr>
          <a:xfrm>
            <a:off x="978408" y="4626864"/>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多くの料理人を独立へ送り出してきた「学校」とアピシウスで、グランメゾン2店のキャリアパスを示せる。卒業生網は後継問題への答えでもある。</a:t>
            </a:r>
            <a:endParaRPr lang="en-US" sz="1000" dirty="0"/>
          </a:p>
        </p:txBody>
      </p:sp>
      <p:sp>
        <p:nvSpPr>
          <p:cNvPr id="21" name="Shape 19"/>
          <p:cNvSpPr/>
          <p:nvPr/>
        </p:nvSpPr>
        <p:spPr>
          <a:xfrm>
            <a:off x="566928" y="5248656"/>
            <a:ext cx="274320" cy="274320"/>
          </a:xfrm>
          <a:prstGeom prst="ellipse">
            <a:avLst/>
          </a:prstGeom>
          <a:solidFill>
            <a:srgbClr val="6D2E46"/>
          </a:solidFill>
          <a:ln/>
        </p:spPr>
      </p:sp>
      <p:sp>
        <p:nvSpPr>
          <p:cNvPr id="22" name="Text 20"/>
          <p:cNvSpPr txBox="1"/>
          <p:nvPr/>
        </p:nvSpPr>
        <p:spPr>
          <a:xfrm>
            <a:off x="566928" y="524865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txBox="1"/>
          <p:nvPr/>
        </p:nvSpPr>
        <p:spPr>
          <a:xfrm>
            <a:off x="978408" y="5230368"/>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承継に再現性がある</a:t>
            </a:r>
            <a:endParaRPr lang="en-US" sz="1350" dirty="0"/>
          </a:p>
        </p:txBody>
      </p:sp>
      <p:sp>
        <p:nvSpPr>
          <p:cNvPr id="24" name="Text 22"/>
          <p:cNvSpPr txBox="1"/>
          <p:nvPr/>
        </p:nvSpPr>
        <p:spPr>
          <a:xfrm>
            <a:off x="978408" y="5522976"/>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アピシウスで幹部全員継続・サービス残業撤廃のうえ、売上＋30%・営業利益2.5倍超。2件目で再現性を示し、承継を事業モデルにする。</a:t>
            </a:r>
            <a:endParaRPr lang="en-US" sz="1000" dirty="0"/>
          </a:p>
        </p:txBody>
      </p:sp>
      <p:sp>
        <p:nvSpPr>
          <p:cNvPr id="25" name="Text 23"/>
          <p:cNvSpPr txBox="1"/>
          <p:nvPr/>
        </p:nvSpPr>
        <p:spPr>
          <a:xfrm>
            <a:off x="6967728" y="1645920"/>
            <a:ext cx="4654296" cy="256032"/>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誰が持つと、この資産の価値が最も高いか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967728" y="1956816"/>
          <a:ext cx="4654296" cy="914400"/>
        </p:xfrm>
        <a:graphic>
          <a:graphicData uri="http://schemas.openxmlformats.org/drawingml/2006/table">
            <a:tbl>
              <a:tblPr/>
              <a:tblGrid>
                <a:gridCol w="1280160"/>
                <a:gridCol w="1417320"/>
                <a:gridCol w="1956816"/>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買い手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時間軸・論理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この資産との相性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4864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投資ファンド</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3〜5年で売却が前提</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9B2C2C"/>
                          </a:solidFill>
                          <a:latin typeface="Calibri" pitchFamily="34" charset="0"/>
                          <a:ea typeface="Calibri" pitchFamily="34" charset="-122"/>
                          <a:cs typeface="Calibri" pitchFamily="34" charset="-120"/>
                        </a:rPr>
                        <a:t>✕ 承継の時間軸と合わない</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4864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大手外食グループ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多店舗化・効率化</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9B2C2C"/>
                          </a:solidFill>
                          <a:latin typeface="Calibri" pitchFamily="34" charset="0"/>
                          <a:ea typeface="Calibri" pitchFamily="34" charset="-122"/>
                          <a:cs typeface="Calibri" pitchFamily="34" charset="-120"/>
                        </a:rPr>
                        <a:t>✕ 本店の価値を薄める方向</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4864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同業シェフ・個人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長期・料理を理解</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A8741A"/>
                          </a:solidFill>
                          <a:latin typeface="Calibri" pitchFamily="34" charset="0"/>
                          <a:ea typeface="Calibri" pitchFamily="34" charset="-122"/>
                          <a:cs typeface="Calibri" pitchFamily="34" charset="-120"/>
                        </a:rPr>
                        <a:t>△ 資金と経営体制の持続性</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48640">
                <a:tc>
                  <a:txBody>
                    <a:bodyPr/>
                    <a:lstStyle/>
                    <a:p>
                      <a:pPr indent="0" marL="0">
                        <a:buNone/>
                      </a:pPr>
                      <a:r>
                        <a:rPr lang="en-US" sz="1000" b="1" dirty="0">
                          <a:solidFill>
                            <a:srgbClr val="6D2E46"/>
                          </a:solidFill>
                          <a:latin typeface="Calibri" pitchFamily="34" charset="0"/>
                          <a:ea typeface="Calibri" pitchFamily="34" charset="-122"/>
                          <a:cs typeface="Calibri" pitchFamily="34" charset="-120"/>
                        </a:rPr>
                        <a:t>WineBank</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期限を設けない長期保有</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950" b="1" dirty="0">
                          <a:solidFill>
                            <a:srgbClr val="2E6F4E"/>
                          </a:solidFill>
                          <a:latin typeface="Calibri" pitchFamily="34" charset="0"/>
                          <a:ea typeface="Calibri" pitchFamily="34" charset="-122"/>
                          <a:cs typeface="Calibri" pitchFamily="34" charset="-120"/>
                        </a:rPr>
                        <a:t>◎ 現状維持を約束でき、ワインで価値を正しく評価できる</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bl>
          </a:graphicData>
        </a:graphic>
      </p:graphicFrame>
      <p:sp>
        <p:nvSpPr>
          <p:cNvPr id="27" name="Shape 24"/>
          <p:cNvSpPr/>
          <p:nvPr/>
        </p:nvSpPr>
        <p:spPr>
          <a:xfrm>
            <a:off x="6967728" y="4956048"/>
            <a:ext cx="4654296" cy="1170432"/>
          </a:xfrm>
          <a:prstGeom prst="roundRect">
            <a:avLst>
              <a:gd name="adj" fmla="val 3906"/>
            </a:avLst>
          </a:prstGeom>
          <a:solidFill>
            <a:srgbClr val="6D2E46"/>
          </a:solidFill>
          <a:ln/>
        </p:spPr>
      </p:sp>
      <p:sp>
        <p:nvSpPr>
          <p:cNvPr id="28" name="Text 25"/>
          <p:cNvSpPr txBox="1"/>
          <p:nvPr/>
        </p:nvSpPr>
        <p:spPr>
          <a:xfrm>
            <a:off x="7196328" y="5047488"/>
            <a:ext cx="4197096" cy="237744"/>
          </a:xfrm>
          <a:prstGeom prst="rect">
            <a:avLst/>
          </a:prstGeom>
          <a:noFill/>
          <a:ln/>
        </p:spPr>
        <p:txBody>
          <a:bodyPr wrap="square" lIns="0" tIns="0" rIns="0" bIns="0" rtlCol="0" anchor="ctr"/>
          <a:lstStyle/>
          <a:p>
            <a:pPr indent="0" marL="0">
              <a:buNone/>
            </a:pPr>
            <a:r>
              <a:rPr lang="en-US" sz="1050" b="1" dirty="0">
                <a:solidFill>
                  <a:srgbClr val="E8D6DB"/>
                </a:solidFill>
                <a:latin typeface="Calibri" pitchFamily="34" charset="0"/>
                <a:ea typeface="Calibri" pitchFamily="34" charset="-122"/>
                <a:cs typeface="Calibri" pitchFamily="34" charset="-120"/>
              </a:rPr>
              <a:t>価格・返済計画に織り込んだシナジー</a:t>
            </a:r>
            <a:endParaRPr lang="en-US" sz="1050" dirty="0"/>
          </a:p>
        </p:txBody>
      </p:sp>
      <p:sp>
        <p:nvSpPr>
          <p:cNvPr id="29" name="Text 26"/>
          <p:cNvSpPr txBox="1"/>
          <p:nvPr/>
        </p:nvSpPr>
        <p:spPr>
          <a:xfrm>
            <a:off x="7196328" y="5285232"/>
            <a:ext cx="1188720" cy="47548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ゼロ</a:t>
            </a:r>
            <a:endParaRPr lang="en-US" sz="3000" dirty="0"/>
          </a:p>
        </p:txBody>
      </p:sp>
      <p:sp>
        <p:nvSpPr>
          <p:cNvPr id="30" name="Text 27"/>
          <p:cNvSpPr txBox="1"/>
          <p:nvPr/>
        </p:nvSpPr>
        <p:spPr>
          <a:xfrm>
            <a:off x="8293608" y="5303520"/>
            <a:ext cx="3099816" cy="731520"/>
          </a:xfrm>
          <a:prstGeom prst="rect">
            <a:avLst/>
          </a:prstGeom>
          <a:noFill/>
          <a:ln/>
        </p:spPr>
        <p:txBody>
          <a:bodyPr wrap="square" lIns="0" tIns="0" rIns="0" bIns="0" rtlCol="0" anchor="t"/>
          <a:lstStyle/>
          <a:p>
            <a:pPr indent="0" marL="0">
              <a:lnSpc>
                <a:spcPts val="1400"/>
              </a:lnSpc>
              <a:buNone/>
            </a:pPr>
            <a:r>
              <a:rPr lang="en-US" sz="1000" dirty="0">
                <a:solidFill>
                  <a:srgbClr val="FFFFFF"/>
                </a:solidFill>
                <a:latin typeface="Calibri" pitchFamily="34" charset="0"/>
                <a:ea typeface="Calibri" pitchFamily="34" charset="-122"/>
                <a:cs typeface="Calibri" pitchFamily="34" charset="-120"/>
              </a:rPr>
              <a:t>返済原資は対象会社のキャッシュフローのみで完結する。上記1〜5はすべて上振れ要因として扱う。</a:t>
            </a:r>
            <a:endParaRPr lang="en-US" sz="1000" dirty="0"/>
          </a:p>
        </p:txBody>
      </p:sp>
      <p:sp>
        <p:nvSpPr>
          <p:cNvPr id="31" name="Text 2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2" name="Text 2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MEANING &amp; GROWTH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名店を次の20年へ。伸ばすのは本店の外側</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本件の意義は収益にとどまらない。成長は本店に手を入れるのではなく、本店の外側で実現する。</a:t>
            </a:r>
            <a:endParaRPr lang="en-US" sz="1250" dirty="0"/>
          </a:p>
        </p:txBody>
      </p:sp>
      <p:sp>
        <p:nvSpPr>
          <p:cNvPr id="5" name="Text 3"/>
          <p:cNvSpPr txBox="1"/>
          <p:nvPr/>
        </p:nvSpPr>
        <p:spPr>
          <a:xfrm>
            <a:off x="566928" y="1609344"/>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社会的な意義</a:t>
            </a:r>
            <a:endParaRPr lang="en-US" sz="1350" dirty="0"/>
          </a:p>
        </p:txBody>
      </p:sp>
      <p:sp>
        <p:nvSpPr>
          <p:cNvPr id="6" name="Shape 4"/>
          <p:cNvSpPr/>
          <p:nvPr/>
        </p:nvSpPr>
        <p:spPr>
          <a:xfrm>
            <a:off x="566928" y="1901952"/>
            <a:ext cx="2654046" cy="1481328"/>
          </a:xfrm>
          <a:prstGeom prst="roundRect">
            <a:avLst>
              <a:gd name="adj" fmla="val 3086"/>
            </a:avLst>
          </a:prstGeom>
          <a:solidFill>
            <a:srgbClr val="F7F3F4"/>
          </a:solidFill>
          <a:ln w="9525">
            <a:solidFill>
              <a:srgbClr val="E4DADD"/>
            </a:solidFill>
            <a:prstDash val="solid"/>
          </a:ln>
        </p:spPr>
      </p:sp>
      <p:sp>
        <p:nvSpPr>
          <p:cNvPr id="7" name="Shape 5"/>
          <p:cNvSpPr/>
          <p:nvPr/>
        </p:nvSpPr>
        <p:spPr>
          <a:xfrm>
            <a:off x="566928" y="1901952"/>
            <a:ext cx="2654046" cy="45720"/>
          </a:xfrm>
          <a:prstGeom prst="rect">
            <a:avLst/>
          </a:prstGeom>
          <a:solidFill>
            <a:srgbClr val="B58B2A"/>
          </a:solidFill>
          <a:ln/>
        </p:spPr>
      </p:sp>
      <p:sp>
        <p:nvSpPr>
          <p:cNvPr id="8" name="Text 6"/>
          <p:cNvSpPr txBox="1"/>
          <p:nvPr/>
        </p:nvSpPr>
        <p:spPr>
          <a:xfrm>
            <a:off x="73152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事業承継の受け皿</a:t>
            </a:r>
            <a:endParaRPr lang="en-US" sz="1150" dirty="0"/>
          </a:p>
        </p:txBody>
      </p:sp>
      <p:sp>
        <p:nvSpPr>
          <p:cNvPr id="9" name="Text 7"/>
          <p:cNvSpPr txBox="1"/>
          <p:nvPr/>
        </p:nvSpPr>
        <p:spPr>
          <a:xfrm>
            <a:off x="73152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後継者不在による閉店でも、短期売却を前提とする資本への移転でもない第三の道。当社は転売を想定しない。</a:t>
            </a:r>
            <a:endParaRPr lang="en-US" sz="1050" dirty="0"/>
          </a:p>
        </p:txBody>
      </p:sp>
      <p:sp>
        <p:nvSpPr>
          <p:cNvPr id="10" name="Shape 8"/>
          <p:cNvSpPr/>
          <p:nvPr/>
        </p:nvSpPr>
        <p:spPr>
          <a:xfrm>
            <a:off x="3367278" y="1901952"/>
            <a:ext cx="2654046" cy="1481328"/>
          </a:xfrm>
          <a:prstGeom prst="roundRect">
            <a:avLst>
              <a:gd name="adj" fmla="val 3086"/>
            </a:avLst>
          </a:prstGeom>
          <a:solidFill>
            <a:srgbClr val="F7F3F4"/>
          </a:solidFill>
          <a:ln w="9525">
            <a:solidFill>
              <a:srgbClr val="E4DADD"/>
            </a:solidFill>
            <a:prstDash val="solid"/>
          </a:ln>
        </p:spPr>
      </p:sp>
      <p:sp>
        <p:nvSpPr>
          <p:cNvPr id="11" name="Shape 9"/>
          <p:cNvSpPr/>
          <p:nvPr/>
        </p:nvSpPr>
        <p:spPr>
          <a:xfrm>
            <a:off x="3367278" y="1901952"/>
            <a:ext cx="2654046" cy="45720"/>
          </a:xfrm>
          <a:prstGeom prst="rect">
            <a:avLst/>
          </a:prstGeom>
          <a:solidFill>
            <a:srgbClr val="B58B2A"/>
          </a:solidFill>
          <a:ln/>
        </p:spPr>
      </p:sp>
      <p:sp>
        <p:nvSpPr>
          <p:cNvPr id="12" name="Text 10"/>
          <p:cNvSpPr txBox="1"/>
          <p:nvPr/>
        </p:nvSpPr>
        <p:spPr>
          <a:xfrm>
            <a:off x="353187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技術と暗黙知の継承</a:t>
            </a:r>
            <a:endParaRPr lang="en-US" sz="1150" dirty="0"/>
          </a:p>
        </p:txBody>
      </p:sp>
      <p:sp>
        <p:nvSpPr>
          <p:cNvPr id="13" name="Text 11"/>
          <p:cNvSpPr txBox="1"/>
          <p:nvPr/>
        </p:nvSpPr>
        <p:spPr>
          <a:xfrm>
            <a:off x="353187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「美味しいとは何か、良い仕事とは何かを教えられる人は業界にも多くない」（岸田氏）。3年の在任はその移転の時間。</a:t>
            </a:r>
            <a:endParaRPr lang="en-US" sz="1050" dirty="0"/>
          </a:p>
        </p:txBody>
      </p:sp>
      <p:sp>
        <p:nvSpPr>
          <p:cNvPr id="14" name="Shape 12"/>
          <p:cNvSpPr/>
          <p:nvPr/>
        </p:nvSpPr>
        <p:spPr>
          <a:xfrm>
            <a:off x="6167628" y="1901952"/>
            <a:ext cx="2654046" cy="1481328"/>
          </a:xfrm>
          <a:prstGeom prst="roundRect">
            <a:avLst>
              <a:gd name="adj" fmla="val 3086"/>
            </a:avLst>
          </a:prstGeom>
          <a:solidFill>
            <a:srgbClr val="F7F3F4"/>
          </a:solidFill>
          <a:ln w="9525">
            <a:solidFill>
              <a:srgbClr val="E4DADD"/>
            </a:solidFill>
            <a:prstDash val="solid"/>
          </a:ln>
        </p:spPr>
      </p:sp>
      <p:sp>
        <p:nvSpPr>
          <p:cNvPr id="15" name="Shape 13"/>
          <p:cNvSpPr/>
          <p:nvPr/>
        </p:nvSpPr>
        <p:spPr>
          <a:xfrm>
            <a:off x="6167628" y="1901952"/>
            <a:ext cx="2654046" cy="45720"/>
          </a:xfrm>
          <a:prstGeom prst="rect">
            <a:avLst/>
          </a:prstGeom>
          <a:solidFill>
            <a:srgbClr val="B58B2A"/>
          </a:solidFill>
          <a:ln/>
        </p:spPr>
      </p:sp>
      <p:sp>
        <p:nvSpPr>
          <p:cNvPr id="16" name="Text 14"/>
          <p:cNvSpPr txBox="1"/>
          <p:nvPr/>
        </p:nvSpPr>
        <p:spPr>
          <a:xfrm>
            <a:off x="633222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生産者と雇用を守る</a:t>
            </a:r>
            <a:endParaRPr lang="en-US" sz="1150" dirty="0"/>
          </a:p>
        </p:txBody>
      </p:sp>
      <p:sp>
        <p:nvSpPr>
          <p:cNvPr id="17" name="Text 15"/>
          <p:cNvSpPr txBox="1"/>
          <p:nvPr/>
        </p:nvSpPr>
        <p:spPr>
          <a:xfrm>
            <a:off x="633222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20年以上かけて築かれた生産者との関係と、承継対象18名全員の雇用・待遇をそのまま維持する。</a:t>
            </a:r>
            <a:endParaRPr lang="en-US" sz="1050" dirty="0"/>
          </a:p>
        </p:txBody>
      </p:sp>
      <p:sp>
        <p:nvSpPr>
          <p:cNvPr id="18" name="Shape 16"/>
          <p:cNvSpPr/>
          <p:nvPr/>
        </p:nvSpPr>
        <p:spPr>
          <a:xfrm>
            <a:off x="8967978" y="1901952"/>
            <a:ext cx="2654046" cy="1481328"/>
          </a:xfrm>
          <a:prstGeom prst="roundRect">
            <a:avLst>
              <a:gd name="adj" fmla="val 3086"/>
            </a:avLst>
          </a:prstGeom>
          <a:solidFill>
            <a:srgbClr val="F7F3F4"/>
          </a:solidFill>
          <a:ln w="9525">
            <a:solidFill>
              <a:srgbClr val="E4DADD"/>
            </a:solidFill>
            <a:prstDash val="solid"/>
          </a:ln>
        </p:spPr>
      </p:sp>
      <p:sp>
        <p:nvSpPr>
          <p:cNvPr id="19" name="Shape 17"/>
          <p:cNvSpPr/>
          <p:nvPr/>
        </p:nvSpPr>
        <p:spPr>
          <a:xfrm>
            <a:off x="8967978" y="1901952"/>
            <a:ext cx="2654046" cy="45720"/>
          </a:xfrm>
          <a:prstGeom prst="rect">
            <a:avLst/>
          </a:prstGeom>
          <a:solidFill>
            <a:srgbClr val="B58B2A"/>
          </a:solidFill>
          <a:ln/>
        </p:spPr>
      </p:sp>
      <p:sp>
        <p:nvSpPr>
          <p:cNvPr id="20" name="Text 18"/>
          <p:cNvSpPr txBox="1"/>
          <p:nvPr/>
        </p:nvSpPr>
        <p:spPr>
          <a:xfrm>
            <a:off x="913257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承継の前例をつくる</a:t>
            </a:r>
            <a:endParaRPr lang="en-US" sz="1150" dirty="0"/>
          </a:p>
        </p:txBody>
      </p:sp>
      <p:sp>
        <p:nvSpPr>
          <p:cNvPr id="21" name="Text 19"/>
          <p:cNvSpPr txBox="1"/>
          <p:nvPr/>
        </p:nvSpPr>
        <p:spPr>
          <a:xfrm>
            <a:off x="913257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後継者に悩む他の名店のオーナーが、安心して託せる前例となる。1件の買収を超えた業界への貢献。</a:t>
            </a:r>
            <a:endParaRPr lang="en-US" sz="1050" dirty="0"/>
          </a:p>
        </p:txBody>
      </p:sp>
      <p:sp>
        <p:nvSpPr>
          <p:cNvPr id="22" name="Text 20"/>
          <p:cNvSpPr txBox="1"/>
          <p:nvPr/>
        </p:nvSpPr>
        <p:spPr>
          <a:xfrm>
            <a:off x="566928" y="3566160"/>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成長の方向性</a:t>
            </a:r>
            <a:endParaRPr lang="en-US" sz="1350" dirty="0"/>
          </a:p>
        </p:txBody>
      </p:sp>
      <p:sp>
        <p:nvSpPr>
          <p:cNvPr id="23" name="Shape 21"/>
          <p:cNvSpPr/>
          <p:nvPr/>
        </p:nvSpPr>
        <p:spPr>
          <a:xfrm>
            <a:off x="566928" y="3840480"/>
            <a:ext cx="3587496" cy="1645920"/>
          </a:xfrm>
          <a:prstGeom prst="roundRect">
            <a:avLst>
              <a:gd name="adj" fmla="val 2778"/>
            </a:avLst>
          </a:prstGeom>
          <a:solidFill>
            <a:srgbClr val="FFFFFF"/>
          </a:solidFill>
          <a:ln w="9525">
            <a:solidFill>
              <a:srgbClr val="E4DADD"/>
            </a:solidFill>
            <a:prstDash val="solid"/>
          </a:ln>
        </p:spPr>
      </p:sp>
      <p:sp>
        <p:nvSpPr>
          <p:cNvPr id="24" name="Shape 22"/>
          <p:cNvSpPr/>
          <p:nvPr/>
        </p:nvSpPr>
        <p:spPr>
          <a:xfrm>
            <a:off x="566928" y="3840480"/>
            <a:ext cx="3587496" cy="402336"/>
          </a:xfrm>
          <a:prstGeom prst="rect">
            <a:avLst/>
          </a:prstGeom>
          <a:solidFill>
            <a:srgbClr val="6D2E46"/>
          </a:solidFill>
          <a:ln/>
        </p:spPr>
      </p:sp>
      <p:sp>
        <p:nvSpPr>
          <p:cNvPr id="25" name="Text 23"/>
          <p:cNvSpPr txBox="1"/>
          <p:nvPr/>
        </p:nvSpPr>
        <p:spPr>
          <a:xfrm>
            <a:off x="731520" y="3840480"/>
            <a:ext cx="325831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守る　</a:t>
            </a:r>
            <a:pPr indent="0" marL="0">
              <a:buNone/>
            </a:pPr>
            <a:r>
              <a:rPr lang="en-US" sz="1000" dirty="0">
                <a:solidFill>
                  <a:srgbClr val="FFFFFF"/>
                </a:solidFill>
                <a:latin typeface="Calibri" pitchFamily="34" charset="0"/>
                <a:ea typeface="Calibri" pitchFamily="34" charset="-122"/>
                <a:cs typeface="Calibri" pitchFamily="34" charset="-120"/>
              </a:rPr>
              <a:t>0〜3年</a:t>
            </a:r>
            <a:endParaRPr lang="en-US" sz="1400" dirty="0"/>
          </a:p>
        </p:txBody>
      </p:sp>
      <p:sp>
        <p:nvSpPr>
          <p:cNvPr id="26" name="Text 24"/>
          <p:cNvSpPr txBox="1"/>
          <p:nvPr/>
        </p:nvSpPr>
        <p:spPr>
          <a:xfrm>
            <a:off x="731520" y="4334256"/>
            <a:ext cx="3258312" cy="1097280"/>
          </a:xfrm>
          <a:prstGeom prst="rect">
            <a:avLst/>
          </a:prstGeom>
          <a:noFill/>
          <a:ln/>
        </p:spPr>
        <p:txBody>
          <a:bodyPr wrap="square" lIns="0" tIns="0" rIns="0" bIns="0" rtlCol="0" anchor="t"/>
          <a:lstStyle/>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本店は現状維持（値上げ・増席・営業日増なし）</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後継料理長の共同探索（岸田氏在任中）</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内部統制・勤怠管理の整備</a:t>
            </a:r>
            <a:endParaRPr lang="en-US" sz="1100" dirty="0"/>
          </a:p>
        </p:txBody>
      </p:sp>
      <p:sp>
        <p:nvSpPr>
          <p:cNvPr id="27" name="Shape 25"/>
          <p:cNvSpPr/>
          <p:nvPr/>
        </p:nvSpPr>
        <p:spPr>
          <a:xfrm>
            <a:off x="4300728" y="3840480"/>
            <a:ext cx="3587496" cy="1645920"/>
          </a:xfrm>
          <a:prstGeom prst="roundRect">
            <a:avLst>
              <a:gd name="adj" fmla="val 2778"/>
            </a:avLst>
          </a:prstGeom>
          <a:solidFill>
            <a:srgbClr val="FFFFFF"/>
          </a:solidFill>
          <a:ln w="9525">
            <a:solidFill>
              <a:srgbClr val="E4DADD"/>
            </a:solidFill>
            <a:prstDash val="solid"/>
          </a:ln>
        </p:spPr>
      </p:sp>
      <p:sp>
        <p:nvSpPr>
          <p:cNvPr id="28" name="Shape 26"/>
          <p:cNvSpPr/>
          <p:nvPr/>
        </p:nvSpPr>
        <p:spPr>
          <a:xfrm>
            <a:off x="4300728" y="3840480"/>
            <a:ext cx="3587496" cy="402336"/>
          </a:xfrm>
          <a:prstGeom prst="rect">
            <a:avLst/>
          </a:prstGeom>
          <a:solidFill>
            <a:srgbClr val="A26769"/>
          </a:solidFill>
          <a:ln/>
        </p:spPr>
      </p:sp>
      <p:sp>
        <p:nvSpPr>
          <p:cNvPr id="29" name="Text 27"/>
          <p:cNvSpPr txBox="1"/>
          <p:nvPr/>
        </p:nvSpPr>
        <p:spPr>
          <a:xfrm>
            <a:off x="4465320" y="3840480"/>
            <a:ext cx="325831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広げる　</a:t>
            </a:r>
            <a:pPr indent="0" marL="0">
              <a:buNone/>
            </a:pPr>
            <a:r>
              <a:rPr lang="en-US" sz="1000" dirty="0">
                <a:solidFill>
                  <a:srgbClr val="FFFFFF"/>
                </a:solidFill>
                <a:latin typeface="Calibri" pitchFamily="34" charset="0"/>
                <a:ea typeface="Calibri" pitchFamily="34" charset="-122"/>
                <a:cs typeface="Calibri" pitchFamily="34" charset="-120"/>
              </a:rPr>
              <a:t>3〜5年</a:t>
            </a:r>
            <a:endParaRPr lang="en-US" sz="1400" dirty="0"/>
          </a:p>
        </p:txBody>
      </p:sp>
      <p:sp>
        <p:nvSpPr>
          <p:cNvPr id="30" name="Text 28"/>
          <p:cNvSpPr txBox="1"/>
          <p:nvPr/>
        </p:nvSpPr>
        <p:spPr>
          <a:xfrm>
            <a:off x="4465320" y="4334256"/>
            <a:ext cx="3258312" cy="1097280"/>
          </a:xfrm>
          <a:prstGeom prst="rect">
            <a:avLst/>
          </a:prstGeom>
          <a:noFill/>
          <a:ln/>
        </p:spPr>
        <p:txBody>
          <a:bodyPr wrap="square" lIns="0" tIns="0" rIns="0" bIns="0" rtlCol="0" anchor="t"/>
          <a:lstStyle/>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チーズケーキの専用製造拠点とEC（直近抽選：応募約470名に枠318個）</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一品特化業態（岸田氏も「再現性が高い」と回答）</a:t>
            </a:r>
            <a:endParaRPr lang="en-US" sz="1100" dirty="0"/>
          </a:p>
        </p:txBody>
      </p:sp>
      <p:sp>
        <p:nvSpPr>
          <p:cNvPr id="31" name="Shape 29"/>
          <p:cNvSpPr/>
          <p:nvPr/>
        </p:nvSpPr>
        <p:spPr>
          <a:xfrm>
            <a:off x="8034528" y="3840480"/>
            <a:ext cx="3587496" cy="1645920"/>
          </a:xfrm>
          <a:prstGeom prst="roundRect">
            <a:avLst>
              <a:gd name="adj" fmla="val 2778"/>
            </a:avLst>
          </a:prstGeom>
          <a:solidFill>
            <a:srgbClr val="FFFFFF"/>
          </a:solidFill>
          <a:ln w="9525">
            <a:solidFill>
              <a:srgbClr val="E4DADD"/>
            </a:solidFill>
            <a:prstDash val="solid"/>
          </a:ln>
        </p:spPr>
      </p:sp>
      <p:sp>
        <p:nvSpPr>
          <p:cNvPr id="32" name="Shape 30"/>
          <p:cNvSpPr/>
          <p:nvPr/>
        </p:nvSpPr>
        <p:spPr>
          <a:xfrm>
            <a:off x="8034528" y="3840480"/>
            <a:ext cx="3587496" cy="402336"/>
          </a:xfrm>
          <a:prstGeom prst="rect">
            <a:avLst/>
          </a:prstGeom>
          <a:solidFill>
            <a:srgbClr val="B58B2A"/>
          </a:solidFill>
          <a:ln/>
        </p:spPr>
      </p:sp>
      <p:sp>
        <p:nvSpPr>
          <p:cNvPr id="33" name="Text 31"/>
          <p:cNvSpPr txBox="1"/>
          <p:nvPr/>
        </p:nvSpPr>
        <p:spPr>
          <a:xfrm>
            <a:off x="8199120" y="3840480"/>
            <a:ext cx="325831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つなぐ　</a:t>
            </a:r>
            <a:pPr indent="0" marL="0">
              <a:buNone/>
            </a:pPr>
            <a:r>
              <a:rPr lang="en-US" sz="1000" dirty="0">
                <a:solidFill>
                  <a:srgbClr val="FFFFFF"/>
                </a:solidFill>
                <a:latin typeface="Calibri" pitchFamily="34" charset="0"/>
                <a:ea typeface="Calibri" pitchFamily="34" charset="-122"/>
                <a:cs typeface="Calibri" pitchFamily="34" charset="-120"/>
              </a:rPr>
              <a:t>5年〜</a:t>
            </a:r>
            <a:endParaRPr lang="en-US" sz="1400" dirty="0"/>
          </a:p>
        </p:txBody>
      </p:sp>
      <p:sp>
        <p:nvSpPr>
          <p:cNvPr id="34" name="Text 32"/>
          <p:cNvSpPr txBox="1"/>
          <p:nvPr/>
        </p:nvSpPr>
        <p:spPr>
          <a:xfrm>
            <a:off x="8199120" y="4334256"/>
            <a:ext cx="3258312" cy="1097280"/>
          </a:xfrm>
          <a:prstGeom prst="rect">
            <a:avLst/>
          </a:prstGeom>
          <a:noFill/>
          <a:ln/>
        </p:spPr>
        <p:txBody>
          <a:bodyPr wrap="square" lIns="0" tIns="0" rIns="0" bIns="0" rtlCol="0" anchor="t"/>
          <a:lstStyle/>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グランメゾン承継プラットフォーム（アピシウス＋カンテサンス＋次の名店）</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オーベルジュ構想（ワイナリー隣接＋温泉）</a:t>
            </a:r>
            <a:endParaRPr lang="en-US" sz="1100" dirty="0"/>
          </a:p>
        </p:txBody>
      </p:sp>
      <p:sp>
        <p:nvSpPr>
          <p:cNvPr id="35" name="Shape 33"/>
          <p:cNvSpPr/>
          <p:nvPr/>
        </p:nvSpPr>
        <p:spPr>
          <a:xfrm>
            <a:off x="566928" y="5650992"/>
            <a:ext cx="11055096" cy="566928"/>
          </a:xfrm>
          <a:prstGeom prst="roundRect">
            <a:avLst>
              <a:gd name="adj" fmla="val 6452"/>
            </a:avLst>
          </a:prstGeom>
          <a:solidFill>
            <a:srgbClr val="2B1520"/>
          </a:solidFill>
          <a:ln/>
        </p:spPr>
      </p:sp>
      <p:sp>
        <p:nvSpPr>
          <p:cNvPr id="36" name="Text 34"/>
          <p:cNvSpPr txBox="1"/>
          <p:nvPr/>
        </p:nvSpPr>
        <p:spPr>
          <a:xfrm>
            <a:off x="822960" y="5650992"/>
            <a:ext cx="10543032"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成長施策はすべてアップサイド。</a:t>
            </a:r>
            <a:pPr indent="0" marL="0">
              <a:buNone/>
            </a:pPr>
            <a:r>
              <a:rPr lang="en-US" sz="1150" dirty="0">
                <a:solidFill>
                  <a:srgbClr val="E8D6DB"/>
                </a:solidFill>
                <a:latin typeface="Calibri" pitchFamily="34" charset="0"/>
                <a:ea typeface="Calibri" pitchFamily="34" charset="-122"/>
                <a:cs typeface="Calibri" pitchFamily="34" charset="-120"/>
              </a:rPr>
              <a:t>価格にも返済計画にも1円も織り込んでいない。本店の価値を守ることが、最大の価値保全である。</a:t>
            </a:r>
            <a:endParaRPr lang="en-US" sz="1150" dirty="0"/>
          </a:p>
        </p:txBody>
      </p:sp>
      <p:sp>
        <p:nvSpPr>
          <p:cNvPr id="37"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8"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p.15</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p.16</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p.17</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p.19</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p.24-25,29</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p.31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100%（コンサルティング業・第10期売上593万円）／株式会社BISは対象外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34席・1日平均54名（約1.6回転）・営業日数252日・年間来店 約1.37万人・従業員18名（岸田氏を除く、2026年9月17日時点の従業員名簿）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34席×約1.6回転×252日。リピート希望率7割、海外からの問い合わせは半数以上あるが意図的に絞っている</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評価の基礎数値を、確定決算と月次試算表で検証した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対象会社から開示された第13期〜第15期の確定決算、2026年1〜7月の月次試算表、および2029年までの会社計画を突合した。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1911096"/>
                <a:gridCol w="1307592"/>
                <a:gridCol w="1307592"/>
                <a:gridCol w="1307592"/>
                <a:gridCol w="1307592"/>
                <a:gridCol w="1307592"/>
                <a:gridCol w="1307592"/>
                <a:gridCol w="1298448"/>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2023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831.9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891.2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976.4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1,128.6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392.8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442.5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505.0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555.8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576.5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598.2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49.7%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当期純利益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259.0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305.2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335.5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350.4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381.3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395.6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511296"/>
            <a:ext cx="11055096" cy="29260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億円ではなく百万円。2023〜2025年は確定決算、2026年以降は対象会社作成の計画（過去3年の費用比率の中央値を売上に乗じた積上げ）。当社が評価の基礎としている2026年12月期の数値は、網掛け列のとおり会社計画と一致する。</a:t>
            </a:r>
            <a:endParaRPr lang="en-US" sz="850" dirty="0"/>
          </a:p>
        </p:txBody>
      </p:sp>
      <p:sp>
        <p:nvSpPr>
          <p:cNvPr id="7" name="Text 4"/>
          <p:cNvSpPr txBox="1"/>
          <p:nvPr/>
        </p:nvSpPr>
        <p:spPr>
          <a:xfrm>
            <a:off x="566928" y="3822192"/>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2026年1〜7月の進捗</a:t>
            </a:r>
            <a:endParaRPr lang="en-US" sz="13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66928" y="4096512"/>
          <a:ext cx="11055096" cy="914400"/>
        </p:xfrm>
        <a:graphic>
          <a:graphicData uri="http://schemas.openxmlformats.org/drawingml/2006/table">
            <a:tbl>
              <a:tblPr/>
              <a:tblGrid>
                <a:gridCol w="1911096"/>
                <a:gridCol w="1600200"/>
                <a:gridCol w="1600200"/>
                <a:gridCol w="1508760"/>
                <a:gridCol w="1508760"/>
                <a:gridCol w="1508760"/>
                <a:gridCol w="141732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前年同期比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年換算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会社計画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計画比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売上高（継続事業）</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553.8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587.6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9" name="Text 5"/>
          <p:cNvSpPr txBox="1"/>
          <p:nvPr/>
        </p:nvSpPr>
        <p:spPr>
          <a:xfrm>
            <a:off x="566928" y="5120640"/>
            <a:ext cx="11055096" cy="347472"/>
          </a:xfrm>
          <a:prstGeom prst="rect">
            <a:avLst/>
          </a:prstGeom>
          <a:noFill/>
          <a:ln/>
        </p:spPr>
        <p:txBody>
          <a:bodyPr wrap="square" lIns="0" tIns="0" rIns="0" bIns="0" rtlCol="0" anchor="t"/>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年換算は2025年通期に対する1〜7月の構成比（売上57.2%、営業利益49.1%。7月に役員賞与9,540万円を一括計上するため営業利益の構成比が低い）による。売上は継続事業ベース：2025年の売上には月100万円の業務受託収入が9か月分含まれ2025年9月で終了しているため、表面の前年同期比＋4.8%ではなく＋6.1%が実勢。</a:t>
            </a:r>
            <a:endParaRPr lang="en-US" sz="850" dirty="0"/>
          </a:p>
        </p:txBody>
      </p:sp>
      <p:sp>
        <p:nvSpPr>
          <p:cNvPr id="10" name="Shape 6"/>
          <p:cNvSpPr/>
          <p:nvPr/>
        </p:nvSpPr>
        <p:spPr>
          <a:xfrm>
            <a:off x="566928" y="5486400"/>
            <a:ext cx="3520440" cy="841248"/>
          </a:xfrm>
          <a:prstGeom prst="roundRect">
            <a:avLst>
              <a:gd name="adj" fmla="val 5435"/>
            </a:avLst>
          </a:prstGeom>
          <a:solidFill>
            <a:srgbClr val="F7F3F4"/>
          </a:solidFill>
          <a:ln w="9525">
            <a:solidFill>
              <a:srgbClr val="E4DADD"/>
            </a:solidFill>
            <a:prstDash val="solid"/>
          </a:ln>
        </p:spPr>
      </p:sp>
      <p:sp>
        <p:nvSpPr>
          <p:cNvPr id="11" name="Shape 7"/>
          <p:cNvSpPr/>
          <p:nvPr/>
        </p:nvSpPr>
        <p:spPr>
          <a:xfrm>
            <a:off x="566928" y="5486400"/>
            <a:ext cx="45720" cy="841248"/>
          </a:xfrm>
          <a:prstGeom prst="rect">
            <a:avLst/>
          </a:prstGeom>
          <a:solidFill>
            <a:srgbClr val="2E6F4E"/>
          </a:solidFill>
          <a:ln/>
        </p:spPr>
      </p:sp>
      <p:sp>
        <p:nvSpPr>
          <p:cNvPr id="12" name="Text 8"/>
          <p:cNvSpPr txBox="1"/>
          <p:nvPr/>
        </p:nvSpPr>
        <p:spPr>
          <a:xfrm>
            <a:off x="768096" y="5568696"/>
            <a:ext cx="3127248" cy="219456"/>
          </a:xfrm>
          <a:prstGeom prst="rect">
            <a:avLst/>
          </a:prstGeom>
          <a:noFill/>
          <a:ln/>
        </p:spPr>
        <p:txBody>
          <a:bodyPr wrap="square" lIns="0" tIns="0" rIns="0" bIns="0" rtlCol="0" anchor="ctr"/>
          <a:lstStyle/>
          <a:p>
            <a:pPr indent="0" marL="0">
              <a:buNone/>
            </a:pPr>
            <a:r>
              <a:rPr lang="en-US" sz="1050" b="1" dirty="0">
                <a:solidFill>
                  <a:srgbClr val="2E6F4E"/>
                </a:solidFill>
                <a:latin typeface="Calibri" pitchFamily="34" charset="0"/>
                <a:ea typeface="Calibri" pitchFamily="34" charset="-122"/>
                <a:cs typeface="Calibri" pitchFamily="34" charset="-120"/>
              </a:rPr>
              <a:t>① 評価の基礎は会社計画と一致</a:t>
            </a:r>
            <a:endParaRPr lang="en-US" sz="1050" dirty="0"/>
          </a:p>
        </p:txBody>
      </p:sp>
      <p:sp>
        <p:nvSpPr>
          <p:cNvPr id="13" name="Text 9"/>
          <p:cNvSpPr txBox="1"/>
          <p:nvPr/>
        </p:nvSpPr>
        <p:spPr>
          <a:xfrm>
            <a:off x="768096"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当社が用いている売上10.15億円・営業利益5.28億円・当期純利益3.50億円は、対象会社作成の2026年12月期計画と一致する。第15期（2025年）の確定決算は売上9.76億円・営業利益5.05億円であり、計画はその延長線上にある。</a:t>
            </a:r>
            <a:endParaRPr lang="en-US" sz="780" dirty="0"/>
          </a:p>
        </p:txBody>
      </p:sp>
      <p:sp>
        <p:nvSpPr>
          <p:cNvPr id="14" name="Shape 10"/>
          <p:cNvSpPr/>
          <p:nvPr/>
        </p:nvSpPr>
        <p:spPr>
          <a:xfrm>
            <a:off x="4297680" y="5486400"/>
            <a:ext cx="3520440" cy="841248"/>
          </a:xfrm>
          <a:prstGeom prst="roundRect">
            <a:avLst>
              <a:gd name="adj" fmla="val 5435"/>
            </a:avLst>
          </a:prstGeom>
          <a:solidFill>
            <a:srgbClr val="F7F3F4"/>
          </a:solidFill>
          <a:ln w="9525">
            <a:solidFill>
              <a:srgbClr val="E4DADD"/>
            </a:solidFill>
            <a:prstDash val="solid"/>
          </a:ln>
        </p:spPr>
      </p:sp>
      <p:sp>
        <p:nvSpPr>
          <p:cNvPr id="15" name="Shape 11"/>
          <p:cNvSpPr/>
          <p:nvPr/>
        </p:nvSpPr>
        <p:spPr>
          <a:xfrm>
            <a:off x="4297680" y="5486400"/>
            <a:ext cx="45720" cy="841248"/>
          </a:xfrm>
          <a:prstGeom prst="rect">
            <a:avLst/>
          </a:prstGeom>
          <a:solidFill>
            <a:srgbClr val="A8741A"/>
          </a:solidFill>
          <a:ln/>
        </p:spPr>
      </p:sp>
      <p:sp>
        <p:nvSpPr>
          <p:cNvPr id="16" name="Text 12"/>
          <p:cNvSpPr txBox="1"/>
          <p:nvPr/>
        </p:nvSpPr>
        <p:spPr>
          <a:xfrm>
            <a:off x="4498848" y="5568696"/>
            <a:ext cx="3127248" cy="219456"/>
          </a:xfrm>
          <a:prstGeom prst="rect">
            <a:avLst/>
          </a:prstGeom>
          <a:noFill/>
          <a:ln/>
        </p:spPr>
        <p:txBody>
          <a:bodyPr wrap="square" lIns="0" tIns="0" rIns="0" bIns="0" rtlCol="0" anchor="ctr"/>
          <a:lstStyle/>
          <a:p>
            <a:pPr indent="0" marL="0">
              <a:buNone/>
            </a:pPr>
            <a:r>
              <a:rPr lang="en-US" sz="1050" b="1" dirty="0">
                <a:solidFill>
                  <a:srgbClr val="A8741A"/>
                </a:solidFill>
                <a:latin typeface="Calibri" pitchFamily="34" charset="0"/>
                <a:ea typeface="Calibri" pitchFamily="34" charset="-122"/>
                <a:cs typeface="Calibri" pitchFamily="34" charset="-120"/>
              </a:rPr>
              <a:t>② 売上は計画超、利益はやや未達</a:t>
            </a:r>
            <a:endParaRPr lang="en-US" sz="1050" dirty="0"/>
          </a:p>
        </p:txBody>
      </p:sp>
      <p:sp>
        <p:nvSpPr>
          <p:cNvPr id="17" name="Text 13"/>
          <p:cNvSpPr txBox="1"/>
          <p:nvPr/>
        </p:nvSpPr>
        <p:spPr>
          <a:xfrm>
            <a:off x="4498848"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1〜7月の売上は継続事業ベースで前年同期比＋6.1%、年換算で計画を1.2%上回る。一方、営業利益は計画を1.2%下回る。要因は原価と人件費で、食材仕入が前年同期比＋19.2%、給料手当が同＋19.2%。粗利率は77.6%から77.0%へ0.6ポイント低下している。</a:t>
            </a:r>
            <a:endParaRPr lang="en-US" sz="780" dirty="0"/>
          </a:p>
        </p:txBody>
      </p:sp>
      <p:sp>
        <p:nvSpPr>
          <p:cNvPr id="18" name="Shape 14"/>
          <p:cNvSpPr/>
          <p:nvPr/>
        </p:nvSpPr>
        <p:spPr>
          <a:xfrm>
            <a:off x="8028432" y="5486400"/>
            <a:ext cx="3520440" cy="841248"/>
          </a:xfrm>
          <a:prstGeom prst="roundRect">
            <a:avLst>
              <a:gd name="adj" fmla="val 5435"/>
            </a:avLst>
          </a:prstGeom>
          <a:solidFill>
            <a:srgbClr val="F7F3F4"/>
          </a:solidFill>
          <a:ln w="9525">
            <a:solidFill>
              <a:srgbClr val="E4DADD"/>
            </a:solidFill>
            <a:prstDash val="solid"/>
          </a:ln>
        </p:spPr>
      </p:sp>
      <p:sp>
        <p:nvSpPr>
          <p:cNvPr id="19" name="Shape 15"/>
          <p:cNvSpPr/>
          <p:nvPr/>
        </p:nvSpPr>
        <p:spPr>
          <a:xfrm>
            <a:off x="8028432" y="5486400"/>
            <a:ext cx="45720" cy="841248"/>
          </a:xfrm>
          <a:prstGeom prst="rect">
            <a:avLst/>
          </a:prstGeom>
          <a:solidFill>
            <a:srgbClr val="6D2E46"/>
          </a:solidFill>
          <a:ln/>
        </p:spPr>
      </p:sp>
      <p:sp>
        <p:nvSpPr>
          <p:cNvPr id="20" name="Text 16"/>
          <p:cNvSpPr txBox="1"/>
          <p:nvPr/>
        </p:nvSpPr>
        <p:spPr>
          <a:xfrm>
            <a:off x="8229600" y="5568696"/>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③ 当社のDCFは会社計画より保守的</a:t>
            </a:r>
            <a:endParaRPr lang="en-US" sz="1050" dirty="0"/>
          </a:p>
        </p:txBody>
      </p:sp>
      <p:sp>
        <p:nvSpPr>
          <p:cNvPr id="21" name="Text 17"/>
          <p:cNvSpPr txBox="1"/>
          <p:nvPr/>
        </p:nvSpPr>
        <p:spPr>
          <a:xfrm>
            <a:off x="8229600"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会社計画は2029年まで年3〜5%の増益を見込むが、当社のDCFは岸田氏在任中の3年間をFCF 3.50億円で固定し、成長をゼロとしている。上記②のコスト上昇を踏まえれば、この保守性は妥当である。</a:t>
            </a:r>
            <a:endParaRPr lang="en-US" sz="780" dirty="0"/>
          </a:p>
        </p:txBody>
      </p:sp>
      <p:sp>
        <p:nvSpPr>
          <p:cNvPr id="22"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ネットキャッシュ22.4億円の前提を、実績BSで検証した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第13期〜第15期の確定決算および第16期（2026年）1〜7月の月次試算表から、BSの実額推移を復元した。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008376"/>
                <a:gridCol w="2011680"/>
                <a:gridCol w="2011680"/>
                <a:gridCol w="2011680"/>
                <a:gridCol w="2011680"/>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2024/12末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2026/7末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2026/12末 推計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1,398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1,609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長期貸付金（役員）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棚卸資産（ワイン・食材）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資産合計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1,768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2,351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負債合計（うち有利子負債）</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138（0）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141（0）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141（0）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純資産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2,227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2,315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4315968"/>
            <a:ext cx="11055096" cy="38404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百万円。2024/12末・2025/12末は法人税申告書添付の確定BS、2026/7末は月次試算表（令和8年1月1日〜7月31日）。2026/12末は本資料の推計。第16期は7月時点で税金費用を未計上のため、純資産の推計は通期の法人税等を控除した後の数値。</a:t>
            </a:r>
            <a:endParaRPr lang="en-US" sz="850" dirty="0"/>
          </a:p>
        </p:txBody>
      </p:sp>
      <p:sp>
        <p:nvSpPr>
          <p:cNvPr id="7" name="Shape 4"/>
          <p:cNvSpPr/>
          <p:nvPr/>
        </p:nvSpPr>
        <p:spPr>
          <a:xfrm>
            <a:off x="566928" y="4754880"/>
            <a:ext cx="3520440" cy="1517904"/>
          </a:xfrm>
          <a:prstGeom prst="roundRect">
            <a:avLst>
              <a:gd name="adj" fmla="val 3012"/>
            </a:avLst>
          </a:prstGeom>
          <a:solidFill>
            <a:srgbClr val="F7F3F4"/>
          </a:solidFill>
          <a:ln w="9525">
            <a:solidFill>
              <a:srgbClr val="E4DADD"/>
            </a:solidFill>
            <a:prstDash val="solid"/>
          </a:ln>
        </p:spPr>
      </p:sp>
      <p:sp>
        <p:nvSpPr>
          <p:cNvPr id="8" name="Shape 5"/>
          <p:cNvSpPr/>
          <p:nvPr/>
        </p:nvSpPr>
        <p:spPr>
          <a:xfrm>
            <a:off x="566928" y="4754880"/>
            <a:ext cx="45720" cy="1517904"/>
          </a:xfrm>
          <a:prstGeom prst="rect">
            <a:avLst/>
          </a:prstGeom>
          <a:solidFill>
            <a:srgbClr val="2E6F4E"/>
          </a:solidFill>
          <a:ln/>
        </p:spPr>
      </p:sp>
      <p:sp>
        <p:nvSpPr>
          <p:cNvPr id="9" name="Text 6"/>
          <p:cNvSpPr txBox="1"/>
          <p:nvPr/>
        </p:nvSpPr>
        <p:spPr>
          <a:xfrm>
            <a:off x="768096"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2E6F4E"/>
                </a:solidFill>
                <a:latin typeface="Calibri" pitchFamily="34" charset="0"/>
                <a:ea typeface="Calibri" pitchFamily="34" charset="-122"/>
                <a:cs typeface="Calibri" pitchFamily="34" charset="-120"/>
              </a:rPr>
              <a:t>① 現預金の推計は実績と整合する</a:t>
            </a:r>
            <a:endParaRPr lang="en-US" sz="1050" dirty="0"/>
          </a:p>
        </p:txBody>
      </p:sp>
      <p:sp>
        <p:nvSpPr>
          <p:cNvPr id="10" name="Text 7"/>
          <p:cNvSpPr txBox="1"/>
          <p:nvPr/>
        </p:nvSpPr>
        <p:spPr>
          <a:xfrm>
            <a:off x="768096"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2026年7月末の実績現預金は16.09億円。8〜12月の税引前利益（約2.7億円）から法人税の中間納付（約0.9億円）と7月役員賞与に係る源泉預り金（0.41億円）の支払を差し引くと、12月末は17.4億円前後となり、本資料の推計17.43億円と一致する。ネットキャッシュ22.4億円の前提は実績で裏づけられている。</a:t>
            </a:r>
            <a:endParaRPr lang="en-US" sz="780" dirty="0"/>
          </a:p>
        </p:txBody>
      </p:sp>
      <p:sp>
        <p:nvSpPr>
          <p:cNvPr id="11" name="Shape 8"/>
          <p:cNvSpPr/>
          <p:nvPr/>
        </p:nvSpPr>
        <p:spPr>
          <a:xfrm>
            <a:off x="4297680" y="4754880"/>
            <a:ext cx="3520440" cy="1517904"/>
          </a:xfrm>
          <a:prstGeom prst="roundRect">
            <a:avLst>
              <a:gd name="adj" fmla="val 3012"/>
            </a:avLst>
          </a:prstGeom>
          <a:solidFill>
            <a:srgbClr val="F7F3F4"/>
          </a:solidFill>
          <a:ln w="9525">
            <a:solidFill>
              <a:srgbClr val="E4DADD"/>
            </a:solidFill>
            <a:prstDash val="solid"/>
          </a:ln>
        </p:spPr>
      </p:sp>
      <p:sp>
        <p:nvSpPr>
          <p:cNvPr id="12" name="Shape 9"/>
          <p:cNvSpPr/>
          <p:nvPr/>
        </p:nvSpPr>
        <p:spPr>
          <a:xfrm>
            <a:off x="4297680" y="4754880"/>
            <a:ext cx="45720" cy="1517904"/>
          </a:xfrm>
          <a:prstGeom prst="rect">
            <a:avLst/>
          </a:prstGeom>
          <a:solidFill>
            <a:srgbClr val="A8741A"/>
          </a:solidFill>
          <a:ln/>
        </p:spPr>
      </p:sp>
      <p:sp>
        <p:nvSpPr>
          <p:cNvPr id="13" name="Text 10"/>
          <p:cNvSpPr txBox="1"/>
          <p:nvPr/>
        </p:nvSpPr>
        <p:spPr>
          <a:xfrm>
            <a:off x="4498848"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A8741A"/>
                </a:solidFill>
                <a:latin typeface="Calibri" pitchFamily="34" charset="0"/>
                <a:ea typeface="Calibri" pitchFamily="34" charset="-122"/>
                <a:cs typeface="Calibri" pitchFamily="34" charset="-120"/>
              </a:rPr>
              <a:t>② 役員貸付金は2025年3月に1億円増額</a:t>
            </a:r>
            <a:endParaRPr lang="en-US" sz="1050" dirty="0"/>
          </a:p>
        </p:txBody>
      </p:sp>
      <p:sp>
        <p:nvSpPr>
          <p:cNvPr id="14" name="Text 11"/>
          <p:cNvSpPr txBox="1"/>
          <p:nvPr/>
        </p:nvSpPr>
        <p:spPr>
          <a:xfrm>
            <a:off x="4498848"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残高は2024年12月末まで4.00億円、2025年3月に5.00億円へ増額され、2026年7月末も5.00億円のまま。利率0.900%、第15期の利息430万円は雑収入に適正計上されている。売却プロセスの直前に増額されている事実は、クロージング時の現金精算を最終契約の前提条件とすべき理由をいっそう強める。</a:t>
            </a:r>
            <a:endParaRPr lang="en-US" sz="780" dirty="0"/>
          </a:p>
        </p:txBody>
      </p:sp>
      <p:sp>
        <p:nvSpPr>
          <p:cNvPr id="15" name="Shape 12"/>
          <p:cNvSpPr/>
          <p:nvPr/>
        </p:nvSpPr>
        <p:spPr>
          <a:xfrm>
            <a:off x="8028432" y="4754880"/>
            <a:ext cx="3520440" cy="1517904"/>
          </a:xfrm>
          <a:prstGeom prst="roundRect">
            <a:avLst>
              <a:gd name="adj" fmla="val 3012"/>
            </a:avLst>
          </a:prstGeom>
          <a:solidFill>
            <a:srgbClr val="F7F3F4"/>
          </a:solidFill>
          <a:ln w="9525">
            <a:solidFill>
              <a:srgbClr val="E4DADD"/>
            </a:solidFill>
            <a:prstDash val="solid"/>
          </a:ln>
        </p:spPr>
      </p:sp>
      <p:sp>
        <p:nvSpPr>
          <p:cNvPr id="16" name="Shape 13"/>
          <p:cNvSpPr/>
          <p:nvPr/>
        </p:nvSpPr>
        <p:spPr>
          <a:xfrm>
            <a:off x="8028432" y="4754880"/>
            <a:ext cx="45720" cy="1517904"/>
          </a:xfrm>
          <a:prstGeom prst="rect">
            <a:avLst/>
          </a:prstGeom>
          <a:solidFill>
            <a:srgbClr val="6D2E46"/>
          </a:solidFill>
          <a:ln/>
        </p:spPr>
      </p:sp>
      <p:sp>
        <p:nvSpPr>
          <p:cNvPr id="17" name="Text 14"/>
          <p:cNvSpPr txBox="1"/>
          <p:nvPr/>
        </p:nvSpPr>
        <p:spPr>
          <a:xfrm>
            <a:off x="8229600"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6D2E46"/>
                </a:solidFill>
                <a:latin typeface="Calibri" pitchFamily="34" charset="0"/>
                <a:ea typeface="Calibri" pitchFamily="34" charset="-122"/>
                <a:cs typeface="Calibri" pitchFamily="34" charset="-120"/>
              </a:rPr>
              <a:t>③ 有利子負債ゼロ、担保余力はワイン在庫のみ</a:t>
            </a:r>
            <a:endParaRPr lang="en-US" sz="1050" dirty="0"/>
          </a:p>
        </p:txBody>
      </p:sp>
      <p:sp>
        <p:nvSpPr>
          <p:cNvPr id="18" name="Text 15"/>
          <p:cNvSpPr txBox="1"/>
          <p:nvPr/>
        </p:nvSpPr>
        <p:spPr>
          <a:xfrm>
            <a:off x="8229600"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全期間を通じて借入はゼロ。有形固定資産は2026年7月末で141万円にすぎず、物的担保は簿価1.15億円のワイン在庫に限られる。買収ファイナンスの保全は対象会社株式への質権設定とキャッシュフロー・コベナンツが中心となる。</a:t>
            </a:r>
            <a:endParaRPr lang="en-US" sz="78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30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02736"/>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3950208"/>
            <a:ext cx="45720" cy="457200"/>
          </a:xfrm>
          <a:prstGeom prst="rect">
            <a:avLst/>
          </a:prstGeom>
          <a:solidFill>
            <a:srgbClr val="A26769"/>
          </a:solidFill>
          <a:ln/>
        </p:spPr>
      </p:sp>
      <p:sp>
        <p:nvSpPr>
          <p:cNvPr id="7" name="Text 4"/>
          <p:cNvSpPr txBox="1"/>
          <p:nvPr/>
        </p:nvSpPr>
        <p:spPr>
          <a:xfrm>
            <a:off x="749808" y="38953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8953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1513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535424"/>
            <a:ext cx="45720" cy="457200"/>
          </a:xfrm>
          <a:prstGeom prst="rect">
            <a:avLst/>
          </a:prstGeom>
          <a:solidFill>
            <a:srgbClr val="A26769"/>
          </a:solidFill>
          <a:ln/>
        </p:spPr>
      </p:sp>
      <p:sp>
        <p:nvSpPr>
          <p:cNvPr id="11" name="Text 8"/>
          <p:cNvSpPr txBox="1"/>
          <p:nvPr/>
        </p:nvSpPr>
        <p:spPr>
          <a:xfrm>
            <a:off x="749808" y="4480560"/>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480560"/>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736592"/>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120640"/>
            <a:ext cx="45720" cy="457200"/>
          </a:xfrm>
          <a:prstGeom prst="rect">
            <a:avLst/>
          </a:prstGeom>
          <a:solidFill>
            <a:srgbClr val="6D2E46"/>
          </a:solidFill>
          <a:ln/>
        </p:spPr>
      </p:sp>
      <p:sp>
        <p:nvSpPr>
          <p:cNvPr id="15" name="Text 12"/>
          <p:cNvSpPr txBox="1"/>
          <p:nvPr/>
        </p:nvSpPr>
        <p:spPr>
          <a:xfrm>
            <a:off x="749808" y="5065776"/>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065776"/>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321808"/>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760720"/>
            <a:ext cx="11055096" cy="566928"/>
          </a:xfrm>
          <a:prstGeom prst="rect">
            <a:avLst/>
          </a:prstGeom>
          <a:noFill/>
          <a:ln/>
        </p:spPr>
        <p:txBody>
          <a:bodyPr wrap="square" lIns="0" tIns="0" rIns="0" bIns="0" rtlCol="0" anchor="ctr"/>
          <a:lstStyle/>
          <a:p>
            <a:pPr indent="0" marL="0">
              <a:lnSpc>
                <a:spcPts val="1250"/>
              </a:lnSpc>
              <a:buNone/>
            </a:pPr>
            <a:r>
              <a:rPr lang="en-US" sz="900" b="1" dirty="0">
                <a:solidFill>
                  <a:srgbClr val="6D2E46"/>
                </a:solidFill>
                <a:latin typeface="Calibri" pitchFamily="34" charset="0"/>
                <a:ea typeface="Calibri" pitchFamily="34" charset="-122"/>
                <a:cs typeface="Calibri" pitchFamily="34" charset="-120"/>
              </a:rPr>
              <a:t>修正営業利益ベースでは4.5倍　</a:t>
            </a:r>
            <a:pPr indent="0" marL="0">
              <a:lnSpc>
                <a:spcPts val="1250"/>
              </a:lnSpc>
              <a:buNone/>
            </a:pPr>
            <a:r>
              <a:rPr lang="en-US" sz="900" dirty="0">
                <a:solidFill>
                  <a:srgbClr val="6E6368"/>
                </a:solidFill>
                <a:latin typeface="Calibri" pitchFamily="34" charset="0"/>
                <a:ea typeface="Calibri" pitchFamily="34" charset="-122"/>
                <a:cs typeface="Calibri" pitchFamily="34" charset="-120"/>
              </a:rPr>
              <a:t>売主は「修正営業利益5.8億円」で本件を提示している。会計上の営業利益との差額は岸田氏の役員報酬（月60万円＋役員賞与9,540万円）であり、経営者報酬を一般的な水準に正常化したもの。この基準では2026年12月期は約6.1億円となり、EV27.57億円は4.5倍に相当する。ただし正常化益は岸田氏ご退任後にしか実現しないため、返済原資は会計ベースのFCF 3.50億円で見ている。</a:t>
            </a:r>
            <a:endParaRPr lang="en-US" sz="9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0%（34席固定・値上げ以外の成長ドライバーなし）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在任（役職・報酬は協議）</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譲受価額が55.0億円となる場合、差額5.0億円は追加投資家の第三者割当増資で調達する（p.23）。借入額および合併後の財務は変わらない。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28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営業利益▲21%（p.19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2025年3月に4.00億円から5.00億円へ増額されている。クロージング時の現金精算をSPAの前提条件とする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55億円超で説明困難（p.18）</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簿価1.19億円（2026年7月末1.15億円）。一次価格で継続仕入した希少銘柄を含むため、時価評価で含み益が生じる可能性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当社は2024年6月、創業40年を超えるグランメゾンを取得した。39年間にわたり赤字が続き、40年目にようやく黒字化した店を引き継ぎ、2年間で売上30%増・営業利益2.5倍超を実現している。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2.5倍超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2.5倍超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倍超に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・2025/12期まではIM記載の決算数値（第13期〜第15期の法人税申告書添付決算書および第15期残高試算表で突合済み）。2026/12期はIM p.40の会社計画（第16期1〜7月の月次試算表で進捗を検証）。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・p.31の株式会社アピシウスに関する計数は、同社の取得時（2024年6月）と2026年時点との比較。売上高・営業利益はいずれも取得前比。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2026-09-27T13:32:33Z</dcterms:created>
  <dcterms:modified xsi:type="dcterms:W3CDTF">2026-09-27T13:32:33Z</dcterms:modified>
</cp:coreProperties>
</file>