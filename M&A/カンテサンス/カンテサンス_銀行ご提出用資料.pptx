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『ミシュランガイド東京』は2007年創刊、2026年版で19版目。創刊号から19年連続で三つ星を維持しているのは、かんだ／ガストロノミー ジョエル・ロブション／カンテサンスの3軒のみ（2018年版時点で11年連続は4軒、うちすきやばし次郎は2020年版より掲載対象外）。岸田周三氏は創刊号で33歳、当時最年少での三つ星獲得。開業以来おまかせ一コースのみ。2021年ミシュラン グリーンスター獲得。東京は19年連続で星付き店数世界一（三つ星12軒、パリ10軒、ニューヨーク5軒）。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みずほ銀行 御中 ／ 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カンテサンス</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買収案件のご相談</a:t>
            </a:r>
            <a:endParaRPr lang="en-US" sz="40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50〜55億円</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EV/EBITDA 5.2〜6.2倍</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ご相談額</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41.4億円</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ターム20.0＋ブリッジ21.4</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1.36倍</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当初案。ご相談案（p.24）では1.38倍</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対象会社の概要、譲受価額の妥当性、買収ストラクチャー、返済可能性を一冊にまとめたものです。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2026年9月20日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0E14"/>
        </a:solidFill>
      </p:bgPr>
    </p:bg>
    <p:spTree>
      <p:nvGrpSpPr>
        <p:cNvPr id="1" name=""/>
        <p:cNvGrpSpPr/>
        <p:nvPr/>
      </p:nvGrpSpPr>
      <p:grpSpPr>
        <a:xfrm>
          <a:off x="0" y="0"/>
          <a:ext cx="0" cy="0"/>
          <a:chOff x="0" y="0"/>
          <a:chExt cx="0" cy="0"/>
        </a:xfrm>
      </p:grpSpPr>
      <p:sp>
        <p:nvSpPr>
          <p:cNvPr id="2" name="Shape 0"/>
          <p:cNvSpPr/>
          <p:nvPr/>
        </p:nvSpPr>
        <p:spPr>
          <a:xfrm>
            <a:off x="9418320" y="-3840480"/>
            <a:ext cx="7132320" cy="7132320"/>
          </a:xfrm>
          <a:prstGeom prst="ellipse">
            <a:avLst/>
          </a:prstGeom>
          <a:solidFill>
            <a:srgbClr val="6D2E46"/>
          </a:solidFill>
          <a:ln/>
        </p:spPr>
      </p:sp>
      <p:sp>
        <p:nvSpPr>
          <p:cNvPr id="3" name="Shape 1"/>
          <p:cNvSpPr/>
          <p:nvPr/>
        </p:nvSpPr>
        <p:spPr>
          <a:xfrm>
            <a:off x="-2743200" y="4754880"/>
            <a:ext cx="5852160" cy="5852160"/>
          </a:xfrm>
          <a:prstGeom prst="ellipse">
            <a:avLst/>
          </a:prstGeom>
          <a:solidFill>
            <a:srgbClr val="6D2E46"/>
          </a:solidFill>
          <a:ln/>
        </p:spPr>
      </p:sp>
      <p:sp>
        <p:nvSpPr>
          <p:cNvPr id="4" name="Text 2"/>
          <p:cNvSpPr txBox="1"/>
          <p:nvPr/>
        </p:nvSpPr>
        <p:spPr>
          <a:xfrm>
            <a:off x="566928" y="365760"/>
            <a:ext cx="9144000" cy="237744"/>
          </a:xfrm>
          <a:prstGeom prst="rect">
            <a:avLst/>
          </a:prstGeom>
          <a:noFill/>
          <a:ln/>
        </p:spPr>
        <p:txBody>
          <a:bodyPr wrap="square" lIns="0" tIns="0" rIns="0" bIns="0" rtlCol="0" anchor="ctr"/>
          <a:lstStyle/>
          <a:p>
            <a:pPr indent="0" marL="0">
              <a:buNone/>
            </a:pPr>
            <a:r>
              <a:rPr lang="en-US" sz="1100" b="1" spc="160" kern="0" dirty="0">
                <a:solidFill>
                  <a:srgbClr val="E0B94A"/>
                </a:solidFill>
                <a:latin typeface="Calibri" pitchFamily="34" charset="0"/>
                <a:ea typeface="Calibri" pitchFamily="34" charset="-122"/>
                <a:cs typeface="Calibri" pitchFamily="34" charset="-120"/>
              </a:rPr>
              <a:t>QUINTESSENCE　／　カンテサンス（東京・品川御殿山）</a:t>
            </a:r>
            <a:endParaRPr lang="en-US" sz="1100" dirty="0"/>
          </a:p>
        </p:txBody>
      </p:sp>
      <p:sp>
        <p:nvSpPr>
          <p:cNvPr id="5" name="Text 3"/>
          <p:cNvSpPr txBox="1"/>
          <p:nvPr/>
        </p:nvSpPr>
        <p:spPr>
          <a:xfrm>
            <a:off x="566928" y="640080"/>
            <a:ext cx="11055096" cy="694944"/>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創刊号から、ずっと三つ星。</a:t>
            </a:r>
            <a:endParaRPr lang="en-US" sz="4400" dirty="0"/>
          </a:p>
        </p:txBody>
      </p:sp>
      <p:sp>
        <p:nvSpPr>
          <p:cNvPr id="6" name="Text 4"/>
          <p:cNvSpPr txBox="1"/>
          <p:nvPr/>
        </p:nvSpPr>
        <p:spPr>
          <a:xfrm>
            <a:off x="566928" y="1389888"/>
            <a:ext cx="11055096" cy="292608"/>
          </a:xfrm>
          <a:prstGeom prst="rect">
            <a:avLst/>
          </a:prstGeom>
          <a:noFill/>
          <a:ln/>
        </p:spPr>
        <p:txBody>
          <a:bodyPr wrap="square" lIns="0" tIns="0" rIns="0" bIns="0" rtlCol="0" anchor="ctr"/>
          <a:lstStyle/>
          <a:p>
            <a:pPr indent="0" marL="0">
              <a:buNone/>
            </a:pPr>
            <a:r>
              <a:rPr lang="en-US" sz="1300" dirty="0">
                <a:solidFill>
                  <a:srgbClr val="D6C6CB"/>
                </a:solidFill>
                <a:latin typeface="Calibri" pitchFamily="34" charset="0"/>
                <a:ea typeface="Calibri" pitchFamily="34" charset="-122"/>
                <a:cs typeface="Calibri" pitchFamily="34" charset="-120"/>
              </a:rPr>
              <a:t>『ミシュランガイド東京』は2007年に創刊。2008年版から2026年版までの19版すべてで、カンテサンスは最高評価を保持している。</a:t>
            </a:r>
            <a:endParaRPr lang="en-US" sz="1300" dirty="0"/>
          </a:p>
        </p:txBody>
      </p:sp>
      <p:sp>
        <p:nvSpPr>
          <p:cNvPr id="7" name="Shape 5"/>
          <p:cNvSpPr/>
          <p:nvPr/>
        </p:nvSpPr>
        <p:spPr>
          <a:xfrm>
            <a:off x="841248" y="1847088"/>
            <a:ext cx="182880" cy="182880"/>
          </a:xfrm>
          <a:prstGeom prst="star5">
            <a:avLst/>
          </a:prstGeom>
          <a:solidFill>
            <a:srgbClr val="E0B94A"/>
          </a:solidFill>
          <a:ln/>
        </p:spPr>
      </p:sp>
      <p:sp>
        <p:nvSpPr>
          <p:cNvPr id="8" name="Shape 6"/>
          <p:cNvSpPr/>
          <p:nvPr/>
        </p:nvSpPr>
        <p:spPr>
          <a:xfrm>
            <a:off x="1046988" y="1847088"/>
            <a:ext cx="182880" cy="182880"/>
          </a:xfrm>
          <a:prstGeom prst="star5">
            <a:avLst/>
          </a:prstGeom>
          <a:solidFill>
            <a:srgbClr val="E0B94A"/>
          </a:solidFill>
          <a:ln/>
        </p:spPr>
      </p:sp>
      <p:sp>
        <p:nvSpPr>
          <p:cNvPr id="9" name="Shape 7"/>
          <p:cNvSpPr/>
          <p:nvPr/>
        </p:nvSpPr>
        <p:spPr>
          <a:xfrm>
            <a:off x="1252728" y="1847088"/>
            <a:ext cx="182880" cy="182880"/>
          </a:xfrm>
          <a:prstGeom prst="star5">
            <a:avLst/>
          </a:prstGeom>
          <a:solidFill>
            <a:srgbClr val="E0B94A"/>
          </a:solidFill>
          <a:ln/>
        </p:spPr>
      </p:sp>
      <p:sp>
        <p:nvSpPr>
          <p:cNvPr id="10" name="Text 8"/>
          <p:cNvSpPr txBox="1"/>
          <p:nvPr/>
        </p:nvSpPr>
        <p:spPr>
          <a:xfrm>
            <a:off x="69494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2008</a:t>
            </a:r>
            <a:endParaRPr lang="en-US" sz="800" dirty="0"/>
          </a:p>
        </p:txBody>
      </p:sp>
      <p:sp>
        <p:nvSpPr>
          <p:cNvPr id="11" name="Shape 9"/>
          <p:cNvSpPr/>
          <p:nvPr/>
        </p:nvSpPr>
        <p:spPr>
          <a:xfrm>
            <a:off x="1879092" y="1847088"/>
            <a:ext cx="182880" cy="182880"/>
          </a:xfrm>
          <a:prstGeom prst="star5">
            <a:avLst/>
          </a:prstGeom>
          <a:solidFill>
            <a:srgbClr val="E0B94A"/>
          </a:solidFill>
          <a:ln/>
        </p:spPr>
      </p:sp>
      <p:sp>
        <p:nvSpPr>
          <p:cNvPr id="12" name="Shape 10"/>
          <p:cNvSpPr/>
          <p:nvPr/>
        </p:nvSpPr>
        <p:spPr>
          <a:xfrm>
            <a:off x="2084832" y="1847088"/>
            <a:ext cx="182880" cy="182880"/>
          </a:xfrm>
          <a:prstGeom prst="star5">
            <a:avLst/>
          </a:prstGeom>
          <a:solidFill>
            <a:srgbClr val="E0B94A"/>
          </a:solidFill>
          <a:ln/>
        </p:spPr>
      </p:sp>
      <p:sp>
        <p:nvSpPr>
          <p:cNvPr id="13" name="Shape 11"/>
          <p:cNvSpPr/>
          <p:nvPr/>
        </p:nvSpPr>
        <p:spPr>
          <a:xfrm>
            <a:off x="2290572" y="1847088"/>
            <a:ext cx="182880" cy="182880"/>
          </a:xfrm>
          <a:prstGeom prst="star5">
            <a:avLst/>
          </a:prstGeom>
          <a:solidFill>
            <a:srgbClr val="E0B94A"/>
          </a:solidFill>
          <a:ln/>
        </p:spPr>
      </p:sp>
      <p:sp>
        <p:nvSpPr>
          <p:cNvPr id="14" name="Text 12"/>
          <p:cNvSpPr txBox="1"/>
          <p:nvPr/>
        </p:nvSpPr>
        <p:spPr>
          <a:xfrm>
            <a:off x="173278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2009</a:t>
            </a:r>
            <a:endParaRPr lang="en-US" sz="800" dirty="0"/>
          </a:p>
        </p:txBody>
      </p:sp>
      <p:sp>
        <p:nvSpPr>
          <p:cNvPr id="15" name="Shape 13"/>
          <p:cNvSpPr/>
          <p:nvPr/>
        </p:nvSpPr>
        <p:spPr>
          <a:xfrm>
            <a:off x="2916936" y="1847088"/>
            <a:ext cx="182880" cy="182880"/>
          </a:xfrm>
          <a:prstGeom prst="star5">
            <a:avLst/>
          </a:prstGeom>
          <a:solidFill>
            <a:srgbClr val="E0B94A"/>
          </a:solidFill>
          <a:ln/>
        </p:spPr>
      </p:sp>
      <p:sp>
        <p:nvSpPr>
          <p:cNvPr id="16" name="Shape 14"/>
          <p:cNvSpPr/>
          <p:nvPr/>
        </p:nvSpPr>
        <p:spPr>
          <a:xfrm>
            <a:off x="3122676" y="1847088"/>
            <a:ext cx="182880" cy="182880"/>
          </a:xfrm>
          <a:prstGeom prst="star5">
            <a:avLst/>
          </a:prstGeom>
          <a:solidFill>
            <a:srgbClr val="E0B94A"/>
          </a:solidFill>
          <a:ln/>
        </p:spPr>
      </p:sp>
      <p:sp>
        <p:nvSpPr>
          <p:cNvPr id="17" name="Shape 15"/>
          <p:cNvSpPr/>
          <p:nvPr/>
        </p:nvSpPr>
        <p:spPr>
          <a:xfrm>
            <a:off x="3328416" y="1847088"/>
            <a:ext cx="182880" cy="182880"/>
          </a:xfrm>
          <a:prstGeom prst="star5">
            <a:avLst/>
          </a:prstGeom>
          <a:solidFill>
            <a:srgbClr val="E0B94A"/>
          </a:solidFill>
          <a:ln/>
        </p:spPr>
      </p:sp>
      <p:sp>
        <p:nvSpPr>
          <p:cNvPr id="18" name="Text 16"/>
          <p:cNvSpPr txBox="1"/>
          <p:nvPr/>
        </p:nvSpPr>
        <p:spPr>
          <a:xfrm>
            <a:off x="277063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2010</a:t>
            </a:r>
            <a:endParaRPr lang="en-US" sz="800" dirty="0"/>
          </a:p>
        </p:txBody>
      </p:sp>
      <p:sp>
        <p:nvSpPr>
          <p:cNvPr id="19" name="Shape 17"/>
          <p:cNvSpPr/>
          <p:nvPr/>
        </p:nvSpPr>
        <p:spPr>
          <a:xfrm>
            <a:off x="3954780" y="1847088"/>
            <a:ext cx="182880" cy="182880"/>
          </a:xfrm>
          <a:prstGeom prst="star5">
            <a:avLst/>
          </a:prstGeom>
          <a:solidFill>
            <a:srgbClr val="E0B94A"/>
          </a:solidFill>
          <a:ln/>
        </p:spPr>
      </p:sp>
      <p:sp>
        <p:nvSpPr>
          <p:cNvPr id="20" name="Shape 18"/>
          <p:cNvSpPr/>
          <p:nvPr/>
        </p:nvSpPr>
        <p:spPr>
          <a:xfrm>
            <a:off x="4160520" y="1847088"/>
            <a:ext cx="182880" cy="182880"/>
          </a:xfrm>
          <a:prstGeom prst="star5">
            <a:avLst/>
          </a:prstGeom>
          <a:solidFill>
            <a:srgbClr val="E0B94A"/>
          </a:solidFill>
          <a:ln/>
        </p:spPr>
      </p:sp>
      <p:sp>
        <p:nvSpPr>
          <p:cNvPr id="21" name="Shape 19"/>
          <p:cNvSpPr/>
          <p:nvPr/>
        </p:nvSpPr>
        <p:spPr>
          <a:xfrm>
            <a:off x="4366260" y="1847088"/>
            <a:ext cx="182880" cy="182880"/>
          </a:xfrm>
          <a:prstGeom prst="star5">
            <a:avLst/>
          </a:prstGeom>
          <a:solidFill>
            <a:srgbClr val="E0B94A"/>
          </a:solidFill>
          <a:ln/>
        </p:spPr>
      </p:sp>
      <p:sp>
        <p:nvSpPr>
          <p:cNvPr id="22" name="Text 20"/>
          <p:cNvSpPr txBox="1"/>
          <p:nvPr/>
        </p:nvSpPr>
        <p:spPr>
          <a:xfrm>
            <a:off x="380847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2011</a:t>
            </a:r>
            <a:endParaRPr lang="en-US" sz="800" dirty="0"/>
          </a:p>
        </p:txBody>
      </p:sp>
      <p:sp>
        <p:nvSpPr>
          <p:cNvPr id="23" name="Shape 21"/>
          <p:cNvSpPr/>
          <p:nvPr/>
        </p:nvSpPr>
        <p:spPr>
          <a:xfrm>
            <a:off x="4992624" y="1847088"/>
            <a:ext cx="182880" cy="182880"/>
          </a:xfrm>
          <a:prstGeom prst="star5">
            <a:avLst/>
          </a:prstGeom>
          <a:solidFill>
            <a:srgbClr val="E0B94A"/>
          </a:solidFill>
          <a:ln/>
        </p:spPr>
      </p:sp>
      <p:sp>
        <p:nvSpPr>
          <p:cNvPr id="24" name="Shape 22"/>
          <p:cNvSpPr/>
          <p:nvPr/>
        </p:nvSpPr>
        <p:spPr>
          <a:xfrm>
            <a:off x="5198364" y="1847088"/>
            <a:ext cx="182880" cy="182880"/>
          </a:xfrm>
          <a:prstGeom prst="star5">
            <a:avLst/>
          </a:prstGeom>
          <a:solidFill>
            <a:srgbClr val="E0B94A"/>
          </a:solidFill>
          <a:ln/>
        </p:spPr>
      </p:sp>
      <p:sp>
        <p:nvSpPr>
          <p:cNvPr id="25" name="Shape 23"/>
          <p:cNvSpPr/>
          <p:nvPr/>
        </p:nvSpPr>
        <p:spPr>
          <a:xfrm>
            <a:off x="5404104" y="1847088"/>
            <a:ext cx="182880" cy="182880"/>
          </a:xfrm>
          <a:prstGeom prst="star5">
            <a:avLst/>
          </a:prstGeom>
          <a:solidFill>
            <a:srgbClr val="E0B94A"/>
          </a:solidFill>
          <a:ln/>
        </p:spPr>
      </p:sp>
      <p:sp>
        <p:nvSpPr>
          <p:cNvPr id="26" name="Text 24"/>
          <p:cNvSpPr txBox="1"/>
          <p:nvPr/>
        </p:nvSpPr>
        <p:spPr>
          <a:xfrm>
            <a:off x="484632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2012</a:t>
            </a:r>
            <a:endParaRPr lang="en-US" sz="800" dirty="0"/>
          </a:p>
        </p:txBody>
      </p:sp>
      <p:sp>
        <p:nvSpPr>
          <p:cNvPr id="27" name="Shape 25"/>
          <p:cNvSpPr/>
          <p:nvPr/>
        </p:nvSpPr>
        <p:spPr>
          <a:xfrm>
            <a:off x="6030468" y="1847088"/>
            <a:ext cx="182880" cy="182880"/>
          </a:xfrm>
          <a:prstGeom prst="star5">
            <a:avLst/>
          </a:prstGeom>
          <a:solidFill>
            <a:srgbClr val="E0B94A"/>
          </a:solidFill>
          <a:ln/>
        </p:spPr>
      </p:sp>
      <p:sp>
        <p:nvSpPr>
          <p:cNvPr id="28" name="Shape 26"/>
          <p:cNvSpPr/>
          <p:nvPr/>
        </p:nvSpPr>
        <p:spPr>
          <a:xfrm>
            <a:off x="6236208" y="1847088"/>
            <a:ext cx="182880" cy="182880"/>
          </a:xfrm>
          <a:prstGeom prst="star5">
            <a:avLst/>
          </a:prstGeom>
          <a:solidFill>
            <a:srgbClr val="E0B94A"/>
          </a:solidFill>
          <a:ln/>
        </p:spPr>
      </p:sp>
      <p:sp>
        <p:nvSpPr>
          <p:cNvPr id="29" name="Shape 27"/>
          <p:cNvSpPr/>
          <p:nvPr/>
        </p:nvSpPr>
        <p:spPr>
          <a:xfrm>
            <a:off x="6441948" y="1847088"/>
            <a:ext cx="182880" cy="182880"/>
          </a:xfrm>
          <a:prstGeom prst="star5">
            <a:avLst/>
          </a:prstGeom>
          <a:solidFill>
            <a:srgbClr val="E0B94A"/>
          </a:solidFill>
          <a:ln/>
        </p:spPr>
      </p:sp>
      <p:sp>
        <p:nvSpPr>
          <p:cNvPr id="30" name="Text 28"/>
          <p:cNvSpPr txBox="1"/>
          <p:nvPr/>
        </p:nvSpPr>
        <p:spPr>
          <a:xfrm>
            <a:off x="588416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2013</a:t>
            </a:r>
            <a:endParaRPr lang="en-US" sz="800" dirty="0"/>
          </a:p>
        </p:txBody>
      </p:sp>
      <p:sp>
        <p:nvSpPr>
          <p:cNvPr id="31" name="Shape 29"/>
          <p:cNvSpPr/>
          <p:nvPr/>
        </p:nvSpPr>
        <p:spPr>
          <a:xfrm>
            <a:off x="7068312" y="1847088"/>
            <a:ext cx="182880" cy="182880"/>
          </a:xfrm>
          <a:prstGeom prst="star5">
            <a:avLst/>
          </a:prstGeom>
          <a:solidFill>
            <a:srgbClr val="E0B94A"/>
          </a:solidFill>
          <a:ln/>
        </p:spPr>
      </p:sp>
      <p:sp>
        <p:nvSpPr>
          <p:cNvPr id="32" name="Shape 30"/>
          <p:cNvSpPr/>
          <p:nvPr/>
        </p:nvSpPr>
        <p:spPr>
          <a:xfrm>
            <a:off x="7274052" y="1847088"/>
            <a:ext cx="182880" cy="182880"/>
          </a:xfrm>
          <a:prstGeom prst="star5">
            <a:avLst/>
          </a:prstGeom>
          <a:solidFill>
            <a:srgbClr val="E0B94A"/>
          </a:solidFill>
          <a:ln/>
        </p:spPr>
      </p:sp>
      <p:sp>
        <p:nvSpPr>
          <p:cNvPr id="33" name="Shape 31"/>
          <p:cNvSpPr/>
          <p:nvPr/>
        </p:nvSpPr>
        <p:spPr>
          <a:xfrm>
            <a:off x="7479792" y="1847088"/>
            <a:ext cx="182880" cy="182880"/>
          </a:xfrm>
          <a:prstGeom prst="star5">
            <a:avLst/>
          </a:prstGeom>
          <a:solidFill>
            <a:srgbClr val="E0B94A"/>
          </a:solidFill>
          <a:ln/>
        </p:spPr>
      </p:sp>
      <p:sp>
        <p:nvSpPr>
          <p:cNvPr id="34" name="Text 32"/>
          <p:cNvSpPr txBox="1"/>
          <p:nvPr/>
        </p:nvSpPr>
        <p:spPr>
          <a:xfrm>
            <a:off x="692200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2014</a:t>
            </a:r>
            <a:endParaRPr lang="en-US" sz="800" dirty="0"/>
          </a:p>
        </p:txBody>
      </p:sp>
      <p:sp>
        <p:nvSpPr>
          <p:cNvPr id="35" name="Shape 33"/>
          <p:cNvSpPr/>
          <p:nvPr/>
        </p:nvSpPr>
        <p:spPr>
          <a:xfrm>
            <a:off x="8106156" y="1847088"/>
            <a:ext cx="182880" cy="182880"/>
          </a:xfrm>
          <a:prstGeom prst="star5">
            <a:avLst/>
          </a:prstGeom>
          <a:solidFill>
            <a:srgbClr val="E0B94A"/>
          </a:solidFill>
          <a:ln/>
        </p:spPr>
      </p:sp>
      <p:sp>
        <p:nvSpPr>
          <p:cNvPr id="36" name="Shape 34"/>
          <p:cNvSpPr/>
          <p:nvPr/>
        </p:nvSpPr>
        <p:spPr>
          <a:xfrm>
            <a:off x="8311896" y="1847088"/>
            <a:ext cx="182880" cy="182880"/>
          </a:xfrm>
          <a:prstGeom prst="star5">
            <a:avLst/>
          </a:prstGeom>
          <a:solidFill>
            <a:srgbClr val="E0B94A"/>
          </a:solidFill>
          <a:ln/>
        </p:spPr>
      </p:sp>
      <p:sp>
        <p:nvSpPr>
          <p:cNvPr id="37" name="Shape 35"/>
          <p:cNvSpPr/>
          <p:nvPr/>
        </p:nvSpPr>
        <p:spPr>
          <a:xfrm>
            <a:off x="8517636" y="1847088"/>
            <a:ext cx="182880" cy="182880"/>
          </a:xfrm>
          <a:prstGeom prst="star5">
            <a:avLst/>
          </a:prstGeom>
          <a:solidFill>
            <a:srgbClr val="E0B94A"/>
          </a:solidFill>
          <a:ln/>
        </p:spPr>
      </p:sp>
      <p:sp>
        <p:nvSpPr>
          <p:cNvPr id="38" name="Text 36"/>
          <p:cNvSpPr txBox="1"/>
          <p:nvPr/>
        </p:nvSpPr>
        <p:spPr>
          <a:xfrm>
            <a:off x="795985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2015</a:t>
            </a:r>
            <a:endParaRPr lang="en-US" sz="800" dirty="0"/>
          </a:p>
        </p:txBody>
      </p:sp>
      <p:sp>
        <p:nvSpPr>
          <p:cNvPr id="39" name="Shape 37"/>
          <p:cNvSpPr/>
          <p:nvPr/>
        </p:nvSpPr>
        <p:spPr>
          <a:xfrm>
            <a:off x="9144000" y="1847088"/>
            <a:ext cx="182880" cy="182880"/>
          </a:xfrm>
          <a:prstGeom prst="star5">
            <a:avLst/>
          </a:prstGeom>
          <a:solidFill>
            <a:srgbClr val="E0B94A"/>
          </a:solidFill>
          <a:ln/>
        </p:spPr>
      </p:sp>
      <p:sp>
        <p:nvSpPr>
          <p:cNvPr id="40" name="Shape 38"/>
          <p:cNvSpPr/>
          <p:nvPr/>
        </p:nvSpPr>
        <p:spPr>
          <a:xfrm>
            <a:off x="9349740" y="1847088"/>
            <a:ext cx="182880" cy="182880"/>
          </a:xfrm>
          <a:prstGeom prst="star5">
            <a:avLst/>
          </a:prstGeom>
          <a:solidFill>
            <a:srgbClr val="E0B94A"/>
          </a:solidFill>
          <a:ln/>
        </p:spPr>
      </p:sp>
      <p:sp>
        <p:nvSpPr>
          <p:cNvPr id="41" name="Shape 39"/>
          <p:cNvSpPr/>
          <p:nvPr/>
        </p:nvSpPr>
        <p:spPr>
          <a:xfrm>
            <a:off x="9555480" y="1847088"/>
            <a:ext cx="182880" cy="182880"/>
          </a:xfrm>
          <a:prstGeom prst="star5">
            <a:avLst/>
          </a:prstGeom>
          <a:solidFill>
            <a:srgbClr val="E0B94A"/>
          </a:solidFill>
          <a:ln/>
        </p:spPr>
      </p:sp>
      <p:sp>
        <p:nvSpPr>
          <p:cNvPr id="42" name="Text 40"/>
          <p:cNvSpPr txBox="1"/>
          <p:nvPr/>
        </p:nvSpPr>
        <p:spPr>
          <a:xfrm>
            <a:off x="899769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2016</a:t>
            </a:r>
            <a:endParaRPr lang="en-US" sz="800" dirty="0"/>
          </a:p>
        </p:txBody>
      </p:sp>
      <p:sp>
        <p:nvSpPr>
          <p:cNvPr id="43" name="Shape 41"/>
          <p:cNvSpPr/>
          <p:nvPr/>
        </p:nvSpPr>
        <p:spPr>
          <a:xfrm>
            <a:off x="10181844" y="1847088"/>
            <a:ext cx="182880" cy="182880"/>
          </a:xfrm>
          <a:prstGeom prst="star5">
            <a:avLst/>
          </a:prstGeom>
          <a:solidFill>
            <a:srgbClr val="E0B94A"/>
          </a:solidFill>
          <a:ln/>
        </p:spPr>
      </p:sp>
      <p:sp>
        <p:nvSpPr>
          <p:cNvPr id="44" name="Shape 42"/>
          <p:cNvSpPr/>
          <p:nvPr/>
        </p:nvSpPr>
        <p:spPr>
          <a:xfrm>
            <a:off x="10387584" y="1847088"/>
            <a:ext cx="182880" cy="182880"/>
          </a:xfrm>
          <a:prstGeom prst="star5">
            <a:avLst/>
          </a:prstGeom>
          <a:solidFill>
            <a:srgbClr val="E0B94A"/>
          </a:solidFill>
          <a:ln/>
        </p:spPr>
      </p:sp>
      <p:sp>
        <p:nvSpPr>
          <p:cNvPr id="45" name="Shape 43"/>
          <p:cNvSpPr/>
          <p:nvPr/>
        </p:nvSpPr>
        <p:spPr>
          <a:xfrm>
            <a:off x="10593324" y="1847088"/>
            <a:ext cx="182880" cy="182880"/>
          </a:xfrm>
          <a:prstGeom prst="star5">
            <a:avLst/>
          </a:prstGeom>
          <a:solidFill>
            <a:srgbClr val="E0B94A"/>
          </a:solidFill>
          <a:ln/>
        </p:spPr>
      </p:sp>
      <p:sp>
        <p:nvSpPr>
          <p:cNvPr id="46" name="Text 44"/>
          <p:cNvSpPr txBox="1"/>
          <p:nvPr/>
        </p:nvSpPr>
        <p:spPr>
          <a:xfrm>
            <a:off x="1003554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2017</a:t>
            </a:r>
            <a:endParaRPr lang="en-US" sz="800" dirty="0"/>
          </a:p>
        </p:txBody>
      </p:sp>
      <p:sp>
        <p:nvSpPr>
          <p:cNvPr id="47" name="Shape 45"/>
          <p:cNvSpPr/>
          <p:nvPr/>
        </p:nvSpPr>
        <p:spPr>
          <a:xfrm>
            <a:off x="841248" y="2395728"/>
            <a:ext cx="182880" cy="182880"/>
          </a:xfrm>
          <a:prstGeom prst="star5">
            <a:avLst/>
          </a:prstGeom>
          <a:solidFill>
            <a:srgbClr val="E0B94A"/>
          </a:solidFill>
          <a:ln/>
        </p:spPr>
      </p:sp>
      <p:sp>
        <p:nvSpPr>
          <p:cNvPr id="48" name="Shape 46"/>
          <p:cNvSpPr/>
          <p:nvPr/>
        </p:nvSpPr>
        <p:spPr>
          <a:xfrm>
            <a:off x="1046988" y="2395728"/>
            <a:ext cx="182880" cy="182880"/>
          </a:xfrm>
          <a:prstGeom prst="star5">
            <a:avLst/>
          </a:prstGeom>
          <a:solidFill>
            <a:srgbClr val="E0B94A"/>
          </a:solidFill>
          <a:ln/>
        </p:spPr>
      </p:sp>
      <p:sp>
        <p:nvSpPr>
          <p:cNvPr id="49" name="Shape 47"/>
          <p:cNvSpPr/>
          <p:nvPr/>
        </p:nvSpPr>
        <p:spPr>
          <a:xfrm>
            <a:off x="1252728" y="2395728"/>
            <a:ext cx="182880" cy="182880"/>
          </a:xfrm>
          <a:prstGeom prst="star5">
            <a:avLst/>
          </a:prstGeom>
          <a:solidFill>
            <a:srgbClr val="E0B94A"/>
          </a:solidFill>
          <a:ln/>
        </p:spPr>
      </p:sp>
      <p:sp>
        <p:nvSpPr>
          <p:cNvPr id="50" name="Text 48"/>
          <p:cNvSpPr txBox="1"/>
          <p:nvPr/>
        </p:nvSpPr>
        <p:spPr>
          <a:xfrm>
            <a:off x="69494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2018</a:t>
            </a:r>
            <a:endParaRPr lang="en-US" sz="800" dirty="0"/>
          </a:p>
        </p:txBody>
      </p:sp>
      <p:sp>
        <p:nvSpPr>
          <p:cNvPr id="51" name="Shape 49"/>
          <p:cNvSpPr/>
          <p:nvPr/>
        </p:nvSpPr>
        <p:spPr>
          <a:xfrm>
            <a:off x="1879092" y="2395728"/>
            <a:ext cx="182880" cy="182880"/>
          </a:xfrm>
          <a:prstGeom prst="star5">
            <a:avLst/>
          </a:prstGeom>
          <a:solidFill>
            <a:srgbClr val="E0B94A"/>
          </a:solidFill>
          <a:ln/>
        </p:spPr>
      </p:sp>
      <p:sp>
        <p:nvSpPr>
          <p:cNvPr id="52" name="Shape 50"/>
          <p:cNvSpPr/>
          <p:nvPr/>
        </p:nvSpPr>
        <p:spPr>
          <a:xfrm>
            <a:off x="2084832" y="2395728"/>
            <a:ext cx="182880" cy="182880"/>
          </a:xfrm>
          <a:prstGeom prst="star5">
            <a:avLst/>
          </a:prstGeom>
          <a:solidFill>
            <a:srgbClr val="E0B94A"/>
          </a:solidFill>
          <a:ln/>
        </p:spPr>
      </p:sp>
      <p:sp>
        <p:nvSpPr>
          <p:cNvPr id="53" name="Shape 51"/>
          <p:cNvSpPr/>
          <p:nvPr/>
        </p:nvSpPr>
        <p:spPr>
          <a:xfrm>
            <a:off x="2290572" y="2395728"/>
            <a:ext cx="182880" cy="182880"/>
          </a:xfrm>
          <a:prstGeom prst="star5">
            <a:avLst/>
          </a:prstGeom>
          <a:solidFill>
            <a:srgbClr val="E0B94A"/>
          </a:solidFill>
          <a:ln/>
        </p:spPr>
      </p:sp>
      <p:sp>
        <p:nvSpPr>
          <p:cNvPr id="54" name="Text 52"/>
          <p:cNvSpPr txBox="1"/>
          <p:nvPr/>
        </p:nvSpPr>
        <p:spPr>
          <a:xfrm>
            <a:off x="173278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2019</a:t>
            </a:r>
            <a:endParaRPr lang="en-US" sz="800" dirty="0"/>
          </a:p>
        </p:txBody>
      </p:sp>
      <p:sp>
        <p:nvSpPr>
          <p:cNvPr id="55" name="Shape 53"/>
          <p:cNvSpPr/>
          <p:nvPr/>
        </p:nvSpPr>
        <p:spPr>
          <a:xfrm>
            <a:off x="2916936" y="2395728"/>
            <a:ext cx="182880" cy="182880"/>
          </a:xfrm>
          <a:prstGeom prst="star5">
            <a:avLst/>
          </a:prstGeom>
          <a:solidFill>
            <a:srgbClr val="E0B94A"/>
          </a:solidFill>
          <a:ln/>
        </p:spPr>
      </p:sp>
      <p:sp>
        <p:nvSpPr>
          <p:cNvPr id="56" name="Shape 54"/>
          <p:cNvSpPr/>
          <p:nvPr/>
        </p:nvSpPr>
        <p:spPr>
          <a:xfrm>
            <a:off x="3122676" y="2395728"/>
            <a:ext cx="182880" cy="182880"/>
          </a:xfrm>
          <a:prstGeom prst="star5">
            <a:avLst/>
          </a:prstGeom>
          <a:solidFill>
            <a:srgbClr val="E0B94A"/>
          </a:solidFill>
          <a:ln/>
        </p:spPr>
      </p:sp>
      <p:sp>
        <p:nvSpPr>
          <p:cNvPr id="57" name="Shape 55"/>
          <p:cNvSpPr/>
          <p:nvPr/>
        </p:nvSpPr>
        <p:spPr>
          <a:xfrm>
            <a:off x="3328416" y="2395728"/>
            <a:ext cx="182880" cy="182880"/>
          </a:xfrm>
          <a:prstGeom prst="star5">
            <a:avLst/>
          </a:prstGeom>
          <a:solidFill>
            <a:srgbClr val="E0B94A"/>
          </a:solidFill>
          <a:ln/>
        </p:spPr>
      </p:sp>
      <p:sp>
        <p:nvSpPr>
          <p:cNvPr id="58" name="Text 56"/>
          <p:cNvSpPr txBox="1"/>
          <p:nvPr/>
        </p:nvSpPr>
        <p:spPr>
          <a:xfrm>
            <a:off x="277063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2020</a:t>
            </a:r>
            <a:endParaRPr lang="en-US" sz="800" dirty="0"/>
          </a:p>
        </p:txBody>
      </p:sp>
      <p:sp>
        <p:nvSpPr>
          <p:cNvPr id="59" name="Shape 57"/>
          <p:cNvSpPr/>
          <p:nvPr/>
        </p:nvSpPr>
        <p:spPr>
          <a:xfrm>
            <a:off x="3954780" y="2395728"/>
            <a:ext cx="182880" cy="182880"/>
          </a:xfrm>
          <a:prstGeom prst="star5">
            <a:avLst/>
          </a:prstGeom>
          <a:solidFill>
            <a:srgbClr val="E0B94A"/>
          </a:solidFill>
          <a:ln/>
        </p:spPr>
      </p:sp>
      <p:sp>
        <p:nvSpPr>
          <p:cNvPr id="60" name="Shape 58"/>
          <p:cNvSpPr/>
          <p:nvPr/>
        </p:nvSpPr>
        <p:spPr>
          <a:xfrm>
            <a:off x="4160520" y="2395728"/>
            <a:ext cx="182880" cy="182880"/>
          </a:xfrm>
          <a:prstGeom prst="star5">
            <a:avLst/>
          </a:prstGeom>
          <a:solidFill>
            <a:srgbClr val="E0B94A"/>
          </a:solidFill>
          <a:ln/>
        </p:spPr>
      </p:sp>
      <p:sp>
        <p:nvSpPr>
          <p:cNvPr id="61" name="Shape 59"/>
          <p:cNvSpPr/>
          <p:nvPr/>
        </p:nvSpPr>
        <p:spPr>
          <a:xfrm>
            <a:off x="4366260" y="2395728"/>
            <a:ext cx="182880" cy="182880"/>
          </a:xfrm>
          <a:prstGeom prst="star5">
            <a:avLst/>
          </a:prstGeom>
          <a:solidFill>
            <a:srgbClr val="E0B94A"/>
          </a:solidFill>
          <a:ln/>
        </p:spPr>
      </p:sp>
      <p:sp>
        <p:nvSpPr>
          <p:cNvPr id="62" name="Text 60"/>
          <p:cNvSpPr txBox="1"/>
          <p:nvPr/>
        </p:nvSpPr>
        <p:spPr>
          <a:xfrm>
            <a:off x="380847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2021</a:t>
            </a:r>
            <a:endParaRPr lang="en-US" sz="800" dirty="0"/>
          </a:p>
        </p:txBody>
      </p:sp>
      <p:sp>
        <p:nvSpPr>
          <p:cNvPr id="63" name="Shape 61"/>
          <p:cNvSpPr/>
          <p:nvPr/>
        </p:nvSpPr>
        <p:spPr>
          <a:xfrm>
            <a:off x="4992624" y="2395728"/>
            <a:ext cx="182880" cy="182880"/>
          </a:xfrm>
          <a:prstGeom prst="star5">
            <a:avLst/>
          </a:prstGeom>
          <a:solidFill>
            <a:srgbClr val="E0B94A"/>
          </a:solidFill>
          <a:ln/>
        </p:spPr>
      </p:sp>
      <p:sp>
        <p:nvSpPr>
          <p:cNvPr id="64" name="Shape 62"/>
          <p:cNvSpPr/>
          <p:nvPr/>
        </p:nvSpPr>
        <p:spPr>
          <a:xfrm>
            <a:off x="5198364" y="2395728"/>
            <a:ext cx="182880" cy="182880"/>
          </a:xfrm>
          <a:prstGeom prst="star5">
            <a:avLst/>
          </a:prstGeom>
          <a:solidFill>
            <a:srgbClr val="E0B94A"/>
          </a:solidFill>
          <a:ln/>
        </p:spPr>
      </p:sp>
      <p:sp>
        <p:nvSpPr>
          <p:cNvPr id="65" name="Shape 63"/>
          <p:cNvSpPr/>
          <p:nvPr/>
        </p:nvSpPr>
        <p:spPr>
          <a:xfrm>
            <a:off x="5404104" y="2395728"/>
            <a:ext cx="182880" cy="182880"/>
          </a:xfrm>
          <a:prstGeom prst="star5">
            <a:avLst/>
          </a:prstGeom>
          <a:solidFill>
            <a:srgbClr val="E0B94A"/>
          </a:solidFill>
          <a:ln/>
        </p:spPr>
      </p:sp>
      <p:sp>
        <p:nvSpPr>
          <p:cNvPr id="66" name="Text 64"/>
          <p:cNvSpPr txBox="1"/>
          <p:nvPr/>
        </p:nvSpPr>
        <p:spPr>
          <a:xfrm>
            <a:off x="4846320"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2022</a:t>
            </a:r>
            <a:endParaRPr lang="en-US" sz="800" dirty="0"/>
          </a:p>
        </p:txBody>
      </p:sp>
      <p:sp>
        <p:nvSpPr>
          <p:cNvPr id="67" name="Shape 65"/>
          <p:cNvSpPr/>
          <p:nvPr/>
        </p:nvSpPr>
        <p:spPr>
          <a:xfrm>
            <a:off x="6030468" y="2395728"/>
            <a:ext cx="182880" cy="182880"/>
          </a:xfrm>
          <a:prstGeom prst="star5">
            <a:avLst/>
          </a:prstGeom>
          <a:solidFill>
            <a:srgbClr val="E0B94A"/>
          </a:solidFill>
          <a:ln/>
        </p:spPr>
      </p:sp>
      <p:sp>
        <p:nvSpPr>
          <p:cNvPr id="68" name="Shape 66"/>
          <p:cNvSpPr/>
          <p:nvPr/>
        </p:nvSpPr>
        <p:spPr>
          <a:xfrm>
            <a:off x="6236208" y="2395728"/>
            <a:ext cx="182880" cy="182880"/>
          </a:xfrm>
          <a:prstGeom prst="star5">
            <a:avLst/>
          </a:prstGeom>
          <a:solidFill>
            <a:srgbClr val="E0B94A"/>
          </a:solidFill>
          <a:ln/>
        </p:spPr>
      </p:sp>
      <p:sp>
        <p:nvSpPr>
          <p:cNvPr id="69" name="Shape 67"/>
          <p:cNvSpPr/>
          <p:nvPr/>
        </p:nvSpPr>
        <p:spPr>
          <a:xfrm>
            <a:off x="6441948" y="2395728"/>
            <a:ext cx="182880" cy="182880"/>
          </a:xfrm>
          <a:prstGeom prst="star5">
            <a:avLst/>
          </a:prstGeom>
          <a:solidFill>
            <a:srgbClr val="E0B94A"/>
          </a:solidFill>
          <a:ln/>
        </p:spPr>
      </p:sp>
      <p:sp>
        <p:nvSpPr>
          <p:cNvPr id="70" name="Text 68"/>
          <p:cNvSpPr txBox="1"/>
          <p:nvPr/>
        </p:nvSpPr>
        <p:spPr>
          <a:xfrm>
            <a:off x="588416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2023</a:t>
            </a:r>
            <a:endParaRPr lang="en-US" sz="800" dirty="0"/>
          </a:p>
        </p:txBody>
      </p:sp>
      <p:sp>
        <p:nvSpPr>
          <p:cNvPr id="71" name="Shape 69"/>
          <p:cNvSpPr/>
          <p:nvPr/>
        </p:nvSpPr>
        <p:spPr>
          <a:xfrm>
            <a:off x="7068312" y="2395728"/>
            <a:ext cx="182880" cy="182880"/>
          </a:xfrm>
          <a:prstGeom prst="star5">
            <a:avLst/>
          </a:prstGeom>
          <a:solidFill>
            <a:srgbClr val="E0B94A"/>
          </a:solidFill>
          <a:ln/>
        </p:spPr>
      </p:sp>
      <p:sp>
        <p:nvSpPr>
          <p:cNvPr id="72" name="Shape 70"/>
          <p:cNvSpPr/>
          <p:nvPr/>
        </p:nvSpPr>
        <p:spPr>
          <a:xfrm>
            <a:off x="7274052" y="2395728"/>
            <a:ext cx="182880" cy="182880"/>
          </a:xfrm>
          <a:prstGeom prst="star5">
            <a:avLst/>
          </a:prstGeom>
          <a:solidFill>
            <a:srgbClr val="E0B94A"/>
          </a:solidFill>
          <a:ln/>
        </p:spPr>
      </p:sp>
      <p:sp>
        <p:nvSpPr>
          <p:cNvPr id="73" name="Shape 71"/>
          <p:cNvSpPr/>
          <p:nvPr/>
        </p:nvSpPr>
        <p:spPr>
          <a:xfrm>
            <a:off x="7479792" y="2395728"/>
            <a:ext cx="182880" cy="182880"/>
          </a:xfrm>
          <a:prstGeom prst="star5">
            <a:avLst/>
          </a:prstGeom>
          <a:solidFill>
            <a:srgbClr val="E0B94A"/>
          </a:solidFill>
          <a:ln/>
        </p:spPr>
      </p:sp>
      <p:sp>
        <p:nvSpPr>
          <p:cNvPr id="74" name="Text 72"/>
          <p:cNvSpPr txBox="1"/>
          <p:nvPr/>
        </p:nvSpPr>
        <p:spPr>
          <a:xfrm>
            <a:off x="692200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2024</a:t>
            </a:r>
            <a:endParaRPr lang="en-US" sz="800" dirty="0"/>
          </a:p>
        </p:txBody>
      </p:sp>
      <p:sp>
        <p:nvSpPr>
          <p:cNvPr id="75" name="Shape 73"/>
          <p:cNvSpPr/>
          <p:nvPr/>
        </p:nvSpPr>
        <p:spPr>
          <a:xfrm>
            <a:off x="8106156" y="2395728"/>
            <a:ext cx="182880" cy="182880"/>
          </a:xfrm>
          <a:prstGeom prst="star5">
            <a:avLst/>
          </a:prstGeom>
          <a:solidFill>
            <a:srgbClr val="E0B94A"/>
          </a:solidFill>
          <a:ln/>
        </p:spPr>
      </p:sp>
      <p:sp>
        <p:nvSpPr>
          <p:cNvPr id="76" name="Shape 74"/>
          <p:cNvSpPr/>
          <p:nvPr/>
        </p:nvSpPr>
        <p:spPr>
          <a:xfrm>
            <a:off x="8311896" y="2395728"/>
            <a:ext cx="182880" cy="182880"/>
          </a:xfrm>
          <a:prstGeom prst="star5">
            <a:avLst/>
          </a:prstGeom>
          <a:solidFill>
            <a:srgbClr val="E0B94A"/>
          </a:solidFill>
          <a:ln/>
        </p:spPr>
      </p:sp>
      <p:sp>
        <p:nvSpPr>
          <p:cNvPr id="77" name="Shape 75"/>
          <p:cNvSpPr/>
          <p:nvPr/>
        </p:nvSpPr>
        <p:spPr>
          <a:xfrm>
            <a:off x="8517636" y="2395728"/>
            <a:ext cx="182880" cy="182880"/>
          </a:xfrm>
          <a:prstGeom prst="star5">
            <a:avLst/>
          </a:prstGeom>
          <a:solidFill>
            <a:srgbClr val="E0B94A"/>
          </a:solidFill>
          <a:ln/>
        </p:spPr>
      </p:sp>
      <p:sp>
        <p:nvSpPr>
          <p:cNvPr id="78" name="Text 76"/>
          <p:cNvSpPr txBox="1"/>
          <p:nvPr/>
        </p:nvSpPr>
        <p:spPr>
          <a:xfrm>
            <a:off x="795985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2025</a:t>
            </a:r>
            <a:endParaRPr lang="en-US" sz="800" dirty="0"/>
          </a:p>
        </p:txBody>
      </p:sp>
      <p:sp>
        <p:nvSpPr>
          <p:cNvPr id="79" name="Shape 77"/>
          <p:cNvSpPr/>
          <p:nvPr/>
        </p:nvSpPr>
        <p:spPr>
          <a:xfrm>
            <a:off x="9144000" y="2395728"/>
            <a:ext cx="182880" cy="182880"/>
          </a:xfrm>
          <a:prstGeom prst="star5">
            <a:avLst/>
          </a:prstGeom>
          <a:solidFill>
            <a:srgbClr val="E0B94A"/>
          </a:solidFill>
          <a:ln/>
        </p:spPr>
      </p:sp>
      <p:sp>
        <p:nvSpPr>
          <p:cNvPr id="80" name="Shape 78"/>
          <p:cNvSpPr/>
          <p:nvPr/>
        </p:nvSpPr>
        <p:spPr>
          <a:xfrm>
            <a:off x="9349740" y="2395728"/>
            <a:ext cx="182880" cy="182880"/>
          </a:xfrm>
          <a:prstGeom prst="star5">
            <a:avLst/>
          </a:prstGeom>
          <a:solidFill>
            <a:srgbClr val="E0B94A"/>
          </a:solidFill>
          <a:ln/>
        </p:spPr>
      </p:sp>
      <p:sp>
        <p:nvSpPr>
          <p:cNvPr id="81" name="Shape 79"/>
          <p:cNvSpPr/>
          <p:nvPr/>
        </p:nvSpPr>
        <p:spPr>
          <a:xfrm>
            <a:off x="9555480" y="2395728"/>
            <a:ext cx="182880" cy="182880"/>
          </a:xfrm>
          <a:prstGeom prst="star5">
            <a:avLst/>
          </a:prstGeom>
          <a:solidFill>
            <a:srgbClr val="E0B94A"/>
          </a:solidFill>
          <a:ln/>
        </p:spPr>
      </p:sp>
      <p:sp>
        <p:nvSpPr>
          <p:cNvPr id="82" name="Text 80"/>
          <p:cNvSpPr txBox="1"/>
          <p:nvPr/>
        </p:nvSpPr>
        <p:spPr>
          <a:xfrm>
            <a:off x="899769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2026</a:t>
            </a:r>
            <a:endParaRPr lang="en-US" sz="800" dirty="0"/>
          </a:p>
        </p:txBody>
      </p:sp>
      <p:sp>
        <p:nvSpPr>
          <p:cNvPr id="83" name="Text 81"/>
          <p:cNvSpPr txBox="1"/>
          <p:nvPr/>
        </p:nvSpPr>
        <p:spPr>
          <a:xfrm>
            <a:off x="9802368" y="2359152"/>
            <a:ext cx="2029968" cy="457200"/>
          </a:xfrm>
          <a:prstGeom prst="rect">
            <a:avLst/>
          </a:prstGeom>
          <a:noFill/>
          <a:ln/>
        </p:spPr>
        <p:txBody>
          <a:bodyPr wrap="square" lIns="0" tIns="0" rIns="0" bIns="0" rtlCol="0" anchor="ctr"/>
          <a:lstStyle/>
          <a:p>
            <a:pPr algn="r" indent="0" marL="0">
              <a:lnSpc>
                <a:spcPts val="1600"/>
              </a:lnSpc>
              <a:buNone/>
            </a:pPr>
            <a:r>
              <a:rPr lang="en-US" sz="1050" dirty="0">
                <a:solidFill>
                  <a:srgbClr val="9C868D"/>
                </a:solidFill>
                <a:latin typeface="Calibri" pitchFamily="34" charset="0"/>
                <a:ea typeface="Calibri" pitchFamily="34" charset="-122"/>
                <a:cs typeface="Calibri" pitchFamily="34" charset="-120"/>
              </a:rPr>
              <a:t>19年分の </a:t>
            </a:r>
            <a:pPr algn="r" indent="0" marL="0">
              <a:lnSpc>
                <a:spcPts val="1600"/>
              </a:lnSpc>
              <a:buNone/>
            </a:pPr>
            <a:r>
              <a:rPr lang="en-US" sz="1050" b="1" dirty="0">
                <a:solidFill>
                  <a:srgbClr val="E0B94A"/>
                </a:solidFill>
                <a:latin typeface="Calibri" pitchFamily="34" charset="0"/>
                <a:ea typeface="Calibri" pitchFamily="34" charset="-122"/>
                <a:cs typeface="Calibri" pitchFamily="34" charset="-120"/>
              </a:rPr>
              <a:t>★★★</a:t>
            </a:r>
            <a:endParaRPr lang="en-US" sz="1050" dirty="0"/>
          </a:p>
          <a:p>
            <a:pPr algn="r" indent="0" marL="0">
              <a:lnSpc>
                <a:spcPts val="1600"/>
              </a:lnSpc>
              <a:buNone/>
            </a:pPr>
            <a:r>
              <a:rPr lang="en-US" sz="1100" b="1" dirty="0">
                <a:solidFill>
                  <a:srgbClr val="C9A227"/>
                </a:solidFill>
                <a:latin typeface="Calibri" pitchFamily="34" charset="0"/>
                <a:ea typeface="Calibri" pitchFamily="34" charset="-122"/>
                <a:cs typeface="Calibri" pitchFamily="34" charset="-120"/>
              </a:rPr>
              <a:t>一度も欠けていない</a:t>
            </a:r>
            <a:endParaRPr lang="en-US" sz="1050" dirty="0"/>
          </a:p>
        </p:txBody>
      </p:sp>
      <p:sp>
        <p:nvSpPr>
          <p:cNvPr id="84" name="Shape 82"/>
          <p:cNvSpPr/>
          <p:nvPr/>
        </p:nvSpPr>
        <p:spPr>
          <a:xfrm>
            <a:off x="566928" y="3072384"/>
            <a:ext cx="11055096" cy="950976"/>
          </a:xfrm>
          <a:prstGeom prst="roundRect">
            <a:avLst>
              <a:gd name="adj" fmla="val 3846"/>
            </a:avLst>
          </a:prstGeom>
          <a:solidFill>
            <a:srgbClr val="E0B94A"/>
          </a:solidFill>
          <a:ln/>
        </p:spPr>
      </p:sp>
      <p:sp>
        <p:nvSpPr>
          <p:cNvPr id="85" name="Text 83"/>
          <p:cNvSpPr txBox="1"/>
          <p:nvPr/>
        </p:nvSpPr>
        <p:spPr>
          <a:xfrm>
            <a:off x="877824" y="3172968"/>
            <a:ext cx="10433304" cy="310896"/>
          </a:xfrm>
          <a:prstGeom prst="rect">
            <a:avLst/>
          </a:prstGeom>
          <a:noFill/>
          <a:ln/>
        </p:spPr>
        <p:txBody>
          <a:bodyPr wrap="square" lIns="0" tIns="0" rIns="0" bIns="0" rtlCol="0" anchor="ctr"/>
          <a:lstStyle/>
          <a:p>
            <a:pPr indent="0" marL="0">
              <a:buNone/>
            </a:pPr>
            <a:r>
              <a:rPr lang="en-US" sz="1900" b="1" dirty="0">
                <a:solidFill>
                  <a:srgbClr val="2A1F06"/>
                </a:solidFill>
                <a:latin typeface="Cambria" pitchFamily="34" charset="0"/>
                <a:ea typeface="Cambria" pitchFamily="34" charset="-122"/>
                <a:cs typeface="Cambria" pitchFamily="34" charset="-120"/>
              </a:rPr>
              <a:t>創刊号から19年連続で三つ星を守っている店は、東京に3軒しかない。</a:t>
            </a:r>
            <a:endParaRPr lang="en-US" sz="1900" dirty="0"/>
          </a:p>
        </p:txBody>
      </p:sp>
      <p:sp>
        <p:nvSpPr>
          <p:cNvPr id="86" name="Text 84"/>
          <p:cNvSpPr txBox="1"/>
          <p:nvPr/>
        </p:nvSpPr>
        <p:spPr>
          <a:xfrm>
            <a:off x="87782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かんだ</a:t>
            </a:r>
            <a:pPr indent="0" marL="0">
              <a:buNone/>
            </a:pPr>
            <a:r>
              <a:rPr lang="en-US" sz="1000" dirty="0">
                <a:solidFill>
                  <a:srgbClr val="6B5518"/>
                </a:solidFill>
                <a:latin typeface="Calibri" pitchFamily="34" charset="0"/>
                <a:ea typeface="Calibri" pitchFamily="34" charset="-122"/>
                <a:cs typeface="Calibri" pitchFamily="34" charset="-120"/>
              </a:rPr>
              <a:t>　（日本料理）</a:t>
            </a:r>
            <a:endParaRPr lang="en-US" sz="1300" dirty="0"/>
          </a:p>
        </p:txBody>
      </p:sp>
      <p:sp>
        <p:nvSpPr>
          <p:cNvPr id="87" name="Text 85"/>
          <p:cNvSpPr txBox="1"/>
          <p:nvPr/>
        </p:nvSpPr>
        <p:spPr>
          <a:xfrm>
            <a:off x="435254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ジョエル・ロブション</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88" name="Shape 86"/>
          <p:cNvSpPr/>
          <p:nvPr/>
        </p:nvSpPr>
        <p:spPr>
          <a:xfrm>
            <a:off x="7827264" y="3602736"/>
            <a:ext cx="155448" cy="155448"/>
          </a:xfrm>
          <a:prstGeom prst="star5">
            <a:avLst/>
          </a:prstGeom>
          <a:solidFill>
            <a:srgbClr val="2A1F06"/>
          </a:solidFill>
          <a:ln/>
        </p:spPr>
      </p:sp>
      <p:sp>
        <p:nvSpPr>
          <p:cNvPr id="89" name="Text 87"/>
          <p:cNvSpPr txBox="1"/>
          <p:nvPr/>
        </p:nvSpPr>
        <p:spPr>
          <a:xfrm>
            <a:off x="8046720"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カンテサンス</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90" name="Shape 88"/>
          <p:cNvSpPr/>
          <p:nvPr/>
        </p:nvSpPr>
        <p:spPr>
          <a:xfrm>
            <a:off x="566928" y="4352544"/>
            <a:ext cx="2596896" cy="1664208"/>
          </a:xfrm>
          <a:prstGeom prst="roundRect">
            <a:avLst>
              <a:gd name="adj" fmla="val 2747"/>
            </a:avLst>
          </a:prstGeom>
          <a:solidFill>
            <a:srgbClr val="30161F"/>
          </a:solidFill>
          <a:ln w="9525">
            <a:solidFill>
              <a:srgbClr val="522C39"/>
            </a:solidFill>
            <a:prstDash val="solid"/>
          </a:ln>
        </p:spPr>
      </p:sp>
      <p:sp>
        <p:nvSpPr>
          <p:cNvPr id="91" name="Shape 89"/>
          <p:cNvSpPr/>
          <p:nvPr/>
        </p:nvSpPr>
        <p:spPr>
          <a:xfrm>
            <a:off x="786384" y="4517136"/>
            <a:ext cx="146304" cy="146304"/>
          </a:xfrm>
          <a:prstGeom prst="star5">
            <a:avLst/>
          </a:prstGeom>
          <a:solidFill>
            <a:srgbClr val="E0B94A"/>
          </a:solidFill>
          <a:ln/>
        </p:spPr>
      </p:sp>
      <p:sp>
        <p:nvSpPr>
          <p:cNvPr id="92" name="Text 90"/>
          <p:cNvSpPr txBox="1"/>
          <p:nvPr/>
        </p:nvSpPr>
        <p:spPr>
          <a:xfrm>
            <a:off x="786384"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メニューが、ない</a:t>
            </a:r>
            <a:endParaRPr lang="en-US" sz="1400" dirty="0"/>
          </a:p>
        </p:txBody>
      </p:sp>
      <p:sp>
        <p:nvSpPr>
          <p:cNvPr id="93" name="Text 91"/>
          <p:cNvSpPr txBox="1"/>
          <p:nvPr/>
        </p:nvSpPr>
        <p:spPr>
          <a:xfrm>
            <a:off x="786384"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開業以来、おまかせの一コースのみ。「その日いちばんおいしい食材を知っているのは僕たちです」（岸田周三）</a:t>
            </a:r>
            <a:endParaRPr lang="en-US" sz="950" dirty="0"/>
          </a:p>
        </p:txBody>
      </p:sp>
      <p:sp>
        <p:nvSpPr>
          <p:cNvPr id="94" name="Shape 92"/>
          <p:cNvSpPr/>
          <p:nvPr/>
        </p:nvSpPr>
        <p:spPr>
          <a:xfrm>
            <a:off x="3383280" y="4352544"/>
            <a:ext cx="2596896" cy="1664208"/>
          </a:xfrm>
          <a:prstGeom prst="roundRect">
            <a:avLst>
              <a:gd name="adj" fmla="val 2747"/>
            </a:avLst>
          </a:prstGeom>
          <a:solidFill>
            <a:srgbClr val="30161F"/>
          </a:solidFill>
          <a:ln w="9525">
            <a:solidFill>
              <a:srgbClr val="522C39"/>
            </a:solidFill>
            <a:prstDash val="solid"/>
          </a:ln>
        </p:spPr>
      </p:sp>
      <p:sp>
        <p:nvSpPr>
          <p:cNvPr id="95" name="Shape 93"/>
          <p:cNvSpPr/>
          <p:nvPr/>
        </p:nvSpPr>
        <p:spPr>
          <a:xfrm>
            <a:off x="3602736" y="4517136"/>
            <a:ext cx="146304" cy="146304"/>
          </a:xfrm>
          <a:prstGeom prst="star5">
            <a:avLst/>
          </a:prstGeom>
          <a:solidFill>
            <a:srgbClr val="E0B94A"/>
          </a:solidFill>
          <a:ln/>
        </p:spPr>
      </p:sp>
      <p:sp>
        <p:nvSpPr>
          <p:cNvPr id="96" name="Text 94"/>
          <p:cNvSpPr txBox="1"/>
          <p:nvPr/>
        </p:nvSpPr>
        <p:spPr>
          <a:xfrm>
            <a:off x="3602736"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33歳、当時最年少</a:t>
            </a:r>
            <a:endParaRPr lang="en-US" sz="1400" dirty="0"/>
          </a:p>
        </p:txBody>
      </p:sp>
      <p:sp>
        <p:nvSpPr>
          <p:cNvPr id="97" name="Text 95"/>
          <p:cNvSpPr txBox="1"/>
          <p:nvPr/>
        </p:nvSpPr>
        <p:spPr>
          <a:xfrm>
            <a:off x="3602736"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2007年の創刊号で三つ星。パリ「アストランス」でスーシェフを務め、帰国した翌年のことだった。</a:t>
            </a:r>
            <a:endParaRPr lang="en-US" sz="950" dirty="0"/>
          </a:p>
        </p:txBody>
      </p:sp>
      <p:sp>
        <p:nvSpPr>
          <p:cNvPr id="98" name="Shape 96"/>
          <p:cNvSpPr/>
          <p:nvPr/>
        </p:nvSpPr>
        <p:spPr>
          <a:xfrm>
            <a:off x="6199632" y="4352544"/>
            <a:ext cx="2596896" cy="1664208"/>
          </a:xfrm>
          <a:prstGeom prst="roundRect">
            <a:avLst>
              <a:gd name="adj" fmla="val 2747"/>
            </a:avLst>
          </a:prstGeom>
          <a:solidFill>
            <a:srgbClr val="30161F"/>
          </a:solidFill>
          <a:ln w="9525">
            <a:solidFill>
              <a:srgbClr val="522C39"/>
            </a:solidFill>
            <a:prstDash val="solid"/>
          </a:ln>
        </p:spPr>
      </p:sp>
      <p:sp>
        <p:nvSpPr>
          <p:cNvPr id="99" name="Shape 97"/>
          <p:cNvSpPr/>
          <p:nvPr/>
        </p:nvSpPr>
        <p:spPr>
          <a:xfrm>
            <a:off x="6419088" y="4517136"/>
            <a:ext cx="146304" cy="146304"/>
          </a:xfrm>
          <a:prstGeom prst="star5">
            <a:avLst/>
          </a:prstGeom>
          <a:solidFill>
            <a:srgbClr val="E0B94A"/>
          </a:solidFill>
          <a:ln/>
        </p:spPr>
      </p:sp>
      <p:sp>
        <p:nvSpPr>
          <p:cNvPr id="100" name="Text 98"/>
          <p:cNvSpPr txBox="1"/>
          <p:nvPr/>
        </p:nvSpPr>
        <p:spPr>
          <a:xfrm>
            <a:off x="6419088"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緑の星も、持っている</a:t>
            </a:r>
            <a:endParaRPr lang="en-US" sz="1400" dirty="0"/>
          </a:p>
        </p:txBody>
      </p:sp>
      <p:sp>
        <p:nvSpPr>
          <p:cNvPr id="101" name="Text 99"/>
          <p:cNvSpPr txBox="1"/>
          <p:nvPr/>
        </p:nvSpPr>
        <p:spPr>
          <a:xfrm>
            <a:off x="6419088"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2021年、持続可能な漁業への取り組みでミシュラン グリーンスターを獲得。東京で6軒のみの初年度認定。</a:t>
            </a:r>
            <a:endParaRPr lang="en-US" sz="950" dirty="0"/>
          </a:p>
        </p:txBody>
      </p:sp>
      <p:sp>
        <p:nvSpPr>
          <p:cNvPr id="102" name="Shape 100"/>
          <p:cNvSpPr/>
          <p:nvPr/>
        </p:nvSpPr>
        <p:spPr>
          <a:xfrm>
            <a:off x="9015984" y="4352544"/>
            <a:ext cx="2596896" cy="1664208"/>
          </a:xfrm>
          <a:prstGeom prst="roundRect">
            <a:avLst>
              <a:gd name="adj" fmla="val 2747"/>
            </a:avLst>
          </a:prstGeom>
          <a:solidFill>
            <a:srgbClr val="30161F"/>
          </a:solidFill>
          <a:ln w="9525">
            <a:solidFill>
              <a:srgbClr val="522C39"/>
            </a:solidFill>
            <a:prstDash val="solid"/>
          </a:ln>
        </p:spPr>
      </p:sp>
      <p:sp>
        <p:nvSpPr>
          <p:cNvPr id="103" name="Shape 101"/>
          <p:cNvSpPr/>
          <p:nvPr/>
        </p:nvSpPr>
        <p:spPr>
          <a:xfrm>
            <a:off x="9235440" y="4517136"/>
            <a:ext cx="146304" cy="146304"/>
          </a:xfrm>
          <a:prstGeom prst="star5">
            <a:avLst/>
          </a:prstGeom>
          <a:solidFill>
            <a:srgbClr val="E0B94A"/>
          </a:solidFill>
          <a:ln/>
        </p:spPr>
      </p:sp>
      <p:sp>
        <p:nvSpPr>
          <p:cNvPr id="104" name="Text 102"/>
          <p:cNvSpPr txBox="1"/>
          <p:nvPr/>
        </p:nvSpPr>
        <p:spPr>
          <a:xfrm>
            <a:off x="9235440"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星を持って、巣立った</a:t>
            </a:r>
            <a:endParaRPr lang="en-US" sz="1400" dirty="0"/>
          </a:p>
        </p:txBody>
      </p:sp>
      <p:sp>
        <p:nvSpPr>
          <p:cNvPr id="105" name="Text 103"/>
          <p:cNvSpPr txBox="1"/>
          <p:nvPr/>
        </p:nvSpPr>
        <p:spPr>
          <a:xfrm>
            <a:off x="9235440"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この店の卒業生12名以上が独立し、それぞれにミシュランの星を得ている。</a:t>
            </a:r>
            <a:endParaRPr lang="en-US" sz="950" dirty="0"/>
          </a:p>
        </p:txBody>
      </p:sp>
      <p:sp>
        <p:nvSpPr>
          <p:cNvPr id="106" name="Text 104"/>
          <p:cNvSpPr txBox="1"/>
          <p:nvPr/>
        </p:nvSpPr>
        <p:spPr>
          <a:xfrm>
            <a:off x="566928" y="6199632"/>
            <a:ext cx="11055096" cy="182880"/>
          </a:xfrm>
          <a:prstGeom prst="rect">
            <a:avLst/>
          </a:prstGeom>
          <a:noFill/>
          <a:ln/>
        </p:spPr>
        <p:txBody>
          <a:bodyPr wrap="square" lIns="0" tIns="0" rIns="0" bIns="0" rtlCol="0" anchor="ctr"/>
          <a:lstStyle/>
          <a:p>
            <a:pPr indent="0" marL="0">
              <a:buNone/>
            </a:pPr>
            <a:r>
              <a:rPr lang="en-US" sz="700" dirty="0">
                <a:solidFill>
                  <a:srgbClr val="7E666D"/>
                </a:solidFill>
                <a:latin typeface="Calibri" pitchFamily="34" charset="0"/>
                <a:ea typeface="Calibri" pitchFamily="34" charset="-122"/>
                <a:cs typeface="Calibri" pitchFamily="34" charset="-120"/>
              </a:rPr>
              <a:t>出所：『ミシュランガイド東京2026』（2025年9月発表。東京の三つ星12軒・星付き160軒で19年連続世界最多）ほか公開情報。創刊号の三つ星8軒のうち2018年版時点で11年連続は4軒、うち「すきやばし次郎」は2020年版より掲載対象外。</a:t>
            </a:r>
            <a:endParaRPr lang="en-US" sz="700" dirty="0"/>
          </a:p>
        </p:txBody>
      </p:sp>
      <p:sp>
        <p:nvSpPr>
          <p:cNvPr id="108" name="Text 10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09" name="Text 10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54864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買収目的会社（SPC）方式により、みずほ銀行41.4億円（タームローン20.0億円＋ブリッジローン21.4億円）と投資家の出資10.0億円で取得する。ブリッジローンは合併直後に対象会社の余剰現金で全額返済し、合併後の有利子負債は20.0億円、初年度DSCRは1.36倍となる（p.16〜p.22）。</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p.9</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p.10</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p.11</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p.12</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返済プロファイル・月次資金繰り・ストレス耐性</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p.20-22</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買収ストラクチャーは p.16〜p.19、参考資料としてグランメゾンのM&amp;A後バリューアップ実績を p.24 に掲載している。</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100%（コンサルティング業・第10期売上593万円）／株式会社BISは対象外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34席・1日平均54名（約1.6回転）・営業日数252日・年間来店 約1.37万人・従業員21名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34席×約1.6回転×252日。リピート希望率7割、海外からの問い合わせは半数以上あるが意図的に絞っている</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VALIDATION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評価の基礎数値を、確定決算と月次試算表で検証した</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対象会社から開示された第13期〜第15期の確定決算、2026年1〜7月の月次試算表、および2029年までの会社計画を突合した。</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1911096"/>
                <a:gridCol w="1307592"/>
                <a:gridCol w="1307592"/>
                <a:gridCol w="1307592"/>
                <a:gridCol w="1307592"/>
                <a:gridCol w="1307592"/>
                <a:gridCol w="1307592"/>
                <a:gridCol w="1298448"/>
              </a:tblGrid>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2023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2024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831.9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891.2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976.4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1,128.6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392.8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442.5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505.0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555.8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576.5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598.2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49.7%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当期純利益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259.0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305.2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335.5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350.4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381.3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395.6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511296"/>
            <a:ext cx="11055096" cy="292608"/>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単位：億円ではなく百万円。2023〜2025年は確定決算、2026年以降は対象会社作成の計画（過去3年の費用比率の中央値を売上に乗じた積上げ）。当社が評価の基礎としている2026年12月期の数値は、網掛け列のとおり会社計画と一致する。</a:t>
            </a:r>
            <a:endParaRPr lang="en-US" sz="850" dirty="0"/>
          </a:p>
        </p:txBody>
      </p:sp>
      <p:sp>
        <p:nvSpPr>
          <p:cNvPr id="7" name="Text 4"/>
          <p:cNvSpPr txBox="1"/>
          <p:nvPr/>
        </p:nvSpPr>
        <p:spPr>
          <a:xfrm>
            <a:off x="566928" y="3822192"/>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2026年1〜7月の進捗</a:t>
            </a:r>
            <a:endParaRPr lang="en-US" sz="13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66928" y="4096512"/>
          <a:ext cx="11055096" cy="914400"/>
        </p:xfrm>
        <a:graphic>
          <a:graphicData uri="http://schemas.openxmlformats.org/drawingml/2006/table">
            <a:tbl>
              <a:tblPr/>
              <a:tblGrid>
                <a:gridCol w="1911096"/>
                <a:gridCol w="1600200"/>
                <a:gridCol w="1600200"/>
                <a:gridCol w="1508760"/>
                <a:gridCol w="1508760"/>
                <a:gridCol w="1508760"/>
                <a:gridCol w="141732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前年同期比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年換算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会社計画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計画比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587.6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247.7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9" name="Text 5"/>
          <p:cNvSpPr txBox="1"/>
          <p:nvPr/>
        </p:nvSpPr>
        <p:spPr>
          <a:xfrm>
            <a:off x="566928" y="5193792"/>
            <a:ext cx="11055096" cy="256032"/>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年換算は、2025年通期に対する1〜7月の構成比（売上57.4%、営業利益49.1%。7月に役員賞与9,540万円を一括計上するため営業利益の構成比が低い）を用いて引き延ばしたもの。</a:t>
            </a:r>
            <a:endParaRPr lang="en-US" sz="850" dirty="0"/>
          </a:p>
        </p:txBody>
      </p:sp>
      <p:sp>
        <p:nvSpPr>
          <p:cNvPr id="10" name="Shape 6"/>
          <p:cNvSpPr/>
          <p:nvPr/>
        </p:nvSpPr>
        <p:spPr>
          <a:xfrm>
            <a:off x="566928" y="5486400"/>
            <a:ext cx="3520440" cy="841248"/>
          </a:xfrm>
          <a:prstGeom prst="roundRect">
            <a:avLst>
              <a:gd name="adj" fmla="val 5435"/>
            </a:avLst>
          </a:prstGeom>
          <a:solidFill>
            <a:srgbClr val="F7F3F4"/>
          </a:solidFill>
          <a:ln w="9525">
            <a:solidFill>
              <a:srgbClr val="E4DADD"/>
            </a:solidFill>
            <a:prstDash val="solid"/>
          </a:ln>
        </p:spPr>
      </p:sp>
      <p:sp>
        <p:nvSpPr>
          <p:cNvPr id="11" name="Shape 7"/>
          <p:cNvSpPr/>
          <p:nvPr/>
        </p:nvSpPr>
        <p:spPr>
          <a:xfrm>
            <a:off x="566928" y="5486400"/>
            <a:ext cx="45720" cy="841248"/>
          </a:xfrm>
          <a:prstGeom prst="rect">
            <a:avLst/>
          </a:prstGeom>
          <a:solidFill>
            <a:srgbClr val="2E6F4E"/>
          </a:solidFill>
          <a:ln/>
        </p:spPr>
      </p:sp>
      <p:sp>
        <p:nvSpPr>
          <p:cNvPr id="12" name="Text 8"/>
          <p:cNvSpPr txBox="1"/>
          <p:nvPr/>
        </p:nvSpPr>
        <p:spPr>
          <a:xfrm>
            <a:off x="768096" y="5568696"/>
            <a:ext cx="3127248" cy="219456"/>
          </a:xfrm>
          <a:prstGeom prst="rect">
            <a:avLst/>
          </a:prstGeom>
          <a:noFill/>
          <a:ln/>
        </p:spPr>
        <p:txBody>
          <a:bodyPr wrap="square" lIns="0" tIns="0" rIns="0" bIns="0" rtlCol="0" anchor="ctr"/>
          <a:lstStyle/>
          <a:p>
            <a:pPr indent="0" marL="0">
              <a:buNone/>
            </a:pPr>
            <a:r>
              <a:rPr lang="en-US" sz="1050" b="1" dirty="0">
                <a:solidFill>
                  <a:srgbClr val="2E6F4E"/>
                </a:solidFill>
                <a:latin typeface="Calibri" pitchFamily="34" charset="0"/>
                <a:ea typeface="Calibri" pitchFamily="34" charset="-122"/>
                <a:cs typeface="Calibri" pitchFamily="34" charset="-120"/>
              </a:rPr>
              <a:t>① 評価の基礎は会社計画と一致</a:t>
            </a:r>
            <a:endParaRPr lang="en-US" sz="1050" dirty="0"/>
          </a:p>
        </p:txBody>
      </p:sp>
      <p:sp>
        <p:nvSpPr>
          <p:cNvPr id="13" name="Text 9"/>
          <p:cNvSpPr txBox="1"/>
          <p:nvPr/>
        </p:nvSpPr>
        <p:spPr>
          <a:xfrm>
            <a:off x="768096"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当社が用いている売上10.15億円・営業利益5.28億円・当期純利益3.50億円は、対象会社作成の2026年12月期計画と一致する。第15期（2025年）の確定決算は売上9.76億円・営業利益5.05億円であり、計画はその延長線上にある。</a:t>
            </a:r>
            <a:endParaRPr lang="en-US" sz="780" dirty="0"/>
          </a:p>
        </p:txBody>
      </p:sp>
      <p:sp>
        <p:nvSpPr>
          <p:cNvPr id="14" name="Shape 10"/>
          <p:cNvSpPr/>
          <p:nvPr/>
        </p:nvSpPr>
        <p:spPr>
          <a:xfrm>
            <a:off x="4297680" y="5486400"/>
            <a:ext cx="3520440" cy="841248"/>
          </a:xfrm>
          <a:prstGeom prst="roundRect">
            <a:avLst>
              <a:gd name="adj" fmla="val 5435"/>
            </a:avLst>
          </a:prstGeom>
          <a:solidFill>
            <a:srgbClr val="F7F3F4"/>
          </a:solidFill>
          <a:ln w="9525">
            <a:solidFill>
              <a:srgbClr val="E4DADD"/>
            </a:solidFill>
            <a:prstDash val="solid"/>
          </a:ln>
        </p:spPr>
      </p:sp>
      <p:sp>
        <p:nvSpPr>
          <p:cNvPr id="15" name="Shape 11"/>
          <p:cNvSpPr/>
          <p:nvPr/>
        </p:nvSpPr>
        <p:spPr>
          <a:xfrm>
            <a:off x="4297680" y="5486400"/>
            <a:ext cx="45720" cy="841248"/>
          </a:xfrm>
          <a:prstGeom prst="rect">
            <a:avLst/>
          </a:prstGeom>
          <a:solidFill>
            <a:srgbClr val="A8741A"/>
          </a:solidFill>
          <a:ln/>
        </p:spPr>
      </p:sp>
      <p:sp>
        <p:nvSpPr>
          <p:cNvPr id="16" name="Text 12"/>
          <p:cNvSpPr txBox="1"/>
          <p:nvPr/>
        </p:nvSpPr>
        <p:spPr>
          <a:xfrm>
            <a:off x="4498848" y="5568696"/>
            <a:ext cx="3127248" cy="219456"/>
          </a:xfrm>
          <a:prstGeom prst="rect">
            <a:avLst/>
          </a:prstGeom>
          <a:noFill/>
          <a:ln/>
        </p:spPr>
        <p:txBody>
          <a:bodyPr wrap="square" lIns="0" tIns="0" rIns="0" bIns="0" rtlCol="0" anchor="ctr"/>
          <a:lstStyle/>
          <a:p>
            <a:pPr indent="0" marL="0">
              <a:buNone/>
            </a:pPr>
            <a:r>
              <a:rPr lang="en-US" sz="1050" b="1" dirty="0">
                <a:solidFill>
                  <a:srgbClr val="A8741A"/>
                </a:solidFill>
                <a:latin typeface="Calibri" pitchFamily="34" charset="0"/>
                <a:ea typeface="Calibri" pitchFamily="34" charset="-122"/>
                <a:cs typeface="Calibri" pitchFamily="34" charset="-120"/>
              </a:rPr>
              <a:t>② 売上は計画超、利益はやや未達</a:t>
            </a:r>
            <a:endParaRPr lang="en-US" sz="1050" dirty="0"/>
          </a:p>
        </p:txBody>
      </p:sp>
      <p:sp>
        <p:nvSpPr>
          <p:cNvPr id="17" name="Text 13"/>
          <p:cNvSpPr txBox="1"/>
          <p:nvPr/>
        </p:nvSpPr>
        <p:spPr>
          <a:xfrm>
            <a:off x="4498848"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1〜7月は売上が前年同期比＋4.8%と計画を0.8%上回る一方、営業利益は計画を1.2%下回る。要因は原価と人件費で、食材仕入が前年同期比＋19.2%、給料手当が同＋19.2%。粗利率は78.3%から77.0%へ1.3ポイント低下している。</a:t>
            </a:r>
            <a:endParaRPr lang="en-US" sz="780" dirty="0"/>
          </a:p>
        </p:txBody>
      </p:sp>
      <p:sp>
        <p:nvSpPr>
          <p:cNvPr id="18" name="Shape 14"/>
          <p:cNvSpPr/>
          <p:nvPr/>
        </p:nvSpPr>
        <p:spPr>
          <a:xfrm>
            <a:off x="8028432" y="5486400"/>
            <a:ext cx="3520440" cy="841248"/>
          </a:xfrm>
          <a:prstGeom prst="roundRect">
            <a:avLst>
              <a:gd name="adj" fmla="val 5435"/>
            </a:avLst>
          </a:prstGeom>
          <a:solidFill>
            <a:srgbClr val="F7F3F4"/>
          </a:solidFill>
          <a:ln w="9525">
            <a:solidFill>
              <a:srgbClr val="E4DADD"/>
            </a:solidFill>
            <a:prstDash val="solid"/>
          </a:ln>
        </p:spPr>
      </p:sp>
      <p:sp>
        <p:nvSpPr>
          <p:cNvPr id="19" name="Shape 15"/>
          <p:cNvSpPr/>
          <p:nvPr/>
        </p:nvSpPr>
        <p:spPr>
          <a:xfrm>
            <a:off x="8028432" y="5486400"/>
            <a:ext cx="45720" cy="841248"/>
          </a:xfrm>
          <a:prstGeom prst="rect">
            <a:avLst/>
          </a:prstGeom>
          <a:solidFill>
            <a:srgbClr val="6D2E46"/>
          </a:solidFill>
          <a:ln/>
        </p:spPr>
      </p:sp>
      <p:sp>
        <p:nvSpPr>
          <p:cNvPr id="20" name="Text 16"/>
          <p:cNvSpPr txBox="1"/>
          <p:nvPr/>
        </p:nvSpPr>
        <p:spPr>
          <a:xfrm>
            <a:off x="8229600" y="5568696"/>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③ 当社のDCFは会社計画より保守的</a:t>
            </a:r>
            <a:endParaRPr lang="en-US" sz="1050" dirty="0"/>
          </a:p>
        </p:txBody>
      </p:sp>
      <p:sp>
        <p:nvSpPr>
          <p:cNvPr id="21" name="Text 17"/>
          <p:cNvSpPr txBox="1"/>
          <p:nvPr/>
        </p:nvSpPr>
        <p:spPr>
          <a:xfrm>
            <a:off x="8229600"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会社計画は2029年まで年3〜5%の増益を見込むが、当社のDCFは岸田氏在任中の3年間をFCF 3.50億円で固定し、成長をゼロとしている。上記②のコスト上昇を踏まえれば、この保守性は妥当である。</a:t>
            </a:r>
            <a:endParaRPr lang="en-US" sz="780" dirty="0"/>
          </a:p>
        </p:txBody>
      </p:sp>
      <p:sp>
        <p:nvSpPr>
          <p:cNvPr id="22"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23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02736"/>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3950208"/>
            <a:ext cx="45720" cy="457200"/>
          </a:xfrm>
          <a:prstGeom prst="rect">
            <a:avLst/>
          </a:prstGeom>
          <a:solidFill>
            <a:srgbClr val="A26769"/>
          </a:solidFill>
          <a:ln/>
        </p:spPr>
      </p:sp>
      <p:sp>
        <p:nvSpPr>
          <p:cNvPr id="7" name="Text 4"/>
          <p:cNvSpPr txBox="1"/>
          <p:nvPr/>
        </p:nvSpPr>
        <p:spPr>
          <a:xfrm>
            <a:off x="749808" y="38953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8953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1513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535424"/>
            <a:ext cx="45720" cy="457200"/>
          </a:xfrm>
          <a:prstGeom prst="rect">
            <a:avLst/>
          </a:prstGeom>
          <a:solidFill>
            <a:srgbClr val="A26769"/>
          </a:solidFill>
          <a:ln/>
        </p:spPr>
      </p:sp>
      <p:sp>
        <p:nvSpPr>
          <p:cNvPr id="11" name="Text 8"/>
          <p:cNvSpPr txBox="1"/>
          <p:nvPr/>
        </p:nvSpPr>
        <p:spPr>
          <a:xfrm>
            <a:off x="749808" y="4480560"/>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480560"/>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736592"/>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120640"/>
            <a:ext cx="45720" cy="457200"/>
          </a:xfrm>
          <a:prstGeom prst="rect">
            <a:avLst/>
          </a:prstGeom>
          <a:solidFill>
            <a:srgbClr val="6D2E46"/>
          </a:solidFill>
          <a:ln/>
        </p:spPr>
      </p:sp>
      <p:sp>
        <p:nvSpPr>
          <p:cNvPr id="15" name="Text 12"/>
          <p:cNvSpPr txBox="1"/>
          <p:nvPr/>
        </p:nvSpPr>
        <p:spPr>
          <a:xfrm>
            <a:off x="749808" y="5065776"/>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065776"/>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321808"/>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760720"/>
            <a:ext cx="11055096" cy="566928"/>
          </a:xfrm>
          <a:prstGeom prst="rect">
            <a:avLst/>
          </a:prstGeom>
          <a:noFill/>
          <a:ln/>
        </p:spPr>
        <p:txBody>
          <a:bodyPr wrap="square" lIns="0" tIns="0" rIns="0" bIns="0" rtlCol="0" anchor="ctr"/>
          <a:lstStyle/>
          <a:p>
            <a:pPr indent="0" marL="0">
              <a:lnSpc>
                <a:spcPts val="1250"/>
              </a:lnSpc>
              <a:buNone/>
            </a:pPr>
            <a:r>
              <a:rPr lang="en-US" sz="900" b="1" dirty="0">
                <a:solidFill>
                  <a:srgbClr val="6D2E46"/>
                </a:solidFill>
                <a:latin typeface="Calibri" pitchFamily="34" charset="0"/>
                <a:ea typeface="Calibri" pitchFamily="34" charset="-122"/>
                <a:cs typeface="Calibri" pitchFamily="34" charset="-120"/>
              </a:rPr>
              <a:t>修正営業利益ベースでは4.5倍　</a:t>
            </a:r>
            <a:pPr indent="0" marL="0">
              <a:lnSpc>
                <a:spcPts val="1250"/>
              </a:lnSpc>
              <a:buNone/>
            </a:pPr>
            <a:r>
              <a:rPr lang="en-US" sz="900" dirty="0">
                <a:solidFill>
                  <a:srgbClr val="6E6368"/>
                </a:solidFill>
                <a:latin typeface="Calibri" pitchFamily="34" charset="0"/>
                <a:ea typeface="Calibri" pitchFamily="34" charset="-122"/>
                <a:cs typeface="Calibri" pitchFamily="34" charset="-120"/>
              </a:rPr>
              <a:t>売主は「修正営業利益5.8億円」で本件を提示している。会計上の営業利益との差額は岸田氏の役員報酬（月60万円＋役員賞与9,540万円）であり、経営者報酬を一般的な水準に正常化したもの。この基準では2026年12月期は約6.1億円となり、EV27.57億円は4.5倍に相当する。ただし正常化益は岸田氏ご退任後にしか実現しないため、返済原資は会計ベースのFCF 3.50億円で見ている。</a:t>
            </a:r>
            <a:endParaRPr lang="en-US" sz="9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0%（34席固定・値上げ以外の成長ドライバーなし）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M&amp;Aスキーム（SPC方式）</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資本金10万円のSPCを設立し、みずほ銀行のローンと投資家の出資をもって対象会社の全株式を取得。クロージング後にSPCと対象会社を合併する。譲受価額はレンジ（50.0〜55.0億円）で提示する。</a:t>
            </a:r>
            <a:endParaRPr lang="en-US" sz="1250" dirty="0"/>
          </a:p>
        </p:txBody>
      </p:sp>
      <p:sp>
        <p:nvSpPr>
          <p:cNvPr id="5" name="Shape 3"/>
          <p:cNvSpPr/>
          <p:nvPr/>
        </p:nvSpPr>
        <p:spPr>
          <a:xfrm>
            <a:off x="4297680" y="1444752"/>
            <a:ext cx="2011680" cy="768096"/>
          </a:xfrm>
          <a:prstGeom prst="roundRect">
            <a:avLst>
              <a:gd name="adj" fmla="val 5952"/>
            </a:avLst>
          </a:prstGeom>
          <a:solidFill>
            <a:srgbClr val="F7F3F4"/>
          </a:solidFill>
          <a:ln w="15875">
            <a:solidFill>
              <a:srgbClr val="6D2E46"/>
            </a:solidFill>
            <a:prstDash val="solid"/>
          </a:ln>
        </p:spPr>
      </p:sp>
      <p:sp>
        <p:nvSpPr>
          <p:cNvPr id="6" name="Text 4"/>
          <p:cNvSpPr txBox="1"/>
          <p:nvPr/>
        </p:nvSpPr>
        <p:spPr>
          <a:xfrm>
            <a:off x="440740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中野 邦人 氏</a:t>
            </a:r>
            <a:endParaRPr lang="en-US" sz="1250" dirty="0"/>
          </a:p>
        </p:txBody>
      </p:sp>
      <p:sp>
        <p:nvSpPr>
          <p:cNvPr id="7" name="Text 5"/>
          <p:cNvSpPr txBox="1"/>
          <p:nvPr/>
        </p:nvSpPr>
        <p:spPr>
          <a:xfrm>
            <a:off x="438912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SPC設立者</a:t>
            </a:r>
            <a:endParaRPr lang="en-US" sz="900" dirty="0"/>
          </a:p>
        </p:txBody>
      </p:sp>
      <p:sp>
        <p:nvSpPr>
          <p:cNvPr id="8" name="Shape 6"/>
          <p:cNvSpPr/>
          <p:nvPr/>
        </p:nvSpPr>
        <p:spPr>
          <a:xfrm>
            <a:off x="6492240" y="1444752"/>
            <a:ext cx="2011680" cy="768096"/>
          </a:xfrm>
          <a:prstGeom prst="roundRect">
            <a:avLst>
              <a:gd name="adj" fmla="val 5952"/>
            </a:avLst>
          </a:prstGeom>
          <a:solidFill>
            <a:srgbClr val="F7F3F4"/>
          </a:solidFill>
          <a:ln w="15875">
            <a:solidFill>
              <a:srgbClr val="6D2E46"/>
            </a:solidFill>
            <a:prstDash val="solid"/>
          </a:ln>
        </p:spPr>
      </p:sp>
      <p:sp>
        <p:nvSpPr>
          <p:cNvPr id="9" name="Text 7"/>
          <p:cNvSpPr txBox="1"/>
          <p:nvPr/>
        </p:nvSpPr>
        <p:spPr>
          <a:xfrm>
            <a:off x="660196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榊原 氏</a:t>
            </a:r>
            <a:endParaRPr lang="en-US" sz="1250" dirty="0"/>
          </a:p>
        </p:txBody>
      </p:sp>
      <p:sp>
        <p:nvSpPr>
          <p:cNvPr id="10" name="Text 8"/>
          <p:cNvSpPr txBox="1"/>
          <p:nvPr/>
        </p:nvSpPr>
        <p:spPr>
          <a:xfrm>
            <a:off x="658368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投資家</a:t>
            </a:r>
            <a:endParaRPr lang="en-US" sz="900" dirty="0"/>
          </a:p>
        </p:txBody>
      </p:sp>
      <p:sp>
        <p:nvSpPr>
          <p:cNvPr id="11" name="Shape 9"/>
          <p:cNvSpPr/>
          <p:nvPr/>
        </p:nvSpPr>
        <p:spPr>
          <a:xfrm>
            <a:off x="5303520" y="2212848"/>
            <a:ext cx="0" cy="585216"/>
          </a:xfrm>
          <a:prstGeom prst="line">
            <a:avLst/>
          </a:prstGeom>
          <a:noFill/>
          <a:ln w="19050">
            <a:solidFill>
              <a:srgbClr val="6D2E46"/>
            </a:solidFill>
            <a:prstDash val="solid"/>
            <a:tailEnd type="triangle"/>
          </a:ln>
        </p:spPr>
      </p:sp>
      <p:sp>
        <p:nvSpPr>
          <p:cNvPr id="12" name="Shape 10"/>
          <p:cNvSpPr/>
          <p:nvPr/>
        </p:nvSpPr>
        <p:spPr>
          <a:xfrm>
            <a:off x="7498080" y="2212848"/>
            <a:ext cx="0" cy="585216"/>
          </a:xfrm>
          <a:prstGeom prst="line">
            <a:avLst/>
          </a:prstGeom>
          <a:noFill/>
          <a:ln w="19050">
            <a:solidFill>
              <a:srgbClr val="6D2E46"/>
            </a:solidFill>
            <a:prstDash val="solid"/>
            <a:tailEnd type="triangle"/>
          </a:ln>
        </p:spPr>
      </p:sp>
      <p:sp>
        <p:nvSpPr>
          <p:cNvPr id="13" name="Text 11"/>
          <p:cNvSpPr txBox="1"/>
          <p:nvPr/>
        </p:nvSpPr>
        <p:spPr>
          <a:xfrm>
            <a:off x="5376672" y="2267712"/>
            <a:ext cx="169164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出資10万円（67%）</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 株主貸付 700万円</a:t>
            </a:r>
            <a:endParaRPr lang="en-US" sz="850" dirty="0"/>
          </a:p>
        </p:txBody>
      </p:sp>
      <p:sp>
        <p:nvSpPr>
          <p:cNvPr id="14" name="Text 12"/>
          <p:cNvSpPr txBox="1"/>
          <p:nvPr/>
        </p:nvSpPr>
        <p:spPr>
          <a:xfrm>
            <a:off x="7571232" y="2267712"/>
            <a:ext cx="155448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 10.0億円</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（33%）</a:t>
            </a:r>
            <a:endParaRPr lang="en-US" sz="850" dirty="0"/>
          </a:p>
        </p:txBody>
      </p:sp>
      <p:sp>
        <p:nvSpPr>
          <p:cNvPr id="15" name="Shape 13"/>
          <p:cNvSpPr/>
          <p:nvPr/>
        </p:nvSpPr>
        <p:spPr>
          <a:xfrm>
            <a:off x="566928" y="2798064"/>
            <a:ext cx="2331720" cy="877824"/>
          </a:xfrm>
          <a:prstGeom prst="roundRect">
            <a:avLst>
              <a:gd name="adj" fmla="val 5208"/>
            </a:avLst>
          </a:prstGeom>
          <a:solidFill>
            <a:srgbClr val="FFFFFF"/>
          </a:solidFill>
          <a:ln w="12700">
            <a:solidFill>
              <a:srgbClr val="A26769"/>
            </a:solidFill>
            <a:prstDash val="solid"/>
          </a:ln>
        </p:spPr>
      </p:sp>
      <p:sp>
        <p:nvSpPr>
          <p:cNvPr id="16" name="Text 14"/>
          <p:cNvSpPr txBox="1"/>
          <p:nvPr/>
        </p:nvSpPr>
        <p:spPr>
          <a:xfrm>
            <a:off x="676656" y="2916936"/>
            <a:ext cx="211226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みずほ銀行</a:t>
            </a:r>
            <a:endParaRPr lang="en-US" sz="1250" dirty="0"/>
          </a:p>
        </p:txBody>
      </p:sp>
      <p:sp>
        <p:nvSpPr>
          <p:cNvPr id="17" name="Text 15"/>
          <p:cNvSpPr txBox="1"/>
          <p:nvPr/>
        </p:nvSpPr>
        <p:spPr>
          <a:xfrm>
            <a:off x="658368" y="3191256"/>
            <a:ext cx="2148840"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買収ファイナンス</a:t>
            </a:r>
            <a:endParaRPr lang="en-US" sz="900" dirty="0"/>
          </a:p>
        </p:txBody>
      </p:sp>
      <p:sp>
        <p:nvSpPr>
          <p:cNvPr id="18" name="Shape 16"/>
          <p:cNvSpPr/>
          <p:nvPr/>
        </p:nvSpPr>
        <p:spPr>
          <a:xfrm>
            <a:off x="4069080" y="2798064"/>
            <a:ext cx="4023360" cy="877824"/>
          </a:xfrm>
          <a:prstGeom prst="roundRect">
            <a:avLst>
              <a:gd name="adj" fmla="val 5208"/>
            </a:avLst>
          </a:prstGeom>
          <a:solidFill>
            <a:srgbClr val="6D2E46"/>
          </a:solidFill>
          <a:ln w="15875">
            <a:solidFill>
              <a:srgbClr val="6D2E46"/>
            </a:solidFill>
            <a:prstDash val="solid"/>
          </a:ln>
        </p:spPr>
      </p:sp>
      <p:sp>
        <p:nvSpPr>
          <p:cNvPr id="19" name="Text 17"/>
          <p:cNvSpPr txBox="1"/>
          <p:nvPr/>
        </p:nvSpPr>
        <p:spPr>
          <a:xfrm>
            <a:off x="4178808" y="2916936"/>
            <a:ext cx="3803904"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買収目的会社（SPC）</a:t>
            </a:r>
            <a:endParaRPr lang="en-US" sz="1400" dirty="0"/>
          </a:p>
        </p:txBody>
      </p:sp>
      <p:sp>
        <p:nvSpPr>
          <p:cNvPr id="20" name="Text 18"/>
          <p:cNvSpPr txBox="1"/>
          <p:nvPr/>
        </p:nvSpPr>
        <p:spPr>
          <a:xfrm>
            <a:off x="4160520" y="3191256"/>
            <a:ext cx="3840480" cy="402336"/>
          </a:xfrm>
          <a:prstGeom prst="rect">
            <a:avLst/>
          </a:prstGeom>
          <a:noFill/>
          <a:ln/>
        </p:spPr>
        <p:txBody>
          <a:bodyPr wrap="square" lIns="0" tIns="0" rIns="0" bIns="0" rtlCol="0" anchor="ctr"/>
          <a:lstStyle/>
          <a:p>
            <a:pPr algn="ctr" indent="0" marL="0">
              <a:lnSpc>
                <a:spcPts val="1200"/>
              </a:lnSpc>
              <a:buNone/>
            </a:pPr>
            <a:r>
              <a:rPr lang="en-US" sz="900" dirty="0">
                <a:solidFill>
                  <a:srgbClr val="E3D2D7"/>
                </a:solidFill>
                <a:latin typeface="Calibri" pitchFamily="34" charset="0"/>
                <a:ea typeface="Calibri" pitchFamily="34" charset="-122"/>
                <a:cs typeface="Calibri" pitchFamily="34" charset="-120"/>
              </a:rPr>
              <a:t>資本金10万円／借入41.4億円（ターム20.0＋ブリッジ21.4）</a:t>
            </a:r>
            <a:endParaRPr lang="en-US" sz="900" dirty="0"/>
          </a:p>
        </p:txBody>
      </p:sp>
      <p:sp>
        <p:nvSpPr>
          <p:cNvPr id="21" name="Shape 19"/>
          <p:cNvSpPr/>
          <p:nvPr/>
        </p:nvSpPr>
        <p:spPr>
          <a:xfrm>
            <a:off x="9189720" y="2798064"/>
            <a:ext cx="2432304" cy="877824"/>
          </a:xfrm>
          <a:prstGeom prst="roundRect">
            <a:avLst>
              <a:gd name="adj" fmla="val 5208"/>
            </a:avLst>
          </a:prstGeom>
          <a:solidFill>
            <a:srgbClr val="FFFFFF"/>
          </a:solidFill>
          <a:ln w="12700">
            <a:solidFill>
              <a:srgbClr val="A26769"/>
            </a:solidFill>
            <a:prstDash val="solid"/>
          </a:ln>
        </p:spPr>
      </p:sp>
      <p:sp>
        <p:nvSpPr>
          <p:cNvPr id="22" name="Text 20"/>
          <p:cNvSpPr txBox="1"/>
          <p:nvPr/>
        </p:nvSpPr>
        <p:spPr>
          <a:xfrm>
            <a:off x="9299448" y="2916936"/>
            <a:ext cx="2212848"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岸田 周三 氏</a:t>
            </a:r>
            <a:endParaRPr lang="en-US" sz="1250" dirty="0"/>
          </a:p>
        </p:txBody>
      </p:sp>
      <p:sp>
        <p:nvSpPr>
          <p:cNvPr id="23" name="Text 21"/>
          <p:cNvSpPr txBox="1"/>
          <p:nvPr/>
        </p:nvSpPr>
        <p:spPr>
          <a:xfrm>
            <a:off x="9281160" y="3191256"/>
            <a:ext cx="2249424"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対象会社株式100%を保有</a:t>
            </a:r>
            <a:endParaRPr lang="en-US" sz="900" dirty="0"/>
          </a:p>
        </p:txBody>
      </p:sp>
      <p:sp>
        <p:nvSpPr>
          <p:cNvPr id="24" name="Text 22"/>
          <p:cNvSpPr txBox="1"/>
          <p:nvPr/>
        </p:nvSpPr>
        <p:spPr>
          <a:xfrm>
            <a:off x="2916936" y="2834640"/>
            <a:ext cx="1133856" cy="329184"/>
          </a:xfrm>
          <a:prstGeom prst="rect">
            <a:avLst/>
          </a:prstGeom>
          <a:noFill/>
          <a:ln/>
        </p:spPr>
        <p:txBody>
          <a:bodyPr wrap="square" lIns="0" tIns="0" rIns="0" bIns="0" rtlCol="0" anchor="ctr"/>
          <a:lstStyle/>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ターム 20.0億円</a:t>
            </a:r>
            <a:endParaRPr lang="en-US" sz="850" dirty="0"/>
          </a:p>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＋ブリッジ 21.4億円</a:t>
            </a:r>
            <a:endParaRPr lang="en-US" sz="850" dirty="0"/>
          </a:p>
        </p:txBody>
      </p:sp>
      <p:sp>
        <p:nvSpPr>
          <p:cNvPr id="25" name="Shape 23"/>
          <p:cNvSpPr/>
          <p:nvPr/>
        </p:nvSpPr>
        <p:spPr>
          <a:xfrm>
            <a:off x="2935224" y="3310128"/>
            <a:ext cx="1115568" cy="0"/>
          </a:xfrm>
          <a:prstGeom prst="line">
            <a:avLst/>
          </a:prstGeom>
          <a:noFill/>
          <a:ln w="19050">
            <a:solidFill>
              <a:srgbClr val="A26769"/>
            </a:solidFill>
            <a:prstDash val="solid"/>
            <a:tailEnd type="triangle"/>
          </a:ln>
        </p:spPr>
      </p:sp>
      <p:sp>
        <p:nvSpPr>
          <p:cNvPr id="26" name="Text 24"/>
          <p:cNvSpPr txBox="1"/>
          <p:nvPr/>
        </p:nvSpPr>
        <p:spPr>
          <a:xfrm>
            <a:off x="8092440" y="2852928"/>
            <a:ext cx="1097280" cy="182880"/>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株式 100%</a:t>
            </a:r>
            <a:endParaRPr lang="en-US" sz="850" dirty="0"/>
          </a:p>
        </p:txBody>
      </p:sp>
      <p:sp>
        <p:nvSpPr>
          <p:cNvPr id="27" name="Shape 25"/>
          <p:cNvSpPr/>
          <p:nvPr/>
        </p:nvSpPr>
        <p:spPr>
          <a:xfrm>
            <a:off x="8110728" y="3072384"/>
            <a:ext cx="1060704" cy="0"/>
          </a:xfrm>
          <a:prstGeom prst="line">
            <a:avLst/>
          </a:prstGeom>
          <a:noFill/>
          <a:ln w="19050">
            <a:solidFill>
              <a:srgbClr val="A26769"/>
            </a:solidFill>
            <a:prstDash val="solid"/>
            <a:tailEnd type="triangle"/>
          </a:ln>
        </p:spPr>
      </p:sp>
      <p:sp>
        <p:nvSpPr>
          <p:cNvPr id="28" name="Shape 26"/>
          <p:cNvSpPr/>
          <p:nvPr/>
        </p:nvSpPr>
        <p:spPr>
          <a:xfrm>
            <a:off x="8110728" y="3364992"/>
            <a:ext cx="1060704" cy="0"/>
          </a:xfrm>
          <a:prstGeom prst="line">
            <a:avLst/>
          </a:prstGeom>
          <a:noFill/>
          <a:ln w="19050">
            <a:solidFill>
              <a:srgbClr val="6D2E46"/>
            </a:solidFill>
            <a:prstDash val="solid"/>
            <a:tailEnd type="triangle"/>
          </a:ln>
        </p:spPr>
      </p:sp>
      <p:sp>
        <p:nvSpPr>
          <p:cNvPr id="29" name="Text 27"/>
          <p:cNvSpPr txBox="1"/>
          <p:nvPr/>
        </p:nvSpPr>
        <p:spPr>
          <a:xfrm>
            <a:off x="8065008" y="3419856"/>
            <a:ext cx="1152144" cy="329184"/>
          </a:xfrm>
          <a:prstGeom prst="rect">
            <a:avLst/>
          </a:prstGeom>
          <a:noFill/>
          <a:ln/>
        </p:spPr>
        <p:txBody>
          <a:bodyPr wrap="square" lIns="0" tIns="0" rIns="0" bIns="0" rtlCol="0" anchor="ctr"/>
          <a:lstStyle/>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譲受代金</a:t>
            </a:r>
            <a:endParaRPr lang="en-US" sz="800" dirty="0"/>
          </a:p>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50.0〜55.0億円</a:t>
            </a:r>
            <a:endParaRPr lang="en-US" sz="800" dirty="0"/>
          </a:p>
        </p:txBody>
      </p:sp>
      <p:sp>
        <p:nvSpPr>
          <p:cNvPr id="30" name="Shape 28"/>
          <p:cNvSpPr/>
          <p:nvPr/>
        </p:nvSpPr>
        <p:spPr>
          <a:xfrm>
            <a:off x="6080760" y="3675888"/>
            <a:ext cx="0" cy="548640"/>
          </a:xfrm>
          <a:prstGeom prst="line">
            <a:avLst/>
          </a:prstGeom>
          <a:noFill/>
          <a:ln w="19050">
            <a:solidFill>
              <a:srgbClr val="6D2E46"/>
            </a:solidFill>
            <a:prstDash val="solid"/>
            <a:tailEnd type="triangle"/>
          </a:ln>
        </p:spPr>
      </p:sp>
      <p:sp>
        <p:nvSpPr>
          <p:cNvPr id="31" name="Text 29"/>
          <p:cNvSpPr txBox="1"/>
          <p:nvPr/>
        </p:nvSpPr>
        <p:spPr>
          <a:xfrm>
            <a:off x="6172200" y="3749040"/>
            <a:ext cx="2194560" cy="201168"/>
          </a:xfrm>
          <a:prstGeom prst="rect">
            <a:avLst/>
          </a:prstGeom>
          <a:noFill/>
          <a:ln/>
        </p:spPr>
        <p:txBody>
          <a:bodyPr wrap="square" lIns="0" tIns="0" rIns="0" bIns="0" rtlCol="0" anchor="ctr"/>
          <a:lstStyle/>
          <a:p>
            <a:pPr algn="ctr" indent="0" marL="0">
              <a:lnSpc>
                <a:spcPts val="1100"/>
              </a:lnSpc>
              <a:buNone/>
            </a:pPr>
            <a:r>
              <a:rPr lang="en-US" sz="850" b="1" dirty="0">
                <a:solidFill>
                  <a:srgbClr val="6E6368"/>
                </a:solidFill>
                <a:latin typeface="Calibri" pitchFamily="34" charset="0"/>
                <a:ea typeface="Calibri" pitchFamily="34" charset="-122"/>
                <a:cs typeface="Calibri" pitchFamily="34" charset="-120"/>
              </a:rPr>
              <a:t>100%取得 → クロージング後に合併</a:t>
            </a:r>
            <a:endParaRPr lang="en-US" sz="850" dirty="0"/>
          </a:p>
        </p:txBody>
      </p:sp>
      <p:sp>
        <p:nvSpPr>
          <p:cNvPr id="32" name="Shape 30"/>
          <p:cNvSpPr/>
          <p:nvPr/>
        </p:nvSpPr>
        <p:spPr>
          <a:xfrm>
            <a:off x="4069080" y="4224528"/>
            <a:ext cx="4023360" cy="822960"/>
          </a:xfrm>
          <a:prstGeom prst="roundRect">
            <a:avLst>
              <a:gd name="adj" fmla="val 5556"/>
            </a:avLst>
          </a:prstGeom>
          <a:solidFill>
            <a:srgbClr val="FFFFFF"/>
          </a:solidFill>
          <a:ln w="19050">
            <a:solidFill>
              <a:srgbClr val="6D2E46"/>
            </a:solidFill>
            <a:prstDash val="solid"/>
          </a:ln>
        </p:spPr>
      </p:sp>
      <p:sp>
        <p:nvSpPr>
          <p:cNvPr id="33" name="Text 31"/>
          <p:cNvSpPr txBox="1"/>
          <p:nvPr/>
        </p:nvSpPr>
        <p:spPr>
          <a:xfrm>
            <a:off x="4178808" y="4343400"/>
            <a:ext cx="3803904"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株式会社プティ・ボノム（カンテサンス）</a:t>
            </a:r>
            <a:endParaRPr lang="en-US" sz="1200" dirty="0"/>
          </a:p>
        </p:txBody>
      </p:sp>
      <p:sp>
        <p:nvSpPr>
          <p:cNvPr id="34" name="Text 32"/>
          <p:cNvSpPr txBox="1"/>
          <p:nvPr/>
        </p:nvSpPr>
        <p:spPr>
          <a:xfrm>
            <a:off x="4160520" y="4617720"/>
            <a:ext cx="3840480" cy="347472"/>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現預金17.4億円／岸田氏は3年間 代表取締役として在任</a:t>
            </a:r>
            <a:endParaRPr lang="en-US" sz="900" dirty="0"/>
          </a:p>
        </p:txBody>
      </p:sp>
      <p:sp>
        <p:nvSpPr>
          <p:cNvPr id="35" name="Text 33"/>
          <p:cNvSpPr txBox="1"/>
          <p:nvPr/>
        </p:nvSpPr>
        <p:spPr>
          <a:xfrm>
            <a:off x="8503920" y="4224528"/>
            <a:ext cx="3118104" cy="786384"/>
          </a:xfrm>
          <a:prstGeom prst="rect">
            <a:avLst/>
          </a:prstGeom>
          <a:noFill/>
          <a:ln/>
        </p:spPr>
        <p:txBody>
          <a:bodyPr wrap="square" lIns="0" tIns="0" rIns="0" bIns="0" rtlCol="0" anchor="ctr"/>
          <a:lstStyle/>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合併後、対象会社の余剰現金21.4億円</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（現預金17.4＋役員貸付金5.0−留保1.0）</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をもってブリッジローンを全額返済</a:t>
            </a:r>
            <a:endParaRPr lang="en-US" sz="900" dirty="0"/>
          </a:p>
        </p:txBody>
      </p:sp>
      <p:sp>
        <p:nvSpPr>
          <p:cNvPr id="36" name="Shape 34"/>
          <p:cNvSpPr/>
          <p:nvPr/>
        </p:nvSpPr>
        <p:spPr>
          <a:xfrm>
            <a:off x="566928" y="5230368"/>
            <a:ext cx="2560320" cy="914400"/>
          </a:xfrm>
          <a:prstGeom prst="roundRect">
            <a:avLst>
              <a:gd name="adj" fmla="val 5000"/>
            </a:avLst>
          </a:prstGeom>
          <a:solidFill>
            <a:srgbClr val="F7F3F4"/>
          </a:solidFill>
          <a:ln w="9525">
            <a:solidFill>
              <a:srgbClr val="E4DADD"/>
            </a:solidFill>
            <a:prstDash val="solid"/>
          </a:ln>
        </p:spPr>
      </p:sp>
      <p:sp>
        <p:nvSpPr>
          <p:cNvPr id="37" name="Text 35"/>
          <p:cNvSpPr txBox="1"/>
          <p:nvPr/>
        </p:nvSpPr>
        <p:spPr>
          <a:xfrm>
            <a:off x="73152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38" name="Text 36"/>
          <p:cNvSpPr txBox="1"/>
          <p:nvPr/>
        </p:nvSpPr>
        <p:spPr>
          <a:xfrm>
            <a:off x="731520" y="5522976"/>
            <a:ext cx="2286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50.0〜55.0億円</a:t>
            </a:r>
            <a:endParaRPr lang="en-US" sz="1700" dirty="0"/>
          </a:p>
        </p:txBody>
      </p:sp>
      <p:sp>
        <p:nvSpPr>
          <p:cNvPr id="39" name="Text 37"/>
          <p:cNvSpPr txBox="1"/>
          <p:nvPr/>
        </p:nvSpPr>
        <p:spPr>
          <a:xfrm>
            <a:off x="73152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レンジで提示</a:t>
            </a:r>
            <a:endParaRPr lang="en-US" sz="850" dirty="0"/>
          </a:p>
        </p:txBody>
      </p:sp>
      <p:sp>
        <p:nvSpPr>
          <p:cNvPr id="40" name="Shape 38"/>
          <p:cNvSpPr/>
          <p:nvPr/>
        </p:nvSpPr>
        <p:spPr>
          <a:xfrm>
            <a:off x="3355848" y="5230368"/>
            <a:ext cx="2560320" cy="914400"/>
          </a:xfrm>
          <a:prstGeom prst="roundRect">
            <a:avLst>
              <a:gd name="adj" fmla="val 5000"/>
            </a:avLst>
          </a:prstGeom>
          <a:solidFill>
            <a:srgbClr val="6D2E46"/>
          </a:solidFill>
          <a:ln w="9525">
            <a:solidFill>
              <a:srgbClr val="6D2E46"/>
            </a:solidFill>
            <a:prstDash val="solid"/>
          </a:ln>
        </p:spPr>
      </p:sp>
      <p:sp>
        <p:nvSpPr>
          <p:cNvPr id="41" name="Text 39"/>
          <p:cNvSpPr txBox="1"/>
          <p:nvPr/>
        </p:nvSpPr>
        <p:spPr>
          <a:xfrm>
            <a:off x="352044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みずほへの依頼</a:t>
            </a:r>
            <a:endParaRPr lang="en-US" sz="950" dirty="0"/>
          </a:p>
        </p:txBody>
      </p:sp>
      <p:sp>
        <p:nvSpPr>
          <p:cNvPr id="42" name="Text 40"/>
          <p:cNvSpPr txBox="1"/>
          <p:nvPr/>
        </p:nvSpPr>
        <p:spPr>
          <a:xfrm>
            <a:off x="352044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41.4億円</a:t>
            </a:r>
            <a:endParaRPr lang="en-US" sz="2000" dirty="0"/>
          </a:p>
        </p:txBody>
      </p:sp>
      <p:sp>
        <p:nvSpPr>
          <p:cNvPr id="43" name="Text 41"/>
          <p:cNvSpPr txBox="1"/>
          <p:nvPr/>
        </p:nvSpPr>
        <p:spPr>
          <a:xfrm>
            <a:off x="352044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ターム20.0＋ブリッジ21.4</a:t>
            </a:r>
            <a:endParaRPr lang="en-US" sz="850" dirty="0"/>
          </a:p>
        </p:txBody>
      </p:sp>
      <p:sp>
        <p:nvSpPr>
          <p:cNvPr id="44" name="Shape 42"/>
          <p:cNvSpPr/>
          <p:nvPr/>
        </p:nvSpPr>
        <p:spPr>
          <a:xfrm>
            <a:off x="6144768" y="5230368"/>
            <a:ext cx="2560320" cy="914400"/>
          </a:xfrm>
          <a:prstGeom prst="roundRect">
            <a:avLst>
              <a:gd name="adj" fmla="val 5000"/>
            </a:avLst>
          </a:prstGeom>
          <a:solidFill>
            <a:srgbClr val="6D2E46"/>
          </a:solidFill>
          <a:ln w="9525">
            <a:solidFill>
              <a:srgbClr val="6D2E46"/>
            </a:solidFill>
            <a:prstDash val="solid"/>
          </a:ln>
        </p:spPr>
      </p:sp>
      <p:sp>
        <p:nvSpPr>
          <p:cNvPr id="45" name="Text 43"/>
          <p:cNvSpPr txBox="1"/>
          <p:nvPr/>
        </p:nvSpPr>
        <p:spPr>
          <a:xfrm>
            <a:off x="630936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中野氏の実弾</a:t>
            </a:r>
            <a:endParaRPr lang="en-US" sz="950" dirty="0"/>
          </a:p>
        </p:txBody>
      </p:sp>
      <p:sp>
        <p:nvSpPr>
          <p:cNvPr id="46" name="Text 44"/>
          <p:cNvSpPr txBox="1"/>
          <p:nvPr/>
        </p:nvSpPr>
        <p:spPr>
          <a:xfrm>
            <a:off x="630936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700万円</a:t>
            </a:r>
            <a:endParaRPr lang="en-US" sz="2000" dirty="0"/>
          </a:p>
        </p:txBody>
      </p:sp>
      <p:sp>
        <p:nvSpPr>
          <p:cNvPr id="47" name="Text 45"/>
          <p:cNvSpPr txBox="1"/>
          <p:nvPr/>
        </p:nvSpPr>
        <p:spPr>
          <a:xfrm>
            <a:off x="630936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留保現金1.0億円とした場合</a:t>
            </a:r>
            <a:endParaRPr lang="en-US" sz="850" dirty="0"/>
          </a:p>
        </p:txBody>
      </p:sp>
      <p:sp>
        <p:nvSpPr>
          <p:cNvPr id="48" name="Shape 46"/>
          <p:cNvSpPr/>
          <p:nvPr/>
        </p:nvSpPr>
        <p:spPr>
          <a:xfrm>
            <a:off x="8933688" y="5230368"/>
            <a:ext cx="2560320" cy="914400"/>
          </a:xfrm>
          <a:prstGeom prst="roundRect">
            <a:avLst>
              <a:gd name="adj" fmla="val 5000"/>
            </a:avLst>
          </a:prstGeom>
          <a:solidFill>
            <a:srgbClr val="F7F3F4"/>
          </a:solidFill>
          <a:ln w="9525">
            <a:solidFill>
              <a:srgbClr val="E4DADD"/>
            </a:solidFill>
            <a:prstDash val="solid"/>
          </a:ln>
        </p:spPr>
      </p:sp>
      <p:sp>
        <p:nvSpPr>
          <p:cNvPr id="49" name="Text 47"/>
          <p:cNvSpPr txBox="1"/>
          <p:nvPr/>
        </p:nvSpPr>
        <p:spPr>
          <a:xfrm>
            <a:off x="909828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合併後の有利子負債</a:t>
            </a:r>
            <a:endParaRPr lang="en-US" sz="950" dirty="0"/>
          </a:p>
        </p:txBody>
      </p:sp>
      <p:sp>
        <p:nvSpPr>
          <p:cNvPr id="50" name="Text 48"/>
          <p:cNvSpPr txBox="1"/>
          <p:nvPr/>
        </p:nvSpPr>
        <p:spPr>
          <a:xfrm>
            <a:off x="9098280" y="5522976"/>
            <a:ext cx="2286000" cy="36576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20.0億円</a:t>
            </a:r>
            <a:endParaRPr lang="en-US" sz="2000" dirty="0"/>
          </a:p>
        </p:txBody>
      </p:sp>
      <p:sp>
        <p:nvSpPr>
          <p:cNvPr id="51" name="Text 49"/>
          <p:cNvSpPr txBox="1"/>
          <p:nvPr/>
        </p:nvSpPr>
        <p:spPr>
          <a:xfrm>
            <a:off x="909828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初年度DSCR 1.36倍</a:t>
            </a:r>
            <a:endParaRPr lang="en-US" sz="850" dirty="0"/>
          </a:p>
        </p:txBody>
      </p:sp>
      <p:sp>
        <p:nvSpPr>
          <p:cNvPr id="52" name="Text 5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53" name="Text 5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資金の流れ ― クロージング時、合併直後、定常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対象会社の現預金は買収した後にしか使えない。クロージング時の不足はブリッジローンで埋め、合併直後に対象会社の余剰現金で全額返済する。</a:t>
            </a:r>
            <a:endParaRPr lang="en-US" sz="1250" dirty="0"/>
          </a:p>
        </p:txBody>
      </p:sp>
      <p:sp>
        <p:nvSpPr>
          <p:cNvPr id="5" name="Text 3"/>
          <p:cNvSpPr txBox="1"/>
          <p:nvPr/>
        </p:nvSpPr>
        <p:spPr>
          <a:xfrm>
            <a:off x="566928" y="1517904"/>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① クロージング時</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6675120" cy="914400"/>
        </p:xfrm>
        <a:graphic>
          <a:graphicData uri="http://schemas.openxmlformats.org/drawingml/2006/table">
            <a:tbl>
              <a:tblPr/>
              <a:tblGrid>
                <a:gridCol w="1691640"/>
                <a:gridCol w="1051560"/>
                <a:gridCol w="2834640"/>
                <a:gridCol w="10972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資金使途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調達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株式譲受代金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みずほ　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取得関連費用</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みずほ　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榊原氏　出資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　出資10万円＋株主貸付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3858768"/>
            <a:ext cx="667512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譲受価額が55.0億円となる場合、差額5.0億円は追加投資家の第三者割当増資で調達する（p.19）。借入額および合併後の財務は変わらない。</a:t>
            </a:r>
            <a:endParaRPr lang="en-US" sz="900" dirty="0"/>
          </a:p>
        </p:txBody>
      </p:sp>
      <p:sp>
        <p:nvSpPr>
          <p:cNvPr id="8" name="Text 5"/>
          <p:cNvSpPr txBox="1"/>
          <p:nvPr/>
        </p:nvSpPr>
        <p:spPr>
          <a:xfrm>
            <a:off x="566928" y="4151376"/>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② 合併直後</a:t>
            </a:r>
            <a:endParaRPr lang="en-US" sz="135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66928" y="4462272"/>
          <a:ext cx="6675120" cy="914400"/>
        </p:xfrm>
        <a:graphic>
          <a:graphicData uri="http://schemas.openxmlformats.org/drawingml/2006/table">
            <a:tbl>
              <a:tblPr/>
              <a:tblGrid>
                <a:gridCol w="1920240"/>
                <a:gridCol w="1097280"/>
                <a:gridCol w="3657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対象会社の現預金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充当先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うち1.0億円は運転資金として留保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役員貸付金の精算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クロージング時に岸田氏が現金返済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ブリッジ返済原資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ブリッジローンを全額返済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0" name="Shape 6"/>
          <p:cNvSpPr/>
          <p:nvPr/>
        </p:nvSpPr>
        <p:spPr>
          <a:xfrm>
            <a:off x="7498080" y="1517904"/>
            <a:ext cx="4123944" cy="2889504"/>
          </a:xfrm>
          <a:prstGeom prst="roundRect">
            <a:avLst>
              <a:gd name="adj" fmla="val 1582"/>
            </a:avLst>
          </a:prstGeom>
          <a:solidFill>
            <a:srgbClr val="F7F3F4"/>
          </a:solidFill>
          <a:ln w="9525">
            <a:solidFill>
              <a:srgbClr val="E4DADD"/>
            </a:solidFill>
            <a:prstDash val="solid"/>
          </a:ln>
        </p:spPr>
      </p:sp>
      <p:sp>
        <p:nvSpPr>
          <p:cNvPr id="11" name="Text 7"/>
          <p:cNvSpPr txBox="1"/>
          <p:nvPr/>
        </p:nvSpPr>
        <p:spPr>
          <a:xfrm>
            <a:off x="7717536" y="1627632"/>
            <a:ext cx="36576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③ 定常状態（合併後）</a:t>
            </a:r>
            <a:endParaRPr lang="en-US" sz="1000" dirty="0"/>
          </a:p>
        </p:txBody>
      </p:sp>
      <p:sp>
        <p:nvSpPr>
          <p:cNvPr id="12" name="Text 8"/>
          <p:cNvSpPr txBox="1"/>
          <p:nvPr/>
        </p:nvSpPr>
        <p:spPr>
          <a:xfrm>
            <a:off x="7717536" y="1956816"/>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有利子負債</a:t>
            </a:r>
            <a:endParaRPr lang="en-US" sz="1000" dirty="0"/>
          </a:p>
        </p:txBody>
      </p:sp>
      <p:sp>
        <p:nvSpPr>
          <p:cNvPr id="13" name="Text 9"/>
          <p:cNvSpPr txBox="1"/>
          <p:nvPr/>
        </p:nvSpPr>
        <p:spPr>
          <a:xfrm>
            <a:off x="9290304" y="1956816"/>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20.0億円</a:t>
            </a:r>
            <a:endParaRPr lang="en-US" sz="1150" dirty="0"/>
          </a:p>
        </p:txBody>
      </p:sp>
      <p:sp>
        <p:nvSpPr>
          <p:cNvPr id="14" name="Text 10"/>
          <p:cNvSpPr txBox="1"/>
          <p:nvPr/>
        </p:nvSpPr>
        <p:spPr>
          <a:xfrm>
            <a:off x="7717536" y="2176272"/>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TLA14.0億（元金均等7年・毎月返済）＋TLB6.0億（期限一括）</a:t>
            </a:r>
            <a:endParaRPr lang="en-US" sz="850" dirty="0"/>
          </a:p>
        </p:txBody>
      </p:sp>
      <p:sp>
        <p:nvSpPr>
          <p:cNvPr id="15" name="Text 11"/>
          <p:cNvSpPr txBox="1"/>
          <p:nvPr/>
        </p:nvSpPr>
        <p:spPr>
          <a:xfrm>
            <a:off x="7717536" y="2450592"/>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現預金</a:t>
            </a:r>
            <a:endParaRPr lang="en-US" sz="1000" dirty="0"/>
          </a:p>
        </p:txBody>
      </p:sp>
      <p:sp>
        <p:nvSpPr>
          <p:cNvPr id="16" name="Text 12"/>
          <p:cNvSpPr txBox="1"/>
          <p:nvPr/>
        </p:nvSpPr>
        <p:spPr>
          <a:xfrm>
            <a:off x="9290304" y="2450592"/>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1.0億円</a:t>
            </a:r>
            <a:endParaRPr lang="en-US" sz="1150" dirty="0"/>
          </a:p>
        </p:txBody>
      </p:sp>
      <p:sp>
        <p:nvSpPr>
          <p:cNvPr id="17" name="Text 13"/>
          <p:cNvSpPr txBox="1"/>
          <p:nvPr/>
        </p:nvSpPr>
        <p:spPr>
          <a:xfrm>
            <a:off x="7717536" y="2670048"/>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運転資金として留保</a:t>
            </a:r>
            <a:endParaRPr lang="en-US" sz="850" dirty="0"/>
          </a:p>
        </p:txBody>
      </p:sp>
      <p:sp>
        <p:nvSpPr>
          <p:cNvPr id="18" name="Text 14"/>
          <p:cNvSpPr txBox="1"/>
          <p:nvPr/>
        </p:nvSpPr>
        <p:spPr>
          <a:xfrm>
            <a:off x="7717536" y="2944368"/>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ネットデット</a:t>
            </a:r>
            <a:endParaRPr lang="en-US" sz="1000" dirty="0"/>
          </a:p>
        </p:txBody>
      </p:sp>
      <p:sp>
        <p:nvSpPr>
          <p:cNvPr id="19" name="Text 15"/>
          <p:cNvSpPr txBox="1"/>
          <p:nvPr/>
        </p:nvSpPr>
        <p:spPr>
          <a:xfrm>
            <a:off x="9290304" y="2944368"/>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19.0億円</a:t>
            </a:r>
            <a:endParaRPr lang="en-US" sz="1150" dirty="0"/>
          </a:p>
        </p:txBody>
      </p:sp>
      <p:sp>
        <p:nvSpPr>
          <p:cNvPr id="20" name="Text 16"/>
          <p:cNvSpPr txBox="1"/>
          <p:nvPr/>
        </p:nvSpPr>
        <p:spPr>
          <a:xfrm>
            <a:off x="7717536" y="3163824"/>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EBITDA 3.6倍</a:t>
            </a:r>
            <a:endParaRPr lang="en-US" sz="850" dirty="0"/>
          </a:p>
        </p:txBody>
      </p:sp>
      <p:sp>
        <p:nvSpPr>
          <p:cNvPr id="21" name="Text 17"/>
          <p:cNvSpPr txBox="1"/>
          <p:nvPr/>
        </p:nvSpPr>
        <p:spPr>
          <a:xfrm>
            <a:off x="7717536" y="3438144"/>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初年度DSCR</a:t>
            </a:r>
            <a:endParaRPr lang="en-US" sz="1000" dirty="0"/>
          </a:p>
        </p:txBody>
      </p:sp>
      <p:sp>
        <p:nvSpPr>
          <p:cNvPr id="22" name="Text 18"/>
          <p:cNvSpPr txBox="1"/>
          <p:nvPr/>
        </p:nvSpPr>
        <p:spPr>
          <a:xfrm>
            <a:off x="9290304" y="3438144"/>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1.36倍</a:t>
            </a:r>
            <a:endParaRPr lang="en-US" sz="1150" dirty="0"/>
          </a:p>
        </p:txBody>
      </p:sp>
      <p:sp>
        <p:nvSpPr>
          <p:cNvPr id="23" name="Text 19"/>
          <p:cNvSpPr txBox="1"/>
          <p:nvPr/>
        </p:nvSpPr>
        <p:spPr>
          <a:xfrm>
            <a:off x="7717536" y="3657600"/>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元利返済2.57億円 vs FCF 3.50億円</a:t>
            </a:r>
            <a:endParaRPr lang="en-US" sz="850" dirty="0"/>
          </a:p>
        </p:txBody>
      </p:sp>
      <p:sp>
        <p:nvSpPr>
          <p:cNvPr id="24" name="Text 20"/>
          <p:cNvSpPr txBox="1"/>
          <p:nvPr/>
        </p:nvSpPr>
        <p:spPr>
          <a:xfrm>
            <a:off x="7717536" y="3931920"/>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2027年 最低現金残高</a:t>
            </a:r>
            <a:endParaRPr lang="en-US" sz="1000" dirty="0"/>
          </a:p>
        </p:txBody>
      </p:sp>
      <p:sp>
        <p:nvSpPr>
          <p:cNvPr id="25" name="Text 21"/>
          <p:cNvSpPr txBox="1"/>
          <p:nvPr/>
        </p:nvSpPr>
        <p:spPr>
          <a:xfrm>
            <a:off x="9290304" y="3931920"/>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0.19億円</a:t>
            </a:r>
            <a:endParaRPr lang="en-US" sz="1150" dirty="0"/>
          </a:p>
        </p:txBody>
      </p:sp>
      <p:sp>
        <p:nvSpPr>
          <p:cNvPr id="26" name="Text 22"/>
          <p:cNvSpPr txBox="1"/>
          <p:nvPr/>
        </p:nvSpPr>
        <p:spPr>
          <a:xfrm>
            <a:off x="7717536" y="4151376"/>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2月末。月次固定費の1.0か月分</a:t>
            </a:r>
            <a:endParaRPr lang="en-US" sz="850" dirty="0"/>
          </a:p>
        </p:txBody>
      </p:sp>
      <p:sp>
        <p:nvSpPr>
          <p:cNvPr id="27" name="Shape 23"/>
          <p:cNvSpPr/>
          <p:nvPr/>
        </p:nvSpPr>
        <p:spPr>
          <a:xfrm>
            <a:off x="7498080" y="4480560"/>
            <a:ext cx="4123944" cy="1243584"/>
          </a:xfrm>
          <a:prstGeom prst="roundRect">
            <a:avLst>
              <a:gd name="adj" fmla="val 3676"/>
            </a:avLst>
          </a:prstGeom>
          <a:solidFill>
            <a:srgbClr val="FFFFFF"/>
          </a:solidFill>
          <a:ln w="9525">
            <a:solidFill>
              <a:srgbClr val="E4DADD"/>
            </a:solidFill>
            <a:prstDash val="solid"/>
          </a:ln>
        </p:spPr>
      </p:sp>
      <p:sp>
        <p:nvSpPr>
          <p:cNvPr id="28" name="Text 24"/>
          <p:cNvSpPr txBox="1"/>
          <p:nvPr/>
        </p:nvSpPr>
        <p:spPr>
          <a:xfrm>
            <a:off x="7717536" y="4572000"/>
            <a:ext cx="3657600" cy="219456"/>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日程</a:t>
            </a:r>
            <a:endParaRPr lang="en-US" sz="1000" dirty="0"/>
          </a:p>
        </p:txBody>
      </p:sp>
      <p:sp>
        <p:nvSpPr>
          <p:cNvPr id="29" name="Text 25"/>
          <p:cNvSpPr txBox="1"/>
          <p:nvPr/>
        </p:nvSpPr>
        <p:spPr>
          <a:xfrm>
            <a:off x="7717536" y="4791456"/>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意向表明書提出</a:t>
            </a:r>
            <a:endParaRPr lang="en-US" sz="950" dirty="0"/>
          </a:p>
        </p:txBody>
      </p:sp>
      <p:sp>
        <p:nvSpPr>
          <p:cNvPr id="30" name="Text 26"/>
          <p:cNvSpPr txBox="1"/>
          <p:nvPr/>
        </p:nvSpPr>
        <p:spPr>
          <a:xfrm>
            <a:off x="9601200" y="4791456"/>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2026年9月30日</a:t>
            </a:r>
            <a:endParaRPr lang="en-US" sz="950" dirty="0"/>
          </a:p>
        </p:txBody>
      </p:sp>
      <p:sp>
        <p:nvSpPr>
          <p:cNvPr id="31" name="Text 27"/>
          <p:cNvSpPr txBox="1"/>
          <p:nvPr/>
        </p:nvSpPr>
        <p:spPr>
          <a:xfrm>
            <a:off x="7717536" y="5015484"/>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DD</a:t>
            </a:r>
            <a:endParaRPr lang="en-US" sz="950" dirty="0"/>
          </a:p>
        </p:txBody>
      </p:sp>
      <p:sp>
        <p:nvSpPr>
          <p:cNvPr id="32" name="Text 28"/>
          <p:cNvSpPr txBox="1"/>
          <p:nvPr/>
        </p:nvSpPr>
        <p:spPr>
          <a:xfrm>
            <a:off x="9601200" y="5015484"/>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10月上旬〜11月中旬</a:t>
            </a:r>
            <a:endParaRPr lang="en-US" sz="950" dirty="0"/>
          </a:p>
        </p:txBody>
      </p:sp>
      <p:sp>
        <p:nvSpPr>
          <p:cNvPr id="33" name="Text 29"/>
          <p:cNvSpPr txBox="1"/>
          <p:nvPr/>
        </p:nvSpPr>
        <p:spPr>
          <a:xfrm>
            <a:off x="7717536" y="5239512"/>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最終契約締結</a:t>
            </a:r>
            <a:endParaRPr lang="en-US" sz="950" dirty="0"/>
          </a:p>
        </p:txBody>
      </p:sp>
      <p:sp>
        <p:nvSpPr>
          <p:cNvPr id="34" name="Text 30"/>
          <p:cNvSpPr txBox="1"/>
          <p:nvPr/>
        </p:nvSpPr>
        <p:spPr>
          <a:xfrm>
            <a:off x="9601200" y="5239512"/>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2026年12月中旬</a:t>
            </a:r>
            <a:endParaRPr lang="en-US" sz="950" dirty="0"/>
          </a:p>
        </p:txBody>
      </p:sp>
      <p:sp>
        <p:nvSpPr>
          <p:cNvPr id="35" name="Text 31"/>
          <p:cNvSpPr txBox="1"/>
          <p:nvPr/>
        </p:nvSpPr>
        <p:spPr>
          <a:xfrm>
            <a:off x="7717536" y="5463540"/>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クロージング</a:t>
            </a:r>
            <a:endParaRPr lang="en-US" sz="950" dirty="0"/>
          </a:p>
        </p:txBody>
      </p:sp>
      <p:sp>
        <p:nvSpPr>
          <p:cNvPr id="36" name="Text 32"/>
          <p:cNvSpPr txBox="1"/>
          <p:nvPr/>
        </p:nvSpPr>
        <p:spPr>
          <a:xfrm>
            <a:off x="9601200" y="5463540"/>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2026年12月末（合意済）</a:t>
            </a:r>
            <a:endParaRPr lang="en-US" sz="950" dirty="0"/>
          </a:p>
        </p:txBody>
      </p:sp>
      <p:sp>
        <p:nvSpPr>
          <p:cNvPr id="37" name="Shape 33"/>
          <p:cNvSpPr/>
          <p:nvPr/>
        </p:nvSpPr>
        <p:spPr>
          <a:xfrm>
            <a:off x="566928" y="5760720"/>
            <a:ext cx="11055096" cy="512064"/>
          </a:xfrm>
          <a:prstGeom prst="roundRect">
            <a:avLst>
              <a:gd name="adj" fmla="val 7143"/>
            </a:avLst>
          </a:prstGeom>
          <a:solidFill>
            <a:srgbClr val="6D2E46"/>
          </a:solidFill>
          <a:ln/>
        </p:spPr>
      </p:sp>
      <p:sp>
        <p:nvSpPr>
          <p:cNvPr id="38" name="Text 34"/>
          <p:cNvSpPr txBox="1"/>
          <p:nvPr/>
        </p:nvSpPr>
        <p:spPr>
          <a:xfrm>
            <a:off x="804672" y="5815584"/>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みずほ銀行への依頼は20.0億円ではなく41.4億円　</a:t>
            </a:r>
            <a:pPr indent="0" marL="0">
              <a:lnSpc>
                <a:spcPts val="1500"/>
              </a:lnSpc>
              <a:buNone/>
            </a:pPr>
            <a:r>
              <a:rPr lang="en-US" sz="1000" dirty="0">
                <a:solidFill>
                  <a:srgbClr val="EBDCE1"/>
                </a:solidFill>
              </a:rPr>
              <a:t>タームローン20.0億円に加え、クロージング時の資金繰りを埋めるブリッジローン21.4億円が必要。ブリッジは合併直後に対象会社の余剰現金で全額返済し、残る有利子負債は20.0億円となる。</a:t>
            </a:r>
            <a:endParaRPr lang="en-US" sz="1100" dirty="0"/>
          </a:p>
        </p:txBody>
      </p:sp>
      <p:sp>
        <p:nvSpPr>
          <p:cNvPr id="39"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SENSITIVITY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対象会社に留保する現金をいくらにするか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留保額を1億円増やすと、中野氏の必要拠出額も1億円増え、2027年の最低現金残高も1億円増える。合併後の有利子負債20.0億円と初年度DSCR1.36倍は、いずれの場合も変わらない。</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1417320"/>
                <a:gridCol w="1600200"/>
                <a:gridCol w="1417320"/>
                <a:gridCol w="1828800"/>
                <a:gridCol w="1234440"/>
                <a:gridCol w="1920240"/>
                <a:gridCol w="16367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留保する現金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ブリッジローン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中野氏の拠出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合併後の有利子負債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ネット/EBITDA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2027年の最低現金残高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 固定費1.0か月分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2.0億円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1.19億円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固定費6.2か月分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3.0億円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2.19億円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余裕あり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ご相談案（p.24）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931920"/>
            <a:ext cx="11055096"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最低現金残高は2月末。2月に2026年12月期の未払税金1.14億円を納付する一方、借入の元利返済は毎月発生するため、年間で最も薄くなる。</a:t>
            </a:r>
            <a:endParaRPr lang="en-US" sz="900" dirty="0"/>
          </a:p>
        </p:txBody>
      </p:sp>
      <p:sp>
        <p:nvSpPr>
          <p:cNvPr id="7" name="Shape 4"/>
          <p:cNvSpPr/>
          <p:nvPr/>
        </p:nvSpPr>
        <p:spPr>
          <a:xfrm>
            <a:off x="566928" y="4279392"/>
            <a:ext cx="3520440" cy="1993392"/>
          </a:xfrm>
          <a:prstGeom prst="roundRect">
            <a:avLst>
              <a:gd name="adj" fmla="val 2294"/>
            </a:avLst>
          </a:prstGeom>
          <a:solidFill>
            <a:srgbClr val="F7F3F4"/>
          </a:solidFill>
          <a:ln w="9525">
            <a:solidFill>
              <a:srgbClr val="E4DADD"/>
            </a:solidFill>
            <a:prstDash val="solid"/>
          </a:ln>
        </p:spPr>
      </p:sp>
      <p:sp>
        <p:nvSpPr>
          <p:cNvPr id="8" name="Text 5"/>
          <p:cNvSpPr txBox="1"/>
          <p:nvPr/>
        </p:nvSpPr>
        <p:spPr>
          <a:xfrm>
            <a:off x="768096"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① 1.0億円では2月末に1,900万円まで落ちる</a:t>
            </a:r>
            <a:endParaRPr lang="en-US" sz="1050" dirty="0"/>
          </a:p>
        </p:txBody>
      </p:sp>
      <p:sp>
        <p:nvSpPr>
          <p:cNvPr id="9" name="Text 6"/>
          <p:cNvSpPr txBox="1"/>
          <p:nvPr/>
        </p:nvSpPr>
        <p:spPr>
          <a:xfrm>
            <a:off x="768096"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借入の返済が毎月であるため、2026年12月期の未払税金1.14億円を納付する2月に底が来る。残高1,900万円は月次固定費の1.0か月分にすぎず、ワインの一次価格アロケーションがまとまって入荷する月や突発的な修繕が重なれば、一時的な借入が避けられない。留保を2.0億円とすれば底は1.19億円（6.2か月分）となる。</a:t>
            </a:r>
            <a:endParaRPr lang="en-US" sz="850" dirty="0"/>
          </a:p>
        </p:txBody>
      </p:sp>
      <p:sp>
        <p:nvSpPr>
          <p:cNvPr id="10" name="Shape 7"/>
          <p:cNvSpPr/>
          <p:nvPr/>
        </p:nvSpPr>
        <p:spPr>
          <a:xfrm>
            <a:off x="4297680" y="4279392"/>
            <a:ext cx="3520440" cy="1993392"/>
          </a:xfrm>
          <a:prstGeom prst="roundRect">
            <a:avLst>
              <a:gd name="adj" fmla="val 2294"/>
            </a:avLst>
          </a:prstGeom>
          <a:solidFill>
            <a:srgbClr val="F7F3F4"/>
          </a:solidFill>
          <a:ln w="9525">
            <a:solidFill>
              <a:srgbClr val="E4DADD"/>
            </a:solidFill>
            <a:prstDash val="solid"/>
          </a:ln>
        </p:spPr>
      </p:sp>
      <p:sp>
        <p:nvSpPr>
          <p:cNvPr id="11" name="Text 8"/>
          <p:cNvSpPr txBox="1"/>
          <p:nvPr/>
        </p:nvSpPr>
        <p:spPr>
          <a:xfrm>
            <a:off x="4498848"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② 留保を厚くしても総ご相談額は増えない</a:t>
            </a:r>
            <a:endParaRPr lang="en-US" sz="1050" dirty="0"/>
          </a:p>
        </p:txBody>
      </p:sp>
      <p:sp>
        <p:nvSpPr>
          <p:cNvPr id="12" name="Text 9"/>
          <p:cNvSpPr txBox="1"/>
          <p:nvPr/>
        </p:nvSpPr>
        <p:spPr>
          <a:xfrm>
            <a:off x="4498848"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立替えであり、留保額を増やした分だけブリッジは減る。留保を1.0億円から6.0億円へ引き上げ、恒久タームローンを20.0億円から25.0億円へ振り替えれば、みずほ銀行様への総ご相談額41.4億円は変わらないまま、初年度末の残高は0.66億円から5.81億円になる。詳細は24ページに記載した。</a:t>
            </a:r>
            <a:endParaRPr lang="en-US" sz="850" dirty="0"/>
          </a:p>
        </p:txBody>
      </p:sp>
      <p:sp>
        <p:nvSpPr>
          <p:cNvPr id="13" name="Shape 10"/>
          <p:cNvSpPr/>
          <p:nvPr/>
        </p:nvSpPr>
        <p:spPr>
          <a:xfrm>
            <a:off x="8028432" y="4279392"/>
            <a:ext cx="3520440" cy="1993392"/>
          </a:xfrm>
          <a:prstGeom prst="roundRect">
            <a:avLst>
              <a:gd name="adj" fmla="val 2294"/>
            </a:avLst>
          </a:prstGeom>
          <a:solidFill>
            <a:srgbClr val="F7F3F4"/>
          </a:solidFill>
          <a:ln w="9525">
            <a:solidFill>
              <a:srgbClr val="E4DADD"/>
            </a:solidFill>
            <a:prstDash val="solid"/>
          </a:ln>
        </p:spPr>
      </p:sp>
      <p:sp>
        <p:nvSpPr>
          <p:cNvPr id="14" name="Text 11"/>
          <p:cNvSpPr txBox="1"/>
          <p:nvPr/>
        </p:nvSpPr>
        <p:spPr>
          <a:xfrm>
            <a:off x="8229600"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③ 中野氏の拠出が700万円になることの副作用</a:t>
            </a:r>
            <a:endParaRPr lang="en-US" sz="1050" dirty="0"/>
          </a:p>
        </p:txBody>
      </p:sp>
      <p:sp>
        <p:nvSpPr>
          <p:cNvPr id="15" name="Text 12"/>
          <p:cNvSpPr txBox="1"/>
          <p:nvPr/>
        </p:nvSpPr>
        <p:spPr>
          <a:xfrm>
            <a:off x="8229600"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榊原氏が10.0億円を払い込むのに対し、中野氏の拠出は資本金10万円と株主貸付700万円のみとなる。67%／33%という配分は合意によるものだが、その根拠を株主間契約でより丁寧に定める必要が生じる。</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SHAREHOLDERS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株主構成 ― 譲受価額50.0億円の場合と55.0億円の場合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上限で決着した場合、差額5.0億円は第三者割当増資により、外部の追加投資家から同一のバリュエーションで調達する。</a:t>
            </a:r>
            <a:endParaRPr lang="en-US" sz="1250" dirty="0"/>
          </a:p>
        </p:txBody>
      </p:sp>
      <p:sp>
        <p:nvSpPr>
          <p:cNvPr id="5" name="Shape 3"/>
          <p:cNvSpPr/>
          <p:nvPr/>
        </p:nvSpPr>
        <p:spPr>
          <a:xfrm>
            <a:off x="566928" y="1554480"/>
            <a:ext cx="5394960" cy="3017520"/>
          </a:xfrm>
          <a:prstGeom prst="roundRect">
            <a:avLst>
              <a:gd name="adj" fmla="val 1515"/>
            </a:avLst>
          </a:prstGeom>
          <a:solidFill>
            <a:srgbClr val="FFFFFF"/>
          </a:solidFill>
          <a:ln w="9525">
            <a:solidFill>
              <a:srgbClr val="E4DADD"/>
            </a:solidFill>
            <a:prstDash val="solid"/>
          </a:ln>
        </p:spPr>
      </p:sp>
      <p:sp>
        <p:nvSpPr>
          <p:cNvPr id="6" name="Text 4"/>
          <p:cNvSpPr txBox="1"/>
          <p:nvPr/>
        </p:nvSpPr>
        <p:spPr>
          <a:xfrm>
            <a:off x="786384"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① 譲受価額 50.0億円</a:t>
            </a:r>
            <a:endParaRPr lang="en-US" sz="1500" dirty="0"/>
          </a:p>
        </p:txBody>
      </p:sp>
      <p:sp>
        <p:nvSpPr>
          <p:cNvPr id="7" name="Shape 5"/>
          <p:cNvSpPr/>
          <p:nvPr/>
        </p:nvSpPr>
        <p:spPr>
          <a:xfrm>
            <a:off x="676656" y="2029968"/>
            <a:ext cx="3450509" cy="457200"/>
          </a:xfrm>
          <a:prstGeom prst="rect">
            <a:avLst/>
          </a:prstGeom>
          <a:solidFill>
            <a:srgbClr val="6D2E46"/>
          </a:solidFill>
          <a:ln/>
        </p:spPr>
      </p:sp>
      <p:sp>
        <p:nvSpPr>
          <p:cNvPr id="8" name="Text 6"/>
          <p:cNvSpPr txBox="1"/>
          <p:nvPr/>
        </p:nvSpPr>
        <p:spPr>
          <a:xfrm>
            <a:off x="676656" y="2029968"/>
            <a:ext cx="3450509"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66.7%</a:t>
            </a:r>
            <a:endParaRPr lang="en-US" sz="1150" dirty="0"/>
          </a:p>
        </p:txBody>
      </p:sp>
      <p:sp>
        <p:nvSpPr>
          <p:cNvPr id="9" name="Shape 7"/>
          <p:cNvSpPr/>
          <p:nvPr/>
        </p:nvSpPr>
        <p:spPr>
          <a:xfrm>
            <a:off x="4127165" y="2029968"/>
            <a:ext cx="1724995" cy="457200"/>
          </a:xfrm>
          <a:prstGeom prst="rect">
            <a:avLst/>
          </a:prstGeom>
          <a:solidFill>
            <a:srgbClr val="A26769"/>
          </a:solidFill>
          <a:ln/>
        </p:spPr>
      </p:sp>
      <p:sp>
        <p:nvSpPr>
          <p:cNvPr id="10" name="Text 8"/>
          <p:cNvSpPr txBox="1"/>
          <p:nvPr/>
        </p:nvSpPr>
        <p:spPr>
          <a:xfrm>
            <a:off x="4127165" y="2029968"/>
            <a:ext cx="172499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33.3%</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76656"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6D2E46"/>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15.07億円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2" name="Shape 9"/>
          <p:cNvSpPr/>
          <p:nvPr/>
        </p:nvSpPr>
        <p:spPr>
          <a:xfrm>
            <a:off x="6227064" y="1554480"/>
            <a:ext cx="5394960" cy="3017520"/>
          </a:xfrm>
          <a:prstGeom prst="roundRect">
            <a:avLst>
              <a:gd name="adj" fmla="val 1515"/>
            </a:avLst>
          </a:prstGeom>
          <a:solidFill>
            <a:srgbClr val="FFFFFF"/>
          </a:solidFill>
          <a:ln w="9525">
            <a:solidFill>
              <a:srgbClr val="E4DADD"/>
            </a:solidFill>
            <a:prstDash val="solid"/>
          </a:ln>
        </p:spPr>
      </p:sp>
      <p:sp>
        <p:nvSpPr>
          <p:cNvPr id="13" name="Text 10"/>
          <p:cNvSpPr txBox="1"/>
          <p:nvPr/>
        </p:nvSpPr>
        <p:spPr>
          <a:xfrm>
            <a:off x="6446520"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② 譲受価額 55.0億円</a:t>
            </a:r>
            <a:endParaRPr lang="en-US" sz="1500" dirty="0"/>
          </a:p>
        </p:txBody>
      </p:sp>
      <p:sp>
        <p:nvSpPr>
          <p:cNvPr id="14" name="Shape 11"/>
          <p:cNvSpPr/>
          <p:nvPr/>
        </p:nvSpPr>
        <p:spPr>
          <a:xfrm>
            <a:off x="6336792" y="2029968"/>
            <a:ext cx="2957283" cy="457200"/>
          </a:xfrm>
          <a:prstGeom prst="rect">
            <a:avLst/>
          </a:prstGeom>
          <a:solidFill>
            <a:srgbClr val="6D2E46"/>
          </a:solidFill>
          <a:ln/>
        </p:spPr>
      </p:sp>
      <p:sp>
        <p:nvSpPr>
          <p:cNvPr id="15" name="Text 12"/>
          <p:cNvSpPr txBox="1"/>
          <p:nvPr/>
        </p:nvSpPr>
        <p:spPr>
          <a:xfrm>
            <a:off x="6336792" y="2029968"/>
            <a:ext cx="2957283"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57.1%</a:t>
            </a:r>
            <a:endParaRPr lang="en-US" sz="1150" dirty="0"/>
          </a:p>
        </p:txBody>
      </p:sp>
      <p:sp>
        <p:nvSpPr>
          <p:cNvPr id="16" name="Shape 13"/>
          <p:cNvSpPr/>
          <p:nvPr/>
        </p:nvSpPr>
        <p:spPr>
          <a:xfrm>
            <a:off x="9294075" y="2029968"/>
            <a:ext cx="1478641" cy="457200"/>
          </a:xfrm>
          <a:prstGeom prst="rect">
            <a:avLst/>
          </a:prstGeom>
          <a:solidFill>
            <a:srgbClr val="A26769"/>
          </a:solidFill>
          <a:ln/>
        </p:spPr>
      </p:sp>
      <p:sp>
        <p:nvSpPr>
          <p:cNvPr id="17" name="Text 14"/>
          <p:cNvSpPr txBox="1"/>
          <p:nvPr/>
        </p:nvSpPr>
        <p:spPr>
          <a:xfrm>
            <a:off x="9294075" y="2029968"/>
            <a:ext cx="1478641"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28.6%</a:t>
            </a:r>
            <a:endParaRPr lang="en-US" sz="1150" dirty="0"/>
          </a:p>
        </p:txBody>
      </p:sp>
      <p:sp>
        <p:nvSpPr>
          <p:cNvPr id="18" name="Shape 15"/>
          <p:cNvSpPr/>
          <p:nvPr/>
        </p:nvSpPr>
        <p:spPr>
          <a:xfrm>
            <a:off x="10772716" y="2029968"/>
            <a:ext cx="739580" cy="457200"/>
          </a:xfrm>
          <a:prstGeom prst="rect">
            <a:avLst/>
          </a:prstGeom>
          <a:solidFill>
            <a:srgbClr val="B58B2A"/>
          </a:solidFill>
          <a:ln/>
        </p:spPr>
      </p:sp>
      <p:sp>
        <p:nvSpPr>
          <p:cNvPr id="19" name="Text 16"/>
          <p:cNvSpPr txBox="1"/>
          <p:nvPr/>
        </p:nvSpPr>
        <p:spPr>
          <a:xfrm>
            <a:off x="10772716" y="2029968"/>
            <a:ext cx="73958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14.3%</a:t>
            </a:r>
            <a:endParaRPr lang="en-US" sz="9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336792"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57.1%</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A8741A"/>
                          </a:solidFill>
                          <a:latin typeface="Calibri" pitchFamily="34" charset="0"/>
                          <a:ea typeface="Calibri" pitchFamily="34" charset="-122"/>
                          <a:cs typeface="Calibri" pitchFamily="34" charset="-120"/>
                        </a:rPr>
                        <a:t>28.6%</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追加投資家</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5.00億円（第三者割当増資）</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B58B2A"/>
                          </a:solidFill>
                          <a:latin typeface="Calibri" pitchFamily="34" charset="0"/>
                          <a:ea typeface="Calibri" pitchFamily="34" charset="-122"/>
                          <a:cs typeface="Calibri" pitchFamily="34" charset="-120"/>
                        </a:rPr>
                        <a:t>14.3%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20.07億円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Shape 17"/>
          <p:cNvSpPr/>
          <p:nvPr/>
        </p:nvSpPr>
        <p:spPr>
          <a:xfrm>
            <a:off x="566928" y="4700016"/>
            <a:ext cx="5394960" cy="987552"/>
          </a:xfrm>
          <a:prstGeom prst="roundRect">
            <a:avLst>
              <a:gd name="adj" fmla="val 4630"/>
            </a:avLst>
          </a:prstGeom>
          <a:solidFill>
            <a:srgbClr val="F7F3F4"/>
          </a:solidFill>
          <a:ln w="9525">
            <a:solidFill>
              <a:srgbClr val="E4DADD"/>
            </a:solidFill>
            <a:prstDash val="solid"/>
          </a:ln>
        </p:spPr>
      </p:sp>
      <p:sp>
        <p:nvSpPr>
          <p:cNvPr id="22" name="Text 18"/>
          <p:cNvSpPr txBox="1"/>
          <p:nvPr/>
        </p:nvSpPr>
        <p:spPr>
          <a:xfrm>
            <a:off x="768096"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銀行から見た財務は、どちらでも変わらない</a:t>
            </a:r>
            <a:endParaRPr lang="en-US" sz="1050" dirty="0"/>
          </a:p>
        </p:txBody>
      </p:sp>
      <p:sp>
        <p:nvSpPr>
          <p:cNvPr id="23" name="Text 19"/>
          <p:cNvSpPr txBox="1"/>
          <p:nvPr/>
        </p:nvSpPr>
        <p:spPr>
          <a:xfrm>
            <a:off x="768096"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差額5.0億円を全額エクイティで吸収するため、みずほ銀行への依頼額41.4億円、合併後の有利子負債20.0億円、初年度DSCR1.36倍は、いずれのケースでも同一となる。</a:t>
            </a:r>
            <a:endParaRPr lang="en-US" sz="900" dirty="0"/>
          </a:p>
        </p:txBody>
      </p:sp>
      <p:sp>
        <p:nvSpPr>
          <p:cNvPr id="24" name="Shape 20"/>
          <p:cNvSpPr/>
          <p:nvPr/>
        </p:nvSpPr>
        <p:spPr>
          <a:xfrm>
            <a:off x="6227064" y="4700016"/>
            <a:ext cx="5394960" cy="987552"/>
          </a:xfrm>
          <a:prstGeom prst="roundRect">
            <a:avLst>
              <a:gd name="adj" fmla="val 4630"/>
            </a:avLst>
          </a:prstGeom>
          <a:solidFill>
            <a:srgbClr val="F7F3F4"/>
          </a:solidFill>
          <a:ln w="9525">
            <a:solidFill>
              <a:srgbClr val="E4DADD"/>
            </a:solidFill>
            <a:prstDash val="solid"/>
          </a:ln>
        </p:spPr>
      </p:sp>
      <p:sp>
        <p:nvSpPr>
          <p:cNvPr id="25" name="Text 21"/>
          <p:cNvSpPr txBox="1"/>
          <p:nvPr/>
        </p:nvSpPr>
        <p:spPr>
          <a:xfrm>
            <a:off x="6428232"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同一バリュエーションでの追加調達</a:t>
            </a:r>
            <a:endParaRPr lang="en-US" sz="1050" dirty="0"/>
          </a:p>
        </p:txBody>
      </p:sp>
      <p:sp>
        <p:nvSpPr>
          <p:cNvPr id="26" name="Text 22"/>
          <p:cNvSpPr txBox="1"/>
          <p:nvPr/>
        </p:nvSpPr>
        <p:spPr>
          <a:xfrm>
            <a:off x="6428232"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榊原氏の10.0億円＝33.3%が示すポストマネー30.0億円を基準とし、追加投資家は同じ条件で5.0億円を引き受ける。既存株主は一律に希薄化する（30.0億円 → 35.0億円）。</a:t>
            </a:r>
            <a:endParaRPr lang="en-US" sz="900" dirty="0"/>
          </a:p>
        </p:txBody>
      </p:sp>
      <p:sp>
        <p:nvSpPr>
          <p:cNvPr id="27" name="Shape 23"/>
          <p:cNvSpPr/>
          <p:nvPr/>
        </p:nvSpPr>
        <p:spPr>
          <a:xfrm>
            <a:off x="566928" y="5779008"/>
            <a:ext cx="11055096" cy="512064"/>
          </a:xfrm>
          <a:prstGeom prst="roundRect">
            <a:avLst>
              <a:gd name="adj" fmla="val 7143"/>
            </a:avLst>
          </a:prstGeom>
          <a:solidFill>
            <a:srgbClr val="6D2E46"/>
          </a:solidFill>
          <a:ln/>
        </p:spPr>
      </p:sp>
      <p:sp>
        <p:nvSpPr>
          <p:cNvPr id="28" name="Text 24"/>
          <p:cNvSpPr txBox="1"/>
          <p:nvPr/>
        </p:nvSpPr>
        <p:spPr>
          <a:xfrm>
            <a:off x="804672" y="5833872"/>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先に握っておくこと　</a:t>
            </a:r>
            <a:pPr indent="0" marL="0">
              <a:lnSpc>
                <a:spcPts val="1500"/>
              </a:lnSpc>
              <a:buNone/>
            </a:pPr>
            <a:r>
              <a:rPr lang="en-US" sz="1000" dirty="0">
                <a:solidFill>
                  <a:srgbClr val="EBDCE1"/>
                </a:solidFill>
              </a:rPr>
              <a:t>55.0億円ケースでは榊原氏の持分が28.6%となり、会社法上の特別決議に対する拒否権（1/3超）を失う。中野氏も57.1%となり単独での2/3可決ができなくなる。追加投資家を受け入れる際の優先引受権の扱いを、株主間契約に先に定めておく必要がある。</a:t>
            </a:r>
            <a:endParaRPr lang="en-US" sz="1100" dirty="0"/>
          </a:p>
        </p:txBody>
      </p:sp>
      <p:sp>
        <p:nvSpPr>
          <p:cNvPr id="29"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0"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返済プロファイル</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初年度からDSCR 1.36倍を確保する返済設計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合併後の有利子負債20.0億円を、タームローンA 14.0億円（7年・元金均等・毎月返済）とタームローンB 6.0億円（期限一括）に分ける。返済は毎月、元本16.7百万円と前月末残高に対する利息。</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1.36倍</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 vs FCF 3.50億円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7.75億円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3.6倍</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有利子負債20.0億円−留保現金1.0億円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返済方式別の比較（借入20.00億円・7年・金利3%・毎月返済）</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3.43億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3.17億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2.29億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元本を14.0億円に絞ることで年間の元本負担が2.00億円に下がり、DSCRは7年間を通じて1.36倍から1.58倍で推移する。残る6.00億円は7年間の余剰キャッシュフローで返済でき、リファイナンスを前提としない。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7年間の累積余剰キャッシュフロー7.75億円が、期限一括のタームローンB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初年度の資金繰り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2027年の月次キャッシュフロー ― 底は2月末の0.19億円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計画どおりに推移した場合の初年度の資金繰り。借入の元利返済は毎月発生し、2026年12月期の未払税金1.14億円を2月に納付するため、2月末が年間で最も薄くなる。</a:t>
            </a:r>
            <a:endParaRPr lang="en-US" sz="1250" dirty="0"/>
          </a:p>
        </p:txBody>
      </p:sp>
      <p:sp>
        <p:nvSpPr>
          <p:cNvPr id="5" name="Shape 3"/>
          <p:cNvSpPr/>
          <p:nvPr/>
        </p:nvSpPr>
        <p:spPr>
          <a:xfrm>
            <a:off x="566928" y="1783080"/>
            <a:ext cx="3520440" cy="1024128"/>
          </a:xfrm>
          <a:prstGeom prst="roundRect">
            <a:avLst>
              <a:gd name="adj" fmla="val 4464"/>
            </a:avLst>
          </a:prstGeom>
          <a:solidFill>
            <a:srgbClr val="6D2E46"/>
          </a:solidFill>
          <a:ln w="9525">
            <a:solidFill>
              <a:srgbClr val="6D2E46"/>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最低現金残高</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0.19億円</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2月末。月次固定費の1.0か月分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年間の営業キャッシュフロー</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5.28億円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期末現金残高</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1.65億円</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期首1.00億円から+0.65億円</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2980944"/>
          <a:ext cx="11055096" cy="914400"/>
        </p:xfrm>
        <a:graphic>
          <a:graphicData uri="http://schemas.openxmlformats.org/drawingml/2006/table">
            <a:tbl>
              <a:tblPr/>
              <a:tblGrid>
                <a:gridCol w="1517904"/>
                <a:gridCol w="704088"/>
                <a:gridCol w="704088"/>
                <a:gridCol w="704088"/>
                <a:gridCol w="704088"/>
                <a:gridCol w="704088"/>
                <a:gridCol w="704088"/>
                <a:gridCol w="704088"/>
                <a:gridCol w="704088"/>
                <a:gridCol w="704088"/>
                <a:gridCol w="704088"/>
                <a:gridCol w="704088"/>
                <a:gridCol w="704088"/>
                <a:gridCol w="1088136"/>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3月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4月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6月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8月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9月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10月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営業利益</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法人税等の納付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▲206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元利返済（毎月）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当月収支</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現金 期末残高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8" name="Text 15"/>
          <p:cNvSpPr txBox="1"/>
          <p:nvPr/>
        </p:nvSpPr>
        <p:spPr>
          <a:xfrm>
            <a:off x="566928" y="5285232"/>
            <a:ext cx="11055096"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 端数処理のため、内訳の合計と合計欄が一致しない場合がある。消費税は預り金の性質を持つため計上していない。</a:t>
            </a:r>
            <a:endParaRPr lang="en-US" sz="850" dirty="0"/>
          </a:p>
        </p:txBody>
      </p:sp>
      <p:sp>
        <p:nvSpPr>
          <p:cNvPr id="19" name="Shape 16"/>
          <p:cNvSpPr/>
          <p:nvPr/>
        </p:nvSpPr>
        <p:spPr>
          <a:xfrm>
            <a:off x="566928" y="5541264"/>
            <a:ext cx="5394960" cy="786384"/>
          </a:xfrm>
          <a:prstGeom prst="roundRect">
            <a:avLst>
              <a:gd name="adj" fmla="val 5814"/>
            </a:avLst>
          </a:prstGeom>
          <a:solidFill>
            <a:srgbClr val="F7F3F4"/>
          </a:solidFill>
          <a:ln w="9525">
            <a:solidFill>
              <a:srgbClr val="E4DADD"/>
            </a:solidFill>
            <a:prstDash val="solid"/>
          </a:ln>
        </p:spPr>
      </p:sp>
      <p:sp>
        <p:nvSpPr>
          <p:cNvPr id="20" name="Text 17"/>
          <p:cNvSpPr txBox="1"/>
          <p:nvPr/>
        </p:nvSpPr>
        <p:spPr>
          <a:xfrm>
            <a:off x="768096"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2月に底が来る理由</a:t>
            </a:r>
            <a:endParaRPr lang="en-US" sz="1000" dirty="0"/>
          </a:p>
        </p:txBody>
      </p:sp>
      <p:sp>
        <p:nvSpPr>
          <p:cNvPr id="21" name="Text 18"/>
          <p:cNvSpPr txBox="1"/>
          <p:nvPr/>
        </p:nvSpPr>
        <p:spPr>
          <a:xfrm>
            <a:off x="768096"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2026年12月期の未払法人税等・未払消費税1.14億円を2月に納付する一方、借入の元利返済0.22億円は毎月発生する。対象会社に留保する運転資金を1.00億円としているため、2月末の残高は0.19億円となる。留保を2.00億円とすれば底は1.19億円となる。</a:t>
            </a:r>
            <a:endParaRPr lang="en-US" sz="850" dirty="0"/>
          </a:p>
        </p:txBody>
      </p:sp>
      <p:sp>
        <p:nvSpPr>
          <p:cNvPr id="22" name="Shape 19"/>
          <p:cNvSpPr/>
          <p:nvPr/>
        </p:nvSpPr>
        <p:spPr>
          <a:xfrm>
            <a:off x="6227064" y="5541264"/>
            <a:ext cx="5394960" cy="786384"/>
          </a:xfrm>
          <a:prstGeom prst="roundRect">
            <a:avLst>
              <a:gd name="adj" fmla="val 5814"/>
            </a:avLst>
          </a:prstGeom>
          <a:solidFill>
            <a:srgbClr val="F7F3F4"/>
          </a:solidFill>
          <a:ln w="9525">
            <a:solidFill>
              <a:srgbClr val="E4DADD"/>
            </a:solidFill>
            <a:prstDash val="solid"/>
          </a:ln>
        </p:spPr>
      </p:sp>
      <p:sp>
        <p:nvSpPr>
          <p:cNvPr id="23" name="Text 20"/>
          <p:cNvSpPr txBox="1"/>
          <p:nvPr/>
        </p:nvSpPr>
        <p:spPr>
          <a:xfrm>
            <a:off x="6428232"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税務上ののれんは織り込んでいない</a:t>
            </a:r>
            <a:endParaRPr lang="en-US" sz="1000" dirty="0"/>
          </a:p>
        </p:txBody>
      </p:sp>
      <p:sp>
        <p:nvSpPr>
          <p:cNvPr id="24" name="Text 21"/>
          <p:cNvSpPr txBox="1"/>
          <p:nvPr/>
        </p:nvSpPr>
        <p:spPr>
          <a:xfrm>
            <a:off x="6428232"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譲受代金と時価純資産の差額26.85億円は、事業譲渡型であれば5年で損金算入できるが、本件は適格合併に該当するため計上されない。当社は保守的に、合併による支払利息の損金算入のみを織り込んでいる。詳細は23ページに記載した。</a:t>
            </a:r>
            <a:endParaRPr lang="en-US" sz="850" dirty="0"/>
          </a:p>
        </p:txBody>
      </p:sp>
      <p:sp>
        <p:nvSpPr>
          <p:cNvPr id="25" name="Text 2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 ②</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キャッシュフロー計算書 ― 借入返済後も毎期プラスを確保する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合併後の対象会社の年次資金収支。維持更新投資を年0.30億円、支払利息の損金算入を織り込んだ推奨案（借入25.0億円・10年）ベース。</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825496"/>
                <a:gridCol w="1179576"/>
                <a:gridCol w="1179576"/>
                <a:gridCol w="1179576"/>
                <a:gridCol w="1179576"/>
                <a:gridCol w="1179576"/>
                <a:gridCol w="1179576"/>
                <a:gridCol w="1152144"/>
              </a:tblGrid>
              <a:tr h="3063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減価償却費</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支払利息</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法人税等の支払</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1.94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設備投資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フリーキャッシュフロー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借入元本の返済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現金の増減</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0.99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期末現金残高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7.81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8.87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9.96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12.24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5029200"/>
            <a:ext cx="11055096" cy="36576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単位：億円。2027年の法人税等には2026年12月期の未払法人税1.14億円の納付を含む。2034年〜2036年も同水準で推移し、期限一括返済分7.50億円は2036年末の現金残高で返済可能（返済後8.42億円）。</a:t>
            </a:r>
            <a:endParaRPr lang="en-US" sz="900" dirty="0"/>
          </a:p>
        </p:txBody>
      </p:sp>
      <p:sp>
        <p:nvSpPr>
          <p:cNvPr id="7" name="Shape 4"/>
          <p:cNvSpPr/>
          <p:nvPr/>
        </p:nvSpPr>
        <p:spPr>
          <a:xfrm>
            <a:off x="566928" y="5486400"/>
            <a:ext cx="3520440" cy="822960"/>
          </a:xfrm>
          <a:prstGeom prst="roundRect">
            <a:avLst>
              <a:gd name="adj" fmla="val 5556"/>
            </a:avLst>
          </a:prstGeom>
          <a:solidFill>
            <a:srgbClr val="F7F3F4"/>
          </a:solidFill>
          <a:ln w="9525">
            <a:solidFill>
              <a:srgbClr val="E4DADD"/>
            </a:solidFill>
            <a:prstDash val="solid"/>
          </a:ln>
        </p:spPr>
      </p:sp>
      <p:sp>
        <p:nvSpPr>
          <p:cNvPr id="8" name="Text 5"/>
          <p:cNvSpPr txBox="1"/>
          <p:nvPr/>
        </p:nvSpPr>
        <p:spPr>
          <a:xfrm>
            <a:off x="768096"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借入返済後も毎期プラス</a:t>
            </a:r>
            <a:endParaRPr lang="en-US" sz="1050" dirty="0"/>
          </a:p>
        </p:txBody>
      </p:sp>
      <p:sp>
        <p:nvSpPr>
          <p:cNvPr id="9" name="Text 6"/>
          <p:cNvSpPr txBox="1"/>
          <p:nvPr/>
        </p:nvSpPr>
        <p:spPr>
          <a:xfrm>
            <a:off x="768096"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2027年のみ前期未払税金1.14億円の納付により△0.11億円となるが、2028年以降は年約1.0億円ずつ現金が積み上がる。</a:t>
            </a:r>
            <a:endParaRPr lang="en-US" sz="850" dirty="0"/>
          </a:p>
        </p:txBody>
      </p:sp>
      <p:sp>
        <p:nvSpPr>
          <p:cNvPr id="10" name="Shape 7"/>
          <p:cNvSpPr/>
          <p:nvPr/>
        </p:nvSpPr>
        <p:spPr>
          <a:xfrm>
            <a:off x="4297680" y="5486400"/>
            <a:ext cx="3520440" cy="822960"/>
          </a:xfrm>
          <a:prstGeom prst="roundRect">
            <a:avLst>
              <a:gd name="adj" fmla="val 5556"/>
            </a:avLst>
          </a:prstGeom>
          <a:solidFill>
            <a:srgbClr val="F7F3F4"/>
          </a:solidFill>
          <a:ln w="9525">
            <a:solidFill>
              <a:srgbClr val="E4DADD"/>
            </a:solidFill>
            <a:prstDash val="solid"/>
          </a:ln>
        </p:spPr>
      </p:sp>
      <p:sp>
        <p:nvSpPr>
          <p:cNvPr id="11" name="Text 8"/>
          <p:cNvSpPr txBox="1"/>
          <p:nvPr/>
        </p:nvSpPr>
        <p:spPr>
          <a:xfrm>
            <a:off x="4498848"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10年間の利息総額 5.36億円</a:t>
            </a:r>
            <a:endParaRPr lang="en-US" sz="1050" dirty="0"/>
          </a:p>
        </p:txBody>
      </p:sp>
      <p:sp>
        <p:nvSpPr>
          <p:cNvPr id="12" name="Text 9"/>
          <p:cNvSpPr txBox="1"/>
          <p:nvPr/>
        </p:nvSpPr>
        <p:spPr>
          <a:xfrm>
            <a:off x="4498848"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元本25.00億円に対する支払利息の総額。金利3%・元金均等（期限一括分7.50億円を含む）を前提としている。</a:t>
            </a:r>
            <a:endParaRPr lang="en-US" sz="850" dirty="0"/>
          </a:p>
        </p:txBody>
      </p:sp>
      <p:sp>
        <p:nvSpPr>
          <p:cNvPr id="13" name="Shape 10"/>
          <p:cNvSpPr/>
          <p:nvPr/>
        </p:nvSpPr>
        <p:spPr>
          <a:xfrm>
            <a:off x="8028432" y="5486400"/>
            <a:ext cx="3520440" cy="822960"/>
          </a:xfrm>
          <a:prstGeom prst="roundRect">
            <a:avLst>
              <a:gd name="adj" fmla="val 5556"/>
            </a:avLst>
          </a:prstGeom>
          <a:solidFill>
            <a:srgbClr val="F7F3F4"/>
          </a:solidFill>
          <a:ln w="9525">
            <a:solidFill>
              <a:srgbClr val="E4DADD"/>
            </a:solidFill>
            <a:prstDash val="solid"/>
          </a:ln>
        </p:spPr>
      </p:sp>
      <p:sp>
        <p:nvSpPr>
          <p:cNvPr id="14" name="Text 11"/>
          <p:cNvSpPr txBox="1"/>
          <p:nvPr/>
        </p:nvSpPr>
        <p:spPr>
          <a:xfrm>
            <a:off x="8229600"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最終年度末の手元 8.42億円</a:t>
            </a:r>
            <a:endParaRPr lang="en-US" sz="1050" dirty="0"/>
          </a:p>
        </p:txBody>
      </p:sp>
      <p:sp>
        <p:nvSpPr>
          <p:cNvPr id="15" name="Text 12"/>
          <p:cNvSpPr txBox="1"/>
          <p:nvPr/>
        </p:nvSpPr>
        <p:spPr>
          <a:xfrm>
            <a:off x="8229600"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期限一括返済分7.50億円を自己資金で完済したうえで、なお8.42億円が残る。借換えを前提としない設計。</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TAX</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税効果の整理 ― 取れるものと、取れないもの</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本件のキャッシュフローに影響する税務論点を2つに切り分けた。当社は保守的に、確実に取れるものだけを織り込んでいる。</a:t>
            </a:r>
            <a:endParaRPr lang="en-US" sz="1250" dirty="0"/>
          </a:p>
        </p:txBody>
      </p:sp>
      <p:sp>
        <p:nvSpPr>
          <p:cNvPr id="5" name="Shape 3"/>
          <p:cNvSpPr/>
          <p:nvPr/>
        </p:nvSpPr>
        <p:spPr>
          <a:xfrm>
            <a:off x="566928" y="1536192"/>
            <a:ext cx="5440680" cy="2148840"/>
          </a:xfrm>
          <a:prstGeom prst="roundRect">
            <a:avLst>
              <a:gd name="adj" fmla="val 2128"/>
            </a:avLst>
          </a:prstGeom>
          <a:solidFill>
            <a:srgbClr val="FFFFFF"/>
          </a:solidFill>
          <a:ln w="9525">
            <a:solidFill>
              <a:srgbClr val="E4DADD"/>
            </a:solidFill>
            <a:prstDash val="solid"/>
          </a:ln>
        </p:spPr>
      </p:sp>
      <p:sp>
        <p:nvSpPr>
          <p:cNvPr id="6" name="Shape 4"/>
          <p:cNvSpPr/>
          <p:nvPr/>
        </p:nvSpPr>
        <p:spPr>
          <a:xfrm>
            <a:off x="566928" y="1536192"/>
            <a:ext cx="5440680" cy="45720"/>
          </a:xfrm>
          <a:prstGeom prst="rect">
            <a:avLst/>
          </a:prstGeom>
          <a:solidFill>
            <a:srgbClr val="2E6F4E"/>
          </a:solidFill>
          <a:ln/>
        </p:spPr>
      </p:sp>
      <p:sp>
        <p:nvSpPr>
          <p:cNvPr id="7" name="Shape 5"/>
          <p:cNvSpPr/>
          <p:nvPr/>
        </p:nvSpPr>
        <p:spPr>
          <a:xfrm>
            <a:off x="786384" y="1737360"/>
            <a:ext cx="274320" cy="274320"/>
          </a:xfrm>
          <a:prstGeom prst="ellipse">
            <a:avLst/>
          </a:prstGeom>
          <a:solidFill>
            <a:srgbClr val="2E6F4E"/>
          </a:solidFill>
          <a:ln/>
        </p:spPr>
      </p:sp>
      <p:sp>
        <p:nvSpPr>
          <p:cNvPr id="8" name="Text 6"/>
          <p:cNvSpPr txBox="1"/>
          <p:nvPr/>
        </p:nvSpPr>
        <p:spPr>
          <a:xfrm>
            <a:off x="786384"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9" name="Text 7"/>
          <p:cNvSpPr txBox="1"/>
          <p:nvPr/>
        </p:nvSpPr>
        <p:spPr>
          <a:xfrm>
            <a:off x="1170432"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取れる：支払利息の損金算入</a:t>
            </a:r>
            <a:endParaRPr lang="en-US" sz="1500" dirty="0"/>
          </a:p>
        </p:txBody>
      </p:sp>
      <p:sp>
        <p:nvSpPr>
          <p:cNvPr id="10" name="Text 8"/>
          <p:cNvSpPr txBox="1"/>
          <p:nvPr/>
        </p:nvSpPr>
        <p:spPr>
          <a:xfrm>
            <a:off x="786384" y="2139696"/>
            <a:ext cx="502920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SPCが借り入れ、対象会社が利益を稼ぐ状態では、両者の損益は通算できない。クロージング後にSPCと対象会社を合併することで、支払利息が対象会社の営業利益と相殺され、損金算入が可能となる（デット・プッシュダウン）。</a:t>
            </a:r>
            <a:endParaRPr lang="en-US" sz="1000" dirty="0"/>
          </a:p>
        </p:txBody>
      </p:sp>
      <p:sp>
        <p:nvSpPr>
          <p:cNvPr id="11" name="Text 9"/>
          <p:cNvSpPr txBox="1"/>
          <p:nvPr/>
        </p:nvSpPr>
        <p:spPr>
          <a:xfrm>
            <a:off x="786384" y="2999232"/>
            <a:ext cx="502920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効果　</a:t>
            </a:r>
            <a:pPr indent="0" marL="0">
              <a:lnSpc>
                <a:spcPts val="1400"/>
              </a:lnSpc>
              <a:buNone/>
            </a:pPr>
            <a:r>
              <a:rPr lang="en-US" sz="1000" b="1" dirty="0">
                <a:solidFill>
                  <a:srgbClr val="2E6F4E"/>
                </a:solidFill>
                <a:latin typeface="Calibri" pitchFamily="34" charset="0"/>
                <a:ea typeface="Calibri" pitchFamily="34" charset="-122"/>
                <a:cs typeface="Calibri" pitchFamily="34" charset="-120"/>
              </a:rPr>
              <a:t>初年度0.21億円・10年間で1.82億円。DSCRは1.31倍から1.38倍へ改善する。</a:t>
            </a:r>
            <a:endParaRPr lang="en-US" sz="1000" dirty="0"/>
          </a:p>
        </p:txBody>
      </p:sp>
      <p:sp>
        <p:nvSpPr>
          <p:cNvPr id="12" name="Shape 10"/>
          <p:cNvSpPr/>
          <p:nvPr/>
        </p:nvSpPr>
        <p:spPr>
          <a:xfrm>
            <a:off x="6355080" y="1536192"/>
            <a:ext cx="5266944" cy="2148840"/>
          </a:xfrm>
          <a:prstGeom prst="roundRect">
            <a:avLst>
              <a:gd name="adj" fmla="val 2128"/>
            </a:avLst>
          </a:prstGeom>
          <a:solidFill>
            <a:srgbClr val="FFFFFF"/>
          </a:solidFill>
          <a:ln w="9525">
            <a:solidFill>
              <a:srgbClr val="E4DADD"/>
            </a:solidFill>
            <a:prstDash val="solid"/>
          </a:ln>
        </p:spPr>
      </p:sp>
      <p:sp>
        <p:nvSpPr>
          <p:cNvPr id="13" name="Shape 11"/>
          <p:cNvSpPr/>
          <p:nvPr/>
        </p:nvSpPr>
        <p:spPr>
          <a:xfrm>
            <a:off x="6355080" y="1536192"/>
            <a:ext cx="5266944" cy="45720"/>
          </a:xfrm>
          <a:prstGeom prst="rect">
            <a:avLst/>
          </a:prstGeom>
          <a:solidFill>
            <a:srgbClr val="A8741A"/>
          </a:solidFill>
          <a:ln/>
        </p:spPr>
      </p:sp>
      <p:sp>
        <p:nvSpPr>
          <p:cNvPr id="14" name="Shape 12"/>
          <p:cNvSpPr/>
          <p:nvPr/>
        </p:nvSpPr>
        <p:spPr>
          <a:xfrm>
            <a:off x="6574536" y="1737360"/>
            <a:ext cx="274320" cy="274320"/>
          </a:xfrm>
          <a:prstGeom prst="ellipse">
            <a:avLst/>
          </a:prstGeom>
          <a:solidFill>
            <a:srgbClr val="A8741A"/>
          </a:solidFill>
          <a:ln/>
        </p:spPr>
      </p:sp>
      <p:sp>
        <p:nvSpPr>
          <p:cNvPr id="15" name="Text 13"/>
          <p:cNvSpPr txBox="1"/>
          <p:nvPr/>
        </p:nvSpPr>
        <p:spPr>
          <a:xfrm>
            <a:off x="6574536"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16" name="Text 14"/>
          <p:cNvSpPr txBox="1"/>
          <p:nvPr/>
        </p:nvSpPr>
        <p:spPr>
          <a:xfrm>
            <a:off x="6958584"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取れない：資産調整勘定（税務上ののれん）</a:t>
            </a:r>
            <a:endParaRPr lang="en-US" sz="1500" dirty="0"/>
          </a:p>
        </p:txBody>
      </p:sp>
      <p:sp>
        <p:nvSpPr>
          <p:cNvPr id="17" name="Text 15"/>
          <p:cNvSpPr txBox="1"/>
          <p:nvPr/>
        </p:nvSpPr>
        <p:spPr>
          <a:xfrm>
            <a:off x="6574536" y="2139696"/>
            <a:ext cx="484632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譲受代金50.0億円と時価純資産23.15億円の差額26.85億円は、税務上ののれんとして5年で損金算入できれば年5.37億円の効果を持つ。しかし資産調整勘定は非適格の組織再編または事業の譲受けにおいてのみ生じる（法人税法62条の8）。</a:t>
            </a:r>
            <a:endParaRPr lang="en-US" sz="1000" dirty="0"/>
          </a:p>
        </p:txBody>
      </p:sp>
      <p:sp>
        <p:nvSpPr>
          <p:cNvPr id="18" name="Text 16"/>
          <p:cNvSpPr txBox="1"/>
          <p:nvPr/>
        </p:nvSpPr>
        <p:spPr>
          <a:xfrm>
            <a:off x="6574536" y="2999232"/>
            <a:ext cx="484632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本件は　</a:t>
            </a:r>
            <a:pPr indent="0" marL="0">
              <a:lnSpc>
                <a:spcPts val="1400"/>
              </a:lnSpc>
              <a:buNone/>
            </a:pPr>
            <a:r>
              <a:rPr lang="en-US" sz="1000" b="1" dirty="0">
                <a:solidFill>
                  <a:srgbClr val="A8741A"/>
                </a:solidFill>
                <a:latin typeface="Calibri" pitchFamily="34" charset="0"/>
                <a:ea typeface="Calibri" pitchFamily="34" charset="-122"/>
                <a:cs typeface="Calibri" pitchFamily="34" charset="-120"/>
              </a:rPr>
              <a:t>SPCが100%子会社化したうえでの合併＝適格合併に該当し、資産は帳簿価額で引き継がれる。したがって生じない。</a:t>
            </a:r>
            <a:endParaRPr lang="en-US" sz="1000" dirty="0"/>
          </a:p>
        </p:txBody>
      </p:sp>
      <p:sp>
        <p:nvSpPr>
          <p:cNvPr id="19" name="Text 17"/>
          <p:cNvSpPr txBox="1"/>
          <p:nvPr/>
        </p:nvSpPr>
        <p:spPr>
          <a:xfrm>
            <a:off x="566928" y="3877056"/>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DSCRの内訳</a:t>
            </a:r>
            <a:endParaRPr lang="en-US" sz="13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4187952"/>
          <a:ext cx="11055096" cy="914400"/>
        </p:xfrm>
        <a:graphic>
          <a:graphicData uri="http://schemas.openxmlformats.org/drawingml/2006/table">
            <a:tbl>
              <a:tblPr/>
              <a:tblGrid>
                <a:gridCol w="2651760"/>
                <a:gridCol w="1600200"/>
                <a:gridCol w="680313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内容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当初モデル</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FCF 3.50億円（営業利益×(1−実効税率34%)）を返済原資とし、税効果も設備投資も織り込まない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支払利息の損金算入</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合併により支払利息0.75億円が損金となり、法人税が年0.21億円減少する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 維持更新投資の計上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開示資料は設備投資ゼロだが、店舗の経年を踏まえ年0.30億円を保守的に見込んだ</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当社が採用する前提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借入25.0億円・10年・金利3%。資産調整勘定は織り込まない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Text 18"/>
          <p:cNvSpPr txBox="1"/>
          <p:nvPr/>
        </p:nvSpPr>
        <p:spPr>
          <a:xfrm>
            <a:off x="566928" y="6181344"/>
            <a:ext cx="11055096"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事業譲渡型とすれば資産調整勘定を計上できるが、売主に多額の譲渡益課税が生じ、飲食店営業許可の再取得と全取引契約の再締結を要するため、本件では採用しない。仮に計上できた場合、初年度DSCRは2.03倍となる。</a:t>
            </a:r>
            <a:endParaRPr lang="en-US" sz="900" dirty="0"/>
          </a:p>
        </p:txBody>
      </p:sp>
      <p:sp>
        <p:nvSpPr>
          <p:cNvPr id="22" name="Text 19"/>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20"/>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FUNDING PROPOSAL</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ご相談 ― 総額を変えずに、ブリッジを恒久ローンへ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みずほ銀行様への総ご相談額41.4億円は案1と案2で変わらない。内訳を組み替えるだけで、DSCRと対象会社の手元資金がともに改善する。</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154680"/>
                <a:gridCol w="2633472"/>
                <a:gridCol w="2633472"/>
                <a:gridCol w="2633472"/>
              </a:tblGrid>
              <a:tr h="27432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案1　当初案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案2　ご相談したい案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案3　55億円で決着した場合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恒久タームローン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返済期間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7年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内訳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TLA14.0／TLB6.0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TLA17.5／TLB7.5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TLA19.5／TLB10.5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総ご相談額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初年度DSCR</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1.31倍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Debt／EBITDA</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3.78倍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5.67倍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対象会社に留保する現金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初年度末の現金残高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0.66億円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完済時の現金残高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0.28億円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8.42億円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中野氏の拠出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追加投資家の要否</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2E6F4E"/>
                          </a:solidFill>
                          <a:latin typeface="Calibri" pitchFamily="34" charset="0"/>
                          <a:ea typeface="Calibri" pitchFamily="34" charset="-122"/>
                          <a:cs typeface="Calibri" pitchFamily="34" charset="-120"/>
                        </a:rPr>
                        <a:t>不要（案2＋5.0億円で対応）</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5340096"/>
            <a:ext cx="3520440" cy="896112"/>
          </a:xfrm>
          <a:prstGeom prst="roundRect">
            <a:avLst>
              <a:gd name="adj" fmla="val 5102"/>
            </a:avLst>
          </a:prstGeom>
          <a:solidFill>
            <a:srgbClr val="F7F3F4"/>
          </a:solidFill>
          <a:ln w="9525">
            <a:solidFill>
              <a:srgbClr val="E4DADD"/>
            </a:solidFill>
            <a:prstDash val="solid"/>
          </a:ln>
        </p:spPr>
      </p:sp>
      <p:sp>
        <p:nvSpPr>
          <p:cNvPr id="7" name="Text 4"/>
          <p:cNvSpPr txBox="1"/>
          <p:nvPr/>
        </p:nvSpPr>
        <p:spPr>
          <a:xfrm>
            <a:off x="768096"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なぜ総額が変わらないのか</a:t>
            </a:r>
            <a:endParaRPr lang="en-US" sz="1050" dirty="0"/>
          </a:p>
        </p:txBody>
      </p:sp>
      <p:sp>
        <p:nvSpPr>
          <p:cNvPr id="8" name="Text 5"/>
          <p:cNvSpPr txBox="1"/>
          <p:nvPr/>
        </p:nvSpPr>
        <p:spPr>
          <a:xfrm>
            <a:off x="768096"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一時的な立替えである。恒久ローンを5.0億円増やせば、その分ブリッジが5.0億円減る。みずほ銀行様のエクスポージャーは41.4億円のまま変わらない。</a:t>
            </a:r>
            <a:endParaRPr lang="en-US" sz="800" dirty="0"/>
          </a:p>
        </p:txBody>
      </p:sp>
      <p:sp>
        <p:nvSpPr>
          <p:cNvPr id="9" name="Shape 6"/>
          <p:cNvSpPr/>
          <p:nvPr/>
        </p:nvSpPr>
        <p:spPr>
          <a:xfrm>
            <a:off x="4297680" y="5340096"/>
            <a:ext cx="3520440" cy="896112"/>
          </a:xfrm>
          <a:prstGeom prst="roundRect">
            <a:avLst>
              <a:gd name="adj" fmla="val 5102"/>
            </a:avLst>
          </a:prstGeom>
          <a:solidFill>
            <a:srgbClr val="F7F3F4"/>
          </a:solidFill>
          <a:ln w="9525">
            <a:solidFill>
              <a:srgbClr val="E4DADD"/>
            </a:solidFill>
            <a:prstDash val="solid"/>
          </a:ln>
        </p:spPr>
      </p:sp>
      <p:sp>
        <p:nvSpPr>
          <p:cNvPr id="10" name="Text 7"/>
          <p:cNvSpPr txBox="1"/>
          <p:nvPr/>
        </p:nvSpPr>
        <p:spPr>
          <a:xfrm>
            <a:off x="4498848"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なぜDSCRが上がるのか</a:t>
            </a:r>
            <a:endParaRPr lang="en-US" sz="1050" dirty="0"/>
          </a:p>
        </p:txBody>
      </p:sp>
      <p:sp>
        <p:nvSpPr>
          <p:cNvPr id="11" name="Text 8"/>
          <p:cNvSpPr txBox="1"/>
          <p:nvPr/>
        </p:nvSpPr>
        <p:spPr>
          <a:xfrm>
            <a:off x="4498848"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借入額は5.0億円増えるが、返済期間が7年から10年に延びるため、年間の元本返済は2.00億円から1.75億円へ減少する。増加する利息0.15億円を差し引いても、返済負担は年0.10億円軽くなる。</a:t>
            </a:r>
            <a:endParaRPr lang="en-US" sz="800" dirty="0"/>
          </a:p>
        </p:txBody>
      </p:sp>
      <p:sp>
        <p:nvSpPr>
          <p:cNvPr id="12" name="Shape 9"/>
          <p:cNvSpPr/>
          <p:nvPr/>
        </p:nvSpPr>
        <p:spPr>
          <a:xfrm>
            <a:off x="8028432" y="5340096"/>
            <a:ext cx="3520440" cy="896112"/>
          </a:xfrm>
          <a:prstGeom prst="roundRect">
            <a:avLst>
              <a:gd name="adj" fmla="val 5102"/>
            </a:avLst>
          </a:prstGeom>
          <a:solidFill>
            <a:srgbClr val="F7F3F4"/>
          </a:solidFill>
          <a:ln w="9525">
            <a:solidFill>
              <a:srgbClr val="E4DADD"/>
            </a:solidFill>
            <a:prstDash val="solid"/>
          </a:ln>
        </p:spPr>
      </p:sp>
      <p:sp>
        <p:nvSpPr>
          <p:cNvPr id="13" name="Text 10"/>
          <p:cNvSpPr txBox="1"/>
          <p:nvPr/>
        </p:nvSpPr>
        <p:spPr>
          <a:xfrm>
            <a:off x="8229600"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なぜ対象会社の手元が厚くなるのか</a:t>
            </a:r>
            <a:endParaRPr lang="en-US" sz="1050" dirty="0"/>
          </a:p>
        </p:txBody>
      </p:sp>
      <p:sp>
        <p:nvSpPr>
          <p:cNvPr id="14" name="Text 11"/>
          <p:cNvSpPr txBox="1"/>
          <p:nvPr/>
        </p:nvSpPr>
        <p:spPr>
          <a:xfrm>
            <a:off x="8229600"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案1では買収時に対象会社の現金をほぼ全額引き上げるため、初年度2月末の残高は0.19億円（固定費1.0か月分）まで落ちる。案2では6.0億円を残せるため、突発的な修繕やワインの一括仕入にも対応できる。</a:t>
            </a:r>
            <a:endParaRPr lang="en-US" sz="800" dirty="0"/>
          </a:p>
        </p:txBody>
      </p:sp>
      <p:sp>
        <p:nvSpPr>
          <p:cNvPr id="15" name="Text 1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6" name="Text 1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③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収益が悪化した場合の返済可能性と、ご提案できる保全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推奨ストラクチャー（TLA 14.0億円＋TLB 6.0億円／7年・金利3%・毎月返済）に対し、4つのシナリオで返済可能性を検証した。</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1.36〜1.58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全期間で1.36以上。累積余剰7.75億円で期限一括6.00億円も完済できる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営業利益▲21%（p.15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1.07〜1.25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元利返済は全期間で継続できる。累積余剰2.57億円のため、期限一括6.00億円はリファイナンスを要する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0.84〜1.43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4〜7年の累積不足1.21億円は、3年目末までの累積余剰2.96億円で吸収できる。期限一括分はリファイナンスを要する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0.42〜1.43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累積不足5.21億円。3年目末の余剰2.96億円と留保現金1.00億円では不足し、追加の支援を要する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133088"/>
            <a:ext cx="5440680" cy="1444752"/>
          </a:xfrm>
          <a:prstGeom prst="roundRect">
            <a:avLst>
              <a:gd name="adj" fmla="val 3165"/>
            </a:avLst>
          </a:prstGeom>
          <a:solidFill>
            <a:srgbClr val="F7F3F4"/>
          </a:solidFill>
          <a:ln w="9525">
            <a:solidFill>
              <a:srgbClr val="E4DADD"/>
            </a:solidFill>
            <a:prstDash val="solid"/>
          </a:ln>
        </p:spPr>
      </p:sp>
      <p:sp>
        <p:nvSpPr>
          <p:cNvPr id="7" name="Text 4"/>
          <p:cNvSpPr txBox="1"/>
          <p:nvPr/>
        </p:nvSpPr>
        <p:spPr>
          <a:xfrm>
            <a:off x="786384" y="424281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48056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有利子負債（合併後）</a:t>
            </a:r>
            <a:endParaRPr lang="en-US" sz="1000" dirty="0"/>
          </a:p>
        </p:txBody>
      </p:sp>
      <p:sp>
        <p:nvSpPr>
          <p:cNvPr id="9" name="Text 6"/>
          <p:cNvSpPr txBox="1"/>
          <p:nvPr/>
        </p:nvSpPr>
        <p:spPr>
          <a:xfrm>
            <a:off x="3813048" y="448056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75488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75488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p>
        </p:txBody>
      </p:sp>
      <p:sp>
        <p:nvSpPr>
          <p:cNvPr id="12" name="Text 9"/>
          <p:cNvSpPr txBox="1"/>
          <p:nvPr/>
        </p:nvSpPr>
        <p:spPr>
          <a:xfrm>
            <a:off x="786384" y="502920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502920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19.00億円（3.6倍）</a:t>
            </a:r>
            <a:endParaRPr lang="en-US" sz="1100" dirty="0"/>
          </a:p>
        </p:txBody>
      </p:sp>
      <p:sp>
        <p:nvSpPr>
          <p:cNvPr id="14" name="Text 11"/>
          <p:cNvSpPr txBox="1"/>
          <p:nvPr/>
        </p:nvSpPr>
        <p:spPr>
          <a:xfrm>
            <a:off x="786384" y="5321808"/>
            <a:ext cx="4983480" cy="219456"/>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ブリッジローン21.43億円は合併直後に全額返済される。</a:t>
            </a:r>
            <a:endParaRPr lang="en-US" sz="950" dirty="0"/>
          </a:p>
        </p:txBody>
      </p:sp>
      <p:sp>
        <p:nvSpPr>
          <p:cNvPr id="15" name="Shape 12"/>
          <p:cNvSpPr/>
          <p:nvPr/>
        </p:nvSpPr>
        <p:spPr>
          <a:xfrm>
            <a:off x="6199632" y="4133088"/>
            <a:ext cx="5422392" cy="1444752"/>
          </a:xfrm>
          <a:prstGeom prst="roundRect">
            <a:avLst>
              <a:gd name="adj" fmla="val 3165"/>
            </a:avLst>
          </a:prstGeom>
          <a:solidFill>
            <a:srgbClr val="FFFFFF"/>
          </a:solidFill>
          <a:ln w="9525">
            <a:solidFill>
              <a:srgbClr val="E4DADD"/>
            </a:solidFill>
            <a:prstDash val="solid"/>
          </a:ln>
        </p:spPr>
      </p:sp>
      <p:sp>
        <p:nvSpPr>
          <p:cNvPr id="16" name="Text 13"/>
          <p:cNvSpPr txBox="1"/>
          <p:nvPr/>
        </p:nvSpPr>
        <p:spPr>
          <a:xfrm>
            <a:off x="6419088" y="424281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480560"/>
            <a:ext cx="4983480" cy="1060704"/>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タームローンB完済までの配当・自己株取得の制限　⑤ 超過キャッシュフローの50%をタームローンBへ充当（キャッシュスイープ）　⑥ 岸田氏の退任・料理長交代・ミシュラン評価変動の報告義務　⑦ サントリー・ファインズとの取引条件変更時の報告義務　⑧ 中野氏の株主貸付の劣後化</a:t>
            </a:r>
            <a:endParaRPr lang="en-US" sz="900" dirty="0"/>
          </a:p>
        </p:txBody>
      </p:sp>
      <p:sp>
        <p:nvSpPr>
          <p:cNvPr id="18" name="Shape 15"/>
          <p:cNvSpPr/>
          <p:nvPr/>
        </p:nvSpPr>
        <p:spPr>
          <a:xfrm>
            <a:off x="566928" y="5724144"/>
            <a:ext cx="11055096" cy="548640"/>
          </a:xfrm>
          <a:prstGeom prst="roundRect">
            <a:avLst>
              <a:gd name="adj" fmla="val 6667"/>
            </a:avLst>
          </a:prstGeom>
          <a:solidFill>
            <a:srgbClr val="6D2E46"/>
          </a:solidFill>
          <a:ln/>
        </p:spPr>
      </p:sp>
      <p:sp>
        <p:nvSpPr>
          <p:cNvPr id="19" name="Text 16"/>
          <p:cNvSpPr txBox="1"/>
          <p:nvPr/>
        </p:nvSpPr>
        <p:spPr>
          <a:xfrm>
            <a:off x="804672" y="5779008"/>
            <a:ext cx="10579608" cy="438912"/>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11.0億円＋TLB 9.0億円で初年度DSCR 1.26倍を確保できるものの、5年後に9.00億円のリファイナンスが必要になる。7年を許容いただけるかが、20.00億円を自力返済で完結させられるかの分岐点となる。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55億円超で説明困難（p.13）</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当社は2024年6月、創業40年を超えるグランメゾンを取得した。39年間にわたり赤字が続き、40年目にようやく黒字化した店を引き継ぎ、2年間で売上30%増・営業利益250%超の増加を実現している。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＋250%超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＋250%超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250%超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55億円は三つ星維持確率78%、57.4億円は100%を前提とする。60億円は説明できない。譲受価額は50〜55億円のレンジで提示する。</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貴行にお願いしたいこと</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クロージング時のタームローン20.00億円とブリッジローン21.43億円、計41.43億円。ブリッジは合併直後に対象会社の余剰現金で全額返済され、以後の有利子負債は20.00億円・初年度DSCR1.36倍となります。</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・2025/12期まではIM記載の決算数値。2026/12期はIM p.40の会社計画。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・買収ファイナンスは、クロージング時にタームローン20.00億円＋ブリッジローン21.43億円の計41.43億円。ブリッジは合併直後に対象会社の余剰現金で全額返済し、以後の有利子負債は20.00億円。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・返済はタームローンA 14.00億円を7年・金利3%・元金均等で毎月、タームローンB 6.00億円は期限一括。対象会社に留保する運転資金は1.00億円。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・p.24の株式会社アピシウスに関する計数は、同社の取得時（2024年6月）と2026年時点との比較。売上高・営業利益はいずれも取得前比。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買収案件 銀行ご提出用資料</dc:title>
  <dc:subject>PptxGenJS Presentation</dc:subject>
  <dc:creator>株式会社WineBank</dc:creator>
  <cp:lastModifiedBy>株式会社WineBank</cp:lastModifiedBy>
  <cp:revision>1</cp:revision>
  <dcterms:created xsi:type="dcterms:W3CDTF">2026-09-25T06:30:27Z</dcterms:created>
  <dcterms:modified xsi:type="dcterms:W3CDTF">2026-09-25T06:30:27Z</dcterms:modified>
</cp:coreProperties>
</file>