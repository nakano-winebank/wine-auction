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『ミシュランガイド東京』は2007年創刊、2026年版で19版目。創刊号から19年連続で三つ星を維持しているのは、かんだ／ガストロノミー ジョエル・ロブション／カンテサンスの3軒のみ（2018年版時点で11年連続は4軒、うちすきやばし次郎は2020年版より掲載対象外）。岸田周三氏は創刊号で33歳、当時最年少での三つ星獲得。開業以来おまかせ一コースのみ。2021年ミシュラン グリーンスター獲得。東京は19年連続で星付き店数世界一（三つ星12軒、パリ10軒、ニューヨーク5軒）。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みずほ銀行 御中 ／ 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カンテサンス</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買収案件のご相談</a:t>
            </a:r>
            <a:endParaRPr lang="en-US" sz="40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50〜55億円</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EV/EBITDA 5.2〜6.2倍</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ご相談額</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41.4億円</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ターム20.0＋ブリッジ21.4</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1.36倍</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合併後の有利子負債20.0億円</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対象会社の概要、譲受価額の妥当性、買収ストラクチャー、返済可能性を一冊にまとめたものです。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2026年9月20日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0E14"/>
        </a:solidFill>
      </p:bgPr>
    </p:bg>
    <p:spTree>
      <p:nvGrpSpPr>
        <p:cNvPr id="1" name=""/>
        <p:cNvGrpSpPr/>
        <p:nvPr/>
      </p:nvGrpSpPr>
      <p:grpSpPr>
        <a:xfrm>
          <a:off x="0" y="0"/>
          <a:ext cx="0" cy="0"/>
          <a:chOff x="0" y="0"/>
          <a:chExt cx="0" cy="0"/>
        </a:xfrm>
      </p:grpSpPr>
      <p:sp>
        <p:nvSpPr>
          <p:cNvPr id="2" name="Shape 0"/>
          <p:cNvSpPr/>
          <p:nvPr/>
        </p:nvSpPr>
        <p:spPr>
          <a:xfrm>
            <a:off x="9418320" y="-3840480"/>
            <a:ext cx="7132320" cy="7132320"/>
          </a:xfrm>
          <a:prstGeom prst="ellipse">
            <a:avLst/>
          </a:prstGeom>
          <a:solidFill>
            <a:srgbClr val="6D2E46"/>
          </a:solidFill>
          <a:ln/>
        </p:spPr>
      </p:sp>
      <p:sp>
        <p:nvSpPr>
          <p:cNvPr id="3" name="Shape 1"/>
          <p:cNvSpPr/>
          <p:nvPr/>
        </p:nvSpPr>
        <p:spPr>
          <a:xfrm>
            <a:off x="-2743200" y="4754880"/>
            <a:ext cx="5852160" cy="5852160"/>
          </a:xfrm>
          <a:prstGeom prst="ellipse">
            <a:avLst/>
          </a:prstGeom>
          <a:solidFill>
            <a:srgbClr val="6D2E46"/>
          </a:solidFill>
          <a:ln/>
        </p:spPr>
      </p:sp>
      <p:sp>
        <p:nvSpPr>
          <p:cNvPr id="4" name="Text 2"/>
          <p:cNvSpPr txBox="1"/>
          <p:nvPr/>
        </p:nvSpPr>
        <p:spPr>
          <a:xfrm>
            <a:off x="566928" y="365760"/>
            <a:ext cx="9144000" cy="237744"/>
          </a:xfrm>
          <a:prstGeom prst="rect">
            <a:avLst/>
          </a:prstGeom>
          <a:noFill/>
          <a:ln/>
        </p:spPr>
        <p:txBody>
          <a:bodyPr wrap="square" lIns="0" tIns="0" rIns="0" bIns="0" rtlCol="0" anchor="ctr"/>
          <a:lstStyle/>
          <a:p>
            <a:pPr indent="0" marL="0">
              <a:buNone/>
            </a:pPr>
            <a:r>
              <a:rPr lang="en-US" sz="1100" b="1" spc="160" kern="0" dirty="0">
                <a:solidFill>
                  <a:srgbClr val="E0B94A"/>
                </a:solidFill>
                <a:latin typeface="Calibri" pitchFamily="34" charset="0"/>
                <a:ea typeface="Calibri" pitchFamily="34" charset="-122"/>
                <a:cs typeface="Calibri" pitchFamily="34" charset="-120"/>
              </a:rPr>
              <a:t>QUINTESSENCE　／　カンテサンス（東京・品川御殿山）</a:t>
            </a:r>
            <a:endParaRPr lang="en-US" sz="1100" dirty="0"/>
          </a:p>
        </p:txBody>
      </p:sp>
      <p:sp>
        <p:nvSpPr>
          <p:cNvPr id="5" name="Text 3"/>
          <p:cNvSpPr txBox="1"/>
          <p:nvPr/>
        </p:nvSpPr>
        <p:spPr>
          <a:xfrm>
            <a:off x="566928" y="640080"/>
            <a:ext cx="11055096" cy="694944"/>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創刊号から、ずっと三つ星。</a:t>
            </a:r>
            <a:endParaRPr lang="en-US" sz="4400" dirty="0"/>
          </a:p>
        </p:txBody>
      </p:sp>
      <p:sp>
        <p:nvSpPr>
          <p:cNvPr id="6" name="Text 4"/>
          <p:cNvSpPr txBox="1"/>
          <p:nvPr/>
        </p:nvSpPr>
        <p:spPr>
          <a:xfrm>
            <a:off x="566928" y="1389888"/>
            <a:ext cx="11055096" cy="292608"/>
          </a:xfrm>
          <a:prstGeom prst="rect">
            <a:avLst/>
          </a:prstGeom>
          <a:noFill/>
          <a:ln/>
        </p:spPr>
        <p:txBody>
          <a:bodyPr wrap="square" lIns="0" tIns="0" rIns="0" bIns="0" rtlCol="0" anchor="ctr"/>
          <a:lstStyle/>
          <a:p>
            <a:pPr indent="0" marL="0">
              <a:buNone/>
            </a:pPr>
            <a:r>
              <a:rPr lang="en-US" sz="1300" dirty="0">
                <a:solidFill>
                  <a:srgbClr val="D6C6CB"/>
                </a:solidFill>
                <a:latin typeface="Calibri" pitchFamily="34" charset="0"/>
                <a:ea typeface="Calibri" pitchFamily="34" charset="-122"/>
                <a:cs typeface="Calibri" pitchFamily="34" charset="-120"/>
              </a:rPr>
              <a:t>『ミシュランガイド東京』は2007年に創刊。2008年版から2026年版までの19版すべてで、カンテサンスは最高評価を保持している。</a:t>
            </a:r>
            <a:endParaRPr lang="en-US" sz="1300" dirty="0"/>
          </a:p>
        </p:txBody>
      </p:sp>
      <p:sp>
        <p:nvSpPr>
          <p:cNvPr id="7" name="Shape 5"/>
          <p:cNvSpPr/>
          <p:nvPr/>
        </p:nvSpPr>
        <p:spPr>
          <a:xfrm>
            <a:off x="841248" y="1847088"/>
            <a:ext cx="182880" cy="182880"/>
          </a:xfrm>
          <a:prstGeom prst="star5">
            <a:avLst/>
          </a:prstGeom>
          <a:solidFill>
            <a:srgbClr val="E0B94A"/>
          </a:solidFill>
          <a:ln/>
        </p:spPr>
      </p:sp>
      <p:sp>
        <p:nvSpPr>
          <p:cNvPr id="8" name="Shape 6"/>
          <p:cNvSpPr/>
          <p:nvPr/>
        </p:nvSpPr>
        <p:spPr>
          <a:xfrm>
            <a:off x="1046988" y="1847088"/>
            <a:ext cx="182880" cy="182880"/>
          </a:xfrm>
          <a:prstGeom prst="star5">
            <a:avLst/>
          </a:prstGeom>
          <a:solidFill>
            <a:srgbClr val="E0B94A"/>
          </a:solidFill>
          <a:ln/>
        </p:spPr>
      </p:sp>
      <p:sp>
        <p:nvSpPr>
          <p:cNvPr id="9" name="Shape 7"/>
          <p:cNvSpPr/>
          <p:nvPr/>
        </p:nvSpPr>
        <p:spPr>
          <a:xfrm>
            <a:off x="1252728" y="1847088"/>
            <a:ext cx="182880" cy="182880"/>
          </a:xfrm>
          <a:prstGeom prst="star5">
            <a:avLst/>
          </a:prstGeom>
          <a:solidFill>
            <a:srgbClr val="E0B94A"/>
          </a:solidFill>
          <a:ln/>
        </p:spPr>
      </p:sp>
      <p:sp>
        <p:nvSpPr>
          <p:cNvPr id="10" name="Text 8"/>
          <p:cNvSpPr txBox="1"/>
          <p:nvPr/>
        </p:nvSpPr>
        <p:spPr>
          <a:xfrm>
            <a:off x="69494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2008</a:t>
            </a:r>
            <a:endParaRPr lang="en-US" sz="800" dirty="0"/>
          </a:p>
        </p:txBody>
      </p:sp>
      <p:sp>
        <p:nvSpPr>
          <p:cNvPr id="11" name="Shape 9"/>
          <p:cNvSpPr/>
          <p:nvPr/>
        </p:nvSpPr>
        <p:spPr>
          <a:xfrm>
            <a:off x="1879092" y="1847088"/>
            <a:ext cx="182880" cy="182880"/>
          </a:xfrm>
          <a:prstGeom prst="star5">
            <a:avLst/>
          </a:prstGeom>
          <a:solidFill>
            <a:srgbClr val="E0B94A"/>
          </a:solidFill>
          <a:ln/>
        </p:spPr>
      </p:sp>
      <p:sp>
        <p:nvSpPr>
          <p:cNvPr id="12" name="Shape 10"/>
          <p:cNvSpPr/>
          <p:nvPr/>
        </p:nvSpPr>
        <p:spPr>
          <a:xfrm>
            <a:off x="2084832" y="1847088"/>
            <a:ext cx="182880" cy="182880"/>
          </a:xfrm>
          <a:prstGeom prst="star5">
            <a:avLst/>
          </a:prstGeom>
          <a:solidFill>
            <a:srgbClr val="E0B94A"/>
          </a:solidFill>
          <a:ln/>
        </p:spPr>
      </p:sp>
      <p:sp>
        <p:nvSpPr>
          <p:cNvPr id="13" name="Shape 11"/>
          <p:cNvSpPr/>
          <p:nvPr/>
        </p:nvSpPr>
        <p:spPr>
          <a:xfrm>
            <a:off x="2290572" y="1847088"/>
            <a:ext cx="182880" cy="182880"/>
          </a:xfrm>
          <a:prstGeom prst="star5">
            <a:avLst/>
          </a:prstGeom>
          <a:solidFill>
            <a:srgbClr val="E0B94A"/>
          </a:solidFill>
          <a:ln/>
        </p:spPr>
      </p:sp>
      <p:sp>
        <p:nvSpPr>
          <p:cNvPr id="14" name="Text 12"/>
          <p:cNvSpPr txBox="1"/>
          <p:nvPr/>
        </p:nvSpPr>
        <p:spPr>
          <a:xfrm>
            <a:off x="173278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2009</a:t>
            </a:r>
            <a:endParaRPr lang="en-US" sz="800" dirty="0"/>
          </a:p>
        </p:txBody>
      </p:sp>
      <p:sp>
        <p:nvSpPr>
          <p:cNvPr id="15" name="Shape 13"/>
          <p:cNvSpPr/>
          <p:nvPr/>
        </p:nvSpPr>
        <p:spPr>
          <a:xfrm>
            <a:off x="2916936" y="1847088"/>
            <a:ext cx="182880" cy="182880"/>
          </a:xfrm>
          <a:prstGeom prst="star5">
            <a:avLst/>
          </a:prstGeom>
          <a:solidFill>
            <a:srgbClr val="E0B94A"/>
          </a:solidFill>
          <a:ln/>
        </p:spPr>
      </p:sp>
      <p:sp>
        <p:nvSpPr>
          <p:cNvPr id="16" name="Shape 14"/>
          <p:cNvSpPr/>
          <p:nvPr/>
        </p:nvSpPr>
        <p:spPr>
          <a:xfrm>
            <a:off x="3122676" y="1847088"/>
            <a:ext cx="182880" cy="182880"/>
          </a:xfrm>
          <a:prstGeom prst="star5">
            <a:avLst/>
          </a:prstGeom>
          <a:solidFill>
            <a:srgbClr val="E0B94A"/>
          </a:solidFill>
          <a:ln/>
        </p:spPr>
      </p:sp>
      <p:sp>
        <p:nvSpPr>
          <p:cNvPr id="17" name="Shape 15"/>
          <p:cNvSpPr/>
          <p:nvPr/>
        </p:nvSpPr>
        <p:spPr>
          <a:xfrm>
            <a:off x="3328416" y="1847088"/>
            <a:ext cx="182880" cy="182880"/>
          </a:xfrm>
          <a:prstGeom prst="star5">
            <a:avLst/>
          </a:prstGeom>
          <a:solidFill>
            <a:srgbClr val="E0B94A"/>
          </a:solidFill>
          <a:ln/>
        </p:spPr>
      </p:sp>
      <p:sp>
        <p:nvSpPr>
          <p:cNvPr id="18" name="Text 16"/>
          <p:cNvSpPr txBox="1"/>
          <p:nvPr/>
        </p:nvSpPr>
        <p:spPr>
          <a:xfrm>
            <a:off x="277063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2010</a:t>
            </a:r>
            <a:endParaRPr lang="en-US" sz="800" dirty="0"/>
          </a:p>
        </p:txBody>
      </p:sp>
      <p:sp>
        <p:nvSpPr>
          <p:cNvPr id="19" name="Shape 17"/>
          <p:cNvSpPr/>
          <p:nvPr/>
        </p:nvSpPr>
        <p:spPr>
          <a:xfrm>
            <a:off x="3954780" y="1847088"/>
            <a:ext cx="182880" cy="182880"/>
          </a:xfrm>
          <a:prstGeom prst="star5">
            <a:avLst/>
          </a:prstGeom>
          <a:solidFill>
            <a:srgbClr val="E0B94A"/>
          </a:solidFill>
          <a:ln/>
        </p:spPr>
      </p:sp>
      <p:sp>
        <p:nvSpPr>
          <p:cNvPr id="20" name="Shape 18"/>
          <p:cNvSpPr/>
          <p:nvPr/>
        </p:nvSpPr>
        <p:spPr>
          <a:xfrm>
            <a:off x="4160520" y="1847088"/>
            <a:ext cx="182880" cy="182880"/>
          </a:xfrm>
          <a:prstGeom prst="star5">
            <a:avLst/>
          </a:prstGeom>
          <a:solidFill>
            <a:srgbClr val="E0B94A"/>
          </a:solidFill>
          <a:ln/>
        </p:spPr>
      </p:sp>
      <p:sp>
        <p:nvSpPr>
          <p:cNvPr id="21" name="Shape 19"/>
          <p:cNvSpPr/>
          <p:nvPr/>
        </p:nvSpPr>
        <p:spPr>
          <a:xfrm>
            <a:off x="4366260" y="1847088"/>
            <a:ext cx="182880" cy="182880"/>
          </a:xfrm>
          <a:prstGeom prst="star5">
            <a:avLst/>
          </a:prstGeom>
          <a:solidFill>
            <a:srgbClr val="E0B94A"/>
          </a:solidFill>
          <a:ln/>
        </p:spPr>
      </p:sp>
      <p:sp>
        <p:nvSpPr>
          <p:cNvPr id="22" name="Text 20"/>
          <p:cNvSpPr txBox="1"/>
          <p:nvPr/>
        </p:nvSpPr>
        <p:spPr>
          <a:xfrm>
            <a:off x="380847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2011</a:t>
            </a:r>
            <a:endParaRPr lang="en-US" sz="800" dirty="0"/>
          </a:p>
        </p:txBody>
      </p:sp>
      <p:sp>
        <p:nvSpPr>
          <p:cNvPr id="23" name="Shape 21"/>
          <p:cNvSpPr/>
          <p:nvPr/>
        </p:nvSpPr>
        <p:spPr>
          <a:xfrm>
            <a:off x="4992624" y="1847088"/>
            <a:ext cx="182880" cy="182880"/>
          </a:xfrm>
          <a:prstGeom prst="star5">
            <a:avLst/>
          </a:prstGeom>
          <a:solidFill>
            <a:srgbClr val="E0B94A"/>
          </a:solidFill>
          <a:ln/>
        </p:spPr>
      </p:sp>
      <p:sp>
        <p:nvSpPr>
          <p:cNvPr id="24" name="Shape 22"/>
          <p:cNvSpPr/>
          <p:nvPr/>
        </p:nvSpPr>
        <p:spPr>
          <a:xfrm>
            <a:off x="5198364" y="1847088"/>
            <a:ext cx="182880" cy="182880"/>
          </a:xfrm>
          <a:prstGeom prst="star5">
            <a:avLst/>
          </a:prstGeom>
          <a:solidFill>
            <a:srgbClr val="E0B94A"/>
          </a:solidFill>
          <a:ln/>
        </p:spPr>
      </p:sp>
      <p:sp>
        <p:nvSpPr>
          <p:cNvPr id="25" name="Shape 23"/>
          <p:cNvSpPr/>
          <p:nvPr/>
        </p:nvSpPr>
        <p:spPr>
          <a:xfrm>
            <a:off x="5404104" y="1847088"/>
            <a:ext cx="182880" cy="182880"/>
          </a:xfrm>
          <a:prstGeom prst="star5">
            <a:avLst/>
          </a:prstGeom>
          <a:solidFill>
            <a:srgbClr val="E0B94A"/>
          </a:solidFill>
          <a:ln/>
        </p:spPr>
      </p:sp>
      <p:sp>
        <p:nvSpPr>
          <p:cNvPr id="26" name="Text 24"/>
          <p:cNvSpPr txBox="1"/>
          <p:nvPr/>
        </p:nvSpPr>
        <p:spPr>
          <a:xfrm>
            <a:off x="484632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2012</a:t>
            </a:r>
            <a:endParaRPr lang="en-US" sz="800" dirty="0"/>
          </a:p>
        </p:txBody>
      </p:sp>
      <p:sp>
        <p:nvSpPr>
          <p:cNvPr id="27" name="Shape 25"/>
          <p:cNvSpPr/>
          <p:nvPr/>
        </p:nvSpPr>
        <p:spPr>
          <a:xfrm>
            <a:off x="6030468" y="1847088"/>
            <a:ext cx="182880" cy="182880"/>
          </a:xfrm>
          <a:prstGeom prst="star5">
            <a:avLst/>
          </a:prstGeom>
          <a:solidFill>
            <a:srgbClr val="E0B94A"/>
          </a:solidFill>
          <a:ln/>
        </p:spPr>
      </p:sp>
      <p:sp>
        <p:nvSpPr>
          <p:cNvPr id="28" name="Shape 26"/>
          <p:cNvSpPr/>
          <p:nvPr/>
        </p:nvSpPr>
        <p:spPr>
          <a:xfrm>
            <a:off x="6236208" y="1847088"/>
            <a:ext cx="182880" cy="182880"/>
          </a:xfrm>
          <a:prstGeom prst="star5">
            <a:avLst/>
          </a:prstGeom>
          <a:solidFill>
            <a:srgbClr val="E0B94A"/>
          </a:solidFill>
          <a:ln/>
        </p:spPr>
      </p:sp>
      <p:sp>
        <p:nvSpPr>
          <p:cNvPr id="29" name="Shape 27"/>
          <p:cNvSpPr/>
          <p:nvPr/>
        </p:nvSpPr>
        <p:spPr>
          <a:xfrm>
            <a:off x="6441948" y="1847088"/>
            <a:ext cx="182880" cy="182880"/>
          </a:xfrm>
          <a:prstGeom prst="star5">
            <a:avLst/>
          </a:prstGeom>
          <a:solidFill>
            <a:srgbClr val="E0B94A"/>
          </a:solidFill>
          <a:ln/>
        </p:spPr>
      </p:sp>
      <p:sp>
        <p:nvSpPr>
          <p:cNvPr id="30" name="Text 28"/>
          <p:cNvSpPr txBox="1"/>
          <p:nvPr/>
        </p:nvSpPr>
        <p:spPr>
          <a:xfrm>
            <a:off x="588416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2013</a:t>
            </a:r>
            <a:endParaRPr lang="en-US" sz="800" dirty="0"/>
          </a:p>
        </p:txBody>
      </p:sp>
      <p:sp>
        <p:nvSpPr>
          <p:cNvPr id="31" name="Shape 29"/>
          <p:cNvSpPr/>
          <p:nvPr/>
        </p:nvSpPr>
        <p:spPr>
          <a:xfrm>
            <a:off x="7068312" y="1847088"/>
            <a:ext cx="182880" cy="182880"/>
          </a:xfrm>
          <a:prstGeom prst="star5">
            <a:avLst/>
          </a:prstGeom>
          <a:solidFill>
            <a:srgbClr val="E0B94A"/>
          </a:solidFill>
          <a:ln/>
        </p:spPr>
      </p:sp>
      <p:sp>
        <p:nvSpPr>
          <p:cNvPr id="32" name="Shape 30"/>
          <p:cNvSpPr/>
          <p:nvPr/>
        </p:nvSpPr>
        <p:spPr>
          <a:xfrm>
            <a:off x="7274052" y="1847088"/>
            <a:ext cx="182880" cy="182880"/>
          </a:xfrm>
          <a:prstGeom prst="star5">
            <a:avLst/>
          </a:prstGeom>
          <a:solidFill>
            <a:srgbClr val="E0B94A"/>
          </a:solidFill>
          <a:ln/>
        </p:spPr>
      </p:sp>
      <p:sp>
        <p:nvSpPr>
          <p:cNvPr id="33" name="Shape 31"/>
          <p:cNvSpPr/>
          <p:nvPr/>
        </p:nvSpPr>
        <p:spPr>
          <a:xfrm>
            <a:off x="7479792" y="1847088"/>
            <a:ext cx="182880" cy="182880"/>
          </a:xfrm>
          <a:prstGeom prst="star5">
            <a:avLst/>
          </a:prstGeom>
          <a:solidFill>
            <a:srgbClr val="E0B94A"/>
          </a:solidFill>
          <a:ln/>
        </p:spPr>
      </p:sp>
      <p:sp>
        <p:nvSpPr>
          <p:cNvPr id="34" name="Text 32"/>
          <p:cNvSpPr txBox="1"/>
          <p:nvPr/>
        </p:nvSpPr>
        <p:spPr>
          <a:xfrm>
            <a:off x="692200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2014</a:t>
            </a:r>
            <a:endParaRPr lang="en-US" sz="800" dirty="0"/>
          </a:p>
        </p:txBody>
      </p:sp>
      <p:sp>
        <p:nvSpPr>
          <p:cNvPr id="35" name="Shape 33"/>
          <p:cNvSpPr/>
          <p:nvPr/>
        </p:nvSpPr>
        <p:spPr>
          <a:xfrm>
            <a:off x="8106156" y="1847088"/>
            <a:ext cx="182880" cy="182880"/>
          </a:xfrm>
          <a:prstGeom prst="star5">
            <a:avLst/>
          </a:prstGeom>
          <a:solidFill>
            <a:srgbClr val="E0B94A"/>
          </a:solidFill>
          <a:ln/>
        </p:spPr>
      </p:sp>
      <p:sp>
        <p:nvSpPr>
          <p:cNvPr id="36" name="Shape 34"/>
          <p:cNvSpPr/>
          <p:nvPr/>
        </p:nvSpPr>
        <p:spPr>
          <a:xfrm>
            <a:off x="8311896" y="1847088"/>
            <a:ext cx="182880" cy="182880"/>
          </a:xfrm>
          <a:prstGeom prst="star5">
            <a:avLst/>
          </a:prstGeom>
          <a:solidFill>
            <a:srgbClr val="E0B94A"/>
          </a:solidFill>
          <a:ln/>
        </p:spPr>
      </p:sp>
      <p:sp>
        <p:nvSpPr>
          <p:cNvPr id="37" name="Shape 35"/>
          <p:cNvSpPr/>
          <p:nvPr/>
        </p:nvSpPr>
        <p:spPr>
          <a:xfrm>
            <a:off x="8517636" y="1847088"/>
            <a:ext cx="182880" cy="182880"/>
          </a:xfrm>
          <a:prstGeom prst="star5">
            <a:avLst/>
          </a:prstGeom>
          <a:solidFill>
            <a:srgbClr val="E0B94A"/>
          </a:solidFill>
          <a:ln/>
        </p:spPr>
      </p:sp>
      <p:sp>
        <p:nvSpPr>
          <p:cNvPr id="38" name="Text 36"/>
          <p:cNvSpPr txBox="1"/>
          <p:nvPr/>
        </p:nvSpPr>
        <p:spPr>
          <a:xfrm>
            <a:off x="795985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2015</a:t>
            </a:r>
            <a:endParaRPr lang="en-US" sz="800" dirty="0"/>
          </a:p>
        </p:txBody>
      </p:sp>
      <p:sp>
        <p:nvSpPr>
          <p:cNvPr id="39" name="Shape 37"/>
          <p:cNvSpPr/>
          <p:nvPr/>
        </p:nvSpPr>
        <p:spPr>
          <a:xfrm>
            <a:off x="9144000" y="1847088"/>
            <a:ext cx="182880" cy="182880"/>
          </a:xfrm>
          <a:prstGeom prst="star5">
            <a:avLst/>
          </a:prstGeom>
          <a:solidFill>
            <a:srgbClr val="E0B94A"/>
          </a:solidFill>
          <a:ln/>
        </p:spPr>
      </p:sp>
      <p:sp>
        <p:nvSpPr>
          <p:cNvPr id="40" name="Shape 38"/>
          <p:cNvSpPr/>
          <p:nvPr/>
        </p:nvSpPr>
        <p:spPr>
          <a:xfrm>
            <a:off x="9349740" y="1847088"/>
            <a:ext cx="182880" cy="182880"/>
          </a:xfrm>
          <a:prstGeom prst="star5">
            <a:avLst/>
          </a:prstGeom>
          <a:solidFill>
            <a:srgbClr val="E0B94A"/>
          </a:solidFill>
          <a:ln/>
        </p:spPr>
      </p:sp>
      <p:sp>
        <p:nvSpPr>
          <p:cNvPr id="41" name="Shape 39"/>
          <p:cNvSpPr/>
          <p:nvPr/>
        </p:nvSpPr>
        <p:spPr>
          <a:xfrm>
            <a:off x="9555480" y="1847088"/>
            <a:ext cx="182880" cy="182880"/>
          </a:xfrm>
          <a:prstGeom prst="star5">
            <a:avLst/>
          </a:prstGeom>
          <a:solidFill>
            <a:srgbClr val="E0B94A"/>
          </a:solidFill>
          <a:ln/>
        </p:spPr>
      </p:sp>
      <p:sp>
        <p:nvSpPr>
          <p:cNvPr id="42" name="Text 40"/>
          <p:cNvSpPr txBox="1"/>
          <p:nvPr/>
        </p:nvSpPr>
        <p:spPr>
          <a:xfrm>
            <a:off x="899769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2016</a:t>
            </a:r>
            <a:endParaRPr lang="en-US" sz="800" dirty="0"/>
          </a:p>
        </p:txBody>
      </p:sp>
      <p:sp>
        <p:nvSpPr>
          <p:cNvPr id="43" name="Shape 41"/>
          <p:cNvSpPr/>
          <p:nvPr/>
        </p:nvSpPr>
        <p:spPr>
          <a:xfrm>
            <a:off x="10181844" y="1847088"/>
            <a:ext cx="182880" cy="182880"/>
          </a:xfrm>
          <a:prstGeom prst="star5">
            <a:avLst/>
          </a:prstGeom>
          <a:solidFill>
            <a:srgbClr val="E0B94A"/>
          </a:solidFill>
          <a:ln/>
        </p:spPr>
      </p:sp>
      <p:sp>
        <p:nvSpPr>
          <p:cNvPr id="44" name="Shape 42"/>
          <p:cNvSpPr/>
          <p:nvPr/>
        </p:nvSpPr>
        <p:spPr>
          <a:xfrm>
            <a:off x="10387584" y="1847088"/>
            <a:ext cx="182880" cy="182880"/>
          </a:xfrm>
          <a:prstGeom prst="star5">
            <a:avLst/>
          </a:prstGeom>
          <a:solidFill>
            <a:srgbClr val="E0B94A"/>
          </a:solidFill>
          <a:ln/>
        </p:spPr>
      </p:sp>
      <p:sp>
        <p:nvSpPr>
          <p:cNvPr id="45" name="Shape 43"/>
          <p:cNvSpPr/>
          <p:nvPr/>
        </p:nvSpPr>
        <p:spPr>
          <a:xfrm>
            <a:off x="10593324" y="1847088"/>
            <a:ext cx="182880" cy="182880"/>
          </a:xfrm>
          <a:prstGeom prst="star5">
            <a:avLst/>
          </a:prstGeom>
          <a:solidFill>
            <a:srgbClr val="E0B94A"/>
          </a:solidFill>
          <a:ln/>
        </p:spPr>
      </p:sp>
      <p:sp>
        <p:nvSpPr>
          <p:cNvPr id="46" name="Text 44"/>
          <p:cNvSpPr txBox="1"/>
          <p:nvPr/>
        </p:nvSpPr>
        <p:spPr>
          <a:xfrm>
            <a:off x="1003554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2017</a:t>
            </a:r>
            <a:endParaRPr lang="en-US" sz="800" dirty="0"/>
          </a:p>
        </p:txBody>
      </p:sp>
      <p:sp>
        <p:nvSpPr>
          <p:cNvPr id="47" name="Shape 45"/>
          <p:cNvSpPr/>
          <p:nvPr/>
        </p:nvSpPr>
        <p:spPr>
          <a:xfrm>
            <a:off x="841248" y="2395728"/>
            <a:ext cx="182880" cy="182880"/>
          </a:xfrm>
          <a:prstGeom prst="star5">
            <a:avLst/>
          </a:prstGeom>
          <a:solidFill>
            <a:srgbClr val="E0B94A"/>
          </a:solidFill>
          <a:ln/>
        </p:spPr>
      </p:sp>
      <p:sp>
        <p:nvSpPr>
          <p:cNvPr id="48" name="Shape 46"/>
          <p:cNvSpPr/>
          <p:nvPr/>
        </p:nvSpPr>
        <p:spPr>
          <a:xfrm>
            <a:off x="1046988" y="2395728"/>
            <a:ext cx="182880" cy="182880"/>
          </a:xfrm>
          <a:prstGeom prst="star5">
            <a:avLst/>
          </a:prstGeom>
          <a:solidFill>
            <a:srgbClr val="E0B94A"/>
          </a:solidFill>
          <a:ln/>
        </p:spPr>
      </p:sp>
      <p:sp>
        <p:nvSpPr>
          <p:cNvPr id="49" name="Shape 47"/>
          <p:cNvSpPr/>
          <p:nvPr/>
        </p:nvSpPr>
        <p:spPr>
          <a:xfrm>
            <a:off x="1252728" y="2395728"/>
            <a:ext cx="182880" cy="182880"/>
          </a:xfrm>
          <a:prstGeom prst="star5">
            <a:avLst/>
          </a:prstGeom>
          <a:solidFill>
            <a:srgbClr val="E0B94A"/>
          </a:solidFill>
          <a:ln/>
        </p:spPr>
      </p:sp>
      <p:sp>
        <p:nvSpPr>
          <p:cNvPr id="50" name="Text 48"/>
          <p:cNvSpPr txBox="1"/>
          <p:nvPr/>
        </p:nvSpPr>
        <p:spPr>
          <a:xfrm>
            <a:off x="69494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2018</a:t>
            </a:r>
            <a:endParaRPr lang="en-US" sz="800" dirty="0"/>
          </a:p>
        </p:txBody>
      </p:sp>
      <p:sp>
        <p:nvSpPr>
          <p:cNvPr id="51" name="Shape 49"/>
          <p:cNvSpPr/>
          <p:nvPr/>
        </p:nvSpPr>
        <p:spPr>
          <a:xfrm>
            <a:off x="1879092" y="2395728"/>
            <a:ext cx="182880" cy="182880"/>
          </a:xfrm>
          <a:prstGeom prst="star5">
            <a:avLst/>
          </a:prstGeom>
          <a:solidFill>
            <a:srgbClr val="E0B94A"/>
          </a:solidFill>
          <a:ln/>
        </p:spPr>
      </p:sp>
      <p:sp>
        <p:nvSpPr>
          <p:cNvPr id="52" name="Shape 50"/>
          <p:cNvSpPr/>
          <p:nvPr/>
        </p:nvSpPr>
        <p:spPr>
          <a:xfrm>
            <a:off x="2084832" y="2395728"/>
            <a:ext cx="182880" cy="182880"/>
          </a:xfrm>
          <a:prstGeom prst="star5">
            <a:avLst/>
          </a:prstGeom>
          <a:solidFill>
            <a:srgbClr val="E0B94A"/>
          </a:solidFill>
          <a:ln/>
        </p:spPr>
      </p:sp>
      <p:sp>
        <p:nvSpPr>
          <p:cNvPr id="53" name="Shape 51"/>
          <p:cNvSpPr/>
          <p:nvPr/>
        </p:nvSpPr>
        <p:spPr>
          <a:xfrm>
            <a:off x="2290572" y="2395728"/>
            <a:ext cx="182880" cy="182880"/>
          </a:xfrm>
          <a:prstGeom prst="star5">
            <a:avLst/>
          </a:prstGeom>
          <a:solidFill>
            <a:srgbClr val="E0B94A"/>
          </a:solidFill>
          <a:ln/>
        </p:spPr>
      </p:sp>
      <p:sp>
        <p:nvSpPr>
          <p:cNvPr id="54" name="Text 52"/>
          <p:cNvSpPr txBox="1"/>
          <p:nvPr/>
        </p:nvSpPr>
        <p:spPr>
          <a:xfrm>
            <a:off x="173278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2019</a:t>
            </a:r>
            <a:endParaRPr lang="en-US" sz="800" dirty="0"/>
          </a:p>
        </p:txBody>
      </p:sp>
      <p:sp>
        <p:nvSpPr>
          <p:cNvPr id="55" name="Shape 53"/>
          <p:cNvSpPr/>
          <p:nvPr/>
        </p:nvSpPr>
        <p:spPr>
          <a:xfrm>
            <a:off x="2916936" y="2395728"/>
            <a:ext cx="182880" cy="182880"/>
          </a:xfrm>
          <a:prstGeom prst="star5">
            <a:avLst/>
          </a:prstGeom>
          <a:solidFill>
            <a:srgbClr val="E0B94A"/>
          </a:solidFill>
          <a:ln/>
        </p:spPr>
      </p:sp>
      <p:sp>
        <p:nvSpPr>
          <p:cNvPr id="56" name="Shape 54"/>
          <p:cNvSpPr/>
          <p:nvPr/>
        </p:nvSpPr>
        <p:spPr>
          <a:xfrm>
            <a:off x="3122676" y="2395728"/>
            <a:ext cx="182880" cy="182880"/>
          </a:xfrm>
          <a:prstGeom prst="star5">
            <a:avLst/>
          </a:prstGeom>
          <a:solidFill>
            <a:srgbClr val="E0B94A"/>
          </a:solidFill>
          <a:ln/>
        </p:spPr>
      </p:sp>
      <p:sp>
        <p:nvSpPr>
          <p:cNvPr id="57" name="Shape 55"/>
          <p:cNvSpPr/>
          <p:nvPr/>
        </p:nvSpPr>
        <p:spPr>
          <a:xfrm>
            <a:off x="3328416" y="2395728"/>
            <a:ext cx="182880" cy="182880"/>
          </a:xfrm>
          <a:prstGeom prst="star5">
            <a:avLst/>
          </a:prstGeom>
          <a:solidFill>
            <a:srgbClr val="E0B94A"/>
          </a:solidFill>
          <a:ln/>
        </p:spPr>
      </p:sp>
      <p:sp>
        <p:nvSpPr>
          <p:cNvPr id="58" name="Text 56"/>
          <p:cNvSpPr txBox="1"/>
          <p:nvPr/>
        </p:nvSpPr>
        <p:spPr>
          <a:xfrm>
            <a:off x="277063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2020</a:t>
            </a:r>
            <a:endParaRPr lang="en-US" sz="800" dirty="0"/>
          </a:p>
        </p:txBody>
      </p:sp>
      <p:sp>
        <p:nvSpPr>
          <p:cNvPr id="59" name="Shape 57"/>
          <p:cNvSpPr/>
          <p:nvPr/>
        </p:nvSpPr>
        <p:spPr>
          <a:xfrm>
            <a:off x="3954780" y="2395728"/>
            <a:ext cx="182880" cy="182880"/>
          </a:xfrm>
          <a:prstGeom prst="star5">
            <a:avLst/>
          </a:prstGeom>
          <a:solidFill>
            <a:srgbClr val="E0B94A"/>
          </a:solidFill>
          <a:ln/>
        </p:spPr>
      </p:sp>
      <p:sp>
        <p:nvSpPr>
          <p:cNvPr id="60" name="Shape 58"/>
          <p:cNvSpPr/>
          <p:nvPr/>
        </p:nvSpPr>
        <p:spPr>
          <a:xfrm>
            <a:off x="4160520" y="2395728"/>
            <a:ext cx="182880" cy="182880"/>
          </a:xfrm>
          <a:prstGeom prst="star5">
            <a:avLst/>
          </a:prstGeom>
          <a:solidFill>
            <a:srgbClr val="E0B94A"/>
          </a:solidFill>
          <a:ln/>
        </p:spPr>
      </p:sp>
      <p:sp>
        <p:nvSpPr>
          <p:cNvPr id="61" name="Shape 59"/>
          <p:cNvSpPr/>
          <p:nvPr/>
        </p:nvSpPr>
        <p:spPr>
          <a:xfrm>
            <a:off x="4366260" y="2395728"/>
            <a:ext cx="182880" cy="182880"/>
          </a:xfrm>
          <a:prstGeom prst="star5">
            <a:avLst/>
          </a:prstGeom>
          <a:solidFill>
            <a:srgbClr val="E0B94A"/>
          </a:solidFill>
          <a:ln/>
        </p:spPr>
      </p:sp>
      <p:sp>
        <p:nvSpPr>
          <p:cNvPr id="62" name="Text 60"/>
          <p:cNvSpPr txBox="1"/>
          <p:nvPr/>
        </p:nvSpPr>
        <p:spPr>
          <a:xfrm>
            <a:off x="380847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2021</a:t>
            </a:r>
            <a:endParaRPr lang="en-US" sz="800" dirty="0"/>
          </a:p>
        </p:txBody>
      </p:sp>
      <p:sp>
        <p:nvSpPr>
          <p:cNvPr id="63" name="Shape 61"/>
          <p:cNvSpPr/>
          <p:nvPr/>
        </p:nvSpPr>
        <p:spPr>
          <a:xfrm>
            <a:off x="4992624" y="2395728"/>
            <a:ext cx="182880" cy="182880"/>
          </a:xfrm>
          <a:prstGeom prst="star5">
            <a:avLst/>
          </a:prstGeom>
          <a:solidFill>
            <a:srgbClr val="E0B94A"/>
          </a:solidFill>
          <a:ln/>
        </p:spPr>
      </p:sp>
      <p:sp>
        <p:nvSpPr>
          <p:cNvPr id="64" name="Shape 62"/>
          <p:cNvSpPr/>
          <p:nvPr/>
        </p:nvSpPr>
        <p:spPr>
          <a:xfrm>
            <a:off x="5198364" y="2395728"/>
            <a:ext cx="182880" cy="182880"/>
          </a:xfrm>
          <a:prstGeom prst="star5">
            <a:avLst/>
          </a:prstGeom>
          <a:solidFill>
            <a:srgbClr val="E0B94A"/>
          </a:solidFill>
          <a:ln/>
        </p:spPr>
      </p:sp>
      <p:sp>
        <p:nvSpPr>
          <p:cNvPr id="65" name="Shape 63"/>
          <p:cNvSpPr/>
          <p:nvPr/>
        </p:nvSpPr>
        <p:spPr>
          <a:xfrm>
            <a:off x="5404104" y="2395728"/>
            <a:ext cx="182880" cy="182880"/>
          </a:xfrm>
          <a:prstGeom prst="star5">
            <a:avLst/>
          </a:prstGeom>
          <a:solidFill>
            <a:srgbClr val="E0B94A"/>
          </a:solidFill>
          <a:ln/>
        </p:spPr>
      </p:sp>
      <p:sp>
        <p:nvSpPr>
          <p:cNvPr id="66" name="Text 64"/>
          <p:cNvSpPr txBox="1"/>
          <p:nvPr/>
        </p:nvSpPr>
        <p:spPr>
          <a:xfrm>
            <a:off x="4846320"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2022</a:t>
            </a:r>
            <a:endParaRPr lang="en-US" sz="800" dirty="0"/>
          </a:p>
        </p:txBody>
      </p:sp>
      <p:sp>
        <p:nvSpPr>
          <p:cNvPr id="67" name="Shape 65"/>
          <p:cNvSpPr/>
          <p:nvPr/>
        </p:nvSpPr>
        <p:spPr>
          <a:xfrm>
            <a:off x="6030468" y="2395728"/>
            <a:ext cx="182880" cy="182880"/>
          </a:xfrm>
          <a:prstGeom prst="star5">
            <a:avLst/>
          </a:prstGeom>
          <a:solidFill>
            <a:srgbClr val="E0B94A"/>
          </a:solidFill>
          <a:ln/>
        </p:spPr>
      </p:sp>
      <p:sp>
        <p:nvSpPr>
          <p:cNvPr id="68" name="Shape 66"/>
          <p:cNvSpPr/>
          <p:nvPr/>
        </p:nvSpPr>
        <p:spPr>
          <a:xfrm>
            <a:off x="6236208" y="2395728"/>
            <a:ext cx="182880" cy="182880"/>
          </a:xfrm>
          <a:prstGeom prst="star5">
            <a:avLst/>
          </a:prstGeom>
          <a:solidFill>
            <a:srgbClr val="E0B94A"/>
          </a:solidFill>
          <a:ln/>
        </p:spPr>
      </p:sp>
      <p:sp>
        <p:nvSpPr>
          <p:cNvPr id="69" name="Shape 67"/>
          <p:cNvSpPr/>
          <p:nvPr/>
        </p:nvSpPr>
        <p:spPr>
          <a:xfrm>
            <a:off x="6441948" y="2395728"/>
            <a:ext cx="182880" cy="182880"/>
          </a:xfrm>
          <a:prstGeom prst="star5">
            <a:avLst/>
          </a:prstGeom>
          <a:solidFill>
            <a:srgbClr val="E0B94A"/>
          </a:solidFill>
          <a:ln/>
        </p:spPr>
      </p:sp>
      <p:sp>
        <p:nvSpPr>
          <p:cNvPr id="70" name="Text 68"/>
          <p:cNvSpPr txBox="1"/>
          <p:nvPr/>
        </p:nvSpPr>
        <p:spPr>
          <a:xfrm>
            <a:off x="588416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2023</a:t>
            </a:r>
            <a:endParaRPr lang="en-US" sz="800" dirty="0"/>
          </a:p>
        </p:txBody>
      </p:sp>
      <p:sp>
        <p:nvSpPr>
          <p:cNvPr id="71" name="Shape 69"/>
          <p:cNvSpPr/>
          <p:nvPr/>
        </p:nvSpPr>
        <p:spPr>
          <a:xfrm>
            <a:off x="7068312" y="2395728"/>
            <a:ext cx="182880" cy="182880"/>
          </a:xfrm>
          <a:prstGeom prst="star5">
            <a:avLst/>
          </a:prstGeom>
          <a:solidFill>
            <a:srgbClr val="E0B94A"/>
          </a:solidFill>
          <a:ln/>
        </p:spPr>
      </p:sp>
      <p:sp>
        <p:nvSpPr>
          <p:cNvPr id="72" name="Shape 70"/>
          <p:cNvSpPr/>
          <p:nvPr/>
        </p:nvSpPr>
        <p:spPr>
          <a:xfrm>
            <a:off x="7274052" y="2395728"/>
            <a:ext cx="182880" cy="182880"/>
          </a:xfrm>
          <a:prstGeom prst="star5">
            <a:avLst/>
          </a:prstGeom>
          <a:solidFill>
            <a:srgbClr val="E0B94A"/>
          </a:solidFill>
          <a:ln/>
        </p:spPr>
      </p:sp>
      <p:sp>
        <p:nvSpPr>
          <p:cNvPr id="73" name="Shape 71"/>
          <p:cNvSpPr/>
          <p:nvPr/>
        </p:nvSpPr>
        <p:spPr>
          <a:xfrm>
            <a:off x="7479792" y="2395728"/>
            <a:ext cx="182880" cy="182880"/>
          </a:xfrm>
          <a:prstGeom prst="star5">
            <a:avLst/>
          </a:prstGeom>
          <a:solidFill>
            <a:srgbClr val="E0B94A"/>
          </a:solidFill>
          <a:ln/>
        </p:spPr>
      </p:sp>
      <p:sp>
        <p:nvSpPr>
          <p:cNvPr id="74" name="Text 72"/>
          <p:cNvSpPr txBox="1"/>
          <p:nvPr/>
        </p:nvSpPr>
        <p:spPr>
          <a:xfrm>
            <a:off x="692200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2024</a:t>
            </a:r>
            <a:endParaRPr lang="en-US" sz="800" dirty="0"/>
          </a:p>
        </p:txBody>
      </p:sp>
      <p:sp>
        <p:nvSpPr>
          <p:cNvPr id="75" name="Shape 73"/>
          <p:cNvSpPr/>
          <p:nvPr/>
        </p:nvSpPr>
        <p:spPr>
          <a:xfrm>
            <a:off x="8106156" y="2395728"/>
            <a:ext cx="182880" cy="182880"/>
          </a:xfrm>
          <a:prstGeom prst="star5">
            <a:avLst/>
          </a:prstGeom>
          <a:solidFill>
            <a:srgbClr val="E0B94A"/>
          </a:solidFill>
          <a:ln/>
        </p:spPr>
      </p:sp>
      <p:sp>
        <p:nvSpPr>
          <p:cNvPr id="76" name="Shape 74"/>
          <p:cNvSpPr/>
          <p:nvPr/>
        </p:nvSpPr>
        <p:spPr>
          <a:xfrm>
            <a:off x="8311896" y="2395728"/>
            <a:ext cx="182880" cy="182880"/>
          </a:xfrm>
          <a:prstGeom prst="star5">
            <a:avLst/>
          </a:prstGeom>
          <a:solidFill>
            <a:srgbClr val="E0B94A"/>
          </a:solidFill>
          <a:ln/>
        </p:spPr>
      </p:sp>
      <p:sp>
        <p:nvSpPr>
          <p:cNvPr id="77" name="Shape 75"/>
          <p:cNvSpPr/>
          <p:nvPr/>
        </p:nvSpPr>
        <p:spPr>
          <a:xfrm>
            <a:off x="8517636" y="2395728"/>
            <a:ext cx="182880" cy="182880"/>
          </a:xfrm>
          <a:prstGeom prst="star5">
            <a:avLst/>
          </a:prstGeom>
          <a:solidFill>
            <a:srgbClr val="E0B94A"/>
          </a:solidFill>
          <a:ln/>
        </p:spPr>
      </p:sp>
      <p:sp>
        <p:nvSpPr>
          <p:cNvPr id="78" name="Text 76"/>
          <p:cNvSpPr txBox="1"/>
          <p:nvPr/>
        </p:nvSpPr>
        <p:spPr>
          <a:xfrm>
            <a:off x="795985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2025</a:t>
            </a:r>
            <a:endParaRPr lang="en-US" sz="800" dirty="0"/>
          </a:p>
        </p:txBody>
      </p:sp>
      <p:sp>
        <p:nvSpPr>
          <p:cNvPr id="79" name="Shape 77"/>
          <p:cNvSpPr/>
          <p:nvPr/>
        </p:nvSpPr>
        <p:spPr>
          <a:xfrm>
            <a:off x="9144000" y="2395728"/>
            <a:ext cx="182880" cy="182880"/>
          </a:xfrm>
          <a:prstGeom prst="star5">
            <a:avLst/>
          </a:prstGeom>
          <a:solidFill>
            <a:srgbClr val="E0B94A"/>
          </a:solidFill>
          <a:ln/>
        </p:spPr>
      </p:sp>
      <p:sp>
        <p:nvSpPr>
          <p:cNvPr id="80" name="Shape 78"/>
          <p:cNvSpPr/>
          <p:nvPr/>
        </p:nvSpPr>
        <p:spPr>
          <a:xfrm>
            <a:off x="9349740" y="2395728"/>
            <a:ext cx="182880" cy="182880"/>
          </a:xfrm>
          <a:prstGeom prst="star5">
            <a:avLst/>
          </a:prstGeom>
          <a:solidFill>
            <a:srgbClr val="E0B94A"/>
          </a:solidFill>
          <a:ln/>
        </p:spPr>
      </p:sp>
      <p:sp>
        <p:nvSpPr>
          <p:cNvPr id="81" name="Shape 79"/>
          <p:cNvSpPr/>
          <p:nvPr/>
        </p:nvSpPr>
        <p:spPr>
          <a:xfrm>
            <a:off x="9555480" y="2395728"/>
            <a:ext cx="182880" cy="182880"/>
          </a:xfrm>
          <a:prstGeom prst="star5">
            <a:avLst/>
          </a:prstGeom>
          <a:solidFill>
            <a:srgbClr val="E0B94A"/>
          </a:solidFill>
          <a:ln/>
        </p:spPr>
      </p:sp>
      <p:sp>
        <p:nvSpPr>
          <p:cNvPr id="82" name="Text 80"/>
          <p:cNvSpPr txBox="1"/>
          <p:nvPr/>
        </p:nvSpPr>
        <p:spPr>
          <a:xfrm>
            <a:off x="899769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2026</a:t>
            </a:r>
            <a:endParaRPr lang="en-US" sz="800" dirty="0"/>
          </a:p>
        </p:txBody>
      </p:sp>
      <p:sp>
        <p:nvSpPr>
          <p:cNvPr id="83" name="Text 81"/>
          <p:cNvSpPr txBox="1"/>
          <p:nvPr/>
        </p:nvSpPr>
        <p:spPr>
          <a:xfrm>
            <a:off x="9802368" y="2359152"/>
            <a:ext cx="2029968" cy="457200"/>
          </a:xfrm>
          <a:prstGeom prst="rect">
            <a:avLst/>
          </a:prstGeom>
          <a:noFill/>
          <a:ln/>
        </p:spPr>
        <p:txBody>
          <a:bodyPr wrap="square" lIns="0" tIns="0" rIns="0" bIns="0" rtlCol="0" anchor="ctr"/>
          <a:lstStyle/>
          <a:p>
            <a:pPr algn="r" indent="0" marL="0">
              <a:lnSpc>
                <a:spcPts val="1600"/>
              </a:lnSpc>
              <a:buNone/>
            </a:pPr>
            <a:r>
              <a:rPr lang="en-US" sz="1050" dirty="0">
                <a:solidFill>
                  <a:srgbClr val="9C868D"/>
                </a:solidFill>
                <a:latin typeface="Calibri" pitchFamily="34" charset="0"/>
                <a:ea typeface="Calibri" pitchFamily="34" charset="-122"/>
                <a:cs typeface="Calibri" pitchFamily="34" charset="-120"/>
              </a:rPr>
              <a:t>19年分の </a:t>
            </a:r>
            <a:pPr algn="r" indent="0" marL="0">
              <a:lnSpc>
                <a:spcPts val="1600"/>
              </a:lnSpc>
              <a:buNone/>
            </a:pPr>
            <a:r>
              <a:rPr lang="en-US" sz="1050" b="1" dirty="0">
                <a:solidFill>
                  <a:srgbClr val="E0B94A"/>
                </a:solidFill>
                <a:latin typeface="Calibri" pitchFamily="34" charset="0"/>
                <a:ea typeface="Calibri" pitchFamily="34" charset="-122"/>
                <a:cs typeface="Calibri" pitchFamily="34" charset="-120"/>
              </a:rPr>
              <a:t>★★★</a:t>
            </a:r>
            <a:endParaRPr lang="en-US" sz="1050" dirty="0"/>
          </a:p>
          <a:p>
            <a:pPr algn="r" indent="0" marL="0">
              <a:lnSpc>
                <a:spcPts val="1600"/>
              </a:lnSpc>
              <a:buNone/>
            </a:pPr>
            <a:r>
              <a:rPr lang="en-US" sz="1100" b="1" dirty="0">
                <a:solidFill>
                  <a:srgbClr val="C9A227"/>
                </a:solidFill>
                <a:latin typeface="Calibri" pitchFamily="34" charset="0"/>
                <a:ea typeface="Calibri" pitchFamily="34" charset="-122"/>
                <a:cs typeface="Calibri" pitchFamily="34" charset="-120"/>
              </a:rPr>
              <a:t>一度も欠けていない</a:t>
            </a:r>
            <a:endParaRPr lang="en-US" sz="1050" dirty="0"/>
          </a:p>
        </p:txBody>
      </p:sp>
      <p:sp>
        <p:nvSpPr>
          <p:cNvPr id="84" name="Shape 82"/>
          <p:cNvSpPr/>
          <p:nvPr/>
        </p:nvSpPr>
        <p:spPr>
          <a:xfrm>
            <a:off x="566928" y="3072384"/>
            <a:ext cx="11055096" cy="950976"/>
          </a:xfrm>
          <a:prstGeom prst="roundRect">
            <a:avLst>
              <a:gd name="adj" fmla="val 3846"/>
            </a:avLst>
          </a:prstGeom>
          <a:solidFill>
            <a:srgbClr val="E0B94A"/>
          </a:solidFill>
          <a:ln/>
        </p:spPr>
      </p:sp>
      <p:sp>
        <p:nvSpPr>
          <p:cNvPr id="85" name="Text 83"/>
          <p:cNvSpPr txBox="1"/>
          <p:nvPr/>
        </p:nvSpPr>
        <p:spPr>
          <a:xfrm>
            <a:off x="877824" y="3172968"/>
            <a:ext cx="10433304" cy="310896"/>
          </a:xfrm>
          <a:prstGeom prst="rect">
            <a:avLst/>
          </a:prstGeom>
          <a:noFill/>
          <a:ln/>
        </p:spPr>
        <p:txBody>
          <a:bodyPr wrap="square" lIns="0" tIns="0" rIns="0" bIns="0" rtlCol="0" anchor="ctr"/>
          <a:lstStyle/>
          <a:p>
            <a:pPr indent="0" marL="0">
              <a:buNone/>
            </a:pPr>
            <a:r>
              <a:rPr lang="en-US" sz="1900" b="1" dirty="0">
                <a:solidFill>
                  <a:srgbClr val="2A1F06"/>
                </a:solidFill>
                <a:latin typeface="Cambria" pitchFamily="34" charset="0"/>
                <a:ea typeface="Cambria" pitchFamily="34" charset="-122"/>
                <a:cs typeface="Cambria" pitchFamily="34" charset="-120"/>
              </a:rPr>
              <a:t>創刊号から19年連続で三つ星を守っている店は、東京に3軒しかない。</a:t>
            </a:r>
            <a:endParaRPr lang="en-US" sz="1900" dirty="0"/>
          </a:p>
        </p:txBody>
      </p:sp>
      <p:sp>
        <p:nvSpPr>
          <p:cNvPr id="86" name="Text 84"/>
          <p:cNvSpPr txBox="1"/>
          <p:nvPr/>
        </p:nvSpPr>
        <p:spPr>
          <a:xfrm>
            <a:off x="87782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かんだ</a:t>
            </a:r>
            <a:pPr indent="0" marL="0">
              <a:buNone/>
            </a:pPr>
            <a:r>
              <a:rPr lang="en-US" sz="1000" dirty="0">
                <a:solidFill>
                  <a:srgbClr val="6B5518"/>
                </a:solidFill>
                <a:latin typeface="Calibri" pitchFamily="34" charset="0"/>
                <a:ea typeface="Calibri" pitchFamily="34" charset="-122"/>
                <a:cs typeface="Calibri" pitchFamily="34" charset="-120"/>
              </a:rPr>
              <a:t>　（日本料理）</a:t>
            </a:r>
            <a:endParaRPr lang="en-US" sz="1300" dirty="0"/>
          </a:p>
        </p:txBody>
      </p:sp>
      <p:sp>
        <p:nvSpPr>
          <p:cNvPr id="87" name="Text 85"/>
          <p:cNvSpPr txBox="1"/>
          <p:nvPr/>
        </p:nvSpPr>
        <p:spPr>
          <a:xfrm>
            <a:off x="435254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ジョエル・ロブション</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88" name="Shape 86"/>
          <p:cNvSpPr/>
          <p:nvPr/>
        </p:nvSpPr>
        <p:spPr>
          <a:xfrm>
            <a:off x="7827264" y="3602736"/>
            <a:ext cx="155448" cy="155448"/>
          </a:xfrm>
          <a:prstGeom prst="star5">
            <a:avLst/>
          </a:prstGeom>
          <a:solidFill>
            <a:srgbClr val="2A1F06"/>
          </a:solidFill>
          <a:ln/>
        </p:spPr>
      </p:sp>
      <p:sp>
        <p:nvSpPr>
          <p:cNvPr id="89" name="Text 87"/>
          <p:cNvSpPr txBox="1"/>
          <p:nvPr/>
        </p:nvSpPr>
        <p:spPr>
          <a:xfrm>
            <a:off x="8046720"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カンテサンス</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90" name="Shape 88"/>
          <p:cNvSpPr/>
          <p:nvPr/>
        </p:nvSpPr>
        <p:spPr>
          <a:xfrm>
            <a:off x="566928" y="4352544"/>
            <a:ext cx="2596896" cy="1664208"/>
          </a:xfrm>
          <a:prstGeom prst="roundRect">
            <a:avLst>
              <a:gd name="adj" fmla="val 2747"/>
            </a:avLst>
          </a:prstGeom>
          <a:solidFill>
            <a:srgbClr val="30161F"/>
          </a:solidFill>
          <a:ln w="9525">
            <a:solidFill>
              <a:srgbClr val="522C39"/>
            </a:solidFill>
            <a:prstDash val="solid"/>
          </a:ln>
        </p:spPr>
      </p:sp>
      <p:sp>
        <p:nvSpPr>
          <p:cNvPr id="91" name="Shape 89"/>
          <p:cNvSpPr/>
          <p:nvPr/>
        </p:nvSpPr>
        <p:spPr>
          <a:xfrm>
            <a:off x="786384" y="4517136"/>
            <a:ext cx="146304" cy="146304"/>
          </a:xfrm>
          <a:prstGeom prst="star5">
            <a:avLst/>
          </a:prstGeom>
          <a:solidFill>
            <a:srgbClr val="E0B94A"/>
          </a:solidFill>
          <a:ln/>
        </p:spPr>
      </p:sp>
      <p:sp>
        <p:nvSpPr>
          <p:cNvPr id="92" name="Text 90"/>
          <p:cNvSpPr txBox="1"/>
          <p:nvPr/>
        </p:nvSpPr>
        <p:spPr>
          <a:xfrm>
            <a:off x="786384"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メニューが、ない</a:t>
            </a:r>
            <a:endParaRPr lang="en-US" sz="1400" dirty="0"/>
          </a:p>
        </p:txBody>
      </p:sp>
      <p:sp>
        <p:nvSpPr>
          <p:cNvPr id="93" name="Text 91"/>
          <p:cNvSpPr txBox="1"/>
          <p:nvPr/>
        </p:nvSpPr>
        <p:spPr>
          <a:xfrm>
            <a:off x="786384"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開業以来、おまかせの一コースのみ。「その日いちばんおいしい食材を知っているのは僕たちです」（岸田周三）</a:t>
            </a:r>
            <a:endParaRPr lang="en-US" sz="950" dirty="0"/>
          </a:p>
        </p:txBody>
      </p:sp>
      <p:sp>
        <p:nvSpPr>
          <p:cNvPr id="94" name="Shape 92"/>
          <p:cNvSpPr/>
          <p:nvPr/>
        </p:nvSpPr>
        <p:spPr>
          <a:xfrm>
            <a:off x="3383280" y="4352544"/>
            <a:ext cx="2596896" cy="1664208"/>
          </a:xfrm>
          <a:prstGeom prst="roundRect">
            <a:avLst>
              <a:gd name="adj" fmla="val 2747"/>
            </a:avLst>
          </a:prstGeom>
          <a:solidFill>
            <a:srgbClr val="30161F"/>
          </a:solidFill>
          <a:ln w="9525">
            <a:solidFill>
              <a:srgbClr val="522C39"/>
            </a:solidFill>
            <a:prstDash val="solid"/>
          </a:ln>
        </p:spPr>
      </p:sp>
      <p:sp>
        <p:nvSpPr>
          <p:cNvPr id="95" name="Shape 93"/>
          <p:cNvSpPr/>
          <p:nvPr/>
        </p:nvSpPr>
        <p:spPr>
          <a:xfrm>
            <a:off x="3602736" y="4517136"/>
            <a:ext cx="146304" cy="146304"/>
          </a:xfrm>
          <a:prstGeom prst="star5">
            <a:avLst/>
          </a:prstGeom>
          <a:solidFill>
            <a:srgbClr val="E0B94A"/>
          </a:solidFill>
          <a:ln/>
        </p:spPr>
      </p:sp>
      <p:sp>
        <p:nvSpPr>
          <p:cNvPr id="96" name="Text 94"/>
          <p:cNvSpPr txBox="1"/>
          <p:nvPr/>
        </p:nvSpPr>
        <p:spPr>
          <a:xfrm>
            <a:off x="3602736"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33歳、当時最年少</a:t>
            </a:r>
            <a:endParaRPr lang="en-US" sz="1400" dirty="0"/>
          </a:p>
        </p:txBody>
      </p:sp>
      <p:sp>
        <p:nvSpPr>
          <p:cNvPr id="97" name="Text 95"/>
          <p:cNvSpPr txBox="1"/>
          <p:nvPr/>
        </p:nvSpPr>
        <p:spPr>
          <a:xfrm>
            <a:off x="3602736"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2007年の創刊号で三つ星。パリ「アストランス」でスーシェフを務め、帰国した翌年のことだった。</a:t>
            </a:r>
            <a:endParaRPr lang="en-US" sz="950" dirty="0"/>
          </a:p>
        </p:txBody>
      </p:sp>
      <p:sp>
        <p:nvSpPr>
          <p:cNvPr id="98" name="Shape 96"/>
          <p:cNvSpPr/>
          <p:nvPr/>
        </p:nvSpPr>
        <p:spPr>
          <a:xfrm>
            <a:off x="6199632" y="4352544"/>
            <a:ext cx="2596896" cy="1664208"/>
          </a:xfrm>
          <a:prstGeom prst="roundRect">
            <a:avLst>
              <a:gd name="adj" fmla="val 2747"/>
            </a:avLst>
          </a:prstGeom>
          <a:solidFill>
            <a:srgbClr val="30161F"/>
          </a:solidFill>
          <a:ln w="9525">
            <a:solidFill>
              <a:srgbClr val="522C39"/>
            </a:solidFill>
            <a:prstDash val="solid"/>
          </a:ln>
        </p:spPr>
      </p:sp>
      <p:sp>
        <p:nvSpPr>
          <p:cNvPr id="99" name="Shape 97"/>
          <p:cNvSpPr/>
          <p:nvPr/>
        </p:nvSpPr>
        <p:spPr>
          <a:xfrm>
            <a:off x="6419088" y="4517136"/>
            <a:ext cx="146304" cy="146304"/>
          </a:xfrm>
          <a:prstGeom prst="star5">
            <a:avLst/>
          </a:prstGeom>
          <a:solidFill>
            <a:srgbClr val="E0B94A"/>
          </a:solidFill>
          <a:ln/>
        </p:spPr>
      </p:sp>
      <p:sp>
        <p:nvSpPr>
          <p:cNvPr id="100" name="Text 98"/>
          <p:cNvSpPr txBox="1"/>
          <p:nvPr/>
        </p:nvSpPr>
        <p:spPr>
          <a:xfrm>
            <a:off x="6419088"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緑の星も、持っている</a:t>
            </a:r>
            <a:endParaRPr lang="en-US" sz="1400" dirty="0"/>
          </a:p>
        </p:txBody>
      </p:sp>
      <p:sp>
        <p:nvSpPr>
          <p:cNvPr id="101" name="Text 99"/>
          <p:cNvSpPr txBox="1"/>
          <p:nvPr/>
        </p:nvSpPr>
        <p:spPr>
          <a:xfrm>
            <a:off x="6419088"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2021年、持続可能な漁業への取り組みでミシュラン グリーンスターを獲得。東京で6軒のみの初年度認定。</a:t>
            </a:r>
            <a:endParaRPr lang="en-US" sz="950" dirty="0"/>
          </a:p>
        </p:txBody>
      </p:sp>
      <p:sp>
        <p:nvSpPr>
          <p:cNvPr id="102" name="Shape 100"/>
          <p:cNvSpPr/>
          <p:nvPr/>
        </p:nvSpPr>
        <p:spPr>
          <a:xfrm>
            <a:off x="9015984" y="4352544"/>
            <a:ext cx="2596896" cy="1664208"/>
          </a:xfrm>
          <a:prstGeom prst="roundRect">
            <a:avLst>
              <a:gd name="adj" fmla="val 2747"/>
            </a:avLst>
          </a:prstGeom>
          <a:solidFill>
            <a:srgbClr val="30161F"/>
          </a:solidFill>
          <a:ln w="9525">
            <a:solidFill>
              <a:srgbClr val="522C39"/>
            </a:solidFill>
            <a:prstDash val="solid"/>
          </a:ln>
        </p:spPr>
      </p:sp>
      <p:sp>
        <p:nvSpPr>
          <p:cNvPr id="103" name="Shape 101"/>
          <p:cNvSpPr/>
          <p:nvPr/>
        </p:nvSpPr>
        <p:spPr>
          <a:xfrm>
            <a:off x="9235440" y="4517136"/>
            <a:ext cx="146304" cy="146304"/>
          </a:xfrm>
          <a:prstGeom prst="star5">
            <a:avLst/>
          </a:prstGeom>
          <a:solidFill>
            <a:srgbClr val="E0B94A"/>
          </a:solidFill>
          <a:ln/>
        </p:spPr>
      </p:sp>
      <p:sp>
        <p:nvSpPr>
          <p:cNvPr id="104" name="Text 102"/>
          <p:cNvSpPr txBox="1"/>
          <p:nvPr/>
        </p:nvSpPr>
        <p:spPr>
          <a:xfrm>
            <a:off x="9235440"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星を持って、巣立った</a:t>
            </a:r>
            <a:endParaRPr lang="en-US" sz="1400" dirty="0"/>
          </a:p>
        </p:txBody>
      </p:sp>
      <p:sp>
        <p:nvSpPr>
          <p:cNvPr id="105" name="Text 103"/>
          <p:cNvSpPr txBox="1"/>
          <p:nvPr/>
        </p:nvSpPr>
        <p:spPr>
          <a:xfrm>
            <a:off x="9235440"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この店の卒業生12名以上が独立し、それぞれにミシュランの星を得ている。</a:t>
            </a:r>
            <a:endParaRPr lang="en-US" sz="950" dirty="0"/>
          </a:p>
        </p:txBody>
      </p:sp>
      <p:sp>
        <p:nvSpPr>
          <p:cNvPr id="106" name="Text 104"/>
          <p:cNvSpPr txBox="1"/>
          <p:nvPr/>
        </p:nvSpPr>
        <p:spPr>
          <a:xfrm>
            <a:off x="566928" y="6199632"/>
            <a:ext cx="11055096" cy="182880"/>
          </a:xfrm>
          <a:prstGeom prst="rect">
            <a:avLst/>
          </a:prstGeom>
          <a:noFill/>
          <a:ln/>
        </p:spPr>
        <p:txBody>
          <a:bodyPr wrap="square" lIns="0" tIns="0" rIns="0" bIns="0" rtlCol="0" anchor="ctr"/>
          <a:lstStyle/>
          <a:p>
            <a:pPr indent="0" marL="0">
              <a:buNone/>
            </a:pPr>
            <a:r>
              <a:rPr lang="en-US" sz="700" dirty="0">
                <a:solidFill>
                  <a:srgbClr val="7E666D"/>
                </a:solidFill>
                <a:latin typeface="Calibri" pitchFamily="34" charset="0"/>
                <a:ea typeface="Calibri" pitchFamily="34" charset="-122"/>
                <a:cs typeface="Calibri" pitchFamily="34" charset="-120"/>
              </a:rPr>
              <a:t>出所：『ミシュランガイド東京2026』（2025年9月発表。東京の三つ星12軒・星付き160軒で19年連続世界最多）ほか公開情報。創刊号の三つ星8軒のうち2018年版時点で11年連続は4軒、うち「すきやばし次郎」は2020年版より掲載対象外。</a:t>
            </a:r>
            <a:endParaRPr lang="en-US" sz="700" dirty="0"/>
          </a:p>
        </p:txBody>
      </p:sp>
      <p:sp>
        <p:nvSpPr>
          <p:cNvPr id="108" name="Text 10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09" name="Text 10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54864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買収目的会社（SPC）方式により、みずほ銀行41.4億円（タームローン20.0億円＋ブリッジローン21.4億円）と投資家の出資10.0億円で取得する。ブリッジローンは合併直後に対象会社の余剰現金で全額返済し、合併後の有利子負債は20.0億円、初年度DSCRは1.36倍となる（p.16〜p.22）。</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p.9</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p.10</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p.11</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p.12</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返済プロファイル・月次資金繰り・ストレス耐性</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p.20-22</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買収ストラクチャーは p.16〜p.19、参考資料としてグランメゾンのM&amp;A後バリューアップ実績を p.24 に掲載している。</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100%（高級スイーツEC）／株式会社BISは対象外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54席・営業日数252日・年間来店 約1.4万人・従業員22名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54席×1.6回転×252日。予約は常時充足</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23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75888"/>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4041648"/>
            <a:ext cx="45720" cy="457200"/>
          </a:xfrm>
          <a:prstGeom prst="rect">
            <a:avLst/>
          </a:prstGeom>
          <a:solidFill>
            <a:srgbClr val="A26769"/>
          </a:solidFill>
          <a:ln/>
        </p:spPr>
      </p:sp>
      <p:sp>
        <p:nvSpPr>
          <p:cNvPr id="7" name="Text 4"/>
          <p:cNvSpPr txBox="1"/>
          <p:nvPr/>
        </p:nvSpPr>
        <p:spPr>
          <a:xfrm>
            <a:off x="749808" y="398678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98678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24281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681728"/>
            <a:ext cx="45720" cy="457200"/>
          </a:xfrm>
          <a:prstGeom prst="rect">
            <a:avLst/>
          </a:prstGeom>
          <a:solidFill>
            <a:srgbClr val="A26769"/>
          </a:solidFill>
          <a:ln/>
        </p:spPr>
      </p:sp>
      <p:sp>
        <p:nvSpPr>
          <p:cNvPr id="11" name="Text 8"/>
          <p:cNvSpPr txBox="1"/>
          <p:nvPr/>
        </p:nvSpPr>
        <p:spPr>
          <a:xfrm>
            <a:off x="749808" y="462686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62686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88289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321808"/>
            <a:ext cx="45720" cy="457200"/>
          </a:xfrm>
          <a:prstGeom prst="rect">
            <a:avLst/>
          </a:prstGeom>
          <a:solidFill>
            <a:srgbClr val="6D2E46"/>
          </a:solidFill>
          <a:ln/>
        </p:spPr>
      </p:sp>
      <p:sp>
        <p:nvSpPr>
          <p:cNvPr id="15" name="Text 12"/>
          <p:cNvSpPr txBox="1"/>
          <p:nvPr/>
        </p:nvSpPr>
        <p:spPr>
          <a:xfrm>
            <a:off x="749808" y="52669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2669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5229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943600"/>
            <a:ext cx="11055096" cy="329184"/>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留意：上場外食のマルチプルは多店舗展開による分散を前提としている。1店舗・1名依存のディスカウントは検証③のDCFで織り込む。個社マルチプルは正式提出前に直近株価ベースへ差替えを推奨。</a:t>
            </a:r>
            <a:endParaRPr lang="en-US" sz="95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0%（54席固定・値上げ以外の成長ドライバーなし）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M&amp;Aスキーム（SPC方式）</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資本金10万円のSPCを設立し、みずほ銀行のローンと投資家の出資をもって対象会社の全株式を取得。クロージング後にSPCと対象会社を合併する。譲受価額はレンジ（50.0〜55.0億円）で提示する。</a:t>
            </a:r>
            <a:endParaRPr lang="en-US" sz="1250" dirty="0"/>
          </a:p>
        </p:txBody>
      </p:sp>
      <p:sp>
        <p:nvSpPr>
          <p:cNvPr id="5" name="Shape 3"/>
          <p:cNvSpPr/>
          <p:nvPr/>
        </p:nvSpPr>
        <p:spPr>
          <a:xfrm>
            <a:off x="4297680" y="1444752"/>
            <a:ext cx="2011680" cy="768096"/>
          </a:xfrm>
          <a:prstGeom prst="roundRect">
            <a:avLst>
              <a:gd name="adj" fmla="val 5952"/>
            </a:avLst>
          </a:prstGeom>
          <a:solidFill>
            <a:srgbClr val="F7F3F4"/>
          </a:solidFill>
          <a:ln w="15875">
            <a:solidFill>
              <a:srgbClr val="6D2E46"/>
            </a:solidFill>
            <a:prstDash val="solid"/>
          </a:ln>
        </p:spPr>
      </p:sp>
      <p:sp>
        <p:nvSpPr>
          <p:cNvPr id="6" name="Text 4"/>
          <p:cNvSpPr txBox="1"/>
          <p:nvPr/>
        </p:nvSpPr>
        <p:spPr>
          <a:xfrm>
            <a:off x="440740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中野 邦人 氏</a:t>
            </a:r>
            <a:endParaRPr lang="en-US" sz="1250" dirty="0"/>
          </a:p>
        </p:txBody>
      </p:sp>
      <p:sp>
        <p:nvSpPr>
          <p:cNvPr id="7" name="Text 5"/>
          <p:cNvSpPr txBox="1"/>
          <p:nvPr/>
        </p:nvSpPr>
        <p:spPr>
          <a:xfrm>
            <a:off x="438912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SPC設立者</a:t>
            </a:r>
            <a:endParaRPr lang="en-US" sz="900" dirty="0"/>
          </a:p>
        </p:txBody>
      </p:sp>
      <p:sp>
        <p:nvSpPr>
          <p:cNvPr id="8" name="Shape 6"/>
          <p:cNvSpPr/>
          <p:nvPr/>
        </p:nvSpPr>
        <p:spPr>
          <a:xfrm>
            <a:off x="6492240" y="1444752"/>
            <a:ext cx="2011680" cy="768096"/>
          </a:xfrm>
          <a:prstGeom prst="roundRect">
            <a:avLst>
              <a:gd name="adj" fmla="val 5952"/>
            </a:avLst>
          </a:prstGeom>
          <a:solidFill>
            <a:srgbClr val="F7F3F4"/>
          </a:solidFill>
          <a:ln w="15875">
            <a:solidFill>
              <a:srgbClr val="6D2E46"/>
            </a:solidFill>
            <a:prstDash val="solid"/>
          </a:ln>
        </p:spPr>
      </p:sp>
      <p:sp>
        <p:nvSpPr>
          <p:cNvPr id="9" name="Text 7"/>
          <p:cNvSpPr txBox="1"/>
          <p:nvPr/>
        </p:nvSpPr>
        <p:spPr>
          <a:xfrm>
            <a:off x="660196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榊原 氏</a:t>
            </a:r>
            <a:endParaRPr lang="en-US" sz="1250" dirty="0"/>
          </a:p>
        </p:txBody>
      </p:sp>
      <p:sp>
        <p:nvSpPr>
          <p:cNvPr id="10" name="Text 8"/>
          <p:cNvSpPr txBox="1"/>
          <p:nvPr/>
        </p:nvSpPr>
        <p:spPr>
          <a:xfrm>
            <a:off x="658368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投資家</a:t>
            </a:r>
            <a:endParaRPr lang="en-US" sz="900" dirty="0"/>
          </a:p>
        </p:txBody>
      </p:sp>
      <p:sp>
        <p:nvSpPr>
          <p:cNvPr id="11" name="Shape 9"/>
          <p:cNvSpPr/>
          <p:nvPr/>
        </p:nvSpPr>
        <p:spPr>
          <a:xfrm>
            <a:off x="5303520" y="2212848"/>
            <a:ext cx="0" cy="585216"/>
          </a:xfrm>
          <a:prstGeom prst="line">
            <a:avLst/>
          </a:prstGeom>
          <a:noFill/>
          <a:ln w="19050">
            <a:solidFill>
              <a:srgbClr val="6D2E46"/>
            </a:solidFill>
            <a:prstDash val="solid"/>
            <a:tailEnd type="triangle"/>
          </a:ln>
        </p:spPr>
      </p:sp>
      <p:sp>
        <p:nvSpPr>
          <p:cNvPr id="12" name="Shape 10"/>
          <p:cNvSpPr/>
          <p:nvPr/>
        </p:nvSpPr>
        <p:spPr>
          <a:xfrm>
            <a:off x="7498080" y="2212848"/>
            <a:ext cx="0" cy="585216"/>
          </a:xfrm>
          <a:prstGeom prst="line">
            <a:avLst/>
          </a:prstGeom>
          <a:noFill/>
          <a:ln w="19050">
            <a:solidFill>
              <a:srgbClr val="6D2E46"/>
            </a:solidFill>
            <a:prstDash val="solid"/>
            <a:tailEnd type="triangle"/>
          </a:ln>
        </p:spPr>
      </p:sp>
      <p:sp>
        <p:nvSpPr>
          <p:cNvPr id="13" name="Text 11"/>
          <p:cNvSpPr txBox="1"/>
          <p:nvPr/>
        </p:nvSpPr>
        <p:spPr>
          <a:xfrm>
            <a:off x="5376672" y="2267712"/>
            <a:ext cx="169164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出資10万円（67%）</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 株主貸付 700万円</a:t>
            </a:r>
            <a:endParaRPr lang="en-US" sz="850" dirty="0"/>
          </a:p>
        </p:txBody>
      </p:sp>
      <p:sp>
        <p:nvSpPr>
          <p:cNvPr id="14" name="Text 12"/>
          <p:cNvSpPr txBox="1"/>
          <p:nvPr/>
        </p:nvSpPr>
        <p:spPr>
          <a:xfrm>
            <a:off x="7571232" y="2267712"/>
            <a:ext cx="155448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 10.0億円</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（33%）</a:t>
            </a:r>
            <a:endParaRPr lang="en-US" sz="850" dirty="0"/>
          </a:p>
        </p:txBody>
      </p:sp>
      <p:sp>
        <p:nvSpPr>
          <p:cNvPr id="15" name="Shape 13"/>
          <p:cNvSpPr/>
          <p:nvPr/>
        </p:nvSpPr>
        <p:spPr>
          <a:xfrm>
            <a:off x="566928" y="2798064"/>
            <a:ext cx="2331720" cy="877824"/>
          </a:xfrm>
          <a:prstGeom prst="roundRect">
            <a:avLst>
              <a:gd name="adj" fmla="val 5208"/>
            </a:avLst>
          </a:prstGeom>
          <a:solidFill>
            <a:srgbClr val="FFFFFF"/>
          </a:solidFill>
          <a:ln w="12700">
            <a:solidFill>
              <a:srgbClr val="A26769"/>
            </a:solidFill>
            <a:prstDash val="solid"/>
          </a:ln>
        </p:spPr>
      </p:sp>
      <p:sp>
        <p:nvSpPr>
          <p:cNvPr id="16" name="Text 14"/>
          <p:cNvSpPr txBox="1"/>
          <p:nvPr/>
        </p:nvSpPr>
        <p:spPr>
          <a:xfrm>
            <a:off x="676656" y="2916936"/>
            <a:ext cx="211226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みずほ銀行</a:t>
            </a:r>
            <a:endParaRPr lang="en-US" sz="1250" dirty="0"/>
          </a:p>
        </p:txBody>
      </p:sp>
      <p:sp>
        <p:nvSpPr>
          <p:cNvPr id="17" name="Text 15"/>
          <p:cNvSpPr txBox="1"/>
          <p:nvPr/>
        </p:nvSpPr>
        <p:spPr>
          <a:xfrm>
            <a:off x="658368" y="3191256"/>
            <a:ext cx="2148840"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買収ファイナンス</a:t>
            </a:r>
            <a:endParaRPr lang="en-US" sz="900" dirty="0"/>
          </a:p>
        </p:txBody>
      </p:sp>
      <p:sp>
        <p:nvSpPr>
          <p:cNvPr id="18" name="Shape 16"/>
          <p:cNvSpPr/>
          <p:nvPr/>
        </p:nvSpPr>
        <p:spPr>
          <a:xfrm>
            <a:off x="4069080" y="2798064"/>
            <a:ext cx="4023360" cy="877824"/>
          </a:xfrm>
          <a:prstGeom prst="roundRect">
            <a:avLst>
              <a:gd name="adj" fmla="val 5208"/>
            </a:avLst>
          </a:prstGeom>
          <a:solidFill>
            <a:srgbClr val="6D2E46"/>
          </a:solidFill>
          <a:ln w="15875">
            <a:solidFill>
              <a:srgbClr val="6D2E46"/>
            </a:solidFill>
            <a:prstDash val="solid"/>
          </a:ln>
        </p:spPr>
      </p:sp>
      <p:sp>
        <p:nvSpPr>
          <p:cNvPr id="19" name="Text 17"/>
          <p:cNvSpPr txBox="1"/>
          <p:nvPr/>
        </p:nvSpPr>
        <p:spPr>
          <a:xfrm>
            <a:off x="4178808" y="2916936"/>
            <a:ext cx="3803904"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買収目的会社（SPC）</a:t>
            </a:r>
            <a:endParaRPr lang="en-US" sz="1400" dirty="0"/>
          </a:p>
        </p:txBody>
      </p:sp>
      <p:sp>
        <p:nvSpPr>
          <p:cNvPr id="20" name="Text 18"/>
          <p:cNvSpPr txBox="1"/>
          <p:nvPr/>
        </p:nvSpPr>
        <p:spPr>
          <a:xfrm>
            <a:off x="4160520" y="3191256"/>
            <a:ext cx="3840480" cy="402336"/>
          </a:xfrm>
          <a:prstGeom prst="rect">
            <a:avLst/>
          </a:prstGeom>
          <a:noFill/>
          <a:ln/>
        </p:spPr>
        <p:txBody>
          <a:bodyPr wrap="square" lIns="0" tIns="0" rIns="0" bIns="0" rtlCol="0" anchor="ctr"/>
          <a:lstStyle/>
          <a:p>
            <a:pPr algn="ctr" indent="0" marL="0">
              <a:lnSpc>
                <a:spcPts val="1200"/>
              </a:lnSpc>
              <a:buNone/>
            </a:pPr>
            <a:r>
              <a:rPr lang="en-US" sz="900" dirty="0">
                <a:solidFill>
                  <a:srgbClr val="E3D2D7"/>
                </a:solidFill>
                <a:latin typeface="Calibri" pitchFamily="34" charset="0"/>
                <a:ea typeface="Calibri" pitchFamily="34" charset="-122"/>
                <a:cs typeface="Calibri" pitchFamily="34" charset="-120"/>
              </a:rPr>
              <a:t>資本金10万円／借入41.4億円（ターム20.0＋ブリッジ21.4）</a:t>
            </a:r>
            <a:endParaRPr lang="en-US" sz="900" dirty="0"/>
          </a:p>
        </p:txBody>
      </p:sp>
      <p:sp>
        <p:nvSpPr>
          <p:cNvPr id="21" name="Shape 19"/>
          <p:cNvSpPr/>
          <p:nvPr/>
        </p:nvSpPr>
        <p:spPr>
          <a:xfrm>
            <a:off x="9189720" y="2798064"/>
            <a:ext cx="2432304" cy="877824"/>
          </a:xfrm>
          <a:prstGeom prst="roundRect">
            <a:avLst>
              <a:gd name="adj" fmla="val 5208"/>
            </a:avLst>
          </a:prstGeom>
          <a:solidFill>
            <a:srgbClr val="FFFFFF"/>
          </a:solidFill>
          <a:ln w="12700">
            <a:solidFill>
              <a:srgbClr val="A26769"/>
            </a:solidFill>
            <a:prstDash val="solid"/>
          </a:ln>
        </p:spPr>
      </p:sp>
      <p:sp>
        <p:nvSpPr>
          <p:cNvPr id="22" name="Text 20"/>
          <p:cNvSpPr txBox="1"/>
          <p:nvPr/>
        </p:nvSpPr>
        <p:spPr>
          <a:xfrm>
            <a:off x="9299448" y="2916936"/>
            <a:ext cx="2212848"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岸田 周三 氏</a:t>
            </a:r>
            <a:endParaRPr lang="en-US" sz="1250" dirty="0"/>
          </a:p>
        </p:txBody>
      </p:sp>
      <p:sp>
        <p:nvSpPr>
          <p:cNvPr id="23" name="Text 21"/>
          <p:cNvSpPr txBox="1"/>
          <p:nvPr/>
        </p:nvSpPr>
        <p:spPr>
          <a:xfrm>
            <a:off x="9281160" y="3191256"/>
            <a:ext cx="2249424"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対象会社株式100%を保有</a:t>
            </a:r>
            <a:endParaRPr lang="en-US" sz="900" dirty="0"/>
          </a:p>
        </p:txBody>
      </p:sp>
      <p:sp>
        <p:nvSpPr>
          <p:cNvPr id="24" name="Text 22"/>
          <p:cNvSpPr txBox="1"/>
          <p:nvPr/>
        </p:nvSpPr>
        <p:spPr>
          <a:xfrm>
            <a:off x="2916936" y="2834640"/>
            <a:ext cx="1133856" cy="329184"/>
          </a:xfrm>
          <a:prstGeom prst="rect">
            <a:avLst/>
          </a:prstGeom>
          <a:noFill/>
          <a:ln/>
        </p:spPr>
        <p:txBody>
          <a:bodyPr wrap="square" lIns="0" tIns="0" rIns="0" bIns="0" rtlCol="0" anchor="ctr"/>
          <a:lstStyle/>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ターム 20.0億円</a:t>
            </a:r>
            <a:endParaRPr lang="en-US" sz="850" dirty="0"/>
          </a:p>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＋ブリッジ 21.4億円</a:t>
            </a:r>
            <a:endParaRPr lang="en-US" sz="850" dirty="0"/>
          </a:p>
        </p:txBody>
      </p:sp>
      <p:sp>
        <p:nvSpPr>
          <p:cNvPr id="25" name="Shape 23"/>
          <p:cNvSpPr/>
          <p:nvPr/>
        </p:nvSpPr>
        <p:spPr>
          <a:xfrm>
            <a:off x="2935224" y="3310128"/>
            <a:ext cx="1115568" cy="0"/>
          </a:xfrm>
          <a:prstGeom prst="line">
            <a:avLst/>
          </a:prstGeom>
          <a:noFill/>
          <a:ln w="19050">
            <a:solidFill>
              <a:srgbClr val="A26769"/>
            </a:solidFill>
            <a:prstDash val="solid"/>
            <a:tailEnd type="triangle"/>
          </a:ln>
        </p:spPr>
      </p:sp>
      <p:sp>
        <p:nvSpPr>
          <p:cNvPr id="26" name="Text 24"/>
          <p:cNvSpPr txBox="1"/>
          <p:nvPr/>
        </p:nvSpPr>
        <p:spPr>
          <a:xfrm>
            <a:off x="8092440" y="2852928"/>
            <a:ext cx="1097280" cy="182880"/>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株式 100%</a:t>
            </a:r>
            <a:endParaRPr lang="en-US" sz="850" dirty="0"/>
          </a:p>
        </p:txBody>
      </p:sp>
      <p:sp>
        <p:nvSpPr>
          <p:cNvPr id="27" name="Shape 25"/>
          <p:cNvSpPr/>
          <p:nvPr/>
        </p:nvSpPr>
        <p:spPr>
          <a:xfrm>
            <a:off x="8110728" y="3072384"/>
            <a:ext cx="1060704" cy="0"/>
          </a:xfrm>
          <a:prstGeom prst="line">
            <a:avLst/>
          </a:prstGeom>
          <a:noFill/>
          <a:ln w="19050">
            <a:solidFill>
              <a:srgbClr val="A26769"/>
            </a:solidFill>
            <a:prstDash val="solid"/>
            <a:tailEnd type="triangle"/>
          </a:ln>
        </p:spPr>
      </p:sp>
      <p:sp>
        <p:nvSpPr>
          <p:cNvPr id="28" name="Shape 26"/>
          <p:cNvSpPr/>
          <p:nvPr/>
        </p:nvSpPr>
        <p:spPr>
          <a:xfrm>
            <a:off x="8110728" y="3364992"/>
            <a:ext cx="1060704" cy="0"/>
          </a:xfrm>
          <a:prstGeom prst="line">
            <a:avLst/>
          </a:prstGeom>
          <a:noFill/>
          <a:ln w="19050">
            <a:solidFill>
              <a:srgbClr val="6D2E46"/>
            </a:solidFill>
            <a:prstDash val="solid"/>
            <a:tailEnd type="triangle"/>
          </a:ln>
        </p:spPr>
      </p:sp>
      <p:sp>
        <p:nvSpPr>
          <p:cNvPr id="29" name="Text 27"/>
          <p:cNvSpPr txBox="1"/>
          <p:nvPr/>
        </p:nvSpPr>
        <p:spPr>
          <a:xfrm>
            <a:off x="8065008" y="3419856"/>
            <a:ext cx="1152144" cy="329184"/>
          </a:xfrm>
          <a:prstGeom prst="rect">
            <a:avLst/>
          </a:prstGeom>
          <a:noFill/>
          <a:ln/>
        </p:spPr>
        <p:txBody>
          <a:bodyPr wrap="square" lIns="0" tIns="0" rIns="0" bIns="0" rtlCol="0" anchor="ctr"/>
          <a:lstStyle/>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譲受代金</a:t>
            </a:r>
            <a:endParaRPr lang="en-US" sz="800" dirty="0"/>
          </a:p>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50.0〜55.0億円</a:t>
            </a:r>
            <a:endParaRPr lang="en-US" sz="800" dirty="0"/>
          </a:p>
        </p:txBody>
      </p:sp>
      <p:sp>
        <p:nvSpPr>
          <p:cNvPr id="30" name="Shape 28"/>
          <p:cNvSpPr/>
          <p:nvPr/>
        </p:nvSpPr>
        <p:spPr>
          <a:xfrm>
            <a:off x="6080760" y="3675888"/>
            <a:ext cx="0" cy="548640"/>
          </a:xfrm>
          <a:prstGeom prst="line">
            <a:avLst/>
          </a:prstGeom>
          <a:noFill/>
          <a:ln w="19050">
            <a:solidFill>
              <a:srgbClr val="6D2E46"/>
            </a:solidFill>
            <a:prstDash val="solid"/>
            <a:tailEnd type="triangle"/>
          </a:ln>
        </p:spPr>
      </p:sp>
      <p:sp>
        <p:nvSpPr>
          <p:cNvPr id="31" name="Text 29"/>
          <p:cNvSpPr txBox="1"/>
          <p:nvPr/>
        </p:nvSpPr>
        <p:spPr>
          <a:xfrm>
            <a:off x="6172200" y="3749040"/>
            <a:ext cx="2194560" cy="201168"/>
          </a:xfrm>
          <a:prstGeom prst="rect">
            <a:avLst/>
          </a:prstGeom>
          <a:noFill/>
          <a:ln/>
        </p:spPr>
        <p:txBody>
          <a:bodyPr wrap="square" lIns="0" tIns="0" rIns="0" bIns="0" rtlCol="0" anchor="ctr"/>
          <a:lstStyle/>
          <a:p>
            <a:pPr algn="ctr" indent="0" marL="0">
              <a:lnSpc>
                <a:spcPts val="1100"/>
              </a:lnSpc>
              <a:buNone/>
            </a:pPr>
            <a:r>
              <a:rPr lang="en-US" sz="850" b="1" dirty="0">
                <a:solidFill>
                  <a:srgbClr val="6E6368"/>
                </a:solidFill>
                <a:latin typeface="Calibri" pitchFamily="34" charset="0"/>
                <a:ea typeface="Calibri" pitchFamily="34" charset="-122"/>
                <a:cs typeface="Calibri" pitchFamily="34" charset="-120"/>
              </a:rPr>
              <a:t>100%取得 → クロージング後に合併</a:t>
            </a:r>
            <a:endParaRPr lang="en-US" sz="850" dirty="0"/>
          </a:p>
        </p:txBody>
      </p:sp>
      <p:sp>
        <p:nvSpPr>
          <p:cNvPr id="32" name="Shape 30"/>
          <p:cNvSpPr/>
          <p:nvPr/>
        </p:nvSpPr>
        <p:spPr>
          <a:xfrm>
            <a:off x="4069080" y="4224528"/>
            <a:ext cx="4023360" cy="822960"/>
          </a:xfrm>
          <a:prstGeom prst="roundRect">
            <a:avLst>
              <a:gd name="adj" fmla="val 5556"/>
            </a:avLst>
          </a:prstGeom>
          <a:solidFill>
            <a:srgbClr val="FFFFFF"/>
          </a:solidFill>
          <a:ln w="19050">
            <a:solidFill>
              <a:srgbClr val="6D2E46"/>
            </a:solidFill>
            <a:prstDash val="solid"/>
          </a:ln>
        </p:spPr>
      </p:sp>
      <p:sp>
        <p:nvSpPr>
          <p:cNvPr id="33" name="Text 31"/>
          <p:cNvSpPr txBox="1"/>
          <p:nvPr/>
        </p:nvSpPr>
        <p:spPr>
          <a:xfrm>
            <a:off x="4178808" y="4343400"/>
            <a:ext cx="3803904"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株式会社プティ・ボノム（カンテサンス）</a:t>
            </a:r>
            <a:endParaRPr lang="en-US" sz="1200" dirty="0"/>
          </a:p>
        </p:txBody>
      </p:sp>
      <p:sp>
        <p:nvSpPr>
          <p:cNvPr id="34" name="Text 32"/>
          <p:cNvSpPr txBox="1"/>
          <p:nvPr/>
        </p:nvSpPr>
        <p:spPr>
          <a:xfrm>
            <a:off x="4160520" y="4617720"/>
            <a:ext cx="3840480" cy="347472"/>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現預金17.4億円／岸田氏は3年間 代表取締役として在任</a:t>
            </a:r>
            <a:endParaRPr lang="en-US" sz="900" dirty="0"/>
          </a:p>
        </p:txBody>
      </p:sp>
      <p:sp>
        <p:nvSpPr>
          <p:cNvPr id="35" name="Text 33"/>
          <p:cNvSpPr txBox="1"/>
          <p:nvPr/>
        </p:nvSpPr>
        <p:spPr>
          <a:xfrm>
            <a:off x="8503920" y="4224528"/>
            <a:ext cx="3118104" cy="786384"/>
          </a:xfrm>
          <a:prstGeom prst="rect">
            <a:avLst/>
          </a:prstGeom>
          <a:noFill/>
          <a:ln/>
        </p:spPr>
        <p:txBody>
          <a:bodyPr wrap="square" lIns="0" tIns="0" rIns="0" bIns="0" rtlCol="0" anchor="ctr"/>
          <a:lstStyle/>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合併後、対象会社の余剰現金21.4億円</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（現預金17.4＋役員貸付金5.0−留保1.0）</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をもってブリッジローンを全額返済</a:t>
            </a:r>
            <a:endParaRPr lang="en-US" sz="900" dirty="0"/>
          </a:p>
        </p:txBody>
      </p:sp>
      <p:sp>
        <p:nvSpPr>
          <p:cNvPr id="36" name="Shape 34"/>
          <p:cNvSpPr/>
          <p:nvPr/>
        </p:nvSpPr>
        <p:spPr>
          <a:xfrm>
            <a:off x="566928" y="5230368"/>
            <a:ext cx="2560320" cy="914400"/>
          </a:xfrm>
          <a:prstGeom prst="roundRect">
            <a:avLst>
              <a:gd name="adj" fmla="val 5000"/>
            </a:avLst>
          </a:prstGeom>
          <a:solidFill>
            <a:srgbClr val="F7F3F4"/>
          </a:solidFill>
          <a:ln w="9525">
            <a:solidFill>
              <a:srgbClr val="E4DADD"/>
            </a:solidFill>
            <a:prstDash val="solid"/>
          </a:ln>
        </p:spPr>
      </p:sp>
      <p:sp>
        <p:nvSpPr>
          <p:cNvPr id="37" name="Text 35"/>
          <p:cNvSpPr txBox="1"/>
          <p:nvPr/>
        </p:nvSpPr>
        <p:spPr>
          <a:xfrm>
            <a:off x="73152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38" name="Text 36"/>
          <p:cNvSpPr txBox="1"/>
          <p:nvPr/>
        </p:nvSpPr>
        <p:spPr>
          <a:xfrm>
            <a:off x="731520" y="5522976"/>
            <a:ext cx="2286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50.0〜55.0億円</a:t>
            </a:r>
            <a:endParaRPr lang="en-US" sz="1700" dirty="0"/>
          </a:p>
        </p:txBody>
      </p:sp>
      <p:sp>
        <p:nvSpPr>
          <p:cNvPr id="39" name="Text 37"/>
          <p:cNvSpPr txBox="1"/>
          <p:nvPr/>
        </p:nvSpPr>
        <p:spPr>
          <a:xfrm>
            <a:off x="73152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レンジで提示</a:t>
            </a:r>
            <a:endParaRPr lang="en-US" sz="850" dirty="0"/>
          </a:p>
        </p:txBody>
      </p:sp>
      <p:sp>
        <p:nvSpPr>
          <p:cNvPr id="40" name="Shape 38"/>
          <p:cNvSpPr/>
          <p:nvPr/>
        </p:nvSpPr>
        <p:spPr>
          <a:xfrm>
            <a:off x="3355848" y="5230368"/>
            <a:ext cx="2560320" cy="914400"/>
          </a:xfrm>
          <a:prstGeom prst="roundRect">
            <a:avLst>
              <a:gd name="adj" fmla="val 5000"/>
            </a:avLst>
          </a:prstGeom>
          <a:solidFill>
            <a:srgbClr val="6D2E46"/>
          </a:solidFill>
          <a:ln w="9525">
            <a:solidFill>
              <a:srgbClr val="6D2E46"/>
            </a:solidFill>
            <a:prstDash val="solid"/>
          </a:ln>
        </p:spPr>
      </p:sp>
      <p:sp>
        <p:nvSpPr>
          <p:cNvPr id="41" name="Text 39"/>
          <p:cNvSpPr txBox="1"/>
          <p:nvPr/>
        </p:nvSpPr>
        <p:spPr>
          <a:xfrm>
            <a:off x="352044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みずほへの依頼</a:t>
            </a:r>
            <a:endParaRPr lang="en-US" sz="950" dirty="0"/>
          </a:p>
        </p:txBody>
      </p:sp>
      <p:sp>
        <p:nvSpPr>
          <p:cNvPr id="42" name="Text 40"/>
          <p:cNvSpPr txBox="1"/>
          <p:nvPr/>
        </p:nvSpPr>
        <p:spPr>
          <a:xfrm>
            <a:off x="352044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41.4億円</a:t>
            </a:r>
            <a:endParaRPr lang="en-US" sz="2000" dirty="0"/>
          </a:p>
        </p:txBody>
      </p:sp>
      <p:sp>
        <p:nvSpPr>
          <p:cNvPr id="43" name="Text 41"/>
          <p:cNvSpPr txBox="1"/>
          <p:nvPr/>
        </p:nvSpPr>
        <p:spPr>
          <a:xfrm>
            <a:off x="352044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ターム20.0＋ブリッジ21.4</a:t>
            </a:r>
            <a:endParaRPr lang="en-US" sz="850" dirty="0"/>
          </a:p>
        </p:txBody>
      </p:sp>
      <p:sp>
        <p:nvSpPr>
          <p:cNvPr id="44" name="Shape 42"/>
          <p:cNvSpPr/>
          <p:nvPr/>
        </p:nvSpPr>
        <p:spPr>
          <a:xfrm>
            <a:off x="6144768" y="5230368"/>
            <a:ext cx="2560320" cy="914400"/>
          </a:xfrm>
          <a:prstGeom prst="roundRect">
            <a:avLst>
              <a:gd name="adj" fmla="val 5000"/>
            </a:avLst>
          </a:prstGeom>
          <a:solidFill>
            <a:srgbClr val="6D2E46"/>
          </a:solidFill>
          <a:ln w="9525">
            <a:solidFill>
              <a:srgbClr val="6D2E46"/>
            </a:solidFill>
            <a:prstDash val="solid"/>
          </a:ln>
        </p:spPr>
      </p:sp>
      <p:sp>
        <p:nvSpPr>
          <p:cNvPr id="45" name="Text 43"/>
          <p:cNvSpPr txBox="1"/>
          <p:nvPr/>
        </p:nvSpPr>
        <p:spPr>
          <a:xfrm>
            <a:off x="630936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中野氏の実弾</a:t>
            </a:r>
            <a:endParaRPr lang="en-US" sz="950" dirty="0"/>
          </a:p>
        </p:txBody>
      </p:sp>
      <p:sp>
        <p:nvSpPr>
          <p:cNvPr id="46" name="Text 44"/>
          <p:cNvSpPr txBox="1"/>
          <p:nvPr/>
        </p:nvSpPr>
        <p:spPr>
          <a:xfrm>
            <a:off x="630936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700万円</a:t>
            </a:r>
            <a:endParaRPr lang="en-US" sz="2000" dirty="0"/>
          </a:p>
        </p:txBody>
      </p:sp>
      <p:sp>
        <p:nvSpPr>
          <p:cNvPr id="47" name="Text 45"/>
          <p:cNvSpPr txBox="1"/>
          <p:nvPr/>
        </p:nvSpPr>
        <p:spPr>
          <a:xfrm>
            <a:off x="630936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留保現金1.0億円とした場合</a:t>
            </a:r>
            <a:endParaRPr lang="en-US" sz="850" dirty="0"/>
          </a:p>
        </p:txBody>
      </p:sp>
      <p:sp>
        <p:nvSpPr>
          <p:cNvPr id="48" name="Shape 46"/>
          <p:cNvSpPr/>
          <p:nvPr/>
        </p:nvSpPr>
        <p:spPr>
          <a:xfrm>
            <a:off x="8933688" y="5230368"/>
            <a:ext cx="2560320" cy="914400"/>
          </a:xfrm>
          <a:prstGeom prst="roundRect">
            <a:avLst>
              <a:gd name="adj" fmla="val 5000"/>
            </a:avLst>
          </a:prstGeom>
          <a:solidFill>
            <a:srgbClr val="F7F3F4"/>
          </a:solidFill>
          <a:ln w="9525">
            <a:solidFill>
              <a:srgbClr val="E4DADD"/>
            </a:solidFill>
            <a:prstDash val="solid"/>
          </a:ln>
        </p:spPr>
      </p:sp>
      <p:sp>
        <p:nvSpPr>
          <p:cNvPr id="49" name="Text 47"/>
          <p:cNvSpPr txBox="1"/>
          <p:nvPr/>
        </p:nvSpPr>
        <p:spPr>
          <a:xfrm>
            <a:off x="909828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合併後の有利子負債</a:t>
            </a:r>
            <a:endParaRPr lang="en-US" sz="950" dirty="0"/>
          </a:p>
        </p:txBody>
      </p:sp>
      <p:sp>
        <p:nvSpPr>
          <p:cNvPr id="50" name="Text 48"/>
          <p:cNvSpPr txBox="1"/>
          <p:nvPr/>
        </p:nvSpPr>
        <p:spPr>
          <a:xfrm>
            <a:off x="9098280" y="5522976"/>
            <a:ext cx="2286000" cy="36576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20.0億円</a:t>
            </a:r>
            <a:endParaRPr lang="en-US" sz="2000" dirty="0"/>
          </a:p>
        </p:txBody>
      </p:sp>
      <p:sp>
        <p:nvSpPr>
          <p:cNvPr id="51" name="Text 49"/>
          <p:cNvSpPr txBox="1"/>
          <p:nvPr/>
        </p:nvSpPr>
        <p:spPr>
          <a:xfrm>
            <a:off x="909828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初年度DSCR 1.36倍</a:t>
            </a:r>
            <a:endParaRPr lang="en-US" sz="850" dirty="0"/>
          </a:p>
        </p:txBody>
      </p:sp>
      <p:sp>
        <p:nvSpPr>
          <p:cNvPr id="52" name="Text 5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53" name="Text 5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資金の流れ ― クロージング時、合併直後、定常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対象会社の現預金は買収した後にしか使えない。クロージング時の不足はブリッジローンで埋め、合併直後に対象会社の余剰現金で全額返済する。</a:t>
            </a:r>
            <a:endParaRPr lang="en-US" sz="1250" dirty="0"/>
          </a:p>
        </p:txBody>
      </p:sp>
      <p:sp>
        <p:nvSpPr>
          <p:cNvPr id="5" name="Text 3"/>
          <p:cNvSpPr txBox="1"/>
          <p:nvPr/>
        </p:nvSpPr>
        <p:spPr>
          <a:xfrm>
            <a:off x="566928" y="1517904"/>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① クロージング時</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6675120" cy="914400"/>
        </p:xfrm>
        <a:graphic>
          <a:graphicData uri="http://schemas.openxmlformats.org/drawingml/2006/table">
            <a:tbl>
              <a:tblPr/>
              <a:tblGrid>
                <a:gridCol w="1691640"/>
                <a:gridCol w="1051560"/>
                <a:gridCol w="2834640"/>
                <a:gridCol w="10972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資金使途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調達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株式譲受代金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みずほ　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取得関連費用</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みずほ　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榊原氏　出資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　出資10万円＋株主貸付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3858768"/>
            <a:ext cx="667512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譲受価額が55.0億円となる場合、差額5.0億円は追加投資家の第三者割当増資で調達する（p.19）。借入額および合併後の財務は変わらない。</a:t>
            </a:r>
            <a:endParaRPr lang="en-US" sz="900" dirty="0"/>
          </a:p>
        </p:txBody>
      </p:sp>
      <p:sp>
        <p:nvSpPr>
          <p:cNvPr id="8" name="Text 5"/>
          <p:cNvSpPr txBox="1"/>
          <p:nvPr/>
        </p:nvSpPr>
        <p:spPr>
          <a:xfrm>
            <a:off x="566928" y="4151376"/>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② 合併直後</a:t>
            </a:r>
            <a:endParaRPr lang="en-US" sz="13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66928" y="4462272"/>
          <a:ext cx="6675120" cy="914400"/>
        </p:xfrm>
        <a:graphic>
          <a:graphicData uri="http://schemas.openxmlformats.org/drawingml/2006/table">
            <a:tbl>
              <a:tblPr/>
              <a:tblGrid>
                <a:gridCol w="1920240"/>
                <a:gridCol w="1097280"/>
                <a:gridCol w="3657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対象会社の現預金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充当先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うち1.0億円は運転資金として留保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役員貸付金の精算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クロージング時に岸田氏が現金返済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ブリッジ返済原資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ブリッジローンを全額返済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0" name="Shape 6"/>
          <p:cNvSpPr/>
          <p:nvPr/>
        </p:nvSpPr>
        <p:spPr>
          <a:xfrm>
            <a:off x="7498080" y="1517904"/>
            <a:ext cx="4123944" cy="2889504"/>
          </a:xfrm>
          <a:prstGeom prst="roundRect">
            <a:avLst>
              <a:gd name="adj" fmla="val 1582"/>
            </a:avLst>
          </a:prstGeom>
          <a:solidFill>
            <a:srgbClr val="F7F3F4"/>
          </a:solidFill>
          <a:ln w="9525">
            <a:solidFill>
              <a:srgbClr val="E4DADD"/>
            </a:solidFill>
            <a:prstDash val="solid"/>
          </a:ln>
        </p:spPr>
      </p:sp>
      <p:sp>
        <p:nvSpPr>
          <p:cNvPr id="11" name="Text 7"/>
          <p:cNvSpPr txBox="1"/>
          <p:nvPr/>
        </p:nvSpPr>
        <p:spPr>
          <a:xfrm>
            <a:off x="7717536" y="1627632"/>
            <a:ext cx="36576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③ 定常状態（合併後）</a:t>
            </a:r>
            <a:endParaRPr lang="en-US" sz="1000" dirty="0"/>
          </a:p>
        </p:txBody>
      </p:sp>
      <p:sp>
        <p:nvSpPr>
          <p:cNvPr id="12" name="Text 8"/>
          <p:cNvSpPr txBox="1"/>
          <p:nvPr/>
        </p:nvSpPr>
        <p:spPr>
          <a:xfrm>
            <a:off x="7717536" y="1956816"/>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有利子負債</a:t>
            </a:r>
            <a:endParaRPr lang="en-US" sz="1000" dirty="0"/>
          </a:p>
        </p:txBody>
      </p:sp>
      <p:sp>
        <p:nvSpPr>
          <p:cNvPr id="13" name="Text 9"/>
          <p:cNvSpPr txBox="1"/>
          <p:nvPr/>
        </p:nvSpPr>
        <p:spPr>
          <a:xfrm>
            <a:off x="9290304" y="1956816"/>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20.0億円</a:t>
            </a:r>
            <a:endParaRPr lang="en-US" sz="1150" dirty="0"/>
          </a:p>
        </p:txBody>
      </p:sp>
      <p:sp>
        <p:nvSpPr>
          <p:cNvPr id="14" name="Text 10"/>
          <p:cNvSpPr txBox="1"/>
          <p:nvPr/>
        </p:nvSpPr>
        <p:spPr>
          <a:xfrm>
            <a:off x="7717536" y="2176272"/>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TLA14.0億（元金均等7年・毎月返済）＋TLB6.0億（期限一括）</a:t>
            </a:r>
            <a:endParaRPr lang="en-US" sz="850" dirty="0"/>
          </a:p>
        </p:txBody>
      </p:sp>
      <p:sp>
        <p:nvSpPr>
          <p:cNvPr id="15" name="Text 11"/>
          <p:cNvSpPr txBox="1"/>
          <p:nvPr/>
        </p:nvSpPr>
        <p:spPr>
          <a:xfrm>
            <a:off x="7717536" y="2450592"/>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現預金</a:t>
            </a:r>
            <a:endParaRPr lang="en-US" sz="1000" dirty="0"/>
          </a:p>
        </p:txBody>
      </p:sp>
      <p:sp>
        <p:nvSpPr>
          <p:cNvPr id="16" name="Text 12"/>
          <p:cNvSpPr txBox="1"/>
          <p:nvPr/>
        </p:nvSpPr>
        <p:spPr>
          <a:xfrm>
            <a:off x="9290304" y="2450592"/>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1.0億円</a:t>
            </a:r>
            <a:endParaRPr lang="en-US" sz="1150" dirty="0"/>
          </a:p>
        </p:txBody>
      </p:sp>
      <p:sp>
        <p:nvSpPr>
          <p:cNvPr id="17" name="Text 13"/>
          <p:cNvSpPr txBox="1"/>
          <p:nvPr/>
        </p:nvSpPr>
        <p:spPr>
          <a:xfrm>
            <a:off x="7717536" y="2670048"/>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運転資金として留保</a:t>
            </a:r>
            <a:endParaRPr lang="en-US" sz="850" dirty="0"/>
          </a:p>
        </p:txBody>
      </p:sp>
      <p:sp>
        <p:nvSpPr>
          <p:cNvPr id="18" name="Text 14"/>
          <p:cNvSpPr txBox="1"/>
          <p:nvPr/>
        </p:nvSpPr>
        <p:spPr>
          <a:xfrm>
            <a:off x="7717536" y="2944368"/>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ネットデット</a:t>
            </a:r>
            <a:endParaRPr lang="en-US" sz="1000" dirty="0"/>
          </a:p>
        </p:txBody>
      </p:sp>
      <p:sp>
        <p:nvSpPr>
          <p:cNvPr id="19" name="Text 15"/>
          <p:cNvSpPr txBox="1"/>
          <p:nvPr/>
        </p:nvSpPr>
        <p:spPr>
          <a:xfrm>
            <a:off x="9290304" y="2944368"/>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19.0億円</a:t>
            </a:r>
            <a:endParaRPr lang="en-US" sz="1150" dirty="0"/>
          </a:p>
        </p:txBody>
      </p:sp>
      <p:sp>
        <p:nvSpPr>
          <p:cNvPr id="20" name="Text 16"/>
          <p:cNvSpPr txBox="1"/>
          <p:nvPr/>
        </p:nvSpPr>
        <p:spPr>
          <a:xfrm>
            <a:off x="7717536" y="3163824"/>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EBITDA 3.6倍</a:t>
            </a:r>
            <a:endParaRPr lang="en-US" sz="850" dirty="0"/>
          </a:p>
        </p:txBody>
      </p:sp>
      <p:sp>
        <p:nvSpPr>
          <p:cNvPr id="21" name="Text 17"/>
          <p:cNvSpPr txBox="1"/>
          <p:nvPr/>
        </p:nvSpPr>
        <p:spPr>
          <a:xfrm>
            <a:off x="7717536" y="3438144"/>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初年度DSCR</a:t>
            </a:r>
            <a:endParaRPr lang="en-US" sz="1000" dirty="0"/>
          </a:p>
        </p:txBody>
      </p:sp>
      <p:sp>
        <p:nvSpPr>
          <p:cNvPr id="22" name="Text 18"/>
          <p:cNvSpPr txBox="1"/>
          <p:nvPr/>
        </p:nvSpPr>
        <p:spPr>
          <a:xfrm>
            <a:off x="9290304" y="3438144"/>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1.36倍</a:t>
            </a:r>
            <a:endParaRPr lang="en-US" sz="1150" dirty="0"/>
          </a:p>
        </p:txBody>
      </p:sp>
      <p:sp>
        <p:nvSpPr>
          <p:cNvPr id="23" name="Text 19"/>
          <p:cNvSpPr txBox="1"/>
          <p:nvPr/>
        </p:nvSpPr>
        <p:spPr>
          <a:xfrm>
            <a:off x="7717536" y="3657600"/>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元利返済2.57億円 vs FCF 3.50億円</a:t>
            </a:r>
            <a:endParaRPr lang="en-US" sz="850" dirty="0"/>
          </a:p>
        </p:txBody>
      </p:sp>
      <p:sp>
        <p:nvSpPr>
          <p:cNvPr id="24" name="Text 20"/>
          <p:cNvSpPr txBox="1"/>
          <p:nvPr/>
        </p:nvSpPr>
        <p:spPr>
          <a:xfrm>
            <a:off x="7717536" y="3931920"/>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2027年 最低現金残高</a:t>
            </a:r>
            <a:endParaRPr lang="en-US" sz="1000" dirty="0"/>
          </a:p>
        </p:txBody>
      </p:sp>
      <p:sp>
        <p:nvSpPr>
          <p:cNvPr id="25" name="Text 21"/>
          <p:cNvSpPr txBox="1"/>
          <p:nvPr/>
        </p:nvSpPr>
        <p:spPr>
          <a:xfrm>
            <a:off x="9290304" y="3931920"/>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0.19億円</a:t>
            </a:r>
            <a:endParaRPr lang="en-US" sz="1150" dirty="0"/>
          </a:p>
        </p:txBody>
      </p:sp>
      <p:sp>
        <p:nvSpPr>
          <p:cNvPr id="26" name="Text 22"/>
          <p:cNvSpPr txBox="1"/>
          <p:nvPr/>
        </p:nvSpPr>
        <p:spPr>
          <a:xfrm>
            <a:off x="7717536" y="4151376"/>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2月末。月次固定費の1.0か月分</a:t>
            </a:r>
            <a:endParaRPr lang="en-US" sz="850" dirty="0"/>
          </a:p>
        </p:txBody>
      </p:sp>
      <p:sp>
        <p:nvSpPr>
          <p:cNvPr id="27" name="Shape 23"/>
          <p:cNvSpPr/>
          <p:nvPr/>
        </p:nvSpPr>
        <p:spPr>
          <a:xfrm>
            <a:off x="7498080" y="4480560"/>
            <a:ext cx="4123944" cy="1243584"/>
          </a:xfrm>
          <a:prstGeom prst="roundRect">
            <a:avLst>
              <a:gd name="adj" fmla="val 3676"/>
            </a:avLst>
          </a:prstGeom>
          <a:solidFill>
            <a:srgbClr val="FFFFFF"/>
          </a:solidFill>
          <a:ln w="9525">
            <a:solidFill>
              <a:srgbClr val="E4DADD"/>
            </a:solidFill>
            <a:prstDash val="solid"/>
          </a:ln>
        </p:spPr>
      </p:sp>
      <p:sp>
        <p:nvSpPr>
          <p:cNvPr id="28" name="Text 24"/>
          <p:cNvSpPr txBox="1"/>
          <p:nvPr/>
        </p:nvSpPr>
        <p:spPr>
          <a:xfrm>
            <a:off x="7717536" y="4572000"/>
            <a:ext cx="3657600" cy="219456"/>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日程</a:t>
            </a:r>
            <a:endParaRPr lang="en-US" sz="1000" dirty="0"/>
          </a:p>
        </p:txBody>
      </p:sp>
      <p:sp>
        <p:nvSpPr>
          <p:cNvPr id="29" name="Text 25"/>
          <p:cNvSpPr txBox="1"/>
          <p:nvPr/>
        </p:nvSpPr>
        <p:spPr>
          <a:xfrm>
            <a:off x="7717536" y="4791456"/>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意向表明書提出</a:t>
            </a:r>
            <a:endParaRPr lang="en-US" sz="950" dirty="0"/>
          </a:p>
        </p:txBody>
      </p:sp>
      <p:sp>
        <p:nvSpPr>
          <p:cNvPr id="30" name="Text 26"/>
          <p:cNvSpPr txBox="1"/>
          <p:nvPr/>
        </p:nvSpPr>
        <p:spPr>
          <a:xfrm>
            <a:off x="9601200" y="4791456"/>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2026年9月30日</a:t>
            </a:r>
            <a:endParaRPr lang="en-US" sz="950" dirty="0"/>
          </a:p>
        </p:txBody>
      </p:sp>
      <p:sp>
        <p:nvSpPr>
          <p:cNvPr id="31" name="Text 27"/>
          <p:cNvSpPr txBox="1"/>
          <p:nvPr/>
        </p:nvSpPr>
        <p:spPr>
          <a:xfrm>
            <a:off x="7717536" y="5015484"/>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DD</a:t>
            </a:r>
            <a:endParaRPr lang="en-US" sz="950" dirty="0"/>
          </a:p>
        </p:txBody>
      </p:sp>
      <p:sp>
        <p:nvSpPr>
          <p:cNvPr id="32" name="Text 28"/>
          <p:cNvSpPr txBox="1"/>
          <p:nvPr/>
        </p:nvSpPr>
        <p:spPr>
          <a:xfrm>
            <a:off x="9601200" y="5015484"/>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10月上旬〜11月中旬</a:t>
            </a:r>
            <a:endParaRPr lang="en-US" sz="950" dirty="0"/>
          </a:p>
        </p:txBody>
      </p:sp>
      <p:sp>
        <p:nvSpPr>
          <p:cNvPr id="33" name="Text 29"/>
          <p:cNvSpPr txBox="1"/>
          <p:nvPr/>
        </p:nvSpPr>
        <p:spPr>
          <a:xfrm>
            <a:off x="7717536" y="5239512"/>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最終契約締結</a:t>
            </a:r>
            <a:endParaRPr lang="en-US" sz="950" dirty="0"/>
          </a:p>
        </p:txBody>
      </p:sp>
      <p:sp>
        <p:nvSpPr>
          <p:cNvPr id="34" name="Text 30"/>
          <p:cNvSpPr txBox="1"/>
          <p:nvPr/>
        </p:nvSpPr>
        <p:spPr>
          <a:xfrm>
            <a:off x="9601200" y="5239512"/>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2026年12月中旬</a:t>
            </a:r>
            <a:endParaRPr lang="en-US" sz="950" dirty="0"/>
          </a:p>
        </p:txBody>
      </p:sp>
      <p:sp>
        <p:nvSpPr>
          <p:cNvPr id="35" name="Text 31"/>
          <p:cNvSpPr txBox="1"/>
          <p:nvPr/>
        </p:nvSpPr>
        <p:spPr>
          <a:xfrm>
            <a:off x="7717536" y="5463540"/>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クロージング</a:t>
            </a:r>
            <a:endParaRPr lang="en-US" sz="950" dirty="0"/>
          </a:p>
        </p:txBody>
      </p:sp>
      <p:sp>
        <p:nvSpPr>
          <p:cNvPr id="36" name="Text 32"/>
          <p:cNvSpPr txBox="1"/>
          <p:nvPr/>
        </p:nvSpPr>
        <p:spPr>
          <a:xfrm>
            <a:off x="9601200" y="5463540"/>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2026年12月末（合意済）</a:t>
            </a:r>
            <a:endParaRPr lang="en-US" sz="950" dirty="0"/>
          </a:p>
        </p:txBody>
      </p:sp>
      <p:sp>
        <p:nvSpPr>
          <p:cNvPr id="37" name="Shape 33"/>
          <p:cNvSpPr/>
          <p:nvPr/>
        </p:nvSpPr>
        <p:spPr>
          <a:xfrm>
            <a:off x="566928" y="5760720"/>
            <a:ext cx="11055096" cy="512064"/>
          </a:xfrm>
          <a:prstGeom prst="roundRect">
            <a:avLst>
              <a:gd name="adj" fmla="val 7143"/>
            </a:avLst>
          </a:prstGeom>
          <a:solidFill>
            <a:srgbClr val="6D2E46"/>
          </a:solidFill>
          <a:ln/>
        </p:spPr>
      </p:sp>
      <p:sp>
        <p:nvSpPr>
          <p:cNvPr id="38" name="Text 34"/>
          <p:cNvSpPr txBox="1"/>
          <p:nvPr/>
        </p:nvSpPr>
        <p:spPr>
          <a:xfrm>
            <a:off x="804672" y="5815584"/>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みずほ銀行への依頼は20.0億円ではなく41.4億円　</a:t>
            </a:r>
            <a:pPr indent="0" marL="0">
              <a:lnSpc>
                <a:spcPts val="1500"/>
              </a:lnSpc>
              <a:buNone/>
            </a:pPr>
            <a:r>
              <a:rPr lang="en-US" sz="1000" dirty="0">
                <a:solidFill>
                  <a:srgbClr val="EBDCE1"/>
                </a:solidFill>
              </a:rPr>
              <a:t>タームローン20.0億円に加え、クロージング時の資金繰りを埋めるブリッジローン21.4億円が必要。ブリッジは合併直後に対象会社の余剰現金で全額返済し、残る有利子負債は20.0億円となる。</a:t>
            </a:r>
            <a:endParaRPr lang="en-US" sz="1100" dirty="0"/>
          </a:p>
        </p:txBody>
      </p:sp>
      <p:sp>
        <p:nvSpPr>
          <p:cNvPr id="39"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SENSITIVITY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対象会社に留保する現金をいくらにするか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留保額を1億円増やすと、中野氏の必要拠出額も1億円増え、2027年の最低現金残高も1億円増える。合併後の有利子負債20.0億円と初年度DSCR1.36倍は、いずれの場合も変わらない。</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1417320"/>
                <a:gridCol w="1600200"/>
                <a:gridCol w="1417320"/>
                <a:gridCol w="1828800"/>
                <a:gridCol w="1234440"/>
                <a:gridCol w="1920240"/>
                <a:gridCol w="16367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留保する現金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ブリッジローン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中野氏の拠出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合併後の有利子負債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ネット/EBITDA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2027年の最低現金残高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 固定費1.0か月分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2.0億円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1.19億円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固定費6.2か月分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3.0億円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2.19億円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余裕あり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当初案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931920"/>
            <a:ext cx="11055096"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最低現金残高は2月末。2月に2026年12月期の未払税金1.14億円を納付する一方、借入の元利返済は毎月発生するため、年間で最も薄くなる。</a:t>
            </a:r>
            <a:endParaRPr lang="en-US" sz="900" dirty="0"/>
          </a:p>
        </p:txBody>
      </p:sp>
      <p:sp>
        <p:nvSpPr>
          <p:cNvPr id="7" name="Shape 4"/>
          <p:cNvSpPr/>
          <p:nvPr/>
        </p:nvSpPr>
        <p:spPr>
          <a:xfrm>
            <a:off x="566928" y="4279392"/>
            <a:ext cx="3520440" cy="1993392"/>
          </a:xfrm>
          <a:prstGeom prst="roundRect">
            <a:avLst>
              <a:gd name="adj" fmla="val 2294"/>
            </a:avLst>
          </a:prstGeom>
          <a:solidFill>
            <a:srgbClr val="F7F3F4"/>
          </a:solidFill>
          <a:ln w="9525">
            <a:solidFill>
              <a:srgbClr val="E4DADD"/>
            </a:solidFill>
            <a:prstDash val="solid"/>
          </a:ln>
        </p:spPr>
      </p:sp>
      <p:sp>
        <p:nvSpPr>
          <p:cNvPr id="8" name="Text 5"/>
          <p:cNvSpPr txBox="1"/>
          <p:nvPr/>
        </p:nvSpPr>
        <p:spPr>
          <a:xfrm>
            <a:off x="768096"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① 1.0億円では2月末に1,900万円まで落ちる</a:t>
            </a:r>
            <a:endParaRPr lang="en-US" sz="1050" dirty="0"/>
          </a:p>
        </p:txBody>
      </p:sp>
      <p:sp>
        <p:nvSpPr>
          <p:cNvPr id="9" name="Text 6"/>
          <p:cNvSpPr txBox="1"/>
          <p:nvPr/>
        </p:nvSpPr>
        <p:spPr>
          <a:xfrm>
            <a:off x="768096"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借入の返済が毎月であるため、2026年12月期の未払税金1.14億円を納付する2月に底が来る。残高1,900万円は月次固定費の1.0か月分にすぎず、ワインの一次価格アロケーションがまとまって入荷する月や突発的な修繕が重なれば、一時的な借入が避けられない。留保を2.0億円とすれば底は1.19億円（6.2か月分）となる。</a:t>
            </a:r>
            <a:endParaRPr lang="en-US" sz="850" dirty="0"/>
          </a:p>
        </p:txBody>
      </p:sp>
      <p:sp>
        <p:nvSpPr>
          <p:cNvPr id="10" name="Shape 7"/>
          <p:cNvSpPr/>
          <p:nvPr/>
        </p:nvSpPr>
        <p:spPr>
          <a:xfrm>
            <a:off x="4297680" y="4279392"/>
            <a:ext cx="3520440" cy="1993392"/>
          </a:xfrm>
          <a:prstGeom prst="roundRect">
            <a:avLst>
              <a:gd name="adj" fmla="val 2294"/>
            </a:avLst>
          </a:prstGeom>
          <a:solidFill>
            <a:srgbClr val="F7F3F4"/>
          </a:solidFill>
          <a:ln w="9525">
            <a:solidFill>
              <a:srgbClr val="E4DADD"/>
            </a:solidFill>
            <a:prstDash val="solid"/>
          </a:ln>
        </p:spPr>
      </p:sp>
      <p:sp>
        <p:nvSpPr>
          <p:cNvPr id="11" name="Text 8"/>
          <p:cNvSpPr txBox="1"/>
          <p:nvPr/>
        </p:nvSpPr>
        <p:spPr>
          <a:xfrm>
            <a:off x="4498848"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② 資産調整勘定を織り込めば年1.8億円が浮く</a:t>
            </a:r>
            <a:endParaRPr lang="en-US" sz="1050" dirty="0"/>
          </a:p>
        </p:txBody>
      </p:sp>
      <p:sp>
        <p:nvSpPr>
          <p:cNvPr id="12" name="Text 9"/>
          <p:cNvSpPr txBox="1"/>
          <p:nvPr/>
        </p:nvSpPr>
        <p:spPr>
          <a:xfrm>
            <a:off x="4498848"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株式譲受代金50.0億円と時価純資産23.15億円の差額26.85億円が税務上ののれんとして5年で損金算入されれば、年5.37億円の損金となり課税所得はマイナスとなる。8月の中間納付0.92億円は仮決算により回避でき、期末残高は1.65億円から2.57億円へ、DSCRは1.25倍から1.61倍へ改善する。ただし2月の納付は2026年12月期に対応するものであり回避できない。</a:t>
            </a:r>
            <a:endParaRPr lang="en-US" sz="850" dirty="0"/>
          </a:p>
        </p:txBody>
      </p:sp>
      <p:sp>
        <p:nvSpPr>
          <p:cNvPr id="13" name="Shape 10"/>
          <p:cNvSpPr/>
          <p:nvPr/>
        </p:nvSpPr>
        <p:spPr>
          <a:xfrm>
            <a:off x="8028432" y="4279392"/>
            <a:ext cx="3520440" cy="1993392"/>
          </a:xfrm>
          <a:prstGeom prst="roundRect">
            <a:avLst>
              <a:gd name="adj" fmla="val 2294"/>
            </a:avLst>
          </a:prstGeom>
          <a:solidFill>
            <a:srgbClr val="F7F3F4"/>
          </a:solidFill>
          <a:ln w="9525">
            <a:solidFill>
              <a:srgbClr val="E4DADD"/>
            </a:solidFill>
            <a:prstDash val="solid"/>
          </a:ln>
        </p:spPr>
      </p:sp>
      <p:sp>
        <p:nvSpPr>
          <p:cNvPr id="14" name="Text 11"/>
          <p:cNvSpPr txBox="1"/>
          <p:nvPr/>
        </p:nvSpPr>
        <p:spPr>
          <a:xfrm>
            <a:off x="8229600"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③ 中野氏の拠出が700万円になることの副作用</a:t>
            </a:r>
            <a:endParaRPr lang="en-US" sz="1050" dirty="0"/>
          </a:p>
        </p:txBody>
      </p:sp>
      <p:sp>
        <p:nvSpPr>
          <p:cNvPr id="15" name="Text 12"/>
          <p:cNvSpPr txBox="1"/>
          <p:nvPr/>
        </p:nvSpPr>
        <p:spPr>
          <a:xfrm>
            <a:off x="8229600"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榊原氏が10.0億円を払い込むのに対し、中野氏の拠出は資本金10万円と株主貸付700万円のみとなる。67%／33%という配分は合意によるものだが、その根拠を株主間契約でより丁寧に定める必要が生じる。</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SHAREHOLDERS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株主構成 ― 譲受価額50.0億円の場合と55.0億円の場合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上限で決着した場合、差額5.0億円は第三者割当増資により、外部の追加投資家から同一のバリュエーションで調達する。</a:t>
            </a:r>
            <a:endParaRPr lang="en-US" sz="1250" dirty="0"/>
          </a:p>
        </p:txBody>
      </p:sp>
      <p:sp>
        <p:nvSpPr>
          <p:cNvPr id="5" name="Shape 3"/>
          <p:cNvSpPr/>
          <p:nvPr/>
        </p:nvSpPr>
        <p:spPr>
          <a:xfrm>
            <a:off x="566928" y="1554480"/>
            <a:ext cx="5394960" cy="3017520"/>
          </a:xfrm>
          <a:prstGeom prst="roundRect">
            <a:avLst>
              <a:gd name="adj" fmla="val 1515"/>
            </a:avLst>
          </a:prstGeom>
          <a:solidFill>
            <a:srgbClr val="FFFFFF"/>
          </a:solidFill>
          <a:ln w="9525">
            <a:solidFill>
              <a:srgbClr val="E4DADD"/>
            </a:solidFill>
            <a:prstDash val="solid"/>
          </a:ln>
        </p:spPr>
      </p:sp>
      <p:sp>
        <p:nvSpPr>
          <p:cNvPr id="6" name="Text 4"/>
          <p:cNvSpPr txBox="1"/>
          <p:nvPr/>
        </p:nvSpPr>
        <p:spPr>
          <a:xfrm>
            <a:off x="786384"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① 譲受価額 50.0億円</a:t>
            </a:r>
            <a:endParaRPr lang="en-US" sz="1500" dirty="0"/>
          </a:p>
        </p:txBody>
      </p:sp>
      <p:sp>
        <p:nvSpPr>
          <p:cNvPr id="7" name="Shape 5"/>
          <p:cNvSpPr/>
          <p:nvPr/>
        </p:nvSpPr>
        <p:spPr>
          <a:xfrm>
            <a:off x="676656" y="2029968"/>
            <a:ext cx="3450509" cy="457200"/>
          </a:xfrm>
          <a:prstGeom prst="rect">
            <a:avLst/>
          </a:prstGeom>
          <a:solidFill>
            <a:srgbClr val="6D2E46"/>
          </a:solidFill>
          <a:ln/>
        </p:spPr>
      </p:sp>
      <p:sp>
        <p:nvSpPr>
          <p:cNvPr id="8" name="Text 6"/>
          <p:cNvSpPr txBox="1"/>
          <p:nvPr/>
        </p:nvSpPr>
        <p:spPr>
          <a:xfrm>
            <a:off x="676656" y="2029968"/>
            <a:ext cx="3450509"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66.7%</a:t>
            </a:r>
            <a:endParaRPr lang="en-US" sz="1150" dirty="0"/>
          </a:p>
        </p:txBody>
      </p:sp>
      <p:sp>
        <p:nvSpPr>
          <p:cNvPr id="9" name="Shape 7"/>
          <p:cNvSpPr/>
          <p:nvPr/>
        </p:nvSpPr>
        <p:spPr>
          <a:xfrm>
            <a:off x="4127165" y="2029968"/>
            <a:ext cx="1724995" cy="457200"/>
          </a:xfrm>
          <a:prstGeom prst="rect">
            <a:avLst/>
          </a:prstGeom>
          <a:solidFill>
            <a:srgbClr val="A26769"/>
          </a:solidFill>
          <a:ln/>
        </p:spPr>
      </p:sp>
      <p:sp>
        <p:nvSpPr>
          <p:cNvPr id="10" name="Text 8"/>
          <p:cNvSpPr txBox="1"/>
          <p:nvPr/>
        </p:nvSpPr>
        <p:spPr>
          <a:xfrm>
            <a:off x="4127165" y="2029968"/>
            <a:ext cx="172499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33.3%</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6656"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6D2E46"/>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15.07億円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2" name="Shape 9"/>
          <p:cNvSpPr/>
          <p:nvPr/>
        </p:nvSpPr>
        <p:spPr>
          <a:xfrm>
            <a:off x="6227064" y="1554480"/>
            <a:ext cx="5394960" cy="3017520"/>
          </a:xfrm>
          <a:prstGeom prst="roundRect">
            <a:avLst>
              <a:gd name="adj" fmla="val 1515"/>
            </a:avLst>
          </a:prstGeom>
          <a:solidFill>
            <a:srgbClr val="FFFFFF"/>
          </a:solidFill>
          <a:ln w="9525">
            <a:solidFill>
              <a:srgbClr val="E4DADD"/>
            </a:solidFill>
            <a:prstDash val="solid"/>
          </a:ln>
        </p:spPr>
      </p:sp>
      <p:sp>
        <p:nvSpPr>
          <p:cNvPr id="13" name="Text 10"/>
          <p:cNvSpPr txBox="1"/>
          <p:nvPr/>
        </p:nvSpPr>
        <p:spPr>
          <a:xfrm>
            <a:off x="6446520"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② 譲受価額 55.0億円</a:t>
            </a:r>
            <a:endParaRPr lang="en-US" sz="1500" dirty="0"/>
          </a:p>
        </p:txBody>
      </p:sp>
      <p:sp>
        <p:nvSpPr>
          <p:cNvPr id="14" name="Shape 11"/>
          <p:cNvSpPr/>
          <p:nvPr/>
        </p:nvSpPr>
        <p:spPr>
          <a:xfrm>
            <a:off x="6336792" y="2029968"/>
            <a:ext cx="2957283" cy="457200"/>
          </a:xfrm>
          <a:prstGeom prst="rect">
            <a:avLst/>
          </a:prstGeom>
          <a:solidFill>
            <a:srgbClr val="6D2E46"/>
          </a:solidFill>
          <a:ln/>
        </p:spPr>
      </p:sp>
      <p:sp>
        <p:nvSpPr>
          <p:cNvPr id="15" name="Text 12"/>
          <p:cNvSpPr txBox="1"/>
          <p:nvPr/>
        </p:nvSpPr>
        <p:spPr>
          <a:xfrm>
            <a:off x="6336792" y="2029968"/>
            <a:ext cx="2957283"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57.1%</a:t>
            </a:r>
            <a:endParaRPr lang="en-US" sz="1150" dirty="0"/>
          </a:p>
        </p:txBody>
      </p:sp>
      <p:sp>
        <p:nvSpPr>
          <p:cNvPr id="16" name="Shape 13"/>
          <p:cNvSpPr/>
          <p:nvPr/>
        </p:nvSpPr>
        <p:spPr>
          <a:xfrm>
            <a:off x="9294075" y="2029968"/>
            <a:ext cx="1478641" cy="457200"/>
          </a:xfrm>
          <a:prstGeom prst="rect">
            <a:avLst/>
          </a:prstGeom>
          <a:solidFill>
            <a:srgbClr val="A26769"/>
          </a:solidFill>
          <a:ln/>
        </p:spPr>
      </p:sp>
      <p:sp>
        <p:nvSpPr>
          <p:cNvPr id="17" name="Text 14"/>
          <p:cNvSpPr txBox="1"/>
          <p:nvPr/>
        </p:nvSpPr>
        <p:spPr>
          <a:xfrm>
            <a:off x="9294075" y="2029968"/>
            <a:ext cx="1478641"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28.6%</a:t>
            </a:r>
            <a:endParaRPr lang="en-US" sz="1150" dirty="0"/>
          </a:p>
        </p:txBody>
      </p:sp>
      <p:sp>
        <p:nvSpPr>
          <p:cNvPr id="18" name="Shape 15"/>
          <p:cNvSpPr/>
          <p:nvPr/>
        </p:nvSpPr>
        <p:spPr>
          <a:xfrm>
            <a:off x="10772716" y="2029968"/>
            <a:ext cx="739580" cy="457200"/>
          </a:xfrm>
          <a:prstGeom prst="rect">
            <a:avLst/>
          </a:prstGeom>
          <a:solidFill>
            <a:srgbClr val="B58B2A"/>
          </a:solidFill>
          <a:ln/>
        </p:spPr>
      </p:sp>
      <p:sp>
        <p:nvSpPr>
          <p:cNvPr id="19" name="Text 16"/>
          <p:cNvSpPr txBox="1"/>
          <p:nvPr/>
        </p:nvSpPr>
        <p:spPr>
          <a:xfrm>
            <a:off x="10772716" y="2029968"/>
            <a:ext cx="73958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14.3%</a:t>
            </a:r>
            <a:endParaRPr lang="en-US" sz="9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36792"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57.1%</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A8741A"/>
                          </a:solidFill>
                          <a:latin typeface="Calibri" pitchFamily="34" charset="0"/>
                          <a:ea typeface="Calibri" pitchFamily="34" charset="-122"/>
                          <a:cs typeface="Calibri" pitchFamily="34" charset="-120"/>
                        </a:rPr>
                        <a:t>28.6%</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追加投資家</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5.00億円（第三者割当増資）</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B58B2A"/>
                          </a:solidFill>
                          <a:latin typeface="Calibri" pitchFamily="34" charset="0"/>
                          <a:ea typeface="Calibri" pitchFamily="34" charset="-122"/>
                          <a:cs typeface="Calibri" pitchFamily="34" charset="-120"/>
                        </a:rPr>
                        <a:t>14.3%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20.07億円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Shape 17"/>
          <p:cNvSpPr/>
          <p:nvPr/>
        </p:nvSpPr>
        <p:spPr>
          <a:xfrm>
            <a:off x="566928" y="4700016"/>
            <a:ext cx="5394960" cy="987552"/>
          </a:xfrm>
          <a:prstGeom prst="roundRect">
            <a:avLst>
              <a:gd name="adj" fmla="val 4630"/>
            </a:avLst>
          </a:prstGeom>
          <a:solidFill>
            <a:srgbClr val="F7F3F4"/>
          </a:solidFill>
          <a:ln w="9525">
            <a:solidFill>
              <a:srgbClr val="E4DADD"/>
            </a:solidFill>
            <a:prstDash val="solid"/>
          </a:ln>
        </p:spPr>
      </p:sp>
      <p:sp>
        <p:nvSpPr>
          <p:cNvPr id="22" name="Text 18"/>
          <p:cNvSpPr txBox="1"/>
          <p:nvPr/>
        </p:nvSpPr>
        <p:spPr>
          <a:xfrm>
            <a:off x="768096"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銀行から見た財務は、どちらでも変わらない</a:t>
            </a:r>
            <a:endParaRPr lang="en-US" sz="1050" dirty="0"/>
          </a:p>
        </p:txBody>
      </p:sp>
      <p:sp>
        <p:nvSpPr>
          <p:cNvPr id="23" name="Text 19"/>
          <p:cNvSpPr txBox="1"/>
          <p:nvPr/>
        </p:nvSpPr>
        <p:spPr>
          <a:xfrm>
            <a:off x="768096"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差額5.0億円を全額エクイティで吸収するため、みずほ銀行への依頼額41.4億円、合併後の有利子負債20.0億円、初年度DSCR1.36倍は、いずれのケースでも同一となる。</a:t>
            </a:r>
            <a:endParaRPr lang="en-US" sz="900" dirty="0"/>
          </a:p>
        </p:txBody>
      </p:sp>
      <p:sp>
        <p:nvSpPr>
          <p:cNvPr id="24" name="Shape 20"/>
          <p:cNvSpPr/>
          <p:nvPr/>
        </p:nvSpPr>
        <p:spPr>
          <a:xfrm>
            <a:off x="6227064" y="4700016"/>
            <a:ext cx="5394960" cy="987552"/>
          </a:xfrm>
          <a:prstGeom prst="roundRect">
            <a:avLst>
              <a:gd name="adj" fmla="val 4630"/>
            </a:avLst>
          </a:prstGeom>
          <a:solidFill>
            <a:srgbClr val="F7F3F4"/>
          </a:solidFill>
          <a:ln w="9525">
            <a:solidFill>
              <a:srgbClr val="E4DADD"/>
            </a:solidFill>
            <a:prstDash val="solid"/>
          </a:ln>
        </p:spPr>
      </p:sp>
      <p:sp>
        <p:nvSpPr>
          <p:cNvPr id="25" name="Text 21"/>
          <p:cNvSpPr txBox="1"/>
          <p:nvPr/>
        </p:nvSpPr>
        <p:spPr>
          <a:xfrm>
            <a:off x="6428232"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同一バリュエーションでの追加調達</a:t>
            </a:r>
            <a:endParaRPr lang="en-US" sz="1050" dirty="0"/>
          </a:p>
        </p:txBody>
      </p:sp>
      <p:sp>
        <p:nvSpPr>
          <p:cNvPr id="26" name="Text 22"/>
          <p:cNvSpPr txBox="1"/>
          <p:nvPr/>
        </p:nvSpPr>
        <p:spPr>
          <a:xfrm>
            <a:off x="6428232"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榊原氏の10.0億円＝33.3%が示すポストマネー30.0億円を基準とし、追加投資家は同じ条件で5.0億円を引き受ける。既存株主は一律に希薄化する（30.0億円 → 35.0億円）。</a:t>
            </a:r>
            <a:endParaRPr lang="en-US" sz="900" dirty="0"/>
          </a:p>
        </p:txBody>
      </p:sp>
      <p:sp>
        <p:nvSpPr>
          <p:cNvPr id="27" name="Shape 23"/>
          <p:cNvSpPr/>
          <p:nvPr/>
        </p:nvSpPr>
        <p:spPr>
          <a:xfrm>
            <a:off x="566928" y="5779008"/>
            <a:ext cx="11055096" cy="512064"/>
          </a:xfrm>
          <a:prstGeom prst="roundRect">
            <a:avLst>
              <a:gd name="adj" fmla="val 7143"/>
            </a:avLst>
          </a:prstGeom>
          <a:solidFill>
            <a:srgbClr val="6D2E46"/>
          </a:solidFill>
          <a:ln/>
        </p:spPr>
      </p:sp>
      <p:sp>
        <p:nvSpPr>
          <p:cNvPr id="28" name="Text 24"/>
          <p:cNvSpPr txBox="1"/>
          <p:nvPr/>
        </p:nvSpPr>
        <p:spPr>
          <a:xfrm>
            <a:off x="804672" y="5833872"/>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先に握っておくこと　</a:t>
            </a:r>
            <a:pPr indent="0" marL="0">
              <a:lnSpc>
                <a:spcPts val="1500"/>
              </a:lnSpc>
              <a:buNone/>
            </a:pPr>
            <a:r>
              <a:rPr lang="en-US" sz="1000" dirty="0">
                <a:solidFill>
                  <a:srgbClr val="EBDCE1"/>
                </a:solidFill>
              </a:rPr>
              <a:t>55.0億円ケースでは榊原氏の持分が28.6%となり、会社法上の特別決議に対する拒否権（1/3超）を失う。中野氏も57.1%となり単独での2/3可決ができなくなる。追加投資家を受け入れる際の優先引受権の扱いを、株主間契約に先に定めておく必要がある。</a:t>
            </a:r>
            <a:endParaRPr lang="en-US" sz="1100" dirty="0"/>
          </a:p>
        </p:txBody>
      </p:sp>
      <p:sp>
        <p:nvSpPr>
          <p:cNvPr id="29"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0"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返済プロファイル</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初年度からDSCR 1.36倍を確保する返済設計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合併後の有利子負債20.0億円を、タームローンA 14.0億円（7年・元金均等・毎月返済）とタームローンB 6.0億円（期限一括）に分ける。返済は毎月、元本16.7百万円と前月末残高に対する利息。</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1.36倍</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 vs FCF 3.50億円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7.75億円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3.6倍</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有利子負債20.0億円−留保現金1.0億円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返済方式別の比較（借入20.00億円・7年・金利3%・毎月返済）</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3.43億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3.17億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2.29億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元本を14.0億円に絞ることで年間の元本負担が2.00億円に下がり、DSCRは7年間を通じて1.36倍から1.58倍で推移する。残る6.00億円は7年間の余剰キャッシュフローで返済でき、リファイナンスを前提としない。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7年間の累積余剰キャッシュフロー7.75億円が、期限一括のタームローンB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初年度の資金繰り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2027年の月次キャッシュフロー ― 底は2月末の0.19億円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計画どおりに推移した場合の初年度の資金繰り。借入の元利返済は毎月発生し、2026年12月期の未払税金1.14億円を2月に納付するため、2月末が年間で最も薄くなる。</a:t>
            </a:r>
            <a:endParaRPr lang="en-US" sz="1250" dirty="0"/>
          </a:p>
        </p:txBody>
      </p:sp>
      <p:sp>
        <p:nvSpPr>
          <p:cNvPr id="5" name="Shape 3"/>
          <p:cNvSpPr/>
          <p:nvPr/>
        </p:nvSpPr>
        <p:spPr>
          <a:xfrm>
            <a:off x="566928" y="1783080"/>
            <a:ext cx="3520440" cy="1024128"/>
          </a:xfrm>
          <a:prstGeom prst="roundRect">
            <a:avLst>
              <a:gd name="adj" fmla="val 4464"/>
            </a:avLst>
          </a:prstGeom>
          <a:solidFill>
            <a:srgbClr val="6D2E46"/>
          </a:solidFill>
          <a:ln w="9525">
            <a:solidFill>
              <a:srgbClr val="6D2E46"/>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最低現金残高</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0.19億円</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2月末。月次固定費の1.0か月分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年間の営業キャッシュフロー</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5.28億円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期末現金残高</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1.65億円</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期首1.00億円から+0.65億円</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980944"/>
          <a:ext cx="11055096" cy="914400"/>
        </p:xfrm>
        <a:graphic>
          <a:graphicData uri="http://schemas.openxmlformats.org/drawingml/2006/table">
            <a:tbl>
              <a:tblPr/>
              <a:tblGrid>
                <a:gridCol w="1517904"/>
                <a:gridCol w="704088"/>
                <a:gridCol w="704088"/>
                <a:gridCol w="704088"/>
                <a:gridCol w="704088"/>
                <a:gridCol w="704088"/>
                <a:gridCol w="704088"/>
                <a:gridCol w="704088"/>
                <a:gridCol w="704088"/>
                <a:gridCol w="704088"/>
                <a:gridCol w="704088"/>
                <a:gridCol w="704088"/>
                <a:gridCol w="704088"/>
                <a:gridCol w="1088136"/>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3月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4月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6月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8月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9月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10月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営業利益</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法人税等の納付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▲206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元利返済（毎月）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当月収支</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現金 期末残高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8" name="Text 15"/>
          <p:cNvSpPr txBox="1"/>
          <p:nvPr/>
        </p:nvSpPr>
        <p:spPr>
          <a:xfrm>
            <a:off x="566928" y="5285232"/>
            <a:ext cx="11055096"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 端数処理のため、内訳の合計と合計欄が一致しない場合がある。消費税は預り金の性質を持つため計上していない。</a:t>
            </a:r>
            <a:endParaRPr lang="en-US" sz="850" dirty="0"/>
          </a:p>
        </p:txBody>
      </p:sp>
      <p:sp>
        <p:nvSpPr>
          <p:cNvPr id="19" name="Shape 16"/>
          <p:cNvSpPr/>
          <p:nvPr/>
        </p:nvSpPr>
        <p:spPr>
          <a:xfrm>
            <a:off x="566928" y="5541264"/>
            <a:ext cx="5394960" cy="786384"/>
          </a:xfrm>
          <a:prstGeom prst="roundRect">
            <a:avLst>
              <a:gd name="adj" fmla="val 5814"/>
            </a:avLst>
          </a:prstGeom>
          <a:solidFill>
            <a:srgbClr val="F7F3F4"/>
          </a:solidFill>
          <a:ln w="9525">
            <a:solidFill>
              <a:srgbClr val="E4DADD"/>
            </a:solidFill>
            <a:prstDash val="solid"/>
          </a:ln>
        </p:spPr>
      </p:sp>
      <p:sp>
        <p:nvSpPr>
          <p:cNvPr id="20" name="Text 17"/>
          <p:cNvSpPr txBox="1"/>
          <p:nvPr/>
        </p:nvSpPr>
        <p:spPr>
          <a:xfrm>
            <a:off x="768096"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2月に底が来る理由</a:t>
            </a:r>
            <a:endParaRPr lang="en-US" sz="1000" dirty="0"/>
          </a:p>
        </p:txBody>
      </p:sp>
      <p:sp>
        <p:nvSpPr>
          <p:cNvPr id="21" name="Text 18"/>
          <p:cNvSpPr txBox="1"/>
          <p:nvPr/>
        </p:nvSpPr>
        <p:spPr>
          <a:xfrm>
            <a:off x="768096"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2026年12月期の未払法人税等・未払消費税1.14億円を2月に納付する一方、借入の元利返済0.22億円は毎月発生する。対象会社に留保する運転資金を1.00億円としているため、2月末の残高は0.19億円となる。留保を2.00億円とすれば底は1.19億円となる。</a:t>
            </a:r>
            <a:endParaRPr lang="en-US" sz="850" dirty="0"/>
          </a:p>
        </p:txBody>
      </p:sp>
      <p:sp>
        <p:nvSpPr>
          <p:cNvPr id="22" name="Shape 19"/>
          <p:cNvSpPr/>
          <p:nvPr/>
        </p:nvSpPr>
        <p:spPr>
          <a:xfrm>
            <a:off x="6227064" y="5541264"/>
            <a:ext cx="5394960" cy="786384"/>
          </a:xfrm>
          <a:prstGeom prst="roundRect">
            <a:avLst>
              <a:gd name="adj" fmla="val 5814"/>
            </a:avLst>
          </a:prstGeom>
          <a:solidFill>
            <a:srgbClr val="F7F3F4"/>
          </a:solidFill>
          <a:ln w="9525">
            <a:solidFill>
              <a:srgbClr val="E4DADD"/>
            </a:solidFill>
            <a:prstDash val="solid"/>
          </a:ln>
        </p:spPr>
      </p:sp>
      <p:sp>
        <p:nvSpPr>
          <p:cNvPr id="23" name="Text 20"/>
          <p:cNvSpPr txBox="1"/>
          <p:nvPr/>
        </p:nvSpPr>
        <p:spPr>
          <a:xfrm>
            <a:off x="6428232"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資産調整勘定を織り込む場合</a:t>
            </a:r>
            <a:endParaRPr lang="en-US" sz="1000" dirty="0"/>
          </a:p>
        </p:txBody>
      </p:sp>
      <p:sp>
        <p:nvSpPr>
          <p:cNvPr id="24" name="Text 21"/>
          <p:cNvSpPr txBox="1"/>
          <p:nvPr/>
        </p:nvSpPr>
        <p:spPr>
          <a:xfrm>
            <a:off x="6428232"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株式譲受代金と時価純資産の差額26.85億円が税務上ののれんとして5年で損金算入されれば、課税所得はマイナスとなり、8月の中間納付0.92億円は回避できる。期末残高2.57億円、DSCR1.61倍。計上の可否はDDの税務パートで確認する。</a:t>
            </a:r>
            <a:endParaRPr lang="en-US" sz="850" dirty="0"/>
          </a:p>
        </p:txBody>
      </p:sp>
      <p:sp>
        <p:nvSpPr>
          <p:cNvPr id="25" name="Text 2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③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収益が悪化した場合の返済可能性と、ご提案できる保全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推奨ストラクチャー（TLA 14.0億円＋TLB 6.0億円／7年・金利3%・毎月返済）に対し、4つのシナリオで返済可能性を検証した。</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1.36〜1.58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全期間で1.36以上。累積余剰7.75億円で期限一括6.00億円も完済できる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営業利益▲21%（p.15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1.07〜1.25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元利返済は全期間で継続できる。累積余剰2.57億円のため、期限一括6.00億円はリファイナンスを要する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0.84〜1.43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4〜7年の累積不足1.21億円は、3年目末までの累積余剰2.96億円で吸収できる。期限一括分はリファイナンスを要する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0.42〜1.43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累積不足5.21億円。3年目末の余剰2.96億円と留保現金1.00億円では不足し、追加の支援を要する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133088"/>
            <a:ext cx="5440680" cy="1444752"/>
          </a:xfrm>
          <a:prstGeom prst="roundRect">
            <a:avLst>
              <a:gd name="adj" fmla="val 3165"/>
            </a:avLst>
          </a:prstGeom>
          <a:solidFill>
            <a:srgbClr val="F7F3F4"/>
          </a:solidFill>
          <a:ln w="9525">
            <a:solidFill>
              <a:srgbClr val="E4DADD"/>
            </a:solidFill>
            <a:prstDash val="solid"/>
          </a:ln>
        </p:spPr>
      </p:sp>
      <p:sp>
        <p:nvSpPr>
          <p:cNvPr id="7" name="Text 4"/>
          <p:cNvSpPr txBox="1"/>
          <p:nvPr/>
        </p:nvSpPr>
        <p:spPr>
          <a:xfrm>
            <a:off x="786384" y="424281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48056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有利子負債（合併後）</a:t>
            </a:r>
            <a:endParaRPr lang="en-US" sz="1000" dirty="0"/>
          </a:p>
        </p:txBody>
      </p:sp>
      <p:sp>
        <p:nvSpPr>
          <p:cNvPr id="9" name="Text 6"/>
          <p:cNvSpPr txBox="1"/>
          <p:nvPr/>
        </p:nvSpPr>
        <p:spPr>
          <a:xfrm>
            <a:off x="3813048" y="448056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75488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75488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p>
        </p:txBody>
      </p:sp>
      <p:sp>
        <p:nvSpPr>
          <p:cNvPr id="12" name="Text 9"/>
          <p:cNvSpPr txBox="1"/>
          <p:nvPr/>
        </p:nvSpPr>
        <p:spPr>
          <a:xfrm>
            <a:off x="786384" y="502920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502920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19.00億円（3.6倍）</a:t>
            </a:r>
            <a:endParaRPr lang="en-US" sz="1100" dirty="0"/>
          </a:p>
        </p:txBody>
      </p:sp>
      <p:sp>
        <p:nvSpPr>
          <p:cNvPr id="14" name="Text 11"/>
          <p:cNvSpPr txBox="1"/>
          <p:nvPr/>
        </p:nvSpPr>
        <p:spPr>
          <a:xfrm>
            <a:off x="786384" y="5321808"/>
            <a:ext cx="4983480" cy="219456"/>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ブリッジローン21.43億円は合併直後に全額返済される。</a:t>
            </a:r>
            <a:endParaRPr lang="en-US" sz="950" dirty="0"/>
          </a:p>
        </p:txBody>
      </p:sp>
      <p:sp>
        <p:nvSpPr>
          <p:cNvPr id="15" name="Shape 12"/>
          <p:cNvSpPr/>
          <p:nvPr/>
        </p:nvSpPr>
        <p:spPr>
          <a:xfrm>
            <a:off x="6199632" y="4133088"/>
            <a:ext cx="5422392" cy="1444752"/>
          </a:xfrm>
          <a:prstGeom prst="roundRect">
            <a:avLst>
              <a:gd name="adj" fmla="val 3165"/>
            </a:avLst>
          </a:prstGeom>
          <a:solidFill>
            <a:srgbClr val="FFFFFF"/>
          </a:solidFill>
          <a:ln w="9525">
            <a:solidFill>
              <a:srgbClr val="E4DADD"/>
            </a:solidFill>
            <a:prstDash val="solid"/>
          </a:ln>
        </p:spPr>
      </p:sp>
      <p:sp>
        <p:nvSpPr>
          <p:cNvPr id="16" name="Text 13"/>
          <p:cNvSpPr txBox="1"/>
          <p:nvPr/>
        </p:nvSpPr>
        <p:spPr>
          <a:xfrm>
            <a:off x="6419088" y="424281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480560"/>
            <a:ext cx="4983480" cy="1060704"/>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タームローンB完済までの配当・自己株取得の制限　⑤ 超過キャッシュフローの50%をタームローンBへ充当（キャッシュスイープ）　⑥ 岸田氏の退任・料理長交代・ミシュラン評価変動の報告義務　⑦ サントリー・ファインズとの取引条件変更時の報告義務　⑧ 中野氏の株主貸付の劣後化</a:t>
            </a:r>
            <a:endParaRPr lang="en-US" sz="900" dirty="0"/>
          </a:p>
        </p:txBody>
      </p:sp>
      <p:sp>
        <p:nvSpPr>
          <p:cNvPr id="18" name="Shape 15"/>
          <p:cNvSpPr/>
          <p:nvPr/>
        </p:nvSpPr>
        <p:spPr>
          <a:xfrm>
            <a:off x="566928" y="5724144"/>
            <a:ext cx="11055096" cy="548640"/>
          </a:xfrm>
          <a:prstGeom prst="roundRect">
            <a:avLst>
              <a:gd name="adj" fmla="val 6667"/>
            </a:avLst>
          </a:prstGeom>
          <a:solidFill>
            <a:srgbClr val="6D2E46"/>
          </a:solidFill>
          <a:ln/>
        </p:spPr>
      </p:sp>
      <p:sp>
        <p:nvSpPr>
          <p:cNvPr id="19" name="Text 16"/>
          <p:cNvSpPr txBox="1"/>
          <p:nvPr/>
        </p:nvSpPr>
        <p:spPr>
          <a:xfrm>
            <a:off x="804672" y="5779008"/>
            <a:ext cx="10579608" cy="438912"/>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11.0億円＋TLB 9.0億円で初年度DSCR 1.26倍を確保できるものの、5年後に9.00億円のリファイナンスが必要になる。7年を許容いただけるかが、20.00億円を自力返済で完結させられるかの分岐点となる。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55億円超で説明困難（p.13）</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当社は2024年6月、創業40年を超えるグランメゾンを取得した。39年間にわたり赤字が続き、40年目にようやく黒字化した店を引き継ぎ、2年間で売上30%増・営業利益250%超の増加を実現している。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＋250%超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＋250%超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250%超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55億円は三つ星維持確率78%、57.4億円は100%を前提とする。60億円は説明できない。譲受価額は50〜55億円のレンジで提示する。</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貴行にお願いしたいこと</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クロージング時のタームローン20.00億円とブリッジローン21.43億円、計41.43億円。ブリッジは合併直後に対象会社の余剰現金で全額返済され、以後の有利子負債は20.00億円・初年度DSCR1.36倍となります。</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・2025/12期まではIM記載の決算数値。2026/12期はIM p.40の会社計画。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・買収ファイナンスは、クロージング時にタームローン20.00億円＋ブリッジローン21.43億円の計41.43億円。ブリッジは合併直後に対象会社の余剰現金で全額返済し、以後の有利子負債は20.00億円。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・返済はタームローンA 14.00億円を7年・金利3%・元金均等で毎月、タームローンB 6.00億円は期限一括。対象会社に留保する運転資金は1.00億円。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・p.24の株式会社アピシウスに関する計数は、同社の取得時（2024年6月）と2026年時点との比較。売上高・営業利益はいずれも取得前比。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買収案件 銀行ご提出用資料</dc:title>
  <dc:subject>PptxGenJS Presentation</dc:subject>
  <dc:creator>株式会社WineBank</dc:creator>
  <cp:lastModifiedBy>株式会社WineBank</cp:lastModifiedBy>
  <cp:revision>1</cp:revision>
  <dcterms:created xsi:type="dcterms:W3CDTF">2026-09-20T14:06:25Z</dcterms:created>
  <dcterms:modified xsi:type="dcterms:W3CDTF">2026-09-20T14:06:25Z</dcterms:modified>
</cp:coreProperties>
</file>