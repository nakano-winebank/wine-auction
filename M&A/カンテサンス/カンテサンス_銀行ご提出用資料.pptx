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売上高</c:v>
                </c:pt>
              </c:strCache>
            </c:strRef>
          </c:tx>
          <c:spPr>
            <a:solidFill>
              <a:srgbClr val="A26769"/>
            </a:solidFill>
            <a:effectLst/>
          </c:spPr>
          <c:invertIfNegative val="0"/>
          <c:dLbls>
            <c:numFmt formatCode="#,##0" sourceLinked="0"/>
            <c:txPr>
              <a:bodyPr/>
              <a:lstStyle/>
              <a:p>
                <a:pPr>
                  <a:defRPr b="0" i="0" strike="noStrike" sz="850" u="none">
                    <a:solidFill>
                      <a:srgbClr val="1F1A1C"/>
                    </a:solidFill>
                    <a:latin typeface="Arial"/>
                  </a:defRPr>
                </a:pPr>
              </a:p>
            </c:txPr>
            <c:showLegendKey val="0"/>
            <c:showVal val="1"/>
            <c:showCatName val="0"/>
            <c:showSerName val="0"/>
            <c:showPercent val="0"/>
            <c:showBubbleSize val="0"/>
            <c:showLeaderLines val="0"/>
          </c:dLbls>
          <c:cat>
            <c:multiLvlStrRef>
              <c:f>Sheet1!$A$2:$A$7</c:f>
              <c:multiLvlStrCache>
                <c:ptCount val="6"/>
                <c:lvl>
                  <c:pt idx="0">
                    <c:v>2021/12</c:v>
                  </c:pt>
                  <c:pt idx="1">
                    <c:v>2022/12</c:v>
                  </c:pt>
                  <c:pt idx="2">
                    <c:v>2023/12</c:v>
                  </c:pt>
                  <c:pt idx="3">
                    <c:v>2024/12</c:v>
                  </c:pt>
                  <c:pt idx="4">
                    <c:v>2025/12</c:v>
                  </c:pt>
                  <c:pt idx="5">
                    <c:v>2026/12計画</c:v>
                  </c:pt>
                </c:lvl>
              </c:multiLvlStrCache>
            </c:multiLvlStrRef>
          </c:cat>
          <c:val>
            <c:numRef>
              <c:f>Sheet1!$B$2:$B$7</c:f>
              <c:numCache>
                <c:formatCode>General</c:formatCode>
                <c:ptCount val="6"/>
                <c:pt idx="0">
                  <c:v>700</c:v>
                </c:pt>
                <c:pt idx="1">
                  <c:v>770</c:v>
                </c:pt>
                <c:pt idx="2">
                  <c:v>832</c:v>
                </c:pt>
                <c:pt idx="3">
                  <c:v>891</c:v>
                </c:pt>
                <c:pt idx="4">
                  <c:v>976</c:v>
                </c:pt>
                <c:pt idx="5">
                  <c:v>1015</c:v>
                </c:pt>
              </c:numCache>
            </c:numRef>
          </c:val>
        </c:ser>
        <c:ser>
          <c:idx val="1"/>
          <c:order val="1"/>
          <c:tx>
            <c:strRef>
              <c:f>Sheet1!$C$1</c:f>
              <c:strCache>
                <c:ptCount val="1"/>
                <c:pt idx="0">
                  <c:v>営業利益</c:v>
                </c:pt>
              </c:strCache>
            </c:strRef>
          </c:tx>
          <c:spPr>
            <a:solidFill>
              <a:srgbClr val="6D2E46"/>
            </a:solidFill>
            <a:effectLst/>
          </c:spPr>
          <c:invertIfNegative val="0"/>
          <c:dLbls>
            <c:numFmt formatCode="#,##0" sourceLinked="0"/>
            <c:txPr>
              <a:bodyPr/>
              <a:lstStyle/>
              <a:p>
                <a:pPr>
                  <a:defRPr b="0" i="0" strike="noStrike" sz="850" u="none">
                    <a:solidFill>
                      <a:srgbClr val="1F1A1C"/>
                    </a:solidFill>
                    <a:latin typeface="Arial"/>
                  </a:defRPr>
                </a:pPr>
              </a:p>
            </c:txPr>
            <c:showLegendKey val="0"/>
            <c:showVal val="1"/>
            <c:showCatName val="0"/>
            <c:showSerName val="0"/>
            <c:showPercent val="0"/>
            <c:showBubbleSize val="0"/>
            <c:showLeaderLines val="0"/>
          </c:dLbls>
          <c:cat>
            <c:multiLvlStrRef>
              <c:f>Sheet1!$A$2:$A$7</c:f>
              <c:multiLvlStrCache>
                <c:ptCount val="6"/>
                <c:lvl>
                  <c:pt idx="0">
                    <c:v>2021/12</c:v>
                  </c:pt>
                  <c:pt idx="1">
                    <c:v>2022/12</c:v>
                  </c:pt>
                  <c:pt idx="2">
                    <c:v>2023/12</c:v>
                  </c:pt>
                  <c:pt idx="3">
                    <c:v>2024/12</c:v>
                  </c:pt>
                  <c:pt idx="4">
                    <c:v>2025/12</c:v>
                  </c:pt>
                  <c:pt idx="5">
                    <c:v>2026/12計画</c:v>
                  </c:pt>
                </c:lvl>
              </c:multiLvlStrCache>
            </c:multiLvlStrRef>
          </c:cat>
          <c:val>
            <c:numRef>
              <c:f>Sheet1!$C$2:$C$7</c:f>
              <c:numCache>
                <c:formatCode>General</c:formatCode>
                <c:ptCount val="6"/>
                <c:pt idx="0">
                  <c:v>310</c:v>
                </c:pt>
                <c:pt idx="1">
                  <c:v>350</c:v>
                </c:pt>
                <c:pt idx="2">
                  <c:v>393</c:v>
                </c:pt>
                <c:pt idx="3">
                  <c:v>442</c:v>
                </c:pt>
                <c:pt idx="4">
                  <c:v>505</c:v>
                </c:pt>
                <c:pt idx="5">
                  <c:v>528</c:v>
                </c:pt>
              </c:numCache>
            </c:numRef>
          </c:val>
        </c:ser>
        <c:dLbls>
          <c:numFmt formatCode="#,##0" sourceLinked="0"/>
          <c:txPr>
            <a:bodyPr/>
            <a:lstStyle/>
            <a:p>
              <a:pPr>
                <a:defRPr b="0" i="0" strike="noStrike" sz="850" u="none">
                  <a:solidFill>
                    <a:srgbClr val="1F1A1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E6368"/>
                </a:solidFill>
                <a:latin typeface="Arial"/>
              </a:defRPr>
            </a:pPr>
            <a:endParaRPr lang="en-US"/>
          </a:p>
        </c:txPr>
        <c:crossAx val="2094734552"/>
        <c:crosses val="autoZero"/>
        <c:auto val="1"/>
        <c:lblAlgn val="ctr"/>
        <c:noMultiLvlLbl val="1"/>
      </c:catAx>
      <c:valAx>
        <c:axId val="2094734552"/>
        <c:scaling>
          <c:orientation val="minMax"/>
          <c:max val="1200"/>
        </c:scaling>
        <c:delete val="0"/>
        <c:axPos val="l"/>
        <c:majorGridlines>
          <c:spPr>
            <a:ln w="6350" cap="flat">
              <a:solidFill>
                <a:srgbClr val="E4DADD"/>
              </a:solidFill>
              <a:prstDash val="solid"/>
              <a:round/>
            </a:ln>
          </c:spPr>
        </c:majorGridlines>
        <c:title>
          <c:tx>
            <c:rich>
              <a:bodyPr/>
              <a:lstStyle/>
              <a:p>
                <a:pPr>
                  <a:defRPr sz="900" b="0" i="0" u="none" strike="noStrike">
                    <a:solidFill>
                      <a:srgbClr val="6E6368"/>
                    </a:solidFill>
                    <a:latin typeface="Arial"/>
                  </a:defRPr>
                </a:pPr>
                <a:r>
                  <a:rPr sz="900" b="0" i="0" u="none" strike="noStrike">
                    <a:solidFill>
                      <a:srgbClr val="6E6368"/>
                    </a:solidFill>
                    <a:latin typeface="Arial"/>
                  </a:rPr>
                  <a:t>百万円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36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1F1A1C"/>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 三つ星維持（FCF 3.50億）</c:v>
                </c:pt>
              </c:strCache>
            </c:strRef>
          </c:tx>
          <c:spPr>
            <a:solidFill>
              <a:srgbClr val="6D2E46"/>
            </a:solidFill>
            <a:effectLst/>
          </c:spPr>
          <c:invertIfNegative val="0"/>
          <c:dLbls>
            <c:numFmt formatCode="0.0" sourceLinked="0"/>
            <c:txPr>
              <a:bodyPr/>
              <a:lstStyle/>
              <a:p>
                <a:pPr>
                  <a:defRPr b="0" i="0" strike="noStrike" sz="850" u="none">
                    <a:solidFill>
                      <a:srgbClr val="1F1A1C"/>
                    </a:solidFill>
                    <a:latin typeface="Arial"/>
                  </a:defRPr>
                </a:pPr>
              </a:p>
            </c:txPr>
            <c:showLegendKey val="0"/>
            <c:showVal val="1"/>
            <c:showCatName val="0"/>
            <c:showSerName val="0"/>
            <c:showPercent val="0"/>
            <c:showBubbleSize val="0"/>
            <c:showLeaderLines val="0"/>
          </c:dLbls>
          <c:cat>
            <c:multiLvlStrRef>
              <c:f>Sheet1!$A$2:$A$4</c:f>
              <c:multiLvlStrCache>
                <c:ptCount val="3"/>
                <c:lvl>
                  <c:pt idx="0">
                    <c:v>割引率 8%</c:v>
                  </c:pt>
                  <c:pt idx="1">
                    <c:v>割引率 10%</c:v>
                  </c:pt>
                  <c:pt idx="2">
                    <c:v>割引率 12%</c:v>
                  </c:pt>
                </c:lvl>
              </c:multiLvlStrCache>
            </c:multiLvlStrRef>
          </c:cat>
          <c:val>
            <c:numRef>
              <c:f>Sheet1!$B$2:$B$4</c:f>
              <c:numCache>
                <c:formatCode>General</c:formatCode>
                <c:ptCount val="3"/>
                <c:pt idx="0">
                  <c:v>43.75</c:v>
                </c:pt>
                <c:pt idx="1">
                  <c:v>35</c:v>
                </c:pt>
                <c:pt idx="2">
                  <c:v>29.17</c:v>
                </c:pt>
              </c:numCache>
            </c:numRef>
          </c:val>
        </c:ser>
        <c:ser>
          <c:idx val="1"/>
          <c:order val="1"/>
          <c:tx>
            <c:strRef>
              <c:f>Sheet1!$C$1</c:f>
              <c:strCache>
                <c:ptCount val="1"/>
                <c:pt idx="0">
                  <c:v>B 二つ星降格（FCF 2.00億）</c:v>
                </c:pt>
              </c:strCache>
            </c:strRef>
          </c:tx>
          <c:spPr>
            <a:solidFill>
              <a:srgbClr val="A26769"/>
            </a:solidFill>
            <a:effectLst/>
          </c:spPr>
          <c:invertIfNegative val="0"/>
          <c:dLbls>
            <c:numFmt formatCode="0.0" sourceLinked="0"/>
            <c:txPr>
              <a:bodyPr/>
              <a:lstStyle/>
              <a:p>
                <a:pPr>
                  <a:defRPr b="0" i="0" strike="noStrike" sz="850" u="none">
                    <a:solidFill>
                      <a:srgbClr val="1F1A1C"/>
                    </a:solidFill>
                    <a:latin typeface="Arial"/>
                  </a:defRPr>
                </a:pPr>
              </a:p>
            </c:txPr>
            <c:showLegendKey val="0"/>
            <c:showVal val="1"/>
            <c:showCatName val="0"/>
            <c:showSerName val="0"/>
            <c:showPercent val="0"/>
            <c:showBubbleSize val="0"/>
            <c:showLeaderLines val="0"/>
          </c:dLbls>
          <c:cat>
            <c:multiLvlStrRef>
              <c:f>Sheet1!$A$2:$A$4</c:f>
              <c:multiLvlStrCache>
                <c:ptCount val="3"/>
                <c:lvl>
                  <c:pt idx="0">
                    <c:v>割引率 8%</c:v>
                  </c:pt>
                  <c:pt idx="1">
                    <c:v>割引率 10%</c:v>
                  </c:pt>
                  <c:pt idx="2">
                    <c:v>割引率 12%</c:v>
                  </c:pt>
                </c:lvl>
              </c:multiLvlStrCache>
            </c:multiLvlStrRef>
          </c:cat>
          <c:val>
            <c:numRef>
              <c:f>Sheet1!$C$2:$C$4</c:f>
              <c:numCache>
                <c:formatCode>General</c:formatCode>
                <c:ptCount val="3"/>
                <c:pt idx="0">
                  <c:v>28.87</c:v>
                </c:pt>
                <c:pt idx="1">
                  <c:v>23.73</c:v>
                </c:pt>
                <c:pt idx="2">
                  <c:v>20.27</c:v>
                </c:pt>
              </c:numCache>
            </c:numRef>
          </c:val>
        </c:ser>
        <c:ser>
          <c:idx val="2"/>
          <c:order val="2"/>
          <c:tx>
            <c:strRef>
              <c:f>Sheet1!$D$1</c:f>
              <c:strCache>
                <c:ptCount val="1"/>
                <c:pt idx="0">
                  <c:v>C 星喪失（FCF 1.00億）</c:v>
                </c:pt>
              </c:strCache>
            </c:strRef>
          </c:tx>
          <c:spPr>
            <a:solidFill>
              <a:srgbClr val="C9B7BC"/>
            </a:solidFill>
            <a:effectLst/>
          </c:spPr>
          <c:invertIfNegative val="0"/>
          <c:dLbls>
            <c:numFmt formatCode="0.0" sourceLinked="0"/>
            <c:txPr>
              <a:bodyPr/>
              <a:lstStyle/>
              <a:p>
                <a:pPr>
                  <a:defRPr b="0" i="0" strike="noStrike" sz="850" u="none">
                    <a:solidFill>
                      <a:srgbClr val="1F1A1C"/>
                    </a:solidFill>
                    <a:latin typeface="Arial"/>
                  </a:defRPr>
                </a:pPr>
              </a:p>
            </c:txPr>
            <c:showLegendKey val="0"/>
            <c:showVal val="1"/>
            <c:showCatName val="0"/>
            <c:showSerName val="0"/>
            <c:showPercent val="0"/>
            <c:showBubbleSize val="0"/>
            <c:showLeaderLines val="0"/>
          </c:dLbls>
          <c:cat>
            <c:multiLvlStrRef>
              <c:f>Sheet1!$A$2:$A$4</c:f>
              <c:multiLvlStrCache>
                <c:ptCount val="3"/>
                <c:lvl>
                  <c:pt idx="0">
                    <c:v>割引率 8%</c:v>
                  </c:pt>
                  <c:pt idx="1">
                    <c:v>割引率 10%</c:v>
                  </c:pt>
                  <c:pt idx="2">
                    <c:v>割引率 12%</c:v>
                  </c:pt>
                </c:lvl>
              </c:multiLvlStrCache>
            </c:multiLvlStrRef>
          </c:cat>
          <c:val>
            <c:numRef>
              <c:f>Sheet1!$D$2:$D$4</c:f>
              <c:numCache>
                <c:formatCode>General</c:formatCode>
                <c:ptCount val="3"/>
                <c:pt idx="0">
                  <c:v>18.94</c:v>
                </c:pt>
                <c:pt idx="1">
                  <c:v>16.22</c:v>
                </c:pt>
                <c:pt idx="2">
                  <c:v>14.34</c:v>
                </c:pt>
              </c:numCache>
            </c:numRef>
          </c:val>
        </c:ser>
        <c:dLbls>
          <c:numFmt formatCode="0.0" sourceLinked="0"/>
          <c:txPr>
            <a:bodyPr/>
            <a:lstStyle/>
            <a:p>
              <a:pPr>
                <a:defRPr b="0" i="0" strike="noStrike" sz="850" u="none">
                  <a:solidFill>
                    <a:srgbClr val="1F1A1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368"/>
                </a:solidFill>
                <a:latin typeface="Arial"/>
              </a:defRPr>
            </a:pPr>
            <a:endParaRPr lang="en-US"/>
          </a:p>
        </c:txPr>
        <c:crossAx val="2094734552"/>
        <c:crosses val="autoZero"/>
        <c:auto val="1"/>
        <c:lblAlgn val="ctr"/>
        <c:noMultiLvlLbl val="1"/>
      </c:catAx>
      <c:valAx>
        <c:axId val="2094734552"/>
        <c:scaling>
          <c:orientation val="minMax"/>
          <c:max val="50"/>
        </c:scaling>
        <c:delete val="0"/>
        <c:axPos val="l"/>
        <c:majorGridlines>
          <c:spPr>
            <a:ln w="6350" cap="flat">
              <a:solidFill>
                <a:srgbClr val="E4DADD"/>
              </a:solidFill>
              <a:prstDash val="solid"/>
              <a:round/>
            </a:ln>
          </c:spPr>
        </c:majorGridlines>
        <c:title>
          <c:tx>
            <c:rich>
              <a:bodyPr/>
              <a:lstStyle/>
              <a:p>
                <a:pPr>
                  <a:defRPr sz="900" b="0" i="0" u="none" strike="noStrike">
                    <a:solidFill>
                      <a:srgbClr val="6E6368"/>
                    </a:solidFill>
                    <a:latin typeface="Arial"/>
                  </a:defRPr>
                </a:pPr>
                <a:r>
                  <a:rPr sz="900" b="0" i="0" u="none" strike="noStrike">
                    <a:solidFill>
                      <a:srgbClr val="6E6368"/>
                    </a:solidFill>
                    <a:latin typeface="Arial"/>
                  </a:rPr>
                  <a:t>事業価値（億円）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36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50">
              <a:solidFill>
                <a:srgbClr val="1F1A1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『ミシュランガイド東京』は2007年創刊、2026年版で19版目。創刊号から19年連続で三つ星を維持しているのは、かんだ／ガストロノミー ジョエル・ロブション／カンテサンスの3軒のみ（2018年版時点で11年連続は4軒、うちすきやばし次郎は2020年版より掲載対象外）。岸田周三氏は創刊号で33歳、当時最年少での三つ星獲得。開業以来おまかせ一コースのみ。2021年ミシュラン グリーンスター獲得。東京は19年連続で星付き店数世界一（三つ星12軒、パリ10軒、ニューヨーク5軒）。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520"/>
        </a:solidFill>
      </p:bgPr>
    </p:bg>
    <p:spTree>
      <p:nvGrpSpPr>
        <p:cNvPr id="1" name=""/>
        <p:cNvGrpSpPr/>
        <p:nvPr/>
      </p:nvGrpSpPr>
      <p:grpSpPr>
        <a:xfrm>
          <a:off x="0" y="0"/>
          <a:ext cx="0" cy="0"/>
          <a:chOff x="0" y="0"/>
          <a:chExt cx="0" cy="0"/>
        </a:xfrm>
      </p:grpSpPr>
      <p:sp>
        <p:nvSpPr>
          <p:cNvPr id="2" name="Shape 0"/>
          <p:cNvSpPr/>
          <p:nvPr/>
        </p:nvSpPr>
        <p:spPr>
          <a:xfrm>
            <a:off x="8686800" y="-1371600"/>
            <a:ext cx="5669280" cy="5669280"/>
          </a:xfrm>
          <a:prstGeom prst="ellipse">
            <a:avLst/>
          </a:prstGeom>
          <a:solidFill>
            <a:srgbClr val="6D2E46"/>
          </a:solidFill>
          <a:ln/>
        </p:spPr>
      </p:sp>
      <p:sp>
        <p:nvSpPr>
          <p:cNvPr id="3" name="Text 1"/>
          <p:cNvSpPr txBox="1"/>
          <p:nvPr/>
        </p:nvSpPr>
        <p:spPr>
          <a:xfrm>
            <a:off x="566928" y="960120"/>
            <a:ext cx="7315200" cy="274320"/>
          </a:xfrm>
          <a:prstGeom prst="rect">
            <a:avLst/>
          </a:prstGeom>
          <a:noFill/>
          <a:ln/>
        </p:spPr>
        <p:txBody>
          <a:bodyPr wrap="square" lIns="0" tIns="0" rIns="0" bIns="0" rtlCol="0" anchor="ctr"/>
          <a:lstStyle/>
          <a:p>
            <a:pPr indent="0" marL="0">
              <a:buNone/>
            </a:pPr>
            <a:r>
              <a:rPr lang="en-US" sz="1200" b="1" spc="200" kern="0" dirty="0">
                <a:solidFill>
                  <a:srgbClr val="B58B2A"/>
                </a:solidFill>
                <a:latin typeface="Calibri" pitchFamily="34" charset="0"/>
                <a:ea typeface="Calibri" pitchFamily="34" charset="-122"/>
                <a:cs typeface="Calibri" pitchFamily="34" charset="-120"/>
              </a:rPr>
              <a:t>みずほ銀行 御中 ／ ご提出用資料</a:t>
            </a:r>
            <a:endParaRPr lang="en-US" sz="1200" dirty="0"/>
          </a:p>
        </p:txBody>
      </p:sp>
      <p:sp>
        <p:nvSpPr>
          <p:cNvPr id="4" name="Text 2"/>
          <p:cNvSpPr txBox="1"/>
          <p:nvPr/>
        </p:nvSpPr>
        <p:spPr>
          <a:xfrm>
            <a:off x="566928" y="1389888"/>
            <a:ext cx="7863840" cy="1645920"/>
          </a:xfrm>
          <a:prstGeom prst="rect">
            <a:avLst/>
          </a:prstGeom>
          <a:noFill/>
          <a:ln/>
        </p:spPr>
        <p:txBody>
          <a:bodyPr wrap="square" lIns="0" tIns="0" rIns="0" bIns="0" rtlCol="0" anchor="ctr"/>
          <a:lstStyle/>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カンテサンス</a:t>
            </a:r>
            <a:endParaRPr lang="en-US" sz="4000" dirty="0"/>
          </a:p>
          <a:p>
            <a:pPr indent="0" marL="0">
              <a:lnSpc>
                <a:spcPts val="5000"/>
              </a:lnSpc>
              <a:buNone/>
            </a:pPr>
            <a:r>
              <a:rPr lang="en-US" sz="4000" b="1" dirty="0">
                <a:solidFill>
                  <a:srgbClr val="FFFFFF"/>
                </a:solidFill>
                <a:latin typeface="Cambria" pitchFamily="34" charset="0"/>
                <a:ea typeface="Cambria" pitchFamily="34" charset="-122"/>
                <a:cs typeface="Cambria" pitchFamily="34" charset="-120"/>
              </a:rPr>
              <a:t>買収案件のご相談</a:t>
            </a:r>
            <a:endParaRPr lang="en-US" sz="4000" dirty="0"/>
          </a:p>
        </p:txBody>
      </p:sp>
      <p:sp>
        <p:nvSpPr>
          <p:cNvPr id="5" name="Text 3"/>
          <p:cNvSpPr txBox="1"/>
          <p:nvPr/>
        </p:nvSpPr>
        <p:spPr>
          <a:xfrm>
            <a:off x="566928" y="3154680"/>
            <a:ext cx="7863840" cy="731520"/>
          </a:xfrm>
          <a:prstGeom prst="rect">
            <a:avLst/>
          </a:prstGeom>
          <a:noFill/>
          <a:ln/>
        </p:spPr>
        <p:txBody>
          <a:bodyPr wrap="square" lIns="0" tIns="0" rIns="0" bIns="0" rtlCol="0" anchor="ctr"/>
          <a:lstStyle/>
          <a:p>
            <a:pPr indent="0" marL="0">
              <a:lnSpc>
                <a:spcPts val="2400"/>
              </a:lnSpc>
              <a:buNone/>
            </a:pPr>
            <a:r>
              <a:rPr lang="en-US" sz="1400" dirty="0">
                <a:solidFill>
                  <a:srgbClr val="D9CBCF"/>
                </a:solidFill>
                <a:latin typeface="Calibri" pitchFamily="34" charset="0"/>
                <a:ea typeface="Calibri" pitchFamily="34" charset="-122"/>
                <a:cs typeface="Calibri" pitchFamily="34" charset="-120"/>
              </a:rPr>
              <a:t>株式会社プティ・ボノム（Quintessence／東京・御殿山）</a:t>
            </a:r>
            <a:endParaRPr lang="en-US" sz="1400" dirty="0"/>
          </a:p>
          <a:p>
            <a:pPr indent="0" marL="0">
              <a:lnSpc>
                <a:spcPts val="2400"/>
              </a:lnSpc>
              <a:buNone/>
            </a:pPr>
            <a:r>
              <a:rPr lang="en-US" sz="1400" dirty="0">
                <a:solidFill>
                  <a:srgbClr val="D9CBCF"/>
                </a:solidFill>
                <a:latin typeface="Calibri" pitchFamily="34" charset="0"/>
                <a:ea typeface="Calibri" pitchFamily="34" charset="-122"/>
                <a:cs typeface="Calibri" pitchFamily="34" charset="-120"/>
              </a:rPr>
              <a:t>19年連続ミシュラン三つ星・20年連続増収増益・無借金</a:t>
            </a:r>
            <a:endParaRPr lang="en-US" sz="1400" dirty="0"/>
          </a:p>
        </p:txBody>
      </p:sp>
      <p:sp>
        <p:nvSpPr>
          <p:cNvPr id="6" name="Shape 4"/>
          <p:cNvSpPr/>
          <p:nvPr/>
        </p:nvSpPr>
        <p:spPr>
          <a:xfrm>
            <a:off x="566928" y="4114800"/>
            <a:ext cx="2560320" cy="1097280"/>
          </a:xfrm>
          <a:prstGeom prst="roundRect">
            <a:avLst>
              <a:gd name="adj" fmla="val 4167"/>
            </a:avLst>
          </a:prstGeom>
          <a:solidFill>
            <a:srgbClr val="3B1E2B"/>
          </a:solidFill>
          <a:ln w="9525">
            <a:solidFill>
              <a:srgbClr val="5A3240"/>
            </a:solidFill>
            <a:prstDash val="solid"/>
          </a:ln>
        </p:spPr>
      </p:sp>
      <p:sp>
        <p:nvSpPr>
          <p:cNvPr id="7" name="Text 5"/>
          <p:cNvSpPr txBox="1"/>
          <p:nvPr/>
        </p:nvSpPr>
        <p:spPr>
          <a:xfrm>
            <a:off x="749808" y="4224528"/>
            <a:ext cx="2194560" cy="228600"/>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譲受価額</a:t>
            </a:r>
            <a:endParaRPr lang="en-US" sz="950" dirty="0"/>
          </a:p>
        </p:txBody>
      </p:sp>
      <p:sp>
        <p:nvSpPr>
          <p:cNvPr id="8" name="Text 6"/>
          <p:cNvSpPr txBox="1"/>
          <p:nvPr/>
        </p:nvSpPr>
        <p:spPr>
          <a:xfrm>
            <a:off x="749808" y="4443984"/>
            <a:ext cx="219456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50〜55億円</a:t>
            </a:r>
            <a:endParaRPr lang="en-US" sz="2500" dirty="0"/>
          </a:p>
        </p:txBody>
      </p:sp>
      <p:sp>
        <p:nvSpPr>
          <p:cNvPr id="9" name="Text 7"/>
          <p:cNvSpPr txBox="1"/>
          <p:nvPr/>
        </p:nvSpPr>
        <p:spPr>
          <a:xfrm>
            <a:off x="749808" y="4901184"/>
            <a:ext cx="2194560" cy="228600"/>
          </a:xfrm>
          <a:prstGeom prst="rect">
            <a:avLst/>
          </a:prstGeom>
          <a:noFill/>
          <a:ln/>
        </p:spPr>
        <p:txBody>
          <a:bodyPr wrap="square" lIns="0" tIns="0" rIns="0" bIns="0" rtlCol="0" anchor="ctr"/>
          <a:lstStyle/>
          <a:p>
            <a:pPr indent="0" marL="0">
              <a:buNone/>
            </a:pPr>
            <a:r>
              <a:rPr lang="en-US" sz="900" dirty="0">
                <a:solidFill>
                  <a:srgbClr val="AC969C"/>
                </a:solidFill>
                <a:latin typeface="Calibri" pitchFamily="34" charset="0"/>
                <a:ea typeface="Calibri" pitchFamily="34" charset="-122"/>
                <a:cs typeface="Calibri" pitchFamily="34" charset="-120"/>
              </a:rPr>
              <a:t>EV/EBITDA 5.2〜6.2倍</a:t>
            </a:r>
            <a:endParaRPr lang="en-US" sz="900" dirty="0"/>
          </a:p>
        </p:txBody>
      </p:sp>
      <p:sp>
        <p:nvSpPr>
          <p:cNvPr id="10" name="Shape 8"/>
          <p:cNvSpPr/>
          <p:nvPr/>
        </p:nvSpPr>
        <p:spPr>
          <a:xfrm>
            <a:off x="3355848" y="4114800"/>
            <a:ext cx="2560320" cy="1097280"/>
          </a:xfrm>
          <a:prstGeom prst="roundRect">
            <a:avLst>
              <a:gd name="adj" fmla="val 4167"/>
            </a:avLst>
          </a:prstGeom>
          <a:solidFill>
            <a:srgbClr val="3B1E2B"/>
          </a:solidFill>
          <a:ln w="9525">
            <a:solidFill>
              <a:srgbClr val="5A3240"/>
            </a:solidFill>
            <a:prstDash val="solid"/>
          </a:ln>
        </p:spPr>
      </p:sp>
      <p:sp>
        <p:nvSpPr>
          <p:cNvPr id="11" name="Text 9"/>
          <p:cNvSpPr txBox="1"/>
          <p:nvPr/>
        </p:nvSpPr>
        <p:spPr>
          <a:xfrm>
            <a:off x="3538728" y="4224528"/>
            <a:ext cx="2194560" cy="228600"/>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ご相談額</a:t>
            </a:r>
            <a:endParaRPr lang="en-US" sz="950" dirty="0"/>
          </a:p>
        </p:txBody>
      </p:sp>
      <p:sp>
        <p:nvSpPr>
          <p:cNvPr id="12" name="Text 10"/>
          <p:cNvSpPr txBox="1"/>
          <p:nvPr/>
        </p:nvSpPr>
        <p:spPr>
          <a:xfrm>
            <a:off x="3538728" y="4443984"/>
            <a:ext cx="219456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41.4億円</a:t>
            </a:r>
            <a:endParaRPr lang="en-US" sz="2500" dirty="0"/>
          </a:p>
        </p:txBody>
      </p:sp>
      <p:sp>
        <p:nvSpPr>
          <p:cNvPr id="13" name="Text 11"/>
          <p:cNvSpPr txBox="1"/>
          <p:nvPr/>
        </p:nvSpPr>
        <p:spPr>
          <a:xfrm>
            <a:off x="3538728" y="4901184"/>
            <a:ext cx="2194560" cy="228600"/>
          </a:xfrm>
          <a:prstGeom prst="rect">
            <a:avLst/>
          </a:prstGeom>
          <a:noFill/>
          <a:ln/>
        </p:spPr>
        <p:txBody>
          <a:bodyPr wrap="square" lIns="0" tIns="0" rIns="0" bIns="0" rtlCol="0" anchor="ctr"/>
          <a:lstStyle/>
          <a:p>
            <a:pPr indent="0" marL="0">
              <a:buNone/>
            </a:pPr>
            <a:r>
              <a:rPr lang="en-US" sz="900" dirty="0">
                <a:solidFill>
                  <a:srgbClr val="AC969C"/>
                </a:solidFill>
                <a:latin typeface="Calibri" pitchFamily="34" charset="0"/>
                <a:ea typeface="Calibri" pitchFamily="34" charset="-122"/>
                <a:cs typeface="Calibri" pitchFamily="34" charset="-120"/>
              </a:rPr>
              <a:t>ターム20.0＋ブリッジ21.4</a:t>
            </a:r>
            <a:endParaRPr lang="en-US" sz="900" dirty="0"/>
          </a:p>
        </p:txBody>
      </p:sp>
      <p:sp>
        <p:nvSpPr>
          <p:cNvPr id="14" name="Shape 12"/>
          <p:cNvSpPr/>
          <p:nvPr/>
        </p:nvSpPr>
        <p:spPr>
          <a:xfrm>
            <a:off x="6144768" y="4114800"/>
            <a:ext cx="2560320" cy="1097280"/>
          </a:xfrm>
          <a:prstGeom prst="roundRect">
            <a:avLst>
              <a:gd name="adj" fmla="val 4167"/>
            </a:avLst>
          </a:prstGeom>
          <a:solidFill>
            <a:srgbClr val="3B1E2B"/>
          </a:solidFill>
          <a:ln w="9525">
            <a:solidFill>
              <a:srgbClr val="5A3240"/>
            </a:solidFill>
            <a:prstDash val="solid"/>
          </a:ln>
        </p:spPr>
      </p:sp>
      <p:sp>
        <p:nvSpPr>
          <p:cNvPr id="15" name="Text 13"/>
          <p:cNvSpPr txBox="1"/>
          <p:nvPr/>
        </p:nvSpPr>
        <p:spPr>
          <a:xfrm>
            <a:off x="6327648" y="4224528"/>
            <a:ext cx="2194560" cy="228600"/>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初年度DSCR</a:t>
            </a:r>
            <a:endParaRPr lang="en-US" sz="950" dirty="0"/>
          </a:p>
        </p:txBody>
      </p:sp>
      <p:sp>
        <p:nvSpPr>
          <p:cNvPr id="16" name="Text 14"/>
          <p:cNvSpPr txBox="1"/>
          <p:nvPr/>
        </p:nvSpPr>
        <p:spPr>
          <a:xfrm>
            <a:off x="6327648" y="4443984"/>
            <a:ext cx="2194560" cy="45720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1.36倍</a:t>
            </a:r>
            <a:endParaRPr lang="en-US" sz="2500" dirty="0"/>
          </a:p>
        </p:txBody>
      </p:sp>
      <p:sp>
        <p:nvSpPr>
          <p:cNvPr id="17" name="Text 15"/>
          <p:cNvSpPr txBox="1"/>
          <p:nvPr/>
        </p:nvSpPr>
        <p:spPr>
          <a:xfrm>
            <a:off x="6327648" y="4901184"/>
            <a:ext cx="2194560" cy="228600"/>
          </a:xfrm>
          <a:prstGeom prst="rect">
            <a:avLst/>
          </a:prstGeom>
          <a:noFill/>
          <a:ln/>
        </p:spPr>
        <p:txBody>
          <a:bodyPr wrap="square" lIns="0" tIns="0" rIns="0" bIns="0" rtlCol="0" anchor="ctr"/>
          <a:lstStyle/>
          <a:p>
            <a:pPr indent="0" marL="0">
              <a:buNone/>
            </a:pPr>
            <a:r>
              <a:rPr lang="en-US" sz="900" dirty="0">
                <a:solidFill>
                  <a:srgbClr val="AC969C"/>
                </a:solidFill>
                <a:latin typeface="Calibri" pitchFamily="34" charset="0"/>
                <a:ea typeface="Calibri" pitchFamily="34" charset="-122"/>
                <a:cs typeface="Calibri" pitchFamily="34" charset="-120"/>
              </a:rPr>
              <a:t>当初案。ご相談案（p.28）では1.38倍</a:t>
            </a:r>
            <a:endParaRPr lang="en-US" sz="900" dirty="0"/>
          </a:p>
        </p:txBody>
      </p:sp>
      <p:sp>
        <p:nvSpPr>
          <p:cNvPr id="18" name="Text 16"/>
          <p:cNvSpPr txBox="1"/>
          <p:nvPr/>
        </p:nvSpPr>
        <p:spPr>
          <a:xfrm>
            <a:off x="566928" y="5623560"/>
            <a:ext cx="8686800" cy="640080"/>
          </a:xfrm>
          <a:prstGeom prst="rect">
            <a:avLst/>
          </a:prstGeom>
          <a:noFill/>
          <a:ln/>
        </p:spPr>
        <p:txBody>
          <a:bodyPr wrap="square" lIns="0" tIns="0" rIns="0" bIns="0" rtlCol="0" anchor="ctr"/>
          <a:lstStyle/>
          <a:p>
            <a:pPr indent="0" marL="0">
              <a:lnSpc>
                <a:spcPts val="1600"/>
              </a:lnSpc>
              <a:buNone/>
            </a:pPr>
            <a:r>
              <a:rPr lang="en-US" sz="1000" dirty="0">
                <a:solidFill>
                  <a:srgbClr val="9C858B"/>
                </a:solidFill>
                <a:latin typeface="Calibri" pitchFamily="34" charset="0"/>
                <a:ea typeface="Calibri" pitchFamily="34" charset="-122"/>
                <a:cs typeface="Calibri" pitchFamily="34" charset="-120"/>
              </a:rPr>
              <a:t>対象会社の概要、譲受価額の妥当性、買収ストラクチャー、返済可能性を一冊にまとめたものです。</a:t>
            </a:r>
            <a:endParaRPr lang="en-US" sz="1000" dirty="0"/>
          </a:p>
          <a:p>
            <a:pPr indent="0" marL="0">
              <a:lnSpc>
                <a:spcPts val="1600"/>
              </a:lnSpc>
              <a:buNone/>
            </a:pPr>
            <a:r>
              <a:rPr lang="en-US" sz="1000" dirty="0">
                <a:solidFill>
                  <a:srgbClr val="9C858B"/>
                </a:solidFill>
                <a:latin typeface="Calibri" pitchFamily="34" charset="0"/>
                <a:ea typeface="Calibri" pitchFamily="34" charset="-122"/>
                <a:cs typeface="Calibri" pitchFamily="34" charset="-120"/>
              </a:rPr>
              <a:t>2026年9月20日　株式会社WineBank</a:t>
            </a:r>
            <a:endParaRPr lang="en-US" sz="1000" dirty="0"/>
          </a:p>
        </p:txBody>
      </p:sp>
      <p:sp>
        <p:nvSpPr>
          <p:cNvPr id="19" name="Text 17"/>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8A727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0" name="Text 18"/>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8A727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C0E14"/>
        </a:solidFill>
      </p:bgPr>
    </p:bg>
    <p:spTree>
      <p:nvGrpSpPr>
        <p:cNvPr id="1" name=""/>
        <p:cNvGrpSpPr/>
        <p:nvPr/>
      </p:nvGrpSpPr>
      <p:grpSpPr>
        <a:xfrm>
          <a:off x="0" y="0"/>
          <a:ext cx="0" cy="0"/>
          <a:chOff x="0" y="0"/>
          <a:chExt cx="0" cy="0"/>
        </a:xfrm>
      </p:grpSpPr>
      <p:sp>
        <p:nvSpPr>
          <p:cNvPr id="2" name="Shape 0"/>
          <p:cNvSpPr/>
          <p:nvPr/>
        </p:nvSpPr>
        <p:spPr>
          <a:xfrm>
            <a:off x="9418320" y="-3840480"/>
            <a:ext cx="7132320" cy="7132320"/>
          </a:xfrm>
          <a:prstGeom prst="ellipse">
            <a:avLst/>
          </a:prstGeom>
          <a:solidFill>
            <a:srgbClr val="6D2E46"/>
          </a:solidFill>
          <a:ln/>
        </p:spPr>
      </p:sp>
      <p:sp>
        <p:nvSpPr>
          <p:cNvPr id="3" name="Shape 1"/>
          <p:cNvSpPr/>
          <p:nvPr/>
        </p:nvSpPr>
        <p:spPr>
          <a:xfrm>
            <a:off x="-2743200" y="4754880"/>
            <a:ext cx="5852160" cy="5852160"/>
          </a:xfrm>
          <a:prstGeom prst="ellipse">
            <a:avLst/>
          </a:prstGeom>
          <a:solidFill>
            <a:srgbClr val="6D2E46"/>
          </a:solidFill>
          <a:ln/>
        </p:spPr>
      </p:sp>
      <p:sp>
        <p:nvSpPr>
          <p:cNvPr id="4" name="Text 2"/>
          <p:cNvSpPr txBox="1"/>
          <p:nvPr/>
        </p:nvSpPr>
        <p:spPr>
          <a:xfrm>
            <a:off x="566928" y="365760"/>
            <a:ext cx="9144000" cy="237744"/>
          </a:xfrm>
          <a:prstGeom prst="rect">
            <a:avLst/>
          </a:prstGeom>
          <a:noFill/>
          <a:ln/>
        </p:spPr>
        <p:txBody>
          <a:bodyPr wrap="square" lIns="0" tIns="0" rIns="0" bIns="0" rtlCol="0" anchor="ctr"/>
          <a:lstStyle/>
          <a:p>
            <a:pPr indent="0" marL="0">
              <a:buNone/>
            </a:pPr>
            <a:r>
              <a:rPr lang="en-US" sz="1100" b="1" spc="160" kern="0" dirty="0">
                <a:solidFill>
                  <a:srgbClr val="E0B94A"/>
                </a:solidFill>
                <a:latin typeface="Calibri" pitchFamily="34" charset="0"/>
                <a:ea typeface="Calibri" pitchFamily="34" charset="-122"/>
                <a:cs typeface="Calibri" pitchFamily="34" charset="-120"/>
              </a:rPr>
              <a:t>QUINTESSENCE　／　カンテサンス（東京・品川御殿山）</a:t>
            </a:r>
            <a:endParaRPr lang="en-US" sz="1100" dirty="0"/>
          </a:p>
        </p:txBody>
      </p:sp>
      <p:sp>
        <p:nvSpPr>
          <p:cNvPr id="5" name="Text 3"/>
          <p:cNvSpPr txBox="1"/>
          <p:nvPr/>
        </p:nvSpPr>
        <p:spPr>
          <a:xfrm>
            <a:off x="566928" y="640080"/>
            <a:ext cx="11055096" cy="694944"/>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創刊号から、ずっと三つ星。</a:t>
            </a:r>
            <a:endParaRPr lang="en-US" sz="4400" dirty="0"/>
          </a:p>
        </p:txBody>
      </p:sp>
      <p:sp>
        <p:nvSpPr>
          <p:cNvPr id="6" name="Text 4"/>
          <p:cNvSpPr txBox="1"/>
          <p:nvPr/>
        </p:nvSpPr>
        <p:spPr>
          <a:xfrm>
            <a:off x="566928" y="1389888"/>
            <a:ext cx="11055096" cy="292608"/>
          </a:xfrm>
          <a:prstGeom prst="rect">
            <a:avLst/>
          </a:prstGeom>
          <a:noFill/>
          <a:ln/>
        </p:spPr>
        <p:txBody>
          <a:bodyPr wrap="square" lIns="0" tIns="0" rIns="0" bIns="0" rtlCol="0" anchor="ctr"/>
          <a:lstStyle/>
          <a:p>
            <a:pPr indent="0" marL="0">
              <a:buNone/>
            </a:pPr>
            <a:r>
              <a:rPr lang="en-US" sz="1300" dirty="0">
                <a:solidFill>
                  <a:srgbClr val="D6C6CB"/>
                </a:solidFill>
                <a:latin typeface="Calibri" pitchFamily="34" charset="0"/>
                <a:ea typeface="Calibri" pitchFamily="34" charset="-122"/>
                <a:cs typeface="Calibri" pitchFamily="34" charset="-120"/>
              </a:rPr>
              <a:t>『ミシュランガイド東京』は2007年に創刊。2008年版から2026年版までの19版すべてで、カンテサンスは最高評価を保持している。</a:t>
            </a:r>
            <a:endParaRPr lang="en-US" sz="1300" dirty="0"/>
          </a:p>
        </p:txBody>
      </p:sp>
      <p:sp>
        <p:nvSpPr>
          <p:cNvPr id="7" name="Shape 5"/>
          <p:cNvSpPr/>
          <p:nvPr/>
        </p:nvSpPr>
        <p:spPr>
          <a:xfrm>
            <a:off x="841248" y="1847088"/>
            <a:ext cx="182880" cy="182880"/>
          </a:xfrm>
          <a:prstGeom prst="star5">
            <a:avLst/>
          </a:prstGeom>
          <a:solidFill>
            <a:srgbClr val="E0B94A"/>
          </a:solidFill>
          <a:ln/>
        </p:spPr>
      </p:sp>
      <p:sp>
        <p:nvSpPr>
          <p:cNvPr id="8" name="Shape 6"/>
          <p:cNvSpPr/>
          <p:nvPr/>
        </p:nvSpPr>
        <p:spPr>
          <a:xfrm>
            <a:off x="1046988" y="1847088"/>
            <a:ext cx="182880" cy="182880"/>
          </a:xfrm>
          <a:prstGeom prst="star5">
            <a:avLst/>
          </a:prstGeom>
          <a:solidFill>
            <a:srgbClr val="E0B94A"/>
          </a:solidFill>
          <a:ln/>
        </p:spPr>
      </p:sp>
      <p:sp>
        <p:nvSpPr>
          <p:cNvPr id="9" name="Shape 7"/>
          <p:cNvSpPr/>
          <p:nvPr/>
        </p:nvSpPr>
        <p:spPr>
          <a:xfrm>
            <a:off x="1252728" y="1847088"/>
            <a:ext cx="182880" cy="182880"/>
          </a:xfrm>
          <a:prstGeom prst="star5">
            <a:avLst/>
          </a:prstGeom>
          <a:solidFill>
            <a:srgbClr val="E0B94A"/>
          </a:solidFill>
          <a:ln/>
        </p:spPr>
      </p:sp>
      <p:sp>
        <p:nvSpPr>
          <p:cNvPr id="10" name="Text 8"/>
          <p:cNvSpPr txBox="1"/>
          <p:nvPr/>
        </p:nvSpPr>
        <p:spPr>
          <a:xfrm>
            <a:off x="694944"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2008</a:t>
            </a:r>
            <a:endParaRPr lang="en-US" sz="800" dirty="0"/>
          </a:p>
        </p:txBody>
      </p:sp>
      <p:sp>
        <p:nvSpPr>
          <p:cNvPr id="11" name="Shape 9"/>
          <p:cNvSpPr/>
          <p:nvPr/>
        </p:nvSpPr>
        <p:spPr>
          <a:xfrm>
            <a:off x="1879092" y="1847088"/>
            <a:ext cx="182880" cy="182880"/>
          </a:xfrm>
          <a:prstGeom prst="star5">
            <a:avLst/>
          </a:prstGeom>
          <a:solidFill>
            <a:srgbClr val="E0B94A"/>
          </a:solidFill>
          <a:ln/>
        </p:spPr>
      </p:sp>
      <p:sp>
        <p:nvSpPr>
          <p:cNvPr id="12" name="Shape 10"/>
          <p:cNvSpPr/>
          <p:nvPr/>
        </p:nvSpPr>
        <p:spPr>
          <a:xfrm>
            <a:off x="2084832" y="1847088"/>
            <a:ext cx="182880" cy="182880"/>
          </a:xfrm>
          <a:prstGeom prst="star5">
            <a:avLst/>
          </a:prstGeom>
          <a:solidFill>
            <a:srgbClr val="E0B94A"/>
          </a:solidFill>
          <a:ln/>
        </p:spPr>
      </p:sp>
      <p:sp>
        <p:nvSpPr>
          <p:cNvPr id="13" name="Shape 11"/>
          <p:cNvSpPr/>
          <p:nvPr/>
        </p:nvSpPr>
        <p:spPr>
          <a:xfrm>
            <a:off x="2290572" y="1847088"/>
            <a:ext cx="182880" cy="182880"/>
          </a:xfrm>
          <a:prstGeom prst="star5">
            <a:avLst/>
          </a:prstGeom>
          <a:solidFill>
            <a:srgbClr val="E0B94A"/>
          </a:solidFill>
          <a:ln/>
        </p:spPr>
      </p:sp>
      <p:sp>
        <p:nvSpPr>
          <p:cNvPr id="14" name="Text 12"/>
          <p:cNvSpPr txBox="1"/>
          <p:nvPr/>
        </p:nvSpPr>
        <p:spPr>
          <a:xfrm>
            <a:off x="1732788"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2009</a:t>
            </a:r>
            <a:endParaRPr lang="en-US" sz="800" dirty="0"/>
          </a:p>
        </p:txBody>
      </p:sp>
      <p:sp>
        <p:nvSpPr>
          <p:cNvPr id="15" name="Shape 13"/>
          <p:cNvSpPr/>
          <p:nvPr/>
        </p:nvSpPr>
        <p:spPr>
          <a:xfrm>
            <a:off x="2916936" y="1847088"/>
            <a:ext cx="182880" cy="182880"/>
          </a:xfrm>
          <a:prstGeom prst="star5">
            <a:avLst/>
          </a:prstGeom>
          <a:solidFill>
            <a:srgbClr val="E0B94A"/>
          </a:solidFill>
          <a:ln/>
        </p:spPr>
      </p:sp>
      <p:sp>
        <p:nvSpPr>
          <p:cNvPr id="16" name="Shape 14"/>
          <p:cNvSpPr/>
          <p:nvPr/>
        </p:nvSpPr>
        <p:spPr>
          <a:xfrm>
            <a:off x="3122676" y="1847088"/>
            <a:ext cx="182880" cy="182880"/>
          </a:xfrm>
          <a:prstGeom prst="star5">
            <a:avLst/>
          </a:prstGeom>
          <a:solidFill>
            <a:srgbClr val="E0B94A"/>
          </a:solidFill>
          <a:ln/>
        </p:spPr>
      </p:sp>
      <p:sp>
        <p:nvSpPr>
          <p:cNvPr id="17" name="Shape 15"/>
          <p:cNvSpPr/>
          <p:nvPr/>
        </p:nvSpPr>
        <p:spPr>
          <a:xfrm>
            <a:off x="3328416" y="1847088"/>
            <a:ext cx="182880" cy="182880"/>
          </a:xfrm>
          <a:prstGeom prst="star5">
            <a:avLst/>
          </a:prstGeom>
          <a:solidFill>
            <a:srgbClr val="E0B94A"/>
          </a:solidFill>
          <a:ln/>
        </p:spPr>
      </p:sp>
      <p:sp>
        <p:nvSpPr>
          <p:cNvPr id="18" name="Text 16"/>
          <p:cNvSpPr txBox="1"/>
          <p:nvPr/>
        </p:nvSpPr>
        <p:spPr>
          <a:xfrm>
            <a:off x="2770632"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2010</a:t>
            </a:r>
            <a:endParaRPr lang="en-US" sz="800" dirty="0"/>
          </a:p>
        </p:txBody>
      </p:sp>
      <p:sp>
        <p:nvSpPr>
          <p:cNvPr id="19" name="Shape 17"/>
          <p:cNvSpPr/>
          <p:nvPr/>
        </p:nvSpPr>
        <p:spPr>
          <a:xfrm>
            <a:off x="3954780" y="1847088"/>
            <a:ext cx="182880" cy="182880"/>
          </a:xfrm>
          <a:prstGeom prst="star5">
            <a:avLst/>
          </a:prstGeom>
          <a:solidFill>
            <a:srgbClr val="E0B94A"/>
          </a:solidFill>
          <a:ln/>
        </p:spPr>
      </p:sp>
      <p:sp>
        <p:nvSpPr>
          <p:cNvPr id="20" name="Shape 18"/>
          <p:cNvSpPr/>
          <p:nvPr/>
        </p:nvSpPr>
        <p:spPr>
          <a:xfrm>
            <a:off x="4160520" y="1847088"/>
            <a:ext cx="182880" cy="182880"/>
          </a:xfrm>
          <a:prstGeom prst="star5">
            <a:avLst/>
          </a:prstGeom>
          <a:solidFill>
            <a:srgbClr val="E0B94A"/>
          </a:solidFill>
          <a:ln/>
        </p:spPr>
      </p:sp>
      <p:sp>
        <p:nvSpPr>
          <p:cNvPr id="21" name="Shape 19"/>
          <p:cNvSpPr/>
          <p:nvPr/>
        </p:nvSpPr>
        <p:spPr>
          <a:xfrm>
            <a:off x="4366260" y="1847088"/>
            <a:ext cx="182880" cy="182880"/>
          </a:xfrm>
          <a:prstGeom prst="star5">
            <a:avLst/>
          </a:prstGeom>
          <a:solidFill>
            <a:srgbClr val="E0B94A"/>
          </a:solidFill>
          <a:ln/>
        </p:spPr>
      </p:sp>
      <p:sp>
        <p:nvSpPr>
          <p:cNvPr id="22" name="Text 20"/>
          <p:cNvSpPr txBox="1"/>
          <p:nvPr/>
        </p:nvSpPr>
        <p:spPr>
          <a:xfrm>
            <a:off x="3808476"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2011</a:t>
            </a:r>
            <a:endParaRPr lang="en-US" sz="800" dirty="0"/>
          </a:p>
        </p:txBody>
      </p:sp>
      <p:sp>
        <p:nvSpPr>
          <p:cNvPr id="23" name="Shape 21"/>
          <p:cNvSpPr/>
          <p:nvPr/>
        </p:nvSpPr>
        <p:spPr>
          <a:xfrm>
            <a:off x="4992624" y="1847088"/>
            <a:ext cx="182880" cy="182880"/>
          </a:xfrm>
          <a:prstGeom prst="star5">
            <a:avLst/>
          </a:prstGeom>
          <a:solidFill>
            <a:srgbClr val="E0B94A"/>
          </a:solidFill>
          <a:ln/>
        </p:spPr>
      </p:sp>
      <p:sp>
        <p:nvSpPr>
          <p:cNvPr id="24" name="Shape 22"/>
          <p:cNvSpPr/>
          <p:nvPr/>
        </p:nvSpPr>
        <p:spPr>
          <a:xfrm>
            <a:off x="5198364" y="1847088"/>
            <a:ext cx="182880" cy="182880"/>
          </a:xfrm>
          <a:prstGeom prst="star5">
            <a:avLst/>
          </a:prstGeom>
          <a:solidFill>
            <a:srgbClr val="E0B94A"/>
          </a:solidFill>
          <a:ln/>
        </p:spPr>
      </p:sp>
      <p:sp>
        <p:nvSpPr>
          <p:cNvPr id="25" name="Shape 23"/>
          <p:cNvSpPr/>
          <p:nvPr/>
        </p:nvSpPr>
        <p:spPr>
          <a:xfrm>
            <a:off x="5404104" y="1847088"/>
            <a:ext cx="182880" cy="182880"/>
          </a:xfrm>
          <a:prstGeom prst="star5">
            <a:avLst/>
          </a:prstGeom>
          <a:solidFill>
            <a:srgbClr val="E0B94A"/>
          </a:solidFill>
          <a:ln/>
        </p:spPr>
      </p:sp>
      <p:sp>
        <p:nvSpPr>
          <p:cNvPr id="26" name="Text 24"/>
          <p:cNvSpPr txBox="1"/>
          <p:nvPr/>
        </p:nvSpPr>
        <p:spPr>
          <a:xfrm>
            <a:off x="4846320"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2012</a:t>
            </a:r>
            <a:endParaRPr lang="en-US" sz="800" dirty="0"/>
          </a:p>
        </p:txBody>
      </p:sp>
      <p:sp>
        <p:nvSpPr>
          <p:cNvPr id="27" name="Shape 25"/>
          <p:cNvSpPr/>
          <p:nvPr/>
        </p:nvSpPr>
        <p:spPr>
          <a:xfrm>
            <a:off x="6030468" y="1847088"/>
            <a:ext cx="182880" cy="182880"/>
          </a:xfrm>
          <a:prstGeom prst="star5">
            <a:avLst/>
          </a:prstGeom>
          <a:solidFill>
            <a:srgbClr val="E0B94A"/>
          </a:solidFill>
          <a:ln/>
        </p:spPr>
      </p:sp>
      <p:sp>
        <p:nvSpPr>
          <p:cNvPr id="28" name="Shape 26"/>
          <p:cNvSpPr/>
          <p:nvPr/>
        </p:nvSpPr>
        <p:spPr>
          <a:xfrm>
            <a:off x="6236208" y="1847088"/>
            <a:ext cx="182880" cy="182880"/>
          </a:xfrm>
          <a:prstGeom prst="star5">
            <a:avLst/>
          </a:prstGeom>
          <a:solidFill>
            <a:srgbClr val="E0B94A"/>
          </a:solidFill>
          <a:ln/>
        </p:spPr>
      </p:sp>
      <p:sp>
        <p:nvSpPr>
          <p:cNvPr id="29" name="Shape 27"/>
          <p:cNvSpPr/>
          <p:nvPr/>
        </p:nvSpPr>
        <p:spPr>
          <a:xfrm>
            <a:off x="6441948" y="1847088"/>
            <a:ext cx="182880" cy="182880"/>
          </a:xfrm>
          <a:prstGeom prst="star5">
            <a:avLst/>
          </a:prstGeom>
          <a:solidFill>
            <a:srgbClr val="E0B94A"/>
          </a:solidFill>
          <a:ln/>
        </p:spPr>
      </p:sp>
      <p:sp>
        <p:nvSpPr>
          <p:cNvPr id="30" name="Text 28"/>
          <p:cNvSpPr txBox="1"/>
          <p:nvPr/>
        </p:nvSpPr>
        <p:spPr>
          <a:xfrm>
            <a:off x="5884164"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2013</a:t>
            </a:r>
            <a:endParaRPr lang="en-US" sz="800" dirty="0"/>
          </a:p>
        </p:txBody>
      </p:sp>
      <p:sp>
        <p:nvSpPr>
          <p:cNvPr id="31" name="Shape 29"/>
          <p:cNvSpPr/>
          <p:nvPr/>
        </p:nvSpPr>
        <p:spPr>
          <a:xfrm>
            <a:off x="7068312" y="1847088"/>
            <a:ext cx="182880" cy="182880"/>
          </a:xfrm>
          <a:prstGeom prst="star5">
            <a:avLst/>
          </a:prstGeom>
          <a:solidFill>
            <a:srgbClr val="E0B94A"/>
          </a:solidFill>
          <a:ln/>
        </p:spPr>
      </p:sp>
      <p:sp>
        <p:nvSpPr>
          <p:cNvPr id="32" name="Shape 30"/>
          <p:cNvSpPr/>
          <p:nvPr/>
        </p:nvSpPr>
        <p:spPr>
          <a:xfrm>
            <a:off x="7274052" y="1847088"/>
            <a:ext cx="182880" cy="182880"/>
          </a:xfrm>
          <a:prstGeom prst="star5">
            <a:avLst/>
          </a:prstGeom>
          <a:solidFill>
            <a:srgbClr val="E0B94A"/>
          </a:solidFill>
          <a:ln/>
        </p:spPr>
      </p:sp>
      <p:sp>
        <p:nvSpPr>
          <p:cNvPr id="33" name="Shape 31"/>
          <p:cNvSpPr/>
          <p:nvPr/>
        </p:nvSpPr>
        <p:spPr>
          <a:xfrm>
            <a:off x="7479792" y="1847088"/>
            <a:ext cx="182880" cy="182880"/>
          </a:xfrm>
          <a:prstGeom prst="star5">
            <a:avLst/>
          </a:prstGeom>
          <a:solidFill>
            <a:srgbClr val="E0B94A"/>
          </a:solidFill>
          <a:ln/>
        </p:spPr>
      </p:sp>
      <p:sp>
        <p:nvSpPr>
          <p:cNvPr id="34" name="Text 32"/>
          <p:cNvSpPr txBox="1"/>
          <p:nvPr/>
        </p:nvSpPr>
        <p:spPr>
          <a:xfrm>
            <a:off x="6922008"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2014</a:t>
            </a:r>
            <a:endParaRPr lang="en-US" sz="800" dirty="0"/>
          </a:p>
        </p:txBody>
      </p:sp>
      <p:sp>
        <p:nvSpPr>
          <p:cNvPr id="35" name="Shape 33"/>
          <p:cNvSpPr/>
          <p:nvPr/>
        </p:nvSpPr>
        <p:spPr>
          <a:xfrm>
            <a:off x="8106156" y="1847088"/>
            <a:ext cx="182880" cy="182880"/>
          </a:xfrm>
          <a:prstGeom prst="star5">
            <a:avLst/>
          </a:prstGeom>
          <a:solidFill>
            <a:srgbClr val="E0B94A"/>
          </a:solidFill>
          <a:ln/>
        </p:spPr>
      </p:sp>
      <p:sp>
        <p:nvSpPr>
          <p:cNvPr id="36" name="Shape 34"/>
          <p:cNvSpPr/>
          <p:nvPr/>
        </p:nvSpPr>
        <p:spPr>
          <a:xfrm>
            <a:off x="8311896" y="1847088"/>
            <a:ext cx="182880" cy="182880"/>
          </a:xfrm>
          <a:prstGeom prst="star5">
            <a:avLst/>
          </a:prstGeom>
          <a:solidFill>
            <a:srgbClr val="E0B94A"/>
          </a:solidFill>
          <a:ln/>
        </p:spPr>
      </p:sp>
      <p:sp>
        <p:nvSpPr>
          <p:cNvPr id="37" name="Shape 35"/>
          <p:cNvSpPr/>
          <p:nvPr/>
        </p:nvSpPr>
        <p:spPr>
          <a:xfrm>
            <a:off x="8517636" y="1847088"/>
            <a:ext cx="182880" cy="182880"/>
          </a:xfrm>
          <a:prstGeom prst="star5">
            <a:avLst/>
          </a:prstGeom>
          <a:solidFill>
            <a:srgbClr val="E0B94A"/>
          </a:solidFill>
          <a:ln/>
        </p:spPr>
      </p:sp>
      <p:sp>
        <p:nvSpPr>
          <p:cNvPr id="38" name="Text 36"/>
          <p:cNvSpPr txBox="1"/>
          <p:nvPr/>
        </p:nvSpPr>
        <p:spPr>
          <a:xfrm>
            <a:off x="7959852"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2015</a:t>
            </a:r>
            <a:endParaRPr lang="en-US" sz="800" dirty="0"/>
          </a:p>
        </p:txBody>
      </p:sp>
      <p:sp>
        <p:nvSpPr>
          <p:cNvPr id="39" name="Shape 37"/>
          <p:cNvSpPr/>
          <p:nvPr/>
        </p:nvSpPr>
        <p:spPr>
          <a:xfrm>
            <a:off x="9144000" y="1847088"/>
            <a:ext cx="182880" cy="182880"/>
          </a:xfrm>
          <a:prstGeom prst="star5">
            <a:avLst/>
          </a:prstGeom>
          <a:solidFill>
            <a:srgbClr val="E0B94A"/>
          </a:solidFill>
          <a:ln/>
        </p:spPr>
      </p:sp>
      <p:sp>
        <p:nvSpPr>
          <p:cNvPr id="40" name="Shape 38"/>
          <p:cNvSpPr/>
          <p:nvPr/>
        </p:nvSpPr>
        <p:spPr>
          <a:xfrm>
            <a:off x="9349740" y="1847088"/>
            <a:ext cx="182880" cy="182880"/>
          </a:xfrm>
          <a:prstGeom prst="star5">
            <a:avLst/>
          </a:prstGeom>
          <a:solidFill>
            <a:srgbClr val="E0B94A"/>
          </a:solidFill>
          <a:ln/>
        </p:spPr>
      </p:sp>
      <p:sp>
        <p:nvSpPr>
          <p:cNvPr id="41" name="Shape 39"/>
          <p:cNvSpPr/>
          <p:nvPr/>
        </p:nvSpPr>
        <p:spPr>
          <a:xfrm>
            <a:off x="9555480" y="1847088"/>
            <a:ext cx="182880" cy="182880"/>
          </a:xfrm>
          <a:prstGeom prst="star5">
            <a:avLst/>
          </a:prstGeom>
          <a:solidFill>
            <a:srgbClr val="E0B94A"/>
          </a:solidFill>
          <a:ln/>
        </p:spPr>
      </p:sp>
      <p:sp>
        <p:nvSpPr>
          <p:cNvPr id="42" name="Text 40"/>
          <p:cNvSpPr txBox="1"/>
          <p:nvPr/>
        </p:nvSpPr>
        <p:spPr>
          <a:xfrm>
            <a:off x="8997696"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2016</a:t>
            </a:r>
            <a:endParaRPr lang="en-US" sz="800" dirty="0"/>
          </a:p>
        </p:txBody>
      </p:sp>
      <p:sp>
        <p:nvSpPr>
          <p:cNvPr id="43" name="Shape 41"/>
          <p:cNvSpPr/>
          <p:nvPr/>
        </p:nvSpPr>
        <p:spPr>
          <a:xfrm>
            <a:off x="10181844" y="1847088"/>
            <a:ext cx="182880" cy="182880"/>
          </a:xfrm>
          <a:prstGeom prst="star5">
            <a:avLst/>
          </a:prstGeom>
          <a:solidFill>
            <a:srgbClr val="E0B94A"/>
          </a:solidFill>
          <a:ln/>
        </p:spPr>
      </p:sp>
      <p:sp>
        <p:nvSpPr>
          <p:cNvPr id="44" name="Shape 42"/>
          <p:cNvSpPr/>
          <p:nvPr/>
        </p:nvSpPr>
        <p:spPr>
          <a:xfrm>
            <a:off x="10387584" y="1847088"/>
            <a:ext cx="182880" cy="182880"/>
          </a:xfrm>
          <a:prstGeom prst="star5">
            <a:avLst/>
          </a:prstGeom>
          <a:solidFill>
            <a:srgbClr val="E0B94A"/>
          </a:solidFill>
          <a:ln/>
        </p:spPr>
      </p:sp>
      <p:sp>
        <p:nvSpPr>
          <p:cNvPr id="45" name="Shape 43"/>
          <p:cNvSpPr/>
          <p:nvPr/>
        </p:nvSpPr>
        <p:spPr>
          <a:xfrm>
            <a:off x="10593324" y="1847088"/>
            <a:ext cx="182880" cy="182880"/>
          </a:xfrm>
          <a:prstGeom prst="star5">
            <a:avLst/>
          </a:prstGeom>
          <a:solidFill>
            <a:srgbClr val="E0B94A"/>
          </a:solidFill>
          <a:ln/>
        </p:spPr>
      </p:sp>
      <p:sp>
        <p:nvSpPr>
          <p:cNvPr id="46" name="Text 44"/>
          <p:cNvSpPr txBox="1"/>
          <p:nvPr/>
        </p:nvSpPr>
        <p:spPr>
          <a:xfrm>
            <a:off x="10035540" y="206654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2017</a:t>
            </a:r>
            <a:endParaRPr lang="en-US" sz="800" dirty="0"/>
          </a:p>
        </p:txBody>
      </p:sp>
      <p:sp>
        <p:nvSpPr>
          <p:cNvPr id="47" name="Shape 45"/>
          <p:cNvSpPr/>
          <p:nvPr/>
        </p:nvSpPr>
        <p:spPr>
          <a:xfrm>
            <a:off x="841248" y="2395728"/>
            <a:ext cx="182880" cy="182880"/>
          </a:xfrm>
          <a:prstGeom prst="star5">
            <a:avLst/>
          </a:prstGeom>
          <a:solidFill>
            <a:srgbClr val="E0B94A"/>
          </a:solidFill>
          <a:ln/>
        </p:spPr>
      </p:sp>
      <p:sp>
        <p:nvSpPr>
          <p:cNvPr id="48" name="Shape 46"/>
          <p:cNvSpPr/>
          <p:nvPr/>
        </p:nvSpPr>
        <p:spPr>
          <a:xfrm>
            <a:off x="1046988" y="2395728"/>
            <a:ext cx="182880" cy="182880"/>
          </a:xfrm>
          <a:prstGeom prst="star5">
            <a:avLst/>
          </a:prstGeom>
          <a:solidFill>
            <a:srgbClr val="E0B94A"/>
          </a:solidFill>
          <a:ln/>
        </p:spPr>
      </p:sp>
      <p:sp>
        <p:nvSpPr>
          <p:cNvPr id="49" name="Shape 47"/>
          <p:cNvSpPr/>
          <p:nvPr/>
        </p:nvSpPr>
        <p:spPr>
          <a:xfrm>
            <a:off x="1252728" y="2395728"/>
            <a:ext cx="182880" cy="182880"/>
          </a:xfrm>
          <a:prstGeom prst="star5">
            <a:avLst/>
          </a:prstGeom>
          <a:solidFill>
            <a:srgbClr val="E0B94A"/>
          </a:solidFill>
          <a:ln/>
        </p:spPr>
      </p:sp>
      <p:sp>
        <p:nvSpPr>
          <p:cNvPr id="50" name="Text 48"/>
          <p:cNvSpPr txBox="1"/>
          <p:nvPr/>
        </p:nvSpPr>
        <p:spPr>
          <a:xfrm>
            <a:off x="694944" y="261518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2018</a:t>
            </a:r>
            <a:endParaRPr lang="en-US" sz="800" dirty="0"/>
          </a:p>
        </p:txBody>
      </p:sp>
      <p:sp>
        <p:nvSpPr>
          <p:cNvPr id="51" name="Shape 49"/>
          <p:cNvSpPr/>
          <p:nvPr/>
        </p:nvSpPr>
        <p:spPr>
          <a:xfrm>
            <a:off x="1879092" y="2395728"/>
            <a:ext cx="182880" cy="182880"/>
          </a:xfrm>
          <a:prstGeom prst="star5">
            <a:avLst/>
          </a:prstGeom>
          <a:solidFill>
            <a:srgbClr val="E0B94A"/>
          </a:solidFill>
          <a:ln/>
        </p:spPr>
      </p:sp>
      <p:sp>
        <p:nvSpPr>
          <p:cNvPr id="52" name="Shape 50"/>
          <p:cNvSpPr/>
          <p:nvPr/>
        </p:nvSpPr>
        <p:spPr>
          <a:xfrm>
            <a:off x="2084832" y="2395728"/>
            <a:ext cx="182880" cy="182880"/>
          </a:xfrm>
          <a:prstGeom prst="star5">
            <a:avLst/>
          </a:prstGeom>
          <a:solidFill>
            <a:srgbClr val="E0B94A"/>
          </a:solidFill>
          <a:ln/>
        </p:spPr>
      </p:sp>
      <p:sp>
        <p:nvSpPr>
          <p:cNvPr id="53" name="Shape 51"/>
          <p:cNvSpPr/>
          <p:nvPr/>
        </p:nvSpPr>
        <p:spPr>
          <a:xfrm>
            <a:off x="2290572" y="2395728"/>
            <a:ext cx="182880" cy="182880"/>
          </a:xfrm>
          <a:prstGeom prst="star5">
            <a:avLst/>
          </a:prstGeom>
          <a:solidFill>
            <a:srgbClr val="E0B94A"/>
          </a:solidFill>
          <a:ln/>
        </p:spPr>
      </p:sp>
      <p:sp>
        <p:nvSpPr>
          <p:cNvPr id="54" name="Text 52"/>
          <p:cNvSpPr txBox="1"/>
          <p:nvPr/>
        </p:nvSpPr>
        <p:spPr>
          <a:xfrm>
            <a:off x="1732788" y="261518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2019</a:t>
            </a:r>
            <a:endParaRPr lang="en-US" sz="800" dirty="0"/>
          </a:p>
        </p:txBody>
      </p:sp>
      <p:sp>
        <p:nvSpPr>
          <p:cNvPr id="55" name="Shape 53"/>
          <p:cNvSpPr/>
          <p:nvPr/>
        </p:nvSpPr>
        <p:spPr>
          <a:xfrm>
            <a:off x="2916936" y="2395728"/>
            <a:ext cx="182880" cy="182880"/>
          </a:xfrm>
          <a:prstGeom prst="star5">
            <a:avLst/>
          </a:prstGeom>
          <a:solidFill>
            <a:srgbClr val="E0B94A"/>
          </a:solidFill>
          <a:ln/>
        </p:spPr>
      </p:sp>
      <p:sp>
        <p:nvSpPr>
          <p:cNvPr id="56" name="Shape 54"/>
          <p:cNvSpPr/>
          <p:nvPr/>
        </p:nvSpPr>
        <p:spPr>
          <a:xfrm>
            <a:off x="3122676" y="2395728"/>
            <a:ext cx="182880" cy="182880"/>
          </a:xfrm>
          <a:prstGeom prst="star5">
            <a:avLst/>
          </a:prstGeom>
          <a:solidFill>
            <a:srgbClr val="E0B94A"/>
          </a:solidFill>
          <a:ln/>
        </p:spPr>
      </p:sp>
      <p:sp>
        <p:nvSpPr>
          <p:cNvPr id="57" name="Shape 55"/>
          <p:cNvSpPr/>
          <p:nvPr/>
        </p:nvSpPr>
        <p:spPr>
          <a:xfrm>
            <a:off x="3328416" y="2395728"/>
            <a:ext cx="182880" cy="182880"/>
          </a:xfrm>
          <a:prstGeom prst="star5">
            <a:avLst/>
          </a:prstGeom>
          <a:solidFill>
            <a:srgbClr val="E0B94A"/>
          </a:solidFill>
          <a:ln/>
        </p:spPr>
      </p:sp>
      <p:sp>
        <p:nvSpPr>
          <p:cNvPr id="58" name="Text 56"/>
          <p:cNvSpPr txBox="1"/>
          <p:nvPr/>
        </p:nvSpPr>
        <p:spPr>
          <a:xfrm>
            <a:off x="2770632" y="261518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2020</a:t>
            </a:r>
            <a:endParaRPr lang="en-US" sz="800" dirty="0"/>
          </a:p>
        </p:txBody>
      </p:sp>
      <p:sp>
        <p:nvSpPr>
          <p:cNvPr id="59" name="Shape 57"/>
          <p:cNvSpPr/>
          <p:nvPr/>
        </p:nvSpPr>
        <p:spPr>
          <a:xfrm>
            <a:off x="3954780" y="2395728"/>
            <a:ext cx="182880" cy="182880"/>
          </a:xfrm>
          <a:prstGeom prst="star5">
            <a:avLst/>
          </a:prstGeom>
          <a:solidFill>
            <a:srgbClr val="E0B94A"/>
          </a:solidFill>
          <a:ln/>
        </p:spPr>
      </p:sp>
      <p:sp>
        <p:nvSpPr>
          <p:cNvPr id="60" name="Shape 58"/>
          <p:cNvSpPr/>
          <p:nvPr/>
        </p:nvSpPr>
        <p:spPr>
          <a:xfrm>
            <a:off x="4160520" y="2395728"/>
            <a:ext cx="182880" cy="182880"/>
          </a:xfrm>
          <a:prstGeom prst="star5">
            <a:avLst/>
          </a:prstGeom>
          <a:solidFill>
            <a:srgbClr val="E0B94A"/>
          </a:solidFill>
          <a:ln/>
        </p:spPr>
      </p:sp>
      <p:sp>
        <p:nvSpPr>
          <p:cNvPr id="61" name="Shape 59"/>
          <p:cNvSpPr/>
          <p:nvPr/>
        </p:nvSpPr>
        <p:spPr>
          <a:xfrm>
            <a:off x="4366260" y="2395728"/>
            <a:ext cx="182880" cy="182880"/>
          </a:xfrm>
          <a:prstGeom prst="star5">
            <a:avLst/>
          </a:prstGeom>
          <a:solidFill>
            <a:srgbClr val="E0B94A"/>
          </a:solidFill>
          <a:ln/>
        </p:spPr>
      </p:sp>
      <p:sp>
        <p:nvSpPr>
          <p:cNvPr id="62" name="Text 60"/>
          <p:cNvSpPr txBox="1"/>
          <p:nvPr/>
        </p:nvSpPr>
        <p:spPr>
          <a:xfrm>
            <a:off x="3808476" y="261518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2021</a:t>
            </a:r>
            <a:endParaRPr lang="en-US" sz="800" dirty="0"/>
          </a:p>
        </p:txBody>
      </p:sp>
      <p:sp>
        <p:nvSpPr>
          <p:cNvPr id="63" name="Shape 61"/>
          <p:cNvSpPr/>
          <p:nvPr/>
        </p:nvSpPr>
        <p:spPr>
          <a:xfrm>
            <a:off x="4992624" y="2395728"/>
            <a:ext cx="182880" cy="182880"/>
          </a:xfrm>
          <a:prstGeom prst="star5">
            <a:avLst/>
          </a:prstGeom>
          <a:solidFill>
            <a:srgbClr val="E0B94A"/>
          </a:solidFill>
          <a:ln/>
        </p:spPr>
      </p:sp>
      <p:sp>
        <p:nvSpPr>
          <p:cNvPr id="64" name="Shape 62"/>
          <p:cNvSpPr/>
          <p:nvPr/>
        </p:nvSpPr>
        <p:spPr>
          <a:xfrm>
            <a:off x="5198364" y="2395728"/>
            <a:ext cx="182880" cy="182880"/>
          </a:xfrm>
          <a:prstGeom prst="star5">
            <a:avLst/>
          </a:prstGeom>
          <a:solidFill>
            <a:srgbClr val="E0B94A"/>
          </a:solidFill>
          <a:ln/>
        </p:spPr>
      </p:sp>
      <p:sp>
        <p:nvSpPr>
          <p:cNvPr id="65" name="Shape 63"/>
          <p:cNvSpPr/>
          <p:nvPr/>
        </p:nvSpPr>
        <p:spPr>
          <a:xfrm>
            <a:off x="5404104" y="2395728"/>
            <a:ext cx="182880" cy="182880"/>
          </a:xfrm>
          <a:prstGeom prst="star5">
            <a:avLst/>
          </a:prstGeom>
          <a:solidFill>
            <a:srgbClr val="E0B94A"/>
          </a:solidFill>
          <a:ln/>
        </p:spPr>
      </p:sp>
      <p:sp>
        <p:nvSpPr>
          <p:cNvPr id="66" name="Text 64"/>
          <p:cNvSpPr txBox="1"/>
          <p:nvPr/>
        </p:nvSpPr>
        <p:spPr>
          <a:xfrm>
            <a:off x="4846320" y="261518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2022</a:t>
            </a:r>
            <a:endParaRPr lang="en-US" sz="800" dirty="0"/>
          </a:p>
        </p:txBody>
      </p:sp>
      <p:sp>
        <p:nvSpPr>
          <p:cNvPr id="67" name="Shape 65"/>
          <p:cNvSpPr/>
          <p:nvPr/>
        </p:nvSpPr>
        <p:spPr>
          <a:xfrm>
            <a:off x="6030468" y="2395728"/>
            <a:ext cx="182880" cy="182880"/>
          </a:xfrm>
          <a:prstGeom prst="star5">
            <a:avLst/>
          </a:prstGeom>
          <a:solidFill>
            <a:srgbClr val="E0B94A"/>
          </a:solidFill>
          <a:ln/>
        </p:spPr>
      </p:sp>
      <p:sp>
        <p:nvSpPr>
          <p:cNvPr id="68" name="Shape 66"/>
          <p:cNvSpPr/>
          <p:nvPr/>
        </p:nvSpPr>
        <p:spPr>
          <a:xfrm>
            <a:off x="6236208" y="2395728"/>
            <a:ext cx="182880" cy="182880"/>
          </a:xfrm>
          <a:prstGeom prst="star5">
            <a:avLst/>
          </a:prstGeom>
          <a:solidFill>
            <a:srgbClr val="E0B94A"/>
          </a:solidFill>
          <a:ln/>
        </p:spPr>
      </p:sp>
      <p:sp>
        <p:nvSpPr>
          <p:cNvPr id="69" name="Shape 67"/>
          <p:cNvSpPr/>
          <p:nvPr/>
        </p:nvSpPr>
        <p:spPr>
          <a:xfrm>
            <a:off x="6441948" y="2395728"/>
            <a:ext cx="182880" cy="182880"/>
          </a:xfrm>
          <a:prstGeom prst="star5">
            <a:avLst/>
          </a:prstGeom>
          <a:solidFill>
            <a:srgbClr val="E0B94A"/>
          </a:solidFill>
          <a:ln/>
        </p:spPr>
      </p:sp>
      <p:sp>
        <p:nvSpPr>
          <p:cNvPr id="70" name="Text 68"/>
          <p:cNvSpPr txBox="1"/>
          <p:nvPr/>
        </p:nvSpPr>
        <p:spPr>
          <a:xfrm>
            <a:off x="5884164" y="261518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2023</a:t>
            </a:r>
            <a:endParaRPr lang="en-US" sz="800" dirty="0"/>
          </a:p>
        </p:txBody>
      </p:sp>
      <p:sp>
        <p:nvSpPr>
          <p:cNvPr id="71" name="Shape 69"/>
          <p:cNvSpPr/>
          <p:nvPr/>
        </p:nvSpPr>
        <p:spPr>
          <a:xfrm>
            <a:off x="7068312" y="2395728"/>
            <a:ext cx="182880" cy="182880"/>
          </a:xfrm>
          <a:prstGeom prst="star5">
            <a:avLst/>
          </a:prstGeom>
          <a:solidFill>
            <a:srgbClr val="E0B94A"/>
          </a:solidFill>
          <a:ln/>
        </p:spPr>
      </p:sp>
      <p:sp>
        <p:nvSpPr>
          <p:cNvPr id="72" name="Shape 70"/>
          <p:cNvSpPr/>
          <p:nvPr/>
        </p:nvSpPr>
        <p:spPr>
          <a:xfrm>
            <a:off x="7274052" y="2395728"/>
            <a:ext cx="182880" cy="182880"/>
          </a:xfrm>
          <a:prstGeom prst="star5">
            <a:avLst/>
          </a:prstGeom>
          <a:solidFill>
            <a:srgbClr val="E0B94A"/>
          </a:solidFill>
          <a:ln/>
        </p:spPr>
      </p:sp>
      <p:sp>
        <p:nvSpPr>
          <p:cNvPr id="73" name="Shape 71"/>
          <p:cNvSpPr/>
          <p:nvPr/>
        </p:nvSpPr>
        <p:spPr>
          <a:xfrm>
            <a:off x="7479792" y="2395728"/>
            <a:ext cx="182880" cy="182880"/>
          </a:xfrm>
          <a:prstGeom prst="star5">
            <a:avLst/>
          </a:prstGeom>
          <a:solidFill>
            <a:srgbClr val="E0B94A"/>
          </a:solidFill>
          <a:ln/>
        </p:spPr>
      </p:sp>
      <p:sp>
        <p:nvSpPr>
          <p:cNvPr id="74" name="Text 72"/>
          <p:cNvSpPr txBox="1"/>
          <p:nvPr/>
        </p:nvSpPr>
        <p:spPr>
          <a:xfrm>
            <a:off x="6922008" y="261518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2024</a:t>
            </a:r>
            <a:endParaRPr lang="en-US" sz="800" dirty="0"/>
          </a:p>
        </p:txBody>
      </p:sp>
      <p:sp>
        <p:nvSpPr>
          <p:cNvPr id="75" name="Shape 73"/>
          <p:cNvSpPr/>
          <p:nvPr/>
        </p:nvSpPr>
        <p:spPr>
          <a:xfrm>
            <a:off x="8106156" y="2395728"/>
            <a:ext cx="182880" cy="182880"/>
          </a:xfrm>
          <a:prstGeom prst="star5">
            <a:avLst/>
          </a:prstGeom>
          <a:solidFill>
            <a:srgbClr val="E0B94A"/>
          </a:solidFill>
          <a:ln/>
        </p:spPr>
      </p:sp>
      <p:sp>
        <p:nvSpPr>
          <p:cNvPr id="76" name="Shape 74"/>
          <p:cNvSpPr/>
          <p:nvPr/>
        </p:nvSpPr>
        <p:spPr>
          <a:xfrm>
            <a:off x="8311896" y="2395728"/>
            <a:ext cx="182880" cy="182880"/>
          </a:xfrm>
          <a:prstGeom prst="star5">
            <a:avLst/>
          </a:prstGeom>
          <a:solidFill>
            <a:srgbClr val="E0B94A"/>
          </a:solidFill>
          <a:ln/>
        </p:spPr>
      </p:sp>
      <p:sp>
        <p:nvSpPr>
          <p:cNvPr id="77" name="Shape 75"/>
          <p:cNvSpPr/>
          <p:nvPr/>
        </p:nvSpPr>
        <p:spPr>
          <a:xfrm>
            <a:off x="8517636" y="2395728"/>
            <a:ext cx="182880" cy="182880"/>
          </a:xfrm>
          <a:prstGeom prst="star5">
            <a:avLst/>
          </a:prstGeom>
          <a:solidFill>
            <a:srgbClr val="E0B94A"/>
          </a:solidFill>
          <a:ln/>
        </p:spPr>
      </p:sp>
      <p:sp>
        <p:nvSpPr>
          <p:cNvPr id="78" name="Text 76"/>
          <p:cNvSpPr txBox="1"/>
          <p:nvPr/>
        </p:nvSpPr>
        <p:spPr>
          <a:xfrm>
            <a:off x="7959852" y="261518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2025</a:t>
            </a:r>
            <a:endParaRPr lang="en-US" sz="800" dirty="0"/>
          </a:p>
        </p:txBody>
      </p:sp>
      <p:sp>
        <p:nvSpPr>
          <p:cNvPr id="79" name="Shape 77"/>
          <p:cNvSpPr/>
          <p:nvPr/>
        </p:nvSpPr>
        <p:spPr>
          <a:xfrm>
            <a:off x="9144000" y="2395728"/>
            <a:ext cx="182880" cy="182880"/>
          </a:xfrm>
          <a:prstGeom prst="star5">
            <a:avLst/>
          </a:prstGeom>
          <a:solidFill>
            <a:srgbClr val="E0B94A"/>
          </a:solidFill>
          <a:ln/>
        </p:spPr>
      </p:sp>
      <p:sp>
        <p:nvSpPr>
          <p:cNvPr id="80" name="Shape 78"/>
          <p:cNvSpPr/>
          <p:nvPr/>
        </p:nvSpPr>
        <p:spPr>
          <a:xfrm>
            <a:off x="9349740" y="2395728"/>
            <a:ext cx="182880" cy="182880"/>
          </a:xfrm>
          <a:prstGeom prst="star5">
            <a:avLst/>
          </a:prstGeom>
          <a:solidFill>
            <a:srgbClr val="E0B94A"/>
          </a:solidFill>
          <a:ln/>
        </p:spPr>
      </p:sp>
      <p:sp>
        <p:nvSpPr>
          <p:cNvPr id="81" name="Shape 79"/>
          <p:cNvSpPr/>
          <p:nvPr/>
        </p:nvSpPr>
        <p:spPr>
          <a:xfrm>
            <a:off x="9555480" y="2395728"/>
            <a:ext cx="182880" cy="182880"/>
          </a:xfrm>
          <a:prstGeom prst="star5">
            <a:avLst/>
          </a:prstGeom>
          <a:solidFill>
            <a:srgbClr val="E0B94A"/>
          </a:solidFill>
          <a:ln/>
        </p:spPr>
      </p:sp>
      <p:sp>
        <p:nvSpPr>
          <p:cNvPr id="82" name="Text 80"/>
          <p:cNvSpPr txBox="1"/>
          <p:nvPr/>
        </p:nvSpPr>
        <p:spPr>
          <a:xfrm>
            <a:off x="8997696" y="2615184"/>
            <a:ext cx="886968" cy="182880"/>
          </a:xfrm>
          <a:prstGeom prst="rect">
            <a:avLst/>
          </a:prstGeom>
          <a:noFill/>
          <a:ln/>
        </p:spPr>
        <p:txBody>
          <a:bodyPr wrap="square" lIns="0" tIns="0" rIns="0" bIns="0" rtlCol="0" anchor="ctr"/>
          <a:lstStyle/>
          <a:p>
            <a:pPr algn="ctr" indent="0" marL="0">
              <a:buNone/>
            </a:pPr>
            <a:r>
              <a:rPr lang="en-US" sz="800" dirty="0">
                <a:solidFill>
                  <a:srgbClr val="9C868D"/>
                </a:solidFill>
                <a:latin typeface="Calibri" pitchFamily="34" charset="0"/>
                <a:ea typeface="Calibri" pitchFamily="34" charset="-122"/>
                <a:cs typeface="Calibri" pitchFamily="34" charset="-120"/>
              </a:rPr>
              <a:t>2026</a:t>
            </a:r>
            <a:endParaRPr lang="en-US" sz="800" dirty="0"/>
          </a:p>
        </p:txBody>
      </p:sp>
      <p:sp>
        <p:nvSpPr>
          <p:cNvPr id="83" name="Text 81"/>
          <p:cNvSpPr txBox="1"/>
          <p:nvPr/>
        </p:nvSpPr>
        <p:spPr>
          <a:xfrm>
            <a:off x="9802368" y="2359152"/>
            <a:ext cx="2029968" cy="457200"/>
          </a:xfrm>
          <a:prstGeom prst="rect">
            <a:avLst/>
          </a:prstGeom>
          <a:noFill/>
          <a:ln/>
        </p:spPr>
        <p:txBody>
          <a:bodyPr wrap="square" lIns="0" tIns="0" rIns="0" bIns="0" rtlCol="0" anchor="ctr"/>
          <a:lstStyle/>
          <a:p>
            <a:pPr algn="r" indent="0" marL="0">
              <a:lnSpc>
                <a:spcPts val="1600"/>
              </a:lnSpc>
              <a:buNone/>
            </a:pPr>
            <a:r>
              <a:rPr lang="en-US" sz="1050" dirty="0">
                <a:solidFill>
                  <a:srgbClr val="9C868D"/>
                </a:solidFill>
                <a:latin typeface="Calibri" pitchFamily="34" charset="0"/>
                <a:ea typeface="Calibri" pitchFamily="34" charset="-122"/>
                <a:cs typeface="Calibri" pitchFamily="34" charset="-120"/>
              </a:rPr>
              <a:t>19年分の </a:t>
            </a:r>
            <a:pPr algn="r" indent="0" marL="0">
              <a:lnSpc>
                <a:spcPts val="1600"/>
              </a:lnSpc>
              <a:buNone/>
            </a:pPr>
            <a:r>
              <a:rPr lang="en-US" sz="1050" b="1" dirty="0">
                <a:solidFill>
                  <a:srgbClr val="E0B94A"/>
                </a:solidFill>
                <a:latin typeface="Calibri" pitchFamily="34" charset="0"/>
                <a:ea typeface="Calibri" pitchFamily="34" charset="-122"/>
                <a:cs typeface="Calibri" pitchFamily="34" charset="-120"/>
              </a:rPr>
              <a:t>★★★</a:t>
            </a:r>
            <a:endParaRPr lang="en-US" sz="1050" dirty="0"/>
          </a:p>
          <a:p>
            <a:pPr algn="r" indent="0" marL="0">
              <a:lnSpc>
                <a:spcPts val="1600"/>
              </a:lnSpc>
              <a:buNone/>
            </a:pPr>
            <a:r>
              <a:rPr lang="en-US" sz="1100" b="1" dirty="0">
                <a:solidFill>
                  <a:srgbClr val="C9A227"/>
                </a:solidFill>
                <a:latin typeface="Calibri" pitchFamily="34" charset="0"/>
                <a:ea typeface="Calibri" pitchFamily="34" charset="-122"/>
                <a:cs typeface="Calibri" pitchFamily="34" charset="-120"/>
              </a:rPr>
              <a:t>一度も欠けていない</a:t>
            </a:r>
            <a:endParaRPr lang="en-US" sz="1050" dirty="0"/>
          </a:p>
        </p:txBody>
      </p:sp>
      <p:sp>
        <p:nvSpPr>
          <p:cNvPr id="84" name="Shape 82"/>
          <p:cNvSpPr/>
          <p:nvPr/>
        </p:nvSpPr>
        <p:spPr>
          <a:xfrm>
            <a:off x="566928" y="3072384"/>
            <a:ext cx="11055096" cy="950976"/>
          </a:xfrm>
          <a:prstGeom prst="roundRect">
            <a:avLst>
              <a:gd name="adj" fmla="val 3846"/>
            </a:avLst>
          </a:prstGeom>
          <a:solidFill>
            <a:srgbClr val="E0B94A"/>
          </a:solidFill>
          <a:ln/>
        </p:spPr>
      </p:sp>
      <p:sp>
        <p:nvSpPr>
          <p:cNvPr id="85" name="Text 83"/>
          <p:cNvSpPr txBox="1"/>
          <p:nvPr/>
        </p:nvSpPr>
        <p:spPr>
          <a:xfrm>
            <a:off x="877824" y="3172968"/>
            <a:ext cx="10433304" cy="310896"/>
          </a:xfrm>
          <a:prstGeom prst="rect">
            <a:avLst/>
          </a:prstGeom>
          <a:noFill/>
          <a:ln/>
        </p:spPr>
        <p:txBody>
          <a:bodyPr wrap="square" lIns="0" tIns="0" rIns="0" bIns="0" rtlCol="0" anchor="ctr"/>
          <a:lstStyle/>
          <a:p>
            <a:pPr indent="0" marL="0">
              <a:buNone/>
            </a:pPr>
            <a:r>
              <a:rPr lang="en-US" sz="1900" b="1" dirty="0">
                <a:solidFill>
                  <a:srgbClr val="2A1F06"/>
                </a:solidFill>
                <a:latin typeface="Cambria" pitchFamily="34" charset="0"/>
                <a:ea typeface="Cambria" pitchFamily="34" charset="-122"/>
                <a:cs typeface="Cambria" pitchFamily="34" charset="-120"/>
              </a:rPr>
              <a:t>創刊号から19年連続で三つ星を守っている店は、東京に3軒しかない。</a:t>
            </a:r>
            <a:endParaRPr lang="en-US" sz="1900" dirty="0"/>
          </a:p>
        </p:txBody>
      </p:sp>
      <p:sp>
        <p:nvSpPr>
          <p:cNvPr id="86" name="Text 84"/>
          <p:cNvSpPr txBox="1"/>
          <p:nvPr/>
        </p:nvSpPr>
        <p:spPr>
          <a:xfrm>
            <a:off x="877824" y="3566160"/>
            <a:ext cx="3291840" cy="256032"/>
          </a:xfrm>
          <a:prstGeom prst="rect">
            <a:avLst/>
          </a:prstGeom>
          <a:noFill/>
          <a:ln/>
        </p:spPr>
        <p:txBody>
          <a:bodyPr wrap="square" lIns="0" tIns="0" rIns="0" bIns="0" rtlCol="0" anchor="ctr"/>
          <a:lstStyle/>
          <a:p>
            <a:pPr indent="0" marL="0">
              <a:buNone/>
            </a:pPr>
            <a:r>
              <a:rPr lang="en-US" sz="1300" b="1" dirty="0">
                <a:solidFill>
                  <a:srgbClr val="2A1F06"/>
                </a:solidFill>
                <a:latin typeface="Calibri" pitchFamily="34" charset="0"/>
                <a:ea typeface="Calibri" pitchFamily="34" charset="-122"/>
                <a:cs typeface="Calibri" pitchFamily="34" charset="-120"/>
              </a:rPr>
              <a:t>かんだ</a:t>
            </a:r>
            <a:pPr indent="0" marL="0">
              <a:buNone/>
            </a:pPr>
            <a:r>
              <a:rPr lang="en-US" sz="1000" dirty="0">
                <a:solidFill>
                  <a:srgbClr val="6B5518"/>
                </a:solidFill>
                <a:latin typeface="Calibri" pitchFamily="34" charset="0"/>
                <a:ea typeface="Calibri" pitchFamily="34" charset="-122"/>
                <a:cs typeface="Calibri" pitchFamily="34" charset="-120"/>
              </a:rPr>
              <a:t>　（日本料理）</a:t>
            </a:r>
            <a:endParaRPr lang="en-US" sz="1300" dirty="0"/>
          </a:p>
        </p:txBody>
      </p:sp>
      <p:sp>
        <p:nvSpPr>
          <p:cNvPr id="87" name="Text 85"/>
          <p:cNvSpPr txBox="1"/>
          <p:nvPr/>
        </p:nvSpPr>
        <p:spPr>
          <a:xfrm>
            <a:off x="4352544" y="3566160"/>
            <a:ext cx="3291840" cy="256032"/>
          </a:xfrm>
          <a:prstGeom prst="rect">
            <a:avLst/>
          </a:prstGeom>
          <a:noFill/>
          <a:ln/>
        </p:spPr>
        <p:txBody>
          <a:bodyPr wrap="square" lIns="0" tIns="0" rIns="0" bIns="0" rtlCol="0" anchor="ctr"/>
          <a:lstStyle/>
          <a:p>
            <a:pPr indent="0" marL="0">
              <a:buNone/>
            </a:pPr>
            <a:r>
              <a:rPr lang="en-US" sz="1300" b="1" dirty="0">
                <a:solidFill>
                  <a:srgbClr val="2A1F06"/>
                </a:solidFill>
                <a:latin typeface="Calibri" pitchFamily="34" charset="0"/>
                <a:ea typeface="Calibri" pitchFamily="34" charset="-122"/>
                <a:cs typeface="Calibri" pitchFamily="34" charset="-120"/>
              </a:rPr>
              <a:t>ジョエル・ロブション</a:t>
            </a:r>
            <a:pPr indent="0" marL="0">
              <a:buNone/>
            </a:pPr>
            <a:r>
              <a:rPr lang="en-US" sz="1000" dirty="0">
                <a:solidFill>
                  <a:srgbClr val="6B5518"/>
                </a:solidFill>
                <a:latin typeface="Calibri" pitchFamily="34" charset="0"/>
                <a:ea typeface="Calibri" pitchFamily="34" charset="-122"/>
                <a:cs typeface="Calibri" pitchFamily="34" charset="-120"/>
              </a:rPr>
              <a:t>　（フランス料理）</a:t>
            </a:r>
            <a:endParaRPr lang="en-US" sz="1300" dirty="0"/>
          </a:p>
        </p:txBody>
      </p:sp>
      <p:sp>
        <p:nvSpPr>
          <p:cNvPr id="88" name="Shape 86"/>
          <p:cNvSpPr/>
          <p:nvPr/>
        </p:nvSpPr>
        <p:spPr>
          <a:xfrm>
            <a:off x="7827264" y="3602736"/>
            <a:ext cx="155448" cy="155448"/>
          </a:xfrm>
          <a:prstGeom prst="star5">
            <a:avLst/>
          </a:prstGeom>
          <a:solidFill>
            <a:srgbClr val="2A1F06"/>
          </a:solidFill>
          <a:ln/>
        </p:spPr>
      </p:sp>
      <p:sp>
        <p:nvSpPr>
          <p:cNvPr id="89" name="Text 87"/>
          <p:cNvSpPr txBox="1"/>
          <p:nvPr/>
        </p:nvSpPr>
        <p:spPr>
          <a:xfrm>
            <a:off x="8046720" y="3566160"/>
            <a:ext cx="3291840" cy="256032"/>
          </a:xfrm>
          <a:prstGeom prst="rect">
            <a:avLst/>
          </a:prstGeom>
          <a:noFill/>
          <a:ln/>
        </p:spPr>
        <p:txBody>
          <a:bodyPr wrap="square" lIns="0" tIns="0" rIns="0" bIns="0" rtlCol="0" anchor="ctr"/>
          <a:lstStyle/>
          <a:p>
            <a:pPr indent="0" marL="0">
              <a:buNone/>
            </a:pPr>
            <a:r>
              <a:rPr lang="en-US" sz="1300" b="1" dirty="0">
                <a:solidFill>
                  <a:srgbClr val="2A1F06"/>
                </a:solidFill>
                <a:latin typeface="Calibri" pitchFamily="34" charset="0"/>
                <a:ea typeface="Calibri" pitchFamily="34" charset="-122"/>
                <a:cs typeface="Calibri" pitchFamily="34" charset="-120"/>
              </a:rPr>
              <a:t>カンテサンス</a:t>
            </a:r>
            <a:pPr indent="0" marL="0">
              <a:buNone/>
            </a:pPr>
            <a:r>
              <a:rPr lang="en-US" sz="1000" dirty="0">
                <a:solidFill>
                  <a:srgbClr val="6B5518"/>
                </a:solidFill>
                <a:latin typeface="Calibri" pitchFamily="34" charset="0"/>
                <a:ea typeface="Calibri" pitchFamily="34" charset="-122"/>
                <a:cs typeface="Calibri" pitchFamily="34" charset="-120"/>
              </a:rPr>
              <a:t>　（フランス料理）</a:t>
            </a:r>
            <a:endParaRPr lang="en-US" sz="1300" dirty="0"/>
          </a:p>
        </p:txBody>
      </p:sp>
      <p:sp>
        <p:nvSpPr>
          <p:cNvPr id="90" name="Shape 88"/>
          <p:cNvSpPr/>
          <p:nvPr/>
        </p:nvSpPr>
        <p:spPr>
          <a:xfrm>
            <a:off x="566928" y="4352544"/>
            <a:ext cx="2596896" cy="1664208"/>
          </a:xfrm>
          <a:prstGeom prst="roundRect">
            <a:avLst>
              <a:gd name="adj" fmla="val 2747"/>
            </a:avLst>
          </a:prstGeom>
          <a:solidFill>
            <a:srgbClr val="30161F"/>
          </a:solidFill>
          <a:ln w="9525">
            <a:solidFill>
              <a:srgbClr val="522C39"/>
            </a:solidFill>
            <a:prstDash val="solid"/>
          </a:ln>
        </p:spPr>
      </p:sp>
      <p:sp>
        <p:nvSpPr>
          <p:cNvPr id="91" name="Shape 89"/>
          <p:cNvSpPr/>
          <p:nvPr/>
        </p:nvSpPr>
        <p:spPr>
          <a:xfrm>
            <a:off x="786384" y="4517136"/>
            <a:ext cx="146304" cy="146304"/>
          </a:xfrm>
          <a:prstGeom prst="star5">
            <a:avLst/>
          </a:prstGeom>
          <a:solidFill>
            <a:srgbClr val="E0B94A"/>
          </a:solidFill>
          <a:ln/>
        </p:spPr>
      </p:sp>
      <p:sp>
        <p:nvSpPr>
          <p:cNvPr id="92" name="Text 90"/>
          <p:cNvSpPr txBox="1"/>
          <p:nvPr/>
        </p:nvSpPr>
        <p:spPr>
          <a:xfrm>
            <a:off x="786384" y="4736592"/>
            <a:ext cx="2157984" cy="420624"/>
          </a:xfrm>
          <a:prstGeom prst="rect">
            <a:avLst/>
          </a:prstGeom>
          <a:noFill/>
          <a:ln/>
        </p:spPr>
        <p:txBody>
          <a:bodyPr wrap="square" lIns="0" tIns="0" rIns="0" bIns="0" rtlCol="0" anchor="ctr"/>
          <a:lstStyle/>
          <a:p>
            <a:pPr indent="0" marL="0">
              <a:lnSpc>
                <a:spcPts val="1900"/>
              </a:lnSpc>
              <a:buNone/>
            </a:pPr>
            <a:r>
              <a:rPr lang="en-US" sz="1400" b="1" dirty="0">
                <a:solidFill>
                  <a:srgbClr val="E0B94A"/>
                </a:solidFill>
                <a:latin typeface="Cambria" pitchFamily="34" charset="0"/>
                <a:ea typeface="Cambria" pitchFamily="34" charset="-122"/>
                <a:cs typeface="Cambria" pitchFamily="34" charset="-120"/>
              </a:rPr>
              <a:t>メニューが、ない</a:t>
            </a:r>
            <a:endParaRPr lang="en-US" sz="1400" dirty="0"/>
          </a:p>
        </p:txBody>
      </p:sp>
      <p:sp>
        <p:nvSpPr>
          <p:cNvPr id="93" name="Text 91"/>
          <p:cNvSpPr txBox="1"/>
          <p:nvPr/>
        </p:nvSpPr>
        <p:spPr>
          <a:xfrm>
            <a:off x="786384" y="5212080"/>
            <a:ext cx="2157984" cy="731520"/>
          </a:xfrm>
          <a:prstGeom prst="rect">
            <a:avLst/>
          </a:prstGeom>
          <a:noFill/>
          <a:ln/>
        </p:spPr>
        <p:txBody>
          <a:bodyPr wrap="square" lIns="0" tIns="0" rIns="0" bIns="0" rtlCol="0" anchor="ctr"/>
          <a:lstStyle/>
          <a:p>
            <a:pPr indent="0" marL="0">
              <a:lnSpc>
                <a:spcPts val="1400"/>
              </a:lnSpc>
              <a:buNone/>
            </a:pPr>
            <a:r>
              <a:rPr lang="en-US" sz="950" dirty="0">
                <a:solidFill>
                  <a:srgbClr val="D6C6CB"/>
                </a:solidFill>
                <a:latin typeface="Calibri" pitchFamily="34" charset="0"/>
                <a:ea typeface="Calibri" pitchFamily="34" charset="-122"/>
                <a:cs typeface="Calibri" pitchFamily="34" charset="-120"/>
              </a:rPr>
              <a:t>開業以来、おまかせの一コースのみ。「その日いちばんおいしい食材を知っているのは僕たちです」（岸田周三）</a:t>
            </a:r>
            <a:endParaRPr lang="en-US" sz="950" dirty="0"/>
          </a:p>
        </p:txBody>
      </p:sp>
      <p:sp>
        <p:nvSpPr>
          <p:cNvPr id="94" name="Shape 92"/>
          <p:cNvSpPr/>
          <p:nvPr/>
        </p:nvSpPr>
        <p:spPr>
          <a:xfrm>
            <a:off x="3383280" y="4352544"/>
            <a:ext cx="2596896" cy="1664208"/>
          </a:xfrm>
          <a:prstGeom prst="roundRect">
            <a:avLst>
              <a:gd name="adj" fmla="val 2747"/>
            </a:avLst>
          </a:prstGeom>
          <a:solidFill>
            <a:srgbClr val="30161F"/>
          </a:solidFill>
          <a:ln w="9525">
            <a:solidFill>
              <a:srgbClr val="522C39"/>
            </a:solidFill>
            <a:prstDash val="solid"/>
          </a:ln>
        </p:spPr>
      </p:sp>
      <p:sp>
        <p:nvSpPr>
          <p:cNvPr id="95" name="Shape 93"/>
          <p:cNvSpPr/>
          <p:nvPr/>
        </p:nvSpPr>
        <p:spPr>
          <a:xfrm>
            <a:off x="3602736" y="4517136"/>
            <a:ext cx="146304" cy="146304"/>
          </a:xfrm>
          <a:prstGeom prst="star5">
            <a:avLst/>
          </a:prstGeom>
          <a:solidFill>
            <a:srgbClr val="E0B94A"/>
          </a:solidFill>
          <a:ln/>
        </p:spPr>
      </p:sp>
      <p:sp>
        <p:nvSpPr>
          <p:cNvPr id="96" name="Text 94"/>
          <p:cNvSpPr txBox="1"/>
          <p:nvPr/>
        </p:nvSpPr>
        <p:spPr>
          <a:xfrm>
            <a:off x="3602736" y="4736592"/>
            <a:ext cx="2157984" cy="420624"/>
          </a:xfrm>
          <a:prstGeom prst="rect">
            <a:avLst/>
          </a:prstGeom>
          <a:noFill/>
          <a:ln/>
        </p:spPr>
        <p:txBody>
          <a:bodyPr wrap="square" lIns="0" tIns="0" rIns="0" bIns="0" rtlCol="0" anchor="ctr"/>
          <a:lstStyle/>
          <a:p>
            <a:pPr indent="0" marL="0">
              <a:lnSpc>
                <a:spcPts val="1900"/>
              </a:lnSpc>
              <a:buNone/>
            </a:pPr>
            <a:r>
              <a:rPr lang="en-US" sz="1400" b="1" dirty="0">
                <a:solidFill>
                  <a:srgbClr val="E0B94A"/>
                </a:solidFill>
                <a:latin typeface="Cambria" pitchFamily="34" charset="0"/>
                <a:ea typeface="Cambria" pitchFamily="34" charset="-122"/>
                <a:cs typeface="Cambria" pitchFamily="34" charset="-120"/>
              </a:rPr>
              <a:t>33歳、当時最年少</a:t>
            </a:r>
            <a:endParaRPr lang="en-US" sz="1400" dirty="0"/>
          </a:p>
        </p:txBody>
      </p:sp>
      <p:sp>
        <p:nvSpPr>
          <p:cNvPr id="97" name="Text 95"/>
          <p:cNvSpPr txBox="1"/>
          <p:nvPr/>
        </p:nvSpPr>
        <p:spPr>
          <a:xfrm>
            <a:off x="3602736" y="5212080"/>
            <a:ext cx="2157984" cy="731520"/>
          </a:xfrm>
          <a:prstGeom prst="rect">
            <a:avLst/>
          </a:prstGeom>
          <a:noFill/>
          <a:ln/>
        </p:spPr>
        <p:txBody>
          <a:bodyPr wrap="square" lIns="0" tIns="0" rIns="0" bIns="0" rtlCol="0" anchor="ctr"/>
          <a:lstStyle/>
          <a:p>
            <a:pPr indent="0" marL="0">
              <a:lnSpc>
                <a:spcPts val="1400"/>
              </a:lnSpc>
              <a:buNone/>
            </a:pPr>
            <a:r>
              <a:rPr lang="en-US" sz="950" dirty="0">
                <a:solidFill>
                  <a:srgbClr val="D6C6CB"/>
                </a:solidFill>
                <a:latin typeface="Calibri" pitchFamily="34" charset="0"/>
                <a:ea typeface="Calibri" pitchFamily="34" charset="-122"/>
                <a:cs typeface="Calibri" pitchFamily="34" charset="-120"/>
              </a:rPr>
              <a:t>2007年の創刊号で三つ星。パリ「アストランス」でスーシェフを務め、帰国した翌年のことだった。</a:t>
            </a:r>
            <a:endParaRPr lang="en-US" sz="950" dirty="0"/>
          </a:p>
        </p:txBody>
      </p:sp>
      <p:sp>
        <p:nvSpPr>
          <p:cNvPr id="98" name="Shape 96"/>
          <p:cNvSpPr/>
          <p:nvPr/>
        </p:nvSpPr>
        <p:spPr>
          <a:xfrm>
            <a:off x="6199632" y="4352544"/>
            <a:ext cx="2596896" cy="1664208"/>
          </a:xfrm>
          <a:prstGeom prst="roundRect">
            <a:avLst>
              <a:gd name="adj" fmla="val 2747"/>
            </a:avLst>
          </a:prstGeom>
          <a:solidFill>
            <a:srgbClr val="30161F"/>
          </a:solidFill>
          <a:ln w="9525">
            <a:solidFill>
              <a:srgbClr val="522C39"/>
            </a:solidFill>
            <a:prstDash val="solid"/>
          </a:ln>
        </p:spPr>
      </p:sp>
      <p:sp>
        <p:nvSpPr>
          <p:cNvPr id="99" name="Shape 97"/>
          <p:cNvSpPr/>
          <p:nvPr/>
        </p:nvSpPr>
        <p:spPr>
          <a:xfrm>
            <a:off x="6419088" y="4517136"/>
            <a:ext cx="146304" cy="146304"/>
          </a:xfrm>
          <a:prstGeom prst="star5">
            <a:avLst/>
          </a:prstGeom>
          <a:solidFill>
            <a:srgbClr val="E0B94A"/>
          </a:solidFill>
          <a:ln/>
        </p:spPr>
      </p:sp>
      <p:sp>
        <p:nvSpPr>
          <p:cNvPr id="100" name="Text 98"/>
          <p:cNvSpPr txBox="1"/>
          <p:nvPr/>
        </p:nvSpPr>
        <p:spPr>
          <a:xfrm>
            <a:off x="6419088" y="4736592"/>
            <a:ext cx="2157984" cy="420624"/>
          </a:xfrm>
          <a:prstGeom prst="rect">
            <a:avLst/>
          </a:prstGeom>
          <a:noFill/>
          <a:ln/>
        </p:spPr>
        <p:txBody>
          <a:bodyPr wrap="square" lIns="0" tIns="0" rIns="0" bIns="0" rtlCol="0" anchor="ctr"/>
          <a:lstStyle/>
          <a:p>
            <a:pPr indent="0" marL="0">
              <a:lnSpc>
                <a:spcPts val="1900"/>
              </a:lnSpc>
              <a:buNone/>
            </a:pPr>
            <a:r>
              <a:rPr lang="en-US" sz="1400" b="1" dirty="0">
                <a:solidFill>
                  <a:srgbClr val="E0B94A"/>
                </a:solidFill>
                <a:latin typeface="Cambria" pitchFamily="34" charset="0"/>
                <a:ea typeface="Cambria" pitchFamily="34" charset="-122"/>
                <a:cs typeface="Cambria" pitchFamily="34" charset="-120"/>
              </a:rPr>
              <a:t>緑の星も、持っている</a:t>
            </a:r>
            <a:endParaRPr lang="en-US" sz="1400" dirty="0"/>
          </a:p>
        </p:txBody>
      </p:sp>
      <p:sp>
        <p:nvSpPr>
          <p:cNvPr id="101" name="Text 99"/>
          <p:cNvSpPr txBox="1"/>
          <p:nvPr/>
        </p:nvSpPr>
        <p:spPr>
          <a:xfrm>
            <a:off x="6419088" y="5212080"/>
            <a:ext cx="2157984" cy="731520"/>
          </a:xfrm>
          <a:prstGeom prst="rect">
            <a:avLst/>
          </a:prstGeom>
          <a:noFill/>
          <a:ln/>
        </p:spPr>
        <p:txBody>
          <a:bodyPr wrap="square" lIns="0" tIns="0" rIns="0" bIns="0" rtlCol="0" anchor="ctr"/>
          <a:lstStyle/>
          <a:p>
            <a:pPr indent="0" marL="0">
              <a:lnSpc>
                <a:spcPts val="1400"/>
              </a:lnSpc>
              <a:buNone/>
            </a:pPr>
            <a:r>
              <a:rPr lang="en-US" sz="950" dirty="0">
                <a:solidFill>
                  <a:srgbClr val="D6C6CB"/>
                </a:solidFill>
                <a:latin typeface="Calibri" pitchFamily="34" charset="0"/>
                <a:ea typeface="Calibri" pitchFamily="34" charset="-122"/>
                <a:cs typeface="Calibri" pitchFamily="34" charset="-120"/>
              </a:rPr>
              <a:t>2021年、持続可能な漁業への取り組みでミシュラン グリーンスターを獲得。東京で6軒のみの初年度認定。</a:t>
            </a:r>
            <a:endParaRPr lang="en-US" sz="950" dirty="0"/>
          </a:p>
        </p:txBody>
      </p:sp>
      <p:sp>
        <p:nvSpPr>
          <p:cNvPr id="102" name="Shape 100"/>
          <p:cNvSpPr/>
          <p:nvPr/>
        </p:nvSpPr>
        <p:spPr>
          <a:xfrm>
            <a:off x="9015984" y="4352544"/>
            <a:ext cx="2596896" cy="1664208"/>
          </a:xfrm>
          <a:prstGeom prst="roundRect">
            <a:avLst>
              <a:gd name="adj" fmla="val 2747"/>
            </a:avLst>
          </a:prstGeom>
          <a:solidFill>
            <a:srgbClr val="30161F"/>
          </a:solidFill>
          <a:ln w="9525">
            <a:solidFill>
              <a:srgbClr val="522C39"/>
            </a:solidFill>
            <a:prstDash val="solid"/>
          </a:ln>
        </p:spPr>
      </p:sp>
      <p:sp>
        <p:nvSpPr>
          <p:cNvPr id="103" name="Shape 101"/>
          <p:cNvSpPr/>
          <p:nvPr/>
        </p:nvSpPr>
        <p:spPr>
          <a:xfrm>
            <a:off x="9235440" y="4517136"/>
            <a:ext cx="146304" cy="146304"/>
          </a:xfrm>
          <a:prstGeom prst="star5">
            <a:avLst/>
          </a:prstGeom>
          <a:solidFill>
            <a:srgbClr val="E0B94A"/>
          </a:solidFill>
          <a:ln/>
        </p:spPr>
      </p:sp>
      <p:sp>
        <p:nvSpPr>
          <p:cNvPr id="104" name="Text 102"/>
          <p:cNvSpPr txBox="1"/>
          <p:nvPr/>
        </p:nvSpPr>
        <p:spPr>
          <a:xfrm>
            <a:off x="9235440" y="4736592"/>
            <a:ext cx="2157984" cy="420624"/>
          </a:xfrm>
          <a:prstGeom prst="rect">
            <a:avLst/>
          </a:prstGeom>
          <a:noFill/>
          <a:ln/>
        </p:spPr>
        <p:txBody>
          <a:bodyPr wrap="square" lIns="0" tIns="0" rIns="0" bIns="0" rtlCol="0" anchor="ctr"/>
          <a:lstStyle/>
          <a:p>
            <a:pPr indent="0" marL="0">
              <a:lnSpc>
                <a:spcPts val="1900"/>
              </a:lnSpc>
              <a:buNone/>
            </a:pPr>
            <a:r>
              <a:rPr lang="en-US" sz="1400" b="1" dirty="0">
                <a:solidFill>
                  <a:srgbClr val="E0B94A"/>
                </a:solidFill>
                <a:latin typeface="Cambria" pitchFamily="34" charset="0"/>
                <a:ea typeface="Cambria" pitchFamily="34" charset="-122"/>
                <a:cs typeface="Cambria" pitchFamily="34" charset="-120"/>
              </a:rPr>
              <a:t>星を持って、巣立った</a:t>
            </a:r>
            <a:endParaRPr lang="en-US" sz="1400" dirty="0"/>
          </a:p>
        </p:txBody>
      </p:sp>
      <p:sp>
        <p:nvSpPr>
          <p:cNvPr id="105" name="Text 103"/>
          <p:cNvSpPr txBox="1"/>
          <p:nvPr/>
        </p:nvSpPr>
        <p:spPr>
          <a:xfrm>
            <a:off x="9235440" y="5212080"/>
            <a:ext cx="2157984" cy="731520"/>
          </a:xfrm>
          <a:prstGeom prst="rect">
            <a:avLst/>
          </a:prstGeom>
          <a:noFill/>
          <a:ln/>
        </p:spPr>
        <p:txBody>
          <a:bodyPr wrap="square" lIns="0" tIns="0" rIns="0" bIns="0" rtlCol="0" anchor="ctr"/>
          <a:lstStyle/>
          <a:p>
            <a:pPr indent="0" marL="0">
              <a:lnSpc>
                <a:spcPts val="1400"/>
              </a:lnSpc>
              <a:buNone/>
            </a:pPr>
            <a:r>
              <a:rPr lang="en-US" sz="950" dirty="0">
                <a:solidFill>
                  <a:srgbClr val="D6C6CB"/>
                </a:solidFill>
                <a:latin typeface="Calibri" pitchFamily="34" charset="0"/>
                <a:ea typeface="Calibri" pitchFamily="34" charset="-122"/>
                <a:cs typeface="Calibri" pitchFamily="34" charset="-120"/>
              </a:rPr>
              <a:t>この店の卒業生12名以上が独立し、それぞれにミシュランの星を得ている。</a:t>
            </a:r>
            <a:endParaRPr lang="en-US" sz="950" dirty="0"/>
          </a:p>
        </p:txBody>
      </p:sp>
      <p:sp>
        <p:nvSpPr>
          <p:cNvPr id="106" name="Text 104"/>
          <p:cNvSpPr txBox="1"/>
          <p:nvPr/>
        </p:nvSpPr>
        <p:spPr>
          <a:xfrm>
            <a:off x="566928" y="6199632"/>
            <a:ext cx="11055096" cy="182880"/>
          </a:xfrm>
          <a:prstGeom prst="rect">
            <a:avLst/>
          </a:prstGeom>
          <a:noFill/>
          <a:ln/>
        </p:spPr>
        <p:txBody>
          <a:bodyPr wrap="square" lIns="0" tIns="0" rIns="0" bIns="0" rtlCol="0" anchor="ctr"/>
          <a:lstStyle/>
          <a:p>
            <a:pPr indent="0" marL="0">
              <a:buNone/>
            </a:pPr>
            <a:r>
              <a:rPr lang="en-US" sz="700" dirty="0">
                <a:solidFill>
                  <a:srgbClr val="7E666D"/>
                </a:solidFill>
                <a:latin typeface="Calibri" pitchFamily="34" charset="0"/>
                <a:ea typeface="Calibri" pitchFamily="34" charset="-122"/>
                <a:cs typeface="Calibri" pitchFamily="34" charset="-120"/>
              </a:rPr>
              <a:t>出所：『ミシュランガイド東京2026』（2025年9月発表。東京の三つ星12軒・星付き160軒で19年連続世界最多）ほか公開情報。創刊号の三つ星8軒のうち2018年版時点で11年連続は4軒、うち「すきやばし次郎」は2020年版より掲載対象外。</a:t>
            </a:r>
            <a:endParaRPr lang="en-US" sz="700" dirty="0"/>
          </a:p>
        </p:txBody>
      </p:sp>
      <p:sp>
        <p:nvSpPr>
          <p:cNvPr id="108" name="Text 105"/>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8A727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109" name="Text 106"/>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8A72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EXECUTIVE SUMMARY</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結論：50億円は妥当。理論上限は約57億円</a:t>
            </a:r>
            <a:endParaRPr lang="en-US" sz="2900" dirty="0"/>
          </a:p>
        </p:txBody>
      </p:sp>
      <p:sp>
        <p:nvSpPr>
          <p:cNvPr id="4" name="Shape 2"/>
          <p:cNvSpPr/>
          <p:nvPr/>
        </p:nvSpPr>
        <p:spPr>
          <a:xfrm>
            <a:off x="566928" y="1152144"/>
            <a:ext cx="11055096" cy="786384"/>
          </a:xfrm>
          <a:prstGeom prst="roundRect">
            <a:avLst>
              <a:gd name="adj" fmla="val 4651"/>
            </a:avLst>
          </a:prstGeom>
          <a:solidFill>
            <a:srgbClr val="6D2E46"/>
          </a:solidFill>
          <a:ln/>
        </p:spPr>
      </p:sp>
      <p:sp>
        <p:nvSpPr>
          <p:cNvPr id="5" name="Text 3"/>
          <p:cNvSpPr txBox="1"/>
          <p:nvPr/>
        </p:nvSpPr>
        <p:spPr>
          <a:xfrm>
            <a:off x="822960" y="1225296"/>
            <a:ext cx="10543032" cy="640080"/>
          </a:xfrm>
          <a:prstGeom prst="rect">
            <a:avLst/>
          </a:prstGeom>
          <a:noFill/>
          <a:ln/>
        </p:spPr>
        <p:txBody>
          <a:bodyPr wrap="square" lIns="0" tIns="0" rIns="0" bIns="0" rtlCol="0" anchor="ctr"/>
          <a:lstStyle/>
          <a:p>
            <a:pPr indent="0" marL="0">
              <a:lnSpc>
                <a:spcPts val="2000"/>
              </a:lnSpc>
              <a:buNone/>
            </a:pPr>
            <a:r>
              <a:rPr lang="en-US" sz="1250" dirty="0">
                <a:solidFill>
                  <a:srgbClr val="FFFFFF"/>
                </a:solidFill>
                <a:latin typeface="Calibri" pitchFamily="34" charset="0"/>
                <a:ea typeface="Calibri" pitchFamily="34" charset="-122"/>
                <a:cs typeface="Calibri" pitchFamily="34" charset="-120"/>
              </a:rPr>
              <a:t>2026年12月期末の想定財務を前提とすれば、株式譲渡価格50億円は4つの評価手法すべてで説明可能な水準にある。</a:t>
            </a:r>
            <a:endParaRPr lang="en-US" sz="1250" dirty="0"/>
          </a:p>
          <a:p>
            <a:pPr indent="0" marL="0">
              <a:lnSpc>
                <a:spcPts val="2000"/>
              </a:lnSpc>
              <a:buNone/>
            </a:pPr>
            <a:r>
              <a:rPr lang="en-US" sz="1250" dirty="0">
                <a:solidFill>
                  <a:srgbClr val="FFFFFF"/>
                </a:solidFill>
                <a:latin typeface="Calibri" pitchFamily="34" charset="0"/>
                <a:ea typeface="Calibri" pitchFamily="34" charset="-122"/>
                <a:cs typeface="Calibri" pitchFamily="34" charset="-120"/>
              </a:rPr>
              <a:t>許容上限は55億円、理論上限は57.4億円。60億円は現在の収益力では説明できない。</a:t>
            </a:r>
            <a:endParaRPr lang="en-US" sz="1250" dirty="0"/>
          </a:p>
        </p:txBody>
      </p:sp>
      <p:sp>
        <p:nvSpPr>
          <p:cNvPr id="6" name="Shape 4"/>
          <p:cNvSpPr/>
          <p:nvPr/>
        </p:nvSpPr>
        <p:spPr>
          <a:xfrm>
            <a:off x="566928" y="2121408"/>
            <a:ext cx="5381244" cy="1261872"/>
          </a:xfrm>
          <a:prstGeom prst="roundRect">
            <a:avLst>
              <a:gd name="adj" fmla="val 3623"/>
            </a:avLst>
          </a:prstGeom>
          <a:solidFill>
            <a:srgbClr val="F7F3F4"/>
          </a:solidFill>
          <a:ln w="9525">
            <a:solidFill>
              <a:srgbClr val="E4DADD"/>
            </a:solidFill>
            <a:prstDash val="solid"/>
          </a:ln>
        </p:spPr>
      </p:sp>
      <p:sp>
        <p:nvSpPr>
          <p:cNvPr id="7" name="Shape 5"/>
          <p:cNvSpPr/>
          <p:nvPr/>
        </p:nvSpPr>
        <p:spPr>
          <a:xfrm>
            <a:off x="768096" y="2304288"/>
            <a:ext cx="274320" cy="274320"/>
          </a:xfrm>
          <a:prstGeom prst="ellipse">
            <a:avLst/>
          </a:prstGeom>
          <a:solidFill>
            <a:srgbClr val="6D2E46"/>
          </a:solidFill>
          <a:ln/>
        </p:spPr>
      </p:sp>
      <p:sp>
        <p:nvSpPr>
          <p:cNvPr id="8" name="Text 6"/>
          <p:cNvSpPr txBox="1"/>
          <p:nvPr/>
        </p:nvSpPr>
        <p:spPr>
          <a:xfrm>
            <a:off x="768096" y="2304288"/>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①</a:t>
            </a:r>
            <a:endParaRPr lang="en-US" sz="1150" dirty="0"/>
          </a:p>
        </p:txBody>
      </p:sp>
      <p:sp>
        <p:nvSpPr>
          <p:cNvPr id="9" name="Text 7"/>
          <p:cNvSpPr txBox="1"/>
          <p:nvPr/>
        </p:nvSpPr>
        <p:spPr>
          <a:xfrm>
            <a:off x="1133856" y="2304288"/>
            <a:ext cx="4604004" cy="274320"/>
          </a:xfrm>
          <a:prstGeom prst="rect">
            <a:avLst/>
          </a:prstGeom>
          <a:noFill/>
          <a:ln/>
        </p:spPr>
        <p:txBody>
          <a:bodyPr wrap="square" lIns="0" tIns="0" rIns="0" bIns="0" rtlCol="0" anchor="ctr"/>
          <a:lstStyle/>
          <a:p>
            <a:pPr indent="0" marL="0">
              <a:buNone/>
            </a:pPr>
            <a:r>
              <a:rPr lang="en-US" sz="1450" b="1" dirty="0">
                <a:solidFill>
                  <a:srgbClr val="6D2E46"/>
                </a:solidFill>
                <a:latin typeface="Cambria" pitchFamily="34" charset="0"/>
                <a:ea typeface="Cambria" pitchFamily="34" charset="-122"/>
                <a:cs typeface="Cambria" pitchFamily="34" charset="-120"/>
              </a:rPr>
              <a:t>価格の45%はキャッシュ</a:t>
            </a:r>
            <a:endParaRPr lang="en-US" sz="1450" dirty="0"/>
          </a:p>
        </p:txBody>
      </p:sp>
      <p:sp>
        <p:nvSpPr>
          <p:cNvPr id="10" name="Text 8"/>
          <p:cNvSpPr txBox="1"/>
          <p:nvPr/>
        </p:nvSpPr>
        <p:spPr>
          <a:xfrm>
            <a:off x="768096" y="2651760"/>
            <a:ext cx="4978908" cy="658368"/>
          </a:xfrm>
          <a:prstGeom prst="rect">
            <a:avLst/>
          </a:prstGeom>
          <a:noFill/>
          <a:ln/>
        </p:spPr>
        <p:txBody>
          <a:bodyPr wrap="square" lIns="0" tIns="0" rIns="0" bIns="0" rtlCol="0" anchor="ctr"/>
          <a:lstStyle/>
          <a:p>
            <a:pPr indent="0" marL="0">
              <a:lnSpc>
                <a:spcPts val="1600"/>
              </a:lnSpc>
              <a:buNone/>
            </a:pPr>
            <a:r>
              <a:rPr lang="en-US" sz="1100" dirty="0">
                <a:solidFill>
                  <a:srgbClr val="1F1A1C"/>
                </a:solidFill>
                <a:latin typeface="Calibri" pitchFamily="34" charset="0"/>
                <a:ea typeface="Calibri" pitchFamily="34" charset="-122"/>
                <a:cs typeface="Calibri" pitchFamily="34" charset="-120"/>
              </a:rPr>
              <a:t>50億円のうち22.4億円（現預金17.4億＋役員貸付5.0億）は非事業用資産。買主が事業リスクを負うのは残る事業価値27.6億円のみ。</a:t>
            </a:r>
            <a:endParaRPr lang="en-US" sz="1100" dirty="0"/>
          </a:p>
        </p:txBody>
      </p:sp>
      <p:sp>
        <p:nvSpPr>
          <p:cNvPr id="11" name="Shape 9"/>
          <p:cNvSpPr/>
          <p:nvPr/>
        </p:nvSpPr>
        <p:spPr>
          <a:xfrm>
            <a:off x="6240780" y="2121408"/>
            <a:ext cx="5381244" cy="1261872"/>
          </a:xfrm>
          <a:prstGeom prst="roundRect">
            <a:avLst>
              <a:gd name="adj" fmla="val 3623"/>
            </a:avLst>
          </a:prstGeom>
          <a:solidFill>
            <a:srgbClr val="F7F3F4"/>
          </a:solidFill>
          <a:ln w="9525">
            <a:solidFill>
              <a:srgbClr val="E4DADD"/>
            </a:solidFill>
            <a:prstDash val="solid"/>
          </a:ln>
        </p:spPr>
      </p:sp>
      <p:sp>
        <p:nvSpPr>
          <p:cNvPr id="12" name="Shape 10"/>
          <p:cNvSpPr/>
          <p:nvPr/>
        </p:nvSpPr>
        <p:spPr>
          <a:xfrm>
            <a:off x="6441948" y="2304288"/>
            <a:ext cx="274320" cy="274320"/>
          </a:xfrm>
          <a:prstGeom prst="ellipse">
            <a:avLst/>
          </a:prstGeom>
          <a:solidFill>
            <a:srgbClr val="6D2E46"/>
          </a:solidFill>
          <a:ln/>
        </p:spPr>
      </p:sp>
      <p:sp>
        <p:nvSpPr>
          <p:cNvPr id="13" name="Text 11"/>
          <p:cNvSpPr txBox="1"/>
          <p:nvPr/>
        </p:nvSpPr>
        <p:spPr>
          <a:xfrm>
            <a:off x="6441948" y="2304288"/>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②</a:t>
            </a:r>
            <a:endParaRPr lang="en-US" sz="1150" dirty="0"/>
          </a:p>
        </p:txBody>
      </p:sp>
      <p:sp>
        <p:nvSpPr>
          <p:cNvPr id="14" name="Text 12"/>
          <p:cNvSpPr txBox="1"/>
          <p:nvPr/>
        </p:nvSpPr>
        <p:spPr>
          <a:xfrm>
            <a:off x="6807708" y="2304288"/>
            <a:ext cx="4604004" cy="274320"/>
          </a:xfrm>
          <a:prstGeom prst="rect">
            <a:avLst/>
          </a:prstGeom>
          <a:noFill/>
          <a:ln/>
        </p:spPr>
        <p:txBody>
          <a:bodyPr wrap="square" lIns="0" tIns="0" rIns="0" bIns="0" rtlCol="0" anchor="ctr"/>
          <a:lstStyle/>
          <a:p>
            <a:pPr indent="0" marL="0">
              <a:buNone/>
            </a:pPr>
            <a:r>
              <a:rPr lang="en-US" sz="1450" b="1" dirty="0">
                <a:solidFill>
                  <a:srgbClr val="6D2E46"/>
                </a:solidFill>
                <a:latin typeface="Cambria" pitchFamily="34" charset="0"/>
                <a:ea typeface="Cambria" pitchFamily="34" charset="-122"/>
                <a:cs typeface="Cambria" pitchFamily="34" charset="-120"/>
              </a:rPr>
              <a:t>EV/EBITDA 5.2倍</a:t>
            </a:r>
            <a:endParaRPr lang="en-US" sz="1450" dirty="0"/>
          </a:p>
        </p:txBody>
      </p:sp>
      <p:sp>
        <p:nvSpPr>
          <p:cNvPr id="15" name="Text 13"/>
          <p:cNvSpPr txBox="1"/>
          <p:nvPr/>
        </p:nvSpPr>
        <p:spPr>
          <a:xfrm>
            <a:off x="6441948" y="2651760"/>
            <a:ext cx="4978908" cy="658368"/>
          </a:xfrm>
          <a:prstGeom prst="rect">
            <a:avLst/>
          </a:prstGeom>
          <a:noFill/>
          <a:ln/>
        </p:spPr>
        <p:txBody>
          <a:bodyPr wrap="square" lIns="0" tIns="0" rIns="0" bIns="0" rtlCol="0" anchor="ctr"/>
          <a:lstStyle/>
          <a:p>
            <a:pPr indent="0" marL="0">
              <a:lnSpc>
                <a:spcPts val="1600"/>
              </a:lnSpc>
              <a:buNone/>
            </a:pPr>
            <a:r>
              <a:rPr lang="en-US" sz="1100" dirty="0">
                <a:solidFill>
                  <a:srgbClr val="1F1A1C"/>
                </a:solidFill>
                <a:latin typeface="Calibri" pitchFamily="34" charset="0"/>
                <a:ea typeface="Calibri" pitchFamily="34" charset="-122"/>
                <a:cs typeface="Calibri" pitchFamily="34" charset="-120"/>
              </a:rPr>
              <a:t>中小M&amp;A実務における小売飲食業のEBITDA倍率目安（約6倍）を下回る。営業利益率52%・無借金・20年連続増収増益の企業としては割安な部類。</a:t>
            </a:r>
            <a:endParaRPr lang="en-US" sz="1100" dirty="0"/>
          </a:p>
        </p:txBody>
      </p:sp>
      <p:sp>
        <p:nvSpPr>
          <p:cNvPr id="16" name="Shape 14"/>
          <p:cNvSpPr/>
          <p:nvPr/>
        </p:nvSpPr>
        <p:spPr>
          <a:xfrm>
            <a:off x="566928" y="3538728"/>
            <a:ext cx="5381244" cy="1261872"/>
          </a:xfrm>
          <a:prstGeom prst="roundRect">
            <a:avLst>
              <a:gd name="adj" fmla="val 3623"/>
            </a:avLst>
          </a:prstGeom>
          <a:solidFill>
            <a:srgbClr val="F7F3F4"/>
          </a:solidFill>
          <a:ln w="9525">
            <a:solidFill>
              <a:srgbClr val="E4DADD"/>
            </a:solidFill>
            <a:prstDash val="solid"/>
          </a:ln>
        </p:spPr>
      </p:sp>
      <p:sp>
        <p:nvSpPr>
          <p:cNvPr id="17" name="Shape 15"/>
          <p:cNvSpPr/>
          <p:nvPr/>
        </p:nvSpPr>
        <p:spPr>
          <a:xfrm>
            <a:off x="768096" y="3721608"/>
            <a:ext cx="274320" cy="274320"/>
          </a:xfrm>
          <a:prstGeom prst="ellipse">
            <a:avLst/>
          </a:prstGeom>
          <a:solidFill>
            <a:srgbClr val="6D2E46"/>
          </a:solidFill>
          <a:ln/>
        </p:spPr>
      </p:sp>
      <p:sp>
        <p:nvSpPr>
          <p:cNvPr id="18" name="Text 16"/>
          <p:cNvSpPr txBox="1"/>
          <p:nvPr/>
        </p:nvSpPr>
        <p:spPr>
          <a:xfrm>
            <a:off x="768096" y="3721608"/>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③</a:t>
            </a:r>
            <a:endParaRPr lang="en-US" sz="1150" dirty="0"/>
          </a:p>
        </p:txBody>
      </p:sp>
      <p:sp>
        <p:nvSpPr>
          <p:cNvPr id="19" name="Text 17"/>
          <p:cNvSpPr txBox="1"/>
          <p:nvPr/>
        </p:nvSpPr>
        <p:spPr>
          <a:xfrm>
            <a:off x="1133856" y="3721608"/>
            <a:ext cx="4604004" cy="274320"/>
          </a:xfrm>
          <a:prstGeom prst="rect">
            <a:avLst/>
          </a:prstGeom>
          <a:noFill/>
          <a:ln/>
        </p:spPr>
        <p:txBody>
          <a:bodyPr wrap="square" lIns="0" tIns="0" rIns="0" bIns="0" rtlCol="0" anchor="ctr"/>
          <a:lstStyle/>
          <a:p>
            <a:pPr indent="0" marL="0">
              <a:buNone/>
            </a:pPr>
            <a:r>
              <a:rPr lang="en-US" sz="1450" b="1" dirty="0">
                <a:solidFill>
                  <a:srgbClr val="6D2E46"/>
                </a:solidFill>
                <a:latin typeface="Cambria" pitchFamily="34" charset="0"/>
                <a:ea typeface="Cambria" pitchFamily="34" charset="-122"/>
                <a:cs typeface="Cambria" pitchFamily="34" charset="-120"/>
              </a:rPr>
              <a:t>年買法では営業利益5.1年分</a:t>
            </a:r>
            <a:endParaRPr lang="en-US" sz="1450" dirty="0"/>
          </a:p>
        </p:txBody>
      </p:sp>
      <p:sp>
        <p:nvSpPr>
          <p:cNvPr id="20" name="Text 18"/>
          <p:cNvSpPr txBox="1"/>
          <p:nvPr/>
        </p:nvSpPr>
        <p:spPr>
          <a:xfrm>
            <a:off x="768096" y="4069080"/>
            <a:ext cx="4978908" cy="658368"/>
          </a:xfrm>
          <a:prstGeom prst="rect">
            <a:avLst/>
          </a:prstGeom>
          <a:noFill/>
          <a:ln/>
        </p:spPr>
        <p:txBody>
          <a:bodyPr wrap="square" lIns="0" tIns="0" rIns="0" bIns="0" rtlCol="0" anchor="ctr"/>
          <a:lstStyle/>
          <a:p>
            <a:pPr indent="0" marL="0">
              <a:lnSpc>
                <a:spcPts val="1600"/>
              </a:lnSpc>
              <a:buNone/>
            </a:pPr>
            <a:r>
              <a:rPr lang="en-US" sz="1100" dirty="0">
                <a:solidFill>
                  <a:srgbClr val="1F1A1C"/>
                </a:solidFill>
                <a:latin typeface="Calibri" pitchFamily="34" charset="0"/>
                <a:ea typeface="Calibri" pitchFamily="34" charset="-122"/>
                <a:cs typeface="Calibri" pitchFamily="34" charset="-120"/>
              </a:rPr>
              <a:t>純資産23.15億＋営業利益5.09年分。実務慣行の「純資産＋営業利益3〜6年」のレンジに位置する。</a:t>
            </a:r>
            <a:endParaRPr lang="en-US" sz="1100" dirty="0"/>
          </a:p>
        </p:txBody>
      </p:sp>
      <p:sp>
        <p:nvSpPr>
          <p:cNvPr id="21" name="Shape 19"/>
          <p:cNvSpPr/>
          <p:nvPr/>
        </p:nvSpPr>
        <p:spPr>
          <a:xfrm>
            <a:off x="6240780" y="3538728"/>
            <a:ext cx="5381244" cy="1261872"/>
          </a:xfrm>
          <a:prstGeom prst="roundRect">
            <a:avLst>
              <a:gd name="adj" fmla="val 3623"/>
            </a:avLst>
          </a:prstGeom>
          <a:solidFill>
            <a:srgbClr val="F7F3F4"/>
          </a:solidFill>
          <a:ln w="9525">
            <a:solidFill>
              <a:srgbClr val="E4DADD"/>
            </a:solidFill>
            <a:prstDash val="solid"/>
          </a:ln>
        </p:spPr>
      </p:sp>
      <p:sp>
        <p:nvSpPr>
          <p:cNvPr id="22" name="Shape 20"/>
          <p:cNvSpPr/>
          <p:nvPr/>
        </p:nvSpPr>
        <p:spPr>
          <a:xfrm>
            <a:off x="6441948" y="3721608"/>
            <a:ext cx="274320" cy="274320"/>
          </a:xfrm>
          <a:prstGeom prst="ellipse">
            <a:avLst/>
          </a:prstGeom>
          <a:solidFill>
            <a:srgbClr val="6D2E46"/>
          </a:solidFill>
          <a:ln/>
        </p:spPr>
      </p:sp>
      <p:sp>
        <p:nvSpPr>
          <p:cNvPr id="23" name="Text 21"/>
          <p:cNvSpPr txBox="1"/>
          <p:nvPr/>
        </p:nvSpPr>
        <p:spPr>
          <a:xfrm>
            <a:off x="6441948" y="3721608"/>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④</a:t>
            </a:r>
            <a:endParaRPr lang="en-US" sz="1150" dirty="0"/>
          </a:p>
        </p:txBody>
      </p:sp>
      <p:sp>
        <p:nvSpPr>
          <p:cNvPr id="24" name="Text 22"/>
          <p:cNvSpPr txBox="1"/>
          <p:nvPr/>
        </p:nvSpPr>
        <p:spPr>
          <a:xfrm>
            <a:off x="6807708" y="3721608"/>
            <a:ext cx="4604004" cy="274320"/>
          </a:xfrm>
          <a:prstGeom prst="rect">
            <a:avLst/>
          </a:prstGeom>
          <a:noFill/>
          <a:ln/>
        </p:spPr>
        <p:txBody>
          <a:bodyPr wrap="square" lIns="0" tIns="0" rIns="0" bIns="0" rtlCol="0" anchor="ctr"/>
          <a:lstStyle/>
          <a:p>
            <a:pPr indent="0" marL="0">
              <a:buNone/>
            </a:pPr>
            <a:r>
              <a:rPr lang="en-US" sz="1450" b="1" dirty="0">
                <a:solidFill>
                  <a:srgbClr val="6D2E46"/>
                </a:solidFill>
                <a:latin typeface="Cambria" pitchFamily="34" charset="0"/>
                <a:ea typeface="Cambria" pitchFamily="34" charset="-122"/>
                <a:cs typeface="Cambria" pitchFamily="34" charset="-120"/>
              </a:rPr>
              <a:t>DCF期待値 50.7億円</a:t>
            </a:r>
            <a:endParaRPr lang="en-US" sz="1450" dirty="0"/>
          </a:p>
        </p:txBody>
      </p:sp>
      <p:sp>
        <p:nvSpPr>
          <p:cNvPr id="25" name="Text 23"/>
          <p:cNvSpPr txBox="1"/>
          <p:nvPr/>
        </p:nvSpPr>
        <p:spPr>
          <a:xfrm>
            <a:off x="6441948" y="4069080"/>
            <a:ext cx="4978908" cy="658368"/>
          </a:xfrm>
          <a:prstGeom prst="rect">
            <a:avLst/>
          </a:prstGeom>
          <a:noFill/>
          <a:ln/>
        </p:spPr>
        <p:txBody>
          <a:bodyPr wrap="square" lIns="0" tIns="0" rIns="0" bIns="0" rtlCol="0" anchor="ctr"/>
          <a:lstStyle/>
          <a:p>
            <a:pPr indent="0" marL="0">
              <a:lnSpc>
                <a:spcPts val="1600"/>
              </a:lnSpc>
              <a:buNone/>
            </a:pPr>
            <a:r>
              <a:rPr lang="en-US" sz="1100" dirty="0">
                <a:solidFill>
                  <a:srgbClr val="1F1A1C"/>
                </a:solidFill>
                <a:latin typeface="Calibri" pitchFamily="34" charset="0"/>
                <a:ea typeface="Calibri" pitchFamily="34" charset="-122"/>
                <a:cs typeface="Calibri" pitchFamily="34" charset="-120"/>
              </a:rPr>
              <a:t>三つ星維持50%／二つ星降格35%／星喪失15%の加重期待値が50.7億円。提示価格50億円とほぼ一致する。</a:t>
            </a:r>
            <a:endParaRPr lang="en-US" sz="1100" dirty="0"/>
          </a:p>
        </p:txBody>
      </p:sp>
      <p:sp>
        <p:nvSpPr>
          <p:cNvPr id="26" name="Text 24"/>
          <p:cNvSpPr txBox="1"/>
          <p:nvPr/>
        </p:nvSpPr>
        <p:spPr>
          <a:xfrm>
            <a:off x="566928" y="5047488"/>
            <a:ext cx="11055096" cy="548640"/>
          </a:xfrm>
          <a:prstGeom prst="rect">
            <a:avLst/>
          </a:prstGeom>
          <a:noFill/>
          <a:ln/>
        </p:spPr>
        <p:txBody>
          <a:bodyPr wrap="square" lIns="0" tIns="0" rIns="0" bIns="0" rtlCol="0" anchor="ctr"/>
          <a:lstStyle/>
          <a:p>
            <a:pPr indent="0" marL="0">
              <a:lnSpc>
                <a:spcPts val="1600"/>
              </a:lnSpc>
              <a:buNone/>
            </a:pPr>
            <a:r>
              <a:rPr lang="en-US" sz="1050" b="1" dirty="0">
                <a:solidFill>
                  <a:srgbClr val="1F1A1C"/>
                </a:solidFill>
                <a:latin typeface="Calibri" pitchFamily="34" charset="0"/>
                <a:ea typeface="Calibri" pitchFamily="34" charset="-122"/>
                <a:cs typeface="Calibri" pitchFamily="34" charset="-120"/>
              </a:rPr>
              <a:t>資金調達：</a:t>
            </a:r>
            <a:pPr indent="0" marL="0">
              <a:lnSpc>
                <a:spcPts val="1600"/>
              </a:lnSpc>
              <a:buNone/>
            </a:pPr>
            <a:r>
              <a:rPr lang="en-US" sz="1050" dirty="0">
                <a:solidFill>
                  <a:srgbClr val="6E6368"/>
                </a:solidFill>
                <a:latin typeface="Calibri" pitchFamily="34" charset="0"/>
                <a:ea typeface="Calibri" pitchFamily="34" charset="-122"/>
                <a:cs typeface="Calibri" pitchFamily="34" charset="-120"/>
              </a:rPr>
              <a:t>買収目的会社（SPC）方式により、みずほ銀行41.4億円（タームローン20.0億円＋ブリッジローン21.4億円）と投資家の出資10.0億円で取得する。ブリッジローンは合併直後に対象会社の余剰現金で全額返済し、合併後の有利子負債は20.0億円、初年度DSCRは1.36倍となる（p.20〜p.29）。</a:t>
            </a:r>
            <a:endParaRPr lang="en-US" sz="1050" dirty="0"/>
          </a:p>
        </p:txBody>
      </p:sp>
      <p:sp>
        <p:nvSpPr>
          <p:cNvPr id="27" name="Text 25"/>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8" name="Text 26"/>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WHY WINEBANK</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シナジーに頼らない。それでも当社が最適な所有者である</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価格にも返済計画にもシナジーは一切織り込んでいない。そのうえで、この資産は当社が持つときに最も価値が保たれる。</a:t>
            </a:r>
            <a:endParaRPr lang="en-US" sz="1250" dirty="0"/>
          </a:p>
        </p:txBody>
      </p:sp>
      <p:sp>
        <p:nvSpPr>
          <p:cNvPr id="5" name="Shape 3"/>
          <p:cNvSpPr/>
          <p:nvPr/>
        </p:nvSpPr>
        <p:spPr>
          <a:xfrm>
            <a:off x="566928" y="1664208"/>
            <a:ext cx="274320" cy="274320"/>
          </a:xfrm>
          <a:prstGeom prst="ellipse">
            <a:avLst/>
          </a:prstGeom>
          <a:solidFill>
            <a:srgbClr val="6D2E46"/>
          </a:solidFill>
          <a:ln/>
        </p:spPr>
      </p:sp>
      <p:sp>
        <p:nvSpPr>
          <p:cNvPr id="6" name="Text 4"/>
          <p:cNvSpPr txBox="1"/>
          <p:nvPr/>
        </p:nvSpPr>
        <p:spPr>
          <a:xfrm>
            <a:off x="566928" y="1664208"/>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txBox="1"/>
          <p:nvPr/>
        </p:nvSpPr>
        <p:spPr>
          <a:xfrm>
            <a:off x="978408" y="1645920"/>
            <a:ext cx="5760720" cy="274320"/>
          </a:xfrm>
          <a:prstGeom prst="rect">
            <a:avLst/>
          </a:prstGeom>
          <a:noFill/>
          <a:ln/>
        </p:spPr>
        <p:txBody>
          <a:bodyPr wrap="square" lIns="0" tIns="0" rIns="0" bIns="0" rtlCol="0" anchor="ctr"/>
          <a:lstStyle/>
          <a:p>
            <a:pPr indent="0" marL="0">
              <a:buNone/>
            </a:pPr>
            <a:r>
              <a:rPr lang="en-US" sz="1350" b="1" dirty="0">
                <a:solidFill>
                  <a:srgbClr val="6D2E46"/>
                </a:solidFill>
                <a:latin typeface="Cambria" pitchFamily="34" charset="0"/>
                <a:ea typeface="Cambria" pitchFamily="34" charset="-122"/>
                <a:cs typeface="Cambria" pitchFamily="34" charset="-120"/>
              </a:rPr>
              <a:t>ワインの「最終地点」を持つ</a:t>
            </a:r>
            <a:endParaRPr lang="en-US" sz="1350" dirty="0"/>
          </a:p>
        </p:txBody>
      </p:sp>
      <p:sp>
        <p:nvSpPr>
          <p:cNvPr id="8" name="Text 6"/>
          <p:cNvSpPr txBox="1"/>
          <p:nvPr/>
        </p:nvSpPr>
        <p:spPr>
          <a:xfrm>
            <a:off x="978408" y="1938528"/>
            <a:ext cx="5760720" cy="548640"/>
          </a:xfrm>
          <a:prstGeom prst="rect">
            <a:avLst/>
          </a:prstGeom>
          <a:noFill/>
          <a:ln/>
        </p:spPr>
        <p:txBody>
          <a:bodyPr wrap="square" lIns="0" tIns="0" rIns="0" bIns="0" rtlCol="0" anchor="t"/>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当社は調達・保管・流通を担ってきたが、一本のワインが最も高い価値で完結する「消費の頂点」を持っていなかった。対象会社はその日本における頂点である。</a:t>
            </a:r>
            <a:endParaRPr lang="en-US" sz="1000" dirty="0"/>
          </a:p>
        </p:txBody>
      </p:sp>
      <p:sp>
        <p:nvSpPr>
          <p:cNvPr id="9" name="Shape 7"/>
          <p:cNvSpPr/>
          <p:nvPr/>
        </p:nvSpPr>
        <p:spPr>
          <a:xfrm>
            <a:off x="566928" y="2560320"/>
            <a:ext cx="274320" cy="274320"/>
          </a:xfrm>
          <a:prstGeom prst="ellipse">
            <a:avLst/>
          </a:prstGeom>
          <a:solidFill>
            <a:srgbClr val="6D2E46"/>
          </a:solidFill>
          <a:ln/>
        </p:spPr>
      </p:sp>
      <p:sp>
        <p:nvSpPr>
          <p:cNvPr id="10" name="Text 8"/>
          <p:cNvSpPr txBox="1"/>
          <p:nvPr/>
        </p:nvSpPr>
        <p:spPr>
          <a:xfrm>
            <a:off x="566928" y="2560320"/>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1" name="Text 9"/>
          <p:cNvSpPr txBox="1"/>
          <p:nvPr/>
        </p:nvSpPr>
        <p:spPr>
          <a:xfrm>
            <a:off x="978408" y="2542032"/>
            <a:ext cx="5760720" cy="274320"/>
          </a:xfrm>
          <a:prstGeom prst="rect">
            <a:avLst/>
          </a:prstGeom>
          <a:noFill/>
          <a:ln/>
        </p:spPr>
        <p:txBody>
          <a:bodyPr wrap="square" lIns="0" tIns="0" rIns="0" bIns="0" rtlCol="0" anchor="ctr"/>
          <a:lstStyle/>
          <a:p>
            <a:pPr indent="0" marL="0">
              <a:buNone/>
            </a:pPr>
            <a:r>
              <a:rPr lang="en-US" sz="1350" b="1" dirty="0">
                <a:solidFill>
                  <a:srgbClr val="6D2E46"/>
                </a:solidFill>
                <a:latin typeface="Cambria" pitchFamily="34" charset="0"/>
                <a:ea typeface="Cambria" pitchFamily="34" charset="-122"/>
                <a:cs typeface="Cambria" pitchFamily="34" charset="-120"/>
              </a:rPr>
              <a:t>上流での信用が上がる</a:t>
            </a:r>
            <a:endParaRPr lang="en-US" sz="1350" dirty="0"/>
          </a:p>
        </p:txBody>
      </p:sp>
      <p:sp>
        <p:nvSpPr>
          <p:cNvPr id="12" name="Text 10"/>
          <p:cNvSpPr txBox="1"/>
          <p:nvPr/>
        </p:nvSpPr>
        <p:spPr>
          <a:xfrm>
            <a:off x="978408" y="2834640"/>
            <a:ext cx="5760720" cy="548640"/>
          </a:xfrm>
          <a:prstGeom prst="rect">
            <a:avLst/>
          </a:prstGeom>
          <a:noFill/>
          <a:ln/>
        </p:spPr>
        <p:txBody>
          <a:bodyPr wrap="square" lIns="0" tIns="0" rIns="0" bIns="0" rtlCol="0" anchor="t"/>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希少ワインの生産者は「どこで飲まれるか」で配分を決める。三つ星と資本関係を持つ流通業者は国内に稀。※対象会社に有利な場合を除き、仕入経路は変更しない。</a:t>
            </a:r>
            <a:endParaRPr lang="en-US" sz="1000" dirty="0"/>
          </a:p>
        </p:txBody>
      </p:sp>
      <p:sp>
        <p:nvSpPr>
          <p:cNvPr id="13" name="Shape 11"/>
          <p:cNvSpPr/>
          <p:nvPr/>
        </p:nvSpPr>
        <p:spPr>
          <a:xfrm>
            <a:off x="566928" y="3456432"/>
            <a:ext cx="274320" cy="274320"/>
          </a:xfrm>
          <a:prstGeom prst="ellipse">
            <a:avLst/>
          </a:prstGeom>
          <a:solidFill>
            <a:srgbClr val="6D2E46"/>
          </a:solidFill>
          <a:ln/>
        </p:spPr>
      </p:sp>
      <p:sp>
        <p:nvSpPr>
          <p:cNvPr id="14" name="Text 12"/>
          <p:cNvSpPr txBox="1"/>
          <p:nvPr/>
        </p:nvSpPr>
        <p:spPr>
          <a:xfrm>
            <a:off x="566928" y="3456432"/>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5" name="Text 13"/>
          <p:cNvSpPr txBox="1"/>
          <p:nvPr/>
        </p:nvSpPr>
        <p:spPr>
          <a:xfrm>
            <a:off x="978408" y="3438144"/>
            <a:ext cx="5760720" cy="274320"/>
          </a:xfrm>
          <a:prstGeom prst="rect">
            <a:avLst/>
          </a:prstGeom>
          <a:noFill/>
          <a:ln/>
        </p:spPr>
        <p:txBody>
          <a:bodyPr wrap="square" lIns="0" tIns="0" rIns="0" bIns="0" rtlCol="0" anchor="ctr"/>
          <a:lstStyle/>
          <a:p>
            <a:pPr indent="0" marL="0">
              <a:buNone/>
            </a:pPr>
            <a:r>
              <a:rPr lang="en-US" sz="1350" b="1" dirty="0">
                <a:solidFill>
                  <a:srgbClr val="6D2E46"/>
                </a:solidFill>
                <a:latin typeface="Cambria" pitchFamily="34" charset="0"/>
                <a:ea typeface="Cambria" pitchFamily="34" charset="-122"/>
                <a:cs typeface="Cambria" pitchFamily="34" charset="-120"/>
              </a:rPr>
              <a:t>キャッシュの性質が補い合う</a:t>
            </a:r>
            <a:endParaRPr lang="en-US" sz="1350" dirty="0"/>
          </a:p>
        </p:txBody>
      </p:sp>
      <p:sp>
        <p:nvSpPr>
          <p:cNvPr id="16" name="Text 14"/>
          <p:cNvSpPr txBox="1"/>
          <p:nvPr/>
        </p:nvSpPr>
        <p:spPr>
          <a:xfrm>
            <a:off x="978408" y="3730752"/>
            <a:ext cx="5760720" cy="548640"/>
          </a:xfrm>
          <a:prstGeom prst="rect">
            <a:avLst/>
          </a:prstGeom>
          <a:noFill/>
          <a:ln/>
        </p:spPr>
        <p:txBody>
          <a:bodyPr wrap="square" lIns="0" tIns="0" rIns="0" bIns="0" rtlCol="0" anchor="t"/>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仕入・熟成に資金が寝る在庫型の当社本業に対し、対象会社は運転資本がほぼ不要（「支払より先に入金がある」）でFCF年3.5億円を生む。</a:t>
            </a:r>
            <a:endParaRPr lang="en-US" sz="1000" dirty="0"/>
          </a:p>
        </p:txBody>
      </p:sp>
      <p:sp>
        <p:nvSpPr>
          <p:cNvPr id="17" name="Shape 15"/>
          <p:cNvSpPr/>
          <p:nvPr/>
        </p:nvSpPr>
        <p:spPr>
          <a:xfrm>
            <a:off x="566928" y="4352544"/>
            <a:ext cx="274320" cy="274320"/>
          </a:xfrm>
          <a:prstGeom prst="ellipse">
            <a:avLst/>
          </a:prstGeom>
          <a:solidFill>
            <a:srgbClr val="6D2E46"/>
          </a:solidFill>
          <a:ln/>
        </p:spPr>
      </p:sp>
      <p:sp>
        <p:nvSpPr>
          <p:cNvPr id="18" name="Text 16"/>
          <p:cNvSpPr txBox="1"/>
          <p:nvPr/>
        </p:nvSpPr>
        <p:spPr>
          <a:xfrm>
            <a:off x="566928" y="435254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9" name="Text 17"/>
          <p:cNvSpPr txBox="1"/>
          <p:nvPr/>
        </p:nvSpPr>
        <p:spPr>
          <a:xfrm>
            <a:off x="978408" y="4334256"/>
            <a:ext cx="5760720" cy="274320"/>
          </a:xfrm>
          <a:prstGeom prst="rect">
            <a:avLst/>
          </a:prstGeom>
          <a:noFill/>
          <a:ln/>
        </p:spPr>
        <p:txBody>
          <a:bodyPr wrap="square" lIns="0" tIns="0" rIns="0" bIns="0" rtlCol="0" anchor="ctr"/>
          <a:lstStyle/>
          <a:p>
            <a:pPr indent="0" marL="0">
              <a:buNone/>
            </a:pPr>
            <a:r>
              <a:rPr lang="en-US" sz="1350" b="1" dirty="0">
                <a:solidFill>
                  <a:srgbClr val="6D2E46"/>
                </a:solidFill>
                <a:latin typeface="Cambria" pitchFamily="34" charset="0"/>
                <a:ea typeface="Cambria" pitchFamily="34" charset="-122"/>
                <a:cs typeface="Cambria" pitchFamily="34" charset="-120"/>
              </a:rPr>
              <a:t>人材が循環する</a:t>
            </a:r>
            <a:endParaRPr lang="en-US" sz="1350" dirty="0"/>
          </a:p>
        </p:txBody>
      </p:sp>
      <p:sp>
        <p:nvSpPr>
          <p:cNvPr id="20" name="Text 18"/>
          <p:cNvSpPr txBox="1"/>
          <p:nvPr/>
        </p:nvSpPr>
        <p:spPr>
          <a:xfrm>
            <a:off x="978408" y="4626864"/>
            <a:ext cx="5760720" cy="548640"/>
          </a:xfrm>
          <a:prstGeom prst="rect">
            <a:avLst/>
          </a:prstGeom>
          <a:noFill/>
          <a:ln/>
        </p:spPr>
        <p:txBody>
          <a:bodyPr wrap="square" lIns="0" tIns="0" rIns="0" bIns="0" rtlCol="0" anchor="t"/>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多くの料理人を独立へ送り出してきた「学校」とアピシウスで、グランメゾン2店のキャリアパスを示せる。卒業生網は後継問題への答えでもある。</a:t>
            </a:r>
            <a:endParaRPr lang="en-US" sz="1000" dirty="0"/>
          </a:p>
        </p:txBody>
      </p:sp>
      <p:sp>
        <p:nvSpPr>
          <p:cNvPr id="21" name="Shape 19"/>
          <p:cNvSpPr/>
          <p:nvPr/>
        </p:nvSpPr>
        <p:spPr>
          <a:xfrm>
            <a:off x="566928" y="5248656"/>
            <a:ext cx="274320" cy="274320"/>
          </a:xfrm>
          <a:prstGeom prst="ellipse">
            <a:avLst/>
          </a:prstGeom>
          <a:solidFill>
            <a:srgbClr val="6D2E46"/>
          </a:solidFill>
          <a:ln/>
        </p:spPr>
      </p:sp>
      <p:sp>
        <p:nvSpPr>
          <p:cNvPr id="22" name="Text 20"/>
          <p:cNvSpPr txBox="1"/>
          <p:nvPr/>
        </p:nvSpPr>
        <p:spPr>
          <a:xfrm>
            <a:off x="566928" y="5248656"/>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3" name="Text 21"/>
          <p:cNvSpPr txBox="1"/>
          <p:nvPr/>
        </p:nvSpPr>
        <p:spPr>
          <a:xfrm>
            <a:off x="978408" y="5230368"/>
            <a:ext cx="5760720" cy="274320"/>
          </a:xfrm>
          <a:prstGeom prst="rect">
            <a:avLst/>
          </a:prstGeom>
          <a:noFill/>
          <a:ln/>
        </p:spPr>
        <p:txBody>
          <a:bodyPr wrap="square" lIns="0" tIns="0" rIns="0" bIns="0" rtlCol="0" anchor="ctr"/>
          <a:lstStyle/>
          <a:p>
            <a:pPr indent="0" marL="0">
              <a:buNone/>
            </a:pPr>
            <a:r>
              <a:rPr lang="en-US" sz="1350" b="1" dirty="0">
                <a:solidFill>
                  <a:srgbClr val="6D2E46"/>
                </a:solidFill>
                <a:latin typeface="Cambria" pitchFamily="34" charset="0"/>
                <a:ea typeface="Cambria" pitchFamily="34" charset="-122"/>
                <a:cs typeface="Cambria" pitchFamily="34" charset="-120"/>
              </a:rPr>
              <a:t>承継に再現性がある</a:t>
            </a:r>
            <a:endParaRPr lang="en-US" sz="1350" dirty="0"/>
          </a:p>
        </p:txBody>
      </p:sp>
      <p:sp>
        <p:nvSpPr>
          <p:cNvPr id="24" name="Text 22"/>
          <p:cNvSpPr txBox="1"/>
          <p:nvPr/>
        </p:nvSpPr>
        <p:spPr>
          <a:xfrm>
            <a:off x="978408" y="5522976"/>
            <a:ext cx="5760720" cy="548640"/>
          </a:xfrm>
          <a:prstGeom prst="rect">
            <a:avLst/>
          </a:prstGeom>
          <a:noFill/>
          <a:ln/>
        </p:spPr>
        <p:txBody>
          <a:bodyPr wrap="square" lIns="0" tIns="0" rIns="0" bIns="0" rtlCol="0" anchor="t"/>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アピシウスで幹部全員継続・サービス残業撤廃のうえ、売上＋30%・営業利益＋250%超。2件目で再現性を示し、承継を事業モデルにする。</a:t>
            </a:r>
            <a:endParaRPr lang="en-US" sz="1000" dirty="0"/>
          </a:p>
        </p:txBody>
      </p:sp>
      <p:sp>
        <p:nvSpPr>
          <p:cNvPr id="25" name="Text 23"/>
          <p:cNvSpPr txBox="1"/>
          <p:nvPr/>
        </p:nvSpPr>
        <p:spPr>
          <a:xfrm>
            <a:off x="6967728" y="1645920"/>
            <a:ext cx="4654296" cy="256032"/>
          </a:xfrm>
          <a:prstGeom prst="rect">
            <a:avLst/>
          </a:prstGeom>
          <a:noFill/>
          <a:ln/>
        </p:spPr>
        <p:txBody>
          <a:bodyPr wrap="square" lIns="0" tIns="0" rIns="0" bIns="0" rtlCol="0" anchor="ctr"/>
          <a:lstStyle/>
          <a:p>
            <a:pPr indent="0" marL="0">
              <a:buNone/>
            </a:pPr>
            <a:r>
              <a:rPr lang="en-US" sz="1100" b="1" dirty="0">
                <a:solidFill>
                  <a:srgbClr val="B58B2A"/>
                </a:solidFill>
                <a:latin typeface="Calibri" pitchFamily="34" charset="0"/>
                <a:ea typeface="Calibri" pitchFamily="34" charset="-122"/>
                <a:cs typeface="Calibri" pitchFamily="34" charset="-120"/>
              </a:rPr>
              <a:t>誰が持つと、この資産の価値が最も高いか</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967728" y="1956816"/>
          <a:ext cx="4654296" cy="914400"/>
        </p:xfrm>
        <a:graphic>
          <a:graphicData uri="http://schemas.openxmlformats.org/drawingml/2006/table">
            <a:tbl>
              <a:tblPr/>
              <a:tblGrid>
                <a:gridCol w="1280160"/>
                <a:gridCol w="1417320"/>
                <a:gridCol w="1956816"/>
              </a:tblGrid>
              <a:tr h="54864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買い手</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時間軸・論理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この資産との相性</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54864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投資ファンド</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3〜5年で売却が前提</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9B2C2C"/>
                          </a:solidFill>
                          <a:latin typeface="Calibri" pitchFamily="34" charset="0"/>
                          <a:ea typeface="Calibri" pitchFamily="34" charset="-122"/>
                          <a:cs typeface="Calibri" pitchFamily="34" charset="-120"/>
                        </a:rPr>
                        <a:t>✕ 承継の時間軸と合わない</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4864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大手外食グループ</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多店舗化・効率化</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9B2C2C"/>
                          </a:solidFill>
                          <a:latin typeface="Calibri" pitchFamily="34" charset="0"/>
                          <a:ea typeface="Calibri" pitchFamily="34" charset="-122"/>
                          <a:cs typeface="Calibri" pitchFamily="34" charset="-120"/>
                        </a:rPr>
                        <a:t>✕ 本店の価値を薄める方向</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4864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同業シェフ・個人</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長期・料理を理解</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A8741A"/>
                          </a:solidFill>
                          <a:latin typeface="Calibri" pitchFamily="34" charset="0"/>
                          <a:ea typeface="Calibri" pitchFamily="34" charset="-122"/>
                          <a:cs typeface="Calibri" pitchFamily="34" charset="-120"/>
                        </a:rPr>
                        <a:t>△ 資金と経営体制の持続性</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48640">
                <a:tc>
                  <a:txBody>
                    <a:bodyPr/>
                    <a:lstStyle/>
                    <a:p>
                      <a:pPr indent="0" marL="0">
                        <a:buNone/>
                      </a:pPr>
                      <a:r>
                        <a:rPr lang="en-US" sz="1000" b="1" dirty="0">
                          <a:solidFill>
                            <a:srgbClr val="6D2E46"/>
                          </a:solidFill>
                          <a:latin typeface="Calibri" pitchFamily="34" charset="0"/>
                          <a:ea typeface="Calibri" pitchFamily="34" charset="-122"/>
                          <a:cs typeface="Calibri" pitchFamily="34" charset="-120"/>
                        </a:rPr>
                        <a:t>WineBank</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期限を設けない長期保有</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indent="0" marL="0">
                        <a:buNone/>
                      </a:pPr>
                      <a:r>
                        <a:rPr lang="en-US" sz="950" b="1" dirty="0">
                          <a:solidFill>
                            <a:srgbClr val="2E6F4E"/>
                          </a:solidFill>
                          <a:latin typeface="Calibri" pitchFamily="34" charset="0"/>
                          <a:ea typeface="Calibri" pitchFamily="34" charset="-122"/>
                          <a:cs typeface="Calibri" pitchFamily="34" charset="-120"/>
                        </a:rPr>
                        <a:t>◎ 現状維持を約束でき、ワインで価値を正しく評価できる</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r>
            </a:tbl>
          </a:graphicData>
        </a:graphic>
      </p:graphicFrame>
      <p:sp>
        <p:nvSpPr>
          <p:cNvPr id="27" name="Shape 24"/>
          <p:cNvSpPr/>
          <p:nvPr/>
        </p:nvSpPr>
        <p:spPr>
          <a:xfrm>
            <a:off x="6967728" y="4956048"/>
            <a:ext cx="4654296" cy="1170432"/>
          </a:xfrm>
          <a:prstGeom prst="roundRect">
            <a:avLst>
              <a:gd name="adj" fmla="val 3906"/>
            </a:avLst>
          </a:prstGeom>
          <a:solidFill>
            <a:srgbClr val="6D2E46"/>
          </a:solidFill>
          <a:ln/>
        </p:spPr>
      </p:sp>
      <p:sp>
        <p:nvSpPr>
          <p:cNvPr id="28" name="Text 25"/>
          <p:cNvSpPr txBox="1"/>
          <p:nvPr/>
        </p:nvSpPr>
        <p:spPr>
          <a:xfrm>
            <a:off x="7196328" y="5047488"/>
            <a:ext cx="4197096" cy="237744"/>
          </a:xfrm>
          <a:prstGeom prst="rect">
            <a:avLst/>
          </a:prstGeom>
          <a:noFill/>
          <a:ln/>
        </p:spPr>
        <p:txBody>
          <a:bodyPr wrap="square" lIns="0" tIns="0" rIns="0" bIns="0" rtlCol="0" anchor="ctr"/>
          <a:lstStyle/>
          <a:p>
            <a:pPr indent="0" marL="0">
              <a:buNone/>
            </a:pPr>
            <a:r>
              <a:rPr lang="en-US" sz="1050" b="1" dirty="0">
                <a:solidFill>
                  <a:srgbClr val="E8D6DB"/>
                </a:solidFill>
                <a:latin typeface="Calibri" pitchFamily="34" charset="0"/>
                <a:ea typeface="Calibri" pitchFamily="34" charset="-122"/>
                <a:cs typeface="Calibri" pitchFamily="34" charset="-120"/>
              </a:rPr>
              <a:t>価格・返済計画に織り込んだシナジー</a:t>
            </a:r>
            <a:endParaRPr lang="en-US" sz="1050" dirty="0"/>
          </a:p>
        </p:txBody>
      </p:sp>
      <p:sp>
        <p:nvSpPr>
          <p:cNvPr id="29" name="Text 26"/>
          <p:cNvSpPr txBox="1"/>
          <p:nvPr/>
        </p:nvSpPr>
        <p:spPr>
          <a:xfrm>
            <a:off x="7196328" y="5285232"/>
            <a:ext cx="1188720" cy="47548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ゼロ</a:t>
            </a:r>
            <a:endParaRPr lang="en-US" sz="3000" dirty="0"/>
          </a:p>
        </p:txBody>
      </p:sp>
      <p:sp>
        <p:nvSpPr>
          <p:cNvPr id="30" name="Text 27"/>
          <p:cNvSpPr txBox="1"/>
          <p:nvPr/>
        </p:nvSpPr>
        <p:spPr>
          <a:xfrm>
            <a:off x="8293608" y="5303520"/>
            <a:ext cx="3099816" cy="731520"/>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返済原資は対象会社のキャッシュフローのみで完結する。上記1〜5はすべて上振れ要因として扱う。</a:t>
            </a:r>
            <a:endParaRPr lang="en-US" sz="1000" dirty="0"/>
          </a:p>
        </p:txBody>
      </p:sp>
      <p:sp>
        <p:nvSpPr>
          <p:cNvPr id="31" name="Text 28"/>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32" name="Text 29"/>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MEANING &amp; GROWTH</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名店を次の20年へ。伸ばすのは本店の外側</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本件の意義は収益にとどまらない。成長は本店に手を入れるのではなく、本店の外側で実現する。</a:t>
            </a:r>
            <a:endParaRPr lang="en-US" sz="1250" dirty="0"/>
          </a:p>
        </p:txBody>
      </p:sp>
      <p:sp>
        <p:nvSpPr>
          <p:cNvPr id="5" name="Text 3"/>
          <p:cNvSpPr txBox="1"/>
          <p:nvPr/>
        </p:nvSpPr>
        <p:spPr>
          <a:xfrm>
            <a:off x="566928" y="1609344"/>
            <a:ext cx="54864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社会的な意義</a:t>
            </a:r>
            <a:endParaRPr lang="en-US" sz="1350" dirty="0"/>
          </a:p>
        </p:txBody>
      </p:sp>
      <p:sp>
        <p:nvSpPr>
          <p:cNvPr id="6" name="Shape 4"/>
          <p:cNvSpPr/>
          <p:nvPr/>
        </p:nvSpPr>
        <p:spPr>
          <a:xfrm>
            <a:off x="566928" y="1901952"/>
            <a:ext cx="2654046" cy="1481328"/>
          </a:xfrm>
          <a:prstGeom prst="roundRect">
            <a:avLst>
              <a:gd name="adj" fmla="val 3086"/>
            </a:avLst>
          </a:prstGeom>
          <a:solidFill>
            <a:srgbClr val="F7F3F4"/>
          </a:solidFill>
          <a:ln w="9525">
            <a:solidFill>
              <a:srgbClr val="E4DADD"/>
            </a:solidFill>
            <a:prstDash val="solid"/>
          </a:ln>
        </p:spPr>
      </p:sp>
      <p:sp>
        <p:nvSpPr>
          <p:cNvPr id="7" name="Shape 5"/>
          <p:cNvSpPr/>
          <p:nvPr/>
        </p:nvSpPr>
        <p:spPr>
          <a:xfrm>
            <a:off x="566928" y="1901952"/>
            <a:ext cx="2654046" cy="45720"/>
          </a:xfrm>
          <a:prstGeom prst="rect">
            <a:avLst/>
          </a:prstGeom>
          <a:solidFill>
            <a:srgbClr val="B58B2A"/>
          </a:solidFill>
          <a:ln/>
        </p:spPr>
      </p:sp>
      <p:sp>
        <p:nvSpPr>
          <p:cNvPr id="8" name="Text 6"/>
          <p:cNvSpPr txBox="1"/>
          <p:nvPr/>
        </p:nvSpPr>
        <p:spPr>
          <a:xfrm>
            <a:off x="731520" y="2029968"/>
            <a:ext cx="2324862"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事業承継の受け皿</a:t>
            </a:r>
            <a:endParaRPr lang="en-US" sz="1150" dirty="0"/>
          </a:p>
        </p:txBody>
      </p:sp>
      <p:sp>
        <p:nvSpPr>
          <p:cNvPr id="9" name="Text 7"/>
          <p:cNvSpPr txBox="1"/>
          <p:nvPr/>
        </p:nvSpPr>
        <p:spPr>
          <a:xfrm>
            <a:off x="731520" y="2322576"/>
            <a:ext cx="2324862" cy="1005840"/>
          </a:xfrm>
          <a:prstGeom prst="rect">
            <a:avLst/>
          </a:prstGeom>
          <a:noFill/>
          <a:ln/>
        </p:spPr>
        <p:txBody>
          <a:bodyPr wrap="square" lIns="0" tIns="0" rIns="0" bIns="0" rtlCol="0" anchor="t"/>
          <a:lstStyle/>
          <a:p>
            <a:pPr indent="0" marL="0">
              <a:lnSpc>
                <a:spcPts val="1500"/>
              </a:lnSpc>
              <a:buNone/>
            </a:pPr>
            <a:r>
              <a:rPr lang="en-US" sz="1050" dirty="0">
                <a:solidFill>
                  <a:srgbClr val="1F1A1C"/>
                </a:solidFill>
                <a:latin typeface="Calibri" pitchFamily="34" charset="0"/>
                <a:ea typeface="Calibri" pitchFamily="34" charset="-122"/>
                <a:cs typeface="Calibri" pitchFamily="34" charset="-120"/>
              </a:rPr>
              <a:t>後継者不在による閉店でも、短期売却を前提とする資本への移転でもない第三の道。当社は転売を想定しない。</a:t>
            </a:r>
            <a:endParaRPr lang="en-US" sz="1050" dirty="0"/>
          </a:p>
        </p:txBody>
      </p:sp>
      <p:sp>
        <p:nvSpPr>
          <p:cNvPr id="10" name="Shape 8"/>
          <p:cNvSpPr/>
          <p:nvPr/>
        </p:nvSpPr>
        <p:spPr>
          <a:xfrm>
            <a:off x="3367278" y="1901952"/>
            <a:ext cx="2654046" cy="1481328"/>
          </a:xfrm>
          <a:prstGeom prst="roundRect">
            <a:avLst>
              <a:gd name="adj" fmla="val 3086"/>
            </a:avLst>
          </a:prstGeom>
          <a:solidFill>
            <a:srgbClr val="F7F3F4"/>
          </a:solidFill>
          <a:ln w="9525">
            <a:solidFill>
              <a:srgbClr val="E4DADD"/>
            </a:solidFill>
            <a:prstDash val="solid"/>
          </a:ln>
        </p:spPr>
      </p:sp>
      <p:sp>
        <p:nvSpPr>
          <p:cNvPr id="11" name="Shape 9"/>
          <p:cNvSpPr/>
          <p:nvPr/>
        </p:nvSpPr>
        <p:spPr>
          <a:xfrm>
            <a:off x="3367278" y="1901952"/>
            <a:ext cx="2654046" cy="45720"/>
          </a:xfrm>
          <a:prstGeom prst="rect">
            <a:avLst/>
          </a:prstGeom>
          <a:solidFill>
            <a:srgbClr val="B58B2A"/>
          </a:solidFill>
          <a:ln/>
        </p:spPr>
      </p:sp>
      <p:sp>
        <p:nvSpPr>
          <p:cNvPr id="12" name="Text 10"/>
          <p:cNvSpPr txBox="1"/>
          <p:nvPr/>
        </p:nvSpPr>
        <p:spPr>
          <a:xfrm>
            <a:off x="3531870" y="2029968"/>
            <a:ext cx="2324862"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技術と暗黙知の継承</a:t>
            </a:r>
            <a:endParaRPr lang="en-US" sz="1150" dirty="0"/>
          </a:p>
        </p:txBody>
      </p:sp>
      <p:sp>
        <p:nvSpPr>
          <p:cNvPr id="13" name="Text 11"/>
          <p:cNvSpPr txBox="1"/>
          <p:nvPr/>
        </p:nvSpPr>
        <p:spPr>
          <a:xfrm>
            <a:off x="3531870" y="2322576"/>
            <a:ext cx="2324862" cy="1005840"/>
          </a:xfrm>
          <a:prstGeom prst="rect">
            <a:avLst/>
          </a:prstGeom>
          <a:noFill/>
          <a:ln/>
        </p:spPr>
        <p:txBody>
          <a:bodyPr wrap="square" lIns="0" tIns="0" rIns="0" bIns="0" rtlCol="0" anchor="t"/>
          <a:lstStyle/>
          <a:p>
            <a:pPr indent="0" marL="0">
              <a:lnSpc>
                <a:spcPts val="1500"/>
              </a:lnSpc>
              <a:buNone/>
            </a:pPr>
            <a:r>
              <a:rPr lang="en-US" sz="1050" dirty="0">
                <a:solidFill>
                  <a:srgbClr val="1F1A1C"/>
                </a:solidFill>
                <a:latin typeface="Calibri" pitchFamily="34" charset="0"/>
                <a:ea typeface="Calibri" pitchFamily="34" charset="-122"/>
                <a:cs typeface="Calibri" pitchFamily="34" charset="-120"/>
              </a:rPr>
              <a:t>「美味しいとは何か、良い仕事とは何かを教えられる人は業界にも多くない」（岸田氏）。3年の在任はその移転の時間。</a:t>
            </a:r>
            <a:endParaRPr lang="en-US" sz="1050" dirty="0"/>
          </a:p>
        </p:txBody>
      </p:sp>
      <p:sp>
        <p:nvSpPr>
          <p:cNvPr id="14" name="Shape 12"/>
          <p:cNvSpPr/>
          <p:nvPr/>
        </p:nvSpPr>
        <p:spPr>
          <a:xfrm>
            <a:off x="6167628" y="1901952"/>
            <a:ext cx="2654046" cy="1481328"/>
          </a:xfrm>
          <a:prstGeom prst="roundRect">
            <a:avLst>
              <a:gd name="adj" fmla="val 3086"/>
            </a:avLst>
          </a:prstGeom>
          <a:solidFill>
            <a:srgbClr val="F7F3F4"/>
          </a:solidFill>
          <a:ln w="9525">
            <a:solidFill>
              <a:srgbClr val="E4DADD"/>
            </a:solidFill>
            <a:prstDash val="solid"/>
          </a:ln>
        </p:spPr>
      </p:sp>
      <p:sp>
        <p:nvSpPr>
          <p:cNvPr id="15" name="Shape 13"/>
          <p:cNvSpPr/>
          <p:nvPr/>
        </p:nvSpPr>
        <p:spPr>
          <a:xfrm>
            <a:off x="6167628" y="1901952"/>
            <a:ext cx="2654046" cy="45720"/>
          </a:xfrm>
          <a:prstGeom prst="rect">
            <a:avLst/>
          </a:prstGeom>
          <a:solidFill>
            <a:srgbClr val="B58B2A"/>
          </a:solidFill>
          <a:ln/>
        </p:spPr>
      </p:sp>
      <p:sp>
        <p:nvSpPr>
          <p:cNvPr id="16" name="Text 14"/>
          <p:cNvSpPr txBox="1"/>
          <p:nvPr/>
        </p:nvSpPr>
        <p:spPr>
          <a:xfrm>
            <a:off x="6332220" y="2029968"/>
            <a:ext cx="2324862"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生産者と雇用を守る</a:t>
            </a:r>
            <a:endParaRPr lang="en-US" sz="1150" dirty="0"/>
          </a:p>
        </p:txBody>
      </p:sp>
      <p:sp>
        <p:nvSpPr>
          <p:cNvPr id="17" name="Text 15"/>
          <p:cNvSpPr txBox="1"/>
          <p:nvPr/>
        </p:nvSpPr>
        <p:spPr>
          <a:xfrm>
            <a:off x="6332220" y="2322576"/>
            <a:ext cx="2324862" cy="1005840"/>
          </a:xfrm>
          <a:prstGeom prst="rect">
            <a:avLst/>
          </a:prstGeom>
          <a:noFill/>
          <a:ln/>
        </p:spPr>
        <p:txBody>
          <a:bodyPr wrap="square" lIns="0" tIns="0" rIns="0" bIns="0" rtlCol="0" anchor="t"/>
          <a:lstStyle/>
          <a:p>
            <a:pPr indent="0" marL="0">
              <a:lnSpc>
                <a:spcPts val="1500"/>
              </a:lnSpc>
              <a:buNone/>
            </a:pPr>
            <a:r>
              <a:rPr lang="en-US" sz="1050" dirty="0">
                <a:solidFill>
                  <a:srgbClr val="1F1A1C"/>
                </a:solidFill>
                <a:latin typeface="Calibri" pitchFamily="34" charset="0"/>
                <a:ea typeface="Calibri" pitchFamily="34" charset="-122"/>
                <a:cs typeface="Calibri" pitchFamily="34" charset="-120"/>
              </a:rPr>
              <a:t>20年以上かけて築かれた生産者との関係と、承継対象18名全員の雇用・待遇をそのまま維持する。</a:t>
            </a:r>
            <a:endParaRPr lang="en-US" sz="1050" dirty="0"/>
          </a:p>
        </p:txBody>
      </p:sp>
      <p:sp>
        <p:nvSpPr>
          <p:cNvPr id="18" name="Shape 16"/>
          <p:cNvSpPr/>
          <p:nvPr/>
        </p:nvSpPr>
        <p:spPr>
          <a:xfrm>
            <a:off x="8967978" y="1901952"/>
            <a:ext cx="2654046" cy="1481328"/>
          </a:xfrm>
          <a:prstGeom prst="roundRect">
            <a:avLst>
              <a:gd name="adj" fmla="val 3086"/>
            </a:avLst>
          </a:prstGeom>
          <a:solidFill>
            <a:srgbClr val="F7F3F4"/>
          </a:solidFill>
          <a:ln w="9525">
            <a:solidFill>
              <a:srgbClr val="E4DADD"/>
            </a:solidFill>
            <a:prstDash val="solid"/>
          </a:ln>
        </p:spPr>
      </p:sp>
      <p:sp>
        <p:nvSpPr>
          <p:cNvPr id="19" name="Shape 17"/>
          <p:cNvSpPr/>
          <p:nvPr/>
        </p:nvSpPr>
        <p:spPr>
          <a:xfrm>
            <a:off x="8967978" y="1901952"/>
            <a:ext cx="2654046" cy="45720"/>
          </a:xfrm>
          <a:prstGeom prst="rect">
            <a:avLst/>
          </a:prstGeom>
          <a:solidFill>
            <a:srgbClr val="B58B2A"/>
          </a:solidFill>
          <a:ln/>
        </p:spPr>
      </p:sp>
      <p:sp>
        <p:nvSpPr>
          <p:cNvPr id="20" name="Text 18"/>
          <p:cNvSpPr txBox="1"/>
          <p:nvPr/>
        </p:nvSpPr>
        <p:spPr>
          <a:xfrm>
            <a:off x="9132570" y="2029968"/>
            <a:ext cx="2324862"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承継の前例をつくる</a:t>
            </a:r>
            <a:endParaRPr lang="en-US" sz="1150" dirty="0"/>
          </a:p>
        </p:txBody>
      </p:sp>
      <p:sp>
        <p:nvSpPr>
          <p:cNvPr id="21" name="Text 19"/>
          <p:cNvSpPr txBox="1"/>
          <p:nvPr/>
        </p:nvSpPr>
        <p:spPr>
          <a:xfrm>
            <a:off x="9132570" y="2322576"/>
            <a:ext cx="2324862" cy="1005840"/>
          </a:xfrm>
          <a:prstGeom prst="rect">
            <a:avLst/>
          </a:prstGeom>
          <a:noFill/>
          <a:ln/>
        </p:spPr>
        <p:txBody>
          <a:bodyPr wrap="square" lIns="0" tIns="0" rIns="0" bIns="0" rtlCol="0" anchor="t"/>
          <a:lstStyle/>
          <a:p>
            <a:pPr indent="0" marL="0">
              <a:lnSpc>
                <a:spcPts val="1500"/>
              </a:lnSpc>
              <a:buNone/>
            </a:pPr>
            <a:r>
              <a:rPr lang="en-US" sz="1050" dirty="0">
                <a:solidFill>
                  <a:srgbClr val="1F1A1C"/>
                </a:solidFill>
                <a:latin typeface="Calibri" pitchFamily="34" charset="0"/>
                <a:ea typeface="Calibri" pitchFamily="34" charset="-122"/>
                <a:cs typeface="Calibri" pitchFamily="34" charset="-120"/>
              </a:rPr>
              <a:t>後継者に悩む他の名店のオーナーが、安心して託せる前例となる。1件の買収を超えた業界への貢献。</a:t>
            </a:r>
            <a:endParaRPr lang="en-US" sz="1050" dirty="0"/>
          </a:p>
        </p:txBody>
      </p:sp>
      <p:sp>
        <p:nvSpPr>
          <p:cNvPr id="22" name="Text 20"/>
          <p:cNvSpPr txBox="1"/>
          <p:nvPr/>
        </p:nvSpPr>
        <p:spPr>
          <a:xfrm>
            <a:off x="566928" y="3566160"/>
            <a:ext cx="54864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成長の方向性</a:t>
            </a:r>
            <a:endParaRPr lang="en-US" sz="1350" dirty="0"/>
          </a:p>
        </p:txBody>
      </p:sp>
      <p:sp>
        <p:nvSpPr>
          <p:cNvPr id="23" name="Shape 21"/>
          <p:cNvSpPr/>
          <p:nvPr/>
        </p:nvSpPr>
        <p:spPr>
          <a:xfrm>
            <a:off x="566928" y="3840480"/>
            <a:ext cx="3587496" cy="1645920"/>
          </a:xfrm>
          <a:prstGeom prst="roundRect">
            <a:avLst>
              <a:gd name="adj" fmla="val 2778"/>
            </a:avLst>
          </a:prstGeom>
          <a:solidFill>
            <a:srgbClr val="FFFFFF"/>
          </a:solidFill>
          <a:ln w="9525">
            <a:solidFill>
              <a:srgbClr val="E4DADD"/>
            </a:solidFill>
            <a:prstDash val="solid"/>
          </a:ln>
        </p:spPr>
      </p:sp>
      <p:sp>
        <p:nvSpPr>
          <p:cNvPr id="24" name="Shape 22"/>
          <p:cNvSpPr/>
          <p:nvPr/>
        </p:nvSpPr>
        <p:spPr>
          <a:xfrm>
            <a:off x="566928" y="3840480"/>
            <a:ext cx="3587496" cy="402336"/>
          </a:xfrm>
          <a:prstGeom prst="rect">
            <a:avLst/>
          </a:prstGeom>
          <a:solidFill>
            <a:srgbClr val="6D2E46"/>
          </a:solidFill>
          <a:ln/>
        </p:spPr>
      </p:sp>
      <p:sp>
        <p:nvSpPr>
          <p:cNvPr id="25" name="Text 23"/>
          <p:cNvSpPr txBox="1"/>
          <p:nvPr/>
        </p:nvSpPr>
        <p:spPr>
          <a:xfrm>
            <a:off x="731520" y="3840480"/>
            <a:ext cx="325831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守る　</a:t>
            </a:r>
            <a:pPr indent="0" marL="0">
              <a:buNone/>
            </a:pPr>
            <a:r>
              <a:rPr lang="en-US" sz="1000" dirty="0">
                <a:solidFill>
                  <a:srgbClr val="FFFFFF"/>
                </a:solidFill>
                <a:latin typeface="Calibri" pitchFamily="34" charset="0"/>
                <a:ea typeface="Calibri" pitchFamily="34" charset="-122"/>
                <a:cs typeface="Calibri" pitchFamily="34" charset="-120"/>
              </a:rPr>
              <a:t>0〜3年</a:t>
            </a:r>
            <a:endParaRPr lang="en-US" sz="1400" dirty="0"/>
          </a:p>
        </p:txBody>
      </p:sp>
      <p:sp>
        <p:nvSpPr>
          <p:cNvPr id="26" name="Text 24"/>
          <p:cNvSpPr txBox="1"/>
          <p:nvPr/>
        </p:nvSpPr>
        <p:spPr>
          <a:xfrm>
            <a:off x="731520" y="4334256"/>
            <a:ext cx="3258312" cy="1097280"/>
          </a:xfrm>
          <a:prstGeom prst="rect">
            <a:avLst/>
          </a:prstGeom>
          <a:noFill/>
          <a:ln/>
        </p:spPr>
        <p:txBody>
          <a:bodyPr wrap="square" lIns="0" tIns="0" rIns="0" bIns="0" rtlCol="0" anchor="t"/>
          <a:lstStyle/>
          <a:p>
            <a:pPr marL="342900" indent="-342900">
              <a:lnSpc>
                <a:spcPts val="1550"/>
              </a:lnSpc>
              <a:spcAft>
                <a:spcPts val="400"/>
              </a:spcAft>
              <a:buSzPct val="100000"/>
              <a:buChar char="▪"/>
            </a:pPr>
            <a:r>
              <a:rPr lang="en-US" sz="1100" dirty="0">
                <a:solidFill>
                  <a:srgbClr val="1F1A1C"/>
                </a:solidFill>
                <a:latin typeface="Calibri" pitchFamily="34" charset="0"/>
                <a:ea typeface="Calibri" pitchFamily="34" charset="-122"/>
                <a:cs typeface="Calibri" pitchFamily="34" charset="-120"/>
              </a:rPr>
              <a:t>本店は現状維持（値上げ・増席・営業日増なし）</a:t>
            </a:r>
            <a:endParaRPr lang="en-US" sz="1100" dirty="0"/>
          </a:p>
          <a:p>
            <a:pPr marL="342900" indent="-342900">
              <a:lnSpc>
                <a:spcPts val="1550"/>
              </a:lnSpc>
              <a:spcAft>
                <a:spcPts val="400"/>
              </a:spcAft>
              <a:buSzPct val="100000"/>
              <a:buChar char="▪"/>
            </a:pPr>
            <a:r>
              <a:rPr lang="en-US" sz="1100" dirty="0">
                <a:solidFill>
                  <a:srgbClr val="1F1A1C"/>
                </a:solidFill>
                <a:latin typeface="Calibri" pitchFamily="34" charset="0"/>
                <a:ea typeface="Calibri" pitchFamily="34" charset="-122"/>
                <a:cs typeface="Calibri" pitchFamily="34" charset="-120"/>
              </a:rPr>
              <a:t>後継料理長の共同探索（岸田氏在任中）</a:t>
            </a:r>
            <a:endParaRPr lang="en-US" sz="1100" dirty="0"/>
          </a:p>
          <a:p>
            <a:pPr marL="342900" indent="-342900">
              <a:lnSpc>
                <a:spcPts val="1550"/>
              </a:lnSpc>
              <a:spcAft>
                <a:spcPts val="400"/>
              </a:spcAft>
              <a:buSzPct val="100000"/>
              <a:buChar char="▪"/>
            </a:pPr>
            <a:r>
              <a:rPr lang="en-US" sz="1100" dirty="0">
                <a:solidFill>
                  <a:srgbClr val="1F1A1C"/>
                </a:solidFill>
                <a:latin typeface="Calibri" pitchFamily="34" charset="0"/>
                <a:ea typeface="Calibri" pitchFamily="34" charset="-122"/>
                <a:cs typeface="Calibri" pitchFamily="34" charset="-120"/>
              </a:rPr>
              <a:t>内部統制・勤怠管理の整備</a:t>
            </a:r>
            <a:endParaRPr lang="en-US" sz="1100" dirty="0"/>
          </a:p>
        </p:txBody>
      </p:sp>
      <p:sp>
        <p:nvSpPr>
          <p:cNvPr id="27" name="Shape 25"/>
          <p:cNvSpPr/>
          <p:nvPr/>
        </p:nvSpPr>
        <p:spPr>
          <a:xfrm>
            <a:off x="4300728" y="3840480"/>
            <a:ext cx="3587496" cy="1645920"/>
          </a:xfrm>
          <a:prstGeom prst="roundRect">
            <a:avLst>
              <a:gd name="adj" fmla="val 2778"/>
            </a:avLst>
          </a:prstGeom>
          <a:solidFill>
            <a:srgbClr val="FFFFFF"/>
          </a:solidFill>
          <a:ln w="9525">
            <a:solidFill>
              <a:srgbClr val="E4DADD"/>
            </a:solidFill>
            <a:prstDash val="solid"/>
          </a:ln>
        </p:spPr>
      </p:sp>
      <p:sp>
        <p:nvSpPr>
          <p:cNvPr id="28" name="Shape 26"/>
          <p:cNvSpPr/>
          <p:nvPr/>
        </p:nvSpPr>
        <p:spPr>
          <a:xfrm>
            <a:off x="4300728" y="3840480"/>
            <a:ext cx="3587496" cy="402336"/>
          </a:xfrm>
          <a:prstGeom prst="rect">
            <a:avLst/>
          </a:prstGeom>
          <a:solidFill>
            <a:srgbClr val="A26769"/>
          </a:solidFill>
          <a:ln/>
        </p:spPr>
      </p:sp>
      <p:sp>
        <p:nvSpPr>
          <p:cNvPr id="29" name="Text 27"/>
          <p:cNvSpPr txBox="1"/>
          <p:nvPr/>
        </p:nvSpPr>
        <p:spPr>
          <a:xfrm>
            <a:off x="4465320" y="3840480"/>
            <a:ext cx="325831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広げる　</a:t>
            </a:r>
            <a:pPr indent="0" marL="0">
              <a:buNone/>
            </a:pPr>
            <a:r>
              <a:rPr lang="en-US" sz="1000" dirty="0">
                <a:solidFill>
                  <a:srgbClr val="FFFFFF"/>
                </a:solidFill>
                <a:latin typeface="Calibri" pitchFamily="34" charset="0"/>
                <a:ea typeface="Calibri" pitchFamily="34" charset="-122"/>
                <a:cs typeface="Calibri" pitchFamily="34" charset="-120"/>
              </a:rPr>
              <a:t>3〜5年</a:t>
            </a:r>
            <a:endParaRPr lang="en-US" sz="1400" dirty="0"/>
          </a:p>
        </p:txBody>
      </p:sp>
      <p:sp>
        <p:nvSpPr>
          <p:cNvPr id="30" name="Text 28"/>
          <p:cNvSpPr txBox="1"/>
          <p:nvPr/>
        </p:nvSpPr>
        <p:spPr>
          <a:xfrm>
            <a:off x="4465320" y="4334256"/>
            <a:ext cx="3258312" cy="1097280"/>
          </a:xfrm>
          <a:prstGeom prst="rect">
            <a:avLst/>
          </a:prstGeom>
          <a:noFill/>
          <a:ln/>
        </p:spPr>
        <p:txBody>
          <a:bodyPr wrap="square" lIns="0" tIns="0" rIns="0" bIns="0" rtlCol="0" anchor="t"/>
          <a:lstStyle/>
          <a:p>
            <a:pPr marL="342900" indent="-342900">
              <a:lnSpc>
                <a:spcPts val="1550"/>
              </a:lnSpc>
              <a:spcAft>
                <a:spcPts val="400"/>
              </a:spcAft>
              <a:buSzPct val="100000"/>
              <a:buChar char="▪"/>
            </a:pPr>
            <a:r>
              <a:rPr lang="en-US" sz="1100" dirty="0">
                <a:solidFill>
                  <a:srgbClr val="1F1A1C"/>
                </a:solidFill>
                <a:latin typeface="Calibri" pitchFamily="34" charset="0"/>
                <a:ea typeface="Calibri" pitchFamily="34" charset="-122"/>
                <a:cs typeface="Calibri" pitchFamily="34" charset="-120"/>
              </a:rPr>
              <a:t>チーズケーキの専用製造拠点とEC（直近抽選：応募約470名に枠318個）</a:t>
            </a:r>
            <a:endParaRPr lang="en-US" sz="1100" dirty="0"/>
          </a:p>
          <a:p>
            <a:pPr marL="342900" indent="-342900">
              <a:lnSpc>
                <a:spcPts val="1550"/>
              </a:lnSpc>
              <a:spcAft>
                <a:spcPts val="400"/>
              </a:spcAft>
              <a:buSzPct val="100000"/>
              <a:buChar char="▪"/>
            </a:pPr>
            <a:r>
              <a:rPr lang="en-US" sz="1100" dirty="0">
                <a:solidFill>
                  <a:srgbClr val="1F1A1C"/>
                </a:solidFill>
                <a:latin typeface="Calibri" pitchFamily="34" charset="0"/>
                <a:ea typeface="Calibri" pitchFamily="34" charset="-122"/>
                <a:cs typeface="Calibri" pitchFamily="34" charset="-120"/>
              </a:rPr>
              <a:t>一品特化業態（岸田氏も「再現性が高い」と回答）</a:t>
            </a:r>
            <a:endParaRPr lang="en-US" sz="1100" dirty="0"/>
          </a:p>
        </p:txBody>
      </p:sp>
      <p:sp>
        <p:nvSpPr>
          <p:cNvPr id="31" name="Shape 29"/>
          <p:cNvSpPr/>
          <p:nvPr/>
        </p:nvSpPr>
        <p:spPr>
          <a:xfrm>
            <a:off x="8034528" y="3840480"/>
            <a:ext cx="3587496" cy="1645920"/>
          </a:xfrm>
          <a:prstGeom prst="roundRect">
            <a:avLst>
              <a:gd name="adj" fmla="val 2778"/>
            </a:avLst>
          </a:prstGeom>
          <a:solidFill>
            <a:srgbClr val="FFFFFF"/>
          </a:solidFill>
          <a:ln w="9525">
            <a:solidFill>
              <a:srgbClr val="E4DADD"/>
            </a:solidFill>
            <a:prstDash val="solid"/>
          </a:ln>
        </p:spPr>
      </p:sp>
      <p:sp>
        <p:nvSpPr>
          <p:cNvPr id="32" name="Shape 30"/>
          <p:cNvSpPr/>
          <p:nvPr/>
        </p:nvSpPr>
        <p:spPr>
          <a:xfrm>
            <a:off x="8034528" y="3840480"/>
            <a:ext cx="3587496" cy="402336"/>
          </a:xfrm>
          <a:prstGeom prst="rect">
            <a:avLst/>
          </a:prstGeom>
          <a:solidFill>
            <a:srgbClr val="B58B2A"/>
          </a:solidFill>
          <a:ln/>
        </p:spPr>
      </p:sp>
      <p:sp>
        <p:nvSpPr>
          <p:cNvPr id="33" name="Text 31"/>
          <p:cNvSpPr txBox="1"/>
          <p:nvPr/>
        </p:nvSpPr>
        <p:spPr>
          <a:xfrm>
            <a:off x="8199120" y="3840480"/>
            <a:ext cx="3258312" cy="40233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つなぐ　</a:t>
            </a:r>
            <a:pPr indent="0" marL="0">
              <a:buNone/>
            </a:pPr>
            <a:r>
              <a:rPr lang="en-US" sz="1000" dirty="0">
                <a:solidFill>
                  <a:srgbClr val="FFFFFF"/>
                </a:solidFill>
                <a:latin typeface="Calibri" pitchFamily="34" charset="0"/>
                <a:ea typeface="Calibri" pitchFamily="34" charset="-122"/>
                <a:cs typeface="Calibri" pitchFamily="34" charset="-120"/>
              </a:rPr>
              <a:t>5年〜</a:t>
            </a:r>
            <a:endParaRPr lang="en-US" sz="1400" dirty="0"/>
          </a:p>
        </p:txBody>
      </p:sp>
      <p:sp>
        <p:nvSpPr>
          <p:cNvPr id="34" name="Text 32"/>
          <p:cNvSpPr txBox="1"/>
          <p:nvPr/>
        </p:nvSpPr>
        <p:spPr>
          <a:xfrm>
            <a:off x="8199120" y="4334256"/>
            <a:ext cx="3258312" cy="1097280"/>
          </a:xfrm>
          <a:prstGeom prst="rect">
            <a:avLst/>
          </a:prstGeom>
          <a:noFill/>
          <a:ln/>
        </p:spPr>
        <p:txBody>
          <a:bodyPr wrap="square" lIns="0" tIns="0" rIns="0" bIns="0" rtlCol="0" anchor="t"/>
          <a:lstStyle/>
          <a:p>
            <a:pPr marL="342900" indent="-342900">
              <a:lnSpc>
                <a:spcPts val="1550"/>
              </a:lnSpc>
              <a:spcAft>
                <a:spcPts val="400"/>
              </a:spcAft>
              <a:buSzPct val="100000"/>
              <a:buChar char="▪"/>
            </a:pPr>
            <a:r>
              <a:rPr lang="en-US" sz="1100" dirty="0">
                <a:solidFill>
                  <a:srgbClr val="1F1A1C"/>
                </a:solidFill>
                <a:latin typeface="Calibri" pitchFamily="34" charset="0"/>
                <a:ea typeface="Calibri" pitchFamily="34" charset="-122"/>
                <a:cs typeface="Calibri" pitchFamily="34" charset="-120"/>
              </a:rPr>
              <a:t>グランメゾン承継プラットフォーム（アピシウス＋カンテサンス＋次の名店）</a:t>
            </a:r>
            <a:endParaRPr lang="en-US" sz="1100" dirty="0"/>
          </a:p>
          <a:p>
            <a:pPr marL="342900" indent="-342900">
              <a:lnSpc>
                <a:spcPts val="1550"/>
              </a:lnSpc>
              <a:spcAft>
                <a:spcPts val="400"/>
              </a:spcAft>
              <a:buSzPct val="100000"/>
              <a:buChar char="▪"/>
            </a:pPr>
            <a:r>
              <a:rPr lang="en-US" sz="1100" dirty="0">
                <a:solidFill>
                  <a:srgbClr val="1F1A1C"/>
                </a:solidFill>
                <a:latin typeface="Calibri" pitchFamily="34" charset="0"/>
                <a:ea typeface="Calibri" pitchFamily="34" charset="-122"/>
                <a:cs typeface="Calibri" pitchFamily="34" charset="-120"/>
              </a:rPr>
              <a:t>オーベルジュ構想（ワイナリー隣接＋温泉）</a:t>
            </a:r>
            <a:endParaRPr lang="en-US" sz="1100" dirty="0"/>
          </a:p>
        </p:txBody>
      </p:sp>
      <p:sp>
        <p:nvSpPr>
          <p:cNvPr id="35" name="Shape 33"/>
          <p:cNvSpPr/>
          <p:nvPr/>
        </p:nvSpPr>
        <p:spPr>
          <a:xfrm>
            <a:off x="566928" y="5650992"/>
            <a:ext cx="11055096" cy="566928"/>
          </a:xfrm>
          <a:prstGeom prst="roundRect">
            <a:avLst>
              <a:gd name="adj" fmla="val 6452"/>
            </a:avLst>
          </a:prstGeom>
          <a:solidFill>
            <a:srgbClr val="2B1520"/>
          </a:solidFill>
          <a:ln/>
        </p:spPr>
      </p:sp>
      <p:sp>
        <p:nvSpPr>
          <p:cNvPr id="36" name="Text 34"/>
          <p:cNvSpPr txBox="1"/>
          <p:nvPr/>
        </p:nvSpPr>
        <p:spPr>
          <a:xfrm>
            <a:off x="822960" y="5650992"/>
            <a:ext cx="10543032" cy="56692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成長施策はすべてアップサイド。</a:t>
            </a:r>
            <a:pPr indent="0" marL="0">
              <a:buNone/>
            </a:pPr>
            <a:r>
              <a:rPr lang="en-US" sz="1150" dirty="0">
                <a:solidFill>
                  <a:srgbClr val="E8D6DB"/>
                </a:solidFill>
                <a:latin typeface="Calibri" pitchFamily="34" charset="0"/>
                <a:ea typeface="Calibri" pitchFamily="34" charset="-122"/>
                <a:cs typeface="Calibri" pitchFamily="34" charset="-120"/>
              </a:rPr>
              <a:t>価格にも返済計画にも1円も織り込んでいない。本店の価値を守ることが、最大の価値保全である。</a:t>
            </a:r>
            <a:endParaRPr lang="en-US" sz="1150" dirty="0"/>
          </a:p>
        </p:txBody>
      </p:sp>
      <p:sp>
        <p:nvSpPr>
          <p:cNvPr id="37" name="Text 35"/>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38" name="Text 36"/>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APPROACH</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4つの評価手法と2つのクロスチェックで判断する</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年買法だけでは「高い」、マルチプルだけでは「安い」という逆の結論が出る。両者が割れる理由そのものが、この案件の性質を説明している。</a:t>
            </a:r>
            <a:endParaRPr lang="en-US" sz="1250" dirty="0"/>
          </a:p>
        </p:txBody>
      </p:sp>
      <p:sp>
        <p:nvSpPr>
          <p:cNvPr id="5" name="Shape 3"/>
          <p:cNvSpPr/>
          <p:nvPr/>
        </p:nvSpPr>
        <p:spPr>
          <a:xfrm>
            <a:off x="566928" y="1828800"/>
            <a:ext cx="3520440" cy="1691640"/>
          </a:xfrm>
          <a:prstGeom prst="roundRect">
            <a:avLst>
              <a:gd name="adj" fmla="val 2703"/>
            </a:avLst>
          </a:prstGeom>
          <a:solidFill>
            <a:srgbClr val="F7F3F4"/>
          </a:solidFill>
          <a:ln w="9525">
            <a:solidFill>
              <a:srgbClr val="E4DADD"/>
            </a:solidFill>
            <a:prstDash val="solid"/>
          </a:ln>
        </p:spPr>
      </p:sp>
      <p:sp>
        <p:nvSpPr>
          <p:cNvPr id="6" name="Text 4"/>
          <p:cNvSpPr txBox="1"/>
          <p:nvPr/>
        </p:nvSpPr>
        <p:spPr>
          <a:xfrm>
            <a:off x="786384" y="2029968"/>
            <a:ext cx="2194560" cy="237744"/>
          </a:xfrm>
          <a:prstGeom prst="rect">
            <a:avLst/>
          </a:prstGeom>
          <a:noFill/>
          <a:ln/>
        </p:spPr>
        <p:txBody>
          <a:bodyPr wrap="square" lIns="0" tIns="0" rIns="0" bIns="0" rtlCol="0" anchor="ctr"/>
          <a:lstStyle/>
          <a:p>
            <a:pPr indent="0" marL="0">
              <a:buNone/>
            </a:pPr>
            <a:r>
              <a:rPr lang="en-US" sz="1000" b="1" spc="100" kern="0" dirty="0">
                <a:solidFill>
                  <a:srgbClr val="A26769"/>
                </a:solidFill>
                <a:latin typeface="Calibri" pitchFamily="34" charset="0"/>
                <a:ea typeface="Calibri" pitchFamily="34" charset="-122"/>
                <a:cs typeface="Calibri" pitchFamily="34" charset="-120"/>
              </a:rPr>
              <a:t>検証①</a:t>
            </a:r>
            <a:endParaRPr lang="en-US" sz="1000" dirty="0"/>
          </a:p>
        </p:txBody>
      </p:sp>
      <p:sp>
        <p:nvSpPr>
          <p:cNvPr id="7" name="Text 5"/>
          <p:cNvSpPr txBox="1"/>
          <p:nvPr/>
        </p:nvSpPr>
        <p:spPr>
          <a:xfrm>
            <a:off x="786384" y="2304288"/>
            <a:ext cx="3108960" cy="329184"/>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マルチプル法</a:t>
            </a:r>
            <a:endParaRPr lang="en-US" sz="1600" dirty="0"/>
          </a:p>
        </p:txBody>
      </p:sp>
      <p:sp>
        <p:nvSpPr>
          <p:cNvPr id="8" name="Text 6"/>
          <p:cNvSpPr txBox="1"/>
          <p:nvPr/>
        </p:nvSpPr>
        <p:spPr>
          <a:xfrm>
            <a:off x="786384" y="2706624"/>
            <a:ext cx="3108960" cy="548640"/>
          </a:xfrm>
          <a:prstGeom prst="rect">
            <a:avLst/>
          </a:prstGeom>
          <a:noFill/>
          <a:ln/>
        </p:spPr>
        <p:txBody>
          <a:bodyPr wrap="square" lIns="0" tIns="0" rIns="0" bIns="0" rtlCol="0" anchor="ctr"/>
          <a:lstStyle/>
          <a:p>
            <a:pPr indent="0" marL="0">
              <a:lnSpc>
                <a:spcPts val="1500"/>
              </a:lnSpc>
              <a:buNone/>
            </a:pPr>
            <a:r>
              <a:rPr lang="en-US" sz="1050" dirty="0">
                <a:solidFill>
                  <a:srgbClr val="6E6368"/>
                </a:solidFill>
                <a:latin typeface="Calibri" pitchFamily="34" charset="0"/>
                <a:ea typeface="Calibri" pitchFamily="34" charset="-122"/>
                <a:cs typeface="Calibri" pitchFamily="34" charset="-120"/>
              </a:rPr>
              <a:t>EV/EBITDA・EV/営業利益。セクター水準との比較</a:t>
            </a:r>
            <a:endParaRPr lang="en-US" sz="1050" dirty="0"/>
          </a:p>
        </p:txBody>
      </p:sp>
      <p:sp>
        <p:nvSpPr>
          <p:cNvPr id="9" name="Text 7"/>
          <p:cNvSpPr txBox="1"/>
          <p:nvPr/>
        </p:nvSpPr>
        <p:spPr>
          <a:xfrm>
            <a:off x="3310128" y="3145536"/>
            <a:ext cx="548640" cy="219456"/>
          </a:xfrm>
          <a:prstGeom prst="rect">
            <a:avLst/>
          </a:prstGeom>
          <a:noFill/>
          <a:ln/>
        </p:spPr>
        <p:txBody>
          <a:bodyPr wrap="square" lIns="0" tIns="0" rIns="0" bIns="0" rtlCol="0" anchor="ctr"/>
          <a:lstStyle/>
          <a:p>
            <a:pPr algn="r" indent="0" marL="0">
              <a:buNone/>
            </a:pPr>
            <a:r>
              <a:rPr lang="en-US" sz="900" dirty="0">
                <a:solidFill>
                  <a:srgbClr val="A26769"/>
                </a:solidFill>
                <a:latin typeface="Calibri" pitchFamily="34" charset="0"/>
                <a:ea typeface="Calibri" pitchFamily="34" charset="-122"/>
                <a:cs typeface="Calibri" pitchFamily="34" charset="-120"/>
              </a:rPr>
              <a:t>p.14</a:t>
            </a:r>
            <a:endParaRPr lang="en-US" sz="900" dirty="0"/>
          </a:p>
        </p:txBody>
      </p:sp>
      <p:sp>
        <p:nvSpPr>
          <p:cNvPr id="10" name="Shape 8"/>
          <p:cNvSpPr/>
          <p:nvPr/>
        </p:nvSpPr>
        <p:spPr>
          <a:xfrm>
            <a:off x="4297680" y="1828800"/>
            <a:ext cx="3520440" cy="1691640"/>
          </a:xfrm>
          <a:prstGeom prst="roundRect">
            <a:avLst>
              <a:gd name="adj" fmla="val 2703"/>
            </a:avLst>
          </a:prstGeom>
          <a:solidFill>
            <a:srgbClr val="F7F3F4"/>
          </a:solidFill>
          <a:ln w="9525">
            <a:solidFill>
              <a:srgbClr val="E4DADD"/>
            </a:solidFill>
            <a:prstDash val="solid"/>
          </a:ln>
        </p:spPr>
      </p:sp>
      <p:sp>
        <p:nvSpPr>
          <p:cNvPr id="11" name="Text 9"/>
          <p:cNvSpPr txBox="1"/>
          <p:nvPr/>
        </p:nvSpPr>
        <p:spPr>
          <a:xfrm>
            <a:off x="4517136" y="2029968"/>
            <a:ext cx="2194560" cy="237744"/>
          </a:xfrm>
          <a:prstGeom prst="rect">
            <a:avLst/>
          </a:prstGeom>
          <a:noFill/>
          <a:ln/>
        </p:spPr>
        <p:txBody>
          <a:bodyPr wrap="square" lIns="0" tIns="0" rIns="0" bIns="0" rtlCol="0" anchor="ctr"/>
          <a:lstStyle/>
          <a:p>
            <a:pPr indent="0" marL="0">
              <a:buNone/>
            </a:pPr>
            <a:r>
              <a:rPr lang="en-US" sz="1000" b="1" spc="100" kern="0" dirty="0">
                <a:solidFill>
                  <a:srgbClr val="A26769"/>
                </a:solidFill>
                <a:latin typeface="Calibri" pitchFamily="34" charset="0"/>
                <a:ea typeface="Calibri" pitchFamily="34" charset="-122"/>
                <a:cs typeface="Calibri" pitchFamily="34" charset="-120"/>
              </a:rPr>
              <a:t>検証②</a:t>
            </a:r>
            <a:endParaRPr lang="en-US" sz="1000" dirty="0"/>
          </a:p>
        </p:txBody>
      </p:sp>
      <p:sp>
        <p:nvSpPr>
          <p:cNvPr id="12" name="Text 10"/>
          <p:cNvSpPr txBox="1"/>
          <p:nvPr/>
        </p:nvSpPr>
        <p:spPr>
          <a:xfrm>
            <a:off x="4517136" y="2304288"/>
            <a:ext cx="3108960" cy="329184"/>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年買法</a:t>
            </a:r>
            <a:endParaRPr lang="en-US" sz="1600" dirty="0"/>
          </a:p>
        </p:txBody>
      </p:sp>
      <p:sp>
        <p:nvSpPr>
          <p:cNvPr id="13" name="Text 11"/>
          <p:cNvSpPr txBox="1"/>
          <p:nvPr/>
        </p:nvSpPr>
        <p:spPr>
          <a:xfrm>
            <a:off x="4517136" y="2706624"/>
            <a:ext cx="3108960" cy="548640"/>
          </a:xfrm>
          <a:prstGeom prst="rect">
            <a:avLst/>
          </a:prstGeom>
          <a:noFill/>
          <a:ln/>
        </p:spPr>
        <p:txBody>
          <a:bodyPr wrap="square" lIns="0" tIns="0" rIns="0" bIns="0" rtlCol="0" anchor="ctr"/>
          <a:lstStyle/>
          <a:p>
            <a:pPr indent="0" marL="0">
              <a:lnSpc>
                <a:spcPts val="1500"/>
              </a:lnSpc>
              <a:buNone/>
            </a:pPr>
            <a:r>
              <a:rPr lang="en-US" sz="1050" dirty="0">
                <a:solidFill>
                  <a:srgbClr val="6E6368"/>
                </a:solidFill>
                <a:latin typeface="Calibri" pitchFamily="34" charset="0"/>
                <a:ea typeface="Calibri" pitchFamily="34" charset="-122"/>
                <a:cs typeface="Calibri" pitchFamily="34" charset="-120"/>
              </a:rPr>
              <a:t>純資産＋営業利益n年。中小M&amp;A実務の慣行</a:t>
            </a:r>
            <a:endParaRPr lang="en-US" sz="1050" dirty="0"/>
          </a:p>
        </p:txBody>
      </p:sp>
      <p:sp>
        <p:nvSpPr>
          <p:cNvPr id="14" name="Text 12"/>
          <p:cNvSpPr txBox="1"/>
          <p:nvPr/>
        </p:nvSpPr>
        <p:spPr>
          <a:xfrm>
            <a:off x="7040880" y="3145536"/>
            <a:ext cx="548640" cy="219456"/>
          </a:xfrm>
          <a:prstGeom prst="rect">
            <a:avLst/>
          </a:prstGeom>
          <a:noFill/>
          <a:ln/>
        </p:spPr>
        <p:txBody>
          <a:bodyPr wrap="square" lIns="0" tIns="0" rIns="0" bIns="0" rtlCol="0" anchor="ctr"/>
          <a:lstStyle/>
          <a:p>
            <a:pPr algn="r" indent="0" marL="0">
              <a:buNone/>
            </a:pPr>
            <a:r>
              <a:rPr lang="en-US" sz="900" dirty="0">
                <a:solidFill>
                  <a:srgbClr val="A26769"/>
                </a:solidFill>
                <a:latin typeface="Calibri" pitchFamily="34" charset="0"/>
                <a:ea typeface="Calibri" pitchFamily="34" charset="-122"/>
                <a:cs typeface="Calibri" pitchFamily="34" charset="-120"/>
              </a:rPr>
              <a:t>p.15</a:t>
            </a:r>
            <a:endParaRPr lang="en-US" sz="900" dirty="0"/>
          </a:p>
        </p:txBody>
      </p:sp>
      <p:sp>
        <p:nvSpPr>
          <p:cNvPr id="15" name="Shape 13"/>
          <p:cNvSpPr/>
          <p:nvPr/>
        </p:nvSpPr>
        <p:spPr>
          <a:xfrm>
            <a:off x="8028432" y="1828800"/>
            <a:ext cx="3520440" cy="1691640"/>
          </a:xfrm>
          <a:prstGeom prst="roundRect">
            <a:avLst>
              <a:gd name="adj" fmla="val 2703"/>
            </a:avLst>
          </a:prstGeom>
          <a:solidFill>
            <a:srgbClr val="F7F3F4"/>
          </a:solidFill>
          <a:ln w="9525">
            <a:solidFill>
              <a:srgbClr val="E4DADD"/>
            </a:solidFill>
            <a:prstDash val="solid"/>
          </a:ln>
        </p:spPr>
      </p:sp>
      <p:sp>
        <p:nvSpPr>
          <p:cNvPr id="16" name="Text 14"/>
          <p:cNvSpPr txBox="1"/>
          <p:nvPr/>
        </p:nvSpPr>
        <p:spPr>
          <a:xfrm>
            <a:off x="8247888" y="2029968"/>
            <a:ext cx="2194560" cy="237744"/>
          </a:xfrm>
          <a:prstGeom prst="rect">
            <a:avLst/>
          </a:prstGeom>
          <a:noFill/>
          <a:ln/>
        </p:spPr>
        <p:txBody>
          <a:bodyPr wrap="square" lIns="0" tIns="0" rIns="0" bIns="0" rtlCol="0" anchor="ctr"/>
          <a:lstStyle/>
          <a:p>
            <a:pPr indent="0" marL="0">
              <a:buNone/>
            </a:pPr>
            <a:r>
              <a:rPr lang="en-US" sz="1000" b="1" spc="100" kern="0" dirty="0">
                <a:solidFill>
                  <a:srgbClr val="A26769"/>
                </a:solidFill>
                <a:latin typeface="Calibri" pitchFamily="34" charset="0"/>
                <a:ea typeface="Calibri" pitchFamily="34" charset="-122"/>
                <a:cs typeface="Calibri" pitchFamily="34" charset="-120"/>
              </a:rPr>
              <a:t>検証③</a:t>
            </a:r>
            <a:endParaRPr lang="en-US" sz="1000" dirty="0"/>
          </a:p>
        </p:txBody>
      </p:sp>
      <p:sp>
        <p:nvSpPr>
          <p:cNvPr id="17" name="Text 15"/>
          <p:cNvSpPr txBox="1"/>
          <p:nvPr/>
        </p:nvSpPr>
        <p:spPr>
          <a:xfrm>
            <a:off x="8247888" y="2304288"/>
            <a:ext cx="3108960" cy="329184"/>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DCF（確率分解）</a:t>
            </a:r>
            <a:endParaRPr lang="en-US" sz="1600" dirty="0"/>
          </a:p>
        </p:txBody>
      </p:sp>
      <p:sp>
        <p:nvSpPr>
          <p:cNvPr id="18" name="Text 16"/>
          <p:cNvSpPr txBox="1"/>
          <p:nvPr/>
        </p:nvSpPr>
        <p:spPr>
          <a:xfrm>
            <a:off x="8247888" y="2706624"/>
            <a:ext cx="3108960" cy="548640"/>
          </a:xfrm>
          <a:prstGeom prst="rect">
            <a:avLst/>
          </a:prstGeom>
          <a:noFill/>
          <a:ln/>
        </p:spPr>
        <p:txBody>
          <a:bodyPr wrap="square" lIns="0" tIns="0" rIns="0" bIns="0" rtlCol="0" anchor="ctr"/>
          <a:lstStyle/>
          <a:p>
            <a:pPr indent="0" marL="0">
              <a:lnSpc>
                <a:spcPts val="1500"/>
              </a:lnSpc>
              <a:buNone/>
            </a:pPr>
            <a:r>
              <a:rPr lang="en-US" sz="1050" dirty="0">
                <a:solidFill>
                  <a:srgbClr val="6E6368"/>
                </a:solidFill>
                <a:latin typeface="Calibri" pitchFamily="34" charset="0"/>
                <a:ea typeface="Calibri" pitchFamily="34" charset="-122"/>
                <a:cs typeface="Calibri" pitchFamily="34" charset="-120"/>
              </a:rPr>
              <a:t>3シナリオ×3割引率。本資料の中心的手法</a:t>
            </a:r>
            <a:endParaRPr lang="en-US" sz="1050" dirty="0"/>
          </a:p>
        </p:txBody>
      </p:sp>
      <p:sp>
        <p:nvSpPr>
          <p:cNvPr id="19" name="Text 17"/>
          <p:cNvSpPr txBox="1"/>
          <p:nvPr/>
        </p:nvSpPr>
        <p:spPr>
          <a:xfrm>
            <a:off x="10771632" y="3145536"/>
            <a:ext cx="548640" cy="219456"/>
          </a:xfrm>
          <a:prstGeom prst="rect">
            <a:avLst/>
          </a:prstGeom>
          <a:noFill/>
          <a:ln/>
        </p:spPr>
        <p:txBody>
          <a:bodyPr wrap="square" lIns="0" tIns="0" rIns="0" bIns="0" rtlCol="0" anchor="ctr"/>
          <a:lstStyle/>
          <a:p>
            <a:pPr algn="r" indent="0" marL="0">
              <a:buNone/>
            </a:pPr>
            <a:r>
              <a:rPr lang="en-US" sz="900" dirty="0">
                <a:solidFill>
                  <a:srgbClr val="A26769"/>
                </a:solidFill>
                <a:latin typeface="Calibri" pitchFamily="34" charset="0"/>
                <a:ea typeface="Calibri" pitchFamily="34" charset="-122"/>
                <a:cs typeface="Calibri" pitchFamily="34" charset="-120"/>
              </a:rPr>
              <a:t>p.16</a:t>
            </a:r>
            <a:endParaRPr lang="en-US" sz="900" dirty="0"/>
          </a:p>
        </p:txBody>
      </p:sp>
      <p:sp>
        <p:nvSpPr>
          <p:cNvPr id="20" name="Shape 18"/>
          <p:cNvSpPr/>
          <p:nvPr/>
        </p:nvSpPr>
        <p:spPr>
          <a:xfrm>
            <a:off x="566928" y="3703320"/>
            <a:ext cx="3520440" cy="1691640"/>
          </a:xfrm>
          <a:prstGeom prst="roundRect">
            <a:avLst>
              <a:gd name="adj" fmla="val 2703"/>
            </a:avLst>
          </a:prstGeom>
          <a:solidFill>
            <a:srgbClr val="F7F3F4"/>
          </a:solidFill>
          <a:ln w="9525">
            <a:solidFill>
              <a:srgbClr val="E4DADD"/>
            </a:solidFill>
            <a:prstDash val="solid"/>
          </a:ln>
        </p:spPr>
      </p:sp>
      <p:sp>
        <p:nvSpPr>
          <p:cNvPr id="21" name="Text 19"/>
          <p:cNvSpPr txBox="1"/>
          <p:nvPr/>
        </p:nvSpPr>
        <p:spPr>
          <a:xfrm>
            <a:off x="786384" y="3904488"/>
            <a:ext cx="2194560" cy="237744"/>
          </a:xfrm>
          <a:prstGeom prst="rect">
            <a:avLst/>
          </a:prstGeom>
          <a:noFill/>
          <a:ln/>
        </p:spPr>
        <p:txBody>
          <a:bodyPr wrap="square" lIns="0" tIns="0" rIns="0" bIns="0" rtlCol="0" anchor="ctr"/>
          <a:lstStyle/>
          <a:p>
            <a:pPr indent="0" marL="0">
              <a:buNone/>
            </a:pPr>
            <a:r>
              <a:rPr lang="en-US" sz="1000" b="1" spc="100" kern="0" dirty="0">
                <a:solidFill>
                  <a:srgbClr val="A26769"/>
                </a:solidFill>
                <a:latin typeface="Calibri" pitchFamily="34" charset="0"/>
                <a:ea typeface="Calibri" pitchFamily="34" charset="-122"/>
                <a:cs typeface="Calibri" pitchFamily="34" charset="-120"/>
              </a:rPr>
              <a:t>検証④</a:t>
            </a:r>
            <a:endParaRPr lang="en-US" sz="1000" dirty="0"/>
          </a:p>
        </p:txBody>
      </p:sp>
      <p:sp>
        <p:nvSpPr>
          <p:cNvPr id="22" name="Text 20"/>
          <p:cNvSpPr txBox="1"/>
          <p:nvPr/>
        </p:nvSpPr>
        <p:spPr>
          <a:xfrm>
            <a:off x="786384" y="4178808"/>
            <a:ext cx="3108960" cy="329184"/>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類似取引事例</a:t>
            </a:r>
            <a:endParaRPr lang="en-US" sz="1600" dirty="0"/>
          </a:p>
        </p:txBody>
      </p:sp>
      <p:sp>
        <p:nvSpPr>
          <p:cNvPr id="23" name="Text 21"/>
          <p:cNvSpPr txBox="1"/>
          <p:nvPr/>
        </p:nvSpPr>
        <p:spPr>
          <a:xfrm>
            <a:off x="786384" y="4581144"/>
            <a:ext cx="3108960" cy="548640"/>
          </a:xfrm>
          <a:prstGeom prst="rect">
            <a:avLst/>
          </a:prstGeom>
          <a:noFill/>
          <a:ln/>
        </p:spPr>
        <p:txBody>
          <a:bodyPr wrap="square" lIns="0" tIns="0" rIns="0" bIns="0" rtlCol="0" anchor="ctr"/>
          <a:lstStyle/>
          <a:p>
            <a:pPr indent="0" marL="0">
              <a:lnSpc>
                <a:spcPts val="1500"/>
              </a:lnSpc>
              <a:buNone/>
            </a:pPr>
            <a:r>
              <a:rPr lang="en-US" sz="1050" dirty="0">
                <a:solidFill>
                  <a:srgbClr val="6E6368"/>
                </a:solidFill>
                <a:latin typeface="Calibri" pitchFamily="34" charset="0"/>
                <a:ea typeface="Calibri" pitchFamily="34" charset="-122"/>
                <a:cs typeface="Calibri" pitchFamily="34" charset="-120"/>
              </a:rPr>
              <a:t>国内高級レストランの譲渡事例との比較</a:t>
            </a:r>
            <a:endParaRPr lang="en-US" sz="1050" dirty="0"/>
          </a:p>
        </p:txBody>
      </p:sp>
      <p:sp>
        <p:nvSpPr>
          <p:cNvPr id="24" name="Text 22"/>
          <p:cNvSpPr txBox="1"/>
          <p:nvPr/>
        </p:nvSpPr>
        <p:spPr>
          <a:xfrm>
            <a:off x="3310128" y="5020056"/>
            <a:ext cx="548640" cy="219456"/>
          </a:xfrm>
          <a:prstGeom prst="rect">
            <a:avLst/>
          </a:prstGeom>
          <a:noFill/>
          <a:ln/>
        </p:spPr>
        <p:txBody>
          <a:bodyPr wrap="square" lIns="0" tIns="0" rIns="0" bIns="0" rtlCol="0" anchor="ctr"/>
          <a:lstStyle/>
          <a:p>
            <a:pPr algn="r" indent="0" marL="0">
              <a:buNone/>
            </a:pPr>
            <a:r>
              <a:rPr lang="en-US" sz="900" dirty="0">
                <a:solidFill>
                  <a:srgbClr val="A26769"/>
                </a:solidFill>
                <a:latin typeface="Calibri" pitchFamily="34" charset="0"/>
                <a:ea typeface="Calibri" pitchFamily="34" charset="-122"/>
                <a:cs typeface="Calibri" pitchFamily="34" charset="-120"/>
              </a:rPr>
              <a:t>p.17</a:t>
            </a:r>
            <a:endParaRPr lang="en-US" sz="900" dirty="0"/>
          </a:p>
        </p:txBody>
      </p:sp>
      <p:sp>
        <p:nvSpPr>
          <p:cNvPr id="25" name="Shape 23"/>
          <p:cNvSpPr/>
          <p:nvPr/>
        </p:nvSpPr>
        <p:spPr>
          <a:xfrm>
            <a:off x="4297680" y="3703320"/>
            <a:ext cx="3520440" cy="1691640"/>
          </a:xfrm>
          <a:prstGeom prst="roundRect">
            <a:avLst>
              <a:gd name="adj" fmla="val 2703"/>
            </a:avLst>
          </a:prstGeom>
          <a:solidFill>
            <a:srgbClr val="FFFFFF"/>
          </a:solidFill>
          <a:ln w="9525">
            <a:solidFill>
              <a:srgbClr val="E4DADD"/>
            </a:solidFill>
            <a:prstDash val="solid"/>
          </a:ln>
        </p:spPr>
      </p:sp>
      <p:sp>
        <p:nvSpPr>
          <p:cNvPr id="26" name="Text 24"/>
          <p:cNvSpPr txBox="1"/>
          <p:nvPr/>
        </p:nvSpPr>
        <p:spPr>
          <a:xfrm>
            <a:off x="4517136" y="3904488"/>
            <a:ext cx="2194560" cy="237744"/>
          </a:xfrm>
          <a:prstGeom prst="rect">
            <a:avLst/>
          </a:prstGeom>
          <a:noFill/>
          <a:ln/>
        </p:spPr>
        <p:txBody>
          <a:bodyPr wrap="square" lIns="0" tIns="0" rIns="0" bIns="0" rtlCol="0" anchor="ctr"/>
          <a:lstStyle/>
          <a:p>
            <a:pPr indent="0" marL="0">
              <a:buNone/>
            </a:pPr>
            <a:r>
              <a:rPr lang="en-US" sz="1000" b="1" spc="100" kern="0" dirty="0">
                <a:solidFill>
                  <a:srgbClr val="B58B2A"/>
                </a:solidFill>
                <a:latin typeface="Calibri" pitchFamily="34" charset="0"/>
                <a:ea typeface="Calibri" pitchFamily="34" charset="-122"/>
                <a:cs typeface="Calibri" pitchFamily="34" charset="-120"/>
              </a:rPr>
              <a:t>CHECK A</a:t>
            </a:r>
            <a:endParaRPr lang="en-US" sz="1000" dirty="0"/>
          </a:p>
        </p:txBody>
      </p:sp>
      <p:sp>
        <p:nvSpPr>
          <p:cNvPr id="27" name="Text 25"/>
          <p:cNvSpPr txBox="1"/>
          <p:nvPr/>
        </p:nvSpPr>
        <p:spPr>
          <a:xfrm>
            <a:off x="4517136" y="4178808"/>
            <a:ext cx="3108960" cy="329184"/>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ブレークイーブン分析</a:t>
            </a:r>
            <a:endParaRPr lang="en-US" sz="1600" dirty="0"/>
          </a:p>
        </p:txBody>
      </p:sp>
      <p:sp>
        <p:nvSpPr>
          <p:cNvPr id="28" name="Text 26"/>
          <p:cNvSpPr txBox="1"/>
          <p:nvPr/>
        </p:nvSpPr>
        <p:spPr>
          <a:xfrm>
            <a:off x="4517136" y="4581144"/>
            <a:ext cx="3108960" cy="548640"/>
          </a:xfrm>
          <a:prstGeom prst="rect">
            <a:avLst/>
          </a:prstGeom>
          <a:noFill/>
          <a:ln/>
        </p:spPr>
        <p:txBody>
          <a:bodyPr wrap="square" lIns="0" tIns="0" rIns="0" bIns="0" rtlCol="0" anchor="ctr"/>
          <a:lstStyle/>
          <a:p>
            <a:pPr indent="0" marL="0">
              <a:lnSpc>
                <a:spcPts val="1500"/>
              </a:lnSpc>
              <a:buNone/>
            </a:pPr>
            <a:r>
              <a:rPr lang="en-US" sz="1050" dirty="0">
                <a:solidFill>
                  <a:srgbClr val="6E6368"/>
                </a:solidFill>
                <a:latin typeface="Calibri" pitchFamily="34" charset="0"/>
                <a:ea typeface="Calibri" pitchFamily="34" charset="-122"/>
                <a:cs typeface="Calibri" pitchFamily="34" charset="-120"/>
              </a:rPr>
              <a:t>利益が何%落ちるまで50億円が正当化されるか</a:t>
            </a:r>
            <a:endParaRPr lang="en-US" sz="1050" dirty="0"/>
          </a:p>
        </p:txBody>
      </p:sp>
      <p:sp>
        <p:nvSpPr>
          <p:cNvPr id="29" name="Text 27"/>
          <p:cNvSpPr txBox="1"/>
          <p:nvPr/>
        </p:nvSpPr>
        <p:spPr>
          <a:xfrm>
            <a:off x="7040880" y="5020056"/>
            <a:ext cx="548640" cy="219456"/>
          </a:xfrm>
          <a:prstGeom prst="rect">
            <a:avLst/>
          </a:prstGeom>
          <a:noFill/>
          <a:ln/>
        </p:spPr>
        <p:txBody>
          <a:bodyPr wrap="square" lIns="0" tIns="0" rIns="0" bIns="0" rtlCol="0" anchor="ctr"/>
          <a:lstStyle/>
          <a:p>
            <a:pPr algn="r" indent="0" marL="0">
              <a:buNone/>
            </a:pPr>
            <a:r>
              <a:rPr lang="en-US" sz="900" dirty="0">
                <a:solidFill>
                  <a:srgbClr val="A26769"/>
                </a:solidFill>
                <a:latin typeface="Calibri" pitchFamily="34" charset="0"/>
                <a:ea typeface="Calibri" pitchFamily="34" charset="-122"/>
                <a:cs typeface="Calibri" pitchFamily="34" charset="-120"/>
              </a:rPr>
              <a:t>p.19</a:t>
            </a:r>
            <a:endParaRPr lang="en-US" sz="900" dirty="0"/>
          </a:p>
        </p:txBody>
      </p:sp>
      <p:sp>
        <p:nvSpPr>
          <p:cNvPr id="30" name="Shape 28"/>
          <p:cNvSpPr/>
          <p:nvPr/>
        </p:nvSpPr>
        <p:spPr>
          <a:xfrm>
            <a:off x="8028432" y="3703320"/>
            <a:ext cx="3520440" cy="1691640"/>
          </a:xfrm>
          <a:prstGeom prst="roundRect">
            <a:avLst>
              <a:gd name="adj" fmla="val 2703"/>
            </a:avLst>
          </a:prstGeom>
          <a:solidFill>
            <a:srgbClr val="FFFFFF"/>
          </a:solidFill>
          <a:ln w="9525">
            <a:solidFill>
              <a:srgbClr val="E4DADD"/>
            </a:solidFill>
            <a:prstDash val="solid"/>
          </a:ln>
        </p:spPr>
      </p:sp>
      <p:sp>
        <p:nvSpPr>
          <p:cNvPr id="31" name="Text 29"/>
          <p:cNvSpPr txBox="1"/>
          <p:nvPr/>
        </p:nvSpPr>
        <p:spPr>
          <a:xfrm>
            <a:off x="8247888" y="3904488"/>
            <a:ext cx="2194560" cy="237744"/>
          </a:xfrm>
          <a:prstGeom prst="rect">
            <a:avLst/>
          </a:prstGeom>
          <a:noFill/>
          <a:ln/>
        </p:spPr>
        <p:txBody>
          <a:bodyPr wrap="square" lIns="0" tIns="0" rIns="0" bIns="0" rtlCol="0" anchor="ctr"/>
          <a:lstStyle/>
          <a:p>
            <a:pPr indent="0" marL="0">
              <a:buNone/>
            </a:pPr>
            <a:r>
              <a:rPr lang="en-US" sz="1000" b="1" spc="100" kern="0" dirty="0">
                <a:solidFill>
                  <a:srgbClr val="B58B2A"/>
                </a:solidFill>
                <a:latin typeface="Calibri" pitchFamily="34" charset="0"/>
                <a:ea typeface="Calibri" pitchFamily="34" charset="-122"/>
                <a:cs typeface="Calibri" pitchFamily="34" charset="-120"/>
              </a:rPr>
              <a:t>CHECK B</a:t>
            </a:r>
            <a:endParaRPr lang="en-US" sz="1000" dirty="0"/>
          </a:p>
        </p:txBody>
      </p:sp>
      <p:sp>
        <p:nvSpPr>
          <p:cNvPr id="32" name="Text 30"/>
          <p:cNvSpPr txBox="1"/>
          <p:nvPr/>
        </p:nvSpPr>
        <p:spPr>
          <a:xfrm>
            <a:off x="8247888" y="4178808"/>
            <a:ext cx="3108960" cy="329184"/>
          </a:xfrm>
          <a:prstGeom prst="rect">
            <a:avLst/>
          </a:prstGeom>
          <a:noFill/>
          <a:ln/>
        </p:spPr>
        <p:txBody>
          <a:bodyPr wrap="square" lIns="0" tIns="0" rIns="0" bIns="0" rtlCol="0" anchor="ctr"/>
          <a:lstStyle/>
          <a:p>
            <a:pPr indent="0" marL="0">
              <a:buNone/>
            </a:pPr>
            <a:r>
              <a:rPr lang="en-US" sz="1600" b="1" dirty="0">
                <a:solidFill>
                  <a:srgbClr val="1F1A1C"/>
                </a:solidFill>
                <a:latin typeface="Cambria" pitchFamily="34" charset="0"/>
                <a:ea typeface="Cambria" pitchFamily="34" charset="-122"/>
                <a:cs typeface="Cambria" pitchFamily="34" charset="-120"/>
              </a:rPr>
              <a:t>返済可能性</a:t>
            </a:r>
            <a:endParaRPr lang="en-US" sz="1600" dirty="0"/>
          </a:p>
        </p:txBody>
      </p:sp>
      <p:sp>
        <p:nvSpPr>
          <p:cNvPr id="33" name="Text 31"/>
          <p:cNvSpPr txBox="1"/>
          <p:nvPr/>
        </p:nvSpPr>
        <p:spPr>
          <a:xfrm>
            <a:off x="8247888" y="4581144"/>
            <a:ext cx="3108960" cy="548640"/>
          </a:xfrm>
          <a:prstGeom prst="rect">
            <a:avLst/>
          </a:prstGeom>
          <a:noFill/>
          <a:ln/>
        </p:spPr>
        <p:txBody>
          <a:bodyPr wrap="square" lIns="0" tIns="0" rIns="0" bIns="0" rtlCol="0" anchor="ctr"/>
          <a:lstStyle/>
          <a:p>
            <a:pPr indent="0" marL="0">
              <a:lnSpc>
                <a:spcPts val="1500"/>
              </a:lnSpc>
              <a:buNone/>
            </a:pPr>
            <a:r>
              <a:rPr lang="en-US" sz="1050" dirty="0">
                <a:solidFill>
                  <a:srgbClr val="6E6368"/>
                </a:solidFill>
                <a:latin typeface="Calibri" pitchFamily="34" charset="0"/>
                <a:ea typeface="Calibri" pitchFamily="34" charset="-122"/>
                <a:cs typeface="Calibri" pitchFamily="34" charset="-120"/>
              </a:rPr>
              <a:t>返済プロファイル・月次資金繰り・ストレス耐性</a:t>
            </a:r>
            <a:endParaRPr lang="en-US" sz="1050" dirty="0"/>
          </a:p>
        </p:txBody>
      </p:sp>
      <p:sp>
        <p:nvSpPr>
          <p:cNvPr id="34" name="Text 32"/>
          <p:cNvSpPr txBox="1"/>
          <p:nvPr/>
        </p:nvSpPr>
        <p:spPr>
          <a:xfrm>
            <a:off x="10771632" y="5020056"/>
            <a:ext cx="548640" cy="219456"/>
          </a:xfrm>
          <a:prstGeom prst="rect">
            <a:avLst/>
          </a:prstGeom>
          <a:noFill/>
          <a:ln/>
        </p:spPr>
        <p:txBody>
          <a:bodyPr wrap="square" lIns="0" tIns="0" rIns="0" bIns="0" rtlCol="0" anchor="ctr"/>
          <a:lstStyle/>
          <a:p>
            <a:pPr algn="r" indent="0" marL="0">
              <a:buNone/>
            </a:pPr>
            <a:r>
              <a:rPr lang="en-US" sz="900" dirty="0">
                <a:solidFill>
                  <a:srgbClr val="A26769"/>
                </a:solidFill>
                <a:latin typeface="Calibri" pitchFamily="34" charset="0"/>
                <a:ea typeface="Calibri" pitchFamily="34" charset="-122"/>
                <a:cs typeface="Calibri" pitchFamily="34" charset="-120"/>
              </a:rPr>
              <a:t>p.24-25,29</a:t>
            </a:r>
            <a:endParaRPr lang="en-US" sz="900" dirty="0"/>
          </a:p>
        </p:txBody>
      </p:sp>
      <p:sp>
        <p:nvSpPr>
          <p:cNvPr id="35" name="Text 33"/>
          <p:cNvSpPr txBox="1"/>
          <p:nvPr/>
        </p:nvSpPr>
        <p:spPr>
          <a:xfrm>
            <a:off x="566928" y="5760720"/>
            <a:ext cx="11055096" cy="457200"/>
          </a:xfrm>
          <a:prstGeom prst="rect">
            <a:avLst/>
          </a:prstGeom>
          <a:noFill/>
          <a:ln/>
        </p:spPr>
        <p:txBody>
          <a:bodyPr wrap="square" lIns="0" tIns="0" rIns="0" bIns="0" rtlCol="0" anchor="ctr"/>
          <a:lstStyle/>
          <a:p>
            <a:pPr indent="0" marL="0">
              <a:lnSpc>
                <a:spcPts val="1500"/>
              </a:lnSpc>
              <a:buNone/>
            </a:pPr>
            <a:r>
              <a:rPr lang="en-US" sz="1000" dirty="0">
                <a:solidFill>
                  <a:srgbClr val="6E6368"/>
                </a:solidFill>
                <a:latin typeface="Calibri" pitchFamily="34" charset="0"/>
                <a:ea typeface="Calibri" pitchFamily="34" charset="-122"/>
                <a:cs typeface="Calibri" pitchFamily="34" charset="-120"/>
              </a:rPr>
              <a:t>すべての検証は 2026年12月期（IM記載の会社計画）ベース。2025年12月期実績ベースの数値とは異なる。</a:t>
            </a:r>
            <a:endParaRPr lang="en-US" sz="1000" dirty="0"/>
          </a:p>
          <a:p>
            <a:pPr indent="0" marL="0">
              <a:lnSpc>
                <a:spcPts val="1500"/>
              </a:lnSpc>
              <a:buNone/>
            </a:pPr>
            <a:r>
              <a:rPr lang="en-US" sz="1000" dirty="0">
                <a:solidFill>
                  <a:srgbClr val="6E6368"/>
                </a:solidFill>
                <a:latin typeface="Calibri" pitchFamily="34" charset="0"/>
                <a:ea typeface="Calibri" pitchFamily="34" charset="-122"/>
                <a:cs typeface="Calibri" pitchFamily="34" charset="-120"/>
              </a:rPr>
              <a:t>買収ストラクチャーは p.16〜p.19、参考資料としてグランメゾンのM&amp;A後バリューアップ実績を p.31 に掲載している。</a:t>
            </a:r>
            <a:endParaRPr lang="en-US" sz="1000" dirty="0"/>
          </a:p>
        </p:txBody>
      </p:sp>
      <p:sp>
        <p:nvSpPr>
          <p:cNvPr id="36" name="Text 34"/>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37" name="Text 35"/>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TARGET</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対象会社の概要と、営業利益率52%の構造</a:t>
            </a:r>
            <a:endParaRPr lang="en-US" sz="2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5989320" cy="914400"/>
        </p:xfrm>
        <a:graphic>
          <a:graphicData uri="http://schemas.openxmlformats.org/drawingml/2006/table">
            <a:tbl>
              <a:tblPr/>
              <a:tblGrid>
                <a:gridCol w="1325880"/>
                <a:gridCol w="4663440"/>
              </a:tblGrid>
              <a:tr h="384048">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商号</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株式会社プティ・ボノム</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店舗</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Quintessence（東京都品川区北品川・ガーデンシティ品川御殿山1F／賃借）</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開業／星</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2006年開業。2008年以降 19年連続ミシュラン三つ星</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株主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岸田周三氏 100%（今回100%譲渡）</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子会社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カンテサンスプラス 100%（コンサルティング業・第10期売上593万円）／株式会社BISは対象外</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規模</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34席・1日平均54名（約1.6回転）・営業日数252日・年間来店 約1.37万人・従業員18名（岸田氏を除く、2026年9月17日時点の従業員名簿）</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有利子負債</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なし（無借金）</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5" name="Shape 2"/>
          <p:cNvSpPr/>
          <p:nvPr/>
        </p:nvSpPr>
        <p:spPr>
          <a:xfrm>
            <a:off x="6784848" y="1298448"/>
            <a:ext cx="4837176" cy="1243584"/>
          </a:xfrm>
          <a:prstGeom prst="roundRect">
            <a:avLst>
              <a:gd name="adj" fmla="val 3676"/>
            </a:avLst>
          </a:prstGeom>
          <a:solidFill>
            <a:srgbClr val="F7F3F4"/>
          </a:solidFill>
          <a:ln w="9525">
            <a:solidFill>
              <a:srgbClr val="E4DADD"/>
            </a:solidFill>
            <a:prstDash val="solid"/>
          </a:ln>
        </p:spPr>
      </p:sp>
      <p:sp>
        <p:nvSpPr>
          <p:cNvPr id="6" name="Text 3"/>
          <p:cNvSpPr txBox="1"/>
          <p:nvPr/>
        </p:nvSpPr>
        <p:spPr>
          <a:xfrm>
            <a:off x="7004304" y="1426464"/>
            <a:ext cx="438912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客単価の分解（2026年想定）</a:t>
            </a:r>
            <a:endParaRPr lang="en-US" sz="1000" dirty="0"/>
          </a:p>
        </p:txBody>
      </p:sp>
      <p:sp>
        <p:nvSpPr>
          <p:cNvPr id="7" name="Text 4"/>
          <p:cNvSpPr txBox="1"/>
          <p:nvPr/>
        </p:nvSpPr>
        <p:spPr>
          <a:xfrm>
            <a:off x="7004304" y="1700784"/>
            <a:ext cx="4434840" cy="731520"/>
          </a:xfrm>
          <a:prstGeom prst="rect">
            <a:avLst/>
          </a:prstGeom>
          <a:noFill/>
          <a:ln/>
        </p:spPr>
        <p:txBody>
          <a:bodyPr wrap="square" lIns="0" tIns="0" rIns="0" bIns="0" rtlCol="0" anchor="ctr"/>
          <a:lstStyle/>
          <a:p>
            <a:pPr indent="0" marL="0">
              <a:lnSpc>
                <a:spcPts val="1600"/>
              </a:lnSpc>
              <a:buNone/>
            </a:pPr>
            <a:r>
              <a:rPr lang="en-US" sz="2600" b="1" dirty="0">
                <a:solidFill>
                  <a:srgbClr val="6D2E46"/>
                </a:solidFill>
                <a:latin typeface="Cambria" pitchFamily="34" charset="0"/>
                <a:ea typeface="Cambria" pitchFamily="34" charset="-122"/>
                <a:cs typeface="Cambria" pitchFamily="34" charset="-120"/>
              </a:rPr>
              <a:t>7.2</a:t>
            </a:r>
            <a:pPr indent="0" marL="0">
              <a:lnSpc>
                <a:spcPts val="1600"/>
              </a:lnSpc>
              <a:buNone/>
            </a:pPr>
            <a:r>
              <a:rPr lang="en-US" sz="1100" dirty="0">
                <a:solidFill>
                  <a:srgbClr val="1F1A1C"/>
                </a:solidFill>
              </a:rPr>
              <a:t>万円／人</a:t>
            </a:r>
            <a:pPr indent="0" marL="0">
              <a:lnSpc>
                <a:spcPts val="1600"/>
              </a:lnSpc>
              <a:buNone/>
            </a:pPr>
            <a:r>
              <a:rPr lang="en-US" sz="1050" dirty="0">
                <a:solidFill>
                  <a:srgbClr val="6E6368"/>
                </a:solidFill>
              </a:rPr>
              <a:t>   ＝ フード 4.6万円 ＋ ドリンク 2.5万円</a:t>
            </a:r>
            <a:endParaRPr lang="en-US" sz="2600" dirty="0"/>
          </a:p>
          <a:p>
            <a:pPr indent="0" marL="0">
              <a:lnSpc>
                <a:spcPts val="1600"/>
              </a:lnSpc>
              <a:buNone/>
            </a:pPr>
            <a:r>
              <a:rPr lang="en-US" sz="1050" dirty="0">
                <a:solidFill>
                  <a:srgbClr val="6E6368"/>
                </a:solidFill>
              </a:rPr>
              <a:t>（ドリンク原価 0.9万円／粗利率 64.5%、ドリンク年商 約3.6億円）</a:t>
            </a:r>
            <a:endParaRPr lang="en-US" sz="2600" dirty="0"/>
          </a:p>
        </p:txBody>
      </p:sp>
      <p:sp>
        <p:nvSpPr>
          <p:cNvPr id="8" name="Text 5"/>
          <p:cNvSpPr txBox="1"/>
          <p:nvPr/>
        </p:nvSpPr>
        <p:spPr>
          <a:xfrm>
            <a:off x="6784848" y="2706624"/>
            <a:ext cx="4846320" cy="256032"/>
          </a:xfrm>
          <a:prstGeom prst="rect">
            <a:avLst/>
          </a:prstGeom>
          <a:noFill/>
          <a:ln/>
        </p:spPr>
        <p:txBody>
          <a:bodyPr wrap="square" lIns="0" tIns="0" rIns="0" bIns="0" rtlCol="0" anchor="ctr"/>
          <a:lstStyle/>
          <a:p>
            <a:pPr indent="0" marL="0">
              <a:buNone/>
            </a:pPr>
            <a:r>
              <a:rPr lang="en-US" sz="1400" b="1" dirty="0">
                <a:solidFill>
                  <a:srgbClr val="1F1A1C"/>
                </a:solidFill>
                <a:latin typeface="Cambria" pitchFamily="34" charset="0"/>
                <a:ea typeface="Cambria" pitchFamily="34" charset="-122"/>
                <a:cs typeface="Cambria" pitchFamily="34" charset="-120"/>
              </a:rPr>
              <a:t>営業利益率52%を成立させている4要因</a:t>
            </a:r>
            <a:endParaRPr lang="en-US" sz="1400" dirty="0"/>
          </a:p>
        </p:txBody>
      </p:sp>
      <p:sp>
        <p:nvSpPr>
          <p:cNvPr id="9" name="Shape 6"/>
          <p:cNvSpPr/>
          <p:nvPr/>
        </p:nvSpPr>
        <p:spPr>
          <a:xfrm>
            <a:off x="6784848" y="3090672"/>
            <a:ext cx="274320" cy="274320"/>
          </a:xfrm>
          <a:prstGeom prst="ellipse">
            <a:avLst/>
          </a:prstGeom>
          <a:solidFill>
            <a:srgbClr val="A26769"/>
          </a:solidFill>
          <a:ln/>
        </p:spPr>
      </p:sp>
      <p:sp>
        <p:nvSpPr>
          <p:cNvPr id="10" name="Text 7"/>
          <p:cNvSpPr txBox="1"/>
          <p:nvPr/>
        </p:nvSpPr>
        <p:spPr>
          <a:xfrm>
            <a:off x="6784848" y="3090672"/>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1" name="Text 8"/>
          <p:cNvSpPr txBox="1"/>
          <p:nvPr/>
        </p:nvSpPr>
        <p:spPr>
          <a:xfrm>
            <a:off x="7150608" y="3054096"/>
            <a:ext cx="1097280" cy="237744"/>
          </a:xfrm>
          <a:prstGeom prst="rect">
            <a:avLst/>
          </a:prstGeom>
          <a:noFill/>
          <a:ln/>
        </p:spPr>
        <p:txBody>
          <a:bodyPr wrap="square" lIns="0" tIns="0" rIns="0" bIns="0"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高単価</a:t>
            </a:r>
            <a:endParaRPr lang="en-US" sz="1100" dirty="0"/>
          </a:p>
        </p:txBody>
      </p:sp>
      <p:sp>
        <p:nvSpPr>
          <p:cNvPr id="12" name="Text 9"/>
          <p:cNvSpPr txBox="1"/>
          <p:nvPr/>
        </p:nvSpPr>
        <p:spPr>
          <a:xfrm>
            <a:off x="7150608" y="3291840"/>
            <a:ext cx="4480560" cy="402336"/>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三つ星ブランドに支えられた客単価7.2万円＋サービス料10%</a:t>
            </a:r>
            <a:endParaRPr lang="en-US" sz="1000" dirty="0"/>
          </a:p>
        </p:txBody>
      </p:sp>
      <p:sp>
        <p:nvSpPr>
          <p:cNvPr id="13" name="Shape 10"/>
          <p:cNvSpPr/>
          <p:nvPr/>
        </p:nvSpPr>
        <p:spPr>
          <a:xfrm>
            <a:off x="6784848" y="3803904"/>
            <a:ext cx="274320" cy="274320"/>
          </a:xfrm>
          <a:prstGeom prst="ellipse">
            <a:avLst/>
          </a:prstGeom>
          <a:solidFill>
            <a:srgbClr val="A26769"/>
          </a:solidFill>
          <a:ln/>
        </p:spPr>
      </p:sp>
      <p:sp>
        <p:nvSpPr>
          <p:cNvPr id="14" name="Text 11"/>
          <p:cNvSpPr txBox="1"/>
          <p:nvPr/>
        </p:nvSpPr>
        <p:spPr>
          <a:xfrm>
            <a:off x="6784848" y="38039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2"/>
          <p:cNvSpPr txBox="1"/>
          <p:nvPr/>
        </p:nvSpPr>
        <p:spPr>
          <a:xfrm>
            <a:off x="7150608" y="3767328"/>
            <a:ext cx="1097280" cy="237744"/>
          </a:xfrm>
          <a:prstGeom prst="rect">
            <a:avLst/>
          </a:prstGeom>
          <a:noFill/>
          <a:ln/>
        </p:spPr>
        <p:txBody>
          <a:bodyPr wrap="square" lIns="0" tIns="0" rIns="0" bIns="0"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高稼働</a:t>
            </a:r>
            <a:endParaRPr lang="en-US" sz="1100" dirty="0"/>
          </a:p>
        </p:txBody>
      </p:sp>
      <p:sp>
        <p:nvSpPr>
          <p:cNvPr id="16" name="Text 13"/>
          <p:cNvSpPr txBox="1"/>
          <p:nvPr/>
        </p:nvSpPr>
        <p:spPr>
          <a:xfrm>
            <a:off x="7150608" y="4005072"/>
            <a:ext cx="4480560" cy="402336"/>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34席×約1.6回転×252日。リピート希望率7割、海外からの問い合わせは半数以上あるが意図的に絞っている</a:t>
            </a:r>
            <a:endParaRPr lang="en-US" sz="1000" dirty="0"/>
          </a:p>
        </p:txBody>
      </p:sp>
      <p:sp>
        <p:nvSpPr>
          <p:cNvPr id="17" name="Shape 14"/>
          <p:cNvSpPr/>
          <p:nvPr/>
        </p:nvSpPr>
        <p:spPr>
          <a:xfrm>
            <a:off x="6784848" y="4517136"/>
            <a:ext cx="274320" cy="274320"/>
          </a:xfrm>
          <a:prstGeom prst="ellipse">
            <a:avLst/>
          </a:prstGeom>
          <a:solidFill>
            <a:srgbClr val="A26769"/>
          </a:solidFill>
          <a:ln/>
        </p:spPr>
      </p:sp>
      <p:sp>
        <p:nvSpPr>
          <p:cNvPr id="18" name="Text 15"/>
          <p:cNvSpPr txBox="1"/>
          <p:nvPr/>
        </p:nvSpPr>
        <p:spPr>
          <a:xfrm>
            <a:off x="6784848" y="4517136"/>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9" name="Text 16"/>
          <p:cNvSpPr txBox="1"/>
          <p:nvPr/>
        </p:nvSpPr>
        <p:spPr>
          <a:xfrm>
            <a:off x="7150608" y="4480560"/>
            <a:ext cx="1097280" cy="237744"/>
          </a:xfrm>
          <a:prstGeom prst="rect">
            <a:avLst/>
          </a:prstGeom>
          <a:noFill/>
          <a:ln/>
        </p:spPr>
        <p:txBody>
          <a:bodyPr wrap="square" lIns="0" tIns="0" rIns="0" bIns="0"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低原価</a:t>
            </a:r>
            <a:endParaRPr lang="en-US" sz="1100" dirty="0"/>
          </a:p>
        </p:txBody>
      </p:sp>
      <p:sp>
        <p:nvSpPr>
          <p:cNvPr id="20" name="Text 17"/>
          <p:cNvSpPr txBox="1"/>
          <p:nvPr/>
        </p:nvSpPr>
        <p:spPr>
          <a:xfrm>
            <a:off x="7150608" y="4718304"/>
            <a:ext cx="4480560" cy="402336"/>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卸を使わずサントリー・ファインズ等から直接仕入。中間マージンなし</a:t>
            </a:r>
            <a:endParaRPr lang="en-US" sz="1000" dirty="0"/>
          </a:p>
        </p:txBody>
      </p:sp>
      <p:sp>
        <p:nvSpPr>
          <p:cNvPr id="21" name="Shape 18"/>
          <p:cNvSpPr/>
          <p:nvPr/>
        </p:nvSpPr>
        <p:spPr>
          <a:xfrm>
            <a:off x="6784848" y="5230368"/>
            <a:ext cx="274320" cy="274320"/>
          </a:xfrm>
          <a:prstGeom prst="ellipse">
            <a:avLst/>
          </a:prstGeom>
          <a:solidFill>
            <a:srgbClr val="A26769"/>
          </a:solidFill>
          <a:ln/>
        </p:spPr>
      </p:sp>
      <p:sp>
        <p:nvSpPr>
          <p:cNvPr id="22" name="Text 19"/>
          <p:cNvSpPr txBox="1"/>
          <p:nvPr/>
        </p:nvSpPr>
        <p:spPr>
          <a:xfrm>
            <a:off x="6784848" y="5230368"/>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3" name="Text 20"/>
          <p:cNvSpPr txBox="1"/>
          <p:nvPr/>
        </p:nvSpPr>
        <p:spPr>
          <a:xfrm>
            <a:off x="7150608" y="5193792"/>
            <a:ext cx="1097280" cy="237744"/>
          </a:xfrm>
          <a:prstGeom prst="rect">
            <a:avLst/>
          </a:prstGeom>
          <a:noFill/>
          <a:ln/>
        </p:spPr>
        <p:txBody>
          <a:bodyPr wrap="square" lIns="0" tIns="0" rIns="0" bIns="0"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低販管費</a:t>
            </a:r>
            <a:endParaRPr lang="en-US" sz="1100" dirty="0"/>
          </a:p>
        </p:txBody>
      </p:sp>
      <p:sp>
        <p:nvSpPr>
          <p:cNvPr id="24" name="Text 21"/>
          <p:cNvSpPr txBox="1"/>
          <p:nvPr/>
        </p:nvSpPr>
        <p:spPr>
          <a:xfrm>
            <a:off x="7150608" y="5431536"/>
            <a:ext cx="4480560" cy="402336"/>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1店舗・賃借（賃料は売上比1.97%）・設備投資ほぼゼロ・広告費なし</a:t>
            </a:r>
            <a:endParaRPr lang="en-US" sz="1000" dirty="0"/>
          </a:p>
        </p:txBody>
      </p:sp>
      <p:sp>
        <p:nvSpPr>
          <p:cNvPr id="25" name="Text 22"/>
          <p:cNvSpPr txBox="1"/>
          <p:nvPr/>
        </p:nvSpPr>
        <p:spPr>
          <a:xfrm>
            <a:off x="566928" y="4224528"/>
            <a:ext cx="5989320" cy="548640"/>
          </a:xfrm>
          <a:prstGeom prst="rect">
            <a:avLst/>
          </a:prstGeom>
          <a:noFill/>
          <a:ln/>
        </p:spPr>
        <p:txBody>
          <a:bodyPr wrap="square" lIns="0" tIns="0" rIns="0" bIns="0" rtlCol="0" anchor="ctr"/>
          <a:lstStyle/>
          <a:p>
            <a:pPr indent="0" marL="0">
              <a:lnSpc>
                <a:spcPts val="1500"/>
              </a:lnSpc>
              <a:buNone/>
            </a:pPr>
            <a:r>
              <a:rPr lang="en-US" sz="1000" dirty="0">
                <a:solidFill>
                  <a:srgbClr val="6E6368"/>
                </a:solidFill>
                <a:latin typeface="Calibri" pitchFamily="34" charset="0"/>
                <a:ea typeface="Calibri" pitchFamily="34" charset="-122"/>
                <a:cs typeface="Calibri" pitchFamily="34" charset="-120"/>
              </a:rPr>
              <a:t>有形固定資産は建物附属設備29.7万円＋工具器具備品116.6万円＝計146万円。物的担保余力は事実上ワイン在庫（簿価1.19億円）のみ。</a:t>
            </a:r>
            <a:endParaRPr lang="en-US" sz="1000" dirty="0"/>
          </a:p>
        </p:txBody>
      </p:sp>
      <p:sp>
        <p:nvSpPr>
          <p:cNvPr id="26" name="Text 23"/>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7" name="Text 24"/>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TRACK RECORD</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20年連続増収増益。利益率は5年間で44%→52%へ上昇</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コロナ期（2021年12月期）を含む過去5年間、一度も減収・減益がない。利益率は毎期改善しており、収益の再現性は極めて高い。</a:t>
            </a:r>
            <a:endParaRPr lang="en-US" sz="1250" dirty="0"/>
          </a:p>
        </p:txBody>
      </p:sp>
      <p:graphicFrame>
        <p:nvGraphicFramePr>
          <p:cNvPr id="5" name="Chart 0" descr=""/>
          <p:cNvGraphicFramePr/>
          <p:nvPr/>
        </p:nvGraphicFramePr>
        <p:xfrm>
          <a:off x="566928" y="1874520"/>
          <a:ext cx="7498080" cy="33832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75320" y="1874520"/>
            <a:ext cx="3346704" cy="3383280"/>
          </a:xfrm>
          <a:prstGeom prst="roundRect">
            <a:avLst>
              <a:gd name="adj" fmla="val 1366"/>
            </a:avLst>
          </a:prstGeom>
          <a:solidFill>
            <a:srgbClr val="F7F3F4"/>
          </a:solidFill>
          <a:ln w="9525">
            <a:solidFill>
              <a:srgbClr val="E4DADD"/>
            </a:solidFill>
            <a:prstDash val="solid"/>
          </a:ln>
        </p:spPr>
      </p:sp>
      <p:sp>
        <p:nvSpPr>
          <p:cNvPr id="7" name="Text 4"/>
          <p:cNvSpPr txBox="1"/>
          <p:nvPr/>
        </p:nvSpPr>
        <p:spPr>
          <a:xfrm>
            <a:off x="8485632" y="2011680"/>
            <a:ext cx="292608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営業利益率の推移</a:t>
            </a:r>
            <a:endParaRPr lang="en-US" sz="1000" dirty="0"/>
          </a:p>
        </p:txBody>
      </p:sp>
      <p:sp>
        <p:nvSpPr>
          <p:cNvPr id="8" name="Text 5"/>
          <p:cNvSpPr txBox="1"/>
          <p:nvPr/>
        </p:nvSpPr>
        <p:spPr>
          <a:xfrm>
            <a:off x="8485632" y="2340864"/>
            <a:ext cx="1371600" cy="274320"/>
          </a:xfrm>
          <a:prstGeom prst="rect">
            <a:avLst/>
          </a:prstGeom>
          <a:noFill/>
          <a:ln/>
        </p:spPr>
        <p:txBody>
          <a:bodyPr wrap="square" lIns="0" tIns="0" rIns="0" bIns="0" rtlCol="0" anchor="ctr"/>
          <a:lstStyle/>
          <a:p>
            <a:pPr indent="0" marL="0">
              <a:buNone/>
            </a:pPr>
            <a:r>
              <a:rPr lang="en-US" sz="1100" dirty="0">
                <a:solidFill>
                  <a:srgbClr val="6E6368"/>
                </a:solidFill>
                <a:latin typeface="Calibri" pitchFamily="34" charset="0"/>
                <a:ea typeface="Calibri" pitchFamily="34" charset="-122"/>
                <a:cs typeface="Calibri" pitchFamily="34" charset="-120"/>
              </a:rPr>
              <a:t>2021/12</a:t>
            </a:r>
            <a:endParaRPr lang="en-US" sz="1100" dirty="0"/>
          </a:p>
        </p:txBody>
      </p:sp>
      <p:sp>
        <p:nvSpPr>
          <p:cNvPr id="9" name="Text 6"/>
          <p:cNvSpPr txBox="1"/>
          <p:nvPr/>
        </p:nvSpPr>
        <p:spPr>
          <a:xfrm>
            <a:off x="9692640" y="2340864"/>
            <a:ext cx="914400" cy="274320"/>
          </a:xfrm>
          <a:prstGeom prst="rect">
            <a:avLst/>
          </a:prstGeom>
          <a:noFill/>
          <a:ln/>
        </p:spPr>
        <p:txBody>
          <a:bodyPr wrap="square" lIns="0" tIns="0" rIns="0" bIns="0" rtlCol="0" anchor="ctr"/>
          <a:lstStyle/>
          <a:p>
            <a:pPr algn="r" indent="0" marL="0">
              <a:buNone/>
            </a:pPr>
            <a:r>
              <a:rPr lang="en-US" sz="1200" b="1" dirty="0">
                <a:solidFill>
                  <a:srgbClr val="1F1A1C"/>
                </a:solidFill>
                <a:latin typeface="Calibri" pitchFamily="34" charset="0"/>
                <a:ea typeface="Calibri" pitchFamily="34" charset="-122"/>
                <a:cs typeface="Calibri" pitchFamily="34" charset="-120"/>
              </a:rPr>
              <a:t>44.3%</a:t>
            </a:r>
            <a:endParaRPr lang="en-US" sz="1200" dirty="0"/>
          </a:p>
        </p:txBody>
      </p:sp>
      <p:sp>
        <p:nvSpPr>
          <p:cNvPr id="10" name="Shape 7"/>
          <p:cNvSpPr/>
          <p:nvPr/>
        </p:nvSpPr>
        <p:spPr>
          <a:xfrm>
            <a:off x="10744200" y="2432304"/>
            <a:ext cx="685519" cy="100584"/>
          </a:xfrm>
          <a:prstGeom prst="rect">
            <a:avLst/>
          </a:prstGeom>
          <a:solidFill>
            <a:srgbClr val="A26769"/>
          </a:solidFill>
          <a:ln/>
        </p:spPr>
      </p:sp>
      <p:sp>
        <p:nvSpPr>
          <p:cNvPr id="11" name="Text 8"/>
          <p:cNvSpPr txBox="1"/>
          <p:nvPr/>
        </p:nvSpPr>
        <p:spPr>
          <a:xfrm>
            <a:off x="8485632" y="2724912"/>
            <a:ext cx="1371600" cy="274320"/>
          </a:xfrm>
          <a:prstGeom prst="rect">
            <a:avLst/>
          </a:prstGeom>
          <a:noFill/>
          <a:ln/>
        </p:spPr>
        <p:txBody>
          <a:bodyPr wrap="square" lIns="0" tIns="0" rIns="0" bIns="0" rtlCol="0" anchor="ctr"/>
          <a:lstStyle/>
          <a:p>
            <a:pPr indent="0" marL="0">
              <a:buNone/>
            </a:pPr>
            <a:r>
              <a:rPr lang="en-US" sz="1100" dirty="0">
                <a:solidFill>
                  <a:srgbClr val="6E6368"/>
                </a:solidFill>
                <a:latin typeface="Calibri" pitchFamily="34" charset="0"/>
                <a:ea typeface="Calibri" pitchFamily="34" charset="-122"/>
                <a:cs typeface="Calibri" pitchFamily="34" charset="-120"/>
              </a:rPr>
              <a:t>2022/12</a:t>
            </a:r>
            <a:endParaRPr lang="en-US" sz="1100" dirty="0"/>
          </a:p>
        </p:txBody>
      </p:sp>
      <p:sp>
        <p:nvSpPr>
          <p:cNvPr id="12" name="Text 9"/>
          <p:cNvSpPr txBox="1"/>
          <p:nvPr/>
        </p:nvSpPr>
        <p:spPr>
          <a:xfrm>
            <a:off x="9692640" y="2724912"/>
            <a:ext cx="914400" cy="274320"/>
          </a:xfrm>
          <a:prstGeom prst="rect">
            <a:avLst/>
          </a:prstGeom>
          <a:noFill/>
          <a:ln/>
        </p:spPr>
        <p:txBody>
          <a:bodyPr wrap="square" lIns="0" tIns="0" rIns="0" bIns="0" rtlCol="0" anchor="ctr"/>
          <a:lstStyle/>
          <a:p>
            <a:pPr algn="r" indent="0" marL="0">
              <a:buNone/>
            </a:pPr>
            <a:r>
              <a:rPr lang="en-US" sz="1200" b="1" dirty="0">
                <a:solidFill>
                  <a:srgbClr val="1F1A1C"/>
                </a:solidFill>
                <a:latin typeface="Calibri" pitchFamily="34" charset="0"/>
                <a:ea typeface="Calibri" pitchFamily="34" charset="-122"/>
                <a:cs typeface="Calibri" pitchFamily="34" charset="-120"/>
              </a:rPr>
              <a:t>45.5%</a:t>
            </a:r>
            <a:endParaRPr lang="en-US" sz="1200" dirty="0"/>
          </a:p>
        </p:txBody>
      </p:sp>
      <p:sp>
        <p:nvSpPr>
          <p:cNvPr id="13" name="Shape 10"/>
          <p:cNvSpPr/>
          <p:nvPr/>
        </p:nvSpPr>
        <p:spPr>
          <a:xfrm>
            <a:off x="10744200" y="2816352"/>
            <a:ext cx="704088" cy="100584"/>
          </a:xfrm>
          <a:prstGeom prst="rect">
            <a:avLst/>
          </a:prstGeom>
          <a:solidFill>
            <a:srgbClr val="A26769"/>
          </a:solidFill>
          <a:ln/>
        </p:spPr>
      </p:sp>
      <p:sp>
        <p:nvSpPr>
          <p:cNvPr id="14" name="Text 11"/>
          <p:cNvSpPr txBox="1"/>
          <p:nvPr/>
        </p:nvSpPr>
        <p:spPr>
          <a:xfrm>
            <a:off x="8485632" y="3108960"/>
            <a:ext cx="1371600" cy="274320"/>
          </a:xfrm>
          <a:prstGeom prst="rect">
            <a:avLst/>
          </a:prstGeom>
          <a:noFill/>
          <a:ln/>
        </p:spPr>
        <p:txBody>
          <a:bodyPr wrap="square" lIns="0" tIns="0" rIns="0" bIns="0" rtlCol="0" anchor="ctr"/>
          <a:lstStyle/>
          <a:p>
            <a:pPr indent="0" marL="0">
              <a:buNone/>
            </a:pPr>
            <a:r>
              <a:rPr lang="en-US" sz="1100" dirty="0">
                <a:solidFill>
                  <a:srgbClr val="6E6368"/>
                </a:solidFill>
                <a:latin typeface="Calibri" pitchFamily="34" charset="0"/>
                <a:ea typeface="Calibri" pitchFamily="34" charset="-122"/>
                <a:cs typeface="Calibri" pitchFamily="34" charset="-120"/>
              </a:rPr>
              <a:t>2023/12</a:t>
            </a:r>
            <a:endParaRPr lang="en-US" sz="1100" dirty="0"/>
          </a:p>
        </p:txBody>
      </p:sp>
      <p:sp>
        <p:nvSpPr>
          <p:cNvPr id="15" name="Text 12"/>
          <p:cNvSpPr txBox="1"/>
          <p:nvPr/>
        </p:nvSpPr>
        <p:spPr>
          <a:xfrm>
            <a:off x="9692640" y="3108960"/>
            <a:ext cx="914400" cy="274320"/>
          </a:xfrm>
          <a:prstGeom prst="rect">
            <a:avLst/>
          </a:prstGeom>
          <a:noFill/>
          <a:ln/>
        </p:spPr>
        <p:txBody>
          <a:bodyPr wrap="square" lIns="0" tIns="0" rIns="0" bIns="0" rtlCol="0" anchor="ctr"/>
          <a:lstStyle/>
          <a:p>
            <a:pPr algn="r" indent="0" marL="0">
              <a:buNone/>
            </a:pPr>
            <a:r>
              <a:rPr lang="en-US" sz="1200" b="1" dirty="0">
                <a:solidFill>
                  <a:srgbClr val="1F1A1C"/>
                </a:solidFill>
                <a:latin typeface="Calibri" pitchFamily="34" charset="0"/>
                <a:ea typeface="Calibri" pitchFamily="34" charset="-122"/>
                <a:cs typeface="Calibri" pitchFamily="34" charset="-120"/>
              </a:rPr>
              <a:t>47.2%</a:t>
            </a:r>
            <a:endParaRPr lang="en-US" sz="1200" dirty="0"/>
          </a:p>
        </p:txBody>
      </p:sp>
      <p:sp>
        <p:nvSpPr>
          <p:cNvPr id="16" name="Shape 13"/>
          <p:cNvSpPr/>
          <p:nvPr/>
        </p:nvSpPr>
        <p:spPr>
          <a:xfrm>
            <a:off x="10744200" y="3200400"/>
            <a:ext cx="730395" cy="100584"/>
          </a:xfrm>
          <a:prstGeom prst="rect">
            <a:avLst/>
          </a:prstGeom>
          <a:solidFill>
            <a:srgbClr val="A26769"/>
          </a:solidFill>
          <a:ln/>
        </p:spPr>
      </p:sp>
      <p:sp>
        <p:nvSpPr>
          <p:cNvPr id="17" name="Text 14"/>
          <p:cNvSpPr txBox="1"/>
          <p:nvPr/>
        </p:nvSpPr>
        <p:spPr>
          <a:xfrm>
            <a:off x="8485632" y="3493008"/>
            <a:ext cx="1371600" cy="274320"/>
          </a:xfrm>
          <a:prstGeom prst="rect">
            <a:avLst/>
          </a:prstGeom>
          <a:noFill/>
          <a:ln/>
        </p:spPr>
        <p:txBody>
          <a:bodyPr wrap="square" lIns="0" tIns="0" rIns="0" bIns="0" rtlCol="0" anchor="ctr"/>
          <a:lstStyle/>
          <a:p>
            <a:pPr indent="0" marL="0">
              <a:buNone/>
            </a:pPr>
            <a:r>
              <a:rPr lang="en-US" sz="1100" dirty="0">
                <a:solidFill>
                  <a:srgbClr val="6E6368"/>
                </a:solidFill>
                <a:latin typeface="Calibri" pitchFamily="34" charset="0"/>
                <a:ea typeface="Calibri" pitchFamily="34" charset="-122"/>
                <a:cs typeface="Calibri" pitchFamily="34" charset="-120"/>
              </a:rPr>
              <a:t>2024/12</a:t>
            </a:r>
            <a:endParaRPr lang="en-US" sz="1100" dirty="0"/>
          </a:p>
        </p:txBody>
      </p:sp>
      <p:sp>
        <p:nvSpPr>
          <p:cNvPr id="18" name="Text 15"/>
          <p:cNvSpPr txBox="1"/>
          <p:nvPr/>
        </p:nvSpPr>
        <p:spPr>
          <a:xfrm>
            <a:off x="9692640" y="3493008"/>
            <a:ext cx="914400" cy="274320"/>
          </a:xfrm>
          <a:prstGeom prst="rect">
            <a:avLst/>
          </a:prstGeom>
          <a:noFill/>
          <a:ln/>
        </p:spPr>
        <p:txBody>
          <a:bodyPr wrap="square" lIns="0" tIns="0" rIns="0" bIns="0" rtlCol="0" anchor="ctr"/>
          <a:lstStyle/>
          <a:p>
            <a:pPr algn="r" indent="0" marL="0">
              <a:buNone/>
            </a:pPr>
            <a:r>
              <a:rPr lang="en-US" sz="1200" b="1" dirty="0">
                <a:solidFill>
                  <a:srgbClr val="1F1A1C"/>
                </a:solidFill>
                <a:latin typeface="Calibri" pitchFamily="34" charset="0"/>
                <a:ea typeface="Calibri" pitchFamily="34" charset="-122"/>
                <a:cs typeface="Calibri" pitchFamily="34" charset="-120"/>
              </a:rPr>
              <a:t>49.6%</a:t>
            </a:r>
            <a:endParaRPr lang="en-US" sz="1200" dirty="0"/>
          </a:p>
        </p:txBody>
      </p:sp>
      <p:sp>
        <p:nvSpPr>
          <p:cNvPr id="19" name="Shape 16"/>
          <p:cNvSpPr/>
          <p:nvPr/>
        </p:nvSpPr>
        <p:spPr>
          <a:xfrm>
            <a:off x="10744200" y="3584448"/>
            <a:ext cx="767533" cy="100584"/>
          </a:xfrm>
          <a:prstGeom prst="rect">
            <a:avLst/>
          </a:prstGeom>
          <a:solidFill>
            <a:srgbClr val="A26769"/>
          </a:solidFill>
          <a:ln/>
        </p:spPr>
      </p:sp>
      <p:sp>
        <p:nvSpPr>
          <p:cNvPr id="20" name="Text 17"/>
          <p:cNvSpPr txBox="1"/>
          <p:nvPr/>
        </p:nvSpPr>
        <p:spPr>
          <a:xfrm>
            <a:off x="8485632" y="3877056"/>
            <a:ext cx="1371600" cy="274320"/>
          </a:xfrm>
          <a:prstGeom prst="rect">
            <a:avLst/>
          </a:prstGeom>
          <a:noFill/>
          <a:ln/>
        </p:spPr>
        <p:txBody>
          <a:bodyPr wrap="square" lIns="0" tIns="0" rIns="0" bIns="0" rtlCol="0" anchor="ctr"/>
          <a:lstStyle/>
          <a:p>
            <a:pPr indent="0" marL="0">
              <a:buNone/>
            </a:pPr>
            <a:r>
              <a:rPr lang="en-US" sz="1100" dirty="0">
                <a:solidFill>
                  <a:srgbClr val="6E6368"/>
                </a:solidFill>
                <a:latin typeface="Calibri" pitchFamily="34" charset="0"/>
                <a:ea typeface="Calibri" pitchFamily="34" charset="-122"/>
                <a:cs typeface="Calibri" pitchFamily="34" charset="-120"/>
              </a:rPr>
              <a:t>2025/12</a:t>
            </a:r>
            <a:endParaRPr lang="en-US" sz="1100" dirty="0"/>
          </a:p>
        </p:txBody>
      </p:sp>
      <p:sp>
        <p:nvSpPr>
          <p:cNvPr id="21" name="Text 18"/>
          <p:cNvSpPr txBox="1"/>
          <p:nvPr/>
        </p:nvSpPr>
        <p:spPr>
          <a:xfrm>
            <a:off x="9692640" y="3877056"/>
            <a:ext cx="914400" cy="274320"/>
          </a:xfrm>
          <a:prstGeom prst="rect">
            <a:avLst/>
          </a:prstGeom>
          <a:noFill/>
          <a:ln/>
        </p:spPr>
        <p:txBody>
          <a:bodyPr wrap="square" lIns="0" tIns="0" rIns="0" bIns="0" rtlCol="0" anchor="ctr"/>
          <a:lstStyle/>
          <a:p>
            <a:pPr algn="r" indent="0" marL="0">
              <a:buNone/>
            </a:pPr>
            <a:r>
              <a:rPr lang="en-US" sz="1200" b="1" dirty="0">
                <a:solidFill>
                  <a:srgbClr val="1F1A1C"/>
                </a:solidFill>
                <a:latin typeface="Calibri" pitchFamily="34" charset="0"/>
                <a:ea typeface="Calibri" pitchFamily="34" charset="-122"/>
                <a:cs typeface="Calibri" pitchFamily="34" charset="-120"/>
              </a:rPr>
              <a:t>51.7%</a:t>
            </a:r>
            <a:endParaRPr lang="en-US" sz="1200" dirty="0"/>
          </a:p>
        </p:txBody>
      </p:sp>
      <p:sp>
        <p:nvSpPr>
          <p:cNvPr id="22" name="Shape 19"/>
          <p:cNvSpPr/>
          <p:nvPr/>
        </p:nvSpPr>
        <p:spPr>
          <a:xfrm>
            <a:off x="10744200" y="3968496"/>
            <a:ext cx="800030" cy="100584"/>
          </a:xfrm>
          <a:prstGeom prst="rect">
            <a:avLst/>
          </a:prstGeom>
          <a:solidFill>
            <a:srgbClr val="A26769"/>
          </a:solidFill>
          <a:ln/>
        </p:spPr>
      </p:sp>
      <p:sp>
        <p:nvSpPr>
          <p:cNvPr id="23" name="Text 20"/>
          <p:cNvSpPr txBox="1"/>
          <p:nvPr/>
        </p:nvSpPr>
        <p:spPr>
          <a:xfrm>
            <a:off x="8485632" y="4261104"/>
            <a:ext cx="1371600" cy="274320"/>
          </a:xfrm>
          <a:prstGeom prst="rect">
            <a:avLst/>
          </a:prstGeom>
          <a:noFill/>
          <a:ln/>
        </p:spPr>
        <p:txBody>
          <a:bodyPr wrap="square" lIns="0" tIns="0" rIns="0" bIns="0" rtlCol="0" anchor="ctr"/>
          <a:lstStyle/>
          <a:p>
            <a:pPr indent="0" marL="0">
              <a:buNone/>
            </a:pPr>
            <a:r>
              <a:rPr lang="en-US" sz="1100" dirty="0">
                <a:solidFill>
                  <a:srgbClr val="6E6368"/>
                </a:solidFill>
                <a:latin typeface="Calibri" pitchFamily="34" charset="0"/>
                <a:ea typeface="Calibri" pitchFamily="34" charset="-122"/>
                <a:cs typeface="Calibri" pitchFamily="34" charset="-120"/>
              </a:rPr>
              <a:t>2026/12</a:t>
            </a:r>
            <a:endParaRPr lang="en-US" sz="1100" dirty="0"/>
          </a:p>
        </p:txBody>
      </p:sp>
      <p:sp>
        <p:nvSpPr>
          <p:cNvPr id="24" name="Text 21"/>
          <p:cNvSpPr txBox="1"/>
          <p:nvPr/>
        </p:nvSpPr>
        <p:spPr>
          <a:xfrm>
            <a:off x="9692640" y="4261104"/>
            <a:ext cx="914400" cy="274320"/>
          </a:xfrm>
          <a:prstGeom prst="rect">
            <a:avLst/>
          </a:prstGeom>
          <a:noFill/>
          <a:ln/>
        </p:spPr>
        <p:txBody>
          <a:bodyPr wrap="square" lIns="0" tIns="0" rIns="0" bIns="0" rtlCol="0" anchor="ctr"/>
          <a:lstStyle/>
          <a:p>
            <a:pPr algn="r" indent="0" marL="0">
              <a:buNone/>
            </a:pPr>
            <a:r>
              <a:rPr lang="en-US" sz="1200" b="1" dirty="0">
                <a:solidFill>
                  <a:srgbClr val="6D2E46"/>
                </a:solidFill>
                <a:latin typeface="Calibri" pitchFamily="34" charset="0"/>
                <a:ea typeface="Calibri" pitchFamily="34" charset="-122"/>
                <a:cs typeface="Calibri" pitchFamily="34" charset="-120"/>
              </a:rPr>
              <a:t>52.0%</a:t>
            </a:r>
            <a:endParaRPr lang="en-US" sz="1200" dirty="0"/>
          </a:p>
        </p:txBody>
      </p:sp>
      <p:sp>
        <p:nvSpPr>
          <p:cNvPr id="25" name="Shape 22"/>
          <p:cNvSpPr/>
          <p:nvPr/>
        </p:nvSpPr>
        <p:spPr>
          <a:xfrm>
            <a:off x="10744200" y="4352544"/>
            <a:ext cx="804672" cy="100584"/>
          </a:xfrm>
          <a:prstGeom prst="rect">
            <a:avLst/>
          </a:prstGeom>
          <a:solidFill>
            <a:srgbClr val="6D2E46"/>
          </a:solidFill>
          <a:ln/>
        </p:spPr>
      </p:sp>
      <p:sp>
        <p:nvSpPr>
          <p:cNvPr id="26" name="Text 23"/>
          <p:cNvSpPr txBox="1"/>
          <p:nvPr/>
        </p:nvSpPr>
        <p:spPr>
          <a:xfrm>
            <a:off x="8485632" y="4700016"/>
            <a:ext cx="3063240" cy="457200"/>
          </a:xfrm>
          <a:prstGeom prst="rect">
            <a:avLst/>
          </a:prstGeom>
          <a:noFill/>
          <a:ln/>
        </p:spPr>
        <p:txBody>
          <a:bodyPr wrap="square" lIns="0" tIns="0" rIns="0" bIns="0" rtlCol="0" anchor="ctr"/>
          <a:lstStyle/>
          <a:p>
            <a:pPr indent="0" marL="0">
              <a:lnSpc>
                <a:spcPts val="1500"/>
              </a:lnSpc>
              <a:buNone/>
            </a:pPr>
            <a:r>
              <a:rPr lang="en-US" sz="1000" dirty="0">
                <a:solidFill>
                  <a:srgbClr val="1F1A1C"/>
                </a:solidFill>
                <a:latin typeface="Calibri" pitchFamily="34" charset="0"/>
                <a:ea typeface="Calibri" pitchFamily="34" charset="-122"/>
                <a:cs typeface="Calibri" pitchFamily="34" charset="-120"/>
              </a:rPr>
              <a:t>CAGR（2021→2026）</a:t>
            </a:r>
            <a:endParaRPr lang="en-US" sz="1000" dirty="0"/>
          </a:p>
          <a:p>
            <a:pPr indent="0" marL="0">
              <a:lnSpc>
                <a:spcPts val="1500"/>
              </a:lnSpc>
              <a:buNone/>
            </a:pPr>
            <a:r>
              <a:rPr lang="en-US" sz="1000" dirty="0">
                <a:solidFill>
                  <a:srgbClr val="1F1A1C"/>
                </a:solidFill>
                <a:latin typeface="Calibri" pitchFamily="34" charset="0"/>
                <a:ea typeface="Calibri" pitchFamily="34" charset="-122"/>
                <a:cs typeface="Calibri" pitchFamily="34" charset="-120"/>
              </a:rPr>
              <a:t>売上 +7.7%　営業利益 +11.2%</a:t>
            </a:r>
            <a:endParaRPr lang="en-US" sz="1000" dirty="0"/>
          </a:p>
        </p:txBody>
      </p:sp>
      <p:sp>
        <p:nvSpPr>
          <p:cNvPr id="27" name="Text 24"/>
          <p:cNvSpPr txBox="1"/>
          <p:nvPr/>
        </p:nvSpPr>
        <p:spPr>
          <a:xfrm>
            <a:off x="566928" y="5486400"/>
            <a:ext cx="11055096" cy="274320"/>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出所：IM記載の決算数値（2021/12期〜2025/12期実績）および2026/12期会社計画（IM p.40）。</a:t>
            </a:r>
            <a:endParaRPr lang="en-US" sz="950" dirty="0"/>
          </a:p>
        </p:txBody>
      </p:sp>
      <p:sp>
        <p:nvSpPr>
          <p:cNvPr id="28" name="Text 25"/>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9" name="Text 26"/>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VALIDATION</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評価の基礎数値を、確定決算と月次試算表で検証した</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対象会社から開示された第13期〜第15期の確定決算、2026年1〜7月の月次試算表、および2029年までの会社計画を突合した。</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5096" cy="914400"/>
        </p:xfrm>
        <a:graphic>
          <a:graphicData uri="http://schemas.openxmlformats.org/drawingml/2006/table">
            <a:tbl>
              <a:tblPr/>
              <a:tblGrid>
                <a:gridCol w="1911096"/>
                <a:gridCol w="1307592"/>
                <a:gridCol w="1307592"/>
                <a:gridCol w="1307592"/>
                <a:gridCol w="1307592"/>
                <a:gridCol w="1307592"/>
                <a:gridCol w="1307592"/>
                <a:gridCol w="1298448"/>
              </a:tblGrid>
              <a:tr h="36576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2023 実績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2024 実績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2025 実績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2026 計画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2027 計画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2028 計画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2029 計画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売上高</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831.9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891.2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976.4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1,014.7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1,062.2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1,095.4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1,128.6</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営業利益</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392.8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442.5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505.0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528.1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555.8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576.5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598.2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営業利益率</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47.2%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49.7%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51.7%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52.0%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52.3%</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52.6%</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53.0%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当期純利益</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259.0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305.2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335.5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350.4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367.9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381.3</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395.6</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Text 3"/>
          <p:cNvSpPr txBox="1"/>
          <p:nvPr/>
        </p:nvSpPr>
        <p:spPr>
          <a:xfrm>
            <a:off x="566928" y="3511296"/>
            <a:ext cx="11055096" cy="292608"/>
          </a:xfrm>
          <a:prstGeom prst="rect">
            <a:avLst/>
          </a:prstGeom>
          <a:noFill/>
          <a:ln/>
        </p:spPr>
        <p:txBody>
          <a:bodyPr wrap="square" lIns="0" tIns="0" rIns="0" bIns="0" rtlCol="0" anchor="ctr"/>
          <a:lstStyle/>
          <a:p>
            <a:pPr indent="0" marL="0">
              <a:lnSpc>
                <a:spcPts val="1100"/>
              </a:lnSpc>
              <a:buNone/>
            </a:pPr>
            <a:r>
              <a:rPr lang="en-US" sz="850" dirty="0">
                <a:solidFill>
                  <a:srgbClr val="6E6368"/>
                </a:solidFill>
                <a:latin typeface="Calibri" pitchFamily="34" charset="0"/>
                <a:ea typeface="Calibri" pitchFamily="34" charset="-122"/>
                <a:cs typeface="Calibri" pitchFamily="34" charset="-120"/>
              </a:rPr>
              <a:t>※ 単位：億円ではなく百万円。2023〜2025年は確定決算、2026年以降は対象会社作成の計画（過去3年の費用比率の中央値を売上に乗じた積上げ）。当社が評価の基礎としている2026年12月期の数値は、網掛け列のとおり会社計画と一致する。</a:t>
            </a:r>
            <a:endParaRPr lang="en-US" sz="850" dirty="0"/>
          </a:p>
        </p:txBody>
      </p:sp>
      <p:sp>
        <p:nvSpPr>
          <p:cNvPr id="7" name="Text 4"/>
          <p:cNvSpPr txBox="1"/>
          <p:nvPr/>
        </p:nvSpPr>
        <p:spPr>
          <a:xfrm>
            <a:off x="566928" y="3822192"/>
            <a:ext cx="54864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2026年1〜7月の進捗</a:t>
            </a:r>
            <a:endParaRPr lang="en-US" sz="13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66928" y="4096512"/>
          <a:ext cx="11055096" cy="914400"/>
        </p:xfrm>
        <a:graphic>
          <a:graphicData uri="http://schemas.openxmlformats.org/drawingml/2006/table">
            <a:tbl>
              <a:tblPr/>
              <a:tblGrid>
                <a:gridCol w="1911096"/>
                <a:gridCol w="1600200"/>
                <a:gridCol w="1600200"/>
                <a:gridCol w="1508760"/>
                <a:gridCol w="1508760"/>
                <a:gridCol w="1508760"/>
                <a:gridCol w="141732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項目</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2025年1〜7月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2026年1〜7月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前年同期比</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年換算</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会社計画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計画比</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47472">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売上高（継続事業）</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553.8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587.6</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1,026.5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1,014.7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2E6F4E"/>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47472">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営業利益</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247.7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255.9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521.7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528.1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A8741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9" name="Text 5"/>
          <p:cNvSpPr txBox="1"/>
          <p:nvPr/>
        </p:nvSpPr>
        <p:spPr>
          <a:xfrm>
            <a:off x="566928" y="5120640"/>
            <a:ext cx="11055096" cy="347472"/>
          </a:xfrm>
          <a:prstGeom prst="rect">
            <a:avLst/>
          </a:prstGeom>
          <a:noFill/>
          <a:ln/>
        </p:spPr>
        <p:txBody>
          <a:bodyPr wrap="square" lIns="0" tIns="0" rIns="0" bIns="0" rtlCol="0" anchor="t"/>
          <a:lstStyle/>
          <a:p>
            <a:pPr indent="0" marL="0">
              <a:lnSpc>
                <a:spcPts val="1100"/>
              </a:lnSpc>
              <a:buNone/>
            </a:pPr>
            <a:r>
              <a:rPr lang="en-US" sz="850" dirty="0">
                <a:solidFill>
                  <a:srgbClr val="6E6368"/>
                </a:solidFill>
                <a:latin typeface="Calibri" pitchFamily="34" charset="0"/>
                <a:ea typeface="Calibri" pitchFamily="34" charset="-122"/>
                <a:cs typeface="Calibri" pitchFamily="34" charset="-120"/>
              </a:rPr>
              <a:t>※ 年換算は2025年通期に対する1〜7月の構成比（売上57.2%、営業利益49.1%。7月に役員賞与9,540万円を一括計上するため営業利益の構成比が低い）による。売上は継続事業ベース：2025年の売上には月100万円の業務受託収入が9か月分含まれ2025年9月で終了しているため、表面の前年同期比＋4.8%ではなく＋6.1%が実勢。</a:t>
            </a:r>
            <a:endParaRPr lang="en-US" sz="850" dirty="0"/>
          </a:p>
        </p:txBody>
      </p:sp>
      <p:sp>
        <p:nvSpPr>
          <p:cNvPr id="10" name="Shape 6"/>
          <p:cNvSpPr/>
          <p:nvPr/>
        </p:nvSpPr>
        <p:spPr>
          <a:xfrm>
            <a:off x="566928" y="5486400"/>
            <a:ext cx="3520440" cy="841248"/>
          </a:xfrm>
          <a:prstGeom prst="roundRect">
            <a:avLst>
              <a:gd name="adj" fmla="val 5435"/>
            </a:avLst>
          </a:prstGeom>
          <a:solidFill>
            <a:srgbClr val="F7F3F4"/>
          </a:solidFill>
          <a:ln w="9525">
            <a:solidFill>
              <a:srgbClr val="E4DADD"/>
            </a:solidFill>
            <a:prstDash val="solid"/>
          </a:ln>
        </p:spPr>
      </p:sp>
      <p:sp>
        <p:nvSpPr>
          <p:cNvPr id="11" name="Shape 7"/>
          <p:cNvSpPr/>
          <p:nvPr/>
        </p:nvSpPr>
        <p:spPr>
          <a:xfrm>
            <a:off x="566928" y="5486400"/>
            <a:ext cx="45720" cy="841248"/>
          </a:xfrm>
          <a:prstGeom prst="rect">
            <a:avLst/>
          </a:prstGeom>
          <a:solidFill>
            <a:srgbClr val="2E6F4E"/>
          </a:solidFill>
          <a:ln/>
        </p:spPr>
      </p:sp>
      <p:sp>
        <p:nvSpPr>
          <p:cNvPr id="12" name="Text 8"/>
          <p:cNvSpPr txBox="1"/>
          <p:nvPr/>
        </p:nvSpPr>
        <p:spPr>
          <a:xfrm>
            <a:off x="768096" y="5568696"/>
            <a:ext cx="3127248" cy="219456"/>
          </a:xfrm>
          <a:prstGeom prst="rect">
            <a:avLst/>
          </a:prstGeom>
          <a:noFill/>
          <a:ln/>
        </p:spPr>
        <p:txBody>
          <a:bodyPr wrap="square" lIns="0" tIns="0" rIns="0" bIns="0" rtlCol="0" anchor="ctr"/>
          <a:lstStyle/>
          <a:p>
            <a:pPr indent="0" marL="0">
              <a:buNone/>
            </a:pPr>
            <a:r>
              <a:rPr lang="en-US" sz="1050" b="1" dirty="0">
                <a:solidFill>
                  <a:srgbClr val="2E6F4E"/>
                </a:solidFill>
                <a:latin typeface="Calibri" pitchFamily="34" charset="0"/>
                <a:ea typeface="Calibri" pitchFamily="34" charset="-122"/>
                <a:cs typeface="Calibri" pitchFamily="34" charset="-120"/>
              </a:rPr>
              <a:t>① 評価の基礎は会社計画と一致</a:t>
            </a:r>
            <a:endParaRPr lang="en-US" sz="1050" dirty="0"/>
          </a:p>
        </p:txBody>
      </p:sp>
      <p:sp>
        <p:nvSpPr>
          <p:cNvPr id="13" name="Text 9"/>
          <p:cNvSpPr txBox="1"/>
          <p:nvPr/>
        </p:nvSpPr>
        <p:spPr>
          <a:xfrm>
            <a:off x="768096" y="5806440"/>
            <a:ext cx="3127248" cy="475488"/>
          </a:xfrm>
          <a:prstGeom prst="rect">
            <a:avLst/>
          </a:prstGeom>
          <a:noFill/>
          <a:ln/>
        </p:spPr>
        <p:txBody>
          <a:bodyPr wrap="square" lIns="0" tIns="0" rIns="0" bIns="0" rtlCol="0" anchor="ctr"/>
          <a:lstStyle/>
          <a:p>
            <a:pPr indent="0" marL="0">
              <a:lnSpc>
                <a:spcPts val="1000"/>
              </a:lnSpc>
              <a:buNone/>
            </a:pPr>
            <a:r>
              <a:rPr lang="en-US" sz="780" dirty="0">
                <a:solidFill>
                  <a:srgbClr val="1F1A1C"/>
                </a:solidFill>
                <a:latin typeface="Calibri" pitchFamily="34" charset="0"/>
                <a:ea typeface="Calibri" pitchFamily="34" charset="-122"/>
                <a:cs typeface="Calibri" pitchFamily="34" charset="-120"/>
              </a:rPr>
              <a:t>当社が用いている売上10.15億円・営業利益5.28億円・当期純利益3.50億円は、対象会社作成の2026年12月期計画と一致する。第15期（2025年）の確定決算は売上9.76億円・営業利益5.05億円であり、計画はその延長線上にある。</a:t>
            </a:r>
            <a:endParaRPr lang="en-US" sz="780" dirty="0"/>
          </a:p>
        </p:txBody>
      </p:sp>
      <p:sp>
        <p:nvSpPr>
          <p:cNvPr id="14" name="Shape 10"/>
          <p:cNvSpPr/>
          <p:nvPr/>
        </p:nvSpPr>
        <p:spPr>
          <a:xfrm>
            <a:off x="4297680" y="5486400"/>
            <a:ext cx="3520440" cy="841248"/>
          </a:xfrm>
          <a:prstGeom prst="roundRect">
            <a:avLst>
              <a:gd name="adj" fmla="val 5435"/>
            </a:avLst>
          </a:prstGeom>
          <a:solidFill>
            <a:srgbClr val="F7F3F4"/>
          </a:solidFill>
          <a:ln w="9525">
            <a:solidFill>
              <a:srgbClr val="E4DADD"/>
            </a:solidFill>
            <a:prstDash val="solid"/>
          </a:ln>
        </p:spPr>
      </p:sp>
      <p:sp>
        <p:nvSpPr>
          <p:cNvPr id="15" name="Shape 11"/>
          <p:cNvSpPr/>
          <p:nvPr/>
        </p:nvSpPr>
        <p:spPr>
          <a:xfrm>
            <a:off x="4297680" y="5486400"/>
            <a:ext cx="45720" cy="841248"/>
          </a:xfrm>
          <a:prstGeom prst="rect">
            <a:avLst/>
          </a:prstGeom>
          <a:solidFill>
            <a:srgbClr val="A8741A"/>
          </a:solidFill>
          <a:ln/>
        </p:spPr>
      </p:sp>
      <p:sp>
        <p:nvSpPr>
          <p:cNvPr id="16" name="Text 12"/>
          <p:cNvSpPr txBox="1"/>
          <p:nvPr/>
        </p:nvSpPr>
        <p:spPr>
          <a:xfrm>
            <a:off x="4498848" y="5568696"/>
            <a:ext cx="3127248" cy="219456"/>
          </a:xfrm>
          <a:prstGeom prst="rect">
            <a:avLst/>
          </a:prstGeom>
          <a:noFill/>
          <a:ln/>
        </p:spPr>
        <p:txBody>
          <a:bodyPr wrap="square" lIns="0" tIns="0" rIns="0" bIns="0" rtlCol="0" anchor="ctr"/>
          <a:lstStyle/>
          <a:p>
            <a:pPr indent="0" marL="0">
              <a:buNone/>
            </a:pPr>
            <a:r>
              <a:rPr lang="en-US" sz="1050" b="1" dirty="0">
                <a:solidFill>
                  <a:srgbClr val="A8741A"/>
                </a:solidFill>
                <a:latin typeface="Calibri" pitchFamily="34" charset="0"/>
                <a:ea typeface="Calibri" pitchFamily="34" charset="-122"/>
                <a:cs typeface="Calibri" pitchFamily="34" charset="-120"/>
              </a:rPr>
              <a:t>② 売上は計画超、利益はやや未達</a:t>
            </a:r>
            <a:endParaRPr lang="en-US" sz="1050" dirty="0"/>
          </a:p>
        </p:txBody>
      </p:sp>
      <p:sp>
        <p:nvSpPr>
          <p:cNvPr id="17" name="Text 13"/>
          <p:cNvSpPr txBox="1"/>
          <p:nvPr/>
        </p:nvSpPr>
        <p:spPr>
          <a:xfrm>
            <a:off x="4498848" y="5806440"/>
            <a:ext cx="3127248" cy="475488"/>
          </a:xfrm>
          <a:prstGeom prst="rect">
            <a:avLst/>
          </a:prstGeom>
          <a:noFill/>
          <a:ln/>
        </p:spPr>
        <p:txBody>
          <a:bodyPr wrap="square" lIns="0" tIns="0" rIns="0" bIns="0" rtlCol="0" anchor="ctr"/>
          <a:lstStyle/>
          <a:p>
            <a:pPr indent="0" marL="0">
              <a:lnSpc>
                <a:spcPts val="1000"/>
              </a:lnSpc>
              <a:buNone/>
            </a:pPr>
            <a:r>
              <a:rPr lang="en-US" sz="780" dirty="0">
                <a:solidFill>
                  <a:srgbClr val="1F1A1C"/>
                </a:solidFill>
                <a:latin typeface="Calibri" pitchFamily="34" charset="0"/>
                <a:ea typeface="Calibri" pitchFamily="34" charset="-122"/>
                <a:cs typeface="Calibri" pitchFamily="34" charset="-120"/>
              </a:rPr>
              <a:t>1〜7月の売上は継続事業ベースで前年同期比＋6.1%、年換算で計画を1.2%上回る。一方、営業利益は計画を1.2%下回る。要因は原価と人件費で、食材仕入が前年同期比＋19.2%、給料手当が同＋19.2%。粗利率は77.6%から77.0%へ0.6ポイント低下している。</a:t>
            </a:r>
            <a:endParaRPr lang="en-US" sz="780" dirty="0"/>
          </a:p>
        </p:txBody>
      </p:sp>
      <p:sp>
        <p:nvSpPr>
          <p:cNvPr id="18" name="Shape 14"/>
          <p:cNvSpPr/>
          <p:nvPr/>
        </p:nvSpPr>
        <p:spPr>
          <a:xfrm>
            <a:off x="8028432" y="5486400"/>
            <a:ext cx="3520440" cy="841248"/>
          </a:xfrm>
          <a:prstGeom prst="roundRect">
            <a:avLst>
              <a:gd name="adj" fmla="val 5435"/>
            </a:avLst>
          </a:prstGeom>
          <a:solidFill>
            <a:srgbClr val="F7F3F4"/>
          </a:solidFill>
          <a:ln w="9525">
            <a:solidFill>
              <a:srgbClr val="E4DADD"/>
            </a:solidFill>
            <a:prstDash val="solid"/>
          </a:ln>
        </p:spPr>
      </p:sp>
      <p:sp>
        <p:nvSpPr>
          <p:cNvPr id="19" name="Shape 15"/>
          <p:cNvSpPr/>
          <p:nvPr/>
        </p:nvSpPr>
        <p:spPr>
          <a:xfrm>
            <a:off x="8028432" y="5486400"/>
            <a:ext cx="45720" cy="841248"/>
          </a:xfrm>
          <a:prstGeom prst="rect">
            <a:avLst/>
          </a:prstGeom>
          <a:solidFill>
            <a:srgbClr val="6D2E46"/>
          </a:solidFill>
          <a:ln/>
        </p:spPr>
      </p:sp>
      <p:sp>
        <p:nvSpPr>
          <p:cNvPr id="20" name="Text 16"/>
          <p:cNvSpPr txBox="1"/>
          <p:nvPr/>
        </p:nvSpPr>
        <p:spPr>
          <a:xfrm>
            <a:off x="8229600" y="5568696"/>
            <a:ext cx="3127248"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③ 当社のDCFは会社計画より保守的</a:t>
            </a:r>
            <a:endParaRPr lang="en-US" sz="1050" dirty="0"/>
          </a:p>
        </p:txBody>
      </p:sp>
      <p:sp>
        <p:nvSpPr>
          <p:cNvPr id="21" name="Text 17"/>
          <p:cNvSpPr txBox="1"/>
          <p:nvPr/>
        </p:nvSpPr>
        <p:spPr>
          <a:xfrm>
            <a:off x="8229600" y="5806440"/>
            <a:ext cx="3127248" cy="475488"/>
          </a:xfrm>
          <a:prstGeom prst="rect">
            <a:avLst/>
          </a:prstGeom>
          <a:noFill/>
          <a:ln/>
        </p:spPr>
        <p:txBody>
          <a:bodyPr wrap="square" lIns="0" tIns="0" rIns="0" bIns="0" rtlCol="0" anchor="ctr"/>
          <a:lstStyle/>
          <a:p>
            <a:pPr indent="0" marL="0">
              <a:lnSpc>
                <a:spcPts val="1000"/>
              </a:lnSpc>
              <a:buNone/>
            </a:pPr>
            <a:r>
              <a:rPr lang="en-US" sz="780" dirty="0">
                <a:solidFill>
                  <a:srgbClr val="1F1A1C"/>
                </a:solidFill>
                <a:latin typeface="Calibri" pitchFamily="34" charset="0"/>
                <a:ea typeface="Calibri" pitchFamily="34" charset="-122"/>
                <a:cs typeface="Calibri" pitchFamily="34" charset="-120"/>
              </a:rPr>
              <a:t>会社計画は2029年まで年3〜5%の増益を見込むが、当社のDCFは岸田氏在任中の3年間をFCF 3.50億円で固定し、成長をゼロとしている。上記②のコスト上昇を踏まえれば、この保守性は妥当である。</a:t>
            </a:r>
            <a:endParaRPr lang="en-US" sz="780" dirty="0"/>
          </a:p>
        </p:txBody>
      </p:sp>
      <p:sp>
        <p:nvSpPr>
          <p:cNvPr id="22" name="Text 18"/>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3" name="Text 19"/>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VALIDATION</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ネットキャッシュ22.4億円の前提を、実績BSで検証した</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第13期〜第15期の確定決算および第16期（2026年）1〜7月の月次試算表から、BSの実額推移を復元した。</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5096" cy="914400"/>
        </p:xfrm>
        <a:graphic>
          <a:graphicData uri="http://schemas.openxmlformats.org/drawingml/2006/table">
            <a:tbl>
              <a:tblPr/>
              <a:tblGrid>
                <a:gridCol w="3008376"/>
                <a:gridCol w="2011680"/>
                <a:gridCol w="2011680"/>
                <a:gridCol w="2011680"/>
                <a:gridCol w="2011680"/>
              </a:tblGrid>
              <a:tr h="36576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2024/12末 実績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2025/12末 実績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2026/7末 実績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2026/12末 推計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現預金</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1,159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1,398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1,609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1,743</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長期貸付金（役員）</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500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棚卸資産（ワイン・食材）</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113</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119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115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119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資産合計</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1,768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2,106</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2,351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2,456</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負債合計（うち有利子負債）</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138（0）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141（0）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123（0）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141（0）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純資産</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1,629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1,965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2,227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2,315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Text 3"/>
          <p:cNvSpPr txBox="1"/>
          <p:nvPr/>
        </p:nvSpPr>
        <p:spPr>
          <a:xfrm>
            <a:off x="566928" y="4315968"/>
            <a:ext cx="11055096" cy="384048"/>
          </a:xfrm>
          <a:prstGeom prst="rect">
            <a:avLst/>
          </a:prstGeom>
          <a:noFill/>
          <a:ln/>
        </p:spPr>
        <p:txBody>
          <a:bodyPr wrap="square" lIns="0" tIns="0" rIns="0" bIns="0" rtlCol="0" anchor="ctr"/>
          <a:lstStyle/>
          <a:p>
            <a:pPr indent="0" marL="0">
              <a:lnSpc>
                <a:spcPts val="1100"/>
              </a:lnSpc>
              <a:buNone/>
            </a:pPr>
            <a:r>
              <a:rPr lang="en-US" sz="850" dirty="0">
                <a:solidFill>
                  <a:srgbClr val="6E6368"/>
                </a:solidFill>
                <a:latin typeface="Calibri" pitchFamily="34" charset="0"/>
                <a:ea typeface="Calibri" pitchFamily="34" charset="-122"/>
                <a:cs typeface="Calibri" pitchFamily="34" charset="-120"/>
              </a:rPr>
              <a:t>※ 単位：百万円。2024/12末・2025/12末は法人税申告書添付の確定BS、2026/7末は月次試算表（令和8年1月1日〜7月31日）。2026/12末は本資料の推計。第16期は7月時点で税金費用を未計上のため、純資産の推計は通期の法人税等を控除した後の数値。</a:t>
            </a:r>
            <a:endParaRPr lang="en-US" sz="850" dirty="0"/>
          </a:p>
        </p:txBody>
      </p:sp>
      <p:sp>
        <p:nvSpPr>
          <p:cNvPr id="7" name="Shape 4"/>
          <p:cNvSpPr/>
          <p:nvPr/>
        </p:nvSpPr>
        <p:spPr>
          <a:xfrm>
            <a:off x="566928" y="4754880"/>
            <a:ext cx="3520440" cy="1517904"/>
          </a:xfrm>
          <a:prstGeom prst="roundRect">
            <a:avLst>
              <a:gd name="adj" fmla="val 3012"/>
            </a:avLst>
          </a:prstGeom>
          <a:solidFill>
            <a:srgbClr val="F7F3F4"/>
          </a:solidFill>
          <a:ln w="9525">
            <a:solidFill>
              <a:srgbClr val="E4DADD"/>
            </a:solidFill>
            <a:prstDash val="solid"/>
          </a:ln>
        </p:spPr>
      </p:sp>
      <p:sp>
        <p:nvSpPr>
          <p:cNvPr id="8" name="Shape 5"/>
          <p:cNvSpPr/>
          <p:nvPr/>
        </p:nvSpPr>
        <p:spPr>
          <a:xfrm>
            <a:off x="566928" y="4754880"/>
            <a:ext cx="45720" cy="1517904"/>
          </a:xfrm>
          <a:prstGeom prst="rect">
            <a:avLst/>
          </a:prstGeom>
          <a:solidFill>
            <a:srgbClr val="2E6F4E"/>
          </a:solidFill>
          <a:ln/>
        </p:spPr>
      </p:sp>
      <p:sp>
        <p:nvSpPr>
          <p:cNvPr id="9" name="Text 6"/>
          <p:cNvSpPr txBox="1"/>
          <p:nvPr/>
        </p:nvSpPr>
        <p:spPr>
          <a:xfrm>
            <a:off x="768096" y="4846320"/>
            <a:ext cx="3127248" cy="384048"/>
          </a:xfrm>
          <a:prstGeom prst="rect">
            <a:avLst/>
          </a:prstGeom>
          <a:noFill/>
          <a:ln/>
        </p:spPr>
        <p:txBody>
          <a:bodyPr wrap="square" lIns="0" tIns="0" rIns="0" bIns="0" rtlCol="0" anchor="t"/>
          <a:lstStyle/>
          <a:p>
            <a:pPr indent="0" marL="0">
              <a:lnSpc>
                <a:spcPts val="1300"/>
              </a:lnSpc>
              <a:buNone/>
            </a:pPr>
            <a:r>
              <a:rPr lang="en-US" sz="1050" b="1" dirty="0">
                <a:solidFill>
                  <a:srgbClr val="2E6F4E"/>
                </a:solidFill>
                <a:latin typeface="Calibri" pitchFamily="34" charset="0"/>
                <a:ea typeface="Calibri" pitchFamily="34" charset="-122"/>
                <a:cs typeface="Calibri" pitchFamily="34" charset="-120"/>
              </a:rPr>
              <a:t>① 現預金の推計は実績と整合する</a:t>
            </a:r>
            <a:endParaRPr lang="en-US" sz="1050" dirty="0"/>
          </a:p>
        </p:txBody>
      </p:sp>
      <p:sp>
        <p:nvSpPr>
          <p:cNvPr id="10" name="Text 7"/>
          <p:cNvSpPr txBox="1"/>
          <p:nvPr/>
        </p:nvSpPr>
        <p:spPr>
          <a:xfrm>
            <a:off x="768096" y="5266944"/>
            <a:ext cx="3127248" cy="932688"/>
          </a:xfrm>
          <a:prstGeom prst="rect">
            <a:avLst/>
          </a:prstGeom>
          <a:noFill/>
          <a:ln/>
        </p:spPr>
        <p:txBody>
          <a:bodyPr wrap="square" lIns="0" tIns="0" rIns="0" bIns="0" rtlCol="0" anchor="t"/>
          <a:lstStyle/>
          <a:p>
            <a:pPr indent="0" marL="0">
              <a:lnSpc>
                <a:spcPts val="1000"/>
              </a:lnSpc>
              <a:buNone/>
            </a:pPr>
            <a:r>
              <a:rPr lang="en-US" sz="780" dirty="0">
                <a:solidFill>
                  <a:srgbClr val="1F1A1C"/>
                </a:solidFill>
                <a:latin typeface="Calibri" pitchFamily="34" charset="0"/>
                <a:ea typeface="Calibri" pitchFamily="34" charset="-122"/>
                <a:cs typeface="Calibri" pitchFamily="34" charset="-120"/>
              </a:rPr>
              <a:t>2026年7月末の実績現預金は16.09億円。8〜12月の税引前利益（約2.7億円）から法人税の中間納付（約0.9億円）と7月役員賞与に係る源泉預り金（0.41億円）の支払を差し引くと、12月末は17.4億円前後となり、本資料の推計17.43億円と一致する。ネットキャッシュ22.4億円の前提は実績で裏づけられている。</a:t>
            </a:r>
            <a:endParaRPr lang="en-US" sz="780" dirty="0"/>
          </a:p>
        </p:txBody>
      </p:sp>
      <p:sp>
        <p:nvSpPr>
          <p:cNvPr id="11" name="Shape 8"/>
          <p:cNvSpPr/>
          <p:nvPr/>
        </p:nvSpPr>
        <p:spPr>
          <a:xfrm>
            <a:off x="4297680" y="4754880"/>
            <a:ext cx="3520440" cy="1517904"/>
          </a:xfrm>
          <a:prstGeom prst="roundRect">
            <a:avLst>
              <a:gd name="adj" fmla="val 3012"/>
            </a:avLst>
          </a:prstGeom>
          <a:solidFill>
            <a:srgbClr val="F7F3F4"/>
          </a:solidFill>
          <a:ln w="9525">
            <a:solidFill>
              <a:srgbClr val="E4DADD"/>
            </a:solidFill>
            <a:prstDash val="solid"/>
          </a:ln>
        </p:spPr>
      </p:sp>
      <p:sp>
        <p:nvSpPr>
          <p:cNvPr id="12" name="Shape 9"/>
          <p:cNvSpPr/>
          <p:nvPr/>
        </p:nvSpPr>
        <p:spPr>
          <a:xfrm>
            <a:off x="4297680" y="4754880"/>
            <a:ext cx="45720" cy="1517904"/>
          </a:xfrm>
          <a:prstGeom prst="rect">
            <a:avLst/>
          </a:prstGeom>
          <a:solidFill>
            <a:srgbClr val="A8741A"/>
          </a:solidFill>
          <a:ln/>
        </p:spPr>
      </p:sp>
      <p:sp>
        <p:nvSpPr>
          <p:cNvPr id="13" name="Text 10"/>
          <p:cNvSpPr txBox="1"/>
          <p:nvPr/>
        </p:nvSpPr>
        <p:spPr>
          <a:xfrm>
            <a:off x="4498848" y="4846320"/>
            <a:ext cx="3127248" cy="384048"/>
          </a:xfrm>
          <a:prstGeom prst="rect">
            <a:avLst/>
          </a:prstGeom>
          <a:noFill/>
          <a:ln/>
        </p:spPr>
        <p:txBody>
          <a:bodyPr wrap="square" lIns="0" tIns="0" rIns="0" bIns="0" rtlCol="0" anchor="t"/>
          <a:lstStyle/>
          <a:p>
            <a:pPr indent="0" marL="0">
              <a:lnSpc>
                <a:spcPts val="1300"/>
              </a:lnSpc>
              <a:buNone/>
            </a:pPr>
            <a:r>
              <a:rPr lang="en-US" sz="1050" b="1" dirty="0">
                <a:solidFill>
                  <a:srgbClr val="A8741A"/>
                </a:solidFill>
                <a:latin typeface="Calibri" pitchFamily="34" charset="0"/>
                <a:ea typeface="Calibri" pitchFamily="34" charset="-122"/>
                <a:cs typeface="Calibri" pitchFamily="34" charset="-120"/>
              </a:rPr>
              <a:t>② 役員貸付金は2025年3月に1億円増額</a:t>
            </a:r>
            <a:endParaRPr lang="en-US" sz="1050" dirty="0"/>
          </a:p>
        </p:txBody>
      </p:sp>
      <p:sp>
        <p:nvSpPr>
          <p:cNvPr id="14" name="Text 11"/>
          <p:cNvSpPr txBox="1"/>
          <p:nvPr/>
        </p:nvSpPr>
        <p:spPr>
          <a:xfrm>
            <a:off x="4498848" y="5266944"/>
            <a:ext cx="3127248" cy="932688"/>
          </a:xfrm>
          <a:prstGeom prst="rect">
            <a:avLst/>
          </a:prstGeom>
          <a:noFill/>
          <a:ln/>
        </p:spPr>
        <p:txBody>
          <a:bodyPr wrap="square" lIns="0" tIns="0" rIns="0" bIns="0" rtlCol="0" anchor="t"/>
          <a:lstStyle/>
          <a:p>
            <a:pPr indent="0" marL="0">
              <a:lnSpc>
                <a:spcPts val="1000"/>
              </a:lnSpc>
              <a:buNone/>
            </a:pPr>
            <a:r>
              <a:rPr lang="en-US" sz="780" dirty="0">
                <a:solidFill>
                  <a:srgbClr val="1F1A1C"/>
                </a:solidFill>
                <a:latin typeface="Calibri" pitchFamily="34" charset="0"/>
                <a:ea typeface="Calibri" pitchFamily="34" charset="-122"/>
                <a:cs typeface="Calibri" pitchFamily="34" charset="-120"/>
              </a:rPr>
              <a:t>残高は2024年12月末まで4.00億円、2025年3月に5.00億円へ増額され、2026年7月末も5.00億円のまま。利率0.900%、第15期の利息430万円は雑収入に適正計上されている。売却プロセスの直前に増額されている事実は、クロージング時の現金精算を最終契約の前提条件とすべき理由をいっそう強める。</a:t>
            </a:r>
            <a:endParaRPr lang="en-US" sz="780" dirty="0"/>
          </a:p>
        </p:txBody>
      </p:sp>
      <p:sp>
        <p:nvSpPr>
          <p:cNvPr id="15" name="Shape 12"/>
          <p:cNvSpPr/>
          <p:nvPr/>
        </p:nvSpPr>
        <p:spPr>
          <a:xfrm>
            <a:off x="8028432" y="4754880"/>
            <a:ext cx="3520440" cy="1517904"/>
          </a:xfrm>
          <a:prstGeom prst="roundRect">
            <a:avLst>
              <a:gd name="adj" fmla="val 3012"/>
            </a:avLst>
          </a:prstGeom>
          <a:solidFill>
            <a:srgbClr val="F7F3F4"/>
          </a:solidFill>
          <a:ln w="9525">
            <a:solidFill>
              <a:srgbClr val="E4DADD"/>
            </a:solidFill>
            <a:prstDash val="solid"/>
          </a:ln>
        </p:spPr>
      </p:sp>
      <p:sp>
        <p:nvSpPr>
          <p:cNvPr id="16" name="Shape 13"/>
          <p:cNvSpPr/>
          <p:nvPr/>
        </p:nvSpPr>
        <p:spPr>
          <a:xfrm>
            <a:off x="8028432" y="4754880"/>
            <a:ext cx="45720" cy="1517904"/>
          </a:xfrm>
          <a:prstGeom prst="rect">
            <a:avLst/>
          </a:prstGeom>
          <a:solidFill>
            <a:srgbClr val="6D2E46"/>
          </a:solidFill>
          <a:ln/>
        </p:spPr>
      </p:sp>
      <p:sp>
        <p:nvSpPr>
          <p:cNvPr id="17" name="Text 14"/>
          <p:cNvSpPr txBox="1"/>
          <p:nvPr/>
        </p:nvSpPr>
        <p:spPr>
          <a:xfrm>
            <a:off x="8229600" y="4846320"/>
            <a:ext cx="3127248" cy="384048"/>
          </a:xfrm>
          <a:prstGeom prst="rect">
            <a:avLst/>
          </a:prstGeom>
          <a:noFill/>
          <a:ln/>
        </p:spPr>
        <p:txBody>
          <a:bodyPr wrap="square" lIns="0" tIns="0" rIns="0" bIns="0" rtlCol="0" anchor="t"/>
          <a:lstStyle/>
          <a:p>
            <a:pPr indent="0" marL="0">
              <a:lnSpc>
                <a:spcPts val="1300"/>
              </a:lnSpc>
              <a:buNone/>
            </a:pPr>
            <a:r>
              <a:rPr lang="en-US" sz="1050" b="1" dirty="0">
                <a:solidFill>
                  <a:srgbClr val="6D2E46"/>
                </a:solidFill>
                <a:latin typeface="Calibri" pitchFamily="34" charset="0"/>
                <a:ea typeface="Calibri" pitchFamily="34" charset="-122"/>
                <a:cs typeface="Calibri" pitchFamily="34" charset="-120"/>
              </a:rPr>
              <a:t>③ 有利子負債ゼロ、担保余力はワイン在庫のみ</a:t>
            </a:r>
            <a:endParaRPr lang="en-US" sz="1050" dirty="0"/>
          </a:p>
        </p:txBody>
      </p:sp>
      <p:sp>
        <p:nvSpPr>
          <p:cNvPr id="18" name="Text 15"/>
          <p:cNvSpPr txBox="1"/>
          <p:nvPr/>
        </p:nvSpPr>
        <p:spPr>
          <a:xfrm>
            <a:off x="8229600" y="5266944"/>
            <a:ext cx="3127248" cy="932688"/>
          </a:xfrm>
          <a:prstGeom prst="rect">
            <a:avLst/>
          </a:prstGeom>
          <a:noFill/>
          <a:ln/>
        </p:spPr>
        <p:txBody>
          <a:bodyPr wrap="square" lIns="0" tIns="0" rIns="0" bIns="0" rtlCol="0" anchor="t"/>
          <a:lstStyle/>
          <a:p>
            <a:pPr indent="0" marL="0">
              <a:lnSpc>
                <a:spcPts val="1000"/>
              </a:lnSpc>
              <a:buNone/>
            </a:pPr>
            <a:r>
              <a:rPr lang="en-US" sz="780" dirty="0">
                <a:solidFill>
                  <a:srgbClr val="1F1A1C"/>
                </a:solidFill>
                <a:latin typeface="Calibri" pitchFamily="34" charset="0"/>
                <a:ea typeface="Calibri" pitchFamily="34" charset="-122"/>
                <a:cs typeface="Calibri" pitchFamily="34" charset="-120"/>
              </a:rPr>
              <a:t>全期間を通じて借入はゼロ。有形固定資産は2026年7月末で141万円にすぎず、物的担保は簿価1.15億円のワイン在庫に限られる。買収ファイナンスの保全は対象会社株式への質権設定とキャッシュフロー・コベナンツが中心となる。</a:t>
            </a:r>
            <a:endParaRPr lang="en-US" sz="780" dirty="0"/>
          </a:p>
        </p:txBody>
      </p:sp>
      <p:sp>
        <p:nvSpPr>
          <p:cNvPr id="19" name="Text 16"/>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0" name="Text 17"/>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2026/12期 想定損益</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評価の基礎となる損益：EBITDA 5.29億円、FCF 3.50億円</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減価償却1百万円・設備投資ゼロ・運転資本の増減も軽微なため、当期純利益がほぼそのままフリーキャッシュフローになる。</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7223760" cy="914400"/>
        </p:xfrm>
        <a:graphic>
          <a:graphicData uri="http://schemas.openxmlformats.org/drawingml/2006/table">
            <a:tbl>
              <a:tblPr/>
              <a:tblGrid>
                <a:gridCol w="3108960"/>
                <a:gridCol w="1371600"/>
                <a:gridCol w="1371600"/>
                <a:gridCol w="137160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損益計算書（百万円）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2025/12 実績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2026/12 計画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増減</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1089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売上高</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976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1,015</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+39</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営業利益</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505</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528</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50" dirty="0">
                          <a:solidFill>
                            <a:srgbClr val="6E6368"/>
                          </a:solidFill>
                          <a:latin typeface="Calibri" pitchFamily="34" charset="0"/>
                          <a:ea typeface="Calibri" pitchFamily="34" charset="-122"/>
                          <a:cs typeface="Calibri" pitchFamily="34" charset="-120"/>
                        </a:rPr>
                        <a:t>　営業利益率</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6E6368"/>
                          </a:solidFill>
                          <a:latin typeface="Calibri" pitchFamily="34" charset="0"/>
                          <a:ea typeface="Calibri" pitchFamily="34" charset="-122"/>
                          <a:cs typeface="Calibri" pitchFamily="34" charset="-120"/>
                        </a:rPr>
                        <a:t>51.7%</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6E6368"/>
                          </a:solidFill>
                          <a:latin typeface="Calibri" pitchFamily="34" charset="0"/>
                          <a:ea typeface="Calibri" pitchFamily="34" charset="-122"/>
                          <a:cs typeface="Calibri" pitchFamily="34" charset="-120"/>
                        </a:rPr>
                        <a:t>52.0%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6E6368"/>
                          </a:solidFill>
                          <a:latin typeface="Calibri" pitchFamily="34" charset="0"/>
                          <a:ea typeface="Calibri" pitchFamily="34" charset="-122"/>
                          <a:cs typeface="Calibri" pitchFamily="34" charset="-120"/>
                        </a:rPr>
                        <a:t>+0.3pt</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営業外収益</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税引前当期純利益</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511</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534</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法人税等（実効税率34.4%）</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176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184</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当期純利益</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335</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350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+15</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減価償却費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EBITDA</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506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529</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1089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設備投資</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フリーキャッシュフロー</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336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350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+14</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6" name="Shape 3"/>
          <p:cNvSpPr/>
          <p:nvPr/>
        </p:nvSpPr>
        <p:spPr>
          <a:xfrm>
            <a:off x="7973568" y="1783080"/>
            <a:ext cx="3648456" cy="1874520"/>
          </a:xfrm>
          <a:prstGeom prst="roundRect">
            <a:avLst>
              <a:gd name="adj" fmla="val 2439"/>
            </a:avLst>
          </a:prstGeom>
          <a:solidFill>
            <a:srgbClr val="F7F3F4"/>
          </a:solidFill>
          <a:ln w="9525">
            <a:solidFill>
              <a:srgbClr val="E4DADD"/>
            </a:solidFill>
            <a:prstDash val="solid"/>
          </a:ln>
        </p:spPr>
      </p:sp>
      <p:sp>
        <p:nvSpPr>
          <p:cNvPr id="7" name="Text 4"/>
          <p:cNvSpPr txBox="1"/>
          <p:nvPr/>
        </p:nvSpPr>
        <p:spPr>
          <a:xfrm>
            <a:off x="8193024" y="1920240"/>
            <a:ext cx="320040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評価上の重要な確認点</a:t>
            </a:r>
            <a:endParaRPr lang="en-US" sz="1000" dirty="0"/>
          </a:p>
        </p:txBody>
      </p:sp>
      <p:sp>
        <p:nvSpPr>
          <p:cNvPr id="8" name="Text 5"/>
          <p:cNvSpPr txBox="1"/>
          <p:nvPr/>
        </p:nvSpPr>
        <p:spPr>
          <a:xfrm>
            <a:off x="8193024" y="2194560"/>
            <a:ext cx="3200400" cy="1280160"/>
          </a:xfrm>
          <a:prstGeom prst="rect">
            <a:avLst/>
          </a:prstGeom>
          <a:noFill/>
          <a:ln/>
        </p:spPr>
        <p:txBody>
          <a:bodyPr wrap="square" lIns="0" tIns="0" rIns="0" bIns="0" rtlCol="0" anchor="ctr"/>
          <a:lstStyle/>
          <a:p>
            <a:pPr indent="0" marL="0">
              <a:lnSpc>
                <a:spcPts val="1600"/>
              </a:lnSpc>
              <a:buNone/>
            </a:pPr>
            <a:r>
              <a:rPr lang="en-US" sz="1050" dirty="0">
                <a:solidFill>
                  <a:srgbClr val="1F1A1C"/>
                </a:solidFill>
                <a:latin typeface="Calibri" pitchFamily="34" charset="0"/>
                <a:ea typeface="Calibri" pitchFamily="34" charset="-122"/>
                <a:cs typeface="Calibri" pitchFamily="34" charset="-120"/>
              </a:rPr>
              <a:t>役員賞与（売上比9.77%＝約95百万円）は販管費に計上済み。したがって営業利益528百万円は役員報酬・賞与を控除した後の数値であり、評価にあたって二重に控除する必要はない。</a:t>
            </a:r>
            <a:endParaRPr lang="en-US" sz="1050" dirty="0"/>
          </a:p>
        </p:txBody>
      </p:sp>
      <p:sp>
        <p:nvSpPr>
          <p:cNvPr id="9" name="Shape 6"/>
          <p:cNvSpPr/>
          <p:nvPr/>
        </p:nvSpPr>
        <p:spPr>
          <a:xfrm>
            <a:off x="7973568" y="3822192"/>
            <a:ext cx="3648456" cy="1508760"/>
          </a:xfrm>
          <a:prstGeom prst="roundRect">
            <a:avLst>
              <a:gd name="adj" fmla="val 3030"/>
            </a:avLst>
          </a:prstGeom>
          <a:solidFill>
            <a:srgbClr val="FFFFFF"/>
          </a:solidFill>
          <a:ln w="9525">
            <a:solidFill>
              <a:srgbClr val="E4DADD"/>
            </a:solidFill>
            <a:prstDash val="solid"/>
          </a:ln>
        </p:spPr>
      </p:sp>
      <p:sp>
        <p:nvSpPr>
          <p:cNvPr id="10" name="Text 7"/>
          <p:cNvSpPr txBox="1"/>
          <p:nvPr/>
        </p:nvSpPr>
        <p:spPr>
          <a:xfrm>
            <a:off x="8193024" y="3950208"/>
            <a:ext cx="320040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FCF ＝ 当期純利益</a:t>
            </a:r>
            <a:endParaRPr lang="en-US" sz="1000" dirty="0"/>
          </a:p>
        </p:txBody>
      </p:sp>
      <p:sp>
        <p:nvSpPr>
          <p:cNvPr id="11" name="Text 8"/>
          <p:cNvSpPr txBox="1"/>
          <p:nvPr/>
        </p:nvSpPr>
        <p:spPr>
          <a:xfrm>
            <a:off x="8193024" y="4206240"/>
            <a:ext cx="3200400" cy="457200"/>
          </a:xfrm>
          <a:prstGeom prst="rect">
            <a:avLst/>
          </a:prstGeom>
          <a:noFill/>
          <a:ln/>
        </p:spPr>
        <p:txBody>
          <a:bodyPr wrap="square" lIns="0" tIns="0" rIns="0" bIns="0" rtlCol="0" anchor="ctr"/>
          <a:lstStyle/>
          <a:p>
            <a:pPr indent="0" marL="0">
              <a:buNone/>
            </a:pPr>
            <a:r>
              <a:rPr lang="en-US" sz="3000" b="1" dirty="0">
                <a:solidFill>
                  <a:srgbClr val="6D2E46"/>
                </a:solidFill>
                <a:latin typeface="Cambria" pitchFamily="34" charset="0"/>
                <a:ea typeface="Cambria" pitchFamily="34" charset="-122"/>
                <a:cs typeface="Cambria" pitchFamily="34" charset="-120"/>
              </a:rPr>
              <a:t>3.50</a:t>
            </a:r>
            <a:pPr indent="0" marL="0">
              <a:buNone/>
            </a:pPr>
            <a:r>
              <a:rPr lang="en-US" sz="1200" dirty="0">
                <a:solidFill>
                  <a:srgbClr val="1F1A1C"/>
                </a:solidFill>
              </a:rPr>
              <a:t> 億円</a:t>
            </a:r>
            <a:endParaRPr lang="en-US" sz="3000" dirty="0"/>
          </a:p>
        </p:txBody>
      </p:sp>
      <p:sp>
        <p:nvSpPr>
          <p:cNvPr id="12" name="Text 9"/>
          <p:cNvSpPr txBox="1"/>
          <p:nvPr/>
        </p:nvSpPr>
        <p:spPr>
          <a:xfrm>
            <a:off x="8193024" y="4681728"/>
            <a:ext cx="3200400" cy="548640"/>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設備投資がほぼ発生しない業態のため、利益がそのまま返済原資・株主還元原資になる。</a:t>
            </a:r>
            <a:endParaRPr lang="en-US" sz="1000" dirty="0"/>
          </a:p>
        </p:txBody>
      </p:sp>
      <p:sp>
        <p:nvSpPr>
          <p:cNvPr id="13" name="Text 10"/>
          <p:cNvSpPr txBox="1"/>
          <p:nvPr/>
        </p:nvSpPr>
        <p:spPr>
          <a:xfrm>
            <a:off x="566928" y="5623560"/>
            <a:ext cx="11055096" cy="274320"/>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出所：2025/12期はIM記載の実績、2026/12期はIM p.40の会社計画。実効税率は2025年実績（34.4%）を適用。</a:t>
            </a:r>
            <a:endParaRPr lang="en-US" sz="950" dirty="0"/>
          </a:p>
        </p:txBody>
      </p:sp>
      <p:sp>
        <p:nvSpPr>
          <p:cNvPr id="14" name="Text 11"/>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15" name="Text 12"/>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2026/12期末 想定貸借対照表</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純資産23.15億円、ネットキャッシュ22.43億円</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20年間無配で利益を内部留保してきたため、2025/12期末純資産19.65億円に2026年の当期純利益3.50億円が積み上がる。</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5096" cy="914400"/>
        </p:xfrm>
        <a:graphic>
          <a:graphicData uri="http://schemas.openxmlformats.org/drawingml/2006/table">
            <a:tbl>
              <a:tblPr/>
              <a:tblGrid>
                <a:gridCol w="2148840"/>
                <a:gridCol w="1097280"/>
                <a:gridCol w="1097280"/>
                <a:gridCol w="2871216"/>
                <a:gridCol w="1097280"/>
                <a:gridCol w="109728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資産（百万円）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2025実績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2026想定</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負債・純資産（百万円）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2025実績</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2026想定</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65760">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現預金</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1,398</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1,743</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仕入債務・未払費用</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商品（ワイン在庫）</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未払法人税等・未払消費税</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114</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114</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長期貸付金（役員）</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有利子負債</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その他資産</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89</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94</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負債合計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141</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141</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6576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純資産合計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1,965</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2,315</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65760">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資産合計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2,106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2,456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負債・純資産合計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2,106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2,456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6" name="Shape 3"/>
          <p:cNvSpPr/>
          <p:nvPr/>
        </p:nvSpPr>
        <p:spPr>
          <a:xfrm>
            <a:off x="566928" y="4590288"/>
            <a:ext cx="4937760" cy="1188720"/>
          </a:xfrm>
          <a:prstGeom prst="roundRect">
            <a:avLst>
              <a:gd name="adj" fmla="val 3846"/>
            </a:avLst>
          </a:prstGeom>
          <a:solidFill>
            <a:srgbClr val="F7F3F4"/>
          </a:solidFill>
          <a:ln w="9525">
            <a:solidFill>
              <a:srgbClr val="E4DADD"/>
            </a:solidFill>
            <a:prstDash val="solid"/>
          </a:ln>
        </p:spPr>
      </p:sp>
      <p:sp>
        <p:nvSpPr>
          <p:cNvPr id="7" name="Text 4"/>
          <p:cNvSpPr txBox="1"/>
          <p:nvPr/>
        </p:nvSpPr>
        <p:spPr>
          <a:xfrm>
            <a:off x="786384" y="4700016"/>
            <a:ext cx="2926080" cy="274320"/>
          </a:xfrm>
          <a:prstGeom prst="rect">
            <a:avLst/>
          </a:prstGeom>
          <a:noFill/>
          <a:ln/>
        </p:spPr>
        <p:txBody>
          <a:bodyPr wrap="square" lIns="0" tIns="0" rIns="0" bIns="0" rtlCol="0" anchor="ctr"/>
          <a:lstStyle/>
          <a:p>
            <a:pPr indent="0" marL="0">
              <a:buNone/>
            </a:pPr>
            <a:r>
              <a:rPr lang="en-US" sz="1100" dirty="0">
                <a:solidFill>
                  <a:srgbClr val="1F1A1C"/>
                </a:solidFill>
                <a:latin typeface="Calibri" pitchFamily="34" charset="0"/>
                <a:ea typeface="Calibri" pitchFamily="34" charset="-122"/>
                <a:cs typeface="Calibri" pitchFamily="34" charset="-120"/>
              </a:rPr>
              <a:t>現預金</a:t>
            </a:r>
            <a:endParaRPr lang="en-US" sz="1100" dirty="0"/>
          </a:p>
        </p:txBody>
      </p:sp>
      <p:sp>
        <p:nvSpPr>
          <p:cNvPr id="8" name="Text 5"/>
          <p:cNvSpPr txBox="1"/>
          <p:nvPr/>
        </p:nvSpPr>
        <p:spPr>
          <a:xfrm>
            <a:off x="3675888" y="4700016"/>
            <a:ext cx="1600200" cy="274320"/>
          </a:xfrm>
          <a:prstGeom prst="rect">
            <a:avLst/>
          </a:prstGeom>
          <a:noFill/>
          <a:ln/>
        </p:spPr>
        <p:txBody>
          <a:bodyPr wrap="square" lIns="0" tIns="0" rIns="0" bIns="0" rtlCol="0" anchor="ctr"/>
          <a:lstStyle/>
          <a:p>
            <a:pPr algn="r" indent="0" marL="0">
              <a:buNone/>
            </a:pPr>
            <a:r>
              <a:rPr lang="en-US" sz="1100" dirty="0">
                <a:solidFill>
                  <a:srgbClr val="1F1A1C"/>
                </a:solidFill>
                <a:latin typeface="Calibri" pitchFamily="34" charset="0"/>
                <a:ea typeface="Calibri" pitchFamily="34" charset="-122"/>
                <a:cs typeface="Calibri" pitchFamily="34" charset="-120"/>
              </a:rPr>
              <a:t>17.43億円</a:t>
            </a:r>
            <a:endParaRPr lang="en-US" sz="1100" dirty="0"/>
          </a:p>
        </p:txBody>
      </p:sp>
      <p:sp>
        <p:nvSpPr>
          <p:cNvPr id="9" name="Text 6"/>
          <p:cNvSpPr txBox="1"/>
          <p:nvPr/>
        </p:nvSpPr>
        <p:spPr>
          <a:xfrm>
            <a:off x="786384" y="5029200"/>
            <a:ext cx="2926080" cy="274320"/>
          </a:xfrm>
          <a:prstGeom prst="rect">
            <a:avLst/>
          </a:prstGeom>
          <a:noFill/>
          <a:ln/>
        </p:spPr>
        <p:txBody>
          <a:bodyPr wrap="square" lIns="0" tIns="0" rIns="0" bIns="0" rtlCol="0" anchor="ctr"/>
          <a:lstStyle/>
          <a:p>
            <a:pPr indent="0" marL="0">
              <a:buNone/>
            </a:pPr>
            <a:r>
              <a:rPr lang="en-US" sz="1100" dirty="0">
                <a:solidFill>
                  <a:srgbClr val="1F1A1C"/>
                </a:solidFill>
                <a:latin typeface="Calibri" pitchFamily="34" charset="0"/>
                <a:ea typeface="Calibri" pitchFamily="34" charset="-122"/>
                <a:cs typeface="Calibri" pitchFamily="34" charset="-120"/>
              </a:rPr>
              <a:t>＋ 長期貸付金（役員）</a:t>
            </a:r>
            <a:endParaRPr lang="en-US" sz="1100" dirty="0"/>
          </a:p>
        </p:txBody>
      </p:sp>
      <p:sp>
        <p:nvSpPr>
          <p:cNvPr id="10" name="Text 7"/>
          <p:cNvSpPr txBox="1"/>
          <p:nvPr/>
        </p:nvSpPr>
        <p:spPr>
          <a:xfrm>
            <a:off x="3675888" y="5029200"/>
            <a:ext cx="1600200" cy="274320"/>
          </a:xfrm>
          <a:prstGeom prst="rect">
            <a:avLst/>
          </a:prstGeom>
          <a:noFill/>
          <a:ln/>
        </p:spPr>
        <p:txBody>
          <a:bodyPr wrap="square" lIns="0" tIns="0" rIns="0" bIns="0" rtlCol="0" anchor="ctr"/>
          <a:lstStyle/>
          <a:p>
            <a:pPr algn="r" indent="0" marL="0">
              <a:buNone/>
            </a:pPr>
            <a:r>
              <a:rPr lang="en-US" sz="1100" dirty="0">
                <a:solidFill>
                  <a:srgbClr val="1F1A1C"/>
                </a:solidFill>
                <a:latin typeface="Calibri" pitchFamily="34" charset="0"/>
                <a:ea typeface="Calibri" pitchFamily="34" charset="-122"/>
                <a:cs typeface="Calibri" pitchFamily="34" charset="-120"/>
              </a:rPr>
              <a:t>5.00億円</a:t>
            </a:r>
            <a:endParaRPr lang="en-US" sz="1100" dirty="0"/>
          </a:p>
        </p:txBody>
      </p:sp>
      <p:sp>
        <p:nvSpPr>
          <p:cNvPr id="11" name="Text 8"/>
          <p:cNvSpPr txBox="1"/>
          <p:nvPr/>
        </p:nvSpPr>
        <p:spPr>
          <a:xfrm>
            <a:off x="786384" y="5358384"/>
            <a:ext cx="2926080" cy="274320"/>
          </a:xfrm>
          <a:prstGeom prst="rect">
            <a:avLst/>
          </a:prstGeom>
          <a:noFill/>
          <a:ln/>
        </p:spPr>
        <p:txBody>
          <a:bodyPr wrap="square" lIns="0" tIns="0" rIns="0" bIns="0" rtlCol="0" anchor="ctr"/>
          <a:lstStyle/>
          <a:p>
            <a:pPr indent="0" marL="0">
              <a:buNone/>
            </a:pPr>
            <a:r>
              <a:rPr lang="en-US" sz="1200" b="1" dirty="0">
                <a:solidFill>
                  <a:srgbClr val="6D2E46"/>
                </a:solidFill>
                <a:latin typeface="Calibri" pitchFamily="34" charset="0"/>
                <a:ea typeface="Calibri" pitchFamily="34" charset="-122"/>
                <a:cs typeface="Calibri" pitchFamily="34" charset="-120"/>
              </a:rPr>
              <a:t>＝ ネットキャッシュ</a:t>
            </a:r>
            <a:endParaRPr lang="en-US" sz="1200" dirty="0"/>
          </a:p>
        </p:txBody>
      </p:sp>
      <p:sp>
        <p:nvSpPr>
          <p:cNvPr id="12" name="Text 9"/>
          <p:cNvSpPr txBox="1"/>
          <p:nvPr/>
        </p:nvSpPr>
        <p:spPr>
          <a:xfrm>
            <a:off x="3675888" y="5358384"/>
            <a:ext cx="1600200" cy="274320"/>
          </a:xfrm>
          <a:prstGeom prst="rect">
            <a:avLst/>
          </a:prstGeom>
          <a:noFill/>
          <a:ln/>
        </p:spPr>
        <p:txBody>
          <a:bodyPr wrap="square" lIns="0" tIns="0" rIns="0" bIns="0" rtlCol="0" anchor="ctr"/>
          <a:lstStyle/>
          <a:p>
            <a:pPr algn="r" indent="0" marL="0">
              <a:buNone/>
            </a:pPr>
            <a:r>
              <a:rPr lang="en-US" sz="1300" b="1" dirty="0">
                <a:solidFill>
                  <a:srgbClr val="6D2E46"/>
                </a:solidFill>
                <a:latin typeface="Calibri" pitchFamily="34" charset="0"/>
                <a:ea typeface="Calibri" pitchFamily="34" charset="-122"/>
                <a:cs typeface="Calibri" pitchFamily="34" charset="-120"/>
              </a:rPr>
              <a:t>22.43億円</a:t>
            </a:r>
            <a:endParaRPr lang="en-US" sz="1300" dirty="0"/>
          </a:p>
        </p:txBody>
      </p:sp>
      <p:sp>
        <p:nvSpPr>
          <p:cNvPr id="13" name="Text 10"/>
          <p:cNvSpPr txBox="1"/>
          <p:nvPr/>
        </p:nvSpPr>
        <p:spPr>
          <a:xfrm>
            <a:off x="5715000" y="4590288"/>
            <a:ext cx="5907024" cy="256032"/>
          </a:xfrm>
          <a:prstGeom prst="rect">
            <a:avLst/>
          </a:prstGeom>
          <a:noFill/>
          <a:ln/>
        </p:spPr>
        <p:txBody>
          <a:bodyPr wrap="square" lIns="0" tIns="0" rIns="0" bIns="0" rtlCol="0" anchor="ctr"/>
          <a:lstStyle/>
          <a:p>
            <a:pPr indent="0" marL="0">
              <a:buNone/>
            </a:pPr>
            <a:r>
              <a:rPr lang="en-US" sz="1300" b="1" dirty="0">
                <a:solidFill>
                  <a:srgbClr val="9B2C2C"/>
                </a:solidFill>
                <a:latin typeface="Cambria" pitchFamily="34" charset="0"/>
                <a:ea typeface="Cambria" pitchFamily="34" charset="-122"/>
                <a:cs typeface="Cambria" pitchFamily="34" charset="-120"/>
              </a:rPr>
              <a:t>注意：役員貸付金5.00億円は「現金」ではない</a:t>
            </a:r>
            <a:endParaRPr lang="en-US" sz="1300" dirty="0"/>
          </a:p>
        </p:txBody>
      </p:sp>
      <p:sp>
        <p:nvSpPr>
          <p:cNvPr id="14" name="Text 11"/>
          <p:cNvSpPr txBox="1"/>
          <p:nvPr/>
        </p:nvSpPr>
        <p:spPr>
          <a:xfrm>
            <a:off x="5715000" y="4882896"/>
            <a:ext cx="5907024" cy="822960"/>
          </a:xfrm>
          <a:prstGeom prst="rect">
            <a:avLst/>
          </a:prstGeom>
          <a:noFill/>
          <a:ln/>
        </p:spPr>
        <p:txBody>
          <a:bodyPr wrap="square" lIns="0" tIns="0" rIns="0" bIns="0" rtlCol="0" anchor="ctr"/>
          <a:lstStyle/>
          <a:p>
            <a:pPr indent="0" marL="0">
              <a:lnSpc>
                <a:spcPts val="1600"/>
              </a:lnSpc>
              <a:buNone/>
            </a:pPr>
            <a:r>
              <a:rPr lang="en-US" sz="1050" dirty="0">
                <a:solidFill>
                  <a:srgbClr val="1F1A1C"/>
                </a:solidFill>
                <a:latin typeface="Calibri" pitchFamily="34" charset="0"/>
                <a:ea typeface="Calibri" pitchFamily="34" charset="-122"/>
                <a:cs typeface="Calibri" pitchFamily="34" charset="-120"/>
              </a:rPr>
              <a:t>仲介の「ネットキャッシュ約20億円」のうち5.00億円は岸田氏に対する長期貸付金であり、同氏が返済して初めて現金になる。クロージング時の現金精算を条件化しない限り、買主は譲渡後に5億円の債権回収を追うことになる（p.30 論点1）。</a:t>
            </a:r>
            <a:endParaRPr lang="en-US" sz="1050" dirty="0"/>
          </a:p>
        </p:txBody>
      </p:sp>
      <p:sp>
        <p:nvSpPr>
          <p:cNvPr id="15" name="Text 12"/>
          <p:cNvSpPr txBox="1"/>
          <p:nvPr/>
        </p:nvSpPr>
        <p:spPr>
          <a:xfrm>
            <a:off x="566928" y="5897880"/>
            <a:ext cx="11055096" cy="274320"/>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出所：2025/12期はIM記載のBS。2026/12期は無配・設備投資ゼロ・負債横ばいを前提に、当期純利益350百万円が全額現預金と純資産に積み上がるものとして推計。</a:t>
            </a:r>
            <a:endParaRPr lang="en-US" sz="950" dirty="0"/>
          </a:p>
        </p:txBody>
      </p:sp>
      <p:sp>
        <p:nvSpPr>
          <p:cNvPr id="16" name="Text 13"/>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17" name="Text 14"/>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PRICE BRIDGE</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50億円のうち、事業に対して払うのは27.6億円</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株式価値から非事業用資産を控除して事業価値（EV）を求める。この27.6億円が妥当かどうかが、本件の論点のすべてである。</a:t>
            </a:r>
            <a:endParaRPr lang="en-US" sz="1250" dirty="0"/>
          </a:p>
        </p:txBody>
      </p:sp>
      <p:sp>
        <p:nvSpPr>
          <p:cNvPr id="5" name="Shape 3"/>
          <p:cNvSpPr/>
          <p:nvPr/>
        </p:nvSpPr>
        <p:spPr>
          <a:xfrm>
            <a:off x="886968" y="1874520"/>
            <a:ext cx="1234440" cy="3017520"/>
          </a:xfrm>
          <a:prstGeom prst="rect">
            <a:avLst/>
          </a:prstGeom>
          <a:solidFill>
            <a:srgbClr val="6D2E46"/>
          </a:solidFill>
          <a:ln/>
        </p:spPr>
      </p:sp>
      <p:sp>
        <p:nvSpPr>
          <p:cNvPr id="6" name="Text 4"/>
          <p:cNvSpPr txBox="1"/>
          <p:nvPr/>
        </p:nvSpPr>
        <p:spPr>
          <a:xfrm>
            <a:off x="749808" y="1563624"/>
            <a:ext cx="1508760" cy="274320"/>
          </a:xfrm>
          <a:prstGeom prst="rect">
            <a:avLst/>
          </a:prstGeom>
          <a:noFill/>
          <a:ln/>
        </p:spPr>
        <p:txBody>
          <a:bodyPr wrap="square" lIns="0" tIns="0" rIns="0" bIns="0" rtlCol="0" anchor="ctr"/>
          <a:lstStyle/>
          <a:p>
            <a:pPr algn="ctr" indent="0" marL="0">
              <a:buNone/>
            </a:pPr>
            <a:r>
              <a:rPr lang="en-US" sz="1200" b="1" dirty="0">
                <a:solidFill>
                  <a:srgbClr val="1F1A1C"/>
                </a:solidFill>
                <a:latin typeface="Calibri" pitchFamily="34" charset="0"/>
                <a:ea typeface="Calibri" pitchFamily="34" charset="-122"/>
                <a:cs typeface="Calibri" pitchFamily="34" charset="-120"/>
              </a:rPr>
              <a:t>50.00 億円</a:t>
            </a:r>
            <a:endParaRPr lang="en-US" sz="1200" dirty="0"/>
          </a:p>
        </p:txBody>
      </p:sp>
      <p:sp>
        <p:nvSpPr>
          <p:cNvPr id="7" name="Text 5"/>
          <p:cNvSpPr txBox="1"/>
          <p:nvPr/>
        </p:nvSpPr>
        <p:spPr>
          <a:xfrm>
            <a:off x="658368" y="4965192"/>
            <a:ext cx="1691640" cy="274320"/>
          </a:xfrm>
          <a:prstGeom prst="rect">
            <a:avLst/>
          </a:prstGeom>
          <a:noFill/>
          <a:ln/>
        </p:spPr>
        <p:txBody>
          <a:bodyPr wrap="square" lIns="0" tIns="0" rIns="0" bIns="0" rtlCol="0" anchor="ctr"/>
          <a:lstStyle/>
          <a:p>
            <a:pPr algn="ctr" indent="0" marL="0">
              <a:buNone/>
            </a:pPr>
            <a:r>
              <a:rPr lang="en-US" sz="1050" dirty="0">
                <a:solidFill>
                  <a:srgbClr val="1F1A1C"/>
                </a:solidFill>
                <a:latin typeface="Calibri" pitchFamily="34" charset="0"/>
                <a:ea typeface="Calibri" pitchFamily="34" charset="-122"/>
                <a:cs typeface="Calibri" pitchFamily="34" charset="-120"/>
              </a:rPr>
              <a:t>株式価値</a:t>
            </a:r>
            <a:endParaRPr lang="en-US" sz="1050" dirty="0"/>
          </a:p>
        </p:txBody>
      </p:sp>
      <p:sp>
        <p:nvSpPr>
          <p:cNvPr id="8" name="Shape 6"/>
          <p:cNvSpPr/>
          <p:nvPr/>
        </p:nvSpPr>
        <p:spPr>
          <a:xfrm>
            <a:off x="2459736" y="1874520"/>
            <a:ext cx="1234440" cy="1051560"/>
          </a:xfrm>
          <a:prstGeom prst="rect">
            <a:avLst/>
          </a:prstGeom>
          <a:solidFill>
            <a:srgbClr val="A26769"/>
          </a:solidFill>
          <a:ln/>
        </p:spPr>
      </p:sp>
      <p:sp>
        <p:nvSpPr>
          <p:cNvPr id="9" name="Text 7"/>
          <p:cNvSpPr txBox="1"/>
          <p:nvPr/>
        </p:nvSpPr>
        <p:spPr>
          <a:xfrm>
            <a:off x="2322576" y="1563624"/>
            <a:ext cx="1508760" cy="274320"/>
          </a:xfrm>
          <a:prstGeom prst="rect">
            <a:avLst/>
          </a:prstGeom>
          <a:noFill/>
          <a:ln/>
        </p:spPr>
        <p:txBody>
          <a:bodyPr wrap="square" lIns="0" tIns="0" rIns="0" bIns="0" rtlCol="0" anchor="ctr"/>
          <a:lstStyle/>
          <a:p>
            <a:pPr algn="ctr" indent="0" marL="0">
              <a:buNone/>
            </a:pPr>
            <a:r>
              <a:rPr lang="en-US" sz="1200" b="1" dirty="0">
                <a:solidFill>
                  <a:srgbClr val="1F1A1C"/>
                </a:solidFill>
                <a:latin typeface="Calibri" pitchFamily="34" charset="0"/>
                <a:ea typeface="Calibri" pitchFamily="34" charset="-122"/>
                <a:cs typeface="Calibri" pitchFamily="34" charset="-120"/>
              </a:rPr>
              <a:t>▲17.43 億円</a:t>
            </a:r>
            <a:endParaRPr lang="en-US" sz="1200" dirty="0"/>
          </a:p>
        </p:txBody>
      </p:sp>
      <p:sp>
        <p:nvSpPr>
          <p:cNvPr id="10" name="Text 8"/>
          <p:cNvSpPr txBox="1"/>
          <p:nvPr/>
        </p:nvSpPr>
        <p:spPr>
          <a:xfrm>
            <a:off x="2231136" y="4965192"/>
            <a:ext cx="1691640" cy="274320"/>
          </a:xfrm>
          <a:prstGeom prst="rect">
            <a:avLst/>
          </a:prstGeom>
          <a:noFill/>
          <a:ln/>
        </p:spPr>
        <p:txBody>
          <a:bodyPr wrap="square" lIns="0" tIns="0" rIns="0" bIns="0" rtlCol="0" anchor="ctr"/>
          <a:lstStyle/>
          <a:p>
            <a:pPr algn="ctr" indent="0" marL="0">
              <a:buNone/>
            </a:pPr>
            <a:r>
              <a:rPr lang="en-US" sz="1050" dirty="0">
                <a:solidFill>
                  <a:srgbClr val="1F1A1C"/>
                </a:solidFill>
                <a:latin typeface="Calibri" pitchFamily="34" charset="0"/>
                <a:ea typeface="Calibri" pitchFamily="34" charset="-122"/>
                <a:cs typeface="Calibri" pitchFamily="34" charset="-120"/>
              </a:rPr>
              <a:t>現預金</a:t>
            </a:r>
            <a:endParaRPr lang="en-US" sz="1050" dirty="0"/>
          </a:p>
        </p:txBody>
      </p:sp>
      <p:sp>
        <p:nvSpPr>
          <p:cNvPr id="11" name="Shape 9"/>
          <p:cNvSpPr/>
          <p:nvPr/>
        </p:nvSpPr>
        <p:spPr>
          <a:xfrm>
            <a:off x="4032504" y="2926080"/>
            <a:ext cx="1234440" cy="301752"/>
          </a:xfrm>
          <a:prstGeom prst="rect">
            <a:avLst/>
          </a:prstGeom>
          <a:solidFill>
            <a:srgbClr val="A26769"/>
          </a:solidFill>
          <a:ln/>
        </p:spPr>
      </p:sp>
      <p:sp>
        <p:nvSpPr>
          <p:cNvPr id="12" name="Text 10"/>
          <p:cNvSpPr txBox="1"/>
          <p:nvPr/>
        </p:nvSpPr>
        <p:spPr>
          <a:xfrm>
            <a:off x="3895344" y="2615184"/>
            <a:ext cx="1508760" cy="274320"/>
          </a:xfrm>
          <a:prstGeom prst="rect">
            <a:avLst/>
          </a:prstGeom>
          <a:noFill/>
          <a:ln/>
        </p:spPr>
        <p:txBody>
          <a:bodyPr wrap="square" lIns="0" tIns="0" rIns="0" bIns="0" rtlCol="0" anchor="ctr"/>
          <a:lstStyle/>
          <a:p>
            <a:pPr algn="ctr" indent="0" marL="0">
              <a:buNone/>
            </a:pPr>
            <a:r>
              <a:rPr lang="en-US" sz="1200" b="1" dirty="0">
                <a:solidFill>
                  <a:srgbClr val="1F1A1C"/>
                </a:solidFill>
                <a:latin typeface="Calibri" pitchFamily="34" charset="0"/>
                <a:ea typeface="Calibri" pitchFamily="34" charset="-122"/>
                <a:cs typeface="Calibri" pitchFamily="34" charset="-120"/>
              </a:rPr>
              <a:t>▲5.00 億円</a:t>
            </a:r>
            <a:endParaRPr lang="en-US" sz="1200" dirty="0"/>
          </a:p>
        </p:txBody>
      </p:sp>
      <p:sp>
        <p:nvSpPr>
          <p:cNvPr id="13" name="Text 11"/>
          <p:cNvSpPr txBox="1"/>
          <p:nvPr/>
        </p:nvSpPr>
        <p:spPr>
          <a:xfrm>
            <a:off x="3803904" y="4965192"/>
            <a:ext cx="1691640" cy="274320"/>
          </a:xfrm>
          <a:prstGeom prst="rect">
            <a:avLst/>
          </a:prstGeom>
          <a:noFill/>
          <a:ln/>
        </p:spPr>
        <p:txBody>
          <a:bodyPr wrap="square" lIns="0" tIns="0" rIns="0" bIns="0" rtlCol="0" anchor="ctr"/>
          <a:lstStyle/>
          <a:p>
            <a:pPr algn="ctr" indent="0" marL="0">
              <a:buNone/>
            </a:pPr>
            <a:r>
              <a:rPr lang="en-US" sz="1050" dirty="0">
                <a:solidFill>
                  <a:srgbClr val="1F1A1C"/>
                </a:solidFill>
                <a:latin typeface="Calibri" pitchFamily="34" charset="0"/>
                <a:ea typeface="Calibri" pitchFamily="34" charset="-122"/>
                <a:cs typeface="Calibri" pitchFamily="34" charset="-120"/>
              </a:rPr>
              <a:t>役員貸付金</a:t>
            </a:r>
            <a:endParaRPr lang="en-US" sz="1050" dirty="0"/>
          </a:p>
        </p:txBody>
      </p:sp>
      <p:sp>
        <p:nvSpPr>
          <p:cNvPr id="14" name="Shape 12"/>
          <p:cNvSpPr/>
          <p:nvPr/>
        </p:nvSpPr>
        <p:spPr>
          <a:xfrm>
            <a:off x="5605272" y="3227832"/>
            <a:ext cx="1234440" cy="1664208"/>
          </a:xfrm>
          <a:prstGeom prst="rect">
            <a:avLst/>
          </a:prstGeom>
          <a:solidFill>
            <a:srgbClr val="2B1520"/>
          </a:solidFill>
          <a:ln/>
        </p:spPr>
      </p:sp>
      <p:sp>
        <p:nvSpPr>
          <p:cNvPr id="15" name="Text 13"/>
          <p:cNvSpPr txBox="1"/>
          <p:nvPr/>
        </p:nvSpPr>
        <p:spPr>
          <a:xfrm>
            <a:off x="5468112" y="2916936"/>
            <a:ext cx="1508760" cy="274320"/>
          </a:xfrm>
          <a:prstGeom prst="rect">
            <a:avLst/>
          </a:prstGeom>
          <a:noFill/>
          <a:ln/>
        </p:spPr>
        <p:txBody>
          <a:bodyPr wrap="square" lIns="0" tIns="0" rIns="0" bIns="0" rtlCol="0" anchor="ctr"/>
          <a:lstStyle/>
          <a:p>
            <a:pPr algn="ctr" indent="0" marL="0">
              <a:buNone/>
            </a:pPr>
            <a:r>
              <a:rPr lang="en-US" sz="1200" b="1" dirty="0">
                <a:solidFill>
                  <a:srgbClr val="1F1A1C"/>
                </a:solidFill>
                <a:latin typeface="Calibri" pitchFamily="34" charset="0"/>
                <a:ea typeface="Calibri" pitchFamily="34" charset="-122"/>
                <a:cs typeface="Calibri" pitchFamily="34" charset="-120"/>
              </a:rPr>
              <a:t>27.57 億円</a:t>
            </a:r>
            <a:endParaRPr lang="en-US" sz="1200" dirty="0"/>
          </a:p>
        </p:txBody>
      </p:sp>
      <p:sp>
        <p:nvSpPr>
          <p:cNvPr id="16" name="Text 14"/>
          <p:cNvSpPr txBox="1"/>
          <p:nvPr/>
        </p:nvSpPr>
        <p:spPr>
          <a:xfrm>
            <a:off x="5376672" y="4965192"/>
            <a:ext cx="1691640" cy="274320"/>
          </a:xfrm>
          <a:prstGeom prst="rect">
            <a:avLst/>
          </a:prstGeom>
          <a:noFill/>
          <a:ln/>
        </p:spPr>
        <p:txBody>
          <a:bodyPr wrap="square" lIns="0" tIns="0" rIns="0" bIns="0" rtlCol="0" anchor="ctr"/>
          <a:lstStyle/>
          <a:p>
            <a:pPr algn="ctr" indent="0" marL="0">
              <a:buNone/>
            </a:pPr>
            <a:r>
              <a:rPr lang="en-US" sz="1050" dirty="0">
                <a:solidFill>
                  <a:srgbClr val="1F1A1C"/>
                </a:solidFill>
                <a:latin typeface="Calibri" pitchFamily="34" charset="0"/>
                <a:ea typeface="Calibri" pitchFamily="34" charset="-122"/>
                <a:cs typeface="Calibri" pitchFamily="34" charset="-120"/>
              </a:rPr>
              <a:t>事業価値（EV）</a:t>
            </a:r>
            <a:endParaRPr lang="en-US" sz="1050" dirty="0"/>
          </a:p>
        </p:txBody>
      </p:sp>
      <p:sp>
        <p:nvSpPr>
          <p:cNvPr id="17" name="Shape 15"/>
          <p:cNvSpPr/>
          <p:nvPr/>
        </p:nvSpPr>
        <p:spPr>
          <a:xfrm>
            <a:off x="886968" y="4892040"/>
            <a:ext cx="6583680" cy="0"/>
          </a:xfrm>
          <a:prstGeom prst="line">
            <a:avLst/>
          </a:prstGeom>
          <a:noFill/>
          <a:ln w="12700">
            <a:solidFill>
              <a:srgbClr val="E4DADD"/>
            </a:solidFill>
            <a:prstDash val="solid"/>
          </a:ln>
        </p:spPr>
      </p:sp>
      <p:sp>
        <p:nvSpPr>
          <p:cNvPr id="18" name="Shape 16"/>
          <p:cNvSpPr/>
          <p:nvPr/>
        </p:nvSpPr>
        <p:spPr>
          <a:xfrm>
            <a:off x="7360920" y="1783080"/>
            <a:ext cx="4261104" cy="3767328"/>
          </a:xfrm>
          <a:prstGeom prst="roundRect">
            <a:avLst>
              <a:gd name="adj" fmla="val 1214"/>
            </a:avLst>
          </a:prstGeom>
          <a:solidFill>
            <a:srgbClr val="F7F3F4"/>
          </a:solidFill>
          <a:ln w="9525">
            <a:solidFill>
              <a:srgbClr val="E4DADD"/>
            </a:solidFill>
            <a:prstDash val="solid"/>
          </a:ln>
        </p:spPr>
      </p:sp>
      <p:sp>
        <p:nvSpPr>
          <p:cNvPr id="19" name="Text 17"/>
          <p:cNvSpPr txBox="1"/>
          <p:nvPr/>
        </p:nvSpPr>
        <p:spPr>
          <a:xfrm>
            <a:off x="7580376" y="1920240"/>
            <a:ext cx="3840480" cy="274320"/>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前提の置き方でEVは5.2〜6.5倍に振れる</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580376" y="2286000"/>
          <a:ext cx="3822192" cy="914400"/>
        </p:xfrm>
        <a:graphic>
          <a:graphicData uri="http://schemas.openxmlformats.org/drawingml/2006/table">
            <a:tbl>
              <a:tblPr/>
              <a:tblGrid>
                <a:gridCol w="1993392"/>
                <a:gridCol w="914400"/>
                <a:gridCol w="914400"/>
              </a:tblGrid>
              <a:tr h="5303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EVの算定ケース</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倍率</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530352">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① 仲介前提</a:t>
                      </a:r>
                      <a:endParaRPr lang="en-US" sz="950" dirty="0">
                        <a:latin typeface="Calibri" charset="0"/>
                        <a:ea typeface="Calibri" charset="0"/>
                        <a:cs typeface="Calibri" charset="0"/>
                      </a:endParaRPr>
                    </a:p>
                    <a:p>
                      <a:pPr indent="0" marL="0">
                        <a:buNone/>
                      </a:pPr>
                      <a:r>
                        <a:rPr lang="en-US" sz="950" dirty="0">
                          <a:solidFill>
                            <a:srgbClr val="1F1A1C"/>
                          </a:solidFill>
                          <a:latin typeface="Calibri" pitchFamily="34" charset="0"/>
                          <a:ea typeface="Calibri" pitchFamily="34" charset="-122"/>
                          <a:cs typeface="Calibri" pitchFamily="34" charset="-120"/>
                        </a:rPr>
                        <a:t>（現預金＋役員貸付を全額控除）</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27.57億</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5.2倍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30352">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② 未払税金等1.41億を負債類似として加算</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28.98億</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5.5倍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530352">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③ 役員貸付が未精算＋運転資金2.0億を留保</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34.57億</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9B2C2C"/>
                          </a:solidFill>
                          <a:latin typeface="Calibri" pitchFamily="34" charset="0"/>
                          <a:ea typeface="Calibri" pitchFamily="34" charset="-122"/>
                          <a:cs typeface="Calibri" pitchFamily="34" charset="-120"/>
                        </a:rPr>
                        <a:t>6.5倍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21" name="Text 18"/>
          <p:cNvSpPr txBox="1"/>
          <p:nvPr/>
        </p:nvSpPr>
        <p:spPr>
          <a:xfrm>
            <a:off x="7580376" y="4553712"/>
            <a:ext cx="3822192" cy="914400"/>
          </a:xfrm>
          <a:prstGeom prst="rect">
            <a:avLst/>
          </a:prstGeom>
          <a:noFill/>
          <a:ln/>
        </p:spPr>
        <p:txBody>
          <a:bodyPr wrap="square" lIns="0" tIns="0" rIns="0" bIns="0" rtlCol="0" anchor="ctr"/>
          <a:lstStyle/>
          <a:p>
            <a:pPr indent="0" marL="0">
              <a:lnSpc>
                <a:spcPts val="1500"/>
              </a:lnSpc>
              <a:buNone/>
            </a:pPr>
            <a:r>
              <a:rPr lang="en-US" sz="1000" dirty="0">
                <a:solidFill>
                  <a:srgbClr val="6E6368"/>
                </a:solidFill>
                <a:latin typeface="Calibri" pitchFamily="34" charset="0"/>
                <a:ea typeface="Calibri" pitchFamily="34" charset="-122"/>
                <a:cs typeface="Calibri" pitchFamily="34" charset="-120"/>
              </a:rPr>
              <a:t>銀行審査で最も効く論点は③。役員貸付金5.0億円の精算方法と、買収後に対象会社へ留保すべき運転資金の水準によって、実質的に払っている倍率は5.2倍から6.5倍まで動く。SPA上の手当てが価格そのものと同じ重みを持つ。</a:t>
            </a:r>
            <a:endParaRPr lang="en-US" sz="1000" dirty="0"/>
          </a:p>
        </p:txBody>
      </p:sp>
      <p:sp>
        <p:nvSpPr>
          <p:cNvPr id="22" name="Text 19"/>
          <p:cNvSpPr txBox="1"/>
          <p:nvPr/>
        </p:nvSpPr>
        <p:spPr>
          <a:xfrm>
            <a:off x="566928" y="5779008"/>
            <a:ext cx="6675120" cy="274320"/>
          </a:xfrm>
          <a:prstGeom prst="rect">
            <a:avLst/>
          </a:prstGeom>
          <a:noFill/>
          <a:ln/>
        </p:spPr>
        <p:txBody>
          <a:bodyPr wrap="square" lIns="0" tIns="0" rIns="0" bIns="0" rtlCol="0" anchor="ctr"/>
          <a:lstStyle/>
          <a:p>
            <a:pPr indent="0" marL="0">
              <a:buNone/>
            </a:pPr>
            <a:r>
              <a:rPr lang="en-US" sz="1000" dirty="0">
                <a:solidFill>
                  <a:srgbClr val="6E6368"/>
                </a:solidFill>
                <a:latin typeface="Calibri" pitchFamily="34" charset="0"/>
                <a:ea typeface="Calibri" pitchFamily="34" charset="-122"/>
                <a:cs typeface="Calibri" pitchFamily="34" charset="-120"/>
              </a:rPr>
              <a:t>以下、本資料では断りのない限りケース①（EV 27.57億円）を基準とする。</a:t>
            </a:r>
            <a:endParaRPr lang="en-US" sz="1000" dirty="0"/>
          </a:p>
        </p:txBody>
      </p:sp>
      <p:sp>
        <p:nvSpPr>
          <p:cNvPr id="23" name="Text 20"/>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4" name="Text 21"/>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検証① マルチプル法</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EV/EBITDA 5.2倍。セクター実務目安の6倍を下回る</a:t>
            </a:r>
            <a:endParaRPr lang="en-US" sz="2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5096" cy="914400"/>
        </p:xfrm>
        <a:graphic>
          <a:graphicData uri="http://schemas.openxmlformats.org/drawingml/2006/table">
            <a:tbl>
              <a:tblPr/>
              <a:tblGrid>
                <a:gridCol w="1920240"/>
                <a:gridCol w="1920240"/>
                <a:gridCol w="1645920"/>
                <a:gridCol w="1645920"/>
                <a:gridCol w="2276856"/>
                <a:gridCol w="164592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株式譲渡価格</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事業価値（EV）</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EV/EBITDA</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EV/営業利益</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単純回収年数（EV÷FCF）</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判定</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0233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45.00億円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22.57億円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4.27倍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4.27倍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6.4年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売主が応じない水準</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02336">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50.00億円（提示）</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27.57億円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5.21倍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5.22倍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7.9年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00" b="1" dirty="0">
                          <a:solidFill>
                            <a:srgbClr val="2E6F4E"/>
                          </a:solidFill>
                          <a:latin typeface="Calibri" pitchFamily="34" charset="0"/>
                          <a:ea typeface="Calibri" pitchFamily="34" charset="-122"/>
                          <a:cs typeface="Calibri" pitchFamily="34" charset="-120"/>
                        </a:rPr>
                        <a:t>妥当</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40233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55.00億円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32.57億円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6.16倍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6.17倍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9.3年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A8741A"/>
                          </a:solidFill>
                          <a:latin typeface="Calibri" pitchFamily="34" charset="0"/>
                          <a:ea typeface="Calibri" pitchFamily="34" charset="-122"/>
                          <a:cs typeface="Calibri" pitchFamily="34" charset="-120"/>
                        </a:rPr>
                        <a:t>許容上限</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0233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60.00億円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37.57億円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7.10倍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7.11倍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10.7年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9B2C2C"/>
                          </a:solidFill>
                          <a:latin typeface="Calibri" pitchFamily="34" charset="0"/>
                          <a:ea typeface="Calibri" pitchFamily="34" charset="-122"/>
                          <a:cs typeface="Calibri" pitchFamily="34" charset="-120"/>
                        </a:rPr>
                        <a:t>説明困難</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5" name="Text 2"/>
          <p:cNvSpPr txBox="1"/>
          <p:nvPr/>
        </p:nvSpPr>
        <p:spPr>
          <a:xfrm>
            <a:off x="566928" y="3602736"/>
            <a:ext cx="4572000" cy="274320"/>
          </a:xfrm>
          <a:prstGeom prst="rect">
            <a:avLst/>
          </a:prstGeom>
          <a:noFill/>
          <a:ln/>
        </p:spPr>
        <p:txBody>
          <a:bodyPr wrap="square" lIns="0" tIns="0" rIns="0" bIns="0" rtlCol="0" anchor="ctr"/>
          <a:lstStyle/>
          <a:p>
            <a:pPr indent="0" marL="0">
              <a:buNone/>
            </a:pPr>
            <a:r>
              <a:rPr lang="en-US" sz="1400" b="1" dirty="0">
                <a:solidFill>
                  <a:srgbClr val="1F1A1C"/>
                </a:solidFill>
                <a:latin typeface="Cambria" pitchFamily="34" charset="0"/>
                <a:ea typeface="Cambria" pitchFamily="34" charset="-122"/>
                <a:cs typeface="Cambria" pitchFamily="34" charset="-120"/>
              </a:rPr>
              <a:t>比較対象</a:t>
            </a:r>
            <a:endParaRPr lang="en-US" sz="1400" dirty="0"/>
          </a:p>
        </p:txBody>
      </p:sp>
      <p:sp>
        <p:nvSpPr>
          <p:cNvPr id="6" name="Shape 3"/>
          <p:cNvSpPr/>
          <p:nvPr/>
        </p:nvSpPr>
        <p:spPr>
          <a:xfrm>
            <a:off x="566928" y="3950208"/>
            <a:ext cx="45720" cy="457200"/>
          </a:xfrm>
          <a:prstGeom prst="rect">
            <a:avLst/>
          </a:prstGeom>
          <a:solidFill>
            <a:srgbClr val="A26769"/>
          </a:solidFill>
          <a:ln/>
        </p:spPr>
      </p:sp>
      <p:sp>
        <p:nvSpPr>
          <p:cNvPr id="7" name="Text 4"/>
          <p:cNvSpPr txBox="1"/>
          <p:nvPr/>
        </p:nvSpPr>
        <p:spPr>
          <a:xfrm>
            <a:off x="749808" y="3895344"/>
            <a:ext cx="3200400" cy="256032"/>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小売飲食業のEBITDA倍率 実務目安</a:t>
            </a:r>
            <a:endParaRPr lang="en-US" sz="1100" dirty="0"/>
          </a:p>
        </p:txBody>
      </p:sp>
      <p:sp>
        <p:nvSpPr>
          <p:cNvPr id="8" name="Text 5"/>
          <p:cNvSpPr txBox="1"/>
          <p:nvPr/>
        </p:nvSpPr>
        <p:spPr>
          <a:xfrm>
            <a:off x="3995928" y="3895344"/>
            <a:ext cx="1737360"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約6倍</a:t>
            </a:r>
            <a:endParaRPr lang="en-US" sz="1150" dirty="0"/>
          </a:p>
        </p:txBody>
      </p:sp>
      <p:sp>
        <p:nvSpPr>
          <p:cNvPr id="9" name="Text 6"/>
          <p:cNvSpPr txBox="1"/>
          <p:nvPr/>
        </p:nvSpPr>
        <p:spPr>
          <a:xfrm>
            <a:off x="749808" y="4151376"/>
            <a:ext cx="10332720" cy="365760"/>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中小M&amp;A実務の業種別目安（2026年7月時点）</a:t>
            </a:r>
            <a:endParaRPr lang="en-US" sz="1000" dirty="0"/>
          </a:p>
        </p:txBody>
      </p:sp>
      <p:sp>
        <p:nvSpPr>
          <p:cNvPr id="10" name="Shape 7"/>
          <p:cNvSpPr/>
          <p:nvPr/>
        </p:nvSpPr>
        <p:spPr>
          <a:xfrm>
            <a:off x="566928" y="4535424"/>
            <a:ext cx="45720" cy="457200"/>
          </a:xfrm>
          <a:prstGeom prst="rect">
            <a:avLst/>
          </a:prstGeom>
          <a:solidFill>
            <a:srgbClr val="A26769"/>
          </a:solidFill>
          <a:ln/>
        </p:spPr>
      </p:sp>
      <p:sp>
        <p:nvSpPr>
          <p:cNvPr id="11" name="Text 8"/>
          <p:cNvSpPr txBox="1"/>
          <p:nvPr/>
        </p:nvSpPr>
        <p:spPr>
          <a:xfrm>
            <a:off x="749808" y="4480560"/>
            <a:ext cx="3200400" cy="256032"/>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ひらまつ（東証スタンダード・2764）</a:t>
            </a:r>
            <a:endParaRPr lang="en-US" sz="1100" dirty="0"/>
          </a:p>
        </p:txBody>
      </p:sp>
      <p:sp>
        <p:nvSpPr>
          <p:cNvPr id="12" name="Text 9"/>
          <p:cNvSpPr txBox="1"/>
          <p:nvPr/>
        </p:nvSpPr>
        <p:spPr>
          <a:xfrm>
            <a:off x="3995928" y="4480560"/>
            <a:ext cx="1737360"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経常利益率 約3.0%</a:t>
            </a:r>
            <a:endParaRPr lang="en-US" sz="1150" dirty="0"/>
          </a:p>
        </p:txBody>
      </p:sp>
      <p:sp>
        <p:nvSpPr>
          <p:cNvPr id="13" name="Text 10"/>
          <p:cNvSpPr txBox="1"/>
          <p:nvPr/>
        </p:nvSpPr>
        <p:spPr>
          <a:xfrm>
            <a:off x="749808" y="4736592"/>
            <a:ext cx="10332720" cy="365760"/>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FY2027/3会社予想 売上105.9億／経常3.2億。国内で唯一の高級レストラン上場企業</a:t>
            </a:r>
            <a:endParaRPr lang="en-US" sz="1000" dirty="0"/>
          </a:p>
        </p:txBody>
      </p:sp>
      <p:sp>
        <p:nvSpPr>
          <p:cNvPr id="14" name="Shape 11"/>
          <p:cNvSpPr/>
          <p:nvPr/>
        </p:nvSpPr>
        <p:spPr>
          <a:xfrm>
            <a:off x="566928" y="5120640"/>
            <a:ext cx="45720" cy="457200"/>
          </a:xfrm>
          <a:prstGeom prst="rect">
            <a:avLst/>
          </a:prstGeom>
          <a:solidFill>
            <a:srgbClr val="6D2E46"/>
          </a:solidFill>
          <a:ln/>
        </p:spPr>
      </p:sp>
      <p:sp>
        <p:nvSpPr>
          <p:cNvPr id="15" name="Text 12"/>
          <p:cNvSpPr txBox="1"/>
          <p:nvPr/>
        </p:nvSpPr>
        <p:spPr>
          <a:xfrm>
            <a:off x="749808" y="5065776"/>
            <a:ext cx="3200400" cy="256032"/>
          </a:xfrm>
          <a:prstGeom prst="rect">
            <a:avLst/>
          </a:prstGeom>
          <a:noFill/>
          <a:ln/>
        </p:spPr>
        <p:txBody>
          <a:bodyPr wrap="square" lIns="0" tIns="0" rIns="0" bIns="0" rtlCol="0" anchor="ctr"/>
          <a:lstStyle/>
          <a:p>
            <a:pPr indent="0" marL="0">
              <a:buNone/>
            </a:pPr>
            <a:r>
              <a:rPr lang="en-US" sz="1100" b="1" dirty="0">
                <a:solidFill>
                  <a:srgbClr val="1F1A1C"/>
                </a:solidFill>
                <a:latin typeface="Calibri" pitchFamily="34" charset="0"/>
                <a:ea typeface="Calibri" pitchFamily="34" charset="-122"/>
                <a:cs typeface="Calibri" pitchFamily="34" charset="-120"/>
              </a:rPr>
              <a:t>カンテサンス</a:t>
            </a:r>
            <a:endParaRPr lang="en-US" sz="1100" dirty="0"/>
          </a:p>
        </p:txBody>
      </p:sp>
      <p:sp>
        <p:nvSpPr>
          <p:cNvPr id="16" name="Text 13"/>
          <p:cNvSpPr txBox="1"/>
          <p:nvPr/>
        </p:nvSpPr>
        <p:spPr>
          <a:xfrm>
            <a:off x="3995928" y="5065776"/>
            <a:ext cx="1737360"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営業利益率 52.0%</a:t>
            </a:r>
            <a:endParaRPr lang="en-US" sz="1150" dirty="0"/>
          </a:p>
        </p:txBody>
      </p:sp>
      <p:sp>
        <p:nvSpPr>
          <p:cNvPr id="17" name="Text 14"/>
          <p:cNvSpPr txBox="1"/>
          <p:nvPr/>
        </p:nvSpPr>
        <p:spPr>
          <a:xfrm>
            <a:off x="749808" y="5321808"/>
            <a:ext cx="10332720" cy="365760"/>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上場高級外食の約17倍の収益性。ただし1店舗・属人性のディスカウントは別途必要</a:t>
            </a:r>
            <a:endParaRPr lang="en-US" sz="1000" dirty="0"/>
          </a:p>
        </p:txBody>
      </p:sp>
      <p:sp>
        <p:nvSpPr>
          <p:cNvPr id="18" name="Text 15"/>
          <p:cNvSpPr txBox="1"/>
          <p:nvPr/>
        </p:nvSpPr>
        <p:spPr>
          <a:xfrm>
            <a:off x="566928" y="5760720"/>
            <a:ext cx="11055096" cy="566928"/>
          </a:xfrm>
          <a:prstGeom prst="rect">
            <a:avLst/>
          </a:prstGeom>
          <a:noFill/>
          <a:ln/>
        </p:spPr>
        <p:txBody>
          <a:bodyPr wrap="square" lIns="0" tIns="0" rIns="0" bIns="0" rtlCol="0" anchor="ctr"/>
          <a:lstStyle/>
          <a:p>
            <a:pPr indent="0" marL="0">
              <a:lnSpc>
                <a:spcPts val="1250"/>
              </a:lnSpc>
              <a:buNone/>
            </a:pPr>
            <a:r>
              <a:rPr lang="en-US" sz="900" b="1" dirty="0">
                <a:solidFill>
                  <a:srgbClr val="6D2E46"/>
                </a:solidFill>
                <a:latin typeface="Calibri" pitchFamily="34" charset="0"/>
                <a:ea typeface="Calibri" pitchFamily="34" charset="-122"/>
                <a:cs typeface="Calibri" pitchFamily="34" charset="-120"/>
              </a:rPr>
              <a:t>修正営業利益ベースでは4.5倍　</a:t>
            </a:r>
            <a:pPr indent="0" marL="0">
              <a:lnSpc>
                <a:spcPts val="1250"/>
              </a:lnSpc>
              <a:buNone/>
            </a:pPr>
            <a:r>
              <a:rPr lang="en-US" sz="900" dirty="0">
                <a:solidFill>
                  <a:srgbClr val="6E6368"/>
                </a:solidFill>
                <a:latin typeface="Calibri" pitchFamily="34" charset="0"/>
                <a:ea typeface="Calibri" pitchFamily="34" charset="-122"/>
                <a:cs typeface="Calibri" pitchFamily="34" charset="-120"/>
              </a:rPr>
              <a:t>売主は「修正営業利益5.8億円」で本件を提示している。会計上の営業利益との差額は岸田氏の役員報酬（月60万円＋役員賞与9,540万円）であり、経営者報酬を一般的な水準に正常化したもの。この基準では2026年12月期は約6.1億円となり、EV27.57億円は4.5倍に相当する。ただし正常化益は岸田氏ご退任後にしか実現しないため、返済原資は会計ベースのFCF 3.50億円で見ている。</a:t>
            </a:r>
            <a:endParaRPr lang="en-US" sz="900" dirty="0"/>
          </a:p>
        </p:txBody>
      </p:sp>
      <p:sp>
        <p:nvSpPr>
          <p:cNvPr id="19" name="Text 16"/>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0" name="Text 17"/>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検証② 年買法（純資産＋営業利益n年）</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営業利益5.09年分。実務慣行レンジ（3〜6年）の範囲内</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中小企業M&amp;Aで最も広く使われる簡便法。実務慣行の3〜6年のレンジの中で、50億円は営業利益5.09年分にあたる。</a:t>
            </a:r>
            <a:endParaRPr lang="en-US" sz="12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7589520" cy="914400"/>
        </p:xfrm>
        <a:graphic>
          <a:graphicData uri="http://schemas.openxmlformats.org/drawingml/2006/table">
            <a:tbl>
              <a:tblPr/>
              <a:tblGrid>
                <a:gridCol w="2651760"/>
                <a:gridCol w="1463040"/>
                <a:gridCol w="1737360"/>
                <a:gridCol w="173736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算式</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金額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提示50億円との差</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位置づけ</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0233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純資産 ＋ 営業利益 × 3年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38.99億円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9B2C2C"/>
                          </a:solidFill>
                          <a:latin typeface="Calibri" pitchFamily="34" charset="0"/>
                          <a:ea typeface="Calibri" pitchFamily="34" charset="-122"/>
                          <a:cs typeface="Calibri" pitchFamily="34" charset="-120"/>
                        </a:rPr>
                        <a:t>▲11.01億円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実務レンジの下限</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0233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純資産 ＋ 営業利益 × 4年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44.27億円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9B2C2C"/>
                          </a:solidFill>
                          <a:latin typeface="Calibri" pitchFamily="34" charset="0"/>
                          <a:ea typeface="Calibri" pitchFamily="34" charset="-122"/>
                          <a:cs typeface="Calibri" pitchFamily="34" charset="-120"/>
                        </a:rPr>
                        <a:t>▲5.73億円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実務レンジの中位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02336">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純資産 ＋ 営業利益 × 5年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49.55億円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▲0.45億円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実務レンジの上限側＝提示価格とほぼ一致</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402336">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純資産 ＋ 営業利益 × 6年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54.83億円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2E6F4E"/>
                          </a:solidFill>
                          <a:latin typeface="Calibri" pitchFamily="34" charset="0"/>
                          <a:ea typeface="Calibri" pitchFamily="34" charset="-122"/>
                          <a:cs typeface="Calibri" pitchFamily="34" charset="-120"/>
                        </a:rPr>
                        <a:t>+4.83億円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実務レンジの上限</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Shape 3"/>
          <p:cNvSpPr/>
          <p:nvPr/>
        </p:nvSpPr>
        <p:spPr>
          <a:xfrm>
            <a:off x="566928" y="3858768"/>
            <a:ext cx="7589520" cy="868680"/>
          </a:xfrm>
          <a:prstGeom prst="roundRect">
            <a:avLst>
              <a:gd name="adj" fmla="val 5263"/>
            </a:avLst>
          </a:prstGeom>
          <a:solidFill>
            <a:srgbClr val="FFFFFF"/>
          </a:solidFill>
          <a:ln w="9525">
            <a:solidFill>
              <a:srgbClr val="E4DADD"/>
            </a:solidFill>
            <a:prstDash val="solid"/>
          </a:ln>
        </p:spPr>
      </p:sp>
      <p:sp>
        <p:nvSpPr>
          <p:cNvPr id="7" name="Text 4"/>
          <p:cNvSpPr txBox="1"/>
          <p:nvPr/>
        </p:nvSpPr>
        <p:spPr>
          <a:xfrm>
            <a:off x="822960" y="4041648"/>
            <a:ext cx="7132320" cy="502920"/>
          </a:xfrm>
          <a:prstGeom prst="rect">
            <a:avLst/>
          </a:prstGeom>
          <a:noFill/>
          <a:ln/>
        </p:spPr>
        <p:txBody>
          <a:bodyPr wrap="square" lIns="0" tIns="0" rIns="0" bIns="0" rtlCol="0" anchor="ctr"/>
          <a:lstStyle/>
          <a:p>
            <a:pPr indent="0" marL="0">
              <a:lnSpc>
                <a:spcPts val="2000"/>
              </a:lnSpc>
              <a:buNone/>
            </a:pPr>
            <a:r>
              <a:rPr lang="en-US" sz="1300" dirty="0">
                <a:solidFill>
                  <a:srgbClr val="1F1A1C"/>
                </a:solidFill>
              </a:rPr>
              <a:t>50.00億円 ＝ 純資産 23.15億円 ＋ 営業利益 </a:t>
            </a:r>
            <a:pPr indent="0" marL="0">
              <a:lnSpc>
                <a:spcPts val="2000"/>
              </a:lnSpc>
              <a:buNone/>
            </a:pPr>
            <a:r>
              <a:rPr lang="en-US" sz="1700" b="1" dirty="0">
                <a:solidFill>
                  <a:srgbClr val="6D2E46"/>
                </a:solidFill>
                <a:latin typeface="Cambria" pitchFamily="34" charset="0"/>
                <a:ea typeface="Cambria" pitchFamily="34" charset="-122"/>
                <a:cs typeface="Cambria" pitchFamily="34" charset="-120"/>
              </a:rPr>
              <a:t>5.09年分</a:t>
            </a:r>
            <a:pPr indent="0" marL="0">
              <a:lnSpc>
                <a:spcPts val="2000"/>
              </a:lnSpc>
              <a:buNone/>
            </a:pPr>
            <a:r>
              <a:rPr lang="en-US" sz="1100" dirty="0">
                <a:solidFill>
                  <a:srgbClr val="6E6368"/>
                </a:solidFill>
              </a:rPr>
              <a:t>（EBITDAベースでは 5.08年分）</a:t>
            </a:r>
            <a:endParaRPr lang="en-US" sz="1300" dirty="0"/>
          </a:p>
        </p:txBody>
      </p:sp>
      <p:sp>
        <p:nvSpPr>
          <p:cNvPr id="8" name="Shape 5"/>
          <p:cNvSpPr/>
          <p:nvPr/>
        </p:nvSpPr>
        <p:spPr>
          <a:xfrm>
            <a:off x="8321040" y="1828800"/>
            <a:ext cx="3300984" cy="2898648"/>
          </a:xfrm>
          <a:prstGeom prst="roundRect">
            <a:avLst>
              <a:gd name="adj" fmla="val 1577"/>
            </a:avLst>
          </a:prstGeom>
          <a:solidFill>
            <a:srgbClr val="F7F3F4"/>
          </a:solidFill>
          <a:ln w="9525">
            <a:solidFill>
              <a:srgbClr val="E4DADD"/>
            </a:solidFill>
            <a:prstDash val="solid"/>
          </a:ln>
        </p:spPr>
      </p:sp>
      <p:sp>
        <p:nvSpPr>
          <p:cNvPr id="9" name="Text 6"/>
          <p:cNvSpPr txBox="1"/>
          <p:nvPr/>
        </p:nvSpPr>
        <p:spPr>
          <a:xfrm>
            <a:off x="8540496" y="1965960"/>
            <a:ext cx="2926080" cy="274320"/>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この手法が本件を過小評価する理由</a:t>
            </a:r>
            <a:endParaRPr lang="en-US" sz="1000" dirty="0"/>
          </a:p>
        </p:txBody>
      </p:sp>
      <p:sp>
        <p:nvSpPr>
          <p:cNvPr id="10" name="Shape 7"/>
          <p:cNvSpPr/>
          <p:nvPr/>
        </p:nvSpPr>
        <p:spPr>
          <a:xfrm>
            <a:off x="8540496" y="2286000"/>
            <a:ext cx="274320" cy="274320"/>
          </a:xfrm>
          <a:prstGeom prst="ellipse">
            <a:avLst/>
          </a:prstGeom>
          <a:solidFill>
            <a:srgbClr val="A26769"/>
          </a:solidFill>
          <a:ln/>
        </p:spPr>
      </p:sp>
      <p:sp>
        <p:nvSpPr>
          <p:cNvPr id="11" name="Text 8"/>
          <p:cNvSpPr txBox="1"/>
          <p:nvPr/>
        </p:nvSpPr>
        <p:spPr>
          <a:xfrm>
            <a:off x="8540496" y="2286000"/>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2" name="Text 9"/>
          <p:cNvSpPr txBox="1"/>
          <p:nvPr/>
        </p:nvSpPr>
        <p:spPr>
          <a:xfrm>
            <a:off x="8906256" y="2258568"/>
            <a:ext cx="2542032" cy="777240"/>
          </a:xfrm>
          <a:prstGeom prst="rect">
            <a:avLst/>
          </a:prstGeom>
          <a:noFill/>
          <a:ln/>
        </p:spPr>
        <p:txBody>
          <a:bodyPr wrap="square" lIns="0" tIns="0" rIns="0" bIns="0" rtlCol="0" anchor="ctr"/>
          <a:lstStyle/>
          <a:p>
            <a:pPr indent="0" marL="0">
              <a:lnSpc>
                <a:spcPts val="1350"/>
              </a:lnSpc>
              <a:buNone/>
            </a:pPr>
            <a:r>
              <a:rPr lang="en-US" sz="950" dirty="0">
                <a:solidFill>
                  <a:srgbClr val="1F1A1C"/>
                </a:solidFill>
                <a:latin typeface="Calibri" pitchFamily="34" charset="0"/>
                <a:ea typeface="Calibri" pitchFamily="34" charset="-122"/>
                <a:cs typeface="Calibri" pitchFamily="34" charset="-120"/>
              </a:rPr>
              <a:t>純資産23.15億円のうち22.43億円はキャッシュ。つまり年買法は「キャッシュ＋営業利益n年」を足しているだけで、事業そのものを評価していない</a:t>
            </a:r>
            <a:endParaRPr lang="en-US" sz="950" dirty="0"/>
          </a:p>
        </p:txBody>
      </p:sp>
      <p:sp>
        <p:nvSpPr>
          <p:cNvPr id="13" name="Shape 10"/>
          <p:cNvSpPr/>
          <p:nvPr/>
        </p:nvSpPr>
        <p:spPr>
          <a:xfrm>
            <a:off x="8540496" y="3108960"/>
            <a:ext cx="274320" cy="274320"/>
          </a:xfrm>
          <a:prstGeom prst="ellipse">
            <a:avLst/>
          </a:prstGeom>
          <a:solidFill>
            <a:srgbClr val="A26769"/>
          </a:solidFill>
          <a:ln/>
        </p:spPr>
      </p:sp>
      <p:sp>
        <p:nvSpPr>
          <p:cNvPr id="14" name="Text 11"/>
          <p:cNvSpPr txBox="1"/>
          <p:nvPr/>
        </p:nvSpPr>
        <p:spPr>
          <a:xfrm>
            <a:off x="8540496" y="3108960"/>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2"/>
          <p:cNvSpPr txBox="1"/>
          <p:nvPr/>
        </p:nvSpPr>
        <p:spPr>
          <a:xfrm>
            <a:off x="8906256" y="3081528"/>
            <a:ext cx="2542032" cy="777240"/>
          </a:xfrm>
          <a:prstGeom prst="rect">
            <a:avLst/>
          </a:prstGeom>
          <a:noFill/>
          <a:ln/>
        </p:spPr>
        <p:txBody>
          <a:bodyPr wrap="square" lIns="0" tIns="0" rIns="0" bIns="0" rtlCol="0" anchor="ctr"/>
          <a:lstStyle/>
          <a:p>
            <a:pPr indent="0" marL="0">
              <a:lnSpc>
                <a:spcPts val="1350"/>
              </a:lnSpc>
              <a:buNone/>
            </a:pPr>
            <a:r>
              <a:rPr lang="en-US" sz="950" dirty="0">
                <a:solidFill>
                  <a:srgbClr val="1F1A1C"/>
                </a:solidFill>
                <a:latin typeface="Calibri" pitchFamily="34" charset="0"/>
                <a:ea typeface="Calibri" pitchFamily="34" charset="-122"/>
                <a:cs typeface="Calibri" pitchFamily="34" charset="-120"/>
              </a:rPr>
              <a:t>設備投資が不要で減価償却もほぼゼロという資本効率の高さが、純資産にも営業利益n年にも反映されない</a:t>
            </a:r>
            <a:endParaRPr lang="en-US" sz="950" dirty="0"/>
          </a:p>
        </p:txBody>
      </p:sp>
      <p:sp>
        <p:nvSpPr>
          <p:cNvPr id="16" name="Shape 13"/>
          <p:cNvSpPr/>
          <p:nvPr/>
        </p:nvSpPr>
        <p:spPr>
          <a:xfrm>
            <a:off x="8540496" y="3931920"/>
            <a:ext cx="274320" cy="274320"/>
          </a:xfrm>
          <a:prstGeom prst="ellipse">
            <a:avLst/>
          </a:prstGeom>
          <a:solidFill>
            <a:srgbClr val="A26769"/>
          </a:solidFill>
          <a:ln/>
        </p:spPr>
      </p:sp>
      <p:sp>
        <p:nvSpPr>
          <p:cNvPr id="17" name="Text 14"/>
          <p:cNvSpPr txBox="1"/>
          <p:nvPr/>
        </p:nvSpPr>
        <p:spPr>
          <a:xfrm>
            <a:off x="8540496" y="3931920"/>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8" name="Text 15"/>
          <p:cNvSpPr txBox="1"/>
          <p:nvPr/>
        </p:nvSpPr>
        <p:spPr>
          <a:xfrm>
            <a:off x="8906256" y="3904488"/>
            <a:ext cx="2542032" cy="777240"/>
          </a:xfrm>
          <a:prstGeom prst="rect">
            <a:avLst/>
          </a:prstGeom>
          <a:noFill/>
          <a:ln/>
        </p:spPr>
        <p:txBody>
          <a:bodyPr wrap="square" lIns="0" tIns="0" rIns="0" bIns="0" rtlCol="0" anchor="ctr"/>
          <a:lstStyle/>
          <a:p>
            <a:pPr indent="0" marL="0">
              <a:lnSpc>
                <a:spcPts val="1350"/>
              </a:lnSpc>
              <a:buNone/>
            </a:pPr>
            <a:r>
              <a:rPr lang="en-US" sz="950" dirty="0">
                <a:solidFill>
                  <a:srgbClr val="1F1A1C"/>
                </a:solidFill>
                <a:latin typeface="Calibri" pitchFamily="34" charset="0"/>
                <a:ea typeface="Calibri" pitchFamily="34" charset="-122"/>
                <a:cs typeface="Calibri" pitchFamily="34" charset="-120"/>
              </a:rPr>
              <a:t>20年連続増収増益という利益の再現性（＝割引率の低下要因）を織り込む余地がない</a:t>
            </a:r>
            <a:endParaRPr lang="en-US" sz="950" dirty="0"/>
          </a:p>
        </p:txBody>
      </p:sp>
      <p:sp>
        <p:nvSpPr>
          <p:cNvPr id="19" name="Text 16"/>
          <p:cNvSpPr txBox="1"/>
          <p:nvPr/>
        </p:nvSpPr>
        <p:spPr>
          <a:xfrm>
            <a:off x="566928" y="4983480"/>
            <a:ext cx="11055096" cy="365760"/>
          </a:xfrm>
          <a:prstGeom prst="rect">
            <a:avLst/>
          </a:prstGeom>
          <a:noFill/>
          <a:ln/>
        </p:spPr>
        <p:txBody>
          <a:bodyPr wrap="square" lIns="0" tIns="0" rIns="0" bIns="0" rtlCol="0" anchor="ctr"/>
          <a:lstStyle/>
          <a:p>
            <a:pPr indent="0" marL="0">
              <a:lnSpc>
                <a:spcPts val="1600"/>
              </a:lnSpc>
              <a:buNone/>
            </a:pPr>
            <a:r>
              <a:rPr lang="en-US" sz="1100" dirty="0">
                <a:solidFill>
                  <a:srgbClr val="1F1A1C"/>
                </a:solidFill>
                <a:latin typeface="Calibri" pitchFamily="34" charset="0"/>
                <a:ea typeface="Calibri" pitchFamily="34" charset="-122"/>
                <a:cs typeface="Calibri" pitchFamily="34" charset="-120"/>
              </a:rPr>
              <a:t>結論：年買法単独では50億円は「実務レンジの上限側」。この手法だけを根拠に高い／安いは判断せず、検証③のDCFで事業価値の妥当性を確認する。</a:t>
            </a:r>
            <a:endParaRPr lang="en-US" sz="1100" dirty="0"/>
          </a:p>
        </p:txBody>
      </p:sp>
      <p:sp>
        <p:nvSpPr>
          <p:cNvPr id="20" name="Text 17"/>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1" name="Text 18"/>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検証③ DCF（シナリオ分解）</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三つ星維持なら35.0億円、二つ星降格なら23.7億円</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岸田氏在任の1〜3年目はFCF 3.50億円で固定し、ロックアップ明けの4年目以降をシナリオ分岐させる。継続成長率0%、割引率10%を基準とする。</a:t>
            </a:r>
            <a:endParaRPr lang="en-US" sz="1250" dirty="0"/>
          </a:p>
        </p:txBody>
      </p:sp>
      <p:graphicFrame>
        <p:nvGraphicFramePr>
          <p:cNvPr id="5" name="Chart 0" descr=""/>
          <p:cNvGraphicFramePr/>
          <p:nvPr/>
        </p:nvGraphicFramePr>
        <p:xfrm>
          <a:off x="566928" y="2029968"/>
          <a:ext cx="6858000" cy="3154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07808" y="2029968"/>
            <a:ext cx="4014216" cy="3154680"/>
          </a:xfrm>
          <a:prstGeom prst="roundRect">
            <a:avLst>
              <a:gd name="adj" fmla="val 1449"/>
            </a:avLst>
          </a:prstGeom>
          <a:solidFill>
            <a:srgbClr val="F7F3F4"/>
          </a:solidFill>
          <a:ln w="9525">
            <a:solidFill>
              <a:srgbClr val="E4DADD"/>
            </a:solidFill>
            <a:prstDash val="solid"/>
          </a:ln>
        </p:spPr>
      </p:sp>
      <p:sp>
        <p:nvSpPr>
          <p:cNvPr id="7" name="Text 4"/>
          <p:cNvSpPr txBox="1"/>
          <p:nvPr/>
        </p:nvSpPr>
        <p:spPr>
          <a:xfrm>
            <a:off x="7827264" y="2157984"/>
            <a:ext cx="356616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前提</a:t>
            </a:r>
            <a:endParaRPr lang="en-US" sz="1000" dirty="0"/>
          </a:p>
        </p:txBody>
      </p:sp>
      <p:sp>
        <p:nvSpPr>
          <p:cNvPr id="8" name="Text 5"/>
          <p:cNvSpPr txBox="1"/>
          <p:nvPr/>
        </p:nvSpPr>
        <p:spPr>
          <a:xfrm>
            <a:off x="7827264" y="2432304"/>
            <a:ext cx="914400" cy="219456"/>
          </a:xfrm>
          <a:prstGeom prst="rect">
            <a:avLst/>
          </a:prstGeom>
          <a:noFill/>
          <a:ln/>
        </p:spPr>
        <p:txBody>
          <a:bodyPr wrap="square" lIns="0" tIns="0" rIns="0" bIns="0" rtlCol="0" anchor="ctr"/>
          <a:lstStyle/>
          <a:p>
            <a:pPr indent="0" marL="0">
              <a:buNone/>
            </a:pPr>
            <a:r>
              <a:rPr lang="en-US" sz="950" b="1" dirty="0">
                <a:solidFill>
                  <a:srgbClr val="6D2E46"/>
                </a:solidFill>
                <a:latin typeface="Calibri" pitchFamily="34" charset="0"/>
                <a:ea typeface="Calibri" pitchFamily="34" charset="-122"/>
                <a:cs typeface="Calibri" pitchFamily="34" charset="-120"/>
              </a:rPr>
              <a:t>FCF</a:t>
            </a:r>
            <a:endParaRPr lang="en-US" sz="950" dirty="0"/>
          </a:p>
        </p:txBody>
      </p:sp>
      <p:sp>
        <p:nvSpPr>
          <p:cNvPr id="9" name="Text 6"/>
          <p:cNvSpPr txBox="1"/>
          <p:nvPr/>
        </p:nvSpPr>
        <p:spPr>
          <a:xfrm>
            <a:off x="8686800" y="2414016"/>
            <a:ext cx="2724912" cy="548640"/>
          </a:xfrm>
          <a:prstGeom prst="rect">
            <a:avLst/>
          </a:prstGeom>
          <a:noFill/>
          <a:ln/>
        </p:spPr>
        <p:txBody>
          <a:bodyPr wrap="square" lIns="0" tIns="0" rIns="0" bIns="0" rtlCol="0" anchor="ctr"/>
          <a:lstStyle/>
          <a:p>
            <a:pPr indent="0" marL="0">
              <a:lnSpc>
                <a:spcPts val="1250"/>
              </a:lnSpc>
              <a:buNone/>
            </a:pPr>
            <a:r>
              <a:rPr lang="en-US" sz="880" dirty="0">
                <a:solidFill>
                  <a:srgbClr val="1F1A1C"/>
                </a:solidFill>
                <a:latin typeface="Calibri" pitchFamily="34" charset="0"/>
                <a:ea typeface="Calibri" pitchFamily="34" charset="-122"/>
                <a:cs typeface="Calibri" pitchFamily="34" charset="-120"/>
              </a:rPr>
              <a:t>当期純利益350百万円＝FCF（減価償却1・設備投資0・運転資本増減ゼロ）</a:t>
            </a:r>
            <a:endParaRPr lang="en-US" sz="880" dirty="0"/>
          </a:p>
        </p:txBody>
      </p:sp>
      <p:sp>
        <p:nvSpPr>
          <p:cNvPr id="10" name="Text 7"/>
          <p:cNvSpPr txBox="1"/>
          <p:nvPr/>
        </p:nvSpPr>
        <p:spPr>
          <a:xfrm>
            <a:off x="7827264" y="2980944"/>
            <a:ext cx="914400" cy="219456"/>
          </a:xfrm>
          <a:prstGeom prst="rect">
            <a:avLst/>
          </a:prstGeom>
          <a:noFill/>
          <a:ln/>
        </p:spPr>
        <p:txBody>
          <a:bodyPr wrap="square" lIns="0" tIns="0" rIns="0" bIns="0" rtlCol="0" anchor="ctr"/>
          <a:lstStyle/>
          <a:p>
            <a:pPr indent="0" marL="0">
              <a:buNone/>
            </a:pPr>
            <a:r>
              <a:rPr lang="en-US" sz="950" b="1" dirty="0">
                <a:solidFill>
                  <a:srgbClr val="6D2E46"/>
                </a:solidFill>
                <a:latin typeface="Calibri" pitchFamily="34" charset="0"/>
                <a:ea typeface="Calibri" pitchFamily="34" charset="-122"/>
                <a:cs typeface="Calibri" pitchFamily="34" charset="-120"/>
              </a:rPr>
              <a:t>1〜3年目</a:t>
            </a:r>
            <a:endParaRPr lang="en-US" sz="950" dirty="0"/>
          </a:p>
        </p:txBody>
      </p:sp>
      <p:sp>
        <p:nvSpPr>
          <p:cNvPr id="11" name="Text 8"/>
          <p:cNvSpPr txBox="1"/>
          <p:nvPr/>
        </p:nvSpPr>
        <p:spPr>
          <a:xfrm>
            <a:off x="8686800" y="2962656"/>
            <a:ext cx="2724912" cy="548640"/>
          </a:xfrm>
          <a:prstGeom prst="rect">
            <a:avLst/>
          </a:prstGeom>
          <a:noFill/>
          <a:ln/>
        </p:spPr>
        <p:txBody>
          <a:bodyPr wrap="square" lIns="0" tIns="0" rIns="0" bIns="0" rtlCol="0" anchor="ctr"/>
          <a:lstStyle/>
          <a:p>
            <a:pPr indent="0" marL="0">
              <a:lnSpc>
                <a:spcPts val="1250"/>
              </a:lnSpc>
              <a:buNone/>
            </a:pPr>
            <a:r>
              <a:rPr lang="en-US" sz="880" dirty="0">
                <a:solidFill>
                  <a:srgbClr val="1F1A1C"/>
                </a:solidFill>
                <a:latin typeface="Calibri" pitchFamily="34" charset="0"/>
                <a:ea typeface="Calibri" pitchFamily="34" charset="-122"/>
                <a:cs typeface="Calibri" pitchFamily="34" charset="-120"/>
              </a:rPr>
              <a:t>3シナリオ共通で3.50億円。岸田氏が毎日厨房に立つ前提（売主回答）</a:t>
            </a:r>
            <a:endParaRPr lang="en-US" sz="880" dirty="0"/>
          </a:p>
        </p:txBody>
      </p:sp>
      <p:sp>
        <p:nvSpPr>
          <p:cNvPr id="12" name="Text 9"/>
          <p:cNvSpPr txBox="1"/>
          <p:nvPr/>
        </p:nvSpPr>
        <p:spPr>
          <a:xfrm>
            <a:off x="7827264" y="3529584"/>
            <a:ext cx="914400" cy="219456"/>
          </a:xfrm>
          <a:prstGeom prst="rect">
            <a:avLst/>
          </a:prstGeom>
          <a:noFill/>
          <a:ln/>
        </p:spPr>
        <p:txBody>
          <a:bodyPr wrap="square" lIns="0" tIns="0" rIns="0" bIns="0" rtlCol="0" anchor="ctr"/>
          <a:lstStyle/>
          <a:p>
            <a:pPr indent="0" marL="0">
              <a:buNone/>
            </a:pPr>
            <a:r>
              <a:rPr lang="en-US" sz="950" b="1" dirty="0">
                <a:solidFill>
                  <a:srgbClr val="6D2E46"/>
                </a:solidFill>
                <a:latin typeface="Calibri" pitchFamily="34" charset="0"/>
                <a:ea typeface="Calibri" pitchFamily="34" charset="-122"/>
                <a:cs typeface="Calibri" pitchFamily="34" charset="-120"/>
              </a:rPr>
              <a:t>4年目以降</a:t>
            </a:r>
            <a:endParaRPr lang="en-US" sz="950" dirty="0"/>
          </a:p>
        </p:txBody>
      </p:sp>
      <p:sp>
        <p:nvSpPr>
          <p:cNvPr id="13" name="Text 10"/>
          <p:cNvSpPr txBox="1"/>
          <p:nvPr/>
        </p:nvSpPr>
        <p:spPr>
          <a:xfrm>
            <a:off x="8686800" y="3511296"/>
            <a:ext cx="2724912" cy="548640"/>
          </a:xfrm>
          <a:prstGeom prst="rect">
            <a:avLst/>
          </a:prstGeom>
          <a:noFill/>
          <a:ln/>
        </p:spPr>
        <p:txBody>
          <a:bodyPr wrap="square" lIns="0" tIns="0" rIns="0" bIns="0" rtlCol="0" anchor="ctr"/>
          <a:lstStyle/>
          <a:p>
            <a:pPr indent="0" marL="0">
              <a:lnSpc>
                <a:spcPts val="1250"/>
              </a:lnSpc>
              <a:buNone/>
            </a:pPr>
            <a:r>
              <a:rPr lang="en-US" sz="880" dirty="0">
                <a:solidFill>
                  <a:srgbClr val="1F1A1C"/>
                </a:solidFill>
                <a:latin typeface="Calibri" pitchFamily="34" charset="0"/>
                <a:ea typeface="Calibri" pitchFamily="34" charset="-122"/>
                <a:cs typeface="Calibri" pitchFamily="34" charset="-120"/>
              </a:rPr>
              <a:t>A：3.50億円据置／B：二つ星降格により売上▲32%・利益率52%→29%で2.00億円／C：星喪失で1.00億円</a:t>
            </a:r>
            <a:endParaRPr lang="en-US" sz="880" dirty="0"/>
          </a:p>
        </p:txBody>
      </p:sp>
      <p:sp>
        <p:nvSpPr>
          <p:cNvPr id="14" name="Text 11"/>
          <p:cNvSpPr txBox="1"/>
          <p:nvPr/>
        </p:nvSpPr>
        <p:spPr>
          <a:xfrm>
            <a:off x="7827264" y="4078224"/>
            <a:ext cx="914400" cy="219456"/>
          </a:xfrm>
          <a:prstGeom prst="rect">
            <a:avLst/>
          </a:prstGeom>
          <a:noFill/>
          <a:ln/>
        </p:spPr>
        <p:txBody>
          <a:bodyPr wrap="square" lIns="0" tIns="0" rIns="0" bIns="0" rtlCol="0" anchor="ctr"/>
          <a:lstStyle/>
          <a:p>
            <a:pPr indent="0" marL="0">
              <a:buNone/>
            </a:pPr>
            <a:r>
              <a:rPr lang="en-US" sz="950" b="1" dirty="0">
                <a:solidFill>
                  <a:srgbClr val="6D2E46"/>
                </a:solidFill>
                <a:latin typeface="Calibri" pitchFamily="34" charset="0"/>
                <a:ea typeface="Calibri" pitchFamily="34" charset="-122"/>
                <a:cs typeface="Calibri" pitchFamily="34" charset="-120"/>
              </a:rPr>
              <a:t>割引率</a:t>
            </a:r>
            <a:endParaRPr lang="en-US" sz="950" dirty="0"/>
          </a:p>
        </p:txBody>
      </p:sp>
      <p:sp>
        <p:nvSpPr>
          <p:cNvPr id="15" name="Text 12"/>
          <p:cNvSpPr txBox="1"/>
          <p:nvPr/>
        </p:nvSpPr>
        <p:spPr>
          <a:xfrm>
            <a:off x="8686800" y="4059936"/>
            <a:ext cx="2724912" cy="548640"/>
          </a:xfrm>
          <a:prstGeom prst="rect">
            <a:avLst/>
          </a:prstGeom>
          <a:noFill/>
          <a:ln/>
        </p:spPr>
        <p:txBody>
          <a:bodyPr wrap="square" lIns="0" tIns="0" rIns="0" bIns="0" rtlCol="0" anchor="ctr"/>
          <a:lstStyle/>
          <a:p>
            <a:pPr indent="0" marL="0">
              <a:lnSpc>
                <a:spcPts val="1250"/>
              </a:lnSpc>
              <a:buNone/>
            </a:pPr>
            <a:r>
              <a:rPr lang="en-US" sz="880" dirty="0">
                <a:solidFill>
                  <a:srgbClr val="1F1A1C"/>
                </a:solidFill>
                <a:latin typeface="Calibri" pitchFamily="34" charset="0"/>
                <a:ea typeface="Calibri" pitchFamily="34" charset="-122"/>
                <a:cs typeface="Calibri" pitchFamily="34" charset="-120"/>
              </a:rPr>
              <a:t>10%を基準（リスクフリー1.5%＋株式リスクプレミアム6%×β1.1＋規模・属人性プレミアム2%）</a:t>
            </a:r>
            <a:endParaRPr lang="en-US" sz="880" dirty="0"/>
          </a:p>
        </p:txBody>
      </p:sp>
      <p:sp>
        <p:nvSpPr>
          <p:cNvPr id="16" name="Text 13"/>
          <p:cNvSpPr txBox="1"/>
          <p:nvPr/>
        </p:nvSpPr>
        <p:spPr>
          <a:xfrm>
            <a:off x="7827264" y="4626864"/>
            <a:ext cx="914400" cy="219456"/>
          </a:xfrm>
          <a:prstGeom prst="rect">
            <a:avLst/>
          </a:prstGeom>
          <a:noFill/>
          <a:ln/>
        </p:spPr>
        <p:txBody>
          <a:bodyPr wrap="square" lIns="0" tIns="0" rIns="0" bIns="0" rtlCol="0" anchor="ctr"/>
          <a:lstStyle/>
          <a:p>
            <a:pPr indent="0" marL="0">
              <a:buNone/>
            </a:pPr>
            <a:r>
              <a:rPr lang="en-US" sz="950" b="1" dirty="0">
                <a:solidFill>
                  <a:srgbClr val="6D2E46"/>
                </a:solidFill>
                <a:latin typeface="Calibri" pitchFamily="34" charset="0"/>
                <a:ea typeface="Calibri" pitchFamily="34" charset="-122"/>
                <a:cs typeface="Calibri" pitchFamily="34" charset="-120"/>
              </a:rPr>
              <a:t>継続成長率</a:t>
            </a:r>
            <a:endParaRPr lang="en-US" sz="950" dirty="0"/>
          </a:p>
        </p:txBody>
      </p:sp>
      <p:sp>
        <p:nvSpPr>
          <p:cNvPr id="17" name="Text 14"/>
          <p:cNvSpPr txBox="1"/>
          <p:nvPr/>
        </p:nvSpPr>
        <p:spPr>
          <a:xfrm>
            <a:off x="8686800" y="4608576"/>
            <a:ext cx="2724912" cy="548640"/>
          </a:xfrm>
          <a:prstGeom prst="rect">
            <a:avLst/>
          </a:prstGeom>
          <a:noFill/>
          <a:ln/>
        </p:spPr>
        <p:txBody>
          <a:bodyPr wrap="square" lIns="0" tIns="0" rIns="0" bIns="0" rtlCol="0" anchor="ctr"/>
          <a:lstStyle/>
          <a:p>
            <a:pPr indent="0" marL="0">
              <a:lnSpc>
                <a:spcPts val="1250"/>
              </a:lnSpc>
              <a:buNone/>
            </a:pPr>
            <a:r>
              <a:rPr lang="en-US" sz="880" dirty="0">
                <a:solidFill>
                  <a:srgbClr val="1F1A1C"/>
                </a:solidFill>
                <a:latin typeface="Calibri" pitchFamily="34" charset="0"/>
                <a:ea typeface="Calibri" pitchFamily="34" charset="-122"/>
                <a:cs typeface="Calibri" pitchFamily="34" charset="-120"/>
              </a:rPr>
              <a:t>0%（34席固定・値上げ以外の成長ドライバーなし）</a:t>
            </a:r>
            <a:endParaRPr lang="en-US" sz="880" dirty="0"/>
          </a:p>
        </p:txBody>
      </p:sp>
      <p:sp>
        <p:nvSpPr>
          <p:cNvPr id="18" name="Text 15"/>
          <p:cNvSpPr txBox="1"/>
          <p:nvPr/>
        </p:nvSpPr>
        <p:spPr>
          <a:xfrm>
            <a:off x="566928" y="5321808"/>
            <a:ext cx="11055096" cy="548640"/>
          </a:xfrm>
          <a:prstGeom prst="rect">
            <a:avLst/>
          </a:prstGeom>
          <a:noFill/>
          <a:ln/>
        </p:spPr>
        <p:txBody>
          <a:bodyPr wrap="square" lIns="0" tIns="0" rIns="0" bIns="0" rtlCol="0" anchor="ctr"/>
          <a:lstStyle/>
          <a:p>
            <a:pPr indent="0" marL="0">
              <a:lnSpc>
                <a:spcPts val="1600"/>
              </a:lnSpc>
              <a:buNone/>
            </a:pPr>
            <a:r>
              <a:rPr lang="en-US" sz="1100" dirty="0">
                <a:solidFill>
                  <a:srgbClr val="1F1A1C"/>
                </a:solidFill>
                <a:latin typeface="Calibri" pitchFamily="34" charset="0"/>
                <a:ea typeface="Calibri" pitchFamily="34" charset="-122"/>
                <a:cs typeface="Calibri" pitchFamily="34" charset="-120"/>
              </a:rPr>
              <a:t>提示価格50億円が織り込む事業価値27.57億円は、シナリオA（35.0億円）とB（23.7億円）の間にあり、Bに近い。つまり50億円という価格は、既に「星が落ちる可能性」を相当程度織り込んだ水準である。次ページでこれを確率に換算する。</a:t>
            </a:r>
            <a:endParaRPr lang="en-US" sz="1100" dirty="0"/>
          </a:p>
        </p:txBody>
      </p:sp>
      <p:sp>
        <p:nvSpPr>
          <p:cNvPr id="19" name="Text 16"/>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0" name="Text 17"/>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検証④ 類似取引事例</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直接比較できる事例は存在しない。倍率では負けていない</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国内のミシュラン三つ星は約20店。うち法人形態で営業利益5億円規模の店舗の譲渡事例は確認できない。</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5096" cy="914400"/>
        </p:xfrm>
        <a:graphic>
          <a:graphicData uri="http://schemas.openxmlformats.org/drawingml/2006/table">
            <a:tbl>
              <a:tblPr/>
              <a:tblGrid>
                <a:gridCol w="3017520"/>
                <a:gridCol w="1645920"/>
                <a:gridCol w="1645920"/>
                <a:gridCol w="1371600"/>
                <a:gridCol w="3374136"/>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事例</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営業利益</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株式価値</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倍率</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本件との比較可能性</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20624">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京都・二つ星レストラン（非公開）</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約20百万円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1.5億円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約7.5倍※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倍率は近いが規模が1/25。参考に留まる</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アピシウス（東京・高級フレンチ）</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約1.5億円弱</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国内高級フレンチの利益水準の目線</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ロオジエ（東京・三つ星）</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2〜3億円程度</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国内高級フレンチの事実上の利益上限</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カンテサンス（本件）</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5.28億円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50.00億円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5.2倍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国内高級レストランで突出した収益規模</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6" name="Text 3"/>
          <p:cNvSpPr txBox="1"/>
          <p:nvPr/>
        </p:nvSpPr>
        <p:spPr>
          <a:xfrm>
            <a:off x="566928" y="4041648"/>
            <a:ext cx="11055096" cy="237744"/>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 EV/営業利益ベース。非公開案件につきヒアリング情報に基づく概算であり、検証可能な一次情報ではない。</a:t>
            </a:r>
            <a:endParaRPr lang="en-US" sz="950" dirty="0"/>
          </a:p>
        </p:txBody>
      </p:sp>
      <p:sp>
        <p:nvSpPr>
          <p:cNvPr id="7" name="Shape 4"/>
          <p:cNvSpPr/>
          <p:nvPr/>
        </p:nvSpPr>
        <p:spPr>
          <a:xfrm>
            <a:off x="566928" y="4434840"/>
            <a:ext cx="3520440" cy="1417320"/>
          </a:xfrm>
          <a:prstGeom prst="roundRect">
            <a:avLst>
              <a:gd name="adj" fmla="val 3226"/>
            </a:avLst>
          </a:prstGeom>
          <a:solidFill>
            <a:srgbClr val="F7F3F4"/>
          </a:solidFill>
          <a:ln w="9525">
            <a:solidFill>
              <a:srgbClr val="E4DADD"/>
            </a:solidFill>
            <a:prstDash val="solid"/>
          </a:ln>
        </p:spPr>
      </p:sp>
      <p:sp>
        <p:nvSpPr>
          <p:cNvPr id="8" name="Shape 5"/>
          <p:cNvSpPr/>
          <p:nvPr/>
        </p:nvSpPr>
        <p:spPr>
          <a:xfrm>
            <a:off x="786384" y="4572000"/>
            <a:ext cx="201168" cy="201168"/>
          </a:xfrm>
          <a:prstGeom prst="ellipse">
            <a:avLst/>
          </a:prstGeom>
          <a:solidFill>
            <a:srgbClr val="2E6F4E"/>
          </a:solidFill>
          <a:ln/>
        </p:spPr>
      </p:sp>
      <p:sp>
        <p:nvSpPr>
          <p:cNvPr id="9" name="Text 6"/>
          <p:cNvSpPr txBox="1"/>
          <p:nvPr/>
        </p:nvSpPr>
        <p:spPr>
          <a:xfrm>
            <a:off x="1078992" y="4535424"/>
            <a:ext cx="2834640" cy="274320"/>
          </a:xfrm>
          <a:prstGeom prst="rect">
            <a:avLst/>
          </a:prstGeom>
          <a:noFill/>
          <a:ln/>
        </p:spPr>
        <p:txBody>
          <a:bodyPr wrap="square" lIns="0" tIns="0" rIns="0" bIns="0" rtlCol="0" anchor="ctr"/>
          <a:lstStyle/>
          <a:p>
            <a:pPr indent="0" marL="0">
              <a:buNone/>
            </a:pPr>
            <a:r>
              <a:rPr lang="en-US" sz="1150" b="1" dirty="0">
                <a:solidFill>
                  <a:srgbClr val="2E6F4E"/>
                </a:solidFill>
                <a:latin typeface="Calibri" pitchFamily="34" charset="0"/>
                <a:ea typeface="Calibri" pitchFamily="34" charset="-122"/>
                <a:cs typeface="Calibri" pitchFamily="34" charset="-120"/>
              </a:rPr>
              <a:t>倍率では割高ではない</a:t>
            </a:r>
            <a:endParaRPr lang="en-US" sz="1150" dirty="0"/>
          </a:p>
        </p:txBody>
      </p:sp>
      <p:sp>
        <p:nvSpPr>
          <p:cNvPr id="10" name="Text 7"/>
          <p:cNvSpPr txBox="1"/>
          <p:nvPr/>
        </p:nvSpPr>
        <p:spPr>
          <a:xfrm>
            <a:off x="786384" y="4864608"/>
            <a:ext cx="3108960" cy="868680"/>
          </a:xfrm>
          <a:prstGeom prst="rect">
            <a:avLst/>
          </a:prstGeom>
          <a:noFill/>
          <a:ln/>
        </p:spPr>
        <p:txBody>
          <a:bodyPr wrap="square" lIns="0" tIns="0" rIns="0" bIns="0" rtlCol="0" anchor="ctr"/>
          <a:lstStyle/>
          <a:p>
            <a:pPr indent="0" marL="0">
              <a:lnSpc>
                <a:spcPts val="1450"/>
              </a:lnSpc>
              <a:buNone/>
            </a:pPr>
            <a:r>
              <a:rPr lang="en-US" sz="1000" dirty="0">
                <a:solidFill>
                  <a:srgbClr val="1F1A1C"/>
                </a:solidFill>
                <a:latin typeface="Calibri" pitchFamily="34" charset="0"/>
                <a:ea typeface="Calibri" pitchFamily="34" charset="-122"/>
                <a:cs typeface="Calibri" pitchFamily="34" charset="-120"/>
              </a:rPr>
              <a:t>比較可能な数少ない事例と比べても、EV/営業利益5.2倍は同等かそれ以下。「高すぎる」という主張は、倍率を根拠にはできない。</a:t>
            </a:r>
            <a:endParaRPr lang="en-US" sz="1000" dirty="0"/>
          </a:p>
        </p:txBody>
      </p:sp>
      <p:sp>
        <p:nvSpPr>
          <p:cNvPr id="11" name="Shape 8"/>
          <p:cNvSpPr/>
          <p:nvPr/>
        </p:nvSpPr>
        <p:spPr>
          <a:xfrm>
            <a:off x="4297680" y="4434840"/>
            <a:ext cx="3520440" cy="1417320"/>
          </a:xfrm>
          <a:prstGeom prst="roundRect">
            <a:avLst>
              <a:gd name="adj" fmla="val 3226"/>
            </a:avLst>
          </a:prstGeom>
          <a:solidFill>
            <a:srgbClr val="F7F3F4"/>
          </a:solidFill>
          <a:ln w="9525">
            <a:solidFill>
              <a:srgbClr val="E4DADD"/>
            </a:solidFill>
            <a:prstDash val="solid"/>
          </a:ln>
        </p:spPr>
      </p:sp>
      <p:sp>
        <p:nvSpPr>
          <p:cNvPr id="12" name="Shape 9"/>
          <p:cNvSpPr/>
          <p:nvPr/>
        </p:nvSpPr>
        <p:spPr>
          <a:xfrm>
            <a:off x="4517136" y="4572000"/>
            <a:ext cx="201168" cy="201168"/>
          </a:xfrm>
          <a:prstGeom prst="ellipse">
            <a:avLst/>
          </a:prstGeom>
          <a:solidFill>
            <a:srgbClr val="A8741A"/>
          </a:solidFill>
          <a:ln/>
        </p:spPr>
      </p:sp>
      <p:sp>
        <p:nvSpPr>
          <p:cNvPr id="13" name="Text 10"/>
          <p:cNvSpPr txBox="1"/>
          <p:nvPr/>
        </p:nvSpPr>
        <p:spPr>
          <a:xfrm>
            <a:off x="4809744" y="4535424"/>
            <a:ext cx="2834640" cy="274320"/>
          </a:xfrm>
          <a:prstGeom prst="rect">
            <a:avLst/>
          </a:prstGeom>
          <a:noFill/>
          <a:ln/>
        </p:spPr>
        <p:txBody>
          <a:bodyPr wrap="square" lIns="0" tIns="0" rIns="0" bIns="0" rtlCol="0" anchor="ctr"/>
          <a:lstStyle/>
          <a:p>
            <a:pPr indent="0" marL="0">
              <a:buNone/>
            </a:pPr>
            <a:r>
              <a:rPr lang="en-US" sz="1150" b="1" dirty="0">
                <a:solidFill>
                  <a:srgbClr val="A8741A"/>
                </a:solidFill>
                <a:latin typeface="Calibri" pitchFamily="34" charset="0"/>
                <a:ea typeface="Calibri" pitchFamily="34" charset="-122"/>
                <a:cs typeface="Calibri" pitchFamily="34" charset="-120"/>
              </a:rPr>
              <a:t>ただし絶対額の裏付けはない</a:t>
            </a:r>
            <a:endParaRPr lang="en-US" sz="1150" dirty="0"/>
          </a:p>
        </p:txBody>
      </p:sp>
      <p:sp>
        <p:nvSpPr>
          <p:cNvPr id="14" name="Text 11"/>
          <p:cNvSpPr txBox="1"/>
          <p:nvPr/>
        </p:nvSpPr>
        <p:spPr>
          <a:xfrm>
            <a:off x="4517136" y="4864608"/>
            <a:ext cx="3108960" cy="868680"/>
          </a:xfrm>
          <a:prstGeom prst="rect">
            <a:avLst/>
          </a:prstGeom>
          <a:noFill/>
          <a:ln/>
        </p:spPr>
        <p:txBody>
          <a:bodyPr wrap="square" lIns="0" tIns="0" rIns="0" bIns="0" rtlCol="0" anchor="ctr"/>
          <a:lstStyle/>
          <a:p>
            <a:pPr indent="0" marL="0">
              <a:lnSpc>
                <a:spcPts val="1450"/>
              </a:lnSpc>
              <a:buNone/>
            </a:pPr>
            <a:r>
              <a:rPr lang="en-US" sz="1000" dirty="0">
                <a:solidFill>
                  <a:srgbClr val="1F1A1C"/>
                </a:solidFill>
                <a:latin typeface="Calibri" pitchFamily="34" charset="0"/>
                <a:ea typeface="Calibri" pitchFamily="34" charset="-122"/>
                <a:cs typeface="Calibri" pitchFamily="34" charset="-120"/>
              </a:rPr>
              <a:t>1店舗・1名に対して事業価値27.6億円という集中度を、国内の取引事例で裏付けることはできない。事例が存在しないためである。</a:t>
            </a:r>
            <a:endParaRPr lang="en-US" sz="1000" dirty="0"/>
          </a:p>
        </p:txBody>
      </p:sp>
      <p:sp>
        <p:nvSpPr>
          <p:cNvPr id="15" name="Shape 12"/>
          <p:cNvSpPr/>
          <p:nvPr/>
        </p:nvSpPr>
        <p:spPr>
          <a:xfrm>
            <a:off x="8028432" y="4434840"/>
            <a:ext cx="3520440" cy="1417320"/>
          </a:xfrm>
          <a:prstGeom prst="roundRect">
            <a:avLst>
              <a:gd name="adj" fmla="val 3226"/>
            </a:avLst>
          </a:prstGeom>
          <a:solidFill>
            <a:srgbClr val="FFFFFF"/>
          </a:solidFill>
          <a:ln w="9525">
            <a:solidFill>
              <a:srgbClr val="E4DADD"/>
            </a:solidFill>
            <a:prstDash val="solid"/>
          </a:ln>
        </p:spPr>
      </p:sp>
      <p:sp>
        <p:nvSpPr>
          <p:cNvPr id="16" name="Shape 13"/>
          <p:cNvSpPr/>
          <p:nvPr/>
        </p:nvSpPr>
        <p:spPr>
          <a:xfrm>
            <a:off x="8247888" y="4572000"/>
            <a:ext cx="201168" cy="201168"/>
          </a:xfrm>
          <a:prstGeom prst="ellipse">
            <a:avLst/>
          </a:prstGeom>
          <a:solidFill>
            <a:srgbClr val="6D2E46"/>
          </a:solidFill>
          <a:ln/>
        </p:spPr>
      </p:sp>
      <p:sp>
        <p:nvSpPr>
          <p:cNvPr id="17" name="Text 14"/>
          <p:cNvSpPr txBox="1"/>
          <p:nvPr/>
        </p:nvSpPr>
        <p:spPr>
          <a:xfrm>
            <a:off x="8540496" y="4535424"/>
            <a:ext cx="2834640" cy="274320"/>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したがってDCFで判断する</a:t>
            </a:r>
            <a:endParaRPr lang="en-US" sz="1150" dirty="0"/>
          </a:p>
        </p:txBody>
      </p:sp>
      <p:sp>
        <p:nvSpPr>
          <p:cNvPr id="18" name="Text 15"/>
          <p:cNvSpPr txBox="1"/>
          <p:nvPr/>
        </p:nvSpPr>
        <p:spPr>
          <a:xfrm>
            <a:off x="8247888" y="4864608"/>
            <a:ext cx="3108960" cy="868680"/>
          </a:xfrm>
          <a:prstGeom prst="rect">
            <a:avLst/>
          </a:prstGeom>
          <a:noFill/>
          <a:ln/>
        </p:spPr>
        <p:txBody>
          <a:bodyPr wrap="square" lIns="0" tIns="0" rIns="0" bIns="0" rtlCol="0" anchor="ctr"/>
          <a:lstStyle/>
          <a:p>
            <a:pPr indent="0" marL="0">
              <a:lnSpc>
                <a:spcPts val="1450"/>
              </a:lnSpc>
              <a:buNone/>
            </a:pPr>
            <a:r>
              <a:rPr lang="en-US" sz="1000" dirty="0">
                <a:solidFill>
                  <a:srgbClr val="1F1A1C"/>
                </a:solidFill>
                <a:latin typeface="Calibri" pitchFamily="34" charset="0"/>
                <a:ea typeface="Calibri" pitchFamily="34" charset="-122"/>
                <a:cs typeface="Calibri" pitchFamily="34" charset="-120"/>
              </a:rPr>
              <a:t>事例が使えない以上、価格の妥当性は将来キャッシュフローとその実現確率で判断するほかない（次ページ）。</a:t>
            </a:r>
            <a:endParaRPr lang="en-US" sz="1000" dirty="0"/>
          </a:p>
        </p:txBody>
      </p:sp>
      <p:sp>
        <p:nvSpPr>
          <p:cNvPr id="19" name="Text 16"/>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0" name="Text 17"/>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統合判定</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価格が織り込む「三つ星維持確率」。50億円は34%で成立する</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シナリオA（35.0億円）とB（23.7億円）の間で価格を按分し、その価格が成立するために必要な三つ星維持確率を逆算した。</a:t>
            </a:r>
            <a:endParaRPr lang="en-US" sz="12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5096" cy="914400"/>
        </p:xfrm>
        <a:graphic>
          <a:graphicData uri="http://schemas.openxmlformats.org/drawingml/2006/table">
            <a:tbl>
              <a:tblPr/>
              <a:tblGrid>
                <a:gridCol w="2011680"/>
                <a:gridCol w="1828800"/>
                <a:gridCol w="1554480"/>
                <a:gridCol w="2377440"/>
                <a:gridCol w="3282696"/>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株式譲渡価格</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事業価値（EV）</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EV/EBITDA</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必要な三つ星維持確率</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判定</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84048">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45.00億円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22.57億円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4.27倍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0%（B案でも成立）</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6E6368"/>
                          </a:solidFill>
                          <a:latin typeface="Calibri" pitchFamily="34" charset="0"/>
                          <a:ea typeface="Calibri" pitchFamily="34" charset="-122"/>
                          <a:cs typeface="Calibri" pitchFamily="34" charset="-120"/>
                        </a:rPr>
                        <a:t>売主が応じない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50.00億円（提示）</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27.57億円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algn="r" indent="0" marL="0">
                        <a:buNone/>
                      </a:pPr>
                      <a:r>
                        <a:rPr lang="en-US" sz="1050" b="1" dirty="0">
                          <a:solidFill>
                            <a:srgbClr val="1F1A1C"/>
                          </a:solidFill>
                          <a:latin typeface="Calibri" pitchFamily="34" charset="0"/>
                          <a:ea typeface="Calibri" pitchFamily="34" charset="-122"/>
                          <a:cs typeface="Calibri" pitchFamily="34" charset="-120"/>
                        </a:rPr>
                        <a:t>5.21倍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algn="r" indent="0" marL="0">
                        <a:buNone/>
                      </a:pPr>
                      <a:r>
                        <a:rPr lang="en-US" sz="1050" b="1" dirty="0">
                          <a:solidFill>
                            <a:srgbClr val="2E6F4E"/>
                          </a:solidFill>
                          <a:latin typeface="Calibri" pitchFamily="34" charset="0"/>
                          <a:ea typeface="Calibri" pitchFamily="34" charset="-122"/>
                          <a:cs typeface="Calibri" pitchFamily="34" charset="-120"/>
                        </a:rPr>
                        <a:t>34.1%</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indent="0" marL="0">
                        <a:buNone/>
                      </a:pPr>
                      <a:r>
                        <a:rPr lang="en-US" sz="1050" b="1" dirty="0">
                          <a:solidFill>
                            <a:srgbClr val="2E6F4E"/>
                          </a:solidFill>
                          <a:latin typeface="Calibri" pitchFamily="34" charset="0"/>
                          <a:ea typeface="Calibri" pitchFamily="34" charset="-122"/>
                          <a:cs typeface="Calibri" pitchFamily="34" charset="-120"/>
                        </a:rPr>
                        <a:t>◎ 妥当。星が落ちる前提でも概ね説明できる</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r>
              <a:tr h="384048">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53.00億円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30.57億円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5.78倍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60.6%</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2E6F4E"/>
                          </a:solidFill>
                          <a:latin typeface="Calibri" pitchFamily="34" charset="0"/>
                          <a:ea typeface="Calibri" pitchFamily="34" charset="-122"/>
                          <a:cs typeface="Calibri" pitchFamily="34" charset="-120"/>
                        </a:rPr>
                        <a:t>○ 交渉の実務的な着地上限</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55.00億円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32.57億円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6.16倍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78.4%</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A8741A"/>
                          </a:solidFill>
                          <a:latin typeface="Calibri" pitchFamily="34" charset="0"/>
                          <a:ea typeface="Calibri" pitchFamily="34" charset="-122"/>
                          <a:cs typeface="Calibri" pitchFamily="34" charset="-120"/>
                        </a:rPr>
                        <a:t>△ 許容上限。星維持をほぼ前提とする</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57.40億円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34.97億円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6.61倍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dirty="0">
                          <a:solidFill>
                            <a:srgbClr val="A8741A"/>
                          </a:solidFill>
                          <a:latin typeface="Calibri" pitchFamily="34" charset="0"/>
                          <a:ea typeface="Calibri" pitchFamily="34" charset="-122"/>
                          <a:cs typeface="Calibri" pitchFamily="34" charset="-120"/>
                        </a:rPr>
                        <a:t>理論上限。降格リスクをゼロと置く水準</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60.00億円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37.57億円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7.10倍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1F1A1C"/>
                          </a:solidFill>
                          <a:latin typeface="Calibri" pitchFamily="34" charset="0"/>
                          <a:ea typeface="Calibri" pitchFamily="34" charset="-122"/>
                          <a:cs typeface="Calibri" pitchFamily="34" charset="-120"/>
                        </a:rPr>
                        <a:t>122.8%</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50" b="1" dirty="0">
                          <a:solidFill>
                            <a:srgbClr val="9B2C2C"/>
                          </a:solidFill>
                          <a:latin typeface="Calibri" pitchFamily="34" charset="0"/>
                          <a:ea typeface="Calibri" pitchFamily="34" charset="-122"/>
                          <a:cs typeface="Calibri" pitchFamily="34" charset="-120"/>
                        </a:rPr>
                        <a:t>× 説明不能。維持ケースDCFをも超える</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Shape 3"/>
          <p:cNvSpPr/>
          <p:nvPr/>
        </p:nvSpPr>
        <p:spPr>
          <a:xfrm>
            <a:off x="566928" y="4828032"/>
            <a:ext cx="11055096" cy="1005840"/>
          </a:xfrm>
          <a:prstGeom prst="roundRect">
            <a:avLst>
              <a:gd name="adj" fmla="val 3636"/>
            </a:avLst>
          </a:prstGeom>
          <a:solidFill>
            <a:srgbClr val="6D2E46"/>
          </a:solidFill>
          <a:ln/>
        </p:spPr>
      </p:sp>
      <p:sp>
        <p:nvSpPr>
          <p:cNvPr id="7" name="Text 4"/>
          <p:cNvSpPr txBox="1"/>
          <p:nvPr/>
        </p:nvSpPr>
        <p:spPr>
          <a:xfrm>
            <a:off x="822960" y="4937760"/>
            <a:ext cx="10543032" cy="822960"/>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rPr>
              <a:t>適正レンジ 50〜53億円　／　許容上限 55億円　／　57.4億円で三つ星維持100%前提　／　60億円は説明不能
</a:t>
            </a:r>
            <a:pPr indent="0" marL="0">
              <a:lnSpc>
                <a:spcPts val="1800"/>
              </a:lnSpc>
              <a:buNone/>
            </a:pPr>
            <a:r>
              <a:rPr lang="en-US" sz="1050" dirty="0">
                <a:solidFill>
                  <a:srgbClr val="EBDCE1"/>
                </a:solidFill>
              </a:rPr>
              <a:t>加重期待値（維持50%／降格35%／喪失15%）による株式価値は50.67億円。提示価格50億円はこの期待値をわずかに下回る。「50億円以上」という売主条件と3社競合を踏まえても、55億円を超える提示は本資料の前提では正当化できない。</a:t>
            </a:r>
            <a:endParaRPr lang="en-US" sz="1350" dirty="0"/>
          </a:p>
        </p:txBody>
      </p:sp>
      <p:sp>
        <p:nvSpPr>
          <p:cNvPr id="8" name="Text 5"/>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9" name="Text 6"/>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CHECK A ブレークイーブン分析</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営業利益が恒久的に21%落ちても、50億円は正当化される</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提示価格が織り込む事業価値27.57億円を、割引率10%・継続成長率0%で維持するために必要な利益水準を逆算した。</a:t>
            </a:r>
            <a:endParaRPr lang="en-US" sz="1250" dirty="0"/>
          </a:p>
        </p:txBody>
      </p:sp>
      <p:sp>
        <p:nvSpPr>
          <p:cNvPr id="5" name="Shape 3"/>
          <p:cNvSpPr/>
          <p:nvPr/>
        </p:nvSpPr>
        <p:spPr>
          <a:xfrm>
            <a:off x="566928" y="1828800"/>
            <a:ext cx="3520440" cy="1280160"/>
          </a:xfrm>
          <a:prstGeom prst="roundRect">
            <a:avLst>
              <a:gd name="adj" fmla="val 3571"/>
            </a:avLst>
          </a:prstGeom>
          <a:solidFill>
            <a:srgbClr val="FFFFFF"/>
          </a:solidFill>
          <a:ln w="9525">
            <a:solidFill>
              <a:srgbClr val="E4DADD"/>
            </a:solidFill>
            <a:prstDash val="solid"/>
          </a:ln>
        </p:spPr>
      </p:sp>
      <p:sp>
        <p:nvSpPr>
          <p:cNvPr id="6" name="Text 4"/>
          <p:cNvSpPr txBox="1"/>
          <p:nvPr/>
        </p:nvSpPr>
        <p:spPr>
          <a:xfrm>
            <a:off x="786384" y="1956816"/>
            <a:ext cx="310896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必要な恒久FCF</a:t>
            </a:r>
            <a:endParaRPr lang="en-US" sz="1000" dirty="0"/>
          </a:p>
        </p:txBody>
      </p:sp>
      <p:sp>
        <p:nvSpPr>
          <p:cNvPr id="7" name="Text 5"/>
          <p:cNvSpPr txBox="1"/>
          <p:nvPr/>
        </p:nvSpPr>
        <p:spPr>
          <a:xfrm>
            <a:off x="786384" y="2212848"/>
            <a:ext cx="3108960" cy="457200"/>
          </a:xfrm>
          <a:prstGeom prst="rect">
            <a:avLst/>
          </a:prstGeom>
          <a:noFill/>
          <a:ln/>
        </p:spPr>
        <p:txBody>
          <a:bodyPr wrap="square" lIns="0" tIns="0" rIns="0" bIns="0" rtlCol="0" anchor="ctr"/>
          <a:lstStyle/>
          <a:p>
            <a:pPr indent="0" marL="0">
              <a:buNone/>
            </a:pPr>
            <a:r>
              <a:rPr lang="en-US" sz="2600" b="1" dirty="0">
                <a:solidFill>
                  <a:srgbClr val="6D2E46"/>
                </a:solidFill>
                <a:latin typeface="Cambria" pitchFamily="34" charset="0"/>
                <a:ea typeface="Cambria" pitchFamily="34" charset="-122"/>
                <a:cs typeface="Cambria" pitchFamily="34" charset="-120"/>
              </a:rPr>
              <a:t>2.76億円</a:t>
            </a:r>
            <a:endParaRPr lang="en-US" sz="2600" dirty="0"/>
          </a:p>
        </p:txBody>
      </p:sp>
      <p:sp>
        <p:nvSpPr>
          <p:cNvPr id="8" name="Text 6"/>
          <p:cNvSpPr txBox="1"/>
          <p:nvPr/>
        </p:nvSpPr>
        <p:spPr>
          <a:xfrm>
            <a:off x="786384" y="2688336"/>
            <a:ext cx="3108960" cy="310896"/>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現状3.50億円に対し ▲21.2%</a:t>
            </a:r>
            <a:endParaRPr lang="en-US" sz="1000" dirty="0"/>
          </a:p>
        </p:txBody>
      </p:sp>
      <p:sp>
        <p:nvSpPr>
          <p:cNvPr id="9" name="Shape 7"/>
          <p:cNvSpPr/>
          <p:nvPr/>
        </p:nvSpPr>
        <p:spPr>
          <a:xfrm>
            <a:off x="4297680" y="1828800"/>
            <a:ext cx="3520440" cy="1280160"/>
          </a:xfrm>
          <a:prstGeom prst="roundRect">
            <a:avLst>
              <a:gd name="adj" fmla="val 3571"/>
            </a:avLst>
          </a:prstGeom>
          <a:solidFill>
            <a:srgbClr val="FFFFFF"/>
          </a:solidFill>
          <a:ln w="9525">
            <a:solidFill>
              <a:srgbClr val="E4DADD"/>
            </a:solidFill>
            <a:prstDash val="solid"/>
          </a:ln>
        </p:spPr>
      </p:sp>
      <p:sp>
        <p:nvSpPr>
          <p:cNvPr id="10" name="Text 8"/>
          <p:cNvSpPr txBox="1"/>
          <p:nvPr/>
        </p:nvSpPr>
        <p:spPr>
          <a:xfrm>
            <a:off x="4517136" y="1956816"/>
            <a:ext cx="310896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必要な恒久営業利益</a:t>
            </a:r>
            <a:endParaRPr lang="en-US" sz="1000" dirty="0"/>
          </a:p>
        </p:txBody>
      </p:sp>
      <p:sp>
        <p:nvSpPr>
          <p:cNvPr id="11" name="Text 9"/>
          <p:cNvSpPr txBox="1"/>
          <p:nvPr/>
        </p:nvSpPr>
        <p:spPr>
          <a:xfrm>
            <a:off x="4517136" y="2212848"/>
            <a:ext cx="3108960" cy="457200"/>
          </a:xfrm>
          <a:prstGeom prst="rect">
            <a:avLst/>
          </a:prstGeom>
          <a:noFill/>
          <a:ln/>
        </p:spPr>
        <p:txBody>
          <a:bodyPr wrap="square" lIns="0" tIns="0" rIns="0" bIns="0" rtlCol="0" anchor="ctr"/>
          <a:lstStyle/>
          <a:p>
            <a:pPr indent="0" marL="0">
              <a:buNone/>
            </a:pPr>
            <a:r>
              <a:rPr lang="en-US" sz="2600" b="1" dirty="0">
                <a:solidFill>
                  <a:srgbClr val="6D2E46"/>
                </a:solidFill>
                <a:latin typeface="Cambria" pitchFamily="34" charset="0"/>
                <a:ea typeface="Cambria" pitchFamily="34" charset="-122"/>
                <a:cs typeface="Cambria" pitchFamily="34" charset="-120"/>
              </a:rPr>
              <a:t>4.15億円</a:t>
            </a:r>
            <a:endParaRPr lang="en-US" sz="2600" dirty="0"/>
          </a:p>
        </p:txBody>
      </p:sp>
      <p:sp>
        <p:nvSpPr>
          <p:cNvPr id="12" name="Text 10"/>
          <p:cNvSpPr txBox="1"/>
          <p:nvPr/>
        </p:nvSpPr>
        <p:spPr>
          <a:xfrm>
            <a:off x="4517136" y="2688336"/>
            <a:ext cx="3108960" cy="310896"/>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現状5.28億円に対し ▲21.4%</a:t>
            </a:r>
            <a:endParaRPr lang="en-US" sz="1000" dirty="0"/>
          </a:p>
        </p:txBody>
      </p:sp>
      <p:sp>
        <p:nvSpPr>
          <p:cNvPr id="13" name="Shape 11"/>
          <p:cNvSpPr/>
          <p:nvPr/>
        </p:nvSpPr>
        <p:spPr>
          <a:xfrm>
            <a:off x="8028432" y="1828800"/>
            <a:ext cx="3520440" cy="1280160"/>
          </a:xfrm>
          <a:prstGeom prst="roundRect">
            <a:avLst>
              <a:gd name="adj" fmla="val 3571"/>
            </a:avLst>
          </a:prstGeom>
          <a:solidFill>
            <a:srgbClr val="FFFFFF"/>
          </a:solidFill>
          <a:ln w="9525">
            <a:solidFill>
              <a:srgbClr val="E4DADD"/>
            </a:solidFill>
            <a:prstDash val="solid"/>
          </a:ln>
        </p:spPr>
      </p:sp>
      <p:sp>
        <p:nvSpPr>
          <p:cNvPr id="14" name="Text 12"/>
          <p:cNvSpPr txBox="1"/>
          <p:nvPr/>
        </p:nvSpPr>
        <p:spPr>
          <a:xfrm>
            <a:off x="8247888" y="1956816"/>
            <a:ext cx="310896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必要な営業利益率</a:t>
            </a:r>
            <a:endParaRPr lang="en-US" sz="1000" dirty="0"/>
          </a:p>
        </p:txBody>
      </p:sp>
      <p:sp>
        <p:nvSpPr>
          <p:cNvPr id="15" name="Text 13"/>
          <p:cNvSpPr txBox="1"/>
          <p:nvPr/>
        </p:nvSpPr>
        <p:spPr>
          <a:xfrm>
            <a:off x="8247888" y="2212848"/>
            <a:ext cx="3108960" cy="457200"/>
          </a:xfrm>
          <a:prstGeom prst="rect">
            <a:avLst/>
          </a:prstGeom>
          <a:noFill/>
          <a:ln/>
        </p:spPr>
        <p:txBody>
          <a:bodyPr wrap="square" lIns="0" tIns="0" rIns="0" bIns="0" rtlCol="0" anchor="ctr"/>
          <a:lstStyle/>
          <a:p>
            <a:pPr indent="0" marL="0">
              <a:buNone/>
            </a:pPr>
            <a:r>
              <a:rPr lang="en-US" sz="2600" b="1" dirty="0">
                <a:solidFill>
                  <a:srgbClr val="6D2E46"/>
                </a:solidFill>
                <a:latin typeface="Cambria" pitchFamily="34" charset="0"/>
                <a:ea typeface="Cambria" pitchFamily="34" charset="-122"/>
                <a:cs typeface="Cambria" pitchFamily="34" charset="-120"/>
              </a:rPr>
              <a:t>40.9%</a:t>
            </a:r>
            <a:endParaRPr lang="en-US" sz="2600" dirty="0"/>
          </a:p>
        </p:txBody>
      </p:sp>
      <p:sp>
        <p:nvSpPr>
          <p:cNvPr id="16" name="Text 14"/>
          <p:cNvSpPr txBox="1"/>
          <p:nvPr/>
        </p:nvSpPr>
        <p:spPr>
          <a:xfrm>
            <a:off x="8247888" y="2688336"/>
            <a:ext cx="3108960" cy="310896"/>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現状52.0%から11.1pt低下まで許容</a:t>
            </a:r>
            <a:endParaRPr lang="en-US" sz="1000" dirty="0"/>
          </a:p>
        </p:txBody>
      </p:sp>
      <p:sp>
        <p:nvSpPr>
          <p:cNvPr id="17" name="Text 15"/>
          <p:cNvSpPr txBox="1"/>
          <p:nvPr/>
        </p:nvSpPr>
        <p:spPr>
          <a:xfrm>
            <a:off x="566928" y="3310128"/>
            <a:ext cx="7315200" cy="274320"/>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感応度：営業利益の恒久的な減少率 × 割引率 → 事業価値（億円）</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3621024"/>
          <a:ext cx="11055096" cy="914400"/>
        </p:xfrm>
        <a:graphic>
          <a:graphicData uri="http://schemas.openxmlformats.org/drawingml/2006/table">
            <a:tbl>
              <a:tblPr/>
              <a:tblGrid>
                <a:gridCol w="2560320"/>
                <a:gridCol w="1737360"/>
                <a:gridCol w="1737360"/>
                <a:gridCol w="1737360"/>
                <a:gridCol w="3282696"/>
              </a:tblGrid>
              <a:tr h="3383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営業利益の恒久的減少</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割引率 8%</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割引率 10%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割引率 12%</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該当シナリオの目安</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38328">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現状維持（±0%）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E6F4E"/>
                          </a:solidFill>
                          <a:latin typeface="Calibri" pitchFamily="34" charset="0"/>
                          <a:ea typeface="Calibri" pitchFamily="34" charset="-122"/>
                          <a:cs typeface="Calibri" pitchFamily="34" charset="-120"/>
                        </a:rPr>
                        <a:t>43.7億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2E6F4E"/>
                          </a:solidFill>
                          <a:latin typeface="Calibri" pitchFamily="34" charset="0"/>
                          <a:ea typeface="Calibri" pitchFamily="34" charset="-122"/>
                          <a:cs typeface="Calibri" pitchFamily="34" charset="-120"/>
                        </a:rPr>
                        <a:t>35.0億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2E6F4E"/>
                          </a:solidFill>
                          <a:latin typeface="Calibri" pitchFamily="34" charset="0"/>
                          <a:ea typeface="Calibri" pitchFamily="34" charset="-122"/>
                          <a:cs typeface="Calibri" pitchFamily="34" charset="-120"/>
                        </a:rPr>
                        <a:t>29.1億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三つ星維持</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38328">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E6F4E"/>
                          </a:solidFill>
                          <a:latin typeface="Calibri" pitchFamily="34" charset="0"/>
                          <a:ea typeface="Calibri" pitchFamily="34" charset="-122"/>
                          <a:cs typeface="Calibri" pitchFamily="34" charset="-120"/>
                        </a:rPr>
                        <a:t>39.4億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2E6F4E"/>
                          </a:solidFill>
                          <a:latin typeface="Calibri" pitchFamily="34" charset="0"/>
                          <a:ea typeface="Calibri" pitchFamily="34" charset="-122"/>
                          <a:cs typeface="Calibri" pitchFamily="34" charset="-120"/>
                        </a:rPr>
                        <a:t>31.5億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9B2C2C"/>
                          </a:solidFill>
                          <a:latin typeface="Calibri" pitchFamily="34" charset="0"/>
                          <a:ea typeface="Calibri" pitchFamily="34" charset="-122"/>
                          <a:cs typeface="Calibri" pitchFamily="34" charset="-120"/>
                        </a:rPr>
                        <a:t>26.3億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軽微な客離れ</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38328">
                <a:tc>
                  <a:txBody>
                    <a:bodyPr/>
                    <a:lstStyle/>
                    <a:p>
                      <a:pPr indent="0" marL="0">
                        <a:buNone/>
                      </a:pPr>
                      <a:r>
                        <a:rPr lang="en-US" sz="1050" b="1" dirty="0">
                          <a:solidFill>
                            <a:srgbClr val="1F1A1C"/>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50" dirty="0">
                          <a:solidFill>
                            <a:srgbClr val="2E6F4E"/>
                          </a:solidFill>
                          <a:latin typeface="Calibri" pitchFamily="34" charset="0"/>
                          <a:ea typeface="Calibri" pitchFamily="34" charset="-122"/>
                          <a:cs typeface="Calibri" pitchFamily="34" charset="-120"/>
                        </a:rPr>
                        <a:t>35.1億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2E6F4E"/>
                          </a:solidFill>
                          <a:latin typeface="Calibri" pitchFamily="34" charset="0"/>
                          <a:ea typeface="Calibri" pitchFamily="34" charset="-122"/>
                          <a:cs typeface="Calibri" pitchFamily="34" charset="-120"/>
                        </a:rPr>
                        <a:t>28.1億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9B2C2C"/>
                          </a:solidFill>
                          <a:latin typeface="Calibri" pitchFamily="34" charset="0"/>
                          <a:ea typeface="Calibri" pitchFamily="34" charset="-122"/>
                          <a:cs typeface="Calibri" pitchFamily="34" charset="-120"/>
                        </a:rPr>
                        <a:t>23.4億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ブレークイーブン水準</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38328">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FFFFF"/>
                    </a:solidFill>
                  </a:tcPr>
                </a:tc>
                <a:tc>
                  <a:txBody>
                    <a:bodyPr/>
                    <a:lstStyle/>
                    <a:p>
                      <a:pPr algn="r" indent="0" marL="0">
                        <a:buNone/>
                      </a:pPr>
                      <a:r>
                        <a:rPr lang="en-US" sz="1050" dirty="0">
                          <a:solidFill>
                            <a:srgbClr val="2E6F4E"/>
                          </a:solidFill>
                          <a:latin typeface="Calibri" pitchFamily="34" charset="0"/>
                          <a:ea typeface="Calibri" pitchFamily="34" charset="-122"/>
                          <a:cs typeface="Calibri" pitchFamily="34" charset="-120"/>
                        </a:rPr>
                        <a:t>30.8億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9B2C2C"/>
                          </a:solidFill>
                          <a:latin typeface="Calibri" pitchFamily="34" charset="0"/>
                          <a:ea typeface="Calibri" pitchFamily="34" charset="-122"/>
                          <a:cs typeface="Calibri" pitchFamily="34" charset="-120"/>
                        </a:rPr>
                        <a:t>24.6億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9B2C2C"/>
                          </a:solidFill>
                          <a:latin typeface="Calibri" pitchFamily="34" charset="0"/>
                          <a:ea typeface="Calibri" pitchFamily="34" charset="-122"/>
                          <a:cs typeface="Calibri" pitchFamily="34" charset="-120"/>
                        </a:rPr>
                        <a:t>20.5億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二つ星降格の入口</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38328">
                <a:tc>
                  <a:txBody>
                    <a:bodyPr/>
                    <a:lstStyle/>
                    <a:p>
                      <a:pPr indent="0" marL="0">
                        <a:buNone/>
                      </a:pPr>
                      <a:r>
                        <a:rPr lang="en-US" sz="1050" dirty="0">
                          <a:solidFill>
                            <a:srgbClr val="1F1A1C"/>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FFFFF"/>
                    </a:solidFill>
                  </a:tcPr>
                </a:tc>
                <a:tc>
                  <a:txBody>
                    <a:bodyPr/>
                    <a:lstStyle/>
                    <a:p>
                      <a:pPr algn="r" indent="0" marL="0">
                        <a:buNone/>
                      </a:pPr>
                      <a:r>
                        <a:rPr lang="en-US" sz="1050" dirty="0">
                          <a:solidFill>
                            <a:srgbClr val="9B2C2C"/>
                          </a:solidFill>
                          <a:latin typeface="Calibri" pitchFamily="34" charset="0"/>
                          <a:ea typeface="Calibri" pitchFamily="34" charset="-122"/>
                          <a:cs typeface="Calibri" pitchFamily="34" charset="-120"/>
                        </a:rPr>
                        <a:t>22.1億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b="1" dirty="0">
                          <a:solidFill>
                            <a:srgbClr val="9B2C2C"/>
                          </a:solidFill>
                          <a:latin typeface="Calibri" pitchFamily="34" charset="0"/>
                          <a:ea typeface="Calibri" pitchFamily="34" charset="-122"/>
                          <a:cs typeface="Calibri" pitchFamily="34" charset="-120"/>
                        </a:rPr>
                        <a:t>17.7億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50" dirty="0">
                          <a:solidFill>
                            <a:srgbClr val="9B2C2C"/>
                          </a:solidFill>
                          <a:latin typeface="Calibri" pitchFamily="34" charset="0"/>
                          <a:ea typeface="Calibri" pitchFamily="34" charset="-122"/>
                          <a:cs typeface="Calibri" pitchFamily="34" charset="-120"/>
                        </a:rPr>
                        <a:t>14.7億</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二つ星降格〜星喪失</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19" name="Text 16"/>
          <p:cNvSpPr txBox="1"/>
          <p:nvPr/>
        </p:nvSpPr>
        <p:spPr>
          <a:xfrm>
            <a:off x="566928" y="5742432"/>
            <a:ext cx="11055096" cy="548640"/>
          </a:xfrm>
          <a:prstGeom prst="rect">
            <a:avLst/>
          </a:prstGeom>
          <a:noFill/>
          <a:ln/>
        </p:spPr>
        <p:txBody>
          <a:bodyPr wrap="square" lIns="0" tIns="0" rIns="0" bIns="0" rtlCol="0" anchor="ctr"/>
          <a:lstStyle/>
          <a:p>
            <a:pPr indent="0" marL="0">
              <a:lnSpc>
                <a:spcPts val="1400"/>
              </a:lnSpc>
              <a:buNone/>
            </a:pPr>
            <a:r>
              <a:rPr lang="en-US" sz="950" dirty="0">
                <a:solidFill>
                  <a:srgbClr val="6E6368"/>
                </a:solidFill>
                <a:latin typeface="Calibri" pitchFamily="34" charset="0"/>
                <a:ea typeface="Calibri" pitchFamily="34" charset="-122"/>
                <a:cs typeface="Calibri" pitchFamily="34" charset="-120"/>
              </a:rPr>
              <a:t>緑＝提示価格が織り込むEV 27.57億円を上回る（価格が正当化される）／赤＝下回る。割引率10%・営業利益▲20%までが許容範囲。</a:t>
            </a:r>
            <a:endParaRPr lang="en-US" sz="950" dirty="0"/>
          </a:p>
          <a:p>
            <a:pPr indent="0" marL="0">
              <a:lnSpc>
                <a:spcPts val="1400"/>
              </a:lnSpc>
              <a:buNone/>
            </a:pPr>
            <a:r>
              <a:rPr lang="en-US" sz="950" dirty="0">
                <a:solidFill>
                  <a:srgbClr val="6E6368"/>
                </a:solidFill>
                <a:latin typeface="Calibri" pitchFamily="34" charset="0"/>
                <a:ea typeface="Calibri" pitchFamily="34" charset="-122"/>
                <a:cs typeface="Calibri" pitchFamily="34" charset="-120"/>
              </a:rPr>
              <a:t>参考：レバレッジなしIRR 12.5%（EV27.57億円で取得、10年保有、Exit EV/EBITDA 5.0倍、三つ星維持前提）。単純回収年数はEV÷FCFで7.9年、EV÷営業利益で5.2年。</a:t>
            </a:r>
            <a:endParaRPr lang="en-US" sz="950" dirty="0"/>
          </a:p>
        </p:txBody>
      </p:sp>
      <p:sp>
        <p:nvSpPr>
          <p:cNvPr id="20" name="Text 17"/>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1" name="Text 18"/>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STRUCTURE</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M&amp;Aスキーム（SPC方式）</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資本金10万円のSPCを設立し、みずほ銀行のローンと投資家の出資をもって対象会社の全株式を取得。クロージング後にSPCと対象会社を合併する。譲受価額はレンジ（50.0〜55.0億円）で提示する。</a:t>
            </a:r>
            <a:endParaRPr lang="en-US" sz="1250" dirty="0"/>
          </a:p>
        </p:txBody>
      </p:sp>
      <p:sp>
        <p:nvSpPr>
          <p:cNvPr id="5" name="Shape 3"/>
          <p:cNvSpPr/>
          <p:nvPr/>
        </p:nvSpPr>
        <p:spPr>
          <a:xfrm>
            <a:off x="4297680" y="1444752"/>
            <a:ext cx="2011680" cy="768096"/>
          </a:xfrm>
          <a:prstGeom prst="roundRect">
            <a:avLst>
              <a:gd name="adj" fmla="val 5952"/>
            </a:avLst>
          </a:prstGeom>
          <a:solidFill>
            <a:srgbClr val="F7F3F4"/>
          </a:solidFill>
          <a:ln w="15875">
            <a:solidFill>
              <a:srgbClr val="6D2E46"/>
            </a:solidFill>
            <a:prstDash val="solid"/>
          </a:ln>
        </p:spPr>
      </p:sp>
      <p:sp>
        <p:nvSpPr>
          <p:cNvPr id="6" name="Text 4"/>
          <p:cNvSpPr txBox="1"/>
          <p:nvPr/>
        </p:nvSpPr>
        <p:spPr>
          <a:xfrm>
            <a:off x="4407408" y="1563624"/>
            <a:ext cx="1792224" cy="274320"/>
          </a:xfrm>
          <a:prstGeom prst="rect">
            <a:avLst/>
          </a:prstGeom>
          <a:noFill/>
          <a:ln/>
        </p:spPr>
        <p:txBody>
          <a:bodyPr wrap="square" lIns="0" tIns="0" rIns="0" bIns="0" rtlCol="0" anchor="ctr"/>
          <a:lstStyle/>
          <a:p>
            <a:pPr algn="ctr" indent="0" marL="0">
              <a:buNone/>
            </a:pPr>
            <a:r>
              <a:rPr lang="en-US" sz="1250" b="1" dirty="0">
                <a:solidFill>
                  <a:srgbClr val="1F1A1C"/>
                </a:solidFill>
                <a:latin typeface="Calibri" pitchFamily="34" charset="0"/>
                <a:ea typeface="Calibri" pitchFamily="34" charset="-122"/>
                <a:cs typeface="Calibri" pitchFamily="34" charset="-120"/>
              </a:rPr>
              <a:t>中野 邦人 氏</a:t>
            </a:r>
            <a:endParaRPr lang="en-US" sz="1250" dirty="0"/>
          </a:p>
        </p:txBody>
      </p:sp>
      <p:sp>
        <p:nvSpPr>
          <p:cNvPr id="7" name="Text 5"/>
          <p:cNvSpPr txBox="1"/>
          <p:nvPr/>
        </p:nvSpPr>
        <p:spPr>
          <a:xfrm>
            <a:off x="4389120" y="1837944"/>
            <a:ext cx="1828800" cy="292608"/>
          </a:xfrm>
          <a:prstGeom prst="rect">
            <a:avLst/>
          </a:prstGeom>
          <a:noFill/>
          <a:ln/>
        </p:spPr>
        <p:txBody>
          <a:bodyPr wrap="square" lIns="0" tIns="0" rIns="0" bIns="0" rtlCol="0" anchor="ctr"/>
          <a:lstStyle/>
          <a:p>
            <a:pPr algn="ctr" indent="0" marL="0">
              <a:lnSpc>
                <a:spcPts val="1200"/>
              </a:lnSpc>
              <a:buNone/>
            </a:pPr>
            <a:r>
              <a:rPr lang="en-US" sz="900" dirty="0">
                <a:solidFill>
                  <a:srgbClr val="6E6368"/>
                </a:solidFill>
                <a:latin typeface="Calibri" pitchFamily="34" charset="0"/>
                <a:ea typeface="Calibri" pitchFamily="34" charset="-122"/>
                <a:cs typeface="Calibri" pitchFamily="34" charset="-120"/>
              </a:rPr>
              <a:t>SPC設立者</a:t>
            </a:r>
            <a:endParaRPr lang="en-US" sz="900" dirty="0"/>
          </a:p>
        </p:txBody>
      </p:sp>
      <p:sp>
        <p:nvSpPr>
          <p:cNvPr id="8" name="Shape 6"/>
          <p:cNvSpPr/>
          <p:nvPr/>
        </p:nvSpPr>
        <p:spPr>
          <a:xfrm>
            <a:off x="6492240" y="1444752"/>
            <a:ext cx="2011680" cy="768096"/>
          </a:xfrm>
          <a:prstGeom prst="roundRect">
            <a:avLst>
              <a:gd name="adj" fmla="val 5952"/>
            </a:avLst>
          </a:prstGeom>
          <a:solidFill>
            <a:srgbClr val="F7F3F4"/>
          </a:solidFill>
          <a:ln w="15875">
            <a:solidFill>
              <a:srgbClr val="6D2E46"/>
            </a:solidFill>
            <a:prstDash val="solid"/>
          </a:ln>
        </p:spPr>
      </p:sp>
      <p:sp>
        <p:nvSpPr>
          <p:cNvPr id="9" name="Text 7"/>
          <p:cNvSpPr txBox="1"/>
          <p:nvPr/>
        </p:nvSpPr>
        <p:spPr>
          <a:xfrm>
            <a:off x="6601968" y="1563624"/>
            <a:ext cx="1792224" cy="274320"/>
          </a:xfrm>
          <a:prstGeom prst="rect">
            <a:avLst/>
          </a:prstGeom>
          <a:noFill/>
          <a:ln/>
        </p:spPr>
        <p:txBody>
          <a:bodyPr wrap="square" lIns="0" tIns="0" rIns="0" bIns="0" rtlCol="0" anchor="ctr"/>
          <a:lstStyle/>
          <a:p>
            <a:pPr algn="ctr" indent="0" marL="0">
              <a:buNone/>
            </a:pPr>
            <a:r>
              <a:rPr lang="en-US" sz="1250" b="1" dirty="0">
                <a:solidFill>
                  <a:srgbClr val="1F1A1C"/>
                </a:solidFill>
                <a:latin typeface="Calibri" pitchFamily="34" charset="0"/>
                <a:ea typeface="Calibri" pitchFamily="34" charset="-122"/>
                <a:cs typeface="Calibri" pitchFamily="34" charset="-120"/>
              </a:rPr>
              <a:t>榊原 氏</a:t>
            </a:r>
            <a:endParaRPr lang="en-US" sz="1250" dirty="0"/>
          </a:p>
        </p:txBody>
      </p:sp>
      <p:sp>
        <p:nvSpPr>
          <p:cNvPr id="10" name="Text 8"/>
          <p:cNvSpPr txBox="1"/>
          <p:nvPr/>
        </p:nvSpPr>
        <p:spPr>
          <a:xfrm>
            <a:off x="6583680" y="1837944"/>
            <a:ext cx="1828800" cy="292608"/>
          </a:xfrm>
          <a:prstGeom prst="rect">
            <a:avLst/>
          </a:prstGeom>
          <a:noFill/>
          <a:ln/>
        </p:spPr>
        <p:txBody>
          <a:bodyPr wrap="square" lIns="0" tIns="0" rIns="0" bIns="0" rtlCol="0" anchor="ctr"/>
          <a:lstStyle/>
          <a:p>
            <a:pPr algn="ctr" indent="0" marL="0">
              <a:lnSpc>
                <a:spcPts val="1200"/>
              </a:lnSpc>
              <a:buNone/>
            </a:pPr>
            <a:r>
              <a:rPr lang="en-US" sz="900" dirty="0">
                <a:solidFill>
                  <a:srgbClr val="6E6368"/>
                </a:solidFill>
                <a:latin typeface="Calibri" pitchFamily="34" charset="0"/>
                <a:ea typeface="Calibri" pitchFamily="34" charset="-122"/>
                <a:cs typeface="Calibri" pitchFamily="34" charset="-120"/>
              </a:rPr>
              <a:t>投資家</a:t>
            </a:r>
            <a:endParaRPr lang="en-US" sz="900" dirty="0"/>
          </a:p>
        </p:txBody>
      </p:sp>
      <p:sp>
        <p:nvSpPr>
          <p:cNvPr id="11" name="Shape 9"/>
          <p:cNvSpPr/>
          <p:nvPr/>
        </p:nvSpPr>
        <p:spPr>
          <a:xfrm>
            <a:off x="5303520" y="2212848"/>
            <a:ext cx="0" cy="585216"/>
          </a:xfrm>
          <a:prstGeom prst="line">
            <a:avLst/>
          </a:prstGeom>
          <a:noFill/>
          <a:ln w="19050">
            <a:solidFill>
              <a:srgbClr val="6D2E46"/>
            </a:solidFill>
            <a:prstDash val="solid"/>
            <a:tailEnd type="triangle"/>
          </a:ln>
        </p:spPr>
      </p:sp>
      <p:sp>
        <p:nvSpPr>
          <p:cNvPr id="12" name="Shape 10"/>
          <p:cNvSpPr/>
          <p:nvPr/>
        </p:nvSpPr>
        <p:spPr>
          <a:xfrm>
            <a:off x="7498080" y="2212848"/>
            <a:ext cx="0" cy="585216"/>
          </a:xfrm>
          <a:prstGeom prst="line">
            <a:avLst/>
          </a:prstGeom>
          <a:noFill/>
          <a:ln w="19050">
            <a:solidFill>
              <a:srgbClr val="6D2E46"/>
            </a:solidFill>
            <a:prstDash val="solid"/>
            <a:tailEnd type="triangle"/>
          </a:ln>
        </p:spPr>
      </p:sp>
      <p:sp>
        <p:nvSpPr>
          <p:cNvPr id="13" name="Text 11"/>
          <p:cNvSpPr txBox="1"/>
          <p:nvPr/>
        </p:nvSpPr>
        <p:spPr>
          <a:xfrm>
            <a:off x="5376672" y="2267712"/>
            <a:ext cx="1691640" cy="329184"/>
          </a:xfrm>
          <a:prstGeom prst="rect">
            <a:avLst/>
          </a:prstGeom>
          <a:noFill/>
          <a:ln/>
        </p:spPr>
        <p:txBody>
          <a:bodyPr wrap="square" lIns="0" tIns="0" rIns="0" bIns="0" rtlCol="0" anchor="ctr"/>
          <a:lstStyle/>
          <a:p>
            <a:pPr algn="ctr" indent="0" marL="0">
              <a:lnSpc>
                <a:spcPts val="1100"/>
              </a:lnSpc>
              <a:buNone/>
            </a:pPr>
            <a:r>
              <a:rPr lang="en-US" sz="850" b="1" dirty="0">
                <a:solidFill>
                  <a:srgbClr val="6D2E46"/>
                </a:solidFill>
                <a:latin typeface="Calibri" pitchFamily="34" charset="0"/>
                <a:ea typeface="Calibri" pitchFamily="34" charset="-122"/>
                <a:cs typeface="Calibri" pitchFamily="34" charset="-120"/>
              </a:rPr>
              <a:t>出資10万円（67%）</a:t>
            </a:r>
            <a:endParaRPr lang="en-US" sz="850" dirty="0"/>
          </a:p>
          <a:p>
            <a:pPr algn="ctr" indent="0" marL="0">
              <a:lnSpc>
                <a:spcPts val="1100"/>
              </a:lnSpc>
              <a:buNone/>
            </a:pPr>
            <a:r>
              <a:rPr lang="en-US" sz="850" b="1" dirty="0">
                <a:solidFill>
                  <a:srgbClr val="6D2E46"/>
                </a:solidFill>
                <a:latin typeface="Calibri" pitchFamily="34" charset="0"/>
                <a:ea typeface="Calibri" pitchFamily="34" charset="-122"/>
                <a:cs typeface="Calibri" pitchFamily="34" charset="-120"/>
              </a:rPr>
              <a:t>＋ 株主貸付 700万円</a:t>
            </a:r>
            <a:endParaRPr lang="en-US" sz="850" dirty="0"/>
          </a:p>
        </p:txBody>
      </p:sp>
      <p:sp>
        <p:nvSpPr>
          <p:cNvPr id="14" name="Text 12"/>
          <p:cNvSpPr txBox="1"/>
          <p:nvPr/>
        </p:nvSpPr>
        <p:spPr>
          <a:xfrm>
            <a:off x="7571232" y="2267712"/>
            <a:ext cx="1554480" cy="329184"/>
          </a:xfrm>
          <a:prstGeom prst="rect">
            <a:avLst/>
          </a:prstGeom>
          <a:noFill/>
          <a:ln/>
        </p:spPr>
        <p:txBody>
          <a:bodyPr wrap="square" lIns="0" tIns="0" rIns="0" bIns="0" rtlCol="0" anchor="ctr"/>
          <a:lstStyle/>
          <a:p>
            <a:pPr algn="ctr" indent="0" marL="0">
              <a:lnSpc>
                <a:spcPts val="1100"/>
              </a:lnSpc>
              <a:buNone/>
            </a:pPr>
            <a:r>
              <a:rPr lang="en-US" sz="850" b="1" dirty="0">
                <a:solidFill>
                  <a:srgbClr val="6D2E46"/>
                </a:solidFill>
                <a:latin typeface="Calibri" pitchFamily="34" charset="0"/>
                <a:ea typeface="Calibri" pitchFamily="34" charset="-122"/>
                <a:cs typeface="Calibri" pitchFamily="34" charset="-120"/>
              </a:rPr>
              <a:t>出資 10.0億円</a:t>
            </a:r>
            <a:endParaRPr lang="en-US" sz="850" dirty="0"/>
          </a:p>
          <a:p>
            <a:pPr algn="ctr" indent="0" marL="0">
              <a:lnSpc>
                <a:spcPts val="1100"/>
              </a:lnSpc>
              <a:buNone/>
            </a:pPr>
            <a:r>
              <a:rPr lang="en-US" sz="850" b="1" dirty="0">
                <a:solidFill>
                  <a:srgbClr val="6D2E46"/>
                </a:solidFill>
                <a:latin typeface="Calibri" pitchFamily="34" charset="0"/>
                <a:ea typeface="Calibri" pitchFamily="34" charset="-122"/>
                <a:cs typeface="Calibri" pitchFamily="34" charset="-120"/>
              </a:rPr>
              <a:t>（33%）</a:t>
            </a:r>
            <a:endParaRPr lang="en-US" sz="850" dirty="0"/>
          </a:p>
        </p:txBody>
      </p:sp>
      <p:sp>
        <p:nvSpPr>
          <p:cNvPr id="15" name="Shape 13"/>
          <p:cNvSpPr/>
          <p:nvPr/>
        </p:nvSpPr>
        <p:spPr>
          <a:xfrm>
            <a:off x="566928" y="2798064"/>
            <a:ext cx="2331720" cy="877824"/>
          </a:xfrm>
          <a:prstGeom prst="roundRect">
            <a:avLst>
              <a:gd name="adj" fmla="val 5208"/>
            </a:avLst>
          </a:prstGeom>
          <a:solidFill>
            <a:srgbClr val="FFFFFF"/>
          </a:solidFill>
          <a:ln w="12700">
            <a:solidFill>
              <a:srgbClr val="A26769"/>
            </a:solidFill>
            <a:prstDash val="solid"/>
          </a:ln>
        </p:spPr>
      </p:sp>
      <p:sp>
        <p:nvSpPr>
          <p:cNvPr id="16" name="Text 14"/>
          <p:cNvSpPr txBox="1"/>
          <p:nvPr/>
        </p:nvSpPr>
        <p:spPr>
          <a:xfrm>
            <a:off x="676656" y="2916936"/>
            <a:ext cx="2112264" cy="274320"/>
          </a:xfrm>
          <a:prstGeom prst="rect">
            <a:avLst/>
          </a:prstGeom>
          <a:noFill/>
          <a:ln/>
        </p:spPr>
        <p:txBody>
          <a:bodyPr wrap="square" lIns="0" tIns="0" rIns="0" bIns="0" rtlCol="0" anchor="ctr"/>
          <a:lstStyle/>
          <a:p>
            <a:pPr algn="ctr" indent="0" marL="0">
              <a:buNone/>
            </a:pPr>
            <a:r>
              <a:rPr lang="en-US" sz="1250" b="1" dirty="0">
                <a:solidFill>
                  <a:srgbClr val="1F1A1C"/>
                </a:solidFill>
                <a:latin typeface="Calibri" pitchFamily="34" charset="0"/>
                <a:ea typeface="Calibri" pitchFamily="34" charset="-122"/>
                <a:cs typeface="Calibri" pitchFamily="34" charset="-120"/>
              </a:rPr>
              <a:t>みずほ銀行</a:t>
            </a:r>
            <a:endParaRPr lang="en-US" sz="1250" dirty="0"/>
          </a:p>
        </p:txBody>
      </p:sp>
      <p:sp>
        <p:nvSpPr>
          <p:cNvPr id="17" name="Text 15"/>
          <p:cNvSpPr txBox="1"/>
          <p:nvPr/>
        </p:nvSpPr>
        <p:spPr>
          <a:xfrm>
            <a:off x="658368" y="3191256"/>
            <a:ext cx="2148840" cy="402336"/>
          </a:xfrm>
          <a:prstGeom prst="rect">
            <a:avLst/>
          </a:prstGeom>
          <a:noFill/>
          <a:ln/>
        </p:spPr>
        <p:txBody>
          <a:bodyPr wrap="square" lIns="0" tIns="0" rIns="0" bIns="0" rtlCol="0" anchor="ctr"/>
          <a:lstStyle/>
          <a:p>
            <a:pPr algn="ctr" indent="0" marL="0">
              <a:lnSpc>
                <a:spcPts val="1200"/>
              </a:lnSpc>
              <a:buNone/>
            </a:pPr>
            <a:r>
              <a:rPr lang="en-US" sz="900" dirty="0">
                <a:solidFill>
                  <a:srgbClr val="6E6368"/>
                </a:solidFill>
                <a:latin typeface="Calibri" pitchFamily="34" charset="0"/>
                <a:ea typeface="Calibri" pitchFamily="34" charset="-122"/>
                <a:cs typeface="Calibri" pitchFamily="34" charset="-120"/>
              </a:rPr>
              <a:t>買収ファイナンス</a:t>
            </a:r>
            <a:endParaRPr lang="en-US" sz="900" dirty="0"/>
          </a:p>
        </p:txBody>
      </p:sp>
      <p:sp>
        <p:nvSpPr>
          <p:cNvPr id="18" name="Shape 16"/>
          <p:cNvSpPr/>
          <p:nvPr/>
        </p:nvSpPr>
        <p:spPr>
          <a:xfrm>
            <a:off x="4069080" y="2798064"/>
            <a:ext cx="4023360" cy="877824"/>
          </a:xfrm>
          <a:prstGeom prst="roundRect">
            <a:avLst>
              <a:gd name="adj" fmla="val 5208"/>
            </a:avLst>
          </a:prstGeom>
          <a:solidFill>
            <a:srgbClr val="6D2E46"/>
          </a:solidFill>
          <a:ln w="15875">
            <a:solidFill>
              <a:srgbClr val="6D2E46"/>
            </a:solidFill>
            <a:prstDash val="solid"/>
          </a:ln>
        </p:spPr>
      </p:sp>
      <p:sp>
        <p:nvSpPr>
          <p:cNvPr id="19" name="Text 17"/>
          <p:cNvSpPr txBox="1"/>
          <p:nvPr/>
        </p:nvSpPr>
        <p:spPr>
          <a:xfrm>
            <a:off x="4178808" y="2916936"/>
            <a:ext cx="3803904"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買収目的会社（SPC）</a:t>
            </a:r>
            <a:endParaRPr lang="en-US" sz="1400" dirty="0"/>
          </a:p>
        </p:txBody>
      </p:sp>
      <p:sp>
        <p:nvSpPr>
          <p:cNvPr id="20" name="Text 18"/>
          <p:cNvSpPr txBox="1"/>
          <p:nvPr/>
        </p:nvSpPr>
        <p:spPr>
          <a:xfrm>
            <a:off x="4160520" y="3191256"/>
            <a:ext cx="3840480" cy="402336"/>
          </a:xfrm>
          <a:prstGeom prst="rect">
            <a:avLst/>
          </a:prstGeom>
          <a:noFill/>
          <a:ln/>
        </p:spPr>
        <p:txBody>
          <a:bodyPr wrap="square" lIns="0" tIns="0" rIns="0" bIns="0" rtlCol="0" anchor="ctr"/>
          <a:lstStyle/>
          <a:p>
            <a:pPr algn="ctr" indent="0" marL="0">
              <a:lnSpc>
                <a:spcPts val="1200"/>
              </a:lnSpc>
              <a:buNone/>
            </a:pPr>
            <a:r>
              <a:rPr lang="en-US" sz="900" dirty="0">
                <a:solidFill>
                  <a:srgbClr val="E3D2D7"/>
                </a:solidFill>
                <a:latin typeface="Calibri" pitchFamily="34" charset="0"/>
                <a:ea typeface="Calibri" pitchFamily="34" charset="-122"/>
                <a:cs typeface="Calibri" pitchFamily="34" charset="-120"/>
              </a:rPr>
              <a:t>資本金10万円／借入41.4億円（ターム20.0＋ブリッジ21.4）</a:t>
            </a:r>
            <a:endParaRPr lang="en-US" sz="900" dirty="0"/>
          </a:p>
        </p:txBody>
      </p:sp>
      <p:sp>
        <p:nvSpPr>
          <p:cNvPr id="21" name="Shape 19"/>
          <p:cNvSpPr/>
          <p:nvPr/>
        </p:nvSpPr>
        <p:spPr>
          <a:xfrm>
            <a:off x="9189720" y="2798064"/>
            <a:ext cx="2432304" cy="877824"/>
          </a:xfrm>
          <a:prstGeom prst="roundRect">
            <a:avLst>
              <a:gd name="adj" fmla="val 5208"/>
            </a:avLst>
          </a:prstGeom>
          <a:solidFill>
            <a:srgbClr val="FFFFFF"/>
          </a:solidFill>
          <a:ln w="12700">
            <a:solidFill>
              <a:srgbClr val="A26769"/>
            </a:solidFill>
            <a:prstDash val="solid"/>
          </a:ln>
        </p:spPr>
      </p:sp>
      <p:sp>
        <p:nvSpPr>
          <p:cNvPr id="22" name="Text 20"/>
          <p:cNvSpPr txBox="1"/>
          <p:nvPr/>
        </p:nvSpPr>
        <p:spPr>
          <a:xfrm>
            <a:off x="9299448" y="2916936"/>
            <a:ext cx="2212848" cy="274320"/>
          </a:xfrm>
          <a:prstGeom prst="rect">
            <a:avLst/>
          </a:prstGeom>
          <a:noFill/>
          <a:ln/>
        </p:spPr>
        <p:txBody>
          <a:bodyPr wrap="square" lIns="0" tIns="0" rIns="0" bIns="0" rtlCol="0" anchor="ctr"/>
          <a:lstStyle/>
          <a:p>
            <a:pPr algn="ctr" indent="0" marL="0">
              <a:buNone/>
            </a:pPr>
            <a:r>
              <a:rPr lang="en-US" sz="1250" b="1" dirty="0">
                <a:solidFill>
                  <a:srgbClr val="1F1A1C"/>
                </a:solidFill>
                <a:latin typeface="Calibri" pitchFamily="34" charset="0"/>
                <a:ea typeface="Calibri" pitchFamily="34" charset="-122"/>
                <a:cs typeface="Calibri" pitchFamily="34" charset="-120"/>
              </a:rPr>
              <a:t>岸田 周三 氏</a:t>
            </a:r>
            <a:endParaRPr lang="en-US" sz="1250" dirty="0"/>
          </a:p>
        </p:txBody>
      </p:sp>
      <p:sp>
        <p:nvSpPr>
          <p:cNvPr id="23" name="Text 21"/>
          <p:cNvSpPr txBox="1"/>
          <p:nvPr/>
        </p:nvSpPr>
        <p:spPr>
          <a:xfrm>
            <a:off x="9281160" y="3191256"/>
            <a:ext cx="2249424" cy="402336"/>
          </a:xfrm>
          <a:prstGeom prst="rect">
            <a:avLst/>
          </a:prstGeom>
          <a:noFill/>
          <a:ln/>
        </p:spPr>
        <p:txBody>
          <a:bodyPr wrap="square" lIns="0" tIns="0" rIns="0" bIns="0" rtlCol="0" anchor="ctr"/>
          <a:lstStyle/>
          <a:p>
            <a:pPr algn="ctr" indent="0" marL="0">
              <a:lnSpc>
                <a:spcPts val="1200"/>
              </a:lnSpc>
              <a:buNone/>
            </a:pPr>
            <a:r>
              <a:rPr lang="en-US" sz="900" dirty="0">
                <a:solidFill>
                  <a:srgbClr val="6E6368"/>
                </a:solidFill>
                <a:latin typeface="Calibri" pitchFamily="34" charset="0"/>
                <a:ea typeface="Calibri" pitchFamily="34" charset="-122"/>
                <a:cs typeface="Calibri" pitchFamily="34" charset="-120"/>
              </a:rPr>
              <a:t>対象会社株式100%を保有</a:t>
            </a:r>
            <a:endParaRPr lang="en-US" sz="900" dirty="0"/>
          </a:p>
        </p:txBody>
      </p:sp>
      <p:sp>
        <p:nvSpPr>
          <p:cNvPr id="24" name="Text 22"/>
          <p:cNvSpPr txBox="1"/>
          <p:nvPr/>
        </p:nvSpPr>
        <p:spPr>
          <a:xfrm>
            <a:off x="2916936" y="2834640"/>
            <a:ext cx="1133856" cy="329184"/>
          </a:xfrm>
          <a:prstGeom prst="rect">
            <a:avLst/>
          </a:prstGeom>
          <a:noFill/>
          <a:ln/>
        </p:spPr>
        <p:txBody>
          <a:bodyPr wrap="square" lIns="0" tIns="0" rIns="0" bIns="0" rtlCol="0" anchor="ctr"/>
          <a:lstStyle/>
          <a:p>
            <a:pPr algn="ctr" indent="0" marL="0">
              <a:lnSpc>
                <a:spcPts val="1100"/>
              </a:lnSpc>
              <a:buNone/>
            </a:pPr>
            <a:r>
              <a:rPr lang="en-US" sz="850" b="1" dirty="0">
                <a:solidFill>
                  <a:srgbClr val="9B2C2C"/>
                </a:solidFill>
                <a:latin typeface="Calibri" pitchFamily="34" charset="0"/>
                <a:ea typeface="Calibri" pitchFamily="34" charset="-122"/>
                <a:cs typeface="Calibri" pitchFamily="34" charset="-120"/>
              </a:rPr>
              <a:t>ターム 20.0億円</a:t>
            </a:r>
            <a:endParaRPr lang="en-US" sz="850" dirty="0"/>
          </a:p>
          <a:p>
            <a:pPr algn="ctr" indent="0" marL="0">
              <a:lnSpc>
                <a:spcPts val="1100"/>
              </a:lnSpc>
              <a:buNone/>
            </a:pPr>
            <a:r>
              <a:rPr lang="en-US" sz="850" b="1" dirty="0">
                <a:solidFill>
                  <a:srgbClr val="9B2C2C"/>
                </a:solidFill>
                <a:latin typeface="Calibri" pitchFamily="34" charset="0"/>
                <a:ea typeface="Calibri" pitchFamily="34" charset="-122"/>
                <a:cs typeface="Calibri" pitchFamily="34" charset="-120"/>
              </a:rPr>
              <a:t>＋ブリッジ 21.4億円</a:t>
            </a:r>
            <a:endParaRPr lang="en-US" sz="850" dirty="0"/>
          </a:p>
        </p:txBody>
      </p:sp>
      <p:sp>
        <p:nvSpPr>
          <p:cNvPr id="25" name="Shape 23"/>
          <p:cNvSpPr/>
          <p:nvPr/>
        </p:nvSpPr>
        <p:spPr>
          <a:xfrm>
            <a:off x="2935224" y="3310128"/>
            <a:ext cx="1115568" cy="0"/>
          </a:xfrm>
          <a:prstGeom prst="line">
            <a:avLst/>
          </a:prstGeom>
          <a:noFill/>
          <a:ln w="19050">
            <a:solidFill>
              <a:srgbClr val="A26769"/>
            </a:solidFill>
            <a:prstDash val="solid"/>
            <a:tailEnd type="triangle"/>
          </a:ln>
        </p:spPr>
      </p:sp>
      <p:sp>
        <p:nvSpPr>
          <p:cNvPr id="26" name="Text 24"/>
          <p:cNvSpPr txBox="1"/>
          <p:nvPr/>
        </p:nvSpPr>
        <p:spPr>
          <a:xfrm>
            <a:off x="8092440" y="2852928"/>
            <a:ext cx="1097280" cy="182880"/>
          </a:xfrm>
          <a:prstGeom prst="rect">
            <a:avLst/>
          </a:prstGeom>
          <a:noFill/>
          <a:ln/>
        </p:spPr>
        <p:txBody>
          <a:bodyPr wrap="square" lIns="0" tIns="0" rIns="0" bIns="0" rtlCol="0" anchor="ctr"/>
          <a:lstStyle/>
          <a:p>
            <a:pPr algn="ctr" indent="0" marL="0">
              <a:lnSpc>
                <a:spcPts val="1100"/>
              </a:lnSpc>
              <a:buNone/>
            </a:pPr>
            <a:r>
              <a:rPr lang="en-US" sz="850" b="1" dirty="0">
                <a:solidFill>
                  <a:srgbClr val="6D2E46"/>
                </a:solidFill>
                <a:latin typeface="Calibri" pitchFamily="34" charset="0"/>
                <a:ea typeface="Calibri" pitchFamily="34" charset="-122"/>
                <a:cs typeface="Calibri" pitchFamily="34" charset="-120"/>
              </a:rPr>
              <a:t>株式 100%</a:t>
            </a:r>
            <a:endParaRPr lang="en-US" sz="850" dirty="0"/>
          </a:p>
        </p:txBody>
      </p:sp>
      <p:sp>
        <p:nvSpPr>
          <p:cNvPr id="27" name="Shape 25"/>
          <p:cNvSpPr/>
          <p:nvPr/>
        </p:nvSpPr>
        <p:spPr>
          <a:xfrm>
            <a:off x="8110728" y="3072384"/>
            <a:ext cx="1060704" cy="0"/>
          </a:xfrm>
          <a:prstGeom prst="line">
            <a:avLst/>
          </a:prstGeom>
          <a:noFill/>
          <a:ln w="19050">
            <a:solidFill>
              <a:srgbClr val="A26769"/>
            </a:solidFill>
            <a:prstDash val="solid"/>
            <a:tailEnd type="triangle"/>
          </a:ln>
        </p:spPr>
      </p:sp>
      <p:sp>
        <p:nvSpPr>
          <p:cNvPr id="28" name="Shape 26"/>
          <p:cNvSpPr/>
          <p:nvPr/>
        </p:nvSpPr>
        <p:spPr>
          <a:xfrm>
            <a:off x="8110728" y="3364992"/>
            <a:ext cx="1060704" cy="0"/>
          </a:xfrm>
          <a:prstGeom prst="line">
            <a:avLst/>
          </a:prstGeom>
          <a:noFill/>
          <a:ln w="19050">
            <a:solidFill>
              <a:srgbClr val="6D2E46"/>
            </a:solidFill>
            <a:prstDash val="solid"/>
            <a:tailEnd type="triangle"/>
          </a:ln>
        </p:spPr>
      </p:sp>
      <p:sp>
        <p:nvSpPr>
          <p:cNvPr id="29" name="Text 27"/>
          <p:cNvSpPr txBox="1"/>
          <p:nvPr/>
        </p:nvSpPr>
        <p:spPr>
          <a:xfrm>
            <a:off x="8065008" y="3419856"/>
            <a:ext cx="1152144" cy="329184"/>
          </a:xfrm>
          <a:prstGeom prst="rect">
            <a:avLst/>
          </a:prstGeom>
          <a:noFill/>
          <a:ln/>
        </p:spPr>
        <p:txBody>
          <a:bodyPr wrap="square" lIns="0" tIns="0" rIns="0" bIns="0" rtlCol="0" anchor="ctr"/>
          <a:lstStyle/>
          <a:p>
            <a:pPr algn="ctr" indent="0" marL="0">
              <a:lnSpc>
                <a:spcPts val="1100"/>
              </a:lnSpc>
              <a:buNone/>
            </a:pPr>
            <a:r>
              <a:rPr lang="en-US" sz="800" b="1" dirty="0">
                <a:solidFill>
                  <a:srgbClr val="6D2E46"/>
                </a:solidFill>
                <a:latin typeface="Calibri" pitchFamily="34" charset="0"/>
                <a:ea typeface="Calibri" pitchFamily="34" charset="-122"/>
                <a:cs typeface="Calibri" pitchFamily="34" charset="-120"/>
              </a:rPr>
              <a:t>譲受代金</a:t>
            </a:r>
            <a:endParaRPr lang="en-US" sz="800" dirty="0"/>
          </a:p>
          <a:p>
            <a:pPr algn="ctr" indent="0" marL="0">
              <a:lnSpc>
                <a:spcPts val="1100"/>
              </a:lnSpc>
              <a:buNone/>
            </a:pPr>
            <a:r>
              <a:rPr lang="en-US" sz="800" b="1" dirty="0">
                <a:solidFill>
                  <a:srgbClr val="6D2E46"/>
                </a:solidFill>
                <a:latin typeface="Calibri" pitchFamily="34" charset="0"/>
                <a:ea typeface="Calibri" pitchFamily="34" charset="-122"/>
                <a:cs typeface="Calibri" pitchFamily="34" charset="-120"/>
              </a:rPr>
              <a:t>50.0〜55.0億円</a:t>
            </a:r>
            <a:endParaRPr lang="en-US" sz="800" dirty="0"/>
          </a:p>
        </p:txBody>
      </p:sp>
      <p:sp>
        <p:nvSpPr>
          <p:cNvPr id="30" name="Shape 28"/>
          <p:cNvSpPr/>
          <p:nvPr/>
        </p:nvSpPr>
        <p:spPr>
          <a:xfrm>
            <a:off x="6080760" y="3675888"/>
            <a:ext cx="0" cy="548640"/>
          </a:xfrm>
          <a:prstGeom prst="line">
            <a:avLst/>
          </a:prstGeom>
          <a:noFill/>
          <a:ln w="19050">
            <a:solidFill>
              <a:srgbClr val="6D2E46"/>
            </a:solidFill>
            <a:prstDash val="solid"/>
            <a:tailEnd type="triangle"/>
          </a:ln>
        </p:spPr>
      </p:sp>
      <p:sp>
        <p:nvSpPr>
          <p:cNvPr id="31" name="Text 29"/>
          <p:cNvSpPr txBox="1"/>
          <p:nvPr/>
        </p:nvSpPr>
        <p:spPr>
          <a:xfrm>
            <a:off x="6172200" y="3749040"/>
            <a:ext cx="2194560" cy="201168"/>
          </a:xfrm>
          <a:prstGeom prst="rect">
            <a:avLst/>
          </a:prstGeom>
          <a:noFill/>
          <a:ln/>
        </p:spPr>
        <p:txBody>
          <a:bodyPr wrap="square" lIns="0" tIns="0" rIns="0" bIns="0" rtlCol="0" anchor="ctr"/>
          <a:lstStyle/>
          <a:p>
            <a:pPr algn="ctr" indent="0" marL="0">
              <a:lnSpc>
                <a:spcPts val="1100"/>
              </a:lnSpc>
              <a:buNone/>
            </a:pPr>
            <a:r>
              <a:rPr lang="en-US" sz="850" b="1" dirty="0">
                <a:solidFill>
                  <a:srgbClr val="6E6368"/>
                </a:solidFill>
                <a:latin typeface="Calibri" pitchFamily="34" charset="0"/>
                <a:ea typeface="Calibri" pitchFamily="34" charset="-122"/>
                <a:cs typeface="Calibri" pitchFamily="34" charset="-120"/>
              </a:rPr>
              <a:t>100%取得 → クロージング後に合併</a:t>
            </a:r>
            <a:endParaRPr lang="en-US" sz="850" dirty="0"/>
          </a:p>
        </p:txBody>
      </p:sp>
      <p:sp>
        <p:nvSpPr>
          <p:cNvPr id="32" name="Shape 30"/>
          <p:cNvSpPr/>
          <p:nvPr/>
        </p:nvSpPr>
        <p:spPr>
          <a:xfrm>
            <a:off x="4069080" y="4224528"/>
            <a:ext cx="4023360" cy="822960"/>
          </a:xfrm>
          <a:prstGeom prst="roundRect">
            <a:avLst>
              <a:gd name="adj" fmla="val 5556"/>
            </a:avLst>
          </a:prstGeom>
          <a:solidFill>
            <a:srgbClr val="FFFFFF"/>
          </a:solidFill>
          <a:ln w="19050">
            <a:solidFill>
              <a:srgbClr val="6D2E46"/>
            </a:solidFill>
            <a:prstDash val="solid"/>
          </a:ln>
        </p:spPr>
      </p:sp>
      <p:sp>
        <p:nvSpPr>
          <p:cNvPr id="33" name="Text 31"/>
          <p:cNvSpPr txBox="1"/>
          <p:nvPr/>
        </p:nvSpPr>
        <p:spPr>
          <a:xfrm>
            <a:off x="4178808" y="4343400"/>
            <a:ext cx="3803904" cy="274320"/>
          </a:xfrm>
          <a:prstGeom prst="rect">
            <a:avLst/>
          </a:prstGeom>
          <a:noFill/>
          <a:ln/>
        </p:spPr>
        <p:txBody>
          <a:bodyPr wrap="square" lIns="0" tIns="0" rIns="0" bIns="0" rtlCol="0" anchor="ctr"/>
          <a:lstStyle/>
          <a:p>
            <a:pPr algn="ctr" indent="0" marL="0">
              <a:buNone/>
            </a:pPr>
            <a:r>
              <a:rPr lang="en-US" sz="1200" b="1" dirty="0">
                <a:solidFill>
                  <a:srgbClr val="1F1A1C"/>
                </a:solidFill>
                <a:latin typeface="Calibri" pitchFamily="34" charset="0"/>
                <a:ea typeface="Calibri" pitchFamily="34" charset="-122"/>
                <a:cs typeface="Calibri" pitchFamily="34" charset="-120"/>
              </a:rPr>
              <a:t>株式会社プティ・ボノム（カンテサンス）</a:t>
            </a:r>
            <a:endParaRPr lang="en-US" sz="1200" dirty="0"/>
          </a:p>
        </p:txBody>
      </p:sp>
      <p:sp>
        <p:nvSpPr>
          <p:cNvPr id="34" name="Text 32"/>
          <p:cNvSpPr txBox="1"/>
          <p:nvPr/>
        </p:nvSpPr>
        <p:spPr>
          <a:xfrm>
            <a:off x="4160520" y="4617720"/>
            <a:ext cx="3840480" cy="347472"/>
          </a:xfrm>
          <a:prstGeom prst="rect">
            <a:avLst/>
          </a:prstGeom>
          <a:noFill/>
          <a:ln/>
        </p:spPr>
        <p:txBody>
          <a:bodyPr wrap="square" lIns="0" tIns="0" rIns="0" bIns="0" rtlCol="0" anchor="ctr"/>
          <a:lstStyle/>
          <a:p>
            <a:pPr algn="ctr" indent="0" marL="0">
              <a:lnSpc>
                <a:spcPts val="1200"/>
              </a:lnSpc>
              <a:buNone/>
            </a:pPr>
            <a:r>
              <a:rPr lang="en-US" sz="900" dirty="0">
                <a:solidFill>
                  <a:srgbClr val="6E6368"/>
                </a:solidFill>
                <a:latin typeface="Calibri" pitchFamily="34" charset="0"/>
                <a:ea typeface="Calibri" pitchFamily="34" charset="-122"/>
                <a:cs typeface="Calibri" pitchFamily="34" charset="-120"/>
              </a:rPr>
              <a:t>現預金17.4億円／岸田氏は3年間 在任（役職・報酬は協議）</a:t>
            </a:r>
            <a:endParaRPr lang="en-US" sz="900" dirty="0"/>
          </a:p>
        </p:txBody>
      </p:sp>
      <p:sp>
        <p:nvSpPr>
          <p:cNvPr id="35" name="Text 33"/>
          <p:cNvSpPr txBox="1"/>
          <p:nvPr/>
        </p:nvSpPr>
        <p:spPr>
          <a:xfrm>
            <a:off x="8503920" y="4224528"/>
            <a:ext cx="3118104" cy="786384"/>
          </a:xfrm>
          <a:prstGeom prst="rect">
            <a:avLst/>
          </a:prstGeom>
          <a:noFill/>
          <a:ln/>
        </p:spPr>
        <p:txBody>
          <a:bodyPr wrap="square" lIns="0" tIns="0" rIns="0" bIns="0" rtlCol="0" anchor="ctr"/>
          <a:lstStyle/>
          <a:p>
            <a:pPr indent="0" marL="0">
              <a:lnSpc>
                <a:spcPts val="1200"/>
              </a:lnSpc>
              <a:buNone/>
            </a:pPr>
            <a:r>
              <a:rPr lang="en-US" sz="900" dirty="0">
                <a:solidFill>
                  <a:srgbClr val="1F1A1C"/>
                </a:solidFill>
                <a:latin typeface="Calibri" pitchFamily="34" charset="0"/>
                <a:ea typeface="Calibri" pitchFamily="34" charset="-122"/>
                <a:cs typeface="Calibri" pitchFamily="34" charset="-120"/>
              </a:rPr>
              <a:t>合併後、対象会社の余剰現金21.4億円</a:t>
            </a:r>
            <a:endParaRPr lang="en-US" sz="900" dirty="0"/>
          </a:p>
          <a:p>
            <a:pPr indent="0" marL="0">
              <a:lnSpc>
                <a:spcPts val="1200"/>
              </a:lnSpc>
              <a:buNone/>
            </a:pPr>
            <a:r>
              <a:rPr lang="en-US" sz="900" dirty="0">
                <a:solidFill>
                  <a:srgbClr val="1F1A1C"/>
                </a:solidFill>
                <a:latin typeface="Calibri" pitchFamily="34" charset="0"/>
                <a:ea typeface="Calibri" pitchFamily="34" charset="-122"/>
                <a:cs typeface="Calibri" pitchFamily="34" charset="-120"/>
              </a:rPr>
              <a:t>（現預金17.4＋役員貸付金5.0−留保1.0）</a:t>
            </a:r>
            <a:endParaRPr lang="en-US" sz="900" dirty="0"/>
          </a:p>
          <a:p>
            <a:pPr indent="0" marL="0">
              <a:lnSpc>
                <a:spcPts val="1200"/>
              </a:lnSpc>
              <a:buNone/>
            </a:pPr>
            <a:r>
              <a:rPr lang="en-US" sz="900" dirty="0">
                <a:solidFill>
                  <a:srgbClr val="1F1A1C"/>
                </a:solidFill>
                <a:latin typeface="Calibri" pitchFamily="34" charset="0"/>
                <a:ea typeface="Calibri" pitchFamily="34" charset="-122"/>
                <a:cs typeface="Calibri" pitchFamily="34" charset="-120"/>
              </a:rPr>
              <a:t>をもってブリッジローンを全額返済</a:t>
            </a:r>
            <a:endParaRPr lang="en-US" sz="900" dirty="0"/>
          </a:p>
        </p:txBody>
      </p:sp>
      <p:sp>
        <p:nvSpPr>
          <p:cNvPr id="36" name="Shape 34"/>
          <p:cNvSpPr/>
          <p:nvPr/>
        </p:nvSpPr>
        <p:spPr>
          <a:xfrm>
            <a:off x="566928" y="5230368"/>
            <a:ext cx="2560320" cy="914400"/>
          </a:xfrm>
          <a:prstGeom prst="roundRect">
            <a:avLst>
              <a:gd name="adj" fmla="val 5000"/>
            </a:avLst>
          </a:prstGeom>
          <a:solidFill>
            <a:srgbClr val="F7F3F4"/>
          </a:solidFill>
          <a:ln w="9525">
            <a:solidFill>
              <a:srgbClr val="E4DADD"/>
            </a:solidFill>
            <a:prstDash val="solid"/>
          </a:ln>
        </p:spPr>
      </p:sp>
      <p:sp>
        <p:nvSpPr>
          <p:cNvPr id="37" name="Text 35"/>
          <p:cNvSpPr txBox="1"/>
          <p:nvPr/>
        </p:nvSpPr>
        <p:spPr>
          <a:xfrm>
            <a:off x="731520" y="5321808"/>
            <a:ext cx="2231136"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譲受価額</a:t>
            </a:r>
            <a:endParaRPr lang="en-US" sz="950" dirty="0"/>
          </a:p>
        </p:txBody>
      </p:sp>
      <p:sp>
        <p:nvSpPr>
          <p:cNvPr id="38" name="Text 36"/>
          <p:cNvSpPr txBox="1"/>
          <p:nvPr/>
        </p:nvSpPr>
        <p:spPr>
          <a:xfrm>
            <a:off x="731520" y="5522976"/>
            <a:ext cx="2286000" cy="365760"/>
          </a:xfrm>
          <a:prstGeom prst="rect">
            <a:avLst/>
          </a:prstGeom>
          <a:noFill/>
          <a:ln/>
        </p:spPr>
        <p:txBody>
          <a:bodyPr wrap="square" lIns="0" tIns="0" rIns="0" bIns="0" rtlCol="0" anchor="ctr"/>
          <a:lstStyle/>
          <a:p>
            <a:pPr indent="0" marL="0">
              <a:buNone/>
            </a:pPr>
            <a:r>
              <a:rPr lang="en-US" sz="1700" b="1" dirty="0">
                <a:solidFill>
                  <a:srgbClr val="6D2E46"/>
                </a:solidFill>
                <a:latin typeface="Cambria" pitchFamily="34" charset="0"/>
                <a:ea typeface="Cambria" pitchFamily="34" charset="-122"/>
                <a:cs typeface="Cambria" pitchFamily="34" charset="-120"/>
              </a:rPr>
              <a:t>50.0〜55.0億円</a:t>
            </a:r>
            <a:endParaRPr lang="en-US" sz="1700" dirty="0"/>
          </a:p>
        </p:txBody>
      </p:sp>
      <p:sp>
        <p:nvSpPr>
          <p:cNvPr id="39" name="Text 37"/>
          <p:cNvSpPr txBox="1"/>
          <p:nvPr/>
        </p:nvSpPr>
        <p:spPr>
          <a:xfrm>
            <a:off x="731520" y="5888736"/>
            <a:ext cx="2286000" cy="201168"/>
          </a:xfrm>
          <a:prstGeom prst="rect">
            <a:avLst/>
          </a:prstGeom>
          <a:noFill/>
          <a:ln/>
        </p:spPr>
        <p:txBody>
          <a:bodyPr wrap="square" lIns="0" tIns="0" rIns="0" bIns="0" rtlCol="0" anchor="ctr"/>
          <a:lstStyle/>
          <a:p>
            <a:pPr indent="0" marL="0">
              <a:buNone/>
            </a:pPr>
            <a:r>
              <a:rPr lang="en-US" sz="850" dirty="0">
                <a:solidFill>
                  <a:srgbClr val="6E6368"/>
                </a:solidFill>
                <a:latin typeface="Calibri" pitchFamily="34" charset="0"/>
                <a:ea typeface="Calibri" pitchFamily="34" charset="-122"/>
                <a:cs typeface="Calibri" pitchFamily="34" charset="-120"/>
              </a:rPr>
              <a:t>レンジで提示</a:t>
            </a:r>
            <a:endParaRPr lang="en-US" sz="850" dirty="0"/>
          </a:p>
        </p:txBody>
      </p:sp>
      <p:sp>
        <p:nvSpPr>
          <p:cNvPr id="40" name="Shape 38"/>
          <p:cNvSpPr/>
          <p:nvPr/>
        </p:nvSpPr>
        <p:spPr>
          <a:xfrm>
            <a:off x="3355848" y="5230368"/>
            <a:ext cx="2560320" cy="914400"/>
          </a:xfrm>
          <a:prstGeom prst="roundRect">
            <a:avLst>
              <a:gd name="adj" fmla="val 5000"/>
            </a:avLst>
          </a:prstGeom>
          <a:solidFill>
            <a:srgbClr val="6D2E46"/>
          </a:solidFill>
          <a:ln w="9525">
            <a:solidFill>
              <a:srgbClr val="6D2E46"/>
            </a:solidFill>
            <a:prstDash val="solid"/>
          </a:ln>
        </p:spPr>
      </p:sp>
      <p:sp>
        <p:nvSpPr>
          <p:cNvPr id="41" name="Text 39"/>
          <p:cNvSpPr txBox="1"/>
          <p:nvPr/>
        </p:nvSpPr>
        <p:spPr>
          <a:xfrm>
            <a:off x="3520440" y="5321808"/>
            <a:ext cx="2231136" cy="219456"/>
          </a:xfrm>
          <a:prstGeom prst="rect">
            <a:avLst/>
          </a:prstGeom>
          <a:noFill/>
          <a:ln/>
        </p:spPr>
        <p:txBody>
          <a:bodyPr wrap="square" lIns="0" tIns="0" rIns="0" bIns="0" rtlCol="0" anchor="ctr"/>
          <a:lstStyle/>
          <a:p>
            <a:pPr indent="0" marL="0">
              <a:buNone/>
            </a:pPr>
            <a:r>
              <a:rPr lang="en-US" sz="950" b="1" dirty="0">
                <a:solidFill>
                  <a:srgbClr val="E8D6DB"/>
                </a:solidFill>
                <a:latin typeface="Calibri" pitchFamily="34" charset="0"/>
                <a:ea typeface="Calibri" pitchFamily="34" charset="-122"/>
                <a:cs typeface="Calibri" pitchFamily="34" charset="-120"/>
              </a:rPr>
              <a:t>みずほへの依頼</a:t>
            </a:r>
            <a:endParaRPr lang="en-US" sz="950" dirty="0"/>
          </a:p>
        </p:txBody>
      </p:sp>
      <p:sp>
        <p:nvSpPr>
          <p:cNvPr id="42" name="Text 40"/>
          <p:cNvSpPr txBox="1"/>
          <p:nvPr/>
        </p:nvSpPr>
        <p:spPr>
          <a:xfrm>
            <a:off x="3520440" y="5522976"/>
            <a:ext cx="22860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41.4億円</a:t>
            </a:r>
            <a:endParaRPr lang="en-US" sz="2000" dirty="0"/>
          </a:p>
        </p:txBody>
      </p:sp>
      <p:sp>
        <p:nvSpPr>
          <p:cNvPr id="43" name="Text 41"/>
          <p:cNvSpPr txBox="1"/>
          <p:nvPr/>
        </p:nvSpPr>
        <p:spPr>
          <a:xfrm>
            <a:off x="3520440" y="5888736"/>
            <a:ext cx="2286000" cy="201168"/>
          </a:xfrm>
          <a:prstGeom prst="rect">
            <a:avLst/>
          </a:prstGeom>
          <a:noFill/>
          <a:ln/>
        </p:spPr>
        <p:txBody>
          <a:bodyPr wrap="square" lIns="0" tIns="0" rIns="0" bIns="0" rtlCol="0" anchor="ctr"/>
          <a:lstStyle/>
          <a:p>
            <a:pPr indent="0" marL="0">
              <a:buNone/>
            </a:pPr>
            <a:r>
              <a:rPr lang="en-US" sz="850" dirty="0">
                <a:solidFill>
                  <a:srgbClr val="C9AEB6"/>
                </a:solidFill>
                <a:latin typeface="Calibri" pitchFamily="34" charset="0"/>
                <a:ea typeface="Calibri" pitchFamily="34" charset="-122"/>
                <a:cs typeface="Calibri" pitchFamily="34" charset="-120"/>
              </a:rPr>
              <a:t>ターム20.0＋ブリッジ21.4</a:t>
            </a:r>
            <a:endParaRPr lang="en-US" sz="850" dirty="0"/>
          </a:p>
        </p:txBody>
      </p:sp>
      <p:sp>
        <p:nvSpPr>
          <p:cNvPr id="44" name="Shape 42"/>
          <p:cNvSpPr/>
          <p:nvPr/>
        </p:nvSpPr>
        <p:spPr>
          <a:xfrm>
            <a:off x="6144768" y="5230368"/>
            <a:ext cx="2560320" cy="914400"/>
          </a:xfrm>
          <a:prstGeom prst="roundRect">
            <a:avLst>
              <a:gd name="adj" fmla="val 5000"/>
            </a:avLst>
          </a:prstGeom>
          <a:solidFill>
            <a:srgbClr val="6D2E46"/>
          </a:solidFill>
          <a:ln w="9525">
            <a:solidFill>
              <a:srgbClr val="6D2E46"/>
            </a:solidFill>
            <a:prstDash val="solid"/>
          </a:ln>
        </p:spPr>
      </p:sp>
      <p:sp>
        <p:nvSpPr>
          <p:cNvPr id="45" name="Text 43"/>
          <p:cNvSpPr txBox="1"/>
          <p:nvPr/>
        </p:nvSpPr>
        <p:spPr>
          <a:xfrm>
            <a:off x="6309360" y="5321808"/>
            <a:ext cx="2231136" cy="219456"/>
          </a:xfrm>
          <a:prstGeom prst="rect">
            <a:avLst/>
          </a:prstGeom>
          <a:noFill/>
          <a:ln/>
        </p:spPr>
        <p:txBody>
          <a:bodyPr wrap="square" lIns="0" tIns="0" rIns="0" bIns="0" rtlCol="0" anchor="ctr"/>
          <a:lstStyle/>
          <a:p>
            <a:pPr indent="0" marL="0">
              <a:buNone/>
            </a:pPr>
            <a:r>
              <a:rPr lang="en-US" sz="950" b="1" dirty="0">
                <a:solidFill>
                  <a:srgbClr val="E8D6DB"/>
                </a:solidFill>
                <a:latin typeface="Calibri" pitchFamily="34" charset="0"/>
                <a:ea typeface="Calibri" pitchFamily="34" charset="-122"/>
                <a:cs typeface="Calibri" pitchFamily="34" charset="-120"/>
              </a:rPr>
              <a:t>中野氏の実弾</a:t>
            </a:r>
            <a:endParaRPr lang="en-US" sz="950" dirty="0"/>
          </a:p>
        </p:txBody>
      </p:sp>
      <p:sp>
        <p:nvSpPr>
          <p:cNvPr id="46" name="Text 44"/>
          <p:cNvSpPr txBox="1"/>
          <p:nvPr/>
        </p:nvSpPr>
        <p:spPr>
          <a:xfrm>
            <a:off x="6309360" y="5522976"/>
            <a:ext cx="22860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700万円</a:t>
            </a:r>
            <a:endParaRPr lang="en-US" sz="2000" dirty="0"/>
          </a:p>
        </p:txBody>
      </p:sp>
      <p:sp>
        <p:nvSpPr>
          <p:cNvPr id="47" name="Text 45"/>
          <p:cNvSpPr txBox="1"/>
          <p:nvPr/>
        </p:nvSpPr>
        <p:spPr>
          <a:xfrm>
            <a:off x="6309360" y="5888736"/>
            <a:ext cx="2286000" cy="201168"/>
          </a:xfrm>
          <a:prstGeom prst="rect">
            <a:avLst/>
          </a:prstGeom>
          <a:noFill/>
          <a:ln/>
        </p:spPr>
        <p:txBody>
          <a:bodyPr wrap="square" lIns="0" tIns="0" rIns="0" bIns="0" rtlCol="0" anchor="ctr"/>
          <a:lstStyle/>
          <a:p>
            <a:pPr indent="0" marL="0">
              <a:buNone/>
            </a:pPr>
            <a:r>
              <a:rPr lang="en-US" sz="850" dirty="0">
                <a:solidFill>
                  <a:srgbClr val="C9AEB6"/>
                </a:solidFill>
                <a:latin typeface="Calibri" pitchFamily="34" charset="0"/>
                <a:ea typeface="Calibri" pitchFamily="34" charset="-122"/>
                <a:cs typeface="Calibri" pitchFamily="34" charset="-120"/>
              </a:rPr>
              <a:t>留保現金1.0億円とした場合</a:t>
            </a:r>
            <a:endParaRPr lang="en-US" sz="850" dirty="0"/>
          </a:p>
        </p:txBody>
      </p:sp>
      <p:sp>
        <p:nvSpPr>
          <p:cNvPr id="48" name="Shape 46"/>
          <p:cNvSpPr/>
          <p:nvPr/>
        </p:nvSpPr>
        <p:spPr>
          <a:xfrm>
            <a:off x="8933688" y="5230368"/>
            <a:ext cx="2560320" cy="914400"/>
          </a:xfrm>
          <a:prstGeom prst="roundRect">
            <a:avLst>
              <a:gd name="adj" fmla="val 5000"/>
            </a:avLst>
          </a:prstGeom>
          <a:solidFill>
            <a:srgbClr val="F7F3F4"/>
          </a:solidFill>
          <a:ln w="9525">
            <a:solidFill>
              <a:srgbClr val="E4DADD"/>
            </a:solidFill>
            <a:prstDash val="solid"/>
          </a:ln>
        </p:spPr>
      </p:sp>
      <p:sp>
        <p:nvSpPr>
          <p:cNvPr id="49" name="Text 47"/>
          <p:cNvSpPr txBox="1"/>
          <p:nvPr/>
        </p:nvSpPr>
        <p:spPr>
          <a:xfrm>
            <a:off x="9098280" y="5321808"/>
            <a:ext cx="2231136"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合併後の有利子負債</a:t>
            </a:r>
            <a:endParaRPr lang="en-US" sz="950" dirty="0"/>
          </a:p>
        </p:txBody>
      </p:sp>
      <p:sp>
        <p:nvSpPr>
          <p:cNvPr id="50" name="Text 48"/>
          <p:cNvSpPr txBox="1"/>
          <p:nvPr/>
        </p:nvSpPr>
        <p:spPr>
          <a:xfrm>
            <a:off x="9098280" y="5522976"/>
            <a:ext cx="2286000" cy="365760"/>
          </a:xfrm>
          <a:prstGeom prst="rect">
            <a:avLst/>
          </a:prstGeom>
          <a:noFill/>
          <a:ln/>
        </p:spPr>
        <p:txBody>
          <a:bodyPr wrap="square" lIns="0" tIns="0" rIns="0" bIns="0" rtlCol="0" anchor="ctr"/>
          <a:lstStyle/>
          <a:p>
            <a:pPr indent="0" marL="0">
              <a:buNone/>
            </a:pPr>
            <a:r>
              <a:rPr lang="en-US" sz="2000" b="1" dirty="0">
                <a:solidFill>
                  <a:srgbClr val="6D2E46"/>
                </a:solidFill>
                <a:latin typeface="Cambria" pitchFamily="34" charset="0"/>
                <a:ea typeface="Cambria" pitchFamily="34" charset="-122"/>
                <a:cs typeface="Cambria" pitchFamily="34" charset="-120"/>
              </a:rPr>
              <a:t>20.0億円</a:t>
            </a:r>
            <a:endParaRPr lang="en-US" sz="2000" dirty="0"/>
          </a:p>
        </p:txBody>
      </p:sp>
      <p:sp>
        <p:nvSpPr>
          <p:cNvPr id="51" name="Text 49"/>
          <p:cNvSpPr txBox="1"/>
          <p:nvPr/>
        </p:nvSpPr>
        <p:spPr>
          <a:xfrm>
            <a:off x="9098280" y="5888736"/>
            <a:ext cx="2286000" cy="201168"/>
          </a:xfrm>
          <a:prstGeom prst="rect">
            <a:avLst/>
          </a:prstGeom>
          <a:noFill/>
          <a:ln/>
        </p:spPr>
        <p:txBody>
          <a:bodyPr wrap="square" lIns="0" tIns="0" rIns="0" bIns="0" rtlCol="0" anchor="ctr"/>
          <a:lstStyle/>
          <a:p>
            <a:pPr indent="0" marL="0">
              <a:buNone/>
            </a:pPr>
            <a:r>
              <a:rPr lang="en-US" sz="850" dirty="0">
                <a:solidFill>
                  <a:srgbClr val="6E6368"/>
                </a:solidFill>
                <a:latin typeface="Calibri" pitchFamily="34" charset="0"/>
                <a:ea typeface="Calibri" pitchFamily="34" charset="-122"/>
                <a:cs typeface="Calibri" pitchFamily="34" charset="-120"/>
              </a:rPr>
              <a:t>初年度DSCR 1.36倍</a:t>
            </a:r>
            <a:endParaRPr lang="en-US" sz="850" dirty="0"/>
          </a:p>
        </p:txBody>
      </p:sp>
      <p:sp>
        <p:nvSpPr>
          <p:cNvPr id="52" name="Text 50"/>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53" name="Text 51"/>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CASH FLOW</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資金の流れ ― クロージング時、合併直後、定常</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対象会社の現預金は買収した後にしか使えない。クロージング時の不足はブリッジローンで埋め、合併直後に対象会社の余剰現金で全額返済する。</a:t>
            </a:r>
            <a:endParaRPr lang="en-US" sz="1250" dirty="0"/>
          </a:p>
        </p:txBody>
      </p:sp>
      <p:sp>
        <p:nvSpPr>
          <p:cNvPr id="5" name="Text 3"/>
          <p:cNvSpPr txBox="1"/>
          <p:nvPr/>
        </p:nvSpPr>
        <p:spPr>
          <a:xfrm>
            <a:off x="566928" y="1517904"/>
            <a:ext cx="45720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① クロージング時</a:t>
            </a:r>
            <a:endParaRPr lang="en-US" sz="13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6675120" cy="914400"/>
        </p:xfrm>
        <a:graphic>
          <a:graphicData uri="http://schemas.openxmlformats.org/drawingml/2006/table">
            <a:tbl>
              <a:tblPr/>
              <a:tblGrid>
                <a:gridCol w="1691640"/>
                <a:gridCol w="1051560"/>
                <a:gridCol w="2834640"/>
                <a:gridCol w="109728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資金使途</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金額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調達</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金額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株式譲受代金</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みずほ　タームローン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20.0億円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取得関連費用</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1.5億円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9B2C2C"/>
                          </a:solidFill>
                          <a:latin typeface="Calibri" pitchFamily="34" charset="0"/>
                          <a:ea typeface="Calibri" pitchFamily="34" charset="-122"/>
                          <a:cs typeface="Calibri" pitchFamily="34" charset="-120"/>
                        </a:rPr>
                        <a:t>みずほ　ブリッジローン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9B2C2C"/>
                          </a:solidFill>
                          <a:latin typeface="Calibri" pitchFamily="34" charset="0"/>
                          <a:ea typeface="Calibri" pitchFamily="34" charset="-122"/>
                          <a:cs typeface="Calibri" pitchFamily="34" charset="-120"/>
                        </a:rPr>
                        <a:t>21.4億円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榊原氏　出資</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中野氏　出資10万円＋株主貸付</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0.1億円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2918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合計</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51.5億円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合計</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51.5億円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7" name="Text 4"/>
          <p:cNvSpPr txBox="1"/>
          <p:nvPr/>
        </p:nvSpPr>
        <p:spPr>
          <a:xfrm>
            <a:off x="566928" y="3858768"/>
            <a:ext cx="6675120" cy="237744"/>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 譲受価額が55.0億円となる場合、差額5.0億円は追加投資家の第三者割当増資で調達する（p.23）。借入額および合併後の財務は変わらない。</a:t>
            </a:r>
            <a:endParaRPr lang="en-US" sz="900" dirty="0"/>
          </a:p>
        </p:txBody>
      </p:sp>
      <p:sp>
        <p:nvSpPr>
          <p:cNvPr id="8" name="Text 5"/>
          <p:cNvSpPr txBox="1"/>
          <p:nvPr/>
        </p:nvSpPr>
        <p:spPr>
          <a:xfrm>
            <a:off x="566928" y="4151376"/>
            <a:ext cx="45720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② 合併直後</a:t>
            </a:r>
            <a:endParaRPr lang="en-US" sz="135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566928" y="4462272"/>
          <a:ext cx="6675120" cy="914400"/>
        </p:xfrm>
        <a:graphic>
          <a:graphicData uri="http://schemas.openxmlformats.org/drawingml/2006/table">
            <a:tbl>
              <a:tblPr/>
              <a:tblGrid>
                <a:gridCol w="1920240"/>
                <a:gridCol w="1097280"/>
                <a:gridCol w="365760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対象会社の現預金</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金額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充当先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10896">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現預金</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17.4億円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うち1.0億円は運転資金として留保</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役員貸付金の精算</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クロージング時に岸田氏が現金返済</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10896">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ブリッジ返済原資</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21.4億円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ブリッジローンを全額返済</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10" name="Shape 6"/>
          <p:cNvSpPr/>
          <p:nvPr/>
        </p:nvSpPr>
        <p:spPr>
          <a:xfrm>
            <a:off x="7498080" y="1517904"/>
            <a:ext cx="4123944" cy="2889504"/>
          </a:xfrm>
          <a:prstGeom prst="roundRect">
            <a:avLst>
              <a:gd name="adj" fmla="val 1582"/>
            </a:avLst>
          </a:prstGeom>
          <a:solidFill>
            <a:srgbClr val="F7F3F4"/>
          </a:solidFill>
          <a:ln w="9525">
            <a:solidFill>
              <a:srgbClr val="E4DADD"/>
            </a:solidFill>
            <a:prstDash val="solid"/>
          </a:ln>
        </p:spPr>
      </p:sp>
      <p:sp>
        <p:nvSpPr>
          <p:cNvPr id="11" name="Text 7"/>
          <p:cNvSpPr txBox="1"/>
          <p:nvPr/>
        </p:nvSpPr>
        <p:spPr>
          <a:xfrm>
            <a:off x="7717536" y="1627632"/>
            <a:ext cx="365760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③ 定常状態（合併後）</a:t>
            </a:r>
            <a:endParaRPr lang="en-US" sz="1000" dirty="0"/>
          </a:p>
        </p:txBody>
      </p:sp>
      <p:sp>
        <p:nvSpPr>
          <p:cNvPr id="12" name="Text 8"/>
          <p:cNvSpPr txBox="1"/>
          <p:nvPr/>
        </p:nvSpPr>
        <p:spPr>
          <a:xfrm>
            <a:off x="7717536" y="1956816"/>
            <a:ext cx="1600200" cy="237744"/>
          </a:xfrm>
          <a:prstGeom prst="rect">
            <a:avLst/>
          </a:prstGeom>
          <a:noFill/>
          <a:ln/>
        </p:spPr>
        <p:txBody>
          <a:bodyPr wrap="square" lIns="0" tIns="0" rIns="0" bIns="0" rtlCol="0" anchor="ctr"/>
          <a:lstStyle/>
          <a:p>
            <a:pPr indent="0" marL="0">
              <a:buNone/>
            </a:pPr>
            <a:r>
              <a:rPr lang="en-US" sz="1000" dirty="0">
                <a:solidFill>
                  <a:srgbClr val="6E6368"/>
                </a:solidFill>
                <a:latin typeface="Calibri" pitchFamily="34" charset="0"/>
                <a:ea typeface="Calibri" pitchFamily="34" charset="-122"/>
                <a:cs typeface="Calibri" pitchFamily="34" charset="-120"/>
              </a:rPr>
              <a:t>有利子負債</a:t>
            </a:r>
            <a:endParaRPr lang="en-US" sz="1000" dirty="0"/>
          </a:p>
        </p:txBody>
      </p:sp>
      <p:sp>
        <p:nvSpPr>
          <p:cNvPr id="13" name="Text 9"/>
          <p:cNvSpPr txBox="1"/>
          <p:nvPr/>
        </p:nvSpPr>
        <p:spPr>
          <a:xfrm>
            <a:off x="9290304" y="1956816"/>
            <a:ext cx="1188720" cy="237744"/>
          </a:xfrm>
          <a:prstGeom prst="rect">
            <a:avLst/>
          </a:prstGeom>
          <a:noFill/>
          <a:ln/>
        </p:spPr>
        <p:txBody>
          <a:bodyPr wrap="square" lIns="0" tIns="0" rIns="0" bIns="0" rtlCol="0" anchor="ctr"/>
          <a:lstStyle/>
          <a:p>
            <a:pPr algn="r" indent="0" marL="0">
              <a:buNone/>
            </a:pPr>
            <a:r>
              <a:rPr lang="en-US" sz="1150" b="1" dirty="0">
                <a:solidFill>
                  <a:srgbClr val="1F1A1C"/>
                </a:solidFill>
                <a:latin typeface="Calibri" pitchFamily="34" charset="0"/>
                <a:ea typeface="Calibri" pitchFamily="34" charset="-122"/>
                <a:cs typeface="Calibri" pitchFamily="34" charset="-120"/>
              </a:rPr>
              <a:t>20.0億円</a:t>
            </a:r>
            <a:endParaRPr lang="en-US" sz="1150" dirty="0"/>
          </a:p>
        </p:txBody>
      </p:sp>
      <p:sp>
        <p:nvSpPr>
          <p:cNvPr id="14" name="Text 10"/>
          <p:cNvSpPr txBox="1"/>
          <p:nvPr/>
        </p:nvSpPr>
        <p:spPr>
          <a:xfrm>
            <a:off x="7717536" y="2176272"/>
            <a:ext cx="3657600" cy="219456"/>
          </a:xfrm>
          <a:prstGeom prst="rect">
            <a:avLst/>
          </a:prstGeom>
          <a:noFill/>
          <a:ln/>
        </p:spPr>
        <p:txBody>
          <a:bodyPr wrap="square" lIns="0" tIns="0" rIns="0" bIns="0" rtlCol="0" anchor="ctr"/>
          <a:lstStyle/>
          <a:p>
            <a:pPr indent="0" marL="0">
              <a:buNone/>
            </a:pPr>
            <a:r>
              <a:rPr lang="en-US" sz="850" dirty="0">
                <a:solidFill>
                  <a:srgbClr val="6E6368"/>
                </a:solidFill>
                <a:latin typeface="Calibri" pitchFamily="34" charset="0"/>
                <a:ea typeface="Calibri" pitchFamily="34" charset="-122"/>
                <a:cs typeface="Calibri" pitchFamily="34" charset="-120"/>
              </a:rPr>
              <a:t>TLA14.0億（元金均等7年・毎月返済）＋TLB6.0億（期限一括）</a:t>
            </a:r>
            <a:endParaRPr lang="en-US" sz="850" dirty="0"/>
          </a:p>
        </p:txBody>
      </p:sp>
      <p:sp>
        <p:nvSpPr>
          <p:cNvPr id="15" name="Text 11"/>
          <p:cNvSpPr txBox="1"/>
          <p:nvPr/>
        </p:nvSpPr>
        <p:spPr>
          <a:xfrm>
            <a:off x="7717536" y="2450592"/>
            <a:ext cx="1600200" cy="237744"/>
          </a:xfrm>
          <a:prstGeom prst="rect">
            <a:avLst/>
          </a:prstGeom>
          <a:noFill/>
          <a:ln/>
        </p:spPr>
        <p:txBody>
          <a:bodyPr wrap="square" lIns="0" tIns="0" rIns="0" bIns="0" rtlCol="0" anchor="ctr"/>
          <a:lstStyle/>
          <a:p>
            <a:pPr indent="0" marL="0">
              <a:buNone/>
            </a:pPr>
            <a:r>
              <a:rPr lang="en-US" sz="1000" dirty="0">
                <a:solidFill>
                  <a:srgbClr val="6E6368"/>
                </a:solidFill>
                <a:latin typeface="Calibri" pitchFamily="34" charset="0"/>
                <a:ea typeface="Calibri" pitchFamily="34" charset="-122"/>
                <a:cs typeface="Calibri" pitchFamily="34" charset="-120"/>
              </a:rPr>
              <a:t>現預金</a:t>
            </a:r>
            <a:endParaRPr lang="en-US" sz="1000" dirty="0"/>
          </a:p>
        </p:txBody>
      </p:sp>
      <p:sp>
        <p:nvSpPr>
          <p:cNvPr id="16" name="Text 12"/>
          <p:cNvSpPr txBox="1"/>
          <p:nvPr/>
        </p:nvSpPr>
        <p:spPr>
          <a:xfrm>
            <a:off x="9290304" y="2450592"/>
            <a:ext cx="1188720" cy="237744"/>
          </a:xfrm>
          <a:prstGeom prst="rect">
            <a:avLst/>
          </a:prstGeom>
          <a:noFill/>
          <a:ln/>
        </p:spPr>
        <p:txBody>
          <a:bodyPr wrap="square" lIns="0" tIns="0" rIns="0" bIns="0" rtlCol="0" anchor="ctr"/>
          <a:lstStyle/>
          <a:p>
            <a:pPr algn="r" indent="0" marL="0">
              <a:buNone/>
            </a:pPr>
            <a:r>
              <a:rPr lang="en-US" sz="1150" b="1" dirty="0">
                <a:solidFill>
                  <a:srgbClr val="1F1A1C"/>
                </a:solidFill>
                <a:latin typeface="Calibri" pitchFamily="34" charset="0"/>
                <a:ea typeface="Calibri" pitchFamily="34" charset="-122"/>
                <a:cs typeface="Calibri" pitchFamily="34" charset="-120"/>
              </a:rPr>
              <a:t>1.0億円</a:t>
            </a:r>
            <a:endParaRPr lang="en-US" sz="1150" dirty="0"/>
          </a:p>
        </p:txBody>
      </p:sp>
      <p:sp>
        <p:nvSpPr>
          <p:cNvPr id="17" name="Text 13"/>
          <p:cNvSpPr txBox="1"/>
          <p:nvPr/>
        </p:nvSpPr>
        <p:spPr>
          <a:xfrm>
            <a:off x="7717536" y="2670048"/>
            <a:ext cx="3657600" cy="219456"/>
          </a:xfrm>
          <a:prstGeom prst="rect">
            <a:avLst/>
          </a:prstGeom>
          <a:noFill/>
          <a:ln/>
        </p:spPr>
        <p:txBody>
          <a:bodyPr wrap="square" lIns="0" tIns="0" rIns="0" bIns="0" rtlCol="0" anchor="ctr"/>
          <a:lstStyle/>
          <a:p>
            <a:pPr indent="0" marL="0">
              <a:buNone/>
            </a:pPr>
            <a:r>
              <a:rPr lang="en-US" sz="850" dirty="0">
                <a:solidFill>
                  <a:srgbClr val="6E6368"/>
                </a:solidFill>
                <a:latin typeface="Calibri" pitchFamily="34" charset="0"/>
                <a:ea typeface="Calibri" pitchFamily="34" charset="-122"/>
                <a:cs typeface="Calibri" pitchFamily="34" charset="-120"/>
              </a:rPr>
              <a:t>運転資金として留保</a:t>
            </a:r>
            <a:endParaRPr lang="en-US" sz="850" dirty="0"/>
          </a:p>
        </p:txBody>
      </p:sp>
      <p:sp>
        <p:nvSpPr>
          <p:cNvPr id="18" name="Text 14"/>
          <p:cNvSpPr txBox="1"/>
          <p:nvPr/>
        </p:nvSpPr>
        <p:spPr>
          <a:xfrm>
            <a:off x="7717536" y="2944368"/>
            <a:ext cx="1600200" cy="237744"/>
          </a:xfrm>
          <a:prstGeom prst="rect">
            <a:avLst/>
          </a:prstGeom>
          <a:noFill/>
          <a:ln/>
        </p:spPr>
        <p:txBody>
          <a:bodyPr wrap="square" lIns="0" tIns="0" rIns="0" bIns="0" rtlCol="0" anchor="ctr"/>
          <a:lstStyle/>
          <a:p>
            <a:pPr indent="0" marL="0">
              <a:buNone/>
            </a:pPr>
            <a:r>
              <a:rPr lang="en-US" sz="1000" dirty="0">
                <a:solidFill>
                  <a:srgbClr val="6E6368"/>
                </a:solidFill>
                <a:latin typeface="Calibri" pitchFamily="34" charset="0"/>
                <a:ea typeface="Calibri" pitchFamily="34" charset="-122"/>
                <a:cs typeface="Calibri" pitchFamily="34" charset="-120"/>
              </a:rPr>
              <a:t>ネットデット</a:t>
            </a:r>
            <a:endParaRPr lang="en-US" sz="1000" dirty="0"/>
          </a:p>
        </p:txBody>
      </p:sp>
      <p:sp>
        <p:nvSpPr>
          <p:cNvPr id="19" name="Text 15"/>
          <p:cNvSpPr txBox="1"/>
          <p:nvPr/>
        </p:nvSpPr>
        <p:spPr>
          <a:xfrm>
            <a:off x="9290304" y="2944368"/>
            <a:ext cx="1188720" cy="237744"/>
          </a:xfrm>
          <a:prstGeom prst="rect">
            <a:avLst/>
          </a:prstGeom>
          <a:noFill/>
          <a:ln/>
        </p:spPr>
        <p:txBody>
          <a:bodyPr wrap="square" lIns="0" tIns="0" rIns="0" bIns="0" rtlCol="0" anchor="ctr"/>
          <a:lstStyle/>
          <a:p>
            <a:pPr algn="r" indent="0" marL="0">
              <a:buNone/>
            </a:pPr>
            <a:r>
              <a:rPr lang="en-US" sz="1150" b="1" dirty="0">
                <a:solidFill>
                  <a:srgbClr val="1F1A1C"/>
                </a:solidFill>
                <a:latin typeface="Calibri" pitchFamily="34" charset="0"/>
                <a:ea typeface="Calibri" pitchFamily="34" charset="-122"/>
                <a:cs typeface="Calibri" pitchFamily="34" charset="-120"/>
              </a:rPr>
              <a:t>19.0億円</a:t>
            </a:r>
            <a:endParaRPr lang="en-US" sz="1150" dirty="0"/>
          </a:p>
        </p:txBody>
      </p:sp>
      <p:sp>
        <p:nvSpPr>
          <p:cNvPr id="20" name="Text 16"/>
          <p:cNvSpPr txBox="1"/>
          <p:nvPr/>
        </p:nvSpPr>
        <p:spPr>
          <a:xfrm>
            <a:off x="7717536" y="3163824"/>
            <a:ext cx="3657600" cy="219456"/>
          </a:xfrm>
          <a:prstGeom prst="rect">
            <a:avLst/>
          </a:prstGeom>
          <a:noFill/>
          <a:ln/>
        </p:spPr>
        <p:txBody>
          <a:bodyPr wrap="square" lIns="0" tIns="0" rIns="0" bIns="0" rtlCol="0" anchor="ctr"/>
          <a:lstStyle/>
          <a:p>
            <a:pPr indent="0" marL="0">
              <a:buNone/>
            </a:pPr>
            <a:r>
              <a:rPr lang="en-US" sz="850" dirty="0">
                <a:solidFill>
                  <a:srgbClr val="6E6368"/>
                </a:solidFill>
                <a:latin typeface="Calibri" pitchFamily="34" charset="0"/>
                <a:ea typeface="Calibri" pitchFamily="34" charset="-122"/>
                <a:cs typeface="Calibri" pitchFamily="34" charset="-120"/>
              </a:rPr>
              <a:t>EBITDA 3.6倍</a:t>
            </a:r>
            <a:endParaRPr lang="en-US" sz="850" dirty="0"/>
          </a:p>
        </p:txBody>
      </p:sp>
      <p:sp>
        <p:nvSpPr>
          <p:cNvPr id="21" name="Text 17"/>
          <p:cNvSpPr txBox="1"/>
          <p:nvPr/>
        </p:nvSpPr>
        <p:spPr>
          <a:xfrm>
            <a:off x="7717536" y="3438144"/>
            <a:ext cx="1600200" cy="237744"/>
          </a:xfrm>
          <a:prstGeom prst="rect">
            <a:avLst/>
          </a:prstGeom>
          <a:noFill/>
          <a:ln/>
        </p:spPr>
        <p:txBody>
          <a:bodyPr wrap="square" lIns="0" tIns="0" rIns="0" bIns="0" rtlCol="0" anchor="ctr"/>
          <a:lstStyle/>
          <a:p>
            <a:pPr indent="0" marL="0">
              <a:buNone/>
            </a:pPr>
            <a:r>
              <a:rPr lang="en-US" sz="1000" dirty="0">
                <a:solidFill>
                  <a:srgbClr val="6E6368"/>
                </a:solidFill>
                <a:latin typeface="Calibri" pitchFamily="34" charset="0"/>
                <a:ea typeface="Calibri" pitchFamily="34" charset="-122"/>
                <a:cs typeface="Calibri" pitchFamily="34" charset="-120"/>
              </a:rPr>
              <a:t>初年度DSCR</a:t>
            </a:r>
            <a:endParaRPr lang="en-US" sz="1000" dirty="0"/>
          </a:p>
        </p:txBody>
      </p:sp>
      <p:sp>
        <p:nvSpPr>
          <p:cNvPr id="22" name="Text 18"/>
          <p:cNvSpPr txBox="1"/>
          <p:nvPr/>
        </p:nvSpPr>
        <p:spPr>
          <a:xfrm>
            <a:off x="9290304" y="3438144"/>
            <a:ext cx="1188720" cy="237744"/>
          </a:xfrm>
          <a:prstGeom prst="rect">
            <a:avLst/>
          </a:prstGeom>
          <a:noFill/>
          <a:ln/>
        </p:spPr>
        <p:txBody>
          <a:bodyPr wrap="square" lIns="0" tIns="0" rIns="0" bIns="0" rtlCol="0" anchor="ctr"/>
          <a:lstStyle/>
          <a:p>
            <a:pPr algn="r" indent="0" marL="0">
              <a:buNone/>
            </a:pPr>
            <a:r>
              <a:rPr lang="en-US" sz="1150" b="1" dirty="0">
                <a:solidFill>
                  <a:srgbClr val="2E6F4E"/>
                </a:solidFill>
                <a:latin typeface="Calibri" pitchFamily="34" charset="0"/>
                <a:ea typeface="Calibri" pitchFamily="34" charset="-122"/>
                <a:cs typeface="Calibri" pitchFamily="34" charset="-120"/>
              </a:rPr>
              <a:t>1.36倍</a:t>
            </a:r>
            <a:endParaRPr lang="en-US" sz="1150" dirty="0"/>
          </a:p>
        </p:txBody>
      </p:sp>
      <p:sp>
        <p:nvSpPr>
          <p:cNvPr id="23" name="Text 19"/>
          <p:cNvSpPr txBox="1"/>
          <p:nvPr/>
        </p:nvSpPr>
        <p:spPr>
          <a:xfrm>
            <a:off x="7717536" y="3657600"/>
            <a:ext cx="3657600" cy="219456"/>
          </a:xfrm>
          <a:prstGeom prst="rect">
            <a:avLst/>
          </a:prstGeom>
          <a:noFill/>
          <a:ln/>
        </p:spPr>
        <p:txBody>
          <a:bodyPr wrap="square" lIns="0" tIns="0" rIns="0" bIns="0" rtlCol="0" anchor="ctr"/>
          <a:lstStyle/>
          <a:p>
            <a:pPr indent="0" marL="0">
              <a:buNone/>
            </a:pPr>
            <a:r>
              <a:rPr lang="en-US" sz="850" dirty="0">
                <a:solidFill>
                  <a:srgbClr val="6E6368"/>
                </a:solidFill>
                <a:latin typeface="Calibri" pitchFamily="34" charset="0"/>
                <a:ea typeface="Calibri" pitchFamily="34" charset="-122"/>
                <a:cs typeface="Calibri" pitchFamily="34" charset="-120"/>
              </a:rPr>
              <a:t>元利返済2.57億円 vs FCF 3.50億円</a:t>
            </a:r>
            <a:endParaRPr lang="en-US" sz="850" dirty="0"/>
          </a:p>
        </p:txBody>
      </p:sp>
      <p:sp>
        <p:nvSpPr>
          <p:cNvPr id="24" name="Text 20"/>
          <p:cNvSpPr txBox="1"/>
          <p:nvPr/>
        </p:nvSpPr>
        <p:spPr>
          <a:xfrm>
            <a:off x="7717536" y="3931920"/>
            <a:ext cx="1600200" cy="237744"/>
          </a:xfrm>
          <a:prstGeom prst="rect">
            <a:avLst/>
          </a:prstGeom>
          <a:noFill/>
          <a:ln/>
        </p:spPr>
        <p:txBody>
          <a:bodyPr wrap="square" lIns="0" tIns="0" rIns="0" bIns="0" rtlCol="0" anchor="ctr"/>
          <a:lstStyle/>
          <a:p>
            <a:pPr indent="0" marL="0">
              <a:buNone/>
            </a:pPr>
            <a:r>
              <a:rPr lang="en-US" sz="1000" dirty="0">
                <a:solidFill>
                  <a:srgbClr val="6E6368"/>
                </a:solidFill>
                <a:latin typeface="Calibri" pitchFamily="34" charset="0"/>
                <a:ea typeface="Calibri" pitchFamily="34" charset="-122"/>
                <a:cs typeface="Calibri" pitchFamily="34" charset="-120"/>
              </a:rPr>
              <a:t>2027年 最低現金残高</a:t>
            </a:r>
            <a:endParaRPr lang="en-US" sz="1000" dirty="0"/>
          </a:p>
        </p:txBody>
      </p:sp>
      <p:sp>
        <p:nvSpPr>
          <p:cNvPr id="25" name="Text 21"/>
          <p:cNvSpPr txBox="1"/>
          <p:nvPr/>
        </p:nvSpPr>
        <p:spPr>
          <a:xfrm>
            <a:off x="9290304" y="3931920"/>
            <a:ext cx="1188720" cy="237744"/>
          </a:xfrm>
          <a:prstGeom prst="rect">
            <a:avLst/>
          </a:prstGeom>
          <a:noFill/>
          <a:ln/>
        </p:spPr>
        <p:txBody>
          <a:bodyPr wrap="square" lIns="0" tIns="0" rIns="0" bIns="0" rtlCol="0" anchor="ctr"/>
          <a:lstStyle/>
          <a:p>
            <a:pPr algn="r" indent="0" marL="0">
              <a:buNone/>
            </a:pPr>
            <a:r>
              <a:rPr lang="en-US" sz="1150" b="1" dirty="0">
                <a:solidFill>
                  <a:srgbClr val="2E6F4E"/>
                </a:solidFill>
                <a:latin typeface="Calibri" pitchFamily="34" charset="0"/>
                <a:ea typeface="Calibri" pitchFamily="34" charset="-122"/>
                <a:cs typeface="Calibri" pitchFamily="34" charset="-120"/>
              </a:rPr>
              <a:t>0.19億円</a:t>
            </a:r>
            <a:endParaRPr lang="en-US" sz="1150" dirty="0"/>
          </a:p>
        </p:txBody>
      </p:sp>
      <p:sp>
        <p:nvSpPr>
          <p:cNvPr id="26" name="Text 22"/>
          <p:cNvSpPr txBox="1"/>
          <p:nvPr/>
        </p:nvSpPr>
        <p:spPr>
          <a:xfrm>
            <a:off x="7717536" y="4151376"/>
            <a:ext cx="3657600" cy="219456"/>
          </a:xfrm>
          <a:prstGeom prst="rect">
            <a:avLst/>
          </a:prstGeom>
          <a:noFill/>
          <a:ln/>
        </p:spPr>
        <p:txBody>
          <a:bodyPr wrap="square" lIns="0" tIns="0" rIns="0" bIns="0" rtlCol="0" anchor="ctr"/>
          <a:lstStyle/>
          <a:p>
            <a:pPr indent="0" marL="0">
              <a:buNone/>
            </a:pPr>
            <a:r>
              <a:rPr lang="en-US" sz="850" dirty="0">
                <a:solidFill>
                  <a:srgbClr val="6E6368"/>
                </a:solidFill>
                <a:latin typeface="Calibri" pitchFamily="34" charset="0"/>
                <a:ea typeface="Calibri" pitchFamily="34" charset="-122"/>
                <a:cs typeface="Calibri" pitchFamily="34" charset="-120"/>
              </a:rPr>
              <a:t>2月末。月次固定費の1.0か月分</a:t>
            </a:r>
            <a:endParaRPr lang="en-US" sz="850" dirty="0"/>
          </a:p>
        </p:txBody>
      </p:sp>
      <p:sp>
        <p:nvSpPr>
          <p:cNvPr id="27" name="Shape 23"/>
          <p:cNvSpPr/>
          <p:nvPr/>
        </p:nvSpPr>
        <p:spPr>
          <a:xfrm>
            <a:off x="7498080" y="4480560"/>
            <a:ext cx="4123944" cy="1243584"/>
          </a:xfrm>
          <a:prstGeom prst="roundRect">
            <a:avLst>
              <a:gd name="adj" fmla="val 3676"/>
            </a:avLst>
          </a:prstGeom>
          <a:solidFill>
            <a:srgbClr val="FFFFFF"/>
          </a:solidFill>
          <a:ln w="9525">
            <a:solidFill>
              <a:srgbClr val="E4DADD"/>
            </a:solidFill>
            <a:prstDash val="solid"/>
          </a:ln>
        </p:spPr>
      </p:sp>
      <p:sp>
        <p:nvSpPr>
          <p:cNvPr id="28" name="Text 24"/>
          <p:cNvSpPr txBox="1"/>
          <p:nvPr/>
        </p:nvSpPr>
        <p:spPr>
          <a:xfrm>
            <a:off x="7717536" y="4572000"/>
            <a:ext cx="3657600" cy="219456"/>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日程</a:t>
            </a:r>
            <a:endParaRPr lang="en-US" sz="1000" dirty="0"/>
          </a:p>
        </p:txBody>
      </p:sp>
      <p:sp>
        <p:nvSpPr>
          <p:cNvPr id="29" name="Text 25"/>
          <p:cNvSpPr txBox="1"/>
          <p:nvPr/>
        </p:nvSpPr>
        <p:spPr>
          <a:xfrm>
            <a:off x="7717536" y="4791456"/>
            <a:ext cx="1920240" cy="237744"/>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意向表明書提出</a:t>
            </a:r>
            <a:endParaRPr lang="en-US" sz="950" dirty="0"/>
          </a:p>
        </p:txBody>
      </p:sp>
      <p:sp>
        <p:nvSpPr>
          <p:cNvPr id="30" name="Text 26"/>
          <p:cNvSpPr txBox="1"/>
          <p:nvPr/>
        </p:nvSpPr>
        <p:spPr>
          <a:xfrm>
            <a:off x="9601200" y="4791456"/>
            <a:ext cx="1801368" cy="237744"/>
          </a:xfrm>
          <a:prstGeom prst="rect">
            <a:avLst/>
          </a:prstGeom>
          <a:noFill/>
          <a:ln/>
        </p:spPr>
        <p:txBody>
          <a:bodyPr wrap="square" lIns="0" tIns="0" rIns="0" bIns="0" rtlCol="0" anchor="ctr"/>
          <a:lstStyle/>
          <a:p>
            <a:pPr algn="r" indent="0" marL="0">
              <a:buNone/>
            </a:pPr>
            <a:r>
              <a:rPr lang="en-US" sz="950" b="1" dirty="0">
                <a:solidFill>
                  <a:srgbClr val="1F1A1C"/>
                </a:solidFill>
                <a:latin typeface="Calibri" pitchFamily="34" charset="0"/>
                <a:ea typeface="Calibri" pitchFamily="34" charset="-122"/>
                <a:cs typeface="Calibri" pitchFamily="34" charset="-120"/>
              </a:rPr>
              <a:t>2026年9月30日</a:t>
            </a:r>
            <a:endParaRPr lang="en-US" sz="950" dirty="0"/>
          </a:p>
        </p:txBody>
      </p:sp>
      <p:sp>
        <p:nvSpPr>
          <p:cNvPr id="31" name="Text 27"/>
          <p:cNvSpPr txBox="1"/>
          <p:nvPr/>
        </p:nvSpPr>
        <p:spPr>
          <a:xfrm>
            <a:off x="7717536" y="5015484"/>
            <a:ext cx="1920240" cy="237744"/>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DD</a:t>
            </a:r>
            <a:endParaRPr lang="en-US" sz="950" dirty="0"/>
          </a:p>
        </p:txBody>
      </p:sp>
      <p:sp>
        <p:nvSpPr>
          <p:cNvPr id="32" name="Text 28"/>
          <p:cNvSpPr txBox="1"/>
          <p:nvPr/>
        </p:nvSpPr>
        <p:spPr>
          <a:xfrm>
            <a:off x="9601200" y="5015484"/>
            <a:ext cx="1801368" cy="237744"/>
          </a:xfrm>
          <a:prstGeom prst="rect">
            <a:avLst/>
          </a:prstGeom>
          <a:noFill/>
          <a:ln/>
        </p:spPr>
        <p:txBody>
          <a:bodyPr wrap="square" lIns="0" tIns="0" rIns="0" bIns="0" rtlCol="0" anchor="ctr"/>
          <a:lstStyle/>
          <a:p>
            <a:pPr algn="r" indent="0" marL="0">
              <a:buNone/>
            </a:pPr>
            <a:r>
              <a:rPr lang="en-US" sz="950" b="1" dirty="0">
                <a:solidFill>
                  <a:srgbClr val="1F1A1C"/>
                </a:solidFill>
                <a:latin typeface="Calibri" pitchFamily="34" charset="0"/>
                <a:ea typeface="Calibri" pitchFamily="34" charset="-122"/>
                <a:cs typeface="Calibri" pitchFamily="34" charset="-120"/>
              </a:rPr>
              <a:t>10月上旬〜11月中旬</a:t>
            </a:r>
            <a:endParaRPr lang="en-US" sz="950" dirty="0"/>
          </a:p>
        </p:txBody>
      </p:sp>
      <p:sp>
        <p:nvSpPr>
          <p:cNvPr id="33" name="Text 29"/>
          <p:cNvSpPr txBox="1"/>
          <p:nvPr/>
        </p:nvSpPr>
        <p:spPr>
          <a:xfrm>
            <a:off x="7717536" y="5239512"/>
            <a:ext cx="1920240" cy="237744"/>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最終契約締結</a:t>
            </a:r>
            <a:endParaRPr lang="en-US" sz="950" dirty="0"/>
          </a:p>
        </p:txBody>
      </p:sp>
      <p:sp>
        <p:nvSpPr>
          <p:cNvPr id="34" name="Text 30"/>
          <p:cNvSpPr txBox="1"/>
          <p:nvPr/>
        </p:nvSpPr>
        <p:spPr>
          <a:xfrm>
            <a:off x="9601200" y="5239512"/>
            <a:ext cx="1801368" cy="237744"/>
          </a:xfrm>
          <a:prstGeom prst="rect">
            <a:avLst/>
          </a:prstGeom>
          <a:noFill/>
          <a:ln/>
        </p:spPr>
        <p:txBody>
          <a:bodyPr wrap="square" lIns="0" tIns="0" rIns="0" bIns="0" rtlCol="0" anchor="ctr"/>
          <a:lstStyle/>
          <a:p>
            <a:pPr algn="r" indent="0" marL="0">
              <a:buNone/>
            </a:pPr>
            <a:r>
              <a:rPr lang="en-US" sz="950" b="1" dirty="0">
                <a:solidFill>
                  <a:srgbClr val="1F1A1C"/>
                </a:solidFill>
                <a:latin typeface="Calibri" pitchFamily="34" charset="0"/>
                <a:ea typeface="Calibri" pitchFamily="34" charset="-122"/>
                <a:cs typeface="Calibri" pitchFamily="34" charset="-120"/>
              </a:rPr>
              <a:t>2026年12月中旬</a:t>
            </a:r>
            <a:endParaRPr lang="en-US" sz="950" dirty="0"/>
          </a:p>
        </p:txBody>
      </p:sp>
      <p:sp>
        <p:nvSpPr>
          <p:cNvPr id="35" name="Text 31"/>
          <p:cNvSpPr txBox="1"/>
          <p:nvPr/>
        </p:nvSpPr>
        <p:spPr>
          <a:xfrm>
            <a:off x="7717536" y="5463540"/>
            <a:ext cx="1920240" cy="237744"/>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クロージング</a:t>
            </a:r>
            <a:endParaRPr lang="en-US" sz="950" dirty="0"/>
          </a:p>
        </p:txBody>
      </p:sp>
      <p:sp>
        <p:nvSpPr>
          <p:cNvPr id="36" name="Text 32"/>
          <p:cNvSpPr txBox="1"/>
          <p:nvPr/>
        </p:nvSpPr>
        <p:spPr>
          <a:xfrm>
            <a:off x="9601200" y="5463540"/>
            <a:ext cx="1801368" cy="237744"/>
          </a:xfrm>
          <a:prstGeom prst="rect">
            <a:avLst/>
          </a:prstGeom>
          <a:noFill/>
          <a:ln/>
        </p:spPr>
        <p:txBody>
          <a:bodyPr wrap="square" lIns="0" tIns="0" rIns="0" bIns="0" rtlCol="0" anchor="ctr"/>
          <a:lstStyle/>
          <a:p>
            <a:pPr algn="r" indent="0" marL="0">
              <a:buNone/>
            </a:pPr>
            <a:r>
              <a:rPr lang="en-US" sz="950" b="1" dirty="0">
                <a:solidFill>
                  <a:srgbClr val="1F1A1C"/>
                </a:solidFill>
                <a:latin typeface="Calibri" pitchFamily="34" charset="0"/>
                <a:ea typeface="Calibri" pitchFamily="34" charset="-122"/>
                <a:cs typeface="Calibri" pitchFamily="34" charset="-120"/>
              </a:rPr>
              <a:t>2026年12月末（合意済）</a:t>
            </a:r>
            <a:endParaRPr lang="en-US" sz="950" dirty="0"/>
          </a:p>
        </p:txBody>
      </p:sp>
      <p:sp>
        <p:nvSpPr>
          <p:cNvPr id="37" name="Shape 33"/>
          <p:cNvSpPr/>
          <p:nvPr/>
        </p:nvSpPr>
        <p:spPr>
          <a:xfrm>
            <a:off x="566928" y="5760720"/>
            <a:ext cx="11055096" cy="512064"/>
          </a:xfrm>
          <a:prstGeom prst="roundRect">
            <a:avLst>
              <a:gd name="adj" fmla="val 7143"/>
            </a:avLst>
          </a:prstGeom>
          <a:solidFill>
            <a:srgbClr val="6D2E46"/>
          </a:solidFill>
          <a:ln/>
        </p:spPr>
      </p:sp>
      <p:sp>
        <p:nvSpPr>
          <p:cNvPr id="38" name="Text 34"/>
          <p:cNvSpPr txBox="1"/>
          <p:nvPr/>
        </p:nvSpPr>
        <p:spPr>
          <a:xfrm>
            <a:off x="804672" y="5815584"/>
            <a:ext cx="10579608" cy="402336"/>
          </a:xfrm>
          <a:prstGeom prst="rect">
            <a:avLst/>
          </a:prstGeom>
          <a:noFill/>
          <a:ln/>
        </p:spPr>
        <p:txBody>
          <a:bodyPr wrap="square" lIns="0" tIns="0" rIns="0" bIns="0" rtlCol="0" anchor="ctr"/>
          <a:lstStyle/>
          <a:p>
            <a:pPr indent="0" marL="0">
              <a:lnSpc>
                <a:spcPts val="1500"/>
              </a:lnSpc>
              <a:buNone/>
            </a:pPr>
            <a:r>
              <a:rPr lang="en-US" sz="1100" b="1" dirty="0">
                <a:solidFill>
                  <a:srgbClr val="FFFFFF"/>
                </a:solidFill>
              </a:rPr>
              <a:t>みずほ銀行への依頼は20.0億円ではなく41.4億円　</a:t>
            </a:r>
            <a:pPr indent="0" marL="0">
              <a:lnSpc>
                <a:spcPts val="1500"/>
              </a:lnSpc>
              <a:buNone/>
            </a:pPr>
            <a:r>
              <a:rPr lang="en-US" sz="1000" dirty="0">
                <a:solidFill>
                  <a:srgbClr val="EBDCE1"/>
                </a:solidFill>
              </a:rPr>
              <a:t>タームローン20.0億円に加え、クロージング時の資金繰りを埋めるブリッジローン21.4億円が必要。ブリッジは合併直後に対象会社の余剰現金で全額返済し、残る有利子負債は20.0億円となる。</a:t>
            </a:r>
            <a:endParaRPr lang="en-US" sz="1100" dirty="0"/>
          </a:p>
        </p:txBody>
      </p:sp>
      <p:sp>
        <p:nvSpPr>
          <p:cNvPr id="39" name="Text 35"/>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40" name="Text 36"/>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SENSITIVITY</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対象会社に留保する現金をいくらにするか</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留保額を1億円増やすと、中野氏の必要拠出額も1億円増え、2027年の最低現金残高も1億円増える。合併後の有利子負債20.0億円と初年度DSCR1.36倍は、いずれの場合も変わらない。</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920240"/>
          <a:ext cx="11055096" cy="914400"/>
        </p:xfrm>
        <a:graphic>
          <a:graphicData uri="http://schemas.openxmlformats.org/drawingml/2006/table">
            <a:tbl>
              <a:tblPr/>
              <a:tblGrid>
                <a:gridCol w="1417320"/>
                <a:gridCol w="1600200"/>
                <a:gridCol w="1417320"/>
                <a:gridCol w="1828800"/>
                <a:gridCol w="1234440"/>
                <a:gridCol w="1920240"/>
                <a:gridCol w="1636776"/>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留保する現金</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ブリッジローン</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中野氏の拠出</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合併後の有利子負債</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ネット/EBITDA</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2027年の最低現金残高</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判定</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02336">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1.0億円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21.43億円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0.07億円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20.0億円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3.6倍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algn="r" indent="0" marL="0">
                        <a:buNone/>
                      </a:pPr>
                      <a:r>
                        <a:rPr lang="en-US" sz="1000" b="1" dirty="0">
                          <a:solidFill>
                            <a:srgbClr val="9B2C2C"/>
                          </a:solidFill>
                          <a:latin typeface="Calibri" pitchFamily="34" charset="0"/>
                          <a:ea typeface="Calibri" pitchFamily="34" charset="-122"/>
                          <a:cs typeface="Calibri" pitchFamily="34" charset="-120"/>
                        </a:rPr>
                        <a:t>0.19億円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c>
                  <a:txBody>
                    <a:bodyPr/>
                    <a:lstStyle/>
                    <a:p>
                      <a:pPr indent="0" marL="0">
                        <a:buNone/>
                      </a:pPr>
                      <a:r>
                        <a:rPr lang="en-US" sz="1000" b="1" dirty="0">
                          <a:solidFill>
                            <a:srgbClr val="9B2C2C"/>
                          </a:solidFill>
                          <a:latin typeface="Calibri" pitchFamily="34" charset="0"/>
                          <a:ea typeface="Calibri" pitchFamily="34" charset="-122"/>
                          <a:cs typeface="Calibri" pitchFamily="34" charset="-120"/>
                        </a:rPr>
                        <a:t>× 固定費1.0か月分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EFE6E9"/>
                    </a:solidFill>
                  </a:tcPr>
                </a:tc>
              </a:tr>
              <a:tr h="402336">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2.0億円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20.43億円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1.07億円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20.0億円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3.4倍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1.19億円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2E6F4E"/>
                          </a:solidFill>
                          <a:latin typeface="Calibri" pitchFamily="34" charset="0"/>
                          <a:ea typeface="Calibri" pitchFamily="34" charset="-122"/>
                          <a:cs typeface="Calibri" pitchFamily="34" charset="-120"/>
                        </a:rPr>
                        <a:t>○ 固定費6.2か月分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02336">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3.0億円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19.43億円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2.07億円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20.0億円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3.2倍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2.19億円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2E6F4E"/>
                          </a:solidFill>
                          <a:latin typeface="Calibri" pitchFamily="34" charset="0"/>
                          <a:ea typeface="Calibri" pitchFamily="34" charset="-122"/>
                          <a:cs typeface="Calibri" pitchFamily="34" charset="-120"/>
                        </a:rPr>
                        <a:t>◎ 余裕あり</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02336">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6.0億円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16.43億円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5.07億円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20.0億円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2.6倍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5.19億円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2E6F4E"/>
                          </a:solidFill>
                          <a:latin typeface="Calibri" pitchFamily="34" charset="0"/>
                          <a:ea typeface="Calibri" pitchFamily="34" charset="-122"/>
                          <a:cs typeface="Calibri" pitchFamily="34" charset="-120"/>
                        </a:rPr>
                        <a:t>◎ ご相談案（p.28）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Text 3"/>
          <p:cNvSpPr txBox="1"/>
          <p:nvPr/>
        </p:nvSpPr>
        <p:spPr>
          <a:xfrm>
            <a:off x="566928" y="3931920"/>
            <a:ext cx="11055096" cy="237744"/>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 最低現金残高は2月末。2月に2026年12月期の未払税金1.14億円を納付する一方、借入の元利返済は毎月発生するため、年間で最も薄くなる。</a:t>
            </a:r>
            <a:endParaRPr lang="en-US" sz="900" dirty="0"/>
          </a:p>
        </p:txBody>
      </p:sp>
      <p:sp>
        <p:nvSpPr>
          <p:cNvPr id="7" name="Shape 4"/>
          <p:cNvSpPr/>
          <p:nvPr/>
        </p:nvSpPr>
        <p:spPr>
          <a:xfrm>
            <a:off x="566928" y="4279392"/>
            <a:ext cx="3520440" cy="1993392"/>
          </a:xfrm>
          <a:prstGeom prst="roundRect">
            <a:avLst>
              <a:gd name="adj" fmla="val 2294"/>
            </a:avLst>
          </a:prstGeom>
          <a:solidFill>
            <a:srgbClr val="F7F3F4"/>
          </a:solidFill>
          <a:ln w="9525">
            <a:solidFill>
              <a:srgbClr val="E4DADD"/>
            </a:solidFill>
            <a:prstDash val="solid"/>
          </a:ln>
        </p:spPr>
      </p:sp>
      <p:sp>
        <p:nvSpPr>
          <p:cNvPr id="8" name="Text 5"/>
          <p:cNvSpPr txBox="1"/>
          <p:nvPr/>
        </p:nvSpPr>
        <p:spPr>
          <a:xfrm>
            <a:off x="768096" y="4389120"/>
            <a:ext cx="3127248" cy="420624"/>
          </a:xfrm>
          <a:prstGeom prst="rect">
            <a:avLst/>
          </a:prstGeom>
          <a:noFill/>
          <a:ln/>
        </p:spPr>
        <p:txBody>
          <a:bodyPr wrap="square" lIns="0" tIns="0" rIns="0" bIns="0" rtlCol="0" anchor="ctr"/>
          <a:lstStyle/>
          <a:p>
            <a:pPr indent="0" marL="0">
              <a:lnSpc>
                <a:spcPts val="1400"/>
              </a:lnSpc>
              <a:buNone/>
            </a:pPr>
            <a:r>
              <a:rPr lang="en-US" sz="1050" b="1" dirty="0">
                <a:solidFill>
                  <a:srgbClr val="6D2E46"/>
                </a:solidFill>
                <a:latin typeface="Calibri" pitchFamily="34" charset="0"/>
                <a:ea typeface="Calibri" pitchFamily="34" charset="-122"/>
                <a:cs typeface="Calibri" pitchFamily="34" charset="-120"/>
              </a:rPr>
              <a:t>① 1.0億円では2月末に1,900万円まで落ちる</a:t>
            </a:r>
            <a:endParaRPr lang="en-US" sz="1050" dirty="0"/>
          </a:p>
        </p:txBody>
      </p:sp>
      <p:sp>
        <p:nvSpPr>
          <p:cNvPr id="9" name="Text 6"/>
          <p:cNvSpPr txBox="1"/>
          <p:nvPr/>
        </p:nvSpPr>
        <p:spPr>
          <a:xfrm>
            <a:off x="768096" y="4846320"/>
            <a:ext cx="3127248" cy="1335024"/>
          </a:xfrm>
          <a:prstGeom prst="rect">
            <a:avLst/>
          </a:prstGeom>
          <a:noFill/>
          <a:ln/>
        </p:spPr>
        <p:txBody>
          <a:bodyPr wrap="square" lIns="0" tIns="0" rIns="0" bIns="0" rtlCol="0" anchor="ctr"/>
          <a:lstStyle/>
          <a:p>
            <a:pPr indent="0" marL="0">
              <a:lnSpc>
                <a:spcPts val="1200"/>
              </a:lnSpc>
              <a:buNone/>
            </a:pPr>
            <a:r>
              <a:rPr lang="en-US" sz="850" dirty="0">
                <a:solidFill>
                  <a:srgbClr val="1F1A1C"/>
                </a:solidFill>
                <a:latin typeface="Calibri" pitchFamily="34" charset="0"/>
                <a:ea typeface="Calibri" pitchFamily="34" charset="-122"/>
                <a:cs typeface="Calibri" pitchFamily="34" charset="-120"/>
              </a:rPr>
              <a:t>借入の返済が毎月であるため、2026年12月期の未払税金1.14億円を納付する2月に底が来る。残高1,900万円は月次固定費の1.0か月分にすぎず、ワインの一次価格アロケーションがまとまって入荷する月や突発的な修繕が重なれば、一時的な借入が避けられない。留保を2.0億円とすれば底は1.19億円（6.2か月分）となる。</a:t>
            </a:r>
            <a:endParaRPr lang="en-US" sz="850" dirty="0"/>
          </a:p>
        </p:txBody>
      </p:sp>
      <p:sp>
        <p:nvSpPr>
          <p:cNvPr id="10" name="Shape 7"/>
          <p:cNvSpPr/>
          <p:nvPr/>
        </p:nvSpPr>
        <p:spPr>
          <a:xfrm>
            <a:off x="4297680" y="4279392"/>
            <a:ext cx="3520440" cy="1993392"/>
          </a:xfrm>
          <a:prstGeom prst="roundRect">
            <a:avLst>
              <a:gd name="adj" fmla="val 2294"/>
            </a:avLst>
          </a:prstGeom>
          <a:solidFill>
            <a:srgbClr val="F7F3F4"/>
          </a:solidFill>
          <a:ln w="9525">
            <a:solidFill>
              <a:srgbClr val="E4DADD"/>
            </a:solidFill>
            <a:prstDash val="solid"/>
          </a:ln>
        </p:spPr>
      </p:sp>
      <p:sp>
        <p:nvSpPr>
          <p:cNvPr id="11" name="Text 8"/>
          <p:cNvSpPr txBox="1"/>
          <p:nvPr/>
        </p:nvSpPr>
        <p:spPr>
          <a:xfrm>
            <a:off x="4498848" y="4389120"/>
            <a:ext cx="3127248" cy="420624"/>
          </a:xfrm>
          <a:prstGeom prst="rect">
            <a:avLst/>
          </a:prstGeom>
          <a:noFill/>
          <a:ln/>
        </p:spPr>
        <p:txBody>
          <a:bodyPr wrap="square" lIns="0" tIns="0" rIns="0" bIns="0" rtlCol="0" anchor="ctr"/>
          <a:lstStyle/>
          <a:p>
            <a:pPr indent="0" marL="0">
              <a:lnSpc>
                <a:spcPts val="1400"/>
              </a:lnSpc>
              <a:buNone/>
            </a:pPr>
            <a:r>
              <a:rPr lang="en-US" sz="1050" b="1" dirty="0">
                <a:solidFill>
                  <a:srgbClr val="6D2E46"/>
                </a:solidFill>
                <a:latin typeface="Calibri" pitchFamily="34" charset="0"/>
                <a:ea typeface="Calibri" pitchFamily="34" charset="-122"/>
                <a:cs typeface="Calibri" pitchFamily="34" charset="-120"/>
              </a:rPr>
              <a:t>② 留保を厚くしても総ご相談額は増えない</a:t>
            </a:r>
            <a:endParaRPr lang="en-US" sz="1050" dirty="0"/>
          </a:p>
        </p:txBody>
      </p:sp>
      <p:sp>
        <p:nvSpPr>
          <p:cNvPr id="12" name="Text 9"/>
          <p:cNvSpPr txBox="1"/>
          <p:nvPr/>
        </p:nvSpPr>
        <p:spPr>
          <a:xfrm>
            <a:off x="4498848" y="4846320"/>
            <a:ext cx="3127248" cy="1335024"/>
          </a:xfrm>
          <a:prstGeom prst="rect">
            <a:avLst/>
          </a:prstGeom>
          <a:noFill/>
          <a:ln/>
        </p:spPr>
        <p:txBody>
          <a:bodyPr wrap="square" lIns="0" tIns="0" rIns="0" bIns="0" rtlCol="0" anchor="ctr"/>
          <a:lstStyle/>
          <a:p>
            <a:pPr indent="0" marL="0">
              <a:lnSpc>
                <a:spcPts val="1200"/>
              </a:lnSpc>
              <a:buNone/>
            </a:pPr>
            <a:r>
              <a:rPr lang="en-US" sz="850" dirty="0">
                <a:solidFill>
                  <a:srgbClr val="1F1A1C"/>
                </a:solidFill>
                <a:latin typeface="Calibri" pitchFamily="34" charset="0"/>
                <a:ea typeface="Calibri" pitchFamily="34" charset="-122"/>
                <a:cs typeface="Calibri" pitchFamily="34" charset="-120"/>
              </a:rPr>
              <a:t>ブリッジローンは対象会社の現預金を買収後にしか使えないために生じる立替えであり、留保額を増やした分だけブリッジは減る。留保を1.0億円から6.0億円へ引き上げ、恒久タームローンを20.0億円から25.0億円へ振り替えれば、みずほ銀行様への総ご相談額41.4億円は変わらないまま、初年度末の残高は0.66億円から5.81億円になる。詳細は28ページに記載した。</a:t>
            </a:r>
            <a:endParaRPr lang="en-US" sz="850" dirty="0"/>
          </a:p>
        </p:txBody>
      </p:sp>
      <p:sp>
        <p:nvSpPr>
          <p:cNvPr id="13" name="Shape 10"/>
          <p:cNvSpPr/>
          <p:nvPr/>
        </p:nvSpPr>
        <p:spPr>
          <a:xfrm>
            <a:off x="8028432" y="4279392"/>
            <a:ext cx="3520440" cy="1993392"/>
          </a:xfrm>
          <a:prstGeom prst="roundRect">
            <a:avLst>
              <a:gd name="adj" fmla="val 2294"/>
            </a:avLst>
          </a:prstGeom>
          <a:solidFill>
            <a:srgbClr val="F7F3F4"/>
          </a:solidFill>
          <a:ln w="9525">
            <a:solidFill>
              <a:srgbClr val="E4DADD"/>
            </a:solidFill>
            <a:prstDash val="solid"/>
          </a:ln>
        </p:spPr>
      </p:sp>
      <p:sp>
        <p:nvSpPr>
          <p:cNvPr id="14" name="Text 11"/>
          <p:cNvSpPr txBox="1"/>
          <p:nvPr/>
        </p:nvSpPr>
        <p:spPr>
          <a:xfrm>
            <a:off x="8229600" y="4389120"/>
            <a:ext cx="3127248" cy="420624"/>
          </a:xfrm>
          <a:prstGeom prst="rect">
            <a:avLst/>
          </a:prstGeom>
          <a:noFill/>
          <a:ln/>
        </p:spPr>
        <p:txBody>
          <a:bodyPr wrap="square" lIns="0" tIns="0" rIns="0" bIns="0" rtlCol="0" anchor="ctr"/>
          <a:lstStyle/>
          <a:p>
            <a:pPr indent="0" marL="0">
              <a:lnSpc>
                <a:spcPts val="1400"/>
              </a:lnSpc>
              <a:buNone/>
            </a:pPr>
            <a:r>
              <a:rPr lang="en-US" sz="1050" b="1" dirty="0">
                <a:solidFill>
                  <a:srgbClr val="6D2E46"/>
                </a:solidFill>
                <a:latin typeface="Calibri" pitchFamily="34" charset="0"/>
                <a:ea typeface="Calibri" pitchFamily="34" charset="-122"/>
                <a:cs typeface="Calibri" pitchFamily="34" charset="-120"/>
              </a:rPr>
              <a:t>③ 中野氏の拠出が700万円になることの副作用</a:t>
            </a:r>
            <a:endParaRPr lang="en-US" sz="1050" dirty="0"/>
          </a:p>
        </p:txBody>
      </p:sp>
      <p:sp>
        <p:nvSpPr>
          <p:cNvPr id="15" name="Text 12"/>
          <p:cNvSpPr txBox="1"/>
          <p:nvPr/>
        </p:nvSpPr>
        <p:spPr>
          <a:xfrm>
            <a:off x="8229600" y="4846320"/>
            <a:ext cx="3127248" cy="1335024"/>
          </a:xfrm>
          <a:prstGeom prst="rect">
            <a:avLst/>
          </a:prstGeom>
          <a:noFill/>
          <a:ln/>
        </p:spPr>
        <p:txBody>
          <a:bodyPr wrap="square" lIns="0" tIns="0" rIns="0" bIns="0" rtlCol="0" anchor="ctr"/>
          <a:lstStyle/>
          <a:p>
            <a:pPr indent="0" marL="0">
              <a:lnSpc>
                <a:spcPts val="1200"/>
              </a:lnSpc>
              <a:buNone/>
            </a:pPr>
            <a:r>
              <a:rPr lang="en-US" sz="850" dirty="0">
                <a:solidFill>
                  <a:srgbClr val="1F1A1C"/>
                </a:solidFill>
                <a:latin typeface="Calibri" pitchFamily="34" charset="0"/>
                <a:ea typeface="Calibri" pitchFamily="34" charset="-122"/>
                <a:cs typeface="Calibri" pitchFamily="34" charset="-120"/>
              </a:rPr>
              <a:t>榊原氏が10.0億円を払い込むのに対し、中野氏の拠出は資本金10万円と株主貸付700万円のみとなる。67%／33%という配分は合意によるものだが、その根拠を株主間契約でより丁寧に定める必要が生じる。</a:t>
            </a:r>
            <a:endParaRPr lang="en-US" sz="850" dirty="0"/>
          </a:p>
        </p:txBody>
      </p:sp>
      <p:sp>
        <p:nvSpPr>
          <p:cNvPr id="16" name="Text 13"/>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17" name="Text 14"/>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SHAREHOLDERS</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株主構成 ― 譲受価額50.0億円の場合と55.0億円の場合</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上限で決着した場合、差額5.0億円は第三者割当増資により、外部の追加投資家から同一のバリュエーションで調達する。</a:t>
            </a:r>
            <a:endParaRPr lang="en-US" sz="1250" dirty="0"/>
          </a:p>
        </p:txBody>
      </p:sp>
      <p:sp>
        <p:nvSpPr>
          <p:cNvPr id="5" name="Shape 3"/>
          <p:cNvSpPr/>
          <p:nvPr/>
        </p:nvSpPr>
        <p:spPr>
          <a:xfrm>
            <a:off x="566928" y="1554480"/>
            <a:ext cx="5394960" cy="3017520"/>
          </a:xfrm>
          <a:prstGeom prst="roundRect">
            <a:avLst>
              <a:gd name="adj" fmla="val 1515"/>
            </a:avLst>
          </a:prstGeom>
          <a:solidFill>
            <a:srgbClr val="FFFFFF"/>
          </a:solidFill>
          <a:ln w="9525">
            <a:solidFill>
              <a:srgbClr val="E4DADD"/>
            </a:solidFill>
            <a:prstDash val="solid"/>
          </a:ln>
        </p:spPr>
      </p:sp>
      <p:sp>
        <p:nvSpPr>
          <p:cNvPr id="6" name="Text 4"/>
          <p:cNvSpPr txBox="1"/>
          <p:nvPr/>
        </p:nvSpPr>
        <p:spPr>
          <a:xfrm>
            <a:off x="786384" y="1664208"/>
            <a:ext cx="4937760" cy="256032"/>
          </a:xfrm>
          <a:prstGeom prst="rect">
            <a:avLst/>
          </a:prstGeom>
          <a:noFill/>
          <a:ln/>
        </p:spPr>
        <p:txBody>
          <a:bodyPr wrap="square" lIns="0" tIns="0" rIns="0" bIns="0" rtlCol="0" anchor="ctr"/>
          <a:lstStyle/>
          <a:p>
            <a:pPr indent="0" marL="0">
              <a:buNone/>
            </a:pPr>
            <a:r>
              <a:rPr lang="en-US" sz="1500" b="1" dirty="0">
                <a:solidFill>
                  <a:srgbClr val="1F1A1C"/>
                </a:solidFill>
                <a:latin typeface="Cambria" pitchFamily="34" charset="0"/>
                <a:ea typeface="Cambria" pitchFamily="34" charset="-122"/>
                <a:cs typeface="Cambria" pitchFamily="34" charset="-120"/>
              </a:rPr>
              <a:t>① 譲受価額 50.0億円</a:t>
            </a:r>
            <a:endParaRPr lang="en-US" sz="1500" dirty="0"/>
          </a:p>
        </p:txBody>
      </p:sp>
      <p:sp>
        <p:nvSpPr>
          <p:cNvPr id="7" name="Shape 5"/>
          <p:cNvSpPr/>
          <p:nvPr/>
        </p:nvSpPr>
        <p:spPr>
          <a:xfrm>
            <a:off x="676656" y="2029968"/>
            <a:ext cx="3450509" cy="457200"/>
          </a:xfrm>
          <a:prstGeom prst="rect">
            <a:avLst/>
          </a:prstGeom>
          <a:solidFill>
            <a:srgbClr val="6D2E46"/>
          </a:solidFill>
          <a:ln/>
        </p:spPr>
      </p:sp>
      <p:sp>
        <p:nvSpPr>
          <p:cNvPr id="8" name="Text 6"/>
          <p:cNvSpPr txBox="1"/>
          <p:nvPr/>
        </p:nvSpPr>
        <p:spPr>
          <a:xfrm>
            <a:off x="676656" y="2029968"/>
            <a:ext cx="3450509"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中野 66.7%</a:t>
            </a:r>
            <a:endParaRPr lang="en-US" sz="1150" dirty="0"/>
          </a:p>
        </p:txBody>
      </p:sp>
      <p:sp>
        <p:nvSpPr>
          <p:cNvPr id="9" name="Shape 7"/>
          <p:cNvSpPr/>
          <p:nvPr/>
        </p:nvSpPr>
        <p:spPr>
          <a:xfrm>
            <a:off x="4127165" y="2029968"/>
            <a:ext cx="1724995" cy="457200"/>
          </a:xfrm>
          <a:prstGeom prst="rect">
            <a:avLst/>
          </a:prstGeom>
          <a:solidFill>
            <a:srgbClr val="A26769"/>
          </a:solidFill>
          <a:ln/>
        </p:spPr>
      </p:sp>
      <p:sp>
        <p:nvSpPr>
          <p:cNvPr id="10" name="Text 8"/>
          <p:cNvSpPr txBox="1"/>
          <p:nvPr/>
        </p:nvSpPr>
        <p:spPr>
          <a:xfrm>
            <a:off x="4127165" y="2029968"/>
            <a:ext cx="1724995"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榊原 33.3%</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76656" y="2670048"/>
          <a:ext cx="5175504" cy="914400"/>
        </p:xfrm>
        <a:graphic>
          <a:graphicData uri="http://schemas.openxmlformats.org/drawingml/2006/table">
            <a:tbl>
              <a:tblPr/>
              <a:tblGrid>
                <a:gridCol w="1554480"/>
                <a:gridCol w="2523744"/>
                <a:gridCol w="109728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株主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拠出額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持分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6576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中野 邦人 氏</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出資10万円＋株主貸付5.07億円</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50" b="1" dirty="0">
                          <a:solidFill>
                            <a:srgbClr val="1F1A1C"/>
                          </a:solidFill>
                          <a:latin typeface="Calibri" pitchFamily="34" charset="0"/>
                          <a:ea typeface="Calibri" pitchFamily="34" charset="-122"/>
                          <a:cs typeface="Calibri" pitchFamily="34" charset="-120"/>
                        </a:rPr>
                        <a:t>66.7%</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榊原 氏</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10.00億円</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50" b="1" dirty="0">
                          <a:solidFill>
                            <a:srgbClr val="6D2E46"/>
                          </a:solidFill>
                          <a:latin typeface="Calibri" pitchFamily="34" charset="0"/>
                          <a:ea typeface="Calibri" pitchFamily="34" charset="-122"/>
                          <a:cs typeface="Calibri" pitchFamily="34" charset="-120"/>
                        </a:rPr>
                        <a:t>33.3%</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合計</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15.07億円</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50" b="1" dirty="0">
                          <a:solidFill>
                            <a:srgbClr val="1F1A1C"/>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12" name="Shape 9"/>
          <p:cNvSpPr/>
          <p:nvPr/>
        </p:nvSpPr>
        <p:spPr>
          <a:xfrm>
            <a:off x="6227064" y="1554480"/>
            <a:ext cx="5394960" cy="3017520"/>
          </a:xfrm>
          <a:prstGeom prst="roundRect">
            <a:avLst>
              <a:gd name="adj" fmla="val 1515"/>
            </a:avLst>
          </a:prstGeom>
          <a:solidFill>
            <a:srgbClr val="FFFFFF"/>
          </a:solidFill>
          <a:ln w="9525">
            <a:solidFill>
              <a:srgbClr val="E4DADD"/>
            </a:solidFill>
            <a:prstDash val="solid"/>
          </a:ln>
        </p:spPr>
      </p:sp>
      <p:sp>
        <p:nvSpPr>
          <p:cNvPr id="13" name="Text 10"/>
          <p:cNvSpPr txBox="1"/>
          <p:nvPr/>
        </p:nvSpPr>
        <p:spPr>
          <a:xfrm>
            <a:off x="6446520" y="1664208"/>
            <a:ext cx="4937760" cy="256032"/>
          </a:xfrm>
          <a:prstGeom prst="rect">
            <a:avLst/>
          </a:prstGeom>
          <a:noFill/>
          <a:ln/>
        </p:spPr>
        <p:txBody>
          <a:bodyPr wrap="square" lIns="0" tIns="0" rIns="0" bIns="0" rtlCol="0" anchor="ctr"/>
          <a:lstStyle/>
          <a:p>
            <a:pPr indent="0" marL="0">
              <a:buNone/>
            </a:pPr>
            <a:r>
              <a:rPr lang="en-US" sz="1500" b="1" dirty="0">
                <a:solidFill>
                  <a:srgbClr val="1F1A1C"/>
                </a:solidFill>
                <a:latin typeface="Cambria" pitchFamily="34" charset="0"/>
                <a:ea typeface="Cambria" pitchFamily="34" charset="-122"/>
                <a:cs typeface="Cambria" pitchFamily="34" charset="-120"/>
              </a:rPr>
              <a:t>② 譲受価額 55.0億円</a:t>
            </a:r>
            <a:endParaRPr lang="en-US" sz="1500" dirty="0"/>
          </a:p>
        </p:txBody>
      </p:sp>
      <p:sp>
        <p:nvSpPr>
          <p:cNvPr id="14" name="Shape 11"/>
          <p:cNvSpPr/>
          <p:nvPr/>
        </p:nvSpPr>
        <p:spPr>
          <a:xfrm>
            <a:off x="6336792" y="2029968"/>
            <a:ext cx="2957283" cy="457200"/>
          </a:xfrm>
          <a:prstGeom prst="rect">
            <a:avLst/>
          </a:prstGeom>
          <a:solidFill>
            <a:srgbClr val="6D2E46"/>
          </a:solidFill>
          <a:ln/>
        </p:spPr>
      </p:sp>
      <p:sp>
        <p:nvSpPr>
          <p:cNvPr id="15" name="Text 12"/>
          <p:cNvSpPr txBox="1"/>
          <p:nvPr/>
        </p:nvSpPr>
        <p:spPr>
          <a:xfrm>
            <a:off x="6336792" y="2029968"/>
            <a:ext cx="2957283"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中野 57.1%</a:t>
            </a:r>
            <a:endParaRPr lang="en-US" sz="1150" dirty="0"/>
          </a:p>
        </p:txBody>
      </p:sp>
      <p:sp>
        <p:nvSpPr>
          <p:cNvPr id="16" name="Shape 13"/>
          <p:cNvSpPr/>
          <p:nvPr/>
        </p:nvSpPr>
        <p:spPr>
          <a:xfrm>
            <a:off x="9294075" y="2029968"/>
            <a:ext cx="1478641" cy="457200"/>
          </a:xfrm>
          <a:prstGeom prst="rect">
            <a:avLst/>
          </a:prstGeom>
          <a:solidFill>
            <a:srgbClr val="A26769"/>
          </a:solidFill>
          <a:ln/>
        </p:spPr>
      </p:sp>
      <p:sp>
        <p:nvSpPr>
          <p:cNvPr id="17" name="Text 14"/>
          <p:cNvSpPr txBox="1"/>
          <p:nvPr/>
        </p:nvSpPr>
        <p:spPr>
          <a:xfrm>
            <a:off x="9294075" y="2029968"/>
            <a:ext cx="1478641"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榊原 28.6%</a:t>
            </a:r>
            <a:endParaRPr lang="en-US" sz="1150" dirty="0"/>
          </a:p>
        </p:txBody>
      </p:sp>
      <p:sp>
        <p:nvSpPr>
          <p:cNvPr id="18" name="Shape 15"/>
          <p:cNvSpPr/>
          <p:nvPr/>
        </p:nvSpPr>
        <p:spPr>
          <a:xfrm>
            <a:off x="10772716" y="2029968"/>
            <a:ext cx="739580" cy="457200"/>
          </a:xfrm>
          <a:prstGeom prst="rect">
            <a:avLst/>
          </a:prstGeom>
          <a:solidFill>
            <a:srgbClr val="B58B2A"/>
          </a:solidFill>
          <a:ln/>
        </p:spPr>
      </p:sp>
      <p:sp>
        <p:nvSpPr>
          <p:cNvPr id="19" name="Text 16"/>
          <p:cNvSpPr txBox="1"/>
          <p:nvPr/>
        </p:nvSpPr>
        <p:spPr>
          <a:xfrm>
            <a:off x="10772716" y="2029968"/>
            <a:ext cx="73958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14.3%</a:t>
            </a:r>
            <a:endParaRPr lang="en-US" sz="9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336792" y="2670048"/>
          <a:ext cx="5175504" cy="914400"/>
        </p:xfrm>
        <a:graphic>
          <a:graphicData uri="http://schemas.openxmlformats.org/drawingml/2006/table">
            <a:tbl>
              <a:tblPr/>
              <a:tblGrid>
                <a:gridCol w="1554480"/>
                <a:gridCol w="2523744"/>
                <a:gridCol w="109728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株主</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拠出額</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持分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6576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中野 邦人 氏</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出資10万円＋株主貸付5.07億円</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50" b="1" dirty="0">
                          <a:solidFill>
                            <a:srgbClr val="1F1A1C"/>
                          </a:solidFill>
                          <a:latin typeface="Calibri" pitchFamily="34" charset="0"/>
                          <a:ea typeface="Calibri" pitchFamily="34" charset="-122"/>
                          <a:cs typeface="Calibri" pitchFamily="34" charset="-120"/>
                        </a:rPr>
                        <a:t>57.1%</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榊原 氏</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10.00億円</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50" b="1" dirty="0">
                          <a:solidFill>
                            <a:srgbClr val="A8741A"/>
                          </a:solidFill>
                          <a:latin typeface="Calibri" pitchFamily="34" charset="0"/>
                          <a:ea typeface="Calibri" pitchFamily="34" charset="-122"/>
                          <a:cs typeface="Calibri" pitchFamily="34" charset="-120"/>
                        </a:rPr>
                        <a:t>28.6%</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追加投資家</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5.00億円（第三者割当増資）</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50" b="1" dirty="0">
                          <a:solidFill>
                            <a:srgbClr val="B58B2A"/>
                          </a:solidFill>
                          <a:latin typeface="Calibri" pitchFamily="34" charset="0"/>
                          <a:ea typeface="Calibri" pitchFamily="34" charset="-122"/>
                          <a:cs typeface="Calibri" pitchFamily="34" charset="-120"/>
                        </a:rPr>
                        <a:t>14.3%</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合計</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20.07億円</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50" b="1" dirty="0">
                          <a:solidFill>
                            <a:srgbClr val="1F1A1C"/>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21" name="Shape 17"/>
          <p:cNvSpPr/>
          <p:nvPr/>
        </p:nvSpPr>
        <p:spPr>
          <a:xfrm>
            <a:off x="566928" y="4700016"/>
            <a:ext cx="5394960" cy="987552"/>
          </a:xfrm>
          <a:prstGeom prst="roundRect">
            <a:avLst>
              <a:gd name="adj" fmla="val 4630"/>
            </a:avLst>
          </a:prstGeom>
          <a:solidFill>
            <a:srgbClr val="F7F3F4"/>
          </a:solidFill>
          <a:ln w="9525">
            <a:solidFill>
              <a:srgbClr val="E4DADD"/>
            </a:solidFill>
            <a:prstDash val="solid"/>
          </a:ln>
        </p:spPr>
      </p:sp>
      <p:sp>
        <p:nvSpPr>
          <p:cNvPr id="22" name="Text 18"/>
          <p:cNvSpPr txBox="1"/>
          <p:nvPr/>
        </p:nvSpPr>
        <p:spPr>
          <a:xfrm>
            <a:off x="768096" y="4791456"/>
            <a:ext cx="4992624" cy="237744"/>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銀行から見た財務は、どちらでも変わらない</a:t>
            </a:r>
            <a:endParaRPr lang="en-US" sz="1050" dirty="0"/>
          </a:p>
        </p:txBody>
      </p:sp>
      <p:sp>
        <p:nvSpPr>
          <p:cNvPr id="23" name="Text 19"/>
          <p:cNvSpPr txBox="1"/>
          <p:nvPr/>
        </p:nvSpPr>
        <p:spPr>
          <a:xfrm>
            <a:off x="768096" y="5029200"/>
            <a:ext cx="4992624" cy="566928"/>
          </a:xfrm>
          <a:prstGeom prst="rect">
            <a:avLst/>
          </a:prstGeom>
          <a:noFill/>
          <a:ln/>
        </p:spPr>
        <p:txBody>
          <a:bodyPr wrap="square" lIns="0" tIns="0" rIns="0" bIns="0" rtlCol="0" anchor="ctr"/>
          <a:lstStyle/>
          <a:p>
            <a:pPr indent="0" marL="0">
              <a:lnSpc>
                <a:spcPts val="1250"/>
              </a:lnSpc>
              <a:buNone/>
            </a:pPr>
            <a:r>
              <a:rPr lang="en-US" sz="900" dirty="0">
                <a:solidFill>
                  <a:srgbClr val="1F1A1C"/>
                </a:solidFill>
                <a:latin typeface="Calibri" pitchFamily="34" charset="0"/>
                <a:ea typeface="Calibri" pitchFamily="34" charset="-122"/>
                <a:cs typeface="Calibri" pitchFamily="34" charset="-120"/>
              </a:rPr>
              <a:t>差額5.0億円を全額エクイティで吸収するため、みずほ銀行への依頼額41.4億円、合併後の有利子負債20.0億円、初年度DSCR1.36倍は、いずれのケースでも同一となる。</a:t>
            </a:r>
            <a:endParaRPr lang="en-US" sz="900" dirty="0"/>
          </a:p>
        </p:txBody>
      </p:sp>
      <p:sp>
        <p:nvSpPr>
          <p:cNvPr id="24" name="Shape 20"/>
          <p:cNvSpPr/>
          <p:nvPr/>
        </p:nvSpPr>
        <p:spPr>
          <a:xfrm>
            <a:off x="6227064" y="4700016"/>
            <a:ext cx="5394960" cy="987552"/>
          </a:xfrm>
          <a:prstGeom prst="roundRect">
            <a:avLst>
              <a:gd name="adj" fmla="val 4630"/>
            </a:avLst>
          </a:prstGeom>
          <a:solidFill>
            <a:srgbClr val="F7F3F4"/>
          </a:solidFill>
          <a:ln w="9525">
            <a:solidFill>
              <a:srgbClr val="E4DADD"/>
            </a:solidFill>
            <a:prstDash val="solid"/>
          </a:ln>
        </p:spPr>
      </p:sp>
      <p:sp>
        <p:nvSpPr>
          <p:cNvPr id="25" name="Text 21"/>
          <p:cNvSpPr txBox="1"/>
          <p:nvPr/>
        </p:nvSpPr>
        <p:spPr>
          <a:xfrm>
            <a:off x="6428232" y="4791456"/>
            <a:ext cx="4992624" cy="237744"/>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同一バリュエーションでの追加調達</a:t>
            </a:r>
            <a:endParaRPr lang="en-US" sz="1050" dirty="0"/>
          </a:p>
        </p:txBody>
      </p:sp>
      <p:sp>
        <p:nvSpPr>
          <p:cNvPr id="26" name="Text 22"/>
          <p:cNvSpPr txBox="1"/>
          <p:nvPr/>
        </p:nvSpPr>
        <p:spPr>
          <a:xfrm>
            <a:off x="6428232" y="5029200"/>
            <a:ext cx="4992624" cy="566928"/>
          </a:xfrm>
          <a:prstGeom prst="rect">
            <a:avLst/>
          </a:prstGeom>
          <a:noFill/>
          <a:ln/>
        </p:spPr>
        <p:txBody>
          <a:bodyPr wrap="square" lIns="0" tIns="0" rIns="0" bIns="0" rtlCol="0" anchor="ctr"/>
          <a:lstStyle/>
          <a:p>
            <a:pPr indent="0" marL="0">
              <a:lnSpc>
                <a:spcPts val="1250"/>
              </a:lnSpc>
              <a:buNone/>
            </a:pPr>
            <a:r>
              <a:rPr lang="en-US" sz="900" dirty="0">
                <a:solidFill>
                  <a:srgbClr val="1F1A1C"/>
                </a:solidFill>
                <a:latin typeface="Calibri" pitchFamily="34" charset="0"/>
                <a:ea typeface="Calibri" pitchFamily="34" charset="-122"/>
                <a:cs typeface="Calibri" pitchFamily="34" charset="-120"/>
              </a:rPr>
              <a:t>榊原氏の10.0億円＝33.3%が示すポストマネー30.0億円を基準とし、追加投資家は同じ条件で5.0億円を引き受ける。既存株主は一律に希薄化する（30.0億円 → 35.0億円）。</a:t>
            </a:r>
            <a:endParaRPr lang="en-US" sz="900" dirty="0"/>
          </a:p>
        </p:txBody>
      </p:sp>
      <p:sp>
        <p:nvSpPr>
          <p:cNvPr id="27" name="Shape 23"/>
          <p:cNvSpPr/>
          <p:nvPr/>
        </p:nvSpPr>
        <p:spPr>
          <a:xfrm>
            <a:off x="566928" y="5779008"/>
            <a:ext cx="11055096" cy="512064"/>
          </a:xfrm>
          <a:prstGeom prst="roundRect">
            <a:avLst>
              <a:gd name="adj" fmla="val 7143"/>
            </a:avLst>
          </a:prstGeom>
          <a:solidFill>
            <a:srgbClr val="6D2E46"/>
          </a:solidFill>
          <a:ln/>
        </p:spPr>
      </p:sp>
      <p:sp>
        <p:nvSpPr>
          <p:cNvPr id="28" name="Text 24"/>
          <p:cNvSpPr txBox="1"/>
          <p:nvPr/>
        </p:nvSpPr>
        <p:spPr>
          <a:xfrm>
            <a:off x="804672" y="5833872"/>
            <a:ext cx="10579608" cy="402336"/>
          </a:xfrm>
          <a:prstGeom prst="rect">
            <a:avLst/>
          </a:prstGeom>
          <a:noFill/>
          <a:ln/>
        </p:spPr>
        <p:txBody>
          <a:bodyPr wrap="square" lIns="0" tIns="0" rIns="0" bIns="0" rtlCol="0" anchor="ctr"/>
          <a:lstStyle/>
          <a:p>
            <a:pPr indent="0" marL="0">
              <a:lnSpc>
                <a:spcPts val="1500"/>
              </a:lnSpc>
              <a:buNone/>
            </a:pPr>
            <a:r>
              <a:rPr lang="en-US" sz="1100" b="1" dirty="0">
                <a:solidFill>
                  <a:srgbClr val="FFFFFF"/>
                </a:solidFill>
              </a:rPr>
              <a:t>先に握っておくこと　</a:t>
            </a:r>
            <a:pPr indent="0" marL="0">
              <a:lnSpc>
                <a:spcPts val="1500"/>
              </a:lnSpc>
              <a:buNone/>
            </a:pPr>
            <a:r>
              <a:rPr lang="en-US" sz="1000" dirty="0">
                <a:solidFill>
                  <a:srgbClr val="EBDCE1"/>
                </a:solidFill>
              </a:rPr>
              <a:t>55.0億円ケースでは榊原氏の持分が28.6%となり、会社法上の特別決議に対する拒否権（1/3超）を失う。中野氏も57.1%となり単独での2/3可決ができなくなる。追加投資家を受け入れる際の優先引受権の扱いを、株主間契約に先に定めておく必要がある。</a:t>
            </a:r>
            <a:endParaRPr lang="en-US" sz="1100" dirty="0"/>
          </a:p>
        </p:txBody>
      </p:sp>
      <p:sp>
        <p:nvSpPr>
          <p:cNvPr id="29" name="Text 25"/>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30" name="Text 26"/>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CHECK B ①　返済プロファイル</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初年度からDSCR 1.36倍を確保する返済設計</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合併後の有利子負債20.0億円を、タームローンA 14.0億円（7年・元金均等・毎月返済）とタームローンB 6.0億円（期限一括）に分ける。返済は毎月、元本16.7百万円と前月末残高に対する利息。</a:t>
            </a:r>
            <a:endParaRPr lang="en-US" sz="1250" dirty="0"/>
          </a:p>
        </p:txBody>
      </p:sp>
      <p:sp>
        <p:nvSpPr>
          <p:cNvPr id="5" name="Shape 3"/>
          <p:cNvSpPr/>
          <p:nvPr/>
        </p:nvSpPr>
        <p:spPr>
          <a:xfrm>
            <a:off x="566928" y="1783080"/>
            <a:ext cx="3520440" cy="1024128"/>
          </a:xfrm>
          <a:prstGeom prst="roundRect">
            <a:avLst>
              <a:gd name="adj" fmla="val 4464"/>
            </a:avLst>
          </a:prstGeom>
          <a:solidFill>
            <a:srgbClr val="FFFFFF"/>
          </a:solidFill>
          <a:ln w="9525">
            <a:solidFill>
              <a:srgbClr val="E4DADD"/>
            </a:solidFill>
            <a:prstDash val="solid"/>
          </a:ln>
        </p:spPr>
      </p:sp>
      <p:sp>
        <p:nvSpPr>
          <p:cNvPr id="6" name="Text 4"/>
          <p:cNvSpPr txBox="1"/>
          <p:nvPr/>
        </p:nvSpPr>
        <p:spPr>
          <a:xfrm>
            <a:off x="786384" y="1892808"/>
            <a:ext cx="310896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初年度DSCR</a:t>
            </a:r>
            <a:endParaRPr lang="en-US" sz="950" dirty="0"/>
          </a:p>
        </p:txBody>
      </p:sp>
      <p:sp>
        <p:nvSpPr>
          <p:cNvPr id="7" name="Text 5"/>
          <p:cNvSpPr txBox="1"/>
          <p:nvPr/>
        </p:nvSpPr>
        <p:spPr>
          <a:xfrm>
            <a:off x="786384" y="2121408"/>
            <a:ext cx="3108960" cy="402336"/>
          </a:xfrm>
          <a:prstGeom prst="rect">
            <a:avLst/>
          </a:prstGeom>
          <a:noFill/>
          <a:ln/>
        </p:spPr>
        <p:txBody>
          <a:bodyPr wrap="square" lIns="0" tIns="0" rIns="0" bIns="0" rtlCol="0" anchor="ctr"/>
          <a:lstStyle/>
          <a:p>
            <a:pPr indent="0" marL="0">
              <a:buNone/>
            </a:pPr>
            <a:r>
              <a:rPr lang="en-US" sz="2400" b="1" dirty="0">
                <a:solidFill>
                  <a:srgbClr val="6D2E46"/>
                </a:solidFill>
                <a:latin typeface="Cambria" pitchFamily="34" charset="0"/>
                <a:ea typeface="Cambria" pitchFamily="34" charset="-122"/>
                <a:cs typeface="Cambria" pitchFamily="34" charset="-120"/>
              </a:rPr>
              <a:t>1.36倍</a:t>
            </a:r>
            <a:endParaRPr lang="en-US" sz="2400" dirty="0"/>
          </a:p>
        </p:txBody>
      </p:sp>
      <p:sp>
        <p:nvSpPr>
          <p:cNvPr id="8" name="Text 6"/>
          <p:cNvSpPr txBox="1"/>
          <p:nvPr/>
        </p:nvSpPr>
        <p:spPr>
          <a:xfrm>
            <a:off x="786384" y="2523744"/>
            <a:ext cx="3200400" cy="237744"/>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元利返済2.57億円 vs FCF 3.50億円</a:t>
            </a:r>
            <a:endParaRPr lang="en-US" sz="900" dirty="0"/>
          </a:p>
        </p:txBody>
      </p:sp>
      <p:sp>
        <p:nvSpPr>
          <p:cNvPr id="9" name="Shape 7"/>
          <p:cNvSpPr/>
          <p:nvPr/>
        </p:nvSpPr>
        <p:spPr>
          <a:xfrm>
            <a:off x="4297680" y="1783080"/>
            <a:ext cx="3520440" cy="1024128"/>
          </a:xfrm>
          <a:prstGeom prst="roundRect">
            <a:avLst>
              <a:gd name="adj" fmla="val 4464"/>
            </a:avLst>
          </a:prstGeom>
          <a:solidFill>
            <a:srgbClr val="FFFFFF"/>
          </a:solidFill>
          <a:ln w="9525">
            <a:solidFill>
              <a:srgbClr val="E4DADD"/>
            </a:solidFill>
            <a:prstDash val="solid"/>
          </a:ln>
        </p:spPr>
      </p:sp>
      <p:sp>
        <p:nvSpPr>
          <p:cNvPr id="10" name="Text 8"/>
          <p:cNvSpPr txBox="1"/>
          <p:nvPr/>
        </p:nvSpPr>
        <p:spPr>
          <a:xfrm>
            <a:off x="4517136" y="1892808"/>
            <a:ext cx="310896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7年間の累積余剰CF</a:t>
            </a:r>
            <a:endParaRPr lang="en-US" sz="950" dirty="0"/>
          </a:p>
        </p:txBody>
      </p:sp>
      <p:sp>
        <p:nvSpPr>
          <p:cNvPr id="11" name="Text 9"/>
          <p:cNvSpPr txBox="1"/>
          <p:nvPr/>
        </p:nvSpPr>
        <p:spPr>
          <a:xfrm>
            <a:off x="4517136" y="2121408"/>
            <a:ext cx="3108960" cy="402336"/>
          </a:xfrm>
          <a:prstGeom prst="rect">
            <a:avLst/>
          </a:prstGeom>
          <a:noFill/>
          <a:ln/>
        </p:spPr>
        <p:txBody>
          <a:bodyPr wrap="square" lIns="0" tIns="0" rIns="0" bIns="0" rtlCol="0" anchor="ctr"/>
          <a:lstStyle/>
          <a:p>
            <a:pPr indent="0" marL="0">
              <a:buNone/>
            </a:pPr>
            <a:r>
              <a:rPr lang="en-US" sz="2400" b="1" dirty="0">
                <a:solidFill>
                  <a:srgbClr val="6D2E46"/>
                </a:solidFill>
                <a:latin typeface="Cambria" pitchFamily="34" charset="0"/>
                <a:ea typeface="Cambria" pitchFamily="34" charset="-122"/>
                <a:cs typeface="Cambria" pitchFamily="34" charset="-120"/>
              </a:rPr>
              <a:t>7.75億円</a:t>
            </a:r>
            <a:endParaRPr lang="en-US" sz="2400" dirty="0"/>
          </a:p>
        </p:txBody>
      </p:sp>
      <p:sp>
        <p:nvSpPr>
          <p:cNvPr id="12" name="Text 10"/>
          <p:cNvSpPr txBox="1"/>
          <p:nvPr/>
        </p:nvSpPr>
        <p:spPr>
          <a:xfrm>
            <a:off x="4517136" y="2523744"/>
            <a:ext cx="3200400" cy="237744"/>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期限一括6.00億円を上回る</a:t>
            </a:r>
            <a:endParaRPr lang="en-US" sz="900" dirty="0"/>
          </a:p>
        </p:txBody>
      </p:sp>
      <p:sp>
        <p:nvSpPr>
          <p:cNvPr id="13" name="Shape 11"/>
          <p:cNvSpPr/>
          <p:nvPr/>
        </p:nvSpPr>
        <p:spPr>
          <a:xfrm>
            <a:off x="8028432" y="1783080"/>
            <a:ext cx="3520440" cy="1024128"/>
          </a:xfrm>
          <a:prstGeom prst="roundRect">
            <a:avLst>
              <a:gd name="adj" fmla="val 4464"/>
            </a:avLst>
          </a:prstGeom>
          <a:solidFill>
            <a:srgbClr val="FFFFFF"/>
          </a:solidFill>
          <a:ln w="9525">
            <a:solidFill>
              <a:srgbClr val="E4DADD"/>
            </a:solidFill>
            <a:prstDash val="solid"/>
          </a:ln>
        </p:spPr>
      </p:sp>
      <p:sp>
        <p:nvSpPr>
          <p:cNvPr id="14" name="Text 12"/>
          <p:cNvSpPr txBox="1"/>
          <p:nvPr/>
        </p:nvSpPr>
        <p:spPr>
          <a:xfrm>
            <a:off x="8247888" y="1892808"/>
            <a:ext cx="310896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ネット Debt/EBITDA</a:t>
            </a:r>
            <a:endParaRPr lang="en-US" sz="950" dirty="0"/>
          </a:p>
        </p:txBody>
      </p:sp>
      <p:sp>
        <p:nvSpPr>
          <p:cNvPr id="15" name="Text 13"/>
          <p:cNvSpPr txBox="1"/>
          <p:nvPr/>
        </p:nvSpPr>
        <p:spPr>
          <a:xfrm>
            <a:off x="8247888" y="2121408"/>
            <a:ext cx="3108960" cy="402336"/>
          </a:xfrm>
          <a:prstGeom prst="rect">
            <a:avLst/>
          </a:prstGeom>
          <a:noFill/>
          <a:ln/>
        </p:spPr>
        <p:txBody>
          <a:bodyPr wrap="square" lIns="0" tIns="0" rIns="0" bIns="0" rtlCol="0" anchor="ctr"/>
          <a:lstStyle/>
          <a:p>
            <a:pPr indent="0" marL="0">
              <a:buNone/>
            </a:pPr>
            <a:r>
              <a:rPr lang="en-US" sz="2400" b="1" dirty="0">
                <a:solidFill>
                  <a:srgbClr val="6D2E46"/>
                </a:solidFill>
                <a:latin typeface="Cambria" pitchFamily="34" charset="0"/>
                <a:ea typeface="Cambria" pitchFamily="34" charset="-122"/>
                <a:cs typeface="Cambria" pitchFamily="34" charset="-120"/>
              </a:rPr>
              <a:t>3.6倍</a:t>
            </a:r>
            <a:endParaRPr lang="en-US" sz="2400" dirty="0"/>
          </a:p>
        </p:txBody>
      </p:sp>
      <p:sp>
        <p:nvSpPr>
          <p:cNvPr id="16" name="Text 14"/>
          <p:cNvSpPr txBox="1"/>
          <p:nvPr/>
        </p:nvSpPr>
        <p:spPr>
          <a:xfrm>
            <a:off x="8247888" y="2523744"/>
            <a:ext cx="3200400" cy="237744"/>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有利子負債20.0億円−留保現金1.0億円</a:t>
            </a:r>
            <a:endParaRPr lang="en-US" sz="900" dirty="0"/>
          </a:p>
        </p:txBody>
      </p:sp>
      <p:sp>
        <p:nvSpPr>
          <p:cNvPr id="17" name="Text 15"/>
          <p:cNvSpPr txBox="1"/>
          <p:nvPr/>
        </p:nvSpPr>
        <p:spPr>
          <a:xfrm>
            <a:off x="566928" y="2944368"/>
            <a:ext cx="5669280" cy="256032"/>
          </a:xfrm>
          <a:prstGeom prst="rect">
            <a:avLst/>
          </a:prstGeom>
          <a:noFill/>
          <a:ln/>
        </p:spPr>
        <p:txBody>
          <a:bodyPr wrap="square" lIns="0" tIns="0" rIns="0" bIns="0" rtlCol="0" anchor="ctr"/>
          <a:lstStyle/>
          <a:p>
            <a:pPr indent="0" marL="0">
              <a:buNone/>
            </a:pPr>
            <a:r>
              <a:rPr lang="en-US" sz="1300" b="1" dirty="0">
                <a:solidFill>
                  <a:srgbClr val="1F1A1C"/>
                </a:solidFill>
                <a:latin typeface="Cambria" pitchFamily="34" charset="0"/>
                <a:ea typeface="Cambria" pitchFamily="34" charset="-122"/>
                <a:cs typeface="Cambria" pitchFamily="34" charset="-120"/>
              </a:rPr>
              <a:t>返済方式別の比較（借入20.00億円・7年・金利3%・毎月返済）</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3255264"/>
          <a:ext cx="5669280" cy="914400"/>
        </p:xfrm>
        <a:graphic>
          <a:graphicData uri="http://schemas.openxmlformats.org/drawingml/2006/table">
            <a:tbl>
              <a:tblPr/>
              <a:tblGrid>
                <a:gridCol w="2651760"/>
                <a:gridCol w="914400"/>
                <a:gridCol w="1051560"/>
                <a:gridCol w="105156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返済方式</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初年度返済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初年度DSCR</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7年後残高</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65760">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① 元金均等（20億を全額償却）</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3.43億</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9B2C2C"/>
                          </a:solidFill>
                          <a:latin typeface="Calibri" pitchFamily="34" charset="0"/>
                          <a:ea typeface="Calibri" pitchFamily="34" charset="-122"/>
                          <a:cs typeface="Calibri" pitchFamily="34" charset="-120"/>
                        </a:rPr>
                        <a:t>1.02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② 元利均等（20億を全額償却）</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3.17億</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A8741A"/>
                          </a:solidFill>
                          <a:latin typeface="Calibri" pitchFamily="34" charset="0"/>
                          <a:ea typeface="Calibri" pitchFamily="34" charset="-122"/>
                          <a:cs typeface="Calibri" pitchFamily="34" charset="-120"/>
                        </a:rPr>
                        <a:t>1.10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65760">
                <a:tc>
                  <a:txBody>
                    <a:bodyPr/>
                    <a:lstStyle/>
                    <a:p>
                      <a:pPr indent="0" marL="0">
                        <a:buNone/>
                      </a:pPr>
                      <a:r>
                        <a:rPr lang="en-US" sz="900" b="1" dirty="0">
                          <a:solidFill>
                            <a:srgbClr val="1F1A1C"/>
                          </a:solidFill>
                          <a:latin typeface="Calibri" pitchFamily="34" charset="0"/>
                          <a:ea typeface="Calibri" pitchFamily="34" charset="-122"/>
                          <a:cs typeface="Calibri" pitchFamily="34" charset="-120"/>
                        </a:rPr>
                        <a:t>③ TLA 14億＋TLB 6億（期限一括）</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2.57億</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2E6F4E"/>
                          </a:solidFill>
                          <a:latin typeface="Calibri" pitchFamily="34" charset="0"/>
                          <a:ea typeface="Calibri" pitchFamily="34" charset="-122"/>
                          <a:cs typeface="Calibri" pitchFamily="34" charset="-120"/>
                        </a:rPr>
                        <a:t>1.36</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6.00億</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65760">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④ TLA 12億＋TLB 8億（期限一括）</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2.29億</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2E6F4E"/>
                          </a:solidFill>
                          <a:latin typeface="Calibri" pitchFamily="34" charset="0"/>
                          <a:ea typeface="Calibri" pitchFamily="34" charset="-122"/>
                          <a:cs typeface="Calibri" pitchFamily="34" charset="-120"/>
                        </a:rPr>
                        <a:t>1.53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8.00億</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19" name="Shape 16"/>
          <p:cNvSpPr/>
          <p:nvPr/>
        </p:nvSpPr>
        <p:spPr>
          <a:xfrm>
            <a:off x="566928" y="5212080"/>
            <a:ext cx="5669280" cy="868680"/>
          </a:xfrm>
          <a:prstGeom prst="roundRect">
            <a:avLst>
              <a:gd name="adj" fmla="val 5263"/>
            </a:avLst>
          </a:prstGeom>
          <a:solidFill>
            <a:srgbClr val="F7F3F4"/>
          </a:solidFill>
          <a:ln w="9525">
            <a:solidFill>
              <a:srgbClr val="E4DADD"/>
            </a:solidFill>
            <a:prstDash val="solid"/>
          </a:ln>
        </p:spPr>
      </p:sp>
      <p:sp>
        <p:nvSpPr>
          <p:cNvPr id="20" name="Text 17"/>
          <p:cNvSpPr txBox="1"/>
          <p:nvPr/>
        </p:nvSpPr>
        <p:spPr>
          <a:xfrm>
            <a:off x="768096" y="5321808"/>
            <a:ext cx="274320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③を推奨する理由</a:t>
            </a:r>
            <a:endParaRPr lang="en-US" sz="950" dirty="0"/>
          </a:p>
        </p:txBody>
      </p:sp>
      <p:sp>
        <p:nvSpPr>
          <p:cNvPr id="21" name="Text 18"/>
          <p:cNvSpPr txBox="1"/>
          <p:nvPr/>
        </p:nvSpPr>
        <p:spPr>
          <a:xfrm>
            <a:off x="768096" y="5541264"/>
            <a:ext cx="5303520" cy="502920"/>
          </a:xfrm>
          <a:prstGeom prst="rect">
            <a:avLst/>
          </a:prstGeom>
          <a:noFill/>
          <a:ln/>
        </p:spPr>
        <p:txBody>
          <a:bodyPr wrap="square" lIns="0" tIns="0" rIns="0" bIns="0" rtlCol="0" anchor="ctr"/>
          <a:lstStyle/>
          <a:p>
            <a:pPr indent="0" marL="0">
              <a:lnSpc>
                <a:spcPts val="1350"/>
              </a:lnSpc>
              <a:buNone/>
            </a:pPr>
            <a:r>
              <a:rPr lang="en-US" sz="950" dirty="0">
                <a:solidFill>
                  <a:srgbClr val="1F1A1C"/>
                </a:solidFill>
                <a:latin typeface="Calibri" pitchFamily="34" charset="0"/>
                <a:ea typeface="Calibri" pitchFamily="34" charset="-122"/>
                <a:cs typeface="Calibri" pitchFamily="34" charset="-120"/>
              </a:rPr>
              <a:t>元本を14.0億円に絞ることで年間の元本負担が2.00億円に下がり、DSCRは7年間を通じて1.36倍から1.58倍で推移する。残る6.00億円は7年間の余剰キャッシュフローで返済でき、リファイナンスを前提としない。</a:t>
            </a:r>
            <a:endParaRPr lang="en-US" sz="950" dirty="0"/>
          </a:p>
        </p:txBody>
      </p:sp>
      <p:sp>
        <p:nvSpPr>
          <p:cNvPr id="22" name="Text 19"/>
          <p:cNvSpPr txBox="1"/>
          <p:nvPr/>
        </p:nvSpPr>
        <p:spPr>
          <a:xfrm>
            <a:off x="6419088" y="2944368"/>
            <a:ext cx="5212080" cy="256032"/>
          </a:xfrm>
          <a:prstGeom prst="rect">
            <a:avLst/>
          </a:prstGeom>
          <a:noFill/>
          <a:ln/>
        </p:spPr>
        <p:txBody>
          <a:bodyPr wrap="square" lIns="0" tIns="0" rIns="0" bIns="0" rtlCol="0" anchor="ctr"/>
          <a:lstStyle/>
          <a:p>
            <a:pPr indent="0" marL="0">
              <a:buNone/>
            </a:pPr>
            <a:r>
              <a:rPr lang="en-US" sz="1300" b="1" dirty="0">
                <a:solidFill>
                  <a:srgbClr val="1F1A1C"/>
                </a:solidFill>
                <a:latin typeface="Cambria" pitchFamily="34" charset="0"/>
                <a:ea typeface="Cambria" pitchFamily="34" charset="-122"/>
                <a:cs typeface="Cambria" pitchFamily="34" charset="-120"/>
              </a:rPr>
              <a:t>推奨ストラクチャー③の7年返済計画（億円）</a:t>
            </a:r>
            <a:endParaRPr lang="en-US" sz="1300" dirty="0"/>
          </a:p>
        </p:txBody>
      </p:sp>
      <p:graphicFrame>
        <p:nvGraphicFramePr>
          <p:cNvPr id="49" name="Table 1"/>
          <p:cNvGraphicFramePr>
            <a:graphicFrameLocks noGrp="1"/>
          </p:cNvGraphicFramePr>
          <p:nvPr>
            <p:extLst>
              <p:ext uri="{D42A27DB-BD31-4B8C-83A1-F6EECF244321}">
                <p14:modId xmlns:p14="http://schemas.microsoft.com/office/powerpoint/2010/main" val="1579011935"/>
              </p:ext>
            </p:extLst>
          </p:nvPr>
        </p:nvGraphicFramePr>
        <p:xfrm>
          <a:off x="6419088" y="3255264"/>
          <a:ext cx="5212080" cy="914400"/>
        </p:xfrm>
        <a:graphic>
          <a:graphicData uri="http://schemas.openxmlformats.org/drawingml/2006/table">
            <a:tbl>
              <a:tblPr/>
              <a:tblGrid>
                <a:gridCol w="713232"/>
                <a:gridCol w="786384"/>
                <a:gridCol w="658368"/>
                <a:gridCol w="658368"/>
                <a:gridCol w="749808"/>
                <a:gridCol w="640080"/>
                <a:gridCol w="1005840"/>
              </a:tblGrid>
              <a:tr h="30175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年度</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期首残高</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元本</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利息</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返済計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DSCR</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累積余剰CF</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01752">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1年目</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20.00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0.57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2.57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2E6F4E"/>
                          </a:solidFill>
                          <a:latin typeface="Calibri" pitchFamily="34" charset="0"/>
                          <a:ea typeface="Calibri" pitchFamily="34" charset="-122"/>
                          <a:cs typeface="Calibri" pitchFamily="34" charset="-120"/>
                        </a:rPr>
                        <a:t>1.36</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+0.93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1752">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2年目</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18.00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0.51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2.51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2E6F4E"/>
                          </a:solidFill>
                          <a:latin typeface="Calibri" pitchFamily="34" charset="0"/>
                          <a:ea typeface="Calibri" pitchFamily="34" charset="-122"/>
                          <a:cs typeface="Calibri" pitchFamily="34" charset="-120"/>
                        </a:rPr>
                        <a:t>1.39</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+1.91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1752">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3年目</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16.00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0.45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2.45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2E6F4E"/>
                          </a:solidFill>
                          <a:latin typeface="Calibri" pitchFamily="34" charset="0"/>
                          <a:ea typeface="Calibri" pitchFamily="34" charset="-122"/>
                          <a:cs typeface="Calibri" pitchFamily="34" charset="-120"/>
                        </a:rPr>
                        <a:t>1.43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+2.96</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1752">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4年目</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14.00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0.39</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2.39</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2E6F4E"/>
                          </a:solidFill>
                          <a:latin typeface="Calibri" pitchFamily="34" charset="0"/>
                          <a:ea typeface="Calibri" pitchFamily="34" charset="-122"/>
                          <a:cs typeface="Calibri" pitchFamily="34" charset="-120"/>
                        </a:rPr>
                        <a:t>1.46</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+4.07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1752">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5年目</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12.00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0.33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2.33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2E6F4E"/>
                          </a:solidFill>
                          <a:latin typeface="Calibri" pitchFamily="34" charset="0"/>
                          <a:ea typeface="Calibri" pitchFamily="34" charset="-122"/>
                          <a:cs typeface="Calibri" pitchFamily="34" charset="-120"/>
                        </a:rPr>
                        <a:t>1.50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+5.24</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1752">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6年目</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10.00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0.27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2.27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2E6F4E"/>
                          </a:solidFill>
                          <a:latin typeface="Calibri" pitchFamily="34" charset="0"/>
                          <a:ea typeface="Calibri" pitchFamily="34" charset="-122"/>
                          <a:cs typeface="Calibri" pitchFamily="34" charset="-120"/>
                        </a:rPr>
                        <a:t>1.54</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+6.47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1752">
                <a:tc>
                  <a:txBody>
                    <a:bodyPr/>
                    <a:lstStyle/>
                    <a:p>
                      <a:pPr indent="0" marL="0">
                        <a:buNone/>
                      </a:pPr>
                      <a:r>
                        <a:rPr lang="en-US" sz="900" dirty="0">
                          <a:solidFill>
                            <a:srgbClr val="1F1A1C"/>
                          </a:solidFill>
                          <a:latin typeface="Calibri" pitchFamily="34" charset="0"/>
                          <a:ea typeface="Calibri" pitchFamily="34" charset="-122"/>
                          <a:cs typeface="Calibri" pitchFamily="34" charset="-120"/>
                        </a:rPr>
                        <a:t>7年目</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8.00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0.21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2.21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2E6F4E"/>
                          </a:solidFill>
                          <a:latin typeface="Calibri" pitchFamily="34" charset="0"/>
                          <a:ea typeface="Calibri" pitchFamily="34" charset="-122"/>
                          <a:cs typeface="Calibri" pitchFamily="34" charset="-120"/>
                        </a:rPr>
                        <a:t>1.58</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+7.75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1752">
                <a:tc>
                  <a:txBody>
                    <a:bodyPr/>
                    <a:lstStyle/>
                    <a:p>
                      <a:pPr indent="0" marL="0">
                        <a:buNone/>
                      </a:pPr>
                      <a:r>
                        <a:rPr lang="en-US" sz="900" b="1" dirty="0">
                          <a:solidFill>
                            <a:srgbClr val="1F1A1C"/>
                          </a:solidFill>
                          <a:latin typeface="Calibri" pitchFamily="34" charset="0"/>
                          <a:ea typeface="Calibri" pitchFamily="34" charset="-122"/>
                          <a:cs typeface="Calibri" pitchFamily="34" charset="-120"/>
                        </a:rPr>
                        <a:t>累計</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14.00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2.75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16.75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2E6F4E"/>
                          </a:solidFill>
                          <a:latin typeface="Calibri" pitchFamily="34" charset="0"/>
                          <a:ea typeface="Calibri" pitchFamily="34" charset="-122"/>
                          <a:cs typeface="Calibri" pitchFamily="34" charset="-120"/>
                        </a:rPr>
                        <a:t>+7.75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24" name="Text 20"/>
          <p:cNvSpPr txBox="1"/>
          <p:nvPr/>
        </p:nvSpPr>
        <p:spPr>
          <a:xfrm>
            <a:off x="6419088" y="5998464"/>
            <a:ext cx="5212080" cy="365760"/>
          </a:xfrm>
          <a:prstGeom prst="rect">
            <a:avLst/>
          </a:prstGeom>
          <a:noFill/>
          <a:ln/>
        </p:spPr>
        <p:txBody>
          <a:bodyPr wrap="square" lIns="0" tIns="0" rIns="0" bIns="0" rtlCol="0" anchor="ctr"/>
          <a:lstStyle/>
          <a:p>
            <a:pPr indent="0" marL="0">
              <a:lnSpc>
                <a:spcPts val="1250"/>
              </a:lnSpc>
              <a:buNone/>
            </a:pPr>
            <a:r>
              <a:rPr lang="en-US" sz="900" dirty="0">
                <a:solidFill>
                  <a:srgbClr val="6E6368"/>
                </a:solidFill>
                <a:latin typeface="Calibri" pitchFamily="34" charset="0"/>
                <a:ea typeface="Calibri" pitchFamily="34" charset="-122"/>
                <a:cs typeface="Calibri" pitchFamily="34" charset="-120"/>
              </a:rPr>
              <a:t>7年間の累積余剰キャッシュフロー7.75億円が、期限一括のタームローンB 6.00億円を上回る。リファイナンスを前提とせず、7年で20.00億円を完済できる。</a:t>
            </a:r>
            <a:endParaRPr lang="en-US" sz="900" dirty="0"/>
          </a:p>
        </p:txBody>
      </p:sp>
      <p:sp>
        <p:nvSpPr>
          <p:cNvPr id="25" name="Text 21"/>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6" name="Text 22"/>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CHECK B ②　初年度の資金繰り</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2027年の月次キャッシュフロー ― 底は2月末の0.19億円</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計画どおりに推移した場合の初年度の資金繰り。借入の元利返済は毎月発生し、2026年12月期の未払税金1.14億円を2月に納付するため、2月末が年間で最も薄くなる。</a:t>
            </a:r>
            <a:endParaRPr lang="en-US" sz="1250" dirty="0"/>
          </a:p>
        </p:txBody>
      </p:sp>
      <p:sp>
        <p:nvSpPr>
          <p:cNvPr id="5" name="Shape 3"/>
          <p:cNvSpPr/>
          <p:nvPr/>
        </p:nvSpPr>
        <p:spPr>
          <a:xfrm>
            <a:off x="566928" y="1783080"/>
            <a:ext cx="3520440" cy="1024128"/>
          </a:xfrm>
          <a:prstGeom prst="roundRect">
            <a:avLst>
              <a:gd name="adj" fmla="val 4464"/>
            </a:avLst>
          </a:prstGeom>
          <a:solidFill>
            <a:srgbClr val="6D2E46"/>
          </a:solidFill>
          <a:ln w="9525">
            <a:solidFill>
              <a:srgbClr val="6D2E46"/>
            </a:solidFill>
            <a:prstDash val="solid"/>
          </a:ln>
        </p:spPr>
      </p:sp>
      <p:sp>
        <p:nvSpPr>
          <p:cNvPr id="6" name="Text 4"/>
          <p:cNvSpPr txBox="1"/>
          <p:nvPr/>
        </p:nvSpPr>
        <p:spPr>
          <a:xfrm>
            <a:off x="786384" y="1892808"/>
            <a:ext cx="3108960" cy="219456"/>
          </a:xfrm>
          <a:prstGeom prst="rect">
            <a:avLst/>
          </a:prstGeom>
          <a:noFill/>
          <a:ln/>
        </p:spPr>
        <p:txBody>
          <a:bodyPr wrap="square" lIns="0" tIns="0" rIns="0" bIns="0" rtlCol="0" anchor="ctr"/>
          <a:lstStyle/>
          <a:p>
            <a:pPr indent="0" marL="0">
              <a:buNone/>
            </a:pPr>
            <a:r>
              <a:rPr lang="en-US" sz="950" b="1" dirty="0">
                <a:solidFill>
                  <a:srgbClr val="E8D6DB"/>
                </a:solidFill>
                <a:latin typeface="Calibri" pitchFamily="34" charset="0"/>
                <a:ea typeface="Calibri" pitchFamily="34" charset="-122"/>
                <a:cs typeface="Calibri" pitchFamily="34" charset="-120"/>
              </a:rPr>
              <a:t>最低現金残高</a:t>
            </a:r>
            <a:endParaRPr lang="en-US" sz="950" dirty="0"/>
          </a:p>
        </p:txBody>
      </p:sp>
      <p:sp>
        <p:nvSpPr>
          <p:cNvPr id="7" name="Text 5"/>
          <p:cNvSpPr txBox="1"/>
          <p:nvPr/>
        </p:nvSpPr>
        <p:spPr>
          <a:xfrm>
            <a:off x="786384" y="2121408"/>
            <a:ext cx="3108960" cy="402336"/>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0.19億円</a:t>
            </a:r>
            <a:endParaRPr lang="en-US" sz="2400" dirty="0"/>
          </a:p>
        </p:txBody>
      </p:sp>
      <p:sp>
        <p:nvSpPr>
          <p:cNvPr id="8" name="Text 6"/>
          <p:cNvSpPr txBox="1"/>
          <p:nvPr/>
        </p:nvSpPr>
        <p:spPr>
          <a:xfrm>
            <a:off x="786384" y="2523744"/>
            <a:ext cx="3200400" cy="237744"/>
          </a:xfrm>
          <a:prstGeom prst="rect">
            <a:avLst/>
          </a:prstGeom>
          <a:noFill/>
          <a:ln/>
        </p:spPr>
        <p:txBody>
          <a:bodyPr wrap="square" lIns="0" tIns="0" rIns="0" bIns="0" rtlCol="0" anchor="ctr"/>
          <a:lstStyle/>
          <a:p>
            <a:pPr indent="0" marL="0">
              <a:buNone/>
            </a:pPr>
            <a:r>
              <a:rPr lang="en-US" sz="900" dirty="0">
                <a:solidFill>
                  <a:srgbClr val="C9AEB6"/>
                </a:solidFill>
                <a:latin typeface="Calibri" pitchFamily="34" charset="0"/>
                <a:ea typeface="Calibri" pitchFamily="34" charset="-122"/>
                <a:cs typeface="Calibri" pitchFamily="34" charset="-120"/>
              </a:rPr>
              <a:t>2月末。月次固定費の1.0か月分</a:t>
            </a:r>
            <a:endParaRPr lang="en-US" sz="900" dirty="0"/>
          </a:p>
        </p:txBody>
      </p:sp>
      <p:sp>
        <p:nvSpPr>
          <p:cNvPr id="9" name="Shape 7"/>
          <p:cNvSpPr/>
          <p:nvPr/>
        </p:nvSpPr>
        <p:spPr>
          <a:xfrm>
            <a:off x="4297680" y="1783080"/>
            <a:ext cx="3520440" cy="1024128"/>
          </a:xfrm>
          <a:prstGeom prst="roundRect">
            <a:avLst>
              <a:gd name="adj" fmla="val 4464"/>
            </a:avLst>
          </a:prstGeom>
          <a:solidFill>
            <a:srgbClr val="FFFFFF"/>
          </a:solidFill>
          <a:ln w="9525">
            <a:solidFill>
              <a:srgbClr val="E4DADD"/>
            </a:solidFill>
            <a:prstDash val="solid"/>
          </a:ln>
        </p:spPr>
      </p:sp>
      <p:sp>
        <p:nvSpPr>
          <p:cNvPr id="10" name="Text 8"/>
          <p:cNvSpPr txBox="1"/>
          <p:nvPr/>
        </p:nvSpPr>
        <p:spPr>
          <a:xfrm>
            <a:off x="4517136" y="1892808"/>
            <a:ext cx="310896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年間の営業キャッシュフロー</a:t>
            </a:r>
            <a:endParaRPr lang="en-US" sz="950" dirty="0"/>
          </a:p>
        </p:txBody>
      </p:sp>
      <p:sp>
        <p:nvSpPr>
          <p:cNvPr id="11" name="Text 9"/>
          <p:cNvSpPr txBox="1"/>
          <p:nvPr/>
        </p:nvSpPr>
        <p:spPr>
          <a:xfrm>
            <a:off x="4517136" y="2121408"/>
            <a:ext cx="3108960" cy="402336"/>
          </a:xfrm>
          <a:prstGeom prst="rect">
            <a:avLst/>
          </a:prstGeom>
          <a:noFill/>
          <a:ln/>
        </p:spPr>
        <p:txBody>
          <a:bodyPr wrap="square" lIns="0" tIns="0" rIns="0" bIns="0" rtlCol="0" anchor="ctr"/>
          <a:lstStyle/>
          <a:p>
            <a:pPr indent="0" marL="0">
              <a:buNone/>
            </a:pPr>
            <a:r>
              <a:rPr lang="en-US" sz="2400" b="1" dirty="0">
                <a:solidFill>
                  <a:srgbClr val="6D2E46"/>
                </a:solidFill>
                <a:latin typeface="Cambria" pitchFamily="34" charset="0"/>
                <a:ea typeface="Cambria" pitchFamily="34" charset="-122"/>
                <a:cs typeface="Cambria" pitchFamily="34" charset="-120"/>
              </a:rPr>
              <a:t>5.28億円</a:t>
            </a:r>
            <a:endParaRPr lang="en-US" sz="2400" dirty="0"/>
          </a:p>
        </p:txBody>
      </p:sp>
      <p:sp>
        <p:nvSpPr>
          <p:cNvPr id="12" name="Text 10"/>
          <p:cNvSpPr txBox="1"/>
          <p:nvPr/>
        </p:nvSpPr>
        <p:spPr>
          <a:xfrm>
            <a:off x="4517136" y="2523744"/>
            <a:ext cx="3200400" cy="237744"/>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元利返済2.57億円</a:t>
            </a:r>
            <a:endParaRPr lang="en-US" sz="900" dirty="0"/>
          </a:p>
        </p:txBody>
      </p:sp>
      <p:sp>
        <p:nvSpPr>
          <p:cNvPr id="13" name="Shape 11"/>
          <p:cNvSpPr/>
          <p:nvPr/>
        </p:nvSpPr>
        <p:spPr>
          <a:xfrm>
            <a:off x="8028432" y="1783080"/>
            <a:ext cx="3520440" cy="1024128"/>
          </a:xfrm>
          <a:prstGeom prst="roundRect">
            <a:avLst>
              <a:gd name="adj" fmla="val 4464"/>
            </a:avLst>
          </a:prstGeom>
          <a:solidFill>
            <a:srgbClr val="FFFFFF"/>
          </a:solidFill>
          <a:ln w="9525">
            <a:solidFill>
              <a:srgbClr val="E4DADD"/>
            </a:solidFill>
            <a:prstDash val="solid"/>
          </a:ln>
        </p:spPr>
      </p:sp>
      <p:sp>
        <p:nvSpPr>
          <p:cNvPr id="14" name="Text 12"/>
          <p:cNvSpPr txBox="1"/>
          <p:nvPr/>
        </p:nvSpPr>
        <p:spPr>
          <a:xfrm>
            <a:off x="8247888" y="1892808"/>
            <a:ext cx="310896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期末現金残高</a:t>
            </a:r>
            <a:endParaRPr lang="en-US" sz="950" dirty="0"/>
          </a:p>
        </p:txBody>
      </p:sp>
      <p:sp>
        <p:nvSpPr>
          <p:cNvPr id="15" name="Text 13"/>
          <p:cNvSpPr txBox="1"/>
          <p:nvPr/>
        </p:nvSpPr>
        <p:spPr>
          <a:xfrm>
            <a:off x="8247888" y="2121408"/>
            <a:ext cx="3108960" cy="402336"/>
          </a:xfrm>
          <a:prstGeom prst="rect">
            <a:avLst/>
          </a:prstGeom>
          <a:noFill/>
          <a:ln/>
        </p:spPr>
        <p:txBody>
          <a:bodyPr wrap="square" lIns="0" tIns="0" rIns="0" bIns="0" rtlCol="0" anchor="ctr"/>
          <a:lstStyle/>
          <a:p>
            <a:pPr indent="0" marL="0">
              <a:buNone/>
            </a:pPr>
            <a:r>
              <a:rPr lang="en-US" sz="2400" b="1" dirty="0">
                <a:solidFill>
                  <a:srgbClr val="6D2E46"/>
                </a:solidFill>
                <a:latin typeface="Cambria" pitchFamily="34" charset="0"/>
                <a:ea typeface="Cambria" pitchFamily="34" charset="-122"/>
                <a:cs typeface="Cambria" pitchFamily="34" charset="-120"/>
              </a:rPr>
              <a:t>1.65億円</a:t>
            </a:r>
            <a:endParaRPr lang="en-US" sz="2400" dirty="0"/>
          </a:p>
        </p:txBody>
      </p:sp>
      <p:sp>
        <p:nvSpPr>
          <p:cNvPr id="16" name="Text 14"/>
          <p:cNvSpPr txBox="1"/>
          <p:nvPr/>
        </p:nvSpPr>
        <p:spPr>
          <a:xfrm>
            <a:off x="8247888" y="2523744"/>
            <a:ext cx="3200400" cy="237744"/>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期首1.00億円から+0.65億円</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2980944"/>
          <a:ext cx="11055096" cy="914400"/>
        </p:xfrm>
        <a:graphic>
          <a:graphicData uri="http://schemas.openxmlformats.org/drawingml/2006/table">
            <a:tbl>
              <a:tblPr/>
              <a:tblGrid>
                <a:gridCol w="1517904"/>
                <a:gridCol w="704088"/>
                <a:gridCol w="704088"/>
                <a:gridCol w="704088"/>
                <a:gridCol w="704088"/>
                <a:gridCol w="704088"/>
                <a:gridCol w="704088"/>
                <a:gridCol w="704088"/>
                <a:gridCol w="704088"/>
                <a:gridCol w="704088"/>
                <a:gridCol w="704088"/>
                <a:gridCol w="704088"/>
                <a:gridCol w="704088"/>
                <a:gridCol w="1088136"/>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百万円</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1月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3月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4月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5月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6月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7月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8月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9月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10月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11月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12月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合計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65760">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営業利益</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44</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44</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44</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44</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56</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528</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65760">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法人税等の納付</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▲114</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▲92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1F1A1C"/>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▲206</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65760">
                <a:tc>
                  <a:txBody>
                    <a:bodyPr/>
                    <a:lstStyle/>
                    <a:p>
                      <a:pPr indent="0" marL="0">
                        <a:buNone/>
                      </a:pPr>
                      <a:r>
                        <a:rPr lang="en-US" sz="950" dirty="0">
                          <a:solidFill>
                            <a:srgbClr val="1F1A1C"/>
                          </a:solidFill>
                          <a:latin typeface="Calibri" pitchFamily="34" charset="0"/>
                          <a:ea typeface="Calibri" pitchFamily="34" charset="-122"/>
                          <a:cs typeface="Calibri" pitchFamily="34" charset="-120"/>
                        </a:rPr>
                        <a:t>元利返済（毎月）</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dirty="0">
                          <a:solidFill>
                            <a:srgbClr val="9B2C2C"/>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▲257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6576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当月収支</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9B2C2C"/>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9B2C2C"/>
                          </a:solidFill>
                          <a:latin typeface="Calibri" pitchFamily="34" charset="0"/>
                          <a:ea typeface="Calibri" pitchFamily="34" charset="-122"/>
                          <a:cs typeface="Calibri" pitchFamily="34" charset="-120"/>
                        </a:rPr>
                        <a:t>▲81</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26</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23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+65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65760">
                <a:tc>
                  <a:txBody>
                    <a:bodyPr/>
                    <a:lstStyle/>
                    <a:p>
                      <a:pPr indent="0" marL="0">
                        <a:buNone/>
                      </a:pPr>
                      <a:r>
                        <a:rPr lang="en-US" sz="950" b="1" dirty="0">
                          <a:solidFill>
                            <a:srgbClr val="1F1A1C"/>
                          </a:solidFill>
                          <a:latin typeface="Calibri" pitchFamily="34" charset="0"/>
                          <a:ea typeface="Calibri" pitchFamily="34" charset="-122"/>
                          <a:cs typeface="Calibri" pitchFamily="34" charset="-120"/>
                        </a:rPr>
                        <a:t>現金 期末残高</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113</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9B2C2C"/>
                          </a:solidFill>
                          <a:latin typeface="Calibri" pitchFamily="34" charset="0"/>
                          <a:ea typeface="Calibri" pitchFamily="34" charset="-122"/>
                          <a:cs typeface="Calibri" pitchFamily="34" charset="-120"/>
                        </a:rPr>
                        <a:t>19</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44</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67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89</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115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140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82</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107</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130</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165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900" b="1" dirty="0">
                          <a:solidFill>
                            <a:srgbClr val="1F1A1C"/>
                          </a:solidFill>
                          <a:latin typeface="Calibri" pitchFamily="34" charset="0"/>
                          <a:ea typeface="Calibri" pitchFamily="34" charset="-122"/>
                          <a:cs typeface="Calibri" pitchFamily="34" charset="-120"/>
                        </a:rPr>
                        <a:t>165</a:t>
                      </a:r>
                      <a:endParaRPr lang="en-US" sz="9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18" name="Text 15"/>
          <p:cNvSpPr txBox="1"/>
          <p:nvPr/>
        </p:nvSpPr>
        <p:spPr>
          <a:xfrm>
            <a:off x="566928" y="5285232"/>
            <a:ext cx="11055096" cy="219456"/>
          </a:xfrm>
          <a:prstGeom prst="rect">
            <a:avLst/>
          </a:prstGeom>
          <a:noFill/>
          <a:ln/>
        </p:spPr>
        <p:txBody>
          <a:bodyPr wrap="square" lIns="0" tIns="0" rIns="0" bIns="0" rtlCol="0" anchor="ctr"/>
          <a:lstStyle/>
          <a:p>
            <a:pPr indent="0" marL="0">
              <a:buNone/>
            </a:pPr>
            <a:r>
              <a:rPr lang="en-US" sz="850" dirty="0">
                <a:solidFill>
                  <a:srgbClr val="6E6368"/>
                </a:solidFill>
                <a:latin typeface="Calibri" pitchFamily="34" charset="0"/>
                <a:ea typeface="Calibri" pitchFamily="34" charset="-122"/>
                <a:cs typeface="Calibri" pitchFamily="34" charset="-120"/>
              </a:rPr>
              <a:t>※ 端数処理のため、内訳の合計と合計欄が一致しない場合がある。消費税は預り金の性質を持つため計上していない。</a:t>
            </a:r>
            <a:endParaRPr lang="en-US" sz="850" dirty="0"/>
          </a:p>
        </p:txBody>
      </p:sp>
      <p:sp>
        <p:nvSpPr>
          <p:cNvPr id="19" name="Shape 16"/>
          <p:cNvSpPr/>
          <p:nvPr/>
        </p:nvSpPr>
        <p:spPr>
          <a:xfrm>
            <a:off x="566928" y="5541264"/>
            <a:ext cx="5394960" cy="786384"/>
          </a:xfrm>
          <a:prstGeom prst="roundRect">
            <a:avLst>
              <a:gd name="adj" fmla="val 5814"/>
            </a:avLst>
          </a:prstGeom>
          <a:solidFill>
            <a:srgbClr val="F7F3F4"/>
          </a:solidFill>
          <a:ln w="9525">
            <a:solidFill>
              <a:srgbClr val="E4DADD"/>
            </a:solidFill>
            <a:prstDash val="solid"/>
          </a:ln>
        </p:spPr>
      </p:sp>
      <p:sp>
        <p:nvSpPr>
          <p:cNvPr id="20" name="Text 17"/>
          <p:cNvSpPr txBox="1"/>
          <p:nvPr/>
        </p:nvSpPr>
        <p:spPr>
          <a:xfrm>
            <a:off x="768096" y="5614416"/>
            <a:ext cx="4992624" cy="219456"/>
          </a:xfrm>
          <a:prstGeom prst="rect">
            <a:avLst/>
          </a:prstGeom>
          <a:noFill/>
          <a:ln/>
        </p:spPr>
        <p:txBody>
          <a:bodyPr wrap="square" lIns="0" tIns="0" rIns="0" bIns="0" rtlCol="0" anchor="ctr"/>
          <a:lstStyle/>
          <a:p>
            <a:pPr indent="0" marL="0">
              <a:buNone/>
            </a:pPr>
            <a:r>
              <a:rPr lang="en-US" sz="1000" b="1" dirty="0">
                <a:solidFill>
                  <a:srgbClr val="6D2E46"/>
                </a:solidFill>
                <a:latin typeface="Calibri" pitchFamily="34" charset="0"/>
                <a:ea typeface="Calibri" pitchFamily="34" charset="-122"/>
                <a:cs typeface="Calibri" pitchFamily="34" charset="-120"/>
              </a:rPr>
              <a:t>2月に底が来る理由</a:t>
            </a:r>
            <a:endParaRPr lang="en-US" sz="1000" dirty="0"/>
          </a:p>
        </p:txBody>
      </p:sp>
      <p:sp>
        <p:nvSpPr>
          <p:cNvPr id="21" name="Text 18"/>
          <p:cNvSpPr txBox="1"/>
          <p:nvPr/>
        </p:nvSpPr>
        <p:spPr>
          <a:xfrm>
            <a:off x="768096" y="5833872"/>
            <a:ext cx="4992624" cy="457200"/>
          </a:xfrm>
          <a:prstGeom prst="rect">
            <a:avLst/>
          </a:prstGeom>
          <a:noFill/>
          <a:ln/>
        </p:spPr>
        <p:txBody>
          <a:bodyPr wrap="square" lIns="0" tIns="0" rIns="0" bIns="0" rtlCol="0" anchor="ctr"/>
          <a:lstStyle/>
          <a:p>
            <a:pPr indent="0" marL="0">
              <a:lnSpc>
                <a:spcPts val="1150"/>
              </a:lnSpc>
              <a:buNone/>
            </a:pPr>
            <a:r>
              <a:rPr lang="en-US" sz="850" dirty="0">
                <a:solidFill>
                  <a:srgbClr val="1F1A1C"/>
                </a:solidFill>
                <a:latin typeface="Calibri" pitchFamily="34" charset="0"/>
                <a:ea typeface="Calibri" pitchFamily="34" charset="-122"/>
                <a:cs typeface="Calibri" pitchFamily="34" charset="-120"/>
              </a:rPr>
              <a:t>2026年12月期の未払法人税等・未払消費税1.14億円を2月に納付する一方、借入の元利返済0.22億円は毎月発生する。対象会社に留保する運転資金を1.00億円としているため、2月末の残高は0.19億円となる。留保を2.00億円とすれば底は1.19億円となる。</a:t>
            </a:r>
            <a:endParaRPr lang="en-US" sz="850" dirty="0"/>
          </a:p>
        </p:txBody>
      </p:sp>
      <p:sp>
        <p:nvSpPr>
          <p:cNvPr id="22" name="Shape 19"/>
          <p:cNvSpPr/>
          <p:nvPr/>
        </p:nvSpPr>
        <p:spPr>
          <a:xfrm>
            <a:off x="6227064" y="5541264"/>
            <a:ext cx="5394960" cy="786384"/>
          </a:xfrm>
          <a:prstGeom prst="roundRect">
            <a:avLst>
              <a:gd name="adj" fmla="val 5814"/>
            </a:avLst>
          </a:prstGeom>
          <a:solidFill>
            <a:srgbClr val="F7F3F4"/>
          </a:solidFill>
          <a:ln w="9525">
            <a:solidFill>
              <a:srgbClr val="E4DADD"/>
            </a:solidFill>
            <a:prstDash val="solid"/>
          </a:ln>
        </p:spPr>
      </p:sp>
      <p:sp>
        <p:nvSpPr>
          <p:cNvPr id="23" name="Text 20"/>
          <p:cNvSpPr txBox="1"/>
          <p:nvPr/>
        </p:nvSpPr>
        <p:spPr>
          <a:xfrm>
            <a:off x="6428232" y="5614416"/>
            <a:ext cx="4992624" cy="219456"/>
          </a:xfrm>
          <a:prstGeom prst="rect">
            <a:avLst/>
          </a:prstGeom>
          <a:noFill/>
          <a:ln/>
        </p:spPr>
        <p:txBody>
          <a:bodyPr wrap="square" lIns="0" tIns="0" rIns="0" bIns="0" rtlCol="0" anchor="ctr"/>
          <a:lstStyle/>
          <a:p>
            <a:pPr indent="0" marL="0">
              <a:buNone/>
            </a:pPr>
            <a:r>
              <a:rPr lang="en-US" sz="1000" b="1" dirty="0">
                <a:solidFill>
                  <a:srgbClr val="6D2E46"/>
                </a:solidFill>
                <a:latin typeface="Calibri" pitchFamily="34" charset="0"/>
                <a:ea typeface="Calibri" pitchFamily="34" charset="-122"/>
                <a:cs typeface="Calibri" pitchFamily="34" charset="-120"/>
              </a:rPr>
              <a:t>税務上ののれんは織り込んでいない</a:t>
            </a:r>
            <a:endParaRPr lang="en-US" sz="1000" dirty="0"/>
          </a:p>
        </p:txBody>
      </p:sp>
      <p:sp>
        <p:nvSpPr>
          <p:cNvPr id="24" name="Text 21"/>
          <p:cNvSpPr txBox="1"/>
          <p:nvPr/>
        </p:nvSpPr>
        <p:spPr>
          <a:xfrm>
            <a:off x="6428232" y="5833872"/>
            <a:ext cx="4992624" cy="457200"/>
          </a:xfrm>
          <a:prstGeom prst="rect">
            <a:avLst/>
          </a:prstGeom>
          <a:noFill/>
          <a:ln/>
        </p:spPr>
        <p:txBody>
          <a:bodyPr wrap="square" lIns="0" tIns="0" rIns="0" bIns="0" rtlCol="0" anchor="ctr"/>
          <a:lstStyle/>
          <a:p>
            <a:pPr indent="0" marL="0">
              <a:lnSpc>
                <a:spcPts val="1150"/>
              </a:lnSpc>
              <a:buNone/>
            </a:pPr>
            <a:r>
              <a:rPr lang="en-US" sz="850" dirty="0">
                <a:solidFill>
                  <a:srgbClr val="1F1A1C"/>
                </a:solidFill>
                <a:latin typeface="Calibri" pitchFamily="34" charset="0"/>
                <a:ea typeface="Calibri" pitchFamily="34" charset="-122"/>
                <a:cs typeface="Calibri" pitchFamily="34" charset="-120"/>
              </a:rPr>
              <a:t>譲受代金と時価純資産の差額26.85億円は、事業譲渡型であれば5年で損金算入できるが、本件は適格合併に該当するため計上されない。当社は保守的に、合併による支払利息の損金算入のみを織り込んでいる。詳細は23ページに記載した。</a:t>
            </a:r>
            <a:endParaRPr lang="en-US" sz="850" dirty="0"/>
          </a:p>
        </p:txBody>
      </p:sp>
      <p:sp>
        <p:nvSpPr>
          <p:cNvPr id="25" name="Text 22"/>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6" name="Text 23"/>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CASH FLOW ②</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キャッシュフロー計算書 ― 借入返済後も毎期プラスを確保する</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合併後の対象会社の年次資金収支。維持更新投資を年0.30億円、支払利息の損金算入を織り込んだ推奨案（借入25.0億円・10年）ベース。</a:t>
            </a:r>
            <a:endParaRPr lang="en-US" sz="12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55096" cy="914400"/>
        </p:xfrm>
        <a:graphic>
          <a:graphicData uri="http://schemas.openxmlformats.org/drawingml/2006/table">
            <a:tbl>
              <a:tblPr/>
              <a:tblGrid>
                <a:gridCol w="2825496"/>
                <a:gridCol w="1179576"/>
                <a:gridCol w="1179576"/>
                <a:gridCol w="1179576"/>
                <a:gridCol w="1179576"/>
                <a:gridCol w="1179576"/>
                <a:gridCol w="1179576"/>
                <a:gridCol w="1152144"/>
              </a:tblGrid>
              <a:tr h="306324">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2027</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2028</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2029</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2030</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2031</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2032</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2033</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0632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営業利益</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5.28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632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減価償却費</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632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支払利息</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△0.75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△0.70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△0.65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△0.59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△0.54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△0.49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△0.43</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632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法人税等の支払</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△2.60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△1.55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△1.57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△1.59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63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営業キャッシュフロー</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1.94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3.04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3.07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3.11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3.14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3.18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3.22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0632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設備投資</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△0.30</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63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フリーキャッシュフロー</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1.64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2.74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2.77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2.81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2.84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2.88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2.92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30632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借入元本の返済</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△1.75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6324">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現金の増減</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△0.11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0.99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1.02</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1.06</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1.13</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1.17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063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期末現金残高</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5.81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6.79</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7.81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8.87</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9.96</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11.08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12.24</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6" name="Text 3"/>
          <p:cNvSpPr txBox="1"/>
          <p:nvPr/>
        </p:nvSpPr>
        <p:spPr>
          <a:xfrm>
            <a:off x="566928" y="5029200"/>
            <a:ext cx="11055096" cy="365760"/>
          </a:xfrm>
          <a:prstGeom prst="rect">
            <a:avLst/>
          </a:prstGeom>
          <a:noFill/>
          <a:ln/>
        </p:spPr>
        <p:txBody>
          <a:bodyPr wrap="square" lIns="0" tIns="0" rIns="0" bIns="0" rtlCol="0" anchor="ctr"/>
          <a:lstStyle/>
          <a:p>
            <a:pPr indent="0" marL="0">
              <a:lnSpc>
                <a:spcPts val="1200"/>
              </a:lnSpc>
              <a:buNone/>
            </a:pPr>
            <a:r>
              <a:rPr lang="en-US" sz="900" dirty="0">
                <a:solidFill>
                  <a:srgbClr val="6E6368"/>
                </a:solidFill>
                <a:latin typeface="Calibri" pitchFamily="34" charset="0"/>
                <a:ea typeface="Calibri" pitchFamily="34" charset="-122"/>
                <a:cs typeface="Calibri" pitchFamily="34" charset="-120"/>
              </a:rPr>
              <a:t>※ 単位：億円。2027年の法人税等には2026年12月期の未払法人税1.14億円の納付を含む。2034年〜2036年も同水準で推移し、期限一括返済分7.50億円は2036年末の現金残高で返済可能（返済後8.42億円）。</a:t>
            </a:r>
            <a:endParaRPr lang="en-US" sz="900" dirty="0"/>
          </a:p>
        </p:txBody>
      </p:sp>
      <p:sp>
        <p:nvSpPr>
          <p:cNvPr id="7" name="Shape 4"/>
          <p:cNvSpPr/>
          <p:nvPr/>
        </p:nvSpPr>
        <p:spPr>
          <a:xfrm>
            <a:off x="566928" y="5486400"/>
            <a:ext cx="3520440" cy="822960"/>
          </a:xfrm>
          <a:prstGeom prst="roundRect">
            <a:avLst>
              <a:gd name="adj" fmla="val 5556"/>
            </a:avLst>
          </a:prstGeom>
          <a:solidFill>
            <a:srgbClr val="F7F3F4"/>
          </a:solidFill>
          <a:ln w="9525">
            <a:solidFill>
              <a:srgbClr val="E4DADD"/>
            </a:solidFill>
            <a:prstDash val="solid"/>
          </a:ln>
        </p:spPr>
      </p:sp>
      <p:sp>
        <p:nvSpPr>
          <p:cNvPr id="8" name="Text 5"/>
          <p:cNvSpPr txBox="1"/>
          <p:nvPr/>
        </p:nvSpPr>
        <p:spPr>
          <a:xfrm>
            <a:off x="768096" y="5577840"/>
            <a:ext cx="3127248"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借入返済後も毎期プラス</a:t>
            </a:r>
            <a:endParaRPr lang="en-US" sz="1050" dirty="0"/>
          </a:p>
        </p:txBody>
      </p:sp>
      <p:sp>
        <p:nvSpPr>
          <p:cNvPr id="9" name="Text 6"/>
          <p:cNvSpPr txBox="1"/>
          <p:nvPr/>
        </p:nvSpPr>
        <p:spPr>
          <a:xfrm>
            <a:off x="768096" y="5815584"/>
            <a:ext cx="3127248" cy="438912"/>
          </a:xfrm>
          <a:prstGeom prst="rect">
            <a:avLst/>
          </a:prstGeom>
          <a:noFill/>
          <a:ln/>
        </p:spPr>
        <p:txBody>
          <a:bodyPr wrap="square" lIns="0" tIns="0" rIns="0" bIns="0" rtlCol="0" anchor="ctr"/>
          <a:lstStyle/>
          <a:p>
            <a:pPr indent="0" marL="0">
              <a:lnSpc>
                <a:spcPts val="1150"/>
              </a:lnSpc>
              <a:buNone/>
            </a:pPr>
            <a:r>
              <a:rPr lang="en-US" sz="850" dirty="0">
                <a:solidFill>
                  <a:srgbClr val="1F1A1C"/>
                </a:solidFill>
                <a:latin typeface="Calibri" pitchFamily="34" charset="0"/>
                <a:ea typeface="Calibri" pitchFamily="34" charset="-122"/>
                <a:cs typeface="Calibri" pitchFamily="34" charset="-120"/>
              </a:rPr>
              <a:t>2027年のみ前期未払税金1.14億円の納付により△0.11億円となるが、2028年以降は年約1.0億円ずつ現金が積み上がる。</a:t>
            </a:r>
            <a:endParaRPr lang="en-US" sz="850" dirty="0"/>
          </a:p>
        </p:txBody>
      </p:sp>
      <p:sp>
        <p:nvSpPr>
          <p:cNvPr id="10" name="Shape 7"/>
          <p:cNvSpPr/>
          <p:nvPr/>
        </p:nvSpPr>
        <p:spPr>
          <a:xfrm>
            <a:off x="4297680" y="5486400"/>
            <a:ext cx="3520440" cy="822960"/>
          </a:xfrm>
          <a:prstGeom prst="roundRect">
            <a:avLst>
              <a:gd name="adj" fmla="val 5556"/>
            </a:avLst>
          </a:prstGeom>
          <a:solidFill>
            <a:srgbClr val="F7F3F4"/>
          </a:solidFill>
          <a:ln w="9525">
            <a:solidFill>
              <a:srgbClr val="E4DADD"/>
            </a:solidFill>
            <a:prstDash val="solid"/>
          </a:ln>
        </p:spPr>
      </p:sp>
      <p:sp>
        <p:nvSpPr>
          <p:cNvPr id="11" name="Text 8"/>
          <p:cNvSpPr txBox="1"/>
          <p:nvPr/>
        </p:nvSpPr>
        <p:spPr>
          <a:xfrm>
            <a:off x="4498848" y="5577840"/>
            <a:ext cx="3127248"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10年間の利息総額 5.36億円</a:t>
            </a:r>
            <a:endParaRPr lang="en-US" sz="1050" dirty="0"/>
          </a:p>
        </p:txBody>
      </p:sp>
      <p:sp>
        <p:nvSpPr>
          <p:cNvPr id="12" name="Text 9"/>
          <p:cNvSpPr txBox="1"/>
          <p:nvPr/>
        </p:nvSpPr>
        <p:spPr>
          <a:xfrm>
            <a:off x="4498848" y="5815584"/>
            <a:ext cx="3127248" cy="438912"/>
          </a:xfrm>
          <a:prstGeom prst="rect">
            <a:avLst/>
          </a:prstGeom>
          <a:noFill/>
          <a:ln/>
        </p:spPr>
        <p:txBody>
          <a:bodyPr wrap="square" lIns="0" tIns="0" rIns="0" bIns="0" rtlCol="0" anchor="ctr"/>
          <a:lstStyle/>
          <a:p>
            <a:pPr indent="0" marL="0">
              <a:lnSpc>
                <a:spcPts val="1150"/>
              </a:lnSpc>
              <a:buNone/>
            </a:pPr>
            <a:r>
              <a:rPr lang="en-US" sz="850" dirty="0">
                <a:solidFill>
                  <a:srgbClr val="1F1A1C"/>
                </a:solidFill>
                <a:latin typeface="Calibri" pitchFamily="34" charset="0"/>
                <a:ea typeface="Calibri" pitchFamily="34" charset="-122"/>
                <a:cs typeface="Calibri" pitchFamily="34" charset="-120"/>
              </a:rPr>
              <a:t>元本25.00億円に対する支払利息の総額。金利3%・元金均等（期限一括分7.50億円を含む）を前提としている。</a:t>
            </a:r>
            <a:endParaRPr lang="en-US" sz="850" dirty="0"/>
          </a:p>
        </p:txBody>
      </p:sp>
      <p:sp>
        <p:nvSpPr>
          <p:cNvPr id="13" name="Shape 10"/>
          <p:cNvSpPr/>
          <p:nvPr/>
        </p:nvSpPr>
        <p:spPr>
          <a:xfrm>
            <a:off x="8028432" y="5486400"/>
            <a:ext cx="3520440" cy="822960"/>
          </a:xfrm>
          <a:prstGeom prst="roundRect">
            <a:avLst>
              <a:gd name="adj" fmla="val 5556"/>
            </a:avLst>
          </a:prstGeom>
          <a:solidFill>
            <a:srgbClr val="F7F3F4"/>
          </a:solidFill>
          <a:ln w="9525">
            <a:solidFill>
              <a:srgbClr val="E4DADD"/>
            </a:solidFill>
            <a:prstDash val="solid"/>
          </a:ln>
        </p:spPr>
      </p:sp>
      <p:sp>
        <p:nvSpPr>
          <p:cNvPr id="14" name="Text 11"/>
          <p:cNvSpPr txBox="1"/>
          <p:nvPr/>
        </p:nvSpPr>
        <p:spPr>
          <a:xfrm>
            <a:off x="8229600" y="5577840"/>
            <a:ext cx="3127248"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最終年度末の手元 8.42億円</a:t>
            </a:r>
            <a:endParaRPr lang="en-US" sz="1050" dirty="0"/>
          </a:p>
        </p:txBody>
      </p:sp>
      <p:sp>
        <p:nvSpPr>
          <p:cNvPr id="15" name="Text 12"/>
          <p:cNvSpPr txBox="1"/>
          <p:nvPr/>
        </p:nvSpPr>
        <p:spPr>
          <a:xfrm>
            <a:off x="8229600" y="5815584"/>
            <a:ext cx="3127248" cy="438912"/>
          </a:xfrm>
          <a:prstGeom prst="rect">
            <a:avLst/>
          </a:prstGeom>
          <a:noFill/>
          <a:ln/>
        </p:spPr>
        <p:txBody>
          <a:bodyPr wrap="square" lIns="0" tIns="0" rIns="0" bIns="0" rtlCol="0" anchor="ctr"/>
          <a:lstStyle/>
          <a:p>
            <a:pPr indent="0" marL="0">
              <a:lnSpc>
                <a:spcPts val="1150"/>
              </a:lnSpc>
              <a:buNone/>
            </a:pPr>
            <a:r>
              <a:rPr lang="en-US" sz="850" dirty="0">
                <a:solidFill>
                  <a:srgbClr val="1F1A1C"/>
                </a:solidFill>
                <a:latin typeface="Calibri" pitchFamily="34" charset="0"/>
                <a:ea typeface="Calibri" pitchFamily="34" charset="-122"/>
                <a:cs typeface="Calibri" pitchFamily="34" charset="-120"/>
              </a:rPr>
              <a:t>期限一括返済分7.50億円を自己資金で完済したうえで、なお8.42億円が残る。借換えを前提としない設計。</a:t>
            </a:r>
            <a:endParaRPr lang="en-US" sz="850" dirty="0"/>
          </a:p>
        </p:txBody>
      </p:sp>
      <p:sp>
        <p:nvSpPr>
          <p:cNvPr id="16" name="Text 13"/>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17" name="Text 14"/>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TAX</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税効果の整理 ― 取れるものと、取れないもの</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本件のキャッシュフローに影響する税務論点を2つに切り分けた。当社は保守的に、確実に取れるものだけを織り込んでいる。</a:t>
            </a:r>
            <a:endParaRPr lang="en-US" sz="1250" dirty="0"/>
          </a:p>
        </p:txBody>
      </p:sp>
      <p:sp>
        <p:nvSpPr>
          <p:cNvPr id="5" name="Shape 3"/>
          <p:cNvSpPr/>
          <p:nvPr/>
        </p:nvSpPr>
        <p:spPr>
          <a:xfrm>
            <a:off x="566928" y="1536192"/>
            <a:ext cx="5440680" cy="2148840"/>
          </a:xfrm>
          <a:prstGeom prst="roundRect">
            <a:avLst>
              <a:gd name="adj" fmla="val 2128"/>
            </a:avLst>
          </a:prstGeom>
          <a:solidFill>
            <a:srgbClr val="FFFFFF"/>
          </a:solidFill>
          <a:ln w="9525">
            <a:solidFill>
              <a:srgbClr val="E4DADD"/>
            </a:solidFill>
            <a:prstDash val="solid"/>
          </a:ln>
        </p:spPr>
      </p:sp>
      <p:sp>
        <p:nvSpPr>
          <p:cNvPr id="6" name="Shape 4"/>
          <p:cNvSpPr/>
          <p:nvPr/>
        </p:nvSpPr>
        <p:spPr>
          <a:xfrm>
            <a:off x="566928" y="1536192"/>
            <a:ext cx="5440680" cy="45720"/>
          </a:xfrm>
          <a:prstGeom prst="rect">
            <a:avLst/>
          </a:prstGeom>
          <a:solidFill>
            <a:srgbClr val="2E6F4E"/>
          </a:solidFill>
          <a:ln/>
        </p:spPr>
      </p:sp>
      <p:sp>
        <p:nvSpPr>
          <p:cNvPr id="7" name="Shape 5"/>
          <p:cNvSpPr/>
          <p:nvPr/>
        </p:nvSpPr>
        <p:spPr>
          <a:xfrm>
            <a:off x="786384" y="1737360"/>
            <a:ext cx="274320" cy="274320"/>
          </a:xfrm>
          <a:prstGeom prst="ellipse">
            <a:avLst/>
          </a:prstGeom>
          <a:solidFill>
            <a:srgbClr val="2E6F4E"/>
          </a:solidFill>
          <a:ln/>
        </p:spPr>
      </p:sp>
      <p:sp>
        <p:nvSpPr>
          <p:cNvPr id="8" name="Text 6"/>
          <p:cNvSpPr txBox="1"/>
          <p:nvPr/>
        </p:nvSpPr>
        <p:spPr>
          <a:xfrm>
            <a:off x="786384" y="1737360"/>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p>
        </p:txBody>
      </p:sp>
      <p:sp>
        <p:nvSpPr>
          <p:cNvPr id="9" name="Text 7"/>
          <p:cNvSpPr txBox="1"/>
          <p:nvPr/>
        </p:nvSpPr>
        <p:spPr>
          <a:xfrm>
            <a:off x="1170432" y="1737360"/>
            <a:ext cx="4572000" cy="274320"/>
          </a:xfrm>
          <a:prstGeom prst="rect">
            <a:avLst/>
          </a:prstGeom>
          <a:noFill/>
          <a:ln/>
        </p:spPr>
        <p:txBody>
          <a:bodyPr wrap="square" lIns="0" tIns="0" rIns="0" bIns="0" rtlCol="0" anchor="ctr"/>
          <a:lstStyle/>
          <a:p>
            <a:pPr indent="0" marL="0">
              <a:buNone/>
            </a:pPr>
            <a:r>
              <a:rPr lang="en-US" sz="1500" b="1" dirty="0">
                <a:solidFill>
                  <a:srgbClr val="1F1A1C"/>
                </a:solidFill>
                <a:latin typeface="Cambria" pitchFamily="34" charset="0"/>
                <a:ea typeface="Cambria" pitchFamily="34" charset="-122"/>
                <a:cs typeface="Cambria" pitchFamily="34" charset="-120"/>
              </a:rPr>
              <a:t>取れる：支払利息の損金算入</a:t>
            </a:r>
            <a:endParaRPr lang="en-US" sz="1500" dirty="0"/>
          </a:p>
        </p:txBody>
      </p:sp>
      <p:sp>
        <p:nvSpPr>
          <p:cNvPr id="10" name="Text 8"/>
          <p:cNvSpPr txBox="1"/>
          <p:nvPr/>
        </p:nvSpPr>
        <p:spPr>
          <a:xfrm>
            <a:off x="786384" y="2139696"/>
            <a:ext cx="5029200" cy="786384"/>
          </a:xfrm>
          <a:prstGeom prst="rect">
            <a:avLst/>
          </a:prstGeom>
          <a:noFill/>
          <a:ln/>
        </p:spPr>
        <p:txBody>
          <a:bodyPr wrap="square" lIns="0" tIns="0" rIns="0" bIns="0" rtlCol="0" anchor="ctr"/>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SPCが借り入れ、対象会社が利益を稼ぐ状態では、両者の損益は通算できない。クロージング後にSPCと対象会社を合併することで、支払利息が対象会社の営業利益と相殺され、損金算入が可能となる（デット・プッシュダウン）。</a:t>
            </a:r>
            <a:endParaRPr lang="en-US" sz="1000" dirty="0"/>
          </a:p>
        </p:txBody>
      </p:sp>
      <p:sp>
        <p:nvSpPr>
          <p:cNvPr id="11" name="Text 9"/>
          <p:cNvSpPr txBox="1"/>
          <p:nvPr/>
        </p:nvSpPr>
        <p:spPr>
          <a:xfrm>
            <a:off x="786384" y="2999232"/>
            <a:ext cx="5029200" cy="457200"/>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効果　</a:t>
            </a:r>
            <a:pPr indent="0" marL="0">
              <a:lnSpc>
                <a:spcPts val="1400"/>
              </a:lnSpc>
              <a:buNone/>
            </a:pPr>
            <a:r>
              <a:rPr lang="en-US" sz="1000" b="1" dirty="0">
                <a:solidFill>
                  <a:srgbClr val="2E6F4E"/>
                </a:solidFill>
                <a:latin typeface="Calibri" pitchFamily="34" charset="0"/>
                <a:ea typeface="Calibri" pitchFamily="34" charset="-122"/>
                <a:cs typeface="Calibri" pitchFamily="34" charset="-120"/>
              </a:rPr>
              <a:t>初年度0.21億円・10年間で1.82億円。DSCRは1.31倍から1.38倍へ改善する。</a:t>
            </a:r>
            <a:endParaRPr lang="en-US" sz="1000" dirty="0"/>
          </a:p>
        </p:txBody>
      </p:sp>
      <p:sp>
        <p:nvSpPr>
          <p:cNvPr id="12" name="Shape 10"/>
          <p:cNvSpPr/>
          <p:nvPr/>
        </p:nvSpPr>
        <p:spPr>
          <a:xfrm>
            <a:off x="6355080" y="1536192"/>
            <a:ext cx="5266944" cy="2148840"/>
          </a:xfrm>
          <a:prstGeom prst="roundRect">
            <a:avLst>
              <a:gd name="adj" fmla="val 2128"/>
            </a:avLst>
          </a:prstGeom>
          <a:solidFill>
            <a:srgbClr val="FFFFFF"/>
          </a:solidFill>
          <a:ln w="9525">
            <a:solidFill>
              <a:srgbClr val="E4DADD"/>
            </a:solidFill>
            <a:prstDash val="solid"/>
          </a:ln>
        </p:spPr>
      </p:sp>
      <p:sp>
        <p:nvSpPr>
          <p:cNvPr id="13" name="Shape 11"/>
          <p:cNvSpPr/>
          <p:nvPr/>
        </p:nvSpPr>
        <p:spPr>
          <a:xfrm>
            <a:off x="6355080" y="1536192"/>
            <a:ext cx="5266944" cy="45720"/>
          </a:xfrm>
          <a:prstGeom prst="rect">
            <a:avLst/>
          </a:prstGeom>
          <a:solidFill>
            <a:srgbClr val="A8741A"/>
          </a:solidFill>
          <a:ln/>
        </p:spPr>
      </p:sp>
      <p:sp>
        <p:nvSpPr>
          <p:cNvPr id="14" name="Shape 12"/>
          <p:cNvSpPr/>
          <p:nvPr/>
        </p:nvSpPr>
        <p:spPr>
          <a:xfrm>
            <a:off x="6574536" y="1737360"/>
            <a:ext cx="274320" cy="274320"/>
          </a:xfrm>
          <a:prstGeom prst="ellipse">
            <a:avLst/>
          </a:prstGeom>
          <a:solidFill>
            <a:srgbClr val="A8741A"/>
          </a:solidFill>
          <a:ln/>
        </p:spPr>
      </p:sp>
      <p:sp>
        <p:nvSpPr>
          <p:cNvPr id="15" name="Text 13"/>
          <p:cNvSpPr txBox="1"/>
          <p:nvPr/>
        </p:nvSpPr>
        <p:spPr>
          <a:xfrm>
            <a:off x="6574536" y="1737360"/>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t>
            </a:r>
            <a:endParaRPr lang="en-US" sz="1150" dirty="0"/>
          </a:p>
        </p:txBody>
      </p:sp>
      <p:sp>
        <p:nvSpPr>
          <p:cNvPr id="16" name="Text 14"/>
          <p:cNvSpPr txBox="1"/>
          <p:nvPr/>
        </p:nvSpPr>
        <p:spPr>
          <a:xfrm>
            <a:off x="6958584" y="1737360"/>
            <a:ext cx="4572000" cy="274320"/>
          </a:xfrm>
          <a:prstGeom prst="rect">
            <a:avLst/>
          </a:prstGeom>
          <a:noFill/>
          <a:ln/>
        </p:spPr>
        <p:txBody>
          <a:bodyPr wrap="square" lIns="0" tIns="0" rIns="0" bIns="0" rtlCol="0" anchor="ctr"/>
          <a:lstStyle/>
          <a:p>
            <a:pPr indent="0" marL="0">
              <a:buNone/>
            </a:pPr>
            <a:r>
              <a:rPr lang="en-US" sz="1500" b="1" dirty="0">
                <a:solidFill>
                  <a:srgbClr val="1F1A1C"/>
                </a:solidFill>
                <a:latin typeface="Cambria" pitchFamily="34" charset="0"/>
                <a:ea typeface="Cambria" pitchFamily="34" charset="-122"/>
                <a:cs typeface="Cambria" pitchFamily="34" charset="-120"/>
              </a:rPr>
              <a:t>取れない：資産調整勘定（税務上ののれん）</a:t>
            </a:r>
            <a:endParaRPr lang="en-US" sz="1500" dirty="0"/>
          </a:p>
        </p:txBody>
      </p:sp>
      <p:sp>
        <p:nvSpPr>
          <p:cNvPr id="17" name="Text 15"/>
          <p:cNvSpPr txBox="1"/>
          <p:nvPr/>
        </p:nvSpPr>
        <p:spPr>
          <a:xfrm>
            <a:off x="6574536" y="2139696"/>
            <a:ext cx="4846320" cy="786384"/>
          </a:xfrm>
          <a:prstGeom prst="rect">
            <a:avLst/>
          </a:prstGeom>
          <a:noFill/>
          <a:ln/>
        </p:spPr>
        <p:txBody>
          <a:bodyPr wrap="square" lIns="0" tIns="0" rIns="0" bIns="0" rtlCol="0" anchor="ctr"/>
          <a:lstStyle/>
          <a:p>
            <a:pPr indent="0" marL="0">
              <a:lnSpc>
                <a:spcPts val="1400"/>
              </a:lnSpc>
              <a:buNone/>
            </a:pPr>
            <a:r>
              <a:rPr lang="en-US" sz="1000" dirty="0">
                <a:solidFill>
                  <a:srgbClr val="1F1A1C"/>
                </a:solidFill>
                <a:latin typeface="Calibri" pitchFamily="34" charset="0"/>
                <a:ea typeface="Calibri" pitchFamily="34" charset="-122"/>
                <a:cs typeface="Calibri" pitchFamily="34" charset="-120"/>
              </a:rPr>
              <a:t>譲受代金50.0億円と時価純資産23.15億円の差額26.85億円は、税務上ののれんとして5年で損金算入できれば年5.37億円の効果を持つ。しかし資産調整勘定は非適格の組織再編または事業の譲受けにおいてのみ生じる（法人税法62条の8）。</a:t>
            </a:r>
            <a:endParaRPr lang="en-US" sz="1000" dirty="0"/>
          </a:p>
        </p:txBody>
      </p:sp>
      <p:sp>
        <p:nvSpPr>
          <p:cNvPr id="18" name="Text 16"/>
          <p:cNvSpPr txBox="1"/>
          <p:nvPr/>
        </p:nvSpPr>
        <p:spPr>
          <a:xfrm>
            <a:off x="6574536" y="2999232"/>
            <a:ext cx="4846320" cy="457200"/>
          </a:xfrm>
          <a:prstGeom prst="rect">
            <a:avLst/>
          </a:prstGeom>
          <a:noFill/>
          <a:ln/>
        </p:spPr>
        <p:txBody>
          <a:bodyPr wrap="square" lIns="0" tIns="0" rIns="0" bIns="0" rtlCol="0" anchor="ctr"/>
          <a:lstStyle/>
          <a:p>
            <a:pPr indent="0" marL="0">
              <a:lnSpc>
                <a:spcPts val="1400"/>
              </a:lnSpc>
              <a:buNone/>
            </a:pPr>
            <a:r>
              <a:rPr lang="en-US" sz="1000" dirty="0">
                <a:solidFill>
                  <a:srgbClr val="6E6368"/>
                </a:solidFill>
                <a:latin typeface="Calibri" pitchFamily="34" charset="0"/>
                <a:ea typeface="Calibri" pitchFamily="34" charset="-122"/>
                <a:cs typeface="Calibri" pitchFamily="34" charset="-120"/>
              </a:rPr>
              <a:t>本件は　</a:t>
            </a:r>
            <a:pPr indent="0" marL="0">
              <a:lnSpc>
                <a:spcPts val="1400"/>
              </a:lnSpc>
              <a:buNone/>
            </a:pPr>
            <a:r>
              <a:rPr lang="en-US" sz="1000" b="1" dirty="0">
                <a:solidFill>
                  <a:srgbClr val="A8741A"/>
                </a:solidFill>
                <a:latin typeface="Calibri" pitchFamily="34" charset="0"/>
                <a:ea typeface="Calibri" pitchFamily="34" charset="-122"/>
                <a:cs typeface="Calibri" pitchFamily="34" charset="-120"/>
              </a:rPr>
              <a:t>SPCが100%子会社化したうえでの合併＝適格合併に該当し、資産は帳簿価額で引き継がれる。したがって生じない。</a:t>
            </a:r>
            <a:endParaRPr lang="en-US" sz="1000" dirty="0"/>
          </a:p>
        </p:txBody>
      </p:sp>
      <p:sp>
        <p:nvSpPr>
          <p:cNvPr id="19" name="Text 17"/>
          <p:cNvSpPr txBox="1"/>
          <p:nvPr/>
        </p:nvSpPr>
        <p:spPr>
          <a:xfrm>
            <a:off x="566928" y="3877056"/>
            <a:ext cx="54864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DSCRの内訳</a:t>
            </a:r>
            <a:endParaRPr lang="en-US" sz="13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4187952"/>
          <a:ext cx="11055096" cy="914400"/>
        </p:xfrm>
        <a:graphic>
          <a:graphicData uri="http://schemas.openxmlformats.org/drawingml/2006/table">
            <a:tbl>
              <a:tblPr/>
              <a:tblGrid>
                <a:gridCol w="2651760"/>
                <a:gridCol w="1600200"/>
                <a:gridCol w="6803136"/>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項目</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初年度DSCR</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内容</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84048">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当初モデル</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1.34倍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FCF 3.50億円（営業利益×(1−実効税率34%)）を返済原資とし、税効果も設備投資も織り込まない</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00" dirty="0">
                          <a:solidFill>
                            <a:srgbClr val="2E6F4E"/>
                          </a:solidFill>
                          <a:latin typeface="Calibri" pitchFamily="34" charset="0"/>
                          <a:ea typeface="Calibri" pitchFamily="34" charset="-122"/>
                          <a:cs typeface="Calibri" pitchFamily="34" charset="-120"/>
                        </a:rPr>
                        <a:t>＋ 支払利息の損金算入</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＋0.08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合併により支払利息0.75億円が損金となり、法人税が年0.21億円減少する</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00" dirty="0">
                          <a:solidFill>
                            <a:srgbClr val="A8741A"/>
                          </a:solidFill>
                          <a:latin typeface="Calibri" pitchFamily="34" charset="0"/>
                          <a:ea typeface="Calibri" pitchFamily="34" charset="-122"/>
                          <a:cs typeface="Calibri" pitchFamily="34" charset="-120"/>
                        </a:rPr>
                        <a:t>△ 維持更新投資の計上</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A8741A"/>
                          </a:solidFill>
                          <a:latin typeface="Calibri" pitchFamily="34" charset="0"/>
                          <a:ea typeface="Calibri" pitchFamily="34" charset="-122"/>
                          <a:cs typeface="Calibri" pitchFamily="34" charset="-120"/>
                        </a:rPr>
                        <a:t>△0.11</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開示資料は設備投資ゼロだが、店舗の経年を踏まえ年0.30億円を保守的に見込んだ</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当社が採用する前提</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1.38倍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借入25.0億円・10年・金利3%。資産調整勘定は織り込まない</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bl>
          </a:graphicData>
        </a:graphic>
      </p:graphicFrame>
      <p:sp>
        <p:nvSpPr>
          <p:cNvPr id="21" name="Text 18"/>
          <p:cNvSpPr txBox="1"/>
          <p:nvPr/>
        </p:nvSpPr>
        <p:spPr>
          <a:xfrm>
            <a:off x="566928" y="6181344"/>
            <a:ext cx="11055096" cy="274320"/>
          </a:xfrm>
          <a:prstGeom prst="rect">
            <a:avLst/>
          </a:prstGeom>
          <a:noFill/>
          <a:ln/>
        </p:spPr>
        <p:txBody>
          <a:bodyPr wrap="square" lIns="0" tIns="0" rIns="0" bIns="0" rtlCol="0" anchor="ctr"/>
          <a:lstStyle/>
          <a:p>
            <a:pPr indent="0" marL="0">
              <a:lnSpc>
                <a:spcPts val="1200"/>
              </a:lnSpc>
              <a:buNone/>
            </a:pPr>
            <a:r>
              <a:rPr lang="en-US" sz="900" dirty="0">
                <a:solidFill>
                  <a:srgbClr val="6E6368"/>
                </a:solidFill>
                <a:latin typeface="Calibri" pitchFamily="34" charset="0"/>
                <a:ea typeface="Calibri" pitchFamily="34" charset="-122"/>
                <a:cs typeface="Calibri" pitchFamily="34" charset="-120"/>
              </a:rPr>
              <a:t>※ 事業譲渡型とすれば資産調整勘定を計上できるが、売主に多額の譲渡益課税が生じ、飲食店営業許可の再取得と全取引契約の再締結を要するため、本件では採用しない。仮に計上できた場合、初年度DSCRは2.03倍となる。</a:t>
            </a:r>
            <a:endParaRPr lang="en-US" sz="900" dirty="0"/>
          </a:p>
        </p:txBody>
      </p:sp>
      <p:sp>
        <p:nvSpPr>
          <p:cNvPr id="22" name="Text 19"/>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3" name="Text 20"/>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FUNDING PROPOSAL</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ご相談 ― 総額を変えずに、ブリッジを恒久ローンへ</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みずほ銀行様への総ご相談額41.4億円は案1と案2で変わらない。内訳を組み替えるだけで、DSCRと対象会社の手元資金がともに改善する。</a:t>
            </a:r>
            <a:endParaRPr lang="en-US" sz="12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5096" cy="914400"/>
        </p:xfrm>
        <a:graphic>
          <a:graphicData uri="http://schemas.openxmlformats.org/drawingml/2006/table">
            <a:tbl>
              <a:tblPr/>
              <a:tblGrid>
                <a:gridCol w="3154680"/>
                <a:gridCol w="2633472"/>
                <a:gridCol w="2633472"/>
                <a:gridCol w="2633472"/>
              </a:tblGrid>
              <a:tr h="27432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案1　当初案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案2　ご相談したい案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案3　55億円で決着した場合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27432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恒久タームローン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20.0億円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25.0億円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30.0億円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　返済期間</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7年</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10年</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10年</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　内訳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50" dirty="0">
                          <a:solidFill>
                            <a:srgbClr val="1F1A1C"/>
                          </a:solidFill>
                          <a:latin typeface="Calibri" pitchFamily="34" charset="0"/>
                          <a:ea typeface="Calibri" pitchFamily="34" charset="-122"/>
                          <a:cs typeface="Calibri" pitchFamily="34" charset="-120"/>
                        </a:rPr>
                        <a:t>TLA14.0／TLB6.0</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50" dirty="0">
                          <a:solidFill>
                            <a:srgbClr val="1F1A1C"/>
                          </a:solidFill>
                          <a:latin typeface="Calibri" pitchFamily="34" charset="0"/>
                          <a:ea typeface="Calibri" pitchFamily="34" charset="-122"/>
                          <a:cs typeface="Calibri" pitchFamily="34" charset="-120"/>
                        </a:rPr>
                        <a:t>TLA17.5／TLB7.5</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50" dirty="0">
                          <a:solidFill>
                            <a:srgbClr val="1F1A1C"/>
                          </a:solidFill>
                          <a:latin typeface="Calibri" pitchFamily="34" charset="0"/>
                          <a:ea typeface="Calibri" pitchFamily="34" charset="-122"/>
                          <a:cs typeface="Calibri" pitchFamily="34" charset="-120"/>
                        </a:rPr>
                        <a:t>TLA19.5／TLB10.5</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ブリッジローン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21.4億円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16.4億円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16.4億円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総ご相談額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41.4億円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6D2E46"/>
                          </a:solidFill>
                          <a:latin typeface="Calibri" pitchFamily="34" charset="0"/>
                          <a:ea typeface="Calibri" pitchFamily="34" charset="-122"/>
                          <a:cs typeface="Calibri" pitchFamily="34" charset="-120"/>
                        </a:rPr>
                        <a:t>41.4億円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c>
                  <a:txBody>
                    <a:bodyPr/>
                    <a:lstStyle/>
                    <a:p>
                      <a:pPr algn="r" indent="0" marL="0">
                        <a:buNone/>
                      </a:pPr>
                      <a:r>
                        <a:rPr lang="en-US" sz="1000" b="1" dirty="0">
                          <a:solidFill>
                            <a:srgbClr val="1F1A1C"/>
                          </a:solidFill>
                          <a:latin typeface="Calibri" pitchFamily="34" charset="0"/>
                          <a:ea typeface="Calibri" pitchFamily="34" charset="-122"/>
                          <a:cs typeface="Calibri" pitchFamily="34" charset="-120"/>
                        </a:rPr>
                        <a:t>46.4億円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F7F3F4"/>
                    </a:solidFill>
                  </a:tcPr>
                </a:tc>
              </a:tr>
              <a:tr h="27432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初年度DSCR</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1.31倍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2E6F4E"/>
                          </a:solidFill>
                          <a:latin typeface="Calibri" pitchFamily="34" charset="0"/>
                          <a:ea typeface="Calibri" pitchFamily="34" charset="-122"/>
                          <a:cs typeface="Calibri" pitchFamily="34" charset="-120"/>
                        </a:rPr>
                        <a:t>1.38倍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1.23倍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Debt／EBITDA</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3.78倍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4.73倍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5.67倍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対象会社に留保する現金</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A8741A"/>
                          </a:solidFill>
                          <a:latin typeface="Calibri" pitchFamily="34" charset="0"/>
                          <a:ea typeface="Calibri" pitchFamily="34" charset="-122"/>
                          <a:cs typeface="Calibri" pitchFamily="34" charset="-120"/>
                        </a:rPr>
                        <a:t>1.0億円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2E6F4E"/>
                          </a:solidFill>
                          <a:latin typeface="Calibri" pitchFamily="34" charset="0"/>
                          <a:ea typeface="Calibri" pitchFamily="34" charset="-122"/>
                          <a:cs typeface="Calibri" pitchFamily="34" charset="-120"/>
                        </a:rPr>
                        <a:t>6.0億円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6.0億円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初年度末の現金残高</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A8741A"/>
                          </a:solidFill>
                          <a:latin typeface="Calibri" pitchFamily="34" charset="0"/>
                          <a:ea typeface="Calibri" pitchFamily="34" charset="-122"/>
                          <a:cs typeface="Calibri" pitchFamily="34" charset="-120"/>
                        </a:rPr>
                        <a:t>0.66億円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5.81億円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5.81億円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完済時の現金残高</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A8741A"/>
                          </a:solidFill>
                          <a:latin typeface="Calibri" pitchFamily="34" charset="0"/>
                          <a:ea typeface="Calibri" pitchFamily="34" charset="-122"/>
                          <a:cs typeface="Calibri" pitchFamily="34" charset="-120"/>
                        </a:rPr>
                        <a:t>0.28億円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2E6F4E"/>
                          </a:solidFill>
                          <a:latin typeface="Calibri" pitchFamily="34" charset="0"/>
                          <a:ea typeface="Calibri" pitchFamily="34" charset="-122"/>
                          <a:cs typeface="Calibri" pitchFamily="34" charset="-120"/>
                        </a:rPr>
                        <a:t>8.42億円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2.61億円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中野氏の拠出</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0.07億円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0.07億円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0.07億円</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274320">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追加投資家の要否</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950" b="1" dirty="0">
                          <a:solidFill>
                            <a:srgbClr val="2E6F4E"/>
                          </a:solidFill>
                          <a:latin typeface="Calibri" pitchFamily="34" charset="0"/>
                          <a:ea typeface="Calibri" pitchFamily="34" charset="-122"/>
                          <a:cs typeface="Calibri" pitchFamily="34" charset="-120"/>
                        </a:rPr>
                        <a:t>不要（案2＋5.0億円で対応）</a:t>
                      </a:r>
                      <a:endParaRPr lang="en-US" sz="9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Shape 3"/>
          <p:cNvSpPr/>
          <p:nvPr/>
        </p:nvSpPr>
        <p:spPr>
          <a:xfrm>
            <a:off x="566928" y="5340096"/>
            <a:ext cx="3520440" cy="896112"/>
          </a:xfrm>
          <a:prstGeom prst="roundRect">
            <a:avLst>
              <a:gd name="adj" fmla="val 5102"/>
            </a:avLst>
          </a:prstGeom>
          <a:solidFill>
            <a:srgbClr val="F7F3F4"/>
          </a:solidFill>
          <a:ln w="9525">
            <a:solidFill>
              <a:srgbClr val="E4DADD"/>
            </a:solidFill>
            <a:prstDash val="solid"/>
          </a:ln>
        </p:spPr>
      </p:sp>
      <p:sp>
        <p:nvSpPr>
          <p:cNvPr id="7" name="Text 4"/>
          <p:cNvSpPr txBox="1"/>
          <p:nvPr/>
        </p:nvSpPr>
        <p:spPr>
          <a:xfrm>
            <a:off x="768096" y="5422392"/>
            <a:ext cx="3127248"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なぜ総額が変わらないのか</a:t>
            </a:r>
            <a:endParaRPr lang="en-US" sz="1050" dirty="0"/>
          </a:p>
        </p:txBody>
      </p:sp>
      <p:sp>
        <p:nvSpPr>
          <p:cNvPr id="8" name="Text 5"/>
          <p:cNvSpPr txBox="1"/>
          <p:nvPr/>
        </p:nvSpPr>
        <p:spPr>
          <a:xfrm>
            <a:off x="768096" y="5660136"/>
            <a:ext cx="3127248" cy="530352"/>
          </a:xfrm>
          <a:prstGeom prst="rect">
            <a:avLst/>
          </a:prstGeom>
          <a:noFill/>
          <a:ln/>
        </p:spPr>
        <p:txBody>
          <a:bodyPr wrap="square" lIns="0" tIns="0" rIns="0" bIns="0" rtlCol="0" anchor="ctr"/>
          <a:lstStyle/>
          <a:p>
            <a:pPr indent="0" marL="0">
              <a:lnSpc>
                <a:spcPts val="1050"/>
              </a:lnSpc>
              <a:buNone/>
            </a:pPr>
            <a:r>
              <a:rPr lang="en-US" sz="800" dirty="0">
                <a:solidFill>
                  <a:srgbClr val="1F1A1C"/>
                </a:solidFill>
                <a:latin typeface="Calibri" pitchFamily="34" charset="0"/>
                <a:ea typeface="Calibri" pitchFamily="34" charset="-122"/>
                <a:cs typeface="Calibri" pitchFamily="34" charset="-120"/>
              </a:rPr>
              <a:t>ブリッジローンは、対象会社の現預金を買収後にしか使えないために生じる一時的な立替えである。恒久ローンを5.0億円増やせば、その分ブリッジが5.0億円減る。みずほ銀行様のエクスポージャーは41.4億円のまま変わらない。</a:t>
            </a:r>
            <a:endParaRPr lang="en-US" sz="800" dirty="0"/>
          </a:p>
        </p:txBody>
      </p:sp>
      <p:sp>
        <p:nvSpPr>
          <p:cNvPr id="9" name="Shape 6"/>
          <p:cNvSpPr/>
          <p:nvPr/>
        </p:nvSpPr>
        <p:spPr>
          <a:xfrm>
            <a:off x="4297680" y="5340096"/>
            <a:ext cx="3520440" cy="896112"/>
          </a:xfrm>
          <a:prstGeom prst="roundRect">
            <a:avLst>
              <a:gd name="adj" fmla="val 5102"/>
            </a:avLst>
          </a:prstGeom>
          <a:solidFill>
            <a:srgbClr val="F7F3F4"/>
          </a:solidFill>
          <a:ln w="9525">
            <a:solidFill>
              <a:srgbClr val="E4DADD"/>
            </a:solidFill>
            <a:prstDash val="solid"/>
          </a:ln>
        </p:spPr>
      </p:sp>
      <p:sp>
        <p:nvSpPr>
          <p:cNvPr id="10" name="Text 7"/>
          <p:cNvSpPr txBox="1"/>
          <p:nvPr/>
        </p:nvSpPr>
        <p:spPr>
          <a:xfrm>
            <a:off x="4498848" y="5422392"/>
            <a:ext cx="3127248"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なぜDSCRが上がるのか</a:t>
            </a:r>
            <a:endParaRPr lang="en-US" sz="1050" dirty="0"/>
          </a:p>
        </p:txBody>
      </p:sp>
      <p:sp>
        <p:nvSpPr>
          <p:cNvPr id="11" name="Text 8"/>
          <p:cNvSpPr txBox="1"/>
          <p:nvPr/>
        </p:nvSpPr>
        <p:spPr>
          <a:xfrm>
            <a:off x="4498848" y="5660136"/>
            <a:ext cx="3127248" cy="530352"/>
          </a:xfrm>
          <a:prstGeom prst="rect">
            <a:avLst/>
          </a:prstGeom>
          <a:noFill/>
          <a:ln/>
        </p:spPr>
        <p:txBody>
          <a:bodyPr wrap="square" lIns="0" tIns="0" rIns="0" bIns="0" rtlCol="0" anchor="ctr"/>
          <a:lstStyle/>
          <a:p>
            <a:pPr indent="0" marL="0">
              <a:lnSpc>
                <a:spcPts val="1050"/>
              </a:lnSpc>
              <a:buNone/>
            </a:pPr>
            <a:r>
              <a:rPr lang="en-US" sz="800" dirty="0">
                <a:solidFill>
                  <a:srgbClr val="1F1A1C"/>
                </a:solidFill>
                <a:latin typeface="Calibri" pitchFamily="34" charset="0"/>
                <a:ea typeface="Calibri" pitchFamily="34" charset="-122"/>
                <a:cs typeface="Calibri" pitchFamily="34" charset="-120"/>
              </a:rPr>
              <a:t>借入額は5.0億円増えるが、返済期間が7年から10年に延びるため、年間の元本返済は2.00億円から1.75億円へ減少する。増加する利息0.15億円を差し引いても、返済負担は年0.10億円軽くなる。</a:t>
            </a:r>
            <a:endParaRPr lang="en-US" sz="800" dirty="0"/>
          </a:p>
        </p:txBody>
      </p:sp>
      <p:sp>
        <p:nvSpPr>
          <p:cNvPr id="12" name="Shape 9"/>
          <p:cNvSpPr/>
          <p:nvPr/>
        </p:nvSpPr>
        <p:spPr>
          <a:xfrm>
            <a:off x="8028432" y="5340096"/>
            <a:ext cx="3520440" cy="896112"/>
          </a:xfrm>
          <a:prstGeom prst="roundRect">
            <a:avLst>
              <a:gd name="adj" fmla="val 5102"/>
            </a:avLst>
          </a:prstGeom>
          <a:solidFill>
            <a:srgbClr val="F7F3F4"/>
          </a:solidFill>
          <a:ln w="9525">
            <a:solidFill>
              <a:srgbClr val="E4DADD"/>
            </a:solidFill>
            <a:prstDash val="solid"/>
          </a:ln>
        </p:spPr>
      </p:sp>
      <p:sp>
        <p:nvSpPr>
          <p:cNvPr id="13" name="Text 10"/>
          <p:cNvSpPr txBox="1"/>
          <p:nvPr/>
        </p:nvSpPr>
        <p:spPr>
          <a:xfrm>
            <a:off x="8229600" y="5422392"/>
            <a:ext cx="3127248"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なぜ対象会社の手元が厚くなるのか</a:t>
            </a:r>
            <a:endParaRPr lang="en-US" sz="1050" dirty="0"/>
          </a:p>
        </p:txBody>
      </p:sp>
      <p:sp>
        <p:nvSpPr>
          <p:cNvPr id="14" name="Text 11"/>
          <p:cNvSpPr txBox="1"/>
          <p:nvPr/>
        </p:nvSpPr>
        <p:spPr>
          <a:xfrm>
            <a:off x="8229600" y="5660136"/>
            <a:ext cx="3127248" cy="530352"/>
          </a:xfrm>
          <a:prstGeom prst="rect">
            <a:avLst/>
          </a:prstGeom>
          <a:noFill/>
          <a:ln/>
        </p:spPr>
        <p:txBody>
          <a:bodyPr wrap="square" lIns="0" tIns="0" rIns="0" bIns="0" rtlCol="0" anchor="ctr"/>
          <a:lstStyle/>
          <a:p>
            <a:pPr indent="0" marL="0">
              <a:lnSpc>
                <a:spcPts val="1050"/>
              </a:lnSpc>
              <a:buNone/>
            </a:pPr>
            <a:r>
              <a:rPr lang="en-US" sz="800" dirty="0">
                <a:solidFill>
                  <a:srgbClr val="1F1A1C"/>
                </a:solidFill>
                <a:latin typeface="Calibri" pitchFamily="34" charset="0"/>
                <a:ea typeface="Calibri" pitchFamily="34" charset="-122"/>
                <a:cs typeface="Calibri" pitchFamily="34" charset="-120"/>
              </a:rPr>
              <a:t>案1では買収時に対象会社の現金をほぼ全額引き上げるため、初年度2月末の残高は0.19億円（固定費1.0か月分）まで落ちる。案2では6.0億円を残せるため、突発的な修繕やワインの一括仕入にも対応できる。</a:t>
            </a:r>
            <a:endParaRPr lang="en-US" sz="800" dirty="0"/>
          </a:p>
        </p:txBody>
      </p:sp>
      <p:sp>
        <p:nvSpPr>
          <p:cNvPr id="15" name="Text 12"/>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16" name="Text 13"/>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CHECK B ③　ストレス耐性と保全</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収益が悪化した場合の返済可能性と、ご提案できる保全</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推奨ストラクチャー（TLA 14.0億円＋TLB 6.0億円／7年・金利3%・毎月返済）に対し、4つのシナリオで返済可能性を検証した。</a:t>
            </a:r>
            <a:endParaRPr lang="en-US" sz="12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5096" cy="914400"/>
        </p:xfrm>
        <a:graphic>
          <a:graphicData uri="http://schemas.openxmlformats.org/drawingml/2006/table">
            <a:tbl>
              <a:tblPr/>
              <a:tblGrid>
                <a:gridCol w="2834640"/>
                <a:gridCol w="1097280"/>
                <a:gridCol w="1371600"/>
                <a:gridCol w="5751576"/>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シナリオ</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FCF</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DSCR</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7年間の返済可能性</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平常時</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3.50億</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2E6F4E"/>
                          </a:solidFill>
                          <a:latin typeface="Calibri" pitchFamily="34" charset="0"/>
                          <a:ea typeface="Calibri" pitchFamily="34" charset="-122"/>
                          <a:cs typeface="Calibri" pitchFamily="34" charset="-120"/>
                        </a:rPr>
                        <a:t>1.36〜1.58</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全期間で1.36以上。累積余剰7.75億円で期限一括6.00億円も完済できる</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営業利益▲21%（p.19 ブレークイーブン）</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2.76億</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2E6F4E"/>
                          </a:solidFill>
                          <a:latin typeface="Calibri" pitchFamily="34" charset="0"/>
                          <a:ea typeface="Calibri" pitchFamily="34" charset="-122"/>
                          <a:cs typeface="Calibri" pitchFamily="34" charset="-120"/>
                        </a:rPr>
                        <a:t>1.07〜1.25</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元利返済は全期間で継続できる。累積余剰2.57億円のため、期限一括6.00億円はリファイナンスを要する</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二つ星降格（4年目以降）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2.00億</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A8741A"/>
                          </a:solidFill>
                          <a:latin typeface="Calibri" pitchFamily="34" charset="0"/>
                          <a:ea typeface="Calibri" pitchFamily="34" charset="-122"/>
                          <a:cs typeface="Calibri" pitchFamily="34" charset="-120"/>
                        </a:rPr>
                        <a:t>0.84〜1.43</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4〜7年の累積不足1.21億円は、3年目末までの累積余剰2.96億円で吸収できる。期限一括分はリファイナンスを要する</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星喪失（4年目以降）</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dirty="0">
                          <a:solidFill>
                            <a:srgbClr val="1F1A1C"/>
                          </a:solidFill>
                          <a:latin typeface="Calibri" pitchFamily="34" charset="0"/>
                          <a:ea typeface="Calibri" pitchFamily="34" charset="-122"/>
                          <a:cs typeface="Calibri" pitchFamily="34" charset="-120"/>
                        </a:rPr>
                        <a:t>1.00億</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algn="r" indent="0" marL="0">
                        <a:buNone/>
                      </a:pPr>
                      <a:r>
                        <a:rPr lang="en-US" sz="1000" b="1" dirty="0">
                          <a:solidFill>
                            <a:srgbClr val="9B2C2C"/>
                          </a:solidFill>
                          <a:latin typeface="Calibri" pitchFamily="34" charset="0"/>
                          <a:ea typeface="Calibri" pitchFamily="34" charset="-122"/>
                          <a:cs typeface="Calibri" pitchFamily="34" charset="-120"/>
                        </a:rPr>
                        <a:t>0.42〜1.43</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累積不足5.21億円。3年目末の余剰2.96億円と留保現金1.00億円では不足し、追加の支援を要する</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6" name="Shape 3"/>
          <p:cNvSpPr/>
          <p:nvPr/>
        </p:nvSpPr>
        <p:spPr>
          <a:xfrm>
            <a:off x="566928" y="4133088"/>
            <a:ext cx="5440680" cy="1444752"/>
          </a:xfrm>
          <a:prstGeom prst="roundRect">
            <a:avLst>
              <a:gd name="adj" fmla="val 3165"/>
            </a:avLst>
          </a:prstGeom>
          <a:solidFill>
            <a:srgbClr val="F7F3F4"/>
          </a:solidFill>
          <a:ln w="9525">
            <a:solidFill>
              <a:srgbClr val="E4DADD"/>
            </a:solidFill>
            <a:prstDash val="solid"/>
          </a:ln>
        </p:spPr>
      </p:sp>
      <p:sp>
        <p:nvSpPr>
          <p:cNvPr id="7" name="Text 4"/>
          <p:cNvSpPr txBox="1"/>
          <p:nvPr/>
        </p:nvSpPr>
        <p:spPr>
          <a:xfrm>
            <a:off x="786384" y="4242816"/>
            <a:ext cx="274320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ネットレバレッジ</a:t>
            </a:r>
            <a:endParaRPr lang="en-US" sz="950" dirty="0"/>
          </a:p>
        </p:txBody>
      </p:sp>
      <p:sp>
        <p:nvSpPr>
          <p:cNvPr id="8" name="Text 5"/>
          <p:cNvSpPr txBox="1"/>
          <p:nvPr/>
        </p:nvSpPr>
        <p:spPr>
          <a:xfrm>
            <a:off x="786384" y="4480560"/>
            <a:ext cx="3017520" cy="237744"/>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有利子負債（合併後）</a:t>
            </a:r>
            <a:endParaRPr lang="en-US" sz="1000" dirty="0"/>
          </a:p>
        </p:txBody>
      </p:sp>
      <p:sp>
        <p:nvSpPr>
          <p:cNvPr id="9" name="Text 6"/>
          <p:cNvSpPr txBox="1"/>
          <p:nvPr/>
        </p:nvSpPr>
        <p:spPr>
          <a:xfrm>
            <a:off x="3813048" y="4480560"/>
            <a:ext cx="2011680" cy="237744"/>
          </a:xfrm>
          <a:prstGeom prst="rect">
            <a:avLst/>
          </a:prstGeom>
          <a:noFill/>
          <a:ln/>
        </p:spPr>
        <p:txBody>
          <a:bodyPr wrap="square" lIns="0" tIns="0" rIns="0" bIns="0" rtlCol="0" anchor="ctr"/>
          <a:lstStyle/>
          <a:p>
            <a:pPr algn="r" indent="0" marL="0">
              <a:buNone/>
            </a:pPr>
            <a:r>
              <a:rPr lang="en-US" sz="1000" dirty="0">
                <a:solidFill>
                  <a:srgbClr val="1F1A1C"/>
                </a:solidFill>
                <a:latin typeface="Calibri" pitchFamily="34" charset="0"/>
                <a:ea typeface="Calibri" pitchFamily="34" charset="-122"/>
                <a:cs typeface="Calibri" pitchFamily="34" charset="-120"/>
              </a:rPr>
              <a:t>20.00億円</a:t>
            </a:r>
            <a:endParaRPr lang="en-US" sz="1000" dirty="0"/>
          </a:p>
        </p:txBody>
      </p:sp>
      <p:sp>
        <p:nvSpPr>
          <p:cNvPr id="10" name="Text 7"/>
          <p:cNvSpPr txBox="1"/>
          <p:nvPr/>
        </p:nvSpPr>
        <p:spPr>
          <a:xfrm>
            <a:off x="786384" y="4754880"/>
            <a:ext cx="3017520" cy="237744"/>
          </a:xfrm>
          <a:prstGeom prst="rect">
            <a:avLst/>
          </a:prstGeom>
          <a:noFill/>
          <a:ln/>
        </p:spPr>
        <p:txBody>
          <a:bodyPr wrap="square" lIns="0" tIns="0" rIns="0" bIns="0" rtlCol="0" anchor="ctr"/>
          <a:lstStyle/>
          <a:p>
            <a:pPr indent="0" marL="0">
              <a:buNone/>
            </a:pPr>
            <a:r>
              <a:rPr lang="en-US" sz="1000" dirty="0">
                <a:solidFill>
                  <a:srgbClr val="1F1A1C"/>
                </a:solidFill>
                <a:latin typeface="Calibri" pitchFamily="34" charset="0"/>
                <a:ea typeface="Calibri" pitchFamily="34" charset="-122"/>
                <a:cs typeface="Calibri" pitchFamily="34" charset="-120"/>
              </a:rPr>
              <a:t>− 対象会社に留保する現預金</a:t>
            </a:r>
            <a:endParaRPr lang="en-US" sz="1000" dirty="0"/>
          </a:p>
        </p:txBody>
      </p:sp>
      <p:sp>
        <p:nvSpPr>
          <p:cNvPr id="11" name="Text 8"/>
          <p:cNvSpPr txBox="1"/>
          <p:nvPr/>
        </p:nvSpPr>
        <p:spPr>
          <a:xfrm>
            <a:off x="3813048" y="4754880"/>
            <a:ext cx="2011680" cy="237744"/>
          </a:xfrm>
          <a:prstGeom prst="rect">
            <a:avLst/>
          </a:prstGeom>
          <a:noFill/>
          <a:ln/>
        </p:spPr>
        <p:txBody>
          <a:bodyPr wrap="square" lIns="0" tIns="0" rIns="0" bIns="0" rtlCol="0" anchor="ctr"/>
          <a:lstStyle/>
          <a:p>
            <a:pPr algn="r" indent="0" marL="0">
              <a:buNone/>
            </a:pPr>
            <a:r>
              <a:rPr lang="en-US" sz="1000" dirty="0">
                <a:solidFill>
                  <a:srgbClr val="1F1A1C"/>
                </a:solidFill>
                <a:latin typeface="Calibri" pitchFamily="34" charset="0"/>
                <a:ea typeface="Calibri" pitchFamily="34" charset="-122"/>
                <a:cs typeface="Calibri" pitchFamily="34" charset="-120"/>
              </a:rPr>
              <a:t>1.00億円</a:t>
            </a:r>
            <a:endParaRPr lang="en-US" sz="1000" dirty="0"/>
          </a:p>
        </p:txBody>
      </p:sp>
      <p:sp>
        <p:nvSpPr>
          <p:cNvPr id="12" name="Text 9"/>
          <p:cNvSpPr txBox="1"/>
          <p:nvPr/>
        </p:nvSpPr>
        <p:spPr>
          <a:xfrm>
            <a:off x="786384" y="5029200"/>
            <a:ext cx="3017520" cy="237744"/>
          </a:xfrm>
          <a:prstGeom prst="rect">
            <a:avLst/>
          </a:prstGeom>
          <a:noFill/>
          <a:ln/>
        </p:spPr>
        <p:txBody>
          <a:bodyPr wrap="square" lIns="0" tIns="0" rIns="0" bIns="0" rtlCol="0" anchor="ctr"/>
          <a:lstStyle/>
          <a:p>
            <a:pPr indent="0" marL="0">
              <a:buNone/>
            </a:pPr>
            <a:r>
              <a:rPr lang="en-US" sz="1100" b="1" dirty="0">
                <a:solidFill>
                  <a:srgbClr val="6D2E46"/>
                </a:solidFill>
                <a:latin typeface="Calibri" pitchFamily="34" charset="0"/>
                <a:ea typeface="Calibri" pitchFamily="34" charset="-122"/>
                <a:cs typeface="Calibri" pitchFamily="34" charset="-120"/>
              </a:rPr>
              <a:t>＝ 連結ネットデット</a:t>
            </a:r>
            <a:endParaRPr lang="en-US" sz="1100" dirty="0"/>
          </a:p>
        </p:txBody>
      </p:sp>
      <p:sp>
        <p:nvSpPr>
          <p:cNvPr id="13" name="Text 10"/>
          <p:cNvSpPr txBox="1"/>
          <p:nvPr/>
        </p:nvSpPr>
        <p:spPr>
          <a:xfrm>
            <a:off x="3813048" y="5029200"/>
            <a:ext cx="2011680" cy="237744"/>
          </a:xfrm>
          <a:prstGeom prst="rect">
            <a:avLst/>
          </a:prstGeom>
          <a:noFill/>
          <a:ln/>
        </p:spPr>
        <p:txBody>
          <a:bodyPr wrap="square" lIns="0" tIns="0" rIns="0" bIns="0" rtlCol="0" anchor="ctr"/>
          <a:lstStyle/>
          <a:p>
            <a:pPr algn="r" indent="0" marL="0">
              <a:buNone/>
            </a:pPr>
            <a:r>
              <a:rPr lang="en-US" sz="1100" b="1" dirty="0">
                <a:solidFill>
                  <a:srgbClr val="6D2E46"/>
                </a:solidFill>
                <a:latin typeface="Calibri" pitchFamily="34" charset="0"/>
                <a:ea typeface="Calibri" pitchFamily="34" charset="-122"/>
                <a:cs typeface="Calibri" pitchFamily="34" charset="-120"/>
              </a:rPr>
              <a:t>19.00億円（3.6倍）</a:t>
            </a:r>
            <a:endParaRPr lang="en-US" sz="1100" dirty="0"/>
          </a:p>
        </p:txBody>
      </p:sp>
      <p:sp>
        <p:nvSpPr>
          <p:cNvPr id="14" name="Text 11"/>
          <p:cNvSpPr txBox="1"/>
          <p:nvPr/>
        </p:nvSpPr>
        <p:spPr>
          <a:xfrm>
            <a:off x="786384" y="5321808"/>
            <a:ext cx="4983480" cy="219456"/>
          </a:xfrm>
          <a:prstGeom prst="rect">
            <a:avLst/>
          </a:prstGeom>
          <a:noFill/>
          <a:ln/>
        </p:spPr>
        <p:txBody>
          <a:bodyPr wrap="square" lIns="0" tIns="0" rIns="0" bIns="0" rtlCol="0" anchor="ctr"/>
          <a:lstStyle/>
          <a:p>
            <a:pPr indent="0" marL="0">
              <a:buNone/>
            </a:pPr>
            <a:r>
              <a:rPr lang="en-US" sz="950" dirty="0">
                <a:solidFill>
                  <a:srgbClr val="6E6368"/>
                </a:solidFill>
                <a:latin typeface="Calibri" pitchFamily="34" charset="0"/>
                <a:ea typeface="Calibri" pitchFamily="34" charset="-122"/>
                <a:cs typeface="Calibri" pitchFamily="34" charset="-120"/>
              </a:rPr>
              <a:t>ブリッジローン21.43億円は合併直後に全額返済される。</a:t>
            </a:r>
            <a:endParaRPr lang="en-US" sz="950" dirty="0"/>
          </a:p>
        </p:txBody>
      </p:sp>
      <p:sp>
        <p:nvSpPr>
          <p:cNvPr id="15" name="Shape 12"/>
          <p:cNvSpPr/>
          <p:nvPr/>
        </p:nvSpPr>
        <p:spPr>
          <a:xfrm>
            <a:off x="6199632" y="4133088"/>
            <a:ext cx="5422392" cy="1444752"/>
          </a:xfrm>
          <a:prstGeom prst="roundRect">
            <a:avLst>
              <a:gd name="adj" fmla="val 3165"/>
            </a:avLst>
          </a:prstGeom>
          <a:solidFill>
            <a:srgbClr val="FFFFFF"/>
          </a:solidFill>
          <a:ln w="9525">
            <a:solidFill>
              <a:srgbClr val="E4DADD"/>
            </a:solidFill>
            <a:prstDash val="solid"/>
          </a:ln>
        </p:spPr>
      </p:sp>
      <p:sp>
        <p:nvSpPr>
          <p:cNvPr id="16" name="Text 13"/>
          <p:cNvSpPr txBox="1"/>
          <p:nvPr/>
        </p:nvSpPr>
        <p:spPr>
          <a:xfrm>
            <a:off x="6419088" y="4242816"/>
            <a:ext cx="3657600" cy="219456"/>
          </a:xfrm>
          <a:prstGeom prst="rect">
            <a:avLst/>
          </a:prstGeom>
          <a:noFill/>
          <a:ln/>
        </p:spPr>
        <p:txBody>
          <a:bodyPr wrap="square" lIns="0" tIns="0" rIns="0" bIns="0" rtlCol="0" anchor="ctr"/>
          <a:lstStyle/>
          <a:p>
            <a:pPr indent="0" marL="0">
              <a:buNone/>
            </a:pPr>
            <a:r>
              <a:rPr lang="en-US" sz="950" b="1" dirty="0">
                <a:solidFill>
                  <a:srgbClr val="B58B2A"/>
                </a:solidFill>
                <a:latin typeface="Calibri" pitchFamily="34" charset="0"/>
                <a:ea typeface="Calibri" pitchFamily="34" charset="-122"/>
                <a:cs typeface="Calibri" pitchFamily="34" charset="-120"/>
              </a:rPr>
              <a:t>保全・コベナンツ案（ご提案）</a:t>
            </a:r>
            <a:endParaRPr lang="en-US" sz="950" dirty="0"/>
          </a:p>
        </p:txBody>
      </p:sp>
      <p:sp>
        <p:nvSpPr>
          <p:cNvPr id="17" name="Text 14"/>
          <p:cNvSpPr txBox="1"/>
          <p:nvPr/>
        </p:nvSpPr>
        <p:spPr>
          <a:xfrm>
            <a:off x="6419088" y="4480560"/>
            <a:ext cx="4983480" cy="1060704"/>
          </a:xfrm>
          <a:prstGeom prst="rect">
            <a:avLst/>
          </a:prstGeom>
          <a:noFill/>
          <a:ln/>
        </p:spPr>
        <p:txBody>
          <a:bodyPr wrap="square" lIns="0" tIns="0" rIns="0" bIns="0" rtlCol="0" anchor="ctr"/>
          <a:lstStyle/>
          <a:p>
            <a:pPr indent="0" marL="0">
              <a:lnSpc>
                <a:spcPts val="1250"/>
              </a:lnSpc>
              <a:buNone/>
            </a:pPr>
            <a:r>
              <a:rPr lang="en-US" sz="900" dirty="0">
                <a:solidFill>
                  <a:srgbClr val="1F1A1C"/>
                </a:solidFill>
                <a:latin typeface="Calibri" pitchFamily="34" charset="0"/>
                <a:ea typeface="Calibri" pitchFamily="34" charset="-122"/>
                <a:cs typeface="Calibri" pitchFamily="34" charset="-120"/>
              </a:rPr>
              <a:t>① 対象会社株式100%への質権設定　② ワイン在庫（簿価1.19億円）への担保設定　③ DSCR 1.1倍以上の維持　④ タームローンB完済までの配当・自己株取得の制限　⑤ 超過キャッシュフローの50%をタームローンBへ充当（キャッシュスイープ）　⑥ 岸田氏の退任・料理長交代・ミシュラン評価変動の報告義務　⑦ サントリー・ファインズとの取引条件変更時の報告義務　⑧ 中野氏の株主貸付の劣後化</a:t>
            </a:r>
            <a:endParaRPr lang="en-US" sz="900" dirty="0"/>
          </a:p>
        </p:txBody>
      </p:sp>
      <p:sp>
        <p:nvSpPr>
          <p:cNvPr id="18" name="Shape 15"/>
          <p:cNvSpPr/>
          <p:nvPr/>
        </p:nvSpPr>
        <p:spPr>
          <a:xfrm>
            <a:off x="566928" y="5724144"/>
            <a:ext cx="11055096" cy="548640"/>
          </a:xfrm>
          <a:prstGeom prst="roundRect">
            <a:avLst>
              <a:gd name="adj" fmla="val 6667"/>
            </a:avLst>
          </a:prstGeom>
          <a:solidFill>
            <a:srgbClr val="6D2E46"/>
          </a:solidFill>
          <a:ln/>
        </p:spPr>
      </p:sp>
      <p:sp>
        <p:nvSpPr>
          <p:cNvPr id="19" name="Text 16"/>
          <p:cNvSpPr txBox="1"/>
          <p:nvPr/>
        </p:nvSpPr>
        <p:spPr>
          <a:xfrm>
            <a:off x="804672" y="5779008"/>
            <a:ext cx="10579608" cy="438912"/>
          </a:xfrm>
          <a:prstGeom prst="rect">
            <a:avLst/>
          </a:prstGeom>
          <a:noFill/>
          <a:ln/>
        </p:spPr>
        <p:txBody>
          <a:bodyPr wrap="square" lIns="0" tIns="0" rIns="0" bIns="0" rtlCol="0" anchor="ctr"/>
          <a:lstStyle/>
          <a:p>
            <a:pPr indent="0" marL="0">
              <a:lnSpc>
                <a:spcPts val="1500"/>
              </a:lnSpc>
              <a:buNone/>
            </a:pPr>
            <a:r>
              <a:rPr lang="en-US" sz="1100" b="1" dirty="0">
                <a:solidFill>
                  <a:srgbClr val="FFFFFF"/>
                </a:solidFill>
              </a:rPr>
              <a:t>実質的な論点は金額ではなく期間　</a:t>
            </a:r>
            <a:pPr indent="0" marL="0">
              <a:lnSpc>
                <a:spcPts val="1500"/>
              </a:lnSpc>
              <a:buNone/>
            </a:pPr>
            <a:r>
              <a:rPr lang="en-US" sz="1000" dirty="0">
                <a:solidFill>
                  <a:srgbClr val="EBDCE1"/>
                </a:solidFill>
              </a:rPr>
              <a:t>貴行のスタートアップM&amp;A融資が5年目線の場合、TLA 11.0億円＋TLB 9.0億円で初年度DSCR 1.26倍を確保できるものの、5年後に9.00億円のリファイナンスが必要になる。7年を許容いただけるかが、20.00億円を自力返済で完結させられるかの分岐点となる。</a:t>
            </a:r>
            <a:endParaRPr lang="en-US" sz="1100" dirty="0"/>
          </a:p>
        </p:txBody>
      </p:sp>
      <p:sp>
        <p:nvSpPr>
          <p:cNvPr id="20" name="Text 17"/>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1" name="Text 18"/>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RISK</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価格の前提を崩しうる8つの論点と、その手当て</a:t>
            </a:r>
            <a:endParaRPr lang="en-US" sz="2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298448"/>
          <a:ext cx="11055096" cy="914400"/>
        </p:xfrm>
        <a:graphic>
          <a:graphicData uri="http://schemas.openxmlformats.org/drawingml/2006/table">
            <a:tbl>
              <a:tblPr/>
              <a:tblGrid>
                <a:gridCol w="2834640"/>
                <a:gridCol w="2743200"/>
                <a:gridCol w="5477256"/>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論点</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価格への影響</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手当て</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384048">
                <a:tc>
                  <a:txBody>
                    <a:bodyPr/>
                    <a:lstStyle/>
                    <a:p>
                      <a:pPr indent="0" marL="0">
                        <a:buNone/>
                      </a:pPr>
                      <a:r>
                        <a:rPr lang="en-US" sz="980" b="1" dirty="0">
                          <a:solidFill>
                            <a:srgbClr val="1F1A1C"/>
                          </a:solidFill>
                          <a:latin typeface="Calibri" pitchFamily="34" charset="0"/>
                          <a:ea typeface="Calibri" pitchFamily="34" charset="-122"/>
                          <a:cs typeface="Calibri" pitchFamily="34" charset="-120"/>
                        </a:rPr>
                        <a:t>1　役員貸付金5.00億円の回収</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9B2C2C"/>
                          </a:solidFill>
                          <a:latin typeface="Calibri" pitchFamily="34" charset="0"/>
                          <a:ea typeface="Calibri" pitchFamily="34" charset="-122"/>
                          <a:cs typeface="Calibri" pitchFamily="34" charset="-120"/>
                        </a:rPr>
                        <a:t>未精算ならEVは27.6→32.6億円（6.2倍）へ</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2025年3月に4.00億円から5.00億円へ増額されている。クロージング時の現金精算をSPAの前提条件とする</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980" b="1" dirty="0">
                          <a:solidFill>
                            <a:srgbClr val="1F1A1C"/>
                          </a:solidFill>
                          <a:latin typeface="Calibri" pitchFamily="34" charset="0"/>
                          <a:ea typeface="Calibri" pitchFamily="34" charset="-122"/>
                          <a:cs typeface="Calibri" pitchFamily="34" charset="-120"/>
                        </a:rPr>
                        <a:t>2　後継シェフの不在</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9B2C2C"/>
                          </a:solidFill>
                          <a:latin typeface="Calibri" pitchFamily="34" charset="0"/>
                          <a:ea typeface="Calibri" pitchFamily="34" charset="-122"/>
                          <a:cs typeface="Calibri" pitchFamily="34" charset="-120"/>
                        </a:rPr>
                        <a:t>シナリオB/Cの発生確率が上昇</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売主は在籍5名につき「料理長を任せられるタイプではない」と回答済み。3年ロックアップ中の招聘を岸田氏の努力義務として契約化</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980" b="1" dirty="0">
                          <a:solidFill>
                            <a:srgbClr val="1F1A1C"/>
                          </a:solidFill>
                          <a:latin typeface="Calibri" pitchFamily="34" charset="0"/>
                          <a:ea typeface="Calibri" pitchFamily="34" charset="-122"/>
                          <a:cs typeface="Calibri" pitchFamily="34" charset="-120"/>
                        </a:rPr>
                        <a:t>3　ミシュラン評価の降格</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9B2C2C"/>
                          </a:solidFill>
                          <a:latin typeface="Calibri" pitchFamily="34" charset="0"/>
                          <a:ea typeface="Calibri" pitchFamily="34" charset="-122"/>
                          <a:cs typeface="Calibri" pitchFamily="34" charset="-120"/>
                        </a:rPr>
                        <a:t>営業利益5.28→2.00億円（シナリオB）</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星の維持に連動したアーンアウト（価格の一部後払い）を提案</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980" b="1" dirty="0">
                          <a:solidFill>
                            <a:srgbClr val="1F1A1C"/>
                          </a:solidFill>
                          <a:latin typeface="Calibri" pitchFamily="34" charset="0"/>
                          <a:ea typeface="Calibri" pitchFamily="34" charset="-122"/>
                          <a:cs typeface="Calibri" pitchFamily="34" charset="-120"/>
                        </a:rPr>
                        <a:t>4　岸田氏の3年経過後の活動</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ブランドの希薄化</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「新店舗・ガストロノミーは考えていない／他店監修はあり得る」との回答。競業避止＋監修の事前承諾制を条件化</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980" b="1" dirty="0">
                          <a:solidFill>
                            <a:srgbClr val="1F1A1C"/>
                          </a:solidFill>
                          <a:latin typeface="Calibri" pitchFamily="34" charset="0"/>
                          <a:ea typeface="Calibri" pitchFamily="34" charset="-122"/>
                          <a:cs typeface="Calibri" pitchFamily="34" charset="-120"/>
                        </a:rPr>
                        <a:t>5　「50億円は最低ライン」＋3社競合</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9B2C2C"/>
                          </a:solidFill>
                          <a:latin typeface="Calibri" pitchFamily="34" charset="0"/>
                          <a:ea typeface="Calibri" pitchFamily="34" charset="-122"/>
                          <a:cs typeface="Calibri" pitchFamily="34" charset="-120"/>
                        </a:rPr>
                        <a:t>55億円超で説明困難（p.18）</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上限55億円の規律。EV固定＋クロージング時ネットキャッシュ実額連動方式とすれば、額面を上げつつ実質負担を抑えられる</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980" b="1" dirty="0">
                          <a:solidFill>
                            <a:srgbClr val="1F1A1C"/>
                          </a:solidFill>
                          <a:latin typeface="Calibri" pitchFamily="34" charset="0"/>
                          <a:ea typeface="Calibri" pitchFamily="34" charset="-122"/>
                          <a:cs typeface="Calibri" pitchFamily="34" charset="-120"/>
                        </a:rPr>
                        <a:t>6　店舗の賃貸借契約</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賃料は売上比1.97%＝年約1,900万円</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残存期間とオーナーチェンジ条項の確認（ガーデンシティ品川御殿山1F）</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980" b="1" dirty="0">
                          <a:solidFill>
                            <a:srgbClr val="1F1A1C"/>
                          </a:solidFill>
                          <a:latin typeface="Calibri" pitchFamily="34" charset="0"/>
                          <a:ea typeface="Calibri" pitchFamily="34" charset="-122"/>
                          <a:cs typeface="Calibri" pitchFamily="34" charset="-120"/>
                        </a:rPr>
                        <a:t>7　ワイン在庫の簿価</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2E6F4E"/>
                          </a:solidFill>
                          <a:latin typeface="Calibri" pitchFamily="34" charset="0"/>
                          <a:ea typeface="Calibri" pitchFamily="34" charset="-122"/>
                          <a:cs typeface="Calibri" pitchFamily="34" charset="-120"/>
                        </a:rPr>
                        <a:t>上振れ要因</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簿価1.19億円（2026年7月末1.15億円）。一次価格で継続仕入した希少銘柄を含むため、時価評価で含み益が生じる可能性</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384048">
                <a:tc>
                  <a:txBody>
                    <a:bodyPr/>
                    <a:lstStyle/>
                    <a:p>
                      <a:pPr indent="0" marL="0">
                        <a:buNone/>
                      </a:pPr>
                      <a:r>
                        <a:rPr lang="en-US" sz="980" b="1" dirty="0">
                          <a:solidFill>
                            <a:srgbClr val="1F1A1C"/>
                          </a:solidFill>
                          <a:latin typeface="Calibri" pitchFamily="34" charset="0"/>
                          <a:ea typeface="Calibri" pitchFamily="34" charset="-122"/>
                          <a:cs typeface="Calibri" pitchFamily="34" charset="-120"/>
                        </a:rPr>
                        <a:t>8　仕入先アロケーションの帰属</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収益構造の前提</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980" dirty="0">
                          <a:solidFill>
                            <a:srgbClr val="1F1A1C"/>
                          </a:solidFill>
                          <a:latin typeface="Calibri" pitchFamily="34" charset="0"/>
                          <a:ea typeface="Calibri" pitchFamily="34" charset="-122"/>
                          <a:cs typeface="Calibri" pitchFamily="34" charset="-120"/>
                        </a:rPr>
                        <a:t>サントリー・ファインズ等の配分が会社に帰属するか岸田氏個人に帰属するか、契約形態を確認</a:t>
                      </a:r>
                      <a:endParaRPr lang="en-US" sz="98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5" name="Text 2"/>
          <p:cNvSpPr txBox="1"/>
          <p:nvPr/>
        </p:nvSpPr>
        <p:spPr>
          <a:xfrm>
            <a:off x="566928" y="5806440"/>
            <a:ext cx="11055096" cy="329184"/>
          </a:xfrm>
          <a:prstGeom prst="rect">
            <a:avLst/>
          </a:prstGeom>
          <a:noFill/>
          <a:ln/>
        </p:spPr>
        <p:txBody>
          <a:bodyPr wrap="square" lIns="0" tIns="0" rIns="0" bIns="0" rtlCol="0" anchor="ctr"/>
          <a:lstStyle/>
          <a:p>
            <a:pPr indent="0" marL="0">
              <a:lnSpc>
                <a:spcPts val="1500"/>
              </a:lnSpc>
              <a:buNone/>
            </a:pPr>
            <a:r>
              <a:rPr lang="en-US" sz="1050" dirty="0">
                <a:solidFill>
                  <a:srgbClr val="1F1A1C"/>
                </a:solidFill>
                <a:latin typeface="Calibri" pitchFamily="34" charset="0"/>
                <a:ea typeface="Calibri" pitchFamily="34" charset="-122"/>
                <a:cs typeface="Calibri" pitchFamily="34" charset="-120"/>
              </a:rPr>
              <a:t>論点1・2・3は価格そのものに直結する。特に論点1は、精算方法次第で実質的に支払う倍率が5.2倍から6.5倍へ動くため、価格交渉と同じ重みで手当てを要する。</a:t>
            </a:r>
            <a:endParaRPr lang="en-US" sz="1050" dirty="0"/>
          </a:p>
        </p:txBody>
      </p:sp>
      <p:sp>
        <p:nvSpPr>
          <p:cNvPr id="6" name="Text 3"/>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7" name="Text 4"/>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66928" y="310896"/>
            <a:ext cx="91440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REFERENCE　／　株式会社アピシウス（東京・銀座）</a:t>
            </a:r>
            <a:endParaRPr lang="en-US" sz="1100" dirty="0"/>
          </a:p>
        </p:txBody>
      </p:sp>
      <p:sp>
        <p:nvSpPr>
          <p:cNvPr id="3" name="Text 1"/>
          <p:cNvSpPr txBox="1"/>
          <p:nvPr/>
        </p:nvSpPr>
        <p:spPr>
          <a:xfrm>
            <a:off x="566928" y="566928"/>
            <a:ext cx="11055096" cy="475488"/>
          </a:xfrm>
          <a:prstGeom prst="rect">
            <a:avLst/>
          </a:prstGeom>
          <a:noFill/>
          <a:ln/>
        </p:spPr>
        <p:txBody>
          <a:bodyPr wrap="square" lIns="0" tIns="0" rIns="0" bIns="0" rtlCol="0" anchor="ctr"/>
          <a:lstStyle/>
          <a:p>
            <a:pPr indent="0" marL="0">
              <a:buNone/>
            </a:pPr>
            <a:r>
              <a:rPr lang="en-US" sz="2900" b="1" dirty="0">
                <a:solidFill>
                  <a:srgbClr val="1F1A1C"/>
                </a:solidFill>
                <a:latin typeface="Cambria" pitchFamily="34" charset="0"/>
                <a:ea typeface="Cambria" pitchFamily="34" charset="-122"/>
                <a:cs typeface="Cambria" pitchFamily="34" charset="-120"/>
              </a:rPr>
              <a:t>参考：グランメゾンのM&amp;A後バリューアップ実績</a:t>
            </a:r>
            <a:endParaRPr lang="en-US" sz="2900" dirty="0"/>
          </a:p>
        </p:txBody>
      </p:sp>
      <p:sp>
        <p:nvSpPr>
          <p:cNvPr id="4" name="Text 2"/>
          <p:cNvSpPr txBox="1"/>
          <p:nvPr/>
        </p:nvSpPr>
        <p:spPr>
          <a:xfrm>
            <a:off x="566928" y="1088136"/>
            <a:ext cx="11055096" cy="329184"/>
          </a:xfrm>
          <a:prstGeom prst="rect">
            <a:avLst/>
          </a:prstGeom>
          <a:noFill/>
          <a:ln/>
        </p:spPr>
        <p:txBody>
          <a:bodyPr wrap="square" lIns="0" tIns="0" rIns="0" bIns="0" rtlCol="0" anchor="ctr"/>
          <a:lstStyle/>
          <a:p>
            <a:pPr indent="0" marL="0">
              <a:lnSpc>
                <a:spcPts val="1700"/>
              </a:lnSpc>
              <a:buNone/>
            </a:pPr>
            <a:r>
              <a:rPr lang="en-US" sz="1250" dirty="0">
                <a:solidFill>
                  <a:srgbClr val="6E6368"/>
                </a:solidFill>
                <a:latin typeface="Calibri" pitchFamily="34" charset="0"/>
                <a:ea typeface="Calibri" pitchFamily="34" charset="-122"/>
                <a:cs typeface="Calibri" pitchFamily="34" charset="-120"/>
              </a:rPr>
              <a:t>当社は2024年6月、創業40年を超えるグランメゾンを取得した。39年間にわたり赤字が続き、40年目にようやく黒字化した店を引き継ぎ、2年間で売上30%増・営業利益250%超の増加を実現している。</a:t>
            </a:r>
            <a:endParaRPr lang="en-US" sz="1250" dirty="0"/>
          </a:p>
        </p:txBody>
      </p:sp>
      <p:sp>
        <p:nvSpPr>
          <p:cNvPr id="5" name="Shape 3"/>
          <p:cNvSpPr/>
          <p:nvPr/>
        </p:nvSpPr>
        <p:spPr>
          <a:xfrm>
            <a:off x="566928" y="1755648"/>
            <a:ext cx="3520440" cy="1078992"/>
          </a:xfrm>
          <a:prstGeom prst="roundRect">
            <a:avLst>
              <a:gd name="adj" fmla="val 4237"/>
            </a:avLst>
          </a:prstGeom>
          <a:solidFill>
            <a:srgbClr val="F7F3F4"/>
          </a:solidFill>
          <a:ln w="9525">
            <a:solidFill>
              <a:srgbClr val="E4DADD"/>
            </a:solidFill>
            <a:prstDash val="solid"/>
          </a:ln>
        </p:spPr>
      </p:sp>
      <p:sp>
        <p:nvSpPr>
          <p:cNvPr id="6" name="Text 4"/>
          <p:cNvSpPr txBox="1"/>
          <p:nvPr/>
        </p:nvSpPr>
        <p:spPr>
          <a:xfrm>
            <a:off x="786384" y="1865376"/>
            <a:ext cx="310896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売上高</a:t>
            </a:r>
            <a:endParaRPr lang="en-US" sz="1000" dirty="0"/>
          </a:p>
        </p:txBody>
      </p:sp>
      <p:sp>
        <p:nvSpPr>
          <p:cNvPr id="7" name="Text 5"/>
          <p:cNvSpPr txBox="1"/>
          <p:nvPr/>
        </p:nvSpPr>
        <p:spPr>
          <a:xfrm>
            <a:off x="786384" y="2103120"/>
            <a:ext cx="3108960" cy="457200"/>
          </a:xfrm>
          <a:prstGeom prst="rect">
            <a:avLst/>
          </a:prstGeom>
          <a:noFill/>
          <a:ln/>
        </p:spPr>
        <p:txBody>
          <a:bodyPr wrap="square" lIns="0" tIns="0" rIns="0" bIns="0" rtlCol="0" anchor="ctr"/>
          <a:lstStyle/>
          <a:p>
            <a:pPr indent="0" marL="0">
              <a:buNone/>
            </a:pPr>
            <a:r>
              <a:rPr lang="en-US" sz="2900" b="1" dirty="0">
                <a:solidFill>
                  <a:srgbClr val="6D2E46"/>
                </a:solidFill>
                <a:latin typeface="Cambria" pitchFamily="34" charset="0"/>
                <a:ea typeface="Cambria" pitchFamily="34" charset="-122"/>
                <a:cs typeface="Cambria" pitchFamily="34" charset="-120"/>
              </a:rPr>
              <a:t>＋30%</a:t>
            </a:r>
            <a:endParaRPr lang="en-US" sz="2900" dirty="0"/>
          </a:p>
        </p:txBody>
      </p:sp>
      <p:sp>
        <p:nvSpPr>
          <p:cNvPr id="8" name="Text 6"/>
          <p:cNvSpPr txBox="1"/>
          <p:nvPr/>
        </p:nvSpPr>
        <p:spPr>
          <a:xfrm>
            <a:off x="786384" y="2560320"/>
            <a:ext cx="3108960" cy="219456"/>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取得前比（2年間）</a:t>
            </a:r>
            <a:endParaRPr lang="en-US" sz="900" dirty="0"/>
          </a:p>
        </p:txBody>
      </p:sp>
      <p:sp>
        <p:nvSpPr>
          <p:cNvPr id="9" name="Shape 7"/>
          <p:cNvSpPr/>
          <p:nvPr/>
        </p:nvSpPr>
        <p:spPr>
          <a:xfrm>
            <a:off x="4297680" y="1755648"/>
            <a:ext cx="3520440" cy="1078992"/>
          </a:xfrm>
          <a:prstGeom prst="roundRect">
            <a:avLst>
              <a:gd name="adj" fmla="val 4237"/>
            </a:avLst>
          </a:prstGeom>
          <a:solidFill>
            <a:srgbClr val="F7F3F4"/>
          </a:solidFill>
          <a:ln w="9525">
            <a:solidFill>
              <a:srgbClr val="E4DADD"/>
            </a:solidFill>
            <a:prstDash val="solid"/>
          </a:ln>
        </p:spPr>
      </p:sp>
      <p:sp>
        <p:nvSpPr>
          <p:cNvPr id="10" name="Text 8"/>
          <p:cNvSpPr txBox="1"/>
          <p:nvPr/>
        </p:nvSpPr>
        <p:spPr>
          <a:xfrm>
            <a:off x="4517136" y="1865376"/>
            <a:ext cx="310896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営業利益</a:t>
            </a:r>
            <a:endParaRPr lang="en-US" sz="1000" dirty="0"/>
          </a:p>
        </p:txBody>
      </p:sp>
      <p:sp>
        <p:nvSpPr>
          <p:cNvPr id="11" name="Text 9"/>
          <p:cNvSpPr txBox="1"/>
          <p:nvPr/>
        </p:nvSpPr>
        <p:spPr>
          <a:xfrm>
            <a:off x="4517136" y="2103120"/>
            <a:ext cx="3108960" cy="457200"/>
          </a:xfrm>
          <a:prstGeom prst="rect">
            <a:avLst/>
          </a:prstGeom>
          <a:noFill/>
          <a:ln/>
        </p:spPr>
        <p:txBody>
          <a:bodyPr wrap="square" lIns="0" tIns="0" rIns="0" bIns="0" rtlCol="0" anchor="ctr"/>
          <a:lstStyle/>
          <a:p>
            <a:pPr indent="0" marL="0">
              <a:buNone/>
            </a:pPr>
            <a:r>
              <a:rPr lang="en-US" sz="2900" b="1" dirty="0">
                <a:solidFill>
                  <a:srgbClr val="6D2E46"/>
                </a:solidFill>
                <a:latin typeface="Cambria" pitchFamily="34" charset="0"/>
                <a:ea typeface="Cambria" pitchFamily="34" charset="-122"/>
                <a:cs typeface="Cambria" pitchFamily="34" charset="-120"/>
              </a:rPr>
              <a:t>＋250%超</a:t>
            </a:r>
            <a:endParaRPr lang="en-US" sz="2900" dirty="0"/>
          </a:p>
        </p:txBody>
      </p:sp>
      <p:sp>
        <p:nvSpPr>
          <p:cNvPr id="12" name="Text 10"/>
          <p:cNvSpPr txBox="1"/>
          <p:nvPr/>
        </p:nvSpPr>
        <p:spPr>
          <a:xfrm>
            <a:off x="4517136" y="2560320"/>
            <a:ext cx="3108960" cy="219456"/>
          </a:xfrm>
          <a:prstGeom prst="rect">
            <a:avLst/>
          </a:prstGeom>
          <a:noFill/>
          <a:ln/>
        </p:spPr>
        <p:txBody>
          <a:bodyPr wrap="square" lIns="0" tIns="0" rIns="0" bIns="0" rtlCol="0" anchor="ctr"/>
          <a:lstStyle/>
          <a:p>
            <a:pPr indent="0" marL="0">
              <a:buNone/>
            </a:pPr>
            <a:r>
              <a:rPr lang="en-US" sz="900" dirty="0">
                <a:solidFill>
                  <a:srgbClr val="6E6368"/>
                </a:solidFill>
                <a:latin typeface="Calibri" pitchFamily="34" charset="0"/>
                <a:ea typeface="Calibri" pitchFamily="34" charset="-122"/>
                <a:cs typeface="Calibri" pitchFamily="34" charset="-120"/>
              </a:rPr>
              <a:t>取得前比（2年間）</a:t>
            </a:r>
            <a:endParaRPr lang="en-US" sz="900" dirty="0"/>
          </a:p>
        </p:txBody>
      </p:sp>
      <p:sp>
        <p:nvSpPr>
          <p:cNvPr id="13" name="Shape 11"/>
          <p:cNvSpPr/>
          <p:nvPr/>
        </p:nvSpPr>
        <p:spPr>
          <a:xfrm>
            <a:off x="8028432" y="1755648"/>
            <a:ext cx="3520440" cy="1078992"/>
          </a:xfrm>
          <a:prstGeom prst="roundRect">
            <a:avLst>
              <a:gd name="adj" fmla="val 4237"/>
            </a:avLst>
          </a:prstGeom>
          <a:solidFill>
            <a:srgbClr val="6D2E46"/>
          </a:solidFill>
          <a:ln w="9525">
            <a:solidFill>
              <a:srgbClr val="6D2E46"/>
            </a:solidFill>
            <a:prstDash val="solid"/>
          </a:ln>
        </p:spPr>
      </p:sp>
      <p:sp>
        <p:nvSpPr>
          <p:cNvPr id="14" name="Text 12"/>
          <p:cNvSpPr txBox="1"/>
          <p:nvPr/>
        </p:nvSpPr>
        <p:spPr>
          <a:xfrm>
            <a:off x="8247888" y="1865376"/>
            <a:ext cx="3108960" cy="237744"/>
          </a:xfrm>
          <a:prstGeom prst="rect">
            <a:avLst/>
          </a:prstGeom>
          <a:noFill/>
          <a:ln/>
        </p:spPr>
        <p:txBody>
          <a:bodyPr wrap="square" lIns="0" tIns="0" rIns="0" bIns="0" rtlCol="0" anchor="ctr"/>
          <a:lstStyle/>
          <a:p>
            <a:pPr indent="0" marL="0">
              <a:buNone/>
            </a:pPr>
            <a:r>
              <a:rPr lang="en-US" sz="1000" b="1" dirty="0">
                <a:solidFill>
                  <a:srgbClr val="E8D6DB"/>
                </a:solidFill>
                <a:latin typeface="Calibri" pitchFamily="34" charset="0"/>
                <a:ea typeface="Calibri" pitchFamily="34" charset="-122"/>
                <a:cs typeface="Calibri" pitchFamily="34" charset="-120"/>
              </a:rPr>
              <a:t>幹部メンバー継続率</a:t>
            </a:r>
            <a:endParaRPr lang="en-US" sz="1000" dirty="0"/>
          </a:p>
        </p:txBody>
      </p:sp>
      <p:sp>
        <p:nvSpPr>
          <p:cNvPr id="15" name="Text 13"/>
          <p:cNvSpPr txBox="1"/>
          <p:nvPr/>
        </p:nvSpPr>
        <p:spPr>
          <a:xfrm>
            <a:off x="8247888" y="2103120"/>
            <a:ext cx="3108960" cy="45720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100%</a:t>
            </a:r>
            <a:endParaRPr lang="en-US" sz="2900" dirty="0"/>
          </a:p>
        </p:txBody>
      </p:sp>
      <p:sp>
        <p:nvSpPr>
          <p:cNvPr id="16" name="Text 14"/>
          <p:cNvSpPr txBox="1"/>
          <p:nvPr/>
        </p:nvSpPr>
        <p:spPr>
          <a:xfrm>
            <a:off x="8247888" y="2560320"/>
            <a:ext cx="3108960" cy="219456"/>
          </a:xfrm>
          <a:prstGeom prst="rect">
            <a:avLst/>
          </a:prstGeom>
          <a:noFill/>
          <a:ln/>
        </p:spPr>
        <p:txBody>
          <a:bodyPr wrap="square" lIns="0" tIns="0" rIns="0" bIns="0" rtlCol="0" anchor="ctr"/>
          <a:lstStyle/>
          <a:p>
            <a:pPr indent="0" marL="0">
              <a:buNone/>
            </a:pPr>
            <a:r>
              <a:rPr lang="en-US" sz="900" dirty="0">
                <a:solidFill>
                  <a:srgbClr val="C9AEB6"/>
                </a:solidFill>
                <a:latin typeface="Calibri" pitchFamily="34" charset="0"/>
                <a:ea typeface="Calibri" pitchFamily="34" charset="-122"/>
                <a:cs typeface="Calibri" pitchFamily="34" charset="-120"/>
              </a:rPr>
              <a:t>一人も欠けていない</a:t>
            </a:r>
            <a:endParaRPr lang="en-US" sz="900" dirty="0"/>
          </a:p>
        </p:txBody>
      </p:sp>
      <p:sp>
        <p:nvSpPr>
          <p:cNvPr id="17" name="Text 15"/>
          <p:cNvSpPr txBox="1"/>
          <p:nvPr/>
        </p:nvSpPr>
        <p:spPr>
          <a:xfrm>
            <a:off x="566928" y="2999232"/>
            <a:ext cx="4572000" cy="256032"/>
          </a:xfrm>
          <a:prstGeom prst="rect">
            <a:avLst/>
          </a:prstGeom>
          <a:noFill/>
          <a:ln/>
        </p:spPr>
        <p:txBody>
          <a:bodyPr wrap="square" lIns="0" tIns="0" rIns="0" bIns="0" rtlCol="0" anchor="ctr"/>
          <a:lstStyle/>
          <a:p>
            <a:pPr indent="0" marL="0">
              <a:buNone/>
            </a:pPr>
            <a:r>
              <a:rPr lang="en-US" sz="1350" b="1" dirty="0">
                <a:solidFill>
                  <a:srgbClr val="1F1A1C"/>
                </a:solidFill>
                <a:latin typeface="Cambria" pitchFamily="34" charset="0"/>
                <a:ea typeface="Cambria" pitchFamily="34" charset="-122"/>
                <a:cs typeface="Cambria" pitchFamily="34" charset="-120"/>
              </a:rPr>
              <a:t>取得前と、取得から2年後</a:t>
            </a:r>
            <a:endParaRPr lang="en-US" sz="13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3310128"/>
          <a:ext cx="6583680" cy="914400"/>
        </p:xfrm>
        <a:graphic>
          <a:graphicData uri="http://schemas.openxmlformats.org/drawingml/2006/table">
            <a:tbl>
              <a:tblPr/>
              <a:tblGrid>
                <a:gridCol w="868680"/>
                <a:gridCol w="2331720"/>
                <a:gridCol w="3383280"/>
              </a:tblGrid>
              <a:tr h="420624">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取得前（〜2024年5月）</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取得後2年（2026年）</a:t>
                      </a:r>
                      <a:endParaRPr lang="en-US" sz="105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solidFill>
                      <a:srgbClr val="6D2E46"/>
                    </a:solidFill>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業績</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39年間にわたり赤字。40年目にようやく黒字化</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b="1" dirty="0">
                          <a:solidFill>
                            <a:srgbClr val="2E6F4E"/>
                          </a:solidFill>
                          <a:latin typeface="Calibri" pitchFamily="34" charset="0"/>
                          <a:ea typeface="Calibri" pitchFamily="34" charset="-122"/>
                          <a:cs typeface="Calibri" pitchFamily="34" charset="-120"/>
                        </a:rPr>
                        <a:t>売上 ＋30%／営業利益 ＋250%超</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人員</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幹部メンバーは全員が継続。経営陣の入替えなし</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労働環境</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サービス残業が常態化</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b="1" dirty="0">
                          <a:solidFill>
                            <a:srgbClr val="2E6F4E"/>
                          </a:solidFill>
                          <a:latin typeface="Calibri" pitchFamily="34" charset="0"/>
                          <a:ea typeface="Calibri" pitchFamily="34" charset="-122"/>
                          <a:cs typeface="Calibri" pitchFamily="34" charset="-120"/>
                        </a:rPr>
                        <a:t>サービス残業を撤廃。12月を除き残業自体が発生しない体制へ</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r h="420624">
                <a:tc>
                  <a:txBody>
                    <a:bodyPr/>
                    <a:lstStyle/>
                    <a:p>
                      <a:pPr indent="0" marL="0">
                        <a:buNone/>
                      </a:pPr>
                      <a:r>
                        <a:rPr lang="en-US" sz="1000" b="1" dirty="0">
                          <a:solidFill>
                            <a:srgbClr val="1F1A1C"/>
                          </a:solidFill>
                          <a:latin typeface="Calibri" pitchFamily="34" charset="0"/>
                          <a:ea typeface="Calibri" pitchFamily="34" charset="-122"/>
                          <a:cs typeface="Calibri" pitchFamily="34" charset="-120"/>
                        </a:rPr>
                        <a:t>店舗</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6E636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c>
                  <a:txBody>
                    <a:bodyPr/>
                    <a:lstStyle/>
                    <a:p>
                      <a:pPr indent="0" marL="0">
                        <a:buNone/>
                      </a:pPr>
                      <a:r>
                        <a:rPr lang="en-US" sz="1000" dirty="0">
                          <a:solidFill>
                            <a:srgbClr val="1F1A1C"/>
                          </a:solidFill>
                          <a:latin typeface="Calibri" pitchFamily="34" charset="0"/>
                          <a:ea typeface="Calibri" pitchFamily="34" charset="-122"/>
                          <a:cs typeface="Calibri" pitchFamily="34" charset="-120"/>
                        </a:rPr>
                        <a:t>店内の一部改装・修繕を実施。業態・客層は変更せず</a:t>
                      </a:r>
                      <a:endParaRPr lang="en-US" sz="1000" dirty="0">
                        <a:latin typeface="Calibri" charset="0"/>
                        <a:ea typeface="Calibri" charset="0"/>
                        <a:cs typeface="Calibri" charset="0"/>
                      </a:endParaRPr>
                    </a:p>
                  </a:txBody>
                  <a:tcPr marL="91440" marR="91440" marT="45720" marB="45720" anchor="ctr">
                    <a:lnL w="6350" cap="flat" cmpd="sng" algn="ctr">
                      <a:solidFill>
                        <a:srgbClr val="E4DADD"/>
                      </a:solidFill>
                      <a:prstDash val="solid"/>
                      <a:round/>
                      <a:headEnd type="none" w="med" len="med"/>
                      <a:tailEnd type="none" w="med" len="med"/>
                    </a:lnL>
                    <a:lnR w="6350" cap="flat" cmpd="sng" algn="ctr">
                      <a:solidFill>
                        <a:srgbClr val="E4DADD"/>
                      </a:solidFill>
                      <a:prstDash val="solid"/>
                      <a:round/>
                      <a:headEnd type="none" w="med" len="med"/>
                      <a:tailEnd type="none" w="med" len="med"/>
                    </a:lnR>
                    <a:lnT w="6350" cap="flat" cmpd="sng" algn="ctr">
                      <a:solidFill>
                        <a:srgbClr val="E4DADD"/>
                      </a:solidFill>
                      <a:prstDash val="solid"/>
                      <a:round/>
                      <a:headEnd type="none" w="med" len="med"/>
                      <a:tailEnd type="none" w="med" len="med"/>
                    </a:lnT>
                    <a:lnB w="6350" cap="flat" cmpd="sng" algn="ctr">
                      <a:solidFill>
                        <a:srgbClr val="E4DADD"/>
                      </a:solidFill>
                      <a:prstDash val="solid"/>
                      <a:round/>
                      <a:headEnd type="none" w="med" len="med"/>
                      <a:tailEnd type="none" w="med" len="med"/>
                    </a:lnB>
                  </a:tcPr>
                </a:tc>
              </a:tr>
            </a:tbl>
          </a:graphicData>
        </a:graphic>
      </p:graphicFrame>
      <p:sp>
        <p:nvSpPr>
          <p:cNvPr id="19" name="Shape 16"/>
          <p:cNvSpPr/>
          <p:nvPr/>
        </p:nvSpPr>
        <p:spPr>
          <a:xfrm>
            <a:off x="7333488" y="2999232"/>
            <a:ext cx="4288536" cy="2395728"/>
          </a:xfrm>
          <a:prstGeom prst="roundRect">
            <a:avLst>
              <a:gd name="adj" fmla="val 1908"/>
            </a:avLst>
          </a:prstGeom>
          <a:solidFill>
            <a:srgbClr val="FFFFFF"/>
          </a:solidFill>
          <a:ln w="9525">
            <a:solidFill>
              <a:srgbClr val="E4DADD"/>
            </a:solidFill>
            <a:prstDash val="solid"/>
          </a:ln>
        </p:spPr>
      </p:sp>
      <p:sp>
        <p:nvSpPr>
          <p:cNvPr id="20" name="Text 17"/>
          <p:cNvSpPr txBox="1"/>
          <p:nvPr/>
        </p:nvSpPr>
        <p:spPr>
          <a:xfrm>
            <a:off x="7552944" y="3108960"/>
            <a:ext cx="3840480" cy="237744"/>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本件において踏襲する運営方針</a:t>
            </a:r>
            <a:endParaRPr lang="en-US" sz="1000" dirty="0"/>
          </a:p>
        </p:txBody>
      </p:sp>
      <p:sp>
        <p:nvSpPr>
          <p:cNvPr id="21" name="Shape 18"/>
          <p:cNvSpPr/>
          <p:nvPr/>
        </p:nvSpPr>
        <p:spPr>
          <a:xfrm>
            <a:off x="7552944" y="3429000"/>
            <a:ext cx="274320" cy="274320"/>
          </a:xfrm>
          <a:prstGeom prst="ellipse">
            <a:avLst/>
          </a:prstGeom>
          <a:solidFill>
            <a:srgbClr val="A26769"/>
          </a:solidFill>
          <a:ln/>
        </p:spPr>
      </p:sp>
      <p:sp>
        <p:nvSpPr>
          <p:cNvPr id="22" name="Text 19"/>
          <p:cNvSpPr txBox="1"/>
          <p:nvPr/>
        </p:nvSpPr>
        <p:spPr>
          <a:xfrm>
            <a:off x="7552944" y="3429000"/>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3" name="Text 20"/>
          <p:cNvSpPr txBox="1"/>
          <p:nvPr/>
        </p:nvSpPr>
        <p:spPr>
          <a:xfrm>
            <a:off x="7882128" y="3401568"/>
            <a:ext cx="3566160"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人を入れ替えない</a:t>
            </a:r>
            <a:endParaRPr lang="en-US" sz="1050" dirty="0"/>
          </a:p>
        </p:txBody>
      </p:sp>
      <p:sp>
        <p:nvSpPr>
          <p:cNvPr id="24" name="Text 21"/>
          <p:cNvSpPr txBox="1"/>
          <p:nvPr/>
        </p:nvSpPr>
        <p:spPr>
          <a:xfrm>
            <a:off x="7882128" y="3611880"/>
            <a:ext cx="3566160" cy="274320"/>
          </a:xfrm>
          <a:prstGeom prst="rect">
            <a:avLst/>
          </a:prstGeom>
          <a:noFill/>
          <a:ln/>
        </p:spPr>
        <p:txBody>
          <a:bodyPr wrap="square" lIns="0" tIns="0" rIns="0" bIns="0" rtlCol="0" anchor="ctr"/>
          <a:lstStyle/>
          <a:p>
            <a:pPr indent="0" marL="0">
              <a:lnSpc>
                <a:spcPts val="1200"/>
              </a:lnSpc>
              <a:buNone/>
            </a:pPr>
            <a:r>
              <a:rPr lang="en-US" sz="900" dirty="0">
                <a:solidFill>
                  <a:srgbClr val="6E6368"/>
                </a:solidFill>
                <a:latin typeface="Calibri" pitchFamily="34" charset="0"/>
                <a:ea typeface="Calibri" pitchFamily="34" charset="-122"/>
                <a:cs typeface="Calibri" pitchFamily="34" charset="-120"/>
              </a:rPr>
              <a:t>幹部・従業員の雇用と処遇をそのまま承継する</a:t>
            </a:r>
            <a:endParaRPr lang="en-US" sz="900" dirty="0"/>
          </a:p>
        </p:txBody>
      </p:sp>
      <p:sp>
        <p:nvSpPr>
          <p:cNvPr id="25" name="Shape 22"/>
          <p:cNvSpPr/>
          <p:nvPr/>
        </p:nvSpPr>
        <p:spPr>
          <a:xfrm>
            <a:off x="7552944" y="3922776"/>
            <a:ext cx="274320" cy="274320"/>
          </a:xfrm>
          <a:prstGeom prst="ellipse">
            <a:avLst/>
          </a:prstGeom>
          <a:solidFill>
            <a:srgbClr val="A26769"/>
          </a:solidFill>
          <a:ln/>
        </p:spPr>
      </p:sp>
      <p:sp>
        <p:nvSpPr>
          <p:cNvPr id="26" name="Text 23"/>
          <p:cNvSpPr txBox="1"/>
          <p:nvPr/>
        </p:nvSpPr>
        <p:spPr>
          <a:xfrm>
            <a:off x="7552944" y="3922776"/>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7" name="Text 24"/>
          <p:cNvSpPr txBox="1"/>
          <p:nvPr/>
        </p:nvSpPr>
        <p:spPr>
          <a:xfrm>
            <a:off x="7882128" y="3895344"/>
            <a:ext cx="3566160"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労働環境を先に整える</a:t>
            </a:r>
            <a:endParaRPr lang="en-US" sz="1050" dirty="0"/>
          </a:p>
        </p:txBody>
      </p:sp>
      <p:sp>
        <p:nvSpPr>
          <p:cNvPr id="28" name="Text 25"/>
          <p:cNvSpPr txBox="1"/>
          <p:nvPr/>
        </p:nvSpPr>
        <p:spPr>
          <a:xfrm>
            <a:off x="7882128" y="4105656"/>
            <a:ext cx="3566160" cy="274320"/>
          </a:xfrm>
          <a:prstGeom prst="rect">
            <a:avLst/>
          </a:prstGeom>
          <a:noFill/>
          <a:ln/>
        </p:spPr>
        <p:txBody>
          <a:bodyPr wrap="square" lIns="0" tIns="0" rIns="0" bIns="0" rtlCol="0" anchor="ctr"/>
          <a:lstStyle/>
          <a:p>
            <a:pPr indent="0" marL="0">
              <a:lnSpc>
                <a:spcPts val="1200"/>
              </a:lnSpc>
              <a:buNone/>
            </a:pPr>
            <a:r>
              <a:rPr lang="en-US" sz="900" dirty="0">
                <a:solidFill>
                  <a:srgbClr val="6E6368"/>
                </a:solidFill>
                <a:latin typeface="Calibri" pitchFamily="34" charset="0"/>
                <a:ea typeface="Calibri" pitchFamily="34" charset="-122"/>
                <a:cs typeface="Calibri" pitchFamily="34" charset="-120"/>
              </a:rPr>
              <a:t>サービス残業の撤廃と、残業が発生しない体制の構築</a:t>
            </a:r>
            <a:endParaRPr lang="en-US" sz="900" dirty="0"/>
          </a:p>
        </p:txBody>
      </p:sp>
      <p:sp>
        <p:nvSpPr>
          <p:cNvPr id="29" name="Shape 26"/>
          <p:cNvSpPr/>
          <p:nvPr/>
        </p:nvSpPr>
        <p:spPr>
          <a:xfrm>
            <a:off x="7552944" y="4416552"/>
            <a:ext cx="274320" cy="274320"/>
          </a:xfrm>
          <a:prstGeom prst="ellipse">
            <a:avLst/>
          </a:prstGeom>
          <a:solidFill>
            <a:srgbClr val="A26769"/>
          </a:solidFill>
          <a:ln/>
        </p:spPr>
      </p:sp>
      <p:sp>
        <p:nvSpPr>
          <p:cNvPr id="30" name="Text 27"/>
          <p:cNvSpPr txBox="1"/>
          <p:nvPr/>
        </p:nvSpPr>
        <p:spPr>
          <a:xfrm>
            <a:off x="7552944" y="4416552"/>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1" name="Text 28"/>
          <p:cNvSpPr txBox="1"/>
          <p:nvPr/>
        </p:nvSpPr>
        <p:spPr>
          <a:xfrm>
            <a:off x="7882128" y="4389120"/>
            <a:ext cx="3566160"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手を入れるのは最小限</a:t>
            </a:r>
            <a:endParaRPr lang="en-US" sz="1050" dirty="0"/>
          </a:p>
        </p:txBody>
      </p:sp>
      <p:sp>
        <p:nvSpPr>
          <p:cNvPr id="32" name="Text 29"/>
          <p:cNvSpPr txBox="1"/>
          <p:nvPr/>
        </p:nvSpPr>
        <p:spPr>
          <a:xfrm>
            <a:off x="7882128" y="4599432"/>
            <a:ext cx="3566160" cy="274320"/>
          </a:xfrm>
          <a:prstGeom prst="rect">
            <a:avLst/>
          </a:prstGeom>
          <a:noFill/>
          <a:ln/>
        </p:spPr>
        <p:txBody>
          <a:bodyPr wrap="square" lIns="0" tIns="0" rIns="0" bIns="0" rtlCol="0" anchor="ctr"/>
          <a:lstStyle/>
          <a:p>
            <a:pPr indent="0" marL="0">
              <a:lnSpc>
                <a:spcPts val="1200"/>
              </a:lnSpc>
              <a:buNone/>
            </a:pPr>
            <a:r>
              <a:rPr lang="en-US" sz="900" dirty="0">
                <a:solidFill>
                  <a:srgbClr val="6E6368"/>
                </a:solidFill>
                <a:latin typeface="Calibri" pitchFamily="34" charset="0"/>
                <a:ea typeface="Calibri" pitchFamily="34" charset="-122"/>
                <a:cs typeface="Calibri" pitchFamily="34" charset="-120"/>
              </a:rPr>
              <a:t>改装・修繕は必要な範囲にとどめ、業態と客層は変えない</a:t>
            </a:r>
            <a:endParaRPr lang="en-US" sz="900" dirty="0"/>
          </a:p>
        </p:txBody>
      </p:sp>
      <p:sp>
        <p:nvSpPr>
          <p:cNvPr id="33" name="Shape 30"/>
          <p:cNvSpPr/>
          <p:nvPr/>
        </p:nvSpPr>
        <p:spPr>
          <a:xfrm>
            <a:off x="7552944" y="4910328"/>
            <a:ext cx="274320" cy="274320"/>
          </a:xfrm>
          <a:prstGeom prst="ellipse">
            <a:avLst/>
          </a:prstGeom>
          <a:solidFill>
            <a:srgbClr val="A26769"/>
          </a:solidFill>
          <a:ln/>
        </p:spPr>
      </p:sp>
      <p:sp>
        <p:nvSpPr>
          <p:cNvPr id="34" name="Text 31"/>
          <p:cNvSpPr txBox="1"/>
          <p:nvPr/>
        </p:nvSpPr>
        <p:spPr>
          <a:xfrm>
            <a:off x="7552944" y="4910328"/>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5" name="Text 32"/>
          <p:cNvSpPr txBox="1"/>
          <p:nvPr/>
        </p:nvSpPr>
        <p:spPr>
          <a:xfrm>
            <a:off x="7882128" y="4882896"/>
            <a:ext cx="3566160" cy="219456"/>
          </a:xfrm>
          <a:prstGeom prst="rect">
            <a:avLst/>
          </a:prstGeom>
          <a:noFill/>
          <a:ln/>
        </p:spPr>
        <p:txBody>
          <a:bodyPr wrap="square" lIns="0" tIns="0" rIns="0" bIns="0" rtlCol="0" anchor="ctr"/>
          <a:lstStyle/>
          <a:p>
            <a:pPr indent="0" marL="0">
              <a:buNone/>
            </a:pPr>
            <a:r>
              <a:rPr lang="en-US" sz="1050" b="1" dirty="0">
                <a:solidFill>
                  <a:srgbClr val="6D2E46"/>
                </a:solidFill>
                <a:latin typeface="Calibri" pitchFamily="34" charset="0"/>
                <a:ea typeface="Calibri" pitchFamily="34" charset="-122"/>
                <a:cs typeface="Calibri" pitchFamily="34" charset="-120"/>
              </a:rPr>
              <a:t>収益はコスト削減で作らない</a:t>
            </a:r>
            <a:endParaRPr lang="en-US" sz="1050" dirty="0"/>
          </a:p>
        </p:txBody>
      </p:sp>
      <p:sp>
        <p:nvSpPr>
          <p:cNvPr id="36" name="Text 33"/>
          <p:cNvSpPr txBox="1"/>
          <p:nvPr/>
        </p:nvSpPr>
        <p:spPr>
          <a:xfrm>
            <a:off x="7882128" y="5093208"/>
            <a:ext cx="3566160" cy="274320"/>
          </a:xfrm>
          <a:prstGeom prst="rect">
            <a:avLst/>
          </a:prstGeom>
          <a:noFill/>
          <a:ln/>
        </p:spPr>
        <p:txBody>
          <a:bodyPr wrap="square" lIns="0" tIns="0" rIns="0" bIns="0" rtlCol="0" anchor="ctr"/>
          <a:lstStyle/>
          <a:p>
            <a:pPr indent="0" marL="0">
              <a:lnSpc>
                <a:spcPts val="1200"/>
              </a:lnSpc>
              <a:buNone/>
            </a:pPr>
            <a:r>
              <a:rPr lang="en-US" sz="900" dirty="0">
                <a:solidFill>
                  <a:srgbClr val="6E6368"/>
                </a:solidFill>
                <a:latin typeface="Calibri" pitchFamily="34" charset="0"/>
                <a:ea typeface="Calibri" pitchFamily="34" charset="-122"/>
                <a:cs typeface="Calibri" pitchFamily="34" charset="-120"/>
              </a:rPr>
              <a:t>原価・人件費の圧縮ではなく、店の価値を高めて伸ばす</a:t>
            </a:r>
            <a:endParaRPr lang="en-US" sz="900" dirty="0"/>
          </a:p>
        </p:txBody>
      </p:sp>
      <p:sp>
        <p:nvSpPr>
          <p:cNvPr id="37" name="Shape 34"/>
          <p:cNvSpPr/>
          <p:nvPr/>
        </p:nvSpPr>
        <p:spPr>
          <a:xfrm>
            <a:off x="566928" y="5577840"/>
            <a:ext cx="11055096" cy="731520"/>
          </a:xfrm>
          <a:prstGeom prst="roundRect">
            <a:avLst>
              <a:gd name="adj" fmla="val 5000"/>
            </a:avLst>
          </a:prstGeom>
          <a:solidFill>
            <a:srgbClr val="6D2E46"/>
          </a:solidFill>
          <a:ln/>
        </p:spPr>
      </p:sp>
      <p:sp>
        <p:nvSpPr>
          <p:cNvPr id="38" name="Text 35"/>
          <p:cNvSpPr txBox="1"/>
          <p:nvPr/>
        </p:nvSpPr>
        <p:spPr>
          <a:xfrm>
            <a:off x="822960" y="5650992"/>
            <a:ext cx="10543032" cy="58521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rPr>
              <a:t>買収後の実行力は、実績で裏付けられています。
</a:t>
            </a:r>
            <a:pPr indent="0" marL="0">
              <a:lnSpc>
                <a:spcPts val="1700"/>
              </a:lnSpc>
              <a:buNone/>
            </a:pPr>
            <a:r>
              <a:rPr lang="en-US" sz="1050" dirty="0">
                <a:solidFill>
                  <a:srgbClr val="EBDCE1"/>
                </a:solidFill>
              </a:rPr>
              <a:t>39年間赤字が続いたグランメゾンを取得し、幹部を一人も欠くことなく、2年間で営業利益を250%超伸ばしました。対象会社は既に高収益であり、必要なのは再建ではなく承継ですが、買収後の運営を担う体制は既に実証されています。</a:t>
            </a:r>
            <a:endParaRPr lang="en-US" sz="1250" dirty="0"/>
          </a:p>
        </p:txBody>
      </p:sp>
      <p:sp>
        <p:nvSpPr>
          <p:cNvPr id="39" name="Text 36"/>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40" name="Text 37"/>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6E6368"/>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B1520"/>
        </a:solidFill>
      </p:bgPr>
    </p:bg>
    <p:spTree>
      <p:nvGrpSpPr>
        <p:cNvPr id="1" name=""/>
        <p:cNvGrpSpPr/>
        <p:nvPr/>
      </p:nvGrpSpPr>
      <p:grpSpPr>
        <a:xfrm>
          <a:off x="0" y="0"/>
          <a:ext cx="0" cy="0"/>
          <a:chOff x="0" y="0"/>
          <a:chExt cx="0" cy="0"/>
        </a:xfrm>
      </p:grpSpPr>
      <p:sp>
        <p:nvSpPr>
          <p:cNvPr id="2" name="Shape 0"/>
          <p:cNvSpPr/>
          <p:nvPr/>
        </p:nvSpPr>
        <p:spPr>
          <a:xfrm>
            <a:off x="9326880" y="4206240"/>
            <a:ext cx="5120640" cy="5120640"/>
          </a:xfrm>
          <a:prstGeom prst="ellipse">
            <a:avLst/>
          </a:prstGeom>
          <a:solidFill>
            <a:srgbClr val="6D2E46"/>
          </a:solidFill>
          <a:ln/>
        </p:spPr>
      </p:sp>
      <p:sp>
        <p:nvSpPr>
          <p:cNvPr id="3" name="Text 1"/>
          <p:cNvSpPr txBox="1"/>
          <p:nvPr/>
        </p:nvSpPr>
        <p:spPr>
          <a:xfrm>
            <a:off x="566928" y="502920"/>
            <a:ext cx="7315200" cy="274320"/>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CONCLUSION</a:t>
            </a:r>
            <a:endParaRPr lang="en-US" sz="1100" dirty="0"/>
          </a:p>
        </p:txBody>
      </p:sp>
      <p:sp>
        <p:nvSpPr>
          <p:cNvPr id="4" name="Text 2"/>
          <p:cNvSpPr txBox="1"/>
          <p:nvPr/>
        </p:nvSpPr>
        <p:spPr>
          <a:xfrm>
            <a:off x="566928" y="777240"/>
            <a:ext cx="7315200" cy="5029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結論</a:t>
            </a:r>
            <a:endParaRPr lang="en-US" sz="3200" dirty="0"/>
          </a:p>
        </p:txBody>
      </p:sp>
      <p:sp>
        <p:nvSpPr>
          <p:cNvPr id="5" name="Text 3"/>
          <p:cNvSpPr txBox="1"/>
          <p:nvPr/>
        </p:nvSpPr>
        <p:spPr>
          <a:xfrm>
            <a:off x="566928" y="1572768"/>
            <a:ext cx="640080" cy="365760"/>
          </a:xfrm>
          <a:prstGeom prst="rect">
            <a:avLst/>
          </a:prstGeom>
          <a:noFill/>
          <a:ln/>
        </p:spPr>
        <p:txBody>
          <a:bodyPr wrap="square" lIns="0" tIns="0" rIns="0" bIns="0" rtlCol="0" anchor="ctr"/>
          <a:lstStyle/>
          <a:p>
            <a:pPr indent="0" marL="0">
              <a:buNone/>
            </a:pPr>
            <a:r>
              <a:rPr lang="en-US" sz="2000" b="1" dirty="0">
                <a:solidFill>
                  <a:srgbClr val="B58B2A"/>
                </a:solidFill>
                <a:latin typeface="Cambria" pitchFamily="34" charset="0"/>
                <a:ea typeface="Cambria" pitchFamily="34" charset="-122"/>
                <a:cs typeface="Cambria" pitchFamily="34" charset="-120"/>
              </a:rPr>
              <a:t>01</a:t>
            </a:r>
            <a:endParaRPr lang="en-US" sz="2000" dirty="0"/>
          </a:p>
        </p:txBody>
      </p:sp>
      <p:sp>
        <p:nvSpPr>
          <p:cNvPr id="6" name="Text 4"/>
          <p:cNvSpPr txBox="1"/>
          <p:nvPr/>
        </p:nvSpPr>
        <p:spPr>
          <a:xfrm>
            <a:off x="1298448" y="1572768"/>
            <a:ext cx="640080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株式譲渡価格50億円は妥当</a:t>
            </a:r>
            <a:endParaRPr lang="en-US" sz="1600" dirty="0"/>
          </a:p>
        </p:txBody>
      </p:sp>
      <p:sp>
        <p:nvSpPr>
          <p:cNvPr id="7" name="Text 5"/>
          <p:cNvSpPr txBox="1"/>
          <p:nvPr/>
        </p:nvSpPr>
        <p:spPr>
          <a:xfrm>
            <a:off x="1298448" y="1901952"/>
            <a:ext cx="6492240" cy="658368"/>
          </a:xfrm>
          <a:prstGeom prst="rect">
            <a:avLst/>
          </a:prstGeom>
          <a:noFill/>
          <a:ln/>
        </p:spPr>
        <p:txBody>
          <a:bodyPr wrap="square" lIns="0" tIns="0" rIns="0" bIns="0" rtlCol="0" anchor="ctr"/>
          <a:lstStyle/>
          <a:p>
            <a:pPr indent="0" marL="0">
              <a:lnSpc>
                <a:spcPts val="1500"/>
              </a:lnSpc>
              <a:buNone/>
            </a:pPr>
            <a:r>
              <a:rPr lang="en-US" sz="1050" dirty="0">
                <a:solidFill>
                  <a:srgbClr val="C9B6BC"/>
                </a:solidFill>
                <a:latin typeface="Calibri" pitchFamily="34" charset="0"/>
                <a:ea typeface="Calibri" pitchFamily="34" charset="-122"/>
                <a:cs typeface="Calibri" pitchFamily="34" charset="-120"/>
              </a:rPr>
              <a:t>2026年12月期末の想定財務を前提とすれば、EV/EBITDA 5.2倍、年買法で営業利益5.09年分、DCF加重期待値50.67億円。4手法すべてで説明可能な水準にある。</a:t>
            </a:r>
            <a:endParaRPr lang="en-US" sz="1050" dirty="0"/>
          </a:p>
        </p:txBody>
      </p:sp>
      <p:sp>
        <p:nvSpPr>
          <p:cNvPr id="8" name="Text 6"/>
          <p:cNvSpPr txBox="1"/>
          <p:nvPr/>
        </p:nvSpPr>
        <p:spPr>
          <a:xfrm>
            <a:off x="566928" y="2651760"/>
            <a:ext cx="640080" cy="365760"/>
          </a:xfrm>
          <a:prstGeom prst="rect">
            <a:avLst/>
          </a:prstGeom>
          <a:noFill/>
          <a:ln/>
        </p:spPr>
        <p:txBody>
          <a:bodyPr wrap="square" lIns="0" tIns="0" rIns="0" bIns="0" rtlCol="0" anchor="ctr"/>
          <a:lstStyle/>
          <a:p>
            <a:pPr indent="0" marL="0">
              <a:buNone/>
            </a:pPr>
            <a:r>
              <a:rPr lang="en-US" sz="2000" b="1" dirty="0">
                <a:solidFill>
                  <a:srgbClr val="B58B2A"/>
                </a:solidFill>
                <a:latin typeface="Cambria" pitchFamily="34" charset="0"/>
                <a:ea typeface="Cambria" pitchFamily="34" charset="-122"/>
                <a:cs typeface="Cambria" pitchFamily="34" charset="-120"/>
              </a:rPr>
              <a:t>02</a:t>
            </a:r>
            <a:endParaRPr lang="en-US" sz="2000" dirty="0"/>
          </a:p>
        </p:txBody>
      </p:sp>
      <p:sp>
        <p:nvSpPr>
          <p:cNvPr id="9" name="Text 7"/>
          <p:cNvSpPr txBox="1"/>
          <p:nvPr/>
        </p:nvSpPr>
        <p:spPr>
          <a:xfrm>
            <a:off x="1298448" y="2651760"/>
            <a:ext cx="640080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許容上限は55億円、理論上限は57.4億円</a:t>
            </a:r>
            <a:endParaRPr lang="en-US" sz="1600" dirty="0"/>
          </a:p>
        </p:txBody>
      </p:sp>
      <p:sp>
        <p:nvSpPr>
          <p:cNvPr id="10" name="Text 8"/>
          <p:cNvSpPr txBox="1"/>
          <p:nvPr/>
        </p:nvSpPr>
        <p:spPr>
          <a:xfrm>
            <a:off x="1298448" y="2980944"/>
            <a:ext cx="6492240" cy="658368"/>
          </a:xfrm>
          <a:prstGeom prst="rect">
            <a:avLst/>
          </a:prstGeom>
          <a:noFill/>
          <a:ln/>
        </p:spPr>
        <p:txBody>
          <a:bodyPr wrap="square" lIns="0" tIns="0" rIns="0" bIns="0" rtlCol="0" anchor="ctr"/>
          <a:lstStyle/>
          <a:p>
            <a:pPr indent="0" marL="0">
              <a:lnSpc>
                <a:spcPts val="1500"/>
              </a:lnSpc>
              <a:buNone/>
            </a:pPr>
            <a:r>
              <a:rPr lang="en-US" sz="1050" dirty="0">
                <a:solidFill>
                  <a:srgbClr val="C9B6BC"/>
                </a:solidFill>
                <a:latin typeface="Calibri" pitchFamily="34" charset="0"/>
                <a:ea typeface="Calibri" pitchFamily="34" charset="-122"/>
                <a:cs typeface="Calibri" pitchFamily="34" charset="-120"/>
              </a:rPr>
              <a:t>55億円は三つ星維持確率78%、57.4億円は100%を前提とする。60億円は説明できない。譲受価額は50〜55億円のレンジで提示する。</a:t>
            </a:r>
            <a:endParaRPr lang="en-US" sz="1050" dirty="0"/>
          </a:p>
        </p:txBody>
      </p:sp>
      <p:sp>
        <p:nvSpPr>
          <p:cNvPr id="11" name="Text 9"/>
          <p:cNvSpPr txBox="1"/>
          <p:nvPr/>
        </p:nvSpPr>
        <p:spPr>
          <a:xfrm>
            <a:off x="566928" y="3730752"/>
            <a:ext cx="640080" cy="365760"/>
          </a:xfrm>
          <a:prstGeom prst="rect">
            <a:avLst/>
          </a:prstGeom>
          <a:noFill/>
          <a:ln/>
        </p:spPr>
        <p:txBody>
          <a:bodyPr wrap="square" lIns="0" tIns="0" rIns="0" bIns="0" rtlCol="0" anchor="ctr"/>
          <a:lstStyle/>
          <a:p>
            <a:pPr indent="0" marL="0">
              <a:buNone/>
            </a:pPr>
            <a:r>
              <a:rPr lang="en-US" sz="2000" b="1" dirty="0">
                <a:solidFill>
                  <a:srgbClr val="B58B2A"/>
                </a:solidFill>
                <a:latin typeface="Cambria" pitchFamily="34" charset="0"/>
                <a:ea typeface="Cambria" pitchFamily="34" charset="-122"/>
                <a:cs typeface="Cambria" pitchFamily="34" charset="-120"/>
              </a:rPr>
              <a:t>03</a:t>
            </a:r>
            <a:endParaRPr lang="en-US" sz="2000" dirty="0"/>
          </a:p>
        </p:txBody>
      </p:sp>
      <p:sp>
        <p:nvSpPr>
          <p:cNvPr id="12" name="Text 10"/>
          <p:cNvSpPr txBox="1"/>
          <p:nvPr/>
        </p:nvSpPr>
        <p:spPr>
          <a:xfrm>
            <a:off x="1298448" y="3730752"/>
            <a:ext cx="640080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価格の45%はキャッシュで裏付けられている</a:t>
            </a:r>
            <a:endParaRPr lang="en-US" sz="1600" dirty="0"/>
          </a:p>
        </p:txBody>
      </p:sp>
      <p:sp>
        <p:nvSpPr>
          <p:cNvPr id="13" name="Text 11"/>
          <p:cNvSpPr txBox="1"/>
          <p:nvPr/>
        </p:nvSpPr>
        <p:spPr>
          <a:xfrm>
            <a:off x="1298448" y="4059936"/>
            <a:ext cx="6492240" cy="658368"/>
          </a:xfrm>
          <a:prstGeom prst="rect">
            <a:avLst/>
          </a:prstGeom>
          <a:noFill/>
          <a:ln/>
        </p:spPr>
        <p:txBody>
          <a:bodyPr wrap="square" lIns="0" tIns="0" rIns="0" bIns="0" rtlCol="0" anchor="ctr"/>
          <a:lstStyle/>
          <a:p>
            <a:pPr indent="0" marL="0">
              <a:lnSpc>
                <a:spcPts val="1500"/>
              </a:lnSpc>
              <a:buNone/>
            </a:pPr>
            <a:r>
              <a:rPr lang="en-US" sz="1050" dirty="0">
                <a:solidFill>
                  <a:srgbClr val="C9B6BC"/>
                </a:solidFill>
                <a:latin typeface="Calibri" pitchFamily="34" charset="0"/>
                <a:ea typeface="Calibri" pitchFamily="34" charset="-122"/>
                <a:cs typeface="Calibri" pitchFamily="34" charset="-120"/>
              </a:rPr>
              <a:t>50億円のうち22.43億円は非事業用資産。事業リスクにさらされるのは27.57億円のみで、営業利益が恒久的に21%落ちてもこの水準は正当化される。</a:t>
            </a:r>
            <a:endParaRPr lang="en-US" sz="1050" dirty="0"/>
          </a:p>
        </p:txBody>
      </p:sp>
      <p:sp>
        <p:nvSpPr>
          <p:cNvPr id="14" name="Text 12"/>
          <p:cNvSpPr txBox="1"/>
          <p:nvPr/>
        </p:nvSpPr>
        <p:spPr>
          <a:xfrm>
            <a:off x="566928" y="4809744"/>
            <a:ext cx="640080" cy="365760"/>
          </a:xfrm>
          <a:prstGeom prst="rect">
            <a:avLst/>
          </a:prstGeom>
          <a:noFill/>
          <a:ln/>
        </p:spPr>
        <p:txBody>
          <a:bodyPr wrap="square" lIns="0" tIns="0" rIns="0" bIns="0" rtlCol="0" anchor="ctr"/>
          <a:lstStyle/>
          <a:p>
            <a:pPr indent="0" marL="0">
              <a:buNone/>
            </a:pPr>
            <a:r>
              <a:rPr lang="en-US" sz="2000" b="1" dirty="0">
                <a:solidFill>
                  <a:srgbClr val="B58B2A"/>
                </a:solidFill>
                <a:latin typeface="Cambria" pitchFamily="34" charset="0"/>
                <a:ea typeface="Cambria" pitchFamily="34" charset="-122"/>
                <a:cs typeface="Cambria" pitchFamily="34" charset="-120"/>
              </a:rPr>
              <a:t>04</a:t>
            </a:r>
            <a:endParaRPr lang="en-US" sz="2000" dirty="0"/>
          </a:p>
        </p:txBody>
      </p:sp>
      <p:sp>
        <p:nvSpPr>
          <p:cNvPr id="15" name="Text 13"/>
          <p:cNvSpPr txBox="1"/>
          <p:nvPr/>
        </p:nvSpPr>
        <p:spPr>
          <a:xfrm>
            <a:off x="1298448" y="4809744"/>
            <a:ext cx="6400800"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貴行にお願いしたいこと</a:t>
            </a:r>
            <a:endParaRPr lang="en-US" sz="1600" dirty="0"/>
          </a:p>
        </p:txBody>
      </p:sp>
      <p:sp>
        <p:nvSpPr>
          <p:cNvPr id="16" name="Text 14"/>
          <p:cNvSpPr txBox="1"/>
          <p:nvPr/>
        </p:nvSpPr>
        <p:spPr>
          <a:xfrm>
            <a:off x="1298448" y="5138928"/>
            <a:ext cx="6492240" cy="658368"/>
          </a:xfrm>
          <a:prstGeom prst="rect">
            <a:avLst/>
          </a:prstGeom>
          <a:noFill/>
          <a:ln/>
        </p:spPr>
        <p:txBody>
          <a:bodyPr wrap="square" lIns="0" tIns="0" rIns="0" bIns="0" rtlCol="0" anchor="ctr"/>
          <a:lstStyle/>
          <a:p>
            <a:pPr indent="0" marL="0">
              <a:lnSpc>
                <a:spcPts val="1500"/>
              </a:lnSpc>
              <a:buNone/>
            </a:pPr>
            <a:r>
              <a:rPr lang="en-US" sz="1050" dirty="0">
                <a:solidFill>
                  <a:srgbClr val="C9B6BC"/>
                </a:solidFill>
                <a:latin typeface="Calibri" pitchFamily="34" charset="0"/>
                <a:ea typeface="Calibri" pitchFamily="34" charset="-122"/>
                <a:cs typeface="Calibri" pitchFamily="34" charset="-120"/>
              </a:rPr>
              <a:t>クロージング時のタームローン20.00億円とブリッジローン21.43億円、計41.43億円。ブリッジは合併直後に対象会社の余剰現金で全額返済され、以後の有利子負債は20.00億円・初年度DSCR1.36倍となります。</a:t>
            </a:r>
            <a:endParaRPr lang="en-US" sz="1050" dirty="0"/>
          </a:p>
        </p:txBody>
      </p:sp>
      <p:sp>
        <p:nvSpPr>
          <p:cNvPr id="17" name="Shape 15"/>
          <p:cNvSpPr/>
          <p:nvPr/>
        </p:nvSpPr>
        <p:spPr>
          <a:xfrm>
            <a:off x="8092440" y="1572768"/>
            <a:ext cx="3529584" cy="4206240"/>
          </a:xfrm>
          <a:prstGeom prst="roundRect">
            <a:avLst>
              <a:gd name="adj" fmla="val 1036"/>
            </a:avLst>
          </a:prstGeom>
          <a:solidFill>
            <a:srgbClr val="3B1E2B"/>
          </a:solidFill>
          <a:ln w="9525">
            <a:solidFill>
              <a:srgbClr val="5A3240"/>
            </a:solidFill>
            <a:prstDash val="solid"/>
          </a:ln>
        </p:spPr>
      </p:sp>
      <p:sp>
        <p:nvSpPr>
          <p:cNvPr id="18" name="Text 16"/>
          <p:cNvSpPr txBox="1"/>
          <p:nvPr/>
        </p:nvSpPr>
        <p:spPr>
          <a:xfrm>
            <a:off x="8311896" y="1719072"/>
            <a:ext cx="3108960" cy="256032"/>
          </a:xfrm>
          <a:prstGeom prst="rect">
            <a:avLst/>
          </a:prstGeom>
          <a:noFill/>
          <a:ln/>
        </p:spPr>
        <p:txBody>
          <a:bodyPr wrap="square" lIns="0" tIns="0" rIns="0" bIns="0" rtlCol="0" anchor="ctr"/>
          <a:lstStyle/>
          <a:p>
            <a:pPr indent="0" marL="0">
              <a:buNone/>
            </a:pPr>
            <a:r>
              <a:rPr lang="en-US" sz="1000" b="1" dirty="0">
                <a:solidFill>
                  <a:srgbClr val="B58B2A"/>
                </a:solidFill>
                <a:latin typeface="Calibri" pitchFamily="34" charset="0"/>
                <a:ea typeface="Calibri" pitchFamily="34" charset="-122"/>
                <a:cs typeface="Calibri" pitchFamily="34" charset="-120"/>
              </a:rPr>
              <a:t>前提条件と出所</a:t>
            </a:r>
            <a:endParaRPr lang="en-US" sz="1000" dirty="0"/>
          </a:p>
        </p:txBody>
      </p:sp>
      <p:sp>
        <p:nvSpPr>
          <p:cNvPr id="19" name="Text 17"/>
          <p:cNvSpPr txBox="1"/>
          <p:nvPr/>
        </p:nvSpPr>
        <p:spPr>
          <a:xfrm>
            <a:off x="8311896" y="2011680"/>
            <a:ext cx="3108960" cy="3566160"/>
          </a:xfrm>
          <a:prstGeom prst="rect">
            <a:avLst/>
          </a:prstGeom>
          <a:noFill/>
          <a:ln/>
        </p:spPr>
        <p:txBody>
          <a:bodyPr wrap="square" lIns="0" tIns="0" rIns="0" bIns="0" rtlCol="0" anchor="t"/>
          <a:lstStyle/>
          <a:p>
            <a:pPr indent="0" marL="0">
              <a:lnSpc>
                <a:spcPts val="1250"/>
              </a:lnSpc>
              <a:buNone/>
            </a:pPr>
            <a:r>
              <a:rPr lang="en-US" sz="860" dirty="0">
                <a:solidFill>
                  <a:srgbClr val="B4A0A6"/>
                </a:solidFill>
                <a:latin typeface="Calibri" pitchFamily="34" charset="0"/>
                <a:ea typeface="Calibri" pitchFamily="34" charset="-122"/>
                <a:cs typeface="Calibri" pitchFamily="34" charset="-120"/>
              </a:rPr>
              <a:t>・2025/12期まではIM記載の決算数値（第13期〜第15期の法人税申告書添付決算書および第15期残高試算表で突合済み）。2026/12期はIM p.40の会社計画（第16期1〜7月の月次試算表で進捗を検証）。
</a:t>
            </a:r>
            <a:pPr indent="0" marL="0">
              <a:lnSpc>
                <a:spcPts val="1250"/>
              </a:lnSpc>
              <a:buNone/>
            </a:pPr>
            <a:r>
              <a:rPr lang="en-US" sz="860" dirty="0">
                <a:solidFill>
                  <a:srgbClr val="B4A0A6"/>
                </a:solidFill>
                <a:latin typeface="Calibri" pitchFamily="34" charset="0"/>
                <a:ea typeface="Calibri" pitchFamily="34" charset="-122"/>
                <a:cs typeface="Calibri" pitchFamily="34" charset="-120"/>
              </a:rPr>
              <a:t>・2026/12期末BSは、無配・設備投資ゼロ・負債横ばいを前提に当期純利益350百万円が全額現預金と純資産に積み上がるものとして推計。
</a:t>
            </a:r>
            <a:pPr indent="0" marL="0">
              <a:lnSpc>
                <a:spcPts val="1250"/>
              </a:lnSpc>
              <a:buNone/>
            </a:pPr>
            <a:r>
              <a:rPr lang="en-US" sz="860" dirty="0">
                <a:solidFill>
                  <a:srgbClr val="B4A0A6"/>
                </a:solidFill>
                <a:latin typeface="Calibri" pitchFamily="34" charset="0"/>
                <a:ea typeface="Calibri" pitchFamily="34" charset="-122"/>
                <a:cs typeface="Calibri" pitchFamily="34" charset="-120"/>
              </a:rPr>
              <a:t>・FCF＝当期純利益（減価償却1百万円、設備投資ゼロ、運転資本増減ゼロ）。
</a:t>
            </a:r>
            <a:pPr indent="0" marL="0">
              <a:lnSpc>
                <a:spcPts val="1250"/>
              </a:lnSpc>
              <a:buNone/>
            </a:pPr>
            <a:r>
              <a:rPr lang="en-US" sz="860" dirty="0">
                <a:solidFill>
                  <a:srgbClr val="B4A0A6"/>
                </a:solidFill>
                <a:latin typeface="Calibri" pitchFamily="34" charset="0"/>
                <a:ea typeface="Calibri" pitchFamily="34" charset="-122"/>
                <a:cs typeface="Calibri" pitchFamily="34" charset="-120"/>
              </a:rPr>
              <a:t>・DCFは割引率10%・継続成長率0%を基準とし、1〜3年目は3シナリオ共通で3.50億円。
</a:t>
            </a:r>
            <a:pPr indent="0" marL="0">
              <a:lnSpc>
                <a:spcPts val="1250"/>
              </a:lnSpc>
              <a:buNone/>
            </a:pPr>
            <a:r>
              <a:rPr lang="en-US" sz="860" dirty="0">
                <a:solidFill>
                  <a:srgbClr val="B4A0A6"/>
                </a:solidFill>
                <a:latin typeface="Calibri" pitchFamily="34" charset="0"/>
                <a:ea typeface="Calibri" pitchFamily="34" charset="-122"/>
                <a:cs typeface="Calibri" pitchFamily="34" charset="-120"/>
              </a:rPr>
              <a:t>・EBITDA倍率の業種別目安（小売飲食業 約6倍）は2026年7月時点の中小M&amp;A実務データ。ひらまつ（2764）はFY2027/3会社予想。
</a:t>
            </a:r>
            <a:pPr indent="0" marL="0">
              <a:lnSpc>
                <a:spcPts val="1250"/>
              </a:lnSpc>
              <a:buNone/>
            </a:pPr>
            <a:r>
              <a:rPr lang="en-US" sz="860" dirty="0">
                <a:solidFill>
                  <a:srgbClr val="B4A0A6"/>
                </a:solidFill>
                <a:latin typeface="Calibri" pitchFamily="34" charset="0"/>
                <a:ea typeface="Calibri" pitchFamily="34" charset="-122"/>
                <a:cs typeface="Calibri" pitchFamily="34" charset="-120"/>
              </a:rPr>
              <a:t>・売主側条件（3年ロックアップ、後継シェフ、譲渡理由、選定基準）は仲介回答（2026年9月）による。
</a:t>
            </a:r>
            <a:pPr indent="0" marL="0">
              <a:lnSpc>
                <a:spcPts val="1250"/>
              </a:lnSpc>
              <a:buNone/>
            </a:pPr>
            <a:r>
              <a:rPr lang="en-US" sz="860" dirty="0">
                <a:solidFill>
                  <a:srgbClr val="B4A0A6"/>
                </a:solidFill>
                <a:latin typeface="Calibri" pitchFamily="34" charset="0"/>
                <a:ea typeface="Calibri" pitchFamily="34" charset="-122"/>
                <a:cs typeface="Calibri" pitchFamily="34" charset="-120"/>
              </a:rPr>
              <a:t>・買収ファイナンスは、クロージング時にタームローン20.00億円＋ブリッジローン21.43億円の計41.43億円。ブリッジは合併直後に対象会社の余剰現金で全額返済し、以後の有利子負債は20.00億円。
</a:t>
            </a:r>
            <a:pPr indent="0" marL="0">
              <a:lnSpc>
                <a:spcPts val="1250"/>
              </a:lnSpc>
              <a:buNone/>
            </a:pPr>
            <a:r>
              <a:rPr lang="en-US" sz="860" dirty="0">
                <a:solidFill>
                  <a:srgbClr val="B4A0A6"/>
                </a:solidFill>
                <a:latin typeface="Calibri" pitchFamily="34" charset="0"/>
                <a:ea typeface="Calibri" pitchFamily="34" charset="-122"/>
                <a:cs typeface="Calibri" pitchFamily="34" charset="-120"/>
              </a:rPr>
              <a:t>・返済はタームローンA 14.00億円を7年・金利3%・元金均等で毎月、タームローンB 6.00億円は期限一括。対象会社に留保する運転資金は1.00億円。
</a:t>
            </a:r>
            <a:pPr indent="0" marL="0">
              <a:lnSpc>
                <a:spcPts val="1250"/>
              </a:lnSpc>
              <a:buNone/>
            </a:pPr>
            <a:r>
              <a:rPr lang="en-US" sz="860" dirty="0">
                <a:solidFill>
                  <a:srgbClr val="B4A0A6"/>
                </a:solidFill>
                <a:latin typeface="Calibri" pitchFamily="34" charset="0"/>
                <a:ea typeface="Calibri" pitchFamily="34" charset="-122"/>
                <a:cs typeface="Calibri" pitchFamily="34" charset="-120"/>
              </a:rPr>
              <a:t>・本資料は対象会社の事業価値および提示価格の妥当性を検証したもの。買収ストラクチャーおよびエクイティの調達計画は別途。
</a:t>
            </a:r>
            <a:pPr indent="0" marL="0">
              <a:lnSpc>
                <a:spcPts val="1250"/>
              </a:lnSpc>
              <a:buNone/>
            </a:pPr>
            <a:r>
              <a:rPr lang="en-US" sz="860" dirty="0">
                <a:solidFill>
                  <a:srgbClr val="B4A0A6"/>
                </a:solidFill>
                <a:latin typeface="Calibri" pitchFamily="34" charset="0"/>
                <a:ea typeface="Calibri" pitchFamily="34" charset="-122"/>
                <a:cs typeface="Calibri" pitchFamily="34" charset="-120"/>
              </a:rPr>
              <a:t>・p.31の株式会社アピシウスに関する計数は、同社の取得時（2024年6月）と2026年時点との比較。売上高・営業利益はいずれも取得前比。</a:t>
            </a:r>
            <a:endParaRPr lang="en-US" sz="860" dirty="0"/>
          </a:p>
        </p:txBody>
      </p:sp>
      <p:sp>
        <p:nvSpPr>
          <p:cNvPr id="20" name="Text 18"/>
          <p:cNvSpPr txBox="1"/>
          <p:nvPr/>
        </p:nvSpPr>
        <p:spPr>
          <a:xfrm>
            <a:off x="566928" y="6419088"/>
            <a:ext cx="8686800" cy="228600"/>
          </a:xfrm>
          <a:prstGeom prst="rect">
            <a:avLst/>
          </a:prstGeom>
          <a:noFill/>
          <a:ln/>
        </p:spPr>
        <p:txBody>
          <a:bodyPr wrap="square" lIns="0" tIns="0" rIns="0" bIns="0" rtlCol="0" anchor="ctr"/>
          <a:lstStyle/>
          <a:p>
            <a:pPr indent="0" marL="0">
              <a:buNone/>
            </a:pPr>
            <a:r>
              <a:rPr lang="en-US" sz="800" dirty="0">
                <a:solidFill>
                  <a:srgbClr val="8A7278"/>
                </a:solidFill>
                <a:latin typeface="Calibri" pitchFamily="34" charset="0"/>
                <a:ea typeface="Calibri" pitchFamily="34" charset="-122"/>
                <a:cs typeface="Calibri" pitchFamily="34" charset="-120"/>
              </a:rPr>
              <a:t>カンテサンス（株式会社プティ・ボノム）買収案件 ／ みずほ銀行ご提出用　2026年9月20日 株式会社WineBank</a:t>
            </a:r>
            <a:endParaRPr lang="en-US" sz="800" dirty="0"/>
          </a:p>
        </p:txBody>
      </p:sp>
      <p:sp>
        <p:nvSpPr>
          <p:cNvPr id="21" name="Text 19"/>
          <p:cNvSpPr txBox="1"/>
          <p:nvPr/>
        </p:nvSpPr>
        <p:spPr>
          <a:xfrm>
            <a:off x="10799064" y="6419088"/>
            <a:ext cx="822960" cy="228600"/>
          </a:xfrm>
          <a:prstGeom prst="rect">
            <a:avLst/>
          </a:prstGeom>
          <a:noFill/>
          <a:ln/>
        </p:spPr>
        <p:txBody>
          <a:bodyPr wrap="square" lIns="0" tIns="0" rIns="0" bIns="0" rtlCol="0" anchor="ctr"/>
          <a:lstStyle/>
          <a:p>
            <a:pPr algn="r" indent="0" marL="0">
              <a:buNone/>
            </a:pPr>
            <a:r>
              <a:rPr lang="en-US" sz="900" dirty="0">
                <a:solidFill>
                  <a:srgbClr val="8A7278"/>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カンテサンス 買収案件 銀行ご提出用資料</dc:title>
  <dc:subject>PptxGenJS Presentation</dc:subject>
  <dc:creator>株式会社WineBank</dc:creator>
  <cp:lastModifiedBy>株式会社WineBank</cp:lastModifiedBy>
  <cp:revision>1</cp:revision>
  <dcterms:created xsi:type="dcterms:W3CDTF">2026-09-27T08:26:22Z</dcterms:created>
  <dcterms:modified xsi:type="dcterms:W3CDTF">2026-09-27T08:26:22Z</dcterms:modified>
</cp:coreProperties>
</file>