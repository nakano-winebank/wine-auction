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当初案。ご相談案（p.24）では1.38倍</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16〜p.22）。</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p.9</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p.10</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p.11</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p.12</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p.20-22</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p.24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100%（高級スイーツEC）／株式会社BISは対象外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34席・1日平均54名（約1.6回転）・営業日数252日・年間来店 約1.37万人・従業員21名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34席×約1.6回転×252日。リピート希望率7割、海外からの問い合わせは半数以上あるが意図的に絞っている</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評価の基礎数値を、確定決算と月次試算表で検証した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対象会社から開示された第13期〜第15期の確定決算、2026年1〜7月の月次試算表、および2029年までの会社計画を突合した。</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1911096"/>
                <a:gridCol w="1307592"/>
                <a:gridCol w="1307592"/>
                <a:gridCol w="1307592"/>
                <a:gridCol w="1307592"/>
                <a:gridCol w="1307592"/>
                <a:gridCol w="1307592"/>
                <a:gridCol w="1298448"/>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2023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831.9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891.2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976.4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1,128.6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392.8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442.5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505.0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555.8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576.5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598.2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49.7%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当期純利益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259.0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305.2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335.5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350.4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381.3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395.6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511296"/>
            <a:ext cx="11055096" cy="29260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億円ではなく百万円。2023〜2025年は確定決算、2026年以降は対象会社作成の計画（過去3年の費用比率の中央値を売上に乗じた積上げ）。当社が評価の基礎としている2026年12月期の数値は、網掛け列のとおり会社計画と一致する。</a:t>
            </a:r>
            <a:endParaRPr lang="en-US" sz="850" dirty="0"/>
          </a:p>
        </p:txBody>
      </p:sp>
      <p:sp>
        <p:nvSpPr>
          <p:cNvPr id="7" name="Text 4"/>
          <p:cNvSpPr txBox="1"/>
          <p:nvPr/>
        </p:nvSpPr>
        <p:spPr>
          <a:xfrm>
            <a:off x="566928" y="3822192"/>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2026年1〜7月の進捗</a:t>
            </a:r>
            <a:endParaRPr lang="en-US" sz="13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66928" y="4096512"/>
          <a:ext cx="11055096" cy="914400"/>
        </p:xfrm>
        <a:graphic>
          <a:graphicData uri="http://schemas.openxmlformats.org/drawingml/2006/table">
            <a:tbl>
              <a:tblPr/>
              <a:tblGrid>
                <a:gridCol w="1911096"/>
                <a:gridCol w="1600200"/>
                <a:gridCol w="1600200"/>
                <a:gridCol w="1508760"/>
                <a:gridCol w="1508760"/>
                <a:gridCol w="1508760"/>
                <a:gridCol w="141732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前年同期比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年換算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会社計画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計画比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587.6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9" name="Text 5"/>
          <p:cNvSpPr txBox="1"/>
          <p:nvPr/>
        </p:nvSpPr>
        <p:spPr>
          <a:xfrm>
            <a:off x="566928" y="5193792"/>
            <a:ext cx="11055096" cy="256032"/>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年換算は、2025年通期に対する1〜7月の構成比（売上57.4%、営業利益49.1%。7月に役員賞与9,540万円を一括計上するため営業利益の構成比が低い）を用いて引き延ばしたもの。</a:t>
            </a:r>
            <a:endParaRPr lang="en-US" sz="850" dirty="0"/>
          </a:p>
        </p:txBody>
      </p:sp>
      <p:sp>
        <p:nvSpPr>
          <p:cNvPr id="10" name="Shape 6"/>
          <p:cNvSpPr/>
          <p:nvPr/>
        </p:nvSpPr>
        <p:spPr>
          <a:xfrm>
            <a:off x="566928" y="5486400"/>
            <a:ext cx="3520440" cy="841248"/>
          </a:xfrm>
          <a:prstGeom prst="roundRect">
            <a:avLst>
              <a:gd name="adj" fmla="val 5435"/>
            </a:avLst>
          </a:prstGeom>
          <a:solidFill>
            <a:srgbClr val="F7F3F4"/>
          </a:solidFill>
          <a:ln w="9525">
            <a:solidFill>
              <a:srgbClr val="E4DADD"/>
            </a:solidFill>
            <a:prstDash val="solid"/>
          </a:ln>
        </p:spPr>
      </p:sp>
      <p:sp>
        <p:nvSpPr>
          <p:cNvPr id="11" name="Shape 7"/>
          <p:cNvSpPr/>
          <p:nvPr/>
        </p:nvSpPr>
        <p:spPr>
          <a:xfrm>
            <a:off x="566928" y="5486400"/>
            <a:ext cx="45720" cy="841248"/>
          </a:xfrm>
          <a:prstGeom prst="rect">
            <a:avLst/>
          </a:prstGeom>
          <a:solidFill>
            <a:srgbClr val="2E6F4E"/>
          </a:solidFill>
          <a:ln/>
        </p:spPr>
      </p:sp>
      <p:sp>
        <p:nvSpPr>
          <p:cNvPr id="12" name="Text 8"/>
          <p:cNvSpPr txBox="1"/>
          <p:nvPr/>
        </p:nvSpPr>
        <p:spPr>
          <a:xfrm>
            <a:off x="768096" y="5568696"/>
            <a:ext cx="3127248" cy="219456"/>
          </a:xfrm>
          <a:prstGeom prst="rect">
            <a:avLst/>
          </a:prstGeom>
          <a:noFill/>
          <a:ln/>
        </p:spPr>
        <p:txBody>
          <a:bodyPr wrap="square" lIns="0" tIns="0" rIns="0" bIns="0" rtlCol="0" anchor="ctr"/>
          <a:lstStyle/>
          <a:p>
            <a:pPr indent="0" marL="0">
              <a:buNone/>
            </a:pPr>
            <a:r>
              <a:rPr lang="en-US" sz="1050" b="1" dirty="0">
                <a:solidFill>
                  <a:srgbClr val="2E6F4E"/>
                </a:solidFill>
                <a:latin typeface="Calibri" pitchFamily="34" charset="0"/>
                <a:ea typeface="Calibri" pitchFamily="34" charset="-122"/>
                <a:cs typeface="Calibri" pitchFamily="34" charset="-120"/>
              </a:rPr>
              <a:t>① 評価の基礎は会社計画と一致</a:t>
            </a:r>
            <a:endParaRPr lang="en-US" sz="1050" dirty="0"/>
          </a:p>
        </p:txBody>
      </p:sp>
      <p:sp>
        <p:nvSpPr>
          <p:cNvPr id="13" name="Text 9"/>
          <p:cNvSpPr txBox="1"/>
          <p:nvPr/>
        </p:nvSpPr>
        <p:spPr>
          <a:xfrm>
            <a:off x="768096"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当社が用いている売上10.15億円・営業利益5.28億円・当期純利益3.50億円は、対象会社作成の2026年12月期計画と一致する。第15期（2025年）の確定決算は売上9.76億円・営業利益5.05億円であり、計画はその延長線上にある。</a:t>
            </a:r>
            <a:endParaRPr lang="en-US" sz="780" dirty="0"/>
          </a:p>
        </p:txBody>
      </p:sp>
      <p:sp>
        <p:nvSpPr>
          <p:cNvPr id="14" name="Shape 10"/>
          <p:cNvSpPr/>
          <p:nvPr/>
        </p:nvSpPr>
        <p:spPr>
          <a:xfrm>
            <a:off x="4297680" y="5486400"/>
            <a:ext cx="3520440" cy="841248"/>
          </a:xfrm>
          <a:prstGeom prst="roundRect">
            <a:avLst>
              <a:gd name="adj" fmla="val 5435"/>
            </a:avLst>
          </a:prstGeom>
          <a:solidFill>
            <a:srgbClr val="F7F3F4"/>
          </a:solidFill>
          <a:ln w="9525">
            <a:solidFill>
              <a:srgbClr val="E4DADD"/>
            </a:solidFill>
            <a:prstDash val="solid"/>
          </a:ln>
        </p:spPr>
      </p:sp>
      <p:sp>
        <p:nvSpPr>
          <p:cNvPr id="15" name="Shape 11"/>
          <p:cNvSpPr/>
          <p:nvPr/>
        </p:nvSpPr>
        <p:spPr>
          <a:xfrm>
            <a:off x="4297680" y="5486400"/>
            <a:ext cx="45720" cy="841248"/>
          </a:xfrm>
          <a:prstGeom prst="rect">
            <a:avLst/>
          </a:prstGeom>
          <a:solidFill>
            <a:srgbClr val="A8741A"/>
          </a:solidFill>
          <a:ln/>
        </p:spPr>
      </p:sp>
      <p:sp>
        <p:nvSpPr>
          <p:cNvPr id="16" name="Text 12"/>
          <p:cNvSpPr txBox="1"/>
          <p:nvPr/>
        </p:nvSpPr>
        <p:spPr>
          <a:xfrm>
            <a:off x="4498848" y="5568696"/>
            <a:ext cx="3127248" cy="219456"/>
          </a:xfrm>
          <a:prstGeom prst="rect">
            <a:avLst/>
          </a:prstGeom>
          <a:noFill/>
          <a:ln/>
        </p:spPr>
        <p:txBody>
          <a:bodyPr wrap="square" lIns="0" tIns="0" rIns="0" bIns="0" rtlCol="0" anchor="ctr"/>
          <a:lstStyle/>
          <a:p>
            <a:pPr indent="0" marL="0">
              <a:buNone/>
            </a:pPr>
            <a:r>
              <a:rPr lang="en-US" sz="1050" b="1" dirty="0">
                <a:solidFill>
                  <a:srgbClr val="A8741A"/>
                </a:solidFill>
                <a:latin typeface="Calibri" pitchFamily="34" charset="0"/>
                <a:ea typeface="Calibri" pitchFamily="34" charset="-122"/>
                <a:cs typeface="Calibri" pitchFamily="34" charset="-120"/>
              </a:rPr>
              <a:t>② 売上は計画超、利益はやや未達</a:t>
            </a:r>
            <a:endParaRPr lang="en-US" sz="1050" dirty="0"/>
          </a:p>
        </p:txBody>
      </p:sp>
      <p:sp>
        <p:nvSpPr>
          <p:cNvPr id="17" name="Text 13"/>
          <p:cNvSpPr txBox="1"/>
          <p:nvPr/>
        </p:nvSpPr>
        <p:spPr>
          <a:xfrm>
            <a:off x="4498848"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1〜7月は売上が前年同期比＋4.8%と計画を0.8%上回る一方、営業利益は計画を1.2%下回る。要因は原価と人件費で、食材仕入が前年同期比＋19.2%、給料手当が同＋19.2%。粗利率は78.3%から77.0%へ1.3ポイント低下している。</a:t>
            </a:r>
            <a:endParaRPr lang="en-US" sz="780" dirty="0"/>
          </a:p>
        </p:txBody>
      </p:sp>
      <p:sp>
        <p:nvSpPr>
          <p:cNvPr id="18" name="Shape 14"/>
          <p:cNvSpPr/>
          <p:nvPr/>
        </p:nvSpPr>
        <p:spPr>
          <a:xfrm>
            <a:off x="8028432" y="5486400"/>
            <a:ext cx="3520440" cy="841248"/>
          </a:xfrm>
          <a:prstGeom prst="roundRect">
            <a:avLst>
              <a:gd name="adj" fmla="val 5435"/>
            </a:avLst>
          </a:prstGeom>
          <a:solidFill>
            <a:srgbClr val="F7F3F4"/>
          </a:solidFill>
          <a:ln w="9525">
            <a:solidFill>
              <a:srgbClr val="E4DADD"/>
            </a:solidFill>
            <a:prstDash val="solid"/>
          </a:ln>
        </p:spPr>
      </p:sp>
      <p:sp>
        <p:nvSpPr>
          <p:cNvPr id="19" name="Shape 15"/>
          <p:cNvSpPr/>
          <p:nvPr/>
        </p:nvSpPr>
        <p:spPr>
          <a:xfrm>
            <a:off x="8028432" y="5486400"/>
            <a:ext cx="45720" cy="841248"/>
          </a:xfrm>
          <a:prstGeom prst="rect">
            <a:avLst/>
          </a:prstGeom>
          <a:solidFill>
            <a:srgbClr val="6D2E46"/>
          </a:solidFill>
          <a:ln/>
        </p:spPr>
      </p:sp>
      <p:sp>
        <p:nvSpPr>
          <p:cNvPr id="20" name="Text 16"/>
          <p:cNvSpPr txBox="1"/>
          <p:nvPr/>
        </p:nvSpPr>
        <p:spPr>
          <a:xfrm>
            <a:off x="8229600" y="5568696"/>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③ 当社のDCFは会社計画より保守的</a:t>
            </a:r>
            <a:endParaRPr lang="en-US" sz="1050" dirty="0"/>
          </a:p>
        </p:txBody>
      </p:sp>
      <p:sp>
        <p:nvSpPr>
          <p:cNvPr id="21" name="Text 17"/>
          <p:cNvSpPr txBox="1"/>
          <p:nvPr/>
        </p:nvSpPr>
        <p:spPr>
          <a:xfrm>
            <a:off x="8229600"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会社計画は2029年まで年3〜5%の増益を見込むが、当社のDCFは岸田氏在任中の3年間をFCF 3.50億円で固定し、成長をゼロとしている。上記②のコスト上昇を踏まえれば、この保守性は妥当である。</a:t>
            </a:r>
            <a:endParaRPr lang="en-US" sz="780" dirty="0"/>
          </a:p>
        </p:txBody>
      </p:sp>
      <p:sp>
        <p:nvSpPr>
          <p:cNvPr id="22"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23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02736"/>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3950208"/>
            <a:ext cx="45720" cy="457200"/>
          </a:xfrm>
          <a:prstGeom prst="rect">
            <a:avLst/>
          </a:prstGeom>
          <a:solidFill>
            <a:srgbClr val="A26769"/>
          </a:solidFill>
          <a:ln/>
        </p:spPr>
      </p:sp>
      <p:sp>
        <p:nvSpPr>
          <p:cNvPr id="7" name="Text 4"/>
          <p:cNvSpPr txBox="1"/>
          <p:nvPr/>
        </p:nvSpPr>
        <p:spPr>
          <a:xfrm>
            <a:off x="749808" y="38953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8953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1513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535424"/>
            <a:ext cx="45720" cy="457200"/>
          </a:xfrm>
          <a:prstGeom prst="rect">
            <a:avLst/>
          </a:prstGeom>
          <a:solidFill>
            <a:srgbClr val="A26769"/>
          </a:solidFill>
          <a:ln/>
        </p:spPr>
      </p:sp>
      <p:sp>
        <p:nvSpPr>
          <p:cNvPr id="11" name="Text 8"/>
          <p:cNvSpPr txBox="1"/>
          <p:nvPr/>
        </p:nvSpPr>
        <p:spPr>
          <a:xfrm>
            <a:off x="749808" y="4480560"/>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480560"/>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736592"/>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120640"/>
            <a:ext cx="45720" cy="457200"/>
          </a:xfrm>
          <a:prstGeom prst="rect">
            <a:avLst/>
          </a:prstGeom>
          <a:solidFill>
            <a:srgbClr val="6D2E46"/>
          </a:solidFill>
          <a:ln/>
        </p:spPr>
      </p:sp>
      <p:sp>
        <p:nvSpPr>
          <p:cNvPr id="15" name="Text 12"/>
          <p:cNvSpPr txBox="1"/>
          <p:nvPr/>
        </p:nvSpPr>
        <p:spPr>
          <a:xfrm>
            <a:off x="749808" y="5065776"/>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065776"/>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321808"/>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760720"/>
            <a:ext cx="11055096" cy="566928"/>
          </a:xfrm>
          <a:prstGeom prst="rect">
            <a:avLst/>
          </a:prstGeom>
          <a:noFill/>
          <a:ln/>
        </p:spPr>
        <p:txBody>
          <a:bodyPr wrap="square" lIns="0" tIns="0" rIns="0" bIns="0" rtlCol="0" anchor="ctr"/>
          <a:lstStyle/>
          <a:p>
            <a:pPr indent="0" marL="0">
              <a:lnSpc>
                <a:spcPts val="1250"/>
              </a:lnSpc>
              <a:buNone/>
            </a:pPr>
            <a:r>
              <a:rPr lang="en-US" sz="900" b="1" dirty="0">
                <a:solidFill>
                  <a:srgbClr val="6D2E46"/>
                </a:solidFill>
                <a:latin typeface="Calibri" pitchFamily="34" charset="0"/>
                <a:ea typeface="Calibri" pitchFamily="34" charset="-122"/>
                <a:cs typeface="Calibri" pitchFamily="34" charset="-120"/>
              </a:rPr>
              <a:t>修正営業利益ベースでは4.5倍　</a:t>
            </a:r>
            <a:pPr indent="0" marL="0">
              <a:lnSpc>
                <a:spcPts val="1250"/>
              </a:lnSpc>
              <a:buNone/>
            </a:pPr>
            <a:r>
              <a:rPr lang="en-US" sz="900" dirty="0">
                <a:solidFill>
                  <a:srgbClr val="6E6368"/>
                </a:solidFill>
                <a:latin typeface="Calibri" pitchFamily="34" charset="0"/>
                <a:ea typeface="Calibri" pitchFamily="34" charset="-122"/>
                <a:cs typeface="Calibri" pitchFamily="34" charset="-120"/>
              </a:rPr>
              <a:t>売主は「修正営業利益5.8億円」で本件を提示している。会計上の営業利益との差額は岸田氏の役員報酬（月60万円＋役員賞与9,540万円）であり、経営者報酬を一般的な水準に正常化したもの。この基準では2026年12月期は約6.1億円となり、EV27.57億円は4.5倍に相当する。ただし正常化益は岸田氏ご退任後にしか実現しないため、返済原資は会計ベースのFCF 3.50億円で見ている。</a:t>
            </a:r>
            <a:endParaRPr lang="en-US" sz="9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0%（34席固定・値上げ以外の成長ドライバーなし）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代表取締役として在任</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譲受価額が55.0億円となる場合、差額5.0億円は追加投資家の第三者割当増資で調達する（p.19）。借入額および合併後の財務は変わらない。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ご相談案（p.24）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留保を厚くしても総ご相談額は増えない</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立替えであり、留保額を増やした分だけブリッジは減る。留保を1.0億円から6.0億円へ引き上げ、恒久タームローンを20.0億円から25.0億円へ振り替えれば、みずほ銀行様への総ご相談額41.4億円は変わらないまま、初年度末の残高は0.66億円から5.81億円になる。詳細は24ページに記載した。</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税務上ののれんは織り込んでいない</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譲受代金と時価純資産の差額26.85億円は、事業譲渡型であれば5年で損金算入できるが、本件は適格合併に該当するため計上されない。当社は保守的に、合併による支払利息の損金算入のみを織り込んでいる。詳細は23ページに記載した。</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 ②</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キャッシュフロー計算書 ― 借入返済後も毎期プラスを確保する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合併後の対象会社の年次資金収支。維持更新投資を年0.30億円、支払利息の損金算入を織り込んだ推奨案（借入25.0億円・10年）ベース。</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825496"/>
                <a:gridCol w="1179576"/>
                <a:gridCol w="1179576"/>
                <a:gridCol w="1179576"/>
                <a:gridCol w="1179576"/>
                <a:gridCol w="1179576"/>
                <a:gridCol w="1179576"/>
                <a:gridCol w="1152144"/>
              </a:tblGrid>
              <a:tr h="3063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減価償却費</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支払利息</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法人税等の支払</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1.94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設備投資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フリーキャッシュフロー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借入元本の返済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現金の増減</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期末現金残高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7.81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8.87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9.96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12.24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5029200"/>
            <a:ext cx="11055096" cy="36576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単位：億円。2027年の法人税等には2026年12月期の未払法人税1.14億円の納付を含む。2034年〜2036年も同水準で推移し、期限一括返済分7.50億円は2036年末の現金残高で返済可能（返済後8.42億円）。</a:t>
            </a:r>
            <a:endParaRPr lang="en-US" sz="900" dirty="0"/>
          </a:p>
        </p:txBody>
      </p:sp>
      <p:sp>
        <p:nvSpPr>
          <p:cNvPr id="7" name="Shape 4"/>
          <p:cNvSpPr/>
          <p:nvPr/>
        </p:nvSpPr>
        <p:spPr>
          <a:xfrm>
            <a:off x="566928" y="5486400"/>
            <a:ext cx="3520440" cy="822960"/>
          </a:xfrm>
          <a:prstGeom prst="roundRect">
            <a:avLst>
              <a:gd name="adj" fmla="val 5556"/>
            </a:avLst>
          </a:prstGeom>
          <a:solidFill>
            <a:srgbClr val="F7F3F4"/>
          </a:solidFill>
          <a:ln w="9525">
            <a:solidFill>
              <a:srgbClr val="E4DADD"/>
            </a:solidFill>
            <a:prstDash val="solid"/>
          </a:ln>
        </p:spPr>
      </p:sp>
      <p:sp>
        <p:nvSpPr>
          <p:cNvPr id="8" name="Text 5"/>
          <p:cNvSpPr txBox="1"/>
          <p:nvPr/>
        </p:nvSpPr>
        <p:spPr>
          <a:xfrm>
            <a:off x="768096"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借入返済後も毎期プラス</a:t>
            </a:r>
            <a:endParaRPr lang="en-US" sz="1050" dirty="0"/>
          </a:p>
        </p:txBody>
      </p:sp>
      <p:sp>
        <p:nvSpPr>
          <p:cNvPr id="9" name="Text 6"/>
          <p:cNvSpPr txBox="1"/>
          <p:nvPr/>
        </p:nvSpPr>
        <p:spPr>
          <a:xfrm>
            <a:off x="768096"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2027年のみ前期未払税金1.14億円の納付により△0.11億円となるが、2028年以降は年約1.0億円ずつ現金が積み上がる。</a:t>
            </a:r>
            <a:endParaRPr lang="en-US" sz="850" dirty="0"/>
          </a:p>
        </p:txBody>
      </p:sp>
      <p:sp>
        <p:nvSpPr>
          <p:cNvPr id="10" name="Shape 7"/>
          <p:cNvSpPr/>
          <p:nvPr/>
        </p:nvSpPr>
        <p:spPr>
          <a:xfrm>
            <a:off x="4297680" y="5486400"/>
            <a:ext cx="3520440" cy="822960"/>
          </a:xfrm>
          <a:prstGeom prst="roundRect">
            <a:avLst>
              <a:gd name="adj" fmla="val 5556"/>
            </a:avLst>
          </a:prstGeom>
          <a:solidFill>
            <a:srgbClr val="F7F3F4"/>
          </a:solidFill>
          <a:ln w="9525">
            <a:solidFill>
              <a:srgbClr val="E4DADD"/>
            </a:solidFill>
            <a:prstDash val="solid"/>
          </a:ln>
        </p:spPr>
      </p:sp>
      <p:sp>
        <p:nvSpPr>
          <p:cNvPr id="11" name="Text 8"/>
          <p:cNvSpPr txBox="1"/>
          <p:nvPr/>
        </p:nvSpPr>
        <p:spPr>
          <a:xfrm>
            <a:off x="4498848"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10年間の利息総額 5.36億円</a:t>
            </a:r>
            <a:endParaRPr lang="en-US" sz="1050" dirty="0"/>
          </a:p>
        </p:txBody>
      </p:sp>
      <p:sp>
        <p:nvSpPr>
          <p:cNvPr id="12" name="Text 9"/>
          <p:cNvSpPr txBox="1"/>
          <p:nvPr/>
        </p:nvSpPr>
        <p:spPr>
          <a:xfrm>
            <a:off x="4498848"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元本25.00億円に対する支払利息の総額。金利3%・元金均等（期限一括分7.50億円を含む）を前提としている。</a:t>
            </a:r>
            <a:endParaRPr lang="en-US" sz="850" dirty="0"/>
          </a:p>
        </p:txBody>
      </p:sp>
      <p:sp>
        <p:nvSpPr>
          <p:cNvPr id="13" name="Shape 10"/>
          <p:cNvSpPr/>
          <p:nvPr/>
        </p:nvSpPr>
        <p:spPr>
          <a:xfrm>
            <a:off x="8028432" y="5486400"/>
            <a:ext cx="3520440" cy="822960"/>
          </a:xfrm>
          <a:prstGeom prst="roundRect">
            <a:avLst>
              <a:gd name="adj" fmla="val 5556"/>
            </a:avLst>
          </a:prstGeom>
          <a:solidFill>
            <a:srgbClr val="F7F3F4"/>
          </a:solidFill>
          <a:ln w="9525">
            <a:solidFill>
              <a:srgbClr val="E4DADD"/>
            </a:solidFill>
            <a:prstDash val="solid"/>
          </a:ln>
        </p:spPr>
      </p:sp>
      <p:sp>
        <p:nvSpPr>
          <p:cNvPr id="14" name="Text 11"/>
          <p:cNvSpPr txBox="1"/>
          <p:nvPr/>
        </p:nvSpPr>
        <p:spPr>
          <a:xfrm>
            <a:off x="8229600"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最終年度末の手元 8.42億円</a:t>
            </a:r>
            <a:endParaRPr lang="en-US" sz="1050" dirty="0"/>
          </a:p>
        </p:txBody>
      </p:sp>
      <p:sp>
        <p:nvSpPr>
          <p:cNvPr id="15" name="Text 12"/>
          <p:cNvSpPr txBox="1"/>
          <p:nvPr/>
        </p:nvSpPr>
        <p:spPr>
          <a:xfrm>
            <a:off x="8229600"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期限一括返済分7.50億円を自己資金で完済したうえで、なお8.42億円が残る。借換えを前提としない設計。</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税効果の整理 ― 取れるものと、取れないもの</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本件のキャッシュフローに影響する税務論点を2つに切り分けた。当社は保守的に、確実に取れるものだけを織り込んでいる。</a:t>
            </a:r>
            <a:endParaRPr lang="en-US" sz="1250" dirty="0"/>
          </a:p>
        </p:txBody>
      </p:sp>
      <p:sp>
        <p:nvSpPr>
          <p:cNvPr id="5" name="Shape 3"/>
          <p:cNvSpPr/>
          <p:nvPr/>
        </p:nvSpPr>
        <p:spPr>
          <a:xfrm>
            <a:off x="566928" y="1536192"/>
            <a:ext cx="5440680" cy="2148840"/>
          </a:xfrm>
          <a:prstGeom prst="roundRect">
            <a:avLst>
              <a:gd name="adj" fmla="val 2128"/>
            </a:avLst>
          </a:prstGeom>
          <a:solidFill>
            <a:srgbClr val="FFFFFF"/>
          </a:solidFill>
          <a:ln w="9525">
            <a:solidFill>
              <a:srgbClr val="E4DADD"/>
            </a:solidFill>
            <a:prstDash val="solid"/>
          </a:ln>
        </p:spPr>
      </p:sp>
      <p:sp>
        <p:nvSpPr>
          <p:cNvPr id="6" name="Shape 4"/>
          <p:cNvSpPr/>
          <p:nvPr/>
        </p:nvSpPr>
        <p:spPr>
          <a:xfrm>
            <a:off x="566928" y="1536192"/>
            <a:ext cx="5440680" cy="45720"/>
          </a:xfrm>
          <a:prstGeom prst="rect">
            <a:avLst/>
          </a:prstGeom>
          <a:solidFill>
            <a:srgbClr val="2E6F4E"/>
          </a:solidFill>
          <a:ln/>
        </p:spPr>
      </p:sp>
      <p:sp>
        <p:nvSpPr>
          <p:cNvPr id="7" name="Shape 5"/>
          <p:cNvSpPr/>
          <p:nvPr/>
        </p:nvSpPr>
        <p:spPr>
          <a:xfrm>
            <a:off x="786384" y="1737360"/>
            <a:ext cx="274320" cy="274320"/>
          </a:xfrm>
          <a:prstGeom prst="ellipse">
            <a:avLst/>
          </a:prstGeom>
          <a:solidFill>
            <a:srgbClr val="2E6F4E"/>
          </a:solidFill>
          <a:ln/>
        </p:spPr>
      </p:sp>
      <p:sp>
        <p:nvSpPr>
          <p:cNvPr id="8" name="Text 6"/>
          <p:cNvSpPr txBox="1"/>
          <p:nvPr/>
        </p:nvSpPr>
        <p:spPr>
          <a:xfrm>
            <a:off x="786384"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9" name="Text 7"/>
          <p:cNvSpPr txBox="1"/>
          <p:nvPr/>
        </p:nvSpPr>
        <p:spPr>
          <a:xfrm>
            <a:off x="1170432"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取れる：支払利息の損金算入</a:t>
            </a:r>
            <a:endParaRPr lang="en-US" sz="1500" dirty="0"/>
          </a:p>
        </p:txBody>
      </p:sp>
      <p:sp>
        <p:nvSpPr>
          <p:cNvPr id="10" name="Text 8"/>
          <p:cNvSpPr txBox="1"/>
          <p:nvPr/>
        </p:nvSpPr>
        <p:spPr>
          <a:xfrm>
            <a:off x="786384" y="2139696"/>
            <a:ext cx="502920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SPCが借り入れ、対象会社が利益を稼ぐ状態では、両者の損益は通算できない。クロージング後にSPCと対象会社を合併することで、支払利息が対象会社の営業利益と相殺され、損金算入が可能となる（デット・プッシュダウン）。</a:t>
            </a:r>
            <a:endParaRPr lang="en-US" sz="1000" dirty="0"/>
          </a:p>
        </p:txBody>
      </p:sp>
      <p:sp>
        <p:nvSpPr>
          <p:cNvPr id="11" name="Text 9"/>
          <p:cNvSpPr txBox="1"/>
          <p:nvPr/>
        </p:nvSpPr>
        <p:spPr>
          <a:xfrm>
            <a:off x="786384" y="2999232"/>
            <a:ext cx="502920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効果　</a:t>
            </a:r>
            <a:pPr indent="0" marL="0">
              <a:lnSpc>
                <a:spcPts val="1400"/>
              </a:lnSpc>
              <a:buNone/>
            </a:pPr>
            <a:r>
              <a:rPr lang="en-US" sz="1000" b="1" dirty="0">
                <a:solidFill>
                  <a:srgbClr val="2E6F4E"/>
                </a:solidFill>
                <a:latin typeface="Calibri" pitchFamily="34" charset="0"/>
                <a:ea typeface="Calibri" pitchFamily="34" charset="-122"/>
                <a:cs typeface="Calibri" pitchFamily="34" charset="-120"/>
              </a:rPr>
              <a:t>初年度0.21億円・10年間で1.82億円。DSCRは1.31倍から1.38倍へ改善する。</a:t>
            </a:r>
            <a:endParaRPr lang="en-US" sz="1000" dirty="0"/>
          </a:p>
        </p:txBody>
      </p:sp>
      <p:sp>
        <p:nvSpPr>
          <p:cNvPr id="12" name="Shape 10"/>
          <p:cNvSpPr/>
          <p:nvPr/>
        </p:nvSpPr>
        <p:spPr>
          <a:xfrm>
            <a:off x="6355080" y="1536192"/>
            <a:ext cx="5266944" cy="2148840"/>
          </a:xfrm>
          <a:prstGeom prst="roundRect">
            <a:avLst>
              <a:gd name="adj" fmla="val 2128"/>
            </a:avLst>
          </a:prstGeom>
          <a:solidFill>
            <a:srgbClr val="FFFFFF"/>
          </a:solidFill>
          <a:ln w="9525">
            <a:solidFill>
              <a:srgbClr val="E4DADD"/>
            </a:solidFill>
            <a:prstDash val="solid"/>
          </a:ln>
        </p:spPr>
      </p:sp>
      <p:sp>
        <p:nvSpPr>
          <p:cNvPr id="13" name="Shape 11"/>
          <p:cNvSpPr/>
          <p:nvPr/>
        </p:nvSpPr>
        <p:spPr>
          <a:xfrm>
            <a:off x="6355080" y="1536192"/>
            <a:ext cx="5266944" cy="45720"/>
          </a:xfrm>
          <a:prstGeom prst="rect">
            <a:avLst/>
          </a:prstGeom>
          <a:solidFill>
            <a:srgbClr val="A8741A"/>
          </a:solidFill>
          <a:ln/>
        </p:spPr>
      </p:sp>
      <p:sp>
        <p:nvSpPr>
          <p:cNvPr id="14" name="Shape 12"/>
          <p:cNvSpPr/>
          <p:nvPr/>
        </p:nvSpPr>
        <p:spPr>
          <a:xfrm>
            <a:off x="6574536" y="1737360"/>
            <a:ext cx="274320" cy="274320"/>
          </a:xfrm>
          <a:prstGeom prst="ellipse">
            <a:avLst/>
          </a:prstGeom>
          <a:solidFill>
            <a:srgbClr val="A8741A"/>
          </a:solidFill>
          <a:ln/>
        </p:spPr>
      </p:sp>
      <p:sp>
        <p:nvSpPr>
          <p:cNvPr id="15" name="Text 13"/>
          <p:cNvSpPr txBox="1"/>
          <p:nvPr/>
        </p:nvSpPr>
        <p:spPr>
          <a:xfrm>
            <a:off x="6574536"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16" name="Text 14"/>
          <p:cNvSpPr txBox="1"/>
          <p:nvPr/>
        </p:nvSpPr>
        <p:spPr>
          <a:xfrm>
            <a:off x="6958584"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取れない：資産調整勘定（税務上ののれん）</a:t>
            </a:r>
            <a:endParaRPr lang="en-US" sz="1500" dirty="0"/>
          </a:p>
        </p:txBody>
      </p:sp>
      <p:sp>
        <p:nvSpPr>
          <p:cNvPr id="17" name="Text 15"/>
          <p:cNvSpPr txBox="1"/>
          <p:nvPr/>
        </p:nvSpPr>
        <p:spPr>
          <a:xfrm>
            <a:off x="6574536" y="2139696"/>
            <a:ext cx="484632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譲受代金50.0億円と時価純資産23.15億円の差額26.85億円は、税務上ののれんとして5年で損金算入できれば年5.37億円の効果を持つ。しかし資産調整勘定は非適格の組織再編または事業の譲受けにおいてのみ生じる（法人税法62条の8）。</a:t>
            </a:r>
            <a:endParaRPr lang="en-US" sz="1000" dirty="0"/>
          </a:p>
        </p:txBody>
      </p:sp>
      <p:sp>
        <p:nvSpPr>
          <p:cNvPr id="18" name="Text 16"/>
          <p:cNvSpPr txBox="1"/>
          <p:nvPr/>
        </p:nvSpPr>
        <p:spPr>
          <a:xfrm>
            <a:off x="6574536" y="2999232"/>
            <a:ext cx="484632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本件は　</a:t>
            </a:r>
            <a:pPr indent="0" marL="0">
              <a:lnSpc>
                <a:spcPts val="1400"/>
              </a:lnSpc>
              <a:buNone/>
            </a:pPr>
            <a:r>
              <a:rPr lang="en-US" sz="1000" b="1" dirty="0">
                <a:solidFill>
                  <a:srgbClr val="A8741A"/>
                </a:solidFill>
                <a:latin typeface="Calibri" pitchFamily="34" charset="0"/>
                <a:ea typeface="Calibri" pitchFamily="34" charset="-122"/>
                <a:cs typeface="Calibri" pitchFamily="34" charset="-120"/>
              </a:rPr>
              <a:t>SPCが100%子会社化したうえでの合併＝適格合併に該当し、資産は帳簿価額で引き継がれる。したがって生じない。</a:t>
            </a:r>
            <a:endParaRPr lang="en-US" sz="1000" dirty="0"/>
          </a:p>
        </p:txBody>
      </p:sp>
      <p:sp>
        <p:nvSpPr>
          <p:cNvPr id="19" name="Text 17"/>
          <p:cNvSpPr txBox="1"/>
          <p:nvPr/>
        </p:nvSpPr>
        <p:spPr>
          <a:xfrm>
            <a:off x="566928" y="3877056"/>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DSCRの内訳</a:t>
            </a:r>
            <a:endParaRPr lang="en-US" sz="13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4187952"/>
          <a:ext cx="11055096" cy="914400"/>
        </p:xfrm>
        <a:graphic>
          <a:graphicData uri="http://schemas.openxmlformats.org/drawingml/2006/table">
            <a:tbl>
              <a:tblPr/>
              <a:tblGrid>
                <a:gridCol w="2651760"/>
                <a:gridCol w="1600200"/>
                <a:gridCol w="680313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内容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当初モデル</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FCF 3.50億円（営業利益×(1−実効税率34%)）を返済原資とし、税効果も設備投資も織り込まない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支払利息の損金算入</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合併により支払利息0.75億円が損金となり、法人税が年0.21億円減少する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 維持更新投資の計上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開示資料は設備投資ゼロだが、店舗の経年を踏まえ年0.30億円を保守的に見込んだ</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当社が採用する前提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借入25.0億円・10年・金利3%。資産調整勘定は織り込まない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Text 18"/>
          <p:cNvSpPr txBox="1"/>
          <p:nvPr/>
        </p:nvSpPr>
        <p:spPr>
          <a:xfrm>
            <a:off x="566928" y="6181344"/>
            <a:ext cx="11055096"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事業譲渡型とすれば資産調整勘定を計上できるが、売主に多額の譲渡益課税が生じ、飲食店営業許可の再取得と全取引契約の再締結を要するため、本件では採用しない。仮に計上できた場合、初年度DSCRは2.03倍となる。</a:t>
            </a:r>
            <a:endParaRPr lang="en-US" sz="900" dirty="0"/>
          </a:p>
        </p:txBody>
      </p:sp>
      <p:sp>
        <p:nvSpPr>
          <p:cNvPr id="22" name="Text 19"/>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20"/>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PROPOSAL</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ご相談 ― 総額を変えずに、ブリッジを恒久ローンへ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みずほ銀行様への総ご相談額41.4億円は案1と案2で変わらない。内訳を組み替えるだけで、DSCRと対象会社の手元資金がともに改善する。</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154680"/>
                <a:gridCol w="2633472"/>
                <a:gridCol w="2633472"/>
                <a:gridCol w="2633472"/>
              </a:tblGrid>
              <a:tr h="27432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案1　当初案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案2　ご相談したい案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案3　55億円で決着した場合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恒久タームローン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返済期間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7年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内訳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TLA14.0／TLB6.0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TLA17.5／TLB7.5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TLA19.5／TLB10.5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総ご相談額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初年度DSCR</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1.31倍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Debt／EBITDA</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3.78倍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5.67倍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対象会社に留保する現金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初年度末の現金残高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0.66億円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完済時の現金残高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0.28億円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8.42億円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中野氏の拠出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追加投資家の要否</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2E6F4E"/>
                          </a:solidFill>
                          <a:latin typeface="Calibri" pitchFamily="34" charset="0"/>
                          <a:ea typeface="Calibri" pitchFamily="34" charset="-122"/>
                          <a:cs typeface="Calibri" pitchFamily="34" charset="-120"/>
                        </a:rPr>
                        <a:t>不要（案2＋5.0億円で対応）</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340096"/>
            <a:ext cx="3520440" cy="896112"/>
          </a:xfrm>
          <a:prstGeom prst="roundRect">
            <a:avLst>
              <a:gd name="adj" fmla="val 5102"/>
            </a:avLst>
          </a:prstGeom>
          <a:solidFill>
            <a:srgbClr val="F7F3F4"/>
          </a:solidFill>
          <a:ln w="9525">
            <a:solidFill>
              <a:srgbClr val="E4DADD"/>
            </a:solidFill>
            <a:prstDash val="solid"/>
          </a:ln>
        </p:spPr>
      </p:sp>
      <p:sp>
        <p:nvSpPr>
          <p:cNvPr id="7" name="Text 4"/>
          <p:cNvSpPr txBox="1"/>
          <p:nvPr/>
        </p:nvSpPr>
        <p:spPr>
          <a:xfrm>
            <a:off x="768096"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なぜ総額が変わらないのか</a:t>
            </a:r>
            <a:endParaRPr lang="en-US" sz="1050" dirty="0"/>
          </a:p>
        </p:txBody>
      </p:sp>
      <p:sp>
        <p:nvSpPr>
          <p:cNvPr id="8" name="Text 5"/>
          <p:cNvSpPr txBox="1"/>
          <p:nvPr/>
        </p:nvSpPr>
        <p:spPr>
          <a:xfrm>
            <a:off x="768096"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一時的な立替えである。恒久ローンを5.0億円増やせば、その分ブリッジが5.0億円減る。みずほ銀行様のエクスポージャーは41.4億円のまま変わらない。</a:t>
            </a:r>
            <a:endParaRPr lang="en-US" sz="800" dirty="0"/>
          </a:p>
        </p:txBody>
      </p:sp>
      <p:sp>
        <p:nvSpPr>
          <p:cNvPr id="9" name="Shape 6"/>
          <p:cNvSpPr/>
          <p:nvPr/>
        </p:nvSpPr>
        <p:spPr>
          <a:xfrm>
            <a:off x="4297680" y="5340096"/>
            <a:ext cx="3520440" cy="896112"/>
          </a:xfrm>
          <a:prstGeom prst="roundRect">
            <a:avLst>
              <a:gd name="adj" fmla="val 5102"/>
            </a:avLst>
          </a:prstGeom>
          <a:solidFill>
            <a:srgbClr val="F7F3F4"/>
          </a:solidFill>
          <a:ln w="9525">
            <a:solidFill>
              <a:srgbClr val="E4DADD"/>
            </a:solidFill>
            <a:prstDash val="solid"/>
          </a:ln>
        </p:spPr>
      </p:sp>
      <p:sp>
        <p:nvSpPr>
          <p:cNvPr id="10" name="Text 7"/>
          <p:cNvSpPr txBox="1"/>
          <p:nvPr/>
        </p:nvSpPr>
        <p:spPr>
          <a:xfrm>
            <a:off x="4498848"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なぜDSCRが上がるのか</a:t>
            </a:r>
            <a:endParaRPr lang="en-US" sz="1050" dirty="0"/>
          </a:p>
        </p:txBody>
      </p:sp>
      <p:sp>
        <p:nvSpPr>
          <p:cNvPr id="11" name="Text 8"/>
          <p:cNvSpPr txBox="1"/>
          <p:nvPr/>
        </p:nvSpPr>
        <p:spPr>
          <a:xfrm>
            <a:off x="4498848"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借入額は5.0億円増えるが、返済期間が7年から10年に延びるため、年間の元本返済は2.00億円から1.75億円へ減少する。増加する利息0.15億円を差し引いても、返済負担は年0.10億円軽くなる。</a:t>
            </a:r>
            <a:endParaRPr lang="en-US" sz="800" dirty="0"/>
          </a:p>
        </p:txBody>
      </p:sp>
      <p:sp>
        <p:nvSpPr>
          <p:cNvPr id="12" name="Shape 9"/>
          <p:cNvSpPr/>
          <p:nvPr/>
        </p:nvSpPr>
        <p:spPr>
          <a:xfrm>
            <a:off x="8028432" y="5340096"/>
            <a:ext cx="3520440" cy="896112"/>
          </a:xfrm>
          <a:prstGeom prst="roundRect">
            <a:avLst>
              <a:gd name="adj" fmla="val 5102"/>
            </a:avLst>
          </a:prstGeom>
          <a:solidFill>
            <a:srgbClr val="F7F3F4"/>
          </a:solidFill>
          <a:ln w="9525">
            <a:solidFill>
              <a:srgbClr val="E4DADD"/>
            </a:solidFill>
            <a:prstDash val="solid"/>
          </a:ln>
        </p:spPr>
      </p:sp>
      <p:sp>
        <p:nvSpPr>
          <p:cNvPr id="13" name="Text 10"/>
          <p:cNvSpPr txBox="1"/>
          <p:nvPr/>
        </p:nvSpPr>
        <p:spPr>
          <a:xfrm>
            <a:off x="8229600"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なぜ対象会社の手元が厚くなるのか</a:t>
            </a:r>
            <a:endParaRPr lang="en-US" sz="1050" dirty="0"/>
          </a:p>
        </p:txBody>
      </p:sp>
      <p:sp>
        <p:nvSpPr>
          <p:cNvPr id="14" name="Text 11"/>
          <p:cNvSpPr txBox="1"/>
          <p:nvPr/>
        </p:nvSpPr>
        <p:spPr>
          <a:xfrm>
            <a:off x="8229600"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案1では買収時に対象会社の現金をほぼ全額引き上げるため、初年度2月末の残高は0.19億円（固定費1.0か月分）まで落ちる。案2では6.0億円を残せるため、突発的な修繕やワインの一括仕入にも対応できる。</a:t>
            </a:r>
            <a:endParaRPr lang="en-US" sz="800" dirty="0"/>
          </a:p>
        </p:txBody>
      </p:sp>
      <p:sp>
        <p:nvSpPr>
          <p:cNvPr id="15" name="Text 1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6" name="Text 1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営業利益▲21%（p.15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55億円超で説明困難（p.13）</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・2025/12期まではIM記載の決算数値。2026/12期はIM p.40の会社計画。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・p.24の株式会社アピシウスに関する計数は、同社の取得時（2024年6月）と2026年時点との比較。売上高・営業利益はいずれも取得前比。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2026-09-25T06:25:22Z</dcterms:created>
  <dcterms:modified xsi:type="dcterms:W3CDTF">2026-09-25T06:25:22Z</dcterms:modified>
</cp:coreProperties>
</file>