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銀行ご提出用資料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200"/>
              </a:lnSpc>
              <a:buNone/>
            </a:pPr>
            <a:r>
              <a:rPr lang="en-US" sz="4200" b="1" dirty="0">
                <a:solidFill>
                  <a:srgbClr val="FFFFFF"/>
                </a:solidFill>
                <a:latin typeface="Cambria" pitchFamily="34" charset="0"/>
                <a:ea typeface="Cambria" pitchFamily="34" charset="-122"/>
                <a:cs typeface="Cambria" pitchFamily="34" charset="-120"/>
              </a:rPr>
              <a:t>株式譲渡価格 50億円の</a:t>
            </a:r>
            <a:endParaRPr lang="en-US" sz="4200" dirty="0"/>
          </a:p>
          <a:p>
            <a:pPr indent="0" marL="0">
              <a:lnSpc>
                <a:spcPts val="5200"/>
              </a:lnSpc>
              <a:buNone/>
            </a:pPr>
            <a:r>
              <a:rPr lang="en-US" sz="4200" b="1" dirty="0">
                <a:solidFill>
                  <a:srgbClr val="FFFFFF"/>
                </a:solidFill>
                <a:latin typeface="Cambria" pitchFamily="34" charset="0"/>
                <a:ea typeface="Cambria" pitchFamily="34" charset="-122"/>
                <a:cs typeface="Cambria" pitchFamily="34" charset="-120"/>
              </a:rPr>
              <a:t>妥当性検証</a:t>
            </a:r>
            <a:endParaRPr lang="en-US" sz="42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EV/EBITDA</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5.2倍</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提示50億円ベース</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営業利益率</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52.0%</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2026/12期 想定</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ネットキャッシュ</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22.4億円</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価格の45%</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本資料は、対象会社の事業価値と提示価格の妥当性を検証したものです。p.18には、当社によるグランメゾン承継の実績を参考として掲載しています。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2026年9月17日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45720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LBOローン20億円は、タームローンA 14億円（元金均等）＋タームローンB 6億円（期限一括）の設計で初年度DSCR 1.35を確保できる。7年間の累積余剰キャッシュフロー7.56億円が期限一括分6.00億円を上回るため、リファイナンスなしで完済が可能（p.15・p.16）。</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20億円LBOの返済可能性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返済プロファイル・ストレス耐性・保全</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p.15-16</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参考　p.18　グランメゾンのM&amp;A後バリューアップ実績（株式会社アピシウス／2024年6月取得）</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100%（高級スイーツEC）／株式会社BISは対象外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54席・営業日数252日・年間来店 約1.4万人・従業員22名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54席×1.6回転×252日。予約は常時充足</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17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75888"/>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4041648"/>
            <a:ext cx="45720" cy="457200"/>
          </a:xfrm>
          <a:prstGeom prst="rect">
            <a:avLst/>
          </a:prstGeom>
          <a:solidFill>
            <a:srgbClr val="A26769"/>
          </a:solidFill>
          <a:ln/>
        </p:spPr>
      </p:sp>
      <p:sp>
        <p:nvSpPr>
          <p:cNvPr id="7" name="Text 4"/>
          <p:cNvSpPr txBox="1"/>
          <p:nvPr/>
        </p:nvSpPr>
        <p:spPr>
          <a:xfrm>
            <a:off x="749808" y="398678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98678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24281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681728"/>
            <a:ext cx="45720" cy="457200"/>
          </a:xfrm>
          <a:prstGeom prst="rect">
            <a:avLst/>
          </a:prstGeom>
          <a:solidFill>
            <a:srgbClr val="A26769"/>
          </a:solidFill>
          <a:ln/>
        </p:spPr>
      </p:sp>
      <p:sp>
        <p:nvSpPr>
          <p:cNvPr id="11" name="Text 8"/>
          <p:cNvSpPr txBox="1"/>
          <p:nvPr/>
        </p:nvSpPr>
        <p:spPr>
          <a:xfrm>
            <a:off x="749808" y="462686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62686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88289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321808"/>
            <a:ext cx="45720" cy="457200"/>
          </a:xfrm>
          <a:prstGeom prst="rect">
            <a:avLst/>
          </a:prstGeom>
          <a:solidFill>
            <a:srgbClr val="6D2E46"/>
          </a:solidFill>
          <a:ln/>
        </p:spPr>
      </p:sp>
      <p:sp>
        <p:nvSpPr>
          <p:cNvPr id="15" name="Text 12"/>
          <p:cNvSpPr txBox="1"/>
          <p:nvPr/>
        </p:nvSpPr>
        <p:spPr>
          <a:xfrm>
            <a:off x="749808" y="52669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2669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5229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943600"/>
            <a:ext cx="11055096" cy="329184"/>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留意：上場外食のマルチプルは多店舗展開による分散を前提としている。1店舗・1名依存のディスカウントは検証③のDCFで織り込む。個社マルチプルは正式提出前に直近株価ベースへ差替えを推奨。</a:t>
            </a:r>
            <a:endParaRPr lang="en-US" sz="95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0%（54席固定・値上げ以外の成長ドライバーなし）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20億円LBOの返済可能性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LBOローン20億円は、返済プロファイルの設計で成立する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20億円を7年で均等償却する前提では初年度DSCRが1.01となる。これは借入金額の問題ではなく返済設計の問題であり、タームローンAとBに分ければ初年度からDSCR 1.35を確保できる。</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1.35</a:t>
            </a:r>
            <a:endParaRPr lang="en-US" sz="2400" dirty="0"/>
          </a:p>
        </p:txBody>
      </p:sp>
      <p:sp>
        <p:nvSpPr>
          <p:cNvPr id="8" name="Text 6"/>
          <p:cNvSpPr txBox="1"/>
          <p:nvPr/>
        </p:nvSpPr>
        <p:spPr>
          <a:xfrm>
            <a:off x="786384" y="2523744"/>
            <a:ext cx="310896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タームローンA 14億＋B 6億／7年・金利3%</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7.56億円</a:t>
            </a:r>
            <a:endParaRPr lang="en-US" sz="2400" dirty="0"/>
          </a:p>
        </p:txBody>
      </p:sp>
      <p:sp>
        <p:nvSpPr>
          <p:cNvPr id="12" name="Text 10"/>
          <p:cNvSpPr txBox="1"/>
          <p:nvPr/>
        </p:nvSpPr>
        <p:spPr>
          <a:xfrm>
            <a:off x="4517136" y="2523744"/>
            <a:ext cx="310896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期限一括分6.00億円を上回る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2.6倍</a:t>
            </a:r>
            <a:endParaRPr lang="en-US" sz="2400" dirty="0"/>
          </a:p>
        </p:txBody>
      </p:sp>
      <p:sp>
        <p:nvSpPr>
          <p:cNvPr id="16" name="Text 14"/>
          <p:cNvSpPr txBox="1"/>
          <p:nvPr/>
        </p:nvSpPr>
        <p:spPr>
          <a:xfrm>
            <a:off x="8247888" y="2523744"/>
            <a:ext cx="310896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グロス3.8倍。対象会社は無借金・現預金17.43億円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元金均等（7年で全額償却）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3.46億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元利均等（7年で全額償却）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3.21億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2.60億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2.31億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元本を14億円に絞ることで年間元本負担が2.00億円に下がり、平常時DSCRが1.35〜1.56で推移する。残る6.00億円は7年間の余剰キャッシュフローで返済でき、リファイナンスを前提としない。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2.60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+2.88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16.94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7年間の累積余剰キャッシュフロー7.56億円が、期限一括のタームローンB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20億円のストレス耐性と、銀行にご提案できる保全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推奨ストラクチャー③（TLA 14億＋TLB 6億／7年・金利3%）に対し、収益が悪化した場合の返済可能性を検証した。</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1.35〜1.56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全期間で1.35以上。累積余剰7.56億円でTLBも完済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営業利益▲21%（p.14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初年度から1.0を維持。元利返済に支障なし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0.83〜0.89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4〜7年の累積不足1.32億円。3年目末の累積余剰2.88億円で全額吸収可能。ただしTLB 6.00億円は留保現金またはリファイナンスによる返済となる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0.41〜0.45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累積不足5.32億円。累積余剰2.88億円＋留保現金6.00億円で元利返済は継続できるが、TLB 6.00億円は返済不能</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041648"/>
            <a:ext cx="5440680" cy="1481328"/>
          </a:xfrm>
          <a:prstGeom prst="roundRect">
            <a:avLst>
              <a:gd name="adj" fmla="val 3086"/>
            </a:avLst>
          </a:prstGeom>
          <a:solidFill>
            <a:srgbClr val="F7F3F4"/>
          </a:solidFill>
          <a:ln w="9525">
            <a:solidFill>
              <a:srgbClr val="E4DADD"/>
            </a:solidFill>
            <a:prstDash val="solid"/>
          </a:ln>
        </p:spPr>
      </p:sp>
      <p:sp>
        <p:nvSpPr>
          <p:cNvPr id="7" name="Text 4"/>
          <p:cNvSpPr txBox="1"/>
          <p:nvPr/>
        </p:nvSpPr>
        <p:spPr>
          <a:xfrm>
            <a:off x="786384" y="415137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38912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LBOローン</a:t>
            </a:r>
            <a:endParaRPr lang="en-US" sz="1000" dirty="0"/>
          </a:p>
        </p:txBody>
      </p:sp>
      <p:sp>
        <p:nvSpPr>
          <p:cNvPr id="9" name="Text 6"/>
          <p:cNvSpPr txBox="1"/>
          <p:nvPr/>
        </p:nvSpPr>
        <p:spPr>
          <a:xfrm>
            <a:off x="3813048" y="438912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66344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66344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6.00億円</a:t>
            </a:r>
            <a:endParaRPr lang="en-US" sz="1000" dirty="0"/>
          </a:p>
        </p:txBody>
      </p:sp>
      <p:sp>
        <p:nvSpPr>
          <p:cNvPr id="12" name="Text 9"/>
          <p:cNvSpPr txBox="1"/>
          <p:nvPr/>
        </p:nvSpPr>
        <p:spPr>
          <a:xfrm>
            <a:off x="786384" y="493776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493776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14.00億円（2.6倍）</a:t>
            </a:r>
            <a:endParaRPr lang="en-US" sz="1100" dirty="0"/>
          </a:p>
        </p:txBody>
      </p:sp>
      <p:sp>
        <p:nvSpPr>
          <p:cNvPr id="14" name="Text 11"/>
          <p:cNvSpPr txBox="1"/>
          <p:nvPr/>
        </p:nvSpPr>
        <p:spPr>
          <a:xfrm>
            <a:off x="786384" y="5230368"/>
            <a:ext cx="4983480" cy="256032"/>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対象会社は無借金で現預金17.43億円を持つため、グロス3.8倍に対しネットは2.6倍にとどまる。</a:t>
            </a:r>
            <a:endParaRPr lang="en-US" sz="950" dirty="0"/>
          </a:p>
        </p:txBody>
      </p:sp>
      <p:sp>
        <p:nvSpPr>
          <p:cNvPr id="15" name="Shape 12"/>
          <p:cNvSpPr/>
          <p:nvPr/>
        </p:nvSpPr>
        <p:spPr>
          <a:xfrm>
            <a:off x="6199632" y="4041648"/>
            <a:ext cx="5422392" cy="1481328"/>
          </a:xfrm>
          <a:prstGeom prst="roundRect">
            <a:avLst>
              <a:gd name="adj" fmla="val 3086"/>
            </a:avLst>
          </a:prstGeom>
          <a:solidFill>
            <a:srgbClr val="FFFFFF"/>
          </a:solidFill>
          <a:ln w="9525">
            <a:solidFill>
              <a:srgbClr val="E4DADD"/>
            </a:solidFill>
            <a:prstDash val="solid"/>
          </a:ln>
        </p:spPr>
      </p:sp>
      <p:sp>
        <p:nvSpPr>
          <p:cNvPr id="16" name="Text 13"/>
          <p:cNvSpPr txBox="1"/>
          <p:nvPr/>
        </p:nvSpPr>
        <p:spPr>
          <a:xfrm>
            <a:off x="6419088" y="415137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389120"/>
            <a:ext cx="4983480" cy="109728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対象会社に現預金6.00億円以上を留保　⑤ TLB完済までの配当・自己株取得の制限　⑥ 超過キャッシュフローの50%をTLBへ充当（キャッシュスイープ）　⑦ 岸田氏の退任・料理長交代・ミシュラン評価変動の報告義務　⑧ サントリー・ファインズとの取引条件変更時の報告義務</a:t>
            </a:r>
            <a:endParaRPr lang="en-US" sz="950" dirty="0"/>
          </a:p>
        </p:txBody>
      </p:sp>
      <p:sp>
        <p:nvSpPr>
          <p:cNvPr id="18" name="Shape 15"/>
          <p:cNvSpPr/>
          <p:nvPr/>
        </p:nvSpPr>
        <p:spPr>
          <a:xfrm>
            <a:off x="566928" y="5650992"/>
            <a:ext cx="11055096" cy="603504"/>
          </a:xfrm>
          <a:prstGeom prst="roundRect">
            <a:avLst>
              <a:gd name="adj" fmla="val 6061"/>
            </a:avLst>
          </a:prstGeom>
          <a:solidFill>
            <a:srgbClr val="6D2E46"/>
          </a:solidFill>
          <a:ln/>
        </p:spPr>
      </p:sp>
      <p:sp>
        <p:nvSpPr>
          <p:cNvPr id="19" name="Text 16"/>
          <p:cNvSpPr txBox="1"/>
          <p:nvPr/>
        </p:nvSpPr>
        <p:spPr>
          <a:xfrm>
            <a:off x="822960" y="5724144"/>
            <a:ext cx="10543032" cy="457200"/>
          </a:xfrm>
          <a:prstGeom prst="rect">
            <a:avLst/>
          </a:prstGeom>
          <a:noFill/>
          <a:ln/>
        </p:spPr>
        <p:txBody>
          <a:bodyPr wrap="square" lIns="0" tIns="0" rIns="0" bIns="0" rtlCol="0" anchor="ctr"/>
          <a:lstStyle/>
          <a:p>
            <a:pPr indent="0" marL="0">
              <a:lnSpc>
                <a:spcPts val="1500"/>
              </a:lnSpc>
              <a:buNone/>
            </a:pPr>
            <a:r>
              <a:rPr lang="en-US" sz="115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11億円＋TLB 9億円で初年度DSCR 1.25を確保できるものの、5年後にTLB 9.00億円のリファイナンスが必要になる。7年を許容いただけるかが、20億円を自力返済で完結させられるかの分岐点となる。</a:t>
            </a:r>
            <a:endParaRPr lang="en-US" sz="11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55億円は三つ星維持確率78%、57.4億円は100%を前提とする。60億円は維持ケースのDCFをも超え、現在の収益力では説明できない。</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ただし2つの条件が前提</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(a) 役員貸付金5.00億円のクロージング時現金精算、(b) 岸田氏3年ロックアップの契約担保。(a)が崩れると実質倍率は6.5倍となり、評価は一段厳しくなる。</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・2025/12期まではIM記載の決算数値。2026/12期はIM p.40の会社計画。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・LBOローンの返済試算は借入20.00億円・7年・金利3%、タームローンA 14.00億円（元金均等）＋タームローンB 6.00億円（期限一括）を前提。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・p.18の株式会社アピシウスに関する計数は、同社の取得時（2024年6月）と2026年時点との比較。売上高・営業利益はいずれも取得前比。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カンテサンス（株式会社プティ・ボノム）株式譲渡価格50億円の妥当性検証 ／ 銀行ご提出用</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株式譲渡価格50億円の妥当性検証</dc:title>
  <dc:subject>PptxGenJS Presentation</dc:subject>
  <dc:creator>株式会社WineBank</dc:creator>
  <cp:lastModifiedBy>株式会社WineBank</cp:lastModifiedBy>
  <cp:revision>1</cp:revision>
  <dcterms:created xsi:type="dcterms:W3CDTF">2026-09-17T08:16:17Z</dcterms:created>
  <dcterms:modified xsi:type="dcterms:W3CDTF">2026-09-17T08:16:17Z</dcterms:modified>
</cp:coreProperties>
</file>