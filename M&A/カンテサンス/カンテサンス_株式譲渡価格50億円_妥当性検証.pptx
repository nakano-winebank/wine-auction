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A267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F1A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2021/12</c:v>
                  </c:pt>
                  <c:pt idx="1">
                    <c:v>2022/12</c:v>
                  </c:pt>
                  <c:pt idx="2">
                    <c:v>2023/12</c:v>
                  </c:pt>
                  <c:pt idx="3">
                    <c:v>2024/12</c:v>
                  </c:pt>
                  <c:pt idx="4">
                    <c:v>2025/12</c:v>
                  </c:pt>
                  <c:pt idx="5">
                    <c:v>2026/12計画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700</c:v>
                </c:pt>
                <c:pt idx="1">
                  <c:v>770</c:v>
                </c:pt>
                <c:pt idx="2">
                  <c:v>832</c:v>
                </c:pt>
                <c:pt idx="3">
                  <c:v>891</c:v>
                </c:pt>
                <c:pt idx="4">
                  <c:v>976</c:v>
                </c:pt>
                <c:pt idx="5">
                  <c:v>1015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6D2E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F1A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2021/12</c:v>
                  </c:pt>
                  <c:pt idx="1">
                    <c:v>2022/12</c:v>
                  </c:pt>
                  <c:pt idx="2">
                    <c:v>2023/12</c:v>
                  </c:pt>
                  <c:pt idx="3">
                    <c:v>2024/12</c:v>
                  </c:pt>
                  <c:pt idx="4">
                    <c:v>2025/12</c:v>
                  </c:pt>
                  <c:pt idx="5">
                    <c:v>2026/12計画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310</c:v>
                </c:pt>
                <c:pt idx="1">
                  <c:v>350</c:v>
                </c:pt>
                <c:pt idx="2">
                  <c:v>393</c:v>
                </c:pt>
                <c:pt idx="3">
                  <c:v>442</c:v>
                </c:pt>
                <c:pt idx="4">
                  <c:v>505</c:v>
                </c:pt>
                <c:pt idx="5">
                  <c:v>528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1F1A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E63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0"/>
        </c:scaling>
        <c:delete val="0"/>
        <c:axPos val="l"/>
        <c:majorGridlines>
          <c:spPr>
            <a:ln w="6350" cap="flat">
              <a:solidFill>
                <a:srgbClr val="E4DAD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E6368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E6368"/>
                    </a:solidFill>
                    <a:latin typeface="Arial"/>
                  </a:rPr>
                  <a:t>百万円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3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A1C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 三つ星維持（FCF 3.50億）</c:v>
                </c:pt>
              </c:strCache>
            </c:strRef>
          </c:tx>
          <c:spPr>
            <a:solidFill>
              <a:srgbClr val="6D2E4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F1A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割引率 8%</c:v>
                  </c:pt>
                  <c:pt idx="1">
                    <c:v>割引率 10%</c:v>
                  </c:pt>
                  <c:pt idx="2">
                    <c:v>割引率 12%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43.75</c:v>
                </c:pt>
                <c:pt idx="1">
                  <c:v>35</c:v>
                </c:pt>
                <c:pt idx="2">
                  <c:v>29.17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 二つ星降格（FCF 2.00億）</c:v>
                </c:pt>
              </c:strCache>
            </c:strRef>
          </c:tx>
          <c:spPr>
            <a:solidFill>
              <a:srgbClr val="A2676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F1A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割引率 8%</c:v>
                  </c:pt>
                  <c:pt idx="1">
                    <c:v>割引率 10%</c:v>
                  </c:pt>
                  <c:pt idx="2">
                    <c:v>割引率 12%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28.87</c:v>
                </c:pt>
                <c:pt idx="1">
                  <c:v>23.73</c:v>
                </c:pt>
                <c:pt idx="2">
                  <c:v>20.27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 星喪失（FCF 1.00億）</c:v>
                </c:pt>
              </c:strCache>
            </c:strRef>
          </c:tx>
          <c:spPr>
            <a:solidFill>
              <a:srgbClr val="C9B7B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F1A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割引率 8%</c:v>
                  </c:pt>
                  <c:pt idx="1">
                    <c:v>割引率 10%</c:v>
                  </c:pt>
                  <c:pt idx="2">
                    <c:v>割引率 12%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18.94</c:v>
                </c:pt>
                <c:pt idx="1">
                  <c:v>16.22</c:v>
                </c:pt>
                <c:pt idx="2">
                  <c:v>14.34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F1A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3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6350" cap="flat">
              <a:solidFill>
                <a:srgbClr val="E4DAD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E6368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E6368"/>
                    </a:solidFill>
                    <a:latin typeface="Arial"/>
                  </a:rPr>
                  <a:t>事業価値（億円）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3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50">
              <a:solidFill>
                <a:srgbClr val="1F1A1C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5669280" cy="566928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銀行ご提出用資料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89888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株式譲渡価格 50億円の</a:t>
            </a:r>
            <a:endParaRPr lang="en-US" sz="42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妥当性検証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1546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D9C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株式会社プティ・ボノム（Quintessence／東京・御殿山）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D9C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19年連続ミシュラン三つ星・20年連続増収増益・無借金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2560320" cy="1097280"/>
          </a:xfrm>
          <a:prstGeom prst="roundRect">
            <a:avLst>
              <a:gd name="adj" fmla="val 4167"/>
            </a:avLst>
          </a:prstGeom>
          <a:solidFill>
            <a:srgbClr val="3B1E2B"/>
          </a:solidFill>
          <a:ln w="9525">
            <a:solidFill>
              <a:srgbClr val="5A32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422452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EV/EBITDA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44439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5.2倍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4901184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C96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提示50億円ベース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55848" y="4114800"/>
            <a:ext cx="2560320" cy="1097280"/>
          </a:xfrm>
          <a:prstGeom prst="roundRect">
            <a:avLst>
              <a:gd name="adj" fmla="val 4167"/>
            </a:avLst>
          </a:prstGeom>
          <a:solidFill>
            <a:srgbClr val="3B1E2B"/>
          </a:solidFill>
          <a:ln w="9525">
            <a:solidFill>
              <a:srgbClr val="5A32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38728" y="422452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営業利益率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538728" y="44439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52.0%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3538728" y="4901184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C96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2026/12期 想定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44768" y="4114800"/>
            <a:ext cx="2560320" cy="1097280"/>
          </a:xfrm>
          <a:prstGeom prst="roundRect">
            <a:avLst>
              <a:gd name="adj" fmla="val 4167"/>
            </a:avLst>
          </a:prstGeom>
          <a:solidFill>
            <a:srgbClr val="3B1E2B"/>
          </a:solidFill>
          <a:ln w="9525">
            <a:solidFill>
              <a:srgbClr val="5A324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27648" y="422452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ネットキャッシュ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327648" y="44439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22.4億円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4901184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C96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価格の45%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56235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C85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本資料は取得主体を特定せず、対象会社の事業価値と提示価格の妥当性のみを検証したものです。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C85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2026年9月17日　株式会社WineBank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カンテサンス（株式会社プティ・ボノム）株式譲渡価格50億円の妥当性検証 ／ 銀行ご提出用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結論：50億円は妥当。理論上限は約57億円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152144"/>
            <a:ext cx="11055096" cy="786384"/>
          </a:xfrm>
          <a:prstGeom prst="roundRect">
            <a:avLst>
              <a:gd name="adj" fmla="val 4651"/>
            </a:avLst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225296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2026年12月期末の想定財務を前提とすれば、株式譲渡価格50億円は4つの評価手法すべてで説明可能な水準にある。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許容上限は55億円、理論上限は57.4億円。60億円は現在の収益力では説明できない。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5381244" cy="1261872"/>
          </a:xfrm>
          <a:prstGeom prst="roundRect">
            <a:avLst>
              <a:gd name="adj" fmla="val 3623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304288"/>
            <a:ext cx="274320" cy="27432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2304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133856" y="2304288"/>
            <a:ext cx="46040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価格の45%はキャッシュ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2651760"/>
            <a:ext cx="49789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50億円のうち22.4億円（現預金17.4億＋役員貸付5.0億）は非事業用資産。買主が事業リスクを負うのは残る事業価値27.6億円のみ。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40780" y="2121408"/>
            <a:ext cx="5381244" cy="1261872"/>
          </a:xfrm>
          <a:prstGeom prst="roundRect">
            <a:avLst>
              <a:gd name="adj" fmla="val 3623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1948" y="2304288"/>
            <a:ext cx="274320" cy="27432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1948" y="2304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807708" y="2304288"/>
            <a:ext cx="46040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EV/EBITDA 5.2倍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441948" y="2651760"/>
            <a:ext cx="49789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中小M&amp;A実務における小売飲食業のEBITDA倍率目安（約6倍）を下回る。営業利益率52%・無借金・20年連続増収増益の企業としては割安な部類。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538728"/>
            <a:ext cx="5381244" cy="1261872"/>
          </a:xfrm>
          <a:prstGeom prst="roundRect">
            <a:avLst>
              <a:gd name="adj" fmla="val 3623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3721608"/>
            <a:ext cx="274320" cy="27432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3721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133856" y="3721608"/>
            <a:ext cx="46040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年買法では営業利益5.1年分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4069080"/>
            <a:ext cx="49789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純資産23.15億＋営業利益5.09年分。実務慣行の「純資産＋営業利益3〜5年」のレンジ上限に位置する。単独では「やや高い」。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40780" y="3538728"/>
            <a:ext cx="5381244" cy="1261872"/>
          </a:xfrm>
          <a:prstGeom prst="roundRect">
            <a:avLst>
              <a:gd name="adj" fmla="val 3623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41948" y="3721608"/>
            <a:ext cx="274320" cy="27432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1948" y="3721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807708" y="3721608"/>
            <a:ext cx="46040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DCF期待値 50.7億円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6441948" y="4069080"/>
            <a:ext cx="49789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三つ星維持50%／二つ星降格35%／星喪失15%の加重期待値が50.7億円。提示価格50億円とほぼ一致する。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47488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 ②③④ はいずれも、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岸田氏の3年ロックアップの契約担保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と 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役員貸付金5.0億円のクロージング時現金精算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が前提。(b) が崩れると実質EVは32.6億円（6.2倍）となり、妥当性の説明は一段厳しくなる（p.8・p.16）。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カンテサンス（株式会社プティ・ボノム）株式譲渡価格50億円の妥当性検証 ／ 銀行ご提出用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4つの評価手法と2つのクロスチェックで判断する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年買法だけでは「高い」、マルチプルだけでは「安い」という逆の結論が出る。両者が割れる理由そのものが、この案件の性質を説明している。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3520440" cy="1691640"/>
          </a:xfrm>
          <a:prstGeom prst="roundRect">
            <a:avLst>
              <a:gd name="adj" fmla="val 2703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20299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検証①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30428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マルチプル法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70662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EV/EBITDA・EV/営業利益。セクター水準との比較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310128" y="314553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97680" y="1828800"/>
            <a:ext cx="3520440" cy="1691640"/>
          </a:xfrm>
          <a:prstGeom prst="roundRect">
            <a:avLst>
              <a:gd name="adj" fmla="val 2703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17136" y="20299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検証②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17136" y="230428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年買法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17136" y="270662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純資産＋営業利益n年。中小M&amp;A実務の慣行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040880" y="314553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028432" y="1828800"/>
            <a:ext cx="3520440" cy="1691640"/>
          </a:xfrm>
          <a:prstGeom prst="roundRect">
            <a:avLst>
              <a:gd name="adj" fmla="val 2703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47888" y="20299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検証③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230428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DCF（確率分解）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47888" y="270662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3シナリオ×3割引率。本資料の中心的手法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771632" y="314553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3703320"/>
            <a:ext cx="3520440" cy="1691640"/>
          </a:xfrm>
          <a:prstGeom prst="roundRect">
            <a:avLst>
              <a:gd name="adj" fmla="val 2703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39044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検証④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86384" y="417880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類似取引事例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86384" y="458114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国内高級レストランの譲渡事例との比較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310128" y="502005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p.12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297680" y="3703320"/>
            <a:ext cx="3520440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17136" y="39044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17136" y="417880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ブレークイーブン分析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517136" y="458114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利益が何%落ちるまで50億円が正当化されるか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040880" y="502005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p.14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028432" y="3703320"/>
            <a:ext cx="3520440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47888" y="39044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B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247888" y="417880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債務許容量（DSCR）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247888" y="458114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対象会社のCFが支えられる有利子負債の上限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771632" y="502005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p.15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580644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すべての検証は 2026年12月期（IM記載の会社計画）ベース。2025年12月期実績ベースの数値とは異なる。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カンテサンス（株式会社プティ・ボノム）株式譲渡価格50億円の妥当性検証 ／ 銀行ご提出用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対象会社の概要と、営業利益率52%の構造</a:t>
            </a:r>
            <a:endParaRPr lang="en-US" sz="2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59893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663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商号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株式会社プティ・ボノム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店舗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Quintessence（東京都品川区北品川・ガーデンシティ品川御殿山1F／賃借）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開業／星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2006年開業。2008年以降 19年連続ミシュラン三つ星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株主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岸田周三氏 100%（今回100%譲渡）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子会社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カンテサンスプラス 100%（高級スイーツEC）／株式会社BISは対象外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規模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54席・営業日数252日・年間来店 約1.4万人・従業員22名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有利子負債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なし（無借金）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784848" y="1298448"/>
            <a:ext cx="4837176" cy="1243584"/>
          </a:xfrm>
          <a:prstGeom prst="roundRect">
            <a:avLst>
              <a:gd name="adj" fmla="val 3676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004304" y="1426464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客単価の分解（2026年想定）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004304" y="1700784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7.2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1A1C"/>
                </a:solidFill>
              </a:rPr>
              <a:t>万円／人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E6368"/>
                </a:solidFill>
              </a:rPr>
              <a:t>   ＝ フード 4.6万円 ＋ ドリンク 2.5万円</a:t>
            </a:r>
            <a:endParaRPr lang="en-US" sz="2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E6368"/>
                </a:solidFill>
              </a:rPr>
              <a:t>（ドリンク原価 0.9万円／粗利率 64.5%、ドリンク年商 約3.6億円）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6784848" y="270662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営業利益率52%を成立させている4要因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784848" y="3090672"/>
            <a:ext cx="274320" cy="27432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784848" y="3090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150608" y="30540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高単価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150608" y="3291840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三つ星ブランドに支えられた客単価7.2万円＋サービス料10%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784848" y="3803904"/>
            <a:ext cx="274320" cy="27432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784848" y="3803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150608" y="376732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高稼働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150608" y="4005072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54席×1.6回転×252日。予約は常時充足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784848" y="4517136"/>
            <a:ext cx="274320" cy="27432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784848" y="45171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150608" y="448056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低原価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150608" y="4718304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卸を使わずサントリー・ファインズ等から直接仕入。中間マージンなし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784848" y="5230368"/>
            <a:ext cx="274320" cy="27432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784848" y="52303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150608" y="519379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低販管費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150608" y="5431536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1店舗・賃借（賃料は売上比1.97%）・設備投資ほぼゼロ・広告費なし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4224528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有形固定資産は建物附属設備29.7万円＋工具器具備品116.6万円＝計146万円。物的担保余力は事実上ワイン在庫（簿価1.19億円）のみ。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カンテサンス（株式会社プティ・ボノム）株式譲渡価格50億円の妥当性検証 ／ 銀行ご提出用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20年連続増収増益。利益率は5年間で44%→52%へ上昇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コロナ期（2021年12月期）を含む過去5年間、一度も減収・減益がない。利益率は毎期改善しており、収益の再現性は極めて高い。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874520"/>
          <a:ext cx="74980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275320" y="1874520"/>
            <a:ext cx="3346704" cy="3383280"/>
          </a:xfrm>
          <a:prstGeom prst="roundRect">
            <a:avLst>
              <a:gd name="adj" fmla="val 1366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85632" y="20116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営業利益率の推移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485632" y="23408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2021/12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9692640" y="23408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44.3%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744200" y="2432304"/>
            <a:ext cx="685519" cy="100584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485632" y="27249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2022/12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9692640" y="27249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45.5%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0744200" y="2816352"/>
            <a:ext cx="704088" cy="100584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485632" y="3108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2023/12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9692640" y="3108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47.2%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744200" y="3200400"/>
            <a:ext cx="730395" cy="100584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485632" y="34930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2024/12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9692640" y="34930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49.6%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744200" y="3584448"/>
            <a:ext cx="767533" cy="100584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485632" y="38770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2025/12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692640" y="38770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51.7%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10744200" y="3968496"/>
            <a:ext cx="800030" cy="100584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485632" y="42611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2026/12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692640" y="42611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52.0%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0744200" y="4352544"/>
            <a:ext cx="804672" cy="100584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485632" y="4700016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CAGR（2021→2026）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 +7.7%　営業利益 +11.2%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66928" y="548640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出所：IM記載の決算数値（2021/12期〜2025/12期実績）および2026/12期会社計画（IM p.40）。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カンテサンス（株式会社プティ・ボノム）株式譲渡価格50億円の妥当性検証 ／ 銀行ご提出用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2026/12期 想定損益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評価の基礎となる損益：EBITDA 5.29億円、FCF 3.50億円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減価償却1百万円・設備投資ゼロ・運転資本の増減も軽微なため、当期純利益がほぼそのままフリーキャッシュフローになる。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72237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1371600"/>
                <a:gridCol w="13716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損益計算書（百万円）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2025/12 実績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2026/12 計画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増減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売上高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営業利益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　営業利益率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E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E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E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営業外収益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税引前当期純利益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法人税等（実効税率34.4%）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当期純利益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減価償却費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設備投資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フリーキャッシュフロー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973568" y="1783080"/>
            <a:ext cx="3648456" cy="1874520"/>
          </a:xfrm>
          <a:prstGeom prst="roundRect">
            <a:avLst>
              <a:gd name="adj" fmla="val 2439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93024" y="192024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評価上の重要な確認点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193024" y="219456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役員賞与（売上比9.77%＝約95百万円）は販管費に計上済み。したがって営業利益528百万円は役員報酬・賞与を控除した後の数値であり、評価にあたって二重に控除する必要はない。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973568" y="3822192"/>
            <a:ext cx="3648456" cy="150876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93024" y="395020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 ＝ 当期純利益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193024" y="4206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3.50</a:t>
            </a:r>
            <a:pPr indent="0" marL="0">
              <a:buNone/>
            </a:pPr>
            <a:r>
              <a:rPr lang="en-US" sz="1200" dirty="0">
                <a:solidFill>
                  <a:srgbClr val="1F1A1C"/>
                </a:solidFill>
              </a:rPr>
              <a:t> 億円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8193024" y="468172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設備投資がほぼ発生しない業態のため、利益がそのまま返済原資・株主還元原資になる。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562356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出所：2025/12期はIM記載の実績、2026/12期はIM p.40の会社計画。実効税率は2025年実績（34.4%）を適用。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カンテサンス（株式会社プティ・ボノム）株式譲渡価格50億円の妥当性検証 ／ 銀行ご提出用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2026/12期末 想定貸借対照表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純資産23.15億円、ネットキャッシュ22.43億円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20年間無配で利益を内部留保してきたため、2025/12期末純資産19.65億円に2026年の当期純利益3.50億円が積み上がる。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11055096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097280"/>
                <a:gridCol w="1097280"/>
                <a:gridCol w="2871216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資産（百万円）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2025実績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2026想定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負債・純資産（百万円）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2025実績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2026想定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現預金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仕入債務・未払費用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商品（ワイン在庫）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未払法人税等・未払消費税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長期貸付金（役員）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有利子負債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その他資産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負債合計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純資産合計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資産合計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負債・純資産合計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590288"/>
            <a:ext cx="4937760" cy="1188720"/>
          </a:xfrm>
          <a:prstGeom prst="roundRect">
            <a:avLst>
              <a:gd name="adj" fmla="val 3846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6384" y="47000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現預金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675888" y="470001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17.43億円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86384" y="5029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＋ 長期貸付金（役員）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3675888" y="50292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5.00億円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53583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ネットキャッシュ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675888" y="53583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22.43億円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4590288"/>
            <a:ext cx="5907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注意：役員貸付金5.00億円は「現金」ではない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715000" y="4882896"/>
            <a:ext cx="5907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仲介の「ネットキャッシュ約20億円」のうち5.00億円は岸田氏に対する長期貸付金であり、同氏が返済して初めて現金になる。クロージング時の現金精算を条件化しない限り、買主は譲渡後に5億円の債権回収を追うことになる（p.16 論点1）。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89788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出所：2025/12期はIM記載のBS。2026/12期は無配・設備投資ゼロ・負債横ばいを前提に、当期純利益350百万円が全額現預金と純資産に積み上がるものとして推計。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カンテサンス（株式会社プティ・ボノム）株式譲渡価格50億円の妥当性検証 ／ 銀行ご提出用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BRIDGE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50億円のうち、事業に対して払うのは27.6億円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株式価値から非事業用資産を控除して事業価値（EV）を求める。この27.6億円が妥当かどうかが、本件の論点のすべてである。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86968" y="1874520"/>
            <a:ext cx="1234440" cy="301752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56362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50.00 億円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96519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株式価値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59736" y="1874520"/>
            <a:ext cx="1234440" cy="1051560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322576" y="156362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▲17.43 億円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31136" y="496519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現預金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032504" y="2926080"/>
            <a:ext cx="1234440" cy="301752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95344" y="261518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▲5.00 億円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803904" y="496519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役員貸付金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05272" y="3227832"/>
            <a:ext cx="1234440" cy="1664208"/>
          </a:xfrm>
          <a:prstGeom prst="rect">
            <a:avLst/>
          </a:prstGeom>
          <a:solidFill>
            <a:srgbClr val="2B152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68112" y="2916936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27.57 億円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376672" y="496519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事業価値（EV）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86968" y="4892040"/>
            <a:ext cx="6583680" cy="0"/>
          </a:xfrm>
          <a:prstGeom prst="line">
            <a:avLst/>
          </a:prstGeom>
          <a:noFill/>
          <a:ln w="12700">
            <a:solidFill>
              <a:srgbClr val="E4DA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60920" y="1783080"/>
            <a:ext cx="4261104" cy="3767328"/>
          </a:xfrm>
          <a:prstGeom prst="roundRect">
            <a:avLst>
              <a:gd name="adj" fmla="val 1214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0376" y="19202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前提の置き方でEVは5.2〜6.5倍に振れる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0376" y="2286000"/>
          <a:ext cx="3822192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914400"/>
                <a:gridCol w="9144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EVの算定ケース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倍率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① 仲介前提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（現預金＋役員貸付を全額控除）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27.57億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② 未払税金等1.41億を負債類似として加算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28.98億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③ 役員貸付が未精算＋運転資金2.0億を留保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34.57億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7580376" y="4553712"/>
            <a:ext cx="3822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銀行審査で最も効く論点は③。役員貸付金5.0億円の精算方法と、買収後に対象会社へ留保すべき運転資金の水準によって、実質的に払っている倍率は5.2倍から6.5倍まで動く。SPA上の手当てが価格そのものと同じ重みを持つ。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5779008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以下、本資料では断りのない限りケース①（EV 27.57億円）を基準とする。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カンテサンス（株式会社プティ・ボノム）株式譲渡価格50億円の妥当性検証 ／ 銀行ご提出用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検証① マルチプル法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EV/EBITDA 5.2倍。セクター実務目安の6倍を下回る</a:t>
            </a:r>
            <a:endParaRPr lang="en-US" sz="2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72768"/>
          <a:ext cx="11055096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645920"/>
                <a:gridCol w="1645920"/>
                <a:gridCol w="2276856"/>
                <a:gridCol w="16459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株式譲渡価格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事業価値（EV）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EV/EBITDA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EV/営業利益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単純回収年数（EV÷FCF）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判定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45.00億円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22.57億円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4.27倍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4.27倍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売主が応じない水準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50.00億円（提示）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27.57億円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5.21倍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5.22倍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妥当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55.00億円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32.57億円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6.16倍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6.17倍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874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許容上限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60.00億円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37.57億円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7.10倍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7.11倍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説明困難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36758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比較対象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66928" y="4041648"/>
            <a:ext cx="45720" cy="457200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49808" y="398678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小売飲食業のEBITDA倍率 実務目安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995928" y="398678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約6倍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42428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中小M&amp;A実務の業種別目安（2026年7月時点）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66928" y="4681728"/>
            <a:ext cx="45720" cy="457200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49808" y="46268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ひらまつ（東証スタンダード・2764）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995928" y="462686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経常利益率 約3.0%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49808" y="488289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FY2027/3会社予想 売上105.9億／経常3.2億。国内で唯一の高級レストラン上場企業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5321808"/>
            <a:ext cx="45720" cy="4572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4980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995928" y="52669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営業利益率 52.0%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52297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上場高級外食の約17倍の収益性。ただし1店舗・属人性のディスカウントは別途必要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94360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留意：上場外食のマルチプルは多店舗展開による分散を前提としている。1店舗・1名依存のディスカウントは検証③のDCFで織り込む。個社マルチプルは正式提出前に直近株価ベースへ差替えを推奨。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カンテサンス（株式会社プティ・ボノム）株式譲渡価格50億円の妥当性検証 ／ 銀行ご提出用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検証② 年買法（純資産＋営業利益n年）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営業利益5.09年分。実務慣行レンジの上限に位置する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中小企業M&amp;Aで最も広く使われる簡便法。この手法では50億円は「やや高い」という結論になる。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75895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63040"/>
                <a:gridCol w="1737360"/>
                <a:gridCol w="173736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算式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金額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提示50億円との差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位置づけ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純資産 ＋ 営業利益 × 3年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38.99億円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▲11.01億円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実務レンジの下限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純資産 ＋ 営業利益 × 4年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44.27億円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▲5.73億円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実務レンジの中位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純資産 ＋ 営業利益 × 5年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49.55億円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▲0.45億円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実務レンジの上限＝提示価格とほぼ一致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純資産 ＋ 営業利益 × 6年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54.83億円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+4.83億円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レンジ外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858768"/>
            <a:ext cx="758952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041648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1A1C"/>
                </a:solidFill>
              </a:rPr>
              <a:t>50.00億円 ＝ 純資産 23.15億円 ＋ 営業利益 </a:t>
            </a:r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5.09年分</a:t>
            </a:r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6E6368"/>
                </a:solidFill>
              </a:rPr>
              <a:t>（EBITDAベースでは 5.08年分）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321040" y="1828800"/>
            <a:ext cx="3300984" cy="2898648"/>
          </a:xfrm>
          <a:prstGeom prst="roundRect">
            <a:avLst>
              <a:gd name="adj" fmla="val 1577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540496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この手法が本件を過小評価する理由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540496" y="2286000"/>
            <a:ext cx="274320" cy="27432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40496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8906256" y="2258568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純資産23.15億円のうち22.43億円はキャッシュ。つまり年買法は「キャッシュ＋営業利益n年」を足しているだけで、事業そのものを評価していない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540496" y="3108960"/>
            <a:ext cx="274320" cy="27432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540496" y="3108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906256" y="3081528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設備投資が不要で減価償却もほぼゼロという資本効率の高さが、純資産にも営業利益n年にも反映されない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40496" y="3931920"/>
            <a:ext cx="274320" cy="27432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540496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906256" y="3904488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20年連続増収増益という利益の再現性（＝割引率の低下要因）を織り込む余地がない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498348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結論：年買法単独では50億円は「実務レンジの上限」。この手法だけを根拠に高い／安いは判断せず、検証③のDCFで事業価値の妥当性を確認する。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カンテサンス（株式会社プティ・ボノム）株式譲渡価格50億円の妥当性検証 ／ 銀行ご提出用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検証③ DCF（シナリオ分解）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三つ星維持なら35.0億円、二つ星降格なら23.7億円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岸田氏在任の1〜3年目はFCF 3.50億円で固定し、ロックアップ明けの4年目以降をシナリオ分岐させる。継続成長率0%、割引率10%を基準とする。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29968"/>
          <a:ext cx="685800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07808" y="2029968"/>
            <a:ext cx="4014216" cy="3154680"/>
          </a:xfrm>
          <a:prstGeom prst="roundRect">
            <a:avLst>
              <a:gd name="adj" fmla="val 1449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27264" y="215798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前提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827264" y="24323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2414016"/>
            <a:ext cx="2724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当期純利益350百万円＝FCF（減価償却1・設備投資0・運転資本増減ゼロ）</a:t>
            </a:r>
            <a:endParaRPr lang="en-US" sz="880" dirty="0"/>
          </a:p>
        </p:txBody>
      </p:sp>
      <p:sp>
        <p:nvSpPr>
          <p:cNvPr id="10" name="Text 7"/>
          <p:cNvSpPr txBox="1"/>
          <p:nvPr/>
        </p:nvSpPr>
        <p:spPr>
          <a:xfrm>
            <a:off x="7827264" y="2980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1〜3年目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686800" y="2962656"/>
            <a:ext cx="2724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3シナリオ共通で3.50億円。岸田氏が毎日厨房に立つ前提（売主回答）</a:t>
            </a:r>
            <a:endParaRPr lang="en-US" sz="880" dirty="0"/>
          </a:p>
        </p:txBody>
      </p:sp>
      <p:sp>
        <p:nvSpPr>
          <p:cNvPr id="12" name="Text 9"/>
          <p:cNvSpPr txBox="1"/>
          <p:nvPr/>
        </p:nvSpPr>
        <p:spPr>
          <a:xfrm>
            <a:off x="7827264" y="35295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4年目以降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3511296"/>
            <a:ext cx="2724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A：3.50億円据置／B：二つ星降格により売上▲32%・利益率52%→29%で2.00億円／C：星喪失で1.00億円</a:t>
            </a:r>
            <a:endParaRPr lang="en-US" sz="880" dirty="0"/>
          </a:p>
        </p:txBody>
      </p:sp>
      <p:sp>
        <p:nvSpPr>
          <p:cNvPr id="14" name="Text 11"/>
          <p:cNvSpPr txBox="1"/>
          <p:nvPr/>
        </p:nvSpPr>
        <p:spPr>
          <a:xfrm>
            <a:off x="7827264" y="407822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割引率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686800" y="4059936"/>
            <a:ext cx="2724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10%を基準（リスクフリー1.5%＋株式リスクプレミアム6%×β1.1＋規模・属人性プレミアム2%）</a:t>
            </a:r>
            <a:endParaRPr lang="en-US" sz="880" dirty="0"/>
          </a:p>
        </p:txBody>
      </p:sp>
      <p:sp>
        <p:nvSpPr>
          <p:cNvPr id="16" name="Text 13"/>
          <p:cNvSpPr txBox="1"/>
          <p:nvPr/>
        </p:nvSpPr>
        <p:spPr>
          <a:xfrm>
            <a:off x="7827264" y="462686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継続成長率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8686800" y="4608576"/>
            <a:ext cx="2724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0%（54席固定・値上げ以外の成長ドライバーなし）</a:t>
            </a:r>
            <a:endParaRPr lang="en-US" sz="88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321808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価格50億円が織り込む事業価値27.57億円は、シナリオA（35.0億円）とB（23.7億円）の間にあり、Bに近い。つまり50億円という価格は、既に「星が落ちる可能性」を相当程度織り込んだ水準である。次ページでこれを確率に換算する。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カンテサンス（株式会社プティ・ボノム）株式譲渡価格50億円の妥当性検証 ／ 銀行ご提出用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検証④ 類似取引事例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直接比較できる事例は存在しない。倍率では負けていない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国内のミシュラン三つ星は約20店。うち法人形態で営業利益5億円規模の店舗の譲渡事例は確認できない。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1105509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645920"/>
                <a:gridCol w="1645920"/>
                <a:gridCol w="1371600"/>
                <a:gridCol w="3374136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事例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営業利益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株式価値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倍率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本件との比較可能性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京都・二つ星レストラン（非公開）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約20百万円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約7.5倍※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倍率は近いが規模が1/25。参考に留まる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アピシウス（東京・高級フレンチ）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約1.5億円弱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―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―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国内高級フレンチの利益水準の目線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ロオジエ（東京・三つ星）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2〜3億円程度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―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―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国内高級フレンチの事実上の利益上限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カンテサンス（本件）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5.28億円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国内高級レストランで突出した収益規模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0416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EV/営業利益ベース。非公開案件につきヒアリング情報に基づく概算であり、検証可能な一次情報ではない。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66928" y="4434840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86384" y="4572000"/>
            <a:ext cx="201168" cy="201168"/>
          </a:xfrm>
          <a:prstGeom prst="ellipse">
            <a:avLst/>
          </a:prstGeom>
          <a:solidFill>
            <a:srgbClr val="2E6F4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78992" y="45354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倍率では割高ではない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86384" y="4864608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比較可能な数少ない事例と比べても、EV/営業利益5.2倍は同等かそれ以下。「高すぎる」という主張は、倍率を根拠にはできない。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297680" y="4434840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17136" y="4572000"/>
            <a:ext cx="201168" cy="201168"/>
          </a:xfrm>
          <a:prstGeom prst="ellipse">
            <a:avLst/>
          </a:prstGeom>
          <a:solidFill>
            <a:srgbClr val="A874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809744" y="45354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ただし絶対額の裏付けはない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517136" y="4864608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1店舗・1名に対して事業価値27.6億円という集中度を、国内の取引事例で裏付けることはできない。事例が存在しないためである。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028432" y="4434840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47888" y="4572000"/>
            <a:ext cx="201168" cy="201168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540496" y="45354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したがってDCFで判断する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247888" y="4864608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事例が使えない以上、価格の妥当性は将来キャッシュフローとその実現確率で判断するほかない（次ページ）。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カンテサンス（株式会社プティ・ボノム）株式譲渡価格50億円の妥当性検証 ／ 銀行ご提出用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統合判定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価格が織り込む「三つ星維持確率」。50億円は34%で成立する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シナリオA（35.0億円）とB（23.7億円）の間で価格を按分し、その価格が成立するために必要な三つ星維持確率を逆算した。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74520"/>
          <a:ext cx="11055096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554480"/>
                <a:gridCol w="2377440"/>
                <a:gridCol w="328269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株式譲渡価格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事業価値（EV）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EV/EBITDA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必要な三つ星維持確率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判定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45.00億円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22.57億円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4.27倍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0%（B案でも成立）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売主が応じない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50.00億円（提示）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27.57億円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5.21倍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◎ 妥当。星が落ちる前提でも概ね説明できる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53.00億円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30.57億円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5.78倍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 交渉の実務的な着地上限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55.00億円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32.57億円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6.16倍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874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△ 許容上限。星維持をほぼ前提とする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57.40億円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34.97億円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6.61倍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874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理論上限。降格リスクをゼロと置く水準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60.00億円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37.57億円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7.10倍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説明不能。維持ケースDCFをも超える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28032"/>
            <a:ext cx="11055096" cy="1005840"/>
          </a:xfrm>
          <a:prstGeom prst="roundRect">
            <a:avLst>
              <a:gd name="adj" fmla="val 3636"/>
            </a:avLst>
          </a:prstGeom>
          <a:solidFill>
            <a:srgbClr val="6D2E4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493776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</a:rPr>
              <a:t>適正レンジ 50〜53億円　／　許容上限 55億円　／　57.4億円で三つ星維持100%前提　／　60億円は説明不能
</a:t>
            </a:r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EBDCE1"/>
                </a:solidFill>
              </a:rPr>
              <a:t>加重期待値（維持50%／降格35%／喪失15%）による株式価値は50.67億円。提示価格50億円はこの期待値をわずかに下回る。「50億円以上」という売主条件と3社競合を踏まえても、55億円を超える提示は本資料の前提では正当化できない。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カンテサンス（株式会社プティ・ボノム）株式譲渡価格50億円の妥当性検証 ／ 銀行ご提出用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 ブレークイーブン分析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営業利益が恒久的に21%落ちても、50億円は正当化される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提示価格が織り込む事業価値27.57億円を、割引率10%・継続成長率0%で維持するために必要な利益水準を逆算した。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352044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95681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必要な恒久FCF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2128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2.76億円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68833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現状3.50億円に対し ▲21.2%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97680" y="1828800"/>
            <a:ext cx="352044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17136" y="195681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必要な恒久営業利益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17136" y="22128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4.15億円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17136" y="268833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現状5.28億円に対し ▲21.4%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28432" y="1828800"/>
            <a:ext cx="352044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47888" y="195681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必要な営業利益率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247888" y="22128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40.9%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247888" y="268833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現状52.0%から11.1pt低下まで許容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3101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感応度：営業利益の恒久的な減少率 × 割引率 → 事業価値（億円）</a:t>
            </a:r>
            <a:endParaRPr lang="en-US" sz="13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621024"/>
          <a:ext cx="11055096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737360"/>
                <a:gridCol w="1737360"/>
                <a:gridCol w="1737360"/>
                <a:gridCol w="3282696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営業利益の恒久的減少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割引率 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割引率 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割引率 12%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該当シナリオの目安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現状維持（±0%）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43.7億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35.0億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三つ星維持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31.5億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軽微な客離れ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28.1億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ブレークイーブン水準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30.8億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24.6億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二つ星降格の入口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22.1億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17.7億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二つ星降格〜星喪失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566928" y="5742432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緑＝提示価格が織り込むEV 27.57億円を上回る（価格が正当化される）／赤＝下回る。割引率10%・営業利益▲20%までが許容範囲。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参考：レバレッジなしIRR 12.5%（EV27.57億円で取得、10年保有、Exit EV/EBITDA 5.0倍、三つ星維持前提）。単純回収年数はEV÷FCFで7.9年、EV÷営業利益で5.2年。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カンテサンス（株式会社プティ・ボノム）株式譲渡価格50億円の妥当性検証 ／ 銀行ご提出用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B 対象会社の債務許容量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対象会社の自力返済で支えられる有利子負債は15〜17億円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取得主体を特定せず、対象会社のキャッシュフローのみで返済可能な有利子負債の上限を検証した（7年・金利3%・元金均等、初年度ベース）。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75104"/>
          <a:ext cx="11055096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737360"/>
                <a:gridCol w="2377440"/>
                <a:gridCol w="2377440"/>
                <a:gridCol w="1463040"/>
                <a:gridCol w="145389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有利子負債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初年度返済額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DSCR（平常時 FCF3.50億）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DSCR（ストレス時 FCF2.76億）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Debt/EBITDA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判定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2.07億円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 余裕あり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15.00億円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2.59億円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◎ 推奨水準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17.00億円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2.94億円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874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△ ストレス下で1.0割れ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18.00億円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3.11億円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874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△ 厳しい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3.46億円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平常時でも返済不能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434840"/>
            <a:ext cx="5440680" cy="1371600"/>
          </a:xfrm>
          <a:prstGeom prst="roundRect">
            <a:avLst>
              <a:gd name="adj" fmla="val 3333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6384" y="4562856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この会社の借入余力が限られる理由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86384" y="4828032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営業利益率は52%だが、絶対額は5.28億円。7年返済では元本だけで年2.1〜2.9億円が必要になる。さらに物的担保は事実上ワイン在庫（簿価1.19億円）のみで、店舗は賃借、有形固定資産は146万円しかない。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199632" y="4434840"/>
            <a:ext cx="5422392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19088" y="4562856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コベナンツ案（ご提案）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419088" y="4809744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DSCR 1.1倍以上の維持　② 対象会社に現預金6億円以上を留保（買収後の配当・自己株による過度な現金流出の制限）　③ 設備投資上限の設定　④ 岸田氏の退任・料理長交代・ミシュラン評価変動の報告義務　⑤ サントリー・ファインズとの取引条件変更時の報告義務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5943600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ストレス時FCF 2.76億円は、p.14のブレークイーブン水準（営業利益▲21%）を採用。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カンテサンス（株式会社プティ・ボノム）株式譲渡価格50億円の妥当性検証 ／ 銀行ご提出用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価格の前提を崩しうる8つの論点と、その手当て</a:t>
            </a:r>
            <a:endParaRPr lang="en-US" sz="2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5096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743200"/>
                <a:gridCol w="547725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論点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価格への影響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手当て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　役員貸付金5.00億円の回収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未精算ならEVは27.6→32.6億円（6.2倍）へ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クロージング時の現金精算をSPAの前提条件とする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　後継シェフの不在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シナリオB/Cの発生確率が上昇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売主は在籍5名につき「料理長を任せられるタイプではない」と回答済み。3年ロックアップ中の招聘を岸田氏の努力義務として契約化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　ミシュラン評価の降格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営業利益5.28→2.00億円（シナリオB）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星の維持に連動したアーンアウト（価格の一部後払い）を提案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　岸田氏の3年経過後の活動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ブランドの希薄化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「新店舗・ガストロノミーは考えていない／他店監修はあり得る」との回答。競業避止＋監修の事前承諾制を条件化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　「50億円は最低ライン」＋3社競合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55億円超で説明困難（p.13）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上限55億円の規律。EV固定＋クロージング時ネットキャッシュ実額連動方式とすれば、額面を上げつつ実質負担を抑えられる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　店舗の賃貸借契約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賃料は売上比1.97%＝年約1,900万円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残存期間とオーナーチェンジ条項の確認（ガーデンシティ品川御殿山1F）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　ワイン在庫の簿価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上振れ要因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簿価1.19億円。一次価格で継続仕入した希少銘柄を含むため、時価評価で含み益が生じる可能性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　仕入先アロケーションの帰属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収益構造の前提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サントリー・ファインズ等の配分が会社に帰属するか岸田氏個人に帰属するか、契約形態を確認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580644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論点1・2・3は価格そのものに直結する。特に論点1は、精算方法次第で実質的に支払う倍率が5.2倍から6.5倍へ動くため、価格交渉と同じ重みで手当てを要する。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カンテサンス（株式会社プティ・ボノム）株式譲渡価格50億円の妥当性検証 ／ 銀行ご提出用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206240"/>
            <a:ext cx="5120640" cy="512064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結論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727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8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98448" y="157276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株式譲渡価格50億円は妥当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98448" y="1901952"/>
            <a:ext cx="6492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2026年12月期末の想定財務を前提とすれば、EV/EBITDA 5.2倍、年買法で営業利益5.09年分、DCF加重期待値50.67億円。4手法すべてで説明可能な水準にある。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6517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8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298448" y="265176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許容上限は55億円、理論上限は57.4億円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2980944"/>
            <a:ext cx="6492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55億円は三つ星維持確率78%、57.4億円は100%を前提とする。60億円は維持ケースのDCFをも超え、現在の収益力では説明できない。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7307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8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298448" y="373075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価格の45%はキャッシュで裏付けられている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98448" y="4059936"/>
            <a:ext cx="6492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50億円のうち22.43億円は非事業用資産。事業リスクにさらされるのは27.57億円のみで、営業利益が恒久的に21%落ちてもこの水準は正当化される。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80974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8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298448" y="480974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ただし2つの条件が前提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98448" y="5138928"/>
            <a:ext cx="6492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役員貸付金5.00億円のクロージング時現金精算、(b) 岸田氏3年ロックアップの契約担保。(a)が崩れると実質倍率は6.5倍となり、評価は一段厳しくなる。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92440" y="1572768"/>
            <a:ext cx="3529584" cy="4206240"/>
          </a:xfrm>
          <a:prstGeom prst="roundRect">
            <a:avLst>
              <a:gd name="adj" fmla="val 1036"/>
            </a:avLst>
          </a:prstGeom>
          <a:solidFill>
            <a:srgbClr val="3B1E2B"/>
          </a:solidFill>
          <a:ln w="9525">
            <a:solidFill>
              <a:srgbClr val="5A32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11896" y="17190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前提条件と出所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311896" y="201168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B4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・2025/12期まではIM記載の決算数値。2026/12期はIM p.40の会社計画。
</a:t>
            </a:r>
            <a:pPr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B4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・2026/12期末BSは、無配・設備投資ゼロ・負債横ばいを前提に当期純利益350百万円が全額現預金と純資産に積み上がるものとして推計。
</a:t>
            </a:r>
            <a:pPr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B4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・FCF＝当期純利益（減価償却1百万円、設備投資ゼロ、運転資本増減ゼロ）。
</a:t>
            </a:r>
            <a:pPr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B4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・DCFは割引率10%・継続成長率0%を基準とし、1〜3年目は3シナリオ共通で3.50億円。
</a:t>
            </a:r>
            <a:pPr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B4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・EBITDA倍率の業種別目安（小売飲食業 約6倍）は2026年7月時点の中小M&amp;A実務データ。ひらまつ（2764）はFY2027/3会社予想。
</a:t>
            </a:r>
            <a:pPr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B4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・売主側条件（3年ロックアップ、後継シェフ、譲渡理由、選定基準）は仲介回答（2026年9月）による。
</a:t>
            </a:r>
            <a:pPr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B4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・本資料は取得主体を特定せず、対象会社の事業価値および提示価格の妥当性のみを検証したもの。取得ストラクチャー・資金調達計画は別途。</a:t>
            </a:r>
            <a:endParaRPr lang="en-US" sz="86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カンテサンス（株式会社プティ・ボノム）株式譲渡価格50億円の妥当性検証 ／ 銀行ご提出用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カンテサンス 株式譲渡価格50億円の妥当性検証</dc:title>
  <dc:subject>PptxGenJS Presentation</dc:subject>
  <dc:creator>株式会社WineBank</dc:creator>
  <cp:lastModifiedBy>株式会社WineBank</cp:lastModifiedBy>
  <cp:revision>1</cp:revision>
  <dcterms:created xsi:type="dcterms:W3CDTF">2026-09-17T03:13:23Z</dcterms:created>
  <dcterms:modified xsi:type="dcterms:W3CDTF">2026-09-17T03:13:23Z</dcterms:modified>
</cp:coreProperties>
</file>