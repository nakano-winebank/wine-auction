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事業承継を行う場合の想定（ノンネーム）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6647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増える仕事と、それが成長と報酬にどうつながるか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料理、サービス、お客様への向き合い方は変えません。増えるのは「自分たちの数字で振り返る」仕事です。買い手が過去に承継した老舗レストランで、毎月実際に運用している内容をもとにまとめました。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6647688" cy="384048"/>
          </a:xfrm>
          <a:prstGeom prst="roundRect">
            <a:avLst>
              <a:gd name="adj" fmla="val 9524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36192"/>
            <a:ext cx="6373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変わらないこと　</a:t>
            </a:r>
            <a:pPr indent="0" marL="0"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店名・料理・サービス・予約の仕組み／雇用と給与（下がることはありません）／シェフは3年間これまで通り厨房に立つ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48256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1．増える仕事（頻度と時間は目安）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22576"/>
          <a:ext cx="664768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971800"/>
                <a:gridCol w="1481328"/>
                <a:gridCol w="1234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誰が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増える仕事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頻度・時間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身につくこと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全員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閉店後の日報：売上、客数、客単価、ワインを注文したお客様の割合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毎日5〜10分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（今の閉店後の集計に追加）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自分の店の数字を毎日つかむ習慣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料理長・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スーシェフ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・コースの理論原価表（食材ごとの原価）を作り、メニュー変更時に更新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・月末の棚卸と、実際の原価率と理論原価率のズレの確認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・食材ロス（廃棄）の金額の記録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原価表：初回は数日、以降はメニュー変更ごとに2〜3時間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棚卸：月1回1〜2時間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ロス記録：毎日数分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原価の設計とロスの管理。独立したときに利益を出す力そのもの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支配人・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サービス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・シフトと労働時間・残業時間の管理（部門別）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・アルバイト人件費の確認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・予約の埋まり方（3か月先までの空席）の共有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週1回30分程度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人件費と労務の管理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ソムリエ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・ワイン・飲料の原価率（実際と理論の差）の確認と在庫の棚卸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・料理／ワイン／飲料の売上比率の把握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月1回1〜2時間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仕入れと在庫を数字で判断する力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役職者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（6名程度）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・週1回の短い会議（営業前の空き時間）：売上の進み具合を予算と比べる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・月1回の月次会議：計画と実績の差を、各担当が自分の数字で説明する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週30分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月1.5〜2時間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計画→実行→振り返りという、経営の回し方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5943600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持ち込まないもの：グルメサイトの運用、増席、値引きなどの集客策は求めません（今の運営で十分なため）。</a:t>
            </a:r>
            <a:endParaRPr lang="en-US" sz="88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27278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2．成長が報酬にどう結びつくか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6620256"/>
            <a:ext cx="54864" cy="23774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" y="6565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役職給・能力給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011680" y="6565392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上の役割を担う方には、役職と能力に応じた手当を上乗せします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457200" y="6986016"/>
            <a:ext cx="54864" cy="23774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" y="69311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半年に1回の評価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011680" y="6931152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昇給・昇格の機会。原価のズレ、ロス率、予約の埋まり方など、自分の担当の数字が評価の材料になります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457200" y="7351776"/>
            <a:ext cx="54864" cy="23774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504" y="7296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業績に応じた賞与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011680" y="7296912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数字の改善で生まれた利益を、賞与として還元します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457200" y="7717536"/>
            <a:ext cx="54864" cy="23774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3504" y="76626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承継ボーナス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2011680" y="7662672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3年間の承継を支えてくださった方へお支払いします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457200" y="8083296"/>
            <a:ext cx="54864" cy="23774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3504" y="8028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独立の支援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8028432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独立を目指す方には、出店などを支援します（過去の承継事例で実績あり）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457200" y="8503920"/>
            <a:ext cx="6647688" cy="1481328"/>
          </a:xfrm>
          <a:prstGeom prst="roundRect">
            <a:avLst>
              <a:gd name="adj" fmla="val 3086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8595360"/>
            <a:ext cx="6245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過去の承継事例（都内の老舗レストラン）では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" y="8887968"/>
            <a:ext cx="6245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人は入れ替えず、まずサービス残業の解消など、働く環境を整えることから始めました</a:t>
            </a:r>
            <a:endParaRPr lang="en-US" sz="93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毎月の会議で原価・ロス・人件費を見える化した結果、利益が大きく伸び、給与も上がりました</a:t>
            </a:r>
            <a:endParaRPr lang="en-US" sz="93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最初の半年は週1回の会議に経営陣も出席し、その後は月1回の会議と年2回の行事のみです</a:t>
            </a:r>
            <a:endParaRPr lang="en-US" sz="930" dirty="0"/>
          </a:p>
          <a:p>
            <a:pPr marL="152400" indent="-1524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社員全員と個別面談を行い、時期を空けて2巡目も実施しました</a:t>
            </a:r>
            <a:endParaRPr lang="en-US" sz="93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10149840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社外秘／ご検討用　頻度・時間は目安であり、具体的な進め方は現場と相談して決めます。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承継後に増える仕事と、成長・報酬へのつながり（ノンネーム）</dc:title>
  <dc:subject>PptxGenJS Presentation</dc:subject>
  <dc:creator>株式会社WineBank</dc:creator>
  <cp:lastModifiedBy>株式会社WineBank</cp:lastModifiedBy>
  <cp:revision>1</cp:revision>
  <dcterms:created xsi:type="dcterms:W3CDTF">2026-10-25T06:47:23Z</dcterms:created>
  <dcterms:modified xsi:type="dcterms:W3CDTF">2026-10-25T06:47:23Z</dcterms:modified>
</cp:coreProperties>
</file>