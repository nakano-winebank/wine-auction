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ご提案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お支払い総額は変えずに、双方の税負担を抑える設計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698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岸田様の手取りを守ることを前提に、会社側で損金にできる部分を「役員退職金」として設計させていただきたいと考えております。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593592" cy="749808"/>
          </a:xfrm>
          <a:prstGeom prst="roundRect">
            <a:avLst>
              <a:gd name="adj" fmla="val 609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673352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572768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お支払い総額は変えません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8836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10/9にお伝えした総額・条件の枠組みのままです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0" y="1481328"/>
            <a:ext cx="3593592" cy="749808"/>
          </a:xfrm>
          <a:prstGeom prst="roundRect">
            <a:avLst>
              <a:gd name="adj" fmla="val 6098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43984" y="16733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4398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1572768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岸田様の手取りは減らしません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8836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株式対価でお受け取りの場合と同水準を確保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028432" y="1481328"/>
            <a:ext cx="3593592" cy="749808"/>
          </a:xfrm>
          <a:prstGeom prst="roundRect">
            <a:avLst>
              <a:gd name="adj" fmla="val 609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74736" y="1673352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74736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68512" y="1572768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損金にできる部分を退職金に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68512" y="18836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金額・時期は双方の税理士の確認のうえ決定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2432304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役員退職金：支給時期による違い（目安）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24912"/>
          <a:ext cx="6446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74520"/>
                <a:gridCol w="1097280"/>
                <a:gridCol w="105156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支給時期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計算の目安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退職金の目安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会社の節税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岸田様の税負担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（株式対価比）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決済時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（2026年12月）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月額報酬60万円×在任20年×功績倍率3.0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約0.36億円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約0.12億円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約280万円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軽くなる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最終ご退任時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（4〜5年目）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月額報酬約167万円×在任24〜25年×功績倍率2.0〜3.0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約0.8〜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約0.28〜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ほぼ同水準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（±150万円程度）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4343400"/>
            <a:ext cx="6446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最終ご退任時の月額報酬は、決済後の固定報酬（年2,000万円）を前提としています。最終ご退任時に支給する場合は、ご退任まで取締役を継続していただき、決済時には退職金を支給しないことが前提となります（決済時に支給すると在任期間が区切られるため）。財源は、前払い分またはアーンアウトの一部を振り替える形とし、総額は変えません。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7287768" y="2432304"/>
            <a:ext cx="4334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ご参考：アーンアウト1回4億円の払い方</a:t>
            </a:r>
            <a:endParaRPr lang="en-US" sz="11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7768" y="2724912"/>
          <a:ext cx="4334256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463040"/>
                <a:gridCol w="12710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払い方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岸田様の手取り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会社の節税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株式対価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（10/9の枠組み）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約3.19億円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（税率20.3%）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役員報酬（賞与）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約1.82億円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（税率約54%）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約1.38億円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7287768" y="4343400"/>
            <a:ext cx="4334256" cy="685800"/>
          </a:xfrm>
          <a:prstGeom prst="roundRect">
            <a:avLst>
              <a:gd name="adj" fmla="val 5333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424928" y="4389120"/>
            <a:ext cx="4059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報酬で払うと、会社の節税分とほぼ同じだけ岸田様の税金が増え、双方合計では得になりません。アーンアウトは株式対価を基本とし、退職金に振り替えられる部分だけを設計します。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5230368"/>
            <a:ext cx="11055096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95528" y="5303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本日ご相談したいこと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95528" y="5596128"/>
            <a:ext cx="10597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1．役員退職金を活用する方向性について、ご賛同いただけるか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795528" y="5815584"/>
            <a:ext cx="10597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2．支給時期（決済時か、最終ご退任時か）と、財源とする部分（前払い分またはアーンアウトの一部）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95528" y="6035040"/>
            <a:ext cx="10597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3．双方の税理士による確認の進め方と、最終契約書への反映時期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66928" y="6473952"/>
            <a:ext cx="11055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たたき台 ／ 金額はいずれも概算です。税務上の取扱いは双方の税理士の確認を前提とします ／ 2026年10月11日 株式会社WineBank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お支払い設計のご提案（税負担の最適化）</dc:title>
  <dc:subject>PptxGenJS Presentation</dc:subject>
  <dc:creator>株式会社WineBank</dc:creator>
  <cp:lastModifiedBy>株式会社WineBank</cp:lastModifiedBy>
  <cp:revision>1</cp:revision>
  <dcterms:created xsi:type="dcterms:W3CDTF">2026-10-10T13:54:11Z</dcterms:created>
  <dcterms:modified xsi:type="dcterms:W3CDTF">2026-10-10T13:54:11Z</dcterms:modified>
</cp:coreProperties>
</file>