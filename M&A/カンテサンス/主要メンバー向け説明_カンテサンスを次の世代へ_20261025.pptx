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292608"/>
            <a:ext cx="7315200" cy="237744"/>
          </a:xfrm>
          <a:prstGeom prst="rect">
            <a:avLst/>
          </a:prstGeom>
          <a:noFill/>
          <a:ln/>
        </p:spPr>
        <p:txBody>
          <a:bodyPr wrap="square" lIns="0" tIns="0" rIns="0" bIns="0" rtlCol="0" anchor="ctr"/>
          <a:lstStyle/>
          <a:p>
            <a:pPr indent="0" marL="0">
              <a:buNone/>
            </a:pPr>
            <a:r>
              <a:rPr lang="en-US" sz="1100" b="1" spc="140" kern="0" dirty="0">
                <a:solidFill>
                  <a:srgbClr val="B58B2A"/>
                </a:solidFill>
                <a:latin typeface="Calibri" pitchFamily="34" charset="0"/>
                <a:ea typeface="Calibri" pitchFamily="34" charset="-122"/>
                <a:cs typeface="Calibri" pitchFamily="34" charset="-120"/>
              </a:rPr>
              <a:t>主要メンバーの皆さまへ</a:t>
            </a:r>
            <a:endParaRPr lang="en-US" sz="1100" dirty="0"/>
          </a:p>
        </p:txBody>
      </p:sp>
      <p:sp>
        <p:nvSpPr>
          <p:cNvPr id="3" name="Text 1"/>
          <p:cNvSpPr txBox="1"/>
          <p:nvPr/>
        </p:nvSpPr>
        <p:spPr>
          <a:xfrm>
            <a:off x="566928" y="548640"/>
            <a:ext cx="11055096" cy="475488"/>
          </a:xfrm>
          <a:prstGeom prst="rect">
            <a:avLst/>
          </a:prstGeom>
          <a:noFill/>
          <a:ln/>
        </p:spPr>
        <p:txBody>
          <a:bodyPr wrap="square" lIns="0" tIns="0" rIns="0" bIns="0" rtlCol="0" anchor="ctr"/>
          <a:lstStyle/>
          <a:p>
            <a:pPr indent="0" marL="0">
              <a:buNone/>
            </a:pPr>
            <a:r>
              <a:rPr lang="en-US" sz="2600" b="1" dirty="0">
                <a:solidFill>
                  <a:srgbClr val="1F1A1C"/>
                </a:solidFill>
                <a:latin typeface="Cambria" pitchFamily="34" charset="0"/>
                <a:ea typeface="Cambria" pitchFamily="34" charset="-122"/>
                <a:cs typeface="Cambria" pitchFamily="34" charset="-120"/>
              </a:rPr>
              <a:t>カンテサンスを、次の世代へ</a:t>
            </a:r>
            <a:endParaRPr lang="en-US" sz="2600" dirty="0"/>
          </a:p>
        </p:txBody>
      </p:sp>
      <p:sp>
        <p:nvSpPr>
          <p:cNvPr id="4" name="Text 2"/>
          <p:cNvSpPr txBox="1"/>
          <p:nvPr/>
        </p:nvSpPr>
        <p:spPr>
          <a:xfrm>
            <a:off x="566928" y="1060704"/>
            <a:ext cx="11055096" cy="457200"/>
          </a:xfrm>
          <a:prstGeom prst="rect">
            <a:avLst/>
          </a:prstGeom>
          <a:noFill/>
          <a:ln/>
        </p:spPr>
        <p:txBody>
          <a:bodyPr wrap="square" lIns="0" tIns="0" rIns="0" bIns="0" rtlCol="0" anchor="ctr"/>
          <a:lstStyle/>
          <a:p>
            <a:pPr indent="0" marL="0">
              <a:lnSpc>
                <a:spcPts val="1700"/>
              </a:lnSpc>
              <a:buNone/>
            </a:pPr>
            <a:r>
              <a:rPr lang="en-US" sz="1200" dirty="0">
                <a:solidFill>
                  <a:srgbClr val="6E6368"/>
                </a:solidFill>
                <a:latin typeface="Calibri" pitchFamily="34" charset="0"/>
                <a:ea typeface="Calibri" pitchFamily="34" charset="-122"/>
                <a:cs typeface="Calibri" pitchFamily="34" charset="-120"/>
              </a:rPr>
              <a:t>岸田シェフが築いてきたカンテサンスをこの先も続けていくために、株式会社WineBankと一緒に歩むことを考えています。変わらないこと、新たにお願いすること、皆さまにとってのメリットを、正直にお伝えします。</a:t>
            </a:r>
            <a:endParaRPr lang="en-US" sz="1200" dirty="0"/>
          </a:p>
        </p:txBody>
      </p:sp>
      <p:sp>
        <p:nvSpPr>
          <p:cNvPr id="5" name="Shape 3"/>
          <p:cNvSpPr/>
          <p:nvPr/>
        </p:nvSpPr>
        <p:spPr>
          <a:xfrm>
            <a:off x="566928" y="1700784"/>
            <a:ext cx="3563112" cy="3017520"/>
          </a:xfrm>
          <a:prstGeom prst="roundRect">
            <a:avLst>
              <a:gd name="adj" fmla="val 1515"/>
            </a:avLst>
          </a:prstGeom>
          <a:solidFill>
            <a:srgbClr val="FFFFFF"/>
          </a:solidFill>
          <a:ln w="9525">
            <a:solidFill>
              <a:srgbClr val="E4DADD"/>
            </a:solidFill>
            <a:prstDash val="solid"/>
          </a:ln>
        </p:spPr>
      </p:sp>
      <p:sp>
        <p:nvSpPr>
          <p:cNvPr id="6" name="Shape 4"/>
          <p:cNvSpPr/>
          <p:nvPr/>
        </p:nvSpPr>
        <p:spPr>
          <a:xfrm>
            <a:off x="566928" y="1700784"/>
            <a:ext cx="3563112" cy="420624"/>
          </a:xfrm>
          <a:prstGeom prst="rect">
            <a:avLst/>
          </a:prstGeom>
          <a:solidFill>
            <a:srgbClr val="6D2E46"/>
          </a:solidFill>
          <a:ln w="12700">
            <a:solidFill>
              <a:srgbClr val="6D2E46"/>
            </a:solidFill>
            <a:prstDash val="solid"/>
          </a:ln>
        </p:spPr>
      </p:sp>
      <p:sp>
        <p:nvSpPr>
          <p:cNvPr id="7" name="Text 5"/>
          <p:cNvSpPr txBox="1"/>
          <p:nvPr/>
        </p:nvSpPr>
        <p:spPr>
          <a:xfrm>
            <a:off x="749808" y="1700784"/>
            <a:ext cx="3197352" cy="420624"/>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変わらないこと</a:t>
            </a:r>
            <a:endParaRPr lang="en-US" sz="1350" dirty="0"/>
          </a:p>
        </p:txBody>
      </p:sp>
      <p:sp>
        <p:nvSpPr>
          <p:cNvPr id="8" name="Text 6"/>
          <p:cNvSpPr txBox="1"/>
          <p:nvPr/>
        </p:nvSpPr>
        <p:spPr>
          <a:xfrm>
            <a:off x="731520" y="2249424"/>
            <a:ext cx="3233928" cy="2359152"/>
          </a:xfrm>
          <a:prstGeom prst="rect">
            <a:avLst/>
          </a:prstGeom>
          <a:noFill/>
          <a:ln/>
        </p:spPr>
        <p:txBody>
          <a:bodyPr wrap="square" lIns="0" tIns="0" rIns="0" bIns="0" rtlCol="0" anchor="t"/>
          <a:lstStyle/>
          <a:p>
            <a:pPr marL="165100" indent="-165100">
              <a:lnSpc>
                <a:spcPts val="1500"/>
              </a:lnSpc>
              <a:spcAft>
                <a:spcPts val="500"/>
              </a:spcAft>
              <a:buSzPct val="100000"/>
              <a:buChar char="•"/>
            </a:pPr>
            <a:r>
              <a:rPr lang="en-US" sz="1100" dirty="0">
                <a:solidFill>
                  <a:srgbClr val="1F1A1C"/>
                </a:solidFill>
                <a:latin typeface="Calibri" pitchFamily="34" charset="0"/>
                <a:ea typeface="Calibri" pitchFamily="34" charset="-122"/>
                <a:cs typeface="Calibri" pitchFamily="34" charset="-120"/>
              </a:rPr>
              <a:t>店名・料理・サービス・予約の仕組みはそのまま</a:t>
            </a:r>
            <a:endParaRPr lang="en-US" sz="1100" dirty="0"/>
          </a:p>
          <a:p>
            <a:pPr marL="165100" indent="-165100">
              <a:lnSpc>
                <a:spcPts val="1500"/>
              </a:lnSpc>
              <a:spcAft>
                <a:spcPts val="500"/>
              </a:spcAft>
              <a:buSzPct val="100000"/>
              <a:buChar char="•"/>
            </a:pPr>
            <a:r>
              <a:rPr lang="en-US" sz="1100" dirty="0">
                <a:solidFill>
                  <a:srgbClr val="1F1A1C"/>
                </a:solidFill>
                <a:latin typeface="Calibri" pitchFamily="34" charset="0"/>
                <a:ea typeface="Calibri" pitchFamily="34" charset="-122"/>
                <a:cs typeface="Calibri" pitchFamily="34" charset="-120"/>
              </a:rPr>
              <a:t>雇用は続き、給与が下がることはありません</a:t>
            </a:r>
            <a:endParaRPr lang="en-US" sz="1100" dirty="0"/>
          </a:p>
          <a:p>
            <a:pPr marL="165100" indent="-165100">
              <a:lnSpc>
                <a:spcPts val="1500"/>
              </a:lnSpc>
              <a:spcAft>
                <a:spcPts val="500"/>
              </a:spcAft>
              <a:buSzPct val="100000"/>
              <a:buChar char="•"/>
            </a:pPr>
            <a:r>
              <a:rPr lang="en-US" sz="1100" dirty="0">
                <a:solidFill>
                  <a:srgbClr val="1F1A1C"/>
                </a:solidFill>
                <a:latin typeface="Calibri" pitchFamily="34" charset="0"/>
                <a:ea typeface="Calibri" pitchFamily="34" charset="-122"/>
                <a:cs typeface="Calibri" pitchFamily="34" charset="-120"/>
              </a:rPr>
              <a:t>岸田シェフは3年間、これまで通り厨房に立ちます</a:t>
            </a:r>
            <a:endParaRPr lang="en-US" sz="1100" dirty="0"/>
          </a:p>
          <a:p>
            <a:pPr marL="165100" indent="-165100">
              <a:lnSpc>
                <a:spcPts val="1500"/>
              </a:lnSpc>
              <a:spcAft>
                <a:spcPts val="500"/>
              </a:spcAft>
              <a:buSzPct val="100000"/>
              <a:buChar char="•"/>
            </a:pPr>
            <a:r>
              <a:rPr lang="en-US" sz="1100" dirty="0">
                <a:solidFill>
                  <a:srgbClr val="1F1A1C"/>
                </a:solidFill>
                <a:latin typeface="Calibri" pitchFamily="34" charset="0"/>
                <a:ea typeface="Calibri" pitchFamily="34" charset="-122"/>
                <a:cs typeface="Calibri" pitchFamily="34" charset="-120"/>
              </a:rPr>
              <a:t>お客様・お取引先との関係もこれまで通り</a:t>
            </a:r>
            <a:endParaRPr lang="en-US" sz="1100" dirty="0"/>
          </a:p>
        </p:txBody>
      </p:sp>
      <p:sp>
        <p:nvSpPr>
          <p:cNvPr id="9" name="Shape 7"/>
          <p:cNvSpPr/>
          <p:nvPr/>
        </p:nvSpPr>
        <p:spPr>
          <a:xfrm>
            <a:off x="4312920" y="1700784"/>
            <a:ext cx="3563112" cy="3017520"/>
          </a:xfrm>
          <a:prstGeom prst="roundRect">
            <a:avLst>
              <a:gd name="adj" fmla="val 1515"/>
            </a:avLst>
          </a:prstGeom>
          <a:solidFill>
            <a:srgbClr val="FFFFFF"/>
          </a:solidFill>
          <a:ln w="9525">
            <a:solidFill>
              <a:srgbClr val="E4DADD"/>
            </a:solidFill>
            <a:prstDash val="solid"/>
          </a:ln>
        </p:spPr>
      </p:sp>
      <p:sp>
        <p:nvSpPr>
          <p:cNvPr id="10" name="Shape 8"/>
          <p:cNvSpPr/>
          <p:nvPr/>
        </p:nvSpPr>
        <p:spPr>
          <a:xfrm>
            <a:off x="4312920" y="1700784"/>
            <a:ext cx="3563112" cy="420624"/>
          </a:xfrm>
          <a:prstGeom prst="rect">
            <a:avLst/>
          </a:prstGeom>
          <a:solidFill>
            <a:srgbClr val="B58B2A"/>
          </a:solidFill>
          <a:ln w="12700">
            <a:solidFill>
              <a:srgbClr val="B58B2A"/>
            </a:solidFill>
            <a:prstDash val="solid"/>
          </a:ln>
        </p:spPr>
      </p:sp>
      <p:sp>
        <p:nvSpPr>
          <p:cNvPr id="11" name="Text 9"/>
          <p:cNvSpPr txBox="1"/>
          <p:nvPr/>
        </p:nvSpPr>
        <p:spPr>
          <a:xfrm>
            <a:off x="4495800" y="1700784"/>
            <a:ext cx="3197352" cy="420624"/>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新たにお願いすること</a:t>
            </a:r>
            <a:endParaRPr lang="en-US" sz="1350" dirty="0"/>
          </a:p>
        </p:txBody>
      </p:sp>
      <p:sp>
        <p:nvSpPr>
          <p:cNvPr id="12" name="Text 10"/>
          <p:cNvSpPr txBox="1"/>
          <p:nvPr/>
        </p:nvSpPr>
        <p:spPr>
          <a:xfrm>
            <a:off x="4477512" y="2249424"/>
            <a:ext cx="3233928" cy="2359152"/>
          </a:xfrm>
          <a:prstGeom prst="rect">
            <a:avLst/>
          </a:prstGeom>
          <a:noFill/>
          <a:ln/>
        </p:spPr>
        <p:txBody>
          <a:bodyPr wrap="square" lIns="0" tIns="0" rIns="0" bIns="0" rtlCol="0" anchor="t"/>
          <a:lstStyle/>
          <a:p>
            <a:pPr marL="165100" indent="-165100">
              <a:lnSpc>
                <a:spcPts val="1500"/>
              </a:lnSpc>
              <a:spcAft>
                <a:spcPts val="500"/>
              </a:spcAft>
              <a:buSzPct val="100000"/>
              <a:buChar char="•"/>
            </a:pPr>
            <a:r>
              <a:rPr lang="en-US" sz="1100" dirty="0">
                <a:solidFill>
                  <a:srgbClr val="1F1A1C"/>
                </a:solidFill>
                <a:latin typeface="Calibri" pitchFamily="34" charset="0"/>
                <a:ea typeface="Calibri" pitchFamily="34" charset="-122"/>
                <a:cs typeface="Calibri" pitchFamily="34" charset="-120"/>
              </a:rPr>
              <a:t>週1回の会議：売上（ランチ／ディナー別）、アルコールとフードの比率、原価とロスを一緒に確認</a:t>
            </a:r>
            <a:endParaRPr lang="en-US" sz="1100" dirty="0"/>
          </a:p>
          <a:p>
            <a:pPr marL="165100" indent="-165100">
              <a:lnSpc>
                <a:spcPts val="1500"/>
              </a:lnSpc>
              <a:spcAft>
                <a:spcPts val="500"/>
              </a:spcAft>
              <a:buSzPct val="100000"/>
              <a:buChar char="•"/>
            </a:pPr>
            <a:r>
              <a:rPr lang="en-US" sz="1100" dirty="0">
                <a:solidFill>
                  <a:srgbClr val="1F1A1C"/>
                </a:solidFill>
                <a:latin typeface="Calibri" pitchFamily="34" charset="0"/>
                <a:ea typeface="Calibri" pitchFamily="34" charset="-122"/>
                <a:cs typeface="Calibri" pitchFamily="34" charset="-120"/>
              </a:rPr>
              <a:t>そのための日報と、Excelへの入力</a:t>
            </a:r>
            <a:endParaRPr lang="en-US" sz="1100" dirty="0"/>
          </a:p>
          <a:p>
            <a:pPr marL="165100" indent="-165100">
              <a:lnSpc>
                <a:spcPts val="1500"/>
              </a:lnSpc>
              <a:spcAft>
                <a:spcPts val="500"/>
              </a:spcAft>
              <a:buSzPct val="100000"/>
              <a:buChar char="•"/>
            </a:pPr>
            <a:r>
              <a:rPr lang="en-US" sz="1100" dirty="0">
                <a:solidFill>
                  <a:srgbClr val="1F1A1C"/>
                </a:solidFill>
                <a:latin typeface="Calibri" pitchFamily="34" charset="0"/>
                <a:ea typeface="Calibri" pitchFamily="34" charset="-122"/>
                <a:cs typeface="Calibri" pitchFamily="34" charset="-120"/>
              </a:rPr>
              <a:t>後継の体制づくりへのご協力</a:t>
            </a:r>
            <a:endParaRPr lang="en-US" sz="1100" dirty="0"/>
          </a:p>
          <a:p>
            <a:pPr marL="165100" indent="-165100">
              <a:lnSpc>
                <a:spcPts val="1500"/>
              </a:lnSpc>
              <a:spcAft>
                <a:spcPts val="500"/>
              </a:spcAft>
              <a:buSzPct val="100000"/>
              <a:buChar char="•"/>
            </a:pPr>
            <a:r>
              <a:rPr lang="en-US" sz="1100" dirty="0">
                <a:solidFill>
                  <a:srgbClr val="1F1A1C"/>
                </a:solidFill>
                <a:latin typeface="Calibri" pitchFamily="34" charset="0"/>
                <a:ea typeface="Calibri" pitchFamily="34" charset="-122"/>
                <a:cs typeface="Calibri" pitchFamily="34" charset="-120"/>
              </a:rPr>
              <a:t>3年後の世代交代に向けた準備</a:t>
            </a:r>
            <a:endParaRPr lang="en-US" sz="1100" dirty="0"/>
          </a:p>
        </p:txBody>
      </p:sp>
      <p:sp>
        <p:nvSpPr>
          <p:cNvPr id="13" name="Shape 11"/>
          <p:cNvSpPr/>
          <p:nvPr/>
        </p:nvSpPr>
        <p:spPr>
          <a:xfrm>
            <a:off x="8058912" y="1700784"/>
            <a:ext cx="3563112" cy="3017520"/>
          </a:xfrm>
          <a:prstGeom prst="roundRect">
            <a:avLst>
              <a:gd name="adj" fmla="val 1515"/>
            </a:avLst>
          </a:prstGeom>
          <a:solidFill>
            <a:srgbClr val="F7F3F4"/>
          </a:solidFill>
          <a:ln w="15875">
            <a:solidFill>
              <a:srgbClr val="6D2E46"/>
            </a:solidFill>
            <a:prstDash val="solid"/>
          </a:ln>
        </p:spPr>
      </p:sp>
      <p:sp>
        <p:nvSpPr>
          <p:cNvPr id="14" name="Shape 12"/>
          <p:cNvSpPr/>
          <p:nvPr/>
        </p:nvSpPr>
        <p:spPr>
          <a:xfrm>
            <a:off x="8058912" y="1700784"/>
            <a:ext cx="3563112" cy="420624"/>
          </a:xfrm>
          <a:prstGeom prst="rect">
            <a:avLst/>
          </a:prstGeom>
          <a:solidFill>
            <a:srgbClr val="6D2E46"/>
          </a:solidFill>
          <a:ln w="12700">
            <a:solidFill>
              <a:srgbClr val="6D2E46"/>
            </a:solidFill>
            <a:prstDash val="solid"/>
          </a:ln>
        </p:spPr>
      </p:sp>
      <p:sp>
        <p:nvSpPr>
          <p:cNvPr id="15" name="Text 13"/>
          <p:cNvSpPr txBox="1"/>
          <p:nvPr/>
        </p:nvSpPr>
        <p:spPr>
          <a:xfrm>
            <a:off x="8241792" y="1700784"/>
            <a:ext cx="3197352" cy="420624"/>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皆さまにとってのメリット</a:t>
            </a:r>
            <a:endParaRPr lang="en-US" sz="1350" dirty="0"/>
          </a:p>
        </p:txBody>
      </p:sp>
      <p:sp>
        <p:nvSpPr>
          <p:cNvPr id="16" name="Text 14"/>
          <p:cNvSpPr txBox="1"/>
          <p:nvPr/>
        </p:nvSpPr>
        <p:spPr>
          <a:xfrm>
            <a:off x="8223504" y="2249424"/>
            <a:ext cx="3233928" cy="2359152"/>
          </a:xfrm>
          <a:prstGeom prst="rect">
            <a:avLst/>
          </a:prstGeom>
          <a:noFill/>
          <a:ln/>
        </p:spPr>
        <p:txBody>
          <a:bodyPr wrap="square" lIns="0" tIns="0" rIns="0" bIns="0" rtlCol="0" anchor="t"/>
          <a:lstStyle/>
          <a:p>
            <a:pPr marL="165100" indent="-165100">
              <a:lnSpc>
                <a:spcPts val="1500"/>
              </a:lnSpc>
              <a:spcAft>
                <a:spcPts val="500"/>
              </a:spcAft>
              <a:buSzPct val="100000"/>
              <a:buChar char="•"/>
            </a:pPr>
            <a:r>
              <a:rPr lang="en-US" sz="1100" dirty="0">
                <a:solidFill>
                  <a:srgbClr val="1F1A1C"/>
                </a:solidFill>
                <a:latin typeface="Calibri" pitchFamily="34" charset="0"/>
                <a:ea typeface="Calibri" pitchFamily="34" charset="-122"/>
                <a:cs typeface="Calibri" pitchFamily="34" charset="-120"/>
              </a:rPr>
              <a:t>役職給・能力給による給与の増額</a:t>
            </a:r>
            <a:endParaRPr lang="en-US" sz="1100" dirty="0"/>
          </a:p>
          <a:p>
            <a:pPr marL="165100" indent="-165100">
              <a:lnSpc>
                <a:spcPts val="1500"/>
              </a:lnSpc>
              <a:spcAft>
                <a:spcPts val="500"/>
              </a:spcAft>
              <a:buSzPct val="100000"/>
              <a:buChar char="•"/>
            </a:pPr>
            <a:r>
              <a:rPr lang="en-US" sz="1100" dirty="0">
                <a:solidFill>
                  <a:srgbClr val="1F1A1C"/>
                </a:solidFill>
                <a:latin typeface="Calibri" pitchFamily="34" charset="0"/>
                <a:ea typeface="Calibri" pitchFamily="34" charset="-122"/>
                <a:cs typeface="Calibri" pitchFamily="34" charset="-120"/>
              </a:rPr>
              <a:t>半年に1回の昇給・昇格の機会</a:t>
            </a:r>
            <a:endParaRPr lang="en-US" sz="1100" dirty="0"/>
          </a:p>
          <a:p>
            <a:pPr marL="165100" indent="-165100">
              <a:lnSpc>
                <a:spcPts val="1500"/>
              </a:lnSpc>
              <a:spcAft>
                <a:spcPts val="500"/>
              </a:spcAft>
              <a:buSzPct val="100000"/>
              <a:buChar char="•"/>
            </a:pPr>
            <a:r>
              <a:rPr lang="en-US" sz="1100" dirty="0">
                <a:solidFill>
                  <a:srgbClr val="1F1A1C"/>
                </a:solidFill>
                <a:latin typeface="Calibri" pitchFamily="34" charset="0"/>
                <a:ea typeface="Calibri" pitchFamily="34" charset="-122"/>
                <a:cs typeface="Calibri" pitchFamily="34" charset="-120"/>
              </a:rPr>
              <a:t>3年間、承継を支えてくださった方への承継ボーナス</a:t>
            </a:r>
            <a:endParaRPr lang="en-US" sz="1100" dirty="0"/>
          </a:p>
          <a:p>
            <a:pPr marL="165100" indent="-165100">
              <a:lnSpc>
                <a:spcPts val="1500"/>
              </a:lnSpc>
              <a:spcAft>
                <a:spcPts val="500"/>
              </a:spcAft>
              <a:buSzPct val="100000"/>
              <a:buChar char="•"/>
            </a:pPr>
            <a:r>
              <a:rPr lang="en-US" sz="1100" dirty="0">
                <a:solidFill>
                  <a:srgbClr val="1F1A1C"/>
                </a:solidFill>
                <a:latin typeface="Calibri" pitchFamily="34" charset="0"/>
                <a:ea typeface="Calibri" pitchFamily="34" charset="-122"/>
                <a:cs typeface="Calibri" pitchFamily="34" charset="-120"/>
              </a:rPr>
              <a:t>経営の数字を扱う経験（独立・管理職で役立ちます）</a:t>
            </a:r>
            <a:endParaRPr lang="en-US" sz="1100" dirty="0"/>
          </a:p>
          <a:p>
            <a:pPr marL="165100" indent="-165100">
              <a:lnSpc>
                <a:spcPts val="1500"/>
              </a:lnSpc>
              <a:spcAft>
                <a:spcPts val="500"/>
              </a:spcAft>
              <a:buSzPct val="100000"/>
              <a:buChar char="•"/>
            </a:pPr>
            <a:r>
              <a:rPr lang="en-US" sz="1100" dirty="0">
                <a:solidFill>
                  <a:srgbClr val="1F1A1C"/>
                </a:solidFill>
                <a:latin typeface="Calibri" pitchFamily="34" charset="0"/>
                <a:ea typeface="Calibri" pitchFamily="34" charset="-122"/>
                <a:cs typeface="Calibri" pitchFamily="34" charset="-120"/>
              </a:rPr>
              <a:t>独立を目指す方への支援（アピシウスでお店を用意した実績あり）</a:t>
            </a:r>
            <a:endParaRPr lang="en-US" sz="1100" dirty="0"/>
          </a:p>
          <a:p>
            <a:pPr marL="165100" indent="-165100">
              <a:lnSpc>
                <a:spcPts val="1500"/>
              </a:lnSpc>
              <a:spcAft>
                <a:spcPts val="500"/>
              </a:spcAft>
              <a:buSzPct val="100000"/>
              <a:buChar char="•"/>
            </a:pPr>
            <a:r>
              <a:rPr lang="en-US" sz="1100" dirty="0">
                <a:solidFill>
                  <a:srgbClr val="1F1A1C"/>
                </a:solidFill>
                <a:latin typeface="Calibri" pitchFamily="34" charset="0"/>
                <a:ea typeface="Calibri" pitchFamily="34" charset="-122"/>
                <a:cs typeface="Calibri" pitchFamily="34" charset="-120"/>
              </a:rPr>
              <a:t>ワインの仕入れ網と知識、新しい業態でのポスト</a:t>
            </a:r>
            <a:endParaRPr lang="en-US" sz="1100" dirty="0"/>
          </a:p>
        </p:txBody>
      </p:sp>
      <p:sp>
        <p:nvSpPr>
          <p:cNvPr id="17" name="Text 15"/>
          <p:cNvSpPr txBox="1"/>
          <p:nvPr/>
        </p:nvSpPr>
        <p:spPr>
          <a:xfrm>
            <a:off x="566928" y="4919472"/>
            <a:ext cx="3657600" cy="237744"/>
          </a:xfrm>
          <a:prstGeom prst="rect">
            <a:avLst/>
          </a:prstGeom>
          <a:noFill/>
          <a:ln/>
        </p:spPr>
        <p:txBody>
          <a:bodyPr wrap="square" lIns="0" tIns="0" rIns="0" bIns="0" rtlCol="0" anchor="ctr"/>
          <a:lstStyle/>
          <a:p>
            <a:pPr indent="0" marL="0">
              <a:buNone/>
            </a:pPr>
            <a:r>
              <a:rPr lang="en-US" sz="1150" b="1" dirty="0">
                <a:solidFill>
                  <a:srgbClr val="B58B2A"/>
                </a:solidFill>
                <a:latin typeface="Calibri" pitchFamily="34" charset="0"/>
                <a:ea typeface="Calibri" pitchFamily="34" charset="-122"/>
                <a:cs typeface="Calibri" pitchFamily="34" charset="-120"/>
              </a:rPr>
              <a:t>3年間の流れ</a:t>
            </a:r>
            <a:endParaRPr lang="en-US" sz="1150" dirty="0"/>
          </a:p>
        </p:txBody>
      </p:sp>
      <p:sp>
        <p:nvSpPr>
          <p:cNvPr id="18" name="Shape 16"/>
          <p:cNvSpPr/>
          <p:nvPr/>
        </p:nvSpPr>
        <p:spPr>
          <a:xfrm>
            <a:off x="566928" y="5212080"/>
            <a:ext cx="2273808" cy="896112"/>
          </a:xfrm>
          <a:prstGeom prst="roundRect">
            <a:avLst>
              <a:gd name="adj" fmla="val 5102"/>
            </a:avLst>
          </a:prstGeom>
          <a:solidFill>
            <a:srgbClr val="F7F3F4"/>
          </a:solidFill>
          <a:ln w="9525">
            <a:solidFill>
              <a:srgbClr val="E4DADD"/>
            </a:solidFill>
            <a:prstDash val="solid"/>
          </a:ln>
        </p:spPr>
      </p:sp>
      <p:sp>
        <p:nvSpPr>
          <p:cNvPr id="19" name="Text 17"/>
          <p:cNvSpPr txBox="1"/>
          <p:nvPr/>
        </p:nvSpPr>
        <p:spPr>
          <a:xfrm>
            <a:off x="704088" y="5266944"/>
            <a:ext cx="1999488" cy="256032"/>
          </a:xfrm>
          <a:prstGeom prst="rect">
            <a:avLst/>
          </a:prstGeom>
          <a:noFill/>
          <a:ln/>
        </p:spPr>
        <p:txBody>
          <a:bodyPr wrap="square" lIns="0" tIns="0" rIns="0" bIns="0" rtlCol="0" anchor="ctr"/>
          <a:lstStyle/>
          <a:p>
            <a:pPr indent="0" marL="0">
              <a:buNone/>
            </a:pPr>
            <a:r>
              <a:rPr lang="en-US" sz="1150" b="1" dirty="0">
                <a:solidFill>
                  <a:srgbClr val="6D2E46"/>
                </a:solidFill>
                <a:latin typeface="Calibri" pitchFamily="34" charset="0"/>
                <a:ea typeface="Calibri" pitchFamily="34" charset="-122"/>
                <a:cs typeface="Calibri" pitchFamily="34" charset="-120"/>
              </a:rPr>
              <a:t>1年目</a:t>
            </a:r>
            <a:endParaRPr lang="en-US" sz="1150" dirty="0"/>
          </a:p>
        </p:txBody>
      </p:sp>
      <p:sp>
        <p:nvSpPr>
          <p:cNvPr id="20" name="Text 18"/>
          <p:cNvSpPr txBox="1"/>
          <p:nvPr/>
        </p:nvSpPr>
        <p:spPr>
          <a:xfrm>
            <a:off x="704088" y="5522976"/>
            <a:ext cx="1999488" cy="530352"/>
          </a:xfrm>
          <a:prstGeom prst="rect">
            <a:avLst/>
          </a:prstGeom>
          <a:noFill/>
          <a:ln/>
        </p:spPr>
        <p:txBody>
          <a:bodyPr wrap="square" lIns="0" tIns="0" rIns="0" bIns="0" rtlCol="0" anchor="t"/>
          <a:lstStyle/>
          <a:p>
            <a:pPr indent="0" marL="0">
              <a:lnSpc>
                <a:spcPts val="1250"/>
              </a:lnSpc>
              <a:buNone/>
            </a:pPr>
            <a:r>
              <a:rPr lang="en-US" sz="950" dirty="0">
                <a:solidFill>
                  <a:srgbClr val="1F1A1C"/>
                </a:solidFill>
                <a:latin typeface="Calibri" pitchFamily="34" charset="0"/>
                <a:ea typeface="Calibri" pitchFamily="34" charset="-122"/>
                <a:cs typeface="Calibri" pitchFamily="34" charset="-120"/>
              </a:rPr>
              <a:t>これまで通り。WineBankは皆さまのお話を伺うことから始めます</a:t>
            </a:r>
            <a:endParaRPr lang="en-US" sz="950" dirty="0"/>
          </a:p>
        </p:txBody>
      </p:sp>
      <p:sp>
        <p:nvSpPr>
          <p:cNvPr id="21" name="Shape 19"/>
          <p:cNvSpPr/>
          <p:nvPr/>
        </p:nvSpPr>
        <p:spPr>
          <a:xfrm>
            <a:off x="2950464" y="5212080"/>
            <a:ext cx="2273808" cy="896112"/>
          </a:xfrm>
          <a:prstGeom prst="roundRect">
            <a:avLst>
              <a:gd name="adj" fmla="val 5102"/>
            </a:avLst>
          </a:prstGeom>
          <a:solidFill>
            <a:srgbClr val="F7F3F4"/>
          </a:solidFill>
          <a:ln w="9525">
            <a:solidFill>
              <a:srgbClr val="E4DADD"/>
            </a:solidFill>
            <a:prstDash val="solid"/>
          </a:ln>
        </p:spPr>
      </p:sp>
      <p:sp>
        <p:nvSpPr>
          <p:cNvPr id="22" name="Text 20"/>
          <p:cNvSpPr txBox="1"/>
          <p:nvPr/>
        </p:nvSpPr>
        <p:spPr>
          <a:xfrm>
            <a:off x="3087624" y="5266944"/>
            <a:ext cx="1999488" cy="256032"/>
          </a:xfrm>
          <a:prstGeom prst="rect">
            <a:avLst/>
          </a:prstGeom>
          <a:noFill/>
          <a:ln/>
        </p:spPr>
        <p:txBody>
          <a:bodyPr wrap="square" lIns="0" tIns="0" rIns="0" bIns="0" rtlCol="0" anchor="ctr"/>
          <a:lstStyle/>
          <a:p>
            <a:pPr indent="0" marL="0">
              <a:buNone/>
            </a:pPr>
            <a:r>
              <a:rPr lang="en-US" sz="1150" b="1" dirty="0">
                <a:solidFill>
                  <a:srgbClr val="6D2E46"/>
                </a:solidFill>
                <a:latin typeface="Calibri" pitchFamily="34" charset="0"/>
                <a:ea typeface="Calibri" pitchFamily="34" charset="-122"/>
                <a:cs typeface="Calibri" pitchFamily="34" charset="-120"/>
              </a:rPr>
              <a:t>2年目</a:t>
            </a:r>
            <a:endParaRPr lang="en-US" sz="1150" dirty="0"/>
          </a:p>
        </p:txBody>
      </p:sp>
      <p:sp>
        <p:nvSpPr>
          <p:cNvPr id="23" name="Text 21"/>
          <p:cNvSpPr txBox="1"/>
          <p:nvPr/>
        </p:nvSpPr>
        <p:spPr>
          <a:xfrm>
            <a:off x="3087624" y="5522976"/>
            <a:ext cx="1999488" cy="530352"/>
          </a:xfrm>
          <a:prstGeom prst="rect">
            <a:avLst/>
          </a:prstGeom>
          <a:noFill/>
          <a:ln/>
        </p:spPr>
        <p:txBody>
          <a:bodyPr wrap="square" lIns="0" tIns="0" rIns="0" bIns="0" rtlCol="0" anchor="t"/>
          <a:lstStyle/>
          <a:p>
            <a:pPr indent="0" marL="0">
              <a:lnSpc>
                <a:spcPts val="1250"/>
              </a:lnSpc>
              <a:buNone/>
            </a:pPr>
            <a:r>
              <a:rPr lang="en-US" sz="950" dirty="0">
                <a:solidFill>
                  <a:srgbClr val="1F1A1C"/>
                </a:solidFill>
                <a:latin typeface="Calibri" pitchFamily="34" charset="0"/>
                <a:ea typeface="Calibri" pitchFamily="34" charset="-122"/>
                <a:cs typeface="Calibri" pitchFamily="34" charset="-120"/>
              </a:rPr>
              <a:t>次の料理長候補（2人体制）が入り、岸田シェフと並走します</a:t>
            </a:r>
            <a:endParaRPr lang="en-US" sz="950" dirty="0"/>
          </a:p>
        </p:txBody>
      </p:sp>
      <p:sp>
        <p:nvSpPr>
          <p:cNvPr id="24" name="Shape 22"/>
          <p:cNvSpPr/>
          <p:nvPr/>
        </p:nvSpPr>
        <p:spPr>
          <a:xfrm>
            <a:off x="5334000" y="5212080"/>
            <a:ext cx="2273808" cy="896112"/>
          </a:xfrm>
          <a:prstGeom prst="roundRect">
            <a:avLst>
              <a:gd name="adj" fmla="val 5102"/>
            </a:avLst>
          </a:prstGeom>
          <a:solidFill>
            <a:srgbClr val="F7F3F4"/>
          </a:solidFill>
          <a:ln w="9525">
            <a:solidFill>
              <a:srgbClr val="E4DADD"/>
            </a:solidFill>
            <a:prstDash val="solid"/>
          </a:ln>
        </p:spPr>
      </p:sp>
      <p:sp>
        <p:nvSpPr>
          <p:cNvPr id="25" name="Text 23"/>
          <p:cNvSpPr txBox="1"/>
          <p:nvPr/>
        </p:nvSpPr>
        <p:spPr>
          <a:xfrm>
            <a:off x="5471160" y="5266944"/>
            <a:ext cx="1999488" cy="256032"/>
          </a:xfrm>
          <a:prstGeom prst="rect">
            <a:avLst/>
          </a:prstGeom>
          <a:noFill/>
          <a:ln/>
        </p:spPr>
        <p:txBody>
          <a:bodyPr wrap="square" lIns="0" tIns="0" rIns="0" bIns="0" rtlCol="0" anchor="ctr"/>
          <a:lstStyle/>
          <a:p>
            <a:pPr indent="0" marL="0">
              <a:buNone/>
            </a:pPr>
            <a:r>
              <a:rPr lang="en-US" sz="1150" b="1" dirty="0">
                <a:solidFill>
                  <a:srgbClr val="6D2E46"/>
                </a:solidFill>
                <a:latin typeface="Calibri" pitchFamily="34" charset="0"/>
                <a:ea typeface="Calibri" pitchFamily="34" charset="-122"/>
                <a:cs typeface="Calibri" pitchFamily="34" charset="-120"/>
              </a:rPr>
              <a:t>3年目</a:t>
            </a:r>
            <a:endParaRPr lang="en-US" sz="1150" dirty="0"/>
          </a:p>
        </p:txBody>
      </p:sp>
      <p:sp>
        <p:nvSpPr>
          <p:cNvPr id="26" name="Text 24"/>
          <p:cNvSpPr txBox="1"/>
          <p:nvPr/>
        </p:nvSpPr>
        <p:spPr>
          <a:xfrm>
            <a:off x="5471160" y="5522976"/>
            <a:ext cx="1999488" cy="530352"/>
          </a:xfrm>
          <a:prstGeom prst="rect">
            <a:avLst/>
          </a:prstGeom>
          <a:noFill/>
          <a:ln/>
        </p:spPr>
        <p:txBody>
          <a:bodyPr wrap="square" lIns="0" tIns="0" rIns="0" bIns="0" rtlCol="0" anchor="t"/>
          <a:lstStyle/>
          <a:p>
            <a:pPr indent="0" marL="0">
              <a:lnSpc>
                <a:spcPts val="1250"/>
              </a:lnSpc>
              <a:buNone/>
            </a:pPr>
            <a:r>
              <a:rPr lang="en-US" sz="950" dirty="0">
                <a:solidFill>
                  <a:srgbClr val="1F1A1C"/>
                </a:solidFill>
                <a:latin typeface="Calibri" pitchFamily="34" charset="0"/>
                <a:ea typeface="Calibri" pitchFamily="34" charset="-122"/>
                <a:cs typeface="Calibri" pitchFamily="34" charset="-120"/>
              </a:rPr>
              <a:t>次の料理長へ引き継ぎ、岸田シェフは卒業します</a:t>
            </a:r>
            <a:endParaRPr lang="en-US" sz="950" dirty="0"/>
          </a:p>
        </p:txBody>
      </p:sp>
      <p:sp>
        <p:nvSpPr>
          <p:cNvPr id="27" name="Shape 25"/>
          <p:cNvSpPr/>
          <p:nvPr/>
        </p:nvSpPr>
        <p:spPr>
          <a:xfrm>
            <a:off x="7836408" y="5212080"/>
            <a:ext cx="3785616" cy="896112"/>
          </a:xfrm>
          <a:prstGeom prst="roundRect">
            <a:avLst>
              <a:gd name="adj" fmla="val 5102"/>
            </a:avLst>
          </a:prstGeom>
          <a:solidFill>
            <a:srgbClr val="6D2E46"/>
          </a:solidFill>
          <a:ln w="12700">
            <a:solidFill>
              <a:srgbClr val="6D2E46"/>
            </a:solidFill>
            <a:prstDash val="solid"/>
          </a:ln>
        </p:spPr>
      </p:sp>
      <p:sp>
        <p:nvSpPr>
          <p:cNvPr id="28" name="Text 26"/>
          <p:cNvSpPr txBox="1"/>
          <p:nvPr/>
        </p:nvSpPr>
        <p:spPr>
          <a:xfrm>
            <a:off x="8019288" y="5248656"/>
            <a:ext cx="3419856" cy="822960"/>
          </a:xfrm>
          <a:prstGeom prst="rect">
            <a:avLst/>
          </a:prstGeom>
          <a:noFill/>
          <a:ln/>
        </p:spPr>
        <p:txBody>
          <a:bodyPr wrap="square" lIns="0" tIns="0" rIns="0" bIns="0" rtlCol="0" anchor="ctr"/>
          <a:lstStyle/>
          <a:p>
            <a:pPr indent="0" marL="0">
              <a:lnSpc>
                <a:spcPts val="1400"/>
              </a:lnSpc>
              <a:buNone/>
            </a:pPr>
            <a:r>
              <a:rPr lang="en-US" sz="1200" b="1" dirty="0">
                <a:solidFill>
                  <a:srgbClr val="FFFFFF"/>
                </a:solidFill>
                <a:latin typeface="Calibri" pitchFamily="34" charset="0"/>
                <a:ea typeface="Calibri" pitchFamily="34" charset="-122"/>
                <a:cs typeface="Calibri" pitchFamily="34" charset="-120"/>
              </a:rPr>
              <a:t>このあと、お一人30分ずつお話を伺います
</a:t>
            </a:r>
            <a:pPr indent="0" marL="0">
              <a:lnSpc>
                <a:spcPts val="1400"/>
              </a:lnSpc>
              <a:buNone/>
            </a:pPr>
            <a:r>
              <a:rPr lang="en-US" sz="950" dirty="0">
                <a:solidFill>
                  <a:srgbClr val="E3D2D7"/>
                </a:solidFill>
                <a:latin typeface="Calibri" pitchFamily="34" charset="0"/>
                <a:ea typeface="Calibri" pitchFamily="34" charset="-122"/>
                <a:cs typeface="Calibri" pitchFamily="34" charset="-120"/>
              </a:rPr>
              <a:t>不安なこと、聞きたいことを何でもお聞かせください。参加するかどうかは、お話を聞いたうえでご判断ください。</a:t>
            </a:r>
            <a:endParaRPr lang="en-US" sz="1200" dirty="0"/>
          </a:p>
        </p:txBody>
      </p:sp>
      <p:sp>
        <p:nvSpPr>
          <p:cNvPr id="29" name="Text 27"/>
          <p:cNvSpPr txBox="1"/>
          <p:nvPr/>
        </p:nvSpPr>
        <p:spPr>
          <a:xfrm>
            <a:off x="566928" y="6473952"/>
            <a:ext cx="11055096" cy="201168"/>
          </a:xfrm>
          <a:prstGeom prst="rect">
            <a:avLst/>
          </a:prstGeom>
          <a:noFill/>
          <a:ln/>
        </p:spPr>
        <p:txBody>
          <a:bodyPr wrap="square" lIns="0" tIns="0" rIns="0" bIns="0" rtlCol="0" anchor="ctr"/>
          <a:lstStyle/>
          <a:p>
            <a:pPr indent="0" marL="0">
              <a:buNone/>
            </a:pPr>
            <a:r>
              <a:rPr lang="en-US" sz="800" dirty="0">
                <a:solidFill>
                  <a:srgbClr val="6E6368"/>
                </a:solidFill>
                <a:latin typeface="Calibri" pitchFamily="34" charset="0"/>
                <a:ea typeface="Calibri" pitchFamily="34" charset="-122"/>
                <a:cs typeface="Calibri" pitchFamily="34" charset="-120"/>
              </a:rPr>
              <a:t>主要メンバー向け／社外秘　　株式会社プティ・ボノム 岸田周三　・　株式会社WineBank 中野邦人</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カンテサンスを、次の世代へ（主要メンバーの皆さまへ）</dc:title>
  <dc:subject>PptxGenJS Presentation</dc:subject>
  <dc:creator>株式会社WineBank</dc:creator>
  <cp:lastModifiedBy>株式会社WineBank</cp:lastModifiedBy>
  <cp:revision>1</cp:revision>
  <dcterms:created xsi:type="dcterms:W3CDTF">2026-10-25T06:02:09Z</dcterms:created>
  <dcterms:modified xsi:type="dcterms:W3CDTF">2026-10-25T06:02:09Z</dcterms:modified>
</cp:coreProperties>
</file>