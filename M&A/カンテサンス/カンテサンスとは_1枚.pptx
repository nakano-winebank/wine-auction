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『ミシュランガイド東京』は2007年創刊、2026年版で19版目。創刊号から19年連続で三つ星を維持しているのは、かんだ／ガストロノミー ジョエル・ロブション／カンテサンスの3軒のみ（2018年版時点で11年連続は4軒、うちすきやばし次郎は2020年版より掲載対象外）。岸田周三氏は創刊号で33歳、当時最年少での三つ星獲得。開業以来おまかせ一コースのみ。2021年ミシュラン グリーンスター獲得。東京は19年連続で星付き店数世界一（三つ星12軒、パリ10軒、ニューヨーク5軒）。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3840480"/>
            <a:ext cx="7132320" cy="71323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-2743200" y="4754880"/>
            <a:ext cx="5852160" cy="585216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6576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0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QUINTESSENCE　／　カンテサンス（東京・品川御殿山）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0080"/>
            <a:ext cx="110550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創刊号から、ずっと三つ星。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8988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『ミシュランガイド東京』は2007年に創刊。2008年版から2026年版までの19版すべてで、カンテサンスは最高評価を保持している。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41248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8" name="Shape 6"/>
          <p:cNvSpPr/>
          <p:nvPr/>
        </p:nvSpPr>
        <p:spPr>
          <a:xfrm>
            <a:off x="1046988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9" name="Shape 7"/>
          <p:cNvSpPr/>
          <p:nvPr/>
        </p:nvSpPr>
        <p:spPr>
          <a:xfrm>
            <a:off x="1252728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879092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2084832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2290572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732788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16936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22676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7" name="Shape 15"/>
          <p:cNvSpPr/>
          <p:nvPr/>
        </p:nvSpPr>
        <p:spPr>
          <a:xfrm>
            <a:off x="3328416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70632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954780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0" name="Shape 18"/>
          <p:cNvSpPr/>
          <p:nvPr/>
        </p:nvSpPr>
        <p:spPr>
          <a:xfrm>
            <a:off x="4160520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1" name="Shape 19"/>
          <p:cNvSpPr/>
          <p:nvPr/>
        </p:nvSpPr>
        <p:spPr>
          <a:xfrm>
            <a:off x="4366260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808476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992624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4" name="Shape 22"/>
          <p:cNvSpPr/>
          <p:nvPr/>
        </p:nvSpPr>
        <p:spPr>
          <a:xfrm>
            <a:off x="5198364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5" name="Shape 23"/>
          <p:cNvSpPr/>
          <p:nvPr/>
        </p:nvSpPr>
        <p:spPr>
          <a:xfrm>
            <a:off x="5404104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0468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8" name="Shape 26"/>
          <p:cNvSpPr/>
          <p:nvPr/>
        </p:nvSpPr>
        <p:spPr>
          <a:xfrm>
            <a:off x="6236208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1948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84164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68312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32" name="Shape 30"/>
          <p:cNvSpPr/>
          <p:nvPr/>
        </p:nvSpPr>
        <p:spPr>
          <a:xfrm>
            <a:off x="7274052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33" name="Shape 31"/>
          <p:cNvSpPr/>
          <p:nvPr/>
        </p:nvSpPr>
        <p:spPr>
          <a:xfrm>
            <a:off x="7479792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922008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106156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36" name="Shape 34"/>
          <p:cNvSpPr/>
          <p:nvPr/>
        </p:nvSpPr>
        <p:spPr>
          <a:xfrm>
            <a:off x="8311896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17636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959852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144000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0" name="Shape 38"/>
          <p:cNvSpPr/>
          <p:nvPr/>
        </p:nvSpPr>
        <p:spPr>
          <a:xfrm>
            <a:off x="9349740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1" name="Shape 39"/>
          <p:cNvSpPr/>
          <p:nvPr/>
        </p:nvSpPr>
        <p:spPr>
          <a:xfrm>
            <a:off x="9555480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997696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181844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4" name="Shape 42"/>
          <p:cNvSpPr/>
          <p:nvPr/>
        </p:nvSpPr>
        <p:spPr>
          <a:xfrm>
            <a:off x="10387584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5" name="Shape 43"/>
          <p:cNvSpPr/>
          <p:nvPr/>
        </p:nvSpPr>
        <p:spPr>
          <a:xfrm>
            <a:off x="10593324" y="184708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035540" y="206654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841248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8" name="Shape 46"/>
          <p:cNvSpPr/>
          <p:nvPr/>
        </p:nvSpPr>
        <p:spPr>
          <a:xfrm>
            <a:off x="1046988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49" name="Shape 47"/>
          <p:cNvSpPr/>
          <p:nvPr/>
        </p:nvSpPr>
        <p:spPr>
          <a:xfrm>
            <a:off x="1252728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94944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79092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52" name="Shape 50"/>
          <p:cNvSpPr/>
          <p:nvPr/>
        </p:nvSpPr>
        <p:spPr>
          <a:xfrm>
            <a:off x="2084832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53" name="Shape 51"/>
          <p:cNvSpPr/>
          <p:nvPr/>
        </p:nvSpPr>
        <p:spPr>
          <a:xfrm>
            <a:off x="2290572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732788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916936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56" name="Shape 54"/>
          <p:cNvSpPr/>
          <p:nvPr/>
        </p:nvSpPr>
        <p:spPr>
          <a:xfrm>
            <a:off x="3122676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57" name="Shape 55"/>
          <p:cNvSpPr/>
          <p:nvPr/>
        </p:nvSpPr>
        <p:spPr>
          <a:xfrm>
            <a:off x="3328416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770632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954780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0" name="Shape 58"/>
          <p:cNvSpPr/>
          <p:nvPr/>
        </p:nvSpPr>
        <p:spPr>
          <a:xfrm>
            <a:off x="4160520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1" name="Shape 59"/>
          <p:cNvSpPr/>
          <p:nvPr/>
        </p:nvSpPr>
        <p:spPr>
          <a:xfrm>
            <a:off x="4366260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08476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92624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4" name="Shape 62"/>
          <p:cNvSpPr/>
          <p:nvPr/>
        </p:nvSpPr>
        <p:spPr>
          <a:xfrm>
            <a:off x="5198364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5" name="Shape 63"/>
          <p:cNvSpPr/>
          <p:nvPr/>
        </p:nvSpPr>
        <p:spPr>
          <a:xfrm>
            <a:off x="5404104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46320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030468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8" name="Shape 66"/>
          <p:cNvSpPr/>
          <p:nvPr/>
        </p:nvSpPr>
        <p:spPr>
          <a:xfrm>
            <a:off x="6236208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69" name="Shape 67"/>
          <p:cNvSpPr/>
          <p:nvPr/>
        </p:nvSpPr>
        <p:spPr>
          <a:xfrm>
            <a:off x="6441948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884164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068312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72" name="Shape 70"/>
          <p:cNvSpPr/>
          <p:nvPr/>
        </p:nvSpPr>
        <p:spPr>
          <a:xfrm>
            <a:off x="7274052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73" name="Shape 71"/>
          <p:cNvSpPr/>
          <p:nvPr/>
        </p:nvSpPr>
        <p:spPr>
          <a:xfrm>
            <a:off x="7479792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922008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106156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76" name="Shape 74"/>
          <p:cNvSpPr/>
          <p:nvPr/>
        </p:nvSpPr>
        <p:spPr>
          <a:xfrm>
            <a:off x="8311896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77" name="Shape 75"/>
          <p:cNvSpPr/>
          <p:nvPr/>
        </p:nvSpPr>
        <p:spPr>
          <a:xfrm>
            <a:off x="8517636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7959852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144000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80" name="Shape 78"/>
          <p:cNvSpPr/>
          <p:nvPr/>
        </p:nvSpPr>
        <p:spPr>
          <a:xfrm>
            <a:off x="9349740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81" name="Shape 79"/>
          <p:cNvSpPr/>
          <p:nvPr/>
        </p:nvSpPr>
        <p:spPr>
          <a:xfrm>
            <a:off x="9555480" y="2395728"/>
            <a:ext cx="182880" cy="182880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997696" y="2615184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9802368" y="235915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C8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19年分の </a:t>
            </a:r>
            <a:pPr algn="r"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E0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05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一度も欠けていない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3072384"/>
            <a:ext cx="11055096" cy="950976"/>
          </a:xfrm>
          <a:prstGeom prst="roundRect">
            <a:avLst>
              <a:gd name="adj" fmla="val 3846"/>
            </a:avLst>
          </a:prstGeom>
          <a:solidFill>
            <a:srgbClr val="E0B94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877824" y="3172968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F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創刊号から19年連続で三つ星を守っている店は、東京に3軒しかない。</a:t>
            </a:r>
            <a:endParaRPr lang="en-US" sz="1900" dirty="0"/>
          </a:p>
        </p:txBody>
      </p:sp>
      <p:sp>
        <p:nvSpPr>
          <p:cNvPr id="86" name="Text 84"/>
          <p:cNvSpPr txBox="1"/>
          <p:nvPr/>
        </p:nvSpPr>
        <p:spPr>
          <a:xfrm>
            <a:off x="877824" y="3566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F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かんだ</a:t>
            </a:r>
            <a:pPr indent="0" marL="0">
              <a:buNone/>
            </a:pPr>
            <a:r>
              <a:rPr lang="en-US" sz="1000" dirty="0">
                <a:solidFill>
                  <a:srgbClr val="6B5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（日本料理）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352544" y="3566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F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ジョエル・ロブション</a:t>
            </a:r>
            <a:pPr indent="0" marL="0">
              <a:buNone/>
            </a:pPr>
            <a:r>
              <a:rPr lang="en-US" sz="1000" dirty="0">
                <a:solidFill>
                  <a:srgbClr val="6B5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（フランス料理）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7827264" y="3602736"/>
            <a:ext cx="155448" cy="155448"/>
          </a:xfrm>
          <a:prstGeom prst="star5">
            <a:avLst/>
          </a:prstGeom>
          <a:solidFill>
            <a:srgbClr val="2A1F0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046720" y="3566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F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</a:t>
            </a:r>
            <a:pPr indent="0" marL="0">
              <a:buNone/>
            </a:pPr>
            <a:r>
              <a:rPr lang="en-US" sz="1000" dirty="0">
                <a:solidFill>
                  <a:srgbClr val="6B5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（フランス料理）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566928" y="4352544"/>
            <a:ext cx="2596896" cy="1664208"/>
          </a:xfrm>
          <a:prstGeom prst="roundRect">
            <a:avLst>
              <a:gd name="adj" fmla="val 2747"/>
            </a:avLst>
          </a:prstGeom>
          <a:solidFill>
            <a:srgbClr val="30161F"/>
          </a:solidFill>
          <a:ln w="9525">
            <a:solidFill>
              <a:srgbClr val="522C3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86384" y="4517136"/>
            <a:ext cx="146304" cy="146304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786384" y="473659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E0B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メニューが、ない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" y="52120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D6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開業以来、おまかせの一コースのみ。「その日いちばんおいしい食材を知っているのは僕たちです」（岸田周三）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3383280" y="4352544"/>
            <a:ext cx="2596896" cy="1664208"/>
          </a:xfrm>
          <a:prstGeom prst="roundRect">
            <a:avLst>
              <a:gd name="adj" fmla="val 2747"/>
            </a:avLst>
          </a:prstGeom>
          <a:solidFill>
            <a:srgbClr val="30161F"/>
          </a:solidFill>
          <a:ln w="9525">
            <a:solidFill>
              <a:srgbClr val="522C3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602736" y="4517136"/>
            <a:ext cx="146304" cy="146304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602736" y="473659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E0B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33歳、当時最年少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3602736" y="52120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D6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2007年の創刊号で三つ星。パリ「アストランス」でスーシェフを務め、帰国した翌年のことだった。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6199632" y="4352544"/>
            <a:ext cx="2596896" cy="1664208"/>
          </a:xfrm>
          <a:prstGeom prst="roundRect">
            <a:avLst>
              <a:gd name="adj" fmla="val 2747"/>
            </a:avLst>
          </a:prstGeom>
          <a:solidFill>
            <a:srgbClr val="30161F"/>
          </a:solidFill>
          <a:ln w="9525">
            <a:solidFill>
              <a:srgbClr val="522C3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419088" y="4517136"/>
            <a:ext cx="146304" cy="146304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419088" y="473659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E0B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緑の星も、持っている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6419088" y="52120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D6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2021年、持続可能な漁業への取り組みでミシュラン グリーンスターを獲得。東京で6軒のみの初年度認定。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9015984" y="4352544"/>
            <a:ext cx="2596896" cy="1664208"/>
          </a:xfrm>
          <a:prstGeom prst="roundRect">
            <a:avLst>
              <a:gd name="adj" fmla="val 2747"/>
            </a:avLst>
          </a:prstGeom>
          <a:solidFill>
            <a:srgbClr val="30161F"/>
          </a:solidFill>
          <a:ln w="9525">
            <a:solidFill>
              <a:srgbClr val="522C3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235440" y="4517136"/>
            <a:ext cx="146304" cy="146304"/>
          </a:xfrm>
          <a:prstGeom prst="star5">
            <a:avLst/>
          </a:prstGeom>
          <a:solidFill>
            <a:srgbClr val="E0B94A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235440" y="473659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E0B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星を持って、巣立った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9235440" y="52120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D6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この店の卒業生12名以上が独立し、それぞれにミシュランの星を得ている。</a:t>
            </a:r>
            <a:endParaRPr lang="en-US" sz="950" dirty="0"/>
          </a:p>
        </p:txBody>
      </p:sp>
      <p:sp>
        <p:nvSpPr>
          <p:cNvPr id="106" name="Text 104"/>
          <p:cNvSpPr txBox="1"/>
          <p:nvPr/>
        </p:nvSpPr>
        <p:spPr>
          <a:xfrm>
            <a:off x="566928" y="6199632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E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所：『ミシュランガイド東京2026』（2025年9月発表。東京の三つ星は12軒、星付き160軒で19年連続世界最多）ほか公開情報。創刊号の三つ星8軒のうち、2018年版時点で11年連続は4軒。うち「すきやばし次郎」は2020年版より掲載対象外。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カンテサンスとは</dc:title>
  <dc:subject>PptxGenJS Presentation</dc:subject>
  <dc:creator>株式会社WineBank</dc:creator>
  <cp:lastModifiedBy>株式会社WineBank</cp:lastModifiedBy>
  <cp:revision>1</cp:revision>
  <dcterms:created xsi:type="dcterms:W3CDTF">2026-09-20T05:27:06Z</dcterms:created>
  <dcterms:modified xsi:type="dcterms:W3CDTF">2026-09-20T05:27:06Z</dcterms:modified>
</cp:coreProperties>
</file>