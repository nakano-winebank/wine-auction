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SPCスキーム ― WineBankがAMとして価値向上を担う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698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みずほ銀行の借入を原資とするWineBank・アピシウスの出資と、投資家様の出資により、SPCが約30億円（EV相当）を用意し全株式を取得。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69080" y="1481328"/>
            <a:ext cx="3657600" cy="713232"/>
          </a:xfrm>
          <a:prstGeom prst="roundRect">
            <a:avLst>
              <a:gd name="adj" fmla="val 6410"/>
            </a:avLst>
          </a:prstGeom>
          <a:solidFill>
            <a:srgbClr val="F7F3F4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78808" y="159105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投資家様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SPCへ出資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97880" y="2194560"/>
            <a:ext cx="0" cy="475488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989320" y="22494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出資 10〜15億円</a:t>
            </a:r>
            <a:endParaRPr lang="en-US" sz="8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（シェア 33.3〜50%）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481328"/>
            <a:ext cx="24688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159105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みずほ銀行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8836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LBOローン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01368" y="2194560"/>
            <a:ext cx="0" cy="475488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892808" y="22311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借入 15〜20億円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2670048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F7F3F4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" y="277977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WineBank ⇒ アピシウス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0723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借入資金をSPCへ出資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2670048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6D2E46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78808" y="277977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買収目的会社（SPC）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0723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3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 約30億円（EV相当・取得関連費用込み）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0" y="2670048"/>
            <a:ext cx="247802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53728" y="277977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岸田 周三 氏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072384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売主（対象会社株式100%）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35808" y="3127248"/>
            <a:ext cx="1033272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054096" y="27249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出資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15〜20億円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054096" y="31821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シェア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50〜66.7%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26680" y="2926080"/>
            <a:ext cx="1417320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744968" y="2670048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 100%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726680" y="3346704"/>
            <a:ext cx="141732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744968" y="3383280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譲受代金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約50億円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97880" y="3584448"/>
            <a:ext cx="0" cy="603504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989320" y="37124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100%取得 → クロージング後に合併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069080" y="4187952"/>
            <a:ext cx="36576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78808" y="429768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株式会社プティ・ボノム（カンテサンス）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160520" y="45902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みずほへの返済は合併後の事業キャッシュフローが原資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00" y="4187952"/>
            <a:ext cx="2478024" cy="841248"/>
          </a:xfrm>
          <a:prstGeom prst="roundRect">
            <a:avLst>
              <a:gd name="adj" fmla="val 5435"/>
            </a:avLst>
          </a:prstGeom>
          <a:solidFill>
            <a:srgbClr val="F7F3F4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53728" y="42976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株式会社WineBank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235440" y="459028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アセットマネージャー（AM）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4443984"/>
            <a:ext cx="141732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headEnd type="triangle"/>
          </a:ln>
        </p:spPr>
      </p:sp>
      <p:sp>
        <p:nvSpPr>
          <p:cNvPr id="40" name="Text 38"/>
          <p:cNvSpPr txBox="1"/>
          <p:nvPr/>
        </p:nvSpPr>
        <p:spPr>
          <a:xfrm>
            <a:off x="7744968" y="4078224"/>
            <a:ext cx="1380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AM業務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経営管理・改善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726680" y="4791456"/>
            <a:ext cx="1417320" cy="0"/>
          </a:xfrm>
          <a:prstGeom prst="line">
            <a:avLst/>
          </a:prstGeom>
          <a:noFill/>
          <a:ln w="19050">
            <a:solidFill>
              <a:srgbClr val="B58B2A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7744968" y="4828032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AM報酬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144000" y="5102352"/>
            <a:ext cx="247802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B58B2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35440" y="5120640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管理報酬 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残高×年2%（運営経費込み）
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成果報酬 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38587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SPCの資金構成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96512"/>
          <a:ext cx="3291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出資者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出資額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シェア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WineBank・アピシウス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15〜20億円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50〜66.7%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投資家様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10〜15億円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33.3〜50%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約30億円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47" name="Text 44"/>
          <p:cNvSpPr txBox="1"/>
          <p:nvPr/>
        </p:nvSpPr>
        <p:spPr>
          <a:xfrm>
            <a:off x="566928" y="55595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WineBankが進めるバリューアップと改善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66928" y="5779008"/>
            <a:ext cx="2123237" cy="475488"/>
          </a:xfrm>
          <a:prstGeom prst="roundRect">
            <a:avLst>
              <a:gd name="adj" fmla="val 7692"/>
            </a:avLst>
          </a:prstGeom>
          <a:solidFill>
            <a:srgbClr val="6D2E46"/>
          </a:solidFill>
          <a:ln w="9525">
            <a:solidFill>
              <a:srgbClr val="6D2E4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76656" y="5806440"/>
            <a:ext cx="1903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三ツ星の維持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676656" y="6016752"/>
            <a:ext cx="19037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後継料理長候補の育成を最優先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2799893" y="5779008"/>
            <a:ext cx="2123237" cy="475488"/>
          </a:xfrm>
          <a:prstGeom prst="roundRect">
            <a:avLst>
              <a:gd name="adj" fmla="val 7692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909621" y="5806440"/>
            <a:ext cx="1903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物販の拡大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2909621" y="6016752"/>
            <a:ext cx="19037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チーズケーキの製造拠点・EC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5032858" y="5779008"/>
            <a:ext cx="2123237" cy="475488"/>
          </a:xfrm>
          <a:prstGeom prst="roundRect">
            <a:avLst>
              <a:gd name="adj" fmla="val 7692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142586" y="5806440"/>
            <a:ext cx="1903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ワインの仕入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5142586" y="6016752"/>
            <a:ext cx="19037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当社の仕入網とセラーを活用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265822" y="5779008"/>
            <a:ext cx="2123237" cy="475488"/>
          </a:xfrm>
          <a:prstGeom prst="roundRect">
            <a:avLst>
              <a:gd name="adj" fmla="val 7692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375550" y="5806440"/>
            <a:ext cx="1903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管理体制の整備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7375550" y="6016752"/>
            <a:ext cx="19037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月次PL・経営会議・労務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9498787" y="5779008"/>
            <a:ext cx="2123237" cy="475488"/>
          </a:xfrm>
          <a:prstGeom prst="roundRect">
            <a:avLst>
              <a:gd name="adj" fmla="val 7692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608515" y="5806440"/>
            <a:ext cx="1903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新業態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9608515" y="6016752"/>
            <a:ext cx="19037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ワインバー・スイーツ等の1品業態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566928" y="6291072"/>
            <a:ext cx="11055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株式価値（約50億円）とSPC資金（約30億円）の差額は対象会社の余剰現預金に相当し、ブリッジローンで手当てのうえ合併直後に対象会社の現預金で返済。AM報酬の算定基準（残高の定義、成果報酬の対象）はAM契約で定める。</a:t>
            </a:r>
            <a:endParaRPr lang="en-US" sz="75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カンテサンス（株式会社プティ・ボノム）SPCスキーム ／ 2026年10月1日 株式会社WineBank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カンテサンス SPCスキーム（AM型）</dc:title>
  <dc:subject>PptxGenJS Presentation</dc:subject>
  <dc:creator>株式会社WineBank</dc:creator>
  <cp:lastModifiedBy>株式会社WineBank</cp:lastModifiedBy>
  <cp:revision>1</cp:revision>
  <dcterms:created xsi:type="dcterms:W3CDTF">2026-10-01T01:31:54Z</dcterms:created>
  <dcterms:modified xsi:type="dcterms:W3CDTF">2026-10-01T01:31:54Z</dcterms:modified>
</cp:coreProperties>
</file>