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LOI（9/30提出）から条件合意（10/9）へ ― 何が変わったか</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株式譲渡対価を入札の最高札（50.5億円）と同水準の50〜51億円で確定。報酬の前払い分は役員退職金として損金化し、上振れ分は「星評価の維持」を条件とする後払いに切り替えました。</a:t>
            </a:r>
            <a:endParaRPr lang="en-US" sz="1150" dirty="0"/>
          </a:p>
        </p:txBody>
      </p:sp>
      <p:sp>
        <p:nvSpPr>
          <p:cNvPr id="5" name="Shape 3"/>
          <p:cNvSpPr/>
          <p:nvPr/>
        </p:nvSpPr>
        <p:spPr>
          <a:xfrm>
            <a:off x="566928" y="1572768"/>
            <a:ext cx="3593592" cy="1874520"/>
          </a:xfrm>
          <a:prstGeom prst="roundRect">
            <a:avLst>
              <a:gd name="adj" fmla="val 2439"/>
            </a:avLst>
          </a:prstGeom>
          <a:solidFill>
            <a:srgbClr val="F7F3F4"/>
          </a:solidFill>
          <a:ln w="9525">
            <a:solidFill>
              <a:srgbClr val="E4DADD"/>
            </a:solidFill>
            <a:prstDash val="solid"/>
          </a:ln>
        </p:spPr>
      </p:sp>
      <p:sp>
        <p:nvSpPr>
          <p:cNvPr id="6" name="Shape 4"/>
          <p:cNvSpPr/>
          <p:nvPr/>
        </p:nvSpPr>
        <p:spPr>
          <a:xfrm>
            <a:off x="731520" y="1737360"/>
            <a:ext cx="329184" cy="329184"/>
          </a:xfrm>
          <a:prstGeom prst="ellipse">
            <a:avLst/>
          </a:prstGeom>
          <a:solidFill>
            <a:srgbClr val="6D2E46"/>
          </a:solidFill>
          <a:ln w="12700">
            <a:solidFill>
              <a:srgbClr val="6D2E46"/>
            </a:solidFill>
            <a:prstDash val="solid"/>
          </a:ln>
        </p:spPr>
      </p:sp>
      <p:sp>
        <p:nvSpPr>
          <p:cNvPr id="7" name="Text 5"/>
          <p:cNvSpPr txBox="1"/>
          <p:nvPr/>
        </p:nvSpPr>
        <p:spPr>
          <a:xfrm>
            <a:off x="731520" y="1737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170432" y="1719072"/>
            <a:ext cx="2843784" cy="384048"/>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追加の支払いは「星評価の維持」が条件</a:t>
            </a:r>
            <a:endParaRPr lang="en-US" sz="1200" dirty="0"/>
          </a:p>
        </p:txBody>
      </p:sp>
      <p:sp>
        <p:nvSpPr>
          <p:cNvPr id="9" name="Text 7"/>
          <p:cNvSpPr txBox="1"/>
          <p:nvPr/>
        </p:nvSpPr>
        <p:spPr>
          <a:xfrm>
            <a:off x="749808" y="2176272"/>
            <a:ext cx="3227832" cy="1161288"/>
          </a:xfrm>
          <a:prstGeom prst="rect">
            <a:avLst/>
          </a:prstGeom>
          <a:noFill/>
          <a:ln/>
        </p:spPr>
        <p:txBody>
          <a:bodyPr wrap="square" lIns="0" tIns="0" rIns="0" bIns="0" rtlCol="0" anchor="t"/>
          <a:lstStyle/>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4年後・5年後に各4億円。評価を失えば支払いは不要です。</a:t>
            </a:r>
            <a:endParaRPr lang="en-US" sz="950" dirty="0"/>
          </a:p>
          <a:p>
            <a:pPr indent="0" marL="0">
              <a:lnSpc>
                <a:spcPts val="1300"/>
              </a:lnSpc>
              <a:buNone/>
            </a:pPr>
            <a:endParaRPr lang="en-US" sz="950" dirty="0"/>
          </a:p>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LOIでは最大5.3億円の上乗せを決済前の確認事項で決める設計でしたが、今回は最大のリスクと支払いが直接連動します。</a:t>
            </a:r>
            <a:endParaRPr lang="en-US" sz="950" dirty="0"/>
          </a:p>
        </p:txBody>
      </p:sp>
      <p:sp>
        <p:nvSpPr>
          <p:cNvPr id="10" name="Shape 8"/>
          <p:cNvSpPr/>
          <p:nvPr/>
        </p:nvSpPr>
        <p:spPr>
          <a:xfrm>
            <a:off x="4297680" y="1572768"/>
            <a:ext cx="3593592" cy="1874520"/>
          </a:xfrm>
          <a:prstGeom prst="roundRect">
            <a:avLst>
              <a:gd name="adj" fmla="val 2439"/>
            </a:avLst>
          </a:prstGeom>
          <a:solidFill>
            <a:srgbClr val="F7F3F4"/>
          </a:solidFill>
          <a:ln w="9525">
            <a:solidFill>
              <a:srgbClr val="E4DADD"/>
            </a:solidFill>
            <a:prstDash val="solid"/>
          </a:ln>
        </p:spPr>
      </p:sp>
      <p:sp>
        <p:nvSpPr>
          <p:cNvPr id="11" name="Shape 9"/>
          <p:cNvSpPr/>
          <p:nvPr/>
        </p:nvSpPr>
        <p:spPr>
          <a:xfrm>
            <a:off x="4462272" y="1737360"/>
            <a:ext cx="329184" cy="329184"/>
          </a:xfrm>
          <a:prstGeom prst="ellipse">
            <a:avLst/>
          </a:prstGeom>
          <a:solidFill>
            <a:srgbClr val="6D2E46"/>
          </a:solidFill>
          <a:ln w="12700">
            <a:solidFill>
              <a:srgbClr val="6D2E46"/>
            </a:solidFill>
            <a:prstDash val="solid"/>
          </a:ln>
        </p:spPr>
      </p:sp>
      <p:sp>
        <p:nvSpPr>
          <p:cNvPr id="12" name="Text 10"/>
          <p:cNvSpPr txBox="1"/>
          <p:nvPr/>
        </p:nvSpPr>
        <p:spPr>
          <a:xfrm>
            <a:off x="4462272" y="1737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4901184" y="1719072"/>
            <a:ext cx="2843784" cy="384048"/>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決済時の支払いは約1.5〜2.5億円増</a:t>
            </a:r>
            <a:endParaRPr lang="en-US" sz="1200" dirty="0"/>
          </a:p>
        </p:txBody>
      </p:sp>
      <p:sp>
        <p:nvSpPr>
          <p:cNvPr id="14" name="Text 12"/>
          <p:cNvSpPr txBox="1"/>
          <p:nvPr/>
        </p:nvSpPr>
        <p:spPr>
          <a:xfrm>
            <a:off x="4480560" y="2176272"/>
            <a:ext cx="3227832" cy="1161288"/>
          </a:xfrm>
          <a:prstGeom prst="rect">
            <a:avLst/>
          </a:prstGeom>
          <a:noFill/>
          <a:ln/>
        </p:spPr>
        <p:txBody>
          <a:bodyPr wrap="square" lIns="0" tIns="0" rIns="0" bIns="0" rtlCol="0" anchor="t"/>
          <a:lstStyle/>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株式譲渡対価50〜51億円に、役員退職金2.25億円（対象会社が支給・損金算入）が加わります。退職金の税効果約0.77億円を差し引くと、実質の増加は約0.7〜1.7億円です。</a:t>
            </a:r>
            <a:endParaRPr lang="en-US" sz="950" dirty="0"/>
          </a:p>
          <a:p>
            <a:pPr indent="0" marL="0">
              <a:lnSpc>
                <a:spcPts val="1300"/>
              </a:lnSpc>
              <a:buNone/>
            </a:pPr>
            <a:endParaRPr lang="en-US" sz="950" dirty="0"/>
          </a:p>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SPCで用意する資金は約30.5億円から約32.0〜33.0億円に増えます。</a:t>
            </a:r>
            <a:endParaRPr lang="en-US" sz="950" dirty="0"/>
          </a:p>
        </p:txBody>
      </p:sp>
      <p:sp>
        <p:nvSpPr>
          <p:cNvPr id="15" name="Shape 13"/>
          <p:cNvSpPr/>
          <p:nvPr/>
        </p:nvSpPr>
        <p:spPr>
          <a:xfrm>
            <a:off x="8028432" y="1572768"/>
            <a:ext cx="3593592" cy="1874520"/>
          </a:xfrm>
          <a:prstGeom prst="roundRect">
            <a:avLst>
              <a:gd name="adj" fmla="val 2439"/>
            </a:avLst>
          </a:prstGeom>
          <a:solidFill>
            <a:srgbClr val="F7F3F4"/>
          </a:solidFill>
          <a:ln w="9525">
            <a:solidFill>
              <a:srgbClr val="E4DADD"/>
            </a:solidFill>
            <a:prstDash val="solid"/>
          </a:ln>
        </p:spPr>
      </p:sp>
      <p:sp>
        <p:nvSpPr>
          <p:cNvPr id="16" name="Shape 14"/>
          <p:cNvSpPr/>
          <p:nvPr/>
        </p:nvSpPr>
        <p:spPr>
          <a:xfrm>
            <a:off x="8193024" y="1737360"/>
            <a:ext cx="329184" cy="329184"/>
          </a:xfrm>
          <a:prstGeom prst="ellipse">
            <a:avLst/>
          </a:prstGeom>
          <a:solidFill>
            <a:srgbClr val="6D2E46"/>
          </a:solidFill>
          <a:ln w="12700">
            <a:solidFill>
              <a:srgbClr val="6D2E46"/>
            </a:solidFill>
            <a:prstDash val="solid"/>
          </a:ln>
        </p:spPr>
      </p:sp>
      <p:sp>
        <p:nvSpPr>
          <p:cNvPr id="17" name="Text 15"/>
          <p:cNvSpPr txBox="1"/>
          <p:nvPr/>
        </p:nvSpPr>
        <p:spPr>
          <a:xfrm>
            <a:off x="8193024" y="1737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8631936" y="1719072"/>
            <a:ext cx="2843784" cy="384048"/>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売主の関与は2〜3年＋成果連動</a:t>
            </a:r>
            <a:endParaRPr lang="en-US" sz="1200" dirty="0"/>
          </a:p>
        </p:txBody>
      </p:sp>
      <p:sp>
        <p:nvSpPr>
          <p:cNvPr id="19" name="Text 17"/>
          <p:cNvSpPr txBox="1"/>
          <p:nvPr/>
        </p:nvSpPr>
        <p:spPr>
          <a:xfrm>
            <a:off x="8211312" y="2176272"/>
            <a:ext cx="3227832" cy="1161288"/>
          </a:xfrm>
          <a:prstGeom prst="rect">
            <a:avLst/>
          </a:prstGeom>
          <a:noFill/>
          <a:ln/>
        </p:spPr>
        <p:txBody>
          <a:bodyPr wrap="square" lIns="0" tIns="0" rIns="0" bIns="0" rtlCol="0" anchor="t"/>
          <a:lstStyle/>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ロックアップ（在任義務）は2年または3年で、その後の出勤義務はありません。</a:t>
            </a:r>
            <a:endParaRPr lang="en-US" sz="950" dirty="0"/>
          </a:p>
          <a:p>
            <a:pPr indent="0" marL="0">
              <a:lnSpc>
                <a:spcPts val="1300"/>
              </a:lnSpc>
              <a:buNone/>
            </a:pPr>
            <a:endParaRPr lang="en-US" sz="950" dirty="0"/>
          </a:p>
          <a:p>
            <a:pPr indent="0" marL="0">
              <a:lnSpc>
                <a:spcPts val="1300"/>
              </a:lnSpc>
              <a:buNone/>
            </a:pPr>
            <a:r>
              <a:rPr lang="en-US" sz="950" dirty="0">
                <a:solidFill>
                  <a:srgbClr val="1F1A1C"/>
                </a:solidFill>
                <a:latin typeface="Calibri" pitchFamily="34" charset="0"/>
                <a:ea typeface="Calibri" pitchFamily="34" charset="-122"/>
                <a:cs typeface="Calibri" pitchFamily="34" charset="-120"/>
              </a:rPr>
              <a:t>代わりに、後継料理長の育成と星評価の維持に対して、合計8億円の強い動機付けが働きます。</a:t>
            </a:r>
            <a:endParaRPr lang="en-US" sz="950" dirty="0"/>
          </a:p>
        </p:txBody>
      </p:sp>
      <p:sp>
        <p:nvSpPr>
          <p:cNvPr id="20" name="Text 18"/>
          <p:cNvSpPr txBox="1"/>
          <p:nvPr/>
        </p:nvSpPr>
        <p:spPr>
          <a:xfrm>
            <a:off x="566928" y="3675888"/>
            <a:ext cx="5486400"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支払いの比較（単位：億円）</a:t>
            </a:r>
            <a:endParaRPr lang="en-US" sz="1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66928" y="3950208"/>
          <a:ext cx="11055096" cy="914400"/>
        </p:xfrm>
        <a:graphic>
          <a:graphicData uri="http://schemas.openxmlformats.org/drawingml/2006/table">
            <a:tbl>
              <a:tblPr/>
              <a:tblGrid>
                <a:gridCol w="3108960"/>
                <a:gridCol w="2377440"/>
                <a:gridCol w="2377440"/>
                <a:gridCol w="3191256"/>
              </a:tblGrid>
              <a:tr h="274320">
                <a:tc>
                  <a:txBody>
                    <a:bodyPr/>
                    <a:lstStyle/>
                    <a:p>
                      <a:pPr indent="0" marL="0">
                        <a:buNone/>
                      </a:pP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LOI（9/30提出）</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条件合意（10/9）</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差</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決済時に払う対価</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50.2〜55.3</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52.25〜53.25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850" dirty="0">
                          <a:solidFill>
                            <a:srgbClr val="6E6368"/>
                          </a:solidFill>
                          <a:latin typeface="Calibri" pitchFamily="34" charset="0"/>
                          <a:ea typeface="Calibri" pitchFamily="34" charset="-122"/>
                          <a:cs typeface="Calibri" pitchFamily="34" charset="-120"/>
                        </a:rPr>
                        <a:t>役員退職金2.25億円を含む</a:t>
                      </a:r>
                      <a:endParaRPr lang="en-US" sz="8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（参考）退職金の損金算入による税効果</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▲約0.77</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850" dirty="0">
                          <a:solidFill>
                            <a:srgbClr val="6E6368"/>
                          </a:solidFill>
                          <a:latin typeface="Calibri" pitchFamily="34" charset="0"/>
                          <a:ea typeface="Calibri" pitchFamily="34" charset="-122"/>
                          <a:cs typeface="Calibri" pitchFamily="34" charset="-120"/>
                        </a:rPr>
                        <a:t>2027年の法人税納付時に効く</a:t>
                      </a:r>
                      <a:endParaRPr lang="en-US" sz="8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条件付きの後払い</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850" dirty="0">
                          <a:solidFill>
                            <a:srgbClr val="6E6368"/>
                          </a:solidFill>
                          <a:latin typeface="Calibri" pitchFamily="34" charset="0"/>
                          <a:ea typeface="Calibri" pitchFamily="34" charset="-122"/>
                          <a:cs typeface="Calibri" pitchFamily="34" charset="-120"/>
                        </a:rPr>
                        <a:t>星評価の維持が条件</a:t>
                      </a:r>
                      <a:endParaRPr lang="en-US" sz="8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仲介手数料</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約1.12</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2E6F4E"/>
                          </a:solidFill>
                          <a:latin typeface="Calibri" pitchFamily="34" charset="0"/>
                          <a:ea typeface="Calibri" pitchFamily="34" charset="-122"/>
                          <a:cs typeface="Calibri" pitchFamily="34" charset="-120"/>
                        </a:rPr>
                        <a:t>▲約0.55（減額で確定）</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総額：星評価を維持できた場合</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50.2〜55.3</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最大61.25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850" dirty="0">
                          <a:solidFill>
                            <a:srgbClr val="6E6368"/>
                          </a:solidFill>
                          <a:latin typeface="Calibri" pitchFamily="34" charset="0"/>
                          <a:ea typeface="Calibri" pitchFamily="34" charset="-122"/>
                          <a:cs typeface="Calibri" pitchFamily="34" charset="-120"/>
                        </a:rPr>
                        <a:t>成果が出た場合のみ増える</a:t>
                      </a:r>
                      <a:endParaRPr lang="en-US" sz="8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27432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総額：4年目に星評価を失った場合</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50.2〜55.3</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52.25〜53.25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850" dirty="0">
                          <a:solidFill>
                            <a:srgbClr val="6E6368"/>
                          </a:solidFill>
                          <a:latin typeface="Calibri" pitchFamily="34" charset="0"/>
                          <a:ea typeface="Calibri" pitchFamily="34" charset="-122"/>
                          <a:cs typeface="Calibri" pitchFamily="34" charset="-120"/>
                        </a:rPr>
                        <a:t>アーンアウトの支払いなし</a:t>
                      </a:r>
                      <a:endParaRPr lang="en-US" sz="8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22" name="Text 19"/>
          <p:cNvSpPr txBox="1"/>
          <p:nvPr/>
        </p:nvSpPr>
        <p:spPr>
          <a:xfrm>
            <a:off x="566928" y="5806440"/>
            <a:ext cx="11055096" cy="548640"/>
          </a:xfrm>
          <a:prstGeom prst="rect">
            <a:avLst/>
          </a:prstGeom>
          <a:noFill/>
          <a:ln/>
        </p:spPr>
        <p:txBody>
          <a:bodyPr wrap="square" lIns="0" tIns="0" rIns="0" bIns="0" rtlCol="0" anchor="ctr"/>
          <a:lstStyle/>
          <a:p>
            <a:pPr indent="0" marL="0">
              <a:lnSpc>
                <a:spcPts val="1200"/>
              </a:lnSpc>
              <a:buNone/>
            </a:pPr>
            <a:r>
              <a:rPr lang="en-US" sz="850" dirty="0">
                <a:solidFill>
                  <a:srgbClr val="6E6368"/>
                </a:solidFill>
                <a:latin typeface="Calibri" pitchFamily="34" charset="0"/>
                <a:ea typeface="Calibri" pitchFamily="34" charset="-122"/>
                <a:cs typeface="Calibri" pitchFamily="34" charset="-120"/>
              </a:rPr>
              <a:t>※ LOIの決済時対価は、事業価値27.8億円＋決済日のネットキャッシュ実額（下限50億円、12月末決済で約50.2億円）。上限55.3億円はDDでの確認事項に応じた上乗せ。条件合意の決済時対価は、株式譲渡対価50億円（今期計画を約1,000万円上回れば51億円）＋役員退職金2.25億円（報酬3年分の一部に相当する額を、決済前に対象会社が支給）。</a:t>
            </a:r>
            <a:endParaRPr lang="en-US" sz="850" dirty="0"/>
          </a:p>
        </p:txBody>
      </p:sp>
      <p:sp>
        <p:nvSpPr>
          <p:cNvPr id="23" name="Text 20"/>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24" name="Text 21"/>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COMPARISON</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主要条件の比較</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評価欄は、当社と投資家様から見た有利・不利です。</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1828800"/>
                <a:gridCol w="3566160"/>
                <a:gridCol w="4023360"/>
                <a:gridCol w="1636776"/>
              </a:tblGrid>
              <a:tr h="43891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項目</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LOI（9/30提出）</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条件合意（10/9）</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評価</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株式譲渡対価</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事業価値27.8億円＋決済日のネットキャッシュ実額（下限50億円）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固定50億円（今期計画を約1,000万円上回れば51億円）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2E6F4E"/>
                          </a:solidFill>
                          <a:latin typeface="Calibri" pitchFamily="34" charset="0"/>
                          <a:ea typeface="Calibri" pitchFamily="34" charset="-122"/>
                          <a:cs typeface="Calibri" pitchFamily="34" charset="-120"/>
                        </a:rPr>
                        <a:t>有利</a:t>
                      </a:r>
                      <a:endParaRPr lang="en-US" sz="950" dirty="0">
                        <a:latin typeface="Calibri" charset="0"/>
                        <a:ea typeface="Calibri" charset="0"/>
                        <a:cs typeface="Calibri" charset="0"/>
                      </a:endParaRPr>
                    </a:p>
                    <a:p>
                      <a:pPr algn="ctr" indent="0" marL="0">
                        <a:buNone/>
                      </a:pPr>
                      <a:r>
                        <a:rPr lang="en-US" sz="950" b="1" dirty="0">
                          <a:solidFill>
                            <a:srgbClr val="2E6F4E"/>
                          </a:solidFill>
                          <a:latin typeface="Calibri" pitchFamily="34" charset="0"/>
                          <a:ea typeface="Calibri" pitchFamily="34" charset="-122"/>
                          <a:cs typeface="Calibri" pitchFamily="34" charset="-120"/>
                        </a:rPr>
                        <a:t>入札の最高札50.5億円と同水準</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上乗せ</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DDでの確認事項に応じて最大＋5.3億円（上限55.3億円）を決済時に支払い</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なし（上振れ分はアーンアウトに一本化）</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2E6F4E"/>
                          </a:solidFill>
                          <a:latin typeface="Calibri" pitchFamily="34" charset="0"/>
                          <a:ea typeface="Calibri" pitchFamily="34" charset="-122"/>
                          <a:cs typeface="Calibri" pitchFamily="34" charset="-120"/>
                        </a:rPr>
                        <a:t>有利</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役員報酬</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協議（現行：月60万円＋事前確定届出の賞与 年約9,540万円）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年9,500万円のうち7,500万円×3年＝2.25億円を、決済時に役員退職金として対象会社が支給（損金算入）。残る年2,000万円は報酬として支給</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2E6F4E"/>
                          </a:solidFill>
                          <a:latin typeface="Calibri" pitchFamily="34" charset="0"/>
                          <a:ea typeface="Calibri" pitchFamily="34" charset="-122"/>
                          <a:cs typeface="Calibri" pitchFamily="34" charset="-120"/>
                        </a:rPr>
                        <a:t>有利</a:t>
                      </a:r>
                      <a:endParaRPr lang="en-US" sz="950" dirty="0">
                        <a:latin typeface="Calibri" charset="0"/>
                        <a:ea typeface="Calibri" charset="0"/>
                        <a:cs typeface="Calibri" charset="0"/>
                      </a:endParaRPr>
                    </a:p>
                    <a:p>
                      <a:pPr algn="ctr" indent="0" marL="0">
                        <a:buNone/>
                      </a:pPr>
                      <a:r>
                        <a:rPr lang="en-US" sz="950" b="1" dirty="0">
                          <a:solidFill>
                            <a:srgbClr val="2E6F4E"/>
                          </a:solidFill>
                          <a:latin typeface="Calibri" pitchFamily="34" charset="0"/>
                          <a:ea typeface="Calibri" pitchFamily="34" charset="-122"/>
                          <a:cs typeface="Calibri" pitchFamily="34" charset="-120"/>
                        </a:rPr>
                        <a:t>税効果 約0.77億円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アーンアウト</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なし</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4年後・5年後に各4億円</a:t>
                      </a:r>
                      <a:endParaRPr lang="en-US" sz="950" dirty="0">
                        <a:latin typeface="Calibri" charset="0"/>
                        <a:ea typeface="Calibri" charset="0"/>
                        <a:cs typeface="Calibri" charset="0"/>
                      </a:endParaRPr>
                    </a:p>
                    <a:p>
                      <a:pPr indent="0" marL="0">
                        <a:buNone/>
                      </a:pPr>
                      <a:r>
                        <a:rPr lang="en-US" sz="950" dirty="0">
                          <a:solidFill>
                            <a:srgbClr val="1F1A1C"/>
                          </a:solidFill>
                          <a:latin typeface="Calibri" pitchFamily="34" charset="0"/>
                          <a:ea typeface="Calibri" pitchFamily="34" charset="-122"/>
                          <a:cs typeface="Calibri" pitchFamily="34" charset="-120"/>
                        </a:rPr>
                        <a:t>（星評価の維持が条件。勤務条件なし。報酬込）。支払方法（株式対価又は監修業務の対価）は協議中</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B58B2A"/>
                          </a:solidFill>
                          <a:latin typeface="Calibri" pitchFamily="34" charset="0"/>
                          <a:ea typeface="Calibri" pitchFamily="34" charset="-122"/>
                          <a:cs typeface="Calibri" pitchFamily="34" charset="-120"/>
                        </a:rPr>
                        <a:t>リスク連動は有利</a:t>
                      </a:r>
                      <a:endParaRPr lang="en-US" sz="950" dirty="0">
                        <a:latin typeface="Calibri" charset="0"/>
                        <a:ea typeface="Calibri" charset="0"/>
                        <a:cs typeface="Calibri" charset="0"/>
                      </a:endParaRPr>
                    </a:p>
                    <a:p>
                      <a:pPr algn="ctr" indent="0" marL="0">
                        <a:buNone/>
                      </a:pPr>
                      <a:r>
                        <a:rPr lang="en-US" sz="950" b="1" dirty="0">
                          <a:solidFill>
                            <a:srgbClr val="B58B2A"/>
                          </a:solidFill>
                          <a:latin typeface="Calibri" pitchFamily="34" charset="0"/>
                          <a:ea typeface="Calibri" pitchFamily="34" charset="-122"/>
                          <a:cs typeface="Calibri" pitchFamily="34" charset="-120"/>
                        </a:rPr>
                        <a:t>資金負担に留意</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仲介手数料</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1.678億円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約1.12億円（減額で確定。対価への上乗せなし）</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2E6F4E"/>
                          </a:solidFill>
                          <a:latin typeface="Calibri" pitchFamily="34" charset="0"/>
                          <a:ea typeface="Calibri" pitchFamily="34" charset="-122"/>
                          <a:cs typeface="Calibri" pitchFamily="34" charset="-120"/>
                        </a:rPr>
                        <a:t>有利</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在任・ロックアップ</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3年間の在任（役割・報酬は協議）</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A案：2年（後継料理長が決まり、双方が合意した場合）／B案：3年</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B58B2A"/>
                          </a:solidFill>
                          <a:latin typeface="Calibri" pitchFamily="34" charset="0"/>
                          <a:ea typeface="Calibri" pitchFamily="34" charset="-122"/>
                          <a:cs typeface="Calibri" pitchFamily="34" charset="-120"/>
                        </a:rPr>
                        <a:t>中立</a:t>
                      </a:r>
                      <a:endParaRPr lang="en-US" sz="950" dirty="0">
                        <a:latin typeface="Calibri" charset="0"/>
                        <a:ea typeface="Calibri" charset="0"/>
                        <a:cs typeface="Calibri" charset="0"/>
                      </a:endParaRPr>
                    </a:p>
                    <a:p>
                      <a:pPr algn="ctr" indent="0" marL="0">
                        <a:buNone/>
                      </a:pPr>
                      <a:r>
                        <a:rPr lang="en-US" sz="950" b="1" dirty="0">
                          <a:solidFill>
                            <a:srgbClr val="B58B2A"/>
                          </a:solidFill>
                          <a:latin typeface="Calibri" pitchFamily="34" charset="0"/>
                          <a:ea typeface="Calibri" pitchFamily="34" charset="-122"/>
                          <a:cs typeface="Calibri" pitchFamily="34" charset="-120"/>
                        </a:rPr>
                        <a:t>A案は当社の合意が条件</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ロックアップ後</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監修として関与（週1〜2回程度のイメージ）。報酬あり</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出勤義務なし（監修の日数・方法は売主の裁量）。報酬なし（4・5年目のアーンアウトに報酬を含む）</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B58B2A"/>
                          </a:solidFill>
                          <a:latin typeface="Calibri" pitchFamily="34" charset="0"/>
                          <a:ea typeface="Calibri" pitchFamily="34" charset="-122"/>
                          <a:cs typeface="Calibri" pitchFamily="34" charset="-120"/>
                        </a:rPr>
                        <a:t>中立</a:t>
                      </a:r>
                      <a:endParaRPr lang="en-US" sz="950" dirty="0">
                        <a:latin typeface="Calibri" charset="0"/>
                        <a:ea typeface="Calibri" charset="0"/>
                        <a:cs typeface="Calibri" charset="0"/>
                      </a:endParaRPr>
                    </a:p>
                    <a:p>
                      <a:pPr algn="ctr" indent="0" marL="0">
                        <a:buNone/>
                      </a:pPr>
                      <a:r>
                        <a:rPr lang="en-US" sz="950" b="1" dirty="0">
                          <a:solidFill>
                            <a:srgbClr val="B58B2A"/>
                          </a:solidFill>
                          <a:latin typeface="Calibri" pitchFamily="34" charset="0"/>
                          <a:ea typeface="Calibri" pitchFamily="34" charset="-122"/>
                          <a:cs typeface="Calibri" pitchFamily="34" charset="-120"/>
                        </a:rPr>
                        <a:t>競業避止で担保</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決済時の支払い（手数料込み）</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約51.9〜57.0億円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約53.4〜54.4億円（退職金の税効果後 約52.6〜53.6億円）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9B2C2C"/>
                          </a:solidFill>
                          <a:latin typeface="Calibri" pitchFamily="34" charset="0"/>
                          <a:ea typeface="Calibri" pitchFamily="34" charset="-122"/>
                          <a:cs typeface="Calibri" pitchFamily="34" charset="-120"/>
                        </a:rPr>
                        <a:t>不利</a:t>
                      </a:r>
                      <a:endParaRPr lang="en-US" sz="950" dirty="0">
                        <a:latin typeface="Calibri" charset="0"/>
                        <a:ea typeface="Calibri" charset="0"/>
                        <a:cs typeface="Calibri" charset="0"/>
                      </a:endParaRPr>
                    </a:p>
                    <a:p>
                      <a:pPr algn="ctr" indent="0" marL="0">
                        <a:buNone/>
                      </a:pPr>
                      <a:r>
                        <a:rPr lang="en-US" sz="950" b="1" dirty="0">
                          <a:solidFill>
                            <a:srgbClr val="9B2C2C"/>
                          </a:solidFill>
                          <a:latin typeface="Calibri" pitchFamily="34" charset="0"/>
                          <a:ea typeface="Calibri" pitchFamily="34" charset="-122"/>
                          <a:cs typeface="Calibri" pitchFamily="34" charset="-120"/>
                        </a:rPr>
                        <a:t>下限比＋1.5〜2.5億円</a:t>
                      </a:r>
                      <a:endParaRPr lang="en-US" sz="950" dirty="0">
                        <a:latin typeface="Calibri" charset="0"/>
                        <a:ea typeface="Calibri" charset="0"/>
                        <a:cs typeface="Calibri" charset="0"/>
                      </a:endParaRPr>
                    </a:p>
                    <a:p>
                      <a:pPr algn="ctr" indent="0" marL="0">
                        <a:buNone/>
                      </a:pPr>
                      <a:r>
                        <a:rPr lang="en-US" sz="950" b="1" dirty="0">
                          <a:solidFill>
                            <a:srgbClr val="9B2C2C"/>
                          </a:solidFill>
                          <a:latin typeface="Calibri" pitchFamily="34" charset="0"/>
                          <a:ea typeface="Calibri" pitchFamily="34" charset="-122"/>
                          <a:cs typeface="Calibri" pitchFamily="34" charset="-120"/>
                        </a:rPr>
                        <a:t>（税効果後＋0.7〜1.7億円）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38912">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最大の総額（手数料除く）</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55.3億円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61.25億円（星評価を維持できた場合）</a:t>
                      </a:r>
                      <a:endParaRPr lang="en-US" sz="950" dirty="0">
                        <a:latin typeface="Calibri" charset="0"/>
                        <a:ea typeface="Calibri" charset="0"/>
                        <a:cs typeface="Calibri" charset="0"/>
                      </a:endParaRPr>
                    </a:p>
                    <a:p>
                      <a:pPr indent="0" marL="0">
                        <a:buNone/>
                      </a:pPr>
                      <a:r>
                        <a:rPr lang="en-US" sz="950" dirty="0">
                          <a:solidFill>
                            <a:srgbClr val="1F1A1C"/>
                          </a:solidFill>
                          <a:latin typeface="Calibri" pitchFamily="34" charset="0"/>
                          <a:ea typeface="Calibri" pitchFamily="34" charset="-122"/>
                          <a:cs typeface="Calibri" pitchFamily="34" charset="-120"/>
                        </a:rPr>
                        <a:t>4年目に星評価を失った場合は52.25〜53.25億円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ctr" indent="0" marL="0">
                        <a:buNone/>
                      </a:pPr>
                      <a:r>
                        <a:rPr lang="en-US" sz="950" b="1" dirty="0">
                          <a:solidFill>
                            <a:srgbClr val="B58B2A"/>
                          </a:solidFill>
                          <a:latin typeface="Calibri" pitchFamily="34" charset="0"/>
                          <a:ea typeface="Calibri" pitchFamily="34" charset="-122"/>
                          <a:cs typeface="Calibri" pitchFamily="34" charset="-120"/>
                        </a:rPr>
                        <a:t>中立</a:t>
                      </a:r>
                      <a:endParaRPr lang="en-US" sz="950" dirty="0">
                        <a:latin typeface="Calibri" charset="0"/>
                        <a:ea typeface="Calibri" charset="0"/>
                        <a:cs typeface="Calibri" charset="0"/>
                      </a:endParaRPr>
                    </a:p>
                    <a:p>
                      <a:pPr algn="ctr" indent="0" marL="0">
                        <a:buNone/>
                      </a:pPr>
                      <a:r>
                        <a:rPr lang="en-US" sz="950" b="1" dirty="0">
                          <a:solidFill>
                            <a:srgbClr val="B58B2A"/>
                          </a:solidFill>
                          <a:latin typeface="Calibri" pitchFamily="34" charset="0"/>
                          <a:ea typeface="Calibri" pitchFamily="34" charset="-122"/>
                          <a:cs typeface="Calibri" pitchFamily="34" charset="-120"/>
                        </a:rPr>
                        <a:t>成果が出た場合のみ</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Text 3"/>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7" name="Text 4"/>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PROS &amp; CONS</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当社と投資家様から見たメリット・デメリット</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最大のリスク（星評価の喪失）と支払いが連動した一方、決済時の資金負担と契約で手当てすべき点が増えました。</a:t>
            </a:r>
            <a:endParaRPr lang="en-US" sz="1150" dirty="0"/>
          </a:p>
        </p:txBody>
      </p:sp>
      <p:sp>
        <p:nvSpPr>
          <p:cNvPr id="5" name="Shape 3"/>
          <p:cNvSpPr/>
          <p:nvPr/>
        </p:nvSpPr>
        <p:spPr>
          <a:xfrm>
            <a:off x="566928" y="1481328"/>
            <a:ext cx="5390388" cy="384048"/>
          </a:xfrm>
          <a:prstGeom prst="roundRect">
            <a:avLst>
              <a:gd name="adj" fmla="val 9524"/>
            </a:avLst>
          </a:prstGeom>
          <a:solidFill>
            <a:srgbClr val="2E6F4E"/>
          </a:solidFill>
          <a:ln w="12700">
            <a:solidFill>
              <a:srgbClr val="2E6F4E"/>
            </a:solidFill>
            <a:prstDash val="solid"/>
          </a:ln>
        </p:spPr>
      </p:sp>
      <p:sp>
        <p:nvSpPr>
          <p:cNvPr id="6" name="Text 4"/>
          <p:cNvSpPr txBox="1"/>
          <p:nvPr/>
        </p:nvSpPr>
        <p:spPr>
          <a:xfrm>
            <a:off x="566928" y="1481328"/>
            <a:ext cx="539038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メリット</a:t>
            </a:r>
            <a:endParaRPr lang="en-US" sz="1300" dirty="0"/>
          </a:p>
        </p:txBody>
      </p:sp>
      <p:sp>
        <p:nvSpPr>
          <p:cNvPr id="7" name="Shape 5"/>
          <p:cNvSpPr/>
          <p:nvPr/>
        </p:nvSpPr>
        <p:spPr>
          <a:xfrm>
            <a:off x="6231636" y="1481328"/>
            <a:ext cx="5390388" cy="384048"/>
          </a:xfrm>
          <a:prstGeom prst="roundRect">
            <a:avLst>
              <a:gd name="adj" fmla="val 9524"/>
            </a:avLst>
          </a:prstGeom>
          <a:solidFill>
            <a:srgbClr val="9B2C2C"/>
          </a:solidFill>
          <a:ln w="12700">
            <a:solidFill>
              <a:srgbClr val="9B2C2C"/>
            </a:solidFill>
            <a:prstDash val="solid"/>
          </a:ln>
        </p:spPr>
      </p:sp>
      <p:sp>
        <p:nvSpPr>
          <p:cNvPr id="8" name="Text 6"/>
          <p:cNvSpPr txBox="1"/>
          <p:nvPr/>
        </p:nvSpPr>
        <p:spPr>
          <a:xfrm>
            <a:off x="6231636" y="1481328"/>
            <a:ext cx="539038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デメリット・留意点</a:t>
            </a:r>
            <a:endParaRPr lang="en-US" sz="1300" dirty="0"/>
          </a:p>
        </p:txBody>
      </p:sp>
      <p:sp>
        <p:nvSpPr>
          <p:cNvPr id="9" name="Shape 7"/>
          <p:cNvSpPr/>
          <p:nvPr/>
        </p:nvSpPr>
        <p:spPr>
          <a:xfrm>
            <a:off x="566928" y="2039112"/>
            <a:ext cx="64008" cy="582168"/>
          </a:xfrm>
          <a:prstGeom prst="rect">
            <a:avLst/>
          </a:prstGeom>
          <a:solidFill>
            <a:srgbClr val="2E6F4E"/>
          </a:solidFill>
          <a:ln w="12700">
            <a:solidFill>
              <a:srgbClr val="2E6F4E"/>
            </a:solidFill>
            <a:prstDash val="solid"/>
          </a:ln>
        </p:spPr>
      </p:sp>
      <p:sp>
        <p:nvSpPr>
          <p:cNvPr id="10" name="Text 8"/>
          <p:cNvSpPr txBox="1"/>
          <p:nvPr/>
        </p:nvSpPr>
        <p:spPr>
          <a:xfrm>
            <a:off x="749808" y="2002536"/>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追加8億円は星評価の維持が条件</a:t>
            </a:r>
            <a:endParaRPr lang="en-US" sz="1100" dirty="0"/>
          </a:p>
        </p:txBody>
      </p:sp>
      <p:sp>
        <p:nvSpPr>
          <p:cNvPr id="11" name="Text 9"/>
          <p:cNvSpPr txBox="1"/>
          <p:nvPr/>
        </p:nvSpPr>
        <p:spPr>
          <a:xfrm>
            <a:off x="749808" y="2276856"/>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評価を失えば支払い不要。払えるときにだけ払う設計で、LOIの上乗せ（決済前の確認事項で最大5.3億円）より健全です。</a:t>
            </a:r>
            <a:endParaRPr lang="en-US" sz="950" dirty="0"/>
          </a:p>
        </p:txBody>
      </p:sp>
      <p:sp>
        <p:nvSpPr>
          <p:cNvPr id="12" name="Shape 10"/>
          <p:cNvSpPr/>
          <p:nvPr/>
        </p:nvSpPr>
        <p:spPr>
          <a:xfrm>
            <a:off x="566928" y="2767584"/>
            <a:ext cx="64008" cy="582168"/>
          </a:xfrm>
          <a:prstGeom prst="rect">
            <a:avLst/>
          </a:prstGeom>
          <a:solidFill>
            <a:srgbClr val="2E6F4E"/>
          </a:solidFill>
          <a:ln w="12700">
            <a:solidFill>
              <a:srgbClr val="2E6F4E"/>
            </a:solidFill>
            <a:prstDash val="solid"/>
          </a:ln>
        </p:spPr>
      </p:sp>
      <p:sp>
        <p:nvSpPr>
          <p:cNvPr id="13" name="Text 11"/>
          <p:cNvSpPr txBox="1"/>
          <p:nvPr/>
        </p:nvSpPr>
        <p:spPr>
          <a:xfrm>
            <a:off x="749808" y="2731008"/>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価格を入札の最高札と同水準で確定</a:t>
            </a:r>
            <a:endParaRPr lang="en-US" sz="1100" dirty="0"/>
          </a:p>
        </p:txBody>
      </p:sp>
      <p:sp>
        <p:nvSpPr>
          <p:cNvPr id="14" name="Text 12"/>
          <p:cNvSpPr txBox="1"/>
          <p:nvPr/>
        </p:nvSpPr>
        <p:spPr>
          <a:xfrm>
            <a:off x="749808" y="3005328"/>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株式譲渡対価は入札の最高札（50.5億円）と同水準の50〜51億円で確定。LOIの上限55.3億円より低く、上振れ分は成果が出た場合のみ支払います。</a:t>
            </a:r>
            <a:endParaRPr lang="en-US" sz="950" dirty="0"/>
          </a:p>
        </p:txBody>
      </p:sp>
      <p:sp>
        <p:nvSpPr>
          <p:cNvPr id="15" name="Shape 13"/>
          <p:cNvSpPr/>
          <p:nvPr/>
        </p:nvSpPr>
        <p:spPr>
          <a:xfrm>
            <a:off x="566928" y="3496056"/>
            <a:ext cx="64008" cy="582168"/>
          </a:xfrm>
          <a:prstGeom prst="rect">
            <a:avLst/>
          </a:prstGeom>
          <a:solidFill>
            <a:srgbClr val="2E6F4E"/>
          </a:solidFill>
          <a:ln w="12700">
            <a:solidFill>
              <a:srgbClr val="2E6F4E"/>
            </a:solidFill>
            <a:prstDash val="solid"/>
          </a:ln>
        </p:spPr>
      </p:sp>
      <p:sp>
        <p:nvSpPr>
          <p:cNvPr id="16" name="Text 14"/>
          <p:cNvSpPr txBox="1"/>
          <p:nvPr/>
        </p:nvSpPr>
        <p:spPr>
          <a:xfrm>
            <a:off x="749808" y="3459480"/>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売主に強い動機付け</a:t>
            </a:r>
            <a:endParaRPr lang="en-US" sz="1100" dirty="0"/>
          </a:p>
        </p:txBody>
      </p:sp>
      <p:sp>
        <p:nvSpPr>
          <p:cNvPr id="17" name="Text 15"/>
          <p:cNvSpPr txBox="1"/>
          <p:nvPr/>
        </p:nvSpPr>
        <p:spPr>
          <a:xfrm>
            <a:off x="749808" y="3733800"/>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後継料理長の育成と評価の維持に、合計8億円のインセンティブが働きます。</a:t>
            </a:r>
            <a:endParaRPr lang="en-US" sz="950" dirty="0"/>
          </a:p>
        </p:txBody>
      </p:sp>
      <p:sp>
        <p:nvSpPr>
          <p:cNvPr id="18" name="Shape 16"/>
          <p:cNvSpPr/>
          <p:nvPr/>
        </p:nvSpPr>
        <p:spPr>
          <a:xfrm>
            <a:off x="566928" y="4224528"/>
            <a:ext cx="64008" cy="582168"/>
          </a:xfrm>
          <a:prstGeom prst="rect">
            <a:avLst/>
          </a:prstGeom>
          <a:solidFill>
            <a:srgbClr val="2E6F4E"/>
          </a:solidFill>
          <a:ln w="12700">
            <a:solidFill>
              <a:srgbClr val="2E6F4E"/>
            </a:solidFill>
            <a:prstDash val="solid"/>
          </a:ln>
        </p:spPr>
      </p:sp>
      <p:sp>
        <p:nvSpPr>
          <p:cNvPr id="19" name="Text 17"/>
          <p:cNvSpPr txBox="1"/>
          <p:nvPr/>
        </p:nvSpPr>
        <p:spPr>
          <a:xfrm>
            <a:off x="749808" y="4187952"/>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前払い分を役員退職金として損金化</a:t>
            </a:r>
            <a:endParaRPr lang="en-US" sz="1100" dirty="0"/>
          </a:p>
        </p:txBody>
      </p:sp>
      <p:sp>
        <p:nvSpPr>
          <p:cNvPr id="20" name="Text 18"/>
          <p:cNvSpPr txBox="1"/>
          <p:nvPr/>
        </p:nvSpPr>
        <p:spPr>
          <a:xfrm>
            <a:off x="749808" y="4462272"/>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報酬3年分の一部（2.25億円）を決済時の役員退職金とすることで損金に算入でき、約0.77億円の税効果があります。売主の税負担も大きくは変わりません。</a:t>
            </a:r>
            <a:endParaRPr lang="en-US" sz="950" dirty="0"/>
          </a:p>
        </p:txBody>
      </p:sp>
      <p:sp>
        <p:nvSpPr>
          <p:cNvPr id="21" name="Shape 19"/>
          <p:cNvSpPr/>
          <p:nvPr/>
        </p:nvSpPr>
        <p:spPr>
          <a:xfrm>
            <a:off x="566928" y="4953000"/>
            <a:ext cx="64008" cy="582168"/>
          </a:xfrm>
          <a:prstGeom prst="rect">
            <a:avLst/>
          </a:prstGeom>
          <a:solidFill>
            <a:srgbClr val="2E6F4E"/>
          </a:solidFill>
          <a:ln w="12700">
            <a:solidFill>
              <a:srgbClr val="2E6F4E"/>
            </a:solidFill>
            <a:prstDash val="solid"/>
          </a:ln>
        </p:spPr>
      </p:sp>
      <p:sp>
        <p:nvSpPr>
          <p:cNvPr id="22" name="Text 20"/>
          <p:cNvSpPr txBox="1"/>
          <p:nvPr/>
        </p:nvSpPr>
        <p:spPr>
          <a:xfrm>
            <a:off x="749808" y="4916424"/>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決済後3年間の利益が改善</a:t>
            </a:r>
            <a:endParaRPr lang="en-US" sz="1100" dirty="0"/>
          </a:p>
        </p:txBody>
      </p:sp>
      <p:sp>
        <p:nvSpPr>
          <p:cNvPr id="23" name="Text 21"/>
          <p:cNvSpPr txBox="1"/>
          <p:nvPr/>
        </p:nvSpPr>
        <p:spPr>
          <a:xfrm>
            <a:off x="749808" y="5190744"/>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役員報酬が年約1.0億円から2,000万円に下がり、営業利益が年約0.8億円改善。返済余力（DSCR）にも効きます。</a:t>
            </a:r>
            <a:endParaRPr lang="en-US" sz="950" dirty="0"/>
          </a:p>
        </p:txBody>
      </p:sp>
      <p:sp>
        <p:nvSpPr>
          <p:cNvPr id="24" name="Shape 22"/>
          <p:cNvSpPr/>
          <p:nvPr/>
        </p:nvSpPr>
        <p:spPr>
          <a:xfrm>
            <a:off x="566928" y="5681472"/>
            <a:ext cx="64008" cy="582168"/>
          </a:xfrm>
          <a:prstGeom prst="rect">
            <a:avLst/>
          </a:prstGeom>
          <a:solidFill>
            <a:srgbClr val="2E6F4E"/>
          </a:solidFill>
          <a:ln w="12700">
            <a:solidFill>
              <a:srgbClr val="2E6F4E"/>
            </a:solidFill>
            <a:prstDash val="solid"/>
          </a:ln>
        </p:spPr>
      </p:sp>
      <p:sp>
        <p:nvSpPr>
          <p:cNvPr id="25" name="Text 23"/>
          <p:cNvSpPr txBox="1"/>
          <p:nvPr/>
        </p:nvSpPr>
        <p:spPr>
          <a:xfrm>
            <a:off x="749808" y="5644896"/>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手数料の減額と競合での合意</a:t>
            </a:r>
            <a:endParaRPr lang="en-US" sz="1100" dirty="0"/>
          </a:p>
        </p:txBody>
      </p:sp>
      <p:sp>
        <p:nvSpPr>
          <p:cNvPr id="26" name="Text 24"/>
          <p:cNvSpPr txBox="1"/>
          <p:nvPr/>
        </p:nvSpPr>
        <p:spPr>
          <a:xfrm>
            <a:off x="749808" y="5919216"/>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仲介手数料は約▲0.55億円。3社競合の中で売主の了承を得て、トップ面談に進みました。</a:t>
            </a:r>
            <a:endParaRPr lang="en-US" sz="950" dirty="0"/>
          </a:p>
        </p:txBody>
      </p:sp>
      <p:sp>
        <p:nvSpPr>
          <p:cNvPr id="27" name="Shape 25"/>
          <p:cNvSpPr/>
          <p:nvPr/>
        </p:nvSpPr>
        <p:spPr>
          <a:xfrm>
            <a:off x="6231636" y="2039112"/>
            <a:ext cx="64008" cy="582168"/>
          </a:xfrm>
          <a:prstGeom prst="rect">
            <a:avLst/>
          </a:prstGeom>
          <a:solidFill>
            <a:srgbClr val="9B2C2C"/>
          </a:solidFill>
          <a:ln w="12700">
            <a:solidFill>
              <a:srgbClr val="9B2C2C"/>
            </a:solidFill>
            <a:prstDash val="solid"/>
          </a:ln>
        </p:spPr>
      </p:sp>
      <p:sp>
        <p:nvSpPr>
          <p:cNvPr id="28" name="Text 26"/>
          <p:cNvSpPr txBox="1"/>
          <p:nvPr/>
        </p:nvSpPr>
        <p:spPr>
          <a:xfrm>
            <a:off x="6414516" y="2002536"/>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決済時の資金が約1.5〜2.5億円増</a:t>
            </a:r>
            <a:endParaRPr lang="en-US" sz="1100" dirty="0"/>
          </a:p>
        </p:txBody>
      </p:sp>
      <p:sp>
        <p:nvSpPr>
          <p:cNvPr id="29" name="Text 27"/>
          <p:cNvSpPr txBox="1"/>
          <p:nvPr/>
        </p:nvSpPr>
        <p:spPr>
          <a:xfrm>
            <a:off x="6414516" y="2276856"/>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SPCで用意する資金は約30.5億円から約32.0〜33.0億円へ。出資または借入の増額が必要です。</a:t>
            </a:r>
            <a:endParaRPr lang="en-US" sz="950" dirty="0"/>
          </a:p>
        </p:txBody>
      </p:sp>
      <p:sp>
        <p:nvSpPr>
          <p:cNvPr id="30" name="Shape 28"/>
          <p:cNvSpPr/>
          <p:nvPr/>
        </p:nvSpPr>
        <p:spPr>
          <a:xfrm>
            <a:off x="6231636" y="2767584"/>
            <a:ext cx="64008" cy="582168"/>
          </a:xfrm>
          <a:prstGeom prst="rect">
            <a:avLst/>
          </a:prstGeom>
          <a:solidFill>
            <a:srgbClr val="9B2C2C"/>
          </a:solidFill>
          <a:ln w="12700">
            <a:solidFill>
              <a:srgbClr val="9B2C2C"/>
            </a:solidFill>
            <a:prstDash val="solid"/>
          </a:ln>
        </p:spPr>
      </p:sp>
      <p:sp>
        <p:nvSpPr>
          <p:cNvPr id="31" name="Text 29"/>
          <p:cNvSpPr txBox="1"/>
          <p:nvPr/>
        </p:nvSpPr>
        <p:spPr>
          <a:xfrm>
            <a:off x="6414516" y="2731008"/>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役員退職金の算定に税務リスク</a:t>
            </a:r>
            <a:endParaRPr lang="en-US" sz="1100" dirty="0"/>
          </a:p>
        </p:txBody>
      </p:sp>
      <p:sp>
        <p:nvSpPr>
          <p:cNvPr id="32" name="Text 30"/>
          <p:cNvSpPr txBox="1"/>
          <p:nvPr/>
        </p:nvSpPr>
        <p:spPr>
          <a:xfrm>
            <a:off x="6414516" y="3005328"/>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賞与を含む実質月額で算定するため、否認された場合は追徴（約0.7億円）が生じます。追徴の負担を売主と分け合う形で協議中です。</a:t>
            </a:r>
            <a:endParaRPr lang="en-US" sz="950" dirty="0"/>
          </a:p>
        </p:txBody>
      </p:sp>
      <p:sp>
        <p:nvSpPr>
          <p:cNvPr id="33" name="Shape 31"/>
          <p:cNvSpPr/>
          <p:nvPr/>
        </p:nvSpPr>
        <p:spPr>
          <a:xfrm>
            <a:off x="6231636" y="3496056"/>
            <a:ext cx="64008" cy="582168"/>
          </a:xfrm>
          <a:prstGeom prst="rect">
            <a:avLst/>
          </a:prstGeom>
          <a:solidFill>
            <a:srgbClr val="9B2C2C"/>
          </a:solidFill>
          <a:ln w="12700">
            <a:solidFill>
              <a:srgbClr val="9B2C2C"/>
            </a:solidFill>
            <a:prstDash val="solid"/>
          </a:ln>
        </p:spPr>
      </p:sp>
      <p:sp>
        <p:nvSpPr>
          <p:cNvPr id="34" name="Text 32"/>
          <p:cNvSpPr txBox="1"/>
          <p:nvPr/>
        </p:nvSpPr>
        <p:spPr>
          <a:xfrm>
            <a:off x="6414516" y="3459480"/>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価格固定に伴う資金流出への備え</a:t>
            </a:r>
            <a:endParaRPr lang="en-US" sz="1100" dirty="0"/>
          </a:p>
        </p:txBody>
      </p:sp>
      <p:sp>
        <p:nvSpPr>
          <p:cNvPr id="35" name="Text 33"/>
          <p:cNvSpPr txBox="1"/>
          <p:nvPr/>
        </p:nvSpPr>
        <p:spPr>
          <a:xfrm>
            <a:off x="6414516" y="3733800"/>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ネットキャッシュ連動がないため、決済までの配当・賞与・退職金などの資金流出を契約で防ぐ必要があります。</a:t>
            </a:r>
            <a:endParaRPr lang="en-US" sz="950" dirty="0"/>
          </a:p>
        </p:txBody>
      </p:sp>
      <p:sp>
        <p:nvSpPr>
          <p:cNvPr id="36" name="Shape 34"/>
          <p:cNvSpPr/>
          <p:nvPr/>
        </p:nvSpPr>
        <p:spPr>
          <a:xfrm>
            <a:off x="6231636" y="4224528"/>
            <a:ext cx="64008" cy="582168"/>
          </a:xfrm>
          <a:prstGeom prst="rect">
            <a:avLst/>
          </a:prstGeom>
          <a:solidFill>
            <a:srgbClr val="9B2C2C"/>
          </a:solidFill>
          <a:ln w="12700">
            <a:solidFill>
              <a:srgbClr val="9B2C2C"/>
            </a:solidFill>
            <a:prstDash val="solid"/>
          </a:ln>
        </p:spPr>
      </p:sp>
      <p:sp>
        <p:nvSpPr>
          <p:cNvPr id="37" name="Text 35"/>
          <p:cNvSpPr txBox="1"/>
          <p:nvPr/>
        </p:nvSpPr>
        <p:spPr>
          <a:xfrm>
            <a:off x="6414516" y="4187952"/>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51億円の判定が一段階</a:t>
            </a:r>
            <a:endParaRPr lang="en-US" sz="1100" dirty="0"/>
          </a:p>
        </p:txBody>
      </p:sp>
      <p:sp>
        <p:nvSpPr>
          <p:cNvPr id="38" name="Text 36"/>
          <p:cNvSpPr txBox="1"/>
          <p:nvPr/>
        </p:nvSpPr>
        <p:spPr>
          <a:xfrm>
            <a:off x="6414516" y="4462272"/>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計画を約1,000万円上回るだけで1億円増える設計。判定する利益の定義を詰める必要があります。</a:t>
            </a:r>
            <a:endParaRPr lang="en-US" sz="950" dirty="0"/>
          </a:p>
        </p:txBody>
      </p:sp>
      <p:sp>
        <p:nvSpPr>
          <p:cNvPr id="39" name="Shape 37"/>
          <p:cNvSpPr/>
          <p:nvPr/>
        </p:nvSpPr>
        <p:spPr>
          <a:xfrm>
            <a:off x="6231636" y="4953000"/>
            <a:ext cx="64008" cy="582168"/>
          </a:xfrm>
          <a:prstGeom prst="rect">
            <a:avLst/>
          </a:prstGeom>
          <a:solidFill>
            <a:srgbClr val="9B2C2C"/>
          </a:solidFill>
          <a:ln w="12700">
            <a:solidFill>
              <a:srgbClr val="9B2C2C"/>
            </a:solidFill>
            <a:prstDash val="solid"/>
          </a:ln>
        </p:spPr>
      </p:sp>
      <p:sp>
        <p:nvSpPr>
          <p:cNvPr id="40" name="Text 38"/>
          <p:cNvSpPr txBox="1"/>
          <p:nvPr/>
        </p:nvSpPr>
        <p:spPr>
          <a:xfrm>
            <a:off x="6414516" y="4916424"/>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アーンアウトの資金負担</a:t>
            </a:r>
            <a:endParaRPr lang="en-US" sz="1100" dirty="0"/>
          </a:p>
        </p:txBody>
      </p:sp>
      <p:sp>
        <p:nvSpPr>
          <p:cNvPr id="41" name="Text 39"/>
          <p:cNvSpPr txBox="1"/>
          <p:nvPr/>
        </p:nvSpPr>
        <p:spPr>
          <a:xfrm>
            <a:off x="6414516" y="5190744"/>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4年目・5年目に各4億円は単年のキャッシュフロー（約3.5億円）を超え、借入の返済期間とも重なります。</a:t>
            </a:r>
            <a:endParaRPr lang="en-US" sz="950" dirty="0"/>
          </a:p>
        </p:txBody>
      </p:sp>
      <p:sp>
        <p:nvSpPr>
          <p:cNvPr id="42" name="Shape 40"/>
          <p:cNvSpPr/>
          <p:nvPr/>
        </p:nvSpPr>
        <p:spPr>
          <a:xfrm>
            <a:off x="6231636" y="5681472"/>
            <a:ext cx="64008" cy="582168"/>
          </a:xfrm>
          <a:prstGeom prst="rect">
            <a:avLst/>
          </a:prstGeom>
          <a:solidFill>
            <a:srgbClr val="9B2C2C"/>
          </a:solidFill>
          <a:ln w="12700">
            <a:solidFill>
              <a:srgbClr val="9B2C2C"/>
            </a:solidFill>
            <a:prstDash val="solid"/>
          </a:ln>
        </p:spPr>
      </p:sp>
      <p:sp>
        <p:nvSpPr>
          <p:cNvPr id="43" name="Text 41"/>
          <p:cNvSpPr txBox="1"/>
          <p:nvPr/>
        </p:nvSpPr>
        <p:spPr>
          <a:xfrm>
            <a:off x="6414516" y="5644896"/>
            <a:ext cx="5161788" cy="274320"/>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ロックアップ後の関与は売主の裁量</a:t>
            </a:r>
            <a:endParaRPr lang="en-US" sz="1100" dirty="0"/>
          </a:p>
        </p:txBody>
      </p:sp>
      <p:sp>
        <p:nvSpPr>
          <p:cNvPr id="44" name="Text 42"/>
          <p:cNvSpPr txBox="1"/>
          <p:nvPr/>
        </p:nvSpPr>
        <p:spPr>
          <a:xfrm>
            <a:off x="6414516" y="5919216"/>
            <a:ext cx="5161788" cy="381000"/>
          </a:xfrm>
          <a:prstGeom prst="rect">
            <a:avLst/>
          </a:prstGeom>
          <a:noFill/>
          <a:ln/>
        </p:spPr>
        <p:txBody>
          <a:bodyPr wrap="square" lIns="0" tIns="0" rIns="0" bIns="0" rtlCol="0" anchor="t"/>
          <a:lstStyle/>
          <a:p>
            <a:pPr indent="0" marL="0">
              <a:lnSpc>
                <a:spcPts val="1250"/>
              </a:lnSpc>
              <a:buNone/>
            </a:pPr>
            <a:r>
              <a:rPr lang="en-US" sz="950" dirty="0">
                <a:solidFill>
                  <a:srgbClr val="6E6368"/>
                </a:solidFill>
                <a:latin typeface="Calibri" pitchFamily="34" charset="0"/>
                <a:ea typeface="Calibri" pitchFamily="34" charset="-122"/>
                <a:cs typeface="Calibri" pitchFamily="34" charset="-120"/>
              </a:rPr>
              <a:t>報酬は不要になる一方、出勤義務はなくなります。競業避止と名称の使用許諾で担保します。退職金は決済時に支給するため、早期退任時の返還は求めにくい点に留意します。</a:t>
            </a:r>
            <a:endParaRPr lang="en-US" sz="950" dirty="0"/>
          </a:p>
        </p:txBody>
      </p:sp>
      <p:sp>
        <p:nvSpPr>
          <p:cNvPr id="45" name="Text 43"/>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46" name="Text 44"/>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TAX</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支払項目ごとの税務上の整理</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当社と売主を合わせた税負担が最も小さくなる形で整理しています（当社の実効税率34.4%で試算）。</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1828800"/>
                <a:gridCol w="3108960"/>
                <a:gridCol w="2834640"/>
                <a:gridCol w="3282696"/>
              </a:tblGrid>
              <a:tr h="36576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支払項目</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当社側の扱い</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売主側の扱い</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方針</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64008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株式譲渡対価</a:t>
                      </a:r>
                      <a:endParaRPr lang="en-US" sz="950" dirty="0">
                        <a:latin typeface="Calibri" charset="0"/>
                        <a:ea typeface="Calibri" charset="0"/>
                        <a:cs typeface="Calibri" charset="0"/>
                      </a:endParaRPr>
                    </a:p>
                    <a:p>
                      <a:pPr indent="0" marL="0">
                        <a:buNone/>
                      </a:pPr>
                      <a:r>
                        <a:rPr lang="en-US" sz="950" b="1" dirty="0">
                          <a:solidFill>
                            <a:srgbClr val="1F1A1C"/>
                          </a:solidFill>
                          <a:latin typeface="Calibri" pitchFamily="34" charset="0"/>
                          <a:ea typeface="Calibri" pitchFamily="34" charset="-122"/>
                          <a:cs typeface="Calibri" pitchFamily="34" charset="-120"/>
                        </a:rPr>
                        <a:t>50〜51億円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株式の取得価額（損金にならない）</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譲渡所得 20.315%</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LOIと同じ</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96012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役員退職金</a:t>
                      </a:r>
                      <a:endParaRPr lang="en-US" sz="950" dirty="0">
                        <a:latin typeface="Calibri" charset="0"/>
                        <a:ea typeface="Calibri" charset="0"/>
                        <a:cs typeface="Calibri" charset="0"/>
                      </a:endParaRPr>
                    </a:p>
                    <a:p>
                      <a:pPr indent="0" marL="0">
                        <a:buNone/>
                      </a:pPr>
                      <a:r>
                        <a:rPr lang="en-US" sz="950" b="1" dirty="0">
                          <a:solidFill>
                            <a:srgbClr val="1F1A1C"/>
                          </a:solidFill>
                          <a:latin typeface="Calibri" pitchFamily="34" charset="0"/>
                          <a:ea typeface="Calibri" pitchFamily="34" charset="-122"/>
                          <a:cs typeface="Calibri" pitchFamily="34" charset="-120"/>
                        </a:rPr>
                        <a:t>2.25億円</a:t>
                      </a:r>
                      <a:endParaRPr lang="en-US" sz="950" dirty="0">
                        <a:latin typeface="Calibri" charset="0"/>
                        <a:ea typeface="Calibri" charset="0"/>
                        <a:cs typeface="Calibri" charset="0"/>
                      </a:endParaRPr>
                    </a:p>
                    <a:p>
                      <a:pPr indent="0" marL="0">
                        <a:buNone/>
                      </a:pPr>
                      <a:r>
                        <a:rPr lang="en-US" sz="950" b="1" dirty="0">
                          <a:solidFill>
                            <a:srgbClr val="1F1A1C"/>
                          </a:solidFill>
                          <a:latin typeface="Calibri" pitchFamily="34" charset="0"/>
                          <a:ea typeface="Calibri" pitchFamily="34" charset="-122"/>
                          <a:cs typeface="Calibri" pitchFamily="34" charset="-120"/>
                        </a:rPr>
                        <a:t>（報酬3年分の一部に相当）</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2E6F4E"/>
                          </a:solidFill>
                          <a:latin typeface="Calibri" pitchFamily="34" charset="0"/>
                          <a:ea typeface="Calibri" pitchFamily="34" charset="-122"/>
                          <a:cs typeface="Calibri" pitchFamily="34" charset="-120"/>
                        </a:rPr>
                        <a:t>決済前に対象会社が支給し、損金に算入。税効果 約7,740万円</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2E6F4E"/>
                          </a:solidFill>
                          <a:latin typeface="Calibri" pitchFamily="34" charset="0"/>
                          <a:ea typeface="Calibri" pitchFamily="34" charset="-122"/>
                          <a:cs typeface="Calibri" pitchFamily="34" charset="-120"/>
                        </a:rPr>
                        <a:t>退職所得（課税は2分の1）。税負担 約5,630万円（実効 約25%）</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賞与を含む実質月額×在任20年×功績倍率約1.3で算定。否認時の追徴は売主と分け合う形で協議。売主の代表取締役退任が要件</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114300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アーンアウト</a:t>
                      </a:r>
                      <a:endParaRPr lang="en-US" sz="950" dirty="0">
                        <a:latin typeface="Calibri" charset="0"/>
                        <a:ea typeface="Calibri" charset="0"/>
                        <a:cs typeface="Calibri" charset="0"/>
                      </a:endParaRPr>
                    </a:p>
                    <a:p>
                      <a:pPr indent="0" marL="0">
                        <a:buNone/>
                      </a:pPr>
                      <a:r>
                        <a:rPr lang="en-US" sz="950" b="1" dirty="0">
                          <a:solidFill>
                            <a:srgbClr val="1F1A1C"/>
                          </a:solidFill>
                          <a:latin typeface="Calibri" pitchFamily="34" charset="0"/>
                          <a:ea typeface="Calibri" pitchFamily="34" charset="-122"/>
                          <a:cs typeface="Calibri" pitchFamily="34" charset="-120"/>
                        </a:rPr>
                        <a:t>4億円×2回</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株式対価なら損金にならない。監修業務の対価として対象会社が支払う場合は損金（1回 約1.38億円の節税）。ただし役務の実態と対価の相当性が必要</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株式対価なら譲渡所得 20.315%。監修業務の対価なら売主の法人の収入</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支払方法は協議中（基本合意書で両方の余地を確保）。監修契約の業務内容と記録を整え、税理士の意見を得て決定</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Shape 3"/>
          <p:cNvSpPr/>
          <p:nvPr/>
        </p:nvSpPr>
        <p:spPr>
          <a:xfrm>
            <a:off x="566928" y="5440680"/>
            <a:ext cx="11055096" cy="804672"/>
          </a:xfrm>
          <a:prstGeom prst="roundRect">
            <a:avLst>
              <a:gd name="adj" fmla="val 4545"/>
            </a:avLst>
          </a:prstGeom>
          <a:solidFill>
            <a:srgbClr val="F7F3F4"/>
          </a:solidFill>
          <a:ln w="9525">
            <a:solidFill>
              <a:srgbClr val="E4DADD"/>
            </a:solidFill>
            <a:prstDash val="solid"/>
          </a:ln>
        </p:spPr>
      </p:sp>
      <p:sp>
        <p:nvSpPr>
          <p:cNvPr id="7" name="Text 4"/>
          <p:cNvSpPr txBox="1"/>
          <p:nvPr/>
        </p:nvSpPr>
        <p:spPr>
          <a:xfrm>
            <a:off x="795528" y="5486400"/>
            <a:ext cx="10597896" cy="713232"/>
          </a:xfrm>
          <a:prstGeom prst="rect">
            <a:avLst/>
          </a:prstGeom>
          <a:noFill/>
          <a:ln/>
        </p:spPr>
        <p:txBody>
          <a:bodyPr wrap="square" lIns="0" tIns="0" rIns="0" bIns="0" rtlCol="0" anchor="ctr"/>
          <a:lstStyle/>
          <a:p>
            <a:pPr indent="0" marL="0">
              <a:lnSpc>
                <a:spcPts val="1400"/>
              </a:lnSpc>
              <a:buNone/>
            </a:pPr>
            <a:r>
              <a:rPr lang="en-US" sz="1000" b="1" dirty="0">
                <a:solidFill>
                  <a:srgbClr val="B58B2A"/>
                </a:solidFill>
                <a:latin typeface="Calibri" pitchFamily="34" charset="0"/>
                <a:ea typeface="Calibri" pitchFamily="34" charset="-122"/>
                <a:cs typeface="Calibri" pitchFamily="34" charset="-120"/>
              </a:rPr>
              <a:t>ポイント　</a:t>
            </a:r>
            <a:pPr indent="0" marL="0">
              <a:lnSpc>
                <a:spcPts val="1400"/>
              </a:lnSpc>
              <a:buNone/>
            </a:pPr>
            <a:r>
              <a:rPr lang="en-US" sz="1000" dirty="0">
                <a:solidFill>
                  <a:srgbClr val="1F1A1C"/>
                </a:solidFill>
                <a:latin typeface="Calibri" pitchFamily="34" charset="0"/>
                <a:ea typeface="Calibri" pitchFamily="34" charset="-122"/>
                <a:cs typeface="Calibri" pitchFamily="34" charset="-120"/>
              </a:rPr>
              <a:t>報酬の前払い分を役員退職金としたことで、約0.77億円の税効果を確保しました。アーンアウトは、監修業務の対価とできれば2回で約2.75億円の税効果が見込めますが、否認リスクが高いため、事業計画では効果を保守的に扱います。最終的な税務処理は、当社の税理士の確認を経て確定します。</a:t>
            </a:r>
            <a:endParaRPr lang="en-US" sz="1000" dirty="0"/>
          </a:p>
        </p:txBody>
      </p:sp>
      <p:sp>
        <p:nvSpPr>
          <p:cNvPr id="8" name="Text 5"/>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9" name="Text 6"/>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FUNDING &amp; NEXT</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400" b="1" dirty="0">
                <a:solidFill>
                  <a:srgbClr val="1F1A1C"/>
                </a:solidFill>
                <a:latin typeface="Cambria" pitchFamily="34" charset="0"/>
                <a:ea typeface="Cambria" pitchFamily="34" charset="-122"/>
                <a:cs typeface="Cambria" pitchFamily="34" charset="-120"/>
              </a:rPr>
              <a:t>資金計画への影響と、最終契約で手当てする事項</a:t>
            </a:r>
            <a:endParaRPr lang="en-US" sz="2400" dirty="0"/>
          </a:p>
        </p:txBody>
      </p:sp>
      <p:sp>
        <p:nvSpPr>
          <p:cNvPr id="4" name="Text 2"/>
          <p:cNvSpPr txBox="1"/>
          <p:nvPr/>
        </p:nvSpPr>
        <p:spPr>
          <a:xfrm>
            <a:off x="566928" y="1069848"/>
            <a:ext cx="11055096" cy="274320"/>
          </a:xfrm>
          <a:prstGeom prst="rect">
            <a:avLst/>
          </a:prstGeom>
          <a:noFill/>
          <a:ln/>
        </p:spPr>
        <p:txBody>
          <a:bodyPr wrap="square" lIns="0" tIns="0" rIns="0" bIns="0" rtlCol="0" anchor="ctr"/>
          <a:lstStyle/>
          <a:p>
            <a:pPr indent="0" marL="0">
              <a:buNone/>
            </a:pPr>
            <a:r>
              <a:rPr lang="en-US" sz="1150" dirty="0">
                <a:solidFill>
                  <a:srgbClr val="6E6368"/>
                </a:solidFill>
                <a:latin typeface="Calibri" pitchFamily="34" charset="0"/>
                <a:ea typeface="Calibri" pitchFamily="34" charset="-122"/>
                <a:cs typeface="Calibri" pitchFamily="34" charset="-120"/>
              </a:rPr>
              <a:t>決済時の資金は約1.5〜2.5億円増えます。アーンアウトの支払いに備え、資金の手当てと契約条件を先に固めます。</a:t>
            </a:r>
            <a:endParaRPr lang="en-US" sz="1150" dirty="0"/>
          </a:p>
        </p:txBody>
      </p:sp>
      <p:sp>
        <p:nvSpPr>
          <p:cNvPr id="5" name="Text 3"/>
          <p:cNvSpPr txBox="1"/>
          <p:nvPr/>
        </p:nvSpPr>
        <p:spPr>
          <a:xfrm>
            <a:off x="566928" y="1463040"/>
            <a:ext cx="5486400"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決済時にSPCで用意する資金（単位：億円）</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5394960" cy="914400"/>
        </p:xfrm>
        <a:graphic>
          <a:graphicData uri="http://schemas.openxmlformats.org/drawingml/2006/table">
            <a:tbl>
              <a:tblPr/>
              <a:tblGrid>
                <a:gridCol w="3017520"/>
                <a:gridCol w="1097280"/>
                <a:gridCol w="128016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項目</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LOI</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条件合意</a:t>
                      </a:r>
                      <a:endParaRPr lang="en-US" sz="95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株式譲渡対価</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50.2</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50.0〜51.0</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仲介手数料</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約1.12</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（控除）対象会社の余剰現預金</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6E6368"/>
                          </a:solidFill>
                          <a:latin typeface="Calibri" pitchFamily="34" charset="0"/>
                          <a:ea typeface="Calibri" pitchFamily="34" charset="-122"/>
                          <a:cs typeface="Calibri" pitchFamily="34" charset="-120"/>
                        </a:rPr>
                        <a:t>▲21.4</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6E6368"/>
                          </a:solidFill>
                          <a:latin typeface="Calibri" pitchFamily="34" charset="0"/>
                          <a:ea typeface="Calibri" pitchFamily="34" charset="-122"/>
                          <a:cs typeface="Calibri" pitchFamily="34" charset="-120"/>
                        </a:rPr>
                        <a:t>▲21.4</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（加算）役員退職金の支給による現預金の減少</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2.25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SPCで用意する資金（出資＋借入）</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約30.5</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9B2C2C"/>
                          </a:solidFill>
                          <a:latin typeface="Calibri" pitchFamily="34" charset="0"/>
                          <a:ea typeface="Calibri" pitchFamily="34" charset="-122"/>
                          <a:cs typeface="Calibri" pitchFamily="34" charset="-120"/>
                        </a:rPr>
                        <a:t>約32.0〜33.0</a:t>
                      </a:r>
                      <a:endParaRPr lang="en-US" sz="1000" dirty="0">
                        <a:latin typeface="Calibri" charset="0"/>
                        <a:ea typeface="Calibri" charset="0"/>
                        <a:cs typeface="Calibri" charset="0"/>
                      </a:endParaRPr>
                    </a:p>
                  </a:txBody>
                  <a:tcPr marL="63500" marR="63500" marT="38100" marB="3810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7" name="Text 4"/>
          <p:cNvSpPr txBox="1"/>
          <p:nvPr/>
        </p:nvSpPr>
        <p:spPr>
          <a:xfrm>
            <a:off x="566928" y="4114800"/>
            <a:ext cx="5394960" cy="548640"/>
          </a:xfrm>
          <a:prstGeom prst="rect">
            <a:avLst/>
          </a:prstGeom>
          <a:noFill/>
          <a:ln/>
        </p:spPr>
        <p:txBody>
          <a:bodyPr wrap="square" lIns="0" tIns="0" rIns="0" bIns="0" rtlCol="0" anchor="ctr"/>
          <a:lstStyle/>
          <a:p>
            <a:pPr indent="0" marL="0">
              <a:lnSpc>
                <a:spcPts val="1200"/>
              </a:lnSpc>
              <a:buNone/>
            </a:pPr>
            <a:r>
              <a:rPr lang="en-US" sz="850" dirty="0">
                <a:solidFill>
                  <a:srgbClr val="6E6368"/>
                </a:solidFill>
                <a:latin typeface="Calibri" pitchFamily="34" charset="0"/>
                <a:ea typeface="Calibri" pitchFamily="34" charset="-122"/>
                <a:cs typeface="Calibri" pitchFamily="34" charset="-120"/>
              </a:rPr>
              <a:t>※ 対象会社の余剰現預金（現預金＋役員貸付金の精算−運転資金の留保）は、ブリッジローンで立て替え、合併直後に返済します。役員退職金は決済前に対象会社が支給するため、その分だけ余剰現預金が減ります。税効果（約0.77億円）は2027年の法人税納付額の減少として戻ります。</a:t>
            </a:r>
            <a:endParaRPr lang="en-US" sz="850" dirty="0"/>
          </a:p>
        </p:txBody>
      </p:sp>
      <p:sp>
        <p:nvSpPr>
          <p:cNvPr id="8" name="Text 5"/>
          <p:cNvSpPr txBox="1"/>
          <p:nvPr/>
        </p:nvSpPr>
        <p:spPr>
          <a:xfrm>
            <a:off x="6327648" y="1463040"/>
            <a:ext cx="5294376"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アーンアウト（4年目・5年目 各4億円）の資金</a:t>
            </a:r>
            <a:endParaRPr lang="en-US" sz="1100" dirty="0"/>
          </a:p>
        </p:txBody>
      </p:sp>
      <p:sp>
        <p:nvSpPr>
          <p:cNvPr id="9" name="Shape 6"/>
          <p:cNvSpPr/>
          <p:nvPr/>
        </p:nvSpPr>
        <p:spPr>
          <a:xfrm>
            <a:off x="6327648" y="1737360"/>
            <a:ext cx="5294376" cy="1417320"/>
          </a:xfrm>
          <a:prstGeom prst="roundRect">
            <a:avLst>
              <a:gd name="adj" fmla="val 2581"/>
            </a:avLst>
          </a:prstGeom>
          <a:solidFill>
            <a:srgbClr val="F7F3F4"/>
          </a:solidFill>
          <a:ln w="9525">
            <a:solidFill>
              <a:srgbClr val="E4DADD"/>
            </a:solidFill>
            <a:prstDash val="solid"/>
          </a:ln>
        </p:spPr>
      </p:sp>
      <p:sp>
        <p:nvSpPr>
          <p:cNvPr id="10" name="Text 7"/>
          <p:cNvSpPr txBox="1"/>
          <p:nvPr/>
        </p:nvSpPr>
        <p:spPr>
          <a:xfrm>
            <a:off x="6510528" y="1856232"/>
            <a:ext cx="4928616" cy="274320"/>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・1〜3年目の配当の一部を積み立てる</a:t>
            </a:r>
            <a:endParaRPr lang="en-US" sz="1000" dirty="0"/>
          </a:p>
        </p:txBody>
      </p:sp>
      <p:sp>
        <p:nvSpPr>
          <p:cNvPr id="11" name="Text 8"/>
          <p:cNvSpPr txBox="1"/>
          <p:nvPr/>
        </p:nvSpPr>
        <p:spPr>
          <a:xfrm>
            <a:off x="6510528" y="2157984"/>
            <a:ext cx="4928616" cy="274320"/>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・支払方法（監修業務の対価）による税効果を活用</a:t>
            </a:r>
            <a:endParaRPr lang="en-US" sz="1000" dirty="0"/>
          </a:p>
        </p:txBody>
      </p:sp>
      <p:sp>
        <p:nvSpPr>
          <p:cNvPr id="12" name="Text 9"/>
          <p:cNvSpPr txBox="1"/>
          <p:nvPr/>
        </p:nvSpPr>
        <p:spPr>
          <a:xfrm>
            <a:off x="6510528" y="2459736"/>
            <a:ext cx="4928616" cy="274320"/>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・一部を株式で支払う（手元資金を温存）</a:t>
            </a:r>
            <a:endParaRPr lang="en-US" sz="1000" dirty="0"/>
          </a:p>
        </p:txBody>
      </p:sp>
      <p:sp>
        <p:nvSpPr>
          <p:cNvPr id="13" name="Text 10"/>
          <p:cNvSpPr txBox="1"/>
          <p:nvPr/>
        </p:nvSpPr>
        <p:spPr>
          <a:xfrm>
            <a:off x="6510528" y="2761488"/>
            <a:ext cx="4928616" cy="274320"/>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・銀行借入の返済より後回し（劣後）とし、分割払いも可能とする</a:t>
            </a:r>
            <a:endParaRPr lang="en-US" sz="1000" dirty="0"/>
          </a:p>
        </p:txBody>
      </p:sp>
      <p:sp>
        <p:nvSpPr>
          <p:cNvPr id="14" name="Text 11"/>
          <p:cNvSpPr txBox="1"/>
          <p:nvPr/>
        </p:nvSpPr>
        <p:spPr>
          <a:xfrm>
            <a:off x="6327648" y="3310128"/>
            <a:ext cx="5294376"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最終契約（SPA）で手当てする事項</a:t>
            </a:r>
            <a:endParaRPr lang="en-US" sz="1100" dirty="0"/>
          </a:p>
        </p:txBody>
      </p:sp>
      <p:sp>
        <p:nvSpPr>
          <p:cNvPr id="15" name="Shape 12"/>
          <p:cNvSpPr/>
          <p:nvPr/>
        </p:nvSpPr>
        <p:spPr>
          <a:xfrm>
            <a:off x="6327648" y="3648456"/>
            <a:ext cx="256032" cy="256032"/>
          </a:xfrm>
          <a:prstGeom prst="ellipse">
            <a:avLst/>
          </a:prstGeom>
          <a:solidFill>
            <a:srgbClr val="6D2E46"/>
          </a:solidFill>
          <a:ln w="12700">
            <a:solidFill>
              <a:srgbClr val="6D2E46"/>
            </a:solidFill>
            <a:prstDash val="solid"/>
          </a:ln>
        </p:spPr>
      </p:sp>
      <p:sp>
        <p:nvSpPr>
          <p:cNvPr id="16" name="Text 13"/>
          <p:cNvSpPr txBox="1"/>
          <p:nvPr/>
        </p:nvSpPr>
        <p:spPr>
          <a:xfrm>
            <a:off x="6327648" y="36484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7" name="Text 14"/>
          <p:cNvSpPr txBox="1"/>
          <p:nvPr/>
        </p:nvSpPr>
        <p:spPr>
          <a:xfrm>
            <a:off x="6693408" y="35844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資金流出の防止</a:t>
            </a:r>
            <a:endParaRPr lang="en-US" sz="1000" dirty="0"/>
          </a:p>
        </p:txBody>
      </p:sp>
      <p:sp>
        <p:nvSpPr>
          <p:cNvPr id="18" name="Text 15"/>
          <p:cNvSpPr txBox="1"/>
          <p:nvPr/>
        </p:nvSpPr>
        <p:spPr>
          <a:xfrm>
            <a:off x="8293608" y="35844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決済までの配当・賞与・退職金等を禁止し、出た分は対価から控除</a:t>
            </a:r>
            <a:endParaRPr lang="en-US" sz="900" dirty="0"/>
          </a:p>
        </p:txBody>
      </p:sp>
      <p:sp>
        <p:nvSpPr>
          <p:cNvPr id="19" name="Shape 16"/>
          <p:cNvSpPr/>
          <p:nvPr/>
        </p:nvSpPr>
        <p:spPr>
          <a:xfrm>
            <a:off x="6327648" y="4105656"/>
            <a:ext cx="256032" cy="256032"/>
          </a:xfrm>
          <a:prstGeom prst="ellipse">
            <a:avLst/>
          </a:prstGeom>
          <a:solidFill>
            <a:srgbClr val="6D2E46"/>
          </a:solidFill>
          <a:ln w="12700">
            <a:solidFill>
              <a:srgbClr val="6D2E46"/>
            </a:solidFill>
            <a:prstDash val="solid"/>
          </a:ln>
        </p:spPr>
      </p:sp>
      <p:sp>
        <p:nvSpPr>
          <p:cNvPr id="20" name="Text 17"/>
          <p:cNvSpPr txBox="1"/>
          <p:nvPr/>
        </p:nvSpPr>
        <p:spPr>
          <a:xfrm>
            <a:off x="6327648" y="41056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1" name="Text 18"/>
          <p:cNvSpPr txBox="1"/>
          <p:nvPr/>
        </p:nvSpPr>
        <p:spPr>
          <a:xfrm>
            <a:off x="6693408" y="40416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51億円の判定基準</a:t>
            </a:r>
            <a:endParaRPr lang="en-US" sz="1000" dirty="0"/>
          </a:p>
        </p:txBody>
      </p:sp>
      <p:sp>
        <p:nvSpPr>
          <p:cNvPr id="22" name="Text 19"/>
          <p:cNvSpPr txBox="1"/>
          <p:nvPr/>
        </p:nvSpPr>
        <p:spPr>
          <a:xfrm>
            <a:off x="8293608" y="40416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対象とする利益、一時的な収入の除外、支払時期</a:t>
            </a:r>
            <a:endParaRPr lang="en-US" sz="900" dirty="0"/>
          </a:p>
        </p:txBody>
      </p:sp>
      <p:sp>
        <p:nvSpPr>
          <p:cNvPr id="23" name="Shape 20"/>
          <p:cNvSpPr/>
          <p:nvPr/>
        </p:nvSpPr>
        <p:spPr>
          <a:xfrm>
            <a:off x="6327648" y="4562856"/>
            <a:ext cx="256032" cy="256032"/>
          </a:xfrm>
          <a:prstGeom prst="ellipse">
            <a:avLst/>
          </a:prstGeom>
          <a:solidFill>
            <a:srgbClr val="6D2E46"/>
          </a:solidFill>
          <a:ln w="12700">
            <a:solidFill>
              <a:srgbClr val="6D2E46"/>
            </a:solidFill>
            <a:prstDash val="solid"/>
          </a:ln>
        </p:spPr>
      </p:sp>
      <p:sp>
        <p:nvSpPr>
          <p:cNvPr id="24" name="Text 21"/>
          <p:cNvSpPr txBox="1"/>
          <p:nvPr/>
        </p:nvSpPr>
        <p:spPr>
          <a:xfrm>
            <a:off x="6327648" y="45628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5" name="Text 22"/>
          <p:cNvSpPr txBox="1"/>
          <p:nvPr/>
        </p:nvSpPr>
        <p:spPr>
          <a:xfrm>
            <a:off x="6693408" y="44988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退職金の算定と税務リスク</a:t>
            </a:r>
            <a:endParaRPr lang="en-US" sz="1000" dirty="0"/>
          </a:p>
        </p:txBody>
      </p:sp>
      <p:sp>
        <p:nvSpPr>
          <p:cNvPr id="26" name="Text 23"/>
          <p:cNvSpPr txBox="1"/>
          <p:nvPr/>
        </p:nvSpPr>
        <p:spPr>
          <a:xfrm>
            <a:off x="8293608" y="44988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算定根拠の整理と、否認時の追徴の負担割合</a:t>
            </a:r>
            <a:endParaRPr lang="en-US" sz="900" dirty="0"/>
          </a:p>
        </p:txBody>
      </p:sp>
      <p:sp>
        <p:nvSpPr>
          <p:cNvPr id="27" name="Shape 24"/>
          <p:cNvSpPr/>
          <p:nvPr/>
        </p:nvSpPr>
        <p:spPr>
          <a:xfrm>
            <a:off x="6327648" y="5020056"/>
            <a:ext cx="256032" cy="256032"/>
          </a:xfrm>
          <a:prstGeom prst="ellipse">
            <a:avLst/>
          </a:prstGeom>
          <a:solidFill>
            <a:srgbClr val="6D2E46"/>
          </a:solidFill>
          <a:ln w="12700">
            <a:solidFill>
              <a:srgbClr val="6D2E46"/>
            </a:solidFill>
            <a:prstDash val="solid"/>
          </a:ln>
        </p:spPr>
      </p:sp>
      <p:sp>
        <p:nvSpPr>
          <p:cNvPr id="28" name="Text 25"/>
          <p:cNvSpPr txBox="1"/>
          <p:nvPr/>
        </p:nvSpPr>
        <p:spPr>
          <a:xfrm>
            <a:off x="6327648" y="50200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9" name="Text 26"/>
          <p:cNvSpPr txBox="1"/>
          <p:nvPr/>
        </p:nvSpPr>
        <p:spPr>
          <a:xfrm>
            <a:off x="6693408" y="49560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アーンアウトの定義と支払方法</a:t>
            </a:r>
            <a:endParaRPr lang="en-US" sz="1000" dirty="0"/>
          </a:p>
        </p:txBody>
      </p:sp>
      <p:sp>
        <p:nvSpPr>
          <p:cNvPr id="30" name="Text 27"/>
          <p:cNvSpPr txBox="1"/>
          <p:nvPr/>
        </p:nvSpPr>
        <p:spPr>
          <a:xfrm>
            <a:off x="8293608" y="49560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判定する年版、移転・休刊時の扱い、劣後、監修契約</a:t>
            </a:r>
            <a:endParaRPr lang="en-US" sz="900" dirty="0"/>
          </a:p>
        </p:txBody>
      </p:sp>
      <p:sp>
        <p:nvSpPr>
          <p:cNvPr id="31" name="Shape 28"/>
          <p:cNvSpPr/>
          <p:nvPr/>
        </p:nvSpPr>
        <p:spPr>
          <a:xfrm>
            <a:off x="6327648" y="5477256"/>
            <a:ext cx="256032" cy="256032"/>
          </a:xfrm>
          <a:prstGeom prst="ellipse">
            <a:avLst/>
          </a:prstGeom>
          <a:solidFill>
            <a:srgbClr val="6D2E46"/>
          </a:solidFill>
          <a:ln w="12700">
            <a:solidFill>
              <a:srgbClr val="6D2E46"/>
            </a:solidFill>
            <a:prstDash val="solid"/>
          </a:ln>
        </p:spPr>
      </p:sp>
      <p:sp>
        <p:nvSpPr>
          <p:cNvPr id="32" name="Text 29"/>
          <p:cNvSpPr txBox="1"/>
          <p:nvPr/>
        </p:nvSpPr>
        <p:spPr>
          <a:xfrm>
            <a:off x="6327648" y="54772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3" name="Text 30"/>
          <p:cNvSpPr txBox="1"/>
          <p:nvPr/>
        </p:nvSpPr>
        <p:spPr>
          <a:xfrm>
            <a:off x="6693408" y="54132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競業避止・名称使用・新規事業</a:t>
            </a:r>
            <a:endParaRPr lang="en-US" sz="1000" dirty="0"/>
          </a:p>
        </p:txBody>
      </p:sp>
      <p:sp>
        <p:nvSpPr>
          <p:cNvPr id="34" name="Text 31"/>
          <p:cNvSpPr txBox="1"/>
          <p:nvPr/>
        </p:nvSpPr>
        <p:spPr>
          <a:xfrm>
            <a:off x="8293608" y="54132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競業避止と名称使用の許諾、新規事業への協力</a:t>
            </a:r>
            <a:endParaRPr lang="en-US" sz="900" dirty="0"/>
          </a:p>
        </p:txBody>
      </p:sp>
      <p:sp>
        <p:nvSpPr>
          <p:cNvPr id="35" name="Shape 32"/>
          <p:cNvSpPr/>
          <p:nvPr/>
        </p:nvSpPr>
        <p:spPr>
          <a:xfrm>
            <a:off x="6327648" y="5934456"/>
            <a:ext cx="256032" cy="256032"/>
          </a:xfrm>
          <a:prstGeom prst="ellipse">
            <a:avLst/>
          </a:prstGeom>
          <a:solidFill>
            <a:srgbClr val="6D2E46"/>
          </a:solidFill>
          <a:ln w="12700">
            <a:solidFill>
              <a:srgbClr val="6D2E46"/>
            </a:solidFill>
            <a:prstDash val="solid"/>
          </a:ln>
        </p:spPr>
      </p:sp>
      <p:sp>
        <p:nvSpPr>
          <p:cNvPr id="36" name="Text 33"/>
          <p:cNvSpPr txBox="1"/>
          <p:nvPr/>
        </p:nvSpPr>
        <p:spPr>
          <a:xfrm>
            <a:off x="6327648" y="593445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7" name="Text 34"/>
          <p:cNvSpPr txBox="1"/>
          <p:nvPr/>
        </p:nvSpPr>
        <p:spPr>
          <a:xfrm>
            <a:off x="6693408" y="5870448"/>
            <a:ext cx="1600200" cy="384048"/>
          </a:xfrm>
          <a:prstGeom prst="rect">
            <a:avLst/>
          </a:prstGeom>
          <a:noFill/>
          <a:ln/>
        </p:spPr>
        <p:txBody>
          <a:bodyPr wrap="square" lIns="0" tIns="0" rIns="0" bIns="0" rtlCol="0" anchor="ctr"/>
          <a:lstStyle/>
          <a:p>
            <a:pPr indent="0" marL="0">
              <a:buNone/>
            </a:pPr>
            <a:r>
              <a:rPr lang="en-US" sz="1000" b="1" dirty="0">
                <a:solidFill>
                  <a:srgbClr val="1F1A1C"/>
                </a:solidFill>
                <a:latin typeface="Calibri" pitchFamily="34" charset="0"/>
                <a:ea typeface="Calibri" pitchFamily="34" charset="-122"/>
                <a:cs typeface="Calibri" pitchFamily="34" charset="-120"/>
              </a:rPr>
              <a:t>売主の代表退任</a:t>
            </a:r>
            <a:endParaRPr lang="en-US" sz="1000" dirty="0"/>
          </a:p>
        </p:txBody>
      </p:sp>
      <p:sp>
        <p:nvSpPr>
          <p:cNvPr id="38" name="Text 35"/>
          <p:cNvSpPr txBox="1"/>
          <p:nvPr/>
        </p:nvSpPr>
        <p:spPr>
          <a:xfrm>
            <a:off x="8293608" y="5870448"/>
            <a:ext cx="3328416" cy="384048"/>
          </a:xfrm>
          <a:prstGeom prst="rect">
            <a:avLst/>
          </a:prstGeom>
          <a:noFill/>
          <a:ln/>
        </p:spPr>
        <p:txBody>
          <a:bodyPr wrap="square" lIns="0" tIns="0" rIns="0" bIns="0" rtlCol="0" anchor="ctr"/>
          <a:lstStyle/>
          <a:p>
            <a:pPr indent="0" marL="0">
              <a:lnSpc>
                <a:spcPts val="1100"/>
              </a:lnSpc>
              <a:buNone/>
            </a:pPr>
            <a:r>
              <a:rPr lang="en-US" sz="900" dirty="0">
                <a:solidFill>
                  <a:srgbClr val="6E6368"/>
                </a:solidFill>
                <a:latin typeface="Calibri" pitchFamily="34" charset="0"/>
                <a:ea typeface="Calibri" pitchFamily="34" charset="-122"/>
                <a:cs typeface="Calibri" pitchFamily="34" charset="-120"/>
              </a:rPr>
              <a:t>役員退職金を損金にするための要件</a:t>
            </a:r>
            <a:endParaRPr lang="en-US" sz="900" dirty="0"/>
          </a:p>
        </p:txBody>
      </p:sp>
      <p:sp>
        <p:nvSpPr>
          <p:cNvPr id="39" name="Text 36"/>
          <p:cNvSpPr txBox="1"/>
          <p:nvPr/>
        </p:nvSpPr>
        <p:spPr>
          <a:xfrm>
            <a:off x="566928" y="4800600"/>
            <a:ext cx="5394960" cy="237744"/>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今後の日程</a:t>
            </a:r>
            <a:endParaRPr lang="en-US" sz="1100" dirty="0"/>
          </a:p>
        </p:txBody>
      </p:sp>
      <p:sp>
        <p:nvSpPr>
          <p:cNvPr id="40" name="Shape 37"/>
          <p:cNvSpPr/>
          <p:nvPr/>
        </p:nvSpPr>
        <p:spPr>
          <a:xfrm>
            <a:off x="566928" y="5074920"/>
            <a:ext cx="1280160" cy="1097280"/>
          </a:xfrm>
          <a:prstGeom prst="roundRect">
            <a:avLst>
              <a:gd name="adj" fmla="val 3333"/>
            </a:avLst>
          </a:prstGeom>
          <a:solidFill>
            <a:srgbClr val="6D2E46"/>
          </a:solidFill>
          <a:ln w="9525">
            <a:solidFill>
              <a:srgbClr val="6D2E46"/>
            </a:solidFill>
            <a:prstDash val="solid"/>
          </a:ln>
        </p:spPr>
      </p:sp>
      <p:sp>
        <p:nvSpPr>
          <p:cNvPr id="41" name="Text 38"/>
          <p:cNvSpPr txBox="1"/>
          <p:nvPr/>
        </p:nvSpPr>
        <p:spPr>
          <a:xfrm>
            <a:off x="640080" y="5166360"/>
            <a:ext cx="1133856"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10/11</a:t>
            </a:r>
            <a:endParaRPr lang="en-US" sz="1500" dirty="0"/>
          </a:p>
        </p:txBody>
      </p:sp>
      <p:sp>
        <p:nvSpPr>
          <p:cNvPr id="42" name="Text 39"/>
          <p:cNvSpPr txBox="1"/>
          <p:nvPr/>
        </p:nvSpPr>
        <p:spPr>
          <a:xfrm>
            <a:off x="640080" y="5577840"/>
            <a:ext cx="1133856" cy="502920"/>
          </a:xfrm>
          <a:prstGeom prst="rect">
            <a:avLst/>
          </a:prstGeom>
          <a:noFill/>
          <a:ln/>
        </p:spPr>
        <p:txBody>
          <a:bodyPr wrap="square" lIns="0" tIns="0" rIns="0" bIns="0" rtlCol="0" anchor="t"/>
          <a:lstStyle/>
          <a:p>
            <a:pPr algn="ctr" indent="0" marL="0">
              <a:lnSpc>
                <a:spcPts val="1200"/>
              </a:lnSpc>
              <a:buNone/>
            </a:pPr>
            <a:r>
              <a:rPr lang="en-US" sz="950" dirty="0">
                <a:solidFill>
                  <a:srgbClr val="E3D2D7"/>
                </a:solidFill>
                <a:latin typeface="Calibri" pitchFamily="34" charset="0"/>
                <a:ea typeface="Calibri" pitchFamily="34" charset="-122"/>
                <a:cs typeface="Calibri" pitchFamily="34" charset="-120"/>
              </a:rPr>
              <a:t>売主とのトップ面談</a:t>
            </a:r>
            <a:endParaRPr lang="en-US" sz="950" dirty="0"/>
          </a:p>
        </p:txBody>
      </p:sp>
      <p:sp>
        <p:nvSpPr>
          <p:cNvPr id="43" name="Shape 40"/>
          <p:cNvSpPr/>
          <p:nvPr/>
        </p:nvSpPr>
        <p:spPr>
          <a:xfrm>
            <a:off x="1938528" y="5074920"/>
            <a:ext cx="1280160" cy="1097280"/>
          </a:xfrm>
          <a:prstGeom prst="roundRect">
            <a:avLst>
              <a:gd name="adj" fmla="val 3333"/>
            </a:avLst>
          </a:prstGeom>
          <a:solidFill>
            <a:srgbClr val="F7F3F4"/>
          </a:solidFill>
          <a:ln w="9525">
            <a:solidFill>
              <a:srgbClr val="E4DADD"/>
            </a:solidFill>
            <a:prstDash val="solid"/>
          </a:ln>
        </p:spPr>
      </p:sp>
      <p:sp>
        <p:nvSpPr>
          <p:cNvPr id="44" name="Text 41"/>
          <p:cNvSpPr txBox="1"/>
          <p:nvPr/>
        </p:nvSpPr>
        <p:spPr>
          <a:xfrm>
            <a:off x="2011680" y="5166360"/>
            <a:ext cx="1133856" cy="365760"/>
          </a:xfrm>
          <a:prstGeom prst="rect">
            <a:avLst/>
          </a:prstGeom>
          <a:noFill/>
          <a:ln/>
        </p:spPr>
        <p:txBody>
          <a:bodyPr wrap="square" lIns="0" tIns="0" rIns="0" bIns="0" rtlCol="0" anchor="ctr"/>
          <a:lstStyle/>
          <a:p>
            <a:pPr algn="ctr" indent="0" marL="0">
              <a:buNone/>
            </a:pPr>
            <a:r>
              <a:rPr lang="en-US" sz="1500" b="1" dirty="0">
                <a:solidFill>
                  <a:srgbClr val="6D2E46"/>
                </a:solidFill>
                <a:latin typeface="Cambria" pitchFamily="34" charset="0"/>
                <a:ea typeface="Cambria" pitchFamily="34" charset="-122"/>
                <a:cs typeface="Cambria" pitchFamily="34" charset="-120"/>
              </a:rPr>
              <a:t>10月</a:t>
            </a:r>
            <a:endParaRPr lang="en-US" sz="1500" dirty="0"/>
          </a:p>
        </p:txBody>
      </p:sp>
      <p:sp>
        <p:nvSpPr>
          <p:cNvPr id="45" name="Text 42"/>
          <p:cNvSpPr txBox="1"/>
          <p:nvPr/>
        </p:nvSpPr>
        <p:spPr>
          <a:xfrm>
            <a:off x="2011680" y="5577840"/>
            <a:ext cx="1133856" cy="502920"/>
          </a:xfrm>
          <a:prstGeom prst="rect">
            <a:avLst/>
          </a:prstGeom>
          <a:noFill/>
          <a:ln/>
        </p:spPr>
        <p:txBody>
          <a:bodyPr wrap="square" lIns="0" tIns="0" rIns="0" bIns="0" rtlCol="0" anchor="t"/>
          <a:lstStyle/>
          <a:p>
            <a:pPr algn="ctr" indent="0" marL="0">
              <a:lnSpc>
                <a:spcPts val="1200"/>
              </a:lnSpc>
              <a:buNone/>
            </a:pPr>
            <a:r>
              <a:rPr lang="en-US" sz="950" dirty="0">
                <a:solidFill>
                  <a:srgbClr val="1F1A1C"/>
                </a:solidFill>
                <a:latin typeface="Calibri" pitchFamily="34" charset="0"/>
                <a:ea typeface="Calibri" pitchFamily="34" charset="-122"/>
                <a:cs typeface="Calibri" pitchFamily="34" charset="-120"/>
              </a:rPr>
              <a:t>独占交渉・DD開始</a:t>
            </a:r>
            <a:endParaRPr lang="en-US" sz="950" dirty="0"/>
          </a:p>
        </p:txBody>
      </p:sp>
      <p:sp>
        <p:nvSpPr>
          <p:cNvPr id="46" name="Shape 43"/>
          <p:cNvSpPr/>
          <p:nvPr/>
        </p:nvSpPr>
        <p:spPr>
          <a:xfrm>
            <a:off x="3310128" y="5074920"/>
            <a:ext cx="1280160" cy="1097280"/>
          </a:xfrm>
          <a:prstGeom prst="roundRect">
            <a:avLst>
              <a:gd name="adj" fmla="val 3333"/>
            </a:avLst>
          </a:prstGeom>
          <a:solidFill>
            <a:srgbClr val="F7F3F4"/>
          </a:solidFill>
          <a:ln w="9525">
            <a:solidFill>
              <a:srgbClr val="E4DADD"/>
            </a:solidFill>
            <a:prstDash val="solid"/>
          </a:ln>
        </p:spPr>
      </p:sp>
      <p:sp>
        <p:nvSpPr>
          <p:cNvPr id="47" name="Text 44"/>
          <p:cNvSpPr txBox="1"/>
          <p:nvPr/>
        </p:nvSpPr>
        <p:spPr>
          <a:xfrm>
            <a:off x="3383280" y="5166360"/>
            <a:ext cx="1133856" cy="365760"/>
          </a:xfrm>
          <a:prstGeom prst="rect">
            <a:avLst/>
          </a:prstGeom>
          <a:noFill/>
          <a:ln/>
        </p:spPr>
        <p:txBody>
          <a:bodyPr wrap="square" lIns="0" tIns="0" rIns="0" bIns="0" rtlCol="0" anchor="ctr"/>
          <a:lstStyle/>
          <a:p>
            <a:pPr algn="ctr" indent="0" marL="0">
              <a:buNone/>
            </a:pPr>
            <a:r>
              <a:rPr lang="en-US" sz="1500" b="1" dirty="0">
                <a:solidFill>
                  <a:srgbClr val="6D2E46"/>
                </a:solidFill>
                <a:latin typeface="Cambria" pitchFamily="34" charset="0"/>
                <a:ea typeface="Cambria" pitchFamily="34" charset="-122"/>
                <a:cs typeface="Cambria" pitchFamily="34" charset="-120"/>
              </a:rPr>
              <a:t>12月中旬</a:t>
            </a:r>
            <a:endParaRPr lang="en-US" sz="1500" dirty="0"/>
          </a:p>
        </p:txBody>
      </p:sp>
      <p:sp>
        <p:nvSpPr>
          <p:cNvPr id="48" name="Text 45"/>
          <p:cNvSpPr txBox="1"/>
          <p:nvPr/>
        </p:nvSpPr>
        <p:spPr>
          <a:xfrm>
            <a:off x="3383280" y="5577840"/>
            <a:ext cx="1133856" cy="502920"/>
          </a:xfrm>
          <a:prstGeom prst="rect">
            <a:avLst/>
          </a:prstGeom>
          <a:noFill/>
          <a:ln/>
        </p:spPr>
        <p:txBody>
          <a:bodyPr wrap="square" lIns="0" tIns="0" rIns="0" bIns="0" rtlCol="0" anchor="t"/>
          <a:lstStyle/>
          <a:p>
            <a:pPr algn="ctr" indent="0" marL="0">
              <a:lnSpc>
                <a:spcPts val="1200"/>
              </a:lnSpc>
              <a:buNone/>
            </a:pPr>
            <a:r>
              <a:rPr lang="en-US" sz="950" dirty="0">
                <a:solidFill>
                  <a:srgbClr val="1F1A1C"/>
                </a:solidFill>
                <a:latin typeface="Calibri" pitchFamily="34" charset="0"/>
                <a:ea typeface="Calibri" pitchFamily="34" charset="-122"/>
                <a:cs typeface="Calibri" pitchFamily="34" charset="-120"/>
              </a:rPr>
              <a:t>最終契約の締結</a:t>
            </a:r>
            <a:endParaRPr lang="en-US" sz="950" dirty="0"/>
          </a:p>
        </p:txBody>
      </p:sp>
      <p:sp>
        <p:nvSpPr>
          <p:cNvPr id="49" name="Shape 46"/>
          <p:cNvSpPr/>
          <p:nvPr/>
        </p:nvSpPr>
        <p:spPr>
          <a:xfrm>
            <a:off x="4681728" y="5074920"/>
            <a:ext cx="1280160" cy="1097280"/>
          </a:xfrm>
          <a:prstGeom prst="roundRect">
            <a:avLst>
              <a:gd name="adj" fmla="val 3333"/>
            </a:avLst>
          </a:prstGeom>
          <a:solidFill>
            <a:srgbClr val="F7F3F4"/>
          </a:solidFill>
          <a:ln w="9525">
            <a:solidFill>
              <a:srgbClr val="E4DADD"/>
            </a:solidFill>
            <a:prstDash val="solid"/>
          </a:ln>
        </p:spPr>
      </p:sp>
      <p:sp>
        <p:nvSpPr>
          <p:cNvPr id="50" name="Text 47"/>
          <p:cNvSpPr txBox="1"/>
          <p:nvPr/>
        </p:nvSpPr>
        <p:spPr>
          <a:xfrm>
            <a:off x="4754880" y="5166360"/>
            <a:ext cx="1133856" cy="365760"/>
          </a:xfrm>
          <a:prstGeom prst="rect">
            <a:avLst/>
          </a:prstGeom>
          <a:noFill/>
          <a:ln/>
        </p:spPr>
        <p:txBody>
          <a:bodyPr wrap="square" lIns="0" tIns="0" rIns="0" bIns="0" rtlCol="0" anchor="ctr"/>
          <a:lstStyle/>
          <a:p>
            <a:pPr algn="ctr" indent="0" marL="0">
              <a:buNone/>
            </a:pPr>
            <a:r>
              <a:rPr lang="en-US" sz="1500" b="1" dirty="0">
                <a:solidFill>
                  <a:srgbClr val="6D2E46"/>
                </a:solidFill>
                <a:latin typeface="Cambria" pitchFamily="34" charset="0"/>
                <a:ea typeface="Cambria" pitchFamily="34" charset="-122"/>
                <a:cs typeface="Cambria" pitchFamily="34" charset="-120"/>
              </a:rPr>
              <a:t>12月末</a:t>
            </a:r>
            <a:endParaRPr lang="en-US" sz="1500" dirty="0"/>
          </a:p>
        </p:txBody>
      </p:sp>
      <p:sp>
        <p:nvSpPr>
          <p:cNvPr id="51" name="Text 48"/>
          <p:cNvSpPr txBox="1"/>
          <p:nvPr/>
        </p:nvSpPr>
        <p:spPr>
          <a:xfrm>
            <a:off x="4754880" y="5577840"/>
            <a:ext cx="1133856" cy="502920"/>
          </a:xfrm>
          <a:prstGeom prst="rect">
            <a:avLst/>
          </a:prstGeom>
          <a:noFill/>
          <a:ln/>
        </p:spPr>
        <p:txBody>
          <a:bodyPr wrap="square" lIns="0" tIns="0" rIns="0" bIns="0" rtlCol="0" anchor="t"/>
          <a:lstStyle/>
          <a:p>
            <a:pPr algn="ctr" indent="0" marL="0">
              <a:lnSpc>
                <a:spcPts val="1200"/>
              </a:lnSpc>
              <a:buNone/>
            </a:pPr>
            <a:r>
              <a:rPr lang="en-US" sz="950" dirty="0">
                <a:solidFill>
                  <a:srgbClr val="1F1A1C"/>
                </a:solidFill>
                <a:latin typeface="Calibri" pitchFamily="34" charset="0"/>
                <a:ea typeface="Calibri" pitchFamily="34" charset="-122"/>
                <a:cs typeface="Calibri" pitchFamily="34" charset="-120"/>
              </a:rPr>
              <a:t>決済</a:t>
            </a:r>
            <a:endParaRPr lang="en-US" sz="950" dirty="0"/>
          </a:p>
        </p:txBody>
      </p:sp>
      <p:sp>
        <p:nvSpPr>
          <p:cNvPr id="52" name="Text 49"/>
          <p:cNvSpPr txBox="1"/>
          <p:nvPr/>
        </p:nvSpPr>
        <p:spPr>
          <a:xfrm>
            <a:off x="566928" y="6473952"/>
            <a:ext cx="9601200"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社外秘 ／ 検討中の条件を含み、最終契約により変更となる可能性があります ／ 2026年10月 株式会社WineBank</a:t>
            </a:r>
            <a:endParaRPr lang="en-US" sz="800" dirty="0"/>
          </a:p>
        </p:txBody>
      </p:sp>
      <p:sp>
        <p:nvSpPr>
          <p:cNvPr id="53" name="Text 50"/>
          <p:cNvSpPr txBox="1"/>
          <p:nvPr/>
        </p:nvSpPr>
        <p:spPr>
          <a:xfrm>
            <a:off x="11073384" y="6473952"/>
            <a:ext cx="548640" cy="201168"/>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条件合意とLOIの比較（投資家様向け）</dc:title>
  <dc:subject>PptxGenJS Presentation</dc:subject>
  <dc:creator>株式会社WineBank</dc:creator>
  <cp:lastModifiedBy>株式会社WineBank</cp:lastModifiedBy>
  <cp:revision>1</cp:revision>
  <dcterms:created xsi:type="dcterms:W3CDTF">2026-10-15T02:38:03Z</dcterms:created>
  <dcterms:modified xsi:type="dcterms:W3CDTF">2026-10-15T02:38:03Z</dcterms:modified>
</cp:coreProperties>
</file>