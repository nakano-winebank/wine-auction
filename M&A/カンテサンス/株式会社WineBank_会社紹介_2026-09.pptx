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595360" y="-1463040"/>
            <a:ext cx="5852160" cy="5852160"/>
          </a:xfrm>
          <a:prstGeom prst="ellipse">
            <a:avLst/>
          </a:prstGeom>
          <a:solidFill>
            <a:srgbClr val="6D2E46"/>
          </a:solidFill>
          <a:ln/>
        </p:spPr>
      </p:sp>
      <p:sp>
        <p:nvSpPr>
          <p:cNvPr id="3" name="Text 1"/>
          <p:cNvSpPr txBox="1"/>
          <p:nvPr/>
        </p:nvSpPr>
        <p:spPr>
          <a:xfrm>
            <a:off x="566928" y="1051560"/>
            <a:ext cx="7315200" cy="274320"/>
          </a:xfrm>
          <a:prstGeom prst="rect">
            <a:avLst/>
          </a:prstGeom>
          <a:noFill/>
          <a:ln/>
        </p:spPr>
        <p:txBody>
          <a:bodyPr wrap="square" lIns="0" tIns="0" rIns="0" bIns="0" rtlCol="0" anchor="ctr"/>
          <a:lstStyle/>
          <a:p>
            <a:pPr indent="0" marL="0">
              <a:buNone/>
            </a:pPr>
            <a:r>
              <a:rPr lang="en-US" sz="1200" b="1" spc="240" kern="0" dirty="0">
                <a:solidFill>
                  <a:srgbClr val="E0B94A"/>
                </a:solidFill>
                <a:latin typeface="Calibri" pitchFamily="34" charset="0"/>
                <a:ea typeface="Calibri" pitchFamily="34" charset="-122"/>
                <a:cs typeface="Calibri" pitchFamily="34" charset="-120"/>
              </a:rPr>
              <a:t>会社紹介</a:t>
            </a:r>
            <a:endParaRPr lang="en-US" sz="1200" dirty="0"/>
          </a:p>
        </p:txBody>
      </p:sp>
      <p:sp>
        <p:nvSpPr>
          <p:cNvPr id="4" name="Text 2"/>
          <p:cNvSpPr txBox="1"/>
          <p:nvPr/>
        </p:nvSpPr>
        <p:spPr>
          <a:xfrm>
            <a:off x="566928" y="1444752"/>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株式会社WineBank</a:t>
            </a:r>
            <a:endParaRPr lang="en-US" sz="4600" dirty="0"/>
          </a:p>
        </p:txBody>
      </p:sp>
      <p:sp>
        <p:nvSpPr>
          <p:cNvPr id="5" name="Text 3"/>
          <p:cNvSpPr txBox="1"/>
          <p:nvPr/>
        </p:nvSpPr>
        <p:spPr>
          <a:xfrm>
            <a:off x="566928" y="2487168"/>
            <a:ext cx="8229600" cy="457200"/>
          </a:xfrm>
          <a:prstGeom prst="rect">
            <a:avLst/>
          </a:prstGeom>
          <a:noFill/>
          <a:ln/>
        </p:spPr>
        <p:txBody>
          <a:bodyPr wrap="square" lIns="0" tIns="0" rIns="0" bIns="0" rtlCol="0" anchor="ctr"/>
          <a:lstStyle/>
          <a:p>
            <a:pPr indent="0" marL="0">
              <a:buNone/>
            </a:pPr>
            <a:r>
              <a:rPr lang="en-US" sz="2200" dirty="0">
                <a:solidFill>
                  <a:srgbClr val="E3D2D7"/>
                </a:solidFill>
                <a:latin typeface="Cambria" pitchFamily="34" charset="0"/>
                <a:ea typeface="Cambria" pitchFamily="34" charset="-122"/>
                <a:cs typeface="Cambria" pitchFamily="34" charset="-120"/>
              </a:rPr>
              <a:t>ワインと、ファインダイニング。</a:t>
            </a:r>
            <a:endParaRPr lang="en-US" sz="2200" dirty="0"/>
          </a:p>
        </p:txBody>
      </p:sp>
      <p:sp>
        <p:nvSpPr>
          <p:cNvPr id="6" name="Shape 4"/>
          <p:cNvSpPr/>
          <p:nvPr/>
        </p:nvSpPr>
        <p:spPr>
          <a:xfrm>
            <a:off x="566928" y="3749040"/>
            <a:ext cx="2560320" cy="1133856"/>
          </a:xfrm>
          <a:prstGeom prst="roundRect">
            <a:avLst>
              <a:gd name="adj" fmla="val 4032"/>
            </a:avLst>
          </a:prstGeom>
          <a:solidFill>
            <a:srgbClr val="3B1E2B"/>
          </a:solidFill>
          <a:ln w="9525">
            <a:solidFill>
              <a:srgbClr val="5A3240"/>
            </a:solidFill>
            <a:prstDash val="solid"/>
          </a:ln>
        </p:spPr>
      </p:sp>
      <p:sp>
        <p:nvSpPr>
          <p:cNvPr id="7" name="Text 5"/>
          <p:cNvSpPr txBox="1"/>
          <p:nvPr/>
        </p:nvSpPr>
        <p:spPr>
          <a:xfrm>
            <a:off x="749808" y="3858768"/>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創業</a:t>
            </a:r>
            <a:endParaRPr lang="en-US" sz="950" dirty="0"/>
          </a:p>
        </p:txBody>
      </p:sp>
      <p:sp>
        <p:nvSpPr>
          <p:cNvPr id="8" name="Text 6"/>
          <p:cNvSpPr txBox="1"/>
          <p:nvPr/>
        </p:nvSpPr>
        <p:spPr>
          <a:xfrm>
            <a:off x="749808" y="407822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1970年</a:t>
            </a:r>
            <a:endParaRPr lang="en-US" sz="2500" dirty="0"/>
          </a:p>
        </p:txBody>
      </p:sp>
      <p:sp>
        <p:nvSpPr>
          <p:cNvPr id="9" name="Text 7"/>
          <p:cNvSpPr txBox="1"/>
          <p:nvPr/>
        </p:nvSpPr>
        <p:spPr>
          <a:xfrm>
            <a:off x="749808" y="4553712"/>
            <a:ext cx="2286000" cy="219456"/>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北海道札幌・有限会社中村</a:t>
            </a:r>
            <a:endParaRPr lang="en-US" sz="900" dirty="0"/>
          </a:p>
        </p:txBody>
      </p:sp>
      <p:sp>
        <p:nvSpPr>
          <p:cNvPr id="10" name="Shape 8"/>
          <p:cNvSpPr/>
          <p:nvPr/>
        </p:nvSpPr>
        <p:spPr>
          <a:xfrm>
            <a:off x="3355848" y="3749040"/>
            <a:ext cx="2560320" cy="1133856"/>
          </a:xfrm>
          <a:prstGeom prst="roundRect">
            <a:avLst>
              <a:gd name="adj" fmla="val 4032"/>
            </a:avLst>
          </a:prstGeom>
          <a:solidFill>
            <a:srgbClr val="3B1E2B"/>
          </a:solidFill>
          <a:ln w="9525">
            <a:solidFill>
              <a:srgbClr val="5A3240"/>
            </a:solidFill>
            <a:prstDash val="solid"/>
          </a:ln>
        </p:spPr>
      </p:sp>
      <p:sp>
        <p:nvSpPr>
          <p:cNvPr id="11" name="Text 9"/>
          <p:cNvSpPr txBox="1"/>
          <p:nvPr/>
        </p:nvSpPr>
        <p:spPr>
          <a:xfrm>
            <a:off x="3538728" y="3858768"/>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グループ売上</a:t>
            </a:r>
            <a:endParaRPr lang="en-US" sz="950" dirty="0"/>
          </a:p>
        </p:txBody>
      </p:sp>
      <p:sp>
        <p:nvSpPr>
          <p:cNvPr id="12" name="Text 10"/>
          <p:cNvSpPr txBox="1"/>
          <p:nvPr/>
        </p:nvSpPr>
        <p:spPr>
          <a:xfrm>
            <a:off x="3538728" y="407822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70億円超</a:t>
            </a:r>
            <a:endParaRPr lang="en-US" sz="2500" dirty="0"/>
          </a:p>
        </p:txBody>
      </p:sp>
      <p:sp>
        <p:nvSpPr>
          <p:cNvPr id="13" name="Text 11"/>
          <p:cNvSpPr txBox="1"/>
          <p:nvPr/>
        </p:nvSpPr>
        <p:spPr>
          <a:xfrm>
            <a:off x="3538728" y="4553712"/>
            <a:ext cx="2286000" cy="219456"/>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2026年12月期 見込</a:t>
            </a:r>
            <a:endParaRPr lang="en-US" sz="900" dirty="0"/>
          </a:p>
        </p:txBody>
      </p:sp>
      <p:sp>
        <p:nvSpPr>
          <p:cNvPr id="14" name="Shape 12"/>
          <p:cNvSpPr/>
          <p:nvPr/>
        </p:nvSpPr>
        <p:spPr>
          <a:xfrm>
            <a:off x="6144768" y="3749040"/>
            <a:ext cx="2560320" cy="1133856"/>
          </a:xfrm>
          <a:prstGeom prst="roundRect">
            <a:avLst>
              <a:gd name="adj" fmla="val 4032"/>
            </a:avLst>
          </a:prstGeom>
          <a:solidFill>
            <a:srgbClr val="3B1E2B"/>
          </a:solidFill>
          <a:ln w="9525">
            <a:solidFill>
              <a:srgbClr val="5A3240"/>
            </a:solidFill>
            <a:prstDash val="solid"/>
          </a:ln>
        </p:spPr>
      </p:sp>
      <p:sp>
        <p:nvSpPr>
          <p:cNvPr id="15" name="Text 13"/>
          <p:cNvSpPr txBox="1"/>
          <p:nvPr/>
        </p:nvSpPr>
        <p:spPr>
          <a:xfrm>
            <a:off x="6327648" y="3858768"/>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ワイン在庫</a:t>
            </a:r>
            <a:endParaRPr lang="en-US" sz="950" dirty="0"/>
          </a:p>
        </p:txBody>
      </p:sp>
      <p:sp>
        <p:nvSpPr>
          <p:cNvPr id="16" name="Text 14"/>
          <p:cNvSpPr txBox="1"/>
          <p:nvPr/>
        </p:nvSpPr>
        <p:spPr>
          <a:xfrm>
            <a:off x="6327648" y="407822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32億円</a:t>
            </a:r>
            <a:endParaRPr lang="en-US" sz="2500" dirty="0"/>
          </a:p>
        </p:txBody>
      </p:sp>
      <p:sp>
        <p:nvSpPr>
          <p:cNvPr id="17" name="Text 15"/>
          <p:cNvSpPr txBox="1"/>
          <p:nvPr/>
        </p:nvSpPr>
        <p:spPr>
          <a:xfrm>
            <a:off x="6327648" y="4553712"/>
            <a:ext cx="2286000" cy="219456"/>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管理在庫を含む</a:t>
            </a:r>
            <a:endParaRPr lang="en-US" sz="900" dirty="0"/>
          </a:p>
        </p:txBody>
      </p:sp>
      <p:sp>
        <p:nvSpPr>
          <p:cNvPr id="18" name="Text 16"/>
          <p:cNvSpPr txBox="1"/>
          <p:nvPr/>
        </p:nvSpPr>
        <p:spPr>
          <a:xfrm>
            <a:off x="566928" y="5577840"/>
            <a:ext cx="5486400" cy="274320"/>
          </a:xfrm>
          <a:prstGeom prst="rect">
            <a:avLst/>
          </a:prstGeom>
          <a:noFill/>
          <a:ln/>
        </p:spPr>
        <p:txBody>
          <a:bodyPr wrap="square" lIns="0" tIns="0" rIns="0" bIns="0" rtlCol="0" anchor="ctr"/>
          <a:lstStyle/>
          <a:p>
            <a:pPr indent="0" marL="0">
              <a:buNone/>
            </a:pPr>
            <a:r>
              <a:rPr lang="en-US" sz="1100" dirty="0">
                <a:solidFill>
                  <a:srgbClr val="9C858B"/>
                </a:solidFill>
                <a:latin typeface="Calibri" pitchFamily="34" charset="0"/>
                <a:ea typeface="Calibri" pitchFamily="34" charset="-122"/>
                <a:cs typeface="Calibri" pitchFamily="34" charset="-120"/>
              </a:rPr>
              <a:t>2026年9月</a:t>
            </a:r>
            <a:endParaRPr lang="en-US" sz="1100" dirty="0"/>
          </a:p>
        </p:txBody>
      </p:sp>
      <p:sp>
        <p:nvSpPr>
          <p:cNvPr id="19" name="Text 17"/>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0" name="Text 1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ワインを売る会社から、ワインが生きる場所をつくる会社へ</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私たちは創業55年の酒販業を母体に、ワインの仕入・流通と、ファインダイニングの運営を、ひとつの会社の中で行っています。</a:t>
            </a:r>
            <a:endParaRPr lang="en-US" sz="1250" dirty="0"/>
          </a:p>
        </p:txBody>
      </p:sp>
      <p:sp>
        <p:nvSpPr>
          <p:cNvPr id="5" name="Shape 3"/>
          <p:cNvSpPr/>
          <p:nvPr/>
        </p:nvSpPr>
        <p:spPr>
          <a:xfrm>
            <a:off x="566928" y="1627632"/>
            <a:ext cx="5394960" cy="2651760"/>
          </a:xfrm>
          <a:prstGeom prst="roundRect">
            <a:avLst>
              <a:gd name="adj" fmla="val 1724"/>
            </a:avLst>
          </a:prstGeom>
          <a:solidFill>
            <a:srgbClr val="FFFFFF"/>
          </a:solidFill>
          <a:ln w="9525">
            <a:solidFill>
              <a:srgbClr val="E4DADD"/>
            </a:solidFill>
            <a:prstDash val="solid"/>
          </a:ln>
        </p:spPr>
      </p:sp>
      <p:sp>
        <p:nvSpPr>
          <p:cNvPr id="6" name="Shape 4"/>
          <p:cNvSpPr/>
          <p:nvPr/>
        </p:nvSpPr>
        <p:spPr>
          <a:xfrm>
            <a:off x="786384" y="1810512"/>
            <a:ext cx="1828800" cy="329184"/>
          </a:xfrm>
          <a:prstGeom prst="roundRect">
            <a:avLst>
              <a:gd name="adj" fmla="val 11111"/>
            </a:avLst>
          </a:prstGeom>
          <a:solidFill>
            <a:srgbClr val="6D2E46"/>
          </a:solidFill>
          <a:ln/>
        </p:spPr>
      </p:sp>
      <p:sp>
        <p:nvSpPr>
          <p:cNvPr id="7" name="Text 5"/>
          <p:cNvSpPr txBox="1"/>
          <p:nvPr/>
        </p:nvSpPr>
        <p:spPr>
          <a:xfrm>
            <a:off x="786384" y="1810512"/>
            <a:ext cx="182880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ワイン</a:t>
            </a:r>
            <a:endParaRPr lang="en-US" sz="1250" dirty="0"/>
          </a:p>
        </p:txBody>
      </p:sp>
      <p:sp>
        <p:nvSpPr>
          <p:cNvPr id="8" name="Text 6"/>
          <p:cNvSpPr txBox="1"/>
          <p:nvPr/>
        </p:nvSpPr>
        <p:spPr>
          <a:xfrm>
            <a:off x="822960" y="23042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・自社EC（楽天・Yahoo・寺田ワインマーケット）</a:t>
            </a:r>
            <a:endParaRPr lang="en-US" sz="1100" dirty="0"/>
          </a:p>
        </p:txBody>
      </p:sp>
      <p:sp>
        <p:nvSpPr>
          <p:cNvPr id="9" name="Text 7"/>
          <p:cNvSpPr txBox="1"/>
          <p:nvPr/>
        </p:nvSpPr>
        <p:spPr>
          <a:xfrm>
            <a:off x="822960" y="27614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・所有ワインのクラウド管理とマーケットプレイス</a:t>
            </a:r>
            <a:endParaRPr lang="en-US" sz="1100" dirty="0"/>
          </a:p>
        </p:txBody>
      </p:sp>
      <p:sp>
        <p:nvSpPr>
          <p:cNvPr id="10" name="Text 8"/>
          <p:cNvSpPr txBox="1"/>
          <p:nvPr/>
        </p:nvSpPr>
        <p:spPr>
          <a:xfrm>
            <a:off x="822960" y="32186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・ワインファンド（SBI証券と提携）</a:t>
            </a:r>
            <a:endParaRPr lang="en-US" sz="1100" dirty="0"/>
          </a:p>
        </p:txBody>
      </p:sp>
      <p:sp>
        <p:nvSpPr>
          <p:cNvPr id="11" name="Text 9"/>
          <p:cNvSpPr txBox="1"/>
          <p:nvPr/>
        </p:nvSpPr>
        <p:spPr>
          <a:xfrm>
            <a:off x="822960" y="36758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・会員制ワインサロン WineBank CLUB</a:t>
            </a:r>
            <a:endParaRPr lang="en-US" sz="1100" dirty="0"/>
          </a:p>
        </p:txBody>
      </p:sp>
      <p:sp>
        <p:nvSpPr>
          <p:cNvPr id="12" name="Shape 10"/>
          <p:cNvSpPr/>
          <p:nvPr/>
        </p:nvSpPr>
        <p:spPr>
          <a:xfrm>
            <a:off x="6227064" y="1627632"/>
            <a:ext cx="5394960" cy="2651760"/>
          </a:xfrm>
          <a:prstGeom prst="roundRect">
            <a:avLst>
              <a:gd name="adj" fmla="val 1724"/>
            </a:avLst>
          </a:prstGeom>
          <a:solidFill>
            <a:srgbClr val="FFFFFF"/>
          </a:solidFill>
          <a:ln w="9525">
            <a:solidFill>
              <a:srgbClr val="E4DADD"/>
            </a:solidFill>
            <a:prstDash val="solid"/>
          </a:ln>
        </p:spPr>
      </p:sp>
      <p:sp>
        <p:nvSpPr>
          <p:cNvPr id="13" name="Shape 11"/>
          <p:cNvSpPr/>
          <p:nvPr/>
        </p:nvSpPr>
        <p:spPr>
          <a:xfrm>
            <a:off x="6446520" y="1810512"/>
            <a:ext cx="1828800" cy="329184"/>
          </a:xfrm>
          <a:prstGeom prst="roundRect">
            <a:avLst>
              <a:gd name="adj" fmla="val 11111"/>
            </a:avLst>
          </a:prstGeom>
          <a:solidFill>
            <a:srgbClr val="A26769"/>
          </a:solidFill>
          <a:ln/>
        </p:spPr>
      </p:sp>
      <p:sp>
        <p:nvSpPr>
          <p:cNvPr id="14" name="Text 12"/>
          <p:cNvSpPr txBox="1"/>
          <p:nvPr/>
        </p:nvSpPr>
        <p:spPr>
          <a:xfrm>
            <a:off x="6446520" y="1810512"/>
            <a:ext cx="182880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ファインダイニング</a:t>
            </a:r>
            <a:endParaRPr lang="en-US" sz="1250" dirty="0"/>
          </a:p>
        </p:txBody>
      </p:sp>
      <p:sp>
        <p:nvSpPr>
          <p:cNvPr id="15" name="Text 13"/>
          <p:cNvSpPr txBox="1"/>
          <p:nvPr/>
        </p:nvSpPr>
        <p:spPr>
          <a:xfrm>
            <a:off x="6483096" y="23042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・アピシウス（銀座・グランメゾン）　2024年6月 取得</a:t>
            </a:r>
            <a:endParaRPr lang="en-US" sz="1100" dirty="0"/>
          </a:p>
        </p:txBody>
      </p:sp>
      <p:sp>
        <p:nvSpPr>
          <p:cNvPr id="16" name="Text 14"/>
          <p:cNvSpPr txBox="1"/>
          <p:nvPr/>
        </p:nvSpPr>
        <p:spPr>
          <a:xfrm>
            <a:off x="6483096" y="27614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・ブラッスリー ティエリー・マルクス　2027年4月 開業予定</a:t>
            </a:r>
            <a:endParaRPr lang="en-US" sz="1100" dirty="0"/>
          </a:p>
        </p:txBody>
      </p:sp>
      <p:sp>
        <p:nvSpPr>
          <p:cNvPr id="17" name="Text 15"/>
          <p:cNvSpPr txBox="1"/>
          <p:nvPr/>
        </p:nvSpPr>
        <p:spPr>
          <a:xfrm>
            <a:off x="6483096" y="32186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・国内オーベルジュ構想　2030年以降</a:t>
            </a:r>
            <a:endParaRPr lang="en-US" sz="1100" dirty="0"/>
          </a:p>
        </p:txBody>
      </p:sp>
      <p:sp>
        <p:nvSpPr>
          <p:cNvPr id="18" name="Text 16"/>
          <p:cNvSpPr txBox="1"/>
          <p:nvPr/>
        </p:nvSpPr>
        <p:spPr>
          <a:xfrm>
            <a:off x="6483096" y="3675888"/>
            <a:ext cx="4937760" cy="402336"/>
          </a:xfrm>
          <a:prstGeom prst="rect">
            <a:avLst/>
          </a:prstGeom>
          <a:noFill/>
          <a:ln/>
        </p:spPr>
        <p:txBody>
          <a:bodyPr wrap="square" lIns="0" tIns="0" rIns="0" bIns="0" rtlCol="0" anchor="ctr"/>
          <a:lstStyle/>
          <a:p>
            <a:pPr indent="0" marL="0">
              <a:lnSpc>
                <a:spcPts val="1500"/>
              </a:lnSpc>
              <a:buNone/>
            </a:pPr>
            <a:r>
              <a:rPr lang="en-US" sz="1100" dirty="0">
                <a:solidFill>
                  <a:srgbClr val="1F1A1C"/>
                </a:solidFill>
                <a:latin typeface="Calibri" pitchFamily="34" charset="0"/>
                <a:ea typeface="Calibri" pitchFamily="34" charset="-122"/>
                <a:cs typeface="Calibri" pitchFamily="34" charset="-120"/>
              </a:rPr>
              <a:t>・Bistro &amp; Bar WineBank terrace（六本木）</a:t>
            </a:r>
            <a:endParaRPr lang="en-US" sz="1100" dirty="0"/>
          </a:p>
        </p:txBody>
      </p:sp>
      <p:sp>
        <p:nvSpPr>
          <p:cNvPr id="19" name="Shape 17"/>
          <p:cNvSpPr/>
          <p:nvPr/>
        </p:nvSpPr>
        <p:spPr>
          <a:xfrm>
            <a:off x="566928" y="4498848"/>
            <a:ext cx="11055096" cy="914400"/>
          </a:xfrm>
          <a:prstGeom prst="roundRect">
            <a:avLst>
              <a:gd name="adj" fmla="val 4000"/>
            </a:avLst>
          </a:prstGeom>
          <a:solidFill>
            <a:srgbClr val="6D2E46"/>
          </a:solidFill>
          <a:ln/>
        </p:spPr>
      </p:sp>
      <p:sp>
        <p:nvSpPr>
          <p:cNvPr id="20" name="Text 18"/>
          <p:cNvSpPr txBox="1"/>
          <p:nvPr/>
        </p:nvSpPr>
        <p:spPr>
          <a:xfrm>
            <a:off x="841248" y="4590288"/>
            <a:ext cx="10506456" cy="73152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rPr>
              <a:t>この二つが、同じ会社の中にあります。
</a:t>
            </a:r>
            <a:pPr indent="0" marL="0">
              <a:lnSpc>
                <a:spcPts val="1800"/>
              </a:lnSpc>
              <a:buNone/>
            </a:pPr>
            <a:r>
              <a:rPr lang="en-US" sz="1100" dirty="0">
                <a:solidFill>
                  <a:srgbClr val="EBDCE1"/>
                </a:solidFill>
              </a:rPr>
              <a:t>仕入れたワインが、自分たちの店で生きる。店で選ばれたワインが、次の仕入れを決める。ワインの会社がレストランを持つのではなく、レストランを持つからワインが強くなる――私たちが作ろうとしているのは、その循環です。</a:t>
            </a:r>
            <a:endParaRPr lang="en-US" sz="1400" dirty="0"/>
          </a:p>
        </p:txBody>
      </p:sp>
      <p:sp>
        <p:nvSpPr>
          <p:cNvPr id="21" name="Text 19"/>
          <p:cNvSpPr txBox="1"/>
          <p:nvPr/>
        </p:nvSpPr>
        <p:spPr>
          <a:xfrm>
            <a:off x="566928" y="5596128"/>
            <a:ext cx="11055096"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グループ売上：2025年12月期 65億円　→　2026年12月期 70億円超（見込）</a:t>
            </a:r>
            <a:endParaRPr lang="en-US" sz="1100" dirty="0"/>
          </a:p>
        </p:txBody>
      </p:sp>
      <p:sp>
        <p:nvSpPr>
          <p:cNvPr id="22" name="Text 20"/>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3" name="Text 21"/>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961120" y="-2743200"/>
            <a:ext cx="6583680" cy="6583680"/>
          </a:xfrm>
          <a:prstGeom prst="ellipse">
            <a:avLst/>
          </a:prstGeom>
          <a:solidFill>
            <a:srgbClr val="6D2E46"/>
          </a:solidFill>
          <a:ln/>
        </p:spPr>
      </p:sp>
      <p:sp>
        <p:nvSpPr>
          <p:cNvPr id="3" name="Text 1"/>
          <p:cNvSpPr txBox="1"/>
          <p:nvPr/>
        </p:nvSpPr>
        <p:spPr>
          <a:xfrm>
            <a:off x="566928" y="2487168"/>
            <a:ext cx="10058400" cy="292608"/>
          </a:xfrm>
          <a:prstGeom prst="rect">
            <a:avLst/>
          </a:prstGeom>
          <a:noFill/>
          <a:ln/>
        </p:spPr>
        <p:txBody>
          <a:bodyPr wrap="square" lIns="0" tIns="0" rIns="0" bIns="0" rtlCol="0" anchor="ctr"/>
          <a:lstStyle/>
          <a:p>
            <a:pPr indent="0" marL="0">
              <a:buNone/>
            </a:pPr>
            <a:r>
              <a:rPr lang="en-US" sz="1200" b="1" spc="240" kern="0" dirty="0">
                <a:solidFill>
                  <a:srgbClr val="E0B94A"/>
                </a:solidFill>
                <a:latin typeface="Calibri" pitchFamily="34" charset="0"/>
                <a:ea typeface="Calibri" pitchFamily="34" charset="-122"/>
                <a:cs typeface="Calibri" pitchFamily="34" charset="-120"/>
              </a:rPr>
              <a:t>COMPANY INFORMATION</a:t>
            </a:r>
            <a:endParaRPr lang="en-US" sz="1200" dirty="0"/>
          </a:p>
        </p:txBody>
      </p:sp>
      <p:sp>
        <p:nvSpPr>
          <p:cNvPr id="4" name="Text 2"/>
          <p:cNvSpPr txBox="1"/>
          <p:nvPr/>
        </p:nvSpPr>
        <p:spPr>
          <a:xfrm>
            <a:off x="566928" y="283464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会社概要</a:t>
            </a:r>
            <a:endParaRPr lang="en-US" sz="4000" dirty="0"/>
          </a:p>
        </p:txBody>
      </p:sp>
      <p:sp>
        <p:nvSpPr>
          <p:cNvPr id="5" name="Text 3"/>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6" name="Text 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COMPANY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会社概要</a:t>
            </a:r>
            <a:endParaRPr lang="en-US" sz="2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5096" cy="914400"/>
        </p:xfrm>
        <a:graphic>
          <a:graphicData uri="http://schemas.openxmlformats.org/drawingml/2006/table">
            <a:tbl>
              <a:tblPr/>
              <a:tblGrid>
                <a:gridCol w="2103120"/>
                <a:gridCol w="8951976"/>
              </a:tblGrid>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会社名</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株式会社WineBank（旧社名：有限会社中村）</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代表取締役</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中野 邦人（Nakano Kunihito）</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資本金</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437,169千円（資本準備金を含む）</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本社</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東京都港区六本木4-12-8　第6DMJビル 2階</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創業</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1970年10月（北海道札幌）</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事業概要</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ワインを中心とした酒類販売／レストラン事業／Wine × Technology事業（WineTech事業）／その他上記に付随する事業</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12064">
                <a:tc>
                  <a:txBody>
                    <a:bodyPr/>
                    <a:lstStyle/>
                    <a:p>
                      <a:pPr indent="0" marL="0">
                        <a:buNone/>
                      </a:pPr>
                      <a:r>
                        <a:rPr lang="en-US" sz="1100" b="1" dirty="0">
                          <a:solidFill>
                            <a:srgbClr val="1F1A1C"/>
                          </a:solidFill>
                          <a:latin typeface="Calibri" pitchFamily="34" charset="0"/>
                          <a:ea typeface="Calibri" pitchFamily="34" charset="-122"/>
                          <a:cs typeface="Calibri" pitchFamily="34" charset="-120"/>
                        </a:rPr>
                        <a:t>主要株主</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100" dirty="0">
                          <a:solidFill>
                            <a:srgbClr val="1F1A1C"/>
                          </a:solidFill>
                          <a:latin typeface="Calibri" pitchFamily="34" charset="0"/>
                          <a:ea typeface="Calibri" pitchFamily="34" charset="-122"/>
                          <a:cs typeface="Calibri" pitchFamily="34" charset="-120"/>
                        </a:rPr>
                        <a:t>マネーフォワードベンチャーパートナーズ株式会社／株式会社ベクトル／寺田倉庫株式会社／株式会社PrivateBANK</a:t>
                      </a:r>
                      <a:endParaRPr lang="en-US" sz="11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5" name="Text 2"/>
          <p:cNvSpPr txBox="1"/>
          <p:nvPr/>
        </p:nvSpPr>
        <p:spPr>
          <a:xfrm>
            <a:off x="566928" y="5303520"/>
            <a:ext cx="11055096" cy="365760"/>
          </a:xfrm>
          <a:prstGeom prst="rect">
            <a:avLst/>
          </a:prstGeom>
          <a:noFill/>
          <a:ln/>
        </p:spPr>
        <p:txBody>
          <a:bodyPr wrap="square" lIns="0" tIns="0" rIns="0" bIns="0" rtlCol="0" anchor="ctr"/>
          <a:lstStyle/>
          <a:p>
            <a:pPr indent="0" marL="0">
              <a:lnSpc>
                <a:spcPts val="1600"/>
              </a:lnSpc>
              <a:buNone/>
            </a:pPr>
            <a:r>
              <a:rPr lang="en-US" sz="1100" dirty="0">
                <a:solidFill>
                  <a:srgbClr val="6E6368"/>
                </a:solidFill>
                <a:latin typeface="Calibri" pitchFamily="34" charset="0"/>
                <a:ea typeface="Calibri" pitchFamily="34" charset="-122"/>
                <a:cs typeface="Calibri" pitchFamily="34" charset="-120"/>
              </a:rPr>
              <a:t>創業から55年。ワインの販売に注力して30年になります。2020年に現経営陣が承継し、ワインの流通とファインダイニングの二軸で事業を再構築しています。</a:t>
            </a:r>
            <a:endParaRPr lang="en-US" sz="1100" dirty="0"/>
          </a:p>
        </p:txBody>
      </p:sp>
      <p:sp>
        <p:nvSpPr>
          <p:cNvPr id="6" name="Text 3"/>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7" name="Text 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MISSION &amp; VISION</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私たちが目指していること</a:t>
            </a:r>
            <a:endParaRPr lang="en-US" sz="2900" dirty="0"/>
          </a:p>
        </p:txBody>
      </p:sp>
      <p:sp>
        <p:nvSpPr>
          <p:cNvPr id="4" name="Shape 2"/>
          <p:cNvSpPr/>
          <p:nvPr/>
        </p:nvSpPr>
        <p:spPr>
          <a:xfrm>
            <a:off x="566928" y="1572768"/>
            <a:ext cx="5394960" cy="1188720"/>
          </a:xfrm>
          <a:prstGeom prst="roundRect">
            <a:avLst>
              <a:gd name="adj" fmla="val 3846"/>
            </a:avLst>
          </a:prstGeom>
          <a:solidFill>
            <a:srgbClr val="6D2E46"/>
          </a:solidFill>
          <a:ln w="9525">
            <a:solidFill>
              <a:srgbClr val="6D2E46"/>
            </a:solidFill>
            <a:prstDash val="solid"/>
          </a:ln>
        </p:spPr>
      </p:sp>
      <p:sp>
        <p:nvSpPr>
          <p:cNvPr id="5" name="Text 3"/>
          <p:cNvSpPr txBox="1"/>
          <p:nvPr/>
        </p:nvSpPr>
        <p:spPr>
          <a:xfrm>
            <a:off x="822960" y="1700784"/>
            <a:ext cx="2743200" cy="256032"/>
          </a:xfrm>
          <a:prstGeom prst="rect">
            <a:avLst/>
          </a:prstGeom>
          <a:noFill/>
          <a:ln/>
        </p:spPr>
        <p:txBody>
          <a:bodyPr wrap="square" lIns="0" tIns="0" rIns="0" bIns="0" rtlCol="0" anchor="ctr"/>
          <a:lstStyle/>
          <a:p>
            <a:pPr indent="0" marL="0">
              <a:buNone/>
            </a:pPr>
            <a:r>
              <a:rPr lang="en-US" sz="1050" b="1" dirty="0">
                <a:solidFill>
                  <a:srgbClr val="E8D6DB"/>
                </a:solidFill>
                <a:latin typeface="Calibri" pitchFamily="34" charset="0"/>
                <a:ea typeface="Calibri" pitchFamily="34" charset="-122"/>
                <a:cs typeface="Calibri" pitchFamily="34" charset="-120"/>
              </a:rPr>
              <a:t>Mission</a:t>
            </a:r>
            <a:endParaRPr lang="en-US" sz="1050" dirty="0"/>
          </a:p>
        </p:txBody>
      </p:sp>
      <p:sp>
        <p:nvSpPr>
          <p:cNvPr id="6" name="Text 4"/>
          <p:cNvSpPr txBox="1"/>
          <p:nvPr/>
        </p:nvSpPr>
        <p:spPr>
          <a:xfrm>
            <a:off x="822960" y="1975104"/>
            <a:ext cx="4846320" cy="54864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既存のワイン流通をアップデートする</a:t>
            </a:r>
            <a:endParaRPr lang="en-US" sz="2000" dirty="0"/>
          </a:p>
        </p:txBody>
      </p:sp>
      <p:sp>
        <p:nvSpPr>
          <p:cNvPr id="7" name="Shape 5"/>
          <p:cNvSpPr/>
          <p:nvPr/>
        </p:nvSpPr>
        <p:spPr>
          <a:xfrm>
            <a:off x="6227064" y="1572768"/>
            <a:ext cx="5394960" cy="1188720"/>
          </a:xfrm>
          <a:prstGeom prst="roundRect">
            <a:avLst>
              <a:gd name="adj" fmla="val 3846"/>
            </a:avLst>
          </a:prstGeom>
          <a:solidFill>
            <a:srgbClr val="F7F3F4"/>
          </a:solidFill>
          <a:ln w="9525">
            <a:solidFill>
              <a:srgbClr val="E4DADD"/>
            </a:solidFill>
            <a:prstDash val="solid"/>
          </a:ln>
        </p:spPr>
      </p:sp>
      <p:sp>
        <p:nvSpPr>
          <p:cNvPr id="8" name="Text 6"/>
          <p:cNvSpPr txBox="1"/>
          <p:nvPr/>
        </p:nvSpPr>
        <p:spPr>
          <a:xfrm>
            <a:off x="6483096" y="1700784"/>
            <a:ext cx="2743200" cy="256032"/>
          </a:xfrm>
          <a:prstGeom prst="rect">
            <a:avLst/>
          </a:prstGeom>
          <a:noFill/>
          <a:ln/>
        </p:spPr>
        <p:txBody>
          <a:bodyPr wrap="square" lIns="0" tIns="0" rIns="0" bIns="0" rtlCol="0" anchor="ctr"/>
          <a:lstStyle/>
          <a:p>
            <a:pPr indent="0" marL="0">
              <a:buNone/>
            </a:pPr>
            <a:r>
              <a:rPr lang="en-US" sz="1050" b="1" dirty="0">
                <a:solidFill>
                  <a:srgbClr val="B58B2A"/>
                </a:solidFill>
                <a:latin typeface="Calibri" pitchFamily="34" charset="0"/>
                <a:ea typeface="Calibri" pitchFamily="34" charset="-122"/>
                <a:cs typeface="Calibri" pitchFamily="34" charset="-120"/>
              </a:rPr>
              <a:t>Vision</a:t>
            </a:r>
            <a:endParaRPr lang="en-US" sz="1050" dirty="0"/>
          </a:p>
        </p:txBody>
      </p:sp>
      <p:sp>
        <p:nvSpPr>
          <p:cNvPr id="9" name="Text 7"/>
          <p:cNvSpPr txBox="1"/>
          <p:nvPr/>
        </p:nvSpPr>
        <p:spPr>
          <a:xfrm>
            <a:off x="6483096" y="1975104"/>
            <a:ext cx="4846320" cy="548640"/>
          </a:xfrm>
          <a:prstGeom prst="rect">
            <a:avLst/>
          </a:prstGeom>
          <a:noFill/>
          <a:ln/>
        </p:spPr>
        <p:txBody>
          <a:bodyPr wrap="square" lIns="0" tIns="0" rIns="0" bIns="0" rtlCol="0" anchor="ctr"/>
          <a:lstStyle/>
          <a:p>
            <a:pPr indent="0" marL="0">
              <a:lnSpc>
                <a:spcPts val="2600"/>
              </a:lnSpc>
              <a:buNone/>
            </a:pPr>
            <a:r>
              <a:rPr lang="en-US" sz="2000" b="1" dirty="0">
                <a:solidFill>
                  <a:srgbClr val="1F1A1C"/>
                </a:solidFill>
                <a:latin typeface="Cambria" pitchFamily="34" charset="0"/>
                <a:ea typeface="Cambria" pitchFamily="34" charset="-122"/>
                <a:cs typeface="Cambria" pitchFamily="34" charset="-120"/>
              </a:rPr>
              <a:t>全ての人にファインワインを</a:t>
            </a:r>
            <a:endParaRPr lang="en-US" sz="2000" dirty="0"/>
          </a:p>
        </p:txBody>
      </p:sp>
      <p:sp>
        <p:nvSpPr>
          <p:cNvPr id="10" name="Text 8"/>
          <p:cNvSpPr txBox="1"/>
          <p:nvPr/>
        </p:nvSpPr>
        <p:spPr>
          <a:xfrm>
            <a:off x="566928" y="2999232"/>
            <a:ext cx="11055096" cy="292608"/>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「Cloud Cave」― 5年以内に100億円相当のワインをクラウドワインリストへ</a:t>
            </a:r>
            <a:endParaRPr lang="en-US" sz="1500" dirty="0"/>
          </a:p>
        </p:txBody>
      </p:sp>
      <p:sp>
        <p:nvSpPr>
          <p:cNvPr id="11" name="Shape 9"/>
          <p:cNvSpPr/>
          <p:nvPr/>
        </p:nvSpPr>
        <p:spPr>
          <a:xfrm>
            <a:off x="566928" y="3401568"/>
            <a:ext cx="3520440" cy="1554480"/>
          </a:xfrm>
          <a:prstGeom prst="roundRect">
            <a:avLst>
              <a:gd name="adj" fmla="val 2941"/>
            </a:avLst>
          </a:prstGeom>
          <a:solidFill>
            <a:srgbClr val="FFFFFF"/>
          </a:solidFill>
          <a:ln w="9525">
            <a:solidFill>
              <a:srgbClr val="E4DADD"/>
            </a:solidFill>
            <a:prstDash val="solid"/>
          </a:ln>
        </p:spPr>
      </p:sp>
      <p:sp>
        <p:nvSpPr>
          <p:cNvPr id="12" name="Text 10"/>
          <p:cNvSpPr txBox="1"/>
          <p:nvPr/>
        </p:nvSpPr>
        <p:spPr>
          <a:xfrm>
            <a:off x="786384" y="3529584"/>
            <a:ext cx="31089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個人のお客様</a:t>
            </a:r>
            <a:endParaRPr lang="en-US" sz="1150" dirty="0"/>
          </a:p>
        </p:txBody>
      </p:sp>
      <p:sp>
        <p:nvSpPr>
          <p:cNvPr id="13" name="Text 11"/>
          <p:cNvSpPr txBox="1"/>
          <p:nvPr/>
        </p:nvSpPr>
        <p:spPr>
          <a:xfrm>
            <a:off x="786384" y="3822192"/>
            <a:ext cx="3127248" cy="1005840"/>
          </a:xfrm>
          <a:prstGeom prst="rect">
            <a:avLst/>
          </a:prstGeom>
          <a:noFill/>
          <a:ln/>
        </p:spPr>
        <p:txBody>
          <a:bodyPr wrap="square" lIns="0" tIns="0" rIns="0" bIns="0" rtlCol="0" anchor="ctr"/>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時価（インターネット最安値）でワインを入手でき、大手ECやオークションの中間マージンが不要になります。自己利用も贈答も、50万本の在庫にアクセスできます。</a:t>
            </a:r>
            <a:endParaRPr lang="en-US" sz="1000" dirty="0"/>
          </a:p>
        </p:txBody>
      </p:sp>
      <p:sp>
        <p:nvSpPr>
          <p:cNvPr id="14" name="Shape 12"/>
          <p:cNvSpPr/>
          <p:nvPr/>
        </p:nvSpPr>
        <p:spPr>
          <a:xfrm>
            <a:off x="4297680" y="3401568"/>
            <a:ext cx="3520440" cy="1554480"/>
          </a:xfrm>
          <a:prstGeom prst="roundRect">
            <a:avLst>
              <a:gd name="adj" fmla="val 2941"/>
            </a:avLst>
          </a:prstGeom>
          <a:solidFill>
            <a:srgbClr val="FFFFFF"/>
          </a:solidFill>
          <a:ln w="9525">
            <a:solidFill>
              <a:srgbClr val="E4DADD"/>
            </a:solidFill>
            <a:prstDash val="solid"/>
          </a:ln>
        </p:spPr>
      </p:sp>
      <p:sp>
        <p:nvSpPr>
          <p:cNvPr id="15" name="Text 13"/>
          <p:cNvSpPr txBox="1"/>
          <p:nvPr/>
        </p:nvSpPr>
        <p:spPr>
          <a:xfrm>
            <a:off x="4517136" y="3529584"/>
            <a:ext cx="31089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飲食店のお客様</a:t>
            </a:r>
            <a:endParaRPr lang="en-US" sz="1150" dirty="0"/>
          </a:p>
        </p:txBody>
      </p:sp>
      <p:sp>
        <p:nvSpPr>
          <p:cNvPr id="16" name="Text 14"/>
          <p:cNvSpPr txBox="1"/>
          <p:nvPr/>
        </p:nvSpPr>
        <p:spPr>
          <a:xfrm>
            <a:off x="4517136" y="3822192"/>
            <a:ext cx="3127248" cy="1005840"/>
          </a:xfrm>
          <a:prstGeom prst="rect">
            <a:avLst/>
          </a:prstGeom>
          <a:noFill/>
          <a:ln/>
        </p:spPr>
        <p:txBody>
          <a:bodyPr wrap="square" lIns="0" tIns="0" rIns="0" bIns="0" rtlCol="0" anchor="ctr"/>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高額なワインを店内に在庫しなくてもワインリストが華やぎます。購入した分だけのお支払いとなるため、キャッシュフローの面でも負担が軽くなります。</a:t>
            </a:r>
            <a:endParaRPr lang="en-US" sz="1000" dirty="0"/>
          </a:p>
        </p:txBody>
      </p:sp>
      <p:sp>
        <p:nvSpPr>
          <p:cNvPr id="17" name="Shape 15"/>
          <p:cNvSpPr/>
          <p:nvPr/>
        </p:nvSpPr>
        <p:spPr>
          <a:xfrm>
            <a:off x="8028432" y="3401568"/>
            <a:ext cx="3520440" cy="1554480"/>
          </a:xfrm>
          <a:prstGeom prst="roundRect">
            <a:avLst>
              <a:gd name="adj" fmla="val 2941"/>
            </a:avLst>
          </a:prstGeom>
          <a:solidFill>
            <a:srgbClr val="FFFFFF"/>
          </a:solidFill>
          <a:ln w="9525">
            <a:solidFill>
              <a:srgbClr val="E4DADD"/>
            </a:solidFill>
            <a:prstDash val="solid"/>
          </a:ln>
        </p:spPr>
      </p:sp>
      <p:sp>
        <p:nvSpPr>
          <p:cNvPr id="18" name="Text 16"/>
          <p:cNvSpPr txBox="1"/>
          <p:nvPr/>
        </p:nvSpPr>
        <p:spPr>
          <a:xfrm>
            <a:off x="8247888" y="3529584"/>
            <a:ext cx="31089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保管</a:t>
            </a:r>
            <a:endParaRPr lang="en-US" sz="1150" dirty="0"/>
          </a:p>
        </p:txBody>
      </p:sp>
      <p:sp>
        <p:nvSpPr>
          <p:cNvPr id="19" name="Text 17"/>
          <p:cNvSpPr txBox="1"/>
          <p:nvPr/>
        </p:nvSpPr>
        <p:spPr>
          <a:xfrm>
            <a:off x="8247888" y="3822192"/>
            <a:ext cx="3127248" cy="1005840"/>
          </a:xfrm>
          <a:prstGeom prst="rect">
            <a:avLst/>
          </a:prstGeom>
          <a:noFill/>
          <a:ln/>
        </p:spPr>
        <p:txBody>
          <a:bodyPr wrap="square" lIns="0" tIns="0" rIns="0" bIns="0" rtlCol="0" anchor="ctr"/>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ご自身のセラー代わりにお使いいただけます。いつでも、どこでも、安心・安全なファインワインを。</a:t>
            </a:r>
            <a:endParaRPr lang="en-US" sz="1000" dirty="0"/>
          </a:p>
        </p:txBody>
      </p:sp>
      <p:sp>
        <p:nvSpPr>
          <p:cNvPr id="20" name="Shape 18"/>
          <p:cNvSpPr/>
          <p:nvPr/>
        </p:nvSpPr>
        <p:spPr>
          <a:xfrm>
            <a:off x="566928" y="5138928"/>
            <a:ext cx="11055096" cy="658368"/>
          </a:xfrm>
          <a:prstGeom prst="roundRect">
            <a:avLst>
              <a:gd name="adj" fmla="val 5556"/>
            </a:avLst>
          </a:prstGeom>
          <a:solidFill>
            <a:srgbClr val="F7F3F4"/>
          </a:solidFill>
          <a:ln/>
        </p:spPr>
      </p:sp>
      <p:sp>
        <p:nvSpPr>
          <p:cNvPr id="21" name="Text 19"/>
          <p:cNvSpPr txBox="1"/>
          <p:nvPr/>
        </p:nvSpPr>
        <p:spPr>
          <a:xfrm>
            <a:off x="841248" y="5212080"/>
            <a:ext cx="10506456" cy="512064"/>
          </a:xfrm>
          <a:prstGeom prst="rect">
            <a:avLst/>
          </a:prstGeom>
          <a:noFill/>
          <a:ln/>
        </p:spPr>
        <p:txBody>
          <a:bodyPr wrap="square" lIns="0" tIns="0" rIns="0" bIns="0" rtlCol="0" anchor="ctr"/>
          <a:lstStyle/>
          <a:p>
            <a:pPr indent="0" marL="0">
              <a:buNone/>
            </a:pPr>
            <a:r>
              <a:rPr lang="en-US" sz="1150" dirty="0">
                <a:solidFill>
                  <a:srgbClr val="1F1A1C"/>
                </a:solidFill>
                <a:latin typeface="Calibri" pitchFamily="34" charset="0"/>
                <a:ea typeface="Calibri" pitchFamily="34" charset="-122"/>
                <a:cs typeface="Calibri" pitchFamily="34" charset="-120"/>
              </a:rPr>
              <a:t>ワインは、買って終わりのものではありません。預け、選び、分かち合い、そしてまた手放す。その一連の流れを、ひとつの仕組みの上に載せたいと考えています。</a:t>
            </a:r>
            <a:endParaRPr lang="en-US" sz="1150" dirty="0"/>
          </a:p>
        </p:txBody>
      </p:sp>
      <p:sp>
        <p:nvSpPr>
          <p:cNvPr id="22" name="Text 20"/>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3" name="Text 21"/>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MANAGEMENT</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経営陣紹介</a:t>
            </a:r>
            <a:endParaRPr lang="en-US" sz="2900" dirty="0"/>
          </a:p>
        </p:txBody>
      </p:sp>
      <p:sp>
        <p:nvSpPr>
          <p:cNvPr id="4" name="Shape 2"/>
          <p:cNvSpPr/>
          <p:nvPr/>
        </p:nvSpPr>
        <p:spPr>
          <a:xfrm>
            <a:off x="566928" y="1554480"/>
            <a:ext cx="3931920" cy="4114800"/>
          </a:xfrm>
          <a:prstGeom prst="roundRect">
            <a:avLst>
              <a:gd name="adj" fmla="val 1163"/>
            </a:avLst>
          </a:prstGeom>
          <a:solidFill>
            <a:srgbClr val="F7F3F4"/>
          </a:solidFill>
          <a:ln w="9525">
            <a:solidFill>
              <a:srgbClr val="E4DADD"/>
            </a:solidFill>
            <a:prstDash val="solid"/>
          </a:ln>
        </p:spPr>
      </p:sp>
      <p:sp>
        <p:nvSpPr>
          <p:cNvPr id="5" name="Text 3"/>
          <p:cNvSpPr txBox="1"/>
          <p:nvPr/>
        </p:nvSpPr>
        <p:spPr>
          <a:xfrm>
            <a:off x="841248" y="1755648"/>
            <a:ext cx="3383280" cy="402336"/>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中野 邦人</a:t>
            </a:r>
            <a:endParaRPr lang="en-US" sz="2400" dirty="0"/>
          </a:p>
        </p:txBody>
      </p:sp>
      <p:sp>
        <p:nvSpPr>
          <p:cNvPr id="6" name="Text 4"/>
          <p:cNvSpPr txBox="1"/>
          <p:nvPr/>
        </p:nvSpPr>
        <p:spPr>
          <a:xfrm>
            <a:off x="841248" y="2157984"/>
            <a:ext cx="3383280" cy="237744"/>
          </a:xfrm>
          <a:prstGeom prst="rect">
            <a:avLst/>
          </a:prstGeom>
          <a:noFill/>
          <a:ln/>
        </p:spPr>
        <p:txBody>
          <a:bodyPr wrap="square" lIns="0" tIns="0" rIns="0" bIns="0" rtlCol="0" anchor="ctr"/>
          <a:lstStyle/>
          <a:p>
            <a:pPr indent="0" marL="0">
              <a:buNone/>
            </a:pPr>
            <a:r>
              <a:rPr lang="en-US" sz="1100" dirty="0">
                <a:solidFill>
                  <a:srgbClr val="B58B2A"/>
                </a:solidFill>
                <a:latin typeface="Calibri" pitchFamily="34" charset="0"/>
                <a:ea typeface="Calibri" pitchFamily="34" charset="-122"/>
                <a:cs typeface="Calibri" pitchFamily="34" charset="-120"/>
              </a:rPr>
              <a:t>Kunihito Nakano</a:t>
            </a:r>
            <a:endParaRPr lang="en-US" sz="1100" dirty="0"/>
          </a:p>
        </p:txBody>
      </p:sp>
      <p:sp>
        <p:nvSpPr>
          <p:cNvPr id="7" name="Text 5"/>
          <p:cNvSpPr txBox="1"/>
          <p:nvPr/>
        </p:nvSpPr>
        <p:spPr>
          <a:xfrm>
            <a:off x="841248" y="2395728"/>
            <a:ext cx="3383280" cy="237744"/>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代表取締役</a:t>
            </a:r>
            <a:endParaRPr lang="en-US" sz="1100" dirty="0"/>
          </a:p>
        </p:txBody>
      </p:sp>
      <p:sp>
        <p:nvSpPr>
          <p:cNvPr id="8" name="Text 6"/>
          <p:cNvSpPr txBox="1"/>
          <p:nvPr/>
        </p:nvSpPr>
        <p:spPr>
          <a:xfrm>
            <a:off x="841248" y="2743200"/>
            <a:ext cx="3383280" cy="457200"/>
          </a:xfrm>
          <a:prstGeom prst="rect">
            <a:avLst/>
          </a:prstGeom>
          <a:noFill/>
          <a:ln/>
        </p:spPr>
        <p:txBody>
          <a:bodyPr wrap="square" lIns="0" tIns="0" rIns="0" bIns="0" rtlCol="0" anchor="ctr"/>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1979年3月13日生　東洋大学 工学部卒業</a:t>
            </a:r>
            <a:endParaRPr lang="en-US" sz="1050" dirty="0"/>
          </a:p>
        </p:txBody>
      </p:sp>
      <p:sp>
        <p:nvSpPr>
          <p:cNvPr id="9" name="Text 7"/>
          <p:cNvSpPr txBox="1"/>
          <p:nvPr/>
        </p:nvSpPr>
        <p:spPr>
          <a:xfrm>
            <a:off x="841248" y="3255264"/>
            <a:ext cx="3401568" cy="713232"/>
          </a:xfrm>
          <a:prstGeom prst="rect">
            <a:avLst/>
          </a:prstGeom>
          <a:noFill/>
          <a:ln/>
        </p:spPr>
        <p:txBody>
          <a:bodyPr wrap="square" lIns="0" tIns="0" rIns="0" bIns="0" rtlCol="0" anchor="ctr"/>
          <a:lstStyle/>
          <a:p>
            <a:pPr indent="0" marL="0">
              <a:lnSpc>
                <a:spcPts val="1350"/>
              </a:lnSpc>
              <a:buNone/>
            </a:pPr>
            <a:r>
              <a:rPr lang="en-US" sz="1000" dirty="0">
                <a:solidFill>
                  <a:srgbClr val="6E6368"/>
                </a:solidFill>
                <a:latin typeface="Calibri" pitchFamily="34" charset="0"/>
                <a:ea typeface="Calibri" pitchFamily="34" charset="-122"/>
                <a:cs typeface="Calibri" pitchFamily="34" charset="-120"/>
              </a:rPr>
              <a:t>・不動産投資・証券化、富裕層向け資産コンサルティングを経て、2008年に株式会社あどばるを設立。</a:t>
            </a:r>
            <a:endParaRPr lang="en-US" sz="1000" dirty="0"/>
          </a:p>
        </p:txBody>
      </p:sp>
      <p:sp>
        <p:nvSpPr>
          <p:cNvPr id="10" name="Text 8"/>
          <p:cNvSpPr txBox="1"/>
          <p:nvPr/>
        </p:nvSpPr>
        <p:spPr>
          <a:xfrm>
            <a:off x="841248" y="4005072"/>
            <a:ext cx="3401568" cy="713232"/>
          </a:xfrm>
          <a:prstGeom prst="rect">
            <a:avLst/>
          </a:prstGeom>
          <a:noFill/>
          <a:ln/>
        </p:spPr>
        <p:txBody>
          <a:bodyPr wrap="square" lIns="0" tIns="0" rIns="0" bIns="0" rtlCol="0" anchor="ctr"/>
          <a:lstStyle/>
          <a:p>
            <a:pPr indent="0" marL="0">
              <a:lnSpc>
                <a:spcPts val="1350"/>
              </a:lnSpc>
              <a:buNone/>
            </a:pPr>
            <a:r>
              <a:rPr lang="en-US" sz="1000" dirty="0">
                <a:solidFill>
                  <a:srgbClr val="6E6368"/>
                </a:solidFill>
                <a:latin typeface="Calibri" pitchFamily="34" charset="0"/>
                <a:ea typeface="Calibri" pitchFamily="34" charset="-122"/>
                <a:cs typeface="Calibri" pitchFamily="34" charset="-120"/>
              </a:rPr>
              <a:t>・スペースシェアリング事業として、飲食・宿泊・会議の時間貸しを事業化。</a:t>
            </a:r>
            <a:endParaRPr lang="en-US" sz="1000" dirty="0"/>
          </a:p>
        </p:txBody>
      </p:sp>
      <p:sp>
        <p:nvSpPr>
          <p:cNvPr id="11" name="Text 9"/>
          <p:cNvSpPr txBox="1"/>
          <p:nvPr/>
        </p:nvSpPr>
        <p:spPr>
          <a:xfrm>
            <a:off x="841248" y="4754880"/>
            <a:ext cx="3401568" cy="713232"/>
          </a:xfrm>
          <a:prstGeom prst="rect">
            <a:avLst/>
          </a:prstGeom>
          <a:noFill/>
          <a:ln/>
        </p:spPr>
        <p:txBody>
          <a:bodyPr wrap="square" lIns="0" tIns="0" rIns="0" bIns="0" rtlCol="0" anchor="ctr"/>
          <a:lstStyle/>
          <a:p>
            <a:pPr indent="0" marL="0">
              <a:lnSpc>
                <a:spcPts val="1350"/>
              </a:lnSpc>
              <a:buNone/>
            </a:pPr>
            <a:r>
              <a:rPr lang="en-US" sz="1000" dirty="0">
                <a:solidFill>
                  <a:srgbClr val="6E6368"/>
                </a:solidFill>
                <a:latin typeface="Calibri" pitchFamily="34" charset="0"/>
                <a:ea typeface="Calibri" pitchFamily="34" charset="-122"/>
                <a:cs typeface="Calibri" pitchFamily="34" charset="-120"/>
              </a:rPr>
              <a:t>・あどばるを含め4社を上場企業グループ入りさせ、現在はWineBank Groupを拡大中。</a:t>
            </a:r>
            <a:endParaRPr lang="en-US" sz="1000" dirty="0"/>
          </a:p>
        </p:txBody>
      </p:sp>
      <p:sp>
        <p:nvSpPr>
          <p:cNvPr id="12" name="Text 10"/>
          <p:cNvSpPr txBox="1"/>
          <p:nvPr/>
        </p:nvSpPr>
        <p:spPr>
          <a:xfrm>
            <a:off x="4754880" y="1609344"/>
            <a:ext cx="2743200" cy="256032"/>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経歴</a:t>
            </a:r>
            <a:endParaRPr lang="en-US" sz="1000" dirty="0"/>
          </a:p>
        </p:txBody>
      </p:sp>
      <p:sp>
        <p:nvSpPr>
          <p:cNvPr id="13" name="Text 11"/>
          <p:cNvSpPr txBox="1"/>
          <p:nvPr/>
        </p:nvSpPr>
        <p:spPr>
          <a:xfrm>
            <a:off x="4754880" y="192024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2001-2008</a:t>
            </a:r>
            <a:endParaRPr lang="en-US" sz="1300" dirty="0"/>
          </a:p>
        </p:txBody>
      </p:sp>
      <p:sp>
        <p:nvSpPr>
          <p:cNvPr id="14" name="Text 12"/>
          <p:cNvSpPr txBox="1"/>
          <p:nvPr/>
        </p:nvSpPr>
        <p:spPr>
          <a:xfrm>
            <a:off x="5943600" y="193852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不動産投資・証券化（株式会社モリモト）、富裕層向け資産コンサルティング（株式会社LEXINGTON）を経験</a:t>
            </a:r>
            <a:endParaRPr lang="en-US" sz="1050" dirty="0"/>
          </a:p>
        </p:txBody>
      </p:sp>
      <p:sp>
        <p:nvSpPr>
          <p:cNvPr id="15" name="Text 13"/>
          <p:cNvSpPr txBox="1"/>
          <p:nvPr/>
        </p:nvSpPr>
        <p:spPr>
          <a:xfrm>
            <a:off x="4754880" y="256032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2006</a:t>
            </a:r>
            <a:endParaRPr lang="en-US" sz="1300" dirty="0"/>
          </a:p>
        </p:txBody>
      </p:sp>
      <p:sp>
        <p:nvSpPr>
          <p:cNvPr id="16" name="Text 14"/>
          <p:cNvSpPr txBox="1"/>
          <p:nvPr/>
        </p:nvSpPr>
        <p:spPr>
          <a:xfrm>
            <a:off x="5943600" y="257860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株式会社Seven Signatures 取締役。ハワイのTrump Tower Waikikiプロジェクトに関わり、1日あたりの売上高でギネス記録を樹立</a:t>
            </a:r>
            <a:endParaRPr lang="en-US" sz="1050" dirty="0"/>
          </a:p>
        </p:txBody>
      </p:sp>
      <p:sp>
        <p:nvSpPr>
          <p:cNvPr id="17" name="Text 15"/>
          <p:cNvSpPr txBox="1"/>
          <p:nvPr/>
        </p:nvSpPr>
        <p:spPr>
          <a:xfrm>
            <a:off x="4754880" y="320040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2008</a:t>
            </a:r>
            <a:endParaRPr lang="en-US" sz="1300" dirty="0"/>
          </a:p>
        </p:txBody>
      </p:sp>
      <p:sp>
        <p:nvSpPr>
          <p:cNvPr id="18" name="Text 16"/>
          <p:cNvSpPr txBox="1"/>
          <p:nvPr/>
        </p:nvSpPr>
        <p:spPr>
          <a:xfrm>
            <a:off x="5943600" y="321868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株式会社あどばる 設立、代表取締役社長</a:t>
            </a:r>
            <a:endParaRPr lang="en-US" sz="1050" dirty="0"/>
          </a:p>
        </p:txBody>
      </p:sp>
      <p:sp>
        <p:nvSpPr>
          <p:cNvPr id="19" name="Text 17"/>
          <p:cNvSpPr txBox="1"/>
          <p:nvPr/>
        </p:nvSpPr>
        <p:spPr>
          <a:xfrm>
            <a:off x="4754880" y="384048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2020</a:t>
            </a:r>
            <a:endParaRPr lang="en-US" sz="1300" dirty="0"/>
          </a:p>
        </p:txBody>
      </p:sp>
      <p:sp>
        <p:nvSpPr>
          <p:cNvPr id="20" name="Text 18"/>
          <p:cNvSpPr txBox="1"/>
          <p:nvPr/>
        </p:nvSpPr>
        <p:spPr>
          <a:xfrm>
            <a:off x="5943600" y="385876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株式会社WineBankをM&amp;Aにて100%取得、代表取締役に就任</a:t>
            </a:r>
            <a:endParaRPr lang="en-US" sz="1050" dirty="0"/>
          </a:p>
        </p:txBody>
      </p:sp>
      <p:sp>
        <p:nvSpPr>
          <p:cNvPr id="21" name="Text 19"/>
          <p:cNvSpPr txBox="1"/>
          <p:nvPr/>
        </p:nvSpPr>
        <p:spPr>
          <a:xfrm>
            <a:off x="4754880" y="448056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2021</a:t>
            </a:r>
            <a:endParaRPr lang="en-US" sz="1300" dirty="0"/>
          </a:p>
        </p:txBody>
      </p:sp>
      <p:sp>
        <p:nvSpPr>
          <p:cNvPr id="22" name="Text 20"/>
          <p:cNvSpPr txBox="1"/>
          <p:nvPr/>
        </p:nvSpPr>
        <p:spPr>
          <a:xfrm>
            <a:off x="5943600" y="449884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株式会社あどばるが東証プライム上場・ビジョングループ入り（50.1%）</a:t>
            </a:r>
            <a:endParaRPr lang="en-US" sz="1050" dirty="0"/>
          </a:p>
        </p:txBody>
      </p:sp>
      <p:sp>
        <p:nvSpPr>
          <p:cNvPr id="23" name="Text 21"/>
          <p:cNvSpPr txBox="1"/>
          <p:nvPr/>
        </p:nvSpPr>
        <p:spPr>
          <a:xfrm>
            <a:off x="4754880" y="5120640"/>
            <a:ext cx="1097280" cy="237744"/>
          </a:xfrm>
          <a:prstGeom prst="rect">
            <a:avLst/>
          </a:prstGeom>
          <a:noFill/>
          <a:ln/>
        </p:spPr>
        <p:txBody>
          <a:bodyPr wrap="square" lIns="0" tIns="0" rIns="0" bIns="0" rtlCol="0" anchor="t"/>
          <a:lstStyle/>
          <a:p>
            <a:pPr indent="0" marL="0">
              <a:buNone/>
            </a:pPr>
            <a:r>
              <a:rPr lang="en-US" sz="1300" b="1" dirty="0">
                <a:solidFill>
                  <a:srgbClr val="6D2E46"/>
                </a:solidFill>
                <a:latin typeface="Cambria" pitchFamily="34" charset="0"/>
                <a:ea typeface="Cambria" pitchFamily="34" charset="-122"/>
                <a:cs typeface="Cambria" pitchFamily="34" charset="-120"/>
              </a:rPr>
              <a:t>2024</a:t>
            </a:r>
            <a:endParaRPr lang="en-US" sz="1300" dirty="0"/>
          </a:p>
        </p:txBody>
      </p:sp>
      <p:sp>
        <p:nvSpPr>
          <p:cNvPr id="24" name="Text 22"/>
          <p:cNvSpPr txBox="1"/>
          <p:nvPr/>
        </p:nvSpPr>
        <p:spPr>
          <a:xfrm>
            <a:off x="5943600" y="5138928"/>
            <a:ext cx="5669280" cy="566928"/>
          </a:xfrm>
          <a:prstGeom prst="rect">
            <a:avLst/>
          </a:prstGeom>
          <a:noFill/>
          <a:ln/>
        </p:spPr>
        <p:txBody>
          <a:bodyPr wrap="square" lIns="0" tIns="0" rIns="0" bIns="0" rtlCol="0" anchor="t"/>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株式会社アピシウスをM&amp;Aにて100%取得、代表取締役に就任</a:t>
            </a:r>
            <a:endParaRPr lang="en-US" sz="1050" dirty="0"/>
          </a:p>
        </p:txBody>
      </p:sp>
      <p:sp>
        <p:nvSpPr>
          <p:cNvPr id="25" name="Text 23"/>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6" name="Text 2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HISTORY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会社沿革</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1970年に北海道札幌で創業。1996年からワイン販売に注力し、2020年の承継を経て、ワインとファインダイニングの二軸へ。</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5096" cy="914400"/>
        </p:xfrm>
        <a:graphic>
          <a:graphicData uri="http://schemas.openxmlformats.org/drawingml/2006/table">
            <a:tbl>
              <a:tblPr/>
              <a:tblGrid>
                <a:gridCol w="1005840"/>
                <a:gridCol w="8037576"/>
                <a:gridCol w="201168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できごと</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領域</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1970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北海道札幌で有限会社中村 開業</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ワイン</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1996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ワイン販売に注力</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ワイン</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2007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楽天市場に出店（現在はYahooショッピング、Terrada Wine Marketにも出店）</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ワインEC</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2011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ラ・ブリック（レストラン）、カーヴ・ド・ブリック（ワインショップ）オープン</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飲食</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有限会社中村をM&amp;A。現経営陣が承継</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Wine Cave Roppongi オープン／ワインファンド1号 開始／株式会社WineBankに社名変更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飲食・WineTech</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ワイン投資プラットフォーム「WineBank」リリース／所有ワイン登録サービス リリース</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WineTech</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株式会社アピシウスを100%取得</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飲食</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Bistro &amp; Bar WineBank terrace（ミッドタウン六本木）オープン</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飲食</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2027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ブラッスリー ティエリー・マルクス 開業予定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6E6368"/>
                          </a:solidFill>
                          <a:latin typeface="Calibri" pitchFamily="34" charset="0"/>
                          <a:ea typeface="Calibri" pitchFamily="34" charset="-122"/>
                          <a:cs typeface="Calibri" pitchFamily="34" charset="-120"/>
                        </a:rPr>
                        <a:t>飲食</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5888736"/>
            <a:ext cx="11055096"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 2021年・2022年・2023年に第三者割当増資を実施。累計調達額は9.5億円。</a:t>
            </a:r>
            <a:endParaRPr lang="en-US" sz="950" dirty="0"/>
          </a:p>
        </p:txBody>
      </p:sp>
      <p:sp>
        <p:nvSpPr>
          <p:cNvPr id="7" name="Text 4"/>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8" name="Text 5"/>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SHAREHOLDERS</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株主および主要提携先</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大手事業会社や投資家の皆様にご支援いただいています。</a:t>
            </a:r>
            <a:endParaRPr lang="en-US" sz="1250" dirty="0"/>
          </a:p>
        </p:txBody>
      </p:sp>
      <p:sp>
        <p:nvSpPr>
          <p:cNvPr id="5" name="Shape 3"/>
          <p:cNvSpPr/>
          <p:nvPr/>
        </p:nvSpPr>
        <p:spPr>
          <a:xfrm>
            <a:off x="566928" y="1627632"/>
            <a:ext cx="2560320" cy="1371600"/>
          </a:xfrm>
          <a:prstGeom prst="roundRect">
            <a:avLst>
              <a:gd name="adj" fmla="val 3333"/>
            </a:avLst>
          </a:prstGeom>
          <a:solidFill>
            <a:srgbClr val="FFFFFF"/>
          </a:solidFill>
          <a:ln w="9525">
            <a:solidFill>
              <a:srgbClr val="E4DADD"/>
            </a:solidFill>
            <a:prstDash val="solid"/>
          </a:ln>
        </p:spPr>
      </p:sp>
      <p:sp>
        <p:nvSpPr>
          <p:cNvPr id="6" name="Text 4"/>
          <p:cNvSpPr txBox="1"/>
          <p:nvPr/>
        </p:nvSpPr>
        <p:spPr>
          <a:xfrm>
            <a:off x="768096" y="1773936"/>
            <a:ext cx="2194560" cy="548640"/>
          </a:xfrm>
          <a:prstGeom prst="rect">
            <a:avLst/>
          </a:prstGeom>
          <a:noFill/>
          <a:ln/>
        </p:spPr>
        <p:txBody>
          <a:bodyPr wrap="square" lIns="0" tIns="0" rIns="0" bIns="0" rtlCol="0" anchor="ctr"/>
          <a:lstStyle/>
          <a:p>
            <a:pPr indent="0" marL="0">
              <a:lnSpc>
                <a:spcPts val="1500"/>
              </a:lnSpc>
              <a:buNone/>
            </a:pPr>
            <a:r>
              <a:rPr lang="en-US" sz="1150" b="1" dirty="0">
                <a:solidFill>
                  <a:srgbClr val="1F1A1C"/>
                </a:solidFill>
                <a:latin typeface="Calibri" pitchFamily="34" charset="0"/>
                <a:ea typeface="Calibri" pitchFamily="34" charset="-122"/>
                <a:cs typeface="Calibri" pitchFamily="34" charset="-120"/>
              </a:rPr>
              <a:t>マネーフォワード</a:t>
            </a:r>
            <a:endParaRPr lang="en-US" sz="1150" dirty="0"/>
          </a:p>
          <a:p>
            <a:pPr indent="0" marL="0">
              <a:lnSpc>
                <a:spcPts val="1500"/>
              </a:lnSpc>
              <a:buNone/>
            </a:pPr>
            <a:r>
              <a:rPr lang="en-US" sz="1150" b="1" dirty="0">
                <a:solidFill>
                  <a:srgbClr val="1F1A1C"/>
                </a:solidFill>
                <a:latin typeface="Calibri" pitchFamily="34" charset="0"/>
                <a:ea typeface="Calibri" pitchFamily="34" charset="-122"/>
                <a:cs typeface="Calibri" pitchFamily="34" charset="-120"/>
              </a:rPr>
              <a:t>ベンチャーパートナーズ</a:t>
            </a:r>
            <a:endParaRPr lang="en-US" sz="1150" dirty="0"/>
          </a:p>
        </p:txBody>
      </p:sp>
      <p:sp>
        <p:nvSpPr>
          <p:cNvPr id="7" name="Text 5"/>
          <p:cNvSpPr txBox="1"/>
          <p:nvPr/>
        </p:nvSpPr>
        <p:spPr>
          <a:xfrm>
            <a:off x="768096" y="2395728"/>
            <a:ext cx="2231136" cy="493776"/>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東証プライム上場・マネーフォワードグループ</a:t>
            </a:r>
            <a:endParaRPr lang="en-US" sz="950" dirty="0"/>
          </a:p>
        </p:txBody>
      </p:sp>
      <p:sp>
        <p:nvSpPr>
          <p:cNvPr id="8" name="Shape 6"/>
          <p:cNvSpPr/>
          <p:nvPr/>
        </p:nvSpPr>
        <p:spPr>
          <a:xfrm>
            <a:off x="3355848" y="1627632"/>
            <a:ext cx="2560320" cy="1371600"/>
          </a:xfrm>
          <a:prstGeom prst="roundRect">
            <a:avLst>
              <a:gd name="adj" fmla="val 3333"/>
            </a:avLst>
          </a:prstGeom>
          <a:solidFill>
            <a:srgbClr val="FFFFFF"/>
          </a:solidFill>
          <a:ln w="9525">
            <a:solidFill>
              <a:srgbClr val="E4DADD"/>
            </a:solidFill>
            <a:prstDash val="solid"/>
          </a:ln>
        </p:spPr>
      </p:sp>
      <p:sp>
        <p:nvSpPr>
          <p:cNvPr id="9" name="Text 7"/>
          <p:cNvSpPr txBox="1"/>
          <p:nvPr/>
        </p:nvSpPr>
        <p:spPr>
          <a:xfrm>
            <a:off x="3557016" y="1773936"/>
            <a:ext cx="2194560" cy="548640"/>
          </a:xfrm>
          <a:prstGeom prst="rect">
            <a:avLst/>
          </a:prstGeom>
          <a:noFill/>
          <a:ln/>
        </p:spPr>
        <p:txBody>
          <a:bodyPr wrap="square" lIns="0" tIns="0" rIns="0" bIns="0" rtlCol="0" anchor="ctr"/>
          <a:lstStyle/>
          <a:p>
            <a:pPr indent="0" marL="0">
              <a:lnSpc>
                <a:spcPts val="1500"/>
              </a:lnSpc>
              <a:buNone/>
            </a:pPr>
            <a:r>
              <a:rPr lang="en-US" sz="1150" b="1" dirty="0">
                <a:solidFill>
                  <a:srgbClr val="1F1A1C"/>
                </a:solidFill>
                <a:latin typeface="Calibri" pitchFamily="34" charset="0"/>
                <a:ea typeface="Calibri" pitchFamily="34" charset="-122"/>
                <a:cs typeface="Calibri" pitchFamily="34" charset="-120"/>
              </a:rPr>
              <a:t>株式会社ベクトル</a:t>
            </a:r>
            <a:endParaRPr lang="en-US" sz="1150" dirty="0"/>
          </a:p>
        </p:txBody>
      </p:sp>
      <p:sp>
        <p:nvSpPr>
          <p:cNvPr id="10" name="Text 8"/>
          <p:cNvSpPr txBox="1"/>
          <p:nvPr/>
        </p:nvSpPr>
        <p:spPr>
          <a:xfrm>
            <a:off x="3557016" y="2395728"/>
            <a:ext cx="2231136" cy="493776"/>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東証プライム上場</a:t>
            </a:r>
            <a:endParaRPr lang="en-US" sz="950" dirty="0"/>
          </a:p>
        </p:txBody>
      </p:sp>
      <p:sp>
        <p:nvSpPr>
          <p:cNvPr id="11" name="Shape 9"/>
          <p:cNvSpPr/>
          <p:nvPr/>
        </p:nvSpPr>
        <p:spPr>
          <a:xfrm>
            <a:off x="6144768" y="1627632"/>
            <a:ext cx="2560320" cy="1371600"/>
          </a:xfrm>
          <a:prstGeom prst="roundRect">
            <a:avLst>
              <a:gd name="adj" fmla="val 3333"/>
            </a:avLst>
          </a:prstGeom>
          <a:solidFill>
            <a:srgbClr val="FFFFFF"/>
          </a:solidFill>
          <a:ln w="9525">
            <a:solidFill>
              <a:srgbClr val="E4DADD"/>
            </a:solidFill>
            <a:prstDash val="solid"/>
          </a:ln>
        </p:spPr>
      </p:sp>
      <p:sp>
        <p:nvSpPr>
          <p:cNvPr id="12" name="Text 10"/>
          <p:cNvSpPr txBox="1"/>
          <p:nvPr/>
        </p:nvSpPr>
        <p:spPr>
          <a:xfrm>
            <a:off x="6345936" y="1773936"/>
            <a:ext cx="2194560" cy="548640"/>
          </a:xfrm>
          <a:prstGeom prst="rect">
            <a:avLst/>
          </a:prstGeom>
          <a:noFill/>
          <a:ln/>
        </p:spPr>
        <p:txBody>
          <a:bodyPr wrap="square" lIns="0" tIns="0" rIns="0" bIns="0" rtlCol="0" anchor="ctr"/>
          <a:lstStyle/>
          <a:p>
            <a:pPr indent="0" marL="0">
              <a:lnSpc>
                <a:spcPts val="1500"/>
              </a:lnSpc>
              <a:buNone/>
            </a:pPr>
            <a:r>
              <a:rPr lang="en-US" sz="1150" b="1" dirty="0">
                <a:solidFill>
                  <a:srgbClr val="1F1A1C"/>
                </a:solidFill>
                <a:latin typeface="Calibri" pitchFamily="34" charset="0"/>
                <a:ea typeface="Calibri" pitchFamily="34" charset="-122"/>
                <a:cs typeface="Calibri" pitchFamily="34" charset="-120"/>
              </a:rPr>
              <a:t>寺田倉庫株式会社</a:t>
            </a:r>
            <a:endParaRPr lang="en-US" sz="1150" dirty="0"/>
          </a:p>
        </p:txBody>
      </p:sp>
      <p:sp>
        <p:nvSpPr>
          <p:cNvPr id="13" name="Text 11"/>
          <p:cNvSpPr txBox="1"/>
          <p:nvPr/>
        </p:nvSpPr>
        <p:spPr>
          <a:xfrm>
            <a:off x="6345936" y="2395728"/>
            <a:ext cx="2231136" cy="493776"/>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独立系最大の倉庫会社</a:t>
            </a:r>
            <a:endParaRPr lang="en-US" sz="950" dirty="0"/>
          </a:p>
        </p:txBody>
      </p:sp>
      <p:sp>
        <p:nvSpPr>
          <p:cNvPr id="14" name="Shape 12"/>
          <p:cNvSpPr/>
          <p:nvPr/>
        </p:nvSpPr>
        <p:spPr>
          <a:xfrm>
            <a:off x="8933688" y="1627632"/>
            <a:ext cx="2560320" cy="1371600"/>
          </a:xfrm>
          <a:prstGeom prst="roundRect">
            <a:avLst>
              <a:gd name="adj" fmla="val 3333"/>
            </a:avLst>
          </a:prstGeom>
          <a:solidFill>
            <a:srgbClr val="FFFFFF"/>
          </a:solidFill>
          <a:ln w="9525">
            <a:solidFill>
              <a:srgbClr val="E4DADD"/>
            </a:solidFill>
            <a:prstDash val="solid"/>
          </a:ln>
        </p:spPr>
      </p:sp>
      <p:sp>
        <p:nvSpPr>
          <p:cNvPr id="15" name="Text 13"/>
          <p:cNvSpPr txBox="1"/>
          <p:nvPr/>
        </p:nvSpPr>
        <p:spPr>
          <a:xfrm>
            <a:off x="9134856" y="1773936"/>
            <a:ext cx="2194560" cy="548640"/>
          </a:xfrm>
          <a:prstGeom prst="rect">
            <a:avLst/>
          </a:prstGeom>
          <a:noFill/>
          <a:ln/>
        </p:spPr>
        <p:txBody>
          <a:bodyPr wrap="square" lIns="0" tIns="0" rIns="0" bIns="0" rtlCol="0" anchor="ctr"/>
          <a:lstStyle/>
          <a:p>
            <a:pPr indent="0" marL="0">
              <a:lnSpc>
                <a:spcPts val="1500"/>
              </a:lnSpc>
              <a:buNone/>
            </a:pPr>
            <a:r>
              <a:rPr lang="en-US" sz="1150" b="1" dirty="0">
                <a:solidFill>
                  <a:srgbClr val="1F1A1C"/>
                </a:solidFill>
                <a:latin typeface="Calibri" pitchFamily="34" charset="0"/>
                <a:ea typeface="Calibri" pitchFamily="34" charset="-122"/>
                <a:cs typeface="Calibri" pitchFamily="34" charset="-120"/>
              </a:rPr>
              <a:t>株式会社PrivateBANK</a:t>
            </a:r>
            <a:endParaRPr lang="en-US" sz="1150" dirty="0"/>
          </a:p>
        </p:txBody>
      </p:sp>
      <p:sp>
        <p:nvSpPr>
          <p:cNvPr id="16" name="Text 14"/>
          <p:cNvSpPr txBox="1"/>
          <p:nvPr/>
        </p:nvSpPr>
        <p:spPr>
          <a:xfrm>
            <a:off x="9134856" y="2395728"/>
            <a:ext cx="2231136" cy="493776"/>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超富裕層向けファミリーオフィス</a:t>
            </a:r>
            <a:endParaRPr lang="en-US" sz="950" dirty="0"/>
          </a:p>
        </p:txBody>
      </p:sp>
      <p:sp>
        <p:nvSpPr>
          <p:cNvPr id="17" name="Shape 15"/>
          <p:cNvSpPr/>
          <p:nvPr/>
        </p:nvSpPr>
        <p:spPr>
          <a:xfrm>
            <a:off x="566928" y="3255264"/>
            <a:ext cx="3520440" cy="1133856"/>
          </a:xfrm>
          <a:prstGeom prst="roundRect">
            <a:avLst>
              <a:gd name="adj" fmla="val 4032"/>
            </a:avLst>
          </a:prstGeom>
          <a:solidFill>
            <a:srgbClr val="F7F3F4"/>
          </a:solidFill>
          <a:ln w="9525">
            <a:solidFill>
              <a:srgbClr val="E4DADD"/>
            </a:solidFill>
            <a:prstDash val="solid"/>
          </a:ln>
        </p:spPr>
      </p:sp>
      <p:sp>
        <p:nvSpPr>
          <p:cNvPr id="18" name="Text 16"/>
          <p:cNvSpPr txBox="1"/>
          <p:nvPr/>
        </p:nvSpPr>
        <p:spPr>
          <a:xfrm>
            <a:off x="786384" y="3383280"/>
            <a:ext cx="3108960" cy="219456"/>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累計調達額</a:t>
            </a:r>
            <a:endParaRPr lang="en-US" sz="1000" dirty="0"/>
          </a:p>
        </p:txBody>
      </p:sp>
      <p:sp>
        <p:nvSpPr>
          <p:cNvPr id="19" name="Text 17"/>
          <p:cNvSpPr txBox="1"/>
          <p:nvPr/>
        </p:nvSpPr>
        <p:spPr>
          <a:xfrm>
            <a:off x="786384" y="3602736"/>
            <a:ext cx="310896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9.5億円</a:t>
            </a:r>
            <a:endParaRPr lang="en-US" sz="2600" dirty="0"/>
          </a:p>
        </p:txBody>
      </p:sp>
      <p:sp>
        <p:nvSpPr>
          <p:cNvPr id="20" name="Shape 18"/>
          <p:cNvSpPr/>
          <p:nvPr/>
        </p:nvSpPr>
        <p:spPr>
          <a:xfrm>
            <a:off x="4297680" y="3255264"/>
            <a:ext cx="3520440" cy="1133856"/>
          </a:xfrm>
          <a:prstGeom prst="roundRect">
            <a:avLst>
              <a:gd name="adj" fmla="val 4032"/>
            </a:avLst>
          </a:prstGeom>
          <a:solidFill>
            <a:srgbClr val="6D2E46"/>
          </a:solidFill>
          <a:ln w="9525">
            <a:solidFill>
              <a:srgbClr val="6D2E46"/>
            </a:solidFill>
            <a:prstDash val="solid"/>
          </a:ln>
        </p:spPr>
      </p:sp>
      <p:sp>
        <p:nvSpPr>
          <p:cNvPr id="21" name="Text 19"/>
          <p:cNvSpPr txBox="1"/>
          <p:nvPr/>
        </p:nvSpPr>
        <p:spPr>
          <a:xfrm>
            <a:off x="4517136" y="3383280"/>
            <a:ext cx="3108960" cy="219456"/>
          </a:xfrm>
          <a:prstGeom prst="rect">
            <a:avLst/>
          </a:prstGeom>
          <a:noFill/>
          <a:ln/>
        </p:spPr>
        <p:txBody>
          <a:bodyPr wrap="square" lIns="0" tIns="0" rIns="0" bIns="0" rtlCol="0" anchor="ctr"/>
          <a:lstStyle/>
          <a:p>
            <a:pPr indent="0" marL="0">
              <a:buNone/>
            </a:pPr>
            <a:r>
              <a:rPr lang="en-US" sz="1000" b="1" dirty="0">
                <a:solidFill>
                  <a:srgbClr val="E8D6DB"/>
                </a:solidFill>
                <a:latin typeface="Calibri" pitchFamily="34" charset="0"/>
                <a:ea typeface="Calibri" pitchFamily="34" charset="-122"/>
                <a:cs typeface="Calibri" pitchFamily="34" charset="-120"/>
              </a:rPr>
              <a:t>ワイン在庫</a:t>
            </a:r>
            <a:endParaRPr lang="en-US" sz="1000" dirty="0"/>
          </a:p>
        </p:txBody>
      </p:sp>
      <p:sp>
        <p:nvSpPr>
          <p:cNvPr id="22" name="Text 20"/>
          <p:cNvSpPr txBox="1"/>
          <p:nvPr/>
        </p:nvSpPr>
        <p:spPr>
          <a:xfrm>
            <a:off x="4517136" y="3602736"/>
            <a:ext cx="31089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32億円</a:t>
            </a:r>
            <a:endParaRPr lang="en-US" sz="2600" dirty="0"/>
          </a:p>
        </p:txBody>
      </p:sp>
      <p:sp>
        <p:nvSpPr>
          <p:cNvPr id="23" name="Text 21"/>
          <p:cNvSpPr txBox="1"/>
          <p:nvPr/>
        </p:nvSpPr>
        <p:spPr>
          <a:xfrm>
            <a:off x="4517136" y="4059936"/>
            <a:ext cx="3200400" cy="219456"/>
          </a:xfrm>
          <a:prstGeom prst="rect">
            <a:avLst/>
          </a:prstGeom>
          <a:noFill/>
          <a:ln/>
        </p:spPr>
        <p:txBody>
          <a:bodyPr wrap="square" lIns="0" tIns="0" rIns="0" bIns="0" rtlCol="0" anchor="ctr"/>
          <a:lstStyle/>
          <a:p>
            <a:pPr indent="0" marL="0">
              <a:buNone/>
            </a:pPr>
            <a:r>
              <a:rPr lang="en-US" sz="900" dirty="0">
                <a:solidFill>
                  <a:srgbClr val="C9AEB6"/>
                </a:solidFill>
                <a:latin typeface="Calibri" pitchFamily="34" charset="0"/>
                <a:ea typeface="Calibri" pitchFamily="34" charset="-122"/>
                <a:cs typeface="Calibri" pitchFamily="34" charset="-120"/>
              </a:rPr>
              <a:t>管理在庫を含む</a:t>
            </a:r>
            <a:endParaRPr lang="en-US" sz="900" dirty="0"/>
          </a:p>
        </p:txBody>
      </p:sp>
      <p:sp>
        <p:nvSpPr>
          <p:cNvPr id="24" name="Shape 22"/>
          <p:cNvSpPr/>
          <p:nvPr/>
        </p:nvSpPr>
        <p:spPr>
          <a:xfrm>
            <a:off x="8028432" y="3255264"/>
            <a:ext cx="3520440" cy="1133856"/>
          </a:xfrm>
          <a:prstGeom prst="roundRect">
            <a:avLst>
              <a:gd name="adj" fmla="val 4032"/>
            </a:avLst>
          </a:prstGeom>
          <a:solidFill>
            <a:srgbClr val="F7F3F4"/>
          </a:solidFill>
          <a:ln w="9525">
            <a:solidFill>
              <a:srgbClr val="E4DADD"/>
            </a:solidFill>
            <a:prstDash val="solid"/>
          </a:ln>
        </p:spPr>
      </p:sp>
      <p:sp>
        <p:nvSpPr>
          <p:cNvPr id="25" name="Text 23"/>
          <p:cNvSpPr txBox="1"/>
          <p:nvPr/>
        </p:nvSpPr>
        <p:spPr>
          <a:xfrm>
            <a:off x="8247888" y="3383280"/>
            <a:ext cx="3108960" cy="219456"/>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提携飲食店</a:t>
            </a:r>
            <a:endParaRPr lang="en-US" sz="1000" dirty="0"/>
          </a:p>
        </p:txBody>
      </p:sp>
      <p:sp>
        <p:nvSpPr>
          <p:cNvPr id="26" name="Text 24"/>
          <p:cNvSpPr txBox="1"/>
          <p:nvPr/>
        </p:nvSpPr>
        <p:spPr>
          <a:xfrm>
            <a:off x="8247888" y="3602736"/>
            <a:ext cx="310896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26店舗</a:t>
            </a:r>
            <a:endParaRPr lang="en-US" sz="2600" dirty="0"/>
          </a:p>
        </p:txBody>
      </p:sp>
      <p:sp>
        <p:nvSpPr>
          <p:cNvPr id="27" name="Text 25"/>
          <p:cNvSpPr txBox="1"/>
          <p:nvPr/>
        </p:nvSpPr>
        <p:spPr>
          <a:xfrm>
            <a:off x="8247888" y="4059936"/>
            <a:ext cx="32004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ワイン関連レストラン多数</a:t>
            </a:r>
            <a:endParaRPr lang="en-US" sz="900" dirty="0"/>
          </a:p>
        </p:txBody>
      </p:sp>
      <p:sp>
        <p:nvSpPr>
          <p:cNvPr id="28" name="Shape 26"/>
          <p:cNvSpPr/>
          <p:nvPr/>
        </p:nvSpPr>
        <p:spPr>
          <a:xfrm>
            <a:off x="566928" y="4626864"/>
            <a:ext cx="11055096" cy="822960"/>
          </a:xfrm>
          <a:prstGeom prst="roundRect">
            <a:avLst>
              <a:gd name="adj" fmla="val 4444"/>
            </a:avLst>
          </a:prstGeom>
          <a:solidFill>
            <a:srgbClr val="F7F3F4"/>
          </a:solidFill>
          <a:ln/>
        </p:spPr>
      </p:sp>
      <p:sp>
        <p:nvSpPr>
          <p:cNvPr id="29" name="Text 27"/>
          <p:cNvSpPr txBox="1"/>
          <p:nvPr/>
        </p:nvSpPr>
        <p:spPr>
          <a:xfrm>
            <a:off x="841248" y="4718304"/>
            <a:ext cx="10506456" cy="640080"/>
          </a:xfrm>
          <a:prstGeom prst="rect">
            <a:avLst/>
          </a:prstGeom>
          <a:noFill/>
          <a:ln/>
        </p:spPr>
        <p:txBody>
          <a:bodyPr wrap="square" lIns="0" tIns="0" rIns="0" bIns="0" rtlCol="0" anchor="ctr"/>
          <a:lstStyle/>
          <a:p>
            <a:pPr indent="0" marL="0">
              <a:lnSpc>
                <a:spcPts val="1600"/>
              </a:lnSpc>
              <a:buNone/>
            </a:pPr>
            <a:r>
              <a:rPr lang="en-US" sz="1150" dirty="0">
                <a:solidFill>
                  <a:srgbClr val="1F1A1C"/>
                </a:solidFill>
                <a:latin typeface="Calibri" pitchFamily="34" charset="0"/>
                <a:ea typeface="Calibri" pitchFamily="34" charset="-122"/>
                <a:cs typeface="Calibri" pitchFamily="34" charset="-120"/>
              </a:rPr>
              <a:t>寺田倉庫とは、ワインの保管でお取引をいただいています。日本でワインを「預かる」ことの意味を最も理解している会社と組めていることは、当社の事業の前提になっています。</a:t>
            </a:r>
            <a:endParaRPr lang="en-US" sz="1150" dirty="0"/>
          </a:p>
        </p:txBody>
      </p:sp>
      <p:sp>
        <p:nvSpPr>
          <p:cNvPr id="30" name="Text 28"/>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31" name="Text 29"/>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961120" y="-2743200"/>
            <a:ext cx="6583680" cy="6583680"/>
          </a:xfrm>
          <a:prstGeom prst="ellipse">
            <a:avLst/>
          </a:prstGeom>
          <a:solidFill>
            <a:srgbClr val="6D2E46"/>
          </a:solidFill>
          <a:ln/>
        </p:spPr>
      </p:sp>
      <p:sp>
        <p:nvSpPr>
          <p:cNvPr id="3" name="Text 1"/>
          <p:cNvSpPr txBox="1"/>
          <p:nvPr/>
        </p:nvSpPr>
        <p:spPr>
          <a:xfrm>
            <a:off x="566928" y="2487168"/>
            <a:ext cx="10058400" cy="292608"/>
          </a:xfrm>
          <a:prstGeom prst="rect">
            <a:avLst/>
          </a:prstGeom>
          <a:noFill/>
          <a:ln/>
        </p:spPr>
        <p:txBody>
          <a:bodyPr wrap="square" lIns="0" tIns="0" rIns="0" bIns="0" rtlCol="0" anchor="ctr"/>
          <a:lstStyle/>
          <a:p>
            <a:pPr indent="0" marL="0">
              <a:buNone/>
            </a:pPr>
            <a:r>
              <a:rPr lang="en-US" sz="1200" b="1" spc="240" kern="0" dirty="0">
                <a:solidFill>
                  <a:srgbClr val="E0B94A"/>
                </a:solidFill>
                <a:latin typeface="Calibri" pitchFamily="34" charset="0"/>
                <a:ea typeface="Calibri" pitchFamily="34" charset="-122"/>
                <a:cs typeface="Calibri" pitchFamily="34" charset="-120"/>
              </a:rPr>
              <a:t>BUSINESS INTRODUCTION</a:t>
            </a:r>
            <a:endParaRPr lang="en-US" sz="1200" dirty="0"/>
          </a:p>
        </p:txBody>
      </p:sp>
      <p:sp>
        <p:nvSpPr>
          <p:cNvPr id="4" name="Text 2"/>
          <p:cNvSpPr txBox="1"/>
          <p:nvPr/>
        </p:nvSpPr>
        <p:spPr>
          <a:xfrm>
            <a:off x="566928" y="283464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事業紹介</a:t>
            </a:r>
            <a:endParaRPr lang="en-US" sz="4000" dirty="0"/>
          </a:p>
        </p:txBody>
      </p:sp>
      <p:sp>
        <p:nvSpPr>
          <p:cNvPr id="5" name="Text 3"/>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6" name="Text 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STRENGTH</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事業の強み</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ワインを安く、正規に、たくさん仕入れられること。私たちの事業は、すべてここから始まっています。</a:t>
            </a:r>
            <a:endParaRPr lang="en-US" sz="1250" dirty="0"/>
          </a:p>
        </p:txBody>
      </p:sp>
      <p:sp>
        <p:nvSpPr>
          <p:cNvPr id="5" name="Shape 3"/>
          <p:cNvSpPr/>
          <p:nvPr/>
        </p:nvSpPr>
        <p:spPr>
          <a:xfrm>
            <a:off x="566928" y="1645920"/>
            <a:ext cx="5394960" cy="1426464"/>
          </a:xfrm>
          <a:prstGeom prst="roundRect">
            <a:avLst>
              <a:gd name="adj" fmla="val 3205"/>
            </a:avLst>
          </a:prstGeom>
          <a:solidFill>
            <a:srgbClr val="FFFFFF"/>
          </a:solidFill>
          <a:ln w="9525">
            <a:solidFill>
              <a:srgbClr val="E4DADD"/>
            </a:solidFill>
            <a:prstDash val="solid"/>
          </a:ln>
        </p:spPr>
      </p:sp>
      <p:sp>
        <p:nvSpPr>
          <p:cNvPr id="6" name="Text 4"/>
          <p:cNvSpPr txBox="1"/>
          <p:nvPr/>
        </p:nvSpPr>
        <p:spPr>
          <a:xfrm>
            <a:off x="804672" y="1828800"/>
            <a:ext cx="731520" cy="329184"/>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01</a:t>
            </a:r>
            <a:endParaRPr lang="en-US" sz="2000" dirty="0"/>
          </a:p>
        </p:txBody>
      </p:sp>
      <p:sp>
        <p:nvSpPr>
          <p:cNvPr id="7" name="Text 5"/>
          <p:cNvSpPr txBox="1"/>
          <p:nvPr/>
        </p:nvSpPr>
        <p:spPr>
          <a:xfrm>
            <a:off x="1536192" y="1847088"/>
            <a:ext cx="4206240" cy="292608"/>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創業55年の酒販業実績</a:t>
            </a:r>
            <a:endParaRPr lang="en-US" sz="1600" dirty="0"/>
          </a:p>
        </p:txBody>
      </p:sp>
      <p:sp>
        <p:nvSpPr>
          <p:cNvPr id="8" name="Text 6"/>
          <p:cNvSpPr txBox="1"/>
          <p:nvPr/>
        </p:nvSpPr>
        <p:spPr>
          <a:xfrm>
            <a:off x="1536192" y="2212848"/>
            <a:ext cx="4224528" cy="731520"/>
          </a:xfrm>
          <a:prstGeom prst="rect">
            <a:avLst/>
          </a:prstGeom>
          <a:noFill/>
          <a:ln/>
        </p:spPr>
        <p:txBody>
          <a:bodyPr wrap="square" lIns="0" tIns="0" rIns="0" bIns="0" rtlCol="0" anchor="ctr"/>
          <a:lstStyle/>
          <a:p>
            <a:pPr indent="0" marL="0">
              <a:lnSpc>
                <a:spcPts val="1450"/>
              </a:lnSpc>
              <a:buNone/>
            </a:pPr>
            <a:r>
              <a:rPr lang="en-US" sz="1050" dirty="0">
                <a:solidFill>
                  <a:srgbClr val="6E6368"/>
                </a:solidFill>
                <a:latin typeface="Calibri" pitchFamily="34" charset="0"/>
                <a:ea typeface="Calibri" pitchFamily="34" charset="-122"/>
                <a:cs typeface="Calibri" pitchFamily="34" charset="-120"/>
              </a:rPr>
              <a:t>昭和から続く酒販店として積み上げてきた取引と信用。新規参入では代替できません。</a:t>
            </a:r>
            <a:endParaRPr lang="en-US" sz="1050" dirty="0"/>
          </a:p>
        </p:txBody>
      </p:sp>
      <p:sp>
        <p:nvSpPr>
          <p:cNvPr id="9" name="Shape 7"/>
          <p:cNvSpPr/>
          <p:nvPr/>
        </p:nvSpPr>
        <p:spPr>
          <a:xfrm>
            <a:off x="6227064" y="1645920"/>
            <a:ext cx="5394960" cy="1426464"/>
          </a:xfrm>
          <a:prstGeom prst="roundRect">
            <a:avLst>
              <a:gd name="adj" fmla="val 3205"/>
            </a:avLst>
          </a:prstGeom>
          <a:solidFill>
            <a:srgbClr val="FFFFFF"/>
          </a:solidFill>
          <a:ln w="9525">
            <a:solidFill>
              <a:srgbClr val="E4DADD"/>
            </a:solidFill>
            <a:prstDash val="solid"/>
          </a:ln>
        </p:spPr>
      </p:sp>
      <p:sp>
        <p:nvSpPr>
          <p:cNvPr id="10" name="Text 8"/>
          <p:cNvSpPr txBox="1"/>
          <p:nvPr/>
        </p:nvSpPr>
        <p:spPr>
          <a:xfrm>
            <a:off x="6464808" y="1828800"/>
            <a:ext cx="731520" cy="329184"/>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02</a:t>
            </a:r>
            <a:endParaRPr lang="en-US" sz="2000" dirty="0"/>
          </a:p>
        </p:txBody>
      </p:sp>
      <p:sp>
        <p:nvSpPr>
          <p:cNvPr id="11" name="Text 9"/>
          <p:cNvSpPr txBox="1"/>
          <p:nvPr/>
        </p:nvSpPr>
        <p:spPr>
          <a:xfrm>
            <a:off x="7196328" y="1847088"/>
            <a:ext cx="4206240" cy="292608"/>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大手インポーターからの直接取引</a:t>
            </a:r>
            <a:endParaRPr lang="en-US" sz="1600" dirty="0"/>
          </a:p>
        </p:txBody>
      </p:sp>
      <p:sp>
        <p:nvSpPr>
          <p:cNvPr id="12" name="Text 10"/>
          <p:cNvSpPr txBox="1"/>
          <p:nvPr/>
        </p:nvSpPr>
        <p:spPr>
          <a:xfrm>
            <a:off x="7196328" y="2212848"/>
            <a:ext cx="4224528" cy="731520"/>
          </a:xfrm>
          <a:prstGeom prst="rect">
            <a:avLst/>
          </a:prstGeom>
          <a:noFill/>
          <a:ln/>
        </p:spPr>
        <p:txBody>
          <a:bodyPr wrap="square" lIns="0" tIns="0" rIns="0" bIns="0" rtlCol="0" anchor="ctr"/>
          <a:lstStyle/>
          <a:p>
            <a:pPr indent="0" marL="0">
              <a:lnSpc>
                <a:spcPts val="1450"/>
              </a:lnSpc>
              <a:buNone/>
            </a:pPr>
            <a:r>
              <a:rPr lang="en-US" sz="1050" dirty="0">
                <a:solidFill>
                  <a:srgbClr val="6E6368"/>
                </a:solidFill>
                <a:latin typeface="Calibri" pitchFamily="34" charset="0"/>
                <a:ea typeface="Calibri" pitchFamily="34" charset="-122"/>
                <a:cs typeface="Calibri" pitchFamily="34" charset="-120"/>
              </a:rPr>
              <a:t>国内大手有名インポーターから、特価かつ正規品で仕入れています。並行輸入に頼りません。</a:t>
            </a:r>
            <a:endParaRPr lang="en-US" sz="1050" dirty="0"/>
          </a:p>
        </p:txBody>
      </p:sp>
      <p:sp>
        <p:nvSpPr>
          <p:cNvPr id="13" name="Shape 11"/>
          <p:cNvSpPr/>
          <p:nvPr/>
        </p:nvSpPr>
        <p:spPr>
          <a:xfrm>
            <a:off x="566928" y="3218688"/>
            <a:ext cx="5394960" cy="1426464"/>
          </a:xfrm>
          <a:prstGeom prst="roundRect">
            <a:avLst>
              <a:gd name="adj" fmla="val 3205"/>
            </a:avLst>
          </a:prstGeom>
          <a:solidFill>
            <a:srgbClr val="FFFFFF"/>
          </a:solidFill>
          <a:ln w="9525">
            <a:solidFill>
              <a:srgbClr val="E4DADD"/>
            </a:solidFill>
            <a:prstDash val="solid"/>
          </a:ln>
        </p:spPr>
      </p:sp>
      <p:sp>
        <p:nvSpPr>
          <p:cNvPr id="14" name="Text 12"/>
          <p:cNvSpPr txBox="1"/>
          <p:nvPr/>
        </p:nvSpPr>
        <p:spPr>
          <a:xfrm>
            <a:off x="804672" y="3401568"/>
            <a:ext cx="731520" cy="329184"/>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03</a:t>
            </a:r>
            <a:endParaRPr lang="en-US" sz="2000" dirty="0"/>
          </a:p>
        </p:txBody>
      </p:sp>
      <p:sp>
        <p:nvSpPr>
          <p:cNvPr id="15" name="Text 13"/>
          <p:cNvSpPr txBox="1"/>
          <p:nvPr/>
        </p:nvSpPr>
        <p:spPr>
          <a:xfrm>
            <a:off x="1536192" y="3419856"/>
            <a:ext cx="4206240" cy="292608"/>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海外輸出入ライセンス</a:t>
            </a:r>
            <a:endParaRPr lang="en-US" sz="1600" dirty="0"/>
          </a:p>
        </p:txBody>
      </p:sp>
      <p:sp>
        <p:nvSpPr>
          <p:cNvPr id="16" name="Text 14"/>
          <p:cNvSpPr txBox="1"/>
          <p:nvPr/>
        </p:nvSpPr>
        <p:spPr>
          <a:xfrm>
            <a:off x="1536192" y="3785616"/>
            <a:ext cx="4224528" cy="731520"/>
          </a:xfrm>
          <a:prstGeom prst="rect">
            <a:avLst/>
          </a:prstGeom>
          <a:noFill/>
          <a:ln/>
        </p:spPr>
        <p:txBody>
          <a:bodyPr wrap="square" lIns="0" tIns="0" rIns="0" bIns="0" rtlCol="0" anchor="ctr"/>
          <a:lstStyle/>
          <a:p>
            <a:pPr indent="0" marL="0">
              <a:lnSpc>
                <a:spcPts val="1450"/>
              </a:lnSpc>
              <a:buNone/>
            </a:pPr>
            <a:r>
              <a:rPr lang="en-US" sz="1050" dirty="0">
                <a:solidFill>
                  <a:srgbClr val="6E6368"/>
                </a:solidFill>
                <a:latin typeface="Calibri" pitchFamily="34" charset="0"/>
                <a:ea typeface="Calibri" pitchFamily="34" charset="-122"/>
                <a:cs typeface="Calibri" pitchFamily="34" charset="-120"/>
              </a:rPr>
              <a:t>自社でライセンスを保有し、海外のネットワークから情報と商品を直接取りにいけます。</a:t>
            </a:r>
            <a:endParaRPr lang="en-US" sz="1050" dirty="0"/>
          </a:p>
        </p:txBody>
      </p:sp>
      <p:sp>
        <p:nvSpPr>
          <p:cNvPr id="17" name="Shape 15"/>
          <p:cNvSpPr/>
          <p:nvPr/>
        </p:nvSpPr>
        <p:spPr>
          <a:xfrm>
            <a:off x="6227064" y="3218688"/>
            <a:ext cx="5394960" cy="1426464"/>
          </a:xfrm>
          <a:prstGeom prst="roundRect">
            <a:avLst>
              <a:gd name="adj" fmla="val 3205"/>
            </a:avLst>
          </a:prstGeom>
          <a:solidFill>
            <a:srgbClr val="FFFFFF"/>
          </a:solidFill>
          <a:ln w="9525">
            <a:solidFill>
              <a:srgbClr val="E4DADD"/>
            </a:solidFill>
            <a:prstDash val="solid"/>
          </a:ln>
        </p:spPr>
      </p:sp>
      <p:sp>
        <p:nvSpPr>
          <p:cNvPr id="18" name="Text 16"/>
          <p:cNvSpPr txBox="1"/>
          <p:nvPr/>
        </p:nvSpPr>
        <p:spPr>
          <a:xfrm>
            <a:off x="6464808" y="3401568"/>
            <a:ext cx="731520" cy="329184"/>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04</a:t>
            </a:r>
            <a:endParaRPr lang="en-US" sz="2000" dirty="0"/>
          </a:p>
        </p:txBody>
      </p:sp>
      <p:sp>
        <p:nvSpPr>
          <p:cNvPr id="19" name="Text 17"/>
          <p:cNvSpPr txBox="1"/>
          <p:nvPr/>
        </p:nvSpPr>
        <p:spPr>
          <a:xfrm>
            <a:off x="7196328" y="3419856"/>
            <a:ext cx="4206240" cy="292608"/>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数千名の会員基盤</a:t>
            </a:r>
            <a:endParaRPr lang="en-US" sz="1600" dirty="0"/>
          </a:p>
        </p:txBody>
      </p:sp>
      <p:sp>
        <p:nvSpPr>
          <p:cNvPr id="20" name="Text 18"/>
          <p:cNvSpPr txBox="1"/>
          <p:nvPr/>
        </p:nvSpPr>
        <p:spPr>
          <a:xfrm>
            <a:off x="7196328" y="3785616"/>
            <a:ext cx="4224528" cy="731520"/>
          </a:xfrm>
          <a:prstGeom prst="rect">
            <a:avLst/>
          </a:prstGeom>
          <a:noFill/>
          <a:ln/>
        </p:spPr>
        <p:txBody>
          <a:bodyPr wrap="square" lIns="0" tIns="0" rIns="0" bIns="0" rtlCol="0" anchor="ctr"/>
          <a:lstStyle/>
          <a:p>
            <a:pPr indent="0" marL="0">
              <a:lnSpc>
                <a:spcPts val="1450"/>
              </a:lnSpc>
              <a:buNone/>
            </a:pPr>
            <a:r>
              <a:rPr lang="en-US" sz="1050" dirty="0">
                <a:solidFill>
                  <a:srgbClr val="6E6368"/>
                </a:solidFill>
                <a:latin typeface="Calibri" pitchFamily="34" charset="0"/>
                <a:ea typeface="Calibri" pitchFamily="34" charset="-122"/>
                <a:cs typeface="Calibri" pitchFamily="34" charset="-120"/>
              </a:rPr>
              <a:t>ワイン愛好家と富裕層のお客様。仕入れたワインが確実に行き先を持っています。</a:t>
            </a:r>
            <a:endParaRPr lang="en-US" sz="1050" dirty="0"/>
          </a:p>
        </p:txBody>
      </p:sp>
      <p:sp>
        <p:nvSpPr>
          <p:cNvPr id="21" name="Shape 19"/>
          <p:cNvSpPr/>
          <p:nvPr/>
        </p:nvSpPr>
        <p:spPr>
          <a:xfrm>
            <a:off x="566928" y="4828032"/>
            <a:ext cx="11055096" cy="841248"/>
          </a:xfrm>
          <a:prstGeom prst="roundRect">
            <a:avLst>
              <a:gd name="adj" fmla="val 4348"/>
            </a:avLst>
          </a:prstGeom>
          <a:solidFill>
            <a:srgbClr val="6D2E46"/>
          </a:solidFill>
          <a:ln/>
        </p:spPr>
      </p:sp>
      <p:sp>
        <p:nvSpPr>
          <p:cNvPr id="22" name="Text 20"/>
          <p:cNvSpPr txBox="1"/>
          <p:nvPr/>
        </p:nvSpPr>
        <p:spPr>
          <a:xfrm>
            <a:off x="841248" y="4919472"/>
            <a:ext cx="10506456"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ファインワインのリセールバリューは、年率10%程度で成長しています。良質なワインを正規品かつ大量に仕入れられるかどうかが、この事業の鍵です。</a:t>
            </a:r>
            <a:endParaRPr lang="en-US" sz="1200" dirty="0"/>
          </a:p>
        </p:txBody>
      </p:sp>
      <p:sp>
        <p:nvSpPr>
          <p:cNvPr id="23" name="Text 21"/>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4" name="Text 22"/>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BUSINESS</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事業概要</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ワインの仕入れを強みに、オンラインとオフラインの両方で事業を展開しています。</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914400"/>
        </p:xfrm>
        <a:graphic>
          <a:graphicData uri="http://schemas.openxmlformats.org/drawingml/2006/table">
            <a:tbl>
              <a:tblPr/>
              <a:tblGrid>
                <a:gridCol w="2377440"/>
                <a:gridCol w="1005840"/>
                <a:gridCol w="5660136"/>
                <a:gridCol w="2011680"/>
              </a:tblGrid>
              <a:tr h="67665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事業</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区分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内容</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来期</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67665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自社EC事業</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オンライン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楽天・Yahoo・寺田ワインマーケットでのEC。長年の販売実績をもとに売上を維持。</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来期売上 100%を維持</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67665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WineTech事業</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オンライン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所有ワインのクラウド管理、マーケットプレイスの運営、ワインファンド事業。SBI証券との提携により安定収益を確保。</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来期売上 200%に拡大</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67665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レストラン／ワイン卸事業</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オフライン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グランメゾンを含む、ワインを中心としたレストラン事業。ティエリー・マルクスの出店により安定収益を見込む。</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来期売上 200%に拡大</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67665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会員制ワインサロン事業</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オフライン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月額会費制で、ワインの購入やレストランをお得にご利用いただくサービス。</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来期 売上拡大見込み</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5230368"/>
            <a:ext cx="11055096" cy="731520"/>
          </a:xfrm>
          <a:prstGeom prst="roundRect">
            <a:avLst>
              <a:gd name="adj" fmla="val 5000"/>
            </a:avLst>
          </a:prstGeom>
          <a:solidFill>
            <a:srgbClr val="F7F3F4"/>
          </a:solidFill>
          <a:ln/>
        </p:spPr>
      </p:sp>
      <p:sp>
        <p:nvSpPr>
          <p:cNvPr id="7" name="Text 4"/>
          <p:cNvSpPr txBox="1"/>
          <p:nvPr/>
        </p:nvSpPr>
        <p:spPr>
          <a:xfrm>
            <a:off x="841248" y="5321808"/>
            <a:ext cx="10506456" cy="548640"/>
          </a:xfrm>
          <a:prstGeom prst="rect">
            <a:avLst/>
          </a:prstGeom>
          <a:noFill/>
          <a:ln/>
        </p:spPr>
        <p:txBody>
          <a:bodyPr wrap="square" lIns="0" tIns="0" rIns="0" bIns="0" rtlCol="0" anchor="ctr"/>
          <a:lstStyle/>
          <a:p>
            <a:pPr indent="0" marL="0">
              <a:buNone/>
            </a:pPr>
            <a:r>
              <a:rPr lang="en-US" sz="1200" b="1" dirty="0">
                <a:solidFill>
                  <a:srgbClr val="1F1A1C"/>
                </a:solidFill>
              </a:rPr>
              <a:t>グループ売上　</a:t>
            </a:r>
            <a:pPr indent="0" marL="0">
              <a:buNone/>
            </a:pPr>
            <a:r>
              <a:rPr lang="en-US" sz="1400" b="1" dirty="0">
                <a:solidFill>
                  <a:srgbClr val="6D2E46"/>
                </a:solidFill>
              </a:rPr>
              <a:t>2025年12月期 65億円　→　2026年12月期 70億円超（見込）</a:t>
            </a:r>
            <a:endParaRPr lang="en-US" sz="1200" dirty="0"/>
          </a:p>
        </p:txBody>
      </p:sp>
      <p:sp>
        <p:nvSpPr>
          <p:cNvPr id="8" name="Text 5"/>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9" name="Text 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RESTAURANT　／　株式会社アピシウス（東京・銀座）</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グランメゾンを引き継いで、2年が経ちました</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2024年6月、創業40年を超えるグランメゾンを100%取得しました。39年間にわたり赤字が続き、40年目にようやく黒字化した店です。</a:t>
            </a:r>
            <a:endParaRPr lang="en-US" sz="1250" dirty="0"/>
          </a:p>
        </p:txBody>
      </p:sp>
      <p:sp>
        <p:nvSpPr>
          <p:cNvPr id="5" name="Shape 3"/>
          <p:cNvSpPr/>
          <p:nvPr/>
        </p:nvSpPr>
        <p:spPr>
          <a:xfrm>
            <a:off x="566928" y="1755648"/>
            <a:ext cx="3520440" cy="1078992"/>
          </a:xfrm>
          <a:prstGeom prst="roundRect">
            <a:avLst>
              <a:gd name="adj" fmla="val 4237"/>
            </a:avLst>
          </a:prstGeom>
          <a:solidFill>
            <a:srgbClr val="F7F3F4"/>
          </a:solidFill>
          <a:ln w="9525">
            <a:solidFill>
              <a:srgbClr val="E4DADD"/>
            </a:solidFill>
            <a:prstDash val="solid"/>
          </a:ln>
        </p:spPr>
      </p:sp>
      <p:sp>
        <p:nvSpPr>
          <p:cNvPr id="6" name="Text 4"/>
          <p:cNvSpPr txBox="1"/>
          <p:nvPr/>
        </p:nvSpPr>
        <p:spPr>
          <a:xfrm>
            <a:off x="786384" y="1865376"/>
            <a:ext cx="3108960" cy="219456"/>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売上高</a:t>
            </a:r>
            <a:endParaRPr lang="en-US" sz="1000" dirty="0"/>
          </a:p>
        </p:txBody>
      </p:sp>
      <p:sp>
        <p:nvSpPr>
          <p:cNvPr id="7" name="Text 5"/>
          <p:cNvSpPr txBox="1"/>
          <p:nvPr/>
        </p:nvSpPr>
        <p:spPr>
          <a:xfrm>
            <a:off x="786384" y="2084832"/>
            <a:ext cx="3108960" cy="457200"/>
          </a:xfrm>
          <a:prstGeom prst="rect">
            <a:avLst/>
          </a:prstGeom>
          <a:noFill/>
          <a:ln/>
        </p:spPr>
        <p:txBody>
          <a:bodyPr wrap="square" lIns="0" tIns="0" rIns="0" bIns="0" rtlCol="0" anchor="ctr"/>
          <a:lstStyle/>
          <a:p>
            <a:pPr indent="0" marL="0">
              <a:buNone/>
            </a:pPr>
            <a:r>
              <a:rPr lang="en-US" sz="2900" b="1" dirty="0">
                <a:solidFill>
                  <a:srgbClr val="6D2E46"/>
                </a:solidFill>
                <a:latin typeface="Cambria" pitchFamily="34" charset="0"/>
                <a:ea typeface="Cambria" pitchFamily="34" charset="-122"/>
                <a:cs typeface="Cambria" pitchFamily="34" charset="-120"/>
              </a:rPr>
              <a:t>＋30%</a:t>
            </a:r>
            <a:endParaRPr lang="en-US" sz="2900" dirty="0"/>
          </a:p>
        </p:txBody>
      </p:sp>
      <p:sp>
        <p:nvSpPr>
          <p:cNvPr id="8" name="Text 6"/>
          <p:cNvSpPr txBox="1"/>
          <p:nvPr/>
        </p:nvSpPr>
        <p:spPr>
          <a:xfrm>
            <a:off x="786384" y="2542032"/>
            <a:ext cx="32004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取得前比（2年間）</a:t>
            </a:r>
            <a:endParaRPr lang="en-US" sz="900" dirty="0"/>
          </a:p>
        </p:txBody>
      </p:sp>
      <p:sp>
        <p:nvSpPr>
          <p:cNvPr id="9" name="Shape 7"/>
          <p:cNvSpPr/>
          <p:nvPr/>
        </p:nvSpPr>
        <p:spPr>
          <a:xfrm>
            <a:off x="4297680" y="1755648"/>
            <a:ext cx="3520440" cy="1078992"/>
          </a:xfrm>
          <a:prstGeom prst="roundRect">
            <a:avLst>
              <a:gd name="adj" fmla="val 4237"/>
            </a:avLst>
          </a:prstGeom>
          <a:solidFill>
            <a:srgbClr val="F7F3F4"/>
          </a:solidFill>
          <a:ln w="9525">
            <a:solidFill>
              <a:srgbClr val="E4DADD"/>
            </a:solidFill>
            <a:prstDash val="solid"/>
          </a:ln>
        </p:spPr>
      </p:sp>
      <p:sp>
        <p:nvSpPr>
          <p:cNvPr id="10" name="Text 8"/>
          <p:cNvSpPr txBox="1"/>
          <p:nvPr/>
        </p:nvSpPr>
        <p:spPr>
          <a:xfrm>
            <a:off x="4517136" y="1865376"/>
            <a:ext cx="3108960" cy="219456"/>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営業利益</a:t>
            </a:r>
            <a:endParaRPr lang="en-US" sz="1000" dirty="0"/>
          </a:p>
        </p:txBody>
      </p:sp>
      <p:sp>
        <p:nvSpPr>
          <p:cNvPr id="11" name="Text 9"/>
          <p:cNvSpPr txBox="1"/>
          <p:nvPr/>
        </p:nvSpPr>
        <p:spPr>
          <a:xfrm>
            <a:off x="4517136" y="2084832"/>
            <a:ext cx="3108960" cy="457200"/>
          </a:xfrm>
          <a:prstGeom prst="rect">
            <a:avLst/>
          </a:prstGeom>
          <a:noFill/>
          <a:ln/>
        </p:spPr>
        <p:txBody>
          <a:bodyPr wrap="square" lIns="0" tIns="0" rIns="0" bIns="0" rtlCol="0" anchor="ctr"/>
          <a:lstStyle/>
          <a:p>
            <a:pPr indent="0" marL="0">
              <a:buNone/>
            </a:pPr>
            <a:r>
              <a:rPr lang="en-US" sz="2900" b="1" dirty="0">
                <a:solidFill>
                  <a:srgbClr val="6D2E46"/>
                </a:solidFill>
                <a:latin typeface="Cambria" pitchFamily="34" charset="0"/>
                <a:ea typeface="Cambria" pitchFamily="34" charset="-122"/>
                <a:cs typeface="Cambria" pitchFamily="34" charset="-120"/>
              </a:rPr>
              <a:t>＋250%超</a:t>
            </a:r>
            <a:endParaRPr lang="en-US" sz="2900" dirty="0"/>
          </a:p>
        </p:txBody>
      </p:sp>
      <p:sp>
        <p:nvSpPr>
          <p:cNvPr id="12" name="Text 10"/>
          <p:cNvSpPr txBox="1"/>
          <p:nvPr/>
        </p:nvSpPr>
        <p:spPr>
          <a:xfrm>
            <a:off x="4517136" y="2542032"/>
            <a:ext cx="32004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取得前比（2年間）</a:t>
            </a:r>
            <a:endParaRPr lang="en-US" sz="900" dirty="0"/>
          </a:p>
        </p:txBody>
      </p:sp>
      <p:sp>
        <p:nvSpPr>
          <p:cNvPr id="13" name="Shape 11"/>
          <p:cNvSpPr/>
          <p:nvPr/>
        </p:nvSpPr>
        <p:spPr>
          <a:xfrm>
            <a:off x="8028432" y="1755648"/>
            <a:ext cx="3520440" cy="1078992"/>
          </a:xfrm>
          <a:prstGeom prst="roundRect">
            <a:avLst>
              <a:gd name="adj" fmla="val 4237"/>
            </a:avLst>
          </a:prstGeom>
          <a:solidFill>
            <a:srgbClr val="6D2E46"/>
          </a:solidFill>
          <a:ln w="9525">
            <a:solidFill>
              <a:srgbClr val="6D2E46"/>
            </a:solidFill>
            <a:prstDash val="solid"/>
          </a:ln>
        </p:spPr>
      </p:sp>
      <p:sp>
        <p:nvSpPr>
          <p:cNvPr id="14" name="Text 12"/>
          <p:cNvSpPr txBox="1"/>
          <p:nvPr/>
        </p:nvSpPr>
        <p:spPr>
          <a:xfrm>
            <a:off x="8247888" y="1865376"/>
            <a:ext cx="3108960" cy="219456"/>
          </a:xfrm>
          <a:prstGeom prst="rect">
            <a:avLst/>
          </a:prstGeom>
          <a:noFill/>
          <a:ln/>
        </p:spPr>
        <p:txBody>
          <a:bodyPr wrap="square" lIns="0" tIns="0" rIns="0" bIns="0" rtlCol="0" anchor="ctr"/>
          <a:lstStyle/>
          <a:p>
            <a:pPr indent="0" marL="0">
              <a:buNone/>
            </a:pPr>
            <a:r>
              <a:rPr lang="en-US" sz="1000" b="1" dirty="0">
                <a:solidFill>
                  <a:srgbClr val="E8D6DB"/>
                </a:solidFill>
                <a:latin typeface="Calibri" pitchFamily="34" charset="0"/>
                <a:ea typeface="Calibri" pitchFamily="34" charset="-122"/>
                <a:cs typeface="Calibri" pitchFamily="34" charset="-120"/>
              </a:rPr>
              <a:t>幹部メンバー継続率</a:t>
            </a:r>
            <a:endParaRPr lang="en-US" sz="1000" dirty="0"/>
          </a:p>
        </p:txBody>
      </p:sp>
      <p:sp>
        <p:nvSpPr>
          <p:cNvPr id="15" name="Text 13"/>
          <p:cNvSpPr txBox="1"/>
          <p:nvPr/>
        </p:nvSpPr>
        <p:spPr>
          <a:xfrm>
            <a:off x="8247888" y="2084832"/>
            <a:ext cx="3108960" cy="45720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100%</a:t>
            </a:r>
            <a:endParaRPr lang="en-US" sz="2900" dirty="0"/>
          </a:p>
        </p:txBody>
      </p:sp>
      <p:sp>
        <p:nvSpPr>
          <p:cNvPr id="16" name="Text 14"/>
          <p:cNvSpPr txBox="1"/>
          <p:nvPr/>
        </p:nvSpPr>
        <p:spPr>
          <a:xfrm>
            <a:off x="8247888" y="2542032"/>
            <a:ext cx="3200400" cy="219456"/>
          </a:xfrm>
          <a:prstGeom prst="rect">
            <a:avLst/>
          </a:prstGeom>
          <a:noFill/>
          <a:ln/>
        </p:spPr>
        <p:txBody>
          <a:bodyPr wrap="square" lIns="0" tIns="0" rIns="0" bIns="0" rtlCol="0" anchor="ctr"/>
          <a:lstStyle/>
          <a:p>
            <a:pPr indent="0" marL="0">
              <a:buNone/>
            </a:pPr>
            <a:r>
              <a:rPr lang="en-US" sz="900" dirty="0">
                <a:solidFill>
                  <a:srgbClr val="C9AEB6"/>
                </a:solidFill>
                <a:latin typeface="Calibri" pitchFamily="34" charset="0"/>
                <a:ea typeface="Calibri" pitchFamily="34" charset="-122"/>
                <a:cs typeface="Calibri" pitchFamily="34" charset="-120"/>
              </a:rPr>
              <a:t>一人も欠けていません</a:t>
            </a:r>
            <a:endParaRPr lang="en-US" sz="900" dirty="0"/>
          </a:p>
        </p:txBody>
      </p:sp>
      <p:sp>
        <p:nvSpPr>
          <p:cNvPr id="17" name="Text 15"/>
          <p:cNvSpPr txBox="1"/>
          <p:nvPr/>
        </p:nvSpPr>
        <p:spPr>
          <a:xfrm>
            <a:off x="566928" y="2980944"/>
            <a:ext cx="45720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取得前と、取得から2年後</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3291840"/>
          <a:ext cx="6583680" cy="914400"/>
        </p:xfrm>
        <a:graphic>
          <a:graphicData uri="http://schemas.openxmlformats.org/drawingml/2006/table">
            <a:tbl>
              <a:tblPr/>
              <a:tblGrid>
                <a:gridCol w="868680"/>
                <a:gridCol w="2331720"/>
                <a:gridCol w="3383280"/>
              </a:tblGrid>
              <a:tr h="420624">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取得前（〜2024年5月）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取得後2年（2026年）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業績</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39年間にわたり赤字。40年目にようやく黒字化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2E6F4E"/>
                          </a:solidFill>
                          <a:latin typeface="Calibri" pitchFamily="34" charset="0"/>
                          <a:ea typeface="Calibri" pitchFamily="34" charset="-122"/>
                          <a:cs typeface="Calibri" pitchFamily="34" charset="-120"/>
                        </a:rPr>
                        <a:t>売上 ＋30%／営業利益 ＋250%超</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人員</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幹部メンバーは全員が継続。経営陣の入替えなし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労働環境</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サービス残業が常態化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2E6F4E"/>
                          </a:solidFill>
                          <a:latin typeface="Calibri" pitchFamily="34" charset="0"/>
                          <a:ea typeface="Calibri" pitchFamily="34" charset="-122"/>
                          <a:cs typeface="Calibri" pitchFamily="34" charset="-120"/>
                        </a:rPr>
                        <a:t>サービス残業を撤廃。12月を除き残業自体が発生しない体制へ</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店舗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店内の一部改装・修繕を実施。業態・客層は変更せず</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19" name="Shape 16"/>
          <p:cNvSpPr/>
          <p:nvPr/>
        </p:nvSpPr>
        <p:spPr>
          <a:xfrm>
            <a:off x="7333488" y="2980944"/>
            <a:ext cx="4288536" cy="2432304"/>
          </a:xfrm>
          <a:prstGeom prst="roundRect">
            <a:avLst>
              <a:gd name="adj" fmla="val 1880"/>
            </a:avLst>
          </a:prstGeom>
          <a:solidFill>
            <a:srgbClr val="FFFFFF"/>
          </a:solidFill>
          <a:ln w="9525">
            <a:solidFill>
              <a:srgbClr val="E4DADD"/>
            </a:solidFill>
            <a:prstDash val="solid"/>
          </a:ln>
        </p:spPr>
      </p:sp>
      <p:sp>
        <p:nvSpPr>
          <p:cNvPr id="20" name="Text 17"/>
          <p:cNvSpPr txBox="1"/>
          <p:nvPr/>
        </p:nvSpPr>
        <p:spPr>
          <a:xfrm>
            <a:off x="7552944" y="3090672"/>
            <a:ext cx="38404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ワインの面でも、この2年で強くなりました</a:t>
            </a:r>
            <a:endParaRPr lang="en-US" sz="1000" dirty="0"/>
          </a:p>
        </p:txBody>
      </p:sp>
      <p:sp>
        <p:nvSpPr>
          <p:cNvPr id="21" name="Shape 18"/>
          <p:cNvSpPr/>
          <p:nvPr/>
        </p:nvSpPr>
        <p:spPr>
          <a:xfrm>
            <a:off x="7552944" y="3429000"/>
            <a:ext cx="237744" cy="237744"/>
          </a:xfrm>
          <a:prstGeom prst="ellipse">
            <a:avLst/>
          </a:prstGeom>
          <a:solidFill>
            <a:srgbClr val="A26769"/>
          </a:solidFill>
          <a:ln/>
        </p:spPr>
      </p:sp>
      <p:sp>
        <p:nvSpPr>
          <p:cNvPr id="22" name="Text 19"/>
          <p:cNvSpPr txBox="1"/>
          <p:nvPr/>
        </p:nvSpPr>
        <p:spPr>
          <a:xfrm>
            <a:off x="7552944" y="342900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7863840" y="3401568"/>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日本トップクラスのワイン在庫</a:t>
            </a:r>
            <a:endParaRPr lang="en-US" sz="1050" dirty="0"/>
          </a:p>
        </p:txBody>
      </p:sp>
      <p:sp>
        <p:nvSpPr>
          <p:cNvPr id="24" name="Text 21"/>
          <p:cNvSpPr txBox="1"/>
          <p:nvPr/>
        </p:nvSpPr>
        <p:spPr>
          <a:xfrm>
            <a:off x="7863840" y="3611880"/>
            <a:ext cx="3566160" cy="384048"/>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グランメゾンとしての蓄積を、そのまま受け継ぎました</a:t>
            </a:r>
            <a:endParaRPr lang="en-US" sz="900" dirty="0"/>
          </a:p>
        </p:txBody>
      </p:sp>
      <p:sp>
        <p:nvSpPr>
          <p:cNvPr id="25" name="Shape 22"/>
          <p:cNvSpPr/>
          <p:nvPr/>
        </p:nvSpPr>
        <p:spPr>
          <a:xfrm>
            <a:off x="7552944" y="4050792"/>
            <a:ext cx="237744" cy="237744"/>
          </a:xfrm>
          <a:prstGeom prst="ellipse">
            <a:avLst/>
          </a:prstGeom>
          <a:solidFill>
            <a:srgbClr val="A26769"/>
          </a:solidFill>
          <a:ln/>
        </p:spPr>
      </p:sp>
      <p:sp>
        <p:nvSpPr>
          <p:cNvPr id="26" name="Text 23"/>
          <p:cNvSpPr txBox="1"/>
          <p:nvPr/>
        </p:nvSpPr>
        <p:spPr>
          <a:xfrm>
            <a:off x="7552944" y="40507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4"/>
          <p:cNvSpPr txBox="1"/>
          <p:nvPr/>
        </p:nvSpPr>
        <p:spPr>
          <a:xfrm>
            <a:off x="7863840" y="4023360"/>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ソムリエと仕入ルート</a:t>
            </a:r>
            <a:endParaRPr lang="en-US" sz="1050" dirty="0"/>
          </a:p>
        </p:txBody>
      </p:sp>
      <p:sp>
        <p:nvSpPr>
          <p:cNvPr id="28" name="Text 25"/>
          <p:cNvSpPr txBox="1"/>
          <p:nvPr/>
        </p:nvSpPr>
        <p:spPr>
          <a:xfrm>
            <a:off x="7863840" y="4233672"/>
            <a:ext cx="3566160" cy="384048"/>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インポーターである当社と組み合わさることで、双方の仕入力が上がりました</a:t>
            </a:r>
            <a:endParaRPr lang="en-US" sz="900" dirty="0"/>
          </a:p>
        </p:txBody>
      </p:sp>
      <p:sp>
        <p:nvSpPr>
          <p:cNvPr id="29" name="Shape 26"/>
          <p:cNvSpPr/>
          <p:nvPr/>
        </p:nvSpPr>
        <p:spPr>
          <a:xfrm>
            <a:off x="7552944" y="4672584"/>
            <a:ext cx="237744" cy="237744"/>
          </a:xfrm>
          <a:prstGeom prst="ellipse">
            <a:avLst/>
          </a:prstGeom>
          <a:solidFill>
            <a:srgbClr val="A26769"/>
          </a:solidFill>
          <a:ln/>
        </p:spPr>
      </p:sp>
      <p:sp>
        <p:nvSpPr>
          <p:cNvPr id="30" name="Text 27"/>
          <p:cNvSpPr txBox="1"/>
          <p:nvPr/>
        </p:nvSpPr>
        <p:spPr>
          <a:xfrm>
            <a:off x="7552944" y="467258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8"/>
          <p:cNvSpPr txBox="1"/>
          <p:nvPr/>
        </p:nvSpPr>
        <p:spPr>
          <a:xfrm>
            <a:off x="7863840" y="4645152"/>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World of Fine Wine 三つ星</a:t>
            </a:r>
            <a:endParaRPr lang="en-US" sz="1050" dirty="0"/>
          </a:p>
        </p:txBody>
      </p:sp>
      <p:sp>
        <p:nvSpPr>
          <p:cNvPr id="32" name="Text 29"/>
          <p:cNvSpPr txBox="1"/>
          <p:nvPr/>
        </p:nvSpPr>
        <p:spPr>
          <a:xfrm>
            <a:off x="7863840" y="4855464"/>
            <a:ext cx="3566160" cy="384048"/>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5年連続で選出されています</a:t>
            </a:r>
            <a:endParaRPr lang="en-US" sz="900" dirty="0"/>
          </a:p>
        </p:txBody>
      </p:sp>
      <p:sp>
        <p:nvSpPr>
          <p:cNvPr id="33" name="Shape 30"/>
          <p:cNvSpPr/>
          <p:nvPr/>
        </p:nvSpPr>
        <p:spPr>
          <a:xfrm>
            <a:off x="566928" y="5541264"/>
            <a:ext cx="11055096" cy="768096"/>
          </a:xfrm>
          <a:prstGeom prst="roundRect">
            <a:avLst>
              <a:gd name="adj" fmla="val 4762"/>
            </a:avLst>
          </a:prstGeom>
          <a:solidFill>
            <a:srgbClr val="6D2E46"/>
          </a:solidFill>
          <a:ln/>
        </p:spPr>
      </p:sp>
      <p:sp>
        <p:nvSpPr>
          <p:cNvPr id="34" name="Text 31"/>
          <p:cNvSpPr txBox="1"/>
          <p:nvPr/>
        </p:nvSpPr>
        <p:spPr>
          <a:xfrm>
            <a:off x="841248" y="5614416"/>
            <a:ext cx="10506456" cy="621792"/>
          </a:xfrm>
          <a:prstGeom prst="rect">
            <a:avLst/>
          </a:prstGeom>
          <a:noFill/>
          <a:ln/>
        </p:spPr>
        <p:txBody>
          <a:bodyPr wrap="square" lIns="0" tIns="0" rIns="0" bIns="0" rtlCol="0" anchor="ctr"/>
          <a:lstStyle/>
          <a:p>
            <a:pPr indent="0" marL="0">
              <a:lnSpc>
                <a:spcPts val="1700"/>
              </a:lnSpc>
              <a:buNone/>
            </a:pPr>
            <a:r>
              <a:rPr lang="en-US" sz="1300" b="1" dirty="0">
                <a:solidFill>
                  <a:srgbClr val="FFFFFF"/>
                </a:solidFill>
              </a:rPr>
              <a:t>グランメゾンは、引き継いでも壊れない。
</a:t>
            </a:r>
            <a:pPr indent="0" marL="0">
              <a:lnSpc>
                <a:spcPts val="1700"/>
              </a:lnSpc>
              <a:buNone/>
            </a:pPr>
            <a:r>
              <a:rPr lang="en-US" sz="1050" dirty="0">
                <a:solidFill>
                  <a:srgbClr val="EBDCE1"/>
                </a:solidFill>
              </a:rPr>
              <a:t>私たちが学んだのは、収益改善の手法ではありません。人を入れ替えず、労働環境をむしろ良くしたうえで、店は伸ばせるということです。</a:t>
            </a:r>
            <a:endParaRPr lang="en-US" sz="1300" dirty="0"/>
          </a:p>
        </p:txBody>
      </p:sp>
      <p:sp>
        <p:nvSpPr>
          <p:cNvPr id="35" name="Text 32"/>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36" name="Text 33"/>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961120" y="-2743200"/>
            <a:ext cx="6583680" cy="6583680"/>
          </a:xfrm>
          <a:prstGeom prst="ellipse">
            <a:avLst/>
          </a:prstGeom>
          <a:solidFill>
            <a:srgbClr val="6D2E46"/>
          </a:solidFill>
          <a:ln/>
        </p:spPr>
      </p:sp>
      <p:sp>
        <p:nvSpPr>
          <p:cNvPr id="3" name="Text 1"/>
          <p:cNvSpPr txBox="1"/>
          <p:nvPr/>
        </p:nvSpPr>
        <p:spPr>
          <a:xfrm>
            <a:off x="566928" y="2487168"/>
            <a:ext cx="10058400" cy="292608"/>
          </a:xfrm>
          <a:prstGeom prst="rect">
            <a:avLst/>
          </a:prstGeom>
          <a:noFill/>
          <a:ln/>
        </p:spPr>
        <p:txBody>
          <a:bodyPr wrap="square" lIns="0" tIns="0" rIns="0" bIns="0" rtlCol="0" anchor="ctr"/>
          <a:lstStyle/>
          <a:p>
            <a:pPr indent="0" marL="0">
              <a:buNone/>
            </a:pPr>
            <a:r>
              <a:rPr lang="en-US" sz="1200" b="1" spc="240" kern="0" dirty="0">
                <a:solidFill>
                  <a:srgbClr val="E0B94A"/>
                </a:solidFill>
                <a:latin typeface="Calibri" pitchFamily="34" charset="0"/>
                <a:ea typeface="Calibri" pitchFamily="34" charset="-122"/>
                <a:cs typeface="Calibri" pitchFamily="34" charset="-120"/>
              </a:rPr>
              <a:t>GROWTH STRATEGY　PHASE I</a:t>
            </a:r>
            <a:endParaRPr lang="en-US" sz="1200" dirty="0"/>
          </a:p>
        </p:txBody>
      </p:sp>
      <p:sp>
        <p:nvSpPr>
          <p:cNvPr id="4" name="Text 2"/>
          <p:cNvSpPr txBox="1"/>
          <p:nvPr/>
        </p:nvSpPr>
        <p:spPr>
          <a:xfrm>
            <a:off x="566928" y="283464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海外著名シェフとの協業</a:t>
            </a:r>
            <a:endParaRPr lang="en-US" sz="4000" dirty="0"/>
          </a:p>
        </p:txBody>
      </p:sp>
      <p:sp>
        <p:nvSpPr>
          <p:cNvPr id="5" name="Text 3"/>
          <p:cNvSpPr txBox="1"/>
          <p:nvPr/>
        </p:nvSpPr>
        <p:spPr>
          <a:xfrm>
            <a:off x="566928" y="3657600"/>
            <a:ext cx="9144000" cy="329184"/>
          </a:xfrm>
          <a:prstGeom prst="rect">
            <a:avLst/>
          </a:prstGeom>
          <a:noFill/>
          <a:ln/>
        </p:spPr>
        <p:txBody>
          <a:bodyPr wrap="square" lIns="0" tIns="0" rIns="0" bIns="0" rtlCol="0" anchor="ctr"/>
          <a:lstStyle/>
          <a:p>
            <a:pPr indent="0" marL="0">
              <a:buNone/>
            </a:pPr>
            <a:r>
              <a:rPr lang="en-US" sz="1300" dirty="0">
                <a:solidFill>
                  <a:srgbClr val="C9B6BC"/>
                </a:solidFill>
                <a:latin typeface="Calibri" pitchFamily="34" charset="0"/>
                <a:ea typeface="Calibri" pitchFamily="34" charset="-122"/>
                <a:cs typeface="Calibri" pitchFamily="34" charset="-120"/>
              </a:rPr>
              <a:t>ティエリー・マルクス　―　パリでミシュラン累計7つ星</a:t>
            </a:r>
            <a:endParaRPr lang="en-US" sz="1300" dirty="0"/>
          </a:p>
        </p:txBody>
      </p:sp>
      <p:sp>
        <p:nvSpPr>
          <p:cNvPr id="6" name="Text 4"/>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7" name="Text 5"/>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THIERRY MARX</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パリでミシュラン累計7つ星。「星請負人」とも呼ばれるシェフ</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1959年パリ20区生まれ。同世代のシェフのなかでも、著名でありかつ最も尊敬を集める一人です。</a:t>
            </a:r>
            <a:endParaRPr lang="en-US" sz="1250" dirty="0"/>
          </a:p>
        </p:txBody>
      </p:sp>
      <p:sp>
        <p:nvSpPr>
          <p:cNvPr id="5" name="Text 3"/>
          <p:cNvSpPr txBox="1"/>
          <p:nvPr/>
        </p:nvSpPr>
        <p:spPr>
          <a:xfrm>
            <a:off x="566928" y="1645920"/>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1988</a:t>
            </a:r>
            <a:endParaRPr lang="en-US" sz="1300" dirty="0"/>
          </a:p>
        </p:txBody>
      </p:sp>
      <p:sp>
        <p:nvSpPr>
          <p:cNvPr id="6" name="Text 4"/>
          <p:cNvSpPr txBox="1"/>
          <p:nvPr/>
        </p:nvSpPr>
        <p:spPr>
          <a:xfrm>
            <a:off x="1463040" y="1645920"/>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トゥール「ロック・アン・ヴァル」でミシュラン1つ星</a:t>
            </a:r>
            <a:endParaRPr lang="en-US" sz="1050" dirty="0"/>
          </a:p>
        </p:txBody>
      </p:sp>
      <p:sp>
        <p:nvSpPr>
          <p:cNvPr id="7" name="Text 5"/>
          <p:cNvSpPr txBox="1"/>
          <p:nvPr/>
        </p:nvSpPr>
        <p:spPr>
          <a:xfrm>
            <a:off x="566928" y="2066544"/>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1991</a:t>
            </a:r>
            <a:endParaRPr lang="en-US" sz="1300" dirty="0"/>
          </a:p>
        </p:txBody>
      </p:sp>
      <p:sp>
        <p:nvSpPr>
          <p:cNvPr id="8" name="Text 6"/>
          <p:cNvSpPr txBox="1"/>
          <p:nvPr/>
        </p:nvSpPr>
        <p:spPr>
          <a:xfrm>
            <a:off x="1463040" y="2066544"/>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ニーム「シュヴァル・ブラン」でミシュラン1つ星</a:t>
            </a:r>
            <a:endParaRPr lang="en-US" sz="1050" dirty="0"/>
          </a:p>
        </p:txBody>
      </p:sp>
      <p:sp>
        <p:nvSpPr>
          <p:cNvPr id="9" name="Text 7"/>
          <p:cNvSpPr txBox="1"/>
          <p:nvPr/>
        </p:nvSpPr>
        <p:spPr>
          <a:xfrm>
            <a:off x="566928" y="2487168"/>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1999</a:t>
            </a:r>
            <a:endParaRPr lang="en-US" sz="1300" dirty="0"/>
          </a:p>
        </p:txBody>
      </p:sp>
      <p:sp>
        <p:nvSpPr>
          <p:cNvPr id="10" name="Text 8"/>
          <p:cNvSpPr txBox="1"/>
          <p:nvPr/>
        </p:nvSpPr>
        <p:spPr>
          <a:xfrm>
            <a:off x="1463040" y="2487168"/>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メドックのルレ・エ・シャトー「コーディヤン・バージュ」でミシュラン2つ星</a:t>
            </a:r>
            <a:endParaRPr lang="en-US" sz="1050" dirty="0"/>
          </a:p>
        </p:txBody>
      </p:sp>
      <p:sp>
        <p:nvSpPr>
          <p:cNvPr id="11" name="Text 9"/>
          <p:cNvSpPr txBox="1"/>
          <p:nvPr/>
        </p:nvSpPr>
        <p:spPr>
          <a:xfrm>
            <a:off x="566928" y="2907792"/>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2006</a:t>
            </a:r>
            <a:endParaRPr lang="en-US" sz="1300" dirty="0"/>
          </a:p>
        </p:txBody>
      </p:sp>
      <p:sp>
        <p:nvSpPr>
          <p:cNvPr id="12" name="Text 10"/>
          <p:cNvSpPr txBox="1"/>
          <p:nvPr/>
        </p:nvSpPr>
        <p:spPr>
          <a:xfrm>
            <a:off x="1463040" y="2907792"/>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ゴー・エ・ミヨ シェフ・オブ・ザ・イヤー 受賞</a:t>
            </a:r>
            <a:endParaRPr lang="en-US" sz="1050" dirty="0"/>
          </a:p>
        </p:txBody>
      </p:sp>
      <p:sp>
        <p:nvSpPr>
          <p:cNvPr id="13" name="Text 11"/>
          <p:cNvSpPr txBox="1"/>
          <p:nvPr/>
        </p:nvSpPr>
        <p:spPr>
          <a:xfrm>
            <a:off x="566928" y="3328416"/>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2010</a:t>
            </a:r>
            <a:endParaRPr lang="en-US" sz="1300" dirty="0"/>
          </a:p>
        </p:txBody>
      </p:sp>
      <p:sp>
        <p:nvSpPr>
          <p:cNvPr id="14" name="Text 12"/>
          <p:cNvSpPr txBox="1"/>
          <p:nvPr/>
        </p:nvSpPr>
        <p:spPr>
          <a:xfrm>
            <a:off x="1463040" y="3328416"/>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マンダリン オリエンタル パリ「シュール・ムジュール」でミシュラン2つ星</a:t>
            </a:r>
            <a:endParaRPr lang="en-US" sz="1050" dirty="0"/>
          </a:p>
        </p:txBody>
      </p:sp>
      <p:sp>
        <p:nvSpPr>
          <p:cNvPr id="15" name="Text 13"/>
          <p:cNvSpPr txBox="1"/>
          <p:nvPr/>
        </p:nvSpPr>
        <p:spPr>
          <a:xfrm>
            <a:off x="566928" y="3749040"/>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2013</a:t>
            </a:r>
            <a:endParaRPr lang="en-US" sz="1300" dirty="0"/>
          </a:p>
        </p:txBody>
      </p:sp>
      <p:sp>
        <p:nvSpPr>
          <p:cNvPr id="16" name="Text 14"/>
          <p:cNvSpPr txBox="1"/>
          <p:nvPr/>
        </p:nvSpPr>
        <p:spPr>
          <a:xfrm>
            <a:off x="1463040" y="3749040"/>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フランス レジオン・ドヌール勲章 受章</a:t>
            </a:r>
            <a:endParaRPr lang="en-US" sz="1050" dirty="0"/>
          </a:p>
        </p:txBody>
      </p:sp>
      <p:sp>
        <p:nvSpPr>
          <p:cNvPr id="17" name="Text 15"/>
          <p:cNvSpPr txBox="1"/>
          <p:nvPr/>
        </p:nvSpPr>
        <p:spPr>
          <a:xfrm>
            <a:off x="566928" y="4169664"/>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2022</a:t>
            </a:r>
            <a:endParaRPr lang="en-US" sz="1300" dirty="0"/>
          </a:p>
        </p:txBody>
      </p:sp>
      <p:sp>
        <p:nvSpPr>
          <p:cNvPr id="18" name="Text 16"/>
          <p:cNvSpPr txBox="1"/>
          <p:nvPr/>
        </p:nvSpPr>
        <p:spPr>
          <a:xfrm>
            <a:off x="1463040" y="4169664"/>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ミシュランガイド 年間ベストメンターに選出</a:t>
            </a:r>
            <a:endParaRPr lang="en-US" sz="1050" dirty="0"/>
          </a:p>
        </p:txBody>
      </p:sp>
      <p:sp>
        <p:nvSpPr>
          <p:cNvPr id="19" name="Text 17"/>
          <p:cNvSpPr txBox="1"/>
          <p:nvPr/>
        </p:nvSpPr>
        <p:spPr>
          <a:xfrm>
            <a:off x="566928" y="4590288"/>
            <a:ext cx="822960" cy="256032"/>
          </a:xfrm>
          <a:prstGeom prst="rect">
            <a:avLst/>
          </a:prstGeom>
          <a:noFill/>
          <a:ln/>
        </p:spPr>
        <p:txBody>
          <a:bodyPr wrap="square" lIns="0" tIns="0" rIns="0" bIns="0" rtlCol="0" anchor="ctr"/>
          <a:lstStyle/>
          <a:p>
            <a:pPr indent="0" marL="0">
              <a:buNone/>
            </a:pPr>
            <a:r>
              <a:rPr lang="en-US" sz="1300" b="1" dirty="0">
                <a:solidFill>
                  <a:srgbClr val="B58B2A"/>
                </a:solidFill>
                <a:latin typeface="Cambria" pitchFamily="34" charset="0"/>
                <a:ea typeface="Cambria" pitchFamily="34" charset="-122"/>
                <a:cs typeface="Cambria" pitchFamily="34" charset="-120"/>
              </a:rPr>
              <a:t>2023</a:t>
            </a:r>
            <a:endParaRPr lang="en-US" sz="1300" dirty="0"/>
          </a:p>
        </p:txBody>
      </p:sp>
      <p:sp>
        <p:nvSpPr>
          <p:cNvPr id="20" name="Text 18"/>
          <p:cNvSpPr txBox="1"/>
          <p:nvPr/>
        </p:nvSpPr>
        <p:spPr>
          <a:xfrm>
            <a:off x="1463040" y="4590288"/>
            <a:ext cx="5394960" cy="310896"/>
          </a:xfrm>
          <a:prstGeom prst="rect">
            <a:avLst/>
          </a:prstGeom>
          <a:noFill/>
          <a:ln/>
        </p:spPr>
        <p:txBody>
          <a:bodyPr wrap="square" lIns="0" tIns="0" rIns="0" bIns="0" rtlCol="0" anchor="ctr"/>
          <a:lstStyle/>
          <a:p>
            <a:pPr indent="0" marL="0">
              <a:lnSpc>
                <a:spcPts val="1400"/>
              </a:lnSpc>
              <a:buNone/>
            </a:pPr>
            <a:r>
              <a:rPr lang="en-US" sz="1050" dirty="0">
                <a:solidFill>
                  <a:srgbClr val="1F1A1C"/>
                </a:solidFill>
                <a:latin typeface="Calibri" pitchFamily="34" charset="0"/>
                <a:ea typeface="Calibri" pitchFamily="34" charset="-122"/>
                <a:cs typeface="Calibri" pitchFamily="34" charset="-120"/>
              </a:rPr>
              <a:t>パリ8区サントノーレに「オノール」オープン</a:t>
            </a:r>
            <a:endParaRPr lang="en-US" sz="1050" dirty="0"/>
          </a:p>
        </p:txBody>
      </p:sp>
      <p:sp>
        <p:nvSpPr>
          <p:cNvPr id="21" name="Shape 19"/>
          <p:cNvSpPr/>
          <p:nvPr/>
        </p:nvSpPr>
        <p:spPr>
          <a:xfrm>
            <a:off x="7059168" y="1627632"/>
            <a:ext cx="4562856" cy="1700784"/>
          </a:xfrm>
          <a:prstGeom prst="roundRect">
            <a:avLst>
              <a:gd name="adj" fmla="val 2688"/>
            </a:avLst>
          </a:prstGeom>
          <a:solidFill>
            <a:srgbClr val="FFFFFF"/>
          </a:solidFill>
          <a:ln w="9525">
            <a:solidFill>
              <a:srgbClr val="E4DADD"/>
            </a:solidFill>
            <a:prstDash val="solid"/>
          </a:ln>
        </p:spPr>
      </p:sp>
      <p:sp>
        <p:nvSpPr>
          <p:cNvPr id="22" name="Text 20"/>
          <p:cNvSpPr txBox="1"/>
          <p:nvPr/>
        </p:nvSpPr>
        <p:spPr>
          <a:xfrm>
            <a:off x="7260336" y="1645920"/>
            <a:ext cx="548640" cy="457200"/>
          </a:xfrm>
          <a:prstGeom prst="rect">
            <a:avLst/>
          </a:prstGeom>
          <a:noFill/>
          <a:ln/>
        </p:spPr>
        <p:txBody>
          <a:bodyPr wrap="square" lIns="0" tIns="0" rIns="0" bIns="0" rtlCol="0" anchor="ctr"/>
          <a:lstStyle/>
          <a:p>
            <a:pPr indent="0" marL="0">
              <a:buNone/>
            </a:pPr>
            <a:r>
              <a:rPr lang="en-US" sz="4000" dirty="0">
                <a:solidFill>
                  <a:srgbClr val="A26769"/>
                </a:solidFill>
                <a:latin typeface="Cambria" pitchFamily="34" charset="0"/>
                <a:ea typeface="Cambria" pitchFamily="34" charset="-122"/>
                <a:cs typeface="Cambria" pitchFamily="34" charset="-120"/>
              </a:rPr>
              <a:t>“</a:t>
            </a:r>
            <a:endParaRPr lang="en-US" sz="4000" dirty="0"/>
          </a:p>
        </p:txBody>
      </p:sp>
      <p:sp>
        <p:nvSpPr>
          <p:cNvPr id="23" name="Text 21"/>
          <p:cNvSpPr txBox="1"/>
          <p:nvPr/>
        </p:nvSpPr>
        <p:spPr>
          <a:xfrm>
            <a:off x="7278624" y="2048256"/>
            <a:ext cx="4133088" cy="1133856"/>
          </a:xfrm>
          <a:prstGeom prst="rect">
            <a:avLst/>
          </a:prstGeom>
          <a:noFill/>
          <a:ln/>
        </p:spPr>
        <p:txBody>
          <a:bodyPr wrap="square" lIns="0" tIns="0" rIns="0" bIns="0" rtlCol="0" anchor="ctr"/>
          <a:lstStyle/>
          <a:p>
            <a:pPr indent="0" marL="0">
              <a:lnSpc>
                <a:spcPts val="1700"/>
              </a:lnSpc>
              <a:buNone/>
            </a:pPr>
            <a:r>
              <a:rPr lang="en-US" sz="1150" dirty="0">
                <a:solidFill>
                  <a:srgbClr val="1F1A1C"/>
                </a:solidFill>
                <a:latin typeface="Cambria" pitchFamily="34" charset="0"/>
                <a:ea typeface="Cambria" pitchFamily="34" charset="-122"/>
                <a:cs typeface="Cambria" pitchFamily="34" charset="-120"/>
              </a:rPr>
              <a:t>幸せな瞬間や自分へのご褒美、誰かと共有することで生まれる温かい気持ちは、私にとってすべてです。活気と刺激に満ちた雰囲気の中で、友人や家族との時間を最大限に楽しむことができる、それがレストランなのです。</a:t>
            </a:r>
            <a:endParaRPr lang="en-US" sz="1150" dirty="0"/>
          </a:p>
        </p:txBody>
      </p:sp>
      <p:sp>
        <p:nvSpPr>
          <p:cNvPr id="24" name="Shape 22"/>
          <p:cNvSpPr/>
          <p:nvPr/>
        </p:nvSpPr>
        <p:spPr>
          <a:xfrm>
            <a:off x="7059168" y="3456432"/>
            <a:ext cx="4562856" cy="2157984"/>
          </a:xfrm>
          <a:prstGeom prst="roundRect">
            <a:avLst>
              <a:gd name="adj" fmla="val 2119"/>
            </a:avLst>
          </a:prstGeom>
          <a:solidFill>
            <a:srgbClr val="F7F3F4"/>
          </a:solidFill>
          <a:ln w="9525">
            <a:solidFill>
              <a:srgbClr val="E4DADD"/>
            </a:solidFill>
            <a:prstDash val="solid"/>
          </a:ln>
        </p:spPr>
      </p:sp>
      <p:sp>
        <p:nvSpPr>
          <p:cNvPr id="25" name="Text 23"/>
          <p:cNvSpPr txBox="1"/>
          <p:nvPr/>
        </p:nvSpPr>
        <p:spPr>
          <a:xfrm>
            <a:off x="7278624" y="3566160"/>
            <a:ext cx="38404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現在の活動</a:t>
            </a:r>
            <a:endParaRPr lang="en-US" sz="1000" dirty="0"/>
          </a:p>
        </p:txBody>
      </p:sp>
      <p:sp>
        <p:nvSpPr>
          <p:cNvPr id="26" name="Text 24"/>
          <p:cNvSpPr txBox="1"/>
          <p:nvPr/>
        </p:nvSpPr>
        <p:spPr>
          <a:xfrm>
            <a:off x="7278624" y="3840480"/>
            <a:ext cx="123444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レストラン</a:t>
            </a:r>
            <a:endParaRPr lang="en-US" sz="950" dirty="0"/>
          </a:p>
        </p:txBody>
      </p:sp>
      <p:sp>
        <p:nvSpPr>
          <p:cNvPr id="27" name="Text 25"/>
          <p:cNvSpPr txBox="1"/>
          <p:nvPr/>
        </p:nvSpPr>
        <p:spPr>
          <a:xfrm>
            <a:off x="8540496" y="3822192"/>
            <a:ext cx="2871216" cy="420624"/>
          </a:xfrm>
          <a:prstGeom prst="rect">
            <a:avLst/>
          </a:prstGeom>
          <a:noFill/>
          <a:ln/>
        </p:spPr>
        <p:txBody>
          <a:bodyPr wrap="square" lIns="0" tIns="0" rIns="0" bIns="0" rtlCol="0" anchor="ctr"/>
          <a:lstStyle/>
          <a:p>
            <a:pPr indent="0" marL="0">
              <a:lnSpc>
                <a:spcPts val="1150"/>
              </a:lnSpc>
              <a:buNone/>
            </a:pPr>
            <a:r>
              <a:rPr lang="en-US" sz="850" dirty="0">
                <a:solidFill>
                  <a:srgbClr val="6E6368"/>
                </a:solidFill>
                <a:latin typeface="Calibri" pitchFamily="34" charset="0"/>
                <a:ea typeface="Calibri" pitchFamily="34" charset="-122"/>
                <a:cs typeface="Calibri" pitchFamily="34" charset="-120"/>
              </a:rPr>
              <a:t>マンダリン オリエンタル パリ、エッフェル塔1階「マダム・ブラッスリー」ほか</a:t>
            </a:r>
            <a:endParaRPr lang="en-US" sz="850" dirty="0"/>
          </a:p>
        </p:txBody>
      </p:sp>
      <p:sp>
        <p:nvSpPr>
          <p:cNvPr id="28" name="Text 26"/>
          <p:cNvSpPr txBox="1"/>
          <p:nvPr/>
        </p:nvSpPr>
        <p:spPr>
          <a:xfrm>
            <a:off x="7278624" y="4279392"/>
            <a:ext cx="123444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ブーランジェリー</a:t>
            </a:r>
            <a:endParaRPr lang="en-US" sz="950" dirty="0"/>
          </a:p>
        </p:txBody>
      </p:sp>
      <p:sp>
        <p:nvSpPr>
          <p:cNvPr id="29" name="Text 27"/>
          <p:cNvSpPr txBox="1"/>
          <p:nvPr/>
        </p:nvSpPr>
        <p:spPr>
          <a:xfrm>
            <a:off x="8540496" y="4261104"/>
            <a:ext cx="2871216" cy="420624"/>
          </a:xfrm>
          <a:prstGeom prst="rect">
            <a:avLst/>
          </a:prstGeom>
          <a:noFill/>
          <a:ln/>
        </p:spPr>
        <p:txBody>
          <a:bodyPr wrap="square" lIns="0" tIns="0" rIns="0" bIns="0" rtlCol="0" anchor="ctr"/>
          <a:lstStyle/>
          <a:p>
            <a:pPr indent="0" marL="0">
              <a:lnSpc>
                <a:spcPts val="1150"/>
              </a:lnSpc>
              <a:buNone/>
            </a:pPr>
            <a:r>
              <a:rPr lang="en-US" sz="850" dirty="0">
                <a:solidFill>
                  <a:srgbClr val="6E6368"/>
                </a:solidFill>
                <a:latin typeface="Calibri" pitchFamily="34" charset="0"/>
                <a:ea typeface="Calibri" pitchFamily="34" charset="-122"/>
                <a:cs typeface="Calibri" pitchFamily="34" charset="-120"/>
              </a:rPr>
              <a:t>パリ市内5店舗。東京・渋谷にも「ティエリーマルクス ラ ブーランジェリー」</a:t>
            </a:r>
            <a:endParaRPr lang="en-US" sz="850" dirty="0"/>
          </a:p>
        </p:txBody>
      </p:sp>
      <p:sp>
        <p:nvSpPr>
          <p:cNvPr id="30" name="Text 28"/>
          <p:cNvSpPr txBox="1"/>
          <p:nvPr/>
        </p:nvSpPr>
        <p:spPr>
          <a:xfrm>
            <a:off x="7278624" y="4718304"/>
            <a:ext cx="123444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教育・社会貢献</a:t>
            </a:r>
            <a:endParaRPr lang="en-US" sz="950" dirty="0"/>
          </a:p>
        </p:txBody>
      </p:sp>
      <p:sp>
        <p:nvSpPr>
          <p:cNvPr id="31" name="Text 29"/>
          <p:cNvSpPr txBox="1"/>
          <p:nvPr/>
        </p:nvSpPr>
        <p:spPr>
          <a:xfrm>
            <a:off x="8540496" y="4700016"/>
            <a:ext cx="2871216" cy="420624"/>
          </a:xfrm>
          <a:prstGeom prst="rect">
            <a:avLst/>
          </a:prstGeom>
          <a:noFill/>
          <a:ln/>
        </p:spPr>
        <p:txBody>
          <a:bodyPr wrap="square" lIns="0" tIns="0" rIns="0" bIns="0" rtlCol="0" anchor="ctr"/>
          <a:lstStyle/>
          <a:p>
            <a:pPr indent="0" marL="0">
              <a:lnSpc>
                <a:spcPts val="1150"/>
              </a:lnSpc>
              <a:buNone/>
            </a:pPr>
            <a:r>
              <a:rPr lang="en-US" sz="850" dirty="0">
                <a:solidFill>
                  <a:srgbClr val="6E6368"/>
                </a:solidFill>
                <a:latin typeface="Calibri" pitchFamily="34" charset="0"/>
                <a:ea typeface="Calibri" pitchFamily="34" charset="-122"/>
                <a:cs typeface="Calibri" pitchFamily="34" charset="-120"/>
              </a:rPr>
              <a:t>パリ市と「調理における職業訓練所」を設立。受刑者への料理教室と職業復帰支援</a:t>
            </a:r>
            <a:endParaRPr lang="en-US" sz="850" dirty="0"/>
          </a:p>
        </p:txBody>
      </p:sp>
      <p:sp>
        <p:nvSpPr>
          <p:cNvPr id="32" name="Text 30"/>
          <p:cNvSpPr txBox="1"/>
          <p:nvPr/>
        </p:nvSpPr>
        <p:spPr>
          <a:xfrm>
            <a:off x="7278624" y="5157216"/>
            <a:ext cx="123444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研究</a:t>
            </a:r>
            <a:endParaRPr lang="en-US" sz="950" dirty="0"/>
          </a:p>
        </p:txBody>
      </p:sp>
      <p:sp>
        <p:nvSpPr>
          <p:cNvPr id="33" name="Text 31"/>
          <p:cNvSpPr txBox="1"/>
          <p:nvPr/>
        </p:nvSpPr>
        <p:spPr>
          <a:xfrm>
            <a:off x="8540496" y="5138928"/>
            <a:ext cx="2871216" cy="420624"/>
          </a:xfrm>
          <a:prstGeom prst="rect">
            <a:avLst/>
          </a:prstGeom>
          <a:noFill/>
          <a:ln/>
        </p:spPr>
        <p:txBody>
          <a:bodyPr wrap="square" lIns="0" tIns="0" rIns="0" bIns="0" rtlCol="0" anchor="ctr"/>
          <a:lstStyle/>
          <a:p>
            <a:pPr indent="0" marL="0">
              <a:lnSpc>
                <a:spcPts val="1150"/>
              </a:lnSpc>
              <a:buNone/>
            </a:pPr>
            <a:r>
              <a:rPr lang="en-US" sz="850" dirty="0">
                <a:solidFill>
                  <a:srgbClr val="6E6368"/>
                </a:solidFill>
                <a:latin typeface="Calibri" pitchFamily="34" charset="0"/>
                <a:ea typeface="Calibri" pitchFamily="34" charset="-122"/>
                <a:cs typeface="Calibri" pitchFamily="34" charset="-120"/>
              </a:rPr>
              <a:t>物理化学者とともに「フランス料理研究センター」を設立。国際宇宙ステーションのメニューも制作</a:t>
            </a:r>
            <a:endParaRPr lang="en-US" sz="850" dirty="0"/>
          </a:p>
        </p:txBody>
      </p:sp>
      <p:sp>
        <p:nvSpPr>
          <p:cNvPr id="34" name="Text 32"/>
          <p:cNvSpPr txBox="1"/>
          <p:nvPr/>
        </p:nvSpPr>
        <p:spPr>
          <a:xfrm>
            <a:off x="566928" y="5175504"/>
            <a:ext cx="6217920" cy="274320"/>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日本再進出にあたり、当社が運営を担います。</a:t>
            </a:r>
            <a:endParaRPr lang="en-US" sz="1500" dirty="0"/>
          </a:p>
        </p:txBody>
      </p:sp>
      <p:sp>
        <p:nvSpPr>
          <p:cNvPr id="35" name="Text 33"/>
          <p:cNvSpPr txBox="1"/>
          <p:nvPr/>
        </p:nvSpPr>
        <p:spPr>
          <a:xfrm>
            <a:off x="566928" y="5486400"/>
            <a:ext cx="6217920" cy="45720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環境への配慮でも知られ、100%認証食品の使用、プラスチック製品の削減、ゼロ・ウェイスト宣言を実践しています。</a:t>
            </a:r>
            <a:endParaRPr lang="en-US" sz="1000" dirty="0"/>
          </a:p>
        </p:txBody>
      </p:sp>
      <p:sp>
        <p:nvSpPr>
          <p:cNvPr id="36" name="Text 34"/>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37" name="Text 35"/>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BRASSERIE THIERRY MARX</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ブラッスリー ティエリー・マルクス　2027年4月 開業予定</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東京ミッドタウン六本木。日常のなかにあるファインダイニングとして、パリのブラッスリーをそのまま持ち込みます。</a:t>
            </a:r>
            <a:endParaRPr lang="en-US" sz="1250" dirty="0"/>
          </a:p>
        </p:txBody>
      </p:sp>
      <p:sp>
        <p:nvSpPr>
          <p:cNvPr id="5" name="Shape 3"/>
          <p:cNvSpPr/>
          <p:nvPr/>
        </p:nvSpPr>
        <p:spPr>
          <a:xfrm>
            <a:off x="566928" y="1755648"/>
            <a:ext cx="2560320" cy="1078992"/>
          </a:xfrm>
          <a:prstGeom prst="roundRect">
            <a:avLst>
              <a:gd name="adj" fmla="val 4237"/>
            </a:avLst>
          </a:prstGeom>
          <a:solidFill>
            <a:srgbClr val="F7F3F4"/>
          </a:solidFill>
          <a:ln w="9525">
            <a:solidFill>
              <a:srgbClr val="E4DADD"/>
            </a:solidFill>
            <a:prstDash val="solid"/>
          </a:ln>
        </p:spPr>
      </p:sp>
      <p:sp>
        <p:nvSpPr>
          <p:cNvPr id="6" name="Text 4"/>
          <p:cNvSpPr txBox="1"/>
          <p:nvPr/>
        </p:nvSpPr>
        <p:spPr>
          <a:xfrm>
            <a:off x="749808" y="1865376"/>
            <a:ext cx="21945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開業</a:t>
            </a:r>
            <a:endParaRPr lang="en-US" sz="950" dirty="0"/>
          </a:p>
        </p:txBody>
      </p:sp>
      <p:sp>
        <p:nvSpPr>
          <p:cNvPr id="7" name="Text 5"/>
          <p:cNvSpPr txBox="1"/>
          <p:nvPr/>
        </p:nvSpPr>
        <p:spPr>
          <a:xfrm>
            <a:off x="749808" y="2084832"/>
            <a:ext cx="2286000" cy="438912"/>
          </a:xfrm>
          <a:prstGeom prst="rect">
            <a:avLst/>
          </a:prstGeom>
          <a:noFill/>
          <a:ln/>
        </p:spPr>
        <p:txBody>
          <a:bodyPr wrap="square" lIns="0" tIns="0" rIns="0" bIns="0" rtlCol="0" anchor="ctr"/>
          <a:lstStyle/>
          <a:p>
            <a:pPr indent="0" marL="0">
              <a:buNone/>
            </a:pPr>
            <a:r>
              <a:rPr lang="en-US" sz="2300" b="1" dirty="0">
                <a:solidFill>
                  <a:srgbClr val="6D2E46"/>
                </a:solidFill>
                <a:latin typeface="Cambria" pitchFamily="34" charset="0"/>
                <a:ea typeface="Cambria" pitchFamily="34" charset="-122"/>
                <a:cs typeface="Cambria" pitchFamily="34" charset="-120"/>
              </a:rPr>
              <a:t>2027年4月</a:t>
            </a:r>
            <a:endParaRPr lang="en-US" sz="2300" dirty="0"/>
          </a:p>
        </p:txBody>
      </p:sp>
      <p:sp>
        <p:nvSpPr>
          <p:cNvPr id="8" name="Text 6"/>
          <p:cNvSpPr txBox="1"/>
          <p:nvPr/>
        </p:nvSpPr>
        <p:spPr>
          <a:xfrm>
            <a:off x="749808" y="2523744"/>
            <a:ext cx="22860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東京ミッドタウン六本木</a:t>
            </a:r>
            <a:endParaRPr lang="en-US" sz="900" dirty="0"/>
          </a:p>
        </p:txBody>
      </p:sp>
      <p:sp>
        <p:nvSpPr>
          <p:cNvPr id="9" name="Shape 7"/>
          <p:cNvSpPr/>
          <p:nvPr/>
        </p:nvSpPr>
        <p:spPr>
          <a:xfrm>
            <a:off x="3355848" y="1755648"/>
            <a:ext cx="2560320" cy="1078992"/>
          </a:xfrm>
          <a:prstGeom prst="roundRect">
            <a:avLst>
              <a:gd name="adj" fmla="val 4237"/>
            </a:avLst>
          </a:prstGeom>
          <a:solidFill>
            <a:srgbClr val="F7F3F4"/>
          </a:solidFill>
          <a:ln w="9525">
            <a:solidFill>
              <a:srgbClr val="E4DADD"/>
            </a:solidFill>
            <a:prstDash val="solid"/>
          </a:ln>
        </p:spPr>
      </p:sp>
      <p:sp>
        <p:nvSpPr>
          <p:cNvPr id="10" name="Text 8"/>
          <p:cNvSpPr txBox="1"/>
          <p:nvPr/>
        </p:nvSpPr>
        <p:spPr>
          <a:xfrm>
            <a:off x="3538728" y="1865376"/>
            <a:ext cx="21945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規模</a:t>
            </a:r>
            <a:endParaRPr lang="en-US" sz="950" dirty="0"/>
          </a:p>
        </p:txBody>
      </p:sp>
      <p:sp>
        <p:nvSpPr>
          <p:cNvPr id="11" name="Text 9"/>
          <p:cNvSpPr txBox="1"/>
          <p:nvPr/>
        </p:nvSpPr>
        <p:spPr>
          <a:xfrm>
            <a:off x="3538728" y="2084832"/>
            <a:ext cx="2286000" cy="438912"/>
          </a:xfrm>
          <a:prstGeom prst="rect">
            <a:avLst/>
          </a:prstGeom>
          <a:noFill/>
          <a:ln/>
        </p:spPr>
        <p:txBody>
          <a:bodyPr wrap="square" lIns="0" tIns="0" rIns="0" bIns="0" rtlCol="0" anchor="ctr"/>
          <a:lstStyle/>
          <a:p>
            <a:pPr indent="0" marL="0">
              <a:buNone/>
            </a:pPr>
            <a:r>
              <a:rPr lang="en-US" sz="2300" b="1" dirty="0">
                <a:solidFill>
                  <a:srgbClr val="6D2E46"/>
                </a:solidFill>
                <a:latin typeface="Cambria" pitchFamily="34" charset="0"/>
                <a:ea typeface="Cambria" pitchFamily="34" charset="-122"/>
                <a:cs typeface="Cambria" pitchFamily="34" charset="-120"/>
              </a:rPr>
              <a:t>123席</a:t>
            </a:r>
            <a:endParaRPr lang="en-US" sz="2300" dirty="0"/>
          </a:p>
        </p:txBody>
      </p:sp>
      <p:sp>
        <p:nvSpPr>
          <p:cNvPr id="12" name="Text 10"/>
          <p:cNvSpPr txBox="1"/>
          <p:nvPr/>
        </p:nvSpPr>
        <p:spPr>
          <a:xfrm>
            <a:off x="3538728" y="2523744"/>
            <a:ext cx="22860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183.59㎡（55.5坪）</a:t>
            </a:r>
            <a:endParaRPr lang="en-US" sz="900" dirty="0"/>
          </a:p>
        </p:txBody>
      </p:sp>
      <p:sp>
        <p:nvSpPr>
          <p:cNvPr id="13" name="Shape 11"/>
          <p:cNvSpPr/>
          <p:nvPr/>
        </p:nvSpPr>
        <p:spPr>
          <a:xfrm>
            <a:off x="6144768" y="1755648"/>
            <a:ext cx="2560320" cy="1078992"/>
          </a:xfrm>
          <a:prstGeom prst="roundRect">
            <a:avLst>
              <a:gd name="adj" fmla="val 4237"/>
            </a:avLst>
          </a:prstGeom>
          <a:solidFill>
            <a:srgbClr val="F7F3F4"/>
          </a:solidFill>
          <a:ln w="9525">
            <a:solidFill>
              <a:srgbClr val="E4DADD"/>
            </a:solidFill>
            <a:prstDash val="solid"/>
          </a:ln>
        </p:spPr>
      </p:sp>
      <p:sp>
        <p:nvSpPr>
          <p:cNvPr id="14" name="Text 12"/>
          <p:cNvSpPr txBox="1"/>
          <p:nvPr/>
        </p:nvSpPr>
        <p:spPr>
          <a:xfrm>
            <a:off x="6327648" y="1865376"/>
            <a:ext cx="21945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営業</a:t>
            </a:r>
            <a:endParaRPr lang="en-US" sz="950" dirty="0"/>
          </a:p>
        </p:txBody>
      </p:sp>
      <p:sp>
        <p:nvSpPr>
          <p:cNvPr id="15" name="Text 13"/>
          <p:cNvSpPr txBox="1"/>
          <p:nvPr/>
        </p:nvSpPr>
        <p:spPr>
          <a:xfrm>
            <a:off x="6327648" y="2084832"/>
            <a:ext cx="2286000" cy="438912"/>
          </a:xfrm>
          <a:prstGeom prst="rect">
            <a:avLst/>
          </a:prstGeom>
          <a:noFill/>
          <a:ln/>
        </p:spPr>
        <p:txBody>
          <a:bodyPr wrap="square" lIns="0" tIns="0" rIns="0" bIns="0" rtlCol="0" anchor="ctr"/>
          <a:lstStyle/>
          <a:p>
            <a:pPr indent="0" marL="0">
              <a:buNone/>
            </a:pPr>
            <a:r>
              <a:rPr lang="en-US" sz="2300" b="1" dirty="0">
                <a:solidFill>
                  <a:srgbClr val="6D2E46"/>
                </a:solidFill>
                <a:latin typeface="Cambria" pitchFamily="34" charset="0"/>
                <a:ea typeface="Cambria" pitchFamily="34" charset="-122"/>
                <a:cs typeface="Cambria" pitchFamily="34" charset="-120"/>
              </a:rPr>
              <a:t>年363日</a:t>
            </a:r>
            <a:endParaRPr lang="en-US" sz="2300" dirty="0"/>
          </a:p>
        </p:txBody>
      </p:sp>
      <p:sp>
        <p:nvSpPr>
          <p:cNvPr id="16" name="Text 14"/>
          <p:cNvSpPr txBox="1"/>
          <p:nvPr/>
        </p:nvSpPr>
        <p:spPr>
          <a:xfrm>
            <a:off x="6327648" y="2523744"/>
            <a:ext cx="228600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稼働率80%を想定</a:t>
            </a:r>
            <a:endParaRPr lang="en-US" sz="900" dirty="0"/>
          </a:p>
        </p:txBody>
      </p:sp>
      <p:sp>
        <p:nvSpPr>
          <p:cNvPr id="17" name="Shape 15"/>
          <p:cNvSpPr/>
          <p:nvPr/>
        </p:nvSpPr>
        <p:spPr>
          <a:xfrm>
            <a:off x="8933688" y="1755648"/>
            <a:ext cx="2560320" cy="1078992"/>
          </a:xfrm>
          <a:prstGeom prst="roundRect">
            <a:avLst>
              <a:gd name="adj" fmla="val 4237"/>
            </a:avLst>
          </a:prstGeom>
          <a:solidFill>
            <a:srgbClr val="6D2E46"/>
          </a:solidFill>
          <a:ln w="9525">
            <a:solidFill>
              <a:srgbClr val="6D2E46"/>
            </a:solidFill>
            <a:prstDash val="solid"/>
          </a:ln>
        </p:spPr>
      </p:sp>
      <p:sp>
        <p:nvSpPr>
          <p:cNvPr id="18" name="Text 16"/>
          <p:cNvSpPr txBox="1"/>
          <p:nvPr/>
        </p:nvSpPr>
        <p:spPr>
          <a:xfrm>
            <a:off x="9116568" y="1865376"/>
            <a:ext cx="2194560" cy="219456"/>
          </a:xfrm>
          <a:prstGeom prst="rect">
            <a:avLst/>
          </a:prstGeom>
          <a:noFill/>
          <a:ln/>
        </p:spPr>
        <p:txBody>
          <a:bodyPr wrap="square" lIns="0" tIns="0" rIns="0" bIns="0" rtlCol="0" anchor="ctr"/>
          <a:lstStyle/>
          <a:p>
            <a:pPr indent="0" marL="0">
              <a:buNone/>
            </a:pPr>
            <a:r>
              <a:rPr lang="en-US" sz="950" b="1" dirty="0">
                <a:solidFill>
                  <a:srgbClr val="E8D6DB"/>
                </a:solidFill>
                <a:latin typeface="Calibri" pitchFamily="34" charset="0"/>
                <a:ea typeface="Calibri" pitchFamily="34" charset="-122"/>
                <a:cs typeface="Calibri" pitchFamily="34" charset="-120"/>
              </a:rPr>
              <a:t>満年度売上</a:t>
            </a:r>
            <a:endParaRPr lang="en-US" sz="950" dirty="0"/>
          </a:p>
        </p:txBody>
      </p:sp>
      <p:sp>
        <p:nvSpPr>
          <p:cNvPr id="19" name="Text 17"/>
          <p:cNvSpPr txBox="1"/>
          <p:nvPr/>
        </p:nvSpPr>
        <p:spPr>
          <a:xfrm>
            <a:off x="9116568" y="2084832"/>
            <a:ext cx="2286000" cy="43891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4.60億円</a:t>
            </a:r>
            <a:endParaRPr lang="en-US" sz="2300" dirty="0"/>
          </a:p>
        </p:txBody>
      </p:sp>
      <p:sp>
        <p:nvSpPr>
          <p:cNvPr id="20" name="Text 18"/>
          <p:cNvSpPr txBox="1"/>
          <p:nvPr/>
        </p:nvSpPr>
        <p:spPr>
          <a:xfrm>
            <a:off x="9116568" y="2523744"/>
            <a:ext cx="2286000" cy="219456"/>
          </a:xfrm>
          <a:prstGeom prst="rect">
            <a:avLst/>
          </a:prstGeom>
          <a:noFill/>
          <a:ln/>
        </p:spPr>
        <p:txBody>
          <a:bodyPr wrap="square" lIns="0" tIns="0" rIns="0" bIns="0" rtlCol="0" anchor="ctr"/>
          <a:lstStyle/>
          <a:p>
            <a:pPr indent="0" marL="0">
              <a:buNone/>
            </a:pPr>
            <a:r>
              <a:rPr lang="en-US" sz="900" dirty="0">
                <a:solidFill>
                  <a:srgbClr val="C9AEB6"/>
                </a:solidFill>
                <a:latin typeface="Calibri" pitchFamily="34" charset="0"/>
                <a:ea typeface="Calibri" pitchFamily="34" charset="-122"/>
                <a:cs typeface="Calibri" pitchFamily="34" charset="-120"/>
              </a:rPr>
              <a:t>日商 約127万円</a:t>
            </a:r>
            <a:endParaRPr lang="en-US" sz="900" dirty="0"/>
          </a:p>
        </p:txBody>
      </p:sp>
      <p:sp>
        <p:nvSpPr>
          <p:cNvPr id="21" name="Text 19"/>
          <p:cNvSpPr txBox="1"/>
          <p:nvPr/>
        </p:nvSpPr>
        <p:spPr>
          <a:xfrm>
            <a:off x="566928" y="2999232"/>
            <a:ext cx="45720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出店計画</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3310128"/>
          <a:ext cx="6583680" cy="914400"/>
        </p:xfrm>
        <a:graphic>
          <a:graphicData uri="http://schemas.openxmlformats.org/drawingml/2006/table">
            <a:tbl>
              <a:tblPr/>
              <a:tblGrid>
                <a:gridCol w="1280160"/>
                <a:gridCol w="2011680"/>
                <a:gridCol w="329184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年度</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出店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内容</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2027年4月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六本木</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東京ミッドタウン六本木。標準店モデルとなる1号店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2028年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札幌・大阪</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2店舗。当社の創業地である札幌を含む</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2029年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首都圏・政令指定都市</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2030年〜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リゾート含め年2店舗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ここから、オーベルジュ構想につながります</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23" name="Shape 20"/>
          <p:cNvSpPr/>
          <p:nvPr/>
        </p:nvSpPr>
        <p:spPr>
          <a:xfrm>
            <a:off x="7333488" y="2999232"/>
            <a:ext cx="4288536" cy="2542032"/>
          </a:xfrm>
          <a:prstGeom prst="roundRect">
            <a:avLst>
              <a:gd name="adj" fmla="val 1799"/>
            </a:avLst>
          </a:prstGeom>
          <a:solidFill>
            <a:srgbClr val="FFFFFF"/>
          </a:solidFill>
          <a:ln w="9525">
            <a:solidFill>
              <a:srgbClr val="E4DADD"/>
            </a:solidFill>
            <a:prstDash val="solid"/>
          </a:ln>
        </p:spPr>
      </p:sp>
      <p:sp>
        <p:nvSpPr>
          <p:cNvPr id="24" name="Text 21"/>
          <p:cNvSpPr txBox="1"/>
          <p:nvPr/>
        </p:nvSpPr>
        <p:spPr>
          <a:xfrm>
            <a:off x="7552944" y="3108960"/>
            <a:ext cx="38404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なぜブラッスリーなのか</a:t>
            </a:r>
            <a:endParaRPr lang="en-US" sz="1000" dirty="0"/>
          </a:p>
        </p:txBody>
      </p:sp>
      <p:sp>
        <p:nvSpPr>
          <p:cNvPr id="25" name="Text 22"/>
          <p:cNvSpPr txBox="1"/>
          <p:nvPr/>
        </p:nvSpPr>
        <p:spPr>
          <a:xfrm>
            <a:off x="7552944" y="3364992"/>
            <a:ext cx="3858768" cy="658368"/>
          </a:xfrm>
          <a:prstGeom prst="rect">
            <a:avLst/>
          </a:prstGeom>
          <a:noFill/>
          <a:ln/>
        </p:spPr>
        <p:txBody>
          <a:bodyPr wrap="square" lIns="0" tIns="0" rIns="0" bIns="0" rtlCol="0" anchor="ctr"/>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ガストロノミーが「一生に何度か」の場所だとすれば、ブラッスリーは「月に一度」の場所です。パリでは、その両方が同じ料理人の手のなかにあります。</a:t>
            </a:r>
            <a:endParaRPr lang="en-US" sz="1050" dirty="0"/>
          </a:p>
        </p:txBody>
      </p:sp>
      <p:sp>
        <p:nvSpPr>
          <p:cNvPr id="26" name="Text 23"/>
          <p:cNvSpPr txBox="1"/>
          <p:nvPr/>
        </p:nvSpPr>
        <p:spPr>
          <a:xfrm>
            <a:off x="7552944" y="4114800"/>
            <a:ext cx="38404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当社にとっての意味</a:t>
            </a:r>
            <a:endParaRPr lang="en-US" sz="1000" dirty="0"/>
          </a:p>
        </p:txBody>
      </p:sp>
      <p:sp>
        <p:nvSpPr>
          <p:cNvPr id="27" name="Text 24"/>
          <p:cNvSpPr txBox="1"/>
          <p:nvPr/>
        </p:nvSpPr>
        <p:spPr>
          <a:xfrm>
            <a:off x="7552944" y="4389120"/>
            <a:ext cx="548640" cy="201168"/>
          </a:xfrm>
          <a:prstGeom prst="rect">
            <a:avLst/>
          </a:prstGeom>
          <a:noFill/>
          <a:ln/>
        </p:spPr>
        <p:txBody>
          <a:bodyPr wrap="square" lIns="0" tIns="0" rIns="0" bIns="0" rtlCol="0" anchor="ctr"/>
          <a:lstStyle/>
          <a:p>
            <a:pPr indent="0" marL="0">
              <a:buNone/>
            </a:pPr>
            <a:r>
              <a:rPr lang="en-US" sz="900" b="1" dirty="0">
                <a:solidFill>
                  <a:srgbClr val="6D2E46"/>
                </a:solidFill>
                <a:latin typeface="Calibri" pitchFamily="34" charset="0"/>
                <a:ea typeface="Calibri" pitchFamily="34" charset="-122"/>
                <a:cs typeface="Calibri" pitchFamily="34" charset="-120"/>
              </a:rPr>
              <a:t>仕入</a:t>
            </a:r>
            <a:endParaRPr lang="en-US" sz="900" dirty="0"/>
          </a:p>
        </p:txBody>
      </p:sp>
      <p:sp>
        <p:nvSpPr>
          <p:cNvPr id="28" name="Text 25"/>
          <p:cNvSpPr txBox="1"/>
          <p:nvPr/>
        </p:nvSpPr>
        <p:spPr>
          <a:xfrm>
            <a:off x="8138160" y="4370832"/>
            <a:ext cx="3273552" cy="365760"/>
          </a:xfrm>
          <a:prstGeom prst="rect">
            <a:avLst/>
          </a:prstGeom>
          <a:noFill/>
          <a:ln/>
        </p:spPr>
        <p:txBody>
          <a:bodyPr wrap="square" lIns="0" tIns="0" rIns="0" bIns="0" rtlCol="0" anchor="ctr"/>
          <a:lstStyle/>
          <a:p>
            <a:pPr indent="0" marL="0">
              <a:lnSpc>
                <a:spcPts val="1050"/>
              </a:lnSpc>
              <a:buNone/>
            </a:pPr>
            <a:r>
              <a:rPr lang="en-US" sz="800" dirty="0">
                <a:solidFill>
                  <a:srgbClr val="6E6368"/>
                </a:solidFill>
                <a:latin typeface="Calibri" pitchFamily="34" charset="0"/>
                <a:ea typeface="Calibri" pitchFamily="34" charset="-122"/>
                <a:cs typeface="Calibri" pitchFamily="34" charset="-120"/>
              </a:rPr>
              <a:t>ティエリー・マルクス氏の信頼と権威により、海外からのワイン仕入をさらに強化できます。国内でも希少ワインの割当を増やせる可能性があります。</a:t>
            </a:r>
            <a:endParaRPr lang="en-US" sz="800" dirty="0"/>
          </a:p>
        </p:txBody>
      </p:sp>
      <p:sp>
        <p:nvSpPr>
          <p:cNvPr id="29" name="Text 26"/>
          <p:cNvSpPr txBox="1"/>
          <p:nvPr/>
        </p:nvSpPr>
        <p:spPr>
          <a:xfrm>
            <a:off x="7552944" y="4736592"/>
            <a:ext cx="548640" cy="201168"/>
          </a:xfrm>
          <a:prstGeom prst="rect">
            <a:avLst/>
          </a:prstGeom>
          <a:noFill/>
          <a:ln/>
        </p:spPr>
        <p:txBody>
          <a:bodyPr wrap="square" lIns="0" tIns="0" rIns="0" bIns="0" rtlCol="0" anchor="ctr"/>
          <a:lstStyle/>
          <a:p>
            <a:pPr indent="0" marL="0">
              <a:buNone/>
            </a:pPr>
            <a:r>
              <a:rPr lang="en-US" sz="900" b="1" dirty="0">
                <a:solidFill>
                  <a:srgbClr val="6D2E46"/>
                </a:solidFill>
                <a:latin typeface="Calibri" pitchFamily="34" charset="0"/>
                <a:ea typeface="Calibri" pitchFamily="34" charset="-122"/>
                <a:cs typeface="Calibri" pitchFamily="34" charset="-120"/>
              </a:rPr>
              <a:t>販売</a:t>
            </a:r>
            <a:endParaRPr lang="en-US" sz="900" dirty="0"/>
          </a:p>
        </p:txBody>
      </p:sp>
      <p:sp>
        <p:nvSpPr>
          <p:cNvPr id="30" name="Text 27"/>
          <p:cNvSpPr txBox="1"/>
          <p:nvPr/>
        </p:nvSpPr>
        <p:spPr>
          <a:xfrm>
            <a:off x="8138160" y="4718304"/>
            <a:ext cx="3273552" cy="365760"/>
          </a:xfrm>
          <a:prstGeom prst="rect">
            <a:avLst/>
          </a:prstGeom>
          <a:noFill/>
          <a:ln/>
        </p:spPr>
        <p:txBody>
          <a:bodyPr wrap="square" lIns="0" tIns="0" rIns="0" bIns="0" rtlCol="0" anchor="ctr"/>
          <a:lstStyle/>
          <a:p>
            <a:pPr indent="0" marL="0">
              <a:lnSpc>
                <a:spcPts val="1050"/>
              </a:lnSpc>
              <a:buNone/>
            </a:pPr>
            <a:r>
              <a:rPr lang="en-US" sz="800" dirty="0">
                <a:solidFill>
                  <a:srgbClr val="6E6368"/>
                </a:solidFill>
                <a:latin typeface="Calibri" pitchFamily="34" charset="0"/>
                <a:ea typeface="Calibri" pitchFamily="34" charset="-122"/>
                <a:cs typeface="Calibri" pitchFamily="34" charset="-120"/>
              </a:rPr>
              <a:t>店舗での継続的なワイン売上が見込め、レストラン／ワイン卸事業は来期売上200%まで成長する見込みです。</a:t>
            </a:r>
            <a:endParaRPr lang="en-US" sz="800" dirty="0"/>
          </a:p>
        </p:txBody>
      </p:sp>
      <p:sp>
        <p:nvSpPr>
          <p:cNvPr id="31" name="Text 28"/>
          <p:cNvSpPr txBox="1"/>
          <p:nvPr/>
        </p:nvSpPr>
        <p:spPr>
          <a:xfrm>
            <a:off x="7552944" y="5084064"/>
            <a:ext cx="548640" cy="201168"/>
          </a:xfrm>
          <a:prstGeom prst="rect">
            <a:avLst/>
          </a:prstGeom>
          <a:noFill/>
          <a:ln/>
        </p:spPr>
        <p:txBody>
          <a:bodyPr wrap="square" lIns="0" tIns="0" rIns="0" bIns="0" rtlCol="0" anchor="ctr"/>
          <a:lstStyle/>
          <a:p>
            <a:pPr indent="0" marL="0">
              <a:buNone/>
            </a:pPr>
            <a:r>
              <a:rPr lang="en-US" sz="900" b="1" dirty="0">
                <a:solidFill>
                  <a:srgbClr val="6D2E46"/>
                </a:solidFill>
                <a:latin typeface="Calibri" pitchFamily="34" charset="0"/>
                <a:ea typeface="Calibri" pitchFamily="34" charset="-122"/>
                <a:cs typeface="Calibri" pitchFamily="34" charset="-120"/>
              </a:rPr>
              <a:t>認知</a:t>
            </a:r>
            <a:endParaRPr lang="en-US" sz="900" dirty="0"/>
          </a:p>
        </p:txBody>
      </p:sp>
      <p:sp>
        <p:nvSpPr>
          <p:cNvPr id="32" name="Text 29"/>
          <p:cNvSpPr txBox="1"/>
          <p:nvPr/>
        </p:nvSpPr>
        <p:spPr>
          <a:xfrm>
            <a:off x="8138160" y="5065776"/>
            <a:ext cx="3273552" cy="365760"/>
          </a:xfrm>
          <a:prstGeom prst="rect">
            <a:avLst/>
          </a:prstGeom>
          <a:noFill/>
          <a:ln/>
        </p:spPr>
        <p:txBody>
          <a:bodyPr wrap="square" lIns="0" tIns="0" rIns="0" bIns="0" rtlCol="0" anchor="ctr"/>
          <a:lstStyle/>
          <a:p>
            <a:pPr indent="0" marL="0">
              <a:lnSpc>
                <a:spcPts val="1050"/>
              </a:lnSpc>
              <a:buNone/>
            </a:pPr>
            <a:r>
              <a:rPr lang="en-US" sz="800" dirty="0">
                <a:solidFill>
                  <a:srgbClr val="6E6368"/>
                </a:solidFill>
                <a:latin typeface="Calibri" pitchFamily="34" charset="0"/>
                <a:ea typeface="Calibri" pitchFamily="34" charset="-122"/>
                <a:cs typeface="Calibri" pitchFamily="34" charset="-120"/>
              </a:rPr>
              <a:t>出店による認知拡大は、運営会社である当社そのものの認知にも波及します。</a:t>
            </a:r>
            <a:endParaRPr lang="en-US" sz="800" dirty="0"/>
          </a:p>
        </p:txBody>
      </p:sp>
      <p:sp>
        <p:nvSpPr>
          <p:cNvPr id="33" name="Text 30"/>
          <p:cNvSpPr txBox="1"/>
          <p:nvPr/>
        </p:nvSpPr>
        <p:spPr>
          <a:xfrm>
            <a:off x="566928" y="5687568"/>
            <a:ext cx="11055096"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 数値は2026年8月提出の六本木ミッドタウン店 損益計画に準拠。</a:t>
            </a:r>
            <a:endParaRPr lang="en-US" sz="900" dirty="0"/>
          </a:p>
        </p:txBody>
      </p:sp>
      <p:sp>
        <p:nvSpPr>
          <p:cNvPr id="34" name="Text 31"/>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35" name="Text 32"/>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961120" y="-2743200"/>
            <a:ext cx="6583680" cy="6583680"/>
          </a:xfrm>
          <a:prstGeom prst="ellipse">
            <a:avLst/>
          </a:prstGeom>
          <a:solidFill>
            <a:srgbClr val="6D2E46"/>
          </a:solidFill>
          <a:ln/>
        </p:spPr>
      </p:sp>
      <p:sp>
        <p:nvSpPr>
          <p:cNvPr id="3" name="Text 1"/>
          <p:cNvSpPr txBox="1"/>
          <p:nvPr/>
        </p:nvSpPr>
        <p:spPr>
          <a:xfrm>
            <a:off x="566928" y="2487168"/>
            <a:ext cx="10058400" cy="292608"/>
          </a:xfrm>
          <a:prstGeom prst="rect">
            <a:avLst/>
          </a:prstGeom>
          <a:noFill/>
          <a:ln/>
        </p:spPr>
        <p:txBody>
          <a:bodyPr wrap="square" lIns="0" tIns="0" rIns="0" bIns="0" rtlCol="0" anchor="ctr"/>
          <a:lstStyle/>
          <a:p>
            <a:pPr indent="0" marL="0">
              <a:buNone/>
            </a:pPr>
            <a:r>
              <a:rPr lang="en-US" sz="1200" b="1" spc="240" kern="0" dirty="0">
                <a:solidFill>
                  <a:srgbClr val="E0B94A"/>
                </a:solidFill>
                <a:latin typeface="Calibri" pitchFamily="34" charset="0"/>
                <a:ea typeface="Calibri" pitchFamily="34" charset="-122"/>
                <a:cs typeface="Calibri" pitchFamily="34" charset="-120"/>
              </a:rPr>
              <a:t>GROWTH STRATEGY　PHASE II</a:t>
            </a:r>
            <a:endParaRPr lang="en-US" sz="1200" dirty="0"/>
          </a:p>
        </p:txBody>
      </p:sp>
      <p:sp>
        <p:nvSpPr>
          <p:cNvPr id="4" name="Text 2"/>
          <p:cNvSpPr txBox="1"/>
          <p:nvPr/>
        </p:nvSpPr>
        <p:spPr>
          <a:xfrm>
            <a:off x="566928" y="283464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国内オーベルジュ構想</a:t>
            </a:r>
            <a:endParaRPr lang="en-US" sz="4000" dirty="0"/>
          </a:p>
        </p:txBody>
      </p:sp>
      <p:sp>
        <p:nvSpPr>
          <p:cNvPr id="5" name="Text 3"/>
          <p:cNvSpPr txBox="1"/>
          <p:nvPr/>
        </p:nvSpPr>
        <p:spPr>
          <a:xfrm>
            <a:off x="566928" y="3657600"/>
            <a:ext cx="9144000" cy="329184"/>
          </a:xfrm>
          <a:prstGeom prst="rect">
            <a:avLst/>
          </a:prstGeom>
          <a:noFill/>
          <a:ln/>
        </p:spPr>
        <p:txBody>
          <a:bodyPr wrap="square" lIns="0" tIns="0" rIns="0" bIns="0" rtlCol="0" anchor="ctr"/>
          <a:lstStyle/>
          <a:p>
            <a:pPr indent="0" marL="0">
              <a:buNone/>
            </a:pPr>
            <a:r>
              <a:rPr lang="en-US" sz="1300" dirty="0">
                <a:solidFill>
                  <a:srgbClr val="C9B6BC"/>
                </a:solidFill>
                <a:latin typeface="Calibri" pitchFamily="34" charset="0"/>
                <a:ea typeface="Calibri" pitchFamily="34" charset="-122"/>
                <a:cs typeface="Calibri" pitchFamily="34" charset="-120"/>
              </a:rPr>
              <a:t>料理と、ワインと、滞在。三つが同じ場所にある店を。</a:t>
            </a:r>
            <a:endParaRPr lang="en-US" sz="1300" dirty="0"/>
          </a:p>
        </p:txBody>
      </p:sp>
      <p:sp>
        <p:nvSpPr>
          <p:cNvPr id="6" name="Text 4"/>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7" name="Text 5"/>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AUBERGE</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国内オーベルジュ構想</a:t>
            </a:r>
            <a:endParaRPr lang="en-US" sz="2900" dirty="0"/>
          </a:p>
        </p:txBody>
      </p:sp>
      <p:sp>
        <p:nvSpPr>
          <p:cNvPr id="4" name="Text 2"/>
          <p:cNvSpPr txBox="1"/>
          <p:nvPr/>
        </p:nvSpPr>
        <p:spPr>
          <a:xfrm>
            <a:off x="566928" y="1133856"/>
            <a:ext cx="11055096" cy="530352"/>
          </a:xfrm>
          <a:prstGeom prst="rect">
            <a:avLst/>
          </a:prstGeom>
          <a:noFill/>
          <a:ln/>
        </p:spPr>
        <p:txBody>
          <a:bodyPr wrap="square" lIns="0" tIns="0" rIns="0" bIns="0" rtlCol="0" anchor="t"/>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日本のワイン産地に、レストランを主役とした小規模な滞在施設をつくる構想です。ブラッスリーの出店計画（2030年以降のリゾート展開）と接続させます。</a:t>
            </a:r>
            <a:endParaRPr lang="en-US" sz="1250" dirty="0"/>
          </a:p>
        </p:txBody>
      </p:sp>
      <p:sp>
        <p:nvSpPr>
          <p:cNvPr id="5" name="Shape 3"/>
          <p:cNvSpPr/>
          <p:nvPr/>
        </p:nvSpPr>
        <p:spPr>
          <a:xfrm>
            <a:off x="566928" y="1719072"/>
            <a:ext cx="3520440" cy="1920240"/>
          </a:xfrm>
          <a:prstGeom prst="roundRect">
            <a:avLst>
              <a:gd name="adj" fmla="val 2381"/>
            </a:avLst>
          </a:prstGeom>
          <a:solidFill>
            <a:srgbClr val="FFFFFF"/>
          </a:solidFill>
          <a:ln w="9525">
            <a:solidFill>
              <a:srgbClr val="E4DADD"/>
            </a:solidFill>
            <a:prstDash val="solid"/>
          </a:ln>
        </p:spPr>
      </p:sp>
      <p:sp>
        <p:nvSpPr>
          <p:cNvPr id="6" name="Shape 4"/>
          <p:cNvSpPr/>
          <p:nvPr/>
        </p:nvSpPr>
        <p:spPr>
          <a:xfrm>
            <a:off x="786384" y="1883664"/>
            <a:ext cx="1005840" cy="310896"/>
          </a:xfrm>
          <a:prstGeom prst="roundRect">
            <a:avLst>
              <a:gd name="adj" fmla="val 11765"/>
            </a:avLst>
          </a:prstGeom>
          <a:solidFill>
            <a:srgbClr val="6D2E46"/>
          </a:solidFill>
          <a:ln/>
        </p:spPr>
      </p:sp>
      <p:sp>
        <p:nvSpPr>
          <p:cNvPr id="7" name="Text 5"/>
          <p:cNvSpPr txBox="1"/>
          <p:nvPr/>
        </p:nvSpPr>
        <p:spPr>
          <a:xfrm>
            <a:off x="786384" y="1883664"/>
            <a:ext cx="10058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料理</a:t>
            </a:r>
            <a:endParaRPr lang="en-US" sz="1150" dirty="0"/>
          </a:p>
        </p:txBody>
      </p:sp>
      <p:sp>
        <p:nvSpPr>
          <p:cNvPr id="8" name="Text 6"/>
          <p:cNvSpPr txBox="1"/>
          <p:nvPr/>
        </p:nvSpPr>
        <p:spPr>
          <a:xfrm>
            <a:off x="786384" y="2304288"/>
            <a:ext cx="3108960" cy="274320"/>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ファインダイニング</a:t>
            </a:r>
            <a:endParaRPr lang="en-US" sz="1500" dirty="0"/>
          </a:p>
        </p:txBody>
      </p:sp>
      <p:sp>
        <p:nvSpPr>
          <p:cNvPr id="9" name="Text 7"/>
          <p:cNvSpPr txBox="1"/>
          <p:nvPr/>
        </p:nvSpPr>
        <p:spPr>
          <a:xfrm>
            <a:off x="786384" y="2633472"/>
            <a:ext cx="3127248" cy="877824"/>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その土地の生産者と同じテーブルにつける距離で、一日十数名だけをお迎えする。</a:t>
            </a:r>
            <a:endParaRPr lang="en-US" sz="1000" dirty="0"/>
          </a:p>
        </p:txBody>
      </p:sp>
      <p:sp>
        <p:nvSpPr>
          <p:cNvPr id="10" name="Shape 8"/>
          <p:cNvSpPr/>
          <p:nvPr/>
        </p:nvSpPr>
        <p:spPr>
          <a:xfrm>
            <a:off x="4297680" y="1719072"/>
            <a:ext cx="3520440" cy="1920240"/>
          </a:xfrm>
          <a:prstGeom prst="roundRect">
            <a:avLst>
              <a:gd name="adj" fmla="val 2381"/>
            </a:avLst>
          </a:prstGeom>
          <a:solidFill>
            <a:srgbClr val="FFFFFF"/>
          </a:solidFill>
          <a:ln w="9525">
            <a:solidFill>
              <a:srgbClr val="E4DADD"/>
            </a:solidFill>
            <a:prstDash val="solid"/>
          </a:ln>
        </p:spPr>
      </p:sp>
      <p:sp>
        <p:nvSpPr>
          <p:cNvPr id="11" name="Shape 9"/>
          <p:cNvSpPr/>
          <p:nvPr/>
        </p:nvSpPr>
        <p:spPr>
          <a:xfrm>
            <a:off x="4517136" y="1883664"/>
            <a:ext cx="1005840" cy="310896"/>
          </a:xfrm>
          <a:prstGeom prst="roundRect">
            <a:avLst>
              <a:gd name="adj" fmla="val 11765"/>
            </a:avLst>
          </a:prstGeom>
          <a:solidFill>
            <a:srgbClr val="6D2E46"/>
          </a:solidFill>
          <a:ln/>
        </p:spPr>
      </p:sp>
      <p:sp>
        <p:nvSpPr>
          <p:cNvPr id="12" name="Text 10"/>
          <p:cNvSpPr txBox="1"/>
          <p:nvPr/>
        </p:nvSpPr>
        <p:spPr>
          <a:xfrm>
            <a:off x="4517136" y="1883664"/>
            <a:ext cx="10058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ワイン</a:t>
            </a:r>
            <a:endParaRPr lang="en-US" sz="1150" dirty="0"/>
          </a:p>
        </p:txBody>
      </p:sp>
      <p:sp>
        <p:nvSpPr>
          <p:cNvPr id="13" name="Text 11"/>
          <p:cNvSpPr txBox="1"/>
          <p:nvPr/>
        </p:nvSpPr>
        <p:spPr>
          <a:xfrm>
            <a:off x="4517136" y="2304288"/>
            <a:ext cx="3108960" cy="274320"/>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産地とセラー</a:t>
            </a:r>
            <a:endParaRPr lang="en-US" sz="1500" dirty="0"/>
          </a:p>
        </p:txBody>
      </p:sp>
      <p:sp>
        <p:nvSpPr>
          <p:cNvPr id="14" name="Text 12"/>
          <p:cNvSpPr txBox="1"/>
          <p:nvPr/>
        </p:nvSpPr>
        <p:spPr>
          <a:xfrm>
            <a:off x="4517136" y="2633472"/>
            <a:ext cx="3127248" cy="877824"/>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日本のワイン産地に置くことで、造り手と客が直接つながる場をつくる。当社のセラー機能を併設する。</a:t>
            </a:r>
            <a:endParaRPr lang="en-US" sz="1000" dirty="0"/>
          </a:p>
        </p:txBody>
      </p:sp>
      <p:sp>
        <p:nvSpPr>
          <p:cNvPr id="15" name="Shape 13"/>
          <p:cNvSpPr/>
          <p:nvPr/>
        </p:nvSpPr>
        <p:spPr>
          <a:xfrm>
            <a:off x="8028432" y="1719072"/>
            <a:ext cx="3520440" cy="1920240"/>
          </a:xfrm>
          <a:prstGeom prst="roundRect">
            <a:avLst>
              <a:gd name="adj" fmla="val 2381"/>
            </a:avLst>
          </a:prstGeom>
          <a:solidFill>
            <a:srgbClr val="FFFFFF"/>
          </a:solidFill>
          <a:ln w="9525">
            <a:solidFill>
              <a:srgbClr val="E4DADD"/>
            </a:solidFill>
            <a:prstDash val="solid"/>
          </a:ln>
        </p:spPr>
      </p:sp>
      <p:sp>
        <p:nvSpPr>
          <p:cNvPr id="16" name="Shape 14"/>
          <p:cNvSpPr/>
          <p:nvPr/>
        </p:nvSpPr>
        <p:spPr>
          <a:xfrm>
            <a:off x="8247888" y="1883664"/>
            <a:ext cx="1005840" cy="310896"/>
          </a:xfrm>
          <a:prstGeom prst="roundRect">
            <a:avLst>
              <a:gd name="adj" fmla="val 11765"/>
            </a:avLst>
          </a:prstGeom>
          <a:solidFill>
            <a:srgbClr val="6D2E46"/>
          </a:solidFill>
          <a:ln/>
        </p:spPr>
      </p:sp>
      <p:sp>
        <p:nvSpPr>
          <p:cNvPr id="17" name="Text 15"/>
          <p:cNvSpPr txBox="1"/>
          <p:nvPr/>
        </p:nvSpPr>
        <p:spPr>
          <a:xfrm>
            <a:off x="8247888" y="1883664"/>
            <a:ext cx="10058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滞在</a:t>
            </a:r>
            <a:endParaRPr lang="en-US" sz="1150" dirty="0"/>
          </a:p>
        </p:txBody>
      </p:sp>
      <p:sp>
        <p:nvSpPr>
          <p:cNvPr id="18" name="Text 16"/>
          <p:cNvSpPr txBox="1"/>
          <p:nvPr/>
        </p:nvSpPr>
        <p:spPr>
          <a:xfrm>
            <a:off x="8247888" y="2304288"/>
            <a:ext cx="3108960" cy="274320"/>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小規模宿泊</a:t>
            </a:r>
            <a:endParaRPr lang="en-US" sz="1500" dirty="0"/>
          </a:p>
        </p:txBody>
      </p:sp>
      <p:sp>
        <p:nvSpPr>
          <p:cNvPr id="19" name="Text 17"/>
          <p:cNvSpPr txBox="1"/>
          <p:nvPr/>
        </p:nvSpPr>
        <p:spPr>
          <a:xfrm>
            <a:off x="8247888" y="2633472"/>
            <a:ext cx="3127248" cy="877824"/>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客室は10室前後。夜を跨いでいただくことで、ワインリストの幅が一気に広がる。</a:t>
            </a:r>
            <a:endParaRPr lang="en-US" sz="1000" dirty="0"/>
          </a:p>
        </p:txBody>
      </p:sp>
      <p:sp>
        <p:nvSpPr>
          <p:cNvPr id="20" name="Text 18"/>
          <p:cNvSpPr txBox="1"/>
          <p:nvPr/>
        </p:nvSpPr>
        <p:spPr>
          <a:xfrm>
            <a:off x="566928" y="3803904"/>
            <a:ext cx="54864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なぜ、当社がやるのか</a:t>
            </a:r>
            <a:endParaRPr lang="en-US" sz="1350" dirty="0"/>
          </a:p>
        </p:txBody>
      </p:sp>
      <p:sp>
        <p:nvSpPr>
          <p:cNvPr id="21" name="Shape 19"/>
          <p:cNvSpPr/>
          <p:nvPr/>
        </p:nvSpPr>
        <p:spPr>
          <a:xfrm>
            <a:off x="566928" y="4169664"/>
            <a:ext cx="237744" cy="237744"/>
          </a:xfrm>
          <a:prstGeom prst="ellipse">
            <a:avLst/>
          </a:prstGeom>
          <a:solidFill>
            <a:srgbClr val="A26769"/>
          </a:solidFill>
          <a:ln/>
        </p:spPr>
      </p:sp>
      <p:sp>
        <p:nvSpPr>
          <p:cNvPr id="22" name="Text 20"/>
          <p:cNvSpPr txBox="1"/>
          <p:nvPr/>
        </p:nvSpPr>
        <p:spPr>
          <a:xfrm>
            <a:off x="566928" y="41696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1"/>
          <p:cNvSpPr txBox="1"/>
          <p:nvPr/>
        </p:nvSpPr>
        <p:spPr>
          <a:xfrm>
            <a:off x="896112" y="4133088"/>
            <a:ext cx="5029200" cy="219456"/>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ワインの仕入と保管</a:t>
            </a:r>
            <a:endParaRPr lang="en-US" sz="1100" dirty="0"/>
          </a:p>
        </p:txBody>
      </p:sp>
      <p:sp>
        <p:nvSpPr>
          <p:cNvPr id="24" name="Text 22"/>
          <p:cNvSpPr txBox="1"/>
          <p:nvPr/>
        </p:nvSpPr>
        <p:spPr>
          <a:xfrm>
            <a:off x="896112" y="4352544"/>
            <a:ext cx="5029200" cy="475488"/>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インポーターとしての仕入力と、寺田倉庫との保管体制。オーベルジュのワインリストを、他にない厚みにできます。</a:t>
            </a:r>
            <a:endParaRPr lang="en-US" sz="950" dirty="0"/>
          </a:p>
        </p:txBody>
      </p:sp>
      <p:sp>
        <p:nvSpPr>
          <p:cNvPr id="25" name="Shape 23"/>
          <p:cNvSpPr/>
          <p:nvPr/>
        </p:nvSpPr>
        <p:spPr>
          <a:xfrm>
            <a:off x="6227064" y="4169664"/>
            <a:ext cx="237744" cy="237744"/>
          </a:xfrm>
          <a:prstGeom prst="ellipse">
            <a:avLst/>
          </a:prstGeom>
          <a:solidFill>
            <a:srgbClr val="A26769"/>
          </a:solidFill>
          <a:ln/>
        </p:spPr>
      </p:sp>
      <p:sp>
        <p:nvSpPr>
          <p:cNvPr id="26" name="Text 24"/>
          <p:cNvSpPr txBox="1"/>
          <p:nvPr/>
        </p:nvSpPr>
        <p:spPr>
          <a:xfrm>
            <a:off x="6227064" y="41696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5"/>
          <p:cNvSpPr txBox="1"/>
          <p:nvPr/>
        </p:nvSpPr>
        <p:spPr>
          <a:xfrm>
            <a:off x="6556248" y="4133088"/>
            <a:ext cx="5029200" cy="219456"/>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レストランの運営実績</a:t>
            </a:r>
            <a:endParaRPr lang="en-US" sz="1100" dirty="0"/>
          </a:p>
        </p:txBody>
      </p:sp>
      <p:sp>
        <p:nvSpPr>
          <p:cNvPr id="28" name="Text 26"/>
          <p:cNvSpPr txBox="1"/>
          <p:nvPr/>
        </p:nvSpPr>
        <p:spPr>
          <a:xfrm>
            <a:off x="6556248" y="4352544"/>
            <a:ext cx="5029200" cy="475488"/>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アピシウスで、グランメゾンを壊さずに運営できることを実証しました。</a:t>
            </a:r>
            <a:endParaRPr lang="en-US" sz="950" dirty="0"/>
          </a:p>
        </p:txBody>
      </p:sp>
      <p:sp>
        <p:nvSpPr>
          <p:cNvPr id="29" name="Shape 27"/>
          <p:cNvSpPr/>
          <p:nvPr/>
        </p:nvSpPr>
        <p:spPr>
          <a:xfrm>
            <a:off x="566928" y="4919472"/>
            <a:ext cx="237744" cy="237744"/>
          </a:xfrm>
          <a:prstGeom prst="ellipse">
            <a:avLst/>
          </a:prstGeom>
          <a:solidFill>
            <a:srgbClr val="A26769"/>
          </a:solidFill>
          <a:ln/>
        </p:spPr>
      </p:sp>
      <p:sp>
        <p:nvSpPr>
          <p:cNvPr id="30" name="Text 28"/>
          <p:cNvSpPr txBox="1"/>
          <p:nvPr/>
        </p:nvSpPr>
        <p:spPr>
          <a:xfrm>
            <a:off x="566928" y="49194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9"/>
          <p:cNvSpPr txBox="1"/>
          <p:nvPr/>
        </p:nvSpPr>
        <p:spPr>
          <a:xfrm>
            <a:off x="896112" y="4882896"/>
            <a:ext cx="5029200" cy="219456"/>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シェフのネットワーク</a:t>
            </a:r>
            <a:endParaRPr lang="en-US" sz="1100" dirty="0"/>
          </a:p>
        </p:txBody>
      </p:sp>
      <p:sp>
        <p:nvSpPr>
          <p:cNvPr id="32" name="Text 30"/>
          <p:cNvSpPr txBox="1"/>
          <p:nvPr/>
        </p:nvSpPr>
        <p:spPr>
          <a:xfrm>
            <a:off x="896112" y="5102352"/>
            <a:ext cx="5029200" cy="475488"/>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ティエリー・マルクス氏をはじめ、国内外の料理人とつながっています。</a:t>
            </a:r>
            <a:endParaRPr lang="en-US" sz="950" dirty="0"/>
          </a:p>
        </p:txBody>
      </p:sp>
      <p:sp>
        <p:nvSpPr>
          <p:cNvPr id="33" name="Shape 31"/>
          <p:cNvSpPr/>
          <p:nvPr/>
        </p:nvSpPr>
        <p:spPr>
          <a:xfrm>
            <a:off x="6227064" y="4919472"/>
            <a:ext cx="237744" cy="237744"/>
          </a:xfrm>
          <a:prstGeom prst="ellipse">
            <a:avLst/>
          </a:prstGeom>
          <a:solidFill>
            <a:srgbClr val="A26769"/>
          </a:solidFill>
          <a:ln/>
        </p:spPr>
      </p:sp>
      <p:sp>
        <p:nvSpPr>
          <p:cNvPr id="34" name="Text 32"/>
          <p:cNvSpPr txBox="1"/>
          <p:nvPr/>
        </p:nvSpPr>
        <p:spPr>
          <a:xfrm>
            <a:off x="6227064" y="49194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3"/>
          <p:cNvSpPr txBox="1"/>
          <p:nvPr/>
        </p:nvSpPr>
        <p:spPr>
          <a:xfrm>
            <a:off x="6556248" y="4882896"/>
            <a:ext cx="5029200" cy="219456"/>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創業地との縁</a:t>
            </a:r>
            <a:endParaRPr lang="en-US" sz="1100" dirty="0"/>
          </a:p>
        </p:txBody>
      </p:sp>
      <p:sp>
        <p:nvSpPr>
          <p:cNvPr id="36" name="Text 34"/>
          <p:cNvSpPr txBox="1"/>
          <p:nvPr/>
        </p:nvSpPr>
        <p:spPr>
          <a:xfrm>
            <a:off x="6556248" y="5102352"/>
            <a:ext cx="5029200" cy="475488"/>
          </a:xfrm>
          <a:prstGeom prst="rect">
            <a:avLst/>
          </a:prstGeom>
          <a:noFill/>
          <a:ln/>
        </p:spPr>
        <p:txBody>
          <a:bodyPr wrap="square" lIns="0" tIns="0" rIns="0" bIns="0" rtlCol="0" anchor="ctr"/>
          <a:lstStyle/>
          <a:p>
            <a:pPr indent="0" marL="0">
              <a:lnSpc>
                <a:spcPts val="1300"/>
              </a:lnSpc>
              <a:buNone/>
            </a:pPr>
            <a:r>
              <a:rPr lang="en-US" sz="950" dirty="0">
                <a:solidFill>
                  <a:srgbClr val="6E6368"/>
                </a:solidFill>
                <a:latin typeface="Calibri" pitchFamily="34" charset="0"/>
                <a:ea typeface="Calibri" pitchFamily="34" charset="-122"/>
                <a:cs typeface="Calibri" pitchFamily="34" charset="-120"/>
              </a:rPr>
              <a:t>当社の創業地は北海道札幌です。日本のワイン産地とは、もともと近い場所にいます。</a:t>
            </a:r>
            <a:endParaRPr lang="en-US" sz="950" dirty="0"/>
          </a:p>
        </p:txBody>
      </p:sp>
      <p:sp>
        <p:nvSpPr>
          <p:cNvPr id="37" name="Shape 35"/>
          <p:cNvSpPr/>
          <p:nvPr/>
        </p:nvSpPr>
        <p:spPr>
          <a:xfrm>
            <a:off x="566928" y="5614416"/>
            <a:ext cx="11055096" cy="658368"/>
          </a:xfrm>
          <a:prstGeom prst="roundRect">
            <a:avLst>
              <a:gd name="adj" fmla="val 5556"/>
            </a:avLst>
          </a:prstGeom>
          <a:solidFill>
            <a:srgbClr val="F7F3F4"/>
          </a:solidFill>
          <a:ln/>
        </p:spPr>
      </p:sp>
      <p:sp>
        <p:nvSpPr>
          <p:cNvPr id="38" name="Text 36"/>
          <p:cNvSpPr txBox="1"/>
          <p:nvPr/>
        </p:nvSpPr>
        <p:spPr>
          <a:xfrm>
            <a:off x="841248" y="5687568"/>
            <a:ext cx="10506456" cy="512064"/>
          </a:xfrm>
          <a:prstGeom prst="rect">
            <a:avLst/>
          </a:prstGeom>
          <a:noFill/>
          <a:ln/>
        </p:spPr>
        <p:txBody>
          <a:bodyPr wrap="square" lIns="0" tIns="0" rIns="0" bIns="0" rtlCol="0" anchor="ctr"/>
          <a:lstStyle/>
          <a:p>
            <a:pPr indent="0" marL="0">
              <a:buNone/>
            </a:pPr>
            <a:r>
              <a:rPr lang="en-US" sz="1150" dirty="0">
                <a:solidFill>
                  <a:srgbClr val="1F1A1C"/>
                </a:solidFill>
                <a:latin typeface="Calibri" pitchFamily="34" charset="0"/>
                <a:ea typeface="Calibri" pitchFamily="34" charset="-122"/>
                <a:cs typeface="Calibri" pitchFamily="34" charset="-120"/>
              </a:rPr>
              <a:t>オーベルジュは、料理人が一日の終わりまでお客様と過ごせる、数少ない業態です。都心のレストランでは決して持てない時間を、そこでは持てます。</a:t>
            </a:r>
            <a:endParaRPr lang="en-US" sz="1150" dirty="0"/>
          </a:p>
        </p:txBody>
      </p:sp>
      <p:sp>
        <p:nvSpPr>
          <p:cNvPr id="39" name="Text 37"/>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株式会社WineBank　会社紹介　／　CONFIDENTIAL</a:t>
            </a:r>
            <a:endParaRPr lang="en-US" sz="800" dirty="0"/>
          </a:p>
        </p:txBody>
      </p:sp>
      <p:sp>
        <p:nvSpPr>
          <p:cNvPr id="40" name="Text 3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9144000" y="-3108960"/>
            <a:ext cx="6949440" cy="6949440"/>
          </a:xfrm>
          <a:prstGeom prst="ellipse">
            <a:avLst/>
          </a:prstGeom>
          <a:solidFill>
            <a:srgbClr val="6D2E46"/>
          </a:solidFill>
          <a:ln/>
        </p:spPr>
      </p:sp>
      <p:sp>
        <p:nvSpPr>
          <p:cNvPr id="3" name="Shape 1"/>
          <p:cNvSpPr/>
          <p:nvPr/>
        </p:nvSpPr>
        <p:spPr>
          <a:xfrm>
            <a:off x="-2377440" y="4572000"/>
            <a:ext cx="5486400" cy="5486400"/>
          </a:xfrm>
          <a:prstGeom prst="ellipse">
            <a:avLst/>
          </a:prstGeom>
          <a:solidFill>
            <a:srgbClr val="6D2E46"/>
          </a:solidFill>
          <a:ln/>
        </p:spPr>
      </p:sp>
      <p:sp>
        <p:nvSpPr>
          <p:cNvPr id="4" name="Text 2"/>
          <p:cNvSpPr txBox="1"/>
          <p:nvPr/>
        </p:nvSpPr>
        <p:spPr>
          <a:xfrm>
            <a:off x="566928" y="384048"/>
            <a:ext cx="9144000" cy="256032"/>
          </a:xfrm>
          <a:prstGeom prst="rect">
            <a:avLst/>
          </a:prstGeom>
          <a:noFill/>
          <a:ln/>
        </p:spPr>
        <p:txBody>
          <a:bodyPr wrap="square" lIns="0" tIns="0" rIns="0" bIns="0" rtlCol="0" anchor="ctr"/>
          <a:lstStyle/>
          <a:p>
            <a:pPr indent="0" marL="0">
              <a:buNone/>
            </a:pPr>
            <a:r>
              <a:rPr lang="en-US" sz="1100" b="1" spc="200" kern="0" dirty="0">
                <a:solidFill>
                  <a:srgbClr val="E0B94A"/>
                </a:solidFill>
                <a:latin typeface="Calibri" pitchFamily="34" charset="0"/>
                <a:ea typeface="Calibri" pitchFamily="34" charset="-122"/>
                <a:cs typeface="Calibri" pitchFamily="34" charset="-120"/>
              </a:rPr>
              <a:t>OUR PICTURE</a:t>
            </a:r>
            <a:endParaRPr lang="en-US" sz="1100" dirty="0"/>
          </a:p>
        </p:txBody>
      </p:sp>
      <p:sp>
        <p:nvSpPr>
          <p:cNvPr id="5" name="Text 3"/>
          <p:cNvSpPr txBox="1"/>
          <p:nvPr/>
        </p:nvSpPr>
        <p:spPr>
          <a:xfrm>
            <a:off x="566928" y="694944"/>
            <a:ext cx="10058400"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点を、線にしたい。</a:t>
            </a:r>
            <a:endParaRPr lang="en-US" sz="3800" dirty="0"/>
          </a:p>
        </p:txBody>
      </p:sp>
      <p:sp>
        <p:nvSpPr>
          <p:cNvPr id="6" name="Text 4"/>
          <p:cNvSpPr txBox="1"/>
          <p:nvPr/>
        </p:nvSpPr>
        <p:spPr>
          <a:xfrm>
            <a:off x="566928" y="1481328"/>
            <a:ext cx="10607040" cy="365760"/>
          </a:xfrm>
          <a:prstGeom prst="rect">
            <a:avLst/>
          </a:prstGeom>
          <a:noFill/>
          <a:ln/>
        </p:spPr>
        <p:txBody>
          <a:bodyPr wrap="square" lIns="0" tIns="0" rIns="0" bIns="0" rtlCol="0" anchor="ctr"/>
          <a:lstStyle/>
          <a:p>
            <a:pPr indent="0" marL="0">
              <a:buNone/>
            </a:pPr>
            <a:r>
              <a:rPr lang="en-US" sz="1300" dirty="0">
                <a:solidFill>
                  <a:srgbClr val="D9CBCF"/>
                </a:solidFill>
                <a:latin typeface="Calibri" pitchFamily="34" charset="0"/>
                <a:ea typeface="Calibri" pitchFamily="34" charset="-122"/>
                <a:cs typeface="Calibri" pitchFamily="34" charset="-120"/>
              </a:rPr>
              <a:t>日常に近いブラッスリーから、旅先のオーベルジュ、そして銀座のグランメゾンまで。私たちは、ファインダイニングを点ではなく面で支える会社になろうとしています。</a:t>
            </a:r>
            <a:endParaRPr lang="en-US" sz="1300" dirty="0"/>
          </a:p>
        </p:txBody>
      </p:sp>
      <p:sp>
        <p:nvSpPr>
          <p:cNvPr id="7" name="Shape 5"/>
          <p:cNvSpPr/>
          <p:nvPr/>
        </p:nvSpPr>
        <p:spPr>
          <a:xfrm>
            <a:off x="566928" y="2121408"/>
            <a:ext cx="2560320" cy="1828800"/>
          </a:xfrm>
          <a:prstGeom prst="roundRect">
            <a:avLst>
              <a:gd name="adj" fmla="val 2500"/>
            </a:avLst>
          </a:prstGeom>
          <a:solidFill>
            <a:srgbClr val="3B1E2B"/>
          </a:solidFill>
          <a:ln w="9525">
            <a:solidFill>
              <a:srgbClr val="5A3240"/>
            </a:solidFill>
            <a:prstDash val="solid"/>
          </a:ln>
        </p:spPr>
      </p:sp>
      <p:sp>
        <p:nvSpPr>
          <p:cNvPr id="8" name="Text 6"/>
          <p:cNvSpPr txBox="1"/>
          <p:nvPr/>
        </p:nvSpPr>
        <p:spPr>
          <a:xfrm>
            <a:off x="768096" y="2267712"/>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銀座</a:t>
            </a:r>
            <a:endParaRPr lang="en-US" sz="950" dirty="0"/>
          </a:p>
        </p:txBody>
      </p:sp>
      <p:sp>
        <p:nvSpPr>
          <p:cNvPr id="9" name="Text 7"/>
          <p:cNvSpPr txBox="1"/>
          <p:nvPr/>
        </p:nvSpPr>
        <p:spPr>
          <a:xfrm>
            <a:off x="768096" y="2523744"/>
            <a:ext cx="219456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グランメゾン</a:t>
            </a:r>
            <a:endParaRPr lang="en-US" sz="1900" dirty="0"/>
          </a:p>
        </p:txBody>
      </p:sp>
      <p:sp>
        <p:nvSpPr>
          <p:cNvPr id="10" name="Text 8"/>
          <p:cNvSpPr txBox="1"/>
          <p:nvPr/>
        </p:nvSpPr>
        <p:spPr>
          <a:xfrm>
            <a:off x="768096" y="2980944"/>
            <a:ext cx="2194560" cy="237744"/>
          </a:xfrm>
          <a:prstGeom prst="rect">
            <a:avLst/>
          </a:prstGeom>
          <a:noFill/>
          <a:ln/>
        </p:spPr>
        <p:txBody>
          <a:bodyPr wrap="square" lIns="0" tIns="0" rIns="0" bIns="0" rtlCol="0" anchor="ctr"/>
          <a:lstStyle/>
          <a:p>
            <a:pPr indent="0" marL="0">
              <a:buNone/>
            </a:pPr>
            <a:r>
              <a:rPr lang="en-US" sz="1050" dirty="0">
                <a:solidFill>
                  <a:srgbClr val="D9CBCF"/>
                </a:solidFill>
                <a:latin typeface="Calibri" pitchFamily="34" charset="0"/>
                <a:ea typeface="Calibri" pitchFamily="34" charset="-122"/>
                <a:cs typeface="Calibri" pitchFamily="34" charset="-120"/>
              </a:rPr>
              <a:t>アピシウス</a:t>
            </a:r>
            <a:endParaRPr lang="en-US" sz="1050" dirty="0"/>
          </a:p>
        </p:txBody>
      </p:sp>
      <p:sp>
        <p:nvSpPr>
          <p:cNvPr id="11" name="Text 9"/>
          <p:cNvSpPr txBox="1"/>
          <p:nvPr/>
        </p:nvSpPr>
        <p:spPr>
          <a:xfrm>
            <a:off x="768096" y="3255264"/>
            <a:ext cx="2194560" cy="219456"/>
          </a:xfrm>
          <a:prstGeom prst="rect">
            <a:avLst/>
          </a:prstGeom>
          <a:noFill/>
          <a:ln/>
        </p:spPr>
        <p:txBody>
          <a:bodyPr wrap="square" lIns="0" tIns="0" rIns="0" bIns="0" rtlCol="0" anchor="ctr"/>
          <a:lstStyle/>
          <a:p>
            <a:pPr indent="0" marL="0">
              <a:buNone/>
            </a:pPr>
            <a:r>
              <a:rPr lang="en-US" sz="950" dirty="0">
                <a:solidFill>
                  <a:srgbClr val="9C858B"/>
                </a:solidFill>
                <a:latin typeface="Calibri" pitchFamily="34" charset="0"/>
                <a:ea typeface="Calibri" pitchFamily="34" charset="-122"/>
                <a:cs typeface="Calibri" pitchFamily="34" charset="-120"/>
              </a:rPr>
              <a:t>2024年6月 〜</a:t>
            </a:r>
            <a:endParaRPr lang="en-US" sz="950" dirty="0"/>
          </a:p>
        </p:txBody>
      </p:sp>
      <p:sp>
        <p:nvSpPr>
          <p:cNvPr id="12" name="Shape 10"/>
          <p:cNvSpPr/>
          <p:nvPr/>
        </p:nvSpPr>
        <p:spPr>
          <a:xfrm>
            <a:off x="3355848" y="2121408"/>
            <a:ext cx="2560320" cy="1828800"/>
          </a:xfrm>
          <a:prstGeom prst="roundRect">
            <a:avLst>
              <a:gd name="adj" fmla="val 2500"/>
            </a:avLst>
          </a:prstGeom>
          <a:solidFill>
            <a:srgbClr val="3B1E2B"/>
          </a:solidFill>
          <a:ln w="9525">
            <a:solidFill>
              <a:srgbClr val="5A3240"/>
            </a:solidFill>
            <a:prstDash val="solid"/>
          </a:ln>
        </p:spPr>
      </p:sp>
      <p:sp>
        <p:nvSpPr>
          <p:cNvPr id="13" name="Text 11"/>
          <p:cNvSpPr txBox="1"/>
          <p:nvPr/>
        </p:nvSpPr>
        <p:spPr>
          <a:xfrm>
            <a:off x="3557016" y="2267712"/>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六本木</a:t>
            </a:r>
            <a:endParaRPr lang="en-US" sz="950" dirty="0"/>
          </a:p>
        </p:txBody>
      </p:sp>
      <p:sp>
        <p:nvSpPr>
          <p:cNvPr id="14" name="Text 12"/>
          <p:cNvSpPr txBox="1"/>
          <p:nvPr/>
        </p:nvSpPr>
        <p:spPr>
          <a:xfrm>
            <a:off x="3557016" y="2523744"/>
            <a:ext cx="219456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ブラッスリー</a:t>
            </a:r>
            <a:endParaRPr lang="en-US" sz="1900" dirty="0"/>
          </a:p>
        </p:txBody>
      </p:sp>
      <p:sp>
        <p:nvSpPr>
          <p:cNvPr id="15" name="Text 13"/>
          <p:cNvSpPr txBox="1"/>
          <p:nvPr/>
        </p:nvSpPr>
        <p:spPr>
          <a:xfrm>
            <a:off x="3557016" y="2980944"/>
            <a:ext cx="2194560" cy="237744"/>
          </a:xfrm>
          <a:prstGeom prst="rect">
            <a:avLst/>
          </a:prstGeom>
          <a:noFill/>
          <a:ln/>
        </p:spPr>
        <p:txBody>
          <a:bodyPr wrap="square" lIns="0" tIns="0" rIns="0" bIns="0" rtlCol="0" anchor="ctr"/>
          <a:lstStyle/>
          <a:p>
            <a:pPr indent="0" marL="0">
              <a:buNone/>
            </a:pPr>
            <a:r>
              <a:rPr lang="en-US" sz="1050" dirty="0">
                <a:solidFill>
                  <a:srgbClr val="D9CBCF"/>
                </a:solidFill>
                <a:latin typeface="Calibri" pitchFamily="34" charset="0"/>
                <a:ea typeface="Calibri" pitchFamily="34" charset="-122"/>
                <a:cs typeface="Calibri" pitchFamily="34" charset="-120"/>
              </a:rPr>
              <a:t>ティエリー・マルクス</a:t>
            </a:r>
            <a:endParaRPr lang="en-US" sz="1050" dirty="0"/>
          </a:p>
        </p:txBody>
      </p:sp>
      <p:sp>
        <p:nvSpPr>
          <p:cNvPr id="16" name="Text 14"/>
          <p:cNvSpPr txBox="1"/>
          <p:nvPr/>
        </p:nvSpPr>
        <p:spPr>
          <a:xfrm>
            <a:off x="3557016" y="3255264"/>
            <a:ext cx="2194560" cy="219456"/>
          </a:xfrm>
          <a:prstGeom prst="rect">
            <a:avLst/>
          </a:prstGeom>
          <a:noFill/>
          <a:ln/>
        </p:spPr>
        <p:txBody>
          <a:bodyPr wrap="square" lIns="0" tIns="0" rIns="0" bIns="0" rtlCol="0" anchor="ctr"/>
          <a:lstStyle/>
          <a:p>
            <a:pPr indent="0" marL="0">
              <a:buNone/>
            </a:pPr>
            <a:r>
              <a:rPr lang="en-US" sz="950" dirty="0">
                <a:solidFill>
                  <a:srgbClr val="9C858B"/>
                </a:solidFill>
                <a:latin typeface="Calibri" pitchFamily="34" charset="0"/>
                <a:ea typeface="Calibri" pitchFamily="34" charset="-122"/>
                <a:cs typeface="Calibri" pitchFamily="34" charset="-120"/>
              </a:rPr>
              <a:t>2027年4月 〜</a:t>
            </a:r>
            <a:endParaRPr lang="en-US" sz="950" dirty="0"/>
          </a:p>
        </p:txBody>
      </p:sp>
      <p:sp>
        <p:nvSpPr>
          <p:cNvPr id="17" name="Shape 15"/>
          <p:cNvSpPr/>
          <p:nvPr/>
        </p:nvSpPr>
        <p:spPr>
          <a:xfrm>
            <a:off x="6144768" y="2121408"/>
            <a:ext cx="2560320" cy="1828800"/>
          </a:xfrm>
          <a:prstGeom prst="roundRect">
            <a:avLst>
              <a:gd name="adj" fmla="val 2500"/>
            </a:avLst>
          </a:prstGeom>
          <a:solidFill>
            <a:srgbClr val="3B1E2B"/>
          </a:solidFill>
          <a:ln w="9525">
            <a:solidFill>
              <a:srgbClr val="5A3240"/>
            </a:solidFill>
            <a:prstDash val="solid"/>
          </a:ln>
        </p:spPr>
      </p:sp>
      <p:sp>
        <p:nvSpPr>
          <p:cNvPr id="18" name="Text 16"/>
          <p:cNvSpPr txBox="1"/>
          <p:nvPr/>
        </p:nvSpPr>
        <p:spPr>
          <a:xfrm>
            <a:off x="6345936" y="2267712"/>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地方</a:t>
            </a:r>
            <a:endParaRPr lang="en-US" sz="950" dirty="0"/>
          </a:p>
        </p:txBody>
      </p:sp>
      <p:sp>
        <p:nvSpPr>
          <p:cNvPr id="19" name="Text 17"/>
          <p:cNvSpPr txBox="1"/>
          <p:nvPr/>
        </p:nvSpPr>
        <p:spPr>
          <a:xfrm>
            <a:off x="6345936" y="2523744"/>
            <a:ext cx="219456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オーベルジュ</a:t>
            </a:r>
            <a:endParaRPr lang="en-US" sz="1900" dirty="0"/>
          </a:p>
        </p:txBody>
      </p:sp>
      <p:sp>
        <p:nvSpPr>
          <p:cNvPr id="20" name="Text 18"/>
          <p:cNvSpPr txBox="1"/>
          <p:nvPr/>
        </p:nvSpPr>
        <p:spPr>
          <a:xfrm>
            <a:off x="6345936" y="2980944"/>
            <a:ext cx="2194560" cy="237744"/>
          </a:xfrm>
          <a:prstGeom prst="rect">
            <a:avLst/>
          </a:prstGeom>
          <a:noFill/>
          <a:ln/>
        </p:spPr>
        <p:txBody>
          <a:bodyPr wrap="square" lIns="0" tIns="0" rIns="0" bIns="0" rtlCol="0" anchor="ctr"/>
          <a:lstStyle/>
          <a:p>
            <a:pPr indent="0" marL="0">
              <a:buNone/>
            </a:pPr>
            <a:r>
              <a:rPr lang="en-US" sz="1050" dirty="0">
                <a:solidFill>
                  <a:srgbClr val="D9CBCF"/>
                </a:solidFill>
                <a:latin typeface="Calibri" pitchFamily="34" charset="0"/>
                <a:ea typeface="Calibri" pitchFamily="34" charset="-122"/>
                <a:cs typeface="Calibri" pitchFamily="34" charset="-120"/>
              </a:rPr>
              <a:t>ワイン産地</a:t>
            </a:r>
            <a:endParaRPr lang="en-US" sz="1050" dirty="0"/>
          </a:p>
        </p:txBody>
      </p:sp>
      <p:sp>
        <p:nvSpPr>
          <p:cNvPr id="21" name="Text 19"/>
          <p:cNvSpPr txBox="1"/>
          <p:nvPr/>
        </p:nvSpPr>
        <p:spPr>
          <a:xfrm>
            <a:off x="6345936" y="3255264"/>
            <a:ext cx="2194560" cy="219456"/>
          </a:xfrm>
          <a:prstGeom prst="rect">
            <a:avLst/>
          </a:prstGeom>
          <a:noFill/>
          <a:ln/>
        </p:spPr>
        <p:txBody>
          <a:bodyPr wrap="square" lIns="0" tIns="0" rIns="0" bIns="0" rtlCol="0" anchor="ctr"/>
          <a:lstStyle/>
          <a:p>
            <a:pPr indent="0" marL="0">
              <a:buNone/>
            </a:pPr>
            <a:r>
              <a:rPr lang="en-US" sz="950" dirty="0">
                <a:solidFill>
                  <a:srgbClr val="9C858B"/>
                </a:solidFill>
                <a:latin typeface="Calibri" pitchFamily="34" charset="0"/>
                <a:ea typeface="Calibri" pitchFamily="34" charset="-122"/>
                <a:cs typeface="Calibri" pitchFamily="34" charset="-120"/>
              </a:rPr>
              <a:t>2030年 〜</a:t>
            </a:r>
            <a:endParaRPr lang="en-US" sz="950" dirty="0"/>
          </a:p>
        </p:txBody>
      </p:sp>
      <p:sp>
        <p:nvSpPr>
          <p:cNvPr id="22" name="Shape 20"/>
          <p:cNvSpPr/>
          <p:nvPr/>
        </p:nvSpPr>
        <p:spPr>
          <a:xfrm>
            <a:off x="8933688" y="2121408"/>
            <a:ext cx="2560320" cy="1828800"/>
          </a:xfrm>
          <a:prstGeom prst="roundRect">
            <a:avLst>
              <a:gd name="adj" fmla="val 2500"/>
            </a:avLst>
          </a:prstGeom>
          <a:solidFill>
            <a:srgbClr val="2B1520"/>
          </a:solidFill>
          <a:ln w="22225">
            <a:solidFill>
              <a:srgbClr val="E0B94A"/>
            </a:solidFill>
            <a:prstDash val="dash"/>
          </a:ln>
        </p:spPr>
      </p:sp>
      <p:sp>
        <p:nvSpPr>
          <p:cNvPr id="23" name="Text 21"/>
          <p:cNvSpPr txBox="1"/>
          <p:nvPr/>
        </p:nvSpPr>
        <p:spPr>
          <a:xfrm>
            <a:off x="9134856" y="2267712"/>
            <a:ext cx="2194560" cy="219456"/>
          </a:xfrm>
          <a:prstGeom prst="rect">
            <a:avLst/>
          </a:prstGeom>
          <a:noFill/>
          <a:ln/>
        </p:spPr>
        <p:txBody>
          <a:bodyPr wrap="square" lIns="0" tIns="0" rIns="0" bIns="0" rtlCol="0" anchor="ctr"/>
          <a:lstStyle/>
          <a:p>
            <a:pPr indent="0" marL="0">
              <a:buNone/>
            </a:pPr>
            <a:r>
              <a:rPr lang="en-US" sz="950" b="1" dirty="0">
                <a:solidFill>
                  <a:srgbClr val="E0B94A"/>
                </a:solidFill>
                <a:latin typeface="Calibri" pitchFamily="34" charset="0"/>
                <a:ea typeface="Calibri" pitchFamily="34" charset="-122"/>
                <a:cs typeface="Calibri" pitchFamily="34" charset="-120"/>
              </a:rPr>
              <a:t>日本の頂点</a:t>
            </a:r>
            <a:endParaRPr lang="en-US" sz="950" dirty="0"/>
          </a:p>
        </p:txBody>
      </p:sp>
      <p:sp>
        <p:nvSpPr>
          <p:cNvPr id="24" name="Text 22"/>
          <p:cNvSpPr txBox="1"/>
          <p:nvPr/>
        </p:nvSpPr>
        <p:spPr>
          <a:xfrm>
            <a:off x="9134856" y="2523744"/>
            <a:ext cx="219456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ガストロノミー</a:t>
            </a:r>
            <a:endParaRPr lang="en-US" sz="1900" dirty="0"/>
          </a:p>
        </p:txBody>
      </p:sp>
      <p:sp>
        <p:nvSpPr>
          <p:cNvPr id="25" name="Text 23"/>
          <p:cNvSpPr txBox="1"/>
          <p:nvPr/>
        </p:nvSpPr>
        <p:spPr>
          <a:xfrm>
            <a:off x="9134856" y="3017520"/>
            <a:ext cx="2212848" cy="658368"/>
          </a:xfrm>
          <a:prstGeom prst="rect">
            <a:avLst/>
          </a:prstGeom>
          <a:noFill/>
          <a:ln/>
        </p:spPr>
        <p:txBody>
          <a:bodyPr wrap="square" lIns="0" tIns="0" rIns="0" bIns="0" rtlCol="0" anchor="ctr"/>
          <a:lstStyle/>
          <a:p>
            <a:pPr indent="0" marL="0">
              <a:lnSpc>
                <a:spcPts val="1600"/>
              </a:lnSpc>
              <a:buNone/>
            </a:pPr>
            <a:r>
              <a:rPr lang="en-US" sz="1100" b="1" dirty="0">
                <a:solidFill>
                  <a:srgbClr val="E0B94A"/>
                </a:solidFill>
                <a:latin typeface="Calibri" pitchFamily="34" charset="0"/>
                <a:ea typeface="Calibri" pitchFamily="34" charset="-122"/>
                <a:cs typeface="Calibri" pitchFamily="34" charset="-120"/>
              </a:rPr>
              <a:t>ここだけが、</a:t>
            </a:r>
            <a:endParaRPr lang="en-US" sz="1100" dirty="0"/>
          </a:p>
          <a:p>
            <a:pPr indent="0" marL="0">
              <a:lnSpc>
                <a:spcPts val="1600"/>
              </a:lnSpc>
              <a:buNone/>
            </a:pPr>
            <a:r>
              <a:rPr lang="en-US" sz="1100" b="1" dirty="0">
                <a:solidFill>
                  <a:srgbClr val="E0B94A"/>
                </a:solidFill>
                <a:latin typeface="Calibri" pitchFamily="34" charset="0"/>
                <a:ea typeface="Calibri" pitchFamily="34" charset="-122"/>
                <a:cs typeface="Calibri" pitchFamily="34" charset="-120"/>
              </a:rPr>
              <a:t>まだ埋まっていません。</a:t>
            </a:r>
            <a:endParaRPr lang="en-US" sz="1100" dirty="0"/>
          </a:p>
        </p:txBody>
      </p:sp>
      <p:sp>
        <p:nvSpPr>
          <p:cNvPr id="26" name="Shape 24"/>
          <p:cNvSpPr/>
          <p:nvPr/>
        </p:nvSpPr>
        <p:spPr>
          <a:xfrm>
            <a:off x="566928" y="4261104"/>
            <a:ext cx="11055096" cy="1426464"/>
          </a:xfrm>
          <a:prstGeom prst="roundRect">
            <a:avLst>
              <a:gd name="adj" fmla="val 3205"/>
            </a:avLst>
          </a:prstGeom>
          <a:solidFill>
            <a:srgbClr val="3B1E2B"/>
          </a:solidFill>
          <a:ln w="9525">
            <a:solidFill>
              <a:srgbClr val="5A3240"/>
            </a:solidFill>
            <a:prstDash val="solid"/>
          </a:ln>
        </p:spPr>
      </p:sp>
      <p:sp>
        <p:nvSpPr>
          <p:cNvPr id="27" name="Text 25"/>
          <p:cNvSpPr txBox="1"/>
          <p:nvPr/>
        </p:nvSpPr>
        <p:spPr>
          <a:xfrm>
            <a:off x="877824" y="4389120"/>
            <a:ext cx="10433304" cy="118872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rPr>
              <a:t>ワインの仕入れも、保管も、お客様も、すべてこのために使えます。
</a:t>
            </a:r>
            <a:pPr indent="0" marL="0">
              <a:lnSpc>
                <a:spcPts val="2000"/>
              </a:lnSpc>
              <a:buNone/>
            </a:pPr>
            <a:r>
              <a:rPr lang="en-US" sz="1150" dirty="0">
                <a:solidFill>
                  <a:srgbClr val="C9B6BC"/>
                </a:solidFill>
              </a:rPr>
              <a:t>ただ一つ、私たちだけでは決して作れないものがあります。それは、長い時間をかけて一人の料理人が積み上げた、日本の頂点にあるガストロノミーです。私たちは、それを新しく作ろうとは思っていません。守り、次の世代へ渡すお手伝いがしたいと考えています。</a:t>
            </a:r>
            <a:endParaRPr lang="en-US" sz="1500" dirty="0"/>
          </a:p>
        </p:txBody>
      </p:sp>
      <p:sp>
        <p:nvSpPr>
          <p:cNvPr id="28" name="Text 26"/>
          <p:cNvSpPr txBox="1"/>
          <p:nvPr/>
        </p:nvSpPr>
        <p:spPr>
          <a:xfrm>
            <a:off x="566928" y="6419088"/>
            <a:ext cx="73152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株式会社WineBank　会社紹介　／　CONFIDENTIAL</a:t>
            </a:r>
            <a:endParaRPr lang="en-US" sz="800" dirty="0"/>
          </a:p>
        </p:txBody>
      </p:sp>
      <p:sp>
        <p:nvSpPr>
          <p:cNvPr id="29" name="Text 2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株式会社WineBank 会社紹介</dc:title>
  <dc:subject>PptxGenJS Presentation</dc:subject>
  <dc:creator>株式会社WineBank</dc:creator>
  <cp:lastModifiedBy>株式会社WineBank</cp:lastModifiedBy>
  <cp:revision>1</cp:revision>
  <dcterms:created xsi:type="dcterms:W3CDTF">2026-09-21T12:28:19Z</dcterms:created>
  <dcterms:modified xsi:type="dcterms:W3CDTF">2026-09-21T12:28:19Z</dcterms:modified>
</cp:coreProperties>
</file>