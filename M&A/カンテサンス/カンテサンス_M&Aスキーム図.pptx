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M&amp;Aスキーム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買収目的会社（SPC）を設立し、投資家およびWineBankの出資30.0億円とLBOローン20.0億円をもって、対象会社の全株式を50.0億円で取得する。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931920" y="1481328"/>
            <a:ext cx="2240280" cy="731520"/>
          </a:xfrm>
          <a:prstGeom prst="roundRect">
            <a:avLst>
              <a:gd name="adj" fmla="val 6250"/>
            </a:avLst>
          </a:prstGeom>
          <a:solidFill>
            <a:srgbClr val="F7F3F4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59936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投資家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41648" y="18745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穐田 誉輝 氏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榊原 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92240" y="1481328"/>
            <a:ext cx="2240280" cy="731520"/>
          </a:xfrm>
          <a:prstGeom prst="roundRect">
            <a:avLst>
              <a:gd name="adj" fmla="val 6250"/>
            </a:avLst>
          </a:prstGeom>
          <a:solidFill>
            <a:srgbClr val="F7F3F4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0256" y="160020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株式会社WineBank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18745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買収の実行主体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2060" y="2212848"/>
            <a:ext cx="0" cy="621792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12380" y="2212848"/>
            <a:ext cx="0" cy="621792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138928" y="2304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 10.0億円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699248" y="2304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出資 20.0億円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2468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295351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みずほ銀行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32278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買収ファイナンス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0" y="2834640"/>
            <a:ext cx="4297680" cy="841248"/>
          </a:xfrm>
          <a:prstGeom prst="roundRect">
            <a:avLst>
              <a:gd name="adj" fmla="val 5435"/>
            </a:avLst>
          </a:prstGeom>
          <a:solidFill>
            <a:srgbClr val="6D2E46"/>
          </a:solidFill>
          <a:ln w="15875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295351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買収目的会社（SPC）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041648" y="322783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3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資本金 30.0億円／借入 20.0億円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0" y="2834640"/>
            <a:ext cx="24780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29535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 周三 氏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322783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対象会社 発行済株式100%を保有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288950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LBOローン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20.0億円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54096" y="3346704"/>
            <a:ext cx="859536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211312" y="287121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 100%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47888" y="3108960"/>
            <a:ext cx="877824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47888" y="3383280"/>
            <a:ext cx="877824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211312" y="343814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譲受代金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50.0億円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3675888"/>
            <a:ext cx="0" cy="5486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17220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100%取得 → クロージング後に合併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931920" y="4224528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59936" y="434340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株式会社プティ・ボノム（カンテサンス）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41648" y="461772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岸田氏は3年間、代表取締役として在任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4224528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クロージング時に役員貸付金5.0億円を現金精算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5230368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321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株式譲受代金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5522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50.0億円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3355848" y="5230368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38728" y="5321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LBOローン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538728" y="5522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20.0億円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3538728" y="5888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TLA14億＋TLB6億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44768" y="5230368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27648" y="5321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エクイティ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327648" y="5522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30.0億円</a:t>
            </a:r>
            <a:endParaRPr lang="en-US" sz="2100" dirty="0"/>
          </a:p>
        </p:txBody>
      </p:sp>
      <p:sp>
        <p:nvSpPr>
          <p:cNvPr id="46" name="Text 44"/>
          <p:cNvSpPr txBox="1"/>
          <p:nvPr/>
        </p:nvSpPr>
        <p:spPr>
          <a:xfrm>
            <a:off x="6327648" y="5888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投資家10.0／WineBank20.0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933688" y="5230368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16568" y="5321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合併後ネットキャッシュ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116568" y="5522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＋2.4億円</a:t>
            </a:r>
            <a:endParaRPr lang="en-US" sz="2100" dirty="0"/>
          </a:p>
        </p:txBody>
      </p:sp>
      <p:sp>
        <p:nvSpPr>
          <p:cNvPr id="50" name="Text 48"/>
          <p:cNvSpPr txBox="1"/>
          <p:nvPr/>
        </p:nvSpPr>
        <p:spPr>
          <a:xfrm>
            <a:off x="9116568" y="5888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実質無借金を維持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カンテサンス（株式会社プティ・ボノム）M&amp;Aスキーム ／ 2026年9月20日 株式会社WineBank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詳細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資金の調達と使途、実行手順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対象会社が保有する現預金を買収資金に充当しないため、合併後も実質無借金の状態を維持できる。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資金の使途と調達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2103120"/>
                <a:gridCol w="105156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資金使途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株式譲受代金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LBOローン（みずほ銀行）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投資家 出資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WineBank 出資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37124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取得関連費用（1.5億円程度）はWineBankが自己資金にて別途負担し、持分比率には影響させない。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005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合併後の財務</a:t>
            </a:r>
            <a:endParaRPr lang="en-US" sz="13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15968"/>
          <a:ext cx="66751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143000"/>
                <a:gridCol w="40233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補足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有利子負債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TLA14.0億（元金均等7年）＋TLB6.0億（期限一括）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現預金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対象会社の現預金17.4億＋役員貸付金5.0億の精算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ネットキャッシュ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＋2.4億円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買収後も実質無借金。初年度DSCR 1.35倍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517904"/>
            <a:ext cx="4123944" cy="2834640"/>
          </a:xfrm>
          <a:prstGeom prst="roundRect">
            <a:avLst>
              <a:gd name="adj" fmla="val 161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175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実行手順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717536" y="1947672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17536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065008" y="190195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SPCを設立し、投資家10.0億円・WineBank20.0億円を払込み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717536" y="2423160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717536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065008" y="23774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みずほ銀行よりLBOローン20.0億円を実行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717536" y="2898648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717536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065008" y="28529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株式譲渡実行。同時に役員貸付金5.0億円を現金精算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717536" y="3374136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717536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065008" y="332841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SPCと対象会社を合併し、借入と事業を一体化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717536" y="3849624"/>
            <a:ext cx="256032" cy="2560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17536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065008" y="38039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岸田氏3年ロックアップのもとで運営。後継料理長を招聘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498080" y="4480560"/>
            <a:ext cx="4123944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17536" y="4572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日程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717536" y="4809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意向表明書提出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9601200" y="4809744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2026年9月30日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7717536" y="5074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9601200" y="50749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10月上旬〜11月中旬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7717536" y="5340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クロージング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9601200" y="534009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11月末（最短）〜年末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66928" y="5760720"/>
            <a:ext cx="11055096" cy="530352"/>
          </a:xfrm>
          <a:prstGeom prst="roundRect">
            <a:avLst>
              <a:gd name="adj" fmla="val 6897"/>
            </a:avLst>
          </a:prstGeom>
          <a:solidFill>
            <a:srgbClr val="6D2E4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04672" y="5815584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残る論点　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BDCE1"/>
                </a:solidFill>
              </a:rPr>
              <a:t>① WineBank出資20.0億円の資金手当て　② 株主間契約（取締役指名・譲渡制限・出口）　③ 譲受価額が50.0億円を超える場合、投資家10.0億円の持分は33.3%を下回る（53.0億円なら30.3%）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カンテサンス（株式会社プティ・ボノム）M&amp;Aスキーム ／ 2026年9月20日 株式会社WineBank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カンテサンス M&amp;Aスキーム</dc:title>
  <dc:subject>PptxGenJS Presentation</dc:subject>
  <dc:creator>株式会社WineBank</dc:creator>
  <cp:lastModifiedBy>株式会社WineBank</cp:lastModifiedBy>
  <cp:revision>1</cp:revision>
  <dcterms:created xsi:type="dcterms:W3CDTF">2026-09-20T07:13:13Z</dcterms:created>
  <dcterms:modified xsi:type="dcterms:W3CDTF">2026-09-20T07:13:13Z</dcterms:modified>
</cp:coreProperties>
</file>