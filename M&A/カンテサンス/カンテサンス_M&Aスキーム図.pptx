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M&amp;Aスキーム（SPC方式）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資本金10万円のSPCを設立し、みずほ銀行のローンと投資家の出資をもって対象会社の全株式を取得。クロージング後にSPCと対象会社を合併する。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297680" y="1444752"/>
            <a:ext cx="2011680" cy="768096"/>
          </a:xfrm>
          <a:prstGeom prst="roundRect">
            <a:avLst>
              <a:gd name="adj" fmla="val 5952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07408" y="15636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 邦人 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SPC設立者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92240" y="1444752"/>
            <a:ext cx="2011680" cy="768096"/>
          </a:xfrm>
          <a:prstGeom prst="roundRect">
            <a:avLst>
              <a:gd name="adj" fmla="val 5952"/>
            </a:avLst>
          </a:prstGeom>
          <a:solidFill>
            <a:srgbClr val="F7F3F4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01968" y="156362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 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18379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投資家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03520" y="2212848"/>
            <a:ext cx="0" cy="585216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98080" y="2212848"/>
            <a:ext cx="0" cy="585216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376672" y="226771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出資10万円（67%）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株主貸付 5.1億円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7571232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 10.0億円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（33%）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66928" y="2798064"/>
            <a:ext cx="233172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" y="2916936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みずほ銀行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3191256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買収ファイナンス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069080" y="2798064"/>
            <a:ext cx="4023360" cy="877824"/>
          </a:xfrm>
          <a:prstGeom prst="roundRect">
            <a:avLst>
              <a:gd name="adj" fmla="val 5208"/>
            </a:avLst>
          </a:prstGeom>
          <a:solidFill>
            <a:srgbClr val="6D2E46"/>
          </a:solidFill>
          <a:ln w="15875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78808" y="2916936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買収目的会社（SPC）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160520" y="319125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3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資本金10万円／借入36.4億円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189720" y="2798064"/>
            <a:ext cx="2432304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99448" y="29169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岸田 周三 氏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191256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対象会社株式100%を保有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16936" y="2834640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ターム 20.0億円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＋ブリッジ 16.4億円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3310128"/>
            <a:ext cx="1115568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092440" y="28529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 100%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110728" y="3072384"/>
            <a:ext cx="1060704" cy="0"/>
          </a:xfrm>
          <a:prstGeom prst="line">
            <a:avLst/>
          </a:prstGeom>
          <a:noFill/>
          <a:ln w="19050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3364992"/>
            <a:ext cx="1060704" cy="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8092440" y="341985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譲受代金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50.0億円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080760" y="3675888"/>
            <a:ext cx="0" cy="548640"/>
          </a:xfrm>
          <a:prstGeom prst="line">
            <a:avLst/>
          </a:prstGeom>
          <a:noFill/>
          <a:ln w="19050">
            <a:solidFill>
              <a:srgbClr val="6D2E46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172200" y="37490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100%取得 → クロージング後に合併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069080" y="4224528"/>
            <a:ext cx="40233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78808" y="434340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株式会社プティ・ボノム（カンテサンス）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160520" y="46177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現預金17.4億円／岸田氏は3年間 代表取締役として在任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4224528"/>
            <a:ext cx="3118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合併後、対象会社の余剰現金16.4億円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（現預金17.4＋役員貸付金5.0−留保6.0）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をもってブリッジローンを全額返済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持分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5522976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67％ ／ 33％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中野氏 ／ 榊原氏（合意による配分）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35584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52044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クロージング所要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520440" y="5522976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51.5億円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352044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株価50.0＋費用1.5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0936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みずほへの依頼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309360" y="5522976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36.4億円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630936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ターム20.0＋ブリッジ16.4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933688" y="5230368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6D2E46"/>
          </a:solidFill>
          <a:ln w="9525">
            <a:solidFill>
              <a:srgbClr val="6D2E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98280" y="5321808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中野氏の実弾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5522976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5.1億円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9098280" y="58887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A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これ以下は成立しない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資金の流れ ― クロージング時、合併直後、定常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対象会社の現預金は買収した後にしか使えない。クロージング時の不足はブリッジローンで埋め、合併直後に対象会社の余剰現金で全額返済する。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クロージング時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6675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51560"/>
                <a:gridCol w="283464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資金使途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調達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株式譲受代金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みずほ　タームローン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取得関連費用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みずほ　ブリッジローン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榊原氏　出資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中野氏　出資10万円＋株主貸付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041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合併直後</a:t>
            </a:r>
            <a:endParaRPr lang="en-US" sz="13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352544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9728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対象会社の現預金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充当先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現預金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うち6.0億円は運転資金として留保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役員貸付金の精算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クロージング時に岸田氏が現金返済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ブリッジ返済原資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ブリッジローンを全額返済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498080" y="1517904"/>
            <a:ext cx="4123944" cy="2889504"/>
          </a:xfrm>
          <a:prstGeom prst="roundRect">
            <a:avLst>
              <a:gd name="adj" fmla="val 1582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17536" y="16276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定常状態（合併後）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717536" y="19568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有利子負債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290304" y="19568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20.0億円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17536" y="21762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TLA14.0億（元金均等7年）＋TLB6.0億（期限一括）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717536" y="2450592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現預金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9290304" y="24505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6.0億円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17536" y="26700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運転資金として留保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717536" y="294436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ネットデット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9290304" y="294436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14.0億円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17536" y="31638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2.6倍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717536" y="34381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初年度DSCR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9290304" y="34381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1.35倍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7717536" y="36576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返済2.60億円 vs FCF 3.50億円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717536" y="3931920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7年累積余剰CF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9290304" y="39319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7.56億円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7717536" y="4151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期限一括6.0億円を上回る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7498080" y="4535424"/>
            <a:ext cx="4123944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17536" y="4626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日程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717536" y="48646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意向表明書提出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601200" y="4864608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2026年9月30日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7717536" y="51206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9601200" y="5120640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10月上旬〜11月中旬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717536" y="537667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クロージング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9601200" y="5376672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11月末（最短）〜年末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566928" y="5760720"/>
            <a:ext cx="11055096" cy="512064"/>
          </a:xfrm>
          <a:prstGeom prst="roundRect">
            <a:avLst>
              <a:gd name="adj" fmla="val 7143"/>
            </a:avLst>
          </a:prstGeom>
          <a:solidFill>
            <a:srgbClr val="6D2E46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804672" y="5815584"/>
            <a:ext cx="10579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みずほ銀行への依頼は20.0億円ではなく36.4億円　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BDCE1"/>
                </a:solidFill>
              </a:rPr>
              <a:t>タームローン20.0億円に加え、クロージング時の資金繰りを埋めるブリッジローン16.4億円が必要。ブリッジは合併直後に対象会社の余剰現金で全額返済する。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10896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B58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1A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中野氏の拠出額によって、成立するかどうかが決まる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88136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榊原氏の10.0億円は固定。中野氏の拠出額を変えると、合併後に残る有利子負債が動き、返済可能性が変わる。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92224"/>
          <a:ext cx="1105509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691640"/>
                <a:gridCol w="1143000"/>
                <a:gridCol w="1097280"/>
                <a:gridCol w="1920240"/>
                <a:gridCol w="16824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中野氏の拠出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クロージング時の借入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合併後の有利子負債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Debt/EBITDA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初年度DSCR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7年累積余剰CF vs 期限一括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0円（資本金10万円のみ）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A874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3.27億円 &lt; 7.52億円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B2C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7年で返し切れない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7.56億円 &gt; 6.00億円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最小構成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11.74億円 &gt; 4.52億円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余裕あり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20.0億円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A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ブリッジ不要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E6F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◎ 実質無借金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22452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期限一括分はいずれも有利子負債の30%と仮定。7年・金利3%・元金均等。FCFは年3.50億円で一定。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66928" y="4572000"/>
            <a:ext cx="3520440" cy="1700784"/>
          </a:xfrm>
          <a:prstGeom prst="roundRect">
            <a:avLst>
              <a:gd name="adj" fmla="val 2688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" y="468172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中野氏の5.1億円は「出資」か「貸付」か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138928"/>
            <a:ext cx="3127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主貸付とすれば持分67%を維持したまま資金を入れられるが、榊原氏の10.0億円がリスクを負う資本であるのに対し、中野氏の5.1億円は資本より優先して回収される債権となる。榊原氏が同順位の出資を求める可能性が高い。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97680" y="4572000"/>
            <a:ext cx="3520440" cy="1700784"/>
          </a:xfrm>
          <a:prstGeom prst="roundRect">
            <a:avLst>
              <a:gd name="adj" fmla="val 2688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468172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67%／33%は合意による配分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5138928"/>
            <a:ext cx="3127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本金10万円に対し榊原氏が10.0億円を払い込むため、金額按分では榊原氏がほぼ全量となる。67%／33%は、案件の持込み・みずほとの与信交渉・買収後の運営を中野氏が担うことへの評価である旨を、株主間契約に明記しておく必要がある。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028432" y="4572000"/>
            <a:ext cx="3520440" cy="1700784"/>
          </a:xfrm>
          <a:prstGeom prst="roundRect">
            <a:avLst>
              <a:gd name="adj" fmla="val 2688"/>
            </a:avLst>
          </a:prstGeom>
          <a:solidFill>
            <a:srgbClr val="F7F3F4"/>
          </a:solidFill>
          <a:ln w="9525">
            <a:solidFill>
              <a:srgbClr val="E4DA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68172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現預金は「買った後」にしか使えない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5138928"/>
            <a:ext cx="31272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1F1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ージング時点でSPCは対象会社を保有していないため、現預金20億円を支払原資に充てることはできない。ブリッジローンで立て替え、合併後に返済する以外に方法がない。ここがスキーム上の最大の実務論点。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41908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カンテサンス（株式会社プティ・ボノム）M&amp;Aスキーム ／ 2026年9月20日 株式会社WineBank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0799064" y="641908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カンテサンス M&amp;Aスキーム</dc:title>
  <dc:subject>PptxGenJS Presentation</dc:subject>
  <dc:creator>株式会社WineBank</dc:creator>
  <cp:lastModifiedBy>株式会社WineBank</cp:lastModifiedBy>
  <cp:revision>1</cp:revision>
  <dcterms:created xsi:type="dcterms:W3CDTF">2026-09-20T07:35:20Z</dcterms:created>
  <dcterms:modified xsi:type="dcterms:W3CDTF">2026-09-20T07:35:20Z</dcterms:modified>
</cp:coreProperties>
</file>