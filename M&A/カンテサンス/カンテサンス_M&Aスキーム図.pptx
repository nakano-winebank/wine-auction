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M&amp;Aスキーム（SPC方式）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資本金10万円のSPCを設立し、みずほ銀行のローンと投資家の出資をもって対象会社の全株式を取得。クロージング後にSPCと対象会社を合併する。譲受価額はレンジ（50.0〜55.0億円）で提示する。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297680" y="1444752"/>
            <a:ext cx="2011680" cy="768096"/>
          </a:xfrm>
          <a:prstGeom prst="roundRect">
            <a:avLst>
              <a:gd name="adj" fmla="val 5952"/>
            </a:avLst>
          </a:prstGeom>
          <a:solidFill>
            <a:srgbClr val="F7F3F4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07408" y="156362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 邦人 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SPC設立者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92240" y="1444752"/>
            <a:ext cx="2011680" cy="768096"/>
          </a:xfrm>
          <a:prstGeom prst="roundRect">
            <a:avLst>
              <a:gd name="adj" fmla="val 5952"/>
            </a:avLst>
          </a:prstGeom>
          <a:solidFill>
            <a:srgbClr val="F7F3F4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01968" y="156362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 氏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投資家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303520" y="2212848"/>
            <a:ext cx="0" cy="585216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498080" y="2212848"/>
            <a:ext cx="0" cy="585216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376672" y="22677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出資10万円（67%）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株主貸付 700万円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7571232" y="22677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 10.0億円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（33%）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66928" y="2798064"/>
            <a:ext cx="233172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" y="291693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みずほ銀行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3191256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買収ファイナンス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2798064"/>
            <a:ext cx="4023360" cy="877824"/>
          </a:xfrm>
          <a:prstGeom prst="roundRect">
            <a:avLst>
              <a:gd name="adj" fmla="val 5208"/>
            </a:avLst>
          </a:prstGeom>
          <a:solidFill>
            <a:srgbClr val="6D2E46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78808" y="2916936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買収目的会社（SPC）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160520" y="319125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3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資本金10万円／借入41.4億円（ターム20.0＋ブリッジ21.4）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189720" y="2798064"/>
            <a:ext cx="243230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99448" y="29169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岸田 周三 氏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191256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対象会社株式100%を保有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16936" y="283464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ターム 20.0億円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＋ブリッジ 21.4億円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3310128"/>
            <a:ext cx="1115568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8092440" y="28529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 100%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110728" y="3072384"/>
            <a:ext cx="1060704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10728" y="3364992"/>
            <a:ext cx="1060704" cy="0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8065008" y="3419856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譲受代金</a:t>
            </a:r>
            <a:endParaRPr lang="en-US" sz="8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50.0〜55.0億円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80760" y="3675888"/>
            <a:ext cx="0" cy="548640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172200" y="37490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100%取得 → クロージング後に合併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069080" y="4224528"/>
            <a:ext cx="40233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178808" y="434340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株式会社プティ・ボノム（カンテサンス）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160520" y="46177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現預金17.4億円／岸田氏は3年間 代表取締役として在任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503920" y="4224528"/>
            <a:ext cx="31181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合併後、対象会社の余剰現金21.4億円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（現預金17.4＋役員貸付金5.0−留保1.0）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をもってブリッジローンを全額返済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譲受価額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50.0〜55.0億円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レンジで提示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35584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52044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みずほへの依頼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52044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41.4億円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352044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A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ターム20.0＋ブリッジ21.4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4476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0936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中野氏の実弾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30936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700万円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630936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A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留保現金1.0億円とした場合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893368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9828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合併後の有利子負債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09828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20.0億円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909828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 1.35倍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資金の流れ ― クロージング時、合併直後、定常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対象会社の現預金は買収した後にしか使えない。クロージング時の不足はブリッジローンで埋め、合併直後に対象会社の余剰現金で全額返済する。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クロージング時</a:t>
            </a:r>
            <a:endParaRPr lang="en-US" sz="13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66751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51560"/>
                <a:gridCol w="283464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資金使途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調達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株式譲受代金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みずほ　タームローン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取得関連費用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みずほ　ブリッジローン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榊原氏　出資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中野氏　出資10万円＋株主貸付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3858768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譲受価額が55.0億円となる場合、差額5.0億円は追加投資家の第三者割当増資で調達する（p.4）。借入額および合併後の財務は変わらない。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合併直後</a:t>
            </a:r>
            <a:endParaRPr lang="en-US" sz="135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62272"/>
          <a:ext cx="6675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3657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対象会社の現預金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充当先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現預金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うち1.0億円は運転資金として留保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役員貸付金の精算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クロージング時に岸田氏が現金返済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ブリッジ返済原資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ブリッジローンを全額返済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98080" y="1517904"/>
            <a:ext cx="4123944" cy="2889504"/>
          </a:xfrm>
          <a:prstGeom prst="roundRect">
            <a:avLst>
              <a:gd name="adj" fmla="val 1582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17536" y="16276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定常状態（合併後）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17536" y="195681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有利子負債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290304" y="19568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20.0億円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17536" y="21762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TLA14.0億（元金均等7年・毎月返済）＋TLB6.0億（期限一括）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7717536" y="245059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現預金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9290304" y="24505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1.0億円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17536" y="26700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運転資金として留保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717536" y="294436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ネットデット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9290304" y="294436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19.0億円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717536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3.6倍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717536" y="343814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初年度DSCR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9290304" y="34381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E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1.35倍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7717536" y="36576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返済2.60億円 vs FCF 3.50億円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717536" y="393192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2027年 最低現金残高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9290304" y="39319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E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0.19億円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7717536" y="4151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2月末。月次固定費の1.0か月分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498080" y="4480560"/>
            <a:ext cx="4123944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17536" y="45720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日程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717536" y="479145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意向表明書提出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9601200" y="4791456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2026年9月30日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7717536" y="501548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9601200" y="50154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10月上旬〜11月中旬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7717536" y="52395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最終契約締結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9601200" y="5239512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2026年12月中旬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7717536" y="54635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クロージング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9601200" y="5463540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2026年12月末（合意済）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566928" y="5760720"/>
            <a:ext cx="11055096" cy="512064"/>
          </a:xfrm>
          <a:prstGeom prst="roundRect">
            <a:avLst>
              <a:gd name="adj" fmla="val 7143"/>
            </a:avLst>
          </a:prstGeom>
          <a:solidFill>
            <a:srgbClr val="6D2E46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804672" y="5815584"/>
            <a:ext cx="10579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みずほ銀行への依頼は20.0億円ではなく41.4億円　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BDCE1"/>
                </a:solidFill>
              </a:rPr>
              <a:t>タームローン20.0億円に加え、クロージング時の資金繰りを埋めるブリッジローン21.4億円が必要。ブリッジは合併直後に対象会社の余剰現金で全額返済し、残る有利子負債は20.0億円となる。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40" name="Text 36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対象会社に留保する現金をいくらにするか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留保額を1億円増やすと、中野氏の必要拠出額も1億円増え、2027年の最低現金残高も1億円増える。合併後の有利子負債20.0億円と初年度DSCR1.35倍は、いずれの場合も変わらない。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55096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00200"/>
                <a:gridCol w="1417320"/>
                <a:gridCol w="1828800"/>
                <a:gridCol w="1234440"/>
                <a:gridCol w="1920240"/>
                <a:gridCol w="163677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留保する現金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ブリッジローン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中野氏の拠出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合併後の有利子負債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ネット/EBITDA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2027年の最低現金残高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21.43億円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固定費1.0か月分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20.43億円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 固定費6.2か月分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19.43億円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余裕あり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16.43億円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当初案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93192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最低現金残高は2月末。2月に2026年12月期の未払税金1.14億円を納付する一方、借入の元利返済は毎月発生するため、年間で最も薄くなる。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4279392"/>
            <a:ext cx="3520440" cy="1993392"/>
          </a:xfrm>
          <a:prstGeom prst="roundRect">
            <a:avLst>
              <a:gd name="adj" fmla="val 2294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" y="438912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1.0億円では2月末に1,900万円まで落ちる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4846320"/>
            <a:ext cx="3127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借入の返済が毎月であるため、2026年12月期の未払税金1.14億円を納付する2月に底が来る。残高1,900万円は月次固定費の1.0か月分にすぎず、ワインの一次価格アロケーションがまとまって入荷する月や突発的な修繕が重なれば、一時的な借入が避けられない。留保を2.0億円とすれば底は1.19億円（6.2か月分）となる。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297680" y="4279392"/>
            <a:ext cx="3520440" cy="1993392"/>
          </a:xfrm>
          <a:prstGeom prst="roundRect">
            <a:avLst>
              <a:gd name="adj" fmla="val 2294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98848" y="438912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資産調整勘定を織り込めば年1.8億円が浮く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4846320"/>
            <a:ext cx="3127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譲受代金50.0億円と時価純資産23.15億円の差額26.85億円が税務上ののれんとして5年で損金算入されれば、年5.37億円の損金となり課税所得はマイナスとなる。8月の中間納付0.92億円は仮決算により回避でき、期末残高は1.65億円から2.57億円へ、DSCRは1.25倍から1.61倍へ改善する。ただし2月の納付は2026年12月期に対応するものであり回避できない。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8028432" y="4279392"/>
            <a:ext cx="3520440" cy="1993392"/>
          </a:xfrm>
          <a:prstGeom prst="roundRect">
            <a:avLst>
              <a:gd name="adj" fmla="val 2294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4389120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中野氏の拠出が700万円になることの副作用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4846320"/>
            <a:ext cx="3127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榊原氏が10.0億円を払い込むのに対し、中野氏の拠出は資本金10万円と株主貸付700万円のみとなる。67%／33%という配分は合意によるものだが、その根拠を株主間契約でより丁寧に定める必要が生じる。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株主構成 ― 譲受価額50.0億円の場合と55.0億円の場合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上限で決着した場合、差額5.0億円は第三者割当増資により、外部の追加投資家から同一のバリュエーションで調達する。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539496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譲受価額 50.0億円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6656" y="2029968"/>
            <a:ext cx="3450509" cy="4572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2029968"/>
            <a:ext cx="34505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 66.7%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27165" y="2029968"/>
            <a:ext cx="1724995" cy="4572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27165" y="2029968"/>
            <a:ext cx="17249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 33.3%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" y="2670048"/>
          <a:ext cx="517550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23744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拠出額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持分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 邦人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出資10万円＋株主貸付5.07億円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榊原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15.07億円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227064" y="1554480"/>
            <a:ext cx="539496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譲受価額 55.0億円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36792" y="2029968"/>
            <a:ext cx="2957283" cy="4572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336792" y="2029968"/>
            <a:ext cx="29572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 57.1%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294075" y="2029968"/>
            <a:ext cx="1478641" cy="4572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294075" y="2029968"/>
            <a:ext cx="14786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 28.6%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0772716" y="2029968"/>
            <a:ext cx="739580" cy="457200"/>
          </a:xfrm>
          <a:prstGeom prst="rect">
            <a:avLst/>
          </a:prstGeom>
          <a:solidFill>
            <a:srgbClr val="B58B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772716" y="2029968"/>
            <a:ext cx="7395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14.3%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670048"/>
          <a:ext cx="517550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23744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拠出額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持分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 邦人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出資10万円＋株主貸付5.07億円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榊原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追加投資家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5.00億円（第三者割当増資）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58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20.07億円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566928" y="4700016"/>
            <a:ext cx="5394960" cy="987552"/>
          </a:xfrm>
          <a:prstGeom prst="roundRect">
            <a:avLst>
              <a:gd name="adj" fmla="val 463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68096" y="479145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銀行から見た財務は、どちらでも変わらない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768096" y="5029200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差額5.0億円を全額エクイティで吸収するため、みずほ銀行への依頼額36.4億円、合併後の有利子負債20.0億円、初年度DSCR1.35倍は、いずれのケースでも同一となる。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227064" y="4700016"/>
            <a:ext cx="5394960" cy="987552"/>
          </a:xfrm>
          <a:prstGeom prst="roundRect">
            <a:avLst>
              <a:gd name="adj" fmla="val 463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28232" y="479145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同一バリュエーションでの追加調達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428232" y="5029200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榊原氏の10.0億円＝33.3%が示すポストマネー30.0億円を基準とし、追加投資家は同じ条件で5.0億円を引き受ける。既存株主は一律に希薄化する（30.0億円 → 35.0億円）。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566928" y="5779008"/>
            <a:ext cx="11055096" cy="512064"/>
          </a:xfrm>
          <a:prstGeom prst="roundRect">
            <a:avLst>
              <a:gd name="adj" fmla="val 7143"/>
            </a:avLst>
          </a:prstGeom>
          <a:solidFill>
            <a:srgbClr val="6D2E46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804672" y="5833872"/>
            <a:ext cx="10579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先に握っておくこと　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BDCE1"/>
                </a:solidFill>
              </a:rPr>
              <a:t>55.0億円ケースでは榊原氏の持分が28.6%となり、会社法上の特別決議に対する拒否権（1/3超）を失う。中野氏も57.1%となり単独での2/3可決ができなくなる。追加投資家を受け入れる際の優先引受権の扱いを、株主間契約に先に定めておく必要がある。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カンテサンス M&amp;Aスキーム</dc:title>
  <dc:subject>PptxGenJS Presentation</dc:subject>
  <dc:creator>株式会社WineBank</dc:creator>
  <cp:lastModifiedBy>株式会社WineBank</cp:lastModifiedBy>
  <cp:revision>1</cp:revision>
  <dcterms:created xsi:type="dcterms:W3CDTF">2026-09-20T08:39:01Z</dcterms:created>
  <dcterms:modified xsi:type="dcterms:W3CDTF">2026-09-20T08:39:01Z</dcterms:modified>
</cp:coreProperties>
</file>