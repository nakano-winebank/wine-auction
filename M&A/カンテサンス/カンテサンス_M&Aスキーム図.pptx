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M&amp;Aスキーム（SPC方式）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資本金10万円のSPCを設立し、みずほ銀行のローンと投資家の出資をもって対象会社の全株式を取得。クロージング後にSPCと対象会社を合併する。譲受価額はレンジ（50.0〜55.0億円）で提示する。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29768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0740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邦人 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SPC設立者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9224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0352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376672" y="22677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出資10万円（67%）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株主貸付 5.1億円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57123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 10.0億円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（33%）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6928" y="2798064"/>
            <a:ext cx="233172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291693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みずほ銀行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19125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買収ファイナンス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2798064"/>
            <a:ext cx="4023360" cy="877824"/>
          </a:xfrm>
          <a:prstGeom prst="roundRect">
            <a:avLst>
              <a:gd name="adj" fmla="val 5208"/>
            </a:avLst>
          </a:prstGeom>
          <a:solidFill>
            <a:srgbClr val="6D2E46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8808" y="2916936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買収目的会社（SPC）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31912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資本金10万円／借入36.4億円（ターム20.0＋ブリッジ16.4）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89720" y="2798064"/>
            <a:ext cx="243230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99448" y="29169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 周三 氏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19125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対象会社株式100%を保有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16936" y="283464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 20.0億円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＋ブリッジ 16.4億円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3310128"/>
            <a:ext cx="1115568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092440" y="28529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 100%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110728" y="3072384"/>
            <a:ext cx="1060704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3364992"/>
            <a:ext cx="1060704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065008" y="3419856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譲受代金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50.0〜55.0億円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0760" y="3675888"/>
            <a:ext cx="0" cy="54864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172200" y="3749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100%取得 → クロージング後に合併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69080" y="4224528"/>
            <a:ext cx="40233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78808" y="434340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株式会社プティ・ボノム（カンテサンス）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46177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現預金17.4億円／岸田氏は3年間 代表取締役として在任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4224528"/>
            <a:ext cx="3118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合併後、対象会社の余剰現金16.4億円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（現預金17.4＋役員貸付金5.0−留保6.0）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をもってブリッジローンを全額返済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譲受価額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50.0〜55.0億円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レンジで提示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52044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みずほへの依頼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36.4億円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352044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ターム20.0＋ブリッジ16.4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0936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中野氏の実弾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30936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5.1億円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これ以下は成立しない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3368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9828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合併後の有利子負債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5522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20.0億円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09828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1.35倍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資金の流れ ― クロージング時、合併直後、定常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対象会社の現預金は買収した後にしか使えない。クロージング時の不足はブリッジローンで埋め、合併直後に対象会社の余剰現金で全額返済する。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クロージング時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6675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283464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資金使途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株式譲受代金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タームローン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取得関連費用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榊原氏　出資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　出資10万円＋株主貸付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85876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譲受価額が55.0億円となる場合、差額5.0億円は追加投資家の第三者割当増資で調達する（p.4）。借入額および合併後の財務は変わらない。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合併直後</a:t>
            </a:r>
            <a:endParaRPr lang="en-US" sz="13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62272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36576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対象会社の現預金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充当先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うち6.0億円は運転資金として留保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役員貸付金の精算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クロージング時に岸田氏が現金返済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ブリッジ返済原資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ブリッジローンを全額返済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98080" y="1517904"/>
            <a:ext cx="4123944" cy="2889504"/>
          </a:xfrm>
          <a:prstGeom prst="roundRect">
            <a:avLst>
              <a:gd name="adj" fmla="val 158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17536" y="16276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定常状態（合併後）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17536" y="19568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有利子負債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290304" y="19568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20.0億円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17536" y="21762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TLA14.0億（元金均等7年）＋TLB6.0億（期限一括）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717536" y="245059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9290304" y="2450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6.0億円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17536" y="2670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運転資金として留保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717536" y="294436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ネットデット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9290304" y="29443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14.0億円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717536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2.6倍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717536" y="34381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初年度DSCR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9290304" y="34381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1.35倍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7717536" y="3657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返済2.60億円 vs FCF 3.50億円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717536" y="39319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7年累積余剰CF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9290304" y="39319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7.56億円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7717536" y="4151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期限一括6.0億円を上回る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498080" y="4480560"/>
            <a:ext cx="4123944" cy="1243584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17536" y="45720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日程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717536" y="47914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意向表明書提出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9601200" y="4791456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2026年9月30日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717536" y="50154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9601200" y="50154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10月上旬〜11月中旬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7717536" y="52395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最終契約締結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9601200" y="5239512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2026年12月中旬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717536" y="54635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601200" y="5463540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2026年12月末（合意済）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804672" y="5815584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みずほ銀行への依頼は20.0億円ではなく36.4億円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タームローン20.0億円に加え、クロージング時の資金繰りを埋めるブリッジローン16.4億円が必要。ブリッジは合併直後に対象会社の余剰現金で全額返済する。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40" name="Text 3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中野氏の拠出額によって、成立するかどうかが決まる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榊原氏の10.0億円は固定。中野氏の拠出額を変えると、合併後に残る有利子負債が動き、返済可能性が変わる。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92224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691640"/>
                <a:gridCol w="1143000"/>
                <a:gridCol w="1097280"/>
                <a:gridCol w="1920240"/>
                <a:gridCol w="16824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中野氏の拠出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クロージング時の借入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合併後の有利子負債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Debt/EBITDA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初年度DSCR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7年累積余剰CF vs 期限一括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0円（資本金10万円のみ）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3.27億円 &lt; 7.52億円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7年で返し切れない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7.56億円 &gt; 6.00億円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最小構成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11.74億円 &gt; 4.52億円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余裕あり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ブリッジ不要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実質無借金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22452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期限一括分はいずれも有利子負債の30%と仮定。7年・金利3%・元金均等。FCFは年3.50億円で一定。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中野氏の5.1億円は「出資」か「貸付」か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主貸付とすれば持分67%を維持したまま資金を入れられるが、榊原氏の10.0億円がリスクを負う資本であるのに対し、中野氏の5.1億円は資本より優先して回収される債権となる。榊原氏が同順位の出資を求める可能性が高い。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97680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67%／33%は合意による配分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に対し榊原氏が10.0億円を払い込むため、金額按分では榊原氏がほぼ全量となる。67%／33%は、案件の持込み・みずほとの与信交渉・買収後の運営を中野氏が担うことへの評価である旨を、株主間契約に明記しておく必要がある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028432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現預金は「買った後」にしか使えない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時点でSPCは対象会社を保有していないため、現預金20億円を支払原資に充てることはできない。ブリッジローンで立て替え、合併後に返済する以外に方法がない。ここがスキーム上の最大の実務論点。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株主構成 ― 譲受価額50.0億円の場合と55.0億円の場合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上限で決着した場合、差額5.0億円は第三者割当増資により、外部の追加投資家から同一のバリュエーションで調達する。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譲受価額 50.0億円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2029968"/>
            <a:ext cx="34505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66.7%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27165" y="2029968"/>
            <a:ext cx="1724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33.3%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227064" y="1554480"/>
            <a:ext cx="53949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64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譲受価額 55.0億円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36792" y="2029968"/>
            <a:ext cx="2957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57.1%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294075" y="2029968"/>
            <a:ext cx="1478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28.6%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solidFill>
            <a:srgbClr val="B58B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772716" y="2029968"/>
            <a:ext cx="7395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670048"/>
          <a:ext cx="517550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23744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株主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拠出額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持分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 邦人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出資10万円＋株主貸付5.07億円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 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追加投資家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5.00億円（第三者割当増資）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58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20.07億円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68096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銀行から見た財務は、どちらでも変わらない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768096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差額5.0億円を全額エクイティで吸収するため、みずほ銀行への依頼額36.4億円、合併後の有利子負債20.0億円、初年度DSCR1.35倍は、いずれのケースでも同一となる。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27064" y="4700016"/>
            <a:ext cx="5394960" cy="987552"/>
          </a:xfrm>
          <a:prstGeom prst="roundRect">
            <a:avLst>
              <a:gd name="adj" fmla="val 463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28232" y="47914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同一バリュエーションでの追加調達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428232" y="5029200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榊原氏の10.0億円＝33.3%が示すポストマネー30.0億円を基準とし、追加投資家は同じ条件で5.0億円を引き受ける。既存株主は一律に希薄化する（30.0億円 → 35.0億円）。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5779008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04672" y="5833872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先に握っておくこと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55.0億円ケースでは榊原氏の持分が28.6%となり、会社法上の特別決議に対する拒否権（1/3超）を失う。中野氏も57.1%となり単独での2/3可決ができなくなる。追加投資家を受け入れる際の優先引受権の扱いを、株主間契約に先に定めておく必要がある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M&amp;Aスキーム</dc:title>
  <dc:subject>PptxGenJS Presentation</dc:subject>
  <dc:creator>株式会社WineBank</dc:creator>
  <cp:lastModifiedBy>株式会社WineBank</cp:lastModifiedBy>
  <cp:revision>1</cp:revision>
  <dcterms:created xsi:type="dcterms:W3CDTF">2026-09-20T07:40:07Z</dcterms:created>
  <dcterms:modified xsi:type="dcterms:W3CDTF">2026-09-20T07:40:07Z</dcterms:modified>
</cp:coreProperties>
</file>