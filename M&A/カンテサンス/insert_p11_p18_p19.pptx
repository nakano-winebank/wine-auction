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4" r:id="rId2"/>
    <p:sldMasterId id="2147483668" r:id="rId3"/>
  </p:sldMasterIdLst>
  <p:notesMasterIdLst>
    <p:notesMasterId r:id="rId32"/>
  </p:notesMasterIdLst>
  <p:sldIdLst>
    <p:sldId id="266" r:id="rId14"/>
    <p:sldId id="284" r:id="rId48"/>
    <p:sldId id="285" r:id="rId49"/>
  </p:sldIdLst>
  <p:sldSz cx="9144000" cy="5143500" type="screen16x9"/>
  <p:notesSz cx="6742113" cy="9875838"/>
  <p:embeddedFontLst>
    <p:embeddedFont>
      <p:font typeface="Zen Kaku Gothic New" panose="020B0600070205080204" charset="-128"/>
      <p:regular r:id="rId33"/>
      <p:bold r:id="rId34"/>
    </p:embeddedFont>
    <p:embeddedFont>
      <p:font typeface="Meiryo" panose="020B0604030504040204" pitchFamily="50" charset="-128"/>
      <p:regular r:id="rId35"/>
      <p:bold r:id="rId36"/>
      <p:italic r:id="rId37"/>
      <p:boldItalic r:id="rId38"/>
    </p:embeddedFont>
    <p:embeddedFont>
      <p:font typeface="Crimson Text" panose="020B060007020508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j3D0fzfpB0V/DUEpzIMFdk8mZu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B4C7F5-E376-4956-9A0A-9A7A7A081F5C}">
  <a:tblStyle styleId="{65B4C7F5-E376-4956-9A0A-9A7A7A081F5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48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4" Type="http://schemas.openxmlformats.org/officeDocument/2006/relationships/slide" Target="slides/slide11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Relationship Id="rId39" Type="http://schemas.openxmlformats.org/officeDocument/2006/relationships/font" Target="fonts/font7.fntdata"/><Relationship Id="rId40" Type="http://schemas.openxmlformats.org/officeDocument/2006/relationships/font" Target="fonts/font8.fntdata"/><Relationship Id="rId41" Type="http://schemas.openxmlformats.org/officeDocument/2006/relationships/font" Target="fonts/font9.fntdata"/><Relationship Id="rId42" Type="http://schemas.openxmlformats.org/officeDocument/2006/relationships/font" Target="fonts/font10.fntdata"/><Relationship Id="rId43" Type="http://customschemas.google.com/relationships/presentationmetadata" Target="meta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18.xml"/><Relationship Id="rId4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4212" y="4691023"/>
            <a:ext cx="5393690" cy="444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:notes"/>
          <p:cNvSpPr txBox="1">
            <a:spLocks noGrp="1"/>
          </p:cNvSpPr>
          <p:nvPr>
            <p:ph type="body" idx="1"/>
          </p:nvPr>
        </p:nvSpPr>
        <p:spPr>
          <a:xfrm>
            <a:off x="674210" y="4691017"/>
            <a:ext cx="5393700" cy="44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8" name="Google Shape;3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8" name="Google Shape;1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6650" y="102393"/>
            <a:ext cx="1448976" cy="4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20e15c5e1_0_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f20e15c5e1_0_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g3f20e15c5e1_0_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bg>
      <p:bgPr>
        <a:solidFill>
          <a:srgbClr val="36394B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3" descr="株式会社WineBank (@WineBank_O) / X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-451045" y="-101772"/>
            <a:ext cx="5302422" cy="5302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cbfc3592e_0_1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4cbfc3592e_0_1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g34cbfc3592e_0_1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4cbfc3592e_0_1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4cbfc3592e_0_1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e662f90c6_0_170"/>
          <p:cNvSpPr txBox="1">
            <a:spLocks noGrp="1"/>
          </p:cNvSpPr>
          <p:nvPr>
            <p:ph type="sldNum" idx="12"/>
          </p:nvPr>
        </p:nvSpPr>
        <p:spPr>
          <a:xfrm>
            <a:off x="8586476" y="4943097"/>
            <a:ext cx="5487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タイトル スライド">
  <p:cSld name="1_タイトル スライド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2af4871d9_0_308"/>
          <p:cNvSpPr txBox="1">
            <a:spLocks noGrp="1"/>
          </p:cNvSpPr>
          <p:nvPr>
            <p:ph type="subTitle" idx="1"/>
          </p:nvPr>
        </p:nvSpPr>
        <p:spPr>
          <a:xfrm>
            <a:off x="1371600" y="4245936"/>
            <a:ext cx="64008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g382af4871d9_0_308"/>
          <p:cNvSpPr/>
          <p:nvPr/>
        </p:nvSpPr>
        <p:spPr>
          <a:xfrm>
            <a:off x="0" y="1674421"/>
            <a:ext cx="9144000" cy="1329563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82af4871d9_0_30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6965303" y="453056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7" name="Google Shape;107;p22"/>
          <p:cNvSpPr/>
          <p:nvPr/>
        </p:nvSpPr>
        <p:spPr>
          <a:xfrm>
            <a:off x="0" y="5025572"/>
            <a:ext cx="9144000" cy="130800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32700" y="113900"/>
            <a:ext cx="1390003" cy="39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/>
          <p:nvPr/>
        </p:nvSpPr>
        <p:spPr>
          <a:xfrm>
            <a:off x="8362951" y="4843238"/>
            <a:ext cx="659752" cy="1308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" sz="700" b="1" i="0" u="none" strike="noStrike" cap="none">
                <a:solidFill>
                  <a:srgbClr val="C00000"/>
                </a:solidFill>
                <a:latin typeface="Crimson Text"/>
                <a:ea typeface="Crimson Text"/>
                <a:cs typeface="Crimson Text"/>
                <a:sym typeface="Crimson Text"/>
              </a:rPr>
              <a:t>confidential</a:t>
            </a:r>
            <a:endParaRPr sz="700" b="1" i="0" u="none" strike="noStrike" cap="none">
              <a:solidFill>
                <a:srgbClr val="C00000"/>
              </a:solidFill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bg>
      <p:bgPr>
        <a:solidFill>
          <a:srgbClr val="36394B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3" descr="株式会社WineBank (@WineBank_O) / X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-451045" y="-101772"/>
            <a:ext cx="5302422" cy="5302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0a0e788958_0_229"/>
          <p:cNvSpPr txBox="1">
            <a:spLocks noGrp="1"/>
          </p:cNvSpPr>
          <p:nvPr>
            <p:ph type="ctrTitle"/>
          </p:nvPr>
        </p:nvSpPr>
        <p:spPr>
          <a:xfrm>
            <a:off x="685800" y="2263306"/>
            <a:ext cx="77724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40a0e788958_0_229"/>
          <p:cNvSpPr txBox="1">
            <a:spLocks noGrp="1"/>
          </p:cNvSpPr>
          <p:nvPr>
            <p:ph type="subTitle" idx="1"/>
          </p:nvPr>
        </p:nvSpPr>
        <p:spPr>
          <a:xfrm>
            <a:off x="1185221" y="3165752"/>
            <a:ext cx="68580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27" name="Google Shape;127;g40a0e788958_0_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88635" y="1526420"/>
            <a:ext cx="2550235" cy="69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40a0e788958_0_229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40a0e788958_0_229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30" name="Google Shape;130;g40a0e788958_0_229"/>
          <p:cNvCxnSpPr/>
          <p:nvPr/>
        </p:nvCxnSpPr>
        <p:spPr>
          <a:xfrm>
            <a:off x="4168702" y="2995442"/>
            <a:ext cx="726300" cy="0"/>
          </a:xfrm>
          <a:prstGeom prst="straightConnector1">
            <a:avLst/>
          </a:prstGeom>
          <a:noFill/>
          <a:ln w="76200" cap="flat" cmpd="sng">
            <a:solidFill>
              <a:srgbClr val="36394B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a0e788958_0_236"/>
          <p:cNvSpPr txBox="1">
            <a:spLocks noGrp="1"/>
          </p:cNvSpPr>
          <p:nvPr>
            <p:ph type="ctrTitle"/>
          </p:nvPr>
        </p:nvSpPr>
        <p:spPr>
          <a:xfrm>
            <a:off x="474697" y="166544"/>
            <a:ext cx="64686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40a0e788958_0_236"/>
          <p:cNvSpPr txBox="1">
            <a:spLocks noGrp="1"/>
          </p:cNvSpPr>
          <p:nvPr>
            <p:ph type="subTitle" idx="1"/>
          </p:nvPr>
        </p:nvSpPr>
        <p:spPr>
          <a:xfrm>
            <a:off x="1454334" y="1281395"/>
            <a:ext cx="65565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4" name="Google Shape;134;g40a0e788958_0_236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40a0e788958_0_236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6" name="Google Shape;136;g40a0e788958_0_236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 スライド">
  <p:cSld name="2_タイトル スライド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a0e788958_0_242"/>
          <p:cNvSpPr txBox="1">
            <a:spLocks noGrp="1"/>
          </p:cNvSpPr>
          <p:nvPr>
            <p:ph type="ctrTitle"/>
          </p:nvPr>
        </p:nvSpPr>
        <p:spPr>
          <a:xfrm>
            <a:off x="199702" y="114790"/>
            <a:ext cx="8745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40a0e788958_0_242"/>
          <p:cNvSpPr txBox="1">
            <a:spLocks noGrp="1"/>
          </p:cNvSpPr>
          <p:nvPr>
            <p:ph type="subTitle" idx="1"/>
          </p:nvPr>
        </p:nvSpPr>
        <p:spPr>
          <a:xfrm>
            <a:off x="199704" y="806666"/>
            <a:ext cx="87450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0" name="Google Shape;140;g40a0e788958_0_242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40a0e788958_0_2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7" y="4805186"/>
            <a:ext cx="1064290" cy="2905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40a0e788958_0_242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40a0e788958_0_242"/>
          <p:cNvSpPr txBox="1">
            <a:spLocks noGrp="1"/>
          </p:cNvSpPr>
          <p:nvPr>
            <p:ph type="sldNum" idx="12"/>
          </p:nvPr>
        </p:nvSpPr>
        <p:spPr>
          <a:xfrm>
            <a:off x="7020654" y="487277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4" name="Google Shape;144;g40a0e788958_0_242"/>
          <p:cNvSpPr txBox="1">
            <a:spLocks noGrp="1"/>
          </p:cNvSpPr>
          <p:nvPr>
            <p:ph type="ftr" idx="11"/>
          </p:nvPr>
        </p:nvSpPr>
        <p:spPr>
          <a:xfrm>
            <a:off x="3478808" y="4870894"/>
            <a:ext cx="157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a0e788958_0_2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40a0e788958_0_2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40a0e788958_0_2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タイトル スライド">
  <p:cSld name="3_タイトル スライド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a0e788958_0_254"/>
          <p:cNvSpPr txBox="1">
            <a:spLocks noGrp="1"/>
          </p:cNvSpPr>
          <p:nvPr>
            <p:ph type="ctrTitle"/>
          </p:nvPr>
        </p:nvSpPr>
        <p:spPr>
          <a:xfrm>
            <a:off x="474697" y="166544"/>
            <a:ext cx="45429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40a0e788958_0_254"/>
          <p:cNvSpPr txBox="1">
            <a:spLocks noGrp="1"/>
          </p:cNvSpPr>
          <p:nvPr>
            <p:ph type="subTitle" idx="1"/>
          </p:nvPr>
        </p:nvSpPr>
        <p:spPr>
          <a:xfrm>
            <a:off x="1265550" y="888463"/>
            <a:ext cx="65565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2" name="Google Shape;152;g40a0e788958_0_254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40a0e788958_0_254"/>
          <p:cNvSpPr txBox="1">
            <a:spLocks noGrp="1"/>
          </p:cNvSpPr>
          <p:nvPr>
            <p:ph type="ftr" idx="11"/>
          </p:nvPr>
        </p:nvSpPr>
        <p:spPr>
          <a:xfrm>
            <a:off x="3115851" y="483760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40a0e788958_0_254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5" name="Google Shape;155;g40a0e788958_0_254"/>
          <p:cNvSpPr/>
          <p:nvPr/>
        </p:nvSpPr>
        <p:spPr>
          <a:xfrm>
            <a:off x="-408729" y="876770"/>
            <a:ext cx="306600" cy="797100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40a0e788958_0_254"/>
          <p:cNvSpPr/>
          <p:nvPr/>
        </p:nvSpPr>
        <p:spPr>
          <a:xfrm>
            <a:off x="-408730" y="3349355"/>
            <a:ext cx="285900" cy="797100"/>
          </a:xfrm>
          <a:prstGeom prst="rect">
            <a:avLst/>
          </a:prstGeom>
          <a:solidFill>
            <a:srgbClr val="E0D8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40a0e788958_0_254"/>
          <p:cNvSpPr/>
          <p:nvPr/>
        </p:nvSpPr>
        <p:spPr>
          <a:xfrm>
            <a:off x="-398285" y="1691350"/>
            <a:ext cx="285900" cy="803100"/>
          </a:xfrm>
          <a:prstGeom prst="rect">
            <a:avLst/>
          </a:prstGeom>
          <a:solidFill>
            <a:srgbClr val="AB8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40a0e788958_0_254"/>
          <p:cNvSpPr/>
          <p:nvPr/>
        </p:nvSpPr>
        <p:spPr>
          <a:xfrm>
            <a:off x="-410008" y="2529653"/>
            <a:ext cx="306600" cy="797100"/>
          </a:xfrm>
          <a:prstGeom prst="rect">
            <a:avLst/>
          </a:prstGeom>
          <a:solidFill>
            <a:srgbClr val="E5C4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40a0e788958_0_254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40a0e788958_0_254"/>
          <p:cNvSpPr/>
          <p:nvPr/>
        </p:nvSpPr>
        <p:spPr>
          <a:xfrm>
            <a:off x="-408730" y="53243"/>
            <a:ext cx="306600" cy="797100"/>
          </a:xfrm>
          <a:prstGeom prst="rect">
            <a:avLst/>
          </a:prstGeom>
          <a:solidFill>
            <a:srgbClr val="AF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0a0e788958_0_2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g40a0e788958_0_26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g40a0e788958_0_2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40a0e788958_0_2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g40a0e788958_0_2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0a0e788958_0_27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40a0e788958_0_27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g40a0e788958_0_2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40a0e788958_0_2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40a0e788958_0_2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a0e788958_0_2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g40a0e788958_0_27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g40a0e788958_0_27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g40a0e788958_0_2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g40a0e788958_0_2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g40a0e788958_0_2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0a0e788958_0_28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g40a0e788958_0_28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g40a0e788958_0_28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g40a0e788958_0_28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5" name="Google Shape;185;g40a0e788958_0_28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g40a0e788958_0_28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g40a0e788958_0_28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g40a0e788958_0_28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a0e788958_0_29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g40a0e788958_0_29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g40a0e788958_0_29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g40a0e788958_0_29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0a0e788958_0_29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40a0e788958_0_299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7" name="Google Shape;197;g40a0e788958_0_29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8" name="Google Shape;198;g40a0e788958_0_29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g40a0e788958_0_29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g40a0e788958_0_29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a0e788958_0_30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g40a0e788958_0_306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g40a0e788958_0_30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5" name="Google Shape;205;g40a0e788958_0_30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g40a0e788958_0_30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g40a0e788958_0_30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0a0e788958_0_3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g40a0e788958_0_31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g40a0e788958_0_3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g40a0e788958_0_3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g40a0e788958_0_3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0a0e788958_0_319"/>
          <p:cNvSpPr txBox="1">
            <a:spLocks noGrp="1"/>
          </p:cNvSpPr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g40a0e788958_0_31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g40a0e788958_0_3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g40a0e788958_0_3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g40a0e788958_0_3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86650" y="102393"/>
            <a:ext cx="1448976" cy="407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0" name="Google Shape;100;p21"/>
          <p:cNvSpPr/>
          <p:nvPr/>
        </p:nvSpPr>
        <p:spPr>
          <a:xfrm>
            <a:off x="781050" y="-800100"/>
            <a:ext cx="628650" cy="698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1530350" y="-800100"/>
            <a:ext cx="628650" cy="698500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2279650" y="-800100"/>
            <a:ext cx="628650" cy="698500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3028950" y="-800100"/>
            <a:ext cx="628650" cy="698500"/>
          </a:xfrm>
          <a:prstGeom prst="rect">
            <a:avLst/>
          </a:prstGeom>
          <a:solidFill>
            <a:srgbClr val="1C1E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0" y="-800100"/>
            <a:ext cx="62865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a0e788958_0_2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g40a0e788958_0_2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g40a0e788958_0_2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g40a0e788958_0_2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g40a0e788958_0_2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10.jpg"/><Relationship Id="rId4" Type="http://schemas.openxmlformats.org/officeDocument/2006/relationships/image" Target="../media/image5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Google Shape;465;g38a8d312103_0_53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WineBank × アピシウス</a:t>
            </a:r>
          </a:p>
        </p:txBody>
      </p:sp>
      <p:sp>
        <p:nvSpPr>
          <p:cNvPr id="467" name="Rectangle 466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銀座の老舗グランメゾンを100％承継。2年で、人を替えずに伸ばしました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536752" y="1115568"/>
            <a:ext cx="2339949" cy="8686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9" name="TextBox 468"/>
          <p:cNvSpPr txBox="1"/>
          <p:nvPr/>
        </p:nvSpPr>
        <p:spPr>
          <a:xfrm>
            <a:off x="719632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売上高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719632" y="1399032"/>
            <a:ext cx="19741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＋30%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719632" y="1764792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取得前比（2年間）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3362248" y="1115568"/>
            <a:ext cx="2339949" cy="8686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TextBox 472"/>
          <p:cNvSpPr txBox="1"/>
          <p:nvPr/>
        </p:nvSpPr>
        <p:spPr>
          <a:xfrm>
            <a:off x="3545128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営業利益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3545128" y="1399032"/>
            <a:ext cx="19741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＋250%超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3545128" y="1764792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取得前比（2年間）</a:t>
            </a:r>
          </a:p>
        </p:txBody>
      </p:sp>
      <p:sp>
        <p:nvSpPr>
          <p:cNvPr id="476" name="Rectangle 475"/>
          <p:cNvSpPr/>
          <p:nvPr/>
        </p:nvSpPr>
        <p:spPr>
          <a:xfrm>
            <a:off x="6268212" y="1115568"/>
            <a:ext cx="2339949" cy="868680"/>
          </a:xfrm>
          <a:prstGeom prst="rect">
            <a:avLst/>
          </a:prstGeom>
          <a:solidFill>
            <a:srgbClr val="3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TextBox 476"/>
          <p:cNvSpPr txBox="1"/>
          <p:nvPr/>
        </p:nvSpPr>
        <p:spPr>
          <a:xfrm>
            <a:off x="6451092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幹部メンバー継続率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6451092" y="1399032"/>
            <a:ext cx="19741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100%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6451092" y="1764792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C9B6A8"/>
                </a:solidFill>
                <a:latin typeface="Meiryo"/>
                <a:ea typeface="Meiryo"/>
                <a:cs typeface="Meiryo"/>
                <a:sym typeface="Meiryo"/>
              </a:rPr>
              <a:t>一人も欠けていません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536752" y="212140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取得前と、取得から2年後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536752" y="2377440"/>
            <a:ext cx="4736592" cy="365760"/>
          </a:xfrm>
          <a:prstGeom prst="rect">
            <a:avLst/>
          </a:prstGeom>
          <a:solidFill>
            <a:srgbClr val="3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2" name="TextBox 481"/>
          <p:cNvSpPr txBox="1"/>
          <p:nvPr/>
        </p:nvSpPr>
        <p:spPr>
          <a:xfrm>
            <a:off x="628192" y="2423160"/>
            <a:ext cx="512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286560" y="242316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取得前（〜2024年5月）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3042208" y="2423160"/>
            <a:ext cx="21762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取得後2年（2026年）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536752" y="2743200"/>
            <a:ext cx="4736592" cy="365760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6" name="TextBox 485"/>
          <p:cNvSpPr txBox="1"/>
          <p:nvPr/>
        </p:nvSpPr>
        <p:spPr>
          <a:xfrm>
            <a:off x="628192" y="2788920"/>
            <a:ext cx="512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業績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286560" y="278892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39年間赤字。40年目に黒字化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3042208" y="2788920"/>
            <a:ext cx="21762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売上＋30%／営業利益＋250%超</a:t>
            </a:r>
          </a:p>
        </p:txBody>
      </p:sp>
      <p:sp>
        <p:nvSpPr>
          <p:cNvPr id="489" name="Rectangle 488"/>
          <p:cNvSpPr/>
          <p:nvPr/>
        </p:nvSpPr>
        <p:spPr>
          <a:xfrm>
            <a:off x="536752" y="3108960"/>
            <a:ext cx="473659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0" name="TextBox 489"/>
          <p:cNvSpPr txBox="1"/>
          <p:nvPr/>
        </p:nvSpPr>
        <p:spPr>
          <a:xfrm>
            <a:off x="628192" y="3154680"/>
            <a:ext cx="512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人員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286560" y="315468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―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3042208" y="3154680"/>
            <a:ext cx="21762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幹部メンバーは全員継続。入替えなし</a:t>
            </a:r>
          </a:p>
        </p:txBody>
      </p:sp>
      <p:sp>
        <p:nvSpPr>
          <p:cNvPr id="493" name="Rectangle 492"/>
          <p:cNvSpPr/>
          <p:nvPr/>
        </p:nvSpPr>
        <p:spPr>
          <a:xfrm>
            <a:off x="536752" y="3474720"/>
            <a:ext cx="4736592" cy="365760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4" name="TextBox 493"/>
          <p:cNvSpPr txBox="1"/>
          <p:nvPr/>
        </p:nvSpPr>
        <p:spPr>
          <a:xfrm>
            <a:off x="628192" y="3520440"/>
            <a:ext cx="512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労働環境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286560" y="352044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サービス残業が常態化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3042208" y="3520440"/>
            <a:ext cx="21762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サービス残業を撤廃。残業ゼロの体制へ</a:t>
            </a:r>
          </a:p>
        </p:txBody>
      </p:sp>
      <p:sp>
        <p:nvSpPr>
          <p:cNvPr id="497" name="Rectangle 496"/>
          <p:cNvSpPr/>
          <p:nvPr/>
        </p:nvSpPr>
        <p:spPr>
          <a:xfrm>
            <a:off x="536752" y="3840480"/>
            <a:ext cx="473659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8" name="TextBox 497"/>
          <p:cNvSpPr txBox="1"/>
          <p:nvPr/>
        </p:nvSpPr>
        <p:spPr>
          <a:xfrm>
            <a:off x="628192" y="3886200"/>
            <a:ext cx="512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店舗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286560" y="388620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―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3042208" y="3886200"/>
            <a:ext cx="21762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一部改装・修繕を実施。業態は不変</a:t>
            </a:r>
          </a:p>
        </p:txBody>
      </p:sp>
      <p:pic>
        <p:nvPicPr>
          <p:cNvPr id="501" name="Picture 500" descr="apx_main.png"/>
          <p:cNvPicPr>
            <a:picLocks noChangeAspect="1"/>
          </p:cNvPicPr>
          <p:nvPr/>
        </p:nvPicPr>
        <p:blipFill>
          <a:blip r:embed="rId6"/>
          <a:srcRect t="28412" b="28412"/>
          <a:stretch>
            <a:fillRect/>
          </a:stretch>
        </p:blipFill>
        <p:spPr>
          <a:xfrm>
            <a:off x="5440680" y="2377440"/>
            <a:ext cx="3163824" cy="786384"/>
          </a:xfrm>
          <a:prstGeom prst="rect">
            <a:avLst/>
          </a:prstGeom>
        </p:spPr>
      </p:pic>
      <p:pic>
        <p:nvPicPr>
          <p:cNvPr id="502" name="Picture 501" descr="apx_private.png"/>
          <p:cNvPicPr>
            <a:picLocks noChangeAspect="1"/>
          </p:cNvPicPr>
          <p:nvPr/>
        </p:nvPicPr>
        <p:blipFill>
          <a:blip r:embed="rId7"/>
          <a:srcRect t="33818" b="33818"/>
          <a:stretch>
            <a:fillRect/>
          </a:stretch>
        </p:blipFill>
        <p:spPr>
          <a:xfrm>
            <a:off x="5440680" y="3218688"/>
            <a:ext cx="3163824" cy="786384"/>
          </a:xfrm>
          <a:prstGeom prst="rect">
            <a:avLst/>
          </a:prstGeom>
        </p:spPr>
      </p:pic>
      <p:sp>
        <p:nvSpPr>
          <p:cNvPr id="503" name="TextBox 502"/>
          <p:cNvSpPr txBox="1"/>
          <p:nvPr/>
        </p:nvSpPr>
        <p:spPr>
          <a:xfrm>
            <a:off x="5440680" y="4059936"/>
            <a:ext cx="3163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アピシウス（東京・銀座）　1983年開業</a:t>
            </a:r>
          </a:p>
        </p:txBody>
      </p:sp>
      <p:sp>
        <p:nvSpPr>
          <p:cNvPr id="504" name="Rectangle 503"/>
          <p:cNvSpPr/>
          <p:nvPr/>
        </p:nvSpPr>
        <p:spPr>
          <a:xfrm>
            <a:off x="536752" y="4279392"/>
            <a:ext cx="8070494" cy="49377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5" name="Rectangle 504"/>
          <p:cNvSpPr/>
          <p:nvPr/>
        </p:nvSpPr>
        <p:spPr>
          <a:xfrm>
            <a:off x="536752" y="4279392"/>
            <a:ext cx="45720" cy="493776"/>
          </a:xfrm>
          <a:prstGeom prst="rect">
            <a:avLst/>
          </a:prstGeom>
          <a:solidFill>
            <a:srgbClr val="C6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6" name="TextBox 505"/>
          <p:cNvSpPr txBox="1"/>
          <p:nvPr/>
        </p:nvSpPr>
        <p:spPr>
          <a:xfrm>
            <a:off x="694944" y="4352544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グランメゾンは、引き継いでも壊れない。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私たちが学んだのは収益改善の手法ではありません。人を入れ替えず、労働環境をむしろ良くしたうえで、店は伸ばせるということです。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Google Shape;465;g38a8d312103_0_53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国内オーベルジュ構想</a:t>
            </a:r>
          </a:p>
        </p:txBody>
      </p:sp>
      <p:sp>
        <p:nvSpPr>
          <p:cNvPr id="467" name="Rectangle 466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日本のワイン産地に、ファインダイニングを主役とした小さな滞在施設を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536752" y="1133856"/>
            <a:ext cx="2339949" cy="299923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9" name="Picture 468" descr="apx_main.png"/>
          <p:cNvPicPr>
            <a:picLocks noChangeAspect="1"/>
          </p:cNvPicPr>
          <p:nvPr/>
        </p:nvPicPr>
        <p:blipFill>
          <a:blip r:embed="rId2"/>
          <a:srcRect t="8052" b="8052"/>
          <a:stretch>
            <a:fillRect/>
          </a:stretch>
        </p:blipFill>
        <p:spPr>
          <a:xfrm>
            <a:off x="646480" y="1243584"/>
            <a:ext cx="2120493" cy="1024128"/>
          </a:xfrm>
          <a:prstGeom prst="rect">
            <a:avLst/>
          </a:prstGeom>
        </p:spPr>
      </p:pic>
      <p:sp>
        <p:nvSpPr>
          <p:cNvPr id="470" name="Rectangle 469"/>
          <p:cNvSpPr/>
          <p:nvPr/>
        </p:nvSpPr>
        <p:spPr>
          <a:xfrm>
            <a:off x="646480" y="2377440"/>
            <a:ext cx="676656" cy="219456"/>
          </a:xfrm>
          <a:prstGeom prst="rect">
            <a:avLst/>
          </a:prstGeom>
          <a:solidFill>
            <a:srgbClr val="C6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1" name="TextBox 470"/>
          <p:cNvSpPr txBox="1"/>
          <p:nvPr/>
        </p:nvSpPr>
        <p:spPr>
          <a:xfrm>
            <a:off x="646480" y="2377440"/>
            <a:ext cx="6766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料理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646480" y="2688336"/>
            <a:ext cx="21204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ファインダイニング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19632" y="3054096"/>
            <a:ext cx="201076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その土地の生産者と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同じテーブルにつける距離</a:t>
            </a:r>
            <a:r>
              <a:rPr sz="100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で、一日十数名だけをお迎えする。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3362248" y="1133856"/>
            <a:ext cx="2339949" cy="299923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5" name="Picture 474" descr="image.jpg"/>
          <p:cNvPicPr>
            <a:picLocks noChangeAspect="1"/>
          </p:cNvPicPr>
          <p:nvPr/>
        </p:nvPicPr>
        <p:blipFill>
          <a:blip r:embed="rId3"/>
          <a:srcRect t="13550" b="13550"/>
          <a:stretch>
            <a:fillRect/>
          </a:stretch>
        </p:blipFill>
        <p:spPr>
          <a:xfrm>
            <a:off x="3471976" y="1243584"/>
            <a:ext cx="2120493" cy="1024128"/>
          </a:xfrm>
          <a:prstGeom prst="rect">
            <a:avLst/>
          </a:prstGeom>
        </p:spPr>
      </p:pic>
      <p:sp>
        <p:nvSpPr>
          <p:cNvPr id="476" name="Rectangle 475"/>
          <p:cNvSpPr/>
          <p:nvPr/>
        </p:nvSpPr>
        <p:spPr>
          <a:xfrm>
            <a:off x="3471976" y="2377440"/>
            <a:ext cx="676656" cy="219456"/>
          </a:xfrm>
          <a:prstGeom prst="rect">
            <a:avLst/>
          </a:prstGeom>
          <a:solidFill>
            <a:srgbClr val="C6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TextBox 476"/>
          <p:cNvSpPr txBox="1"/>
          <p:nvPr/>
        </p:nvSpPr>
        <p:spPr>
          <a:xfrm>
            <a:off x="3471976" y="2377440"/>
            <a:ext cx="6766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ワイン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3471976" y="2688336"/>
            <a:ext cx="21204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産地とセラー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3545128" y="3054096"/>
            <a:ext cx="201076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ワイン産地に置くことで、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造り手と客が直接つながる場</a:t>
            </a:r>
            <a:r>
              <a:rPr sz="100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をつくる。当社のセラー機能を併設する。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6268212" y="1133856"/>
            <a:ext cx="2339949" cy="299923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1" name="Picture 480" descr="apx_salon.png"/>
          <p:cNvPicPr>
            <a:picLocks noChangeAspect="1"/>
          </p:cNvPicPr>
          <p:nvPr/>
        </p:nvPicPr>
        <p:blipFill>
          <a:blip r:embed="rId4"/>
          <a:srcRect t="17070" b="17070"/>
          <a:stretch>
            <a:fillRect/>
          </a:stretch>
        </p:blipFill>
        <p:spPr>
          <a:xfrm>
            <a:off x="6377940" y="1243584"/>
            <a:ext cx="2120493" cy="1024128"/>
          </a:xfrm>
          <a:prstGeom prst="rect">
            <a:avLst/>
          </a:prstGeom>
        </p:spPr>
      </p:pic>
      <p:sp>
        <p:nvSpPr>
          <p:cNvPr id="482" name="Rectangle 481"/>
          <p:cNvSpPr/>
          <p:nvPr/>
        </p:nvSpPr>
        <p:spPr>
          <a:xfrm>
            <a:off x="6377940" y="2377440"/>
            <a:ext cx="676656" cy="219456"/>
          </a:xfrm>
          <a:prstGeom prst="rect">
            <a:avLst/>
          </a:prstGeom>
          <a:solidFill>
            <a:srgbClr val="C6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3" name="TextBox 482"/>
          <p:cNvSpPr txBox="1"/>
          <p:nvPr/>
        </p:nvSpPr>
        <p:spPr>
          <a:xfrm>
            <a:off x="6377940" y="2377440"/>
            <a:ext cx="6766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滞在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6377940" y="2688336"/>
            <a:ext cx="21204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小規模宿泊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6451092" y="3054096"/>
            <a:ext cx="201076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客室は10室前後。夜を跨いでいただくことで、</a:t>
            </a:r>
            <a:r>
              <a:rPr sz="1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ワインリストの幅が一気に広がる</a:t>
            </a:r>
            <a:r>
              <a:rPr sz="100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</a:p>
        </p:txBody>
      </p:sp>
      <p:sp>
        <p:nvSpPr>
          <p:cNvPr id="486" name="Rectangle 485"/>
          <p:cNvSpPr/>
          <p:nvPr/>
        </p:nvSpPr>
        <p:spPr>
          <a:xfrm>
            <a:off x="536752" y="4224528"/>
            <a:ext cx="8070494" cy="475488"/>
          </a:xfrm>
          <a:prstGeom prst="rect">
            <a:avLst/>
          </a:prstGeom>
          <a:solidFill>
            <a:srgbClr val="3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7" name="TextBox 486"/>
          <p:cNvSpPr txBox="1"/>
          <p:nvPr/>
        </p:nvSpPr>
        <p:spPr>
          <a:xfrm>
            <a:off x="694944" y="4279392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C9CCD6"/>
                </a:solidFill>
                <a:latin typeface="Meiryo"/>
                <a:ea typeface="Meiryo"/>
                <a:cs typeface="Meiryo"/>
                <a:sym typeface="Meiryo"/>
              </a:rPr>
              <a:t>2027年4月 ブラッスリー六本木 ▶ 2028年 札幌・大阪 ▶ 2029年 首都圏 ▶ </a:t>
            </a:r>
            <a:r>
              <a:rPr sz="900" b="1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2030年〜 リゾート含め年2店舗</a:t>
            </a:r>
            <a:r>
              <a:rPr sz="900" b="0">
                <a:solidFill>
                  <a:srgbClr val="C9CCD6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</a:p>
          <a:p>
            <a:pPr algn="ctr">
              <a:lnSpc>
                <a:spcPct val="120000"/>
              </a:lnSpc>
            </a:pPr>
            <a:r>
              <a:rPr sz="900" b="1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この先に、オーベルジュがあります。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536752" y="4773168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※ 写真は当社運営店舗。オーベルジュのイメージです。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Google Shape;465;g38a8d312103_0_53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国内オーベルジュ構想　―　なぜ、当社が担えるのか</a:t>
            </a:r>
          </a:p>
        </p:txBody>
      </p:sp>
      <p:sp>
        <p:nvSpPr>
          <p:cNvPr id="467" name="Rectangle 466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グランメゾンは、引き継いでも壊れない ― アピシウスで実証しました</a:t>
            </a:r>
          </a:p>
        </p:txBody>
      </p:sp>
      <p:pic>
        <p:nvPicPr>
          <p:cNvPr id="468" name="Picture 467" descr="apx_private.png"/>
          <p:cNvPicPr>
            <a:picLocks noChangeAspect="1"/>
          </p:cNvPicPr>
          <p:nvPr/>
        </p:nvPicPr>
        <p:blipFill>
          <a:blip r:embed="rId2"/>
          <a:srcRect t="3885" b="3885"/>
          <a:stretch>
            <a:fillRect/>
          </a:stretch>
        </p:blipFill>
        <p:spPr>
          <a:xfrm>
            <a:off x="536752" y="1133856"/>
            <a:ext cx="3072384" cy="2176272"/>
          </a:xfrm>
          <a:prstGeom prst="rect">
            <a:avLst/>
          </a:prstGeom>
        </p:spPr>
      </p:pic>
      <p:sp>
        <p:nvSpPr>
          <p:cNvPr id="469" name="TextBox 468"/>
          <p:cNvSpPr txBox="1"/>
          <p:nvPr/>
        </p:nvSpPr>
        <p:spPr>
          <a:xfrm>
            <a:off x="536752" y="3346704"/>
            <a:ext cx="3072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アピシウス（東京・銀座）　2024年6月に100％承継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536752" y="3602736"/>
            <a:ext cx="3072384" cy="10789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1" name="TextBox 470"/>
          <p:cNvSpPr txBox="1"/>
          <p:nvPr/>
        </p:nvSpPr>
        <p:spPr>
          <a:xfrm>
            <a:off x="685800" y="3712463"/>
            <a:ext cx="2779776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ゼロから新しい店をつくるより、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長い時間をかけて積み上げられたものを、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壊さずに次の世代へ渡す。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私たちが得意なのは、そちらです。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3904487" y="1133856"/>
            <a:ext cx="4700016" cy="106070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TextBox 472"/>
          <p:cNvSpPr txBox="1"/>
          <p:nvPr/>
        </p:nvSpPr>
        <p:spPr>
          <a:xfrm>
            <a:off x="3950208" y="1078992"/>
            <a:ext cx="4206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D8D8D8"/>
                </a:solidFill>
                <a:latin typeface="Meiryo"/>
                <a:ea typeface="Meiryo"/>
                <a:cs typeface="Meiryo"/>
                <a:sym typeface="Meiryo"/>
              </a:rPr>
              <a:t>1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4498848" y="1261872"/>
            <a:ext cx="3986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人を替えずに、伸ばした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4498848" y="1572768"/>
            <a:ext cx="398678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幹部メンバーは全員継続、経営陣の入替えもなし。そのうえで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売上＋30%／営業利益＋250%超</a:t>
            </a: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（2年間・取得前比）。</a:t>
            </a:r>
          </a:p>
        </p:txBody>
      </p:sp>
      <p:sp>
        <p:nvSpPr>
          <p:cNvPr id="476" name="Rectangle 475"/>
          <p:cNvSpPr/>
          <p:nvPr/>
        </p:nvSpPr>
        <p:spPr>
          <a:xfrm>
            <a:off x="3904487" y="2322576"/>
            <a:ext cx="4700016" cy="106070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TextBox 476"/>
          <p:cNvSpPr txBox="1"/>
          <p:nvPr/>
        </p:nvSpPr>
        <p:spPr>
          <a:xfrm>
            <a:off x="3950208" y="2267712"/>
            <a:ext cx="4206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D8D8D8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4498848" y="2450592"/>
            <a:ext cx="3986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働く環境は、むしろ良くした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4498848" y="2761488"/>
            <a:ext cx="398678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常態化していた</a:t>
            </a:r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サービス残業を撤廃</a:t>
            </a: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。12月を除き、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残業自体が発生しない体制に切り替えました。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3904487" y="3511296"/>
            <a:ext cx="4700016" cy="106070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1" name="TextBox 480"/>
          <p:cNvSpPr txBox="1"/>
          <p:nvPr/>
        </p:nvSpPr>
        <p:spPr>
          <a:xfrm>
            <a:off x="3950208" y="3456432"/>
            <a:ext cx="4206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D8D8D8"/>
                </a:solidFill>
                <a:latin typeface="Meiryo"/>
                <a:ea typeface="Meiryo"/>
                <a:cs typeface="Meiryo"/>
                <a:sym typeface="Meiryo"/>
              </a:rPr>
              <a:t>3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4498848" y="3639312"/>
            <a:ext cx="3986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ワインで、店を強くした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4498848" y="3950208"/>
            <a:ext cx="398678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日本トップクラスのワイン在庫とソムリエに、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インポーターである当社の仕入ルートが加わりました</a:t>
            </a:r>
            <a:r>
              <a:rPr sz="9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E99C93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9972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テーマ">
  <a:themeElements>
    <a:clrScheme name="ユーザー定義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E99C93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9972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3102</Words>
  <Application>Microsoft Office PowerPoint</Application>
  <PresentationFormat>画面に合わせる (16:9)</PresentationFormat>
  <Paragraphs>506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28</vt:i4>
      </vt:variant>
    </vt:vector>
  </HeadingPairs>
  <TitlesOfParts>
    <vt:vector size="38" baseType="lpstr">
      <vt:lpstr>Arial</vt:lpstr>
      <vt:lpstr>Zen Kaku Gothic New</vt:lpstr>
      <vt:lpstr>Meiryo</vt:lpstr>
      <vt:lpstr>Crimson Text</vt:lpstr>
      <vt:lpstr>Calibri</vt:lpstr>
      <vt:lpstr>Times New Roman</vt:lpstr>
      <vt:lpstr>MS PGothic</vt:lpstr>
      <vt:lpstr>Office テーマ</vt:lpstr>
      <vt:lpstr>1_Office テーマ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戸髙薫</dc:creator>
  <cp:lastModifiedBy>Kunihito Nakano</cp:lastModifiedBy>
  <cp:revision>1</cp:revision>
  <dcterms:modified xsi:type="dcterms:W3CDTF">2026-09-21T13:15:19Z</dcterms:modified>
</cp:coreProperties>
</file>