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ピシウス：2024年6月取得。創業40年超、39年間赤字が継続し40年目に黒字化した老舗フレンチ。取得後2年で売上+30%、利益+250%超。幹部メンバーは全員継続。サービス残業を撤廃し、12月を除き残業が発生しない体制を構築。店内の一部改装・修繕を実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RECORD　／　株式会社アピシウス（東京・有楽町）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同じことを、すでに一度やっています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2024年6月、創業40年を超え、39年間にわたり赤字が続いた老舗フレンチレストランを取得。2年間で売上30%増・利益250%超の増加を実現し、幹部メンバーは全員が継続しています。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755648"/>
            <a:ext cx="3520440" cy="1097280"/>
          </a:xfrm>
          <a:prstGeom prst="roundRect">
            <a:avLst>
              <a:gd name="adj" fmla="val 4167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86537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売上高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10312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＋30%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57860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取得前比（2年間）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0" y="1755648"/>
            <a:ext cx="3520440" cy="1097280"/>
          </a:xfrm>
          <a:prstGeom prst="roundRect">
            <a:avLst>
              <a:gd name="adj" fmla="val 4167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17136" y="186537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利益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17136" y="210312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＋250%超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517136" y="257860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取得前比（2年間）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28432" y="1755648"/>
            <a:ext cx="3520440" cy="1097280"/>
          </a:xfrm>
          <a:prstGeom prst="roundRect">
            <a:avLst>
              <a:gd name="adj" fmla="val 4167"/>
            </a:avLst>
          </a:prstGeom>
          <a:solidFill>
            <a:srgbClr val="6D2E46"/>
          </a:solidFill>
          <a:ln w="9525">
            <a:solidFill>
              <a:srgbClr val="6D2E4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47888" y="186537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幹部メンバー継続率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247888" y="210312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247888" y="257860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AE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一人も欠けていません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017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取得前と、取得から2年後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328416"/>
          <a:ext cx="658368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331720"/>
                <a:gridCol w="3383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取得前（〜2024年5月）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取得後2年（2026年）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業績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39年間にわたり赤字。40年目にようやく黒字化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売上 ＋30%／利益 ＋250%超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人員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幹部メンバーは全員が継続。経営陣の入替えを行っていません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労働環境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サービス残業が常態化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サービス残業を撤廃。12月を除き残業自体が発生しない体制へ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店舗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店内の一部改装・修繕を実施。業態・客層は変更せず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7333488" y="3017520"/>
            <a:ext cx="4288536" cy="2414016"/>
          </a:xfrm>
          <a:prstGeom prst="roundRect">
            <a:avLst>
              <a:gd name="adj" fmla="val 1894"/>
            </a:avLst>
          </a:prstGeom>
          <a:solidFill>
            <a:srgbClr val="FFFFFF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552944" y="31272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カンテサンスにおいて踏襲すること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552944" y="3465576"/>
            <a:ext cx="237744" cy="237744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552944" y="34655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34381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人を入れ替えない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364845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幹部・従業員の雇用と処遇をそのまま承継する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7552944" y="3959352"/>
            <a:ext cx="237744" cy="237744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552944" y="39593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863840" y="393192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労働環境を先に整える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7863840" y="414223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サービス残業の撤廃と、残業が発生しない体制の構築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552944" y="4453128"/>
            <a:ext cx="237744" cy="237744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552944" y="4453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863840" y="442569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手を入れるのは最小限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63840" y="463600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改装・修繕は必要な範囲にとどめ、業態と客層は変えない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52944" y="4946904"/>
            <a:ext cx="237744" cy="237744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552944" y="49469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7863840" y="491947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収益はコスト削減で作らない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7863840" y="51297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原価・人件費の圧縮ではなく、店の価値を高めて伸ばす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66928" y="5614416"/>
            <a:ext cx="11055096" cy="731520"/>
          </a:xfrm>
          <a:prstGeom prst="roundRect">
            <a:avLst>
              <a:gd name="adj" fmla="val 5000"/>
            </a:avLst>
          </a:prstGeom>
          <a:solidFill>
            <a:srgbClr val="6D2E46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22960" y="5687568"/>
            <a:ext cx="10543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</a:rPr>
              <a:t>アピシウスで実証されたのは、収益改善の手法ではありません。「高級レストランは、引き継いでも壊れない」ということです。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BDCE1"/>
                </a:solidFill>
              </a:rPr>
              <a:t>カンテサンスに必要なのは再建ではなく承継です。当社は、高級レストランを実際に承継し、人を残し、労働環境を改善したうえで収益を伸ばした実績をもって、本件に臨みます。</a:t>
            </a:r>
            <a:endParaRPr lang="en-US" sz="12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41908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株式会社WineBank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株式会社アピシウス 承継実績</dc:title>
  <dc:subject>PptxGenJS Presentation</dc:subject>
  <dc:creator>株式会社WineBank</dc:creator>
  <cp:lastModifiedBy>株式会社WineBank</cp:lastModifiedBy>
  <cp:revision>1</cp:revision>
  <dcterms:created xsi:type="dcterms:W3CDTF">2026-09-17T08:05:40Z</dcterms:created>
  <dcterms:modified xsi:type="dcterms:W3CDTF">2026-09-17T08:05:40Z</dcterms:modified>
</cp:coreProperties>
</file>