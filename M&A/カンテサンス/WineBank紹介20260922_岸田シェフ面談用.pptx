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 id="2147483664" r:id="rId2"/>
    <p:sldMasterId id="2147483668" r:id="rId3"/>
  </p:sldMasterIdLst>
  <p:notesMasterIdLst>
    <p:notesMasterId r:id="rId34"/>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 id="269" r:id="rId17"/>
    <p:sldId id="270" r:id="rId18"/>
    <p:sldId id="271" r:id="rId19"/>
    <p:sldId id="272" r:id="rId20"/>
    <p:sldId id="284" r:id="rId21"/>
    <p:sldId id="273" r:id="rId23"/>
    <p:sldId id="274" r:id="rId24"/>
    <p:sldId id="275" r:id="rId25"/>
    <p:sldId id="276" r:id="rId26"/>
    <p:sldId id="277" r:id="rId27"/>
    <p:sldId id="278" r:id="rId28"/>
    <p:sldId id="279" r:id="rId29"/>
    <p:sldId id="280" r:id="rId30"/>
    <p:sldId id="281" r:id="rId31"/>
    <p:sldId id="282" r:id="rId32"/>
    <p:sldId id="283" r:id="rId33"/>
  </p:sldIdLst>
  <p:sldSz cx="9144000" cy="5143500" type="screen16x9"/>
  <p:notesSz cx="6742113" cy="9875838"/>
  <p:embeddedFontLst>
    <p:embeddedFont>
      <p:font typeface="Zen Kaku Gothic New" panose="020B0600070205080204" charset="-128"/>
      <p:regular r:id="rId35"/>
      <p:bold r:id="rId36"/>
    </p:embeddedFont>
    <p:embeddedFont>
      <p:font typeface="Meiryo" panose="020B0604030504040204" pitchFamily="50" charset="-128"/>
      <p:regular r:id="rId37"/>
      <p:bold r:id="rId38"/>
      <p:italic r:id="rId39"/>
      <p:boldItalic r:id="rId40"/>
    </p:embeddedFont>
    <p:embeddedFont>
      <p:font typeface="Crimson Text" panose="020B0600070205080204" charset="0"/>
      <p:regular r:id="rId41"/>
      <p:bold r:id="rId42"/>
      <p:italic r:id="rId43"/>
      <p:boldItalic r:id="rId44"/>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5" roundtripDataSignature="AMtx7mj3D0fzfpB0V/DUEpzIMFdk8mZu6w=="/>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65B4C7F5-E376-4956-9A0A-9A7A7A081F5C}">
  <a:tblStyle styleId="{65B4C7F5-E376-4956-9A0A-9A7A7A081F5C}"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93" d="100"/>
          <a:sy n="93" d="100"/>
        </p:scale>
        <p:origin x="520" y="5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notesMaster" Target="notesMasters/notesMaster1.xml"/><Relationship Id="rId35" Type="http://schemas.openxmlformats.org/officeDocument/2006/relationships/font" Target="fonts/font1.fntdata"/><Relationship Id="rId36" Type="http://schemas.openxmlformats.org/officeDocument/2006/relationships/font" Target="fonts/font2.fntdata"/><Relationship Id="rId37" Type="http://schemas.openxmlformats.org/officeDocument/2006/relationships/font" Target="fonts/font3.fntdata"/><Relationship Id="rId38" Type="http://schemas.openxmlformats.org/officeDocument/2006/relationships/font" Target="fonts/font4.fntdata"/><Relationship Id="rId39" Type="http://schemas.openxmlformats.org/officeDocument/2006/relationships/font" Target="fonts/font5.fntdata"/><Relationship Id="rId40" Type="http://schemas.openxmlformats.org/officeDocument/2006/relationships/font" Target="fonts/font6.fntdata"/><Relationship Id="rId41" Type="http://schemas.openxmlformats.org/officeDocument/2006/relationships/font" Target="fonts/font7.fntdata"/><Relationship Id="rId42" Type="http://schemas.openxmlformats.org/officeDocument/2006/relationships/font" Target="fonts/font8.fntdata"/><Relationship Id="rId43" Type="http://schemas.openxmlformats.org/officeDocument/2006/relationships/font" Target="fonts/font9.fntdata"/><Relationship Id="rId44" Type="http://schemas.openxmlformats.org/officeDocument/2006/relationships/font" Target="fonts/font10.fntdata"/><Relationship Id="rId45" Type="http://customschemas.google.com/relationships/presentationmetadata" Target="metadata"/><Relationship Id="rId46" Type="http://schemas.openxmlformats.org/officeDocument/2006/relationships/presProps" Target="presProps.xml"/><Relationship Id="rId47" Type="http://schemas.openxmlformats.org/officeDocument/2006/relationships/viewProps" Target="viewProps.xml"/><Relationship Id="rId48" Type="http://schemas.openxmlformats.org/officeDocument/2006/relationships/theme" Target="theme/theme1.xml"/><Relationship Id="rId4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74212" y="4691023"/>
            <a:ext cx="5393690" cy="4444127"/>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 Id="rId3" Type="http://schemas.openxmlformats.org/officeDocument/2006/relationships/hyperlink" Target="https://www.meti.go.jp/statistics/toppage/report/minikaisetsu/hitokoto_kako/20210906hitokoto.html" TargetMode="External"/><Relationship Id="rId4" Type="http://schemas.openxmlformats.org/officeDocument/2006/relationships/hyperlink" Target="https://www.nta.go.jp/taxes/sake/shienjigyo/pdf/0021001-121_02.pdf"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0"/>
        <p:cNvGrpSpPr/>
        <p:nvPr/>
      </p:nvGrpSpPr>
      <p:grpSpPr>
        <a:xfrm>
          <a:off x="0" y="0"/>
          <a:ext cx="0" cy="0"/>
          <a:chOff x="0" y="0"/>
          <a:chExt cx="0" cy="0"/>
        </a:xfrm>
      </p:grpSpPr>
      <p:sp>
        <p:nvSpPr>
          <p:cNvPr id="221" name="Google Shape;221;g40a0e788958_0_218: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2" name="Google Shape;222;g40a0e788958_0_218:notes"/>
          <p:cNvSpPr>
            <a:spLocks noGrp="1" noRot="1" noChangeAspect="1"/>
          </p:cNvSpPr>
          <p:nvPr>
            <p:ph type="sldImg" idx="2"/>
          </p:nvPr>
        </p:nvSpPr>
        <p:spPr>
          <a:xfrm>
            <a:off x="674210" y="1234478"/>
            <a:ext cx="5393700" cy="3333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8"/>
        <p:cNvGrpSpPr/>
        <p:nvPr/>
      </p:nvGrpSpPr>
      <p:grpSpPr>
        <a:xfrm>
          <a:off x="0" y="0"/>
          <a:ext cx="0" cy="0"/>
          <a:chOff x="0" y="0"/>
          <a:chExt cx="0" cy="0"/>
        </a:xfrm>
      </p:grpSpPr>
      <p:sp>
        <p:nvSpPr>
          <p:cNvPr id="229" name="Google Shape;229;p2:notes"/>
          <p:cNvSpPr txBox="1">
            <a:spLocks noGrp="1"/>
          </p:cNvSpPr>
          <p:nvPr>
            <p:ph type="body" idx="1"/>
          </p:nvPr>
        </p:nvSpPr>
        <p:spPr>
          <a:xfrm>
            <a:off x="674212" y="4752747"/>
            <a:ext cx="5393690" cy="3888773"/>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0" name="Google Shape;230;p2: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7"/>
        <p:cNvGrpSpPr/>
        <p:nvPr/>
      </p:nvGrpSpPr>
      <p:grpSpPr>
        <a:xfrm>
          <a:off x="0" y="0"/>
          <a:ext cx="0" cy="0"/>
          <a:chOff x="0" y="0"/>
          <a:chExt cx="0" cy="0"/>
        </a:xfrm>
      </p:grpSpPr>
      <p:sp>
        <p:nvSpPr>
          <p:cNvPr id="238" name="Google Shape;238;p3:notes"/>
          <p:cNvSpPr txBox="1">
            <a:spLocks noGrp="1"/>
          </p:cNvSpPr>
          <p:nvPr>
            <p:ph type="body" idx="1"/>
          </p:nvPr>
        </p:nvSpPr>
        <p:spPr>
          <a:xfrm>
            <a:off x="685800" y="4400556"/>
            <a:ext cx="5486400" cy="3600300"/>
          </a:xfrm>
          <a:prstGeom prst="rect">
            <a:avLst/>
          </a:prstGeom>
          <a:noFill/>
          <a:ln>
            <a:noFill/>
          </a:ln>
        </p:spPr>
        <p:txBody>
          <a:bodyPr spcFirstLastPara="1" wrap="square" lIns="91400" tIns="45675" rIns="91400" bIns="45675" anchor="t" anchorCtr="0">
            <a:noAutofit/>
          </a:bodyPr>
          <a:lstStyle/>
          <a:p>
            <a:pPr marL="0" lvl="0" indent="0" algn="l" rtl="0">
              <a:lnSpc>
                <a:spcPct val="100000"/>
              </a:lnSpc>
              <a:spcBef>
                <a:spcPts val="0"/>
              </a:spcBef>
              <a:spcAft>
                <a:spcPts val="0"/>
              </a:spcAft>
              <a:buSzPts val="1400"/>
              <a:buNone/>
            </a:pPr>
            <a:endParaRPr/>
          </a:p>
        </p:txBody>
      </p:sp>
      <p:sp>
        <p:nvSpPr>
          <p:cNvPr id="239" name="Google Shape;239;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6"/>
        <p:cNvGrpSpPr/>
        <p:nvPr/>
      </p:nvGrpSpPr>
      <p:grpSpPr>
        <a:xfrm>
          <a:off x="0" y="0"/>
          <a:ext cx="0" cy="0"/>
          <a:chOff x="0" y="0"/>
          <a:chExt cx="0" cy="0"/>
        </a:xfrm>
      </p:grpSpPr>
      <p:sp>
        <p:nvSpPr>
          <p:cNvPr id="247" name="Google Shape;247;g34a8cbec04a_0_0:notes"/>
          <p:cNvSpPr>
            <a:spLocks noGrp="1" noRot="1" noChangeAspect="1"/>
          </p:cNvSpPr>
          <p:nvPr>
            <p:ph type="sldImg" idx="2"/>
          </p:nvPr>
        </p:nvSpPr>
        <p:spPr>
          <a:xfrm>
            <a:off x="115888" y="1333500"/>
            <a:ext cx="6396037" cy="35988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8" name="Google Shape;248;g34a8cbec04a_0_0:notes"/>
          <p:cNvSpPr txBox="1">
            <a:spLocks noGrp="1"/>
          </p:cNvSpPr>
          <p:nvPr>
            <p:ph type="body" idx="1"/>
          </p:nvPr>
        </p:nvSpPr>
        <p:spPr>
          <a:xfrm>
            <a:off x="662818" y="5133125"/>
            <a:ext cx="5302500" cy="42000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9" name="Google Shape;249;g34a8cbec04a_0_0:notes"/>
          <p:cNvSpPr txBox="1">
            <a:spLocks noGrp="1"/>
          </p:cNvSpPr>
          <p:nvPr>
            <p:ph type="sldNum" idx="12"/>
          </p:nvPr>
        </p:nvSpPr>
        <p:spPr>
          <a:xfrm>
            <a:off x="3754431" y="10131071"/>
            <a:ext cx="2872200" cy="5349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 sz="1400" b="0" i="0" u="none" strike="noStrike" cap="none">
                <a:solidFill>
                  <a:srgbClr val="000000"/>
                </a:solidFill>
                <a:latin typeface="Arial"/>
                <a:ea typeface="Arial"/>
                <a:cs typeface="Arial"/>
                <a:sym typeface="Arial"/>
              </a:rPr>
              <a:t>4</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4a8cbec04a_0_765: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9" name="Google Shape;259;g34a8cbec04a_0_765: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60" name="Google Shape;260;g34a8cbec04a_0_765:notes"/>
          <p:cNvSpPr txBox="1">
            <a:spLocks noGrp="1"/>
          </p:cNvSpPr>
          <p:nvPr>
            <p:ph type="sldNum" idx="12"/>
          </p:nvPr>
        </p:nvSpPr>
        <p:spPr>
          <a:xfrm>
            <a:off x="3818963" y="9380320"/>
            <a:ext cx="2921700" cy="4953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 sz="1400" b="0" i="0" u="none" strike="noStrike" cap="none">
                <a:solidFill>
                  <a:srgbClr val="000000"/>
                </a:solidFill>
                <a:latin typeface="Arial"/>
                <a:ea typeface="Arial"/>
                <a:cs typeface="Arial"/>
                <a:sym typeface="Arial"/>
              </a:rPr>
              <a:t>5</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8"/>
        <p:cNvGrpSpPr/>
        <p:nvPr/>
      </p:nvGrpSpPr>
      <p:grpSpPr>
        <a:xfrm>
          <a:off x="0" y="0"/>
          <a:ext cx="0" cy="0"/>
          <a:chOff x="0" y="0"/>
          <a:chExt cx="0" cy="0"/>
        </a:xfrm>
      </p:grpSpPr>
      <p:sp>
        <p:nvSpPr>
          <p:cNvPr id="269" name="Google Shape;269;g34a8cbec04a_0_799:notes"/>
          <p:cNvSpPr>
            <a:spLocks noGrp="1" noRot="1" noChangeAspect="1"/>
          </p:cNvSpPr>
          <p:nvPr>
            <p:ph type="sldImg" idx="2"/>
          </p:nvPr>
        </p:nvSpPr>
        <p:spPr>
          <a:xfrm>
            <a:off x="115888" y="1333500"/>
            <a:ext cx="6396037" cy="35988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0" name="Google Shape;270;g34a8cbec04a_0_799:notes"/>
          <p:cNvSpPr txBox="1">
            <a:spLocks noGrp="1"/>
          </p:cNvSpPr>
          <p:nvPr>
            <p:ph type="body" idx="1"/>
          </p:nvPr>
        </p:nvSpPr>
        <p:spPr>
          <a:xfrm>
            <a:off x="662818" y="5133125"/>
            <a:ext cx="5302500" cy="41997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endParaRPr/>
          </a:p>
        </p:txBody>
      </p:sp>
      <p:sp>
        <p:nvSpPr>
          <p:cNvPr id="271" name="Google Shape;271;g34a8cbec04a_0_799:notes"/>
          <p:cNvSpPr txBox="1">
            <a:spLocks noGrp="1"/>
          </p:cNvSpPr>
          <p:nvPr>
            <p:ph type="sldNum" idx="12"/>
          </p:nvPr>
        </p:nvSpPr>
        <p:spPr>
          <a:xfrm>
            <a:off x="3754431" y="10131073"/>
            <a:ext cx="2872200" cy="535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US" altLang="ja" sz="1400" b="0" i="0" u="none" strike="noStrike" cap="none">
                <a:solidFill>
                  <a:srgbClr val="000000"/>
                </a:solidFill>
                <a:latin typeface="Arial"/>
                <a:ea typeface="Arial"/>
                <a:cs typeface="Arial"/>
                <a:sym typeface="Arial"/>
              </a:rPr>
              <a:t>6</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
        <p:cNvGrpSpPr/>
        <p:nvPr/>
      </p:nvGrpSpPr>
      <p:grpSpPr>
        <a:xfrm>
          <a:off x="0" y="0"/>
          <a:ext cx="0" cy="0"/>
          <a:chOff x="0" y="0"/>
          <a:chExt cx="0" cy="0"/>
        </a:xfrm>
      </p:grpSpPr>
      <p:sp>
        <p:nvSpPr>
          <p:cNvPr id="287" name="Google Shape;287;p34:notes"/>
          <p:cNvSpPr txBox="1">
            <a:spLocks noGrp="1"/>
          </p:cNvSpPr>
          <p:nvPr>
            <p:ph type="body" idx="1"/>
          </p:nvPr>
        </p:nvSpPr>
        <p:spPr>
          <a:xfrm>
            <a:off x="680720" y="4783300"/>
            <a:ext cx="5445900" cy="3913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8" name="Google Shape;288;p34:notes"/>
          <p:cNvSpPr>
            <a:spLocks noGrp="1" noRot="1" noChangeAspect="1"/>
          </p:cNvSpPr>
          <p:nvPr>
            <p:ph type="sldImg" idx="2"/>
          </p:nvPr>
        </p:nvSpPr>
        <p:spPr>
          <a:xfrm>
            <a:off x="422275" y="1243013"/>
            <a:ext cx="5962650" cy="3354387"/>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9"/>
        <p:cNvGrpSpPr/>
        <p:nvPr/>
      </p:nvGrpSpPr>
      <p:grpSpPr>
        <a:xfrm>
          <a:off x="0" y="0"/>
          <a:ext cx="0" cy="0"/>
          <a:chOff x="0" y="0"/>
          <a:chExt cx="0" cy="0"/>
        </a:xfrm>
      </p:grpSpPr>
      <p:sp>
        <p:nvSpPr>
          <p:cNvPr id="320" name="Google Shape;320;g34a8cbec04a_0_180: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1" name="Google Shape;321;g34a8cbec04a_0_180: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9"/>
        <p:cNvGrpSpPr/>
        <p:nvPr/>
      </p:nvGrpSpPr>
      <p:grpSpPr>
        <a:xfrm>
          <a:off x="0" y="0"/>
          <a:ext cx="0" cy="0"/>
          <a:chOff x="0" y="0"/>
          <a:chExt cx="0" cy="0"/>
        </a:xfrm>
      </p:grpSpPr>
      <p:sp>
        <p:nvSpPr>
          <p:cNvPr id="330" name="Google Shape;330;g34a8cbec04a_0_189: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1" name="Google Shape;331;g34a8cbec04a_0_189: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2"/>
        <p:cNvGrpSpPr/>
        <p:nvPr/>
      </p:nvGrpSpPr>
      <p:grpSpPr>
        <a:xfrm>
          <a:off x="0" y="0"/>
          <a:ext cx="0" cy="0"/>
          <a:chOff x="0" y="0"/>
          <a:chExt cx="0" cy="0"/>
        </a:xfrm>
      </p:grpSpPr>
      <p:sp>
        <p:nvSpPr>
          <p:cNvPr id="343" name="Google Shape;343;p4:notes"/>
          <p:cNvSpPr txBox="1">
            <a:spLocks noGrp="1"/>
          </p:cNvSpPr>
          <p:nvPr>
            <p:ph type="body" idx="1"/>
          </p:nvPr>
        </p:nvSpPr>
        <p:spPr>
          <a:xfrm>
            <a:off x="685800" y="4400556"/>
            <a:ext cx="5486400" cy="3600300"/>
          </a:xfrm>
          <a:prstGeom prst="rect">
            <a:avLst/>
          </a:prstGeom>
          <a:noFill/>
          <a:ln>
            <a:noFill/>
          </a:ln>
        </p:spPr>
        <p:txBody>
          <a:bodyPr spcFirstLastPara="1" wrap="square" lIns="91400" tIns="45675" rIns="91400" bIns="45675" anchor="t" anchorCtr="0">
            <a:noAutofit/>
          </a:bodyPr>
          <a:lstStyle/>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endParaRPr/>
          </a:p>
        </p:txBody>
      </p:sp>
      <p:sp>
        <p:nvSpPr>
          <p:cNvPr id="344" name="Google Shape;344;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6"/>
        <p:cNvGrpSpPr/>
        <p:nvPr/>
      </p:nvGrpSpPr>
      <p:grpSpPr>
        <a:xfrm>
          <a:off x="0" y="0"/>
          <a:ext cx="0" cy="0"/>
          <a:chOff x="0" y="0"/>
          <a:chExt cx="0" cy="0"/>
        </a:xfrm>
      </p:grpSpPr>
      <p:sp>
        <p:nvSpPr>
          <p:cNvPr id="387" name="Google Shape;387;p6: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388" name="Google Shape;388;p6: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8"/>
        <p:cNvGrpSpPr/>
        <p:nvPr/>
      </p:nvGrpSpPr>
      <p:grpSpPr>
        <a:xfrm>
          <a:off x="0" y="0"/>
          <a:ext cx="0" cy="0"/>
          <a:chOff x="0" y="0"/>
          <a:chExt cx="0" cy="0"/>
        </a:xfrm>
      </p:grpSpPr>
      <p:sp>
        <p:nvSpPr>
          <p:cNvPr id="399" name="Google Shape;399;g376c0386bf5_0_93:notes"/>
          <p:cNvSpPr txBox="1">
            <a:spLocks noGrp="1"/>
          </p:cNvSpPr>
          <p:nvPr>
            <p:ph type="body" idx="1"/>
          </p:nvPr>
        </p:nvSpPr>
        <p:spPr>
          <a:xfrm>
            <a:off x="674212" y="5169438"/>
            <a:ext cx="5393700" cy="42294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Clr>
                <a:schemeClr val="dk1"/>
              </a:buClr>
              <a:buSzPts val="1800"/>
              <a:buFont typeface="Arial"/>
              <a:buNone/>
            </a:pPr>
            <a:endParaRPr/>
          </a:p>
        </p:txBody>
      </p:sp>
      <p:sp>
        <p:nvSpPr>
          <p:cNvPr id="400" name="Google Shape;400;g376c0386bf5_0_93:notes"/>
          <p:cNvSpPr>
            <a:spLocks noGrp="1" noRot="1" noChangeAspect="1"/>
          </p:cNvSpPr>
          <p:nvPr>
            <p:ph type="sldImg" idx="2"/>
          </p:nvPr>
        </p:nvSpPr>
        <p:spPr>
          <a:xfrm>
            <a:off x="150813" y="1343025"/>
            <a:ext cx="6440487" cy="3624263"/>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3"/>
        <p:cNvGrpSpPr/>
        <p:nvPr/>
      </p:nvGrpSpPr>
      <p:grpSpPr>
        <a:xfrm>
          <a:off x="0" y="0"/>
          <a:ext cx="0" cy="0"/>
          <a:chOff x="0" y="0"/>
          <a:chExt cx="0" cy="0"/>
        </a:xfrm>
      </p:grpSpPr>
      <p:sp>
        <p:nvSpPr>
          <p:cNvPr id="414" name="Google Shape;414;g382af4871d9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15" name="Google Shape;415;g382af4871d9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8"/>
        <p:cNvGrpSpPr/>
        <p:nvPr/>
      </p:nvGrpSpPr>
      <p:grpSpPr>
        <a:xfrm>
          <a:off x="0" y="0"/>
          <a:ext cx="0" cy="0"/>
          <a:chOff x="0" y="0"/>
          <a:chExt cx="0" cy="0"/>
        </a:xfrm>
      </p:grpSpPr>
      <p:sp>
        <p:nvSpPr>
          <p:cNvPr id="419" name="Google Shape;419;g382af4871d9_0_16: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20" name="Google Shape;420;g382af4871d9_0_16: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3"/>
        <p:cNvGrpSpPr/>
        <p:nvPr/>
      </p:nvGrpSpPr>
      <p:grpSpPr>
        <a:xfrm>
          <a:off x="0" y="0"/>
          <a:ext cx="0" cy="0"/>
          <a:chOff x="0" y="0"/>
          <a:chExt cx="0" cy="0"/>
        </a:xfrm>
      </p:grpSpPr>
      <p:sp>
        <p:nvSpPr>
          <p:cNvPr id="434" name="Google Shape;434;g382af4871d9_0_30: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35" name="Google Shape;435;g382af4871d9_0_30: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8"/>
        <p:cNvGrpSpPr/>
        <p:nvPr/>
      </p:nvGrpSpPr>
      <p:grpSpPr>
        <a:xfrm>
          <a:off x="0" y="0"/>
          <a:ext cx="0" cy="0"/>
          <a:chOff x="0" y="0"/>
          <a:chExt cx="0" cy="0"/>
        </a:xfrm>
      </p:grpSpPr>
      <p:sp>
        <p:nvSpPr>
          <p:cNvPr id="459" name="Google Shape;459;g38a8d312103_0_53: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0" name="Google Shape;460;g38a8d312103_0_53: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9"/>
        <p:cNvGrpSpPr/>
        <p:nvPr/>
      </p:nvGrpSpPr>
      <p:grpSpPr>
        <a:xfrm>
          <a:off x="0" y="0"/>
          <a:ext cx="0" cy="0"/>
          <a:chOff x="0" y="0"/>
          <a:chExt cx="0" cy="0"/>
        </a:xfrm>
      </p:grpSpPr>
      <p:sp>
        <p:nvSpPr>
          <p:cNvPr id="480" name="Google Shape;480;g40a0e788958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1" name="Google Shape;481;g40a0e78895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4"/>
        <p:cNvGrpSpPr/>
        <p:nvPr/>
      </p:nvGrpSpPr>
      <p:grpSpPr>
        <a:xfrm>
          <a:off x="0" y="0"/>
          <a:ext cx="0" cy="0"/>
          <a:chOff x="0" y="0"/>
          <a:chExt cx="0" cy="0"/>
        </a:xfrm>
      </p:grpSpPr>
      <p:sp>
        <p:nvSpPr>
          <p:cNvPr id="485" name="Google Shape;485;g34a8cbec04a_0_679: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6" name="Google Shape;486;g34a8cbec04a_0_679: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2"/>
        <p:cNvGrpSpPr/>
        <p:nvPr/>
      </p:nvGrpSpPr>
      <p:grpSpPr>
        <a:xfrm>
          <a:off x="0" y="0"/>
          <a:ext cx="0" cy="0"/>
          <a:chOff x="0" y="0"/>
          <a:chExt cx="0" cy="0"/>
        </a:xfrm>
      </p:grpSpPr>
      <p:sp>
        <p:nvSpPr>
          <p:cNvPr id="493" name="Google Shape;493;p12: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4" name="Google Shape;494;p12:notes"/>
          <p:cNvSpPr>
            <a:spLocks noGrp="1" noRot="1" noChangeAspect="1"/>
          </p:cNvSpPr>
          <p:nvPr>
            <p:ph type="sldImg" idx="2"/>
          </p:nvPr>
        </p:nvSpPr>
        <p:spPr>
          <a:xfrm>
            <a:off x="409575" y="1235075"/>
            <a:ext cx="5922900" cy="3332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7"/>
        <p:cNvGrpSpPr/>
        <p:nvPr/>
      </p:nvGrpSpPr>
      <p:grpSpPr>
        <a:xfrm>
          <a:off x="0" y="0"/>
          <a:ext cx="0" cy="0"/>
          <a:chOff x="0" y="0"/>
          <a:chExt cx="0" cy="0"/>
        </a:xfrm>
      </p:grpSpPr>
      <p:sp>
        <p:nvSpPr>
          <p:cNvPr id="538" name="Google Shape;538;g394c85ad418_0_0: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
              <a:t>https://www.imarcgroup.com/japan-wine-market</a:t>
            </a:r>
            <a:endParaRPr/>
          </a:p>
        </p:txBody>
      </p:sp>
      <p:sp>
        <p:nvSpPr>
          <p:cNvPr id="539" name="Google Shape;539;g394c85ad418_0_0: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1"/>
        <p:cNvGrpSpPr/>
        <p:nvPr/>
      </p:nvGrpSpPr>
      <p:grpSpPr>
        <a:xfrm>
          <a:off x="0" y="0"/>
          <a:ext cx="0" cy="0"/>
          <a:chOff x="0" y="0"/>
          <a:chExt cx="0" cy="0"/>
        </a:xfrm>
      </p:grpSpPr>
      <p:sp>
        <p:nvSpPr>
          <p:cNvPr id="552" name="Google Shape;552;g3980178eec2_0_5: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553" name="Google Shape;553;g3980178eec2_0_5:notes"/>
          <p:cNvSpPr>
            <a:spLocks noGrp="1" noRot="1" noChangeAspect="1"/>
          </p:cNvSpPr>
          <p:nvPr>
            <p:ph type="sldImg" idx="2"/>
          </p:nvPr>
        </p:nvSpPr>
        <p:spPr>
          <a:xfrm>
            <a:off x="1123905" y="740687"/>
            <a:ext cx="4494900" cy="37035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1"/>
        <p:cNvGrpSpPr/>
        <p:nvPr/>
      </p:nvGrpSpPr>
      <p:grpSpPr>
        <a:xfrm>
          <a:off x="0" y="0"/>
          <a:ext cx="0" cy="0"/>
          <a:chOff x="0" y="0"/>
          <a:chExt cx="0" cy="0"/>
        </a:xfrm>
      </p:grpSpPr>
      <p:sp>
        <p:nvSpPr>
          <p:cNvPr id="622" name="Google Shape;622;g376c0386bf5_0_0:notes"/>
          <p:cNvSpPr txBox="1">
            <a:spLocks noGrp="1"/>
          </p:cNvSpPr>
          <p:nvPr>
            <p:ph type="body" idx="1"/>
          </p:nvPr>
        </p:nvSpPr>
        <p:spPr>
          <a:xfrm>
            <a:off x="674210" y="4752747"/>
            <a:ext cx="5393700" cy="3888300"/>
          </a:xfrm>
          <a:prstGeom prst="rect">
            <a:avLst/>
          </a:prstGeom>
          <a:noFill/>
          <a:ln>
            <a:noFill/>
          </a:ln>
        </p:spPr>
        <p:txBody>
          <a:bodyPr spcFirstLastPara="1" wrap="square" lIns="91400" tIns="45675" rIns="91400" bIns="45675"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a:p>
        </p:txBody>
      </p:sp>
      <p:sp>
        <p:nvSpPr>
          <p:cNvPr id="623" name="Google Shape;623;g376c0386bf5_0_0: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0"/>
        <p:cNvGrpSpPr/>
        <p:nvPr/>
      </p:nvGrpSpPr>
      <p:grpSpPr>
        <a:xfrm>
          <a:off x="0" y="0"/>
          <a:ext cx="0" cy="0"/>
          <a:chOff x="0" y="0"/>
          <a:chExt cx="0" cy="0"/>
        </a:xfrm>
      </p:grpSpPr>
      <p:sp>
        <p:nvSpPr>
          <p:cNvPr id="631" name="Google Shape;631;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32" name="Google Shape;632;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7"/>
        <p:cNvGrpSpPr/>
        <p:nvPr/>
      </p:nvGrpSpPr>
      <p:grpSpPr>
        <a:xfrm>
          <a:off x="0" y="0"/>
          <a:ext cx="0" cy="0"/>
          <a:chOff x="0" y="0"/>
          <a:chExt cx="0" cy="0"/>
        </a:xfrm>
      </p:grpSpPr>
      <p:sp>
        <p:nvSpPr>
          <p:cNvPr id="638" name="Google Shape;638;g35d76704834_0_84:notes"/>
          <p:cNvSpPr txBox="1">
            <a:spLocks noGrp="1"/>
          </p:cNvSpPr>
          <p:nvPr>
            <p:ph type="body" idx="1"/>
          </p:nvPr>
        </p:nvSpPr>
        <p:spPr>
          <a:xfrm>
            <a:off x="674210" y="4691017"/>
            <a:ext cx="5393700" cy="44442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639" name="Google Shape;639;g35d76704834_0_84:notes"/>
          <p:cNvSpPr>
            <a:spLocks noGrp="1" noRot="1" noChangeAspect="1"/>
          </p:cNvSpPr>
          <p:nvPr>
            <p:ph type="sldImg" idx="2"/>
          </p:nvPr>
        </p:nvSpPr>
        <p:spPr>
          <a:xfrm>
            <a:off x="80963" y="741363"/>
            <a:ext cx="6580187" cy="370205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1"/>
        <p:cNvGrpSpPr/>
        <p:nvPr/>
      </p:nvGrpSpPr>
      <p:grpSpPr>
        <a:xfrm>
          <a:off x="0" y="0"/>
          <a:ext cx="0" cy="0"/>
          <a:chOff x="0" y="0"/>
          <a:chExt cx="0" cy="0"/>
        </a:xfrm>
      </p:grpSpPr>
      <p:sp>
        <p:nvSpPr>
          <p:cNvPr id="652" name="Google Shape;652;p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53" name="Google Shape;653;p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5"/>
        <p:cNvGrpSpPr/>
        <p:nvPr/>
      </p:nvGrpSpPr>
      <p:grpSpPr>
        <a:xfrm>
          <a:off x="0" y="0"/>
          <a:ext cx="0" cy="0"/>
          <a:chOff x="0" y="0"/>
          <a:chExt cx="0" cy="0"/>
        </a:xfrm>
      </p:grpSpPr>
      <p:sp>
        <p:nvSpPr>
          <p:cNvPr id="676" name="Google Shape;676;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ja" u="sng">
                <a:solidFill>
                  <a:schemeClr val="hlink"/>
                </a:solidFill>
                <a:hlinkClick r:id="rId3"/>
              </a:rPr>
              <a:t>https://www.meti.go.jp/statistics/toppage/report/minikaisetsu/hitokoto_kako/20210906hitokoto.html</a:t>
            </a:r>
            <a:endParaRPr/>
          </a:p>
          <a:p>
            <a:pPr marL="0" lvl="0" indent="0" algn="l" rtl="0">
              <a:lnSpc>
                <a:spcPct val="100000"/>
              </a:lnSpc>
              <a:spcBef>
                <a:spcPts val="0"/>
              </a:spcBef>
              <a:spcAft>
                <a:spcPts val="0"/>
              </a:spcAft>
              <a:buSzPts val="1400"/>
              <a:buNone/>
            </a:pPr>
            <a:endParaRPr/>
          </a:p>
          <a:p>
            <a:pPr marL="0" lvl="0" indent="0" algn="l" rtl="0">
              <a:lnSpc>
                <a:spcPct val="100000"/>
              </a:lnSpc>
              <a:spcBef>
                <a:spcPts val="0"/>
              </a:spcBef>
              <a:spcAft>
                <a:spcPts val="0"/>
              </a:spcAft>
              <a:buSzPts val="1400"/>
              <a:buNone/>
            </a:pPr>
            <a:r>
              <a:rPr lang="ja" u="sng">
                <a:solidFill>
                  <a:schemeClr val="hlink"/>
                </a:solidFill>
                <a:hlinkClick r:id="rId4"/>
              </a:rPr>
              <a:t>https://www.nta.go.jp/taxes/sake/shienjigyo/pdf/0021001-121_02.pdf</a:t>
            </a:r>
            <a:endParaRPr/>
          </a:p>
          <a:p>
            <a:pPr marL="0" lvl="0" indent="0" algn="l" rtl="0">
              <a:lnSpc>
                <a:spcPct val="100000"/>
              </a:lnSpc>
              <a:spcBef>
                <a:spcPts val="0"/>
              </a:spcBef>
              <a:spcAft>
                <a:spcPts val="0"/>
              </a:spcAft>
              <a:buSzPts val="1400"/>
              <a:buNone/>
            </a:pPr>
            <a:endParaRPr/>
          </a:p>
        </p:txBody>
      </p:sp>
      <p:sp>
        <p:nvSpPr>
          <p:cNvPr id="677" name="Google Shape;677;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8"/>
        <p:cNvGrpSpPr/>
        <p:nvPr/>
      </p:nvGrpSpPr>
      <p:grpSpPr>
        <a:xfrm>
          <a:off x="0" y="0"/>
          <a:ext cx="0" cy="0"/>
          <a:chOff x="0" y="0"/>
          <a:chExt cx="0" cy="0"/>
        </a:xfrm>
      </p:grpSpPr>
      <p:sp>
        <p:nvSpPr>
          <p:cNvPr id="719" name="Google Shape;719;g382af4871d9_0_373:notes"/>
          <p:cNvSpPr txBox="1">
            <a:spLocks noGrp="1"/>
          </p:cNvSpPr>
          <p:nvPr>
            <p:ph type="body" idx="1"/>
          </p:nvPr>
        </p:nvSpPr>
        <p:spPr>
          <a:xfrm>
            <a:off x="674210" y="4752741"/>
            <a:ext cx="5393700" cy="38889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0" name="Google Shape;720;g382af4871d9_0_373:notes"/>
          <p:cNvSpPr>
            <a:spLocks noGrp="1" noRot="1" noChangeAspect="1"/>
          </p:cNvSpPr>
          <p:nvPr>
            <p:ph type="sldImg" idx="2"/>
          </p:nvPr>
        </p:nvSpPr>
        <p:spPr>
          <a:xfrm>
            <a:off x="409575" y="1235075"/>
            <a:ext cx="5922963" cy="3332163"/>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35" name="Google Shape;735;p1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1.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3.xml"/><Relationship Id="rId2" Type="http://schemas.openxmlformats.org/officeDocument/2006/relationships/image" Target="../media/image3.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2"/>
        <p:cNvGrpSpPr/>
        <p:nvPr/>
      </p:nvGrpSpPr>
      <p:grpSpPr>
        <a:xfrm>
          <a:off x="0" y="0"/>
          <a:ext cx="0" cy="0"/>
          <a:chOff x="0" y="0"/>
          <a:chExt cx="0" cy="0"/>
        </a:xfrm>
      </p:grpSpPr>
      <p:sp>
        <p:nvSpPr>
          <p:cNvPr id="13" name="Google Shape;13;p19"/>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4" name="Google Shape;14;p19"/>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5" name="Google Shape;15;p1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6" name="Google Shape;16;p1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7" name="Google Shape;17;p1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pic>
        <p:nvPicPr>
          <p:cNvPr id="18" name="Google Shape;18;p19"/>
          <p:cNvPicPr preferRelativeResize="0"/>
          <p:nvPr/>
        </p:nvPicPr>
        <p:blipFill rotWithShape="1">
          <a:blip r:embed="rId2">
            <a:alphaModFix/>
          </a:blip>
          <a:srcRect/>
          <a:stretch/>
        </p:blipFill>
        <p:spPr>
          <a:xfrm>
            <a:off x="7486650" y="102393"/>
            <a:ext cx="1448976" cy="40752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19"/>
        <p:cNvGrpSpPr/>
        <p:nvPr/>
      </p:nvGrpSpPr>
      <p:grpSpPr>
        <a:xfrm>
          <a:off x="0" y="0"/>
          <a:ext cx="0" cy="0"/>
          <a:chOff x="0" y="0"/>
          <a:chExt cx="0" cy="0"/>
        </a:xfrm>
      </p:grpSpPr>
      <p:sp>
        <p:nvSpPr>
          <p:cNvPr id="20" name="Google Shape;20;p2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1" name="Google Shape;21;p2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2" name="Google Shape;22;p2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3"/>
        <p:cNvGrpSpPr/>
        <p:nvPr/>
      </p:nvGrpSpPr>
      <p:grpSpPr>
        <a:xfrm>
          <a:off x="0" y="0"/>
          <a:ext cx="0" cy="0"/>
          <a:chOff x="0" y="0"/>
          <a:chExt cx="0" cy="0"/>
        </a:xfrm>
      </p:grpSpPr>
      <p:sp>
        <p:nvSpPr>
          <p:cNvPr id="24" name="Google Shape;24;g3f20e15c5e1_0_79"/>
          <p:cNvSpPr txBox="1">
            <a:spLocks noGrp="1"/>
          </p:cNvSpPr>
          <p:nvPr>
            <p:ph type="title"/>
          </p:nvPr>
        </p:nvSpPr>
        <p:spPr>
          <a:xfrm>
            <a:off x="311700" y="445025"/>
            <a:ext cx="8520600" cy="5727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SzPts val="33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25" name="Google Shape;25;g3f20e15c5e1_0_79"/>
          <p:cNvSpPr txBox="1">
            <a:spLocks noGrp="1"/>
          </p:cNvSpPr>
          <p:nvPr>
            <p:ph type="body" idx="1"/>
          </p:nvPr>
        </p:nvSpPr>
        <p:spPr>
          <a:xfrm>
            <a:off x="311700" y="1152475"/>
            <a:ext cx="8520600" cy="3416400"/>
          </a:xfrm>
          <a:prstGeom prst="rect">
            <a:avLst/>
          </a:prstGeom>
          <a:noFill/>
          <a:ln>
            <a:noFill/>
          </a:ln>
        </p:spPr>
        <p:txBody>
          <a:bodyPr spcFirstLastPara="1" wrap="square" lIns="68575" tIns="34275" rIns="68575" bIns="34275" anchor="t" anchorCtr="0">
            <a:normAutofit/>
          </a:bodyPr>
          <a:lstStyle>
            <a:lvl1pPr marL="457200" lvl="0" indent="-361950" algn="l">
              <a:lnSpc>
                <a:spcPct val="90000"/>
              </a:lnSpc>
              <a:spcBef>
                <a:spcPts val="800"/>
              </a:spcBef>
              <a:spcAft>
                <a:spcPts val="0"/>
              </a:spcAft>
              <a:buSzPts val="2100"/>
              <a:buChar char="•"/>
              <a:defRPr/>
            </a:lvl1pPr>
            <a:lvl2pPr marL="914400" lvl="1" indent="-342900" algn="l">
              <a:lnSpc>
                <a:spcPct val="90000"/>
              </a:lnSpc>
              <a:spcBef>
                <a:spcPts val="400"/>
              </a:spcBef>
              <a:spcAft>
                <a:spcPts val="0"/>
              </a:spcAft>
              <a:buSzPts val="1800"/>
              <a:buChar char="•"/>
              <a:defRPr/>
            </a:lvl2pPr>
            <a:lvl3pPr marL="1371600" lvl="2" indent="-323850" algn="l">
              <a:lnSpc>
                <a:spcPct val="90000"/>
              </a:lnSpc>
              <a:spcBef>
                <a:spcPts val="400"/>
              </a:spcBef>
              <a:spcAft>
                <a:spcPts val="0"/>
              </a:spcAft>
              <a:buSzPts val="1500"/>
              <a:buChar char="•"/>
              <a:defRPr/>
            </a:lvl3pPr>
            <a:lvl4pPr marL="1828800" lvl="3" indent="-317500" algn="l">
              <a:lnSpc>
                <a:spcPct val="90000"/>
              </a:lnSpc>
              <a:spcBef>
                <a:spcPts val="400"/>
              </a:spcBef>
              <a:spcAft>
                <a:spcPts val="0"/>
              </a:spcAft>
              <a:buSzPts val="1400"/>
              <a:buChar char="•"/>
              <a:defRPr/>
            </a:lvl4pPr>
            <a:lvl5pPr marL="2286000" lvl="4" indent="-317500" algn="l">
              <a:lnSpc>
                <a:spcPct val="90000"/>
              </a:lnSpc>
              <a:spcBef>
                <a:spcPts val="400"/>
              </a:spcBef>
              <a:spcAft>
                <a:spcPts val="0"/>
              </a:spcAft>
              <a:buSzPts val="1400"/>
              <a:buChar char="•"/>
              <a:defRPr/>
            </a:lvl5pPr>
            <a:lvl6pPr marL="2743200" lvl="5" indent="-317500" algn="l">
              <a:lnSpc>
                <a:spcPct val="90000"/>
              </a:lnSpc>
              <a:spcBef>
                <a:spcPts val="400"/>
              </a:spcBef>
              <a:spcAft>
                <a:spcPts val="0"/>
              </a:spcAft>
              <a:buSzPts val="1400"/>
              <a:buChar char="•"/>
              <a:defRPr/>
            </a:lvl6pPr>
            <a:lvl7pPr marL="3200400" lvl="6" indent="-317500" algn="l">
              <a:lnSpc>
                <a:spcPct val="90000"/>
              </a:lnSpc>
              <a:spcBef>
                <a:spcPts val="400"/>
              </a:spcBef>
              <a:spcAft>
                <a:spcPts val="0"/>
              </a:spcAft>
              <a:buSzPts val="1400"/>
              <a:buChar char="•"/>
              <a:defRPr/>
            </a:lvl7pPr>
            <a:lvl8pPr marL="3657600" lvl="7" indent="-317500" algn="l">
              <a:lnSpc>
                <a:spcPct val="90000"/>
              </a:lnSpc>
              <a:spcBef>
                <a:spcPts val="400"/>
              </a:spcBef>
              <a:spcAft>
                <a:spcPts val="0"/>
              </a:spcAft>
              <a:buSzPts val="1400"/>
              <a:buChar char="•"/>
              <a:defRPr/>
            </a:lvl8pPr>
            <a:lvl9pPr marL="4114800" lvl="8" indent="-317500" algn="l">
              <a:lnSpc>
                <a:spcPct val="90000"/>
              </a:lnSpc>
              <a:spcBef>
                <a:spcPts val="400"/>
              </a:spcBef>
              <a:spcAft>
                <a:spcPts val="0"/>
              </a:spcAft>
              <a:buSzPts val="1400"/>
              <a:buChar char="•"/>
              <a:defRPr/>
            </a:lvl9pPr>
          </a:lstStyle>
          <a:p>
            <a:endParaRPr/>
          </a:p>
        </p:txBody>
      </p:sp>
      <p:sp>
        <p:nvSpPr>
          <p:cNvPr id="26" name="Google Shape;26;g3f20e15c5e1_0_79"/>
          <p:cNvSpPr txBox="1">
            <a:spLocks noGrp="1"/>
          </p:cNvSpPr>
          <p:nvPr>
            <p:ph type="sldNum" idx="12"/>
          </p:nvPr>
        </p:nvSpPr>
        <p:spPr>
          <a:xfrm>
            <a:off x="8472458" y="4663217"/>
            <a:ext cx="548700" cy="3936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ユーザー設定レイアウト">
  <p:cSld name="ユーザー設定レイアウト">
    <p:bg>
      <p:bgPr>
        <a:solidFill>
          <a:srgbClr val="36394B"/>
        </a:solidFill>
        <a:effectLst/>
      </p:bgPr>
    </p:bg>
    <p:spTree>
      <p:nvGrpSpPr>
        <p:cNvPr id="1" name="Shape 27"/>
        <p:cNvGrpSpPr/>
        <p:nvPr/>
      </p:nvGrpSpPr>
      <p:grpSpPr>
        <a:xfrm>
          <a:off x="0" y="0"/>
          <a:ext cx="0" cy="0"/>
          <a:chOff x="0" y="0"/>
          <a:chExt cx="0" cy="0"/>
        </a:xfrm>
      </p:grpSpPr>
      <p:pic>
        <p:nvPicPr>
          <p:cNvPr id="28" name="Google Shape;28;p23" descr="株式会社WineBank (@WineBank_O) / X"/>
          <p:cNvPicPr preferRelativeResize="0"/>
          <p:nvPr/>
        </p:nvPicPr>
        <p:blipFill rotWithShape="1">
          <a:blip r:embed="rId2">
            <a:alphaModFix amt="10000"/>
          </a:blip>
          <a:srcRect/>
          <a:stretch/>
        </p:blipFill>
        <p:spPr>
          <a:xfrm>
            <a:off x="-451045" y="-101772"/>
            <a:ext cx="5302422" cy="5302422"/>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29"/>
        <p:cNvGrpSpPr/>
        <p:nvPr/>
      </p:nvGrpSpPr>
      <p:grpSpPr>
        <a:xfrm>
          <a:off x="0" y="0"/>
          <a:ext cx="0" cy="0"/>
          <a:chOff x="0" y="0"/>
          <a:chExt cx="0" cy="0"/>
        </a:xfrm>
      </p:grpSpPr>
      <p:sp>
        <p:nvSpPr>
          <p:cNvPr id="30" name="Google Shape;30;g34cbfc3592e_0_139"/>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1" name="Google Shape;31;g34cbfc3592e_0_139"/>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32" name="Google Shape;32;g34cbfc3592e_0_139"/>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3" name="Google Shape;33;g34cbfc3592e_0_139"/>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34" name="Google Shape;34;g34cbfc3592e_0_13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DEFAULT">
  <p:cSld name="DEFAULT">
    <p:bg>
      <p:bgPr>
        <a:solidFill>
          <a:schemeClr val="lt1"/>
        </a:solidFill>
        <a:effectLst/>
      </p:bgPr>
    </p:bg>
    <p:spTree>
      <p:nvGrpSpPr>
        <p:cNvPr id="1" name="Shape 35"/>
        <p:cNvGrpSpPr/>
        <p:nvPr/>
      </p:nvGrpSpPr>
      <p:grpSpPr>
        <a:xfrm>
          <a:off x="0" y="0"/>
          <a:ext cx="0" cy="0"/>
          <a:chOff x="0" y="0"/>
          <a:chExt cx="0" cy="0"/>
        </a:xfrm>
      </p:grpSpPr>
      <p:sp>
        <p:nvSpPr>
          <p:cNvPr id="36" name="Google Shape;36;g3ee662f90c6_0_170"/>
          <p:cNvSpPr txBox="1">
            <a:spLocks noGrp="1"/>
          </p:cNvSpPr>
          <p:nvPr>
            <p:ph type="sldNum" idx="12"/>
          </p:nvPr>
        </p:nvSpPr>
        <p:spPr>
          <a:xfrm>
            <a:off x="8586476" y="4943097"/>
            <a:ext cx="548700" cy="163500"/>
          </a:xfrm>
          <a:prstGeom prst="rect">
            <a:avLst/>
          </a:prstGeom>
          <a:noFill/>
          <a:ln>
            <a:noFill/>
          </a:ln>
        </p:spPr>
        <p:txBody>
          <a:bodyPr spcFirstLastPara="1" wrap="square" lIns="68575" tIns="34275" rIns="68575" bIns="34275" anchor="t" anchorCtr="0">
            <a:noAutofit/>
          </a:bodyPr>
          <a:lstStyle>
            <a:lvl1pPr marL="0" marR="0" lvl="0"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800" b="0" i="0" u="none" strike="noStrike" cap="none">
                <a:solidFill>
                  <a:schemeClr val="lt1"/>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matchingName="1_タイトル スライド">
  <p:cSld name="1_タイトル スライド">
    <p:spTree>
      <p:nvGrpSpPr>
        <p:cNvPr id="1" name="Shape 37"/>
        <p:cNvGrpSpPr/>
        <p:nvPr/>
      </p:nvGrpSpPr>
      <p:grpSpPr>
        <a:xfrm>
          <a:off x="0" y="0"/>
          <a:ext cx="0" cy="0"/>
          <a:chOff x="0" y="0"/>
          <a:chExt cx="0" cy="0"/>
        </a:xfrm>
      </p:grpSpPr>
      <p:sp>
        <p:nvSpPr>
          <p:cNvPr id="38" name="Google Shape;38;g382af4871d9_0_308"/>
          <p:cNvSpPr txBox="1">
            <a:spLocks noGrp="1"/>
          </p:cNvSpPr>
          <p:nvPr>
            <p:ph type="subTitle" idx="1"/>
          </p:nvPr>
        </p:nvSpPr>
        <p:spPr>
          <a:xfrm>
            <a:off x="1371600" y="4245936"/>
            <a:ext cx="6400800" cy="594000"/>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000"/>
              <a:buNone/>
              <a:defRPr sz="1000">
                <a:solidFill>
                  <a:schemeClr val="dk1"/>
                </a:solidFill>
                <a:latin typeface="MS PGothic"/>
                <a:ea typeface="MS PGothic"/>
                <a:cs typeface="MS PGothic"/>
                <a:sym typeface="MS PGothic"/>
              </a:defRPr>
            </a:lvl1pPr>
            <a:lvl2pPr lvl="1" algn="ctr">
              <a:lnSpc>
                <a:spcPct val="90000"/>
              </a:lnSpc>
              <a:spcBef>
                <a:spcPts val="400"/>
              </a:spcBef>
              <a:spcAft>
                <a:spcPts val="0"/>
              </a:spcAft>
              <a:buClr>
                <a:srgbClr val="888888"/>
              </a:buClr>
              <a:buSzPts val="1800"/>
              <a:buNone/>
              <a:defRPr>
                <a:solidFill>
                  <a:srgbClr val="888888"/>
                </a:solidFill>
              </a:defRPr>
            </a:lvl2pPr>
            <a:lvl3pPr lvl="2" algn="ctr">
              <a:lnSpc>
                <a:spcPct val="90000"/>
              </a:lnSpc>
              <a:spcBef>
                <a:spcPts val="400"/>
              </a:spcBef>
              <a:spcAft>
                <a:spcPts val="0"/>
              </a:spcAft>
              <a:buClr>
                <a:srgbClr val="888888"/>
              </a:buClr>
              <a:buSzPts val="1500"/>
              <a:buNone/>
              <a:defRPr>
                <a:solidFill>
                  <a:srgbClr val="888888"/>
                </a:solidFill>
              </a:defRPr>
            </a:lvl3pPr>
            <a:lvl4pPr lvl="3" algn="ctr">
              <a:lnSpc>
                <a:spcPct val="90000"/>
              </a:lnSpc>
              <a:spcBef>
                <a:spcPts val="400"/>
              </a:spcBef>
              <a:spcAft>
                <a:spcPts val="0"/>
              </a:spcAft>
              <a:buClr>
                <a:srgbClr val="888888"/>
              </a:buClr>
              <a:buSzPts val="1400"/>
              <a:buNone/>
              <a:defRPr>
                <a:solidFill>
                  <a:srgbClr val="888888"/>
                </a:solidFill>
              </a:defRPr>
            </a:lvl4pPr>
            <a:lvl5pPr lvl="4" algn="ctr">
              <a:lnSpc>
                <a:spcPct val="90000"/>
              </a:lnSpc>
              <a:spcBef>
                <a:spcPts val="400"/>
              </a:spcBef>
              <a:spcAft>
                <a:spcPts val="0"/>
              </a:spcAft>
              <a:buClr>
                <a:srgbClr val="888888"/>
              </a:buClr>
              <a:buSzPts val="1400"/>
              <a:buNone/>
              <a:defRPr>
                <a:solidFill>
                  <a:srgbClr val="888888"/>
                </a:solidFill>
              </a:defRPr>
            </a:lvl5pPr>
            <a:lvl6pPr lvl="5" algn="ctr">
              <a:lnSpc>
                <a:spcPct val="90000"/>
              </a:lnSpc>
              <a:spcBef>
                <a:spcPts val="400"/>
              </a:spcBef>
              <a:spcAft>
                <a:spcPts val="0"/>
              </a:spcAft>
              <a:buClr>
                <a:srgbClr val="888888"/>
              </a:buClr>
              <a:buSzPts val="1400"/>
              <a:buNone/>
              <a:defRPr>
                <a:solidFill>
                  <a:srgbClr val="888888"/>
                </a:solidFill>
              </a:defRPr>
            </a:lvl6pPr>
            <a:lvl7pPr lvl="6" algn="ctr">
              <a:lnSpc>
                <a:spcPct val="90000"/>
              </a:lnSpc>
              <a:spcBef>
                <a:spcPts val="400"/>
              </a:spcBef>
              <a:spcAft>
                <a:spcPts val="0"/>
              </a:spcAft>
              <a:buClr>
                <a:srgbClr val="888888"/>
              </a:buClr>
              <a:buSzPts val="1400"/>
              <a:buNone/>
              <a:defRPr>
                <a:solidFill>
                  <a:srgbClr val="888888"/>
                </a:solidFill>
              </a:defRPr>
            </a:lvl7pPr>
            <a:lvl8pPr lvl="7" algn="ctr">
              <a:lnSpc>
                <a:spcPct val="90000"/>
              </a:lnSpc>
              <a:spcBef>
                <a:spcPts val="400"/>
              </a:spcBef>
              <a:spcAft>
                <a:spcPts val="0"/>
              </a:spcAft>
              <a:buClr>
                <a:srgbClr val="888888"/>
              </a:buClr>
              <a:buSzPts val="1400"/>
              <a:buNone/>
              <a:defRPr>
                <a:solidFill>
                  <a:srgbClr val="888888"/>
                </a:solidFill>
              </a:defRPr>
            </a:lvl8pPr>
            <a:lvl9pPr lvl="8" algn="ctr">
              <a:lnSpc>
                <a:spcPct val="90000"/>
              </a:lnSpc>
              <a:spcBef>
                <a:spcPts val="400"/>
              </a:spcBef>
              <a:spcAft>
                <a:spcPts val="0"/>
              </a:spcAft>
              <a:buClr>
                <a:srgbClr val="888888"/>
              </a:buClr>
              <a:buSzPts val="1400"/>
              <a:buNone/>
              <a:defRPr>
                <a:solidFill>
                  <a:srgbClr val="888888"/>
                </a:solidFill>
              </a:defRPr>
            </a:lvl9pPr>
          </a:lstStyle>
          <a:p>
            <a:endParaRPr/>
          </a:p>
        </p:txBody>
      </p:sp>
      <p:sp>
        <p:nvSpPr>
          <p:cNvPr id="39" name="Google Shape;39;g382af4871d9_0_308"/>
          <p:cNvSpPr/>
          <p:nvPr/>
        </p:nvSpPr>
        <p:spPr>
          <a:xfrm>
            <a:off x="0" y="1674421"/>
            <a:ext cx="9144000" cy="1329563"/>
          </a:xfrm>
          <a:prstGeom prst="rect">
            <a:avLst/>
          </a:prstGeom>
          <a:solidFill>
            <a:srgbClr val="36394B"/>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endParaRPr sz="1000" b="0" i="0" u="none" strike="noStrike" cap="none">
              <a:solidFill>
                <a:schemeClr val="lt1"/>
              </a:solidFill>
              <a:latin typeface="Arial"/>
              <a:ea typeface="Arial"/>
              <a:cs typeface="Arial"/>
              <a:sym typeface="Arial"/>
            </a:endParaRPr>
          </a:p>
        </p:txBody>
      </p:sp>
      <p:sp>
        <p:nvSpPr>
          <p:cNvPr id="40" name="Google Shape;40;g382af4871d9_0_308"/>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41"/>
        <p:cNvGrpSpPr/>
        <p:nvPr/>
      </p:nvGrpSpPr>
      <p:grpSpPr>
        <a:xfrm>
          <a:off x="0" y="0"/>
          <a:ext cx="0" cy="0"/>
          <a:chOff x="0" y="0"/>
          <a:chExt cx="0" cy="0"/>
        </a:xfrm>
      </p:grpSpPr>
      <p:sp>
        <p:nvSpPr>
          <p:cNvPr id="42" name="Google Shape;42;p24"/>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3" name="Google Shape;43;p24"/>
          <p:cNvSpPr txBox="1">
            <a:spLocks noGrp="1"/>
          </p:cNvSpPr>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4" name="Google Shape;44;p24"/>
          <p:cNvSpPr txBox="1">
            <a:spLocks noGrp="1"/>
          </p:cNvSpPr>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45" name="Google Shape;45;p24"/>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6" name="Google Shape;46;p24"/>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47" name="Google Shape;47;p24"/>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48"/>
        <p:cNvGrpSpPr/>
        <p:nvPr/>
      </p:nvGrpSpPr>
      <p:grpSpPr>
        <a:xfrm>
          <a:off x="0" y="0"/>
          <a:ext cx="0" cy="0"/>
          <a:chOff x="0" y="0"/>
          <a:chExt cx="0" cy="0"/>
        </a:xfrm>
      </p:grpSpPr>
      <p:sp>
        <p:nvSpPr>
          <p:cNvPr id="49" name="Google Shape;49;p25"/>
          <p:cNvSpPr txBox="1">
            <a:spLocks noGrp="1"/>
          </p:cNvSpPr>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0" name="Google Shape;50;p25"/>
          <p:cNvSpPr txBox="1">
            <a:spLocks noGrp="1"/>
          </p:cNvSpPr>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51" name="Google Shape;51;p25"/>
          <p:cNvSpPr txBox="1">
            <a:spLocks noGrp="1"/>
          </p:cNvSpPr>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2" name="Google Shape;52;p25"/>
          <p:cNvSpPr txBox="1">
            <a:spLocks noGrp="1"/>
          </p:cNvSpPr>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a:endParaRPr/>
          </a:p>
        </p:txBody>
      </p:sp>
      <p:sp>
        <p:nvSpPr>
          <p:cNvPr id="53" name="Google Shape;53;p25"/>
          <p:cNvSpPr txBox="1">
            <a:spLocks noGrp="1"/>
          </p:cNvSpPr>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54" name="Google Shape;54;p25"/>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5" name="Google Shape;55;p25"/>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6" name="Google Shape;56;p25"/>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57"/>
        <p:cNvGrpSpPr/>
        <p:nvPr/>
      </p:nvGrpSpPr>
      <p:grpSpPr>
        <a:xfrm>
          <a:off x="0" y="0"/>
          <a:ext cx="0" cy="0"/>
          <a:chOff x="0" y="0"/>
          <a:chExt cx="0" cy="0"/>
        </a:xfrm>
      </p:grpSpPr>
      <p:sp>
        <p:nvSpPr>
          <p:cNvPr id="58" name="Google Shape;58;p26"/>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59" name="Google Shape;59;p26"/>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0" name="Google Shape;60;p26"/>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1" name="Google Shape;61;p26"/>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62"/>
        <p:cNvGrpSpPr/>
        <p:nvPr/>
      </p:nvGrpSpPr>
      <p:grpSpPr>
        <a:xfrm>
          <a:off x="0" y="0"/>
          <a:ext cx="0" cy="0"/>
          <a:chOff x="0" y="0"/>
          <a:chExt cx="0" cy="0"/>
        </a:xfrm>
      </p:grpSpPr>
      <p:sp>
        <p:nvSpPr>
          <p:cNvPr id="63" name="Google Shape;63;p27"/>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4" name="Google Shape;64;p27"/>
          <p:cNvSpPr txBox="1">
            <a:spLocks noGrp="1"/>
          </p:cNvSpPr>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a:endParaRPr/>
          </a:p>
        </p:txBody>
      </p:sp>
      <p:sp>
        <p:nvSpPr>
          <p:cNvPr id="65" name="Google Shape;65;p27"/>
          <p:cNvSpPr txBox="1">
            <a:spLocks noGrp="1"/>
          </p:cNvSpPr>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66" name="Google Shape;66;p27"/>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7" name="Google Shape;67;p27"/>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68" name="Google Shape;68;p27"/>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69"/>
        <p:cNvGrpSpPr/>
        <p:nvPr/>
      </p:nvGrpSpPr>
      <p:grpSpPr>
        <a:xfrm>
          <a:off x="0" y="0"/>
          <a:ext cx="0" cy="0"/>
          <a:chOff x="0" y="0"/>
          <a:chExt cx="0" cy="0"/>
        </a:xfrm>
      </p:grpSpPr>
      <p:sp>
        <p:nvSpPr>
          <p:cNvPr id="70" name="Google Shape;70;p28"/>
          <p:cNvSpPr txBox="1">
            <a:spLocks noGrp="1"/>
          </p:cNvSpPr>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a:buNone/>
              <a:defRPr sz="24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1" name="Google Shape;71;p28"/>
          <p:cNvSpPr>
            <a:spLocks noGrp="1"/>
          </p:cNvSpPr>
          <p:nvPr>
            <p:ph type="pic" idx="2"/>
          </p:nvPr>
        </p:nvSpPr>
        <p:spPr>
          <a:xfrm>
            <a:off x="3887391" y="740569"/>
            <a:ext cx="4629150" cy="3655219"/>
          </a:xfrm>
          <a:prstGeom prst="rect">
            <a:avLst/>
          </a:prstGeom>
          <a:noFill/>
          <a:ln>
            <a:noFill/>
          </a:ln>
        </p:spPr>
      </p:sp>
      <p:sp>
        <p:nvSpPr>
          <p:cNvPr id="72" name="Google Shape;72;p28"/>
          <p:cNvSpPr txBox="1">
            <a:spLocks noGrp="1"/>
          </p:cNvSpPr>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a:endParaRPr/>
          </a:p>
        </p:txBody>
      </p:sp>
      <p:sp>
        <p:nvSpPr>
          <p:cNvPr id="73" name="Google Shape;73;p2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4" name="Google Shape;74;p2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5" name="Google Shape;75;p2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76"/>
        <p:cNvGrpSpPr/>
        <p:nvPr/>
      </p:nvGrpSpPr>
      <p:grpSpPr>
        <a:xfrm>
          <a:off x="0" y="0"/>
          <a:ext cx="0" cy="0"/>
          <a:chOff x="0" y="0"/>
          <a:chExt cx="0" cy="0"/>
        </a:xfrm>
      </p:grpSpPr>
      <p:sp>
        <p:nvSpPr>
          <p:cNvPr id="77" name="Google Shape;77;p29"/>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78" name="Google Shape;78;p29"/>
          <p:cNvSpPr txBox="1">
            <a:spLocks noGrp="1"/>
          </p:cNvSpPr>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79" name="Google Shape;79;p29"/>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0" name="Google Shape;80;p29"/>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1" name="Google Shape;81;p29"/>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82"/>
        <p:cNvGrpSpPr/>
        <p:nvPr/>
      </p:nvGrpSpPr>
      <p:grpSpPr>
        <a:xfrm>
          <a:off x="0" y="0"/>
          <a:ext cx="0" cy="0"/>
          <a:chOff x="0" y="0"/>
          <a:chExt cx="0" cy="0"/>
        </a:xfrm>
      </p:grpSpPr>
      <p:sp>
        <p:nvSpPr>
          <p:cNvPr id="83" name="Google Shape;83;p30"/>
          <p:cNvSpPr txBox="1">
            <a:spLocks noGrp="1"/>
          </p:cNvSpPr>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4" name="Google Shape;84;p30"/>
          <p:cNvSpPr txBox="1">
            <a:spLocks noGrp="1"/>
          </p:cNvSpPr>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a:endParaRPr/>
          </a:p>
        </p:txBody>
      </p:sp>
      <p:sp>
        <p:nvSpPr>
          <p:cNvPr id="85" name="Google Shape;85;p30"/>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6" name="Google Shape;86;p30"/>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87" name="Google Shape;87;p30"/>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88"/>
        <p:cNvGrpSpPr/>
        <p:nvPr/>
      </p:nvGrpSpPr>
      <p:grpSpPr>
        <a:xfrm>
          <a:off x="0" y="0"/>
          <a:ext cx="0" cy="0"/>
          <a:chOff x="0" y="0"/>
          <a:chExt cx="0" cy="0"/>
        </a:xfrm>
      </p:grpSpPr>
      <p:sp>
        <p:nvSpPr>
          <p:cNvPr id="89" name="Google Shape;89;p31"/>
          <p:cNvSpPr txBox="1">
            <a:spLocks noGrp="1"/>
          </p:cNvSpPr>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0" name="Google Shape;90;p31"/>
          <p:cNvSpPr txBox="1">
            <a:spLocks noGrp="1"/>
          </p:cNvSpPr>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a:endParaRPr/>
          </a:p>
        </p:txBody>
      </p:sp>
      <p:sp>
        <p:nvSpPr>
          <p:cNvPr id="91" name="Google Shape;91;p3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2" name="Google Shape;92;p3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93" name="Google Shape;93;p3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白紙" type="blank">
  <p:cSld name="BLANK">
    <p:bg>
      <p:bgPr>
        <a:solidFill>
          <a:schemeClr val="lt1"/>
        </a:solidFill>
        <a:effectLst/>
      </p:bgPr>
    </p:bg>
    <p:spTree>
      <p:nvGrpSpPr>
        <p:cNvPr id="1" name="Shape 105"/>
        <p:cNvGrpSpPr/>
        <p:nvPr/>
      </p:nvGrpSpPr>
      <p:grpSpPr>
        <a:xfrm>
          <a:off x="0" y="0"/>
          <a:ext cx="0" cy="0"/>
          <a:chOff x="0" y="0"/>
          <a:chExt cx="0" cy="0"/>
        </a:xfrm>
      </p:grpSpPr>
      <p:sp>
        <p:nvSpPr>
          <p:cNvPr id="106" name="Google Shape;106;p22"/>
          <p:cNvSpPr txBox="1">
            <a:spLocks noGrp="1"/>
          </p:cNvSpPr>
          <p:nvPr>
            <p:ph type="sldNum" idx="12"/>
          </p:nvPr>
        </p:nvSpPr>
        <p:spPr>
          <a:xfrm>
            <a:off x="6965303" y="4530560"/>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1pPr>
            <a:lvl2pPr marL="0" marR="0" lvl="1"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2pPr>
            <a:lvl3pPr marL="0" marR="0" lvl="2"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3pPr>
            <a:lvl4pPr marL="0" marR="0" lvl="3"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4pPr>
            <a:lvl5pPr marL="0" marR="0" lvl="4"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5pPr>
            <a:lvl6pPr marL="0" marR="0" lvl="5"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6pPr>
            <a:lvl7pPr marL="0" marR="0" lvl="6"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7pPr>
            <a:lvl8pPr marL="0" marR="0" lvl="7"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8pPr>
            <a:lvl9pPr marL="0" marR="0" lvl="8" indent="0" algn="r">
              <a:lnSpc>
                <a:spcPct val="100000"/>
              </a:lnSpc>
              <a:spcBef>
                <a:spcPts val="0"/>
              </a:spcBef>
              <a:spcAft>
                <a:spcPts val="0"/>
              </a:spcAft>
              <a:buClr>
                <a:srgbClr val="000000"/>
              </a:buClr>
              <a:buSzPts val="900"/>
              <a:buFont typeface="Arial"/>
              <a:buNone/>
              <a:defRPr sz="1400" b="0" i="0" u="none" strike="noStrike" cap="none">
                <a:solidFill>
                  <a:srgbClr val="888888"/>
                </a:solidFill>
                <a:latin typeface="Crimson Text"/>
                <a:ea typeface="Crimson Text"/>
                <a:cs typeface="Crimson Text"/>
                <a:sym typeface="Crimson Text"/>
              </a:defRPr>
            </a:lvl9pPr>
          </a:lstStyle>
          <a:p>
            <a:pPr marL="0" lvl="0" indent="0" algn="r" rtl="0">
              <a:spcBef>
                <a:spcPts val="0"/>
              </a:spcBef>
              <a:spcAft>
                <a:spcPts val="0"/>
              </a:spcAft>
              <a:buNone/>
            </a:pPr>
            <a:fld id="{00000000-1234-1234-1234-123412341234}" type="slidenum">
              <a:rPr lang="ja"/>
              <a:t>‹#›</a:t>
            </a:fld>
            <a:endParaRPr/>
          </a:p>
        </p:txBody>
      </p:sp>
      <p:sp>
        <p:nvSpPr>
          <p:cNvPr id="107" name="Google Shape;107;p22"/>
          <p:cNvSpPr/>
          <p:nvPr/>
        </p:nvSpPr>
        <p:spPr>
          <a:xfrm>
            <a:off x="0" y="50255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108" name="Google Shape;108;p22"/>
          <p:cNvPicPr preferRelativeResize="0"/>
          <p:nvPr/>
        </p:nvPicPr>
        <p:blipFill rotWithShape="1">
          <a:blip r:embed="rId2">
            <a:alphaModFix/>
          </a:blip>
          <a:srcRect/>
          <a:stretch/>
        </p:blipFill>
        <p:spPr>
          <a:xfrm>
            <a:off x="7632700" y="113900"/>
            <a:ext cx="1390003" cy="390919"/>
          </a:xfrm>
          <a:prstGeom prst="rect">
            <a:avLst/>
          </a:prstGeom>
          <a:noFill/>
          <a:ln>
            <a:noFill/>
          </a:ln>
        </p:spPr>
      </p:pic>
      <p:sp>
        <p:nvSpPr>
          <p:cNvPr id="109" name="Google Shape;109;p22"/>
          <p:cNvSpPr/>
          <p:nvPr/>
        </p:nvSpPr>
        <p:spPr>
          <a:xfrm>
            <a:off x="8362951" y="4843238"/>
            <a:ext cx="659752" cy="130800"/>
          </a:xfrm>
          <a:prstGeom prst="rect">
            <a:avLst/>
          </a:prstGeom>
          <a:noFill/>
          <a:ln w="9525" cap="flat" cmpd="sng">
            <a:solidFill>
              <a:srgbClr val="C0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rgbClr val="C00000"/>
                </a:solidFill>
                <a:latin typeface="Crimson Text"/>
                <a:ea typeface="Crimson Text"/>
                <a:cs typeface="Crimson Text"/>
                <a:sym typeface="Crimson Text"/>
              </a:rPr>
              <a:t>confidential</a:t>
            </a:r>
            <a:endParaRPr sz="700" b="1" i="0" u="none" strike="noStrike" cap="none">
              <a:solidFill>
                <a:srgbClr val="C00000"/>
              </a:solidFill>
              <a:latin typeface="Crimson Text"/>
              <a:ea typeface="Crimson Text"/>
              <a:cs typeface="Crimson Text"/>
              <a:sym typeface="Crimson Text"/>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spTree>
      <p:nvGrpSpPr>
        <p:cNvPr id="1" name="Shape 110"/>
        <p:cNvGrpSpPr/>
        <p:nvPr/>
      </p:nvGrpSpPr>
      <p:grpSpPr>
        <a:xfrm>
          <a:off x="0" y="0"/>
          <a:ext cx="0" cy="0"/>
          <a:chOff x="0" y="0"/>
          <a:chExt cx="0" cy="0"/>
        </a:xfrm>
      </p:grpSpPr>
      <p:sp>
        <p:nvSpPr>
          <p:cNvPr id="111" name="Google Shape;111;p32"/>
          <p:cNvSpPr txBox="1">
            <a:spLocks noGrp="1"/>
          </p:cNvSpPr>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a:buNone/>
              <a:defRPr sz="4500"/>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2" name="Google Shape;112;p32"/>
          <p:cNvSpPr txBox="1">
            <a:spLocks noGrp="1"/>
          </p:cNvSpPr>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a:endParaRPr/>
          </a:p>
        </p:txBody>
      </p:sp>
      <p:sp>
        <p:nvSpPr>
          <p:cNvPr id="113" name="Google Shape;113;p32"/>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4" name="Google Shape;114;p32"/>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lnSpc>
                <a:spcPct val="100000"/>
              </a:lnSpc>
              <a:spcBef>
                <a:spcPts val="0"/>
              </a:spcBef>
              <a:spcAft>
                <a:spcPts val="0"/>
              </a:spcAft>
              <a:buSzPts val="1100"/>
              <a:buNone/>
              <a:defRPr/>
            </a:lvl1pPr>
            <a:lvl2pPr lvl="1" algn="l">
              <a:lnSpc>
                <a:spcPct val="100000"/>
              </a:lnSpc>
              <a:spcBef>
                <a:spcPts val="0"/>
              </a:spcBef>
              <a:spcAft>
                <a:spcPts val="0"/>
              </a:spcAft>
              <a:buSzPts val="1100"/>
              <a:buNone/>
              <a:defRPr/>
            </a:lvl2pPr>
            <a:lvl3pPr lvl="2" algn="l">
              <a:lnSpc>
                <a:spcPct val="100000"/>
              </a:lnSpc>
              <a:spcBef>
                <a:spcPts val="0"/>
              </a:spcBef>
              <a:spcAft>
                <a:spcPts val="0"/>
              </a:spcAft>
              <a:buSzPts val="1100"/>
              <a:buNone/>
              <a:defRPr/>
            </a:lvl3pPr>
            <a:lvl4pPr lvl="3" algn="l">
              <a:lnSpc>
                <a:spcPct val="100000"/>
              </a:lnSpc>
              <a:spcBef>
                <a:spcPts val="0"/>
              </a:spcBef>
              <a:spcAft>
                <a:spcPts val="0"/>
              </a:spcAft>
              <a:buSzPts val="1100"/>
              <a:buNone/>
              <a:defRPr/>
            </a:lvl4pPr>
            <a:lvl5pPr lvl="4" algn="l">
              <a:lnSpc>
                <a:spcPct val="100000"/>
              </a:lnSpc>
              <a:spcBef>
                <a:spcPts val="0"/>
              </a:spcBef>
              <a:spcAft>
                <a:spcPts val="0"/>
              </a:spcAft>
              <a:buSzPts val="1100"/>
              <a:buNone/>
              <a:defRPr/>
            </a:lvl5pPr>
            <a:lvl6pPr lvl="5" algn="l">
              <a:lnSpc>
                <a:spcPct val="100000"/>
              </a:lnSpc>
              <a:spcBef>
                <a:spcPts val="0"/>
              </a:spcBef>
              <a:spcAft>
                <a:spcPts val="0"/>
              </a:spcAft>
              <a:buSzPts val="1100"/>
              <a:buNone/>
              <a:defRPr/>
            </a:lvl6pPr>
            <a:lvl7pPr lvl="6" algn="l">
              <a:lnSpc>
                <a:spcPct val="100000"/>
              </a:lnSpc>
              <a:spcBef>
                <a:spcPts val="0"/>
              </a:spcBef>
              <a:spcAft>
                <a:spcPts val="0"/>
              </a:spcAft>
              <a:buSzPts val="1100"/>
              <a:buNone/>
              <a:defRPr/>
            </a:lvl7pPr>
            <a:lvl8pPr lvl="7" algn="l">
              <a:lnSpc>
                <a:spcPct val="100000"/>
              </a:lnSpc>
              <a:spcBef>
                <a:spcPts val="0"/>
              </a:spcBef>
              <a:spcAft>
                <a:spcPts val="0"/>
              </a:spcAft>
              <a:buSzPts val="1100"/>
              <a:buNone/>
              <a:defRPr/>
            </a:lvl8pPr>
            <a:lvl9pPr lvl="8" algn="l">
              <a:lnSpc>
                <a:spcPct val="100000"/>
              </a:lnSpc>
              <a:spcBef>
                <a:spcPts val="0"/>
              </a:spcBef>
              <a:spcAft>
                <a:spcPts val="0"/>
              </a:spcAft>
              <a:buSzPts val="1100"/>
              <a:buNone/>
              <a:defRPr/>
            </a:lvl9pPr>
          </a:lstStyle>
          <a:p>
            <a:endParaRPr/>
          </a:p>
        </p:txBody>
      </p:sp>
      <p:sp>
        <p:nvSpPr>
          <p:cNvPr id="115" name="Google Shape;115;p32"/>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ユーザー設定レイアウト">
  <p:cSld name="ユーザー設定レイアウト">
    <p:bg>
      <p:bgPr>
        <a:solidFill>
          <a:srgbClr val="36394B"/>
        </a:solidFill>
        <a:effectLst/>
      </p:bgPr>
    </p:bg>
    <p:spTree>
      <p:nvGrpSpPr>
        <p:cNvPr id="1" name="Shape 116"/>
        <p:cNvGrpSpPr/>
        <p:nvPr/>
      </p:nvGrpSpPr>
      <p:grpSpPr>
        <a:xfrm>
          <a:off x="0" y="0"/>
          <a:ext cx="0" cy="0"/>
          <a:chOff x="0" y="0"/>
          <a:chExt cx="0" cy="0"/>
        </a:xfrm>
      </p:grpSpPr>
      <p:pic>
        <p:nvPicPr>
          <p:cNvPr id="117" name="Google Shape;117;p33" descr="株式会社WineBank (@WineBank_O) / X"/>
          <p:cNvPicPr preferRelativeResize="0"/>
          <p:nvPr/>
        </p:nvPicPr>
        <p:blipFill rotWithShape="1">
          <a:blip r:embed="rId2">
            <a:alphaModFix amt="10000"/>
          </a:blip>
          <a:srcRect/>
          <a:stretch/>
        </p:blipFill>
        <p:spPr>
          <a:xfrm>
            <a:off x="-451045" y="-101772"/>
            <a:ext cx="5302422" cy="5302422"/>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タイトル スライド" type="title">
  <p:cSld name="TITLE">
    <p:bg>
      <p:bgPr>
        <a:solidFill>
          <a:schemeClr val="lt1"/>
        </a:solidFill>
        <a:effectLst/>
      </p:bgPr>
    </p:bg>
    <p:spTree>
      <p:nvGrpSpPr>
        <p:cNvPr id="1" name="Shape 124"/>
        <p:cNvGrpSpPr/>
        <p:nvPr/>
      </p:nvGrpSpPr>
      <p:grpSpPr>
        <a:xfrm>
          <a:off x="0" y="0"/>
          <a:ext cx="0" cy="0"/>
          <a:chOff x="0" y="0"/>
          <a:chExt cx="0" cy="0"/>
        </a:xfrm>
      </p:grpSpPr>
      <p:sp>
        <p:nvSpPr>
          <p:cNvPr id="125" name="Google Shape;125;g40a0e788958_0_229"/>
          <p:cNvSpPr txBox="1">
            <a:spLocks noGrp="1"/>
          </p:cNvSpPr>
          <p:nvPr>
            <p:ph type="ctrTitle"/>
          </p:nvPr>
        </p:nvSpPr>
        <p:spPr>
          <a:xfrm>
            <a:off x="685800" y="2263306"/>
            <a:ext cx="7772400" cy="564900"/>
          </a:xfrm>
          <a:prstGeom prst="rect">
            <a:avLst/>
          </a:prstGeom>
          <a:noFill/>
          <a:ln>
            <a:noFill/>
          </a:ln>
        </p:spPr>
        <p:txBody>
          <a:bodyPr spcFirstLastPara="1" wrap="square" lIns="91425" tIns="45700" rIns="91425" bIns="45700" anchor="b" anchorCtr="0">
            <a:noAutofit/>
          </a:bodyPr>
          <a:lstStyle>
            <a:lvl1pPr lvl="0" algn="ctr">
              <a:lnSpc>
                <a:spcPct val="90000"/>
              </a:lnSpc>
              <a:spcBef>
                <a:spcPts val="0"/>
              </a:spcBef>
              <a:spcAft>
                <a:spcPts val="0"/>
              </a:spcAft>
              <a:buClr>
                <a:schemeClr val="dk1"/>
              </a:buClr>
              <a:buSzPts val="3200"/>
              <a:buFont typeface="Arial"/>
              <a:buNone/>
              <a:defRPr sz="32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26" name="Google Shape;126;g40a0e788958_0_229"/>
          <p:cNvSpPr txBox="1">
            <a:spLocks noGrp="1"/>
          </p:cNvSpPr>
          <p:nvPr>
            <p:ph type="subTitle" idx="1"/>
          </p:nvPr>
        </p:nvSpPr>
        <p:spPr>
          <a:xfrm>
            <a:off x="1185221" y="3165752"/>
            <a:ext cx="6858000" cy="5628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pic>
        <p:nvPicPr>
          <p:cNvPr id="127" name="Google Shape;127;g40a0e788958_0_229"/>
          <p:cNvPicPr preferRelativeResize="0"/>
          <p:nvPr/>
        </p:nvPicPr>
        <p:blipFill rotWithShape="1">
          <a:blip r:embed="rId2">
            <a:alphaModFix/>
          </a:blip>
          <a:srcRect/>
          <a:stretch/>
        </p:blipFill>
        <p:spPr>
          <a:xfrm>
            <a:off x="2788635" y="1526420"/>
            <a:ext cx="2550235" cy="696110"/>
          </a:xfrm>
          <a:prstGeom prst="rect">
            <a:avLst/>
          </a:prstGeom>
          <a:noFill/>
          <a:ln>
            <a:noFill/>
          </a:ln>
        </p:spPr>
      </p:pic>
      <p:sp>
        <p:nvSpPr>
          <p:cNvPr id="128" name="Google Shape;128;g40a0e788958_0_229"/>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129" name="Google Shape;129;g40a0e788958_0_229"/>
          <p:cNvSpPr txBox="1">
            <a:spLocks noGrp="1"/>
          </p:cNvSpPr>
          <p:nvPr>
            <p:ph type="sldNum" idx="12"/>
          </p:nvPr>
        </p:nvSpPr>
        <p:spPr>
          <a:xfrm>
            <a:off x="7020654" y="4837601"/>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cxnSp>
        <p:nvCxnSpPr>
          <p:cNvPr id="130" name="Google Shape;130;g40a0e788958_0_229"/>
          <p:cNvCxnSpPr/>
          <p:nvPr/>
        </p:nvCxnSpPr>
        <p:spPr>
          <a:xfrm>
            <a:off x="4168702" y="2995442"/>
            <a:ext cx="726300" cy="0"/>
          </a:xfrm>
          <a:prstGeom prst="straightConnector1">
            <a:avLst/>
          </a:prstGeom>
          <a:noFill/>
          <a:ln w="76200" cap="flat" cmpd="sng">
            <a:solidFill>
              <a:srgbClr val="36394B"/>
            </a:solidFill>
            <a:prstDash val="solid"/>
            <a:miter lim="8000"/>
            <a:headEnd type="none" w="sm" len="sm"/>
            <a:tailEnd type="none" w="sm" len="sm"/>
          </a:ln>
        </p:spPr>
      </p:cxn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1_タイトル スライド">
  <p:cSld name="1_タイトル スライド">
    <p:bg>
      <p:bgPr>
        <a:solidFill>
          <a:schemeClr val="lt1"/>
        </a:solidFill>
        <a:effectLst/>
      </p:bgPr>
    </p:bg>
    <p:spTree>
      <p:nvGrpSpPr>
        <p:cNvPr id="1" name="Shape 131"/>
        <p:cNvGrpSpPr/>
        <p:nvPr/>
      </p:nvGrpSpPr>
      <p:grpSpPr>
        <a:xfrm>
          <a:off x="0" y="0"/>
          <a:ext cx="0" cy="0"/>
          <a:chOff x="0" y="0"/>
          <a:chExt cx="0" cy="0"/>
        </a:xfrm>
      </p:grpSpPr>
      <p:sp>
        <p:nvSpPr>
          <p:cNvPr id="132" name="Google Shape;132;g40a0e788958_0_236"/>
          <p:cNvSpPr txBox="1">
            <a:spLocks noGrp="1"/>
          </p:cNvSpPr>
          <p:nvPr>
            <p:ph type="ctrTitle"/>
          </p:nvPr>
        </p:nvSpPr>
        <p:spPr>
          <a:xfrm>
            <a:off x="474697" y="166544"/>
            <a:ext cx="6468600" cy="5649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600"/>
              <a:buFont typeface="Arial"/>
              <a:buNone/>
              <a:defRPr sz="36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3" name="Google Shape;133;g40a0e788958_0_236"/>
          <p:cNvSpPr txBox="1">
            <a:spLocks noGrp="1"/>
          </p:cNvSpPr>
          <p:nvPr>
            <p:ph type="subTitle" idx="1"/>
          </p:nvPr>
        </p:nvSpPr>
        <p:spPr>
          <a:xfrm>
            <a:off x="1454334" y="1281395"/>
            <a:ext cx="6556500" cy="24489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2400"/>
              <a:buNone/>
              <a:defRPr sz="24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34" name="Google Shape;134;g40a0e788958_0_236"/>
          <p:cNvSpPr txBox="1">
            <a:spLocks noGrp="1"/>
          </p:cNvSpPr>
          <p:nvPr>
            <p:ph type="dt" idx="10"/>
          </p:nvPr>
        </p:nvSpPr>
        <p:spPr>
          <a:xfrm>
            <a:off x="18041" y="4870894"/>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5" name="Google Shape;135;g40a0e788958_0_236"/>
          <p:cNvSpPr txBox="1">
            <a:spLocks noGrp="1"/>
          </p:cNvSpPr>
          <p:nvPr>
            <p:ph type="sldNum" idx="12"/>
          </p:nvPr>
        </p:nvSpPr>
        <p:spPr>
          <a:xfrm>
            <a:off x="7020654" y="4837601"/>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
        <p:nvSpPr>
          <p:cNvPr id="136" name="Google Shape;136;g40a0e788958_0_236"/>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2_タイトル スライド">
  <p:cSld name="2_タイトル スライド">
    <p:bg>
      <p:bgPr>
        <a:solidFill>
          <a:schemeClr val="lt1"/>
        </a:solidFill>
        <a:effectLst/>
      </p:bgPr>
    </p:bg>
    <p:spTree>
      <p:nvGrpSpPr>
        <p:cNvPr id="1" name="Shape 137"/>
        <p:cNvGrpSpPr/>
        <p:nvPr/>
      </p:nvGrpSpPr>
      <p:grpSpPr>
        <a:xfrm>
          <a:off x="0" y="0"/>
          <a:ext cx="0" cy="0"/>
          <a:chOff x="0" y="0"/>
          <a:chExt cx="0" cy="0"/>
        </a:xfrm>
      </p:grpSpPr>
      <p:sp>
        <p:nvSpPr>
          <p:cNvPr id="138" name="Google Shape;138;g40a0e788958_0_242"/>
          <p:cNvSpPr txBox="1">
            <a:spLocks noGrp="1"/>
          </p:cNvSpPr>
          <p:nvPr>
            <p:ph type="ctrTitle"/>
          </p:nvPr>
        </p:nvSpPr>
        <p:spPr>
          <a:xfrm>
            <a:off x="199702" y="114790"/>
            <a:ext cx="8745000" cy="5649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600"/>
              <a:buFont typeface="Arial"/>
              <a:buNone/>
              <a:defRPr sz="36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39" name="Google Shape;139;g40a0e788958_0_242"/>
          <p:cNvSpPr txBox="1">
            <a:spLocks noGrp="1"/>
          </p:cNvSpPr>
          <p:nvPr>
            <p:ph type="subTitle" idx="1"/>
          </p:nvPr>
        </p:nvSpPr>
        <p:spPr>
          <a:xfrm>
            <a:off x="199704" y="806666"/>
            <a:ext cx="8745000" cy="35283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40" name="Google Shape;140;g40a0e788958_0_242"/>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pic>
        <p:nvPicPr>
          <p:cNvPr id="141" name="Google Shape;141;g40a0e788958_0_242"/>
          <p:cNvPicPr preferRelativeResize="0"/>
          <p:nvPr/>
        </p:nvPicPr>
        <p:blipFill rotWithShape="1">
          <a:blip r:embed="rId2">
            <a:alphaModFix/>
          </a:blip>
          <a:srcRect/>
          <a:stretch/>
        </p:blipFill>
        <p:spPr>
          <a:xfrm>
            <a:off x="93747" y="4805186"/>
            <a:ext cx="1064290" cy="290508"/>
          </a:xfrm>
          <a:prstGeom prst="rect">
            <a:avLst/>
          </a:prstGeom>
          <a:noFill/>
          <a:ln>
            <a:noFill/>
          </a:ln>
        </p:spPr>
      </p:pic>
      <p:sp>
        <p:nvSpPr>
          <p:cNvPr id="142" name="Google Shape;142;g40a0e788958_0_242"/>
          <p:cNvSpPr txBox="1">
            <a:spLocks noGrp="1"/>
          </p:cNvSpPr>
          <p:nvPr>
            <p:ph type="dt" idx="10"/>
          </p:nvPr>
        </p:nvSpPr>
        <p:spPr>
          <a:xfrm>
            <a:off x="18041" y="4870894"/>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3" name="Google Shape;143;g40a0e788958_0_242"/>
          <p:cNvSpPr txBox="1">
            <a:spLocks noGrp="1"/>
          </p:cNvSpPr>
          <p:nvPr>
            <p:ph type="sldNum" idx="12"/>
          </p:nvPr>
        </p:nvSpPr>
        <p:spPr>
          <a:xfrm>
            <a:off x="7020654" y="4872770"/>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
        <p:nvSpPr>
          <p:cNvPr id="144" name="Google Shape;144;g40a0e788958_0_242"/>
          <p:cNvSpPr txBox="1">
            <a:spLocks noGrp="1"/>
          </p:cNvSpPr>
          <p:nvPr>
            <p:ph type="ftr" idx="11"/>
          </p:nvPr>
        </p:nvSpPr>
        <p:spPr>
          <a:xfrm>
            <a:off x="3478808" y="4870894"/>
            <a:ext cx="15759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白紙" type="blank">
  <p:cSld name="BLANK">
    <p:spTree>
      <p:nvGrpSpPr>
        <p:cNvPr id="1" name="Shape 145"/>
        <p:cNvGrpSpPr/>
        <p:nvPr/>
      </p:nvGrpSpPr>
      <p:grpSpPr>
        <a:xfrm>
          <a:off x="0" y="0"/>
          <a:ext cx="0" cy="0"/>
          <a:chOff x="0" y="0"/>
          <a:chExt cx="0" cy="0"/>
        </a:xfrm>
      </p:grpSpPr>
      <p:sp>
        <p:nvSpPr>
          <p:cNvPr id="146" name="Google Shape;146;g40a0e788958_0_250"/>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7" name="Google Shape;147;g40a0e788958_0_250"/>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48" name="Google Shape;148;g40a0e788958_0_250"/>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3_タイトル スライド">
  <p:cSld name="3_タイトル スライド">
    <p:bg>
      <p:bgPr>
        <a:solidFill>
          <a:schemeClr val="lt1"/>
        </a:solidFill>
        <a:effectLst/>
      </p:bgPr>
    </p:bg>
    <p:spTree>
      <p:nvGrpSpPr>
        <p:cNvPr id="1" name="Shape 149"/>
        <p:cNvGrpSpPr/>
        <p:nvPr/>
      </p:nvGrpSpPr>
      <p:grpSpPr>
        <a:xfrm>
          <a:off x="0" y="0"/>
          <a:ext cx="0" cy="0"/>
          <a:chOff x="0" y="0"/>
          <a:chExt cx="0" cy="0"/>
        </a:xfrm>
      </p:grpSpPr>
      <p:sp>
        <p:nvSpPr>
          <p:cNvPr id="150" name="Google Shape;150;g40a0e788958_0_254"/>
          <p:cNvSpPr txBox="1">
            <a:spLocks noGrp="1"/>
          </p:cNvSpPr>
          <p:nvPr>
            <p:ph type="ctrTitle"/>
          </p:nvPr>
        </p:nvSpPr>
        <p:spPr>
          <a:xfrm>
            <a:off x="474697" y="166544"/>
            <a:ext cx="4542900" cy="564900"/>
          </a:xfrm>
          <a:prstGeom prst="rect">
            <a:avLst/>
          </a:prstGeom>
          <a:noFill/>
          <a:ln>
            <a:noFill/>
          </a:ln>
        </p:spPr>
        <p:txBody>
          <a:bodyPr spcFirstLastPara="1" wrap="square" lIns="91425" tIns="45700" rIns="91425" bIns="45700" anchor="b" anchorCtr="0">
            <a:noAutofit/>
          </a:bodyPr>
          <a:lstStyle>
            <a:lvl1pPr lvl="0" algn="l">
              <a:lnSpc>
                <a:spcPct val="90000"/>
              </a:lnSpc>
              <a:spcBef>
                <a:spcPts val="0"/>
              </a:spcBef>
              <a:spcAft>
                <a:spcPts val="0"/>
              </a:spcAft>
              <a:buClr>
                <a:schemeClr val="dk1"/>
              </a:buClr>
              <a:buSzPts val="3600"/>
              <a:buFont typeface="Arial"/>
              <a:buNone/>
              <a:defRPr sz="3600">
                <a:latin typeface="Arial"/>
                <a:ea typeface="Arial"/>
                <a:cs typeface="Arial"/>
                <a:sym typeface="Aria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1" name="Google Shape;151;g40a0e788958_0_254"/>
          <p:cNvSpPr txBox="1">
            <a:spLocks noGrp="1"/>
          </p:cNvSpPr>
          <p:nvPr>
            <p:ph type="subTitle" idx="1"/>
          </p:nvPr>
        </p:nvSpPr>
        <p:spPr>
          <a:xfrm>
            <a:off x="1265550" y="888463"/>
            <a:ext cx="6556500" cy="2448900"/>
          </a:xfrm>
          <a:prstGeom prst="rect">
            <a:avLst/>
          </a:prstGeom>
          <a:noFill/>
          <a:ln>
            <a:noFill/>
          </a:ln>
        </p:spPr>
        <p:txBody>
          <a:bodyPr spcFirstLastPara="1" wrap="square" lIns="91425" tIns="45700" rIns="91425" bIns="45700" anchor="t" anchorCtr="0">
            <a:normAutofit/>
          </a:bodyPr>
          <a:lstStyle>
            <a:lvl1pPr lvl="0" algn="l">
              <a:lnSpc>
                <a:spcPct val="90000"/>
              </a:lnSpc>
              <a:spcBef>
                <a:spcPts val="1000"/>
              </a:spcBef>
              <a:spcAft>
                <a:spcPts val="0"/>
              </a:spcAft>
              <a:buClr>
                <a:schemeClr val="dk1"/>
              </a:buClr>
              <a:buSzPts val="1600"/>
              <a:buNone/>
              <a:defRPr sz="1600">
                <a:latin typeface="Arial"/>
                <a:ea typeface="Arial"/>
                <a:cs typeface="Arial"/>
                <a:sym typeface="Arial"/>
              </a:defRPr>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a:endParaRPr/>
          </a:p>
        </p:txBody>
      </p:sp>
      <p:sp>
        <p:nvSpPr>
          <p:cNvPr id="152" name="Google Shape;152;g40a0e788958_0_254"/>
          <p:cNvSpPr txBox="1">
            <a:spLocks noGrp="1"/>
          </p:cNvSpPr>
          <p:nvPr>
            <p:ph type="dt" idx="10"/>
          </p:nvPr>
        </p:nvSpPr>
        <p:spPr>
          <a:xfrm>
            <a:off x="18041" y="4870894"/>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3" name="Google Shape;153;g40a0e788958_0_254"/>
          <p:cNvSpPr txBox="1">
            <a:spLocks noGrp="1"/>
          </p:cNvSpPr>
          <p:nvPr>
            <p:ph type="ftr" idx="11"/>
          </p:nvPr>
        </p:nvSpPr>
        <p:spPr>
          <a:xfrm>
            <a:off x="3115851" y="4837601"/>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54" name="Google Shape;154;g40a0e788958_0_254"/>
          <p:cNvSpPr txBox="1">
            <a:spLocks noGrp="1"/>
          </p:cNvSpPr>
          <p:nvPr>
            <p:ph type="sldNum" idx="12"/>
          </p:nvPr>
        </p:nvSpPr>
        <p:spPr>
          <a:xfrm>
            <a:off x="7020654" y="4837601"/>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
        <p:nvSpPr>
          <p:cNvPr id="155" name="Google Shape;155;g40a0e788958_0_254"/>
          <p:cNvSpPr/>
          <p:nvPr/>
        </p:nvSpPr>
        <p:spPr>
          <a:xfrm>
            <a:off x="-408729" y="876770"/>
            <a:ext cx="306600" cy="797100"/>
          </a:xfrm>
          <a:prstGeom prst="rect">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156" name="Google Shape;156;g40a0e788958_0_254"/>
          <p:cNvSpPr/>
          <p:nvPr/>
        </p:nvSpPr>
        <p:spPr>
          <a:xfrm>
            <a:off x="-408730" y="3349355"/>
            <a:ext cx="285900" cy="797100"/>
          </a:xfrm>
          <a:prstGeom prst="rect">
            <a:avLst/>
          </a:prstGeom>
          <a:solidFill>
            <a:srgbClr val="E0D8CE"/>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157" name="Google Shape;157;g40a0e788958_0_254"/>
          <p:cNvSpPr/>
          <p:nvPr/>
        </p:nvSpPr>
        <p:spPr>
          <a:xfrm>
            <a:off x="-398285" y="1691350"/>
            <a:ext cx="285900" cy="803100"/>
          </a:xfrm>
          <a:prstGeom prst="rect">
            <a:avLst/>
          </a:prstGeom>
          <a:solidFill>
            <a:srgbClr val="AB866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158" name="Google Shape;158;g40a0e788958_0_254"/>
          <p:cNvSpPr/>
          <p:nvPr/>
        </p:nvSpPr>
        <p:spPr>
          <a:xfrm>
            <a:off x="-410008" y="2529653"/>
            <a:ext cx="306600" cy="797100"/>
          </a:xfrm>
          <a:prstGeom prst="rect">
            <a:avLst/>
          </a:prstGeom>
          <a:solidFill>
            <a:srgbClr val="E5C4B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
        <p:nvSpPr>
          <p:cNvPr id="159" name="Google Shape;159;g40a0e788958_0_254"/>
          <p:cNvSpPr/>
          <p:nvPr/>
        </p:nvSpPr>
        <p:spPr>
          <a:xfrm>
            <a:off x="-408730" y="4209914"/>
            <a:ext cx="285900" cy="797100"/>
          </a:xfrm>
          <a:prstGeom prst="rect">
            <a:avLst/>
          </a:prstGeom>
          <a:solidFill>
            <a:srgbClr val="EBE9E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
        <p:nvSpPr>
          <p:cNvPr id="160" name="Google Shape;160;g40a0e788958_0_254"/>
          <p:cNvSpPr/>
          <p:nvPr/>
        </p:nvSpPr>
        <p:spPr>
          <a:xfrm>
            <a:off x="-408730" y="53243"/>
            <a:ext cx="306600" cy="797100"/>
          </a:xfrm>
          <a:prstGeom prst="rect">
            <a:avLst/>
          </a:prstGeom>
          <a:solidFill>
            <a:srgbClr val="AF001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350"/>
              <a:buFont typeface="Arial"/>
              <a:buNone/>
            </a:pPr>
            <a:endParaRPr sz="1350" b="0" i="0" u="none" strike="noStrike" cap="none">
              <a:solidFill>
                <a:schemeClr val="lt1"/>
              </a:solidFill>
              <a:latin typeface="Calibri"/>
              <a:ea typeface="Calibri"/>
              <a:cs typeface="Calibri"/>
              <a:sym typeface="Calibri"/>
            </a:endParaRPr>
          </a:p>
        </p:txBody>
      </p:sp>
    </p:spTree>
  </p:cSld>
  <p:clrMapOvr>
    <a:masterClrMapping/>
  </p:clrMapOvr>
  <p:extLst>
    <p:ext uri="{DCECCB84-F9BA-43D5-87BE-67443E8EF086}">
      <p15:sldGuideLst xmlns:p15="http://schemas.microsoft.com/office/powerpoint/2012/main">
        <p15:guide id="1" orient="horz" pos="1620">
          <p15:clr>
            <a:srgbClr val="FBAE40"/>
          </p15:clr>
        </p15:guide>
        <p15:guide id="2" pos="2880">
          <p15:clr>
            <a:srgbClr val="FBAE4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タイトルとコンテンツ" type="obj">
  <p:cSld name="OBJECT">
    <p:spTree>
      <p:nvGrpSpPr>
        <p:cNvPr id="1" name="Shape 161"/>
        <p:cNvGrpSpPr/>
        <p:nvPr/>
      </p:nvGrpSpPr>
      <p:grpSpPr>
        <a:xfrm>
          <a:off x="0" y="0"/>
          <a:ext cx="0" cy="0"/>
          <a:chOff x="0" y="0"/>
          <a:chExt cx="0" cy="0"/>
        </a:xfrm>
      </p:grpSpPr>
      <p:sp>
        <p:nvSpPr>
          <p:cNvPr id="162" name="Google Shape;162;g40a0e788958_0_266"/>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3" name="Google Shape;163;g40a0e788958_0_266"/>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64" name="Google Shape;164;g40a0e788958_0_266"/>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5" name="Google Shape;165;g40a0e788958_0_266"/>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6" name="Google Shape;166;g40a0e788958_0_266"/>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セクション見出し" type="secHead">
  <p:cSld name="SECTION_HEADER">
    <p:spTree>
      <p:nvGrpSpPr>
        <p:cNvPr id="1" name="Shape 167"/>
        <p:cNvGrpSpPr/>
        <p:nvPr/>
      </p:nvGrpSpPr>
      <p:grpSpPr>
        <a:xfrm>
          <a:off x="0" y="0"/>
          <a:ext cx="0" cy="0"/>
          <a:chOff x="0" y="0"/>
          <a:chExt cx="0" cy="0"/>
        </a:xfrm>
      </p:grpSpPr>
      <p:sp>
        <p:nvSpPr>
          <p:cNvPr id="168" name="Google Shape;168;g40a0e788958_0_272"/>
          <p:cNvSpPr txBox="1">
            <a:spLocks noGrp="1"/>
          </p:cNvSpPr>
          <p:nvPr>
            <p:ph type="title"/>
          </p:nvPr>
        </p:nvSpPr>
        <p:spPr>
          <a:xfrm>
            <a:off x="623888" y="1282304"/>
            <a:ext cx="7886700" cy="21396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69" name="Google Shape;169;g40a0e788958_0_272"/>
          <p:cNvSpPr txBox="1">
            <a:spLocks noGrp="1"/>
          </p:cNvSpPr>
          <p:nvPr>
            <p:ph type="body" idx="1"/>
          </p:nvPr>
        </p:nvSpPr>
        <p:spPr>
          <a:xfrm>
            <a:off x="623888" y="3442098"/>
            <a:ext cx="7886700" cy="1125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2400"/>
              <a:buNone/>
              <a:defRPr sz="2400">
                <a:solidFill>
                  <a:schemeClr val="dk1"/>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170" name="Google Shape;170;g40a0e788958_0_272"/>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1" name="Google Shape;171;g40a0e788958_0_272"/>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2" name="Google Shape;172;g40a0e788958_0_272"/>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2 つのコンテンツ" type="twoObj">
  <p:cSld name="TWO_OBJECTS">
    <p:spTree>
      <p:nvGrpSpPr>
        <p:cNvPr id="1" name="Shape 173"/>
        <p:cNvGrpSpPr/>
        <p:nvPr/>
      </p:nvGrpSpPr>
      <p:grpSpPr>
        <a:xfrm>
          <a:off x="0" y="0"/>
          <a:ext cx="0" cy="0"/>
          <a:chOff x="0" y="0"/>
          <a:chExt cx="0" cy="0"/>
        </a:xfrm>
      </p:grpSpPr>
      <p:sp>
        <p:nvSpPr>
          <p:cNvPr id="174" name="Google Shape;174;g40a0e788958_0_278"/>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5" name="Google Shape;175;g40a0e788958_0_278"/>
          <p:cNvSpPr txBox="1">
            <a:spLocks noGrp="1"/>
          </p:cNvSpPr>
          <p:nvPr>
            <p:ph type="body" idx="1"/>
          </p:nvPr>
        </p:nvSpPr>
        <p:spPr>
          <a:xfrm>
            <a:off x="628650" y="1369219"/>
            <a:ext cx="3886200" cy="326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6" name="Google Shape;176;g40a0e788958_0_278"/>
          <p:cNvSpPr txBox="1">
            <a:spLocks noGrp="1"/>
          </p:cNvSpPr>
          <p:nvPr>
            <p:ph type="body" idx="2"/>
          </p:nvPr>
        </p:nvSpPr>
        <p:spPr>
          <a:xfrm>
            <a:off x="4629150" y="1369219"/>
            <a:ext cx="3886200" cy="3263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77" name="Google Shape;177;g40a0e788958_0_278"/>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8" name="Google Shape;178;g40a0e788958_0_278"/>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9" name="Google Shape;179;g40a0e788958_0_278"/>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比較" type="twoTxTwoObj">
  <p:cSld name="TWO_OBJECTS_WITH_TEXT">
    <p:spTree>
      <p:nvGrpSpPr>
        <p:cNvPr id="1" name="Shape 180"/>
        <p:cNvGrpSpPr/>
        <p:nvPr/>
      </p:nvGrpSpPr>
      <p:grpSpPr>
        <a:xfrm>
          <a:off x="0" y="0"/>
          <a:ext cx="0" cy="0"/>
          <a:chOff x="0" y="0"/>
          <a:chExt cx="0" cy="0"/>
        </a:xfrm>
      </p:grpSpPr>
      <p:sp>
        <p:nvSpPr>
          <p:cNvPr id="181" name="Google Shape;181;g40a0e788958_0_285"/>
          <p:cNvSpPr txBox="1">
            <a:spLocks noGrp="1"/>
          </p:cNvSpPr>
          <p:nvPr>
            <p:ph type="title"/>
          </p:nvPr>
        </p:nvSpPr>
        <p:spPr>
          <a:xfrm>
            <a:off x="629841"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2" name="Google Shape;182;g40a0e788958_0_285"/>
          <p:cNvSpPr txBox="1">
            <a:spLocks noGrp="1"/>
          </p:cNvSpPr>
          <p:nvPr>
            <p:ph type="body" idx="1"/>
          </p:nvPr>
        </p:nvSpPr>
        <p:spPr>
          <a:xfrm>
            <a:off x="629842" y="1260872"/>
            <a:ext cx="3868200" cy="6180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3" name="Google Shape;183;g40a0e788958_0_285"/>
          <p:cNvSpPr txBox="1">
            <a:spLocks noGrp="1"/>
          </p:cNvSpPr>
          <p:nvPr>
            <p:ph type="body" idx="2"/>
          </p:nvPr>
        </p:nvSpPr>
        <p:spPr>
          <a:xfrm>
            <a:off x="629842" y="1878806"/>
            <a:ext cx="3868200" cy="2763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4" name="Google Shape;184;g40a0e788958_0_285"/>
          <p:cNvSpPr txBox="1">
            <a:spLocks noGrp="1"/>
          </p:cNvSpPr>
          <p:nvPr>
            <p:ph type="body" idx="3"/>
          </p:nvPr>
        </p:nvSpPr>
        <p:spPr>
          <a:xfrm>
            <a:off x="4629150" y="1260872"/>
            <a:ext cx="3887400" cy="6180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185" name="Google Shape;185;g40a0e788958_0_285"/>
          <p:cNvSpPr txBox="1">
            <a:spLocks noGrp="1"/>
          </p:cNvSpPr>
          <p:nvPr>
            <p:ph type="body" idx="4"/>
          </p:nvPr>
        </p:nvSpPr>
        <p:spPr>
          <a:xfrm>
            <a:off x="4629150" y="1878806"/>
            <a:ext cx="3887400" cy="2763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186" name="Google Shape;186;g40a0e788958_0_285"/>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7" name="Google Shape;187;g40a0e788958_0_285"/>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8" name="Google Shape;188;g40a0e788958_0_285"/>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タイトルのみ" type="titleOnly">
  <p:cSld name="TITLE_ONLY">
    <p:spTree>
      <p:nvGrpSpPr>
        <p:cNvPr id="1" name="Shape 189"/>
        <p:cNvGrpSpPr/>
        <p:nvPr/>
      </p:nvGrpSpPr>
      <p:grpSpPr>
        <a:xfrm>
          <a:off x="0" y="0"/>
          <a:ext cx="0" cy="0"/>
          <a:chOff x="0" y="0"/>
          <a:chExt cx="0" cy="0"/>
        </a:xfrm>
      </p:grpSpPr>
      <p:sp>
        <p:nvSpPr>
          <p:cNvPr id="190" name="Google Shape;190;g40a0e788958_0_294"/>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1" name="Google Shape;191;g40a0e788958_0_294"/>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2" name="Google Shape;192;g40a0e788958_0_294"/>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3" name="Google Shape;193;g40a0e788958_0_294"/>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タイトル付きのコンテンツ" type="objTx">
  <p:cSld name="OBJECT_WITH_CAPTION_TEXT">
    <p:spTree>
      <p:nvGrpSpPr>
        <p:cNvPr id="1" name="Shape 194"/>
        <p:cNvGrpSpPr/>
        <p:nvPr/>
      </p:nvGrpSpPr>
      <p:grpSpPr>
        <a:xfrm>
          <a:off x="0" y="0"/>
          <a:ext cx="0" cy="0"/>
          <a:chOff x="0" y="0"/>
          <a:chExt cx="0" cy="0"/>
        </a:xfrm>
      </p:grpSpPr>
      <p:sp>
        <p:nvSpPr>
          <p:cNvPr id="195" name="Google Shape;195;g40a0e788958_0_299"/>
          <p:cNvSpPr txBox="1">
            <a:spLocks noGrp="1"/>
          </p:cNvSpPr>
          <p:nvPr>
            <p:ph type="title"/>
          </p:nvPr>
        </p:nvSpPr>
        <p:spPr>
          <a:xfrm>
            <a:off x="629841" y="342900"/>
            <a:ext cx="2949300" cy="12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6" name="Google Shape;196;g40a0e788958_0_299"/>
          <p:cNvSpPr txBox="1">
            <a:spLocks noGrp="1"/>
          </p:cNvSpPr>
          <p:nvPr>
            <p:ph type="body" idx="1"/>
          </p:nvPr>
        </p:nvSpPr>
        <p:spPr>
          <a:xfrm>
            <a:off x="3887391" y="740570"/>
            <a:ext cx="4629300" cy="3655200"/>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197" name="Google Shape;197;g40a0e788958_0_299"/>
          <p:cNvSpPr txBox="1">
            <a:spLocks noGrp="1"/>
          </p:cNvSpPr>
          <p:nvPr>
            <p:ph type="body" idx="2"/>
          </p:nvPr>
        </p:nvSpPr>
        <p:spPr>
          <a:xfrm>
            <a:off x="629841" y="1543050"/>
            <a:ext cx="2949300" cy="2858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198" name="Google Shape;198;g40a0e788958_0_299"/>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99" name="Google Shape;199;g40a0e788958_0_299"/>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0" name="Google Shape;200;g40a0e788958_0_299"/>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タイトル付きの図" type="picTx">
  <p:cSld name="PICTURE_WITH_CAPTION_TEXT">
    <p:spTree>
      <p:nvGrpSpPr>
        <p:cNvPr id="1" name="Shape 201"/>
        <p:cNvGrpSpPr/>
        <p:nvPr/>
      </p:nvGrpSpPr>
      <p:grpSpPr>
        <a:xfrm>
          <a:off x="0" y="0"/>
          <a:ext cx="0" cy="0"/>
          <a:chOff x="0" y="0"/>
          <a:chExt cx="0" cy="0"/>
        </a:xfrm>
      </p:grpSpPr>
      <p:sp>
        <p:nvSpPr>
          <p:cNvPr id="202" name="Google Shape;202;g40a0e788958_0_306"/>
          <p:cNvSpPr txBox="1">
            <a:spLocks noGrp="1"/>
          </p:cNvSpPr>
          <p:nvPr>
            <p:ph type="title"/>
          </p:nvPr>
        </p:nvSpPr>
        <p:spPr>
          <a:xfrm>
            <a:off x="629841" y="342900"/>
            <a:ext cx="2949300" cy="12003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3" name="Google Shape;203;g40a0e788958_0_306"/>
          <p:cNvSpPr>
            <a:spLocks noGrp="1"/>
          </p:cNvSpPr>
          <p:nvPr>
            <p:ph type="pic" idx="2"/>
          </p:nvPr>
        </p:nvSpPr>
        <p:spPr>
          <a:xfrm>
            <a:off x="3887391" y="740570"/>
            <a:ext cx="4629300" cy="3655200"/>
          </a:xfrm>
          <a:prstGeom prst="rect">
            <a:avLst/>
          </a:prstGeom>
          <a:noFill/>
          <a:ln>
            <a:noFill/>
          </a:ln>
        </p:spPr>
      </p:sp>
      <p:sp>
        <p:nvSpPr>
          <p:cNvPr id="204" name="Google Shape;204;g40a0e788958_0_306"/>
          <p:cNvSpPr txBox="1">
            <a:spLocks noGrp="1"/>
          </p:cNvSpPr>
          <p:nvPr>
            <p:ph type="body" idx="1"/>
          </p:nvPr>
        </p:nvSpPr>
        <p:spPr>
          <a:xfrm>
            <a:off x="629841" y="1543050"/>
            <a:ext cx="2949300" cy="28587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205" name="Google Shape;205;g40a0e788958_0_306"/>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6" name="Google Shape;206;g40a0e788958_0_306"/>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07" name="Google Shape;207;g40a0e788958_0_306"/>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タイトルと縦書きテキスト" type="vertTx">
  <p:cSld name="VERTICAL_TEXT">
    <p:spTree>
      <p:nvGrpSpPr>
        <p:cNvPr id="1" name="Shape 208"/>
        <p:cNvGrpSpPr/>
        <p:nvPr/>
      </p:nvGrpSpPr>
      <p:grpSpPr>
        <a:xfrm>
          <a:off x="0" y="0"/>
          <a:ext cx="0" cy="0"/>
          <a:chOff x="0" y="0"/>
          <a:chExt cx="0" cy="0"/>
        </a:xfrm>
      </p:grpSpPr>
      <p:sp>
        <p:nvSpPr>
          <p:cNvPr id="209" name="Google Shape;209;g40a0e788958_0_313"/>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0" name="Google Shape;210;g40a0e788958_0_313"/>
          <p:cNvSpPr txBox="1">
            <a:spLocks noGrp="1"/>
          </p:cNvSpPr>
          <p:nvPr>
            <p:ph type="body" idx="1"/>
          </p:nvPr>
        </p:nvSpPr>
        <p:spPr>
          <a:xfrm rot="5400000">
            <a:off x="2940300" y="-942431"/>
            <a:ext cx="3263400" cy="78867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1" name="Google Shape;211;g40a0e788958_0_313"/>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2" name="Google Shape;212;g40a0e788958_0_313"/>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3" name="Google Shape;213;g40a0e788958_0_31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縦書きタイトルと&#10;縦書きテキスト" type="vertTitleAndTx">
  <p:cSld name="VERTICAL_TITLE_AND_VERTICAL_TEXT">
    <p:spTree>
      <p:nvGrpSpPr>
        <p:cNvPr id="1" name="Shape 214"/>
        <p:cNvGrpSpPr/>
        <p:nvPr/>
      </p:nvGrpSpPr>
      <p:grpSpPr>
        <a:xfrm>
          <a:off x="0" y="0"/>
          <a:ext cx="0" cy="0"/>
          <a:chOff x="0" y="0"/>
          <a:chExt cx="0" cy="0"/>
        </a:xfrm>
      </p:grpSpPr>
      <p:sp>
        <p:nvSpPr>
          <p:cNvPr id="215" name="Google Shape;215;g40a0e788958_0_319"/>
          <p:cNvSpPr txBox="1">
            <a:spLocks noGrp="1"/>
          </p:cNvSpPr>
          <p:nvPr>
            <p:ph type="title"/>
          </p:nvPr>
        </p:nvSpPr>
        <p:spPr>
          <a:xfrm rot="5400000">
            <a:off x="5350051" y="1467544"/>
            <a:ext cx="4359000" cy="19716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6" name="Google Shape;216;g40a0e788958_0_319"/>
          <p:cNvSpPr txBox="1">
            <a:spLocks noGrp="1"/>
          </p:cNvSpPr>
          <p:nvPr>
            <p:ph type="body" idx="1"/>
          </p:nvPr>
        </p:nvSpPr>
        <p:spPr>
          <a:xfrm rot="5400000">
            <a:off x="1349475" y="-447057"/>
            <a:ext cx="4359000" cy="58008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17" name="Google Shape;217;g40a0e788958_0_319"/>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8" name="Google Shape;218;g40a0e788958_0_319"/>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9" name="Google Shape;219;g40a0e788958_0_319"/>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 Id="rId17"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slideLayout" Target="../slideLayouts/slideLayout20.xml"/><Relationship Id="rId3" Type="http://schemas.openxmlformats.org/officeDocument/2006/relationships/slideLayout" Target="../slideLayouts/slideLayout21.xml"/><Relationship Id="rId4" Type="http://schemas.openxmlformats.org/officeDocument/2006/relationships/slideLayout" Target="../slideLayouts/slideLayout22.xml"/><Relationship Id="rId5" Type="http://schemas.openxmlformats.org/officeDocument/2006/relationships/slideLayout" Target="../slideLayouts/slideLayout23.xml"/><Relationship Id="rId6" Type="http://schemas.openxmlformats.org/officeDocument/2006/relationships/slideLayout" Target="../slideLayouts/slideLayout24.xml"/><Relationship Id="rId7" Type="http://schemas.openxmlformats.org/officeDocument/2006/relationships/slideLayout" Target="../slideLayouts/slideLayout25.xml"/><Relationship Id="rId8" Type="http://schemas.openxmlformats.org/officeDocument/2006/relationships/slideLayout" Target="../slideLayouts/slideLayout26.xml"/><Relationship Id="rId9" Type="http://schemas.openxmlformats.org/officeDocument/2006/relationships/slideLayout" Target="../slideLayouts/slideLayout27.xml"/><Relationship Id="rId10" Type="http://schemas.openxmlformats.org/officeDocument/2006/relationships/slideLayout" Target="../slideLayouts/slideLayout28.xml"/><Relationship Id="rId11" Type="http://schemas.openxmlformats.org/officeDocument/2006/relationships/slideLayout" Target="../slideLayouts/slideLayout29.xml"/><Relationship Id="rId12" Type="http://schemas.openxmlformats.org/officeDocument/2006/relationships/slideLayout" Target="../slideLayouts/slideLayout30.xml"/><Relationship Id="rId13" Type="http://schemas.openxmlformats.org/officeDocument/2006/relationships/slideLayout" Target="../slideLayouts/slideLayout31.xml"/><Relationship Id="rId14" Type="http://schemas.openxmlformats.org/officeDocument/2006/relationships/slideLayout" Target="../slideLayouts/slideLayout32.xml"/><Relationship Id="rId15"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18"/>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7" name="Google Shape;7;p18"/>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8" name="Google Shape;8;p18"/>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9" name="Google Shape;9;p18"/>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10" name="Google Shape;10;p18"/>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pic>
        <p:nvPicPr>
          <p:cNvPr id="11" name="Google Shape;11;p18"/>
          <p:cNvPicPr preferRelativeResize="0"/>
          <p:nvPr/>
        </p:nvPicPr>
        <p:blipFill rotWithShape="1">
          <a:blip r:embed="rId17">
            <a:alphaModFix/>
          </a:blip>
          <a:srcRect/>
          <a:stretch/>
        </p:blipFill>
        <p:spPr>
          <a:xfrm>
            <a:off x="7486650" y="102393"/>
            <a:ext cx="1448976" cy="407525"/>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4"/>
        <p:cNvGrpSpPr/>
        <p:nvPr/>
      </p:nvGrpSpPr>
      <p:grpSpPr>
        <a:xfrm>
          <a:off x="0" y="0"/>
          <a:ext cx="0" cy="0"/>
          <a:chOff x="0" y="0"/>
          <a:chExt cx="0" cy="0"/>
        </a:xfrm>
      </p:grpSpPr>
      <p:sp>
        <p:nvSpPr>
          <p:cNvPr id="95" name="Google Shape;95;p21"/>
          <p:cNvSpPr txBox="1">
            <a:spLocks noGrp="1"/>
          </p:cNvSpPr>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a:buNone/>
              <a:defRPr sz="33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rgbClr val="000000"/>
                </a:solidFill>
                <a:latin typeface="Arial"/>
                <a:ea typeface="Arial"/>
                <a:cs typeface="Arial"/>
                <a:sym typeface="Arial"/>
              </a:defRPr>
            </a:lvl9pPr>
          </a:lstStyle>
          <a:p>
            <a:endParaRPr/>
          </a:p>
        </p:txBody>
      </p:sp>
      <p:sp>
        <p:nvSpPr>
          <p:cNvPr id="96" name="Google Shape;96;p21"/>
          <p:cNvSpPr txBox="1">
            <a:spLocks noGrp="1"/>
          </p:cNvSpPr>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a:buChar char="•"/>
              <a:defRPr sz="2100" b="0" i="0" u="none" strike="noStrike" cap="none">
                <a:solidFill>
                  <a:schemeClr val="dk1"/>
                </a:solidFill>
                <a:latin typeface="Arial"/>
                <a:ea typeface="Arial"/>
                <a:cs typeface="Arial"/>
                <a:sym typeface="Arial"/>
              </a:defRPr>
            </a:lvl1pPr>
            <a:lvl2pPr marL="914400" marR="0" lvl="1" indent="-342900" algn="l" rtl="0">
              <a:lnSpc>
                <a:spcPct val="90000"/>
              </a:lnSpc>
              <a:spcBef>
                <a:spcPts val="400"/>
              </a:spcBef>
              <a:spcAft>
                <a:spcPts val="0"/>
              </a:spcAft>
              <a:buClr>
                <a:schemeClr val="dk1"/>
              </a:buClr>
              <a:buSzPts val="1800"/>
              <a:buFont typeface="Arial"/>
              <a:buChar char="•"/>
              <a:defRPr sz="1800" b="0" i="0" u="none" strike="noStrike" cap="none">
                <a:solidFill>
                  <a:schemeClr val="dk1"/>
                </a:solidFill>
                <a:latin typeface="Arial"/>
                <a:ea typeface="Arial"/>
                <a:cs typeface="Arial"/>
                <a:sym typeface="Arial"/>
              </a:defRPr>
            </a:lvl2pPr>
            <a:lvl3pPr marL="1371600" marR="0" lvl="2" indent="-323850" algn="l" rtl="0">
              <a:lnSpc>
                <a:spcPct val="90000"/>
              </a:lnSpc>
              <a:spcBef>
                <a:spcPts val="400"/>
              </a:spcBef>
              <a:spcAft>
                <a:spcPts val="0"/>
              </a:spcAft>
              <a:buClr>
                <a:schemeClr val="dk1"/>
              </a:buClr>
              <a:buSzPts val="1500"/>
              <a:buFont typeface="Arial"/>
              <a:buChar char="•"/>
              <a:defRPr sz="1500" b="0" i="0" u="none" strike="noStrike" cap="none">
                <a:solidFill>
                  <a:schemeClr val="dk1"/>
                </a:solidFill>
                <a:latin typeface="Arial"/>
                <a:ea typeface="Arial"/>
                <a:cs typeface="Arial"/>
                <a:sym typeface="Arial"/>
              </a:defRPr>
            </a:lvl3pPr>
            <a:lvl4pPr marL="1828800" marR="0" lvl="3"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4pPr>
            <a:lvl5pPr marL="2286000" marR="0" lvl="4"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5pPr>
            <a:lvl6pPr marL="2743200" marR="0" lvl="5"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6pPr>
            <a:lvl7pPr marL="3200400" marR="0" lvl="6"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7pPr>
            <a:lvl8pPr marL="3657600" marR="0" lvl="7"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8pPr>
            <a:lvl9pPr marL="4114800" marR="0" lvl="8" indent="-317500" algn="l" rtl="0">
              <a:lnSpc>
                <a:spcPct val="90000"/>
              </a:lnSpc>
              <a:spcBef>
                <a:spcPts val="400"/>
              </a:spcBef>
              <a:spcAft>
                <a:spcPts val="0"/>
              </a:spcAft>
              <a:buClr>
                <a:schemeClr val="dk1"/>
              </a:buClr>
              <a:buSzPts val="1400"/>
              <a:buFont typeface="Arial"/>
              <a:buChar char="•"/>
              <a:defRPr sz="1400" b="0" i="0" u="none" strike="noStrike" cap="none">
                <a:solidFill>
                  <a:schemeClr val="dk1"/>
                </a:solidFill>
                <a:latin typeface="Arial"/>
                <a:ea typeface="Arial"/>
                <a:cs typeface="Arial"/>
                <a:sym typeface="Arial"/>
              </a:defRPr>
            </a:lvl9pPr>
          </a:lstStyle>
          <a:p>
            <a:endParaRPr/>
          </a:p>
        </p:txBody>
      </p:sp>
      <p:sp>
        <p:nvSpPr>
          <p:cNvPr id="97" name="Google Shape;97;p21"/>
          <p:cNvSpPr txBox="1">
            <a:spLocks noGrp="1"/>
          </p:cNvSpPr>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98" name="Google Shape;98;p21"/>
          <p:cNvSpPr txBox="1">
            <a:spLocks noGrp="1"/>
          </p:cNvSpPr>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9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400" b="0" i="0" u="none" strike="noStrike" cap="none">
                <a:solidFill>
                  <a:schemeClr val="dk1"/>
                </a:solidFill>
                <a:latin typeface="Arial"/>
                <a:ea typeface="Arial"/>
                <a:cs typeface="Arial"/>
                <a:sym typeface="Arial"/>
              </a:defRPr>
            </a:lvl9pPr>
          </a:lstStyle>
          <a:p>
            <a:endParaRPr/>
          </a:p>
        </p:txBody>
      </p:sp>
      <p:sp>
        <p:nvSpPr>
          <p:cNvPr id="99" name="Google Shape;99;p21"/>
          <p:cNvSpPr txBox="1">
            <a:spLocks noGrp="1"/>
          </p:cNvSpPr>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ja"/>
              <a:t>‹#›</a:t>
            </a:fld>
            <a:endParaRPr/>
          </a:p>
        </p:txBody>
      </p:sp>
      <p:sp>
        <p:nvSpPr>
          <p:cNvPr id="100" name="Google Shape;100;p21"/>
          <p:cNvSpPr/>
          <p:nvPr/>
        </p:nvSpPr>
        <p:spPr>
          <a:xfrm>
            <a:off x="781050" y="-800100"/>
            <a:ext cx="628650" cy="698500"/>
          </a:xfrm>
          <a:prstGeom prst="rect">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1" name="Google Shape;101;p21"/>
          <p:cNvSpPr/>
          <p:nvPr/>
        </p:nvSpPr>
        <p:spPr>
          <a:xfrm>
            <a:off x="1530350" y="-800100"/>
            <a:ext cx="628650" cy="698500"/>
          </a:xfrm>
          <a:prstGeom prst="rect">
            <a:avLst/>
          </a:prstGeom>
          <a:solidFill>
            <a:srgbClr val="C68A65"/>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2" name="Google Shape;102;p21"/>
          <p:cNvSpPr/>
          <p:nvPr/>
        </p:nvSpPr>
        <p:spPr>
          <a:xfrm>
            <a:off x="2279650" y="-800100"/>
            <a:ext cx="628650" cy="698500"/>
          </a:xfrm>
          <a:prstGeom prst="rect">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3" name="Google Shape;103;p21"/>
          <p:cNvSpPr/>
          <p:nvPr/>
        </p:nvSpPr>
        <p:spPr>
          <a:xfrm>
            <a:off x="3028950" y="-800100"/>
            <a:ext cx="628650" cy="698500"/>
          </a:xfrm>
          <a:prstGeom prst="rect">
            <a:avLst/>
          </a:prstGeom>
          <a:solidFill>
            <a:srgbClr val="1C1E2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104" name="Google Shape;104;p21"/>
          <p:cNvSpPr/>
          <p:nvPr/>
        </p:nvSpPr>
        <p:spPr>
          <a:xfrm>
            <a:off x="0" y="-800100"/>
            <a:ext cx="628650" cy="698500"/>
          </a:xfrm>
          <a:prstGeom prst="rect">
            <a:avLst/>
          </a:prstGeom>
          <a:solidFill>
            <a:srgbClr val="FFFFF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65" r:id="rId1"/>
    <p:sldLayoutId id="2147483666" r:id="rId2"/>
    <p:sldLayoutId id="2147483667" r:id="rId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8"/>
        <p:cNvGrpSpPr/>
        <p:nvPr/>
      </p:nvGrpSpPr>
      <p:grpSpPr>
        <a:xfrm>
          <a:off x="0" y="0"/>
          <a:ext cx="0" cy="0"/>
          <a:chOff x="0" y="0"/>
          <a:chExt cx="0" cy="0"/>
        </a:xfrm>
      </p:grpSpPr>
      <p:sp>
        <p:nvSpPr>
          <p:cNvPr id="119" name="Google Shape;119;g40a0e788958_0_223"/>
          <p:cNvSpPr txBox="1">
            <a:spLocks noGrp="1"/>
          </p:cNvSpPr>
          <p:nvPr>
            <p:ph type="title"/>
          </p:nvPr>
        </p:nvSpPr>
        <p:spPr>
          <a:xfrm>
            <a:off x="628650" y="273844"/>
            <a:ext cx="7886700" cy="994200"/>
          </a:xfrm>
          <a:prstGeom prst="rect">
            <a:avLst/>
          </a:prstGeom>
          <a:noFill/>
          <a:ln>
            <a:noFill/>
          </a:ln>
        </p:spPr>
        <p:txBody>
          <a:bodyPr spcFirstLastPara="1" wrap="square" lIns="91425" tIns="45700" rIns="91425" bIns="45700" anchor="ctr" anchorCtr="0">
            <a:normAutofit/>
          </a:bodyPr>
          <a:lstStyle>
            <a:lvl1pPr marR="0" lvl="0" algn="l">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20" name="Google Shape;120;g40a0e788958_0_223"/>
          <p:cNvSpPr txBox="1">
            <a:spLocks noGrp="1"/>
          </p:cNvSpPr>
          <p:nvPr>
            <p:ph type="body" idx="1"/>
          </p:nvPr>
        </p:nvSpPr>
        <p:spPr>
          <a:xfrm>
            <a:off x="628650" y="1369219"/>
            <a:ext cx="7886700" cy="3263400"/>
          </a:xfrm>
          <a:prstGeom prst="rect">
            <a:avLst/>
          </a:prstGeom>
          <a:noFill/>
          <a:ln>
            <a:noFill/>
          </a:ln>
        </p:spPr>
        <p:txBody>
          <a:bodyPr spcFirstLastPara="1" wrap="square" lIns="91425" tIns="45700" rIns="91425" bIns="45700" anchor="t" anchorCtr="0">
            <a:normAutofit/>
          </a:bodyPr>
          <a:lstStyle>
            <a:lvl1pPr marL="457200" marR="0" lvl="0" indent="-406400" algn="l">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121" name="Google Shape;121;g40a0e788958_0_223"/>
          <p:cNvSpPr txBox="1">
            <a:spLocks noGrp="1"/>
          </p:cNvSpPr>
          <p:nvPr>
            <p:ph type="dt" idx="10"/>
          </p:nvPr>
        </p:nvSpPr>
        <p:spPr>
          <a:xfrm>
            <a:off x="628650" y="4767263"/>
            <a:ext cx="2057400" cy="273900"/>
          </a:xfrm>
          <a:prstGeom prst="rect">
            <a:avLst/>
          </a:prstGeom>
          <a:noFill/>
          <a:ln>
            <a:noFill/>
          </a:ln>
        </p:spPr>
        <p:txBody>
          <a:bodyPr spcFirstLastPara="1" wrap="square" lIns="91425" tIns="45700" rIns="91425" bIns="45700" anchor="ctr" anchorCtr="0">
            <a:noAutofit/>
          </a:bodyPr>
          <a:lstStyle>
            <a:lvl1pPr marR="0" lvl="0" algn="l">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2" name="Google Shape;122;g40a0e788958_0_223"/>
          <p:cNvSpPr txBox="1">
            <a:spLocks noGrp="1"/>
          </p:cNvSpPr>
          <p:nvPr>
            <p:ph type="ftr" idx="11"/>
          </p:nvPr>
        </p:nvSpPr>
        <p:spPr>
          <a:xfrm>
            <a:off x="3028950" y="4767263"/>
            <a:ext cx="3086100" cy="273900"/>
          </a:xfrm>
          <a:prstGeom prst="rect">
            <a:avLst/>
          </a:prstGeom>
          <a:noFill/>
          <a:ln>
            <a:noFill/>
          </a:ln>
        </p:spPr>
        <p:txBody>
          <a:bodyPr spcFirstLastPara="1" wrap="square" lIns="91425" tIns="45700" rIns="91425" bIns="45700" anchor="ctr" anchorCtr="0">
            <a:noAutofit/>
          </a:bodyPr>
          <a:lstStyle>
            <a:lvl1pPr marR="0" lvl="0" algn="ctr">
              <a:lnSpc>
                <a:spcPct val="100000"/>
              </a:lnSpc>
              <a:spcBef>
                <a:spcPts val="0"/>
              </a:spcBef>
              <a:spcAft>
                <a:spcPts val="0"/>
              </a:spcAft>
              <a:buClr>
                <a:srgbClr val="000000"/>
              </a:buClr>
              <a:buSzPts val="1400"/>
              <a:buFont typeface="Arial"/>
              <a:buNone/>
              <a:defRPr sz="1200" b="0" i="0" u="none" strike="noStrike" cap="none">
                <a:solidFill>
                  <a:srgbClr val="888888"/>
                </a:solidFill>
                <a:latin typeface="Calibri"/>
                <a:ea typeface="Calibri"/>
                <a:cs typeface="Calibri"/>
                <a:sym typeface="Calibri"/>
              </a:defRPr>
            </a:lvl1pPr>
            <a:lvl2pPr marR="0" lvl="1"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23" name="Google Shape;123;g40a0e788958_0_223"/>
          <p:cNvSpPr txBox="1">
            <a:spLocks noGrp="1"/>
          </p:cNvSpPr>
          <p:nvPr>
            <p:ph type="sldNum" idx="12"/>
          </p:nvPr>
        </p:nvSpPr>
        <p:spPr>
          <a:xfrm>
            <a:off x="6457950" y="4767263"/>
            <a:ext cx="2057400" cy="273900"/>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200"/>
              <a:buFont typeface="Arial"/>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ja"/>
              <a:t>‹#›</a:t>
            </a:fld>
            <a:endParaRPr/>
          </a:p>
        </p:txBody>
      </p:sp>
    </p:spTree>
  </p:cSld>
  <p:clrMap bg1="lt1" tx1="dk1" bg2="dk2" tx2="lt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 id="2147483680" r:id="rId12"/>
    <p:sldLayoutId id="2147483681" r:id="rId13"/>
    <p:sldLayoutId id="2147483682" r:id="rId14"/>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orient="horz" pos="1620">
          <p15:clr>
            <a:srgbClr val="F26B43"/>
          </p15:clr>
        </p15:guide>
        <p15:guide id="2" pos="288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xml"/><Relationship Id="rId3"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image" Target="../media/image17.png"/><Relationship Id="rId10" Type="http://schemas.openxmlformats.org/officeDocument/2006/relationships/image" Target="../media/image18.png"/><Relationship Id="rId11" Type="http://schemas.openxmlformats.org/officeDocument/2006/relationships/image" Target="../media/image19.png"/><Relationship Id="rId12"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6.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21.png"/><Relationship Id="rId4" Type="http://schemas.openxmlformats.org/officeDocument/2006/relationships/image" Target="../media/image22.gif"/><Relationship Id="rId5" Type="http://schemas.openxmlformats.org/officeDocument/2006/relationships/image" Target="../media/image2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24.png"/><Relationship Id="rId4" Type="http://schemas.openxmlformats.org/officeDocument/2006/relationships/image" Target="../media/image2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30.png"/><Relationship Id="rId4" Type="http://schemas.openxmlformats.org/officeDocument/2006/relationships/image" Target="../media/image3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32.png"/><Relationship Id="rId4" Type="http://schemas.openxmlformats.org/officeDocument/2006/relationships/image" Target="../media/image33.png"/><Relationship Id="rId5" Type="http://schemas.openxmlformats.org/officeDocument/2006/relationships/image" Target="../media/image34.png"/><Relationship Id="rId6" Type="http://schemas.openxmlformats.org/officeDocument/2006/relationships/image" Target="../media/image35.png"/><Relationship Id="rId7" Type="http://schemas.openxmlformats.org/officeDocument/2006/relationships/image" Target="../media/image36.png"/><Relationship Id="rId8" Type="http://schemas.openxmlformats.org/officeDocument/2006/relationships/image" Target="../media/image37.png"/><Relationship Id="rId9" Type="http://schemas.openxmlformats.org/officeDocument/2006/relationships/image" Target="../media/image38.png"/><Relationship Id="rId10" Type="http://schemas.openxmlformats.org/officeDocument/2006/relationships/image" Target="../media/image3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24.png"/><Relationship Id="rId3" Type="http://schemas.openxmlformats.org/officeDocument/2006/relationships/image" Target="../media/image10.jpg"/><Relationship Id="rId4" Type="http://schemas.openxmlformats.org/officeDocument/2006/relationships/image" Target="../media/image4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41.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42.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3.xml"/><Relationship Id="rId3" Type="http://schemas.openxmlformats.org/officeDocument/2006/relationships/image" Target="../media/image43.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5.xml"/><Relationship Id="rId3" Type="http://schemas.openxmlformats.org/officeDocument/2006/relationships/image" Target="../media/image44.png"/><Relationship Id="rId4" Type="http://schemas.openxmlformats.org/officeDocument/2006/relationships/image" Target="../media/image45.png"/><Relationship Id="rId5" Type="http://schemas.openxmlformats.org/officeDocument/2006/relationships/image" Target="../media/image46.png"/><Relationship Id="rId6" Type="http://schemas.openxmlformats.org/officeDocument/2006/relationships/image" Target="../media/image47.png"/><Relationship Id="rId7" Type="http://schemas.openxmlformats.org/officeDocument/2006/relationships/image" Target="../media/image48.png"/><Relationship Id="rId8" Type="http://schemas.openxmlformats.org/officeDocument/2006/relationships/image" Target="../media/image49.png"/><Relationship Id="rId9" Type="http://schemas.openxmlformats.org/officeDocument/2006/relationships/image" Target="../media/image50.png"/><Relationship Id="rId10" Type="http://schemas.openxmlformats.org/officeDocument/2006/relationships/image" Target="../media/image51.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6.xml"/><Relationship Id="rId2"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7.xml"/><Relationship Id="rId3" Type="http://schemas.openxmlformats.org/officeDocument/2006/relationships/image" Target="../media/image11.png"/><Relationship Id="rId4" Type="http://schemas.openxmlformats.org/officeDocument/2006/relationships/image" Target="../media/image52.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23"/>
        <p:cNvGrpSpPr/>
        <p:nvPr/>
      </p:nvGrpSpPr>
      <p:grpSpPr>
        <a:xfrm>
          <a:off x="0" y="0"/>
          <a:ext cx="0" cy="0"/>
          <a:chOff x="0" y="0"/>
          <a:chExt cx="0" cy="0"/>
        </a:xfrm>
      </p:grpSpPr>
      <p:pic>
        <p:nvPicPr>
          <p:cNvPr id="224" name="Google Shape;224;g40a0e788958_0_218"/>
          <p:cNvPicPr preferRelativeResize="0"/>
          <p:nvPr/>
        </p:nvPicPr>
        <p:blipFill rotWithShape="1">
          <a:blip r:embed="rId3">
            <a:alphaModFix amt="18000"/>
          </a:blip>
          <a:srcRect/>
          <a:stretch/>
        </p:blipFill>
        <p:spPr>
          <a:xfrm>
            <a:off x="5819420" y="521425"/>
            <a:ext cx="4262179" cy="4808308"/>
          </a:xfrm>
          <a:prstGeom prst="rect">
            <a:avLst/>
          </a:prstGeom>
          <a:noFill/>
          <a:ln>
            <a:noFill/>
          </a:ln>
        </p:spPr>
      </p:pic>
      <p:sp>
        <p:nvSpPr>
          <p:cNvPr id="225" name="Google Shape;225;g40a0e788958_0_218"/>
          <p:cNvSpPr txBox="1"/>
          <p:nvPr/>
        </p:nvSpPr>
        <p:spPr>
          <a:xfrm>
            <a:off x="1700403" y="1463083"/>
            <a:ext cx="5725500" cy="1734000"/>
          </a:xfrm>
          <a:prstGeom prst="rect">
            <a:avLst/>
          </a:prstGeom>
          <a:noFill/>
          <a:ln>
            <a:noFill/>
          </a:ln>
        </p:spPr>
        <p:txBody>
          <a:bodyPr spcFirstLastPara="1" wrap="square" lIns="68575" tIns="34275" rIns="68575" bIns="34275" anchor="ctr" anchorCtr="0">
            <a:noAutofit/>
          </a:bodyPr>
          <a:lstStyle/>
          <a:p>
            <a:pPr marL="0" marR="0" lvl="0" indent="0" algn="ctr" rtl="0">
              <a:lnSpc>
                <a:spcPct val="150000"/>
              </a:lnSpc>
              <a:spcBef>
                <a:spcPts val="0"/>
              </a:spcBef>
              <a:spcAft>
                <a:spcPts val="0"/>
              </a:spcAft>
              <a:buClr>
                <a:schemeClr val="dk1"/>
              </a:buClr>
              <a:buSzPts val="1500"/>
              <a:buFont typeface="Meiryo"/>
              <a:buNone/>
            </a:pPr>
            <a:endParaRPr sz="2400" b="1" i="0" u="none" strike="noStrike" cap="none">
              <a:solidFill>
                <a:schemeClr val="dk1"/>
              </a:solidFill>
              <a:latin typeface="Meiryo"/>
              <a:ea typeface="Meiryo"/>
              <a:cs typeface="Meiryo"/>
              <a:sym typeface="Meiryo"/>
            </a:endParaRPr>
          </a:p>
          <a:p>
            <a:pPr marL="0" marR="0" lvl="0" indent="0" algn="ctr" rtl="0">
              <a:lnSpc>
                <a:spcPct val="150000"/>
              </a:lnSpc>
              <a:spcBef>
                <a:spcPts val="0"/>
              </a:spcBef>
              <a:spcAft>
                <a:spcPts val="0"/>
              </a:spcAft>
              <a:buClr>
                <a:schemeClr val="dk1"/>
              </a:buClr>
              <a:buSzPts val="1500"/>
              <a:buFont typeface="Meiryo"/>
              <a:buNone/>
            </a:pPr>
            <a:r>
              <a:rPr lang="ja" sz="2400" b="1" i="0" u="none" strike="noStrike" cap="none">
                <a:solidFill>
                  <a:schemeClr val="dk1"/>
                </a:solidFill>
                <a:latin typeface="Meiryo"/>
                <a:ea typeface="Meiryo"/>
                <a:cs typeface="Meiryo"/>
                <a:sym typeface="Meiryo"/>
              </a:rPr>
              <a:t>会社紹介</a:t>
            </a:r>
            <a:endParaRPr sz="1200" b="1" i="0" u="none" strike="noStrike" cap="none">
              <a:solidFill>
                <a:schemeClr val="dk1"/>
              </a:solidFill>
              <a:latin typeface="Meiryo"/>
              <a:ea typeface="Meiryo"/>
              <a:cs typeface="Meiryo"/>
              <a:sym typeface="Meiryo"/>
            </a:endParaRPr>
          </a:p>
        </p:txBody>
      </p:sp>
      <p:sp>
        <p:nvSpPr>
          <p:cNvPr id="226" name="Google Shape;226;g40a0e788958_0_218"/>
          <p:cNvSpPr txBox="1"/>
          <p:nvPr/>
        </p:nvSpPr>
        <p:spPr>
          <a:xfrm>
            <a:off x="3606384" y="3456699"/>
            <a:ext cx="1931100" cy="543300"/>
          </a:xfrm>
          <a:prstGeom prst="rect">
            <a:avLst/>
          </a:prstGeom>
          <a:noFill/>
          <a:ln>
            <a:noFill/>
          </a:ln>
        </p:spPr>
        <p:txBody>
          <a:bodyPr spcFirstLastPara="1" wrap="square" lIns="68575" tIns="34275" rIns="68575" bIns="34275" anchor="t" anchorCtr="0">
            <a:spAutoFit/>
          </a:bodyPr>
          <a:lstStyle/>
          <a:p>
            <a:pPr marL="0" marR="0" lvl="0" indent="0" algn="ctr" rtl="0">
              <a:lnSpc>
                <a:spcPct val="120000"/>
              </a:lnSpc>
              <a:spcBef>
                <a:spcPts val="0"/>
              </a:spcBef>
              <a:spcAft>
                <a:spcPts val="0"/>
              </a:spcAft>
              <a:buClr>
                <a:srgbClr val="000000"/>
              </a:buClr>
              <a:buSzPts val="1400"/>
              <a:buFont typeface="Arial"/>
              <a:buNone/>
            </a:pPr>
            <a:r>
              <a:rPr lang="ja" sz="1400" b="0" i="0" u="none" strike="noStrike" cap="none">
                <a:solidFill>
                  <a:srgbClr val="000000"/>
                </a:solidFill>
                <a:latin typeface="Meiryo"/>
                <a:ea typeface="Meiryo"/>
                <a:cs typeface="Meiryo"/>
                <a:sym typeface="Meiryo"/>
              </a:rPr>
              <a:t>2026年6月</a:t>
            </a:r>
            <a:endParaRPr sz="14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400" b="0" i="0" u="none" strike="noStrike" cap="none">
                <a:solidFill>
                  <a:srgbClr val="000000"/>
                </a:solidFill>
                <a:latin typeface="Meiryo"/>
                <a:ea typeface="Meiryo"/>
                <a:cs typeface="Meiryo"/>
                <a:sym typeface="Meiryo"/>
              </a:rPr>
              <a:t>株式会社WineBank</a:t>
            </a:r>
            <a:endParaRPr sz="1400" b="0" i="0" u="none" strike="noStrike" cap="none">
              <a:solidFill>
                <a:srgbClr val="000000"/>
              </a:solidFill>
              <a:latin typeface="Meiryo"/>
              <a:ea typeface="Meiryo"/>
              <a:cs typeface="Meiryo"/>
              <a:sym typeface="Meiryo"/>
            </a:endParaRPr>
          </a:p>
        </p:txBody>
      </p:sp>
      <p:sp>
        <p:nvSpPr>
          <p:cNvPr id="227" name="Google Shape;227;g40a0e788958_0_218"/>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31"/>
        <p:cNvGrpSpPr/>
        <p:nvPr/>
      </p:nvGrpSpPr>
      <p:grpSpPr>
        <a:xfrm>
          <a:off x="0" y="0"/>
          <a:ext cx="0" cy="0"/>
          <a:chOff x="0" y="0"/>
          <a:chExt cx="0" cy="0"/>
        </a:xfrm>
      </p:grpSpPr>
      <p:sp>
        <p:nvSpPr>
          <p:cNvPr id="232" name="Google Shape;232;p2"/>
          <p:cNvSpPr txBox="1"/>
          <p:nvPr/>
        </p:nvSpPr>
        <p:spPr>
          <a:xfrm>
            <a:off x="2200166" y="2196149"/>
            <a:ext cx="4743675" cy="413775"/>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ja" sz="2200" b="1" i="0" u="none" strike="noStrike" cap="none">
                <a:solidFill>
                  <a:schemeClr val="dk1"/>
                </a:solidFill>
                <a:latin typeface="Meiryo"/>
                <a:ea typeface="Meiryo"/>
                <a:cs typeface="Meiryo"/>
                <a:sym typeface="Meiryo"/>
              </a:rPr>
              <a:t>COMPANY INFORMATION</a:t>
            </a:r>
            <a:endParaRPr sz="1100" b="0" i="0" u="none" strike="noStrike" cap="none">
              <a:solidFill>
                <a:schemeClr val="dk1"/>
              </a:solidFill>
              <a:latin typeface="Arial"/>
              <a:ea typeface="Arial"/>
              <a:cs typeface="Arial"/>
              <a:sym typeface="Arial"/>
            </a:endParaRPr>
          </a:p>
        </p:txBody>
      </p:sp>
      <p:sp>
        <p:nvSpPr>
          <p:cNvPr id="233" name="Google Shape;233;p2"/>
          <p:cNvSpPr txBox="1"/>
          <p:nvPr/>
        </p:nvSpPr>
        <p:spPr>
          <a:xfrm>
            <a:off x="3789759" y="2758010"/>
            <a:ext cx="1564425" cy="194400"/>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ja" sz="800" b="0" i="0" u="none" strike="noStrike" cap="none">
                <a:solidFill>
                  <a:srgbClr val="595959"/>
                </a:solidFill>
                <a:latin typeface="Meiryo"/>
                <a:ea typeface="Meiryo"/>
                <a:cs typeface="Meiryo"/>
                <a:sym typeface="Meiryo"/>
              </a:rPr>
              <a:t>会社概要</a:t>
            </a:r>
            <a:endParaRPr sz="1100" b="0" i="0" u="none" strike="noStrike" cap="none">
              <a:solidFill>
                <a:srgbClr val="000000"/>
              </a:solidFill>
              <a:latin typeface="Arial"/>
              <a:ea typeface="Arial"/>
              <a:cs typeface="Arial"/>
              <a:sym typeface="Arial"/>
            </a:endParaRPr>
          </a:p>
        </p:txBody>
      </p:sp>
      <p:cxnSp>
        <p:nvCxnSpPr>
          <p:cNvPr id="234" name="Google Shape;234;p2"/>
          <p:cNvCxnSpPr/>
          <p:nvPr/>
        </p:nvCxnSpPr>
        <p:spPr>
          <a:xfrm>
            <a:off x="4446270" y="2644140"/>
            <a:ext cx="258975" cy="0"/>
          </a:xfrm>
          <a:prstGeom prst="straightConnector1">
            <a:avLst/>
          </a:prstGeom>
          <a:noFill/>
          <a:ln w="9525" cap="flat" cmpd="sng">
            <a:solidFill>
              <a:srgbClr val="A5A5A5"/>
            </a:solidFill>
            <a:prstDash val="solid"/>
            <a:miter lim="80"/>
            <a:headEnd type="none" w="sm" len="sm"/>
            <a:tailEnd type="none" w="sm" len="sm"/>
          </a:ln>
        </p:spPr>
      </p:cxnSp>
      <p:sp>
        <p:nvSpPr>
          <p:cNvPr id="235" name="Google Shape;235;p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2</a:t>
            </a:fld>
            <a:endParaRPr/>
          </a:p>
        </p:txBody>
      </p:sp>
      <p:sp>
        <p:nvSpPr>
          <p:cNvPr id="236" name="Google Shape;236;p2"/>
          <p:cNvSpPr/>
          <p:nvPr/>
        </p:nvSpPr>
        <p:spPr>
          <a:xfrm>
            <a:off x="0" y="5012872"/>
            <a:ext cx="9144000" cy="130725"/>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3"/>
          <p:cNvSpPr txBox="1"/>
          <p:nvPr/>
        </p:nvSpPr>
        <p:spPr>
          <a:xfrm>
            <a:off x="302549" y="287249"/>
            <a:ext cx="2013600" cy="284663"/>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chemeClr val="dk1"/>
                </a:solidFill>
                <a:latin typeface="Meiryo"/>
                <a:ea typeface="Meiryo"/>
                <a:cs typeface="Meiryo"/>
                <a:sym typeface="Meiryo"/>
              </a:rPr>
              <a:t>会社概要</a:t>
            </a:r>
            <a:endParaRPr sz="1400" b="1" i="0" u="none" strike="noStrike" cap="none">
              <a:solidFill>
                <a:schemeClr val="dk1"/>
              </a:solidFill>
              <a:latin typeface="Meiryo"/>
              <a:ea typeface="Meiryo"/>
              <a:cs typeface="Meiryo"/>
              <a:sym typeface="Meiryo"/>
            </a:endParaRPr>
          </a:p>
        </p:txBody>
      </p:sp>
      <p:graphicFrame>
        <p:nvGraphicFramePr>
          <p:cNvPr id="242" name="Google Shape;242;p3"/>
          <p:cNvGraphicFramePr/>
          <p:nvPr/>
        </p:nvGraphicFramePr>
        <p:xfrm>
          <a:off x="225196" y="763066"/>
          <a:ext cx="4455900" cy="3772000"/>
        </p:xfrm>
        <a:graphic>
          <a:graphicData uri="http://schemas.openxmlformats.org/drawingml/2006/table">
            <a:tbl>
              <a:tblPr>
                <a:noFill/>
                <a:tableStyleId>{65B4C7F5-E376-4956-9A0A-9A7A7A081F5C}</a:tableStyleId>
              </a:tblPr>
              <a:tblGrid>
                <a:gridCol w="1127025">
                  <a:extLst>
                    <a:ext uri="{9D8B030D-6E8A-4147-A177-3AD203B41FA5}">
                      <a16:colId xmlns:a16="http://schemas.microsoft.com/office/drawing/2014/main" val="20000"/>
                    </a:ext>
                  </a:extLst>
                </a:gridCol>
                <a:gridCol w="403550">
                  <a:extLst>
                    <a:ext uri="{9D8B030D-6E8A-4147-A177-3AD203B41FA5}">
                      <a16:colId xmlns:a16="http://schemas.microsoft.com/office/drawing/2014/main" val="20001"/>
                    </a:ext>
                  </a:extLst>
                </a:gridCol>
                <a:gridCol w="2925325">
                  <a:extLst>
                    <a:ext uri="{9D8B030D-6E8A-4147-A177-3AD203B41FA5}">
                      <a16:colId xmlns:a16="http://schemas.microsoft.com/office/drawing/2014/main" val="20002"/>
                    </a:ext>
                  </a:extLst>
                </a:gridCol>
              </a:tblGrid>
              <a:tr h="316000">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会社名</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1200"/>
                        <a:buFont typeface="Arial"/>
                        <a:buNone/>
                      </a:pPr>
                      <a:endParaRPr sz="13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chemeClr val="dk1"/>
                        </a:buClr>
                        <a:buSzPts val="800"/>
                        <a:buFont typeface="Arial"/>
                        <a:buNone/>
                      </a:pPr>
                      <a:r>
                        <a:rPr lang="ja" sz="1000" b="0" u="none" strike="noStrike" cap="none">
                          <a:solidFill>
                            <a:schemeClr val="dk1"/>
                          </a:solidFill>
                          <a:latin typeface="Meiryo"/>
                          <a:ea typeface="Meiryo"/>
                          <a:cs typeface="Meiryo"/>
                          <a:sym typeface="Meiryo"/>
                        </a:rPr>
                        <a:t>株式会社WineBank（旧社名：有限会社中村）</a:t>
                      </a:r>
                      <a:endParaRPr sz="1000" b="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0"/>
                  </a:ext>
                </a:extLst>
              </a:tr>
              <a:tr h="337350">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代表取締役</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中野 邦人（Nakano Kunihito）</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1"/>
                  </a:ext>
                </a:extLst>
              </a:tr>
              <a:tr h="39357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資本金</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437,169千円（資本準備金含む）</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2"/>
                  </a:ext>
                </a:extLst>
              </a:tr>
              <a:tr h="33062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本社</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東京都港区六本木4-12-8 第6DMJビル 2階</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3"/>
                  </a:ext>
                </a:extLst>
              </a:tr>
              <a:tr h="33062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創業</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1970年10月</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4"/>
                  </a:ext>
                </a:extLst>
              </a:tr>
              <a:tr h="1050025">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事業概要</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■ワインを中心とした酒類販売</a:t>
                      </a:r>
                      <a:endParaRPr sz="1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■レストラン事業</a:t>
                      </a:r>
                      <a:endParaRPr sz="1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■Wine × Technology事業（WineTech事業）</a:t>
                      </a:r>
                      <a:endParaRPr sz="13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■その他上記に付随する事業</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5"/>
                  </a:ext>
                </a:extLst>
              </a:tr>
              <a:tr h="1013800">
                <a:tc>
                  <a:txBody>
                    <a:bodyPr/>
                    <a:lstStyle/>
                    <a:p>
                      <a:pPr marL="0" marR="0" lvl="0" indent="0" algn="ctr" rtl="0">
                        <a:lnSpc>
                          <a:spcPct val="100000"/>
                        </a:lnSpc>
                        <a:spcBef>
                          <a:spcPts val="0"/>
                        </a:spcBef>
                        <a:spcAft>
                          <a:spcPts val="0"/>
                        </a:spcAft>
                        <a:buClr>
                          <a:srgbClr val="000000"/>
                        </a:buClr>
                        <a:buSzPts val="800"/>
                        <a:buFont typeface="Arial"/>
                        <a:buNone/>
                      </a:pPr>
                      <a:r>
                        <a:rPr lang="ja" sz="1000" b="1" u="none" strike="noStrike" cap="none">
                          <a:solidFill>
                            <a:srgbClr val="C68A65"/>
                          </a:solidFill>
                          <a:latin typeface="Meiryo"/>
                          <a:ea typeface="Meiryo"/>
                          <a:cs typeface="Meiryo"/>
                          <a:sym typeface="Meiryo"/>
                        </a:rPr>
                        <a:t>主要株主</a:t>
                      </a:r>
                      <a:endParaRPr sz="1300" b="1" u="none" strike="noStrike" cap="none">
                        <a:solidFill>
                          <a:srgbClr val="C68A65"/>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tc>
                  <a:txBody>
                    <a:bodyPr/>
                    <a:lstStyle/>
                    <a:p>
                      <a:pPr marL="0" marR="0" lvl="0" indent="0" algn="l" rtl="0">
                        <a:lnSpc>
                          <a:spcPct val="100000"/>
                        </a:lnSpc>
                        <a:spcBef>
                          <a:spcPts val="0"/>
                        </a:spcBef>
                        <a:spcAft>
                          <a:spcPts val="0"/>
                        </a:spcAft>
                        <a:buClr>
                          <a:srgbClr val="000000"/>
                        </a:buClr>
                        <a:buSzPts val="800"/>
                        <a:buFont typeface="Arial"/>
                        <a:buNone/>
                      </a:pPr>
                      <a:endParaRPr sz="900" u="none" strike="noStrike" cap="none">
                        <a:solidFill>
                          <a:schemeClr val="dk1"/>
                        </a:solidFill>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rgbClr val="000000">
                          <a:alpha val="0"/>
                        </a:srgbClr>
                      </a:solidFill>
                      <a:prstDash val="solid"/>
                      <a:round/>
                      <a:headEnd type="none" w="sm" len="sm"/>
                      <a:tailEnd type="none" w="sm" len="sm"/>
                    </a:lnT>
                    <a:lnB w="9525" cap="flat" cmpd="sng">
                      <a:solidFill>
                        <a:srgbClr val="000000">
                          <a:alpha val="0"/>
                        </a:srgbClr>
                      </a:solidFill>
                      <a:prstDash val="solid"/>
                      <a:round/>
                      <a:headEnd type="none" w="sm" len="sm"/>
                      <a:tailEnd type="none" w="sm" len="sm"/>
                    </a:lnB>
                    <a:solidFill>
                      <a:schemeClr val="lt1"/>
                    </a:solidFill>
                  </a:tcPr>
                </a:tc>
                <a:tc>
                  <a:txBody>
                    <a:bodyPr/>
                    <a:lstStyle/>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ﾏﾈｰﾌｫﾜｰﾄﾞﾍﾞﾝﾁｬｰﾊﾟｰﾄﾅｰｽﾞ株式会社</a:t>
                      </a:r>
                      <a:endParaRPr sz="10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株式会社ベクトル</a:t>
                      </a:r>
                      <a:endParaRPr sz="10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寺田倉庫株式会社</a:t>
                      </a:r>
                      <a:endParaRPr sz="1000" u="none" strike="noStrike" cap="none">
                        <a:latin typeface="Meiryo"/>
                        <a:ea typeface="Meiryo"/>
                        <a:cs typeface="Meiryo"/>
                        <a:sym typeface="Meiryo"/>
                      </a:endParaRPr>
                    </a:p>
                    <a:p>
                      <a:pPr marL="0" marR="0" lvl="0" indent="0" algn="l" rtl="0">
                        <a:lnSpc>
                          <a:spcPct val="150000"/>
                        </a:lnSpc>
                        <a:spcBef>
                          <a:spcPts val="0"/>
                        </a:spcBef>
                        <a:spcAft>
                          <a:spcPts val="0"/>
                        </a:spcAft>
                        <a:buClr>
                          <a:srgbClr val="000000"/>
                        </a:buClr>
                        <a:buSzPts val="800"/>
                        <a:buFont typeface="Arial"/>
                        <a:buNone/>
                      </a:pPr>
                      <a:r>
                        <a:rPr lang="ja" sz="1000" u="none" strike="noStrike" cap="none">
                          <a:latin typeface="Meiryo"/>
                          <a:ea typeface="Meiryo"/>
                          <a:cs typeface="Meiryo"/>
                          <a:sym typeface="Meiryo"/>
                        </a:rPr>
                        <a:t>株式会社PrivateBANK</a:t>
                      </a:r>
                      <a:endParaRPr sz="1000" u="none" strike="noStrike" cap="none">
                        <a:latin typeface="Meiryo"/>
                        <a:ea typeface="Meiryo"/>
                        <a:cs typeface="Meiryo"/>
                        <a:sym typeface="Meiryo"/>
                      </a:endParaRPr>
                    </a:p>
                  </a:txBody>
                  <a:tcPr marL="134975" marR="68575" marT="34275" marB="34275" anchor="ctr">
                    <a:lnL w="9525" cap="flat" cmpd="sng">
                      <a:solidFill>
                        <a:srgbClr val="000000">
                          <a:alpha val="0"/>
                        </a:srgbClr>
                      </a:solidFill>
                      <a:prstDash val="solid"/>
                      <a:round/>
                      <a:headEnd type="none" w="sm" len="sm"/>
                      <a:tailEnd type="none" w="sm" len="sm"/>
                    </a:lnL>
                    <a:lnR w="9525" cap="flat" cmpd="sng">
                      <a:solidFill>
                        <a:srgbClr val="000000">
                          <a:alpha val="0"/>
                        </a:srgbClr>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solidFill>
                      <a:schemeClr val="lt1"/>
                    </a:solidFill>
                  </a:tcPr>
                </a:tc>
                <a:extLst>
                  <a:ext uri="{0D108BD9-81ED-4DB2-BD59-A6C34878D82A}">
                    <a16:rowId xmlns:a16="http://schemas.microsoft.com/office/drawing/2014/main" val="10006"/>
                  </a:ext>
                </a:extLst>
              </a:tr>
            </a:tbl>
          </a:graphicData>
        </a:graphic>
      </p:graphicFrame>
      <p:pic>
        <p:nvPicPr>
          <p:cNvPr id="243" name="Google Shape;243;p3" title="AAA07221-1.atari.jpg"/>
          <p:cNvPicPr preferRelativeResize="0"/>
          <p:nvPr/>
        </p:nvPicPr>
        <p:blipFill rotWithShape="1">
          <a:blip r:embed="rId3">
            <a:alphaModFix/>
          </a:blip>
          <a:srcRect l="14583" r="10118"/>
          <a:stretch/>
        </p:blipFill>
        <p:spPr>
          <a:xfrm>
            <a:off x="4805537" y="860708"/>
            <a:ext cx="4113267" cy="3641818"/>
          </a:xfrm>
          <a:prstGeom prst="rect">
            <a:avLst/>
          </a:prstGeom>
          <a:noFill/>
          <a:ln>
            <a:noFill/>
          </a:ln>
        </p:spPr>
      </p:pic>
      <p:sp>
        <p:nvSpPr>
          <p:cNvPr id="244" name="Google Shape;244;p3"/>
          <p:cNvSpPr txBox="1">
            <a:spLocks noGrp="1"/>
          </p:cNvSpPr>
          <p:nvPr>
            <p:ph type="sldNum" idx="12"/>
          </p:nvPr>
        </p:nvSpPr>
        <p:spPr>
          <a:xfrm>
            <a:off x="6965303" y="4530560"/>
            <a:ext cx="2057400" cy="273844"/>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US" altLang="ja"/>
              <a:t>3</a:t>
            </a:fld>
            <a:endParaRPr/>
          </a:p>
        </p:txBody>
      </p:sp>
      <p:sp>
        <p:nvSpPr>
          <p:cNvPr id="245" name="Google Shape;245;p3"/>
          <p:cNvSpPr/>
          <p:nvPr/>
        </p:nvSpPr>
        <p:spPr>
          <a:xfrm>
            <a:off x="0" y="5012872"/>
            <a:ext cx="9144000" cy="130725"/>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50"/>
        <p:cNvGrpSpPr/>
        <p:nvPr/>
      </p:nvGrpSpPr>
      <p:grpSpPr>
        <a:xfrm>
          <a:off x="0" y="0"/>
          <a:ext cx="0" cy="0"/>
          <a:chOff x="0" y="0"/>
          <a:chExt cx="0" cy="0"/>
        </a:xfrm>
      </p:grpSpPr>
      <p:pic>
        <p:nvPicPr>
          <p:cNvPr id="251" name="Google Shape;251;g34a8cbec04a_0_0"/>
          <p:cNvPicPr preferRelativeResize="0"/>
          <p:nvPr/>
        </p:nvPicPr>
        <p:blipFill rotWithShape="1">
          <a:blip r:embed="rId3">
            <a:alphaModFix/>
          </a:blip>
          <a:srcRect t="7983" b="7805"/>
          <a:stretch/>
        </p:blipFill>
        <p:spPr>
          <a:xfrm>
            <a:off x="0" y="0"/>
            <a:ext cx="9161919" cy="5143500"/>
          </a:xfrm>
          <a:prstGeom prst="rect">
            <a:avLst/>
          </a:prstGeom>
          <a:noFill/>
          <a:ln>
            <a:noFill/>
          </a:ln>
        </p:spPr>
      </p:pic>
      <p:sp>
        <p:nvSpPr>
          <p:cNvPr id="252" name="Google Shape;252;g34a8cbec04a_0_0"/>
          <p:cNvSpPr/>
          <p:nvPr/>
        </p:nvSpPr>
        <p:spPr>
          <a:xfrm>
            <a:off x="0" y="0"/>
            <a:ext cx="9144000" cy="5143500"/>
          </a:xfrm>
          <a:prstGeom prst="rect">
            <a:avLst/>
          </a:prstGeom>
          <a:solidFill>
            <a:schemeClr val="dk1">
              <a:alpha val="61569"/>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 sz="1800" b="1" i="0" u="none" strike="noStrike" cap="none">
                <a:solidFill>
                  <a:schemeClr val="lt1"/>
                </a:solidFill>
                <a:latin typeface="Meiryo"/>
                <a:ea typeface="Meiryo"/>
                <a:cs typeface="Meiryo"/>
                <a:sym typeface="Meiryo"/>
              </a:rPr>
              <a:t>　</a:t>
            </a:r>
            <a:endParaRPr sz="11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253" name="Google Shape;253;g34a8cbec04a_0_0"/>
          <p:cNvSpPr txBox="1"/>
          <p:nvPr/>
        </p:nvSpPr>
        <p:spPr>
          <a:xfrm>
            <a:off x="1487900" y="495300"/>
            <a:ext cx="5849100" cy="768300"/>
          </a:xfrm>
          <a:prstGeom prst="rect">
            <a:avLst/>
          </a:prstGeom>
          <a:noFill/>
          <a:ln>
            <a:noFill/>
          </a:ln>
        </p:spPr>
        <p:txBody>
          <a:bodyPr spcFirstLastPara="1" wrap="square" lIns="68575" tIns="34275" rIns="68575" bIns="34275" anchor="ctr" anchorCtr="0">
            <a:noAutofit/>
          </a:bodyPr>
          <a:lstStyle/>
          <a:p>
            <a:pPr marL="0" marR="0" lvl="0" indent="0" algn="ctr" rtl="0">
              <a:lnSpc>
                <a:spcPct val="200000"/>
              </a:lnSpc>
              <a:spcBef>
                <a:spcPts val="0"/>
              </a:spcBef>
              <a:spcAft>
                <a:spcPts val="0"/>
              </a:spcAft>
              <a:buClr>
                <a:schemeClr val="lt1"/>
              </a:buClr>
              <a:buSzPts val="1800"/>
              <a:buFont typeface="Meiryo"/>
              <a:buNone/>
            </a:pPr>
            <a:r>
              <a:rPr lang="ja" sz="2000" b="1" i="0" u="none" strike="noStrike" cap="none">
                <a:solidFill>
                  <a:schemeClr val="lt1"/>
                </a:solidFill>
                <a:latin typeface="Meiryo"/>
                <a:ea typeface="Meiryo"/>
                <a:cs typeface="Meiryo"/>
                <a:sym typeface="Meiryo"/>
              </a:rPr>
              <a:t>Mission｜既存のワイン流通をアップデートする</a:t>
            </a:r>
            <a:endParaRPr sz="1200" b="0" i="0" u="none" strike="noStrike" cap="none">
              <a:solidFill>
                <a:srgbClr val="000000"/>
              </a:solidFill>
              <a:latin typeface="Arial"/>
              <a:ea typeface="Arial"/>
              <a:cs typeface="Arial"/>
              <a:sym typeface="Arial"/>
            </a:endParaRPr>
          </a:p>
        </p:txBody>
      </p:sp>
      <p:sp>
        <p:nvSpPr>
          <p:cNvPr id="254" name="Google Shape;254;g34a8cbec04a_0_0"/>
          <p:cNvSpPr txBox="1"/>
          <p:nvPr/>
        </p:nvSpPr>
        <p:spPr>
          <a:xfrm>
            <a:off x="1495692" y="1136255"/>
            <a:ext cx="6646200" cy="851400"/>
          </a:xfrm>
          <a:prstGeom prst="rect">
            <a:avLst/>
          </a:prstGeom>
          <a:no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 sz="2000" b="1" i="0" u="none" strike="noStrike" cap="none">
                <a:solidFill>
                  <a:schemeClr val="lt1"/>
                </a:solidFill>
                <a:latin typeface="Meiryo"/>
                <a:ea typeface="Meiryo"/>
                <a:cs typeface="Meiryo"/>
                <a:sym typeface="Meiryo"/>
              </a:rPr>
              <a:t>　Vision｜全ての人にファインワインを</a:t>
            </a:r>
            <a:endParaRPr sz="1200" b="0" i="0" u="none" strike="noStrike" cap="none">
              <a:solidFill>
                <a:srgbClr val="000000"/>
              </a:solidFill>
              <a:latin typeface="Arial"/>
              <a:ea typeface="Arial"/>
              <a:cs typeface="Arial"/>
              <a:sym typeface="Arial"/>
            </a:endParaRPr>
          </a:p>
        </p:txBody>
      </p:sp>
      <p:sp>
        <p:nvSpPr>
          <p:cNvPr id="255" name="Google Shape;255;g34a8cbec04a_0_0"/>
          <p:cNvSpPr txBox="1"/>
          <p:nvPr/>
        </p:nvSpPr>
        <p:spPr>
          <a:xfrm>
            <a:off x="1418500" y="2199894"/>
            <a:ext cx="6541500" cy="2437500"/>
          </a:xfrm>
          <a:prstGeom prst="rect">
            <a:avLst/>
          </a:prstGeom>
          <a:no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chemeClr val="lt1"/>
              </a:buClr>
              <a:buSzPts val="1800"/>
              <a:buFont typeface="Meiryo"/>
              <a:buNone/>
            </a:pPr>
            <a:r>
              <a:rPr lang="ja" sz="1000" b="1" i="0" u="none" strike="noStrike" cap="none">
                <a:solidFill>
                  <a:schemeClr val="lt1"/>
                </a:solidFill>
                <a:latin typeface="Meiryo"/>
                <a:ea typeface="Meiryo"/>
                <a:cs typeface="Meiryo"/>
                <a:sym typeface="Meiryo"/>
              </a:rPr>
              <a:t>５年以内に100億相当のワインをクラウドワインリストへ。</a:t>
            </a:r>
            <a:endParaRPr sz="10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1000" b="1" i="0" u="none" strike="noStrike" cap="none">
                <a:solidFill>
                  <a:schemeClr val="lt1"/>
                </a:solidFill>
                <a:latin typeface="Meiryo"/>
                <a:ea typeface="Meiryo"/>
                <a:cs typeface="Meiryo"/>
                <a:sym typeface="Meiryo"/>
              </a:rPr>
              <a:t>「Cloud Cave」を個人会員と飲食店会員向けに提供し、ワイン流通に変革をもたらします。</a:t>
            </a:r>
            <a:endParaRPr sz="10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個人も飲食店も、時価（インターネット最安値）でワインを仕入れることが可能になり、大手ECやオークションなどの</a:t>
            </a: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中間マージンの負担がなくなります。</a:t>
            </a:r>
            <a:endParaRPr sz="4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飲食店会員は高額なワインを店内に在庫しなくてもワインリストが華やぎ、CF上のメリットも。</a:t>
            </a:r>
            <a:endParaRPr sz="1100" b="0" i="0" u="none" strike="noStrike" cap="none">
              <a:solidFill>
                <a:srgbClr val="000000"/>
              </a:solidFill>
              <a:latin typeface="Arial"/>
              <a:ea typeface="Arial"/>
              <a:cs typeface="Arial"/>
              <a:sym typeface="Arial"/>
            </a:endParaRPr>
          </a:p>
          <a:p>
            <a:pPr marL="0" marR="0" lvl="0" indent="0" algn="l" rtl="0">
              <a:lnSpc>
                <a:spcPct val="200000"/>
              </a:lnSpc>
              <a:spcBef>
                <a:spcPts val="0"/>
              </a:spcBef>
              <a:spcAft>
                <a:spcPts val="0"/>
              </a:spcAft>
              <a:buClr>
                <a:schemeClr val="lt1"/>
              </a:buClr>
              <a:buSzPts val="1800"/>
              <a:buFont typeface="Meiryo"/>
              <a:buNone/>
            </a:pPr>
            <a:r>
              <a:rPr lang="ja" sz="900" b="1" i="0" u="none" strike="noStrike" cap="none">
                <a:solidFill>
                  <a:schemeClr val="lt1"/>
                </a:solidFill>
                <a:latin typeface="Meiryo"/>
                <a:ea typeface="Meiryo"/>
                <a:cs typeface="Meiryo"/>
                <a:sym typeface="Meiryo"/>
              </a:rPr>
              <a:t>・　自己利用や贈答含めて50万本の在庫にアクセスでき、時価で入手できるメリットがあります。</a:t>
            </a: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chemeClr val="lt1"/>
              </a:buClr>
              <a:buSzPts val="1800"/>
              <a:buFont typeface="Meiryo"/>
              <a:buNone/>
            </a:pPr>
            <a:endParaRPr sz="900" b="1" i="0" u="none" strike="noStrike" cap="none">
              <a:solidFill>
                <a:schemeClr val="lt1"/>
              </a:solidFill>
              <a:latin typeface="Meiryo"/>
              <a:ea typeface="Meiryo"/>
              <a:cs typeface="Meiryo"/>
              <a:sym typeface="Meiryo"/>
            </a:endParaRPr>
          </a:p>
          <a:p>
            <a:pPr marL="0" marR="0" lvl="0" indent="0" algn="l" rtl="0">
              <a:lnSpc>
                <a:spcPct val="200000"/>
              </a:lnSpc>
              <a:spcBef>
                <a:spcPts val="0"/>
              </a:spcBef>
              <a:spcAft>
                <a:spcPts val="0"/>
              </a:spcAft>
              <a:buClr>
                <a:srgbClr val="000000"/>
              </a:buClr>
              <a:buSzPts val="900"/>
              <a:buFont typeface="Arial"/>
              <a:buNone/>
            </a:pPr>
            <a:r>
              <a:rPr lang="ja" sz="900" b="1" i="0" u="none" strike="noStrike" cap="none">
                <a:solidFill>
                  <a:schemeClr val="lt1"/>
                </a:solidFill>
                <a:latin typeface="Meiryo"/>
                <a:ea typeface="Meiryo"/>
                <a:cs typeface="Meiryo"/>
                <a:sym typeface="Meiryo"/>
              </a:rPr>
              <a:t>「Cloud Cave」をご自身のセラー代わりに利用し、いつでもどこでも安心・安全なファインワインを楽しめる世の中に。</a:t>
            </a:r>
            <a:endParaRPr sz="1100" b="0" i="0" u="none" strike="noStrike" cap="none">
              <a:solidFill>
                <a:srgbClr val="000000"/>
              </a:solidFill>
              <a:latin typeface="Arial"/>
              <a:ea typeface="Arial"/>
              <a:cs typeface="Arial"/>
              <a:sym typeface="Arial"/>
            </a:endParaRPr>
          </a:p>
        </p:txBody>
      </p:sp>
      <p:sp>
        <p:nvSpPr>
          <p:cNvPr id="256" name="Google Shape;256;g34a8cbec04a_0_0"/>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61"/>
        <p:cNvGrpSpPr/>
        <p:nvPr/>
      </p:nvGrpSpPr>
      <p:grpSpPr>
        <a:xfrm>
          <a:off x="0" y="0"/>
          <a:ext cx="0" cy="0"/>
          <a:chOff x="0" y="0"/>
          <a:chExt cx="0" cy="0"/>
        </a:xfrm>
      </p:grpSpPr>
      <p:sp>
        <p:nvSpPr>
          <p:cNvPr id="262" name="Google Shape;262;g34a8cbec04a_0_765"/>
          <p:cNvSpPr txBox="1"/>
          <p:nvPr/>
        </p:nvSpPr>
        <p:spPr>
          <a:xfrm>
            <a:off x="239554" y="287179"/>
            <a:ext cx="14748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経営陣紹介</a:t>
            </a:r>
            <a:endParaRPr sz="1200" b="0" i="0" u="none" strike="noStrike" cap="none">
              <a:solidFill>
                <a:srgbClr val="000000"/>
              </a:solidFill>
              <a:latin typeface="Meiryo"/>
              <a:ea typeface="Meiryo"/>
              <a:cs typeface="Meiryo"/>
              <a:sym typeface="Meiryo"/>
            </a:endParaRPr>
          </a:p>
        </p:txBody>
      </p:sp>
      <p:sp>
        <p:nvSpPr>
          <p:cNvPr id="263" name="Google Shape;263;g34a8cbec04a_0_765"/>
          <p:cNvSpPr txBox="1"/>
          <p:nvPr/>
        </p:nvSpPr>
        <p:spPr>
          <a:xfrm>
            <a:off x="3559195" y="469410"/>
            <a:ext cx="5274900" cy="38634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生年月日　</a:t>
            </a:r>
            <a:r>
              <a:rPr lang="ja" sz="800" b="0" i="0" u="none" strike="noStrike" cap="none">
                <a:solidFill>
                  <a:srgbClr val="000000"/>
                </a:solidFill>
                <a:latin typeface="Meiryo"/>
                <a:ea typeface="Meiryo"/>
                <a:cs typeface="Meiryo"/>
                <a:sym typeface="Meiryo"/>
              </a:rPr>
              <a:t>　1979年03月13日</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最終学歴</a:t>
            </a:r>
            <a:r>
              <a:rPr lang="ja" sz="800" b="0" i="0" u="none" strike="noStrike" cap="none">
                <a:solidFill>
                  <a:srgbClr val="000000"/>
                </a:solidFill>
                <a:latin typeface="Meiryo"/>
                <a:ea typeface="Meiryo"/>
                <a:cs typeface="Meiryo"/>
                <a:sym typeface="Meiryo"/>
              </a:rPr>
              <a:t>　　東洋大学 工学部卒業</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職歴</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2001年04月　　株式会社モリモト入社</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（不動産投資事業部にて不動産購入・売却及び不動産証券化に携わる）</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2003年09月　　株式会社モリモト退社</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2003年10月　　株式会社LEXINGTON入社</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（富裕層向け資産コンサルティング）</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2006年06月　　株式会社LEXINGTON退社（株式会社Seven Signatures転籍）</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2006年07月　　株式会社Seven Signatures取締役就任</a:t>
            </a:r>
            <a:endParaRPr sz="1100" b="0" i="0" u="none" strike="noStrike" cap="none">
              <a:solidFill>
                <a:srgbClr val="000000"/>
              </a:solidFill>
              <a:latin typeface="Meiryo"/>
              <a:ea typeface="Meiryo"/>
              <a:cs typeface="Meiryo"/>
              <a:sym typeface="Meiryo"/>
            </a:endParaRPr>
          </a:p>
          <a:p>
            <a:pPr marL="0" marR="0" lvl="0" indent="0" algn="l" rtl="0">
              <a:lnSpc>
                <a:spcPct val="1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（Hotel-Condo事業開発・投資スキーム構築・国内不動産開発に携わる）</a:t>
            </a:r>
            <a:endParaRPr sz="11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2008年07月　　株式会社あどばる設立　代表取締役社長就任</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2020年07月　　株式会社WineBankをM&amp;Aにて100％取得し、代表取締役就任</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2021年12月　　株式会社あどばる、東証プライム上場株式会社ビジョングループ入り(50.1％)</a:t>
            </a:r>
            <a:endParaRPr sz="14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2024年6月　　  株式会社アピシウスをM&amp;Aにて100％取得し、代表取締役就任</a:t>
            </a:r>
            <a:endParaRPr sz="1400" b="0" i="0" u="none" strike="noStrike" cap="none">
              <a:solidFill>
                <a:srgbClr val="000000"/>
              </a:solidFill>
              <a:latin typeface="Meiryo"/>
              <a:ea typeface="Meiryo"/>
              <a:cs typeface="Meiryo"/>
              <a:sym typeface="Meiryo"/>
            </a:endParaRPr>
          </a:p>
        </p:txBody>
      </p:sp>
      <p:sp>
        <p:nvSpPr>
          <p:cNvPr id="264" name="Google Shape;264;g34a8cbec04a_0_765"/>
          <p:cNvSpPr txBox="1"/>
          <p:nvPr/>
        </p:nvSpPr>
        <p:spPr>
          <a:xfrm>
            <a:off x="336420" y="2344609"/>
            <a:ext cx="2088000" cy="585000"/>
          </a:xfrm>
          <a:prstGeom prst="rect">
            <a:avLst/>
          </a:prstGeom>
          <a:noFill/>
          <a:ln>
            <a:noFill/>
          </a:ln>
        </p:spPr>
        <p:txBody>
          <a:bodyPr spcFirstLastPara="1" wrap="square" lIns="68550" tIns="34275" rIns="68550" bIns="34275" anchor="t" anchorCtr="0">
            <a:spAutoFit/>
          </a:bodyPr>
          <a:lstStyle/>
          <a:p>
            <a:pPr marL="0" marR="0" lvl="0" indent="0" algn="l" rtl="0">
              <a:lnSpc>
                <a:spcPct val="150000"/>
              </a:lnSpc>
              <a:spcBef>
                <a:spcPts val="0"/>
              </a:spcBef>
              <a:spcAft>
                <a:spcPts val="0"/>
              </a:spcAft>
              <a:buClr>
                <a:srgbClr val="000000"/>
              </a:buClr>
              <a:buSzPts val="1500"/>
              <a:buFont typeface="Arial"/>
              <a:buNone/>
            </a:pPr>
            <a:r>
              <a:rPr lang="ja" sz="1500" b="1" i="0" u="none" strike="noStrike" cap="none">
                <a:solidFill>
                  <a:srgbClr val="000000"/>
                </a:solidFill>
                <a:latin typeface="Meiryo"/>
                <a:ea typeface="Meiryo"/>
                <a:cs typeface="Meiryo"/>
                <a:sym typeface="Meiryo"/>
              </a:rPr>
              <a:t>中野 邦人</a:t>
            </a:r>
            <a:endParaRPr sz="1500" b="1"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1100" b="1" i="0" u="none" strike="noStrike" cap="none">
                <a:solidFill>
                  <a:srgbClr val="D5AA8F"/>
                </a:solidFill>
                <a:latin typeface="Meiryo"/>
                <a:ea typeface="Meiryo"/>
                <a:cs typeface="Meiryo"/>
                <a:sym typeface="Meiryo"/>
              </a:rPr>
              <a:t>Kunihito　Nakano</a:t>
            </a:r>
            <a:endParaRPr sz="1100" b="1" i="0" u="none" strike="noStrike" cap="none">
              <a:solidFill>
                <a:srgbClr val="D5AA8F"/>
              </a:solidFill>
              <a:latin typeface="Meiryo"/>
              <a:ea typeface="Meiryo"/>
              <a:cs typeface="Meiryo"/>
              <a:sym typeface="Meiryo"/>
            </a:endParaRPr>
          </a:p>
        </p:txBody>
      </p:sp>
      <p:sp>
        <p:nvSpPr>
          <p:cNvPr id="265" name="Google Shape;265;g34a8cbec04a_0_765"/>
          <p:cNvSpPr/>
          <p:nvPr/>
        </p:nvSpPr>
        <p:spPr>
          <a:xfrm>
            <a:off x="369819" y="2991437"/>
            <a:ext cx="2789700" cy="1809000"/>
          </a:xfrm>
          <a:prstGeom prst="rect">
            <a:avLst/>
          </a:prstGeom>
          <a:noFill/>
          <a:ln>
            <a:noFill/>
          </a:ln>
        </p:spPr>
        <p:txBody>
          <a:bodyPr spcFirstLastPara="1" wrap="square" lIns="68550" tIns="34275" rIns="68550" bIns="34275" anchor="t" anchorCtr="0">
            <a:noAutofit/>
          </a:bodyPr>
          <a:lstStyle/>
          <a:p>
            <a:pPr marL="0" marR="0" lvl="0" indent="0" algn="l" rtl="0">
              <a:lnSpc>
                <a:spcPct val="15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株式会社Seven Signaturesにて、Donald Trump氏とハワイでTrump tower Waikiki プロジェクトに関わり1日あたりの売上高のギネス記録樹立。</a:t>
            </a:r>
            <a:endParaRPr sz="800" b="0" i="0" u="none" strike="noStrike" cap="none">
              <a:solidFill>
                <a:srgbClr val="000000"/>
              </a:solidFill>
              <a:latin typeface="Meiryo"/>
              <a:ea typeface="Meiryo"/>
              <a:cs typeface="Meiryo"/>
              <a:sym typeface="Meiryo"/>
            </a:endParaRPr>
          </a:p>
          <a:p>
            <a:pPr marL="0" marR="0" lvl="0" indent="0" algn="l" rtl="0">
              <a:lnSpc>
                <a:spcPct val="150000"/>
              </a:lnSpc>
              <a:spcBef>
                <a:spcPts val="4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担当役員として学んだ不動産業のスペースシェアリング事業にて、飲食・宿泊・会議などの時間貸しコンテンツをあどばるで事業展開。</a:t>
            </a:r>
            <a:endParaRPr sz="800" b="0" i="0" u="none" strike="noStrike" cap="none">
              <a:solidFill>
                <a:srgbClr val="000000"/>
              </a:solidFill>
              <a:latin typeface="Meiryo"/>
              <a:ea typeface="Meiryo"/>
              <a:cs typeface="Meiryo"/>
              <a:sym typeface="Meiryo"/>
            </a:endParaRPr>
          </a:p>
          <a:p>
            <a:pPr marL="0" marR="0" lvl="0" indent="0" algn="l" rtl="0">
              <a:lnSpc>
                <a:spcPct val="150000"/>
              </a:lnSpc>
              <a:spcBef>
                <a:spcPts val="4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あどばる含め４社上場企業グループ入りを決断し、現在シリアルアントレプレナーとして株式会社WineBankGroupを拡大中</a:t>
            </a:r>
            <a:endParaRPr sz="800" b="0" i="0" u="none" strike="noStrike" cap="none">
              <a:solidFill>
                <a:srgbClr val="000000"/>
              </a:solidFill>
              <a:latin typeface="Meiryo"/>
              <a:ea typeface="Meiryo"/>
              <a:cs typeface="Meiryo"/>
              <a:sym typeface="Meiryo"/>
            </a:endParaRPr>
          </a:p>
        </p:txBody>
      </p:sp>
      <p:sp>
        <p:nvSpPr>
          <p:cNvPr id="266" name="Google Shape;266;g34a8cbec04a_0_765"/>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pic>
        <p:nvPicPr>
          <p:cNvPr id="267" name="Google Shape;267;g34a8cbec04a_0_765"/>
          <p:cNvPicPr preferRelativeResize="0"/>
          <p:nvPr/>
        </p:nvPicPr>
        <p:blipFill rotWithShape="1">
          <a:blip r:embed="rId3">
            <a:alphaModFix/>
          </a:blip>
          <a:srcRect/>
          <a:stretch/>
        </p:blipFill>
        <p:spPr>
          <a:xfrm>
            <a:off x="369819" y="734983"/>
            <a:ext cx="2206682" cy="1547542"/>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2"/>
        <p:cNvGrpSpPr/>
        <p:nvPr/>
      </p:nvGrpSpPr>
      <p:grpSpPr>
        <a:xfrm>
          <a:off x="0" y="0"/>
          <a:ext cx="0" cy="0"/>
          <a:chOff x="0" y="0"/>
          <a:chExt cx="0" cy="0"/>
        </a:xfrm>
      </p:grpSpPr>
      <p:sp>
        <p:nvSpPr>
          <p:cNvPr id="273" name="Google Shape;273;g34a8cbec04a_0_799"/>
          <p:cNvSpPr txBox="1"/>
          <p:nvPr/>
        </p:nvSpPr>
        <p:spPr>
          <a:xfrm>
            <a:off x="239554" y="287179"/>
            <a:ext cx="10191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会社沿革</a:t>
            </a:r>
            <a:endParaRPr sz="1400" b="1" i="0" u="none" strike="noStrike" cap="none">
              <a:solidFill>
                <a:srgbClr val="000000"/>
              </a:solidFill>
              <a:latin typeface="Meiryo"/>
              <a:ea typeface="Meiryo"/>
              <a:cs typeface="Meiryo"/>
              <a:sym typeface="Meiryo"/>
            </a:endParaRPr>
          </a:p>
        </p:txBody>
      </p:sp>
      <p:sp>
        <p:nvSpPr>
          <p:cNvPr id="274" name="Google Shape;274;g34a8cbec04a_0_799"/>
          <p:cNvSpPr txBox="1"/>
          <p:nvPr/>
        </p:nvSpPr>
        <p:spPr>
          <a:xfrm>
            <a:off x="239554" y="644517"/>
            <a:ext cx="6351600" cy="40404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1970年10月	北海道札幌で有限会社中村 開業</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1996年よりワイン販売注力、2007年レストラン ル・ヴァンテールオープン（2017年に譲渡）</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2007年05月		楽天市場出店開始</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（2025年2月現在、Yahooショッピング, Terrada Wine Marketにも出店中）</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2011年04月		ラ・ブリック（レストラン）、カーヴ・ド・ブリック（ワインショップ）オープン</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2020年07月	有限会社中村をM＆A</a:t>
            </a:r>
            <a:endParaRPr sz="14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2021年12月	第三者割当増資により株式会社PrivateBANKより3,750万円を調達</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2022年05月		Wine Cave Roppongiオープン</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2022年07月		ワインファンド1号開始</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2022年09月	株式会社WineBankに社名変更</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2022年09-10月	第三者割当増資により株式会社イノベーション・株式会社ベクトル・寺田倉庫株式会社より8,582万円を調達</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2023年02月		ワイン投資プラットフォーム「WineBank」リリース</a:t>
            </a:r>
            <a:endParaRPr sz="800" b="0" i="0" u="none" strike="noStrike" cap="none">
              <a:solidFill>
                <a:srgbClr val="000000"/>
              </a:solidFill>
              <a:latin typeface="Meiryo"/>
              <a:ea typeface="Meiryo"/>
              <a:cs typeface="Meiryo"/>
              <a:sym typeface="Meiryo"/>
            </a:endParaRPr>
          </a:p>
          <a:p>
            <a:pPr marL="0" marR="0" lvl="0"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2023年09月		マーケットプレイスを見据えた所有ワイン登録サービス リリース</a:t>
            </a:r>
            <a:endParaRPr sz="800" b="0" i="0" u="none" strike="noStrike" cap="none">
              <a:solidFill>
                <a:srgbClr val="000000"/>
              </a:solidFill>
              <a:latin typeface="Meiryo"/>
              <a:ea typeface="Meiryo"/>
              <a:cs typeface="Meiryo"/>
              <a:sym typeface="Meiryo"/>
            </a:endParaRPr>
          </a:p>
          <a:p>
            <a:pPr marL="0" marR="0" lvl="2" indent="0" algn="l" rtl="0">
              <a:lnSpc>
                <a:spcPct val="200000"/>
              </a:lnSpc>
              <a:spcBef>
                <a:spcPts val="500"/>
              </a:spcBef>
              <a:spcAft>
                <a:spcPts val="0"/>
              </a:spcAft>
              <a:buClr>
                <a:srgbClr val="000000"/>
              </a:buClr>
              <a:buSzPts val="800"/>
              <a:buFont typeface="Arial"/>
              <a:buNone/>
            </a:pPr>
            <a:r>
              <a:rPr lang="ja" sz="800" b="1" i="0" u="none" strike="noStrike" cap="none">
                <a:solidFill>
                  <a:srgbClr val="000000"/>
                </a:solidFill>
                <a:latin typeface="Meiryo"/>
                <a:ea typeface="Meiryo"/>
                <a:cs typeface="Meiryo"/>
                <a:sym typeface="Meiryo"/>
              </a:rPr>
              <a:t>　　　　　　　　　</a:t>
            </a:r>
            <a:r>
              <a:rPr lang="ja" sz="800" b="0" i="0" u="none" strike="noStrike" cap="none">
                <a:solidFill>
                  <a:srgbClr val="000000"/>
                </a:solidFill>
                <a:latin typeface="Meiryo"/>
                <a:ea typeface="Meiryo"/>
                <a:cs typeface="Meiryo"/>
                <a:sym typeface="Meiryo"/>
              </a:rPr>
              <a:t>第三者割当増資によりマネーフォワードベンチャーパートナーズ株式会社より1.5億円を調達</a:t>
            </a:r>
            <a:endParaRPr sz="800" b="0" i="0" u="none" strike="noStrike" cap="none">
              <a:solidFill>
                <a:srgbClr val="000000"/>
              </a:solidFill>
              <a:latin typeface="Meiryo"/>
              <a:ea typeface="Meiryo"/>
              <a:cs typeface="Meiryo"/>
              <a:sym typeface="Meiryo"/>
            </a:endParaRPr>
          </a:p>
          <a:p>
            <a:pPr marL="0" marR="0" lvl="2" indent="0" algn="l" rtl="0">
              <a:lnSpc>
                <a:spcPct val="200000"/>
              </a:lnSpc>
              <a:spcBef>
                <a:spcPts val="50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2024年06月		株式会社アペックスより株式会社アピシウス株式を合同会社WineBank P3にて100%取得</a:t>
            </a:r>
            <a:endParaRPr sz="1400" b="0" i="0" u="none" strike="noStrike" cap="none">
              <a:solidFill>
                <a:srgbClr val="000000"/>
              </a:solidFill>
              <a:latin typeface="Meiryo"/>
              <a:ea typeface="Meiryo"/>
              <a:cs typeface="Meiryo"/>
              <a:sym typeface="Meiryo"/>
            </a:endParaRPr>
          </a:p>
        </p:txBody>
      </p:sp>
      <p:pic>
        <p:nvPicPr>
          <p:cNvPr id="275" name="Google Shape;275;g34a8cbec04a_0_799"/>
          <p:cNvPicPr preferRelativeResize="0"/>
          <p:nvPr/>
        </p:nvPicPr>
        <p:blipFill rotWithShape="1">
          <a:blip r:embed="rId3">
            <a:alphaModFix/>
          </a:blip>
          <a:srcRect/>
          <a:stretch/>
        </p:blipFill>
        <p:spPr>
          <a:xfrm>
            <a:off x="6523988" y="3273695"/>
            <a:ext cx="2626784" cy="1759847"/>
          </a:xfrm>
          <a:prstGeom prst="rect">
            <a:avLst/>
          </a:prstGeom>
          <a:noFill/>
          <a:ln>
            <a:noFill/>
          </a:ln>
        </p:spPr>
      </p:pic>
      <p:pic>
        <p:nvPicPr>
          <p:cNvPr id="276" name="Google Shape;276;g34a8cbec04a_0_799"/>
          <p:cNvPicPr preferRelativeResize="0"/>
          <p:nvPr/>
        </p:nvPicPr>
        <p:blipFill rotWithShape="1">
          <a:blip r:embed="rId4">
            <a:alphaModFix/>
          </a:blip>
          <a:srcRect/>
          <a:stretch/>
        </p:blipFill>
        <p:spPr>
          <a:xfrm>
            <a:off x="6523689" y="1736165"/>
            <a:ext cx="2626784" cy="1543477"/>
          </a:xfrm>
          <a:prstGeom prst="rect">
            <a:avLst/>
          </a:prstGeom>
          <a:noFill/>
          <a:ln>
            <a:noFill/>
          </a:ln>
        </p:spPr>
      </p:pic>
      <p:sp>
        <p:nvSpPr>
          <p:cNvPr id="277" name="Google Shape;277;g34a8cbec04a_0_799"/>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FFFFFF"/>
              </a:solidFill>
              <a:latin typeface="Arial"/>
              <a:ea typeface="Arial"/>
              <a:cs typeface="Arial"/>
              <a:sym typeface="Arial"/>
            </a:endParaRPr>
          </a:p>
        </p:txBody>
      </p:sp>
      <p:pic>
        <p:nvPicPr>
          <p:cNvPr id="278" name="Google Shape;278;g34a8cbec04a_0_799"/>
          <p:cNvPicPr preferRelativeResize="0"/>
          <p:nvPr/>
        </p:nvPicPr>
        <p:blipFill rotWithShape="1">
          <a:blip r:embed="rId5">
            <a:alphaModFix/>
          </a:blip>
          <a:srcRect/>
          <a:stretch/>
        </p:blipFill>
        <p:spPr>
          <a:xfrm>
            <a:off x="6523373" y="0"/>
            <a:ext cx="2620628" cy="1736165"/>
          </a:xfrm>
          <a:prstGeom prst="rect">
            <a:avLst/>
          </a:prstGeom>
          <a:noFill/>
          <a:ln>
            <a:noFill/>
          </a:ln>
        </p:spPr>
      </p:pic>
      <p:sp>
        <p:nvSpPr>
          <p:cNvPr id="279" name="Google Shape;279;g34a8cbec04a_0_799"/>
          <p:cNvSpPr/>
          <p:nvPr/>
        </p:nvSpPr>
        <p:spPr>
          <a:xfrm>
            <a:off x="893750" y="970950"/>
            <a:ext cx="729600" cy="133500"/>
          </a:xfrm>
          <a:prstGeom prst="rect">
            <a:avLst/>
          </a:prstGeom>
          <a:solidFill>
            <a:srgbClr val="C68A65"/>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ワインEC事業</a:t>
            </a:r>
            <a:endParaRPr sz="600" b="0" i="0" u="none" strike="noStrike" cap="none">
              <a:solidFill>
                <a:srgbClr val="000000"/>
              </a:solidFill>
              <a:latin typeface="Arial"/>
              <a:ea typeface="Arial"/>
              <a:cs typeface="Arial"/>
              <a:sym typeface="Arial"/>
            </a:endParaRPr>
          </a:p>
        </p:txBody>
      </p:sp>
      <p:sp>
        <p:nvSpPr>
          <p:cNvPr id="280" name="Google Shape;280;g34a8cbec04a_0_799"/>
          <p:cNvSpPr/>
          <p:nvPr/>
        </p:nvSpPr>
        <p:spPr>
          <a:xfrm>
            <a:off x="893750" y="1414180"/>
            <a:ext cx="729600" cy="133500"/>
          </a:xfrm>
          <a:prstGeom prst="rect">
            <a:avLst/>
          </a:prstGeom>
          <a:solidFill>
            <a:srgbClr val="36394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飲食事業</a:t>
            </a:r>
            <a:endParaRPr sz="600" b="0" i="0" u="none" strike="noStrike" cap="none">
              <a:solidFill>
                <a:srgbClr val="000000"/>
              </a:solidFill>
              <a:latin typeface="Arial"/>
              <a:ea typeface="Arial"/>
              <a:cs typeface="Arial"/>
              <a:sym typeface="Arial"/>
            </a:endParaRPr>
          </a:p>
        </p:txBody>
      </p:sp>
      <p:sp>
        <p:nvSpPr>
          <p:cNvPr id="281" name="Google Shape;281;g34a8cbec04a_0_799"/>
          <p:cNvSpPr/>
          <p:nvPr/>
        </p:nvSpPr>
        <p:spPr>
          <a:xfrm>
            <a:off x="893750" y="2335699"/>
            <a:ext cx="729600" cy="133500"/>
          </a:xfrm>
          <a:prstGeom prst="rect">
            <a:avLst/>
          </a:prstGeom>
          <a:solidFill>
            <a:srgbClr val="36394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飲食事業</a:t>
            </a:r>
            <a:endParaRPr sz="600" b="0" i="0" u="none" strike="noStrike" cap="none">
              <a:solidFill>
                <a:srgbClr val="000000"/>
              </a:solidFill>
              <a:latin typeface="Arial"/>
              <a:ea typeface="Arial"/>
              <a:cs typeface="Arial"/>
              <a:sym typeface="Arial"/>
            </a:endParaRPr>
          </a:p>
        </p:txBody>
      </p:sp>
      <p:sp>
        <p:nvSpPr>
          <p:cNvPr id="282" name="Google Shape;282;g34a8cbec04a_0_799"/>
          <p:cNvSpPr/>
          <p:nvPr/>
        </p:nvSpPr>
        <p:spPr>
          <a:xfrm>
            <a:off x="893750" y="3572124"/>
            <a:ext cx="729600" cy="133500"/>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ワインテック事業</a:t>
            </a:r>
            <a:endParaRPr sz="600" b="0" i="0" u="none" strike="noStrike" cap="none">
              <a:solidFill>
                <a:srgbClr val="000000"/>
              </a:solidFill>
              <a:latin typeface="Arial"/>
              <a:ea typeface="Arial"/>
              <a:cs typeface="Arial"/>
              <a:sym typeface="Arial"/>
            </a:endParaRPr>
          </a:p>
        </p:txBody>
      </p:sp>
      <p:sp>
        <p:nvSpPr>
          <p:cNvPr id="283" name="Google Shape;283;g34a8cbec04a_0_799"/>
          <p:cNvSpPr/>
          <p:nvPr/>
        </p:nvSpPr>
        <p:spPr>
          <a:xfrm>
            <a:off x="893750" y="3875003"/>
            <a:ext cx="729600" cy="133500"/>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ワインテック事業</a:t>
            </a:r>
            <a:endParaRPr sz="600" b="0" i="0" u="none" strike="noStrike" cap="none">
              <a:solidFill>
                <a:srgbClr val="000000"/>
              </a:solidFill>
              <a:latin typeface="Arial"/>
              <a:ea typeface="Arial"/>
              <a:cs typeface="Arial"/>
              <a:sym typeface="Arial"/>
            </a:endParaRPr>
          </a:p>
        </p:txBody>
      </p:sp>
      <p:sp>
        <p:nvSpPr>
          <p:cNvPr id="284" name="Google Shape;284;g34a8cbec04a_0_799"/>
          <p:cNvSpPr/>
          <p:nvPr/>
        </p:nvSpPr>
        <p:spPr>
          <a:xfrm>
            <a:off x="893750" y="4501425"/>
            <a:ext cx="729600" cy="133500"/>
          </a:xfrm>
          <a:prstGeom prst="rect">
            <a:avLst/>
          </a:prstGeom>
          <a:solidFill>
            <a:srgbClr val="36394B"/>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飲食事業</a:t>
            </a:r>
            <a:endParaRPr sz="600" b="0" i="0" u="none" strike="noStrike" cap="none">
              <a:solidFill>
                <a:srgbClr val="000000"/>
              </a:solidFill>
              <a:latin typeface="Arial"/>
              <a:ea typeface="Arial"/>
              <a:cs typeface="Arial"/>
              <a:sym typeface="Arial"/>
            </a:endParaRPr>
          </a:p>
        </p:txBody>
      </p:sp>
      <p:sp>
        <p:nvSpPr>
          <p:cNvPr id="285" name="Google Shape;285;g34a8cbec04a_0_799"/>
          <p:cNvSpPr/>
          <p:nvPr/>
        </p:nvSpPr>
        <p:spPr>
          <a:xfrm>
            <a:off x="893750" y="2651450"/>
            <a:ext cx="729600" cy="133500"/>
          </a:xfrm>
          <a:prstGeom prst="rect">
            <a:avLst/>
          </a:prstGeom>
          <a:solidFill>
            <a:schemeClr val="accent2"/>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600" b="1" i="0" u="none" strike="noStrike" cap="none">
                <a:solidFill>
                  <a:schemeClr val="lt1"/>
                </a:solidFill>
                <a:latin typeface="Meiryo"/>
                <a:ea typeface="Meiryo"/>
                <a:cs typeface="Meiryo"/>
                <a:sym typeface="Meiryo"/>
              </a:rPr>
              <a:t>ワインテック事業</a:t>
            </a:r>
            <a:endParaRPr sz="600" b="0" i="0" u="none" strike="noStrike" cap="none">
              <a:solidFill>
                <a:srgbClr val="000000"/>
              </a:solidFill>
              <a:latin typeface="Arial"/>
              <a:ea typeface="Arial"/>
              <a:cs typeface="Arial"/>
              <a:sym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9"/>
        <p:cNvGrpSpPr/>
        <p:nvPr/>
      </p:nvGrpSpPr>
      <p:grpSpPr>
        <a:xfrm>
          <a:off x="0" y="0"/>
          <a:ext cx="0" cy="0"/>
          <a:chOff x="0" y="0"/>
          <a:chExt cx="0" cy="0"/>
        </a:xfrm>
      </p:grpSpPr>
      <p:sp>
        <p:nvSpPr>
          <p:cNvPr id="290" name="Google Shape;290;p34"/>
          <p:cNvSpPr/>
          <p:nvPr/>
        </p:nvSpPr>
        <p:spPr>
          <a:xfrm>
            <a:off x="3123526" y="3178394"/>
            <a:ext cx="5656332" cy="1602463"/>
          </a:xfrm>
          <a:prstGeom prst="roundRect">
            <a:avLst>
              <a:gd name="adj" fmla="val 16667"/>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291" name="Google Shape;291;p34"/>
          <p:cNvSpPr/>
          <p:nvPr/>
        </p:nvSpPr>
        <p:spPr>
          <a:xfrm>
            <a:off x="3123526" y="1127274"/>
            <a:ext cx="5656332" cy="1969542"/>
          </a:xfrm>
          <a:prstGeom prst="roundRect">
            <a:avLst>
              <a:gd name="adj" fmla="val 16667"/>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292" name="Google Shape;292;p34"/>
          <p:cNvSpPr txBox="1"/>
          <p:nvPr/>
        </p:nvSpPr>
        <p:spPr>
          <a:xfrm>
            <a:off x="239549" y="270849"/>
            <a:ext cx="3496800" cy="28466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株主及び主要提携先</a:t>
            </a:r>
            <a:endParaRPr sz="1400" b="1" i="0" u="none" strike="noStrike" cap="none">
              <a:solidFill>
                <a:srgbClr val="000000"/>
              </a:solidFill>
              <a:latin typeface="Meiryo"/>
              <a:ea typeface="Meiryo"/>
              <a:cs typeface="Meiryo"/>
              <a:sym typeface="Meiryo"/>
            </a:endParaRPr>
          </a:p>
        </p:txBody>
      </p:sp>
      <p:sp>
        <p:nvSpPr>
          <p:cNvPr id="293" name="Google Shape;293;p34"/>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Zen Kaku Gothic New"/>
              <a:ea typeface="Zen Kaku Gothic New"/>
              <a:cs typeface="Zen Kaku Gothic New"/>
              <a:sym typeface="Zen Kaku Gothic New"/>
            </a:endParaRPr>
          </a:p>
        </p:txBody>
      </p:sp>
      <p:grpSp>
        <p:nvGrpSpPr>
          <p:cNvPr id="294" name="Google Shape;294;p34"/>
          <p:cNvGrpSpPr/>
          <p:nvPr/>
        </p:nvGrpSpPr>
        <p:grpSpPr>
          <a:xfrm>
            <a:off x="4207040" y="3555559"/>
            <a:ext cx="4249660" cy="1039358"/>
            <a:chOff x="3862853" y="3583862"/>
            <a:chExt cx="4729525" cy="1156721"/>
          </a:xfrm>
        </p:grpSpPr>
        <p:pic>
          <p:nvPicPr>
            <p:cNvPr id="295" name="Google Shape;295;p34"/>
            <p:cNvPicPr preferRelativeResize="0"/>
            <p:nvPr/>
          </p:nvPicPr>
          <p:blipFill rotWithShape="1">
            <a:blip r:embed="rId3">
              <a:alphaModFix/>
            </a:blip>
            <a:srcRect/>
            <a:stretch/>
          </p:blipFill>
          <p:spPr>
            <a:xfrm>
              <a:off x="3862853" y="3583862"/>
              <a:ext cx="1244967" cy="362342"/>
            </a:xfrm>
            <a:prstGeom prst="rect">
              <a:avLst/>
            </a:prstGeom>
            <a:noFill/>
            <a:ln>
              <a:noFill/>
            </a:ln>
          </p:spPr>
        </p:pic>
        <p:pic>
          <p:nvPicPr>
            <p:cNvPr id="296" name="Google Shape;296;p34"/>
            <p:cNvPicPr preferRelativeResize="0"/>
            <p:nvPr/>
          </p:nvPicPr>
          <p:blipFill rotWithShape="1">
            <a:blip r:embed="rId4">
              <a:alphaModFix/>
            </a:blip>
            <a:srcRect/>
            <a:stretch/>
          </p:blipFill>
          <p:spPr>
            <a:xfrm>
              <a:off x="5446153" y="4192421"/>
              <a:ext cx="1635491" cy="278777"/>
            </a:xfrm>
            <a:prstGeom prst="rect">
              <a:avLst/>
            </a:prstGeom>
            <a:noFill/>
            <a:ln>
              <a:noFill/>
            </a:ln>
          </p:spPr>
        </p:pic>
        <p:pic>
          <p:nvPicPr>
            <p:cNvPr id="297" name="Google Shape;297;p34"/>
            <p:cNvPicPr preferRelativeResize="0"/>
            <p:nvPr/>
          </p:nvPicPr>
          <p:blipFill rotWithShape="1">
            <a:blip r:embed="rId5">
              <a:alphaModFix/>
            </a:blip>
            <a:srcRect/>
            <a:stretch/>
          </p:blipFill>
          <p:spPr>
            <a:xfrm>
              <a:off x="5474526" y="3600303"/>
              <a:ext cx="1578741" cy="329476"/>
            </a:xfrm>
            <a:prstGeom prst="rect">
              <a:avLst/>
            </a:prstGeom>
            <a:noFill/>
            <a:ln>
              <a:noFill/>
            </a:ln>
          </p:spPr>
        </p:pic>
        <p:pic>
          <p:nvPicPr>
            <p:cNvPr id="298" name="Google Shape;298;p34"/>
            <p:cNvPicPr preferRelativeResize="0"/>
            <p:nvPr/>
          </p:nvPicPr>
          <p:blipFill rotWithShape="1">
            <a:blip r:embed="rId6">
              <a:alphaModFix/>
            </a:blip>
            <a:srcRect/>
            <a:stretch/>
          </p:blipFill>
          <p:spPr>
            <a:xfrm>
              <a:off x="7343769" y="4116899"/>
              <a:ext cx="1248609" cy="481962"/>
            </a:xfrm>
            <a:prstGeom prst="rect">
              <a:avLst/>
            </a:prstGeom>
            <a:noFill/>
            <a:ln>
              <a:noFill/>
            </a:ln>
          </p:spPr>
        </p:pic>
        <p:pic>
          <p:nvPicPr>
            <p:cNvPr id="299" name="Google Shape;299;p34"/>
            <p:cNvPicPr preferRelativeResize="0"/>
            <p:nvPr/>
          </p:nvPicPr>
          <p:blipFill rotWithShape="1">
            <a:blip r:embed="rId7">
              <a:alphaModFix/>
            </a:blip>
            <a:srcRect/>
            <a:stretch/>
          </p:blipFill>
          <p:spPr>
            <a:xfrm>
              <a:off x="4023643" y="4115613"/>
              <a:ext cx="957812" cy="624970"/>
            </a:xfrm>
            <a:prstGeom prst="rect">
              <a:avLst/>
            </a:prstGeom>
            <a:noFill/>
            <a:ln>
              <a:noFill/>
            </a:ln>
          </p:spPr>
        </p:pic>
        <p:pic>
          <p:nvPicPr>
            <p:cNvPr id="300" name="Google Shape;300;p34"/>
            <p:cNvPicPr preferRelativeResize="0"/>
            <p:nvPr/>
          </p:nvPicPr>
          <p:blipFill rotWithShape="1">
            <a:blip r:embed="rId8">
              <a:alphaModFix/>
            </a:blip>
            <a:srcRect/>
            <a:stretch/>
          </p:blipFill>
          <p:spPr>
            <a:xfrm>
              <a:off x="7343769" y="3587991"/>
              <a:ext cx="1248608" cy="331999"/>
            </a:xfrm>
            <a:prstGeom prst="rect">
              <a:avLst/>
            </a:prstGeom>
            <a:noFill/>
            <a:ln>
              <a:noFill/>
            </a:ln>
          </p:spPr>
        </p:pic>
      </p:grpSp>
      <p:sp>
        <p:nvSpPr>
          <p:cNvPr id="301" name="Google Shape;301;p34"/>
          <p:cNvSpPr txBox="1"/>
          <p:nvPr/>
        </p:nvSpPr>
        <p:spPr>
          <a:xfrm>
            <a:off x="3316378" y="3867708"/>
            <a:ext cx="834669" cy="469329"/>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300" b="1" i="0" u="none" strike="noStrike" cap="none">
                <a:solidFill>
                  <a:schemeClr val="dk1"/>
                </a:solidFill>
                <a:latin typeface="Meiryo"/>
                <a:ea typeface="Meiryo"/>
                <a:cs typeface="Meiryo"/>
                <a:sym typeface="Meiryo"/>
              </a:rPr>
              <a:t>主要</a:t>
            </a:r>
            <a:endParaRPr sz="1300" b="1" i="0" u="none" strike="noStrike" cap="none">
              <a:solidFill>
                <a:schemeClr val="dk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1300" b="1" i="0" u="none" strike="noStrike" cap="none">
                <a:solidFill>
                  <a:schemeClr val="dk1"/>
                </a:solidFill>
                <a:latin typeface="Meiryo"/>
                <a:ea typeface="Meiryo"/>
                <a:cs typeface="Meiryo"/>
                <a:sym typeface="Meiryo"/>
              </a:rPr>
              <a:t>提携先</a:t>
            </a:r>
            <a:endParaRPr sz="1200" b="0" i="0" u="none" strike="noStrike" cap="none">
              <a:solidFill>
                <a:srgbClr val="000000"/>
              </a:solidFill>
              <a:latin typeface="Meiryo"/>
              <a:ea typeface="Meiryo"/>
              <a:cs typeface="Meiryo"/>
              <a:sym typeface="Meiryo"/>
            </a:endParaRPr>
          </a:p>
        </p:txBody>
      </p:sp>
      <p:sp>
        <p:nvSpPr>
          <p:cNvPr id="302" name="Google Shape;302;p34"/>
          <p:cNvSpPr txBox="1"/>
          <p:nvPr/>
        </p:nvSpPr>
        <p:spPr>
          <a:xfrm>
            <a:off x="0" y="629836"/>
            <a:ext cx="9144000" cy="332167"/>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chemeClr val="lt1"/>
                </a:solidFill>
                <a:latin typeface="Meiryo"/>
                <a:ea typeface="Meiryo"/>
                <a:cs typeface="Meiryo"/>
                <a:sym typeface="Meiryo"/>
              </a:rPr>
              <a:t>大手事業会社や投資家の皆様にサポート頂いております</a:t>
            </a:r>
            <a:endParaRPr sz="1400" b="1" i="0" u="none" strike="noStrike" cap="none">
              <a:solidFill>
                <a:schemeClr val="lt1"/>
              </a:solidFill>
              <a:latin typeface="Meiryo"/>
              <a:ea typeface="Meiryo"/>
              <a:cs typeface="Meiryo"/>
              <a:sym typeface="Meiryo"/>
            </a:endParaRPr>
          </a:p>
        </p:txBody>
      </p:sp>
      <p:sp>
        <p:nvSpPr>
          <p:cNvPr id="303" name="Google Shape;303;p34"/>
          <p:cNvSpPr txBox="1"/>
          <p:nvPr/>
        </p:nvSpPr>
        <p:spPr>
          <a:xfrm>
            <a:off x="387419" y="3366295"/>
            <a:ext cx="1848979" cy="11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0"/>
              <a:buFont typeface="Arial"/>
              <a:buNone/>
            </a:pPr>
            <a:r>
              <a:rPr lang="ja" sz="8000" b="1" i="0" u="none" strike="noStrike" cap="none">
                <a:solidFill>
                  <a:srgbClr val="C68A65"/>
                </a:solidFill>
                <a:latin typeface="Meiryo"/>
                <a:ea typeface="Meiryo"/>
                <a:cs typeface="Meiryo"/>
                <a:sym typeface="Meiryo"/>
              </a:rPr>
              <a:t>32</a:t>
            </a:r>
            <a:endParaRPr sz="8000" b="1" i="0" u="none" strike="noStrike" cap="none">
              <a:solidFill>
                <a:srgbClr val="C68A65"/>
              </a:solidFill>
              <a:latin typeface="Meiryo"/>
              <a:ea typeface="Meiryo"/>
              <a:cs typeface="Meiryo"/>
              <a:sym typeface="Meiryo"/>
            </a:endParaRPr>
          </a:p>
        </p:txBody>
      </p:sp>
      <p:sp>
        <p:nvSpPr>
          <p:cNvPr id="304" name="Google Shape;304;p34"/>
          <p:cNvSpPr txBox="1"/>
          <p:nvPr/>
        </p:nvSpPr>
        <p:spPr>
          <a:xfrm>
            <a:off x="331011" y="3037653"/>
            <a:ext cx="2049300" cy="362400"/>
          </a:xfrm>
          <a:prstGeom prst="rect">
            <a:avLst/>
          </a:prstGeom>
          <a:solidFill>
            <a:srgbClr val="C68A65"/>
          </a:solid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 sz="1600" b="1" i="0" u="none" strike="noStrike" cap="none">
                <a:solidFill>
                  <a:schemeClr val="lt1"/>
                </a:solidFill>
                <a:latin typeface="Meiryo"/>
                <a:ea typeface="Meiryo"/>
                <a:cs typeface="Meiryo"/>
                <a:sym typeface="Meiryo"/>
              </a:rPr>
              <a:t>ワイン在庫</a:t>
            </a:r>
            <a:r>
              <a:rPr lang="ja" sz="1200" b="1" i="0" u="none" strike="noStrike" cap="none">
                <a:solidFill>
                  <a:schemeClr val="lt1"/>
                </a:solidFill>
                <a:latin typeface="Meiryo"/>
                <a:ea typeface="Meiryo"/>
                <a:cs typeface="Meiryo"/>
                <a:sym typeface="Meiryo"/>
              </a:rPr>
              <a:t>(管理含む）</a:t>
            </a:r>
            <a:endParaRPr sz="1600" b="1" i="0" u="none" strike="noStrike" cap="none">
              <a:solidFill>
                <a:schemeClr val="lt1"/>
              </a:solidFill>
              <a:latin typeface="Meiryo"/>
              <a:ea typeface="Meiryo"/>
              <a:cs typeface="Meiryo"/>
              <a:sym typeface="Meiryo"/>
            </a:endParaRPr>
          </a:p>
        </p:txBody>
      </p:sp>
      <p:pic>
        <p:nvPicPr>
          <p:cNvPr id="305" name="Google Shape;305;p34"/>
          <p:cNvPicPr preferRelativeResize="0"/>
          <p:nvPr/>
        </p:nvPicPr>
        <p:blipFill rotWithShape="1">
          <a:blip r:embed="rId9">
            <a:alphaModFix/>
          </a:blip>
          <a:srcRect/>
          <a:stretch/>
        </p:blipFill>
        <p:spPr>
          <a:xfrm>
            <a:off x="6587130" y="2511880"/>
            <a:ext cx="1690157" cy="283972"/>
          </a:xfrm>
          <a:prstGeom prst="rect">
            <a:avLst/>
          </a:prstGeom>
          <a:noFill/>
          <a:ln>
            <a:noFill/>
          </a:ln>
        </p:spPr>
      </p:pic>
      <p:sp>
        <p:nvSpPr>
          <p:cNvPr id="306" name="Google Shape;306;p34"/>
          <p:cNvSpPr txBox="1"/>
          <p:nvPr/>
        </p:nvSpPr>
        <p:spPr>
          <a:xfrm>
            <a:off x="3518908" y="2012272"/>
            <a:ext cx="656672" cy="269274"/>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300" b="1" i="0" u="none" strike="noStrike" cap="none">
                <a:solidFill>
                  <a:schemeClr val="dk1"/>
                </a:solidFill>
                <a:latin typeface="Meiryo"/>
                <a:ea typeface="Meiryo"/>
                <a:cs typeface="Meiryo"/>
                <a:sym typeface="Meiryo"/>
              </a:rPr>
              <a:t>株主</a:t>
            </a:r>
            <a:endParaRPr sz="1200" b="0" i="0" u="none" strike="noStrike" cap="none">
              <a:solidFill>
                <a:srgbClr val="000000"/>
              </a:solidFill>
              <a:latin typeface="Meiryo"/>
              <a:ea typeface="Meiryo"/>
              <a:cs typeface="Meiryo"/>
              <a:sym typeface="Meiryo"/>
            </a:endParaRPr>
          </a:p>
        </p:txBody>
      </p:sp>
      <p:sp>
        <p:nvSpPr>
          <p:cNvPr id="307" name="Google Shape;307;p34"/>
          <p:cNvSpPr/>
          <p:nvPr/>
        </p:nvSpPr>
        <p:spPr>
          <a:xfrm>
            <a:off x="4272514" y="1319453"/>
            <a:ext cx="1595909" cy="307739"/>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東証プライム上場</a:t>
            </a:r>
            <a:endParaRPr sz="8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マネーフォワードグループ</a:t>
            </a:r>
            <a:endParaRPr sz="800" b="0" i="0" u="none" strike="noStrike" cap="none">
              <a:solidFill>
                <a:srgbClr val="000000"/>
              </a:solidFill>
              <a:latin typeface="Meiryo"/>
              <a:ea typeface="Meiryo"/>
              <a:cs typeface="Meiryo"/>
              <a:sym typeface="Meiryo"/>
            </a:endParaRPr>
          </a:p>
        </p:txBody>
      </p:sp>
      <p:sp>
        <p:nvSpPr>
          <p:cNvPr id="308" name="Google Shape;308;p34"/>
          <p:cNvSpPr/>
          <p:nvPr/>
        </p:nvSpPr>
        <p:spPr>
          <a:xfrm>
            <a:off x="6664473" y="1319475"/>
            <a:ext cx="1321500" cy="307800"/>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東証プライム上場</a:t>
            </a:r>
            <a:endParaRPr sz="800" b="0" i="0" u="none" strike="noStrike" cap="none">
              <a:solidFill>
                <a:srgbClr val="000000"/>
              </a:solidFill>
              <a:latin typeface="Meiryo"/>
              <a:ea typeface="Meiryo"/>
              <a:cs typeface="Meiryo"/>
              <a:sym typeface="Meiryo"/>
            </a:endParaRPr>
          </a:p>
        </p:txBody>
      </p:sp>
      <p:sp>
        <p:nvSpPr>
          <p:cNvPr id="309" name="Google Shape;309;p34"/>
          <p:cNvSpPr/>
          <p:nvPr/>
        </p:nvSpPr>
        <p:spPr>
          <a:xfrm>
            <a:off x="6451501" y="2178918"/>
            <a:ext cx="1746102" cy="307739"/>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超富裕層向けファミリーオフィス</a:t>
            </a:r>
            <a:endParaRPr sz="800" b="0" i="0" u="none" strike="noStrike" cap="none">
              <a:solidFill>
                <a:srgbClr val="000000"/>
              </a:solidFill>
              <a:latin typeface="Meiryo"/>
              <a:ea typeface="Meiryo"/>
              <a:cs typeface="Meiryo"/>
              <a:sym typeface="Meiryo"/>
            </a:endParaRPr>
          </a:p>
        </p:txBody>
      </p:sp>
      <p:sp>
        <p:nvSpPr>
          <p:cNvPr id="310" name="Google Shape;310;p34"/>
          <p:cNvSpPr/>
          <p:nvPr/>
        </p:nvSpPr>
        <p:spPr>
          <a:xfrm>
            <a:off x="4314797" y="2152820"/>
            <a:ext cx="1371230" cy="307739"/>
          </a:xfrm>
          <a:prstGeom prst="roundRect">
            <a:avLst>
              <a:gd name="adj" fmla="val 16667"/>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独立系最大の倉庫会社</a:t>
            </a:r>
            <a:endParaRPr sz="800" b="0" i="0" u="none" strike="noStrike" cap="none">
              <a:solidFill>
                <a:srgbClr val="000000"/>
              </a:solidFill>
              <a:latin typeface="Meiryo"/>
              <a:ea typeface="Meiryo"/>
              <a:cs typeface="Meiryo"/>
              <a:sym typeface="Meiryo"/>
            </a:endParaRPr>
          </a:p>
        </p:txBody>
      </p:sp>
      <p:grpSp>
        <p:nvGrpSpPr>
          <p:cNvPr id="311" name="Google Shape;311;p34"/>
          <p:cNvGrpSpPr/>
          <p:nvPr/>
        </p:nvGrpSpPr>
        <p:grpSpPr>
          <a:xfrm>
            <a:off x="239549" y="1194161"/>
            <a:ext cx="2823320" cy="1445831"/>
            <a:chOff x="611507" y="1537109"/>
            <a:chExt cx="2425817" cy="1445831"/>
          </a:xfrm>
        </p:grpSpPr>
        <p:sp>
          <p:nvSpPr>
            <p:cNvPr id="312" name="Google Shape;312;p34"/>
            <p:cNvSpPr txBox="1"/>
            <p:nvPr/>
          </p:nvSpPr>
          <p:spPr>
            <a:xfrm>
              <a:off x="611507" y="1811440"/>
              <a:ext cx="1715708" cy="1171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8000"/>
                <a:buFont typeface="Arial"/>
                <a:buNone/>
              </a:pPr>
              <a:r>
                <a:rPr lang="ja" sz="8000" b="1" i="0" u="none" strike="noStrike" cap="none">
                  <a:solidFill>
                    <a:srgbClr val="C68A65"/>
                  </a:solidFill>
                  <a:latin typeface="Meiryo"/>
                  <a:ea typeface="Meiryo"/>
                  <a:cs typeface="Meiryo"/>
                  <a:sym typeface="Meiryo"/>
                </a:rPr>
                <a:t>9.5</a:t>
              </a:r>
              <a:endParaRPr sz="2600" b="0" i="0" u="none" strike="noStrike" cap="none">
                <a:solidFill>
                  <a:srgbClr val="C68A65"/>
                </a:solidFill>
                <a:latin typeface="Meiryo"/>
                <a:ea typeface="Meiryo"/>
                <a:cs typeface="Meiryo"/>
                <a:sym typeface="Meiryo"/>
              </a:endParaRPr>
            </a:p>
          </p:txBody>
        </p:sp>
        <p:sp>
          <p:nvSpPr>
            <p:cNvPr id="313" name="Google Shape;313;p34"/>
            <p:cNvSpPr txBox="1"/>
            <p:nvPr/>
          </p:nvSpPr>
          <p:spPr>
            <a:xfrm>
              <a:off x="686064" y="1537109"/>
              <a:ext cx="1329900" cy="362400"/>
            </a:xfrm>
            <a:prstGeom prst="rect">
              <a:avLst/>
            </a:prstGeom>
            <a:solidFill>
              <a:srgbClr val="C68A65"/>
            </a:solidFill>
            <a:ln w="9525" cap="flat" cmpd="sng">
              <a:solidFill>
                <a:srgbClr val="C68A65"/>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600"/>
                <a:buFont typeface="Arial"/>
                <a:buNone/>
              </a:pPr>
              <a:r>
                <a:rPr lang="ja" sz="1600" b="1" i="0" u="none" strike="noStrike" cap="none">
                  <a:solidFill>
                    <a:schemeClr val="lt1"/>
                  </a:solidFill>
                  <a:latin typeface="Meiryo"/>
                  <a:ea typeface="Meiryo"/>
                  <a:cs typeface="Meiryo"/>
                  <a:sym typeface="Meiryo"/>
                </a:rPr>
                <a:t>累計調達額</a:t>
              </a:r>
              <a:endParaRPr sz="1600" b="1" i="0" u="none" strike="noStrike" cap="none">
                <a:solidFill>
                  <a:schemeClr val="lt1"/>
                </a:solidFill>
                <a:latin typeface="Meiryo"/>
                <a:ea typeface="Meiryo"/>
                <a:cs typeface="Meiryo"/>
                <a:sym typeface="Meiryo"/>
              </a:endParaRPr>
            </a:p>
          </p:txBody>
        </p:sp>
        <p:sp>
          <p:nvSpPr>
            <p:cNvPr id="314" name="Google Shape;314;p34"/>
            <p:cNvSpPr txBox="1"/>
            <p:nvPr/>
          </p:nvSpPr>
          <p:spPr>
            <a:xfrm>
              <a:off x="2157467" y="2454993"/>
              <a:ext cx="87985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 sz="2400" b="1" i="0" u="none" strike="noStrike" cap="none">
                  <a:solidFill>
                    <a:srgbClr val="C68A65"/>
                  </a:solidFill>
                  <a:latin typeface="Meiryo"/>
                  <a:ea typeface="Meiryo"/>
                  <a:cs typeface="Meiryo"/>
                  <a:sym typeface="Meiryo"/>
                </a:rPr>
                <a:t>億円</a:t>
              </a:r>
              <a:endParaRPr sz="2400" b="1" i="0" u="none" strike="noStrike" cap="none">
                <a:solidFill>
                  <a:srgbClr val="C68A65"/>
                </a:solidFill>
                <a:latin typeface="Meiryo"/>
                <a:ea typeface="Meiryo"/>
                <a:cs typeface="Meiryo"/>
                <a:sym typeface="Meiryo"/>
              </a:endParaRPr>
            </a:p>
          </p:txBody>
        </p:sp>
      </p:grpSp>
      <p:sp>
        <p:nvSpPr>
          <p:cNvPr id="315" name="Google Shape;315;p34"/>
          <p:cNvSpPr txBox="1"/>
          <p:nvPr/>
        </p:nvSpPr>
        <p:spPr>
          <a:xfrm>
            <a:off x="1897433" y="3975632"/>
            <a:ext cx="879857" cy="46166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ja" sz="2400" b="1" i="0" u="none" strike="noStrike" cap="none">
                <a:solidFill>
                  <a:srgbClr val="C68A65"/>
                </a:solidFill>
                <a:latin typeface="Meiryo"/>
                <a:ea typeface="Meiryo"/>
                <a:cs typeface="Meiryo"/>
                <a:sym typeface="Meiryo"/>
              </a:rPr>
              <a:t>億円</a:t>
            </a:r>
            <a:endParaRPr sz="2400" b="1" i="0" u="none" strike="noStrike" cap="none">
              <a:solidFill>
                <a:srgbClr val="C68A65"/>
              </a:solidFill>
              <a:latin typeface="Meiryo"/>
              <a:ea typeface="Meiryo"/>
              <a:cs typeface="Meiryo"/>
              <a:sym typeface="Meiryo"/>
            </a:endParaRPr>
          </a:p>
        </p:txBody>
      </p:sp>
      <p:pic>
        <p:nvPicPr>
          <p:cNvPr id="316" name="Google Shape;316;p34" title="2019_Terrada_logo_透過.png"/>
          <p:cNvPicPr preferRelativeResize="0"/>
          <p:nvPr/>
        </p:nvPicPr>
        <p:blipFill rotWithShape="1">
          <a:blip r:embed="rId10">
            <a:alphaModFix/>
          </a:blip>
          <a:srcRect/>
          <a:stretch/>
        </p:blipFill>
        <p:spPr>
          <a:xfrm>
            <a:off x="4445017" y="2445874"/>
            <a:ext cx="1387483" cy="362400"/>
          </a:xfrm>
          <a:prstGeom prst="rect">
            <a:avLst/>
          </a:prstGeom>
          <a:noFill/>
          <a:ln>
            <a:noFill/>
          </a:ln>
        </p:spPr>
      </p:pic>
      <p:pic>
        <p:nvPicPr>
          <p:cNvPr id="317" name="Google Shape;317;p34" title="logo_vector.png"/>
          <p:cNvPicPr preferRelativeResize="0"/>
          <p:nvPr/>
        </p:nvPicPr>
        <p:blipFill rotWithShape="1">
          <a:blip r:embed="rId11">
            <a:alphaModFix/>
          </a:blip>
          <a:srcRect/>
          <a:stretch/>
        </p:blipFill>
        <p:spPr>
          <a:xfrm>
            <a:off x="6451700" y="1552575"/>
            <a:ext cx="1644550" cy="545991"/>
          </a:xfrm>
          <a:prstGeom prst="rect">
            <a:avLst/>
          </a:prstGeom>
          <a:noFill/>
          <a:ln>
            <a:noFill/>
          </a:ln>
        </p:spPr>
      </p:pic>
      <p:pic>
        <p:nvPicPr>
          <p:cNvPr id="318" name="Google Shape;318;p34" title="MFVPロゴ.png"/>
          <p:cNvPicPr preferRelativeResize="0"/>
          <p:nvPr/>
        </p:nvPicPr>
        <p:blipFill rotWithShape="1">
          <a:blip r:embed="rId12">
            <a:alphaModFix/>
          </a:blip>
          <a:srcRect/>
          <a:stretch/>
        </p:blipFill>
        <p:spPr>
          <a:xfrm>
            <a:off x="4259297" y="1631074"/>
            <a:ext cx="2293902" cy="39550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22"/>
        <p:cNvGrpSpPr/>
        <p:nvPr/>
      </p:nvGrpSpPr>
      <p:grpSpPr>
        <a:xfrm>
          <a:off x="0" y="0"/>
          <a:ext cx="0" cy="0"/>
          <a:chOff x="0" y="0"/>
          <a:chExt cx="0" cy="0"/>
        </a:xfrm>
      </p:grpSpPr>
      <p:sp>
        <p:nvSpPr>
          <p:cNvPr id="323" name="Google Shape;323;g34a8cbec04a_0_180"/>
          <p:cNvSpPr txBox="1"/>
          <p:nvPr/>
        </p:nvSpPr>
        <p:spPr>
          <a:xfrm>
            <a:off x="2200166" y="2196149"/>
            <a:ext cx="4743600" cy="417600"/>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ja" sz="2200" b="1" i="0" u="none" strike="noStrike" cap="none">
                <a:solidFill>
                  <a:srgbClr val="171616"/>
                </a:solidFill>
                <a:latin typeface="Meiryo"/>
                <a:ea typeface="Meiryo"/>
                <a:cs typeface="Meiryo"/>
                <a:sym typeface="Meiryo"/>
              </a:rPr>
              <a:t>BUSINESS INTRODUCTION</a:t>
            </a:r>
            <a:endParaRPr sz="1100" b="0" i="0" u="none" strike="noStrike" cap="none">
              <a:solidFill>
                <a:srgbClr val="000000"/>
              </a:solidFill>
              <a:latin typeface="Arial"/>
              <a:ea typeface="Arial"/>
              <a:cs typeface="Arial"/>
              <a:sym typeface="Arial"/>
            </a:endParaRPr>
          </a:p>
        </p:txBody>
      </p:sp>
      <p:sp>
        <p:nvSpPr>
          <p:cNvPr id="324" name="Google Shape;324;g34a8cbec04a_0_180"/>
          <p:cNvSpPr txBox="1"/>
          <p:nvPr/>
        </p:nvSpPr>
        <p:spPr>
          <a:xfrm>
            <a:off x="3789759" y="2758010"/>
            <a:ext cx="1564500" cy="202200"/>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800"/>
              <a:buFont typeface="Arial"/>
              <a:buNone/>
            </a:pPr>
            <a:r>
              <a:rPr lang="ja" sz="800" b="0" i="0" u="none" strike="noStrike" cap="none">
                <a:solidFill>
                  <a:srgbClr val="595959"/>
                </a:solidFill>
                <a:latin typeface="Meiryo"/>
                <a:ea typeface="Meiryo"/>
                <a:cs typeface="Meiryo"/>
                <a:sym typeface="Meiryo"/>
              </a:rPr>
              <a:t>事業紹介</a:t>
            </a:r>
            <a:endParaRPr sz="1100" b="0" i="0" u="none" strike="noStrike" cap="none">
              <a:solidFill>
                <a:srgbClr val="000000"/>
              </a:solidFill>
              <a:latin typeface="Arial"/>
              <a:ea typeface="Arial"/>
              <a:cs typeface="Arial"/>
              <a:sym typeface="Arial"/>
            </a:endParaRPr>
          </a:p>
        </p:txBody>
      </p:sp>
      <p:cxnSp>
        <p:nvCxnSpPr>
          <p:cNvPr id="325" name="Google Shape;325;g34a8cbec04a_0_180"/>
          <p:cNvCxnSpPr/>
          <p:nvPr/>
        </p:nvCxnSpPr>
        <p:spPr>
          <a:xfrm>
            <a:off x="4446270" y="2644140"/>
            <a:ext cx="258900" cy="0"/>
          </a:xfrm>
          <a:prstGeom prst="straightConnector1">
            <a:avLst/>
          </a:prstGeom>
          <a:noFill/>
          <a:ln w="9525" cap="flat" cmpd="sng">
            <a:solidFill>
              <a:srgbClr val="A5A5A5"/>
            </a:solidFill>
            <a:prstDash val="solid"/>
            <a:miter lim="80"/>
            <a:headEnd type="none" w="sm" len="sm"/>
            <a:tailEnd type="none" w="sm" len="sm"/>
          </a:ln>
        </p:spPr>
      </p:cxnSp>
      <p:sp>
        <p:nvSpPr>
          <p:cNvPr id="326" name="Google Shape;326;g34a8cbec04a_0_18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327" name="Google Shape;327;g34a8cbec04a_0_18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8</a:t>
            </a:fld>
            <a:endParaRPr/>
          </a:p>
        </p:txBody>
      </p:sp>
      <p:sp>
        <p:nvSpPr>
          <p:cNvPr id="328" name="Google Shape;328;g34a8cbec04a_0_180"/>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32"/>
        <p:cNvGrpSpPr/>
        <p:nvPr/>
      </p:nvGrpSpPr>
      <p:grpSpPr>
        <a:xfrm>
          <a:off x="0" y="0"/>
          <a:ext cx="0" cy="0"/>
          <a:chOff x="0" y="0"/>
          <a:chExt cx="0" cy="0"/>
        </a:xfrm>
      </p:grpSpPr>
      <p:pic>
        <p:nvPicPr>
          <p:cNvPr id="333" name="Google Shape;333;g34a8cbec04a_0_189"/>
          <p:cNvPicPr preferRelativeResize="0"/>
          <p:nvPr/>
        </p:nvPicPr>
        <p:blipFill rotWithShape="1">
          <a:blip r:embed="rId3">
            <a:alphaModFix/>
          </a:blip>
          <a:srcRect t="7983" b="7805"/>
          <a:stretch/>
        </p:blipFill>
        <p:spPr>
          <a:xfrm>
            <a:off x="0" y="0"/>
            <a:ext cx="9161919" cy="5143500"/>
          </a:xfrm>
          <a:prstGeom prst="rect">
            <a:avLst/>
          </a:prstGeom>
          <a:noFill/>
          <a:ln>
            <a:noFill/>
          </a:ln>
        </p:spPr>
      </p:pic>
      <p:sp>
        <p:nvSpPr>
          <p:cNvPr id="334" name="Google Shape;334;g34a8cbec04a_0_189"/>
          <p:cNvSpPr/>
          <p:nvPr/>
        </p:nvSpPr>
        <p:spPr>
          <a:xfrm>
            <a:off x="-1" y="0"/>
            <a:ext cx="9144000" cy="5143500"/>
          </a:xfrm>
          <a:prstGeom prst="rect">
            <a:avLst/>
          </a:prstGeom>
          <a:solidFill>
            <a:schemeClr val="dk1">
              <a:alpha val="62353"/>
            </a:schemeClr>
          </a:solid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rgbClr val="000000"/>
              </a:buClr>
              <a:buSzPts val="1200"/>
              <a:buFont typeface="Arial"/>
              <a:buNone/>
            </a:pPr>
            <a:r>
              <a:rPr lang="ja" sz="1200" b="0" i="0" u="none" strike="noStrike" cap="none">
                <a:solidFill>
                  <a:schemeClr val="lt1"/>
                </a:solidFill>
                <a:latin typeface="Meiryo"/>
                <a:ea typeface="Meiryo"/>
                <a:cs typeface="Meiryo"/>
                <a:sym typeface="Meiryo"/>
              </a:rPr>
              <a:t>　　　　　　　　　　　　　　　　　　　</a:t>
            </a:r>
            <a:endParaRPr sz="1200" b="1" i="0" u="none" strike="noStrike" cap="none">
              <a:solidFill>
                <a:schemeClr val="lt1"/>
              </a:solidFill>
              <a:latin typeface="Meiryo"/>
              <a:ea typeface="Meiryo"/>
              <a:cs typeface="Meiryo"/>
              <a:sym typeface="Meiryo"/>
            </a:endParaRPr>
          </a:p>
        </p:txBody>
      </p:sp>
      <p:sp>
        <p:nvSpPr>
          <p:cNvPr id="335" name="Google Shape;335;g34a8cbec04a_0_189"/>
          <p:cNvSpPr txBox="1"/>
          <p:nvPr/>
        </p:nvSpPr>
        <p:spPr>
          <a:xfrm>
            <a:off x="239766" y="287249"/>
            <a:ext cx="22164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chemeClr val="lt1"/>
                </a:solidFill>
                <a:latin typeface="Meiryo"/>
                <a:ea typeface="Meiryo"/>
                <a:cs typeface="Meiryo"/>
                <a:sym typeface="Meiryo"/>
              </a:rPr>
              <a:t>事業の強み</a:t>
            </a:r>
            <a:endParaRPr sz="1200" b="1" i="0" u="none" strike="noStrike" cap="none">
              <a:solidFill>
                <a:schemeClr val="lt1"/>
              </a:solidFill>
              <a:latin typeface="Meiryo"/>
              <a:ea typeface="Meiryo"/>
              <a:cs typeface="Meiryo"/>
              <a:sym typeface="Meiryo"/>
            </a:endParaRPr>
          </a:p>
        </p:txBody>
      </p:sp>
      <p:sp>
        <p:nvSpPr>
          <p:cNvPr id="336" name="Google Shape;336;g34a8cbec04a_0_189"/>
          <p:cNvSpPr/>
          <p:nvPr/>
        </p:nvSpPr>
        <p:spPr>
          <a:xfrm>
            <a:off x="790414" y="953146"/>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 sz="1400" b="0" i="0" u="none" strike="noStrike" cap="none">
                <a:solidFill>
                  <a:schemeClr val="lt1"/>
                </a:solidFill>
                <a:latin typeface="Meiryo"/>
                <a:ea typeface="Meiryo"/>
                <a:cs typeface="Meiryo"/>
                <a:sym typeface="Meiryo"/>
              </a:rPr>
              <a:t>１．創業55年の酒販業実績（昭和の酒販店）</a:t>
            </a:r>
            <a:endParaRPr sz="1400" b="0" i="0" u="none" strike="noStrike" cap="none">
              <a:solidFill>
                <a:schemeClr val="lt1"/>
              </a:solidFill>
              <a:latin typeface="Meiryo"/>
              <a:ea typeface="Meiryo"/>
              <a:cs typeface="Meiryo"/>
              <a:sym typeface="Meiryo"/>
            </a:endParaRPr>
          </a:p>
        </p:txBody>
      </p:sp>
      <p:sp>
        <p:nvSpPr>
          <p:cNvPr id="337" name="Google Shape;337;g34a8cbec04a_0_189"/>
          <p:cNvSpPr/>
          <p:nvPr/>
        </p:nvSpPr>
        <p:spPr>
          <a:xfrm>
            <a:off x="790414" y="1850178"/>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 sz="1400" b="0" i="0" u="none" strike="noStrike" cap="none">
                <a:solidFill>
                  <a:schemeClr val="lt1"/>
                </a:solidFill>
                <a:latin typeface="Meiryo"/>
                <a:ea typeface="Meiryo"/>
                <a:cs typeface="Meiryo"/>
                <a:sym typeface="Meiryo"/>
              </a:rPr>
              <a:t>２．国内大手有名インポーターからの直接取引による特価・正規品仕入</a:t>
            </a:r>
            <a:endParaRPr sz="1400" b="0" i="0" u="none" strike="noStrike" cap="none">
              <a:solidFill>
                <a:schemeClr val="lt1"/>
              </a:solidFill>
              <a:latin typeface="Arial"/>
              <a:ea typeface="Arial"/>
              <a:cs typeface="Arial"/>
              <a:sym typeface="Arial"/>
            </a:endParaRPr>
          </a:p>
        </p:txBody>
      </p:sp>
      <p:sp>
        <p:nvSpPr>
          <p:cNvPr id="338" name="Google Shape;338;g34a8cbec04a_0_189"/>
          <p:cNvSpPr/>
          <p:nvPr/>
        </p:nvSpPr>
        <p:spPr>
          <a:xfrm>
            <a:off x="790414" y="2747210"/>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100"/>
              <a:buFont typeface="Arial"/>
              <a:buNone/>
            </a:pPr>
            <a:r>
              <a:rPr lang="ja" sz="1400" b="0" i="0" u="none" strike="noStrike" cap="none">
                <a:solidFill>
                  <a:schemeClr val="lt1"/>
                </a:solidFill>
                <a:latin typeface="Meiryo"/>
                <a:ea typeface="Meiryo"/>
                <a:cs typeface="Meiryo"/>
                <a:sym typeface="Meiryo"/>
              </a:rPr>
              <a:t>３．海外輸出入ライセンスを活かしたネットワーク・情報収集・仕入力</a:t>
            </a:r>
            <a:endParaRPr sz="1100" b="0" i="0" u="none" strike="noStrike" cap="none">
              <a:solidFill>
                <a:srgbClr val="000000"/>
              </a:solidFill>
              <a:latin typeface="Arial"/>
              <a:ea typeface="Arial"/>
              <a:cs typeface="Arial"/>
              <a:sym typeface="Arial"/>
            </a:endParaRPr>
          </a:p>
        </p:txBody>
      </p:sp>
      <p:sp>
        <p:nvSpPr>
          <p:cNvPr id="339" name="Google Shape;339;g34a8cbec04a_0_189"/>
          <p:cNvSpPr/>
          <p:nvPr/>
        </p:nvSpPr>
        <p:spPr>
          <a:xfrm>
            <a:off x="790414" y="3644243"/>
            <a:ext cx="7566900" cy="546300"/>
          </a:xfrm>
          <a:prstGeom prst="rect">
            <a:avLst/>
          </a:prstGeom>
          <a:solidFill>
            <a:schemeClr val="lt1">
              <a:alpha val="40000"/>
            </a:schemeClr>
          </a:solidFill>
          <a:ln>
            <a:noFill/>
          </a:ln>
        </p:spPr>
        <p:txBody>
          <a:bodyPr spcFirstLastPara="1" wrap="square" lIns="68575" tIns="34275" rIns="68575" bIns="34275" anchor="ctr" anchorCtr="0">
            <a:noAutofit/>
          </a:bodyPr>
          <a:lstStyle/>
          <a:p>
            <a:pPr marL="0" marR="0" lvl="0" indent="0" algn="l" rtl="0">
              <a:lnSpc>
                <a:spcPct val="200000"/>
              </a:lnSpc>
              <a:spcBef>
                <a:spcPts val="0"/>
              </a:spcBef>
              <a:spcAft>
                <a:spcPts val="0"/>
              </a:spcAft>
              <a:buClr>
                <a:srgbClr val="000000"/>
              </a:buClr>
              <a:buSzPts val="1400"/>
              <a:buFont typeface="Arial"/>
              <a:buNone/>
            </a:pPr>
            <a:r>
              <a:rPr lang="ja" sz="1400" b="0" i="0" u="none" strike="noStrike" cap="none">
                <a:solidFill>
                  <a:schemeClr val="lt1"/>
                </a:solidFill>
                <a:latin typeface="Meiryo"/>
                <a:ea typeface="Meiryo"/>
                <a:cs typeface="Meiryo"/>
                <a:sym typeface="Meiryo"/>
              </a:rPr>
              <a:t>４．</a:t>
            </a:r>
            <a:r>
              <a:rPr lang="ja">
                <a:solidFill>
                  <a:schemeClr val="lt1"/>
                </a:solidFill>
                <a:latin typeface="Meiryo"/>
                <a:ea typeface="Meiryo"/>
                <a:cs typeface="Meiryo"/>
                <a:sym typeface="Meiryo"/>
              </a:rPr>
              <a:t>数千名のワイン愛好家・富裕層会員規模</a:t>
            </a:r>
            <a:endParaRPr sz="1100" b="0" i="0" u="none" strike="noStrike" cap="none">
              <a:solidFill>
                <a:srgbClr val="000000"/>
              </a:solidFill>
              <a:latin typeface="Arial"/>
              <a:ea typeface="Arial"/>
              <a:cs typeface="Arial"/>
              <a:sym typeface="Arial"/>
            </a:endParaRPr>
          </a:p>
        </p:txBody>
      </p:sp>
      <p:sp>
        <p:nvSpPr>
          <p:cNvPr id="340" name="Google Shape;340;g34a8cbec04a_0_18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9</a:t>
            </a:fld>
            <a:endParaRPr/>
          </a:p>
        </p:txBody>
      </p:sp>
      <p:sp>
        <p:nvSpPr>
          <p:cNvPr id="341" name="Google Shape;341;g34a8cbec04a_0_189"/>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45"/>
        <p:cNvGrpSpPr/>
        <p:nvPr/>
      </p:nvGrpSpPr>
      <p:grpSpPr>
        <a:xfrm>
          <a:off x="0" y="0"/>
          <a:ext cx="0" cy="0"/>
          <a:chOff x="0" y="0"/>
          <a:chExt cx="0" cy="0"/>
        </a:xfrm>
      </p:grpSpPr>
      <p:sp>
        <p:nvSpPr>
          <p:cNvPr id="346" name="Google Shape;346;p4"/>
          <p:cNvSpPr/>
          <p:nvPr/>
        </p:nvSpPr>
        <p:spPr>
          <a:xfrm>
            <a:off x="4524759" y="3397772"/>
            <a:ext cx="4301700" cy="1418700"/>
          </a:xfrm>
          <a:prstGeom prst="roundRect">
            <a:avLst>
              <a:gd name="adj" fmla="val 6401"/>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47" name="Google Shape;347;p4"/>
          <p:cNvSpPr/>
          <p:nvPr/>
        </p:nvSpPr>
        <p:spPr>
          <a:xfrm>
            <a:off x="317662" y="3400705"/>
            <a:ext cx="4064400" cy="14157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48" name="Google Shape;348;p4"/>
          <p:cNvSpPr/>
          <p:nvPr/>
        </p:nvSpPr>
        <p:spPr>
          <a:xfrm>
            <a:off x="317662" y="1597399"/>
            <a:ext cx="4064400" cy="14157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49" name="Google Shape;349;p4"/>
          <p:cNvSpPr/>
          <p:nvPr/>
        </p:nvSpPr>
        <p:spPr>
          <a:xfrm>
            <a:off x="4524759" y="1597399"/>
            <a:ext cx="4301700" cy="1418700"/>
          </a:xfrm>
          <a:prstGeom prst="roundRect">
            <a:avLst>
              <a:gd name="adj" fmla="val 6401"/>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350" name="Google Shape;350;p4"/>
          <p:cNvSpPr txBox="1"/>
          <p:nvPr/>
        </p:nvSpPr>
        <p:spPr>
          <a:xfrm>
            <a:off x="239767" y="287249"/>
            <a:ext cx="2013600" cy="28466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事業概要</a:t>
            </a:r>
            <a:endParaRPr sz="1400" b="1" i="0" u="none" strike="noStrike" cap="none">
              <a:solidFill>
                <a:srgbClr val="000000"/>
              </a:solidFill>
              <a:latin typeface="Meiryo"/>
              <a:ea typeface="Meiryo"/>
              <a:cs typeface="Meiryo"/>
              <a:sym typeface="Meiryo"/>
            </a:endParaRPr>
          </a:p>
        </p:txBody>
      </p:sp>
      <p:sp>
        <p:nvSpPr>
          <p:cNvPr id="351" name="Google Shape;351;p4"/>
          <p:cNvSpPr txBox="1"/>
          <p:nvPr/>
        </p:nvSpPr>
        <p:spPr>
          <a:xfrm>
            <a:off x="0" y="673748"/>
            <a:ext cx="9144000" cy="327752"/>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chemeClr val="lt1"/>
                </a:solidFill>
                <a:latin typeface="Meiryo"/>
                <a:ea typeface="Meiryo"/>
                <a:cs typeface="Meiryo"/>
                <a:sym typeface="Meiryo"/>
              </a:rPr>
              <a:t>ワインの仕入れを強みに、オンライン×オフラインでの事業展開</a:t>
            </a:r>
            <a:endParaRPr sz="1400" b="1" i="0" u="none" strike="noStrike" cap="none">
              <a:solidFill>
                <a:schemeClr val="lt1"/>
              </a:solidFill>
              <a:latin typeface="Meiryo"/>
              <a:ea typeface="Meiryo"/>
              <a:cs typeface="Meiryo"/>
              <a:sym typeface="Meiryo"/>
            </a:endParaRPr>
          </a:p>
        </p:txBody>
      </p:sp>
      <p:sp>
        <p:nvSpPr>
          <p:cNvPr id="352" name="Google Shape;352;p4"/>
          <p:cNvSpPr/>
          <p:nvPr/>
        </p:nvSpPr>
        <p:spPr>
          <a:xfrm>
            <a:off x="0" y="503475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353" name="Google Shape;353;p4"/>
          <p:cNvSpPr/>
          <p:nvPr/>
        </p:nvSpPr>
        <p:spPr>
          <a:xfrm>
            <a:off x="6731651" y="3614495"/>
            <a:ext cx="1862100" cy="2739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30373F"/>
                </a:solidFill>
                <a:latin typeface="Meiryo"/>
                <a:ea typeface="Meiryo"/>
                <a:cs typeface="Meiryo"/>
                <a:sym typeface="Meiryo"/>
              </a:rPr>
              <a:t>会員制ワインサロン事業</a:t>
            </a:r>
            <a:endParaRPr sz="1100" b="0" i="0" u="none" strike="noStrike" cap="none">
              <a:solidFill>
                <a:srgbClr val="000000"/>
              </a:solidFill>
              <a:latin typeface="Meiryo"/>
              <a:ea typeface="Meiryo"/>
              <a:cs typeface="Meiryo"/>
              <a:sym typeface="Meiryo"/>
            </a:endParaRPr>
          </a:p>
        </p:txBody>
      </p:sp>
      <p:sp>
        <p:nvSpPr>
          <p:cNvPr id="354" name="Google Shape;354;p4"/>
          <p:cNvSpPr/>
          <p:nvPr/>
        </p:nvSpPr>
        <p:spPr>
          <a:xfrm>
            <a:off x="4835450" y="3802958"/>
            <a:ext cx="1648800" cy="697200"/>
          </a:xfrm>
          <a:prstGeom prst="rect">
            <a:avLst/>
          </a:prstGeom>
          <a:no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200"/>
              <a:buFont typeface="Arial"/>
              <a:buNone/>
            </a:pPr>
            <a:r>
              <a:rPr lang="ja" sz="2100" b="1" i="0" u="none" strike="noStrike" cap="none">
                <a:solidFill>
                  <a:srgbClr val="30373F"/>
                </a:solidFill>
                <a:latin typeface="Times New Roman"/>
                <a:ea typeface="Times New Roman"/>
                <a:cs typeface="Times New Roman"/>
                <a:sym typeface="Times New Roman"/>
              </a:rPr>
              <a:t>WineBank</a:t>
            </a:r>
            <a:endParaRPr sz="2100" b="1" i="0" u="none" strike="noStrike" cap="none">
              <a:solidFill>
                <a:srgbClr val="30373F"/>
              </a:solidFill>
              <a:latin typeface="Times New Roman"/>
              <a:ea typeface="Times New Roman"/>
              <a:cs typeface="Times New Roman"/>
              <a:sym typeface="Times New Roman"/>
            </a:endParaRPr>
          </a:p>
          <a:p>
            <a:pPr marL="0" marR="0" lvl="0" indent="0" algn="ctr" rtl="0">
              <a:lnSpc>
                <a:spcPct val="100000"/>
              </a:lnSpc>
              <a:spcBef>
                <a:spcPts val="0"/>
              </a:spcBef>
              <a:spcAft>
                <a:spcPts val="0"/>
              </a:spcAft>
              <a:buClr>
                <a:srgbClr val="000000"/>
              </a:buClr>
              <a:buSzPts val="1200"/>
              <a:buFont typeface="Arial"/>
              <a:buNone/>
            </a:pPr>
            <a:r>
              <a:rPr lang="ja" sz="2100" b="1" i="0" u="none" strike="noStrike" cap="none">
                <a:solidFill>
                  <a:srgbClr val="30373F"/>
                </a:solidFill>
                <a:latin typeface="Times New Roman"/>
                <a:ea typeface="Times New Roman"/>
                <a:cs typeface="Times New Roman"/>
                <a:sym typeface="Times New Roman"/>
              </a:rPr>
              <a:t>CLUB</a:t>
            </a:r>
            <a:endParaRPr sz="1900" b="1" i="0" u="none" strike="noStrike" cap="none">
              <a:solidFill>
                <a:srgbClr val="000000"/>
              </a:solidFill>
              <a:latin typeface="Times New Roman"/>
              <a:ea typeface="Times New Roman"/>
              <a:cs typeface="Times New Roman"/>
              <a:sym typeface="Times New Roman"/>
            </a:endParaRPr>
          </a:p>
        </p:txBody>
      </p:sp>
      <p:sp>
        <p:nvSpPr>
          <p:cNvPr id="355" name="Google Shape;355;p4"/>
          <p:cNvSpPr txBox="1">
            <a:spLocks noGrp="1"/>
          </p:cNvSpPr>
          <p:nvPr>
            <p:ph type="sldNum" idx="12"/>
          </p:nvPr>
        </p:nvSpPr>
        <p:spPr>
          <a:xfrm>
            <a:off x="6965303" y="4763732"/>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SzPts val="900"/>
              <a:buNone/>
            </a:pPr>
            <a:fld id="{00000000-1234-1234-1234-123412341234}" type="slidenum">
              <a:rPr lang="en-US" altLang="ja"/>
              <a:t>10</a:t>
            </a:fld>
            <a:endParaRPr/>
          </a:p>
        </p:txBody>
      </p:sp>
      <p:grpSp>
        <p:nvGrpSpPr>
          <p:cNvPr id="356" name="Google Shape;356;p4"/>
          <p:cNvGrpSpPr/>
          <p:nvPr/>
        </p:nvGrpSpPr>
        <p:grpSpPr>
          <a:xfrm>
            <a:off x="2344911" y="1807849"/>
            <a:ext cx="1966984" cy="1113529"/>
            <a:chOff x="651207" y="3637134"/>
            <a:chExt cx="2938867" cy="1113529"/>
          </a:xfrm>
        </p:grpSpPr>
        <p:sp>
          <p:nvSpPr>
            <p:cNvPr id="357" name="Google Shape;357;p4"/>
            <p:cNvSpPr/>
            <p:nvPr/>
          </p:nvSpPr>
          <p:spPr>
            <a:xfrm>
              <a:off x="651207" y="3876463"/>
              <a:ext cx="2938867"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楽天・Yahoo・寺田ワイン</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マーケットでのEC事業</a:t>
              </a:r>
              <a:endParaRPr sz="1050" b="0" i="0" u="none" strike="noStrike" cap="none">
                <a:solidFill>
                  <a:srgbClr val="30373F"/>
                </a:solidFill>
                <a:latin typeface="Meiryo"/>
                <a:ea typeface="Meiryo"/>
                <a:cs typeface="Meiryo"/>
                <a:sym typeface="Meiryo"/>
              </a:endParaRPr>
            </a:p>
          </p:txBody>
        </p:sp>
        <p:sp>
          <p:nvSpPr>
            <p:cNvPr id="358" name="Google Shape;358;p4"/>
            <p:cNvSpPr txBox="1"/>
            <p:nvPr/>
          </p:nvSpPr>
          <p:spPr>
            <a:xfrm>
              <a:off x="902656" y="3637134"/>
              <a:ext cx="2436000" cy="430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30373F"/>
                  </a:solidFill>
                  <a:latin typeface="Meiryo"/>
                  <a:ea typeface="Meiryo"/>
                  <a:cs typeface="Meiryo"/>
                  <a:sym typeface="Meiryo"/>
                </a:rPr>
                <a:t>自社EC事業</a:t>
              </a:r>
              <a:endParaRPr sz="1200" b="1" i="0" u="none" strike="noStrike" cap="none">
                <a:solidFill>
                  <a:srgbClr val="30373F"/>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1000" b="1" i="0" u="none" strike="noStrike" cap="none">
                  <a:solidFill>
                    <a:srgbClr val="30373F"/>
                  </a:solidFill>
                  <a:latin typeface="Meiryo"/>
                  <a:ea typeface="Meiryo"/>
                  <a:cs typeface="Meiryo"/>
                  <a:sym typeface="Meiryo"/>
                </a:rPr>
                <a:t>（オンライン）</a:t>
              </a:r>
              <a:endParaRPr sz="1400" b="0" i="0" u="none" strike="noStrike" cap="none">
                <a:solidFill>
                  <a:srgbClr val="000000"/>
                </a:solidFill>
                <a:latin typeface="Arial"/>
                <a:ea typeface="Arial"/>
                <a:cs typeface="Arial"/>
                <a:sym typeface="Arial"/>
              </a:endParaRPr>
            </a:p>
          </p:txBody>
        </p:sp>
      </p:grpSp>
      <p:pic>
        <p:nvPicPr>
          <p:cNvPr id="359" name="Google Shape;359;p4" title="logo.png"/>
          <p:cNvPicPr preferRelativeResize="0"/>
          <p:nvPr/>
        </p:nvPicPr>
        <p:blipFill rotWithShape="1">
          <a:blip r:embed="rId3">
            <a:alphaModFix/>
          </a:blip>
          <a:srcRect t="29597"/>
          <a:stretch/>
        </p:blipFill>
        <p:spPr>
          <a:xfrm>
            <a:off x="4835451" y="2175602"/>
            <a:ext cx="1626132" cy="316393"/>
          </a:xfrm>
          <a:prstGeom prst="rect">
            <a:avLst/>
          </a:prstGeom>
          <a:noFill/>
          <a:ln>
            <a:noFill/>
          </a:ln>
        </p:spPr>
      </p:pic>
      <p:pic>
        <p:nvPicPr>
          <p:cNvPr id="360" name="Google Shape;360;p4" title="青山ワインマーケット-ロゴ.gif"/>
          <p:cNvPicPr preferRelativeResize="0"/>
          <p:nvPr/>
        </p:nvPicPr>
        <p:blipFill rotWithShape="1">
          <a:blip r:embed="rId4">
            <a:alphaModFix/>
          </a:blip>
          <a:srcRect/>
          <a:stretch/>
        </p:blipFill>
        <p:spPr>
          <a:xfrm>
            <a:off x="484168" y="2008386"/>
            <a:ext cx="1696161" cy="483607"/>
          </a:xfrm>
          <a:prstGeom prst="rect">
            <a:avLst/>
          </a:prstGeom>
          <a:noFill/>
          <a:ln>
            <a:noFill/>
          </a:ln>
        </p:spPr>
      </p:pic>
      <p:grpSp>
        <p:nvGrpSpPr>
          <p:cNvPr id="361" name="Google Shape;361;p4"/>
          <p:cNvGrpSpPr/>
          <p:nvPr/>
        </p:nvGrpSpPr>
        <p:grpSpPr>
          <a:xfrm>
            <a:off x="6841350" y="1848221"/>
            <a:ext cx="1984800" cy="1053858"/>
            <a:chOff x="2856354" y="1532988"/>
            <a:chExt cx="3969600" cy="1053858"/>
          </a:xfrm>
        </p:grpSpPr>
        <p:sp>
          <p:nvSpPr>
            <p:cNvPr id="362" name="Google Shape;362;p4"/>
            <p:cNvSpPr/>
            <p:nvPr/>
          </p:nvSpPr>
          <p:spPr>
            <a:xfrm>
              <a:off x="2856354" y="1889646"/>
              <a:ext cx="3969600" cy="697200"/>
            </a:xfrm>
            <a:prstGeom prst="rect">
              <a:avLst/>
            </a:prstGeom>
            <a:noFill/>
            <a:ln>
              <a:noFill/>
            </a:ln>
          </p:spPr>
          <p:txBody>
            <a:bodyPr spcFirstLastPara="1" wrap="square" lIns="68575" tIns="34275" rIns="68575" bIns="34275" anchor="ctr"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所有ワインのクラウド管理、マーケットプレイスの運営、</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ワインファンド事業</a:t>
              </a:r>
              <a:endParaRPr sz="1050" b="0" i="0" u="none" strike="noStrike" cap="none">
                <a:solidFill>
                  <a:srgbClr val="30373F"/>
                </a:solidFill>
                <a:latin typeface="Meiryo"/>
                <a:ea typeface="Meiryo"/>
                <a:cs typeface="Meiryo"/>
                <a:sym typeface="Meiryo"/>
              </a:endParaRPr>
            </a:p>
          </p:txBody>
        </p:sp>
        <p:sp>
          <p:nvSpPr>
            <p:cNvPr id="363" name="Google Shape;363;p4"/>
            <p:cNvSpPr txBox="1"/>
            <p:nvPr/>
          </p:nvSpPr>
          <p:spPr>
            <a:xfrm>
              <a:off x="3104086" y="1532988"/>
              <a:ext cx="35544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30373F"/>
                  </a:solidFill>
                  <a:latin typeface="Meiryo"/>
                  <a:ea typeface="Meiryo"/>
                  <a:cs typeface="Meiryo"/>
                  <a:sym typeface="Meiryo"/>
                </a:rPr>
                <a:t>WineTech 事業</a:t>
              </a:r>
              <a:endParaRPr sz="1400" b="1" i="0" u="none" strike="noStrike" cap="none">
                <a:solidFill>
                  <a:srgbClr val="30373F"/>
                </a:solidFill>
                <a:latin typeface="Meiryo"/>
                <a:ea typeface="Meiryo"/>
                <a:cs typeface="Meiryo"/>
                <a:sym typeface="Meiryo"/>
              </a:endParaRPr>
            </a:p>
          </p:txBody>
        </p:sp>
      </p:grpSp>
      <p:grpSp>
        <p:nvGrpSpPr>
          <p:cNvPr id="364" name="Google Shape;364;p4"/>
          <p:cNvGrpSpPr/>
          <p:nvPr/>
        </p:nvGrpSpPr>
        <p:grpSpPr>
          <a:xfrm>
            <a:off x="2251510" y="3635861"/>
            <a:ext cx="2214015" cy="1127137"/>
            <a:chOff x="3954688" y="3634373"/>
            <a:chExt cx="2643600" cy="1127137"/>
          </a:xfrm>
        </p:grpSpPr>
        <p:sp>
          <p:nvSpPr>
            <p:cNvPr id="365" name="Google Shape;365;p4"/>
            <p:cNvSpPr/>
            <p:nvPr/>
          </p:nvSpPr>
          <p:spPr>
            <a:xfrm>
              <a:off x="4123703" y="3887310"/>
              <a:ext cx="2305800"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グランメゾン含むワインを</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中心としたレストラン事業</a:t>
              </a:r>
              <a:endParaRPr sz="1050" b="0" i="0" u="none" strike="noStrike" cap="none">
                <a:solidFill>
                  <a:srgbClr val="000000"/>
                </a:solidFill>
                <a:latin typeface="Meiryo"/>
                <a:ea typeface="Meiryo"/>
                <a:cs typeface="Meiryo"/>
                <a:sym typeface="Meiryo"/>
              </a:endParaRPr>
            </a:p>
          </p:txBody>
        </p:sp>
        <p:sp>
          <p:nvSpPr>
            <p:cNvPr id="366" name="Google Shape;366;p4"/>
            <p:cNvSpPr txBox="1"/>
            <p:nvPr/>
          </p:nvSpPr>
          <p:spPr>
            <a:xfrm>
              <a:off x="3954688" y="3634373"/>
              <a:ext cx="2643600" cy="4386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30373F"/>
                  </a:solidFill>
                  <a:latin typeface="Meiryo"/>
                  <a:ea typeface="Meiryo"/>
                  <a:cs typeface="Meiryo"/>
                  <a:sym typeface="Meiryo"/>
                </a:rPr>
                <a:t>レストラン/ワイン卸事業</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1200"/>
                <a:buFont typeface="Arial"/>
                <a:buNone/>
              </a:pPr>
              <a:r>
                <a:rPr lang="ja" sz="1050" b="1" i="0" u="none" strike="noStrike" cap="none">
                  <a:solidFill>
                    <a:srgbClr val="30373F"/>
                  </a:solidFill>
                  <a:latin typeface="Meiryo"/>
                  <a:ea typeface="Meiryo"/>
                  <a:cs typeface="Meiryo"/>
                  <a:sym typeface="Meiryo"/>
                </a:rPr>
                <a:t>（オフライン）</a:t>
              </a:r>
              <a:endParaRPr sz="1000" b="0" i="0" u="none" strike="noStrike" cap="none">
                <a:solidFill>
                  <a:srgbClr val="000000"/>
                </a:solidFill>
                <a:latin typeface="Meiryo"/>
                <a:ea typeface="Meiryo"/>
                <a:cs typeface="Meiryo"/>
                <a:sym typeface="Meiryo"/>
              </a:endParaRPr>
            </a:p>
          </p:txBody>
        </p:sp>
      </p:grpSp>
      <p:pic>
        <p:nvPicPr>
          <p:cNvPr id="367" name="Google Shape;367;p4"/>
          <p:cNvPicPr preferRelativeResize="0"/>
          <p:nvPr/>
        </p:nvPicPr>
        <p:blipFill rotWithShape="1">
          <a:blip r:embed="rId5">
            <a:alphaModFix/>
          </a:blip>
          <a:srcRect t="33347" b="34773"/>
          <a:stretch/>
        </p:blipFill>
        <p:spPr>
          <a:xfrm>
            <a:off x="692515" y="3868451"/>
            <a:ext cx="1421031" cy="453029"/>
          </a:xfrm>
          <a:prstGeom prst="rect">
            <a:avLst/>
          </a:prstGeom>
          <a:noFill/>
          <a:ln>
            <a:noFill/>
          </a:ln>
        </p:spPr>
      </p:pic>
      <p:sp>
        <p:nvSpPr>
          <p:cNvPr id="368" name="Google Shape;368;p4"/>
          <p:cNvSpPr/>
          <p:nvPr/>
        </p:nvSpPr>
        <p:spPr>
          <a:xfrm>
            <a:off x="6476307" y="3862352"/>
            <a:ext cx="2305800" cy="874200"/>
          </a:xfrm>
          <a:prstGeom prst="rect">
            <a:avLst/>
          </a:prstGeom>
          <a:noFill/>
          <a:ln>
            <a:noFill/>
          </a:ln>
        </p:spPr>
        <p:txBody>
          <a:bodyPr spcFirstLastPara="1" wrap="square" lIns="68575" tIns="34275" rIns="68575" bIns="34275" anchor="ctr" anchorCtr="0">
            <a:noAutofit/>
          </a:bodyPr>
          <a:lstStyle/>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月額会費制でワインの購入や</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レストランをお得にご利用</a:t>
            </a:r>
            <a:endParaRPr sz="1050" b="0" i="0" u="none" strike="noStrike" cap="none">
              <a:solidFill>
                <a:srgbClr val="30373F"/>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いただけるサービス</a:t>
            </a:r>
            <a:endParaRPr sz="1050" b="0" i="0" u="none" strike="noStrike" cap="none">
              <a:solidFill>
                <a:srgbClr val="000000"/>
              </a:solidFill>
              <a:latin typeface="Meiryo"/>
              <a:ea typeface="Meiryo"/>
              <a:cs typeface="Meiryo"/>
              <a:sym typeface="Meiryo"/>
            </a:endParaRPr>
          </a:p>
        </p:txBody>
      </p:sp>
      <p:sp>
        <p:nvSpPr>
          <p:cNvPr id="369" name="Google Shape;369;p4"/>
          <p:cNvSpPr txBox="1"/>
          <p:nvPr/>
        </p:nvSpPr>
        <p:spPr>
          <a:xfrm>
            <a:off x="5035768" y="1403422"/>
            <a:ext cx="24747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SBI提携/世界初ワインSTにより安定収益を確保</a:t>
            </a:r>
            <a:endParaRPr sz="700" b="1" i="0" u="none" strike="noStrike" cap="none">
              <a:solidFill>
                <a:srgbClr val="C68A65"/>
              </a:solidFill>
              <a:latin typeface="Arial"/>
              <a:ea typeface="Arial"/>
              <a:cs typeface="Arial"/>
              <a:sym typeface="Arial"/>
            </a:endParaRPr>
          </a:p>
        </p:txBody>
      </p:sp>
      <p:sp>
        <p:nvSpPr>
          <p:cNvPr id="370" name="Google Shape;370;p4"/>
          <p:cNvSpPr txBox="1"/>
          <p:nvPr/>
        </p:nvSpPr>
        <p:spPr>
          <a:xfrm>
            <a:off x="828772" y="3217222"/>
            <a:ext cx="28266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ティエリーマルクスの過去国内出店実績より安定収益の見込み</a:t>
            </a:r>
            <a:endParaRPr sz="700" b="1" i="0" u="none" strike="noStrike" cap="none">
              <a:solidFill>
                <a:srgbClr val="C68A65"/>
              </a:solidFill>
              <a:latin typeface="Arial"/>
              <a:ea typeface="Arial"/>
              <a:cs typeface="Arial"/>
              <a:sym typeface="Arial"/>
            </a:endParaRPr>
          </a:p>
        </p:txBody>
      </p:sp>
      <p:sp>
        <p:nvSpPr>
          <p:cNvPr id="371" name="Google Shape;371;p4"/>
          <p:cNvSpPr txBox="1"/>
          <p:nvPr/>
        </p:nvSpPr>
        <p:spPr>
          <a:xfrm>
            <a:off x="5035777" y="3199947"/>
            <a:ext cx="26418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ティエリーマルクスによる認知拡大で会員数拡大を後押し</a:t>
            </a:r>
            <a:endParaRPr sz="700" b="1" i="0" u="none" strike="noStrike" cap="none">
              <a:solidFill>
                <a:srgbClr val="C68A65"/>
              </a:solidFill>
              <a:latin typeface="Arial"/>
              <a:ea typeface="Arial"/>
              <a:cs typeface="Arial"/>
              <a:sym typeface="Arial"/>
            </a:endParaRPr>
          </a:p>
        </p:txBody>
      </p:sp>
      <p:grpSp>
        <p:nvGrpSpPr>
          <p:cNvPr id="372" name="Google Shape;372;p4"/>
          <p:cNvGrpSpPr/>
          <p:nvPr/>
        </p:nvGrpSpPr>
        <p:grpSpPr>
          <a:xfrm>
            <a:off x="179987" y="1335696"/>
            <a:ext cx="798300" cy="623100"/>
            <a:chOff x="179987" y="1102524"/>
            <a:chExt cx="798300" cy="623100"/>
          </a:xfrm>
        </p:grpSpPr>
        <p:sp>
          <p:nvSpPr>
            <p:cNvPr id="373" name="Google Shape;373;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74" name="Google Shape;374;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100</a:t>
              </a:r>
              <a:r>
                <a:rPr lang="ja"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を維持</a:t>
              </a:r>
              <a:endParaRPr sz="622" b="0" i="0" u="none" strike="noStrike" cap="none">
                <a:solidFill>
                  <a:schemeClr val="lt1"/>
                </a:solidFill>
                <a:latin typeface="Meiryo"/>
                <a:ea typeface="Meiryo"/>
                <a:cs typeface="Meiryo"/>
                <a:sym typeface="Meiryo"/>
              </a:endParaRPr>
            </a:p>
          </p:txBody>
        </p:sp>
      </p:grpSp>
      <p:grpSp>
        <p:nvGrpSpPr>
          <p:cNvPr id="375" name="Google Shape;375;p4"/>
          <p:cNvGrpSpPr/>
          <p:nvPr/>
        </p:nvGrpSpPr>
        <p:grpSpPr>
          <a:xfrm>
            <a:off x="4391618" y="1335696"/>
            <a:ext cx="798300" cy="623100"/>
            <a:chOff x="179987" y="1102524"/>
            <a:chExt cx="798300" cy="623100"/>
          </a:xfrm>
        </p:grpSpPr>
        <p:sp>
          <p:nvSpPr>
            <p:cNvPr id="376" name="Google Shape;376;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77" name="Google Shape;377;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200</a:t>
              </a:r>
              <a:r>
                <a:rPr lang="ja"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に拡大</a:t>
              </a:r>
              <a:endParaRPr sz="622" b="0" i="0" u="none" strike="noStrike" cap="none">
                <a:solidFill>
                  <a:schemeClr val="lt1"/>
                </a:solidFill>
                <a:latin typeface="Meiryo"/>
                <a:ea typeface="Meiryo"/>
                <a:cs typeface="Meiryo"/>
                <a:sym typeface="Meiryo"/>
              </a:endParaRPr>
            </a:p>
          </p:txBody>
        </p:sp>
      </p:grpSp>
      <p:grpSp>
        <p:nvGrpSpPr>
          <p:cNvPr id="378" name="Google Shape;378;p4"/>
          <p:cNvGrpSpPr/>
          <p:nvPr/>
        </p:nvGrpSpPr>
        <p:grpSpPr>
          <a:xfrm>
            <a:off x="179973" y="3153861"/>
            <a:ext cx="798300" cy="623100"/>
            <a:chOff x="179987" y="1102524"/>
            <a:chExt cx="798300" cy="623100"/>
          </a:xfrm>
        </p:grpSpPr>
        <p:sp>
          <p:nvSpPr>
            <p:cNvPr id="379" name="Google Shape;379;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80" name="Google Shape;380;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200</a:t>
              </a:r>
              <a:r>
                <a:rPr lang="ja" sz="922" b="1" i="0" u="none" strike="noStrike" cap="none">
                  <a:solidFill>
                    <a:schemeClr val="lt1"/>
                  </a:solidFill>
                  <a:latin typeface="Meiryo"/>
                  <a:ea typeface="Meiryo"/>
                  <a:cs typeface="Meiryo"/>
                  <a:sym typeface="Meiryo"/>
                </a:rPr>
                <a:t>%</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に拡大</a:t>
              </a:r>
              <a:endParaRPr sz="622" b="0" i="0" u="none" strike="noStrike" cap="none">
                <a:solidFill>
                  <a:schemeClr val="lt1"/>
                </a:solidFill>
                <a:latin typeface="Meiryo"/>
                <a:ea typeface="Meiryo"/>
                <a:cs typeface="Meiryo"/>
                <a:sym typeface="Meiryo"/>
              </a:endParaRPr>
            </a:p>
          </p:txBody>
        </p:sp>
      </p:grpSp>
      <p:grpSp>
        <p:nvGrpSpPr>
          <p:cNvPr id="381" name="Google Shape;381;p4"/>
          <p:cNvGrpSpPr/>
          <p:nvPr/>
        </p:nvGrpSpPr>
        <p:grpSpPr>
          <a:xfrm>
            <a:off x="4391740" y="3153861"/>
            <a:ext cx="798300" cy="623100"/>
            <a:chOff x="179987" y="1102524"/>
            <a:chExt cx="798300" cy="623100"/>
          </a:xfrm>
        </p:grpSpPr>
        <p:sp>
          <p:nvSpPr>
            <p:cNvPr id="382" name="Google Shape;382;p4"/>
            <p:cNvSpPr/>
            <p:nvPr/>
          </p:nvSpPr>
          <p:spPr>
            <a:xfrm>
              <a:off x="267550" y="1102524"/>
              <a:ext cx="623100" cy="623100"/>
            </a:xfrm>
            <a:prstGeom prst="ellipse">
              <a:avLst/>
            </a:prstGeom>
            <a:solidFill>
              <a:srgbClr val="C68A65"/>
            </a:solidFill>
            <a:ln>
              <a:noFill/>
            </a:ln>
          </p:spPr>
          <p:txBody>
            <a:bodyPr spcFirstLastPara="1" wrap="square" lIns="84325" tIns="84325" rIns="84325" bIns="84325" anchor="ctr" anchorCtr="0">
              <a:noAutofit/>
            </a:bodyPr>
            <a:lstStyle/>
            <a:p>
              <a:pPr marL="0" marR="0" lvl="0" indent="0" algn="ctr" rtl="0">
                <a:lnSpc>
                  <a:spcPct val="100000"/>
                </a:lnSpc>
                <a:spcBef>
                  <a:spcPts val="0"/>
                </a:spcBef>
                <a:spcAft>
                  <a:spcPts val="0"/>
                </a:spcAft>
                <a:buClr>
                  <a:srgbClr val="000000"/>
                </a:buClr>
                <a:buSzPts val="1291"/>
                <a:buFont typeface="Arial"/>
                <a:buNone/>
              </a:pPr>
              <a:endParaRPr sz="1291" b="0" i="0" u="none" strike="noStrike" cap="none">
                <a:solidFill>
                  <a:srgbClr val="000000"/>
                </a:solidFill>
                <a:latin typeface="Arial"/>
                <a:ea typeface="Arial"/>
                <a:cs typeface="Arial"/>
                <a:sym typeface="Arial"/>
              </a:endParaRPr>
            </a:p>
          </p:txBody>
        </p:sp>
        <p:sp>
          <p:nvSpPr>
            <p:cNvPr id="383" name="Google Shape;383;p4"/>
            <p:cNvSpPr txBox="1"/>
            <p:nvPr/>
          </p:nvSpPr>
          <p:spPr>
            <a:xfrm>
              <a:off x="179987" y="1162224"/>
              <a:ext cx="798300" cy="503700"/>
            </a:xfrm>
            <a:prstGeom prst="rect">
              <a:avLst/>
            </a:prstGeom>
            <a:noFill/>
            <a:ln>
              <a:noFill/>
            </a:ln>
          </p:spPr>
          <p:txBody>
            <a:bodyPr spcFirstLastPara="1" wrap="square" lIns="84325" tIns="42150" rIns="84325" bIns="42150" anchor="t" anchorCtr="0">
              <a:spAutoFit/>
            </a:bodyPr>
            <a:lstStyle/>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来期売上</a:t>
              </a:r>
              <a:endParaRPr sz="622"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1475" b="1" i="0" u="none" strike="noStrike" cap="none">
                  <a:solidFill>
                    <a:schemeClr val="lt1"/>
                  </a:solidFill>
                  <a:latin typeface="Meiryo"/>
                  <a:ea typeface="Meiryo"/>
                  <a:cs typeface="Meiryo"/>
                  <a:sym typeface="Meiryo"/>
                </a:rPr>
                <a:t>拡大</a:t>
              </a:r>
              <a:endParaRPr sz="922" b="1"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7"/>
                <a:buFont typeface="Arial"/>
                <a:buNone/>
              </a:pPr>
              <a:r>
                <a:rPr lang="ja" sz="622" b="0" i="0" u="none" strike="noStrike" cap="none">
                  <a:solidFill>
                    <a:schemeClr val="lt1"/>
                  </a:solidFill>
                  <a:latin typeface="Meiryo"/>
                  <a:ea typeface="Meiryo"/>
                  <a:cs typeface="Meiryo"/>
                  <a:sym typeface="Meiryo"/>
                </a:rPr>
                <a:t>見込み</a:t>
              </a:r>
              <a:endParaRPr sz="622" b="0" i="0" u="none" strike="noStrike" cap="none">
                <a:solidFill>
                  <a:schemeClr val="lt1"/>
                </a:solidFill>
                <a:latin typeface="Meiryo"/>
                <a:ea typeface="Meiryo"/>
                <a:cs typeface="Meiryo"/>
                <a:sym typeface="Meiryo"/>
              </a:endParaRPr>
            </a:p>
          </p:txBody>
        </p:sp>
      </p:grpSp>
      <p:sp>
        <p:nvSpPr>
          <p:cNvPr id="384" name="Google Shape;384;p4"/>
          <p:cNvSpPr txBox="1"/>
          <p:nvPr/>
        </p:nvSpPr>
        <p:spPr>
          <a:xfrm>
            <a:off x="828768" y="1421210"/>
            <a:ext cx="2474700" cy="200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700" b="1" i="0" u="none" strike="noStrike" cap="none">
                <a:solidFill>
                  <a:srgbClr val="C68A65"/>
                </a:solidFill>
                <a:latin typeface="Meiryo"/>
                <a:ea typeface="Meiryo"/>
                <a:cs typeface="Meiryo"/>
                <a:sym typeface="Meiryo"/>
              </a:rPr>
              <a:t>長年の販売実績をもとに売上維持</a:t>
            </a:r>
            <a:endParaRPr sz="700" b="1" i="0" u="none" strike="noStrike" cap="none">
              <a:solidFill>
                <a:srgbClr val="C68A65"/>
              </a:solidFill>
              <a:latin typeface="Arial"/>
              <a:ea typeface="Arial"/>
              <a:cs typeface="Arial"/>
              <a:sym typeface="Arial"/>
            </a:endParaRPr>
          </a:p>
        </p:txBody>
      </p:sp>
      <p:sp>
        <p:nvSpPr>
          <p:cNvPr id="385" name="Google Shape;385;p4"/>
          <p:cNvSpPr txBox="1"/>
          <p:nvPr/>
        </p:nvSpPr>
        <p:spPr>
          <a:xfrm>
            <a:off x="239765" y="1000481"/>
            <a:ext cx="86100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a:solidFill>
                  <a:schemeClr val="dk1"/>
                </a:solidFill>
                <a:latin typeface="Meiryo"/>
                <a:ea typeface="Meiryo"/>
                <a:cs typeface="Meiryo"/>
                <a:sym typeface="Meiryo"/>
              </a:rPr>
              <a:t>グループ売上：2025年12月期 65億　2026年12月期 70億超</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89"/>
        <p:cNvGrpSpPr/>
        <p:nvPr/>
      </p:nvGrpSpPr>
      <p:grpSpPr>
        <a:xfrm>
          <a:off x="0" y="0"/>
          <a:ext cx="0" cy="0"/>
          <a:chOff x="0" y="0"/>
          <a:chExt cx="0" cy="0"/>
        </a:xfrm>
      </p:grpSpPr>
      <p:sp>
        <p:nvSpPr>
          <p:cNvPr id="2" name="Rectangle 1"/>
          <p:cNvSpPr/>
          <p:nvPr/>
        </p:nvSpPr>
        <p:spPr>
          <a:xfrm>
            <a:off x="0" y="5012740"/>
            <a:ext cx="9144000" cy="130759"/>
          </a:xfrm>
          <a:prstGeom prst="rect">
            <a:avLst/>
          </a:prstGeom>
          <a:solidFill>
            <a:srgbClr val="30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5" name="Google Shape;465;g38a8d312103_0_53"/>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466" name="TextBox 465"/>
          <p:cNvSpPr txBox="1"/>
          <p:nvPr/>
        </p:nvSpPr>
        <p:spPr>
          <a:xfrm>
            <a:off x="239572" y="287121"/>
            <a:ext cx="8595360" cy="274320"/>
          </a:xfrm>
          <a:prstGeom prst="rect">
            <a:avLst/>
          </a:prstGeom>
          <a:noFill/>
        </p:spPr>
        <p:txBody>
          <a:bodyPr wrap="square" lIns="0" tIns="0" rIns="0" bIns="0" anchor="t">
            <a:spAutoFit/>
          </a:bodyPr>
          <a:lstStyle/>
          <a:p>
            <a:pPr algn="l"/>
            <a:r>
              <a:rPr sz="1400" b="1">
                <a:solidFill>
                  <a:srgbClr val="000000"/>
                </a:solidFill>
                <a:latin typeface="Meiryo"/>
                <a:ea typeface="Meiryo"/>
                <a:cs typeface="Meiryo"/>
                <a:sym typeface="Meiryo"/>
              </a:rPr>
              <a:t>WineBank × アピシウス</a:t>
            </a:r>
          </a:p>
        </p:txBody>
      </p:sp>
      <p:sp>
        <p:nvSpPr>
          <p:cNvPr id="467" name="Rectangle 466"/>
          <p:cNvSpPr/>
          <p:nvPr/>
        </p:nvSpPr>
        <p:spPr>
          <a:xfrm>
            <a:off x="0" y="673912"/>
            <a:ext cx="9144000" cy="328269"/>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sz="1300" b="1" dirty="0">
                <a:solidFill>
                  <a:srgbClr val="FFFFFF"/>
                </a:solidFill>
                <a:latin typeface="Meiryo"/>
                <a:ea typeface="Meiryo"/>
                <a:cs typeface="Meiryo"/>
                <a:sym typeface="Meiryo"/>
              </a:rPr>
              <a:t>銀座の老舗グランメゾンを100％承継。</a:t>
            </a:r>
            <a:r>
              <a:rPr lang="ja-JP" altLang="en-US" sz="1300" b="1" dirty="0">
                <a:solidFill>
                  <a:srgbClr val="FFFFFF"/>
                </a:solidFill>
                <a:latin typeface="Meiryo"/>
                <a:ea typeface="Meiryo"/>
                <a:cs typeface="Meiryo"/>
                <a:sym typeface="Meiryo"/>
              </a:rPr>
              <a:t>経営者と仕組みを変えて</a:t>
            </a:r>
            <a:r>
              <a:rPr sz="1300" b="1" dirty="0" err="1">
                <a:solidFill>
                  <a:srgbClr val="FFFFFF"/>
                </a:solidFill>
                <a:latin typeface="Meiryo"/>
                <a:ea typeface="Meiryo"/>
                <a:cs typeface="Meiryo"/>
                <a:sym typeface="Meiryo"/>
              </a:rPr>
              <a:t>伸ばしました</a:t>
            </a:r>
            <a:endParaRPr sz="1300" b="1" dirty="0">
              <a:solidFill>
                <a:srgbClr val="FFFFFF"/>
              </a:solidFill>
              <a:latin typeface="Meiryo"/>
              <a:ea typeface="Meiryo"/>
              <a:cs typeface="Meiryo"/>
              <a:sym typeface="Meiryo"/>
            </a:endParaRPr>
          </a:p>
        </p:txBody>
      </p:sp>
      <p:sp>
        <p:nvSpPr>
          <p:cNvPr id="468" name="Rectangle 467"/>
          <p:cNvSpPr/>
          <p:nvPr/>
        </p:nvSpPr>
        <p:spPr>
          <a:xfrm>
            <a:off x="536752" y="1115568"/>
            <a:ext cx="2339949" cy="868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69" name="TextBox 468"/>
          <p:cNvSpPr txBox="1"/>
          <p:nvPr/>
        </p:nvSpPr>
        <p:spPr>
          <a:xfrm>
            <a:off x="719632" y="1216152"/>
            <a:ext cx="1974189" cy="201168"/>
          </a:xfrm>
          <a:prstGeom prst="rect">
            <a:avLst/>
          </a:prstGeom>
          <a:noFill/>
        </p:spPr>
        <p:txBody>
          <a:bodyPr wrap="square" lIns="0" tIns="0" rIns="0" bIns="0" anchor="t">
            <a:spAutoFit/>
          </a:bodyPr>
          <a:lstStyle/>
          <a:p>
            <a:pPr algn="l"/>
            <a:r>
              <a:rPr sz="950" b="1">
                <a:solidFill>
                  <a:srgbClr val="C68A65"/>
                </a:solidFill>
                <a:latin typeface="Meiryo"/>
                <a:ea typeface="Meiryo"/>
                <a:cs typeface="Meiryo"/>
                <a:sym typeface="Meiryo"/>
              </a:rPr>
              <a:t>売上高</a:t>
            </a:r>
          </a:p>
        </p:txBody>
      </p:sp>
      <p:sp>
        <p:nvSpPr>
          <p:cNvPr id="470" name="TextBox 469"/>
          <p:cNvSpPr txBox="1"/>
          <p:nvPr/>
        </p:nvSpPr>
        <p:spPr>
          <a:xfrm>
            <a:off x="719632" y="1399032"/>
            <a:ext cx="1974189" cy="365760"/>
          </a:xfrm>
          <a:prstGeom prst="rect">
            <a:avLst/>
          </a:prstGeom>
          <a:noFill/>
        </p:spPr>
        <p:txBody>
          <a:bodyPr wrap="square" lIns="0" tIns="0" rIns="0" bIns="0" anchor="t">
            <a:spAutoFit/>
          </a:bodyPr>
          <a:lstStyle/>
          <a:p>
            <a:pPr algn="l"/>
            <a:r>
              <a:rPr sz="2400" b="1">
                <a:solidFill>
                  <a:srgbClr val="36394B"/>
                </a:solidFill>
                <a:latin typeface="Meiryo"/>
                <a:ea typeface="Meiryo"/>
                <a:cs typeface="Meiryo"/>
                <a:sym typeface="Meiryo"/>
              </a:rPr>
              <a:t>＋30%</a:t>
            </a:r>
          </a:p>
        </p:txBody>
      </p:sp>
      <p:sp>
        <p:nvSpPr>
          <p:cNvPr id="471" name="TextBox 470"/>
          <p:cNvSpPr txBox="1"/>
          <p:nvPr/>
        </p:nvSpPr>
        <p:spPr>
          <a:xfrm>
            <a:off x="719632" y="1764792"/>
            <a:ext cx="1974189" cy="182880"/>
          </a:xfrm>
          <a:prstGeom prst="rect">
            <a:avLst/>
          </a:prstGeom>
          <a:noFill/>
        </p:spPr>
        <p:txBody>
          <a:bodyPr wrap="square" lIns="0" tIns="0" rIns="0" bIns="0" anchor="t">
            <a:spAutoFit/>
          </a:bodyPr>
          <a:lstStyle/>
          <a:p>
            <a:pPr algn="l"/>
            <a:r>
              <a:rPr sz="800" b="0">
                <a:solidFill>
                  <a:srgbClr val="595959"/>
                </a:solidFill>
                <a:latin typeface="Meiryo"/>
                <a:ea typeface="Meiryo"/>
                <a:cs typeface="Meiryo"/>
                <a:sym typeface="Meiryo"/>
              </a:rPr>
              <a:t>取得前比（2年間）</a:t>
            </a:r>
          </a:p>
        </p:txBody>
      </p:sp>
      <p:sp>
        <p:nvSpPr>
          <p:cNvPr id="472" name="Rectangle 471"/>
          <p:cNvSpPr/>
          <p:nvPr/>
        </p:nvSpPr>
        <p:spPr>
          <a:xfrm>
            <a:off x="3362248" y="1115568"/>
            <a:ext cx="2339949" cy="868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3" name="TextBox 472"/>
          <p:cNvSpPr txBox="1"/>
          <p:nvPr/>
        </p:nvSpPr>
        <p:spPr>
          <a:xfrm>
            <a:off x="3545128" y="1216152"/>
            <a:ext cx="1974189" cy="201168"/>
          </a:xfrm>
          <a:prstGeom prst="rect">
            <a:avLst/>
          </a:prstGeom>
          <a:noFill/>
        </p:spPr>
        <p:txBody>
          <a:bodyPr wrap="square" lIns="0" tIns="0" rIns="0" bIns="0" anchor="t">
            <a:spAutoFit/>
          </a:bodyPr>
          <a:lstStyle/>
          <a:p>
            <a:pPr algn="l"/>
            <a:r>
              <a:rPr sz="950" b="1">
                <a:solidFill>
                  <a:srgbClr val="C68A65"/>
                </a:solidFill>
                <a:latin typeface="Meiryo"/>
                <a:ea typeface="Meiryo"/>
                <a:cs typeface="Meiryo"/>
                <a:sym typeface="Meiryo"/>
              </a:rPr>
              <a:t>営業利益</a:t>
            </a:r>
          </a:p>
        </p:txBody>
      </p:sp>
      <p:sp>
        <p:nvSpPr>
          <p:cNvPr id="474" name="TextBox 473"/>
          <p:cNvSpPr txBox="1"/>
          <p:nvPr/>
        </p:nvSpPr>
        <p:spPr>
          <a:xfrm>
            <a:off x="3545128" y="1399032"/>
            <a:ext cx="1974189" cy="369332"/>
          </a:xfrm>
          <a:prstGeom prst="rect">
            <a:avLst/>
          </a:prstGeom>
          <a:noFill/>
        </p:spPr>
        <p:txBody>
          <a:bodyPr wrap="square" lIns="0" tIns="0" rIns="0" bIns="0" anchor="t">
            <a:spAutoFit/>
          </a:bodyPr>
          <a:lstStyle/>
          <a:p>
            <a:pPr algn="l"/>
            <a:r>
              <a:rPr sz="2400" b="1" dirty="0">
                <a:solidFill>
                  <a:srgbClr val="36394B"/>
                </a:solidFill>
                <a:latin typeface="Meiryo"/>
                <a:ea typeface="Meiryo"/>
                <a:cs typeface="Meiryo"/>
                <a:sym typeface="Meiryo"/>
              </a:rPr>
              <a:t>＋</a:t>
            </a:r>
            <a:r>
              <a:rPr lang="en-US" altLang="ja-JP" sz="2400" b="1" dirty="0">
                <a:solidFill>
                  <a:srgbClr val="36394B"/>
                </a:solidFill>
                <a:latin typeface="Meiryo"/>
                <a:ea typeface="Meiryo"/>
                <a:cs typeface="Meiryo"/>
                <a:sym typeface="Meiryo"/>
              </a:rPr>
              <a:t>2.5</a:t>
            </a:r>
            <a:r>
              <a:rPr lang="ja-JP" altLang="en-US" sz="2400" b="1" dirty="0">
                <a:solidFill>
                  <a:srgbClr val="36394B"/>
                </a:solidFill>
                <a:latin typeface="Meiryo"/>
                <a:ea typeface="Meiryo"/>
                <a:cs typeface="Meiryo"/>
                <a:sym typeface="Meiryo"/>
              </a:rPr>
              <a:t>倍</a:t>
            </a:r>
            <a:r>
              <a:rPr sz="2400" b="1" dirty="0">
                <a:solidFill>
                  <a:srgbClr val="36394B"/>
                </a:solidFill>
                <a:latin typeface="Meiryo"/>
                <a:ea typeface="Meiryo"/>
                <a:cs typeface="Meiryo"/>
                <a:sym typeface="Meiryo"/>
              </a:rPr>
              <a:t>超</a:t>
            </a:r>
          </a:p>
        </p:txBody>
      </p:sp>
      <p:sp>
        <p:nvSpPr>
          <p:cNvPr id="475" name="TextBox 474"/>
          <p:cNvSpPr txBox="1"/>
          <p:nvPr/>
        </p:nvSpPr>
        <p:spPr>
          <a:xfrm>
            <a:off x="3545128" y="1764792"/>
            <a:ext cx="1974189" cy="182880"/>
          </a:xfrm>
          <a:prstGeom prst="rect">
            <a:avLst/>
          </a:prstGeom>
          <a:noFill/>
        </p:spPr>
        <p:txBody>
          <a:bodyPr wrap="square" lIns="0" tIns="0" rIns="0" bIns="0" anchor="t">
            <a:spAutoFit/>
          </a:bodyPr>
          <a:lstStyle/>
          <a:p>
            <a:pPr algn="l"/>
            <a:r>
              <a:rPr sz="800" b="0">
                <a:solidFill>
                  <a:srgbClr val="595959"/>
                </a:solidFill>
                <a:latin typeface="Meiryo"/>
                <a:ea typeface="Meiryo"/>
                <a:cs typeface="Meiryo"/>
                <a:sym typeface="Meiryo"/>
              </a:rPr>
              <a:t>取得前比（2年間）</a:t>
            </a:r>
          </a:p>
        </p:txBody>
      </p:sp>
      <p:sp>
        <p:nvSpPr>
          <p:cNvPr id="476" name="Rectangle 475"/>
          <p:cNvSpPr/>
          <p:nvPr/>
        </p:nvSpPr>
        <p:spPr>
          <a:xfrm>
            <a:off x="6268212" y="1115568"/>
            <a:ext cx="2339949" cy="868680"/>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77" name="TextBox 476"/>
          <p:cNvSpPr txBox="1"/>
          <p:nvPr/>
        </p:nvSpPr>
        <p:spPr>
          <a:xfrm>
            <a:off x="6451092" y="1216152"/>
            <a:ext cx="1974189" cy="201168"/>
          </a:xfrm>
          <a:prstGeom prst="rect">
            <a:avLst/>
          </a:prstGeom>
          <a:noFill/>
        </p:spPr>
        <p:txBody>
          <a:bodyPr wrap="square" lIns="0" tIns="0" rIns="0" bIns="0" anchor="t">
            <a:spAutoFit/>
          </a:bodyPr>
          <a:lstStyle/>
          <a:p>
            <a:pPr algn="l"/>
            <a:r>
              <a:rPr sz="950" b="1">
                <a:solidFill>
                  <a:srgbClr val="EAD5C7"/>
                </a:solidFill>
                <a:latin typeface="Meiryo"/>
                <a:ea typeface="Meiryo"/>
                <a:cs typeface="Meiryo"/>
                <a:sym typeface="Meiryo"/>
              </a:rPr>
              <a:t>幹部メンバー継続率</a:t>
            </a:r>
          </a:p>
        </p:txBody>
      </p:sp>
      <p:sp>
        <p:nvSpPr>
          <p:cNvPr id="478" name="TextBox 477"/>
          <p:cNvSpPr txBox="1"/>
          <p:nvPr/>
        </p:nvSpPr>
        <p:spPr>
          <a:xfrm>
            <a:off x="6451092" y="1399032"/>
            <a:ext cx="1974189" cy="365760"/>
          </a:xfrm>
          <a:prstGeom prst="rect">
            <a:avLst/>
          </a:prstGeom>
          <a:noFill/>
        </p:spPr>
        <p:txBody>
          <a:bodyPr wrap="square" lIns="0" tIns="0" rIns="0" bIns="0" anchor="t">
            <a:spAutoFit/>
          </a:bodyPr>
          <a:lstStyle/>
          <a:p>
            <a:pPr algn="l"/>
            <a:r>
              <a:rPr sz="2400" b="1">
                <a:solidFill>
                  <a:srgbClr val="FFFFFF"/>
                </a:solidFill>
                <a:latin typeface="Meiryo"/>
                <a:ea typeface="Meiryo"/>
                <a:cs typeface="Meiryo"/>
                <a:sym typeface="Meiryo"/>
              </a:rPr>
              <a:t>100%</a:t>
            </a:r>
          </a:p>
        </p:txBody>
      </p:sp>
      <p:sp>
        <p:nvSpPr>
          <p:cNvPr id="479" name="TextBox 478"/>
          <p:cNvSpPr txBox="1"/>
          <p:nvPr/>
        </p:nvSpPr>
        <p:spPr>
          <a:xfrm>
            <a:off x="6451092" y="1764792"/>
            <a:ext cx="1974189" cy="182880"/>
          </a:xfrm>
          <a:prstGeom prst="rect">
            <a:avLst/>
          </a:prstGeom>
          <a:noFill/>
        </p:spPr>
        <p:txBody>
          <a:bodyPr wrap="square" lIns="0" tIns="0" rIns="0" bIns="0" anchor="t">
            <a:spAutoFit/>
          </a:bodyPr>
          <a:lstStyle/>
          <a:p>
            <a:pPr algn="l"/>
            <a:r>
              <a:rPr sz="800" b="0">
                <a:solidFill>
                  <a:srgbClr val="C9B6A8"/>
                </a:solidFill>
                <a:latin typeface="Meiryo"/>
                <a:ea typeface="Meiryo"/>
                <a:cs typeface="Meiryo"/>
                <a:sym typeface="Meiryo"/>
              </a:rPr>
              <a:t>一人も欠けていません</a:t>
            </a:r>
          </a:p>
        </p:txBody>
      </p:sp>
      <p:sp>
        <p:nvSpPr>
          <p:cNvPr id="480" name="TextBox 479"/>
          <p:cNvSpPr txBox="1"/>
          <p:nvPr/>
        </p:nvSpPr>
        <p:spPr>
          <a:xfrm>
            <a:off x="536752" y="2121408"/>
            <a:ext cx="4754880" cy="219456"/>
          </a:xfrm>
          <a:prstGeom prst="rect">
            <a:avLst/>
          </a:prstGeom>
          <a:noFill/>
        </p:spPr>
        <p:txBody>
          <a:bodyPr wrap="square" lIns="0" tIns="0" rIns="0" bIns="0" anchor="t">
            <a:spAutoFit/>
          </a:bodyPr>
          <a:lstStyle/>
          <a:p>
            <a:pPr algn="l"/>
            <a:r>
              <a:rPr sz="1100" b="1">
                <a:solidFill>
                  <a:srgbClr val="000000"/>
                </a:solidFill>
                <a:latin typeface="Meiryo"/>
                <a:ea typeface="Meiryo"/>
                <a:cs typeface="Meiryo"/>
                <a:sym typeface="Meiryo"/>
              </a:rPr>
              <a:t>取得前と、取得から2年後</a:t>
            </a:r>
          </a:p>
        </p:txBody>
      </p:sp>
      <p:sp>
        <p:nvSpPr>
          <p:cNvPr id="481" name="Rectangle 480"/>
          <p:cNvSpPr/>
          <p:nvPr/>
        </p:nvSpPr>
        <p:spPr>
          <a:xfrm>
            <a:off x="536752" y="2377440"/>
            <a:ext cx="4736592" cy="365760"/>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2" name="TextBox 481"/>
          <p:cNvSpPr txBox="1"/>
          <p:nvPr/>
        </p:nvSpPr>
        <p:spPr>
          <a:xfrm>
            <a:off x="628192" y="2423160"/>
            <a:ext cx="512063" cy="274320"/>
          </a:xfrm>
          <a:prstGeom prst="rect">
            <a:avLst/>
          </a:prstGeom>
          <a:noFill/>
        </p:spPr>
        <p:txBody>
          <a:bodyPr wrap="square" lIns="0" tIns="0" rIns="0" bIns="0" anchor="ctr">
            <a:spAutoFit/>
          </a:bodyPr>
          <a:lstStyle/>
          <a:p>
            <a:pPr algn="l">
              <a:lnSpc>
                <a:spcPct val="105000"/>
              </a:lnSpc>
            </a:pPr>
            <a:endParaRPr/>
          </a:p>
        </p:txBody>
      </p:sp>
      <p:sp>
        <p:nvSpPr>
          <p:cNvPr id="483" name="TextBox 482"/>
          <p:cNvSpPr txBox="1"/>
          <p:nvPr/>
        </p:nvSpPr>
        <p:spPr>
          <a:xfrm>
            <a:off x="1286560" y="2423160"/>
            <a:ext cx="1609344" cy="274320"/>
          </a:xfrm>
          <a:prstGeom prst="rect">
            <a:avLst/>
          </a:prstGeom>
          <a:noFill/>
        </p:spPr>
        <p:txBody>
          <a:bodyPr wrap="square" lIns="0" tIns="0" rIns="0" bIns="0" anchor="ctr">
            <a:spAutoFit/>
          </a:bodyPr>
          <a:lstStyle/>
          <a:p>
            <a:pPr algn="l">
              <a:lnSpc>
                <a:spcPct val="105000"/>
              </a:lnSpc>
            </a:pPr>
            <a:r>
              <a:rPr sz="850" b="1">
                <a:solidFill>
                  <a:srgbClr val="FFFFFF"/>
                </a:solidFill>
                <a:latin typeface="Meiryo"/>
                <a:ea typeface="Meiryo"/>
                <a:cs typeface="Meiryo"/>
                <a:sym typeface="Meiryo"/>
              </a:rPr>
              <a:t>取得前（〜2024年5月）</a:t>
            </a:r>
          </a:p>
        </p:txBody>
      </p:sp>
      <p:sp>
        <p:nvSpPr>
          <p:cNvPr id="484" name="TextBox 483"/>
          <p:cNvSpPr txBox="1"/>
          <p:nvPr/>
        </p:nvSpPr>
        <p:spPr>
          <a:xfrm>
            <a:off x="3042208" y="2423160"/>
            <a:ext cx="2176272" cy="274320"/>
          </a:xfrm>
          <a:prstGeom prst="rect">
            <a:avLst/>
          </a:prstGeom>
          <a:noFill/>
        </p:spPr>
        <p:txBody>
          <a:bodyPr wrap="square" lIns="0" tIns="0" rIns="0" bIns="0" anchor="ctr">
            <a:spAutoFit/>
          </a:bodyPr>
          <a:lstStyle/>
          <a:p>
            <a:pPr algn="l">
              <a:lnSpc>
                <a:spcPct val="105000"/>
              </a:lnSpc>
            </a:pPr>
            <a:r>
              <a:rPr sz="850" b="1">
                <a:solidFill>
                  <a:srgbClr val="FFFFFF"/>
                </a:solidFill>
                <a:latin typeface="Meiryo"/>
                <a:ea typeface="Meiryo"/>
                <a:cs typeface="Meiryo"/>
                <a:sym typeface="Meiryo"/>
              </a:rPr>
              <a:t>取得後2年（2026年）</a:t>
            </a:r>
          </a:p>
        </p:txBody>
      </p:sp>
      <p:sp>
        <p:nvSpPr>
          <p:cNvPr id="485" name="Rectangle 484"/>
          <p:cNvSpPr/>
          <p:nvPr/>
        </p:nvSpPr>
        <p:spPr>
          <a:xfrm>
            <a:off x="536752" y="2743200"/>
            <a:ext cx="4736592" cy="365760"/>
          </a:xfrm>
          <a:prstGeom prst="rect">
            <a:avLst/>
          </a:prstGeom>
          <a:solidFill>
            <a:srgbClr val="F6F6F6"/>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86" name="TextBox 485"/>
          <p:cNvSpPr txBox="1"/>
          <p:nvPr/>
        </p:nvSpPr>
        <p:spPr>
          <a:xfrm>
            <a:off x="628192" y="2788920"/>
            <a:ext cx="512063" cy="274320"/>
          </a:xfrm>
          <a:prstGeom prst="rect">
            <a:avLst/>
          </a:prstGeom>
          <a:noFill/>
        </p:spPr>
        <p:txBody>
          <a:bodyPr wrap="square" lIns="0" tIns="0" rIns="0" bIns="0" anchor="ctr">
            <a:spAutoFit/>
          </a:bodyPr>
          <a:lstStyle/>
          <a:p>
            <a:pPr algn="l">
              <a:lnSpc>
                <a:spcPct val="105000"/>
              </a:lnSpc>
            </a:pPr>
            <a:r>
              <a:rPr sz="850" b="1">
                <a:solidFill>
                  <a:srgbClr val="36394B"/>
                </a:solidFill>
                <a:latin typeface="Meiryo"/>
                <a:ea typeface="Meiryo"/>
                <a:cs typeface="Meiryo"/>
                <a:sym typeface="Meiryo"/>
              </a:rPr>
              <a:t>業績</a:t>
            </a:r>
          </a:p>
        </p:txBody>
      </p:sp>
      <p:sp>
        <p:nvSpPr>
          <p:cNvPr id="487" name="TextBox 486"/>
          <p:cNvSpPr txBox="1"/>
          <p:nvPr/>
        </p:nvSpPr>
        <p:spPr>
          <a:xfrm>
            <a:off x="1286560" y="2788920"/>
            <a:ext cx="1609344" cy="274320"/>
          </a:xfrm>
          <a:prstGeom prst="rect">
            <a:avLst/>
          </a:prstGeom>
          <a:noFill/>
        </p:spPr>
        <p:txBody>
          <a:bodyPr wrap="square" lIns="0" tIns="0" rIns="0" bIns="0" anchor="ctr">
            <a:spAutoFit/>
          </a:bodyPr>
          <a:lstStyle/>
          <a:p>
            <a:pPr algn="l">
              <a:lnSpc>
                <a:spcPct val="105000"/>
              </a:lnSpc>
            </a:pPr>
            <a:r>
              <a:rPr sz="850" b="0">
                <a:solidFill>
                  <a:srgbClr val="30373F"/>
                </a:solidFill>
                <a:latin typeface="Meiryo"/>
                <a:ea typeface="Meiryo"/>
                <a:cs typeface="Meiryo"/>
                <a:sym typeface="Meiryo"/>
              </a:rPr>
              <a:t>39年間赤字。40年目に黒字化</a:t>
            </a:r>
          </a:p>
        </p:txBody>
      </p:sp>
      <p:sp>
        <p:nvSpPr>
          <p:cNvPr id="488" name="TextBox 487"/>
          <p:cNvSpPr txBox="1"/>
          <p:nvPr/>
        </p:nvSpPr>
        <p:spPr>
          <a:xfrm>
            <a:off x="3042208" y="2788920"/>
            <a:ext cx="2176272" cy="274320"/>
          </a:xfrm>
          <a:prstGeom prst="rect">
            <a:avLst/>
          </a:prstGeom>
          <a:noFill/>
        </p:spPr>
        <p:txBody>
          <a:bodyPr wrap="square" lIns="0" tIns="0" rIns="0" bIns="0" anchor="ctr">
            <a:spAutoFit/>
          </a:bodyPr>
          <a:lstStyle/>
          <a:p>
            <a:pPr algn="l">
              <a:lnSpc>
                <a:spcPct val="105000"/>
              </a:lnSpc>
            </a:pPr>
            <a:r>
              <a:rPr sz="850" b="1">
                <a:solidFill>
                  <a:srgbClr val="C68A65"/>
                </a:solidFill>
                <a:latin typeface="Meiryo"/>
                <a:ea typeface="Meiryo"/>
                <a:cs typeface="Meiryo"/>
                <a:sym typeface="Meiryo"/>
              </a:rPr>
              <a:t>売上＋30%／営業利益＋250%超</a:t>
            </a:r>
          </a:p>
        </p:txBody>
      </p:sp>
      <p:sp>
        <p:nvSpPr>
          <p:cNvPr id="489" name="Rectangle 488"/>
          <p:cNvSpPr/>
          <p:nvPr/>
        </p:nvSpPr>
        <p:spPr>
          <a:xfrm>
            <a:off x="536752" y="3108960"/>
            <a:ext cx="4736592" cy="365760"/>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0" name="TextBox 489"/>
          <p:cNvSpPr txBox="1"/>
          <p:nvPr/>
        </p:nvSpPr>
        <p:spPr>
          <a:xfrm>
            <a:off x="628192" y="3154680"/>
            <a:ext cx="512063" cy="274320"/>
          </a:xfrm>
          <a:prstGeom prst="rect">
            <a:avLst/>
          </a:prstGeom>
          <a:noFill/>
        </p:spPr>
        <p:txBody>
          <a:bodyPr wrap="square" lIns="0" tIns="0" rIns="0" bIns="0" anchor="ctr">
            <a:spAutoFit/>
          </a:bodyPr>
          <a:lstStyle/>
          <a:p>
            <a:pPr algn="l">
              <a:lnSpc>
                <a:spcPct val="105000"/>
              </a:lnSpc>
            </a:pPr>
            <a:r>
              <a:rPr sz="850" b="1">
                <a:solidFill>
                  <a:srgbClr val="36394B"/>
                </a:solidFill>
                <a:latin typeface="Meiryo"/>
                <a:ea typeface="Meiryo"/>
                <a:cs typeface="Meiryo"/>
                <a:sym typeface="Meiryo"/>
              </a:rPr>
              <a:t>人員</a:t>
            </a:r>
          </a:p>
        </p:txBody>
      </p:sp>
      <p:sp>
        <p:nvSpPr>
          <p:cNvPr id="491" name="TextBox 490"/>
          <p:cNvSpPr txBox="1"/>
          <p:nvPr/>
        </p:nvSpPr>
        <p:spPr>
          <a:xfrm>
            <a:off x="1286560" y="3154680"/>
            <a:ext cx="1609344" cy="274320"/>
          </a:xfrm>
          <a:prstGeom prst="rect">
            <a:avLst/>
          </a:prstGeom>
          <a:noFill/>
        </p:spPr>
        <p:txBody>
          <a:bodyPr wrap="square" lIns="0" tIns="0" rIns="0" bIns="0" anchor="ctr">
            <a:spAutoFit/>
          </a:bodyPr>
          <a:lstStyle/>
          <a:p>
            <a:pPr algn="l">
              <a:lnSpc>
                <a:spcPct val="105000"/>
              </a:lnSpc>
            </a:pPr>
            <a:r>
              <a:rPr sz="850" b="0">
                <a:solidFill>
                  <a:srgbClr val="30373F"/>
                </a:solidFill>
                <a:latin typeface="Meiryo"/>
                <a:ea typeface="Meiryo"/>
                <a:cs typeface="Meiryo"/>
                <a:sym typeface="Meiryo"/>
              </a:rPr>
              <a:t>―</a:t>
            </a:r>
          </a:p>
        </p:txBody>
      </p:sp>
      <p:sp>
        <p:nvSpPr>
          <p:cNvPr id="492" name="TextBox 491"/>
          <p:cNvSpPr txBox="1"/>
          <p:nvPr/>
        </p:nvSpPr>
        <p:spPr>
          <a:xfrm>
            <a:off x="3042208" y="3154680"/>
            <a:ext cx="2176272" cy="274320"/>
          </a:xfrm>
          <a:prstGeom prst="rect">
            <a:avLst/>
          </a:prstGeom>
          <a:noFill/>
        </p:spPr>
        <p:txBody>
          <a:bodyPr wrap="square" lIns="0" tIns="0" rIns="0" bIns="0" anchor="ctr">
            <a:spAutoFit/>
          </a:bodyPr>
          <a:lstStyle/>
          <a:p>
            <a:pPr algn="l">
              <a:lnSpc>
                <a:spcPct val="105000"/>
              </a:lnSpc>
            </a:pPr>
            <a:r>
              <a:rPr sz="850" b="1">
                <a:solidFill>
                  <a:srgbClr val="C68A65"/>
                </a:solidFill>
                <a:latin typeface="Meiryo"/>
                <a:ea typeface="Meiryo"/>
                <a:cs typeface="Meiryo"/>
                <a:sym typeface="Meiryo"/>
              </a:rPr>
              <a:t>幹部メンバーは全員継続。入替えなし</a:t>
            </a:r>
          </a:p>
        </p:txBody>
      </p:sp>
      <p:sp>
        <p:nvSpPr>
          <p:cNvPr id="493" name="Rectangle 492"/>
          <p:cNvSpPr/>
          <p:nvPr/>
        </p:nvSpPr>
        <p:spPr>
          <a:xfrm>
            <a:off x="536752" y="3474720"/>
            <a:ext cx="4736592" cy="365760"/>
          </a:xfrm>
          <a:prstGeom prst="rect">
            <a:avLst/>
          </a:prstGeom>
          <a:solidFill>
            <a:srgbClr val="F6F6F6"/>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4" name="TextBox 493"/>
          <p:cNvSpPr txBox="1"/>
          <p:nvPr/>
        </p:nvSpPr>
        <p:spPr>
          <a:xfrm>
            <a:off x="628192" y="3520440"/>
            <a:ext cx="512063" cy="274320"/>
          </a:xfrm>
          <a:prstGeom prst="rect">
            <a:avLst/>
          </a:prstGeom>
          <a:noFill/>
        </p:spPr>
        <p:txBody>
          <a:bodyPr wrap="square" lIns="0" tIns="0" rIns="0" bIns="0" anchor="ctr">
            <a:spAutoFit/>
          </a:bodyPr>
          <a:lstStyle/>
          <a:p>
            <a:pPr algn="l">
              <a:lnSpc>
                <a:spcPct val="105000"/>
              </a:lnSpc>
            </a:pPr>
            <a:r>
              <a:rPr sz="850" b="1">
                <a:solidFill>
                  <a:srgbClr val="36394B"/>
                </a:solidFill>
                <a:latin typeface="Meiryo"/>
                <a:ea typeface="Meiryo"/>
                <a:cs typeface="Meiryo"/>
                <a:sym typeface="Meiryo"/>
              </a:rPr>
              <a:t>労働環境</a:t>
            </a:r>
          </a:p>
        </p:txBody>
      </p:sp>
      <p:sp>
        <p:nvSpPr>
          <p:cNvPr id="495" name="TextBox 494"/>
          <p:cNvSpPr txBox="1"/>
          <p:nvPr/>
        </p:nvSpPr>
        <p:spPr>
          <a:xfrm>
            <a:off x="1286560" y="3520440"/>
            <a:ext cx="1609344" cy="274320"/>
          </a:xfrm>
          <a:prstGeom prst="rect">
            <a:avLst/>
          </a:prstGeom>
          <a:noFill/>
        </p:spPr>
        <p:txBody>
          <a:bodyPr wrap="square" lIns="0" tIns="0" rIns="0" bIns="0" anchor="ctr">
            <a:spAutoFit/>
          </a:bodyPr>
          <a:lstStyle/>
          <a:p>
            <a:pPr algn="l">
              <a:lnSpc>
                <a:spcPct val="105000"/>
              </a:lnSpc>
            </a:pPr>
            <a:r>
              <a:rPr sz="850" b="0">
                <a:solidFill>
                  <a:srgbClr val="30373F"/>
                </a:solidFill>
                <a:latin typeface="Meiryo"/>
                <a:ea typeface="Meiryo"/>
                <a:cs typeface="Meiryo"/>
                <a:sym typeface="Meiryo"/>
              </a:rPr>
              <a:t>サービス残業が常態化</a:t>
            </a:r>
          </a:p>
        </p:txBody>
      </p:sp>
      <p:sp>
        <p:nvSpPr>
          <p:cNvPr id="496" name="TextBox 495"/>
          <p:cNvSpPr txBox="1"/>
          <p:nvPr/>
        </p:nvSpPr>
        <p:spPr>
          <a:xfrm>
            <a:off x="3042208" y="3520440"/>
            <a:ext cx="2176272" cy="274320"/>
          </a:xfrm>
          <a:prstGeom prst="rect">
            <a:avLst/>
          </a:prstGeom>
          <a:noFill/>
        </p:spPr>
        <p:txBody>
          <a:bodyPr wrap="square" lIns="0" tIns="0" rIns="0" bIns="0" anchor="ctr">
            <a:spAutoFit/>
          </a:bodyPr>
          <a:lstStyle/>
          <a:p>
            <a:pPr algn="l">
              <a:lnSpc>
                <a:spcPct val="105000"/>
              </a:lnSpc>
            </a:pPr>
            <a:r>
              <a:rPr sz="850" b="1">
                <a:solidFill>
                  <a:srgbClr val="C68A65"/>
                </a:solidFill>
                <a:latin typeface="Meiryo"/>
                <a:ea typeface="Meiryo"/>
                <a:cs typeface="Meiryo"/>
                <a:sym typeface="Meiryo"/>
              </a:rPr>
              <a:t>サービス残業を撤廃。残業ゼロの体制へ</a:t>
            </a:r>
          </a:p>
        </p:txBody>
      </p:sp>
      <p:sp>
        <p:nvSpPr>
          <p:cNvPr id="497" name="Rectangle 496"/>
          <p:cNvSpPr/>
          <p:nvPr/>
        </p:nvSpPr>
        <p:spPr>
          <a:xfrm>
            <a:off x="536752" y="3840480"/>
            <a:ext cx="4736592" cy="365760"/>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498" name="TextBox 497"/>
          <p:cNvSpPr txBox="1"/>
          <p:nvPr/>
        </p:nvSpPr>
        <p:spPr>
          <a:xfrm>
            <a:off x="628192" y="3886200"/>
            <a:ext cx="512063" cy="274320"/>
          </a:xfrm>
          <a:prstGeom prst="rect">
            <a:avLst/>
          </a:prstGeom>
          <a:noFill/>
        </p:spPr>
        <p:txBody>
          <a:bodyPr wrap="square" lIns="0" tIns="0" rIns="0" bIns="0" anchor="ctr">
            <a:spAutoFit/>
          </a:bodyPr>
          <a:lstStyle/>
          <a:p>
            <a:pPr algn="l">
              <a:lnSpc>
                <a:spcPct val="105000"/>
              </a:lnSpc>
            </a:pPr>
            <a:r>
              <a:rPr sz="850" b="1">
                <a:solidFill>
                  <a:srgbClr val="36394B"/>
                </a:solidFill>
                <a:latin typeface="Meiryo"/>
                <a:ea typeface="Meiryo"/>
                <a:cs typeface="Meiryo"/>
                <a:sym typeface="Meiryo"/>
              </a:rPr>
              <a:t>店舗</a:t>
            </a:r>
          </a:p>
        </p:txBody>
      </p:sp>
      <p:sp>
        <p:nvSpPr>
          <p:cNvPr id="499" name="TextBox 498"/>
          <p:cNvSpPr txBox="1"/>
          <p:nvPr/>
        </p:nvSpPr>
        <p:spPr>
          <a:xfrm>
            <a:off x="1286560" y="3886200"/>
            <a:ext cx="1609344" cy="274320"/>
          </a:xfrm>
          <a:prstGeom prst="rect">
            <a:avLst/>
          </a:prstGeom>
          <a:noFill/>
        </p:spPr>
        <p:txBody>
          <a:bodyPr wrap="square" lIns="0" tIns="0" rIns="0" bIns="0" anchor="ctr">
            <a:spAutoFit/>
          </a:bodyPr>
          <a:lstStyle/>
          <a:p>
            <a:pPr algn="l">
              <a:lnSpc>
                <a:spcPct val="105000"/>
              </a:lnSpc>
            </a:pPr>
            <a:r>
              <a:rPr sz="850" b="0">
                <a:solidFill>
                  <a:srgbClr val="30373F"/>
                </a:solidFill>
                <a:latin typeface="Meiryo"/>
                <a:ea typeface="Meiryo"/>
                <a:cs typeface="Meiryo"/>
                <a:sym typeface="Meiryo"/>
              </a:rPr>
              <a:t>―</a:t>
            </a:r>
          </a:p>
        </p:txBody>
      </p:sp>
      <p:sp>
        <p:nvSpPr>
          <p:cNvPr id="500" name="TextBox 499"/>
          <p:cNvSpPr txBox="1"/>
          <p:nvPr/>
        </p:nvSpPr>
        <p:spPr>
          <a:xfrm>
            <a:off x="3042208" y="3886200"/>
            <a:ext cx="2176272" cy="274320"/>
          </a:xfrm>
          <a:prstGeom prst="rect">
            <a:avLst/>
          </a:prstGeom>
          <a:noFill/>
        </p:spPr>
        <p:txBody>
          <a:bodyPr wrap="square" lIns="0" tIns="0" rIns="0" bIns="0" anchor="ctr">
            <a:spAutoFit/>
          </a:bodyPr>
          <a:lstStyle/>
          <a:p>
            <a:pPr algn="l">
              <a:lnSpc>
                <a:spcPct val="105000"/>
              </a:lnSpc>
            </a:pPr>
            <a:r>
              <a:rPr sz="850" b="1">
                <a:solidFill>
                  <a:srgbClr val="C68A65"/>
                </a:solidFill>
                <a:latin typeface="Meiryo"/>
                <a:ea typeface="Meiryo"/>
                <a:cs typeface="Meiryo"/>
                <a:sym typeface="Meiryo"/>
              </a:rPr>
              <a:t>一部改装・修繕を実施。業態は不変</a:t>
            </a:r>
          </a:p>
        </p:txBody>
      </p:sp>
      <p:pic>
        <p:nvPicPr>
          <p:cNvPr id="501" name="Picture 500" descr="apx_main.png"/>
          <p:cNvPicPr>
            <a:picLocks noChangeAspect="1"/>
          </p:cNvPicPr>
          <p:nvPr/>
        </p:nvPicPr>
        <p:blipFill>
          <a:blip r:embed="rId3"/>
          <a:srcRect t="28412" b="28412"/>
          <a:stretch>
            <a:fillRect/>
          </a:stretch>
        </p:blipFill>
        <p:spPr>
          <a:xfrm>
            <a:off x="5440680" y="2377440"/>
            <a:ext cx="3163824" cy="786384"/>
          </a:xfrm>
          <a:prstGeom prst="rect">
            <a:avLst/>
          </a:prstGeom>
        </p:spPr>
      </p:pic>
      <p:pic>
        <p:nvPicPr>
          <p:cNvPr id="502" name="Picture 501" descr="apx_private.png"/>
          <p:cNvPicPr>
            <a:picLocks noChangeAspect="1"/>
          </p:cNvPicPr>
          <p:nvPr/>
        </p:nvPicPr>
        <p:blipFill>
          <a:blip r:embed="rId4"/>
          <a:srcRect t="33818" b="33818"/>
          <a:stretch>
            <a:fillRect/>
          </a:stretch>
        </p:blipFill>
        <p:spPr>
          <a:xfrm>
            <a:off x="5440680" y="3218688"/>
            <a:ext cx="3163824" cy="786384"/>
          </a:xfrm>
          <a:prstGeom prst="rect">
            <a:avLst/>
          </a:prstGeom>
        </p:spPr>
      </p:pic>
      <p:sp>
        <p:nvSpPr>
          <p:cNvPr id="503" name="TextBox 502"/>
          <p:cNvSpPr txBox="1"/>
          <p:nvPr/>
        </p:nvSpPr>
        <p:spPr>
          <a:xfrm>
            <a:off x="5440680" y="4059936"/>
            <a:ext cx="3163824" cy="182880"/>
          </a:xfrm>
          <a:prstGeom prst="rect">
            <a:avLst/>
          </a:prstGeom>
          <a:noFill/>
        </p:spPr>
        <p:txBody>
          <a:bodyPr wrap="square" lIns="0" tIns="0" rIns="0" bIns="0" anchor="t">
            <a:spAutoFit/>
          </a:bodyPr>
          <a:lstStyle/>
          <a:p>
            <a:pPr algn="l"/>
            <a:r>
              <a:rPr sz="750" b="0">
                <a:solidFill>
                  <a:srgbClr val="595959"/>
                </a:solidFill>
                <a:latin typeface="Meiryo"/>
                <a:ea typeface="Meiryo"/>
                <a:cs typeface="Meiryo"/>
                <a:sym typeface="Meiryo"/>
              </a:rPr>
              <a:t>アピシウス（東京・銀座）　1983年開業</a:t>
            </a:r>
          </a:p>
        </p:txBody>
      </p:sp>
      <p:sp>
        <p:nvSpPr>
          <p:cNvPr id="504" name="Rectangle 503"/>
          <p:cNvSpPr/>
          <p:nvPr/>
        </p:nvSpPr>
        <p:spPr>
          <a:xfrm>
            <a:off x="536752" y="4279392"/>
            <a:ext cx="8070494" cy="493776"/>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5" name="Rectangle 504"/>
          <p:cNvSpPr/>
          <p:nvPr/>
        </p:nvSpPr>
        <p:spPr>
          <a:xfrm>
            <a:off x="536752" y="4279392"/>
            <a:ext cx="45720" cy="493776"/>
          </a:xfrm>
          <a:prstGeom prst="rect">
            <a:avLst/>
          </a:prstGeom>
          <a:solidFill>
            <a:srgbClr val="C6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endParaRPr/>
          </a:p>
        </p:txBody>
      </p:sp>
      <p:sp>
        <p:nvSpPr>
          <p:cNvPr id="506" name="TextBox 505"/>
          <p:cNvSpPr txBox="1"/>
          <p:nvPr/>
        </p:nvSpPr>
        <p:spPr>
          <a:xfrm>
            <a:off x="694944" y="4352544"/>
            <a:ext cx="7863840" cy="366960"/>
          </a:xfrm>
          <a:prstGeom prst="rect">
            <a:avLst/>
          </a:prstGeom>
          <a:noFill/>
        </p:spPr>
        <p:txBody>
          <a:bodyPr wrap="square" lIns="0" tIns="0" rIns="0" bIns="0" anchor="t">
            <a:spAutoFit/>
          </a:bodyPr>
          <a:lstStyle/>
          <a:p>
            <a:pPr algn="l">
              <a:lnSpc>
                <a:spcPct val="125000"/>
              </a:lnSpc>
            </a:pPr>
            <a:r>
              <a:rPr sz="1100" b="1" dirty="0" err="1">
                <a:solidFill>
                  <a:srgbClr val="000000"/>
                </a:solidFill>
                <a:latin typeface="Meiryo"/>
                <a:ea typeface="Meiryo"/>
                <a:cs typeface="Meiryo"/>
                <a:sym typeface="Meiryo"/>
              </a:rPr>
              <a:t>グランメゾンは、引き継いでも</a:t>
            </a:r>
            <a:r>
              <a:rPr lang="ja-JP" altLang="en-US" sz="1100" b="1" dirty="0">
                <a:solidFill>
                  <a:srgbClr val="000000"/>
                </a:solidFill>
                <a:latin typeface="Meiryo"/>
                <a:ea typeface="Meiryo"/>
                <a:cs typeface="Meiryo"/>
                <a:sym typeface="Meiryo"/>
              </a:rPr>
              <a:t>継続・成長できる</a:t>
            </a:r>
            <a:r>
              <a:rPr sz="1100" b="1" dirty="0">
                <a:solidFill>
                  <a:srgbClr val="000000"/>
                </a:solidFill>
                <a:latin typeface="Meiryo"/>
                <a:ea typeface="Meiryo"/>
                <a:cs typeface="Meiryo"/>
                <a:sym typeface="Meiryo"/>
              </a:rPr>
              <a:t>。</a:t>
            </a:r>
          </a:p>
          <a:p>
            <a:pPr algn="l">
              <a:lnSpc>
                <a:spcPct val="125000"/>
              </a:lnSpc>
            </a:pPr>
            <a:r>
              <a:rPr sz="850" b="0" dirty="0" err="1">
                <a:solidFill>
                  <a:srgbClr val="30373F"/>
                </a:solidFill>
                <a:latin typeface="Meiryo"/>
                <a:ea typeface="Meiryo"/>
                <a:cs typeface="Meiryo"/>
                <a:sym typeface="Meiryo"/>
              </a:rPr>
              <a:t>私たちが学んだのは収益改善の手法ではありません。人を入れ替えず、労働環境をむしろ良くしたうえで、店は伸ばせるということです</a:t>
            </a:r>
            <a:r>
              <a:rPr sz="850" b="0" dirty="0">
                <a:solidFill>
                  <a:srgbClr val="30373F"/>
                </a:solidFill>
                <a:latin typeface="Meiryo"/>
                <a:ea typeface="Meiryo"/>
                <a:cs typeface="Meiryo"/>
                <a:sym typeface="Meiryo"/>
              </a:rPr>
              <a: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01"/>
        <p:cNvGrpSpPr/>
        <p:nvPr/>
      </p:nvGrpSpPr>
      <p:grpSpPr>
        <a:xfrm>
          <a:off x="0" y="0"/>
          <a:ext cx="0" cy="0"/>
          <a:chOff x="0" y="0"/>
          <a:chExt cx="0" cy="0"/>
        </a:xfrm>
      </p:grpSpPr>
      <p:sp>
        <p:nvSpPr>
          <p:cNvPr id="402" name="Google Shape;402;g376c0386bf5_0_93"/>
          <p:cNvSpPr txBox="1"/>
          <p:nvPr/>
        </p:nvSpPr>
        <p:spPr>
          <a:xfrm>
            <a:off x="239550" y="270850"/>
            <a:ext cx="57474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 sz="1400" b="1" i="0" u="none" strike="noStrike" cap="none">
                <a:solidFill>
                  <a:schemeClr val="dk1"/>
                </a:solidFill>
                <a:latin typeface="Meiryo"/>
                <a:ea typeface="Meiryo"/>
                <a:cs typeface="Meiryo"/>
                <a:sym typeface="Meiryo"/>
              </a:rPr>
              <a:t>提携飲食店（全26店舗、ワイン関連レストラン多数）</a:t>
            </a:r>
            <a:endParaRPr sz="1200" b="0" i="0" u="none" strike="noStrike" cap="none">
              <a:solidFill>
                <a:srgbClr val="000000"/>
              </a:solidFill>
              <a:latin typeface="Meiryo"/>
              <a:ea typeface="Meiryo"/>
              <a:cs typeface="Meiryo"/>
              <a:sym typeface="Meiryo"/>
            </a:endParaRPr>
          </a:p>
        </p:txBody>
      </p:sp>
      <p:sp>
        <p:nvSpPr>
          <p:cNvPr id="403" name="Google Shape;403;g376c0386bf5_0_93"/>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04" name="Google Shape;404;g376c0386bf5_0_93"/>
          <p:cNvSpPr txBox="1"/>
          <p:nvPr/>
        </p:nvSpPr>
        <p:spPr>
          <a:xfrm>
            <a:off x="6520060" y="589780"/>
            <a:ext cx="2458938" cy="19233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600"/>
              <a:buFont typeface="Arial"/>
              <a:buNone/>
            </a:pPr>
            <a:r>
              <a:rPr lang="ja" sz="800" b="0" i="0" u="none" strike="noStrike" cap="none">
                <a:solidFill>
                  <a:schemeClr val="dk1"/>
                </a:solidFill>
                <a:highlight>
                  <a:schemeClr val="lt1"/>
                </a:highlight>
                <a:latin typeface="Meiryo"/>
                <a:ea typeface="Meiryo"/>
                <a:cs typeface="Meiryo"/>
                <a:sym typeface="Meiryo"/>
              </a:rPr>
              <a:t>※ほか東京６店舗/神奈川８店舗/催事店舗多数</a:t>
            </a:r>
            <a:endParaRPr sz="800" b="0" i="0" u="none" strike="noStrike" cap="none">
              <a:solidFill>
                <a:schemeClr val="dk1"/>
              </a:solidFill>
              <a:highlight>
                <a:schemeClr val="lt1"/>
              </a:highlight>
              <a:latin typeface="Meiryo"/>
              <a:ea typeface="Meiryo"/>
              <a:cs typeface="Meiryo"/>
              <a:sym typeface="Meiryo"/>
            </a:endParaRPr>
          </a:p>
        </p:txBody>
      </p:sp>
      <p:grpSp>
        <p:nvGrpSpPr>
          <p:cNvPr id="405" name="Google Shape;405;g376c0386bf5_0_93"/>
          <p:cNvGrpSpPr/>
          <p:nvPr/>
        </p:nvGrpSpPr>
        <p:grpSpPr>
          <a:xfrm>
            <a:off x="421128" y="770466"/>
            <a:ext cx="8301745" cy="4167491"/>
            <a:chOff x="238076" y="770467"/>
            <a:chExt cx="7893199" cy="3962400"/>
          </a:xfrm>
        </p:grpSpPr>
        <p:pic>
          <p:nvPicPr>
            <p:cNvPr id="406" name="Google Shape;406;g376c0386bf5_0_93"/>
            <p:cNvPicPr preferRelativeResize="0"/>
            <p:nvPr/>
          </p:nvPicPr>
          <p:blipFill rotWithShape="1">
            <a:blip r:embed="rId3">
              <a:alphaModFix/>
            </a:blip>
            <a:srcRect/>
            <a:stretch/>
          </p:blipFill>
          <p:spPr>
            <a:xfrm>
              <a:off x="238076" y="770467"/>
              <a:ext cx="5892215" cy="3962400"/>
            </a:xfrm>
            <a:prstGeom prst="rect">
              <a:avLst/>
            </a:prstGeom>
            <a:noFill/>
            <a:ln>
              <a:noFill/>
            </a:ln>
          </p:spPr>
        </p:pic>
        <p:pic>
          <p:nvPicPr>
            <p:cNvPr id="407" name="Google Shape;407;g376c0386bf5_0_93"/>
            <p:cNvPicPr preferRelativeResize="0"/>
            <p:nvPr/>
          </p:nvPicPr>
          <p:blipFill rotWithShape="1">
            <a:blip r:embed="rId4">
              <a:alphaModFix/>
            </a:blip>
            <a:srcRect l="33198" t="75098" r="32481" b="226"/>
            <a:stretch/>
          </p:blipFill>
          <p:spPr>
            <a:xfrm>
              <a:off x="6124718" y="770467"/>
              <a:ext cx="2006557" cy="1203884"/>
            </a:xfrm>
            <a:prstGeom prst="rect">
              <a:avLst/>
            </a:prstGeom>
            <a:noFill/>
            <a:ln>
              <a:noFill/>
            </a:ln>
          </p:spPr>
        </p:pic>
        <p:sp>
          <p:nvSpPr>
            <p:cNvPr id="408" name="Google Shape;408;g376c0386bf5_0_93"/>
            <p:cNvSpPr/>
            <p:nvPr/>
          </p:nvSpPr>
          <p:spPr>
            <a:xfrm>
              <a:off x="6089159" y="1925087"/>
              <a:ext cx="2042116" cy="2807779"/>
            </a:xfrm>
            <a:prstGeom prst="rect">
              <a:avLst/>
            </a:prstGeom>
            <a:solidFill>
              <a:srgbClr val="F9F3E9"/>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409" name="Google Shape;409;g376c0386bf5_0_93"/>
            <p:cNvSpPr txBox="1"/>
            <p:nvPr/>
          </p:nvSpPr>
          <p:spPr>
            <a:xfrm>
              <a:off x="6160236" y="2952875"/>
              <a:ext cx="1445342" cy="31547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a:solidFill>
                    <a:srgbClr val="000000"/>
                  </a:solidFill>
                  <a:latin typeface="Arial"/>
                  <a:ea typeface="Arial"/>
                  <a:cs typeface="Arial"/>
                  <a:sym typeface="Arial"/>
                </a:rPr>
                <a:t>KINKA sushi bar izakaya 渋谷</a:t>
              </a:r>
              <a:endParaRPr sz="600" b="1"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600"/>
                <a:buFont typeface="Arial"/>
                <a:buNone/>
              </a:pPr>
              <a:r>
                <a:rPr lang="ja" sz="600" b="1" i="0" u="none" strike="noStrike" cap="none">
                  <a:solidFill>
                    <a:srgbClr val="000000"/>
                  </a:solidFill>
                  <a:latin typeface="Arial"/>
                  <a:ea typeface="Arial"/>
                  <a:cs typeface="Arial"/>
                  <a:sym typeface="Arial"/>
                </a:rPr>
                <a:t>(寿司バー／渋谷）</a:t>
              </a:r>
              <a:endParaRPr sz="1400" b="0" i="0" u="none" strike="noStrike" cap="none">
                <a:solidFill>
                  <a:srgbClr val="000000"/>
                </a:solidFill>
                <a:latin typeface="Arial"/>
                <a:ea typeface="Arial"/>
                <a:cs typeface="Arial"/>
                <a:sym typeface="Arial"/>
              </a:endParaRPr>
            </a:p>
          </p:txBody>
        </p:sp>
        <p:sp>
          <p:nvSpPr>
            <p:cNvPr id="410" name="Google Shape;410;g376c0386bf5_0_93"/>
            <p:cNvSpPr txBox="1"/>
            <p:nvPr/>
          </p:nvSpPr>
          <p:spPr>
            <a:xfrm>
              <a:off x="6160236" y="4259542"/>
              <a:ext cx="1596666" cy="31547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600"/>
                <a:buFont typeface="Arial"/>
                <a:buNone/>
              </a:pPr>
              <a:r>
                <a:rPr lang="ja" sz="600" b="1" i="0" u="none" strike="noStrike" cap="none">
                  <a:solidFill>
                    <a:srgbClr val="000000"/>
                  </a:solidFill>
                  <a:latin typeface="Arial"/>
                  <a:ea typeface="Arial"/>
                  <a:cs typeface="Arial"/>
                  <a:sym typeface="Arial"/>
                </a:rPr>
                <a:t>KINKA sushi bar izakaya 六本木</a:t>
              </a:r>
              <a:endParaRPr sz="600" b="1" i="0" u="none" strike="noStrike" cap="none">
                <a:solidFill>
                  <a:srgbClr val="000000"/>
                </a:solidFill>
                <a:latin typeface="Arial"/>
                <a:ea typeface="Arial"/>
                <a:cs typeface="Arial"/>
                <a:sym typeface="Arial"/>
              </a:endParaRPr>
            </a:p>
            <a:p>
              <a:pPr marL="0" marR="0" lvl="0" indent="0" algn="l" rtl="0">
                <a:lnSpc>
                  <a:spcPct val="100000"/>
                </a:lnSpc>
                <a:spcBef>
                  <a:spcPts val="300"/>
                </a:spcBef>
                <a:spcAft>
                  <a:spcPts val="0"/>
                </a:spcAft>
                <a:buClr>
                  <a:srgbClr val="000000"/>
                </a:buClr>
                <a:buSzPts val="600"/>
                <a:buFont typeface="Arial"/>
                <a:buNone/>
              </a:pPr>
              <a:r>
                <a:rPr lang="ja" sz="600" b="1" i="0" u="none" strike="noStrike" cap="none">
                  <a:solidFill>
                    <a:srgbClr val="000000"/>
                  </a:solidFill>
                  <a:latin typeface="Arial"/>
                  <a:ea typeface="Arial"/>
                  <a:cs typeface="Arial"/>
                  <a:sym typeface="Arial"/>
                </a:rPr>
                <a:t>(寿司バー／六本木）</a:t>
              </a:r>
              <a:endParaRPr sz="1400" b="0" i="0" u="none" strike="noStrike" cap="none">
                <a:solidFill>
                  <a:srgbClr val="000000"/>
                </a:solidFill>
                <a:latin typeface="Arial"/>
                <a:ea typeface="Arial"/>
                <a:cs typeface="Arial"/>
                <a:sym typeface="Arial"/>
              </a:endParaRPr>
            </a:p>
          </p:txBody>
        </p:sp>
        <p:pic>
          <p:nvPicPr>
            <p:cNvPr id="411" name="Google Shape;411;g376c0386bf5_0_93"/>
            <p:cNvPicPr preferRelativeResize="0"/>
            <p:nvPr/>
          </p:nvPicPr>
          <p:blipFill rotWithShape="1">
            <a:blip r:embed="rId5">
              <a:alphaModFix/>
            </a:blip>
            <a:srcRect t="11191" b="9984"/>
            <a:stretch/>
          </p:blipFill>
          <p:spPr>
            <a:xfrm>
              <a:off x="6251027" y="3348708"/>
              <a:ext cx="1753148" cy="908782"/>
            </a:xfrm>
            <a:prstGeom prst="rect">
              <a:avLst/>
            </a:prstGeom>
            <a:noFill/>
            <a:ln>
              <a:noFill/>
            </a:ln>
          </p:spPr>
        </p:pic>
        <p:pic>
          <p:nvPicPr>
            <p:cNvPr id="412" name="Google Shape;412;g376c0386bf5_0_93"/>
            <p:cNvPicPr preferRelativeResize="0"/>
            <p:nvPr/>
          </p:nvPicPr>
          <p:blipFill rotWithShape="1">
            <a:blip r:embed="rId6">
              <a:alphaModFix/>
            </a:blip>
            <a:srcRect t="21307" b="10320"/>
            <a:stretch/>
          </p:blipFill>
          <p:spPr>
            <a:xfrm>
              <a:off x="6250432" y="2144088"/>
              <a:ext cx="1753743" cy="790513"/>
            </a:xfrm>
            <a:prstGeom prst="rect">
              <a:avLst/>
            </a:prstGeom>
            <a:noFill/>
            <a:ln>
              <a:noFill/>
            </a:ln>
          </p:spPr>
        </p:pic>
      </p:gr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416"/>
        <p:cNvGrpSpPr/>
        <p:nvPr/>
      </p:nvGrpSpPr>
      <p:grpSpPr>
        <a:xfrm>
          <a:off x="0" y="0"/>
          <a:ext cx="0" cy="0"/>
          <a:chOff x="0" y="0"/>
          <a:chExt cx="0" cy="0"/>
        </a:xfrm>
      </p:grpSpPr>
      <p:sp>
        <p:nvSpPr>
          <p:cNvPr id="417" name="Google Shape;417;g382af4871d9_0_0"/>
          <p:cNvSpPr txBox="1"/>
          <p:nvPr/>
        </p:nvSpPr>
        <p:spPr>
          <a:xfrm>
            <a:off x="1956445" y="1681024"/>
            <a:ext cx="5231100" cy="13719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2800"/>
              <a:buFont typeface="Arial"/>
              <a:buNone/>
            </a:pPr>
            <a:r>
              <a:rPr lang="ja" sz="2800" b="1" i="0" u="none" strike="noStrike" cap="none">
                <a:solidFill>
                  <a:schemeClr val="lt1"/>
                </a:solidFill>
                <a:latin typeface="Meiryo"/>
                <a:ea typeface="Meiryo"/>
                <a:cs typeface="Meiryo"/>
                <a:sym typeface="Meiryo"/>
              </a:rPr>
              <a:t>成長戦略 PhaseⅠ</a:t>
            </a:r>
            <a:endParaRPr sz="2800" b="1" i="0" u="none" strike="noStrike" cap="none">
              <a:solidFill>
                <a:schemeClr val="lt1"/>
              </a:solidFill>
              <a:latin typeface="Meiryo"/>
              <a:ea typeface="Meiryo"/>
              <a:cs typeface="Meiryo"/>
              <a:sym typeface="Meiryo"/>
            </a:endParaRPr>
          </a:p>
          <a:p>
            <a:pPr marL="0" marR="0" lvl="0" indent="0" algn="ctr" rtl="0">
              <a:lnSpc>
                <a:spcPct val="200000"/>
              </a:lnSpc>
              <a:spcBef>
                <a:spcPts val="0"/>
              </a:spcBef>
              <a:spcAft>
                <a:spcPts val="0"/>
              </a:spcAft>
              <a:buClr>
                <a:srgbClr val="000000"/>
              </a:buClr>
              <a:buSzPts val="2800"/>
              <a:buFont typeface="Arial"/>
              <a:buNone/>
            </a:pPr>
            <a:r>
              <a:rPr lang="ja" sz="2800" b="1">
                <a:solidFill>
                  <a:schemeClr val="lt1"/>
                </a:solidFill>
                <a:latin typeface="Meiryo"/>
                <a:ea typeface="Meiryo"/>
                <a:cs typeface="Meiryo"/>
                <a:sym typeface="Meiryo"/>
              </a:rPr>
              <a:t>海外著名シェフと業務提携</a:t>
            </a:r>
            <a:endParaRPr sz="2800" b="1">
              <a:solidFill>
                <a:schemeClr val="lt1"/>
              </a:solidFill>
              <a:latin typeface="Meiryo"/>
              <a:ea typeface="Meiryo"/>
              <a:cs typeface="Meiryo"/>
              <a:sym typeface="Meiryo"/>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421"/>
        <p:cNvGrpSpPr/>
        <p:nvPr/>
      </p:nvGrpSpPr>
      <p:grpSpPr>
        <a:xfrm>
          <a:off x="0" y="0"/>
          <a:ext cx="0" cy="0"/>
          <a:chOff x="0" y="0"/>
          <a:chExt cx="0" cy="0"/>
        </a:xfrm>
      </p:grpSpPr>
      <p:sp>
        <p:nvSpPr>
          <p:cNvPr id="422" name="Google Shape;422;g382af4871d9_0_16"/>
          <p:cNvSpPr txBox="1"/>
          <p:nvPr/>
        </p:nvSpPr>
        <p:spPr>
          <a:xfrm>
            <a:off x="239772" y="211050"/>
            <a:ext cx="23013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1F1F1F"/>
                </a:solidFill>
                <a:highlight>
                  <a:srgbClr val="FFFFFF"/>
                </a:highlight>
                <a:latin typeface="Meiryo"/>
                <a:ea typeface="Meiryo"/>
                <a:cs typeface="Meiryo"/>
                <a:sym typeface="Meiryo"/>
              </a:rPr>
              <a:t>THIERRY MARXとは</a:t>
            </a:r>
            <a:endParaRPr sz="1400" b="1" i="0" u="none" strike="noStrike" cap="none">
              <a:solidFill>
                <a:schemeClr val="dk1"/>
              </a:solidFill>
              <a:latin typeface="Meiryo"/>
              <a:ea typeface="Meiryo"/>
              <a:cs typeface="Meiryo"/>
              <a:sym typeface="Meiryo"/>
            </a:endParaRPr>
          </a:p>
        </p:txBody>
      </p:sp>
      <p:pic>
        <p:nvPicPr>
          <p:cNvPr id="423" name="Google Shape;423;g382af4871d9_0_16"/>
          <p:cNvPicPr preferRelativeResize="0"/>
          <p:nvPr/>
        </p:nvPicPr>
        <p:blipFill rotWithShape="1">
          <a:blip r:embed="rId3">
            <a:alphaModFix/>
          </a:blip>
          <a:srcRect l="59666" t="5992" b="20204"/>
          <a:stretch/>
        </p:blipFill>
        <p:spPr>
          <a:xfrm>
            <a:off x="664825" y="802900"/>
            <a:ext cx="2401500" cy="2250300"/>
          </a:xfrm>
          <a:prstGeom prst="ellipse">
            <a:avLst/>
          </a:prstGeom>
          <a:noFill/>
          <a:ln>
            <a:noFill/>
          </a:ln>
        </p:spPr>
      </p:pic>
      <p:sp>
        <p:nvSpPr>
          <p:cNvPr id="424" name="Google Shape;424;g382af4871d9_0_16"/>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425" name="Google Shape;425;g382af4871d9_0_16"/>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14</a:t>
            </a:fld>
            <a:endParaRPr/>
          </a:p>
        </p:txBody>
      </p:sp>
      <p:sp>
        <p:nvSpPr>
          <p:cNvPr id="426" name="Google Shape;426;g382af4871d9_0_16"/>
          <p:cNvSpPr txBox="1"/>
          <p:nvPr/>
        </p:nvSpPr>
        <p:spPr>
          <a:xfrm>
            <a:off x="3507867" y="729336"/>
            <a:ext cx="4916400" cy="22503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a:t>
            </a:r>
            <a:r>
              <a:rPr lang="ja" sz="8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1959年　　パリ20区に生まれる</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a:t>
            </a:r>
            <a:r>
              <a:rPr lang="ja" sz="8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1977年　　軍隊に所属</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1978年　　パティシエの資格を取得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1988年　　トゥール 「ロック・アン・ヴァル」でミシュラン1つ星を獲得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1991年　　ニーム「シュヴァル・ブラン」でミシュラン1つ星を獲得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1999年　　メドックの ルレ・エ・シャトー「コーディヤン・バージュ」 ミシュラン2つ星を獲得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2006年　　ゴー・エ・ミヨ シェフ・オブ・ザ・イヤー受賞 </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2010年　　マンダリン オリエンタル パリ</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chemeClr val="dk1"/>
                </a:solidFill>
                <a:latin typeface="Meiryo"/>
                <a:ea typeface="Meiryo"/>
                <a:cs typeface="Meiryo"/>
                <a:sym typeface="Meiryo"/>
              </a:rPr>
              <a:t>　　　　　　　　「シュール・ムジュール パール ティエリー・マルクス」でミシュラン2つ星を獲得</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2013年　　フランス レジオン・ドヌール勲章を受賞</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2022年　　ミシュランガイドの年間ベストメンターに選ばれる</a:t>
            </a:r>
            <a:endParaRPr sz="8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　</a:t>
            </a:r>
            <a:r>
              <a:rPr lang="ja" sz="800" b="0" i="0" u="none" strike="noStrike" cap="none">
                <a:solidFill>
                  <a:schemeClr val="dk1"/>
                </a:solidFill>
                <a:latin typeface="Meiryo"/>
                <a:ea typeface="Meiryo"/>
                <a:cs typeface="Meiryo"/>
                <a:sym typeface="Meiryo"/>
              </a:rPr>
              <a:t>2023年　　パリ8区サントノーレに「オノール」オープン</a:t>
            </a:r>
            <a:endParaRPr sz="800" b="0" i="0" u="none" strike="noStrike" cap="none">
              <a:solidFill>
                <a:schemeClr val="dk1"/>
              </a:solidFill>
              <a:latin typeface="Meiryo"/>
              <a:ea typeface="Meiryo"/>
              <a:cs typeface="Meiryo"/>
              <a:sym typeface="Meiryo"/>
            </a:endParaRPr>
          </a:p>
        </p:txBody>
      </p:sp>
      <p:sp>
        <p:nvSpPr>
          <p:cNvPr id="427" name="Google Shape;427;g382af4871d9_0_16"/>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28" name="Google Shape;428;g382af4871d9_0_16"/>
          <p:cNvSpPr txBox="1"/>
          <p:nvPr/>
        </p:nvSpPr>
        <p:spPr>
          <a:xfrm>
            <a:off x="3368943" y="2912050"/>
            <a:ext cx="5412000" cy="515700"/>
          </a:xfrm>
          <a:prstGeom prst="rect">
            <a:avLst/>
          </a:prstGeom>
          <a:solidFill>
            <a:schemeClr val="lt1"/>
          </a:solid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日本再進出、パリでミシュラン累計7つ星・ミシュラン星請負人の呼名も</a:t>
            </a:r>
            <a:endParaRPr sz="10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000"/>
              <a:buFont typeface="Arial"/>
              <a:buNone/>
            </a:pPr>
            <a:r>
              <a:rPr lang="ja" sz="1000" b="0" i="0" u="none" strike="noStrike" cap="none">
                <a:solidFill>
                  <a:srgbClr val="C68A65"/>
                </a:solidFill>
                <a:latin typeface="Meiryo"/>
                <a:ea typeface="Meiryo"/>
                <a:cs typeface="Meiryo"/>
                <a:sym typeface="Meiryo"/>
              </a:rPr>
              <a:t>同世代のシェフの中でも、著名でかつ尊敬を集めるシェフの一人として最も注目されている</a:t>
            </a:r>
            <a:endParaRPr sz="1000" b="0" i="0" u="none" strike="noStrike" cap="none">
              <a:solidFill>
                <a:srgbClr val="C68A65"/>
              </a:solidFill>
              <a:latin typeface="Meiryo"/>
              <a:ea typeface="Meiryo"/>
              <a:cs typeface="Meiryo"/>
              <a:sym typeface="Meiryo"/>
            </a:endParaRPr>
          </a:p>
        </p:txBody>
      </p:sp>
      <p:cxnSp>
        <p:nvCxnSpPr>
          <p:cNvPr id="429" name="Google Shape;429;g382af4871d9_0_16"/>
          <p:cNvCxnSpPr/>
          <p:nvPr/>
        </p:nvCxnSpPr>
        <p:spPr>
          <a:xfrm flipH="1">
            <a:off x="3655172" y="802898"/>
            <a:ext cx="6000" cy="2082600"/>
          </a:xfrm>
          <a:prstGeom prst="straightConnector1">
            <a:avLst/>
          </a:prstGeom>
          <a:noFill/>
          <a:ln w="9525" cap="flat" cmpd="sng">
            <a:solidFill>
              <a:srgbClr val="C68A65"/>
            </a:solidFill>
            <a:prstDash val="solid"/>
            <a:round/>
            <a:headEnd type="none" w="sm" len="sm"/>
            <a:tailEnd type="none" w="sm" len="sm"/>
          </a:ln>
        </p:spPr>
      </p:cxnSp>
      <p:sp>
        <p:nvSpPr>
          <p:cNvPr id="430" name="Google Shape;430;g382af4871d9_0_16"/>
          <p:cNvSpPr/>
          <p:nvPr/>
        </p:nvSpPr>
        <p:spPr>
          <a:xfrm>
            <a:off x="3507868" y="509436"/>
            <a:ext cx="810300" cy="2199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 sz="800" b="1" i="0" u="none" strike="noStrike" cap="none">
                <a:solidFill>
                  <a:schemeClr val="lt1"/>
                </a:solidFill>
                <a:latin typeface="Meiryo"/>
                <a:ea typeface="Meiryo"/>
                <a:cs typeface="Meiryo"/>
                <a:sym typeface="Meiryo"/>
              </a:rPr>
              <a:t>History</a:t>
            </a:r>
            <a:endParaRPr sz="800" b="1" i="0" u="none" strike="noStrike" cap="none">
              <a:solidFill>
                <a:schemeClr val="lt1"/>
              </a:solidFill>
              <a:latin typeface="Meiryo"/>
              <a:ea typeface="Meiryo"/>
              <a:cs typeface="Meiryo"/>
              <a:sym typeface="Meiryo"/>
            </a:endParaRPr>
          </a:p>
        </p:txBody>
      </p:sp>
      <p:sp>
        <p:nvSpPr>
          <p:cNvPr id="431" name="Google Shape;431;g382af4871d9_0_16"/>
          <p:cNvSpPr txBox="1"/>
          <p:nvPr/>
        </p:nvSpPr>
        <p:spPr>
          <a:xfrm>
            <a:off x="271525" y="3674825"/>
            <a:ext cx="6713400" cy="794100"/>
          </a:xfrm>
          <a:prstGeom prst="rect">
            <a:avLst/>
          </a:prstGeom>
          <a:noFill/>
          <a:ln>
            <a:noFill/>
          </a:ln>
        </p:spPr>
        <p:txBody>
          <a:bodyPr spcFirstLastPara="1" wrap="square" lIns="91425" tIns="91425" rIns="91425" bIns="91425" anchor="t" anchorCtr="0">
            <a:spAutoFit/>
          </a:bodyPr>
          <a:lstStyle/>
          <a:p>
            <a:pPr marL="0" marR="0" lvl="0" indent="0" algn="ctr" rtl="0">
              <a:lnSpc>
                <a:spcPct val="115000"/>
              </a:lnSpc>
              <a:spcBef>
                <a:spcPts val="0"/>
              </a:spcBef>
              <a:spcAft>
                <a:spcPts val="0"/>
              </a:spcAft>
              <a:buClr>
                <a:srgbClr val="000000"/>
              </a:buClr>
              <a:buSzPts val="1200"/>
              <a:buFont typeface="Arial"/>
              <a:buNone/>
            </a:pPr>
            <a:r>
              <a:rPr lang="ja" sz="1200" b="1" i="0" u="none" strike="noStrike" cap="none">
                <a:solidFill>
                  <a:srgbClr val="C68A65"/>
                </a:solidFill>
                <a:latin typeface="Meiryo"/>
                <a:ea typeface="Meiryo"/>
                <a:cs typeface="Meiryo"/>
                <a:sym typeface="Meiryo"/>
              </a:rPr>
              <a:t>“幸せな瞬間や自分へのご褒美、誰かと共有することで生まれる温かい気持ちは、</a:t>
            </a:r>
            <a:endParaRPr sz="12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 sz="1200" b="1" i="0" u="none" strike="noStrike" cap="none">
                <a:solidFill>
                  <a:srgbClr val="C68A65"/>
                </a:solidFill>
                <a:latin typeface="Meiryo"/>
                <a:ea typeface="Meiryo"/>
                <a:cs typeface="Meiryo"/>
                <a:sym typeface="Meiryo"/>
              </a:rPr>
              <a:t>私にとってすべてです。活気と刺激に満ちた雰囲気の中で、友人や家族との</a:t>
            </a:r>
            <a:endParaRPr sz="1200" b="1" i="0" u="none" strike="noStrike" cap="none">
              <a:solidFill>
                <a:srgbClr val="C68A65"/>
              </a:solidFill>
              <a:latin typeface="Meiryo"/>
              <a:ea typeface="Meiryo"/>
              <a:cs typeface="Meiryo"/>
              <a:sym typeface="Meiryo"/>
            </a:endParaRPr>
          </a:p>
          <a:p>
            <a:pPr marL="0" marR="0" lvl="0" indent="0" algn="ctr" rtl="0">
              <a:lnSpc>
                <a:spcPct val="115000"/>
              </a:lnSpc>
              <a:spcBef>
                <a:spcPts val="0"/>
              </a:spcBef>
              <a:spcAft>
                <a:spcPts val="0"/>
              </a:spcAft>
              <a:buClr>
                <a:srgbClr val="000000"/>
              </a:buClr>
              <a:buSzPts val="1200"/>
              <a:buFont typeface="Arial"/>
              <a:buNone/>
            </a:pPr>
            <a:r>
              <a:rPr lang="ja" sz="1200" b="1" i="0" u="none" strike="noStrike" cap="none">
                <a:solidFill>
                  <a:srgbClr val="C68A65"/>
                </a:solidFill>
                <a:latin typeface="Meiryo"/>
                <a:ea typeface="Meiryo"/>
                <a:cs typeface="Meiryo"/>
                <a:sym typeface="Meiryo"/>
              </a:rPr>
              <a:t>時間を最大限に楽しむことができる、それがレストランなのです“</a:t>
            </a:r>
            <a:endParaRPr sz="1200" b="1" i="0" u="none" strike="noStrike" cap="none">
              <a:solidFill>
                <a:srgbClr val="C68A65"/>
              </a:solidFill>
              <a:latin typeface="Meiryo"/>
              <a:ea typeface="Meiryo"/>
              <a:cs typeface="Meiryo"/>
              <a:sym typeface="Meiryo"/>
            </a:endParaRPr>
          </a:p>
        </p:txBody>
      </p:sp>
      <p:pic>
        <p:nvPicPr>
          <p:cNvPr id="432" name="Google Shape;432;g382af4871d9_0_16" title="スクリーンショット 2025-08-06 082605.png"/>
          <p:cNvPicPr preferRelativeResize="0"/>
          <p:nvPr/>
        </p:nvPicPr>
        <p:blipFill rotWithShape="1">
          <a:blip r:embed="rId4">
            <a:alphaModFix/>
          </a:blip>
          <a:srcRect l="9523" t="7236" r="16364" b="15363"/>
          <a:stretch/>
        </p:blipFill>
        <p:spPr>
          <a:xfrm>
            <a:off x="6856024" y="3674825"/>
            <a:ext cx="1466687" cy="794100"/>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436"/>
        <p:cNvGrpSpPr/>
        <p:nvPr/>
      </p:nvGrpSpPr>
      <p:grpSpPr>
        <a:xfrm>
          <a:off x="0" y="0"/>
          <a:ext cx="0" cy="0"/>
          <a:chOff x="0" y="0"/>
          <a:chExt cx="0" cy="0"/>
        </a:xfrm>
      </p:grpSpPr>
      <p:sp>
        <p:nvSpPr>
          <p:cNvPr id="437" name="Google Shape;437;g382af4871d9_0_30"/>
          <p:cNvSpPr txBox="1"/>
          <p:nvPr/>
        </p:nvSpPr>
        <p:spPr>
          <a:xfrm>
            <a:off x="239772" y="211050"/>
            <a:ext cx="21600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1F1F1F"/>
                </a:solidFill>
                <a:highlight>
                  <a:srgbClr val="FFFFFF"/>
                </a:highlight>
                <a:latin typeface="Meiryo"/>
                <a:ea typeface="Meiryo"/>
                <a:cs typeface="Meiryo"/>
                <a:sym typeface="Meiryo"/>
              </a:rPr>
              <a:t>THIERRY MARXとは</a:t>
            </a:r>
            <a:endParaRPr sz="1400" b="1" i="0" u="none" strike="noStrike" cap="none">
              <a:solidFill>
                <a:schemeClr val="dk1"/>
              </a:solidFill>
              <a:latin typeface="Meiryo"/>
              <a:ea typeface="Meiryo"/>
              <a:cs typeface="Meiryo"/>
              <a:sym typeface="Meiryo"/>
            </a:endParaRPr>
          </a:p>
        </p:txBody>
      </p:sp>
      <p:pic>
        <p:nvPicPr>
          <p:cNvPr id="438" name="Google Shape;438;g382af4871d9_0_30"/>
          <p:cNvPicPr preferRelativeResize="0"/>
          <p:nvPr/>
        </p:nvPicPr>
        <p:blipFill rotWithShape="1">
          <a:blip r:embed="rId3">
            <a:alphaModFix/>
          </a:blip>
          <a:srcRect/>
          <a:stretch/>
        </p:blipFill>
        <p:spPr>
          <a:xfrm>
            <a:off x="5585282" y="3517448"/>
            <a:ext cx="1680941" cy="1423435"/>
          </a:xfrm>
          <a:prstGeom prst="rect">
            <a:avLst/>
          </a:prstGeom>
          <a:noFill/>
          <a:ln>
            <a:noFill/>
          </a:ln>
        </p:spPr>
      </p:pic>
      <p:pic>
        <p:nvPicPr>
          <p:cNvPr id="439" name="Google Shape;439;g382af4871d9_0_30"/>
          <p:cNvPicPr preferRelativeResize="0"/>
          <p:nvPr/>
        </p:nvPicPr>
        <p:blipFill rotWithShape="1">
          <a:blip r:embed="rId4">
            <a:alphaModFix/>
          </a:blip>
          <a:srcRect/>
          <a:stretch/>
        </p:blipFill>
        <p:spPr>
          <a:xfrm>
            <a:off x="3889275" y="3517457"/>
            <a:ext cx="1696007" cy="1423448"/>
          </a:xfrm>
          <a:prstGeom prst="rect">
            <a:avLst/>
          </a:prstGeom>
          <a:noFill/>
          <a:ln>
            <a:noFill/>
          </a:ln>
        </p:spPr>
      </p:pic>
      <p:pic>
        <p:nvPicPr>
          <p:cNvPr id="440" name="Google Shape;440;g382af4871d9_0_30"/>
          <p:cNvPicPr preferRelativeResize="0"/>
          <p:nvPr/>
        </p:nvPicPr>
        <p:blipFill rotWithShape="1">
          <a:blip r:embed="rId5">
            <a:alphaModFix/>
          </a:blip>
          <a:srcRect b="2085"/>
          <a:stretch/>
        </p:blipFill>
        <p:spPr>
          <a:xfrm>
            <a:off x="7266215" y="3517449"/>
            <a:ext cx="1680948" cy="1423448"/>
          </a:xfrm>
          <a:prstGeom prst="rect">
            <a:avLst/>
          </a:prstGeom>
          <a:noFill/>
          <a:ln>
            <a:noFill/>
          </a:ln>
        </p:spPr>
      </p:pic>
      <p:sp>
        <p:nvSpPr>
          <p:cNvPr id="441" name="Google Shape;441;g382af4871d9_0_30"/>
          <p:cNvSpPr/>
          <p:nvPr/>
        </p:nvSpPr>
        <p:spPr>
          <a:xfrm>
            <a:off x="6" y="4876204"/>
            <a:ext cx="586200" cy="125400"/>
          </a:xfrm>
          <a:prstGeom prst="roundRect">
            <a:avLst>
              <a:gd name="adj" fmla="val 3217"/>
            </a:avLst>
          </a:prstGeom>
          <a:noFill/>
          <a:ln>
            <a:noFill/>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442" name="Google Shape;442;g382af4871d9_0_30"/>
          <p:cNvSpPr txBox="1">
            <a:spLocks noGrp="1"/>
          </p:cNvSpPr>
          <p:nvPr>
            <p:ph type="sldNum" idx="12"/>
          </p:nvPr>
        </p:nvSpPr>
        <p:spPr>
          <a:xfrm>
            <a:off x="8898878" y="4847099"/>
            <a:ext cx="264900" cy="1836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15</a:t>
            </a:fld>
            <a:endParaRPr/>
          </a:p>
        </p:txBody>
      </p:sp>
      <p:sp>
        <p:nvSpPr>
          <p:cNvPr id="443" name="Google Shape;443;g382af4871d9_0_3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44" name="Google Shape;444;g382af4871d9_0_30"/>
          <p:cNvSpPr/>
          <p:nvPr/>
        </p:nvSpPr>
        <p:spPr>
          <a:xfrm>
            <a:off x="295026" y="590282"/>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事業内容</a:t>
            </a:r>
            <a:endParaRPr sz="700" b="1" i="0" u="none" strike="noStrike" cap="none">
              <a:solidFill>
                <a:schemeClr val="lt1"/>
              </a:solidFill>
              <a:latin typeface="Meiryo"/>
              <a:ea typeface="Meiryo"/>
              <a:cs typeface="Meiryo"/>
              <a:sym typeface="Meiryo"/>
            </a:endParaRPr>
          </a:p>
        </p:txBody>
      </p:sp>
      <p:sp>
        <p:nvSpPr>
          <p:cNvPr id="445" name="Google Shape;445;g382af4871d9_0_30"/>
          <p:cNvSpPr/>
          <p:nvPr/>
        </p:nvSpPr>
        <p:spPr>
          <a:xfrm>
            <a:off x="3918375" y="3278124"/>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過去の店舗展開</a:t>
            </a:r>
            <a:endParaRPr sz="700" b="1" i="0" u="none" strike="noStrike" cap="none">
              <a:solidFill>
                <a:schemeClr val="lt1"/>
              </a:solidFill>
              <a:latin typeface="Meiryo"/>
              <a:ea typeface="Meiryo"/>
              <a:cs typeface="Meiryo"/>
              <a:sym typeface="Meiryo"/>
            </a:endParaRPr>
          </a:p>
        </p:txBody>
      </p:sp>
      <p:sp>
        <p:nvSpPr>
          <p:cNvPr id="446" name="Google Shape;446;g382af4871d9_0_30"/>
          <p:cNvSpPr txBox="1"/>
          <p:nvPr/>
        </p:nvSpPr>
        <p:spPr>
          <a:xfrm>
            <a:off x="295026" y="884904"/>
            <a:ext cx="3836400" cy="21486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C68A65"/>
                </a:solidFill>
                <a:latin typeface="Meiryo"/>
                <a:ea typeface="Meiryo"/>
                <a:cs typeface="Meiryo"/>
                <a:sym typeface="Meiryo"/>
              </a:rPr>
              <a:t>レストラン</a:t>
            </a:r>
            <a:endParaRPr sz="8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・「シュール・ムジュール パール ティエリー・マルク ス」</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ホテル「マンダリン オリエンタル パリ」内　ミシュラン2つ星</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・「カメリア」</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ホテル「マンダリン オリエンタル パリ」内　オールデイ ダイニング</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・「マダム・ブラッスリー」エッフェル塔1階（地上58メートル）</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朝食からディナーまで楽しめるブラッスリー</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・現在パリ8区に新レストランの着工準備中 </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C68A65"/>
                </a:solidFill>
                <a:latin typeface="Meiryo"/>
                <a:ea typeface="Meiryo"/>
                <a:cs typeface="Meiryo"/>
                <a:sym typeface="Meiryo"/>
              </a:rPr>
              <a:t>ブーランジェリー</a:t>
            </a:r>
            <a:endParaRPr sz="8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・「ティエリーマルクス　ベーカリー」</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・ファストカジュアルのコンセプトで料理とパンの世界を融合</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現在、パリ市内に5店舗</a:t>
            </a:r>
            <a:endParaRPr sz="8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800"/>
              <a:buFont typeface="Arial"/>
              <a:buNone/>
            </a:pPr>
            <a:r>
              <a:rPr lang="ja" sz="800" b="0" i="0" u="none" strike="noStrike" cap="none">
                <a:solidFill>
                  <a:srgbClr val="000000"/>
                </a:solidFill>
                <a:latin typeface="Meiryo"/>
                <a:ea typeface="Meiryo"/>
                <a:cs typeface="Meiryo"/>
                <a:sym typeface="Meiryo"/>
              </a:rPr>
              <a:t>　　東京渋谷に「ティエリーマルクス ラ ブーランジェリー」を構える</a:t>
            </a:r>
            <a:endParaRPr sz="800" b="0" i="0" u="none" strike="noStrike" cap="none">
              <a:solidFill>
                <a:srgbClr val="000000"/>
              </a:solidFill>
              <a:latin typeface="Meiryo"/>
              <a:ea typeface="Meiryo"/>
              <a:cs typeface="Meiryo"/>
              <a:sym typeface="Meiryo"/>
            </a:endParaRPr>
          </a:p>
        </p:txBody>
      </p:sp>
      <p:sp>
        <p:nvSpPr>
          <p:cNvPr id="447" name="Google Shape;447;g382af4871d9_0_30"/>
          <p:cNvSpPr txBox="1"/>
          <p:nvPr/>
        </p:nvSpPr>
        <p:spPr>
          <a:xfrm>
            <a:off x="295025" y="3566700"/>
            <a:ext cx="3330600" cy="1423800"/>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・新しい形の料理雑誌「BON」創立（出版）</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・「トップシェフ」「マスターシェフ」の審査員（TV番組）</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・フードビジョン・パリ2024</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・食のセレクトショップ「Omie et Cie」 </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アドバイザーとして、商品やレシピの提案を行う</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・「フランス料理研究センター」 設立</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物理化学者のラファエル・ハウモンと共に調理を科学的な分析/提議を行う</a:t>
            </a:r>
            <a:endParaRPr sz="700" b="0" i="0" u="none" strike="noStrike" cap="none">
              <a:solidFill>
                <a:srgbClr val="000000"/>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・国際宇宙ステーションでのガストロノミー・メニューを制作 </a:t>
            </a:r>
            <a:endParaRPr sz="700" b="0" i="0" u="none" strike="noStrike" cap="none">
              <a:solidFill>
                <a:srgbClr val="000000"/>
              </a:solidFill>
              <a:latin typeface="Meiryo"/>
              <a:ea typeface="Meiryo"/>
              <a:cs typeface="Meiryo"/>
              <a:sym typeface="Meiryo"/>
            </a:endParaRPr>
          </a:p>
        </p:txBody>
      </p:sp>
      <p:pic>
        <p:nvPicPr>
          <p:cNvPr id="448" name="Google Shape;448;g382af4871d9_0_30"/>
          <p:cNvPicPr preferRelativeResize="0"/>
          <p:nvPr/>
        </p:nvPicPr>
        <p:blipFill rotWithShape="1">
          <a:blip r:embed="rId6">
            <a:alphaModFix/>
          </a:blip>
          <a:srcRect l="21632" t="56365" r="4706" b="4022"/>
          <a:stretch/>
        </p:blipFill>
        <p:spPr>
          <a:xfrm>
            <a:off x="7117162" y="2616600"/>
            <a:ext cx="1149679" cy="705225"/>
          </a:xfrm>
          <a:prstGeom prst="rect">
            <a:avLst/>
          </a:prstGeom>
          <a:noFill/>
          <a:ln>
            <a:noFill/>
          </a:ln>
        </p:spPr>
      </p:pic>
      <p:pic>
        <p:nvPicPr>
          <p:cNvPr id="449" name="Google Shape;449;g382af4871d9_0_30"/>
          <p:cNvPicPr preferRelativeResize="0"/>
          <p:nvPr/>
        </p:nvPicPr>
        <p:blipFill rotWithShape="1">
          <a:blip r:embed="rId6">
            <a:alphaModFix/>
          </a:blip>
          <a:srcRect l="3662" t="4616" r="54381" b="51210"/>
          <a:stretch/>
        </p:blipFill>
        <p:spPr>
          <a:xfrm>
            <a:off x="2892344" y="3566688"/>
            <a:ext cx="628957" cy="755400"/>
          </a:xfrm>
          <a:prstGeom prst="rect">
            <a:avLst/>
          </a:prstGeom>
          <a:noFill/>
          <a:ln>
            <a:noFill/>
          </a:ln>
        </p:spPr>
      </p:pic>
      <p:sp>
        <p:nvSpPr>
          <p:cNvPr id="450" name="Google Shape;450;g382af4871d9_0_30"/>
          <p:cNvSpPr/>
          <p:nvPr/>
        </p:nvSpPr>
        <p:spPr>
          <a:xfrm>
            <a:off x="365326" y="3268499"/>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その他の活動</a:t>
            </a:r>
            <a:endParaRPr sz="700" b="1" i="0" u="none" strike="noStrike" cap="none">
              <a:solidFill>
                <a:schemeClr val="lt1"/>
              </a:solidFill>
              <a:latin typeface="Meiryo"/>
              <a:ea typeface="Meiryo"/>
              <a:cs typeface="Meiryo"/>
              <a:sym typeface="Meiryo"/>
            </a:endParaRPr>
          </a:p>
        </p:txBody>
      </p:sp>
      <p:sp>
        <p:nvSpPr>
          <p:cNvPr id="451" name="Google Shape;451;g382af4871d9_0_30"/>
          <p:cNvSpPr/>
          <p:nvPr/>
        </p:nvSpPr>
        <p:spPr>
          <a:xfrm>
            <a:off x="5683475" y="574452"/>
            <a:ext cx="1098000" cy="235500"/>
          </a:xfrm>
          <a:prstGeom prst="roundRect">
            <a:avLst>
              <a:gd name="adj" fmla="val 16667"/>
            </a:avLst>
          </a:prstGeom>
          <a:gradFill>
            <a:gsLst>
              <a:gs pos="0">
                <a:srgbClr val="C68A65"/>
              </a:gs>
              <a:gs pos="100000">
                <a:srgbClr val="EAD5C7"/>
              </a:gs>
            </a:gsLst>
            <a:lin ang="2700006" scaled="0"/>
          </a:gradFill>
          <a:ln>
            <a:noFill/>
          </a:ln>
        </p:spPr>
        <p:txBody>
          <a:bodyPr spcFirstLastPara="1" wrap="square" lIns="82950" tIns="82950" rIns="82950" bIns="82950" anchor="ctr" anchorCtr="0">
            <a:noAutofit/>
          </a:bodyPr>
          <a:lstStyle/>
          <a:p>
            <a:pPr marL="0" marR="0" lvl="0" indent="0" algn="ctr" rtl="0">
              <a:lnSpc>
                <a:spcPct val="100000"/>
              </a:lnSpc>
              <a:spcBef>
                <a:spcPts val="0"/>
              </a:spcBef>
              <a:spcAft>
                <a:spcPts val="0"/>
              </a:spcAft>
              <a:buClr>
                <a:srgbClr val="000000"/>
              </a:buClr>
              <a:buSzPts val="700"/>
              <a:buFont typeface="Arial"/>
              <a:buNone/>
            </a:pPr>
            <a:r>
              <a:rPr lang="ja" sz="700" b="1" i="0" u="none" strike="noStrike" cap="none">
                <a:solidFill>
                  <a:schemeClr val="lt1"/>
                </a:solidFill>
                <a:latin typeface="Meiryo"/>
                <a:ea typeface="Meiryo"/>
                <a:cs typeface="Meiryo"/>
                <a:sym typeface="Meiryo"/>
              </a:rPr>
              <a:t>事業内容</a:t>
            </a:r>
            <a:endParaRPr sz="700" b="1" i="0" u="none" strike="noStrike" cap="none">
              <a:solidFill>
                <a:schemeClr val="lt1"/>
              </a:solidFill>
              <a:latin typeface="Meiryo"/>
              <a:ea typeface="Meiryo"/>
              <a:cs typeface="Meiryo"/>
              <a:sym typeface="Meiryo"/>
            </a:endParaRPr>
          </a:p>
        </p:txBody>
      </p:sp>
      <p:sp>
        <p:nvSpPr>
          <p:cNvPr id="452" name="Google Shape;452;g382af4871d9_0_30"/>
          <p:cNvSpPr txBox="1"/>
          <p:nvPr/>
        </p:nvSpPr>
        <p:spPr>
          <a:xfrm>
            <a:off x="5408675" y="837670"/>
            <a:ext cx="3593700" cy="1779300"/>
          </a:xfrm>
          <a:prstGeom prst="rect">
            <a:avLst/>
          </a:prstGeom>
          <a:noFill/>
          <a:ln>
            <a:noFill/>
          </a:ln>
        </p:spPr>
        <p:txBody>
          <a:bodyPr spcFirstLastPara="1" wrap="square" lIns="91425" tIns="91425" rIns="91425" bIns="91425" anchor="t" anchorCtr="0">
            <a:spAutoFit/>
          </a:bodyPr>
          <a:lstStyle/>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C68A65"/>
                </a:solidFill>
                <a:latin typeface="Meiryo"/>
                <a:ea typeface="Meiryo"/>
                <a:cs typeface="Meiryo"/>
                <a:sym typeface="Meiryo"/>
              </a:rPr>
              <a:t>環境への配慮</a:t>
            </a:r>
            <a:endParaRPr sz="7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・100％認証食品を使用</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・プラスチック製品の使用削減</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・食品を100％リサイクル活用（アンチ廃棄物）</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・ゼロ・ウェイスト宣言（食品の2次利用等、無駄を無くす努力） </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C68A65"/>
                </a:solidFill>
                <a:latin typeface="Meiryo"/>
                <a:ea typeface="Meiryo"/>
                <a:cs typeface="Meiryo"/>
                <a:sym typeface="Meiryo"/>
              </a:rPr>
              <a:t>社会貢献および教育</a:t>
            </a:r>
            <a:endParaRPr sz="700" b="0" i="0" u="none" strike="noStrike" cap="none">
              <a:solidFill>
                <a:srgbClr val="C68A65"/>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・社会生活から隔離された人々の社会復帰、自立できる経済モデルを構築</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・フランスでの職業復帰率は10％を占める</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・パリ市と共に、社会的・職業的自立を主な目的とした</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「Cuisine mode d‘emploi（調理における職業訓練所）」 を設立</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・拘置所にて受刑者に料理教室を開催、 職業復帰プロジェクトを支援</a:t>
            </a:r>
            <a:endParaRPr sz="700" b="0" i="0" u="none" strike="noStrike" cap="none">
              <a:solidFill>
                <a:srgbClr val="000000"/>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600"/>
              <a:buFont typeface="Arial"/>
              <a:buNone/>
            </a:pPr>
            <a:r>
              <a:rPr lang="ja" sz="700" b="0" i="0" u="none" strike="noStrike" cap="none">
                <a:solidFill>
                  <a:srgbClr val="000000"/>
                </a:solidFill>
                <a:latin typeface="Meiryo"/>
                <a:ea typeface="Meiryo"/>
                <a:cs typeface="Meiryo"/>
                <a:sym typeface="Meiryo"/>
              </a:rPr>
              <a:t>　・「College Culinaire （コレージュ・キュリネール）」の創立メンバー</a:t>
            </a:r>
            <a:endParaRPr sz="700" b="0" i="0" u="none" strike="noStrike" cap="none">
              <a:solidFill>
                <a:srgbClr val="000000"/>
              </a:solidFill>
              <a:latin typeface="Meiryo"/>
              <a:ea typeface="Meiryo"/>
              <a:cs typeface="Meiryo"/>
              <a:sym typeface="Meiryo"/>
            </a:endParaRPr>
          </a:p>
        </p:txBody>
      </p:sp>
      <p:pic>
        <p:nvPicPr>
          <p:cNvPr id="453" name="Google Shape;453;g382af4871d9_0_30"/>
          <p:cNvPicPr preferRelativeResize="0"/>
          <p:nvPr/>
        </p:nvPicPr>
        <p:blipFill rotWithShape="1">
          <a:blip r:embed="rId7">
            <a:alphaModFix/>
          </a:blip>
          <a:srcRect l="7894" t="4933" r="20915" b="40486"/>
          <a:stretch/>
        </p:blipFill>
        <p:spPr>
          <a:xfrm>
            <a:off x="3889275" y="1335093"/>
            <a:ext cx="1069561" cy="806628"/>
          </a:xfrm>
          <a:prstGeom prst="rect">
            <a:avLst/>
          </a:prstGeom>
          <a:noFill/>
          <a:ln>
            <a:noFill/>
          </a:ln>
        </p:spPr>
      </p:pic>
      <p:pic>
        <p:nvPicPr>
          <p:cNvPr id="454" name="Google Shape;454;g382af4871d9_0_30"/>
          <p:cNvPicPr preferRelativeResize="0"/>
          <p:nvPr/>
        </p:nvPicPr>
        <p:blipFill rotWithShape="1">
          <a:blip r:embed="rId8">
            <a:alphaModFix/>
          </a:blip>
          <a:srcRect l="19568" t="56410" r="5513" b="5757"/>
          <a:stretch/>
        </p:blipFill>
        <p:spPr>
          <a:xfrm>
            <a:off x="5814166" y="2616600"/>
            <a:ext cx="1245297" cy="705225"/>
          </a:xfrm>
          <a:prstGeom prst="rect">
            <a:avLst/>
          </a:prstGeom>
          <a:noFill/>
          <a:ln>
            <a:noFill/>
          </a:ln>
        </p:spPr>
      </p:pic>
      <p:pic>
        <p:nvPicPr>
          <p:cNvPr id="455" name="Google Shape;455;g382af4871d9_0_30"/>
          <p:cNvPicPr preferRelativeResize="0"/>
          <p:nvPr/>
        </p:nvPicPr>
        <p:blipFill rotWithShape="1">
          <a:blip r:embed="rId9">
            <a:alphaModFix/>
          </a:blip>
          <a:srcRect l="15861" t="55781" r="23363" b="5314"/>
          <a:stretch/>
        </p:blipFill>
        <p:spPr>
          <a:xfrm>
            <a:off x="3889275" y="579434"/>
            <a:ext cx="1069550" cy="719049"/>
          </a:xfrm>
          <a:prstGeom prst="rect">
            <a:avLst/>
          </a:prstGeom>
          <a:noFill/>
          <a:ln>
            <a:noFill/>
          </a:ln>
        </p:spPr>
      </p:pic>
      <p:pic>
        <p:nvPicPr>
          <p:cNvPr id="456" name="Google Shape;456;g382af4871d9_0_30"/>
          <p:cNvPicPr preferRelativeResize="0"/>
          <p:nvPr/>
        </p:nvPicPr>
        <p:blipFill rotWithShape="1">
          <a:blip r:embed="rId10">
            <a:alphaModFix/>
          </a:blip>
          <a:srcRect l="12023" t="10454" r="7925" b="4133"/>
          <a:stretch/>
        </p:blipFill>
        <p:spPr>
          <a:xfrm>
            <a:off x="3889276" y="2178352"/>
            <a:ext cx="1069555" cy="738026"/>
          </a:xfrm>
          <a:prstGeom prst="rect">
            <a:avLst/>
          </a:prstGeom>
          <a:noFill/>
          <a:ln>
            <a:noFill/>
          </a:ln>
        </p:spPr>
      </p:pic>
      <p:pic>
        <p:nvPicPr>
          <p:cNvPr id="457" name="Google Shape;457;g382af4871d9_0_30"/>
          <p:cNvPicPr preferRelativeResize="0"/>
          <p:nvPr/>
        </p:nvPicPr>
        <p:blipFill rotWithShape="1">
          <a:blip r:embed="rId8">
            <a:alphaModFix/>
          </a:blip>
          <a:srcRect l="7602" t="5005" r="53230" b="46255"/>
          <a:stretch/>
        </p:blipFill>
        <p:spPr>
          <a:xfrm>
            <a:off x="8324538" y="2616600"/>
            <a:ext cx="505342" cy="705225"/>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461"/>
        <p:cNvGrpSpPr/>
        <p:nvPr/>
      </p:nvGrpSpPr>
      <p:grpSpPr>
        <a:xfrm>
          <a:off x="0" y="0"/>
          <a:ext cx="0" cy="0"/>
          <a:chOff x="0" y="0"/>
          <a:chExt cx="0" cy="0"/>
        </a:xfrm>
      </p:grpSpPr>
      <p:sp>
        <p:nvSpPr>
          <p:cNvPr id="462" name="Google Shape;462;g38a8d312103_0_53"/>
          <p:cNvSpPr/>
          <p:nvPr/>
        </p:nvSpPr>
        <p:spPr>
          <a:xfrm>
            <a:off x="536325" y="1364222"/>
            <a:ext cx="2339700" cy="31191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63" name="Google Shape;463;g38a8d312103_0_53"/>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Meiryo"/>
              <a:ea typeface="Meiryo"/>
              <a:cs typeface="Meiryo"/>
              <a:sym typeface="Meiryo"/>
            </a:endParaRPr>
          </a:p>
        </p:txBody>
      </p:sp>
      <p:sp>
        <p:nvSpPr>
          <p:cNvPr id="464" name="Google Shape;464;g38a8d312103_0_5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latin typeface="Meiryo"/>
                <a:ea typeface="Meiryo"/>
                <a:cs typeface="Meiryo"/>
                <a:sym typeface="Meiryo"/>
              </a:rPr>
              <a:t>16</a:t>
            </a:fld>
            <a:endParaRPr>
              <a:latin typeface="Meiryo"/>
              <a:ea typeface="Meiryo"/>
              <a:cs typeface="Meiryo"/>
              <a:sym typeface="Meiryo"/>
            </a:endParaRPr>
          </a:p>
        </p:txBody>
      </p:sp>
      <p:sp>
        <p:nvSpPr>
          <p:cNvPr id="465" name="Google Shape;465;g38a8d312103_0_53"/>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466" name="Google Shape;466;g38a8d312103_0_53"/>
          <p:cNvSpPr txBox="1"/>
          <p:nvPr/>
        </p:nvSpPr>
        <p:spPr>
          <a:xfrm>
            <a:off x="239774" y="287250"/>
            <a:ext cx="61071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ティエリーマルクス×TBSと協業する目的</a:t>
            </a:r>
            <a:endParaRPr sz="1400" b="1" i="0" u="none" strike="noStrike" cap="none">
              <a:solidFill>
                <a:srgbClr val="000000"/>
              </a:solidFill>
              <a:latin typeface="Meiryo"/>
              <a:ea typeface="Meiryo"/>
              <a:cs typeface="Meiryo"/>
              <a:sym typeface="Meiryo"/>
            </a:endParaRPr>
          </a:p>
        </p:txBody>
      </p:sp>
      <p:sp>
        <p:nvSpPr>
          <p:cNvPr id="467" name="Google Shape;467;g38a8d312103_0_53"/>
          <p:cNvSpPr txBox="1"/>
          <p:nvPr/>
        </p:nvSpPr>
        <p:spPr>
          <a:xfrm>
            <a:off x="0" y="673748"/>
            <a:ext cx="9144000" cy="327900"/>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chemeClr val="lt1"/>
                </a:solidFill>
                <a:latin typeface="Meiryo"/>
                <a:ea typeface="Meiryo"/>
                <a:cs typeface="Meiryo"/>
                <a:sym typeface="Meiryo"/>
              </a:rPr>
              <a:t>“3つの柱”でレストラン/ワイン卸事業の拡大へ</a:t>
            </a:r>
            <a:endParaRPr sz="1400" b="1" i="0" u="none" strike="noStrike" cap="none">
              <a:solidFill>
                <a:schemeClr val="lt1"/>
              </a:solidFill>
              <a:latin typeface="Meiryo"/>
              <a:ea typeface="Meiryo"/>
              <a:cs typeface="Meiryo"/>
              <a:sym typeface="Meiryo"/>
            </a:endParaRPr>
          </a:p>
        </p:txBody>
      </p:sp>
      <p:sp>
        <p:nvSpPr>
          <p:cNvPr id="468" name="Google Shape;468;g38a8d312103_0_53"/>
          <p:cNvSpPr/>
          <p:nvPr/>
        </p:nvSpPr>
        <p:spPr>
          <a:xfrm>
            <a:off x="722775" y="2430008"/>
            <a:ext cx="1966800" cy="18747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ティエリーマルクスの信頼性</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・権威性を生かして、</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海外からのワイン仕入れ</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をさらに強化可能。</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国内においても、希少ワインの割り当てを増やせる可能性あり。</a:t>
            </a:r>
            <a:endParaRPr sz="1050" b="0" i="0" u="none" strike="noStrike" cap="none">
              <a:solidFill>
                <a:srgbClr val="30373F"/>
              </a:solidFill>
              <a:latin typeface="Meiryo"/>
              <a:ea typeface="Meiryo"/>
              <a:cs typeface="Meiryo"/>
              <a:sym typeface="Meiryo"/>
            </a:endParaRPr>
          </a:p>
        </p:txBody>
      </p:sp>
      <p:sp>
        <p:nvSpPr>
          <p:cNvPr id="469" name="Google Shape;469;g38a8d312103_0_53"/>
          <p:cNvSpPr txBox="1"/>
          <p:nvPr/>
        </p:nvSpPr>
        <p:spPr>
          <a:xfrm>
            <a:off x="890934" y="1808390"/>
            <a:ext cx="16305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400" b="1" i="0" u="none" strike="noStrike" cap="none">
                <a:solidFill>
                  <a:srgbClr val="36394B"/>
                </a:solidFill>
                <a:latin typeface="Meiryo"/>
                <a:ea typeface="Meiryo"/>
                <a:cs typeface="Meiryo"/>
                <a:sym typeface="Meiryo"/>
              </a:rPr>
              <a:t>仕入れ力の強化</a:t>
            </a:r>
            <a:endParaRPr sz="1400" b="0" i="0" u="none" strike="noStrike" cap="none">
              <a:solidFill>
                <a:srgbClr val="36394B"/>
              </a:solidFill>
              <a:latin typeface="Arial"/>
              <a:ea typeface="Arial"/>
              <a:cs typeface="Arial"/>
              <a:sym typeface="Arial"/>
            </a:endParaRPr>
          </a:p>
        </p:txBody>
      </p:sp>
      <p:sp>
        <p:nvSpPr>
          <p:cNvPr id="470" name="Google Shape;470;g38a8d312103_0_53"/>
          <p:cNvSpPr/>
          <p:nvPr/>
        </p:nvSpPr>
        <p:spPr>
          <a:xfrm>
            <a:off x="3362125" y="1364222"/>
            <a:ext cx="2339700" cy="31191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71" name="Google Shape;471;g38a8d312103_0_53"/>
          <p:cNvSpPr/>
          <p:nvPr/>
        </p:nvSpPr>
        <p:spPr>
          <a:xfrm>
            <a:off x="6267975" y="1364222"/>
            <a:ext cx="2339700" cy="3119100"/>
          </a:xfrm>
          <a:prstGeom prst="roundRect">
            <a:avLst>
              <a:gd name="adj" fmla="val 3399"/>
            </a:avLst>
          </a:prstGeom>
          <a:solidFill>
            <a:srgbClr val="F6F6F6"/>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
        <p:nvSpPr>
          <p:cNvPr id="472" name="Google Shape;472;g38a8d312103_0_53"/>
          <p:cNvSpPr txBox="1"/>
          <p:nvPr/>
        </p:nvSpPr>
        <p:spPr>
          <a:xfrm>
            <a:off x="3716718" y="1808390"/>
            <a:ext cx="16305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400" b="1" i="0" u="none" strike="noStrike" cap="none">
                <a:solidFill>
                  <a:srgbClr val="36394B"/>
                </a:solidFill>
                <a:latin typeface="Meiryo"/>
                <a:ea typeface="Meiryo"/>
                <a:cs typeface="Meiryo"/>
                <a:sym typeface="Meiryo"/>
              </a:rPr>
              <a:t>販売の促進</a:t>
            </a:r>
            <a:endParaRPr sz="1400" b="0" i="0" u="none" strike="noStrike" cap="none">
              <a:solidFill>
                <a:srgbClr val="36394B"/>
              </a:solidFill>
              <a:latin typeface="Arial"/>
              <a:ea typeface="Arial"/>
              <a:cs typeface="Arial"/>
              <a:sym typeface="Arial"/>
            </a:endParaRPr>
          </a:p>
        </p:txBody>
      </p:sp>
      <p:sp>
        <p:nvSpPr>
          <p:cNvPr id="473" name="Google Shape;473;g38a8d312103_0_53"/>
          <p:cNvSpPr txBox="1"/>
          <p:nvPr/>
        </p:nvSpPr>
        <p:spPr>
          <a:xfrm>
            <a:off x="6622568" y="1808390"/>
            <a:ext cx="1630500" cy="3078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400" b="1" i="0" u="none" strike="noStrike" cap="none">
                <a:solidFill>
                  <a:srgbClr val="36394B"/>
                </a:solidFill>
                <a:latin typeface="Meiryo"/>
                <a:ea typeface="Meiryo"/>
                <a:cs typeface="Meiryo"/>
                <a:sym typeface="Meiryo"/>
              </a:rPr>
              <a:t>TBSアライアンス</a:t>
            </a:r>
            <a:endParaRPr sz="1400" b="0" i="0" u="none" strike="noStrike" cap="none">
              <a:solidFill>
                <a:srgbClr val="36394B"/>
              </a:solidFill>
              <a:latin typeface="Arial"/>
              <a:ea typeface="Arial"/>
              <a:cs typeface="Arial"/>
              <a:sym typeface="Arial"/>
            </a:endParaRPr>
          </a:p>
        </p:txBody>
      </p:sp>
      <p:sp>
        <p:nvSpPr>
          <p:cNvPr id="474" name="Google Shape;474;g38a8d312103_0_53"/>
          <p:cNvSpPr/>
          <p:nvPr/>
        </p:nvSpPr>
        <p:spPr>
          <a:xfrm>
            <a:off x="3548575" y="2430008"/>
            <a:ext cx="1966800" cy="18747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ティエリーマルクスの過去出店実績（日本国内）より、</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店舗で</a:t>
            </a:r>
            <a:r>
              <a:rPr lang="ja" sz="1050" b="1" i="0" u="none" strike="noStrike" cap="none">
                <a:solidFill>
                  <a:srgbClr val="CF9F82"/>
                </a:solidFill>
                <a:latin typeface="Meiryo"/>
                <a:ea typeface="Meiryo"/>
                <a:cs typeface="Meiryo"/>
                <a:sym typeface="Meiryo"/>
              </a:rPr>
              <a:t>の</a:t>
            </a:r>
            <a:r>
              <a:rPr lang="ja" sz="1050" b="1" i="0" u="none" strike="noStrike" cap="none">
                <a:solidFill>
                  <a:srgbClr val="C68A65"/>
                </a:solidFill>
                <a:latin typeface="Meiryo"/>
                <a:ea typeface="Meiryo"/>
                <a:cs typeface="Meiryo"/>
                <a:sym typeface="Meiryo"/>
              </a:rPr>
              <a:t>継続的なワイン売上</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が期待できる。</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当社レストラン/ワイン卸事業の収益としては、</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来期売上200%</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まで成長する見込み。</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p:txBody>
      </p:sp>
      <p:sp>
        <p:nvSpPr>
          <p:cNvPr id="475" name="Google Shape;475;g38a8d312103_0_53"/>
          <p:cNvSpPr/>
          <p:nvPr/>
        </p:nvSpPr>
        <p:spPr>
          <a:xfrm>
            <a:off x="6454425" y="2430008"/>
            <a:ext cx="1966800" cy="1874700"/>
          </a:xfrm>
          <a:prstGeom prst="rect">
            <a:avLst/>
          </a:prstGeom>
          <a:noFill/>
          <a:ln>
            <a:noFill/>
          </a:ln>
        </p:spPr>
        <p:txBody>
          <a:bodyPr spcFirstLastPara="1" wrap="square" lIns="68575" tIns="34275" rIns="68575" bIns="34275" anchor="t" anchorCtr="0">
            <a:noAutofit/>
          </a:bodyPr>
          <a:lstStyle/>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TBSの参画により、</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圧倒的なPR/販促の効果</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が期待できる。</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ティエリーマルクス店舗だけでなく、運営会社である</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1" i="0" u="none" strike="noStrike" cap="none">
                <a:solidFill>
                  <a:srgbClr val="C68A65"/>
                </a:solidFill>
                <a:latin typeface="Meiryo"/>
                <a:ea typeface="Meiryo"/>
                <a:cs typeface="Meiryo"/>
                <a:sym typeface="Meiryo"/>
              </a:rPr>
              <a:t>当社WineBankの認知拡大</a:t>
            </a:r>
            <a:endParaRPr sz="1050" b="1" i="0" u="none" strike="noStrike" cap="none">
              <a:solidFill>
                <a:srgbClr val="C68A65"/>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r>
              <a:rPr lang="ja" sz="1050" b="0" i="0" u="none" strike="noStrike" cap="none">
                <a:solidFill>
                  <a:srgbClr val="30373F"/>
                </a:solidFill>
                <a:latin typeface="Meiryo"/>
                <a:ea typeface="Meiryo"/>
                <a:cs typeface="Meiryo"/>
                <a:sym typeface="Meiryo"/>
              </a:rPr>
              <a:t>にも寄与。</a:t>
            </a:r>
            <a:endParaRPr sz="1050" b="0" i="0" u="none" strike="noStrike" cap="none">
              <a:solidFill>
                <a:srgbClr val="30373F"/>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100"/>
              <a:buFont typeface="Arial"/>
              <a:buNone/>
            </a:pPr>
            <a:endParaRPr sz="1050" b="0" i="0" u="none" strike="noStrike" cap="none">
              <a:solidFill>
                <a:srgbClr val="30373F"/>
              </a:solidFill>
              <a:latin typeface="Meiryo"/>
              <a:ea typeface="Meiryo"/>
              <a:cs typeface="Meiryo"/>
              <a:sym typeface="Meiryo"/>
            </a:endParaRPr>
          </a:p>
        </p:txBody>
      </p:sp>
      <p:sp>
        <p:nvSpPr>
          <p:cNvPr id="476" name="Google Shape;476;g38a8d312103_0_53"/>
          <p:cNvSpPr txBox="1"/>
          <p:nvPr/>
        </p:nvSpPr>
        <p:spPr>
          <a:xfrm>
            <a:off x="456216" y="1271013"/>
            <a:ext cx="422100" cy="630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3500" b="1" i="0" u="none" strike="noStrike" cap="none">
                <a:solidFill>
                  <a:srgbClr val="D8D8D8"/>
                </a:solidFill>
                <a:latin typeface="Meiryo"/>
                <a:ea typeface="Meiryo"/>
                <a:cs typeface="Meiryo"/>
                <a:sym typeface="Meiryo"/>
              </a:rPr>
              <a:t>1</a:t>
            </a:r>
            <a:endParaRPr sz="3900" b="0" i="0" u="none" strike="noStrike" cap="none">
              <a:solidFill>
                <a:srgbClr val="D8D8D8"/>
              </a:solidFill>
              <a:latin typeface="Arial"/>
              <a:ea typeface="Arial"/>
              <a:cs typeface="Arial"/>
              <a:sym typeface="Arial"/>
            </a:endParaRPr>
          </a:p>
        </p:txBody>
      </p:sp>
      <p:sp>
        <p:nvSpPr>
          <p:cNvPr id="477" name="Google Shape;477;g38a8d312103_0_53"/>
          <p:cNvSpPr txBox="1"/>
          <p:nvPr/>
        </p:nvSpPr>
        <p:spPr>
          <a:xfrm>
            <a:off x="3305250" y="1271025"/>
            <a:ext cx="422100" cy="630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3500" b="1" i="0" u="none" strike="noStrike" cap="none">
                <a:solidFill>
                  <a:srgbClr val="D8D8D8"/>
                </a:solidFill>
                <a:latin typeface="Meiryo"/>
                <a:ea typeface="Meiryo"/>
                <a:cs typeface="Meiryo"/>
                <a:sym typeface="Meiryo"/>
              </a:rPr>
              <a:t>2</a:t>
            </a:r>
            <a:endParaRPr sz="3500" b="1" i="0" u="none" strike="noStrike" cap="none">
              <a:solidFill>
                <a:srgbClr val="D8D8D8"/>
              </a:solidFill>
              <a:latin typeface="Meiryo"/>
              <a:ea typeface="Meiryo"/>
              <a:cs typeface="Meiryo"/>
              <a:sym typeface="Meiryo"/>
            </a:endParaRPr>
          </a:p>
        </p:txBody>
      </p:sp>
      <p:sp>
        <p:nvSpPr>
          <p:cNvPr id="478" name="Google Shape;478;g38a8d312103_0_53"/>
          <p:cNvSpPr txBox="1"/>
          <p:nvPr/>
        </p:nvSpPr>
        <p:spPr>
          <a:xfrm>
            <a:off x="6197136" y="1271025"/>
            <a:ext cx="422100" cy="6309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3500" b="1" i="0" u="none" strike="noStrike" cap="none">
                <a:solidFill>
                  <a:srgbClr val="D8D8D8"/>
                </a:solidFill>
                <a:latin typeface="Meiryo"/>
                <a:ea typeface="Meiryo"/>
                <a:cs typeface="Meiryo"/>
                <a:sym typeface="Meiryo"/>
              </a:rPr>
              <a:t>3</a:t>
            </a:r>
            <a:endParaRPr sz="4000" b="0" i="0" u="none" strike="noStrike" cap="none">
              <a:solidFill>
                <a:srgbClr val="D8D8D8"/>
              </a:solidFill>
              <a:latin typeface="Arial"/>
              <a:ea typeface="Arial"/>
              <a:cs typeface="Arial"/>
              <a:sym typeface="Aria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482"/>
        <p:cNvGrpSpPr/>
        <p:nvPr/>
      </p:nvGrpSpPr>
      <p:grpSpPr>
        <a:xfrm>
          <a:off x="0" y="0"/>
          <a:ext cx="0" cy="0"/>
          <a:chOff x="0" y="0"/>
          <a:chExt cx="0" cy="0"/>
        </a:xfrm>
      </p:grpSpPr>
      <p:sp>
        <p:nvSpPr>
          <p:cNvPr id="483" name="Google Shape;483;g40a0e788958_0_0"/>
          <p:cNvSpPr txBox="1"/>
          <p:nvPr/>
        </p:nvSpPr>
        <p:spPr>
          <a:xfrm>
            <a:off x="1876543" y="1301802"/>
            <a:ext cx="5231100" cy="13719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2800"/>
              <a:buFont typeface="Arial"/>
              <a:buNone/>
            </a:pPr>
            <a:r>
              <a:rPr lang="ja" sz="2800" b="1" i="0" u="none" strike="noStrike" cap="none" dirty="0">
                <a:solidFill>
                  <a:schemeClr val="lt1"/>
                </a:solidFill>
                <a:latin typeface="Meiryo"/>
                <a:ea typeface="Meiryo"/>
                <a:cs typeface="Meiryo"/>
                <a:sym typeface="Meiryo"/>
              </a:rPr>
              <a:t>成長戦略 Phase</a:t>
            </a:r>
            <a:r>
              <a:rPr lang="ja" sz="2800" b="1" dirty="0">
                <a:solidFill>
                  <a:schemeClr val="lt1"/>
                </a:solidFill>
                <a:latin typeface="Meiryo"/>
                <a:ea typeface="Meiryo"/>
                <a:cs typeface="Meiryo"/>
                <a:sym typeface="Meiryo"/>
              </a:rPr>
              <a:t>Ⅱ</a:t>
            </a:r>
            <a:endParaRPr sz="2800" b="1" dirty="0">
              <a:solidFill>
                <a:schemeClr val="lt1"/>
              </a:solidFill>
              <a:latin typeface="Meiryo"/>
              <a:ea typeface="Meiryo"/>
              <a:cs typeface="Meiryo"/>
              <a:sym typeface="Meiryo"/>
            </a:endParaRPr>
          </a:p>
          <a:p>
            <a:pPr marL="0" marR="0" lvl="0" indent="0" algn="ctr" rtl="0">
              <a:lnSpc>
                <a:spcPct val="200000"/>
              </a:lnSpc>
              <a:spcBef>
                <a:spcPts val="0"/>
              </a:spcBef>
              <a:spcAft>
                <a:spcPts val="0"/>
              </a:spcAft>
              <a:buClr>
                <a:srgbClr val="000000"/>
              </a:buClr>
              <a:buSzPts val="2800"/>
              <a:buFont typeface="Arial"/>
              <a:buNone/>
            </a:pPr>
            <a:r>
              <a:rPr lang="ja" sz="2800" b="1" dirty="0">
                <a:solidFill>
                  <a:schemeClr val="lt1"/>
                </a:solidFill>
                <a:latin typeface="Meiryo"/>
                <a:ea typeface="Meiryo"/>
                <a:cs typeface="Meiryo"/>
                <a:sym typeface="Meiryo"/>
              </a:rPr>
              <a:t>国内オーベルジュ構想</a:t>
            </a:r>
            <a:endParaRPr sz="2800" b="1" dirty="0">
              <a:solidFill>
                <a:schemeClr val="lt1"/>
              </a:solidFill>
              <a:latin typeface="Meiryo"/>
              <a:ea typeface="Meiryo"/>
              <a:cs typeface="Meiryo"/>
              <a:sym typeface="Meiryo"/>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5012740"/>
            <a:ext cx="9144000" cy="130759"/>
          </a:xfrm>
          <a:prstGeom prst="rect">
            <a:avLst/>
          </a:prstGeom>
          <a:solidFill>
            <a:srgbClr val="30373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5" name="Google Shape;465;g38a8d312103_0_53"/>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466" name="TextBox 465"/>
          <p:cNvSpPr txBox="1"/>
          <p:nvPr/>
        </p:nvSpPr>
        <p:spPr>
          <a:xfrm>
            <a:off x="239572" y="287121"/>
            <a:ext cx="8595360" cy="274320"/>
          </a:xfrm>
          <a:prstGeom prst="rect">
            <a:avLst/>
          </a:prstGeom>
          <a:noFill/>
        </p:spPr>
        <p:txBody>
          <a:bodyPr wrap="square" anchor="t" lIns="0" rIns="0" tIns="0" bIns="0">
            <a:spAutoFit/>
          </a:bodyPr>
          <a:lstStyle/>
          <a:p>
            <a:pPr algn="l"/>
            <a:r>
              <a:rPr sz="1400" b="1">
                <a:solidFill>
                  <a:srgbClr val="000000"/>
                </a:solidFill>
                <a:latin typeface="Meiryo"/>
                <a:ea typeface="Meiryo"/>
                <a:cs typeface="Meiryo"/>
                <a:sym typeface="Meiryo"/>
              </a:rPr>
              <a:t>国内オーベルジュ構想</a:t>
            </a:r>
          </a:p>
        </p:txBody>
      </p:sp>
      <p:sp>
        <p:nvSpPr>
          <p:cNvPr id="467" name="Rectangle 466"/>
          <p:cNvSpPr/>
          <p:nvPr/>
        </p:nvSpPr>
        <p:spPr>
          <a:xfrm>
            <a:off x="0" y="673912"/>
            <a:ext cx="9144000" cy="328269"/>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Meiryo"/>
                <a:ea typeface="Meiryo"/>
                <a:cs typeface="Meiryo"/>
                <a:sym typeface="Meiryo"/>
              </a:rPr>
              <a:t>ワイナリーに隣接し、温泉を持つ。日本にまだ無いオーベルジュをつくります</a:t>
            </a:r>
          </a:p>
        </p:txBody>
      </p:sp>
      <p:sp>
        <p:nvSpPr>
          <p:cNvPr id="468" name="Rectangle 467"/>
          <p:cNvSpPr/>
          <p:nvPr/>
        </p:nvSpPr>
        <p:spPr>
          <a:xfrm>
            <a:off x="536752" y="1115568"/>
            <a:ext cx="2339949" cy="868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9" name="TextBox 468"/>
          <p:cNvSpPr txBox="1"/>
          <p:nvPr/>
        </p:nvSpPr>
        <p:spPr>
          <a:xfrm>
            <a:off x="719632" y="1216152"/>
            <a:ext cx="1974189" cy="201168"/>
          </a:xfrm>
          <a:prstGeom prst="rect">
            <a:avLst/>
          </a:prstGeom>
          <a:noFill/>
        </p:spPr>
        <p:txBody>
          <a:bodyPr wrap="square" anchor="t" lIns="0" rIns="0" tIns="0" bIns="0">
            <a:spAutoFit/>
          </a:bodyPr>
          <a:lstStyle/>
          <a:p>
            <a:pPr algn="l"/>
            <a:r>
              <a:rPr sz="950" b="1">
                <a:solidFill>
                  <a:srgbClr val="C68A65"/>
                </a:solidFill>
                <a:latin typeface="Meiryo"/>
                <a:ea typeface="Meiryo"/>
                <a:cs typeface="Meiryo"/>
                <a:sym typeface="Meiryo"/>
              </a:rPr>
              <a:t>料理</a:t>
            </a:r>
          </a:p>
        </p:txBody>
      </p:sp>
      <p:sp>
        <p:nvSpPr>
          <p:cNvPr id="470" name="TextBox 469"/>
          <p:cNvSpPr txBox="1"/>
          <p:nvPr/>
        </p:nvSpPr>
        <p:spPr>
          <a:xfrm>
            <a:off x="719632" y="1399032"/>
            <a:ext cx="1974189" cy="310896"/>
          </a:xfrm>
          <a:prstGeom prst="rect">
            <a:avLst/>
          </a:prstGeom>
          <a:noFill/>
        </p:spPr>
        <p:txBody>
          <a:bodyPr wrap="square" anchor="t" lIns="0" rIns="0" tIns="0" bIns="0">
            <a:spAutoFit/>
          </a:bodyPr>
          <a:lstStyle/>
          <a:p>
            <a:pPr algn="l"/>
            <a:r>
              <a:rPr sz="1800" b="1">
                <a:solidFill>
                  <a:srgbClr val="36394B"/>
                </a:solidFill>
                <a:latin typeface="Meiryo"/>
                <a:ea typeface="Meiryo"/>
                <a:cs typeface="Meiryo"/>
                <a:sym typeface="Meiryo"/>
              </a:rPr>
              <a:t>一日十数名だけ</a:t>
            </a:r>
          </a:p>
        </p:txBody>
      </p:sp>
      <p:sp>
        <p:nvSpPr>
          <p:cNvPr id="471" name="TextBox 470"/>
          <p:cNvSpPr txBox="1"/>
          <p:nvPr/>
        </p:nvSpPr>
        <p:spPr>
          <a:xfrm>
            <a:off x="719632" y="1755648"/>
            <a:ext cx="1974189" cy="182880"/>
          </a:xfrm>
          <a:prstGeom prst="rect">
            <a:avLst/>
          </a:prstGeom>
          <a:noFill/>
        </p:spPr>
        <p:txBody>
          <a:bodyPr wrap="square" anchor="t" lIns="0" rIns="0" tIns="0" bIns="0">
            <a:spAutoFit/>
          </a:bodyPr>
          <a:lstStyle/>
          <a:p>
            <a:pPr algn="l"/>
            <a:r>
              <a:rPr sz="800" b="0">
                <a:solidFill>
                  <a:srgbClr val="595959"/>
                </a:solidFill>
                <a:latin typeface="Meiryo"/>
                <a:ea typeface="Meiryo"/>
                <a:cs typeface="Meiryo"/>
                <a:sym typeface="Meiryo"/>
              </a:rPr>
              <a:t>その土地の生産者と、同じテーブルに</a:t>
            </a:r>
          </a:p>
        </p:txBody>
      </p:sp>
      <p:sp>
        <p:nvSpPr>
          <p:cNvPr id="472" name="Rectangle 471"/>
          <p:cNvSpPr/>
          <p:nvPr/>
        </p:nvSpPr>
        <p:spPr>
          <a:xfrm>
            <a:off x="3362248" y="1115568"/>
            <a:ext cx="2339949" cy="868680"/>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3" name="TextBox 472"/>
          <p:cNvSpPr txBox="1"/>
          <p:nvPr/>
        </p:nvSpPr>
        <p:spPr>
          <a:xfrm>
            <a:off x="3545128" y="1216152"/>
            <a:ext cx="1974189" cy="201168"/>
          </a:xfrm>
          <a:prstGeom prst="rect">
            <a:avLst/>
          </a:prstGeom>
          <a:noFill/>
        </p:spPr>
        <p:txBody>
          <a:bodyPr wrap="square" anchor="t" lIns="0" rIns="0" tIns="0" bIns="0">
            <a:spAutoFit/>
          </a:bodyPr>
          <a:lstStyle/>
          <a:p>
            <a:pPr algn="l"/>
            <a:r>
              <a:rPr sz="950" b="1">
                <a:solidFill>
                  <a:srgbClr val="C68A65"/>
                </a:solidFill>
                <a:latin typeface="Meiryo"/>
                <a:ea typeface="Meiryo"/>
                <a:cs typeface="Meiryo"/>
                <a:sym typeface="Meiryo"/>
              </a:rPr>
              <a:t>ワイン</a:t>
            </a:r>
          </a:p>
        </p:txBody>
      </p:sp>
      <p:sp>
        <p:nvSpPr>
          <p:cNvPr id="474" name="TextBox 473"/>
          <p:cNvSpPr txBox="1"/>
          <p:nvPr/>
        </p:nvSpPr>
        <p:spPr>
          <a:xfrm>
            <a:off x="3545128" y="1399032"/>
            <a:ext cx="1974189" cy="310896"/>
          </a:xfrm>
          <a:prstGeom prst="rect">
            <a:avLst/>
          </a:prstGeom>
          <a:noFill/>
        </p:spPr>
        <p:txBody>
          <a:bodyPr wrap="square" anchor="t" lIns="0" rIns="0" tIns="0" bIns="0">
            <a:spAutoFit/>
          </a:bodyPr>
          <a:lstStyle/>
          <a:p>
            <a:pPr algn="l"/>
            <a:r>
              <a:rPr sz="1800" b="1">
                <a:solidFill>
                  <a:srgbClr val="36394B"/>
                </a:solidFill>
                <a:latin typeface="Meiryo"/>
                <a:ea typeface="Meiryo"/>
                <a:cs typeface="Meiryo"/>
                <a:sym typeface="Meiryo"/>
              </a:rPr>
              <a:t>ワイナリー隣接</a:t>
            </a:r>
          </a:p>
        </p:txBody>
      </p:sp>
      <p:sp>
        <p:nvSpPr>
          <p:cNvPr id="475" name="TextBox 474"/>
          <p:cNvSpPr txBox="1"/>
          <p:nvPr/>
        </p:nvSpPr>
        <p:spPr>
          <a:xfrm>
            <a:off x="3545128" y="1755648"/>
            <a:ext cx="1974189" cy="182880"/>
          </a:xfrm>
          <a:prstGeom prst="rect">
            <a:avLst/>
          </a:prstGeom>
          <a:noFill/>
        </p:spPr>
        <p:txBody>
          <a:bodyPr wrap="square" anchor="t" lIns="0" rIns="0" tIns="0" bIns="0">
            <a:spAutoFit/>
          </a:bodyPr>
          <a:lstStyle/>
          <a:p>
            <a:pPr algn="l"/>
            <a:r>
              <a:rPr sz="800" b="0">
                <a:solidFill>
                  <a:srgbClr val="595959"/>
                </a:solidFill>
                <a:latin typeface="Meiryo"/>
                <a:ea typeface="Meiryo"/>
                <a:cs typeface="Meiryo"/>
                <a:sym typeface="Meiryo"/>
              </a:rPr>
              <a:t>造り手の畑が、窓の外にある</a:t>
            </a:r>
          </a:p>
        </p:txBody>
      </p:sp>
      <p:sp>
        <p:nvSpPr>
          <p:cNvPr id="476" name="Rectangle 475"/>
          <p:cNvSpPr/>
          <p:nvPr/>
        </p:nvSpPr>
        <p:spPr>
          <a:xfrm>
            <a:off x="6268212" y="1115568"/>
            <a:ext cx="2339949" cy="868680"/>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7" name="TextBox 476"/>
          <p:cNvSpPr txBox="1"/>
          <p:nvPr/>
        </p:nvSpPr>
        <p:spPr>
          <a:xfrm>
            <a:off x="6451092" y="1216152"/>
            <a:ext cx="1974189" cy="201168"/>
          </a:xfrm>
          <a:prstGeom prst="rect">
            <a:avLst/>
          </a:prstGeom>
          <a:noFill/>
        </p:spPr>
        <p:txBody>
          <a:bodyPr wrap="square" anchor="t" lIns="0" rIns="0" tIns="0" bIns="0">
            <a:spAutoFit/>
          </a:bodyPr>
          <a:lstStyle/>
          <a:p>
            <a:pPr algn="l"/>
            <a:r>
              <a:rPr sz="950" b="1">
                <a:solidFill>
                  <a:srgbClr val="EAD5C7"/>
                </a:solidFill>
                <a:latin typeface="Meiryo"/>
                <a:ea typeface="Meiryo"/>
                <a:cs typeface="Meiryo"/>
                <a:sym typeface="Meiryo"/>
              </a:rPr>
              <a:t>滞在</a:t>
            </a:r>
          </a:p>
        </p:txBody>
      </p:sp>
      <p:sp>
        <p:nvSpPr>
          <p:cNvPr id="478" name="TextBox 477"/>
          <p:cNvSpPr txBox="1"/>
          <p:nvPr/>
        </p:nvSpPr>
        <p:spPr>
          <a:xfrm>
            <a:off x="6451092" y="1399032"/>
            <a:ext cx="1974189" cy="310896"/>
          </a:xfrm>
          <a:prstGeom prst="rect">
            <a:avLst/>
          </a:prstGeom>
          <a:noFill/>
        </p:spPr>
        <p:txBody>
          <a:bodyPr wrap="square" anchor="t" lIns="0" rIns="0" tIns="0" bIns="0">
            <a:spAutoFit/>
          </a:bodyPr>
          <a:lstStyle/>
          <a:p>
            <a:pPr algn="l"/>
            <a:r>
              <a:rPr sz="1800" b="1">
                <a:solidFill>
                  <a:srgbClr val="FFFFFF"/>
                </a:solidFill>
                <a:latin typeface="Meiryo"/>
                <a:ea typeface="Meiryo"/>
                <a:cs typeface="Meiryo"/>
                <a:sym typeface="Meiryo"/>
              </a:rPr>
              <a:t>温泉 ＋ 10室</a:t>
            </a:r>
          </a:p>
        </p:txBody>
      </p:sp>
      <p:sp>
        <p:nvSpPr>
          <p:cNvPr id="479" name="TextBox 478"/>
          <p:cNvSpPr txBox="1"/>
          <p:nvPr/>
        </p:nvSpPr>
        <p:spPr>
          <a:xfrm>
            <a:off x="6451092" y="1755648"/>
            <a:ext cx="1974189" cy="182880"/>
          </a:xfrm>
          <a:prstGeom prst="rect">
            <a:avLst/>
          </a:prstGeom>
          <a:noFill/>
        </p:spPr>
        <p:txBody>
          <a:bodyPr wrap="square" anchor="t" lIns="0" rIns="0" tIns="0" bIns="0">
            <a:spAutoFit/>
          </a:bodyPr>
          <a:lstStyle/>
          <a:p>
            <a:pPr algn="l"/>
            <a:r>
              <a:rPr sz="800" b="0">
                <a:solidFill>
                  <a:srgbClr val="C9B6A8"/>
                </a:solidFill>
                <a:latin typeface="Meiryo"/>
                <a:ea typeface="Meiryo"/>
                <a:cs typeface="Meiryo"/>
                <a:sym typeface="Meiryo"/>
              </a:rPr>
              <a:t>食後に、移動しなくていい</a:t>
            </a:r>
          </a:p>
        </p:txBody>
      </p:sp>
      <p:sp>
        <p:nvSpPr>
          <p:cNvPr id="480" name="TextBox 479"/>
          <p:cNvSpPr txBox="1"/>
          <p:nvPr/>
        </p:nvSpPr>
        <p:spPr>
          <a:xfrm>
            <a:off x="536752" y="2103120"/>
            <a:ext cx="5486400" cy="219456"/>
          </a:xfrm>
          <a:prstGeom prst="rect">
            <a:avLst/>
          </a:prstGeom>
          <a:noFill/>
        </p:spPr>
        <p:txBody>
          <a:bodyPr wrap="square" anchor="t" lIns="0" rIns="0" tIns="0" bIns="0">
            <a:spAutoFit/>
          </a:bodyPr>
          <a:lstStyle/>
          <a:p>
            <a:pPr algn="l"/>
            <a:r>
              <a:rPr sz="1100" b="1">
                <a:solidFill>
                  <a:srgbClr val="000000"/>
                </a:solidFill>
                <a:latin typeface="Meiryo"/>
                <a:ea typeface="Meiryo"/>
                <a:cs typeface="Meiryo"/>
                <a:sym typeface="Meiryo"/>
              </a:rPr>
              <a:t>構想の骨子</a:t>
            </a:r>
          </a:p>
        </p:txBody>
      </p:sp>
      <p:sp>
        <p:nvSpPr>
          <p:cNvPr id="481" name="Rectangle 480"/>
          <p:cNvSpPr/>
          <p:nvPr/>
        </p:nvSpPr>
        <p:spPr>
          <a:xfrm>
            <a:off x="536752" y="2359152"/>
            <a:ext cx="8070494" cy="347472"/>
          </a:xfrm>
          <a:prstGeom prst="rect">
            <a:avLst/>
          </a:prstGeom>
          <a:solidFill>
            <a:srgbClr val="3639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2" name="TextBox 481"/>
          <p:cNvSpPr txBox="1"/>
          <p:nvPr/>
        </p:nvSpPr>
        <p:spPr>
          <a:xfrm>
            <a:off x="646480" y="2395728"/>
            <a:ext cx="822960" cy="274320"/>
          </a:xfrm>
          <a:prstGeom prst="rect">
            <a:avLst/>
          </a:prstGeom>
          <a:noFill/>
        </p:spPr>
        <p:txBody>
          <a:bodyPr wrap="square" anchor="ctr" lIns="0" rIns="0" tIns="0" bIns="0">
            <a:spAutoFit/>
          </a:bodyPr>
          <a:lstStyle/>
          <a:p>
            <a:pPr algn="l">
              <a:lnSpc>
                <a:spcPct val="105000"/>
              </a:lnSpc>
            </a:pPr>
            <a:r>
              <a:rPr sz="850" b="1">
                <a:solidFill>
                  <a:srgbClr val="FFFFFF"/>
                </a:solidFill>
                <a:latin typeface="Meiryo"/>
                <a:ea typeface="Meiryo"/>
                <a:cs typeface="Meiryo"/>
                <a:sym typeface="Meiryo"/>
              </a:rPr>
              <a:t/>
            </a:r>
          </a:p>
        </p:txBody>
      </p:sp>
      <p:sp>
        <p:nvSpPr>
          <p:cNvPr id="483" name="TextBox 482"/>
          <p:cNvSpPr txBox="1"/>
          <p:nvPr/>
        </p:nvSpPr>
        <p:spPr>
          <a:xfrm>
            <a:off x="1652320" y="2395728"/>
            <a:ext cx="2468879" cy="274320"/>
          </a:xfrm>
          <a:prstGeom prst="rect">
            <a:avLst/>
          </a:prstGeom>
          <a:noFill/>
        </p:spPr>
        <p:txBody>
          <a:bodyPr wrap="square" anchor="ctr" lIns="0" rIns="0" tIns="0" bIns="0">
            <a:spAutoFit/>
          </a:bodyPr>
          <a:lstStyle/>
          <a:p>
            <a:pPr algn="l">
              <a:lnSpc>
                <a:spcPct val="105000"/>
              </a:lnSpc>
            </a:pPr>
            <a:r>
              <a:rPr sz="850" b="1">
                <a:solidFill>
                  <a:srgbClr val="FFFFFF"/>
                </a:solidFill>
                <a:latin typeface="Meiryo"/>
                <a:ea typeface="Meiryo"/>
                <a:cs typeface="Meiryo"/>
                <a:sym typeface="Meiryo"/>
              </a:rPr>
              <a:t>一般的なオーベルジュ</a:t>
            </a:r>
          </a:p>
        </p:txBody>
      </p:sp>
      <p:sp>
        <p:nvSpPr>
          <p:cNvPr id="484" name="TextBox 483"/>
          <p:cNvSpPr txBox="1"/>
          <p:nvPr/>
        </p:nvSpPr>
        <p:spPr>
          <a:xfrm>
            <a:off x="4304080" y="2395728"/>
            <a:ext cx="4230014" cy="274320"/>
          </a:xfrm>
          <a:prstGeom prst="rect">
            <a:avLst/>
          </a:prstGeom>
          <a:noFill/>
        </p:spPr>
        <p:txBody>
          <a:bodyPr wrap="square" anchor="ctr" lIns="0" rIns="0" tIns="0" bIns="0">
            <a:spAutoFit/>
          </a:bodyPr>
          <a:lstStyle/>
          <a:p>
            <a:pPr algn="l">
              <a:lnSpc>
                <a:spcPct val="105000"/>
              </a:lnSpc>
            </a:pPr>
            <a:r>
              <a:rPr sz="850" b="1">
                <a:solidFill>
                  <a:srgbClr val="FFFFFF"/>
                </a:solidFill>
                <a:latin typeface="Meiryo"/>
                <a:ea typeface="Meiryo"/>
                <a:cs typeface="Meiryo"/>
                <a:sym typeface="Meiryo"/>
              </a:rPr>
              <a:t>当社が考えるオーベルジュ</a:t>
            </a:r>
          </a:p>
        </p:txBody>
      </p:sp>
      <p:sp>
        <p:nvSpPr>
          <p:cNvPr id="485" name="Rectangle 484"/>
          <p:cNvSpPr/>
          <p:nvPr/>
        </p:nvSpPr>
        <p:spPr>
          <a:xfrm>
            <a:off x="536752" y="2706624"/>
            <a:ext cx="8070494" cy="347472"/>
          </a:xfrm>
          <a:prstGeom prst="rect">
            <a:avLst/>
          </a:prstGeom>
          <a:solidFill>
            <a:srgbClr val="F6F6F6"/>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6" name="TextBox 485"/>
          <p:cNvSpPr txBox="1"/>
          <p:nvPr/>
        </p:nvSpPr>
        <p:spPr>
          <a:xfrm>
            <a:off x="646480" y="2743200"/>
            <a:ext cx="822960" cy="274320"/>
          </a:xfrm>
          <a:prstGeom prst="rect">
            <a:avLst/>
          </a:prstGeom>
          <a:noFill/>
        </p:spPr>
        <p:txBody>
          <a:bodyPr wrap="square" anchor="ctr" lIns="0" rIns="0" tIns="0" bIns="0">
            <a:spAutoFit/>
          </a:bodyPr>
          <a:lstStyle/>
          <a:p>
            <a:pPr algn="l">
              <a:lnSpc>
                <a:spcPct val="105000"/>
              </a:lnSpc>
            </a:pPr>
            <a:r>
              <a:rPr sz="850" b="1">
                <a:solidFill>
                  <a:srgbClr val="36394B"/>
                </a:solidFill>
                <a:latin typeface="Meiryo"/>
                <a:ea typeface="Meiryo"/>
                <a:cs typeface="Meiryo"/>
                <a:sym typeface="Meiryo"/>
              </a:rPr>
              <a:t>立地</a:t>
            </a:r>
          </a:p>
        </p:txBody>
      </p:sp>
      <p:sp>
        <p:nvSpPr>
          <p:cNvPr id="487" name="TextBox 486"/>
          <p:cNvSpPr txBox="1"/>
          <p:nvPr/>
        </p:nvSpPr>
        <p:spPr>
          <a:xfrm>
            <a:off x="1652320" y="2743200"/>
            <a:ext cx="2468879" cy="274320"/>
          </a:xfrm>
          <a:prstGeom prst="rect">
            <a:avLst/>
          </a:prstGeom>
          <a:noFill/>
        </p:spPr>
        <p:txBody>
          <a:bodyPr wrap="square" anchor="ctr" lIns="0" rIns="0" tIns="0" bIns="0">
            <a:spAutoFit/>
          </a:bodyPr>
          <a:lstStyle/>
          <a:p>
            <a:pPr algn="l">
              <a:lnSpc>
                <a:spcPct val="105000"/>
              </a:lnSpc>
            </a:pPr>
            <a:r>
              <a:rPr sz="850" b="0">
                <a:solidFill>
                  <a:srgbClr val="30373F"/>
                </a:solidFill>
                <a:latin typeface="Meiryo"/>
                <a:ea typeface="Meiryo"/>
                <a:cs typeface="Meiryo"/>
                <a:sym typeface="Meiryo"/>
              </a:rPr>
              <a:t>景勝地・観光地に単独で建つ</a:t>
            </a:r>
          </a:p>
        </p:txBody>
      </p:sp>
      <p:sp>
        <p:nvSpPr>
          <p:cNvPr id="488" name="TextBox 487"/>
          <p:cNvSpPr txBox="1"/>
          <p:nvPr/>
        </p:nvSpPr>
        <p:spPr>
          <a:xfrm>
            <a:off x="4304080" y="2743200"/>
            <a:ext cx="4230014" cy="274320"/>
          </a:xfrm>
          <a:prstGeom prst="rect">
            <a:avLst/>
          </a:prstGeom>
          <a:noFill/>
        </p:spPr>
        <p:txBody>
          <a:bodyPr wrap="square" anchor="ctr" lIns="0" rIns="0" tIns="0" bIns="0">
            <a:spAutoFit/>
          </a:bodyPr>
          <a:lstStyle/>
          <a:p>
            <a:pPr algn="l">
              <a:lnSpc>
                <a:spcPct val="105000"/>
              </a:lnSpc>
            </a:pPr>
            <a:r>
              <a:rPr sz="850" b="1">
                <a:solidFill>
                  <a:srgbClr val="C68A65"/>
                </a:solidFill>
                <a:latin typeface="Meiryo"/>
                <a:ea typeface="Meiryo"/>
                <a:cs typeface="Meiryo"/>
                <a:sym typeface="Meiryo"/>
              </a:rPr>
              <a:t>ワイナリーに隣接。造り手が徒歩圏にいる</a:t>
            </a:r>
          </a:p>
        </p:txBody>
      </p:sp>
      <p:sp>
        <p:nvSpPr>
          <p:cNvPr id="489" name="Rectangle 488"/>
          <p:cNvSpPr/>
          <p:nvPr/>
        </p:nvSpPr>
        <p:spPr>
          <a:xfrm>
            <a:off x="536752" y="3054096"/>
            <a:ext cx="8070494" cy="347472"/>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0" name="TextBox 489"/>
          <p:cNvSpPr txBox="1"/>
          <p:nvPr/>
        </p:nvSpPr>
        <p:spPr>
          <a:xfrm>
            <a:off x="646480" y="3090672"/>
            <a:ext cx="822960" cy="274320"/>
          </a:xfrm>
          <a:prstGeom prst="rect">
            <a:avLst/>
          </a:prstGeom>
          <a:noFill/>
        </p:spPr>
        <p:txBody>
          <a:bodyPr wrap="square" anchor="ctr" lIns="0" rIns="0" tIns="0" bIns="0">
            <a:spAutoFit/>
          </a:bodyPr>
          <a:lstStyle/>
          <a:p>
            <a:pPr algn="l">
              <a:lnSpc>
                <a:spcPct val="105000"/>
              </a:lnSpc>
            </a:pPr>
            <a:r>
              <a:rPr sz="850" b="1">
                <a:solidFill>
                  <a:srgbClr val="36394B"/>
                </a:solidFill>
                <a:latin typeface="Meiryo"/>
                <a:ea typeface="Meiryo"/>
                <a:cs typeface="Meiryo"/>
                <a:sym typeface="Meiryo"/>
              </a:rPr>
              <a:t>ワイン</a:t>
            </a:r>
          </a:p>
        </p:txBody>
      </p:sp>
      <p:sp>
        <p:nvSpPr>
          <p:cNvPr id="491" name="TextBox 490"/>
          <p:cNvSpPr txBox="1"/>
          <p:nvPr/>
        </p:nvSpPr>
        <p:spPr>
          <a:xfrm>
            <a:off x="1652320" y="3090672"/>
            <a:ext cx="2468879" cy="274320"/>
          </a:xfrm>
          <a:prstGeom prst="rect">
            <a:avLst/>
          </a:prstGeom>
          <a:noFill/>
        </p:spPr>
        <p:txBody>
          <a:bodyPr wrap="square" anchor="ctr" lIns="0" rIns="0" tIns="0" bIns="0">
            <a:spAutoFit/>
          </a:bodyPr>
          <a:lstStyle/>
          <a:p>
            <a:pPr algn="l">
              <a:lnSpc>
                <a:spcPct val="105000"/>
              </a:lnSpc>
            </a:pPr>
            <a:r>
              <a:rPr sz="850" b="0">
                <a:solidFill>
                  <a:srgbClr val="30373F"/>
                </a:solidFill>
                <a:latin typeface="Meiryo"/>
                <a:ea typeface="Meiryo"/>
                <a:cs typeface="Meiryo"/>
                <a:sym typeface="Meiryo"/>
              </a:rPr>
              <a:t>地元ワインが中心</a:t>
            </a:r>
          </a:p>
        </p:txBody>
      </p:sp>
      <p:sp>
        <p:nvSpPr>
          <p:cNvPr id="492" name="TextBox 491"/>
          <p:cNvSpPr txBox="1"/>
          <p:nvPr/>
        </p:nvSpPr>
        <p:spPr>
          <a:xfrm>
            <a:off x="4304080" y="3090672"/>
            <a:ext cx="4230014" cy="274320"/>
          </a:xfrm>
          <a:prstGeom prst="rect">
            <a:avLst/>
          </a:prstGeom>
          <a:noFill/>
        </p:spPr>
        <p:txBody>
          <a:bodyPr wrap="square" anchor="ctr" lIns="0" rIns="0" tIns="0" bIns="0">
            <a:spAutoFit/>
          </a:bodyPr>
          <a:lstStyle/>
          <a:p>
            <a:pPr algn="l">
              <a:lnSpc>
                <a:spcPct val="105000"/>
              </a:lnSpc>
            </a:pPr>
            <a:r>
              <a:rPr sz="850" b="1">
                <a:solidFill>
                  <a:srgbClr val="C68A65"/>
                </a:solidFill>
                <a:latin typeface="Meiryo"/>
                <a:ea typeface="Meiryo"/>
                <a:cs typeface="Meiryo"/>
                <a:sym typeface="Meiryo"/>
              </a:rPr>
              <a:t>当社在庫32億円から、世界のファインワインを産地価格で</a:t>
            </a:r>
          </a:p>
        </p:txBody>
      </p:sp>
      <p:sp>
        <p:nvSpPr>
          <p:cNvPr id="493" name="Rectangle 492"/>
          <p:cNvSpPr/>
          <p:nvPr/>
        </p:nvSpPr>
        <p:spPr>
          <a:xfrm>
            <a:off x="536752" y="3401568"/>
            <a:ext cx="8070494" cy="347472"/>
          </a:xfrm>
          <a:prstGeom prst="rect">
            <a:avLst/>
          </a:prstGeom>
          <a:solidFill>
            <a:srgbClr val="F6F6F6"/>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4" name="TextBox 493"/>
          <p:cNvSpPr txBox="1"/>
          <p:nvPr/>
        </p:nvSpPr>
        <p:spPr>
          <a:xfrm>
            <a:off x="646480" y="3438144"/>
            <a:ext cx="822960" cy="274320"/>
          </a:xfrm>
          <a:prstGeom prst="rect">
            <a:avLst/>
          </a:prstGeom>
          <a:noFill/>
        </p:spPr>
        <p:txBody>
          <a:bodyPr wrap="square" anchor="ctr" lIns="0" rIns="0" tIns="0" bIns="0">
            <a:spAutoFit/>
          </a:bodyPr>
          <a:lstStyle/>
          <a:p>
            <a:pPr algn="l">
              <a:lnSpc>
                <a:spcPct val="105000"/>
              </a:lnSpc>
            </a:pPr>
            <a:r>
              <a:rPr sz="850" b="1">
                <a:solidFill>
                  <a:srgbClr val="36394B"/>
                </a:solidFill>
                <a:latin typeface="Meiryo"/>
                <a:ea typeface="Meiryo"/>
                <a:cs typeface="Meiryo"/>
                <a:sym typeface="Meiryo"/>
              </a:rPr>
              <a:t>滞在</a:t>
            </a:r>
          </a:p>
        </p:txBody>
      </p:sp>
      <p:sp>
        <p:nvSpPr>
          <p:cNvPr id="495" name="TextBox 494"/>
          <p:cNvSpPr txBox="1"/>
          <p:nvPr/>
        </p:nvSpPr>
        <p:spPr>
          <a:xfrm>
            <a:off x="1652320" y="3438144"/>
            <a:ext cx="2468879" cy="274320"/>
          </a:xfrm>
          <a:prstGeom prst="rect">
            <a:avLst/>
          </a:prstGeom>
          <a:noFill/>
        </p:spPr>
        <p:txBody>
          <a:bodyPr wrap="square" anchor="ctr" lIns="0" rIns="0" tIns="0" bIns="0">
            <a:spAutoFit/>
          </a:bodyPr>
          <a:lstStyle/>
          <a:p>
            <a:pPr algn="l">
              <a:lnSpc>
                <a:spcPct val="105000"/>
              </a:lnSpc>
            </a:pPr>
            <a:r>
              <a:rPr sz="850" b="0">
                <a:solidFill>
                  <a:srgbClr val="30373F"/>
                </a:solidFill>
                <a:latin typeface="Meiryo"/>
                <a:ea typeface="Meiryo"/>
                <a:cs typeface="Meiryo"/>
                <a:sym typeface="Meiryo"/>
              </a:rPr>
              <a:t>宿泊機能のみ</a:t>
            </a:r>
          </a:p>
        </p:txBody>
      </p:sp>
      <p:sp>
        <p:nvSpPr>
          <p:cNvPr id="496" name="TextBox 495"/>
          <p:cNvSpPr txBox="1"/>
          <p:nvPr/>
        </p:nvSpPr>
        <p:spPr>
          <a:xfrm>
            <a:off x="4304080" y="3438144"/>
            <a:ext cx="4230014" cy="274320"/>
          </a:xfrm>
          <a:prstGeom prst="rect">
            <a:avLst/>
          </a:prstGeom>
          <a:noFill/>
        </p:spPr>
        <p:txBody>
          <a:bodyPr wrap="square" anchor="ctr" lIns="0" rIns="0" tIns="0" bIns="0">
            <a:spAutoFit/>
          </a:bodyPr>
          <a:lstStyle/>
          <a:p>
            <a:pPr algn="l">
              <a:lnSpc>
                <a:spcPct val="105000"/>
              </a:lnSpc>
            </a:pPr>
            <a:r>
              <a:rPr sz="850" b="1">
                <a:solidFill>
                  <a:srgbClr val="C68A65"/>
                </a:solidFill>
                <a:latin typeface="Meiryo"/>
                <a:ea typeface="Meiryo"/>
                <a:cs typeface="Meiryo"/>
                <a:sym typeface="Meiryo"/>
              </a:rPr>
              <a:t>温泉を併設。食後に移動しないから、もう一本開けられる</a:t>
            </a:r>
          </a:p>
        </p:txBody>
      </p:sp>
      <p:sp>
        <p:nvSpPr>
          <p:cNvPr id="497" name="Rectangle 496"/>
          <p:cNvSpPr/>
          <p:nvPr/>
        </p:nvSpPr>
        <p:spPr>
          <a:xfrm>
            <a:off x="536752" y="3749039"/>
            <a:ext cx="8070494" cy="347472"/>
          </a:xfrm>
          <a:prstGeom prst="rect">
            <a:avLst/>
          </a:prstGeom>
          <a:solidFill>
            <a:srgbClr val="FFFFFF"/>
          </a:solidFill>
          <a:ln w="9525">
            <a:solidFill>
              <a:srgbClr val="E3E3E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8" name="TextBox 497"/>
          <p:cNvSpPr txBox="1"/>
          <p:nvPr/>
        </p:nvSpPr>
        <p:spPr>
          <a:xfrm>
            <a:off x="646480" y="3785615"/>
            <a:ext cx="822960" cy="274320"/>
          </a:xfrm>
          <a:prstGeom prst="rect">
            <a:avLst/>
          </a:prstGeom>
          <a:noFill/>
        </p:spPr>
        <p:txBody>
          <a:bodyPr wrap="square" anchor="ctr" lIns="0" rIns="0" tIns="0" bIns="0">
            <a:spAutoFit/>
          </a:bodyPr>
          <a:lstStyle/>
          <a:p>
            <a:pPr algn="l">
              <a:lnSpc>
                <a:spcPct val="105000"/>
              </a:lnSpc>
            </a:pPr>
            <a:r>
              <a:rPr sz="850" b="1">
                <a:solidFill>
                  <a:srgbClr val="36394B"/>
                </a:solidFill>
                <a:latin typeface="Meiryo"/>
                <a:ea typeface="Meiryo"/>
                <a:cs typeface="Meiryo"/>
                <a:sym typeface="Meiryo"/>
              </a:rPr>
              <a:t>運営</a:t>
            </a:r>
          </a:p>
        </p:txBody>
      </p:sp>
      <p:sp>
        <p:nvSpPr>
          <p:cNvPr id="499" name="TextBox 498"/>
          <p:cNvSpPr txBox="1"/>
          <p:nvPr/>
        </p:nvSpPr>
        <p:spPr>
          <a:xfrm>
            <a:off x="1652320" y="3785615"/>
            <a:ext cx="2468879" cy="274320"/>
          </a:xfrm>
          <a:prstGeom prst="rect">
            <a:avLst/>
          </a:prstGeom>
          <a:noFill/>
        </p:spPr>
        <p:txBody>
          <a:bodyPr wrap="square" anchor="ctr" lIns="0" rIns="0" tIns="0" bIns="0">
            <a:spAutoFit/>
          </a:bodyPr>
          <a:lstStyle/>
          <a:p>
            <a:pPr algn="l">
              <a:lnSpc>
                <a:spcPct val="105000"/>
              </a:lnSpc>
            </a:pPr>
            <a:r>
              <a:rPr sz="850" b="0">
                <a:solidFill>
                  <a:srgbClr val="30373F"/>
                </a:solidFill>
                <a:latin typeface="Meiryo"/>
                <a:ea typeface="Meiryo"/>
                <a:cs typeface="Meiryo"/>
                <a:sym typeface="Meiryo"/>
              </a:rPr>
              <a:t>オーナーシェフの個人事業</a:t>
            </a:r>
          </a:p>
        </p:txBody>
      </p:sp>
      <p:sp>
        <p:nvSpPr>
          <p:cNvPr id="500" name="TextBox 499"/>
          <p:cNvSpPr txBox="1"/>
          <p:nvPr/>
        </p:nvSpPr>
        <p:spPr>
          <a:xfrm>
            <a:off x="4304080" y="3785615"/>
            <a:ext cx="4230014" cy="274320"/>
          </a:xfrm>
          <a:prstGeom prst="rect">
            <a:avLst/>
          </a:prstGeom>
          <a:noFill/>
        </p:spPr>
        <p:txBody>
          <a:bodyPr wrap="square" anchor="ctr" lIns="0" rIns="0" tIns="0" bIns="0">
            <a:spAutoFit/>
          </a:bodyPr>
          <a:lstStyle/>
          <a:p>
            <a:pPr algn="l">
              <a:lnSpc>
                <a:spcPct val="105000"/>
              </a:lnSpc>
            </a:pPr>
            <a:r>
              <a:rPr sz="850" b="1">
                <a:solidFill>
                  <a:srgbClr val="C68A65"/>
                </a:solidFill>
                <a:latin typeface="Meiryo"/>
                <a:ea typeface="Meiryo"/>
                <a:cs typeface="Meiryo"/>
                <a:sym typeface="Meiryo"/>
              </a:rPr>
              <a:t>グランメゾン運営会社が担う。料理人に経営を背負わせない</a:t>
            </a:r>
          </a:p>
        </p:txBody>
      </p:sp>
      <p:sp>
        <p:nvSpPr>
          <p:cNvPr id="501" name="TextBox 500"/>
          <p:cNvSpPr txBox="1"/>
          <p:nvPr/>
        </p:nvSpPr>
        <p:spPr>
          <a:xfrm>
            <a:off x="536752" y="4187952"/>
            <a:ext cx="8070494" cy="182880"/>
          </a:xfrm>
          <a:prstGeom prst="rect">
            <a:avLst/>
          </a:prstGeom>
          <a:noFill/>
        </p:spPr>
        <p:txBody>
          <a:bodyPr wrap="square" anchor="t" lIns="0" rIns="0" tIns="0" bIns="0">
            <a:spAutoFit/>
          </a:bodyPr>
          <a:lstStyle/>
          <a:p>
            <a:pPr algn="l"/>
            <a:r>
              <a:rPr sz="800" b="0">
                <a:solidFill>
                  <a:srgbClr val="595959"/>
                </a:solidFill>
                <a:latin typeface="Meiryo"/>
                <a:ea typeface="Meiryo"/>
                <a:cs typeface="Meiryo"/>
                <a:sym typeface="Meiryo"/>
              </a:rPr>
              <a:t>ブラッスリー出店計画（2027年4月 六本木 → 2030年〜 リゾート含め年2店舗）の先に着手。　</a:t>
            </a:r>
            <a:r>
              <a:rPr sz="800" b="1">
                <a:solidFill>
                  <a:srgbClr val="36394B"/>
                </a:solidFill>
                <a:latin typeface="Meiryo"/>
                <a:ea typeface="Meiryo"/>
                <a:cs typeface="Meiryo"/>
                <a:sym typeface="Meiryo"/>
              </a:rPr>
              <a:t>候補地：北海道（余市・仁木）／長野（東御）／山梨（勝沼）</a:t>
            </a:r>
          </a:p>
        </p:txBody>
      </p:sp>
      <p:sp>
        <p:nvSpPr>
          <p:cNvPr id="502" name="Rectangle 501"/>
          <p:cNvSpPr/>
          <p:nvPr/>
        </p:nvSpPr>
        <p:spPr>
          <a:xfrm>
            <a:off x="536752" y="4407408"/>
            <a:ext cx="8070494" cy="42062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3" name="Rectangle 502"/>
          <p:cNvSpPr/>
          <p:nvPr/>
        </p:nvSpPr>
        <p:spPr>
          <a:xfrm>
            <a:off x="536752" y="4407408"/>
            <a:ext cx="45720" cy="420624"/>
          </a:xfrm>
          <a:prstGeom prst="rect">
            <a:avLst/>
          </a:prstGeom>
          <a:solidFill>
            <a:srgbClr val="C68A6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4" name="TextBox 503"/>
          <p:cNvSpPr txBox="1"/>
          <p:nvPr/>
        </p:nvSpPr>
        <p:spPr>
          <a:xfrm>
            <a:off x="694944" y="4453128"/>
            <a:ext cx="7772400" cy="329184"/>
          </a:xfrm>
          <a:prstGeom prst="rect">
            <a:avLst/>
          </a:prstGeom>
          <a:noFill/>
        </p:spPr>
        <p:txBody>
          <a:bodyPr wrap="square" anchor="t" lIns="0" rIns="0" tIns="0" bIns="0">
            <a:spAutoFit/>
          </a:bodyPr>
          <a:lstStyle/>
          <a:p>
            <a:pPr algn="l">
              <a:lnSpc>
                <a:spcPct val="120000"/>
              </a:lnSpc>
            </a:pPr>
            <a:r>
              <a:rPr sz="1100" b="1">
                <a:solidFill>
                  <a:srgbClr val="000000"/>
                </a:solidFill>
                <a:latin typeface="Meiryo"/>
                <a:ea typeface="Meiryo"/>
                <a:cs typeface="Meiryo"/>
                <a:sym typeface="Meiryo"/>
              </a:rPr>
              <a:t>料理人が、一日の終わりまでお客様と過ごせる場所を。</a:t>
            </a:r>
          </a:p>
          <a:p>
            <a:pPr algn="l">
              <a:lnSpc>
                <a:spcPct val="120000"/>
              </a:lnSpc>
            </a:pPr>
            <a:r>
              <a:rPr sz="850" b="0">
                <a:solidFill>
                  <a:srgbClr val="30373F"/>
                </a:solidFill>
                <a:latin typeface="Meiryo"/>
                <a:ea typeface="Meiryo"/>
                <a:cs typeface="Meiryo"/>
                <a:sym typeface="Meiryo"/>
              </a:rPr>
              <a:t>ゼロから新しい店をつくるより、長い時間をかけて積み上げられたものを、壊さずに次の世代へ渡す。私たちが得意なのは、そちらです。</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g34a8cbec04a_0_679"/>
          <p:cNvSpPr txBox="1"/>
          <p:nvPr/>
        </p:nvSpPr>
        <p:spPr>
          <a:xfrm>
            <a:off x="2212538" y="1843307"/>
            <a:ext cx="4743600" cy="417600"/>
          </a:xfrm>
          <a:prstGeom prst="rect">
            <a:avLst/>
          </a:prstGeom>
          <a:noFill/>
          <a:ln>
            <a:noFill/>
          </a:ln>
        </p:spPr>
        <p:txBody>
          <a:bodyPr spcFirstLastPara="1" wrap="square" lIns="78225" tIns="39125" rIns="78225" bIns="39125" anchor="t" anchorCtr="0">
            <a:spAutoFit/>
          </a:bodyPr>
          <a:lstStyle/>
          <a:p>
            <a:pPr marL="0" marR="0" lvl="0" indent="0" algn="ctr" rtl="0">
              <a:lnSpc>
                <a:spcPct val="100000"/>
              </a:lnSpc>
              <a:spcBef>
                <a:spcPts val="0"/>
              </a:spcBef>
              <a:spcAft>
                <a:spcPts val="0"/>
              </a:spcAft>
              <a:buClr>
                <a:srgbClr val="000000"/>
              </a:buClr>
              <a:buSzPts val="2200"/>
              <a:buFont typeface="Arial"/>
              <a:buNone/>
            </a:pPr>
            <a:r>
              <a:rPr lang="ja" sz="2200" b="1" i="0" u="none" strike="noStrike" cap="none">
                <a:solidFill>
                  <a:srgbClr val="171616"/>
                </a:solidFill>
                <a:latin typeface="Meiryo"/>
                <a:ea typeface="Meiryo"/>
                <a:cs typeface="Meiryo"/>
                <a:sym typeface="Meiryo"/>
              </a:rPr>
              <a:t>Appendix</a:t>
            </a:r>
            <a:endParaRPr sz="2200" b="1" i="0" u="none" strike="noStrike" cap="none">
              <a:solidFill>
                <a:srgbClr val="171616"/>
              </a:solidFill>
              <a:latin typeface="Meiryo"/>
              <a:ea typeface="Meiryo"/>
              <a:cs typeface="Meiryo"/>
              <a:sym typeface="Meiryo"/>
            </a:endParaRPr>
          </a:p>
        </p:txBody>
      </p:sp>
      <p:sp>
        <p:nvSpPr>
          <p:cNvPr id="489" name="Google Shape;489;g34a8cbec04a_0_679"/>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490" name="Google Shape;490;g34a8cbec04a_0_679"/>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20</a:t>
            </a:fld>
            <a:endParaRPr/>
          </a:p>
        </p:txBody>
      </p:sp>
      <p:sp>
        <p:nvSpPr>
          <p:cNvPr id="491" name="Google Shape;491;g34a8cbec04a_0_679"/>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95"/>
        <p:cNvGrpSpPr/>
        <p:nvPr/>
      </p:nvGrpSpPr>
      <p:grpSpPr>
        <a:xfrm>
          <a:off x="0" y="0"/>
          <a:ext cx="0" cy="0"/>
          <a:chOff x="0" y="0"/>
          <a:chExt cx="0" cy="0"/>
        </a:xfrm>
      </p:grpSpPr>
      <p:cxnSp>
        <p:nvCxnSpPr>
          <p:cNvPr id="496" name="Google Shape;496;p12"/>
          <p:cNvCxnSpPr/>
          <p:nvPr/>
        </p:nvCxnSpPr>
        <p:spPr>
          <a:xfrm>
            <a:off x="393335" y="2272472"/>
            <a:ext cx="7200000" cy="0"/>
          </a:xfrm>
          <a:prstGeom prst="straightConnector1">
            <a:avLst/>
          </a:prstGeom>
          <a:noFill/>
          <a:ln w="12700" cap="flat" cmpd="sng">
            <a:solidFill>
              <a:srgbClr val="BFBFBF"/>
            </a:solidFill>
            <a:prstDash val="dot"/>
            <a:round/>
            <a:headEnd type="none" w="sm" len="sm"/>
            <a:tailEnd type="none" w="sm" len="sm"/>
          </a:ln>
        </p:spPr>
      </p:cxnSp>
      <p:cxnSp>
        <p:nvCxnSpPr>
          <p:cNvPr id="497" name="Google Shape;497;p12"/>
          <p:cNvCxnSpPr/>
          <p:nvPr/>
        </p:nvCxnSpPr>
        <p:spPr>
          <a:xfrm>
            <a:off x="393335" y="1637085"/>
            <a:ext cx="7200000" cy="0"/>
          </a:xfrm>
          <a:prstGeom prst="straightConnector1">
            <a:avLst/>
          </a:prstGeom>
          <a:noFill/>
          <a:ln w="12700" cap="flat" cmpd="sng">
            <a:solidFill>
              <a:srgbClr val="BFBFBF"/>
            </a:solidFill>
            <a:prstDash val="dot"/>
            <a:round/>
            <a:headEnd type="none" w="sm" len="sm"/>
            <a:tailEnd type="none" w="sm" len="sm"/>
          </a:ln>
        </p:spPr>
      </p:cxnSp>
      <p:cxnSp>
        <p:nvCxnSpPr>
          <p:cNvPr id="498" name="Google Shape;498;p12"/>
          <p:cNvCxnSpPr/>
          <p:nvPr/>
        </p:nvCxnSpPr>
        <p:spPr>
          <a:xfrm>
            <a:off x="393335" y="3497142"/>
            <a:ext cx="7200000" cy="0"/>
          </a:xfrm>
          <a:prstGeom prst="straightConnector1">
            <a:avLst/>
          </a:prstGeom>
          <a:noFill/>
          <a:ln w="12700" cap="flat" cmpd="sng">
            <a:solidFill>
              <a:srgbClr val="BFBFBF"/>
            </a:solidFill>
            <a:prstDash val="dot"/>
            <a:round/>
            <a:headEnd type="none" w="sm" len="sm"/>
            <a:tailEnd type="none" w="sm" len="sm"/>
          </a:ln>
        </p:spPr>
      </p:cxnSp>
      <p:cxnSp>
        <p:nvCxnSpPr>
          <p:cNvPr id="499" name="Google Shape;499;p12"/>
          <p:cNvCxnSpPr/>
          <p:nvPr/>
        </p:nvCxnSpPr>
        <p:spPr>
          <a:xfrm>
            <a:off x="393335" y="3030803"/>
            <a:ext cx="7200000" cy="0"/>
          </a:xfrm>
          <a:prstGeom prst="straightConnector1">
            <a:avLst/>
          </a:prstGeom>
          <a:noFill/>
          <a:ln w="12700" cap="flat" cmpd="sng">
            <a:solidFill>
              <a:srgbClr val="BFBFBF"/>
            </a:solidFill>
            <a:prstDash val="dot"/>
            <a:round/>
            <a:headEnd type="none" w="sm" len="sm"/>
            <a:tailEnd type="none" w="sm" len="sm"/>
          </a:ln>
        </p:spPr>
      </p:cxnSp>
      <p:sp>
        <p:nvSpPr>
          <p:cNvPr id="500" name="Google Shape;500;p12"/>
          <p:cNvSpPr/>
          <p:nvPr/>
        </p:nvSpPr>
        <p:spPr>
          <a:xfrm>
            <a:off x="6240112" y="1637085"/>
            <a:ext cx="1440000" cy="625800"/>
          </a:xfrm>
          <a:prstGeom prst="rect">
            <a:avLst/>
          </a:prstGeom>
          <a:solidFill>
            <a:srgbClr val="BFBFB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400" b="1" i="0" u="none" strike="noStrike" cap="none">
                <a:solidFill>
                  <a:schemeClr val="dk1"/>
                </a:solidFill>
                <a:latin typeface="Meiryo"/>
                <a:ea typeface="Meiryo"/>
                <a:cs typeface="Meiryo"/>
                <a:sym typeface="Meiryo"/>
              </a:rPr>
              <a:t>消費者</a:t>
            </a:r>
            <a:endParaRPr sz="1400" b="1" i="0" u="none" strike="noStrike" cap="none">
              <a:solidFill>
                <a:schemeClr val="dk1"/>
              </a:solidFill>
              <a:latin typeface="Meiryo"/>
              <a:ea typeface="Meiryo"/>
              <a:cs typeface="Meiryo"/>
              <a:sym typeface="Meiryo"/>
            </a:endParaRPr>
          </a:p>
        </p:txBody>
      </p:sp>
      <p:sp>
        <p:nvSpPr>
          <p:cNvPr id="501" name="Google Shape;501;p12"/>
          <p:cNvSpPr txBox="1"/>
          <p:nvPr/>
        </p:nvSpPr>
        <p:spPr>
          <a:xfrm>
            <a:off x="372128" y="1438487"/>
            <a:ext cx="468000" cy="4386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100</a:t>
            </a:r>
            <a:endParaRPr sz="1200" b="1" i="0" u="none" strike="noStrike" cap="none">
              <a:solidFill>
                <a:schemeClr val="dk1"/>
              </a:solidFill>
              <a:latin typeface="Meiryo"/>
              <a:ea typeface="Meiryo"/>
              <a:cs typeface="Meiryo"/>
              <a:sym typeface="Meiryo"/>
            </a:endParaRPr>
          </a:p>
        </p:txBody>
      </p:sp>
      <p:sp>
        <p:nvSpPr>
          <p:cNvPr id="502" name="Google Shape;502;p12"/>
          <p:cNvSpPr txBox="1"/>
          <p:nvPr/>
        </p:nvSpPr>
        <p:spPr>
          <a:xfrm>
            <a:off x="372128" y="2079379"/>
            <a:ext cx="4680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80</a:t>
            </a:r>
            <a:endParaRPr sz="1200" b="1" i="0" u="none" strike="noStrike" cap="none">
              <a:solidFill>
                <a:schemeClr val="dk1"/>
              </a:solidFill>
              <a:latin typeface="Meiryo"/>
              <a:ea typeface="Meiryo"/>
              <a:cs typeface="Meiryo"/>
              <a:sym typeface="Meiryo"/>
            </a:endParaRPr>
          </a:p>
        </p:txBody>
      </p:sp>
      <p:sp>
        <p:nvSpPr>
          <p:cNvPr id="503" name="Google Shape;503;p12"/>
          <p:cNvSpPr txBox="1"/>
          <p:nvPr/>
        </p:nvSpPr>
        <p:spPr>
          <a:xfrm>
            <a:off x="372128" y="3299691"/>
            <a:ext cx="4680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40</a:t>
            </a:r>
            <a:endParaRPr sz="1200" b="1" i="0" u="none" strike="noStrike" cap="none">
              <a:solidFill>
                <a:schemeClr val="dk1"/>
              </a:solidFill>
              <a:latin typeface="Meiryo"/>
              <a:ea typeface="Meiryo"/>
              <a:cs typeface="Meiryo"/>
              <a:sym typeface="Meiryo"/>
            </a:endParaRPr>
          </a:p>
        </p:txBody>
      </p:sp>
      <p:sp>
        <p:nvSpPr>
          <p:cNvPr id="504" name="Google Shape;504;p12"/>
          <p:cNvSpPr txBox="1"/>
          <p:nvPr/>
        </p:nvSpPr>
        <p:spPr>
          <a:xfrm>
            <a:off x="372128" y="2835531"/>
            <a:ext cx="468000" cy="2538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60</a:t>
            </a:r>
            <a:endParaRPr sz="1200" b="1" i="0" u="none" strike="noStrike" cap="none">
              <a:solidFill>
                <a:schemeClr val="dk1"/>
              </a:solidFill>
              <a:latin typeface="Meiryo"/>
              <a:ea typeface="Meiryo"/>
              <a:cs typeface="Meiryo"/>
              <a:sym typeface="Meiryo"/>
            </a:endParaRPr>
          </a:p>
        </p:txBody>
      </p:sp>
      <p:sp>
        <p:nvSpPr>
          <p:cNvPr id="505" name="Google Shape;505;p12"/>
          <p:cNvSpPr txBox="1"/>
          <p:nvPr/>
        </p:nvSpPr>
        <p:spPr>
          <a:xfrm>
            <a:off x="228376" y="243889"/>
            <a:ext cx="2660100" cy="2847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chemeClr val="dk1"/>
                </a:solidFill>
                <a:latin typeface="Meiryo"/>
                <a:ea typeface="Meiryo"/>
                <a:cs typeface="Meiryo"/>
                <a:sym typeface="Meiryo"/>
              </a:rPr>
              <a:t>仕入の強み</a:t>
            </a:r>
            <a:endParaRPr sz="1400" b="1" i="0" u="none" strike="noStrike" cap="none">
              <a:solidFill>
                <a:schemeClr val="dk1"/>
              </a:solidFill>
              <a:latin typeface="Meiryo"/>
              <a:ea typeface="Meiryo"/>
              <a:cs typeface="Meiryo"/>
              <a:sym typeface="Meiryo"/>
            </a:endParaRPr>
          </a:p>
        </p:txBody>
      </p:sp>
      <p:sp>
        <p:nvSpPr>
          <p:cNvPr id="506" name="Google Shape;506;p12"/>
          <p:cNvSpPr/>
          <p:nvPr/>
        </p:nvSpPr>
        <p:spPr>
          <a:xfrm>
            <a:off x="7631755" y="1182969"/>
            <a:ext cx="1260000" cy="360000"/>
          </a:xfrm>
          <a:prstGeom prst="rect">
            <a:avLst/>
          </a:prstGeom>
          <a:solidFill>
            <a:srgbClr val="C8AC86">
              <a:alpha val="65100"/>
            </a:srgbClr>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3F3F3F"/>
                </a:solidFill>
                <a:latin typeface="Meiryo"/>
                <a:ea typeface="Meiryo"/>
                <a:cs typeface="Meiryo"/>
                <a:sym typeface="Meiryo"/>
              </a:rPr>
              <a:t>レストラン</a:t>
            </a:r>
            <a:endParaRPr sz="1100" b="0" i="0" u="none" strike="noStrike" cap="none">
              <a:solidFill>
                <a:srgbClr val="3F3F3F"/>
              </a:solidFill>
              <a:latin typeface="Meiryo"/>
              <a:ea typeface="Meiryo"/>
              <a:cs typeface="Meiryo"/>
              <a:sym typeface="Meiryo"/>
            </a:endParaRPr>
          </a:p>
        </p:txBody>
      </p:sp>
      <p:sp>
        <p:nvSpPr>
          <p:cNvPr id="507" name="Google Shape;507;p12"/>
          <p:cNvSpPr txBox="1"/>
          <p:nvPr/>
        </p:nvSpPr>
        <p:spPr>
          <a:xfrm>
            <a:off x="102025" y="518040"/>
            <a:ext cx="4951200" cy="657900"/>
          </a:xfrm>
          <a:prstGeom prst="rect">
            <a:avLst/>
          </a:prstGeom>
          <a:noFill/>
          <a:ln>
            <a:noFill/>
          </a:ln>
        </p:spPr>
        <p:txBody>
          <a:bodyPr spcFirstLastPara="1" wrap="square" lIns="68575" tIns="34275" rIns="68575" bIns="34275" anchor="ctr" anchorCtr="0">
            <a:noAutofit/>
          </a:bodyPr>
          <a:lstStyle/>
          <a:p>
            <a:pPr marL="0" marR="0" lvl="0" indent="0" algn="l" rtl="0">
              <a:lnSpc>
                <a:spcPct val="150000"/>
              </a:lnSpc>
              <a:spcBef>
                <a:spcPts val="0"/>
              </a:spcBef>
              <a:spcAft>
                <a:spcPts val="0"/>
              </a:spcAft>
              <a:buClr>
                <a:schemeClr val="dk1"/>
              </a:buClr>
              <a:buSzPts val="1700"/>
              <a:buFont typeface="Meiryo"/>
              <a:buNone/>
            </a:pPr>
            <a:r>
              <a:rPr lang="ja" sz="1200" b="1" i="0" u="none" strike="noStrike" cap="none">
                <a:solidFill>
                  <a:schemeClr val="dk1"/>
                </a:solidFill>
                <a:latin typeface="Meiryo"/>
                <a:ea typeface="Meiryo"/>
                <a:cs typeface="Meiryo"/>
                <a:sym typeface="Meiryo"/>
              </a:rPr>
              <a:t>　リセールバリューがFine Wineに関しては年率10％程度成長</a:t>
            </a:r>
            <a:endParaRPr sz="1200" b="1" i="0" u="none" strike="noStrike" cap="none">
              <a:solidFill>
                <a:schemeClr val="dk1"/>
              </a:solidFill>
              <a:latin typeface="Meiryo"/>
              <a:ea typeface="Meiryo"/>
              <a:cs typeface="Meiryo"/>
              <a:sym typeface="Meiryo"/>
            </a:endParaRPr>
          </a:p>
          <a:p>
            <a:pPr marL="0" marR="0" lvl="0" indent="0" algn="l" rtl="0">
              <a:lnSpc>
                <a:spcPct val="150000"/>
              </a:lnSpc>
              <a:spcBef>
                <a:spcPts val="0"/>
              </a:spcBef>
              <a:spcAft>
                <a:spcPts val="0"/>
              </a:spcAft>
              <a:buClr>
                <a:schemeClr val="dk1"/>
              </a:buClr>
              <a:buSzPts val="1700"/>
              <a:buFont typeface="Meiryo"/>
              <a:buNone/>
            </a:pPr>
            <a:r>
              <a:rPr lang="ja" sz="1200" b="1" i="0" u="none" strike="noStrike" cap="none">
                <a:solidFill>
                  <a:schemeClr val="dk1"/>
                </a:solidFill>
                <a:latin typeface="Meiryo"/>
                <a:ea typeface="Meiryo"/>
                <a:cs typeface="Meiryo"/>
                <a:sym typeface="Meiryo"/>
              </a:rPr>
              <a:t>　良質なワインを</a:t>
            </a:r>
            <a:r>
              <a:rPr lang="ja" sz="1200" b="1" i="0" u="none" strike="noStrike" cap="none">
                <a:solidFill>
                  <a:srgbClr val="FF0000"/>
                </a:solidFill>
                <a:latin typeface="Meiryo"/>
                <a:ea typeface="Meiryo"/>
                <a:cs typeface="Meiryo"/>
                <a:sym typeface="Meiryo"/>
              </a:rPr>
              <a:t>「正規品」</a:t>
            </a:r>
            <a:r>
              <a:rPr lang="ja" sz="1200" b="1" i="0" u="none" strike="noStrike" cap="none">
                <a:solidFill>
                  <a:schemeClr val="dk1"/>
                </a:solidFill>
                <a:latin typeface="Meiryo"/>
                <a:ea typeface="Meiryo"/>
                <a:cs typeface="Meiryo"/>
                <a:sym typeface="Meiryo"/>
              </a:rPr>
              <a:t>かつ</a:t>
            </a:r>
            <a:r>
              <a:rPr lang="ja" sz="1200" b="1" i="0" u="none" strike="noStrike" cap="none">
                <a:solidFill>
                  <a:srgbClr val="FF0000"/>
                </a:solidFill>
                <a:latin typeface="Meiryo"/>
                <a:ea typeface="Meiryo"/>
                <a:cs typeface="Meiryo"/>
                <a:sym typeface="Meiryo"/>
              </a:rPr>
              <a:t>「大量」</a:t>
            </a:r>
            <a:r>
              <a:rPr lang="ja" sz="1200" b="1" i="0" u="none" strike="noStrike" cap="none">
                <a:solidFill>
                  <a:schemeClr val="dk1"/>
                </a:solidFill>
                <a:latin typeface="Meiryo"/>
                <a:ea typeface="Meiryo"/>
                <a:cs typeface="Meiryo"/>
                <a:sym typeface="Meiryo"/>
              </a:rPr>
              <a:t>に仕入れられるかが鍵</a:t>
            </a:r>
            <a:endParaRPr sz="1200" b="1" i="0" u="none" strike="noStrike" cap="none">
              <a:solidFill>
                <a:schemeClr val="dk1"/>
              </a:solidFill>
              <a:latin typeface="Meiryo"/>
              <a:ea typeface="Meiryo"/>
              <a:cs typeface="Meiryo"/>
              <a:sym typeface="Meiryo"/>
            </a:endParaRPr>
          </a:p>
        </p:txBody>
      </p:sp>
      <p:sp>
        <p:nvSpPr>
          <p:cNvPr id="508" name="Google Shape;508;p12"/>
          <p:cNvSpPr txBox="1"/>
          <p:nvPr/>
        </p:nvSpPr>
        <p:spPr>
          <a:xfrm>
            <a:off x="803633" y="1431405"/>
            <a:ext cx="12204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希望小売価格</a:t>
            </a:r>
            <a:endParaRPr sz="1200" b="1" i="0" u="none" strike="noStrike" cap="none">
              <a:solidFill>
                <a:schemeClr val="dk1"/>
              </a:solidFill>
              <a:latin typeface="Meiryo"/>
              <a:ea typeface="Meiryo"/>
              <a:cs typeface="Meiryo"/>
              <a:sym typeface="Meiryo"/>
            </a:endParaRPr>
          </a:p>
        </p:txBody>
      </p:sp>
      <p:sp>
        <p:nvSpPr>
          <p:cNvPr id="509" name="Google Shape;509;p12"/>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510" name="Google Shape;510;p12"/>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21</a:t>
            </a:fld>
            <a:endParaRPr/>
          </a:p>
        </p:txBody>
      </p:sp>
      <p:sp>
        <p:nvSpPr>
          <p:cNvPr id="511" name="Google Shape;511;p12"/>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512" name="Google Shape;512;p12"/>
          <p:cNvSpPr txBox="1"/>
          <p:nvPr/>
        </p:nvSpPr>
        <p:spPr>
          <a:xfrm>
            <a:off x="756689" y="2059048"/>
            <a:ext cx="25011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ネット最安価格/並行輸入価格</a:t>
            </a:r>
            <a:endParaRPr sz="1200" b="1" i="0" u="none" strike="noStrike" cap="none">
              <a:solidFill>
                <a:schemeClr val="dk1"/>
              </a:solidFill>
              <a:latin typeface="Meiryo"/>
              <a:ea typeface="Meiryo"/>
              <a:cs typeface="Meiryo"/>
              <a:sym typeface="Meiryo"/>
            </a:endParaRPr>
          </a:p>
        </p:txBody>
      </p:sp>
      <p:cxnSp>
        <p:nvCxnSpPr>
          <p:cNvPr id="513" name="Google Shape;513;p12"/>
          <p:cNvCxnSpPr/>
          <p:nvPr/>
        </p:nvCxnSpPr>
        <p:spPr>
          <a:xfrm>
            <a:off x="5518401" y="2797111"/>
            <a:ext cx="0" cy="1465800"/>
          </a:xfrm>
          <a:prstGeom prst="straightConnector1">
            <a:avLst/>
          </a:prstGeom>
          <a:noFill/>
          <a:ln w="25400" cap="flat" cmpd="sng">
            <a:solidFill>
              <a:srgbClr val="0C0C0C"/>
            </a:solidFill>
            <a:prstDash val="dot"/>
            <a:miter lim="80"/>
            <a:headEnd type="oval" w="med" len="med"/>
            <a:tailEnd type="none" w="sm" len="sm"/>
          </a:ln>
        </p:spPr>
      </p:cxnSp>
      <p:sp>
        <p:nvSpPr>
          <p:cNvPr id="514" name="Google Shape;514;p12"/>
          <p:cNvSpPr/>
          <p:nvPr/>
        </p:nvSpPr>
        <p:spPr>
          <a:xfrm>
            <a:off x="4901427" y="4103116"/>
            <a:ext cx="1296000" cy="360000"/>
          </a:xfrm>
          <a:prstGeom prst="rect">
            <a:avLst/>
          </a:prstGeom>
          <a:solidFill>
            <a:srgbClr val="0C0C0C"/>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200" b="1" i="0" u="none" strike="noStrike" cap="none">
                <a:solidFill>
                  <a:schemeClr val="lt1"/>
                </a:solidFill>
                <a:latin typeface="Meiryo"/>
                <a:ea typeface="Meiryo"/>
                <a:cs typeface="Meiryo"/>
                <a:sym typeface="Meiryo"/>
              </a:rPr>
              <a:t>新規参入業者</a:t>
            </a:r>
            <a:endParaRPr sz="1200" b="1" i="0" u="none" strike="noStrike" cap="none">
              <a:solidFill>
                <a:schemeClr val="lt1"/>
              </a:solidFill>
              <a:latin typeface="Meiryo"/>
              <a:ea typeface="Meiryo"/>
              <a:cs typeface="Meiryo"/>
              <a:sym typeface="Meiryo"/>
            </a:endParaRPr>
          </a:p>
        </p:txBody>
      </p:sp>
      <p:cxnSp>
        <p:nvCxnSpPr>
          <p:cNvPr id="515" name="Google Shape;515;p12"/>
          <p:cNvCxnSpPr/>
          <p:nvPr/>
        </p:nvCxnSpPr>
        <p:spPr>
          <a:xfrm>
            <a:off x="4118595" y="3252001"/>
            <a:ext cx="0" cy="1011000"/>
          </a:xfrm>
          <a:prstGeom prst="straightConnector1">
            <a:avLst/>
          </a:prstGeom>
          <a:noFill/>
          <a:ln w="25400" cap="flat" cmpd="sng">
            <a:solidFill>
              <a:srgbClr val="C00000"/>
            </a:solidFill>
            <a:prstDash val="dot"/>
            <a:miter lim="80"/>
            <a:headEnd type="oval" w="med" len="med"/>
            <a:tailEnd type="none" w="sm" len="sm"/>
          </a:ln>
        </p:spPr>
      </p:cxnSp>
      <p:cxnSp>
        <p:nvCxnSpPr>
          <p:cNvPr id="516" name="Google Shape;516;p12"/>
          <p:cNvCxnSpPr/>
          <p:nvPr/>
        </p:nvCxnSpPr>
        <p:spPr>
          <a:xfrm flipH="1">
            <a:off x="2799051" y="3727886"/>
            <a:ext cx="7200" cy="691800"/>
          </a:xfrm>
          <a:prstGeom prst="straightConnector1">
            <a:avLst/>
          </a:prstGeom>
          <a:noFill/>
          <a:ln w="25400" cap="flat" cmpd="sng">
            <a:solidFill>
              <a:srgbClr val="C00000"/>
            </a:solidFill>
            <a:prstDash val="dot"/>
            <a:miter lim="80"/>
            <a:headEnd type="oval" w="med" len="med"/>
            <a:tailEnd type="oval" w="med" len="med"/>
          </a:ln>
        </p:spPr>
      </p:cxnSp>
      <p:sp>
        <p:nvSpPr>
          <p:cNvPr id="517" name="Google Shape;517;p12"/>
          <p:cNvSpPr/>
          <p:nvPr/>
        </p:nvSpPr>
        <p:spPr>
          <a:xfrm>
            <a:off x="2482357" y="4103116"/>
            <a:ext cx="1980000" cy="360000"/>
          </a:xfrm>
          <a:prstGeom prst="rect">
            <a:avLst/>
          </a:prstGeom>
          <a:solidFill>
            <a:srgbClr val="C00000"/>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400" b="1" i="0" u="none" strike="noStrike" cap="none">
                <a:solidFill>
                  <a:schemeClr val="lt1"/>
                </a:solidFill>
                <a:latin typeface="Meiryo"/>
                <a:ea typeface="Meiryo"/>
                <a:cs typeface="Meiryo"/>
                <a:sym typeface="Meiryo"/>
              </a:rPr>
              <a:t>WineBank</a:t>
            </a:r>
            <a:endParaRPr sz="1400" b="1" i="0" u="none" strike="noStrike" cap="none">
              <a:solidFill>
                <a:schemeClr val="lt1"/>
              </a:solidFill>
              <a:latin typeface="Meiryo"/>
              <a:ea typeface="Meiryo"/>
              <a:cs typeface="Meiryo"/>
              <a:sym typeface="Meiryo"/>
            </a:endParaRPr>
          </a:p>
        </p:txBody>
      </p:sp>
      <p:sp>
        <p:nvSpPr>
          <p:cNvPr id="518" name="Google Shape;518;p12"/>
          <p:cNvSpPr/>
          <p:nvPr/>
        </p:nvSpPr>
        <p:spPr>
          <a:xfrm>
            <a:off x="837316" y="3781171"/>
            <a:ext cx="1440000" cy="360000"/>
          </a:xfrm>
          <a:prstGeom prst="homePlate">
            <a:avLst>
              <a:gd name="adj" fmla="val 5000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chemeClr val="dk1"/>
                </a:solidFill>
                <a:latin typeface="Meiryo"/>
                <a:ea typeface="Meiryo"/>
                <a:cs typeface="Meiryo"/>
                <a:sym typeface="Meiryo"/>
              </a:rPr>
              <a:t>生産者</a:t>
            </a:r>
            <a:endParaRPr sz="1400" b="0" i="0" u="none" strike="noStrike" cap="none">
              <a:solidFill>
                <a:srgbClr val="000000"/>
              </a:solidFill>
              <a:latin typeface="Arial"/>
              <a:ea typeface="Arial"/>
              <a:cs typeface="Arial"/>
              <a:sym typeface="Arial"/>
            </a:endParaRPr>
          </a:p>
        </p:txBody>
      </p:sp>
      <p:sp>
        <p:nvSpPr>
          <p:cNvPr id="519" name="Google Shape;519;p12"/>
          <p:cNvSpPr/>
          <p:nvPr/>
        </p:nvSpPr>
        <p:spPr>
          <a:xfrm>
            <a:off x="2188015" y="3311633"/>
            <a:ext cx="1440000" cy="360000"/>
          </a:xfrm>
          <a:prstGeom prst="homePlate">
            <a:avLst>
              <a:gd name="adj" fmla="val 50000"/>
            </a:avLst>
          </a:prstGeom>
          <a:solidFill>
            <a:srgbClr val="CF9F8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chemeClr val="dk1"/>
                </a:solidFill>
                <a:latin typeface="Meiryo"/>
                <a:ea typeface="Meiryo"/>
                <a:cs typeface="Meiryo"/>
                <a:sym typeface="Meiryo"/>
              </a:rPr>
              <a:t>インポーター</a:t>
            </a:r>
            <a:endParaRPr sz="1400" b="0" i="0" u="none" strike="noStrike" cap="none">
              <a:solidFill>
                <a:srgbClr val="000000"/>
              </a:solidFill>
              <a:latin typeface="Arial"/>
              <a:ea typeface="Arial"/>
              <a:cs typeface="Arial"/>
              <a:sym typeface="Arial"/>
            </a:endParaRPr>
          </a:p>
        </p:txBody>
      </p:sp>
      <p:sp>
        <p:nvSpPr>
          <p:cNvPr id="520" name="Google Shape;520;p12"/>
          <p:cNvSpPr/>
          <p:nvPr/>
        </p:nvSpPr>
        <p:spPr>
          <a:xfrm>
            <a:off x="3506944" y="2842096"/>
            <a:ext cx="1440000" cy="360000"/>
          </a:xfrm>
          <a:prstGeom prst="homePlate">
            <a:avLst>
              <a:gd name="adj" fmla="val 50000"/>
            </a:avLst>
          </a:prstGeom>
          <a:solidFill>
            <a:srgbClr val="CF9F82"/>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chemeClr val="dk1"/>
                </a:solidFill>
                <a:latin typeface="Meiryo"/>
                <a:ea typeface="Meiryo"/>
                <a:cs typeface="Meiryo"/>
                <a:sym typeface="Meiryo"/>
              </a:rPr>
              <a:t>酒販店①</a:t>
            </a:r>
            <a:endParaRPr sz="1400" b="0" i="0" u="none" strike="noStrike" cap="none">
              <a:solidFill>
                <a:srgbClr val="000000"/>
              </a:solidFill>
              <a:latin typeface="Arial"/>
              <a:ea typeface="Arial"/>
              <a:cs typeface="Arial"/>
              <a:sym typeface="Arial"/>
            </a:endParaRPr>
          </a:p>
        </p:txBody>
      </p:sp>
      <p:sp>
        <p:nvSpPr>
          <p:cNvPr id="521" name="Google Shape;521;p12"/>
          <p:cNvSpPr/>
          <p:nvPr/>
        </p:nvSpPr>
        <p:spPr>
          <a:xfrm>
            <a:off x="4889413" y="2372559"/>
            <a:ext cx="1440000" cy="360000"/>
          </a:xfrm>
          <a:prstGeom prst="homePlate">
            <a:avLst>
              <a:gd name="adj" fmla="val 50000"/>
            </a:avLst>
          </a:prstGeom>
          <a:solidFill>
            <a:srgbClr val="D8D8D8"/>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chemeClr val="dk1"/>
                </a:solidFill>
                <a:latin typeface="Meiryo"/>
                <a:ea typeface="Meiryo"/>
                <a:cs typeface="Meiryo"/>
                <a:sym typeface="Meiryo"/>
              </a:rPr>
              <a:t>酒販店②</a:t>
            </a:r>
            <a:endParaRPr sz="1400" b="0" i="0" u="none" strike="noStrike" cap="none">
              <a:solidFill>
                <a:srgbClr val="000000"/>
              </a:solidFill>
              <a:latin typeface="Arial"/>
              <a:ea typeface="Arial"/>
              <a:cs typeface="Arial"/>
              <a:sym typeface="Arial"/>
            </a:endParaRPr>
          </a:p>
        </p:txBody>
      </p:sp>
      <p:grpSp>
        <p:nvGrpSpPr>
          <p:cNvPr id="522" name="Google Shape;522;p12"/>
          <p:cNvGrpSpPr/>
          <p:nvPr/>
        </p:nvGrpSpPr>
        <p:grpSpPr>
          <a:xfrm>
            <a:off x="4394892" y="2022240"/>
            <a:ext cx="816600" cy="642000"/>
            <a:chOff x="4533204" y="1930032"/>
            <a:chExt cx="816600" cy="642000"/>
          </a:xfrm>
        </p:grpSpPr>
        <p:sp>
          <p:nvSpPr>
            <p:cNvPr id="523" name="Google Shape;523;p12"/>
            <p:cNvSpPr/>
            <p:nvPr/>
          </p:nvSpPr>
          <p:spPr>
            <a:xfrm>
              <a:off x="4620419" y="1930032"/>
              <a:ext cx="642000" cy="642000"/>
            </a:xfrm>
            <a:prstGeom prst="ellipse">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4" name="Google Shape;524;p12"/>
            <p:cNvSpPr txBox="1"/>
            <p:nvPr/>
          </p:nvSpPr>
          <p:spPr>
            <a:xfrm>
              <a:off x="4533204" y="2033292"/>
              <a:ext cx="816600" cy="5154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800" b="0" i="0" u="none" strike="noStrike" cap="none">
                  <a:solidFill>
                    <a:schemeClr val="lt1"/>
                  </a:solidFill>
                  <a:latin typeface="Meiryo"/>
                  <a:ea typeface="Meiryo"/>
                  <a:cs typeface="Meiryo"/>
                  <a:sym typeface="Meiryo"/>
                </a:rPr>
                <a:t>仕入価格</a:t>
              </a:r>
              <a:endParaRPr sz="800"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2000" b="1" i="0" u="none" strike="noStrike" cap="none">
                  <a:solidFill>
                    <a:schemeClr val="lt1"/>
                  </a:solidFill>
                  <a:latin typeface="Meiryo"/>
                  <a:ea typeface="Meiryo"/>
                  <a:cs typeface="Meiryo"/>
                  <a:sym typeface="Meiryo"/>
                </a:rPr>
                <a:t>70</a:t>
              </a:r>
              <a:endParaRPr sz="2000" b="1" i="0" u="none" strike="noStrike" cap="none">
                <a:solidFill>
                  <a:schemeClr val="lt1"/>
                </a:solidFill>
                <a:latin typeface="Meiryo"/>
                <a:ea typeface="Meiryo"/>
                <a:cs typeface="Meiryo"/>
                <a:sym typeface="Meiryo"/>
              </a:endParaRPr>
            </a:p>
          </p:txBody>
        </p:sp>
      </p:grpSp>
      <p:grpSp>
        <p:nvGrpSpPr>
          <p:cNvPr id="525" name="Google Shape;525;p12"/>
          <p:cNvGrpSpPr/>
          <p:nvPr/>
        </p:nvGrpSpPr>
        <p:grpSpPr>
          <a:xfrm>
            <a:off x="5765415" y="1500409"/>
            <a:ext cx="816600" cy="642000"/>
            <a:chOff x="5880675" y="1315993"/>
            <a:chExt cx="816600" cy="642000"/>
          </a:xfrm>
        </p:grpSpPr>
        <p:sp>
          <p:nvSpPr>
            <p:cNvPr id="526" name="Google Shape;526;p12"/>
            <p:cNvSpPr/>
            <p:nvPr/>
          </p:nvSpPr>
          <p:spPr>
            <a:xfrm>
              <a:off x="5967890" y="1315993"/>
              <a:ext cx="642000" cy="642000"/>
            </a:xfrm>
            <a:prstGeom prst="ellipse">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27" name="Google Shape;527;p12"/>
            <p:cNvSpPr txBox="1"/>
            <p:nvPr/>
          </p:nvSpPr>
          <p:spPr>
            <a:xfrm>
              <a:off x="5880675" y="1465357"/>
              <a:ext cx="816600" cy="3771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800" b="0" i="0" u="none" strike="noStrike" cap="none">
                  <a:solidFill>
                    <a:schemeClr val="lt1"/>
                  </a:solidFill>
                  <a:latin typeface="Meiryo"/>
                  <a:ea typeface="Meiryo"/>
                  <a:cs typeface="Meiryo"/>
                  <a:sym typeface="Meiryo"/>
                </a:rPr>
                <a:t>購入価格</a:t>
              </a:r>
              <a:endParaRPr sz="800"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chemeClr val="lt1"/>
                  </a:solidFill>
                  <a:latin typeface="Meiryo"/>
                  <a:ea typeface="Meiryo"/>
                  <a:cs typeface="Meiryo"/>
                  <a:sym typeface="Meiryo"/>
                </a:rPr>
                <a:t>80-100</a:t>
              </a:r>
              <a:endParaRPr sz="1200" b="1" i="0" u="none" strike="noStrike" cap="none">
                <a:solidFill>
                  <a:schemeClr val="lt1"/>
                </a:solidFill>
                <a:latin typeface="Meiryo"/>
                <a:ea typeface="Meiryo"/>
                <a:cs typeface="Meiryo"/>
                <a:sym typeface="Meiryo"/>
              </a:endParaRPr>
            </a:p>
          </p:txBody>
        </p:sp>
      </p:grpSp>
      <p:grpSp>
        <p:nvGrpSpPr>
          <p:cNvPr id="528" name="Google Shape;528;p12"/>
          <p:cNvGrpSpPr/>
          <p:nvPr/>
        </p:nvGrpSpPr>
        <p:grpSpPr>
          <a:xfrm>
            <a:off x="3013536" y="2504343"/>
            <a:ext cx="816600" cy="642000"/>
            <a:chOff x="2953098" y="2312243"/>
            <a:chExt cx="816600" cy="642000"/>
          </a:xfrm>
        </p:grpSpPr>
        <p:sp>
          <p:nvSpPr>
            <p:cNvPr id="529" name="Google Shape;529;p12"/>
            <p:cNvSpPr/>
            <p:nvPr/>
          </p:nvSpPr>
          <p:spPr>
            <a:xfrm>
              <a:off x="3040313" y="2312243"/>
              <a:ext cx="642000" cy="642000"/>
            </a:xfrm>
            <a:prstGeom prst="ellipse">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0" name="Google Shape;530;p12"/>
            <p:cNvSpPr txBox="1"/>
            <p:nvPr/>
          </p:nvSpPr>
          <p:spPr>
            <a:xfrm>
              <a:off x="2953098" y="2415503"/>
              <a:ext cx="816600" cy="5001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800" b="0" i="0" u="none" strike="noStrike" cap="none">
                  <a:solidFill>
                    <a:schemeClr val="lt1"/>
                  </a:solidFill>
                  <a:latin typeface="Meiryo"/>
                  <a:ea typeface="Meiryo"/>
                  <a:cs typeface="Meiryo"/>
                  <a:sym typeface="Meiryo"/>
                </a:rPr>
                <a:t>仕入価格</a:t>
              </a:r>
              <a:endParaRPr sz="800"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2000" b="1" i="0" u="none" strike="noStrike" cap="none">
                  <a:solidFill>
                    <a:schemeClr val="lt1"/>
                  </a:solidFill>
                  <a:latin typeface="Meiryo"/>
                  <a:ea typeface="Meiryo"/>
                  <a:cs typeface="Meiryo"/>
                  <a:sym typeface="Meiryo"/>
                </a:rPr>
                <a:t>60</a:t>
              </a:r>
              <a:endParaRPr sz="2000" b="1" i="0" u="none" strike="noStrike" cap="none">
                <a:solidFill>
                  <a:schemeClr val="lt1"/>
                </a:solidFill>
                <a:latin typeface="Meiryo"/>
                <a:ea typeface="Meiryo"/>
                <a:cs typeface="Meiryo"/>
                <a:sym typeface="Meiryo"/>
              </a:endParaRPr>
            </a:p>
          </p:txBody>
        </p:sp>
      </p:grpSp>
      <p:grpSp>
        <p:nvGrpSpPr>
          <p:cNvPr id="531" name="Google Shape;531;p12"/>
          <p:cNvGrpSpPr/>
          <p:nvPr/>
        </p:nvGrpSpPr>
        <p:grpSpPr>
          <a:xfrm>
            <a:off x="1650923" y="2980840"/>
            <a:ext cx="816600" cy="642000"/>
            <a:chOff x="1658607" y="2888632"/>
            <a:chExt cx="816600" cy="642000"/>
          </a:xfrm>
        </p:grpSpPr>
        <p:sp>
          <p:nvSpPr>
            <p:cNvPr id="532" name="Google Shape;532;p12"/>
            <p:cNvSpPr/>
            <p:nvPr/>
          </p:nvSpPr>
          <p:spPr>
            <a:xfrm>
              <a:off x="1745822" y="2888632"/>
              <a:ext cx="642000" cy="642000"/>
            </a:xfrm>
            <a:prstGeom prst="ellipse">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3" name="Google Shape;533;p12"/>
            <p:cNvSpPr txBox="1"/>
            <p:nvPr/>
          </p:nvSpPr>
          <p:spPr>
            <a:xfrm>
              <a:off x="1658607" y="2991892"/>
              <a:ext cx="816600" cy="5154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800" b="0" i="0" u="none" strike="noStrike" cap="none">
                  <a:solidFill>
                    <a:schemeClr val="lt1"/>
                  </a:solidFill>
                  <a:latin typeface="Meiryo"/>
                  <a:ea typeface="Meiryo"/>
                  <a:cs typeface="Meiryo"/>
                  <a:sym typeface="Meiryo"/>
                </a:rPr>
                <a:t>仕入価格</a:t>
              </a:r>
              <a:endParaRPr sz="800"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2000" b="1" i="0" u="none" strike="noStrike" cap="none">
                  <a:solidFill>
                    <a:schemeClr val="lt1"/>
                  </a:solidFill>
                  <a:latin typeface="Meiryo"/>
                  <a:ea typeface="Meiryo"/>
                  <a:cs typeface="Meiryo"/>
                  <a:sym typeface="Meiryo"/>
                </a:rPr>
                <a:t>40</a:t>
              </a:r>
              <a:endParaRPr sz="2000" b="1" i="0" u="none" strike="noStrike" cap="none">
                <a:solidFill>
                  <a:schemeClr val="lt1"/>
                </a:solidFill>
                <a:latin typeface="Meiryo"/>
                <a:ea typeface="Meiryo"/>
                <a:cs typeface="Meiryo"/>
                <a:sym typeface="Meiryo"/>
              </a:endParaRPr>
            </a:p>
          </p:txBody>
        </p:sp>
      </p:grpSp>
      <p:grpSp>
        <p:nvGrpSpPr>
          <p:cNvPr id="534" name="Google Shape;534;p12"/>
          <p:cNvGrpSpPr/>
          <p:nvPr/>
        </p:nvGrpSpPr>
        <p:grpSpPr>
          <a:xfrm>
            <a:off x="7138467" y="832359"/>
            <a:ext cx="848700" cy="642000"/>
            <a:chOff x="5856199" y="1315993"/>
            <a:chExt cx="848700" cy="642000"/>
          </a:xfrm>
        </p:grpSpPr>
        <p:sp>
          <p:nvSpPr>
            <p:cNvPr id="535" name="Google Shape;535;p12"/>
            <p:cNvSpPr/>
            <p:nvPr/>
          </p:nvSpPr>
          <p:spPr>
            <a:xfrm>
              <a:off x="5967890" y="1315993"/>
              <a:ext cx="642000" cy="642000"/>
            </a:xfrm>
            <a:prstGeom prst="ellipse">
              <a:avLst/>
            </a:prstGeom>
            <a:solidFill>
              <a:srgbClr val="36394B"/>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36" name="Google Shape;536;p12"/>
            <p:cNvSpPr txBox="1"/>
            <p:nvPr/>
          </p:nvSpPr>
          <p:spPr>
            <a:xfrm>
              <a:off x="5856199" y="1465357"/>
              <a:ext cx="848700" cy="3615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800" b="0" i="0" u="none" strike="noStrike" cap="none">
                  <a:solidFill>
                    <a:schemeClr val="lt1"/>
                  </a:solidFill>
                  <a:latin typeface="Meiryo"/>
                  <a:ea typeface="Meiryo"/>
                  <a:cs typeface="Meiryo"/>
                  <a:sym typeface="Meiryo"/>
                </a:rPr>
                <a:t>店頭価格</a:t>
              </a:r>
              <a:endParaRPr sz="700" b="0" i="0" u="none" strike="noStrike" cap="none">
                <a:solidFill>
                  <a:schemeClr val="lt1"/>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200"/>
                <a:buFont typeface="Arial"/>
                <a:buNone/>
              </a:pPr>
              <a:r>
                <a:rPr lang="ja" sz="1100" b="1" i="0" u="none" strike="noStrike" cap="none">
                  <a:solidFill>
                    <a:schemeClr val="lt1"/>
                  </a:solidFill>
                  <a:latin typeface="Meiryo"/>
                  <a:ea typeface="Meiryo"/>
                  <a:cs typeface="Meiryo"/>
                  <a:sym typeface="Meiryo"/>
                </a:rPr>
                <a:t>150-300</a:t>
              </a:r>
              <a:endParaRPr sz="1200" b="1" i="0" u="none" strike="noStrike" cap="none">
                <a:solidFill>
                  <a:schemeClr val="lt1"/>
                </a:solidFill>
                <a:latin typeface="Meiryo"/>
                <a:ea typeface="Meiryo"/>
                <a:cs typeface="Meiryo"/>
                <a:sym typeface="Meiryo"/>
              </a:endParaRPr>
            </a:p>
          </p:txBody>
        </p:sp>
      </p:gr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540"/>
        <p:cNvGrpSpPr/>
        <p:nvPr/>
      </p:nvGrpSpPr>
      <p:grpSpPr>
        <a:xfrm>
          <a:off x="0" y="0"/>
          <a:ext cx="0" cy="0"/>
          <a:chOff x="0" y="0"/>
          <a:chExt cx="0" cy="0"/>
        </a:xfrm>
      </p:grpSpPr>
      <p:sp>
        <p:nvSpPr>
          <p:cNvPr id="541" name="Google Shape;541;g394c85ad418_0_0"/>
          <p:cNvSpPr/>
          <p:nvPr/>
        </p:nvSpPr>
        <p:spPr>
          <a:xfrm>
            <a:off x="0" y="5012872"/>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Meiryo"/>
              <a:ea typeface="Meiryo"/>
              <a:cs typeface="Meiryo"/>
              <a:sym typeface="Meiryo"/>
            </a:endParaRPr>
          </a:p>
        </p:txBody>
      </p:sp>
      <p:sp>
        <p:nvSpPr>
          <p:cNvPr id="542" name="Google Shape;542;g394c85ad418_0_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latin typeface="Meiryo"/>
                <a:ea typeface="Meiryo"/>
                <a:cs typeface="Meiryo"/>
                <a:sym typeface="Meiryo"/>
              </a:rPr>
              <a:t>22</a:t>
            </a:fld>
            <a:endParaRPr>
              <a:latin typeface="Meiryo"/>
              <a:ea typeface="Meiryo"/>
              <a:cs typeface="Meiryo"/>
              <a:sym typeface="Meiryo"/>
            </a:endParaRPr>
          </a:p>
        </p:txBody>
      </p:sp>
      <p:sp>
        <p:nvSpPr>
          <p:cNvPr id="543" name="Google Shape;543;g394c85ad418_0_0"/>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Meiryo"/>
              <a:ea typeface="Meiryo"/>
              <a:cs typeface="Meiryo"/>
              <a:sym typeface="Meiryo"/>
            </a:endParaRPr>
          </a:p>
        </p:txBody>
      </p:sp>
      <p:sp>
        <p:nvSpPr>
          <p:cNvPr id="544" name="Google Shape;544;g394c85ad418_0_0"/>
          <p:cNvSpPr txBox="1"/>
          <p:nvPr/>
        </p:nvSpPr>
        <p:spPr>
          <a:xfrm>
            <a:off x="239774" y="287250"/>
            <a:ext cx="61071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日本のワイン市場</a:t>
            </a:r>
            <a:endParaRPr sz="1400" b="1" i="0" u="none" strike="noStrike" cap="none">
              <a:solidFill>
                <a:srgbClr val="000000"/>
              </a:solidFill>
              <a:latin typeface="Meiryo"/>
              <a:ea typeface="Meiryo"/>
              <a:cs typeface="Meiryo"/>
              <a:sym typeface="Meiryo"/>
            </a:endParaRPr>
          </a:p>
        </p:txBody>
      </p:sp>
      <p:sp>
        <p:nvSpPr>
          <p:cNvPr id="545" name="Google Shape;545;g394c85ad418_0_0"/>
          <p:cNvSpPr txBox="1"/>
          <p:nvPr/>
        </p:nvSpPr>
        <p:spPr>
          <a:xfrm>
            <a:off x="442625" y="877875"/>
            <a:ext cx="7864800" cy="2718300"/>
          </a:xfrm>
          <a:prstGeom prst="rect">
            <a:avLst/>
          </a:prstGeom>
          <a:noFill/>
          <a:ln>
            <a:noFill/>
          </a:ln>
        </p:spPr>
        <p:txBody>
          <a:bodyPr spcFirstLastPara="1" wrap="square" lIns="91425" tIns="45700" rIns="91425" bIns="45700" anchor="t" anchorCtr="0">
            <a:spAutoFit/>
          </a:bodyPr>
          <a:lstStyle/>
          <a:p>
            <a:pPr marL="0" marR="0" lvl="0" indent="0" algn="l" rtl="0">
              <a:lnSpc>
                <a:spcPct val="115000"/>
              </a:lnSpc>
              <a:spcBef>
                <a:spcPts val="0"/>
              </a:spcBef>
              <a:spcAft>
                <a:spcPts val="0"/>
              </a:spcAft>
              <a:buClr>
                <a:srgbClr val="000000"/>
              </a:buClr>
              <a:buSzPts val="1200"/>
              <a:buFont typeface="Arial"/>
              <a:buNone/>
            </a:pPr>
            <a:r>
              <a:rPr lang="ja" sz="1200" b="0" i="0" u="none" strike="noStrike" cap="none">
                <a:solidFill>
                  <a:schemeClr val="dk1"/>
                </a:solidFill>
                <a:latin typeface="Meiryo"/>
                <a:ea typeface="Meiryo"/>
                <a:cs typeface="Meiryo"/>
                <a:sym typeface="Meiryo"/>
              </a:rPr>
              <a:t>◆ワイン消費の市場規模</a:t>
            </a:r>
            <a:endParaRPr sz="12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100" b="0" i="0" u="none" strike="noStrike" cap="none">
                <a:solidFill>
                  <a:schemeClr val="dk1"/>
                </a:solidFill>
                <a:latin typeface="Meiryo"/>
                <a:ea typeface="Meiryo"/>
                <a:cs typeface="Meiryo"/>
                <a:sym typeface="Meiryo"/>
              </a:rPr>
              <a:t>　</a:t>
            </a:r>
            <a:endParaRPr sz="12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2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200"/>
              <a:buFont typeface="Arial"/>
              <a:buNone/>
            </a:pPr>
            <a:r>
              <a:rPr lang="ja" sz="1200" b="0" i="0" u="none" strike="noStrike" cap="none">
                <a:solidFill>
                  <a:schemeClr val="dk1"/>
                </a:solidFill>
                <a:latin typeface="Meiryo"/>
                <a:ea typeface="Meiryo"/>
                <a:cs typeface="Meiryo"/>
                <a:sym typeface="Meiryo"/>
              </a:rPr>
              <a:t>◆ワインのEC販売市場</a:t>
            </a:r>
            <a:endParaRPr sz="12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7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100" b="0" i="0" u="none" strike="noStrike" cap="none">
                <a:solidFill>
                  <a:schemeClr val="dk1"/>
                </a:solidFill>
                <a:latin typeface="Meiryo"/>
                <a:ea typeface="Meiryo"/>
                <a:cs typeface="Meiryo"/>
                <a:sym typeface="Meiryo"/>
              </a:rPr>
              <a:t>　→実店舗（小売店）での販売、飲食店での消費を含めると更に大きな市場といえる。</a:t>
            </a: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endParaRPr sz="1100" b="0" i="0" u="none" strike="noStrike" cap="none">
              <a:solidFill>
                <a:schemeClr val="dk1"/>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200"/>
              <a:buFont typeface="Arial"/>
              <a:buNone/>
            </a:pPr>
            <a:r>
              <a:rPr lang="ja" sz="1200" b="0" i="0" u="none" strike="noStrike" cap="none">
                <a:solidFill>
                  <a:schemeClr val="dk1"/>
                </a:solidFill>
                <a:latin typeface="Meiryo"/>
                <a:ea typeface="Meiryo"/>
                <a:cs typeface="Meiryo"/>
                <a:sym typeface="Meiryo"/>
              </a:rPr>
              <a:t>◆ワインオークション市場</a:t>
            </a:r>
            <a:endParaRPr sz="1100" b="0" i="0" u="none" strike="noStrike" cap="none">
              <a:solidFill>
                <a:schemeClr val="dk1"/>
              </a:solidFill>
              <a:latin typeface="Meiryo"/>
              <a:ea typeface="Meiryo"/>
              <a:cs typeface="Meiryo"/>
              <a:sym typeface="Meiryo"/>
            </a:endParaRPr>
          </a:p>
        </p:txBody>
      </p:sp>
      <p:sp>
        <p:nvSpPr>
          <p:cNvPr id="546" name="Google Shape;546;g394c85ad418_0_0"/>
          <p:cNvSpPr txBox="1"/>
          <p:nvPr/>
        </p:nvSpPr>
        <p:spPr>
          <a:xfrm>
            <a:off x="601350" y="1052478"/>
            <a:ext cx="73632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0" i="0" u="none" strike="noStrike" cap="none">
                <a:solidFill>
                  <a:schemeClr val="dk1"/>
                </a:solidFill>
                <a:latin typeface="Meiryo"/>
                <a:ea typeface="Meiryo"/>
                <a:cs typeface="Meiryo"/>
                <a:sym typeface="Meiryo"/>
              </a:rPr>
              <a:t>総消費額 </a:t>
            </a:r>
            <a:r>
              <a:rPr lang="ja" sz="1900" b="1" i="0" u="none" strike="noStrike" cap="none">
                <a:solidFill>
                  <a:srgbClr val="C68A65"/>
                </a:solidFill>
                <a:latin typeface="Meiryo"/>
                <a:ea typeface="Meiryo"/>
                <a:cs typeface="Meiryo"/>
                <a:sym typeface="Meiryo"/>
              </a:rPr>
              <a:t>約</a:t>
            </a:r>
            <a:r>
              <a:rPr lang="ja" sz="3000" b="1" i="0" u="none" strike="noStrike" cap="none">
                <a:solidFill>
                  <a:srgbClr val="C68A65"/>
                </a:solidFill>
                <a:latin typeface="Meiryo"/>
                <a:ea typeface="Meiryo"/>
                <a:cs typeface="Meiryo"/>
                <a:sym typeface="Meiryo"/>
              </a:rPr>
              <a:t>4.6</a:t>
            </a:r>
            <a:r>
              <a:rPr lang="ja" sz="1900" b="1" i="0" u="none" strike="noStrike" cap="none">
                <a:solidFill>
                  <a:srgbClr val="C68A65"/>
                </a:solidFill>
                <a:latin typeface="Meiryo"/>
                <a:ea typeface="Meiryo"/>
                <a:cs typeface="Meiryo"/>
                <a:sym typeface="Meiryo"/>
              </a:rPr>
              <a:t>兆円</a:t>
            </a:r>
            <a:r>
              <a:rPr lang="ja" sz="1400" b="0" i="0" u="none" strike="noStrike" cap="none">
                <a:solidFill>
                  <a:schemeClr val="dk1"/>
                </a:solidFill>
                <a:latin typeface="Meiryo"/>
                <a:ea typeface="Meiryo"/>
                <a:cs typeface="Meiryo"/>
                <a:sym typeface="Meiryo"/>
              </a:rPr>
              <a:t>*（全ワインの消費含む）　総消費量約</a:t>
            </a:r>
            <a:r>
              <a:rPr lang="ja" sz="3000" b="1" i="0" u="none" strike="noStrike" cap="none">
                <a:solidFill>
                  <a:srgbClr val="C68A65"/>
                </a:solidFill>
                <a:latin typeface="Meiryo"/>
                <a:ea typeface="Meiryo"/>
                <a:cs typeface="Meiryo"/>
                <a:sym typeface="Meiryo"/>
              </a:rPr>
              <a:t>33</a:t>
            </a:r>
            <a:r>
              <a:rPr lang="ja" sz="1900" b="1" i="0" u="none" strike="noStrike" cap="none">
                <a:solidFill>
                  <a:srgbClr val="C68A65"/>
                </a:solidFill>
                <a:latin typeface="Meiryo"/>
                <a:ea typeface="Meiryo"/>
                <a:cs typeface="Meiryo"/>
                <a:sym typeface="Meiryo"/>
              </a:rPr>
              <a:t>万kl</a:t>
            </a:r>
            <a:r>
              <a:rPr lang="ja" sz="1400" b="0" i="0" u="none" strike="noStrike" cap="none">
                <a:solidFill>
                  <a:schemeClr val="dk1"/>
                </a:solidFill>
                <a:latin typeface="Meiryo"/>
                <a:ea typeface="Meiryo"/>
                <a:cs typeface="Meiryo"/>
                <a:sym typeface="Meiryo"/>
              </a:rPr>
              <a:t>**</a:t>
            </a:r>
            <a:endParaRPr sz="1400" b="0" i="0" u="none" strike="noStrike" cap="none">
              <a:solidFill>
                <a:schemeClr val="dk1"/>
              </a:solidFill>
              <a:latin typeface="Meiryo"/>
              <a:ea typeface="Meiryo"/>
              <a:cs typeface="Meiryo"/>
              <a:sym typeface="Meiryo"/>
            </a:endParaRPr>
          </a:p>
        </p:txBody>
      </p:sp>
      <p:sp>
        <p:nvSpPr>
          <p:cNvPr id="547" name="Google Shape;547;g394c85ad418_0_0"/>
          <p:cNvSpPr txBox="1"/>
          <p:nvPr/>
        </p:nvSpPr>
        <p:spPr>
          <a:xfrm>
            <a:off x="610702" y="1477873"/>
            <a:ext cx="6160200" cy="4002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700"/>
              <a:buFont typeface="Arial"/>
              <a:buNone/>
            </a:pPr>
            <a:r>
              <a:rPr lang="ja" sz="700" b="0" i="0" u="none" strike="noStrike" cap="none">
                <a:solidFill>
                  <a:schemeClr val="dk2"/>
                </a:solidFill>
                <a:latin typeface="Meiryo"/>
                <a:ea typeface="Meiryo"/>
                <a:cs typeface="Meiryo"/>
                <a:sym typeface="Meiryo"/>
              </a:rPr>
              <a:t>*Japan Wine Market: Industry Trends, Share, Size, Growth, Opportunity and Forecast 2024-2033 / imarc</a:t>
            </a:r>
            <a:endParaRPr sz="700" b="0" i="0" u="none" strike="noStrike" cap="none">
              <a:solidFill>
                <a:schemeClr val="dk2"/>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700"/>
              <a:buFont typeface="Arial"/>
              <a:buNone/>
            </a:pPr>
            <a:r>
              <a:rPr lang="ja" sz="700" b="0" i="0" u="none" strike="noStrike" cap="none">
                <a:solidFill>
                  <a:schemeClr val="dk2"/>
                </a:solidFill>
                <a:latin typeface="Meiryo"/>
                <a:ea typeface="Meiryo"/>
                <a:cs typeface="Meiryo"/>
                <a:sym typeface="Meiryo"/>
              </a:rPr>
              <a:t>**酒のしおり（令和7年7月） 酒類販売（消費）数量の推移 / 国税庁</a:t>
            </a:r>
            <a:endParaRPr sz="700" b="0" i="0" u="none" strike="noStrike" cap="none">
              <a:solidFill>
                <a:schemeClr val="dk2"/>
              </a:solidFill>
              <a:latin typeface="Meiryo"/>
              <a:ea typeface="Meiryo"/>
              <a:cs typeface="Meiryo"/>
              <a:sym typeface="Meiryo"/>
            </a:endParaRPr>
          </a:p>
        </p:txBody>
      </p:sp>
      <p:sp>
        <p:nvSpPr>
          <p:cNvPr id="548" name="Google Shape;548;g394c85ad418_0_0"/>
          <p:cNvSpPr txBox="1"/>
          <p:nvPr/>
        </p:nvSpPr>
        <p:spPr>
          <a:xfrm>
            <a:off x="601350" y="2140060"/>
            <a:ext cx="46242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900" b="1" i="0" u="none" strike="noStrike" cap="none">
                <a:solidFill>
                  <a:srgbClr val="C68A65"/>
                </a:solidFill>
                <a:latin typeface="Meiryo"/>
                <a:ea typeface="Meiryo"/>
                <a:cs typeface="Meiryo"/>
                <a:sym typeface="Meiryo"/>
              </a:rPr>
              <a:t>約</a:t>
            </a:r>
            <a:r>
              <a:rPr lang="ja" sz="3000" b="1" i="0" u="none" strike="noStrike" cap="none">
                <a:solidFill>
                  <a:srgbClr val="C68A65"/>
                </a:solidFill>
                <a:latin typeface="Meiryo"/>
                <a:ea typeface="Meiryo"/>
                <a:cs typeface="Meiryo"/>
                <a:sym typeface="Meiryo"/>
              </a:rPr>
              <a:t>2,000</a:t>
            </a:r>
            <a:r>
              <a:rPr lang="ja" sz="1900" b="1" i="0" u="none" strike="noStrike" cap="none">
                <a:solidFill>
                  <a:srgbClr val="C68A65"/>
                </a:solidFill>
                <a:latin typeface="Meiryo"/>
                <a:ea typeface="Meiryo"/>
                <a:cs typeface="Meiryo"/>
                <a:sym typeface="Meiryo"/>
              </a:rPr>
              <a:t>億円</a:t>
            </a:r>
            <a:r>
              <a:rPr lang="ja" sz="1400" b="0" i="0" u="none" strike="noStrike" cap="none">
                <a:solidFill>
                  <a:schemeClr val="dk1"/>
                </a:solidFill>
                <a:latin typeface="Meiryo"/>
                <a:ea typeface="Meiryo"/>
                <a:cs typeface="Meiryo"/>
                <a:sym typeface="Meiryo"/>
              </a:rPr>
              <a:t>　※EC化率4.52%より算出</a:t>
            </a:r>
            <a:endParaRPr sz="1400" b="0" i="0" u="none" strike="noStrike" cap="none">
              <a:solidFill>
                <a:schemeClr val="dk1"/>
              </a:solidFill>
              <a:latin typeface="Meiryo"/>
              <a:ea typeface="Meiryo"/>
              <a:cs typeface="Meiryo"/>
              <a:sym typeface="Meiryo"/>
            </a:endParaRPr>
          </a:p>
        </p:txBody>
      </p:sp>
      <p:sp>
        <p:nvSpPr>
          <p:cNvPr id="549" name="Google Shape;549;g394c85ad418_0_0"/>
          <p:cNvSpPr txBox="1"/>
          <p:nvPr/>
        </p:nvSpPr>
        <p:spPr>
          <a:xfrm>
            <a:off x="610702" y="2547709"/>
            <a:ext cx="5630400" cy="2925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700"/>
              <a:buFont typeface="Arial"/>
              <a:buNone/>
            </a:pPr>
            <a:r>
              <a:rPr lang="ja" sz="700" b="0" i="0" u="none" strike="noStrike" cap="none">
                <a:solidFill>
                  <a:schemeClr val="dk2"/>
                </a:solidFill>
                <a:latin typeface="Meiryo"/>
                <a:ea typeface="Meiryo"/>
                <a:cs typeface="Meiryo"/>
                <a:sym typeface="Meiryo"/>
              </a:rPr>
              <a:t>「食品、飲料、酒類」のEC化率4.52%（令和6年度電子商取引に関する市場調査 / 経済産業省）</a:t>
            </a:r>
            <a:endParaRPr sz="700" b="0" i="0" u="none" strike="noStrike" cap="none">
              <a:solidFill>
                <a:schemeClr val="dk2"/>
              </a:solidFill>
              <a:latin typeface="Arial"/>
              <a:ea typeface="Arial"/>
              <a:cs typeface="Arial"/>
              <a:sym typeface="Arial"/>
            </a:endParaRPr>
          </a:p>
        </p:txBody>
      </p:sp>
      <p:sp>
        <p:nvSpPr>
          <p:cNvPr id="550" name="Google Shape;550;g394c85ad418_0_0"/>
          <p:cNvSpPr txBox="1"/>
          <p:nvPr/>
        </p:nvSpPr>
        <p:spPr>
          <a:xfrm>
            <a:off x="601350" y="3476120"/>
            <a:ext cx="6786600" cy="5541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900" b="1" i="0" u="none" strike="noStrike" cap="none">
                <a:solidFill>
                  <a:srgbClr val="C68A65"/>
                </a:solidFill>
                <a:latin typeface="Meiryo"/>
                <a:ea typeface="Meiryo"/>
                <a:cs typeface="Meiryo"/>
                <a:sym typeface="Meiryo"/>
              </a:rPr>
              <a:t>約</a:t>
            </a:r>
            <a:r>
              <a:rPr lang="ja" sz="3000" b="1" i="0" u="none" strike="noStrike" cap="none">
                <a:solidFill>
                  <a:srgbClr val="C68A65"/>
                </a:solidFill>
                <a:latin typeface="Meiryo"/>
                <a:ea typeface="Meiryo"/>
                <a:cs typeface="Meiryo"/>
                <a:sym typeface="Meiryo"/>
              </a:rPr>
              <a:t>25</a:t>
            </a:r>
            <a:r>
              <a:rPr lang="ja" sz="1900" b="1" i="0" u="none" strike="noStrike" cap="none">
                <a:solidFill>
                  <a:srgbClr val="C68A65"/>
                </a:solidFill>
                <a:latin typeface="Meiryo"/>
                <a:ea typeface="Meiryo"/>
                <a:cs typeface="Meiryo"/>
                <a:sym typeface="Meiryo"/>
              </a:rPr>
              <a:t>億円</a:t>
            </a:r>
            <a:r>
              <a:rPr lang="ja" sz="1400" b="0" i="0" u="none" strike="noStrike" cap="none">
                <a:solidFill>
                  <a:schemeClr val="dk1"/>
                </a:solidFill>
                <a:latin typeface="Meiryo"/>
                <a:ea typeface="Meiryo"/>
                <a:cs typeface="Meiryo"/>
                <a:sym typeface="Meiryo"/>
              </a:rPr>
              <a:t>　※Toplot・sinwa・yahooオークション落札実績より想定</a:t>
            </a:r>
            <a:endParaRPr sz="1400" b="0" i="0" u="none" strike="noStrike" cap="none">
              <a:solidFill>
                <a:schemeClr val="dk1"/>
              </a:solidFill>
              <a:latin typeface="Meiryo"/>
              <a:ea typeface="Meiryo"/>
              <a:cs typeface="Meiryo"/>
              <a:sym typeface="Meiryo"/>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554"/>
        <p:cNvGrpSpPr/>
        <p:nvPr/>
      </p:nvGrpSpPr>
      <p:grpSpPr>
        <a:xfrm>
          <a:off x="0" y="0"/>
          <a:ext cx="0" cy="0"/>
          <a:chOff x="0" y="0"/>
          <a:chExt cx="0" cy="0"/>
        </a:xfrm>
      </p:grpSpPr>
      <p:sp>
        <p:nvSpPr>
          <p:cNvPr id="555" name="Google Shape;555;g3980178eec2_0_5"/>
          <p:cNvSpPr/>
          <p:nvPr/>
        </p:nvSpPr>
        <p:spPr>
          <a:xfrm>
            <a:off x="3578535" y="1793301"/>
            <a:ext cx="1986900" cy="1855200"/>
          </a:xfrm>
          <a:prstGeom prst="rect">
            <a:avLst/>
          </a:prstGeom>
          <a:solidFill>
            <a:srgbClr val="5959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6" name="Google Shape;556;g3980178eec2_0_5"/>
          <p:cNvSpPr/>
          <p:nvPr/>
        </p:nvSpPr>
        <p:spPr>
          <a:xfrm>
            <a:off x="3664752" y="2728088"/>
            <a:ext cx="456000" cy="2373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7" name="Google Shape;557;g3980178eec2_0_5"/>
          <p:cNvSpPr/>
          <p:nvPr/>
        </p:nvSpPr>
        <p:spPr>
          <a:xfrm>
            <a:off x="4403123" y="1879511"/>
            <a:ext cx="340200" cy="507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8" name="Google Shape;558;g3980178eec2_0_5"/>
          <p:cNvSpPr/>
          <p:nvPr/>
        </p:nvSpPr>
        <p:spPr>
          <a:xfrm>
            <a:off x="3665621" y="1879511"/>
            <a:ext cx="711300" cy="507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59" name="Google Shape;559;g3980178eec2_0_5"/>
          <p:cNvSpPr/>
          <p:nvPr/>
        </p:nvSpPr>
        <p:spPr>
          <a:xfrm>
            <a:off x="4770575" y="1879511"/>
            <a:ext cx="693300" cy="507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0" name="Google Shape;560;g3980178eec2_0_5"/>
          <p:cNvSpPr/>
          <p:nvPr/>
        </p:nvSpPr>
        <p:spPr>
          <a:xfrm>
            <a:off x="3664754" y="2414782"/>
            <a:ext cx="456000" cy="285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1" name="Google Shape;561;g3980178eec2_0_5"/>
          <p:cNvSpPr/>
          <p:nvPr/>
        </p:nvSpPr>
        <p:spPr>
          <a:xfrm>
            <a:off x="5008937" y="2409467"/>
            <a:ext cx="456000" cy="219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2" name="Google Shape;562;g3980178eec2_0_5"/>
          <p:cNvSpPr/>
          <p:nvPr/>
        </p:nvSpPr>
        <p:spPr>
          <a:xfrm>
            <a:off x="5008937" y="2816909"/>
            <a:ext cx="456000" cy="1644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3" name="Google Shape;563;g3980178eec2_0_5"/>
          <p:cNvSpPr/>
          <p:nvPr/>
        </p:nvSpPr>
        <p:spPr>
          <a:xfrm>
            <a:off x="4226894" y="3058303"/>
            <a:ext cx="253800" cy="5070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4" name="Google Shape;564;g3980178eec2_0_5"/>
          <p:cNvSpPr/>
          <p:nvPr/>
        </p:nvSpPr>
        <p:spPr>
          <a:xfrm>
            <a:off x="3665624" y="2993723"/>
            <a:ext cx="533400" cy="571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5" name="Google Shape;565;g3980178eec2_0_5"/>
          <p:cNvSpPr/>
          <p:nvPr/>
        </p:nvSpPr>
        <p:spPr>
          <a:xfrm>
            <a:off x="4648858" y="3187076"/>
            <a:ext cx="815100" cy="3783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6" name="Google Shape;566;g3980178eec2_0_5"/>
          <p:cNvSpPr/>
          <p:nvPr/>
        </p:nvSpPr>
        <p:spPr>
          <a:xfrm>
            <a:off x="4770575" y="3002342"/>
            <a:ext cx="693300" cy="163500"/>
          </a:xfrm>
          <a:prstGeom prst="rect">
            <a:avLst/>
          </a:prstGeom>
          <a:solidFill>
            <a:schemeClr val="lt1"/>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7" name="Google Shape;567;g3980178eec2_0_5"/>
          <p:cNvSpPr/>
          <p:nvPr/>
        </p:nvSpPr>
        <p:spPr>
          <a:xfrm>
            <a:off x="4022731" y="2180407"/>
            <a:ext cx="1084200" cy="1084200"/>
          </a:xfrm>
          <a:prstGeom prst="ellipse">
            <a:avLst/>
          </a:prstGeom>
          <a:solidFill>
            <a:srgbClr val="595959"/>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68" name="Google Shape;568;g3980178eec2_0_5"/>
          <p:cNvSpPr/>
          <p:nvPr/>
        </p:nvSpPr>
        <p:spPr>
          <a:xfrm>
            <a:off x="4188305" y="2345982"/>
            <a:ext cx="753000" cy="753000"/>
          </a:xfrm>
          <a:prstGeom prst="ellipse">
            <a:avLst/>
          </a:prstGeom>
          <a:solidFill>
            <a:srgbClr val="757070"/>
          </a:solidFill>
          <a:ln w="28575" cap="flat" cmpd="sng">
            <a:solidFill>
              <a:schemeClr val="lt1"/>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800"/>
              <a:buFont typeface="Arial"/>
              <a:buNone/>
            </a:pPr>
            <a:r>
              <a:rPr lang="ja" sz="800" b="1" i="0" u="none" strike="noStrike" cap="none">
                <a:solidFill>
                  <a:schemeClr val="lt1"/>
                </a:solidFill>
                <a:latin typeface="Arial"/>
                <a:ea typeface="Arial"/>
                <a:cs typeface="Arial"/>
                <a:sym typeface="Arial"/>
              </a:rPr>
              <a:t>ワイン</a:t>
            </a:r>
            <a:endParaRPr sz="800" b="1" i="0" u="none" strike="noStrike" cap="none">
              <a:solidFill>
                <a:schemeClr val="lt1"/>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800"/>
              <a:buFont typeface="Arial"/>
              <a:buNone/>
            </a:pPr>
            <a:r>
              <a:rPr lang="ja" sz="800" b="1" i="0" u="none" strike="noStrike" cap="none">
                <a:solidFill>
                  <a:schemeClr val="lt1"/>
                </a:solidFill>
                <a:latin typeface="Arial"/>
                <a:ea typeface="Arial"/>
                <a:cs typeface="Arial"/>
                <a:sym typeface="Arial"/>
              </a:rPr>
              <a:t>セラー</a:t>
            </a:r>
            <a:endParaRPr sz="1100" b="0" i="0" u="none" strike="noStrike" cap="none">
              <a:solidFill>
                <a:srgbClr val="000000"/>
              </a:solidFill>
              <a:latin typeface="Arial"/>
              <a:ea typeface="Arial"/>
              <a:cs typeface="Arial"/>
              <a:sym typeface="Arial"/>
            </a:endParaRPr>
          </a:p>
        </p:txBody>
      </p:sp>
      <p:sp>
        <p:nvSpPr>
          <p:cNvPr id="569" name="Google Shape;569;g3980178eec2_0_5"/>
          <p:cNvSpPr/>
          <p:nvPr/>
        </p:nvSpPr>
        <p:spPr>
          <a:xfrm>
            <a:off x="3941580" y="2083960"/>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01</a:t>
            </a:r>
            <a:endParaRPr sz="600" b="1" i="0" u="none" strike="noStrike" cap="none">
              <a:solidFill>
                <a:schemeClr val="lt1"/>
              </a:solidFill>
              <a:latin typeface="Arial"/>
              <a:ea typeface="Arial"/>
              <a:cs typeface="Arial"/>
              <a:sym typeface="Arial"/>
            </a:endParaRPr>
          </a:p>
        </p:txBody>
      </p:sp>
      <p:sp>
        <p:nvSpPr>
          <p:cNvPr id="570" name="Google Shape;570;g3980178eec2_0_5"/>
          <p:cNvSpPr/>
          <p:nvPr/>
        </p:nvSpPr>
        <p:spPr>
          <a:xfrm>
            <a:off x="4493507" y="2007709"/>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02</a:t>
            </a:r>
            <a:endParaRPr sz="600" b="1" i="0" u="none" strike="noStrike" cap="none">
              <a:solidFill>
                <a:schemeClr val="lt1"/>
              </a:solidFill>
              <a:latin typeface="Arial"/>
              <a:ea typeface="Arial"/>
              <a:cs typeface="Arial"/>
              <a:sym typeface="Arial"/>
            </a:endParaRPr>
          </a:p>
        </p:txBody>
      </p:sp>
      <p:sp>
        <p:nvSpPr>
          <p:cNvPr id="571" name="Google Shape;571;g3980178eec2_0_5"/>
          <p:cNvSpPr/>
          <p:nvPr/>
        </p:nvSpPr>
        <p:spPr>
          <a:xfrm>
            <a:off x="5037494" y="2083960"/>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03</a:t>
            </a:r>
            <a:endParaRPr sz="600" b="1" i="0" u="none" strike="noStrike" cap="none">
              <a:solidFill>
                <a:schemeClr val="lt1"/>
              </a:solidFill>
              <a:latin typeface="Arial"/>
              <a:ea typeface="Arial"/>
              <a:cs typeface="Arial"/>
              <a:sym typeface="Arial"/>
            </a:endParaRPr>
          </a:p>
        </p:txBody>
      </p:sp>
      <p:sp>
        <p:nvSpPr>
          <p:cNvPr id="572" name="Google Shape;572;g3980178eec2_0_5"/>
          <p:cNvSpPr/>
          <p:nvPr/>
        </p:nvSpPr>
        <p:spPr>
          <a:xfrm>
            <a:off x="3759684" y="2508179"/>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11</a:t>
            </a:r>
            <a:endParaRPr sz="600" b="1" i="0" u="none" strike="noStrike" cap="none">
              <a:solidFill>
                <a:schemeClr val="lt1"/>
              </a:solidFill>
              <a:latin typeface="Arial"/>
              <a:ea typeface="Arial"/>
              <a:cs typeface="Arial"/>
              <a:sym typeface="Arial"/>
            </a:endParaRPr>
          </a:p>
        </p:txBody>
      </p:sp>
      <p:sp>
        <p:nvSpPr>
          <p:cNvPr id="573" name="Google Shape;573;g3980178eec2_0_5"/>
          <p:cNvSpPr/>
          <p:nvPr/>
        </p:nvSpPr>
        <p:spPr>
          <a:xfrm>
            <a:off x="5196893" y="2469823"/>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04</a:t>
            </a:r>
            <a:endParaRPr sz="600" b="1" i="0" u="none" strike="noStrike" cap="none">
              <a:solidFill>
                <a:schemeClr val="lt1"/>
              </a:solidFill>
              <a:latin typeface="Arial"/>
              <a:ea typeface="Arial"/>
              <a:cs typeface="Arial"/>
              <a:sym typeface="Arial"/>
            </a:endParaRPr>
          </a:p>
        </p:txBody>
      </p:sp>
      <p:sp>
        <p:nvSpPr>
          <p:cNvPr id="574" name="Google Shape;574;g3980178eec2_0_5"/>
          <p:cNvSpPr/>
          <p:nvPr/>
        </p:nvSpPr>
        <p:spPr>
          <a:xfrm>
            <a:off x="5196893" y="2850122"/>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05</a:t>
            </a:r>
            <a:endParaRPr sz="600" b="1" i="0" u="none" strike="noStrike" cap="none">
              <a:solidFill>
                <a:schemeClr val="lt1"/>
              </a:solidFill>
              <a:latin typeface="Arial"/>
              <a:ea typeface="Arial"/>
              <a:cs typeface="Arial"/>
              <a:sym typeface="Arial"/>
            </a:endParaRPr>
          </a:p>
        </p:txBody>
      </p:sp>
      <p:sp>
        <p:nvSpPr>
          <p:cNvPr id="575" name="Google Shape;575;g3980178eec2_0_5"/>
          <p:cNvSpPr/>
          <p:nvPr/>
        </p:nvSpPr>
        <p:spPr>
          <a:xfrm>
            <a:off x="5196893" y="3035008"/>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06</a:t>
            </a:r>
            <a:endParaRPr sz="600" b="1" i="0" u="none" strike="noStrike" cap="none">
              <a:solidFill>
                <a:schemeClr val="lt1"/>
              </a:solidFill>
              <a:latin typeface="Arial"/>
              <a:ea typeface="Arial"/>
              <a:cs typeface="Arial"/>
              <a:sym typeface="Arial"/>
            </a:endParaRPr>
          </a:p>
        </p:txBody>
      </p:sp>
      <p:sp>
        <p:nvSpPr>
          <p:cNvPr id="576" name="Google Shape;576;g3980178eec2_0_5"/>
          <p:cNvSpPr/>
          <p:nvPr/>
        </p:nvSpPr>
        <p:spPr>
          <a:xfrm>
            <a:off x="4976634" y="3327139"/>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07</a:t>
            </a:r>
            <a:endParaRPr sz="600" b="1" i="0" u="none" strike="noStrike" cap="none">
              <a:solidFill>
                <a:schemeClr val="lt1"/>
              </a:solidFill>
              <a:latin typeface="Arial"/>
              <a:ea typeface="Arial"/>
              <a:cs typeface="Arial"/>
              <a:sym typeface="Arial"/>
            </a:endParaRPr>
          </a:p>
        </p:txBody>
      </p:sp>
      <p:sp>
        <p:nvSpPr>
          <p:cNvPr id="577" name="Google Shape;577;g3980178eec2_0_5"/>
          <p:cNvSpPr/>
          <p:nvPr/>
        </p:nvSpPr>
        <p:spPr>
          <a:xfrm>
            <a:off x="4274037" y="3361545"/>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08</a:t>
            </a:r>
            <a:endParaRPr sz="600" b="1" i="0" u="none" strike="noStrike" cap="none">
              <a:solidFill>
                <a:schemeClr val="lt1"/>
              </a:solidFill>
              <a:latin typeface="Arial"/>
              <a:ea typeface="Arial"/>
              <a:cs typeface="Arial"/>
              <a:sym typeface="Arial"/>
            </a:endParaRPr>
          </a:p>
        </p:txBody>
      </p:sp>
      <p:sp>
        <p:nvSpPr>
          <p:cNvPr id="578" name="Google Shape;578;g3980178eec2_0_5"/>
          <p:cNvSpPr/>
          <p:nvPr/>
        </p:nvSpPr>
        <p:spPr>
          <a:xfrm>
            <a:off x="3852644" y="3230462"/>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09</a:t>
            </a:r>
            <a:endParaRPr sz="600" b="1" i="0" u="none" strike="noStrike" cap="none">
              <a:solidFill>
                <a:schemeClr val="lt1"/>
              </a:solidFill>
              <a:latin typeface="Arial"/>
              <a:ea typeface="Arial"/>
              <a:cs typeface="Arial"/>
              <a:sym typeface="Arial"/>
            </a:endParaRPr>
          </a:p>
        </p:txBody>
      </p:sp>
      <p:sp>
        <p:nvSpPr>
          <p:cNvPr id="579" name="Google Shape;579;g3980178eec2_0_5"/>
          <p:cNvSpPr txBox="1"/>
          <p:nvPr/>
        </p:nvSpPr>
        <p:spPr>
          <a:xfrm>
            <a:off x="4325572" y="3100049"/>
            <a:ext cx="478500" cy="161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回遊通路</a:t>
            </a:r>
            <a:endParaRPr sz="600" b="1" i="0" u="none" strike="noStrike" cap="none">
              <a:solidFill>
                <a:schemeClr val="lt1"/>
              </a:solidFill>
              <a:latin typeface="Arial"/>
              <a:ea typeface="Arial"/>
              <a:cs typeface="Arial"/>
              <a:sym typeface="Arial"/>
            </a:endParaRPr>
          </a:p>
        </p:txBody>
      </p:sp>
      <p:sp>
        <p:nvSpPr>
          <p:cNvPr id="580" name="Google Shape;580;g3980178eec2_0_5"/>
          <p:cNvSpPr txBox="1"/>
          <p:nvPr/>
        </p:nvSpPr>
        <p:spPr>
          <a:xfrm>
            <a:off x="3925888" y="3650471"/>
            <a:ext cx="1297500" cy="1923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chemeClr val="dk1"/>
              </a:buClr>
              <a:buSzPts val="800"/>
              <a:buFont typeface="Arial"/>
              <a:buNone/>
            </a:pPr>
            <a:r>
              <a:rPr lang="ja" sz="800" b="0" i="0" u="none" strike="noStrike" cap="none">
                <a:solidFill>
                  <a:schemeClr val="dk1"/>
                </a:solidFill>
                <a:latin typeface="Arial"/>
                <a:ea typeface="Arial"/>
                <a:cs typeface="Arial"/>
                <a:sym typeface="Arial"/>
              </a:rPr>
              <a:t>フロア平面イメージ</a:t>
            </a:r>
            <a:endParaRPr sz="1100" b="0" i="0" u="none" strike="noStrike" cap="none">
              <a:solidFill>
                <a:srgbClr val="000000"/>
              </a:solidFill>
              <a:latin typeface="Arial"/>
              <a:ea typeface="Arial"/>
              <a:cs typeface="Arial"/>
              <a:sym typeface="Arial"/>
            </a:endParaRPr>
          </a:p>
        </p:txBody>
      </p:sp>
      <p:sp>
        <p:nvSpPr>
          <p:cNvPr id="581" name="Google Shape;581;g3980178eec2_0_5"/>
          <p:cNvSpPr/>
          <p:nvPr/>
        </p:nvSpPr>
        <p:spPr>
          <a:xfrm>
            <a:off x="529604" y="632054"/>
            <a:ext cx="8084700" cy="919800"/>
          </a:xfrm>
          <a:prstGeom prst="rect">
            <a:avLst/>
          </a:prstGeom>
          <a:solidFill>
            <a:srgbClr val="EDEDED"/>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82" name="Google Shape;582;g3980178eec2_0_5"/>
          <p:cNvSpPr txBox="1"/>
          <p:nvPr/>
        </p:nvSpPr>
        <p:spPr>
          <a:xfrm>
            <a:off x="22038" y="106481"/>
            <a:ext cx="4668000" cy="300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 sz="1500" b="1" i="0" u="none" strike="noStrike" cap="none">
                <a:solidFill>
                  <a:schemeClr val="dk1"/>
                </a:solidFill>
                <a:latin typeface="Arial"/>
                <a:ea typeface="Arial"/>
                <a:cs typeface="Arial"/>
                <a:sym typeface="Arial"/>
              </a:rPr>
              <a:t>次世代型ワイン卸業×ワイン流通業</a:t>
            </a:r>
            <a:endParaRPr sz="1100" b="0" i="0" u="none" strike="noStrike" cap="none">
              <a:solidFill>
                <a:srgbClr val="000000"/>
              </a:solidFill>
              <a:latin typeface="Arial"/>
              <a:ea typeface="Arial"/>
              <a:cs typeface="Arial"/>
              <a:sym typeface="Arial"/>
            </a:endParaRPr>
          </a:p>
        </p:txBody>
      </p:sp>
      <p:pic>
        <p:nvPicPr>
          <p:cNvPr id="583" name="Google Shape;583;g3980178eec2_0_5"/>
          <p:cNvPicPr preferRelativeResize="0"/>
          <p:nvPr/>
        </p:nvPicPr>
        <p:blipFill rotWithShape="1">
          <a:blip r:embed="rId3">
            <a:alphaModFix/>
          </a:blip>
          <a:srcRect/>
          <a:stretch/>
        </p:blipFill>
        <p:spPr>
          <a:xfrm>
            <a:off x="554392" y="1984008"/>
            <a:ext cx="2573178" cy="1716792"/>
          </a:xfrm>
          <a:prstGeom prst="rect">
            <a:avLst/>
          </a:prstGeom>
          <a:noFill/>
          <a:ln>
            <a:noFill/>
          </a:ln>
        </p:spPr>
      </p:pic>
      <p:sp>
        <p:nvSpPr>
          <p:cNvPr id="584" name="Google Shape;584;g3980178eec2_0_5"/>
          <p:cNvSpPr txBox="1"/>
          <p:nvPr/>
        </p:nvSpPr>
        <p:spPr>
          <a:xfrm>
            <a:off x="683150" y="630475"/>
            <a:ext cx="7931100" cy="903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900"/>
              <a:buFont typeface="Arial"/>
              <a:buNone/>
            </a:pPr>
            <a:r>
              <a:rPr lang="ja" sz="900" b="0" i="0" u="none" strike="noStrike" cap="none">
                <a:solidFill>
                  <a:schemeClr val="dk1"/>
                </a:solidFill>
                <a:latin typeface="Arial"/>
                <a:ea typeface="Arial"/>
                <a:cs typeface="Arial"/>
                <a:sym typeface="Arial"/>
              </a:rPr>
              <a:t>コンセプト</a:t>
            </a:r>
            <a:endParaRPr sz="900" b="0"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rgbClr val="1F3864"/>
              </a:buClr>
              <a:buSzPts val="1400"/>
              <a:buFont typeface="Arial"/>
              <a:buNone/>
            </a:pPr>
            <a:r>
              <a:rPr lang="ja" sz="1400" b="1" i="0" u="none" strike="noStrike" cap="none">
                <a:solidFill>
                  <a:srgbClr val="1F3864"/>
                </a:solidFill>
                <a:latin typeface="Arial"/>
                <a:ea typeface="Arial"/>
                <a:cs typeface="Arial"/>
                <a:sym typeface="Arial"/>
              </a:rPr>
              <a:t>『大型ウォークインワインセラーを目玉とした、セラー在庫共有型フードホール』</a:t>
            </a:r>
            <a:endParaRPr sz="1100" b="0" i="0" u="none" strike="noStrike" cap="none">
              <a:solidFill>
                <a:srgbClr val="000000"/>
              </a:solidFill>
              <a:latin typeface="Arial"/>
              <a:ea typeface="Arial"/>
              <a:cs typeface="Arial"/>
              <a:sym typeface="Arial"/>
            </a:endParaRPr>
          </a:p>
          <a:p>
            <a:pPr marL="0" marR="0" lvl="0" indent="0" algn="l" rtl="0">
              <a:lnSpc>
                <a:spcPct val="100000"/>
              </a:lnSpc>
              <a:spcBef>
                <a:spcPts val="500"/>
              </a:spcBef>
              <a:spcAft>
                <a:spcPts val="0"/>
              </a:spcAft>
              <a:buClr>
                <a:schemeClr val="dk1"/>
              </a:buClr>
              <a:buSzPts val="900"/>
              <a:buFont typeface="Arial"/>
              <a:buNone/>
            </a:pPr>
            <a:r>
              <a:rPr lang="ja" sz="900" b="0" i="0" u="none" strike="noStrike" cap="none">
                <a:solidFill>
                  <a:schemeClr val="dk1"/>
                </a:solidFill>
                <a:latin typeface="Arial"/>
                <a:ea typeface="Arial"/>
                <a:cs typeface="Arial"/>
                <a:sym typeface="Arial"/>
              </a:rPr>
              <a:t>フロア中央に数千本規模の大型ウォークインワインセラーは設置し、360度にわたってワインセラーを囲むようにワイン専門飲食店の区画を複数配置。</a:t>
            </a:r>
            <a:endParaRPr sz="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900"/>
              <a:buFont typeface="Arial"/>
              <a:buNone/>
            </a:pPr>
            <a:r>
              <a:rPr lang="ja" sz="900" b="0" i="0" u="none" strike="noStrike" cap="none">
                <a:solidFill>
                  <a:schemeClr val="dk1"/>
                </a:solidFill>
                <a:latin typeface="Arial"/>
                <a:ea typeface="Arial"/>
                <a:cs typeface="Arial"/>
                <a:sym typeface="Arial"/>
              </a:rPr>
              <a:t>各飲食店は大型セラーの豊富な在庫からいつでもワインを購入でき、セラー在庫共有による経済合理性と豪華な景観を兼ね備えた、</a:t>
            </a:r>
            <a:endParaRPr sz="9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C00000"/>
              </a:buClr>
              <a:buSzPts val="900"/>
              <a:buFont typeface="Arial"/>
              <a:buNone/>
            </a:pPr>
            <a:r>
              <a:rPr lang="ja" sz="900" b="1" i="0" u="none" strike="noStrike" cap="none">
                <a:solidFill>
                  <a:srgbClr val="C00000"/>
                </a:solidFill>
                <a:latin typeface="Arial"/>
                <a:ea typeface="Arial"/>
                <a:cs typeface="Arial"/>
                <a:sym typeface="Arial"/>
              </a:rPr>
              <a:t>消費者・出店者・商業施設にとってWin-Winなフードホール</a:t>
            </a:r>
            <a:r>
              <a:rPr lang="ja" sz="900" b="0" i="0" u="none" strike="noStrike" cap="none">
                <a:solidFill>
                  <a:schemeClr val="dk1"/>
                </a:solidFill>
                <a:latin typeface="Arial"/>
                <a:ea typeface="Arial"/>
                <a:cs typeface="Arial"/>
                <a:sym typeface="Arial"/>
              </a:rPr>
              <a:t>をご提案します。　※ワインに限らず酒類全般</a:t>
            </a:r>
            <a:endParaRPr sz="900" b="0" i="0" u="none" strike="noStrike" cap="none">
              <a:solidFill>
                <a:schemeClr val="dk1"/>
              </a:solidFill>
              <a:latin typeface="Arial"/>
              <a:ea typeface="Arial"/>
              <a:cs typeface="Arial"/>
              <a:sym typeface="Arial"/>
            </a:endParaRPr>
          </a:p>
        </p:txBody>
      </p:sp>
      <p:cxnSp>
        <p:nvCxnSpPr>
          <p:cNvPr id="585" name="Google Shape;585;g3980178eec2_0_5"/>
          <p:cNvCxnSpPr/>
          <p:nvPr/>
        </p:nvCxnSpPr>
        <p:spPr>
          <a:xfrm rot="10800000">
            <a:off x="3186067" y="1865744"/>
            <a:ext cx="1089900" cy="784200"/>
          </a:xfrm>
          <a:prstGeom prst="straightConnector1">
            <a:avLst/>
          </a:prstGeom>
          <a:noFill/>
          <a:ln w="21425" cap="flat" cmpd="sng">
            <a:solidFill>
              <a:schemeClr val="dk1"/>
            </a:solidFill>
            <a:prstDash val="solid"/>
            <a:miter lim="80"/>
            <a:headEnd type="oval" w="med" len="med"/>
            <a:tailEnd type="none" w="sm" len="sm"/>
          </a:ln>
        </p:spPr>
      </p:cxnSp>
      <p:sp>
        <p:nvSpPr>
          <p:cNvPr id="586" name="Google Shape;586;g3980178eec2_0_5"/>
          <p:cNvSpPr txBox="1"/>
          <p:nvPr/>
        </p:nvSpPr>
        <p:spPr>
          <a:xfrm>
            <a:off x="6246500" y="3181929"/>
            <a:ext cx="2774100" cy="561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FF0000"/>
                </a:solidFill>
                <a:latin typeface="Arial"/>
                <a:ea typeface="Arial"/>
                <a:cs typeface="Arial"/>
                <a:sym typeface="Arial"/>
              </a:rPr>
              <a:t>※</a:t>
            </a:r>
            <a:r>
              <a:rPr lang="ja" sz="800" b="1" i="0" u="none" strike="noStrike" cap="none">
                <a:solidFill>
                  <a:srgbClr val="FF0000"/>
                </a:solidFill>
                <a:latin typeface="Arial"/>
                <a:ea typeface="Arial"/>
                <a:cs typeface="Arial"/>
                <a:sym typeface="Arial"/>
              </a:rPr>
              <a:t>商業施設全体（レジデンス含め）にも卸値で</a:t>
            </a:r>
            <a:endParaRPr sz="800" b="1" i="0" u="none" strike="noStrike" cap="none">
              <a:solidFill>
                <a:srgbClr val="FF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FF0000"/>
                </a:solidFill>
                <a:latin typeface="Arial"/>
                <a:ea typeface="Arial"/>
                <a:cs typeface="Arial"/>
                <a:sym typeface="Arial"/>
              </a:rPr>
              <a:t>　ワインを販売</a:t>
            </a:r>
            <a:r>
              <a:rPr lang="ja" sz="800" b="0" i="0" u="none" strike="noStrike" cap="none">
                <a:solidFill>
                  <a:schemeClr val="dk1"/>
                </a:solidFill>
                <a:latin typeface="Arial"/>
                <a:ea typeface="Arial"/>
                <a:cs typeface="Arial"/>
                <a:sym typeface="Arial"/>
              </a:rPr>
              <a:t>することで、施設全体の活性化・</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chemeClr val="dk1"/>
                </a:solidFill>
                <a:latin typeface="Arial"/>
                <a:ea typeface="Arial"/>
                <a:cs typeface="Arial"/>
                <a:sym typeface="Arial"/>
              </a:rPr>
              <a:t>　経済合理性の向上も期待できる。</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endParaRPr sz="800" b="0" i="0" u="none" strike="noStrike" cap="none">
              <a:solidFill>
                <a:schemeClr val="dk1"/>
              </a:solidFill>
              <a:latin typeface="Arial"/>
              <a:ea typeface="Arial"/>
              <a:cs typeface="Arial"/>
              <a:sym typeface="Arial"/>
            </a:endParaRPr>
          </a:p>
        </p:txBody>
      </p:sp>
      <p:sp>
        <p:nvSpPr>
          <p:cNvPr id="587" name="Google Shape;587;g3980178eec2_0_5"/>
          <p:cNvSpPr txBox="1"/>
          <p:nvPr/>
        </p:nvSpPr>
        <p:spPr>
          <a:xfrm>
            <a:off x="4056309" y="4167175"/>
            <a:ext cx="1031400" cy="7620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chemeClr val="dk1"/>
              </a:buClr>
              <a:buSzPts val="900"/>
              <a:buFont typeface="Arial"/>
              <a:buNone/>
            </a:pPr>
            <a:r>
              <a:rPr lang="ja" sz="900" b="1" i="0" u="none" strike="noStrike" cap="none">
                <a:solidFill>
                  <a:schemeClr val="dk1"/>
                </a:solidFill>
                <a:latin typeface="Arial"/>
                <a:ea typeface="Arial"/>
                <a:cs typeface="Arial"/>
                <a:sym typeface="Arial"/>
              </a:rPr>
              <a:t>Win-Winな</a:t>
            </a:r>
            <a:endParaRPr sz="9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900"/>
              <a:buFont typeface="Arial"/>
              <a:buNone/>
            </a:pPr>
            <a:r>
              <a:rPr lang="ja" sz="900" b="1" i="0" u="none" strike="noStrike" cap="none">
                <a:solidFill>
                  <a:schemeClr val="dk1"/>
                </a:solidFill>
                <a:latin typeface="Arial"/>
                <a:ea typeface="Arial"/>
                <a:cs typeface="Arial"/>
                <a:sym typeface="Arial"/>
              </a:rPr>
              <a:t>事業モデル</a:t>
            </a:r>
            <a:endParaRPr sz="900" b="1" i="0" u="none" strike="noStrike" cap="none">
              <a:solidFill>
                <a:schemeClr val="dk1"/>
              </a:solidFill>
              <a:latin typeface="Arial"/>
              <a:ea typeface="Arial"/>
              <a:cs typeface="Arial"/>
              <a:sym typeface="Arial"/>
            </a:endParaRPr>
          </a:p>
          <a:p>
            <a:pPr marL="0" marR="0" lvl="0" indent="0" algn="ctr" rtl="0">
              <a:lnSpc>
                <a:spcPct val="100000"/>
              </a:lnSpc>
              <a:spcBef>
                <a:spcPts val="0"/>
              </a:spcBef>
              <a:spcAft>
                <a:spcPts val="0"/>
              </a:spcAft>
              <a:buClr>
                <a:schemeClr val="dk1"/>
              </a:buClr>
              <a:buSzPts val="2700"/>
              <a:buFont typeface="Arial"/>
              <a:buNone/>
            </a:pPr>
            <a:r>
              <a:rPr lang="ja" sz="2700" b="1" i="0" u="none" strike="noStrike" cap="none">
                <a:solidFill>
                  <a:schemeClr val="dk1"/>
                </a:solidFill>
                <a:latin typeface="Arial"/>
                <a:ea typeface="Arial"/>
                <a:cs typeface="Arial"/>
                <a:sym typeface="Arial"/>
              </a:rPr>
              <a:t>×</a:t>
            </a:r>
            <a:endParaRPr sz="800" b="1" i="0" u="none" strike="noStrike" cap="none">
              <a:solidFill>
                <a:schemeClr val="dk1"/>
              </a:solidFill>
              <a:latin typeface="Arial"/>
              <a:ea typeface="Arial"/>
              <a:cs typeface="Arial"/>
              <a:sym typeface="Arial"/>
            </a:endParaRPr>
          </a:p>
        </p:txBody>
      </p:sp>
      <p:grpSp>
        <p:nvGrpSpPr>
          <p:cNvPr id="588" name="Google Shape;588;g3980178eec2_0_5"/>
          <p:cNvGrpSpPr/>
          <p:nvPr/>
        </p:nvGrpSpPr>
        <p:grpSpPr>
          <a:xfrm>
            <a:off x="481664" y="3995104"/>
            <a:ext cx="8188861" cy="1062000"/>
            <a:chOff x="612376" y="5220930"/>
            <a:chExt cx="10918482" cy="1416000"/>
          </a:xfrm>
        </p:grpSpPr>
        <p:grpSp>
          <p:nvGrpSpPr>
            <p:cNvPr id="589" name="Google Shape;589;g3980178eec2_0_5"/>
            <p:cNvGrpSpPr/>
            <p:nvPr/>
          </p:nvGrpSpPr>
          <p:grpSpPr>
            <a:xfrm>
              <a:off x="612376" y="5220930"/>
              <a:ext cx="4815901" cy="1416000"/>
              <a:chOff x="7055132" y="2739475"/>
              <a:chExt cx="4815901" cy="1416000"/>
            </a:xfrm>
          </p:grpSpPr>
          <p:sp>
            <p:nvSpPr>
              <p:cNvPr id="590" name="Google Shape;590;g3980178eec2_0_5"/>
              <p:cNvSpPr/>
              <p:nvPr/>
            </p:nvSpPr>
            <p:spPr>
              <a:xfrm>
                <a:off x="7055133" y="2739475"/>
                <a:ext cx="4815900" cy="1416000"/>
              </a:xfrm>
              <a:prstGeom prst="rect">
                <a:avLst/>
              </a:prstGeom>
              <a:noFill/>
              <a:ln w="21425" cap="flat" cmpd="sng">
                <a:solidFill>
                  <a:srgbClr val="2E75B5"/>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91" name="Google Shape;591;g3980178eec2_0_5"/>
              <p:cNvSpPr txBox="1"/>
              <p:nvPr/>
            </p:nvSpPr>
            <p:spPr>
              <a:xfrm>
                <a:off x="7135499" y="3082902"/>
                <a:ext cx="1426500" cy="338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0070C0"/>
                    </a:solidFill>
                    <a:latin typeface="Arial"/>
                    <a:ea typeface="Arial"/>
                    <a:cs typeface="Arial"/>
                    <a:sym typeface="Arial"/>
                  </a:rPr>
                  <a:t>①経済合理性</a:t>
                </a:r>
                <a:endParaRPr sz="1200" b="1" i="0" u="none" strike="noStrike" cap="none">
                  <a:solidFill>
                    <a:srgbClr val="0070C0"/>
                  </a:solidFill>
                  <a:latin typeface="Arial"/>
                  <a:ea typeface="Arial"/>
                  <a:cs typeface="Arial"/>
                  <a:sym typeface="Arial"/>
                </a:endParaRPr>
              </a:p>
            </p:txBody>
          </p:sp>
          <p:sp>
            <p:nvSpPr>
              <p:cNvPr id="592" name="Google Shape;592;g3980178eec2_0_5"/>
              <p:cNvSpPr txBox="1"/>
              <p:nvPr/>
            </p:nvSpPr>
            <p:spPr>
              <a:xfrm>
                <a:off x="7055132" y="2739475"/>
                <a:ext cx="4815900" cy="276900"/>
              </a:xfrm>
              <a:prstGeom prst="rect">
                <a:avLst/>
              </a:prstGeom>
              <a:solidFill>
                <a:srgbClr val="2E75B5"/>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a:solidFill>
                      <a:schemeClr val="lt1"/>
                    </a:solidFill>
                    <a:latin typeface="Arial"/>
                    <a:ea typeface="Arial"/>
                    <a:cs typeface="Arial"/>
                    <a:sym typeface="Arial"/>
                  </a:rPr>
                  <a:t>出店者</a:t>
                </a:r>
                <a:endParaRPr sz="900" b="0" i="0" u="none" strike="noStrike" cap="none">
                  <a:solidFill>
                    <a:schemeClr val="lt1"/>
                  </a:solidFill>
                  <a:latin typeface="Arial"/>
                  <a:ea typeface="Arial"/>
                  <a:cs typeface="Arial"/>
                  <a:sym typeface="Arial"/>
                </a:endParaRPr>
              </a:p>
            </p:txBody>
          </p:sp>
          <p:sp>
            <p:nvSpPr>
              <p:cNvPr id="593" name="Google Shape;593;g3980178eec2_0_5"/>
              <p:cNvSpPr txBox="1"/>
              <p:nvPr/>
            </p:nvSpPr>
            <p:spPr>
              <a:xfrm>
                <a:off x="7140579" y="3447469"/>
                <a:ext cx="1509000" cy="585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ワインが</a:t>
                </a:r>
                <a:endParaRPr sz="8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C00000"/>
                    </a:solidFill>
                    <a:latin typeface="Arial"/>
                    <a:ea typeface="Arial"/>
                    <a:cs typeface="Arial"/>
                    <a:sym typeface="Arial"/>
                  </a:rPr>
                  <a:t>卸値～ネット最安値</a:t>
                </a:r>
                <a:endParaRPr sz="8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で即時購入できる</a:t>
                </a:r>
                <a:endParaRPr sz="800" b="0" i="0" u="none" strike="noStrike" cap="none">
                  <a:solidFill>
                    <a:schemeClr val="dk1"/>
                  </a:solidFill>
                  <a:latin typeface="Arial"/>
                  <a:ea typeface="Arial"/>
                  <a:cs typeface="Arial"/>
                  <a:sym typeface="Arial"/>
                </a:endParaRPr>
              </a:p>
            </p:txBody>
          </p:sp>
          <p:grpSp>
            <p:nvGrpSpPr>
              <p:cNvPr id="594" name="Google Shape;594;g3980178eec2_0_5"/>
              <p:cNvGrpSpPr/>
              <p:nvPr/>
            </p:nvGrpSpPr>
            <p:grpSpPr>
              <a:xfrm>
                <a:off x="8663939" y="3170010"/>
                <a:ext cx="1598291" cy="900085"/>
                <a:chOff x="8469037" y="3234502"/>
                <a:chExt cx="1655402" cy="748200"/>
              </a:xfrm>
            </p:grpSpPr>
            <p:cxnSp>
              <p:nvCxnSpPr>
                <p:cNvPr id="595" name="Google Shape;595;g3980178eec2_0_5"/>
                <p:cNvCxnSpPr/>
                <p:nvPr/>
              </p:nvCxnSpPr>
              <p:spPr>
                <a:xfrm>
                  <a:off x="8469037" y="3234502"/>
                  <a:ext cx="0" cy="748200"/>
                </a:xfrm>
                <a:prstGeom prst="straightConnector1">
                  <a:avLst/>
                </a:prstGeom>
                <a:noFill/>
                <a:ln w="14300" cap="flat" cmpd="sng">
                  <a:solidFill>
                    <a:srgbClr val="BFBFBF"/>
                  </a:solidFill>
                  <a:prstDash val="solid"/>
                  <a:miter lim="80"/>
                  <a:headEnd type="none" w="sm" len="sm"/>
                  <a:tailEnd type="none" w="sm" len="sm"/>
                </a:ln>
              </p:spPr>
            </p:cxnSp>
            <p:cxnSp>
              <p:nvCxnSpPr>
                <p:cNvPr id="596" name="Google Shape;596;g3980178eec2_0_5"/>
                <p:cNvCxnSpPr/>
                <p:nvPr/>
              </p:nvCxnSpPr>
              <p:spPr>
                <a:xfrm>
                  <a:off x="10124439" y="3234502"/>
                  <a:ext cx="0" cy="748200"/>
                </a:xfrm>
                <a:prstGeom prst="straightConnector1">
                  <a:avLst/>
                </a:prstGeom>
                <a:noFill/>
                <a:ln w="14300" cap="flat" cmpd="sng">
                  <a:solidFill>
                    <a:srgbClr val="BFBFBF"/>
                  </a:solidFill>
                  <a:prstDash val="solid"/>
                  <a:miter lim="80"/>
                  <a:headEnd type="none" w="sm" len="sm"/>
                  <a:tailEnd type="none" w="sm" len="sm"/>
                </a:ln>
              </p:spPr>
            </p:cxnSp>
          </p:grpSp>
          <p:sp>
            <p:nvSpPr>
              <p:cNvPr id="597" name="Google Shape;597;g3980178eec2_0_5"/>
              <p:cNvSpPr txBox="1"/>
              <p:nvPr/>
            </p:nvSpPr>
            <p:spPr>
              <a:xfrm>
                <a:off x="8928080" y="3082902"/>
                <a:ext cx="1073400" cy="338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0070C0"/>
                    </a:solidFill>
                    <a:latin typeface="Arial"/>
                    <a:ea typeface="Arial"/>
                    <a:cs typeface="Arial"/>
                    <a:sym typeface="Arial"/>
                  </a:rPr>
                  <a:t>②CF改善</a:t>
                </a:r>
                <a:endParaRPr sz="1200" b="1" i="0" u="none" strike="noStrike" cap="none">
                  <a:solidFill>
                    <a:srgbClr val="0070C0"/>
                  </a:solidFill>
                  <a:latin typeface="Arial"/>
                  <a:ea typeface="Arial"/>
                  <a:cs typeface="Arial"/>
                  <a:sym typeface="Arial"/>
                </a:endParaRPr>
              </a:p>
            </p:txBody>
          </p:sp>
          <p:sp>
            <p:nvSpPr>
              <p:cNvPr id="598" name="Google Shape;598;g3980178eec2_0_5"/>
              <p:cNvSpPr txBox="1"/>
              <p:nvPr/>
            </p:nvSpPr>
            <p:spPr>
              <a:xfrm>
                <a:off x="10524467" y="3082902"/>
                <a:ext cx="1073400" cy="338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0070C0"/>
                    </a:solidFill>
                    <a:latin typeface="Arial"/>
                    <a:ea typeface="Arial"/>
                    <a:cs typeface="Arial"/>
                    <a:sym typeface="Arial"/>
                  </a:rPr>
                  <a:t>③集客力</a:t>
                </a:r>
                <a:endParaRPr sz="1200" b="1" i="0" u="none" strike="noStrike" cap="none">
                  <a:solidFill>
                    <a:srgbClr val="0070C0"/>
                  </a:solidFill>
                  <a:latin typeface="Arial"/>
                  <a:ea typeface="Arial"/>
                  <a:cs typeface="Arial"/>
                  <a:sym typeface="Arial"/>
                </a:endParaRPr>
              </a:p>
            </p:txBody>
          </p:sp>
          <p:sp>
            <p:nvSpPr>
              <p:cNvPr id="599" name="Google Shape;599;g3980178eec2_0_5"/>
              <p:cNvSpPr txBox="1"/>
              <p:nvPr/>
            </p:nvSpPr>
            <p:spPr>
              <a:xfrm>
                <a:off x="8811982" y="3447470"/>
                <a:ext cx="1453200" cy="585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購入した分の支払い</a:t>
                </a:r>
                <a:endParaRPr sz="8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になるため</a:t>
                </a:r>
                <a:endParaRPr sz="8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C00000"/>
                    </a:solidFill>
                    <a:latin typeface="Arial"/>
                    <a:ea typeface="Arial"/>
                    <a:cs typeface="Arial"/>
                    <a:sym typeface="Arial"/>
                  </a:rPr>
                  <a:t>店内在庫が不要</a:t>
                </a:r>
                <a:endParaRPr sz="800" b="1" i="0" u="none" strike="noStrike" cap="none">
                  <a:solidFill>
                    <a:srgbClr val="C00000"/>
                  </a:solidFill>
                  <a:latin typeface="Arial"/>
                  <a:ea typeface="Arial"/>
                  <a:cs typeface="Arial"/>
                  <a:sym typeface="Arial"/>
                </a:endParaRPr>
              </a:p>
            </p:txBody>
          </p:sp>
          <p:sp>
            <p:nvSpPr>
              <p:cNvPr id="600" name="Google Shape;600;g3980178eec2_0_5"/>
              <p:cNvSpPr txBox="1"/>
              <p:nvPr/>
            </p:nvSpPr>
            <p:spPr>
              <a:xfrm>
                <a:off x="10389581" y="3447470"/>
                <a:ext cx="1445700" cy="420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セラー代も掛からず</a:t>
                </a:r>
                <a:endParaRPr sz="800" b="0" i="0" u="none" strike="noStrike" cap="none">
                  <a:solidFill>
                    <a:srgbClr val="222222"/>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C00000"/>
                    </a:solidFill>
                    <a:latin typeface="Arial"/>
                    <a:ea typeface="Arial"/>
                    <a:cs typeface="Arial"/>
                    <a:sym typeface="Arial"/>
                  </a:rPr>
                  <a:t>大型セラーが借景に</a:t>
                </a:r>
                <a:endParaRPr sz="800" b="0" i="0" u="none" strike="noStrike" cap="none">
                  <a:solidFill>
                    <a:schemeClr val="dk1"/>
                  </a:solidFill>
                  <a:latin typeface="Arial"/>
                  <a:ea typeface="Arial"/>
                  <a:cs typeface="Arial"/>
                  <a:sym typeface="Arial"/>
                </a:endParaRPr>
              </a:p>
            </p:txBody>
          </p:sp>
        </p:grpSp>
        <p:grpSp>
          <p:nvGrpSpPr>
            <p:cNvPr id="601" name="Google Shape;601;g3980178eec2_0_5"/>
            <p:cNvGrpSpPr/>
            <p:nvPr/>
          </p:nvGrpSpPr>
          <p:grpSpPr>
            <a:xfrm>
              <a:off x="6704130" y="5220930"/>
              <a:ext cx="4826728" cy="1416000"/>
              <a:chOff x="7055131" y="4676173"/>
              <a:chExt cx="4826728" cy="1416000"/>
            </a:xfrm>
          </p:grpSpPr>
          <p:sp>
            <p:nvSpPr>
              <p:cNvPr id="602" name="Google Shape;602;g3980178eec2_0_5"/>
              <p:cNvSpPr/>
              <p:nvPr/>
            </p:nvSpPr>
            <p:spPr>
              <a:xfrm>
                <a:off x="7055132" y="4676173"/>
                <a:ext cx="4815900" cy="1416000"/>
              </a:xfrm>
              <a:prstGeom prst="rect">
                <a:avLst/>
              </a:prstGeom>
              <a:noFill/>
              <a:ln w="21425" cap="flat" cmpd="sng">
                <a:solidFill>
                  <a:srgbClr val="2F5496"/>
                </a:solidFill>
                <a:prstDash val="solid"/>
                <a:miter lim="8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03" name="Google Shape;603;g3980178eec2_0_5"/>
              <p:cNvSpPr txBox="1"/>
              <p:nvPr/>
            </p:nvSpPr>
            <p:spPr>
              <a:xfrm>
                <a:off x="7702408" y="5014041"/>
                <a:ext cx="1030800" cy="338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2F5496"/>
                    </a:solidFill>
                    <a:latin typeface="Arial"/>
                    <a:ea typeface="Arial"/>
                    <a:cs typeface="Arial"/>
                    <a:sym typeface="Arial"/>
                  </a:rPr>
                  <a:t>①話題性</a:t>
                </a:r>
                <a:endParaRPr sz="1200" b="1" i="0" u="none" strike="noStrike" cap="none">
                  <a:solidFill>
                    <a:srgbClr val="2F5496"/>
                  </a:solidFill>
                  <a:latin typeface="Arial"/>
                  <a:ea typeface="Arial"/>
                  <a:cs typeface="Arial"/>
                  <a:sym typeface="Arial"/>
                </a:endParaRPr>
              </a:p>
            </p:txBody>
          </p:sp>
          <p:sp>
            <p:nvSpPr>
              <p:cNvPr id="604" name="Google Shape;604;g3980178eec2_0_5"/>
              <p:cNvSpPr txBox="1"/>
              <p:nvPr/>
            </p:nvSpPr>
            <p:spPr>
              <a:xfrm>
                <a:off x="7055131" y="4676173"/>
                <a:ext cx="4815900" cy="276900"/>
              </a:xfrm>
              <a:prstGeom prst="rect">
                <a:avLst/>
              </a:prstGeom>
              <a:solidFill>
                <a:srgbClr val="2F5496"/>
              </a:solid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900"/>
                  <a:buFont typeface="Arial"/>
                  <a:buNone/>
                </a:pPr>
                <a:r>
                  <a:rPr lang="ja" sz="900" b="1" i="0" u="none" strike="noStrike" cap="none">
                    <a:solidFill>
                      <a:schemeClr val="lt1"/>
                    </a:solidFill>
                    <a:latin typeface="Arial"/>
                    <a:ea typeface="Arial"/>
                    <a:cs typeface="Arial"/>
                    <a:sym typeface="Arial"/>
                  </a:rPr>
                  <a:t>商業施設</a:t>
                </a:r>
                <a:endParaRPr sz="900" b="0" i="0" u="none" strike="noStrike" cap="none">
                  <a:solidFill>
                    <a:schemeClr val="lt1"/>
                  </a:solidFill>
                  <a:latin typeface="Arial"/>
                  <a:ea typeface="Arial"/>
                  <a:cs typeface="Arial"/>
                  <a:sym typeface="Arial"/>
                </a:endParaRPr>
              </a:p>
            </p:txBody>
          </p:sp>
          <p:sp>
            <p:nvSpPr>
              <p:cNvPr id="605" name="Google Shape;605;g3980178eec2_0_5"/>
              <p:cNvSpPr txBox="1"/>
              <p:nvPr/>
            </p:nvSpPr>
            <p:spPr>
              <a:xfrm>
                <a:off x="7181359" y="5342568"/>
                <a:ext cx="2281800" cy="585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大型ワインセラー×複数店舗出店による</a:t>
                </a:r>
                <a:r>
                  <a:rPr lang="ja" sz="800" b="1" i="0" u="none" strike="noStrike" cap="none">
                    <a:solidFill>
                      <a:srgbClr val="C00000"/>
                    </a:solidFill>
                    <a:latin typeface="Arial"/>
                    <a:ea typeface="Arial"/>
                    <a:cs typeface="Arial"/>
                    <a:sym typeface="Arial"/>
                  </a:rPr>
                  <a:t>次世代型の新空間を演出</a:t>
                </a:r>
                <a:endParaRPr sz="800" b="1" i="0" u="none" strike="noStrike" cap="none">
                  <a:solidFill>
                    <a:srgbClr val="C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rgbClr val="222222"/>
                    </a:solidFill>
                    <a:latin typeface="Arial"/>
                    <a:ea typeface="Arial"/>
                    <a:cs typeface="Arial"/>
                    <a:sym typeface="Arial"/>
                  </a:rPr>
                  <a:t>施設イメージ・集客力を大幅向上</a:t>
                </a:r>
                <a:endParaRPr sz="1100" b="0" i="0" u="none" strike="noStrike" cap="none">
                  <a:solidFill>
                    <a:srgbClr val="000000"/>
                  </a:solidFill>
                  <a:latin typeface="Arial"/>
                  <a:ea typeface="Arial"/>
                  <a:cs typeface="Arial"/>
                  <a:sym typeface="Arial"/>
                </a:endParaRPr>
              </a:p>
            </p:txBody>
          </p:sp>
          <p:sp>
            <p:nvSpPr>
              <p:cNvPr id="606" name="Google Shape;606;g3980178eec2_0_5"/>
              <p:cNvSpPr txBox="1"/>
              <p:nvPr/>
            </p:nvSpPr>
            <p:spPr>
              <a:xfrm>
                <a:off x="9896962" y="5014041"/>
                <a:ext cx="1420200" cy="338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200" b="1" i="0" u="none" strike="noStrike" cap="none">
                    <a:solidFill>
                      <a:srgbClr val="2F5496"/>
                    </a:solidFill>
                    <a:latin typeface="Arial"/>
                    <a:ea typeface="Arial"/>
                    <a:cs typeface="Arial"/>
                    <a:sym typeface="Arial"/>
                  </a:rPr>
                  <a:t>②経済合理性</a:t>
                </a:r>
                <a:endParaRPr sz="1200" b="1" i="0" u="none" strike="noStrike" cap="none">
                  <a:solidFill>
                    <a:srgbClr val="2F5496"/>
                  </a:solidFill>
                  <a:latin typeface="Arial"/>
                  <a:ea typeface="Arial"/>
                  <a:cs typeface="Arial"/>
                  <a:sym typeface="Arial"/>
                </a:endParaRPr>
              </a:p>
            </p:txBody>
          </p:sp>
          <p:sp>
            <p:nvSpPr>
              <p:cNvPr id="607" name="Google Shape;607;g3980178eec2_0_5"/>
              <p:cNvSpPr txBox="1"/>
              <p:nvPr/>
            </p:nvSpPr>
            <p:spPr>
              <a:xfrm>
                <a:off x="9600059" y="5342568"/>
                <a:ext cx="2281800" cy="585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chemeClr val="dk1"/>
                    </a:solidFill>
                    <a:latin typeface="Arial"/>
                    <a:ea typeface="Arial"/>
                    <a:cs typeface="Arial"/>
                    <a:sym typeface="Arial"/>
                  </a:rPr>
                  <a:t>出店者のメリットも大きいため</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0" i="0" u="none" strike="noStrike" cap="none">
                    <a:solidFill>
                      <a:schemeClr val="dk1"/>
                    </a:solidFill>
                    <a:latin typeface="Arial"/>
                    <a:ea typeface="Arial"/>
                    <a:cs typeface="Arial"/>
                    <a:sym typeface="Arial"/>
                  </a:rPr>
                  <a:t>出店誘致がしやすく、</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800"/>
                  <a:buFont typeface="Arial"/>
                  <a:buNone/>
                </a:pPr>
                <a:r>
                  <a:rPr lang="ja" sz="800" b="1" i="0" u="none" strike="noStrike" cap="none">
                    <a:solidFill>
                      <a:srgbClr val="C00000"/>
                    </a:solidFill>
                    <a:latin typeface="Arial"/>
                    <a:ea typeface="Arial"/>
                    <a:cs typeface="Arial"/>
                    <a:sym typeface="Arial"/>
                  </a:rPr>
                  <a:t>賃料・保証金の引き上げ</a:t>
                </a:r>
                <a:r>
                  <a:rPr lang="ja" sz="800" b="0" i="0" u="none" strike="noStrike" cap="none">
                    <a:solidFill>
                      <a:schemeClr val="dk1"/>
                    </a:solidFill>
                    <a:latin typeface="Arial"/>
                    <a:ea typeface="Arial"/>
                    <a:cs typeface="Arial"/>
                    <a:sym typeface="Arial"/>
                  </a:rPr>
                  <a:t>も可能に</a:t>
                </a:r>
                <a:endParaRPr sz="800" b="0" i="0" u="none" strike="noStrike" cap="none">
                  <a:solidFill>
                    <a:schemeClr val="dk1"/>
                  </a:solidFill>
                  <a:latin typeface="Arial"/>
                  <a:ea typeface="Arial"/>
                  <a:cs typeface="Arial"/>
                  <a:sym typeface="Arial"/>
                </a:endParaRPr>
              </a:p>
            </p:txBody>
          </p:sp>
          <p:cxnSp>
            <p:nvCxnSpPr>
              <p:cNvPr id="608" name="Google Shape;608;g3980178eec2_0_5"/>
              <p:cNvCxnSpPr/>
              <p:nvPr/>
            </p:nvCxnSpPr>
            <p:spPr>
              <a:xfrm>
                <a:off x="9463036" y="5113038"/>
                <a:ext cx="0" cy="900000"/>
              </a:xfrm>
              <a:prstGeom prst="straightConnector1">
                <a:avLst/>
              </a:prstGeom>
              <a:noFill/>
              <a:ln w="14300" cap="flat" cmpd="sng">
                <a:solidFill>
                  <a:srgbClr val="BFBFBF"/>
                </a:solidFill>
                <a:prstDash val="solid"/>
                <a:miter lim="80"/>
                <a:headEnd type="none" w="sm" len="sm"/>
                <a:tailEnd type="none" w="sm" len="sm"/>
              </a:ln>
            </p:spPr>
          </p:cxnSp>
        </p:grpSp>
      </p:grpSp>
      <p:sp>
        <p:nvSpPr>
          <p:cNvPr id="609" name="Google Shape;609;g3980178eec2_0_5"/>
          <p:cNvSpPr/>
          <p:nvPr/>
        </p:nvSpPr>
        <p:spPr>
          <a:xfrm rot="10800000" flipH="1">
            <a:off x="-1" y="420462"/>
            <a:ext cx="3632100" cy="70500"/>
          </a:xfrm>
          <a:prstGeom prst="snip1Rect">
            <a:avLst>
              <a:gd name="adj" fmla="val 50000"/>
            </a:avLst>
          </a:prstGeom>
          <a:solidFill>
            <a:srgbClr val="1F3864"/>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610" name="Google Shape;610;g3980178eec2_0_5"/>
          <p:cNvSpPr txBox="1"/>
          <p:nvPr/>
        </p:nvSpPr>
        <p:spPr>
          <a:xfrm>
            <a:off x="6246262" y="1992335"/>
            <a:ext cx="2574600" cy="561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800"/>
              <a:buFont typeface="Arial"/>
              <a:buNone/>
            </a:pP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Arial"/>
              <a:buNone/>
            </a:pPr>
            <a:r>
              <a:rPr lang="ja" sz="800" b="0" i="0" u="none" strike="noStrike" cap="none">
                <a:solidFill>
                  <a:schemeClr val="dk1"/>
                </a:solidFill>
                <a:latin typeface="Arial"/>
                <a:ea typeface="Arial"/>
                <a:cs typeface="Arial"/>
                <a:sym typeface="Arial"/>
              </a:rPr>
              <a:t>※客単価・区画割りは、日比谷ミッドタウン地下1階</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Arial"/>
              <a:buNone/>
            </a:pPr>
            <a:r>
              <a:rPr lang="ja" sz="800" b="0" i="0" u="none" strike="noStrike" cap="none">
                <a:solidFill>
                  <a:schemeClr val="dk1"/>
                </a:solidFill>
                <a:latin typeface="Arial"/>
                <a:ea typeface="Arial"/>
                <a:cs typeface="Arial"/>
                <a:sym typeface="Arial"/>
              </a:rPr>
              <a:t>　フードホールや虎ノ門横丁をイメージ。</a:t>
            </a:r>
            <a:endParaRPr sz="800" b="0" i="0" u="none" strike="noStrike" cap="none">
              <a:solidFill>
                <a:schemeClr val="dk1"/>
              </a:solidFill>
              <a:latin typeface="Arial"/>
              <a:ea typeface="Arial"/>
              <a:cs typeface="Arial"/>
              <a:sym typeface="Arial"/>
            </a:endParaRPr>
          </a:p>
          <a:p>
            <a:pPr marL="0" marR="0" lvl="0" indent="0" algn="l" rtl="0">
              <a:lnSpc>
                <a:spcPct val="100000"/>
              </a:lnSpc>
              <a:spcBef>
                <a:spcPts val="0"/>
              </a:spcBef>
              <a:spcAft>
                <a:spcPts val="0"/>
              </a:spcAft>
              <a:buClr>
                <a:schemeClr val="dk1"/>
              </a:buClr>
              <a:buSzPts val="800"/>
              <a:buFont typeface="Arial"/>
              <a:buNone/>
            </a:pPr>
            <a:r>
              <a:rPr lang="ja" sz="800" b="0" i="0" u="none" strike="noStrike" cap="none">
                <a:solidFill>
                  <a:schemeClr val="dk1"/>
                </a:solidFill>
                <a:latin typeface="Arial"/>
                <a:ea typeface="Arial"/>
                <a:cs typeface="Arial"/>
                <a:sym typeface="Arial"/>
              </a:rPr>
              <a:t>　</a:t>
            </a:r>
            <a:r>
              <a:rPr lang="ja" sz="800" b="1" i="0" u="none" strike="noStrike" cap="none">
                <a:solidFill>
                  <a:schemeClr val="dk1"/>
                </a:solidFill>
                <a:latin typeface="Arial"/>
                <a:ea typeface="Arial"/>
                <a:cs typeface="Arial"/>
                <a:sym typeface="Arial"/>
              </a:rPr>
              <a:t>セラー30坪程度＋店舗100坪程度</a:t>
            </a:r>
            <a:r>
              <a:rPr lang="ja" sz="800" b="0" i="0" u="none" strike="noStrike" cap="none">
                <a:solidFill>
                  <a:schemeClr val="dk1"/>
                </a:solidFill>
                <a:latin typeface="Arial"/>
                <a:ea typeface="Arial"/>
                <a:cs typeface="Arial"/>
                <a:sym typeface="Arial"/>
              </a:rPr>
              <a:t>の面積を想定。</a:t>
            </a:r>
            <a:endParaRPr sz="1100" b="0" i="0" u="none" strike="noStrike" cap="none">
              <a:solidFill>
                <a:srgbClr val="000000"/>
              </a:solidFill>
              <a:latin typeface="Arial"/>
              <a:ea typeface="Arial"/>
              <a:cs typeface="Arial"/>
              <a:sym typeface="Arial"/>
            </a:endParaRPr>
          </a:p>
        </p:txBody>
      </p:sp>
      <p:sp>
        <p:nvSpPr>
          <p:cNvPr id="611" name="Google Shape;611;g3980178eec2_0_5"/>
          <p:cNvSpPr txBox="1"/>
          <p:nvPr/>
        </p:nvSpPr>
        <p:spPr>
          <a:xfrm>
            <a:off x="1081814" y="1698317"/>
            <a:ext cx="2883600" cy="207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1F3864"/>
              </a:buClr>
              <a:buSzPts val="900"/>
              <a:buFont typeface="Arial"/>
              <a:buNone/>
            </a:pPr>
            <a:r>
              <a:rPr lang="ja" sz="900" b="1" i="0" u="none" strike="noStrike" cap="none">
                <a:solidFill>
                  <a:srgbClr val="1F3864"/>
                </a:solidFill>
                <a:latin typeface="Arial"/>
                <a:ea typeface="Arial"/>
                <a:cs typeface="Arial"/>
                <a:sym typeface="Arial"/>
              </a:rPr>
              <a:t>360度の豪華な大型ウォークインセラー</a:t>
            </a:r>
            <a:endParaRPr sz="1100" b="0" i="0" u="none" strike="noStrike" cap="none">
              <a:solidFill>
                <a:srgbClr val="000000"/>
              </a:solidFill>
              <a:latin typeface="Arial"/>
              <a:ea typeface="Arial"/>
              <a:cs typeface="Arial"/>
              <a:sym typeface="Arial"/>
            </a:endParaRPr>
          </a:p>
        </p:txBody>
      </p:sp>
      <p:sp>
        <p:nvSpPr>
          <p:cNvPr id="612" name="Google Shape;612;g3980178eec2_0_5"/>
          <p:cNvSpPr txBox="1"/>
          <p:nvPr/>
        </p:nvSpPr>
        <p:spPr>
          <a:xfrm>
            <a:off x="518704" y="1707692"/>
            <a:ext cx="556800" cy="189000"/>
          </a:xfrm>
          <a:prstGeom prst="rect">
            <a:avLst/>
          </a:prstGeom>
          <a:solidFill>
            <a:srgbClr val="1F386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600"/>
              <a:buFont typeface="Arial"/>
              <a:buNone/>
            </a:pPr>
            <a:r>
              <a:rPr lang="ja" sz="600" b="1" i="0" u="none" strike="noStrike" cap="none">
                <a:solidFill>
                  <a:schemeClr val="lt1"/>
                </a:solidFill>
                <a:latin typeface="Arial"/>
                <a:ea typeface="Arial"/>
                <a:cs typeface="Arial"/>
                <a:sym typeface="Arial"/>
              </a:rPr>
              <a:t>POINT</a:t>
            </a:r>
            <a:r>
              <a:rPr lang="ja" sz="800" b="1" i="0" u="none" strike="noStrike" cap="none">
                <a:solidFill>
                  <a:schemeClr val="lt1"/>
                </a:solidFill>
                <a:latin typeface="Arial"/>
                <a:ea typeface="Arial"/>
                <a:cs typeface="Arial"/>
                <a:sym typeface="Arial"/>
              </a:rPr>
              <a:t> </a:t>
            </a:r>
            <a:r>
              <a:rPr lang="ja" sz="1100" b="1" i="0" u="none" strike="noStrike" cap="none">
                <a:solidFill>
                  <a:schemeClr val="lt1"/>
                </a:solidFill>
                <a:latin typeface="Arial"/>
                <a:ea typeface="Arial"/>
                <a:cs typeface="Arial"/>
                <a:sym typeface="Arial"/>
              </a:rPr>
              <a:t>01</a:t>
            </a:r>
            <a:endParaRPr sz="900" b="1" i="0" u="none" strike="noStrike" cap="none">
              <a:solidFill>
                <a:schemeClr val="lt1"/>
              </a:solidFill>
              <a:latin typeface="Arial"/>
              <a:ea typeface="Arial"/>
              <a:cs typeface="Arial"/>
              <a:sym typeface="Arial"/>
            </a:endParaRPr>
          </a:p>
        </p:txBody>
      </p:sp>
      <p:sp>
        <p:nvSpPr>
          <p:cNvPr id="613" name="Google Shape;613;g3980178eec2_0_5"/>
          <p:cNvSpPr txBox="1"/>
          <p:nvPr/>
        </p:nvSpPr>
        <p:spPr>
          <a:xfrm>
            <a:off x="6266659" y="2944663"/>
            <a:ext cx="2774100" cy="207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1F3864"/>
              </a:buClr>
              <a:buSzPts val="900"/>
              <a:buFont typeface="Arial"/>
              <a:buNone/>
            </a:pPr>
            <a:r>
              <a:rPr lang="ja" sz="900" b="1" i="0" u="none" strike="noStrike" cap="none">
                <a:solidFill>
                  <a:srgbClr val="1F3864"/>
                </a:solidFill>
                <a:latin typeface="Arial"/>
                <a:ea typeface="Arial"/>
                <a:cs typeface="Arial"/>
                <a:sym typeface="Arial"/>
              </a:rPr>
              <a:t>数千本の在庫からいつでもワイン購入可能</a:t>
            </a:r>
            <a:endParaRPr sz="900" b="1" i="0" u="none" strike="noStrike" cap="none">
              <a:solidFill>
                <a:srgbClr val="1F3864"/>
              </a:solidFill>
              <a:latin typeface="Arial"/>
              <a:ea typeface="Arial"/>
              <a:cs typeface="Arial"/>
              <a:sym typeface="Arial"/>
            </a:endParaRPr>
          </a:p>
        </p:txBody>
      </p:sp>
      <p:cxnSp>
        <p:nvCxnSpPr>
          <p:cNvPr id="614" name="Google Shape;614;g3980178eec2_0_5"/>
          <p:cNvCxnSpPr>
            <a:endCxn id="615" idx="1"/>
          </p:cNvCxnSpPr>
          <p:nvPr/>
        </p:nvCxnSpPr>
        <p:spPr>
          <a:xfrm>
            <a:off x="4821731" y="2756937"/>
            <a:ext cx="891300" cy="291600"/>
          </a:xfrm>
          <a:prstGeom prst="straightConnector1">
            <a:avLst/>
          </a:prstGeom>
          <a:noFill/>
          <a:ln w="21425" cap="flat" cmpd="sng">
            <a:solidFill>
              <a:schemeClr val="dk1"/>
            </a:solidFill>
            <a:prstDash val="solid"/>
            <a:miter lim="80"/>
            <a:headEnd type="oval" w="med" len="med"/>
            <a:tailEnd type="none" w="sm" len="sm"/>
          </a:ln>
        </p:spPr>
      </p:cxnSp>
      <p:sp>
        <p:nvSpPr>
          <p:cNvPr id="616" name="Google Shape;616;g3980178eec2_0_5"/>
          <p:cNvSpPr txBox="1"/>
          <p:nvPr/>
        </p:nvSpPr>
        <p:spPr>
          <a:xfrm>
            <a:off x="6266659" y="1880134"/>
            <a:ext cx="2860800" cy="207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1F3864"/>
              </a:buClr>
              <a:buSzPts val="900"/>
              <a:buFont typeface="Arial"/>
              <a:buNone/>
            </a:pPr>
            <a:r>
              <a:rPr lang="ja" sz="900" b="1" i="0" u="none" strike="noStrike" cap="none">
                <a:solidFill>
                  <a:srgbClr val="1F3864"/>
                </a:solidFill>
                <a:latin typeface="Arial"/>
                <a:ea typeface="Arial"/>
                <a:cs typeface="Arial"/>
                <a:sym typeface="Arial"/>
              </a:rPr>
              <a:t>回遊通路を挟んで各店舗からセラーが見える</a:t>
            </a:r>
            <a:endParaRPr sz="1100" b="0" i="0" u="none" strike="noStrike" cap="none">
              <a:solidFill>
                <a:srgbClr val="000000"/>
              </a:solidFill>
              <a:latin typeface="Arial"/>
              <a:ea typeface="Arial"/>
              <a:cs typeface="Arial"/>
              <a:sym typeface="Arial"/>
            </a:endParaRPr>
          </a:p>
        </p:txBody>
      </p:sp>
      <p:cxnSp>
        <p:nvCxnSpPr>
          <p:cNvPr id="617" name="Google Shape;617;g3980178eec2_0_5"/>
          <p:cNvCxnSpPr>
            <a:endCxn id="618" idx="1"/>
          </p:cNvCxnSpPr>
          <p:nvPr/>
        </p:nvCxnSpPr>
        <p:spPr>
          <a:xfrm rot="10800000" flipH="1">
            <a:off x="4961531" y="1984008"/>
            <a:ext cx="751500" cy="485700"/>
          </a:xfrm>
          <a:prstGeom prst="straightConnector1">
            <a:avLst/>
          </a:prstGeom>
          <a:noFill/>
          <a:ln w="21425" cap="flat" cmpd="sng">
            <a:solidFill>
              <a:schemeClr val="dk1"/>
            </a:solidFill>
            <a:prstDash val="solid"/>
            <a:miter lim="80"/>
            <a:headEnd type="oval" w="med" len="med"/>
            <a:tailEnd type="none" w="sm" len="sm"/>
          </a:ln>
        </p:spPr>
      </p:cxnSp>
      <p:sp>
        <p:nvSpPr>
          <p:cNvPr id="618" name="Google Shape;618;g3980178eec2_0_5"/>
          <p:cNvSpPr txBox="1"/>
          <p:nvPr/>
        </p:nvSpPr>
        <p:spPr>
          <a:xfrm>
            <a:off x="5713031" y="1889508"/>
            <a:ext cx="556800" cy="189000"/>
          </a:xfrm>
          <a:prstGeom prst="rect">
            <a:avLst/>
          </a:prstGeom>
          <a:solidFill>
            <a:srgbClr val="1F386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600"/>
              <a:buFont typeface="Arial"/>
              <a:buNone/>
            </a:pPr>
            <a:r>
              <a:rPr lang="ja" sz="600" b="1" i="0" u="none" strike="noStrike" cap="none">
                <a:solidFill>
                  <a:schemeClr val="lt1"/>
                </a:solidFill>
                <a:latin typeface="Arial"/>
                <a:ea typeface="Arial"/>
                <a:cs typeface="Arial"/>
                <a:sym typeface="Arial"/>
              </a:rPr>
              <a:t>POINT</a:t>
            </a:r>
            <a:r>
              <a:rPr lang="ja" sz="800" b="1" i="0" u="none" strike="noStrike" cap="none">
                <a:solidFill>
                  <a:schemeClr val="lt1"/>
                </a:solidFill>
                <a:latin typeface="Arial"/>
                <a:ea typeface="Arial"/>
                <a:cs typeface="Arial"/>
                <a:sym typeface="Arial"/>
              </a:rPr>
              <a:t> </a:t>
            </a:r>
            <a:r>
              <a:rPr lang="ja" sz="1100" b="1" i="0" u="none" strike="noStrike" cap="none">
                <a:solidFill>
                  <a:schemeClr val="lt1"/>
                </a:solidFill>
                <a:latin typeface="Arial"/>
                <a:ea typeface="Arial"/>
                <a:cs typeface="Arial"/>
                <a:sym typeface="Arial"/>
              </a:rPr>
              <a:t>02</a:t>
            </a:r>
            <a:endParaRPr sz="900" b="1" i="0" u="none" strike="noStrike" cap="none">
              <a:solidFill>
                <a:schemeClr val="lt1"/>
              </a:solidFill>
              <a:latin typeface="Arial"/>
              <a:ea typeface="Arial"/>
              <a:cs typeface="Arial"/>
              <a:sym typeface="Arial"/>
            </a:endParaRPr>
          </a:p>
        </p:txBody>
      </p:sp>
      <p:sp>
        <p:nvSpPr>
          <p:cNvPr id="615" name="Google Shape;615;g3980178eec2_0_5"/>
          <p:cNvSpPr txBox="1"/>
          <p:nvPr/>
        </p:nvSpPr>
        <p:spPr>
          <a:xfrm>
            <a:off x="5713031" y="2954037"/>
            <a:ext cx="556800" cy="189000"/>
          </a:xfrm>
          <a:prstGeom prst="rect">
            <a:avLst/>
          </a:prstGeom>
          <a:solidFill>
            <a:srgbClr val="1F3864"/>
          </a:solidFill>
          <a:ln>
            <a:noFill/>
          </a:ln>
        </p:spPr>
        <p:txBody>
          <a:bodyPr spcFirstLastPara="1" wrap="square" lIns="0" tIns="0" rIns="0" bIns="0" anchor="ctr" anchorCtr="0">
            <a:noAutofit/>
          </a:bodyPr>
          <a:lstStyle/>
          <a:p>
            <a:pPr marL="0" marR="0" lvl="0" indent="0" algn="ctr" rtl="0">
              <a:lnSpc>
                <a:spcPct val="100000"/>
              </a:lnSpc>
              <a:spcBef>
                <a:spcPts val="0"/>
              </a:spcBef>
              <a:spcAft>
                <a:spcPts val="0"/>
              </a:spcAft>
              <a:buClr>
                <a:schemeClr val="lt1"/>
              </a:buClr>
              <a:buSzPts val="600"/>
              <a:buFont typeface="Arial"/>
              <a:buNone/>
            </a:pPr>
            <a:r>
              <a:rPr lang="ja" sz="600" b="1" i="0" u="none" strike="noStrike" cap="none">
                <a:solidFill>
                  <a:schemeClr val="lt1"/>
                </a:solidFill>
                <a:latin typeface="Arial"/>
                <a:ea typeface="Arial"/>
                <a:cs typeface="Arial"/>
                <a:sym typeface="Arial"/>
              </a:rPr>
              <a:t>POINT </a:t>
            </a:r>
            <a:r>
              <a:rPr lang="ja" sz="1100" b="1" i="0" u="none" strike="noStrike" cap="none">
                <a:solidFill>
                  <a:schemeClr val="lt1"/>
                </a:solidFill>
                <a:latin typeface="Arial"/>
                <a:ea typeface="Arial"/>
                <a:cs typeface="Arial"/>
                <a:sym typeface="Arial"/>
              </a:rPr>
              <a:t>03</a:t>
            </a:r>
            <a:endParaRPr sz="900" b="1" i="0" u="none" strike="noStrike" cap="none">
              <a:solidFill>
                <a:schemeClr val="lt1"/>
              </a:solidFill>
              <a:latin typeface="Arial"/>
              <a:ea typeface="Arial"/>
              <a:cs typeface="Arial"/>
              <a:sym typeface="Arial"/>
            </a:endParaRPr>
          </a:p>
        </p:txBody>
      </p:sp>
      <p:sp>
        <p:nvSpPr>
          <p:cNvPr id="619" name="Google Shape;619;g3980178eec2_0_5"/>
          <p:cNvSpPr/>
          <p:nvPr/>
        </p:nvSpPr>
        <p:spPr>
          <a:xfrm>
            <a:off x="3759684" y="2797719"/>
            <a:ext cx="159600" cy="98100"/>
          </a:xfrm>
          <a:prstGeom prst="rect">
            <a:avLst/>
          </a:prstGeom>
          <a:solidFill>
            <a:srgbClr val="595959"/>
          </a:solidFill>
          <a:ln>
            <a:noFill/>
          </a:ln>
        </p:spPr>
        <p:txBody>
          <a:bodyPr spcFirstLastPara="1" wrap="square" lIns="0" tIns="34275" rIns="0" bIns="34275" anchor="ctr" anchorCtr="0">
            <a:noAutofit/>
          </a:bodyPr>
          <a:lstStyle/>
          <a:p>
            <a:pPr marL="0" marR="0" lvl="0" indent="0" algn="ctr" rtl="0">
              <a:lnSpc>
                <a:spcPct val="100000"/>
              </a:lnSpc>
              <a:spcBef>
                <a:spcPts val="0"/>
              </a:spcBef>
              <a:spcAft>
                <a:spcPts val="0"/>
              </a:spcAft>
              <a:buClr>
                <a:srgbClr val="000000"/>
              </a:buClr>
              <a:buSzPts val="600"/>
              <a:buFont typeface="Arial"/>
              <a:buNone/>
            </a:pPr>
            <a:r>
              <a:rPr lang="ja" sz="600" b="1" i="0" u="none" strike="noStrike" cap="none">
                <a:solidFill>
                  <a:schemeClr val="lt1"/>
                </a:solidFill>
                <a:latin typeface="Arial"/>
                <a:ea typeface="Arial"/>
                <a:cs typeface="Arial"/>
                <a:sym typeface="Arial"/>
              </a:rPr>
              <a:t>10</a:t>
            </a:r>
            <a:endParaRPr sz="600" b="1" i="0" u="none" strike="noStrike" cap="none">
              <a:solidFill>
                <a:schemeClr val="lt1"/>
              </a:solidFill>
              <a:latin typeface="Arial"/>
              <a:ea typeface="Arial"/>
              <a:cs typeface="Arial"/>
              <a:sym typeface="Arial"/>
            </a:endParaRPr>
          </a:p>
        </p:txBody>
      </p:sp>
      <p:sp>
        <p:nvSpPr>
          <p:cNvPr id="620" name="Google Shape;620;g3980178eec2_0_5"/>
          <p:cNvSpPr txBox="1"/>
          <p:nvPr/>
        </p:nvSpPr>
        <p:spPr>
          <a:xfrm>
            <a:off x="494891" y="3665164"/>
            <a:ext cx="1107000" cy="1923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chemeClr val="dk1"/>
              </a:buClr>
              <a:buSzPts val="800"/>
              <a:buFont typeface="Arial"/>
              <a:buNone/>
            </a:pPr>
            <a:r>
              <a:rPr lang="ja" sz="800" b="0" i="0" u="none" strike="noStrike" cap="none">
                <a:solidFill>
                  <a:schemeClr val="dk1"/>
                </a:solidFill>
                <a:latin typeface="Arial"/>
                <a:ea typeface="Arial"/>
                <a:cs typeface="Arial"/>
                <a:sym typeface="Arial"/>
              </a:rPr>
              <a:t>※参考写真</a:t>
            </a:r>
            <a:endParaRPr sz="1100" b="0" i="0" u="none" strike="noStrike" cap="none">
              <a:solidFill>
                <a:srgbClr val="000000"/>
              </a:solidFill>
              <a:latin typeface="Arial"/>
              <a:ea typeface="Arial"/>
              <a:cs typeface="Arial"/>
              <a:sym typeface="Arial"/>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g376c0386bf5_0_0"/>
          <p:cNvSpPr txBox="1"/>
          <p:nvPr/>
        </p:nvSpPr>
        <p:spPr>
          <a:xfrm>
            <a:off x="239781" y="287250"/>
            <a:ext cx="34359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chemeClr val="dk1"/>
                </a:solidFill>
                <a:latin typeface="Meiryo"/>
                <a:ea typeface="Meiryo"/>
                <a:cs typeface="Meiryo"/>
                <a:sym typeface="Meiryo"/>
              </a:rPr>
              <a:t>Bistro &amp; Bar WineBank terrace</a:t>
            </a:r>
            <a:endParaRPr sz="1200" b="1" i="0" u="none" strike="noStrike" cap="none">
              <a:solidFill>
                <a:schemeClr val="dk1"/>
              </a:solidFill>
              <a:latin typeface="Meiryo"/>
              <a:ea typeface="Meiryo"/>
              <a:cs typeface="Meiryo"/>
              <a:sym typeface="Meiryo"/>
            </a:endParaRPr>
          </a:p>
        </p:txBody>
      </p:sp>
      <p:sp>
        <p:nvSpPr>
          <p:cNvPr id="626" name="Google Shape;626;g376c0386bf5_0_0"/>
          <p:cNvSpPr txBox="1"/>
          <p:nvPr/>
        </p:nvSpPr>
        <p:spPr>
          <a:xfrm>
            <a:off x="431800" y="757157"/>
            <a:ext cx="7134700" cy="500107"/>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 sz="1400" b="0" i="0" u="none" strike="noStrike" cap="none">
                <a:solidFill>
                  <a:schemeClr val="dk1"/>
                </a:solidFill>
                <a:latin typeface="Meiryo"/>
                <a:ea typeface="Meiryo"/>
                <a:cs typeface="Meiryo"/>
                <a:sym typeface="Meiryo"/>
              </a:rPr>
              <a:t>ミッドタウン六本木路面店に7月7日オープン！</a:t>
            </a:r>
            <a:endParaRPr sz="1400" b="0" i="0" u="none" strike="noStrike" cap="none">
              <a:solidFill>
                <a:schemeClr val="dk1"/>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500"/>
              <a:buFont typeface="Arial"/>
              <a:buNone/>
            </a:pPr>
            <a:r>
              <a:rPr lang="ja" sz="1400" b="0" i="0" u="none" strike="noStrike" cap="none">
                <a:solidFill>
                  <a:schemeClr val="dk1"/>
                </a:solidFill>
                <a:latin typeface="Meiryo"/>
                <a:ea typeface="Meiryo"/>
                <a:cs typeface="Meiryo"/>
                <a:sym typeface="Meiryo"/>
              </a:rPr>
              <a:t>インポーターの強みを活かしたWineBankCLUB会員用のフラグシップワインバー</a:t>
            </a:r>
            <a:endParaRPr sz="1400" b="0" i="0" u="none" strike="noStrike" cap="none">
              <a:solidFill>
                <a:schemeClr val="dk1"/>
              </a:solidFill>
              <a:latin typeface="Meiryo"/>
              <a:ea typeface="Meiryo"/>
              <a:cs typeface="Meiryo"/>
              <a:sym typeface="Meiryo"/>
            </a:endParaRPr>
          </a:p>
        </p:txBody>
      </p:sp>
      <p:sp>
        <p:nvSpPr>
          <p:cNvPr id="627" name="Google Shape;627;g376c0386bf5_0_0"/>
          <p:cNvSpPr/>
          <p:nvPr/>
        </p:nvSpPr>
        <p:spPr>
          <a:xfrm>
            <a:off x="0" y="5021036"/>
            <a:ext cx="9144000" cy="1308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chemeClr val="lt1"/>
              </a:solidFill>
              <a:latin typeface="Arial"/>
              <a:ea typeface="Arial"/>
              <a:cs typeface="Arial"/>
              <a:sym typeface="Arial"/>
            </a:endParaRPr>
          </a:p>
        </p:txBody>
      </p:sp>
      <p:sp>
        <p:nvSpPr>
          <p:cNvPr id="628" name="Google Shape;628;g376c0386bf5_0_0"/>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24</a:t>
            </a:fld>
            <a:endParaRPr/>
          </a:p>
        </p:txBody>
      </p:sp>
      <p:pic>
        <p:nvPicPr>
          <p:cNvPr id="629" name="Google Shape;629;g376c0386bf5_0_0"/>
          <p:cNvPicPr preferRelativeResize="0"/>
          <p:nvPr/>
        </p:nvPicPr>
        <p:blipFill rotWithShape="1">
          <a:blip r:embed="rId3">
            <a:alphaModFix/>
          </a:blip>
          <a:srcRect/>
          <a:stretch/>
        </p:blipFill>
        <p:spPr>
          <a:xfrm>
            <a:off x="431800" y="1257264"/>
            <a:ext cx="7882194" cy="3381282"/>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a:blip r:embed="rId3">
            <a:alphaModFix/>
          </a:blip>
          <a:stretch>
            <a:fillRect/>
          </a:stretch>
        </a:blipFill>
        <a:effectLst/>
      </p:bgPr>
    </p:bg>
    <p:spTree>
      <p:nvGrpSpPr>
        <p:cNvPr id="1" name="Shape 633"/>
        <p:cNvGrpSpPr/>
        <p:nvPr/>
      </p:nvGrpSpPr>
      <p:grpSpPr>
        <a:xfrm>
          <a:off x="0" y="0"/>
          <a:ext cx="0" cy="0"/>
          <a:chOff x="0" y="0"/>
          <a:chExt cx="0" cy="0"/>
        </a:xfrm>
      </p:grpSpPr>
      <p:sp>
        <p:nvSpPr>
          <p:cNvPr id="634" name="Google Shape;634;p9"/>
          <p:cNvSpPr txBox="1">
            <a:spLocks noGrp="1"/>
          </p:cNvSpPr>
          <p:nvPr>
            <p:ph type="sldNum" idx="12"/>
          </p:nvPr>
        </p:nvSpPr>
        <p:spPr>
          <a:xfrm>
            <a:off x="6965303" y="4530560"/>
            <a:ext cx="2057400" cy="27384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altLang="ja" sz="1400" b="0" i="0" u="none" strike="noStrike" cap="none">
                <a:solidFill>
                  <a:srgbClr val="888888"/>
                </a:solidFill>
                <a:latin typeface="Crimson Text"/>
                <a:ea typeface="Crimson Text"/>
                <a:cs typeface="Crimson Text"/>
                <a:sym typeface="Crimson Text"/>
              </a:rPr>
              <a:t>25</a:t>
            </a:fld>
            <a:endParaRPr sz="1400" b="0" i="0" u="none" strike="noStrike" cap="none">
              <a:solidFill>
                <a:srgbClr val="888888"/>
              </a:solidFill>
              <a:latin typeface="Crimson Text"/>
              <a:ea typeface="Crimson Text"/>
              <a:cs typeface="Crimson Text"/>
              <a:sym typeface="Crimson Text"/>
            </a:endParaRPr>
          </a:p>
        </p:txBody>
      </p:sp>
      <p:sp>
        <p:nvSpPr>
          <p:cNvPr id="635" name="Google Shape;635;p9"/>
          <p:cNvSpPr txBox="1"/>
          <p:nvPr/>
        </p:nvSpPr>
        <p:spPr>
          <a:xfrm>
            <a:off x="708416" y="662125"/>
            <a:ext cx="5615400" cy="500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ja" sz="2800" b="1" i="0" u="none" strike="noStrike" cap="none">
                <a:solidFill>
                  <a:srgbClr val="FFFFFF"/>
                </a:solidFill>
                <a:latin typeface="Meiryo"/>
                <a:ea typeface="Meiryo"/>
                <a:cs typeface="Meiryo"/>
                <a:sym typeface="Meiryo"/>
              </a:rPr>
              <a:t>WineBankマーケットプレイス</a:t>
            </a:r>
            <a:endParaRPr sz="2800" b="1" i="0" u="none" strike="noStrike" cap="none">
              <a:solidFill>
                <a:srgbClr val="FFFFFF"/>
              </a:solidFill>
              <a:latin typeface="Meiryo"/>
              <a:ea typeface="Meiryo"/>
              <a:cs typeface="Meiryo"/>
              <a:sym typeface="Meiryo"/>
            </a:endParaRPr>
          </a:p>
        </p:txBody>
      </p:sp>
      <p:sp>
        <p:nvSpPr>
          <p:cNvPr id="636" name="Google Shape;636;p9"/>
          <p:cNvSpPr txBox="1"/>
          <p:nvPr/>
        </p:nvSpPr>
        <p:spPr>
          <a:xfrm>
            <a:off x="721520" y="2024165"/>
            <a:ext cx="7495380" cy="1915879"/>
          </a:xfrm>
          <a:prstGeom prst="rect">
            <a:avLst/>
          </a:prstGeom>
          <a:noFill/>
          <a:ln>
            <a:noFill/>
          </a:ln>
        </p:spPr>
        <p:txBody>
          <a:bodyPr spcFirstLastPara="1" wrap="square" lIns="68575" tIns="34275" rIns="68575" bIns="34275" anchor="t" anchorCtr="0">
            <a:spAutoFit/>
          </a:bodyPr>
          <a:lstStyle/>
          <a:p>
            <a:pPr marL="0" marR="0" lvl="0" indent="0" algn="l" rtl="0">
              <a:lnSpc>
                <a:spcPct val="150000"/>
              </a:lnSpc>
              <a:spcBef>
                <a:spcPts val="0"/>
              </a:spcBef>
              <a:spcAft>
                <a:spcPts val="0"/>
              </a:spcAft>
              <a:buClr>
                <a:srgbClr val="000000"/>
              </a:buClr>
              <a:buSzPts val="1500"/>
              <a:buFont typeface="Arial"/>
              <a:buNone/>
            </a:pPr>
            <a:r>
              <a:rPr lang="ja" sz="1600" b="1" i="0" u="none" strike="noStrike" cap="none">
                <a:solidFill>
                  <a:srgbClr val="FFFFFF"/>
                </a:solidFill>
                <a:latin typeface="Meiryo"/>
                <a:ea typeface="Meiryo"/>
                <a:cs typeface="Meiryo"/>
                <a:sym typeface="Meiryo"/>
              </a:rPr>
              <a:t>WineBankマーケットプレイスでは、</a:t>
            </a:r>
            <a:endParaRPr sz="1600" b="1" i="0" u="none" strike="noStrike" cap="none">
              <a:solidFill>
                <a:srgbClr val="FFFFFF"/>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500"/>
              <a:buFont typeface="Arial"/>
              <a:buNone/>
            </a:pPr>
            <a:r>
              <a:rPr lang="ja" sz="1600" b="1" i="0" u="none" strike="noStrike" cap="none">
                <a:solidFill>
                  <a:srgbClr val="FFFFFF"/>
                </a:solidFill>
                <a:latin typeface="Meiryo"/>
                <a:ea typeface="Meiryo"/>
                <a:cs typeface="Meiryo"/>
                <a:sym typeface="Meiryo"/>
              </a:rPr>
              <a:t>ファインワインを専門に取り扱っています。</a:t>
            </a:r>
            <a:endParaRPr sz="1600" b="1" i="0" u="none" strike="noStrike" cap="none">
              <a:solidFill>
                <a:srgbClr val="FFFFFF"/>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500"/>
              <a:buFont typeface="Arial"/>
              <a:buNone/>
            </a:pPr>
            <a:r>
              <a:rPr lang="ja" sz="1600" b="1" i="0" u="none" strike="noStrike" cap="none">
                <a:solidFill>
                  <a:srgbClr val="FFFFFF"/>
                </a:solidFill>
                <a:latin typeface="Meiryo"/>
                <a:ea typeface="Meiryo"/>
                <a:cs typeface="Meiryo"/>
                <a:sym typeface="Meiryo"/>
              </a:rPr>
              <a:t>当社が厳選した希少銘柄のセット販売や、</a:t>
            </a:r>
            <a:endParaRPr sz="1600" b="1" i="0" u="none" strike="noStrike" cap="none">
              <a:solidFill>
                <a:srgbClr val="FFFFFF"/>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500"/>
              <a:buFont typeface="Arial"/>
              <a:buNone/>
            </a:pPr>
            <a:r>
              <a:rPr lang="ja" sz="1600" b="1" i="0" u="none" strike="noStrike" cap="none">
                <a:solidFill>
                  <a:srgbClr val="FFFFFF"/>
                </a:solidFill>
                <a:latin typeface="Meiryo"/>
                <a:ea typeface="Meiryo"/>
                <a:cs typeface="Meiryo"/>
                <a:sym typeface="Meiryo"/>
              </a:rPr>
              <a:t>会員ランクに応じた優待もあり、</a:t>
            </a:r>
            <a:endParaRPr sz="1600" b="1" i="0" u="none" strike="noStrike" cap="none">
              <a:solidFill>
                <a:srgbClr val="FFFFFF"/>
              </a:solidFill>
              <a:latin typeface="Meiryo"/>
              <a:ea typeface="Meiryo"/>
              <a:cs typeface="Meiryo"/>
              <a:sym typeface="Meiryo"/>
            </a:endParaRPr>
          </a:p>
          <a:p>
            <a:pPr marL="0" marR="0" lvl="0" indent="0" algn="l" rtl="0">
              <a:lnSpc>
                <a:spcPct val="150000"/>
              </a:lnSpc>
              <a:spcBef>
                <a:spcPts val="0"/>
              </a:spcBef>
              <a:spcAft>
                <a:spcPts val="0"/>
              </a:spcAft>
              <a:buClr>
                <a:srgbClr val="000000"/>
              </a:buClr>
              <a:buSzPts val="1500"/>
              <a:buFont typeface="Arial"/>
              <a:buNone/>
            </a:pPr>
            <a:r>
              <a:rPr lang="ja" sz="1600" b="1" i="0" u="none" strike="noStrike" cap="none">
                <a:solidFill>
                  <a:srgbClr val="FFFFFF"/>
                </a:solidFill>
                <a:latin typeface="Meiryo"/>
                <a:ea typeface="Meiryo"/>
                <a:cs typeface="Meiryo"/>
                <a:sym typeface="Meiryo"/>
              </a:rPr>
              <a:t>ユーザーの皆様のニーズを叶えるサービスを提供します。</a:t>
            </a:r>
            <a:endParaRPr sz="2000" b="1" i="0" u="none" strike="noStrike" cap="none">
              <a:solidFill>
                <a:srgbClr val="FFFFFF"/>
              </a:solidFill>
              <a:latin typeface="Meiryo"/>
              <a:ea typeface="Meiryo"/>
              <a:cs typeface="Meiryo"/>
              <a:sym typeface="Meiryo"/>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640"/>
        <p:cNvGrpSpPr/>
        <p:nvPr/>
      </p:nvGrpSpPr>
      <p:grpSpPr>
        <a:xfrm>
          <a:off x="0" y="0"/>
          <a:ext cx="0" cy="0"/>
          <a:chOff x="0" y="0"/>
          <a:chExt cx="0" cy="0"/>
        </a:xfrm>
      </p:grpSpPr>
      <p:sp>
        <p:nvSpPr>
          <p:cNvPr id="641" name="Google Shape;641;g35d76704834_0_84"/>
          <p:cNvSpPr txBox="1"/>
          <p:nvPr/>
        </p:nvSpPr>
        <p:spPr>
          <a:xfrm>
            <a:off x="239680" y="194093"/>
            <a:ext cx="8521800" cy="284700"/>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マーケットプレイスの狙い</a:t>
            </a:r>
            <a:endParaRPr sz="1400" b="1" i="0" u="none" strike="noStrike" cap="none">
              <a:solidFill>
                <a:srgbClr val="000000"/>
              </a:solidFill>
              <a:latin typeface="Meiryo"/>
              <a:ea typeface="Meiryo"/>
              <a:cs typeface="Meiryo"/>
              <a:sym typeface="Meiryo"/>
            </a:endParaRPr>
          </a:p>
        </p:txBody>
      </p:sp>
      <p:sp>
        <p:nvSpPr>
          <p:cNvPr id="642" name="Google Shape;642;g35d76704834_0_84"/>
          <p:cNvSpPr/>
          <p:nvPr/>
        </p:nvSpPr>
        <p:spPr>
          <a:xfrm>
            <a:off x="717259" y="3730582"/>
            <a:ext cx="7826700" cy="936900"/>
          </a:xfrm>
          <a:prstGeom prst="roundRect">
            <a:avLst>
              <a:gd name="adj" fmla="val 0"/>
            </a:avLst>
          </a:prstGeom>
          <a:solidFill>
            <a:srgbClr val="C68A65"/>
          </a:solidFill>
          <a:ln w="25400" cap="flat" cmpd="sng">
            <a:solidFill>
              <a:schemeClr val="lt1"/>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2000" b="1" i="0" u="none" strike="noStrike" cap="none">
                <a:solidFill>
                  <a:schemeClr val="lt1"/>
                </a:solidFill>
                <a:latin typeface="Meiryo"/>
                <a:ea typeface="Meiryo"/>
                <a:cs typeface="Meiryo"/>
                <a:sym typeface="Meiryo"/>
              </a:rPr>
              <a:t>「フリマの手軽さ × オークションの信頼」を備え</a:t>
            </a:r>
            <a:endParaRPr sz="2000" b="1" i="0" u="none" strike="noStrike" cap="none">
              <a:solidFill>
                <a:schemeClr val="lt1"/>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2000" b="1" i="0" u="none" strike="noStrike" cap="none">
                <a:solidFill>
                  <a:schemeClr val="lt1"/>
                </a:solidFill>
                <a:latin typeface="Meiryo"/>
                <a:ea typeface="Meiryo"/>
                <a:cs typeface="Meiryo"/>
                <a:sym typeface="Meiryo"/>
              </a:rPr>
              <a:t>＝いつでも「即決価格購入＋正規品」のプラットフォーム</a:t>
            </a:r>
            <a:endParaRPr sz="1800" b="1" i="0" u="none" strike="noStrike" cap="none">
              <a:solidFill>
                <a:schemeClr val="lt1"/>
              </a:solidFill>
              <a:latin typeface="Meiryo"/>
              <a:ea typeface="Meiryo"/>
              <a:cs typeface="Meiryo"/>
              <a:sym typeface="Meiryo"/>
            </a:endParaRPr>
          </a:p>
        </p:txBody>
      </p:sp>
      <p:sp>
        <p:nvSpPr>
          <p:cNvPr id="643" name="Google Shape;643;g35d76704834_0_84"/>
          <p:cNvSpPr txBox="1">
            <a:spLocks noGrp="1"/>
          </p:cNvSpPr>
          <p:nvPr>
            <p:ph type="sldNum" idx="12"/>
          </p:nvPr>
        </p:nvSpPr>
        <p:spPr>
          <a:xfrm>
            <a:off x="6965303" y="4530560"/>
            <a:ext cx="2057400" cy="273900"/>
          </a:xfrm>
          <a:prstGeom prst="rect">
            <a:avLst/>
          </a:prstGeom>
          <a:noFill/>
          <a:ln>
            <a:noFill/>
          </a:ln>
        </p:spPr>
        <p:txBody>
          <a:bodyPr spcFirstLastPara="1" wrap="square" lIns="68575" tIns="34275" rIns="68575" bIns="34275" anchor="ctr" anchorCtr="0">
            <a:noAutofit/>
          </a:bodyPr>
          <a:lstStyle/>
          <a:p>
            <a:pPr marL="0" lvl="0" indent="0" algn="r" rtl="0">
              <a:lnSpc>
                <a:spcPct val="100000"/>
              </a:lnSpc>
              <a:spcBef>
                <a:spcPts val="0"/>
              </a:spcBef>
              <a:spcAft>
                <a:spcPts val="0"/>
              </a:spcAft>
              <a:buClr>
                <a:srgbClr val="000000"/>
              </a:buClr>
              <a:buSzPts val="900"/>
              <a:buFont typeface="Arial"/>
              <a:buNone/>
            </a:pPr>
            <a:fld id="{00000000-1234-1234-1234-123412341234}" type="slidenum">
              <a:rPr lang="en-US" altLang="ja"/>
              <a:t>26</a:t>
            </a:fld>
            <a:endParaRPr/>
          </a:p>
        </p:txBody>
      </p:sp>
      <p:sp>
        <p:nvSpPr>
          <p:cNvPr id="644" name="Google Shape;644;g35d76704834_0_84"/>
          <p:cNvSpPr txBox="1"/>
          <p:nvPr/>
        </p:nvSpPr>
        <p:spPr>
          <a:xfrm>
            <a:off x="0" y="586269"/>
            <a:ext cx="9144000" cy="421500"/>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chemeClr val="lt1"/>
                </a:solidFill>
                <a:latin typeface="Meiryo"/>
                <a:ea typeface="Meiryo"/>
                <a:cs typeface="Meiryo"/>
                <a:sym typeface="Meiryo"/>
              </a:rPr>
              <a:t>安心・安全なセカンダリーマーケットやファインワインをより身近に感じてもらうために</a:t>
            </a:r>
            <a:endParaRPr sz="1400" b="1" i="0" u="none" strike="noStrike" cap="none">
              <a:solidFill>
                <a:schemeClr val="lt1"/>
              </a:solidFill>
              <a:latin typeface="Meiryo"/>
              <a:ea typeface="Meiryo"/>
              <a:cs typeface="Meiryo"/>
              <a:sym typeface="Meiryo"/>
            </a:endParaRPr>
          </a:p>
        </p:txBody>
      </p:sp>
      <p:sp>
        <p:nvSpPr>
          <p:cNvPr id="645" name="Google Shape;645;g35d76704834_0_84"/>
          <p:cNvSpPr txBox="1"/>
          <p:nvPr/>
        </p:nvSpPr>
        <p:spPr>
          <a:xfrm>
            <a:off x="622009" y="1253377"/>
            <a:ext cx="4572000" cy="3078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a:solidFill>
                  <a:srgbClr val="000000"/>
                </a:solidFill>
                <a:latin typeface="Meiryo"/>
                <a:ea typeface="Meiryo"/>
                <a:cs typeface="Meiryo"/>
                <a:sym typeface="Meiryo"/>
              </a:rPr>
              <a:t>ワインの (セカンダリー) マーケットの課題</a:t>
            </a:r>
            <a:endParaRPr sz="1400" b="0" i="0" u="none" strike="noStrike" cap="none">
              <a:solidFill>
                <a:srgbClr val="000000"/>
              </a:solidFill>
              <a:latin typeface="Arial"/>
              <a:ea typeface="Arial"/>
              <a:cs typeface="Arial"/>
              <a:sym typeface="Arial"/>
            </a:endParaRPr>
          </a:p>
        </p:txBody>
      </p:sp>
      <p:sp>
        <p:nvSpPr>
          <p:cNvPr id="646" name="Google Shape;646;g35d76704834_0_84"/>
          <p:cNvSpPr/>
          <p:nvPr/>
        </p:nvSpPr>
        <p:spPr>
          <a:xfrm>
            <a:off x="717259" y="1640184"/>
            <a:ext cx="1482900" cy="652800"/>
          </a:xfrm>
          <a:prstGeom prst="rect">
            <a:avLst/>
          </a:prstGeom>
          <a:solidFill>
            <a:srgbClr val="ECE7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rgbClr val="1C1E28"/>
                </a:solidFill>
                <a:latin typeface="Meiryo"/>
                <a:ea typeface="Meiryo"/>
                <a:cs typeface="Meiryo"/>
                <a:sym typeface="Meiryo"/>
              </a:rPr>
              <a:t>売り手</a:t>
            </a:r>
            <a:endParaRPr sz="1400" b="1" i="0" u="none" strike="noStrike" cap="none">
              <a:solidFill>
                <a:srgbClr val="1C1E28"/>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rgbClr val="1C1E28"/>
                </a:solidFill>
                <a:latin typeface="Meiryo"/>
                <a:ea typeface="Meiryo"/>
                <a:cs typeface="Meiryo"/>
                <a:sym typeface="Meiryo"/>
              </a:rPr>
              <a:t>(個人)</a:t>
            </a:r>
            <a:endParaRPr sz="1400" b="1" i="0" u="none" strike="noStrike" cap="none">
              <a:solidFill>
                <a:srgbClr val="1C1E28"/>
              </a:solidFill>
              <a:latin typeface="Meiryo"/>
              <a:ea typeface="Meiryo"/>
              <a:cs typeface="Meiryo"/>
              <a:sym typeface="Meiryo"/>
            </a:endParaRPr>
          </a:p>
        </p:txBody>
      </p:sp>
      <p:sp>
        <p:nvSpPr>
          <p:cNvPr id="647" name="Google Shape;647;g35d76704834_0_84"/>
          <p:cNvSpPr/>
          <p:nvPr/>
        </p:nvSpPr>
        <p:spPr>
          <a:xfrm>
            <a:off x="717259" y="2410172"/>
            <a:ext cx="1482900" cy="837300"/>
          </a:xfrm>
          <a:prstGeom prst="rect">
            <a:avLst/>
          </a:prstGeom>
          <a:solidFill>
            <a:srgbClr val="ECE7E0"/>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rgbClr val="1C1E28"/>
                </a:solidFill>
                <a:latin typeface="Meiryo"/>
                <a:ea typeface="Meiryo"/>
                <a:cs typeface="Meiryo"/>
                <a:sym typeface="Meiryo"/>
              </a:rPr>
              <a:t>買い手</a:t>
            </a:r>
            <a:endParaRPr sz="1400" b="1" i="0" u="none" strike="noStrike" cap="none">
              <a:solidFill>
                <a:srgbClr val="1C1E28"/>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400"/>
              <a:buFont typeface="Arial"/>
              <a:buNone/>
            </a:pPr>
            <a:r>
              <a:rPr lang="ja" sz="1400" b="1" i="0" u="none" strike="noStrike" cap="none">
                <a:solidFill>
                  <a:srgbClr val="1C1E28"/>
                </a:solidFill>
                <a:latin typeface="Meiryo"/>
                <a:ea typeface="Meiryo"/>
                <a:cs typeface="Meiryo"/>
                <a:sym typeface="Meiryo"/>
              </a:rPr>
              <a:t>(個人・飲食店)</a:t>
            </a:r>
            <a:endParaRPr sz="1400" b="0" i="0" u="none" strike="noStrike" cap="none">
              <a:solidFill>
                <a:srgbClr val="000000"/>
              </a:solidFill>
              <a:latin typeface="Arial"/>
              <a:ea typeface="Arial"/>
              <a:cs typeface="Arial"/>
              <a:sym typeface="Arial"/>
            </a:endParaRPr>
          </a:p>
        </p:txBody>
      </p:sp>
      <p:sp>
        <p:nvSpPr>
          <p:cNvPr id="648" name="Google Shape;648;g35d76704834_0_84"/>
          <p:cNvSpPr txBox="1"/>
          <p:nvPr/>
        </p:nvSpPr>
        <p:spPr>
          <a:xfrm>
            <a:off x="2273981" y="1670359"/>
            <a:ext cx="6487500" cy="517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Clr>
                <a:srgbClr val="000000"/>
              </a:buClr>
              <a:buSzPts val="1200"/>
              <a:buFont typeface="Arial"/>
              <a:buNone/>
            </a:pPr>
            <a:r>
              <a:rPr lang="ja" sz="1200" b="1" i="0" u="none" strike="noStrike" cap="none">
                <a:solidFill>
                  <a:srgbClr val="7B6B4D"/>
                </a:solidFill>
                <a:latin typeface="Meiryo"/>
                <a:ea typeface="Meiryo"/>
                <a:cs typeface="Meiryo"/>
                <a:sym typeface="Meiryo"/>
              </a:rPr>
              <a:t>適正価格での売却</a:t>
            </a:r>
            <a:r>
              <a:rPr lang="ja" sz="1200" b="0" i="0" u="none" strike="noStrike" cap="none">
                <a:solidFill>
                  <a:srgbClr val="7B6B4D"/>
                </a:solidFill>
                <a:latin typeface="Meiryo"/>
                <a:ea typeface="Meiryo"/>
                <a:cs typeface="Meiryo"/>
                <a:sym typeface="Meiryo"/>
              </a:rPr>
              <a:t>　　</a:t>
            </a:r>
            <a:r>
              <a:rPr lang="ja" sz="1200" b="0" i="0" u="none" strike="noStrike" cap="none">
                <a:solidFill>
                  <a:srgbClr val="000000"/>
                </a:solidFill>
                <a:latin typeface="Meiryo"/>
                <a:ea typeface="Meiryo"/>
                <a:cs typeface="Meiryo"/>
                <a:sym typeface="Meiryo"/>
              </a:rPr>
              <a:t>ワインを売りたいときに、選択肢が少なく</a:t>
            </a:r>
            <a:r>
              <a:rPr lang="ja" sz="1200" b="1" i="0" u="none" strike="noStrike" cap="none">
                <a:solidFill>
                  <a:srgbClr val="000000"/>
                </a:solidFill>
                <a:latin typeface="Meiryo"/>
                <a:ea typeface="Meiryo"/>
                <a:cs typeface="Meiryo"/>
                <a:sym typeface="Meiryo"/>
              </a:rPr>
              <a:t>適正価格がわからない</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200"/>
              <a:buFont typeface="Arial"/>
              <a:buNone/>
            </a:pPr>
            <a:r>
              <a:rPr lang="ja" sz="1200" b="1" i="0" u="none" strike="noStrike" cap="none">
                <a:solidFill>
                  <a:srgbClr val="7B6B4D"/>
                </a:solidFill>
                <a:latin typeface="Meiryo"/>
                <a:ea typeface="Meiryo"/>
                <a:cs typeface="Meiryo"/>
                <a:sym typeface="Meiryo"/>
              </a:rPr>
              <a:t>流動性が低い　</a:t>
            </a:r>
            <a:r>
              <a:rPr lang="ja" sz="1200" b="1" i="0" u="none" strike="noStrike" cap="none">
                <a:solidFill>
                  <a:srgbClr val="000000"/>
                </a:solidFill>
                <a:latin typeface="Meiryo"/>
                <a:ea typeface="Meiryo"/>
                <a:cs typeface="Meiryo"/>
                <a:sym typeface="Meiryo"/>
              </a:rPr>
              <a:t>　</a:t>
            </a:r>
            <a:r>
              <a:rPr lang="ja" sz="1200" b="0" i="0" u="none" strike="noStrike" cap="none">
                <a:solidFill>
                  <a:srgbClr val="000000"/>
                </a:solidFill>
                <a:latin typeface="Meiryo"/>
                <a:ea typeface="Meiryo"/>
                <a:cs typeface="Meiryo"/>
                <a:sym typeface="Meiryo"/>
              </a:rPr>
              <a:t>　　</a:t>
            </a:r>
            <a:r>
              <a:rPr lang="ja" sz="1200" b="1" i="0" u="none" strike="noStrike" cap="none">
                <a:solidFill>
                  <a:srgbClr val="000000"/>
                </a:solidFill>
                <a:latin typeface="Meiryo"/>
                <a:ea typeface="Meiryo"/>
                <a:cs typeface="Meiryo"/>
                <a:sym typeface="Meiryo"/>
              </a:rPr>
              <a:t>売却に時間がかかる</a:t>
            </a:r>
            <a:r>
              <a:rPr lang="ja" sz="1200" b="0" i="0" u="none" strike="noStrike" cap="none">
                <a:solidFill>
                  <a:srgbClr val="000000"/>
                </a:solidFill>
                <a:latin typeface="Meiryo"/>
                <a:ea typeface="Meiryo"/>
                <a:cs typeface="Meiryo"/>
                <a:sym typeface="Meiryo"/>
              </a:rPr>
              <a:t>か、時間をかけて売却しても高値にはならない</a:t>
            </a:r>
            <a:endParaRPr sz="1400" b="0" i="0" u="none" strike="noStrike" cap="none">
              <a:solidFill>
                <a:srgbClr val="000000"/>
              </a:solidFill>
              <a:latin typeface="Arial"/>
              <a:ea typeface="Arial"/>
              <a:cs typeface="Arial"/>
              <a:sym typeface="Arial"/>
            </a:endParaRPr>
          </a:p>
        </p:txBody>
      </p:sp>
      <p:sp>
        <p:nvSpPr>
          <p:cNvPr id="649" name="Google Shape;649;g35d76704834_0_84"/>
          <p:cNvSpPr txBox="1"/>
          <p:nvPr/>
        </p:nvSpPr>
        <p:spPr>
          <a:xfrm>
            <a:off x="2273981" y="2434184"/>
            <a:ext cx="6517500" cy="757200"/>
          </a:xfrm>
          <a:prstGeom prst="rect">
            <a:avLst/>
          </a:prstGeom>
          <a:noFill/>
          <a:ln>
            <a:noFill/>
          </a:ln>
        </p:spPr>
        <p:txBody>
          <a:bodyPr spcFirstLastPara="1" wrap="square" lIns="91425" tIns="45700" rIns="91425" bIns="45700" anchor="t" anchorCtr="0">
            <a:spAutoFit/>
          </a:bodyPr>
          <a:lstStyle/>
          <a:p>
            <a:pPr marL="0" marR="0" lvl="0" indent="0" algn="l" rtl="0">
              <a:lnSpc>
                <a:spcPct val="130000"/>
              </a:lnSpc>
              <a:spcBef>
                <a:spcPts val="0"/>
              </a:spcBef>
              <a:spcAft>
                <a:spcPts val="0"/>
              </a:spcAft>
              <a:buClr>
                <a:srgbClr val="000000"/>
              </a:buClr>
              <a:buSzPts val="1200"/>
              <a:buFont typeface="Arial"/>
              <a:buNone/>
            </a:pPr>
            <a:r>
              <a:rPr lang="ja" sz="1200" b="1" i="0" u="none" strike="noStrike" cap="none">
                <a:solidFill>
                  <a:srgbClr val="7B6B4D"/>
                </a:solidFill>
                <a:latin typeface="Meiryo"/>
                <a:ea typeface="Meiryo"/>
                <a:cs typeface="Meiryo"/>
                <a:sym typeface="Meiryo"/>
              </a:rPr>
              <a:t>信頼性　</a:t>
            </a:r>
            <a:r>
              <a:rPr lang="ja" sz="1200" b="1" i="0" u="none" strike="noStrike" cap="none">
                <a:solidFill>
                  <a:srgbClr val="1C1E28"/>
                </a:solidFill>
                <a:latin typeface="Meiryo"/>
                <a:ea typeface="Meiryo"/>
                <a:cs typeface="Meiryo"/>
                <a:sym typeface="Meiryo"/>
              </a:rPr>
              <a:t>　　　　　　</a:t>
            </a:r>
            <a:r>
              <a:rPr lang="ja" sz="1200" b="0" i="0" u="none" strike="noStrike" cap="none">
                <a:solidFill>
                  <a:srgbClr val="1C1E28"/>
                </a:solidFill>
                <a:latin typeface="Meiryo"/>
                <a:ea typeface="Meiryo"/>
                <a:cs typeface="Meiryo"/>
                <a:sym typeface="Meiryo"/>
              </a:rPr>
              <a:t>フリマサイトだと匿名のため情報の</a:t>
            </a:r>
            <a:r>
              <a:rPr lang="ja" sz="1200" b="1" i="0" u="none" strike="noStrike" cap="none">
                <a:solidFill>
                  <a:srgbClr val="1C1E28"/>
                </a:solidFill>
                <a:latin typeface="Meiryo"/>
                <a:ea typeface="Meiryo"/>
                <a:cs typeface="Meiryo"/>
                <a:sym typeface="Meiryo"/>
              </a:rPr>
              <a:t>真偽や商品の劣化が信用できない</a:t>
            </a:r>
            <a:endParaRPr sz="1400" b="1"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200"/>
              <a:buFont typeface="Arial"/>
              <a:buNone/>
            </a:pPr>
            <a:r>
              <a:rPr lang="ja" sz="1200" b="1" i="0" u="none" strike="noStrike" cap="none">
                <a:solidFill>
                  <a:srgbClr val="7B6B4D"/>
                </a:solidFill>
                <a:latin typeface="Meiryo"/>
                <a:ea typeface="Meiryo"/>
                <a:cs typeface="Meiryo"/>
                <a:sym typeface="Meiryo"/>
              </a:rPr>
              <a:t>希少銘柄の入手困難</a:t>
            </a:r>
            <a:r>
              <a:rPr lang="ja" sz="1200" b="1" i="0" u="none" strike="noStrike" cap="none">
                <a:solidFill>
                  <a:srgbClr val="1C1E28"/>
                </a:solidFill>
                <a:latin typeface="Meiryo"/>
                <a:ea typeface="Meiryo"/>
                <a:cs typeface="Meiryo"/>
                <a:sym typeface="Meiryo"/>
              </a:rPr>
              <a:t>　</a:t>
            </a:r>
            <a:r>
              <a:rPr lang="ja" sz="1200" b="0" i="0" u="none" strike="noStrike" cap="none">
                <a:solidFill>
                  <a:srgbClr val="1C1E28"/>
                </a:solidFill>
                <a:latin typeface="Meiryo"/>
                <a:ea typeface="Meiryo"/>
                <a:cs typeface="Meiryo"/>
                <a:sym typeface="Meiryo"/>
              </a:rPr>
              <a:t>ECサイトは</a:t>
            </a:r>
            <a:r>
              <a:rPr lang="ja" sz="1200" b="1" i="0" u="none" strike="noStrike" cap="none">
                <a:solidFill>
                  <a:srgbClr val="1C1E28"/>
                </a:solidFill>
                <a:latin typeface="Meiryo"/>
                <a:ea typeface="Meiryo"/>
                <a:cs typeface="Meiryo"/>
                <a:sym typeface="Meiryo"/>
              </a:rPr>
              <a:t>希少銘柄が少なく</a:t>
            </a:r>
            <a:r>
              <a:rPr lang="ja" sz="1200" b="0" i="0" u="none" strike="noStrike" cap="none">
                <a:solidFill>
                  <a:srgbClr val="1C1E28"/>
                </a:solidFill>
                <a:latin typeface="Meiryo"/>
                <a:ea typeface="Meiryo"/>
                <a:cs typeface="Meiryo"/>
                <a:sym typeface="Meiryo"/>
              </a:rPr>
              <a:t>、既存オークションは頻度が少ない</a:t>
            </a:r>
            <a:endParaRPr sz="1400" b="0" i="0" u="none" strike="noStrike" cap="none">
              <a:solidFill>
                <a:srgbClr val="000000"/>
              </a:solidFill>
              <a:latin typeface="Arial"/>
              <a:ea typeface="Arial"/>
              <a:cs typeface="Arial"/>
              <a:sym typeface="Arial"/>
            </a:endParaRPr>
          </a:p>
          <a:p>
            <a:pPr marL="0" marR="0" lvl="0" indent="0" algn="l" rtl="0">
              <a:lnSpc>
                <a:spcPct val="130000"/>
              </a:lnSpc>
              <a:spcBef>
                <a:spcPts val="0"/>
              </a:spcBef>
              <a:spcAft>
                <a:spcPts val="0"/>
              </a:spcAft>
              <a:buClr>
                <a:srgbClr val="000000"/>
              </a:buClr>
              <a:buSzPts val="1200"/>
              <a:buFont typeface="Arial"/>
              <a:buNone/>
            </a:pPr>
            <a:r>
              <a:rPr lang="ja" sz="1200" b="1" i="0" u="none" strike="noStrike" cap="none">
                <a:solidFill>
                  <a:srgbClr val="7B6B4D"/>
                </a:solidFill>
                <a:latin typeface="Meiryo"/>
                <a:ea typeface="Meiryo"/>
                <a:cs typeface="Meiryo"/>
                <a:sym typeface="Meiryo"/>
              </a:rPr>
              <a:t>適正価格での購入　　</a:t>
            </a:r>
            <a:r>
              <a:rPr lang="ja" sz="1200" b="0" i="0" u="none" strike="noStrike" cap="none">
                <a:solidFill>
                  <a:srgbClr val="1C1E28"/>
                </a:solidFill>
                <a:latin typeface="Meiryo"/>
                <a:ea typeface="Meiryo"/>
                <a:cs typeface="Meiryo"/>
                <a:sym typeface="Meiryo"/>
              </a:rPr>
              <a:t>セカンダリーの</a:t>
            </a:r>
            <a:r>
              <a:rPr lang="ja" sz="1200" b="1" i="0" u="none" strike="noStrike" cap="none">
                <a:solidFill>
                  <a:srgbClr val="1C1E28"/>
                </a:solidFill>
                <a:latin typeface="Meiryo"/>
                <a:ea typeface="Meiryo"/>
                <a:cs typeface="Meiryo"/>
                <a:sym typeface="Meiryo"/>
              </a:rPr>
              <a:t>適正価格がわからない</a:t>
            </a:r>
            <a:endParaRPr sz="1400" b="1" i="0" u="none" strike="noStrike" cap="none">
              <a:solidFill>
                <a:srgbClr val="000000"/>
              </a:solidFill>
              <a:latin typeface="Arial"/>
              <a:ea typeface="Arial"/>
              <a:cs typeface="Arial"/>
              <a:sym typeface="Arial"/>
            </a:endParaRPr>
          </a:p>
        </p:txBody>
      </p:sp>
      <p:sp>
        <p:nvSpPr>
          <p:cNvPr id="650" name="Google Shape;650;g35d76704834_0_84"/>
          <p:cNvSpPr/>
          <p:nvPr/>
        </p:nvSpPr>
        <p:spPr>
          <a:xfrm rot="10800000">
            <a:off x="4076850" y="3486092"/>
            <a:ext cx="819000" cy="179400"/>
          </a:xfrm>
          <a:prstGeom prst="triangle">
            <a:avLst>
              <a:gd name="adj" fmla="val 50000"/>
            </a:avLst>
          </a:prstGeom>
          <a:solidFill>
            <a:srgbClr val="BFBFBF"/>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Meiryo"/>
              <a:ea typeface="Meiryo"/>
              <a:cs typeface="Meiryo"/>
              <a:sym typeface="Meiryo"/>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654"/>
        <p:cNvGrpSpPr/>
        <p:nvPr/>
      </p:nvGrpSpPr>
      <p:grpSpPr>
        <a:xfrm>
          <a:off x="0" y="0"/>
          <a:ext cx="0" cy="0"/>
          <a:chOff x="0" y="0"/>
          <a:chExt cx="0" cy="0"/>
        </a:xfrm>
      </p:grpSpPr>
      <p:grpSp>
        <p:nvGrpSpPr>
          <p:cNvPr id="655" name="Google Shape;655;p10"/>
          <p:cNvGrpSpPr/>
          <p:nvPr/>
        </p:nvGrpSpPr>
        <p:grpSpPr>
          <a:xfrm>
            <a:off x="239692" y="1230644"/>
            <a:ext cx="8643357" cy="3436954"/>
            <a:chOff x="342975" y="1071375"/>
            <a:chExt cx="7780500" cy="3696047"/>
          </a:xfrm>
        </p:grpSpPr>
        <p:sp>
          <p:nvSpPr>
            <p:cNvPr id="656" name="Google Shape;656;p10"/>
            <p:cNvSpPr/>
            <p:nvPr/>
          </p:nvSpPr>
          <p:spPr>
            <a:xfrm>
              <a:off x="342975" y="1071375"/>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会員のみで</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安心な取引</a:t>
              </a:r>
              <a:endParaRPr sz="1100" b="1" i="0" u="none" strike="noStrike" cap="none">
                <a:solidFill>
                  <a:srgbClr val="000000"/>
                </a:solidFill>
                <a:latin typeface="Meiryo"/>
                <a:ea typeface="Meiryo"/>
                <a:cs typeface="Meiryo"/>
                <a:sym typeface="Meiryo"/>
              </a:endParaRPr>
            </a:p>
          </p:txBody>
        </p:sp>
        <p:sp>
          <p:nvSpPr>
            <p:cNvPr id="657" name="Google Shape;657;p10"/>
            <p:cNvSpPr/>
            <p:nvPr/>
          </p:nvSpPr>
          <p:spPr>
            <a:xfrm>
              <a:off x="2324175" y="1071375"/>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l"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適正価格</a:t>
              </a:r>
              <a:r>
                <a:rPr lang="ja" sz="1100" b="0" i="0" u="none" strike="noStrike" cap="none">
                  <a:solidFill>
                    <a:srgbClr val="000000"/>
                  </a:solidFill>
                  <a:latin typeface="Meiryo"/>
                  <a:ea typeface="Meiryo"/>
                  <a:cs typeface="Meiryo"/>
                  <a:sym typeface="Meiryo"/>
                </a:rPr>
                <a:t>での売買</a:t>
              </a:r>
              <a:endParaRPr sz="1100" b="0" i="0" u="none" strike="noStrike" cap="none">
                <a:solidFill>
                  <a:srgbClr val="000000"/>
                </a:solidFill>
                <a:latin typeface="Meiryo"/>
                <a:ea typeface="Meiryo"/>
                <a:cs typeface="Meiryo"/>
                <a:sym typeface="Meiryo"/>
              </a:endParaRPr>
            </a:p>
          </p:txBody>
        </p:sp>
        <p:sp>
          <p:nvSpPr>
            <p:cNvPr id="658" name="Google Shape;658;p10"/>
            <p:cNvSpPr/>
            <p:nvPr/>
          </p:nvSpPr>
          <p:spPr>
            <a:xfrm>
              <a:off x="4305375" y="1071375"/>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1"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オファー機能</a:t>
              </a:r>
              <a:r>
                <a:rPr lang="ja" sz="1100" b="0" i="0" u="none" strike="noStrike" cap="none">
                  <a:solidFill>
                    <a:srgbClr val="000000"/>
                  </a:solidFill>
                  <a:latin typeface="Meiryo"/>
                  <a:ea typeface="Meiryo"/>
                  <a:cs typeface="Meiryo"/>
                  <a:sym typeface="Meiryo"/>
                </a:rPr>
                <a:t>つき</a:t>
              </a:r>
              <a:endParaRPr sz="1100" b="0" i="0" u="none" strike="noStrike" cap="none">
                <a:solidFill>
                  <a:srgbClr val="000000"/>
                </a:solidFill>
                <a:latin typeface="Meiryo"/>
                <a:ea typeface="Meiryo"/>
                <a:cs typeface="Meiryo"/>
                <a:sym typeface="Meiryo"/>
              </a:endParaRPr>
            </a:p>
          </p:txBody>
        </p:sp>
        <p:sp>
          <p:nvSpPr>
            <p:cNvPr id="659" name="Google Shape;659;p10"/>
            <p:cNvSpPr/>
            <p:nvPr/>
          </p:nvSpPr>
          <p:spPr>
            <a:xfrm>
              <a:off x="6286575" y="1071375"/>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将来的にはWineBank</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サービス全体で</a:t>
              </a:r>
              <a:r>
                <a:rPr lang="ja" sz="1100" b="1" i="0" u="none" strike="noStrike" cap="none">
                  <a:solidFill>
                    <a:srgbClr val="000000"/>
                  </a:solidFill>
                  <a:latin typeface="Meiryo"/>
                  <a:ea typeface="Meiryo"/>
                  <a:cs typeface="Meiryo"/>
                  <a:sym typeface="Meiryo"/>
                </a:rPr>
                <a:t>シームレスな会員グレード連携</a:t>
              </a:r>
              <a:endParaRPr sz="1100" b="1" i="0" u="none" strike="noStrike" cap="none">
                <a:solidFill>
                  <a:srgbClr val="000000"/>
                </a:solidFill>
                <a:latin typeface="Meiryo"/>
                <a:ea typeface="Meiryo"/>
                <a:cs typeface="Meiryo"/>
                <a:sym typeface="Meiryo"/>
              </a:endParaRPr>
            </a:p>
          </p:txBody>
        </p:sp>
        <p:sp>
          <p:nvSpPr>
            <p:cNvPr id="660" name="Google Shape;660;p10"/>
            <p:cNvSpPr/>
            <p:nvPr/>
          </p:nvSpPr>
          <p:spPr>
            <a:xfrm>
              <a:off x="342975" y="3018722"/>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会員には</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シークレットセール</a:t>
              </a:r>
              <a:r>
                <a:rPr lang="ja" sz="1100" b="0" i="0" u="none" strike="noStrike" cap="none">
                  <a:solidFill>
                    <a:srgbClr val="000000"/>
                  </a:solidFill>
                  <a:latin typeface="Meiryo"/>
                  <a:ea typeface="Meiryo"/>
                  <a:cs typeface="Meiryo"/>
                  <a:sym typeface="Meiryo"/>
                </a:rPr>
                <a:t>の開催</a:t>
              </a:r>
              <a:endParaRPr sz="1100" b="0" i="0" u="none" strike="noStrike" cap="none">
                <a:solidFill>
                  <a:srgbClr val="000000"/>
                </a:solidFill>
                <a:latin typeface="Meiryo"/>
                <a:ea typeface="Meiryo"/>
                <a:cs typeface="Meiryo"/>
                <a:sym typeface="Meiryo"/>
              </a:endParaRPr>
            </a:p>
          </p:txBody>
        </p:sp>
        <p:sp>
          <p:nvSpPr>
            <p:cNvPr id="661" name="Google Shape;661;p10"/>
            <p:cNvSpPr/>
            <p:nvPr/>
          </p:nvSpPr>
          <p:spPr>
            <a:xfrm>
              <a:off x="2324175" y="3018722"/>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ウィッシュリスト登録で</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希望商品出品時に優先通知</a:t>
              </a:r>
              <a:endParaRPr sz="1100" b="1" i="0" u="none" strike="noStrike" cap="none">
                <a:solidFill>
                  <a:srgbClr val="000000"/>
                </a:solidFill>
                <a:latin typeface="Meiryo"/>
                <a:ea typeface="Meiryo"/>
                <a:cs typeface="Meiryo"/>
                <a:sym typeface="Meiryo"/>
              </a:endParaRPr>
            </a:p>
          </p:txBody>
        </p:sp>
        <p:sp>
          <p:nvSpPr>
            <p:cNvPr id="662" name="Google Shape;662;p10"/>
            <p:cNvSpPr/>
            <p:nvPr/>
          </p:nvSpPr>
          <p:spPr>
            <a:xfrm>
              <a:off x="4305375" y="3018722"/>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購入ワインの</a:t>
              </a:r>
              <a:endParaRPr sz="1400" b="0" i="0" u="none" strike="noStrike" cap="none">
                <a:solidFill>
                  <a:srgbClr val="000000"/>
                </a:solidFill>
                <a:latin typeface="Arial"/>
                <a:ea typeface="Arial"/>
                <a:cs typeface="Arial"/>
                <a:sym typeface="Arial"/>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保管を委託可能</a:t>
              </a:r>
              <a:endParaRPr sz="1400" b="0" i="0" u="none" strike="noStrike" cap="none">
                <a:solidFill>
                  <a:srgbClr val="000000"/>
                </a:solidFill>
                <a:latin typeface="Arial"/>
                <a:ea typeface="Arial"/>
                <a:cs typeface="Arial"/>
                <a:sym typeface="Arial"/>
              </a:endParaRPr>
            </a:p>
          </p:txBody>
        </p:sp>
        <p:sp>
          <p:nvSpPr>
            <p:cNvPr id="663" name="Google Shape;663;p10"/>
            <p:cNvSpPr/>
            <p:nvPr/>
          </p:nvSpPr>
          <p:spPr>
            <a:xfrm>
              <a:off x="6286575" y="3018722"/>
              <a:ext cx="1836900" cy="1748700"/>
            </a:xfrm>
            <a:prstGeom prst="roundRect">
              <a:avLst>
                <a:gd name="adj" fmla="val 16667"/>
              </a:avLst>
            </a:prstGeom>
            <a:solidFill>
              <a:srgbClr val="F6F6F6"/>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提携飲食店に送付して</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1" i="0" u="none" strike="noStrike" cap="none">
                  <a:solidFill>
                    <a:srgbClr val="000000"/>
                  </a:solidFill>
                  <a:latin typeface="Meiryo"/>
                  <a:ea typeface="Meiryo"/>
                  <a:cs typeface="Meiryo"/>
                  <a:sym typeface="Meiryo"/>
                </a:rPr>
                <a:t>抜栓料無料</a:t>
              </a:r>
              <a:r>
                <a:rPr lang="ja" sz="1100" b="0" i="0" u="none" strike="noStrike" cap="none">
                  <a:solidFill>
                    <a:srgbClr val="000000"/>
                  </a:solidFill>
                  <a:latin typeface="Meiryo"/>
                  <a:ea typeface="Meiryo"/>
                  <a:cs typeface="Meiryo"/>
                  <a:sym typeface="Meiryo"/>
                </a:rPr>
                <a:t>で楽しめる</a:t>
              </a:r>
              <a:endParaRPr sz="1100" b="0" i="0" u="none" strike="noStrike" cap="none">
                <a:solidFill>
                  <a:srgbClr val="000000"/>
                </a:solidFill>
                <a:latin typeface="Meiryo"/>
                <a:ea typeface="Meiryo"/>
                <a:cs typeface="Meiryo"/>
                <a:sym typeface="Meiryo"/>
              </a:endParaRPr>
            </a:p>
            <a:p>
              <a:pPr marL="0" marR="0" lvl="0" indent="0" algn="ctr" rtl="0">
                <a:lnSpc>
                  <a:spcPct val="120000"/>
                </a:lnSpc>
                <a:spcBef>
                  <a:spcPts val="0"/>
                </a:spcBef>
                <a:spcAft>
                  <a:spcPts val="0"/>
                </a:spcAft>
                <a:buClr>
                  <a:srgbClr val="000000"/>
                </a:buClr>
                <a:buSzPts val="1400"/>
                <a:buFont typeface="Arial"/>
                <a:buNone/>
              </a:pPr>
              <a:r>
                <a:rPr lang="ja" sz="1100" b="0" i="0" u="none" strike="noStrike" cap="none">
                  <a:solidFill>
                    <a:srgbClr val="000000"/>
                  </a:solidFill>
                  <a:latin typeface="Meiryo"/>
                  <a:ea typeface="Meiryo"/>
                  <a:cs typeface="Meiryo"/>
                  <a:sym typeface="Meiryo"/>
                </a:rPr>
                <a:t>（特定会員限定特典）</a:t>
              </a:r>
              <a:endParaRPr sz="1100" b="0" i="0" u="none" strike="noStrike" cap="none">
                <a:solidFill>
                  <a:srgbClr val="000000"/>
                </a:solidFill>
                <a:latin typeface="Meiryo"/>
                <a:ea typeface="Meiryo"/>
                <a:cs typeface="Meiryo"/>
                <a:sym typeface="Meiryo"/>
              </a:endParaRPr>
            </a:p>
          </p:txBody>
        </p:sp>
      </p:grpSp>
      <p:sp>
        <p:nvSpPr>
          <p:cNvPr id="664" name="Google Shape;664;p10"/>
          <p:cNvSpPr txBox="1">
            <a:spLocks noGrp="1"/>
          </p:cNvSpPr>
          <p:nvPr>
            <p:ph type="sldNum" idx="12"/>
          </p:nvPr>
        </p:nvSpPr>
        <p:spPr>
          <a:xfrm>
            <a:off x="6965303" y="4530560"/>
            <a:ext cx="2057400" cy="273900"/>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altLang="ja" sz="1400" b="0" i="0" u="none" strike="noStrike" cap="none">
                <a:solidFill>
                  <a:srgbClr val="888888"/>
                </a:solidFill>
                <a:latin typeface="Crimson Text"/>
                <a:ea typeface="Crimson Text"/>
                <a:cs typeface="Crimson Text"/>
                <a:sym typeface="Crimson Text"/>
              </a:rPr>
              <a:t>27</a:t>
            </a:fld>
            <a:endParaRPr sz="1400" b="0" i="0" u="none" strike="noStrike" cap="none">
              <a:solidFill>
                <a:srgbClr val="888888"/>
              </a:solidFill>
              <a:latin typeface="Crimson Text"/>
              <a:ea typeface="Crimson Text"/>
              <a:cs typeface="Crimson Text"/>
              <a:sym typeface="Crimson Text"/>
            </a:endParaRPr>
          </a:p>
        </p:txBody>
      </p:sp>
      <p:sp>
        <p:nvSpPr>
          <p:cNvPr id="665" name="Google Shape;665;p10"/>
          <p:cNvSpPr txBox="1"/>
          <p:nvPr/>
        </p:nvSpPr>
        <p:spPr>
          <a:xfrm>
            <a:off x="239680" y="194093"/>
            <a:ext cx="8521800" cy="28466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WineBankマーケットプレイスサービス詳細</a:t>
            </a:r>
            <a:endParaRPr sz="1400" b="0" i="0" u="none" strike="noStrike" cap="none">
              <a:solidFill>
                <a:srgbClr val="000000"/>
              </a:solidFill>
              <a:latin typeface="Arial"/>
              <a:ea typeface="Arial"/>
              <a:cs typeface="Arial"/>
              <a:sym typeface="Arial"/>
            </a:endParaRPr>
          </a:p>
        </p:txBody>
      </p:sp>
      <p:sp>
        <p:nvSpPr>
          <p:cNvPr id="666" name="Google Shape;666;p10"/>
          <p:cNvSpPr txBox="1"/>
          <p:nvPr/>
        </p:nvSpPr>
        <p:spPr>
          <a:xfrm>
            <a:off x="0" y="586269"/>
            <a:ext cx="9144000" cy="421388"/>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rgbClr val="FFFFFF"/>
                </a:solidFill>
                <a:latin typeface="Meiryo"/>
                <a:ea typeface="Meiryo"/>
                <a:cs typeface="Meiryo"/>
                <a:sym typeface="Meiryo"/>
              </a:rPr>
              <a:t>安心・安全なセカンダリーマーケットやファインワインをより身近に感じてもらうために</a:t>
            </a:r>
            <a:endParaRPr sz="1400" b="1" i="0" u="none" strike="noStrike" cap="none">
              <a:solidFill>
                <a:srgbClr val="FFFFFF"/>
              </a:solidFill>
              <a:latin typeface="Meiryo"/>
              <a:ea typeface="Meiryo"/>
              <a:cs typeface="Meiryo"/>
              <a:sym typeface="Meiryo"/>
            </a:endParaRPr>
          </a:p>
        </p:txBody>
      </p:sp>
      <p:pic>
        <p:nvPicPr>
          <p:cNvPr id="667" name="Google Shape;667;p10"/>
          <p:cNvPicPr preferRelativeResize="0"/>
          <p:nvPr/>
        </p:nvPicPr>
        <p:blipFill rotWithShape="1">
          <a:blip r:embed="rId3">
            <a:alphaModFix/>
          </a:blip>
          <a:srcRect/>
          <a:stretch/>
        </p:blipFill>
        <p:spPr>
          <a:xfrm>
            <a:off x="887100" y="1539014"/>
            <a:ext cx="644012" cy="421375"/>
          </a:xfrm>
          <a:prstGeom prst="rect">
            <a:avLst/>
          </a:prstGeom>
          <a:noFill/>
          <a:ln>
            <a:noFill/>
          </a:ln>
        </p:spPr>
      </p:pic>
      <p:pic>
        <p:nvPicPr>
          <p:cNvPr id="668" name="Google Shape;668;p10"/>
          <p:cNvPicPr preferRelativeResize="0"/>
          <p:nvPr/>
        </p:nvPicPr>
        <p:blipFill rotWithShape="1">
          <a:blip r:embed="rId4">
            <a:alphaModFix/>
          </a:blip>
          <a:srcRect/>
          <a:stretch/>
        </p:blipFill>
        <p:spPr>
          <a:xfrm>
            <a:off x="3135825" y="1398097"/>
            <a:ext cx="703226" cy="703226"/>
          </a:xfrm>
          <a:prstGeom prst="rect">
            <a:avLst/>
          </a:prstGeom>
          <a:noFill/>
          <a:ln>
            <a:noFill/>
          </a:ln>
        </p:spPr>
      </p:pic>
      <p:pic>
        <p:nvPicPr>
          <p:cNvPr id="669" name="Google Shape;669;p10"/>
          <p:cNvPicPr preferRelativeResize="0"/>
          <p:nvPr/>
        </p:nvPicPr>
        <p:blipFill rotWithShape="1">
          <a:blip r:embed="rId5">
            <a:alphaModFix/>
          </a:blip>
          <a:srcRect/>
          <a:stretch/>
        </p:blipFill>
        <p:spPr>
          <a:xfrm>
            <a:off x="5329025" y="1398098"/>
            <a:ext cx="644000" cy="643980"/>
          </a:xfrm>
          <a:prstGeom prst="rect">
            <a:avLst/>
          </a:prstGeom>
          <a:noFill/>
          <a:ln>
            <a:noFill/>
          </a:ln>
        </p:spPr>
      </p:pic>
      <p:pic>
        <p:nvPicPr>
          <p:cNvPr id="670" name="Google Shape;670;p10"/>
          <p:cNvPicPr preferRelativeResize="0"/>
          <p:nvPr/>
        </p:nvPicPr>
        <p:blipFill rotWithShape="1">
          <a:blip r:embed="rId6">
            <a:alphaModFix/>
          </a:blip>
          <a:srcRect/>
          <a:stretch/>
        </p:blipFill>
        <p:spPr>
          <a:xfrm>
            <a:off x="7539675" y="1392600"/>
            <a:ext cx="644000" cy="644000"/>
          </a:xfrm>
          <a:prstGeom prst="rect">
            <a:avLst/>
          </a:prstGeom>
          <a:noFill/>
          <a:ln>
            <a:noFill/>
          </a:ln>
        </p:spPr>
      </p:pic>
      <p:pic>
        <p:nvPicPr>
          <p:cNvPr id="671" name="Google Shape;671;p10"/>
          <p:cNvPicPr preferRelativeResize="0"/>
          <p:nvPr/>
        </p:nvPicPr>
        <p:blipFill rotWithShape="1">
          <a:blip r:embed="rId7">
            <a:alphaModFix/>
          </a:blip>
          <a:srcRect/>
          <a:stretch/>
        </p:blipFill>
        <p:spPr>
          <a:xfrm>
            <a:off x="3135825" y="3160325"/>
            <a:ext cx="644000" cy="644000"/>
          </a:xfrm>
          <a:prstGeom prst="rect">
            <a:avLst/>
          </a:prstGeom>
          <a:noFill/>
          <a:ln>
            <a:noFill/>
          </a:ln>
        </p:spPr>
      </p:pic>
      <p:pic>
        <p:nvPicPr>
          <p:cNvPr id="672" name="Google Shape;672;p10"/>
          <p:cNvPicPr preferRelativeResize="0"/>
          <p:nvPr/>
        </p:nvPicPr>
        <p:blipFill rotWithShape="1">
          <a:blip r:embed="rId8">
            <a:alphaModFix/>
          </a:blip>
          <a:srcRect/>
          <a:stretch/>
        </p:blipFill>
        <p:spPr>
          <a:xfrm>
            <a:off x="5329025" y="3160334"/>
            <a:ext cx="644000" cy="644000"/>
          </a:xfrm>
          <a:prstGeom prst="rect">
            <a:avLst/>
          </a:prstGeom>
          <a:noFill/>
          <a:ln>
            <a:noFill/>
          </a:ln>
        </p:spPr>
      </p:pic>
      <p:pic>
        <p:nvPicPr>
          <p:cNvPr id="673" name="Google Shape;673;p10"/>
          <p:cNvPicPr preferRelativeResize="0"/>
          <p:nvPr/>
        </p:nvPicPr>
        <p:blipFill rotWithShape="1">
          <a:blip r:embed="rId9">
            <a:alphaModFix/>
          </a:blip>
          <a:srcRect/>
          <a:stretch/>
        </p:blipFill>
        <p:spPr>
          <a:xfrm>
            <a:off x="7522225" y="3121800"/>
            <a:ext cx="644000" cy="644000"/>
          </a:xfrm>
          <a:prstGeom prst="rect">
            <a:avLst/>
          </a:prstGeom>
          <a:noFill/>
          <a:ln>
            <a:noFill/>
          </a:ln>
        </p:spPr>
      </p:pic>
      <p:pic>
        <p:nvPicPr>
          <p:cNvPr id="674" name="Google Shape;674;p10"/>
          <p:cNvPicPr preferRelativeResize="0"/>
          <p:nvPr/>
        </p:nvPicPr>
        <p:blipFill rotWithShape="1">
          <a:blip r:embed="rId10">
            <a:alphaModFix/>
          </a:blip>
          <a:srcRect/>
          <a:stretch/>
        </p:blipFill>
        <p:spPr>
          <a:xfrm>
            <a:off x="883400" y="3202800"/>
            <a:ext cx="703226" cy="703226"/>
          </a:xfrm>
          <a:prstGeom prst="rect">
            <a:avLst/>
          </a:prstGeom>
          <a:noFill/>
          <a:ln>
            <a:noFill/>
          </a:ln>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11"/>
          <p:cNvSpPr txBox="1"/>
          <p:nvPr/>
        </p:nvSpPr>
        <p:spPr>
          <a:xfrm>
            <a:off x="239680" y="194093"/>
            <a:ext cx="8521800" cy="284663"/>
          </a:xfrm>
          <a:prstGeom prst="rect">
            <a:avLst/>
          </a:prstGeom>
          <a:noFill/>
          <a:ln>
            <a:noFill/>
          </a:ln>
        </p:spPr>
        <p:txBody>
          <a:bodyPr spcFirstLastPara="1" wrap="square" lIns="68550" tIns="34275" rIns="68550"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400" b="1" i="0" u="none" strike="noStrike" cap="none">
                <a:solidFill>
                  <a:srgbClr val="000000"/>
                </a:solidFill>
                <a:latin typeface="Meiryo"/>
                <a:ea typeface="Meiryo"/>
                <a:cs typeface="Meiryo"/>
                <a:sym typeface="Meiryo"/>
              </a:rPr>
              <a:t>マーケットプレイス全体構想</a:t>
            </a:r>
            <a:endParaRPr sz="1400" b="1" i="0" u="none" strike="noStrike" cap="none">
              <a:solidFill>
                <a:srgbClr val="000000"/>
              </a:solidFill>
              <a:latin typeface="Meiryo"/>
              <a:ea typeface="Meiryo"/>
              <a:cs typeface="Meiryo"/>
              <a:sym typeface="Meiryo"/>
            </a:endParaRPr>
          </a:p>
        </p:txBody>
      </p:sp>
      <p:sp>
        <p:nvSpPr>
          <p:cNvPr id="680" name="Google Shape;680;p11"/>
          <p:cNvSpPr txBox="1">
            <a:spLocks noGrp="1"/>
          </p:cNvSpPr>
          <p:nvPr>
            <p:ph type="sldNum" idx="12"/>
          </p:nvPr>
        </p:nvSpPr>
        <p:spPr>
          <a:xfrm>
            <a:off x="6965303" y="4530560"/>
            <a:ext cx="2057400" cy="273844"/>
          </a:xfrm>
          <a:prstGeom prst="rect">
            <a:avLst/>
          </a:prstGeom>
          <a:noFill/>
          <a:ln>
            <a:noFill/>
          </a:ln>
        </p:spPr>
        <p:txBody>
          <a:bodyPr spcFirstLastPara="1" wrap="square" lIns="68575" tIns="34275" rIns="68575" bIns="34275" anchor="ctr" anchorCtr="0">
            <a:noAutofit/>
          </a:bodyPr>
          <a:lstStyle/>
          <a:p>
            <a:pPr marL="0" marR="0" lvl="0" indent="0" algn="r" rtl="0">
              <a:lnSpc>
                <a:spcPct val="100000"/>
              </a:lnSpc>
              <a:spcBef>
                <a:spcPts val="0"/>
              </a:spcBef>
              <a:spcAft>
                <a:spcPts val="0"/>
              </a:spcAft>
              <a:buClr>
                <a:srgbClr val="000000"/>
              </a:buClr>
              <a:buSzPts val="900"/>
              <a:buFont typeface="Arial"/>
              <a:buNone/>
            </a:pPr>
            <a:fld id="{00000000-1234-1234-1234-123412341234}" type="slidenum">
              <a:rPr lang="en-US" altLang="ja" sz="1400" b="0" i="0" u="none" strike="noStrike" cap="none">
                <a:solidFill>
                  <a:srgbClr val="888888"/>
                </a:solidFill>
                <a:latin typeface="Crimson Text"/>
                <a:ea typeface="Crimson Text"/>
                <a:cs typeface="Crimson Text"/>
                <a:sym typeface="Crimson Text"/>
              </a:rPr>
              <a:t>28</a:t>
            </a:fld>
            <a:endParaRPr sz="1400" b="0" i="0" u="none" strike="noStrike" cap="none">
              <a:solidFill>
                <a:srgbClr val="888888"/>
              </a:solidFill>
              <a:latin typeface="Crimson Text"/>
              <a:ea typeface="Crimson Text"/>
              <a:cs typeface="Crimson Text"/>
              <a:sym typeface="Crimson Text"/>
            </a:endParaRPr>
          </a:p>
        </p:txBody>
      </p:sp>
      <p:sp>
        <p:nvSpPr>
          <p:cNvPr id="681" name="Google Shape;681;p11"/>
          <p:cNvSpPr txBox="1"/>
          <p:nvPr/>
        </p:nvSpPr>
        <p:spPr>
          <a:xfrm>
            <a:off x="0" y="556712"/>
            <a:ext cx="9144000" cy="363873"/>
          </a:xfrm>
          <a:prstGeom prst="rect">
            <a:avLst/>
          </a:prstGeom>
          <a:solidFill>
            <a:srgbClr val="36394B"/>
          </a:solidFill>
          <a:ln>
            <a:noFill/>
          </a:ln>
        </p:spPr>
        <p:txBody>
          <a:bodyPr spcFirstLastPara="1" wrap="square" lIns="91425" tIns="91425" rIns="91425" bIns="91425" anchor="ctr" anchorCtr="0">
            <a:noAutofit/>
          </a:bodyPr>
          <a:lstStyle/>
          <a:p>
            <a:pPr marL="0" marR="0" lvl="0" indent="0" algn="ctr" rtl="0">
              <a:lnSpc>
                <a:spcPct val="120000"/>
              </a:lnSpc>
              <a:spcBef>
                <a:spcPts val="0"/>
              </a:spcBef>
              <a:spcAft>
                <a:spcPts val="0"/>
              </a:spcAft>
              <a:buClr>
                <a:srgbClr val="000000"/>
              </a:buClr>
              <a:buSzPts val="1400"/>
              <a:buFont typeface="Arial"/>
              <a:buNone/>
            </a:pPr>
            <a:r>
              <a:rPr lang="ja" sz="1400" b="1" i="0" u="none" strike="noStrike" cap="none">
                <a:solidFill>
                  <a:srgbClr val="FFFFFF"/>
                </a:solidFill>
                <a:latin typeface="Meiryo"/>
                <a:ea typeface="Meiryo"/>
                <a:cs typeface="Meiryo"/>
                <a:sym typeface="Meiryo"/>
              </a:rPr>
              <a:t>日常的にワインを楽しみたい個人から、ワインの長期保管、飲食店等の購入層に利用</a:t>
            </a:r>
            <a:endParaRPr sz="1400" b="1" i="0" u="none" strike="noStrike" cap="none">
              <a:solidFill>
                <a:srgbClr val="FFFFFF"/>
              </a:solidFill>
              <a:latin typeface="Meiryo"/>
              <a:ea typeface="Meiryo"/>
              <a:cs typeface="Meiryo"/>
              <a:sym typeface="Meiryo"/>
            </a:endParaRPr>
          </a:p>
        </p:txBody>
      </p:sp>
      <p:sp>
        <p:nvSpPr>
          <p:cNvPr id="682" name="Google Shape;682;p11"/>
          <p:cNvSpPr txBox="1"/>
          <p:nvPr/>
        </p:nvSpPr>
        <p:spPr>
          <a:xfrm>
            <a:off x="302402" y="1785544"/>
            <a:ext cx="8406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600" b="1" i="0" u="none" strike="noStrike" cap="none">
                <a:solidFill>
                  <a:srgbClr val="36394B"/>
                </a:solidFill>
                <a:latin typeface="Meiryo"/>
                <a:ea typeface="Meiryo"/>
                <a:cs typeface="Meiryo"/>
                <a:sym typeface="Meiryo"/>
              </a:rPr>
              <a:t>売り手</a:t>
            </a:r>
            <a:endParaRPr sz="1600" b="0" i="0" u="none" strike="noStrike" cap="none">
              <a:solidFill>
                <a:srgbClr val="36394B"/>
              </a:solidFill>
              <a:latin typeface="Meiryo"/>
              <a:ea typeface="Meiryo"/>
              <a:cs typeface="Meiryo"/>
              <a:sym typeface="Meiryo"/>
            </a:endParaRPr>
          </a:p>
        </p:txBody>
      </p:sp>
      <p:sp>
        <p:nvSpPr>
          <p:cNvPr id="683" name="Google Shape;683;p11"/>
          <p:cNvSpPr txBox="1"/>
          <p:nvPr/>
        </p:nvSpPr>
        <p:spPr>
          <a:xfrm>
            <a:off x="7681736" y="1236440"/>
            <a:ext cx="1159800" cy="338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600" b="1" i="0" u="none" strike="noStrike" cap="none">
                <a:solidFill>
                  <a:srgbClr val="1C1E28"/>
                </a:solidFill>
                <a:latin typeface="Meiryo"/>
                <a:ea typeface="Meiryo"/>
                <a:cs typeface="Meiryo"/>
                <a:sym typeface="Meiryo"/>
              </a:rPr>
              <a:t>買い手</a:t>
            </a:r>
            <a:endParaRPr sz="1600" b="1" i="0" u="none" strike="noStrike" cap="none">
              <a:solidFill>
                <a:srgbClr val="1C1E28"/>
              </a:solidFill>
              <a:latin typeface="Meiryo"/>
              <a:ea typeface="Meiryo"/>
              <a:cs typeface="Meiryo"/>
              <a:sym typeface="Meiryo"/>
            </a:endParaRPr>
          </a:p>
        </p:txBody>
      </p:sp>
      <p:sp>
        <p:nvSpPr>
          <p:cNvPr id="684" name="Google Shape;684;p11"/>
          <p:cNvSpPr/>
          <p:nvPr/>
        </p:nvSpPr>
        <p:spPr>
          <a:xfrm>
            <a:off x="421072" y="2240964"/>
            <a:ext cx="1316100" cy="1316100"/>
          </a:xfrm>
          <a:prstGeom prst="ellipse">
            <a:avLst/>
          </a:prstGeom>
          <a:solidFill>
            <a:srgbClr val="FFFFFF"/>
          </a:solidFill>
          <a:ln w="25400" cap="flat" cmpd="sng">
            <a:solidFill>
              <a:srgbClr val="1C1E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685" name="Google Shape;685;p11"/>
          <p:cNvSpPr/>
          <p:nvPr/>
        </p:nvSpPr>
        <p:spPr>
          <a:xfrm>
            <a:off x="1186009" y="1159801"/>
            <a:ext cx="1336800" cy="1336800"/>
          </a:xfrm>
          <a:prstGeom prst="ellipse">
            <a:avLst/>
          </a:prstGeom>
          <a:solidFill>
            <a:srgbClr val="FFFFFF"/>
          </a:solidFill>
          <a:ln w="25400" cap="flat" cmpd="sng">
            <a:solidFill>
              <a:srgbClr val="1C1E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686" name="Google Shape;686;p11"/>
          <p:cNvSpPr/>
          <p:nvPr/>
        </p:nvSpPr>
        <p:spPr>
          <a:xfrm>
            <a:off x="936207" y="3488170"/>
            <a:ext cx="1316100" cy="1316100"/>
          </a:xfrm>
          <a:prstGeom prst="ellipse">
            <a:avLst/>
          </a:prstGeom>
          <a:solidFill>
            <a:srgbClr val="FFFFFF"/>
          </a:solidFill>
          <a:ln w="25400" cap="flat" cmpd="sng">
            <a:solidFill>
              <a:srgbClr val="1C1E28"/>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cxnSp>
        <p:nvCxnSpPr>
          <p:cNvPr id="687" name="Google Shape;687;p11"/>
          <p:cNvCxnSpPr>
            <a:stCxn id="685" idx="5"/>
          </p:cNvCxnSpPr>
          <p:nvPr/>
        </p:nvCxnSpPr>
        <p:spPr>
          <a:xfrm>
            <a:off x="2327039" y="2300831"/>
            <a:ext cx="203400" cy="111600"/>
          </a:xfrm>
          <a:prstGeom prst="straightConnector1">
            <a:avLst/>
          </a:prstGeom>
          <a:noFill/>
          <a:ln w="38100" cap="flat" cmpd="sng">
            <a:solidFill>
              <a:srgbClr val="1C1E28"/>
            </a:solidFill>
            <a:prstDash val="solid"/>
            <a:round/>
            <a:headEnd type="none" w="sm" len="sm"/>
            <a:tailEnd type="none" w="sm" len="sm"/>
          </a:ln>
        </p:spPr>
      </p:cxnSp>
      <p:cxnSp>
        <p:nvCxnSpPr>
          <p:cNvPr id="688" name="Google Shape;688;p11"/>
          <p:cNvCxnSpPr>
            <a:endCxn id="689" idx="1"/>
          </p:cNvCxnSpPr>
          <p:nvPr/>
        </p:nvCxnSpPr>
        <p:spPr>
          <a:xfrm>
            <a:off x="1730739" y="3033362"/>
            <a:ext cx="765300" cy="109500"/>
          </a:xfrm>
          <a:prstGeom prst="straightConnector1">
            <a:avLst/>
          </a:prstGeom>
          <a:noFill/>
          <a:ln w="38100" cap="flat" cmpd="sng">
            <a:solidFill>
              <a:srgbClr val="1C1E28"/>
            </a:solidFill>
            <a:prstDash val="solid"/>
            <a:round/>
            <a:headEnd type="none" w="sm" len="sm"/>
            <a:tailEnd type="none" w="sm" len="sm"/>
          </a:ln>
        </p:spPr>
      </p:cxnSp>
      <p:cxnSp>
        <p:nvCxnSpPr>
          <p:cNvPr id="690" name="Google Shape;690;p11"/>
          <p:cNvCxnSpPr/>
          <p:nvPr/>
        </p:nvCxnSpPr>
        <p:spPr>
          <a:xfrm rot="10800000" flipH="1">
            <a:off x="2252441" y="3865066"/>
            <a:ext cx="293100" cy="84000"/>
          </a:xfrm>
          <a:prstGeom prst="straightConnector1">
            <a:avLst/>
          </a:prstGeom>
          <a:noFill/>
          <a:ln w="38100" cap="flat" cmpd="sng">
            <a:solidFill>
              <a:srgbClr val="1C1E28"/>
            </a:solidFill>
            <a:prstDash val="solid"/>
            <a:round/>
            <a:headEnd type="none" w="sm" len="sm"/>
            <a:tailEnd type="none" w="sm" len="sm"/>
          </a:ln>
        </p:spPr>
      </p:cxnSp>
      <p:sp>
        <p:nvSpPr>
          <p:cNvPr id="691" name="Google Shape;691;p11"/>
          <p:cNvSpPr/>
          <p:nvPr/>
        </p:nvSpPr>
        <p:spPr>
          <a:xfrm>
            <a:off x="1028125" y="1405275"/>
            <a:ext cx="1529700" cy="227100"/>
          </a:xfrm>
          <a:prstGeom prst="roundRect">
            <a:avLst>
              <a:gd name="adj" fmla="val 16667"/>
            </a:avLst>
          </a:prstGeom>
          <a:solidFill>
            <a:srgbClr val="36394B"/>
          </a:solid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WineBankグループ</a:t>
            </a:r>
            <a:endParaRPr sz="1100" b="1" i="0" u="none" strike="noStrike" cap="none">
              <a:solidFill>
                <a:srgbClr val="FFFFFF"/>
              </a:solidFill>
              <a:latin typeface="Meiryo"/>
              <a:ea typeface="Meiryo"/>
              <a:cs typeface="Meiryo"/>
              <a:sym typeface="Meiryo"/>
            </a:endParaRPr>
          </a:p>
        </p:txBody>
      </p:sp>
      <p:sp>
        <p:nvSpPr>
          <p:cNvPr id="692" name="Google Shape;692;p11"/>
          <p:cNvSpPr txBox="1"/>
          <p:nvPr/>
        </p:nvSpPr>
        <p:spPr>
          <a:xfrm>
            <a:off x="1152206" y="1787350"/>
            <a:ext cx="13710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・自社在庫・管理在庫</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　約26億円</a:t>
            </a:r>
            <a:endParaRPr sz="900" b="0" i="0" u="none" strike="noStrike" cap="none">
              <a:solidFill>
                <a:srgbClr val="000000"/>
              </a:solidFill>
              <a:latin typeface="Meiryo"/>
              <a:ea typeface="Meiryo"/>
              <a:cs typeface="Meiryo"/>
              <a:sym typeface="Meiryo"/>
            </a:endParaRPr>
          </a:p>
        </p:txBody>
      </p:sp>
      <p:sp>
        <p:nvSpPr>
          <p:cNvPr id="693" name="Google Shape;693;p11"/>
          <p:cNvSpPr/>
          <p:nvPr/>
        </p:nvSpPr>
        <p:spPr>
          <a:xfrm>
            <a:off x="410691" y="2521541"/>
            <a:ext cx="1371000" cy="227700"/>
          </a:xfrm>
          <a:prstGeom prst="roundRect">
            <a:avLst>
              <a:gd name="adj" fmla="val 16667"/>
            </a:avLst>
          </a:prstGeom>
          <a:solidFill>
            <a:srgbClr val="36394B"/>
          </a:solid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提携企業顧客</a:t>
            </a:r>
            <a:endParaRPr sz="1100" b="1" i="0" u="none" strike="noStrike" cap="none">
              <a:solidFill>
                <a:srgbClr val="FFFFFF"/>
              </a:solidFill>
              <a:latin typeface="Meiryo"/>
              <a:ea typeface="Meiryo"/>
              <a:cs typeface="Meiryo"/>
              <a:sym typeface="Meiryo"/>
            </a:endParaRPr>
          </a:p>
        </p:txBody>
      </p:sp>
      <p:sp>
        <p:nvSpPr>
          <p:cNvPr id="694" name="Google Shape;694;p11"/>
          <p:cNvSpPr txBox="1"/>
          <p:nvPr/>
        </p:nvSpPr>
        <p:spPr>
          <a:xfrm>
            <a:off x="455014" y="2866250"/>
            <a:ext cx="1282500" cy="3771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1000" b="0" i="0" u="none" strike="noStrike" cap="none">
                <a:solidFill>
                  <a:srgbClr val="000000"/>
                </a:solidFill>
                <a:latin typeface="Meiryo"/>
                <a:ea typeface="Meiryo"/>
                <a:cs typeface="Meiryo"/>
                <a:sym typeface="Meiryo"/>
              </a:rPr>
              <a:t>・推定70－80億円</a:t>
            </a:r>
            <a:endParaRPr sz="10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1000" b="0" i="0" u="none" strike="noStrike" cap="none">
                <a:solidFill>
                  <a:srgbClr val="000000"/>
                </a:solidFill>
                <a:latin typeface="Meiryo"/>
                <a:ea typeface="Meiryo"/>
                <a:cs typeface="Meiryo"/>
                <a:sym typeface="Meiryo"/>
              </a:rPr>
              <a:t>・約20万本</a:t>
            </a:r>
            <a:endParaRPr sz="1000" b="0" i="0" u="none" strike="noStrike" cap="none">
              <a:solidFill>
                <a:srgbClr val="000000"/>
              </a:solidFill>
              <a:latin typeface="Meiryo"/>
              <a:ea typeface="Meiryo"/>
              <a:cs typeface="Meiryo"/>
              <a:sym typeface="Meiryo"/>
            </a:endParaRPr>
          </a:p>
        </p:txBody>
      </p:sp>
      <p:sp>
        <p:nvSpPr>
          <p:cNvPr id="695" name="Google Shape;695;p11"/>
          <p:cNvSpPr/>
          <p:nvPr/>
        </p:nvSpPr>
        <p:spPr>
          <a:xfrm>
            <a:off x="921111" y="3689168"/>
            <a:ext cx="1371000" cy="227700"/>
          </a:xfrm>
          <a:prstGeom prst="roundRect">
            <a:avLst>
              <a:gd name="adj" fmla="val 16667"/>
            </a:avLst>
          </a:prstGeom>
          <a:solidFill>
            <a:srgbClr val="36394B"/>
          </a:solid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プリムール購入者</a:t>
            </a:r>
            <a:endParaRPr sz="1100" b="1" i="0" u="none" strike="noStrike" cap="none">
              <a:solidFill>
                <a:srgbClr val="FFFFFF"/>
              </a:solidFill>
              <a:latin typeface="Meiryo"/>
              <a:ea typeface="Meiryo"/>
              <a:cs typeface="Meiryo"/>
              <a:sym typeface="Meiryo"/>
            </a:endParaRPr>
          </a:p>
        </p:txBody>
      </p:sp>
      <p:sp>
        <p:nvSpPr>
          <p:cNvPr id="696" name="Google Shape;696;p11"/>
          <p:cNvSpPr txBox="1"/>
          <p:nvPr/>
        </p:nvSpPr>
        <p:spPr>
          <a:xfrm>
            <a:off x="1028127" y="3971750"/>
            <a:ext cx="1159800" cy="5310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1000" b="0" i="0" u="none" strike="noStrike" cap="none">
                <a:solidFill>
                  <a:srgbClr val="000000"/>
                </a:solidFill>
                <a:latin typeface="Meiryo"/>
                <a:ea typeface="Meiryo"/>
                <a:cs typeface="Meiryo"/>
                <a:sym typeface="Meiryo"/>
              </a:rPr>
              <a:t>・ボルドー</a:t>
            </a:r>
            <a:endParaRPr sz="10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1000" b="0" i="0" u="none" strike="noStrike" cap="none">
                <a:solidFill>
                  <a:srgbClr val="000000"/>
                </a:solidFill>
                <a:latin typeface="Meiryo"/>
                <a:ea typeface="Meiryo"/>
                <a:cs typeface="Meiryo"/>
                <a:sym typeface="Meiryo"/>
              </a:rPr>
              <a:t>・ブルゴーニュ</a:t>
            </a:r>
            <a:endParaRPr sz="10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1000" b="0" i="0" u="none" strike="noStrike" cap="none">
                <a:solidFill>
                  <a:srgbClr val="000000"/>
                </a:solidFill>
                <a:latin typeface="Meiryo"/>
                <a:ea typeface="Meiryo"/>
                <a:cs typeface="Meiryo"/>
                <a:sym typeface="Meiryo"/>
              </a:rPr>
              <a:t>　樽買い先物売買</a:t>
            </a:r>
            <a:endParaRPr sz="1000" b="0" i="0" u="none" strike="noStrike" cap="none">
              <a:solidFill>
                <a:srgbClr val="000000"/>
              </a:solidFill>
              <a:latin typeface="Meiryo"/>
              <a:ea typeface="Meiryo"/>
              <a:cs typeface="Meiryo"/>
              <a:sym typeface="Meiryo"/>
            </a:endParaRPr>
          </a:p>
        </p:txBody>
      </p:sp>
      <p:cxnSp>
        <p:nvCxnSpPr>
          <p:cNvPr id="697" name="Google Shape;697;p11"/>
          <p:cNvCxnSpPr>
            <a:endCxn id="698" idx="1"/>
          </p:cNvCxnSpPr>
          <p:nvPr/>
        </p:nvCxnSpPr>
        <p:spPr>
          <a:xfrm rot="10800000" flipH="1">
            <a:off x="6567829" y="2424011"/>
            <a:ext cx="893700" cy="243000"/>
          </a:xfrm>
          <a:prstGeom prst="straightConnector1">
            <a:avLst/>
          </a:prstGeom>
          <a:noFill/>
          <a:ln w="38100" cap="flat" cmpd="sng">
            <a:solidFill>
              <a:srgbClr val="30373F"/>
            </a:solidFill>
            <a:prstDash val="solid"/>
            <a:round/>
            <a:headEnd type="none" w="sm" len="sm"/>
            <a:tailEnd type="none" w="sm" len="sm"/>
          </a:ln>
        </p:spPr>
      </p:cxnSp>
      <p:sp>
        <p:nvSpPr>
          <p:cNvPr id="699" name="Google Shape;699;p11"/>
          <p:cNvSpPr/>
          <p:nvPr/>
        </p:nvSpPr>
        <p:spPr>
          <a:xfrm>
            <a:off x="7482323" y="1683949"/>
            <a:ext cx="1202400" cy="1202400"/>
          </a:xfrm>
          <a:prstGeom prst="ellipse">
            <a:avLst/>
          </a:prstGeom>
          <a:solidFill>
            <a:srgbClr val="FFFFFF"/>
          </a:solidFill>
          <a:ln w="25400" cap="flat" cmpd="sng">
            <a:solidFill>
              <a:srgbClr val="3037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00" name="Google Shape;700;p11"/>
          <p:cNvSpPr/>
          <p:nvPr/>
        </p:nvSpPr>
        <p:spPr>
          <a:xfrm>
            <a:off x="7581975" y="2002910"/>
            <a:ext cx="997800" cy="227100"/>
          </a:xfrm>
          <a:prstGeom prst="roundRect">
            <a:avLst>
              <a:gd name="adj" fmla="val 16667"/>
            </a:avLst>
          </a:prstGeom>
          <a:solidFill>
            <a:srgbClr val="1C1E28"/>
          </a:solidFill>
          <a:ln w="9525" cap="flat" cmpd="sng">
            <a:solidFill>
              <a:srgbClr val="30373F"/>
            </a:solidFill>
            <a:prstDash val="solid"/>
            <a:round/>
            <a:headEnd type="none" w="sm" len="sm"/>
            <a:tailEnd type="none" w="sm" len="sm"/>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ネット購買層</a:t>
            </a:r>
            <a:endParaRPr sz="1400" b="0" i="0" u="none" strike="noStrike" cap="none">
              <a:solidFill>
                <a:srgbClr val="000000"/>
              </a:solidFill>
              <a:latin typeface="Meiryo"/>
              <a:ea typeface="Meiryo"/>
              <a:cs typeface="Meiryo"/>
              <a:sym typeface="Meiryo"/>
            </a:endParaRPr>
          </a:p>
        </p:txBody>
      </p:sp>
      <p:sp>
        <p:nvSpPr>
          <p:cNvPr id="698" name="Google Shape;698;p11"/>
          <p:cNvSpPr txBox="1"/>
          <p:nvPr/>
        </p:nvSpPr>
        <p:spPr>
          <a:xfrm>
            <a:off x="7461529" y="2250911"/>
            <a:ext cx="1238700" cy="3462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・楽天/Yahooなどの</a:t>
            </a:r>
            <a:endParaRPr sz="9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　ポータル利用層</a:t>
            </a:r>
            <a:endParaRPr sz="1400" b="0" i="0" u="none" strike="noStrike" cap="none">
              <a:solidFill>
                <a:srgbClr val="000000"/>
              </a:solidFill>
              <a:latin typeface="Meiryo"/>
              <a:ea typeface="Meiryo"/>
              <a:cs typeface="Meiryo"/>
              <a:sym typeface="Meiryo"/>
            </a:endParaRPr>
          </a:p>
        </p:txBody>
      </p:sp>
      <p:sp>
        <p:nvSpPr>
          <p:cNvPr id="701" name="Google Shape;701;p11"/>
          <p:cNvSpPr/>
          <p:nvPr/>
        </p:nvSpPr>
        <p:spPr>
          <a:xfrm>
            <a:off x="7436870" y="2676758"/>
            <a:ext cx="1202400" cy="1202400"/>
          </a:xfrm>
          <a:prstGeom prst="ellipse">
            <a:avLst/>
          </a:prstGeom>
          <a:solidFill>
            <a:srgbClr val="FFFFFF"/>
          </a:solidFill>
          <a:ln w="25400" cap="flat" cmpd="sng">
            <a:solidFill>
              <a:srgbClr val="3037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02" name="Google Shape;702;p11"/>
          <p:cNvSpPr/>
          <p:nvPr/>
        </p:nvSpPr>
        <p:spPr>
          <a:xfrm>
            <a:off x="7530785" y="2869550"/>
            <a:ext cx="1014600" cy="356100"/>
          </a:xfrm>
          <a:prstGeom prst="roundRect">
            <a:avLst>
              <a:gd name="adj" fmla="val 16667"/>
            </a:avLst>
          </a:prstGeom>
          <a:solidFill>
            <a:srgbClr val="1C1E28"/>
          </a:solidFill>
          <a:ln w="9525" cap="flat" cmpd="sng">
            <a:solidFill>
              <a:srgbClr val="30373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オークション購入層</a:t>
            </a:r>
            <a:endParaRPr sz="1400" b="0" i="0" u="none" strike="noStrike" cap="none">
              <a:solidFill>
                <a:srgbClr val="000000"/>
              </a:solidFill>
              <a:latin typeface="Meiryo"/>
              <a:ea typeface="Meiryo"/>
              <a:cs typeface="Meiryo"/>
              <a:sym typeface="Meiryo"/>
            </a:endParaRPr>
          </a:p>
        </p:txBody>
      </p:sp>
      <p:cxnSp>
        <p:nvCxnSpPr>
          <p:cNvPr id="703" name="Google Shape;703;p11"/>
          <p:cNvCxnSpPr>
            <a:stCxn id="689" idx="3"/>
            <a:endCxn id="701" idx="2"/>
          </p:cNvCxnSpPr>
          <p:nvPr/>
        </p:nvCxnSpPr>
        <p:spPr>
          <a:xfrm>
            <a:off x="6563598" y="3142862"/>
            <a:ext cx="873300" cy="135000"/>
          </a:xfrm>
          <a:prstGeom prst="straightConnector1">
            <a:avLst/>
          </a:prstGeom>
          <a:noFill/>
          <a:ln w="38100" cap="flat" cmpd="sng">
            <a:solidFill>
              <a:srgbClr val="30373F"/>
            </a:solidFill>
            <a:prstDash val="solid"/>
            <a:round/>
            <a:headEnd type="none" w="sm" len="sm"/>
            <a:tailEnd type="none" w="sm" len="sm"/>
          </a:ln>
        </p:spPr>
      </p:cxnSp>
      <p:sp>
        <p:nvSpPr>
          <p:cNvPr id="704" name="Google Shape;704;p11"/>
          <p:cNvSpPr/>
          <p:nvPr/>
        </p:nvSpPr>
        <p:spPr>
          <a:xfrm>
            <a:off x="6868423" y="3581251"/>
            <a:ext cx="1202400" cy="1202400"/>
          </a:xfrm>
          <a:prstGeom prst="ellipse">
            <a:avLst/>
          </a:prstGeom>
          <a:solidFill>
            <a:srgbClr val="FFFFFF"/>
          </a:solidFill>
          <a:ln w="25400" cap="flat" cmpd="sng">
            <a:solidFill>
              <a:srgbClr val="30373F"/>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05" name="Google Shape;705;p11"/>
          <p:cNvSpPr/>
          <p:nvPr/>
        </p:nvSpPr>
        <p:spPr>
          <a:xfrm>
            <a:off x="6962313" y="3894481"/>
            <a:ext cx="1014600" cy="270000"/>
          </a:xfrm>
          <a:prstGeom prst="roundRect">
            <a:avLst>
              <a:gd name="adj" fmla="val 16667"/>
            </a:avLst>
          </a:prstGeom>
          <a:solidFill>
            <a:srgbClr val="1C1E28"/>
          </a:solidFill>
          <a:ln w="9525" cap="flat" cmpd="sng">
            <a:solidFill>
              <a:srgbClr val="30373F"/>
            </a:solidFill>
            <a:prstDash val="solid"/>
            <a:round/>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飲食店</a:t>
            </a:r>
            <a:endParaRPr sz="1400" b="0" i="0" u="none" strike="noStrike" cap="none">
              <a:solidFill>
                <a:srgbClr val="000000"/>
              </a:solidFill>
              <a:latin typeface="Meiryo"/>
              <a:ea typeface="Meiryo"/>
              <a:cs typeface="Meiryo"/>
              <a:sym typeface="Meiryo"/>
            </a:endParaRPr>
          </a:p>
        </p:txBody>
      </p:sp>
      <p:cxnSp>
        <p:nvCxnSpPr>
          <p:cNvPr id="706" name="Google Shape;706;p11"/>
          <p:cNvCxnSpPr/>
          <p:nvPr/>
        </p:nvCxnSpPr>
        <p:spPr>
          <a:xfrm>
            <a:off x="6495700" y="4098350"/>
            <a:ext cx="372900" cy="132000"/>
          </a:xfrm>
          <a:prstGeom prst="straightConnector1">
            <a:avLst/>
          </a:prstGeom>
          <a:noFill/>
          <a:ln w="38100" cap="flat" cmpd="sng">
            <a:solidFill>
              <a:srgbClr val="30373F"/>
            </a:solidFill>
            <a:prstDash val="solid"/>
            <a:round/>
            <a:headEnd type="none" w="sm" len="sm"/>
            <a:tailEnd type="none" w="sm" len="sm"/>
          </a:ln>
        </p:spPr>
      </p:cxnSp>
      <p:sp>
        <p:nvSpPr>
          <p:cNvPr id="707" name="Google Shape;707;p11"/>
          <p:cNvSpPr txBox="1"/>
          <p:nvPr/>
        </p:nvSpPr>
        <p:spPr>
          <a:xfrm>
            <a:off x="7387979" y="3283386"/>
            <a:ext cx="1238700" cy="3462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・年間取引額</a:t>
            </a:r>
            <a:endParaRPr sz="900" b="0" i="0" u="none" strike="noStrike" cap="none">
              <a:solidFill>
                <a:srgbClr val="000000"/>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　推定25億円</a:t>
            </a:r>
            <a:endParaRPr sz="1400" b="0" i="0" u="none" strike="noStrike" cap="none">
              <a:solidFill>
                <a:srgbClr val="000000"/>
              </a:solidFill>
              <a:latin typeface="Meiryo"/>
              <a:ea typeface="Meiryo"/>
              <a:cs typeface="Meiryo"/>
              <a:sym typeface="Meiryo"/>
            </a:endParaRPr>
          </a:p>
        </p:txBody>
      </p:sp>
      <p:sp>
        <p:nvSpPr>
          <p:cNvPr id="708" name="Google Shape;708;p11"/>
          <p:cNvSpPr txBox="1"/>
          <p:nvPr/>
        </p:nvSpPr>
        <p:spPr>
          <a:xfrm>
            <a:off x="6871729" y="4251536"/>
            <a:ext cx="1238700" cy="3462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・飲食店での</a:t>
            </a:r>
            <a:endParaRPr sz="900" b="0" i="0" u="none" strike="noStrike" cap="none">
              <a:solidFill>
                <a:srgbClr val="000000"/>
              </a:solidFill>
              <a:latin typeface="Meiryo"/>
              <a:ea typeface="Meiryo"/>
              <a:cs typeface="Meiryo"/>
              <a:sym typeface="Meiryo"/>
            </a:endParaRPr>
          </a:p>
          <a:p>
            <a:pPr marL="0" marR="0" lvl="0" indent="0" algn="ctr" rtl="0">
              <a:lnSpc>
                <a:spcPct val="100000"/>
              </a:lnSpc>
              <a:spcBef>
                <a:spcPts val="0"/>
              </a:spcBef>
              <a:spcAft>
                <a:spcPts val="0"/>
              </a:spcAft>
              <a:buClr>
                <a:srgbClr val="000000"/>
              </a:buClr>
              <a:buSzPts val="1100"/>
              <a:buFont typeface="Arial"/>
              <a:buNone/>
            </a:pPr>
            <a:r>
              <a:rPr lang="ja" sz="900" b="0" i="0" u="none" strike="noStrike" cap="none">
                <a:solidFill>
                  <a:srgbClr val="000000"/>
                </a:solidFill>
                <a:latin typeface="Meiryo"/>
                <a:ea typeface="Meiryo"/>
                <a:cs typeface="Meiryo"/>
                <a:sym typeface="Meiryo"/>
              </a:rPr>
              <a:t>ワイン消費</a:t>
            </a:r>
            <a:endParaRPr sz="900" b="0" i="0" u="none" strike="noStrike" cap="none">
              <a:solidFill>
                <a:srgbClr val="000000"/>
              </a:solidFill>
              <a:latin typeface="Meiryo"/>
              <a:ea typeface="Meiryo"/>
              <a:cs typeface="Meiryo"/>
              <a:sym typeface="Meiryo"/>
            </a:endParaRPr>
          </a:p>
        </p:txBody>
      </p:sp>
      <p:grpSp>
        <p:nvGrpSpPr>
          <p:cNvPr id="709" name="Google Shape;709;p11"/>
          <p:cNvGrpSpPr/>
          <p:nvPr/>
        </p:nvGrpSpPr>
        <p:grpSpPr>
          <a:xfrm>
            <a:off x="2496039" y="1042977"/>
            <a:ext cx="4067559" cy="3829476"/>
            <a:chOff x="2524959" y="642060"/>
            <a:chExt cx="4245000" cy="3804367"/>
          </a:xfrm>
        </p:grpSpPr>
        <p:sp>
          <p:nvSpPr>
            <p:cNvPr id="689" name="Google Shape;689;p11"/>
            <p:cNvSpPr/>
            <p:nvPr/>
          </p:nvSpPr>
          <p:spPr>
            <a:xfrm>
              <a:off x="2524959" y="1009927"/>
              <a:ext cx="4245000" cy="3436500"/>
            </a:xfrm>
            <a:prstGeom prst="roundRect">
              <a:avLst>
                <a:gd name="adj" fmla="val 37297"/>
              </a:avLst>
            </a:prstGeom>
            <a:solidFill>
              <a:srgbClr val="C68A65"/>
            </a:solidFill>
            <a:ln w="25400" cap="flat" cmpd="sng">
              <a:solidFill>
                <a:srgbClr val="C68A65"/>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rgbClr val="FFFFFF"/>
                </a:solidFill>
                <a:latin typeface="Arial"/>
                <a:ea typeface="Arial"/>
                <a:cs typeface="Arial"/>
                <a:sym typeface="Arial"/>
              </a:endParaRPr>
            </a:p>
          </p:txBody>
        </p:sp>
        <p:sp>
          <p:nvSpPr>
            <p:cNvPr id="710" name="Google Shape;710;p11"/>
            <p:cNvSpPr txBox="1"/>
            <p:nvPr/>
          </p:nvSpPr>
          <p:spPr>
            <a:xfrm>
              <a:off x="2746777" y="2184437"/>
              <a:ext cx="3784800" cy="221700"/>
            </a:xfrm>
            <a:prstGeom prst="rect">
              <a:avLst/>
            </a:prstGeom>
            <a:noFill/>
            <a:ln>
              <a:noFill/>
            </a:ln>
          </p:spPr>
          <p:txBody>
            <a:bodyPr spcFirstLastPara="1" wrap="square" lIns="68575" tIns="34275" rIns="68575" bIns="34275"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000" b="1" i="0" u="none" strike="noStrike" cap="none">
                  <a:solidFill>
                    <a:srgbClr val="FFFFFF"/>
                  </a:solidFill>
                  <a:latin typeface="Meiryo"/>
                  <a:ea typeface="Meiryo"/>
                  <a:cs typeface="Meiryo"/>
                  <a:sym typeface="Meiryo"/>
                </a:rPr>
                <a:t>※時価＝インターネット最安値≒オークション価格</a:t>
              </a:r>
              <a:endParaRPr sz="1000" b="1" i="0" u="none" strike="noStrike" cap="none">
                <a:solidFill>
                  <a:srgbClr val="FFFFFF"/>
                </a:solidFill>
                <a:latin typeface="Meiryo"/>
                <a:ea typeface="Meiryo"/>
                <a:cs typeface="Meiryo"/>
                <a:sym typeface="Meiryo"/>
              </a:endParaRPr>
            </a:p>
          </p:txBody>
        </p:sp>
        <p:sp>
          <p:nvSpPr>
            <p:cNvPr id="711" name="Google Shape;711;p11"/>
            <p:cNvSpPr txBox="1"/>
            <p:nvPr/>
          </p:nvSpPr>
          <p:spPr>
            <a:xfrm>
              <a:off x="2739867" y="642060"/>
              <a:ext cx="3816000" cy="305700"/>
            </a:xfrm>
            <a:prstGeom prst="rect">
              <a:avLst/>
            </a:prstGeom>
            <a:noFill/>
            <a:ln>
              <a:noFill/>
            </a:ln>
          </p:spPr>
          <p:txBody>
            <a:bodyPr spcFirstLastPara="1" wrap="square" lIns="91425" tIns="45700" rIns="91425" bIns="45700" anchor="t" anchorCtr="0">
              <a:spAutoFit/>
            </a:bodyPr>
            <a:lstStyle/>
            <a:p>
              <a:pPr marL="0" marR="0" lvl="0" indent="0" algn="ctr" rtl="0">
                <a:lnSpc>
                  <a:spcPct val="100000"/>
                </a:lnSpc>
                <a:spcBef>
                  <a:spcPts val="0"/>
                </a:spcBef>
                <a:spcAft>
                  <a:spcPts val="0"/>
                </a:spcAft>
                <a:buClr>
                  <a:srgbClr val="000000"/>
                </a:buClr>
                <a:buSzPts val="1200"/>
                <a:buFont typeface="Arial"/>
                <a:buNone/>
              </a:pPr>
              <a:r>
                <a:rPr lang="ja" sz="1400" b="1" i="0" u="none" strike="noStrike" cap="none">
                  <a:solidFill>
                    <a:srgbClr val="C68A65"/>
                  </a:solidFill>
                  <a:latin typeface="Meiryo"/>
                  <a:ea typeface="Meiryo"/>
                  <a:cs typeface="Meiryo"/>
                  <a:sym typeface="Meiryo"/>
                </a:rPr>
                <a:t>Wine × Technology ＝ WineTech事業</a:t>
              </a:r>
              <a:endParaRPr sz="1400" b="1" i="0" u="none" strike="noStrike" cap="none">
                <a:solidFill>
                  <a:srgbClr val="C68A65"/>
                </a:solidFill>
                <a:latin typeface="Meiryo"/>
                <a:ea typeface="Meiryo"/>
                <a:cs typeface="Meiryo"/>
                <a:sym typeface="Meiryo"/>
              </a:endParaRPr>
            </a:p>
          </p:txBody>
        </p:sp>
        <p:sp>
          <p:nvSpPr>
            <p:cNvPr id="712" name="Google Shape;712;p11"/>
            <p:cNvSpPr txBox="1"/>
            <p:nvPr/>
          </p:nvSpPr>
          <p:spPr>
            <a:xfrm>
              <a:off x="4615328" y="2929925"/>
              <a:ext cx="2057400" cy="859916"/>
            </a:xfrm>
            <a:prstGeom prst="rect">
              <a:avLst/>
            </a:prstGeom>
            <a:noFill/>
            <a:ln>
              <a:noFill/>
            </a:ln>
          </p:spPr>
          <p:txBody>
            <a:bodyPr spcFirstLastPara="1" wrap="square" lIns="68575" tIns="34275" rIns="68575" bIns="3427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・提携飲食店割引</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・ワイン持込料無料</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・ネット最安値割引購入</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・贈答ワイン選定、配送</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・その他ワインにかかわる全般</a:t>
              </a:r>
              <a:endParaRPr sz="900" b="0" i="0" u="none" strike="noStrike" cap="none">
                <a:solidFill>
                  <a:srgbClr val="FFFFFF"/>
                </a:solidFill>
                <a:latin typeface="Meiryo"/>
                <a:ea typeface="Meiryo"/>
                <a:cs typeface="Meiryo"/>
                <a:sym typeface="Meiryo"/>
              </a:endParaRPr>
            </a:p>
          </p:txBody>
        </p:sp>
        <p:sp>
          <p:nvSpPr>
            <p:cNvPr id="713" name="Google Shape;713;p11"/>
            <p:cNvSpPr/>
            <p:nvPr/>
          </p:nvSpPr>
          <p:spPr>
            <a:xfrm>
              <a:off x="3170111" y="1594905"/>
              <a:ext cx="2877300" cy="237000"/>
            </a:xfrm>
            <a:prstGeom prst="roundRect">
              <a:avLst>
                <a:gd name="adj" fmla="val 50000"/>
              </a:avLst>
            </a:pr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000"/>
                <a:buFont typeface="Arial"/>
                <a:buNone/>
              </a:pPr>
              <a:r>
                <a:rPr lang="ja" sz="1000" b="1" i="0" u="none" strike="noStrike" cap="none">
                  <a:solidFill>
                    <a:srgbClr val="C68A65"/>
                  </a:solidFill>
                  <a:latin typeface="Meiryo"/>
                  <a:ea typeface="Meiryo"/>
                  <a:cs typeface="Meiryo"/>
                  <a:sym typeface="Meiryo"/>
                </a:rPr>
                <a:t>WineBank Market Place</a:t>
              </a:r>
              <a:endParaRPr sz="1000" b="1" i="0" u="none" strike="noStrike" cap="none">
                <a:solidFill>
                  <a:srgbClr val="C68A65"/>
                </a:solidFill>
                <a:latin typeface="Meiryo"/>
                <a:ea typeface="Meiryo"/>
                <a:cs typeface="Meiryo"/>
                <a:sym typeface="Meiryo"/>
              </a:endParaRPr>
            </a:p>
          </p:txBody>
        </p:sp>
        <p:sp>
          <p:nvSpPr>
            <p:cNvPr id="714" name="Google Shape;714;p11"/>
            <p:cNvSpPr/>
            <p:nvPr/>
          </p:nvSpPr>
          <p:spPr>
            <a:xfrm>
              <a:off x="2675176" y="1951727"/>
              <a:ext cx="4046100" cy="232800"/>
            </a:xfrm>
            <a:prstGeom prst="roundRect">
              <a:avLst>
                <a:gd name="adj" fmla="val 16667"/>
              </a:avLst>
            </a:prstGeom>
            <a:noFill/>
            <a:ln>
              <a:noFill/>
            </a:ln>
          </p:spPr>
          <p:txBody>
            <a:bodyPr spcFirstLastPara="1" wrap="square" lIns="68575" tIns="34275" rIns="68575" bIns="34275" anchor="t"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100" b="1" i="0" u="none" strike="noStrike" cap="none">
                  <a:solidFill>
                    <a:srgbClr val="FFFFFF"/>
                  </a:solidFill>
                  <a:latin typeface="Meiryo"/>
                  <a:ea typeface="Meiryo"/>
                  <a:cs typeface="Meiryo"/>
                  <a:sym typeface="Meiryo"/>
                </a:rPr>
                <a:t>「時価にて」ご所有ワインの売却 ＆ 消費用ワインの購入</a:t>
              </a:r>
              <a:endParaRPr sz="1100" b="1" i="0" u="none" strike="noStrike" cap="none">
                <a:solidFill>
                  <a:srgbClr val="FFFFFF"/>
                </a:solidFill>
                <a:latin typeface="Meiryo"/>
                <a:ea typeface="Meiryo"/>
                <a:cs typeface="Meiryo"/>
                <a:sym typeface="Meiryo"/>
              </a:endParaRPr>
            </a:p>
          </p:txBody>
        </p:sp>
        <p:sp>
          <p:nvSpPr>
            <p:cNvPr id="715" name="Google Shape;715;p11"/>
            <p:cNvSpPr/>
            <p:nvPr/>
          </p:nvSpPr>
          <p:spPr>
            <a:xfrm>
              <a:off x="2947095" y="2601898"/>
              <a:ext cx="1572900" cy="237000"/>
            </a:xfrm>
            <a:prstGeom prst="roundRect">
              <a:avLst>
                <a:gd name="adj" fmla="val 50000"/>
              </a:avLst>
            </a:pr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000" b="1" i="0" u="none" strike="noStrike" cap="none">
                  <a:solidFill>
                    <a:srgbClr val="C68A65"/>
                  </a:solidFill>
                  <a:latin typeface="Meiryo"/>
                  <a:ea typeface="Meiryo"/>
                  <a:cs typeface="Meiryo"/>
                  <a:sym typeface="Meiryo"/>
                </a:rPr>
                <a:t>買い手購入用途</a:t>
              </a:r>
              <a:endParaRPr sz="1000" b="1" i="0" u="none" strike="noStrike" cap="none">
                <a:solidFill>
                  <a:srgbClr val="C68A65"/>
                </a:solidFill>
                <a:latin typeface="Meiryo"/>
                <a:ea typeface="Meiryo"/>
                <a:cs typeface="Meiryo"/>
                <a:sym typeface="Meiryo"/>
              </a:endParaRPr>
            </a:p>
          </p:txBody>
        </p:sp>
        <p:sp>
          <p:nvSpPr>
            <p:cNvPr id="716" name="Google Shape;716;p11"/>
            <p:cNvSpPr/>
            <p:nvPr/>
          </p:nvSpPr>
          <p:spPr>
            <a:xfrm>
              <a:off x="4667739" y="2601908"/>
              <a:ext cx="1687200" cy="237000"/>
            </a:xfrm>
            <a:prstGeom prst="roundRect">
              <a:avLst>
                <a:gd name="adj" fmla="val 50000"/>
              </a:avLst>
            </a:prstGeom>
            <a:solidFill>
              <a:srgbClr val="FFFFF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r>
                <a:rPr lang="ja" sz="1000" b="1" i="0" u="none" strike="noStrike" cap="none">
                  <a:solidFill>
                    <a:srgbClr val="C68A65"/>
                  </a:solidFill>
                  <a:latin typeface="Meiryo"/>
                  <a:ea typeface="Meiryo"/>
                  <a:cs typeface="Meiryo"/>
                  <a:sym typeface="Meiryo"/>
                </a:rPr>
                <a:t>Market Placeメリット</a:t>
              </a:r>
              <a:endParaRPr sz="1000" b="1" i="0" u="none" strike="noStrike" cap="none">
                <a:solidFill>
                  <a:srgbClr val="C68A65"/>
                </a:solidFill>
                <a:latin typeface="Meiryo"/>
                <a:ea typeface="Meiryo"/>
                <a:cs typeface="Meiryo"/>
                <a:sym typeface="Meiryo"/>
              </a:endParaRPr>
            </a:p>
          </p:txBody>
        </p:sp>
        <p:sp>
          <p:nvSpPr>
            <p:cNvPr id="717" name="Google Shape;717;p11"/>
            <p:cNvSpPr txBox="1"/>
            <p:nvPr/>
          </p:nvSpPr>
          <p:spPr>
            <a:xfrm>
              <a:off x="2947095" y="2971151"/>
              <a:ext cx="1719895" cy="859916"/>
            </a:xfrm>
            <a:prstGeom prst="rect">
              <a:avLst/>
            </a:prstGeom>
            <a:noFill/>
            <a:ln>
              <a:noFill/>
            </a:ln>
          </p:spPr>
          <p:txBody>
            <a:bodyPr spcFirstLastPara="1" wrap="square" lIns="68575" tIns="34275" rIns="68575" bIns="34275" anchor="t" anchorCtr="0">
              <a:spAutoFit/>
            </a:bodyPr>
            <a:lstStyle/>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・ワイン長期保管</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・飲食店仕入</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・ワイン消費（BYO）</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・ワイン贈答</a:t>
              </a:r>
              <a:endParaRPr sz="900" b="0" i="0" u="none" strike="noStrike" cap="none">
                <a:solidFill>
                  <a:srgbClr val="FFFFFF"/>
                </a:solidFill>
                <a:latin typeface="Meiryo"/>
                <a:ea typeface="Meiryo"/>
                <a:cs typeface="Meiryo"/>
                <a:sym typeface="Meiryo"/>
              </a:endParaRPr>
            </a:p>
            <a:p>
              <a:pPr marL="0" marR="0" lvl="0" indent="0" algn="l" rtl="0">
                <a:lnSpc>
                  <a:spcPct val="115000"/>
                </a:lnSpc>
                <a:spcBef>
                  <a:spcPts val="0"/>
                </a:spcBef>
                <a:spcAft>
                  <a:spcPts val="0"/>
                </a:spcAft>
                <a:buClr>
                  <a:srgbClr val="000000"/>
                </a:buClr>
                <a:buSzPts val="1100"/>
                <a:buFont typeface="Arial"/>
                <a:buNone/>
              </a:pPr>
              <a:r>
                <a:rPr lang="ja" sz="900" b="0" i="0" u="none" strike="noStrike" cap="none">
                  <a:solidFill>
                    <a:srgbClr val="FFFFFF"/>
                  </a:solidFill>
                  <a:latin typeface="Meiryo"/>
                  <a:ea typeface="Meiryo"/>
                  <a:cs typeface="Meiryo"/>
                  <a:sym typeface="Meiryo"/>
                </a:rPr>
                <a:t>・その他</a:t>
              </a:r>
              <a:endParaRPr sz="900" b="0" i="0" u="none" strike="noStrike" cap="none">
                <a:solidFill>
                  <a:srgbClr val="FFFFFF"/>
                </a:solidFill>
                <a:latin typeface="Meiryo"/>
                <a:ea typeface="Meiryo"/>
                <a:cs typeface="Meiryo"/>
                <a:sym typeface="Meiryo"/>
              </a:endParaRPr>
            </a:p>
          </p:txBody>
        </p:sp>
      </p:gr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721"/>
        <p:cNvGrpSpPr/>
        <p:nvPr/>
      </p:nvGrpSpPr>
      <p:grpSpPr>
        <a:xfrm>
          <a:off x="0" y="0"/>
          <a:ext cx="0" cy="0"/>
          <a:chOff x="0" y="0"/>
          <a:chExt cx="0" cy="0"/>
        </a:xfrm>
      </p:grpSpPr>
      <p:sp>
        <p:nvSpPr>
          <p:cNvPr id="722" name="Google Shape;722;g382af4871d9_0_373"/>
          <p:cNvSpPr/>
          <p:nvPr/>
        </p:nvSpPr>
        <p:spPr>
          <a:xfrm>
            <a:off x="0" y="5012872"/>
            <a:ext cx="9144000" cy="130500"/>
          </a:xfrm>
          <a:prstGeom prst="rect">
            <a:avLst/>
          </a:prstGeom>
          <a:solidFill>
            <a:srgbClr val="30373F"/>
          </a:solidFill>
          <a:ln>
            <a:noFill/>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100"/>
              <a:buFont typeface="Arial"/>
              <a:buNone/>
            </a:pPr>
            <a:endParaRPr sz="1100" b="0" i="0" u="none" strike="noStrike" cap="none">
              <a:solidFill>
                <a:srgbClr val="FFFFFF"/>
              </a:solidFill>
              <a:latin typeface="Arial"/>
              <a:ea typeface="Arial"/>
              <a:cs typeface="Arial"/>
              <a:sym typeface="Arial"/>
            </a:endParaRPr>
          </a:p>
        </p:txBody>
      </p:sp>
      <p:pic>
        <p:nvPicPr>
          <p:cNvPr id="723" name="Google Shape;723;g382af4871d9_0_373"/>
          <p:cNvPicPr preferRelativeResize="0"/>
          <p:nvPr/>
        </p:nvPicPr>
        <p:blipFill rotWithShape="1">
          <a:blip r:embed="rId3">
            <a:alphaModFix/>
          </a:blip>
          <a:srcRect/>
          <a:stretch/>
        </p:blipFill>
        <p:spPr>
          <a:xfrm>
            <a:off x="4096289" y="1827931"/>
            <a:ext cx="877658" cy="255439"/>
          </a:xfrm>
          <a:prstGeom prst="rect">
            <a:avLst/>
          </a:prstGeom>
          <a:noFill/>
          <a:ln>
            <a:noFill/>
          </a:ln>
        </p:spPr>
      </p:pic>
      <p:pic>
        <p:nvPicPr>
          <p:cNvPr id="724" name="Google Shape;724;g382af4871d9_0_373"/>
          <p:cNvPicPr preferRelativeResize="0"/>
          <p:nvPr/>
        </p:nvPicPr>
        <p:blipFill rotWithShape="1">
          <a:blip r:embed="rId4">
            <a:alphaModFix/>
          </a:blip>
          <a:srcRect/>
          <a:stretch/>
        </p:blipFill>
        <p:spPr>
          <a:xfrm>
            <a:off x="3626061" y="2597196"/>
            <a:ext cx="1347886" cy="189702"/>
          </a:xfrm>
          <a:prstGeom prst="rect">
            <a:avLst/>
          </a:prstGeom>
          <a:noFill/>
          <a:ln>
            <a:noFill/>
          </a:ln>
        </p:spPr>
      </p:pic>
      <p:sp>
        <p:nvSpPr>
          <p:cNvPr id="725" name="Google Shape;725;g382af4871d9_0_373"/>
          <p:cNvSpPr/>
          <p:nvPr/>
        </p:nvSpPr>
        <p:spPr>
          <a:xfrm>
            <a:off x="4291247" y="4848004"/>
            <a:ext cx="586200" cy="125400"/>
          </a:xfrm>
          <a:prstGeom prst="roundRect">
            <a:avLst>
              <a:gd name="adj" fmla="val 3217"/>
            </a:avLst>
          </a:prstGeom>
          <a:noFill/>
          <a:ln w="9525" cap="flat" cmpd="sng">
            <a:solidFill>
              <a:srgbClr val="FF0000"/>
            </a:solidFill>
            <a:prstDash val="solid"/>
            <a:miter lim="80"/>
            <a:headEnd type="none" w="sm" len="sm"/>
            <a:tailEnd type="none" w="sm" len="sm"/>
          </a:ln>
        </p:spPr>
        <p:txBody>
          <a:bodyPr spcFirstLastPara="1" wrap="square" lIns="68550" tIns="34275" rIns="68550" bIns="34275" anchor="ctr" anchorCtr="0">
            <a:noAutofit/>
          </a:bodyPr>
          <a:lstStyle/>
          <a:p>
            <a:pPr marL="0" marR="0" lvl="0" indent="0" algn="ctr" rtl="0">
              <a:lnSpc>
                <a:spcPct val="100000"/>
              </a:lnSpc>
              <a:spcBef>
                <a:spcPts val="0"/>
              </a:spcBef>
              <a:spcAft>
                <a:spcPts val="0"/>
              </a:spcAft>
              <a:buClr>
                <a:srgbClr val="000000"/>
              </a:buClr>
              <a:buSzPts val="450"/>
              <a:buFont typeface="Arial"/>
              <a:buNone/>
            </a:pPr>
            <a:r>
              <a:rPr lang="ja" sz="450" b="0" i="0" u="none" strike="noStrike" cap="none">
                <a:solidFill>
                  <a:srgbClr val="FF0000"/>
                </a:solidFill>
                <a:latin typeface="Meiryo"/>
                <a:ea typeface="Meiryo"/>
                <a:cs typeface="Meiryo"/>
                <a:sym typeface="Meiryo"/>
              </a:rPr>
              <a:t>CONFIDENTIAL</a:t>
            </a:r>
            <a:endParaRPr sz="1050" b="0" i="0" u="none" strike="noStrike" cap="none">
              <a:solidFill>
                <a:srgbClr val="000000"/>
              </a:solidFill>
              <a:latin typeface="Arial"/>
              <a:ea typeface="Arial"/>
              <a:cs typeface="Arial"/>
              <a:sym typeface="Arial"/>
            </a:endParaRPr>
          </a:p>
        </p:txBody>
      </p:sp>
      <p:sp>
        <p:nvSpPr>
          <p:cNvPr id="726" name="Google Shape;726;g382af4871d9_0_373"/>
          <p:cNvSpPr txBox="1"/>
          <p:nvPr/>
        </p:nvSpPr>
        <p:spPr>
          <a:xfrm>
            <a:off x="524122" y="1864095"/>
            <a:ext cx="8120400" cy="6234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３．SBI証券（トップページバナー＆メルマガ）</a:t>
            </a:r>
            <a:endParaRPr sz="12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　　2023年10月～、1か月間、申込者40名、投資金額1000万超　</a:t>
            </a:r>
            <a:r>
              <a:rPr lang="ja" sz="1200" b="0" i="0" u="none" strike="noStrike" cap="none">
                <a:solidFill>
                  <a:srgbClr val="FF0000"/>
                </a:solidFill>
                <a:latin typeface="Meiryo"/>
                <a:ea typeface="Meiryo"/>
                <a:cs typeface="Meiryo"/>
                <a:sym typeface="Meiryo"/>
              </a:rPr>
              <a:t>→　</a:t>
            </a:r>
            <a:r>
              <a:rPr lang="ja" sz="1200" b="1" i="0" u="none" strike="noStrike" cap="none">
                <a:solidFill>
                  <a:srgbClr val="FF0000"/>
                </a:solidFill>
                <a:latin typeface="Meiryo"/>
                <a:ea typeface="Meiryo"/>
                <a:cs typeface="Meiryo"/>
                <a:sym typeface="Meiryo"/>
              </a:rPr>
              <a:t>投資層が多い広告と相性が良い</a:t>
            </a:r>
            <a:endParaRPr sz="1200" b="1" i="0" u="none" strike="noStrike" cap="none">
              <a:solidFill>
                <a:srgbClr val="FF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FF0000"/>
                </a:solidFill>
                <a:latin typeface="Meiryo"/>
                <a:ea typeface="Meiryo"/>
                <a:cs typeface="Meiryo"/>
                <a:sym typeface="Meiryo"/>
              </a:rPr>
              <a:t>　　</a:t>
            </a:r>
            <a:r>
              <a:rPr lang="ja" sz="1200" b="0" i="0" u="none" strike="noStrike" cap="none">
                <a:solidFill>
                  <a:schemeClr val="dk1"/>
                </a:solidFill>
                <a:latin typeface="Meiryo"/>
                <a:ea typeface="Meiryo"/>
                <a:cs typeface="Meiryo"/>
                <a:sym typeface="Meiryo"/>
              </a:rPr>
              <a:t>2024年9月メルマガのみ実施、投資額1000万超</a:t>
            </a:r>
            <a:endParaRPr sz="1200" b="0" i="0" u="none" strike="noStrike" cap="none">
              <a:solidFill>
                <a:schemeClr val="dk1"/>
              </a:solidFill>
              <a:latin typeface="Meiryo"/>
              <a:ea typeface="Meiryo"/>
              <a:cs typeface="Meiryo"/>
              <a:sym typeface="Meiryo"/>
            </a:endParaRPr>
          </a:p>
        </p:txBody>
      </p:sp>
      <p:sp>
        <p:nvSpPr>
          <p:cNvPr id="727" name="Google Shape;727;g382af4871d9_0_373"/>
          <p:cNvSpPr txBox="1"/>
          <p:nvPr/>
        </p:nvSpPr>
        <p:spPr>
          <a:xfrm>
            <a:off x="524122" y="2583182"/>
            <a:ext cx="81204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４．資産運用エキスポ＠東京ビッグサイト</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　　2024年7月～、3日間、申込者17名、投資金額1500万前後　</a:t>
            </a:r>
            <a:r>
              <a:rPr lang="ja" sz="1200" b="0" i="0" u="none" strike="noStrike" cap="none">
                <a:solidFill>
                  <a:srgbClr val="FF0000"/>
                </a:solidFill>
                <a:latin typeface="Meiryo"/>
                <a:ea typeface="Meiryo"/>
                <a:cs typeface="Meiryo"/>
                <a:sym typeface="Meiryo"/>
              </a:rPr>
              <a:t> →　</a:t>
            </a:r>
            <a:r>
              <a:rPr lang="ja" sz="1200" b="1" i="0" u="none" strike="noStrike" cap="none">
                <a:solidFill>
                  <a:srgbClr val="FF0000"/>
                </a:solidFill>
                <a:latin typeface="Meiryo"/>
                <a:ea typeface="Meiryo"/>
                <a:cs typeface="Meiryo"/>
                <a:sym typeface="Meiryo"/>
              </a:rPr>
              <a:t>富裕層向けリアルイベントも相性が良い</a:t>
            </a:r>
            <a:r>
              <a:rPr lang="ja" sz="1200" b="0" i="0" u="none" strike="noStrike" cap="none">
                <a:solidFill>
                  <a:srgbClr val="000000"/>
                </a:solidFill>
                <a:latin typeface="Meiryo"/>
                <a:ea typeface="Meiryo"/>
                <a:cs typeface="Meiryo"/>
                <a:sym typeface="Meiryo"/>
              </a:rPr>
              <a:t>　</a:t>
            </a:r>
            <a:endParaRPr sz="1400" b="0" i="0" u="none" strike="noStrike" cap="none">
              <a:solidFill>
                <a:srgbClr val="000000"/>
              </a:solidFill>
              <a:latin typeface="Arial"/>
              <a:ea typeface="Arial"/>
              <a:cs typeface="Arial"/>
              <a:sym typeface="Arial"/>
            </a:endParaRPr>
          </a:p>
        </p:txBody>
      </p:sp>
      <p:sp>
        <p:nvSpPr>
          <p:cNvPr id="728" name="Google Shape;728;g382af4871d9_0_373"/>
          <p:cNvSpPr txBox="1"/>
          <p:nvPr/>
        </p:nvSpPr>
        <p:spPr>
          <a:xfrm>
            <a:off x="511775" y="1257877"/>
            <a:ext cx="81204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２．WineFund運用</a:t>
            </a:r>
            <a:endParaRPr sz="12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　　2022年10月～、総額4億、上場企業中心の投資家中心、TK出資及び社債活用　</a:t>
            </a:r>
            <a:r>
              <a:rPr lang="ja" sz="1200" b="0" i="0" u="none" strike="noStrike" cap="none">
                <a:solidFill>
                  <a:srgbClr val="FF0000"/>
                </a:solidFill>
                <a:latin typeface="Meiryo"/>
                <a:ea typeface="Meiryo"/>
                <a:cs typeface="Meiryo"/>
                <a:sym typeface="Meiryo"/>
              </a:rPr>
              <a:t> →　</a:t>
            </a:r>
            <a:r>
              <a:rPr lang="ja" sz="1200" b="1" i="0" u="none" strike="noStrike" cap="none">
                <a:solidFill>
                  <a:srgbClr val="FF0000"/>
                </a:solidFill>
                <a:latin typeface="Meiryo"/>
                <a:ea typeface="Meiryo"/>
                <a:cs typeface="Meiryo"/>
                <a:sym typeface="Meiryo"/>
              </a:rPr>
              <a:t>超富裕層とも相性が良い</a:t>
            </a:r>
            <a:endParaRPr sz="1200" b="1" i="0" u="none" strike="noStrike" cap="none">
              <a:solidFill>
                <a:srgbClr val="000000"/>
              </a:solidFill>
              <a:latin typeface="Meiryo"/>
              <a:ea typeface="Meiryo"/>
              <a:cs typeface="Meiryo"/>
              <a:sym typeface="Meiryo"/>
            </a:endParaRPr>
          </a:p>
        </p:txBody>
      </p:sp>
      <p:sp>
        <p:nvSpPr>
          <p:cNvPr id="729" name="Google Shape;729;g382af4871d9_0_373"/>
          <p:cNvSpPr txBox="1"/>
          <p:nvPr/>
        </p:nvSpPr>
        <p:spPr>
          <a:xfrm>
            <a:off x="511775" y="651659"/>
            <a:ext cx="81204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１．VC及び上場企業投資含めて4.1億調達済</a:t>
            </a:r>
            <a:endParaRPr sz="12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　　株主：マネーフォワードVC・寺田倉庫、ベクトル、PrivateBank及び経営陣　</a:t>
            </a:r>
            <a:r>
              <a:rPr lang="ja" sz="1200" b="0" i="0" u="none" strike="noStrike" cap="none">
                <a:solidFill>
                  <a:srgbClr val="FF0000"/>
                </a:solidFill>
                <a:latin typeface="Meiryo"/>
                <a:ea typeface="Meiryo"/>
                <a:cs typeface="Meiryo"/>
                <a:sym typeface="Meiryo"/>
              </a:rPr>
              <a:t> →　</a:t>
            </a:r>
            <a:r>
              <a:rPr lang="ja" sz="1200" b="1" i="0" u="none" strike="noStrike" cap="none">
                <a:solidFill>
                  <a:srgbClr val="FF0000"/>
                </a:solidFill>
                <a:latin typeface="Meiryo"/>
                <a:ea typeface="Meiryo"/>
                <a:cs typeface="Meiryo"/>
                <a:sym typeface="Meiryo"/>
              </a:rPr>
              <a:t>資金調達順調</a:t>
            </a:r>
            <a:endParaRPr sz="1200" b="1" i="0" u="none" strike="noStrike" cap="none">
              <a:solidFill>
                <a:srgbClr val="000000"/>
              </a:solidFill>
              <a:latin typeface="Meiryo"/>
              <a:ea typeface="Meiryo"/>
              <a:cs typeface="Meiryo"/>
              <a:sym typeface="Meiryo"/>
            </a:endParaRPr>
          </a:p>
        </p:txBody>
      </p:sp>
      <p:sp>
        <p:nvSpPr>
          <p:cNvPr id="730" name="Google Shape;730;g382af4871d9_0_373"/>
          <p:cNvSpPr txBox="1"/>
          <p:nvPr/>
        </p:nvSpPr>
        <p:spPr>
          <a:xfrm>
            <a:off x="511775" y="3130159"/>
            <a:ext cx="8489100" cy="4386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５．銀座にある創業41年のグランメゾンアピシウスをWineBankGroupとして100％株式取得</a:t>
            </a:r>
            <a:endParaRPr sz="1200" b="0" i="0" u="none" strike="noStrike" cap="none">
              <a:solidFill>
                <a:srgbClr val="000000"/>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200"/>
              <a:buFont typeface="Arial"/>
              <a:buNone/>
            </a:pPr>
            <a:r>
              <a:rPr lang="ja" sz="1200" b="0" i="0" u="none" strike="noStrike" cap="none">
                <a:solidFill>
                  <a:srgbClr val="000000"/>
                </a:solidFill>
                <a:latin typeface="Meiryo"/>
                <a:ea typeface="Meiryo"/>
                <a:cs typeface="Meiryo"/>
                <a:sym typeface="Meiryo"/>
              </a:rPr>
              <a:t>　　日本トップクラスのワイン在庫、ソムリエ、仕入れルートの強化　</a:t>
            </a:r>
            <a:r>
              <a:rPr lang="ja" sz="1200" b="0" i="0" u="none" strike="noStrike" cap="none">
                <a:solidFill>
                  <a:srgbClr val="FF0000"/>
                </a:solidFill>
                <a:latin typeface="Meiryo"/>
                <a:ea typeface="Meiryo"/>
                <a:cs typeface="Meiryo"/>
                <a:sym typeface="Meiryo"/>
              </a:rPr>
              <a:t> →　</a:t>
            </a:r>
            <a:r>
              <a:rPr lang="ja" sz="1200" b="1" i="0" u="none" strike="noStrike" cap="none">
                <a:solidFill>
                  <a:srgbClr val="FF0000"/>
                </a:solidFill>
                <a:latin typeface="Meiryo"/>
                <a:ea typeface="Meiryo"/>
                <a:cs typeface="Meiryo"/>
                <a:sym typeface="Meiryo"/>
              </a:rPr>
              <a:t>インポータ×グランメゾンでワイン仕入強化</a:t>
            </a:r>
            <a:endParaRPr sz="1200" b="1" i="0" u="none" strike="noStrike" cap="none">
              <a:solidFill>
                <a:srgbClr val="000000"/>
              </a:solidFill>
              <a:latin typeface="Meiryo"/>
              <a:ea typeface="Meiryo"/>
              <a:cs typeface="Meiryo"/>
              <a:sym typeface="Meiryo"/>
            </a:endParaRPr>
          </a:p>
        </p:txBody>
      </p:sp>
      <p:sp>
        <p:nvSpPr>
          <p:cNvPr id="731" name="Google Shape;731;g382af4871d9_0_373"/>
          <p:cNvSpPr txBox="1"/>
          <p:nvPr/>
        </p:nvSpPr>
        <p:spPr>
          <a:xfrm>
            <a:off x="239779" y="204000"/>
            <a:ext cx="8120400" cy="253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200"/>
              <a:buFont typeface="Arial"/>
              <a:buNone/>
            </a:pPr>
            <a:r>
              <a:rPr lang="ja" sz="1200" b="1" i="0" u="none" strike="noStrike" cap="none">
                <a:solidFill>
                  <a:srgbClr val="000000"/>
                </a:solidFill>
                <a:latin typeface="Meiryo"/>
                <a:ea typeface="Meiryo"/>
                <a:cs typeface="Meiryo"/>
                <a:sym typeface="Meiryo"/>
              </a:rPr>
              <a:t>PMF（プロダクトマーケットフィット）を終え、資金投下し認知度上げれば業績拡大局面</a:t>
            </a:r>
            <a:endParaRPr sz="1200" b="1" i="0" u="none" strike="noStrike" cap="none">
              <a:solidFill>
                <a:srgbClr val="000000"/>
              </a:solidFill>
              <a:latin typeface="Meiryo"/>
              <a:ea typeface="Meiryo"/>
              <a:cs typeface="Meiryo"/>
              <a:sym typeface="Meiryo"/>
            </a:endParaRPr>
          </a:p>
        </p:txBody>
      </p:sp>
      <p:sp>
        <p:nvSpPr>
          <p:cNvPr id="732" name="Google Shape;732;g382af4871d9_0_373"/>
          <p:cNvSpPr/>
          <p:nvPr/>
        </p:nvSpPr>
        <p:spPr>
          <a:xfrm>
            <a:off x="495024" y="3733575"/>
            <a:ext cx="8157600" cy="950100"/>
          </a:xfrm>
          <a:prstGeom prst="roundRect">
            <a:avLst>
              <a:gd name="adj" fmla="val 16667"/>
            </a:avLst>
          </a:prstGeom>
          <a:solidFill>
            <a:srgbClr val="0564BB"/>
          </a:solidFill>
          <a:ln w="25400" cap="flat" cmpd="sng">
            <a:solidFill>
              <a:srgbClr val="FFFF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400"/>
              <a:buFont typeface="Arial"/>
              <a:buNone/>
            </a:pPr>
            <a:r>
              <a:rPr lang="ja" sz="1400" b="1" i="0" u="none" strike="noStrike" cap="none">
                <a:solidFill>
                  <a:srgbClr val="FFFFFF"/>
                </a:solidFill>
                <a:latin typeface="Meiryo"/>
                <a:ea typeface="Meiryo"/>
                <a:cs typeface="Meiryo"/>
                <a:sym typeface="Meiryo"/>
              </a:rPr>
              <a:t>現状</a:t>
            </a:r>
            <a:endParaRPr sz="1400" b="1" i="0" u="none" strike="noStrike" cap="none">
              <a:solidFill>
                <a:srgbClr val="FFFFFF"/>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FFFFFF"/>
                </a:solidFill>
                <a:latin typeface="Meiryo"/>
                <a:ea typeface="Meiryo"/>
                <a:cs typeface="Meiryo"/>
                <a:sym typeface="Meiryo"/>
              </a:rPr>
              <a:t>１．ワイン在庫26億(管理含)→100億に強化する上で資金力の更なる強化が必要</a:t>
            </a:r>
            <a:endParaRPr sz="1400" b="0" i="0" u="none" strike="noStrike" cap="none">
              <a:solidFill>
                <a:srgbClr val="FFFFFF"/>
              </a:solidFill>
              <a:latin typeface="Meiryo"/>
              <a:ea typeface="Meiryo"/>
              <a:cs typeface="Meiryo"/>
              <a:sym typeface="Meiryo"/>
            </a:endParaRPr>
          </a:p>
          <a:p>
            <a:pPr marL="0" marR="0" lvl="0" indent="0" algn="l" rtl="0">
              <a:lnSpc>
                <a:spcPct val="100000"/>
              </a:lnSpc>
              <a:spcBef>
                <a:spcPts val="0"/>
              </a:spcBef>
              <a:spcAft>
                <a:spcPts val="0"/>
              </a:spcAft>
              <a:buClr>
                <a:srgbClr val="000000"/>
              </a:buClr>
              <a:buSzPts val="1400"/>
              <a:buFont typeface="Arial"/>
              <a:buNone/>
            </a:pPr>
            <a:r>
              <a:rPr lang="ja" sz="1400" b="0" i="0" u="none" strike="noStrike" cap="none">
                <a:solidFill>
                  <a:srgbClr val="FFFFFF"/>
                </a:solidFill>
                <a:latin typeface="Meiryo"/>
                <a:ea typeface="Meiryo"/>
                <a:cs typeface="Meiryo"/>
                <a:sym typeface="Meiryo"/>
              </a:rPr>
              <a:t>２．進行中の大手業務提携により当社サービスによる認知度向上から売上拡大局面を推進</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17"/>
          <p:cNvSpPr txBox="1"/>
          <p:nvPr/>
        </p:nvSpPr>
        <p:spPr>
          <a:xfrm>
            <a:off x="1952170" y="2119949"/>
            <a:ext cx="5231100" cy="941100"/>
          </a:xfrm>
          <a:prstGeom prst="rect">
            <a:avLst/>
          </a:prstGeom>
          <a:noFill/>
          <a:ln>
            <a:noFill/>
          </a:ln>
        </p:spPr>
        <p:txBody>
          <a:bodyPr spcFirstLastPara="1" wrap="square" lIns="78225" tIns="39125" rIns="78225" bIns="39125" anchor="t" anchorCtr="0">
            <a:spAutoFit/>
          </a:bodyPr>
          <a:lstStyle/>
          <a:p>
            <a:pPr marL="0" marR="0" lvl="0" indent="0" algn="ctr" rtl="0">
              <a:lnSpc>
                <a:spcPct val="200000"/>
              </a:lnSpc>
              <a:spcBef>
                <a:spcPts val="0"/>
              </a:spcBef>
              <a:spcAft>
                <a:spcPts val="0"/>
              </a:spcAft>
              <a:buClr>
                <a:srgbClr val="000000"/>
              </a:buClr>
              <a:buSzPts val="1800"/>
              <a:buFont typeface="Arial"/>
              <a:buNone/>
            </a:pPr>
            <a:r>
              <a:rPr lang="ja" sz="2800" b="1" i="0" u="none" strike="noStrike" cap="none">
                <a:solidFill>
                  <a:schemeClr val="lt1"/>
                </a:solidFill>
                <a:latin typeface="Meiryo"/>
                <a:ea typeface="Meiryo"/>
                <a:cs typeface="Meiryo"/>
                <a:sym typeface="Meiryo"/>
              </a:rPr>
              <a:t>すべての人にFineWineを！</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theme/theme1.xml><?xml version="1.0" encoding="utf-8"?>
<a:theme xmlns:a="http://schemas.openxmlformats.org/drawingml/2006/main" name="Office テーマ">
  <a:themeElements>
    <a:clrScheme name="ユーザー定義 2">
      <a:dk1>
        <a:srgbClr val="000000"/>
      </a:dk1>
      <a:lt1>
        <a:srgbClr val="FFFFFF"/>
      </a:lt1>
      <a:dk2>
        <a:srgbClr val="696464"/>
      </a:dk2>
      <a:lt2>
        <a:srgbClr val="E9E5DC"/>
      </a:lt2>
      <a:accent1>
        <a:srgbClr val="E99C93"/>
      </a:accent1>
      <a:accent2>
        <a:srgbClr val="9B2D1F"/>
      </a:accent2>
      <a:accent3>
        <a:srgbClr val="A28E6A"/>
      </a:accent3>
      <a:accent4>
        <a:srgbClr val="956251"/>
      </a:accent4>
      <a:accent5>
        <a:srgbClr val="918485"/>
      </a:accent5>
      <a:accent6>
        <a:srgbClr val="855D5D"/>
      </a:accent6>
      <a:hlink>
        <a:srgbClr val="9972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テーマ">
  <a:themeElements>
    <a:clrScheme name="ユーザー定義 2">
      <a:dk1>
        <a:srgbClr val="000000"/>
      </a:dk1>
      <a:lt1>
        <a:srgbClr val="FFFFFF"/>
      </a:lt1>
      <a:dk2>
        <a:srgbClr val="696464"/>
      </a:dk2>
      <a:lt2>
        <a:srgbClr val="E9E5DC"/>
      </a:lt2>
      <a:accent1>
        <a:srgbClr val="E99C93"/>
      </a:accent1>
      <a:accent2>
        <a:srgbClr val="9B2D1F"/>
      </a:accent2>
      <a:accent3>
        <a:srgbClr val="A28E6A"/>
      </a:accent3>
      <a:accent4>
        <a:srgbClr val="956251"/>
      </a:accent4>
      <a:accent5>
        <a:srgbClr val="918485"/>
      </a:accent5>
      <a:accent6>
        <a:srgbClr val="855D5D"/>
      </a:accent6>
      <a:hlink>
        <a:srgbClr val="997200"/>
      </a:hlink>
      <a:folHlink>
        <a:srgbClr val="96A9A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テーマ">
  <a:themeElements>
    <a:clrScheme name="Office テーマ">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14</TotalTime>
  <Words>3316</Words>
  <Application>Microsoft Office PowerPoint</Application>
  <PresentationFormat>画面に合わせる (16:9)</PresentationFormat>
  <Paragraphs>567</Paragraphs>
  <Slides>30</Slides>
  <Notes>28</Notes>
  <HiddenSlides>0</HiddenSlides>
  <MMClips>0</MMClips>
  <ScaleCrop>false</ScaleCrop>
  <HeadingPairs>
    <vt:vector size="6" baseType="variant">
      <vt:variant>
        <vt:lpstr>使用されているフォント</vt:lpstr>
      </vt:variant>
      <vt:variant>
        <vt:i4>7</vt:i4>
      </vt:variant>
      <vt:variant>
        <vt:lpstr>テーマ</vt:lpstr>
      </vt:variant>
      <vt:variant>
        <vt:i4>3</vt:i4>
      </vt:variant>
      <vt:variant>
        <vt:lpstr>スライド タイトル</vt:lpstr>
      </vt:variant>
      <vt:variant>
        <vt:i4>30</vt:i4>
      </vt:variant>
    </vt:vector>
  </HeadingPairs>
  <TitlesOfParts>
    <vt:vector size="40" baseType="lpstr">
      <vt:lpstr>Arial</vt:lpstr>
      <vt:lpstr>Meiryo</vt:lpstr>
      <vt:lpstr>Calibri</vt:lpstr>
      <vt:lpstr>Zen Kaku Gothic New</vt:lpstr>
      <vt:lpstr>Times New Roman</vt:lpstr>
      <vt:lpstr>Crimson Text</vt:lpstr>
      <vt:lpstr>MS PGothic</vt:lpstr>
      <vt:lpstr>Office テーマ</vt:lpstr>
      <vt:lpstr>1_Office テーマ</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戸髙薫</dc:creator>
  <cp:lastModifiedBy>Kunihito Nakano</cp:lastModifiedBy>
  <cp:revision>2</cp:revision>
  <dcterms:modified xsi:type="dcterms:W3CDTF">2026-09-21T14:18:10Z</dcterms:modified>
</cp:coreProperties>
</file>